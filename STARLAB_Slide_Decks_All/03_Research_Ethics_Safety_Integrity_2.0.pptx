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b68980091364477" /><Relationship Type="http://schemas.openxmlformats.org/officeDocument/2006/relationships/extended-properties" Target="/docProps/app.xml" Id="Rd180e455ecc342c4" /><Relationship Type="http://schemas.openxmlformats.org/officeDocument/2006/relationships/officeDocument" Target="/ppt/presentation.xml" Id="Rfad5263f59764dd6"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2f7722a3a6bc4e53"/>
  </p:sldMasterIdLst>
  <p:notesMasterIdLst>
    <p:notesMasterId xmlns:r="http://schemas.openxmlformats.org/officeDocument/2006/relationships" r:id="Rec179a3384464c99"/>
  </p:notesMasterIdLst>
  <p:sldIdLst>
    <p:sldId xmlns:r="http://schemas.openxmlformats.org/officeDocument/2006/relationships" id="256" r:id="Rf971b4f7858c4d3b"/>
    <p:sldId xmlns:r="http://schemas.openxmlformats.org/officeDocument/2006/relationships" id="257" r:id="R3423346aab4a47f8"/>
    <p:sldId xmlns:r="http://schemas.openxmlformats.org/officeDocument/2006/relationships" id="258" r:id="R0b6f8c34d083478d"/>
    <p:sldId xmlns:r="http://schemas.openxmlformats.org/officeDocument/2006/relationships" id="259" r:id="R0fd11f16e6764378"/>
    <p:sldId xmlns:r="http://schemas.openxmlformats.org/officeDocument/2006/relationships" id="260" r:id="Ra0802fd999a74702"/>
    <p:sldId xmlns:r="http://schemas.openxmlformats.org/officeDocument/2006/relationships" id="261" r:id="Rf28e3c9568784807"/>
    <p:sldId xmlns:r="http://schemas.openxmlformats.org/officeDocument/2006/relationships" id="262" r:id="R9496ec8037c74897"/>
    <p:sldId xmlns:r="http://schemas.openxmlformats.org/officeDocument/2006/relationships" id="263" r:id="R1541c20edbba4a64"/>
    <p:sldId xmlns:r="http://schemas.openxmlformats.org/officeDocument/2006/relationships" id="264" r:id="Rc741fa5412e642f3"/>
    <p:sldId xmlns:r="http://schemas.openxmlformats.org/officeDocument/2006/relationships" id="265" r:id="R89e97d02bdff4148"/>
    <p:sldId xmlns:r="http://schemas.openxmlformats.org/officeDocument/2006/relationships" id="266" r:id="R5c1b417f74704fe8"/>
    <p:sldId xmlns:r="http://schemas.openxmlformats.org/officeDocument/2006/relationships" id="267" r:id="Re9b6ca6430f74665"/>
    <p:sldId xmlns:r="http://schemas.openxmlformats.org/officeDocument/2006/relationships" id="268" r:id="Rebdc877e3b42415a"/>
    <p:sldId xmlns:r="http://schemas.openxmlformats.org/officeDocument/2006/relationships" id="269" r:id="R8fde8790c209441e"/>
    <p:sldId xmlns:r="http://schemas.openxmlformats.org/officeDocument/2006/relationships" id="270" r:id="R4b64b00fdddf4190"/>
    <p:sldId xmlns:r="http://schemas.openxmlformats.org/officeDocument/2006/relationships" id="271" r:id="R195be5672bff4494"/>
    <p:sldId xmlns:r="http://schemas.openxmlformats.org/officeDocument/2006/relationships" id="272" r:id="Redd6f8bc3abd41a6"/>
    <p:sldId xmlns:r="http://schemas.openxmlformats.org/officeDocument/2006/relationships" id="273" r:id="Rb8aac2ef482f4ed8"/>
    <p:sldId xmlns:r="http://schemas.openxmlformats.org/officeDocument/2006/relationships" id="274" r:id="R459aed9e7a664b0f"/>
    <p:sldId xmlns:r="http://schemas.openxmlformats.org/officeDocument/2006/relationships" id="275" r:id="Rbed18de643ca4605"/>
    <p:sldId xmlns:r="http://schemas.openxmlformats.org/officeDocument/2006/relationships" id="276" r:id="R93d9b60fbd9b4f12"/>
    <p:sldId xmlns:r="http://schemas.openxmlformats.org/officeDocument/2006/relationships" id="277" r:id="R1ffe015f859c47d2"/>
    <p:sldId xmlns:r="http://schemas.openxmlformats.org/officeDocument/2006/relationships" id="278" r:id="R1e1b47c0358b47e9"/>
  </p:sldIdLst>
  <p:sldSz cx="12191675" cy="6858000"/>
  <p:notesSz cx="6858000" cy="9144000"/>
  <p:embeddedFontLst>
    <p:embeddedFont>
      <p:font typeface="Play"/>
      <p:regular xmlns:r="http://schemas.openxmlformats.org/officeDocument/2006/relationships" r:id="R7376554f41e24b27"/>
      <p:bold xmlns:r="http://schemas.openxmlformats.org/officeDocument/2006/relationships" r:id="R149bde22ffe64364"/>
    </p:embeddedFont>
  </p:embeddedFontLst>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c075dc1bb034e0d" /><Relationship Type="http://schemas.openxmlformats.org/officeDocument/2006/relationships/slideMaster" Target="/ppt/slideMasters/slideMaster1.xml" Id="R2f7722a3a6bc4e53" /><Relationship Type="http://schemas.openxmlformats.org/officeDocument/2006/relationships/notesMaster" Target="/ppt/notesMasters/notesMaster1.xml" Id="Rec179a3384464c99" /><Relationship Type="http://schemas.openxmlformats.org/officeDocument/2006/relationships/presProps" Target="/ppt/presProps.xml" Id="R25828fa2488c49d6" /><Relationship Type="http://schemas.openxmlformats.org/officeDocument/2006/relationships/tableStyles" Target="/ppt/tableStyles.xml" Id="R874df57cf8e64079" /><Relationship Type="http://schemas.openxmlformats.org/officeDocument/2006/relationships/font" Target="/ppt/fonts/font.dat" Id="R7376554f41e24b27" /><Relationship Type="http://schemas.openxmlformats.org/officeDocument/2006/relationships/font" Target="/ppt/fonts/font2.dat" Id="R149bde22ffe64364" /><Relationship Type="http://schemas.openxmlformats.org/officeDocument/2006/relationships/slide" Target="/ppt/slides/slide1.xml" Id="Rf971b4f7858c4d3b" /><Relationship Type="http://schemas.openxmlformats.org/officeDocument/2006/relationships/slide" Target="/ppt/slides/slide2.xml" Id="R3423346aab4a47f8" /><Relationship Type="http://schemas.openxmlformats.org/officeDocument/2006/relationships/slide" Target="/ppt/slides/slide3.xml" Id="R0b6f8c34d083478d" /><Relationship Type="http://schemas.openxmlformats.org/officeDocument/2006/relationships/slide" Target="/ppt/slides/slide4.xml" Id="R0fd11f16e6764378" /><Relationship Type="http://schemas.openxmlformats.org/officeDocument/2006/relationships/slide" Target="/ppt/slides/slide5.xml" Id="Ra0802fd999a74702" /><Relationship Type="http://schemas.openxmlformats.org/officeDocument/2006/relationships/slide" Target="/ppt/slides/slide6.xml" Id="Rf28e3c9568784807" /><Relationship Type="http://schemas.openxmlformats.org/officeDocument/2006/relationships/slide" Target="/ppt/slides/slide7.xml" Id="R9496ec8037c74897" /><Relationship Type="http://schemas.openxmlformats.org/officeDocument/2006/relationships/slide" Target="/ppt/slides/slide8.xml" Id="R1541c20edbba4a64" /><Relationship Type="http://schemas.openxmlformats.org/officeDocument/2006/relationships/slide" Target="/ppt/slides/slide9.xml" Id="Rc741fa5412e642f3" /><Relationship Type="http://schemas.openxmlformats.org/officeDocument/2006/relationships/slide" Target="/ppt/slides/slide10.xml" Id="R89e97d02bdff4148" /><Relationship Type="http://schemas.openxmlformats.org/officeDocument/2006/relationships/slide" Target="/ppt/slides/slide11.xml" Id="R5c1b417f74704fe8" /><Relationship Type="http://schemas.openxmlformats.org/officeDocument/2006/relationships/slide" Target="/ppt/slides/slide12.xml" Id="Re9b6ca6430f74665" /><Relationship Type="http://schemas.openxmlformats.org/officeDocument/2006/relationships/slide" Target="/ppt/slides/slide13.xml" Id="Rebdc877e3b42415a" /><Relationship Type="http://schemas.openxmlformats.org/officeDocument/2006/relationships/slide" Target="/ppt/slides/slide14.xml" Id="R8fde8790c209441e" /><Relationship Type="http://schemas.openxmlformats.org/officeDocument/2006/relationships/slide" Target="/ppt/slides/slide15.xml" Id="R4b64b00fdddf4190" /><Relationship Type="http://schemas.openxmlformats.org/officeDocument/2006/relationships/slide" Target="/ppt/slides/slide16.xml" Id="R195be5672bff4494" /><Relationship Type="http://schemas.openxmlformats.org/officeDocument/2006/relationships/slide" Target="/ppt/slides/slide17.xml" Id="Redd6f8bc3abd41a6" /><Relationship Type="http://schemas.openxmlformats.org/officeDocument/2006/relationships/slide" Target="/ppt/slides/slide18.xml" Id="Rb8aac2ef482f4ed8" /><Relationship Type="http://schemas.openxmlformats.org/officeDocument/2006/relationships/slide" Target="/ppt/slides/slide19.xml" Id="R459aed9e7a664b0f" /><Relationship Type="http://schemas.openxmlformats.org/officeDocument/2006/relationships/slide" Target="/ppt/slides/slide20.xml" Id="Rbed18de643ca4605" /><Relationship Type="http://schemas.openxmlformats.org/officeDocument/2006/relationships/slide" Target="/ppt/slides/slide21.xml" Id="R93d9b60fbd9b4f12" /><Relationship Type="http://schemas.openxmlformats.org/officeDocument/2006/relationships/slide" Target="/ppt/slides/slide22.xml" Id="R1ffe015f859c47d2" /><Relationship Type="http://schemas.openxmlformats.org/officeDocument/2006/relationships/slide" Target="/ppt/slides/slide23.xml" Id="R1e1b47c0358b47e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adb67c74d6c4e0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c4a8bc03abf4e5b" /><Relationship Type="http://schemas.openxmlformats.org/officeDocument/2006/relationships/notesMaster" Target="/ppt/notesMasters/notesMaster1.xml" Id="Rf3ed4c24388d436b" /></Relationships>
</file>

<file path=ppt/notesSlides/_rels/notesSlide2.xml.rels>&#65279;<?xml version="1.0" encoding="utf-8"?><Relationships xmlns="http://schemas.openxmlformats.org/package/2006/relationships"><Relationship Type="http://schemas.openxmlformats.org/officeDocument/2006/relationships/slide" Target="/ppt/slides/slide2.xml" Id="Rcfc921f689a7492b" /><Relationship Type="http://schemas.openxmlformats.org/officeDocument/2006/relationships/notesMaster" Target="/ppt/notesMasters/notesMaster1.xml" Id="R1919f06443a4469a" /></Relationships>
</file>

<file path=ppt/notesSlides/_rels/notesSlide3.xml.rels>&#65279;<?xml version="1.0" encoding="utf-8"?><Relationships xmlns="http://schemas.openxmlformats.org/package/2006/relationships"><Relationship Type="http://schemas.openxmlformats.org/officeDocument/2006/relationships/slide" Target="/ppt/slides/slide3.xml" Id="R6f59f7e0a0844406" /><Relationship Type="http://schemas.openxmlformats.org/officeDocument/2006/relationships/notesMaster" Target="/ppt/notesMasters/notesMaster1.xml" Id="Re35db34974ad49e3" /></Relationships>
</file>

<file path=ppt/notesSlides/_rels/notesSlide4.xml.rels>&#65279;<?xml version="1.0" encoding="utf-8"?><Relationships xmlns="http://schemas.openxmlformats.org/package/2006/relationships"><Relationship Type="http://schemas.openxmlformats.org/officeDocument/2006/relationships/slide" Target="/ppt/slides/slide4.xml" Id="R6d0327b6c683458c" /><Relationship Type="http://schemas.openxmlformats.org/officeDocument/2006/relationships/notesMaster" Target="/ppt/notesMasters/notesMaster1.xml" Id="R5eb702a4305b42c1" /></Relationships>
</file>

<file path=ppt/notesSlides/_rels/notesSlide5.xml.rels>&#65279;<?xml version="1.0" encoding="utf-8"?><Relationships xmlns="http://schemas.openxmlformats.org/package/2006/relationships"><Relationship Type="http://schemas.openxmlformats.org/officeDocument/2006/relationships/slide" Target="/ppt/slides/slide5.xml" Id="Rc49db9ccf4fc40d1" /><Relationship Type="http://schemas.openxmlformats.org/officeDocument/2006/relationships/notesMaster" Target="/ppt/notesMasters/notesMaster1.xml" Id="Rf05f4fb81aaa4c77" /></Relationships>
</file>

<file path=ppt/notesSlides/_rels/notesSlide6.xml.rels>&#65279;<?xml version="1.0" encoding="utf-8"?><Relationships xmlns="http://schemas.openxmlformats.org/package/2006/relationships"><Relationship Type="http://schemas.openxmlformats.org/officeDocument/2006/relationships/slide" Target="/ppt/slides/slide6.xml" Id="R9ec074e9efd94cfb" /><Relationship Type="http://schemas.openxmlformats.org/officeDocument/2006/relationships/notesMaster" Target="/ppt/notesMasters/notesMaster1.xml" Id="R65b6a6a5e4bc48be" /></Relationships>
</file>

<file path=ppt/notesSlides/_rels/notesSlide7.xml.rels>&#65279;<?xml version="1.0" encoding="utf-8"?><Relationships xmlns="http://schemas.openxmlformats.org/package/2006/relationships"><Relationship Type="http://schemas.openxmlformats.org/officeDocument/2006/relationships/slide" Target="/ppt/slides/slide7.xml" Id="R907506a12950440f" /><Relationship Type="http://schemas.openxmlformats.org/officeDocument/2006/relationships/notesMaster" Target="/ppt/notesMasters/notesMaster1.xml" Id="Rbb5b2cc8a1674ea1" /></Relationships>
</file>

<file path=ppt/notesSlides/_rels/notesSlide8.xml.rels>&#65279;<?xml version="1.0" encoding="utf-8"?><Relationships xmlns="http://schemas.openxmlformats.org/package/2006/relationships"><Relationship Type="http://schemas.openxmlformats.org/officeDocument/2006/relationships/slide" Target="/ppt/slides/slide8.xml" Id="R84e8f6502bec46b4" /><Relationship Type="http://schemas.openxmlformats.org/officeDocument/2006/relationships/notesMaster" Target="/ppt/notesMasters/notesMaster1.xml" Id="R397ef8ca1a4f45d9" /></Relationships>
</file>

<file path=ppt/notesSlides/_rels/notesSlide9.xml.rels>&#65279;<?xml version="1.0" encoding="utf-8"?><Relationships xmlns="http://schemas.openxmlformats.org/package/2006/relationships"><Relationship Type="http://schemas.openxmlformats.org/officeDocument/2006/relationships/slide" Target="/ppt/slides/slide9.xml" Id="R866410fc4b034f44" /><Relationship Type="http://schemas.openxmlformats.org/officeDocument/2006/relationships/notesMaster" Target="/ppt/notesMasters/notesMaster1.xml" Id="R77f3f8a2e31042d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5c7d898a5e24922" /><Relationship Type="http://schemas.openxmlformats.org/officeDocument/2006/relationships/notesMaster" Target="/ppt/notesMasters/notesMaster1.xml" Id="R4f87d73a24254d8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7ef85476f1e467b" /><Relationship Type="http://schemas.openxmlformats.org/officeDocument/2006/relationships/notesMaster" Target="/ppt/notesMasters/notesMaster1.xml" Id="R0a65d8a6cc13401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59a50815aee4acb" /><Relationship Type="http://schemas.openxmlformats.org/officeDocument/2006/relationships/notesMaster" Target="/ppt/notesMasters/notesMaster1.xml" Id="R307b9501cb864cf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b96d95f977947ff" /><Relationship Type="http://schemas.openxmlformats.org/officeDocument/2006/relationships/notesMaster" Target="/ppt/notesMasters/notesMaster1.xml" Id="R6d9e3110acd84db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a12c3d4f9584d4b" /><Relationship Type="http://schemas.openxmlformats.org/officeDocument/2006/relationships/notesMaster" Target="/ppt/notesMasters/notesMaster1.xml" Id="R4da936a928b843c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5c7eda6b9924e4f" /><Relationship Type="http://schemas.openxmlformats.org/officeDocument/2006/relationships/notesMaster" Target="/ppt/notesMasters/notesMaster1.xml" Id="Rdbd9c8d86ec447b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73652c17a484b04" /><Relationship Type="http://schemas.openxmlformats.org/officeDocument/2006/relationships/notesMaster" Target="/ppt/notesMasters/notesMaster1.xml" Id="R1ee18ee4092c433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c615c3bd74546e2" /><Relationship Type="http://schemas.openxmlformats.org/officeDocument/2006/relationships/notesMaster" Target="/ppt/notesMasters/notesMaster1.xml" Id="Ra51169065e8a479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ae7de10e676462d" /><Relationship Type="http://schemas.openxmlformats.org/officeDocument/2006/relationships/notesMaster" Target="/ppt/notesMasters/notesMaster1.xml" Id="Rded63a194c154f3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68f034f5816481c" /><Relationship Type="http://schemas.openxmlformats.org/officeDocument/2006/relationships/notesMaster" Target="/ppt/notesMasters/notesMaster1.xml" Id="Rd868dc2cc902444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0136a1ebd42e45ac" /><Relationship Type="http://schemas.openxmlformats.org/officeDocument/2006/relationships/notesMaster" Target="/ppt/notesMasters/notesMaster1.xml" Id="R2f2e851d6af04f9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6ec387796304716" /><Relationship Type="http://schemas.openxmlformats.org/officeDocument/2006/relationships/notesMaster" Target="/ppt/notesMasters/notesMaster1.xml" Id="Rd2a49422c5f54f7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e75d04fe86147e2" /><Relationship Type="http://schemas.openxmlformats.org/officeDocument/2006/relationships/notesMaster" Target="/ppt/notesMasters/notesMaster1.xml" Id="R186207a335f74a29"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f5b8a048bc80453b" /><Relationship Type="http://schemas.openxmlformats.org/officeDocument/2006/relationships/notesMaster" Target="/ppt/notesMasters/notesMaster1.xml" Id="R9dd12e708287440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PRIMARY TEACHING MOMENT</a:t>
            </a:r>
          </a:p>
          <a:p xmlns:a="http://schemas.openxmlformats.org/drawingml/2006/main">
            <a:pPr marL="0" indent="0" algn="l">
              <a:spcBef>
                <a:spcPts val="0"/>
              </a:spcBef>
              <a:spcAft>
                <a:spcPts val="0"/>
              </a:spcAft>
              <a:buNone/>
            </a:pPr>
            <a:r>
              <a:t>Unit 1, Week 1</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REVISIT / SECONDARY USE</a:t>
            </a:r>
          </a:p>
          <a:p xmlns:a="http://schemas.openxmlformats.org/drawingml/2006/main">
            <a:pPr marL="0" indent="0" algn="l">
              <a:spcBef>
                <a:spcPts val="0"/>
              </a:spcBef>
              <a:spcAft>
                <a:spcPts val="0"/>
              </a:spcAft>
              <a:buNone/>
            </a:pPr>
            <a:r>
              <a:t>Unit 2, Week 4 during formal project approval</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REQUIRED WEEK 1 MATERIALS</a:t>
            </a:r>
          </a:p>
          <a:p xmlns:a="http://schemas.openxmlformats.org/drawingml/2006/main">
            <a:pPr marL="0" indent="0" algn="l">
              <a:spcBef>
                <a:spcPts val="0"/>
              </a:spcBef>
              <a:spcAft>
                <a:spcPts val="0"/>
              </a:spcAft>
              <a:buNone/>
            </a:pPr>
            <a:r>
              <a:t>Shared weekly packet for Decks 1 and 3:</a:t>
            </a:r>
          </a:p>
          <a:p xmlns:a="http://schemas.openxmlformats.org/drawingml/2006/main">
            <a:pPr marL="0" indent="0" algn="l">
              <a:spcBef>
                <a:spcPts val="0"/>
              </a:spcBef>
              <a:spcAft>
                <a:spcPts val="0"/>
              </a:spcAft>
              <a:buNone/>
            </a:pPr>
            <a:r>
              <a:t>- Unit 1 Student Handouts 1-4</a:t>
            </a:r>
          </a:p>
          <a:p xmlns:a="http://schemas.openxmlformats.org/drawingml/2006/main">
            <a:pPr marL="0" indent="0" algn="l">
              <a:spcBef>
                <a:spcPts val="0"/>
              </a:spcBef>
              <a:spcAft>
                <a:spcPts val="0"/>
              </a:spcAft>
              <a:buNone/>
            </a:pPr>
            <a:r>
              <a:t>- Unit 1 Appendices A-C</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REQUIRED WEEK 4 MATERIALS</a:t>
            </a:r>
          </a:p>
          <a:p xmlns:a="http://schemas.openxmlformats.org/drawingml/2006/main">
            <a:pPr marL="0" indent="0" algn="l">
              <a:spcBef>
                <a:spcPts val="0"/>
              </a:spcBef>
              <a:spcAft>
                <a:spcPts val="0"/>
              </a:spcAft>
              <a:buNone/>
            </a:pPr>
            <a:r>
              <a:t>Shared weekly packet with Deck 5:</a:t>
            </a:r>
          </a:p>
          <a:p xmlns:a="http://schemas.openxmlformats.org/drawingml/2006/main">
            <a:pPr marL="0" indent="0" algn="l">
              <a:spcBef>
                <a:spcPts val="0"/>
              </a:spcBef>
              <a:spcAft>
                <a:spcPts val="0"/>
              </a:spcAft>
              <a:buNone/>
            </a:pPr>
            <a:r>
              <a:t>- Unit 2 Student Handouts 6-13</a:t>
            </a:r>
          </a:p>
          <a:p xmlns:a="http://schemas.openxmlformats.org/drawingml/2006/main">
            <a:pPr marL="0" indent="0" algn="l">
              <a:spcBef>
                <a:spcPts val="0"/>
              </a:spcBef>
              <a:spcAft>
                <a:spcPts val="0"/>
              </a:spcAft>
              <a:buNone/>
            </a:pPr>
            <a:r>
              <a:t>- Unit 2 Appendices E-H</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OPTIONAL / TEACHER REFERENCE FOR WEEK 4</a:t>
            </a:r>
          </a:p>
          <a:p xmlns:a="http://schemas.openxmlformats.org/drawingml/2006/main">
            <a:pPr marL="0" indent="0" algn="l">
              <a:spcBef>
                <a:spcPts val="0"/>
              </a:spcBef>
              <a:spcAft>
                <a:spcPts val="0"/>
              </a:spcAft>
              <a:buNone/>
            </a:pPr>
            <a:r>
              <a:t>- Unit 2 Appendices I-J</a:t>
            </a:r>
          </a:p>
          <a:p xmlns:a="http://schemas.openxmlformats.org/drawingml/2006/main">
            <a:pPr marL="0" indent="0" algn="l">
              <a:spcBef>
                <a:spcPts val="0"/>
              </a:spcBef>
              <a:spcAft>
                <a:spcPts val="0"/>
              </a:spcAft>
              <a:buNone/>
            </a:pPr>
            <a:r>
              <a:t>- District-supplied approval, safety, human-participant, privacy, media, fieldwork, equipment, chemical, drone, IRB/SRC, or other local forms as applicable</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RESOURCE ALIGNMENT</a:t>
            </a:r>
          </a:p>
          <a:p xmlns:a="http://schemas.openxmlformats.org/drawingml/2006/main">
            <a:pPr marL="0" indent="0" algn="l">
              <a:spcBef>
                <a:spcPts val="0"/>
              </a:spcBef>
              <a:spcAft>
                <a:spcPts val="0"/>
              </a:spcAft>
              <a:buNone/>
            </a:pPr>
            <a:r>
              <a:t>Introduce ethics and integrity as course culture in Week 1. Revisit this deck in Week 4 before the Project Approval Tracker is used for the final project decision.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Make clear that this is not meant to scare students away from ambitious projects. It is meant to help them design projects that can actually move forward. Ask students: What is a project idea that sounds interesting but might need safety or ethics review?</a:t>
            </a:r>
            <a:br/>
            <a:br/>
            <a:r>
              <a:t>Resource alignment:</a:t>
            </a:r>
            <a:br/>
            <a:r>
              <a:t>Connects to Unit 1 Student Handout 4: Research Ethics and Integrity Agreement. Also previews Unit 2 Student Handout 9: Safety and Risk Assessment and Unit 2 Student Handout 10: Ethics and Approval Screening.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These four ideas are the anchors for the whole deck. Use them as recurring language throughout the year. Student-facing activity: students write one example of each non-negotiable in their research journal.</a:t>
            </a:r>
            <a:br/>
            <a:br/>
            <a:r>
              <a:t>Resource alignment:</a:t>
            </a:r>
            <a:br/>
            <a:r>
              <a:t>Use Unit 1 Student Handout 4: Research Ethics and Integrity Agreement.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Students may think changing or deleting data is harmless if the experiment “obviously went wrong.” Distinguish between deleting data and flagging data. Prompt: What is the difference between excluding a trial for a documented reason and hiding a trial because it hurts your conclusion?</a:t>
            </a:r>
            <a:br/>
            <a:br/>
            <a:r>
              <a:t>Resource alignment:</a:t>
            </a:r>
            <a:br/>
            <a:r>
              <a:t>Use Unit 1 Student Handout 4: Research Ethics and Integrity Agreement. Later connection: Unit 4 Appendix B: Data Cleaning Rules.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Use this with a teacher-created Data Dilemma Sort handout or as a discussion prompt. Keep students focused on documentation and justification. Suggested debrief: acceptable practice would be to flag the trial, describe what happened, and decide with teacher approval whether it belongs in analysis.</a:t>
            </a:r>
            <a:br/>
            <a:br/>
            <a:r>
              <a:t>Resource alignment:</a:t>
            </a:r>
            <a:br/>
            <a:r>
              <a:t>Use Unit 1 Student Handout 4: Research Ethics and Integrity Agreement. Supports later Unit 4 Student Handout 3: Data Cleaning Decision Log.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Students often think citation only applies to essays. Explain that credit is also owed for code, procedures, images, datasets, and mentor input. Student-facing activity: have students start a “Sources and Support” section in their research journal.</a:t>
            </a:r>
            <a:br/>
            <a:br/>
            <a:r>
              <a:t>Resource alignment:</a:t>
            </a:r>
            <a:br/>
            <a:r>
              <a:t>Use Unit 1 Student Handout 4: Research Ethics and Integrity Agreement. Also connects to Unit 2 Student Handout 2: Background Research Notes and Unit 2 Student Handout 12: Formal Research Plan Template.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Present this as a procedure, not as a threat. Students need to understand that approval protects the project and the researcher. Emphasize that “I changed the setup” means “I need to check whether the approval still applies.”</a:t>
            </a:r>
            <a:br/>
            <a:br/>
            <a:r>
              <a:t>Resource alignment:</a:t>
            </a:r>
            <a:br/>
            <a:r>
              <a:t>Use Unit 2 Student Handout 9: Safety and Risk Assessment and Unit 2 Appendix H: Project Approval Checklist.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This is a screening slide. Students do not need to memorize every rule, but they should recognize when a project enters a higher-review category. Ask: Which categories might appear in your possible project ideas?</a:t>
            </a:r>
            <a:br/>
            <a:br/>
            <a:r>
              <a:t>Resource alignment:</a:t>
            </a:r>
            <a:br/>
            <a:r>
              <a:t>Use Unit 2 Student Handout 9: Safety and Risk Assessment and Unit 2 Appendix F: Safety and Ethics Red Flags.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This activity helps students see that interesting ideas can involve human participants, ingestion, health claims, consent, and school policy issues. The goal is not just to reject the idea, but to redirect it. Possible safer direction: use public data, study device measurement accuracy, or redesign the question without ingestion or health intervention.</a:t>
            </a:r>
            <a:br/>
            <a:br/>
            <a:r>
              <a:t>Resource alignment:</a:t>
            </a:r>
            <a:br/>
            <a:r>
              <a:t>Use Unit 2 Student Handout 10: Ethics and Approval Screening and Unit 2 Appendix F: Safety and Ethics Red Flags. Also connects to Unit 1 Student Handout 7: Question Quality Test if used during Unit 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Do not provide legal advice. Present this as a school approval and research ethics issue. Local rules may vary. Stress that anonymous does not always mean risk-free, especially with sensitive topics or small groups.</a:t>
            </a:r>
            <a:br/>
            <a:br/>
            <a:r>
              <a:t>Resource alignment:</a:t>
            </a:r>
            <a:br/>
            <a:r>
              <a:t>Use Unit 2 Student Handout 10: Ethics and Approval Screening and Unit 2 Appendix F: Safety and Ethics Red Flags.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This slide connects ethics to data handling. Students often focus on the act of collecting data, but storage and sharing also matter. Ask students to describe how they would anonymize or group human-subject data, if approved.</a:t>
            </a:r>
            <a:br/>
            <a:br/>
            <a:r>
              <a:t>Resource alignment:</a:t>
            </a:r>
            <a:br/>
            <a:r>
              <a:t>Use Unit 2 Student Handout 10: Ethics and Approval Screening. Also connects to Unit 2 Appendix F: Safety and Ethics Red Flags.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Avoid encouraging students toward high-risk biological or animal projects unless your school has the expertise and approval structure to manage them. Keep the language clear: curiosity is valid, but the method must be allowed and safe.</a:t>
            </a:r>
            <a:br/>
            <a:br/>
            <a:r>
              <a:t>Resource alignment:</a:t>
            </a:r>
            <a:br/>
            <a:r>
              <a:t>Use Unit 2 Student Handout 10: Ethics and Approval Screening and Unit 2 Appendix F: Safety and Ethics Red Flags.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Connect this slide to your local classroom resources. Mention specific equipment students may use, such as 3D printers, soldering tools, sensors, batteries, hot plates, or power supplies. Remind students that “I know how to use it” is not the same as approved training.</a:t>
            </a:r>
            <a:br/>
            <a:br/>
            <a:r>
              <a:t>Resource alignment:</a:t>
            </a:r>
            <a:br/>
            <a:r>
              <a:t>Use Unit 2 Student Handout 9: Safety and Risk Assessment and Unit 2 Appendix E: Risk Assessment Matrix.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Useful for water, soil, microplastics, plant, runoff, or local ecology projects. Have students think about the impact of collection and disposal, not just measurement.</a:t>
            </a:r>
            <a:br/>
            <a:br/>
            <a:r>
              <a:t>Resource alignment:</a:t>
            </a:r>
            <a:br/>
            <a:r>
              <a:t>Use Unit 2 Student Handout 9: Safety and Risk Assessment and Unit 2 Student Handout 10: Ethics and Approval Screening.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Use this as the process overview for Unit 2 and early Unit 3. Students should understand that approval is not automatic and not personal. It is a research quality and safety gate.</a:t>
            </a:r>
            <a:br/>
            <a:br/>
            <a:r>
              <a:t>Resource alignment:</a:t>
            </a:r>
            <a:br/>
            <a:r>
              <a:t>Use Unit 2 Student Handout 12: Formal Research Plan Template, Unit 2 Student Handout 13: Research Plan Conference Form, and Unit 2 Appendix H: Project Approval Checklist.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This slide gives students decision language. Many ideas are not a simple yes/no. Encourage “revise” as a productive middle path.</a:t>
            </a:r>
            <a:br/>
            <a:br/>
            <a:r>
              <a:t>Resource alignment:</a:t>
            </a:r>
            <a:br/>
            <a:r>
              <a:t>Use Unit 2 Appendix H: Project Approval Checklist and Unit 2 Student Handout 13: Research Plan Conference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Use station cards or ask groups to generate scenarios from their own interests. Keep the tone practical: students are learning how to improve project design, not just identify problems.</a:t>
            </a:r>
            <a:br/>
            <a:br/>
            <a:r>
              <a:t>Resource alignment:</a:t>
            </a:r>
            <a:br/>
            <a:r>
              <a:t>Use Unit 2 Appendix F: Safety and Ethics Red Flags, Unit 2 Appendix E: Risk Assessment Matrix, and Unit 2 Student Handout 10: Ethics and Approval Screening.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After this slide, students can sign or revisit the Research Ethics and Integrity Agreement. Emphasize that this agreement follows them throughout the year.</a:t>
            </a:r>
            <a:br/>
            <a:br/>
            <a:r>
              <a:t>Resource alignment:</a:t>
            </a:r>
            <a:br/>
            <a:r>
              <a:t>Use Unit 1 Student Handout 4: Research Ethics and Integrity Agreement.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This slide is teacher-facing but can be shown to students. It makes the approval standard transparent. This pairs with the Unit 2 formal research plan and approval conference.</a:t>
            </a:r>
            <a:br/>
            <a:br/>
            <a:r>
              <a:t>Resource alignment:</a:t>
            </a:r>
            <a:br/>
            <a:r>
              <a:t>Use Unit 2 Student Handout 12: Formal Research Plan Template, Unit 2 Student Handout 13: Research Plan Conference Form, and Unit 2 Appendix H: Project Approval Checklist.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This slide gives students language. Practice these out loud. Students need scripts for doing the responsible thing, especially when they feel pressure to keep moving.</a:t>
            </a:r>
            <a:br/>
            <a:br/>
            <a:r>
              <a:t>Resource alignment:</a:t>
            </a:r>
            <a:br/>
            <a:r>
              <a:t>Use Unit 1 Student Handout 4: Research Ethics and Integrity Agreement. Also supports Unit 3 Student Handout 3: Daily Research Journal Entry Template and Unit 3 Student Handout 4: Pilot Test Reflection and Troubleshooting Log.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Collect these exit tickets or have students write them in research journals. Use responses to identify projects that need early intervention.</a:t>
            </a:r>
            <a:br/>
            <a:br/>
            <a:r>
              <a:t>Resource alignment:</a:t>
            </a:r>
            <a:br/>
            <a:r>
              <a:t>Use Unit 2 Student Handout 9: Safety and Risk Assessment and Unit 2 Student Handout 10: Ethics and Approval Screening. If used in Unit 1, connect to Unit 1 Student Handout 4: Research Ethics and Integrity Agreement.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This slide is intended for teachers using the deck as part of a chapter package. It can be hidden during student delivery if desired. Suggested placement: Unit 1 after topic brainstorming, then revisit during Unit 2 research planning.</a:t>
            </a:r>
            <a:br/>
            <a:br/>
            <a:r>
              <a:t>Resource alignment:</a:t>
            </a:r>
            <a:br/>
            <a:r>
              <a:t>Use Unit 1 Student Handout 4: Research Ethics and Integrity Agreement. Connects to Unit 2 Student Handout 9: Safety and Risk Assessment and Unit 2 Student Handout 10: Ethics and Approval Screening.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Close with the tone you want students to carry forward: bold questions, responsible methods. Transition into the ethics agreement or project red-flag scan if that work has not already been completed.</a:t>
            </a:r>
            <a:br/>
            <a:br/>
            <a:r>
              <a:t>Resource alignment:</a:t>
            </a:r>
            <a:br/>
            <a:r>
              <a:t>Use Unit 1 Student Handout 4: Research Ethics and Integrity Agreement. Next deck connection: Deck 4: Experimental Design &amp; Engineering Design.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6c97df24ef247ba" /></Relationships>
</file>

<file path=ppt/slideLayouts/slideLayout1.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aa625f1ea9b43a8" /><Relationship Type="http://schemas.openxmlformats.org/officeDocument/2006/relationships/slideLayout" Target="/ppt/slideLayouts/slideLayout1.xml" Id="R3fdeb2f2400a4e56"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3fdeb2f2400a4e56"/>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a1d557c78994d04" /><Relationship Type="http://schemas.openxmlformats.org/officeDocument/2006/relationships/image" Target="/ppt/media/image.png" Id="Rc92034540d684f58" /><Relationship Type="http://schemas.openxmlformats.org/officeDocument/2006/relationships/notesSlide" Target="/ppt/notesSlides/notesSlide1.xml" Id="R1ae81c3a868a48b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cbbff60c17942fe" /><Relationship Type="http://schemas.openxmlformats.org/officeDocument/2006/relationships/notesSlide" Target="/ppt/notesSlides/notesSlide2.xml" Id="Rc1e6f87374ea413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fa95fbd86334cc6" /><Relationship Type="http://schemas.openxmlformats.org/officeDocument/2006/relationships/notesSlide" Target="/ppt/notesSlides/notesSlide3.xml" Id="R46dd76b17475466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6ce16bb02114145" /><Relationship Type="http://schemas.openxmlformats.org/officeDocument/2006/relationships/notesSlide" Target="/ppt/notesSlides/notesSlide4.xml" Id="R8d506490268741a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881ecc215074d4f" /><Relationship Type="http://schemas.openxmlformats.org/officeDocument/2006/relationships/notesSlide" Target="/ppt/notesSlides/notesSlide5.xml" Id="R94d099fc6b2b41a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955bfcc14a24b6a" /><Relationship Type="http://schemas.openxmlformats.org/officeDocument/2006/relationships/notesSlide" Target="/ppt/notesSlides/notesSlide6.xml" Id="R5c59903f7a8d4df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1b43fe6a8db4dda" /><Relationship Type="http://schemas.openxmlformats.org/officeDocument/2006/relationships/notesSlide" Target="/ppt/notesSlides/notesSlide7.xml" Id="Rabc762fd04b846a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0361dc3a6764fa8" /><Relationship Type="http://schemas.openxmlformats.org/officeDocument/2006/relationships/notesSlide" Target="/ppt/notesSlides/notesSlide8.xml" Id="R7ffc7a199b314dc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ec9ca6fc2f947ba" /><Relationship Type="http://schemas.openxmlformats.org/officeDocument/2006/relationships/notesSlide" Target="/ppt/notesSlides/notesSlide9.xml" Id="R4724879200a84b9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17358b389914dce" /><Relationship Type="http://schemas.openxmlformats.org/officeDocument/2006/relationships/notesSlide" Target="/ppt/notesSlides/notesSlide10.xml" Id="R157d36c3fc5e41d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18464ca6095413e" /><Relationship Type="http://schemas.openxmlformats.org/officeDocument/2006/relationships/notesSlide" Target="/ppt/notesSlides/notesSlide11.xml" Id="Rd4ed80c7c4844ad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eacb614d64e14e6d" /><Relationship Type="http://schemas.openxmlformats.org/officeDocument/2006/relationships/notesSlide" Target="/ppt/notesSlides/notesSlide12.xml" Id="R0b95c2cdabcf403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b5e66cd7e3b24886" /><Relationship Type="http://schemas.openxmlformats.org/officeDocument/2006/relationships/notesSlide" Target="/ppt/notesSlides/notesSlide13.xml" Id="R590b23e39f484cf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ff86041097f24bdd" /><Relationship Type="http://schemas.openxmlformats.org/officeDocument/2006/relationships/notesSlide" Target="/ppt/notesSlides/notesSlide14.xml" Id="R749455c37e2c459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5528615c085e415f" /><Relationship Type="http://schemas.openxmlformats.org/officeDocument/2006/relationships/notesSlide" Target="/ppt/notesSlides/notesSlide15.xml" Id="Rffe6a5a8c57b45a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6b7fb24ae2974186" /><Relationship Type="http://schemas.openxmlformats.org/officeDocument/2006/relationships/notesSlide" Target="/ppt/notesSlides/notesSlide16.xml" Id="Rfb8737ffd1f2466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08227b8cc4574c43" /><Relationship Type="http://schemas.openxmlformats.org/officeDocument/2006/relationships/notesSlide" Target="/ppt/notesSlides/notesSlide17.xml" Id="R5dec4b4db1684e0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48be8cd444914788" /><Relationship Type="http://schemas.openxmlformats.org/officeDocument/2006/relationships/notesSlide" Target="/ppt/notesSlides/notesSlide18.xml" Id="Rb30f38c2bd6b40b2"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c7f991368a974737" /><Relationship Type="http://schemas.openxmlformats.org/officeDocument/2006/relationships/notesSlide" Target="/ppt/notesSlides/notesSlide19.xml" Id="R9f40bb4fd95846b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3b076501d01f4921" /><Relationship Type="http://schemas.openxmlformats.org/officeDocument/2006/relationships/notesSlide" Target="/ppt/notesSlides/notesSlide20.xml" Id="R660fa793ad43407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cd63958957de446d" /><Relationship Type="http://schemas.openxmlformats.org/officeDocument/2006/relationships/notesSlide" Target="/ppt/notesSlides/notesSlide21.xml" Id="R0bcff816971d419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5bca9af8eeb04e79" /><Relationship Type="http://schemas.openxmlformats.org/officeDocument/2006/relationships/notesSlide" Target="/ppt/notesSlides/notesSlide22.xml" Id="R6087be4686eb415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b6b5bc0634cc4c24" /><Relationship Type="http://schemas.openxmlformats.org/officeDocument/2006/relationships/notesSlide" Target="/ppt/notesSlides/notesSlide23.xml" Id="R342b85e552c54f0f" /></Relationships>
</file>

<file path=ppt/slides/slide1.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1844BC3F-1433-439A-8ED8-4531410EF284}"/>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7" name="Google Shape;17;p3">
            <a:extLst xmlns:a="http://schemas.openxmlformats.org/drawingml/2006/main">
              <a:ext uri="{FF2B5EF4-FFF2-40B4-BE49-F238E27FC236}">
                <a16:creationId xmlns:a16="http://schemas.microsoft.com/office/drawing/2014/main" id="{C70CC694-74FB-46E1-87B6-48ABF9AE6A1E}"/>
              </a:ext>
            </a:extLst>
          </p:cNvPr>
          <p:cNvSpPr>
            <a:spLocks xmlns:a="http://schemas.openxmlformats.org/drawingml/2006/main" noGrp="1"/>
          </p:cNvSpPr>
          <p:nvPr/>
        </p:nvSpPr>
        <p:spPr>
          <a:xfrm xmlns:a="http://schemas.openxmlformats.org/drawingml/2006/main">
            <a:off x="0" y="219456"/>
            <a:ext cx="12191695" cy="82296"/>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8" name="Google Shape;18;p3">
            <a:extLst xmlns:a="http://schemas.openxmlformats.org/drawingml/2006/main">
              <a:ext uri="{FF2B5EF4-FFF2-40B4-BE49-F238E27FC236}">
                <a16:creationId xmlns:a16="http://schemas.microsoft.com/office/drawing/2014/main" id="{86565AD2-EEA6-48EE-8FE5-F87ED8915870}"/>
              </a:ext>
            </a:extLst>
          </p:cNvPr>
          <p:cNvSpPr>
            <a:spLocks xmlns:a="http://schemas.openxmlformats.org/drawingml/2006/main" noGrp="1"/>
          </p:cNvSpPr>
          <p:nvPr/>
        </p:nvSpPr>
        <p:spPr>
          <a:xfrm xmlns:a="http://schemas.openxmlformats.org/drawingml/2006/main">
            <a:off x="0" y="6565392"/>
            <a:ext cx="12191695" cy="82296"/>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pic>
        <p:nvPicPr>
          <p:cNvPr id="27" name="Google Shape;19;p3"/>
          <p:cNvPicPr>
            <a:picLocks xmlns:a="http://schemas.openxmlformats.org/drawingml/2006/main" noChangeAspect="1"/>
          </p:cNvPicPr>
          <p:nvPr/>
        </p:nvPicPr>
        <p:blipFill rotWithShape="1">
          <a:blip xmlns:r="http://schemas.openxmlformats.org/officeDocument/2006/relationships" xmlns:a="http://schemas.openxmlformats.org/drawingml/2006/main" r:embed="Rc92034540d684f58">
            <a:alphaModFix/>
          </a:blip>
          <a:srcRect xmlns:a="http://schemas.openxmlformats.org/drawingml/2006/main" l="0" t="0" r="0" b="0"/>
          <a:stretch xmlns:a="http://schemas.openxmlformats.org/drawingml/2006/main"/>
        </p:blipFill>
        <p:spPr>
          <a:xfrm xmlns:a="http://schemas.openxmlformats.org/drawingml/2006/main">
            <a:off x="1572768" y="512064"/>
            <a:ext cx="9052560" cy="4224528"/>
          </a:xfrm>
          <a:prstGeom xmlns:a="http://schemas.openxmlformats.org/drawingml/2006/main" prst="rect">
            <a:avLst/>
          </a:prstGeom>
          <a:ln xmlns:a="http://schemas.openxmlformats.org/drawingml/2006/main">
            <a:noFill/>
          </a:ln>
        </p:spPr>
      </p:pic>
      <p:sp>
        <p:nvSpPr>
          <p:cNvPr id="20" name="Google Shape;20;p3">
            <a:extLst xmlns:a="http://schemas.openxmlformats.org/drawingml/2006/main">
              <a:ext uri="{FF2B5EF4-FFF2-40B4-BE49-F238E27FC236}">
                <a16:creationId xmlns:a16="http://schemas.microsoft.com/office/drawing/2014/main" id="{CB135E56-DD80-4367-A9E2-4079668A3CBC}"/>
              </a:ext>
            </a:extLst>
          </p:cNvPr>
          <p:cNvSpPr>
            <a:spLocks xmlns:a="http://schemas.openxmlformats.org/drawingml/2006/main" noGrp="1"/>
          </p:cNvSpPr>
          <p:nvPr/>
        </p:nvSpPr>
        <p:spPr>
          <a:xfrm xmlns:a="http://schemas.openxmlformats.org/drawingml/2006/main">
            <a:off x="960120" y="5010912"/>
            <a:ext cx="10287000" cy="868680"/>
          </a:xfrm>
          <a:prstGeom xmlns:a="http://schemas.openxmlformats.org/drawingml/2006/main" prst="rect">
            <a:avLst/>
          </a:prstGeom>
          <a:solidFill xmlns:a="http://schemas.openxmlformats.org/drawingml/2006/main">
            <a:srgbClr val="050505">
              <a:alpha val="0"/>
            </a:srgbClr>
          </a:solidFill>
          <a:ln xmlns:a="http://schemas.openxmlformats.org/drawingml/2006/main" w="15225" cmpd="sng">
            <a:solidFill>
              <a:srgbClr val="B8B8B8">
                <a:alpha val="8000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 name="Google Shape;21;p3">
            <a:extLst xmlns:a="http://schemas.openxmlformats.org/drawingml/2006/main">
              <a:ext uri="{FF2B5EF4-FFF2-40B4-BE49-F238E27FC236}">
                <a16:creationId xmlns:a16="http://schemas.microsoft.com/office/drawing/2014/main" id="{D4DFFCB5-DEFE-45EB-BF9F-2CB47AC4F2C9}"/>
              </a:ext>
            </a:extLst>
          </p:cNvPr>
          <p:cNvSpPr>
            <a:spLocks xmlns:a="http://schemas.openxmlformats.org/drawingml/2006/main" noGrp="1"/>
          </p:cNvSpPr>
          <p:nvPr/>
        </p:nvSpPr>
        <p:spPr>
          <a:xfrm xmlns:a="http://schemas.openxmlformats.org/drawingml/2006/main">
            <a:off x="1024128" y="5102352"/>
            <a:ext cx="1014984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400"/>
              <a:buFont typeface="Play"/>
              <a:buNone/>
            </a:pPr>
            <a:r>
              <a:rPr sz="2400" b="1" i="0" u="none" cap="none">
                <a:solidFill>
                  <a:srgbClr val="FFFFFF"/>
                </a:solidFill>
                <a:latin typeface="Play"/>
                <a:ea typeface="Play"/>
                <a:cs typeface="Play"/>
              </a:rPr>
              <a:t>RESEARCH ETHICS, SAFETY,</a:t>
            </a:r>
          </a:p>
          <a:p xmlns:a="http://schemas.openxmlformats.org/drawingml/2006/main">
            <a:pPr marL="0" marR="0" indent="0" algn="l">
              <a:spcBef>
                <a:spcPts val="0"/>
              </a:spcBef>
              <a:spcAft>
                <a:spcPts val="0"/>
              </a:spcAft>
              <a:buClr>
                <a:srgbClr val="FFFFFF"/>
              </a:buClr>
              <a:buSzPts val="2400"/>
              <a:buFont typeface="Play"/>
              <a:buNone/>
            </a:pPr>
            <a:r>
              <a:rPr sz="2400" b="1" i="0" u="none" cap="none">
                <a:solidFill>
                  <a:srgbClr val="FFFFFF"/>
                </a:solidFill>
                <a:latin typeface="Play"/>
                <a:ea typeface="Play"/>
                <a:cs typeface="Play"/>
              </a:rPr>
              <a:t>&amp; INTEGRITY</a:t>
            </a:r>
          </a:p>
        </p:txBody>
      </p:sp>
      <p:sp>
        <p:nvSpPr>
          <p:cNvPr id="22" name="Google Shape;22;p3">
            <a:extLst xmlns:a="http://schemas.openxmlformats.org/drawingml/2006/main">
              <a:ext uri="{FF2B5EF4-FFF2-40B4-BE49-F238E27FC236}">
                <a16:creationId xmlns:a16="http://schemas.microsoft.com/office/drawing/2014/main" id="{5D73B6E2-5ED7-4093-A65D-FBB9BE892E39}"/>
              </a:ext>
            </a:extLst>
          </p:cNvPr>
          <p:cNvSpPr>
            <a:spLocks xmlns:a="http://schemas.openxmlformats.org/drawingml/2006/main" noGrp="1"/>
          </p:cNvSpPr>
          <p:nvPr/>
        </p:nvSpPr>
        <p:spPr>
          <a:xfrm xmlns:a="http://schemas.openxmlformats.org/drawingml/2006/main">
            <a:off x="1024128" y="5989320"/>
            <a:ext cx="71323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b="0" i="0" u="none" cap="none">
                <a:solidFill>
                  <a:srgbClr val="B8B8B8"/>
                </a:solidFill>
                <a:latin typeface="Arial"/>
                <a:ea typeface="Arial"/>
                <a:cs typeface="Arial"/>
              </a:rPr>
              <a:t>STARLAB Deck 03  •  Course Launch Series</a:t>
            </a:r>
          </a:p>
        </p:txBody>
      </p:sp>
    </p:spTree>
    <p:extLst>
      <p:ext uri="{BB962C8B-B14F-4D97-AF65-F5344CB8AC3E}">
        <p14:creationId xmlns:p14="http://schemas.microsoft.com/office/powerpoint/2010/main" val="621742951"/>
      </p:ext>
    </p:extLst>
  </p:cSld>
</p:sld>
</file>

<file path=ppt/slides/slide2.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8" name="Google Shape;28;p4">
            <a:extLst xmlns:a="http://schemas.openxmlformats.org/drawingml/2006/main">
              <a:ext uri="{FF2B5EF4-FFF2-40B4-BE49-F238E27FC236}">
                <a16:creationId xmlns:a16="http://schemas.microsoft.com/office/drawing/2014/main" id="{729B2538-7A4F-4D27-9824-C55D96C52F0A}"/>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 name="Google Shape;29;p4">
            <a:extLst xmlns:a="http://schemas.openxmlformats.org/drawingml/2006/main">
              <a:ext uri="{FF2B5EF4-FFF2-40B4-BE49-F238E27FC236}">
                <a16:creationId xmlns:a16="http://schemas.microsoft.com/office/drawing/2014/main" id="{4792E77F-8915-4379-84A9-8FB9E946F95E}"/>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 name="Google Shape;30;p4">
            <a:extLst xmlns:a="http://schemas.openxmlformats.org/drawingml/2006/main">
              <a:ext uri="{FF2B5EF4-FFF2-40B4-BE49-F238E27FC236}">
                <a16:creationId xmlns:a16="http://schemas.microsoft.com/office/drawing/2014/main" id="{65D82944-A42C-42F7-BAE3-CB7AD4D4F626}"/>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1" name="Google Shape;31;p4">
            <a:extLst xmlns:a="http://schemas.openxmlformats.org/drawingml/2006/main">
              <a:ext uri="{FF2B5EF4-FFF2-40B4-BE49-F238E27FC236}">
                <a16:creationId xmlns:a16="http://schemas.microsoft.com/office/drawing/2014/main" id="{1608A48F-D273-42B7-9C59-CA46DF9C6104}"/>
              </a:ext>
            </a:extLst>
          </p:cNvPr>
          <p:cNvSpPr>
            <a:spLocks xmlns:a="http://schemas.openxmlformats.org/drawingml/2006/main" noGrp="1"/>
          </p:cNvSpPr>
          <p:nvPr/>
        </p:nvSpPr>
        <p:spPr>
          <a:xfrm xmlns:a="http://schemas.openxmlformats.org/drawingml/2006/main">
            <a:off x="411480" y="6236208"/>
            <a:ext cx="49377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i="0" u="none" cap="none">
                <a:solidFill>
                  <a:srgbClr val="B8B8B8"/>
                </a:solidFill>
                <a:latin typeface="Arial"/>
                <a:ea typeface="Arial"/>
                <a:cs typeface="Arial"/>
              </a:rPr>
              <a:t>ETHICS • SAFETY • INTEGRITY</a:t>
            </a:r>
          </a:p>
        </p:txBody>
      </p:sp>
      <p:sp>
        <p:nvSpPr>
          <p:cNvPr id="32" name="Google Shape;32;p4">
            <a:extLst xmlns:a="http://schemas.openxmlformats.org/drawingml/2006/main">
              <a:ext uri="{FF2B5EF4-FFF2-40B4-BE49-F238E27FC236}">
                <a16:creationId xmlns:a16="http://schemas.microsoft.com/office/drawing/2014/main" id="{FF05814F-4404-441A-8550-02A6BD2087FE}"/>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i="0" u="none" cap="none">
                <a:solidFill>
                  <a:srgbClr val="B8B8B8"/>
                </a:solidFill>
                <a:latin typeface="Arial"/>
                <a:ea typeface="Arial"/>
                <a:cs typeface="Arial"/>
              </a:rPr>
              <a:t>STARLAB</a:t>
            </a:r>
          </a:p>
        </p:txBody>
      </p:sp>
      <p:sp>
        <p:nvSpPr>
          <p:cNvPr id="33" name="Google Shape;33;p4">
            <a:extLst xmlns:a="http://schemas.openxmlformats.org/drawingml/2006/main">
              <a:ext uri="{FF2B5EF4-FFF2-40B4-BE49-F238E27FC236}">
                <a16:creationId xmlns:a16="http://schemas.microsoft.com/office/drawing/2014/main" id="{BC0E9A0B-5701-4F90-89C4-78D164F551AE}"/>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i="0" u="none" cap="none">
                <a:solidFill>
                  <a:srgbClr val="E22B27"/>
                </a:solidFill>
                <a:latin typeface="Arial"/>
                <a:ea typeface="Arial"/>
                <a:cs typeface="Arial"/>
              </a:rPr>
              <a:t>DECK 03</a:t>
            </a:r>
          </a:p>
        </p:txBody>
      </p:sp>
      <p:sp>
        <p:nvSpPr>
          <p:cNvPr id="34" name="Google Shape;34;p4">
            <a:extLst xmlns:a="http://schemas.openxmlformats.org/drawingml/2006/main">
              <a:ext uri="{FF2B5EF4-FFF2-40B4-BE49-F238E27FC236}">
                <a16:creationId xmlns:a16="http://schemas.microsoft.com/office/drawing/2014/main" id="{F5CDAB19-F5BD-4565-BC78-4F9269D6AFFE}"/>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i="0" u="none" cap="none">
                <a:solidFill>
                  <a:srgbClr val="FFFFFF"/>
                </a:solidFill>
                <a:latin typeface="Play"/>
                <a:ea typeface="Play"/>
                <a:cs typeface="Play"/>
              </a:rPr>
              <a:t>Curiosity Is Powerful</a:t>
            </a:r>
          </a:p>
        </p:txBody>
      </p:sp>
      <p:sp>
        <p:nvSpPr>
          <p:cNvPr id="35" name="Google Shape;35;p4">
            <a:extLst xmlns:a="http://schemas.openxmlformats.org/drawingml/2006/main">
              <a:ext uri="{FF2B5EF4-FFF2-40B4-BE49-F238E27FC236}">
                <a16:creationId xmlns:a16="http://schemas.microsoft.com/office/drawing/2014/main" id="{52F2AA58-53D1-401B-BDBB-2792BFDC79D9}"/>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b="0" i="0" u="none" cap="none">
                <a:solidFill>
                  <a:srgbClr val="B8B8B8"/>
                </a:solidFill>
                <a:latin typeface="Arial"/>
                <a:ea typeface="Arial"/>
                <a:cs typeface="Arial"/>
              </a:rPr>
              <a:t>The STARLAB standard: original questions, responsible methods.</a:t>
            </a:r>
          </a:p>
        </p:txBody>
      </p:sp>
      <p:cxnSp>
        <p:nvCxnSpPr>
          <p:cNvPr id="51" name="Google Shape;36;p4"/>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37" name="Google Shape;37;p4">
            <a:extLst xmlns:a="http://schemas.openxmlformats.org/drawingml/2006/main">
              <a:ext uri="{FF2B5EF4-FFF2-40B4-BE49-F238E27FC236}">
                <a16:creationId xmlns:a16="http://schemas.microsoft.com/office/drawing/2014/main" id="{C94F14F8-8BFE-4E4D-8BD5-22D26D27331A}"/>
              </a:ext>
            </a:extLst>
          </p:cNvPr>
          <p:cNvSpPr>
            <a:spLocks xmlns:a="http://schemas.openxmlformats.org/drawingml/2006/main" noGrp="1"/>
          </p:cNvSpPr>
          <p:nvPr/>
        </p:nvSpPr>
        <p:spPr>
          <a:xfrm xmlns:a="http://schemas.openxmlformats.org/drawingml/2006/main">
            <a:off x="868680" y="1828800"/>
            <a:ext cx="10424160" cy="1325880"/>
          </a:xfrm>
          <a:prstGeom xmlns:a="http://schemas.openxmlformats.org/drawingml/2006/main" prst="roundRect">
            <a:avLst>
              <a:gd name="adj" fmla="val 4138"/>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8" name="Google Shape;38;p4">
            <a:extLst xmlns:a="http://schemas.openxmlformats.org/drawingml/2006/main">
              <a:ext uri="{FF2B5EF4-FFF2-40B4-BE49-F238E27FC236}">
                <a16:creationId xmlns:a16="http://schemas.microsoft.com/office/drawing/2014/main" id="{5E819E3C-4F0E-42A9-8364-F51F4940D249}"/>
              </a:ext>
            </a:extLst>
          </p:cNvPr>
          <p:cNvSpPr>
            <a:spLocks xmlns:a="http://schemas.openxmlformats.org/drawingml/2006/main" noGrp="1"/>
          </p:cNvSpPr>
          <p:nvPr/>
        </p:nvSpPr>
        <p:spPr>
          <a:xfrm xmlns:a="http://schemas.openxmlformats.org/drawingml/2006/main">
            <a:off x="1033272" y="1965960"/>
            <a:ext cx="1009497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i="0" u="none" cap="none">
                <a:solidFill>
                  <a:srgbClr val="E22B27"/>
                </a:solidFill>
                <a:latin typeface="Arial"/>
                <a:ea typeface="Arial"/>
                <a:cs typeface="Arial"/>
              </a:rPr>
              <a:t>CORE MESSAGE</a:t>
            </a:r>
          </a:p>
        </p:txBody>
      </p:sp>
      <p:sp>
        <p:nvSpPr>
          <p:cNvPr id="39" name="Google Shape;39;p4">
            <a:extLst xmlns:a="http://schemas.openxmlformats.org/drawingml/2006/main">
              <a:ext uri="{FF2B5EF4-FFF2-40B4-BE49-F238E27FC236}">
                <a16:creationId xmlns:a16="http://schemas.microsoft.com/office/drawing/2014/main" id="{88020149-22DA-4DCE-ABFB-A2DD376CB333}"/>
              </a:ext>
            </a:extLst>
          </p:cNvPr>
          <p:cNvSpPr>
            <a:spLocks xmlns:a="http://schemas.openxmlformats.org/drawingml/2006/main" noGrp="1"/>
          </p:cNvSpPr>
          <p:nvPr/>
        </p:nvSpPr>
        <p:spPr>
          <a:xfrm xmlns:a="http://schemas.openxmlformats.org/drawingml/2006/main">
            <a:off x="1033272" y="2331720"/>
            <a:ext cx="10094976" cy="6675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400"/>
              <a:buFont typeface="Arial"/>
              <a:buNone/>
            </a:pPr>
            <a:r>
              <a:rPr sz="2400" b="0" i="0" u="none" cap="none">
                <a:solidFill>
                  <a:srgbClr val="FFFFFF"/>
                </a:solidFill>
                <a:latin typeface="Arial"/>
                <a:ea typeface="Arial"/>
                <a:cs typeface="Arial"/>
              </a:rPr>
              <a:t>Students may ask original questions, but they must use safe, ethical, and honest methods.</a:t>
            </a:r>
          </a:p>
        </p:txBody>
      </p:sp>
      <p:sp>
        <p:nvSpPr>
          <p:cNvPr id="40" name="Google Shape;40;p4">
            <a:extLst xmlns:a="http://schemas.openxmlformats.org/drawingml/2006/main">
              <a:ext uri="{FF2B5EF4-FFF2-40B4-BE49-F238E27FC236}">
                <a16:creationId xmlns:a16="http://schemas.microsoft.com/office/drawing/2014/main" id="{FCA647E7-0F52-4A10-BC53-DE47E3F6BD36}"/>
              </a:ext>
            </a:extLst>
          </p:cNvPr>
          <p:cNvSpPr>
            <a:spLocks xmlns:a="http://schemas.openxmlformats.org/drawingml/2006/main" noGrp="1"/>
          </p:cNvSpPr>
          <p:nvPr/>
        </p:nvSpPr>
        <p:spPr>
          <a:xfrm xmlns:a="http://schemas.openxmlformats.org/drawingml/2006/main">
            <a:off x="868680" y="3703320"/>
            <a:ext cx="10424160" cy="1143000"/>
          </a:xfrm>
          <a:prstGeom xmlns:a="http://schemas.openxmlformats.org/drawingml/2006/main" prst="roundRect">
            <a:avLst>
              <a:gd name="adj" fmla="val 4800"/>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1" name="Google Shape;41;p4">
            <a:extLst xmlns:a="http://schemas.openxmlformats.org/drawingml/2006/main">
              <a:ext uri="{FF2B5EF4-FFF2-40B4-BE49-F238E27FC236}">
                <a16:creationId xmlns:a16="http://schemas.microsoft.com/office/drawing/2014/main" id="{B2CCC421-6DFC-4A6A-B27F-84A65F6B8C8C}"/>
              </a:ext>
            </a:extLst>
          </p:cNvPr>
          <p:cNvSpPr>
            <a:spLocks xmlns:a="http://schemas.openxmlformats.org/drawingml/2006/main" noGrp="1"/>
          </p:cNvSpPr>
          <p:nvPr/>
        </p:nvSpPr>
        <p:spPr>
          <a:xfrm xmlns:a="http://schemas.openxmlformats.org/drawingml/2006/main">
            <a:off x="1033272" y="3840480"/>
            <a:ext cx="1009497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i="0" u="none" cap="none">
                <a:solidFill>
                  <a:srgbClr val="E22B27"/>
                </a:solidFill>
                <a:latin typeface="Arial"/>
                <a:ea typeface="Arial"/>
                <a:cs typeface="Arial"/>
              </a:rPr>
              <a:t>STANDARD</a:t>
            </a:r>
          </a:p>
        </p:txBody>
      </p:sp>
      <p:sp>
        <p:nvSpPr>
          <p:cNvPr id="42" name="Google Shape;42;p4">
            <a:extLst xmlns:a="http://schemas.openxmlformats.org/drawingml/2006/main">
              <a:ext uri="{FF2B5EF4-FFF2-40B4-BE49-F238E27FC236}">
                <a16:creationId xmlns:a16="http://schemas.microsoft.com/office/drawing/2014/main" id="{559E718C-CEFF-4A2B-9C25-45C20BC3EEFA}"/>
              </a:ext>
            </a:extLst>
          </p:cNvPr>
          <p:cNvSpPr>
            <a:spLocks xmlns:a="http://schemas.openxmlformats.org/drawingml/2006/main" noGrp="1"/>
          </p:cNvSpPr>
          <p:nvPr/>
        </p:nvSpPr>
        <p:spPr>
          <a:xfrm xmlns:a="http://schemas.openxmlformats.org/drawingml/2006/main">
            <a:off x="1033272" y="4206240"/>
            <a:ext cx="10094976" cy="4846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800"/>
              <a:buFont typeface="Arial"/>
              <a:buNone/>
            </a:pPr>
            <a:r>
              <a:rPr sz="2800" b="0" i="0" u="none" cap="none">
                <a:solidFill>
                  <a:srgbClr val="FFFFFF"/>
                </a:solidFill>
                <a:latin typeface="Arial"/>
                <a:ea typeface="Arial"/>
                <a:cs typeface="Arial"/>
              </a:rPr>
              <a:t>Research freedom comes with responsibility.</a:t>
            </a:r>
          </a:p>
        </p:txBody>
      </p:sp>
    </p:spTree>
    <p:extLst>
      <p:ext uri="{BB962C8B-B14F-4D97-AF65-F5344CB8AC3E}">
        <p14:creationId xmlns:p14="http://schemas.microsoft.com/office/powerpoint/2010/main" val="1482686843"/>
      </p:ext>
    </p:extLst>
  </p:cSld>
</p:sld>
</file>

<file path=ppt/slides/slide3.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48" name="Google Shape;48;p5">
            <a:extLst xmlns:a="http://schemas.openxmlformats.org/drawingml/2006/main">
              <a:ext uri="{FF2B5EF4-FFF2-40B4-BE49-F238E27FC236}">
                <a16:creationId xmlns:a16="http://schemas.microsoft.com/office/drawing/2014/main" id="{A7128E4F-A764-4465-A271-65E62697D8ED}"/>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9" name="Google Shape;49;p5">
            <a:extLst xmlns:a="http://schemas.openxmlformats.org/drawingml/2006/main">
              <a:ext uri="{FF2B5EF4-FFF2-40B4-BE49-F238E27FC236}">
                <a16:creationId xmlns:a16="http://schemas.microsoft.com/office/drawing/2014/main" id="{65BA5D85-5F99-4F5F-AAEC-963F539C11B0}"/>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0" name="Google Shape;50;p5">
            <a:extLst xmlns:a="http://schemas.openxmlformats.org/drawingml/2006/main">
              <a:ext uri="{FF2B5EF4-FFF2-40B4-BE49-F238E27FC236}">
                <a16:creationId xmlns:a16="http://schemas.microsoft.com/office/drawing/2014/main" id="{B4757BD5-7891-4206-A6AC-244817A93D77}"/>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1" name="Google Shape;51;p5">
            <a:extLst xmlns:a="http://schemas.openxmlformats.org/drawingml/2006/main">
              <a:ext uri="{FF2B5EF4-FFF2-40B4-BE49-F238E27FC236}">
                <a16:creationId xmlns:a16="http://schemas.microsoft.com/office/drawing/2014/main" id="{1D44F57F-17A5-47FF-AC93-6461C9A4FF34}"/>
              </a:ext>
            </a:extLst>
          </p:cNvPr>
          <p:cNvSpPr>
            <a:spLocks xmlns:a="http://schemas.openxmlformats.org/drawingml/2006/main" noGrp="1"/>
          </p:cNvSpPr>
          <p:nvPr/>
        </p:nvSpPr>
        <p:spPr>
          <a:xfrm xmlns:a="http://schemas.openxmlformats.org/drawingml/2006/main">
            <a:off x="411480" y="6236208"/>
            <a:ext cx="49377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i="0" u="none" cap="none">
                <a:solidFill>
                  <a:srgbClr val="B8B8B8"/>
                </a:solidFill>
                <a:latin typeface="Arial"/>
                <a:ea typeface="Arial"/>
                <a:cs typeface="Arial"/>
              </a:rPr>
              <a:t>ETHICS • SAFETY • INTEGRITY</a:t>
            </a:r>
          </a:p>
        </p:txBody>
      </p:sp>
      <p:sp>
        <p:nvSpPr>
          <p:cNvPr id="52" name="Google Shape;52;p5">
            <a:extLst xmlns:a="http://schemas.openxmlformats.org/drawingml/2006/main">
              <a:ext uri="{FF2B5EF4-FFF2-40B4-BE49-F238E27FC236}">
                <a16:creationId xmlns:a16="http://schemas.microsoft.com/office/drawing/2014/main" id="{AF087F24-7B56-4E67-8FFF-11BD24E01039}"/>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i="0" u="none" cap="none">
                <a:solidFill>
                  <a:srgbClr val="B8B8B8"/>
                </a:solidFill>
                <a:latin typeface="Arial"/>
                <a:ea typeface="Arial"/>
                <a:cs typeface="Arial"/>
              </a:rPr>
              <a:t>STARLAB</a:t>
            </a:r>
          </a:p>
        </p:txBody>
      </p:sp>
      <p:sp>
        <p:nvSpPr>
          <p:cNvPr id="53" name="Google Shape;53;p5">
            <a:extLst xmlns:a="http://schemas.openxmlformats.org/drawingml/2006/main">
              <a:ext uri="{FF2B5EF4-FFF2-40B4-BE49-F238E27FC236}">
                <a16:creationId xmlns:a16="http://schemas.microsoft.com/office/drawing/2014/main" id="{D14DDAED-94C8-442A-BE5F-3F64EF3FFCC4}"/>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i="0" u="none" cap="none">
                <a:solidFill>
                  <a:srgbClr val="E22B27"/>
                </a:solidFill>
                <a:latin typeface="Arial"/>
                <a:ea typeface="Arial"/>
                <a:cs typeface="Arial"/>
              </a:rPr>
              <a:t>DECK 03</a:t>
            </a:r>
          </a:p>
        </p:txBody>
      </p:sp>
      <p:sp>
        <p:nvSpPr>
          <p:cNvPr id="54" name="Google Shape;54;p5">
            <a:extLst xmlns:a="http://schemas.openxmlformats.org/drawingml/2006/main">
              <a:ext uri="{FF2B5EF4-FFF2-40B4-BE49-F238E27FC236}">
                <a16:creationId xmlns:a16="http://schemas.microsoft.com/office/drawing/2014/main" id="{194717FD-0FA5-46C9-909B-9996C6150823}"/>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i="0" u="none" cap="none">
                <a:solidFill>
                  <a:srgbClr val="FFFFFF"/>
                </a:solidFill>
                <a:latin typeface="Play"/>
                <a:ea typeface="Play"/>
                <a:cs typeface="Play"/>
              </a:rPr>
              <a:t>The Four Non-Negotiables</a:t>
            </a:r>
          </a:p>
        </p:txBody>
      </p:sp>
      <p:sp>
        <p:nvSpPr>
          <p:cNvPr id="55" name="Google Shape;55;p5">
            <a:extLst xmlns:a="http://schemas.openxmlformats.org/drawingml/2006/main">
              <a:ext uri="{FF2B5EF4-FFF2-40B4-BE49-F238E27FC236}">
                <a16:creationId xmlns:a16="http://schemas.microsoft.com/office/drawing/2014/main" id="{1D73031B-6998-4352-82E5-692AB5E3AFD4}"/>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b="0" i="0" u="none" cap="none">
                <a:solidFill>
                  <a:srgbClr val="B8B8B8"/>
                </a:solidFill>
                <a:latin typeface="Arial"/>
                <a:ea typeface="Arial"/>
                <a:cs typeface="Arial"/>
              </a:rPr>
              <a:t>These expectations anchor every STARLAB project.</a:t>
            </a:r>
          </a:p>
        </p:txBody>
      </p:sp>
      <p:cxnSp>
        <p:nvCxnSpPr>
          <p:cNvPr id="77" name="Google Shape;56;p5"/>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57" name="Google Shape;57;p5">
            <a:extLst xmlns:a="http://schemas.openxmlformats.org/drawingml/2006/main">
              <a:ext uri="{FF2B5EF4-FFF2-40B4-BE49-F238E27FC236}">
                <a16:creationId xmlns:a16="http://schemas.microsoft.com/office/drawing/2014/main" id="{E09AF57C-91E8-474E-84E2-61D135E53417}"/>
              </a:ext>
            </a:extLst>
          </p:cNvPr>
          <p:cNvSpPr>
            <a:spLocks xmlns:a="http://schemas.openxmlformats.org/drawingml/2006/main" noGrp="1"/>
          </p:cNvSpPr>
          <p:nvPr/>
        </p:nvSpPr>
        <p:spPr>
          <a:xfrm xmlns:a="http://schemas.openxmlformats.org/drawingml/2006/main">
            <a:off x="777240" y="1828800"/>
            <a:ext cx="5166360" cy="1234440"/>
          </a:xfrm>
          <a:prstGeom xmlns:a="http://schemas.openxmlformats.org/drawingml/2006/main" prst="roundRect">
            <a:avLst>
              <a:gd name="adj" fmla="val 4444"/>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8" name="Google Shape;58;p5">
            <a:extLst xmlns:a="http://schemas.openxmlformats.org/drawingml/2006/main">
              <a:ext uri="{FF2B5EF4-FFF2-40B4-BE49-F238E27FC236}">
                <a16:creationId xmlns:a16="http://schemas.microsoft.com/office/drawing/2014/main" id="{968D1D9C-4169-400C-8860-3F0BDE1E1582}"/>
              </a:ext>
            </a:extLst>
          </p:cNvPr>
          <p:cNvSpPr>
            <a:spLocks xmlns:a="http://schemas.openxmlformats.org/drawingml/2006/main" noGrp="1"/>
          </p:cNvSpPr>
          <p:nvPr/>
        </p:nvSpPr>
        <p:spPr>
          <a:xfrm xmlns:a="http://schemas.openxmlformats.org/drawingml/2006/main">
            <a:off x="941832" y="1965960"/>
            <a:ext cx="483717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i="0" u="none" cap="none">
                <a:solidFill>
                  <a:srgbClr val="E22B27"/>
                </a:solidFill>
                <a:latin typeface="Arial"/>
                <a:ea typeface="Arial"/>
                <a:cs typeface="Arial"/>
              </a:rPr>
              <a:t>Honest data</a:t>
            </a:r>
          </a:p>
        </p:txBody>
      </p:sp>
      <p:sp>
        <p:nvSpPr>
          <p:cNvPr id="59" name="Google Shape;59;p5">
            <a:extLst xmlns:a="http://schemas.openxmlformats.org/drawingml/2006/main">
              <a:ext uri="{FF2B5EF4-FFF2-40B4-BE49-F238E27FC236}">
                <a16:creationId xmlns:a16="http://schemas.microsoft.com/office/drawing/2014/main" id="{F8584665-0A49-4072-8873-801EF84CBC5A}"/>
              </a:ext>
            </a:extLst>
          </p:cNvPr>
          <p:cNvSpPr>
            <a:spLocks xmlns:a="http://schemas.openxmlformats.org/drawingml/2006/main" noGrp="1"/>
          </p:cNvSpPr>
          <p:nvPr/>
        </p:nvSpPr>
        <p:spPr>
          <a:xfrm xmlns:a="http://schemas.openxmlformats.org/drawingml/2006/main">
            <a:off x="941832" y="2331720"/>
            <a:ext cx="4837176" cy="5760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900"/>
              <a:buFont typeface="Arial"/>
              <a:buNone/>
            </a:pPr>
            <a:r>
              <a:rPr sz="1900" b="0" i="0" u="none" cap="none">
                <a:solidFill>
                  <a:srgbClr val="FFFFFF"/>
                </a:solidFill>
                <a:latin typeface="Arial"/>
                <a:ea typeface="Arial"/>
                <a:cs typeface="Arial"/>
              </a:rPr>
              <a:t>Record what happened, not what you hoped happened.</a:t>
            </a:r>
          </a:p>
        </p:txBody>
      </p:sp>
      <p:sp>
        <p:nvSpPr>
          <p:cNvPr id="60" name="Google Shape;60;p5">
            <a:extLst xmlns:a="http://schemas.openxmlformats.org/drawingml/2006/main">
              <a:ext uri="{FF2B5EF4-FFF2-40B4-BE49-F238E27FC236}">
                <a16:creationId xmlns:a16="http://schemas.microsoft.com/office/drawing/2014/main" id="{EFE72481-4C6B-4654-9915-935C5BEF539D}"/>
              </a:ext>
            </a:extLst>
          </p:cNvPr>
          <p:cNvSpPr>
            <a:spLocks xmlns:a="http://schemas.openxmlformats.org/drawingml/2006/main" noGrp="1"/>
          </p:cNvSpPr>
          <p:nvPr/>
        </p:nvSpPr>
        <p:spPr>
          <a:xfrm xmlns:a="http://schemas.openxmlformats.org/drawingml/2006/main">
            <a:off x="6263640" y="1828800"/>
            <a:ext cx="5166360" cy="1234440"/>
          </a:xfrm>
          <a:prstGeom xmlns:a="http://schemas.openxmlformats.org/drawingml/2006/main" prst="roundRect">
            <a:avLst>
              <a:gd name="adj" fmla="val 4444"/>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1" name="Google Shape;61;p5">
            <a:extLst xmlns:a="http://schemas.openxmlformats.org/drawingml/2006/main">
              <a:ext uri="{FF2B5EF4-FFF2-40B4-BE49-F238E27FC236}">
                <a16:creationId xmlns:a16="http://schemas.microsoft.com/office/drawing/2014/main" id="{AA89781D-8B14-4721-A5B0-39AD3459DFBC}"/>
              </a:ext>
            </a:extLst>
          </p:cNvPr>
          <p:cNvSpPr>
            <a:spLocks xmlns:a="http://schemas.openxmlformats.org/drawingml/2006/main" noGrp="1"/>
          </p:cNvSpPr>
          <p:nvPr/>
        </p:nvSpPr>
        <p:spPr>
          <a:xfrm xmlns:a="http://schemas.openxmlformats.org/drawingml/2006/main">
            <a:off x="6428232" y="1965960"/>
            <a:ext cx="483717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i="0" u="none" cap="none">
                <a:solidFill>
                  <a:srgbClr val="E22B27"/>
                </a:solidFill>
                <a:latin typeface="Arial"/>
                <a:ea typeface="Arial"/>
                <a:cs typeface="Arial"/>
              </a:rPr>
              <a:t>Safe procedures</a:t>
            </a:r>
          </a:p>
        </p:txBody>
      </p:sp>
      <p:sp>
        <p:nvSpPr>
          <p:cNvPr id="62" name="Google Shape;62;p5">
            <a:extLst xmlns:a="http://schemas.openxmlformats.org/drawingml/2006/main">
              <a:ext uri="{FF2B5EF4-FFF2-40B4-BE49-F238E27FC236}">
                <a16:creationId xmlns:a16="http://schemas.microsoft.com/office/drawing/2014/main" id="{28E18990-E4E6-4BFE-A3A0-8276F6BE9EA8}"/>
              </a:ext>
            </a:extLst>
          </p:cNvPr>
          <p:cNvSpPr>
            <a:spLocks xmlns:a="http://schemas.openxmlformats.org/drawingml/2006/main" noGrp="1"/>
          </p:cNvSpPr>
          <p:nvPr/>
        </p:nvSpPr>
        <p:spPr>
          <a:xfrm xmlns:a="http://schemas.openxmlformats.org/drawingml/2006/main">
            <a:off x="6428232" y="2331720"/>
            <a:ext cx="4837176" cy="5760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900"/>
              <a:buFont typeface="Arial"/>
              <a:buNone/>
            </a:pPr>
            <a:r>
              <a:rPr sz="1900" b="0" i="0" u="none" cap="none">
                <a:solidFill>
                  <a:srgbClr val="FFFFFF"/>
                </a:solidFill>
                <a:latin typeface="Arial"/>
                <a:ea typeface="Arial"/>
                <a:cs typeface="Arial"/>
              </a:rPr>
              <a:t>Approval comes before testing.</a:t>
            </a:r>
          </a:p>
        </p:txBody>
      </p:sp>
      <p:sp>
        <p:nvSpPr>
          <p:cNvPr id="63" name="Google Shape;63;p5">
            <a:extLst xmlns:a="http://schemas.openxmlformats.org/drawingml/2006/main">
              <a:ext uri="{FF2B5EF4-FFF2-40B4-BE49-F238E27FC236}">
                <a16:creationId xmlns:a16="http://schemas.microsoft.com/office/drawing/2014/main" id="{8643D925-4456-4B56-8EDA-114215335E11}"/>
              </a:ext>
            </a:extLst>
          </p:cNvPr>
          <p:cNvSpPr>
            <a:spLocks xmlns:a="http://schemas.openxmlformats.org/drawingml/2006/main" noGrp="1"/>
          </p:cNvSpPr>
          <p:nvPr/>
        </p:nvSpPr>
        <p:spPr>
          <a:xfrm xmlns:a="http://schemas.openxmlformats.org/drawingml/2006/main">
            <a:off x="777240" y="3429000"/>
            <a:ext cx="5166360" cy="1234440"/>
          </a:xfrm>
          <a:prstGeom xmlns:a="http://schemas.openxmlformats.org/drawingml/2006/main" prst="roundRect">
            <a:avLst>
              <a:gd name="adj" fmla="val 4444"/>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4" name="Google Shape;64;p5">
            <a:extLst xmlns:a="http://schemas.openxmlformats.org/drawingml/2006/main">
              <a:ext uri="{FF2B5EF4-FFF2-40B4-BE49-F238E27FC236}">
                <a16:creationId xmlns:a16="http://schemas.microsoft.com/office/drawing/2014/main" id="{644BCEAA-AA5A-43F0-A69C-5B10F2E7FA05}"/>
              </a:ext>
            </a:extLst>
          </p:cNvPr>
          <p:cNvSpPr>
            <a:spLocks xmlns:a="http://schemas.openxmlformats.org/drawingml/2006/main" noGrp="1"/>
          </p:cNvSpPr>
          <p:nvPr/>
        </p:nvSpPr>
        <p:spPr>
          <a:xfrm xmlns:a="http://schemas.openxmlformats.org/drawingml/2006/main">
            <a:off x="941832" y="3566160"/>
            <a:ext cx="483717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i="0" u="none" cap="none">
                <a:solidFill>
                  <a:srgbClr val="E22B27"/>
                </a:solidFill>
                <a:latin typeface="Arial"/>
                <a:ea typeface="Arial"/>
                <a:cs typeface="Arial"/>
              </a:rPr>
              <a:t>Ethical treatment</a:t>
            </a:r>
          </a:p>
        </p:txBody>
      </p:sp>
      <p:sp>
        <p:nvSpPr>
          <p:cNvPr id="65" name="Google Shape;65;p5">
            <a:extLst xmlns:a="http://schemas.openxmlformats.org/drawingml/2006/main">
              <a:ext uri="{FF2B5EF4-FFF2-40B4-BE49-F238E27FC236}">
                <a16:creationId xmlns:a16="http://schemas.microsoft.com/office/drawing/2014/main" id="{33CAE58F-8421-4EC1-9581-F5527845759C}"/>
              </a:ext>
            </a:extLst>
          </p:cNvPr>
          <p:cNvSpPr>
            <a:spLocks xmlns:a="http://schemas.openxmlformats.org/drawingml/2006/main" noGrp="1"/>
          </p:cNvSpPr>
          <p:nvPr/>
        </p:nvSpPr>
        <p:spPr>
          <a:xfrm xmlns:a="http://schemas.openxmlformats.org/drawingml/2006/main">
            <a:off x="941832" y="3931920"/>
            <a:ext cx="4837176" cy="5760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900"/>
              <a:buFont typeface="Arial"/>
              <a:buNone/>
            </a:pPr>
            <a:r>
              <a:rPr sz="1900" b="0" i="0" u="none" cap="none">
                <a:solidFill>
                  <a:srgbClr val="FFFFFF"/>
                </a:solidFill>
                <a:latin typeface="Arial"/>
                <a:ea typeface="Arial"/>
                <a:cs typeface="Arial"/>
              </a:rPr>
              <a:t>People, animals, privacy, and environment matter.</a:t>
            </a:r>
          </a:p>
        </p:txBody>
      </p:sp>
      <p:sp>
        <p:nvSpPr>
          <p:cNvPr id="66" name="Google Shape;66;p5">
            <a:extLst xmlns:a="http://schemas.openxmlformats.org/drawingml/2006/main">
              <a:ext uri="{FF2B5EF4-FFF2-40B4-BE49-F238E27FC236}">
                <a16:creationId xmlns:a16="http://schemas.microsoft.com/office/drawing/2014/main" id="{D9764B05-47A6-42D6-879A-7A25928D58EE}"/>
              </a:ext>
            </a:extLst>
          </p:cNvPr>
          <p:cNvSpPr>
            <a:spLocks xmlns:a="http://schemas.openxmlformats.org/drawingml/2006/main" noGrp="1"/>
          </p:cNvSpPr>
          <p:nvPr/>
        </p:nvSpPr>
        <p:spPr>
          <a:xfrm xmlns:a="http://schemas.openxmlformats.org/drawingml/2006/main">
            <a:off x="6263640" y="3429000"/>
            <a:ext cx="5166360" cy="1234440"/>
          </a:xfrm>
          <a:prstGeom xmlns:a="http://schemas.openxmlformats.org/drawingml/2006/main" prst="roundRect">
            <a:avLst>
              <a:gd name="adj" fmla="val 4444"/>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7" name="Google Shape;67;p5">
            <a:extLst xmlns:a="http://schemas.openxmlformats.org/drawingml/2006/main">
              <a:ext uri="{FF2B5EF4-FFF2-40B4-BE49-F238E27FC236}">
                <a16:creationId xmlns:a16="http://schemas.microsoft.com/office/drawing/2014/main" id="{F54F3855-C39E-4FB5-B988-611094007A53}"/>
              </a:ext>
            </a:extLst>
          </p:cNvPr>
          <p:cNvSpPr>
            <a:spLocks xmlns:a="http://schemas.openxmlformats.org/drawingml/2006/main" noGrp="1"/>
          </p:cNvSpPr>
          <p:nvPr/>
        </p:nvSpPr>
        <p:spPr>
          <a:xfrm xmlns:a="http://schemas.openxmlformats.org/drawingml/2006/main">
            <a:off x="6428232" y="3566160"/>
            <a:ext cx="483717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i="0" u="none" cap="none">
                <a:solidFill>
                  <a:srgbClr val="E22B27"/>
                </a:solidFill>
                <a:latin typeface="Arial"/>
                <a:ea typeface="Arial"/>
                <a:cs typeface="Arial"/>
              </a:rPr>
              <a:t>Proper credit</a:t>
            </a:r>
          </a:p>
        </p:txBody>
      </p:sp>
      <p:sp>
        <p:nvSpPr>
          <p:cNvPr id="68" name="Google Shape;68;p5">
            <a:extLst xmlns:a="http://schemas.openxmlformats.org/drawingml/2006/main">
              <a:ext uri="{FF2B5EF4-FFF2-40B4-BE49-F238E27FC236}">
                <a16:creationId xmlns:a16="http://schemas.microsoft.com/office/drawing/2014/main" id="{73CA4EC6-B9F2-4181-B971-C9F39B328EEA}"/>
              </a:ext>
            </a:extLst>
          </p:cNvPr>
          <p:cNvSpPr>
            <a:spLocks xmlns:a="http://schemas.openxmlformats.org/drawingml/2006/main" noGrp="1"/>
          </p:cNvSpPr>
          <p:nvPr/>
        </p:nvSpPr>
        <p:spPr>
          <a:xfrm xmlns:a="http://schemas.openxmlformats.org/drawingml/2006/main">
            <a:off x="6428232" y="3931920"/>
            <a:ext cx="4837176" cy="5760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900"/>
              <a:buFont typeface="Arial"/>
              <a:buNone/>
            </a:pPr>
            <a:r>
              <a:rPr sz="1900" b="0" i="0" u="none" cap="none">
                <a:solidFill>
                  <a:srgbClr val="FFFFFF"/>
                </a:solidFill>
                <a:latin typeface="Arial"/>
                <a:ea typeface="Arial"/>
                <a:cs typeface="Arial"/>
              </a:rPr>
              <a:t>Sources, code, images, and mentors must be acknowledged.</a:t>
            </a:r>
          </a:p>
        </p:txBody>
      </p:sp>
    </p:spTree>
    <p:extLst>
      <p:ext uri="{BB962C8B-B14F-4D97-AF65-F5344CB8AC3E}">
        <p14:creationId xmlns:p14="http://schemas.microsoft.com/office/powerpoint/2010/main" val="1671600700"/>
      </p:ext>
    </p:extLst>
  </p:cSld>
</p:sld>
</file>

<file path=ppt/slides/slide4.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74" name="Google Shape;74;p6">
            <a:extLst xmlns:a="http://schemas.openxmlformats.org/drawingml/2006/main">
              <a:ext uri="{FF2B5EF4-FFF2-40B4-BE49-F238E27FC236}">
                <a16:creationId xmlns:a16="http://schemas.microsoft.com/office/drawing/2014/main" id="{B252B9B8-FE63-4F60-8771-ABE160DF2A37}"/>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5" name="Google Shape;75;p6">
            <a:extLst xmlns:a="http://schemas.openxmlformats.org/drawingml/2006/main">
              <a:ext uri="{FF2B5EF4-FFF2-40B4-BE49-F238E27FC236}">
                <a16:creationId xmlns:a16="http://schemas.microsoft.com/office/drawing/2014/main" id="{3119A1F5-7FD7-4241-A67D-ED3AD00DD4AE}"/>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6" name="Google Shape;76;p6">
            <a:extLst xmlns:a="http://schemas.openxmlformats.org/drawingml/2006/main">
              <a:ext uri="{FF2B5EF4-FFF2-40B4-BE49-F238E27FC236}">
                <a16:creationId xmlns:a16="http://schemas.microsoft.com/office/drawing/2014/main" id="{DA959FB2-0586-4CD3-B08B-7CC497834933}"/>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7" name="Google Shape;77;p6">
            <a:extLst xmlns:a="http://schemas.openxmlformats.org/drawingml/2006/main">
              <a:ext uri="{FF2B5EF4-FFF2-40B4-BE49-F238E27FC236}">
                <a16:creationId xmlns:a16="http://schemas.microsoft.com/office/drawing/2014/main" id="{EBE11A3C-B14D-4246-AACC-206E23DF7B7C}"/>
              </a:ext>
            </a:extLst>
          </p:cNvPr>
          <p:cNvSpPr>
            <a:spLocks xmlns:a="http://schemas.openxmlformats.org/drawingml/2006/main" noGrp="1"/>
          </p:cNvSpPr>
          <p:nvPr/>
        </p:nvSpPr>
        <p:spPr>
          <a:xfrm xmlns:a="http://schemas.openxmlformats.org/drawingml/2006/main">
            <a:off x="411480" y="6236208"/>
            <a:ext cx="49377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i="0" u="none" cap="none">
                <a:solidFill>
                  <a:srgbClr val="B8B8B8"/>
                </a:solidFill>
                <a:latin typeface="Arial"/>
                <a:ea typeface="Arial"/>
                <a:cs typeface="Arial"/>
              </a:rPr>
              <a:t>RESEARCH INTEGRITY</a:t>
            </a:r>
          </a:p>
        </p:txBody>
      </p:sp>
      <p:sp>
        <p:nvSpPr>
          <p:cNvPr id="78" name="Google Shape;78;p6">
            <a:extLst xmlns:a="http://schemas.openxmlformats.org/drawingml/2006/main">
              <a:ext uri="{FF2B5EF4-FFF2-40B4-BE49-F238E27FC236}">
                <a16:creationId xmlns:a16="http://schemas.microsoft.com/office/drawing/2014/main" id="{466CA3E7-C20C-4949-B4B1-CA90C1C9922D}"/>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i="0" u="none" cap="none">
                <a:solidFill>
                  <a:srgbClr val="B8B8B8"/>
                </a:solidFill>
                <a:latin typeface="Arial"/>
                <a:ea typeface="Arial"/>
                <a:cs typeface="Arial"/>
              </a:rPr>
              <a:t>STARLAB</a:t>
            </a:r>
          </a:p>
        </p:txBody>
      </p:sp>
      <p:sp>
        <p:nvSpPr>
          <p:cNvPr id="79" name="Google Shape;79;p6">
            <a:extLst xmlns:a="http://schemas.openxmlformats.org/drawingml/2006/main">
              <a:ext uri="{FF2B5EF4-FFF2-40B4-BE49-F238E27FC236}">
                <a16:creationId xmlns:a16="http://schemas.microsoft.com/office/drawing/2014/main" id="{ACFFDEFB-CE8C-483B-93A6-A1180ADBC811}"/>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i="0" u="none" cap="none">
                <a:solidFill>
                  <a:srgbClr val="E22B27"/>
                </a:solidFill>
                <a:latin typeface="Arial"/>
                <a:ea typeface="Arial"/>
                <a:cs typeface="Arial"/>
              </a:rPr>
              <a:t>DECK 03</a:t>
            </a:r>
          </a:p>
        </p:txBody>
      </p:sp>
      <p:sp>
        <p:nvSpPr>
          <p:cNvPr id="80" name="Google Shape;80;p6">
            <a:extLst xmlns:a="http://schemas.openxmlformats.org/drawingml/2006/main">
              <a:ext uri="{FF2B5EF4-FFF2-40B4-BE49-F238E27FC236}">
                <a16:creationId xmlns:a16="http://schemas.microsoft.com/office/drawing/2014/main" id="{226A0B39-0509-46DF-A54F-E354B0592C2A}"/>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i="0" u="none" cap="none">
                <a:solidFill>
                  <a:srgbClr val="FFFFFF"/>
                </a:solidFill>
                <a:latin typeface="Play"/>
                <a:ea typeface="Play"/>
                <a:cs typeface="Play"/>
              </a:rPr>
              <a:t>Research Integrity Starts With Data</a:t>
            </a:r>
          </a:p>
        </p:txBody>
      </p:sp>
      <p:sp>
        <p:nvSpPr>
          <p:cNvPr id="81" name="Google Shape;81;p6">
            <a:extLst xmlns:a="http://schemas.openxmlformats.org/drawingml/2006/main">
              <a:ext uri="{FF2B5EF4-FFF2-40B4-BE49-F238E27FC236}">
                <a16:creationId xmlns:a16="http://schemas.microsoft.com/office/drawing/2014/main" id="{EA44A3D6-CB33-4F47-B0AA-CDFA67978CD2}"/>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b="0" i="0" u="none" cap="none">
                <a:solidFill>
                  <a:srgbClr val="B8B8B8"/>
                </a:solidFill>
                <a:latin typeface="Arial"/>
                <a:ea typeface="Arial"/>
                <a:cs typeface="Arial"/>
              </a:rPr>
              <a:t>Real science can survive unexpected data. It cannot survive fake data.</a:t>
            </a:r>
          </a:p>
        </p:txBody>
      </p:sp>
      <p:cxnSp>
        <p:nvCxnSpPr>
          <p:cNvPr id="92" name="Google Shape;82;p6"/>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83" name="Google Shape;83;p6">
            <a:extLst xmlns:a="http://schemas.openxmlformats.org/drawingml/2006/main">
              <a:ext uri="{FF2B5EF4-FFF2-40B4-BE49-F238E27FC236}">
                <a16:creationId xmlns:a16="http://schemas.microsoft.com/office/drawing/2014/main" id="{2496CB3C-E833-41BF-8503-BBE3C7A6831E}"/>
              </a:ext>
            </a:extLst>
          </p:cNvPr>
          <p:cNvSpPr>
            <a:spLocks xmlns:a="http://schemas.openxmlformats.org/drawingml/2006/main" noGrp="1"/>
          </p:cNvSpPr>
          <p:nvPr/>
        </p:nvSpPr>
        <p:spPr>
          <a:xfrm xmlns:a="http://schemas.openxmlformats.org/drawingml/2006/main">
            <a:off x="914400" y="1828800"/>
            <a:ext cx="10332720" cy="3200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300" b="0" i="0" u="none" cap="none">
                <a:solidFill>
                  <a:srgbClr val="FFFFFF"/>
                </a:solidFill>
                <a:latin typeface="Arial"/>
                <a:ea typeface="Arial"/>
                <a:cs typeface="Arial"/>
              </a:rPr>
              <a:t>Do not invent data.</a:t>
            </a:r>
          </a:p>
          <a:p xmlns:a="http://schemas.openxmlformats.org/drawingml/2006/main">
            <a:pPr marL="0" marR="0" indent="0" algn="l">
              <a:spcBef>
                <a:spcPts val="0"/>
              </a:spcBef>
              <a:spcAft>
                <a:spcPts val="0"/>
              </a:spcAft>
              <a:buNone/>
            </a:pPr>
            <a:r>
              <a:rPr sz="2300">
                <a:solidFill>
                  <a:srgbClr val="FFFFFF"/>
                </a:solidFill>
                <a:latin typeface="Arial"/>
                <a:ea typeface="Arial"/>
                <a:cs typeface="Arial"/>
              </a:rPr>
              <a:t>Do not delete “bad” data because it is inconvenient.</a:t>
            </a:r>
          </a:p>
          <a:p xmlns:a="http://schemas.openxmlformats.org/drawingml/2006/main">
            <a:pPr marL="0" marR="0" indent="0" algn="l">
              <a:spcBef>
                <a:spcPts val="0"/>
              </a:spcBef>
              <a:spcAft>
                <a:spcPts val="0"/>
              </a:spcAft>
              <a:buNone/>
            </a:pPr>
            <a:r>
              <a:rPr sz="2300">
                <a:solidFill>
                  <a:srgbClr val="FFFFFF"/>
                </a:solidFill>
                <a:latin typeface="Arial"/>
                <a:ea typeface="Arial"/>
                <a:cs typeface="Arial"/>
              </a:rPr>
              <a:t>Flag questionable trials with an explanation.</a:t>
            </a:r>
          </a:p>
          <a:p xmlns:a="http://schemas.openxmlformats.org/drawingml/2006/main">
            <a:pPr marL="0" marR="0" indent="0" algn="l">
              <a:spcBef>
                <a:spcPts val="0"/>
              </a:spcBef>
              <a:spcAft>
                <a:spcPts val="0"/>
              </a:spcAft>
              <a:buNone/>
            </a:pPr>
            <a:r>
              <a:rPr sz="2300">
                <a:solidFill>
                  <a:srgbClr val="FFFFFF"/>
                </a:solidFill>
                <a:latin typeface="Arial"/>
                <a:ea typeface="Arial"/>
                <a:cs typeface="Arial"/>
              </a:rPr>
              <a:t>Keep raw data separate from cleaned data.</a:t>
            </a:r>
          </a:p>
          <a:p xmlns:a="http://schemas.openxmlformats.org/drawingml/2006/main">
            <a:pPr marL="0" marR="0" indent="0" algn="l">
              <a:spcBef>
                <a:spcPts val="0"/>
              </a:spcBef>
              <a:spcAft>
                <a:spcPts val="0"/>
              </a:spcAft>
              <a:buNone/>
            </a:pPr>
            <a:r>
              <a:rPr sz="2300">
                <a:solidFill>
                  <a:srgbClr val="FFFFFF"/>
                </a:solidFill>
                <a:latin typeface="Arial"/>
                <a:ea typeface="Arial"/>
                <a:cs typeface="Arial"/>
              </a:rPr>
              <a:t>Report results honestly, even when they are messy.</a:t>
            </a:r>
          </a:p>
        </p:txBody>
      </p:sp>
    </p:spTree>
    <p:extLst>
      <p:ext uri="{BB962C8B-B14F-4D97-AF65-F5344CB8AC3E}">
        <p14:creationId xmlns:p14="http://schemas.microsoft.com/office/powerpoint/2010/main" val="1984076442"/>
      </p:ext>
    </p:extLst>
  </p:cSld>
</p:sld>
</file>

<file path=ppt/slides/slide5.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89" name="Google Shape;89;p7">
            <a:extLst xmlns:a="http://schemas.openxmlformats.org/drawingml/2006/main">
              <a:ext uri="{FF2B5EF4-FFF2-40B4-BE49-F238E27FC236}">
                <a16:creationId xmlns:a16="http://schemas.microsoft.com/office/drawing/2014/main" id="{0579B873-5660-43B9-A56D-8A311470ACB9}"/>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90" name="Google Shape;90;p7">
            <a:extLst xmlns:a="http://schemas.openxmlformats.org/drawingml/2006/main">
              <a:ext uri="{FF2B5EF4-FFF2-40B4-BE49-F238E27FC236}">
                <a16:creationId xmlns:a16="http://schemas.microsoft.com/office/drawing/2014/main" id="{CFDD603C-54B3-4F4E-8320-44A941646909}"/>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91" name="Google Shape;91;p7">
            <a:extLst xmlns:a="http://schemas.openxmlformats.org/drawingml/2006/main">
              <a:ext uri="{FF2B5EF4-FFF2-40B4-BE49-F238E27FC236}">
                <a16:creationId xmlns:a16="http://schemas.microsoft.com/office/drawing/2014/main" id="{30151DFD-C76D-4627-BB2C-E2BC3EAFECAD}"/>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92" name="Google Shape;92;p7">
            <a:extLst xmlns:a="http://schemas.openxmlformats.org/drawingml/2006/main">
              <a:ext uri="{FF2B5EF4-FFF2-40B4-BE49-F238E27FC236}">
                <a16:creationId xmlns:a16="http://schemas.microsoft.com/office/drawing/2014/main" id="{B07F4477-8DE3-4841-87EA-87D324FD18FB}"/>
              </a:ext>
            </a:extLst>
          </p:cNvPr>
          <p:cNvSpPr>
            <a:spLocks xmlns:a="http://schemas.openxmlformats.org/drawingml/2006/main" noGrp="1"/>
          </p:cNvSpPr>
          <p:nvPr/>
        </p:nvSpPr>
        <p:spPr>
          <a:xfrm xmlns:a="http://schemas.openxmlformats.org/drawingml/2006/main">
            <a:off x="411480" y="6236208"/>
            <a:ext cx="49377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STUDENT ACTIVITY</a:t>
            </a:r>
          </a:p>
        </p:txBody>
      </p:sp>
      <p:sp>
        <p:nvSpPr>
          <p:cNvPr id="93" name="Google Shape;93;p7">
            <a:extLst xmlns:a="http://schemas.openxmlformats.org/drawingml/2006/main">
              <a:ext uri="{FF2B5EF4-FFF2-40B4-BE49-F238E27FC236}">
                <a16:creationId xmlns:a16="http://schemas.microsoft.com/office/drawing/2014/main" id="{D74DE9BC-2FF7-45C6-8D78-FEBCE38EB2E6}"/>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94" name="Google Shape;94;p7">
            <a:extLst xmlns:a="http://schemas.openxmlformats.org/drawingml/2006/main">
              <a:ext uri="{FF2B5EF4-FFF2-40B4-BE49-F238E27FC236}">
                <a16:creationId xmlns:a16="http://schemas.microsoft.com/office/drawing/2014/main" id="{4F15A54C-1EF1-4538-A456-47F9DF7BF5B5}"/>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03</a:t>
            </a:r>
          </a:p>
        </p:txBody>
      </p:sp>
      <p:sp>
        <p:nvSpPr>
          <p:cNvPr id="95" name="Google Shape;95;p7">
            <a:extLst xmlns:a="http://schemas.openxmlformats.org/drawingml/2006/main">
              <a:ext uri="{FF2B5EF4-FFF2-40B4-BE49-F238E27FC236}">
                <a16:creationId xmlns:a16="http://schemas.microsoft.com/office/drawing/2014/main" id="{456DD60D-3A53-4D11-AEE5-CBF292F6CC73}"/>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Activity: Data Dilemma Sort</a:t>
            </a:r>
          </a:p>
        </p:txBody>
      </p:sp>
      <p:sp>
        <p:nvSpPr>
          <p:cNvPr id="96" name="Google Shape;96;p7">
            <a:extLst xmlns:a="http://schemas.openxmlformats.org/drawingml/2006/main">
              <a:ext uri="{FF2B5EF4-FFF2-40B4-BE49-F238E27FC236}">
                <a16:creationId xmlns:a16="http://schemas.microsoft.com/office/drawing/2014/main" id="{AD20D30F-65FE-4103-94D7-6E90B285BCB1}"/>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Acceptable • Questionable • Unacceptable</a:t>
            </a:r>
          </a:p>
        </p:txBody>
      </p:sp>
      <p:cxnSp>
        <p:nvCxnSpPr>
          <p:cNvPr id="109" name="Google Shape;97;p7"/>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98" name="Google Shape;98;p7">
            <a:extLst xmlns:a="http://schemas.openxmlformats.org/drawingml/2006/main">
              <a:ext uri="{FF2B5EF4-FFF2-40B4-BE49-F238E27FC236}">
                <a16:creationId xmlns:a16="http://schemas.microsoft.com/office/drawing/2014/main" id="{386D8D82-D271-436B-B293-EDDE0F393889}"/>
              </a:ext>
            </a:extLst>
          </p:cNvPr>
          <p:cNvSpPr>
            <a:spLocks xmlns:a="http://schemas.openxmlformats.org/drawingml/2006/main" noGrp="1"/>
          </p:cNvSpPr>
          <p:nvPr/>
        </p:nvSpPr>
        <p:spPr>
          <a:xfrm xmlns:a="http://schemas.openxmlformats.org/drawingml/2006/main">
            <a:off x="777240" y="1783080"/>
            <a:ext cx="1874520" cy="34747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99" name="Google Shape;99;p7">
            <a:extLst xmlns:a="http://schemas.openxmlformats.org/drawingml/2006/main">
              <a:ext uri="{FF2B5EF4-FFF2-40B4-BE49-F238E27FC236}">
                <a16:creationId xmlns:a16="http://schemas.microsoft.com/office/drawing/2014/main" id="{26A2AC0F-DD52-45C8-91B0-B493A731DBB3}"/>
              </a:ext>
            </a:extLst>
          </p:cNvPr>
          <p:cNvSpPr>
            <a:spLocks xmlns:a="http://schemas.openxmlformats.org/drawingml/2006/main" noGrp="1"/>
          </p:cNvSpPr>
          <p:nvPr/>
        </p:nvSpPr>
        <p:spPr>
          <a:xfrm xmlns:a="http://schemas.openxmlformats.org/drawingml/2006/main">
            <a:off x="868680" y="1865376"/>
            <a:ext cx="16916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000"/>
              <a:buFont typeface="Arial"/>
              <a:buNone/>
            </a:pPr>
            <a:r>
              <a:rPr sz="1000" b="1">
                <a:solidFill>
                  <a:srgbClr val="FFFFFF"/>
                </a:solidFill>
                <a:latin typeface="Arial"/>
                <a:ea typeface="Arial"/>
                <a:cs typeface="Arial"/>
              </a:rPr>
              <a:t>STUDENT ACTIVITY</a:t>
            </a:r>
          </a:p>
        </p:txBody>
      </p:sp>
      <p:sp>
        <p:nvSpPr>
          <p:cNvPr id="100" name="Google Shape;100;p7">
            <a:extLst xmlns:a="http://schemas.openxmlformats.org/drawingml/2006/main">
              <a:ext uri="{FF2B5EF4-FFF2-40B4-BE49-F238E27FC236}">
                <a16:creationId xmlns:a16="http://schemas.microsoft.com/office/drawing/2014/main" id="{048C8B8E-3FFF-436F-800C-C0D9D4643924}"/>
              </a:ext>
            </a:extLst>
          </p:cNvPr>
          <p:cNvSpPr>
            <a:spLocks xmlns:a="http://schemas.openxmlformats.org/drawingml/2006/main" noGrp="1"/>
          </p:cNvSpPr>
          <p:nvPr/>
        </p:nvSpPr>
        <p:spPr>
          <a:xfrm xmlns:a="http://schemas.openxmlformats.org/drawingml/2006/main">
            <a:off x="868680" y="2331720"/>
            <a:ext cx="103327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100">
                <a:solidFill>
                  <a:srgbClr val="FFFFFF"/>
                </a:solidFill>
                <a:latin typeface="Arial"/>
                <a:ea typeface="Arial"/>
                <a:cs typeface="Arial"/>
              </a:rPr>
              <a:t>Read each scenario.</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Sort it as acceptable, questionable, or unacceptable.</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Write one sentence explaining your decision.</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Revise questionable actions into better research practice.</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Prompt: A student drops Trial 4 because it does not match the other results. The student writes no explanation. What should happen instead?</a:t>
            </a:r>
          </a:p>
        </p:txBody>
      </p:sp>
    </p:spTree>
    <p:extLst>
      <p:ext uri="{BB962C8B-B14F-4D97-AF65-F5344CB8AC3E}">
        <p14:creationId xmlns:p14="http://schemas.microsoft.com/office/powerpoint/2010/main" val="710760831"/>
      </p:ext>
    </p:extLst>
  </p:cSld>
</p:sld>
</file>

<file path=ppt/slides/slide6.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06" name="Google Shape;106;p8">
            <a:extLst xmlns:a="http://schemas.openxmlformats.org/drawingml/2006/main">
              <a:ext uri="{FF2B5EF4-FFF2-40B4-BE49-F238E27FC236}">
                <a16:creationId xmlns:a16="http://schemas.microsoft.com/office/drawing/2014/main" id="{229CFE5D-8809-403A-85EC-E29033FC4350}"/>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07" name="Google Shape;107;p8">
            <a:extLst xmlns:a="http://schemas.openxmlformats.org/drawingml/2006/main">
              <a:ext uri="{FF2B5EF4-FFF2-40B4-BE49-F238E27FC236}">
                <a16:creationId xmlns:a16="http://schemas.microsoft.com/office/drawing/2014/main" id="{FC59CBA4-EBF0-478B-B1F2-04FF79FBC72C}"/>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08" name="Google Shape;108;p8">
            <a:extLst xmlns:a="http://schemas.openxmlformats.org/drawingml/2006/main">
              <a:ext uri="{FF2B5EF4-FFF2-40B4-BE49-F238E27FC236}">
                <a16:creationId xmlns:a16="http://schemas.microsoft.com/office/drawing/2014/main" id="{3D3C6417-F189-4F83-9EA3-F025E8C6BA1B}"/>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09" name="Google Shape;109;p8">
            <a:extLst xmlns:a="http://schemas.openxmlformats.org/drawingml/2006/main">
              <a:ext uri="{FF2B5EF4-FFF2-40B4-BE49-F238E27FC236}">
                <a16:creationId xmlns:a16="http://schemas.microsoft.com/office/drawing/2014/main" id="{6AACF647-5C68-457E-A04A-58B10034CC37}"/>
              </a:ext>
            </a:extLst>
          </p:cNvPr>
          <p:cNvSpPr>
            <a:spLocks xmlns:a="http://schemas.openxmlformats.org/drawingml/2006/main" noGrp="1"/>
          </p:cNvSpPr>
          <p:nvPr/>
        </p:nvSpPr>
        <p:spPr>
          <a:xfrm xmlns:a="http://schemas.openxmlformats.org/drawingml/2006/main">
            <a:off x="411480" y="6236208"/>
            <a:ext cx="49377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RESEARCH INTEGRITY</a:t>
            </a:r>
          </a:p>
        </p:txBody>
      </p:sp>
      <p:sp>
        <p:nvSpPr>
          <p:cNvPr id="110" name="Google Shape;110;p8">
            <a:extLst xmlns:a="http://schemas.openxmlformats.org/drawingml/2006/main">
              <a:ext uri="{FF2B5EF4-FFF2-40B4-BE49-F238E27FC236}">
                <a16:creationId xmlns:a16="http://schemas.microsoft.com/office/drawing/2014/main" id="{CBCB5663-F2B4-4C3B-ABF1-6A30BC79277B}"/>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111" name="Google Shape;111;p8">
            <a:extLst xmlns:a="http://schemas.openxmlformats.org/drawingml/2006/main">
              <a:ext uri="{FF2B5EF4-FFF2-40B4-BE49-F238E27FC236}">
                <a16:creationId xmlns:a16="http://schemas.microsoft.com/office/drawing/2014/main" id="{1E9EF333-853E-47C6-AF37-F93F4FE3E8A3}"/>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03</a:t>
            </a:r>
          </a:p>
        </p:txBody>
      </p:sp>
      <p:sp>
        <p:nvSpPr>
          <p:cNvPr id="112" name="Google Shape;112;p8">
            <a:extLst xmlns:a="http://schemas.openxmlformats.org/drawingml/2006/main">
              <a:ext uri="{FF2B5EF4-FFF2-40B4-BE49-F238E27FC236}">
                <a16:creationId xmlns:a16="http://schemas.microsoft.com/office/drawing/2014/main" id="{393813B3-976B-4664-8588-D6944237C843}"/>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Credit Is Part of Integrity</a:t>
            </a:r>
          </a:p>
        </p:txBody>
      </p:sp>
      <p:sp>
        <p:nvSpPr>
          <p:cNvPr id="113" name="Google Shape;113;p8">
            <a:extLst xmlns:a="http://schemas.openxmlformats.org/drawingml/2006/main">
              <a:ext uri="{FF2B5EF4-FFF2-40B4-BE49-F238E27FC236}">
                <a16:creationId xmlns:a16="http://schemas.microsoft.com/office/drawing/2014/main" id="{DDCF5E72-4066-4340-8EA1-550591C86035}"/>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Sources, code, images, datasets, and mentor input must be acknowledged.</a:t>
            </a:r>
          </a:p>
        </p:txBody>
      </p:sp>
      <p:cxnSp>
        <p:nvCxnSpPr>
          <p:cNvPr id="129" name="Google Shape;114;p8"/>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115" name="Google Shape;115;p8">
            <a:extLst xmlns:a="http://schemas.openxmlformats.org/drawingml/2006/main">
              <a:ext uri="{FF2B5EF4-FFF2-40B4-BE49-F238E27FC236}">
                <a16:creationId xmlns:a16="http://schemas.microsoft.com/office/drawing/2014/main" id="{EC7747AC-6E8A-40C4-88E2-2F894D039922}"/>
              </a:ext>
            </a:extLst>
          </p:cNvPr>
          <p:cNvSpPr>
            <a:spLocks xmlns:a="http://schemas.openxmlformats.org/drawingml/2006/main" noGrp="1"/>
          </p:cNvSpPr>
          <p:nvPr/>
        </p:nvSpPr>
        <p:spPr>
          <a:xfrm xmlns:a="http://schemas.openxmlformats.org/drawingml/2006/main">
            <a:off x="777240" y="1828800"/>
            <a:ext cx="5257800" cy="3657600"/>
          </a:xfrm>
          <a:prstGeom xmlns:a="http://schemas.openxmlformats.org/drawingml/2006/main" prst="roundRect">
            <a:avLst>
              <a:gd name="adj" fmla="val 1500"/>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16" name="Google Shape;116;p8">
            <a:extLst xmlns:a="http://schemas.openxmlformats.org/drawingml/2006/main">
              <a:ext uri="{FF2B5EF4-FFF2-40B4-BE49-F238E27FC236}">
                <a16:creationId xmlns:a16="http://schemas.microsoft.com/office/drawing/2014/main" id="{D0706ED5-6CF7-4BE9-8381-F211D666BFCA}"/>
              </a:ext>
            </a:extLst>
          </p:cNvPr>
          <p:cNvSpPr>
            <a:spLocks xmlns:a="http://schemas.openxmlformats.org/drawingml/2006/main" noGrp="1"/>
          </p:cNvSpPr>
          <p:nvPr/>
        </p:nvSpPr>
        <p:spPr>
          <a:xfrm xmlns:a="http://schemas.openxmlformats.org/drawingml/2006/main">
            <a:off x="941832" y="1965960"/>
            <a:ext cx="492861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GIVE CREDIT FOR</a:t>
            </a:r>
          </a:p>
        </p:txBody>
      </p:sp>
      <p:sp>
        <p:nvSpPr>
          <p:cNvPr id="117" name="Google Shape;117;p8">
            <a:extLst xmlns:a="http://schemas.openxmlformats.org/drawingml/2006/main">
              <a:ext uri="{FF2B5EF4-FFF2-40B4-BE49-F238E27FC236}">
                <a16:creationId xmlns:a16="http://schemas.microsoft.com/office/drawing/2014/main" id="{42CB6734-0672-4CD4-8C84-DE234AA8D7FC}"/>
              </a:ext>
            </a:extLst>
          </p:cNvPr>
          <p:cNvSpPr>
            <a:spLocks xmlns:a="http://schemas.openxmlformats.org/drawingml/2006/main" noGrp="1"/>
          </p:cNvSpPr>
          <p:nvPr/>
        </p:nvSpPr>
        <p:spPr>
          <a:xfrm xmlns:a="http://schemas.openxmlformats.org/drawingml/2006/main">
            <a:off x="941832" y="2331720"/>
            <a:ext cx="4928616" cy="29992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Sources</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Images</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Datasets</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Code or AI assistance</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Mentor advice</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Borrowed procedures</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Specialized equipment access</a:t>
            </a:r>
          </a:p>
        </p:txBody>
      </p:sp>
      <p:sp>
        <p:nvSpPr>
          <p:cNvPr id="118" name="Google Shape;118;p8">
            <a:extLst xmlns:a="http://schemas.openxmlformats.org/drawingml/2006/main">
              <a:ext uri="{FF2B5EF4-FFF2-40B4-BE49-F238E27FC236}">
                <a16:creationId xmlns:a16="http://schemas.microsoft.com/office/drawing/2014/main" id="{025C18BE-D368-4FD6-9E44-F1A8C52D6CE0}"/>
              </a:ext>
            </a:extLst>
          </p:cNvPr>
          <p:cNvSpPr>
            <a:spLocks xmlns:a="http://schemas.openxmlformats.org/drawingml/2006/main" noGrp="1"/>
          </p:cNvSpPr>
          <p:nvPr/>
        </p:nvSpPr>
        <p:spPr>
          <a:xfrm xmlns:a="http://schemas.openxmlformats.org/drawingml/2006/main">
            <a:off x="6172200" y="1828800"/>
            <a:ext cx="5257800" cy="3657600"/>
          </a:xfrm>
          <a:prstGeom xmlns:a="http://schemas.openxmlformats.org/drawingml/2006/main" prst="roundRect">
            <a:avLst>
              <a:gd name="adj" fmla="val 1500"/>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19" name="Google Shape;119;p8">
            <a:extLst xmlns:a="http://schemas.openxmlformats.org/drawingml/2006/main">
              <a:ext uri="{FF2B5EF4-FFF2-40B4-BE49-F238E27FC236}">
                <a16:creationId xmlns:a16="http://schemas.microsoft.com/office/drawing/2014/main" id="{E2E5631F-0096-4461-BE93-9356884FE831}"/>
              </a:ext>
            </a:extLst>
          </p:cNvPr>
          <p:cNvSpPr>
            <a:spLocks xmlns:a="http://schemas.openxmlformats.org/drawingml/2006/main" noGrp="1"/>
          </p:cNvSpPr>
          <p:nvPr/>
        </p:nvSpPr>
        <p:spPr>
          <a:xfrm xmlns:a="http://schemas.openxmlformats.org/drawingml/2006/main">
            <a:off x="6336792" y="1965960"/>
            <a:ext cx="492861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WHY IT MATTERS</a:t>
            </a:r>
          </a:p>
        </p:txBody>
      </p:sp>
      <p:sp>
        <p:nvSpPr>
          <p:cNvPr id="120" name="Google Shape;120;p8">
            <a:extLst xmlns:a="http://schemas.openxmlformats.org/drawingml/2006/main">
              <a:ext uri="{FF2B5EF4-FFF2-40B4-BE49-F238E27FC236}">
                <a16:creationId xmlns:a16="http://schemas.microsoft.com/office/drawing/2014/main" id="{301BFF51-CE43-4941-A2AC-DF56CB5B7DAB}"/>
              </a:ext>
            </a:extLst>
          </p:cNvPr>
          <p:cNvSpPr>
            <a:spLocks xmlns:a="http://schemas.openxmlformats.org/drawingml/2006/main" noGrp="1"/>
          </p:cNvSpPr>
          <p:nvPr/>
        </p:nvSpPr>
        <p:spPr>
          <a:xfrm xmlns:a="http://schemas.openxmlformats.org/drawingml/2006/main">
            <a:off x="6336792" y="2331720"/>
            <a:ext cx="4928616" cy="29992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Shows intellectual honesty</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Lets others trace your work</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Distinguishes your ideas from borrowed ideas</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Respects collaborators</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Protects credibility</a:t>
            </a:r>
          </a:p>
        </p:txBody>
      </p:sp>
    </p:spTree>
    <p:extLst>
      <p:ext uri="{BB962C8B-B14F-4D97-AF65-F5344CB8AC3E}">
        <p14:creationId xmlns:p14="http://schemas.microsoft.com/office/powerpoint/2010/main" val="327922079"/>
      </p:ext>
    </p:extLst>
  </p:cSld>
</p:sld>
</file>

<file path=ppt/slides/slide7.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26" name="Google Shape;126;p9">
            <a:extLst xmlns:a="http://schemas.openxmlformats.org/drawingml/2006/main">
              <a:ext uri="{FF2B5EF4-FFF2-40B4-BE49-F238E27FC236}">
                <a16:creationId xmlns:a16="http://schemas.microsoft.com/office/drawing/2014/main" id="{DDD7804C-4C8A-4046-9B58-4A354DB95B6D}"/>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27" name="Google Shape;127;p9">
            <a:extLst xmlns:a="http://schemas.openxmlformats.org/drawingml/2006/main">
              <a:ext uri="{FF2B5EF4-FFF2-40B4-BE49-F238E27FC236}">
                <a16:creationId xmlns:a16="http://schemas.microsoft.com/office/drawing/2014/main" id="{ED539440-AB18-4C2C-8EB9-158C3C90C42B}"/>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28" name="Google Shape;128;p9">
            <a:extLst xmlns:a="http://schemas.openxmlformats.org/drawingml/2006/main">
              <a:ext uri="{FF2B5EF4-FFF2-40B4-BE49-F238E27FC236}">
                <a16:creationId xmlns:a16="http://schemas.microsoft.com/office/drawing/2014/main" id="{7C231E50-0A24-4CA6-A14F-44DF1F1D7B60}"/>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29" name="Google Shape;129;p9">
            <a:extLst xmlns:a="http://schemas.openxmlformats.org/drawingml/2006/main">
              <a:ext uri="{FF2B5EF4-FFF2-40B4-BE49-F238E27FC236}">
                <a16:creationId xmlns:a16="http://schemas.microsoft.com/office/drawing/2014/main" id="{561AE70E-AC2C-44ED-9F36-2A59E2208F0B}"/>
              </a:ext>
            </a:extLst>
          </p:cNvPr>
          <p:cNvSpPr>
            <a:spLocks xmlns:a="http://schemas.openxmlformats.org/drawingml/2006/main" noGrp="1"/>
          </p:cNvSpPr>
          <p:nvPr/>
        </p:nvSpPr>
        <p:spPr>
          <a:xfrm xmlns:a="http://schemas.openxmlformats.org/drawingml/2006/main">
            <a:off x="411480" y="6236208"/>
            <a:ext cx="49377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SAFETY</a:t>
            </a:r>
          </a:p>
        </p:txBody>
      </p:sp>
      <p:sp>
        <p:nvSpPr>
          <p:cNvPr id="130" name="Google Shape;130;p9">
            <a:extLst xmlns:a="http://schemas.openxmlformats.org/drawingml/2006/main">
              <a:ext uri="{FF2B5EF4-FFF2-40B4-BE49-F238E27FC236}">
                <a16:creationId xmlns:a16="http://schemas.microsoft.com/office/drawing/2014/main" id="{977F6BFD-BE58-4EF5-B05A-903880917768}"/>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131" name="Google Shape;131;p9">
            <a:extLst xmlns:a="http://schemas.openxmlformats.org/drawingml/2006/main">
              <a:ext uri="{FF2B5EF4-FFF2-40B4-BE49-F238E27FC236}">
                <a16:creationId xmlns:a16="http://schemas.microsoft.com/office/drawing/2014/main" id="{83968975-37C1-49B0-99DC-29802A8CCD3A}"/>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03</a:t>
            </a:r>
          </a:p>
        </p:txBody>
      </p:sp>
      <p:sp>
        <p:nvSpPr>
          <p:cNvPr id="132" name="Google Shape;132;p9">
            <a:extLst xmlns:a="http://schemas.openxmlformats.org/drawingml/2006/main">
              <a:ext uri="{FF2B5EF4-FFF2-40B4-BE49-F238E27FC236}">
                <a16:creationId xmlns:a16="http://schemas.microsoft.com/office/drawing/2014/main" id="{6D74E61E-AD44-436D-A185-E0782876C586}"/>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Safety Approval Is a Gate, Not a Suggestion</a:t>
            </a:r>
          </a:p>
        </p:txBody>
      </p:sp>
      <p:sp>
        <p:nvSpPr>
          <p:cNvPr id="133" name="Google Shape;133;p9">
            <a:extLst xmlns:a="http://schemas.openxmlformats.org/drawingml/2006/main">
              <a:ext uri="{FF2B5EF4-FFF2-40B4-BE49-F238E27FC236}">
                <a16:creationId xmlns:a16="http://schemas.microsoft.com/office/drawing/2014/main" id="{56FEC5D4-3667-41B7-B797-35E7B94A9369}"/>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Teacher approval comes before testing.</a:t>
            </a:r>
          </a:p>
        </p:txBody>
      </p:sp>
      <p:cxnSp>
        <p:nvCxnSpPr>
          <p:cNvPr id="144" name="Google Shape;134;p9"/>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135" name="Google Shape;135;p9">
            <a:extLst xmlns:a="http://schemas.openxmlformats.org/drawingml/2006/main">
              <a:ext uri="{FF2B5EF4-FFF2-40B4-BE49-F238E27FC236}">
                <a16:creationId xmlns:a16="http://schemas.microsoft.com/office/drawing/2014/main" id="{39512965-A3BA-4420-84C2-7A1EF48FB170}"/>
              </a:ext>
            </a:extLst>
          </p:cNvPr>
          <p:cNvSpPr>
            <a:spLocks xmlns:a="http://schemas.openxmlformats.org/drawingml/2006/main" noGrp="1"/>
          </p:cNvSpPr>
          <p:nvPr/>
        </p:nvSpPr>
        <p:spPr>
          <a:xfrm xmlns:a="http://schemas.openxmlformats.org/drawingml/2006/main">
            <a:off x="914400" y="1828800"/>
            <a:ext cx="10241280" cy="3657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300">
                <a:solidFill>
                  <a:srgbClr val="FFFFFF"/>
                </a:solidFill>
                <a:latin typeface="Arial"/>
                <a:ea typeface="Arial"/>
                <a:cs typeface="Arial"/>
              </a:rPr>
              <a:t>The plan must include materials, equipment, procedure, PPE, supervision, cleanup, and disposal.</a:t>
            </a:r>
          </a:p>
          <a:p xmlns:a="http://schemas.openxmlformats.org/drawingml/2006/main">
            <a:pPr marL="0" marR="0" indent="0" algn="l">
              <a:spcBef>
                <a:spcPts val="0"/>
              </a:spcBef>
              <a:spcAft>
                <a:spcPts val="0"/>
              </a:spcAft>
              <a:buNone/>
            </a:pPr>
            <a:r>
              <a:rPr sz="2300">
                <a:solidFill>
                  <a:srgbClr val="FFFFFF"/>
                </a:solidFill>
                <a:latin typeface="Arial"/>
                <a:ea typeface="Arial"/>
                <a:cs typeface="Arial"/>
              </a:rPr>
              <a:t>A method change can change the approval level.</a:t>
            </a:r>
          </a:p>
          <a:p xmlns:a="http://schemas.openxmlformats.org/drawingml/2006/main">
            <a:pPr marL="0" marR="0" indent="0" algn="l">
              <a:spcBef>
                <a:spcPts val="0"/>
              </a:spcBef>
              <a:spcAft>
                <a:spcPts val="0"/>
              </a:spcAft>
              <a:buNone/>
            </a:pPr>
            <a:r>
              <a:rPr sz="2300">
                <a:solidFill>
                  <a:srgbClr val="FFFFFF"/>
                </a:solidFill>
                <a:latin typeface="Arial"/>
                <a:ea typeface="Arial"/>
                <a:cs typeface="Arial"/>
              </a:rPr>
              <a:t>Stopping to revise is responsible research, not lost time.</a:t>
            </a:r>
          </a:p>
          <a:p xmlns:a="http://schemas.openxmlformats.org/drawingml/2006/main">
            <a:pPr marL="0" marR="0" indent="0" algn="l">
              <a:spcBef>
                <a:spcPts val="0"/>
              </a:spcBef>
              <a:spcAft>
                <a:spcPts val="0"/>
              </a:spcAft>
              <a:buNone/>
            </a:pPr>
            <a:r>
              <a:rPr sz="2300">
                <a:solidFill>
                  <a:srgbClr val="FFFFFF"/>
                </a:solidFill>
                <a:latin typeface="Arial"/>
                <a:ea typeface="Arial"/>
                <a:cs typeface="Arial"/>
              </a:rPr>
              <a:t>Before any testing: approval • screening • materials check • PPE • supervision plan • cleanup plan</a:t>
            </a:r>
          </a:p>
        </p:txBody>
      </p:sp>
    </p:spTree>
    <p:extLst>
      <p:ext uri="{BB962C8B-B14F-4D97-AF65-F5344CB8AC3E}">
        <p14:creationId xmlns:p14="http://schemas.microsoft.com/office/powerpoint/2010/main" val="2075938435"/>
      </p:ext>
    </p:extLst>
  </p:cSld>
</p:sld>
</file>

<file path=ppt/slides/slide8.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41" name="Google Shape;141;p10">
            <a:extLst xmlns:a="http://schemas.openxmlformats.org/drawingml/2006/main">
              <a:ext uri="{FF2B5EF4-FFF2-40B4-BE49-F238E27FC236}">
                <a16:creationId xmlns:a16="http://schemas.microsoft.com/office/drawing/2014/main" id="{069A5032-394F-48B7-A683-2B254B2D5D1A}"/>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42" name="Google Shape;142;p10">
            <a:extLst xmlns:a="http://schemas.openxmlformats.org/drawingml/2006/main">
              <a:ext uri="{FF2B5EF4-FFF2-40B4-BE49-F238E27FC236}">
                <a16:creationId xmlns:a16="http://schemas.microsoft.com/office/drawing/2014/main" id="{9E34C906-CFDD-4C23-A211-703E28EEB10A}"/>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43" name="Google Shape;143;p10">
            <a:extLst xmlns:a="http://schemas.openxmlformats.org/drawingml/2006/main">
              <a:ext uri="{FF2B5EF4-FFF2-40B4-BE49-F238E27FC236}">
                <a16:creationId xmlns:a16="http://schemas.microsoft.com/office/drawing/2014/main" id="{016A9877-D12D-4F03-A128-4F4F16E0A148}"/>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44" name="Google Shape;144;p10">
            <a:extLst xmlns:a="http://schemas.openxmlformats.org/drawingml/2006/main">
              <a:ext uri="{FF2B5EF4-FFF2-40B4-BE49-F238E27FC236}">
                <a16:creationId xmlns:a16="http://schemas.microsoft.com/office/drawing/2014/main" id="{889340F7-7F47-475D-B397-304A6B994F14}"/>
              </a:ext>
            </a:extLst>
          </p:cNvPr>
          <p:cNvSpPr>
            <a:spLocks xmlns:a="http://schemas.openxmlformats.org/drawingml/2006/main" noGrp="1"/>
          </p:cNvSpPr>
          <p:nvPr/>
        </p:nvSpPr>
        <p:spPr>
          <a:xfrm xmlns:a="http://schemas.openxmlformats.org/drawingml/2006/main">
            <a:off x="411480" y="6236208"/>
            <a:ext cx="49377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SAFETY</a:t>
            </a:r>
          </a:p>
        </p:txBody>
      </p:sp>
      <p:sp>
        <p:nvSpPr>
          <p:cNvPr id="145" name="Google Shape;145;p10">
            <a:extLst xmlns:a="http://schemas.openxmlformats.org/drawingml/2006/main">
              <a:ext uri="{FF2B5EF4-FFF2-40B4-BE49-F238E27FC236}">
                <a16:creationId xmlns:a16="http://schemas.microsoft.com/office/drawing/2014/main" id="{BF367ACA-7E8F-444E-8EDC-578E880B8E37}"/>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146" name="Google Shape;146;p10">
            <a:extLst xmlns:a="http://schemas.openxmlformats.org/drawingml/2006/main">
              <a:ext uri="{FF2B5EF4-FFF2-40B4-BE49-F238E27FC236}">
                <a16:creationId xmlns:a16="http://schemas.microsoft.com/office/drawing/2014/main" id="{84B951B8-DDA7-4D95-9D66-045E366E06B0}"/>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03</a:t>
            </a:r>
          </a:p>
        </p:txBody>
      </p:sp>
      <p:sp>
        <p:nvSpPr>
          <p:cNvPr id="147" name="Google Shape;147;p10">
            <a:extLst xmlns:a="http://schemas.openxmlformats.org/drawingml/2006/main">
              <a:ext uri="{FF2B5EF4-FFF2-40B4-BE49-F238E27FC236}">
                <a16:creationId xmlns:a16="http://schemas.microsoft.com/office/drawing/2014/main" id="{FA2AAB84-8C24-4CB5-B5F1-5A3134D62B3E}"/>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Common STARLAB Hazard Categories</a:t>
            </a:r>
          </a:p>
        </p:txBody>
      </p:sp>
      <p:sp>
        <p:nvSpPr>
          <p:cNvPr id="148" name="Google Shape;148;p10">
            <a:extLst xmlns:a="http://schemas.openxmlformats.org/drawingml/2006/main">
              <a:ext uri="{FF2B5EF4-FFF2-40B4-BE49-F238E27FC236}">
                <a16:creationId xmlns:a16="http://schemas.microsoft.com/office/drawing/2014/main" id="{F457B758-4490-4271-BEB9-6F09DECA94BD}"/>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Recognize when a project enters a higher-review category.</a:t>
            </a:r>
          </a:p>
        </p:txBody>
      </p:sp>
      <p:cxnSp>
        <p:nvCxnSpPr>
          <p:cNvPr id="176" name="Google Shape;149;p10"/>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150" name="Google Shape;150;p10">
            <a:extLst xmlns:a="http://schemas.openxmlformats.org/drawingml/2006/main">
              <a:ext uri="{FF2B5EF4-FFF2-40B4-BE49-F238E27FC236}">
                <a16:creationId xmlns:a16="http://schemas.microsoft.com/office/drawing/2014/main" id="{2B4D719B-6D9E-446F-96EA-B7F27C8BCD1C}"/>
              </a:ext>
            </a:extLst>
          </p:cNvPr>
          <p:cNvSpPr>
            <a:spLocks xmlns:a="http://schemas.openxmlformats.org/drawingml/2006/main" noGrp="1"/>
          </p:cNvSpPr>
          <p:nvPr/>
        </p:nvSpPr>
        <p:spPr>
          <a:xfrm xmlns:a="http://schemas.openxmlformats.org/drawingml/2006/main">
            <a:off x="777240" y="1828800"/>
            <a:ext cx="3429000" cy="1188720"/>
          </a:xfrm>
          <a:prstGeom xmlns:a="http://schemas.openxmlformats.org/drawingml/2006/main" prst="roundRect">
            <a:avLst>
              <a:gd name="adj" fmla="val 4615"/>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51" name="Google Shape;151;p10">
            <a:extLst xmlns:a="http://schemas.openxmlformats.org/drawingml/2006/main">
              <a:ext uri="{FF2B5EF4-FFF2-40B4-BE49-F238E27FC236}">
                <a16:creationId xmlns:a16="http://schemas.microsoft.com/office/drawing/2014/main" id="{54173DCF-4222-41EC-B4E7-881187D3B55A}"/>
              </a:ext>
            </a:extLst>
          </p:cNvPr>
          <p:cNvSpPr>
            <a:spLocks xmlns:a="http://schemas.openxmlformats.org/drawingml/2006/main" noGrp="1"/>
          </p:cNvSpPr>
          <p:nvPr/>
        </p:nvSpPr>
        <p:spPr>
          <a:xfrm xmlns:a="http://schemas.openxmlformats.org/drawingml/2006/main">
            <a:off x="941832" y="1965960"/>
            <a:ext cx="309981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CHEMICAL</a:t>
            </a:r>
          </a:p>
        </p:txBody>
      </p:sp>
      <p:sp>
        <p:nvSpPr>
          <p:cNvPr id="152" name="Google Shape;152;p10">
            <a:extLst xmlns:a="http://schemas.openxmlformats.org/drawingml/2006/main">
              <a:ext uri="{FF2B5EF4-FFF2-40B4-BE49-F238E27FC236}">
                <a16:creationId xmlns:a16="http://schemas.microsoft.com/office/drawing/2014/main" id="{B9C3DFFC-3C57-48EF-A9BA-A6D701255D88}"/>
              </a:ext>
            </a:extLst>
          </p:cNvPr>
          <p:cNvSpPr>
            <a:spLocks xmlns:a="http://schemas.openxmlformats.org/drawingml/2006/main" noGrp="1"/>
          </p:cNvSpPr>
          <p:nvPr/>
        </p:nvSpPr>
        <p:spPr>
          <a:xfrm xmlns:a="http://schemas.openxmlformats.org/drawingml/2006/main">
            <a:off x="941832" y="2331720"/>
            <a:ext cx="3099816" cy="53035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700"/>
              <a:buFont typeface="Arial"/>
              <a:buNone/>
            </a:pPr>
            <a:r>
              <a:rPr sz="1700">
                <a:solidFill>
                  <a:srgbClr val="FFFFFF"/>
                </a:solidFill>
                <a:latin typeface="Arial"/>
                <a:ea typeface="Arial"/>
                <a:cs typeface="Arial"/>
              </a:rPr>
              <a:t>Acids, bases, solvents, unknown mixtures</a:t>
            </a:r>
          </a:p>
        </p:txBody>
      </p:sp>
      <p:sp>
        <p:nvSpPr>
          <p:cNvPr id="153" name="Google Shape;153;p10">
            <a:extLst xmlns:a="http://schemas.openxmlformats.org/drawingml/2006/main">
              <a:ext uri="{FF2B5EF4-FFF2-40B4-BE49-F238E27FC236}">
                <a16:creationId xmlns:a16="http://schemas.microsoft.com/office/drawing/2014/main" id="{08244281-45CC-4A07-9E03-77784E0902E9}"/>
              </a:ext>
            </a:extLst>
          </p:cNvPr>
          <p:cNvSpPr>
            <a:spLocks xmlns:a="http://schemas.openxmlformats.org/drawingml/2006/main" noGrp="1"/>
          </p:cNvSpPr>
          <p:nvPr/>
        </p:nvSpPr>
        <p:spPr>
          <a:xfrm xmlns:a="http://schemas.openxmlformats.org/drawingml/2006/main">
            <a:off x="4572000" y="1828800"/>
            <a:ext cx="3429000" cy="1188720"/>
          </a:xfrm>
          <a:prstGeom xmlns:a="http://schemas.openxmlformats.org/drawingml/2006/main" prst="roundRect">
            <a:avLst>
              <a:gd name="adj" fmla="val 4615"/>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54" name="Google Shape;154;p10">
            <a:extLst xmlns:a="http://schemas.openxmlformats.org/drawingml/2006/main">
              <a:ext uri="{FF2B5EF4-FFF2-40B4-BE49-F238E27FC236}">
                <a16:creationId xmlns:a16="http://schemas.microsoft.com/office/drawing/2014/main" id="{74B02E79-962A-45E4-8579-C14F97DCED5C}"/>
              </a:ext>
            </a:extLst>
          </p:cNvPr>
          <p:cNvSpPr>
            <a:spLocks xmlns:a="http://schemas.openxmlformats.org/drawingml/2006/main" noGrp="1"/>
          </p:cNvSpPr>
          <p:nvPr/>
        </p:nvSpPr>
        <p:spPr>
          <a:xfrm xmlns:a="http://schemas.openxmlformats.org/drawingml/2006/main">
            <a:off x="4736592" y="1965960"/>
            <a:ext cx="309981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BIOLOGICAL</a:t>
            </a:r>
          </a:p>
        </p:txBody>
      </p:sp>
      <p:sp>
        <p:nvSpPr>
          <p:cNvPr id="155" name="Google Shape;155;p10">
            <a:extLst xmlns:a="http://schemas.openxmlformats.org/drawingml/2006/main">
              <a:ext uri="{FF2B5EF4-FFF2-40B4-BE49-F238E27FC236}">
                <a16:creationId xmlns:a16="http://schemas.microsoft.com/office/drawing/2014/main" id="{12F47BF5-07EF-44CB-A83A-C190B71628BE}"/>
              </a:ext>
            </a:extLst>
          </p:cNvPr>
          <p:cNvSpPr>
            <a:spLocks xmlns:a="http://schemas.openxmlformats.org/drawingml/2006/main" noGrp="1"/>
          </p:cNvSpPr>
          <p:nvPr/>
        </p:nvSpPr>
        <p:spPr>
          <a:xfrm xmlns:a="http://schemas.openxmlformats.org/drawingml/2006/main">
            <a:off x="4736592" y="2331720"/>
            <a:ext cx="3099816" cy="53035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700"/>
              <a:buFont typeface="Arial"/>
              <a:buNone/>
            </a:pPr>
            <a:r>
              <a:rPr sz="1700">
                <a:solidFill>
                  <a:srgbClr val="FFFFFF"/>
                </a:solidFill>
                <a:latin typeface="Arial"/>
                <a:ea typeface="Arial"/>
                <a:cs typeface="Arial"/>
              </a:rPr>
              <a:t>Cultures, soil/water samples, mold, unknown microbes</a:t>
            </a:r>
          </a:p>
        </p:txBody>
      </p:sp>
      <p:sp>
        <p:nvSpPr>
          <p:cNvPr id="156" name="Google Shape;156;p10">
            <a:extLst xmlns:a="http://schemas.openxmlformats.org/drawingml/2006/main">
              <a:ext uri="{FF2B5EF4-FFF2-40B4-BE49-F238E27FC236}">
                <a16:creationId xmlns:a16="http://schemas.microsoft.com/office/drawing/2014/main" id="{AE89C894-DF37-41C6-A591-FBD6D70B64EF}"/>
              </a:ext>
            </a:extLst>
          </p:cNvPr>
          <p:cNvSpPr>
            <a:spLocks xmlns:a="http://schemas.openxmlformats.org/drawingml/2006/main" noGrp="1"/>
          </p:cNvSpPr>
          <p:nvPr/>
        </p:nvSpPr>
        <p:spPr>
          <a:xfrm xmlns:a="http://schemas.openxmlformats.org/drawingml/2006/main">
            <a:off x="8366760" y="1828800"/>
            <a:ext cx="3429000" cy="1188720"/>
          </a:xfrm>
          <a:prstGeom xmlns:a="http://schemas.openxmlformats.org/drawingml/2006/main" prst="roundRect">
            <a:avLst>
              <a:gd name="adj" fmla="val 4615"/>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57" name="Google Shape;157;p10">
            <a:extLst xmlns:a="http://schemas.openxmlformats.org/drawingml/2006/main">
              <a:ext uri="{FF2B5EF4-FFF2-40B4-BE49-F238E27FC236}">
                <a16:creationId xmlns:a16="http://schemas.microsoft.com/office/drawing/2014/main" id="{B568C62E-603E-4D9F-8368-A6B33EE0ED10}"/>
              </a:ext>
            </a:extLst>
          </p:cNvPr>
          <p:cNvSpPr>
            <a:spLocks xmlns:a="http://schemas.openxmlformats.org/drawingml/2006/main" noGrp="1"/>
          </p:cNvSpPr>
          <p:nvPr/>
        </p:nvSpPr>
        <p:spPr>
          <a:xfrm xmlns:a="http://schemas.openxmlformats.org/drawingml/2006/main">
            <a:off x="8531352" y="1965960"/>
            <a:ext cx="309981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PHYSICAL</a:t>
            </a:r>
          </a:p>
        </p:txBody>
      </p:sp>
      <p:sp>
        <p:nvSpPr>
          <p:cNvPr id="158" name="Google Shape;158;p10">
            <a:extLst xmlns:a="http://schemas.openxmlformats.org/drawingml/2006/main">
              <a:ext uri="{FF2B5EF4-FFF2-40B4-BE49-F238E27FC236}">
                <a16:creationId xmlns:a16="http://schemas.microsoft.com/office/drawing/2014/main" id="{3923C124-F806-490B-86FB-0BC1B9886375}"/>
              </a:ext>
            </a:extLst>
          </p:cNvPr>
          <p:cNvSpPr>
            <a:spLocks xmlns:a="http://schemas.openxmlformats.org/drawingml/2006/main" noGrp="1"/>
          </p:cNvSpPr>
          <p:nvPr/>
        </p:nvSpPr>
        <p:spPr>
          <a:xfrm xmlns:a="http://schemas.openxmlformats.org/drawingml/2006/main">
            <a:off x="8531352" y="2331720"/>
            <a:ext cx="3099816" cy="53035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700"/>
              <a:buFont typeface="Arial"/>
              <a:buNone/>
            </a:pPr>
            <a:r>
              <a:rPr sz="1700">
                <a:solidFill>
                  <a:srgbClr val="FFFFFF"/>
                </a:solidFill>
                <a:latin typeface="Arial"/>
                <a:ea typeface="Arial"/>
                <a:cs typeface="Arial"/>
              </a:rPr>
              <a:t>Heat, pressure, electricity, blades, power tools</a:t>
            </a:r>
          </a:p>
        </p:txBody>
      </p:sp>
      <p:sp>
        <p:nvSpPr>
          <p:cNvPr id="159" name="Google Shape;159;p10">
            <a:extLst xmlns:a="http://schemas.openxmlformats.org/drawingml/2006/main">
              <a:ext uri="{FF2B5EF4-FFF2-40B4-BE49-F238E27FC236}">
                <a16:creationId xmlns:a16="http://schemas.microsoft.com/office/drawing/2014/main" id="{ED9DF198-6EF0-4A48-9182-E1B0A8824D3A}"/>
              </a:ext>
            </a:extLst>
          </p:cNvPr>
          <p:cNvSpPr>
            <a:spLocks xmlns:a="http://schemas.openxmlformats.org/drawingml/2006/main" noGrp="1"/>
          </p:cNvSpPr>
          <p:nvPr/>
        </p:nvSpPr>
        <p:spPr>
          <a:xfrm xmlns:a="http://schemas.openxmlformats.org/drawingml/2006/main">
            <a:off x="777240" y="3429000"/>
            <a:ext cx="3429000" cy="1188720"/>
          </a:xfrm>
          <a:prstGeom xmlns:a="http://schemas.openxmlformats.org/drawingml/2006/main" prst="roundRect">
            <a:avLst>
              <a:gd name="adj" fmla="val 4615"/>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60" name="Google Shape;160;p10">
            <a:extLst xmlns:a="http://schemas.openxmlformats.org/drawingml/2006/main">
              <a:ext uri="{FF2B5EF4-FFF2-40B4-BE49-F238E27FC236}">
                <a16:creationId xmlns:a16="http://schemas.microsoft.com/office/drawing/2014/main" id="{36592C70-4202-42BA-A914-E2171B9705EF}"/>
              </a:ext>
            </a:extLst>
          </p:cNvPr>
          <p:cNvSpPr>
            <a:spLocks xmlns:a="http://schemas.openxmlformats.org/drawingml/2006/main" noGrp="1"/>
          </p:cNvSpPr>
          <p:nvPr/>
        </p:nvSpPr>
        <p:spPr>
          <a:xfrm xmlns:a="http://schemas.openxmlformats.org/drawingml/2006/main">
            <a:off x="941832" y="3566160"/>
            <a:ext cx="309981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MECHANICAL</a:t>
            </a:r>
          </a:p>
        </p:txBody>
      </p:sp>
      <p:sp>
        <p:nvSpPr>
          <p:cNvPr id="161" name="Google Shape;161;p10">
            <a:extLst xmlns:a="http://schemas.openxmlformats.org/drawingml/2006/main">
              <a:ext uri="{FF2B5EF4-FFF2-40B4-BE49-F238E27FC236}">
                <a16:creationId xmlns:a16="http://schemas.microsoft.com/office/drawing/2014/main" id="{39EAB4AA-728A-4E59-9BB0-B8C6E0882A36}"/>
              </a:ext>
            </a:extLst>
          </p:cNvPr>
          <p:cNvSpPr>
            <a:spLocks xmlns:a="http://schemas.openxmlformats.org/drawingml/2006/main" noGrp="1"/>
          </p:cNvSpPr>
          <p:nvPr/>
        </p:nvSpPr>
        <p:spPr>
          <a:xfrm xmlns:a="http://schemas.openxmlformats.org/drawingml/2006/main">
            <a:off x="941832" y="3931920"/>
            <a:ext cx="3099816" cy="53035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700"/>
              <a:buFont typeface="Arial"/>
              <a:buNone/>
            </a:pPr>
            <a:r>
              <a:rPr sz="1700">
                <a:solidFill>
                  <a:srgbClr val="FFFFFF"/>
                </a:solidFill>
                <a:latin typeface="Arial"/>
                <a:ea typeface="Arial"/>
                <a:cs typeface="Arial"/>
              </a:rPr>
              <a:t>Robots, drones, motors, moving parts</a:t>
            </a:r>
          </a:p>
        </p:txBody>
      </p:sp>
      <p:sp>
        <p:nvSpPr>
          <p:cNvPr id="162" name="Google Shape;162;p10">
            <a:extLst xmlns:a="http://schemas.openxmlformats.org/drawingml/2006/main">
              <a:ext uri="{FF2B5EF4-FFF2-40B4-BE49-F238E27FC236}">
                <a16:creationId xmlns:a16="http://schemas.microsoft.com/office/drawing/2014/main" id="{0B65C510-E7FB-4B39-AC2B-BC7424216D2D}"/>
              </a:ext>
            </a:extLst>
          </p:cNvPr>
          <p:cNvSpPr>
            <a:spLocks xmlns:a="http://schemas.openxmlformats.org/drawingml/2006/main" noGrp="1"/>
          </p:cNvSpPr>
          <p:nvPr/>
        </p:nvSpPr>
        <p:spPr>
          <a:xfrm xmlns:a="http://schemas.openxmlformats.org/drawingml/2006/main">
            <a:off x="4572000" y="3429000"/>
            <a:ext cx="3429000" cy="1188720"/>
          </a:xfrm>
          <a:prstGeom xmlns:a="http://schemas.openxmlformats.org/drawingml/2006/main" prst="roundRect">
            <a:avLst>
              <a:gd name="adj" fmla="val 4615"/>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63" name="Google Shape;163;p10">
            <a:extLst xmlns:a="http://schemas.openxmlformats.org/drawingml/2006/main">
              <a:ext uri="{FF2B5EF4-FFF2-40B4-BE49-F238E27FC236}">
                <a16:creationId xmlns:a16="http://schemas.microsoft.com/office/drawing/2014/main" id="{8A4DCA95-6F68-4054-8B94-541DEA2E2C25}"/>
              </a:ext>
            </a:extLst>
          </p:cNvPr>
          <p:cNvSpPr>
            <a:spLocks xmlns:a="http://schemas.openxmlformats.org/drawingml/2006/main" noGrp="1"/>
          </p:cNvSpPr>
          <p:nvPr/>
        </p:nvSpPr>
        <p:spPr>
          <a:xfrm xmlns:a="http://schemas.openxmlformats.org/drawingml/2006/main">
            <a:off x="4736592" y="3566160"/>
            <a:ext cx="309981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ENVIRONMENTAL</a:t>
            </a:r>
          </a:p>
        </p:txBody>
      </p:sp>
      <p:sp>
        <p:nvSpPr>
          <p:cNvPr id="164" name="Google Shape;164;p10">
            <a:extLst xmlns:a="http://schemas.openxmlformats.org/drawingml/2006/main">
              <a:ext uri="{FF2B5EF4-FFF2-40B4-BE49-F238E27FC236}">
                <a16:creationId xmlns:a16="http://schemas.microsoft.com/office/drawing/2014/main" id="{64A2E4A7-88B1-4FDD-AB04-81535A09A8FE}"/>
              </a:ext>
            </a:extLst>
          </p:cNvPr>
          <p:cNvSpPr>
            <a:spLocks xmlns:a="http://schemas.openxmlformats.org/drawingml/2006/main" noGrp="1"/>
          </p:cNvSpPr>
          <p:nvPr/>
        </p:nvSpPr>
        <p:spPr>
          <a:xfrm xmlns:a="http://schemas.openxmlformats.org/drawingml/2006/main">
            <a:off x="4736592" y="3931920"/>
            <a:ext cx="3099816" cy="53035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700"/>
              <a:buFont typeface="Arial"/>
              <a:buNone/>
            </a:pPr>
            <a:r>
              <a:rPr sz="1700">
                <a:solidFill>
                  <a:srgbClr val="FFFFFF"/>
                </a:solidFill>
                <a:latin typeface="Arial"/>
                <a:ea typeface="Arial"/>
                <a:cs typeface="Arial"/>
              </a:rPr>
              <a:t>Field sampling, disposal, contamination</a:t>
            </a:r>
          </a:p>
        </p:txBody>
      </p:sp>
      <p:sp>
        <p:nvSpPr>
          <p:cNvPr id="165" name="Google Shape;165;p10">
            <a:extLst xmlns:a="http://schemas.openxmlformats.org/drawingml/2006/main">
              <a:ext uri="{FF2B5EF4-FFF2-40B4-BE49-F238E27FC236}">
                <a16:creationId xmlns:a16="http://schemas.microsoft.com/office/drawing/2014/main" id="{4E981BAC-B72C-4330-9815-B9AF2DB49CD3}"/>
              </a:ext>
            </a:extLst>
          </p:cNvPr>
          <p:cNvSpPr>
            <a:spLocks xmlns:a="http://schemas.openxmlformats.org/drawingml/2006/main" noGrp="1"/>
          </p:cNvSpPr>
          <p:nvPr/>
        </p:nvSpPr>
        <p:spPr>
          <a:xfrm xmlns:a="http://schemas.openxmlformats.org/drawingml/2006/main">
            <a:off x="8366760" y="3429000"/>
            <a:ext cx="3429000" cy="1188720"/>
          </a:xfrm>
          <a:prstGeom xmlns:a="http://schemas.openxmlformats.org/drawingml/2006/main" prst="roundRect">
            <a:avLst>
              <a:gd name="adj" fmla="val 4615"/>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66" name="Google Shape;166;p10">
            <a:extLst xmlns:a="http://schemas.openxmlformats.org/drawingml/2006/main">
              <a:ext uri="{FF2B5EF4-FFF2-40B4-BE49-F238E27FC236}">
                <a16:creationId xmlns:a16="http://schemas.microsoft.com/office/drawing/2014/main" id="{D40B00F0-CE56-4FF2-B814-926F317FC013}"/>
              </a:ext>
            </a:extLst>
          </p:cNvPr>
          <p:cNvSpPr>
            <a:spLocks xmlns:a="http://schemas.openxmlformats.org/drawingml/2006/main" noGrp="1"/>
          </p:cNvSpPr>
          <p:nvPr/>
        </p:nvSpPr>
        <p:spPr>
          <a:xfrm xmlns:a="http://schemas.openxmlformats.org/drawingml/2006/main">
            <a:off x="8531352" y="3566160"/>
            <a:ext cx="309981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HUMAN DATA</a:t>
            </a:r>
          </a:p>
        </p:txBody>
      </p:sp>
      <p:sp>
        <p:nvSpPr>
          <p:cNvPr id="167" name="Google Shape;167;p10">
            <a:extLst xmlns:a="http://schemas.openxmlformats.org/drawingml/2006/main">
              <a:ext uri="{FF2B5EF4-FFF2-40B4-BE49-F238E27FC236}">
                <a16:creationId xmlns:a16="http://schemas.microsoft.com/office/drawing/2014/main" id="{84B2B6A7-E35B-4B37-86A5-C2BE1A68C1BB}"/>
              </a:ext>
            </a:extLst>
          </p:cNvPr>
          <p:cNvSpPr>
            <a:spLocks xmlns:a="http://schemas.openxmlformats.org/drawingml/2006/main" noGrp="1"/>
          </p:cNvSpPr>
          <p:nvPr/>
        </p:nvSpPr>
        <p:spPr>
          <a:xfrm xmlns:a="http://schemas.openxmlformats.org/drawingml/2006/main">
            <a:off x="8531352" y="3931920"/>
            <a:ext cx="3099816" cy="53035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700"/>
              <a:buFont typeface="Arial"/>
              <a:buNone/>
            </a:pPr>
            <a:r>
              <a:rPr sz="1700">
                <a:solidFill>
                  <a:srgbClr val="FFFFFF"/>
                </a:solidFill>
                <a:latin typeface="Arial"/>
                <a:ea typeface="Arial"/>
                <a:cs typeface="Arial"/>
              </a:rPr>
              <a:t>Surveys, tests, observations, private information</a:t>
            </a:r>
          </a:p>
        </p:txBody>
      </p:sp>
    </p:spTree>
    <p:extLst>
      <p:ext uri="{BB962C8B-B14F-4D97-AF65-F5344CB8AC3E}">
        <p14:creationId xmlns:p14="http://schemas.microsoft.com/office/powerpoint/2010/main" val="729613190"/>
      </p:ext>
    </p:extLst>
  </p:cSld>
</p:sld>
</file>

<file path=ppt/slides/slide9.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73" name="Google Shape;173;p11">
            <a:extLst xmlns:a="http://schemas.openxmlformats.org/drawingml/2006/main">
              <a:ext uri="{FF2B5EF4-FFF2-40B4-BE49-F238E27FC236}">
                <a16:creationId xmlns:a16="http://schemas.microsoft.com/office/drawing/2014/main" id="{D6C20A3B-A067-4D70-ADD6-B5ED10D5CD5A}"/>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74" name="Google Shape;174;p11">
            <a:extLst xmlns:a="http://schemas.openxmlformats.org/drawingml/2006/main">
              <a:ext uri="{FF2B5EF4-FFF2-40B4-BE49-F238E27FC236}">
                <a16:creationId xmlns:a16="http://schemas.microsoft.com/office/drawing/2014/main" id="{3D80A4D2-5E8C-4CEA-B761-2652284B3BBE}"/>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75" name="Google Shape;175;p11">
            <a:extLst xmlns:a="http://schemas.openxmlformats.org/drawingml/2006/main">
              <a:ext uri="{FF2B5EF4-FFF2-40B4-BE49-F238E27FC236}">
                <a16:creationId xmlns:a16="http://schemas.microsoft.com/office/drawing/2014/main" id="{8CA85BE3-FA14-41B6-91C1-4757AD769DB3}"/>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76" name="Google Shape;176;p11">
            <a:extLst xmlns:a="http://schemas.openxmlformats.org/drawingml/2006/main">
              <a:ext uri="{FF2B5EF4-FFF2-40B4-BE49-F238E27FC236}">
                <a16:creationId xmlns:a16="http://schemas.microsoft.com/office/drawing/2014/main" id="{22C60E74-6F4D-475F-8C44-6C26DDF74A10}"/>
              </a:ext>
            </a:extLst>
          </p:cNvPr>
          <p:cNvSpPr>
            <a:spLocks xmlns:a="http://schemas.openxmlformats.org/drawingml/2006/main" noGrp="1"/>
          </p:cNvSpPr>
          <p:nvPr/>
        </p:nvSpPr>
        <p:spPr>
          <a:xfrm xmlns:a="http://schemas.openxmlformats.org/drawingml/2006/main">
            <a:off x="411480" y="6236208"/>
            <a:ext cx="49377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STUDENT ACTIVITY</a:t>
            </a:r>
          </a:p>
        </p:txBody>
      </p:sp>
      <p:sp>
        <p:nvSpPr>
          <p:cNvPr id="177" name="Google Shape;177;p11">
            <a:extLst xmlns:a="http://schemas.openxmlformats.org/drawingml/2006/main">
              <a:ext uri="{FF2B5EF4-FFF2-40B4-BE49-F238E27FC236}">
                <a16:creationId xmlns:a16="http://schemas.microsoft.com/office/drawing/2014/main" id="{7FD16DF2-D7BA-4D46-BF5B-81F9BA2CDBB8}"/>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178" name="Google Shape;178;p11">
            <a:extLst xmlns:a="http://schemas.openxmlformats.org/drawingml/2006/main">
              <a:ext uri="{FF2B5EF4-FFF2-40B4-BE49-F238E27FC236}">
                <a16:creationId xmlns:a16="http://schemas.microsoft.com/office/drawing/2014/main" id="{55075672-287F-4DD2-992F-5F329F847D2E}"/>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03</a:t>
            </a:r>
          </a:p>
        </p:txBody>
      </p:sp>
      <p:sp>
        <p:nvSpPr>
          <p:cNvPr id="179" name="Google Shape;179;p11">
            <a:extLst xmlns:a="http://schemas.openxmlformats.org/drawingml/2006/main">
              <a:ext uri="{FF2B5EF4-FFF2-40B4-BE49-F238E27FC236}">
                <a16:creationId xmlns:a16="http://schemas.microsoft.com/office/drawing/2014/main" id="{27A0C3CD-063B-45AD-B6AA-6D4B877CFFDF}"/>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Activity: Red-Flag Scan</a:t>
            </a:r>
          </a:p>
        </p:txBody>
      </p:sp>
      <p:sp>
        <p:nvSpPr>
          <p:cNvPr id="180" name="Google Shape;180;p11">
            <a:extLst xmlns:a="http://schemas.openxmlformats.org/drawingml/2006/main">
              <a:ext uri="{FF2B5EF4-FFF2-40B4-BE49-F238E27FC236}">
                <a16:creationId xmlns:a16="http://schemas.microsoft.com/office/drawing/2014/main" id="{D51A3219-8B3B-4DEE-9952-1E0B4716A598}"/>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Project review before testing</a:t>
            </a:r>
          </a:p>
        </p:txBody>
      </p:sp>
      <p:cxnSp>
        <p:nvCxnSpPr>
          <p:cNvPr id="193" name="Google Shape;181;p11"/>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182" name="Google Shape;182;p11">
            <a:extLst xmlns:a="http://schemas.openxmlformats.org/drawingml/2006/main">
              <a:ext uri="{FF2B5EF4-FFF2-40B4-BE49-F238E27FC236}">
                <a16:creationId xmlns:a16="http://schemas.microsoft.com/office/drawing/2014/main" id="{1AEE5934-2147-4059-9EED-9D6339040125}"/>
              </a:ext>
            </a:extLst>
          </p:cNvPr>
          <p:cNvSpPr>
            <a:spLocks xmlns:a="http://schemas.openxmlformats.org/drawingml/2006/main" noGrp="1"/>
          </p:cNvSpPr>
          <p:nvPr/>
        </p:nvSpPr>
        <p:spPr>
          <a:xfrm xmlns:a="http://schemas.openxmlformats.org/drawingml/2006/main">
            <a:off x="777240" y="1783080"/>
            <a:ext cx="1874520" cy="34747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83" name="Google Shape;183;p11">
            <a:extLst xmlns:a="http://schemas.openxmlformats.org/drawingml/2006/main">
              <a:ext uri="{FF2B5EF4-FFF2-40B4-BE49-F238E27FC236}">
                <a16:creationId xmlns:a16="http://schemas.microsoft.com/office/drawing/2014/main" id="{8C0EB848-94CB-4337-8213-DFC4270617B5}"/>
              </a:ext>
            </a:extLst>
          </p:cNvPr>
          <p:cNvSpPr>
            <a:spLocks xmlns:a="http://schemas.openxmlformats.org/drawingml/2006/main" noGrp="1"/>
          </p:cNvSpPr>
          <p:nvPr/>
        </p:nvSpPr>
        <p:spPr>
          <a:xfrm xmlns:a="http://schemas.openxmlformats.org/drawingml/2006/main">
            <a:off x="868680" y="1865376"/>
            <a:ext cx="16916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000"/>
              <a:buFont typeface="Arial"/>
              <a:buNone/>
            </a:pPr>
            <a:r>
              <a:rPr sz="1000" b="1">
                <a:solidFill>
                  <a:srgbClr val="FFFFFF"/>
                </a:solidFill>
                <a:latin typeface="Arial"/>
                <a:ea typeface="Arial"/>
                <a:cs typeface="Arial"/>
              </a:rPr>
              <a:t>STUDENT ACTIVITY</a:t>
            </a:r>
          </a:p>
        </p:txBody>
      </p:sp>
      <p:sp>
        <p:nvSpPr>
          <p:cNvPr id="184" name="Google Shape;184;p11">
            <a:extLst xmlns:a="http://schemas.openxmlformats.org/drawingml/2006/main">
              <a:ext uri="{FF2B5EF4-FFF2-40B4-BE49-F238E27FC236}">
                <a16:creationId xmlns:a16="http://schemas.microsoft.com/office/drawing/2014/main" id="{9AEE677D-02D7-4966-A594-EA1C6C281848}"/>
              </a:ext>
            </a:extLst>
          </p:cNvPr>
          <p:cNvSpPr>
            <a:spLocks xmlns:a="http://schemas.openxmlformats.org/drawingml/2006/main" noGrp="1"/>
          </p:cNvSpPr>
          <p:nvPr/>
        </p:nvSpPr>
        <p:spPr>
          <a:xfrm xmlns:a="http://schemas.openxmlformats.org/drawingml/2006/main">
            <a:off x="868680" y="2331720"/>
            <a:ext cx="103327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100">
                <a:solidFill>
                  <a:srgbClr val="FFFFFF"/>
                </a:solidFill>
                <a:latin typeface="Arial"/>
                <a:ea typeface="Arial"/>
                <a:cs typeface="Arial"/>
              </a:rPr>
              <a:t>Choose one possible project idea.</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Check whether it involves any hazard or ethics categories.</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List the approval questions it raises.</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Identify one safer modification.</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Prompt: A student wants to test whether classmates perform better on a reaction-time test after drinking an energy drink. What red flags appear?</a:t>
            </a:r>
          </a:p>
        </p:txBody>
      </p:sp>
    </p:spTree>
    <p:extLst>
      <p:ext uri="{BB962C8B-B14F-4D97-AF65-F5344CB8AC3E}">
        <p14:creationId xmlns:p14="http://schemas.microsoft.com/office/powerpoint/2010/main" val="1352797440"/>
      </p:ext>
    </p:extLst>
  </p:cSld>
</p:sld>
</file>

<file path=ppt/slides/slide10.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90" name="Google Shape;190;p12">
            <a:extLst xmlns:a="http://schemas.openxmlformats.org/drawingml/2006/main">
              <a:ext uri="{FF2B5EF4-FFF2-40B4-BE49-F238E27FC236}">
                <a16:creationId xmlns:a16="http://schemas.microsoft.com/office/drawing/2014/main" id="{418F4055-ED9B-4AFF-B6D6-4B41E21CC0A4}"/>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91" name="Google Shape;191;p12">
            <a:extLst xmlns:a="http://schemas.openxmlformats.org/drawingml/2006/main">
              <a:ext uri="{FF2B5EF4-FFF2-40B4-BE49-F238E27FC236}">
                <a16:creationId xmlns:a16="http://schemas.microsoft.com/office/drawing/2014/main" id="{A4281E9B-5EE4-4DA2-B9A2-18ADC739D115}"/>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92" name="Google Shape;192;p12">
            <a:extLst xmlns:a="http://schemas.openxmlformats.org/drawingml/2006/main">
              <a:ext uri="{FF2B5EF4-FFF2-40B4-BE49-F238E27FC236}">
                <a16:creationId xmlns:a16="http://schemas.microsoft.com/office/drawing/2014/main" id="{C47D1402-EB0D-450B-8091-085D8CBF02FE}"/>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93" name="Google Shape;193;p12">
            <a:extLst xmlns:a="http://schemas.openxmlformats.org/drawingml/2006/main">
              <a:ext uri="{FF2B5EF4-FFF2-40B4-BE49-F238E27FC236}">
                <a16:creationId xmlns:a16="http://schemas.microsoft.com/office/drawing/2014/main" id="{069C1A75-4124-4CD6-B81F-209931BE74A1}"/>
              </a:ext>
            </a:extLst>
          </p:cNvPr>
          <p:cNvSpPr>
            <a:spLocks xmlns:a="http://schemas.openxmlformats.org/drawingml/2006/main" noGrp="1"/>
          </p:cNvSpPr>
          <p:nvPr/>
        </p:nvSpPr>
        <p:spPr>
          <a:xfrm xmlns:a="http://schemas.openxmlformats.org/drawingml/2006/main">
            <a:off x="411480" y="6236208"/>
            <a:ext cx="49377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ETHICS</a:t>
            </a:r>
          </a:p>
        </p:txBody>
      </p:sp>
      <p:sp>
        <p:nvSpPr>
          <p:cNvPr id="194" name="Google Shape;194;p12">
            <a:extLst xmlns:a="http://schemas.openxmlformats.org/drawingml/2006/main">
              <a:ext uri="{FF2B5EF4-FFF2-40B4-BE49-F238E27FC236}">
                <a16:creationId xmlns:a16="http://schemas.microsoft.com/office/drawing/2014/main" id="{91171DF9-238A-4A70-A1E5-8238D9A4312F}"/>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195" name="Google Shape;195;p12">
            <a:extLst xmlns:a="http://schemas.openxmlformats.org/drawingml/2006/main">
              <a:ext uri="{FF2B5EF4-FFF2-40B4-BE49-F238E27FC236}">
                <a16:creationId xmlns:a16="http://schemas.microsoft.com/office/drawing/2014/main" id="{CCB811B4-15E7-4D5A-843A-DF9D4FEFCA8F}"/>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03</a:t>
            </a:r>
          </a:p>
        </p:txBody>
      </p:sp>
      <p:sp>
        <p:nvSpPr>
          <p:cNvPr id="196" name="Google Shape;196;p12">
            <a:extLst xmlns:a="http://schemas.openxmlformats.org/drawingml/2006/main">
              <a:ext uri="{FF2B5EF4-FFF2-40B4-BE49-F238E27FC236}">
                <a16:creationId xmlns:a16="http://schemas.microsoft.com/office/drawing/2014/main" id="{95776F36-CEB6-455C-BABE-C41652668E79}"/>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Human Participants Require Extra Care</a:t>
            </a:r>
          </a:p>
        </p:txBody>
      </p:sp>
      <p:sp>
        <p:nvSpPr>
          <p:cNvPr id="197" name="Google Shape;197;p12">
            <a:extLst xmlns:a="http://schemas.openxmlformats.org/drawingml/2006/main">
              <a:ext uri="{FF2B5EF4-FFF2-40B4-BE49-F238E27FC236}">
                <a16:creationId xmlns:a16="http://schemas.microsoft.com/office/drawing/2014/main" id="{85BED6C1-DE2B-4FDE-A964-8C694DFE9A89}"/>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Consent, privacy, risk, and school approval must be considered.</a:t>
            </a:r>
          </a:p>
        </p:txBody>
      </p:sp>
      <p:cxnSp>
        <p:nvCxnSpPr>
          <p:cNvPr id="208" name="Google Shape;198;p12"/>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199" name="Google Shape;199;p12">
            <a:extLst xmlns:a="http://schemas.openxmlformats.org/drawingml/2006/main">
              <a:ext uri="{FF2B5EF4-FFF2-40B4-BE49-F238E27FC236}">
                <a16:creationId xmlns:a16="http://schemas.microsoft.com/office/drawing/2014/main" id="{69ADF291-C1FC-44FC-8909-5577EE52C8F8}"/>
              </a:ext>
            </a:extLst>
          </p:cNvPr>
          <p:cNvSpPr>
            <a:spLocks xmlns:a="http://schemas.openxmlformats.org/drawingml/2006/main" noGrp="1"/>
          </p:cNvSpPr>
          <p:nvPr/>
        </p:nvSpPr>
        <p:spPr>
          <a:xfrm xmlns:a="http://schemas.openxmlformats.org/drawingml/2006/main">
            <a:off x="914400" y="1874520"/>
            <a:ext cx="10332720" cy="33375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400">
                <a:solidFill>
                  <a:srgbClr val="FFFFFF"/>
                </a:solidFill>
                <a:latin typeface="Arial"/>
                <a:ea typeface="Arial"/>
                <a:cs typeface="Arial"/>
              </a:rPr>
              <a:t>Human subjects include surveys, interviews, behavior observations, reaction-time tests, exercise tests, grades, opinions, or personal information.</a:t>
            </a:r>
          </a:p>
          <a:p xmlns:a="http://schemas.openxmlformats.org/drawingml/2006/main">
            <a:pPr marL="0" marR="0" indent="0" algn="l">
              <a:spcBef>
                <a:spcPts val="0"/>
              </a:spcBef>
              <a:spcAft>
                <a:spcPts val="0"/>
              </a:spcAft>
              <a:buNone/>
            </a:pPr>
            <a:r>
              <a:rPr sz="2400">
                <a:solidFill>
                  <a:srgbClr val="FFFFFF"/>
                </a:solidFill>
                <a:latin typeface="Arial"/>
                <a:ea typeface="Arial"/>
                <a:cs typeface="Arial"/>
              </a:rPr>
              <a:t>Students should not collect sensitive personal information casually.</a:t>
            </a:r>
          </a:p>
          <a:p xmlns:a="http://schemas.openxmlformats.org/drawingml/2006/main">
            <a:pPr marL="0" marR="0" indent="0" algn="l">
              <a:spcBef>
                <a:spcPts val="0"/>
              </a:spcBef>
              <a:spcAft>
                <a:spcPts val="0"/>
              </a:spcAft>
              <a:buNone/>
            </a:pPr>
            <a:r>
              <a:rPr sz="2400">
                <a:solidFill>
                  <a:srgbClr val="FFFFFF"/>
                </a:solidFill>
                <a:latin typeface="Arial"/>
                <a:ea typeface="Arial"/>
                <a:cs typeface="Arial"/>
              </a:rPr>
              <a:t>When in doubt, pause and ask for review.</a:t>
            </a:r>
          </a:p>
        </p:txBody>
      </p:sp>
    </p:spTree>
    <p:extLst>
      <p:ext uri="{BB962C8B-B14F-4D97-AF65-F5344CB8AC3E}">
        <p14:creationId xmlns:p14="http://schemas.microsoft.com/office/powerpoint/2010/main" val="1361669461"/>
      </p:ext>
    </p:extLst>
  </p:cSld>
</p:sld>
</file>

<file path=ppt/slides/slide11.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05" name="Google Shape;205;p13">
            <a:extLst xmlns:a="http://schemas.openxmlformats.org/drawingml/2006/main">
              <a:ext uri="{FF2B5EF4-FFF2-40B4-BE49-F238E27FC236}">
                <a16:creationId xmlns:a16="http://schemas.microsoft.com/office/drawing/2014/main" id="{66991F18-E990-47D8-BD09-D4A88FF08580}"/>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06" name="Google Shape;206;p13">
            <a:extLst xmlns:a="http://schemas.openxmlformats.org/drawingml/2006/main">
              <a:ext uri="{FF2B5EF4-FFF2-40B4-BE49-F238E27FC236}">
                <a16:creationId xmlns:a16="http://schemas.microsoft.com/office/drawing/2014/main" id="{19C28920-08C5-43C8-8E38-3EB1726D513A}"/>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07" name="Google Shape;207;p13">
            <a:extLst xmlns:a="http://schemas.openxmlformats.org/drawingml/2006/main">
              <a:ext uri="{FF2B5EF4-FFF2-40B4-BE49-F238E27FC236}">
                <a16:creationId xmlns:a16="http://schemas.microsoft.com/office/drawing/2014/main" id="{54F44D9B-044F-4A52-8330-E97DA38FA710}"/>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08" name="Google Shape;208;p13">
            <a:extLst xmlns:a="http://schemas.openxmlformats.org/drawingml/2006/main">
              <a:ext uri="{FF2B5EF4-FFF2-40B4-BE49-F238E27FC236}">
                <a16:creationId xmlns:a16="http://schemas.microsoft.com/office/drawing/2014/main" id="{769777A9-EECB-48B5-B3BA-DCDBE3F1ACD6}"/>
              </a:ext>
            </a:extLst>
          </p:cNvPr>
          <p:cNvSpPr>
            <a:spLocks xmlns:a="http://schemas.openxmlformats.org/drawingml/2006/main" noGrp="1"/>
          </p:cNvSpPr>
          <p:nvPr/>
        </p:nvSpPr>
        <p:spPr>
          <a:xfrm xmlns:a="http://schemas.openxmlformats.org/drawingml/2006/main">
            <a:off x="411480" y="6236208"/>
            <a:ext cx="49377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ETHICS</a:t>
            </a:r>
          </a:p>
        </p:txBody>
      </p:sp>
      <p:sp>
        <p:nvSpPr>
          <p:cNvPr id="209" name="Google Shape;209;p13">
            <a:extLst xmlns:a="http://schemas.openxmlformats.org/drawingml/2006/main">
              <a:ext uri="{FF2B5EF4-FFF2-40B4-BE49-F238E27FC236}">
                <a16:creationId xmlns:a16="http://schemas.microsoft.com/office/drawing/2014/main" id="{600C9A0A-1AA9-4A74-B467-8755FFC0EE72}"/>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210" name="Google Shape;210;p13">
            <a:extLst xmlns:a="http://schemas.openxmlformats.org/drawingml/2006/main">
              <a:ext uri="{FF2B5EF4-FFF2-40B4-BE49-F238E27FC236}">
                <a16:creationId xmlns:a16="http://schemas.microsoft.com/office/drawing/2014/main" id="{75F7E595-1CB7-458C-98BD-62038F0816A1}"/>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03</a:t>
            </a:r>
          </a:p>
        </p:txBody>
      </p:sp>
      <p:sp>
        <p:nvSpPr>
          <p:cNvPr id="211" name="Google Shape;211;p13">
            <a:extLst xmlns:a="http://schemas.openxmlformats.org/drawingml/2006/main">
              <a:ext uri="{FF2B5EF4-FFF2-40B4-BE49-F238E27FC236}">
                <a16:creationId xmlns:a16="http://schemas.microsoft.com/office/drawing/2014/main" id="{D1CFFDD9-63DF-42D1-B8B4-2EF2ADE7FF38}"/>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Privacy Is a Research Responsibility</a:t>
            </a:r>
          </a:p>
        </p:txBody>
      </p:sp>
      <p:sp>
        <p:nvSpPr>
          <p:cNvPr id="212" name="Google Shape;212;p13">
            <a:extLst xmlns:a="http://schemas.openxmlformats.org/drawingml/2006/main">
              <a:ext uri="{FF2B5EF4-FFF2-40B4-BE49-F238E27FC236}">
                <a16:creationId xmlns:a16="http://schemas.microsoft.com/office/drawing/2014/main" id="{C3C96392-6699-4BA9-B325-9E290D436DAF}"/>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Protect participants before, during, and after data collection.</a:t>
            </a:r>
          </a:p>
        </p:txBody>
      </p:sp>
      <p:cxnSp>
        <p:nvCxnSpPr>
          <p:cNvPr id="229" name="Google Shape;213;p13"/>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214" name="Google Shape;214;p13">
            <a:extLst xmlns:a="http://schemas.openxmlformats.org/drawingml/2006/main">
              <a:ext uri="{FF2B5EF4-FFF2-40B4-BE49-F238E27FC236}">
                <a16:creationId xmlns:a16="http://schemas.microsoft.com/office/drawing/2014/main" id="{8EEB24BD-CCA2-423B-8DCC-7F03A8763F25}"/>
              </a:ext>
            </a:extLst>
          </p:cNvPr>
          <p:cNvSpPr>
            <a:spLocks xmlns:a="http://schemas.openxmlformats.org/drawingml/2006/main" noGrp="1"/>
          </p:cNvSpPr>
          <p:nvPr/>
        </p:nvSpPr>
        <p:spPr>
          <a:xfrm xmlns:a="http://schemas.openxmlformats.org/drawingml/2006/main">
            <a:off x="777240" y="1828800"/>
            <a:ext cx="5257800" cy="3246120"/>
          </a:xfrm>
          <a:prstGeom xmlns:a="http://schemas.openxmlformats.org/drawingml/2006/main" prst="roundRect">
            <a:avLst>
              <a:gd name="adj" fmla="val 1690"/>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5" name="Google Shape;215;p13">
            <a:extLst xmlns:a="http://schemas.openxmlformats.org/drawingml/2006/main">
              <a:ext uri="{FF2B5EF4-FFF2-40B4-BE49-F238E27FC236}">
                <a16:creationId xmlns:a16="http://schemas.microsoft.com/office/drawing/2014/main" id="{9ECB1B86-BD5D-4670-B7FF-99BDA7D1C32D}"/>
              </a:ext>
            </a:extLst>
          </p:cNvPr>
          <p:cNvSpPr>
            <a:spLocks xmlns:a="http://schemas.openxmlformats.org/drawingml/2006/main" noGrp="1"/>
          </p:cNvSpPr>
          <p:nvPr/>
        </p:nvSpPr>
        <p:spPr>
          <a:xfrm xmlns:a="http://schemas.openxmlformats.org/drawingml/2006/main">
            <a:off x="941832" y="1965960"/>
            <a:ext cx="492861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PROTECT PARTICIPANTS</a:t>
            </a:r>
          </a:p>
        </p:txBody>
      </p:sp>
      <p:sp>
        <p:nvSpPr>
          <p:cNvPr id="216" name="Google Shape;216;p13">
            <a:extLst xmlns:a="http://schemas.openxmlformats.org/drawingml/2006/main">
              <a:ext uri="{FF2B5EF4-FFF2-40B4-BE49-F238E27FC236}">
                <a16:creationId xmlns:a16="http://schemas.microsoft.com/office/drawing/2014/main" id="{83EA6C2A-3F0E-48B5-A265-394D5BF0C03B}"/>
              </a:ext>
            </a:extLst>
          </p:cNvPr>
          <p:cNvSpPr>
            <a:spLocks xmlns:a="http://schemas.openxmlformats.org/drawingml/2006/main" noGrp="1"/>
          </p:cNvSpPr>
          <p:nvPr/>
        </p:nvSpPr>
        <p:spPr>
          <a:xfrm xmlns:a="http://schemas.openxmlformats.org/drawingml/2006/main">
            <a:off x="941832" y="2331720"/>
            <a:ext cx="4928616" cy="258775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Collect only what you need.</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Avoid names and identifiers.</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Store data in approved locations.</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Report grouped results when possible.</a:t>
            </a:r>
          </a:p>
        </p:txBody>
      </p:sp>
      <p:sp>
        <p:nvSpPr>
          <p:cNvPr id="217" name="Google Shape;217;p13">
            <a:extLst xmlns:a="http://schemas.openxmlformats.org/drawingml/2006/main">
              <a:ext uri="{FF2B5EF4-FFF2-40B4-BE49-F238E27FC236}">
                <a16:creationId xmlns:a16="http://schemas.microsoft.com/office/drawing/2014/main" id="{413306C6-8F9C-47CE-AED9-FEBE82300593}"/>
              </a:ext>
            </a:extLst>
          </p:cNvPr>
          <p:cNvSpPr>
            <a:spLocks xmlns:a="http://schemas.openxmlformats.org/drawingml/2006/main" noGrp="1"/>
          </p:cNvSpPr>
          <p:nvPr/>
        </p:nvSpPr>
        <p:spPr>
          <a:xfrm xmlns:a="http://schemas.openxmlformats.org/drawingml/2006/main">
            <a:off x="6172200" y="1828800"/>
            <a:ext cx="5257800" cy="3246120"/>
          </a:xfrm>
          <a:prstGeom xmlns:a="http://schemas.openxmlformats.org/drawingml/2006/main" prst="roundRect">
            <a:avLst>
              <a:gd name="adj" fmla="val 1690"/>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8" name="Google Shape;218;p13">
            <a:extLst xmlns:a="http://schemas.openxmlformats.org/drawingml/2006/main">
              <a:ext uri="{FF2B5EF4-FFF2-40B4-BE49-F238E27FC236}">
                <a16:creationId xmlns:a16="http://schemas.microsoft.com/office/drawing/2014/main" id="{FCFEF594-5CBF-4412-B14C-8C0BC5275467}"/>
              </a:ext>
            </a:extLst>
          </p:cNvPr>
          <p:cNvSpPr>
            <a:spLocks xmlns:a="http://schemas.openxmlformats.org/drawingml/2006/main" noGrp="1"/>
          </p:cNvSpPr>
          <p:nvPr/>
        </p:nvSpPr>
        <p:spPr>
          <a:xfrm xmlns:a="http://schemas.openxmlformats.org/drawingml/2006/main">
            <a:off x="6336792" y="1965960"/>
            <a:ext cx="492861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ASK FIRST</a:t>
            </a:r>
          </a:p>
        </p:txBody>
      </p:sp>
      <p:sp>
        <p:nvSpPr>
          <p:cNvPr id="219" name="Google Shape;219;p13">
            <a:extLst xmlns:a="http://schemas.openxmlformats.org/drawingml/2006/main">
              <a:ext uri="{FF2B5EF4-FFF2-40B4-BE49-F238E27FC236}">
                <a16:creationId xmlns:a16="http://schemas.microsoft.com/office/drawing/2014/main" id="{6EC7D336-80D7-4E21-A426-0752A1D816B4}"/>
              </a:ext>
            </a:extLst>
          </p:cNvPr>
          <p:cNvSpPr>
            <a:spLocks xmlns:a="http://schemas.openxmlformats.org/drawingml/2006/main" noGrp="1"/>
          </p:cNvSpPr>
          <p:nvPr/>
        </p:nvSpPr>
        <p:spPr>
          <a:xfrm xmlns:a="http://schemas.openxmlformats.org/drawingml/2006/main">
            <a:off x="6336792" y="2331720"/>
            <a:ext cx="4928616" cy="258775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Could someone be identified?</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Could release embarrass or harm someone?</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Is consent needed?</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Who is allowed to see raw data?</a:t>
            </a:r>
          </a:p>
        </p:txBody>
      </p:sp>
      <p:sp>
        <p:nvSpPr>
          <p:cNvPr id="220" name="Google Shape;220;p13">
            <a:extLst xmlns:a="http://schemas.openxmlformats.org/drawingml/2006/main">
              <a:ext uri="{FF2B5EF4-FFF2-40B4-BE49-F238E27FC236}">
                <a16:creationId xmlns:a16="http://schemas.microsoft.com/office/drawing/2014/main" id="{94ED8404-645D-44AB-A6AD-43133E97BA88}"/>
              </a:ext>
            </a:extLst>
          </p:cNvPr>
          <p:cNvSpPr>
            <a:spLocks xmlns:a="http://schemas.openxmlformats.org/drawingml/2006/main" noGrp="1"/>
          </p:cNvSpPr>
          <p:nvPr/>
        </p:nvSpPr>
        <p:spPr>
          <a:xfrm xmlns:a="http://schemas.openxmlformats.org/drawingml/2006/main">
            <a:off x="914400" y="5440680"/>
            <a:ext cx="1042416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ctr">
              <a:spcBef>
                <a:spcPts val="0"/>
              </a:spcBef>
              <a:spcAft>
                <a:spcPts val="0"/>
              </a:spcAft>
              <a:buClr>
                <a:srgbClr val="B8B8B8"/>
              </a:buClr>
              <a:buSzPts val="1900"/>
              <a:buFont typeface="Arial"/>
              <a:buNone/>
            </a:pPr>
            <a:r>
              <a:rPr sz="1900">
                <a:solidFill>
                  <a:srgbClr val="B8B8B8"/>
                </a:solidFill>
                <a:latin typeface="Arial"/>
                <a:ea typeface="Arial"/>
                <a:cs typeface="Arial"/>
              </a:rPr>
              <a:t>Rule of thumb: if release of the data could embarrass or harm someone, treat it as sensitive.</a:t>
            </a:r>
          </a:p>
        </p:txBody>
      </p:sp>
    </p:spTree>
    <p:extLst>
      <p:ext uri="{BB962C8B-B14F-4D97-AF65-F5344CB8AC3E}">
        <p14:creationId xmlns:p14="http://schemas.microsoft.com/office/powerpoint/2010/main" val="750893658"/>
      </p:ext>
    </p:extLst>
  </p:cSld>
</p:sld>
</file>

<file path=ppt/slides/slide12.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26" name="Google Shape;226;p14">
            <a:extLst xmlns:a="http://schemas.openxmlformats.org/drawingml/2006/main">
              <a:ext uri="{FF2B5EF4-FFF2-40B4-BE49-F238E27FC236}">
                <a16:creationId xmlns:a16="http://schemas.microsoft.com/office/drawing/2014/main" id="{8BF263DB-3641-450B-9094-C9A45F2F3B11}"/>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27" name="Google Shape;227;p14">
            <a:extLst xmlns:a="http://schemas.openxmlformats.org/drawingml/2006/main">
              <a:ext uri="{FF2B5EF4-FFF2-40B4-BE49-F238E27FC236}">
                <a16:creationId xmlns:a16="http://schemas.microsoft.com/office/drawing/2014/main" id="{5476D591-C97C-481E-A28B-B9E1C01238F4}"/>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28" name="Google Shape;228;p14">
            <a:extLst xmlns:a="http://schemas.openxmlformats.org/drawingml/2006/main">
              <a:ext uri="{FF2B5EF4-FFF2-40B4-BE49-F238E27FC236}">
                <a16:creationId xmlns:a16="http://schemas.microsoft.com/office/drawing/2014/main" id="{CCA8AF41-B900-4E4A-9361-2768FB6DE637}"/>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29" name="Google Shape;229;p14">
            <a:extLst xmlns:a="http://schemas.openxmlformats.org/drawingml/2006/main">
              <a:ext uri="{FF2B5EF4-FFF2-40B4-BE49-F238E27FC236}">
                <a16:creationId xmlns:a16="http://schemas.microsoft.com/office/drawing/2014/main" id="{4E0B55AD-5E5F-4EB0-A428-DC2AE0BD9800}"/>
              </a:ext>
            </a:extLst>
          </p:cNvPr>
          <p:cNvSpPr>
            <a:spLocks xmlns:a="http://schemas.openxmlformats.org/drawingml/2006/main" noGrp="1"/>
          </p:cNvSpPr>
          <p:nvPr/>
        </p:nvSpPr>
        <p:spPr>
          <a:xfrm xmlns:a="http://schemas.openxmlformats.org/drawingml/2006/main">
            <a:off x="411480" y="6236208"/>
            <a:ext cx="49377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ETHICS</a:t>
            </a:r>
          </a:p>
        </p:txBody>
      </p:sp>
      <p:sp>
        <p:nvSpPr>
          <p:cNvPr id="230" name="Google Shape;230;p14">
            <a:extLst xmlns:a="http://schemas.openxmlformats.org/drawingml/2006/main">
              <a:ext uri="{FF2B5EF4-FFF2-40B4-BE49-F238E27FC236}">
                <a16:creationId xmlns:a16="http://schemas.microsoft.com/office/drawing/2014/main" id="{1C104394-DC87-43DA-997D-93EF89E62931}"/>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231" name="Google Shape;231;p14">
            <a:extLst xmlns:a="http://schemas.openxmlformats.org/drawingml/2006/main">
              <a:ext uri="{FF2B5EF4-FFF2-40B4-BE49-F238E27FC236}">
                <a16:creationId xmlns:a16="http://schemas.microsoft.com/office/drawing/2014/main" id="{38ACC9E8-57F2-4D2E-8AE8-9E5DA9C12A21}"/>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03</a:t>
            </a:r>
          </a:p>
        </p:txBody>
      </p:sp>
      <p:sp>
        <p:nvSpPr>
          <p:cNvPr id="232" name="Google Shape;232;p14">
            <a:extLst xmlns:a="http://schemas.openxmlformats.org/drawingml/2006/main">
              <a:ext uri="{FF2B5EF4-FFF2-40B4-BE49-F238E27FC236}">
                <a16:creationId xmlns:a16="http://schemas.microsoft.com/office/drawing/2014/main" id="{D7607BFC-D0F7-4903-9DDA-CB8A73CE7B3C}"/>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Animals and Biological Materials Are High-Review Areas</a:t>
            </a:r>
          </a:p>
        </p:txBody>
      </p:sp>
      <p:sp>
        <p:nvSpPr>
          <p:cNvPr id="233" name="Google Shape;233;p14">
            <a:extLst xmlns:a="http://schemas.openxmlformats.org/drawingml/2006/main">
              <a:ext uri="{FF2B5EF4-FFF2-40B4-BE49-F238E27FC236}">
                <a16:creationId xmlns:a16="http://schemas.microsoft.com/office/drawing/2014/main" id="{818B3C81-0648-4D0B-AB7F-60E584AC6A4D}"/>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Curiosity is valid, but the method must be allowed and safe.</a:t>
            </a:r>
          </a:p>
        </p:txBody>
      </p:sp>
      <p:cxnSp>
        <p:nvCxnSpPr>
          <p:cNvPr id="244" name="Google Shape;234;p14"/>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235" name="Google Shape;235;p14">
            <a:extLst xmlns:a="http://schemas.openxmlformats.org/drawingml/2006/main">
              <a:ext uri="{FF2B5EF4-FFF2-40B4-BE49-F238E27FC236}">
                <a16:creationId xmlns:a16="http://schemas.microsoft.com/office/drawing/2014/main" id="{6F9572A5-2609-47B1-9D12-024841721960}"/>
              </a:ext>
            </a:extLst>
          </p:cNvPr>
          <p:cNvSpPr>
            <a:spLocks xmlns:a="http://schemas.openxmlformats.org/drawingml/2006/main" noGrp="1"/>
          </p:cNvSpPr>
          <p:nvPr/>
        </p:nvSpPr>
        <p:spPr>
          <a:xfrm xmlns:a="http://schemas.openxmlformats.org/drawingml/2006/main">
            <a:off x="914400" y="1828800"/>
            <a:ext cx="10149840" cy="3749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200">
                <a:solidFill>
                  <a:srgbClr val="FFFFFF"/>
                </a:solidFill>
                <a:latin typeface="Arial"/>
                <a:ea typeface="Arial"/>
                <a:cs typeface="Arial"/>
              </a:rPr>
              <a:t>Animal-related projects may involve vertebrate animals, pets, habitats, behavior testing, or interventions.</a:t>
            </a:r>
          </a:p>
          <a:p xmlns:a="http://schemas.openxmlformats.org/drawingml/2006/main">
            <a:pPr marL="0" marR="0" indent="0" algn="l">
              <a:spcBef>
                <a:spcPts val="0"/>
              </a:spcBef>
              <a:spcAft>
                <a:spcPts val="0"/>
              </a:spcAft>
              <a:buNone/>
            </a:pPr>
            <a:r>
              <a:rPr sz="2200">
                <a:solidFill>
                  <a:srgbClr val="FFFFFF"/>
                </a:solidFill>
                <a:latin typeface="Arial"/>
                <a:ea typeface="Arial"/>
                <a:cs typeface="Arial"/>
              </a:rPr>
              <a:t>Biological projects may involve microorganisms, cultures, soil, water samples, mold, or unknown organisms.</a:t>
            </a:r>
          </a:p>
          <a:p xmlns:a="http://schemas.openxmlformats.org/drawingml/2006/main">
            <a:pPr marL="0" marR="0" indent="0" algn="l">
              <a:spcBef>
                <a:spcPts val="0"/>
              </a:spcBef>
              <a:spcAft>
                <a:spcPts val="0"/>
              </a:spcAft>
              <a:buNone/>
            </a:pPr>
            <a:r>
              <a:rPr sz="2200">
                <a:solidFill>
                  <a:srgbClr val="FFFFFF"/>
                </a:solidFill>
                <a:latin typeface="Arial"/>
                <a:ea typeface="Arial"/>
                <a:cs typeface="Arial"/>
              </a:rPr>
              <a:t>These areas require strict safety and ethics review and may not be allowed in a school setting.</a:t>
            </a:r>
          </a:p>
          <a:p xmlns:a="http://schemas.openxmlformats.org/drawingml/2006/main">
            <a:pPr marL="0" marR="0" indent="0" algn="l">
              <a:spcBef>
                <a:spcPts val="0"/>
              </a:spcBef>
              <a:spcAft>
                <a:spcPts val="0"/>
              </a:spcAft>
              <a:buNone/>
            </a:pPr>
            <a:r>
              <a:rPr sz="2200">
                <a:solidFill>
                  <a:srgbClr val="FFFFFF"/>
                </a:solidFill>
                <a:latin typeface="Arial"/>
                <a:ea typeface="Arial"/>
                <a:cs typeface="Arial"/>
              </a:rPr>
              <a:t>Safer alternatives may include simulations, existing datasets, non-culturing methods, or teacher-provided materials.</a:t>
            </a:r>
          </a:p>
        </p:txBody>
      </p:sp>
    </p:spTree>
    <p:extLst>
      <p:ext uri="{BB962C8B-B14F-4D97-AF65-F5344CB8AC3E}">
        <p14:creationId xmlns:p14="http://schemas.microsoft.com/office/powerpoint/2010/main" val="1556678209"/>
      </p:ext>
    </p:extLst>
  </p:cSld>
</p:sld>
</file>

<file path=ppt/slides/slide13.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41" name="Google Shape;241;p15">
            <a:extLst xmlns:a="http://schemas.openxmlformats.org/drawingml/2006/main">
              <a:ext uri="{FF2B5EF4-FFF2-40B4-BE49-F238E27FC236}">
                <a16:creationId xmlns:a16="http://schemas.microsoft.com/office/drawing/2014/main" id="{57FE6314-C814-4399-83C9-150DAA066863}"/>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42" name="Google Shape;242;p15">
            <a:extLst xmlns:a="http://schemas.openxmlformats.org/drawingml/2006/main">
              <a:ext uri="{FF2B5EF4-FFF2-40B4-BE49-F238E27FC236}">
                <a16:creationId xmlns:a16="http://schemas.microsoft.com/office/drawing/2014/main" id="{4E0E711E-5406-47CE-BFC1-49815B95A40A}"/>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43" name="Google Shape;243;p15">
            <a:extLst xmlns:a="http://schemas.openxmlformats.org/drawingml/2006/main">
              <a:ext uri="{FF2B5EF4-FFF2-40B4-BE49-F238E27FC236}">
                <a16:creationId xmlns:a16="http://schemas.microsoft.com/office/drawing/2014/main" id="{2FF37AA7-9742-457B-A1B5-C0AC71D05303}"/>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44" name="Google Shape;244;p15">
            <a:extLst xmlns:a="http://schemas.openxmlformats.org/drawingml/2006/main">
              <a:ext uri="{FF2B5EF4-FFF2-40B4-BE49-F238E27FC236}">
                <a16:creationId xmlns:a16="http://schemas.microsoft.com/office/drawing/2014/main" id="{C3CEC17B-0469-4821-8F2D-825AD6A6B6B4}"/>
              </a:ext>
            </a:extLst>
          </p:cNvPr>
          <p:cNvSpPr>
            <a:spLocks xmlns:a="http://schemas.openxmlformats.org/drawingml/2006/main" noGrp="1"/>
          </p:cNvSpPr>
          <p:nvPr/>
        </p:nvSpPr>
        <p:spPr>
          <a:xfrm xmlns:a="http://schemas.openxmlformats.org/drawingml/2006/main">
            <a:off x="411480" y="6236208"/>
            <a:ext cx="49377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SAFETY</a:t>
            </a:r>
          </a:p>
        </p:txBody>
      </p:sp>
      <p:sp>
        <p:nvSpPr>
          <p:cNvPr id="245" name="Google Shape;245;p15">
            <a:extLst xmlns:a="http://schemas.openxmlformats.org/drawingml/2006/main">
              <a:ext uri="{FF2B5EF4-FFF2-40B4-BE49-F238E27FC236}">
                <a16:creationId xmlns:a16="http://schemas.microsoft.com/office/drawing/2014/main" id="{A374E265-9A36-485F-9341-477EDAD0F7D5}"/>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246" name="Google Shape;246;p15">
            <a:extLst xmlns:a="http://schemas.openxmlformats.org/drawingml/2006/main">
              <a:ext uri="{FF2B5EF4-FFF2-40B4-BE49-F238E27FC236}">
                <a16:creationId xmlns:a16="http://schemas.microsoft.com/office/drawing/2014/main" id="{089B88A5-3226-4C26-8829-F52AAC51ABB5}"/>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03</a:t>
            </a:r>
          </a:p>
        </p:txBody>
      </p:sp>
      <p:sp>
        <p:nvSpPr>
          <p:cNvPr id="247" name="Google Shape;247;p15">
            <a:extLst xmlns:a="http://schemas.openxmlformats.org/drawingml/2006/main">
              <a:ext uri="{FF2B5EF4-FFF2-40B4-BE49-F238E27FC236}">
                <a16:creationId xmlns:a16="http://schemas.microsoft.com/office/drawing/2014/main" id="{2CA67F39-98BB-4456-8A0E-FD8D010E0973}"/>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Tools, Chemicals, Heat, and Power Change the Approval Level</a:t>
            </a:r>
          </a:p>
        </p:txBody>
      </p:sp>
      <p:sp>
        <p:nvSpPr>
          <p:cNvPr id="248" name="Google Shape;248;p15">
            <a:extLst xmlns:a="http://schemas.openxmlformats.org/drawingml/2006/main">
              <a:ext uri="{FF2B5EF4-FFF2-40B4-BE49-F238E27FC236}">
                <a16:creationId xmlns:a16="http://schemas.microsoft.com/office/drawing/2014/main" id="{97DC6EC0-D8F6-4845-BEA7-A4A766BCB06D}"/>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The setup must be safe before it can be scientific.</a:t>
            </a:r>
          </a:p>
        </p:txBody>
      </p:sp>
      <p:cxnSp>
        <p:nvCxnSpPr>
          <p:cNvPr id="259" name="Google Shape;249;p15"/>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250" name="Google Shape;250;p15">
            <a:extLst xmlns:a="http://schemas.openxmlformats.org/drawingml/2006/main">
              <a:ext uri="{FF2B5EF4-FFF2-40B4-BE49-F238E27FC236}">
                <a16:creationId xmlns:a16="http://schemas.microsoft.com/office/drawing/2014/main" id="{7B86415D-4F97-4D03-A9B6-2DEC9BE34806}"/>
              </a:ext>
            </a:extLst>
          </p:cNvPr>
          <p:cNvSpPr>
            <a:spLocks xmlns:a="http://schemas.openxmlformats.org/drawingml/2006/main" noGrp="1"/>
          </p:cNvSpPr>
          <p:nvPr/>
        </p:nvSpPr>
        <p:spPr>
          <a:xfrm xmlns:a="http://schemas.openxmlformats.org/drawingml/2006/main">
            <a:off x="1005840" y="1828800"/>
            <a:ext cx="9875520" cy="3657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300">
                <a:solidFill>
                  <a:srgbClr val="FFFFFF"/>
                </a:solidFill>
                <a:latin typeface="Arial"/>
                <a:ea typeface="Arial"/>
                <a:cs typeface="Arial"/>
              </a:rPr>
              <a:t>Use the smallest safe scale.</a:t>
            </a:r>
          </a:p>
          <a:p xmlns:a="http://schemas.openxmlformats.org/drawingml/2006/main">
            <a:pPr marL="0" marR="0" indent="0" algn="l">
              <a:spcBef>
                <a:spcPts val="0"/>
              </a:spcBef>
              <a:spcAft>
                <a:spcPts val="0"/>
              </a:spcAft>
              <a:buNone/>
            </a:pPr>
            <a:r>
              <a:rPr sz="2300">
                <a:solidFill>
                  <a:srgbClr val="FFFFFF"/>
                </a:solidFill>
                <a:latin typeface="Arial"/>
                <a:ea typeface="Arial"/>
                <a:cs typeface="Arial"/>
              </a:rPr>
              <a:t>Substitute safer materials when possible.</a:t>
            </a:r>
          </a:p>
          <a:p xmlns:a="http://schemas.openxmlformats.org/drawingml/2006/main">
            <a:pPr marL="0" marR="0" indent="0" algn="l">
              <a:spcBef>
                <a:spcPts val="0"/>
              </a:spcBef>
              <a:spcAft>
                <a:spcPts val="0"/>
              </a:spcAft>
              <a:buNone/>
            </a:pPr>
            <a:r>
              <a:rPr sz="2300">
                <a:solidFill>
                  <a:srgbClr val="FFFFFF"/>
                </a:solidFill>
                <a:latin typeface="Arial"/>
                <a:ea typeface="Arial"/>
                <a:cs typeface="Arial"/>
              </a:rPr>
              <a:t>Identify PPE before testing.</a:t>
            </a:r>
          </a:p>
          <a:p xmlns:a="http://schemas.openxmlformats.org/drawingml/2006/main">
            <a:pPr marL="0" marR="0" indent="0" algn="l">
              <a:spcBef>
                <a:spcPts val="0"/>
              </a:spcBef>
              <a:spcAft>
                <a:spcPts val="0"/>
              </a:spcAft>
              <a:buNone/>
            </a:pPr>
            <a:r>
              <a:rPr sz="2300">
                <a:solidFill>
                  <a:srgbClr val="FFFFFF"/>
                </a:solidFill>
                <a:latin typeface="Arial"/>
                <a:ea typeface="Arial"/>
                <a:cs typeface="Arial"/>
              </a:rPr>
              <a:t>Get training before tools or equipment.</a:t>
            </a:r>
          </a:p>
          <a:p xmlns:a="http://schemas.openxmlformats.org/drawingml/2006/main">
            <a:pPr marL="0" marR="0" indent="0" algn="l">
              <a:spcBef>
                <a:spcPts val="0"/>
              </a:spcBef>
              <a:spcAft>
                <a:spcPts val="0"/>
              </a:spcAft>
              <a:buNone/>
            </a:pPr>
            <a:r>
              <a:rPr sz="2300">
                <a:solidFill>
                  <a:srgbClr val="FFFFFF"/>
                </a:solidFill>
                <a:latin typeface="Arial"/>
                <a:ea typeface="Arial"/>
                <a:cs typeface="Arial"/>
              </a:rPr>
              <a:t>Plan storage, cleanup, and disposal.</a:t>
            </a:r>
          </a:p>
          <a:p xmlns:a="http://schemas.openxmlformats.org/drawingml/2006/main">
            <a:pPr marL="0" marR="0" indent="0" algn="l">
              <a:spcBef>
                <a:spcPts val="0"/>
              </a:spcBef>
              <a:spcAft>
                <a:spcPts val="0"/>
              </a:spcAft>
              <a:buNone/>
            </a:pPr>
            <a:r>
              <a:rPr sz="2300">
                <a:solidFill>
                  <a:srgbClr val="FFFFFF"/>
                </a:solidFill>
                <a:latin typeface="Arial"/>
                <a:ea typeface="Arial"/>
                <a:cs typeface="Arial"/>
              </a:rPr>
              <a:t>Stop if the setup changes unexpectedly.</a:t>
            </a:r>
          </a:p>
        </p:txBody>
      </p:sp>
    </p:spTree>
    <p:extLst>
      <p:ext uri="{BB962C8B-B14F-4D97-AF65-F5344CB8AC3E}">
        <p14:creationId xmlns:p14="http://schemas.microsoft.com/office/powerpoint/2010/main" val="1395110725"/>
      </p:ext>
    </p:extLst>
  </p:cSld>
</p:sld>
</file>

<file path=ppt/slides/slide14.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56" name="Google Shape;256;p16">
            <a:extLst xmlns:a="http://schemas.openxmlformats.org/drawingml/2006/main">
              <a:ext uri="{FF2B5EF4-FFF2-40B4-BE49-F238E27FC236}">
                <a16:creationId xmlns:a16="http://schemas.microsoft.com/office/drawing/2014/main" id="{E077D807-9ED3-45F4-B4F7-C5C53289E1DE}"/>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7" name="Google Shape;257;p16">
            <a:extLst xmlns:a="http://schemas.openxmlformats.org/drawingml/2006/main">
              <a:ext uri="{FF2B5EF4-FFF2-40B4-BE49-F238E27FC236}">
                <a16:creationId xmlns:a16="http://schemas.microsoft.com/office/drawing/2014/main" id="{D809E81C-E901-4C26-BAD4-280823042C05}"/>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8" name="Google Shape;258;p16">
            <a:extLst xmlns:a="http://schemas.openxmlformats.org/drawingml/2006/main">
              <a:ext uri="{FF2B5EF4-FFF2-40B4-BE49-F238E27FC236}">
                <a16:creationId xmlns:a16="http://schemas.microsoft.com/office/drawing/2014/main" id="{A0DF1F26-0831-4369-BCB8-B127B1EBE7BB}"/>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9" name="Google Shape;259;p16">
            <a:extLst xmlns:a="http://schemas.openxmlformats.org/drawingml/2006/main">
              <a:ext uri="{FF2B5EF4-FFF2-40B4-BE49-F238E27FC236}">
                <a16:creationId xmlns:a16="http://schemas.microsoft.com/office/drawing/2014/main" id="{C8C3162A-0665-4E76-A031-3DD37C89A13A}"/>
              </a:ext>
            </a:extLst>
          </p:cNvPr>
          <p:cNvSpPr>
            <a:spLocks xmlns:a="http://schemas.openxmlformats.org/drawingml/2006/main" noGrp="1"/>
          </p:cNvSpPr>
          <p:nvPr/>
        </p:nvSpPr>
        <p:spPr>
          <a:xfrm xmlns:a="http://schemas.openxmlformats.org/drawingml/2006/main">
            <a:off x="411480" y="6236208"/>
            <a:ext cx="49377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SAFETY</a:t>
            </a:r>
          </a:p>
        </p:txBody>
      </p:sp>
      <p:sp>
        <p:nvSpPr>
          <p:cNvPr id="260" name="Google Shape;260;p16">
            <a:extLst xmlns:a="http://schemas.openxmlformats.org/drawingml/2006/main">
              <a:ext uri="{FF2B5EF4-FFF2-40B4-BE49-F238E27FC236}">
                <a16:creationId xmlns:a16="http://schemas.microsoft.com/office/drawing/2014/main" id="{6DDA3EEB-498F-40D0-99EC-CA24071E20F3}"/>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261" name="Google Shape;261;p16">
            <a:extLst xmlns:a="http://schemas.openxmlformats.org/drawingml/2006/main">
              <a:ext uri="{FF2B5EF4-FFF2-40B4-BE49-F238E27FC236}">
                <a16:creationId xmlns:a16="http://schemas.microsoft.com/office/drawing/2014/main" id="{1AE29CC8-E9A8-4055-82A1-D76790E1D5EC}"/>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03</a:t>
            </a:r>
          </a:p>
        </p:txBody>
      </p:sp>
      <p:sp>
        <p:nvSpPr>
          <p:cNvPr id="262" name="Google Shape;262;p16">
            <a:extLst xmlns:a="http://schemas.openxmlformats.org/drawingml/2006/main">
              <a:ext uri="{FF2B5EF4-FFF2-40B4-BE49-F238E27FC236}">
                <a16:creationId xmlns:a16="http://schemas.microsoft.com/office/drawing/2014/main" id="{C895C508-19AD-4ACB-99F3-F12A1608D33D}"/>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The Environment Is Not a Testing Trash Can</a:t>
            </a:r>
          </a:p>
        </p:txBody>
      </p:sp>
      <p:sp>
        <p:nvSpPr>
          <p:cNvPr id="263" name="Google Shape;263;p16">
            <a:extLst xmlns:a="http://schemas.openxmlformats.org/drawingml/2006/main">
              <a:ext uri="{FF2B5EF4-FFF2-40B4-BE49-F238E27FC236}">
                <a16:creationId xmlns:a16="http://schemas.microsoft.com/office/drawing/2014/main" id="{4A2B2FC5-4681-4EDE-8650-46FCE2795D9A}"/>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Field sampling and disposal require responsibility.</a:t>
            </a:r>
          </a:p>
        </p:txBody>
      </p:sp>
      <p:cxnSp>
        <p:nvCxnSpPr>
          <p:cNvPr id="279" name="Google Shape;264;p16"/>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265" name="Google Shape;265;p16">
            <a:extLst xmlns:a="http://schemas.openxmlformats.org/drawingml/2006/main">
              <a:ext uri="{FF2B5EF4-FFF2-40B4-BE49-F238E27FC236}">
                <a16:creationId xmlns:a16="http://schemas.microsoft.com/office/drawing/2014/main" id="{528736AA-4D58-4142-AF50-3B96DD095A99}"/>
              </a:ext>
            </a:extLst>
          </p:cNvPr>
          <p:cNvSpPr>
            <a:spLocks xmlns:a="http://schemas.openxmlformats.org/drawingml/2006/main" noGrp="1"/>
          </p:cNvSpPr>
          <p:nvPr/>
        </p:nvSpPr>
        <p:spPr>
          <a:xfrm xmlns:a="http://schemas.openxmlformats.org/drawingml/2006/main">
            <a:off x="777240" y="1828800"/>
            <a:ext cx="5257800" cy="3657600"/>
          </a:xfrm>
          <a:prstGeom xmlns:a="http://schemas.openxmlformats.org/drawingml/2006/main" prst="roundRect">
            <a:avLst>
              <a:gd name="adj" fmla="val 1500"/>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66" name="Google Shape;266;p16">
            <a:extLst xmlns:a="http://schemas.openxmlformats.org/drawingml/2006/main">
              <a:ext uri="{FF2B5EF4-FFF2-40B4-BE49-F238E27FC236}">
                <a16:creationId xmlns:a16="http://schemas.microsoft.com/office/drawing/2014/main" id="{3ADBD44F-1186-4BE4-AD11-1576A95E1B63}"/>
              </a:ext>
            </a:extLst>
          </p:cNvPr>
          <p:cNvSpPr>
            <a:spLocks xmlns:a="http://schemas.openxmlformats.org/drawingml/2006/main" noGrp="1"/>
          </p:cNvSpPr>
          <p:nvPr/>
        </p:nvSpPr>
        <p:spPr>
          <a:xfrm xmlns:a="http://schemas.openxmlformats.org/drawingml/2006/main">
            <a:off x="941832" y="1965960"/>
            <a:ext cx="492861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FIELD SAMPLING QUESTIONS</a:t>
            </a:r>
          </a:p>
        </p:txBody>
      </p:sp>
      <p:sp>
        <p:nvSpPr>
          <p:cNvPr id="267" name="Google Shape;267;p16">
            <a:extLst xmlns:a="http://schemas.openxmlformats.org/drawingml/2006/main">
              <a:ext uri="{FF2B5EF4-FFF2-40B4-BE49-F238E27FC236}">
                <a16:creationId xmlns:a16="http://schemas.microsoft.com/office/drawing/2014/main" id="{2EC78494-904E-4A7A-9332-44738EA16C0E}"/>
              </a:ext>
            </a:extLst>
          </p:cNvPr>
          <p:cNvSpPr>
            <a:spLocks xmlns:a="http://schemas.openxmlformats.org/drawingml/2006/main" noGrp="1"/>
          </p:cNvSpPr>
          <p:nvPr/>
        </p:nvSpPr>
        <p:spPr>
          <a:xfrm xmlns:a="http://schemas.openxmlformats.org/drawingml/2006/main">
            <a:off x="941832" y="2331720"/>
            <a:ext cx="4928616" cy="29992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Do you have permission?</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Is the location safe?</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Can samples be removed?</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Could you spread contamination?</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How will waste be disposed?</a:t>
            </a:r>
          </a:p>
        </p:txBody>
      </p:sp>
      <p:sp>
        <p:nvSpPr>
          <p:cNvPr id="268" name="Google Shape;268;p16">
            <a:extLst xmlns:a="http://schemas.openxmlformats.org/drawingml/2006/main">
              <a:ext uri="{FF2B5EF4-FFF2-40B4-BE49-F238E27FC236}">
                <a16:creationId xmlns:a16="http://schemas.microsoft.com/office/drawing/2014/main" id="{847B2696-7E95-4CE1-8EE3-DDA06A483F17}"/>
              </a:ext>
            </a:extLst>
          </p:cNvPr>
          <p:cNvSpPr>
            <a:spLocks xmlns:a="http://schemas.openxmlformats.org/drawingml/2006/main" noGrp="1"/>
          </p:cNvSpPr>
          <p:nvPr/>
        </p:nvSpPr>
        <p:spPr>
          <a:xfrm xmlns:a="http://schemas.openxmlformats.org/drawingml/2006/main">
            <a:off x="6172200" y="1828800"/>
            <a:ext cx="5257800" cy="3657600"/>
          </a:xfrm>
          <a:prstGeom xmlns:a="http://schemas.openxmlformats.org/drawingml/2006/main" prst="roundRect">
            <a:avLst>
              <a:gd name="adj" fmla="val 1500"/>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69" name="Google Shape;269;p16">
            <a:extLst xmlns:a="http://schemas.openxmlformats.org/drawingml/2006/main">
              <a:ext uri="{FF2B5EF4-FFF2-40B4-BE49-F238E27FC236}">
                <a16:creationId xmlns:a16="http://schemas.microsoft.com/office/drawing/2014/main" id="{6FA13A2D-F67B-4BE8-A313-7FFA83DC6408}"/>
              </a:ext>
            </a:extLst>
          </p:cNvPr>
          <p:cNvSpPr>
            <a:spLocks xmlns:a="http://schemas.openxmlformats.org/drawingml/2006/main" noGrp="1"/>
          </p:cNvSpPr>
          <p:nvPr/>
        </p:nvSpPr>
        <p:spPr>
          <a:xfrm xmlns:a="http://schemas.openxmlformats.org/drawingml/2006/main">
            <a:off x="6336792" y="1965960"/>
            <a:ext cx="492861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ENVIRONMENTAL RESPONSIBILITY</a:t>
            </a:r>
          </a:p>
        </p:txBody>
      </p:sp>
      <p:sp>
        <p:nvSpPr>
          <p:cNvPr id="270" name="Google Shape;270;p16">
            <a:extLst xmlns:a="http://schemas.openxmlformats.org/drawingml/2006/main">
              <a:ext uri="{FF2B5EF4-FFF2-40B4-BE49-F238E27FC236}">
                <a16:creationId xmlns:a16="http://schemas.microsoft.com/office/drawing/2014/main" id="{1B082A64-7F1C-44D7-94A4-FE338B986CB4}"/>
              </a:ext>
            </a:extLst>
          </p:cNvPr>
          <p:cNvSpPr>
            <a:spLocks xmlns:a="http://schemas.openxmlformats.org/drawingml/2006/main" noGrp="1"/>
          </p:cNvSpPr>
          <p:nvPr/>
        </p:nvSpPr>
        <p:spPr>
          <a:xfrm xmlns:a="http://schemas.openxmlformats.org/drawingml/2006/main">
            <a:off x="6336792" y="2331720"/>
            <a:ext cx="4928616" cy="29992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Do not release materials outdoors.</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Avoid disturbing habitats.</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Use clean collection methods.</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Dispose through approved procedures.</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Document sampling locations responsibly.</a:t>
            </a:r>
          </a:p>
        </p:txBody>
      </p:sp>
    </p:spTree>
    <p:extLst>
      <p:ext uri="{BB962C8B-B14F-4D97-AF65-F5344CB8AC3E}">
        <p14:creationId xmlns:p14="http://schemas.microsoft.com/office/powerpoint/2010/main" val="1177224594"/>
      </p:ext>
    </p:extLst>
  </p:cSld>
</p:sld>
</file>

<file path=ppt/slides/slide15.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76" name="Google Shape;276;p17">
            <a:extLst xmlns:a="http://schemas.openxmlformats.org/drawingml/2006/main">
              <a:ext uri="{FF2B5EF4-FFF2-40B4-BE49-F238E27FC236}">
                <a16:creationId xmlns:a16="http://schemas.microsoft.com/office/drawing/2014/main" id="{471A11B6-923F-4066-8245-817083F741AA}"/>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7" name="Google Shape;277;p17">
            <a:extLst xmlns:a="http://schemas.openxmlformats.org/drawingml/2006/main">
              <a:ext uri="{FF2B5EF4-FFF2-40B4-BE49-F238E27FC236}">
                <a16:creationId xmlns:a16="http://schemas.microsoft.com/office/drawing/2014/main" id="{3FD1DC4B-9856-4202-9DC7-D50B3EF044E7}"/>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8" name="Google Shape;278;p17">
            <a:extLst xmlns:a="http://schemas.openxmlformats.org/drawingml/2006/main">
              <a:ext uri="{FF2B5EF4-FFF2-40B4-BE49-F238E27FC236}">
                <a16:creationId xmlns:a16="http://schemas.microsoft.com/office/drawing/2014/main" id="{3B8EC5EE-0BBC-49E9-88D6-2A84D00D19C8}"/>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9" name="Google Shape;279;p17">
            <a:extLst xmlns:a="http://schemas.openxmlformats.org/drawingml/2006/main">
              <a:ext uri="{FF2B5EF4-FFF2-40B4-BE49-F238E27FC236}">
                <a16:creationId xmlns:a16="http://schemas.microsoft.com/office/drawing/2014/main" id="{B7AFF428-7BDB-4390-85E9-4BC1E31024D6}"/>
              </a:ext>
            </a:extLst>
          </p:cNvPr>
          <p:cNvSpPr>
            <a:spLocks xmlns:a="http://schemas.openxmlformats.org/drawingml/2006/main" noGrp="1"/>
          </p:cNvSpPr>
          <p:nvPr/>
        </p:nvSpPr>
        <p:spPr>
          <a:xfrm xmlns:a="http://schemas.openxmlformats.org/drawingml/2006/main">
            <a:off x="411480" y="6236208"/>
            <a:ext cx="49377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APPROVAL</a:t>
            </a:r>
          </a:p>
        </p:txBody>
      </p:sp>
      <p:sp>
        <p:nvSpPr>
          <p:cNvPr id="280" name="Google Shape;280;p17">
            <a:extLst xmlns:a="http://schemas.openxmlformats.org/drawingml/2006/main">
              <a:ext uri="{FF2B5EF4-FFF2-40B4-BE49-F238E27FC236}">
                <a16:creationId xmlns:a16="http://schemas.microsoft.com/office/drawing/2014/main" id="{E6AB099A-4F5E-4EE9-BD1B-A826D9A2D128}"/>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281" name="Google Shape;281;p17">
            <a:extLst xmlns:a="http://schemas.openxmlformats.org/drawingml/2006/main">
              <a:ext uri="{FF2B5EF4-FFF2-40B4-BE49-F238E27FC236}">
                <a16:creationId xmlns:a16="http://schemas.microsoft.com/office/drawing/2014/main" id="{C29A1523-9217-4AB4-A890-9822119EDD64}"/>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03</a:t>
            </a:r>
          </a:p>
        </p:txBody>
      </p:sp>
      <p:sp>
        <p:nvSpPr>
          <p:cNvPr id="282" name="Google Shape;282;p17">
            <a:extLst xmlns:a="http://schemas.openxmlformats.org/drawingml/2006/main">
              <a:ext uri="{FF2B5EF4-FFF2-40B4-BE49-F238E27FC236}">
                <a16:creationId xmlns:a16="http://schemas.microsoft.com/office/drawing/2014/main" id="{0FE9D239-3BEF-45A8-B78F-A12410CBCD98}"/>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The Approval Pathway</a:t>
            </a:r>
          </a:p>
        </p:txBody>
      </p:sp>
      <p:sp>
        <p:nvSpPr>
          <p:cNvPr id="283" name="Google Shape;283;p17">
            <a:extLst xmlns:a="http://schemas.openxmlformats.org/drawingml/2006/main">
              <a:ext uri="{FF2B5EF4-FFF2-40B4-BE49-F238E27FC236}">
                <a16:creationId xmlns:a16="http://schemas.microsoft.com/office/drawing/2014/main" id="{5549CD8F-B9ED-4CA5-B6AD-097A3A34C094}"/>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Approval is a decision point, not a formality.</a:t>
            </a:r>
          </a:p>
        </p:txBody>
      </p:sp>
      <p:cxnSp>
        <p:nvCxnSpPr>
          <p:cNvPr id="317" name="Google Shape;284;p17"/>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285" name="Google Shape;285;p17">
            <a:extLst xmlns:a="http://schemas.openxmlformats.org/drawingml/2006/main">
              <a:ext uri="{FF2B5EF4-FFF2-40B4-BE49-F238E27FC236}">
                <a16:creationId xmlns:a16="http://schemas.microsoft.com/office/drawing/2014/main" id="{34CAC73F-E47E-403F-B86C-88B1A785BBAE}"/>
              </a:ext>
            </a:extLst>
          </p:cNvPr>
          <p:cNvSpPr>
            <a:spLocks xmlns:a="http://schemas.openxmlformats.org/drawingml/2006/main" noGrp="1"/>
          </p:cNvSpPr>
          <p:nvPr/>
        </p:nvSpPr>
        <p:spPr>
          <a:xfrm xmlns:a="http://schemas.openxmlformats.org/drawingml/2006/main">
            <a:off x="777240" y="2331720"/>
            <a:ext cx="1481328" cy="1143000"/>
          </a:xfrm>
          <a:prstGeom xmlns:a="http://schemas.openxmlformats.org/drawingml/2006/main" prst="roundRect">
            <a:avLst>
              <a:gd name="adj" fmla="val 4800"/>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86" name="Google Shape;286;p17">
            <a:extLst xmlns:a="http://schemas.openxmlformats.org/drawingml/2006/main">
              <a:ext uri="{FF2B5EF4-FFF2-40B4-BE49-F238E27FC236}">
                <a16:creationId xmlns:a16="http://schemas.microsoft.com/office/drawing/2014/main" id="{D962191D-07EA-473A-AFE2-303B1BC7544B}"/>
              </a:ext>
            </a:extLst>
          </p:cNvPr>
          <p:cNvSpPr>
            <a:spLocks xmlns:a="http://schemas.openxmlformats.org/drawingml/2006/main" noGrp="1"/>
          </p:cNvSpPr>
          <p:nvPr/>
        </p:nvSpPr>
        <p:spPr>
          <a:xfrm xmlns:a="http://schemas.openxmlformats.org/drawingml/2006/main">
            <a:off x="941832" y="2468880"/>
            <a:ext cx="1152144"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1</a:t>
            </a:r>
          </a:p>
        </p:txBody>
      </p:sp>
      <p:sp>
        <p:nvSpPr>
          <p:cNvPr id="287" name="Google Shape;287;p17">
            <a:extLst xmlns:a="http://schemas.openxmlformats.org/drawingml/2006/main">
              <a:ext uri="{FF2B5EF4-FFF2-40B4-BE49-F238E27FC236}">
                <a16:creationId xmlns:a16="http://schemas.microsoft.com/office/drawing/2014/main" id="{4AD3694E-EF57-4D45-8A83-10EA675141C1}"/>
              </a:ext>
            </a:extLst>
          </p:cNvPr>
          <p:cNvSpPr>
            <a:spLocks xmlns:a="http://schemas.openxmlformats.org/drawingml/2006/main" noGrp="1"/>
          </p:cNvSpPr>
          <p:nvPr/>
        </p:nvSpPr>
        <p:spPr>
          <a:xfrm xmlns:a="http://schemas.openxmlformats.org/drawingml/2006/main">
            <a:off x="941832" y="2834640"/>
            <a:ext cx="1152144" cy="4846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500"/>
              <a:buFont typeface="Arial"/>
              <a:buNone/>
            </a:pPr>
            <a:r>
              <a:rPr sz="1500">
                <a:solidFill>
                  <a:srgbClr val="FFFFFF"/>
                </a:solidFill>
                <a:latin typeface="Arial"/>
                <a:ea typeface="Arial"/>
                <a:cs typeface="Arial"/>
              </a:rPr>
              <a:t>Idea screening</a:t>
            </a:r>
          </a:p>
        </p:txBody>
      </p:sp>
      <p:cxnSp>
        <p:nvCxnSpPr>
          <p:cNvPr id="321" name="Google Shape;288;p17"/>
          <p:cNvCxnSpPr/>
          <p:nvPr/>
        </p:nvCxnSpPr>
        <p:spPr>
          <a:xfrm xmlns:a="http://schemas.openxmlformats.org/drawingml/2006/main">
            <a:off x="2276856" y="2907792"/>
            <a:ext cx="356616" cy="0"/>
          </a:xfrm>
          <a:prstGeom xmlns:a="http://schemas.openxmlformats.org/drawingml/2006/main" prst="straightConnector1">
            <a:avLst/>
          </a:prstGeom>
          <a:ln xmlns:a="http://schemas.openxmlformats.org/drawingml/2006/main" w="12700" cap="flat">
            <a:solidFill>
              <a:srgbClr val="B8B8B8"/>
            </a:solidFill>
            <a:prstDash val="solid"/>
            <a:round/>
            <a:headEnd type="none" w="sm" len="sm"/>
            <a:tailEnd type="triangle" w="med" len="med"/>
          </a:ln>
        </p:spPr>
      </p:cxnSp>
      <p:sp>
        <p:nvSpPr>
          <p:cNvPr id="289" name="Google Shape;289;p17">
            <a:extLst xmlns:a="http://schemas.openxmlformats.org/drawingml/2006/main">
              <a:ext uri="{FF2B5EF4-FFF2-40B4-BE49-F238E27FC236}">
                <a16:creationId xmlns:a16="http://schemas.microsoft.com/office/drawing/2014/main" id="{580360A3-5D3A-492B-BFA8-687377ACC347}"/>
              </a:ext>
            </a:extLst>
          </p:cNvPr>
          <p:cNvSpPr>
            <a:spLocks xmlns:a="http://schemas.openxmlformats.org/drawingml/2006/main" noGrp="1"/>
          </p:cNvSpPr>
          <p:nvPr/>
        </p:nvSpPr>
        <p:spPr>
          <a:xfrm xmlns:a="http://schemas.openxmlformats.org/drawingml/2006/main">
            <a:off x="2651760" y="2331720"/>
            <a:ext cx="1481328" cy="1143000"/>
          </a:xfrm>
          <a:prstGeom xmlns:a="http://schemas.openxmlformats.org/drawingml/2006/main" prst="roundRect">
            <a:avLst>
              <a:gd name="adj" fmla="val 4800"/>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0" name="Google Shape;290;p17">
            <a:extLst xmlns:a="http://schemas.openxmlformats.org/drawingml/2006/main">
              <a:ext uri="{FF2B5EF4-FFF2-40B4-BE49-F238E27FC236}">
                <a16:creationId xmlns:a16="http://schemas.microsoft.com/office/drawing/2014/main" id="{52CBD59D-5F36-4083-A3EA-A505E3EC5B45}"/>
              </a:ext>
            </a:extLst>
          </p:cNvPr>
          <p:cNvSpPr>
            <a:spLocks xmlns:a="http://schemas.openxmlformats.org/drawingml/2006/main" noGrp="1"/>
          </p:cNvSpPr>
          <p:nvPr/>
        </p:nvSpPr>
        <p:spPr>
          <a:xfrm xmlns:a="http://schemas.openxmlformats.org/drawingml/2006/main">
            <a:off x="2816352" y="2468880"/>
            <a:ext cx="1152144"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2</a:t>
            </a:r>
          </a:p>
        </p:txBody>
      </p:sp>
      <p:sp>
        <p:nvSpPr>
          <p:cNvPr id="291" name="Google Shape;291;p17">
            <a:extLst xmlns:a="http://schemas.openxmlformats.org/drawingml/2006/main">
              <a:ext uri="{FF2B5EF4-FFF2-40B4-BE49-F238E27FC236}">
                <a16:creationId xmlns:a16="http://schemas.microsoft.com/office/drawing/2014/main" id="{200504BB-66BD-4466-A83F-DB57F0928605}"/>
              </a:ext>
            </a:extLst>
          </p:cNvPr>
          <p:cNvSpPr>
            <a:spLocks xmlns:a="http://schemas.openxmlformats.org/drawingml/2006/main" noGrp="1"/>
          </p:cNvSpPr>
          <p:nvPr/>
        </p:nvSpPr>
        <p:spPr>
          <a:xfrm xmlns:a="http://schemas.openxmlformats.org/drawingml/2006/main">
            <a:off x="2816352" y="2834640"/>
            <a:ext cx="1152144" cy="4846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500"/>
              <a:buFont typeface="Arial"/>
              <a:buNone/>
            </a:pPr>
            <a:r>
              <a:rPr sz="1500">
                <a:solidFill>
                  <a:srgbClr val="FFFFFF"/>
                </a:solidFill>
                <a:latin typeface="Arial"/>
                <a:ea typeface="Arial"/>
                <a:cs typeface="Arial"/>
              </a:rPr>
              <a:t>Research plan</a:t>
            </a:r>
          </a:p>
        </p:txBody>
      </p:sp>
      <p:cxnSp>
        <p:nvCxnSpPr>
          <p:cNvPr id="325" name="Google Shape;292;p17"/>
          <p:cNvCxnSpPr/>
          <p:nvPr/>
        </p:nvCxnSpPr>
        <p:spPr>
          <a:xfrm xmlns:a="http://schemas.openxmlformats.org/drawingml/2006/main">
            <a:off x="4151376" y="2907792"/>
            <a:ext cx="356616" cy="0"/>
          </a:xfrm>
          <a:prstGeom xmlns:a="http://schemas.openxmlformats.org/drawingml/2006/main" prst="straightConnector1">
            <a:avLst/>
          </a:prstGeom>
          <a:ln xmlns:a="http://schemas.openxmlformats.org/drawingml/2006/main" w="12700" cap="flat">
            <a:solidFill>
              <a:srgbClr val="B8B8B8"/>
            </a:solidFill>
            <a:prstDash val="solid"/>
            <a:round/>
            <a:headEnd type="none" w="sm" len="sm"/>
            <a:tailEnd type="triangle" w="med" len="med"/>
          </a:ln>
        </p:spPr>
      </p:cxnSp>
      <p:sp>
        <p:nvSpPr>
          <p:cNvPr id="293" name="Google Shape;293;p17">
            <a:extLst xmlns:a="http://schemas.openxmlformats.org/drawingml/2006/main">
              <a:ext uri="{FF2B5EF4-FFF2-40B4-BE49-F238E27FC236}">
                <a16:creationId xmlns:a16="http://schemas.microsoft.com/office/drawing/2014/main" id="{834CB36A-75A2-4C7E-814E-F9008A30653C}"/>
              </a:ext>
            </a:extLst>
          </p:cNvPr>
          <p:cNvSpPr>
            <a:spLocks xmlns:a="http://schemas.openxmlformats.org/drawingml/2006/main" noGrp="1"/>
          </p:cNvSpPr>
          <p:nvPr/>
        </p:nvSpPr>
        <p:spPr>
          <a:xfrm xmlns:a="http://schemas.openxmlformats.org/drawingml/2006/main">
            <a:off x="4526280" y="2331720"/>
            <a:ext cx="1481328" cy="1143000"/>
          </a:xfrm>
          <a:prstGeom xmlns:a="http://schemas.openxmlformats.org/drawingml/2006/main" prst="roundRect">
            <a:avLst>
              <a:gd name="adj" fmla="val 4800"/>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4" name="Google Shape;294;p17">
            <a:extLst xmlns:a="http://schemas.openxmlformats.org/drawingml/2006/main">
              <a:ext uri="{FF2B5EF4-FFF2-40B4-BE49-F238E27FC236}">
                <a16:creationId xmlns:a16="http://schemas.microsoft.com/office/drawing/2014/main" id="{12F3FF24-8B18-4C08-A599-35FB2D484AD8}"/>
              </a:ext>
            </a:extLst>
          </p:cNvPr>
          <p:cNvSpPr>
            <a:spLocks xmlns:a="http://schemas.openxmlformats.org/drawingml/2006/main" noGrp="1"/>
          </p:cNvSpPr>
          <p:nvPr/>
        </p:nvSpPr>
        <p:spPr>
          <a:xfrm xmlns:a="http://schemas.openxmlformats.org/drawingml/2006/main">
            <a:off x="4690872" y="2468880"/>
            <a:ext cx="1152144"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3</a:t>
            </a:r>
          </a:p>
        </p:txBody>
      </p:sp>
      <p:sp>
        <p:nvSpPr>
          <p:cNvPr id="295" name="Google Shape;295;p17">
            <a:extLst xmlns:a="http://schemas.openxmlformats.org/drawingml/2006/main">
              <a:ext uri="{FF2B5EF4-FFF2-40B4-BE49-F238E27FC236}">
                <a16:creationId xmlns:a16="http://schemas.microsoft.com/office/drawing/2014/main" id="{B1FAA00A-2579-43AC-9695-4EC072B039AA}"/>
              </a:ext>
            </a:extLst>
          </p:cNvPr>
          <p:cNvSpPr>
            <a:spLocks xmlns:a="http://schemas.openxmlformats.org/drawingml/2006/main" noGrp="1"/>
          </p:cNvSpPr>
          <p:nvPr/>
        </p:nvSpPr>
        <p:spPr>
          <a:xfrm xmlns:a="http://schemas.openxmlformats.org/drawingml/2006/main">
            <a:off x="4690872" y="2834640"/>
            <a:ext cx="1152144" cy="4846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500"/>
              <a:buFont typeface="Arial"/>
              <a:buNone/>
            </a:pPr>
            <a:r>
              <a:rPr sz="1500">
                <a:solidFill>
                  <a:srgbClr val="FFFFFF"/>
                </a:solidFill>
                <a:latin typeface="Arial"/>
                <a:ea typeface="Arial"/>
                <a:cs typeface="Arial"/>
              </a:rPr>
              <a:t>Safety + ethics review</a:t>
            </a:r>
          </a:p>
        </p:txBody>
      </p:sp>
      <p:cxnSp>
        <p:nvCxnSpPr>
          <p:cNvPr id="329" name="Google Shape;296;p17"/>
          <p:cNvCxnSpPr/>
          <p:nvPr/>
        </p:nvCxnSpPr>
        <p:spPr>
          <a:xfrm xmlns:a="http://schemas.openxmlformats.org/drawingml/2006/main">
            <a:off x="6025896" y="2907792"/>
            <a:ext cx="356616" cy="0"/>
          </a:xfrm>
          <a:prstGeom xmlns:a="http://schemas.openxmlformats.org/drawingml/2006/main" prst="straightConnector1">
            <a:avLst/>
          </a:prstGeom>
          <a:ln xmlns:a="http://schemas.openxmlformats.org/drawingml/2006/main" w="12700" cap="flat">
            <a:solidFill>
              <a:srgbClr val="B8B8B8"/>
            </a:solidFill>
            <a:prstDash val="solid"/>
            <a:round/>
            <a:headEnd type="none" w="sm" len="sm"/>
            <a:tailEnd type="triangle" w="med" len="med"/>
          </a:ln>
        </p:spPr>
      </p:cxnSp>
      <p:sp>
        <p:nvSpPr>
          <p:cNvPr id="297" name="Google Shape;297;p17">
            <a:extLst xmlns:a="http://schemas.openxmlformats.org/drawingml/2006/main">
              <a:ext uri="{FF2B5EF4-FFF2-40B4-BE49-F238E27FC236}">
                <a16:creationId xmlns:a16="http://schemas.microsoft.com/office/drawing/2014/main" id="{A2089431-9280-4D32-AC4C-E4640827E4C3}"/>
              </a:ext>
            </a:extLst>
          </p:cNvPr>
          <p:cNvSpPr>
            <a:spLocks xmlns:a="http://schemas.openxmlformats.org/drawingml/2006/main" noGrp="1"/>
          </p:cNvSpPr>
          <p:nvPr/>
        </p:nvSpPr>
        <p:spPr>
          <a:xfrm xmlns:a="http://schemas.openxmlformats.org/drawingml/2006/main">
            <a:off x="6400800" y="2331720"/>
            <a:ext cx="1481328" cy="1143000"/>
          </a:xfrm>
          <a:prstGeom xmlns:a="http://schemas.openxmlformats.org/drawingml/2006/main" prst="roundRect">
            <a:avLst>
              <a:gd name="adj" fmla="val 4800"/>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8" name="Google Shape;298;p17">
            <a:extLst xmlns:a="http://schemas.openxmlformats.org/drawingml/2006/main">
              <a:ext uri="{FF2B5EF4-FFF2-40B4-BE49-F238E27FC236}">
                <a16:creationId xmlns:a16="http://schemas.microsoft.com/office/drawing/2014/main" id="{23C96330-81C3-4A32-AAC0-2F68997B1D40}"/>
              </a:ext>
            </a:extLst>
          </p:cNvPr>
          <p:cNvSpPr>
            <a:spLocks xmlns:a="http://schemas.openxmlformats.org/drawingml/2006/main" noGrp="1"/>
          </p:cNvSpPr>
          <p:nvPr/>
        </p:nvSpPr>
        <p:spPr>
          <a:xfrm xmlns:a="http://schemas.openxmlformats.org/drawingml/2006/main">
            <a:off x="6565392" y="2468880"/>
            <a:ext cx="1152144"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4</a:t>
            </a:r>
          </a:p>
        </p:txBody>
      </p:sp>
      <p:sp>
        <p:nvSpPr>
          <p:cNvPr id="299" name="Google Shape;299;p17">
            <a:extLst xmlns:a="http://schemas.openxmlformats.org/drawingml/2006/main">
              <a:ext uri="{FF2B5EF4-FFF2-40B4-BE49-F238E27FC236}">
                <a16:creationId xmlns:a16="http://schemas.microsoft.com/office/drawing/2014/main" id="{2228D081-E47E-4D2C-8408-C25394CCD104}"/>
              </a:ext>
            </a:extLst>
          </p:cNvPr>
          <p:cNvSpPr>
            <a:spLocks xmlns:a="http://schemas.openxmlformats.org/drawingml/2006/main" noGrp="1"/>
          </p:cNvSpPr>
          <p:nvPr/>
        </p:nvSpPr>
        <p:spPr>
          <a:xfrm xmlns:a="http://schemas.openxmlformats.org/drawingml/2006/main">
            <a:off x="6565392" y="2834640"/>
            <a:ext cx="1152144" cy="4846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500"/>
              <a:buFont typeface="Arial"/>
              <a:buNone/>
            </a:pPr>
            <a:r>
              <a:rPr sz="1500">
                <a:solidFill>
                  <a:srgbClr val="FFFFFF"/>
                </a:solidFill>
                <a:latin typeface="Arial"/>
                <a:ea typeface="Arial"/>
                <a:cs typeface="Arial"/>
              </a:rPr>
              <a:t>Approval status</a:t>
            </a:r>
          </a:p>
        </p:txBody>
      </p:sp>
      <p:cxnSp>
        <p:nvCxnSpPr>
          <p:cNvPr id="333" name="Google Shape;300;p17"/>
          <p:cNvCxnSpPr/>
          <p:nvPr/>
        </p:nvCxnSpPr>
        <p:spPr>
          <a:xfrm xmlns:a="http://schemas.openxmlformats.org/drawingml/2006/main">
            <a:off x="7900416" y="2907792"/>
            <a:ext cx="356616" cy="0"/>
          </a:xfrm>
          <a:prstGeom xmlns:a="http://schemas.openxmlformats.org/drawingml/2006/main" prst="straightConnector1">
            <a:avLst/>
          </a:prstGeom>
          <a:ln xmlns:a="http://schemas.openxmlformats.org/drawingml/2006/main" w="12700" cap="flat">
            <a:solidFill>
              <a:srgbClr val="B8B8B8"/>
            </a:solidFill>
            <a:prstDash val="solid"/>
            <a:round/>
            <a:headEnd type="none" w="sm" len="sm"/>
            <a:tailEnd type="triangle" w="med" len="med"/>
          </a:ln>
        </p:spPr>
      </p:cxnSp>
      <p:sp>
        <p:nvSpPr>
          <p:cNvPr id="301" name="Google Shape;301;p17">
            <a:extLst xmlns:a="http://schemas.openxmlformats.org/drawingml/2006/main">
              <a:ext uri="{FF2B5EF4-FFF2-40B4-BE49-F238E27FC236}">
                <a16:creationId xmlns:a16="http://schemas.microsoft.com/office/drawing/2014/main" id="{9F044B34-CADF-460C-8B19-9FE6973E3F07}"/>
              </a:ext>
            </a:extLst>
          </p:cNvPr>
          <p:cNvSpPr>
            <a:spLocks xmlns:a="http://schemas.openxmlformats.org/drawingml/2006/main" noGrp="1"/>
          </p:cNvSpPr>
          <p:nvPr/>
        </p:nvSpPr>
        <p:spPr>
          <a:xfrm xmlns:a="http://schemas.openxmlformats.org/drawingml/2006/main">
            <a:off x="8275320" y="2331720"/>
            <a:ext cx="1481328" cy="1143000"/>
          </a:xfrm>
          <a:prstGeom xmlns:a="http://schemas.openxmlformats.org/drawingml/2006/main" prst="roundRect">
            <a:avLst>
              <a:gd name="adj" fmla="val 4800"/>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2" name="Google Shape;302;p17">
            <a:extLst xmlns:a="http://schemas.openxmlformats.org/drawingml/2006/main">
              <a:ext uri="{FF2B5EF4-FFF2-40B4-BE49-F238E27FC236}">
                <a16:creationId xmlns:a16="http://schemas.microsoft.com/office/drawing/2014/main" id="{AC972843-D560-494A-AD7F-C45BB8BEAC49}"/>
              </a:ext>
            </a:extLst>
          </p:cNvPr>
          <p:cNvSpPr>
            <a:spLocks xmlns:a="http://schemas.openxmlformats.org/drawingml/2006/main" noGrp="1"/>
          </p:cNvSpPr>
          <p:nvPr/>
        </p:nvSpPr>
        <p:spPr>
          <a:xfrm xmlns:a="http://schemas.openxmlformats.org/drawingml/2006/main">
            <a:off x="8439912" y="2468880"/>
            <a:ext cx="1152144"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5</a:t>
            </a:r>
          </a:p>
        </p:txBody>
      </p:sp>
      <p:sp>
        <p:nvSpPr>
          <p:cNvPr id="303" name="Google Shape;303;p17">
            <a:extLst xmlns:a="http://schemas.openxmlformats.org/drawingml/2006/main">
              <a:ext uri="{FF2B5EF4-FFF2-40B4-BE49-F238E27FC236}">
                <a16:creationId xmlns:a16="http://schemas.microsoft.com/office/drawing/2014/main" id="{AF942BFF-C660-43DC-BBA2-08B6823C3AC6}"/>
              </a:ext>
            </a:extLst>
          </p:cNvPr>
          <p:cNvSpPr>
            <a:spLocks xmlns:a="http://schemas.openxmlformats.org/drawingml/2006/main" noGrp="1"/>
          </p:cNvSpPr>
          <p:nvPr/>
        </p:nvSpPr>
        <p:spPr>
          <a:xfrm xmlns:a="http://schemas.openxmlformats.org/drawingml/2006/main">
            <a:off x="8439912" y="2834640"/>
            <a:ext cx="1152144" cy="4846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500"/>
              <a:buFont typeface="Arial"/>
              <a:buNone/>
            </a:pPr>
            <a:r>
              <a:rPr sz="1500">
                <a:solidFill>
                  <a:srgbClr val="FFFFFF"/>
                </a:solidFill>
                <a:latin typeface="Arial"/>
                <a:ea typeface="Arial"/>
                <a:cs typeface="Arial"/>
              </a:rPr>
              <a:t>Pilot testing</a:t>
            </a:r>
          </a:p>
        </p:txBody>
      </p:sp>
      <p:cxnSp>
        <p:nvCxnSpPr>
          <p:cNvPr id="337" name="Google Shape;304;p17"/>
          <p:cNvCxnSpPr/>
          <p:nvPr/>
        </p:nvCxnSpPr>
        <p:spPr>
          <a:xfrm xmlns:a="http://schemas.openxmlformats.org/drawingml/2006/main">
            <a:off x="9774936" y="2907792"/>
            <a:ext cx="356616" cy="0"/>
          </a:xfrm>
          <a:prstGeom xmlns:a="http://schemas.openxmlformats.org/drawingml/2006/main" prst="straightConnector1">
            <a:avLst/>
          </a:prstGeom>
          <a:ln xmlns:a="http://schemas.openxmlformats.org/drawingml/2006/main" w="12700" cap="flat">
            <a:solidFill>
              <a:srgbClr val="B8B8B8"/>
            </a:solidFill>
            <a:prstDash val="solid"/>
            <a:round/>
            <a:headEnd type="none" w="sm" len="sm"/>
            <a:tailEnd type="triangle" w="med" len="med"/>
          </a:ln>
        </p:spPr>
      </p:cxnSp>
      <p:sp>
        <p:nvSpPr>
          <p:cNvPr id="305" name="Google Shape;305;p17">
            <a:extLst xmlns:a="http://schemas.openxmlformats.org/drawingml/2006/main">
              <a:ext uri="{FF2B5EF4-FFF2-40B4-BE49-F238E27FC236}">
                <a16:creationId xmlns:a16="http://schemas.microsoft.com/office/drawing/2014/main" id="{FD98954B-75E7-4CF8-BA63-DAC99F6B3AA2}"/>
              </a:ext>
            </a:extLst>
          </p:cNvPr>
          <p:cNvSpPr>
            <a:spLocks xmlns:a="http://schemas.openxmlformats.org/drawingml/2006/main" noGrp="1"/>
          </p:cNvSpPr>
          <p:nvPr/>
        </p:nvSpPr>
        <p:spPr>
          <a:xfrm xmlns:a="http://schemas.openxmlformats.org/drawingml/2006/main">
            <a:off x="10149840" y="2331720"/>
            <a:ext cx="1481328" cy="1143000"/>
          </a:xfrm>
          <a:prstGeom xmlns:a="http://schemas.openxmlformats.org/drawingml/2006/main" prst="roundRect">
            <a:avLst>
              <a:gd name="adj" fmla="val 4800"/>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6" name="Google Shape;306;p17">
            <a:extLst xmlns:a="http://schemas.openxmlformats.org/drawingml/2006/main">
              <a:ext uri="{FF2B5EF4-FFF2-40B4-BE49-F238E27FC236}">
                <a16:creationId xmlns:a16="http://schemas.microsoft.com/office/drawing/2014/main" id="{652DECCF-8EBD-4FB7-B054-3C8ACAFE60B4}"/>
              </a:ext>
            </a:extLst>
          </p:cNvPr>
          <p:cNvSpPr>
            <a:spLocks xmlns:a="http://schemas.openxmlformats.org/drawingml/2006/main" noGrp="1"/>
          </p:cNvSpPr>
          <p:nvPr/>
        </p:nvSpPr>
        <p:spPr>
          <a:xfrm xmlns:a="http://schemas.openxmlformats.org/drawingml/2006/main">
            <a:off x="10314432" y="2468880"/>
            <a:ext cx="1152144"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6</a:t>
            </a:r>
          </a:p>
        </p:txBody>
      </p:sp>
      <p:sp>
        <p:nvSpPr>
          <p:cNvPr id="307" name="Google Shape;307;p17">
            <a:extLst xmlns:a="http://schemas.openxmlformats.org/drawingml/2006/main">
              <a:ext uri="{FF2B5EF4-FFF2-40B4-BE49-F238E27FC236}">
                <a16:creationId xmlns:a16="http://schemas.microsoft.com/office/drawing/2014/main" id="{7A576F5A-E0C0-4991-B471-10C926E48B4C}"/>
              </a:ext>
            </a:extLst>
          </p:cNvPr>
          <p:cNvSpPr>
            <a:spLocks xmlns:a="http://schemas.openxmlformats.org/drawingml/2006/main" noGrp="1"/>
          </p:cNvSpPr>
          <p:nvPr/>
        </p:nvSpPr>
        <p:spPr>
          <a:xfrm xmlns:a="http://schemas.openxmlformats.org/drawingml/2006/main">
            <a:off x="10314432" y="2834640"/>
            <a:ext cx="1152144" cy="4846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500"/>
              <a:buFont typeface="Arial"/>
              <a:buNone/>
            </a:pPr>
            <a:r>
              <a:rPr sz="1500">
                <a:solidFill>
                  <a:srgbClr val="FFFFFF"/>
                </a:solidFill>
                <a:latin typeface="Arial"/>
                <a:ea typeface="Arial"/>
                <a:cs typeface="Arial"/>
              </a:rPr>
              <a:t>Revision if needed</a:t>
            </a:r>
          </a:p>
        </p:txBody>
      </p:sp>
      <p:sp>
        <p:nvSpPr>
          <p:cNvPr id="308" name="Google Shape;308;p17">
            <a:extLst xmlns:a="http://schemas.openxmlformats.org/drawingml/2006/main">
              <a:ext uri="{FF2B5EF4-FFF2-40B4-BE49-F238E27FC236}">
                <a16:creationId xmlns:a16="http://schemas.microsoft.com/office/drawing/2014/main" id="{E3E08D6A-DF1C-43F3-BABC-9CD6796B00D9}"/>
              </a:ext>
            </a:extLst>
          </p:cNvPr>
          <p:cNvSpPr>
            <a:spLocks xmlns:a="http://schemas.openxmlformats.org/drawingml/2006/main" noGrp="1"/>
          </p:cNvSpPr>
          <p:nvPr/>
        </p:nvSpPr>
        <p:spPr>
          <a:xfrm xmlns:a="http://schemas.openxmlformats.org/drawingml/2006/main">
            <a:off x="914400" y="4572000"/>
            <a:ext cx="1033272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ctr">
              <a:spcBef>
                <a:spcPts val="0"/>
              </a:spcBef>
              <a:spcAft>
                <a:spcPts val="0"/>
              </a:spcAft>
              <a:buClr>
                <a:srgbClr val="FFFFFF"/>
              </a:buClr>
              <a:buSzPts val="2200"/>
              <a:buFont typeface="Play"/>
              <a:buNone/>
            </a:pPr>
            <a:r>
              <a:rPr sz="2200" b="1">
                <a:solidFill>
                  <a:srgbClr val="FFFFFF"/>
                </a:solidFill>
                <a:latin typeface="Play"/>
                <a:ea typeface="Play"/>
                <a:cs typeface="Play"/>
              </a:rPr>
              <a:t>Possible outcomes: proceed • revise • seek additional review • not approved in this form</a:t>
            </a:r>
          </a:p>
        </p:txBody>
      </p:sp>
    </p:spTree>
    <p:extLst>
      <p:ext uri="{BB962C8B-B14F-4D97-AF65-F5344CB8AC3E}">
        <p14:creationId xmlns:p14="http://schemas.microsoft.com/office/powerpoint/2010/main" val="838331465"/>
      </p:ext>
    </p:extLst>
  </p:cSld>
</p:sld>
</file>

<file path=ppt/slides/slide16.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314" name="Google Shape;314;p18">
            <a:extLst xmlns:a="http://schemas.openxmlformats.org/drawingml/2006/main">
              <a:ext uri="{FF2B5EF4-FFF2-40B4-BE49-F238E27FC236}">
                <a16:creationId xmlns:a16="http://schemas.microsoft.com/office/drawing/2014/main" id="{2E302D90-77A1-4C42-A7D9-E9D9634F495E}"/>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15" name="Google Shape;315;p18">
            <a:extLst xmlns:a="http://schemas.openxmlformats.org/drawingml/2006/main">
              <a:ext uri="{FF2B5EF4-FFF2-40B4-BE49-F238E27FC236}">
                <a16:creationId xmlns:a16="http://schemas.microsoft.com/office/drawing/2014/main" id="{0F290732-2A2A-42C8-9605-2F66500EB723}"/>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16" name="Google Shape;316;p18">
            <a:extLst xmlns:a="http://schemas.openxmlformats.org/drawingml/2006/main">
              <a:ext uri="{FF2B5EF4-FFF2-40B4-BE49-F238E27FC236}">
                <a16:creationId xmlns:a16="http://schemas.microsoft.com/office/drawing/2014/main" id="{C34E08F6-C162-48C4-823F-5659B4C05D73}"/>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17" name="Google Shape;317;p18">
            <a:extLst xmlns:a="http://schemas.openxmlformats.org/drawingml/2006/main">
              <a:ext uri="{FF2B5EF4-FFF2-40B4-BE49-F238E27FC236}">
                <a16:creationId xmlns:a16="http://schemas.microsoft.com/office/drawing/2014/main" id="{EF4BD514-4B0D-497A-97E4-0E414B15D2B8}"/>
              </a:ext>
            </a:extLst>
          </p:cNvPr>
          <p:cNvSpPr>
            <a:spLocks xmlns:a="http://schemas.openxmlformats.org/drawingml/2006/main" noGrp="1"/>
          </p:cNvSpPr>
          <p:nvPr/>
        </p:nvSpPr>
        <p:spPr>
          <a:xfrm xmlns:a="http://schemas.openxmlformats.org/drawingml/2006/main">
            <a:off x="411480" y="6236208"/>
            <a:ext cx="49377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APPROVAL</a:t>
            </a:r>
          </a:p>
        </p:txBody>
      </p:sp>
      <p:sp>
        <p:nvSpPr>
          <p:cNvPr id="318" name="Google Shape;318;p18">
            <a:extLst xmlns:a="http://schemas.openxmlformats.org/drawingml/2006/main">
              <a:ext uri="{FF2B5EF4-FFF2-40B4-BE49-F238E27FC236}">
                <a16:creationId xmlns:a16="http://schemas.microsoft.com/office/drawing/2014/main" id="{B2085C06-07F7-4588-920E-24C381AA01D3}"/>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319" name="Google Shape;319;p18">
            <a:extLst xmlns:a="http://schemas.openxmlformats.org/drawingml/2006/main">
              <a:ext uri="{FF2B5EF4-FFF2-40B4-BE49-F238E27FC236}">
                <a16:creationId xmlns:a16="http://schemas.microsoft.com/office/drawing/2014/main" id="{F332F40C-CA56-42F6-9003-914297587430}"/>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03</a:t>
            </a:r>
          </a:p>
        </p:txBody>
      </p:sp>
      <p:sp>
        <p:nvSpPr>
          <p:cNvPr id="320" name="Google Shape;320;p18">
            <a:extLst xmlns:a="http://schemas.openxmlformats.org/drawingml/2006/main">
              <a:ext uri="{FF2B5EF4-FFF2-40B4-BE49-F238E27FC236}">
                <a16:creationId xmlns:a16="http://schemas.microsoft.com/office/drawing/2014/main" id="{C2B89DA9-674E-411E-9885-987841460485}"/>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Stop, Revise, or Proceed?</a:t>
            </a:r>
          </a:p>
        </p:txBody>
      </p:sp>
      <p:sp>
        <p:nvSpPr>
          <p:cNvPr id="321" name="Google Shape;321;p18">
            <a:extLst xmlns:a="http://schemas.openxmlformats.org/drawingml/2006/main">
              <a:ext uri="{FF2B5EF4-FFF2-40B4-BE49-F238E27FC236}">
                <a16:creationId xmlns:a16="http://schemas.microsoft.com/office/drawing/2014/main" id="{6969B2F2-6952-45C5-BF62-73B92C87EFAF}"/>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Use decision language before students start testing.</a:t>
            </a:r>
          </a:p>
        </p:txBody>
      </p:sp>
      <p:cxnSp>
        <p:nvCxnSpPr>
          <p:cNvPr id="338" name="Google Shape;322;p18"/>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323" name="Google Shape;323;p18">
            <a:extLst xmlns:a="http://schemas.openxmlformats.org/drawingml/2006/main">
              <a:ext uri="{FF2B5EF4-FFF2-40B4-BE49-F238E27FC236}">
                <a16:creationId xmlns:a16="http://schemas.microsoft.com/office/drawing/2014/main" id="{001135E9-0863-47C6-9A82-7ABE461B8A11}"/>
              </a:ext>
            </a:extLst>
          </p:cNvPr>
          <p:cNvSpPr>
            <a:spLocks xmlns:a="http://schemas.openxmlformats.org/drawingml/2006/main" noGrp="1"/>
          </p:cNvSpPr>
          <p:nvPr/>
        </p:nvSpPr>
        <p:spPr>
          <a:xfrm xmlns:a="http://schemas.openxmlformats.org/drawingml/2006/main">
            <a:off x="777240" y="1828800"/>
            <a:ext cx="5257800" cy="3017520"/>
          </a:xfrm>
          <a:prstGeom xmlns:a="http://schemas.openxmlformats.org/drawingml/2006/main" prst="roundRect">
            <a:avLst>
              <a:gd name="adj" fmla="val 1818"/>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24" name="Google Shape;324;p18">
            <a:extLst xmlns:a="http://schemas.openxmlformats.org/drawingml/2006/main">
              <a:ext uri="{FF2B5EF4-FFF2-40B4-BE49-F238E27FC236}">
                <a16:creationId xmlns:a16="http://schemas.microsoft.com/office/drawing/2014/main" id="{060114AB-7E05-47B3-9AFA-8890A894F1EE}"/>
              </a:ext>
            </a:extLst>
          </p:cNvPr>
          <p:cNvSpPr>
            <a:spLocks xmlns:a="http://schemas.openxmlformats.org/drawingml/2006/main" noGrp="1"/>
          </p:cNvSpPr>
          <p:nvPr/>
        </p:nvSpPr>
        <p:spPr>
          <a:xfrm xmlns:a="http://schemas.openxmlformats.org/drawingml/2006/main">
            <a:off x="941832" y="1965960"/>
            <a:ext cx="492861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STOP</a:t>
            </a:r>
          </a:p>
        </p:txBody>
      </p:sp>
      <p:sp>
        <p:nvSpPr>
          <p:cNvPr id="325" name="Google Shape;325;p18">
            <a:extLst xmlns:a="http://schemas.openxmlformats.org/drawingml/2006/main">
              <a:ext uri="{FF2B5EF4-FFF2-40B4-BE49-F238E27FC236}">
                <a16:creationId xmlns:a16="http://schemas.microsoft.com/office/drawing/2014/main" id="{D7DF599D-5293-40AE-8E60-0503702BB8AA}"/>
              </a:ext>
            </a:extLst>
          </p:cNvPr>
          <p:cNvSpPr>
            <a:spLocks xmlns:a="http://schemas.openxmlformats.org/drawingml/2006/main" noGrp="1"/>
          </p:cNvSpPr>
          <p:nvPr/>
        </p:nvSpPr>
        <p:spPr>
          <a:xfrm xmlns:a="http://schemas.openxmlformats.org/drawingml/2006/main">
            <a:off x="941832" y="2331720"/>
            <a:ext cx="4928616" cy="235915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Unapproved risk</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Unclear human-subject issues</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Unsafe materials</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Method change increases hazard</a:t>
            </a:r>
          </a:p>
        </p:txBody>
      </p:sp>
      <p:sp>
        <p:nvSpPr>
          <p:cNvPr id="326" name="Google Shape;326;p18">
            <a:extLst xmlns:a="http://schemas.openxmlformats.org/drawingml/2006/main">
              <a:ext uri="{FF2B5EF4-FFF2-40B4-BE49-F238E27FC236}">
                <a16:creationId xmlns:a16="http://schemas.microsoft.com/office/drawing/2014/main" id="{F321216F-6D68-400A-B301-4E9226460E9E}"/>
              </a:ext>
            </a:extLst>
          </p:cNvPr>
          <p:cNvSpPr>
            <a:spLocks xmlns:a="http://schemas.openxmlformats.org/drawingml/2006/main" noGrp="1"/>
          </p:cNvSpPr>
          <p:nvPr/>
        </p:nvSpPr>
        <p:spPr>
          <a:xfrm xmlns:a="http://schemas.openxmlformats.org/drawingml/2006/main">
            <a:off x="6172200" y="1828800"/>
            <a:ext cx="5257800" cy="3017520"/>
          </a:xfrm>
          <a:prstGeom xmlns:a="http://schemas.openxmlformats.org/drawingml/2006/main" prst="roundRect">
            <a:avLst>
              <a:gd name="adj" fmla="val 1818"/>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27" name="Google Shape;327;p18">
            <a:extLst xmlns:a="http://schemas.openxmlformats.org/drawingml/2006/main">
              <a:ext uri="{FF2B5EF4-FFF2-40B4-BE49-F238E27FC236}">
                <a16:creationId xmlns:a16="http://schemas.microsoft.com/office/drawing/2014/main" id="{9B28AC28-2F3E-46FB-B3E2-8DAC839C7400}"/>
              </a:ext>
            </a:extLst>
          </p:cNvPr>
          <p:cNvSpPr>
            <a:spLocks xmlns:a="http://schemas.openxmlformats.org/drawingml/2006/main" noGrp="1"/>
          </p:cNvSpPr>
          <p:nvPr/>
        </p:nvSpPr>
        <p:spPr>
          <a:xfrm xmlns:a="http://schemas.openxmlformats.org/drawingml/2006/main">
            <a:off x="6336792" y="1965960"/>
            <a:ext cx="492861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PROCEED</a:t>
            </a:r>
          </a:p>
        </p:txBody>
      </p:sp>
      <p:sp>
        <p:nvSpPr>
          <p:cNvPr id="328" name="Google Shape;328;p18">
            <a:extLst xmlns:a="http://schemas.openxmlformats.org/drawingml/2006/main">
              <a:ext uri="{FF2B5EF4-FFF2-40B4-BE49-F238E27FC236}">
                <a16:creationId xmlns:a16="http://schemas.microsoft.com/office/drawing/2014/main" id="{F180D73E-2ACE-4582-A473-FA05771A14DF}"/>
              </a:ext>
            </a:extLst>
          </p:cNvPr>
          <p:cNvSpPr>
            <a:spLocks xmlns:a="http://schemas.openxmlformats.org/drawingml/2006/main" noGrp="1"/>
          </p:cNvSpPr>
          <p:nvPr/>
        </p:nvSpPr>
        <p:spPr>
          <a:xfrm xmlns:a="http://schemas.openxmlformats.org/drawingml/2006/main">
            <a:off x="6336792" y="2331720"/>
            <a:ext cx="4928616" cy="235915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Approved plan</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Known risks controlled</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Data table ready</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Cleanup and storage planned</a:t>
            </a:r>
          </a:p>
        </p:txBody>
      </p:sp>
      <p:sp>
        <p:nvSpPr>
          <p:cNvPr id="329" name="Google Shape;329;p18">
            <a:extLst xmlns:a="http://schemas.openxmlformats.org/drawingml/2006/main">
              <a:ext uri="{FF2B5EF4-FFF2-40B4-BE49-F238E27FC236}">
                <a16:creationId xmlns:a16="http://schemas.microsoft.com/office/drawing/2014/main" id="{CC054531-AA20-4D83-881B-98914797B280}"/>
              </a:ext>
            </a:extLst>
          </p:cNvPr>
          <p:cNvSpPr>
            <a:spLocks xmlns:a="http://schemas.openxmlformats.org/drawingml/2006/main" noGrp="1"/>
          </p:cNvSpPr>
          <p:nvPr/>
        </p:nvSpPr>
        <p:spPr>
          <a:xfrm xmlns:a="http://schemas.openxmlformats.org/drawingml/2006/main">
            <a:off x="1005840" y="5257800"/>
            <a:ext cx="1014984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75" tIns="375" rIns="375" bIns="375" anchor="t">
            <a:noAutofit/>
          </a:bodyPr>
          <a:lstStyle xmlns:a="http://schemas.openxmlformats.org/drawingml/2006/main"/>
          <a:p xmlns:a="http://schemas.openxmlformats.org/drawingml/2006/main">
            <a:pPr marL="0" marR="0" indent="0" algn="ctr">
              <a:spcBef>
                <a:spcPts val="0"/>
              </a:spcBef>
              <a:spcAft>
                <a:spcPts val="0"/>
              </a:spcAft>
              <a:buClr>
                <a:srgbClr val="E22B27"/>
              </a:buClr>
              <a:buSzPts val="2500"/>
              <a:buFont typeface="Play"/>
              <a:buNone/>
            </a:pPr>
            <a:r>
              <a:rPr sz="2500" b="1">
                <a:solidFill>
                  <a:srgbClr val="E22B27"/>
                </a:solidFill>
                <a:latin typeface="Play"/>
                <a:ea typeface="Play"/>
                <a:cs typeface="Play"/>
              </a:rPr>
              <a:t>REVISE when the idea is promising but the plan is not ready.</a:t>
            </a:r>
          </a:p>
        </p:txBody>
      </p:sp>
    </p:spTree>
    <p:extLst>
      <p:ext uri="{BB962C8B-B14F-4D97-AF65-F5344CB8AC3E}">
        <p14:creationId xmlns:p14="http://schemas.microsoft.com/office/powerpoint/2010/main" val="497714900"/>
      </p:ext>
    </p:extLst>
  </p:cSld>
</p:sld>
</file>

<file path=ppt/slides/slide17.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335" name="Google Shape;335;p19">
            <a:extLst xmlns:a="http://schemas.openxmlformats.org/drawingml/2006/main">
              <a:ext uri="{FF2B5EF4-FFF2-40B4-BE49-F238E27FC236}">
                <a16:creationId xmlns:a16="http://schemas.microsoft.com/office/drawing/2014/main" id="{E90258D8-38DF-4592-9FA5-359E21B42D45}"/>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36" name="Google Shape;336;p19">
            <a:extLst xmlns:a="http://schemas.openxmlformats.org/drawingml/2006/main">
              <a:ext uri="{FF2B5EF4-FFF2-40B4-BE49-F238E27FC236}">
                <a16:creationId xmlns:a16="http://schemas.microsoft.com/office/drawing/2014/main" id="{89BCF825-D278-4AB3-8235-ABC43FF6CFE3}"/>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37" name="Google Shape;337;p19">
            <a:extLst xmlns:a="http://schemas.openxmlformats.org/drawingml/2006/main">
              <a:ext uri="{FF2B5EF4-FFF2-40B4-BE49-F238E27FC236}">
                <a16:creationId xmlns:a16="http://schemas.microsoft.com/office/drawing/2014/main" id="{F5A857FB-DD13-4071-8FD0-6C6F449CCF25}"/>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38" name="Google Shape;338;p19">
            <a:extLst xmlns:a="http://schemas.openxmlformats.org/drawingml/2006/main">
              <a:ext uri="{FF2B5EF4-FFF2-40B4-BE49-F238E27FC236}">
                <a16:creationId xmlns:a16="http://schemas.microsoft.com/office/drawing/2014/main" id="{7945E766-56EB-4114-B68E-412D9F97C84E}"/>
              </a:ext>
            </a:extLst>
          </p:cNvPr>
          <p:cNvSpPr>
            <a:spLocks xmlns:a="http://schemas.openxmlformats.org/drawingml/2006/main" noGrp="1"/>
          </p:cNvSpPr>
          <p:nvPr/>
        </p:nvSpPr>
        <p:spPr>
          <a:xfrm xmlns:a="http://schemas.openxmlformats.org/drawingml/2006/main">
            <a:off x="411480" y="6236208"/>
            <a:ext cx="49377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STUDENT ACTIVITY</a:t>
            </a:r>
          </a:p>
        </p:txBody>
      </p:sp>
      <p:sp>
        <p:nvSpPr>
          <p:cNvPr id="339" name="Google Shape;339;p19">
            <a:extLst xmlns:a="http://schemas.openxmlformats.org/drawingml/2006/main">
              <a:ext uri="{FF2B5EF4-FFF2-40B4-BE49-F238E27FC236}">
                <a16:creationId xmlns:a16="http://schemas.microsoft.com/office/drawing/2014/main" id="{9E4DD0E1-51C8-46E2-AA39-9CEE54F08BF9}"/>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340" name="Google Shape;340;p19">
            <a:extLst xmlns:a="http://schemas.openxmlformats.org/drawingml/2006/main">
              <a:ext uri="{FF2B5EF4-FFF2-40B4-BE49-F238E27FC236}">
                <a16:creationId xmlns:a16="http://schemas.microsoft.com/office/drawing/2014/main" id="{EC5294ED-8E49-4854-9D7C-90C643737907}"/>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03</a:t>
            </a:r>
          </a:p>
        </p:txBody>
      </p:sp>
      <p:sp>
        <p:nvSpPr>
          <p:cNvPr id="341" name="Google Shape;341;p19">
            <a:extLst xmlns:a="http://schemas.openxmlformats.org/drawingml/2006/main">
              <a:ext uri="{FF2B5EF4-FFF2-40B4-BE49-F238E27FC236}">
                <a16:creationId xmlns:a16="http://schemas.microsoft.com/office/drawing/2014/main" id="{514E8065-6A69-434C-B1DC-498FFF73A795}"/>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Scenario Stations</a:t>
            </a:r>
          </a:p>
        </p:txBody>
      </p:sp>
      <p:sp>
        <p:nvSpPr>
          <p:cNvPr id="342" name="Google Shape;342;p19">
            <a:extLst xmlns:a="http://schemas.openxmlformats.org/drawingml/2006/main">
              <a:ext uri="{FF2B5EF4-FFF2-40B4-BE49-F238E27FC236}">
                <a16:creationId xmlns:a16="http://schemas.microsoft.com/office/drawing/2014/main" id="{77E38B02-589C-4B3A-BF25-C6439AF7A507}"/>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Stop • Revise • Proceed</a:t>
            </a:r>
          </a:p>
        </p:txBody>
      </p:sp>
      <p:cxnSp>
        <p:nvCxnSpPr>
          <p:cNvPr id="355" name="Google Shape;343;p19"/>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344" name="Google Shape;344;p19">
            <a:extLst xmlns:a="http://schemas.openxmlformats.org/drawingml/2006/main">
              <a:ext uri="{FF2B5EF4-FFF2-40B4-BE49-F238E27FC236}">
                <a16:creationId xmlns:a16="http://schemas.microsoft.com/office/drawing/2014/main" id="{A6BC5A65-3E77-46BA-B058-EE86E2411BF8}"/>
              </a:ext>
            </a:extLst>
          </p:cNvPr>
          <p:cNvSpPr>
            <a:spLocks xmlns:a="http://schemas.openxmlformats.org/drawingml/2006/main" noGrp="1"/>
          </p:cNvSpPr>
          <p:nvPr/>
        </p:nvSpPr>
        <p:spPr>
          <a:xfrm xmlns:a="http://schemas.openxmlformats.org/drawingml/2006/main">
            <a:off x="777240" y="1783080"/>
            <a:ext cx="1874520" cy="34747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45" name="Google Shape;345;p19">
            <a:extLst xmlns:a="http://schemas.openxmlformats.org/drawingml/2006/main">
              <a:ext uri="{FF2B5EF4-FFF2-40B4-BE49-F238E27FC236}">
                <a16:creationId xmlns:a16="http://schemas.microsoft.com/office/drawing/2014/main" id="{D42AD7DD-15E7-45F8-A542-D79BCD802091}"/>
              </a:ext>
            </a:extLst>
          </p:cNvPr>
          <p:cNvSpPr>
            <a:spLocks xmlns:a="http://schemas.openxmlformats.org/drawingml/2006/main" noGrp="1"/>
          </p:cNvSpPr>
          <p:nvPr/>
        </p:nvSpPr>
        <p:spPr>
          <a:xfrm xmlns:a="http://schemas.openxmlformats.org/drawingml/2006/main">
            <a:off x="868680" y="1865376"/>
            <a:ext cx="16916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000"/>
              <a:buFont typeface="Arial"/>
              <a:buNone/>
            </a:pPr>
            <a:r>
              <a:rPr sz="1000" b="1">
                <a:solidFill>
                  <a:srgbClr val="FFFFFF"/>
                </a:solidFill>
                <a:latin typeface="Arial"/>
                <a:ea typeface="Arial"/>
                <a:cs typeface="Arial"/>
              </a:rPr>
              <a:t>STUDENT ACTIVITY</a:t>
            </a:r>
          </a:p>
        </p:txBody>
      </p:sp>
      <p:sp>
        <p:nvSpPr>
          <p:cNvPr id="346" name="Google Shape;346;p19">
            <a:extLst xmlns:a="http://schemas.openxmlformats.org/drawingml/2006/main">
              <a:ext uri="{FF2B5EF4-FFF2-40B4-BE49-F238E27FC236}">
                <a16:creationId xmlns:a16="http://schemas.microsoft.com/office/drawing/2014/main" id="{07584881-D0F3-40BC-9B84-96E9D9CD1EFB}"/>
              </a:ext>
            </a:extLst>
          </p:cNvPr>
          <p:cNvSpPr>
            <a:spLocks xmlns:a="http://schemas.openxmlformats.org/drawingml/2006/main" noGrp="1"/>
          </p:cNvSpPr>
          <p:nvPr/>
        </p:nvSpPr>
        <p:spPr>
          <a:xfrm xmlns:a="http://schemas.openxmlformats.org/drawingml/2006/main">
            <a:off x="868680" y="2331720"/>
            <a:ext cx="103327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100">
                <a:solidFill>
                  <a:srgbClr val="FFFFFF"/>
                </a:solidFill>
                <a:latin typeface="Arial"/>
                <a:ea typeface="Arial"/>
                <a:cs typeface="Arial"/>
              </a:rPr>
              <a:t>Move through assigned project scenarios.</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Identify the safety or ethics issue.</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Decide: stop, revise, or proceed.</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Write a safer or clearer version of the project plan.</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Station example: A student wants to test mold growth on bread stored in different places around the school. What needs review before this can happen?</a:t>
            </a:r>
          </a:p>
        </p:txBody>
      </p:sp>
    </p:spTree>
    <p:extLst>
      <p:ext uri="{BB962C8B-B14F-4D97-AF65-F5344CB8AC3E}">
        <p14:creationId xmlns:p14="http://schemas.microsoft.com/office/powerpoint/2010/main" val="1897129401"/>
      </p:ext>
    </p:extLst>
  </p:cSld>
</p:sld>
</file>

<file path=ppt/slides/slide18.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352" name="Google Shape;352;p20">
            <a:extLst xmlns:a="http://schemas.openxmlformats.org/drawingml/2006/main">
              <a:ext uri="{FF2B5EF4-FFF2-40B4-BE49-F238E27FC236}">
                <a16:creationId xmlns:a16="http://schemas.microsoft.com/office/drawing/2014/main" id="{D50C2C81-051F-4E53-9218-B1D2E8E53D63}"/>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53" name="Google Shape;353;p20">
            <a:extLst xmlns:a="http://schemas.openxmlformats.org/drawingml/2006/main">
              <a:ext uri="{FF2B5EF4-FFF2-40B4-BE49-F238E27FC236}">
                <a16:creationId xmlns:a16="http://schemas.microsoft.com/office/drawing/2014/main" id="{74A98290-B334-4A9F-9964-07F1297E0A99}"/>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54" name="Google Shape;354;p20">
            <a:extLst xmlns:a="http://schemas.openxmlformats.org/drawingml/2006/main">
              <a:ext uri="{FF2B5EF4-FFF2-40B4-BE49-F238E27FC236}">
                <a16:creationId xmlns:a16="http://schemas.microsoft.com/office/drawing/2014/main" id="{914ED3E6-BB46-462D-95EB-022213946DE4}"/>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55" name="Google Shape;355;p20">
            <a:extLst xmlns:a="http://schemas.openxmlformats.org/drawingml/2006/main">
              <a:ext uri="{FF2B5EF4-FFF2-40B4-BE49-F238E27FC236}">
                <a16:creationId xmlns:a16="http://schemas.microsoft.com/office/drawing/2014/main" id="{0EB6859B-E9E1-4133-ACC4-B063532A99DD}"/>
              </a:ext>
            </a:extLst>
          </p:cNvPr>
          <p:cNvSpPr>
            <a:spLocks xmlns:a="http://schemas.openxmlformats.org/drawingml/2006/main" noGrp="1"/>
          </p:cNvSpPr>
          <p:nvPr/>
        </p:nvSpPr>
        <p:spPr>
          <a:xfrm xmlns:a="http://schemas.openxmlformats.org/drawingml/2006/main">
            <a:off x="411480" y="6236208"/>
            <a:ext cx="49377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RESEARCH INTEGRITY</a:t>
            </a:r>
          </a:p>
        </p:txBody>
      </p:sp>
      <p:sp>
        <p:nvSpPr>
          <p:cNvPr id="356" name="Google Shape;356;p20">
            <a:extLst xmlns:a="http://schemas.openxmlformats.org/drawingml/2006/main">
              <a:ext uri="{FF2B5EF4-FFF2-40B4-BE49-F238E27FC236}">
                <a16:creationId xmlns:a16="http://schemas.microsoft.com/office/drawing/2014/main" id="{BD58C8C8-4866-4DC0-9625-112568C66ADA}"/>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357" name="Google Shape;357;p20">
            <a:extLst xmlns:a="http://schemas.openxmlformats.org/drawingml/2006/main">
              <a:ext uri="{FF2B5EF4-FFF2-40B4-BE49-F238E27FC236}">
                <a16:creationId xmlns:a16="http://schemas.microsoft.com/office/drawing/2014/main" id="{8F1494B2-DDF0-4F52-B938-8B1EA3E752DD}"/>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03</a:t>
            </a:r>
          </a:p>
        </p:txBody>
      </p:sp>
      <p:sp>
        <p:nvSpPr>
          <p:cNvPr id="358" name="Google Shape;358;p20">
            <a:extLst xmlns:a="http://schemas.openxmlformats.org/drawingml/2006/main">
              <a:ext uri="{FF2B5EF4-FFF2-40B4-BE49-F238E27FC236}">
                <a16:creationId xmlns:a16="http://schemas.microsoft.com/office/drawing/2014/main" id="{6E5BCADB-22B5-43F5-A7EC-5DC9C467E088}"/>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The Integrity Agreement Is Not Paperwork</a:t>
            </a:r>
          </a:p>
        </p:txBody>
      </p:sp>
      <p:sp>
        <p:nvSpPr>
          <p:cNvPr id="359" name="Google Shape;359;p20">
            <a:extLst xmlns:a="http://schemas.openxmlformats.org/drawingml/2006/main">
              <a:ext uri="{FF2B5EF4-FFF2-40B4-BE49-F238E27FC236}">
                <a16:creationId xmlns:a16="http://schemas.microsoft.com/office/drawing/2014/main" id="{36F79B51-494E-495E-B8D1-BB9A25239383}"/>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It defines the responsibilities students carry all year.</a:t>
            </a:r>
          </a:p>
        </p:txBody>
      </p:sp>
      <p:cxnSp>
        <p:nvCxnSpPr>
          <p:cNvPr id="370" name="Google Shape;360;p20"/>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361" name="Google Shape;361;p20">
            <a:extLst xmlns:a="http://schemas.openxmlformats.org/drawingml/2006/main">
              <a:ext uri="{FF2B5EF4-FFF2-40B4-BE49-F238E27FC236}">
                <a16:creationId xmlns:a16="http://schemas.microsoft.com/office/drawing/2014/main" id="{8E29407A-9A8E-4F80-A15E-3DD0B77D535E}"/>
              </a:ext>
            </a:extLst>
          </p:cNvPr>
          <p:cNvSpPr>
            <a:spLocks xmlns:a="http://schemas.openxmlformats.org/drawingml/2006/main" noGrp="1"/>
          </p:cNvSpPr>
          <p:nvPr/>
        </p:nvSpPr>
        <p:spPr>
          <a:xfrm xmlns:a="http://schemas.openxmlformats.org/drawingml/2006/main">
            <a:off x="1005840" y="1828800"/>
            <a:ext cx="10058400" cy="3657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300">
                <a:solidFill>
                  <a:srgbClr val="FFFFFF"/>
                </a:solidFill>
                <a:latin typeface="Arial"/>
                <a:ea typeface="Arial"/>
                <a:cs typeface="Arial"/>
              </a:rPr>
              <a:t>Collect and report data honestly.</a:t>
            </a:r>
          </a:p>
          <a:p xmlns:a="http://schemas.openxmlformats.org/drawingml/2006/main">
            <a:pPr marL="0" marR="0" indent="0" algn="l">
              <a:spcBef>
                <a:spcPts val="0"/>
              </a:spcBef>
              <a:spcAft>
                <a:spcPts val="0"/>
              </a:spcAft>
              <a:buNone/>
            </a:pPr>
            <a:r>
              <a:rPr sz="2300">
                <a:solidFill>
                  <a:srgbClr val="FFFFFF"/>
                </a:solidFill>
                <a:latin typeface="Arial"/>
                <a:ea typeface="Arial"/>
                <a:cs typeface="Arial"/>
              </a:rPr>
              <a:t>Keep consistent research records.</a:t>
            </a:r>
          </a:p>
          <a:p xmlns:a="http://schemas.openxmlformats.org/drawingml/2006/main">
            <a:pPr marL="0" marR="0" indent="0" algn="l">
              <a:spcBef>
                <a:spcPts val="0"/>
              </a:spcBef>
              <a:spcAft>
                <a:spcPts val="0"/>
              </a:spcAft>
              <a:buNone/>
            </a:pPr>
            <a:r>
              <a:rPr sz="2300">
                <a:solidFill>
                  <a:srgbClr val="FFFFFF"/>
                </a:solidFill>
                <a:latin typeface="Arial"/>
                <a:ea typeface="Arial"/>
                <a:cs typeface="Arial"/>
              </a:rPr>
              <a:t>Credit sources and collaborators.</a:t>
            </a:r>
          </a:p>
          <a:p xmlns:a="http://schemas.openxmlformats.org/drawingml/2006/main">
            <a:pPr marL="0" marR="0" indent="0" algn="l">
              <a:spcBef>
                <a:spcPts val="0"/>
              </a:spcBef>
              <a:spcAft>
                <a:spcPts val="0"/>
              </a:spcAft>
              <a:buNone/>
            </a:pPr>
            <a:r>
              <a:rPr sz="2300">
                <a:solidFill>
                  <a:srgbClr val="FFFFFF"/>
                </a:solidFill>
                <a:latin typeface="Arial"/>
                <a:ea typeface="Arial"/>
                <a:cs typeface="Arial"/>
              </a:rPr>
              <a:t>Receive approval before testing.</a:t>
            </a:r>
          </a:p>
          <a:p xmlns:a="http://schemas.openxmlformats.org/drawingml/2006/main">
            <a:pPr marL="0" marR="0" indent="0" algn="l">
              <a:spcBef>
                <a:spcPts val="0"/>
              </a:spcBef>
              <a:spcAft>
                <a:spcPts val="0"/>
              </a:spcAft>
              <a:buNone/>
            </a:pPr>
            <a:r>
              <a:rPr sz="2300">
                <a:solidFill>
                  <a:srgbClr val="FFFFFF"/>
                </a:solidFill>
                <a:latin typeface="Arial"/>
                <a:ea typeface="Arial"/>
                <a:cs typeface="Arial"/>
              </a:rPr>
              <a:t>Follow safety rules and use PPE.</a:t>
            </a:r>
          </a:p>
          <a:p xmlns:a="http://schemas.openxmlformats.org/drawingml/2006/main">
            <a:pPr marL="0" marR="0" indent="0" algn="l">
              <a:spcBef>
                <a:spcPts val="0"/>
              </a:spcBef>
              <a:spcAft>
                <a:spcPts val="0"/>
              </a:spcAft>
              <a:buNone/>
            </a:pPr>
            <a:r>
              <a:rPr sz="2300">
                <a:solidFill>
                  <a:srgbClr val="FFFFFF"/>
                </a:solidFill>
                <a:latin typeface="Arial"/>
                <a:ea typeface="Arial"/>
                <a:cs typeface="Arial"/>
              </a:rPr>
              <a:t>Protect people, animals, privacy, and the environment.</a:t>
            </a:r>
          </a:p>
        </p:txBody>
      </p:sp>
    </p:spTree>
    <p:extLst>
      <p:ext uri="{BB962C8B-B14F-4D97-AF65-F5344CB8AC3E}">
        <p14:creationId xmlns:p14="http://schemas.microsoft.com/office/powerpoint/2010/main" val="46854108"/>
      </p:ext>
    </p:extLst>
  </p:cSld>
</p:sld>
</file>

<file path=ppt/slides/slide19.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367" name="Google Shape;367;p21">
            <a:extLst xmlns:a="http://schemas.openxmlformats.org/drawingml/2006/main">
              <a:ext uri="{FF2B5EF4-FFF2-40B4-BE49-F238E27FC236}">
                <a16:creationId xmlns:a16="http://schemas.microsoft.com/office/drawing/2014/main" id="{F864A2B6-9B68-4A93-BE6A-4AEC56BC4EED}"/>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68" name="Google Shape;368;p21">
            <a:extLst xmlns:a="http://schemas.openxmlformats.org/drawingml/2006/main">
              <a:ext uri="{FF2B5EF4-FFF2-40B4-BE49-F238E27FC236}">
                <a16:creationId xmlns:a16="http://schemas.microsoft.com/office/drawing/2014/main" id="{2462951B-9425-417B-89B2-A00C8A43F87D}"/>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69" name="Google Shape;369;p21">
            <a:extLst xmlns:a="http://schemas.openxmlformats.org/drawingml/2006/main">
              <a:ext uri="{FF2B5EF4-FFF2-40B4-BE49-F238E27FC236}">
                <a16:creationId xmlns:a16="http://schemas.microsoft.com/office/drawing/2014/main" id="{50E1CED7-6FC8-46DE-95A9-7A6F65E4369B}"/>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70" name="Google Shape;370;p21">
            <a:extLst xmlns:a="http://schemas.openxmlformats.org/drawingml/2006/main">
              <a:ext uri="{FF2B5EF4-FFF2-40B4-BE49-F238E27FC236}">
                <a16:creationId xmlns:a16="http://schemas.microsoft.com/office/drawing/2014/main" id="{5EAFFD7D-6204-4BB7-854A-48C4F3AB1F76}"/>
              </a:ext>
            </a:extLst>
          </p:cNvPr>
          <p:cNvSpPr>
            <a:spLocks xmlns:a="http://schemas.openxmlformats.org/drawingml/2006/main" noGrp="1"/>
          </p:cNvSpPr>
          <p:nvPr/>
        </p:nvSpPr>
        <p:spPr>
          <a:xfrm xmlns:a="http://schemas.openxmlformats.org/drawingml/2006/main">
            <a:off x="411480" y="6236208"/>
            <a:ext cx="49377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TEACHER CHECKPOINT</a:t>
            </a:r>
          </a:p>
        </p:txBody>
      </p:sp>
      <p:sp>
        <p:nvSpPr>
          <p:cNvPr id="371" name="Google Shape;371;p21">
            <a:extLst xmlns:a="http://schemas.openxmlformats.org/drawingml/2006/main">
              <a:ext uri="{FF2B5EF4-FFF2-40B4-BE49-F238E27FC236}">
                <a16:creationId xmlns:a16="http://schemas.microsoft.com/office/drawing/2014/main" id="{F50292C5-9B8F-4DC9-BA8C-01EC0C10D09B}"/>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372" name="Google Shape;372;p21">
            <a:extLst xmlns:a="http://schemas.openxmlformats.org/drawingml/2006/main">
              <a:ext uri="{FF2B5EF4-FFF2-40B4-BE49-F238E27FC236}">
                <a16:creationId xmlns:a16="http://schemas.microsoft.com/office/drawing/2014/main" id="{5BB162AF-3651-46E1-B4D1-975EF3F570B7}"/>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03</a:t>
            </a:r>
          </a:p>
        </p:txBody>
      </p:sp>
      <p:sp>
        <p:nvSpPr>
          <p:cNvPr id="373" name="Google Shape;373;p21">
            <a:extLst xmlns:a="http://schemas.openxmlformats.org/drawingml/2006/main">
              <a:ext uri="{FF2B5EF4-FFF2-40B4-BE49-F238E27FC236}">
                <a16:creationId xmlns:a16="http://schemas.microsoft.com/office/drawing/2014/main" id="{C39B8392-BF0D-43C6-BE26-FF504F4B031B}"/>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Teacher Implementation Checklist</a:t>
            </a:r>
          </a:p>
        </p:txBody>
      </p:sp>
      <p:sp>
        <p:nvSpPr>
          <p:cNvPr id="374" name="Google Shape;374;p21">
            <a:extLst xmlns:a="http://schemas.openxmlformats.org/drawingml/2006/main">
              <a:ext uri="{FF2B5EF4-FFF2-40B4-BE49-F238E27FC236}">
                <a16:creationId xmlns:a16="http://schemas.microsoft.com/office/drawing/2014/main" id="{4E4830B0-34B3-4003-AF63-838F19352FCF}"/>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Use this as the minimum screen before pilot testing begins.</a:t>
            </a:r>
          </a:p>
        </p:txBody>
      </p:sp>
      <p:cxnSp>
        <p:nvCxnSpPr>
          <p:cNvPr id="385" name="Google Shape;375;p21"/>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376" name="Google Shape;376;p21">
            <a:extLst xmlns:a="http://schemas.openxmlformats.org/drawingml/2006/main">
              <a:ext uri="{FF2B5EF4-FFF2-40B4-BE49-F238E27FC236}">
                <a16:creationId xmlns:a16="http://schemas.microsoft.com/office/drawing/2014/main" id="{2889EB33-F027-4961-B9A3-E2DD2F4369E8}"/>
              </a:ext>
            </a:extLst>
          </p:cNvPr>
          <p:cNvSpPr>
            <a:spLocks xmlns:a="http://schemas.openxmlformats.org/drawingml/2006/main" noGrp="1"/>
          </p:cNvSpPr>
          <p:nvPr/>
        </p:nvSpPr>
        <p:spPr>
          <a:xfrm xmlns:a="http://schemas.openxmlformats.org/drawingml/2006/main">
            <a:off x="914400" y="1828800"/>
            <a:ext cx="10332720" cy="3840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200">
                <a:solidFill>
                  <a:srgbClr val="FFFFFF"/>
                </a:solidFill>
                <a:latin typeface="Arial"/>
                <a:ea typeface="Arial"/>
                <a:cs typeface="Arial"/>
              </a:rPr>
              <a:t>Current research question or goal</a:t>
            </a:r>
          </a:p>
          <a:p xmlns:a="http://schemas.openxmlformats.org/drawingml/2006/main">
            <a:pPr marL="0" marR="0" indent="0" algn="l">
              <a:spcBef>
                <a:spcPts val="0"/>
              </a:spcBef>
              <a:spcAft>
                <a:spcPts val="0"/>
              </a:spcAft>
              <a:buNone/>
            </a:pPr>
            <a:r>
              <a:rPr sz="2200">
                <a:solidFill>
                  <a:srgbClr val="FFFFFF"/>
                </a:solidFill>
                <a:latin typeface="Arial"/>
                <a:ea typeface="Arial"/>
                <a:cs typeface="Arial"/>
              </a:rPr>
              <a:t>Procedure or testing protocol</a:t>
            </a:r>
          </a:p>
          <a:p xmlns:a="http://schemas.openxmlformats.org/drawingml/2006/main">
            <a:pPr marL="0" marR="0" indent="0" algn="l">
              <a:spcBef>
                <a:spcPts val="0"/>
              </a:spcBef>
              <a:spcAft>
                <a:spcPts val="0"/>
              </a:spcAft>
              <a:buNone/>
            </a:pPr>
            <a:r>
              <a:rPr sz="2200">
                <a:solidFill>
                  <a:srgbClr val="FFFFFF"/>
                </a:solidFill>
                <a:latin typeface="Arial"/>
                <a:ea typeface="Arial"/>
                <a:cs typeface="Arial"/>
              </a:rPr>
              <a:t>Materials/equipment list</a:t>
            </a:r>
          </a:p>
          <a:p xmlns:a="http://schemas.openxmlformats.org/drawingml/2006/main">
            <a:pPr marL="0" marR="0" indent="0" algn="l">
              <a:spcBef>
                <a:spcPts val="0"/>
              </a:spcBef>
              <a:spcAft>
                <a:spcPts val="0"/>
              </a:spcAft>
              <a:buNone/>
            </a:pPr>
            <a:r>
              <a:rPr sz="2200">
                <a:solidFill>
                  <a:srgbClr val="FFFFFF"/>
                </a:solidFill>
                <a:latin typeface="Arial"/>
                <a:ea typeface="Arial"/>
                <a:cs typeface="Arial"/>
              </a:rPr>
              <a:t>Data collection plan</a:t>
            </a:r>
          </a:p>
          <a:p xmlns:a="http://schemas.openxmlformats.org/drawingml/2006/main">
            <a:pPr marL="0" marR="0" indent="0" algn="l">
              <a:spcBef>
                <a:spcPts val="0"/>
              </a:spcBef>
              <a:spcAft>
                <a:spcPts val="0"/>
              </a:spcAft>
              <a:buNone/>
            </a:pPr>
            <a:r>
              <a:rPr sz="2200">
                <a:solidFill>
                  <a:srgbClr val="FFFFFF"/>
                </a:solidFill>
                <a:latin typeface="Arial"/>
                <a:ea typeface="Arial"/>
                <a:cs typeface="Arial"/>
              </a:rPr>
              <a:t>Safety and risk assessment</a:t>
            </a:r>
          </a:p>
          <a:p xmlns:a="http://schemas.openxmlformats.org/drawingml/2006/main">
            <a:pPr marL="0" marR="0" indent="0" algn="l">
              <a:spcBef>
                <a:spcPts val="0"/>
              </a:spcBef>
              <a:spcAft>
                <a:spcPts val="0"/>
              </a:spcAft>
              <a:buNone/>
            </a:pPr>
            <a:r>
              <a:rPr sz="2200">
                <a:solidFill>
                  <a:srgbClr val="FFFFFF"/>
                </a:solidFill>
                <a:latin typeface="Arial"/>
                <a:ea typeface="Arial"/>
                <a:cs typeface="Arial"/>
              </a:rPr>
              <a:t>Ethics and approval screening</a:t>
            </a:r>
          </a:p>
          <a:p xmlns:a="http://schemas.openxmlformats.org/drawingml/2006/main">
            <a:pPr marL="0" marR="0" indent="0" algn="l">
              <a:spcBef>
                <a:spcPts val="0"/>
              </a:spcBef>
              <a:spcAft>
                <a:spcPts val="0"/>
              </a:spcAft>
              <a:buNone/>
            </a:pPr>
            <a:r>
              <a:rPr sz="2200">
                <a:solidFill>
                  <a:srgbClr val="FFFFFF"/>
                </a:solidFill>
                <a:latin typeface="Arial"/>
                <a:ea typeface="Arial"/>
                <a:cs typeface="Arial"/>
              </a:rPr>
              <a:t>Storage, cleanup, and disposal plan</a:t>
            </a:r>
          </a:p>
          <a:p xmlns:a="http://schemas.openxmlformats.org/drawingml/2006/main">
            <a:pPr marL="0" marR="0" indent="0" algn="l">
              <a:spcBef>
                <a:spcPts val="0"/>
              </a:spcBef>
              <a:spcAft>
                <a:spcPts val="0"/>
              </a:spcAft>
              <a:buNone/>
            </a:pPr>
            <a:r>
              <a:rPr sz="2200">
                <a:solidFill>
                  <a:srgbClr val="FFFFFF"/>
                </a:solidFill>
                <a:latin typeface="Arial"/>
                <a:ea typeface="Arial"/>
                <a:cs typeface="Arial"/>
              </a:rPr>
              <a:t>Approval status and next step</a:t>
            </a:r>
          </a:p>
        </p:txBody>
      </p:sp>
    </p:spTree>
    <p:extLst>
      <p:ext uri="{BB962C8B-B14F-4D97-AF65-F5344CB8AC3E}">
        <p14:creationId xmlns:p14="http://schemas.microsoft.com/office/powerpoint/2010/main" val="2131578648"/>
      </p:ext>
    </p:extLst>
  </p:cSld>
</p:sld>
</file>

<file path=ppt/slides/slide20.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382" name="Google Shape;382;p22">
            <a:extLst xmlns:a="http://schemas.openxmlformats.org/drawingml/2006/main">
              <a:ext uri="{FF2B5EF4-FFF2-40B4-BE49-F238E27FC236}">
                <a16:creationId xmlns:a16="http://schemas.microsoft.com/office/drawing/2014/main" id="{2A72D8B9-1A79-44E8-AC8C-CDDB1CEEAEF7}"/>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83" name="Google Shape;383;p22">
            <a:extLst xmlns:a="http://schemas.openxmlformats.org/drawingml/2006/main">
              <a:ext uri="{FF2B5EF4-FFF2-40B4-BE49-F238E27FC236}">
                <a16:creationId xmlns:a16="http://schemas.microsoft.com/office/drawing/2014/main" id="{91E46276-DB6B-4A2F-B056-978B7A5F2070}"/>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84" name="Google Shape;384;p22">
            <a:extLst xmlns:a="http://schemas.openxmlformats.org/drawingml/2006/main">
              <a:ext uri="{FF2B5EF4-FFF2-40B4-BE49-F238E27FC236}">
                <a16:creationId xmlns:a16="http://schemas.microsoft.com/office/drawing/2014/main" id="{2706FAAD-FC24-411E-AA85-FF5051BECBFB}"/>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85" name="Google Shape;385;p22">
            <a:extLst xmlns:a="http://schemas.openxmlformats.org/drawingml/2006/main">
              <a:ext uri="{FF2B5EF4-FFF2-40B4-BE49-F238E27FC236}">
                <a16:creationId xmlns:a16="http://schemas.microsoft.com/office/drawing/2014/main" id="{0111C40F-A388-471E-9324-9BBD59CD2E75}"/>
              </a:ext>
            </a:extLst>
          </p:cNvPr>
          <p:cNvSpPr>
            <a:spLocks xmlns:a="http://schemas.openxmlformats.org/drawingml/2006/main" noGrp="1"/>
          </p:cNvSpPr>
          <p:nvPr/>
        </p:nvSpPr>
        <p:spPr>
          <a:xfrm xmlns:a="http://schemas.openxmlformats.org/drawingml/2006/main">
            <a:off x="411480" y="6236208"/>
            <a:ext cx="49377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PROFESSIONAL LANGUAGE</a:t>
            </a:r>
          </a:p>
        </p:txBody>
      </p:sp>
      <p:sp>
        <p:nvSpPr>
          <p:cNvPr id="386" name="Google Shape;386;p22">
            <a:extLst xmlns:a="http://schemas.openxmlformats.org/drawingml/2006/main">
              <a:ext uri="{FF2B5EF4-FFF2-40B4-BE49-F238E27FC236}">
                <a16:creationId xmlns:a16="http://schemas.microsoft.com/office/drawing/2014/main" id="{531326B9-9BC0-47E4-AE4C-EF56C73128FD}"/>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387" name="Google Shape;387;p22">
            <a:extLst xmlns:a="http://schemas.openxmlformats.org/drawingml/2006/main">
              <a:ext uri="{FF2B5EF4-FFF2-40B4-BE49-F238E27FC236}">
                <a16:creationId xmlns:a16="http://schemas.microsoft.com/office/drawing/2014/main" id="{5D21E64A-249F-407F-A22A-ADDF274BC196}"/>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03</a:t>
            </a:r>
          </a:p>
        </p:txBody>
      </p:sp>
      <p:sp>
        <p:nvSpPr>
          <p:cNvPr id="388" name="Google Shape;388;p22">
            <a:extLst xmlns:a="http://schemas.openxmlformats.org/drawingml/2006/main">
              <a:ext uri="{FF2B5EF4-FFF2-40B4-BE49-F238E27FC236}">
                <a16:creationId xmlns:a16="http://schemas.microsoft.com/office/drawing/2014/main" id="{532CD9B3-30B5-4AE1-9C7A-0CC078CED518}"/>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What Students Should Say When Uncertain</a:t>
            </a:r>
          </a:p>
        </p:txBody>
      </p:sp>
      <p:sp>
        <p:nvSpPr>
          <p:cNvPr id="389" name="Google Shape;389;p22">
            <a:extLst xmlns:a="http://schemas.openxmlformats.org/drawingml/2006/main">
              <a:ext uri="{FF2B5EF4-FFF2-40B4-BE49-F238E27FC236}">
                <a16:creationId xmlns:a16="http://schemas.microsoft.com/office/drawing/2014/main" id="{1B60A86B-D005-42CA-A53C-7FF8E174C4C3}"/>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Responsible language protects the project.</a:t>
            </a:r>
          </a:p>
        </p:txBody>
      </p:sp>
      <p:cxnSp>
        <p:nvCxnSpPr>
          <p:cNvPr id="405" name="Google Shape;390;p22"/>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391" name="Google Shape;391;p22">
            <a:extLst xmlns:a="http://schemas.openxmlformats.org/drawingml/2006/main">
              <a:ext uri="{FF2B5EF4-FFF2-40B4-BE49-F238E27FC236}">
                <a16:creationId xmlns:a16="http://schemas.microsoft.com/office/drawing/2014/main" id="{2CD452B0-8AAA-4593-81D0-FEAA9E218DD8}"/>
              </a:ext>
            </a:extLst>
          </p:cNvPr>
          <p:cNvSpPr>
            <a:spLocks xmlns:a="http://schemas.openxmlformats.org/drawingml/2006/main" noGrp="1"/>
          </p:cNvSpPr>
          <p:nvPr/>
        </p:nvSpPr>
        <p:spPr>
          <a:xfrm xmlns:a="http://schemas.openxmlformats.org/drawingml/2006/main">
            <a:off x="777240" y="1828800"/>
            <a:ext cx="5257800" cy="3703320"/>
          </a:xfrm>
          <a:prstGeom xmlns:a="http://schemas.openxmlformats.org/drawingml/2006/main" prst="roundRect">
            <a:avLst>
              <a:gd name="adj" fmla="val 1481"/>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92" name="Google Shape;392;p22">
            <a:extLst xmlns:a="http://schemas.openxmlformats.org/drawingml/2006/main">
              <a:ext uri="{FF2B5EF4-FFF2-40B4-BE49-F238E27FC236}">
                <a16:creationId xmlns:a16="http://schemas.microsoft.com/office/drawing/2014/main" id="{E59114F7-A0F5-464B-B3EB-880D13C93EE5}"/>
              </a:ext>
            </a:extLst>
          </p:cNvPr>
          <p:cNvSpPr>
            <a:spLocks xmlns:a="http://schemas.openxmlformats.org/drawingml/2006/main" noGrp="1"/>
          </p:cNvSpPr>
          <p:nvPr/>
        </p:nvSpPr>
        <p:spPr>
          <a:xfrm xmlns:a="http://schemas.openxmlformats.org/drawingml/2006/main">
            <a:off x="941832" y="1965960"/>
            <a:ext cx="492861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INSTEAD OF</a:t>
            </a:r>
          </a:p>
        </p:txBody>
      </p:sp>
      <p:sp>
        <p:nvSpPr>
          <p:cNvPr id="393" name="Google Shape;393;p22">
            <a:extLst xmlns:a="http://schemas.openxmlformats.org/drawingml/2006/main">
              <a:ext uri="{FF2B5EF4-FFF2-40B4-BE49-F238E27FC236}">
                <a16:creationId xmlns:a16="http://schemas.microsoft.com/office/drawing/2014/main" id="{205358D8-98EE-4C61-A9BB-4CFF3AF3D6D7}"/>
              </a:ext>
            </a:extLst>
          </p:cNvPr>
          <p:cNvSpPr>
            <a:spLocks xmlns:a="http://schemas.openxmlformats.org/drawingml/2006/main" noGrp="1"/>
          </p:cNvSpPr>
          <p:nvPr/>
        </p:nvSpPr>
        <p:spPr>
          <a:xfrm xmlns:a="http://schemas.openxmlformats.org/drawingml/2006/main">
            <a:off x="941832" y="2331720"/>
            <a:ext cx="4928616" cy="304495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“I think it is probably fine.”</a:t>
            </a:r>
          </a:p>
          <a:p xmlns:a="http://schemas.openxmlformats.org/drawingml/2006/main">
            <a:pPr marL="0" marR="0" indent="0" algn="l">
              <a:spcBef>
                <a:spcPts val="0"/>
              </a:spcBef>
              <a:spcAft>
                <a:spcPts val="0"/>
              </a:spcAft>
              <a:buClr>
                <a:schemeClr val="dk1"/>
              </a:buClr>
              <a:buSzPts val="2000"/>
              <a:buFont typeface="Arial"/>
              <a:buNone/>
            </a:pPr>
            <a:r>
              <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“I changed it a little.”</a:t>
            </a:r>
          </a:p>
          <a:p xmlns:a="http://schemas.openxmlformats.org/drawingml/2006/main">
            <a:pPr marL="0" marR="0" indent="0" algn="l">
              <a:spcBef>
                <a:spcPts val="0"/>
              </a:spcBef>
              <a:spcAft>
                <a:spcPts val="0"/>
              </a:spcAft>
              <a:buClr>
                <a:schemeClr val="dk1"/>
              </a:buClr>
              <a:buSzPts val="2000"/>
              <a:buFont typeface="Arial"/>
              <a:buNone/>
            </a:pPr>
            <a:r>
              <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“The weird data did not count.”</a:t>
            </a:r>
          </a:p>
          <a:p xmlns:a="http://schemas.openxmlformats.org/drawingml/2006/main">
            <a:pPr marL="0" marR="0" indent="0" algn="l">
              <a:spcBef>
                <a:spcPts val="0"/>
              </a:spcBef>
              <a:spcAft>
                <a:spcPts val="0"/>
              </a:spcAft>
              <a:buClr>
                <a:schemeClr val="dk1"/>
              </a:buClr>
              <a:buSzPts val="2000"/>
              <a:buFont typeface="Arial"/>
              <a:buNone/>
            </a:pPr>
            <a:r>
              <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“I found it online.”</a:t>
            </a:r>
          </a:p>
        </p:txBody>
      </p:sp>
      <p:sp>
        <p:nvSpPr>
          <p:cNvPr id="394" name="Google Shape;394;p22">
            <a:extLst xmlns:a="http://schemas.openxmlformats.org/drawingml/2006/main">
              <a:ext uri="{FF2B5EF4-FFF2-40B4-BE49-F238E27FC236}">
                <a16:creationId xmlns:a16="http://schemas.microsoft.com/office/drawing/2014/main" id="{1081D94B-7E92-4B95-A459-999E4CA0AD7A}"/>
              </a:ext>
            </a:extLst>
          </p:cNvPr>
          <p:cNvSpPr>
            <a:spLocks xmlns:a="http://schemas.openxmlformats.org/drawingml/2006/main" noGrp="1"/>
          </p:cNvSpPr>
          <p:nvPr/>
        </p:nvSpPr>
        <p:spPr>
          <a:xfrm xmlns:a="http://schemas.openxmlformats.org/drawingml/2006/main">
            <a:off x="6172200" y="1828800"/>
            <a:ext cx="5257800" cy="3703320"/>
          </a:xfrm>
          <a:prstGeom xmlns:a="http://schemas.openxmlformats.org/drawingml/2006/main" prst="roundRect">
            <a:avLst>
              <a:gd name="adj" fmla="val 1481"/>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95" name="Google Shape;395;p22">
            <a:extLst xmlns:a="http://schemas.openxmlformats.org/drawingml/2006/main">
              <a:ext uri="{FF2B5EF4-FFF2-40B4-BE49-F238E27FC236}">
                <a16:creationId xmlns:a16="http://schemas.microsoft.com/office/drawing/2014/main" id="{F14D6590-7064-4F6E-8F61-F08548A929EE}"/>
              </a:ext>
            </a:extLst>
          </p:cNvPr>
          <p:cNvSpPr>
            <a:spLocks xmlns:a="http://schemas.openxmlformats.org/drawingml/2006/main" noGrp="1"/>
          </p:cNvSpPr>
          <p:nvPr/>
        </p:nvSpPr>
        <p:spPr>
          <a:xfrm xmlns:a="http://schemas.openxmlformats.org/drawingml/2006/main">
            <a:off x="6336792" y="1965960"/>
            <a:ext cx="492861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SAY</a:t>
            </a:r>
          </a:p>
        </p:txBody>
      </p:sp>
      <p:sp>
        <p:nvSpPr>
          <p:cNvPr id="396" name="Google Shape;396;p22">
            <a:extLst xmlns:a="http://schemas.openxmlformats.org/drawingml/2006/main">
              <a:ext uri="{FF2B5EF4-FFF2-40B4-BE49-F238E27FC236}">
                <a16:creationId xmlns:a16="http://schemas.microsoft.com/office/drawing/2014/main" id="{AB858F51-207B-4D6F-AB55-08645CC822B1}"/>
              </a:ext>
            </a:extLst>
          </p:cNvPr>
          <p:cNvSpPr>
            <a:spLocks xmlns:a="http://schemas.openxmlformats.org/drawingml/2006/main" noGrp="1"/>
          </p:cNvSpPr>
          <p:nvPr/>
        </p:nvSpPr>
        <p:spPr>
          <a:xfrm xmlns:a="http://schemas.openxmlformats.org/drawingml/2006/main">
            <a:off x="6336792" y="2331720"/>
            <a:ext cx="4928616" cy="304495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“I need approval before testing.”</a:t>
            </a:r>
          </a:p>
          <a:p xmlns:a="http://schemas.openxmlformats.org/drawingml/2006/main">
            <a:pPr marL="0" marR="0" indent="0" algn="l">
              <a:spcBef>
                <a:spcPts val="0"/>
              </a:spcBef>
              <a:spcAft>
                <a:spcPts val="0"/>
              </a:spcAft>
              <a:buClr>
                <a:schemeClr val="dk1"/>
              </a:buClr>
              <a:buSzPts val="2000"/>
              <a:buFont typeface="Arial"/>
              <a:buNone/>
            </a:pPr>
            <a:r>
              <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“The method changed, so I documented it.”</a:t>
            </a:r>
          </a:p>
          <a:p xmlns:a="http://schemas.openxmlformats.org/drawingml/2006/main">
            <a:pPr marL="0" marR="0" indent="0" algn="l">
              <a:spcBef>
                <a:spcPts val="0"/>
              </a:spcBef>
              <a:spcAft>
                <a:spcPts val="0"/>
              </a:spcAft>
              <a:buClr>
                <a:schemeClr val="dk1"/>
              </a:buClr>
              <a:buSzPts val="2000"/>
              <a:buFont typeface="Arial"/>
              <a:buNone/>
            </a:pPr>
            <a:r>
              <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“I flagged that trial and explained why.”</a:t>
            </a:r>
          </a:p>
          <a:p xmlns:a="http://schemas.openxmlformats.org/drawingml/2006/main">
            <a:pPr marL="0" marR="0" indent="0" algn="l">
              <a:spcBef>
                <a:spcPts val="0"/>
              </a:spcBef>
              <a:spcAft>
                <a:spcPts val="0"/>
              </a:spcAft>
              <a:buClr>
                <a:schemeClr val="dk1"/>
              </a:buClr>
              <a:buSzPts val="2000"/>
              <a:buFont typeface="Arial"/>
              <a:buNone/>
            </a:pPr>
            <a:r>
              <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“Here is the source and how I used it.”</a:t>
            </a:r>
          </a:p>
        </p:txBody>
      </p:sp>
    </p:spTree>
    <p:extLst>
      <p:ext uri="{BB962C8B-B14F-4D97-AF65-F5344CB8AC3E}">
        <p14:creationId xmlns:p14="http://schemas.microsoft.com/office/powerpoint/2010/main" val="138690538"/>
      </p:ext>
    </p:extLst>
  </p:cSld>
</p:sld>
</file>

<file path=ppt/slides/slide21.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402" name="Google Shape;402;p23">
            <a:extLst xmlns:a="http://schemas.openxmlformats.org/drawingml/2006/main">
              <a:ext uri="{FF2B5EF4-FFF2-40B4-BE49-F238E27FC236}">
                <a16:creationId xmlns:a16="http://schemas.microsoft.com/office/drawing/2014/main" id="{B9D76C1F-A605-41C0-AAFC-837B57624D96}"/>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03" name="Google Shape;403;p23">
            <a:extLst xmlns:a="http://schemas.openxmlformats.org/drawingml/2006/main">
              <a:ext uri="{FF2B5EF4-FFF2-40B4-BE49-F238E27FC236}">
                <a16:creationId xmlns:a16="http://schemas.microsoft.com/office/drawing/2014/main" id="{ADA011C8-CA97-4812-92AF-2B0B65CAC7B3}"/>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04" name="Google Shape;404;p23">
            <a:extLst xmlns:a="http://schemas.openxmlformats.org/drawingml/2006/main">
              <a:ext uri="{FF2B5EF4-FFF2-40B4-BE49-F238E27FC236}">
                <a16:creationId xmlns:a16="http://schemas.microsoft.com/office/drawing/2014/main" id="{4AD8174B-F546-4B08-AC14-2EB8E8F8205E}"/>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05" name="Google Shape;405;p23">
            <a:extLst xmlns:a="http://schemas.openxmlformats.org/drawingml/2006/main">
              <a:ext uri="{FF2B5EF4-FFF2-40B4-BE49-F238E27FC236}">
                <a16:creationId xmlns:a16="http://schemas.microsoft.com/office/drawing/2014/main" id="{C8EF5127-C452-4552-94E3-F2CA7FC20A3F}"/>
              </a:ext>
            </a:extLst>
          </p:cNvPr>
          <p:cNvSpPr>
            <a:spLocks xmlns:a="http://schemas.openxmlformats.org/drawingml/2006/main" noGrp="1"/>
          </p:cNvSpPr>
          <p:nvPr/>
        </p:nvSpPr>
        <p:spPr>
          <a:xfrm xmlns:a="http://schemas.openxmlformats.org/drawingml/2006/main">
            <a:off x="411480" y="6236208"/>
            <a:ext cx="49377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STUDENT ACTIVITY</a:t>
            </a:r>
          </a:p>
        </p:txBody>
      </p:sp>
      <p:sp>
        <p:nvSpPr>
          <p:cNvPr id="406" name="Google Shape;406;p23">
            <a:extLst xmlns:a="http://schemas.openxmlformats.org/drawingml/2006/main">
              <a:ext uri="{FF2B5EF4-FFF2-40B4-BE49-F238E27FC236}">
                <a16:creationId xmlns:a16="http://schemas.microsoft.com/office/drawing/2014/main" id="{7A851274-5AE3-4026-B40B-1A4D903BBA8E}"/>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407" name="Google Shape;407;p23">
            <a:extLst xmlns:a="http://schemas.openxmlformats.org/drawingml/2006/main">
              <a:ext uri="{FF2B5EF4-FFF2-40B4-BE49-F238E27FC236}">
                <a16:creationId xmlns:a16="http://schemas.microsoft.com/office/drawing/2014/main" id="{99EC9CDB-F078-4F68-857A-282ECE1CC4C9}"/>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03</a:t>
            </a:r>
          </a:p>
        </p:txBody>
      </p:sp>
      <p:sp>
        <p:nvSpPr>
          <p:cNvPr id="408" name="Google Shape;408;p23">
            <a:extLst xmlns:a="http://schemas.openxmlformats.org/drawingml/2006/main">
              <a:ext uri="{FF2B5EF4-FFF2-40B4-BE49-F238E27FC236}">
                <a16:creationId xmlns:a16="http://schemas.microsoft.com/office/drawing/2014/main" id="{0AABB8CD-B920-448F-B03A-78AD1D74A3FD}"/>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Exit Ticket</a:t>
            </a:r>
          </a:p>
        </p:txBody>
      </p:sp>
      <p:sp>
        <p:nvSpPr>
          <p:cNvPr id="409" name="Google Shape;409;p23">
            <a:extLst xmlns:a="http://schemas.openxmlformats.org/drawingml/2006/main">
              <a:ext uri="{FF2B5EF4-FFF2-40B4-BE49-F238E27FC236}">
                <a16:creationId xmlns:a16="http://schemas.microsoft.com/office/drawing/2014/main" id="{21E8B0DA-7095-4D24-8399-DC24F35DEDC9}"/>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Before you leave</a:t>
            </a:r>
          </a:p>
        </p:txBody>
      </p:sp>
      <p:cxnSp>
        <p:nvCxnSpPr>
          <p:cNvPr id="422" name="Google Shape;410;p23"/>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411" name="Google Shape;411;p23">
            <a:extLst xmlns:a="http://schemas.openxmlformats.org/drawingml/2006/main">
              <a:ext uri="{FF2B5EF4-FFF2-40B4-BE49-F238E27FC236}">
                <a16:creationId xmlns:a16="http://schemas.microsoft.com/office/drawing/2014/main" id="{0C853402-5DDD-4337-8273-A930E56DFA7F}"/>
              </a:ext>
            </a:extLst>
          </p:cNvPr>
          <p:cNvSpPr>
            <a:spLocks xmlns:a="http://schemas.openxmlformats.org/drawingml/2006/main" noGrp="1"/>
          </p:cNvSpPr>
          <p:nvPr/>
        </p:nvSpPr>
        <p:spPr>
          <a:xfrm xmlns:a="http://schemas.openxmlformats.org/drawingml/2006/main">
            <a:off x="777240" y="1783080"/>
            <a:ext cx="1874520" cy="34747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12" name="Google Shape;412;p23">
            <a:extLst xmlns:a="http://schemas.openxmlformats.org/drawingml/2006/main">
              <a:ext uri="{FF2B5EF4-FFF2-40B4-BE49-F238E27FC236}">
                <a16:creationId xmlns:a16="http://schemas.microsoft.com/office/drawing/2014/main" id="{88C0884D-81AD-4DF6-A8EC-644DE4FDBC63}"/>
              </a:ext>
            </a:extLst>
          </p:cNvPr>
          <p:cNvSpPr>
            <a:spLocks xmlns:a="http://schemas.openxmlformats.org/drawingml/2006/main" noGrp="1"/>
          </p:cNvSpPr>
          <p:nvPr/>
        </p:nvSpPr>
        <p:spPr>
          <a:xfrm xmlns:a="http://schemas.openxmlformats.org/drawingml/2006/main">
            <a:off x="868680" y="1865376"/>
            <a:ext cx="16916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000"/>
              <a:buFont typeface="Arial"/>
              <a:buNone/>
            </a:pPr>
            <a:r>
              <a:rPr sz="1000" b="1">
                <a:solidFill>
                  <a:srgbClr val="FFFFFF"/>
                </a:solidFill>
                <a:latin typeface="Arial"/>
                <a:ea typeface="Arial"/>
                <a:cs typeface="Arial"/>
              </a:rPr>
              <a:t>STUDENT ACTIVITY</a:t>
            </a:r>
          </a:p>
        </p:txBody>
      </p:sp>
      <p:sp>
        <p:nvSpPr>
          <p:cNvPr id="413" name="Google Shape;413;p23">
            <a:extLst xmlns:a="http://schemas.openxmlformats.org/drawingml/2006/main">
              <a:ext uri="{FF2B5EF4-FFF2-40B4-BE49-F238E27FC236}">
                <a16:creationId xmlns:a16="http://schemas.microsoft.com/office/drawing/2014/main" id="{ECBCDA1C-A20E-42DA-B6B9-5135766C7786}"/>
              </a:ext>
            </a:extLst>
          </p:cNvPr>
          <p:cNvSpPr>
            <a:spLocks xmlns:a="http://schemas.openxmlformats.org/drawingml/2006/main" noGrp="1"/>
          </p:cNvSpPr>
          <p:nvPr/>
        </p:nvSpPr>
        <p:spPr>
          <a:xfrm xmlns:a="http://schemas.openxmlformats.org/drawingml/2006/main">
            <a:off x="868680" y="2331720"/>
            <a:ext cx="103327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100">
                <a:solidFill>
                  <a:srgbClr val="FFFFFF"/>
                </a:solidFill>
                <a:latin typeface="Arial"/>
                <a:ea typeface="Arial"/>
                <a:cs typeface="Arial"/>
              </a:rPr>
              <a:t>What is one safety or ethics issue your possible project might raise?</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What approval question do you need answered before testing?</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What is one change that could make your project safer, clearer, or more responsible?</a:t>
            </a:r>
          </a:p>
        </p:txBody>
      </p:sp>
    </p:spTree>
    <p:extLst>
      <p:ext uri="{BB962C8B-B14F-4D97-AF65-F5344CB8AC3E}">
        <p14:creationId xmlns:p14="http://schemas.microsoft.com/office/powerpoint/2010/main" val="4842734"/>
      </p:ext>
    </p:extLst>
  </p:cSld>
</p:sld>
</file>

<file path=ppt/slides/slide22.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419" name="Google Shape;419;p24">
            <a:extLst xmlns:a="http://schemas.openxmlformats.org/drawingml/2006/main">
              <a:ext uri="{FF2B5EF4-FFF2-40B4-BE49-F238E27FC236}">
                <a16:creationId xmlns:a16="http://schemas.microsoft.com/office/drawing/2014/main" id="{98C96444-C08C-41E0-894A-188908B59EC8}"/>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20" name="Google Shape;420;p24">
            <a:extLst xmlns:a="http://schemas.openxmlformats.org/drawingml/2006/main">
              <a:ext uri="{FF2B5EF4-FFF2-40B4-BE49-F238E27FC236}">
                <a16:creationId xmlns:a16="http://schemas.microsoft.com/office/drawing/2014/main" id="{B1B291ED-E336-4BA1-8DEE-507F11D806F2}"/>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21" name="Google Shape;421;p24">
            <a:extLst xmlns:a="http://schemas.openxmlformats.org/drawingml/2006/main">
              <a:ext uri="{FF2B5EF4-FFF2-40B4-BE49-F238E27FC236}">
                <a16:creationId xmlns:a16="http://schemas.microsoft.com/office/drawing/2014/main" id="{F763818B-D56F-45FD-9409-269A637F116F}"/>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22" name="Google Shape;422;p24">
            <a:extLst xmlns:a="http://schemas.openxmlformats.org/drawingml/2006/main">
              <a:ext uri="{FF2B5EF4-FFF2-40B4-BE49-F238E27FC236}">
                <a16:creationId xmlns:a16="http://schemas.microsoft.com/office/drawing/2014/main" id="{7D17A40F-76B3-4264-B5FF-7272F95ACC4F}"/>
              </a:ext>
            </a:extLst>
          </p:cNvPr>
          <p:cNvSpPr>
            <a:spLocks xmlns:a="http://schemas.openxmlformats.org/drawingml/2006/main" noGrp="1"/>
          </p:cNvSpPr>
          <p:nvPr/>
        </p:nvSpPr>
        <p:spPr>
          <a:xfrm xmlns:a="http://schemas.openxmlformats.org/drawingml/2006/main">
            <a:off x="411480" y="6236208"/>
            <a:ext cx="49377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TEACHER FACILITATION</a:t>
            </a:r>
          </a:p>
        </p:txBody>
      </p:sp>
      <p:sp>
        <p:nvSpPr>
          <p:cNvPr id="423" name="Google Shape;423;p24">
            <a:extLst xmlns:a="http://schemas.openxmlformats.org/drawingml/2006/main">
              <a:ext uri="{FF2B5EF4-FFF2-40B4-BE49-F238E27FC236}">
                <a16:creationId xmlns:a16="http://schemas.microsoft.com/office/drawing/2014/main" id="{BFB03826-33AD-40A4-A935-7730F16BF00E}"/>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424" name="Google Shape;424;p24">
            <a:extLst xmlns:a="http://schemas.openxmlformats.org/drawingml/2006/main">
              <a:ext uri="{FF2B5EF4-FFF2-40B4-BE49-F238E27FC236}">
                <a16:creationId xmlns:a16="http://schemas.microsoft.com/office/drawing/2014/main" id="{04735FDE-C05D-4884-9186-5847E8E7B83E}"/>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03</a:t>
            </a:r>
          </a:p>
        </p:txBody>
      </p:sp>
      <p:sp>
        <p:nvSpPr>
          <p:cNvPr id="425" name="Google Shape;425;p24">
            <a:extLst xmlns:a="http://schemas.openxmlformats.org/drawingml/2006/main">
              <a:ext uri="{FF2B5EF4-FFF2-40B4-BE49-F238E27FC236}">
                <a16:creationId xmlns:a16="http://schemas.microsoft.com/office/drawing/2014/main" id="{7E68F62B-CA51-471B-842B-33E82423EB24}"/>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Teacher Facilitation Map</a:t>
            </a:r>
          </a:p>
        </p:txBody>
      </p:sp>
      <p:sp>
        <p:nvSpPr>
          <p:cNvPr id="426" name="Google Shape;426;p24">
            <a:extLst xmlns:a="http://schemas.openxmlformats.org/drawingml/2006/main">
              <a:ext uri="{FF2B5EF4-FFF2-40B4-BE49-F238E27FC236}">
                <a16:creationId xmlns:a16="http://schemas.microsoft.com/office/drawing/2014/main" id="{7E677BDB-92B6-41E3-B430-E0EEB6DBB3A3}"/>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Suggested placement within the STARLAB chapter package.</a:t>
            </a:r>
          </a:p>
        </p:txBody>
      </p:sp>
      <p:cxnSp>
        <p:nvCxnSpPr>
          <p:cNvPr id="442" name="Google Shape;427;p24"/>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428" name="Google Shape;428;p24">
            <a:extLst xmlns:a="http://schemas.openxmlformats.org/drawingml/2006/main">
              <a:ext uri="{FF2B5EF4-FFF2-40B4-BE49-F238E27FC236}">
                <a16:creationId xmlns:a16="http://schemas.microsoft.com/office/drawing/2014/main" id="{149150D2-08C2-45E6-A65B-E5BFA2EE8F1C}"/>
              </a:ext>
            </a:extLst>
          </p:cNvPr>
          <p:cNvSpPr>
            <a:spLocks xmlns:a="http://schemas.openxmlformats.org/drawingml/2006/main" noGrp="1"/>
          </p:cNvSpPr>
          <p:nvPr/>
        </p:nvSpPr>
        <p:spPr>
          <a:xfrm xmlns:a="http://schemas.openxmlformats.org/drawingml/2006/main">
            <a:off x="777240" y="1828800"/>
            <a:ext cx="5257800" cy="3566160"/>
          </a:xfrm>
          <a:prstGeom xmlns:a="http://schemas.openxmlformats.org/drawingml/2006/main" prst="roundRect">
            <a:avLst>
              <a:gd name="adj" fmla="val 1538"/>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29" name="Google Shape;429;p24">
            <a:extLst xmlns:a="http://schemas.openxmlformats.org/drawingml/2006/main">
              <a:ext uri="{FF2B5EF4-FFF2-40B4-BE49-F238E27FC236}">
                <a16:creationId xmlns:a16="http://schemas.microsoft.com/office/drawing/2014/main" id="{DB8535DB-A92E-450A-9480-EEA2397EFA25}"/>
              </a:ext>
            </a:extLst>
          </p:cNvPr>
          <p:cNvSpPr>
            <a:spLocks xmlns:a="http://schemas.openxmlformats.org/drawingml/2006/main" noGrp="1"/>
          </p:cNvSpPr>
          <p:nvPr/>
        </p:nvSpPr>
        <p:spPr>
          <a:xfrm xmlns:a="http://schemas.openxmlformats.org/drawingml/2006/main">
            <a:off x="941832" y="1965960"/>
            <a:ext cx="492861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BEFORE THIS DECK</a:t>
            </a:r>
          </a:p>
        </p:txBody>
      </p:sp>
      <p:sp>
        <p:nvSpPr>
          <p:cNvPr id="430" name="Google Shape;430;p24">
            <a:extLst xmlns:a="http://schemas.openxmlformats.org/drawingml/2006/main">
              <a:ext uri="{FF2B5EF4-FFF2-40B4-BE49-F238E27FC236}">
                <a16:creationId xmlns:a16="http://schemas.microsoft.com/office/drawing/2014/main" id="{45A5ABD4-F75A-4913-8ED6-A2259C319BAF}"/>
              </a:ext>
            </a:extLst>
          </p:cNvPr>
          <p:cNvSpPr>
            <a:spLocks xmlns:a="http://schemas.openxmlformats.org/drawingml/2006/main" noGrp="1"/>
          </p:cNvSpPr>
          <p:nvPr/>
        </p:nvSpPr>
        <p:spPr>
          <a:xfrm xmlns:a="http://schemas.openxmlformats.org/drawingml/2006/main">
            <a:off x="941832" y="2331720"/>
            <a:ext cx="4928616" cy="29077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Students complete interest inventory.</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Students brainstorm possible topics.</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Teacher introduces STARLAB norms.</a:t>
            </a:r>
          </a:p>
        </p:txBody>
      </p:sp>
      <p:sp>
        <p:nvSpPr>
          <p:cNvPr id="431" name="Google Shape;431;p24">
            <a:extLst xmlns:a="http://schemas.openxmlformats.org/drawingml/2006/main">
              <a:ext uri="{FF2B5EF4-FFF2-40B4-BE49-F238E27FC236}">
                <a16:creationId xmlns:a16="http://schemas.microsoft.com/office/drawing/2014/main" id="{F9C28143-15DC-4319-8CE2-98B073E10151}"/>
              </a:ext>
            </a:extLst>
          </p:cNvPr>
          <p:cNvSpPr>
            <a:spLocks xmlns:a="http://schemas.openxmlformats.org/drawingml/2006/main" noGrp="1"/>
          </p:cNvSpPr>
          <p:nvPr/>
        </p:nvSpPr>
        <p:spPr>
          <a:xfrm xmlns:a="http://schemas.openxmlformats.org/drawingml/2006/main">
            <a:off x="6172200" y="1828800"/>
            <a:ext cx="5257800" cy="3566160"/>
          </a:xfrm>
          <a:prstGeom xmlns:a="http://schemas.openxmlformats.org/drawingml/2006/main" prst="roundRect">
            <a:avLst>
              <a:gd name="adj" fmla="val 1538"/>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32" name="Google Shape;432;p24">
            <a:extLst xmlns:a="http://schemas.openxmlformats.org/drawingml/2006/main">
              <a:ext uri="{FF2B5EF4-FFF2-40B4-BE49-F238E27FC236}">
                <a16:creationId xmlns:a16="http://schemas.microsoft.com/office/drawing/2014/main" id="{DDDD3668-29B8-4A93-A445-FC6FC5E89573}"/>
              </a:ext>
            </a:extLst>
          </p:cNvPr>
          <p:cNvSpPr>
            <a:spLocks xmlns:a="http://schemas.openxmlformats.org/drawingml/2006/main" noGrp="1"/>
          </p:cNvSpPr>
          <p:nvPr/>
        </p:nvSpPr>
        <p:spPr>
          <a:xfrm xmlns:a="http://schemas.openxmlformats.org/drawingml/2006/main">
            <a:off x="6336792" y="1965960"/>
            <a:ext cx="492861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AFTER THIS DECK</a:t>
            </a:r>
          </a:p>
        </p:txBody>
      </p:sp>
      <p:sp>
        <p:nvSpPr>
          <p:cNvPr id="433" name="Google Shape;433;p24">
            <a:extLst xmlns:a="http://schemas.openxmlformats.org/drawingml/2006/main">
              <a:ext uri="{FF2B5EF4-FFF2-40B4-BE49-F238E27FC236}">
                <a16:creationId xmlns:a16="http://schemas.microsoft.com/office/drawing/2014/main" id="{4C34202D-0B64-4B41-862D-B91724959113}"/>
              </a:ext>
            </a:extLst>
          </p:cNvPr>
          <p:cNvSpPr>
            <a:spLocks xmlns:a="http://schemas.openxmlformats.org/drawingml/2006/main" noGrp="1"/>
          </p:cNvSpPr>
          <p:nvPr/>
        </p:nvSpPr>
        <p:spPr>
          <a:xfrm xmlns:a="http://schemas.openxmlformats.org/drawingml/2006/main">
            <a:off x="6336792" y="2331720"/>
            <a:ext cx="4928616" cy="29077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Students complete ethics agreement.</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Students red-flag their own ideas.</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Teacher begins approval tracking.</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Risk screening follows in Unit 2.</a:t>
            </a:r>
          </a:p>
        </p:txBody>
      </p:sp>
    </p:spTree>
    <p:extLst>
      <p:ext uri="{BB962C8B-B14F-4D97-AF65-F5344CB8AC3E}">
        <p14:creationId xmlns:p14="http://schemas.microsoft.com/office/powerpoint/2010/main" val="205769992"/>
      </p:ext>
    </p:extLst>
  </p:cSld>
</p:sld>
</file>

<file path=ppt/slides/slide23.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439" name="Google Shape;439;p25">
            <a:extLst xmlns:a="http://schemas.openxmlformats.org/drawingml/2006/main">
              <a:ext uri="{FF2B5EF4-FFF2-40B4-BE49-F238E27FC236}">
                <a16:creationId xmlns:a16="http://schemas.microsoft.com/office/drawing/2014/main" id="{415F3C6D-0F9F-4971-A55B-D639E155DC17}"/>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40" name="Google Shape;440;p25">
            <a:extLst xmlns:a="http://schemas.openxmlformats.org/drawingml/2006/main">
              <a:ext uri="{FF2B5EF4-FFF2-40B4-BE49-F238E27FC236}">
                <a16:creationId xmlns:a16="http://schemas.microsoft.com/office/drawing/2014/main" id="{D400DFFA-467F-4B53-A84A-9EE4C429B1A4}"/>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41" name="Google Shape;441;p25">
            <a:extLst xmlns:a="http://schemas.openxmlformats.org/drawingml/2006/main">
              <a:ext uri="{FF2B5EF4-FFF2-40B4-BE49-F238E27FC236}">
                <a16:creationId xmlns:a16="http://schemas.microsoft.com/office/drawing/2014/main" id="{DEE10108-E9E9-468D-94A1-5C2A11989ED1}"/>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42" name="Google Shape;442;p25">
            <a:extLst xmlns:a="http://schemas.openxmlformats.org/drawingml/2006/main">
              <a:ext uri="{FF2B5EF4-FFF2-40B4-BE49-F238E27FC236}">
                <a16:creationId xmlns:a16="http://schemas.microsoft.com/office/drawing/2014/main" id="{F2E83B48-6D53-4512-A703-0E735DAF8443}"/>
              </a:ext>
            </a:extLst>
          </p:cNvPr>
          <p:cNvSpPr>
            <a:spLocks xmlns:a="http://schemas.openxmlformats.org/drawingml/2006/main" noGrp="1"/>
          </p:cNvSpPr>
          <p:nvPr/>
        </p:nvSpPr>
        <p:spPr>
          <a:xfrm xmlns:a="http://schemas.openxmlformats.org/drawingml/2006/main">
            <a:off x="411480" y="6236208"/>
            <a:ext cx="49377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NEXT STEP</a:t>
            </a:r>
          </a:p>
        </p:txBody>
      </p:sp>
      <p:sp>
        <p:nvSpPr>
          <p:cNvPr id="443" name="Google Shape;443;p25">
            <a:extLst xmlns:a="http://schemas.openxmlformats.org/drawingml/2006/main">
              <a:ext uri="{FF2B5EF4-FFF2-40B4-BE49-F238E27FC236}">
                <a16:creationId xmlns:a16="http://schemas.microsoft.com/office/drawing/2014/main" id="{93D8ADEC-BBF8-4CD5-8114-797A9FA5A1D7}"/>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444" name="Google Shape;444;p25">
            <a:extLst xmlns:a="http://schemas.openxmlformats.org/drawingml/2006/main">
              <a:ext uri="{FF2B5EF4-FFF2-40B4-BE49-F238E27FC236}">
                <a16:creationId xmlns:a16="http://schemas.microsoft.com/office/drawing/2014/main" id="{48A06519-8B11-4B98-A1EA-A8C6E9AAA19F}"/>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03</a:t>
            </a:r>
          </a:p>
        </p:txBody>
      </p:sp>
      <p:sp>
        <p:nvSpPr>
          <p:cNvPr id="445" name="Google Shape;445;p25">
            <a:extLst xmlns:a="http://schemas.openxmlformats.org/drawingml/2006/main">
              <a:ext uri="{FF2B5EF4-FFF2-40B4-BE49-F238E27FC236}">
                <a16:creationId xmlns:a16="http://schemas.microsoft.com/office/drawing/2014/main" id="{1F2AAC3A-5C27-4394-B7F4-28466C93494D}"/>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Curiosity With Responsibility</a:t>
            </a:r>
          </a:p>
        </p:txBody>
      </p:sp>
      <p:sp>
        <p:nvSpPr>
          <p:cNvPr id="446" name="Google Shape;446;p25">
            <a:extLst xmlns:a="http://schemas.openxmlformats.org/drawingml/2006/main">
              <a:ext uri="{FF2B5EF4-FFF2-40B4-BE49-F238E27FC236}">
                <a16:creationId xmlns:a16="http://schemas.microsoft.com/office/drawing/2014/main" id="{2306E5D0-6259-438A-906B-F2695BE5CDA2}"/>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That is the STARLAB standard.</a:t>
            </a:r>
          </a:p>
        </p:txBody>
      </p:sp>
      <p:cxnSp>
        <p:nvCxnSpPr>
          <p:cNvPr id="459" name="Google Shape;447;p25"/>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448" name="Google Shape;448;p25">
            <a:extLst xmlns:a="http://schemas.openxmlformats.org/drawingml/2006/main">
              <a:ext uri="{FF2B5EF4-FFF2-40B4-BE49-F238E27FC236}">
                <a16:creationId xmlns:a16="http://schemas.microsoft.com/office/drawing/2014/main" id="{0222472C-23F2-4563-9819-0DA73C1D17E3}"/>
              </a:ext>
            </a:extLst>
          </p:cNvPr>
          <p:cNvSpPr>
            <a:spLocks xmlns:a="http://schemas.openxmlformats.org/drawingml/2006/main" noGrp="1"/>
          </p:cNvSpPr>
          <p:nvPr/>
        </p:nvSpPr>
        <p:spPr>
          <a:xfrm xmlns:a="http://schemas.openxmlformats.org/drawingml/2006/main">
            <a:off x="914400" y="1965960"/>
            <a:ext cx="1033272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E22B27"/>
              </a:buClr>
              <a:buSzPts val="1400"/>
              <a:buFont typeface="Arial"/>
              <a:buNone/>
            </a:pPr>
            <a:r>
              <a:rPr sz="1400" b="1">
                <a:solidFill>
                  <a:srgbClr val="E22B27"/>
                </a:solidFill>
                <a:latin typeface="Arial"/>
                <a:ea typeface="Arial"/>
                <a:cs typeface="Arial"/>
              </a:rPr>
              <a:t>NEXT DECK</a:t>
            </a:r>
          </a:p>
        </p:txBody>
      </p:sp>
      <p:sp>
        <p:nvSpPr>
          <p:cNvPr id="449" name="Google Shape;449;p25">
            <a:extLst xmlns:a="http://schemas.openxmlformats.org/drawingml/2006/main">
              <a:ext uri="{FF2B5EF4-FFF2-40B4-BE49-F238E27FC236}">
                <a16:creationId xmlns:a16="http://schemas.microsoft.com/office/drawing/2014/main" id="{991D70CA-3B42-4E0E-B408-3CE7EEE0687D}"/>
              </a:ext>
            </a:extLst>
          </p:cNvPr>
          <p:cNvSpPr>
            <a:spLocks xmlns:a="http://schemas.openxmlformats.org/drawingml/2006/main" noGrp="1"/>
          </p:cNvSpPr>
          <p:nvPr/>
        </p:nvSpPr>
        <p:spPr>
          <a:xfrm xmlns:a="http://schemas.openxmlformats.org/drawingml/2006/main">
            <a:off x="914400" y="2468880"/>
            <a:ext cx="10332720" cy="9601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3400"/>
              <a:buFont typeface="Play"/>
              <a:buNone/>
            </a:pPr>
            <a:r>
              <a:rPr sz="3400" b="1">
                <a:solidFill>
                  <a:srgbClr val="FFFFFF"/>
                </a:solidFill>
                <a:latin typeface="Play"/>
                <a:ea typeface="Play"/>
                <a:cs typeface="Play"/>
              </a:rPr>
              <a:t>EXPERIMENTAL DESIGN</a:t>
            </a:r>
          </a:p>
          <a:p xmlns:a="http://schemas.openxmlformats.org/drawingml/2006/main">
            <a:pPr marL="0" marR="0" indent="0" algn="ctr">
              <a:spcBef>
                <a:spcPts val="0"/>
              </a:spcBef>
              <a:spcAft>
                <a:spcPts val="0"/>
              </a:spcAft>
              <a:buClr>
                <a:srgbClr val="FFFFFF"/>
              </a:buClr>
              <a:buSzPts val="3400"/>
              <a:buFont typeface="Play"/>
              <a:buNone/>
            </a:pPr>
            <a:r>
              <a:rPr sz="3400" b="1">
                <a:solidFill>
                  <a:srgbClr val="FFFFFF"/>
                </a:solidFill>
                <a:latin typeface="Play"/>
                <a:ea typeface="Play"/>
                <a:cs typeface="Play"/>
              </a:rPr>
              <a:t>&amp; ENGINEERING DESIGN</a:t>
            </a:r>
          </a:p>
        </p:txBody>
      </p:sp>
      <p:sp>
        <p:nvSpPr>
          <p:cNvPr id="450" name="Google Shape;450;p25">
            <a:extLst xmlns:a="http://schemas.openxmlformats.org/drawingml/2006/main">
              <a:ext uri="{FF2B5EF4-FFF2-40B4-BE49-F238E27FC236}">
                <a16:creationId xmlns:a16="http://schemas.microsoft.com/office/drawing/2014/main" id="{251BC192-A612-4D9A-A6DD-EBA08CEC43F9}"/>
              </a:ext>
            </a:extLst>
          </p:cNvPr>
          <p:cNvSpPr>
            <a:spLocks xmlns:a="http://schemas.openxmlformats.org/drawingml/2006/main" noGrp="1"/>
          </p:cNvSpPr>
          <p:nvPr/>
        </p:nvSpPr>
        <p:spPr>
          <a:xfrm xmlns:a="http://schemas.openxmlformats.org/drawingml/2006/main">
            <a:off x="1828800" y="3977640"/>
            <a:ext cx="850392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B8B8B8"/>
              </a:buClr>
              <a:buSzPts val="2000"/>
              <a:buFont typeface="Arial"/>
              <a:buNone/>
            </a:pPr>
            <a:r>
              <a:rPr sz="2000">
                <a:solidFill>
                  <a:srgbClr val="B8B8B8"/>
                </a:solidFill>
                <a:latin typeface="Arial"/>
                <a:ea typeface="Arial"/>
                <a:cs typeface="Arial"/>
              </a:rPr>
              <a:t>Next, students learn the shared design vocabulary they will use to plan evidence-based investigations and engineering tests.</a:t>
            </a:r>
          </a:p>
        </p:txBody>
      </p:sp>
    </p:spTree>
    <p:extLst>
      <p:ext uri="{BB962C8B-B14F-4D97-AF65-F5344CB8AC3E}">
        <p14:creationId xmlns:p14="http://schemas.microsoft.com/office/powerpoint/2010/main" val="1732187093"/>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2026-07-16T15:08:40.1850000Z</dcterms:created>
  <dcterms:modified xsi:type="dcterms:W3CDTF">2026-07-16T15:08:40.1850000Z</dcterms:modified>
</coreProperties>
</file>