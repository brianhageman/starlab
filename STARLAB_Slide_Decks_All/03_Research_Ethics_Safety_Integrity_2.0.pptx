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1675"/>
  <p:notesSz cx="6858000" cy="12191675"/>
  <p:embeddedFontLst>
    <p:embeddedFont>
      <p:font typeface="Play"/>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lay-bold.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deck before students begin formal project planning or testing. Set the tone: STARLAB encourages original questions, but originality never outranks safety, ethics, or honesty.</a:t>
            </a:r>
            <a:br>
              <a:rPr lang="en-US"/>
            </a:br>
            <a:br>
              <a:rPr lang="en-US"/>
            </a:br>
            <a:r>
              <a:rPr lang="en-US"/>
              <a:t>Required print materials for Deck 3:</a:t>
            </a:r>
            <a:br>
              <a:rPr lang="en-US"/>
            </a:br>
            <a:r>
              <a:rPr lang="en-US"/>
              <a:t>• Unit 1 Student Handout 4: Research Ethics and Integrity Agreement</a:t>
            </a:r>
            <a:br>
              <a:rPr lang="en-US"/>
            </a:br>
            <a:r>
              <a:rPr lang="en-US"/>
              <a:t>• Unit 2 Student Handout 9: Safety and Risk Assessment</a:t>
            </a:r>
            <a:br>
              <a:rPr lang="en-US"/>
            </a:br>
            <a:r>
              <a:rPr lang="en-US"/>
              <a:t>• Unit 2 Student Handout 10: Ethics and Approval Screening</a:t>
            </a:r>
            <a:br>
              <a:rPr lang="en-US"/>
            </a:br>
            <a:r>
              <a:rPr lang="en-US"/>
              <a:t>• Unit 2 Appendix E: Risk Assessment Matrix</a:t>
            </a:r>
            <a:br>
              <a:rPr lang="en-US"/>
            </a:br>
            <a:r>
              <a:rPr lang="en-US"/>
              <a:t>• Unit 2 Appendix F: Safety and Ethics Red Flags</a:t>
            </a:r>
            <a:br>
              <a:rPr lang="en-US"/>
            </a:br>
            <a:r>
              <a:rPr lang="en-US"/>
              <a:t>• Unit 2 Appendix H: Project Approval Checklist</a:t>
            </a:r>
            <a:br>
              <a:rPr lang="en-US"/>
            </a:br>
            <a:br>
              <a:rPr lang="en-US"/>
            </a:br>
            <a:r>
              <a:rPr lang="en-US"/>
              <a:t>Resource alignment:</a:t>
            </a:r>
            <a:br>
              <a:rPr lang="en-US"/>
            </a:br>
            <a:r>
              <a:rPr lang="en-US"/>
              <a:t>Use in Unit 1 after topic brainstorming and revisit in Unit 2 during research plan approval. Next deck connection: Deck 4: Experimental Design &amp; Engineering Design.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Make clear that this is not meant to scare students away from ambitious projects. It is meant to help them design projects that can actually move forward. Ask students: What is a project idea that sounds interesting but might need safety or ethics review?</a:t>
            </a:r>
            <a:br>
              <a:rPr lang="en-US"/>
            </a:br>
            <a:br>
              <a:rPr lang="en-US"/>
            </a:br>
            <a:r>
              <a:rPr lang="en-US"/>
              <a:t>Resource alignment:</a:t>
            </a:r>
            <a:br>
              <a:rPr lang="en-US"/>
            </a:br>
            <a:r>
              <a:rPr lang="en-US"/>
              <a:t>Connects to Unit 1 Student Handout 4: Research Ethics and Integrity Agreement. Also previews Unit 2 Student Handout 9: Safety and Risk Assessment and Unit 2 Student Handout 10: Ethics and Approval Screening.</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These four ideas are the anchors for the whole deck. Use them as recurring language throughout the year. Student-facing activity: students write one example of each non-negotiable in their research journal.</a:t>
            </a:r>
            <a:br>
              <a:rPr lang="en-US"/>
            </a:br>
            <a:br>
              <a:rPr lang="en-US"/>
            </a:br>
            <a:r>
              <a:rPr lang="en-US"/>
              <a:t>Resource alignment:</a:t>
            </a:r>
            <a:br>
              <a:rPr lang="en-US"/>
            </a:br>
            <a:r>
              <a:rPr lang="en-US"/>
              <a:t>Use Unit 1 Student Handout 4: Research Ethics and Integrity Agreement.</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may think changing or deleting data is harmless if the experiment “obviously went wrong.” Distinguish between deleting data and flagging data. Prompt: What is the difference between excluding a trial for a documented reason and hiding a trial because it hurts your conclusion?</a:t>
            </a:r>
            <a:br>
              <a:rPr lang="en-US"/>
            </a:br>
            <a:br>
              <a:rPr lang="en-US"/>
            </a:br>
            <a:r>
              <a:rPr lang="en-US"/>
              <a:t>Resource alignment:</a:t>
            </a:r>
            <a:br>
              <a:rPr lang="en-US"/>
            </a:br>
            <a:r>
              <a:rPr lang="en-US"/>
              <a:t>Use Unit 1 Student Handout 4: Research Ethics and Integrity Agreement. Later connection: Unit 4 Appendix B: Data Cleaning Rules.</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with a teacher-created Data Dilemma Sort handout or as a discussion prompt. Keep students focused on documentation and justification. Suggested debrief: acceptable practice would be to flag the trial, describe what happened, and decide with teacher approval whether it belongs in analysis.</a:t>
            </a:r>
            <a:br>
              <a:rPr lang="en-US"/>
            </a:br>
            <a:br>
              <a:rPr lang="en-US"/>
            </a:br>
            <a:r>
              <a:rPr lang="en-US"/>
              <a:t>Resource alignment:</a:t>
            </a:r>
            <a:br>
              <a:rPr lang="en-US"/>
            </a:br>
            <a:r>
              <a:rPr lang="en-US"/>
              <a:t>Use Unit 1 Student Handout 4: Research Ethics and Integrity Agreement. Supports later Unit 4 Student Handout 3: Data Cleaning Decision Log.</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often think citation only applies to essays. Explain that credit is also owed for code, procedures, images, datasets, and mentor input. Student-facing activity: have students start a “Sources and Support” section in their research journal.</a:t>
            </a:r>
            <a:br>
              <a:rPr lang="en-US"/>
            </a:br>
            <a:br>
              <a:rPr lang="en-US"/>
            </a:br>
            <a:r>
              <a:rPr lang="en-US"/>
              <a:t>Resource alignment:</a:t>
            </a:r>
            <a:br>
              <a:rPr lang="en-US"/>
            </a:br>
            <a:r>
              <a:rPr lang="en-US"/>
              <a:t>Use Unit 1 Student Handout 4: Research Ethics and Integrity Agreement. Also connects to Unit 2 Student Handout 2: Background Research Notes and Unit 2 Student Handout 12: Formal Research Plan Template.</a:t>
            </a:r>
            <a:endParaRPr/>
          </a:p>
        </p:txBody>
      </p:sp>
      <p:sp>
        <p:nvSpPr>
          <p:cNvPr id="104" name="Google Shape;1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Present this as a procedure, not as a threat. Students need to understand that approval protects the project and the researcher. Emphasize that “I changed the setup” means “I need to check whether the approval still applies.”</a:t>
            </a:r>
            <a:br>
              <a:rPr lang="en-US"/>
            </a:br>
            <a:br>
              <a:rPr lang="en-US"/>
            </a:br>
            <a:r>
              <a:rPr lang="en-US"/>
              <a:t>Resource alignment:</a:t>
            </a:r>
            <a:br>
              <a:rPr lang="en-US"/>
            </a:br>
            <a:r>
              <a:rPr lang="en-US"/>
              <a:t>Use Unit 2 Student Handout 9: Safety and Risk Assessment and Unit 2 Appendix H: Project Approval Checklist.</a:t>
            </a:r>
            <a:endParaRPr/>
          </a:p>
        </p:txBody>
      </p:sp>
      <p:sp>
        <p:nvSpPr>
          <p:cNvPr id="124" name="Google Shape;1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is a screening slide. Students do not need to memorize every rule, but they should recognize when a project enters a higher-review category. Ask: Which categories might appear in your possible project ideas?</a:t>
            </a:r>
            <a:br>
              <a:rPr lang="en-US"/>
            </a:br>
            <a:br>
              <a:rPr lang="en-US"/>
            </a:br>
            <a:r>
              <a:rPr lang="en-US"/>
              <a:t>Resource alignment:</a:t>
            </a:r>
            <a:br>
              <a:rPr lang="en-US"/>
            </a:br>
            <a:r>
              <a:rPr lang="en-US"/>
              <a:t>Use Unit 2 Student Handout 9: Safety and Risk Assessment and Unit 2 Appendix F: Safety and Ethics Red Flags.</a:t>
            </a:r>
            <a:endParaRPr/>
          </a:p>
        </p:txBody>
      </p:sp>
      <p:sp>
        <p:nvSpPr>
          <p:cNvPr id="139" name="Google Shape;1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activity helps students see that interesting ideas can involve human participants, ingestion, health claims, consent, and school policy issues. The goal is not just to reject the idea, but to redirect it. Possible safer direction: use public data, study device measurement accuracy, or redesign the question without ingestion or health intervention.</a:t>
            </a:r>
            <a:br>
              <a:rPr lang="en-US"/>
            </a:br>
            <a:br>
              <a:rPr lang="en-US"/>
            </a:br>
            <a:r>
              <a:rPr lang="en-US"/>
              <a:t>Resource alignment:</a:t>
            </a:r>
            <a:br>
              <a:rPr lang="en-US"/>
            </a:br>
            <a:r>
              <a:rPr lang="en-US"/>
              <a:t>Use Unit 2 Student Handout 10: Ethics and Approval Screening and Unit 2 Appendix F: Safety and Ethics Red Flags. Also connects to Unit 1 Student Handout 7: Question Quality Test if used during Unit 1.</a:t>
            </a:r>
            <a:endParaRPr/>
          </a:p>
        </p:txBody>
      </p:sp>
      <p:sp>
        <p:nvSpPr>
          <p:cNvPr id="171" name="Google Shape;1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Do not provide legal advice. Present this as a school approval and research ethics issue. Local rules may vary. Stress that anonymous does not always mean risk-free, especially with sensitive topics or small groups.</a:t>
            </a:r>
            <a:br>
              <a:rPr lang="en-US"/>
            </a:br>
            <a:br>
              <a:rPr lang="en-US"/>
            </a:br>
            <a:r>
              <a:rPr lang="en-US"/>
              <a:t>Resource alignment:</a:t>
            </a:r>
            <a:br>
              <a:rPr lang="en-US"/>
            </a:br>
            <a:r>
              <a:rPr lang="en-US"/>
              <a:t>Use Unit 2 Student Handout 10: Ethics and Approval Screening and Unit 2 Appendix F: Safety and Ethics Red Flags.</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connects ethics to data handling. Students often focus on the act of collecting data, but storage and sharing also matter. Ask students to describe how they would anonymize or group human-subject data, if approved.</a:t>
            </a:r>
            <a:br>
              <a:rPr lang="en-US"/>
            </a:br>
            <a:br>
              <a:rPr lang="en-US"/>
            </a:br>
            <a:r>
              <a:rPr lang="en-US"/>
              <a:t>Resource alignment:</a:t>
            </a:r>
            <a:br>
              <a:rPr lang="en-US"/>
            </a:br>
            <a:r>
              <a:rPr lang="en-US"/>
              <a:t>Use Unit 2 Student Handout 10: Ethics and Approval Screening. Also connects to Unit 2 Appendix F: Safety and Ethics Red Flags.</a:t>
            </a:r>
            <a:endParaRPr/>
          </a:p>
        </p:txBody>
      </p:sp>
      <p:sp>
        <p:nvSpPr>
          <p:cNvPr id="203" name="Google Shape;20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Avoid encouraging students toward high-risk biological or animal projects unless your school has the expertise and approval structure to manage them. Keep the language clear: curiosity is valid, but the method must be allowed and safe.</a:t>
            </a:r>
            <a:br>
              <a:rPr lang="en-US"/>
            </a:br>
            <a:br>
              <a:rPr lang="en-US"/>
            </a:br>
            <a:r>
              <a:rPr lang="en-US"/>
              <a:t>Resource alignment:</a:t>
            </a:r>
            <a:br>
              <a:rPr lang="en-US"/>
            </a:br>
            <a:r>
              <a:rPr lang="en-US"/>
              <a:t>Use Unit 2 Student Handout 10: Ethics and Approval Screening and Unit 2 Appendix F: Safety and Ethics Red Flags.</a:t>
            </a:r>
            <a:endParaRPr/>
          </a:p>
        </p:txBody>
      </p:sp>
      <p:sp>
        <p:nvSpPr>
          <p:cNvPr id="224" name="Google Shape;2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Connect this slide to your local classroom resources. Mention specific equipment students may use, such as 3D printers, soldering tools, sensors, batteries, hot plates, or power supplies. Remind students that “I know how to use it” is not the same as approved training.</a:t>
            </a:r>
            <a:br>
              <a:rPr lang="en-US"/>
            </a:br>
            <a:br>
              <a:rPr lang="en-US"/>
            </a:br>
            <a:r>
              <a:rPr lang="en-US"/>
              <a:t>Resource alignment:</a:t>
            </a:r>
            <a:br>
              <a:rPr lang="en-US"/>
            </a:br>
            <a:r>
              <a:rPr lang="en-US"/>
              <a:t>Use Unit 2 Student Handout 9: Safety and Risk Assessment and Unit 2 Appendix E: Risk Assessment Matrix.</a:t>
            </a:r>
            <a:endParaRPr/>
          </a:p>
        </p:txBody>
      </p:sp>
      <p:sp>
        <p:nvSpPr>
          <p:cNvPr id="239" name="Google Shape;23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Useful for water, soil, microplastics, plant, runoff, or local ecology projects. Have students think about the impact of collection and disposal, not just measurement.</a:t>
            </a:r>
            <a:br>
              <a:rPr lang="en-US"/>
            </a:br>
            <a:br>
              <a:rPr lang="en-US"/>
            </a:br>
            <a:r>
              <a:rPr lang="en-US"/>
              <a:t>Resource alignment:</a:t>
            </a:r>
            <a:br>
              <a:rPr lang="en-US"/>
            </a:br>
            <a:r>
              <a:rPr lang="en-US"/>
              <a:t>Use Unit 2 Student Handout 9: Safety and Risk Assessment and Unit 2 Student Handout 10: Ethics and Approval Screening.</a:t>
            </a:r>
            <a:endParaRPr/>
          </a:p>
        </p:txBody>
      </p:sp>
      <p:sp>
        <p:nvSpPr>
          <p:cNvPr id="254" name="Google Shape;25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as the process overview for Unit 2 and early Unit 3. Students should understand that approval is not automatic and not personal. It is a research quality and safety gate.</a:t>
            </a:r>
            <a:br>
              <a:rPr lang="en-US"/>
            </a:br>
            <a:br>
              <a:rPr lang="en-US"/>
            </a:br>
            <a:r>
              <a:rPr lang="en-US"/>
              <a:t>Resource alignment:</a:t>
            </a:r>
            <a:br>
              <a:rPr lang="en-US"/>
            </a:br>
            <a:r>
              <a:rPr lang="en-US"/>
              <a:t>Use Unit 2 Student Handout 12: Formal Research Plan Template, Unit 2 Student Handout 13: Research Plan Conference Form, and Unit 2 Appendix H: Project Approval Checklist.</a:t>
            </a:r>
            <a:endParaRPr/>
          </a:p>
        </p:txBody>
      </p:sp>
      <p:sp>
        <p:nvSpPr>
          <p:cNvPr id="274" name="Google Shape;27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gives students decision language. Many ideas are not a simple yes/no. Encourage “revise” as a productive middle path.</a:t>
            </a:r>
            <a:br>
              <a:rPr lang="en-US"/>
            </a:br>
            <a:br>
              <a:rPr lang="en-US"/>
            </a:br>
            <a:r>
              <a:rPr lang="en-US"/>
              <a:t>Resource alignment:</a:t>
            </a:r>
            <a:br>
              <a:rPr lang="en-US"/>
            </a:br>
            <a:r>
              <a:rPr lang="en-US"/>
              <a:t>Use Unit 2 Appendix H: Project Approval Checklist and Unit 2 Student Handout 13: Research Plan Conference Form.</a:t>
            </a:r>
            <a:endParaRPr/>
          </a:p>
        </p:txBody>
      </p:sp>
      <p:sp>
        <p:nvSpPr>
          <p:cNvPr id="312" name="Google Shape;31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station cards or ask groups to generate scenarios from their own interests. Keep the tone practical: students are learning how to improve project design, not just identify problems.</a:t>
            </a:r>
            <a:br>
              <a:rPr lang="en-US"/>
            </a:br>
            <a:br>
              <a:rPr lang="en-US"/>
            </a:br>
            <a:r>
              <a:rPr lang="en-US"/>
              <a:t>Resource alignment:</a:t>
            </a:r>
            <a:br>
              <a:rPr lang="en-US"/>
            </a:br>
            <a:r>
              <a:rPr lang="en-US"/>
              <a:t>Use Unit 2 Appendix F: Safety and Ethics Red Flags, Unit 2 Appendix E: Risk Assessment Matrix, and Unit 2 Student Handout 10: Ethics and Approval Screening.</a:t>
            </a:r>
            <a:endParaRPr/>
          </a:p>
        </p:txBody>
      </p:sp>
      <p:sp>
        <p:nvSpPr>
          <p:cNvPr id="333" name="Google Shape;33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After this slide, students can sign or revisit the Research Ethics and Integrity Agreement. Emphasize that this agreement follows them throughout the year.</a:t>
            </a:r>
            <a:br>
              <a:rPr lang="en-US"/>
            </a:br>
            <a:br>
              <a:rPr lang="en-US"/>
            </a:br>
            <a:r>
              <a:rPr lang="en-US"/>
              <a:t>Resource alignment:</a:t>
            </a:r>
            <a:br>
              <a:rPr lang="en-US"/>
            </a:br>
            <a:r>
              <a:rPr lang="en-US"/>
              <a:t>Use Unit 1 Student Handout 4: Research Ethics and Integrity Agreement.</a:t>
            </a:r>
            <a:endParaRPr/>
          </a:p>
        </p:txBody>
      </p:sp>
      <p:sp>
        <p:nvSpPr>
          <p:cNvPr id="350" name="Google Shape;35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teacher-facing but can be shown to students. It makes the approval standard transparent. This pairs with the Unit 2 formal research plan and approval conference.</a:t>
            </a:r>
            <a:br>
              <a:rPr lang="en-US"/>
            </a:br>
            <a:br>
              <a:rPr lang="en-US"/>
            </a:br>
            <a:r>
              <a:rPr lang="en-US"/>
              <a:t>Resource alignment:</a:t>
            </a:r>
            <a:br>
              <a:rPr lang="en-US"/>
            </a:br>
            <a:r>
              <a:rPr lang="en-US"/>
              <a:t>Use Unit 2 Student Handout 12: Formal Research Plan Template, Unit 2 Student Handout 13: Research Plan Conference Form, and Unit 2 Appendix H: Project Approval Checklist.</a:t>
            </a:r>
            <a:endParaRPr/>
          </a:p>
        </p:txBody>
      </p:sp>
      <p:sp>
        <p:nvSpPr>
          <p:cNvPr id="365" name="Google Shape;36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gives students language. Practice these out loud. Students need scripts for doing the responsible thing, especially when they feel pressure to keep moving.</a:t>
            </a:r>
            <a:br>
              <a:rPr lang="en-US"/>
            </a:br>
            <a:br>
              <a:rPr lang="en-US"/>
            </a:br>
            <a:r>
              <a:rPr lang="en-US"/>
              <a:t>Resource alignment:</a:t>
            </a:r>
            <a:br>
              <a:rPr lang="en-US"/>
            </a:br>
            <a:r>
              <a:rPr lang="en-US"/>
              <a:t>Use Unit 1 Student Handout 4: Research Ethics and Integrity Agreement. Also supports Unit 3 Student Handout 3: Daily Research Journal Entry Template and Unit 3 Student Handout 4: Pilot Test Reflection and Troubleshooting Log.</a:t>
            </a:r>
            <a:endParaRPr/>
          </a:p>
        </p:txBody>
      </p:sp>
      <p:sp>
        <p:nvSpPr>
          <p:cNvPr id="380" name="Google Shape;38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Collect these exit tickets or have students write them in research journals. Use responses to identify projects that need early intervention.</a:t>
            </a:r>
            <a:br>
              <a:rPr lang="en-US"/>
            </a:br>
            <a:br>
              <a:rPr lang="en-US"/>
            </a:br>
            <a:r>
              <a:rPr lang="en-US"/>
              <a:t>Resource alignment:</a:t>
            </a:r>
            <a:br>
              <a:rPr lang="en-US"/>
            </a:br>
            <a:r>
              <a:rPr lang="en-US"/>
              <a:t>Use Unit 2 Student Handout 9: Safety and Risk Assessment and Unit 2 Student Handout 10: Ethics and Approval Screening. If used in Unit 1, connect to Unit 1 Student Handout 4: Research Ethics and Integrity Agreement.</a:t>
            </a:r>
            <a:endParaRPr/>
          </a:p>
        </p:txBody>
      </p:sp>
      <p:sp>
        <p:nvSpPr>
          <p:cNvPr id="400" name="Google Shape;40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intended for teachers using the deck as part of a chapter package. It can be hidden during student delivery if desired. Suggested placement: Unit 1 after topic brainstorming, then revisit during Unit 2 research planning.</a:t>
            </a:r>
            <a:br>
              <a:rPr lang="en-US"/>
            </a:br>
            <a:br>
              <a:rPr lang="en-US"/>
            </a:br>
            <a:r>
              <a:rPr lang="en-US"/>
              <a:t>Resource alignment:</a:t>
            </a:r>
            <a:br>
              <a:rPr lang="en-US"/>
            </a:br>
            <a:r>
              <a:rPr lang="en-US"/>
              <a:t>Use Unit 1 Student Handout 4: Research Ethics and Integrity Agreement. Connects to Unit 2 Student Handout 9: Safety and Risk Assessment and Unit 2 Student Handout 10: Ethics and Approval Screening.</a:t>
            </a:r>
            <a:endParaRPr/>
          </a:p>
        </p:txBody>
      </p:sp>
      <p:sp>
        <p:nvSpPr>
          <p:cNvPr id="417" name="Google Shape;41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Close with the tone you want students to carry forward: bold questions, responsible methods. Transition into the ethics agreement or project red-flag scan if that work has not already been completed.</a:t>
            </a:r>
            <a:br>
              <a:rPr lang="en-US"/>
            </a:br>
            <a:br>
              <a:rPr lang="en-US"/>
            </a:br>
            <a:r>
              <a:rPr lang="en-US"/>
              <a:t>Resource alignment:</a:t>
            </a:r>
            <a:br>
              <a:rPr lang="en-US"/>
            </a:br>
            <a:r>
              <a:rPr lang="en-US"/>
              <a:t>Use Unit 1 Student Handout 4: Research Ethics and Integrity Agreement. Next deck connection: Deck 4: Experimental Design &amp; Engineering Design.</a:t>
            </a:r>
            <a:endParaRPr/>
          </a:p>
        </p:txBody>
      </p:sp>
      <p:sp>
        <p:nvSpPr>
          <p:cNvPr id="437" name="Google Shape;43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219456"/>
            <a:ext cx="12191695" cy="82296"/>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6565392"/>
            <a:ext cx="12191695" cy="82296"/>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STARLAB Logo 2026.png" id="19" name="Google Shape;19;p3"/>
          <p:cNvPicPr preferRelativeResize="0"/>
          <p:nvPr/>
        </p:nvPicPr>
        <p:blipFill rotWithShape="1">
          <a:blip r:embed="rId3">
            <a:alphaModFix/>
          </a:blip>
          <a:srcRect b="0" l="0" r="0" t="0"/>
          <a:stretch/>
        </p:blipFill>
        <p:spPr>
          <a:xfrm>
            <a:off x="1572768" y="512064"/>
            <a:ext cx="9052560" cy="4224528"/>
          </a:xfrm>
          <a:prstGeom prst="rect">
            <a:avLst/>
          </a:prstGeom>
          <a:noFill/>
          <a:ln>
            <a:noFill/>
          </a:ln>
        </p:spPr>
      </p:pic>
      <p:sp>
        <p:nvSpPr>
          <p:cNvPr id="20" name="Google Shape;20;p3"/>
          <p:cNvSpPr/>
          <p:nvPr/>
        </p:nvSpPr>
        <p:spPr>
          <a:xfrm>
            <a:off x="960120" y="5010912"/>
            <a:ext cx="10287000" cy="868680"/>
          </a:xfrm>
          <a:prstGeom prst="rect">
            <a:avLst/>
          </a:prstGeom>
          <a:solidFill>
            <a:srgbClr val="050505">
              <a:alpha val="0"/>
            </a:srgbClr>
          </a:solidFill>
          <a:ln cap="flat" cmpd="sng" w="15225">
            <a:solidFill>
              <a:srgbClr val="B8B8B8">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024128" y="5102352"/>
            <a:ext cx="101498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Play"/>
              <a:buNone/>
            </a:pPr>
            <a:r>
              <a:rPr b="1" i="0" lang="en-US" sz="2400" u="none" cap="none" strike="noStrike">
                <a:solidFill>
                  <a:srgbClr val="FFFFFF"/>
                </a:solidFill>
                <a:latin typeface="Play"/>
                <a:ea typeface="Play"/>
                <a:cs typeface="Play"/>
                <a:sym typeface="Play"/>
              </a:rPr>
              <a:t>RESEARCH ETHICS, SAFETY,</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400"/>
              <a:buFont typeface="Play"/>
              <a:buNone/>
            </a:pPr>
            <a:r>
              <a:rPr b="1" i="0" lang="en-US" sz="2400" u="none" cap="none" strike="noStrike">
                <a:solidFill>
                  <a:srgbClr val="FFFFFF"/>
                </a:solidFill>
                <a:latin typeface="Play"/>
                <a:ea typeface="Play"/>
                <a:cs typeface="Play"/>
                <a:sym typeface="Play"/>
              </a:rPr>
              <a:t>&amp; INTEGRITY</a:t>
            </a:r>
            <a:endParaRPr b="0" i="0" sz="2400" u="none" cap="none" strike="noStrike">
              <a:solidFill>
                <a:schemeClr val="dk1"/>
              </a:solidFill>
              <a:latin typeface="Arial"/>
              <a:ea typeface="Arial"/>
              <a:cs typeface="Arial"/>
              <a:sym typeface="Arial"/>
            </a:endParaRPr>
          </a:p>
        </p:txBody>
      </p:sp>
      <p:sp>
        <p:nvSpPr>
          <p:cNvPr id="22" name="Google Shape;22;p3"/>
          <p:cNvSpPr/>
          <p:nvPr/>
        </p:nvSpPr>
        <p:spPr>
          <a:xfrm>
            <a:off x="1024128" y="5989320"/>
            <a:ext cx="7132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STARLAB Deck 03  •  Course Launch Series</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7" name="Shape 27"/>
        <p:cNvGrpSpPr/>
        <p:nvPr/>
      </p:nvGrpSpPr>
      <p:grpSpPr>
        <a:xfrm>
          <a:off x="0" y="0"/>
          <a:ext cx="0" cy="0"/>
          <a:chOff x="0" y="0"/>
          <a:chExt cx="0" cy="0"/>
        </a:xfrm>
      </p:grpSpPr>
      <p:sp>
        <p:nvSpPr>
          <p:cNvPr id="28" name="Google Shape;28;p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ETHICS • SAFETY • INTEGRITY</a:t>
            </a:r>
            <a:endParaRPr b="0" i="0" sz="1000" u="none" cap="none" strike="noStrike">
              <a:solidFill>
                <a:schemeClr val="dk1"/>
              </a:solidFill>
              <a:latin typeface="Arial"/>
              <a:ea typeface="Arial"/>
              <a:cs typeface="Arial"/>
              <a:sym typeface="Arial"/>
            </a:endParaRPr>
          </a:p>
        </p:txBody>
      </p:sp>
      <p:sp>
        <p:nvSpPr>
          <p:cNvPr id="32" name="Google Shape;32;p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STARLAB</a:t>
            </a:r>
            <a:endParaRPr b="0" i="0" sz="1000" u="none" cap="none" strike="noStrike">
              <a:solidFill>
                <a:schemeClr val="dk1"/>
              </a:solidFill>
              <a:latin typeface="Arial"/>
              <a:ea typeface="Arial"/>
              <a:cs typeface="Arial"/>
              <a:sym typeface="Arial"/>
            </a:endParaRPr>
          </a:p>
        </p:txBody>
      </p:sp>
      <p:sp>
        <p:nvSpPr>
          <p:cNvPr id="33" name="Google Shape;33;p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DECK 03</a:t>
            </a:r>
            <a:endParaRPr b="0" i="0" sz="1100" u="none" cap="none" strike="noStrike">
              <a:solidFill>
                <a:schemeClr val="dk1"/>
              </a:solidFill>
              <a:latin typeface="Arial"/>
              <a:ea typeface="Arial"/>
              <a:cs typeface="Arial"/>
              <a:sym typeface="Arial"/>
            </a:endParaRPr>
          </a:p>
        </p:txBody>
      </p:sp>
      <p:sp>
        <p:nvSpPr>
          <p:cNvPr id="34" name="Google Shape;34;p4"/>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i="0" lang="en-US" sz="2800" u="none" cap="none" strike="noStrike">
                <a:solidFill>
                  <a:srgbClr val="FFFFFF"/>
                </a:solidFill>
                <a:latin typeface="Play"/>
                <a:ea typeface="Play"/>
                <a:cs typeface="Play"/>
                <a:sym typeface="Play"/>
              </a:rPr>
              <a:t>Curiosity Is Powerful</a:t>
            </a:r>
            <a:endParaRPr b="0" i="0" sz="2800" u="none" cap="none" strike="noStrike">
              <a:solidFill>
                <a:schemeClr val="dk1"/>
              </a:solidFill>
              <a:latin typeface="Arial"/>
              <a:ea typeface="Arial"/>
              <a:cs typeface="Arial"/>
              <a:sym typeface="Arial"/>
            </a:endParaRPr>
          </a:p>
        </p:txBody>
      </p:sp>
      <p:sp>
        <p:nvSpPr>
          <p:cNvPr id="35" name="Google Shape;35;p4"/>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The STARLAB standard: original questions, responsible methods.</a:t>
            </a:r>
            <a:endParaRPr b="0" i="0" sz="1200" u="none" cap="none" strike="noStrike">
              <a:solidFill>
                <a:schemeClr val="dk1"/>
              </a:solidFill>
              <a:latin typeface="Arial"/>
              <a:ea typeface="Arial"/>
              <a:cs typeface="Arial"/>
              <a:sym typeface="Arial"/>
            </a:endParaRPr>
          </a:p>
        </p:txBody>
      </p:sp>
      <p:cxnSp>
        <p:nvCxnSpPr>
          <p:cNvPr id="36" name="Google Shape;36;p4"/>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7" name="Google Shape;37;p4"/>
          <p:cNvSpPr/>
          <p:nvPr/>
        </p:nvSpPr>
        <p:spPr>
          <a:xfrm>
            <a:off x="868680" y="1828800"/>
            <a:ext cx="10424160" cy="1325880"/>
          </a:xfrm>
          <a:prstGeom prst="roundRect">
            <a:avLst>
              <a:gd fmla="val 4138"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1033272" y="1965960"/>
            <a:ext cx="10094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CORE MESSAGE</a:t>
            </a:r>
            <a:endParaRPr b="0" i="0" sz="1100" u="none" cap="none" strike="noStrike">
              <a:solidFill>
                <a:schemeClr val="dk1"/>
              </a:solidFill>
              <a:latin typeface="Arial"/>
              <a:ea typeface="Arial"/>
              <a:cs typeface="Arial"/>
              <a:sym typeface="Arial"/>
            </a:endParaRPr>
          </a:p>
        </p:txBody>
      </p:sp>
      <p:sp>
        <p:nvSpPr>
          <p:cNvPr id="39" name="Google Shape;39;p4"/>
          <p:cNvSpPr/>
          <p:nvPr/>
        </p:nvSpPr>
        <p:spPr>
          <a:xfrm>
            <a:off x="1033272" y="2331720"/>
            <a:ext cx="10094976" cy="66751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Students may ask original questions, but they must use safe, ethical, and honest methods.</a:t>
            </a:r>
            <a:endParaRPr b="0" i="0" sz="2400" u="none" cap="none" strike="noStrike">
              <a:solidFill>
                <a:schemeClr val="dk1"/>
              </a:solidFill>
              <a:latin typeface="Arial"/>
              <a:ea typeface="Arial"/>
              <a:cs typeface="Arial"/>
              <a:sym typeface="Arial"/>
            </a:endParaRPr>
          </a:p>
        </p:txBody>
      </p:sp>
      <p:sp>
        <p:nvSpPr>
          <p:cNvPr id="40" name="Google Shape;40;p4"/>
          <p:cNvSpPr/>
          <p:nvPr/>
        </p:nvSpPr>
        <p:spPr>
          <a:xfrm>
            <a:off x="868680" y="3703320"/>
            <a:ext cx="10424160" cy="1143000"/>
          </a:xfrm>
          <a:prstGeom prst="roundRect">
            <a:avLst>
              <a:gd fmla="val 48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1033272" y="3840480"/>
            <a:ext cx="100949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STANDARD</a:t>
            </a:r>
            <a:endParaRPr b="0" i="0" sz="1100" u="none" cap="none" strike="noStrike">
              <a:solidFill>
                <a:schemeClr val="dk1"/>
              </a:solidFill>
              <a:latin typeface="Arial"/>
              <a:ea typeface="Arial"/>
              <a:cs typeface="Arial"/>
              <a:sym typeface="Arial"/>
            </a:endParaRPr>
          </a:p>
        </p:txBody>
      </p:sp>
      <p:sp>
        <p:nvSpPr>
          <p:cNvPr id="42" name="Google Shape;42;p4"/>
          <p:cNvSpPr/>
          <p:nvPr/>
        </p:nvSpPr>
        <p:spPr>
          <a:xfrm>
            <a:off x="1033272" y="4206240"/>
            <a:ext cx="10094976"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Research freedom comes with responsibility.</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7" name="Shape 47"/>
        <p:cNvGrpSpPr/>
        <p:nvPr/>
      </p:nvGrpSpPr>
      <p:grpSpPr>
        <a:xfrm>
          <a:off x="0" y="0"/>
          <a:ext cx="0" cy="0"/>
          <a:chOff x="0" y="0"/>
          <a:chExt cx="0" cy="0"/>
        </a:xfrm>
      </p:grpSpPr>
      <p:sp>
        <p:nvSpPr>
          <p:cNvPr id="48" name="Google Shape;48;p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ETHICS • SAFETY • INTEGRITY</a:t>
            </a:r>
            <a:endParaRPr b="0" i="0" sz="1000" u="none" cap="none" strike="noStrike">
              <a:solidFill>
                <a:schemeClr val="dk1"/>
              </a:solidFill>
              <a:latin typeface="Arial"/>
              <a:ea typeface="Arial"/>
              <a:cs typeface="Arial"/>
              <a:sym typeface="Arial"/>
            </a:endParaRPr>
          </a:p>
        </p:txBody>
      </p:sp>
      <p:sp>
        <p:nvSpPr>
          <p:cNvPr id="52" name="Google Shape;52;p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STARLAB</a:t>
            </a:r>
            <a:endParaRPr b="0" i="0" sz="1000" u="none" cap="none" strike="noStrike">
              <a:solidFill>
                <a:schemeClr val="dk1"/>
              </a:solidFill>
              <a:latin typeface="Arial"/>
              <a:ea typeface="Arial"/>
              <a:cs typeface="Arial"/>
              <a:sym typeface="Arial"/>
            </a:endParaRPr>
          </a:p>
        </p:txBody>
      </p:sp>
      <p:sp>
        <p:nvSpPr>
          <p:cNvPr id="53" name="Google Shape;53;p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DECK 03</a:t>
            </a:r>
            <a:endParaRPr b="0" i="0" sz="1100" u="none" cap="none" strike="noStrike">
              <a:solidFill>
                <a:schemeClr val="dk1"/>
              </a:solidFill>
              <a:latin typeface="Arial"/>
              <a:ea typeface="Arial"/>
              <a:cs typeface="Arial"/>
              <a:sym typeface="Arial"/>
            </a:endParaRPr>
          </a:p>
        </p:txBody>
      </p:sp>
      <p:sp>
        <p:nvSpPr>
          <p:cNvPr id="54" name="Google Shape;54;p5"/>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i="0" lang="en-US" sz="2800" u="none" cap="none" strike="noStrike">
                <a:solidFill>
                  <a:srgbClr val="FFFFFF"/>
                </a:solidFill>
                <a:latin typeface="Play"/>
                <a:ea typeface="Play"/>
                <a:cs typeface="Play"/>
                <a:sym typeface="Play"/>
              </a:rPr>
              <a:t>The Four Non-Negotiables</a:t>
            </a:r>
            <a:endParaRPr b="0" i="0" sz="2800" u="none" cap="none" strike="noStrike">
              <a:solidFill>
                <a:schemeClr val="dk1"/>
              </a:solidFill>
              <a:latin typeface="Arial"/>
              <a:ea typeface="Arial"/>
              <a:cs typeface="Arial"/>
              <a:sym typeface="Arial"/>
            </a:endParaRPr>
          </a:p>
        </p:txBody>
      </p:sp>
      <p:sp>
        <p:nvSpPr>
          <p:cNvPr id="55" name="Google Shape;55;p5"/>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These expectations anchor every STARLAB project.</a:t>
            </a:r>
            <a:endParaRPr b="0" i="0" sz="1200" u="none" cap="none" strike="noStrike">
              <a:solidFill>
                <a:schemeClr val="dk1"/>
              </a:solidFill>
              <a:latin typeface="Arial"/>
              <a:ea typeface="Arial"/>
              <a:cs typeface="Arial"/>
              <a:sym typeface="Arial"/>
            </a:endParaRPr>
          </a:p>
        </p:txBody>
      </p:sp>
      <p:cxnSp>
        <p:nvCxnSpPr>
          <p:cNvPr id="56" name="Google Shape;56;p5"/>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57" name="Google Shape;57;p5"/>
          <p:cNvSpPr/>
          <p:nvPr/>
        </p:nvSpPr>
        <p:spPr>
          <a:xfrm>
            <a:off x="777240" y="1828800"/>
            <a:ext cx="5166360" cy="1234440"/>
          </a:xfrm>
          <a:prstGeom prst="roundRect">
            <a:avLst>
              <a:gd fmla="val 4444"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941832" y="1965960"/>
            <a:ext cx="4837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Honest data</a:t>
            </a:r>
            <a:endParaRPr b="0" i="0" sz="1100" u="none" cap="none" strike="noStrike">
              <a:solidFill>
                <a:schemeClr val="dk1"/>
              </a:solidFill>
              <a:latin typeface="Arial"/>
              <a:ea typeface="Arial"/>
              <a:cs typeface="Arial"/>
              <a:sym typeface="Arial"/>
            </a:endParaRPr>
          </a:p>
        </p:txBody>
      </p:sp>
      <p:sp>
        <p:nvSpPr>
          <p:cNvPr id="59" name="Google Shape;59;p5"/>
          <p:cNvSpPr/>
          <p:nvPr/>
        </p:nvSpPr>
        <p:spPr>
          <a:xfrm>
            <a:off x="941832" y="2331720"/>
            <a:ext cx="4837176" cy="5760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Record what happened, not what you hoped happened.</a:t>
            </a:r>
            <a:endParaRPr b="0" i="0" sz="1900" u="none" cap="none" strike="noStrike">
              <a:solidFill>
                <a:schemeClr val="dk1"/>
              </a:solidFill>
              <a:latin typeface="Arial"/>
              <a:ea typeface="Arial"/>
              <a:cs typeface="Arial"/>
              <a:sym typeface="Arial"/>
            </a:endParaRPr>
          </a:p>
        </p:txBody>
      </p:sp>
      <p:sp>
        <p:nvSpPr>
          <p:cNvPr id="60" name="Google Shape;60;p5"/>
          <p:cNvSpPr/>
          <p:nvPr/>
        </p:nvSpPr>
        <p:spPr>
          <a:xfrm>
            <a:off x="6263640" y="1828800"/>
            <a:ext cx="5166360" cy="1234440"/>
          </a:xfrm>
          <a:prstGeom prst="roundRect">
            <a:avLst>
              <a:gd fmla="val 44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428232" y="1965960"/>
            <a:ext cx="4837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Safe procedures</a:t>
            </a:r>
            <a:endParaRPr b="0" i="0" sz="1100" u="none" cap="none" strike="noStrike">
              <a:solidFill>
                <a:schemeClr val="dk1"/>
              </a:solidFill>
              <a:latin typeface="Arial"/>
              <a:ea typeface="Arial"/>
              <a:cs typeface="Arial"/>
              <a:sym typeface="Arial"/>
            </a:endParaRPr>
          </a:p>
        </p:txBody>
      </p:sp>
      <p:sp>
        <p:nvSpPr>
          <p:cNvPr id="62" name="Google Shape;62;p5"/>
          <p:cNvSpPr/>
          <p:nvPr/>
        </p:nvSpPr>
        <p:spPr>
          <a:xfrm>
            <a:off x="6428232" y="2331720"/>
            <a:ext cx="4837176" cy="5760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Approval comes before testing.</a:t>
            </a:r>
            <a:endParaRPr b="0" i="0" sz="1900" u="none" cap="none" strike="noStrike">
              <a:solidFill>
                <a:schemeClr val="dk1"/>
              </a:solidFill>
              <a:latin typeface="Arial"/>
              <a:ea typeface="Arial"/>
              <a:cs typeface="Arial"/>
              <a:sym typeface="Arial"/>
            </a:endParaRPr>
          </a:p>
        </p:txBody>
      </p:sp>
      <p:sp>
        <p:nvSpPr>
          <p:cNvPr id="63" name="Google Shape;63;p5"/>
          <p:cNvSpPr/>
          <p:nvPr/>
        </p:nvSpPr>
        <p:spPr>
          <a:xfrm>
            <a:off x="777240" y="3429000"/>
            <a:ext cx="5166360" cy="1234440"/>
          </a:xfrm>
          <a:prstGeom prst="roundRect">
            <a:avLst>
              <a:gd fmla="val 44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941832" y="3566160"/>
            <a:ext cx="4837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Ethical treatment</a:t>
            </a:r>
            <a:endParaRPr b="0" i="0" sz="1100" u="none" cap="none" strike="noStrike">
              <a:solidFill>
                <a:schemeClr val="dk1"/>
              </a:solidFill>
              <a:latin typeface="Arial"/>
              <a:ea typeface="Arial"/>
              <a:cs typeface="Arial"/>
              <a:sym typeface="Arial"/>
            </a:endParaRPr>
          </a:p>
        </p:txBody>
      </p:sp>
      <p:sp>
        <p:nvSpPr>
          <p:cNvPr id="65" name="Google Shape;65;p5"/>
          <p:cNvSpPr/>
          <p:nvPr/>
        </p:nvSpPr>
        <p:spPr>
          <a:xfrm>
            <a:off x="941832" y="3931920"/>
            <a:ext cx="4837176" cy="5760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People, animals, privacy, and environment matter.</a:t>
            </a:r>
            <a:endParaRPr b="0" i="0" sz="1900" u="none" cap="none" strike="noStrike">
              <a:solidFill>
                <a:schemeClr val="dk1"/>
              </a:solidFill>
              <a:latin typeface="Arial"/>
              <a:ea typeface="Arial"/>
              <a:cs typeface="Arial"/>
              <a:sym typeface="Arial"/>
            </a:endParaRPr>
          </a:p>
        </p:txBody>
      </p:sp>
      <p:sp>
        <p:nvSpPr>
          <p:cNvPr id="66" name="Google Shape;66;p5"/>
          <p:cNvSpPr/>
          <p:nvPr/>
        </p:nvSpPr>
        <p:spPr>
          <a:xfrm>
            <a:off x="6263640" y="3429000"/>
            <a:ext cx="5166360" cy="1234440"/>
          </a:xfrm>
          <a:prstGeom prst="roundRect">
            <a:avLst>
              <a:gd fmla="val 444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6428232" y="3566160"/>
            <a:ext cx="483717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Proper credit</a:t>
            </a:r>
            <a:endParaRPr b="0" i="0" sz="1100" u="none" cap="none" strike="noStrike">
              <a:solidFill>
                <a:schemeClr val="dk1"/>
              </a:solidFill>
              <a:latin typeface="Arial"/>
              <a:ea typeface="Arial"/>
              <a:cs typeface="Arial"/>
              <a:sym typeface="Arial"/>
            </a:endParaRPr>
          </a:p>
        </p:txBody>
      </p:sp>
      <p:sp>
        <p:nvSpPr>
          <p:cNvPr id="68" name="Google Shape;68;p5"/>
          <p:cNvSpPr/>
          <p:nvPr/>
        </p:nvSpPr>
        <p:spPr>
          <a:xfrm>
            <a:off x="6428232" y="3931920"/>
            <a:ext cx="4837176" cy="5760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Sources, code, images, and mentors must be acknowledged.</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73" name="Shape 73"/>
        <p:cNvGrpSpPr/>
        <p:nvPr/>
      </p:nvGrpSpPr>
      <p:grpSpPr>
        <a:xfrm>
          <a:off x="0" y="0"/>
          <a:ext cx="0" cy="0"/>
          <a:chOff x="0" y="0"/>
          <a:chExt cx="0" cy="0"/>
        </a:xfrm>
      </p:grpSpPr>
      <p:sp>
        <p:nvSpPr>
          <p:cNvPr id="74" name="Google Shape;74;p6"/>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RESEARCH INTEGRITY</a:t>
            </a:r>
            <a:endParaRPr b="0" i="0" sz="1000" u="none" cap="none" strike="noStrike">
              <a:solidFill>
                <a:schemeClr val="dk1"/>
              </a:solidFill>
              <a:latin typeface="Arial"/>
              <a:ea typeface="Arial"/>
              <a:cs typeface="Arial"/>
              <a:sym typeface="Arial"/>
            </a:endParaRPr>
          </a:p>
        </p:txBody>
      </p:sp>
      <p:sp>
        <p:nvSpPr>
          <p:cNvPr id="78" name="Google Shape;78;p6"/>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STARLAB</a:t>
            </a:r>
            <a:endParaRPr b="0" i="0" sz="1000" u="none" cap="none" strike="noStrike">
              <a:solidFill>
                <a:schemeClr val="dk1"/>
              </a:solidFill>
              <a:latin typeface="Arial"/>
              <a:ea typeface="Arial"/>
              <a:cs typeface="Arial"/>
              <a:sym typeface="Arial"/>
            </a:endParaRPr>
          </a:p>
        </p:txBody>
      </p:sp>
      <p:sp>
        <p:nvSpPr>
          <p:cNvPr id="79" name="Google Shape;79;p6"/>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DECK 03</a:t>
            </a:r>
            <a:endParaRPr b="0" i="0" sz="1100" u="none" cap="none" strike="noStrike">
              <a:solidFill>
                <a:schemeClr val="dk1"/>
              </a:solidFill>
              <a:latin typeface="Arial"/>
              <a:ea typeface="Arial"/>
              <a:cs typeface="Arial"/>
              <a:sym typeface="Arial"/>
            </a:endParaRPr>
          </a:p>
        </p:txBody>
      </p:sp>
      <p:sp>
        <p:nvSpPr>
          <p:cNvPr id="80" name="Google Shape;80;p6"/>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i="0" lang="en-US" sz="2800" u="none" cap="none" strike="noStrike">
                <a:solidFill>
                  <a:srgbClr val="FFFFFF"/>
                </a:solidFill>
                <a:latin typeface="Play"/>
                <a:ea typeface="Play"/>
                <a:cs typeface="Play"/>
                <a:sym typeface="Play"/>
              </a:rPr>
              <a:t>Research Integrity Starts With Data</a:t>
            </a:r>
            <a:endParaRPr b="0" i="0" sz="2800" u="none" cap="none" strike="noStrike">
              <a:solidFill>
                <a:schemeClr val="dk1"/>
              </a:solidFill>
              <a:latin typeface="Arial"/>
              <a:ea typeface="Arial"/>
              <a:cs typeface="Arial"/>
              <a:sym typeface="Arial"/>
            </a:endParaRPr>
          </a:p>
        </p:txBody>
      </p:sp>
      <p:sp>
        <p:nvSpPr>
          <p:cNvPr id="81" name="Google Shape;81;p6"/>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Real science can survive unexpected data. It cannot survive fake data.</a:t>
            </a:r>
            <a:endParaRPr b="0" i="0" sz="1200" u="none" cap="none" strike="noStrike">
              <a:solidFill>
                <a:schemeClr val="dk1"/>
              </a:solidFill>
              <a:latin typeface="Arial"/>
              <a:ea typeface="Arial"/>
              <a:cs typeface="Arial"/>
              <a:sym typeface="Arial"/>
            </a:endParaRPr>
          </a:p>
        </p:txBody>
      </p:sp>
      <p:cxnSp>
        <p:nvCxnSpPr>
          <p:cNvPr id="82" name="Google Shape;82;p6"/>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83" name="Google Shape;83;p6"/>
          <p:cNvSpPr/>
          <p:nvPr/>
        </p:nvSpPr>
        <p:spPr>
          <a:xfrm>
            <a:off x="914400" y="1828800"/>
            <a:ext cx="10332720" cy="320040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b="0" i="0" lang="en-US" sz="2300" u="none" cap="none" strike="noStrike">
                <a:solidFill>
                  <a:srgbClr val="FFFFFF"/>
                </a:solidFill>
                <a:latin typeface="Arial"/>
                <a:ea typeface="Arial"/>
                <a:cs typeface="Arial"/>
                <a:sym typeface="Arial"/>
              </a:rPr>
              <a:t>Do not invent data.</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Do not delete “bad” data because it is inconvenient.</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Flag questionable trials with an explanation.</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Keep raw data separate from cleaned data.</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Report results honestly, even when they are messy.</a:t>
            </a:r>
            <a:endParaRPr sz="23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88" name="Shape 88"/>
        <p:cNvGrpSpPr/>
        <p:nvPr/>
      </p:nvGrpSpPr>
      <p:grpSpPr>
        <a:xfrm>
          <a:off x="0" y="0"/>
          <a:ext cx="0" cy="0"/>
          <a:chOff x="0" y="0"/>
          <a:chExt cx="0" cy="0"/>
        </a:xfrm>
      </p:grpSpPr>
      <p:sp>
        <p:nvSpPr>
          <p:cNvPr id="89" name="Google Shape;89;p7"/>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93" name="Google Shape;93;p7"/>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94" name="Google Shape;94;p7"/>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95" name="Google Shape;95;p7"/>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Activity: Data Dilemma Sort</a:t>
            </a:r>
            <a:endParaRPr sz="2800">
              <a:solidFill>
                <a:schemeClr val="dk1"/>
              </a:solidFill>
              <a:latin typeface="Arial"/>
              <a:ea typeface="Arial"/>
              <a:cs typeface="Arial"/>
              <a:sym typeface="Arial"/>
            </a:endParaRPr>
          </a:p>
        </p:txBody>
      </p:sp>
      <p:sp>
        <p:nvSpPr>
          <p:cNvPr id="96" name="Google Shape;96;p7"/>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Acceptable • Questionable • Unacceptable</a:t>
            </a:r>
            <a:endParaRPr sz="1200">
              <a:solidFill>
                <a:schemeClr val="dk1"/>
              </a:solidFill>
              <a:latin typeface="Arial"/>
              <a:ea typeface="Arial"/>
              <a:cs typeface="Arial"/>
              <a:sym typeface="Arial"/>
            </a:endParaRPr>
          </a:p>
        </p:txBody>
      </p:sp>
      <p:cxnSp>
        <p:nvCxnSpPr>
          <p:cNvPr id="97" name="Google Shape;97;p7"/>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98" name="Google Shape;98;p7"/>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100" name="Google Shape;100;p7"/>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Read each scenario.</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Sort it as acceptable, questionable, or unacceptable.</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Write one sentence explaining your decision.</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Revise questionable actions into better research practice.</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Prompt: A student drops Trial 4 because it does not match the other results. The student writes no explanation. What should happen instead?</a:t>
            </a:r>
            <a:endParaRPr sz="21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05" name="Shape 105"/>
        <p:cNvGrpSpPr/>
        <p:nvPr/>
      </p:nvGrpSpPr>
      <p:grpSpPr>
        <a:xfrm>
          <a:off x="0" y="0"/>
          <a:ext cx="0" cy="0"/>
          <a:chOff x="0" y="0"/>
          <a:chExt cx="0" cy="0"/>
        </a:xfrm>
      </p:grpSpPr>
      <p:sp>
        <p:nvSpPr>
          <p:cNvPr id="106" name="Google Shape;106;p8"/>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RESEARCH INTEGRITY</a:t>
            </a:r>
            <a:endParaRPr sz="1000">
              <a:solidFill>
                <a:schemeClr val="dk1"/>
              </a:solidFill>
              <a:latin typeface="Arial"/>
              <a:ea typeface="Arial"/>
              <a:cs typeface="Arial"/>
              <a:sym typeface="Arial"/>
            </a:endParaRPr>
          </a:p>
        </p:txBody>
      </p:sp>
      <p:sp>
        <p:nvSpPr>
          <p:cNvPr id="110" name="Google Shape;110;p8"/>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11" name="Google Shape;111;p8"/>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112" name="Google Shape;112;p8"/>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Credit Is Part of Integrity</a:t>
            </a:r>
            <a:endParaRPr sz="2800">
              <a:solidFill>
                <a:schemeClr val="dk1"/>
              </a:solidFill>
              <a:latin typeface="Arial"/>
              <a:ea typeface="Arial"/>
              <a:cs typeface="Arial"/>
              <a:sym typeface="Arial"/>
            </a:endParaRPr>
          </a:p>
        </p:txBody>
      </p:sp>
      <p:sp>
        <p:nvSpPr>
          <p:cNvPr id="113" name="Google Shape;113;p8"/>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Sources, code, images, datasets, and mentor input must be acknowledged.</a:t>
            </a:r>
            <a:endParaRPr sz="1200">
              <a:solidFill>
                <a:schemeClr val="dk1"/>
              </a:solidFill>
              <a:latin typeface="Arial"/>
              <a:ea typeface="Arial"/>
              <a:cs typeface="Arial"/>
              <a:sym typeface="Arial"/>
            </a:endParaRPr>
          </a:p>
        </p:txBody>
      </p:sp>
      <p:cxnSp>
        <p:nvCxnSpPr>
          <p:cNvPr id="114" name="Google Shape;114;p8"/>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15" name="Google Shape;115;p8"/>
          <p:cNvSpPr/>
          <p:nvPr/>
        </p:nvSpPr>
        <p:spPr>
          <a:xfrm>
            <a:off x="777240" y="1828800"/>
            <a:ext cx="5257800" cy="3657600"/>
          </a:xfrm>
          <a:prstGeom prst="roundRect">
            <a:avLst>
              <a:gd fmla="val 1500"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94183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GIVE CREDIT FOR</a:t>
            </a:r>
            <a:endParaRPr sz="1100">
              <a:solidFill>
                <a:schemeClr val="dk1"/>
              </a:solidFill>
              <a:latin typeface="Arial"/>
              <a:ea typeface="Arial"/>
              <a:cs typeface="Arial"/>
              <a:sym typeface="Arial"/>
            </a:endParaRPr>
          </a:p>
        </p:txBody>
      </p:sp>
      <p:sp>
        <p:nvSpPr>
          <p:cNvPr id="117" name="Google Shape;117;p8"/>
          <p:cNvSpPr/>
          <p:nvPr/>
        </p:nvSpPr>
        <p:spPr>
          <a:xfrm>
            <a:off x="941832" y="2331720"/>
            <a:ext cx="4928616" cy="29992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Sources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Images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Datasets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Code or AI assistance</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Mentor advice</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Borrowed procedures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Specialized equipment access</a:t>
            </a:r>
            <a:endParaRPr sz="2000">
              <a:solidFill>
                <a:schemeClr val="dk1"/>
              </a:solidFill>
              <a:latin typeface="Arial"/>
              <a:ea typeface="Arial"/>
              <a:cs typeface="Arial"/>
              <a:sym typeface="Arial"/>
            </a:endParaRPr>
          </a:p>
        </p:txBody>
      </p:sp>
      <p:sp>
        <p:nvSpPr>
          <p:cNvPr id="118" name="Google Shape;118;p8"/>
          <p:cNvSpPr/>
          <p:nvPr/>
        </p:nvSpPr>
        <p:spPr>
          <a:xfrm>
            <a:off x="6172200" y="1828800"/>
            <a:ext cx="5257800" cy="3657600"/>
          </a:xfrm>
          <a:prstGeom prst="roundRect">
            <a:avLst>
              <a:gd fmla="val 15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633679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WHY IT MATTERS</a:t>
            </a:r>
            <a:endParaRPr sz="1100">
              <a:solidFill>
                <a:schemeClr val="dk1"/>
              </a:solidFill>
              <a:latin typeface="Arial"/>
              <a:ea typeface="Arial"/>
              <a:cs typeface="Arial"/>
              <a:sym typeface="Arial"/>
            </a:endParaRPr>
          </a:p>
        </p:txBody>
      </p:sp>
      <p:sp>
        <p:nvSpPr>
          <p:cNvPr id="120" name="Google Shape;120;p8"/>
          <p:cNvSpPr/>
          <p:nvPr/>
        </p:nvSpPr>
        <p:spPr>
          <a:xfrm>
            <a:off x="6336792" y="2331720"/>
            <a:ext cx="4928616" cy="29992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Shows intellectual honesty</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Lets others trace your work</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Distinguishes your ideas from borrowed ideas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Respects collaborators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Protects credibility</a:t>
            </a:r>
            <a:endParaRPr sz="20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25" name="Shape 125"/>
        <p:cNvGrpSpPr/>
        <p:nvPr/>
      </p:nvGrpSpPr>
      <p:grpSpPr>
        <a:xfrm>
          <a:off x="0" y="0"/>
          <a:ext cx="0" cy="0"/>
          <a:chOff x="0" y="0"/>
          <a:chExt cx="0" cy="0"/>
        </a:xfrm>
      </p:grpSpPr>
      <p:sp>
        <p:nvSpPr>
          <p:cNvPr id="126" name="Google Shape;126;p9"/>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SAFETY</a:t>
            </a:r>
            <a:endParaRPr sz="1000">
              <a:solidFill>
                <a:schemeClr val="dk1"/>
              </a:solidFill>
              <a:latin typeface="Arial"/>
              <a:ea typeface="Arial"/>
              <a:cs typeface="Arial"/>
              <a:sym typeface="Arial"/>
            </a:endParaRPr>
          </a:p>
        </p:txBody>
      </p:sp>
      <p:sp>
        <p:nvSpPr>
          <p:cNvPr id="130" name="Google Shape;130;p9"/>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31" name="Google Shape;131;p9"/>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132" name="Google Shape;132;p9"/>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Safety Approval Is a Gate, Not a Suggestion</a:t>
            </a:r>
            <a:endParaRPr sz="2800">
              <a:solidFill>
                <a:schemeClr val="dk1"/>
              </a:solidFill>
              <a:latin typeface="Arial"/>
              <a:ea typeface="Arial"/>
              <a:cs typeface="Arial"/>
              <a:sym typeface="Arial"/>
            </a:endParaRPr>
          </a:p>
        </p:txBody>
      </p:sp>
      <p:sp>
        <p:nvSpPr>
          <p:cNvPr id="133" name="Google Shape;133;p9"/>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Teacher approval comes before testing.</a:t>
            </a:r>
            <a:endParaRPr sz="1200">
              <a:solidFill>
                <a:schemeClr val="dk1"/>
              </a:solidFill>
              <a:latin typeface="Arial"/>
              <a:ea typeface="Arial"/>
              <a:cs typeface="Arial"/>
              <a:sym typeface="Arial"/>
            </a:endParaRPr>
          </a:p>
        </p:txBody>
      </p:sp>
      <p:cxnSp>
        <p:nvCxnSpPr>
          <p:cNvPr id="134" name="Google Shape;134;p9"/>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35" name="Google Shape;135;p9"/>
          <p:cNvSpPr/>
          <p:nvPr/>
        </p:nvSpPr>
        <p:spPr>
          <a:xfrm>
            <a:off x="914400" y="1828800"/>
            <a:ext cx="10241280" cy="365760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300">
                <a:solidFill>
                  <a:srgbClr val="FFFFFF"/>
                </a:solidFill>
                <a:latin typeface="Arial"/>
                <a:ea typeface="Arial"/>
                <a:cs typeface="Arial"/>
                <a:sym typeface="Arial"/>
              </a:rPr>
              <a:t>The plan must include materials, equipment, procedure, PPE, supervision, cleanup, and disposal.</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A method change can change the approval level.</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Stopping to revise is responsible research, not lost time.</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Before any testing: approval • screening • materials check • PPE • supervision plan • cleanup plan</a:t>
            </a:r>
            <a:endParaRPr sz="23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40" name="Shape 140"/>
        <p:cNvGrpSpPr/>
        <p:nvPr/>
      </p:nvGrpSpPr>
      <p:grpSpPr>
        <a:xfrm>
          <a:off x="0" y="0"/>
          <a:ext cx="0" cy="0"/>
          <a:chOff x="0" y="0"/>
          <a:chExt cx="0" cy="0"/>
        </a:xfrm>
      </p:grpSpPr>
      <p:sp>
        <p:nvSpPr>
          <p:cNvPr id="141" name="Google Shape;141;p10"/>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SAFETY</a:t>
            </a:r>
            <a:endParaRPr sz="1000">
              <a:solidFill>
                <a:schemeClr val="dk1"/>
              </a:solidFill>
              <a:latin typeface="Arial"/>
              <a:ea typeface="Arial"/>
              <a:cs typeface="Arial"/>
              <a:sym typeface="Arial"/>
            </a:endParaRPr>
          </a:p>
        </p:txBody>
      </p:sp>
      <p:sp>
        <p:nvSpPr>
          <p:cNvPr id="145" name="Google Shape;145;p10"/>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46" name="Google Shape;146;p10"/>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147" name="Google Shape;147;p10"/>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Common STARLAB Hazard Categories</a:t>
            </a:r>
            <a:endParaRPr sz="2800">
              <a:solidFill>
                <a:schemeClr val="dk1"/>
              </a:solidFill>
              <a:latin typeface="Arial"/>
              <a:ea typeface="Arial"/>
              <a:cs typeface="Arial"/>
              <a:sym typeface="Arial"/>
            </a:endParaRPr>
          </a:p>
        </p:txBody>
      </p:sp>
      <p:sp>
        <p:nvSpPr>
          <p:cNvPr id="148" name="Google Shape;148;p10"/>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Recognize when a project enters a higher-review category.</a:t>
            </a:r>
            <a:endParaRPr sz="1200">
              <a:solidFill>
                <a:schemeClr val="dk1"/>
              </a:solidFill>
              <a:latin typeface="Arial"/>
              <a:ea typeface="Arial"/>
              <a:cs typeface="Arial"/>
              <a:sym typeface="Arial"/>
            </a:endParaRPr>
          </a:p>
        </p:txBody>
      </p:sp>
      <p:cxnSp>
        <p:nvCxnSpPr>
          <p:cNvPr id="149" name="Google Shape;149;p10"/>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50" name="Google Shape;150;p10"/>
          <p:cNvSpPr/>
          <p:nvPr/>
        </p:nvSpPr>
        <p:spPr>
          <a:xfrm>
            <a:off x="777240" y="1828800"/>
            <a:ext cx="3429000" cy="1188720"/>
          </a:xfrm>
          <a:prstGeom prst="roundRect">
            <a:avLst>
              <a:gd fmla="val 4615"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
          <p:cNvSpPr/>
          <p:nvPr/>
        </p:nvSpPr>
        <p:spPr>
          <a:xfrm>
            <a:off x="941832" y="1965960"/>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CHEMICAL</a:t>
            </a:r>
            <a:endParaRPr sz="1100">
              <a:solidFill>
                <a:schemeClr val="dk1"/>
              </a:solidFill>
              <a:latin typeface="Arial"/>
              <a:ea typeface="Arial"/>
              <a:cs typeface="Arial"/>
              <a:sym typeface="Arial"/>
            </a:endParaRPr>
          </a:p>
        </p:txBody>
      </p:sp>
      <p:sp>
        <p:nvSpPr>
          <p:cNvPr id="152" name="Google Shape;152;p10"/>
          <p:cNvSpPr/>
          <p:nvPr/>
        </p:nvSpPr>
        <p:spPr>
          <a:xfrm>
            <a:off x="941832" y="2331720"/>
            <a:ext cx="3099816" cy="530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Acids, bases, solvents, unknown mixtures</a:t>
            </a:r>
            <a:endParaRPr sz="1700">
              <a:solidFill>
                <a:schemeClr val="dk1"/>
              </a:solidFill>
              <a:latin typeface="Arial"/>
              <a:ea typeface="Arial"/>
              <a:cs typeface="Arial"/>
              <a:sym typeface="Arial"/>
            </a:endParaRPr>
          </a:p>
        </p:txBody>
      </p:sp>
      <p:sp>
        <p:nvSpPr>
          <p:cNvPr id="153" name="Google Shape;153;p10"/>
          <p:cNvSpPr/>
          <p:nvPr/>
        </p:nvSpPr>
        <p:spPr>
          <a:xfrm>
            <a:off x="4572000" y="1828800"/>
            <a:ext cx="3429000" cy="1188720"/>
          </a:xfrm>
          <a:prstGeom prst="roundRect">
            <a:avLst>
              <a:gd fmla="val 461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p:nvPr/>
        </p:nvSpPr>
        <p:spPr>
          <a:xfrm>
            <a:off x="4736592" y="1965960"/>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BIOLOGICAL</a:t>
            </a:r>
            <a:endParaRPr sz="1100">
              <a:solidFill>
                <a:schemeClr val="dk1"/>
              </a:solidFill>
              <a:latin typeface="Arial"/>
              <a:ea typeface="Arial"/>
              <a:cs typeface="Arial"/>
              <a:sym typeface="Arial"/>
            </a:endParaRPr>
          </a:p>
        </p:txBody>
      </p:sp>
      <p:sp>
        <p:nvSpPr>
          <p:cNvPr id="155" name="Google Shape;155;p10"/>
          <p:cNvSpPr/>
          <p:nvPr/>
        </p:nvSpPr>
        <p:spPr>
          <a:xfrm>
            <a:off x="4736592" y="2331720"/>
            <a:ext cx="3099816" cy="530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Cultures, soil/water samples, mold, unknown microbes</a:t>
            </a:r>
            <a:endParaRPr sz="1700">
              <a:solidFill>
                <a:schemeClr val="dk1"/>
              </a:solidFill>
              <a:latin typeface="Arial"/>
              <a:ea typeface="Arial"/>
              <a:cs typeface="Arial"/>
              <a:sym typeface="Arial"/>
            </a:endParaRPr>
          </a:p>
        </p:txBody>
      </p:sp>
      <p:sp>
        <p:nvSpPr>
          <p:cNvPr id="156" name="Google Shape;156;p10"/>
          <p:cNvSpPr/>
          <p:nvPr/>
        </p:nvSpPr>
        <p:spPr>
          <a:xfrm>
            <a:off x="8366760" y="1828800"/>
            <a:ext cx="3429000" cy="1188720"/>
          </a:xfrm>
          <a:prstGeom prst="roundRect">
            <a:avLst>
              <a:gd fmla="val 461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8531352" y="1965960"/>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PHYSICAL</a:t>
            </a:r>
            <a:endParaRPr sz="1100">
              <a:solidFill>
                <a:schemeClr val="dk1"/>
              </a:solidFill>
              <a:latin typeface="Arial"/>
              <a:ea typeface="Arial"/>
              <a:cs typeface="Arial"/>
              <a:sym typeface="Arial"/>
            </a:endParaRPr>
          </a:p>
        </p:txBody>
      </p:sp>
      <p:sp>
        <p:nvSpPr>
          <p:cNvPr id="158" name="Google Shape;158;p10"/>
          <p:cNvSpPr/>
          <p:nvPr/>
        </p:nvSpPr>
        <p:spPr>
          <a:xfrm>
            <a:off x="8531352" y="2331720"/>
            <a:ext cx="3099816" cy="530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Heat, pressure, electricity, blades, power tools</a:t>
            </a:r>
            <a:endParaRPr sz="1700">
              <a:solidFill>
                <a:schemeClr val="dk1"/>
              </a:solidFill>
              <a:latin typeface="Arial"/>
              <a:ea typeface="Arial"/>
              <a:cs typeface="Arial"/>
              <a:sym typeface="Arial"/>
            </a:endParaRPr>
          </a:p>
        </p:txBody>
      </p:sp>
      <p:sp>
        <p:nvSpPr>
          <p:cNvPr id="159" name="Google Shape;159;p10"/>
          <p:cNvSpPr/>
          <p:nvPr/>
        </p:nvSpPr>
        <p:spPr>
          <a:xfrm>
            <a:off x="777240" y="3429000"/>
            <a:ext cx="3429000" cy="1188720"/>
          </a:xfrm>
          <a:prstGeom prst="roundRect">
            <a:avLst>
              <a:gd fmla="val 461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941832" y="3566160"/>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MECHANICAL</a:t>
            </a:r>
            <a:endParaRPr sz="1100">
              <a:solidFill>
                <a:schemeClr val="dk1"/>
              </a:solidFill>
              <a:latin typeface="Arial"/>
              <a:ea typeface="Arial"/>
              <a:cs typeface="Arial"/>
              <a:sym typeface="Arial"/>
            </a:endParaRPr>
          </a:p>
        </p:txBody>
      </p:sp>
      <p:sp>
        <p:nvSpPr>
          <p:cNvPr id="161" name="Google Shape;161;p10"/>
          <p:cNvSpPr/>
          <p:nvPr/>
        </p:nvSpPr>
        <p:spPr>
          <a:xfrm>
            <a:off x="941832" y="3931920"/>
            <a:ext cx="3099816" cy="530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Robots, drones, motors, moving parts</a:t>
            </a:r>
            <a:endParaRPr sz="1700">
              <a:solidFill>
                <a:schemeClr val="dk1"/>
              </a:solidFill>
              <a:latin typeface="Arial"/>
              <a:ea typeface="Arial"/>
              <a:cs typeface="Arial"/>
              <a:sym typeface="Arial"/>
            </a:endParaRPr>
          </a:p>
        </p:txBody>
      </p:sp>
      <p:sp>
        <p:nvSpPr>
          <p:cNvPr id="162" name="Google Shape;162;p10"/>
          <p:cNvSpPr/>
          <p:nvPr/>
        </p:nvSpPr>
        <p:spPr>
          <a:xfrm>
            <a:off x="4572000" y="3429000"/>
            <a:ext cx="3429000" cy="1188720"/>
          </a:xfrm>
          <a:prstGeom prst="roundRect">
            <a:avLst>
              <a:gd fmla="val 461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4736592" y="3566160"/>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ENVIRONMENTAL</a:t>
            </a:r>
            <a:endParaRPr sz="1100">
              <a:solidFill>
                <a:schemeClr val="dk1"/>
              </a:solidFill>
              <a:latin typeface="Arial"/>
              <a:ea typeface="Arial"/>
              <a:cs typeface="Arial"/>
              <a:sym typeface="Arial"/>
            </a:endParaRPr>
          </a:p>
        </p:txBody>
      </p:sp>
      <p:sp>
        <p:nvSpPr>
          <p:cNvPr id="164" name="Google Shape;164;p10"/>
          <p:cNvSpPr/>
          <p:nvPr/>
        </p:nvSpPr>
        <p:spPr>
          <a:xfrm>
            <a:off x="4736592" y="3931920"/>
            <a:ext cx="3099816" cy="530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Field sampling, disposal, contamination</a:t>
            </a:r>
            <a:endParaRPr sz="1700">
              <a:solidFill>
                <a:schemeClr val="dk1"/>
              </a:solidFill>
              <a:latin typeface="Arial"/>
              <a:ea typeface="Arial"/>
              <a:cs typeface="Arial"/>
              <a:sym typeface="Arial"/>
            </a:endParaRPr>
          </a:p>
        </p:txBody>
      </p:sp>
      <p:sp>
        <p:nvSpPr>
          <p:cNvPr id="165" name="Google Shape;165;p10"/>
          <p:cNvSpPr/>
          <p:nvPr/>
        </p:nvSpPr>
        <p:spPr>
          <a:xfrm>
            <a:off x="8366760" y="3429000"/>
            <a:ext cx="3429000" cy="1188720"/>
          </a:xfrm>
          <a:prstGeom prst="roundRect">
            <a:avLst>
              <a:gd fmla="val 461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8531352" y="3566160"/>
            <a:ext cx="30998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HUMAN DATA</a:t>
            </a:r>
            <a:endParaRPr sz="1100">
              <a:solidFill>
                <a:schemeClr val="dk1"/>
              </a:solidFill>
              <a:latin typeface="Arial"/>
              <a:ea typeface="Arial"/>
              <a:cs typeface="Arial"/>
              <a:sym typeface="Arial"/>
            </a:endParaRPr>
          </a:p>
        </p:txBody>
      </p:sp>
      <p:sp>
        <p:nvSpPr>
          <p:cNvPr id="167" name="Google Shape;167;p10"/>
          <p:cNvSpPr/>
          <p:nvPr/>
        </p:nvSpPr>
        <p:spPr>
          <a:xfrm>
            <a:off x="8531352" y="3931920"/>
            <a:ext cx="3099816" cy="5303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700"/>
              <a:buFont typeface="Arial"/>
              <a:buNone/>
            </a:pPr>
            <a:r>
              <a:rPr lang="en-US" sz="1700">
                <a:solidFill>
                  <a:srgbClr val="FFFFFF"/>
                </a:solidFill>
                <a:latin typeface="Arial"/>
                <a:ea typeface="Arial"/>
                <a:cs typeface="Arial"/>
                <a:sym typeface="Arial"/>
              </a:rPr>
              <a:t>Surveys, tests, observations, private information</a:t>
            </a:r>
            <a:endParaRPr sz="17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72" name="Shape 172"/>
        <p:cNvGrpSpPr/>
        <p:nvPr/>
      </p:nvGrpSpPr>
      <p:grpSpPr>
        <a:xfrm>
          <a:off x="0" y="0"/>
          <a:ext cx="0" cy="0"/>
          <a:chOff x="0" y="0"/>
          <a:chExt cx="0" cy="0"/>
        </a:xfrm>
      </p:grpSpPr>
      <p:sp>
        <p:nvSpPr>
          <p:cNvPr id="173" name="Google Shape;173;p11"/>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177" name="Google Shape;177;p11"/>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78" name="Google Shape;178;p11"/>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179" name="Google Shape;179;p11"/>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Activity: Red-Flag Scan</a:t>
            </a:r>
            <a:endParaRPr sz="2800">
              <a:solidFill>
                <a:schemeClr val="dk1"/>
              </a:solidFill>
              <a:latin typeface="Arial"/>
              <a:ea typeface="Arial"/>
              <a:cs typeface="Arial"/>
              <a:sym typeface="Arial"/>
            </a:endParaRPr>
          </a:p>
        </p:txBody>
      </p:sp>
      <p:sp>
        <p:nvSpPr>
          <p:cNvPr id="180" name="Google Shape;180;p11"/>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Project review before testing</a:t>
            </a:r>
            <a:endParaRPr sz="1200">
              <a:solidFill>
                <a:schemeClr val="dk1"/>
              </a:solidFill>
              <a:latin typeface="Arial"/>
              <a:ea typeface="Arial"/>
              <a:cs typeface="Arial"/>
              <a:sym typeface="Arial"/>
            </a:endParaRPr>
          </a:p>
        </p:txBody>
      </p:sp>
      <p:cxnSp>
        <p:nvCxnSpPr>
          <p:cNvPr id="181" name="Google Shape;181;p11"/>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82" name="Google Shape;182;p11"/>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184" name="Google Shape;184;p11"/>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Choose one possible project idea.</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Check whether it involves any hazard or ethics categories.</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List the approval questions it raises.</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Identify one safer modification.</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Prompt: A student wants to test whether classmates perform better on a reaction-time test after drinking an energy drink. What red flags appear?</a:t>
            </a:r>
            <a:endParaRPr sz="21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89" name="Shape 189"/>
        <p:cNvGrpSpPr/>
        <p:nvPr/>
      </p:nvGrpSpPr>
      <p:grpSpPr>
        <a:xfrm>
          <a:off x="0" y="0"/>
          <a:ext cx="0" cy="0"/>
          <a:chOff x="0" y="0"/>
          <a:chExt cx="0" cy="0"/>
        </a:xfrm>
      </p:grpSpPr>
      <p:sp>
        <p:nvSpPr>
          <p:cNvPr id="190" name="Google Shape;190;p12"/>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2"/>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2"/>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ETHICS</a:t>
            </a:r>
            <a:endParaRPr sz="1000">
              <a:solidFill>
                <a:schemeClr val="dk1"/>
              </a:solidFill>
              <a:latin typeface="Arial"/>
              <a:ea typeface="Arial"/>
              <a:cs typeface="Arial"/>
              <a:sym typeface="Arial"/>
            </a:endParaRPr>
          </a:p>
        </p:txBody>
      </p:sp>
      <p:sp>
        <p:nvSpPr>
          <p:cNvPr id="194" name="Google Shape;194;p12"/>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95" name="Google Shape;195;p12"/>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196" name="Google Shape;196;p12"/>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Human Participants Require Extra Care</a:t>
            </a:r>
            <a:endParaRPr sz="2800">
              <a:solidFill>
                <a:schemeClr val="dk1"/>
              </a:solidFill>
              <a:latin typeface="Arial"/>
              <a:ea typeface="Arial"/>
              <a:cs typeface="Arial"/>
              <a:sym typeface="Arial"/>
            </a:endParaRPr>
          </a:p>
        </p:txBody>
      </p:sp>
      <p:sp>
        <p:nvSpPr>
          <p:cNvPr id="197" name="Google Shape;197;p12"/>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Consent, privacy, risk, and school approval must be considered.</a:t>
            </a:r>
            <a:endParaRPr sz="1200">
              <a:solidFill>
                <a:schemeClr val="dk1"/>
              </a:solidFill>
              <a:latin typeface="Arial"/>
              <a:ea typeface="Arial"/>
              <a:cs typeface="Arial"/>
              <a:sym typeface="Arial"/>
            </a:endParaRPr>
          </a:p>
        </p:txBody>
      </p:sp>
      <p:cxnSp>
        <p:nvCxnSpPr>
          <p:cNvPr id="198" name="Google Shape;198;p12"/>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199" name="Google Shape;199;p12"/>
          <p:cNvSpPr/>
          <p:nvPr/>
        </p:nvSpPr>
        <p:spPr>
          <a:xfrm>
            <a:off x="914400" y="1874520"/>
            <a:ext cx="10332720" cy="333756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400">
                <a:solidFill>
                  <a:srgbClr val="FFFFFF"/>
                </a:solidFill>
                <a:latin typeface="Arial"/>
                <a:ea typeface="Arial"/>
                <a:cs typeface="Arial"/>
                <a:sym typeface="Arial"/>
              </a:rPr>
              <a:t>Human subjects include surveys, interviews, behavior observations, reaction-time tests, exercise tests, grades, opinions, or personal information.</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Students should not collect sensitive personal information casually.</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FFFFFF"/>
                </a:solidFill>
                <a:latin typeface="Arial"/>
                <a:ea typeface="Arial"/>
                <a:cs typeface="Arial"/>
                <a:sym typeface="Arial"/>
              </a:rPr>
              <a:t>When in doubt, pause and ask for review.</a:t>
            </a:r>
            <a:endParaRPr sz="24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04" name="Shape 204"/>
        <p:cNvGrpSpPr/>
        <p:nvPr/>
      </p:nvGrpSpPr>
      <p:grpSpPr>
        <a:xfrm>
          <a:off x="0" y="0"/>
          <a:ext cx="0" cy="0"/>
          <a:chOff x="0" y="0"/>
          <a:chExt cx="0" cy="0"/>
        </a:xfrm>
      </p:grpSpPr>
      <p:sp>
        <p:nvSpPr>
          <p:cNvPr id="205" name="Google Shape;205;p1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3"/>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3"/>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ETHICS</a:t>
            </a:r>
            <a:endParaRPr sz="1000">
              <a:solidFill>
                <a:schemeClr val="dk1"/>
              </a:solidFill>
              <a:latin typeface="Arial"/>
              <a:ea typeface="Arial"/>
              <a:cs typeface="Arial"/>
              <a:sym typeface="Arial"/>
            </a:endParaRPr>
          </a:p>
        </p:txBody>
      </p:sp>
      <p:sp>
        <p:nvSpPr>
          <p:cNvPr id="209" name="Google Shape;209;p13"/>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10" name="Google Shape;210;p13"/>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211" name="Google Shape;211;p13"/>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Privacy Is a Research Responsibility</a:t>
            </a:r>
            <a:endParaRPr sz="2800">
              <a:solidFill>
                <a:schemeClr val="dk1"/>
              </a:solidFill>
              <a:latin typeface="Arial"/>
              <a:ea typeface="Arial"/>
              <a:cs typeface="Arial"/>
              <a:sym typeface="Arial"/>
            </a:endParaRPr>
          </a:p>
        </p:txBody>
      </p:sp>
      <p:sp>
        <p:nvSpPr>
          <p:cNvPr id="212" name="Google Shape;212;p13"/>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Protect participants before, during, and after data collection.</a:t>
            </a:r>
            <a:endParaRPr sz="1200">
              <a:solidFill>
                <a:schemeClr val="dk1"/>
              </a:solidFill>
              <a:latin typeface="Arial"/>
              <a:ea typeface="Arial"/>
              <a:cs typeface="Arial"/>
              <a:sym typeface="Arial"/>
            </a:endParaRPr>
          </a:p>
        </p:txBody>
      </p:sp>
      <p:cxnSp>
        <p:nvCxnSpPr>
          <p:cNvPr id="213" name="Google Shape;213;p13"/>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14" name="Google Shape;214;p13"/>
          <p:cNvSpPr/>
          <p:nvPr/>
        </p:nvSpPr>
        <p:spPr>
          <a:xfrm>
            <a:off x="777240" y="1828800"/>
            <a:ext cx="5257800" cy="3246120"/>
          </a:xfrm>
          <a:prstGeom prst="roundRect">
            <a:avLst>
              <a:gd fmla="val 1690"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3"/>
          <p:cNvSpPr/>
          <p:nvPr/>
        </p:nvSpPr>
        <p:spPr>
          <a:xfrm>
            <a:off x="94183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PROTECT PARTICIPANTS</a:t>
            </a:r>
            <a:endParaRPr sz="1100">
              <a:solidFill>
                <a:schemeClr val="dk1"/>
              </a:solidFill>
              <a:latin typeface="Arial"/>
              <a:ea typeface="Arial"/>
              <a:cs typeface="Arial"/>
              <a:sym typeface="Arial"/>
            </a:endParaRPr>
          </a:p>
        </p:txBody>
      </p:sp>
      <p:sp>
        <p:nvSpPr>
          <p:cNvPr id="216" name="Google Shape;216;p13"/>
          <p:cNvSpPr/>
          <p:nvPr/>
        </p:nvSpPr>
        <p:spPr>
          <a:xfrm>
            <a:off x="941832" y="2331720"/>
            <a:ext cx="4928616" cy="25877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Collect only what you need.</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Avoid names and identifiers.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Store data in approved locations.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Report grouped results when possible.</a:t>
            </a:r>
            <a:endParaRPr sz="2000">
              <a:solidFill>
                <a:schemeClr val="dk1"/>
              </a:solidFill>
              <a:latin typeface="Arial"/>
              <a:ea typeface="Arial"/>
              <a:cs typeface="Arial"/>
              <a:sym typeface="Arial"/>
            </a:endParaRPr>
          </a:p>
        </p:txBody>
      </p:sp>
      <p:sp>
        <p:nvSpPr>
          <p:cNvPr id="217" name="Google Shape;217;p13"/>
          <p:cNvSpPr/>
          <p:nvPr/>
        </p:nvSpPr>
        <p:spPr>
          <a:xfrm>
            <a:off x="6172200" y="1828800"/>
            <a:ext cx="5257800" cy="3246120"/>
          </a:xfrm>
          <a:prstGeom prst="roundRect">
            <a:avLst>
              <a:gd fmla="val 169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a:off x="633679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ASK FIRST</a:t>
            </a:r>
            <a:endParaRPr sz="1100">
              <a:solidFill>
                <a:schemeClr val="dk1"/>
              </a:solidFill>
              <a:latin typeface="Arial"/>
              <a:ea typeface="Arial"/>
              <a:cs typeface="Arial"/>
              <a:sym typeface="Arial"/>
            </a:endParaRPr>
          </a:p>
        </p:txBody>
      </p:sp>
      <p:sp>
        <p:nvSpPr>
          <p:cNvPr id="219" name="Google Shape;219;p13"/>
          <p:cNvSpPr/>
          <p:nvPr/>
        </p:nvSpPr>
        <p:spPr>
          <a:xfrm>
            <a:off x="6336792" y="2331720"/>
            <a:ext cx="4928616" cy="25877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Could someone be identified?</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Could release embarrass or harm someone?</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Is consent needed?</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Who is allowed to see raw data?</a:t>
            </a:r>
            <a:endParaRPr sz="2000">
              <a:solidFill>
                <a:schemeClr val="dk1"/>
              </a:solidFill>
              <a:latin typeface="Arial"/>
              <a:ea typeface="Arial"/>
              <a:cs typeface="Arial"/>
              <a:sym typeface="Arial"/>
            </a:endParaRPr>
          </a:p>
        </p:txBody>
      </p:sp>
      <p:sp>
        <p:nvSpPr>
          <p:cNvPr id="220" name="Google Shape;220;p13"/>
          <p:cNvSpPr/>
          <p:nvPr/>
        </p:nvSpPr>
        <p:spPr>
          <a:xfrm>
            <a:off x="914400" y="5440680"/>
            <a:ext cx="10424160" cy="320040"/>
          </a:xfrm>
          <a:prstGeom prst="rect">
            <a:avLst/>
          </a:prstGeom>
          <a:noFill/>
          <a:ln>
            <a:noFill/>
          </a:ln>
        </p:spPr>
        <p:txBody>
          <a:bodyPr anchorCtr="0" anchor="t" bIns="375" lIns="375" spcFirstLastPara="1" rIns="375" wrap="square" tIns="375">
            <a:noAutofit/>
          </a:bodyPr>
          <a:lstStyle/>
          <a:p>
            <a:pPr indent="0" lvl="0" marL="0" marR="0" rtl="0" algn="ctr">
              <a:spcBef>
                <a:spcPts val="0"/>
              </a:spcBef>
              <a:spcAft>
                <a:spcPts val="0"/>
              </a:spcAft>
              <a:buClr>
                <a:srgbClr val="B8B8B8"/>
              </a:buClr>
              <a:buSzPts val="1900"/>
              <a:buFont typeface="Arial"/>
              <a:buNone/>
            </a:pPr>
            <a:r>
              <a:rPr lang="en-US" sz="1900">
                <a:solidFill>
                  <a:srgbClr val="B8B8B8"/>
                </a:solidFill>
                <a:latin typeface="Arial"/>
                <a:ea typeface="Arial"/>
                <a:cs typeface="Arial"/>
                <a:sym typeface="Arial"/>
              </a:rPr>
              <a:t>Rule of thumb: if release of the data could embarrass or harm someone, treat it as sensitive.</a:t>
            </a:r>
            <a:endParaRPr sz="19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25" name="Shape 225"/>
        <p:cNvGrpSpPr/>
        <p:nvPr/>
      </p:nvGrpSpPr>
      <p:grpSpPr>
        <a:xfrm>
          <a:off x="0" y="0"/>
          <a:ext cx="0" cy="0"/>
          <a:chOff x="0" y="0"/>
          <a:chExt cx="0" cy="0"/>
        </a:xfrm>
      </p:grpSpPr>
      <p:sp>
        <p:nvSpPr>
          <p:cNvPr id="226" name="Google Shape;226;p1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ETHICS</a:t>
            </a:r>
            <a:endParaRPr sz="1000">
              <a:solidFill>
                <a:schemeClr val="dk1"/>
              </a:solidFill>
              <a:latin typeface="Arial"/>
              <a:ea typeface="Arial"/>
              <a:cs typeface="Arial"/>
              <a:sym typeface="Arial"/>
            </a:endParaRPr>
          </a:p>
        </p:txBody>
      </p:sp>
      <p:sp>
        <p:nvSpPr>
          <p:cNvPr id="230" name="Google Shape;230;p1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31" name="Google Shape;231;p1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232" name="Google Shape;232;p14"/>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Animals and Biological Materials Are High-Review Areas</a:t>
            </a:r>
            <a:endParaRPr sz="2800">
              <a:solidFill>
                <a:schemeClr val="dk1"/>
              </a:solidFill>
              <a:latin typeface="Arial"/>
              <a:ea typeface="Arial"/>
              <a:cs typeface="Arial"/>
              <a:sym typeface="Arial"/>
            </a:endParaRPr>
          </a:p>
        </p:txBody>
      </p:sp>
      <p:sp>
        <p:nvSpPr>
          <p:cNvPr id="233" name="Google Shape;233;p14"/>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Curiosity is valid, but the method must be allowed and safe.</a:t>
            </a:r>
            <a:endParaRPr sz="1200">
              <a:solidFill>
                <a:schemeClr val="dk1"/>
              </a:solidFill>
              <a:latin typeface="Arial"/>
              <a:ea typeface="Arial"/>
              <a:cs typeface="Arial"/>
              <a:sym typeface="Arial"/>
            </a:endParaRPr>
          </a:p>
        </p:txBody>
      </p:sp>
      <p:cxnSp>
        <p:nvCxnSpPr>
          <p:cNvPr id="234" name="Google Shape;234;p14"/>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35" name="Google Shape;235;p14"/>
          <p:cNvSpPr/>
          <p:nvPr/>
        </p:nvSpPr>
        <p:spPr>
          <a:xfrm>
            <a:off x="914400" y="1828800"/>
            <a:ext cx="10149840" cy="374904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200">
                <a:solidFill>
                  <a:srgbClr val="FFFFFF"/>
                </a:solidFill>
                <a:latin typeface="Arial"/>
                <a:ea typeface="Arial"/>
                <a:cs typeface="Arial"/>
                <a:sym typeface="Arial"/>
              </a:rPr>
              <a:t>Animal-related projects may involve vertebrate animals, pets, habitats, behavior testing, or interventions.</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Biological projects may involve microorganisms, cultures, soil, water samples, mold, or unknown organisms.</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These areas require strict safety and ethics review and may not be allowed in a school setting.</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Safer alternatives may include simulations, existing datasets, non-culturing methods, or teacher-provided materials.</a:t>
            </a:r>
            <a:endParaRPr sz="22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40" name="Shape 240"/>
        <p:cNvGrpSpPr/>
        <p:nvPr/>
      </p:nvGrpSpPr>
      <p:grpSpPr>
        <a:xfrm>
          <a:off x="0" y="0"/>
          <a:ext cx="0" cy="0"/>
          <a:chOff x="0" y="0"/>
          <a:chExt cx="0" cy="0"/>
        </a:xfrm>
      </p:grpSpPr>
      <p:sp>
        <p:nvSpPr>
          <p:cNvPr id="241" name="Google Shape;241;p1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SAFETY</a:t>
            </a:r>
            <a:endParaRPr sz="1000">
              <a:solidFill>
                <a:schemeClr val="dk1"/>
              </a:solidFill>
              <a:latin typeface="Arial"/>
              <a:ea typeface="Arial"/>
              <a:cs typeface="Arial"/>
              <a:sym typeface="Arial"/>
            </a:endParaRPr>
          </a:p>
        </p:txBody>
      </p:sp>
      <p:sp>
        <p:nvSpPr>
          <p:cNvPr id="245" name="Google Shape;245;p1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46" name="Google Shape;246;p1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247" name="Google Shape;247;p15"/>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Tools, Chemicals, Heat, and Power Change the Approval Level</a:t>
            </a:r>
            <a:endParaRPr sz="2800">
              <a:solidFill>
                <a:schemeClr val="dk1"/>
              </a:solidFill>
              <a:latin typeface="Arial"/>
              <a:ea typeface="Arial"/>
              <a:cs typeface="Arial"/>
              <a:sym typeface="Arial"/>
            </a:endParaRPr>
          </a:p>
        </p:txBody>
      </p:sp>
      <p:sp>
        <p:nvSpPr>
          <p:cNvPr id="248" name="Google Shape;248;p15"/>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The setup must be safe before it can be scientific.</a:t>
            </a:r>
            <a:endParaRPr sz="1200">
              <a:solidFill>
                <a:schemeClr val="dk1"/>
              </a:solidFill>
              <a:latin typeface="Arial"/>
              <a:ea typeface="Arial"/>
              <a:cs typeface="Arial"/>
              <a:sym typeface="Arial"/>
            </a:endParaRPr>
          </a:p>
        </p:txBody>
      </p:sp>
      <p:cxnSp>
        <p:nvCxnSpPr>
          <p:cNvPr id="249" name="Google Shape;249;p15"/>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50" name="Google Shape;250;p15"/>
          <p:cNvSpPr/>
          <p:nvPr/>
        </p:nvSpPr>
        <p:spPr>
          <a:xfrm>
            <a:off x="1005840" y="1828800"/>
            <a:ext cx="9875520" cy="365760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300">
                <a:solidFill>
                  <a:srgbClr val="FFFFFF"/>
                </a:solidFill>
                <a:latin typeface="Arial"/>
                <a:ea typeface="Arial"/>
                <a:cs typeface="Arial"/>
                <a:sym typeface="Arial"/>
              </a:rPr>
              <a:t>Use the smallest safe scale.</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Substitute safer materials when possible.</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Identify PPE before testing.</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Get training before tools or equipment.</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Plan storage, cleanup, and disposal.</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Stop if the setup changes unexpectedly.</a:t>
            </a:r>
            <a:endParaRPr sz="23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55" name="Shape 255"/>
        <p:cNvGrpSpPr/>
        <p:nvPr/>
      </p:nvGrpSpPr>
      <p:grpSpPr>
        <a:xfrm>
          <a:off x="0" y="0"/>
          <a:ext cx="0" cy="0"/>
          <a:chOff x="0" y="0"/>
          <a:chExt cx="0" cy="0"/>
        </a:xfrm>
      </p:grpSpPr>
      <p:sp>
        <p:nvSpPr>
          <p:cNvPr id="256" name="Google Shape;256;p16"/>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SAFETY</a:t>
            </a:r>
            <a:endParaRPr sz="1000">
              <a:solidFill>
                <a:schemeClr val="dk1"/>
              </a:solidFill>
              <a:latin typeface="Arial"/>
              <a:ea typeface="Arial"/>
              <a:cs typeface="Arial"/>
              <a:sym typeface="Arial"/>
            </a:endParaRPr>
          </a:p>
        </p:txBody>
      </p:sp>
      <p:sp>
        <p:nvSpPr>
          <p:cNvPr id="260" name="Google Shape;260;p16"/>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61" name="Google Shape;261;p16"/>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262" name="Google Shape;262;p16"/>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The Environment Is Not a Testing Trash Can</a:t>
            </a:r>
            <a:endParaRPr sz="2800">
              <a:solidFill>
                <a:schemeClr val="dk1"/>
              </a:solidFill>
              <a:latin typeface="Arial"/>
              <a:ea typeface="Arial"/>
              <a:cs typeface="Arial"/>
              <a:sym typeface="Arial"/>
            </a:endParaRPr>
          </a:p>
        </p:txBody>
      </p:sp>
      <p:sp>
        <p:nvSpPr>
          <p:cNvPr id="263" name="Google Shape;263;p16"/>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Field sampling and disposal require responsibility.</a:t>
            </a:r>
            <a:endParaRPr sz="1200">
              <a:solidFill>
                <a:schemeClr val="dk1"/>
              </a:solidFill>
              <a:latin typeface="Arial"/>
              <a:ea typeface="Arial"/>
              <a:cs typeface="Arial"/>
              <a:sym typeface="Arial"/>
            </a:endParaRPr>
          </a:p>
        </p:txBody>
      </p:sp>
      <p:cxnSp>
        <p:nvCxnSpPr>
          <p:cNvPr id="264" name="Google Shape;264;p16"/>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65" name="Google Shape;265;p16"/>
          <p:cNvSpPr/>
          <p:nvPr/>
        </p:nvSpPr>
        <p:spPr>
          <a:xfrm>
            <a:off x="777240" y="1828800"/>
            <a:ext cx="5257800" cy="3657600"/>
          </a:xfrm>
          <a:prstGeom prst="roundRect">
            <a:avLst>
              <a:gd fmla="val 1500"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94183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FIELD SAMPLING QUESTIONS</a:t>
            </a:r>
            <a:endParaRPr sz="1100">
              <a:solidFill>
                <a:schemeClr val="dk1"/>
              </a:solidFill>
              <a:latin typeface="Arial"/>
              <a:ea typeface="Arial"/>
              <a:cs typeface="Arial"/>
              <a:sym typeface="Arial"/>
            </a:endParaRPr>
          </a:p>
        </p:txBody>
      </p:sp>
      <p:sp>
        <p:nvSpPr>
          <p:cNvPr id="267" name="Google Shape;267;p16"/>
          <p:cNvSpPr/>
          <p:nvPr/>
        </p:nvSpPr>
        <p:spPr>
          <a:xfrm>
            <a:off x="941832" y="2331720"/>
            <a:ext cx="4928616" cy="29992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Do you have permission?</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Is the location safe?</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Can samples be removed?</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Could you spread contamination?</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How will waste be disposed?</a:t>
            </a:r>
            <a:endParaRPr sz="2000">
              <a:solidFill>
                <a:schemeClr val="dk1"/>
              </a:solidFill>
              <a:latin typeface="Arial"/>
              <a:ea typeface="Arial"/>
              <a:cs typeface="Arial"/>
              <a:sym typeface="Arial"/>
            </a:endParaRPr>
          </a:p>
        </p:txBody>
      </p:sp>
      <p:sp>
        <p:nvSpPr>
          <p:cNvPr id="268" name="Google Shape;268;p16"/>
          <p:cNvSpPr/>
          <p:nvPr/>
        </p:nvSpPr>
        <p:spPr>
          <a:xfrm>
            <a:off x="6172200" y="1828800"/>
            <a:ext cx="5257800" cy="3657600"/>
          </a:xfrm>
          <a:prstGeom prst="roundRect">
            <a:avLst>
              <a:gd fmla="val 15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633679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ENVIRONMENTAL RESPONSIBILITY</a:t>
            </a:r>
            <a:endParaRPr sz="1100">
              <a:solidFill>
                <a:schemeClr val="dk1"/>
              </a:solidFill>
              <a:latin typeface="Arial"/>
              <a:ea typeface="Arial"/>
              <a:cs typeface="Arial"/>
              <a:sym typeface="Arial"/>
            </a:endParaRPr>
          </a:p>
        </p:txBody>
      </p:sp>
      <p:sp>
        <p:nvSpPr>
          <p:cNvPr id="270" name="Google Shape;270;p16"/>
          <p:cNvSpPr/>
          <p:nvPr/>
        </p:nvSpPr>
        <p:spPr>
          <a:xfrm>
            <a:off x="6336792" y="2331720"/>
            <a:ext cx="4928616" cy="29992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Do not release materials outdoors.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Avoid disturbing habitats.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Use clean collection methods.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Dispose through approved procedures.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Document sampling locations responsibly.</a:t>
            </a:r>
            <a:endParaRPr sz="20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75" name="Shape 275"/>
        <p:cNvGrpSpPr/>
        <p:nvPr/>
      </p:nvGrpSpPr>
      <p:grpSpPr>
        <a:xfrm>
          <a:off x="0" y="0"/>
          <a:ext cx="0" cy="0"/>
          <a:chOff x="0" y="0"/>
          <a:chExt cx="0" cy="0"/>
        </a:xfrm>
      </p:grpSpPr>
      <p:sp>
        <p:nvSpPr>
          <p:cNvPr id="276" name="Google Shape;276;p17"/>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7"/>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APPROVAL</a:t>
            </a:r>
            <a:endParaRPr sz="1000">
              <a:solidFill>
                <a:schemeClr val="dk1"/>
              </a:solidFill>
              <a:latin typeface="Arial"/>
              <a:ea typeface="Arial"/>
              <a:cs typeface="Arial"/>
              <a:sym typeface="Arial"/>
            </a:endParaRPr>
          </a:p>
        </p:txBody>
      </p:sp>
      <p:sp>
        <p:nvSpPr>
          <p:cNvPr id="280" name="Google Shape;280;p17"/>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81" name="Google Shape;281;p17"/>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282" name="Google Shape;282;p17"/>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The Approval Pathway</a:t>
            </a:r>
            <a:endParaRPr sz="2800">
              <a:solidFill>
                <a:schemeClr val="dk1"/>
              </a:solidFill>
              <a:latin typeface="Arial"/>
              <a:ea typeface="Arial"/>
              <a:cs typeface="Arial"/>
              <a:sym typeface="Arial"/>
            </a:endParaRPr>
          </a:p>
        </p:txBody>
      </p:sp>
      <p:sp>
        <p:nvSpPr>
          <p:cNvPr id="283" name="Google Shape;283;p17"/>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Approval is a decision point, not a formality.</a:t>
            </a:r>
            <a:endParaRPr sz="1200">
              <a:solidFill>
                <a:schemeClr val="dk1"/>
              </a:solidFill>
              <a:latin typeface="Arial"/>
              <a:ea typeface="Arial"/>
              <a:cs typeface="Arial"/>
              <a:sym typeface="Arial"/>
            </a:endParaRPr>
          </a:p>
        </p:txBody>
      </p:sp>
      <p:cxnSp>
        <p:nvCxnSpPr>
          <p:cNvPr id="284" name="Google Shape;284;p17"/>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285" name="Google Shape;285;p17"/>
          <p:cNvSpPr/>
          <p:nvPr/>
        </p:nvSpPr>
        <p:spPr>
          <a:xfrm>
            <a:off x="777240" y="2331720"/>
            <a:ext cx="1481328" cy="1143000"/>
          </a:xfrm>
          <a:prstGeom prst="roundRect">
            <a:avLst>
              <a:gd fmla="val 4800"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7"/>
          <p:cNvSpPr/>
          <p:nvPr/>
        </p:nvSpPr>
        <p:spPr>
          <a:xfrm>
            <a:off x="941832" y="2468880"/>
            <a:ext cx="1152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1</a:t>
            </a:r>
            <a:endParaRPr sz="1100">
              <a:solidFill>
                <a:schemeClr val="dk1"/>
              </a:solidFill>
              <a:latin typeface="Arial"/>
              <a:ea typeface="Arial"/>
              <a:cs typeface="Arial"/>
              <a:sym typeface="Arial"/>
            </a:endParaRPr>
          </a:p>
        </p:txBody>
      </p:sp>
      <p:sp>
        <p:nvSpPr>
          <p:cNvPr id="287" name="Google Shape;287;p17"/>
          <p:cNvSpPr/>
          <p:nvPr/>
        </p:nvSpPr>
        <p:spPr>
          <a:xfrm>
            <a:off x="941832" y="2834640"/>
            <a:ext cx="1152144"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Idea screening</a:t>
            </a:r>
            <a:endParaRPr sz="1500">
              <a:solidFill>
                <a:schemeClr val="dk1"/>
              </a:solidFill>
              <a:latin typeface="Arial"/>
              <a:ea typeface="Arial"/>
              <a:cs typeface="Arial"/>
              <a:sym typeface="Arial"/>
            </a:endParaRPr>
          </a:p>
        </p:txBody>
      </p:sp>
      <p:cxnSp>
        <p:nvCxnSpPr>
          <p:cNvPr id="288" name="Google Shape;288;p17"/>
          <p:cNvCxnSpPr/>
          <p:nvPr/>
        </p:nvCxnSpPr>
        <p:spPr>
          <a:xfrm>
            <a:off x="2276856" y="2907792"/>
            <a:ext cx="356616" cy="0"/>
          </a:xfrm>
          <a:prstGeom prst="straightConnector1">
            <a:avLst/>
          </a:prstGeom>
          <a:noFill/>
          <a:ln cap="flat" cmpd="sng" w="12700">
            <a:solidFill>
              <a:srgbClr val="B8B8B8"/>
            </a:solidFill>
            <a:prstDash val="solid"/>
            <a:round/>
            <a:headEnd len="sm" w="sm" type="none"/>
            <a:tailEnd len="med" w="med" type="triangle"/>
          </a:ln>
        </p:spPr>
      </p:cxnSp>
      <p:sp>
        <p:nvSpPr>
          <p:cNvPr id="289" name="Google Shape;289;p17"/>
          <p:cNvSpPr/>
          <p:nvPr/>
        </p:nvSpPr>
        <p:spPr>
          <a:xfrm>
            <a:off x="2651760" y="2331720"/>
            <a:ext cx="1481328" cy="1143000"/>
          </a:xfrm>
          <a:prstGeom prst="roundRect">
            <a:avLst>
              <a:gd fmla="val 48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7"/>
          <p:cNvSpPr/>
          <p:nvPr/>
        </p:nvSpPr>
        <p:spPr>
          <a:xfrm>
            <a:off x="2816352" y="2468880"/>
            <a:ext cx="1152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2</a:t>
            </a:r>
            <a:endParaRPr sz="1100">
              <a:solidFill>
                <a:schemeClr val="dk1"/>
              </a:solidFill>
              <a:latin typeface="Arial"/>
              <a:ea typeface="Arial"/>
              <a:cs typeface="Arial"/>
              <a:sym typeface="Arial"/>
            </a:endParaRPr>
          </a:p>
        </p:txBody>
      </p:sp>
      <p:sp>
        <p:nvSpPr>
          <p:cNvPr id="291" name="Google Shape;291;p17"/>
          <p:cNvSpPr/>
          <p:nvPr/>
        </p:nvSpPr>
        <p:spPr>
          <a:xfrm>
            <a:off x="2816352" y="2834640"/>
            <a:ext cx="1152144"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Research plan</a:t>
            </a:r>
            <a:endParaRPr sz="1500">
              <a:solidFill>
                <a:schemeClr val="dk1"/>
              </a:solidFill>
              <a:latin typeface="Arial"/>
              <a:ea typeface="Arial"/>
              <a:cs typeface="Arial"/>
              <a:sym typeface="Arial"/>
            </a:endParaRPr>
          </a:p>
        </p:txBody>
      </p:sp>
      <p:cxnSp>
        <p:nvCxnSpPr>
          <p:cNvPr id="292" name="Google Shape;292;p17"/>
          <p:cNvCxnSpPr/>
          <p:nvPr/>
        </p:nvCxnSpPr>
        <p:spPr>
          <a:xfrm>
            <a:off x="4151376" y="2907792"/>
            <a:ext cx="356616" cy="0"/>
          </a:xfrm>
          <a:prstGeom prst="straightConnector1">
            <a:avLst/>
          </a:prstGeom>
          <a:noFill/>
          <a:ln cap="flat" cmpd="sng" w="12700">
            <a:solidFill>
              <a:srgbClr val="B8B8B8"/>
            </a:solidFill>
            <a:prstDash val="solid"/>
            <a:round/>
            <a:headEnd len="sm" w="sm" type="none"/>
            <a:tailEnd len="med" w="med" type="triangle"/>
          </a:ln>
        </p:spPr>
      </p:cxnSp>
      <p:sp>
        <p:nvSpPr>
          <p:cNvPr id="293" name="Google Shape;293;p17"/>
          <p:cNvSpPr/>
          <p:nvPr/>
        </p:nvSpPr>
        <p:spPr>
          <a:xfrm>
            <a:off x="4526280" y="2331720"/>
            <a:ext cx="1481328" cy="1143000"/>
          </a:xfrm>
          <a:prstGeom prst="roundRect">
            <a:avLst>
              <a:gd fmla="val 48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a:off x="4690872" y="2468880"/>
            <a:ext cx="1152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3</a:t>
            </a:r>
            <a:endParaRPr sz="1100">
              <a:solidFill>
                <a:schemeClr val="dk1"/>
              </a:solidFill>
              <a:latin typeface="Arial"/>
              <a:ea typeface="Arial"/>
              <a:cs typeface="Arial"/>
              <a:sym typeface="Arial"/>
            </a:endParaRPr>
          </a:p>
        </p:txBody>
      </p:sp>
      <p:sp>
        <p:nvSpPr>
          <p:cNvPr id="295" name="Google Shape;295;p17"/>
          <p:cNvSpPr/>
          <p:nvPr/>
        </p:nvSpPr>
        <p:spPr>
          <a:xfrm>
            <a:off x="4690872" y="2834640"/>
            <a:ext cx="1152144"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Safety + ethics review</a:t>
            </a:r>
            <a:endParaRPr sz="1500">
              <a:solidFill>
                <a:schemeClr val="dk1"/>
              </a:solidFill>
              <a:latin typeface="Arial"/>
              <a:ea typeface="Arial"/>
              <a:cs typeface="Arial"/>
              <a:sym typeface="Arial"/>
            </a:endParaRPr>
          </a:p>
        </p:txBody>
      </p:sp>
      <p:cxnSp>
        <p:nvCxnSpPr>
          <p:cNvPr id="296" name="Google Shape;296;p17"/>
          <p:cNvCxnSpPr/>
          <p:nvPr/>
        </p:nvCxnSpPr>
        <p:spPr>
          <a:xfrm>
            <a:off x="6025896" y="2907792"/>
            <a:ext cx="356616" cy="0"/>
          </a:xfrm>
          <a:prstGeom prst="straightConnector1">
            <a:avLst/>
          </a:prstGeom>
          <a:noFill/>
          <a:ln cap="flat" cmpd="sng" w="12700">
            <a:solidFill>
              <a:srgbClr val="B8B8B8"/>
            </a:solidFill>
            <a:prstDash val="solid"/>
            <a:round/>
            <a:headEnd len="sm" w="sm" type="none"/>
            <a:tailEnd len="med" w="med" type="triangle"/>
          </a:ln>
        </p:spPr>
      </p:cxnSp>
      <p:sp>
        <p:nvSpPr>
          <p:cNvPr id="297" name="Google Shape;297;p17"/>
          <p:cNvSpPr/>
          <p:nvPr/>
        </p:nvSpPr>
        <p:spPr>
          <a:xfrm>
            <a:off x="6400800" y="2331720"/>
            <a:ext cx="1481328" cy="1143000"/>
          </a:xfrm>
          <a:prstGeom prst="roundRect">
            <a:avLst>
              <a:gd fmla="val 48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6565392" y="2468880"/>
            <a:ext cx="1152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4</a:t>
            </a:r>
            <a:endParaRPr sz="1100">
              <a:solidFill>
                <a:schemeClr val="dk1"/>
              </a:solidFill>
              <a:latin typeface="Arial"/>
              <a:ea typeface="Arial"/>
              <a:cs typeface="Arial"/>
              <a:sym typeface="Arial"/>
            </a:endParaRPr>
          </a:p>
        </p:txBody>
      </p:sp>
      <p:sp>
        <p:nvSpPr>
          <p:cNvPr id="299" name="Google Shape;299;p17"/>
          <p:cNvSpPr/>
          <p:nvPr/>
        </p:nvSpPr>
        <p:spPr>
          <a:xfrm>
            <a:off x="6565392" y="2834640"/>
            <a:ext cx="1152144"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Approval status</a:t>
            </a:r>
            <a:endParaRPr sz="1500">
              <a:solidFill>
                <a:schemeClr val="dk1"/>
              </a:solidFill>
              <a:latin typeface="Arial"/>
              <a:ea typeface="Arial"/>
              <a:cs typeface="Arial"/>
              <a:sym typeface="Arial"/>
            </a:endParaRPr>
          </a:p>
        </p:txBody>
      </p:sp>
      <p:cxnSp>
        <p:nvCxnSpPr>
          <p:cNvPr id="300" name="Google Shape;300;p17"/>
          <p:cNvCxnSpPr/>
          <p:nvPr/>
        </p:nvCxnSpPr>
        <p:spPr>
          <a:xfrm>
            <a:off x="7900416" y="2907792"/>
            <a:ext cx="356616" cy="0"/>
          </a:xfrm>
          <a:prstGeom prst="straightConnector1">
            <a:avLst/>
          </a:prstGeom>
          <a:noFill/>
          <a:ln cap="flat" cmpd="sng" w="12700">
            <a:solidFill>
              <a:srgbClr val="B8B8B8"/>
            </a:solidFill>
            <a:prstDash val="solid"/>
            <a:round/>
            <a:headEnd len="sm" w="sm" type="none"/>
            <a:tailEnd len="med" w="med" type="triangle"/>
          </a:ln>
        </p:spPr>
      </p:cxnSp>
      <p:sp>
        <p:nvSpPr>
          <p:cNvPr id="301" name="Google Shape;301;p17"/>
          <p:cNvSpPr/>
          <p:nvPr/>
        </p:nvSpPr>
        <p:spPr>
          <a:xfrm>
            <a:off x="8275320" y="2331720"/>
            <a:ext cx="1481328" cy="1143000"/>
          </a:xfrm>
          <a:prstGeom prst="roundRect">
            <a:avLst>
              <a:gd fmla="val 48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p:nvPr/>
        </p:nvSpPr>
        <p:spPr>
          <a:xfrm>
            <a:off x="8439912" y="2468880"/>
            <a:ext cx="1152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5</a:t>
            </a:r>
            <a:endParaRPr sz="1100">
              <a:solidFill>
                <a:schemeClr val="dk1"/>
              </a:solidFill>
              <a:latin typeface="Arial"/>
              <a:ea typeface="Arial"/>
              <a:cs typeface="Arial"/>
              <a:sym typeface="Arial"/>
            </a:endParaRPr>
          </a:p>
        </p:txBody>
      </p:sp>
      <p:sp>
        <p:nvSpPr>
          <p:cNvPr id="303" name="Google Shape;303;p17"/>
          <p:cNvSpPr/>
          <p:nvPr/>
        </p:nvSpPr>
        <p:spPr>
          <a:xfrm>
            <a:off x="8439912" y="2834640"/>
            <a:ext cx="1152144"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Pilot testing</a:t>
            </a:r>
            <a:endParaRPr sz="1500">
              <a:solidFill>
                <a:schemeClr val="dk1"/>
              </a:solidFill>
              <a:latin typeface="Arial"/>
              <a:ea typeface="Arial"/>
              <a:cs typeface="Arial"/>
              <a:sym typeface="Arial"/>
            </a:endParaRPr>
          </a:p>
        </p:txBody>
      </p:sp>
      <p:cxnSp>
        <p:nvCxnSpPr>
          <p:cNvPr id="304" name="Google Shape;304;p17"/>
          <p:cNvCxnSpPr/>
          <p:nvPr/>
        </p:nvCxnSpPr>
        <p:spPr>
          <a:xfrm>
            <a:off x="9774936" y="2907792"/>
            <a:ext cx="356616" cy="0"/>
          </a:xfrm>
          <a:prstGeom prst="straightConnector1">
            <a:avLst/>
          </a:prstGeom>
          <a:noFill/>
          <a:ln cap="flat" cmpd="sng" w="12700">
            <a:solidFill>
              <a:srgbClr val="B8B8B8"/>
            </a:solidFill>
            <a:prstDash val="solid"/>
            <a:round/>
            <a:headEnd len="sm" w="sm" type="none"/>
            <a:tailEnd len="med" w="med" type="triangle"/>
          </a:ln>
        </p:spPr>
      </p:cxnSp>
      <p:sp>
        <p:nvSpPr>
          <p:cNvPr id="305" name="Google Shape;305;p17"/>
          <p:cNvSpPr/>
          <p:nvPr/>
        </p:nvSpPr>
        <p:spPr>
          <a:xfrm>
            <a:off x="10149840" y="2331720"/>
            <a:ext cx="1481328" cy="1143000"/>
          </a:xfrm>
          <a:prstGeom prst="roundRect">
            <a:avLst>
              <a:gd fmla="val 48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7"/>
          <p:cNvSpPr/>
          <p:nvPr/>
        </p:nvSpPr>
        <p:spPr>
          <a:xfrm>
            <a:off x="10314432" y="2468880"/>
            <a:ext cx="1152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6</a:t>
            </a:r>
            <a:endParaRPr sz="1100">
              <a:solidFill>
                <a:schemeClr val="dk1"/>
              </a:solidFill>
              <a:latin typeface="Arial"/>
              <a:ea typeface="Arial"/>
              <a:cs typeface="Arial"/>
              <a:sym typeface="Arial"/>
            </a:endParaRPr>
          </a:p>
        </p:txBody>
      </p:sp>
      <p:sp>
        <p:nvSpPr>
          <p:cNvPr id="307" name="Google Shape;307;p17"/>
          <p:cNvSpPr/>
          <p:nvPr/>
        </p:nvSpPr>
        <p:spPr>
          <a:xfrm>
            <a:off x="10314432" y="2834640"/>
            <a:ext cx="1152144" cy="48463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Revision if needed</a:t>
            </a:r>
            <a:endParaRPr sz="1500">
              <a:solidFill>
                <a:schemeClr val="dk1"/>
              </a:solidFill>
              <a:latin typeface="Arial"/>
              <a:ea typeface="Arial"/>
              <a:cs typeface="Arial"/>
              <a:sym typeface="Arial"/>
            </a:endParaRPr>
          </a:p>
        </p:txBody>
      </p:sp>
      <p:sp>
        <p:nvSpPr>
          <p:cNvPr id="308" name="Google Shape;308;p17"/>
          <p:cNvSpPr/>
          <p:nvPr/>
        </p:nvSpPr>
        <p:spPr>
          <a:xfrm>
            <a:off x="914400" y="4572000"/>
            <a:ext cx="10332720" cy="411480"/>
          </a:xfrm>
          <a:prstGeom prst="rect">
            <a:avLst/>
          </a:prstGeom>
          <a:noFill/>
          <a:ln>
            <a:noFill/>
          </a:ln>
        </p:spPr>
        <p:txBody>
          <a:bodyPr anchorCtr="0" anchor="t" bIns="375" lIns="375" spcFirstLastPara="1" rIns="375" wrap="square" tIns="375">
            <a:noAutofit/>
          </a:bodyPr>
          <a:lstStyle/>
          <a:p>
            <a:pPr indent="0" lvl="0" marL="0" marR="0" rtl="0" algn="ctr">
              <a:spcBef>
                <a:spcPts val="0"/>
              </a:spcBef>
              <a:spcAft>
                <a:spcPts val="0"/>
              </a:spcAft>
              <a:buClr>
                <a:srgbClr val="FFFFFF"/>
              </a:buClr>
              <a:buSzPts val="2200"/>
              <a:buFont typeface="Play"/>
              <a:buNone/>
            </a:pPr>
            <a:r>
              <a:rPr b="1" lang="en-US" sz="2200">
                <a:solidFill>
                  <a:srgbClr val="FFFFFF"/>
                </a:solidFill>
                <a:latin typeface="Play"/>
                <a:ea typeface="Play"/>
                <a:cs typeface="Play"/>
                <a:sym typeface="Play"/>
              </a:rPr>
              <a:t>Possible outcomes: proceed • revise • seek additional review • not approved in this form</a:t>
            </a:r>
            <a:endParaRPr sz="22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13" name="Shape 313"/>
        <p:cNvGrpSpPr/>
        <p:nvPr/>
      </p:nvGrpSpPr>
      <p:grpSpPr>
        <a:xfrm>
          <a:off x="0" y="0"/>
          <a:ext cx="0" cy="0"/>
          <a:chOff x="0" y="0"/>
          <a:chExt cx="0" cy="0"/>
        </a:xfrm>
      </p:grpSpPr>
      <p:sp>
        <p:nvSpPr>
          <p:cNvPr id="314" name="Google Shape;314;p18"/>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APPROVAL</a:t>
            </a:r>
            <a:endParaRPr sz="1000">
              <a:solidFill>
                <a:schemeClr val="dk1"/>
              </a:solidFill>
              <a:latin typeface="Arial"/>
              <a:ea typeface="Arial"/>
              <a:cs typeface="Arial"/>
              <a:sym typeface="Arial"/>
            </a:endParaRPr>
          </a:p>
        </p:txBody>
      </p:sp>
      <p:sp>
        <p:nvSpPr>
          <p:cNvPr id="318" name="Google Shape;318;p18"/>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19" name="Google Shape;319;p18"/>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320" name="Google Shape;320;p18"/>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Stop, Revise, or Proceed?</a:t>
            </a:r>
            <a:endParaRPr sz="2800">
              <a:solidFill>
                <a:schemeClr val="dk1"/>
              </a:solidFill>
              <a:latin typeface="Arial"/>
              <a:ea typeface="Arial"/>
              <a:cs typeface="Arial"/>
              <a:sym typeface="Arial"/>
            </a:endParaRPr>
          </a:p>
        </p:txBody>
      </p:sp>
      <p:sp>
        <p:nvSpPr>
          <p:cNvPr id="321" name="Google Shape;321;p18"/>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Use decision language before students start testing.</a:t>
            </a:r>
            <a:endParaRPr sz="1200">
              <a:solidFill>
                <a:schemeClr val="dk1"/>
              </a:solidFill>
              <a:latin typeface="Arial"/>
              <a:ea typeface="Arial"/>
              <a:cs typeface="Arial"/>
              <a:sym typeface="Arial"/>
            </a:endParaRPr>
          </a:p>
        </p:txBody>
      </p:sp>
      <p:cxnSp>
        <p:nvCxnSpPr>
          <p:cNvPr id="322" name="Google Shape;322;p18"/>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23" name="Google Shape;323;p18"/>
          <p:cNvSpPr/>
          <p:nvPr/>
        </p:nvSpPr>
        <p:spPr>
          <a:xfrm>
            <a:off x="777240" y="1828800"/>
            <a:ext cx="5257800" cy="3017520"/>
          </a:xfrm>
          <a:prstGeom prst="roundRect">
            <a:avLst>
              <a:gd fmla="val 1818"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94183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STOP</a:t>
            </a:r>
            <a:endParaRPr sz="1100">
              <a:solidFill>
                <a:schemeClr val="dk1"/>
              </a:solidFill>
              <a:latin typeface="Arial"/>
              <a:ea typeface="Arial"/>
              <a:cs typeface="Arial"/>
              <a:sym typeface="Arial"/>
            </a:endParaRPr>
          </a:p>
        </p:txBody>
      </p:sp>
      <p:sp>
        <p:nvSpPr>
          <p:cNvPr id="325" name="Google Shape;325;p18"/>
          <p:cNvSpPr/>
          <p:nvPr/>
        </p:nvSpPr>
        <p:spPr>
          <a:xfrm>
            <a:off x="941832" y="2331720"/>
            <a:ext cx="4928616" cy="23591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Unapproved risk</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Unclear human-subject issues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Unsafe materials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Method change increases hazard</a:t>
            </a:r>
            <a:endParaRPr sz="2000">
              <a:solidFill>
                <a:schemeClr val="dk1"/>
              </a:solidFill>
              <a:latin typeface="Arial"/>
              <a:ea typeface="Arial"/>
              <a:cs typeface="Arial"/>
              <a:sym typeface="Arial"/>
            </a:endParaRPr>
          </a:p>
        </p:txBody>
      </p:sp>
      <p:sp>
        <p:nvSpPr>
          <p:cNvPr id="326" name="Google Shape;326;p18"/>
          <p:cNvSpPr/>
          <p:nvPr/>
        </p:nvSpPr>
        <p:spPr>
          <a:xfrm>
            <a:off x="6172200" y="1828800"/>
            <a:ext cx="5257800" cy="3017520"/>
          </a:xfrm>
          <a:prstGeom prst="roundRect">
            <a:avLst>
              <a:gd fmla="val 1818"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633679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PROCEED</a:t>
            </a:r>
            <a:endParaRPr sz="1100">
              <a:solidFill>
                <a:schemeClr val="dk1"/>
              </a:solidFill>
              <a:latin typeface="Arial"/>
              <a:ea typeface="Arial"/>
              <a:cs typeface="Arial"/>
              <a:sym typeface="Arial"/>
            </a:endParaRPr>
          </a:p>
        </p:txBody>
      </p:sp>
      <p:sp>
        <p:nvSpPr>
          <p:cNvPr id="328" name="Google Shape;328;p18"/>
          <p:cNvSpPr/>
          <p:nvPr/>
        </p:nvSpPr>
        <p:spPr>
          <a:xfrm>
            <a:off x="6336792" y="2331720"/>
            <a:ext cx="4928616" cy="23591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Approved plan</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Known risks controlled</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Data table ready</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Cleanup and storage planned</a:t>
            </a:r>
            <a:endParaRPr sz="2000">
              <a:solidFill>
                <a:schemeClr val="dk1"/>
              </a:solidFill>
              <a:latin typeface="Arial"/>
              <a:ea typeface="Arial"/>
              <a:cs typeface="Arial"/>
              <a:sym typeface="Arial"/>
            </a:endParaRPr>
          </a:p>
        </p:txBody>
      </p:sp>
      <p:sp>
        <p:nvSpPr>
          <p:cNvPr id="329" name="Google Shape;329;p18"/>
          <p:cNvSpPr/>
          <p:nvPr/>
        </p:nvSpPr>
        <p:spPr>
          <a:xfrm>
            <a:off x="1005840" y="5257800"/>
            <a:ext cx="10149840" cy="411480"/>
          </a:xfrm>
          <a:prstGeom prst="rect">
            <a:avLst/>
          </a:prstGeom>
          <a:noFill/>
          <a:ln>
            <a:noFill/>
          </a:ln>
        </p:spPr>
        <p:txBody>
          <a:bodyPr anchorCtr="0" anchor="t" bIns="375" lIns="375" spcFirstLastPara="1" rIns="375" wrap="square" tIns="375">
            <a:noAutofit/>
          </a:bodyPr>
          <a:lstStyle/>
          <a:p>
            <a:pPr indent="0" lvl="0" marL="0" marR="0" rtl="0" algn="ctr">
              <a:spcBef>
                <a:spcPts val="0"/>
              </a:spcBef>
              <a:spcAft>
                <a:spcPts val="0"/>
              </a:spcAft>
              <a:buClr>
                <a:srgbClr val="E22B27"/>
              </a:buClr>
              <a:buSzPts val="2500"/>
              <a:buFont typeface="Play"/>
              <a:buNone/>
            </a:pPr>
            <a:r>
              <a:rPr b="1" lang="en-US" sz="2500">
                <a:solidFill>
                  <a:srgbClr val="E22B27"/>
                </a:solidFill>
                <a:latin typeface="Play"/>
                <a:ea typeface="Play"/>
                <a:cs typeface="Play"/>
                <a:sym typeface="Play"/>
              </a:rPr>
              <a:t>REVISE when the idea is promising but the plan is not ready.</a:t>
            </a:r>
            <a:endParaRPr sz="25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34" name="Shape 334"/>
        <p:cNvGrpSpPr/>
        <p:nvPr/>
      </p:nvGrpSpPr>
      <p:grpSpPr>
        <a:xfrm>
          <a:off x="0" y="0"/>
          <a:ext cx="0" cy="0"/>
          <a:chOff x="0" y="0"/>
          <a:chExt cx="0" cy="0"/>
        </a:xfrm>
      </p:grpSpPr>
      <p:sp>
        <p:nvSpPr>
          <p:cNvPr id="335" name="Google Shape;335;p19"/>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9"/>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39" name="Google Shape;339;p19"/>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40" name="Google Shape;340;p19"/>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341" name="Google Shape;341;p19"/>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Scenario Stations</a:t>
            </a:r>
            <a:endParaRPr sz="2800">
              <a:solidFill>
                <a:schemeClr val="dk1"/>
              </a:solidFill>
              <a:latin typeface="Arial"/>
              <a:ea typeface="Arial"/>
              <a:cs typeface="Arial"/>
              <a:sym typeface="Arial"/>
            </a:endParaRPr>
          </a:p>
        </p:txBody>
      </p:sp>
      <p:sp>
        <p:nvSpPr>
          <p:cNvPr id="342" name="Google Shape;342;p19"/>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Stop • Revise • Proceed</a:t>
            </a:r>
            <a:endParaRPr sz="1200">
              <a:solidFill>
                <a:schemeClr val="dk1"/>
              </a:solidFill>
              <a:latin typeface="Arial"/>
              <a:ea typeface="Arial"/>
              <a:cs typeface="Arial"/>
              <a:sym typeface="Arial"/>
            </a:endParaRPr>
          </a:p>
        </p:txBody>
      </p:sp>
      <p:cxnSp>
        <p:nvCxnSpPr>
          <p:cNvPr id="343" name="Google Shape;343;p19"/>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44" name="Google Shape;344;p19"/>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46" name="Google Shape;346;p19"/>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Move through assigned project scenarios.</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Identify the safety or ethics issue.</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Decide: stop, revise, or proceed.</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Write a safer or clearer version of the project plan.</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Station example: A student wants to test mold growth on bread stored in different places around the school. What needs review before this can happen?</a:t>
            </a:r>
            <a:endParaRPr sz="21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51" name="Shape 351"/>
        <p:cNvGrpSpPr/>
        <p:nvPr/>
      </p:nvGrpSpPr>
      <p:grpSpPr>
        <a:xfrm>
          <a:off x="0" y="0"/>
          <a:ext cx="0" cy="0"/>
          <a:chOff x="0" y="0"/>
          <a:chExt cx="0" cy="0"/>
        </a:xfrm>
      </p:grpSpPr>
      <p:sp>
        <p:nvSpPr>
          <p:cNvPr id="352" name="Google Shape;352;p20"/>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0"/>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0"/>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0"/>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RESEARCH INTEGRITY</a:t>
            </a:r>
            <a:endParaRPr sz="1000">
              <a:solidFill>
                <a:schemeClr val="dk1"/>
              </a:solidFill>
              <a:latin typeface="Arial"/>
              <a:ea typeface="Arial"/>
              <a:cs typeface="Arial"/>
              <a:sym typeface="Arial"/>
            </a:endParaRPr>
          </a:p>
        </p:txBody>
      </p:sp>
      <p:sp>
        <p:nvSpPr>
          <p:cNvPr id="356" name="Google Shape;356;p20"/>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57" name="Google Shape;357;p20"/>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358" name="Google Shape;358;p20"/>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The Integrity Agreement Is Not Paperwork</a:t>
            </a:r>
            <a:endParaRPr sz="2800">
              <a:solidFill>
                <a:schemeClr val="dk1"/>
              </a:solidFill>
              <a:latin typeface="Arial"/>
              <a:ea typeface="Arial"/>
              <a:cs typeface="Arial"/>
              <a:sym typeface="Arial"/>
            </a:endParaRPr>
          </a:p>
        </p:txBody>
      </p:sp>
      <p:sp>
        <p:nvSpPr>
          <p:cNvPr id="359" name="Google Shape;359;p20"/>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It defines the responsibilities students carry all year.</a:t>
            </a:r>
            <a:endParaRPr sz="1200">
              <a:solidFill>
                <a:schemeClr val="dk1"/>
              </a:solidFill>
              <a:latin typeface="Arial"/>
              <a:ea typeface="Arial"/>
              <a:cs typeface="Arial"/>
              <a:sym typeface="Arial"/>
            </a:endParaRPr>
          </a:p>
        </p:txBody>
      </p:sp>
      <p:cxnSp>
        <p:nvCxnSpPr>
          <p:cNvPr id="360" name="Google Shape;360;p20"/>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61" name="Google Shape;361;p20"/>
          <p:cNvSpPr/>
          <p:nvPr/>
        </p:nvSpPr>
        <p:spPr>
          <a:xfrm>
            <a:off x="1005840" y="1828800"/>
            <a:ext cx="10058400" cy="365760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300">
                <a:solidFill>
                  <a:srgbClr val="FFFFFF"/>
                </a:solidFill>
                <a:latin typeface="Arial"/>
                <a:ea typeface="Arial"/>
                <a:cs typeface="Arial"/>
                <a:sym typeface="Arial"/>
              </a:rPr>
              <a:t>Collect and report data honestly.</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Keep consistent research records.</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Credit sources and collaborators.</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Receive approval before testing.</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Follow safety rules and use PPE.</a:t>
            </a:r>
            <a:endParaRPr sz="2300">
              <a:solidFill>
                <a:schemeClr val="dk1"/>
              </a:solidFill>
              <a:latin typeface="Arial"/>
              <a:ea typeface="Arial"/>
              <a:cs typeface="Arial"/>
              <a:sym typeface="Arial"/>
            </a:endParaRPr>
          </a:p>
          <a:p>
            <a:pPr indent="0" lvl="0" marL="0" marR="0" rtl="0" algn="l">
              <a:spcBef>
                <a:spcPts val="0"/>
              </a:spcBef>
              <a:spcAft>
                <a:spcPts val="0"/>
              </a:spcAft>
              <a:buNone/>
            </a:pPr>
            <a:r>
              <a:rPr lang="en-US" sz="2300">
                <a:solidFill>
                  <a:srgbClr val="FFFFFF"/>
                </a:solidFill>
                <a:latin typeface="Arial"/>
                <a:ea typeface="Arial"/>
                <a:cs typeface="Arial"/>
                <a:sym typeface="Arial"/>
              </a:rPr>
              <a:t>Protect people, animals, privacy, and the environment.</a:t>
            </a:r>
            <a:endParaRPr sz="23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66" name="Shape 366"/>
        <p:cNvGrpSpPr/>
        <p:nvPr/>
      </p:nvGrpSpPr>
      <p:grpSpPr>
        <a:xfrm>
          <a:off x="0" y="0"/>
          <a:ext cx="0" cy="0"/>
          <a:chOff x="0" y="0"/>
          <a:chExt cx="0" cy="0"/>
        </a:xfrm>
      </p:grpSpPr>
      <p:sp>
        <p:nvSpPr>
          <p:cNvPr id="367" name="Google Shape;367;p21"/>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1"/>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1"/>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TEACHER CHECKPOINT</a:t>
            </a:r>
            <a:endParaRPr sz="1000">
              <a:solidFill>
                <a:schemeClr val="dk1"/>
              </a:solidFill>
              <a:latin typeface="Arial"/>
              <a:ea typeface="Arial"/>
              <a:cs typeface="Arial"/>
              <a:sym typeface="Arial"/>
            </a:endParaRPr>
          </a:p>
        </p:txBody>
      </p:sp>
      <p:sp>
        <p:nvSpPr>
          <p:cNvPr id="371" name="Google Shape;371;p21"/>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72" name="Google Shape;372;p21"/>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373" name="Google Shape;373;p21"/>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Teacher Implementation Checklist</a:t>
            </a:r>
            <a:endParaRPr sz="2800">
              <a:solidFill>
                <a:schemeClr val="dk1"/>
              </a:solidFill>
              <a:latin typeface="Arial"/>
              <a:ea typeface="Arial"/>
              <a:cs typeface="Arial"/>
              <a:sym typeface="Arial"/>
            </a:endParaRPr>
          </a:p>
        </p:txBody>
      </p:sp>
      <p:sp>
        <p:nvSpPr>
          <p:cNvPr id="374" name="Google Shape;374;p21"/>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Use this as the minimum screen before pilot testing begins.</a:t>
            </a:r>
            <a:endParaRPr sz="1200">
              <a:solidFill>
                <a:schemeClr val="dk1"/>
              </a:solidFill>
              <a:latin typeface="Arial"/>
              <a:ea typeface="Arial"/>
              <a:cs typeface="Arial"/>
              <a:sym typeface="Arial"/>
            </a:endParaRPr>
          </a:p>
        </p:txBody>
      </p:sp>
      <p:cxnSp>
        <p:nvCxnSpPr>
          <p:cNvPr id="375" name="Google Shape;375;p21"/>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76" name="Google Shape;376;p21"/>
          <p:cNvSpPr/>
          <p:nvPr/>
        </p:nvSpPr>
        <p:spPr>
          <a:xfrm>
            <a:off x="914400" y="1828800"/>
            <a:ext cx="10332720" cy="384048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200">
                <a:solidFill>
                  <a:srgbClr val="FFFFFF"/>
                </a:solidFill>
                <a:latin typeface="Arial"/>
                <a:ea typeface="Arial"/>
                <a:cs typeface="Arial"/>
                <a:sym typeface="Arial"/>
              </a:rPr>
              <a:t>Current research question or goal</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Procedure or testing protocol</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Materials/equipment list</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Data collection plan</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Safety and risk assessment</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Ethics and approval screening</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Storage, cleanup, and disposal plan</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US" sz="2200">
                <a:solidFill>
                  <a:srgbClr val="FFFFFF"/>
                </a:solidFill>
                <a:latin typeface="Arial"/>
                <a:ea typeface="Arial"/>
                <a:cs typeface="Arial"/>
                <a:sym typeface="Arial"/>
              </a:rPr>
              <a:t>Approval status and next step</a:t>
            </a:r>
            <a:endParaRPr sz="22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81" name="Shape 381"/>
        <p:cNvGrpSpPr/>
        <p:nvPr/>
      </p:nvGrpSpPr>
      <p:grpSpPr>
        <a:xfrm>
          <a:off x="0" y="0"/>
          <a:ext cx="0" cy="0"/>
          <a:chOff x="0" y="0"/>
          <a:chExt cx="0" cy="0"/>
        </a:xfrm>
      </p:grpSpPr>
      <p:sp>
        <p:nvSpPr>
          <p:cNvPr id="382" name="Google Shape;382;p22"/>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2"/>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PROFESSIONAL LANGUAGE</a:t>
            </a:r>
            <a:endParaRPr sz="1000">
              <a:solidFill>
                <a:schemeClr val="dk1"/>
              </a:solidFill>
              <a:latin typeface="Arial"/>
              <a:ea typeface="Arial"/>
              <a:cs typeface="Arial"/>
              <a:sym typeface="Arial"/>
            </a:endParaRPr>
          </a:p>
        </p:txBody>
      </p:sp>
      <p:sp>
        <p:nvSpPr>
          <p:cNvPr id="386" name="Google Shape;386;p22"/>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87" name="Google Shape;387;p22"/>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388" name="Google Shape;388;p22"/>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What Students Should Say When Uncertain</a:t>
            </a:r>
            <a:endParaRPr sz="2800">
              <a:solidFill>
                <a:schemeClr val="dk1"/>
              </a:solidFill>
              <a:latin typeface="Arial"/>
              <a:ea typeface="Arial"/>
              <a:cs typeface="Arial"/>
              <a:sym typeface="Arial"/>
            </a:endParaRPr>
          </a:p>
        </p:txBody>
      </p:sp>
      <p:sp>
        <p:nvSpPr>
          <p:cNvPr id="389" name="Google Shape;389;p22"/>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Responsible language protects the project.</a:t>
            </a:r>
            <a:endParaRPr sz="1200">
              <a:solidFill>
                <a:schemeClr val="dk1"/>
              </a:solidFill>
              <a:latin typeface="Arial"/>
              <a:ea typeface="Arial"/>
              <a:cs typeface="Arial"/>
              <a:sym typeface="Arial"/>
            </a:endParaRPr>
          </a:p>
        </p:txBody>
      </p:sp>
      <p:cxnSp>
        <p:nvCxnSpPr>
          <p:cNvPr id="390" name="Google Shape;390;p22"/>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391" name="Google Shape;391;p22"/>
          <p:cNvSpPr/>
          <p:nvPr/>
        </p:nvSpPr>
        <p:spPr>
          <a:xfrm>
            <a:off x="777240" y="1828800"/>
            <a:ext cx="5257800" cy="3703320"/>
          </a:xfrm>
          <a:prstGeom prst="roundRect">
            <a:avLst>
              <a:gd fmla="val 1481"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2"/>
          <p:cNvSpPr/>
          <p:nvPr/>
        </p:nvSpPr>
        <p:spPr>
          <a:xfrm>
            <a:off x="94183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INSTEAD OF</a:t>
            </a:r>
            <a:endParaRPr sz="1100">
              <a:solidFill>
                <a:schemeClr val="dk1"/>
              </a:solidFill>
              <a:latin typeface="Arial"/>
              <a:ea typeface="Arial"/>
              <a:cs typeface="Arial"/>
              <a:sym typeface="Arial"/>
            </a:endParaRPr>
          </a:p>
        </p:txBody>
      </p:sp>
      <p:sp>
        <p:nvSpPr>
          <p:cNvPr id="393" name="Google Shape;393;p22"/>
          <p:cNvSpPr/>
          <p:nvPr/>
        </p:nvSpPr>
        <p:spPr>
          <a:xfrm>
            <a:off x="941832" y="2331720"/>
            <a:ext cx="4928616" cy="30449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 think it is probably fine.”</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 changed it a little.”</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weird data did not count.”</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 found it online.”</a:t>
            </a:r>
            <a:endParaRPr sz="2000">
              <a:solidFill>
                <a:schemeClr val="dk1"/>
              </a:solidFill>
              <a:latin typeface="Arial"/>
              <a:ea typeface="Arial"/>
              <a:cs typeface="Arial"/>
              <a:sym typeface="Arial"/>
            </a:endParaRPr>
          </a:p>
        </p:txBody>
      </p:sp>
      <p:sp>
        <p:nvSpPr>
          <p:cNvPr id="394" name="Google Shape;394;p22"/>
          <p:cNvSpPr/>
          <p:nvPr/>
        </p:nvSpPr>
        <p:spPr>
          <a:xfrm>
            <a:off x="6172200" y="1828800"/>
            <a:ext cx="5257800" cy="3703320"/>
          </a:xfrm>
          <a:prstGeom prst="roundRect">
            <a:avLst>
              <a:gd fmla="val 1481"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633679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SAY</a:t>
            </a:r>
            <a:endParaRPr sz="1100">
              <a:solidFill>
                <a:schemeClr val="dk1"/>
              </a:solidFill>
              <a:latin typeface="Arial"/>
              <a:ea typeface="Arial"/>
              <a:cs typeface="Arial"/>
              <a:sym typeface="Arial"/>
            </a:endParaRPr>
          </a:p>
        </p:txBody>
      </p:sp>
      <p:sp>
        <p:nvSpPr>
          <p:cNvPr id="396" name="Google Shape;396;p22"/>
          <p:cNvSpPr/>
          <p:nvPr/>
        </p:nvSpPr>
        <p:spPr>
          <a:xfrm>
            <a:off x="6336792" y="2331720"/>
            <a:ext cx="4928616" cy="30449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 need approval before testing.”</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method changed, so I documented it.”</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“I flagged that trial and explained why.”</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“Here is the source and how I used it.”</a:t>
            </a:r>
            <a:endParaRPr sz="20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01" name="Shape 401"/>
        <p:cNvGrpSpPr/>
        <p:nvPr/>
      </p:nvGrpSpPr>
      <p:grpSpPr>
        <a:xfrm>
          <a:off x="0" y="0"/>
          <a:ext cx="0" cy="0"/>
          <a:chOff x="0" y="0"/>
          <a:chExt cx="0" cy="0"/>
        </a:xfrm>
      </p:grpSpPr>
      <p:sp>
        <p:nvSpPr>
          <p:cNvPr id="402" name="Google Shape;402;p2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3"/>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3"/>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406" name="Google Shape;406;p23"/>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407" name="Google Shape;407;p23"/>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408" name="Google Shape;408;p23"/>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Exit Ticket</a:t>
            </a:r>
            <a:endParaRPr sz="2800">
              <a:solidFill>
                <a:schemeClr val="dk1"/>
              </a:solidFill>
              <a:latin typeface="Arial"/>
              <a:ea typeface="Arial"/>
              <a:cs typeface="Arial"/>
              <a:sym typeface="Arial"/>
            </a:endParaRPr>
          </a:p>
        </p:txBody>
      </p:sp>
      <p:sp>
        <p:nvSpPr>
          <p:cNvPr id="409" name="Google Shape;409;p23"/>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Before you leave</a:t>
            </a:r>
            <a:endParaRPr sz="1200">
              <a:solidFill>
                <a:schemeClr val="dk1"/>
              </a:solidFill>
              <a:latin typeface="Arial"/>
              <a:ea typeface="Arial"/>
              <a:cs typeface="Arial"/>
              <a:sym typeface="Arial"/>
            </a:endParaRPr>
          </a:p>
        </p:txBody>
      </p:sp>
      <p:cxnSp>
        <p:nvCxnSpPr>
          <p:cNvPr id="410" name="Google Shape;410;p23"/>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411" name="Google Shape;411;p23"/>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3"/>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413" name="Google Shape;413;p23"/>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What is one safety or ethics issue your possible project might raise?</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What approval question do you need answered before testing?</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What is one change that could make your project safer, clearer, or more responsible?</a:t>
            </a:r>
            <a:endParaRPr sz="21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18" name="Shape 418"/>
        <p:cNvGrpSpPr/>
        <p:nvPr/>
      </p:nvGrpSpPr>
      <p:grpSpPr>
        <a:xfrm>
          <a:off x="0" y="0"/>
          <a:ext cx="0" cy="0"/>
          <a:chOff x="0" y="0"/>
          <a:chExt cx="0" cy="0"/>
        </a:xfrm>
      </p:grpSpPr>
      <p:sp>
        <p:nvSpPr>
          <p:cNvPr id="419" name="Google Shape;419;p2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4"/>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TEACHER FACILITATION</a:t>
            </a:r>
            <a:endParaRPr sz="1000">
              <a:solidFill>
                <a:schemeClr val="dk1"/>
              </a:solidFill>
              <a:latin typeface="Arial"/>
              <a:ea typeface="Arial"/>
              <a:cs typeface="Arial"/>
              <a:sym typeface="Arial"/>
            </a:endParaRPr>
          </a:p>
        </p:txBody>
      </p:sp>
      <p:sp>
        <p:nvSpPr>
          <p:cNvPr id="423" name="Google Shape;423;p2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424" name="Google Shape;424;p2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425" name="Google Shape;425;p24"/>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Teacher Facilitation Map</a:t>
            </a:r>
            <a:endParaRPr sz="2800">
              <a:solidFill>
                <a:schemeClr val="dk1"/>
              </a:solidFill>
              <a:latin typeface="Arial"/>
              <a:ea typeface="Arial"/>
              <a:cs typeface="Arial"/>
              <a:sym typeface="Arial"/>
            </a:endParaRPr>
          </a:p>
        </p:txBody>
      </p:sp>
      <p:sp>
        <p:nvSpPr>
          <p:cNvPr id="426" name="Google Shape;426;p24"/>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Suggested placement within the STARLAB chapter package.</a:t>
            </a:r>
            <a:endParaRPr sz="1200">
              <a:solidFill>
                <a:schemeClr val="dk1"/>
              </a:solidFill>
              <a:latin typeface="Arial"/>
              <a:ea typeface="Arial"/>
              <a:cs typeface="Arial"/>
              <a:sym typeface="Arial"/>
            </a:endParaRPr>
          </a:p>
        </p:txBody>
      </p:sp>
      <p:cxnSp>
        <p:nvCxnSpPr>
          <p:cNvPr id="427" name="Google Shape;427;p24"/>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428" name="Google Shape;428;p24"/>
          <p:cNvSpPr/>
          <p:nvPr/>
        </p:nvSpPr>
        <p:spPr>
          <a:xfrm>
            <a:off x="777240" y="1828800"/>
            <a:ext cx="5257800" cy="3566160"/>
          </a:xfrm>
          <a:prstGeom prst="roundRect">
            <a:avLst>
              <a:gd fmla="val 1538"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4"/>
          <p:cNvSpPr/>
          <p:nvPr/>
        </p:nvSpPr>
        <p:spPr>
          <a:xfrm>
            <a:off x="94183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BEFORE THIS DECK</a:t>
            </a:r>
            <a:endParaRPr sz="1100">
              <a:solidFill>
                <a:schemeClr val="dk1"/>
              </a:solidFill>
              <a:latin typeface="Arial"/>
              <a:ea typeface="Arial"/>
              <a:cs typeface="Arial"/>
              <a:sym typeface="Arial"/>
            </a:endParaRPr>
          </a:p>
        </p:txBody>
      </p:sp>
      <p:sp>
        <p:nvSpPr>
          <p:cNvPr id="430" name="Google Shape;430;p24"/>
          <p:cNvSpPr/>
          <p:nvPr/>
        </p:nvSpPr>
        <p:spPr>
          <a:xfrm>
            <a:off x="941832" y="2331720"/>
            <a:ext cx="4928616" cy="29077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Students complete interest inventory.</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Students brainstorm possible topics.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Teacher introduces STARLAB norms.</a:t>
            </a:r>
            <a:endParaRPr sz="2000">
              <a:solidFill>
                <a:schemeClr val="dk1"/>
              </a:solidFill>
              <a:latin typeface="Arial"/>
              <a:ea typeface="Arial"/>
              <a:cs typeface="Arial"/>
              <a:sym typeface="Arial"/>
            </a:endParaRPr>
          </a:p>
        </p:txBody>
      </p:sp>
      <p:sp>
        <p:nvSpPr>
          <p:cNvPr id="431" name="Google Shape;431;p24"/>
          <p:cNvSpPr/>
          <p:nvPr/>
        </p:nvSpPr>
        <p:spPr>
          <a:xfrm>
            <a:off x="6172200" y="1828800"/>
            <a:ext cx="5257800" cy="3566160"/>
          </a:xfrm>
          <a:prstGeom prst="roundRect">
            <a:avLst>
              <a:gd fmla="val 1538"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4"/>
          <p:cNvSpPr/>
          <p:nvPr/>
        </p:nvSpPr>
        <p:spPr>
          <a:xfrm>
            <a:off x="6336792" y="1965960"/>
            <a:ext cx="492861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AFTER THIS DECK</a:t>
            </a:r>
            <a:endParaRPr sz="1100">
              <a:solidFill>
                <a:schemeClr val="dk1"/>
              </a:solidFill>
              <a:latin typeface="Arial"/>
              <a:ea typeface="Arial"/>
              <a:cs typeface="Arial"/>
              <a:sym typeface="Arial"/>
            </a:endParaRPr>
          </a:p>
        </p:txBody>
      </p:sp>
      <p:sp>
        <p:nvSpPr>
          <p:cNvPr id="433" name="Google Shape;433;p24"/>
          <p:cNvSpPr/>
          <p:nvPr/>
        </p:nvSpPr>
        <p:spPr>
          <a:xfrm>
            <a:off x="6336792" y="2331720"/>
            <a:ext cx="4928616" cy="29077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Students complete ethics agreement.</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Students red-flag their own ideas.</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Teacher begins approval tracking.</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Risk screening follows in Unit 2.</a:t>
            </a:r>
            <a:endParaRPr sz="20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38" name="Shape 438"/>
        <p:cNvGrpSpPr/>
        <p:nvPr/>
      </p:nvGrpSpPr>
      <p:grpSpPr>
        <a:xfrm>
          <a:off x="0" y="0"/>
          <a:ext cx="0" cy="0"/>
          <a:chOff x="0" y="0"/>
          <a:chExt cx="0" cy="0"/>
        </a:xfrm>
      </p:grpSpPr>
      <p:sp>
        <p:nvSpPr>
          <p:cNvPr id="439" name="Google Shape;439;p2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411480" y="6236208"/>
            <a:ext cx="49377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NEXT STEP</a:t>
            </a:r>
            <a:endParaRPr sz="1000">
              <a:solidFill>
                <a:schemeClr val="dk1"/>
              </a:solidFill>
              <a:latin typeface="Arial"/>
              <a:ea typeface="Arial"/>
              <a:cs typeface="Arial"/>
              <a:sym typeface="Arial"/>
            </a:endParaRPr>
          </a:p>
        </p:txBody>
      </p:sp>
      <p:sp>
        <p:nvSpPr>
          <p:cNvPr id="443" name="Google Shape;443;p2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444" name="Google Shape;444;p2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03</a:t>
            </a:r>
            <a:endParaRPr sz="1100">
              <a:solidFill>
                <a:schemeClr val="dk1"/>
              </a:solidFill>
              <a:latin typeface="Arial"/>
              <a:ea typeface="Arial"/>
              <a:cs typeface="Arial"/>
              <a:sym typeface="Arial"/>
            </a:endParaRPr>
          </a:p>
        </p:txBody>
      </p:sp>
      <p:sp>
        <p:nvSpPr>
          <p:cNvPr id="445" name="Google Shape;445;p25"/>
          <p:cNvSpPr/>
          <p:nvPr/>
        </p:nvSpPr>
        <p:spPr>
          <a:xfrm>
            <a:off x="685800" y="694944"/>
            <a:ext cx="9966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lay"/>
              <a:buNone/>
            </a:pPr>
            <a:r>
              <a:rPr b="1" lang="en-US" sz="2800">
                <a:solidFill>
                  <a:srgbClr val="FFFFFF"/>
                </a:solidFill>
                <a:latin typeface="Play"/>
                <a:ea typeface="Play"/>
                <a:cs typeface="Play"/>
                <a:sym typeface="Play"/>
              </a:rPr>
              <a:t>Curiosity With Responsibility</a:t>
            </a:r>
            <a:endParaRPr sz="2800">
              <a:solidFill>
                <a:schemeClr val="dk1"/>
              </a:solidFill>
              <a:latin typeface="Arial"/>
              <a:ea typeface="Arial"/>
              <a:cs typeface="Arial"/>
              <a:sym typeface="Arial"/>
            </a:endParaRPr>
          </a:p>
        </p:txBody>
      </p:sp>
      <p:sp>
        <p:nvSpPr>
          <p:cNvPr id="446" name="Google Shape;446;p25"/>
          <p:cNvSpPr/>
          <p:nvPr/>
        </p:nvSpPr>
        <p:spPr>
          <a:xfrm>
            <a:off x="694944" y="1243584"/>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That is the STARLAB standard.</a:t>
            </a:r>
            <a:endParaRPr sz="1200">
              <a:solidFill>
                <a:schemeClr val="dk1"/>
              </a:solidFill>
              <a:latin typeface="Arial"/>
              <a:ea typeface="Arial"/>
              <a:cs typeface="Arial"/>
              <a:sym typeface="Arial"/>
            </a:endParaRPr>
          </a:p>
        </p:txBody>
      </p:sp>
      <p:cxnSp>
        <p:nvCxnSpPr>
          <p:cNvPr id="447" name="Google Shape;447;p25"/>
          <p:cNvCxnSpPr/>
          <p:nvPr/>
        </p:nvCxnSpPr>
        <p:spPr>
          <a:xfrm>
            <a:off x="685800" y="1572768"/>
            <a:ext cx="10789920" cy="0"/>
          </a:xfrm>
          <a:prstGeom prst="straightConnector1">
            <a:avLst/>
          </a:prstGeom>
          <a:noFill/>
          <a:ln cap="flat" cmpd="sng" w="16500">
            <a:solidFill>
              <a:srgbClr val="E22B27"/>
            </a:solidFill>
            <a:prstDash val="solid"/>
            <a:round/>
            <a:headEnd len="sm" w="sm" type="none"/>
            <a:tailEnd len="sm" w="sm" type="none"/>
          </a:ln>
        </p:spPr>
      </p:cxnSp>
      <p:sp>
        <p:nvSpPr>
          <p:cNvPr id="448" name="Google Shape;448;p25"/>
          <p:cNvSpPr/>
          <p:nvPr/>
        </p:nvSpPr>
        <p:spPr>
          <a:xfrm>
            <a:off x="914400" y="1965960"/>
            <a:ext cx="10332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2B27"/>
              </a:buClr>
              <a:buSzPts val="1400"/>
              <a:buFont typeface="Arial"/>
              <a:buNone/>
            </a:pPr>
            <a:r>
              <a:rPr b="1" lang="en-US" sz="1400">
                <a:solidFill>
                  <a:srgbClr val="E22B27"/>
                </a:solidFill>
                <a:latin typeface="Arial"/>
                <a:ea typeface="Arial"/>
                <a:cs typeface="Arial"/>
                <a:sym typeface="Arial"/>
              </a:rPr>
              <a:t>NEXT DECK</a:t>
            </a:r>
            <a:endParaRPr sz="1400">
              <a:solidFill>
                <a:schemeClr val="dk1"/>
              </a:solidFill>
              <a:latin typeface="Arial"/>
              <a:ea typeface="Arial"/>
              <a:cs typeface="Arial"/>
              <a:sym typeface="Arial"/>
            </a:endParaRPr>
          </a:p>
        </p:txBody>
      </p:sp>
      <p:sp>
        <p:nvSpPr>
          <p:cNvPr id="449" name="Google Shape;449;p25"/>
          <p:cNvSpPr/>
          <p:nvPr/>
        </p:nvSpPr>
        <p:spPr>
          <a:xfrm>
            <a:off x="914400" y="2468880"/>
            <a:ext cx="1033272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Play"/>
              <a:buNone/>
            </a:pPr>
            <a:r>
              <a:rPr b="1" lang="en-US" sz="3400">
                <a:solidFill>
                  <a:srgbClr val="FFFFFF"/>
                </a:solidFill>
                <a:latin typeface="Play"/>
                <a:ea typeface="Play"/>
                <a:cs typeface="Play"/>
                <a:sym typeface="Play"/>
              </a:rPr>
              <a:t>EXPERIMENTAL DESIGN</a:t>
            </a:r>
            <a:endParaRPr sz="3400">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3400"/>
              <a:buFont typeface="Play"/>
              <a:buNone/>
            </a:pPr>
            <a:r>
              <a:rPr b="1" lang="en-US" sz="3400">
                <a:solidFill>
                  <a:srgbClr val="FFFFFF"/>
                </a:solidFill>
                <a:latin typeface="Play"/>
                <a:ea typeface="Play"/>
                <a:cs typeface="Play"/>
                <a:sym typeface="Play"/>
              </a:rPr>
              <a:t>&amp; ENGINEERING DESIGN</a:t>
            </a:r>
            <a:endParaRPr sz="3400">
              <a:solidFill>
                <a:schemeClr val="dk1"/>
              </a:solidFill>
              <a:latin typeface="Arial"/>
              <a:ea typeface="Arial"/>
              <a:cs typeface="Arial"/>
              <a:sym typeface="Arial"/>
            </a:endParaRPr>
          </a:p>
        </p:txBody>
      </p:sp>
      <p:sp>
        <p:nvSpPr>
          <p:cNvPr id="450" name="Google Shape;450;p25"/>
          <p:cNvSpPr/>
          <p:nvPr/>
        </p:nvSpPr>
        <p:spPr>
          <a:xfrm>
            <a:off x="1828800" y="3977640"/>
            <a:ext cx="85039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B8B8"/>
              </a:buClr>
              <a:buSzPts val="2000"/>
              <a:buFont typeface="Arial"/>
              <a:buNone/>
            </a:pPr>
            <a:r>
              <a:rPr lang="en-US" sz="2000">
                <a:solidFill>
                  <a:srgbClr val="B8B8B8"/>
                </a:solidFill>
                <a:latin typeface="Arial"/>
                <a:ea typeface="Arial"/>
                <a:cs typeface="Arial"/>
                <a:sym typeface="Arial"/>
              </a:rPr>
              <a:t>Next, students learn the shared design vocabulary they will use to plan evidence-based investigations and engineering tests.</a:t>
            </a:r>
            <a:endParaRPr sz="20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