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0"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 name="Shape 12"/>
        <p:cNvGrpSpPr/>
        <p:nvPr/>
      </p:nvGrpSpPr>
      <p:grpSpPr>
        <a:xfrm>
          <a:off x="0" y="0"/>
          <a:ext cx="0" cy="0"/>
          <a:chOff x="0" y="0"/>
          <a:chExt cx="0" cy="0"/>
        </a:xfrm>
      </p:grpSpPr>
      <p:sp>
        <p:nvSpPr>
          <p:cNvPr id="13" name="Google Shape;1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 name="Google Shape;1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Launch Unit 3 by emphasizing the shift from planning into action. The message: pilot testing protects the project. It is not optional, and it is not a sign of weakness. Keep the opening brief and establish that today students will move from plan to small-scale test.</a:t>
            </a:r>
            <a:br>
              <a:rPr lang="en-US"/>
            </a:br>
            <a:br>
              <a:rPr lang="en-US"/>
            </a:br>
            <a:r>
              <a:rPr lang="en-US"/>
              <a:t>Resource alignment:</a:t>
            </a:r>
            <a:br>
              <a:rPr lang="en-US"/>
            </a:br>
            <a:r>
              <a:rPr lang="en-US"/>
              <a:t>Use at the beginning of Unit 3, Week 5. Pair with Unit 3 Student Handout 1: Pilot Test Plan and Unit 3 Appendix A: What Is Pilot Testing?</a:t>
            </a:r>
            <a:br>
              <a:rPr lang="en-US"/>
            </a:br>
            <a:r>
              <a:rPr lang="en-US"/>
              <a:t>Next deck connection: Deck 7: Research Journals and Scientific Documentation.</a:t>
            </a:r>
            <a:br>
              <a:rPr lang="en-US"/>
            </a:br>
            <a:br>
              <a:rPr lang="en-US"/>
            </a:br>
            <a:r>
              <a:rPr lang="en-US"/>
              <a:t>Required print materials for this deck:</a:t>
            </a:r>
            <a:br>
              <a:rPr lang="en-US"/>
            </a:br>
            <a:r>
              <a:rPr lang="en-US"/>
              <a:t>• Unit 3 Student Handout 1: Pilot Test Plan</a:t>
            </a:r>
            <a:br>
              <a:rPr lang="en-US"/>
            </a:br>
            <a:r>
              <a:rPr lang="en-US"/>
              <a:t>• Unit 3 Student Handout 4: Pilot Test Reflection and Troubleshooting Log</a:t>
            </a:r>
            <a:br>
              <a:rPr lang="en-US"/>
            </a:br>
            <a:r>
              <a:rPr lang="en-US"/>
              <a:t>• Unit 3 Student Handout 5: Method Revision Decision Chart</a:t>
            </a:r>
            <a:br>
              <a:rPr lang="en-US"/>
            </a:br>
            <a:r>
              <a:rPr lang="en-US"/>
              <a:t>• Unit 3 Appendix A: What Is Pilot Testing?</a:t>
            </a:r>
            <a:br>
              <a:rPr lang="en-US"/>
            </a:br>
            <a:r>
              <a:rPr lang="en-US"/>
              <a:t>• Unit 3 Appendix C: Safety Check Before Testing</a:t>
            </a:r>
            <a:br>
              <a:rPr lang="en-US"/>
            </a:br>
            <a:r>
              <a:rPr lang="en-US"/>
              <a:t>• Unit 3 Appendix E: Troubleshooting Sentence Frames</a:t>
            </a:r>
            <a:br>
              <a:rPr lang="en-US"/>
            </a:br>
            <a:br>
              <a:rPr lang="en-US"/>
            </a:br>
            <a:r>
              <a:rPr lang="en-US"/>
              <a:t>Optional print materials:</a:t>
            </a:r>
            <a:br>
              <a:rPr lang="en-US"/>
            </a:br>
            <a:r>
              <a:rPr lang="en-US"/>
              <a:t>• Unit 3 Student Handout 3: Daily Research Journal Entry Template</a:t>
            </a:r>
            <a:br>
              <a:rPr lang="en-US"/>
            </a:br>
            <a:r>
              <a:rPr lang="en-US"/>
              <a:t>• Unit 3 Appendix B: Research Journal Standards</a:t>
            </a:r>
            <a:endParaRPr/>
          </a:p>
        </p:txBody>
      </p:sp>
      <p:sp>
        <p:nvSpPr>
          <p:cNvPr id="15" name="Google Shape;15;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 name="Google Shape;2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Preview the lesson and tell students the day ends with a usable pilot test plan. Avoid letting the deck become a lecture only; students should complete parts of the Pilot Test Plan during the lesson.</a:t>
            </a:r>
            <a:br>
              <a:rPr lang="en-US"/>
            </a:br>
            <a:br>
              <a:rPr lang="en-US"/>
            </a:br>
            <a:r>
              <a:rPr lang="en-US"/>
              <a:t>Resource alignment:</a:t>
            </a:r>
            <a:br>
              <a:rPr lang="en-US"/>
            </a:br>
            <a:r>
              <a:rPr lang="en-US"/>
              <a:t>Use with Unit 3 Student Handout 1: Pilot Test Plan. This slide sets the purpose for the handout and the lesson. Next deck connection: Deck 7: Research Journals and Scientific Documentation.</a:t>
            </a:r>
            <a:endParaRPr/>
          </a:p>
        </p:txBody>
      </p:sp>
      <p:sp>
        <p:nvSpPr>
          <p:cNvPr id="28" name="Google Shape;2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contrast to prevent students from treating pilot data as automatically final. Ask: What could go wrong if we start the “real” experiment too soon? Collect 3–4 answers aloud.</a:t>
            </a:r>
            <a:br>
              <a:rPr lang="en-US"/>
            </a:br>
            <a:br>
              <a:rPr lang="en-US"/>
            </a:br>
            <a:r>
              <a:rPr lang="en-US"/>
              <a:t>Resource alignment:</a:t>
            </a:r>
            <a:br>
              <a:rPr lang="en-US"/>
            </a:br>
            <a:r>
              <a:rPr lang="en-US"/>
              <a:t>Use before students complete the first planning sections of Unit 3 Student Handout 1: Pilot Test Plan. Also supports Unit 3 Appendix A: What Is Pilot Testing?</a:t>
            </a:r>
            <a:endParaRPr/>
          </a:p>
        </p:txBody>
      </p:sp>
      <p:sp>
        <p:nvSpPr>
          <p:cNvPr id="66" name="Google Shape;6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write this definition in their own words on the Pilot Test Plan. Emphasize that a failed pilot can be a successful pilot if it reveals an important problem.</a:t>
            </a:r>
            <a:br>
              <a:rPr lang="en-US"/>
            </a:br>
            <a:br>
              <a:rPr lang="en-US"/>
            </a:br>
            <a:r>
              <a:rPr lang="en-US"/>
              <a:t>Resource alignment:</a:t>
            </a:r>
            <a:br>
              <a:rPr lang="en-US"/>
            </a:br>
            <a:r>
              <a:rPr lang="en-US"/>
              <a:t>Use with Unit 3 Student Handout 1: Pilot Test Plan, Part A. Reference Unit 3 Appendix A: What Is Pilot Testing? for the formal definition and examples.</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Pause after “is not proof.” This prevents overclaiming later. Activity prompt: Students circle one “is” and one “is not” that they most need to remember.</a:t>
            </a:r>
            <a:br>
              <a:rPr lang="en-US"/>
            </a:br>
            <a:br>
              <a:rPr lang="en-US"/>
            </a:br>
            <a:r>
              <a:rPr lang="en-US"/>
              <a:t>Resource alignment:</a:t>
            </a:r>
            <a:br>
              <a:rPr lang="en-US"/>
            </a:br>
            <a:r>
              <a:rPr lang="en-US"/>
              <a:t>Use with Unit 3 Appendix A: What Is Pilot Testing? This slide can also lead into Unit 3 Student Handout 1: Pilot Test Plan.</a:t>
            </a:r>
            <a:endParaRPr/>
          </a:p>
        </p:txBody>
      </p:sp>
      <p:sp>
        <p:nvSpPr>
          <p:cNvPr id="108" name="Google Shape;10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 name="Google Shape;12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Introduce the five categories students will use in their Pilot Test Plan and Troubleshooting Log. Ask students to predict which category is most likely to cause problems in their own project.</a:t>
            </a:r>
            <a:br>
              <a:rPr lang="en-US"/>
            </a:br>
            <a:br>
              <a:rPr lang="en-US"/>
            </a:br>
            <a:r>
              <a:rPr lang="en-US"/>
              <a:t>Resource alignment:</a:t>
            </a:r>
            <a:br>
              <a:rPr lang="en-US"/>
            </a:br>
            <a:r>
              <a:rPr lang="en-US"/>
              <a:t>Use with Unit 3 Student Handout 1: Pilot Test Plan and Unit 3 Student Handout 4: Pilot Test Reflection and Troubleshooting Log. Reference Unit 3 Appendix A: What Is Pilot Testing?</a:t>
            </a:r>
            <a:endParaRPr/>
          </a:p>
        </p:txBody>
      </p:sp>
      <p:sp>
        <p:nvSpPr>
          <p:cNvPr id="130" name="Google Shape;13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Walk students through why this is not “bad research.” The pilot made the project stronger by turning vague visual judgment into a repeatable measurement plan.</a:t>
            </a:r>
            <a:br>
              <a:rPr lang="en-US"/>
            </a:br>
            <a:br>
              <a:rPr lang="en-US"/>
            </a:br>
            <a:r>
              <a:rPr lang="en-US"/>
              <a:t>Resource alignment:</a:t>
            </a:r>
            <a:br>
              <a:rPr lang="en-US"/>
            </a:br>
            <a:r>
              <a:rPr lang="en-US"/>
              <a:t>Use as a model before students complete Unit 3 Student Handout 1: Pilot Test Plan or Unit 3 Student Handout 4: Pilot Test Reflection and Troubleshooting Log.</a:t>
            </a:r>
            <a:endParaRPr/>
          </a:p>
        </p:txBody>
      </p:sp>
      <p:sp>
        <p:nvSpPr>
          <p:cNvPr id="170" name="Google Shape;17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as a quick think-pair-share. Students look at their planned data table from Unit 2 and identify one column they may need to add before testing.</a:t>
            </a:r>
            <a:br>
              <a:rPr lang="en-US"/>
            </a:br>
            <a:br>
              <a:rPr lang="en-US"/>
            </a:br>
            <a:r>
              <a:rPr lang="en-US"/>
              <a:t>Resource alignment:</a:t>
            </a:r>
            <a:br>
              <a:rPr lang="en-US"/>
            </a:br>
            <a:r>
              <a:rPr lang="en-US"/>
              <a:t>Use with Unit 3 Student Handout 1: Pilot Test Plan and Unit 2 Student Handout 8: Data Collection Plan if students have it available. This also prepares students for Unit 3 Student Handout 7: Data Table Audit later in the unit.</a:t>
            </a:r>
            <a:endParaRPr/>
          </a:p>
        </p:txBody>
      </p:sp>
      <p:sp>
        <p:nvSpPr>
          <p:cNvPr id="196" name="Google Shape;196;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 name="Google Shape;22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is especially useful for engineering students. Normalize failure mode analysis. A failed prototype test can reveal that the testing setup, not the prototype itself, is the problem.</a:t>
            </a:r>
            <a:br>
              <a:rPr lang="en-US"/>
            </a:br>
            <a:br>
              <a:rPr lang="en-US"/>
            </a:br>
            <a:r>
              <a:rPr lang="en-US"/>
              <a:t>Resource alignment:</a:t>
            </a:r>
            <a:br>
              <a:rPr lang="en-US"/>
            </a:br>
            <a:r>
              <a:rPr lang="en-US"/>
              <a:t>Use with Unit 3 Student Handout 4: Pilot Test Reflection and Troubleshooting Log and Unit 3 Appendix D: Types of Research Problems.</a:t>
            </a:r>
            <a:endParaRPr/>
          </a:p>
        </p:txBody>
      </p:sp>
      <p:sp>
        <p:nvSpPr>
          <p:cNvPr id="223" name="Google Shape;22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begin filling in the Pilot Test Plan here. The most important question is #1: what specifically are they testing? The pilot should not try to answer everything.</a:t>
            </a:r>
            <a:br>
              <a:rPr lang="en-US"/>
            </a:br>
            <a:br>
              <a:rPr lang="en-US"/>
            </a:br>
            <a:r>
              <a:rPr lang="en-US"/>
              <a:t>Resource alignment:</a:t>
            </a:r>
            <a:br>
              <a:rPr lang="en-US"/>
            </a:br>
            <a:r>
              <a:rPr lang="en-US"/>
              <a:t>Use with Unit 3 Student Handout 1: Pilot Test Plan, especially Parts A–D. Reference Unit 3 Appendix C: Safety Check Before Testing before any live testing begins.</a:t>
            </a:r>
            <a:endParaRPr/>
          </a:p>
        </p:txBody>
      </p:sp>
      <p:sp>
        <p:nvSpPr>
          <p:cNvPr id="250" name="Google Shape;25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Give students quiet writing time first, then let them talk with a partner. Circulate and ask: Is this truly a small test? What decision will this pilot help you make?</a:t>
            </a:r>
            <a:br>
              <a:rPr lang="en-US"/>
            </a:br>
            <a:br>
              <a:rPr lang="en-US"/>
            </a:br>
            <a:r>
              <a:rPr lang="en-US"/>
              <a:t>Resource alignment:</a:t>
            </a:r>
            <a:br>
              <a:rPr lang="en-US"/>
            </a:br>
            <a:r>
              <a:rPr lang="en-US"/>
              <a:t>Use with Unit 3 Student Handout 1: Pilot Test Plan, Parts A–D. Also use Unit 3 Appendix C: Safety Check Before Testing if any student is preparing to test immediately.</a:t>
            </a:r>
            <a:endParaRPr/>
          </a:p>
        </p:txBody>
      </p:sp>
      <p:sp>
        <p:nvSpPr>
          <p:cNvPr id="277" name="Google Shape;27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Connect this to journal entries. Students should record observations first, then possible explanations. This will improve troubleshooting and scientific writing later.</a:t>
            </a:r>
            <a:br>
              <a:rPr lang="en-US"/>
            </a:br>
            <a:br>
              <a:rPr lang="en-US"/>
            </a:br>
            <a:r>
              <a:rPr lang="en-US"/>
              <a:t>Resource alignment:</a:t>
            </a:r>
            <a:br>
              <a:rPr lang="en-US"/>
            </a:br>
            <a:r>
              <a:rPr lang="en-US"/>
              <a:t>Use with Unit 3 Student Handout 3: Daily Research Journal Entry Template and Unit 3 Appendix B: Research Journal Standards. This also prepares students for Deck 7.</a:t>
            </a:r>
            <a:endParaRPr/>
          </a:p>
        </p:txBody>
      </p:sp>
      <p:sp>
        <p:nvSpPr>
          <p:cNvPr id="299" name="Google Shape;29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the Method Revision Decision Chart. Require a decision before students continue. This prevents “accidental” full-scale testing with an unapproved or unstable method.</a:t>
            </a:r>
            <a:br>
              <a:rPr lang="en-US"/>
            </a:br>
            <a:br>
              <a:rPr lang="en-US"/>
            </a:br>
            <a:r>
              <a:rPr lang="en-US"/>
              <a:t>Resource alignment:</a:t>
            </a:r>
            <a:br>
              <a:rPr lang="en-US"/>
            </a:br>
            <a:r>
              <a:rPr lang="en-US"/>
              <a:t>Use with Unit 3 Student Handout 5: Method Revision Decision Chart after students complete Unit 3 Student Handout 1: Pilot Test Plan and/or Student Handout 4: Pilot Test Reflection and Troubleshooting Log.</a:t>
            </a:r>
            <a:endParaRPr/>
          </a:p>
        </p:txBody>
      </p:sp>
      <p:sp>
        <p:nvSpPr>
          <p:cNvPr id="321" name="Google Shape;32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1" name="Google Shape;34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write one potential revision sentence for their own project, even if they have not tested yet. This prepares them to document changes accurately.</a:t>
            </a:r>
            <a:br>
              <a:rPr lang="en-US"/>
            </a:br>
            <a:br>
              <a:rPr lang="en-US"/>
            </a:br>
            <a:r>
              <a:rPr lang="en-US"/>
              <a:t>Resource alignment:</a:t>
            </a:r>
            <a:br>
              <a:rPr lang="en-US"/>
            </a:br>
            <a:r>
              <a:rPr lang="en-US"/>
              <a:t>Use with Unit 3 Student Handout 5: Method Revision Decision Chart and Unit 3 Student Handout 4: Pilot Test Reflection and Troubleshooting Log.</a:t>
            </a:r>
            <a:endParaRPr/>
          </a:p>
        </p:txBody>
      </p:sp>
      <p:sp>
        <p:nvSpPr>
          <p:cNvPr id="342" name="Google Shape;34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who are emotionally frustrated by failure need language. Use these frames during teacher conferences and require them in troubleshooting logs.</a:t>
            </a:r>
            <a:br>
              <a:rPr lang="en-US"/>
            </a:br>
            <a:br>
              <a:rPr lang="en-US"/>
            </a:br>
            <a:r>
              <a:rPr lang="en-US"/>
              <a:t>Resource alignment:</a:t>
            </a:r>
            <a:br>
              <a:rPr lang="en-US"/>
            </a:br>
            <a:r>
              <a:rPr lang="en-US"/>
              <a:t>Use with Unit 3 Student Handout 4: Pilot Test Reflection and Troubleshooting Log and Unit 3 Appendix E: Troubleshooting Sentence Frames.</a:t>
            </a:r>
            <a:endParaRPr/>
          </a:p>
        </p:txBody>
      </p:sp>
      <p:sp>
        <p:nvSpPr>
          <p:cNvPr id="367" name="Google Shape;36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8" name="Google Shape;38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answer individually first, then pair up. Expected issues: inconsistent starting conditions, measurement lag, and environmental control problem. Sample revision: “I changed the procedure to record all starting temperatures after a 2-minute equilibration because the pilot showed the thermometer response time affected readings.”</a:t>
            </a:r>
            <a:br>
              <a:rPr lang="en-US"/>
            </a:br>
            <a:br>
              <a:rPr lang="en-US"/>
            </a:br>
            <a:r>
              <a:rPr lang="en-US"/>
              <a:t>Resource alignment:</a:t>
            </a:r>
            <a:br>
              <a:rPr lang="en-US"/>
            </a:br>
            <a:r>
              <a:rPr lang="en-US"/>
              <a:t>Use with Unit 3 Student Handout 4: Pilot Test Reflection and Troubleshooting Log and Unit 3 Appendix E: Troubleshooting Sentence Frames.</a:t>
            </a:r>
            <a:endParaRPr/>
          </a:p>
        </p:txBody>
      </p:sp>
      <p:sp>
        <p:nvSpPr>
          <p:cNvPr id="389" name="Google Shape;38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is for teachers as much as students. The Project Approval Tracker is the official record. Students move to systematic data collection only when the tracker records Approved for Systematic Data Collection, not simply because the calendar advances.</a:t>
            </a:r>
            <a:br>
              <a:rPr lang="en-US"/>
            </a:br>
            <a:br>
              <a:rPr lang="en-US"/>
            </a:br>
            <a:r>
              <a:rPr lang="en-US"/>
              <a:t>Resource alignment:</a:t>
            </a:r>
            <a:br>
              <a:rPr lang="en-US"/>
            </a:br>
            <a:r>
              <a:rPr lang="en-US"/>
              <a:t>Use with Unit 3 Student Handout 5: Method Revision Decision Chart and Unit 3 Appendix C: Safety Check Before Testing. Record the exact tracker status before students begin systematic data collection.</a:t>
            </a:r>
            <a:endParaRPr/>
          </a:p>
        </p:txBody>
      </p:sp>
      <p:sp>
        <p:nvSpPr>
          <p:cNvPr id="411" name="Google Shape;41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Collect this exit ticket or have students submit the completed Pilot Test Plan. Use responses to decide who is ready to test and who needs a conference.</a:t>
            </a:r>
            <a:br>
              <a:rPr lang="en-US"/>
            </a:br>
            <a:br>
              <a:rPr lang="en-US"/>
            </a:br>
            <a:r>
              <a:rPr lang="en-US"/>
              <a:t>Resource alignment:</a:t>
            </a:r>
            <a:br>
              <a:rPr lang="en-US"/>
            </a:br>
            <a:r>
              <a:rPr lang="en-US"/>
              <a:t>Use with Unit 3 Student Handout 1: Pilot Test Plan. If students have already completed a pilot, connect to Unit 3 Student Handout 4: Pilot Test Reflection and Troubleshooting Log. Next deck connection: Deck 7: Research Journals and Scientific Documentation.</a:t>
            </a:r>
            <a:endParaRPr/>
          </a:p>
        </p:txBody>
      </p:sp>
      <p:sp>
        <p:nvSpPr>
          <p:cNvPr id="433" name="Google Shape;433;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4" name="Google Shape;45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Close by naming the next classroom move: students will either run a pilot test, revise the plan, or meet with the teacher for approval.</a:t>
            </a:r>
            <a:br>
              <a:rPr lang="en-US"/>
            </a:br>
            <a:br>
              <a:rPr lang="en-US"/>
            </a:br>
            <a:r>
              <a:rPr lang="en-US"/>
              <a:t>Resource alignment:</a:t>
            </a:r>
            <a:br>
              <a:rPr lang="en-US"/>
            </a:br>
            <a:r>
              <a:rPr lang="en-US"/>
              <a:t>Use after students submit the Pilot Test Plan or exit ticket. Next deck connection: Deck 7: Research Journals and Scientific Documentation.</a:t>
            </a:r>
            <a:endParaRPr/>
          </a:p>
        </p:txBody>
      </p:sp>
      <p:sp>
        <p:nvSpPr>
          <p:cNvPr id="455" name="Google Shape;45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050505"/>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 name="Shape 16"/>
        <p:cNvGrpSpPr/>
        <p:nvPr/>
      </p:nvGrpSpPr>
      <p:grpSpPr>
        <a:xfrm>
          <a:off x="0" y="0"/>
          <a:ext cx="0" cy="0"/>
          <a:chOff x="0" y="0"/>
          <a:chExt cx="0" cy="0"/>
        </a:xfrm>
      </p:grpSpPr>
      <p:sp>
        <p:nvSpPr>
          <p:cNvPr id="17" name="Google Shape;17;p4"/>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4"/>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4"/>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mnt/data/STARLAB Logo 2026.png" id="20" name="Google Shape;20;p4"/>
          <p:cNvPicPr preferRelativeResize="0"/>
          <p:nvPr/>
        </p:nvPicPr>
        <p:blipFill rotWithShape="1">
          <a:blip r:embed="rId3">
            <a:alphaModFix/>
          </a:blip>
          <a:srcRect b="0" l="0" r="0" t="0"/>
          <a:stretch/>
        </p:blipFill>
        <p:spPr>
          <a:xfrm>
            <a:off x="1600200" y="502920"/>
            <a:ext cx="9098280" cy="3611880"/>
          </a:xfrm>
          <a:prstGeom prst="rect">
            <a:avLst/>
          </a:prstGeom>
          <a:noFill/>
          <a:ln>
            <a:noFill/>
          </a:ln>
        </p:spPr>
      </p:pic>
      <p:sp>
        <p:nvSpPr>
          <p:cNvPr id="21" name="Google Shape;21;p4"/>
          <p:cNvSpPr/>
          <p:nvPr/>
        </p:nvSpPr>
        <p:spPr>
          <a:xfrm>
            <a:off x="822960" y="4617720"/>
            <a:ext cx="10607040" cy="868680"/>
          </a:xfrm>
          <a:prstGeom prst="rect">
            <a:avLst/>
          </a:prstGeom>
          <a:solidFill>
            <a:srgbClr val="050505"/>
          </a:solidFill>
          <a:ln cap="flat" cmpd="sng" w="10150">
            <a:solidFill>
              <a:srgbClr val="B5B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4"/>
          <p:cNvSpPr/>
          <p:nvPr/>
        </p:nvSpPr>
        <p:spPr>
          <a:xfrm>
            <a:off x="896112" y="4681728"/>
            <a:ext cx="9875520" cy="34747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PILOT TESTING</a:t>
            </a:r>
            <a:endParaRPr b="0" i="0" sz="2700" u="none" cap="none" strike="noStrike">
              <a:solidFill>
                <a:schemeClr val="dk1"/>
              </a:solidFill>
              <a:latin typeface="Arial"/>
              <a:ea typeface="Arial"/>
              <a:cs typeface="Arial"/>
              <a:sym typeface="Arial"/>
            </a:endParaRPr>
          </a:p>
        </p:txBody>
      </p:sp>
      <p:sp>
        <p:nvSpPr>
          <p:cNvPr id="23" name="Google Shape;23;p4"/>
          <p:cNvSpPr/>
          <p:nvPr/>
        </p:nvSpPr>
        <p:spPr>
          <a:xfrm>
            <a:off x="896112" y="5074920"/>
            <a:ext cx="9875520" cy="237744"/>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400"/>
              <a:buFont typeface="Arial"/>
              <a:buNone/>
            </a:pPr>
            <a:r>
              <a:rPr b="1" i="0" lang="en-US" sz="1400" u="none" cap="none" strike="noStrike">
                <a:solidFill>
                  <a:srgbClr val="B5B5B5"/>
                </a:solidFill>
                <a:latin typeface="Arial"/>
                <a:ea typeface="Arial"/>
                <a:cs typeface="Arial"/>
                <a:sym typeface="Arial"/>
              </a:rPr>
              <a:t>WHY RESEARCHERS TEST SMALL BEFORE GOING BIG</a:t>
            </a:r>
            <a:endParaRPr b="0" i="0" sz="1400" u="none" cap="none" strike="noStrike">
              <a:solidFill>
                <a:schemeClr val="dk1"/>
              </a:solidFill>
              <a:latin typeface="Arial"/>
              <a:ea typeface="Arial"/>
              <a:cs typeface="Arial"/>
              <a:sym typeface="Arial"/>
            </a:endParaRPr>
          </a:p>
        </p:txBody>
      </p:sp>
      <p:sp>
        <p:nvSpPr>
          <p:cNvPr id="24" name="Google Shape;24;p4"/>
          <p:cNvSpPr/>
          <p:nvPr/>
        </p:nvSpPr>
        <p:spPr>
          <a:xfrm>
            <a:off x="896112" y="5513832"/>
            <a:ext cx="932688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250"/>
              <a:buFont typeface="Arial"/>
              <a:buNone/>
            </a:pPr>
            <a:r>
              <a:rPr b="0" i="0" lang="en-US" sz="1250" u="none" cap="none" strike="noStrike">
                <a:solidFill>
                  <a:srgbClr val="B5B5B5"/>
                </a:solidFill>
                <a:latin typeface="Arial"/>
                <a:ea typeface="Arial"/>
                <a:cs typeface="Arial"/>
                <a:sym typeface="Arial"/>
              </a:rPr>
              <a:t>STARLAB Deck 06  •  Unit 3 Core Instruction  •  Weeks 5–6</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 name="Shape 29"/>
        <p:cNvGrpSpPr/>
        <p:nvPr/>
      </p:nvGrpSpPr>
      <p:grpSpPr>
        <a:xfrm>
          <a:off x="0" y="0"/>
          <a:ext cx="0" cy="0"/>
          <a:chOff x="0" y="0"/>
          <a:chExt cx="0" cy="0"/>
        </a:xfrm>
      </p:grpSpPr>
      <p:sp>
        <p:nvSpPr>
          <p:cNvPr id="30" name="Google Shape;30;p5"/>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5"/>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5"/>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5"/>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Today’s Learning Target</a:t>
            </a:r>
            <a:endParaRPr b="0" i="0" sz="2700" u="none" cap="none" strike="noStrike">
              <a:solidFill>
                <a:schemeClr val="dk1"/>
              </a:solidFill>
              <a:latin typeface="Arial"/>
              <a:ea typeface="Arial"/>
              <a:cs typeface="Arial"/>
              <a:sym typeface="Arial"/>
            </a:endParaRPr>
          </a:p>
        </p:txBody>
      </p:sp>
      <p:sp>
        <p:nvSpPr>
          <p:cNvPr id="34" name="Google Shape;34;p5"/>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5"/>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36" name="Google Shape;36;p5"/>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37" name="Google Shape;37;p5"/>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02</a:t>
            </a:r>
            <a:endParaRPr b="0" i="0" sz="1000" u="none" cap="none" strike="noStrike">
              <a:solidFill>
                <a:schemeClr val="dk1"/>
              </a:solidFill>
              <a:latin typeface="Arial"/>
              <a:ea typeface="Arial"/>
              <a:cs typeface="Arial"/>
              <a:sym typeface="Arial"/>
            </a:endParaRPr>
          </a:p>
        </p:txBody>
      </p:sp>
      <p:sp>
        <p:nvSpPr>
          <p:cNvPr id="38" name="Google Shape;38;p5"/>
          <p:cNvSpPr/>
          <p:nvPr/>
        </p:nvSpPr>
        <p:spPr>
          <a:xfrm>
            <a:off x="640075" y="1353293"/>
            <a:ext cx="5760600" cy="7707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By the end of this lesson, students should understand what a pilot test is and how to plan one.</a:t>
            </a:r>
            <a:endParaRPr b="0" i="0" sz="2000" u="none" cap="none" strike="noStrike">
              <a:solidFill>
                <a:schemeClr val="dk1"/>
              </a:solidFill>
              <a:latin typeface="Arial"/>
              <a:ea typeface="Arial"/>
              <a:cs typeface="Arial"/>
              <a:sym typeface="Arial"/>
            </a:endParaRPr>
          </a:p>
        </p:txBody>
      </p:sp>
      <p:sp>
        <p:nvSpPr>
          <p:cNvPr id="39" name="Google Shape;39;p5"/>
          <p:cNvSpPr/>
          <p:nvPr/>
        </p:nvSpPr>
        <p:spPr>
          <a:xfrm>
            <a:off x="6903725" y="1325877"/>
            <a:ext cx="4251900" cy="7707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5"/>
          <p:cNvSpPr/>
          <p:nvPr/>
        </p:nvSpPr>
        <p:spPr>
          <a:xfrm>
            <a:off x="7150608" y="1517904"/>
            <a:ext cx="3749040" cy="384048"/>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900"/>
              <a:buFont typeface="Arial"/>
              <a:buNone/>
            </a:pPr>
            <a:r>
              <a:rPr b="1" i="0" lang="en-US" sz="2900" u="none" cap="none" strike="noStrike">
                <a:solidFill>
                  <a:srgbClr val="FFFFFF"/>
                </a:solidFill>
                <a:latin typeface="Arial"/>
                <a:ea typeface="Arial"/>
                <a:cs typeface="Arial"/>
                <a:sym typeface="Arial"/>
              </a:rPr>
              <a:t>TEST SMALL</a:t>
            </a:r>
            <a:endParaRPr b="0" i="0" sz="2900" u="none" cap="none" strike="noStrike">
              <a:solidFill>
                <a:schemeClr val="dk1"/>
              </a:solidFill>
              <a:latin typeface="Arial"/>
              <a:ea typeface="Arial"/>
              <a:cs typeface="Arial"/>
              <a:sym typeface="Arial"/>
            </a:endParaRPr>
          </a:p>
        </p:txBody>
      </p:sp>
      <p:sp>
        <p:nvSpPr>
          <p:cNvPr id="41" name="Google Shape;41;p5"/>
          <p:cNvSpPr/>
          <p:nvPr/>
        </p:nvSpPr>
        <p:spPr>
          <a:xfrm>
            <a:off x="640080" y="2240280"/>
            <a:ext cx="10515600" cy="36576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900"/>
              <a:buFont typeface="Arial"/>
              <a:buNone/>
            </a:pPr>
            <a:r>
              <a:rPr b="1" i="0" lang="en-US" sz="1900" u="none" cap="none" strike="noStrike">
                <a:solidFill>
                  <a:srgbClr val="FFFFFF"/>
                </a:solidFill>
                <a:latin typeface="Arial"/>
                <a:ea typeface="Arial"/>
                <a:cs typeface="Arial"/>
                <a:sym typeface="Arial"/>
              </a:rPr>
              <a:t>before committing time, materials, and credibility to full data collection.</a:t>
            </a:r>
            <a:endParaRPr b="0" i="0" sz="1900" u="none" cap="none" strike="noStrike">
              <a:solidFill>
                <a:schemeClr val="dk1"/>
              </a:solidFill>
              <a:latin typeface="Arial"/>
              <a:ea typeface="Arial"/>
              <a:cs typeface="Arial"/>
              <a:sym typeface="Arial"/>
            </a:endParaRPr>
          </a:p>
        </p:txBody>
      </p:sp>
      <p:sp>
        <p:nvSpPr>
          <p:cNvPr id="42" name="Google Shape;42;p5"/>
          <p:cNvSpPr/>
          <p:nvPr/>
        </p:nvSpPr>
        <p:spPr>
          <a:xfrm>
            <a:off x="822960" y="3017520"/>
            <a:ext cx="2423160" cy="1143000"/>
          </a:xfrm>
          <a:prstGeom prst="roundRect">
            <a:avLst>
              <a:gd fmla="val 64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5"/>
          <p:cNvSpPr/>
          <p:nvPr/>
        </p:nvSpPr>
        <p:spPr>
          <a:xfrm>
            <a:off x="822960" y="3017520"/>
            <a:ext cx="54864" cy="11430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5"/>
          <p:cNvSpPr/>
          <p:nvPr/>
        </p:nvSpPr>
        <p:spPr>
          <a:xfrm>
            <a:off x="987552" y="3163824"/>
            <a:ext cx="21488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Define</a:t>
            </a:r>
            <a:endParaRPr b="0" i="0" sz="1400" u="none" cap="none" strike="noStrike">
              <a:solidFill>
                <a:schemeClr val="dk1"/>
              </a:solidFill>
              <a:latin typeface="Arial"/>
              <a:ea typeface="Arial"/>
              <a:cs typeface="Arial"/>
              <a:sym typeface="Arial"/>
            </a:endParaRPr>
          </a:p>
        </p:txBody>
      </p:sp>
      <p:sp>
        <p:nvSpPr>
          <p:cNvPr id="45" name="Google Shape;45;p5"/>
          <p:cNvSpPr/>
          <p:nvPr/>
        </p:nvSpPr>
        <p:spPr>
          <a:xfrm>
            <a:off x="987552" y="3493008"/>
            <a:ext cx="2130552" cy="5760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define pilot testing</a:t>
            </a:r>
            <a:endParaRPr b="0" i="0" sz="1350" u="none" cap="none" strike="noStrike">
              <a:solidFill>
                <a:schemeClr val="dk1"/>
              </a:solidFill>
              <a:latin typeface="Arial"/>
              <a:ea typeface="Arial"/>
              <a:cs typeface="Arial"/>
              <a:sym typeface="Arial"/>
            </a:endParaRPr>
          </a:p>
        </p:txBody>
      </p:sp>
      <p:sp>
        <p:nvSpPr>
          <p:cNvPr id="46" name="Google Shape;46;p5"/>
          <p:cNvSpPr/>
          <p:nvPr/>
        </p:nvSpPr>
        <p:spPr>
          <a:xfrm>
            <a:off x="3474720" y="3017520"/>
            <a:ext cx="2423160" cy="1143000"/>
          </a:xfrm>
          <a:prstGeom prst="roundRect">
            <a:avLst>
              <a:gd fmla="val 64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5"/>
          <p:cNvSpPr/>
          <p:nvPr/>
        </p:nvSpPr>
        <p:spPr>
          <a:xfrm>
            <a:off x="3474720" y="3017520"/>
            <a:ext cx="54864" cy="11430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5"/>
          <p:cNvSpPr/>
          <p:nvPr/>
        </p:nvSpPr>
        <p:spPr>
          <a:xfrm>
            <a:off x="3639312" y="3163824"/>
            <a:ext cx="21488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Reveal</a:t>
            </a:r>
            <a:endParaRPr b="0" i="0" sz="1400" u="none" cap="none" strike="noStrike">
              <a:solidFill>
                <a:schemeClr val="dk1"/>
              </a:solidFill>
              <a:latin typeface="Arial"/>
              <a:ea typeface="Arial"/>
              <a:cs typeface="Arial"/>
              <a:sym typeface="Arial"/>
            </a:endParaRPr>
          </a:p>
        </p:txBody>
      </p:sp>
      <p:sp>
        <p:nvSpPr>
          <p:cNvPr id="49" name="Google Shape;49;p5"/>
          <p:cNvSpPr/>
          <p:nvPr/>
        </p:nvSpPr>
        <p:spPr>
          <a:xfrm>
            <a:off x="3639312" y="3493008"/>
            <a:ext cx="2130552" cy="5760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identify what a pilot test can reveal</a:t>
            </a:r>
            <a:endParaRPr b="0" i="0" sz="1350" u="none" cap="none" strike="noStrike">
              <a:solidFill>
                <a:schemeClr val="dk1"/>
              </a:solidFill>
              <a:latin typeface="Arial"/>
              <a:ea typeface="Arial"/>
              <a:cs typeface="Arial"/>
              <a:sym typeface="Arial"/>
            </a:endParaRPr>
          </a:p>
        </p:txBody>
      </p:sp>
      <p:sp>
        <p:nvSpPr>
          <p:cNvPr id="50" name="Google Shape;50;p5"/>
          <p:cNvSpPr/>
          <p:nvPr/>
        </p:nvSpPr>
        <p:spPr>
          <a:xfrm>
            <a:off x="6126480" y="3017520"/>
            <a:ext cx="2423160" cy="1143000"/>
          </a:xfrm>
          <a:prstGeom prst="roundRect">
            <a:avLst>
              <a:gd fmla="val 64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a:off x="6126480" y="3017520"/>
            <a:ext cx="54864" cy="11430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5"/>
          <p:cNvSpPr/>
          <p:nvPr/>
        </p:nvSpPr>
        <p:spPr>
          <a:xfrm>
            <a:off x="6291072" y="3163824"/>
            <a:ext cx="21488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Plan</a:t>
            </a:r>
            <a:endParaRPr b="0" i="0" sz="1400" u="none" cap="none" strike="noStrike">
              <a:solidFill>
                <a:schemeClr val="dk1"/>
              </a:solidFill>
              <a:latin typeface="Arial"/>
              <a:ea typeface="Arial"/>
              <a:cs typeface="Arial"/>
              <a:sym typeface="Arial"/>
            </a:endParaRPr>
          </a:p>
        </p:txBody>
      </p:sp>
      <p:sp>
        <p:nvSpPr>
          <p:cNvPr id="53" name="Google Shape;53;p5"/>
          <p:cNvSpPr/>
          <p:nvPr/>
        </p:nvSpPr>
        <p:spPr>
          <a:xfrm>
            <a:off x="6291072" y="3493008"/>
            <a:ext cx="2130552" cy="5760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plan a small-scale trial</a:t>
            </a:r>
            <a:endParaRPr b="0" i="0" sz="1350" u="none" cap="none" strike="noStrike">
              <a:solidFill>
                <a:schemeClr val="dk1"/>
              </a:solidFill>
              <a:latin typeface="Arial"/>
              <a:ea typeface="Arial"/>
              <a:cs typeface="Arial"/>
              <a:sym typeface="Arial"/>
            </a:endParaRPr>
          </a:p>
        </p:txBody>
      </p:sp>
      <p:sp>
        <p:nvSpPr>
          <p:cNvPr id="54" name="Google Shape;54;p5"/>
          <p:cNvSpPr/>
          <p:nvPr/>
        </p:nvSpPr>
        <p:spPr>
          <a:xfrm>
            <a:off x="8778240" y="3017520"/>
            <a:ext cx="2423160" cy="1143000"/>
          </a:xfrm>
          <a:prstGeom prst="roundRect">
            <a:avLst>
              <a:gd fmla="val 64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5"/>
          <p:cNvSpPr/>
          <p:nvPr/>
        </p:nvSpPr>
        <p:spPr>
          <a:xfrm>
            <a:off x="8778240" y="3017520"/>
            <a:ext cx="54864" cy="11430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5"/>
          <p:cNvSpPr/>
          <p:nvPr/>
        </p:nvSpPr>
        <p:spPr>
          <a:xfrm>
            <a:off x="8942832" y="3163824"/>
            <a:ext cx="21488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Decide</a:t>
            </a:r>
            <a:endParaRPr b="0" i="0" sz="1400" u="none" cap="none" strike="noStrike">
              <a:solidFill>
                <a:schemeClr val="dk1"/>
              </a:solidFill>
              <a:latin typeface="Arial"/>
              <a:ea typeface="Arial"/>
              <a:cs typeface="Arial"/>
              <a:sym typeface="Arial"/>
            </a:endParaRPr>
          </a:p>
        </p:txBody>
      </p:sp>
      <p:sp>
        <p:nvSpPr>
          <p:cNvPr id="57" name="Google Shape;57;p5"/>
          <p:cNvSpPr/>
          <p:nvPr/>
        </p:nvSpPr>
        <p:spPr>
          <a:xfrm>
            <a:off x="8942832" y="3493008"/>
            <a:ext cx="2130552" cy="5760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decide whether to revise or continue</a:t>
            </a:r>
            <a:endParaRPr b="0" i="0" sz="1350" u="none" cap="none" strike="noStrike">
              <a:solidFill>
                <a:schemeClr val="dk1"/>
              </a:solidFill>
              <a:latin typeface="Arial"/>
              <a:ea typeface="Arial"/>
              <a:cs typeface="Arial"/>
              <a:sym typeface="Arial"/>
            </a:endParaRPr>
          </a:p>
        </p:txBody>
      </p:sp>
      <p:sp>
        <p:nvSpPr>
          <p:cNvPr id="58" name="Google Shape;58;p5"/>
          <p:cNvSpPr/>
          <p:nvPr/>
        </p:nvSpPr>
        <p:spPr>
          <a:xfrm>
            <a:off x="594360" y="4956048"/>
            <a:ext cx="11018520" cy="987552"/>
          </a:xfrm>
          <a:prstGeom prst="roundRect">
            <a:avLst>
              <a:gd fmla="val 7407" name="adj"/>
            </a:avLst>
          </a:prstGeom>
          <a:solidFill>
            <a:srgbClr val="0A0A0A"/>
          </a:solidFill>
          <a:ln cap="flat" cmpd="sng" w="10150">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5"/>
          <p:cNvSpPr/>
          <p:nvPr/>
        </p:nvSpPr>
        <p:spPr>
          <a:xfrm>
            <a:off x="594360" y="4956048"/>
            <a:ext cx="1600200" cy="987552"/>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758952" y="5166360"/>
            <a:ext cx="1280160" cy="493776"/>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STUDENT</a:t>
            </a:r>
            <a:endParaRPr b="0" i="0" sz="11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ACTIVITY</a:t>
            </a:r>
            <a:endParaRPr b="0" i="0" sz="1100" u="none" cap="none" strike="noStrike">
              <a:solidFill>
                <a:schemeClr val="dk1"/>
              </a:solidFill>
              <a:latin typeface="Arial"/>
              <a:ea typeface="Arial"/>
              <a:cs typeface="Arial"/>
              <a:sym typeface="Arial"/>
            </a:endParaRPr>
          </a:p>
        </p:txBody>
      </p:sp>
      <p:sp>
        <p:nvSpPr>
          <p:cNvPr id="61" name="Google Shape;61;p5"/>
          <p:cNvSpPr/>
          <p:nvPr/>
        </p:nvSpPr>
        <p:spPr>
          <a:xfrm>
            <a:off x="2395728" y="5074920"/>
            <a:ext cx="3108960" cy="25603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Matched activity</a:t>
            </a:r>
            <a:endParaRPr b="0" i="0" sz="1500" u="none" cap="none" strike="noStrike">
              <a:solidFill>
                <a:schemeClr val="dk1"/>
              </a:solidFill>
              <a:latin typeface="Arial"/>
              <a:ea typeface="Arial"/>
              <a:cs typeface="Arial"/>
              <a:sym typeface="Arial"/>
            </a:endParaRPr>
          </a:p>
        </p:txBody>
      </p:sp>
      <p:sp>
        <p:nvSpPr>
          <p:cNvPr id="62" name="Google Shape;62;p5"/>
          <p:cNvSpPr/>
          <p:nvPr/>
        </p:nvSpPr>
        <p:spPr>
          <a:xfrm>
            <a:off x="5486400" y="5056632"/>
            <a:ext cx="5806440" cy="62179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250"/>
              <a:buFont typeface="Arial"/>
              <a:buNone/>
            </a:pPr>
            <a:r>
              <a:rPr b="0" i="0" lang="en-US" sz="1250" u="none" cap="none" strike="noStrike">
                <a:solidFill>
                  <a:srgbClr val="B5B5B5"/>
                </a:solidFill>
                <a:latin typeface="Arial"/>
                <a:ea typeface="Arial"/>
                <a:cs typeface="Arial"/>
                <a:sym typeface="Arial"/>
              </a:rPr>
              <a:t>Students will complete parts of Unit 3 Student Handout 1: Pilot Test Plan as the lesson develops.</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6"/>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6"/>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6"/>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Research Does Not Begin at Full Scale</a:t>
            </a:r>
            <a:endParaRPr b="0" i="0" sz="2700" u="none" cap="none" strike="noStrike">
              <a:solidFill>
                <a:schemeClr val="dk1"/>
              </a:solidFill>
              <a:latin typeface="Arial"/>
              <a:ea typeface="Arial"/>
              <a:cs typeface="Arial"/>
              <a:sym typeface="Arial"/>
            </a:endParaRPr>
          </a:p>
        </p:txBody>
      </p:sp>
      <p:sp>
        <p:nvSpPr>
          <p:cNvPr id="72" name="Google Shape;72;p6"/>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6"/>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74" name="Google Shape;74;p6"/>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75" name="Google Shape;75;p6"/>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03</a:t>
            </a:r>
            <a:endParaRPr b="0" i="0" sz="1000" u="none" cap="none" strike="noStrike">
              <a:solidFill>
                <a:schemeClr val="dk1"/>
              </a:solidFill>
              <a:latin typeface="Arial"/>
              <a:ea typeface="Arial"/>
              <a:cs typeface="Arial"/>
              <a:sym typeface="Arial"/>
            </a:endParaRPr>
          </a:p>
        </p:txBody>
      </p:sp>
      <p:sp>
        <p:nvSpPr>
          <p:cNvPr id="76" name="Google Shape;76;p6"/>
          <p:cNvSpPr/>
          <p:nvPr/>
        </p:nvSpPr>
        <p:spPr>
          <a:xfrm>
            <a:off x="685800" y="1344168"/>
            <a:ext cx="98755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The first version of a method is rarely the final version.</a:t>
            </a:r>
            <a:endParaRPr b="0" i="0" sz="2000" u="none" cap="none" strike="noStrike">
              <a:solidFill>
                <a:schemeClr val="dk1"/>
              </a:solidFill>
              <a:latin typeface="Arial"/>
              <a:ea typeface="Arial"/>
              <a:cs typeface="Arial"/>
              <a:sym typeface="Arial"/>
            </a:endParaRPr>
          </a:p>
        </p:txBody>
      </p:sp>
      <p:sp>
        <p:nvSpPr>
          <p:cNvPr id="77" name="Google Shape;77;p6"/>
          <p:cNvSpPr/>
          <p:nvPr/>
        </p:nvSpPr>
        <p:spPr>
          <a:xfrm>
            <a:off x="914400" y="1993392"/>
            <a:ext cx="4663440" cy="1554480"/>
          </a:xfrm>
          <a:prstGeom prst="roundRect">
            <a:avLst>
              <a:gd fmla="val 4706"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6"/>
          <p:cNvSpPr/>
          <p:nvPr/>
        </p:nvSpPr>
        <p:spPr>
          <a:xfrm>
            <a:off x="914400" y="1993392"/>
            <a:ext cx="54864" cy="155448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p:nvPr/>
        </p:nvSpPr>
        <p:spPr>
          <a:xfrm>
            <a:off x="1078992" y="2139696"/>
            <a:ext cx="43891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A full experiment or build asks:</a:t>
            </a:r>
            <a:endParaRPr b="0" i="0" sz="1400" u="none" cap="none" strike="noStrike">
              <a:solidFill>
                <a:schemeClr val="dk1"/>
              </a:solidFill>
              <a:latin typeface="Arial"/>
              <a:ea typeface="Arial"/>
              <a:cs typeface="Arial"/>
              <a:sym typeface="Arial"/>
            </a:endParaRPr>
          </a:p>
        </p:txBody>
      </p:sp>
      <p:sp>
        <p:nvSpPr>
          <p:cNvPr id="80" name="Google Shape;80;p6"/>
          <p:cNvSpPr/>
          <p:nvPr/>
        </p:nvSpPr>
        <p:spPr>
          <a:xfrm>
            <a:off x="1078992" y="2468880"/>
            <a:ext cx="4370832" cy="98755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“What does the evidence show?”</a:t>
            </a:r>
            <a:endParaRPr b="0" i="0" sz="1350" u="none" cap="none" strike="noStrike">
              <a:solidFill>
                <a:schemeClr val="dk1"/>
              </a:solidFill>
              <a:latin typeface="Arial"/>
              <a:ea typeface="Arial"/>
              <a:cs typeface="Arial"/>
              <a:sym typeface="Arial"/>
            </a:endParaRPr>
          </a:p>
        </p:txBody>
      </p:sp>
      <p:sp>
        <p:nvSpPr>
          <p:cNvPr id="81" name="Google Shape;81;p6"/>
          <p:cNvSpPr/>
          <p:nvPr/>
        </p:nvSpPr>
        <p:spPr>
          <a:xfrm>
            <a:off x="6537960" y="1993392"/>
            <a:ext cx="4663440" cy="1554480"/>
          </a:xfrm>
          <a:prstGeom prst="roundRect">
            <a:avLst>
              <a:gd fmla="val 4706"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p:cNvSpPr/>
          <p:nvPr/>
        </p:nvSpPr>
        <p:spPr>
          <a:xfrm>
            <a:off x="6537960" y="1993392"/>
            <a:ext cx="54864" cy="155448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6"/>
          <p:cNvSpPr/>
          <p:nvPr/>
        </p:nvSpPr>
        <p:spPr>
          <a:xfrm>
            <a:off x="6702552" y="2139696"/>
            <a:ext cx="43891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A pilot test asks:</a:t>
            </a:r>
            <a:endParaRPr b="0" i="0" sz="1400" u="none" cap="none" strike="noStrike">
              <a:solidFill>
                <a:schemeClr val="dk1"/>
              </a:solidFill>
              <a:latin typeface="Arial"/>
              <a:ea typeface="Arial"/>
              <a:cs typeface="Arial"/>
              <a:sym typeface="Arial"/>
            </a:endParaRPr>
          </a:p>
        </p:txBody>
      </p:sp>
      <p:sp>
        <p:nvSpPr>
          <p:cNvPr id="84" name="Google Shape;84;p6"/>
          <p:cNvSpPr/>
          <p:nvPr/>
        </p:nvSpPr>
        <p:spPr>
          <a:xfrm>
            <a:off x="6702552" y="2468880"/>
            <a:ext cx="4370832" cy="98755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“Does my method even work?”</a:t>
            </a:r>
            <a:endParaRPr b="0" i="0" sz="1350" u="none" cap="none" strike="noStrike">
              <a:solidFill>
                <a:schemeClr val="dk1"/>
              </a:solidFill>
              <a:latin typeface="Arial"/>
              <a:ea typeface="Arial"/>
              <a:cs typeface="Arial"/>
              <a:sym typeface="Arial"/>
            </a:endParaRPr>
          </a:p>
        </p:txBody>
      </p:sp>
      <p:sp>
        <p:nvSpPr>
          <p:cNvPr id="85" name="Google Shape;85;p6"/>
          <p:cNvSpPr/>
          <p:nvPr/>
        </p:nvSpPr>
        <p:spPr>
          <a:xfrm>
            <a:off x="960120" y="4206240"/>
            <a:ext cx="10058400" cy="41148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500"/>
              <a:buFont typeface="Arial"/>
              <a:buNone/>
            </a:pPr>
            <a:r>
              <a:rPr b="1" i="0" lang="en-US" sz="2500" u="none" cap="none" strike="noStrike">
                <a:solidFill>
                  <a:srgbClr val="FFFFFF"/>
                </a:solidFill>
                <a:latin typeface="Arial"/>
                <a:ea typeface="Arial"/>
                <a:cs typeface="Arial"/>
                <a:sym typeface="Arial"/>
              </a:rPr>
              <a:t>Catch problems early, while they are still cheap, safe, and fixable.</a:t>
            </a:r>
            <a:endParaRPr b="0" i="0" sz="25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7"/>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7"/>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7"/>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7"/>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Pilot Testing: A Working Definition</a:t>
            </a:r>
            <a:endParaRPr b="0" i="0" sz="2700" u="none" cap="none" strike="noStrike">
              <a:solidFill>
                <a:schemeClr val="dk1"/>
              </a:solidFill>
              <a:latin typeface="Arial"/>
              <a:ea typeface="Arial"/>
              <a:cs typeface="Arial"/>
              <a:sym typeface="Arial"/>
            </a:endParaRPr>
          </a:p>
        </p:txBody>
      </p:sp>
      <p:sp>
        <p:nvSpPr>
          <p:cNvPr id="95" name="Google Shape;95;p7"/>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7"/>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97" name="Google Shape;97;p7"/>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98" name="Google Shape;98;p7"/>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04</a:t>
            </a:r>
            <a:endParaRPr b="0" i="0" sz="1000" u="none" cap="none" strike="noStrike">
              <a:solidFill>
                <a:schemeClr val="dk1"/>
              </a:solidFill>
              <a:latin typeface="Arial"/>
              <a:ea typeface="Arial"/>
              <a:cs typeface="Arial"/>
              <a:sym typeface="Arial"/>
            </a:endParaRPr>
          </a:p>
        </p:txBody>
      </p:sp>
      <p:sp>
        <p:nvSpPr>
          <p:cNvPr id="99" name="Google Shape;99;p7"/>
          <p:cNvSpPr/>
          <p:nvPr/>
        </p:nvSpPr>
        <p:spPr>
          <a:xfrm>
            <a:off x="731520" y="1417320"/>
            <a:ext cx="10607040" cy="50292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A pilot test is a small-scale trial run that tests the method, not the final claim.</a:t>
            </a:r>
            <a:endParaRPr b="0" i="0" sz="2300" u="none" cap="none" strike="noStrike">
              <a:solidFill>
                <a:schemeClr val="dk1"/>
              </a:solidFill>
              <a:latin typeface="Arial"/>
              <a:ea typeface="Arial"/>
              <a:cs typeface="Arial"/>
              <a:sym typeface="Arial"/>
            </a:endParaRPr>
          </a:p>
        </p:txBody>
      </p:sp>
      <p:sp>
        <p:nvSpPr>
          <p:cNvPr id="100" name="Google Shape;100;p7"/>
          <p:cNvSpPr/>
          <p:nvPr/>
        </p:nvSpPr>
        <p:spPr>
          <a:xfrm>
            <a:off x="1005840" y="2377440"/>
            <a:ext cx="10149840" cy="1554480"/>
          </a:xfrm>
          <a:prstGeom prst="roundRect">
            <a:avLst>
              <a:gd fmla="val 4706" name="adj"/>
            </a:avLst>
          </a:prstGeom>
          <a:solidFill>
            <a:srgbClr val="0A0A0A"/>
          </a:solidFill>
          <a:ln cap="flat" cmpd="sng" w="10150">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7"/>
          <p:cNvSpPr/>
          <p:nvPr/>
        </p:nvSpPr>
        <p:spPr>
          <a:xfrm>
            <a:off x="1325880" y="2651760"/>
            <a:ext cx="9555480" cy="34747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100"/>
              <a:buFont typeface="Arial"/>
              <a:buNone/>
            </a:pPr>
            <a:r>
              <a:rPr b="0" i="0" lang="en-US" sz="2100" u="none" cap="none" strike="noStrike">
                <a:solidFill>
                  <a:srgbClr val="FFFFFF"/>
                </a:solidFill>
                <a:latin typeface="Arial"/>
                <a:ea typeface="Arial"/>
                <a:cs typeface="Arial"/>
                <a:sym typeface="Arial"/>
              </a:rPr>
              <a:t>A pilot test is a small trial run used to find problems before full data collection begins.</a:t>
            </a:r>
            <a:endParaRPr b="0" i="0" sz="2100" u="none" cap="none" strike="noStrike">
              <a:solidFill>
                <a:schemeClr val="dk1"/>
              </a:solidFill>
              <a:latin typeface="Arial"/>
              <a:ea typeface="Arial"/>
              <a:cs typeface="Arial"/>
              <a:sym typeface="Arial"/>
            </a:endParaRPr>
          </a:p>
        </p:txBody>
      </p:sp>
      <p:sp>
        <p:nvSpPr>
          <p:cNvPr id="102" name="Google Shape;102;p7"/>
          <p:cNvSpPr/>
          <p:nvPr/>
        </p:nvSpPr>
        <p:spPr>
          <a:xfrm>
            <a:off x="1325880" y="3246120"/>
            <a:ext cx="9555480" cy="4572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700"/>
              <a:buFont typeface="Arial"/>
              <a:buNone/>
            </a:pPr>
            <a:r>
              <a:rPr b="0" i="0" lang="en-US" sz="1700" u="none" cap="none" strike="noStrike">
                <a:solidFill>
                  <a:srgbClr val="B5B5B5"/>
                </a:solidFill>
                <a:latin typeface="Arial"/>
                <a:ea typeface="Arial"/>
                <a:cs typeface="Arial"/>
                <a:sym typeface="Arial"/>
              </a:rPr>
              <a:t>It is successful when it reveals what must be clarified, revised, simplified, or approved before continuing.</a:t>
            </a:r>
            <a:endParaRPr b="0" i="0" sz="1700" u="none" cap="none" strike="noStrike">
              <a:solidFill>
                <a:schemeClr val="dk1"/>
              </a:solidFill>
              <a:latin typeface="Arial"/>
              <a:ea typeface="Arial"/>
              <a:cs typeface="Arial"/>
              <a:sym typeface="Arial"/>
            </a:endParaRPr>
          </a:p>
        </p:txBody>
      </p:sp>
      <p:sp>
        <p:nvSpPr>
          <p:cNvPr id="103" name="Google Shape;103;p7"/>
          <p:cNvSpPr/>
          <p:nvPr/>
        </p:nvSpPr>
        <p:spPr>
          <a:xfrm>
            <a:off x="4892040" y="4407408"/>
            <a:ext cx="2377440" cy="38404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7"/>
          <p:cNvSpPr/>
          <p:nvPr/>
        </p:nvSpPr>
        <p:spPr>
          <a:xfrm>
            <a:off x="5074920" y="4489704"/>
            <a:ext cx="2011680" cy="18288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1200"/>
              <a:buFont typeface="Arial"/>
              <a:buNone/>
            </a:pPr>
            <a:r>
              <a:rPr b="1" i="0" lang="en-US" sz="1200" u="none" cap="none" strike="noStrike">
                <a:solidFill>
                  <a:srgbClr val="FFFFFF"/>
                </a:solidFill>
                <a:latin typeface="Arial"/>
                <a:ea typeface="Arial"/>
                <a:cs typeface="Arial"/>
                <a:sym typeface="Arial"/>
              </a:rPr>
              <a:t>KEY IDEA</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8"/>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8"/>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8"/>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8"/>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What a Pilot Test Is and Is Not</a:t>
            </a:r>
            <a:endParaRPr b="0" i="0" sz="2700" u="none" cap="none" strike="noStrike">
              <a:solidFill>
                <a:schemeClr val="dk1"/>
              </a:solidFill>
              <a:latin typeface="Arial"/>
              <a:ea typeface="Arial"/>
              <a:cs typeface="Arial"/>
              <a:sym typeface="Arial"/>
            </a:endParaRPr>
          </a:p>
        </p:txBody>
      </p:sp>
      <p:sp>
        <p:nvSpPr>
          <p:cNvPr id="114" name="Google Shape;114;p8"/>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8"/>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116" name="Google Shape;116;p8"/>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117" name="Google Shape;117;p8"/>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05</a:t>
            </a:r>
            <a:endParaRPr b="0" i="0" sz="1000" u="none" cap="none" strike="noStrike">
              <a:solidFill>
                <a:schemeClr val="dk1"/>
              </a:solidFill>
              <a:latin typeface="Arial"/>
              <a:ea typeface="Arial"/>
              <a:cs typeface="Arial"/>
              <a:sym typeface="Arial"/>
            </a:endParaRPr>
          </a:p>
        </p:txBody>
      </p:sp>
      <p:sp>
        <p:nvSpPr>
          <p:cNvPr id="118" name="Google Shape;118;p8"/>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Students often confuse pilot testing with final testing.</a:t>
            </a:r>
            <a:endParaRPr b="0" i="0" sz="2000" u="none" cap="none" strike="noStrike">
              <a:solidFill>
                <a:schemeClr val="dk1"/>
              </a:solidFill>
              <a:latin typeface="Arial"/>
              <a:ea typeface="Arial"/>
              <a:cs typeface="Arial"/>
              <a:sym typeface="Arial"/>
            </a:endParaRPr>
          </a:p>
        </p:txBody>
      </p:sp>
      <p:sp>
        <p:nvSpPr>
          <p:cNvPr id="119" name="Google Shape;119;p8"/>
          <p:cNvSpPr/>
          <p:nvPr/>
        </p:nvSpPr>
        <p:spPr>
          <a:xfrm>
            <a:off x="1097280" y="1874520"/>
            <a:ext cx="4297680" cy="2514600"/>
          </a:xfrm>
          <a:prstGeom prst="roundRect">
            <a:avLst>
              <a:gd fmla="val 2909"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8"/>
          <p:cNvSpPr/>
          <p:nvPr/>
        </p:nvSpPr>
        <p:spPr>
          <a:xfrm>
            <a:off x="1097280" y="1874520"/>
            <a:ext cx="54864" cy="25146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8"/>
          <p:cNvSpPr/>
          <p:nvPr/>
        </p:nvSpPr>
        <p:spPr>
          <a:xfrm>
            <a:off x="1261872" y="2020824"/>
            <a:ext cx="402336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IS</a:t>
            </a:r>
            <a:endParaRPr b="0" i="0" sz="1400" u="none" cap="none" strike="noStrike">
              <a:solidFill>
                <a:schemeClr val="dk1"/>
              </a:solidFill>
              <a:latin typeface="Arial"/>
              <a:ea typeface="Arial"/>
              <a:cs typeface="Arial"/>
              <a:sym typeface="Arial"/>
            </a:endParaRPr>
          </a:p>
        </p:txBody>
      </p:sp>
      <p:sp>
        <p:nvSpPr>
          <p:cNvPr id="122" name="Google Shape;122;p8"/>
          <p:cNvSpPr/>
          <p:nvPr/>
        </p:nvSpPr>
        <p:spPr>
          <a:xfrm>
            <a:off x="1261872" y="2350008"/>
            <a:ext cx="4005072" cy="19476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a trial run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a safety check</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a measurement check</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a data table check</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a chance to revise</a:t>
            </a:r>
            <a:endParaRPr b="0" i="0" sz="1350" u="none" cap="none" strike="noStrike">
              <a:solidFill>
                <a:schemeClr val="dk1"/>
              </a:solidFill>
              <a:latin typeface="Arial"/>
              <a:ea typeface="Arial"/>
              <a:cs typeface="Arial"/>
              <a:sym typeface="Arial"/>
            </a:endParaRPr>
          </a:p>
        </p:txBody>
      </p:sp>
      <p:sp>
        <p:nvSpPr>
          <p:cNvPr id="123" name="Google Shape;123;p8"/>
          <p:cNvSpPr/>
          <p:nvPr/>
        </p:nvSpPr>
        <p:spPr>
          <a:xfrm>
            <a:off x="6812280" y="1874520"/>
            <a:ext cx="4297680" cy="2514600"/>
          </a:xfrm>
          <a:prstGeom prst="roundRect">
            <a:avLst>
              <a:gd fmla="val 2909"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8"/>
          <p:cNvSpPr/>
          <p:nvPr/>
        </p:nvSpPr>
        <p:spPr>
          <a:xfrm>
            <a:off x="6812280" y="1874520"/>
            <a:ext cx="54864" cy="25146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8"/>
          <p:cNvSpPr/>
          <p:nvPr/>
        </p:nvSpPr>
        <p:spPr>
          <a:xfrm>
            <a:off x="6976872" y="2020824"/>
            <a:ext cx="402336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IS NOT</a:t>
            </a:r>
            <a:endParaRPr b="0" i="0" sz="1400" u="none" cap="none" strike="noStrike">
              <a:solidFill>
                <a:schemeClr val="dk1"/>
              </a:solidFill>
              <a:latin typeface="Arial"/>
              <a:ea typeface="Arial"/>
              <a:cs typeface="Arial"/>
              <a:sym typeface="Arial"/>
            </a:endParaRPr>
          </a:p>
        </p:txBody>
      </p:sp>
      <p:sp>
        <p:nvSpPr>
          <p:cNvPr id="126" name="Google Shape;126;p8"/>
          <p:cNvSpPr/>
          <p:nvPr/>
        </p:nvSpPr>
        <p:spPr>
          <a:xfrm>
            <a:off x="6976872" y="2350008"/>
            <a:ext cx="4005072" cy="19476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the whole project</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proof of your conclusion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a shortcut around planning</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permission to ignore safety</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something to hide if it fails</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9"/>
          <p:cNvSpPr/>
          <p:nvPr/>
        </p:nvSpPr>
        <p:spPr>
          <a:xfrm>
            <a:off x="0" y="15073"/>
            <a:ext cx="12191700"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9"/>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9"/>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9"/>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What Pilot Testing Can Reveal</a:t>
            </a:r>
            <a:endParaRPr b="0" i="0" sz="2700" u="none" cap="none" strike="noStrike">
              <a:solidFill>
                <a:schemeClr val="dk1"/>
              </a:solidFill>
              <a:latin typeface="Arial"/>
              <a:ea typeface="Arial"/>
              <a:cs typeface="Arial"/>
              <a:sym typeface="Arial"/>
            </a:endParaRPr>
          </a:p>
        </p:txBody>
      </p:sp>
      <p:sp>
        <p:nvSpPr>
          <p:cNvPr id="136" name="Google Shape;136;p9"/>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9"/>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138" name="Google Shape;138;p9"/>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139" name="Google Shape;139;p9"/>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06</a:t>
            </a:r>
            <a:endParaRPr b="0" i="0" sz="1000" u="none" cap="none" strike="noStrike">
              <a:solidFill>
                <a:schemeClr val="dk1"/>
              </a:solidFill>
              <a:latin typeface="Arial"/>
              <a:ea typeface="Arial"/>
              <a:cs typeface="Arial"/>
              <a:sym typeface="Arial"/>
            </a:endParaRPr>
          </a:p>
        </p:txBody>
      </p:sp>
      <p:sp>
        <p:nvSpPr>
          <p:cNvPr id="140" name="Google Shape;140;p9"/>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A small trial can expose the hidden weak points in a project.</a:t>
            </a:r>
            <a:endParaRPr b="0" i="0" sz="2000" u="none" cap="none" strike="noStrike">
              <a:solidFill>
                <a:schemeClr val="dk1"/>
              </a:solidFill>
              <a:latin typeface="Arial"/>
              <a:ea typeface="Arial"/>
              <a:cs typeface="Arial"/>
              <a:sym typeface="Arial"/>
            </a:endParaRPr>
          </a:p>
        </p:txBody>
      </p:sp>
      <p:sp>
        <p:nvSpPr>
          <p:cNvPr id="141" name="Google Shape;141;p9"/>
          <p:cNvSpPr/>
          <p:nvPr/>
        </p:nvSpPr>
        <p:spPr>
          <a:xfrm>
            <a:off x="822960" y="1965960"/>
            <a:ext cx="1920240" cy="1828800"/>
          </a:xfrm>
          <a:prstGeom prst="roundRect">
            <a:avLst>
              <a:gd fmla="val 40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9"/>
          <p:cNvSpPr/>
          <p:nvPr/>
        </p:nvSpPr>
        <p:spPr>
          <a:xfrm>
            <a:off x="822960" y="1965960"/>
            <a:ext cx="54864" cy="18288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9"/>
          <p:cNvSpPr/>
          <p:nvPr/>
        </p:nvSpPr>
        <p:spPr>
          <a:xfrm>
            <a:off x="987552" y="2112264"/>
            <a:ext cx="16459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PROCEDURE</a:t>
            </a:r>
            <a:endParaRPr b="0" i="0" sz="1400" u="none" cap="none" strike="noStrike">
              <a:solidFill>
                <a:schemeClr val="dk1"/>
              </a:solidFill>
              <a:latin typeface="Arial"/>
              <a:ea typeface="Arial"/>
              <a:cs typeface="Arial"/>
              <a:sym typeface="Arial"/>
            </a:endParaRPr>
          </a:p>
        </p:txBody>
      </p:sp>
      <p:sp>
        <p:nvSpPr>
          <p:cNvPr id="144" name="Google Shape;144;p9"/>
          <p:cNvSpPr/>
          <p:nvPr/>
        </p:nvSpPr>
        <p:spPr>
          <a:xfrm>
            <a:off x="987552" y="2441448"/>
            <a:ext cx="1627632" cy="12618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Are the steps clear and repeatable?</a:t>
            </a:r>
            <a:endParaRPr b="0" i="0" sz="1350" u="none" cap="none" strike="noStrike">
              <a:solidFill>
                <a:schemeClr val="dk1"/>
              </a:solidFill>
              <a:latin typeface="Arial"/>
              <a:ea typeface="Arial"/>
              <a:cs typeface="Arial"/>
              <a:sym typeface="Arial"/>
            </a:endParaRPr>
          </a:p>
        </p:txBody>
      </p:sp>
      <p:sp>
        <p:nvSpPr>
          <p:cNvPr id="145" name="Google Shape;145;p9"/>
          <p:cNvSpPr/>
          <p:nvPr/>
        </p:nvSpPr>
        <p:spPr>
          <a:xfrm>
            <a:off x="987540" y="3474725"/>
            <a:ext cx="4116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100"/>
              <a:buFont typeface="Arial"/>
              <a:buNone/>
            </a:pPr>
            <a:r>
              <a:rPr b="1" i="0" lang="en-US" sz="1100" u="none" cap="none" strike="noStrike">
                <a:solidFill>
                  <a:srgbClr val="E32621"/>
                </a:solidFill>
                <a:latin typeface="Arial"/>
                <a:ea typeface="Arial"/>
                <a:cs typeface="Arial"/>
                <a:sym typeface="Arial"/>
              </a:rPr>
              <a:t>01</a:t>
            </a:r>
            <a:endParaRPr b="0" i="0" sz="1100" u="none" cap="none" strike="noStrike">
              <a:solidFill>
                <a:schemeClr val="dk1"/>
              </a:solidFill>
              <a:latin typeface="Arial"/>
              <a:ea typeface="Arial"/>
              <a:cs typeface="Arial"/>
              <a:sym typeface="Arial"/>
            </a:endParaRPr>
          </a:p>
        </p:txBody>
      </p:sp>
      <p:sp>
        <p:nvSpPr>
          <p:cNvPr id="146" name="Google Shape;146;p9"/>
          <p:cNvSpPr/>
          <p:nvPr/>
        </p:nvSpPr>
        <p:spPr>
          <a:xfrm>
            <a:off x="3063240" y="1965960"/>
            <a:ext cx="1920240" cy="1828800"/>
          </a:xfrm>
          <a:prstGeom prst="roundRect">
            <a:avLst>
              <a:gd fmla="val 40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9"/>
          <p:cNvSpPr/>
          <p:nvPr/>
        </p:nvSpPr>
        <p:spPr>
          <a:xfrm>
            <a:off x="3063240" y="1965960"/>
            <a:ext cx="54864" cy="18288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9"/>
          <p:cNvSpPr/>
          <p:nvPr/>
        </p:nvSpPr>
        <p:spPr>
          <a:xfrm>
            <a:off x="3227832" y="2112264"/>
            <a:ext cx="16459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MEASUREMENT</a:t>
            </a:r>
            <a:endParaRPr b="0" i="0" sz="1400" u="none" cap="none" strike="noStrike">
              <a:solidFill>
                <a:schemeClr val="dk1"/>
              </a:solidFill>
              <a:latin typeface="Arial"/>
              <a:ea typeface="Arial"/>
              <a:cs typeface="Arial"/>
              <a:sym typeface="Arial"/>
            </a:endParaRPr>
          </a:p>
        </p:txBody>
      </p:sp>
      <p:sp>
        <p:nvSpPr>
          <p:cNvPr id="149" name="Google Shape;149;p9"/>
          <p:cNvSpPr/>
          <p:nvPr/>
        </p:nvSpPr>
        <p:spPr>
          <a:xfrm>
            <a:off x="3227832" y="2441448"/>
            <a:ext cx="1627632" cy="12618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Does the tool collect useful data?</a:t>
            </a:r>
            <a:endParaRPr b="0" i="0" sz="1350" u="none" cap="none" strike="noStrike">
              <a:solidFill>
                <a:schemeClr val="dk1"/>
              </a:solidFill>
              <a:latin typeface="Arial"/>
              <a:ea typeface="Arial"/>
              <a:cs typeface="Arial"/>
              <a:sym typeface="Arial"/>
            </a:endParaRPr>
          </a:p>
        </p:txBody>
      </p:sp>
      <p:sp>
        <p:nvSpPr>
          <p:cNvPr id="150" name="Google Shape;150;p9"/>
          <p:cNvSpPr/>
          <p:nvPr/>
        </p:nvSpPr>
        <p:spPr>
          <a:xfrm>
            <a:off x="3227882" y="3474725"/>
            <a:ext cx="4116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100"/>
              <a:buFont typeface="Arial"/>
              <a:buNone/>
            </a:pPr>
            <a:r>
              <a:rPr b="1" i="0" lang="en-US" sz="1100" u="none" cap="none" strike="noStrike">
                <a:solidFill>
                  <a:srgbClr val="E32621"/>
                </a:solidFill>
                <a:latin typeface="Arial"/>
                <a:ea typeface="Arial"/>
                <a:cs typeface="Arial"/>
                <a:sym typeface="Arial"/>
              </a:rPr>
              <a:t>02</a:t>
            </a:r>
            <a:endParaRPr b="0" i="0" sz="1100" u="none" cap="none" strike="noStrike">
              <a:solidFill>
                <a:schemeClr val="dk1"/>
              </a:solidFill>
              <a:latin typeface="Arial"/>
              <a:ea typeface="Arial"/>
              <a:cs typeface="Arial"/>
              <a:sym typeface="Arial"/>
            </a:endParaRPr>
          </a:p>
        </p:txBody>
      </p:sp>
      <p:sp>
        <p:nvSpPr>
          <p:cNvPr id="151" name="Google Shape;151;p9"/>
          <p:cNvSpPr/>
          <p:nvPr/>
        </p:nvSpPr>
        <p:spPr>
          <a:xfrm>
            <a:off x="5303520" y="1965960"/>
            <a:ext cx="1920240" cy="1828800"/>
          </a:xfrm>
          <a:prstGeom prst="roundRect">
            <a:avLst>
              <a:gd fmla="val 40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9"/>
          <p:cNvSpPr/>
          <p:nvPr/>
        </p:nvSpPr>
        <p:spPr>
          <a:xfrm>
            <a:off x="5303520" y="1965960"/>
            <a:ext cx="54864" cy="18288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9"/>
          <p:cNvSpPr/>
          <p:nvPr/>
        </p:nvSpPr>
        <p:spPr>
          <a:xfrm>
            <a:off x="5468112" y="2112264"/>
            <a:ext cx="16459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DATA TABLE</a:t>
            </a:r>
            <a:endParaRPr b="0" i="0" sz="1400" u="none" cap="none" strike="noStrike">
              <a:solidFill>
                <a:schemeClr val="dk1"/>
              </a:solidFill>
              <a:latin typeface="Arial"/>
              <a:ea typeface="Arial"/>
              <a:cs typeface="Arial"/>
              <a:sym typeface="Arial"/>
            </a:endParaRPr>
          </a:p>
        </p:txBody>
      </p:sp>
      <p:sp>
        <p:nvSpPr>
          <p:cNvPr id="154" name="Google Shape;154;p9"/>
          <p:cNvSpPr/>
          <p:nvPr/>
        </p:nvSpPr>
        <p:spPr>
          <a:xfrm>
            <a:off x="5468112" y="2441448"/>
            <a:ext cx="1627632" cy="12618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Is there a place for every observation?</a:t>
            </a:r>
            <a:endParaRPr b="0" i="0" sz="1350" u="none" cap="none" strike="noStrike">
              <a:solidFill>
                <a:schemeClr val="dk1"/>
              </a:solidFill>
              <a:latin typeface="Arial"/>
              <a:ea typeface="Arial"/>
              <a:cs typeface="Arial"/>
              <a:sym typeface="Arial"/>
            </a:endParaRPr>
          </a:p>
        </p:txBody>
      </p:sp>
      <p:sp>
        <p:nvSpPr>
          <p:cNvPr id="155" name="Google Shape;155;p9"/>
          <p:cNvSpPr/>
          <p:nvPr/>
        </p:nvSpPr>
        <p:spPr>
          <a:xfrm>
            <a:off x="5468200" y="3474725"/>
            <a:ext cx="4116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100"/>
              <a:buFont typeface="Arial"/>
              <a:buNone/>
            </a:pPr>
            <a:r>
              <a:rPr b="1" i="0" lang="en-US" sz="1100" u="none" cap="none" strike="noStrike">
                <a:solidFill>
                  <a:srgbClr val="E32621"/>
                </a:solidFill>
                <a:latin typeface="Arial"/>
                <a:ea typeface="Arial"/>
                <a:cs typeface="Arial"/>
                <a:sym typeface="Arial"/>
              </a:rPr>
              <a:t>03</a:t>
            </a:r>
            <a:endParaRPr b="0" i="0" sz="1100" u="none" cap="none" strike="noStrike">
              <a:solidFill>
                <a:schemeClr val="dk1"/>
              </a:solidFill>
              <a:latin typeface="Arial"/>
              <a:ea typeface="Arial"/>
              <a:cs typeface="Arial"/>
              <a:sym typeface="Arial"/>
            </a:endParaRPr>
          </a:p>
        </p:txBody>
      </p:sp>
      <p:sp>
        <p:nvSpPr>
          <p:cNvPr id="156" name="Google Shape;156;p9"/>
          <p:cNvSpPr/>
          <p:nvPr/>
        </p:nvSpPr>
        <p:spPr>
          <a:xfrm>
            <a:off x="7543800" y="1965960"/>
            <a:ext cx="1920240" cy="1828800"/>
          </a:xfrm>
          <a:prstGeom prst="roundRect">
            <a:avLst>
              <a:gd fmla="val 40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9"/>
          <p:cNvSpPr/>
          <p:nvPr/>
        </p:nvSpPr>
        <p:spPr>
          <a:xfrm>
            <a:off x="7543800" y="1965960"/>
            <a:ext cx="54864" cy="18288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9"/>
          <p:cNvSpPr/>
          <p:nvPr/>
        </p:nvSpPr>
        <p:spPr>
          <a:xfrm>
            <a:off x="7708392" y="2112264"/>
            <a:ext cx="16459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SAFETY</a:t>
            </a:r>
            <a:endParaRPr b="0" i="0" sz="1400" u="none" cap="none" strike="noStrike">
              <a:solidFill>
                <a:schemeClr val="dk1"/>
              </a:solidFill>
              <a:latin typeface="Arial"/>
              <a:ea typeface="Arial"/>
              <a:cs typeface="Arial"/>
              <a:sym typeface="Arial"/>
            </a:endParaRPr>
          </a:p>
        </p:txBody>
      </p:sp>
      <p:sp>
        <p:nvSpPr>
          <p:cNvPr id="159" name="Google Shape;159;p9"/>
          <p:cNvSpPr/>
          <p:nvPr/>
        </p:nvSpPr>
        <p:spPr>
          <a:xfrm>
            <a:off x="7708392" y="2441448"/>
            <a:ext cx="1627632" cy="12618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Did any new hazard appear?</a:t>
            </a:r>
            <a:endParaRPr b="0" i="0" sz="1350" u="none" cap="none" strike="noStrike">
              <a:solidFill>
                <a:schemeClr val="dk1"/>
              </a:solidFill>
              <a:latin typeface="Arial"/>
              <a:ea typeface="Arial"/>
              <a:cs typeface="Arial"/>
              <a:sym typeface="Arial"/>
            </a:endParaRPr>
          </a:p>
        </p:txBody>
      </p:sp>
      <p:sp>
        <p:nvSpPr>
          <p:cNvPr id="160" name="Google Shape;160;p9"/>
          <p:cNvSpPr/>
          <p:nvPr/>
        </p:nvSpPr>
        <p:spPr>
          <a:xfrm>
            <a:off x="7708505" y="3474725"/>
            <a:ext cx="4116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100"/>
              <a:buFont typeface="Arial"/>
              <a:buNone/>
            </a:pPr>
            <a:r>
              <a:rPr b="1" i="0" lang="en-US" sz="1100" u="none" cap="none" strike="noStrike">
                <a:solidFill>
                  <a:srgbClr val="E32621"/>
                </a:solidFill>
                <a:latin typeface="Arial"/>
                <a:ea typeface="Arial"/>
                <a:cs typeface="Arial"/>
                <a:sym typeface="Arial"/>
              </a:rPr>
              <a:t>04</a:t>
            </a:r>
            <a:endParaRPr b="0" i="0" sz="1100" u="none" cap="none" strike="noStrike">
              <a:solidFill>
                <a:schemeClr val="dk1"/>
              </a:solidFill>
              <a:latin typeface="Arial"/>
              <a:ea typeface="Arial"/>
              <a:cs typeface="Arial"/>
              <a:sym typeface="Arial"/>
            </a:endParaRPr>
          </a:p>
        </p:txBody>
      </p:sp>
      <p:sp>
        <p:nvSpPr>
          <p:cNvPr id="161" name="Google Shape;161;p9"/>
          <p:cNvSpPr/>
          <p:nvPr/>
        </p:nvSpPr>
        <p:spPr>
          <a:xfrm>
            <a:off x="9784080" y="1965960"/>
            <a:ext cx="1920240" cy="1828800"/>
          </a:xfrm>
          <a:prstGeom prst="roundRect">
            <a:avLst>
              <a:gd fmla="val 400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9784080" y="1965960"/>
            <a:ext cx="54864" cy="18288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p:nvPr/>
        </p:nvSpPr>
        <p:spPr>
          <a:xfrm>
            <a:off x="9948672" y="2112264"/>
            <a:ext cx="16459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TIMING</a:t>
            </a:r>
            <a:endParaRPr b="0" i="0" sz="1400" u="none" cap="none" strike="noStrike">
              <a:solidFill>
                <a:schemeClr val="dk1"/>
              </a:solidFill>
              <a:latin typeface="Arial"/>
              <a:ea typeface="Arial"/>
              <a:cs typeface="Arial"/>
              <a:sym typeface="Arial"/>
            </a:endParaRPr>
          </a:p>
        </p:txBody>
      </p:sp>
      <p:sp>
        <p:nvSpPr>
          <p:cNvPr id="164" name="Google Shape;164;p9"/>
          <p:cNvSpPr/>
          <p:nvPr/>
        </p:nvSpPr>
        <p:spPr>
          <a:xfrm>
            <a:off x="9948672" y="2441448"/>
            <a:ext cx="1627632" cy="12618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Is the plan realistic?</a:t>
            </a:r>
            <a:endParaRPr b="0" i="0" sz="1350" u="none" cap="none" strike="noStrike">
              <a:solidFill>
                <a:schemeClr val="dk1"/>
              </a:solidFill>
              <a:latin typeface="Arial"/>
              <a:ea typeface="Arial"/>
              <a:cs typeface="Arial"/>
              <a:sym typeface="Arial"/>
            </a:endParaRPr>
          </a:p>
        </p:txBody>
      </p:sp>
      <p:sp>
        <p:nvSpPr>
          <p:cNvPr id="165" name="Google Shape;165;p9"/>
          <p:cNvSpPr/>
          <p:nvPr/>
        </p:nvSpPr>
        <p:spPr>
          <a:xfrm>
            <a:off x="9912110" y="3474725"/>
            <a:ext cx="4116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100"/>
              <a:buFont typeface="Arial"/>
              <a:buNone/>
            </a:pPr>
            <a:r>
              <a:rPr b="1" i="0" lang="en-US" sz="1100" u="none" cap="none" strike="noStrike">
                <a:solidFill>
                  <a:srgbClr val="E32621"/>
                </a:solidFill>
                <a:latin typeface="Arial"/>
                <a:ea typeface="Arial"/>
                <a:cs typeface="Arial"/>
                <a:sym typeface="Arial"/>
              </a:rPr>
              <a:t>05</a:t>
            </a:r>
            <a:endParaRPr b="0" i="0" sz="1100" u="none" cap="none" strike="noStrike">
              <a:solidFill>
                <a:schemeClr val="dk1"/>
              </a:solidFill>
              <a:latin typeface="Arial"/>
              <a:ea typeface="Arial"/>
              <a:cs typeface="Arial"/>
              <a:sym typeface="Arial"/>
            </a:endParaRPr>
          </a:p>
        </p:txBody>
      </p:sp>
      <p:sp>
        <p:nvSpPr>
          <p:cNvPr id="166" name="Google Shape;166;p9"/>
          <p:cNvSpPr/>
          <p:nvPr/>
        </p:nvSpPr>
        <p:spPr>
          <a:xfrm>
            <a:off x="1005840" y="4617720"/>
            <a:ext cx="10149840" cy="45720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A pilot test should reveal at least one thing worth improving.</a:t>
            </a:r>
            <a:endParaRPr b="0" i="0" sz="23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10"/>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0"/>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0"/>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0"/>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Example: Measurement Problem</a:t>
            </a:r>
            <a:endParaRPr b="0" i="0" sz="2700" u="none" cap="none" strike="noStrike">
              <a:solidFill>
                <a:schemeClr val="dk1"/>
              </a:solidFill>
              <a:latin typeface="Arial"/>
              <a:ea typeface="Arial"/>
              <a:cs typeface="Arial"/>
              <a:sym typeface="Arial"/>
            </a:endParaRPr>
          </a:p>
        </p:txBody>
      </p:sp>
      <p:sp>
        <p:nvSpPr>
          <p:cNvPr id="176" name="Google Shape;176;p10"/>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0"/>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178" name="Google Shape;178;p10"/>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179" name="Google Shape;179;p10"/>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07</a:t>
            </a:r>
            <a:endParaRPr b="0" i="0" sz="1000" u="none" cap="none" strike="noStrike">
              <a:solidFill>
                <a:schemeClr val="dk1"/>
              </a:solidFill>
              <a:latin typeface="Arial"/>
              <a:ea typeface="Arial"/>
              <a:cs typeface="Arial"/>
              <a:sym typeface="Arial"/>
            </a:endParaRPr>
          </a:p>
        </p:txBody>
      </p:sp>
      <p:sp>
        <p:nvSpPr>
          <p:cNvPr id="180" name="Google Shape;180;p10"/>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The method works only if the measurement captures the thing you care about.</a:t>
            </a:r>
            <a:endParaRPr b="0" i="0" sz="2000" u="none" cap="none" strike="noStrike">
              <a:solidFill>
                <a:schemeClr val="dk1"/>
              </a:solidFill>
              <a:latin typeface="Arial"/>
              <a:ea typeface="Arial"/>
              <a:cs typeface="Arial"/>
              <a:sym typeface="Arial"/>
            </a:endParaRPr>
          </a:p>
        </p:txBody>
      </p:sp>
      <p:sp>
        <p:nvSpPr>
          <p:cNvPr id="181" name="Google Shape;181;p10"/>
          <p:cNvSpPr/>
          <p:nvPr/>
        </p:nvSpPr>
        <p:spPr>
          <a:xfrm>
            <a:off x="777240" y="1828800"/>
            <a:ext cx="3291840" cy="2148840"/>
          </a:xfrm>
          <a:prstGeom prst="roundRect">
            <a:avLst>
              <a:gd fmla="val 3404"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0"/>
          <p:cNvSpPr/>
          <p:nvPr/>
        </p:nvSpPr>
        <p:spPr>
          <a:xfrm>
            <a:off x="777240" y="1828800"/>
            <a:ext cx="54864" cy="21488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p:nvPr/>
        </p:nvSpPr>
        <p:spPr>
          <a:xfrm>
            <a:off x="941832" y="1975104"/>
            <a:ext cx="3017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Project idea</a:t>
            </a:r>
            <a:endParaRPr b="0" i="0" sz="1400" u="none" cap="none" strike="noStrike">
              <a:solidFill>
                <a:schemeClr val="dk1"/>
              </a:solidFill>
              <a:latin typeface="Arial"/>
              <a:ea typeface="Arial"/>
              <a:cs typeface="Arial"/>
              <a:sym typeface="Arial"/>
            </a:endParaRPr>
          </a:p>
        </p:txBody>
      </p:sp>
      <p:sp>
        <p:nvSpPr>
          <p:cNvPr id="184" name="Google Shape;184;p10"/>
          <p:cNvSpPr/>
          <p:nvPr/>
        </p:nvSpPr>
        <p:spPr>
          <a:xfrm>
            <a:off x="941832" y="2304288"/>
            <a:ext cx="2999232" cy="15819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Compare filter materials by how well they clean cloudy water.</a:t>
            </a:r>
            <a:endParaRPr b="0" i="0" sz="1350" u="none" cap="none" strike="noStrike">
              <a:solidFill>
                <a:schemeClr val="dk1"/>
              </a:solidFill>
              <a:latin typeface="Arial"/>
              <a:ea typeface="Arial"/>
              <a:cs typeface="Arial"/>
              <a:sym typeface="Arial"/>
            </a:endParaRPr>
          </a:p>
        </p:txBody>
      </p:sp>
      <p:sp>
        <p:nvSpPr>
          <p:cNvPr id="185" name="Google Shape;185;p10"/>
          <p:cNvSpPr/>
          <p:nvPr/>
        </p:nvSpPr>
        <p:spPr>
          <a:xfrm>
            <a:off x="4434840" y="1828800"/>
            <a:ext cx="3291840" cy="2148840"/>
          </a:xfrm>
          <a:prstGeom prst="roundRect">
            <a:avLst>
              <a:gd fmla="val 3404"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0"/>
          <p:cNvSpPr/>
          <p:nvPr/>
        </p:nvSpPr>
        <p:spPr>
          <a:xfrm>
            <a:off x="4434840" y="1828800"/>
            <a:ext cx="54864" cy="21488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0"/>
          <p:cNvSpPr/>
          <p:nvPr/>
        </p:nvSpPr>
        <p:spPr>
          <a:xfrm>
            <a:off x="4599432" y="1975104"/>
            <a:ext cx="3017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Pilot test reveals</a:t>
            </a:r>
            <a:endParaRPr b="0" i="0" sz="1400" u="none" cap="none" strike="noStrike">
              <a:solidFill>
                <a:schemeClr val="dk1"/>
              </a:solidFill>
              <a:latin typeface="Arial"/>
              <a:ea typeface="Arial"/>
              <a:cs typeface="Arial"/>
              <a:sym typeface="Arial"/>
            </a:endParaRPr>
          </a:p>
        </p:txBody>
      </p:sp>
      <p:sp>
        <p:nvSpPr>
          <p:cNvPr id="188" name="Google Shape;188;p10"/>
          <p:cNvSpPr/>
          <p:nvPr/>
        </p:nvSpPr>
        <p:spPr>
          <a:xfrm>
            <a:off x="4599432" y="2304288"/>
            <a:ext cx="2999232" cy="15819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“Looks clearer” is too subjective. Photos in different lighting give different results.</a:t>
            </a:r>
            <a:endParaRPr b="0" i="0" sz="1350" u="none" cap="none" strike="noStrike">
              <a:solidFill>
                <a:schemeClr val="dk1"/>
              </a:solidFill>
              <a:latin typeface="Arial"/>
              <a:ea typeface="Arial"/>
              <a:cs typeface="Arial"/>
              <a:sym typeface="Arial"/>
            </a:endParaRPr>
          </a:p>
        </p:txBody>
      </p:sp>
      <p:sp>
        <p:nvSpPr>
          <p:cNvPr id="189" name="Google Shape;189;p10"/>
          <p:cNvSpPr/>
          <p:nvPr/>
        </p:nvSpPr>
        <p:spPr>
          <a:xfrm>
            <a:off x="8092440" y="1828800"/>
            <a:ext cx="3291840" cy="2148840"/>
          </a:xfrm>
          <a:prstGeom prst="roundRect">
            <a:avLst>
              <a:gd fmla="val 3404"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0"/>
          <p:cNvSpPr/>
          <p:nvPr/>
        </p:nvSpPr>
        <p:spPr>
          <a:xfrm>
            <a:off x="8092440" y="1828800"/>
            <a:ext cx="54864" cy="21488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0"/>
          <p:cNvSpPr/>
          <p:nvPr/>
        </p:nvSpPr>
        <p:spPr>
          <a:xfrm>
            <a:off x="8257032" y="1975104"/>
            <a:ext cx="3017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Revision</a:t>
            </a:r>
            <a:endParaRPr b="0" i="0" sz="1400" u="none" cap="none" strike="noStrike">
              <a:solidFill>
                <a:schemeClr val="dk1"/>
              </a:solidFill>
              <a:latin typeface="Arial"/>
              <a:ea typeface="Arial"/>
              <a:cs typeface="Arial"/>
              <a:sym typeface="Arial"/>
            </a:endParaRPr>
          </a:p>
        </p:txBody>
      </p:sp>
      <p:sp>
        <p:nvSpPr>
          <p:cNvPr id="192" name="Google Shape;192;p10"/>
          <p:cNvSpPr/>
          <p:nvPr/>
        </p:nvSpPr>
        <p:spPr>
          <a:xfrm>
            <a:off x="8257032" y="2304288"/>
            <a:ext cx="2999232" cy="15819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Standardize the light source, container, camera angle, and turbidity scale.</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11"/>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1"/>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1"/>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1"/>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Example: Data Table Problem</a:t>
            </a:r>
            <a:endParaRPr b="0" i="0" sz="2700" u="none" cap="none" strike="noStrike">
              <a:solidFill>
                <a:schemeClr val="dk1"/>
              </a:solidFill>
              <a:latin typeface="Arial"/>
              <a:ea typeface="Arial"/>
              <a:cs typeface="Arial"/>
              <a:sym typeface="Arial"/>
            </a:endParaRPr>
          </a:p>
        </p:txBody>
      </p:sp>
      <p:sp>
        <p:nvSpPr>
          <p:cNvPr id="202" name="Google Shape;202;p11"/>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1"/>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204" name="Google Shape;204;p11"/>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205" name="Google Shape;205;p11"/>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08</a:t>
            </a:r>
            <a:endParaRPr b="0" i="0" sz="1000" u="none" cap="none" strike="noStrike">
              <a:solidFill>
                <a:schemeClr val="dk1"/>
              </a:solidFill>
              <a:latin typeface="Arial"/>
              <a:ea typeface="Arial"/>
              <a:cs typeface="Arial"/>
              <a:sym typeface="Arial"/>
            </a:endParaRPr>
          </a:p>
        </p:txBody>
      </p:sp>
      <p:sp>
        <p:nvSpPr>
          <p:cNvPr id="206" name="Google Shape;206;p11"/>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Bad data tables create bad analysis later.</a:t>
            </a:r>
            <a:endParaRPr b="0" i="0" sz="2000" u="none" cap="none" strike="noStrike">
              <a:solidFill>
                <a:schemeClr val="dk1"/>
              </a:solidFill>
              <a:latin typeface="Arial"/>
              <a:ea typeface="Arial"/>
              <a:cs typeface="Arial"/>
              <a:sym typeface="Arial"/>
            </a:endParaRPr>
          </a:p>
        </p:txBody>
      </p:sp>
      <p:sp>
        <p:nvSpPr>
          <p:cNvPr id="207" name="Google Shape;207;p11"/>
          <p:cNvSpPr/>
          <p:nvPr/>
        </p:nvSpPr>
        <p:spPr>
          <a:xfrm>
            <a:off x="914400" y="1920240"/>
            <a:ext cx="4206240" cy="1920240"/>
          </a:xfrm>
          <a:prstGeom prst="roundRect">
            <a:avLst>
              <a:gd fmla="val 381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1"/>
          <p:cNvSpPr/>
          <p:nvPr/>
        </p:nvSpPr>
        <p:spPr>
          <a:xfrm>
            <a:off x="914400" y="1920240"/>
            <a:ext cx="54864" cy="19202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1"/>
          <p:cNvSpPr/>
          <p:nvPr/>
        </p:nvSpPr>
        <p:spPr>
          <a:xfrm>
            <a:off x="1078992" y="2066544"/>
            <a:ext cx="39319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Original table</a:t>
            </a:r>
            <a:endParaRPr b="0" i="0" sz="1400" u="none" cap="none" strike="noStrike">
              <a:solidFill>
                <a:schemeClr val="dk1"/>
              </a:solidFill>
              <a:latin typeface="Arial"/>
              <a:ea typeface="Arial"/>
              <a:cs typeface="Arial"/>
              <a:sym typeface="Arial"/>
            </a:endParaRPr>
          </a:p>
        </p:txBody>
      </p:sp>
      <p:sp>
        <p:nvSpPr>
          <p:cNvPr id="210" name="Google Shape;210;p11"/>
          <p:cNvSpPr/>
          <p:nvPr/>
        </p:nvSpPr>
        <p:spPr>
          <a:xfrm>
            <a:off x="1078992" y="2395728"/>
            <a:ext cx="3913632" cy="13533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Trial 1: worked</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Trial 2: sort of worked</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Trial 3: weird</a:t>
            </a:r>
            <a:endParaRPr b="0" i="0" sz="1350" u="none" cap="none" strike="noStrike">
              <a:solidFill>
                <a:schemeClr val="dk1"/>
              </a:solidFill>
              <a:latin typeface="Arial"/>
              <a:ea typeface="Arial"/>
              <a:cs typeface="Arial"/>
              <a:sym typeface="Arial"/>
            </a:endParaRPr>
          </a:p>
        </p:txBody>
      </p:sp>
      <p:sp>
        <p:nvSpPr>
          <p:cNvPr id="211" name="Google Shape;211;p11"/>
          <p:cNvSpPr/>
          <p:nvPr/>
        </p:nvSpPr>
        <p:spPr>
          <a:xfrm>
            <a:off x="6400800" y="1920240"/>
            <a:ext cx="4206240" cy="1920240"/>
          </a:xfrm>
          <a:prstGeom prst="roundRect">
            <a:avLst>
              <a:gd fmla="val 3810"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1"/>
          <p:cNvSpPr/>
          <p:nvPr/>
        </p:nvSpPr>
        <p:spPr>
          <a:xfrm>
            <a:off x="6400800" y="1920240"/>
            <a:ext cx="54864" cy="19202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1"/>
          <p:cNvSpPr/>
          <p:nvPr/>
        </p:nvSpPr>
        <p:spPr>
          <a:xfrm>
            <a:off x="6565392" y="2066544"/>
            <a:ext cx="39319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Revised table needs</a:t>
            </a:r>
            <a:endParaRPr b="0" i="0" sz="1400" u="none" cap="none" strike="noStrike">
              <a:solidFill>
                <a:schemeClr val="dk1"/>
              </a:solidFill>
              <a:latin typeface="Arial"/>
              <a:ea typeface="Arial"/>
              <a:cs typeface="Arial"/>
              <a:sym typeface="Arial"/>
            </a:endParaRPr>
          </a:p>
        </p:txBody>
      </p:sp>
      <p:sp>
        <p:nvSpPr>
          <p:cNvPr id="214" name="Google Shape;214;p11"/>
          <p:cNvSpPr/>
          <p:nvPr/>
        </p:nvSpPr>
        <p:spPr>
          <a:xfrm>
            <a:off x="6565392" y="2395728"/>
            <a:ext cx="3913632" cy="13533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condition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measurement value</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units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trial number</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observation notes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unusual event flag</a:t>
            </a:r>
            <a:endParaRPr b="0" i="0" sz="1350" u="none" cap="none" strike="noStrike">
              <a:solidFill>
                <a:schemeClr val="dk1"/>
              </a:solidFill>
              <a:latin typeface="Arial"/>
              <a:ea typeface="Arial"/>
              <a:cs typeface="Arial"/>
              <a:sym typeface="Arial"/>
            </a:endParaRPr>
          </a:p>
        </p:txBody>
      </p:sp>
      <p:sp>
        <p:nvSpPr>
          <p:cNvPr id="215" name="Google Shape;215;p11"/>
          <p:cNvSpPr/>
          <p:nvPr/>
        </p:nvSpPr>
        <p:spPr>
          <a:xfrm>
            <a:off x="594360" y="4956048"/>
            <a:ext cx="11018520" cy="987552"/>
          </a:xfrm>
          <a:prstGeom prst="roundRect">
            <a:avLst>
              <a:gd fmla="val 7407" name="adj"/>
            </a:avLst>
          </a:prstGeom>
          <a:solidFill>
            <a:srgbClr val="0A0A0A"/>
          </a:solidFill>
          <a:ln cap="flat" cmpd="sng" w="10150">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1"/>
          <p:cNvSpPr/>
          <p:nvPr/>
        </p:nvSpPr>
        <p:spPr>
          <a:xfrm>
            <a:off x="594360" y="4956048"/>
            <a:ext cx="1600200" cy="987552"/>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11"/>
          <p:cNvSpPr/>
          <p:nvPr/>
        </p:nvSpPr>
        <p:spPr>
          <a:xfrm>
            <a:off x="758952" y="5166360"/>
            <a:ext cx="1280160" cy="493776"/>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STUDENT</a:t>
            </a:r>
            <a:endParaRPr b="0" i="0" sz="11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ACTIVITY</a:t>
            </a:r>
            <a:endParaRPr b="0" i="0" sz="1100" u="none" cap="none" strike="noStrike">
              <a:solidFill>
                <a:schemeClr val="dk1"/>
              </a:solidFill>
              <a:latin typeface="Arial"/>
              <a:ea typeface="Arial"/>
              <a:cs typeface="Arial"/>
              <a:sym typeface="Arial"/>
            </a:endParaRPr>
          </a:p>
        </p:txBody>
      </p:sp>
      <p:sp>
        <p:nvSpPr>
          <p:cNvPr id="218" name="Google Shape;218;p11"/>
          <p:cNvSpPr/>
          <p:nvPr/>
        </p:nvSpPr>
        <p:spPr>
          <a:xfrm>
            <a:off x="2395728" y="5074920"/>
            <a:ext cx="3108960" cy="25603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Activity prompt</a:t>
            </a:r>
            <a:endParaRPr b="0" i="0" sz="1500" u="none" cap="none" strike="noStrike">
              <a:solidFill>
                <a:schemeClr val="dk1"/>
              </a:solidFill>
              <a:latin typeface="Arial"/>
              <a:ea typeface="Arial"/>
              <a:cs typeface="Arial"/>
              <a:sym typeface="Arial"/>
            </a:endParaRPr>
          </a:p>
        </p:txBody>
      </p:sp>
      <p:sp>
        <p:nvSpPr>
          <p:cNvPr id="219" name="Google Shape;219;p11"/>
          <p:cNvSpPr/>
          <p:nvPr/>
        </p:nvSpPr>
        <p:spPr>
          <a:xfrm>
            <a:off x="5486400" y="5056632"/>
            <a:ext cx="5806440" cy="62179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250"/>
              <a:buFont typeface="Arial"/>
              <a:buNone/>
            </a:pPr>
            <a:r>
              <a:rPr b="0" i="0" lang="en-US" sz="1250" u="none" cap="none" strike="noStrike">
                <a:solidFill>
                  <a:srgbClr val="B5B5B5"/>
                </a:solidFill>
                <a:latin typeface="Arial"/>
                <a:ea typeface="Arial"/>
                <a:cs typeface="Arial"/>
                <a:sym typeface="Arial"/>
              </a:rPr>
              <a:t>What column is missing from your table? Check your planned data table before any pilot test begins.</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12"/>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2"/>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2"/>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Example: Prototype or Design Problem</a:t>
            </a:r>
            <a:endParaRPr b="0" i="0" sz="2700" u="none" cap="none" strike="noStrike">
              <a:solidFill>
                <a:schemeClr val="dk1"/>
              </a:solidFill>
              <a:latin typeface="Arial"/>
              <a:ea typeface="Arial"/>
              <a:cs typeface="Arial"/>
              <a:sym typeface="Arial"/>
            </a:endParaRPr>
          </a:p>
        </p:txBody>
      </p:sp>
      <p:sp>
        <p:nvSpPr>
          <p:cNvPr id="229" name="Google Shape;229;p12"/>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2"/>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231" name="Google Shape;231;p12"/>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232" name="Google Shape;232;p12"/>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09</a:t>
            </a:r>
            <a:endParaRPr b="0" i="0" sz="1000" u="none" cap="none" strike="noStrike">
              <a:solidFill>
                <a:schemeClr val="dk1"/>
              </a:solidFill>
              <a:latin typeface="Arial"/>
              <a:ea typeface="Arial"/>
              <a:cs typeface="Arial"/>
              <a:sym typeface="Arial"/>
            </a:endParaRPr>
          </a:p>
        </p:txBody>
      </p:sp>
      <p:sp>
        <p:nvSpPr>
          <p:cNvPr id="233" name="Google Shape;233;p12"/>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A prototype failure can become useful evidence.</a:t>
            </a:r>
            <a:endParaRPr b="0" i="0" sz="2000" u="none" cap="none" strike="noStrike">
              <a:solidFill>
                <a:schemeClr val="dk1"/>
              </a:solidFill>
              <a:latin typeface="Arial"/>
              <a:ea typeface="Arial"/>
              <a:cs typeface="Arial"/>
              <a:sym typeface="Arial"/>
            </a:endParaRPr>
          </a:p>
        </p:txBody>
      </p:sp>
      <p:sp>
        <p:nvSpPr>
          <p:cNvPr id="234" name="Google Shape;234;p12"/>
          <p:cNvSpPr/>
          <p:nvPr/>
        </p:nvSpPr>
        <p:spPr>
          <a:xfrm>
            <a:off x="777240" y="1828800"/>
            <a:ext cx="3291840" cy="2057400"/>
          </a:xfrm>
          <a:prstGeom prst="roundRect">
            <a:avLst>
              <a:gd fmla="val 3556"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2"/>
          <p:cNvSpPr/>
          <p:nvPr/>
        </p:nvSpPr>
        <p:spPr>
          <a:xfrm>
            <a:off x="777240" y="1828800"/>
            <a:ext cx="54864" cy="20574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2"/>
          <p:cNvSpPr/>
          <p:nvPr/>
        </p:nvSpPr>
        <p:spPr>
          <a:xfrm>
            <a:off x="941832" y="1975104"/>
            <a:ext cx="3017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Engineering project</a:t>
            </a:r>
            <a:endParaRPr b="0" i="0" sz="1400" u="none" cap="none" strike="noStrike">
              <a:solidFill>
                <a:schemeClr val="dk1"/>
              </a:solidFill>
              <a:latin typeface="Arial"/>
              <a:ea typeface="Arial"/>
              <a:cs typeface="Arial"/>
              <a:sym typeface="Arial"/>
            </a:endParaRPr>
          </a:p>
        </p:txBody>
      </p:sp>
      <p:sp>
        <p:nvSpPr>
          <p:cNvPr id="237" name="Google Shape;237;p12"/>
          <p:cNvSpPr/>
          <p:nvPr/>
        </p:nvSpPr>
        <p:spPr>
          <a:xfrm>
            <a:off x="941832" y="2304288"/>
            <a:ext cx="2999232" cy="14904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Design a lightweight bridge beam that supports maximum load per gram.</a:t>
            </a:r>
            <a:endParaRPr b="0" i="0" sz="1350" u="none" cap="none" strike="noStrike">
              <a:solidFill>
                <a:schemeClr val="dk1"/>
              </a:solidFill>
              <a:latin typeface="Arial"/>
              <a:ea typeface="Arial"/>
              <a:cs typeface="Arial"/>
              <a:sym typeface="Arial"/>
            </a:endParaRPr>
          </a:p>
        </p:txBody>
      </p:sp>
      <p:sp>
        <p:nvSpPr>
          <p:cNvPr id="238" name="Google Shape;238;p12"/>
          <p:cNvSpPr/>
          <p:nvPr/>
        </p:nvSpPr>
        <p:spPr>
          <a:xfrm>
            <a:off x="4434840" y="1828800"/>
            <a:ext cx="3291840" cy="2057400"/>
          </a:xfrm>
          <a:prstGeom prst="roundRect">
            <a:avLst>
              <a:gd fmla="val 3556"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2"/>
          <p:cNvSpPr/>
          <p:nvPr/>
        </p:nvSpPr>
        <p:spPr>
          <a:xfrm>
            <a:off x="4434840" y="1828800"/>
            <a:ext cx="54864" cy="20574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2"/>
          <p:cNvSpPr/>
          <p:nvPr/>
        </p:nvSpPr>
        <p:spPr>
          <a:xfrm>
            <a:off x="4599432" y="1975104"/>
            <a:ext cx="3017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Pilot test reveals</a:t>
            </a:r>
            <a:endParaRPr b="0" i="0" sz="1400" u="none" cap="none" strike="noStrike">
              <a:solidFill>
                <a:schemeClr val="dk1"/>
              </a:solidFill>
              <a:latin typeface="Arial"/>
              <a:ea typeface="Arial"/>
              <a:cs typeface="Arial"/>
              <a:sym typeface="Arial"/>
            </a:endParaRPr>
          </a:p>
        </p:txBody>
      </p:sp>
      <p:sp>
        <p:nvSpPr>
          <p:cNvPr id="241" name="Google Shape;241;p12"/>
          <p:cNvSpPr/>
          <p:nvPr/>
        </p:nvSpPr>
        <p:spPr>
          <a:xfrm>
            <a:off x="4599432" y="2304288"/>
            <a:ext cx="2999232" cy="14904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The beam fails at the clamp before the middle of the span is tested.</a:t>
            </a:r>
            <a:endParaRPr b="0" i="0" sz="1350" u="none" cap="none" strike="noStrike">
              <a:solidFill>
                <a:schemeClr val="dk1"/>
              </a:solidFill>
              <a:latin typeface="Arial"/>
              <a:ea typeface="Arial"/>
              <a:cs typeface="Arial"/>
              <a:sym typeface="Arial"/>
            </a:endParaRPr>
          </a:p>
        </p:txBody>
      </p:sp>
      <p:sp>
        <p:nvSpPr>
          <p:cNvPr id="242" name="Google Shape;242;p12"/>
          <p:cNvSpPr/>
          <p:nvPr/>
        </p:nvSpPr>
        <p:spPr>
          <a:xfrm>
            <a:off x="8092440" y="1828800"/>
            <a:ext cx="3291840" cy="2057400"/>
          </a:xfrm>
          <a:prstGeom prst="roundRect">
            <a:avLst>
              <a:gd fmla="val 3556"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2"/>
          <p:cNvSpPr/>
          <p:nvPr/>
        </p:nvSpPr>
        <p:spPr>
          <a:xfrm>
            <a:off x="8092440" y="1828800"/>
            <a:ext cx="54864" cy="20574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2"/>
          <p:cNvSpPr/>
          <p:nvPr/>
        </p:nvSpPr>
        <p:spPr>
          <a:xfrm>
            <a:off x="8257032" y="1975104"/>
            <a:ext cx="3017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Responsible revision</a:t>
            </a:r>
            <a:endParaRPr b="0" i="0" sz="1400" u="none" cap="none" strike="noStrike">
              <a:solidFill>
                <a:schemeClr val="dk1"/>
              </a:solidFill>
              <a:latin typeface="Arial"/>
              <a:ea typeface="Arial"/>
              <a:cs typeface="Arial"/>
              <a:sym typeface="Arial"/>
            </a:endParaRPr>
          </a:p>
        </p:txBody>
      </p:sp>
      <p:sp>
        <p:nvSpPr>
          <p:cNvPr id="245" name="Google Shape;245;p12"/>
          <p:cNvSpPr/>
          <p:nvPr/>
        </p:nvSpPr>
        <p:spPr>
          <a:xfrm>
            <a:off x="8257032" y="2304288"/>
            <a:ext cx="2999232" cy="14904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Revise the test fixture so the studied part fails, not the clamp.</a:t>
            </a:r>
            <a:endParaRPr b="0" i="0" sz="1350" u="none" cap="none" strike="noStrike">
              <a:solidFill>
                <a:schemeClr val="dk1"/>
              </a:solidFill>
              <a:latin typeface="Arial"/>
              <a:ea typeface="Arial"/>
              <a:cs typeface="Arial"/>
              <a:sym typeface="Arial"/>
            </a:endParaRPr>
          </a:p>
        </p:txBody>
      </p:sp>
      <p:sp>
        <p:nvSpPr>
          <p:cNvPr id="246" name="Google Shape;246;p12"/>
          <p:cNvSpPr/>
          <p:nvPr/>
        </p:nvSpPr>
        <p:spPr>
          <a:xfrm>
            <a:off x="914400" y="4572000"/>
            <a:ext cx="10241280" cy="32004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Document the failed pilot. Do not pretend it never happened.</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13"/>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3"/>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3"/>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3"/>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Planning a Pilot Test</a:t>
            </a:r>
            <a:endParaRPr b="0" i="0" sz="2700" u="none" cap="none" strike="noStrike">
              <a:solidFill>
                <a:schemeClr val="dk1"/>
              </a:solidFill>
              <a:latin typeface="Arial"/>
              <a:ea typeface="Arial"/>
              <a:cs typeface="Arial"/>
              <a:sym typeface="Arial"/>
            </a:endParaRPr>
          </a:p>
        </p:txBody>
      </p:sp>
      <p:sp>
        <p:nvSpPr>
          <p:cNvPr id="256" name="Google Shape;256;p13"/>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3"/>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258" name="Google Shape;258;p13"/>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259" name="Google Shape;259;p13"/>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10</a:t>
            </a:r>
            <a:endParaRPr b="0" i="0" sz="1000" u="none" cap="none" strike="noStrike">
              <a:solidFill>
                <a:schemeClr val="dk1"/>
              </a:solidFill>
              <a:latin typeface="Arial"/>
              <a:ea typeface="Arial"/>
              <a:cs typeface="Arial"/>
              <a:sym typeface="Arial"/>
            </a:endParaRPr>
          </a:p>
        </p:txBody>
      </p:sp>
      <p:sp>
        <p:nvSpPr>
          <p:cNvPr id="260" name="Google Shape;260;p13"/>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A good pilot test has a narrow purpose.</a:t>
            </a:r>
            <a:endParaRPr b="0" i="0" sz="2000" u="none" cap="none" strike="noStrike">
              <a:solidFill>
                <a:schemeClr val="dk1"/>
              </a:solidFill>
              <a:latin typeface="Arial"/>
              <a:ea typeface="Arial"/>
              <a:cs typeface="Arial"/>
              <a:sym typeface="Arial"/>
            </a:endParaRPr>
          </a:p>
        </p:txBody>
      </p:sp>
      <p:sp>
        <p:nvSpPr>
          <p:cNvPr id="261" name="Google Shape;261;p13"/>
          <p:cNvSpPr/>
          <p:nvPr/>
        </p:nvSpPr>
        <p:spPr>
          <a:xfrm>
            <a:off x="822960" y="1874520"/>
            <a:ext cx="10058400" cy="27432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900"/>
              <a:buFont typeface="Arial"/>
              <a:buNone/>
            </a:pPr>
            <a:r>
              <a:rPr b="1" i="0" lang="en-US" sz="1900" u="none" cap="none" strike="noStrike">
                <a:solidFill>
                  <a:srgbClr val="FFFFFF"/>
                </a:solidFill>
                <a:latin typeface="Arial"/>
                <a:ea typeface="Arial"/>
                <a:cs typeface="Arial"/>
                <a:sym typeface="Arial"/>
              </a:rPr>
              <a:t>Before testing, students should be able to answer:</a:t>
            </a:r>
            <a:endParaRPr b="0" i="0" sz="1900" u="none" cap="none" strike="noStrike">
              <a:solidFill>
                <a:schemeClr val="dk1"/>
              </a:solidFill>
              <a:latin typeface="Arial"/>
              <a:ea typeface="Arial"/>
              <a:cs typeface="Arial"/>
              <a:sym typeface="Arial"/>
            </a:endParaRPr>
          </a:p>
        </p:txBody>
      </p:sp>
      <p:sp>
        <p:nvSpPr>
          <p:cNvPr id="262" name="Google Shape;262;p13"/>
          <p:cNvSpPr/>
          <p:nvPr/>
        </p:nvSpPr>
        <p:spPr>
          <a:xfrm>
            <a:off x="1005840" y="2359152"/>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500"/>
              <a:buFont typeface="Arial"/>
              <a:buNone/>
            </a:pPr>
            <a:r>
              <a:rPr b="1" i="0" lang="en-US" sz="1500" u="none" cap="none" strike="noStrike">
                <a:solidFill>
                  <a:srgbClr val="E32621"/>
                </a:solidFill>
                <a:latin typeface="Arial"/>
                <a:ea typeface="Arial"/>
                <a:cs typeface="Arial"/>
                <a:sym typeface="Arial"/>
              </a:rPr>
              <a:t>1.</a:t>
            </a:r>
            <a:endParaRPr b="0" i="0" sz="1500" u="none" cap="none" strike="noStrike">
              <a:solidFill>
                <a:schemeClr val="dk1"/>
              </a:solidFill>
              <a:latin typeface="Arial"/>
              <a:ea typeface="Arial"/>
              <a:cs typeface="Arial"/>
              <a:sym typeface="Arial"/>
            </a:endParaRPr>
          </a:p>
        </p:txBody>
      </p:sp>
      <p:sp>
        <p:nvSpPr>
          <p:cNvPr id="263" name="Google Shape;263;p13"/>
          <p:cNvSpPr/>
          <p:nvPr/>
        </p:nvSpPr>
        <p:spPr>
          <a:xfrm>
            <a:off x="1417320" y="2359152"/>
            <a:ext cx="94183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600"/>
              <a:buFont typeface="Arial"/>
              <a:buNone/>
            </a:pPr>
            <a:r>
              <a:rPr b="0" i="0" lang="en-US" sz="1600" u="none" cap="none" strike="noStrike">
                <a:solidFill>
                  <a:srgbClr val="B5B5B5"/>
                </a:solidFill>
                <a:latin typeface="Arial"/>
                <a:ea typeface="Arial"/>
                <a:cs typeface="Arial"/>
                <a:sym typeface="Arial"/>
              </a:rPr>
              <a:t>What part of the method am I testing?</a:t>
            </a:r>
            <a:endParaRPr b="0" i="0" sz="1600" u="none" cap="none" strike="noStrike">
              <a:solidFill>
                <a:schemeClr val="dk1"/>
              </a:solidFill>
              <a:latin typeface="Arial"/>
              <a:ea typeface="Arial"/>
              <a:cs typeface="Arial"/>
              <a:sym typeface="Arial"/>
            </a:endParaRPr>
          </a:p>
        </p:txBody>
      </p:sp>
      <p:sp>
        <p:nvSpPr>
          <p:cNvPr id="264" name="Google Shape;264;p13"/>
          <p:cNvSpPr/>
          <p:nvPr/>
        </p:nvSpPr>
        <p:spPr>
          <a:xfrm>
            <a:off x="1005840" y="2834640"/>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500"/>
              <a:buFont typeface="Arial"/>
              <a:buNone/>
            </a:pPr>
            <a:r>
              <a:rPr b="1" i="0" lang="en-US" sz="1500" u="none" cap="none" strike="noStrike">
                <a:solidFill>
                  <a:srgbClr val="E32621"/>
                </a:solidFill>
                <a:latin typeface="Arial"/>
                <a:ea typeface="Arial"/>
                <a:cs typeface="Arial"/>
                <a:sym typeface="Arial"/>
              </a:rPr>
              <a:t>2.</a:t>
            </a:r>
            <a:endParaRPr b="0" i="0" sz="1500" u="none" cap="none" strike="noStrike">
              <a:solidFill>
                <a:schemeClr val="dk1"/>
              </a:solidFill>
              <a:latin typeface="Arial"/>
              <a:ea typeface="Arial"/>
              <a:cs typeface="Arial"/>
              <a:sym typeface="Arial"/>
            </a:endParaRPr>
          </a:p>
        </p:txBody>
      </p:sp>
      <p:sp>
        <p:nvSpPr>
          <p:cNvPr id="265" name="Google Shape;265;p13"/>
          <p:cNvSpPr/>
          <p:nvPr/>
        </p:nvSpPr>
        <p:spPr>
          <a:xfrm>
            <a:off x="1417320" y="2834640"/>
            <a:ext cx="94183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600"/>
              <a:buFont typeface="Arial"/>
              <a:buNone/>
            </a:pPr>
            <a:r>
              <a:rPr b="0" i="0" lang="en-US" sz="1600" u="none" cap="none" strike="noStrike">
                <a:solidFill>
                  <a:srgbClr val="B5B5B5"/>
                </a:solidFill>
                <a:latin typeface="Arial"/>
                <a:ea typeface="Arial"/>
                <a:cs typeface="Arial"/>
                <a:sym typeface="Arial"/>
              </a:rPr>
              <a:t>What data or observations will I record?</a:t>
            </a:r>
            <a:endParaRPr b="0" i="0" sz="1600" u="none" cap="none" strike="noStrike">
              <a:solidFill>
                <a:schemeClr val="dk1"/>
              </a:solidFill>
              <a:latin typeface="Arial"/>
              <a:ea typeface="Arial"/>
              <a:cs typeface="Arial"/>
              <a:sym typeface="Arial"/>
            </a:endParaRPr>
          </a:p>
        </p:txBody>
      </p:sp>
      <p:sp>
        <p:nvSpPr>
          <p:cNvPr id="266" name="Google Shape;266;p13"/>
          <p:cNvSpPr/>
          <p:nvPr/>
        </p:nvSpPr>
        <p:spPr>
          <a:xfrm>
            <a:off x="1005840" y="3310128"/>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500"/>
              <a:buFont typeface="Arial"/>
              <a:buNone/>
            </a:pPr>
            <a:r>
              <a:rPr b="1" i="0" lang="en-US" sz="1500" u="none" cap="none" strike="noStrike">
                <a:solidFill>
                  <a:srgbClr val="E32621"/>
                </a:solidFill>
                <a:latin typeface="Arial"/>
                <a:ea typeface="Arial"/>
                <a:cs typeface="Arial"/>
                <a:sym typeface="Arial"/>
              </a:rPr>
              <a:t>3.</a:t>
            </a:r>
            <a:endParaRPr b="0" i="0" sz="1500" u="none" cap="none" strike="noStrike">
              <a:solidFill>
                <a:schemeClr val="dk1"/>
              </a:solidFill>
              <a:latin typeface="Arial"/>
              <a:ea typeface="Arial"/>
              <a:cs typeface="Arial"/>
              <a:sym typeface="Arial"/>
            </a:endParaRPr>
          </a:p>
        </p:txBody>
      </p:sp>
      <p:sp>
        <p:nvSpPr>
          <p:cNvPr id="267" name="Google Shape;267;p13"/>
          <p:cNvSpPr/>
          <p:nvPr/>
        </p:nvSpPr>
        <p:spPr>
          <a:xfrm>
            <a:off x="1417320" y="3310128"/>
            <a:ext cx="94183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600"/>
              <a:buFont typeface="Arial"/>
              <a:buNone/>
            </a:pPr>
            <a:r>
              <a:rPr b="0" i="0" lang="en-US" sz="1600" u="none" cap="none" strike="noStrike">
                <a:solidFill>
                  <a:srgbClr val="B5B5B5"/>
                </a:solidFill>
                <a:latin typeface="Arial"/>
                <a:ea typeface="Arial"/>
                <a:cs typeface="Arial"/>
                <a:sym typeface="Arial"/>
              </a:rPr>
              <a:t>What would count as a warning sign?</a:t>
            </a:r>
            <a:endParaRPr b="0" i="0" sz="1600" u="none" cap="none" strike="noStrike">
              <a:solidFill>
                <a:schemeClr val="dk1"/>
              </a:solidFill>
              <a:latin typeface="Arial"/>
              <a:ea typeface="Arial"/>
              <a:cs typeface="Arial"/>
              <a:sym typeface="Arial"/>
            </a:endParaRPr>
          </a:p>
        </p:txBody>
      </p:sp>
      <p:sp>
        <p:nvSpPr>
          <p:cNvPr id="268" name="Google Shape;268;p13"/>
          <p:cNvSpPr/>
          <p:nvPr/>
        </p:nvSpPr>
        <p:spPr>
          <a:xfrm>
            <a:off x="1005840" y="3785616"/>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500"/>
              <a:buFont typeface="Arial"/>
              <a:buNone/>
            </a:pPr>
            <a:r>
              <a:rPr b="1" i="0" lang="en-US" sz="1500" u="none" cap="none" strike="noStrike">
                <a:solidFill>
                  <a:srgbClr val="E32621"/>
                </a:solidFill>
                <a:latin typeface="Arial"/>
                <a:ea typeface="Arial"/>
                <a:cs typeface="Arial"/>
                <a:sym typeface="Arial"/>
              </a:rPr>
              <a:t>4.</a:t>
            </a:r>
            <a:endParaRPr b="0" i="0" sz="1500" u="none" cap="none" strike="noStrike">
              <a:solidFill>
                <a:schemeClr val="dk1"/>
              </a:solidFill>
              <a:latin typeface="Arial"/>
              <a:ea typeface="Arial"/>
              <a:cs typeface="Arial"/>
              <a:sym typeface="Arial"/>
            </a:endParaRPr>
          </a:p>
        </p:txBody>
      </p:sp>
      <p:sp>
        <p:nvSpPr>
          <p:cNvPr id="269" name="Google Shape;269;p13"/>
          <p:cNvSpPr/>
          <p:nvPr/>
        </p:nvSpPr>
        <p:spPr>
          <a:xfrm>
            <a:off x="1417320" y="3785616"/>
            <a:ext cx="94183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600"/>
              <a:buFont typeface="Arial"/>
              <a:buNone/>
            </a:pPr>
            <a:r>
              <a:rPr b="0" i="0" lang="en-US" sz="1600" u="none" cap="none" strike="noStrike">
                <a:solidFill>
                  <a:srgbClr val="B5B5B5"/>
                </a:solidFill>
                <a:latin typeface="Arial"/>
                <a:ea typeface="Arial"/>
                <a:cs typeface="Arial"/>
                <a:sym typeface="Arial"/>
              </a:rPr>
              <a:t>What safety precautions are required?</a:t>
            </a:r>
            <a:endParaRPr b="0" i="0" sz="1600" u="none" cap="none" strike="noStrike">
              <a:solidFill>
                <a:schemeClr val="dk1"/>
              </a:solidFill>
              <a:latin typeface="Arial"/>
              <a:ea typeface="Arial"/>
              <a:cs typeface="Arial"/>
              <a:sym typeface="Arial"/>
            </a:endParaRPr>
          </a:p>
        </p:txBody>
      </p:sp>
      <p:sp>
        <p:nvSpPr>
          <p:cNvPr id="270" name="Google Shape;270;p13"/>
          <p:cNvSpPr/>
          <p:nvPr/>
        </p:nvSpPr>
        <p:spPr>
          <a:xfrm>
            <a:off x="1005840" y="4261104"/>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500"/>
              <a:buFont typeface="Arial"/>
              <a:buNone/>
            </a:pPr>
            <a:r>
              <a:rPr b="1" i="0" lang="en-US" sz="1500" u="none" cap="none" strike="noStrike">
                <a:solidFill>
                  <a:srgbClr val="E32621"/>
                </a:solidFill>
                <a:latin typeface="Arial"/>
                <a:ea typeface="Arial"/>
                <a:cs typeface="Arial"/>
                <a:sym typeface="Arial"/>
              </a:rPr>
              <a:t>5.</a:t>
            </a:r>
            <a:endParaRPr b="0" i="0" sz="1500" u="none" cap="none" strike="noStrike">
              <a:solidFill>
                <a:schemeClr val="dk1"/>
              </a:solidFill>
              <a:latin typeface="Arial"/>
              <a:ea typeface="Arial"/>
              <a:cs typeface="Arial"/>
              <a:sym typeface="Arial"/>
            </a:endParaRPr>
          </a:p>
        </p:txBody>
      </p:sp>
      <p:sp>
        <p:nvSpPr>
          <p:cNvPr id="271" name="Google Shape;271;p13"/>
          <p:cNvSpPr/>
          <p:nvPr/>
        </p:nvSpPr>
        <p:spPr>
          <a:xfrm>
            <a:off x="1417320" y="4261104"/>
            <a:ext cx="94183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600"/>
              <a:buFont typeface="Arial"/>
              <a:buNone/>
            </a:pPr>
            <a:r>
              <a:rPr b="0" i="0" lang="en-US" sz="1600" u="none" cap="none" strike="noStrike">
                <a:solidFill>
                  <a:srgbClr val="B5B5B5"/>
                </a:solidFill>
                <a:latin typeface="Arial"/>
                <a:ea typeface="Arial"/>
                <a:cs typeface="Arial"/>
                <a:sym typeface="Arial"/>
              </a:rPr>
              <a:t>What decision will I make afterward?</a:t>
            </a:r>
            <a:endParaRPr b="0" i="0" sz="1600" u="none" cap="none" strike="noStrike">
              <a:solidFill>
                <a:schemeClr val="dk1"/>
              </a:solidFill>
              <a:latin typeface="Arial"/>
              <a:ea typeface="Arial"/>
              <a:cs typeface="Arial"/>
              <a:sym typeface="Arial"/>
            </a:endParaRPr>
          </a:p>
        </p:txBody>
      </p:sp>
      <p:sp>
        <p:nvSpPr>
          <p:cNvPr id="272" name="Google Shape;272;p13"/>
          <p:cNvSpPr/>
          <p:nvPr/>
        </p:nvSpPr>
        <p:spPr>
          <a:xfrm>
            <a:off x="3566160" y="5193792"/>
            <a:ext cx="5074920" cy="41148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3"/>
          <p:cNvSpPr/>
          <p:nvPr/>
        </p:nvSpPr>
        <p:spPr>
          <a:xfrm>
            <a:off x="3703320" y="5285232"/>
            <a:ext cx="4800600" cy="18288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1200"/>
              <a:buFont typeface="Arial"/>
              <a:buNone/>
            </a:pPr>
            <a:r>
              <a:rPr b="1" i="0" lang="en-US" sz="1200" u="none" cap="none" strike="noStrike">
                <a:solidFill>
                  <a:srgbClr val="FFFFFF"/>
                </a:solidFill>
                <a:latin typeface="Arial"/>
                <a:ea typeface="Arial"/>
                <a:cs typeface="Arial"/>
                <a:sym typeface="Arial"/>
              </a:rPr>
              <a:t>STUDENT HANDOUT 1: PILOT TEST PLAN</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14"/>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4"/>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4"/>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4"/>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Student Activity: Pilot Test Draft</a:t>
            </a:r>
            <a:endParaRPr b="0" i="0" sz="2700" u="none" cap="none" strike="noStrike">
              <a:solidFill>
                <a:schemeClr val="dk1"/>
              </a:solidFill>
              <a:latin typeface="Arial"/>
              <a:ea typeface="Arial"/>
              <a:cs typeface="Arial"/>
              <a:sym typeface="Arial"/>
            </a:endParaRPr>
          </a:p>
        </p:txBody>
      </p:sp>
      <p:sp>
        <p:nvSpPr>
          <p:cNvPr id="283" name="Google Shape;283;p14"/>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4"/>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285" name="Google Shape;285;p14"/>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286" name="Google Shape;286;p14"/>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11</a:t>
            </a:r>
            <a:endParaRPr b="0" i="0" sz="1000" u="none" cap="none" strike="noStrike">
              <a:solidFill>
                <a:schemeClr val="dk1"/>
              </a:solidFill>
              <a:latin typeface="Arial"/>
              <a:ea typeface="Arial"/>
              <a:cs typeface="Arial"/>
              <a:sym typeface="Arial"/>
            </a:endParaRPr>
          </a:p>
        </p:txBody>
      </p:sp>
      <p:sp>
        <p:nvSpPr>
          <p:cNvPr id="287" name="Google Shape;287;p14"/>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Write a small-scale test that can happen before full data collection.</a:t>
            </a:r>
            <a:endParaRPr b="0" i="0" sz="2000" u="none" cap="none" strike="noStrike">
              <a:solidFill>
                <a:schemeClr val="dk1"/>
              </a:solidFill>
              <a:latin typeface="Arial"/>
              <a:ea typeface="Arial"/>
              <a:cs typeface="Arial"/>
              <a:sym typeface="Arial"/>
            </a:endParaRPr>
          </a:p>
        </p:txBody>
      </p:sp>
      <p:sp>
        <p:nvSpPr>
          <p:cNvPr id="288" name="Google Shape;288;p14"/>
          <p:cNvSpPr/>
          <p:nvPr/>
        </p:nvSpPr>
        <p:spPr>
          <a:xfrm>
            <a:off x="822960" y="1874520"/>
            <a:ext cx="4754880" cy="2697480"/>
          </a:xfrm>
          <a:prstGeom prst="roundRect">
            <a:avLst>
              <a:gd fmla="val 2712"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4"/>
          <p:cNvSpPr/>
          <p:nvPr/>
        </p:nvSpPr>
        <p:spPr>
          <a:xfrm>
            <a:off x="822960" y="1874520"/>
            <a:ext cx="54864" cy="269748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4"/>
          <p:cNvSpPr/>
          <p:nvPr/>
        </p:nvSpPr>
        <p:spPr>
          <a:xfrm>
            <a:off x="987552" y="2020824"/>
            <a:ext cx="448056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In your project team or individually:</a:t>
            </a:r>
            <a:endParaRPr b="0" i="0" sz="1400" u="none" cap="none" strike="noStrike">
              <a:solidFill>
                <a:schemeClr val="dk1"/>
              </a:solidFill>
              <a:latin typeface="Arial"/>
              <a:ea typeface="Arial"/>
              <a:cs typeface="Arial"/>
              <a:sym typeface="Arial"/>
            </a:endParaRPr>
          </a:p>
        </p:txBody>
      </p:sp>
      <p:sp>
        <p:nvSpPr>
          <p:cNvPr id="291" name="Google Shape;291;p14"/>
          <p:cNvSpPr/>
          <p:nvPr/>
        </p:nvSpPr>
        <p:spPr>
          <a:xfrm>
            <a:off x="987552" y="2350008"/>
            <a:ext cx="4462272" cy="213055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choose one part of your method to test</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define what you will record</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predict one thing that might go wrong</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decide what approval or safety check is needed</a:t>
            </a:r>
            <a:endParaRPr b="0" i="0" sz="1350" u="none" cap="none" strike="noStrike">
              <a:solidFill>
                <a:schemeClr val="dk1"/>
              </a:solidFill>
              <a:latin typeface="Arial"/>
              <a:ea typeface="Arial"/>
              <a:cs typeface="Arial"/>
              <a:sym typeface="Arial"/>
            </a:endParaRPr>
          </a:p>
        </p:txBody>
      </p:sp>
      <p:sp>
        <p:nvSpPr>
          <p:cNvPr id="292" name="Google Shape;292;p14"/>
          <p:cNvSpPr/>
          <p:nvPr/>
        </p:nvSpPr>
        <p:spPr>
          <a:xfrm>
            <a:off x="6492240" y="1874520"/>
            <a:ext cx="4480560" cy="2697480"/>
          </a:xfrm>
          <a:prstGeom prst="roundRect">
            <a:avLst>
              <a:gd fmla="val 2712"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4"/>
          <p:cNvSpPr/>
          <p:nvPr/>
        </p:nvSpPr>
        <p:spPr>
          <a:xfrm>
            <a:off x="6492240" y="1874520"/>
            <a:ext cx="54864" cy="269748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4"/>
          <p:cNvSpPr/>
          <p:nvPr/>
        </p:nvSpPr>
        <p:spPr>
          <a:xfrm>
            <a:off x="6656832" y="2020824"/>
            <a:ext cx="42062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Time and deliverable</a:t>
            </a:r>
            <a:endParaRPr b="0" i="0" sz="1400" u="none" cap="none" strike="noStrike">
              <a:solidFill>
                <a:schemeClr val="dk1"/>
              </a:solidFill>
              <a:latin typeface="Arial"/>
              <a:ea typeface="Arial"/>
              <a:cs typeface="Arial"/>
              <a:sym typeface="Arial"/>
            </a:endParaRPr>
          </a:p>
        </p:txBody>
      </p:sp>
      <p:sp>
        <p:nvSpPr>
          <p:cNvPr id="295" name="Google Shape;295;p14"/>
          <p:cNvSpPr/>
          <p:nvPr/>
        </p:nvSpPr>
        <p:spPr>
          <a:xfrm>
            <a:off x="6656832" y="2350008"/>
            <a:ext cx="4187952" cy="213055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Time: 8–10 minutes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350"/>
              <a:buFont typeface="Arial"/>
              <a:buNone/>
            </a:pPr>
            <a:r>
              <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Deliverable: completed Part A–D of the Pilot Test Plan</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15"/>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5"/>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5"/>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5"/>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Observation vs. Interpretation</a:t>
            </a:r>
            <a:endParaRPr b="0" i="0" sz="2700" u="none" cap="none" strike="noStrike">
              <a:solidFill>
                <a:schemeClr val="dk1"/>
              </a:solidFill>
              <a:latin typeface="Arial"/>
              <a:ea typeface="Arial"/>
              <a:cs typeface="Arial"/>
              <a:sym typeface="Arial"/>
            </a:endParaRPr>
          </a:p>
        </p:txBody>
      </p:sp>
      <p:sp>
        <p:nvSpPr>
          <p:cNvPr id="305" name="Google Shape;305;p15"/>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5"/>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307" name="Google Shape;307;p15"/>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308" name="Google Shape;308;p15"/>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12</a:t>
            </a:r>
            <a:endParaRPr b="0" i="0" sz="1000" u="none" cap="none" strike="noStrike">
              <a:solidFill>
                <a:schemeClr val="dk1"/>
              </a:solidFill>
              <a:latin typeface="Arial"/>
              <a:ea typeface="Arial"/>
              <a:cs typeface="Arial"/>
              <a:sym typeface="Arial"/>
            </a:endParaRPr>
          </a:p>
        </p:txBody>
      </p:sp>
      <p:sp>
        <p:nvSpPr>
          <p:cNvPr id="309" name="Google Shape;309;p15"/>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Pilot notes should separate what happened from what it might mean.</a:t>
            </a:r>
            <a:endParaRPr b="0" i="0" sz="2000" u="none" cap="none" strike="noStrike">
              <a:solidFill>
                <a:schemeClr val="dk1"/>
              </a:solidFill>
              <a:latin typeface="Arial"/>
              <a:ea typeface="Arial"/>
              <a:cs typeface="Arial"/>
              <a:sym typeface="Arial"/>
            </a:endParaRPr>
          </a:p>
        </p:txBody>
      </p:sp>
      <p:sp>
        <p:nvSpPr>
          <p:cNvPr id="310" name="Google Shape;310;p15"/>
          <p:cNvSpPr/>
          <p:nvPr/>
        </p:nvSpPr>
        <p:spPr>
          <a:xfrm>
            <a:off x="1051560" y="1920240"/>
            <a:ext cx="4572000" cy="2377440"/>
          </a:xfrm>
          <a:prstGeom prst="roundRect">
            <a:avLst>
              <a:gd fmla="val 3077"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5"/>
          <p:cNvSpPr/>
          <p:nvPr/>
        </p:nvSpPr>
        <p:spPr>
          <a:xfrm>
            <a:off x="1051560" y="1920240"/>
            <a:ext cx="54864" cy="23774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5"/>
          <p:cNvSpPr/>
          <p:nvPr/>
        </p:nvSpPr>
        <p:spPr>
          <a:xfrm>
            <a:off x="1216152" y="2066544"/>
            <a:ext cx="429768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Observation</a:t>
            </a:r>
            <a:endParaRPr b="0" i="0" sz="1400" u="none" cap="none" strike="noStrike">
              <a:solidFill>
                <a:schemeClr val="dk1"/>
              </a:solidFill>
              <a:latin typeface="Arial"/>
              <a:ea typeface="Arial"/>
              <a:cs typeface="Arial"/>
              <a:sym typeface="Arial"/>
            </a:endParaRPr>
          </a:p>
        </p:txBody>
      </p:sp>
      <p:sp>
        <p:nvSpPr>
          <p:cNvPr id="313" name="Google Shape;313;p15"/>
          <p:cNvSpPr/>
          <p:nvPr/>
        </p:nvSpPr>
        <p:spPr>
          <a:xfrm>
            <a:off x="1216152" y="2395728"/>
            <a:ext cx="4279392" cy="18105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What you directly saw, measured, or recorded.</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350"/>
              <a:buFont typeface="Arial"/>
              <a:buNone/>
            </a:pPr>
            <a:r>
              <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“Sensor reading jumped from 2.1 V to 0.4 V when the wire moved.”</a:t>
            </a:r>
            <a:endParaRPr b="0" i="0" sz="1350" u="none" cap="none" strike="noStrike">
              <a:solidFill>
                <a:schemeClr val="dk1"/>
              </a:solidFill>
              <a:latin typeface="Arial"/>
              <a:ea typeface="Arial"/>
              <a:cs typeface="Arial"/>
              <a:sym typeface="Arial"/>
            </a:endParaRPr>
          </a:p>
        </p:txBody>
      </p:sp>
      <p:sp>
        <p:nvSpPr>
          <p:cNvPr id="314" name="Google Shape;314;p15"/>
          <p:cNvSpPr/>
          <p:nvPr/>
        </p:nvSpPr>
        <p:spPr>
          <a:xfrm>
            <a:off x="6537960" y="1920240"/>
            <a:ext cx="4572000" cy="2377440"/>
          </a:xfrm>
          <a:prstGeom prst="roundRect">
            <a:avLst>
              <a:gd fmla="val 3077"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5"/>
          <p:cNvSpPr/>
          <p:nvPr/>
        </p:nvSpPr>
        <p:spPr>
          <a:xfrm>
            <a:off x="6537960" y="1920240"/>
            <a:ext cx="54864" cy="23774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5"/>
          <p:cNvSpPr/>
          <p:nvPr/>
        </p:nvSpPr>
        <p:spPr>
          <a:xfrm>
            <a:off x="6702552" y="2066544"/>
            <a:ext cx="429768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Interpretation</a:t>
            </a:r>
            <a:endParaRPr b="0" i="0" sz="1400" u="none" cap="none" strike="noStrike">
              <a:solidFill>
                <a:schemeClr val="dk1"/>
              </a:solidFill>
              <a:latin typeface="Arial"/>
              <a:ea typeface="Arial"/>
              <a:cs typeface="Arial"/>
              <a:sym typeface="Arial"/>
            </a:endParaRPr>
          </a:p>
        </p:txBody>
      </p:sp>
      <p:sp>
        <p:nvSpPr>
          <p:cNvPr id="317" name="Google Shape;317;p15"/>
          <p:cNvSpPr/>
          <p:nvPr/>
        </p:nvSpPr>
        <p:spPr>
          <a:xfrm>
            <a:off x="6702552" y="2395728"/>
            <a:ext cx="4279392" cy="18105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What you think the observation might mean.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350"/>
              <a:buFont typeface="Arial"/>
              <a:buNone/>
            </a:pPr>
            <a:r>
              <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“The sensor may have a loose connection.”</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16"/>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6"/>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6"/>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6"/>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After the Pilot: Revise or Continue?</a:t>
            </a:r>
            <a:endParaRPr b="0" i="0" sz="2700" u="none" cap="none" strike="noStrike">
              <a:solidFill>
                <a:schemeClr val="dk1"/>
              </a:solidFill>
              <a:latin typeface="Arial"/>
              <a:ea typeface="Arial"/>
              <a:cs typeface="Arial"/>
              <a:sym typeface="Arial"/>
            </a:endParaRPr>
          </a:p>
        </p:txBody>
      </p:sp>
      <p:sp>
        <p:nvSpPr>
          <p:cNvPr id="327" name="Google Shape;327;p16"/>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6"/>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329" name="Google Shape;329;p16"/>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330" name="Google Shape;330;p16"/>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13</a:t>
            </a:r>
            <a:endParaRPr b="0" i="0" sz="1000" u="none" cap="none" strike="noStrike">
              <a:solidFill>
                <a:schemeClr val="dk1"/>
              </a:solidFill>
              <a:latin typeface="Arial"/>
              <a:ea typeface="Arial"/>
              <a:cs typeface="Arial"/>
              <a:sym typeface="Arial"/>
            </a:endParaRPr>
          </a:p>
        </p:txBody>
      </p:sp>
      <p:sp>
        <p:nvSpPr>
          <p:cNvPr id="331" name="Google Shape;331;p16"/>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The pilot test ends with a decision.</a:t>
            </a:r>
            <a:endParaRPr b="0" i="0" sz="2000" u="none" cap="none" strike="noStrike">
              <a:solidFill>
                <a:schemeClr val="dk1"/>
              </a:solidFill>
              <a:latin typeface="Arial"/>
              <a:ea typeface="Arial"/>
              <a:cs typeface="Arial"/>
              <a:sym typeface="Arial"/>
            </a:endParaRPr>
          </a:p>
        </p:txBody>
      </p:sp>
      <p:sp>
        <p:nvSpPr>
          <p:cNvPr id="332" name="Google Shape;332;p16"/>
          <p:cNvSpPr/>
          <p:nvPr/>
        </p:nvSpPr>
        <p:spPr>
          <a:xfrm>
            <a:off x="777240" y="1874520"/>
            <a:ext cx="3108960" cy="2331720"/>
          </a:xfrm>
          <a:prstGeom prst="roundRect">
            <a:avLst>
              <a:gd fmla="val 3137"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6"/>
          <p:cNvSpPr/>
          <p:nvPr/>
        </p:nvSpPr>
        <p:spPr>
          <a:xfrm>
            <a:off x="777240" y="1874520"/>
            <a:ext cx="54864" cy="233172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6"/>
          <p:cNvSpPr/>
          <p:nvPr/>
        </p:nvSpPr>
        <p:spPr>
          <a:xfrm>
            <a:off x="941832" y="2020824"/>
            <a:ext cx="28346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Decision options</a:t>
            </a:r>
            <a:endParaRPr b="0" i="0" sz="1400" u="none" cap="none" strike="noStrike">
              <a:solidFill>
                <a:schemeClr val="dk1"/>
              </a:solidFill>
              <a:latin typeface="Arial"/>
              <a:ea typeface="Arial"/>
              <a:cs typeface="Arial"/>
              <a:sym typeface="Arial"/>
            </a:endParaRPr>
          </a:p>
        </p:txBody>
      </p:sp>
      <p:sp>
        <p:nvSpPr>
          <p:cNvPr id="335" name="Google Shape;335;p16"/>
          <p:cNvSpPr/>
          <p:nvPr/>
        </p:nvSpPr>
        <p:spPr>
          <a:xfrm>
            <a:off x="941832" y="2350008"/>
            <a:ext cx="2816352" cy="176479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ready for systematic data collection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ready after minor revisions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needs another pilot test</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needs major redesign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needs safety or mentor review</a:t>
            </a:r>
            <a:endParaRPr b="0" i="0" sz="1350" u="none" cap="none" strike="noStrike">
              <a:solidFill>
                <a:schemeClr val="dk1"/>
              </a:solidFill>
              <a:latin typeface="Arial"/>
              <a:ea typeface="Arial"/>
              <a:cs typeface="Arial"/>
              <a:sym typeface="Arial"/>
            </a:endParaRPr>
          </a:p>
        </p:txBody>
      </p:sp>
      <p:sp>
        <p:nvSpPr>
          <p:cNvPr id="336" name="Google Shape;336;p16"/>
          <p:cNvSpPr/>
          <p:nvPr/>
        </p:nvSpPr>
        <p:spPr>
          <a:xfrm>
            <a:off x="4754880" y="2423160"/>
            <a:ext cx="2468880" cy="64008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6"/>
          <p:cNvSpPr/>
          <p:nvPr/>
        </p:nvSpPr>
        <p:spPr>
          <a:xfrm>
            <a:off x="5074920" y="2596896"/>
            <a:ext cx="1828800" cy="256032"/>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400"/>
              <a:buFont typeface="Arial"/>
              <a:buNone/>
            </a:pPr>
            <a:r>
              <a:rPr b="1" i="0" lang="en-US" sz="2400" u="none" cap="none" strike="noStrike">
                <a:solidFill>
                  <a:srgbClr val="FFFFFF"/>
                </a:solidFill>
                <a:latin typeface="Arial"/>
                <a:ea typeface="Arial"/>
                <a:cs typeface="Arial"/>
                <a:sym typeface="Arial"/>
              </a:rPr>
              <a:t>DECIDE</a:t>
            </a:r>
            <a:endParaRPr b="0" i="0" sz="2400" u="none" cap="none" strike="noStrike">
              <a:solidFill>
                <a:schemeClr val="dk1"/>
              </a:solidFill>
              <a:latin typeface="Arial"/>
              <a:ea typeface="Arial"/>
              <a:cs typeface="Arial"/>
              <a:sym typeface="Arial"/>
            </a:endParaRPr>
          </a:p>
        </p:txBody>
      </p:sp>
      <p:sp>
        <p:nvSpPr>
          <p:cNvPr id="338" name="Google Shape;338;p16"/>
          <p:cNvSpPr/>
          <p:nvPr/>
        </p:nvSpPr>
        <p:spPr>
          <a:xfrm>
            <a:off x="4754875" y="3794750"/>
            <a:ext cx="6446400" cy="5028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100"/>
              <a:buFont typeface="Arial"/>
              <a:buNone/>
            </a:pPr>
            <a:r>
              <a:rPr b="1" i="0" lang="en-US" sz="2100" u="none" cap="none" strike="noStrike">
                <a:solidFill>
                  <a:srgbClr val="FFFFFF"/>
                </a:solidFill>
                <a:latin typeface="Arial"/>
                <a:ea typeface="Arial"/>
                <a:cs typeface="Arial"/>
                <a:sym typeface="Arial"/>
              </a:rPr>
              <a:t>Do not drift from pilot testing into full data collection without a documented decision.</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17"/>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7"/>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7"/>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7"/>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Method Revision Rule</a:t>
            </a:r>
            <a:endParaRPr b="0" i="0" sz="2700" u="none" cap="none" strike="noStrike">
              <a:solidFill>
                <a:schemeClr val="dk1"/>
              </a:solidFill>
              <a:latin typeface="Arial"/>
              <a:ea typeface="Arial"/>
              <a:cs typeface="Arial"/>
              <a:sym typeface="Arial"/>
            </a:endParaRPr>
          </a:p>
        </p:txBody>
      </p:sp>
      <p:sp>
        <p:nvSpPr>
          <p:cNvPr id="348" name="Google Shape;348;p17"/>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7"/>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350" name="Google Shape;350;p17"/>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351" name="Google Shape;351;p17"/>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14</a:t>
            </a:r>
            <a:endParaRPr b="0" i="0" sz="1000" u="none" cap="none" strike="noStrike">
              <a:solidFill>
                <a:schemeClr val="dk1"/>
              </a:solidFill>
              <a:latin typeface="Arial"/>
              <a:ea typeface="Arial"/>
              <a:cs typeface="Arial"/>
              <a:sym typeface="Arial"/>
            </a:endParaRPr>
          </a:p>
        </p:txBody>
      </p:sp>
      <p:sp>
        <p:nvSpPr>
          <p:cNvPr id="352" name="Google Shape;352;p17"/>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Every change needs a reason.</a:t>
            </a:r>
            <a:endParaRPr b="0" i="0" sz="2000" u="none" cap="none" strike="noStrike">
              <a:solidFill>
                <a:schemeClr val="dk1"/>
              </a:solidFill>
              <a:latin typeface="Arial"/>
              <a:ea typeface="Arial"/>
              <a:cs typeface="Arial"/>
              <a:sym typeface="Arial"/>
            </a:endParaRPr>
          </a:p>
        </p:txBody>
      </p:sp>
      <p:sp>
        <p:nvSpPr>
          <p:cNvPr id="353" name="Google Shape;353;p17"/>
          <p:cNvSpPr/>
          <p:nvPr/>
        </p:nvSpPr>
        <p:spPr>
          <a:xfrm>
            <a:off x="822960" y="1874520"/>
            <a:ext cx="9144000" cy="27432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900"/>
              <a:buFont typeface="Arial"/>
              <a:buNone/>
            </a:pPr>
            <a:r>
              <a:rPr b="1" i="0" lang="en-US" sz="1900" u="none" cap="none" strike="noStrike">
                <a:solidFill>
                  <a:srgbClr val="FFFFFF"/>
                </a:solidFill>
                <a:latin typeface="Arial"/>
                <a:ea typeface="Arial"/>
                <a:cs typeface="Arial"/>
                <a:sym typeface="Arial"/>
              </a:rPr>
              <a:t>A strong revision says:</a:t>
            </a:r>
            <a:endParaRPr b="0" i="0" sz="1900" u="none" cap="none" strike="noStrike">
              <a:solidFill>
                <a:schemeClr val="dk1"/>
              </a:solidFill>
              <a:latin typeface="Arial"/>
              <a:ea typeface="Arial"/>
              <a:cs typeface="Arial"/>
              <a:sym typeface="Arial"/>
            </a:endParaRPr>
          </a:p>
        </p:txBody>
      </p:sp>
      <p:sp>
        <p:nvSpPr>
          <p:cNvPr id="354" name="Google Shape;354;p17"/>
          <p:cNvSpPr/>
          <p:nvPr/>
        </p:nvSpPr>
        <p:spPr>
          <a:xfrm>
            <a:off x="914400" y="2331720"/>
            <a:ext cx="10332720" cy="685800"/>
          </a:xfrm>
          <a:prstGeom prst="roundRect">
            <a:avLst>
              <a:gd fmla="val 10667" name="adj"/>
            </a:avLst>
          </a:prstGeom>
          <a:solidFill>
            <a:srgbClr val="111111"/>
          </a:solidFill>
          <a:ln cap="flat" cmpd="sng" w="16500">
            <a:solidFill>
              <a:srgbClr val="E326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7"/>
          <p:cNvSpPr/>
          <p:nvPr/>
        </p:nvSpPr>
        <p:spPr>
          <a:xfrm>
            <a:off x="1143000" y="2523744"/>
            <a:ext cx="9875520" cy="22860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000"/>
              <a:buFont typeface="Arial"/>
              <a:buNone/>
            </a:pPr>
            <a:r>
              <a:rPr b="1" i="0" lang="en-US" sz="2000" u="none" cap="none" strike="noStrike">
                <a:solidFill>
                  <a:srgbClr val="FFFFFF"/>
                </a:solidFill>
                <a:latin typeface="Arial"/>
                <a:ea typeface="Arial"/>
                <a:cs typeface="Arial"/>
                <a:sym typeface="Arial"/>
              </a:rPr>
              <a:t>“I changed ______ because the pilot test showed ______.”</a:t>
            </a:r>
            <a:endParaRPr b="0" i="0" sz="2000" u="none" cap="none" strike="noStrike">
              <a:solidFill>
                <a:schemeClr val="dk1"/>
              </a:solidFill>
              <a:latin typeface="Arial"/>
              <a:ea typeface="Arial"/>
              <a:cs typeface="Arial"/>
              <a:sym typeface="Arial"/>
            </a:endParaRPr>
          </a:p>
        </p:txBody>
      </p:sp>
      <p:sp>
        <p:nvSpPr>
          <p:cNvPr id="356" name="Google Shape;356;p17"/>
          <p:cNvSpPr/>
          <p:nvPr/>
        </p:nvSpPr>
        <p:spPr>
          <a:xfrm>
            <a:off x="914400" y="3657600"/>
            <a:ext cx="4480560" cy="1417320"/>
          </a:xfrm>
          <a:prstGeom prst="roundRect">
            <a:avLst>
              <a:gd fmla="val 5161"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7"/>
          <p:cNvSpPr/>
          <p:nvPr/>
        </p:nvSpPr>
        <p:spPr>
          <a:xfrm>
            <a:off x="914400" y="3657600"/>
            <a:ext cx="54864" cy="141732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7"/>
          <p:cNvSpPr/>
          <p:nvPr/>
        </p:nvSpPr>
        <p:spPr>
          <a:xfrm>
            <a:off x="1078992" y="3803904"/>
            <a:ext cx="42062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Not enough</a:t>
            </a:r>
            <a:endParaRPr b="0" i="0" sz="1400" u="none" cap="none" strike="noStrike">
              <a:solidFill>
                <a:schemeClr val="dk1"/>
              </a:solidFill>
              <a:latin typeface="Arial"/>
              <a:ea typeface="Arial"/>
              <a:cs typeface="Arial"/>
              <a:sym typeface="Arial"/>
            </a:endParaRPr>
          </a:p>
        </p:txBody>
      </p:sp>
      <p:sp>
        <p:nvSpPr>
          <p:cNvPr id="359" name="Google Shape;359;p17"/>
          <p:cNvSpPr/>
          <p:nvPr/>
        </p:nvSpPr>
        <p:spPr>
          <a:xfrm>
            <a:off x="1078992" y="4133088"/>
            <a:ext cx="4187952" cy="85039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“I changed it because it didn’t work.”</a:t>
            </a:r>
            <a:endParaRPr b="0" i="0" sz="1350" u="none" cap="none" strike="noStrike">
              <a:solidFill>
                <a:schemeClr val="dk1"/>
              </a:solidFill>
              <a:latin typeface="Arial"/>
              <a:ea typeface="Arial"/>
              <a:cs typeface="Arial"/>
              <a:sym typeface="Arial"/>
            </a:endParaRPr>
          </a:p>
        </p:txBody>
      </p:sp>
      <p:sp>
        <p:nvSpPr>
          <p:cNvPr id="360" name="Google Shape;360;p17"/>
          <p:cNvSpPr/>
          <p:nvPr/>
        </p:nvSpPr>
        <p:spPr>
          <a:xfrm>
            <a:off x="6035040" y="3657600"/>
            <a:ext cx="5212080" cy="1417320"/>
          </a:xfrm>
          <a:prstGeom prst="roundRect">
            <a:avLst>
              <a:gd fmla="val 5161"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7"/>
          <p:cNvSpPr/>
          <p:nvPr/>
        </p:nvSpPr>
        <p:spPr>
          <a:xfrm>
            <a:off x="6035040" y="3657600"/>
            <a:ext cx="54864" cy="141732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7"/>
          <p:cNvSpPr/>
          <p:nvPr/>
        </p:nvSpPr>
        <p:spPr>
          <a:xfrm>
            <a:off x="6199632" y="3803904"/>
            <a:ext cx="493776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Better</a:t>
            </a:r>
            <a:endParaRPr b="0" i="0" sz="1400" u="none" cap="none" strike="noStrike">
              <a:solidFill>
                <a:schemeClr val="dk1"/>
              </a:solidFill>
              <a:latin typeface="Arial"/>
              <a:ea typeface="Arial"/>
              <a:cs typeface="Arial"/>
              <a:sym typeface="Arial"/>
            </a:endParaRPr>
          </a:p>
        </p:txBody>
      </p:sp>
      <p:sp>
        <p:nvSpPr>
          <p:cNvPr id="363" name="Google Shape;363;p17"/>
          <p:cNvSpPr/>
          <p:nvPr/>
        </p:nvSpPr>
        <p:spPr>
          <a:xfrm>
            <a:off x="6199632" y="4133088"/>
            <a:ext cx="4919472" cy="85039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“The scale could not measure changes below 0.1 g, so I switched to measuring volume change instead.”</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8"/>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8"/>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8"/>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Troubleshooting Language</a:t>
            </a:r>
            <a:endParaRPr b="0" i="0" sz="2700" u="none" cap="none" strike="noStrike">
              <a:solidFill>
                <a:schemeClr val="dk1"/>
              </a:solidFill>
              <a:latin typeface="Arial"/>
              <a:ea typeface="Arial"/>
              <a:cs typeface="Arial"/>
              <a:sym typeface="Arial"/>
            </a:endParaRPr>
          </a:p>
        </p:txBody>
      </p:sp>
      <p:sp>
        <p:nvSpPr>
          <p:cNvPr id="373" name="Google Shape;373;p18"/>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8"/>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375" name="Google Shape;375;p18"/>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376" name="Google Shape;376;p18"/>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15</a:t>
            </a:r>
            <a:endParaRPr b="0" i="0" sz="1000" u="none" cap="none" strike="noStrike">
              <a:solidFill>
                <a:schemeClr val="dk1"/>
              </a:solidFill>
              <a:latin typeface="Arial"/>
              <a:ea typeface="Arial"/>
              <a:cs typeface="Arial"/>
              <a:sym typeface="Arial"/>
            </a:endParaRPr>
          </a:p>
        </p:txBody>
      </p:sp>
      <p:sp>
        <p:nvSpPr>
          <p:cNvPr id="377" name="Google Shape;377;p18"/>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Use precise language when a pilot test fails.</a:t>
            </a:r>
            <a:endParaRPr b="0" i="0" sz="2000" u="none" cap="none" strike="noStrike">
              <a:solidFill>
                <a:schemeClr val="dk1"/>
              </a:solidFill>
              <a:latin typeface="Arial"/>
              <a:ea typeface="Arial"/>
              <a:cs typeface="Arial"/>
              <a:sym typeface="Arial"/>
            </a:endParaRPr>
          </a:p>
        </p:txBody>
      </p:sp>
      <p:sp>
        <p:nvSpPr>
          <p:cNvPr id="378" name="Google Shape;378;p18"/>
          <p:cNvSpPr/>
          <p:nvPr/>
        </p:nvSpPr>
        <p:spPr>
          <a:xfrm>
            <a:off x="822960" y="1828800"/>
            <a:ext cx="5029200" cy="2560320"/>
          </a:xfrm>
          <a:prstGeom prst="roundRect">
            <a:avLst>
              <a:gd fmla="val 2857"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8"/>
          <p:cNvSpPr/>
          <p:nvPr/>
        </p:nvSpPr>
        <p:spPr>
          <a:xfrm>
            <a:off x="822960" y="1828800"/>
            <a:ext cx="54864" cy="256032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8"/>
          <p:cNvSpPr/>
          <p:nvPr/>
        </p:nvSpPr>
        <p:spPr>
          <a:xfrm>
            <a:off x="987552" y="1975104"/>
            <a:ext cx="475488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Useful sentence frames</a:t>
            </a:r>
            <a:endParaRPr b="0" i="0" sz="1400" u="none" cap="none" strike="noStrike">
              <a:solidFill>
                <a:schemeClr val="dk1"/>
              </a:solidFill>
              <a:latin typeface="Arial"/>
              <a:ea typeface="Arial"/>
              <a:cs typeface="Arial"/>
              <a:sym typeface="Arial"/>
            </a:endParaRPr>
          </a:p>
        </p:txBody>
      </p:sp>
      <p:sp>
        <p:nvSpPr>
          <p:cNvPr id="381" name="Google Shape;381;p18"/>
          <p:cNvSpPr/>
          <p:nvPr/>
        </p:nvSpPr>
        <p:spPr>
          <a:xfrm>
            <a:off x="987552" y="2304288"/>
            <a:ext cx="4736592" cy="199339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The problem I observed was…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One possible cause is…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Evidence for that cause is…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To test this, I will…</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This change requires approval because…</a:t>
            </a:r>
            <a:endParaRPr b="0" i="0" sz="1350" u="none" cap="none" strike="noStrike">
              <a:solidFill>
                <a:schemeClr val="dk1"/>
              </a:solidFill>
              <a:latin typeface="Arial"/>
              <a:ea typeface="Arial"/>
              <a:cs typeface="Arial"/>
              <a:sym typeface="Arial"/>
            </a:endParaRPr>
          </a:p>
        </p:txBody>
      </p:sp>
      <p:sp>
        <p:nvSpPr>
          <p:cNvPr id="382" name="Google Shape;382;p18"/>
          <p:cNvSpPr/>
          <p:nvPr/>
        </p:nvSpPr>
        <p:spPr>
          <a:xfrm>
            <a:off x="6400800" y="1828800"/>
            <a:ext cx="4480560" cy="2560320"/>
          </a:xfrm>
          <a:prstGeom prst="roundRect">
            <a:avLst>
              <a:gd fmla="val 2857"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8"/>
          <p:cNvSpPr/>
          <p:nvPr/>
        </p:nvSpPr>
        <p:spPr>
          <a:xfrm>
            <a:off x="6400800" y="1828800"/>
            <a:ext cx="54864" cy="256032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8"/>
          <p:cNvSpPr/>
          <p:nvPr/>
        </p:nvSpPr>
        <p:spPr>
          <a:xfrm>
            <a:off x="6565392" y="1975104"/>
            <a:ext cx="42062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Matched handout</a:t>
            </a:r>
            <a:endParaRPr b="0" i="0" sz="1400" u="none" cap="none" strike="noStrike">
              <a:solidFill>
                <a:schemeClr val="dk1"/>
              </a:solidFill>
              <a:latin typeface="Arial"/>
              <a:ea typeface="Arial"/>
              <a:cs typeface="Arial"/>
              <a:sym typeface="Arial"/>
            </a:endParaRPr>
          </a:p>
        </p:txBody>
      </p:sp>
      <p:sp>
        <p:nvSpPr>
          <p:cNvPr id="385" name="Google Shape;385;p18"/>
          <p:cNvSpPr/>
          <p:nvPr/>
        </p:nvSpPr>
        <p:spPr>
          <a:xfrm>
            <a:off x="6565392" y="2304288"/>
            <a:ext cx="4187952" cy="199339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Pilot Test Reflection and Troubleshooting Log</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350"/>
              <a:buFont typeface="Arial"/>
              <a:buNone/>
            </a:pPr>
            <a:r>
              <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The goal is not to sound fancy. The goal is to make the problem solvable.</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19"/>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9"/>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9"/>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9"/>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Student Activity: Failed Pilot Scenario</a:t>
            </a:r>
            <a:endParaRPr b="0" i="0" sz="2700" u="none" cap="none" strike="noStrike">
              <a:solidFill>
                <a:schemeClr val="dk1"/>
              </a:solidFill>
              <a:latin typeface="Arial"/>
              <a:ea typeface="Arial"/>
              <a:cs typeface="Arial"/>
              <a:sym typeface="Arial"/>
            </a:endParaRPr>
          </a:p>
        </p:txBody>
      </p:sp>
      <p:sp>
        <p:nvSpPr>
          <p:cNvPr id="395" name="Google Shape;395;p19"/>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9"/>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397" name="Google Shape;397;p19"/>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398" name="Google Shape;398;p19"/>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16</a:t>
            </a:r>
            <a:endParaRPr b="0" i="0" sz="1000" u="none" cap="none" strike="noStrike">
              <a:solidFill>
                <a:schemeClr val="dk1"/>
              </a:solidFill>
              <a:latin typeface="Arial"/>
              <a:ea typeface="Arial"/>
              <a:cs typeface="Arial"/>
              <a:sym typeface="Arial"/>
            </a:endParaRPr>
          </a:p>
        </p:txBody>
      </p:sp>
      <p:sp>
        <p:nvSpPr>
          <p:cNvPr id="399" name="Google Shape;399;p19"/>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Practice diagnosing a pilot test before diagnosing your own.</a:t>
            </a:r>
            <a:endParaRPr b="0" i="0" sz="2000" u="none" cap="none" strike="noStrike">
              <a:solidFill>
                <a:schemeClr val="dk1"/>
              </a:solidFill>
              <a:latin typeface="Arial"/>
              <a:ea typeface="Arial"/>
              <a:cs typeface="Arial"/>
              <a:sym typeface="Arial"/>
            </a:endParaRPr>
          </a:p>
        </p:txBody>
      </p:sp>
      <p:sp>
        <p:nvSpPr>
          <p:cNvPr id="400" name="Google Shape;400;p19"/>
          <p:cNvSpPr/>
          <p:nvPr/>
        </p:nvSpPr>
        <p:spPr>
          <a:xfrm>
            <a:off x="777240" y="1828800"/>
            <a:ext cx="5303520" cy="2377440"/>
          </a:xfrm>
          <a:prstGeom prst="roundRect">
            <a:avLst>
              <a:gd fmla="val 3077"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9"/>
          <p:cNvSpPr/>
          <p:nvPr/>
        </p:nvSpPr>
        <p:spPr>
          <a:xfrm>
            <a:off x="777240" y="1828800"/>
            <a:ext cx="54864" cy="23774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9"/>
          <p:cNvSpPr/>
          <p:nvPr/>
        </p:nvSpPr>
        <p:spPr>
          <a:xfrm>
            <a:off x="941832" y="1975104"/>
            <a:ext cx="50292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Scenario</a:t>
            </a:r>
            <a:endParaRPr b="0" i="0" sz="1400" u="none" cap="none" strike="noStrike">
              <a:solidFill>
                <a:schemeClr val="dk1"/>
              </a:solidFill>
              <a:latin typeface="Arial"/>
              <a:ea typeface="Arial"/>
              <a:cs typeface="Arial"/>
              <a:sym typeface="Arial"/>
            </a:endParaRPr>
          </a:p>
        </p:txBody>
      </p:sp>
      <p:sp>
        <p:nvSpPr>
          <p:cNvPr id="403" name="Google Shape;403;p19"/>
          <p:cNvSpPr/>
          <p:nvPr/>
        </p:nvSpPr>
        <p:spPr>
          <a:xfrm>
            <a:off x="941832" y="2304288"/>
            <a:ext cx="5010912" cy="18105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A student wants to compare three materials for insulation. During the pilot, the starting temperatures are different, the room temperature changes, and one thermometer responds slowly.</a:t>
            </a:r>
            <a:endParaRPr b="0" i="0" sz="1350" u="none" cap="none" strike="noStrike">
              <a:solidFill>
                <a:schemeClr val="dk1"/>
              </a:solidFill>
              <a:latin typeface="Arial"/>
              <a:ea typeface="Arial"/>
              <a:cs typeface="Arial"/>
              <a:sym typeface="Arial"/>
            </a:endParaRPr>
          </a:p>
        </p:txBody>
      </p:sp>
      <p:sp>
        <p:nvSpPr>
          <p:cNvPr id="404" name="Google Shape;404;p19"/>
          <p:cNvSpPr/>
          <p:nvPr/>
        </p:nvSpPr>
        <p:spPr>
          <a:xfrm>
            <a:off x="6492240" y="1828800"/>
            <a:ext cx="4754880" cy="2377440"/>
          </a:xfrm>
          <a:prstGeom prst="roundRect">
            <a:avLst>
              <a:gd fmla="val 3077"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9"/>
          <p:cNvSpPr/>
          <p:nvPr/>
        </p:nvSpPr>
        <p:spPr>
          <a:xfrm>
            <a:off x="6492240" y="1828800"/>
            <a:ext cx="54864" cy="237744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9"/>
          <p:cNvSpPr/>
          <p:nvPr/>
        </p:nvSpPr>
        <p:spPr>
          <a:xfrm>
            <a:off x="6656832" y="1975104"/>
            <a:ext cx="448056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Task</a:t>
            </a:r>
            <a:endParaRPr b="0" i="0" sz="1400" u="none" cap="none" strike="noStrike">
              <a:solidFill>
                <a:schemeClr val="dk1"/>
              </a:solidFill>
              <a:latin typeface="Arial"/>
              <a:ea typeface="Arial"/>
              <a:cs typeface="Arial"/>
              <a:sym typeface="Arial"/>
            </a:endParaRPr>
          </a:p>
        </p:txBody>
      </p:sp>
      <p:sp>
        <p:nvSpPr>
          <p:cNvPr id="407" name="Google Shape;407;p19"/>
          <p:cNvSpPr/>
          <p:nvPr/>
        </p:nvSpPr>
        <p:spPr>
          <a:xfrm>
            <a:off x="6656832" y="2304288"/>
            <a:ext cx="4462272" cy="181051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Identify the problem type, propose one revision, and write the revision rule sentence.</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350"/>
              <a:buFont typeface="Arial"/>
              <a:buNone/>
            </a:pPr>
            <a:r>
              <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Pair discussion: 5 minutes</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20"/>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20"/>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0"/>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20"/>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Teacher Checkpoint Before Full Data Collection</a:t>
            </a:r>
            <a:endParaRPr b="0" i="0" sz="2700" u="none" cap="none" strike="noStrike">
              <a:solidFill>
                <a:schemeClr val="dk1"/>
              </a:solidFill>
              <a:latin typeface="Arial"/>
              <a:ea typeface="Arial"/>
              <a:cs typeface="Arial"/>
              <a:sym typeface="Arial"/>
            </a:endParaRPr>
          </a:p>
        </p:txBody>
      </p:sp>
      <p:sp>
        <p:nvSpPr>
          <p:cNvPr id="417" name="Google Shape;417;p20"/>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0"/>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419" name="Google Shape;419;p20"/>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420" name="Google Shape;420;p20"/>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17</a:t>
            </a:r>
            <a:endParaRPr b="0" i="0" sz="1000" u="none" cap="none" strike="noStrike">
              <a:solidFill>
                <a:schemeClr val="dk1"/>
              </a:solidFill>
              <a:latin typeface="Arial"/>
              <a:ea typeface="Arial"/>
              <a:cs typeface="Arial"/>
              <a:sym typeface="Arial"/>
            </a:endParaRPr>
          </a:p>
        </p:txBody>
      </p:sp>
      <p:sp>
        <p:nvSpPr>
          <p:cNvPr id="421" name="Google Shape;421;p20"/>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A student is ready only when the pilot supports the method.</a:t>
            </a:r>
            <a:endParaRPr b="0" i="0" sz="2000" u="none" cap="none" strike="noStrike">
              <a:solidFill>
                <a:schemeClr val="dk1"/>
              </a:solidFill>
              <a:latin typeface="Arial"/>
              <a:ea typeface="Arial"/>
              <a:cs typeface="Arial"/>
              <a:sym typeface="Arial"/>
            </a:endParaRPr>
          </a:p>
        </p:txBody>
      </p:sp>
      <p:sp>
        <p:nvSpPr>
          <p:cNvPr id="422" name="Google Shape;422;p20"/>
          <p:cNvSpPr/>
          <p:nvPr/>
        </p:nvSpPr>
        <p:spPr>
          <a:xfrm>
            <a:off x="822960" y="1828800"/>
            <a:ext cx="4846320" cy="2514600"/>
          </a:xfrm>
          <a:prstGeom prst="roundRect">
            <a:avLst>
              <a:gd fmla="val 2909"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20"/>
          <p:cNvSpPr/>
          <p:nvPr/>
        </p:nvSpPr>
        <p:spPr>
          <a:xfrm>
            <a:off x="822960" y="1828800"/>
            <a:ext cx="54864" cy="25146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0"/>
          <p:cNvSpPr/>
          <p:nvPr/>
        </p:nvSpPr>
        <p:spPr>
          <a:xfrm>
            <a:off x="987552" y="1975104"/>
            <a:ext cx="45720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Look for evidence that:</a:t>
            </a:r>
            <a:endParaRPr b="0" i="0" sz="1400" u="none" cap="none" strike="noStrike">
              <a:solidFill>
                <a:schemeClr val="dk1"/>
              </a:solidFill>
              <a:latin typeface="Arial"/>
              <a:ea typeface="Arial"/>
              <a:cs typeface="Arial"/>
              <a:sym typeface="Arial"/>
            </a:endParaRPr>
          </a:p>
        </p:txBody>
      </p:sp>
      <p:sp>
        <p:nvSpPr>
          <p:cNvPr id="425" name="Google Shape;425;p20"/>
          <p:cNvSpPr/>
          <p:nvPr/>
        </p:nvSpPr>
        <p:spPr>
          <a:xfrm>
            <a:off x="987552" y="2304288"/>
            <a:ext cx="4553712" cy="19476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the procedure is safe</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the measurement works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the data table is usable</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the timing is realistic</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revisions are documented</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 the next decision is clear</a:t>
            </a:r>
            <a:endParaRPr b="0" i="0" sz="1350" u="none" cap="none" strike="noStrike">
              <a:solidFill>
                <a:schemeClr val="dk1"/>
              </a:solidFill>
              <a:latin typeface="Arial"/>
              <a:ea typeface="Arial"/>
              <a:cs typeface="Arial"/>
              <a:sym typeface="Arial"/>
            </a:endParaRPr>
          </a:p>
        </p:txBody>
      </p:sp>
      <p:sp>
        <p:nvSpPr>
          <p:cNvPr id="426" name="Google Shape;426;p20"/>
          <p:cNvSpPr/>
          <p:nvPr/>
        </p:nvSpPr>
        <p:spPr>
          <a:xfrm>
            <a:off x="6492240" y="1828800"/>
            <a:ext cx="4663440" cy="2514600"/>
          </a:xfrm>
          <a:prstGeom prst="roundRect">
            <a:avLst>
              <a:gd fmla="val 2909" name="adj"/>
            </a:avLst>
          </a:prstGeom>
          <a:solidFill>
            <a:srgbClr val="0A0A0A"/>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0"/>
          <p:cNvSpPr/>
          <p:nvPr/>
        </p:nvSpPr>
        <p:spPr>
          <a:xfrm>
            <a:off x="6492240" y="1828800"/>
            <a:ext cx="54864" cy="2514600"/>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0"/>
          <p:cNvSpPr/>
          <p:nvPr/>
        </p:nvSpPr>
        <p:spPr>
          <a:xfrm>
            <a:off x="6656832" y="1975104"/>
            <a:ext cx="43891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1400"/>
              <a:buFont typeface="Arial"/>
              <a:buNone/>
            </a:pPr>
            <a:r>
              <a:rPr b="1" i="0" lang="en-US" sz="1400" u="none" cap="none" strike="noStrike">
                <a:solidFill>
                  <a:srgbClr val="FFFFFF"/>
                </a:solidFill>
                <a:latin typeface="Arial"/>
                <a:ea typeface="Arial"/>
                <a:cs typeface="Arial"/>
                <a:sym typeface="Arial"/>
              </a:rPr>
              <a:t>Official tracker status examples</a:t>
            </a:r>
            <a:endParaRPr b="0" i="0" sz="1400" u="none" cap="none" strike="noStrike">
              <a:solidFill>
                <a:schemeClr val="dk1"/>
              </a:solidFill>
              <a:latin typeface="Arial"/>
              <a:ea typeface="Arial"/>
              <a:cs typeface="Arial"/>
              <a:sym typeface="Arial"/>
            </a:endParaRPr>
          </a:p>
        </p:txBody>
      </p:sp>
      <p:sp>
        <p:nvSpPr>
          <p:cNvPr id="429" name="Google Shape;429;p20"/>
          <p:cNvSpPr/>
          <p:nvPr/>
        </p:nvSpPr>
        <p:spPr>
          <a:xfrm>
            <a:off x="6656832" y="2304288"/>
            <a:ext cx="4370832" cy="1947672"/>
          </a:xfrm>
          <a:prstGeom prst="rect">
            <a:avLst/>
          </a:prstGeom>
          <a:noFill/>
          <a:ln>
            <a:noFill/>
          </a:ln>
        </p:spPr>
        <p:txBody>
          <a:bodyPr anchorCtr="0" anchor="t" bIns="625" lIns="625" spcFirstLastPara="1" rIns="625" wrap="square" tIns="625">
            <a:noAutofit/>
          </a:bodyPr>
          <a:lstStyle/>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Approved for Systematic Data Collection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Approved With Modifications</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Needs Revision</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Needs Safety Review / Needs Ethics Review</a:t>
            </a:r>
            <a:endParaRPr b="0" i="0" sz="135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B5B5B5"/>
              </a:buClr>
              <a:buSzPts val="1350"/>
              <a:buFont typeface="Arial"/>
              <a:buNone/>
            </a:pPr>
            <a:r>
              <a:rPr b="0" i="0" lang="en-US" sz="1350" u="none" cap="none" strike="noStrike">
                <a:solidFill>
                  <a:srgbClr val="B5B5B5"/>
                </a:solidFill>
                <a:latin typeface="Arial"/>
                <a:ea typeface="Arial"/>
                <a:cs typeface="Arial"/>
                <a:sym typeface="Arial"/>
              </a:rPr>
              <a:t>Needs Mentor Review / Not Approved in Current Form</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1"/>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21"/>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21"/>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1"/>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Exit Ticket</a:t>
            </a:r>
            <a:endParaRPr b="0" i="0" sz="2700" u="none" cap="none" strike="noStrike">
              <a:solidFill>
                <a:schemeClr val="dk1"/>
              </a:solidFill>
              <a:latin typeface="Arial"/>
              <a:ea typeface="Arial"/>
              <a:cs typeface="Arial"/>
              <a:sym typeface="Arial"/>
            </a:endParaRPr>
          </a:p>
        </p:txBody>
      </p:sp>
      <p:sp>
        <p:nvSpPr>
          <p:cNvPr id="439" name="Google Shape;439;p21"/>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1"/>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441" name="Google Shape;441;p21"/>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442" name="Google Shape;442;p21"/>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18</a:t>
            </a:r>
            <a:endParaRPr b="0" i="0" sz="1000" u="none" cap="none" strike="noStrike">
              <a:solidFill>
                <a:schemeClr val="dk1"/>
              </a:solidFill>
              <a:latin typeface="Arial"/>
              <a:ea typeface="Arial"/>
              <a:cs typeface="Arial"/>
              <a:sym typeface="Arial"/>
            </a:endParaRPr>
          </a:p>
        </p:txBody>
      </p:sp>
      <p:sp>
        <p:nvSpPr>
          <p:cNvPr id="443" name="Google Shape;443;p21"/>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Before leaving today, students should be able to explain their next test.</a:t>
            </a:r>
            <a:endParaRPr b="0" i="0" sz="2000" u="none" cap="none" strike="noStrike">
              <a:solidFill>
                <a:schemeClr val="dk1"/>
              </a:solidFill>
              <a:latin typeface="Arial"/>
              <a:ea typeface="Arial"/>
              <a:cs typeface="Arial"/>
              <a:sym typeface="Arial"/>
            </a:endParaRPr>
          </a:p>
        </p:txBody>
      </p:sp>
      <p:sp>
        <p:nvSpPr>
          <p:cNvPr id="444" name="Google Shape;444;p21"/>
          <p:cNvSpPr/>
          <p:nvPr/>
        </p:nvSpPr>
        <p:spPr>
          <a:xfrm>
            <a:off x="822960" y="1965960"/>
            <a:ext cx="10058400" cy="27432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000"/>
              <a:buFont typeface="Arial"/>
              <a:buNone/>
            </a:pPr>
            <a:r>
              <a:rPr b="1" i="0" lang="en-US" sz="2000" u="none" cap="none" strike="noStrike">
                <a:solidFill>
                  <a:srgbClr val="FFFFFF"/>
                </a:solidFill>
                <a:latin typeface="Arial"/>
                <a:ea typeface="Arial"/>
                <a:cs typeface="Arial"/>
                <a:sym typeface="Arial"/>
              </a:rPr>
              <a:t>Answer these three questions:</a:t>
            </a:r>
            <a:endParaRPr b="0" i="0" sz="2000" u="none" cap="none" strike="noStrike">
              <a:solidFill>
                <a:schemeClr val="dk1"/>
              </a:solidFill>
              <a:latin typeface="Arial"/>
              <a:ea typeface="Arial"/>
              <a:cs typeface="Arial"/>
              <a:sym typeface="Arial"/>
            </a:endParaRPr>
          </a:p>
        </p:txBody>
      </p:sp>
      <p:sp>
        <p:nvSpPr>
          <p:cNvPr id="445" name="Google Shape;445;p21"/>
          <p:cNvSpPr/>
          <p:nvPr/>
        </p:nvSpPr>
        <p:spPr>
          <a:xfrm>
            <a:off x="1005840" y="2606040"/>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600"/>
              <a:buFont typeface="Arial"/>
              <a:buNone/>
            </a:pPr>
            <a:r>
              <a:rPr b="1" i="0" lang="en-US" sz="1600" u="none" cap="none" strike="noStrike">
                <a:solidFill>
                  <a:srgbClr val="E32621"/>
                </a:solidFill>
                <a:latin typeface="Arial"/>
                <a:ea typeface="Arial"/>
                <a:cs typeface="Arial"/>
                <a:sym typeface="Arial"/>
              </a:rPr>
              <a:t>1.</a:t>
            </a:r>
            <a:endParaRPr b="0" i="0" sz="1600" u="none" cap="none" strike="noStrike">
              <a:solidFill>
                <a:schemeClr val="dk1"/>
              </a:solidFill>
              <a:latin typeface="Arial"/>
              <a:ea typeface="Arial"/>
              <a:cs typeface="Arial"/>
              <a:sym typeface="Arial"/>
            </a:endParaRPr>
          </a:p>
        </p:txBody>
      </p:sp>
      <p:sp>
        <p:nvSpPr>
          <p:cNvPr id="446" name="Google Shape;446;p21"/>
          <p:cNvSpPr/>
          <p:nvPr/>
        </p:nvSpPr>
        <p:spPr>
          <a:xfrm>
            <a:off x="1417320" y="2606040"/>
            <a:ext cx="96012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800"/>
              <a:buFont typeface="Arial"/>
              <a:buNone/>
            </a:pPr>
            <a:r>
              <a:rPr b="0" i="0" lang="en-US" sz="1800" u="none" cap="none" strike="noStrike">
                <a:solidFill>
                  <a:srgbClr val="B5B5B5"/>
                </a:solidFill>
                <a:latin typeface="Arial"/>
                <a:ea typeface="Arial"/>
                <a:cs typeface="Arial"/>
                <a:sym typeface="Arial"/>
              </a:rPr>
              <a:t>What will your pilot test check?</a:t>
            </a:r>
            <a:endParaRPr b="0" i="0" sz="1800" u="none" cap="none" strike="noStrike">
              <a:solidFill>
                <a:schemeClr val="dk1"/>
              </a:solidFill>
              <a:latin typeface="Arial"/>
              <a:ea typeface="Arial"/>
              <a:cs typeface="Arial"/>
              <a:sym typeface="Arial"/>
            </a:endParaRPr>
          </a:p>
        </p:txBody>
      </p:sp>
      <p:sp>
        <p:nvSpPr>
          <p:cNvPr id="447" name="Google Shape;447;p21"/>
          <p:cNvSpPr/>
          <p:nvPr/>
        </p:nvSpPr>
        <p:spPr>
          <a:xfrm>
            <a:off x="1005840" y="3172968"/>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600"/>
              <a:buFont typeface="Arial"/>
              <a:buNone/>
            </a:pPr>
            <a:r>
              <a:rPr b="1" i="0" lang="en-US" sz="1600" u="none" cap="none" strike="noStrike">
                <a:solidFill>
                  <a:srgbClr val="E32621"/>
                </a:solidFill>
                <a:latin typeface="Arial"/>
                <a:ea typeface="Arial"/>
                <a:cs typeface="Arial"/>
                <a:sym typeface="Arial"/>
              </a:rPr>
              <a:t>2.</a:t>
            </a:r>
            <a:endParaRPr b="0" i="0" sz="1600" u="none" cap="none" strike="noStrike">
              <a:solidFill>
                <a:schemeClr val="dk1"/>
              </a:solidFill>
              <a:latin typeface="Arial"/>
              <a:ea typeface="Arial"/>
              <a:cs typeface="Arial"/>
              <a:sym typeface="Arial"/>
            </a:endParaRPr>
          </a:p>
        </p:txBody>
      </p:sp>
      <p:sp>
        <p:nvSpPr>
          <p:cNvPr id="448" name="Google Shape;448;p21"/>
          <p:cNvSpPr/>
          <p:nvPr/>
        </p:nvSpPr>
        <p:spPr>
          <a:xfrm>
            <a:off x="1417320" y="3172968"/>
            <a:ext cx="96012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800"/>
              <a:buFont typeface="Arial"/>
              <a:buNone/>
            </a:pPr>
            <a:r>
              <a:rPr b="0" i="0" lang="en-US" sz="1800" u="none" cap="none" strike="noStrike">
                <a:solidFill>
                  <a:srgbClr val="B5B5B5"/>
                </a:solidFill>
                <a:latin typeface="Arial"/>
                <a:ea typeface="Arial"/>
                <a:cs typeface="Arial"/>
                <a:sym typeface="Arial"/>
              </a:rPr>
              <a:t>What problem might it reveal?</a:t>
            </a:r>
            <a:endParaRPr b="0" i="0" sz="1800" u="none" cap="none" strike="noStrike">
              <a:solidFill>
                <a:schemeClr val="dk1"/>
              </a:solidFill>
              <a:latin typeface="Arial"/>
              <a:ea typeface="Arial"/>
              <a:cs typeface="Arial"/>
              <a:sym typeface="Arial"/>
            </a:endParaRPr>
          </a:p>
        </p:txBody>
      </p:sp>
      <p:sp>
        <p:nvSpPr>
          <p:cNvPr id="449" name="Google Shape;449;p21"/>
          <p:cNvSpPr/>
          <p:nvPr/>
        </p:nvSpPr>
        <p:spPr>
          <a:xfrm>
            <a:off x="1005840" y="3739896"/>
            <a:ext cx="32004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600"/>
              <a:buFont typeface="Arial"/>
              <a:buNone/>
            </a:pPr>
            <a:r>
              <a:rPr b="1" i="0" lang="en-US" sz="1600" u="none" cap="none" strike="noStrike">
                <a:solidFill>
                  <a:srgbClr val="E32621"/>
                </a:solidFill>
                <a:latin typeface="Arial"/>
                <a:ea typeface="Arial"/>
                <a:cs typeface="Arial"/>
                <a:sym typeface="Arial"/>
              </a:rPr>
              <a:t>3.</a:t>
            </a:r>
            <a:endParaRPr b="0" i="0" sz="1600" u="none" cap="none" strike="noStrike">
              <a:solidFill>
                <a:schemeClr val="dk1"/>
              </a:solidFill>
              <a:latin typeface="Arial"/>
              <a:ea typeface="Arial"/>
              <a:cs typeface="Arial"/>
              <a:sym typeface="Arial"/>
            </a:endParaRPr>
          </a:p>
        </p:txBody>
      </p:sp>
      <p:sp>
        <p:nvSpPr>
          <p:cNvPr id="450" name="Google Shape;450;p21"/>
          <p:cNvSpPr/>
          <p:nvPr/>
        </p:nvSpPr>
        <p:spPr>
          <a:xfrm>
            <a:off x="1417320" y="3739896"/>
            <a:ext cx="960120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800"/>
              <a:buFont typeface="Arial"/>
              <a:buNone/>
            </a:pPr>
            <a:r>
              <a:rPr b="0" i="0" lang="en-US" sz="1800" u="none" cap="none" strike="noStrike">
                <a:solidFill>
                  <a:srgbClr val="B5B5B5"/>
                </a:solidFill>
                <a:latin typeface="Arial"/>
                <a:ea typeface="Arial"/>
                <a:cs typeface="Arial"/>
                <a:sym typeface="Arial"/>
              </a:rPr>
              <a:t>What decision will you make after it?</a:t>
            </a:r>
            <a:endParaRPr b="0" i="0" sz="1800" u="none" cap="none" strike="noStrike">
              <a:solidFill>
                <a:schemeClr val="dk1"/>
              </a:solidFill>
              <a:latin typeface="Arial"/>
              <a:ea typeface="Arial"/>
              <a:cs typeface="Arial"/>
              <a:sym typeface="Arial"/>
            </a:endParaRPr>
          </a:p>
        </p:txBody>
      </p:sp>
      <p:sp>
        <p:nvSpPr>
          <p:cNvPr id="451" name="Google Shape;451;p21"/>
          <p:cNvSpPr/>
          <p:nvPr/>
        </p:nvSpPr>
        <p:spPr>
          <a:xfrm>
            <a:off x="1005840" y="4846320"/>
            <a:ext cx="10058400" cy="32004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NEXT: Research Journal Setup + First Pilot Entries</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sp>
        <p:nvSpPr>
          <p:cNvPr id="457" name="Google Shape;457;p22"/>
          <p:cNvSpPr/>
          <p:nvPr/>
        </p:nvSpPr>
        <p:spPr>
          <a:xfrm>
            <a:off x="0" y="0"/>
            <a:ext cx="12191695" cy="6858000"/>
          </a:xfrm>
          <a:prstGeom prst="rect">
            <a:avLst/>
          </a:prstGeom>
          <a:solidFill>
            <a:srgbClr val="050505"/>
          </a:solidFill>
          <a:ln cap="flat" cmpd="sng" w="12700">
            <a:solidFill>
              <a:srgbClr val="05050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22"/>
          <p:cNvSpPr/>
          <p:nvPr/>
        </p:nvSpPr>
        <p:spPr>
          <a:xfrm>
            <a:off x="0" y="12801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2"/>
          <p:cNvSpPr/>
          <p:nvPr/>
        </p:nvSpPr>
        <p:spPr>
          <a:xfrm>
            <a:off x="0" y="6665976"/>
            <a:ext cx="12191695" cy="6400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2"/>
          <p:cNvSpPr/>
          <p:nvPr/>
        </p:nvSpPr>
        <p:spPr>
          <a:xfrm>
            <a:off x="502920" y="384048"/>
            <a:ext cx="1143000" cy="201168"/>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E32621"/>
              </a:buClr>
              <a:buSzPts val="1000"/>
              <a:buFont typeface="Arial"/>
              <a:buNone/>
            </a:pPr>
            <a:r>
              <a:rPr b="1" i="0" lang="en-US" sz="1000" u="none" cap="none" strike="noStrike">
                <a:solidFill>
                  <a:srgbClr val="E32621"/>
                </a:solidFill>
                <a:latin typeface="Arial"/>
                <a:ea typeface="Arial"/>
                <a:cs typeface="Arial"/>
                <a:sym typeface="Arial"/>
              </a:rPr>
              <a:t>UNIT 3  •  PILOT TESTING</a:t>
            </a:r>
            <a:endParaRPr b="0" i="0" sz="1000" u="none" cap="none" strike="noStrike">
              <a:solidFill>
                <a:schemeClr val="dk1"/>
              </a:solidFill>
              <a:latin typeface="Arial"/>
              <a:ea typeface="Arial"/>
              <a:cs typeface="Arial"/>
              <a:sym typeface="Arial"/>
            </a:endParaRPr>
          </a:p>
        </p:txBody>
      </p:sp>
      <p:sp>
        <p:nvSpPr>
          <p:cNvPr id="461" name="Google Shape;461;p22"/>
          <p:cNvSpPr/>
          <p:nvPr/>
        </p:nvSpPr>
        <p:spPr>
          <a:xfrm>
            <a:off x="502920" y="621792"/>
            <a:ext cx="10607040" cy="438912"/>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FFFFFF"/>
              </a:buClr>
              <a:buSzPts val="2700"/>
              <a:buFont typeface="Arial"/>
              <a:buNone/>
            </a:pPr>
            <a:r>
              <a:rPr b="1" i="0" lang="en-US" sz="2700" u="none" cap="none" strike="noStrike">
                <a:solidFill>
                  <a:srgbClr val="FFFFFF"/>
                </a:solidFill>
                <a:latin typeface="Arial"/>
                <a:ea typeface="Arial"/>
                <a:cs typeface="Arial"/>
                <a:sym typeface="Arial"/>
              </a:rPr>
              <a:t>Next Step in STARLAB</a:t>
            </a:r>
            <a:endParaRPr b="0" i="0" sz="2700" u="none" cap="none" strike="noStrike">
              <a:solidFill>
                <a:schemeClr val="dk1"/>
              </a:solidFill>
              <a:latin typeface="Arial"/>
              <a:ea typeface="Arial"/>
              <a:cs typeface="Arial"/>
              <a:sym typeface="Arial"/>
            </a:endParaRPr>
          </a:p>
        </p:txBody>
      </p:sp>
      <p:sp>
        <p:nvSpPr>
          <p:cNvPr id="462" name="Google Shape;462;p22"/>
          <p:cNvSpPr/>
          <p:nvPr/>
        </p:nvSpPr>
        <p:spPr>
          <a:xfrm>
            <a:off x="502920" y="1179576"/>
            <a:ext cx="1051560" cy="32004"/>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22"/>
          <p:cNvSpPr/>
          <p:nvPr/>
        </p:nvSpPr>
        <p:spPr>
          <a:xfrm>
            <a:off x="411480" y="6446520"/>
            <a:ext cx="5303520" cy="22860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UNIT 3  •  PILOT TESTING</a:t>
            </a:r>
            <a:endParaRPr b="0" i="0" sz="1050" u="none" cap="none" strike="noStrike">
              <a:solidFill>
                <a:schemeClr val="dk1"/>
              </a:solidFill>
              <a:latin typeface="Arial"/>
              <a:ea typeface="Arial"/>
              <a:cs typeface="Arial"/>
              <a:sym typeface="Arial"/>
            </a:endParaRPr>
          </a:p>
        </p:txBody>
      </p:sp>
      <p:sp>
        <p:nvSpPr>
          <p:cNvPr id="464" name="Google Shape;464;p22"/>
          <p:cNvSpPr/>
          <p:nvPr/>
        </p:nvSpPr>
        <p:spPr>
          <a:xfrm>
            <a:off x="10515600" y="6446520"/>
            <a:ext cx="11430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50"/>
              <a:buFont typeface="Arial"/>
              <a:buNone/>
            </a:pPr>
            <a:r>
              <a:rPr b="1" i="0" lang="en-US" sz="1050" u="none" cap="none" strike="noStrike">
                <a:solidFill>
                  <a:srgbClr val="B5B5B5"/>
                </a:solidFill>
                <a:latin typeface="Arial"/>
                <a:ea typeface="Arial"/>
                <a:cs typeface="Arial"/>
                <a:sym typeface="Arial"/>
              </a:rPr>
              <a:t>STARLAB</a:t>
            </a:r>
            <a:endParaRPr b="0" i="0" sz="1050" u="none" cap="none" strike="noStrike">
              <a:solidFill>
                <a:schemeClr val="dk1"/>
              </a:solidFill>
              <a:latin typeface="Arial"/>
              <a:ea typeface="Arial"/>
              <a:cs typeface="Arial"/>
              <a:sym typeface="Arial"/>
            </a:endParaRPr>
          </a:p>
        </p:txBody>
      </p:sp>
      <p:sp>
        <p:nvSpPr>
          <p:cNvPr id="465" name="Google Shape;465;p22"/>
          <p:cNvSpPr/>
          <p:nvPr/>
        </p:nvSpPr>
        <p:spPr>
          <a:xfrm>
            <a:off x="11750040" y="6446520"/>
            <a:ext cx="228600" cy="228600"/>
          </a:xfrm>
          <a:prstGeom prst="rect">
            <a:avLst/>
          </a:prstGeom>
          <a:noFill/>
          <a:ln>
            <a:noFill/>
          </a:ln>
        </p:spPr>
        <p:txBody>
          <a:bodyPr anchorCtr="0" anchor="ctr" bIns="625" lIns="625" spcFirstLastPara="1" rIns="625" wrap="square" tIns="625">
            <a:noAutofit/>
          </a:bodyPr>
          <a:lstStyle/>
          <a:p>
            <a:pPr indent="0" lvl="0" marL="0" marR="0" rtl="0" algn="r">
              <a:spcBef>
                <a:spcPts val="0"/>
              </a:spcBef>
              <a:spcAft>
                <a:spcPts val="0"/>
              </a:spcAft>
              <a:buClr>
                <a:srgbClr val="B5B5B5"/>
              </a:buClr>
              <a:buSzPts val="1000"/>
              <a:buFont typeface="Arial"/>
              <a:buNone/>
            </a:pPr>
            <a:r>
              <a:rPr b="0" i="0" lang="en-US" sz="1000" u="none" cap="none" strike="noStrike">
                <a:solidFill>
                  <a:srgbClr val="B5B5B5"/>
                </a:solidFill>
                <a:latin typeface="Arial"/>
                <a:ea typeface="Arial"/>
                <a:cs typeface="Arial"/>
                <a:sym typeface="Arial"/>
              </a:rPr>
              <a:t>19</a:t>
            </a:r>
            <a:endParaRPr b="0" i="0" sz="1000" u="none" cap="none" strike="noStrike">
              <a:solidFill>
                <a:schemeClr val="dk1"/>
              </a:solidFill>
              <a:latin typeface="Arial"/>
              <a:ea typeface="Arial"/>
              <a:cs typeface="Arial"/>
              <a:sym typeface="Arial"/>
            </a:endParaRPr>
          </a:p>
        </p:txBody>
      </p:sp>
      <p:sp>
        <p:nvSpPr>
          <p:cNvPr id="466" name="Google Shape;466;p22"/>
          <p:cNvSpPr/>
          <p:nvPr/>
        </p:nvSpPr>
        <p:spPr>
          <a:xfrm>
            <a:off x="685800" y="1325880"/>
            <a:ext cx="10332720" cy="320040"/>
          </a:xfrm>
          <a:prstGeom prst="rect">
            <a:avLst/>
          </a:prstGeom>
          <a:noFill/>
          <a:ln>
            <a:noFill/>
          </a:ln>
        </p:spPr>
        <p:txBody>
          <a:bodyPr anchorCtr="0" anchor="ctr" bIns="625" lIns="625" spcFirstLastPara="1" rIns="625" wrap="square" tIns="625">
            <a:noAutofit/>
          </a:bodyPr>
          <a:lstStyle/>
          <a:p>
            <a:pPr indent="0" lvl="0" marL="0" marR="0" rtl="0" algn="l">
              <a:spcBef>
                <a:spcPts val="0"/>
              </a:spcBef>
              <a:spcAft>
                <a:spcPts val="0"/>
              </a:spcAft>
              <a:buClr>
                <a:srgbClr val="B5B5B5"/>
              </a:buClr>
              <a:buSzPts val="2000"/>
              <a:buFont typeface="Arial"/>
              <a:buNone/>
            </a:pPr>
            <a:r>
              <a:rPr b="0" i="0" lang="en-US" sz="2000" u="none" cap="none" strike="noStrike">
                <a:solidFill>
                  <a:srgbClr val="B5B5B5"/>
                </a:solidFill>
                <a:latin typeface="Arial"/>
                <a:ea typeface="Arial"/>
                <a:cs typeface="Arial"/>
                <a:sym typeface="Arial"/>
              </a:rPr>
              <a:t>Pilot testing turns a plan into a working research process.</a:t>
            </a:r>
            <a:endParaRPr b="0" i="0" sz="2000" u="none" cap="none" strike="noStrike">
              <a:solidFill>
                <a:schemeClr val="dk1"/>
              </a:solidFill>
              <a:latin typeface="Arial"/>
              <a:ea typeface="Arial"/>
              <a:cs typeface="Arial"/>
              <a:sym typeface="Arial"/>
            </a:endParaRPr>
          </a:p>
        </p:txBody>
      </p:sp>
      <p:sp>
        <p:nvSpPr>
          <p:cNvPr id="467" name="Google Shape;467;p22"/>
          <p:cNvSpPr/>
          <p:nvPr/>
        </p:nvSpPr>
        <p:spPr>
          <a:xfrm>
            <a:off x="1463040" y="2331720"/>
            <a:ext cx="2148840" cy="960120"/>
          </a:xfrm>
          <a:prstGeom prst="roundRect">
            <a:avLst>
              <a:gd fmla="val 7619" name="adj"/>
            </a:avLst>
          </a:prstGeom>
          <a:solidFill>
            <a:srgbClr val="0A0A0A"/>
          </a:solidFill>
          <a:ln cap="flat" cmpd="sng" w="12700">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2"/>
          <p:cNvSpPr/>
          <p:nvPr/>
        </p:nvSpPr>
        <p:spPr>
          <a:xfrm>
            <a:off x="1554480" y="2633472"/>
            <a:ext cx="1965960" cy="256032"/>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PLAN</a:t>
            </a:r>
            <a:endParaRPr b="0" i="0" sz="2300" u="none" cap="none" strike="noStrike">
              <a:solidFill>
                <a:schemeClr val="dk1"/>
              </a:solidFill>
              <a:latin typeface="Arial"/>
              <a:ea typeface="Arial"/>
              <a:cs typeface="Arial"/>
              <a:sym typeface="Arial"/>
            </a:endParaRPr>
          </a:p>
        </p:txBody>
      </p:sp>
      <p:cxnSp>
        <p:nvCxnSpPr>
          <p:cNvPr id="469" name="Google Shape;469;p22"/>
          <p:cNvCxnSpPr/>
          <p:nvPr/>
        </p:nvCxnSpPr>
        <p:spPr>
          <a:xfrm>
            <a:off x="3794760" y="2816352"/>
            <a:ext cx="594360" cy="0"/>
          </a:xfrm>
          <a:prstGeom prst="straightConnector1">
            <a:avLst/>
          </a:prstGeom>
          <a:noFill/>
          <a:ln cap="flat" cmpd="sng" w="15225">
            <a:solidFill>
              <a:srgbClr val="B5B5B5"/>
            </a:solidFill>
            <a:prstDash val="solid"/>
            <a:round/>
            <a:headEnd len="sm" w="sm" type="none"/>
            <a:tailEnd len="sm" w="sm" type="none"/>
          </a:ln>
        </p:spPr>
      </p:cxnSp>
      <p:sp>
        <p:nvSpPr>
          <p:cNvPr id="470" name="Google Shape;470;p22"/>
          <p:cNvSpPr/>
          <p:nvPr/>
        </p:nvSpPr>
        <p:spPr>
          <a:xfrm>
            <a:off x="4617720" y="2331720"/>
            <a:ext cx="2148840" cy="960120"/>
          </a:xfrm>
          <a:prstGeom prst="roundRect">
            <a:avLst>
              <a:gd fmla="val 7619" name="adj"/>
            </a:avLst>
          </a:prstGeom>
          <a:solidFill>
            <a:srgbClr val="E32621"/>
          </a:solidFill>
          <a:ln cap="flat" cmpd="sng" w="12700">
            <a:solidFill>
              <a:srgbClr val="E3262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22"/>
          <p:cNvSpPr/>
          <p:nvPr/>
        </p:nvSpPr>
        <p:spPr>
          <a:xfrm>
            <a:off x="4709160" y="2633472"/>
            <a:ext cx="1965960" cy="256032"/>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PILOT</a:t>
            </a:r>
            <a:endParaRPr b="0" i="0" sz="2300" u="none" cap="none" strike="noStrike">
              <a:solidFill>
                <a:schemeClr val="dk1"/>
              </a:solidFill>
              <a:latin typeface="Arial"/>
              <a:ea typeface="Arial"/>
              <a:cs typeface="Arial"/>
              <a:sym typeface="Arial"/>
            </a:endParaRPr>
          </a:p>
        </p:txBody>
      </p:sp>
      <p:cxnSp>
        <p:nvCxnSpPr>
          <p:cNvPr id="472" name="Google Shape;472;p22"/>
          <p:cNvCxnSpPr/>
          <p:nvPr/>
        </p:nvCxnSpPr>
        <p:spPr>
          <a:xfrm>
            <a:off x="6949440" y="2816352"/>
            <a:ext cx="594360" cy="0"/>
          </a:xfrm>
          <a:prstGeom prst="straightConnector1">
            <a:avLst/>
          </a:prstGeom>
          <a:noFill/>
          <a:ln cap="flat" cmpd="sng" w="15225">
            <a:solidFill>
              <a:srgbClr val="B5B5B5"/>
            </a:solidFill>
            <a:prstDash val="solid"/>
            <a:round/>
            <a:headEnd len="sm" w="sm" type="none"/>
            <a:tailEnd len="sm" w="sm" type="none"/>
          </a:ln>
        </p:spPr>
      </p:cxnSp>
      <p:sp>
        <p:nvSpPr>
          <p:cNvPr id="473" name="Google Shape;473;p22"/>
          <p:cNvSpPr/>
          <p:nvPr/>
        </p:nvSpPr>
        <p:spPr>
          <a:xfrm>
            <a:off x="7772400" y="2331720"/>
            <a:ext cx="2148840" cy="960120"/>
          </a:xfrm>
          <a:prstGeom prst="roundRect">
            <a:avLst>
              <a:gd fmla="val 7619" name="adj"/>
            </a:avLst>
          </a:prstGeom>
          <a:solidFill>
            <a:srgbClr val="0A0A0A"/>
          </a:solidFill>
          <a:ln cap="flat" cmpd="sng" w="12700">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2"/>
          <p:cNvSpPr/>
          <p:nvPr/>
        </p:nvSpPr>
        <p:spPr>
          <a:xfrm>
            <a:off x="7863840" y="2633472"/>
            <a:ext cx="1965960" cy="256032"/>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REVISE</a:t>
            </a:r>
            <a:endParaRPr b="0" i="0" sz="2300" u="none" cap="none" strike="noStrike">
              <a:solidFill>
                <a:schemeClr val="dk1"/>
              </a:solidFill>
              <a:latin typeface="Arial"/>
              <a:ea typeface="Arial"/>
              <a:cs typeface="Arial"/>
              <a:sym typeface="Arial"/>
            </a:endParaRPr>
          </a:p>
        </p:txBody>
      </p:sp>
      <p:sp>
        <p:nvSpPr>
          <p:cNvPr id="475" name="Google Shape;475;p22"/>
          <p:cNvSpPr/>
          <p:nvPr/>
        </p:nvSpPr>
        <p:spPr>
          <a:xfrm>
            <a:off x="1097280" y="4160520"/>
            <a:ext cx="9966960" cy="32004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Then, and only then, students begin systematic data collection.</a:t>
            </a:r>
            <a:endParaRPr b="0" i="0" sz="2200" u="none" cap="none" strike="noStrike">
              <a:solidFill>
                <a:schemeClr val="dk1"/>
              </a:solidFill>
              <a:latin typeface="Arial"/>
              <a:ea typeface="Arial"/>
              <a:cs typeface="Arial"/>
              <a:sym typeface="Arial"/>
            </a:endParaRPr>
          </a:p>
        </p:txBody>
      </p:sp>
      <p:sp>
        <p:nvSpPr>
          <p:cNvPr id="476" name="Google Shape;476;p22"/>
          <p:cNvSpPr/>
          <p:nvPr/>
        </p:nvSpPr>
        <p:spPr>
          <a:xfrm>
            <a:off x="1097280" y="4617720"/>
            <a:ext cx="9966960" cy="274320"/>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B5B5B5"/>
              </a:buClr>
              <a:buSzPts val="1800"/>
              <a:buFont typeface="Arial"/>
              <a:buNone/>
            </a:pPr>
            <a:r>
              <a:rPr b="0" i="0" lang="en-US" sz="1800" u="none" cap="none" strike="noStrike">
                <a:solidFill>
                  <a:srgbClr val="B5B5B5"/>
                </a:solidFill>
                <a:latin typeface="Arial"/>
                <a:ea typeface="Arial"/>
                <a:cs typeface="Arial"/>
                <a:sym typeface="Arial"/>
              </a:rPr>
              <a:t>The stronger the pilot, the stronger the project.</a:t>
            </a:r>
            <a:endParaRPr b="0" i="0" sz="1800" u="none" cap="none" strike="noStrike">
              <a:solidFill>
                <a:schemeClr val="dk1"/>
              </a:solidFill>
              <a:latin typeface="Arial"/>
              <a:ea typeface="Arial"/>
              <a:cs typeface="Arial"/>
              <a:sym typeface="Arial"/>
            </a:endParaRPr>
          </a:p>
        </p:txBody>
      </p:sp>
      <p:sp>
        <p:nvSpPr>
          <p:cNvPr id="477" name="Google Shape;477;p22"/>
          <p:cNvSpPr/>
          <p:nvPr/>
        </p:nvSpPr>
        <p:spPr>
          <a:xfrm>
            <a:off x="3246120" y="5486400"/>
            <a:ext cx="5669280" cy="384048"/>
          </a:xfrm>
          <a:prstGeom prst="rect">
            <a:avLst/>
          </a:prstGeom>
          <a:solidFill>
            <a:srgbClr val="E32621"/>
          </a:solidFill>
          <a:ln cap="flat" cmpd="sng" w="12700">
            <a:solidFill>
              <a:srgbClr val="E32621">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2"/>
          <p:cNvSpPr/>
          <p:nvPr/>
        </p:nvSpPr>
        <p:spPr>
          <a:xfrm>
            <a:off x="3401568" y="5586984"/>
            <a:ext cx="5358384" cy="164592"/>
          </a:xfrm>
          <a:prstGeom prst="rect">
            <a:avLst/>
          </a:prstGeom>
          <a:noFill/>
          <a:ln>
            <a:noFill/>
          </a:ln>
        </p:spPr>
        <p:txBody>
          <a:bodyPr anchorCtr="0" anchor="ctr" bIns="625" lIns="625" spcFirstLastPara="1" rIns="625" wrap="square" tIns="625">
            <a:noAutofit/>
          </a:bodyPr>
          <a:lstStyle/>
          <a:p>
            <a:pPr indent="0" lvl="0" marL="0" marR="0" rtl="0" algn="ctr">
              <a:spcBef>
                <a:spcPts val="0"/>
              </a:spcBef>
              <a:spcAft>
                <a:spcPts val="0"/>
              </a:spcAft>
              <a:buClr>
                <a:srgbClr val="FFFFFF"/>
              </a:buClr>
              <a:buSzPts val="1050"/>
              <a:buFont typeface="Arial"/>
              <a:buNone/>
            </a:pPr>
            <a:r>
              <a:rPr b="1" i="0" lang="en-US" sz="1050" u="none" cap="none" strike="noStrike">
                <a:solidFill>
                  <a:srgbClr val="FFFFFF"/>
                </a:solidFill>
                <a:latin typeface="Arial"/>
                <a:ea typeface="Arial"/>
                <a:cs typeface="Arial"/>
                <a:sym typeface="Arial"/>
              </a:rPr>
              <a:t>NEXT DECK: RESEARCH JOURNALS AND SCIENTIFIC DOCUMENTATION</a:t>
            </a:r>
            <a:endParaRPr b="0" i="0" sz="105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