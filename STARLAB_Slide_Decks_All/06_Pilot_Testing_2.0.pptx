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45dd06e680d4147" /><Relationship Type="http://schemas.openxmlformats.org/officeDocument/2006/relationships/extended-properties" Target="/docProps/app.xml" Id="R8c0543e2cb204812" /><Relationship Type="http://schemas.openxmlformats.org/officeDocument/2006/relationships/officeDocument" Target="/ppt/presentation.xml" Id="R85c532bd9bce41bd" /></Relationships>
</file>

<file path=ppt/presentation.xml><?xml version="1.0" encoding="utf-8"?>
<p:presentation xmlns:p="http://schemas.openxmlformats.org/presentationml/2006/main">
  <p:sldMasterIdLst>
    <p:sldMasterId xmlns:r="http://schemas.openxmlformats.org/officeDocument/2006/relationships" id="2147483648" r:id="R43822f3e4a324d03"/>
  </p:sldMasterIdLst>
  <p:notesMasterIdLst>
    <p:notesMasterId xmlns:r="http://schemas.openxmlformats.org/officeDocument/2006/relationships" r:id="R4742c45e35f04acc"/>
  </p:notesMasterIdLst>
  <p:sldIdLst>
    <p:sldId xmlns:r="http://schemas.openxmlformats.org/officeDocument/2006/relationships" id="256" r:id="Rd263e6aeab8945c8"/>
    <p:sldId xmlns:r="http://schemas.openxmlformats.org/officeDocument/2006/relationships" id="257" r:id="R315887c650cc45c8"/>
    <p:sldId xmlns:r="http://schemas.openxmlformats.org/officeDocument/2006/relationships" id="258" r:id="R65a9533dba4d44e9"/>
    <p:sldId xmlns:r="http://schemas.openxmlformats.org/officeDocument/2006/relationships" id="259" r:id="R3fc5a7a09cee4604"/>
    <p:sldId xmlns:r="http://schemas.openxmlformats.org/officeDocument/2006/relationships" id="260" r:id="R12e1abdfc4e847ba"/>
    <p:sldId xmlns:r="http://schemas.openxmlformats.org/officeDocument/2006/relationships" id="261" r:id="R678a335dc2834eed"/>
    <p:sldId xmlns:r="http://schemas.openxmlformats.org/officeDocument/2006/relationships" id="262" r:id="Rfe447b6992104436"/>
    <p:sldId xmlns:r="http://schemas.openxmlformats.org/officeDocument/2006/relationships" id="263" r:id="R80b25815496d4226"/>
    <p:sldId xmlns:r="http://schemas.openxmlformats.org/officeDocument/2006/relationships" id="264" r:id="R83e16ed39a8242f1"/>
    <p:sldId xmlns:r="http://schemas.openxmlformats.org/officeDocument/2006/relationships" id="265" r:id="R3eb293b0169840c0"/>
    <p:sldId xmlns:r="http://schemas.openxmlformats.org/officeDocument/2006/relationships" id="266" r:id="Redc45018e05f450c"/>
    <p:sldId xmlns:r="http://schemas.openxmlformats.org/officeDocument/2006/relationships" id="267" r:id="Ra01a3b96e6644098"/>
    <p:sldId xmlns:r="http://schemas.openxmlformats.org/officeDocument/2006/relationships" id="268" r:id="Rb5e9b9a145aa4c68"/>
    <p:sldId xmlns:r="http://schemas.openxmlformats.org/officeDocument/2006/relationships" id="269" r:id="R0ac97f90d8f94902"/>
    <p:sldId xmlns:r="http://schemas.openxmlformats.org/officeDocument/2006/relationships" id="270" r:id="Rc874321584134548"/>
    <p:sldId xmlns:r="http://schemas.openxmlformats.org/officeDocument/2006/relationships" id="271" r:id="R5e96594487994b97"/>
    <p:sldId xmlns:r="http://schemas.openxmlformats.org/officeDocument/2006/relationships" id="272" r:id="R98ea791bd5004298"/>
    <p:sldId xmlns:r="http://schemas.openxmlformats.org/officeDocument/2006/relationships" id="273" r:id="Reac17cedd0ab4fa5"/>
    <p:sldId xmlns:r="http://schemas.openxmlformats.org/officeDocument/2006/relationships" id="274" r:id="Rf65b243be8e445aa"/>
  </p:sldIdLst>
  <p:sldSz cx="1219167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bb19bdf6b44a3c" /><Relationship Type="http://schemas.openxmlformats.org/officeDocument/2006/relationships/slideMaster" Target="/ppt/slideMasters/slideMaster1.xml" Id="R43822f3e4a324d03" /><Relationship Type="http://schemas.openxmlformats.org/officeDocument/2006/relationships/notesMaster" Target="/ppt/notesMasters/notesMaster1.xml" Id="R4742c45e35f04acc" /><Relationship Type="http://schemas.openxmlformats.org/officeDocument/2006/relationships/presProps" Target="/ppt/presProps.xml" Id="R28a1c855cdcd4606" /><Relationship Type="http://schemas.openxmlformats.org/officeDocument/2006/relationships/tableStyles" Target="/ppt/tableStyles.xml" Id="R912cd32285524c76" /><Relationship Type="http://schemas.openxmlformats.org/officeDocument/2006/relationships/slide" Target="/ppt/slides/slide1.xml" Id="Rd263e6aeab8945c8" /><Relationship Type="http://schemas.openxmlformats.org/officeDocument/2006/relationships/slide" Target="/ppt/slides/slide2.xml" Id="R315887c650cc45c8" /><Relationship Type="http://schemas.openxmlformats.org/officeDocument/2006/relationships/slide" Target="/ppt/slides/slide3.xml" Id="R65a9533dba4d44e9" /><Relationship Type="http://schemas.openxmlformats.org/officeDocument/2006/relationships/slide" Target="/ppt/slides/slide4.xml" Id="R3fc5a7a09cee4604" /><Relationship Type="http://schemas.openxmlformats.org/officeDocument/2006/relationships/slide" Target="/ppt/slides/slide5.xml" Id="R12e1abdfc4e847ba" /><Relationship Type="http://schemas.openxmlformats.org/officeDocument/2006/relationships/slide" Target="/ppt/slides/slide6.xml" Id="R678a335dc2834eed" /><Relationship Type="http://schemas.openxmlformats.org/officeDocument/2006/relationships/slide" Target="/ppt/slides/slide7.xml" Id="Rfe447b6992104436" /><Relationship Type="http://schemas.openxmlformats.org/officeDocument/2006/relationships/slide" Target="/ppt/slides/slide8.xml" Id="R80b25815496d4226" /><Relationship Type="http://schemas.openxmlformats.org/officeDocument/2006/relationships/slide" Target="/ppt/slides/slide9.xml" Id="R83e16ed39a8242f1" /><Relationship Type="http://schemas.openxmlformats.org/officeDocument/2006/relationships/slide" Target="/ppt/slides/slide10.xml" Id="R3eb293b0169840c0" /><Relationship Type="http://schemas.openxmlformats.org/officeDocument/2006/relationships/slide" Target="/ppt/slides/slide11.xml" Id="Redc45018e05f450c" /><Relationship Type="http://schemas.openxmlformats.org/officeDocument/2006/relationships/slide" Target="/ppt/slides/slide12.xml" Id="Ra01a3b96e6644098" /><Relationship Type="http://schemas.openxmlformats.org/officeDocument/2006/relationships/slide" Target="/ppt/slides/slide13.xml" Id="Rb5e9b9a145aa4c68" /><Relationship Type="http://schemas.openxmlformats.org/officeDocument/2006/relationships/slide" Target="/ppt/slides/slide14.xml" Id="R0ac97f90d8f94902" /><Relationship Type="http://schemas.openxmlformats.org/officeDocument/2006/relationships/slide" Target="/ppt/slides/slide15.xml" Id="Rc874321584134548" /><Relationship Type="http://schemas.openxmlformats.org/officeDocument/2006/relationships/slide" Target="/ppt/slides/slide16.xml" Id="R5e96594487994b97" /><Relationship Type="http://schemas.openxmlformats.org/officeDocument/2006/relationships/slide" Target="/ppt/slides/slide17.xml" Id="R98ea791bd5004298" /><Relationship Type="http://schemas.openxmlformats.org/officeDocument/2006/relationships/slide" Target="/ppt/slides/slide18.xml" Id="Reac17cedd0ab4fa5" /><Relationship Type="http://schemas.openxmlformats.org/officeDocument/2006/relationships/slide" Target="/ppt/slides/slide19.xml" Id="Rf65b243be8e445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a0854f77754b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455825d9e3419f" /><Relationship Type="http://schemas.openxmlformats.org/officeDocument/2006/relationships/notesMaster" Target="/ppt/notesMasters/notesMaster1.xml" Id="R6d5e9cb6a83849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a56ed2ee37f4960" /><Relationship Type="http://schemas.openxmlformats.org/officeDocument/2006/relationships/notesMaster" Target="/ppt/notesMasters/notesMaster1.xml" Id="Rad8b4c6cc23e4f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3eb6050f49485b" /><Relationship Type="http://schemas.openxmlformats.org/officeDocument/2006/relationships/notesMaster" Target="/ppt/notesMasters/notesMaster1.xml" Id="R435e01b89f7a4b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89f97dea44479b" /><Relationship Type="http://schemas.openxmlformats.org/officeDocument/2006/relationships/notesMaster" Target="/ppt/notesMasters/notesMaster1.xml" Id="R6d91584442eb4f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1b1b312f36488b" /><Relationship Type="http://schemas.openxmlformats.org/officeDocument/2006/relationships/notesMaster" Target="/ppt/notesMasters/notesMaster1.xml" Id="R56d57974a4a641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6739c59d3a4bbf" /><Relationship Type="http://schemas.openxmlformats.org/officeDocument/2006/relationships/notesMaster" Target="/ppt/notesMasters/notesMaster1.xml" Id="Rd4e39e49867f4e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c324605d9ca46f8" /><Relationship Type="http://schemas.openxmlformats.org/officeDocument/2006/relationships/notesMaster" Target="/ppt/notesMasters/notesMaster1.xml" Id="R4e1f1c33665547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a69488cae54dde" /><Relationship Type="http://schemas.openxmlformats.org/officeDocument/2006/relationships/notesMaster" Target="/ppt/notesMasters/notesMaster1.xml" Id="R8c1f928d708243e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ac781ccfdd4f9b" /><Relationship Type="http://schemas.openxmlformats.org/officeDocument/2006/relationships/notesMaster" Target="/ppt/notesMasters/notesMaster1.xml" Id="R488cf28333cf42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bca97dafb5c4e35" /><Relationship Type="http://schemas.openxmlformats.org/officeDocument/2006/relationships/notesMaster" Target="/ppt/notesMasters/notesMaster1.xml" Id="Ra61059f6e3574c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e26f73192c4c58" /><Relationship Type="http://schemas.openxmlformats.org/officeDocument/2006/relationships/notesMaster" Target="/ppt/notesMasters/notesMaster1.xml" Id="R8df077edf3ca4a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18aa5d3bc447b3" /><Relationship Type="http://schemas.openxmlformats.org/officeDocument/2006/relationships/notesMaster" Target="/ppt/notesMasters/notesMaster1.xml" Id="Rd62d9c1a103240c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ea67f0299ea43e7" /><Relationship Type="http://schemas.openxmlformats.org/officeDocument/2006/relationships/notesMaster" Target="/ppt/notesMasters/notesMaster1.xml" Id="Re889eb39cdec49f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115e0228ad489a" /><Relationship Type="http://schemas.openxmlformats.org/officeDocument/2006/relationships/notesMaster" Target="/ppt/notesMasters/notesMaster1.xml" Id="R282425ee2fe64ea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5c1ae17b1e64855" /><Relationship Type="http://schemas.openxmlformats.org/officeDocument/2006/relationships/notesMaster" Target="/ppt/notesMasters/notesMaster1.xml" Id="R6a6405681ff2439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dda5befbfe141d6" /><Relationship Type="http://schemas.openxmlformats.org/officeDocument/2006/relationships/notesMaster" Target="/ppt/notesMasters/notesMaster1.xml" Id="R8ec7ab5271204ac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07ee8a404346b2" /><Relationship Type="http://schemas.openxmlformats.org/officeDocument/2006/relationships/notesMaster" Target="/ppt/notesMasters/notesMaster1.xml" Id="R624fac384b3e493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2645262d1834044" /><Relationship Type="http://schemas.openxmlformats.org/officeDocument/2006/relationships/notesMaster" Target="/ppt/notesMasters/notesMaster1.xml" Id="R5ad04a56f4ab491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08e611f71f94ee5" /><Relationship Type="http://schemas.openxmlformats.org/officeDocument/2006/relationships/notesMaster" Target="/ppt/notesMasters/notesMaster1.xml" Id="Rb9849e59bb9547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3, Week 5</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PAIRED PRIMARY DECK</a:t>
            </a:r>
          </a:p>
          <a:p xmlns:a="http://schemas.openxmlformats.org/drawingml/2006/main">
            <a:pPr marL="0" indent="0" algn="l">
              <a:spcBef>
                <a:spcPts val="0"/>
              </a:spcBef>
              <a:spcAft>
                <a:spcPts val="0"/>
              </a:spcAft>
              <a:buNone/>
            </a:pPr>
            <a:r>
              <a:t>Deck 7: Research Journals and Scientific Documentation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5 MATERIALS</a:t>
            </a:r>
          </a:p>
          <a:p xmlns:a="http://schemas.openxmlformats.org/drawingml/2006/main">
            <a:pPr marL="0" indent="0" algn="l">
              <a:spcBef>
                <a:spcPts val="0"/>
              </a:spcBef>
              <a:spcAft>
                <a:spcPts val="0"/>
              </a:spcAft>
              <a:buNone/>
            </a:pPr>
            <a:r>
              <a:t>- Unit 3 Student Handouts 1-3</a:t>
            </a:r>
          </a:p>
          <a:p xmlns:a="http://schemas.openxmlformats.org/drawingml/2006/main">
            <a:pPr marL="0" indent="0" algn="l">
              <a:spcBef>
                <a:spcPts val="0"/>
              </a:spcBef>
              <a:spcAft>
                <a:spcPts val="0"/>
              </a:spcAft>
              <a:buNone/>
            </a:pPr>
            <a:r>
              <a:t>- Unit 3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Launch pilot testing only after project approval. Week 6 troubleshooting materials belong with Deck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Preview the lesson and tell students the day ends with a usable pilot test plan. Avoid letting the deck become a lecture only; students should complete parts of the Pilot Test Plan during the lesson.</a:t>
            </a:r>
            <a:br/>
            <a:br/>
            <a:r>
              <a:t>Resource alignment:</a:t>
            </a:r>
            <a:br/>
            <a:r>
              <a:t>Use with Unit 3 Student Handout 1: Pilot Test Plan. This slide sets the purpose for the handout and the lesson. Next deck connection: Deck 7: Research Journals and Scientific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contrast to prevent students from treating pilot data as automatically final. Ask: What could go wrong if we start the “real” experiment too soon? Collect 3–4 answers aloud.</a:t>
            </a:r>
            <a:br/>
            <a:br/>
            <a:r>
              <a:t>Resource alignment:</a:t>
            </a:r>
            <a:br/>
            <a:r>
              <a:t>Use before students complete the first planning sections of Unit 3 Student Handout 1: Pilot Test Plan. Also supports Unit 3 Appendix A: What Is Pilot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write this definition in their own words on the Pilot Test Plan. Emphasize that a failed pilot can be a successful pilot if it reveals an important problem.</a:t>
            </a:r>
            <a:br/>
            <a:br/>
            <a:r>
              <a:t>Resource alignment:</a:t>
            </a:r>
            <a:br/>
            <a:r>
              <a:t>Use with Unit 3 Student Handout 1: Pilot Test Plan, Part A. Reference Unit 3 Appendix A: What Is Pilot Testing? for the formal definition and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Pause after “is not proof.” This prevents overclaiming later. Activity prompt: Students circle one “is” and one “is not” that they most need to remember.</a:t>
            </a:r>
            <a:br/>
            <a:br/>
            <a:r>
              <a:t>Resource alignment:</a:t>
            </a:r>
            <a:br/>
            <a:r>
              <a:t>Use with Unit 3 Appendix A: What Is Pilot Testing? This slide can also lead into Unit 3 Student Handout 1: Pilot Test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Introduce the five categories students will use in their Pilot Test Plan and Troubleshooting Log. Ask students to predict which category is most likely to cause problems in their own project.</a:t>
            </a:r>
            <a:br/>
            <a:br/>
            <a:r>
              <a:t>Resource alignment:</a:t>
            </a:r>
            <a:br/>
            <a:r>
              <a:t>Use with Unit 3 Student Handout 1: Pilot Test Plan and Unit 3 Student Handout 4: Pilot Test Reflection and Troubleshooting Log. Reference Unit 3 Appendix A: What Is Pilot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Walk students through why this is not “bad research.” The pilot made the project stronger by turning vague visual judgment into a repeatable measurement plan.</a:t>
            </a:r>
            <a:br/>
            <a:br/>
            <a:r>
              <a:t>Resource alignment:</a:t>
            </a:r>
            <a:br/>
            <a:r>
              <a:t>Use as a model before students complete Unit 3 Student Handout 1: Pilot Test Plan or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as a quick think-pair-share. Students look at their planned data table from Unit 2 and identify one column they may need to add before testing.</a:t>
            </a:r>
            <a:br/>
            <a:br/>
            <a:r>
              <a:t>Resource alignment:</a:t>
            </a:r>
            <a:br/>
            <a:r>
              <a:t>Use with Unit 3 Student Handout 1: Pilot Test Plan and Unit 2 Student Handout 8: Data Collection Plan if students have it available. This also prepares students for Unit 3 Student Handout 7: Data Table Audit later in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especially useful for engineering students. Normalize failure mode analysis. A failed prototype test can reveal that the testing setup, not the prototype itself, is the problem.</a:t>
            </a:r>
            <a:br/>
            <a:br/>
            <a:r>
              <a:t>Resource alignment:</a:t>
            </a:r>
            <a:br/>
            <a:r>
              <a:t>Use with Unit 3 Student Handout 4: Pilot Test Reflection and Troubleshooting Log and Unit 3 Appendix D: Types of Research Problems.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begin filling in the Pilot Test Plan here. The most important question is #1: what specifically are they testing? The pilot should not try to answer everything.</a:t>
            </a:r>
            <a:br/>
            <a:br/>
            <a:r>
              <a:t>Resource alignment:</a:t>
            </a:r>
            <a:br/>
            <a:r>
              <a:t>Use with Unit 3 Student Handout 1: Pilot Test Plan, especially Parts A–D. Reference Unit 3 Appendix C: Safety Check Before Testing before any live testing begins.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students quiet writing time first, then let them talk with a partner. Circulate and ask: Is this truly a small test? What decision will this pilot help you make?</a:t>
            </a:r>
            <a:br/>
            <a:br/>
            <a:r>
              <a:t>Resource alignment:</a:t>
            </a:r>
            <a:br/>
            <a:r>
              <a:t>Use with Unit 3 Student Handout 1: Pilot Test Plan, Parts A–D. Also use Unit 3 Appendix C: Safety Check Before Testing if any student is preparing to test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this to journal entries. Students should record observations first, then possible explanations. This will improve troubleshooting and scientific writing later.</a:t>
            </a:r>
            <a:br/>
            <a:br/>
            <a:r>
              <a:t>Resource alignment:</a:t>
            </a:r>
            <a:br/>
            <a:r>
              <a:t>Use with Unit 3 Student Handout 3: Daily Research Journal Entry Template and Unit 3 Appendix B: Research Journal Standards. This also prepares students for Deck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the Method Revision Decision Chart. Require a decision before students continue. This prevents “accidental” full-scale testing with an unapproved or unstable method.</a:t>
            </a:r>
            <a:br/>
            <a:br/>
            <a:r>
              <a:t>Resource alignment:</a:t>
            </a:r>
            <a:br/>
            <a:r>
              <a:t>Use with Unit 3 Student Handout 5: Method Revision Decision Chart after students complete Unit 3 Student Handout 1: Pilot Test Plan and/or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write one potential revision sentence for their own project, even if they have not tested yet. This prepares them to document changes accurately.</a:t>
            </a:r>
            <a:br/>
            <a:br/>
            <a:r>
              <a:t>Resource alignment:</a:t>
            </a:r>
            <a:br/>
            <a:r>
              <a:t>Use with Unit 3 Student Handout 5: Method Revision Decision Chart and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who are emotionally frustrated by failure need language. Use these frames during teacher conferences and require them in troubleshooting logs.</a:t>
            </a:r>
            <a:br/>
            <a:br/>
            <a:r>
              <a:t>Resource alignment:</a:t>
            </a:r>
            <a:br/>
            <a:r>
              <a:t>Use with Unit 3 Student Handout 4: Pilot Test Reflection and Troubleshooting Log and Unit 3 Appendix E: Troubleshooting Sentence Frames.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Have students answer individually first, then pair up. Expected issues: inconsistent starting conditions, measurement lag, and environmental control problem. Sample revision: “I changed the procedure to record all starting temperatures after a 2-minute equilibration because the pilot showed the thermometer response time affected readings.”</a:t>
            </a:r>
            <a:br/>
            <a:br/>
            <a:r>
              <a:t>Resource alignment:</a:t>
            </a:r>
            <a:br/>
            <a:r>
              <a:t>Use with Unit 3 Student Handout 4: Pilot Test Reflection and Troubleshooting Log and Unit 3 Appendix E: Troubleshooting Sentence Frames.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for teachers as much as students. The Project Approval Tracker is the official record. Students move to systematic data collection only when the tracker records Approved for Systematic Data Collection, not simply because the calendar advances.</a:t>
            </a:r>
            <a:br/>
            <a:br/>
            <a:r>
              <a:t>Resource alignment:</a:t>
            </a:r>
            <a:br/>
            <a:r>
              <a:t>Use with Unit 3 Student Handout 5: Method Revision Decision Chart and Unit 3 Appendix C: Safety Check Before Testing. Record the exact tracker status before students begin systematic data collection.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this exit ticket or have students submit the completed Pilot Test Plan. Use responses to decide who is ready to test and who needs a conference.</a:t>
            </a:r>
            <a:br/>
            <a:br/>
            <a:r>
              <a:t>Resource alignment:</a:t>
            </a:r>
            <a:br/>
            <a:r>
              <a:t>Use with Unit 3 Student Handout 1: Pilot Test Plan. If students have already completed a pilot, connect to Unit 3 Student Handout 4: Pilot Test Reflection and Troubleshooting Log. Next deck connection: Deck 7: Research Journals and Scientific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by naming the next classroom move: students will either run a pilot test, revise the plan, or meet with the teacher for approval.</a:t>
            </a:r>
            <a:br/>
            <a:br/>
            <a:r>
              <a:t>Resource alignment:</a:t>
            </a:r>
            <a:br/>
            <a:r>
              <a:t>Use after students submit the Pilot Test Plan or exit ticket. Next deck connection: Deck 7: Research Journals and Scientific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d040bd04fe416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7d82de549f34e82" /></Relationships>
</file>

<file path=ppt/slideLayouts/slideLayout1.xml><?xml version="1.0" encoding="utf-8"?>
<p:sldLayout xmlns:p="http://schemas.openxmlformats.org/presentationml/2006/main" matchingName="BLANK" type="blank">
  <p:cSld name="BLANK">
    <p:bg>
      <p:bgPr>
        <a:solidFill xmlns:a="http://schemas.openxmlformats.org/drawingml/2006/main">
          <a:srgbClr val="050505"/>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c0ce74e63440c1" /><Relationship Type="http://schemas.openxmlformats.org/officeDocument/2006/relationships/slideLayout" Target="/ppt/slideLayouts/slideLayout1.xml" Id="Rb74785ccd7cd4dc2" /><Relationship Type="http://schemas.openxmlformats.org/officeDocument/2006/relationships/slideLayout" Target="/ppt/slideLayouts/slideLayout2.xml" Id="Rbd18612453264f89"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b74785ccd7cd4dc2"/>
    <p:sldLayoutId xmlns:r="http://schemas.openxmlformats.org/officeDocument/2006/relationships" id="2147483650" r:id="Rbd18612453264f89"/>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4d3620118f42f8" /><Relationship Type="http://schemas.openxmlformats.org/officeDocument/2006/relationships/image" Target="/ppt/media/image.png" Id="R7085bfaa25e54b25" /><Relationship Type="http://schemas.openxmlformats.org/officeDocument/2006/relationships/notesSlide" Target="/ppt/notesSlides/notesSlide1.xml" Id="R997fd53964e843b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06ed20a7c9142aa" /><Relationship Type="http://schemas.openxmlformats.org/officeDocument/2006/relationships/notesSlide" Target="/ppt/notesSlides/notesSlide2.xml" Id="R62bcaaea9f2745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78f437536a4d1f" /><Relationship Type="http://schemas.openxmlformats.org/officeDocument/2006/relationships/notesSlide" Target="/ppt/notesSlides/notesSlide3.xml" Id="R5a0ba2aa134746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6caae8693484bab" /><Relationship Type="http://schemas.openxmlformats.org/officeDocument/2006/relationships/notesSlide" Target="/ppt/notesSlides/notesSlide4.xml" Id="Red9818c28f9242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7619dbe5aca4e74" /><Relationship Type="http://schemas.openxmlformats.org/officeDocument/2006/relationships/notesSlide" Target="/ppt/notesSlides/notesSlide5.xml" Id="R01632cc2ea9a46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8a64e9472b34673" /><Relationship Type="http://schemas.openxmlformats.org/officeDocument/2006/relationships/notesSlide" Target="/ppt/notesSlides/notesSlide6.xml" Id="R9b86e9d8c38b48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2056ae9ddc140ac" /><Relationship Type="http://schemas.openxmlformats.org/officeDocument/2006/relationships/notesSlide" Target="/ppt/notesSlides/notesSlide7.xml" Id="R40f8d295adfe4f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df29dbb15384dc6" /><Relationship Type="http://schemas.openxmlformats.org/officeDocument/2006/relationships/notesSlide" Target="/ppt/notesSlides/notesSlide8.xml" Id="R618f38fff15742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08393a25e9425a" /><Relationship Type="http://schemas.openxmlformats.org/officeDocument/2006/relationships/notesSlide" Target="/ppt/notesSlides/notesSlide9.xml" Id="Rf7a8f447bbb9421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711b7cceb97438f" /><Relationship Type="http://schemas.openxmlformats.org/officeDocument/2006/relationships/notesSlide" Target="/ppt/notesSlides/notesSlide10.xml" Id="Rd705439f76fa481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aa69f1aae2a4055" /><Relationship Type="http://schemas.openxmlformats.org/officeDocument/2006/relationships/notesSlide" Target="/ppt/notesSlides/notesSlide11.xml" Id="R08b3fc8fc6d9444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8e087c9b424c5f" /><Relationship Type="http://schemas.openxmlformats.org/officeDocument/2006/relationships/notesSlide" Target="/ppt/notesSlides/notesSlide12.xml" Id="Rd32030c1be63415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5a06416c748421a" /><Relationship Type="http://schemas.openxmlformats.org/officeDocument/2006/relationships/notesSlide" Target="/ppt/notesSlides/notesSlide13.xml" Id="R76c2970e5daf433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ad4959241ec42dc" /><Relationship Type="http://schemas.openxmlformats.org/officeDocument/2006/relationships/notesSlide" Target="/ppt/notesSlides/notesSlide14.xml" Id="Rf41266e17efe43a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190a1e3eaf34165" /><Relationship Type="http://schemas.openxmlformats.org/officeDocument/2006/relationships/notesSlide" Target="/ppt/notesSlides/notesSlide15.xml" Id="Ra6f4a3c2d7724f5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855e2eb00cf4a68" /><Relationship Type="http://schemas.openxmlformats.org/officeDocument/2006/relationships/notesSlide" Target="/ppt/notesSlides/notesSlide16.xml" Id="Rcaa7c71555f34b0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25665f7c3bb4d70" /><Relationship Type="http://schemas.openxmlformats.org/officeDocument/2006/relationships/notesSlide" Target="/ppt/notesSlides/notesSlide17.xml" Id="Raaaadff3dc394d5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123cbd8828d4d78" /><Relationship Type="http://schemas.openxmlformats.org/officeDocument/2006/relationships/notesSlide" Target="/ppt/notesSlides/notesSlide18.xml" Id="R754cd7aaec4a474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03fe6abd761428b" /><Relationship Type="http://schemas.openxmlformats.org/officeDocument/2006/relationships/notesSlide" Target="/ppt/notesSlides/notesSlide19.xml" Id="R01de1626bf3d467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B2756717-CFAD-427E-8684-BBB945B5139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4">
            <a:extLst xmlns:a="http://schemas.openxmlformats.org/drawingml/2006/main">
              <a:ext uri="{FF2B5EF4-FFF2-40B4-BE49-F238E27FC236}">
                <a16:creationId xmlns:a16="http://schemas.microsoft.com/office/drawing/2014/main" id="{B3C3000D-CF19-480C-A070-375C241531FC}"/>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 name="Google Shape;19;p4">
            <a:extLst xmlns:a="http://schemas.openxmlformats.org/drawingml/2006/main">
              <a:ext uri="{FF2B5EF4-FFF2-40B4-BE49-F238E27FC236}">
                <a16:creationId xmlns:a16="http://schemas.microsoft.com/office/drawing/2014/main" id="{DA0A45A3-1372-48F2-ADA5-A7B64F57D8C6}"/>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9" name="Google Shape;20;p4"/>
          <p:cNvPicPr>
            <a:picLocks xmlns:a="http://schemas.openxmlformats.org/drawingml/2006/main" noChangeAspect="1"/>
          </p:cNvPicPr>
          <p:nvPr/>
        </p:nvPicPr>
        <p:blipFill rotWithShape="1">
          <a:blip xmlns:r="http://schemas.openxmlformats.org/officeDocument/2006/relationships" xmlns:a="http://schemas.openxmlformats.org/drawingml/2006/main" r:embed="R7085bfaa25e54b25">
            <a:alphaModFix/>
          </a:blip>
          <a:srcRect xmlns:a="http://schemas.openxmlformats.org/drawingml/2006/main" l="0" t="0" r="0" b="0"/>
          <a:stretch xmlns:a="http://schemas.openxmlformats.org/drawingml/2006/main"/>
        </p:blipFill>
        <p:spPr>
          <a:xfrm xmlns:a="http://schemas.openxmlformats.org/drawingml/2006/main">
            <a:off x="1600200" y="502920"/>
            <a:ext cx="9098280" cy="3611880"/>
          </a:xfrm>
          <a:prstGeom xmlns:a="http://schemas.openxmlformats.org/drawingml/2006/main" prst="rect">
            <a:avLst/>
          </a:prstGeom>
          <a:ln xmlns:a="http://schemas.openxmlformats.org/drawingml/2006/main">
            <a:noFill/>
          </a:ln>
        </p:spPr>
      </p:pic>
      <p:sp>
        <p:nvSpPr>
          <p:cNvPr id="21" name="Google Shape;21;p4">
            <a:extLst xmlns:a="http://schemas.openxmlformats.org/drawingml/2006/main">
              <a:ext uri="{FF2B5EF4-FFF2-40B4-BE49-F238E27FC236}">
                <a16:creationId xmlns:a16="http://schemas.microsoft.com/office/drawing/2014/main" id="{20C469C1-E026-43AC-87C1-27C9BC422269}"/>
              </a:ext>
            </a:extLst>
          </p:cNvPr>
          <p:cNvSpPr>
            <a:spLocks xmlns:a="http://schemas.openxmlformats.org/drawingml/2006/main" noGrp="1"/>
          </p:cNvSpPr>
          <p:nvPr/>
        </p:nvSpPr>
        <p:spPr>
          <a:xfrm xmlns:a="http://schemas.openxmlformats.org/drawingml/2006/main">
            <a:off x="822960" y="4617720"/>
            <a:ext cx="10607040" cy="868680"/>
          </a:xfrm>
          <a:prstGeom xmlns:a="http://schemas.openxmlformats.org/drawingml/2006/main" prst="rect">
            <a:avLst/>
          </a:prstGeom>
          <a:solidFill xmlns:a="http://schemas.openxmlformats.org/drawingml/2006/main">
            <a:srgbClr val="050505"/>
          </a:solidFill>
          <a:ln xmlns:a="http://schemas.openxmlformats.org/drawingml/2006/main" w="10150" cmpd="sng">
            <a:solidFill>
              <a:srgbClr val="B5B5B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 name="Google Shape;22;p4">
            <a:extLst xmlns:a="http://schemas.openxmlformats.org/drawingml/2006/main">
              <a:ext uri="{FF2B5EF4-FFF2-40B4-BE49-F238E27FC236}">
                <a16:creationId xmlns:a16="http://schemas.microsoft.com/office/drawing/2014/main" id="{3C40324E-4B87-404F-8983-3ECB960C16F8}"/>
              </a:ext>
            </a:extLst>
          </p:cNvPr>
          <p:cNvSpPr>
            <a:spLocks xmlns:a="http://schemas.openxmlformats.org/drawingml/2006/main" noGrp="1"/>
          </p:cNvSpPr>
          <p:nvPr/>
        </p:nvSpPr>
        <p:spPr>
          <a:xfrm xmlns:a="http://schemas.openxmlformats.org/drawingml/2006/main">
            <a:off x="896112" y="4681728"/>
            <a:ext cx="987552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PILOT TESTING</a:t>
            </a:r>
          </a:p>
        </p:txBody>
      </p:sp>
      <p:sp>
        <p:nvSpPr>
          <p:cNvPr id="23" name="Google Shape;23;p4">
            <a:extLst xmlns:a="http://schemas.openxmlformats.org/drawingml/2006/main">
              <a:ext uri="{FF2B5EF4-FFF2-40B4-BE49-F238E27FC236}">
                <a16:creationId xmlns:a16="http://schemas.microsoft.com/office/drawing/2014/main" id="{6DC371EA-FB1C-4D67-902E-DF5DA165EFFD}"/>
              </a:ext>
            </a:extLst>
          </p:cNvPr>
          <p:cNvSpPr>
            <a:spLocks xmlns:a="http://schemas.openxmlformats.org/drawingml/2006/main" noGrp="1"/>
          </p:cNvSpPr>
          <p:nvPr/>
        </p:nvSpPr>
        <p:spPr>
          <a:xfrm xmlns:a="http://schemas.openxmlformats.org/drawingml/2006/main">
            <a:off x="896112" y="5074920"/>
            <a:ext cx="987552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400"/>
              <a:buFont typeface="Arial"/>
              <a:buNone/>
            </a:pPr>
            <a:r>
              <a:rPr sz="1400" b="1" i="0" u="none" cap="none">
                <a:solidFill>
                  <a:srgbClr val="B5B5B5"/>
                </a:solidFill>
                <a:latin typeface="Arial"/>
                <a:ea typeface="Arial"/>
                <a:cs typeface="Arial"/>
              </a:rPr>
              <a:t>WHY RESEARCHERS TEST SMALL BEFORE GOING BIG</a:t>
            </a:r>
          </a:p>
        </p:txBody>
      </p:sp>
      <p:sp>
        <p:nvSpPr>
          <p:cNvPr id="24" name="Google Shape;24;p4">
            <a:extLst xmlns:a="http://schemas.openxmlformats.org/drawingml/2006/main">
              <a:ext uri="{FF2B5EF4-FFF2-40B4-BE49-F238E27FC236}">
                <a16:creationId xmlns:a16="http://schemas.microsoft.com/office/drawing/2014/main" id="{45D66D09-84A5-4393-8F56-C14AF43D0155}"/>
              </a:ext>
            </a:extLst>
          </p:cNvPr>
          <p:cNvSpPr>
            <a:spLocks xmlns:a="http://schemas.openxmlformats.org/drawingml/2006/main" noGrp="1"/>
          </p:cNvSpPr>
          <p:nvPr/>
        </p:nvSpPr>
        <p:spPr>
          <a:xfrm xmlns:a="http://schemas.openxmlformats.org/drawingml/2006/main">
            <a:off x="896112" y="5513832"/>
            <a:ext cx="9326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250"/>
              <a:buFont typeface="Arial"/>
              <a:buNone/>
            </a:pPr>
            <a:r>
              <a:rPr sz="1250" b="0" i="0" u="none" cap="none">
                <a:solidFill>
                  <a:srgbClr val="B5B5B5"/>
                </a:solidFill>
                <a:latin typeface="Arial"/>
                <a:ea typeface="Arial"/>
                <a:cs typeface="Arial"/>
              </a:rPr>
              <a:t>STARLAB Deck 06  •  Unit 3 Core Instruction  •  Weeks 5–6</a:t>
            </a:r>
          </a:p>
        </p:txBody>
      </p:sp>
    </p:spTree>
    <p:extLst>
      <p:ext uri="{BB962C8B-B14F-4D97-AF65-F5344CB8AC3E}">
        <p14:creationId xmlns:p14="http://schemas.microsoft.com/office/powerpoint/2010/main" val="133776939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0" name="Google Shape;30;p5">
            <a:extLst xmlns:a="http://schemas.openxmlformats.org/drawingml/2006/main">
              <a:ext uri="{FF2B5EF4-FFF2-40B4-BE49-F238E27FC236}">
                <a16:creationId xmlns:a16="http://schemas.microsoft.com/office/drawing/2014/main" id="{A75DE2F9-21E2-485D-85E1-E703B380311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5">
            <a:extLst xmlns:a="http://schemas.openxmlformats.org/drawingml/2006/main">
              <a:ext uri="{FF2B5EF4-FFF2-40B4-BE49-F238E27FC236}">
                <a16:creationId xmlns:a16="http://schemas.microsoft.com/office/drawing/2014/main" id="{7B7673D1-393C-4FC1-932A-CEFBB1CA4A79}"/>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 name="Google Shape;32;p5">
            <a:extLst xmlns:a="http://schemas.openxmlformats.org/drawingml/2006/main">
              <a:ext uri="{FF2B5EF4-FFF2-40B4-BE49-F238E27FC236}">
                <a16:creationId xmlns:a16="http://schemas.microsoft.com/office/drawing/2014/main" id="{301EA999-755F-41E7-A084-06ED9589E535}"/>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 name="Google Shape;33;p5">
            <a:extLst xmlns:a="http://schemas.openxmlformats.org/drawingml/2006/main">
              <a:ext uri="{FF2B5EF4-FFF2-40B4-BE49-F238E27FC236}">
                <a16:creationId xmlns:a16="http://schemas.microsoft.com/office/drawing/2014/main" id="{A16288FE-B68C-4213-979F-537DB52AA289}"/>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Today’s Learning Target</a:t>
            </a:r>
          </a:p>
        </p:txBody>
      </p:sp>
      <p:sp>
        <p:nvSpPr>
          <p:cNvPr id="34" name="Google Shape;34;p5">
            <a:extLst xmlns:a="http://schemas.openxmlformats.org/drawingml/2006/main">
              <a:ext uri="{FF2B5EF4-FFF2-40B4-BE49-F238E27FC236}">
                <a16:creationId xmlns:a16="http://schemas.microsoft.com/office/drawing/2014/main" id="{FBC3EDE6-4DCD-400D-8FB2-42A32DBFA427}"/>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 name="Google Shape;35;p5">
            <a:extLst xmlns:a="http://schemas.openxmlformats.org/drawingml/2006/main">
              <a:ext uri="{FF2B5EF4-FFF2-40B4-BE49-F238E27FC236}">
                <a16:creationId xmlns:a16="http://schemas.microsoft.com/office/drawing/2014/main" id="{B9C942D6-FDBB-4C75-B30B-8129AE0F903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6" name="Google Shape;36;p5">
            <a:extLst xmlns:a="http://schemas.openxmlformats.org/drawingml/2006/main">
              <a:ext uri="{FF2B5EF4-FFF2-40B4-BE49-F238E27FC236}">
                <a16:creationId xmlns:a16="http://schemas.microsoft.com/office/drawing/2014/main" id="{D9046F9B-3C4B-4651-928C-8AF97B114086}"/>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7" name="Google Shape;37;p5">
            <a:extLst xmlns:a="http://schemas.openxmlformats.org/drawingml/2006/main">
              <a:ext uri="{FF2B5EF4-FFF2-40B4-BE49-F238E27FC236}">
                <a16:creationId xmlns:a16="http://schemas.microsoft.com/office/drawing/2014/main" id="{59E6055A-0C25-42E1-BDF3-9B6FDD9D7DC1}"/>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02</a:t>
            </a:r>
          </a:p>
        </p:txBody>
      </p:sp>
      <p:sp>
        <p:nvSpPr>
          <p:cNvPr id="38" name="Google Shape;38;p5">
            <a:extLst xmlns:a="http://schemas.openxmlformats.org/drawingml/2006/main">
              <a:ext uri="{FF2B5EF4-FFF2-40B4-BE49-F238E27FC236}">
                <a16:creationId xmlns:a16="http://schemas.microsoft.com/office/drawing/2014/main" id="{C9A3BD60-3445-400D-A540-8AE4C4DC146A}"/>
              </a:ext>
            </a:extLst>
          </p:cNvPr>
          <p:cNvSpPr>
            <a:spLocks xmlns:a="http://schemas.openxmlformats.org/drawingml/2006/main" noGrp="1"/>
          </p:cNvSpPr>
          <p:nvPr/>
        </p:nvSpPr>
        <p:spPr>
          <a:xfrm xmlns:a="http://schemas.openxmlformats.org/drawingml/2006/main">
            <a:off x="640075" y="1353293"/>
            <a:ext cx="5760600" cy="77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By the end of this lesson, students should understand what a pilot test is and how to plan one.</a:t>
            </a:r>
          </a:p>
        </p:txBody>
      </p:sp>
      <p:sp>
        <p:nvSpPr>
          <p:cNvPr id="39" name="Google Shape;39;p5">
            <a:extLst xmlns:a="http://schemas.openxmlformats.org/drawingml/2006/main">
              <a:ext uri="{FF2B5EF4-FFF2-40B4-BE49-F238E27FC236}">
                <a16:creationId xmlns:a16="http://schemas.microsoft.com/office/drawing/2014/main" id="{F02182F4-F444-4777-A248-E0AFEC99E59A}"/>
              </a:ext>
            </a:extLst>
          </p:cNvPr>
          <p:cNvSpPr>
            <a:spLocks xmlns:a="http://schemas.openxmlformats.org/drawingml/2006/main" noGrp="1"/>
          </p:cNvSpPr>
          <p:nvPr/>
        </p:nvSpPr>
        <p:spPr>
          <a:xfrm xmlns:a="http://schemas.openxmlformats.org/drawingml/2006/main">
            <a:off x="6903725" y="1325877"/>
            <a:ext cx="4251900" cy="7707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 name="Google Shape;40;p5">
            <a:extLst xmlns:a="http://schemas.openxmlformats.org/drawingml/2006/main">
              <a:ext uri="{FF2B5EF4-FFF2-40B4-BE49-F238E27FC236}">
                <a16:creationId xmlns:a16="http://schemas.microsoft.com/office/drawing/2014/main" id="{95FE262F-4790-4700-BFE9-517F20833E9B}"/>
              </a:ext>
            </a:extLst>
          </p:cNvPr>
          <p:cNvSpPr>
            <a:spLocks xmlns:a="http://schemas.openxmlformats.org/drawingml/2006/main" noGrp="1"/>
          </p:cNvSpPr>
          <p:nvPr/>
        </p:nvSpPr>
        <p:spPr>
          <a:xfrm xmlns:a="http://schemas.openxmlformats.org/drawingml/2006/main">
            <a:off x="7150608" y="1517904"/>
            <a:ext cx="374904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900"/>
              <a:buFont typeface="Arial"/>
              <a:buNone/>
            </a:pPr>
            <a:r>
              <a:rPr sz="2900" b="1" i="0" u="none" cap="none">
                <a:solidFill>
                  <a:srgbClr val="FFFFFF"/>
                </a:solidFill>
                <a:latin typeface="Arial"/>
                <a:ea typeface="Arial"/>
                <a:cs typeface="Arial"/>
              </a:rPr>
              <a:t>TEST SMALL</a:t>
            </a:r>
          </a:p>
        </p:txBody>
      </p:sp>
      <p:sp>
        <p:nvSpPr>
          <p:cNvPr id="41" name="Google Shape;41;p5">
            <a:extLst xmlns:a="http://schemas.openxmlformats.org/drawingml/2006/main">
              <a:ext uri="{FF2B5EF4-FFF2-40B4-BE49-F238E27FC236}">
                <a16:creationId xmlns:a16="http://schemas.microsoft.com/office/drawing/2014/main" id="{1684F88E-5EFE-4C37-A273-A73A05B41E26}"/>
              </a:ext>
            </a:extLst>
          </p:cNvPr>
          <p:cNvSpPr>
            <a:spLocks xmlns:a="http://schemas.openxmlformats.org/drawingml/2006/main" noGrp="1"/>
          </p:cNvSpPr>
          <p:nvPr/>
        </p:nvSpPr>
        <p:spPr>
          <a:xfrm xmlns:a="http://schemas.openxmlformats.org/drawingml/2006/main">
            <a:off x="640080" y="2240280"/>
            <a:ext cx="1051560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before committing time, materials, and credibility to full data collection.</a:t>
            </a:r>
          </a:p>
        </p:txBody>
      </p:sp>
      <p:sp>
        <p:nvSpPr>
          <p:cNvPr id="42" name="Google Shape;42;p5">
            <a:extLst xmlns:a="http://schemas.openxmlformats.org/drawingml/2006/main">
              <a:ext uri="{FF2B5EF4-FFF2-40B4-BE49-F238E27FC236}">
                <a16:creationId xmlns:a16="http://schemas.microsoft.com/office/drawing/2014/main" id="{8A6148FA-993B-48EF-87C4-F7E78A761CD3}"/>
              </a:ext>
            </a:extLst>
          </p:cNvPr>
          <p:cNvSpPr>
            <a:spLocks xmlns:a="http://schemas.openxmlformats.org/drawingml/2006/main" noGrp="1"/>
          </p:cNvSpPr>
          <p:nvPr/>
        </p:nvSpPr>
        <p:spPr>
          <a:xfrm xmlns:a="http://schemas.openxmlformats.org/drawingml/2006/main">
            <a:off x="82296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 name="Google Shape;43;p5">
            <a:extLst xmlns:a="http://schemas.openxmlformats.org/drawingml/2006/main">
              <a:ext uri="{FF2B5EF4-FFF2-40B4-BE49-F238E27FC236}">
                <a16:creationId xmlns:a16="http://schemas.microsoft.com/office/drawing/2014/main" id="{8841F4D0-F0AE-4F21-875E-BB4991A8DB32}"/>
              </a:ext>
            </a:extLst>
          </p:cNvPr>
          <p:cNvSpPr>
            <a:spLocks xmlns:a="http://schemas.openxmlformats.org/drawingml/2006/main" noGrp="1"/>
          </p:cNvSpPr>
          <p:nvPr/>
        </p:nvSpPr>
        <p:spPr>
          <a:xfrm xmlns:a="http://schemas.openxmlformats.org/drawingml/2006/main">
            <a:off x="82296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 name="Google Shape;44;p5">
            <a:extLst xmlns:a="http://schemas.openxmlformats.org/drawingml/2006/main">
              <a:ext uri="{FF2B5EF4-FFF2-40B4-BE49-F238E27FC236}">
                <a16:creationId xmlns:a16="http://schemas.microsoft.com/office/drawing/2014/main" id="{8E646343-DB64-4FAD-9A67-56ED43B27668}"/>
              </a:ext>
            </a:extLst>
          </p:cNvPr>
          <p:cNvSpPr>
            <a:spLocks xmlns:a="http://schemas.openxmlformats.org/drawingml/2006/main" noGrp="1"/>
          </p:cNvSpPr>
          <p:nvPr/>
        </p:nvSpPr>
        <p:spPr>
          <a:xfrm xmlns:a="http://schemas.openxmlformats.org/drawingml/2006/main">
            <a:off x="98755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Define</a:t>
            </a:r>
          </a:p>
        </p:txBody>
      </p:sp>
      <p:sp>
        <p:nvSpPr>
          <p:cNvPr id="45" name="Google Shape;45;p5">
            <a:extLst xmlns:a="http://schemas.openxmlformats.org/drawingml/2006/main">
              <a:ext uri="{FF2B5EF4-FFF2-40B4-BE49-F238E27FC236}">
                <a16:creationId xmlns:a16="http://schemas.microsoft.com/office/drawing/2014/main" id="{9BE2866C-E95A-4813-8344-E03A20AD039B}"/>
              </a:ext>
            </a:extLst>
          </p:cNvPr>
          <p:cNvSpPr>
            <a:spLocks xmlns:a="http://schemas.openxmlformats.org/drawingml/2006/main" noGrp="1"/>
          </p:cNvSpPr>
          <p:nvPr/>
        </p:nvSpPr>
        <p:spPr>
          <a:xfrm xmlns:a="http://schemas.openxmlformats.org/drawingml/2006/main">
            <a:off x="98755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define pilot testing</a:t>
            </a:r>
          </a:p>
        </p:txBody>
      </p:sp>
      <p:sp>
        <p:nvSpPr>
          <p:cNvPr id="46" name="Google Shape;46;p5">
            <a:extLst xmlns:a="http://schemas.openxmlformats.org/drawingml/2006/main">
              <a:ext uri="{FF2B5EF4-FFF2-40B4-BE49-F238E27FC236}">
                <a16:creationId xmlns:a16="http://schemas.microsoft.com/office/drawing/2014/main" id="{947B17AF-A9C9-4571-A8B2-60FB3C15DA35}"/>
              </a:ext>
            </a:extLst>
          </p:cNvPr>
          <p:cNvSpPr>
            <a:spLocks xmlns:a="http://schemas.openxmlformats.org/drawingml/2006/main" noGrp="1"/>
          </p:cNvSpPr>
          <p:nvPr/>
        </p:nvSpPr>
        <p:spPr>
          <a:xfrm xmlns:a="http://schemas.openxmlformats.org/drawingml/2006/main">
            <a:off x="347472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 name="Google Shape;47;p5">
            <a:extLst xmlns:a="http://schemas.openxmlformats.org/drawingml/2006/main">
              <a:ext uri="{FF2B5EF4-FFF2-40B4-BE49-F238E27FC236}">
                <a16:creationId xmlns:a16="http://schemas.microsoft.com/office/drawing/2014/main" id="{935278A2-958A-43EF-8E20-2C57B08089DD}"/>
              </a:ext>
            </a:extLst>
          </p:cNvPr>
          <p:cNvSpPr>
            <a:spLocks xmlns:a="http://schemas.openxmlformats.org/drawingml/2006/main" noGrp="1"/>
          </p:cNvSpPr>
          <p:nvPr/>
        </p:nvSpPr>
        <p:spPr>
          <a:xfrm xmlns:a="http://schemas.openxmlformats.org/drawingml/2006/main">
            <a:off x="347472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5">
            <a:extLst xmlns:a="http://schemas.openxmlformats.org/drawingml/2006/main">
              <a:ext uri="{FF2B5EF4-FFF2-40B4-BE49-F238E27FC236}">
                <a16:creationId xmlns:a16="http://schemas.microsoft.com/office/drawing/2014/main" id="{E2DFF285-42C2-4DFF-87A4-A6004B98A2E4}"/>
              </a:ext>
            </a:extLst>
          </p:cNvPr>
          <p:cNvSpPr>
            <a:spLocks xmlns:a="http://schemas.openxmlformats.org/drawingml/2006/main" noGrp="1"/>
          </p:cNvSpPr>
          <p:nvPr/>
        </p:nvSpPr>
        <p:spPr>
          <a:xfrm xmlns:a="http://schemas.openxmlformats.org/drawingml/2006/main">
            <a:off x="363931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Reveal</a:t>
            </a:r>
          </a:p>
        </p:txBody>
      </p:sp>
      <p:sp>
        <p:nvSpPr>
          <p:cNvPr id="49" name="Google Shape;49;p5">
            <a:extLst xmlns:a="http://schemas.openxmlformats.org/drawingml/2006/main">
              <a:ext uri="{FF2B5EF4-FFF2-40B4-BE49-F238E27FC236}">
                <a16:creationId xmlns:a16="http://schemas.microsoft.com/office/drawing/2014/main" id="{9B1D897E-B663-488E-994F-9543057A7742}"/>
              </a:ext>
            </a:extLst>
          </p:cNvPr>
          <p:cNvSpPr>
            <a:spLocks xmlns:a="http://schemas.openxmlformats.org/drawingml/2006/main" noGrp="1"/>
          </p:cNvSpPr>
          <p:nvPr/>
        </p:nvSpPr>
        <p:spPr>
          <a:xfrm xmlns:a="http://schemas.openxmlformats.org/drawingml/2006/main">
            <a:off x="363931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identify what a pilot test can reveal</a:t>
            </a:r>
          </a:p>
        </p:txBody>
      </p:sp>
      <p:sp>
        <p:nvSpPr>
          <p:cNvPr id="50" name="Google Shape;50;p5">
            <a:extLst xmlns:a="http://schemas.openxmlformats.org/drawingml/2006/main">
              <a:ext uri="{FF2B5EF4-FFF2-40B4-BE49-F238E27FC236}">
                <a16:creationId xmlns:a16="http://schemas.microsoft.com/office/drawing/2014/main" id="{DD3494AC-809C-4001-895F-A5115A93997E}"/>
              </a:ext>
            </a:extLst>
          </p:cNvPr>
          <p:cNvSpPr>
            <a:spLocks xmlns:a="http://schemas.openxmlformats.org/drawingml/2006/main" noGrp="1"/>
          </p:cNvSpPr>
          <p:nvPr/>
        </p:nvSpPr>
        <p:spPr>
          <a:xfrm xmlns:a="http://schemas.openxmlformats.org/drawingml/2006/main">
            <a:off x="612648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5">
            <a:extLst xmlns:a="http://schemas.openxmlformats.org/drawingml/2006/main">
              <a:ext uri="{FF2B5EF4-FFF2-40B4-BE49-F238E27FC236}">
                <a16:creationId xmlns:a16="http://schemas.microsoft.com/office/drawing/2014/main" id="{B88DFF60-3A1D-47E5-A7D1-031085CE4D8E}"/>
              </a:ext>
            </a:extLst>
          </p:cNvPr>
          <p:cNvSpPr>
            <a:spLocks xmlns:a="http://schemas.openxmlformats.org/drawingml/2006/main" noGrp="1"/>
          </p:cNvSpPr>
          <p:nvPr/>
        </p:nvSpPr>
        <p:spPr>
          <a:xfrm xmlns:a="http://schemas.openxmlformats.org/drawingml/2006/main">
            <a:off x="612648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2" name="Google Shape;52;p5">
            <a:extLst xmlns:a="http://schemas.openxmlformats.org/drawingml/2006/main">
              <a:ext uri="{FF2B5EF4-FFF2-40B4-BE49-F238E27FC236}">
                <a16:creationId xmlns:a16="http://schemas.microsoft.com/office/drawing/2014/main" id="{6588E95B-CD6D-49BF-B2A9-BC616F5F7813}"/>
              </a:ext>
            </a:extLst>
          </p:cNvPr>
          <p:cNvSpPr>
            <a:spLocks xmlns:a="http://schemas.openxmlformats.org/drawingml/2006/main" noGrp="1"/>
          </p:cNvSpPr>
          <p:nvPr/>
        </p:nvSpPr>
        <p:spPr>
          <a:xfrm xmlns:a="http://schemas.openxmlformats.org/drawingml/2006/main">
            <a:off x="629107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Plan</a:t>
            </a:r>
          </a:p>
        </p:txBody>
      </p:sp>
      <p:sp>
        <p:nvSpPr>
          <p:cNvPr id="53" name="Google Shape;53;p5">
            <a:extLst xmlns:a="http://schemas.openxmlformats.org/drawingml/2006/main">
              <a:ext uri="{FF2B5EF4-FFF2-40B4-BE49-F238E27FC236}">
                <a16:creationId xmlns:a16="http://schemas.microsoft.com/office/drawing/2014/main" id="{B8BD7403-3AAC-4576-B578-37997F15DD95}"/>
              </a:ext>
            </a:extLst>
          </p:cNvPr>
          <p:cNvSpPr>
            <a:spLocks xmlns:a="http://schemas.openxmlformats.org/drawingml/2006/main" noGrp="1"/>
          </p:cNvSpPr>
          <p:nvPr/>
        </p:nvSpPr>
        <p:spPr>
          <a:xfrm xmlns:a="http://schemas.openxmlformats.org/drawingml/2006/main">
            <a:off x="629107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plan a small-scale trial</a:t>
            </a:r>
          </a:p>
        </p:txBody>
      </p:sp>
      <p:sp>
        <p:nvSpPr>
          <p:cNvPr id="54" name="Google Shape;54;p5">
            <a:extLst xmlns:a="http://schemas.openxmlformats.org/drawingml/2006/main">
              <a:ext uri="{FF2B5EF4-FFF2-40B4-BE49-F238E27FC236}">
                <a16:creationId xmlns:a16="http://schemas.microsoft.com/office/drawing/2014/main" id="{37B6655C-E50C-454D-8B70-3704461C7434}"/>
              </a:ext>
            </a:extLst>
          </p:cNvPr>
          <p:cNvSpPr>
            <a:spLocks xmlns:a="http://schemas.openxmlformats.org/drawingml/2006/main" noGrp="1"/>
          </p:cNvSpPr>
          <p:nvPr/>
        </p:nvSpPr>
        <p:spPr>
          <a:xfrm xmlns:a="http://schemas.openxmlformats.org/drawingml/2006/main">
            <a:off x="8778240" y="3017520"/>
            <a:ext cx="2423160" cy="1143000"/>
          </a:xfrm>
          <a:prstGeom xmlns:a="http://schemas.openxmlformats.org/drawingml/2006/main" prst="roundRect">
            <a:avLst>
              <a:gd name="adj" fmla="val 64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5" name="Google Shape;55;p5">
            <a:extLst xmlns:a="http://schemas.openxmlformats.org/drawingml/2006/main">
              <a:ext uri="{FF2B5EF4-FFF2-40B4-BE49-F238E27FC236}">
                <a16:creationId xmlns:a16="http://schemas.microsoft.com/office/drawing/2014/main" id="{859031A9-3F35-49F7-AC89-A53727295FFC}"/>
              </a:ext>
            </a:extLst>
          </p:cNvPr>
          <p:cNvSpPr>
            <a:spLocks xmlns:a="http://schemas.openxmlformats.org/drawingml/2006/main" noGrp="1"/>
          </p:cNvSpPr>
          <p:nvPr/>
        </p:nvSpPr>
        <p:spPr>
          <a:xfrm xmlns:a="http://schemas.openxmlformats.org/drawingml/2006/main">
            <a:off x="8778240" y="3017520"/>
            <a:ext cx="54864" cy="11430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 name="Google Shape;56;p5">
            <a:extLst xmlns:a="http://schemas.openxmlformats.org/drawingml/2006/main">
              <a:ext uri="{FF2B5EF4-FFF2-40B4-BE49-F238E27FC236}">
                <a16:creationId xmlns:a16="http://schemas.microsoft.com/office/drawing/2014/main" id="{21C9F5D4-51C5-41C9-94A9-9731D779485D}"/>
              </a:ext>
            </a:extLst>
          </p:cNvPr>
          <p:cNvSpPr>
            <a:spLocks xmlns:a="http://schemas.openxmlformats.org/drawingml/2006/main" noGrp="1"/>
          </p:cNvSpPr>
          <p:nvPr/>
        </p:nvSpPr>
        <p:spPr>
          <a:xfrm xmlns:a="http://schemas.openxmlformats.org/drawingml/2006/main">
            <a:off x="8942832" y="3163824"/>
            <a:ext cx="21488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Decide</a:t>
            </a:r>
          </a:p>
        </p:txBody>
      </p:sp>
      <p:sp>
        <p:nvSpPr>
          <p:cNvPr id="57" name="Google Shape;57;p5">
            <a:extLst xmlns:a="http://schemas.openxmlformats.org/drawingml/2006/main">
              <a:ext uri="{FF2B5EF4-FFF2-40B4-BE49-F238E27FC236}">
                <a16:creationId xmlns:a16="http://schemas.microsoft.com/office/drawing/2014/main" id="{37811B5E-3171-43A1-9BAA-43BFD19C5C2D}"/>
              </a:ext>
            </a:extLst>
          </p:cNvPr>
          <p:cNvSpPr>
            <a:spLocks xmlns:a="http://schemas.openxmlformats.org/drawingml/2006/main" noGrp="1"/>
          </p:cNvSpPr>
          <p:nvPr/>
        </p:nvSpPr>
        <p:spPr>
          <a:xfrm xmlns:a="http://schemas.openxmlformats.org/drawingml/2006/main">
            <a:off x="8942832" y="3493008"/>
            <a:ext cx="2130552"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decide whether to revise or continue</a:t>
            </a:r>
          </a:p>
        </p:txBody>
      </p:sp>
      <p:sp>
        <p:nvSpPr>
          <p:cNvPr id="58" name="Google Shape;58;p5">
            <a:extLst xmlns:a="http://schemas.openxmlformats.org/drawingml/2006/main">
              <a:ext uri="{FF2B5EF4-FFF2-40B4-BE49-F238E27FC236}">
                <a16:creationId xmlns:a16="http://schemas.microsoft.com/office/drawing/2014/main" id="{F392D586-9361-47A9-936C-2BD4C37CDE91}"/>
              </a:ext>
            </a:extLst>
          </p:cNvPr>
          <p:cNvSpPr>
            <a:spLocks xmlns:a="http://schemas.openxmlformats.org/drawingml/2006/main" noGrp="1"/>
          </p:cNvSpPr>
          <p:nvPr/>
        </p:nvSpPr>
        <p:spPr>
          <a:xfrm xmlns:a="http://schemas.openxmlformats.org/drawingml/2006/main">
            <a:off x="594360" y="4956048"/>
            <a:ext cx="11018520" cy="987552"/>
          </a:xfrm>
          <a:prstGeom xmlns:a="http://schemas.openxmlformats.org/drawingml/2006/main" prst="roundRect">
            <a:avLst>
              <a:gd name="adj" fmla="val 7407"/>
            </a:avLst>
          </a:prstGeom>
          <a:solidFill xmlns:a="http://schemas.openxmlformats.org/drawingml/2006/main">
            <a:srgbClr val="0A0A0A"/>
          </a:solidFill>
          <a:ln xmlns:a="http://schemas.openxmlformats.org/drawingml/2006/main" w="1015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571CB1DD-1BB4-4C38-A477-0A0D1D8A4E3D}"/>
              </a:ext>
            </a:extLst>
          </p:cNvPr>
          <p:cNvSpPr>
            <a:spLocks xmlns:a="http://schemas.openxmlformats.org/drawingml/2006/main" noGrp="1"/>
          </p:cNvSpPr>
          <p:nvPr/>
        </p:nvSpPr>
        <p:spPr>
          <a:xfrm xmlns:a="http://schemas.openxmlformats.org/drawingml/2006/main">
            <a:off x="594360" y="4956048"/>
            <a:ext cx="1600200" cy="987552"/>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75FB4C80-3702-4015-B799-D0067F594792}"/>
              </a:ext>
            </a:extLst>
          </p:cNvPr>
          <p:cNvSpPr>
            <a:spLocks xmlns:a="http://schemas.openxmlformats.org/drawingml/2006/main" noGrp="1"/>
          </p:cNvSpPr>
          <p:nvPr/>
        </p:nvSpPr>
        <p:spPr>
          <a:xfrm xmlns:a="http://schemas.openxmlformats.org/drawingml/2006/main">
            <a:off x="758952" y="5166360"/>
            <a:ext cx="128016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STUDENT</a:t>
            </a:r>
          </a:p>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ACTIVITY</a:t>
            </a:r>
          </a:p>
        </p:txBody>
      </p:sp>
      <p:sp>
        <p:nvSpPr>
          <p:cNvPr id="61" name="Google Shape;61;p5">
            <a:extLst xmlns:a="http://schemas.openxmlformats.org/drawingml/2006/main">
              <a:ext uri="{FF2B5EF4-FFF2-40B4-BE49-F238E27FC236}">
                <a16:creationId xmlns:a16="http://schemas.microsoft.com/office/drawing/2014/main" id="{F318D4B1-3B1F-4437-8180-A75AEDE871E0}"/>
              </a:ext>
            </a:extLst>
          </p:cNvPr>
          <p:cNvSpPr>
            <a:spLocks xmlns:a="http://schemas.openxmlformats.org/drawingml/2006/main" noGrp="1"/>
          </p:cNvSpPr>
          <p:nvPr/>
        </p:nvSpPr>
        <p:spPr>
          <a:xfrm xmlns:a="http://schemas.openxmlformats.org/drawingml/2006/main">
            <a:off x="2395728" y="5074920"/>
            <a:ext cx="3108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Matched activity</a:t>
            </a:r>
          </a:p>
        </p:txBody>
      </p:sp>
      <p:sp>
        <p:nvSpPr>
          <p:cNvPr id="62" name="Google Shape;62;p5">
            <a:extLst xmlns:a="http://schemas.openxmlformats.org/drawingml/2006/main">
              <a:ext uri="{FF2B5EF4-FFF2-40B4-BE49-F238E27FC236}">
                <a16:creationId xmlns:a16="http://schemas.microsoft.com/office/drawing/2014/main" id="{5D1351E0-413D-47E3-8BAD-31A7EB1671DB}"/>
              </a:ext>
            </a:extLst>
          </p:cNvPr>
          <p:cNvSpPr>
            <a:spLocks xmlns:a="http://schemas.openxmlformats.org/drawingml/2006/main" noGrp="1"/>
          </p:cNvSpPr>
          <p:nvPr/>
        </p:nvSpPr>
        <p:spPr>
          <a:xfrm xmlns:a="http://schemas.openxmlformats.org/drawingml/2006/main">
            <a:off x="5486400" y="5056632"/>
            <a:ext cx="5806440" cy="621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250"/>
              <a:buFont typeface="Arial"/>
              <a:buNone/>
            </a:pPr>
            <a:r>
              <a:rPr sz="1250" b="0" i="0" u="none" cap="none">
                <a:solidFill>
                  <a:srgbClr val="B5B5B5"/>
                </a:solidFill>
                <a:latin typeface="Arial"/>
                <a:ea typeface="Arial"/>
                <a:cs typeface="Arial"/>
              </a:rPr>
              <a:t>Students will complete parts of Unit 3 Student Handout 1: Pilot Test Plan as the lesson develops.</a:t>
            </a:r>
          </a:p>
        </p:txBody>
      </p:sp>
    </p:spTree>
    <p:extLst>
      <p:ext uri="{BB962C8B-B14F-4D97-AF65-F5344CB8AC3E}">
        <p14:creationId xmlns:p14="http://schemas.microsoft.com/office/powerpoint/2010/main" val="17655387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68" name="Google Shape;68;p6">
            <a:extLst xmlns:a="http://schemas.openxmlformats.org/drawingml/2006/main">
              <a:ext uri="{FF2B5EF4-FFF2-40B4-BE49-F238E27FC236}">
                <a16:creationId xmlns:a16="http://schemas.microsoft.com/office/drawing/2014/main" id="{F667CE46-32E9-42CB-8C26-90F8A58A6BB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9" name="Google Shape;69;p6">
            <a:extLst xmlns:a="http://schemas.openxmlformats.org/drawingml/2006/main">
              <a:ext uri="{FF2B5EF4-FFF2-40B4-BE49-F238E27FC236}">
                <a16:creationId xmlns:a16="http://schemas.microsoft.com/office/drawing/2014/main" id="{90E15D92-D870-436C-81F1-30BFF0463CB4}"/>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0" name="Google Shape;70;p6">
            <a:extLst xmlns:a="http://schemas.openxmlformats.org/drawingml/2006/main">
              <a:ext uri="{FF2B5EF4-FFF2-40B4-BE49-F238E27FC236}">
                <a16:creationId xmlns:a16="http://schemas.microsoft.com/office/drawing/2014/main" id="{E6385136-51B5-47B3-93FD-DE0B13F134BA}"/>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1" name="Google Shape;71;p6">
            <a:extLst xmlns:a="http://schemas.openxmlformats.org/drawingml/2006/main">
              <a:ext uri="{FF2B5EF4-FFF2-40B4-BE49-F238E27FC236}">
                <a16:creationId xmlns:a16="http://schemas.microsoft.com/office/drawing/2014/main" id="{149A1CAC-DD92-43C4-8611-778476706713}"/>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Research Does Not Begin at Full Scale</a:t>
            </a:r>
          </a:p>
        </p:txBody>
      </p:sp>
      <p:sp>
        <p:nvSpPr>
          <p:cNvPr id="72" name="Google Shape;72;p6">
            <a:extLst xmlns:a="http://schemas.openxmlformats.org/drawingml/2006/main">
              <a:ext uri="{FF2B5EF4-FFF2-40B4-BE49-F238E27FC236}">
                <a16:creationId xmlns:a16="http://schemas.microsoft.com/office/drawing/2014/main" id="{4E2A23E2-097D-4D4E-B26F-7B79C59C7F72}"/>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61507CEB-7492-4765-A2CE-EE19DD25E424}"/>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74" name="Google Shape;74;p6">
            <a:extLst xmlns:a="http://schemas.openxmlformats.org/drawingml/2006/main">
              <a:ext uri="{FF2B5EF4-FFF2-40B4-BE49-F238E27FC236}">
                <a16:creationId xmlns:a16="http://schemas.microsoft.com/office/drawing/2014/main" id="{DA0616B7-1827-4984-879C-1321CDB04D7B}"/>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75" name="Google Shape;75;p6">
            <a:extLst xmlns:a="http://schemas.openxmlformats.org/drawingml/2006/main">
              <a:ext uri="{FF2B5EF4-FFF2-40B4-BE49-F238E27FC236}">
                <a16:creationId xmlns:a16="http://schemas.microsoft.com/office/drawing/2014/main" id="{EF960E77-2D46-401F-ABE0-75D25BA7AC71}"/>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03</a:t>
            </a:r>
          </a:p>
        </p:txBody>
      </p:sp>
      <p:sp>
        <p:nvSpPr>
          <p:cNvPr id="76" name="Google Shape;76;p6">
            <a:extLst xmlns:a="http://schemas.openxmlformats.org/drawingml/2006/main">
              <a:ext uri="{FF2B5EF4-FFF2-40B4-BE49-F238E27FC236}">
                <a16:creationId xmlns:a16="http://schemas.microsoft.com/office/drawing/2014/main" id="{94764126-C0B5-4325-9176-90E1EFE0F628}"/>
              </a:ext>
            </a:extLst>
          </p:cNvPr>
          <p:cNvSpPr>
            <a:spLocks xmlns:a="http://schemas.openxmlformats.org/drawingml/2006/main" noGrp="1"/>
          </p:cNvSpPr>
          <p:nvPr/>
        </p:nvSpPr>
        <p:spPr>
          <a:xfrm xmlns:a="http://schemas.openxmlformats.org/drawingml/2006/main">
            <a:off x="685800" y="1344168"/>
            <a:ext cx="98755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The first version of a method is rarely the final version.</a:t>
            </a:r>
          </a:p>
        </p:txBody>
      </p:sp>
      <p:sp>
        <p:nvSpPr>
          <p:cNvPr id="77" name="Google Shape;77;p6">
            <a:extLst xmlns:a="http://schemas.openxmlformats.org/drawingml/2006/main">
              <a:ext uri="{FF2B5EF4-FFF2-40B4-BE49-F238E27FC236}">
                <a16:creationId xmlns:a16="http://schemas.microsoft.com/office/drawing/2014/main" id="{10A9C202-B9E9-4986-BA39-8AF8BC37EC7A}"/>
              </a:ext>
            </a:extLst>
          </p:cNvPr>
          <p:cNvSpPr>
            <a:spLocks xmlns:a="http://schemas.openxmlformats.org/drawingml/2006/main" noGrp="1"/>
          </p:cNvSpPr>
          <p:nvPr/>
        </p:nvSpPr>
        <p:spPr>
          <a:xfrm xmlns:a="http://schemas.openxmlformats.org/drawingml/2006/main">
            <a:off x="914400" y="1993392"/>
            <a:ext cx="4663440" cy="1554480"/>
          </a:xfrm>
          <a:prstGeom xmlns:a="http://schemas.openxmlformats.org/drawingml/2006/main" prst="roundRect">
            <a:avLst>
              <a:gd name="adj" fmla="val 470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832243B3-CC14-49EC-8D3E-19C8281323EB}"/>
              </a:ext>
            </a:extLst>
          </p:cNvPr>
          <p:cNvSpPr>
            <a:spLocks xmlns:a="http://schemas.openxmlformats.org/drawingml/2006/main" noGrp="1"/>
          </p:cNvSpPr>
          <p:nvPr/>
        </p:nvSpPr>
        <p:spPr>
          <a:xfrm xmlns:a="http://schemas.openxmlformats.org/drawingml/2006/main">
            <a:off x="914400" y="1993392"/>
            <a:ext cx="54864" cy="1554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9" name="Google Shape;79;p6">
            <a:extLst xmlns:a="http://schemas.openxmlformats.org/drawingml/2006/main">
              <a:ext uri="{FF2B5EF4-FFF2-40B4-BE49-F238E27FC236}">
                <a16:creationId xmlns:a16="http://schemas.microsoft.com/office/drawing/2014/main" id="{9D80E5E4-4F33-43DE-B624-CD949EF4806B}"/>
              </a:ext>
            </a:extLst>
          </p:cNvPr>
          <p:cNvSpPr>
            <a:spLocks xmlns:a="http://schemas.openxmlformats.org/drawingml/2006/main" noGrp="1"/>
          </p:cNvSpPr>
          <p:nvPr/>
        </p:nvSpPr>
        <p:spPr>
          <a:xfrm xmlns:a="http://schemas.openxmlformats.org/drawingml/2006/main">
            <a:off x="1078992" y="2139696"/>
            <a:ext cx="43891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A full experiment or build asks:</a:t>
            </a:r>
          </a:p>
        </p:txBody>
      </p:sp>
      <p:sp>
        <p:nvSpPr>
          <p:cNvPr id="80" name="Google Shape;80;p6">
            <a:extLst xmlns:a="http://schemas.openxmlformats.org/drawingml/2006/main">
              <a:ext uri="{FF2B5EF4-FFF2-40B4-BE49-F238E27FC236}">
                <a16:creationId xmlns:a16="http://schemas.microsoft.com/office/drawing/2014/main" id="{5B99C984-9B04-4703-AEB6-4947B6FC4498}"/>
              </a:ext>
            </a:extLst>
          </p:cNvPr>
          <p:cNvSpPr>
            <a:spLocks xmlns:a="http://schemas.openxmlformats.org/drawingml/2006/main" noGrp="1"/>
          </p:cNvSpPr>
          <p:nvPr/>
        </p:nvSpPr>
        <p:spPr>
          <a:xfrm xmlns:a="http://schemas.openxmlformats.org/drawingml/2006/main">
            <a:off x="1078992" y="2468880"/>
            <a:ext cx="4370832" cy="987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“What does the evidence show?”</a:t>
            </a:r>
          </a:p>
        </p:txBody>
      </p:sp>
      <p:sp>
        <p:nvSpPr>
          <p:cNvPr id="81" name="Google Shape;81;p6">
            <a:extLst xmlns:a="http://schemas.openxmlformats.org/drawingml/2006/main">
              <a:ext uri="{FF2B5EF4-FFF2-40B4-BE49-F238E27FC236}">
                <a16:creationId xmlns:a16="http://schemas.microsoft.com/office/drawing/2014/main" id="{4929F3C1-12CF-4083-90E9-3496F2E15775}"/>
              </a:ext>
            </a:extLst>
          </p:cNvPr>
          <p:cNvSpPr>
            <a:spLocks xmlns:a="http://schemas.openxmlformats.org/drawingml/2006/main" noGrp="1"/>
          </p:cNvSpPr>
          <p:nvPr/>
        </p:nvSpPr>
        <p:spPr>
          <a:xfrm xmlns:a="http://schemas.openxmlformats.org/drawingml/2006/main">
            <a:off x="6537960" y="1993392"/>
            <a:ext cx="4663440" cy="1554480"/>
          </a:xfrm>
          <a:prstGeom xmlns:a="http://schemas.openxmlformats.org/drawingml/2006/main" prst="roundRect">
            <a:avLst>
              <a:gd name="adj" fmla="val 470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C8F71939-BC20-4076-A6ED-490ABDD10272}"/>
              </a:ext>
            </a:extLst>
          </p:cNvPr>
          <p:cNvSpPr>
            <a:spLocks xmlns:a="http://schemas.openxmlformats.org/drawingml/2006/main" noGrp="1"/>
          </p:cNvSpPr>
          <p:nvPr/>
        </p:nvSpPr>
        <p:spPr>
          <a:xfrm xmlns:a="http://schemas.openxmlformats.org/drawingml/2006/main">
            <a:off x="6537960" y="1993392"/>
            <a:ext cx="54864" cy="1554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3" name="Google Shape;83;p6">
            <a:extLst xmlns:a="http://schemas.openxmlformats.org/drawingml/2006/main">
              <a:ext uri="{FF2B5EF4-FFF2-40B4-BE49-F238E27FC236}">
                <a16:creationId xmlns:a16="http://schemas.microsoft.com/office/drawing/2014/main" id="{88BC597A-58A7-4EB0-8B22-6376DFEC7053}"/>
              </a:ext>
            </a:extLst>
          </p:cNvPr>
          <p:cNvSpPr>
            <a:spLocks xmlns:a="http://schemas.openxmlformats.org/drawingml/2006/main" noGrp="1"/>
          </p:cNvSpPr>
          <p:nvPr/>
        </p:nvSpPr>
        <p:spPr>
          <a:xfrm xmlns:a="http://schemas.openxmlformats.org/drawingml/2006/main">
            <a:off x="6702552" y="2139696"/>
            <a:ext cx="43891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A pilot test asks:</a:t>
            </a:r>
          </a:p>
        </p:txBody>
      </p:sp>
      <p:sp>
        <p:nvSpPr>
          <p:cNvPr id="84" name="Google Shape;84;p6">
            <a:extLst xmlns:a="http://schemas.openxmlformats.org/drawingml/2006/main">
              <a:ext uri="{FF2B5EF4-FFF2-40B4-BE49-F238E27FC236}">
                <a16:creationId xmlns:a16="http://schemas.microsoft.com/office/drawing/2014/main" id="{8AA699B4-6B83-4A18-9183-359111264C38}"/>
              </a:ext>
            </a:extLst>
          </p:cNvPr>
          <p:cNvSpPr>
            <a:spLocks xmlns:a="http://schemas.openxmlformats.org/drawingml/2006/main" noGrp="1"/>
          </p:cNvSpPr>
          <p:nvPr/>
        </p:nvSpPr>
        <p:spPr>
          <a:xfrm xmlns:a="http://schemas.openxmlformats.org/drawingml/2006/main">
            <a:off x="6702552" y="2468880"/>
            <a:ext cx="4370832" cy="987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“Does my method even work?”</a:t>
            </a:r>
          </a:p>
        </p:txBody>
      </p:sp>
      <p:sp>
        <p:nvSpPr>
          <p:cNvPr id="85" name="Google Shape;85;p6">
            <a:extLst xmlns:a="http://schemas.openxmlformats.org/drawingml/2006/main">
              <a:ext uri="{FF2B5EF4-FFF2-40B4-BE49-F238E27FC236}">
                <a16:creationId xmlns:a16="http://schemas.microsoft.com/office/drawing/2014/main" id="{E114551C-CBDD-425F-99E4-C29ABAB36186}"/>
              </a:ext>
            </a:extLst>
          </p:cNvPr>
          <p:cNvSpPr>
            <a:spLocks xmlns:a="http://schemas.openxmlformats.org/drawingml/2006/main" noGrp="1"/>
          </p:cNvSpPr>
          <p:nvPr/>
        </p:nvSpPr>
        <p:spPr>
          <a:xfrm xmlns:a="http://schemas.openxmlformats.org/drawingml/2006/main">
            <a:off x="960120" y="4206240"/>
            <a:ext cx="10058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500"/>
              <a:buFont typeface="Arial"/>
              <a:buNone/>
            </a:pPr>
            <a:r>
              <a:rPr sz="2500" b="1" i="0" u="none" cap="none">
                <a:solidFill>
                  <a:srgbClr val="FFFFFF"/>
                </a:solidFill>
                <a:latin typeface="Arial"/>
                <a:ea typeface="Arial"/>
                <a:cs typeface="Arial"/>
              </a:rPr>
              <a:t>Catch problems early, while they are still cheap, safe, and fixable.</a:t>
            </a:r>
          </a:p>
        </p:txBody>
      </p:sp>
    </p:spTree>
    <p:extLst>
      <p:ext uri="{BB962C8B-B14F-4D97-AF65-F5344CB8AC3E}">
        <p14:creationId xmlns:p14="http://schemas.microsoft.com/office/powerpoint/2010/main" val="23823342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91" name="Google Shape;91;p7">
            <a:extLst xmlns:a="http://schemas.openxmlformats.org/drawingml/2006/main">
              <a:ext uri="{FF2B5EF4-FFF2-40B4-BE49-F238E27FC236}">
                <a16:creationId xmlns:a16="http://schemas.microsoft.com/office/drawing/2014/main" id="{F67A4806-3232-4C51-8BD4-928D52BA624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2" name="Google Shape;92;p7">
            <a:extLst xmlns:a="http://schemas.openxmlformats.org/drawingml/2006/main">
              <a:ext uri="{FF2B5EF4-FFF2-40B4-BE49-F238E27FC236}">
                <a16:creationId xmlns:a16="http://schemas.microsoft.com/office/drawing/2014/main" id="{0BC365EB-FE05-4B59-AA45-CBF803AD9B11}"/>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3" name="Google Shape;93;p7">
            <a:extLst xmlns:a="http://schemas.openxmlformats.org/drawingml/2006/main">
              <a:ext uri="{FF2B5EF4-FFF2-40B4-BE49-F238E27FC236}">
                <a16:creationId xmlns:a16="http://schemas.microsoft.com/office/drawing/2014/main" id="{676FB0B4-214F-4F62-93CE-439F0097E879}"/>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4" name="Google Shape;94;p7">
            <a:extLst xmlns:a="http://schemas.openxmlformats.org/drawingml/2006/main">
              <a:ext uri="{FF2B5EF4-FFF2-40B4-BE49-F238E27FC236}">
                <a16:creationId xmlns:a16="http://schemas.microsoft.com/office/drawing/2014/main" id="{D8E7020A-4B3C-42ED-BF74-FA06D71BDC73}"/>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Pilot Testing: A Working Definition</a:t>
            </a:r>
          </a:p>
        </p:txBody>
      </p:sp>
      <p:sp>
        <p:nvSpPr>
          <p:cNvPr id="95" name="Google Shape;95;p7">
            <a:extLst xmlns:a="http://schemas.openxmlformats.org/drawingml/2006/main">
              <a:ext uri="{FF2B5EF4-FFF2-40B4-BE49-F238E27FC236}">
                <a16:creationId xmlns:a16="http://schemas.microsoft.com/office/drawing/2014/main" id="{3268C247-8BA7-4361-ACF5-14916E14C7BA}"/>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6" name="Google Shape;96;p7">
            <a:extLst xmlns:a="http://schemas.openxmlformats.org/drawingml/2006/main">
              <a:ext uri="{FF2B5EF4-FFF2-40B4-BE49-F238E27FC236}">
                <a16:creationId xmlns:a16="http://schemas.microsoft.com/office/drawing/2014/main" id="{D6A1AC3D-C459-47CE-928F-B5656FE93C33}"/>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97" name="Google Shape;97;p7">
            <a:extLst xmlns:a="http://schemas.openxmlformats.org/drawingml/2006/main">
              <a:ext uri="{FF2B5EF4-FFF2-40B4-BE49-F238E27FC236}">
                <a16:creationId xmlns:a16="http://schemas.microsoft.com/office/drawing/2014/main" id="{049F1F5F-B6D1-4A0C-8A26-932BA3B49755}"/>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98" name="Google Shape;98;p7">
            <a:extLst xmlns:a="http://schemas.openxmlformats.org/drawingml/2006/main">
              <a:ext uri="{FF2B5EF4-FFF2-40B4-BE49-F238E27FC236}">
                <a16:creationId xmlns:a16="http://schemas.microsoft.com/office/drawing/2014/main" id="{FDB1D03C-F44E-4348-A065-FD58F3EEBC8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04</a:t>
            </a:r>
          </a:p>
        </p:txBody>
      </p:sp>
      <p:sp>
        <p:nvSpPr>
          <p:cNvPr id="99" name="Google Shape;99;p7">
            <a:extLst xmlns:a="http://schemas.openxmlformats.org/drawingml/2006/main">
              <a:ext uri="{FF2B5EF4-FFF2-40B4-BE49-F238E27FC236}">
                <a16:creationId xmlns:a16="http://schemas.microsoft.com/office/drawing/2014/main" id="{E08C9FE8-7FF4-4D40-BF37-C07E33430183}"/>
              </a:ext>
            </a:extLst>
          </p:cNvPr>
          <p:cNvSpPr>
            <a:spLocks xmlns:a="http://schemas.openxmlformats.org/drawingml/2006/main" noGrp="1"/>
          </p:cNvSpPr>
          <p:nvPr/>
        </p:nvSpPr>
        <p:spPr>
          <a:xfrm xmlns:a="http://schemas.openxmlformats.org/drawingml/2006/main">
            <a:off x="731520" y="1417320"/>
            <a:ext cx="10607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A pilot test is a small-scale trial run that tests the method, not the final claim.</a:t>
            </a:r>
          </a:p>
        </p:txBody>
      </p:sp>
      <p:sp>
        <p:nvSpPr>
          <p:cNvPr id="100" name="Google Shape;100;p7">
            <a:extLst xmlns:a="http://schemas.openxmlformats.org/drawingml/2006/main">
              <a:ext uri="{FF2B5EF4-FFF2-40B4-BE49-F238E27FC236}">
                <a16:creationId xmlns:a16="http://schemas.microsoft.com/office/drawing/2014/main" id="{0B643D51-7146-4549-BA18-CAE3D7EE2FE8}"/>
              </a:ext>
            </a:extLst>
          </p:cNvPr>
          <p:cNvSpPr>
            <a:spLocks xmlns:a="http://schemas.openxmlformats.org/drawingml/2006/main" noGrp="1"/>
          </p:cNvSpPr>
          <p:nvPr/>
        </p:nvSpPr>
        <p:spPr>
          <a:xfrm xmlns:a="http://schemas.openxmlformats.org/drawingml/2006/main">
            <a:off x="1005840" y="2377440"/>
            <a:ext cx="10149840" cy="1554480"/>
          </a:xfrm>
          <a:prstGeom xmlns:a="http://schemas.openxmlformats.org/drawingml/2006/main" prst="roundRect">
            <a:avLst>
              <a:gd name="adj" fmla="val 4706"/>
            </a:avLst>
          </a:prstGeom>
          <a:solidFill xmlns:a="http://schemas.openxmlformats.org/drawingml/2006/main">
            <a:srgbClr val="0A0A0A"/>
          </a:solidFill>
          <a:ln xmlns:a="http://schemas.openxmlformats.org/drawingml/2006/main" w="1015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1" name="Google Shape;101;p7">
            <a:extLst xmlns:a="http://schemas.openxmlformats.org/drawingml/2006/main">
              <a:ext uri="{FF2B5EF4-FFF2-40B4-BE49-F238E27FC236}">
                <a16:creationId xmlns:a16="http://schemas.microsoft.com/office/drawing/2014/main" id="{0D3440A0-77C9-490E-963D-C574FC8BBBD0}"/>
              </a:ext>
            </a:extLst>
          </p:cNvPr>
          <p:cNvSpPr>
            <a:spLocks xmlns:a="http://schemas.openxmlformats.org/drawingml/2006/main" noGrp="1"/>
          </p:cNvSpPr>
          <p:nvPr/>
        </p:nvSpPr>
        <p:spPr>
          <a:xfrm xmlns:a="http://schemas.openxmlformats.org/drawingml/2006/main">
            <a:off x="1325880" y="2651760"/>
            <a:ext cx="955548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100"/>
              <a:buFont typeface="Arial"/>
              <a:buNone/>
            </a:pPr>
            <a:r>
              <a:rPr sz="2100" b="0" i="0" u="none" cap="none">
                <a:solidFill>
                  <a:srgbClr val="FFFFFF"/>
                </a:solidFill>
                <a:latin typeface="Arial"/>
                <a:ea typeface="Arial"/>
                <a:cs typeface="Arial"/>
              </a:rPr>
              <a:t>A pilot test is a small trial run used to find problems before full data collection begins.</a:t>
            </a:r>
          </a:p>
        </p:txBody>
      </p:sp>
      <p:sp>
        <p:nvSpPr>
          <p:cNvPr id="102" name="Google Shape;102;p7">
            <a:extLst xmlns:a="http://schemas.openxmlformats.org/drawingml/2006/main">
              <a:ext uri="{FF2B5EF4-FFF2-40B4-BE49-F238E27FC236}">
                <a16:creationId xmlns:a16="http://schemas.microsoft.com/office/drawing/2014/main" id="{8196242D-BD68-408E-9638-CB5A29701401}"/>
              </a:ext>
            </a:extLst>
          </p:cNvPr>
          <p:cNvSpPr>
            <a:spLocks xmlns:a="http://schemas.openxmlformats.org/drawingml/2006/main" noGrp="1"/>
          </p:cNvSpPr>
          <p:nvPr/>
        </p:nvSpPr>
        <p:spPr>
          <a:xfrm xmlns:a="http://schemas.openxmlformats.org/drawingml/2006/main">
            <a:off x="1325880" y="3246120"/>
            <a:ext cx="95554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700"/>
              <a:buFont typeface="Arial"/>
              <a:buNone/>
            </a:pPr>
            <a:r>
              <a:rPr sz="1700" b="0" i="0" u="none" cap="none">
                <a:solidFill>
                  <a:srgbClr val="B5B5B5"/>
                </a:solidFill>
                <a:latin typeface="Arial"/>
                <a:ea typeface="Arial"/>
                <a:cs typeface="Arial"/>
              </a:rPr>
              <a:t>It is successful when it reveals what must be clarified, revised, simplified, or approved before continuing.</a:t>
            </a:r>
          </a:p>
        </p:txBody>
      </p:sp>
      <p:sp>
        <p:nvSpPr>
          <p:cNvPr id="103" name="Google Shape;103;p7">
            <a:extLst xmlns:a="http://schemas.openxmlformats.org/drawingml/2006/main">
              <a:ext uri="{FF2B5EF4-FFF2-40B4-BE49-F238E27FC236}">
                <a16:creationId xmlns:a16="http://schemas.microsoft.com/office/drawing/2014/main" id="{E5D8A728-A013-4F21-8A32-34FE2D87353E}"/>
              </a:ext>
            </a:extLst>
          </p:cNvPr>
          <p:cNvSpPr>
            <a:spLocks xmlns:a="http://schemas.openxmlformats.org/drawingml/2006/main" noGrp="1"/>
          </p:cNvSpPr>
          <p:nvPr/>
        </p:nvSpPr>
        <p:spPr>
          <a:xfrm xmlns:a="http://schemas.openxmlformats.org/drawingml/2006/main">
            <a:off x="4892040" y="4407408"/>
            <a:ext cx="2377440" cy="38404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7">
            <a:extLst xmlns:a="http://schemas.openxmlformats.org/drawingml/2006/main">
              <a:ext uri="{FF2B5EF4-FFF2-40B4-BE49-F238E27FC236}">
                <a16:creationId xmlns:a16="http://schemas.microsoft.com/office/drawing/2014/main" id="{F3B3F8CB-8975-4667-A0C1-CC3071DC1A91}"/>
              </a:ext>
            </a:extLst>
          </p:cNvPr>
          <p:cNvSpPr>
            <a:spLocks xmlns:a="http://schemas.openxmlformats.org/drawingml/2006/main" noGrp="1"/>
          </p:cNvSpPr>
          <p:nvPr/>
        </p:nvSpPr>
        <p:spPr>
          <a:xfrm xmlns:a="http://schemas.openxmlformats.org/drawingml/2006/main">
            <a:off x="5074920" y="4489704"/>
            <a:ext cx="201168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200"/>
              <a:buFont typeface="Arial"/>
              <a:buNone/>
            </a:pPr>
            <a:r>
              <a:rPr sz="1200" b="1" i="0" u="none" cap="none">
                <a:solidFill>
                  <a:srgbClr val="FFFFFF"/>
                </a:solidFill>
                <a:latin typeface="Arial"/>
                <a:ea typeface="Arial"/>
                <a:cs typeface="Arial"/>
              </a:rPr>
              <a:t>KEY IDEA</a:t>
            </a:r>
          </a:p>
        </p:txBody>
      </p:sp>
    </p:spTree>
    <p:extLst>
      <p:ext uri="{BB962C8B-B14F-4D97-AF65-F5344CB8AC3E}">
        <p14:creationId xmlns:p14="http://schemas.microsoft.com/office/powerpoint/2010/main" val="209818395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0" name="Google Shape;110;p8">
            <a:extLst xmlns:a="http://schemas.openxmlformats.org/drawingml/2006/main">
              <a:ext uri="{FF2B5EF4-FFF2-40B4-BE49-F238E27FC236}">
                <a16:creationId xmlns:a16="http://schemas.microsoft.com/office/drawing/2014/main" id="{04461671-60CA-4A23-A99D-23F437B06F2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1" name="Google Shape;111;p8">
            <a:extLst xmlns:a="http://schemas.openxmlformats.org/drawingml/2006/main">
              <a:ext uri="{FF2B5EF4-FFF2-40B4-BE49-F238E27FC236}">
                <a16:creationId xmlns:a16="http://schemas.microsoft.com/office/drawing/2014/main" id="{3ADEB4F6-5235-4CBA-BA8E-57AF577D6ED0}"/>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2" name="Google Shape;112;p8">
            <a:extLst xmlns:a="http://schemas.openxmlformats.org/drawingml/2006/main">
              <a:ext uri="{FF2B5EF4-FFF2-40B4-BE49-F238E27FC236}">
                <a16:creationId xmlns:a16="http://schemas.microsoft.com/office/drawing/2014/main" id="{B00B358B-71C4-426A-BBB1-12E5492BD357}"/>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3" name="Google Shape;113;p8">
            <a:extLst xmlns:a="http://schemas.openxmlformats.org/drawingml/2006/main">
              <a:ext uri="{FF2B5EF4-FFF2-40B4-BE49-F238E27FC236}">
                <a16:creationId xmlns:a16="http://schemas.microsoft.com/office/drawing/2014/main" id="{35B5541C-F79B-474E-B23E-17673E479585}"/>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What a Pilot Test Is and Is Not</a:t>
            </a:r>
          </a:p>
        </p:txBody>
      </p:sp>
      <p:sp>
        <p:nvSpPr>
          <p:cNvPr id="114" name="Google Shape;114;p8">
            <a:extLst xmlns:a="http://schemas.openxmlformats.org/drawingml/2006/main">
              <a:ext uri="{FF2B5EF4-FFF2-40B4-BE49-F238E27FC236}">
                <a16:creationId xmlns:a16="http://schemas.microsoft.com/office/drawing/2014/main" id="{F5584676-3EE4-4682-A803-569A550506D2}"/>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5" name="Google Shape;115;p8">
            <a:extLst xmlns:a="http://schemas.openxmlformats.org/drawingml/2006/main">
              <a:ext uri="{FF2B5EF4-FFF2-40B4-BE49-F238E27FC236}">
                <a16:creationId xmlns:a16="http://schemas.microsoft.com/office/drawing/2014/main" id="{19131CB0-5ABE-457E-A380-0ED44A494DA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116" name="Google Shape;116;p8">
            <a:extLst xmlns:a="http://schemas.openxmlformats.org/drawingml/2006/main">
              <a:ext uri="{FF2B5EF4-FFF2-40B4-BE49-F238E27FC236}">
                <a16:creationId xmlns:a16="http://schemas.microsoft.com/office/drawing/2014/main" id="{04FF727F-3357-4398-AD5E-F5D36DA678C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117" name="Google Shape;117;p8">
            <a:extLst xmlns:a="http://schemas.openxmlformats.org/drawingml/2006/main">
              <a:ext uri="{FF2B5EF4-FFF2-40B4-BE49-F238E27FC236}">
                <a16:creationId xmlns:a16="http://schemas.microsoft.com/office/drawing/2014/main" id="{6D2047FF-6F99-4C19-B083-D53F9F65A03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05</a:t>
            </a:r>
          </a:p>
        </p:txBody>
      </p:sp>
      <p:sp>
        <p:nvSpPr>
          <p:cNvPr id="118" name="Google Shape;118;p8">
            <a:extLst xmlns:a="http://schemas.openxmlformats.org/drawingml/2006/main">
              <a:ext uri="{FF2B5EF4-FFF2-40B4-BE49-F238E27FC236}">
                <a16:creationId xmlns:a16="http://schemas.microsoft.com/office/drawing/2014/main" id="{D009B531-B764-47CB-B90E-BC981F638B82}"/>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Students often confuse pilot testing with final testing.</a:t>
            </a:r>
          </a:p>
        </p:txBody>
      </p:sp>
      <p:sp>
        <p:nvSpPr>
          <p:cNvPr id="119" name="Google Shape;119;p8">
            <a:extLst xmlns:a="http://schemas.openxmlformats.org/drawingml/2006/main">
              <a:ext uri="{FF2B5EF4-FFF2-40B4-BE49-F238E27FC236}">
                <a16:creationId xmlns:a16="http://schemas.microsoft.com/office/drawing/2014/main" id="{79F68903-4AC3-4810-91EA-45E4ABE7D5D2}"/>
              </a:ext>
            </a:extLst>
          </p:cNvPr>
          <p:cNvSpPr>
            <a:spLocks xmlns:a="http://schemas.openxmlformats.org/drawingml/2006/main" noGrp="1"/>
          </p:cNvSpPr>
          <p:nvPr/>
        </p:nvSpPr>
        <p:spPr>
          <a:xfrm xmlns:a="http://schemas.openxmlformats.org/drawingml/2006/main">
            <a:off x="1097280" y="1874520"/>
            <a:ext cx="429768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8">
            <a:extLst xmlns:a="http://schemas.openxmlformats.org/drawingml/2006/main">
              <a:ext uri="{FF2B5EF4-FFF2-40B4-BE49-F238E27FC236}">
                <a16:creationId xmlns:a16="http://schemas.microsoft.com/office/drawing/2014/main" id="{3C485595-4DFE-4F9E-9964-D0BBC31BF70D}"/>
              </a:ext>
            </a:extLst>
          </p:cNvPr>
          <p:cNvSpPr>
            <a:spLocks xmlns:a="http://schemas.openxmlformats.org/drawingml/2006/main" noGrp="1"/>
          </p:cNvSpPr>
          <p:nvPr/>
        </p:nvSpPr>
        <p:spPr>
          <a:xfrm xmlns:a="http://schemas.openxmlformats.org/drawingml/2006/main">
            <a:off x="1097280" y="187452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8">
            <a:extLst xmlns:a="http://schemas.openxmlformats.org/drawingml/2006/main">
              <a:ext uri="{FF2B5EF4-FFF2-40B4-BE49-F238E27FC236}">
                <a16:creationId xmlns:a16="http://schemas.microsoft.com/office/drawing/2014/main" id="{C79F5376-8EAC-4885-A72A-FF14D1FC291E}"/>
              </a:ext>
            </a:extLst>
          </p:cNvPr>
          <p:cNvSpPr>
            <a:spLocks xmlns:a="http://schemas.openxmlformats.org/drawingml/2006/main" noGrp="1"/>
          </p:cNvSpPr>
          <p:nvPr/>
        </p:nvSpPr>
        <p:spPr>
          <a:xfrm xmlns:a="http://schemas.openxmlformats.org/drawingml/2006/main">
            <a:off x="1261872" y="2020824"/>
            <a:ext cx="40233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IS</a:t>
            </a:r>
          </a:p>
        </p:txBody>
      </p:sp>
      <p:sp>
        <p:nvSpPr>
          <p:cNvPr id="122" name="Google Shape;122;p8">
            <a:extLst xmlns:a="http://schemas.openxmlformats.org/drawingml/2006/main">
              <a:ext uri="{FF2B5EF4-FFF2-40B4-BE49-F238E27FC236}">
                <a16:creationId xmlns:a16="http://schemas.microsoft.com/office/drawing/2014/main" id="{70909888-4356-45BC-850F-2E9A48F355F0}"/>
              </a:ext>
            </a:extLst>
          </p:cNvPr>
          <p:cNvSpPr>
            <a:spLocks xmlns:a="http://schemas.openxmlformats.org/drawingml/2006/main" noGrp="1"/>
          </p:cNvSpPr>
          <p:nvPr/>
        </p:nvSpPr>
        <p:spPr>
          <a:xfrm xmlns:a="http://schemas.openxmlformats.org/drawingml/2006/main">
            <a:off x="1261872" y="2350008"/>
            <a:ext cx="400507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trial run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safety check</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measurement check</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data table check</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chance to revise</a:t>
            </a:r>
          </a:p>
        </p:txBody>
      </p:sp>
      <p:sp>
        <p:nvSpPr>
          <p:cNvPr id="123" name="Google Shape;123;p8">
            <a:extLst xmlns:a="http://schemas.openxmlformats.org/drawingml/2006/main">
              <a:ext uri="{FF2B5EF4-FFF2-40B4-BE49-F238E27FC236}">
                <a16:creationId xmlns:a16="http://schemas.microsoft.com/office/drawing/2014/main" id="{BE862E76-0237-4C36-9914-9F58D6ED9333}"/>
              </a:ext>
            </a:extLst>
          </p:cNvPr>
          <p:cNvSpPr>
            <a:spLocks xmlns:a="http://schemas.openxmlformats.org/drawingml/2006/main" noGrp="1"/>
          </p:cNvSpPr>
          <p:nvPr/>
        </p:nvSpPr>
        <p:spPr>
          <a:xfrm xmlns:a="http://schemas.openxmlformats.org/drawingml/2006/main">
            <a:off x="6812280" y="1874520"/>
            <a:ext cx="429768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8">
            <a:extLst xmlns:a="http://schemas.openxmlformats.org/drawingml/2006/main">
              <a:ext uri="{FF2B5EF4-FFF2-40B4-BE49-F238E27FC236}">
                <a16:creationId xmlns:a16="http://schemas.microsoft.com/office/drawing/2014/main" id="{D6094793-A082-496B-9D76-80C0A1235285}"/>
              </a:ext>
            </a:extLst>
          </p:cNvPr>
          <p:cNvSpPr>
            <a:spLocks xmlns:a="http://schemas.openxmlformats.org/drawingml/2006/main" noGrp="1"/>
          </p:cNvSpPr>
          <p:nvPr/>
        </p:nvSpPr>
        <p:spPr>
          <a:xfrm xmlns:a="http://schemas.openxmlformats.org/drawingml/2006/main">
            <a:off x="6812280" y="187452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5" name="Google Shape;125;p8">
            <a:extLst xmlns:a="http://schemas.openxmlformats.org/drawingml/2006/main">
              <a:ext uri="{FF2B5EF4-FFF2-40B4-BE49-F238E27FC236}">
                <a16:creationId xmlns:a16="http://schemas.microsoft.com/office/drawing/2014/main" id="{A1D18116-5822-4D90-9D22-3C73F9A5B49E}"/>
              </a:ext>
            </a:extLst>
          </p:cNvPr>
          <p:cNvSpPr>
            <a:spLocks xmlns:a="http://schemas.openxmlformats.org/drawingml/2006/main" noGrp="1"/>
          </p:cNvSpPr>
          <p:nvPr/>
        </p:nvSpPr>
        <p:spPr>
          <a:xfrm xmlns:a="http://schemas.openxmlformats.org/drawingml/2006/main">
            <a:off x="6976872" y="2020824"/>
            <a:ext cx="40233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IS NOT</a:t>
            </a:r>
          </a:p>
        </p:txBody>
      </p:sp>
      <p:sp>
        <p:nvSpPr>
          <p:cNvPr id="126" name="Google Shape;126;p8">
            <a:extLst xmlns:a="http://schemas.openxmlformats.org/drawingml/2006/main">
              <a:ext uri="{FF2B5EF4-FFF2-40B4-BE49-F238E27FC236}">
                <a16:creationId xmlns:a16="http://schemas.microsoft.com/office/drawing/2014/main" id="{A7322CBF-B127-43CF-A68B-121BA2427F70}"/>
              </a:ext>
            </a:extLst>
          </p:cNvPr>
          <p:cNvSpPr>
            <a:spLocks xmlns:a="http://schemas.openxmlformats.org/drawingml/2006/main" noGrp="1"/>
          </p:cNvSpPr>
          <p:nvPr/>
        </p:nvSpPr>
        <p:spPr>
          <a:xfrm xmlns:a="http://schemas.openxmlformats.org/drawingml/2006/main">
            <a:off x="6976872" y="2350008"/>
            <a:ext cx="400507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whole project</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proof of your conclusion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a shortcut around planning</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permission to ignore safety</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something to hide if it fails</a:t>
            </a:r>
          </a:p>
        </p:txBody>
      </p:sp>
    </p:spTree>
    <p:extLst>
      <p:ext uri="{BB962C8B-B14F-4D97-AF65-F5344CB8AC3E}">
        <p14:creationId xmlns:p14="http://schemas.microsoft.com/office/powerpoint/2010/main" val="112864158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2" name="Google Shape;132;p9">
            <a:extLst xmlns:a="http://schemas.openxmlformats.org/drawingml/2006/main">
              <a:ext uri="{FF2B5EF4-FFF2-40B4-BE49-F238E27FC236}">
                <a16:creationId xmlns:a16="http://schemas.microsoft.com/office/drawing/2014/main" id="{3A476C28-B5A3-4891-8091-A9223A588C9D}"/>
              </a:ext>
            </a:extLst>
          </p:cNvPr>
          <p:cNvSpPr>
            <a:spLocks xmlns:a="http://schemas.openxmlformats.org/drawingml/2006/main" noGrp="1"/>
          </p:cNvSpPr>
          <p:nvPr/>
        </p:nvSpPr>
        <p:spPr>
          <a:xfrm xmlns:a="http://schemas.openxmlformats.org/drawingml/2006/main">
            <a:off x="0" y="15073"/>
            <a:ext cx="12191700"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6AFAA458-3AC6-497E-A2A9-9FE8C317A7B0}"/>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9">
            <a:extLst xmlns:a="http://schemas.openxmlformats.org/drawingml/2006/main">
              <a:ext uri="{FF2B5EF4-FFF2-40B4-BE49-F238E27FC236}">
                <a16:creationId xmlns:a16="http://schemas.microsoft.com/office/drawing/2014/main" id="{761920BD-65C1-426A-9D09-9CCB23E4F457}"/>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5" name="Google Shape;135;p9">
            <a:extLst xmlns:a="http://schemas.openxmlformats.org/drawingml/2006/main">
              <a:ext uri="{FF2B5EF4-FFF2-40B4-BE49-F238E27FC236}">
                <a16:creationId xmlns:a16="http://schemas.microsoft.com/office/drawing/2014/main" id="{146FC915-685C-48A8-B1ED-12CA0F9A5C98}"/>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What Pilot Testing Can Reveal</a:t>
            </a:r>
          </a:p>
        </p:txBody>
      </p:sp>
      <p:sp>
        <p:nvSpPr>
          <p:cNvPr id="136" name="Google Shape;136;p9">
            <a:extLst xmlns:a="http://schemas.openxmlformats.org/drawingml/2006/main">
              <a:ext uri="{FF2B5EF4-FFF2-40B4-BE49-F238E27FC236}">
                <a16:creationId xmlns:a16="http://schemas.microsoft.com/office/drawing/2014/main" id="{C6D6B819-19E1-4C02-BA44-D09293724539}"/>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9">
            <a:extLst xmlns:a="http://schemas.openxmlformats.org/drawingml/2006/main">
              <a:ext uri="{FF2B5EF4-FFF2-40B4-BE49-F238E27FC236}">
                <a16:creationId xmlns:a16="http://schemas.microsoft.com/office/drawing/2014/main" id="{3C76D611-8A4D-4B31-87BE-68690B288BD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138" name="Google Shape;138;p9">
            <a:extLst xmlns:a="http://schemas.openxmlformats.org/drawingml/2006/main">
              <a:ext uri="{FF2B5EF4-FFF2-40B4-BE49-F238E27FC236}">
                <a16:creationId xmlns:a16="http://schemas.microsoft.com/office/drawing/2014/main" id="{EEF22ED4-B910-4D2F-80BE-9697BC95746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139" name="Google Shape;139;p9">
            <a:extLst xmlns:a="http://schemas.openxmlformats.org/drawingml/2006/main">
              <a:ext uri="{FF2B5EF4-FFF2-40B4-BE49-F238E27FC236}">
                <a16:creationId xmlns:a16="http://schemas.microsoft.com/office/drawing/2014/main" id="{A5E3C53C-BFBB-4961-AD0C-2818E7C6AA28}"/>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06</a:t>
            </a:r>
          </a:p>
        </p:txBody>
      </p:sp>
      <p:sp>
        <p:nvSpPr>
          <p:cNvPr id="140" name="Google Shape;140;p9">
            <a:extLst xmlns:a="http://schemas.openxmlformats.org/drawingml/2006/main">
              <a:ext uri="{FF2B5EF4-FFF2-40B4-BE49-F238E27FC236}">
                <a16:creationId xmlns:a16="http://schemas.microsoft.com/office/drawing/2014/main" id="{AD884FD9-AB1B-491F-A357-BE5567ED31AC}"/>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small trial can expose the hidden weak points in a project.</a:t>
            </a:r>
          </a:p>
        </p:txBody>
      </p:sp>
      <p:sp>
        <p:nvSpPr>
          <p:cNvPr id="141" name="Google Shape;141;p9">
            <a:extLst xmlns:a="http://schemas.openxmlformats.org/drawingml/2006/main">
              <a:ext uri="{FF2B5EF4-FFF2-40B4-BE49-F238E27FC236}">
                <a16:creationId xmlns:a16="http://schemas.microsoft.com/office/drawing/2014/main" id="{B764C431-5EAF-4A83-B614-9E60B4E55595}"/>
              </a:ext>
            </a:extLst>
          </p:cNvPr>
          <p:cNvSpPr>
            <a:spLocks xmlns:a="http://schemas.openxmlformats.org/drawingml/2006/main" noGrp="1"/>
          </p:cNvSpPr>
          <p:nvPr/>
        </p:nvSpPr>
        <p:spPr>
          <a:xfrm xmlns:a="http://schemas.openxmlformats.org/drawingml/2006/main">
            <a:off x="82296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2" name="Google Shape;142;p9">
            <a:extLst xmlns:a="http://schemas.openxmlformats.org/drawingml/2006/main">
              <a:ext uri="{FF2B5EF4-FFF2-40B4-BE49-F238E27FC236}">
                <a16:creationId xmlns:a16="http://schemas.microsoft.com/office/drawing/2014/main" id="{EF725662-7B48-43AC-9635-15A4A85F5B57}"/>
              </a:ext>
            </a:extLst>
          </p:cNvPr>
          <p:cNvSpPr>
            <a:spLocks xmlns:a="http://schemas.openxmlformats.org/drawingml/2006/main" noGrp="1"/>
          </p:cNvSpPr>
          <p:nvPr/>
        </p:nvSpPr>
        <p:spPr>
          <a:xfrm xmlns:a="http://schemas.openxmlformats.org/drawingml/2006/main">
            <a:off x="82296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CC4BD729-8EED-48A3-AB87-EBD9D53CBBF7}"/>
              </a:ext>
            </a:extLst>
          </p:cNvPr>
          <p:cNvSpPr>
            <a:spLocks xmlns:a="http://schemas.openxmlformats.org/drawingml/2006/main" noGrp="1"/>
          </p:cNvSpPr>
          <p:nvPr/>
        </p:nvSpPr>
        <p:spPr>
          <a:xfrm xmlns:a="http://schemas.openxmlformats.org/drawingml/2006/main">
            <a:off x="98755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PROCEDURE</a:t>
            </a:r>
          </a:p>
        </p:txBody>
      </p:sp>
      <p:sp>
        <p:nvSpPr>
          <p:cNvPr id="144" name="Google Shape;144;p9">
            <a:extLst xmlns:a="http://schemas.openxmlformats.org/drawingml/2006/main">
              <a:ext uri="{FF2B5EF4-FFF2-40B4-BE49-F238E27FC236}">
                <a16:creationId xmlns:a16="http://schemas.microsoft.com/office/drawing/2014/main" id="{7F9C803D-C75A-4A6D-B656-8E22BD53BC16}"/>
              </a:ext>
            </a:extLst>
          </p:cNvPr>
          <p:cNvSpPr>
            <a:spLocks xmlns:a="http://schemas.openxmlformats.org/drawingml/2006/main" noGrp="1"/>
          </p:cNvSpPr>
          <p:nvPr/>
        </p:nvSpPr>
        <p:spPr>
          <a:xfrm xmlns:a="http://schemas.openxmlformats.org/drawingml/2006/main">
            <a:off x="98755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Are the steps clear and repeatable?</a:t>
            </a:r>
          </a:p>
        </p:txBody>
      </p:sp>
      <p:sp>
        <p:nvSpPr>
          <p:cNvPr id="145" name="Google Shape;145;p9">
            <a:extLst xmlns:a="http://schemas.openxmlformats.org/drawingml/2006/main">
              <a:ext uri="{FF2B5EF4-FFF2-40B4-BE49-F238E27FC236}">
                <a16:creationId xmlns:a16="http://schemas.microsoft.com/office/drawing/2014/main" id="{9B00F924-EBB1-4AA5-AD75-91AC1DCCDEB4}"/>
              </a:ext>
            </a:extLst>
          </p:cNvPr>
          <p:cNvSpPr>
            <a:spLocks xmlns:a="http://schemas.openxmlformats.org/drawingml/2006/main" noGrp="1"/>
          </p:cNvSpPr>
          <p:nvPr/>
        </p:nvSpPr>
        <p:spPr>
          <a:xfrm xmlns:a="http://schemas.openxmlformats.org/drawingml/2006/main">
            <a:off x="987540"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01</a:t>
            </a:r>
          </a:p>
        </p:txBody>
      </p:sp>
      <p:sp>
        <p:nvSpPr>
          <p:cNvPr id="146" name="Google Shape;146;p9">
            <a:extLst xmlns:a="http://schemas.openxmlformats.org/drawingml/2006/main">
              <a:ext uri="{FF2B5EF4-FFF2-40B4-BE49-F238E27FC236}">
                <a16:creationId xmlns:a16="http://schemas.microsoft.com/office/drawing/2014/main" id="{90F461B5-D13F-47DB-8028-7A787367C967}"/>
              </a:ext>
            </a:extLst>
          </p:cNvPr>
          <p:cNvSpPr>
            <a:spLocks xmlns:a="http://schemas.openxmlformats.org/drawingml/2006/main" noGrp="1"/>
          </p:cNvSpPr>
          <p:nvPr/>
        </p:nvSpPr>
        <p:spPr>
          <a:xfrm xmlns:a="http://schemas.openxmlformats.org/drawingml/2006/main">
            <a:off x="306324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7" name="Google Shape;147;p9">
            <a:extLst xmlns:a="http://schemas.openxmlformats.org/drawingml/2006/main">
              <a:ext uri="{FF2B5EF4-FFF2-40B4-BE49-F238E27FC236}">
                <a16:creationId xmlns:a16="http://schemas.microsoft.com/office/drawing/2014/main" id="{4C99196A-DBAA-4618-973F-7EEC252CC5B8}"/>
              </a:ext>
            </a:extLst>
          </p:cNvPr>
          <p:cNvSpPr>
            <a:spLocks xmlns:a="http://schemas.openxmlformats.org/drawingml/2006/main" noGrp="1"/>
          </p:cNvSpPr>
          <p:nvPr/>
        </p:nvSpPr>
        <p:spPr>
          <a:xfrm xmlns:a="http://schemas.openxmlformats.org/drawingml/2006/main">
            <a:off x="306324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8" name="Google Shape;148;p9">
            <a:extLst xmlns:a="http://schemas.openxmlformats.org/drawingml/2006/main">
              <a:ext uri="{FF2B5EF4-FFF2-40B4-BE49-F238E27FC236}">
                <a16:creationId xmlns:a16="http://schemas.microsoft.com/office/drawing/2014/main" id="{A842C12C-75F6-45BC-A734-B07EC7990B06}"/>
              </a:ext>
            </a:extLst>
          </p:cNvPr>
          <p:cNvSpPr>
            <a:spLocks xmlns:a="http://schemas.openxmlformats.org/drawingml/2006/main" noGrp="1"/>
          </p:cNvSpPr>
          <p:nvPr/>
        </p:nvSpPr>
        <p:spPr>
          <a:xfrm xmlns:a="http://schemas.openxmlformats.org/drawingml/2006/main">
            <a:off x="322783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MEASUREMENT</a:t>
            </a:r>
          </a:p>
        </p:txBody>
      </p:sp>
      <p:sp>
        <p:nvSpPr>
          <p:cNvPr id="149" name="Google Shape;149;p9">
            <a:extLst xmlns:a="http://schemas.openxmlformats.org/drawingml/2006/main">
              <a:ext uri="{FF2B5EF4-FFF2-40B4-BE49-F238E27FC236}">
                <a16:creationId xmlns:a16="http://schemas.microsoft.com/office/drawing/2014/main" id="{05FEEC3A-3959-4108-BC79-BDC8E31AB28B}"/>
              </a:ext>
            </a:extLst>
          </p:cNvPr>
          <p:cNvSpPr>
            <a:spLocks xmlns:a="http://schemas.openxmlformats.org/drawingml/2006/main" noGrp="1"/>
          </p:cNvSpPr>
          <p:nvPr/>
        </p:nvSpPr>
        <p:spPr>
          <a:xfrm xmlns:a="http://schemas.openxmlformats.org/drawingml/2006/main">
            <a:off x="322783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Does the tool collect useful data?</a:t>
            </a:r>
          </a:p>
        </p:txBody>
      </p:sp>
      <p:sp>
        <p:nvSpPr>
          <p:cNvPr id="150" name="Google Shape;150;p9">
            <a:extLst xmlns:a="http://schemas.openxmlformats.org/drawingml/2006/main">
              <a:ext uri="{FF2B5EF4-FFF2-40B4-BE49-F238E27FC236}">
                <a16:creationId xmlns:a16="http://schemas.microsoft.com/office/drawing/2014/main" id="{06F9289B-4CF5-462D-8D0E-8E7FC0E77C89}"/>
              </a:ext>
            </a:extLst>
          </p:cNvPr>
          <p:cNvSpPr>
            <a:spLocks xmlns:a="http://schemas.openxmlformats.org/drawingml/2006/main" noGrp="1"/>
          </p:cNvSpPr>
          <p:nvPr/>
        </p:nvSpPr>
        <p:spPr>
          <a:xfrm xmlns:a="http://schemas.openxmlformats.org/drawingml/2006/main">
            <a:off x="3227882"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02</a:t>
            </a:r>
          </a:p>
        </p:txBody>
      </p:sp>
      <p:sp>
        <p:nvSpPr>
          <p:cNvPr id="151" name="Google Shape;151;p9">
            <a:extLst xmlns:a="http://schemas.openxmlformats.org/drawingml/2006/main">
              <a:ext uri="{FF2B5EF4-FFF2-40B4-BE49-F238E27FC236}">
                <a16:creationId xmlns:a16="http://schemas.microsoft.com/office/drawing/2014/main" id="{CB7EF73C-4415-4B54-9E51-6BEE420D55FD}"/>
              </a:ext>
            </a:extLst>
          </p:cNvPr>
          <p:cNvSpPr>
            <a:spLocks xmlns:a="http://schemas.openxmlformats.org/drawingml/2006/main" noGrp="1"/>
          </p:cNvSpPr>
          <p:nvPr/>
        </p:nvSpPr>
        <p:spPr>
          <a:xfrm xmlns:a="http://schemas.openxmlformats.org/drawingml/2006/main">
            <a:off x="530352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9">
            <a:extLst xmlns:a="http://schemas.openxmlformats.org/drawingml/2006/main">
              <a:ext uri="{FF2B5EF4-FFF2-40B4-BE49-F238E27FC236}">
                <a16:creationId xmlns:a16="http://schemas.microsoft.com/office/drawing/2014/main" id="{9D3A260A-4821-475C-8BDF-4EA0CCCB74CA}"/>
              </a:ext>
            </a:extLst>
          </p:cNvPr>
          <p:cNvSpPr>
            <a:spLocks xmlns:a="http://schemas.openxmlformats.org/drawingml/2006/main" noGrp="1"/>
          </p:cNvSpPr>
          <p:nvPr/>
        </p:nvSpPr>
        <p:spPr>
          <a:xfrm xmlns:a="http://schemas.openxmlformats.org/drawingml/2006/main">
            <a:off x="530352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9">
            <a:extLst xmlns:a="http://schemas.openxmlformats.org/drawingml/2006/main">
              <a:ext uri="{FF2B5EF4-FFF2-40B4-BE49-F238E27FC236}">
                <a16:creationId xmlns:a16="http://schemas.microsoft.com/office/drawing/2014/main" id="{E4FA0C9F-E985-46A9-BA03-5DAE6005BC5F}"/>
              </a:ext>
            </a:extLst>
          </p:cNvPr>
          <p:cNvSpPr>
            <a:spLocks xmlns:a="http://schemas.openxmlformats.org/drawingml/2006/main" noGrp="1"/>
          </p:cNvSpPr>
          <p:nvPr/>
        </p:nvSpPr>
        <p:spPr>
          <a:xfrm xmlns:a="http://schemas.openxmlformats.org/drawingml/2006/main">
            <a:off x="546811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DATA TABLE</a:t>
            </a:r>
          </a:p>
        </p:txBody>
      </p:sp>
      <p:sp>
        <p:nvSpPr>
          <p:cNvPr id="154" name="Google Shape;154;p9">
            <a:extLst xmlns:a="http://schemas.openxmlformats.org/drawingml/2006/main">
              <a:ext uri="{FF2B5EF4-FFF2-40B4-BE49-F238E27FC236}">
                <a16:creationId xmlns:a16="http://schemas.microsoft.com/office/drawing/2014/main" id="{ABE629BE-057C-4FCD-A6C7-766D0F8868F9}"/>
              </a:ext>
            </a:extLst>
          </p:cNvPr>
          <p:cNvSpPr>
            <a:spLocks xmlns:a="http://schemas.openxmlformats.org/drawingml/2006/main" noGrp="1"/>
          </p:cNvSpPr>
          <p:nvPr/>
        </p:nvSpPr>
        <p:spPr>
          <a:xfrm xmlns:a="http://schemas.openxmlformats.org/drawingml/2006/main">
            <a:off x="546811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Is there a place for every observation?</a:t>
            </a:r>
          </a:p>
        </p:txBody>
      </p:sp>
      <p:sp>
        <p:nvSpPr>
          <p:cNvPr id="155" name="Google Shape;155;p9">
            <a:extLst xmlns:a="http://schemas.openxmlformats.org/drawingml/2006/main">
              <a:ext uri="{FF2B5EF4-FFF2-40B4-BE49-F238E27FC236}">
                <a16:creationId xmlns:a16="http://schemas.microsoft.com/office/drawing/2014/main" id="{217869BA-4368-4BAE-9642-13E773AD52C0}"/>
              </a:ext>
            </a:extLst>
          </p:cNvPr>
          <p:cNvSpPr>
            <a:spLocks xmlns:a="http://schemas.openxmlformats.org/drawingml/2006/main" noGrp="1"/>
          </p:cNvSpPr>
          <p:nvPr/>
        </p:nvSpPr>
        <p:spPr>
          <a:xfrm xmlns:a="http://schemas.openxmlformats.org/drawingml/2006/main">
            <a:off x="5468200"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03</a:t>
            </a:r>
          </a:p>
        </p:txBody>
      </p:sp>
      <p:sp>
        <p:nvSpPr>
          <p:cNvPr id="156" name="Google Shape;156;p9">
            <a:extLst xmlns:a="http://schemas.openxmlformats.org/drawingml/2006/main">
              <a:ext uri="{FF2B5EF4-FFF2-40B4-BE49-F238E27FC236}">
                <a16:creationId xmlns:a16="http://schemas.microsoft.com/office/drawing/2014/main" id="{E166A29D-0B50-4CBB-ADB9-F81D61486273}"/>
              </a:ext>
            </a:extLst>
          </p:cNvPr>
          <p:cNvSpPr>
            <a:spLocks xmlns:a="http://schemas.openxmlformats.org/drawingml/2006/main" noGrp="1"/>
          </p:cNvSpPr>
          <p:nvPr/>
        </p:nvSpPr>
        <p:spPr>
          <a:xfrm xmlns:a="http://schemas.openxmlformats.org/drawingml/2006/main">
            <a:off x="754380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9">
            <a:extLst xmlns:a="http://schemas.openxmlformats.org/drawingml/2006/main">
              <a:ext uri="{FF2B5EF4-FFF2-40B4-BE49-F238E27FC236}">
                <a16:creationId xmlns:a16="http://schemas.microsoft.com/office/drawing/2014/main" id="{895D902A-2F94-4823-AABA-631B3516A61C}"/>
              </a:ext>
            </a:extLst>
          </p:cNvPr>
          <p:cNvSpPr>
            <a:spLocks xmlns:a="http://schemas.openxmlformats.org/drawingml/2006/main" noGrp="1"/>
          </p:cNvSpPr>
          <p:nvPr/>
        </p:nvSpPr>
        <p:spPr>
          <a:xfrm xmlns:a="http://schemas.openxmlformats.org/drawingml/2006/main">
            <a:off x="754380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8" name="Google Shape;158;p9">
            <a:extLst xmlns:a="http://schemas.openxmlformats.org/drawingml/2006/main">
              <a:ext uri="{FF2B5EF4-FFF2-40B4-BE49-F238E27FC236}">
                <a16:creationId xmlns:a16="http://schemas.microsoft.com/office/drawing/2014/main" id="{E5611E8D-3F2A-464E-9A02-A4A4FC8DCC12}"/>
              </a:ext>
            </a:extLst>
          </p:cNvPr>
          <p:cNvSpPr>
            <a:spLocks xmlns:a="http://schemas.openxmlformats.org/drawingml/2006/main" noGrp="1"/>
          </p:cNvSpPr>
          <p:nvPr/>
        </p:nvSpPr>
        <p:spPr>
          <a:xfrm xmlns:a="http://schemas.openxmlformats.org/drawingml/2006/main">
            <a:off x="770839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SAFETY</a:t>
            </a:r>
          </a:p>
        </p:txBody>
      </p:sp>
      <p:sp>
        <p:nvSpPr>
          <p:cNvPr id="159" name="Google Shape;159;p9">
            <a:extLst xmlns:a="http://schemas.openxmlformats.org/drawingml/2006/main">
              <a:ext uri="{FF2B5EF4-FFF2-40B4-BE49-F238E27FC236}">
                <a16:creationId xmlns:a16="http://schemas.microsoft.com/office/drawing/2014/main" id="{3E1D2484-85B9-4F39-BFDF-BFE6697780ED}"/>
              </a:ext>
            </a:extLst>
          </p:cNvPr>
          <p:cNvSpPr>
            <a:spLocks xmlns:a="http://schemas.openxmlformats.org/drawingml/2006/main" noGrp="1"/>
          </p:cNvSpPr>
          <p:nvPr/>
        </p:nvSpPr>
        <p:spPr>
          <a:xfrm xmlns:a="http://schemas.openxmlformats.org/drawingml/2006/main">
            <a:off x="770839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Did any new hazard appear?</a:t>
            </a:r>
          </a:p>
        </p:txBody>
      </p:sp>
      <p:sp>
        <p:nvSpPr>
          <p:cNvPr id="160" name="Google Shape;160;p9">
            <a:extLst xmlns:a="http://schemas.openxmlformats.org/drawingml/2006/main">
              <a:ext uri="{FF2B5EF4-FFF2-40B4-BE49-F238E27FC236}">
                <a16:creationId xmlns:a16="http://schemas.microsoft.com/office/drawing/2014/main" id="{CE42FABE-91DB-45CC-B818-1664EBFF24F7}"/>
              </a:ext>
            </a:extLst>
          </p:cNvPr>
          <p:cNvSpPr>
            <a:spLocks xmlns:a="http://schemas.openxmlformats.org/drawingml/2006/main" noGrp="1"/>
          </p:cNvSpPr>
          <p:nvPr/>
        </p:nvSpPr>
        <p:spPr>
          <a:xfrm xmlns:a="http://schemas.openxmlformats.org/drawingml/2006/main">
            <a:off x="7708505"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04</a:t>
            </a:r>
          </a:p>
        </p:txBody>
      </p:sp>
      <p:sp>
        <p:nvSpPr>
          <p:cNvPr id="161" name="Google Shape;161;p9">
            <a:extLst xmlns:a="http://schemas.openxmlformats.org/drawingml/2006/main">
              <a:ext uri="{FF2B5EF4-FFF2-40B4-BE49-F238E27FC236}">
                <a16:creationId xmlns:a16="http://schemas.microsoft.com/office/drawing/2014/main" id="{CC1C67DD-E794-43CB-BDB4-CAB6EFA9F447}"/>
              </a:ext>
            </a:extLst>
          </p:cNvPr>
          <p:cNvSpPr>
            <a:spLocks xmlns:a="http://schemas.openxmlformats.org/drawingml/2006/main" noGrp="1"/>
          </p:cNvSpPr>
          <p:nvPr/>
        </p:nvSpPr>
        <p:spPr>
          <a:xfrm xmlns:a="http://schemas.openxmlformats.org/drawingml/2006/main">
            <a:off x="9784080" y="1965960"/>
            <a:ext cx="1920240" cy="1828800"/>
          </a:xfrm>
          <a:prstGeom xmlns:a="http://schemas.openxmlformats.org/drawingml/2006/main" prst="roundRect">
            <a:avLst>
              <a:gd name="adj" fmla="val 400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2" name="Google Shape;162;p9">
            <a:extLst xmlns:a="http://schemas.openxmlformats.org/drawingml/2006/main">
              <a:ext uri="{FF2B5EF4-FFF2-40B4-BE49-F238E27FC236}">
                <a16:creationId xmlns:a16="http://schemas.microsoft.com/office/drawing/2014/main" id="{4EA830EF-D0B8-46B2-9F6A-D71E96BA8371}"/>
              </a:ext>
            </a:extLst>
          </p:cNvPr>
          <p:cNvSpPr>
            <a:spLocks xmlns:a="http://schemas.openxmlformats.org/drawingml/2006/main" noGrp="1"/>
          </p:cNvSpPr>
          <p:nvPr/>
        </p:nvSpPr>
        <p:spPr>
          <a:xfrm xmlns:a="http://schemas.openxmlformats.org/drawingml/2006/main">
            <a:off x="9784080" y="1965960"/>
            <a:ext cx="54864" cy="18288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9">
            <a:extLst xmlns:a="http://schemas.openxmlformats.org/drawingml/2006/main">
              <a:ext uri="{FF2B5EF4-FFF2-40B4-BE49-F238E27FC236}">
                <a16:creationId xmlns:a16="http://schemas.microsoft.com/office/drawing/2014/main" id="{34779F86-CE14-4B48-A30B-7AA923C96DFB}"/>
              </a:ext>
            </a:extLst>
          </p:cNvPr>
          <p:cNvSpPr>
            <a:spLocks xmlns:a="http://schemas.openxmlformats.org/drawingml/2006/main" noGrp="1"/>
          </p:cNvSpPr>
          <p:nvPr/>
        </p:nvSpPr>
        <p:spPr>
          <a:xfrm xmlns:a="http://schemas.openxmlformats.org/drawingml/2006/main">
            <a:off x="9948672" y="2112264"/>
            <a:ext cx="1645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TIMING</a:t>
            </a:r>
          </a:p>
        </p:txBody>
      </p:sp>
      <p:sp>
        <p:nvSpPr>
          <p:cNvPr id="164" name="Google Shape;164;p9">
            <a:extLst xmlns:a="http://schemas.openxmlformats.org/drawingml/2006/main">
              <a:ext uri="{FF2B5EF4-FFF2-40B4-BE49-F238E27FC236}">
                <a16:creationId xmlns:a16="http://schemas.microsoft.com/office/drawing/2014/main" id="{F52FE39C-02A5-4AD1-A0C0-376073BA0D8E}"/>
              </a:ext>
            </a:extLst>
          </p:cNvPr>
          <p:cNvSpPr>
            <a:spLocks xmlns:a="http://schemas.openxmlformats.org/drawingml/2006/main" noGrp="1"/>
          </p:cNvSpPr>
          <p:nvPr/>
        </p:nvSpPr>
        <p:spPr>
          <a:xfrm xmlns:a="http://schemas.openxmlformats.org/drawingml/2006/main">
            <a:off x="9948672" y="2441448"/>
            <a:ext cx="1627632" cy="12618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Is the plan realistic?</a:t>
            </a:r>
          </a:p>
        </p:txBody>
      </p:sp>
      <p:sp>
        <p:nvSpPr>
          <p:cNvPr id="165" name="Google Shape;165;p9">
            <a:extLst xmlns:a="http://schemas.openxmlformats.org/drawingml/2006/main">
              <a:ext uri="{FF2B5EF4-FFF2-40B4-BE49-F238E27FC236}">
                <a16:creationId xmlns:a16="http://schemas.microsoft.com/office/drawing/2014/main" id="{EF05BFAB-EA0E-42FC-B158-2200874CE29F}"/>
              </a:ext>
            </a:extLst>
          </p:cNvPr>
          <p:cNvSpPr>
            <a:spLocks xmlns:a="http://schemas.openxmlformats.org/drawingml/2006/main" noGrp="1"/>
          </p:cNvSpPr>
          <p:nvPr/>
        </p:nvSpPr>
        <p:spPr>
          <a:xfrm xmlns:a="http://schemas.openxmlformats.org/drawingml/2006/main">
            <a:off x="9912110" y="3474725"/>
            <a:ext cx="41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100"/>
              <a:buFont typeface="Arial"/>
              <a:buNone/>
            </a:pPr>
            <a:r>
              <a:rPr sz="1100" b="1" i="0" u="none" cap="none">
                <a:solidFill>
                  <a:srgbClr val="E32621"/>
                </a:solidFill>
                <a:latin typeface="Arial"/>
                <a:ea typeface="Arial"/>
                <a:cs typeface="Arial"/>
              </a:rPr>
              <a:t>05</a:t>
            </a:r>
          </a:p>
        </p:txBody>
      </p:sp>
      <p:sp>
        <p:nvSpPr>
          <p:cNvPr id="166" name="Google Shape;166;p9">
            <a:extLst xmlns:a="http://schemas.openxmlformats.org/drawingml/2006/main">
              <a:ext uri="{FF2B5EF4-FFF2-40B4-BE49-F238E27FC236}">
                <a16:creationId xmlns:a16="http://schemas.microsoft.com/office/drawing/2014/main" id="{87BFA1A8-DDA3-4DF7-97E4-E748E2694F37}"/>
              </a:ext>
            </a:extLst>
          </p:cNvPr>
          <p:cNvSpPr>
            <a:spLocks xmlns:a="http://schemas.openxmlformats.org/drawingml/2006/main" noGrp="1"/>
          </p:cNvSpPr>
          <p:nvPr/>
        </p:nvSpPr>
        <p:spPr>
          <a:xfrm xmlns:a="http://schemas.openxmlformats.org/drawingml/2006/main">
            <a:off x="1005840" y="4617720"/>
            <a:ext cx="1014984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A pilot test should reveal at least one thing worth improving.</a:t>
            </a:r>
          </a:p>
        </p:txBody>
      </p:sp>
    </p:spTree>
    <p:extLst>
      <p:ext uri="{BB962C8B-B14F-4D97-AF65-F5344CB8AC3E}">
        <p14:creationId xmlns:p14="http://schemas.microsoft.com/office/powerpoint/2010/main" val="10903070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72" name="Google Shape;172;p10">
            <a:extLst xmlns:a="http://schemas.openxmlformats.org/drawingml/2006/main">
              <a:ext uri="{FF2B5EF4-FFF2-40B4-BE49-F238E27FC236}">
                <a16:creationId xmlns:a16="http://schemas.microsoft.com/office/drawing/2014/main" id="{31A53CF0-023D-49C8-9BCA-617E5BAC8F8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3" name="Google Shape;173;p10">
            <a:extLst xmlns:a="http://schemas.openxmlformats.org/drawingml/2006/main">
              <a:ext uri="{FF2B5EF4-FFF2-40B4-BE49-F238E27FC236}">
                <a16:creationId xmlns:a16="http://schemas.microsoft.com/office/drawing/2014/main" id="{C894D1F8-2D93-4DA1-BC8B-EDC285966777}"/>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4" name="Google Shape;174;p10">
            <a:extLst xmlns:a="http://schemas.openxmlformats.org/drawingml/2006/main">
              <a:ext uri="{FF2B5EF4-FFF2-40B4-BE49-F238E27FC236}">
                <a16:creationId xmlns:a16="http://schemas.microsoft.com/office/drawing/2014/main" id="{E440247A-57D7-4A28-9FD2-AD940885AE16}"/>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5" name="Google Shape;175;p10">
            <a:extLst xmlns:a="http://schemas.openxmlformats.org/drawingml/2006/main">
              <a:ext uri="{FF2B5EF4-FFF2-40B4-BE49-F238E27FC236}">
                <a16:creationId xmlns:a16="http://schemas.microsoft.com/office/drawing/2014/main" id="{19E79B85-D244-474B-ADED-AC9F3535D214}"/>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Example: Measurement Problem</a:t>
            </a:r>
          </a:p>
        </p:txBody>
      </p:sp>
      <p:sp>
        <p:nvSpPr>
          <p:cNvPr id="176" name="Google Shape;176;p10">
            <a:extLst xmlns:a="http://schemas.openxmlformats.org/drawingml/2006/main">
              <a:ext uri="{FF2B5EF4-FFF2-40B4-BE49-F238E27FC236}">
                <a16:creationId xmlns:a16="http://schemas.microsoft.com/office/drawing/2014/main" id="{A3C76193-0653-4F8D-A5C5-2745CF3F5EDA}"/>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7" name="Google Shape;177;p10">
            <a:extLst xmlns:a="http://schemas.openxmlformats.org/drawingml/2006/main">
              <a:ext uri="{FF2B5EF4-FFF2-40B4-BE49-F238E27FC236}">
                <a16:creationId xmlns:a16="http://schemas.microsoft.com/office/drawing/2014/main" id="{3215B995-CC1E-408B-A4BD-1474A5BD8718}"/>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178" name="Google Shape;178;p10">
            <a:extLst xmlns:a="http://schemas.openxmlformats.org/drawingml/2006/main">
              <a:ext uri="{FF2B5EF4-FFF2-40B4-BE49-F238E27FC236}">
                <a16:creationId xmlns:a16="http://schemas.microsoft.com/office/drawing/2014/main" id="{D80E6F3D-A69D-473F-8241-45399CDA4329}"/>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179" name="Google Shape;179;p10">
            <a:extLst xmlns:a="http://schemas.openxmlformats.org/drawingml/2006/main">
              <a:ext uri="{FF2B5EF4-FFF2-40B4-BE49-F238E27FC236}">
                <a16:creationId xmlns:a16="http://schemas.microsoft.com/office/drawing/2014/main" id="{07826CD6-BD39-4960-940D-FC25A737C232}"/>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07</a:t>
            </a:r>
          </a:p>
        </p:txBody>
      </p:sp>
      <p:sp>
        <p:nvSpPr>
          <p:cNvPr id="180" name="Google Shape;180;p10">
            <a:extLst xmlns:a="http://schemas.openxmlformats.org/drawingml/2006/main">
              <a:ext uri="{FF2B5EF4-FFF2-40B4-BE49-F238E27FC236}">
                <a16:creationId xmlns:a16="http://schemas.microsoft.com/office/drawing/2014/main" id="{D6AF1EA4-2FB6-447C-B7A8-3F39D0816447}"/>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The method works only if the measurement captures the thing you care about.</a:t>
            </a:r>
          </a:p>
        </p:txBody>
      </p:sp>
      <p:sp>
        <p:nvSpPr>
          <p:cNvPr id="181" name="Google Shape;181;p10">
            <a:extLst xmlns:a="http://schemas.openxmlformats.org/drawingml/2006/main">
              <a:ext uri="{FF2B5EF4-FFF2-40B4-BE49-F238E27FC236}">
                <a16:creationId xmlns:a16="http://schemas.microsoft.com/office/drawing/2014/main" id="{7779ECCF-05AF-432F-9A13-1787C58B01CC}"/>
              </a:ext>
            </a:extLst>
          </p:cNvPr>
          <p:cNvSpPr>
            <a:spLocks xmlns:a="http://schemas.openxmlformats.org/drawingml/2006/main" noGrp="1"/>
          </p:cNvSpPr>
          <p:nvPr/>
        </p:nvSpPr>
        <p:spPr>
          <a:xfrm xmlns:a="http://schemas.openxmlformats.org/drawingml/2006/main">
            <a:off x="777240" y="1828800"/>
            <a:ext cx="3291840" cy="2148840"/>
          </a:xfrm>
          <a:prstGeom xmlns:a="http://schemas.openxmlformats.org/drawingml/2006/main" prst="roundRect">
            <a:avLst>
              <a:gd name="adj" fmla="val 3404"/>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2" name="Google Shape;182;p10">
            <a:extLst xmlns:a="http://schemas.openxmlformats.org/drawingml/2006/main">
              <a:ext uri="{FF2B5EF4-FFF2-40B4-BE49-F238E27FC236}">
                <a16:creationId xmlns:a16="http://schemas.microsoft.com/office/drawing/2014/main" id="{29601F61-36DA-47E1-9132-1D87A7C478D2}"/>
              </a:ext>
            </a:extLst>
          </p:cNvPr>
          <p:cNvSpPr>
            <a:spLocks xmlns:a="http://schemas.openxmlformats.org/drawingml/2006/main" noGrp="1"/>
          </p:cNvSpPr>
          <p:nvPr/>
        </p:nvSpPr>
        <p:spPr>
          <a:xfrm xmlns:a="http://schemas.openxmlformats.org/drawingml/2006/main">
            <a:off x="777240" y="1828800"/>
            <a:ext cx="54864" cy="21488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3" name="Google Shape;183;p10">
            <a:extLst xmlns:a="http://schemas.openxmlformats.org/drawingml/2006/main">
              <a:ext uri="{FF2B5EF4-FFF2-40B4-BE49-F238E27FC236}">
                <a16:creationId xmlns:a16="http://schemas.microsoft.com/office/drawing/2014/main" id="{CF612B3B-E8E5-46C9-B21A-567882D45633}"/>
              </a:ext>
            </a:extLst>
          </p:cNvPr>
          <p:cNvSpPr>
            <a:spLocks xmlns:a="http://schemas.openxmlformats.org/drawingml/2006/main" noGrp="1"/>
          </p:cNvSpPr>
          <p:nvPr/>
        </p:nvSpPr>
        <p:spPr>
          <a:xfrm xmlns:a="http://schemas.openxmlformats.org/drawingml/2006/main">
            <a:off x="9418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Project idea</a:t>
            </a:r>
          </a:p>
        </p:txBody>
      </p:sp>
      <p:sp>
        <p:nvSpPr>
          <p:cNvPr id="184" name="Google Shape;184;p10">
            <a:extLst xmlns:a="http://schemas.openxmlformats.org/drawingml/2006/main">
              <a:ext uri="{FF2B5EF4-FFF2-40B4-BE49-F238E27FC236}">
                <a16:creationId xmlns:a16="http://schemas.microsoft.com/office/drawing/2014/main" id="{784193ED-A009-4EB0-B152-627D0EEBA3FA}"/>
              </a:ext>
            </a:extLst>
          </p:cNvPr>
          <p:cNvSpPr>
            <a:spLocks xmlns:a="http://schemas.openxmlformats.org/drawingml/2006/main" noGrp="1"/>
          </p:cNvSpPr>
          <p:nvPr/>
        </p:nvSpPr>
        <p:spPr>
          <a:xfrm xmlns:a="http://schemas.openxmlformats.org/drawingml/2006/main">
            <a:off x="941832" y="2304288"/>
            <a:ext cx="2999232" cy="1581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Compare filter materials by how well they clean cloudy water.</a:t>
            </a:r>
          </a:p>
        </p:txBody>
      </p:sp>
      <p:sp>
        <p:nvSpPr>
          <p:cNvPr id="185" name="Google Shape;185;p10">
            <a:extLst xmlns:a="http://schemas.openxmlformats.org/drawingml/2006/main">
              <a:ext uri="{FF2B5EF4-FFF2-40B4-BE49-F238E27FC236}">
                <a16:creationId xmlns:a16="http://schemas.microsoft.com/office/drawing/2014/main" id="{F3E8CBD1-867F-471D-BCF3-9D25E1C3C92D}"/>
              </a:ext>
            </a:extLst>
          </p:cNvPr>
          <p:cNvSpPr>
            <a:spLocks xmlns:a="http://schemas.openxmlformats.org/drawingml/2006/main" noGrp="1"/>
          </p:cNvSpPr>
          <p:nvPr/>
        </p:nvSpPr>
        <p:spPr>
          <a:xfrm xmlns:a="http://schemas.openxmlformats.org/drawingml/2006/main">
            <a:off x="4434840" y="1828800"/>
            <a:ext cx="3291840" cy="2148840"/>
          </a:xfrm>
          <a:prstGeom xmlns:a="http://schemas.openxmlformats.org/drawingml/2006/main" prst="roundRect">
            <a:avLst>
              <a:gd name="adj" fmla="val 3404"/>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6" name="Google Shape;186;p10">
            <a:extLst xmlns:a="http://schemas.openxmlformats.org/drawingml/2006/main">
              <a:ext uri="{FF2B5EF4-FFF2-40B4-BE49-F238E27FC236}">
                <a16:creationId xmlns:a16="http://schemas.microsoft.com/office/drawing/2014/main" id="{3A91221A-CEB9-47BF-A187-CB60956FD78B}"/>
              </a:ext>
            </a:extLst>
          </p:cNvPr>
          <p:cNvSpPr>
            <a:spLocks xmlns:a="http://schemas.openxmlformats.org/drawingml/2006/main" noGrp="1"/>
          </p:cNvSpPr>
          <p:nvPr/>
        </p:nvSpPr>
        <p:spPr>
          <a:xfrm xmlns:a="http://schemas.openxmlformats.org/drawingml/2006/main">
            <a:off x="4434840" y="1828800"/>
            <a:ext cx="54864" cy="21488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10">
            <a:extLst xmlns:a="http://schemas.openxmlformats.org/drawingml/2006/main">
              <a:ext uri="{FF2B5EF4-FFF2-40B4-BE49-F238E27FC236}">
                <a16:creationId xmlns:a16="http://schemas.microsoft.com/office/drawing/2014/main" id="{01A8D718-3E8A-463C-B5CB-2885A3F23C71}"/>
              </a:ext>
            </a:extLst>
          </p:cNvPr>
          <p:cNvSpPr>
            <a:spLocks xmlns:a="http://schemas.openxmlformats.org/drawingml/2006/main" noGrp="1"/>
          </p:cNvSpPr>
          <p:nvPr/>
        </p:nvSpPr>
        <p:spPr>
          <a:xfrm xmlns:a="http://schemas.openxmlformats.org/drawingml/2006/main">
            <a:off x="45994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Pilot test reveals</a:t>
            </a:r>
          </a:p>
        </p:txBody>
      </p:sp>
      <p:sp>
        <p:nvSpPr>
          <p:cNvPr id="188" name="Google Shape;188;p10">
            <a:extLst xmlns:a="http://schemas.openxmlformats.org/drawingml/2006/main">
              <a:ext uri="{FF2B5EF4-FFF2-40B4-BE49-F238E27FC236}">
                <a16:creationId xmlns:a16="http://schemas.microsoft.com/office/drawing/2014/main" id="{9DFCE6F1-3566-43B1-97AC-CE9B5D130A32}"/>
              </a:ext>
            </a:extLst>
          </p:cNvPr>
          <p:cNvSpPr>
            <a:spLocks xmlns:a="http://schemas.openxmlformats.org/drawingml/2006/main" noGrp="1"/>
          </p:cNvSpPr>
          <p:nvPr/>
        </p:nvSpPr>
        <p:spPr>
          <a:xfrm xmlns:a="http://schemas.openxmlformats.org/drawingml/2006/main">
            <a:off x="4599432" y="2304288"/>
            <a:ext cx="2999232" cy="1581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“Looks clearer” is too subjective. Photos in different lighting give different results.</a:t>
            </a:r>
          </a:p>
        </p:txBody>
      </p:sp>
      <p:sp>
        <p:nvSpPr>
          <p:cNvPr id="189" name="Google Shape;189;p10">
            <a:extLst xmlns:a="http://schemas.openxmlformats.org/drawingml/2006/main">
              <a:ext uri="{FF2B5EF4-FFF2-40B4-BE49-F238E27FC236}">
                <a16:creationId xmlns:a16="http://schemas.microsoft.com/office/drawing/2014/main" id="{791AC5C5-CC63-4E3C-9137-5B578D067130}"/>
              </a:ext>
            </a:extLst>
          </p:cNvPr>
          <p:cNvSpPr>
            <a:spLocks xmlns:a="http://schemas.openxmlformats.org/drawingml/2006/main" noGrp="1"/>
          </p:cNvSpPr>
          <p:nvPr/>
        </p:nvSpPr>
        <p:spPr>
          <a:xfrm xmlns:a="http://schemas.openxmlformats.org/drawingml/2006/main">
            <a:off x="8092440" y="1828800"/>
            <a:ext cx="3291840" cy="2148840"/>
          </a:xfrm>
          <a:prstGeom xmlns:a="http://schemas.openxmlformats.org/drawingml/2006/main" prst="roundRect">
            <a:avLst>
              <a:gd name="adj" fmla="val 3404"/>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0" name="Google Shape;190;p10">
            <a:extLst xmlns:a="http://schemas.openxmlformats.org/drawingml/2006/main">
              <a:ext uri="{FF2B5EF4-FFF2-40B4-BE49-F238E27FC236}">
                <a16:creationId xmlns:a16="http://schemas.microsoft.com/office/drawing/2014/main" id="{E1A7C0F8-4219-482A-83DF-42E54BA43DB1}"/>
              </a:ext>
            </a:extLst>
          </p:cNvPr>
          <p:cNvSpPr>
            <a:spLocks xmlns:a="http://schemas.openxmlformats.org/drawingml/2006/main" noGrp="1"/>
          </p:cNvSpPr>
          <p:nvPr/>
        </p:nvSpPr>
        <p:spPr>
          <a:xfrm xmlns:a="http://schemas.openxmlformats.org/drawingml/2006/main">
            <a:off x="8092440" y="1828800"/>
            <a:ext cx="54864" cy="21488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1" name="Google Shape;191;p10">
            <a:extLst xmlns:a="http://schemas.openxmlformats.org/drawingml/2006/main">
              <a:ext uri="{FF2B5EF4-FFF2-40B4-BE49-F238E27FC236}">
                <a16:creationId xmlns:a16="http://schemas.microsoft.com/office/drawing/2014/main" id="{45542351-F15D-4055-B56A-C0941A3401A4}"/>
              </a:ext>
            </a:extLst>
          </p:cNvPr>
          <p:cNvSpPr>
            <a:spLocks xmlns:a="http://schemas.openxmlformats.org/drawingml/2006/main" noGrp="1"/>
          </p:cNvSpPr>
          <p:nvPr/>
        </p:nvSpPr>
        <p:spPr>
          <a:xfrm xmlns:a="http://schemas.openxmlformats.org/drawingml/2006/main">
            <a:off x="82570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Revision</a:t>
            </a:r>
          </a:p>
        </p:txBody>
      </p:sp>
      <p:sp>
        <p:nvSpPr>
          <p:cNvPr id="192" name="Google Shape;192;p10">
            <a:extLst xmlns:a="http://schemas.openxmlformats.org/drawingml/2006/main">
              <a:ext uri="{FF2B5EF4-FFF2-40B4-BE49-F238E27FC236}">
                <a16:creationId xmlns:a16="http://schemas.microsoft.com/office/drawing/2014/main" id="{E885A056-A35F-4D33-B399-0B086B43C049}"/>
              </a:ext>
            </a:extLst>
          </p:cNvPr>
          <p:cNvSpPr>
            <a:spLocks xmlns:a="http://schemas.openxmlformats.org/drawingml/2006/main" noGrp="1"/>
          </p:cNvSpPr>
          <p:nvPr/>
        </p:nvSpPr>
        <p:spPr>
          <a:xfrm xmlns:a="http://schemas.openxmlformats.org/drawingml/2006/main">
            <a:off x="8257032" y="2304288"/>
            <a:ext cx="2999232" cy="1581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Standardize the light source, container, camera angle, and turbidity scale.</a:t>
            </a:r>
          </a:p>
        </p:txBody>
      </p:sp>
    </p:spTree>
    <p:extLst>
      <p:ext uri="{BB962C8B-B14F-4D97-AF65-F5344CB8AC3E}">
        <p14:creationId xmlns:p14="http://schemas.microsoft.com/office/powerpoint/2010/main" val="27836931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8" name="Google Shape;198;p11">
            <a:extLst xmlns:a="http://schemas.openxmlformats.org/drawingml/2006/main">
              <a:ext uri="{FF2B5EF4-FFF2-40B4-BE49-F238E27FC236}">
                <a16:creationId xmlns:a16="http://schemas.microsoft.com/office/drawing/2014/main" id="{35D48B63-AA8B-4A3D-BE08-47F74B2FC7B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1">
            <a:extLst xmlns:a="http://schemas.openxmlformats.org/drawingml/2006/main">
              <a:ext uri="{FF2B5EF4-FFF2-40B4-BE49-F238E27FC236}">
                <a16:creationId xmlns:a16="http://schemas.microsoft.com/office/drawing/2014/main" id="{1B95B6BE-EA75-4F59-9B8C-97A3284B87B7}"/>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1">
            <a:extLst xmlns:a="http://schemas.openxmlformats.org/drawingml/2006/main">
              <a:ext uri="{FF2B5EF4-FFF2-40B4-BE49-F238E27FC236}">
                <a16:creationId xmlns:a16="http://schemas.microsoft.com/office/drawing/2014/main" id="{61D9F355-E00D-429A-894D-530F37DA4CC9}"/>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1" name="Google Shape;201;p11">
            <a:extLst xmlns:a="http://schemas.openxmlformats.org/drawingml/2006/main">
              <a:ext uri="{FF2B5EF4-FFF2-40B4-BE49-F238E27FC236}">
                <a16:creationId xmlns:a16="http://schemas.microsoft.com/office/drawing/2014/main" id="{E9D6A3C8-589F-473C-92AB-6DAF9238B45E}"/>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Example: Data Table Problem</a:t>
            </a:r>
          </a:p>
        </p:txBody>
      </p:sp>
      <p:sp>
        <p:nvSpPr>
          <p:cNvPr id="202" name="Google Shape;202;p11">
            <a:extLst xmlns:a="http://schemas.openxmlformats.org/drawingml/2006/main">
              <a:ext uri="{FF2B5EF4-FFF2-40B4-BE49-F238E27FC236}">
                <a16:creationId xmlns:a16="http://schemas.microsoft.com/office/drawing/2014/main" id="{4C713106-9D4E-401E-ACA0-B4D2D2642A78}"/>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3" name="Google Shape;203;p11">
            <a:extLst xmlns:a="http://schemas.openxmlformats.org/drawingml/2006/main">
              <a:ext uri="{FF2B5EF4-FFF2-40B4-BE49-F238E27FC236}">
                <a16:creationId xmlns:a16="http://schemas.microsoft.com/office/drawing/2014/main" id="{BDF13569-37FA-46A1-BC3B-8B6DFCE8071D}"/>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04" name="Google Shape;204;p11">
            <a:extLst xmlns:a="http://schemas.openxmlformats.org/drawingml/2006/main">
              <a:ext uri="{FF2B5EF4-FFF2-40B4-BE49-F238E27FC236}">
                <a16:creationId xmlns:a16="http://schemas.microsoft.com/office/drawing/2014/main" id="{25B8D86E-DAB1-4E40-9E96-05E7153290B8}"/>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05" name="Google Shape;205;p11">
            <a:extLst xmlns:a="http://schemas.openxmlformats.org/drawingml/2006/main">
              <a:ext uri="{FF2B5EF4-FFF2-40B4-BE49-F238E27FC236}">
                <a16:creationId xmlns:a16="http://schemas.microsoft.com/office/drawing/2014/main" id="{F4E124E9-E47B-4FE7-8627-D97B35EF7DC9}"/>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08</a:t>
            </a:r>
          </a:p>
        </p:txBody>
      </p:sp>
      <p:sp>
        <p:nvSpPr>
          <p:cNvPr id="206" name="Google Shape;206;p11">
            <a:extLst xmlns:a="http://schemas.openxmlformats.org/drawingml/2006/main">
              <a:ext uri="{FF2B5EF4-FFF2-40B4-BE49-F238E27FC236}">
                <a16:creationId xmlns:a16="http://schemas.microsoft.com/office/drawing/2014/main" id="{81AB923B-DDB6-49B2-998C-DCB4FB9D6C04}"/>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Bad data tables create bad analysis later.</a:t>
            </a:r>
          </a:p>
        </p:txBody>
      </p:sp>
      <p:sp>
        <p:nvSpPr>
          <p:cNvPr id="207" name="Google Shape;207;p11">
            <a:extLst xmlns:a="http://schemas.openxmlformats.org/drawingml/2006/main">
              <a:ext uri="{FF2B5EF4-FFF2-40B4-BE49-F238E27FC236}">
                <a16:creationId xmlns:a16="http://schemas.microsoft.com/office/drawing/2014/main" id="{86B759FF-1A96-4555-8778-FF0256B6ADFF}"/>
              </a:ext>
            </a:extLst>
          </p:cNvPr>
          <p:cNvSpPr>
            <a:spLocks xmlns:a="http://schemas.openxmlformats.org/drawingml/2006/main" noGrp="1"/>
          </p:cNvSpPr>
          <p:nvPr/>
        </p:nvSpPr>
        <p:spPr>
          <a:xfrm xmlns:a="http://schemas.openxmlformats.org/drawingml/2006/main">
            <a:off x="914400" y="1920240"/>
            <a:ext cx="4206240" cy="1920240"/>
          </a:xfrm>
          <a:prstGeom xmlns:a="http://schemas.openxmlformats.org/drawingml/2006/main" prst="roundRect">
            <a:avLst>
              <a:gd name="adj" fmla="val 381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8" name="Google Shape;208;p11">
            <a:extLst xmlns:a="http://schemas.openxmlformats.org/drawingml/2006/main">
              <a:ext uri="{FF2B5EF4-FFF2-40B4-BE49-F238E27FC236}">
                <a16:creationId xmlns:a16="http://schemas.microsoft.com/office/drawing/2014/main" id="{E583676A-4354-4E7A-B6E0-959C73461335}"/>
              </a:ext>
            </a:extLst>
          </p:cNvPr>
          <p:cNvSpPr>
            <a:spLocks xmlns:a="http://schemas.openxmlformats.org/drawingml/2006/main" noGrp="1"/>
          </p:cNvSpPr>
          <p:nvPr/>
        </p:nvSpPr>
        <p:spPr>
          <a:xfrm xmlns:a="http://schemas.openxmlformats.org/drawingml/2006/main">
            <a:off x="914400" y="1920240"/>
            <a:ext cx="54864" cy="19202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9" name="Google Shape;209;p11">
            <a:extLst xmlns:a="http://schemas.openxmlformats.org/drawingml/2006/main">
              <a:ext uri="{FF2B5EF4-FFF2-40B4-BE49-F238E27FC236}">
                <a16:creationId xmlns:a16="http://schemas.microsoft.com/office/drawing/2014/main" id="{81F9C6CD-EFB4-492C-8D3E-8E4F6584AAC1}"/>
              </a:ext>
            </a:extLst>
          </p:cNvPr>
          <p:cNvSpPr>
            <a:spLocks xmlns:a="http://schemas.openxmlformats.org/drawingml/2006/main" noGrp="1"/>
          </p:cNvSpPr>
          <p:nvPr/>
        </p:nvSpPr>
        <p:spPr>
          <a:xfrm xmlns:a="http://schemas.openxmlformats.org/drawingml/2006/main">
            <a:off x="1078992" y="2066544"/>
            <a:ext cx="3931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Original table</a:t>
            </a:r>
          </a:p>
        </p:txBody>
      </p:sp>
      <p:sp>
        <p:nvSpPr>
          <p:cNvPr id="210" name="Google Shape;210;p11">
            <a:extLst xmlns:a="http://schemas.openxmlformats.org/drawingml/2006/main">
              <a:ext uri="{FF2B5EF4-FFF2-40B4-BE49-F238E27FC236}">
                <a16:creationId xmlns:a16="http://schemas.microsoft.com/office/drawing/2014/main" id="{69210A50-F1D3-4D28-BDC6-E5A9424D4C48}"/>
              </a:ext>
            </a:extLst>
          </p:cNvPr>
          <p:cNvSpPr>
            <a:spLocks xmlns:a="http://schemas.openxmlformats.org/drawingml/2006/main" noGrp="1"/>
          </p:cNvSpPr>
          <p:nvPr/>
        </p:nvSpPr>
        <p:spPr>
          <a:xfrm xmlns:a="http://schemas.openxmlformats.org/drawingml/2006/main">
            <a:off x="1078992" y="2395728"/>
            <a:ext cx="3913632" cy="1353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Trial 1: worked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Trial 2: sort of worked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Trial 3: weird</a:t>
            </a:r>
          </a:p>
        </p:txBody>
      </p:sp>
      <p:sp>
        <p:nvSpPr>
          <p:cNvPr id="211" name="Google Shape;211;p11">
            <a:extLst xmlns:a="http://schemas.openxmlformats.org/drawingml/2006/main">
              <a:ext uri="{FF2B5EF4-FFF2-40B4-BE49-F238E27FC236}">
                <a16:creationId xmlns:a16="http://schemas.microsoft.com/office/drawing/2014/main" id="{9C0194F1-6554-4541-A32B-1FA3AE612904}"/>
              </a:ext>
            </a:extLst>
          </p:cNvPr>
          <p:cNvSpPr>
            <a:spLocks xmlns:a="http://schemas.openxmlformats.org/drawingml/2006/main" noGrp="1"/>
          </p:cNvSpPr>
          <p:nvPr/>
        </p:nvSpPr>
        <p:spPr>
          <a:xfrm xmlns:a="http://schemas.openxmlformats.org/drawingml/2006/main">
            <a:off x="6400800" y="1920240"/>
            <a:ext cx="4206240" cy="1920240"/>
          </a:xfrm>
          <a:prstGeom xmlns:a="http://schemas.openxmlformats.org/drawingml/2006/main" prst="roundRect">
            <a:avLst>
              <a:gd name="adj" fmla="val 3810"/>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2" name="Google Shape;212;p11">
            <a:extLst xmlns:a="http://schemas.openxmlformats.org/drawingml/2006/main">
              <a:ext uri="{FF2B5EF4-FFF2-40B4-BE49-F238E27FC236}">
                <a16:creationId xmlns:a16="http://schemas.microsoft.com/office/drawing/2014/main" id="{DA03AB77-B308-4EF3-98CF-780D6F3143C5}"/>
              </a:ext>
            </a:extLst>
          </p:cNvPr>
          <p:cNvSpPr>
            <a:spLocks xmlns:a="http://schemas.openxmlformats.org/drawingml/2006/main" noGrp="1"/>
          </p:cNvSpPr>
          <p:nvPr/>
        </p:nvSpPr>
        <p:spPr>
          <a:xfrm xmlns:a="http://schemas.openxmlformats.org/drawingml/2006/main">
            <a:off x="6400800" y="1920240"/>
            <a:ext cx="54864" cy="19202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3" name="Google Shape;213;p11">
            <a:extLst xmlns:a="http://schemas.openxmlformats.org/drawingml/2006/main">
              <a:ext uri="{FF2B5EF4-FFF2-40B4-BE49-F238E27FC236}">
                <a16:creationId xmlns:a16="http://schemas.microsoft.com/office/drawing/2014/main" id="{69B884C7-50AB-4261-B079-279AE55704A7}"/>
              </a:ext>
            </a:extLst>
          </p:cNvPr>
          <p:cNvSpPr>
            <a:spLocks xmlns:a="http://schemas.openxmlformats.org/drawingml/2006/main" noGrp="1"/>
          </p:cNvSpPr>
          <p:nvPr/>
        </p:nvSpPr>
        <p:spPr>
          <a:xfrm xmlns:a="http://schemas.openxmlformats.org/drawingml/2006/main">
            <a:off x="6565392" y="2066544"/>
            <a:ext cx="39319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Revised table needs</a:t>
            </a:r>
          </a:p>
        </p:txBody>
      </p:sp>
      <p:sp>
        <p:nvSpPr>
          <p:cNvPr id="214" name="Google Shape;214;p11">
            <a:extLst xmlns:a="http://schemas.openxmlformats.org/drawingml/2006/main">
              <a:ext uri="{FF2B5EF4-FFF2-40B4-BE49-F238E27FC236}">
                <a16:creationId xmlns:a16="http://schemas.microsoft.com/office/drawing/2014/main" id="{0721896D-4566-4C58-82A6-D215044A7D2F}"/>
              </a:ext>
            </a:extLst>
          </p:cNvPr>
          <p:cNvSpPr>
            <a:spLocks xmlns:a="http://schemas.openxmlformats.org/drawingml/2006/main" noGrp="1"/>
          </p:cNvSpPr>
          <p:nvPr/>
        </p:nvSpPr>
        <p:spPr>
          <a:xfrm xmlns:a="http://schemas.openxmlformats.org/drawingml/2006/main">
            <a:off x="6565392" y="2395728"/>
            <a:ext cx="3913632" cy="13533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condition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measurement value</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units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trial number</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observation notes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unusual event flag</a:t>
            </a:r>
          </a:p>
        </p:txBody>
      </p:sp>
      <p:sp>
        <p:nvSpPr>
          <p:cNvPr id="215" name="Google Shape;215;p11">
            <a:extLst xmlns:a="http://schemas.openxmlformats.org/drawingml/2006/main">
              <a:ext uri="{FF2B5EF4-FFF2-40B4-BE49-F238E27FC236}">
                <a16:creationId xmlns:a16="http://schemas.microsoft.com/office/drawing/2014/main" id="{E17E2D12-CF15-4872-9B3F-96A3EB03637D}"/>
              </a:ext>
            </a:extLst>
          </p:cNvPr>
          <p:cNvSpPr>
            <a:spLocks xmlns:a="http://schemas.openxmlformats.org/drawingml/2006/main" noGrp="1"/>
          </p:cNvSpPr>
          <p:nvPr/>
        </p:nvSpPr>
        <p:spPr>
          <a:xfrm xmlns:a="http://schemas.openxmlformats.org/drawingml/2006/main">
            <a:off x="594360" y="4956048"/>
            <a:ext cx="11018520" cy="987552"/>
          </a:xfrm>
          <a:prstGeom xmlns:a="http://schemas.openxmlformats.org/drawingml/2006/main" prst="roundRect">
            <a:avLst>
              <a:gd name="adj" fmla="val 7407"/>
            </a:avLst>
          </a:prstGeom>
          <a:solidFill xmlns:a="http://schemas.openxmlformats.org/drawingml/2006/main">
            <a:srgbClr val="0A0A0A"/>
          </a:solidFill>
          <a:ln xmlns:a="http://schemas.openxmlformats.org/drawingml/2006/main" w="1015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1">
            <a:extLst xmlns:a="http://schemas.openxmlformats.org/drawingml/2006/main">
              <a:ext uri="{FF2B5EF4-FFF2-40B4-BE49-F238E27FC236}">
                <a16:creationId xmlns:a16="http://schemas.microsoft.com/office/drawing/2014/main" id="{925CC482-D1E6-43FC-B1E0-D1FF211CDDCD}"/>
              </a:ext>
            </a:extLst>
          </p:cNvPr>
          <p:cNvSpPr>
            <a:spLocks xmlns:a="http://schemas.openxmlformats.org/drawingml/2006/main" noGrp="1"/>
          </p:cNvSpPr>
          <p:nvPr/>
        </p:nvSpPr>
        <p:spPr>
          <a:xfrm xmlns:a="http://schemas.openxmlformats.org/drawingml/2006/main">
            <a:off x="594360" y="4956048"/>
            <a:ext cx="1600200" cy="987552"/>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7" name="Google Shape;217;p11">
            <a:extLst xmlns:a="http://schemas.openxmlformats.org/drawingml/2006/main">
              <a:ext uri="{FF2B5EF4-FFF2-40B4-BE49-F238E27FC236}">
                <a16:creationId xmlns:a16="http://schemas.microsoft.com/office/drawing/2014/main" id="{10F6A5F7-54D8-4340-8076-142BB64C1226}"/>
              </a:ext>
            </a:extLst>
          </p:cNvPr>
          <p:cNvSpPr>
            <a:spLocks xmlns:a="http://schemas.openxmlformats.org/drawingml/2006/main" noGrp="1"/>
          </p:cNvSpPr>
          <p:nvPr/>
        </p:nvSpPr>
        <p:spPr>
          <a:xfrm xmlns:a="http://schemas.openxmlformats.org/drawingml/2006/main">
            <a:off x="758952" y="5166360"/>
            <a:ext cx="1280160" cy="49377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STUDENT</a:t>
            </a:r>
          </a:p>
          <a:p xmlns:a="http://schemas.openxmlformats.org/drawingml/2006/main">
            <a:pPr marL="0" marR="0" indent="0" algn="ctr">
              <a:spcBef>
                <a:spcPts val="0"/>
              </a:spcBef>
              <a:spcAft>
                <a:spcPts val="0"/>
              </a:spcAft>
              <a:buClr>
                <a:srgbClr val="FFFFFF"/>
              </a:buClr>
              <a:buSzPts val="1100"/>
              <a:buFont typeface="Arial"/>
              <a:buNone/>
            </a:pPr>
            <a:r>
              <a:rPr sz="1100" b="1" i="0" u="none" cap="none">
                <a:solidFill>
                  <a:srgbClr val="FFFFFF"/>
                </a:solidFill>
                <a:latin typeface="Arial"/>
                <a:ea typeface="Arial"/>
                <a:cs typeface="Arial"/>
              </a:rPr>
              <a:t>ACTIVITY</a:t>
            </a:r>
          </a:p>
        </p:txBody>
      </p:sp>
      <p:sp>
        <p:nvSpPr>
          <p:cNvPr id="218" name="Google Shape;218;p11">
            <a:extLst xmlns:a="http://schemas.openxmlformats.org/drawingml/2006/main">
              <a:ext uri="{FF2B5EF4-FFF2-40B4-BE49-F238E27FC236}">
                <a16:creationId xmlns:a16="http://schemas.microsoft.com/office/drawing/2014/main" id="{2E5D038B-EE24-4622-ADB0-55615EC57201}"/>
              </a:ext>
            </a:extLst>
          </p:cNvPr>
          <p:cNvSpPr>
            <a:spLocks xmlns:a="http://schemas.openxmlformats.org/drawingml/2006/main" noGrp="1"/>
          </p:cNvSpPr>
          <p:nvPr/>
        </p:nvSpPr>
        <p:spPr>
          <a:xfrm xmlns:a="http://schemas.openxmlformats.org/drawingml/2006/main">
            <a:off x="2395728" y="5074920"/>
            <a:ext cx="3108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500"/>
              <a:buFont typeface="Arial"/>
              <a:buNone/>
            </a:pPr>
            <a:r>
              <a:rPr sz="1500" b="1" i="0" u="none" cap="none">
                <a:solidFill>
                  <a:srgbClr val="FFFFFF"/>
                </a:solidFill>
                <a:latin typeface="Arial"/>
                <a:ea typeface="Arial"/>
                <a:cs typeface="Arial"/>
              </a:rPr>
              <a:t>Activity prompt</a:t>
            </a:r>
          </a:p>
        </p:txBody>
      </p:sp>
      <p:sp>
        <p:nvSpPr>
          <p:cNvPr id="219" name="Google Shape;219;p11">
            <a:extLst xmlns:a="http://schemas.openxmlformats.org/drawingml/2006/main">
              <a:ext uri="{FF2B5EF4-FFF2-40B4-BE49-F238E27FC236}">
                <a16:creationId xmlns:a16="http://schemas.microsoft.com/office/drawing/2014/main" id="{C431333C-AD98-4307-AC1F-E38761D69097}"/>
              </a:ext>
            </a:extLst>
          </p:cNvPr>
          <p:cNvSpPr>
            <a:spLocks xmlns:a="http://schemas.openxmlformats.org/drawingml/2006/main" noGrp="1"/>
          </p:cNvSpPr>
          <p:nvPr/>
        </p:nvSpPr>
        <p:spPr>
          <a:xfrm xmlns:a="http://schemas.openxmlformats.org/drawingml/2006/main">
            <a:off x="5486400" y="5056632"/>
            <a:ext cx="5806440" cy="621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250"/>
              <a:buFont typeface="Arial"/>
              <a:buNone/>
            </a:pPr>
            <a:r>
              <a:rPr sz="1250" b="0" i="0" u="none" cap="none">
                <a:solidFill>
                  <a:srgbClr val="B5B5B5"/>
                </a:solidFill>
                <a:latin typeface="Arial"/>
                <a:ea typeface="Arial"/>
                <a:cs typeface="Arial"/>
              </a:rPr>
              <a:t>What column is missing from your table? Check your planned data table before any pilot test begins.</a:t>
            </a:r>
          </a:p>
        </p:txBody>
      </p:sp>
    </p:spTree>
    <p:extLst>
      <p:ext uri="{BB962C8B-B14F-4D97-AF65-F5344CB8AC3E}">
        <p14:creationId xmlns:p14="http://schemas.microsoft.com/office/powerpoint/2010/main" val="142997146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Google Shape;225;p12">
            <a:extLst xmlns:a="http://schemas.openxmlformats.org/drawingml/2006/main">
              <a:ext uri="{FF2B5EF4-FFF2-40B4-BE49-F238E27FC236}">
                <a16:creationId xmlns:a16="http://schemas.microsoft.com/office/drawing/2014/main" id="{41D15E68-7C8B-46BC-A7D0-5533A46A2A5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2">
            <a:extLst xmlns:a="http://schemas.openxmlformats.org/drawingml/2006/main">
              <a:ext uri="{FF2B5EF4-FFF2-40B4-BE49-F238E27FC236}">
                <a16:creationId xmlns:a16="http://schemas.microsoft.com/office/drawing/2014/main" id="{D90ADD77-E26D-49FA-97C4-4BBBF3B9D059}"/>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7" name="Google Shape;227;p12">
            <a:extLst xmlns:a="http://schemas.openxmlformats.org/drawingml/2006/main">
              <a:ext uri="{FF2B5EF4-FFF2-40B4-BE49-F238E27FC236}">
                <a16:creationId xmlns:a16="http://schemas.microsoft.com/office/drawing/2014/main" id="{D4360F91-2933-4A38-A520-39B4D9814660}"/>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8" name="Google Shape;228;p12">
            <a:extLst xmlns:a="http://schemas.openxmlformats.org/drawingml/2006/main">
              <a:ext uri="{FF2B5EF4-FFF2-40B4-BE49-F238E27FC236}">
                <a16:creationId xmlns:a16="http://schemas.microsoft.com/office/drawing/2014/main" id="{9EB2F403-ABB3-4B3C-8AA4-D1ECD7DA6F02}"/>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Example: Prototype or Design Problem</a:t>
            </a:r>
          </a:p>
        </p:txBody>
      </p:sp>
      <p:sp>
        <p:nvSpPr>
          <p:cNvPr id="229" name="Google Shape;229;p12">
            <a:extLst xmlns:a="http://schemas.openxmlformats.org/drawingml/2006/main">
              <a:ext uri="{FF2B5EF4-FFF2-40B4-BE49-F238E27FC236}">
                <a16:creationId xmlns:a16="http://schemas.microsoft.com/office/drawing/2014/main" id="{A1EDCE76-386C-4A32-AFA6-054A47FB5E98}"/>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0" name="Google Shape;230;p12">
            <a:extLst xmlns:a="http://schemas.openxmlformats.org/drawingml/2006/main">
              <a:ext uri="{FF2B5EF4-FFF2-40B4-BE49-F238E27FC236}">
                <a16:creationId xmlns:a16="http://schemas.microsoft.com/office/drawing/2014/main" id="{353CA461-8EEE-469D-99EC-801F2EF024BD}"/>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31" name="Google Shape;231;p12">
            <a:extLst xmlns:a="http://schemas.openxmlformats.org/drawingml/2006/main">
              <a:ext uri="{FF2B5EF4-FFF2-40B4-BE49-F238E27FC236}">
                <a16:creationId xmlns:a16="http://schemas.microsoft.com/office/drawing/2014/main" id="{15B09132-7359-46B7-A1A8-4BE3702D471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32" name="Google Shape;232;p12">
            <a:extLst xmlns:a="http://schemas.openxmlformats.org/drawingml/2006/main">
              <a:ext uri="{FF2B5EF4-FFF2-40B4-BE49-F238E27FC236}">
                <a16:creationId xmlns:a16="http://schemas.microsoft.com/office/drawing/2014/main" id="{F1736802-7D18-4C77-B4B3-BB3635AD7B6E}"/>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09</a:t>
            </a:r>
          </a:p>
        </p:txBody>
      </p:sp>
      <p:sp>
        <p:nvSpPr>
          <p:cNvPr id="233" name="Google Shape;233;p12">
            <a:extLst xmlns:a="http://schemas.openxmlformats.org/drawingml/2006/main">
              <a:ext uri="{FF2B5EF4-FFF2-40B4-BE49-F238E27FC236}">
                <a16:creationId xmlns:a16="http://schemas.microsoft.com/office/drawing/2014/main" id="{B9499956-19FC-4343-A5A9-5CB84C5BB009}"/>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prototype failure can become useful evidence.</a:t>
            </a:r>
          </a:p>
        </p:txBody>
      </p:sp>
      <p:sp>
        <p:nvSpPr>
          <p:cNvPr id="234" name="Google Shape;234;p12">
            <a:extLst xmlns:a="http://schemas.openxmlformats.org/drawingml/2006/main">
              <a:ext uri="{FF2B5EF4-FFF2-40B4-BE49-F238E27FC236}">
                <a16:creationId xmlns:a16="http://schemas.microsoft.com/office/drawing/2014/main" id="{D6CDA6C4-D62B-4BB6-A839-368EB8067998}"/>
              </a:ext>
            </a:extLst>
          </p:cNvPr>
          <p:cNvSpPr>
            <a:spLocks xmlns:a="http://schemas.openxmlformats.org/drawingml/2006/main" noGrp="1"/>
          </p:cNvSpPr>
          <p:nvPr/>
        </p:nvSpPr>
        <p:spPr>
          <a:xfrm xmlns:a="http://schemas.openxmlformats.org/drawingml/2006/main">
            <a:off x="777240" y="1828800"/>
            <a:ext cx="3291840" cy="2057400"/>
          </a:xfrm>
          <a:prstGeom xmlns:a="http://schemas.openxmlformats.org/drawingml/2006/main" prst="roundRect">
            <a:avLst>
              <a:gd name="adj" fmla="val 355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5" name="Google Shape;235;p12">
            <a:extLst xmlns:a="http://schemas.openxmlformats.org/drawingml/2006/main">
              <a:ext uri="{FF2B5EF4-FFF2-40B4-BE49-F238E27FC236}">
                <a16:creationId xmlns:a16="http://schemas.microsoft.com/office/drawing/2014/main" id="{3FCC13A9-89D6-472F-B22E-A4FBB2E9EABE}"/>
              </a:ext>
            </a:extLst>
          </p:cNvPr>
          <p:cNvSpPr>
            <a:spLocks xmlns:a="http://schemas.openxmlformats.org/drawingml/2006/main" noGrp="1"/>
          </p:cNvSpPr>
          <p:nvPr/>
        </p:nvSpPr>
        <p:spPr>
          <a:xfrm xmlns:a="http://schemas.openxmlformats.org/drawingml/2006/main">
            <a:off x="777240" y="1828800"/>
            <a:ext cx="54864" cy="20574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2">
            <a:extLst xmlns:a="http://schemas.openxmlformats.org/drawingml/2006/main">
              <a:ext uri="{FF2B5EF4-FFF2-40B4-BE49-F238E27FC236}">
                <a16:creationId xmlns:a16="http://schemas.microsoft.com/office/drawing/2014/main" id="{70C16F83-7801-4FA5-8049-0B43F49B6E32}"/>
              </a:ext>
            </a:extLst>
          </p:cNvPr>
          <p:cNvSpPr>
            <a:spLocks xmlns:a="http://schemas.openxmlformats.org/drawingml/2006/main" noGrp="1"/>
          </p:cNvSpPr>
          <p:nvPr/>
        </p:nvSpPr>
        <p:spPr>
          <a:xfrm xmlns:a="http://schemas.openxmlformats.org/drawingml/2006/main">
            <a:off x="9418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Engineering project</a:t>
            </a:r>
          </a:p>
        </p:txBody>
      </p:sp>
      <p:sp>
        <p:nvSpPr>
          <p:cNvPr id="237" name="Google Shape;237;p12">
            <a:extLst xmlns:a="http://schemas.openxmlformats.org/drawingml/2006/main">
              <a:ext uri="{FF2B5EF4-FFF2-40B4-BE49-F238E27FC236}">
                <a16:creationId xmlns:a16="http://schemas.microsoft.com/office/drawing/2014/main" id="{AF1C0686-3B98-4C13-AC34-0170DA7FA942}"/>
              </a:ext>
            </a:extLst>
          </p:cNvPr>
          <p:cNvSpPr>
            <a:spLocks xmlns:a="http://schemas.openxmlformats.org/drawingml/2006/main" noGrp="1"/>
          </p:cNvSpPr>
          <p:nvPr/>
        </p:nvSpPr>
        <p:spPr>
          <a:xfrm xmlns:a="http://schemas.openxmlformats.org/drawingml/2006/main">
            <a:off x="941832" y="2304288"/>
            <a:ext cx="2999232" cy="1490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Design a lightweight bridge beam that supports maximum load per gram.</a:t>
            </a:r>
          </a:p>
        </p:txBody>
      </p:sp>
      <p:sp>
        <p:nvSpPr>
          <p:cNvPr id="238" name="Google Shape;238;p12">
            <a:extLst xmlns:a="http://schemas.openxmlformats.org/drawingml/2006/main">
              <a:ext uri="{FF2B5EF4-FFF2-40B4-BE49-F238E27FC236}">
                <a16:creationId xmlns:a16="http://schemas.microsoft.com/office/drawing/2014/main" id="{D8B4F1BA-DE57-4717-A0F7-EBBBA445BD3E}"/>
              </a:ext>
            </a:extLst>
          </p:cNvPr>
          <p:cNvSpPr>
            <a:spLocks xmlns:a="http://schemas.openxmlformats.org/drawingml/2006/main" noGrp="1"/>
          </p:cNvSpPr>
          <p:nvPr/>
        </p:nvSpPr>
        <p:spPr>
          <a:xfrm xmlns:a="http://schemas.openxmlformats.org/drawingml/2006/main">
            <a:off x="4434840" y="1828800"/>
            <a:ext cx="3291840" cy="2057400"/>
          </a:xfrm>
          <a:prstGeom xmlns:a="http://schemas.openxmlformats.org/drawingml/2006/main" prst="roundRect">
            <a:avLst>
              <a:gd name="adj" fmla="val 355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9" name="Google Shape;239;p12">
            <a:extLst xmlns:a="http://schemas.openxmlformats.org/drawingml/2006/main">
              <a:ext uri="{FF2B5EF4-FFF2-40B4-BE49-F238E27FC236}">
                <a16:creationId xmlns:a16="http://schemas.microsoft.com/office/drawing/2014/main" id="{0AAE1FD9-3589-477F-BFF3-2D3B7E3351E4}"/>
              </a:ext>
            </a:extLst>
          </p:cNvPr>
          <p:cNvSpPr>
            <a:spLocks xmlns:a="http://schemas.openxmlformats.org/drawingml/2006/main" noGrp="1"/>
          </p:cNvSpPr>
          <p:nvPr/>
        </p:nvSpPr>
        <p:spPr>
          <a:xfrm xmlns:a="http://schemas.openxmlformats.org/drawingml/2006/main">
            <a:off x="4434840" y="1828800"/>
            <a:ext cx="54864" cy="20574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0" name="Google Shape;240;p12">
            <a:extLst xmlns:a="http://schemas.openxmlformats.org/drawingml/2006/main">
              <a:ext uri="{FF2B5EF4-FFF2-40B4-BE49-F238E27FC236}">
                <a16:creationId xmlns:a16="http://schemas.microsoft.com/office/drawing/2014/main" id="{0A181CEE-B59A-4491-9AEE-26BF71A3EA79}"/>
              </a:ext>
            </a:extLst>
          </p:cNvPr>
          <p:cNvSpPr>
            <a:spLocks xmlns:a="http://schemas.openxmlformats.org/drawingml/2006/main" noGrp="1"/>
          </p:cNvSpPr>
          <p:nvPr/>
        </p:nvSpPr>
        <p:spPr>
          <a:xfrm xmlns:a="http://schemas.openxmlformats.org/drawingml/2006/main">
            <a:off x="45994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Pilot test reveals</a:t>
            </a:r>
          </a:p>
        </p:txBody>
      </p:sp>
      <p:sp>
        <p:nvSpPr>
          <p:cNvPr id="241" name="Google Shape;241;p12">
            <a:extLst xmlns:a="http://schemas.openxmlformats.org/drawingml/2006/main">
              <a:ext uri="{FF2B5EF4-FFF2-40B4-BE49-F238E27FC236}">
                <a16:creationId xmlns:a16="http://schemas.microsoft.com/office/drawing/2014/main" id="{991473EC-2EB3-4363-9FA5-95983D9A81F4}"/>
              </a:ext>
            </a:extLst>
          </p:cNvPr>
          <p:cNvSpPr>
            <a:spLocks xmlns:a="http://schemas.openxmlformats.org/drawingml/2006/main" noGrp="1"/>
          </p:cNvSpPr>
          <p:nvPr/>
        </p:nvSpPr>
        <p:spPr>
          <a:xfrm xmlns:a="http://schemas.openxmlformats.org/drawingml/2006/main">
            <a:off x="4599432" y="2304288"/>
            <a:ext cx="2999232" cy="1490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beam fails at the clamp before the middle of the span is tested.</a:t>
            </a:r>
          </a:p>
        </p:txBody>
      </p:sp>
      <p:sp>
        <p:nvSpPr>
          <p:cNvPr id="242" name="Google Shape;242;p12">
            <a:extLst xmlns:a="http://schemas.openxmlformats.org/drawingml/2006/main">
              <a:ext uri="{FF2B5EF4-FFF2-40B4-BE49-F238E27FC236}">
                <a16:creationId xmlns:a16="http://schemas.microsoft.com/office/drawing/2014/main" id="{AA1586F4-2B07-4049-862D-63C75CA458DF}"/>
              </a:ext>
            </a:extLst>
          </p:cNvPr>
          <p:cNvSpPr>
            <a:spLocks xmlns:a="http://schemas.openxmlformats.org/drawingml/2006/main" noGrp="1"/>
          </p:cNvSpPr>
          <p:nvPr/>
        </p:nvSpPr>
        <p:spPr>
          <a:xfrm xmlns:a="http://schemas.openxmlformats.org/drawingml/2006/main">
            <a:off x="8092440" y="1828800"/>
            <a:ext cx="3291840" cy="2057400"/>
          </a:xfrm>
          <a:prstGeom xmlns:a="http://schemas.openxmlformats.org/drawingml/2006/main" prst="roundRect">
            <a:avLst>
              <a:gd name="adj" fmla="val 3556"/>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2">
            <a:extLst xmlns:a="http://schemas.openxmlformats.org/drawingml/2006/main">
              <a:ext uri="{FF2B5EF4-FFF2-40B4-BE49-F238E27FC236}">
                <a16:creationId xmlns:a16="http://schemas.microsoft.com/office/drawing/2014/main" id="{4BBB3A06-B0FE-4DCE-AC41-49F344D5F488}"/>
              </a:ext>
            </a:extLst>
          </p:cNvPr>
          <p:cNvSpPr>
            <a:spLocks xmlns:a="http://schemas.openxmlformats.org/drawingml/2006/main" noGrp="1"/>
          </p:cNvSpPr>
          <p:nvPr/>
        </p:nvSpPr>
        <p:spPr>
          <a:xfrm xmlns:a="http://schemas.openxmlformats.org/drawingml/2006/main">
            <a:off x="8092440" y="1828800"/>
            <a:ext cx="54864" cy="20574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4" name="Google Shape;244;p12">
            <a:extLst xmlns:a="http://schemas.openxmlformats.org/drawingml/2006/main">
              <a:ext uri="{FF2B5EF4-FFF2-40B4-BE49-F238E27FC236}">
                <a16:creationId xmlns:a16="http://schemas.microsoft.com/office/drawing/2014/main" id="{B25764FC-1713-483D-8C4F-6711D9BFEBC8}"/>
              </a:ext>
            </a:extLst>
          </p:cNvPr>
          <p:cNvSpPr>
            <a:spLocks xmlns:a="http://schemas.openxmlformats.org/drawingml/2006/main" noGrp="1"/>
          </p:cNvSpPr>
          <p:nvPr/>
        </p:nvSpPr>
        <p:spPr>
          <a:xfrm xmlns:a="http://schemas.openxmlformats.org/drawingml/2006/main">
            <a:off x="8257032" y="1975104"/>
            <a:ext cx="3017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Responsible revision</a:t>
            </a:r>
          </a:p>
        </p:txBody>
      </p:sp>
      <p:sp>
        <p:nvSpPr>
          <p:cNvPr id="245" name="Google Shape;245;p12">
            <a:extLst xmlns:a="http://schemas.openxmlformats.org/drawingml/2006/main">
              <a:ext uri="{FF2B5EF4-FFF2-40B4-BE49-F238E27FC236}">
                <a16:creationId xmlns:a16="http://schemas.microsoft.com/office/drawing/2014/main" id="{3A20A911-2801-42D9-8E26-413C702D70D6}"/>
              </a:ext>
            </a:extLst>
          </p:cNvPr>
          <p:cNvSpPr>
            <a:spLocks xmlns:a="http://schemas.openxmlformats.org/drawingml/2006/main" noGrp="1"/>
          </p:cNvSpPr>
          <p:nvPr/>
        </p:nvSpPr>
        <p:spPr>
          <a:xfrm xmlns:a="http://schemas.openxmlformats.org/drawingml/2006/main">
            <a:off x="8257032" y="2304288"/>
            <a:ext cx="2999232" cy="1490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Revise the test fixture so the studied part fails, not the clamp.</a:t>
            </a:r>
          </a:p>
        </p:txBody>
      </p:sp>
      <p:sp>
        <p:nvSpPr>
          <p:cNvPr id="246" name="Google Shape;246;p12">
            <a:extLst xmlns:a="http://schemas.openxmlformats.org/drawingml/2006/main">
              <a:ext uri="{FF2B5EF4-FFF2-40B4-BE49-F238E27FC236}">
                <a16:creationId xmlns:a16="http://schemas.microsoft.com/office/drawing/2014/main" id="{15C01A5C-AA27-4182-BA9C-907E8F9ECE11}"/>
              </a:ext>
            </a:extLst>
          </p:cNvPr>
          <p:cNvSpPr>
            <a:spLocks xmlns:a="http://schemas.openxmlformats.org/drawingml/2006/main" noGrp="1"/>
          </p:cNvSpPr>
          <p:nvPr/>
        </p:nvSpPr>
        <p:spPr>
          <a:xfrm xmlns:a="http://schemas.openxmlformats.org/drawingml/2006/main">
            <a:off x="914400" y="4572000"/>
            <a:ext cx="10241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b="1" i="0" u="none" cap="none">
                <a:solidFill>
                  <a:srgbClr val="FFFFFF"/>
                </a:solidFill>
                <a:latin typeface="Arial"/>
                <a:ea typeface="Arial"/>
                <a:cs typeface="Arial"/>
              </a:rPr>
              <a:t>Document the failed pilot. Do not pretend it never happened.</a:t>
            </a:r>
          </a:p>
        </p:txBody>
      </p:sp>
    </p:spTree>
    <p:extLst>
      <p:ext uri="{BB962C8B-B14F-4D97-AF65-F5344CB8AC3E}">
        <p14:creationId xmlns:p14="http://schemas.microsoft.com/office/powerpoint/2010/main" val="11985011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2" name="Google Shape;252;p13">
            <a:extLst xmlns:a="http://schemas.openxmlformats.org/drawingml/2006/main">
              <a:ext uri="{FF2B5EF4-FFF2-40B4-BE49-F238E27FC236}">
                <a16:creationId xmlns:a16="http://schemas.microsoft.com/office/drawing/2014/main" id="{9D2AB269-9232-4E08-B989-223E49C9422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3" name="Google Shape;253;p13">
            <a:extLst xmlns:a="http://schemas.openxmlformats.org/drawingml/2006/main">
              <a:ext uri="{FF2B5EF4-FFF2-40B4-BE49-F238E27FC236}">
                <a16:creationId xmlns:a16="http://schemas.microsoft.com/office/drawing/2014/main" id="{62E92076-A64A-4A25-B2AD-CC7B7F456BE4}"/>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3">
            <a:extLst xmlns:a="http://schemas.openxmlformats.org/drawingml/2006/main">
              <a:ext uri="{FF2B5EF4-FFF2-40B4-BE49-F238E27FC236}">
                <a16:creationId xmlns:a16="http://schemas.microsoft.com/office/drawing/2014/main" id="{967F66A9-2C6D-4010-A3C1-BCF654F572CE}"/>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3">
            <a:extLst xmlns:a="http://schemas.openxmlformats.org/drawingml/2006/main">
              <a:ext uri="{FF2B5EF4-FFF2-40B4-BE49-F238E27FC236}">
                <a16:creationId xmlns:a16="http://schemas.microsoft.com/office/drawing/2014/main" id="{5E17362E-E56D-4840-83E4-46E38362D366}"/>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Planning a Pilot Test</a:t>
            </a:r>
          </a:p>
        </p:txBody>
      </p:sp>
      <p:sp>
        <p:nvSpPr>
          <p:cNvPr id="256" name="Google Shape;256;p13">
            <a:extLst xmlns:a="http://schemas.openxmlformats.org/drawingml/2006/main">
              <a:ext uri="{FF2B5EF4-FFF2-40B4-BE49-F238E27FC236}">
                <a16:creationId xmlns:a16="http://schemas.microsoft.com/office/drawing/2014/main" id="{84548B7B-DDCF-41A8-A131-1666128B8766}"/>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3">
            <a:extLst xmlns:a="http://schemas.openxmlformats.org/drawingml/2006/main">
              <a:ext uri="{FF2B5EF4-FFF2-40B4-BE49-F238E27FC236}">
                <a16:creationId xmlns:a16="http://schemas.microsoft.com/office/drawing/2014/main" id="{FEBB5DE6-69CA-4AC9-92A7-03E36C97497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58" name="Google Shape;258;p13">
            <a:extLst xmlns:a="http://schemas.openxmlformats.org/drawingml/2006/main">
              <a:ext uri="{FF2B5EF4-FFF2-40B4-BE49-F238E27FC236}">
                <a16:creationId xmlns:a16="http://schemas.microsoft.com/office/drawing/2014/main" id="{7836110B-AC5D-408E-BA73-360326F35702}"/>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59" name="Google Shape;259;p13">
            <a:extLst xmlns:a="http://schemas.openxmlformats.org/drawingml/2006/main">
              <a:ext uri="{FF2B5EF4-FFF2-40B4-BE49-F238E27FC236}">
                <a16:creationId xmlns:a16="http://schemas.microsoft.com/office/drawing/2014/main" id="{82691A87-CD68-45D7-8B9F-60A13FB056D9}"/>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10</a:t>
            </a:r>
          </a:p>
        </p:txBody>
      </p:sp>
      <p:sp>
        <p:nvSpPr>
          <p:cNvPr id="260" name="Google Shape;260;p13">
            <a:extLst xmlns:a="http://schemas.openxmlformats.org/drawingml/2006/main">
              <a:ext uri="{FF2B5EF4-FFF2-40B4-BE49-F238E27FC236}">
                <a16:creationId xmlns:a16="http://schemas.microsoft.com/office/drawing/2014/main" id="{F23A4E32-5BE4-4A2B-8918-F2BD3E13AD24}"/>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good pilot test has a narrow purpose.</a:t>
            </a:r>
          </a:p>
        </p:txBody>
      </p:sp>
      <p:sp>
        <p:nvSpPr>
          <p:cNvPr id="261" name="Google Shape;261;p13">
            <a:extLst xmlns:a="http://schemas.openxmlformats.org/drawingml/2006/main">
              <a:ext uri="{FF2B5EF4-FFF2-40B4-BE49-F238E27FC236}">
                <a16:creationId xmlns:a16="http://schemas.microsoft.com/office/drawing/2014/main" id="{1FDBD991-A398-4F70-9A53-BCDEB17981CA}"/>
              </a:ext>
            </a:extLst>
          </p:cNvPr>
          <p:cNvSpPr>
            <a:spLocks xmlns:a="http://schemas.openxmlformats.org/drawingml/2006/main" noGrp="1"/>
          </p:cNvSpPr>
          <p:nvPr/>
        </p:nvSpPr>
        <p:spPr>
          <a:xfrm xmlns:a="http://schemas.openxmlformats.org/drawingml/2006/main">
            <a:off x="822960" y="1874520"/>
            <a:ext cx="10058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Before testing, students should be able to answer:</a:t>
            </a:r>
          </a:p>
        </p:txBody>
      </p:sp>
      <p:sp>
        <p:nvSpPr>
          <p:cNvPr id="262" name="Google Shape;262;p13">
            <a:extLst xmlns:a="http://schemas.openxmlformats.org/drawingml/2006/main">
              <a:ext uri="{FF2B5EF4-FFF2-40B4-BE49-F238E27FC236}">
                <a16:creationId xmlns:a16="http://schemas.microsoft.com/office/drawing/2014/main" id="{F488B214-D948-4338-A5D9-2DF881722D25}"/>
              </a:ext>
            </a:extLst>
          </p:cNvPr>
          <p:cNvSpPr>
            <a:spLocks xmlns:a="http://schemas.openxmlformats.org/drawingml/2006/main" noGrp="1"/>
          </p:cNvSpPr>
          <p:nvPr/>
        </p:nvSpPr>
        <p:spPr>
          <a:xfrm xmlns:a="http://schemas.openxmlformats.org/drawingml/2006/main">
            <a:off x="1005840" y="2359152"/>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1.</a:t>
            </a:r>
          </a:p>
        </p:txBody>
      </p:sp>
      <p:sp>
        <p:nvSpPr>
          <p:cNvPr id="263" name="Google Shape;263;p13">
            <a:extLst xmlns:a="http://schemas.openxmlformats.org/drawingml/2006/main">
              <a:ext uri="{FF2B5EF4-FFF2-40B4-BE49-F238E27FC236}">
                <a16:creationId xmlns:a16="http://schemas.microsoft.com/office/drawing/2014/main" id="{87A03A61-935D-42EB-B400-06CF187F608F}"/>
              </a:ext>
            </a:extLst>
          </p:cNvPr>
          <p:cNvSpPr>
            <a:spLocks xmlns:a="http://schemas.openxmlformats.org/drawingml/2006/main" noGrp="1"/>
          </p:cNvSpPr>
          <p:nvPr/>
        </p:nvSpPr>
        <p:spPr>
          <a:xfrm xmlns:a="http://schemas.openxmlformats.org/drawingml/2006/main">
            <a:off x="1417320" y="2359152"/>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part of the method am I testing?</a:t>
            </a:r>
          </a:p>
        </p:txBody>
      </p:sp>
      <p:sp>
        <p:nvSpPr>
          <p:cNvPr id="264" name="Google Shape;264;p13">
            <a:extLst xmlns:a="http://schemas.openxmlformats.org/drawingml/2006/main">
              <a:ext uri="{FF2B5EF4-FFF2-40B4-BE49-F238E27FC236}">
                <a16:creationId xmlns:a16="http://schemas.microsoft.com/office/drawing/2014/main" id="{6484B37E-28F7-4A66-B30B-2BC0F04F4C55}"/>
              </a:ext>
            </a:extLst>
          </p:cNvPr>
          <p:cNvSpPr>
            <a:spLocks xmlns:a="http://schemas.openxmlformats.org/drawingml/2006/main" noGrp="1"/>
          </p:cNvSpPr>
          <p:nvPr/>
        </p:nvSpPr>
        <p:spPr>
          <a:xfrm xmlns:a="http://schemas.openxmlformats.org/drawingml/2006/main">
            <a:off x="1005840" y="2834640"/>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2.</a:t>
            </a:r>
          </a:p>
        </p:txBody>
      </p:sp>
      <p:sp>
        <p:nvSpPr>
          <p:cNvPr id="265" name="Google Shape;265;p13">
            <a:extLst xmlns:a="http://schemas.openxmlformats.org/drawingml/2006/main">
              <a:ext uri="{FF2B5EF4-FFF2-40B4-BE49-F238E27FC236}">
                <a16:creationId xmlns:a16="http://schemas.microsoft.com/office/drawing/2014/main" id="{D4A9F8DC-F554-4C14-A56D-B30D46F2BF9F}"/>
              </a:ext>
            </a:extLst>
          </p:cNvPr>
          <p:cNvSpPr>
            <a:spLocks xmlns:a="http://schemas.openxmlformats.org/drawingml/2006/main" noGrp="1"/>
          </p:cNvSpPr>
          <p:nvPr/>
        </p:nvSpPr>
        <p:spPr>
          <a:xfrm xmlns:a="http://schemas.openxmlformats.org/drawingml/2006/main">
            <a:off x="1417320" y="2834640"/>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data or observations will I record?</a:t>
            </a:r>
          </a:p>
        </p:txBody>
      </p:sp>
      <p:sp>
        <p:nvSpPr>
          <p:cNvPr id="266" name="Google Shape;266;p13">
            <a:extLst xmlns:a="http://schemas.openxmlformats.org/drawingml/2006/main">
              <a:ext uri="{FF2B5EF4-FFF2-40B4-BE49-F238E27FC236}">
                <a16:creationId xmlns:a16="http://schemas.microsoft.com/office/drawing/2014/main" id="{9BD23575-CB2A-447C-81D0-A222AAE74DCA}"/>
              </a:ext>
            </a:extLst>
          </p:cNvPr>
          <p:cNvSpPr>
            <a:spLocks xmlns:a="http://schemas.openxmlformats.org/drawingml/2006/main" noGrp="1"/>
          </p:cNvSpPr>
          <p:nvPr/>
        </p:nvSpPr>
        <p:spPr>
          <a:xfrm xmlns:a="http://schemas.openxmlformats.org/drawingml/2006/main">
            <a:off x="1005840" y="3310128"/>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3.</a:t>
            </a:r>
          </a:p>
        </p:txBody>
      </p:sp>
      <p:sp>
        <p:nvSpPr>
          <p:cNvPr id="267" name="Google Shape;267;p13">
            <a:extLst xmlns:a="http://schemas.openxmlformats.org/drawingml/2006/main">
              <a:ext uri="{FF2B5EF4-FFF2-40B4-BE49-F238E27FC236}">
                <a16:creationId xmlns:a16="http://schemas.microsoft.com/office/drawing/2014/main" id="{069FE378-6791-4D4D-89F8-F015986C8CDB}"/>
              </a:ext>
            </a:extLst>
          </p:cNvPr>
          <p:cNvSpPr>
            <a:spLocks xmlns:a="http://schemas.openxmlformats.org/drawingml/2006/main" noGrp="1"/>
          </p:cNvSpPr>
          <p:nvPr/>
        </p:nvSpPr>
        <p:spPr>
          <a:xfrm xmlns:a="http://schemas.openxmlformats.org/drawingml/2006/main">
            <a:off x="1417320" y="3310128"/>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would count as a warning sign?</a:t>
            </a:r>
          </a:p>
        </p:txBody>
      </p:sp>
      <p:sp>
        <p:nvSpPr>
          <p:cNvPr id="268" name="Google Shape;268;p13">
            <a:extLst xmlns:a="http://schemas.openxmlformats.org/drawingml/2006/main">
              <a:ext uri="{FF2B5EF4-FFF2-40B4-BE49-F238E27FC236}">
                <a16:creationId xmlns:a16="http://schemas.microsoft.com/office/drawing/2014/main" id="{34F90CAF-DBFE-46AB-AF9E-600328FEFA7A}"/>
              </a:ext>
            </a:extLst>
          </p:cNvPr>
          <p:cNvSpPr>
            <a:spLocks xmlns:a="http://schemas.openxmlformats.org/drawingml/2006/main" noGrp="1"/>
          </p:cNvSpPr>
          <p:nvPr/>
        </p:nvSpPr>
        <p:spPr>
          <a:xfrm xmlns:a="http://schemas.openxmlformats.org/drawingml/2006/main">
            <a:off x="1005840" y="3785616"/>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4.</a:t>
            </a:r>
          </a:p>
        </p:txBody>
      </p:sp>
      <p:sp>
        <p:nvSpPr>
          <p:cNvPr id="269" name="Google Shape;269;p13">
            <a:extLst xmlns:a="http://schemas.openxmlformats.org/drawingml/2006/main">
              <a:ext uri="{FF2B5EF4-FFF2-40B4-BE49-F238E27FC236}">
                <a16:creationId xmlns:a16="http://schemas.microsoft.com/office/drawing/2014/main" id="{A7F55463-0946-44A5-98C0-27260C5B1E88}"/>
              </a:ext>
            </a:extLst>
          </p:cNvPr>
          <p:cNvSpPr>
            <a:spLocks xmlns:a="http://schemas.openxmlformats.org/drawingml/2006/main" noGrp="1"/>
          </p:cNvSpPr>
          <p:nvPr/>
        </p:nvSpPr>
        <p:spPr>
          <a:xfrm xmlns:a="http://schemas.openxmlformats.org/drawingml/2006/main">
            <a:off x="1417320" y="3785616"/>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safety precautions are required?</a:t>
            </a:r>
          </a:p>
        </p:txBody>
      </p:sp>
      <p:sp>
        <p:nvSpPr>
          <p:cNvPr id="270" name="Google Shape;270;p13">
            <a:extLst xmlns:a="http://schemas.openxmlformats.org/drawingml/2006/main">
              <a:ext uri="{FF2B5EF4-FFF2-40B4-BE49-F238E27FC236}">
                <a16:creationId xmlns:a16="http://schemas.microsoft.com/office/drawing/2014/main" id="{A14185AC-0EB7-41DD-A893-33D19A23781B}"/>
              </a:ext>
            </a:extLst>
          </p:cNvPr>
          <p:cNvSpPr>
            <a:spLocks xmlns:a="http://schemas.openxmlformats.org/drawingml/2006/main" noGrp="1"/>
          </p:cNvSpPr>
          <p:nvPr/>
        </p:nvSpPr>
        <p:spPr>
          <a:xfrm xmlns:a="http://schemas.openxmlformats.org/drawingml/2006/main">
            <a:off x="1005840" y="4261104"/>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500"/>
              <a:buFont typeface="Arial"/>
              <a:buNone/>
            </a:pPr>
            <a:r>
              <a:rPr sz="1500" b="1" i="0" u="none" cap="none">
                <a:solidFill>
                  <a:srgbClr val="E32621"/>
                </a:solidFill>
                <a:latin typeface="Arial"/>
                <a:ea typeface="Arial"/>
                <a:cs typeface="Arial"/>
              </a:rPr>
              <a:t>5.</a:t>
            </a:r>
          </a:p>
        </p:txBody>
      </p:sp>
      <p:sp>
        <p:nvSpPr>
          <p:cNvPr id="271" name="Google Shape;271;p13">
            <a:extLst xmlns:a="http://schemas.openxmlformats.org/drawingml/2006/main">
              <a:ext uri="{FF2B5EF4-FFF2-40B4-BE49-F238E27FC236}">
                <a16:creationId xmlns:a16="http://schemas.microsoft.com/office/drawing/2014/main" id="{79B0A487-0DE0-415E-A64D-BF3B2BE98AFE}"/>
              </a:ext>
            </a:extLst>
          </p:cNvPr>
          <p:cNvSpPr>
            <a:spLocks xmlns:a="http://schemas.openxmlformats.org/drawingml/2006/main" noGrp="1"/>
          </p:cNvSpPr>
          <p:nvPr/>
        </p:nvSpPr>
        <p:spPr>
          <a:xfrm xmlns:a="http://schemas.openxmlformats.org/drawingml/2006/main">
            <a:off x="1417320" y="4261104"/>
            <a:ext cx="9418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600"/>
              <a:buFont typeface="Arial"/>
              <a:buNone/>
            </a:pPr>
            <a:r>
              <a:rPr sz="1600" b="0" i="0" u="none" cap="none">
                <a:solidFill>
                  <a:srgbClr val="B5B5B5"/>
                </a:solidFill>
                <a:latin typeface="Arial"/>
                <a:ea typeface="Arial"/>
                <a:cs typeface="Arial"/>
              </a:rPr>
              <a:t>What decision will I make afterward?</a:t>
            </a:r>
          </a:p>
        </p:txBody>
      </p:sp>
      <p:sp>
        <p:nvSpPr>
          <p:cNvPr id="272" name="Google Shape;272;p13">
            <a:extLst xmlns:a="http://schemas.openxmlformats.org/drawingml/2006/main">
              <a:ext uri="{FF2B5EF4-FFF2-40B4-BE49-F238E27FC236}">
                <a16:creationId xmlns:a16="http://schemas.microsoft.com/office/drawing/2014/main" id="{976E595A-E9CC-4E6E-8747-57C53A1B3840}"/>
              </a:ext>
            </a:extLst>
          </p:cNvPr>
          <p:cNvSpPr>
            <a:spLocks xmlns:a="http://schemas.openxmlformats.org/drawingml/2006/main" noGrp="1"/>
          </p:cNvSpPr>
          <p:nvPr/>
        </p:nvSpPr>
        <p:spPr>
          <a:xfrm xmlns:a="http://schemas.openxmlformats.org/drawingml/2006/main">
            <a:off x="3566160" y="5193792"/>
            <a:ext cx="5074920" cy="411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3" name="Google Shape;273;p13">
            <a:extLst xmlns:a="http://schemas.openxmlformats.org/drawingml/2006/main">
              <a:ext uri="{FF2B5EF4-FFF2-40B4-BE49-F238E27FC236}">
                <a16:creationId xmlns:a16="http://schemas.microsoft.com/office/drawing/2014/main" id="{85BB0357-EF9F-4341-9126-F9DC3AE13C70}"/>
              </a:ext>
            </a:extLst>
          </p:cNvPr>
          <p:cNvSpPr>
            <a:spLocks xmlns:a="http://schemas.openxmlformats.org/drawingml/2006/main" noGrp="1"/>
          </p:cNvSpPr>
          <p:nvPr/>
        </p:nvSpPr>
        <p:spPr>
          <a:xfrm xmlns:a="http://schemas.openxmlformats.org/drawingml/2006/main">
            <a:off x="3703320" y="5285232"/>
            <a:ext cx="4800600" cy="1828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200"/>
              <a:buFont typeface="Arial"/>
              <a:buNone/>
            </a:pPr>
            <a:r>
              <a:rPr sz="1200" b="1" i="0" u="none" cap="none">
                <a:solidFill>
                  <a:srgbClr val="FFFFFF"/>
                </a:solidFill>
                <a:latin typeface="Arial"/>
                <a:ea typeface="Arial"/>
                <a:cs typeface="Arial"/>
              </a:rPr>
              <a:t>STUDENT HANDOUT 1: PILOT TEST PLAN</a:t>
            </a:r>
          </a:p>
        </p:txBody>
      </p:sp>
    </p:spTree>
    <p:extLst>
      <p:ext uri="{BB962C8B-B14F-4D97-AF65-F5344CB8AC3E}">
        <p14:creationId xmlns:p14="http://schemas.microsoft.com/office/powerpoint/2010/main" val="6069439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79" name="Google Shape;279;p14">
            <a:extLst xmlns:a="http://schemas.openxmlformats.org/drawingml/2006/main">
              <a:ext uri="{FF2B5EF4-FFF2-40B4-BE49-F238E27FC236}">
                <a16:creationId xmlns:a16="http://schemas.microsoft.com/office/drawing/2014/main" id="{1175C3C6-CC98-4D18-A5FB-EF55AA62786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4">
            <a:extLst xmlns:a="http://schemas.openxmlformats.org/drawingml/2006/main">
              <a:ext uri="{FF2B5EF4-FFF2-40B4-BE49-F238E27FC236}">
                <a16:creationId xmlns:a16="http://schemas.microsoft.com/office/drawing/2014/main" id="{B5B276E3-A05C-4445-9899-4C6A7427B4BD}"/>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1" name="Google Shape;281;p14">
            <a:extLst xmlns:a="http://schemas.openxmlformats.org/drawingml/2006/main">
              <a:ext uri="{FF2B5EF4-FFF2-40B4-BE49-F238E27FC236}">
                <a16:creationId xmlns:a16="http://schemas.microsoft.com/office/drawing/2014/main" id="{605CB76D-4BB6-424C-BF77-C7C17A91D3C0}"/>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2" name="Google Shape;282;p14">
            <a:extLst xmlns:a="http://schemas.openxmlformats.org/drawingml/2006/main">
              <a:ext uri="{FF2B5EF4-FFF2-40B4-BE49-F238E27FC236}">
                <a16:creationId xmlns:a16="http://schemas.microsoft.com/office/drawing/2014/main" id="{964403CA-7349-4676-87D8-F25B0981651E}"/>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Student Activity: Pilot Test Draft</a:t>
            </a:r>
          </a:p>
        </p:txBody>
      </p:sp>
      <p:sp>
        <p:nvSpPr>
          <p:cNvPr id="283" name="Google Shape;283;p14">
            <a:extLst xmlns:a="http://schemas.openxmlformats.org/drawingml/2006/main">
              <a:ext uri="{FF2B5EF4-FFF2-40B4-BE49-F238E27FC236}">
                <a16:creationId xmlns:a16="http://schemas.microsoft.com/office/drawing/2014/main" id="{8B1A109B-2B9A-438F-992C-B398E9FB0F61}"/>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4" name="Google Shape;284;p14">
            <a:extLst xmlns:a="http://schemas.openxmlformats.org/drawingml/2006/main">
              <a:ext uri="{FF2B5EF4-FFF2-40B4-BE49-F238E27FC236}">
                <a16:creationId xmlns:a16="http://schemas.microsoft.com/office/drawing/2014/main" id="{BF44B3DF-0399-4F6C-B135-E66174F5D4F8}"/>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285" name="Google Shape;285;p14">
            <a:extLst xmlns:a="http://schemas.openxmlformats.org/drawingml/2006/main">
              <a:ext uri="{FF2B5EF4-FFF2-40B4-BE49-F238E27FC236}">
                <a16:creationId xmlns:a16="http://schemas.microsoft.com/office/drawing/2014/main" id="{6EB91E6C-A772-4BF9-88BB-4C07E2588C5B}"/>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286" name="Google Shape;286;p14">
            <a:extLst xmlns:a="http://schemas.openxmlformats.org/drawingml/2006/main">
              <a:ext uri="{FF2B5EF4-FFF2-40B4-BE49-F238E27FC236}">
                <a16:creationId xmlns:a16="http://schemas.microsoft.com/office/drawing/2014/main" id="{63E728AA-E9C7-40C3-B72B-FEDC07731E9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11</a:t>
            </a:r>
          </a:p>
        </p:txBody>
      </p:sp>
      <p:sp>
        <p:nvSpPr>
          <p:cNvPr id="287" name="Google Shape;287;p14">
            <a:extLst xmlns:a="http://schemas.openxmlformats.org/drawingml/2006/main">
              <a:ext uri="{FF2B5EF4-FFF2-40B4-BE49-F238E27FC236}">
                <a16:creationId xmlns:a16="http://schemas.microsoft.com/office/drawing/2014/main" id="{9301035A-D5F9-487A-842D-2B07C8057076}"/>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Write a small-scale test that can happen before full data collection.</a:t>
            </a:r>
          </a:p>
        </p:txBody>
      </p:sp>
      <p:sp>
        <p:nvSpPr>
          <p:cNvPr id="288" name="Google Shape;288;p14">
            <a:extLst xmlns:a="http://schemas.openxmlformats.org/drawingml/2006/main">
              <a:ext uri="{FF2B5EF4-FFF2-40B4-BE49-F238E27FC236}">
                <a16:creationId xmlns:a16="http://schemas.microsoft.com/office/drawing/2014/main" id="{2249A3BB-52E1-4731-A18C-C26F7A966F79}"/>
              </a:ext>
            </a:extLst>
          </p:cNvPr>
          <p:cNvSpPr>
            <a:spLocks xmlns:a="http://schemas.openxmlformats.org/drawingml/2006/main" noGrp="1"/>
          </p:cNvSpPr>
          <p:nvPr/>
        </p:nvSpPr>
        <p:spPr>
          <a:xfrm xmlns:a="http://schemas.openxmlformats.org/drawingml/2006/main">
            <a:off x="822960" y="1874520"/>
            <a:ext cx="4754880" cy="2697480"/>
          </a:xfrm>
          <a:prstGeom xmlns:a="http://schemas.openxmlformats.org/drawingml/2006/main" prst="roundRect">
            <a:avLst>
              <a:gd name="adj" fmla="val 2712"/>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4">
            <a:extLst xmlns:a="http://schemas.openxmlformats.org/drawingml/2006/main">
              <a:ext uri="{FF2B5EF4-FFF2-40B4-BE49-F238E27FC236}">
                <a16:creationId xmlns:a16="http://schemas.microsoft.com/office/drawing/2014/main" id="{2283C16B-5C2E-4687-8C5D-8CC2EBE06B9B}"/>
              </a:ext>
            </a:extLst>
          </p:cNvPr>
          <p:cNvSpPr>
            <a:spLocks xmlns:a="http://schemas.openxmlformats.org/drawingml/2006/main" noGrp="1"/>
          </p:cNvSpPr>
          <p:nvPr/>
        </p:nvSpPr>
        <p:spPr>
          <a:xfrm xmlns:a="http://schemas.openxmlformats.org/drawingml/2006/main">
            <a:off x="822960" y="1874520"/>
            <a:ext cx="54864" cy="2697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4">
            <a:extLst xmlns:a="http://schemas.openxmlformats.org/drawingml/2006/main">
              <a:ext uri="{FF2B5EF4-FFF2-40B4-BE49-F238E27FC236}">
                <a16:creationId xmlns:a16="http://schemas.microsoft.com/office/drawing/2014/main" id="{86FFE2A2-C7D1-496C-9192-D9E1993C6EA4}"/>
              </a:ext>
            </a:extLst>
          </p:cNvPr>
          <p:cNvSpPr>
            <a:spLocks xmlns:a="http://schemas.openxmlformats.org/drawingml/2006/main" noGrp="1"/>
          </p:cNvSpPr>
          <p:nvPr/>
        </p:nvSpPr>
        <p:spPr>
          <a:xfrm xmlns:a="http://schemas.openxmlformats.org/drawingml/2006/main">
            <a:off x="987552" y="2020824"/>
            <a:ext cx="44805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In your project team or individually:</a:t>
            </a:r>
          </a:p>
        </p:txBody>
      </p:sp>
      <p:sp>
        <p:nvSpPr>
          <p:cNvPr id="291" name="Google Shape;291;p14">
            <a:extLst xmlns:a="http://schemas.openxmlformats.org/drawingml/2006/main">
              <a:ext uri="{FF2B5EF4-FFF2-40B4-BE49-F238E27FC236}">
                <a16:creationId xmlns:a16="http://schemas.microsoft.com/office/drawing/2014/main" id="{D2C5B241-9DA9-4664-8434-DF33F89C1C42}"/>
              </a:ext>
            </a:extLst>
          </p:cNvPr>
          <p:cNvSpPr>
            <a:spLocks xmlns:a="http://schemas.openxmlformats.org/drawingml/2006/main" noGrp="1"/>
          </p:cNvSpPr>
          <p:nvPr/>
        </p:nvSpPr>
        <p:spPr>
          <a:xfrm xmlns:a="http://schemas.openxmlformats.org/drawingml/2006/main">
            <a:off x="987552" y="2350008"/>
            <a:ext cx="4462272" cy="2130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choose one part of your method to test</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define what you will record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predict one thing that might go wrong</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decide what approval or safety check is needed</a:t>
            </a:r>
          </a:p>
        </p:txBody>
      </p:sp>
      <p:sp>
        <p:nvSpPr>
          <p:cNvPr id="292" name="Google Shape;292;p14">
            <a:extLst xmlns:a="http://schemas.openxmlformats.org/drawingml/2006/main">
              <a:ext uri="{FF2B5EF4-FFF2-40B4-BE49-F238E27FC236}">
                <a16:creationId xmlns:a16="http://schemas.microsoft.com/office/drawing/2014/main" id="{70689265-7504-43F7-B9DD-C628D92AD684}"/>
              </a:ext>
            </a:extLst>
          </p:cNvPr>
          <p:cNvSpPr>
            <a:spLocks xmlns:a="http://schemas.openxmlformats.org/drawingml/2006/main" noGrp="1"/>
          </p:cNvSpPr>
          <p:nvPr/>
        </p:nvSpPr>
        <p:spPr>
          <a:xfrm xmlns:a="http://schemas.openxmlformats.org/drawingml/2006/main">
            <a:off x="6492240" y="1874520"/>
            <a:ext cx="4480560" cy="2697480"/>
          </a:xfrm>
          <a:prstGeom xmlns:a="http://schemas.openxmlformats.org/drawingml/2006/main" prst="roundRect">
            <a:avLst>
              <a:gd name="adj" fmla="val 2712"/>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3" name="Google Shape;293;p14">
            <a:extLst xmlns:a="http://schemas.openxmlformats.org/drawingml/2006/main">
              <a:ext uri="{FF2B5EF4-FFF2-40B4-BE49-F238E27FC236}">
                <a16:creationId xmlns:a16="http://schemas.microsoft.com/office/drawing/2014/main" id="{63A569B3-5E95-4948-803D-2A64C17EE68C}"/>
              </a:ext>
            </a:extLst>
          </p:cNvPr>
          <p:cNvSpPr>
            <a:spLocks xmlns:a="http://schemas.openxmlformats.org/drawingml/2006/main" noGrp="1"/>
          </p:cNvSpPr>
          <p:nvPr/>
        </p:nvSpPr>
        <p:spPr>
          <a:xfrm xmlns:a="http://schemas.openxmlformats.org/drawingml/2006/main">
            <a:off x="6492240" y="1874520"/>
            <a:ext cx="54864" cy="26974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4" name="Google Shape;294;p14">
            <a:extLst xmlns:a="http://schemas.openxmlformats.org/drawingml/2006/main">
              <a:ext uri="{FF2B5EF4-FFF2-40B4-BE49-F238E27FC236}">
                <a16:creationId xmlns:a16="http://schemas.microsoft.com/office/drawing/2014/main" id="{DE3FA36F-9AED-442C-A2F6-6080B53DD784}"/>
              </a:ext>
            </a:extLst>
          </p:cNvPr>
          <p:cNvSpPr>
            <a:spLocks xmlns:a="http://schemas.openxmlformats.org/drawingml/2006/main" noGrp="1"/>
          </p:cNvSpPr>
          <p:nvPr/>
        </p:nvSpPr>
        <p:spPr>
          <a:xfrm xmlns:a="http://schemas.openxmlformats.org/drawingml/2006/main">
            <a:off x="6656832" y="2020824"/>
            <a:ext cx="42062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Time and deliverable</a:t>
            </a:r>
          </a:p>
        </p:txBody>
      </p:sp>
      <p:sp>
        <p:nvSpPr>
          <p:cNvPr id="295" name="Google Shape;295;p14">
            <a:extLst xmlns:a="http://schemas.openxmlformats.org/drawingml/2006/main">
              <a:ext uri="{FF2B5EF4-FFF2-40B4-BE49-F238E27FC236}">
                <a16:creationId xmlns:a16="http://schemas.microsoft.com/office/drawing/2014/main" id="{6BCE4A85-E92C-4B82-B9FC-5A7201686888}"/>
              </a:ext>
            </a:extLst>
          </p:cNvPr>
          <p:cNvSpPr>
            <a:spLocks xmlns:a="http://schemas.openxmlformats.org/drawingml/2006/main" noGrp="1"/>
          </p:cNvSpPr>
          <p:nvPr/>
        </p:nvSpPr>
        <p:spPr>
          <a:xfrm xmlns:a="http://schemas.openxmlformats.org/drawingml/2006/main">
            <a:off x="6656832" y="2350008"/>
            <a:ext cx="4187952" cy="21305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Time: 8–10 minutes</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Deliverable: completed Part A–D of the Pilot Test Plan</a:t>
            </a:r>
          </a:p>
        </p:txBody>
      </p:sp>
    </p:spTree>
    <p:extLst>
      <p:ext uri="{BB962C8B-B14F-4D97-AF65-F5344CB8AC3E}">
        <p14:creationId xmlns:p14="http://schemas.microsoft.com/office/powerpoint/2010/main" val="183266217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01" name="Google Shape;301;p15">
            <a:extLst xmlns:a="http://schemas.openxmlformats.org/drawingml/2006/main">
              <a:ext uri="{FF2B5EF4-FFF2-40B4-BE49-F238E27FC236}">
                <a16:creationId xmlns:a16="http://schemas.microsoft.com/office/drawing/2014/main" id="{E6BF15E9-0B59-46FA-B388-DC423C608A5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5">
            <a:extLst xmlns:a="http://schemas.openxmlformats.org/drawingml/2006/main">
              <a:ext uri="{FF2B5EF4-FFF2-40B4-BE49-F238E27FC236}">
                <a16:creationId xmlns:a16="http://schemas.microsoft.com/office/drawing/2014/main" id="{3CA3009A-ABA3-4724-B5BD-0F9E4BB7F293}"/>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5">
            <a:extLst xmlns:a="http://schemas.openxmlformats.org/drawingml/2006/main">
              <a:ext uri="{FF2B5EF4-FFF2-40B4-BE49-F238E27FC236}">
                <a16:creationId xmlns:a16="http://schemas.microsoft.com/office/drawing/2014/main" id="{EDB446B3-1664-4C17-A75A-40635724B28C}"/>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5">
            <a:extLst xmlns:a="http://schemas.openxmlformats.org/drawingml/2006/main">
              <a:ext uri="{FF2B5EF4-FFF2-40B4-BE49-F238E27FC236}">
                <a16:creationId xmlns:a16="http://schemas.microsoft.com/office/drawing/2014/main" id="{48D19DDE-E374-4678-A554-5C4158231583}"/>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Observation vs. Interpretation</a:t>
            </a:r>
          </a:p>
        </p:txBody>
      </p:sp>
      <p:sp>
        <p:nvSpPr>
          <p:cNvPr id="305" name="Google Shape;305;p15">
            <a:extLst xmlns:a="http://schemas.openxmlformats.org/drawingml/2006/main">
              <a:ext uri="{FF2B5EF4-FFF2-40B4-BE49-F238E27FC236}">
                <a16:creationId xmlns:a16="http://schemas.microsoft.com/office/drawing/2014/main" id="{8D69365F-74B3-4E1F-8315-882CB68D2923}"/>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6" name="Google Shape;306;p15">
            <a:extLst xmlns:a="http://schemas.openxmlformats.org/drawingml/2006/main">
              <a:ext uri="{FF2B5EF4-FFF2-40B4-BE49-F238E27FC236}">
                <a16:creationId xmlns:a16="http://schemas.microsoft.com/office/drawing/2014/main" id="{1D0012FC-034B-4DFF-90AC-B29DE6DF307C}"/>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07" name="Google Shape;307;p15">
            <a:extLst xmlns:a="http://schemas.openxmlformats.org/drawingml/2006/main">
              <a:ext uri="{FF2B5EF4-FFF2-40B4-BE49-F238E27FC236}">
                <a16:creationId xmlns:a16="http://schemas.microsoft.com/office/drawing/2014/main" id="{D4EDEE92-D246-4511-878C-01F0AF2AFEF2}"/>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08" name="Google Shape;308;p15">
            <a:extLst xmlns:a="http://schemas.openxmlformats.org/drawingml/2006/main">
              <a:ext uri="{FF2B5EF4-FFF2-40B4-BE49-F238E27FC236}">
                <a16:creationId xmlns:a16="http://schemas.microsoft.com/office/drawing/2014/main" id="{68289CD4-8358-4F16-A2AD-2685725D2DC6}"/>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12</a:t>
            </a:r>
          </a:p>
        </p:txBody>
      </p:sp>
      <p:sp>
        <p:nvSpPr>
          <p:cNvPr id="309" name="Google Shape;309;p15">
            <a:extLst xmlns:a="http://schemas.openxmlformats.org/drawingml/2006/main">
              <a:ext uri="{FF2B5EF4-FFF2-40B4-BE49-F238E27FC236}">
                <a16:creationId xmlns:a16="http://schemas.microsoft.com/office/drawing/2014/main" id="{84B3FB1D-9A24-40F8-8E97-628A82743B97}"/>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Pilot notes should separate what happened from what it might mean.</a:t>
            </a:r>
          </a:p>
        </p:txBody>
      </p:sp>
      <p:sp>
        <p:nvSpPr>
          <p:cNvPr id="310" name="Google Shape;310;p15">
            <a:extLst xmlns:a="http://schemas.openxmlformats.org/drawingml/2006/main">
              <a:ext uri="{FF2B5EF4-FFF2-40B4-BE49-F238E27FC236}">
                <a16:creationId xmlns:a16="http://schemas.microsoft.com/office/drawing/2014/main" id="{741E4D53-10D4-4E29-A4AC-E561F04E6ED4}"/>
              </a:ext>
            </a:extLst>
          </p:cNvPr>
          <p:cNvSpPr>
            <a:spLocks xmlns:a="http://schemas.openxmlformats.org/drawingml/2006/main" noGrp="1"/>
          </p:cNvSpPr>
          <p:nvPr/>
        </p:nvSpPr>
        <p:spPr>
          <a:xfrm xmlns:a="http://schemas.openxmlformats.org/drawingml/2006/main">
            <a:off x="1051560" y="1920240"/>
            <a:ext cx="457200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1" name="Google Shape;311;p15">
            <a:extLst xmlns:a="http://schemas.openxmlformats.org/drawingml/2006/main">
              <a:ext uri="{FF2B5EF4-FFF2-40B4-BE49-F238E27FC236}">
                <a16:creationId xmlns:a16="http://schemas.microsoft.com/office/drawing/2014/main" id="{17197A64-50A7-43AE-8B7A-A0402FE9F9E0}"/>
              </a:ext>
            </a:extLst>
          </p:cNvPr>
          <p:cNvSpPr>
            <a:spLocks xmlns:a="http://schemas.openxmlformats.org/drawingml/2006/main" noGrp="1"/>
          </p:cNvSpPr>
          <p:nvPr/>
        </p:nvSpPr>
        <p:spPr>
          <a:xfrm xmlns:a="http://schemas.openxmlformats.org/drawingml/2006/main">
            <a:off x="1051560" y="192024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2" name="Google Shape;312;p15">
            <a:extLst xmlns:a="http://schemas.openxmlformats.org/drawingml/2006/main">
              <a:ext uri="{FF2B5EF4-FFF2-40B4-BE49-F238E27FC236}">
                <a16:creationId xmlns:a16="http://schemas.microsoft.com/office/drawing/2014/main" id="{42DA6224-DF98-4DED-B93B-77A459DDDB04}"/>
              </a:ext>
            </a:extLst>
          </p:cNvPr>
          <p:cNvSpPr>
            <a:spLocks xmlns:a="http://schemas.openxmlformats.org/drawingml/2006/main" noGrp="1"/>
          </p:cNvSpPr>
          <p:nvPr/>
        </p:nvSpPr>
        <p:spPr>
          <a:xfrm xmlns:a="http://schemas.openxmlformats.org/drawingml/2006/main">
            <a:off x="1216152" y="2066544"/>
            <a:ext cx="42976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Observation</a:t>
            </a:r>
          </a:p>
        </p:txBody>
      </p:sp>
      <p:sp>
        <p:nvSpPr>
          <p:cNvPr id="313" name="Google Shape;313;p15">
            <a:extLst xmlns:a="http://schemas.openxmlformats.org/drawingml/2006/main">
              <a:ext uri="{FF2B5EF4-FFF2-40B4-BE49-F238E27FC236}">
                <a16:creationId xmlns:a16="http://schemas.microsoft.com/office/drawing/2014/main" id="{AE7B68F8-0C21-42B4-96FB-EDFEE4EC8350}"/>
              </a:ext>
            </a:extLst>
          </p:cNvPr>
          <p:cNvSpPr>
            <a:spLocks xmlns:a="http://schemas.openxmlformats.org/drawingml/2006/main" noGrp="1"/>
          </p:cNvSpPr>
          <p:nvPr/>
        </p:nvSpPr>
        <p:spPr>
          <a:xfrm xmlns:a="http://schemas.openxmlformats.org/drawingml/2006/main">
            <a:off x="1216152" y="2395728"/>
            <a:ext cx="427939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What you directly saw, measured, or recorded.</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“Sensor reading jumped from 2.1 V to 0.4 V when the wire moved.”</a:t>
            </a:r>
          </a:p>
        </p:txBody>
      </p:sp>
      <p:sp>
        <p:nvSpPr>
          <p:cNvPr id="314" name="Google Shape;314;p15">
            <a:extLst xmlns:a="http://schemas.openxmlformats.org/drawingml/2006/main">
              <a:ext uri="{FF2B5EF4-FFF2-40B4-BE49-F238E27FC236}">
                <a16:creationId xmlns:a16="http://schemas.microsoft.com/office/drawing/2014/main" id="{9173B776-1372-4C24-8D83-85DC9D8E9E43}"/>
              </a:ext>
            </a:extLst>
          </p:cNvPr>
          <p:cNvSpPr>
            <a:spLocks xmlns:a="http://schemas.openxmlformats.org/drawingml/2006/main" noGrp="1"/>
          </p:cNvSpPr>
          <p:nvPr/>
        </p:nvSpPr>
        <p:spPr>
          <a:xfrm xmlns:a="http://schemas.openxmlformats.org/drawingml/2006/main">
            <a:off x="6537960" y="1920240"/>
            <a:ext cx="457200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5" name="Google Shape;315;p15">
            <a:extLst xmlns:a="http://schemas.openxmlformats.org/drawingml/2006/main">
              <a:ext uri="{FF2B5EF4-FFF2-40B4-BE49-F238E27FC236}">
                <a16:creationId xmlns:a16="http://schemas.microsoft.com/office/drawing/2014/main" id="{D4A06B7D-2195-4D79-9017-EEA15CD49D3C}"/>
              </a:ext>
            </a:extLst>
          </p:cNvPr>
          <p:cNvSpPr>
            <a:spLocks xmlns:a="http://schemas.openxmlformats.org/drawingml/2006/main" noGrp="1"/>
          </p:cNvSpPr>
          <p:nvPr/>
        </p:nvSpPr>
        <p:spPr>
          <a:xfrm xmlns:a="http://schemas.openxmlformats.org/drawingml/2006/main">
            <a:off x="6537960" y="192024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6" name="Google Shape;316;p15">
            <a:extLst xmlns:a="http://schemas.openxmlformats.org/drawingml/2006/main">
              <a:ext uri="{FF2B5EF4-FFF2-40B4-BE49-F238E27FC236}">
                <a16:creationId xmlns:a16="http://schemas.microsoft.com/office/drawing/2014/main" id="{39459B9D-0D08-4463-B4B8-5F41FC2B54A1}"/>
              </a:ext>
            </a:extLst>
          </p:cNvPr>
          <p:cNvSpPr>
            <a:spLocks xmlns:a="http://schemas.openxmlformats.org/drawingml/2006/main" noGrp="1"/>
          </p:cNvSpPr>
          <p:nvPr/>
        </p:nvSpPr>
        <p:spPr>
          <a:xfrm xmlns:a="http://schemas.openxmlformats.org/drawingml/2006/main">
            <a:off x="6702552" y="2066544"/>
            <a:ext cx="42976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Interpretation</a:t>
            </a:r>
          </a:p>
        </p:txBody>
      </p:sp>
      <p:sp>
        <p:nvSpPr>
          <p:cNvPr id="317" name="Google Shape;317;p15">
            <a:extLst xmlns:a="http://schemas.openxmlformats.org/drawingml/2006/main">
              <a:ext uri="{FF2B5EF4-FFF2-40B4-BE49-F238E27FC236}">
                <a16:creationId xmlns:a16="http://schemas.microsoft.com/office/drawing/2014/main" id="{C7375E42-3636-4C81-A623-DE6B59CCDFE6}"/>
              </a:ext>
            </a:extLst>
          </p:cNvPr>
          <p:cNvSpPr>
            <a:spLocks xmlns:a="http://schemas.openxmlformats.org/drawingml/2006/main" noGrp="1"/>
          </p:cNvSpPr>
          <p:nvPr/>
        </p:nvSpPr>
        <p:spPr>
          <a:xfrm xmlns:a="http://schemas.openxmlformats.org/drawingml/2006/main">
            <a:off x="6702552" y="2395728"/>
            <a:ext cx="427939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What you think the observation might mean.</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sensor may have a loose connection.”</a:t>
            </a:r>
          </a:p>
        </p:txBody>
      </p:sp>
    </p:spTree>
    <p:extLst>
      <p:ext uri="{BB962C8B-B14F-4D97-AF65-F5344CB8AC3E}">
        <p14:creationId xmlns:p14="http://schemas.microsoft.com/office/powerpoint/2010/main" val="2026561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23" name="Google Shape;323;p16">
            <a:extLst xmlns:a="http://schemas.openxmlformats.org/drawingml/2006/main">
              <a:ext uri="{FF2B5EF4-FFF2-40B4-BE49-F238E27FC236}">
                <a16:creationId xmlns:a16="http://schemas.microsoft.com/office/drawing/2014/main" id="{49F6D7DD-8205-4B1D-BF0A-4F9778E8964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4" name="Google Shape;324;p16">
            <a:extLst xmlns:a="http://schemas.openxmlformats.org/drawingml/2006/main">
              <a:ext uri="{FF2B5EF4-FFF2-40B4-BE49-F238E27FC236}">
                <a16:creationId xmlns:a16="http://schemas.microsoft.com/office/drawing/2014/main" id="{D6329D5D-36A8-4D3F-B7A4-63A71F5FD162}"/>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5" name="Google Shape;325;p16">
            <a:extLst xmlns:a="http://schemas.openxmlformats.org/drawingml/2006/main">
              <a:ext uri="{FF2B5EF4-FFF2-40B4-BE49-F238E27FC236}">
                <a16:creationId xmlns:a16="http://schemas.microsoft.com/office/drawing/2014/main" id="{1B9DA009-338B-48B1-A2F2-27E88AFBC3FE}"/>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6" name="Google Shape;326;p16">
            <a:extLst xmlns:a="http://schemas.openxmlformats.org/drawingml/2006/main">
              <a:ext uri="{FF2B5EF4-FFF2-40B4-BE49-F238E27FC236}">
                <a16:creationId xmlns:a16="http://schemas.microsoft.com/office/drawing/2014/main" id="{DD9A83BF-DD58-40FE-9791-33505BFCE357}"/>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After the Pilot: Revise or Continue?</a:t>
            </a:r>
          </a:p>
        </p:txBody>
      </p:sp>
      <p:sp>
        <p:nvSpPr>
          <p:cNvPr id="327" name="Google Shape;327;p16">
            <a:extLst xmlns:a="http://schemas.openxmlformats.org/drawingml/2006/main">
              <a:ext uri="{FF2B5EF4-FFF2-40B4-BE49-F238E27FC236}">
                <a16:creationId xmlns:a16="http://schemas.microsoft.com/office/drawing/2014/main" id="{EE2FE515-EA74-48B2-9486-79E2F3D682E9}"/>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8" name="Google Shape;328;p16">
            <a:extLst xmlns:a="http://schemas.openxmlformats.org/drawingml/2006/main">
              <a:ext uri="{FF2B5EF4-FFF2-40B4-BE49-F238E27FC236}">
                <a16:creationId xmlns:a16="http://schemas.microsoft.com/office/drawing/2014/main" id="{D5F3E8A0-C0DB-4039-AEAE-1D73A1A743A9}"/>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29" name="Google Shape;329;p16">
            <a:extLst xmlns:a="http://schemas.openxmlformats.org/drawingml/2006/main">
              <a:ext uri="{FF2B5EF4-FFF2-40B4-BE49-F238E27FC236}">
                <a16:creationId xmlns:a16="http://schemas.microsoft.com/office/drawing/2014/main" id="{543D595C-0830-40E2-804C-68AD3278EF5C}"/>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30" name="Google Shape;330;p16">
            <a:extLst xmlns:a="http://schemas.openxmlformats.org/drawingml/2006/main">
              <a:ext uri="{FF2B5EF4-FFF2-40B4-BE49-F238E27FC236}">
                <a16:creationId xmlns:a16="http://schemas.microsoft.com/office/drawing/2014/main" id="{337F96E4-3FB5-44B9-9CAA-D330DE6C2EC4}"/>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13</a:t>
            </a:r>
          </a:p>
        </p:txBody>
      </p:sp>
      <p:sp>
        <p:nvSpPr>
          <p:cNvPr id="331" name="Google Shape;331;p16">
            <a:extLst xmlns:a="http://schemas.openxmlformats.org/drawingml/2006/main">
              <a:ext uri="{FF2B5EF4-FFF2-40B4-BE49-F238E27FC236}">
                <a16:creationId xmlns:a16="http://schemas.microsoft.com/office/drawing/2014/main" id="{55C0A918-9D18-4E73-AE45-F31D8FF57F01}"/>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The pilot test ends with a decision.</a:t>
            </a:r>
          </a:p>
        </p:txBody>
      </p:sp>
      <p:sp>
        <p:nvSpPr>
          <p:cNvPr id="332" name="Google Shape;332;p16">
            <a:extLst xmlns:a="http://schemas.openxmlformats.org/drawingml/2006/main">
              <a:ext uri="{FF2B5EF4-FFF2-40B4-BE49-F238E27FC236}">
                <a16:creationId xmlns:a16="http://schemas.microsoft.com/office/drawing/2014/main" id="{8A700C96-F27E-4D38-A5B2-BBD15A68D3F6}"/>
              </a:ext>
            </a:extLst>
          </p:cNvPr>
          <p:cNvSpPr>
            <a:spLocks xmlns:a="http://schemas.openxmlformats.org/drawingml/2006/main" noGrp="1"/>
          </p:cNvSpPr>
          <p:nvPr/>
        </p:nvSpPr>
        <p:spPr>
          <a:xfrm xmlns:a="http://schemas.openxmlformats.org/drawingml/2006/main">
            <a:off x="777240" y="1874520"/>
            <a:ext cx="3108960" cy="2331720"/>
          </a:xfrm>
          <a:prstGeom xmlns:a="http://schemas.openxmlformats.org/drawingml/2006/main" prst="roundRect">
            <a:avLst>
              <a:gd name="adj" fmla="val 313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3" name="Google Shape;333;p16">
            <a:extLst xmlns:a="http://schemas.openxmlformats.org/drawingml/2006/main">
              <a:ext uri="{FF2B5EF4-FFF2-40B4-BE49-F238E27FC236}">
                <a16:creationId xmlns:a16="http://schemas.microsoft.com/office/drawing/2014/main" id="{9E425C57-0EC3-460A-AA0A-B7E776C88DB7}"/>
              </a:ext>
            </a:extLst>
          </p:cNvPr>
          <p:cNvSpPr>
            <a:spLocks xmlns:a="http://schemas.openxmlformats.org/drawingml/2006/main" noGrp="1"/>
          </p:cNvSpPr>
          <p:nvPr/>
        </p:nvSpPr>
        <p:spPr>
          <a:xfrm xmlns:a="http://schemas.openxmlformats.org/drawingml/2006/main">
            <a:off x="777240" y="1874520"/>
            <a:ext cx="54864" cy="23317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4" name="Google Shape;334;p16">
            <a:extLst xmlns:a="http://schemas.openxmlformats.org/drawingml/2006/main">
              <a:ext uri="{FF2B5EF4-FFF2-40B4-BE49-F238E27FC236}">
                <a16:creationId xmlns:a16="http://schemas.microsoft.com/office/drawing/2014/main" id="{A04F19B6-0775-4B73-9F63-91A43BC01D7A}"/>
              </a:ext>
            </a:extLst>
          </p:cNvPr>
          <p:cNvSpPr>
            <a:spLocks xmlns:a="http://schemas.openxmlformats.org/drawingml/2006/main" noGrp="1"/>
          </p:cNvSpPr>
          <p:nvPr/>
        </p:nvSpPr>
        <p:spPr>
          <a:xfrm xmlns:a="http://schemas.openxmlformats.org/drawingml/2006/main">
            <a:off x="941832" y="2020824"/>
            <a:ext cx="28346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Decision options</a:t>
            </a:r>
          </a:p>
        </p:txBody>
      </p:sp>
      <p:sp>
        <p:nvSpPr>
          <p:cNvPr id="335" name="Google Shape;335;p16">
            <a:extLst xmlns:a="http://schemas.openxmlformats.org/drawingml/2006/main">
              <a:ext uri="{FF2B5EF4-FFF2-40B4-BE49-F238E27FC236}">
                <a16:creationId xmlns:a16="http://schemas.microsoft.com/office/drawing/2014/main" id="{6BE9EBFD-5B76-4C99-B945-23116B99C347}"/>
              </a:ext>
            </a:extLst>
          </p:cNvPr>
          <p:cNvSpPr>
            <a:spLocks xmlns:a="http://schemas.openxmlformats.org/drawingml/2006/main" noGrp="1"/>
          </p:cNvSpPr>
          <p:nvPr/>
        </p:nvSpPr>
        <p:spPr>
          <a:xfrm xmlns:a="http://schemas.openxmlformats.org/drawingml/2006/main">
            <a:off x="941832" y="2350008"/>
            <a:ext cx="2816352"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ready for systematic data collection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ready after minor revisions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needs another pilot test</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needs major redesign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needs safety or mentor review</a:t>
            </a:r>
          </a:p>
        </p:txBody>
      </p:sp>
      <p:sp>
        <p:nvSpPr>
          <p:cNvPr id="336" name="Google Shape;336;p16">
            <a:extLst xmlns:a="http://schemas.openxmlformats.org/drawingml/2006/main">
              <a:ext uri="{FF2B5EF4-FFF2-40B4-BE49-F238E27FC236}">
                <a16:creationId xmlns:a16="http://schemas.microsoft.com/office/drawing/2014/main" id="{3661D894-912C-4489-BA92-501AC6CB81A1}"/>
              </a:ext>
            </a:extLst>
          </p:cNvPr>
          <p:cNvSpPr>
            <a:spLocks xmlns:a="http://schemas.openxmlformats.org/drawingml/2006/main" noGrp="1"/>
          </p:cNvSpPr>
          <p:nvPr/>
        </p:nvSpPr>
        <p:spPr>
          <a:xfrm xmlns:a="http://schemas.openxmlformats.org/drawingml/2006/main">
            <a:off x="4754880" y="2423160"/>
            <a:ext cx="2468880" cy="64008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7" name="Google Shape;337;p16">
            <a:extLst xmlns:a="http://schemas.openxmlformats.org/drawingml/2006/main">
              <a:ext uri="{FF2B5EF4-FFF2-40B4-BE49-F238E27FC236}">
                <a16:creationId xmlns:a16="http://schemas.microsoft.com/office/drawing/2014/main" id="{FCEB72DA-63AD-402B-BF47-BC5174FC4864}"/>
              </a:ext>
            </a:extLst>
          </p:cNvPr>
          <p:cNvSpPr>
            <a:spLocks xmlns:a="http://schemas.openxmlformats.org/drawingml/2006/main" noGrp="1"/>
          </p:cNvSpPr>
          <p:nvPr/>
        </p:nvSpPr>
        <p:spPr>
          <a:xfrm xmlns:a="http://schemas.openxmlformats.org/drawingml/2006/main">
            <a:off x="5074920" y="2596896"/>
            <a:ext cx="182880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Arial"/>
              <a:buNone/>
            </a:pPr>
            <a:r>
              <a:rPr sz="2400" b="1" i="0" u="none" cap="none">
                <a:solidFill>
                  <a:srgbClr val="FFFFFF"/>
                </a:solidFill>
                <a:latin typeface="Arial"/>
                <a:ea typeface="Arial"/>
                <a:cs typeface="Arial"/>
              </a:rPr>
              <a:t>DECIDE</a:t>
            </a:r>
          </a:p>
        </p:txBody>
      </p:sp>
      <p:sp>
        <p:nvSpPr>
          <p:cNvPr id="338" name="Google Shape;338;p16">
            <a:extLst xmlns:a="http://schemas.openxmlformats.org/drawingml/2006/main">
              <a:ext uri="{FF2B5EF4-FFF2-40B4-BE49-F238E27FC236}">
                <a16:creationId xmlns:a16="http://schemas.microsoft.com/office/drawing/2014/main" id="{B9A47D4B-A9E6-40EA-9328-052F1E8809D6}"/>
              </a:ext>
            </a:extLst>
          </p:cNvPr>
          <p:cNvSpPr>
            <a:spLocks xmlns:a="http://schemas.openxmlformats.org/drawingml/2006/main" noGrp="1"/>
          </p:cNvSpPr>
          <p:nvPr/>
        </p:nvSpPr>
        <p:spPr>
          <a:xfrm xmlns:a="http://schemas.openxmlformats.org/drawingml/2006/main">
            <a:off x="4754875" y="3794750"/>
            <a:ext cx="6446400" cy="502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100"/>
              <a:buFont typeface="Arial"/>
              <a:buNone/>
            </a:pPr>
            <a:r>
              <a:rPr sz="2100" b="1" i="0" u="none" cap="none">
                <a:solidFill>
                  <a:srgbClr val="FFFFFF"/>
                </a:solidFill>
                <a:latin typeface="Arial"/>
                <a:ea typeface="Arial"/>
                <a:cs typeface="Arial"/>
              </a:rPr>
              <a:t>Do not drift from pilot testing into full data collection without a documented decision.</a:t>
            </a:r>
          </a:p>
        </p:txBody>
      </p:sp>
    </p:spTree>
    <p:extLst>
      <p:ext uri="{BB962C8B-B14F-4D97-AF65-F5344CB8AC3E}">
        <p14:creationId xmlns:p14="http://schemas.microsoft.com/office/powerpoint/2010/main" val="151944970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44" name="Google Shape;344;p17">
            <a:extLst xmlns:a="http://schemas.openxmlformats.org/drawingml/2006/main">
              <a:ext uri="{FF2B5EF4-FFF2-40B4-BE49-F238E27FC236}">
                <a16:creationId xmlns:a16="http://schemas.microsoft.com/office/drawing/2014/main" id="{995987C5-8848-4102-85AD-6939CC62C70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7">
            <a:extLst xmlns:a="http://schemas.openxmlformats.org/drawingml/2006/main">
              <a:ext uri="{FF2B5EF4-FFF2-40B4-BE49-F238E27FC236}">
                <a16:creationId xmlns:a16="http://schemas.microsoft.com/office/drawing/2014/main" id="{474CEC41-0786-4BFF-B322-8FA435D3A6D6}"/>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7">
            <a:extLst xmlns:a="http://schemas.openxmlformats.org/drawingml/2006/main">
              <a:ext uri="{FF2B5EF4-FFF2-40B4-BE49-F238E27FC236}">
                <a16:creationId xmlns:a16="http://schemas.microsoft.com/office/drawing/2014/main" id="{5AB782D4-4DEB-493D-AE7B-0806238CA1EE}"/>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7" name="Google Shape;347;p17">
            <a:extLst xmlns:a="http://schemas.openxmlformats.org/drawingml/2006/main">
              <a:ext uri="{FF2B5EF4-FFF2-40B4-BE49-F238E27FC236}">
                <a16:creationId xmlns:a16="http://schemas.microsoft.com/office/drawing/2014/main" id="{959A8000-8A34-445B-B54D-FB1068B8C911}"/>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Method Revision Rule</a:t>
            </a:r>
          </a:p>
        </p:txBody>
      </p:sp>
      <p:sp>
        <p:nvSpPr>
          <p:cNvPr id="348" name="Google Shape;348;p17">
            <a:extLst xmlns:a="http://schemas.openxmlformats.org/drawingml/2006/main">
              <a:ext uri="{FF2B5EF4-FFF2-40B4-BE49-F238E27FC236}">
                <a16:creationId xmlns:a16="http://schemas.microsoft.com/office/drawing/2014/main" id="{9C90D141-F8AB-4571-9696-ACFEAE779F38}"/>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9" name="Google Shape;349;p17">
            <a:extLst xmlns:a="http://schemas.openxmlformats.org/drawingml/2006/main">
              <a:ext uri="{FF2B5EF4-FFF2-40B4-BE49-F238E27FC236}">
                <a16:creationId xmlns:a16="http://schemas.microsoft.com/office/drawing/2014/main" id="{FD3A8D17-D779-4AC9-9A8B-80246BE87763}"/>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50" name="Google Shape;350;p17">
            <a:extLst xmlns:a="http://schemas.openxmlformats.org/drawingml/2006/main">
              <a:ext uri="{FF2B5EF4-FFF2-40B4-BE49-F238E27FC236}">
                <a16:creationId xmlns:a16="http://schemas.microsoft.com/office/drawing/2014/main" id="{797A0084-90A6-4AD9-9646-07276126CEE6}"/>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51" name="Google Shape;351;p17">
            <a:extLst xmlns:a="http://schemas.openxmlformats.org/drawingml/2006/main">
              <a:ext uri="{FF2B5EF4-FFF2-40B4-BE49-F238E27FC236}">
                <a16:creationId xmlns:a16="http://schemas.microsoft.com/office/drawing/2014/main" id="{E1E33846-55C9-4504-BDEB-37FE7D20F2DC}"/>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14</a:t>
            </a:r>
          </a:p>
        </p:txBody>
      </p:sp>
      <p:sp>
        <p:nvSpPr>
          <p:cNvPr id="352" name="Google Shape;352;p17">
            <a:extLst xmlns:a="http://schemas.openxmlformats.org/drawingml/2006/main">
              <a:ext uri="{FF2B5EF4-FFF2-40B4-BE49-F238E27FC236}">
                <a16:creationId xmlns:a16="http://schemas.microsoft.com/office/drawing/2014/main" id="{8F1915A8-50A6-4719-B2C0-1B1ABBCC562D}"/>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Every change needs a reason.</a:t>
            </a:r>
          </a:p>
        </p:txBody>
      </p:sp>
      <p:sp>
        <p:nvSpPr>
          <p:cNvPr id="353" name="Google Shape;353;p17">
            <a:extLst xmlns:a="http://schemas.openxmlformats.org/drawingml/2006/main">
              <a:ext uri="{FF2B5EF4-FFF2-40B4-BE49-F238E27FC236}">
                <a16:creationId xmlns:a16="http://schemas.microsoft.com/office/drawing/2014/main" id="{A368A453-F733-403B-8707-0682F4D0504B}"/>
              </a:ext>
            </a:extLst>
          </p:cNvPr>
          <p:cNvSpPr>
            <a:spLocks xmlns:a="http://schemas.openxmlformats.org/drawingml/2006/main" noGrp="1"/>
          </p:cNvSpPr>
          <p:nvPr/>
        </p:nvSpPr>
        <p:spPr>
          <a:xfrm xmlns:a="http://schemas.openxmlformats.org/drawingml/2006/main">
            <a:off x="822960" y="1874520"/>
            <a:ext cx="9144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1" i="0" u="none" cap="none">
                <a:solidFill>
                  <a:srgbClr val="FFFFFF"/>
                </a:solidFill>
                <a:latin typeface="Arial"/>
                <a:ea typeface="Arial"/>
                <a:cs typeface="Arial"/>
              </a:rPr>
              <a:t>A strong revision says:</a:t>
            </a:r>
          </a:p>
        </p:txBody>
      </p:sp>
      <p:sp>
        <p:nvSpPr>
          <p:cNvPr id="354" name="Google Shape;354;p17">
            <a:extLst xmlns:a="http://schemas.openxmlformats.org/drawingml/2006/main">
              <a:ext uri="{FF2B5EF4-FFF2-40B4-BE49-F238E27FC236}">
                <a16:creationId xmlns:a16="http://schemas.microsoft.com/office/drawing/2014/main" id="{229B40C0-4123-40E9-A90E-10C508F01189}"/>
              </a:ext>
            </a:extLst>
          </p:cNvPr>
          <p:cNvSpPr>
            <a:spLocks xmlns:a="http://schemas.openxmlformats.org/drawingml/2006/main" noGrp="1"/>
          </p:cNvSpPr>
          <p:nvPr/>
        </p:nvSpPr>
        <p:spPr>
          <a:xfrm xmlns:a="http://schemas.openxmlformats.org/drawingml/2006/main">
            <a:off x="914400" y="2331720"/>
            <a:ext cx="10332720" cy="685800"/>
          </a:xfrm>
          <a:prstGeom xmlns:a="http://schemas.openxmlformats.org/drawingml/2006/main" prst="roundRect">
            <a:avLst>
              <a:gd name="adj" fmla="val 10667"/>
            </a:avLst>
          </a:prstGeom>
          <a:solidFill xmlns:a="http://schemas.openxmlformats.org/drawingml/2006/main">
            <a:srgbClr val="111111"/>
          </a:solidFill>
          <a:ln xmlns:a="http://schemas.openxmlformats.org/drawingml/2006/main" w="16500" cmpd="sng">
            <a:solidFill>
              <a:srgbClr val="E3262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5" name="Google Shape;355;p17">
            <a:extLst xmlns:a="http://schemas.openxmlformats.org/drawingml/2006/main">
              <a:ext uri="{FF2B5EF4-FFF2-40B4-BE49-F238E27FC236}">
                <a16:creationId xmlns:a16="http://schemas.microsoft.com/office/drawing/2014/main" id="{B652AADB-DE5D-4FF4-95EB-D026590506A9}"/>
              </a:ext>
            </a:extLst>
          </p:cNvPr>
          <p:cNvSpPr>
            <a:spLocks xmlns:a="http://schemas.openxmlformats.org/drawingml/2006/main" noGrp="1"/>
          </p:cNvSpPr>
          <p:nvPr/>
        </p:nvSpPr>
        <p:spPr>
          <a:xfrm xmlns:a="http://schemas.openxmlformats.org/drawingml/2006/main">
            <a:off x="1143000" y="2523744"/>
            <a:ext cx="9875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000"/>
              <a:buFont typeface="Arial"/>
              <a:buNone/>
            </a:pPr>
            <a:r>
              <a:rPr sz="2000" b="1" i="0" u="none" cap="none">
                <a:solidFill>
                  <a:srgbClr val="FFFFFF"/>
                </a:solidFill>
                <a:latin typeface="Arial"/>
                <a:ea typeface="Arial"/>
                <a:cs typeface="Arial"/>
              </a:rPr>
              <a:t>“I changed ______ because the pilot test showed ______.”</a:t>
            </a:r>
          </a:p>
        </p:txBody>
      </p:sp>
      <p:sp>
        <p:nvSpPr>
          <p:cNvPr id="356" name="Google Shape;356;p17">
            <a:extLst xmlns:a="http://schemas.openxmlformats.org/drawingml/2006/main">
              <a:ext uri="{FF2B5EF4-FFF2-40B4-BE49-F238E27FC236}">
                <a16:creationId xmlns:a16="http://schemas.microsoft.com/office/drawing/2014/main" id="{E776FEF5-BDFB-4B78-B13C-0807A488268A}"/>
              </a:ext>
            </a:extLst>
          </p:cNvPr>
          <p:cNvSpPr>
            <a:spLocks xmlns:a="http://schemas.openxmlformats.org/drawingml/2006/main" noGrp="1"/>
          </p:cNvSpPr>
          <p:nvPr/>
        </p:nvSpPr>
        <p:spPr>
          <a:xfrm xmlns:a="http://schemas.openxmlformats.org/drawingml/2006/main">
            <a:off x="914400" y="3657600"/>
            <a:ext cx="4480560" cy="1417320"/>
          </a:xfrm>
          <a:prstGeom xmlns:a="http://schemas.openxmlformats.org/drawingml/2006/main" prst="roundRect">
            <a:avLst>
              <a:gd name="adj" fmla="val 5161"/>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7" name="Google Shape;357;p17">
            <a:extLst xmlns:a="http://schemas.openxmlformats.org/drawingml/2006/main">
              <a:ext uri="{FF2B5EF4-FFF2-40B4-BE49-F238E27FC236}">
                <a16:creationId xmlns:a16="http://schemas.microsoft.com/office/drawing/2014/main" id="{2A0C27AF-D80E-492D-BFEB-27D6A4D0500A}"/>
              </a:ext>
            </a:extLst>
          </p:cNvPr>
          <p:cNvSpPr>
            <a:spLocks xmlns:a="http://schemas.openxmlformats.org/drawingml/2006/main" noGrp="1"/>
          </p:cNvSpPr>
          <p:nvPr/>
        </p:nvSpPr>
        <p:spPr>
          <a:xfrm xmlns:a="http://schemas.openxmlformats.org/drawingml/2006/main">
            <a:off x="914400" y="3657600"/>
            <a:ext cx="54864" cy="1417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8" name="Google Shape;358;p17">
            <a:extLst xmlns:a="http://schemas.openxmlformats.org/drawingml/2006/main">
              <a:ext uri="{FF2B5EF4-FFF2-40B4-BE49-F238E27FC236}">
                <a16:creationId xmlns:a16="http://schemas.microsoft.com/office/drawing/2014/main" id="{0462EA6D-6F80-407A-A97D-9F70E6AC9BD6}"/>
              </a:ext>
            </a:extLst>
          </p:cNvPr>
          <p:cNvSpPr>
            <a:spLocks xmlns:a="http://schemas.openxmlformats.org/drawingml/2006/main" noGrp="1"/>
          </p:cNvSpPr>
          <p:nvPr/>
        </p:nvSpPr>
        <p:spPr>
          <a:xfrm xmlns:a="http://schemas.openxmlformats.org/drawingml/2006/main">
            <a:off x="1078992" y="3803904"/>
            <a:ext cx="42062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Not enough</a:t>
            </a:r>
          </a:p>
        </p:txBody>
      </p:sp>
      <p:sp>
        <p:nvSpPr>
          <p:cNvPr id="359" name="Google Shape;359;p17">
            <a:extLst xmlns:a="http://schemas.openxmlformats.org/drawingml/2006/main">
              <a:ext uri="{FF2B5EF4-FFF2-40B4-BE49-F238E27FC236}">
                <a16:creationId xmlns:a16="http://schemas.microsoft.com/office/drawing/2014/main" id="{49E58C2F-9761-4E2D-BF33-BC72AEB8C782}"/>
              </a:ext>
            </a:extLst>
          </p:cNvPr>
          <p:cNvSpPr>
            <a:spLocks xmlns:a="http://schemas.openxmlformats.org/drawingml/2006/main" noGrp="1"/>
          </p:cNvSpPr>
          <p:nvPr/>
        </p:nvSpPr>
        <p:spPr>
          <a:xfrm xmlns:a="http://schemas.openxmlformats.org/drawingml/2006/main">
            <a:off x="1078992" y="4133088"/>
            <a:ext cx="4187952"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 changed it because it didn’t work.”</a:t>
            </a:r>
          </a:p>
        </p:txBody>
      </p:sp>
      <p:sp>
        <p:nvSpPr>
          <p:cNvPr id="360" name="Google Shape;360;p17">
            <a:extLst xmlns:a="http://schemas.openxmlformats.org/drawingml/2006/main">
              <a:ext uri="{FF2B5EF4-FFF2-40B4-BE49-F238E27FC236}">
                <a16:creationId xmlns:a16="http://schemas.microsoft.com/office/drawing/2014/main" id="{5EC421C2-A9CB-45A2-BDEB-6D6E89C9E248}"/>
              </a:ext>
            </a:extLst>
          </p:cNvPr>
          <p:cNvSpPr>
            <a:spLocks xmlns:a="http://schemas.openxmlformats.org/drawingml/2006/main" noGrp="1"/>
          </p:cNvSpPr>
          <p:nvPr/>
        </p:nvSpPr>
        <p:spPr>
          <a:xfrm xmlns:a="http://schemas.openxmlformats.org/drawingml/2006/main">
            <a:off x="6035040" y="3657600"/>
            <a:ext cx="5212080" cy="1417320"/>
          </a:xfrm>
          <a:prstGeom xmlns:a="http://schemas.openxmlformats.org/drawingml/2006/main" prst="roundRect">
            <a:avLst>
              <a:gd name="adj" fmla="val 5161"/>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1" name="Google Shape;361;p17">
            <a:extLst xmlns:a="http://schemas.openxmlformats.org/drawingml/2006/main">
              <a:ext uri="{FF2B5EF4-FFF2-40B4-BE49-F238E27FC236}">
                <a16:creationId xmlns:a16="http://schemas.microsoft.com/office/drawing/2014/main" id="{E4E4A8FB-76F7-4411-B9A5-C68B27190342}"/>
              </a:ext>
            </a:extLst>
          </p:cNvPr>
          <p:cNvSpPr>
            <a:spLocks xmlns:a="http://schemas.openxmlformats.org/drawingml/2006/main" noGrp="1"/>
          </p:cNvSpPr>
          <p:nvPr/>
        </p:nvSpPr>
        <p:spPr>
          <a:xfrm xmlns:a="http://schemas.openxmlformats.org/drawingml/2006/main">
            <a:off x="6035040" y="3657600"/>
            <a:ext cx="54864" cy="1417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2" name="Google Shape;362;p17">
            <a:extLst xmlns:a="http://schemas.openxmlformats.org/drawingml/2006/main">
              <a:ext uri="{FF2B5EF4-FFF2-40B4-BE49-F238E27FC236}">
                <a16:creationId xmlns:a16="http://schemas.microsoft.com/office/drawing/2014/main" id="{5FDC9EBE-A3D2-46B3-A727-A07684E16301}"/>
              </a:ext>
            </a:extLst>
          </p:cNvPr>
          <p:cNvSpPr>
            <a:spLocks xmlns:a="http://schemas.openxmlformats.org/drawingml/2006/main" noGrp="1"/>
          </p:cNvSpPr>
          <p:nvPr/>
        </p:nvSpPr>
        <p:spPr>
          <a:xfrm xmlns:a="http://schemas.openxmlformats.org/drawingml/2006/main">
            <a:off x="6199632" y="3803904"/>
            <a:ext cx="49377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Better</a:t>
            </a:r>
          </a:p>
        </p:txBody>
      </p:sp>
      <p:sp>
        <p:nvSpPr>
          <p:cNvPr id="363" name="Google Shape;363;p17">
            <a:extLst xmlns:a="http://schemas.openxmlformats.org/drawingml/2006/main">
              <a:ext uri="{FF2B5EF4-FFF2-40B4-BE49-F238E27FC236}">
                <a16:creationId xmlns:a16="http://schemas.microsoft.com/office/drawing/2014/main" id="{98FF2D0A-DA37-4AA9-A652-BF3E47D3E99C}"/>
              </a:ext>
            </a:extLst>
          </p:cNvPr>
          <p:cNvSpPr>
            <a:spLocks xmlns:a="http://schemas.openxmlformats.org/drawingml/2006/main" noGrp="1"/>
          </p:cNvSpPr>
          <p:nvPr/>
        </p:nvSpPr>
        <p:spPr>
          <a:xfrm xmlns:a="http://schemas.openxmlformats.org/drawingml/2006/main">
            <a:off x="6199632" y="4133088"/>
            <a:ext cx="4919472" cy="850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scale could not measure changes below 0.1 g, so I switched to measuring volume change instead.”</a:t>
            </a:r>
          </a:p>
        </p:txBody>
      </p:sp>
    </p:spTree>
    <p:extLst>
      <p:ext uri="{BB962C8B-B14F-4D97-AF65-F5344CB8AC3E}">
        <p14:creationId xmlns:p14="http://schemas.microsoft.com/office/powerpoint/2010/main" val="25459498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69" name="Google Shape;369;p18">
            <a:extLst xmlns:a="http://schemas.openxmlformats.org/drawingml/2006/main">
              <a:ext uri="{FF2B5EF4-FFF2-40B4-BE49-F238E27FC236}">
                <a16:creationId xmlns:a16="http://schemas.microsoft.com/office/drawing/2014/main" id="{3B169F52-5284-4004-A2C0-9937AD87784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0" name="Google Shape;370;p18">
            <a:extLst xmlns:a="http://schemas.openxmlformats.org/drawingml/2006/main">
              <a:ext uri="{FF2B5EF4-FFF2-40B4-BE49-F238E27FC236}">
                <a16:creationId xmlns:a16="http://schemas.microsoft.com/office/drawing/2014/main" id="{670CE3CA-1696-4AA0-BE60-0176D85D04C9}"/>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1" name="Google Shape;371;p18">
            <a:extLst xmlns:a="http://schemas.openxmlformats.org/drawingml/2006/main">
              <a:ext uri="{FF2B5EF4-FFF2-40B4-BE49-F238E27FC236}">
                <a16:creationId xmlns:a16="http://schemas.microsoft.com/office/drawing/2014/main" id="{2F1A4FEA-99C2-485B-8210-5519B4491C57}"/>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2" name="Google Shape;372;p18">
            <a:extLst xmlns:a="http://schemas.openxmlformats.org/drawingml/2006/main">
              <a:ext uri="{FF2B5EF4-FFF2-40B4-BE49-F238E27FC236}">
                <a16:creationId xmlns:a16="http://schemas.microsoft.com/office/drawing/2014/main" id="{03A346F7-483E-4554-AC4B-84928097D1EE}"/>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Troubleshooting Language</a:t>
            </a:r>
          </a:p>
        </p:txBody>
      </p:sp>
      <p:sp>
        <p:nvSpPr>
          <p:cNvPr id="373" name="Google Shape;373;p18">
            <a:extLst xmlns:a="http://schemas.openxmlformats.org/drawingml/2006/main">
              <a:ext uri="{FF2B5EF4-FFF2-40B4-BE49-F238E27FC236}">
                <a16:creationId xmlns:a16="http://schemas.microsoft.com/office/drawing/2014/main" id="{5EB8908E-FCAA-4F2B-87AB-B33A80F127F2}"/>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4" name="Google Shape;374;p18">
            <a:extLst xmlns:a="http://schemas.openxmlformats.org/drawingml/2006/main">
              <a:ext uri="{FF2B5EF4-FFF2-40B4-BE49-F238E27FC236}">
                <a16:creationId xmlns:a16="http://schemas.microsoft.com/office/drawing/2014/main" id="{C9B979F9-DAB6-4571-B1CE-BD896FAC21C2}"/>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75" name="Google Shape;375;p18">
            <a:extLst xmlns:a="http://schemas.openxmlformats.org/drawingml/2006/main">
              <a:ext uri="{FF2B5EF4-FFF2-40B4-BE49-F238E27FC236}">
                <a16:creationId xmlns:a16="http://schemas.microsoft.com/office/drawing/2014/main" id="{CF1887F0-1D96-4471-80FD-C40740D5471D}"/>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76" name="Google Shape;376;p18">
            <a:extLst xmlns:a="http://schemas.openxmlformats.org/drawingml/2006/main">
              <a:ext uri="{FF2B5EF4-FFF2-40B4-BE49-F238E27FC236}">
                <a16:creationId xmlns:a16="http://schemas.microsoft.com/office/drawing/2014/main" id="{927E4842-FEA7-4736-8A93-136526C8AD95}"/>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15</a:t>
            </a:r>
          </a:p>
        </p:txBody>
      </p:sp>
      <p:sp>
        <p:nvSpPr>
          <p:cNvPr id="377" name="Google Shape;377;p18">
            <a:extLst xmlns:a="http://schemas.openxmlformats.org/drawingml/2006/main">
              <a:ext uri="{FF2B5EF4-FFF2-40B4-BE49-F238E27FC236}">
                <a16:creationId xmlns:a16="http://schemas.microsoft.com/office/drawing/2014/main" id="{9955320C-F257-4521-BDFE-D6D0A21C0BC5}"/>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Use precise language when a pilot test fails.</a:t>
            </a:r>
          </a:p>
        </p:txBody>
      </p:sp>
      <p:sp>
        <p:nvSpPr>
          <p:cNvPr id="378" name="Google Shape;378;p18">
            <a:extLst xmlns:a="http://schemas.openxmlformats.org/drawingml/2006/main">
              <a:ext uri="{FF2B5EF4-FFF2-40B4-BE49-F238E27FC236}">
                <a16:creationId xmlns:a16="http://schemas.microsoft.com/office/drawing/2014/main" id="{65D196F1-6FF3-4639-BA6A-32D1A0D5C401}"/>
              </a:ext>
            </a:extLst>
          </p:cNvPr>
          <p:cNvSpPr>
            <a:spLocks xmlns:a="http://schemas.openxmlformats.org/drawingml/2006/main" noGrp="1"/>
          </p:cNvSpPr>
          <p:nvPr/>
        </p:nvSpPr>
        <p:spPr>
          <a:xfrm xmlns:a="http://schemas.openxmlformats.org/drawingml/2006/main">
            <a:off x="822960" y="1828800"/>
            <a:ext cx="5029200" cy="2560320"/>
          </a:xfrm>
          <a:prstGeom xmlns:a="http://schemas.openxmlformats.org/drawingml/2006/main" prst="roundRect">
            <a:avLst>
              <a:gd name="adj" fmla="val 285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9" name="Google Shape;379;p18">
            <a:extLst xmlns:a="http://schemas.openxmlformats.org/drawingml/2006/main">
              <a:ext uri="{FF2B5EF4-FFF2-40B4-BE49-F238E27FC236}">
                <a16:creationId xmlns:a16="http://schemas.microsoft.com/office/drawing/2014/main" id="{380A51CE-E2AB-427D-85C5-D26CBA7FA334}"/>
              </a:ext>
            </a:extLst>
          </p:cNvPr>
          <p:cNvSpPr>
            <a:spLocks xmlns:a="http://schemas.openxmlformats.org/drawingml/2006/main" noGrp="1"/>
          </p:cNvSpPr>
          <p:nvPr/>
        </p:nvSpPr>
        <p:spPr>
          <a:xfrm xmlns:a="http://schemas.openxmlformats.org/drawingml/2006/main">
            <a:off x="822960" y="1828800"/>
            <a:ext cx="54864" cy="2560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0" name="Google Shape;380;p18">
            <a:extLst xmlns:a="http://schemas.openxmlformats.org/drawingml/2006/main">
              <a:ext uri="{FF2B5EF4-FFF2-40B4-BE49-F238E27FC236}">
                <a16:creationId xmlns:a16="http://schemas.microsoft.com/office/drawing/2014/main" id="{05598661-937C-464A-8E71-595FFFE8CC16}"/>
              </a:ext>
            </a:extLst>
          </p:cNvPr>
          <p:cNvSpPr>
            <a:spLocks xmlns:a="http://schemas.openxmlformats.org/drawingml/2006/main" noGrp="1"/>
          </p:cNvSpPr>
          <p:nvPr/>
        </p:nvSpPr>
        <p:spPr>
          <a:xfrm xmlns:a="http://schemas.openxmlformats.org/drawingml/2006/main">
            <a:off x="987552" y="1975104"/>
            <a:ext cx="4754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Useful sentence frames</a:t>
            </a:r>
          </a:p>
        </p:txBody>
      </p:sp>
      <p:sp>
        <p:nvSpPr>
          <p:cNvPr id="381" name="Google Shape;381;p18">
            <a:extLst xmlns:a="http://schemas.openxmlformats.org/drawingml/2006/main">
              <a:ext uri="{FF2B5EF4-FFF2-40B4-BE49-F238E27FC236}">
                <a16:creationId xmlns:a16="http://schemas.microsoft.com/office/drawing/2014/main" id="{82CEB94A-4D65-4EBC-AD93-64F5EADCF94A}"/>
              </a:ext>
            </a:extLst>
          </p:cNvPr>
          <p:cNvSpPr>
            <a:spLocks xmlns:a="http://schemas.openxmlformats.org/drawingml/2006/main" noGrp="1"/>
          </p:cNvSpPr>
          <p:nvPr/>
        </p:nvSpPr>
        <p:spPr>
          <a:xfrm xmlns:a="http://schemas.openxmlformats.org/drawingml/2006/main">
            <a:off x="987552" y="2304288"/>
            <a:ext cx="4736592" cy="1993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problem I observed was…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One possible cause is…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Evidence for that cause is…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To test this, I will…</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This change requires approval because…</a:t>
            </a:r>
          </a:p>
        </p:txBody>
      </p:sp>
      <p:sp>
        <p:nvSpPr>
          <p:cNvPr id="382" name="Google Shape;382;p18">
            <a:extLst xmlns:a="http://schemas.openxmlformats.org/drawingml/2006/main">
              <a:ext uri="{FF2B5EF4-FFF2-40B4-BE49-F238E27FC236}">
                <a16:creationId xmlns:a16="http://schemas.microsoft.com/office/drawing/2014/main" id="{F9B96529-B327-4ABE-BEF0-6D0651F5F3D9}"/>
              </a:ext>
            </a:extLst>
          </p:cNvPr>
          <p:cNvSpPr>
            <a:spLocks xmlns:a="http://schemas.openxmlformats.org/drawingml/2006/main" noGrp="1"/>
          </p:cNvSpPr>
          <p:nvPr/>
        </p:nvSpPr>
        <p:spPr>
          <a:xfrm xmlns:a="http://schemas.openxmlformats.org/drawingml/2006/main">
            <a:off x="6400800" y="1828800"/>
            <a:ext cx="4480560" cy="2560320"/>
          </a:xfrm>
          <a:prstGeom xmlns:a="http://schemas.openxmlformats.org/drawingml/2006/main" prst="roundRect">
            <a:avLst>
              <a:gd name="adj" fmla="val 285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3" name="Google Shape;383;p18">
            <a:extLst xmlns:a="http://schemas.openxmlformats.org/drawingml/2006/main">
              <a:ext uri="{FF2B5EF4-FFF2-40B4-BE49-F238E27FC236}">
                <a16:creationId xmlns:a16="http://schemas.microsoft.com/office/drawing/2014/main" id="{AB348D8B-F776-4293-B109-21889C86E207}"/>
              </a:ext>
            </a:extLst>
          </p:cNvPr>
          <p:cNvSpPr>
            <a:spLocks xmlns:a="http://schemas.openxmlformats.org/drawingml/2006/main" noGrp="1"/>
          </p:cNvSpPr>
          <p:nvPr/>
        </p:nvSpPr>
        <p:spPr>
          <a:xfrm xmlns:a="http://schemas.openxmlformats.org/drawingml/2006/main">
            <a:off x="6400800" y="1828800"/>
            <a:ext cx="54864" cy="256032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4" name="Google Shape;384;p18">
            <a:extLst xmlns:a="http://schemas.openxmlformats.org/drawingml/2006/main">
              <a:ext uri="{FF2B5EF4-FFF2-40B4-BE49-F238E27FC236}">
                <a16:creationId xmlns:a16="http://schemas.microsoft.com/office/drawing/2014/main" id="{BBAC2305-1A74-4C46-88FE-6730DC36A9F3}"/>
              </a:ext>
            </a:extLst>
          </p:cNvPr>
          <p:cNvSpPr>
            <a:spLocks xmlns:a="http://schemas.openxmlformats.org/drawingml/2006/main" noGrp="1"/>
          </p:cNvSpPr>
          <p:nvPr/>
        </p:nvSpPr>
        <p:spPr>
          <a:xfrm xmlns:a="http://schemas.openxmlformats.org/drawingml/2006/main">
            <a:off x="6565392" y="1975104"/>
            <a:ext cx="42062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Matched handout</a:t>
            </a:r>
          </a:p>
        </p:txBody>
      </p:sp>
      <p:sp>
        <p:nvSpPr>
          <p:cNvPr id="385" name="Google Shape;385;p18">
            <a:extLst xmlns:a="http://schemas.openxmlformats.org/drawingml/2006/main">
              <a:ext uri="{FF2B5EF4-FFF2-40B4-BE49-F238E27FC236}">
                <a16:creationId xmlns:a16="http://schemas.microsoft.com/office/drawing/2014/main" id="{D86D9A41-308A-457D-BEF6-029F650869DF}"/>
              </a:ext>
            </a:extLst>
          </p:cNvPr>
          <p:cNvSpPr>
            <a:spLocks xmlns:a="http://schemas.openxmlformats.org/drawingml/2006/main" noGrp="1"/>
          </p:cNvSpPr>
          <p:nvPr/>
        </p:nvSpPr>
        <p:spPr>
          <a:xfrm xmlns:a="http://schemas.openxmlformats.org/drawingml/2006/main">
            <a:off x="6565392" y="2304288"/>
            <a:ext cx="4187952" cy="19933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Pilot Test Reflection and Troubleshooting Log</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The goal is not to sound fancy. The goal is to make the problem solvable.</a:t>
            </a:r>
          </a:p>
        </p:txBody>
      </p:sp>
    </p:spTree>
    <p:extLst>
      <p:ext uri="{BB962C8B-B14F-4D97-AF65-F5344CB8AC3E}">
        <p14:creationId xmlns:p14="http://schemas.microsoft.com/office/powerpoint/2010/main" val="1699564641"/>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91" name="Google Shape;391;p19">
            <a:extLst xmlns:a="http://schemas.openxmlformats.org/drawingml/2006/main">
              <a:ext uri="{FF2B5EF4-FFF2-40B4-BE49-F238E27FC236}">
                <a16:creationId xmlns:a16="http://schemas.microsoft.com/office/drawing/2014/main" id="{A0A6F7B2-7D7C-4544-8EB6-7510DA584AE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2" name="Google Shape;392;p19">
            <a:extLst xmlns:a="http://schemas.openxmlformats.org/drawingml/2006/main">
              <a:ext uri="{FF2B5EF4-FFF2-40B4-BE49-F238E27FC236}">
                <a16:creationId xmlns:a16="http://schemas.microsoft.com/office/drawing/2014/main" id="{1478612C-23D8-4449-8E91-5AA574DD0126}"/>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3" name="Google Shape;393;p19">
            <a:extLst xmlns:a="http://schemas.openxmlformats.org/drawingml/2006/main">
              <a:ext uri="{FF2B5EF4-FFF2-40B4-BE49-F238E27FC236}">
                <a16:creationId xmlns:a16="http://schemas.microsoft.com/office/drawing/2014/main" id="{E47F463A-3548-4F50-AEEE-530890686A74}"/>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4" name="Google Shape;394;p19">
            <a:extLst xmlns:a="http://schemas.openxmlformats.org/drawingml/2006/main">
              <a:ext uri="{FF2B5EF4-FFF2-40B4-BE49-F238E27FC236}">
                <a16:creationId xmlns:a16="http://schemas.microsoft.com/office/drawing/2014/main" id="{3EBA3C9D-3B31-488B-B8AE-3D9C6DEA90F6}"/>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Student Activity: Failed Pilot Scenario</a:t>
            </a:r>
          </a:p>
        </p:txBody>
      </p:sp>
      <p:sp>
        <p:nvSpPr>
          <p:cNvPr id="395" name="Google Shape;395;p19">
            <a:extLst xmlns:a="http://schemas.openxmlformats.org/drawingml/2006/main">
              <a:ext uri="{FF2B5EF4-FFF2-40B4-BE49-F238E27FC236}">
                <a16:creationId xmlns:a16="http://schemas.microsoft.com/office/drawing/2014/main" id="{B3358CFF-6D60-4826-BD44-AEDC3D64C895}"/>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6" name="Google Shape;396;p19">
            <a:extLst xmlns:a="http://schemas.openxmlformats.org/drawingml/2006/main">
              <a:ext uri="{FF2B5EF4-FFF2-40B4-BE49-F238E27FC236}">
                <a16:creationId xmlns:a16="http://schemas.microsoft.com/office/drawing/2014/main" id="{80CFCBF3-6E0B-418C-B6F1-4D154B46BA2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397" name="Google Shape;397;p19">
            <a:extLst xmlns:a="http://schemas.openxmlformats.org/drawingml/2006/main">
              <a:ext uri="{FF2B5EF4-FFF2-40B4-BE49-F238E27FC236}">
                <a16:creationId xmlns:a16="http://schemas.microsoft.com/office/drawing/2014/main" id="{A7B65B03-9660-4868-A202-074BF14B42A9}"/>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398" name="Google Shape;398;p19">
            <a:extLst xmlns:a="http://schemas.openxmlformats.org/drawingml/2006/main">
              <a:ext uri="{FF2B5EF4-FFF2-40B4-BE49-F238E27FC236}">
                <a16:creationId xmlns:a16="http://schemas.microsoft.com/office/drawing/2014/main" id="{DBE78E5E-3D1A-45A0-9C4E-D5AADCD38783}"/>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16</a:t>
            </a:r>
          </a:p>
        </p:txBody>
      </p:sp>
      <p:sp>
        <p:nvSpPr>
          <p:cNvPr id="399" name="Google Shape;399;p19">
            <a:extLst xmlns:a="http://schemas.openxmlformats.org/drawingml/2006/main">
              <a:ext uri="{FF2B5EF4-FFF2-40B4-BE49-F238E27FC236}">
                <a16:creationId xmlns:a16="http://schemas.microsoft.com/office/drawing/2014/main" id="{A38AFCE3-161D-45C9-B4A4-9DCD91DBFC8E}"/>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Practice diagnosing a pilot test before diagnosing your own.</a:t>
            </a:r>
          </a:p>
        </p:txBody>
      </p:sp>
      <p:sp>
        <p:nvSpPr>
          <p:cNvPr id="400" name="Google Shape;400;p19">
            <a:extLst xmlns:a="http://schemas.openxmlformats.org/drawingml/2006/main">
              <a:ext uri="{FF2B5EF4-FFF2-40B4-BE49-F238E27FC236}">
                <a16:creationId xmlns:a16="http://schemas.microsoft.com/office/drawing/2014/main" id="{51E35381-4172-48AD-B061-62A62AD3859E}"/>
              </a:ext>
            </a:extLst>
          </p:cNvPr>
          <p:cNvSpPr>
            <a:spLocks xmlns:a="http://schemas.openxmlformats.org/drawingml/2006/main" noGrp="1"/>
          </p:cNvSpPr>
          <p:nvPr/>
        </p:nvSpPr>
        <p:spPr>
          <a:xfrm xmlns:a="http://schemas.openxmlformats.org/drawingml/2006/main">
            <a:off x="777240" y="1828800"/>
            <a:ext cx="530352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1" name="Google Shape;401;p19">
            <a:extLst xmlns:a="http://schemas.openxmlformats.org/drawingml/2006/main">
              <a:ext uri="{FF2B5EF4-FFF2-40B4-BE49-F238E27FC236}">
                <a16:creationId xmlns:a16="http://schemas.microsoft.com/office/drawing/2014/main" id="{EFAE4B3D-B683-4EEF-BFCB-2462C6005A57}"/>
              </a:ext>
            </a:extLst>
          </p:cNvPr>
          <p:cNvSpPr>
            <a:spLocks xmlns:a="http://schemas.openxmlformats.org/drawingml/2006/main" noGrp="1"/>
          </p:cNvSpPr>
          <p:nvPr/>
        </p:nvSpPr>
        <p:spPr>
          <a:xfrm xmlns:a="http://schemas.openxmlformats.org/drawingml/2006/main">
            <a:off x="777240" y="182880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2" name="Google Shape;402;p19">
            <a:extLst xmlns:a="http://schemas.openxmlformats.org/drawingml/2006/main">
              <a:ext uri="{FF2B5EF4-FFF2-40B4-BE49-F238E27FC236}">
                <a16:creationId xmlns:a16="http://schemas.microsoft.com/office/drawing/2014/main" id="{5E637CEF-A852-48A0-B3B0-0E05301EF3A8}"/>
              </a:ext>
            </a:extLst>
          </p:cNvPr>
          <p:cNvSpPr>
            <a:spLocks xmlns:a="http://schemas.openxmlformats.org/drawingml/2006/main" noGrp="1"/>
          </p:cNvSpPr>
          <p:nvPr/>
        </p:nvSpPr>
        <p:spPr>
          <a:xfrm xmlns:a="http://schemas.openxmlformats.org/drawingml/2006/main">
            <a:off x="941832" y="1975104"/>
            <a:ext cx="502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Scenario</a:t>
            </a:r>
          </a:p>
        </p:txBody>
      </p:sp>
      <p:sp>
        <p:nvSpPr>
          <p:cNvPr id="403" name="Google Shape;403;p19">
            <a:extLst xmlns:a="http://schemas.openxmlformats.org/drawingml/2006/main">
              <a:ext uri="{FF2B5EF4-FFF2-40B4-BE49-F238E27FC236}">
                <a16:creationId xmlns:a16="http://schemas.microsoft.com/office/drawing/2014/main" id="{CF54439A-4CEB-411D-B729-5D37B3DA883F}"/>
              </a:ext>
            </a:extLst>
          </p:cNvPr>
          <p:cNvSpPr>
            <a:spLocks xmlns:a="http://schemas.openxmlformats.org/drawingml/2006/main" noGrp="1"/>
          </p:cNvSpPr>
          <p:nvPr/>
        </p:nvSpPr>
        <p:spPr>
          <a:xfrm xmlns:a="http://schemas.openxmlformats.org/drawingml/2006/main">
            <a:off x="941832" y="2304288"/>
            <a:ext cx="501091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 student wants to compare three materials for insulation. During the pilot, the starting temperatures are different, the room temperature changes, and one thermometer responds slowly.</a:t>
            </a:r>
          </a:p>
        </p:txBody>
      </p:sp>
      <p:sp>
        <p:nvSpPr>
          <p:cNvPr id="404" name="Google Shape;404;p19">
            <a:extLst xmlns:a="http://schemas.openxmlformats.org/drawingml/2006/main">
              <a:ext uri="{FF2B5EF4-FFF2-40B4-BE49-F238E27FC236}">
                <a16:creationId xmlns:a16="http://schemas.microsoft.com/office/drawing/2014/main" id="{3CA7C0BA-EAF3-4D54-9A23-9CD118C28FDD}"/>
              </a:ext>
            </a:extLst>
          </p:cNvPr>
          <p:cNvSpPr>
            <a:spLocks xmlns:a="http://schemas.openxmlformats.org/drawingml/2006/main" noGrp="1"/>
          </p:cNvSpPr>
          <p:nvPr/>
        </p:nvSpPr>
        <p:spPr>
          <a:xfrm xmlns:a="http://schemas.openxmlformats.org/drawingml/2006/main">
            <a:off x="6492240" y="1828800"/>
            <a:ext cx="4754880" cy="2377440"/>
          </a:xfrm>
          <a:prstGeom xmlns:a="http://schemas.openxmlformats.org/drawingml/2006/main" prst="roundRect">
            <a:avLst>
              <a:gd name="adj" fmla="val 3077"/>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5" name="Google Shape;405;p19">
            <a:extLst xmlns:a="http://schemas.openxmlformats.org/drawingml/2006/main">
              <a:ext uri="{FF2B5EF4-FFF2-40B4-BE49-F238E27FC236}">
                <a16:creationId xmlns:a16="http://schemas.microsoft.com/office/drawing/2014/main" id="{B30CF309-F1C3-493C-8975-72A6009853C3}"/>
              </a:ext>
            </a:extLst>
          </p:cNvPr>
          <p:cNvSpPr>
            <a:spLocks xmlns:a="http://schemas.openxmlformats.org/drawingml/2006/main" noGrp="1"/>
          </p:cNvSpPr>
          <p:nvPr/>
        </p:nvSpPr>
        <p:spPr>
          <a:xfrm xmlns:a="http://schemas.openxmlformats.org/drawingml/2006/main">
            <a:off x="6492240" y="1828800"/>
            <a:ext cx="54864" cy="237744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6" name="Google Shape;406;p19">
            <a:extLst xmlns:a="http://schemas.openxmlformats.org/drawingml/2006/main">
              <a:ext uri="{FF2B5EF4-FFF2-40B4-BE49-F238E27FC236}">
                <a16:creationId xmlns:a16="http://schemas.microsoft.com/office/drawing/2014/main" id="{630DD445-DCA1-477F-9A9D-DFC25F835866}"/>
              </a:ext>
            </a:extLst>
          </p:cNvPr>
          <p:cNvSpPr>
            <a:spLocks xmlns:a="http://schemas.openxmlformats.org/drawingml/2006/main" noGrp="1"/>
          </p:cNvSpPr>
          <p:nvPr/>
        </p:nvSpPr>
        <p:spPr>
          <a:xfrm xmlns:a="http://schemas.openxmlformats.org/drawingml/2006/main">
            <a:off x="6656832" y="1975104"/>
            <a:ext cx="448056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Task</a:t>
            </a:r>
          </a:p>
        </p:txBody>
      </p:sp>
      <p:sp>
        <p:nvSpPr>
          <p:cNvPr id="407" name="Google Shape;407;p19">
            <a:extLst xmlns:a="http://schemas.openxmlformats.org/drawingml/2006/main">
              <a:ext uri="{FF2B5EF4-FFF2-40B4-BE49-F238E27FC236}">
                <a16:creationId xmlns:a16="http://schemas.microsoft.com/office/drawing/2014/main" id="{40A58AB6-FF20-4684-96B5-181164209D1E}"/>
              </a:ext>
            </a:extLst>
          </p:cNvPr>
          <p:cNvSpPr>
            <a:spLocks xmlns:a="http://schemas.openxmlformats.org/drawingml/2006/main" noGrp="1"/>
          </p:cNvSpPr>
          <p:nvPr/>
        </p:nvSpPr>
        <p:spPr>
          <a:xfrm xmlns:a="http://schemas.openxmlformats.org/drawingml/2006/main">
            <a:off x="6656832" y="2304288"/>
            <a:ext cx="4462272"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Identify the problem type, propose one revision, and write the revision rule sentence.</a:t>
            </a:r>
          </a:p>
          <a:p xmlns:a="http://schemas.openxmlformats.org/drawingml/2006/main">
            <a:pPr marL="0" marR="0" indent="0" algn="l">
              <a:spcBef>
                <a:spcPts val="0"/>
              </a:spcBef>
              <a:spcAft>
                <a:spcPts val="0"/>
              </a:spcAft>
              <a:buClr>
                <a:schemeClr val="dk1"/>
              </a:buClr>
              <a:buSzPts val="1350"/>
              <a:buFont typeface="Arial"/>
              <a:buNone/>
            </a:pPr>
            <a:r>
              <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Pair discussion: 5 minutes</a:t>
            </a:r>
          </a:p>
        </p:txBody>
      </p:sp>
    </p:spTree>
    <p:extLst>
      <p:ext uri="{BB962C8B-B14F-4D97-AF65-F5344CB8AC3E}">
        <p14:creationId xmlns:p14="http://schemas.microsoft.com/office/powerpoint/2010/main" val="13039791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13" name="Google Shape;413;p20">
            <a:extLst xmlns:a="http://schemas.openxmlformats.org/drawingml/2006/main">
              <a:ext uri="{FF2B5EF4-FFF2-40B4-BE49-F238E27FC236}">
                <a16:creationId xmlns:a16="http://schemas.microsoft.com/office/drawing/2014/main" id="{06630DD9-6417-4682-8E86-CD842DC7358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4" name="Google Shape;414;p20">
            <a:extLst xmlns:a="http://schemas.openxmlformats.org/drawingml/2006/main">
              <a:ext uri="{FF2B5EF4-FFF2-40B4-BE49-F238E27FC236}">
                <a16:creationId xmlns:a16="http://schemas.microsoft.com/office/drawing/2014/main" id="{84944778-75E4-40FD-953C-FC1F88EBED7E}"/>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5" name="Google Shape;415;p20">
            <a:extLst xmlns:a="http://schemas.openxmlformats.org/drawingml/2006/main">
              <a:ext uri="{FF2B5EF4-FFF2-40B4-BE49-F238E27FC236}">
                <a16:creationId xmlns:a16="http://schemas.microsoft.com/office/drawing/2014/main" id="{1AB39600-D69A-42CC-A090-9F190CD379B8}"/>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6" name="Google Shape;416;p20">
            <a:extLst xmlns:a="http://schemas.openxmlformats.org/drawingml/2006/main">
              <a:ext uri="{FF2B5EF4-FFF2-40B4-BE49-F238E27FC236}">
                <a16:creationId xmlns:a16="http://schemas.microsoft.com/office/drawing/2014/main" id="{5FFC6CFC-3F7F-4619-AD2D-5825524CDF21}"/>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Teacher Checkpoint Before Full Data Collection</a:t>
            </a:r>
          </a:p>
        </p:txBody>
      </p:sp>
      <p:sp>
        <p:nvSpPr>
          <p:cNvPr id="417" name="Google Shape;417;p20">
            <a:extLst xmlns:a="http://schemas.openxmlformats.org/drawingml/2006/main">
              <a:ext uri="{FF2B5EF4-FFF2-40B4-BE49-F238E27FC236}">
                <a16:creationId xmlns:a16="http://schemas.microsoft.com/office/drawing/2014/main" id="{6D92CEFE-CD44-45FC-8D5A-605F39E6CFCB}"/>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8" name="Google Shape;418;p20">
            <a:extLst xmlns:a="http://schemas.openxmlformats.org/drawingml/2006/main">
              <a:ext uri="{FF2B5EF4-FFF2-40B4-BE49-F238E27FC236}">
                <a16:creationId xmlns:a16="http://schemas.microsoft.com/office/drawing/2014/main" id="{E91FB35E-6FAA-4313-B82A-4CC824382261}"/>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419" name="Google Shape;419;p20">
            <a:extLst xmlns:a="http://schemas.openxmlformats.org/drawingml/2006/main">
              <a:ext uri="{FF2B5EF4-FFF2-40B4-BE49-F238E27FC236}">
                <a16:creationId xmlns:a16="http://schemas.microsoft.com/office/drawing/2014/main" id="{B1B8A23E-76DA-4084-878F-E015C8B7E06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420" name="Google Shape;420;p20">
            <a:extLst xmlns:a="http://schemas.openxmlformats.org/drawingml/2006/main">
              <a:ext uri="{FF2B5EF4-FFF2-40B4-BE49-F238E27FC236}">
                <a16:creationId xmlns:a16="http://schemas.microsoft.com/office/drawing/2014/main" id="{5F54DFEF-D5B9-40A7-BFF7-7BCAAF7321AF}"/>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17</a:t>
            </a:r>
          </a:p>
        </p:txBody>
      </p:sp>
      <p:sp>
        <p:nvSpPr>
          <p:cNvPr id="421" name="Google Shape;421;p20">
            <a:extLst xmlns:a="http://schemas.openxmlformats.org/drawingml/2006/main">
              <a:ext uri="{FF2B5EF4-FFF2-40B4-BE49-F238E27FC236}">
                <a16:creationId xmlns:a16="http://schemas.microsoft.com/office/drawing/2014/main" id="{29AAE547-0CE5-4316-9F7B-4848376379BE}"/>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A student is ready only when the pilot supports the method.</a:t>
            </a:r>
          </a:p>
        </p:txBody>
      </p:sp>
      <p:sp>
        <p:nvSpPr>
          <p:cNvPr id="422" name="Google Shape;422;p20">
            <a:extLst xmlns:a="http://schemas.openxmlformats.org/drawingml/2006/main">
              <a:ext uri="{FF2B5EF4-FFF2-40B4-BE49-F238E27FC236}">
                <a16:creationId xmlns:a16="http://schemas.microsoft.com/office/drawing/2014/main" id="{DFEE0CFC-8371-4093-9277-F43F6871F2FD}"/>
              </a:ext>
            </a:extLst>
          </p:cNvPr>
          <p:cNvSpPr>
            <a:spLocks xmlns:a="http://schemas.openxmlformats.org/drawingml/2006/main" noGrp="1"/>
          </p:cNvSpPr>
          <p:nvPr/>
        </p:nvSpPr>
        <p:spPr>
          <a:xfrm xmlns:a="http://schemas.openxmlformats.org/drawingml/2006/main">
            <a:off x="822960" y="1828800"/>
            <a:ext cx="484632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3" name="Google Shape;423;p20">
            <a:extLst xmlns:a="http://schemas.openxmlformats.org/drawingml/2006/main">
              <a:ext uri="{FF2B5EF4-FFF2-40B4-BE49-F238E27FC236}">
                <a16:creationId xmlns:a16="http://schemas.microsoft.com/office/drawing/2014/main" id="{C14A6622-D3C7-4936-B3DB-EE37105A20CF}"/>
              </a:ext>
            </a:extLst>
          </p:cNvPr>
          <p:cNvSpPr>
            <a:spLocks xmlns:a="http://schemas.openxmlformats.org/drawingml/2006/main" noGrp="1"/>
          </p:cNvSpPr>
          <p:nvPr/>
        </p:nvSpPr>
        <p:spPr>
          <a:xfrm xmlns:a="http://schemas.openxmlformats.org/drawingml/2006/main">
            <a:off x="822960" y="182880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4" name="Google Shape;424;p20">
            <a:extLst xmlns:a="http://schemas.openxmlformats.org/drawingml/2006/main">
              <a:ext uri="{FF2B5EF4-FFF2-40B4-BE49-F238E27FC236}">
                <a16:creationId xmlns:a16="http://schemas.microsoft.com/office/drawing/2014/main" id="{95615DD0-4EF9-4A4F-AA71-C95FD7FE774F}"/>
              </a:ext>
            </a:extLst>
          </p:cNvPr>
          <p:cNvSpPr>
            <a:spLocks xmlns:a="http://schemas.openxmlformats.org/drawingml/2006/main" noGrp="1"/>
          </p:cNvSpPr>
          <p:nvPr/>
        </p:nvSpPr>
        <p:spPr>
          <a:xfrm xmlns:a="http://schemas.openxmlformats.org/drawingml/2006/main">
            <a:off x="987552" y="1975104"/>
            <a:ext cx="4572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Look for evidence that:</a:t>
            </a:r>
          </a:p>
        </p:txBody>
      </p:sp>
      <p:sp>
        <p:nvSpPr>
          <p:cNvPr id="425" name="Google Shape;425;p20">
            <a:extLst xmlns:a="http://schemas.openxmlformats.org/drawingml/2006/main">
              <a:ext uri="{FF2B5EF4-FFF2-40B4-BE49-F238E27FC236}">
                <a16:creationId xmlns:a16="http://schemas.microsoft.com/office/drawing/2014/main" id="{E73D4029-0970-4693-BE0B-309D905B8E06}"/>
              </a:ext>
            </a:extLst>
          </p:cNvPr>
          <p:cNvSpPr>
            <a:spLocks xmlns:a="http://schemas.openxmlformats.org/drawingml/2006/main" noGrp="1"/>
          </p:cNvSpPr>
          <p:nvPr/>
        </p:nvSpPr>
        <p:spPr>
          <a:xfrm xmlns:a="http://schemas.openxmlformats.org/drawingml/2006/main">
            <a:off x="987552" y="2304288"/>
            <a:ext cx="455371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procedure is safe</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measurement works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data table is usable</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timing is realistic</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revisions are documented</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 the next decision is clear</a:t>
            </a:r>
          </a:p>
        </p:txBody>
      </p:sp>
      <p:sp>
        <p:nvSpPr>
          <p:cNvPr id="426" name="Google Shape;426;p20">
            <a:extLst xmlns:a="http://schemas.openxmlformats.org/drawingml/2006/main">
              <a:ext uri="{FF2B5EF4-FFF2-40B4-BE49-F238E27FC236}">
                <a16:creationId xmlns:a16="http://schemas.microsoft.com/office/drawing/2014/main" id="{563CD382-A99F-46CC-A636-74C977846DDD}"/>
              </a:ext>
            </a:extLst>
          </p:cNvPr>
          <p:cNvSpPr>
            <a:spLocks xmlns:a="http://schemas.openxmlformats.org/drawingml/2006/main" noGrp="1"/>
          </p:cNvSpPr>
          <p:nvPr/>
        </p:nvSpPr>
        <p:spPr>
          <a:xfrm xmlns:a="http://schemas.openxmlformats.org/drawingml/2006/main">
            <a:off x="6492240" y="1828800"/>
            <a:ext cx="4663440" cy="2514600"/>
          </a:xfrm>
          <a:prstGeom xmlns:a="http://schemas.openxmlformats.org/drawingml/2006/main" prst="roundRect">
            <a:avLst>
              <a:gd name="adj" fmla="val 2909"/>
            </a:avLst>
          </a:prstGeom>
          <a:solidFill xmlns:a="http://schemas.openxmlformats.org/drawingml/2006/main">
            <a:srgbClr val="0A0A0A"/>
          </a:solidFill>
          <a:ln xmlns:a="http://schemas.openxmlformats.org/drawingml/2006/main" w="10150" cmpd="sng">
            <a:solidFill>
              <a:srgbClr val="3A3A3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7" name="Google Shape;427;p20">
            <a:extLst xmlns:a="http://schemas.openxmlformats.org/drawingml/2006/main">
              <a:ext uri="{FF2B5EF4-FFF2-40B4-BE49-F238E27FC236}">
                <a16:creationId xmlns:a16="http://schemas.microsoft.com/office/drawing/2014/main" id="{40B122EB-07C5-4293-886D-2B8BD69CF495}"/>
              </a:ext>
            </a:extLst>
          </p:cNvPr>
          <p:cNvSpPr>
            <a:spLocks xmlns:a="http://schemas.openxmlformats.org/drawingml/2006/main" noGrp="1"/>
          </p:cNvSpPr>
          <p:nvPr/>
        </p:nvSpPr>
        <p:spPr>
          <a:xfrm xmlns:a="http://schemas.openxmlformats.org/drawingml/2006/main">
            <a:off x="6492240" y="1828800"/>
            <a:ext cx="54864" cy="2514600"/>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8" name="Google Shape;428;p20">
            <a:extLst xmlns:a="http://schemas.openxmlformats.org/drawingml/2006/main">
              <a:ext uri="{FF2B5EF4-FFF2-40B4-BE49-F238E27FC236}">
                <a16:creationId xmlns:a16="http://schemas.microsoft.com/office/drawing/2014/main" id="{CDE7441A-C676-48CA-AA1C-0A9287FEABE2}"/>
              </a:ext>
            </a:extLst>
          </p:cNvPr>
          <p:cNvSpPr>
            <a:spLocks xmlns:a="http://schemas.openxmlformats.org/drawingml/2006/main" noGrp="1"/>
          </p:cNvSpPr>
          <p:nvPr/>
        </p:nvSpPr>
        <p:spPr>
          <a:xfrm xmlns:a="http://schemas.openxmlformats.org/drawingml/2006/main">
            <a:off x="6656832" y="1975104"/>
            <a:ext cx="43891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400"/>
              <a:buFont typeface="Arial"/>
              <a:buNone/>
            </a:pPr>
            <a:r>
              <a:rPr sz="1400" b="1" i="0" u="none" cap="none">
                <a:solidFill>
                  <a:srgbClr val="FFFFFF"/>
                </a:solidFill>
                <a:latin typeface="Arial"/>
                <a:ea typeface="Arial"/>
                <a:cs typeface="Arial"/>
              </a:rPr>
              <a:t>Official tracker status examples</a:t>
            </a:r>
          </a:p>
        </p:txBody>
      </p:sp>
      <p:sp>
        <p:nvSpPr>
          <p:cNvPr id="429" name="Google Shape;429;p20">
            <a:extLst xmlns:a="http://schemas.openxmlformats.org/drawingml/2006/main">
              <a:ext uri="{FF2B5EF4-FFF2-40B4-BE49-F238E27FC236}">
                <a16:creationId xmlns:a16="http://schemas.microsoft.com/office/drawing/2014/main" id="{C58AB65B-24B9-47B3-81BA-40CE2B485463}"/>
              </a:ext>
            </a:extLst>
          </p:cNvPr>
          <p:cNvSpPr>
            <a:spLocks xmlns:a="http://schemas.openxmlformats.org/drawingml/2006/main" noGrp="1"/>
          </p:cNvSpPr>
          <p:nvPr/>
        </p:nvSpPr>
        <p:spPr>
          <a:xfrm xmlns:a="http://schemas.openxmlformats.org/drawingml/2006/main">
            <a:off x="6656832" y="2304288"/>
            <a:ext cx="4370832" cy="1947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t">
            <a:noAutofit/>
          </a:bodyPr>
          <a:lstStyle xmlns:a="http://schemas.openxmlformats.org/drawingml/2006/main"/>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Approved for Systematic Data Collection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Approved With Modifications</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Needs Revision</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Needs Safety Review / Needs Ethics Review</a:t>
            </a:r>
          </a:p>
          <a:p xmlns:a="http://schemas.openxmlformats.org/drawingml/2006/main">
            <a:pPr marL="0" marR="0" indent="0" algn="l">
              <a:spcBef>
                <a:spcPts val="0"/>
              </a:spcBef>
              <a:spcAft>
                <a:spcPts val="0"/>
              </a:spcAft>
              <a:buClr>
                <a:srgbClr val="B5B5B5"/>
              </a:buClr>
              <a:buSzPts val="1350"/>
              <a:buFont typeface="Arial"/>
              <a:buNone/>
            </a:pPr>
            <a:r>
              <a:rPr sz="1350" b="0" i="0" u="none" cap="none">
                <a:solidFill>
                  <a:srgbClr val="B5B5B5"/>
                </a:solidFill>
                <a:latin typeface="Arial"/>
                <a:ea typeface="Arial"/>
                <a:cs typeface="Arial"/>
              </a:rPr>
              <a:t>Needs Mentor Review / Not Approved in Current Form</a:t>
            </a:r>
          </a:p>
        </p:txBody>
      </p:sp>
    </p:spTree>
    <p:extLst>
      <p:ext uri="{BB962C8B-B14F-4D97-AF65-F5344CB8AC3E}">
        <p14:creationId xmlns:p14="http://schemas.microsoft.com/office/powerpoint/2010/main" val="91425117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35" name="Google Shape;435;p21">
            <a:extLst xmlns:a="http://schemas.openxmlformats.org/drawingml/2006/main">
              <a:ext uri="{FF2B5EF4-FFF2-40B4-BE49-F238E27FC236}">
                <a16:creationId xmlns:a16="http://schemas.microsoft.com/office/drawing/2014/main" id="{0A8E169E-DA37-4435-BB10-663F5A00DD1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6" name="Google Shape;436;p21">
            <a:extLst xmlns:a="http://schemas.openxmlformats.org/drawingml/2006/main">
              <a:ext uri="{FF2B5EF4-FFF2-40B4-BE49-F238E27FC236}">
                <a16:creationId xmlns:a16="http://schemas.microsoft.com/office/drawing/2014/main" id="{1BABB653-EAE5-4CD0-8ED1-B9B580025481}"/>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7" name="Google Shape;437;p21">
            <a:extLst xmlns:a="http://schemas.openxmlformats.org/drawingml/2006/main">
              <a:ext uri="{FF2B5EF4-FFF2-40B4-BE49-F238E27FC236}">
                <a16:creationId xmlns:a16="http://schemas.microsoft.com/office/drawing/2014/main" id="{983274E7-FBF6-4212-87E5-C89CB8C121E9}"/>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8" name="Google Shape;438;p21">
            <a:extLst xmlns:a="http://schemas.openxmlformats.org/drawingml/2006/main">
              <a:ext uri="{FF2B5EF4-FFF2-40B4-BE49-F238E27FC236}">
                <a16:creationId xmlns:a16="http://schemas.microsoft.com/office/drawing/2014/main" id="{14318CDC-E799-4677-8768-150AD1A860D4}"/>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Exit Ticket</a:t>
            </a:r>
          </a:p>
        </p:txBody>
      </p:sp>
      <p:sp>
        <p:nvSpPr>
          <p:cNvPr id="439" name="Google Shape;439;p21">
            <a:extLst xmlns:a="http://schemas.openxmlformats.org/drawingml/2006/main">
              <a:ext uri="{FF2B5EF4-FFF2-40B4-BE49-F238E27FC236}">
                <a16:creationId xmlns:a16="http://schemas.microsoft.com/office/drawing/2014/main" id="{DC8B8187-B3EF-4525-9721-798066F3F0EB}"/>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0" name="Google Shape;440;p21">
            <a:extLst xmlns:a="http://schemas.openxmlformats.org/drawingml/2006/main">
              <a:ext uri="{FF2B5EF4-FFF2-40B4-BE49-F238E27FC236}">
                <a16:creationId xmlns:a16="http://schemas.microsoft.com/office/drawing/2014/main" id="{9E06C029-8950-408F-961A-87CFEDC3178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441" name="Google Shape;441;p21">
            <a:extLst xmlns:a="http://schemas.openxmlformats.org/drawingml/2006/main">
              <a:ext uri="{FF2B5EF4-FFF2-40B4-BE49-F238E27FC236}">
                <a16:creationId xmlns:a16="http://schemas.microsoft.com/office/drawing/2014/main" id="{6903322A-2EB3-477B-8667-942CAF546263}"/>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442" name="Google Shape;442;p21">
            <a:extLst xmlns:a="http://schemas.openxmlformats.org/drawingml/2006/main">
              <a:ext uri="{FF2B5EF4-FFF2-40B4-BE49-F238E27FC236}">
                <a16:creationId xmlns:a16="http://schemas.microsoft.com/office/drawing/2014/main" id="{083D3F38-5AF1-4F1F-A338-8A8DE7C088EB}"/>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18</a:t>
            </a:r>
          </a:p>
        </p:txBody>
      </p:sp>
      <p:sp>
        <p:nvSpPr>
          <p:cNvPr id="443" name="Google Shape;443;p21">
            <a:extLst xmlns:a="http://schemas.openxmlformats.org/drawingml/2006/main">
              <a:ext uri="{FF2B5EF4-FFF2-40B4-BE49-F238E27FC236}">
                <a16:creationId xmlns:a16="http://schemas.microsoft.com/office/drawing/2014/main" id="{B4DAE46D-6A1A-4B0F-A3E1-F91E69DA6E29}"/>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Before leaving today, students should be able to explain their next test.</a:t>
            </a:r>
          </a:p>
        </p:txBody>
      </p:sp>
      <p:sp>
        <p:nvSpPr>
          <p:cNvPr id="444" name="Google Shape;444;p21">
            <a:extLst xmlns:a="http://schemas.openxmlformats.org/drawingml/2006/main">
              <a:ext uri="{FF2B5EF4-FFF2-40B4-BE49-F238E27FC236}">
                <a16:creationId xmlns:a16="http://schemas.microsoft.com/office/drawing/2014/main" id="{C299E0B2-8929-42D9-B714-891ADA38351E}"/>
              </a:ext>
            </a:extLst>
          </p:cNvPr>
          <p:cNvSpPr>
            <a:spLocks xmlns:a="http://schemas.openxmlformats.org/drawingml/2006/main" noGrp="1"/>
          </p:cNvSpPr>
          <p:nvPr/>
        </p:nvSpPr>
        <p:spPr>
          <a:xfrm xmlns:a="http://schemas.openxmlformats.org/drawingml/2006/main">
            <a:off x="822960" y="1965960"/>
            <a:ext cx="10058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b="1" i="0" u="none" cap="none">
                <a:solidFill>
                  <a:srgbClr val="FFFFFF"/>
                </a:solidFill>
                <a:latin typeface="Arial"/>
                <a:ea typeface="Arial"/>
                <a:cs typeface="Arial"/>
              </a:rPr>
              <a:t>Answer these three questions:</a:t>
            </a:r>
          </a:p>
        </p:txBody>
      </p:sp>
      <p:sp>
        <p:nvSpPr>
          <p:cNvPr id="445" name="Google Shape;445;p21">
            <a:extLst xmlns:a="http://schemas.openxmlformats.org/drawingml/2006/main">
              <a:ext uri="{FF2B5EF4-FFF2-40B4-BE49-F238E27FC236}">
                <a16:creationId xmlns:a16="http://schemas.microsoft.com/office/drawing/2014/main" id="{DF2775F1-779D-4D4F-8EC0-B8CF24E9ED77}"/>
              </a:ext>
            </a:extLst>
          </p:cNvPr>
          <p:cNvSpPr>
            <a:spLocks xmlns:a="http://schemas.openxmlformats.org/drawingml/2006/main" noGrp="1"/>
          </p:cNvSpPr>
          <p:nvPr/>
        </p:nvSpPr>
        <p:spPr>
          <a:xfrm xmlns:a="http://schemas.openxmlformats.org/drawingml/2006/main">
            <a:off x="1005840" y="2606040"/>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600"/>
              <a:buFont typeface="Arial"/>
              <a:buNone/>
            </a:pPr>
            <a:r>
              <a:rPr sz="1600" b="1" i="0" u="none" cap="none">
                <a:solidFill>
                  <a:srgbClr val="E32621"/>
                </a:solidFill>
                <a:latin typeface="Arial"/>
                <a:ea typeface="Arial"/>
                <a:cs typeface="Arial"/>
              </a:rPr>
              <a:t>1.</a:t>
            </a:r>
          </a:p>
        </p:txBody>
      </p:sp>
      <p:sp>
        <p:nvSpPr>
          <p:cNvPr id="446" name="Google Shape;446;p21">
            <a:extLst xmlns:a="http://schemas.openxmlformats.org/drawingml/2006/main">
              <a:ext uri="{FF2B5EF4-FFF2-40B4-BE49-F238E27FC236}">
                <a16:creationId xmlns:a16="http://schemas.microsoft.com/office/drawing/2014/main" id="{5F2AC4A1-A203-4ED8-8E39-A24584B3BEDB}"/>
              </a:ext>
            </a:extLst>
          </p:cNvPr>
          <p:cNvSpPr>
            <a:spLocks xmlns:a="http://schemas.openxmlformats.org/drawingml/2006/main" noGrp="1"/>
          </p:cNvSpPr>
          <p:nvPr/>
        </p:nvSpPr>
        <p:spPr>
          <a:xfrm xmlns:a="http://schemas.openxmlformats.org/drawingml/2006/main">
            <a:off x="1417320" y="2606040"/>
            <a:ext cx="9601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What will your pilot test check?</a:t>
            </a:r>
          </a:p>
        </p:txBody>
      </p:sp>
      <p:sp>
        <p:nvSpPr>
          <p:cNvPr id="447" name="Google Shape;447;p21">
            <a:extLst xmlns:a="http://schemas.openxmlformats.org/drawingml/2006/main">
              <a:ext uri="{FF2B5EF4-FFF2-40B4-BE49-F238E27FC236}">
                <a16:creationId xmlns:a16="http://schemas.microsoft.com/office/drawing/2014/main" id="{BF290CBA-47D1-42EE-B160-009ED1A03505}"/>
              </a:ext>
            </a:extLst>
          </p:cNvPr>
          <p:cNvSpPr>
            <a:spLocks xmlns:a="http://schemas.openxmlformats.org/drawingml/2006/main" noGrp="1"/>
          </p:cNvSpPr>
          <p:nvPr/>
        </p:nvSpPr>
        <p:spPr>
          <a:xfrm xmlns:a="http://schemas.openxmlformats.org/drawingml/2006/main">
            <a:off x="1005840" y="3172968"/>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600"/>
              <a:buFont typeface="Arial"/>
              <a:buNone/>
            </a:pPr>
            <a:r>
              <a:rPr sz="1600" b="1" i="0" u="none" cap="none">
                <a:solidFill>
                  <a:srgbClr val="E32621"/>
                </a:solidFill>
                <a:latin typeface="Arial"/>
                <a:ea typeface="Arial"/>
                <a:cs typeface="Arial"/>
              </a:rPr>
              <a:t>2.</a:t>
            </a:r>
          </a:p>
        </p:txBody>
      </p:sp>
      <p:sp>
        <p:nvSpPr>
          <p:cNvPr id="448" name="Google Shape;448;p21">
            <a:extLst xmlns:a="http://schemas.openxmlformats.org/drawingml/2006/main">
              <a:ext uri="{FF2B5EF4-FFF2-40B4-BE49-F238E27FC236}">
                <a16:creationId xmlns:a16="http://schemas.microsoft.com/office/drawing/2014/main" id="{7BF06A3E-E656-4718-AD26-E1D61CF2536E}"/>
              </a:ext>
            </a:extLst>
          </p:cNvPr>
          <p:cNvSpPr>
            <a:spLocks xmlns:a="http://schemas.openxmlformats.org/drawingml/2006/main" noGrp="1"/>
          </p:cNvSpPr>
          <p:nvPr/>
        </p:nvSpPr>
        <p:spPr>
          <a:xfrm xmlns:a="http://schemas.openxmlformats.org/drawingml/2006/main">
            <a:off x="1417320" y="3172968"/>
            <a:ext cx="9601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What problem might it reveal?</a:t>
            </a:r>
          </a:p>
        </p:txBody>
      </p:sp>
      <p:sp>
        <p:nvSpPr>
          <p:cNvPr id="449" name="Google Shape;449;p21">
            <a:extLst xmlns:a="http://schemas.openxmlformats.org/drawingml/2006/main">
              <a:ext uri="{FF2B5EF4-FFF2-40B4-BE49-F238E27FC236}">
                <a16:creationId xmlns:a16="http://schemas.microsoft.com/office/drawing/2014/main" id="{1D794CDC-76DF-4B25-82C4-18E15472E6F7}"/>
              </a:ext>
            </a:extLst>
          </p:cNvPr>
          <p:cNvSpPr>
            <a:spLocks xmlns:a="http://schemas.openxmlformats.org/drawingml/2006/main" noGrp="1"/>
          </p:cNvSpPr>
          <p:nvPr/>
        </p:nvSpPr>
        <p:spPr>
          <a:xfrm xmlns:a="http://schemas.openxmlformats.org/drawingml/2006/main">
            <a:off x="1005840" y="3739896"/>
            <a:ext cx="32004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600"/>
              <a:buFont typeface="Arial"/>
              <a:buNone/>
            </a:pPr>
            <a:r>
              <a:rPr sz="1600" b="1" i="0" u="none" cap="none">
                <a:solidFill>
                  <a:srgbClr val="E32621"/>
                </a:solidFill>
                <a:latin typeface="Arial"/>
                <a:ea typeface="Arial"/>
                <a:cs typeface="Arial"/>
              </a:rPr>
              <a:t>3.</a:t>
            </a:r>
          </a:p>
        </p:txBody>
      </p:sp>
      <p:sp>
        <p:nvSpPr>
          <p:cNvPr id="450" name="Google Shape;450;p21">
            <a:extLst xmlns:a="http://schemas.openxmlformats.org/drawingml/2006/main">
              <a:ext uri="{FF2B5EF4-FFF2-40B4-BE49-F238E27FC236}">
                <a16:creationId xmlns:a16="http://schemas.microsoft.com/office/drawing/2014/main" id="{6EC43791-ACBF-4F52-B298-E8E5091ECCEE}"/>
              </a:ext>
            </a:extLst>
          </p:cNvPr>
          <p:cNvSpPr>
            <a:spLocks xmlns:a="http://schemas.openxmlformats.org/drawingml/2006/main" noGrp="1"/>
          </p:cNvSpPr>
          <p:nvPr/>
        </p:nvSpPr>
        <p:spPr>
          <a:xfrm xmlns:a="http://schemas.openxmlformats.org/drawingml/2006/main">
            <a:off x="1417320" y="3739896"/>
            <a:ext cx="9601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What decision will you make after it?</a:t>
            </a:r>
          </a:p>
        </p:txBody>
      </p:sp>
      <p:sp>
        <p:nvSpPr>
          <p:cNvPr id="451" name="Google Shape;451;p21">
            <a:extLst xmlns:a="http://schemas.openxmlformats.org/drawingml/2006/main">
              <a:ext uri="{FF2B5EF4-FFF2-40B4-BE49-F238E27FC236}">
                <a16:creationId xmlns:a16="http://schemas.microsoft.com/office/drawing/2014/main" id="{FCD762B8-13BD-4456-B755-8CE7651507F2}"/>
              </a:ext>
            </a:extLst>
          </p:cNvPr>
          <p:cNvSpPr>
            <a:spLocks xmlns:a="http://schemas.openxmlformats.org/drawingml/2006/main" noGrp="1"/>
          </p:cNvSpPr>
          <p:nvPr/>
        </p:nvSpPr>
        <p:spPr>
          <a:xfrm xmlns:a="http://schemas.openxmlformats.org/drawingml/2006/main">
            <a:off x="1005840" y="4846320"/>
            <a:ext cx="1005840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b="1" i="0" u="none" cap="none">
                <a:solidFill>
                  <a:srgbClr val="FFFFFF"/>
                </a:solidFill>
                <a:latin typeface="Arial"/>
                <a:ea typeface="Arial"/>
                <a:cs typeface="Arial"/>
              </a:rPr>
              <a:t>NEXT: Research Journal Setup + First Pilot Entries</a:t>
            </a:r>
          </a:p>
        </p:txBody>
      </p:sp>
    </p:spTree>
    <p:extLst>
      <p:ext uri="{BB962C8B-B14F-4D97-AF65-F5344CB8AC3E}">
        <p14:creationId xmlns:p14="http://schemas.microsoft.com/office/powerpoint/2010/main" val="141506324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57" name="Google Shape;457;p22">
            <a:extLst xmlns:a="http://schemas.openxmlformats.org/drawingml/2006/main">
              <a:ext uri="{FF2B5EF4-FFF2-40B4-BE49-F238E27FC236}">
                <a16:creationId xmlns:a16="http://schemas.microsoft.com/office/drawing/2014/main" id="{523D7B43-CEA0-44D4-9480-5252641A14C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8" name="Google Shape;458;p22">
            <a:extLst xmlns:a="http://schemas.openxmlformats.org/drawingml/2006/main">
              <a:ext uri="{FF2B5EF4-FFF2-40B4-BE49-F238E27FC236}">
                <a16:creationId xmlns:a16="http://schemas.microsoft.com/office/drawing/2014/main" id="{B081D1C5-D5E0-4AD2-8095-5FAA8DA4C46B}"/>
              </a:ext>
            </a:extLst>
          </p:cNvPr>
          <p:cNvSpPr>
            <a:spLocks xmlns:a="http://schemas.openxmlformats.org/drawingml/2006/main" noGrp="1"/>
          </p:cNvSpPr>
          <p:nvPr/>
        </p:nvSpPr>
        <p:spPr>
          <a:xfrm xmlns:a="http://schemas.openxmlformats.org/drawingml/2006/main">
            <a:off x="0" y="12801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9" name="Google Shape;459;p22">
            <a:extLst xmlns:a="http://schemas.openxmlformats.org/drawingml/2006/main">
              <a:ext uri="{FF2B5EF4-FFF2-40B4-BE49-F238E27FC236}">
                <a16:creationId xmlns:a16="http://schemas.microsoft.com/office/drawing/2014/main" id="{C7A32898-8B66-4E54-8B95-E8D3458BE244}"/>
              </a:ext>
            </a:extLst>
          </p:cNvPr>
          <p:cNvSpPr>
            <a:spLocks xmlns:a="http://schemas.openxmlformats.org/drawingml/2006/main" noGrp="1"/>
          </p:cNvSpPr>
          <p:nvPr/>
        </p:nvSpPr>
        <p:spPr>
          <a:xfrm xmlns:a="http://schemas.openxmlformats.org/drawingml/2006/main">
            <a:off x="0" y="6665976"/>
            <a:ext cx="12191695" cy="6400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0" name="Google Shape;460;p22">
            <a:extLst xmlns:a="http://schemas.openxmlformats.org/drawingml/2006/main">
              <a:ext uri="{FF2B5EF4-FFF2-40B4-BE49-F238E27FC236}">
                <a16:creationId xmlns:a16="http://schemas.microsoft.com/office/drawing/2014/main" id="{1AC39D36-6843-4E16-BC1F-4AD9906D48AD}"/>
              </a:ext>
            </a:extLst>
          </p:cNvPr>
          <p:cNvSpPr>
            <a:spLocks xmlns:a="http://schemas.openxmlformats.org/drawingml/2006/main" noGrp="1"/>
          </p:cNvSpPr>
          <p:nvPr/>
        </p:nvSpPr>
        <p:spPr>
          <a:xfrm xmlns:a="http://schemas.openxmlformats.org/drawingml/2006/main">
            <a:off x="502920" y="384048"/>
            <a:ext cx="1143000" cy="2011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E32621"/>
              </a:buClr>
              <a:buSzPts val="1000"/>
              <a:buFont typeface="Arial"/>
              <a:buNone/>
            </a:pPr>
            <a:r>
              <a:rPr sz="1000" b="1" i="0" u="none" cap="none">
                <a:solidFill>
                  <a:srgbClr val="E32621"/>
                </a:solidFill>
                <a:latin typeface="Arial"/>
                <a:ea typeface="Arial"/>
                <a:cs typeface="Arial"/>
              </a:rPr>
              <a:t>UNIT 3  •  PILOT TESTING</a:t>
            </a:r>
          </a:p>
        </p:txBody>
      </p:sp>
      <p:sp>
        <p:nvSpPr>
          <p:cNvPr id="461" name="Google Shape;461;p22">
            <a:extLst xmlns:a="http://schemas.openxmlformats.org/drawingml/2006/main">
              <a:ext uri="{FF2B5EF4-FFF2-40B4-BE49-F238E27FC236}">
                <a16:creationId xmlns:a16="http://schemas.microsoft.com/office/drawing/2014/main" id="{CC1DA6E8-136C-4938-98DF-C1F2454D7071}"/>
              </a:ext>
            </a:extLst>
          </p:cNvPr>
          <p:cNvSpPr>
            <a:spLocks xmlns:a="http://schemas.openxmlformats.org/drawingml/2006/main" noGrp="1"/>
          </p:cNvSpPr>
          <p:nvPr/>
        </p:nvSpPr>
        <p:spPr>
          <a:xfrm xmlns:a="http://schemas.openxmlformats.org/drawingml/2006/main">
            <a:off x="502920" y="621792"/>
            <a:ext cx="10607040" cy="438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700"/>
              <a:buFont typeface="Arial"/>
              <a:buNone/>
            </a:pPr>
            <a:r>
              <a:rPr sz="2700" b="1" i="0" u="none" cap="none">
                <a:solidFill>
                  <a:srgbClr val="FFFFFF"/>
                </a:solidFill>
                <a:latin typeface="Arial"/>
                <a:ea typeface="Arial"/>
                <a:cs typeface="Arial"/>
              </a:rPr>
              <a:t>Next Step in STARLAB</a:t>
            </a:r>
          </a:p>
        </p:txBody>
      </p:sp>
      <p:sp>
        <p:nvSpPr>
          <p:cNvPr id="462" name="Google Shape;462;p22">
            <a:extLst xmlns:a="http://schemas.openxmlformats.org/drawingml/2006/main">
              <a:ext uri="{FF2B5EF4-FFF2-40B4-BE49-F238E27FC236}">
                <a16:creationId xmlns:a16="http://schemas.microsoft.com/office/drawing/2014/main" id="{0A4C6F8F-DC9F-4ABA-9347-3CA0419F2CFC}"/>
              </a:ext>
            </a:extLst>
          </p:cNvPr>
          <p:cNvSpPr>
            <a:spLocks xmlns:a="http://schemas.openxmlformats.org/drawingml/2006/main" noGrp="1"/>
          </p:cNvSpPr>
          <p:nvPr/>
        </p:nvSpPr>
        <p:spPr>
          <a:xfrm xmlns:a="http://schemas.openxmlformats.org/drawingml/2006/main">
            <a:off x="502920" y="1179576"/>
            <a:ext cx="1051560" cy="32004"/>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3" name="Google Shape;463;p22">
            <a:extLst xmlns:a="http://schemas.openxmlformats.org/drawingml/2006/main">
              <a:ext uri="{FF2B5EF4-FFF2-40B4-BE49-F238E27FC236}">
                <a16:creationId xmlns:a16="http://schemas.microsoft.com/office/drawing/2014/main" id="{5D186714-D883-493A-99E5-64D30845E6C6}"/>
              </a:ext>
            </a:extLst>
          </p:cNvPr>
          <p:cNvSpPr>
            <a:spLocks xmlns:a="http://schemas.openxmlformats.org/drawingml/2006/main" noGrp="1"/>
          </p:cNvSpPr>
          <p:nvPr/>
        </p:nvSpPr>
        <p:spPr>
          <a:xfrm xmlns:a="http://schemas.openxmlformats.org/drawingml/2006/main">
            <a:off x="411480" y="6446520"/>
            <a:ext cx="53035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UNIT 3  •  PILOT TESTING</a:t>
            </a:r>
          </a:p>
        </p:txBody>
      </p:sp>
      <p:sp>
        <p:nvSpPr>
          <p:cNvPr id="464" name="Google Shape;464;p22">
            <a:extLst xmlns:a="http://schemas.openxmlformats.org/drawingml/2006/main">
              <a:ext uri="{FF2B5EF4-FFF2-40B4-BE49-F238E27FC236}">
                <a16:creationId xmlns:a16="http://schemas.microsoft.com/office/drawing/2014/main" id="{065F4C56-18DA-459B-A106-07B2F98C2777}"/>
              </a:ext>
            </a:extLst>
          </p:cNvPr>
          <p:cNvSpPr>
            <a:spLocks xmlns:a="http://schemas.openxmlformats.org/drawingml/2006/main" noGrp="1"/>
          </p:cNvSpPr>
          <p:nvPr/>
        </p:nvSpPr>
        <p:spPr>
          <a:xfrm xmlns:a="http://schemas.openxmlformats.org/drawingml/2006/main">
            <a:off x="10515600" y="6446520"/>
            <a:ext cx="1143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50"/>
              <a:buFont typeface="Arial"/>
              <a:buNone/>
            </a:pPr>
            <a:r>
              <a:rPr sz="1050" b="1" i="0" u="none" cap="none">
                <a:solidFill>
                  <a:srgbClr val="B5B5B5"/>
                </a:solidFill>
                <a:latin typeface="Arial"/>
                <a:ea typeface="Arial"/>
                <a:cs typeface="Arial"/>
              </a:rPr>
              <a:t>STARLAB</a:t>
            </a:r>
          </a:p>
        </p:txBody>
      </p:sp>
      <p:sp>
        <p:nvSpPr>
          <p:cNvPr id="465" name="Google Shape;465;p22">
            <a:extLst xmlns:a="http://schemas.openxmlformats.org/drawingml/2006/main">
              <a:ext uri="{FF2B5EF4-FFF2-40B4-BE49-F238E27FC236}">
                <a16:creationId xmlns:a16="http://schemas.microsoft.com/office/drawing/2014/main" id="{81EF4E5D-C45D-4F52-9852-2F5E2054E1CD}"/>
              </a:ext>
            </a:extLst>
          </p:cNvPr>
          <p:cNvSpPr>
            <a:spLocks xmlns:a="http://schemas.openxmlformats.org/drawingml/2006/main" noGrp="1"/>
          </p:cNvSpPr>
          <p:nvPr/>
        </p:nvSpPr>
        <p:spPr>
          <a:xfrm xmlns:a="http://schemas.openxmlformats.org/drawingml/2006/main">
            <a:off x="11750040" y="6446520"/>
            <a:ext cx="228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r">
              <a:spcBef>
                <a:spcPts val="0"/>
              </a:spcBef>
              <a:spcAft>
                <a:spcPts val="0"/>
              </a:spcAft>
              <a:buClr>
                <a:srgbClr val="B5B5B5"/>
              </a:buClr>
              <a:buSzPts val="1000"/>
              <a:buFont typeface="Arial"/>
              <a:buNone/>
            </a:pPr>
            <a:r>
              <a:rPr sz="1000" b="0" i="0" u="none" cap="none">
                <a:solidFill>
                  <a:srgbClr val="B5B5B5"/>
                </a:solidFill>
                <a:latin typeface="Arial"/>
                <a:ea typeface="Arial"/>
                <a:cs typeface="Arial"/>
              </a:rPr>
              <a:t>19</a:t>
            </a:r>
          </a:p>
        </p:txBody>
      </p:sp>
      <p:sp>
        <p:nvSpPr>
          <p:cNvPr id="466" name="Google Shape;466;p22">
            <a:extLst xmlns:a="http://schemas.openxmlformats.org/drawingml/2006/main">
              <a:ext uri="{FF2B5EF4-FFF2-40B4-BE49-F238E27FC236}">
                <a16:creationId xmlns:a16="http://schemas.microsoft.com/office/drawing/2014/main" id="{70D848D6-AAD6-46BC-A895-E5E66BF239DD}"/>
              </a:ext>
            </a:extLst>
          </p:cNvPr>
          <p:cNvSpPr>
            <a:spLocks xmlns:a="http://schemas.openxmlformats.org/drawingml/2006/main" noGrp="1"/>
          </p:cNvSpPr>
          <p:nvPr/>
        </p:nvSpPr>
        <p:spPr>
          <a:xfrm xmlns:a="http://schemas.openxmlformats.org/drawingml/2006/main">
            <a:off x="685800" y="132588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l">
              <a:spcBef>
                <a:spcPts val="0"/>
              </a:spcBef>
              <a:spcAft>
                <a:spcPts val="0"/>
              </a:spcAft>
              <a:buClr>
                <a:srgbClr val="B5B5B5"/>
              </a:buClr>
              <a:buSzPts val="2000"/>
              <a:buFont typeface="Arial"/>
              <a:buNone/>
            </a:pPr>
            <a:r>
              <a:rPr sz="2000" b="0" i="0" u="none" cap="none">
                <a:solidFill>
                  <a:srgbClr val="B5B5B5"/>
                </a:solidFill>
                <a:latin typeface="Arial"/>
                <a:ea typeface="Arial"/>
                <a:cs typeface="Arial"/>
              </a:rPr>
              <a:t>Pilot testing turns a plan into a working research process.</a:t>
            </a:r>
          </a:p>
        </p:txBody>
      </p:sp>
      <p:sp>
        <p:nvSpPr>
          <p:cNvPr id="467" name="Google Shape;467;p22">
            <a:extLst xmlns:a="http://schemas.openxmlformats.org/drawingml/2006/main">
              <a:ext uri="{FF2B5EF4-FFF2-40B4-BE49-F238E27FC236}">
                <a16:creationId xmlns:a16="http://schemas.microsoft.com/office/drawing/2014/main" id="{E657DA32-A0AE-432A-87E1-19EE52EC952E}"/>
              </a:ext>
            </a:extLst>
          </p:cNvPr>
          <p:cNvSpPr>
            <a:spLocks xmlns:a="http://schemas.openxmlformats.org/drawingml/2006/main" noGrp="1"/>
          </p:cNvSpPr>
          <p:nvPr/>
        </p:nvSpPr>
        <p:spPr>
          <a:xfrm xmlns:a="http://schemas.openxmlformats.org/drawingml/2006/main">
            <a:off x="1463040" y="2331720"/>
            <a:ext cx="2148840" cy="960120"/>
          </a:xfrm>
          <a:prstGeom xmlns:a="http://schemas.openxmlformats.org/drawingml/2006/main" prst="roundRect">
            <a:avLst>
              <a:gd name="adj" fmla="val 7619"/>
            </a:avLst>
          </a:prstGeom>
          <a:solidFill xmlns:a="http://schemas.openxmlformats.org/drawingml/2006/main">
            <a:srgbClr val="0A0A0A"/>
          </a:solidFill>
          <a:ln xmlns:a="http://schemas.openxmlformats.org/drawingml/2006/main" w="1270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8" name="Google Shape;468;p22">
            <a:extLst xmlns:a="http://schemas.openxmlformats.org/drawingml/2006/main">
              <a:ext uri="{FF2B5EF4-FFF2-40B4-BE49-F238E27FC236}">
                <a16:creationId xmlns:a16="http://schemas.microsoft.com/office/drawing/2014/main" id="{9F280FA1-CC74-4037-AA4C-E633F08EA542}"/>
              </a:ext>
            </a:extLst>
          </p:cNvPr>
          <p:cNvSpPr>
            <a:spLocks xmlns:a="http://schemas.openxmlformats.org/drawingml/2006/main" noGrp="1"/>
          </p:cNvSpPr>
          <p:nvPr/>
        </p:nvSpPr>
        <p:spPr>
          <a:xfrm xmlns:a="http://schemas.openxmlformats.org/drawingml/2006/main">
            <a:off x="1554480" y="2633472"/>
            <a:ext cx="1965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PLAN</a:t>
            </a:r>
          </a:p>
        </p:txBody>
      </p:sp>
      <p:cxnSp>
        <p:nvCxnSpPr>
          <p:cNvPr id="507" name="Google Shape;469;p22"/>
          <p:cNvCxnSpPr/>
          <p:nvPr/>
        </p:nvCxnSpPr>
        <p:spPr>
          <a:xfrm xmlns:a="http://schemas.openxmlformats.org/drawingml/2006/main">
            <a:off x="3794760" y="2816352"/>
            <a:ext cx="594360" cy="0"/>
          </a:xfrm>
          <a:prstGeom xmlns:a="http://schemas.openxmlformats.org/drawingml/2006/main" prst="straightConnector1">
            <a:avLst/>
          </a:prstGeom>
          <a:ln xmlns:a="http://schemas.openxmlformats.org/drawingml/2006/main" w="15225" cap="flat">
            <a:solidFill>
              <a:srgbClr val="B5B5B5"/>
            </a:solidFill>
            <a:prstDash val="solid"/>
            <a:round/>
            <a:headEnd type="none" w="sm" len="sm"/>
            <a:tailEnd type="none" w="sm" len="sm"/>
          </a:ln>
        </p:spPr>
      </p:cxnSp>
      <p:sp>
        <p:nvSpPr>
          <p:cNvPr id="470" name="Google Shape;470;p22">
            <a:extLst xmlns:a="http://schemas.openxmlformats.org/drawingml/2006/main">
              <a:ext uri="{FF2B5EF4-FFF2-40B4-BE49-F238E27FC236}">
                <a16:creationId xmlns:a16="http://schemas.microsoft.com/office/drawing/2014/main" id="{335828BD-FE6E-4ABD-87A8-ACAAD588EFB7}"/>
              </a:ext>
            </a:extLst>
          </p:cNvPr>
          <p:cNvSpPr>
            <a:spLocks xmlns:a="http://schemas.openxmlformats.org/drawingml/2006/main" noGrp="1"/>
          </p:cNvSpPr>
          <p:nvPr/>
        </p:nvSpPr>
        <p:spPr>
          <a:xfrm xmlns:a="http://schemas.openxmlformats.org/drawingml/2006/main">
            <a:off x="4617720" y="2331720"/>
            <a:ext cx="2148840" cy="960120"/>
          </a:xfrm>
          <a:prstGeom xmlns:a="http://schemas.openxmlformats.org/drawingml/2006/main" prst="roundRect">
            <a:avLst>
              <a:gd name="adj" fmla="val 7619"/>
            </a:avLst>
          </a:prstGeom>
          <a:solidFill xmlns:a="http://schemas.openxmlformats.org/drawingml/2006/main">
            <a:srgbClr val="E32621"/>
          </a:solidFill>
          <a:ln xmlns:a="http://schemas.openxmlformats.org/drawingml/2006/main" w="12700" cmpd="sng">
            <a:solidFill>
              <a:srgbClr val="E32621"/>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1" name="Google Shape;471;p22">
            <a:extLst xmlns:a="http://schemas.openxmlformats.org/drawingml/2006/main">
              <a:ext uri="{FF2B5EF4-FFF2-40B4-BE49-F238E27FC236}">
                <a16:creationId xmlns:a16="http://schemas.microsoft.com/office/drawing/2014/main" id="{6E94E9CB-3FC2-4649-8709-1D427BECD338}"/>
              </a:ext>
            </a:extLst>
          </p:cNvPr>
          <p:cNvSpPr>
            <a:spLocks xmlns:a="http://schemas.openxmlformats.org/drawingml/2006/main" noGrp="1"/>
          </p:cNvSpPr>
          <p:nvPr/>
        </p:nvSpPr>
        <p:spPr>
          <a:xfrm xmlns:a="http://schemas.openxmlformats.org/drawingml/2006/main">
            <a:off x="4709160" y="2633472"/>
            <a:ext cx="1965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PILOT</a:t>
            </a:r>
          </a:p>
        </p:txBody>
      </p:sp>
      <p:cxnSp>
        <p:nvCxnSpPr>
          <p:cNvPr id="510" name="Google Shape;472;p22"/>
          <p:cNvCxnSpPr/>
          <p:nvPr/>
        </p:nvCxnSpPr>
        <p:spPr>
          <a:xfrm xmlns:a="http://schemas.openxmlformats.org/drawingml/2006/main">
            <a:off x="6949440" y="2816352"/>
            <a:ext cx="594360" cy="0"/>
          </a:xfrm>
          <a:prstGeom xmlns:a="http://schemas.openxmlformats.org/drawingml/2006/main" prst="straightConnector1">
            <a:avLst/>
          </a:prstGeom>
          <a:ln xmlns:a="http://schemas.openxmlformats.org/drawingml/2006/main" w="15225" cap="flat">
            <a:solidFill>
              <a:srgbClr val="B5B5B5"/>
            </a:solidFill>
            <a:prstDash val="solid"/>
            <a:round/>
            <a:headEnd type="none" w="sm" len="sm"/>
            <a:tailEnd type="none" w="sm" len="sm"/>
          </a:ln>
        </p:spPr>
      </p:cxnSp>
      <p:sp>
        <p:nvSpPr>
          <p:cNvPr id="473" name="Google Shape;473;p22">
            <a:extLst xmlns:a="http://schemas.openxmlformats.org/drawingml/2006/main">
              <a:ext uri="{FF2B5EF4-FFF2-40B4-BE49-F238E27FC236}">
                <a16:creationId xmlns:a16="http://schemas.microsoft.com/office/drawing/2014/main" id="{FE5EDDE5-846B-4BA2-A3FB-54285BACB92B}"/>
              </a:ext>
            </a:extLst>
          </p:cNvPr>
          <p:cNvSpPr>
            <a:spLocks xmlns:a="http://schemas.openxmlformats.org/drawingml/2006/main" noGrp="1"/>
          </p:cNvSpPr>
          <p:nvPr/>
        </p:nvSpPr>
        <p:spPr>
          <a:xfrm xmlns:a="http://schemas.openxmlformats.org/drawingml/2006/main">
            <a:off x="7772400" y="2331720"/>
            <a:ext cx="2148840" cy="960120"/>
          </a:xfrm>
          <a:prstGeom xmlns:a="http://schemas.openxmlformats.org/drawingml/2006/main" prst="roundRect">
            <a:avLst>
              <a:gd name="adj" fmla="val 7619"/>
            </a:avLst>
          </a:prstGeom>
          <a:solidFill xmlns:a="http://schemas.openxmlformats.org/drawingml/2006/main">
            <a:srgbClr val="0A0A0A"/>
          </a:solidFill>
          <a:ln xmlns:a="http://schemas.openxmlformats.org/drawingml/2006/main" w="12700" cmpd="sng">
            <a:solidFill>
              <a:srgbClr val="595959"/>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4" name="Google Shape;474;p22">
            <a:extLst xmlns:a="http://schemas.openxmlformats.org/drawingml/2006/main">
              <a:ext uri="{FF2B5EF4-FFF2-40B4-BE49-F238E27FC236}">
                <a16:creationId xmlns:a16="http://schemas.microsoft.com/office/drawing/2014/main" id="{AEA5525D-4142-4E60-ADE6-92A1719BE1A4}"/>
              </a:ext>
            </a:extLst>
          </p:cNvPr>
          <p:cNvSpPr>
            <a:spLocks xmlns:a="http://schemas.openxmlformats.org/drawingml/2006/main" noGrp="1"/>
          </p:cNvSpPr>
          <p:nvPr/>
        </p:nvSpPr>
        <p:spPr>
          <a:xfrm xmlns:a="http://schemas.openxmlformats.org/drawingml/2006/main">
            <a:off x="7863840" y="2633472"/>
            <a:ext cx="19659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300"/>
              <a:buFont typeface="Arial"/>
              <a:buNone/>
            </a:pPr>
            <a:r>
              <a:rPr sz="2300" b="1" i="0" u="none" cap="none">
                <a:solidFill>
                  <a:srgbClr val="FFFFFF"/>
                </a:solidFill>
                <a:latin typeface="Arial"/>
                <a:ea typeface="Arial"/>
                <a:cs typeface="Arial"/>
              </a:rPr>
              <a:t>REVISE</a:t>
            </a:r>
          </a:p>
        </p:txBody>
      </p:sp>
      <p:sp>
        <p:nvSpPr>
          <p:cNvPr id="475" name="Google Shape;475;p22">
            <a:extLst xmlns:a="http://schemas.openxmlformats.org/drawingml/2006/main">
              <a:ext uri="{FF2B5EF4-FFF2-40B4-BE49-F238E27FC236}">
                <a16:creationId xmlns:a16="http://schemas.microsoft.com/office/drawing/2014/main" id="{66A6A201-6434-4A25-ABCB-8C0A468AE7F0}"/>
              </a:ext>
            </a:extLst>
          </p:cNvPr>
          <p:cNvSpPr>
            <a:spLocks xmlns:a="http://schemas.openxmlformats.org/drawingml/2006/main" noGrp="1"/>
          </p:cNvSpPr>
          <p:nvPr/>
        </p:nvSpPr>
        <p:spPr>
          <a:xfrm xmlns:a="http://schemas.openxmlformats.org/drawingml/2006/main">
            <a:off x="1097280" y="4160520"/>
            <a:ext cx="99669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Arial"/>
              <a:buNone/>
            </a:pPr>
            <a:r>
              <a:rPr sz="2200" b="1" i="0" u="none" cap="none">
                <a:solidFill>
                  <a:srgbClr val="FFFFFF"/>
                </a:solidFill>
                <a:latin typeface="Arial"/>
                <a:ea typeface="Arial"/>
                <a:cs typeface="Arial"/>
              </a:rPr>
              <a:t>Then, and only then, students begin systematic data collection.</a:t>
            </a:r>
          </a:p>
        </p:txBody>
      </p:sp>
      <p:sp>
        <p:nvSpPr>
          <p:cNvPr id="476" name="Google Shape;476;p22">
            <a:extLst xmlns:a="http://schemas.openxmlformats.org/drawingml/2006/main">
              <a:ext uri="{FF2B5EF4-FFF2-40B4-BE49-F238E27FC236}">
                <a16:creationId xmlns:a16="http://schemas.microsoft.com/office/drawing/2014/main" id="{7F395A41-4744-40E7-96EA-2A5619AE26FB}"/>
              </a:ext>
            </a:extLst>
          </p:cNvPr>
          <p:cNvSpPr>
            <a:spLocks xmlns:a="http://schemas.openxmlformats.org/drawingml/2006/main" noGrp="1"/>
          </p:cNvSpPr>
          <p:nvPr/>
        </p:nvSpPr>
        <p:spPr>
          <a:xfrm xmlns:a="http://schemas.openxmlformats.org/drawingml/2006/main">
            <a:off x="1097280" y="4617720"/>
            <a:ext cx="99669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B5B5B5"/>
              </a:buClr>
              <a:buSzPts val="1800"/>
              <a:buFont typeface="Arial"/>
              <a:buNone/>
            </a:pPr>
            <a:r>
              <a:rPr sz="1800" b="0" i="0" u="none" cap="none">
                <a:solidFill>
                  <a:srgbClr val="B5B5B5"/>
                </a:solidFill>
                <a:latin typeface="Arial"/>
                <a:ea typeface="Arial"/>
                <a:cs typeface="Arial"/>
              </a:rPr>
              <a:t>The stronger the pilot, the stronger the project.</a:t>
            </a:r>
          </a:p>
        </p:txBody>
      </p:sp>
      <p:sp>
        <p:nvSpPr>
          <p:cNvPr id="477" name="Google Shape;477;p22">
            <a:extLst xmlns:a="http://schemas.openxmlformats.org/drawingml/2006/main">
              <a:ext uri="{FF2B5EF4-FFF2-40B4-BE49-F238E27FC236}">
                <a16:creationId xmlns:a16="http://schemas.microsoft.com/office/drawing/2014/main" id="{96CE3103-0044-4B2C-ACD7-77ECF81C4903}"/>
              </a:ext>
            </a:extLst>
          </p:cNvPr>
          <p:cNvSpPr>
            <a:spLocks xmlns:a="http://schemas.openxmlformats.org/drawingml/2006/main" noGrp="1"/>
          </p:cNvSpPr>
          <p:nvPr/>
        </p:nvSpPr>
        <p:spPr>
          <a:xfrm xmlns:a="http://schemas.openxmlformats.org/drawingml/2006/main">
            <a:off x="3246120" y="5486400"/>
            <a:ext cx="5669280" cy="384048"/>
          </a:xfrm>
          <a:prstGeom xmlns:a="http://schemas.openxmlformats.org/drawingml/2006/main" prst="rect">
            <a:avLst/>
          </a:prstGeom>
          <a:solidFill xmlns:a="http://schemas.openxmlformats.org/drawingml/2006/main">
            <a:srgbClr val="E32621"/>
          </a:solidFill>
          <a:ln xmlns:a="http://schemas.openxmlformats.org/drawingml/2006/main" w="12700" cmpd="sng">
            <a:solidFill>
              <a:srgbClr val="E32621">
                <a:alpha val="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78" name="Google Shape;478;p22">
            <a:extLst xmlns:a="http://schemas.openxmlformats.org/drawingml/2006/main">
              <a:ext uri="{FF2B5EF4-FFF2-40B4-BE49-F238E27FC236}">
                <a16:creationId xmlns:a16="http://schemas.microsoft.com/office/drawing/2014/main" id="{FFB4F571-B69B-49CA-8ADC-507889220172}"/>
              </a:ext>
            </a:extLst>
          </p:cNvPr>
          <p:cNvSpPr>
            <a:spLocks xmlns:a="http://schemas.openxmlformats.org/drawingml/2006/main" noGrp="1"/>
          </p:cNvSpPr>
          <p:nvPr/>
        </p:nvSpPr>
        <p:spPr>
          <a:xfrm xmlns:a="http://schemas.openxmlformats.org/drawingml/2006/main">
            <a:off x="3401568" y="5586984"/>
            <a:ext cx="535838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625" tIns="625" rIns="625" bIns="625"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50"/>
              <a:buFont typeface="Arial"/>
              <a:buNone/>
            </a:pPr>
            <a:r>
              <a:rPr sz="1050" b="1" i="0" u="none" cap="none">
                <a:solidFill>
                  <a:srgbClr val="FFFFFF"/>
                </a:solidFill>
                <a:latin typeface="Arial"/>
                <a:ea typeface="Arial"/>
                <a:cs typeface="Arial"/>
              </a:rPr>
              <a:t>NEXT DECK: RESEARCH JOURNALS AND SCIENTIFIC DOCUMENTATION</a:t>
            </a:r>
          </a:p>
        </p:txBody>
      </p:sp>
    </p:spTree>
    <p:extLst>
      <p:ext uri="{BB962C8B-B14F-4D97-AF65-F5344CB8AC3E}">
        <p14:creationId xmlns:p14="http://schemas.microsoft.com/office/powerpoint/2010/main" val="54176678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2026-07-16T15:42:01.9480000Z</dcterms:created>
  <dcterms:modified xsi:type="dcterms:W3CDTF">2026-07-16T15:42:01.9480000Z</dcterms:modified>
</coreProperties>
</file>