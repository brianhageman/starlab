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12192000"/>
  <p:embeddedFontLst>
    <p:embeddedFont>
      <p:font typeface="Play"/>
      <p:regular r:id="rId23"/>
      <p:bold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font" Target="fonts/Play-bold.fntdata"/><Relationship Id="rId12" Type="http://schemas.openxmlformats.org/officeDocument/2006/relationships/slide" Target="slides/slide8.xml"/><Relationship Id="rId23" Type="http://schemas.openxmlformats.org/officeDocument/2006/relationships/font" Target="fonts/Play-regular.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title slide as students enter. This deck shifts students from having a finished research product to being able to explain it clearly as a researcher. Keep the tone practical: students are not performing a speech; they are guiding an audience through evidence.</a:t>
            </a:r>
            <a:br>
              <a:rPr lang="en-US"/>
            </a:br>
            <a:br>
              <a:rPr lang="en-US"/>
            </a:br>
            <a:r>
              <a:rPr lang="en-US"/>
              <a:t>Resource alignment:</a:t>
            </a:r>
            <a:br>
              <a:rPr lang="en-US"/>
            </a:br>
            <a:r>
              <a:rPr lang="en-US"/>
              <a:t>Required print materials for this deck:</a:t>
            </a:r>
            <a:br>
              <a:rPr lang="en-US"/>
            </a:br>
            <a:r>
              <a:rPr lang="en-US"/>
              <a:t>• Unit 6 Student Handout 1: Final Presentation Readiness Check</a:t>
            </a:r>
            <a:br>
              <a:rPr lang="en-US"/>
            </a:br>
            <a:r>
              <a:rPr lang="en-US"/>
              <a:t>• Unit 6 Student Handout 2: Research Story Refinement</a:t>
            </a:r>
            <a:br>
              <a:rPr lang="en-US"/>
            </a:br>
            <a:r>
              <a:rPr lang="en-US"/>
              <a:t>• Unit 6 Student Handout 3: Three-Length Presentation Practice</a:t>
            </a:r>
            <a:br>
              <a:rPr lang="en-US"/>
            </a:br>
            <a:r>
              <a:rPr lang="en-US"/>
              <a:t>• Unit 6 Student Handout 4: Practice Presentation Feedback Form</a:t>
            </a:r>
            <a:br>
              <a:rPr lang="en-US"/>
            </a:br>
            <a:r>
              <a:rPr lang="en-US"/>
              <a:t>• Unit 6 Student Handout 5: Audience Adaptation Planner</a:t>
            </a:r>
            <a:br>
              <a:rPr lang="en-US"/>
            </a:br>
            <a:r>
              <a:rPr lang="en-US"/>
              <a:t>• Unit 6 Student Handout 6: Presentation Revision Log</a:t>
            </a:r>
            <a:br>
              <a:rPr lang="en-US"/>
            </a:br>
            <a:r>
              <a:rPr lang="en-US"/>
              <a:t>• Unit 6 Appendix A: Presentation Structure Guide</a:t>
            </a:r>
            <a:br>
              <a:rPr lang="en-US"/>
            </a:br>
            <a:r>
              <a:rPr lang="en-US"/>
              <a:t>• Unit 6 Appendix B: Common Final Presentation Problems</a:t>
            </a:r>
            <a:br>
              <a:rPr lang="en-US"/>
            </a:br>
            <a:r>
              <a:rPr lang="en-US"/>
              <a:t>• Unit 6 Appendix C: Speaking Notes Guide</a:t>
            </a:r>
            <a:br>
              <a:rPr lang="en-US"/>
            </a:br>
            <a:r>
              <a:rPr lang="en-US"/>
              <a:t>• Unit 6 Appendix D: Feedback Norms for Practice Presentations</a:t>
            </a:r>
            <a:br>
              <a:rPr lang="en-US"/>
            </a:br>
            <a:r>
              <a:rPr lang="en-US"/>
              <a:t>• Unit 6 Appendix E: Audience Types and Communication Strategies</a:t>
            </a:r>
            <a:br>
              <a:rPr lang="en-US"/>
            </a:br>
            <a:r>
              <a:rPr lang="en-US"/>
              <a:t>Next deck connection: Deck 18: Answering Questions Like a Scientist.</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Preview the lesson as a practice-and-revision deck, not a one-time speech lesson. Students should have a near-final report, poster, board, or slide product, but they may still be revising their spoken explanation.</a:t>
            </a:r>
            <a:br>
              <a:rPr lang="en-US"/>
            </a:br>
            <a:br>
              <a:rPr lang="en-US"/>
            </a:br>
            <a:r>
              <a:rPr lang="en-US"/>
              <a:t>Resource alignment:</a:t>
            </a:r>
            <a:br>
              <a:rPr lang="en-US"/>
            </a:br>
            <a:r>
              <a:rPr lang="en-US"/>
              <a:t>Use with Unit 6 Student Handout 1: Final Presentation Readiness Check and Unit 6 Appendix A: Presentation Structure Guide. This deck supports Unit 6 Weeks 29–30.</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try to present by reading their written report or poster. Emphasize that the presentation is a guided explanation of the most important ideas and evidence.</a:t>
            </a:r>
            <a:br>
              <a:rPr lang="en-US"/>
            </a:br>
            <a:br>
              <a:rPr lang="en-US"/>
            </a:br>
            <a:r>
              <a:rPr lang="en-US"/>
              <a:t>Resource alignment:</a:t>
            </a:r>
            <a:br>
              <a:rPr lang="en-US"/>
            </a:br>
            <a:r>
              <a:rPr lang="en-US"/>
              <a:t>Use with Unit 6 Student Handout 2: Research Story Refinement. Resource connection: Unit 6 Appendix A: Presentation Structure Guide.</a:t>
            </a:r>
            <a:endParaRPr/>
          </a:p>
        </p:txBody>
      </p:sp>
      <p:sp>
        <p:nvSpPr>
          <p:cNvPr id="56" name="Google Shape;5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check whether their current presentation has all seven parts. If students cannot name their key evidence, they may still be presenting a topic rather than a research finding.</a:t>
            </a:r>
            <a:br>
              <a:rPr lang="en-US"/>
            </a:br>
            <a:br>
              <a:rPr lang="en-US"/>
            </a:br>
            <a:r>
              <a:rPr lang="en-US"/>
              <a:t>Resource alignment:</a:t>
            </a:r>
            <a:br>
              <a:rPr lang="en-US"/>
            </a:br>
            <a:r>
              <a:rPr lang="en-US"/>
              <a:t>Use with Unit 6 Student Handout 2: Research Story Refinement and Unit 6 Appendix A: Presentation Structure Guide.</a:t>
            </a:r>
            <a:endParaRPr/>
          </a:p>
        </p:txBody>
      </p:sp>
      <p:sp>
        <p:nvSpPr>
          <p:cNvPr id="77" name="Google Shape;7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 name="Google Shape;11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Model the difference out loud. Students should hear that the stronger version does not necessarily use fancier words; it uses clearer research logic.</a:t>
            </a:r>
            <a:br>
              <a:rPr lang="en-US"/>
            </a:br>
            <a:br>
              <a:rPr lang="en-US"/>
            </a:br>
            <a:r>
              <a:rPr lang="en-US"/>
              <a:t>Resource alignment:</a:t>
            </a:r>
            <a:br>
              <a:rPr lang="en-US"/>
            </a:br>
            <a:r>
              <a:rPr lang="en-US"/>
              <a:t>Use with Unit 6 Appendix C: Speaking Notes Guide. This also connects back to Unit 5 report structure but shifts from writing to delivery.</a:t>
            </a:r>
            <a:endParaRPr/>
          </a:p>
        </p:txBody>
      </p:sp>
      <p:sp>
        <p:nvSpPr>
          <p:cNvPr id="112" name="Google Shape;11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Emphasize that shorter versions are not watered-down versions. They are more selective versions. This is useful for public showcases where visitors may only stop for a short time.</a:t>
            </a:r>
            <a:br>
              <a:rPr lang="en-US"/>
            </a:br>
            <a:br>
              <a:rPr lang="en-US"/>
            </a:br>
            <a:r>
              <a:rPr lang="en-US"/>
              <a:t>Resource alignment:</a:t>
            </a:r>
            <a:br>
              <a:rPr lang="en-US"/>
            </a:br>
            <a:r>
              <a:rPr lang="en-US"/>
              <a:t>Use with Unit 6 Student Handout 3: Three-Length Presentation Practice. Resource connection: Unit 6 Appendix A: Presentation Structure Guide.</a:t>
            </a:r>
            <a:endParaRP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Give students quiet drafting time before partner practice. Partners should not correct every word; they should check whether the research story is understandable at each length.</a:t>
            </a:r>
            <a:br>
              <a:rPr lang="en-US"/>
            </a:br>
            <a:br>
              <a:rPr lang="en-US"/>
            </a:br>
            <a:r>
              <a:rPr lang="en-US"/>
              <a:t>Resource alignment:</a:t>
            </a:r>
            <a:br>
              <a:rPr lang="en-US"/>
            </a:br>
            <a:r>
              <a:rPr lang="en-US"/>
              <a:t>Use with Unit 6 Student Handout 3: Three-Length Presentation Practice. Students may also reference Unit 6 Appendix C: Speaking Notes Guide.</a:t>
            </a:r>
            <a:endParaRPr/>
          </a:p>
        </p:txBody>
      </p:sp>
      <p:sp>
        <p:nvSpPr>
          <p:cNvPr id="159" name="Google Shape;15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overdescribe methods because it feels safer than interpreting data. Teach them to include enough method detail to make the evidence credible and save deeper details for questions.</a:t>
            </a:r>
            <a:br>
              <a:rPr lang="en-US"/>
            </a:br>
            <a:br>
              <a:rPr lang="en-US"/>
            </a:br>
            <a:r>
              <a:rPr lang="en-US"/>
              <a:t>Resource alignment:</a:t>
            </a:r>
            <a:br>
              <a:rPr lang="en-US"/>
            </a:br>
            <a:r>
              <a:rPr lang="en-US"/>
              <a:t>Use with Unit 6 Student Handout 2: Research Story Refinement and Unit 6 Appendix B: Common Final Presentation Problems.</a:t>
            </a:r>
            <a:endParaRPr/>
          </a:p>
        </p:txBody>
      </p:sp>
      <p:sp>
        <p:nvSpPr>
          <p:cNvPr id="177" name="Google Shape;17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practice with one of their actual graphs or visuals. Many students can make a graph but cannot explain what the audience should notice.</a:t>
            </a:r>
            <a:br>
              <a:rPr lang="en-US"/>
            </a:br>
            <a:br>
              <a:rPr lang="en-US"/>
            </a:br>
            <a:r>
              <a:rPr lang="en-US"/>
              <a:t>Resource alignment:</a:t>
            </a:r>
            <a:br>
              <a:rPr lang="en-US"/>
            </a:br>
            <a:r>
              <a:rPr lang="en-US"/>
              <a:t>Use with Unit 6 Student Handout 4: Practice Presentation Feedback Form and Unit 6 Student Handout 6: Presentation Revision Log. Also reinforces Unit 4 graphing and interpretation work.</a:t>
            </a:r>
            <a:endParaRPr/>
          </a:p>
        </p:txBody>
      </p:sp>
      <p:sp>
        <p:nvSpPr>
          <p:cNvPr id="198" name="Google Shape;1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should be spoken practice, not silent editing. Partners should ask: “What should I notice first?” and “What conclusion would be too strong?”</a:t>
            </a:r>
            <a:br>
              <a:rPr lang="en-US"/>
            </a:br>
            <a:br>
              <a:rPr lang="en-US"/>
            </a:br>
            <a:r>
              <a:rPr lang="en-US"/>
              <a:t>Resource alignment:</a:t>
            </a:r>
            <a:br>
              <a:rPr lang="en-US"/>
            </a:br>
            <a:r>
              <a:rPr lang="en-US"/>
              <a:t>Use with Unit 6 Student Handout 4: Practice Presentation Feedback Form. Resource connection: Unit 6 Appendix D: Feedback Norms for Practice Presentations.</a:t>
            </a:r>
            <a:endParaRPr/>
          </a:p>
        </p:txBody>
      </p:sp>
      <p:sp>
        <p:nvSpPr>
          <p:cNvPr id="228" name="Google Shape;22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need explicit permission to pause while an audience looks at a graph or board. Rushing through visuals makes the evidence feel less important.</a:t>
            </a:r>
            <a:br>
              <a:rPr lang="en-US"/>
            </a:br>
            <a:br>
              <a:rPr lang="en-US"/>
            </a:br>
            <a:r>
              <a:rPr lang="en-US"/>
              <a:t>Resource alignment:</a:t>
            </a:r>
            <a:br>
              <a:rPr lang="en-US"/>
            </a:br>
            <a:r>
              <a:rPr lang="en-US"/>
              <a:t>Use with Unit 6 Student Handout 1: Final Presentation Readiness Check and Unit 6 Appendix B: Common Final Presentation Problems.</a:t>
            </a:r>
            <a:endParaRPr/>
          </a:p>
        </p:txBody>
      </p:sp>
      <p:sp>
        <p:nvSpPr>
          <p:cNvPr id="246" name="Google Shape;246;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need simple transition language. Have them add transition phrases to speaking notes rather than writing full paragraphs.</a:t>
            </a:r>
            <a:br>
              <a:rPr lang="en-US"/>
            </a:br>
            <a:br>
              <a:rPr lang="en-US"/>
            </a:br>
            <a:r>
              <a:rPr lang="en-US"/>
              <a:t>Resource alignment:</a:t>
            </a:r>
            <a:br>
              <a:rPr lang="en-US"/>
            </a:br>
            <a:r>
              <a:rPr lang="en-US"/>
              <a:t>Use with Unit 6 Student Handout 3: Three-Length Presentation Practice and Unit 6 Appendix C: Speaking Notes Guide.</a:t>
            </a:r>
            <a:endParaRPr/>
          </a:p>
        </p:txBody>
      </p:sp>
      <p:sp>
        <p:nvSpPr>
          <p:cNvPr id="267" name="Google Shape;26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prepares students for public showcases. The same project explanation should not sound identical for every audience.</a:t>
            </a:r>
            <a:br>
              <a:rPr lang="en-US"/>
            </a:br>
            <a:br>
              <a:rPr lang="en-US"/>
            </a:br>
            <a:r>
              <a:rPr lang="en-US"/>
              <a:t>Resource alignment:</a:t>
            </a:r>
            <a:br>
              <a:rPr lang="en-US"/>
            </a:br>
            <a:r>
              <a:rPr lang="en-US"/>
              <a:t>Use with Unit 6 Student Handout 5: Audience Adaptation Planner and Unit 6 Appendix E: Audience Types and Communication Strategies.</a:t>
            </a:r>
            <a:endParaRPr/>
          </a:p>
        </p:txBody>
      </p:sp>
      <p:sp>
        <p:nvSpPr>
          <p:cNvPr id="288" name="Google Shape;28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should learn that simplifying does not mean dumbing down. It means selecting language and context that help the audience understand the same evidence.</a:t>
            </a:r>
            <a:br>
              <a:rPr lang="en-US"/>
            </a:br>
            <a:br>
              <a:rPr lang="en-US"/>
            </a:br>
            <a:r>
              <a:rPr lang="en-US"/>
              <a:t>Resource alignment:</a:t>
            </a:r>
            <a:br>
              <a:rPr lang="en-US"/>
            </a:br>
            <a:r>
              <a:rPr lang="en-US"/>
              <a:t>Use with Unit 6 Student Handout 5: Audience Adaptation Planner. Resource connection: Unit 6 Appendix E: Audience Types and Communication Strategies.</a:t>
            </a:r>
            <a:endParaRPr/>
          </a:p>
        </p:txBody>
      </p:sp>
      <p:sp>
        <p:nvSpPr>
          <p:cNvPr id="317" name="Google Shape;3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 name="Google Shape;33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Keep the delivery advice practical and non-theatrical. The goal is professional scientific communication, not dramatic performance.</a:t>
            </a:r>
            <a:br>
              <a:rPr lang="en-US"/>
            </a:br>
            <a:br>
              <a:rPr lang="en-US"/>
            </a:br>
            <a:r>
              <a:rPr lang="en-US"/>
              <a:t>Resource alignment:</a:t>
            </a:r>
            <a:br>
              <a:rPr lang="en-US"/>
            </a:br>
            <a:r>
              <a:rPr lang="en-US"/>
              <a:t>Use with Unit 6 Student Handout 4: Practice Presentation Feedback Form and Unit 6 Appendix C: Speaking Notes Guide.</a:t>
            </a:r>
            <a:endParaRPr/>
          </a:p>
        </p:txBody>
      </p:sp>
      <p:sp>
        <p:nvSpPr>
          <p:cNvPr id="335" name="Google Shape;33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Make students document revisions immediately after practice. Otherwise, useful feedback disappears. Ask them to choose a small number of changes rather than rewriting the whole presentation every time.</a:t>
            </a:r>
            <a:br>
              <a:rPr lang="en-US"/>
            </a:br>
            <a:br>
              <a:rPr lang="en-US"/>
            </a:br>
            <a:r>
              <a:rPr lang="en-US"/>
              <a:t>Resource alignment:</a:t>
            </a:r>
            <a:br>
              <a:rPr lang="en-US"/>
            </a:br>
            <a:r>
              <a:rPr lang="en-US"/>
              <a:t>Use with Unit 6 Student Handout 6: Presentation Revision Log and Unit 6 Appendix D: Feedback Norms for Practice Presentations.</a:t>
            </a:r>
            <a:endParaRPr/>
          </a:p>
        </p:txBody>
      </p:sp>
      <p:sp>
        <p:nvSpPr>
          <p:cNvPr id="364" name="Google Shape;3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0" name="Google Shape;39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main practice structure for the deck. Use short rotations if time is limited. Require the revision log so feedback becomes action.</a:t>
            </a:r>
            <a:br>
              <a:rPr lang="en-US"/>
            </a:br>
            <a:br>
              <a:rPr lang="en-US"/>
            </a:br>
            <a:r>
              <a:rPr lang="en-US"/>
              <a:t>Resource alignment:</a:t>
            </a:r>
            <a:br>
              <a:rPr lang="en-US"/>
            </a:br>
            <a:r>
              <a:rPr lang="en-US"/>
              <a:t>Use with Unit 6 Student Handout 4: Practice Presentation Feedback Form and Unit 6 Student Handout 6: Presentation Revision Log.</a:t>
            </a:r>
            <a:endParaRPr/>
          </a:p>
        </p:txBody>
      </p:sp>
      <p:sp>
        <p:nvSpPr>
          <p:cNvPr id="391" name="Google Shape;39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this exit ticket or have students add it to their presentation revision log. Use responses to plan the next practice session and identify students who need help with data explanation or delivery.</a:t>
            </a:r>
            <a:br>
              <a:rPr lang="en-US"/>
            </a:br>
            <a:br>
              <a:rPr lang="en-US"/>
            </a:br>
            <a:r>
              <a:rPr lang="en-US"/>
              <a:t>Resource alignment:</a:t>
            </a:r>
            <a:br>
              <a:rPr lang="en-US"/>
            </a:br>
            <a:r>
              <a:rPr lang="en-US"/>
              <a:t>Use with Unit 6 Student Handout 6: Presentation Revision Log. Next deck connection: Deck 18: Answering Questions Like a Scientist.</a:t>
            </a:r>
            <a:endParaRPr/>
          </a:p>
        </p:txBody>
      </p:sp>
      <p:sp>
        <p:nvSpPr>
          <p:cNvPr id="409" name="Google Shape;40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128016"/>
            <a:ext cx="12191695" cy="73152"/>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629400"/>
            <a:ext cx="12191695" cy="73152"/>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starlab_assets/starlab_logo.png" id="19" name="Google Shape;19;p3"/>
          <p:cNvPicPr preferRelativeResize="0"/>
          <p:nvPr/>
        </p:nvPicPr>
        <p:blipFill rotWithShape="1">
          <a:blip r:embed="rId3">
            <a:alphaModFix/>
          </a:blip>
          <a:srcRect b="0" l="0" r="0" t="0"/>
          <a:stretch/>
        </p:blipFill>
        <p:spPr>
          <a:xfrm>
            <a:off x="2057400" y="502920"/>
            <a:ext cx="8138160" cy="4069080"/>
          </a:xfrm>
          <a:prstGeom prst="rect">
            <a:avLst/>
          </a:prstGeom>
          <a:noFill/>
          <a:ln>
            <a:noFill/>
          </a:ln>
        </p:spPr>
      </p:pic>
      <p:sp>
        <p:nvSpPr>
          <p:cNvPr id="20" name="Google Shape;20;p3"/>
          <p:cNvSpPr/>
          <p:nvPr/>
        </p:nvSpPr>
        <p:spPr>
          <a:xfrm>
            <a:off x="868680" y="4892040"/>
            <a:ext cx="10469880" cy="841248"/>
          </a:xfrm>
          <a:prstGeom prst="rect">
            <a:avLst/>
          </a:prstGeom>
          <a:solidFill>
            <a:srgbClr val="0B0B0D">
              <a:alpha val="0"/>
            </a:srgbClr>
          </a:solidFill>
          <a:ln cap="flat" cmpd="sng" w="12700">
            <a:solidFill>
              <a:srgbClr val="A8A8A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960120" y="4983480"/>
            <a:ext cx="10287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ORAL PRESENTATION SKILLS</a:t>
            </a:r>
            <a:endParaRPr b="0" i="0" sz="3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FOR RESEARCH</a:t>
            </a:r>
            <a:endParaRPr b="0" i="0" sz="3000" u="none" cap="none" strike="noStrike">
              <a:solidFill>
                <a:schemeClr val="dk1"/>
              </a:solidFill>
              <a:latin typeface="Arial"/>
              <a:ea typeface="Arial"/>
              <a:cs typeface="Arial"/>
              <a:sym typeface="Arial"/>
            </a:endParaRPr>
          </a:p>
        </p:txBody>
      </p:sp>
      <p:sp>
        <p:nvSpPr>
          <p:cNvPr id="22" name="Google Shape;22;p3"/>
          <p:cNvSpPr/>
          <p:nvPr/>
        </p:nvSpPr>
        <p:spPr>
          <a:xfrm>
            <a:off x="960120" y="5806440"/>
            <a:ext cx="6583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250"/>
              <a:buFont typeface="Arial"/>
              <a:buNone/>
            </a:pPr>
            <a:r>
              <a:rPr b="0" i="0" lang="en-US" sz="1250" u="none" cap="none" strike="noStrike">
                <a:solidFill>
                  <a:srgbClr val="A8A8A8"/>
                </a:solidFill>
                <a:latin typeface="Arial"/>
                <a:ea typeface="Arial"/>
                <a:cs typeface="Arial"/>
                <a:sym typeface="Arial"/>
              </a:rPr>
              <a:t>STARLAB Deck 17  •  Unit 6 Core Instruction</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7" name="Shape 27"/>
        <p:cNvGrpSpPr/>
        <p:nvPr/>
      </p:nvGrpSpPr>
      <p:grpSpPr>
        <a:xfrm>
          <a:off x="0" y="0"/>
          <a:ext cx="0" cy="0"/>
          <a:chOff x="0" y="0"/>
          <a:chExt cx="0" cy="0"/>
        </a:xfrm>
      </p:grpSpPr>
      <p:sp>
        <p:nvSpPr>
          <p:cNvPr id="28" name="Google Shape;28;p4"/>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32" name="Google Shape;32;p4"/>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33" name="Google Shape;33;p4"/>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Today’s Target</a:t>
            </a:r>
            <a:endParaRPr b="0" i="0" sz="3000" u="none" cap="none" strike="noStrike">
              <a:solidFill>
                <a:schemeClr val="dk1"/>
              </a:solidFill>
              <a:latin typeface="Arial"/>
              <a:ea typeface="Arial"/>
              <a:cs typeface="Arial"/>
              <a:sym typeface="Arial"/>
            </a:endParaRPr>
          </a:p>
        </p:txBody>
      </p:sp>
      <p:sp>
        <p:nvSpPr>
          <p:cNvPr id="34" name="Google Shape;34;p4"/>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learn to explain research clearly, not simply read a finished report.</a:t>
            </a:r>
            <a:endParaRPr b="0" i="0" sz="1300" u="none" cap="none" strike="noStrike">
              <a:solidFill>
                <a:schemeClr val="dk1"/>
              </a:solidFill>
              <a:latin typeface="Arial"/>
              <a:ea typeface="Arial"/>
              <a:cs typeface="Arial"/>
              <a:sym typeface="Arial"/>
            </a:endParaRPr>
          </a:p>
        </p:txBody>
      </p:sp>
      <p:sp>
        <p:nvSpPr>
          <p:cNvPr id="36" name="Google Shape;36;p4"/>
          <p:cNvSpPr/>
          <p:nvPr/>
        </p:nvSpPr>
        <p:spPr>
          <a:xfrm>
            <a:off x="685800" y="1645920"/>
            <a:ext cx="512064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1800"/>
              <a:buFont typeface="Arial"/>
              <a:buNone/>
            </a:pPr>
            <a:r>
              <a:rPr b="1" i="0" lang="en-US" sz="1800" u="none" cap="none" strike="noStrike">
                <a:solidFill>
                  <a:srgbClr val="A8A8A8"/>
                </a:solidFill>
                <a:latin typeface="Arial"/>
                <a:ea typeface="Arial"/>
                <a:cs typeface="Arial"/>
                <a:sym typeface="Arial"/>
              </a:rPr>
              <a:t>By the end, students should be able to:</a:t>
            </a:r>
            <a:endParaRPr b="0" i="0" sz="1800" u="none" cap="none" strike="noStrike">
              <a:solidFill>
                <a:schemeClr val="dk1"/>
              </a:solidFill>
              <a:latin typeface="Arial"/>
              <a:ea typeface="Arial"/>
              <a:cs typeface="Arial"/>
              <a:sym typeface="Arial"/>
            </a:endParaRPr>
          </a:p>
        </p:txBody>
      </p:sp>
      <p:sp>
        <p:nvSpPr>
          <p:cNvPr id="37" name="Google Shape;37;p4"/>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Identify the story</a:t>
            </a:r>
            <a:endParaRPr b="0" i="0" sz="1100" u="none" cap="none" strike="noStrike">
              <a:solidFill>
                <a:schemeClr val="dk1"/>
              </a:solidFill>
              <a:latin typeface="Arial"/>
              <a:ea typeface="Arial"/>
              <a:cs typeface="Arial"/>
              <a:sym typeface="Arial"/>
            </a:endParaRPr>
          </a:p>
        </p:txBody>
      </p:sp>
      <p:sp>
        <p:nvSpPr>
          <p:cNvPr id="40" name="Google Shape;40;p4"/>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Name the problem, question, method, evidence, conclusion, limitation, and future work.</a:t>
            </a:r>
            <a:endParaRPr b="0" i="0" sz="1600" u="none" cap="none" strike="noStrike">
              <a:solidFill>
                <a:schemeClr val="dk1"/>
              </a:solidFill>
              <a:latin typeface="Arial"/>
              <a:ea typeface="Arial"/>
              <a:cs typeface="Arial"/>
              <a:sym typeface="Arial"/>
            </a:endParaRPr>
          </a:p>
        </p:txBody>
      </p:sp>
      <p:sp>
        <p:nvSpPr>
          <p:cNvPr id="41" name="Google Shape;41;p4"/>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Use visuals well</a:t>
            </a:r>
            <a:endParaRPr b="0" i="0" sz="1100" u="none" cap="none" strike="noStrike">
              <a:solidFill>
                <a:schemeClr val="dk1"/>
              </a:solidFill>
              <a:latin typeface="Arial"/>
              <a:ea typeface="Arial"/>
              <a:cs typeface="Arial"/>
              <a:sym typeface="Arial"/>
            </a:endParaRPr>
          </a:p>
        </p:txBody>
      </p:sp>
      <p:sp>
        <p:nvSpPr>
          <p:cNvPr id="44" name="Google Shape;44;p4"/>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Point to graphs, images, prototypes, or boards while explaining what the audience should notice.</a:t>
            </a:r>
            <a:endParaRPr b="0" i="0" sz="1600" u="none" cap="none" strike="noStrike">
              <a:solidFill>
                <a:schemeClr val="dk1"/>
              </a:solidFill>
              <a:latin typeface="Arial"/>
              <a:ea typeface="Arial"/>
              <a:cs typeface="Arial"/>
              <a:sym typeface="Arial"/>
            </a:endParaRPr>
          </a:p>
        </p:txBody>
      </p:sp>
      <p:sp>
        <p:nvSpPr>
          <p:cNvPr id="45" name="Google Shape;45;p4"/>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Adapt to audience</a:t>
            </a:r>
            <a:endParaRPr b="0" i="0" sz="1100" u="none" cap="none" strike="noStrike">
              <a:solidFill>
                <a:schemeClr val="dk1"/>
              </a:solidFill>
              <a:latin typeface="Arial"/>
              <a:ea typeface="Arial"/>
              <a:cs typeface="Arial"/>
              <a:sym typeface="Arial"/>
            </a:endParaRPr>
          </a:p>
        </p:txBody>
      </p:sp>
      <p:sp>
        <p:nvSpPr>
          <p:cNvPr id="48" name="Google Shape;48;p4"/>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Explain the same project at different levels of detail for different listeners.</a:t>
            </a:r>
            <a:endParaRPr b="0" i="0" sz="1600" u="none" cap="none" strike="noStrike">
              <a:solidFill>
                <a:schemeClr val="dk1"/>
              </a:solidFill>
              <a:latin typeface="Arial"/>
              <a:ea typeface="Arial"/>
              <a:cs typeface="Arial"/>
              <a:sym typeface="Arial"/>
            </a:endParaRPr>
          </a:p>
        </p:txBody>
      </p:sp>
      <p:sp>
        <p:nvSpPr>
          <p:cNvPr id="49" name="Google Shape;49;p4"/>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Practice with purpose</a:t>
            </a:r>
            <a:endParaRPr b="0" i="0" sz="1100" u="none" cap="none" strike="noStrike">
              <a:solidFill>
                <a:schemeClr val="dk1"/>
              </a:solidFill>
              <a:latin typeface="Arial"/>
              <a:ea typeface="Arial"/>
              <a:cs typeface="Arial"/>
              <a:sym typeface="Arial"/>
            </a:endParaRPr>
          </a:p>
        </p:txBody>
      </p:sp>
      <p:sp>
        <p:nvSpPr>
          <p:cNvPr id="52" name="Google Shape;52;p4"/>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Use feedback to revise speaking notes, pacing, delivery, and evidence explanation.</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57" name="Shape 57"/>
        <p:cNvGrpSpPr/>
        <p:nvPr/>
      </p:nvGrpSpPr>
      <p:grpSpPr>
        <a:xfrm>
          <a:off x="0" y="0"/>
          <a:ext cx="0" cy="0"/>
          <a:chOff x="0" y="0"/>
          <a:chExt cx="0" cy="0"/>
        </a:xfrm>
      </p:grpSpPr>
      <p:sp>
        <p:nvSpPr>
          <p:cNvPr id="58" name="Google Shape;58;p5"/>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62" name="Google Shape;62;p5"/>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63" name="Google Shape;63;p5"/>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 Presentation Is Not the Report</a:t>
            </a:r>
            <a:endParaRPr b="0" i="0" sz="3000" u="none" cap="none" strike="noStrike">
              <a:solidFill>
                <a:schemeClr val="dk1"/>
              </a:solidFill>
              <a:latin typeface="Arial"/>
              <a:ea typeface="Arial"/>
              <a:cs typeface="Arial"/>
              <a:sym typeface="Arial"/>
            </a:endParaRPr>
          </a:p>
        </p:txBody>
      </p:sp>
      <p:sp>
        <p:nvSpPr>
          <p:cNvPr id="64" name="Google Shape;64;p5"/>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The report contains detail. The presentation guides attention.</a:t>
            </a:r>
            <a:endParaRPr b="0" i="0" sz="1300" u="none" cap="none" strike="noStrike">
              <a:solidFill>
                <a:schemeClr val="dk1"/>
              </a:solidFill>
              <a:latin typeface="Arial"/>
              <a:ea typeface="Arial"/>
              <a:cs typeface="Arial"/>
              <a:sym typeface="Arial"/>
            </a:endParaRPr>
          </a:p>
        </p:txBody>
      </p:sp>
      <p:sp>
        <p:nvSpPr>
          <p:cNvPr id="66" name="Google Shape;66;p5"/>
          <p:cNvSpPr/>
          <p:nvPr/>
        </p:nvSpPr>
        <p:spPr>
          <a:xfrm>
            <a:off x="68580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68580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THE REPORT</a:t>
            </a:r>
            <a:endParaRPr b="0" i="0" sz="1100" u="none" cap="none" strike="noStrike">
              <a:solidFill>
                <a:schemeClr val="dk1"/>
              </a:solidFill>
              <a:latin typeface="Arial"/>
              <a:ea typeface="Arial"/>
              <a:cs typeface="Arial"/>
              <a:sym typeface="Arial"/>
            </a:endParaRPr>
          </a:p>
        </p:txBody>
      </p:sp>
      <p:sp>
        <p:nvSpPr>
          <p:cNvPr id="69" name="Google Shape;69;p5"/>
          <p:cNvSpPr/>
          <p:nvPr/>
        </p:nvSpPr>
        <p:spPr>
          <a:xfrm>
            <a:off x="88696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Provides the full written record.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More detail</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Formal sections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Complete methods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Full discussion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References and appendices</a:t>
            </a:r>
            <a:endParaRPr b="0" i="0" sz="1600" u="none" cap="none" strike="noStrike">
              <a:solidFill>
                <a:schemeClr val="dk1"/>
              </a:solidFill>
              <a:latin typeface="Arial"/>
              <a:ea typeface="Arial"/>
              <a:cs typeface="Arial"/>
              <a:sym typeface="Arial"/>
            </a:endParaRPr>
          </a:p>
        </p:txBody>
      </p:sp>
      <p:sp>
        <p:nvSpPr>
          <p:cNvPr id="70" name="Google Shape;70;p5"/>
          <p:cNvSpPr/>
          <p:nvPr/>
        </p:nvSpPr>
        <p:spPr>
          <a:xfrm>
            <a:off x="635508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635508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THE PRESENTATION</a:t>
            </a:r>
            <a:endParaRPr b="0" i="0" sz="1100" u="none" cap="none" strike="noStrike">
              <a:solidFill>
                <a:schemeClr val="dk1"/>
              </a:solidFill>
              <a:latin typeface="Arial"/>
              <a:ea typeface="Arial"/>
              <a:cs typeface="Arial"/>
              <a:sym typeface="Arial"/>
            </a:endParaRPr>
          </a:p>
        </p:txBody>
      </p:sp>
      <p:sp>
        <p:nvSpPr>
          <p:cNvPr id="73" name="Google Shape;73;p5"/>
          <p:cNvSpPr/>
          <p:nvPr/>
        </p:nvSpPr>
        <p:spPr>
          <a:xfrm>
            <a:off x="655624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Helps an audience understand the research story.</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Clear path</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Key evidence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Visual guidance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Spoken interpretation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Questions and dialogue</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78" name="Shape 78"/>
        <p:cNvGrpSpPr/>
        <p:nvPr/>
      </p:nvGrpSpPr>
      <p:grpSpPr>
        <a:xfrm>
          <a:off x="0" y="0"/>
          <a:ext cx="0" cy="0"/>
          <a:chOff x="0" y="0"/>
          <a:chExt cx="0" cy="0"/>
        </a:xfrm>
      </p:grpSpPr>
      <p:sp>
        <p:nvSpPr>
          <p:cNvPr id="79" name="Google Shape;79;p6"/>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6"/>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83" name="Google Shape;83;p6"/>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84" name="Google Shape;84;p6"/>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The Research Story Spine</a:t>
            </a:r>
            <a:endParaRPr b="0" i="0" sz="3000" u="none" cap="none" strike="noStrike">
              <a:solidFill>
                <a:schemeClr val="dk1"/>
              </a:solidFill>
              <a:latin typeface="Arial"/>
              <a:ea typeface="Arial"/>
              <a:cs typeface="Arial"/>
              <a:sym typeface="Arial"/>
            </a:endParaRPr>
          </a:p>
        </p:txBody>
      </p:sp>
      <p:sp>
        <p:nvSpPr>
          <p:cNvPr id="85" name="Google Shape;85;p6"/>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Every strong research presentation has a clear path.</a:t>
            </a:r>
            <a:endParaRPr b="0" i="0" sz="1300" u="none" cap="none" strike="noStrike">
              <a:solidFill>
                <a:schemeClr val="dk1"/>
              </a:solidFill>
              <a:latin typeface="Arial"/>
              <a:ea typeface="Arial"/>
              <a:cs typeface="Arial"/>
              <a:sym typeface="Arial"/>
            </a:endParaRPr>
          </a:p>
        </p:txBody>
      </p:sp>
      <p:sp>
        <p:nvSpPr>
          <p:cNvPr id="87" name="Google Shape;87;p6"/>
          <p:cNvSpPr/>
          <p:nvPr/>
        </p:nvSpPr>
        <p:spPr>
          <a:xfrm>
            <a:off x="640080"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6"/>
          <p:cNvSpPr/>
          <p:nvPr/>
        </p:nvSpPr>
        <p:spPr>
          <a:xfrm>
            <a:off x="685800"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Problem</a:t>
            </a:r>
            <a:endParaRPr b="0" i="0" sz="1300" u="none" cap="none" strike="noStrike">
              <a:solidFill>
                <a:schemeClr val="dk1"/>
              </a:solidFill>
              <a:latin typeface="Arial"/>
              <a:ea typeface="Arial"/>
              <a:cs typeface="Arial"/>
              <a:sym typeface="Arial"/>
            </a:endParaRPr>
          </a:p>
        </p:txBody>
      </p:sp>
      <p:cxnSp>
        <p:nvCxnSpPr>
          <p:cNvPr id="89" name="Google Shape;89;p6"/>
          <p:cNvCxnSpPr/>
          <p:nvPr/>
        </p:nvCxnSpPr>
        <p:spPr>
          <a:xfrm>
            <a:off x="1965960"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90" name="Google Shape;90;p6"/>
          <p:cNvSpPr/>
          <p:nvPr/>
        </p:nvSpPr>
        <p:spPr>
          <a:xfrm>
            <a:off x="2304288"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6"/>
          <p:cNvSpPr/>
          <p:nvPr/>
        </p:nvSpPr>
        <p:spPr>
          <a:xfrm>
            <a:off x="2350008"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Question / Goal</a:t>
            </a:r>
            <a:endParaRPr b="0" i="0" sz="1300" u="none" cap="none" strike="noStrike">
              <a:solidFill>
                <a:schemeClr val="dk1"/>
              </a:solidFill>
              <a:latin typeface="Arial"/>
              <a:ea typeface="Arial"/>
              <a:cs typeface="Arial"/>
              <a:sym typeface="Arial"/>
            </a:endParaRPr>
          </a:p>
        </p:txBody>
      </p:sp>
      <p:cxnSp>
        <p:nvCxnSpPr>
          <p:cNvPr id="92" name="Google Shape;92;p6"/>
          <p:cNvCxnSpPr/>
          <p:nvPr/>
        </p:nvCxnSpPr>
        <p:spPr>
          <a:xfrm>
            <a:off x="3630168"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93" name="Google Shape;93;p6"/>
          <p:cNvSpPr/>
          <p:nvPr/>
        </p:nvSpPr>
        <p:spPr>
          <a:xfrm>
            <a:off x="3968496"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4014216"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Method</a:t>
            </a:r>
            <a:endParaRPr b="0" i="0" sz="1300" u="none" cap="none" strike="noStrike">
              <a:solidFill>
                <a:schemeClr val="dk1"/>
              </a:solidFill>
              <a:latin typeface="Arial"/>
              <a:ea typeface="Arial"/>
              <a:cs typeface="Arial"/>
              <a:sym typeface="Arial"/>
            </a:endParaRPr>
          </a:p>
        </p:txBody>
      </p:sp>
      <p:cxnSp>
        <p:nvCxnSpPr>
          <p:cNvPr id="95" name="Google Shape;95;p6"/>
          <p:cNvCxnSpPr/>
          <p:nvPr/>
        </p:nvCxnSpPr>
        <p:spPr>
          <a:xfrm>
            <a:off x="5294376"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96" name="Google Shape;96;p6"/>
          <p:cNvSpPr/>
          <p:nvPr/>
        </p:nvSpPr>
        <p:spPr>
          <a:xfrm>
            <a:off x="5632704" y="1874520"/>
            <a:ext cx="1325880" cy="68580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6"/>
          <p:cNvSpPr/>
          <p:nvPr/>
        </p:nvSpPr>
        <p:spPr>
          <a:xfrm>
            <a:off x="5678424"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Evidence</a:t>
            </a:r>
            <a:endParaRPr b="0" i="0" sz="1300" u="none" cap="none" strike="noStrike">
              <a:solidFill>
                <a:schemeClr val="dk1"/>
              </a:solidFill>
              <a:latin typeface="Arial"/>
              <a:ea typeface="Arial"/>
              <a:cs typeface="Arial"/>
              <a:sym typeface="Arial"/>
            </a:endParaRPr>
          </a:p>
        </p:txBody>
      </p:sp>
      <p:cxnSp>
        <p:nvCxnSpPr>
          <p:cNvPr id="98" name="Google Shape;98;p6"/>
          <p:cNvCxnSpPr/>
          <p:nvPr/>
        </p:nvCxnSpPr>
        <p:spPr>
          <a:xfrm>
            <a:off x="6958584"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99" name="Google Shape;99;p6"/>
          <p:cNvSpPr/>
          <p:nvPr/>
        </p:nvSpPr>
        <p:spPr>
          <a:xfrm>
            <a:off x="7296912"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6"/>
          <p:cNvSpPr/>
          <p:nvPr/>
        </p:nvSpPr>
        <p:spPr>
          <a:xfrm>
            <a:off x="7342632"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Conclusion</a:t>
            </a:r>
            <a:endParaRPr b="0" i="0" sz="1300" u="none" cap="none" strike="noStrike">
              <a:solidFill>
                <a:schemeClr val="dk1"/>
              </a:solidFill>
              <a:latin typeface="Arial"/>
              <a:ea typeface="Arial"/>
              <a:cs typeface="Arial"/>
              <a:sym typeface="Arial"/>
            </a:endParaRPr>
          </a:p>
        </p:txBody>
      </p:sp>
      <p:cxnSp>
        <p:nvCxnSpPr>
          <p:cNvPr id="101" name="Google Shape;101;p6"/>
          <p:cNvCxnSpPr/>
          <p:nvPr/>
        </p:nvCxnSpPr>
        <p:spPr>
          <a:xfrm>
            <a:off x="8622792"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102" name="Google Shape;102;p6"/>
          <p:cNvSpPr/>
          <p:nvPr/>
        </p:nvSpPr>
        <p:spPr>
          <a:xfrm>
            <a:off x="8961120"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6"/>
          <p:cNvSpPr/>
          <p:nvPr/>
        </p:nvSpPr>
        <p:spPr>
          <a:xfrm>
            <a:off x="9006840"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Limitation</a:t>
            </a:r>
            <a:endParaRPr b="0" i="0" sz="1300" u="none" cap="none" strike="noStrike">
              <a:solidFill>
                <a:schemeClr val="dk1"/>
              </a:solidFill>
              <a:latin typeface="Arial"/>
              <a:ea typeface="Arial"/>
              <a:cs typeface="Arial"/>
              <a:sym typeface="Arial"/>
            </a:endParaRPr>
          </a:p>
        </p:txBody>
      </p:sp>
      <p:cxnSp>
        <p:nvCxnSpPr>
          <p:cNvPr id="104" name="Google Shape;104;p6"/>
          <p:cNvCxnSpPr/>
          <p:nvPr/>
        </p:nvCxnSpPr>
        <p:spPr>
          <a:xfrm>
            <a:off x="10287000" y="2212848"/>
            <a:ext cx="320040" cy="0"/>
          </a:xfrm>
          <a:prstGeom prst="straightConnector1">
            <a:avLst/>
          </a:prstGeom>
          <a:noFill/>
          <a:ln cap="flat" cmpd="sng" w="12700">
            <a:solidFill>
              <a:srgbClr val="A8A8A8"/>
            </a:solidFill>
            <a:prstDash val="solid"/>
            <a:round/>
            <a:headEnd len="sm" w="sm" type="none"/>
            <a:tailEnd len="med" w="med" type="triangle"/>
          </a:ln>
        </p:spPr>
      </p:cxnSp>
      <p:sp>
        <p:nvSpPr>
          <p:cNvPr id="105" name="Google Shape;105;p6"/>
          <p:cNvSpPr/>
          <p:nvPr/>
        </p:nvSpPr>
        <p:spPr>
          <a:xfrm>
            <a:off x="10625328" y="1874520"/>
            <a:ext cx="1325880" cy="685800"/>
          </a:xfrm>
          <a:prstGeom prst="rect">
            <a:avLst/>
          </a:prstGeom>
          <a:solidFill>
            <a:srgbClr val="111113"/>
          </a:solidFill>
          <a:ln cap="flat" cmpd="sng" w="12700">
            <a:solidFill>
              <a:srgbClr val="5A5A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10671048" y="2039112"/>
            <a:ext cx="12344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Future Work</a:t>
            </a:r>
            <a:endParaRPr b="0" i="0" sz="1300" u="none" cap="none" strike="noStrike">
              <a:solidFill>
                <a:schemeClr val="dk1"/>
              </a:solidFill>
              <a:latin typeface="Arial"/>
              <a:ea typeface="Arial"/>
              <a:cs typeface="Arial"/>
              <a:sym typeface="Arial"/>
            </a:endParaRPr>
          </a:p>
        </p:txBody>
      </p:sp>
      <p:sp>
        <p:nvSpPr>
          <p:cNvPr id="107" name="Google Shape;107;p6"/>
          <p:cNvSpPr/>
          <p:nvPr/>
        </p:nvSpPr>
        <p:spPr>
          <a:xfrm>
            <a:off x="1097280" y="3154680"/>
            <a:ext cx="9875520" cy="5486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400"/>
              <a:buFont typeface="Arial"/>
              <a:buNone/>
            </a:pPr>
            <a:r>
              <a:rPr b="1" i="0" lang="en-US" sz="2400" u="none" cap="none" strike="noStrike">
                <a:solidFill>
                  <a:srgbClr val="F4F4F4"/>
                </a:solidFill>
                <a:latin typeface="Arial"/>
                <a:ea typeface="Arial"/>
                <a:cs typeface="Arial"/>
                <a:sym typeface="Arial"/>
              </a:rPr>
              <a:t>Audience confusion usually happens when one link in the story spine is missing or out of order.</a:t>
            </a:r>
            <a:endParaRPr b="0" i="0" sz="2400" u="none" cap="none" strike="noStrike">
              <a:solidFill>
                <a:schemeClr val="dk1"/>
              </a:solidFill>
              <a:latin typeface="Arial"/>
              <a:ea typeface="Arial"/>
              <a:cs typeface="Arial"/>
              <a:sym typeface="Arial"/>
            </a:endParaRPr>
          </a:p>
        </p:txBody>
      </p:sp>
      <p:sp>
        <p:nvSpPr>
          <p:cNvPr id="108" name="Google Shape;108;p6"/>
          <p:cNvSpPr/>
          <p:nvPr/>
        </p:nvSpPr>
        <p:spPr>
          <a:xfrm>
            <a:off x="1417320" y="3886200"/>
            <a:ext cx="9144000" cy="7772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0" i="0" lang="en-US" sz="2000" u="none" cap="none" strike="noStrike">
                <a:solidFill>
                  <a:srgbClr val="A8A8A8"/>
                </a:solidFill>
                <a:latin typeface="Arial"/>
                <a:ea typeface="Arial"/>
                <a:cs typeface="Arial"/>
                <a:sym typeface="Arial"/>
              </a:rPr>
              <a:t>A presentation does not need every detail from the project. It needs a complete path through the evidence.</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13" name="Shape 113"/>
        <p:cNvGrpSpPr/>
        <p:nvPr/>
      </p:nvGrpSpPr>
      <p:grpSpPr>
        <a:xfrm>
          <a:off x="0" y="0"/>
          <a:ext cx="0" cy="0"/>
          <a:chOff x="0" y="0"/>
          <a:chExt cx="0" cy="0"/>
        </a:xfrm>
      </p:grpSpPr>
      <p:sp>
        <p:nvSpPr>
          <p:cNvPr id="114" name="Google Shape;114;p7"/>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7"/>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118" name="Google Shape;118;p7"/>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119" name="Google Shape;119;p7"/>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Speak as the Researcher</a:t>
            </a:r>
            <a:endParaRPr b="0" i="0" sz="3000" u="none" cap="none" strike="noStrike">
              <a:solidFill>
                <a:schemeClr val="dk1"/>
              </a:solidFill>
              <a:latin typeface="Arial"/>
              <a:ea typeface="Arial"/>
              <a:cs typeface="Arial"/>
              <a:sym typeface="Arial"/>
            </a:endParaRPr>
          </a:p>
        </p:txBody>
      </p:sp>
      <p:sp>
        <p:nvSpPr>
          <p:cNvPr id="120" name="Google Shape;120;p7"/>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The audience needs your thinking, not your memorized paragraphs.</a:t>
            </a:r>
            <a:endParaRPr b="0" i="0" sz="1300" u="none" cap="none" strike="noStrike">
              <a:solidFill>
                <a:schemeClr val="dk1"/>
              </a:solidFill>
              <a:latin typeface="Arial"/>
              <a:ea typeface="Arial"/>
              <a:cs typeface="Arial"/>
              <a:sym typeface="Arial"/>
            </a:endParaRPr>
          </a:p>
        </p:txBody>
      </p:sp>
      <p:sp>
        <p:nvSpPr>
          <p:cNvPr id="122" name="Google Shape;122;p7"/>
          <p:cNvSpPr/>
          <p:nvPr/>
        </p:nvSpPr>
        <p:spPr>
          <a:xfrm>
            <a:off x="68580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7"/>
          <p:cNvSpPr/>
          <p:nvPr/>
        </p:nvSpPr>
        <p:spPr>
          <a:xfrm>
            <a:off x="68580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LESS EFFECTIVE</a:t>
            </a:r>
            <a:endParaRPr b="0" i="0" sz="1100" u="none" cap="none" strike="noStrike">
              <a:solidFill>
                <a:schemeClr val="dk1"/>
              </a:solidFill>
              <a:latin typeface="Arial"/>
              <a:ea typeface="Arial"/>
              <a:cs typeface="Arial"/>
              <a:sym typeface="Arial"/>
            </a:endParaRPr>
          </a:p>
        </p:txBody>
      </p:sp>
      <p:sp>
        <p:nvSpPr>
          <p:cNvPr id="125" name="Google Shape;125;p7"/>
          <p:cNvSpPr/>
          <p:nvPr/>
        </p:nvSpPr>
        <p:spPr>
          <a:xfrm>
            <a:off x="88696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“My introduction says... then my methods say... then this graph is here...”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The audience hears sections, not reasoning.</a:t>
            </a:r>
            <a:endParaRPr b="0" i="0" sz="1600" u="none" cap="none" strike="noStrike">
              <a:solidFill>
                <a:schemeClr val="dk1"/>
              </a:solidFill>
              <a:latin typeface="Arial"/>
              <a:ea typeface="Arial"/>
              <a:cs typeface="Arial"/>
              <a:sym typeface="Arial"/>
            </a:endParaRPr>
          </a:p>
        </p:txBody>
      </p:sp>
      <p:sp>
        <p:nvSpPr>
          <p:cNvPr id="126" name="Google Shape;126;p7"/>
          <p:cNvSpPr/>
          <p:nvPr/>
        </p:nvSpPr>
        <p:spPr>
          <a:xfrm>
            <a:off x="635508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635508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7"/>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MORE EFFECTIVE</a:t>
            </a:r>
            <a:endParaRPr b="0" i="0" sz="1100" u="none" cap="none" strike="noStrike">
              <a:solidFill>
                <a:schemeClr val="dk1"/>
              </a:solidFill>
              <a:latin typeface="Arial"/>
              <a:ea typeface="Arial"/>
              <a:cs typeface="Arial"/>
              <a:sym typeface="Arial"/>
            </a:endParaRPr>
          </a:p>
        </p:txBody>
      </p:sp>
      <p:sp>
        <p:nvSpPr>
          <p:cNvPr id="129" name="Google Shape;129;p7"/>
          <p:cNvSpPr/>
          <p:nvPr/>
        </p:nvSpPr>
        <p:spPr>
          <a:xfrm>
            <a:off x="655624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“The key question was... so I tested... The most important evidence is... This suggests... but one limitation is...”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The audience hears a scientific argument.</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34" name="Shape 134"/>
        <p:cNvGrpSpPr/>
        <p:nvPr/>
      </p:nvGrpSpPr>
      <p:grpSpPr>
        <a:xfrm>
          <a:off x="0" y="0"/>
          <a:ext cx="0" cy="0"/>
          <a:chOff x="0" y="0"/>
          <a:chExt cx="0" cy="0"/>
        </a:xfrm>
      </p:grpSpPr>
      <p:sp>
        <p:nvSpPr>
          <p:cNvPr id="135" name="Google Shape;135;p8"/>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8"/>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8"/>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139" name="Google Shape;139;p8"/>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140" name="Google Shape;140;p8"/>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Three Lengths, One Project</a:t>
            </a:r>
            <a:endParaRPr b="0" i="0" sz="3000" u="none" cap="none" strike="noStrike">
              <a:solidFill>
                <a:schemeClr val="dk1"/>
              </a:solidFill>
              <a:latin typeface="Arial"/>
              <a:ea typeface="Arial"/>
              <a:cs typeface="Arial"/>
              <a:sym typeface="Arial"/>
            </a:endParaRPr>
          </a:p>
        </p:txBody>
      </p:sp>
      <p:sp>
        <p:nvSpPr>
          <p:cNvPr id="141" name="Google Shape;141;p8"/>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Researchers need flexible explanations.</a:t>
            </a:r>
            <a:endParaRPr b="0" i="0" sz="1300" u="none" cap="none" strike="noStrike">
              <a:solidFill>
                <a:schemeClr val="dk1"/>
              </a:solidFill>
              <a:latin typeface="Arial"/>
              <a:ea typeface="Arial"/>
              <a:cs typeface="Arial"/>
              <a:sym typeface="Arial"/>
            </a:endParaRPr>
          </a:p>
        </p:txBody>
      </p:sp>
      <p:sp>
        <p:nvSpPr>
          <p:cNvPr id="143" name="Google Shape;143;p8"/>
          <p:cNvSpPr/>
          <p:nvPr/>
        </p:nvSpPr>
        <p:spPr>
          <a:xfrm>
            <a:off x="731520" y="1645920"/>
            <a:ext cx="3520440" cy="31089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8"/>
          <p:cNvSpPr/>
          <p:nvPr/>
        </p:nvSpPr>
        <p:spPr>
          <a:xfrm>
            <a:off x="731520" y="1645920"/>
            <a:ext cx="64008" cy="31089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8"/>
          <p:cNvSpPr/>
          <p:nvPr/>
        </p:nvSpPr>
        <p:spPr>
          <a:xfrm>
            <a:off x="932688" y="1783080"/>
            <a:ext cx="3200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30 SECONDS</a:t>
            </a:r>
            <a:endParaRPr b="0" i="0" sz="1100" u="none" cap="none" strike="noStrike">
              <a:solidFill>
                <a:schemeClr val="dk1"/>
              </a:solidFill>
              <a:latin typeface="Arial"/>
              <a:ea typeface="Arial"/>
              <a:cs typeface="Arial"/>
              <a:sym typeface="Arial"/>
            </a:endParaRPr>
          </a:p>
        </p:txBody>
      </p:sp>
      <p:sp>
        <p:nvSpPr>
          <p:cNvPr id="146" name="Google Shape;146;p8"/>
          <p:cNvSpPr/>
          <p:nvPr/>
        </p:nvSpPr>
        <p:spPr>
          <a:xfrm>
            <a:off x="932688" y="2103120"/>
            <a:ext cx="3200400" cy="2542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A quick explanation for someone walking by. Focus on the problem, what you tested, and the main finding.</a:t>
            </a:r>
            <a:endParaRPr b="0" i="0" sz="1600" u="none" cap="none" strike="noStrike">
              <a:solidFill>
                <a:schemeClr val="dk1"/>
              </a:solidFill>
              <a:latin typeface="Arial"/>
              <a:ea typeface="Arial"/>
              <a:cs typeface="Arial"/>
              <a:sym typeface="Arial"/>
            </a:endParaRPr>
          </a:p>
        </p:txBody>
      </p:sp>
      <p:sp>
        <p:nvSpPr>
          <p:cNvPr id="147" name="Google Shape;147;p8"/>
          <p:cNvSpPr/>
          <p:nvPr/>
        </p:nvSpPr>
        <p:spPr>
          <a:xfrm>
            <a:off x="4343400" y="1645920"/>
            <a:ext cx="3520440" cy="31089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8"/>
          <p:cNvSpPr/>
          <p:nvPr/>
        </p:nvSpPr>
        <p:spPr>
          <a:xfrm>
            <a:off x="4343400" y="1645920"/>
            <a:ext cx="64008" cy="31089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8"/>
          <p:cNvSpPr/>
          <p:nvPr/>
        </p:nvSpPr>
        <p:spPr>
          <a:xfrm>
            <a:off x="4544568" y="1783080"/>
            <a:ext cx="3200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2 MINUTES</a:t>
            </a:r>
            <a:endParaRPr b="0" i="0" sz="1100" u="none" cap="none" strike="noStrike">
              <a:solidFill>
                <a:schemeClr val="dk1"/>
              </a:solidFill>
              <a:latin typeface="Arial"/>
              <a:ea typeface="Arial"/>
              <a:cs typeface="Arial"/>
              <a:sym typeface="Arial"/>
            </a:endParaRPr>
          </a:p>
        </p:txBody>
      </p:sp>
      <p:sp>
        <p:nvSpPr>
          <p:cNvPr id="150" name="Google Shape;150;p8"/>
          <p:cNvSpPr/>
          <p:nvPr/>
        </p:nvSpPr>
        <p:spPr>
          <a:xfrm>
            <a:off x="4544568" y="2103120"/>
            <a:ext cx="3200400" cy="2542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A poster-session version. Include question, method overview, key evidence, and conclusion.</a:t>
            </a:r>
            <a:endParaRPr b="0" i="0" sz="1600" u="none" cap="none" strike="noStrike">
              <a:solidFill>
                <a:schemeClr val="dk1"/>
              </a:solidFill>
              <a:latin typeface="Arial"/>
              <a:ea typeface="Arial"/>
              <a:cs typeface="Arial"/>
              <a:sym typeface="Arial"/>
            </a:endParaRPr>
          </a:p>
        </p:txBody>
      </p:sp>
      <p:sp>
        <p:nvSpPr>
          <p:cNvPr id="151" name="Google Shape;151;p8"/>
          <p:cNvSpPr/>
          <p:nvPr/>
        </p:nvSpPr>
        <p:spPr>
          <a:xfrm>
            <a:off x="7955280" y="1645920"/>
            <a:ext cx="3520440" cy="31089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8"/>
          <p:cNvSpPr/>
          <p:nvPr/>
        </p:nvSpPr>
        <p:spPr>
          <a:xfrm>
            <a:off x="7955280" y="1645920"/>
            <a:ext cx="64008" cy="31089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8"/>
          <p:cNvSpPr/>
          <p:nvPr/>
        </p:nvSpPr>
        <p:spPr>
          <a:xfrm>
            <a:off x="8156448" y="1783080"/>
            <a:ext cx="3200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FORMAL VERSION</a:t>
            </a:r>
            <a:endParaRPr b="0" i="0" sz="1100" u="none" cap="none" strike="noStrike">
              <a:solidFill>
                <a:schemeClr val="dk1"/>
              </a:solidFill>
              <a:latin typeface="Arial"/>
              <a:ea typeface="Arial"/>
              <a:cs typeface="Arial"/>
              <a:sym typeface="Arial"/>
            </a:endParaRPr>
          </a:p>
        </p:txBody>
      </p:sp>
      <p:sp>
        <p:nvSpPr>
          <p:cNvPr id="154" name="Google Shape;154;p8"/>
          <p:cNvSpPr/>
          <p:nvPr/>
        </p:nvSpPr>
        <p:spPr>
          <a:xfrm>
            <a:off x="8156448" y="2103120"/>
            <a:ext cx="3200400" cy="25420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A full presentation. Include background, method, results, interpretation, limitations, and future work.</a:t>
            </a:r>
            <a:endParaRPr b="0" i="0" sz="1600" u="none" cap="none" strike="noStrike">
              <a:solidFill>
                <a:schemeClr val="dk1"/>
              </a:solidFill>
              <a:latin typeface="Arial"/>
              <a:ea typeface="Arial"/>
              <a:cs typeface="Arial"/>
              <a:sym typeface="Arial"/>
            </a:endParaRPr>
          </a:p>
        </p:txBody>
      </p:sp>
      <p:sp>
        <p:nvSpPr>
          <p:cNvPr id="155" name="Google Shape;155;p8"/>
          <p:cNvSpPr/>
          <p:nvPr/>
        </p:nvSpPr>
        <p:spPr>
          <a:xfrm>
            <a:off x="960120" y="5257800"/>
            <a:ext cx="10241280" cy="41148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200"/>
              <a:buFont typeface="Arial"/>
              <a:buNone/>
            </a:pPr>
            <a:r>
              <a:rPr b="1" i="0" lang="en-US" sz="2200" u="none" cap="none" strike="noStrike">
                <a:solidFill>
                  <a:srgbClr val="F4F4F4"/>
                </a:solidFill>
                <a:latin typeface="Arial"/>
                <a:ea typeface="Arial"/>
                <a:cs typeface="Arial"/>
                <a:sym typeface="Arial"/>
              </a:rPr>
              <a:t>The length changes. The research story stays coherent.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60" name="Shape 160"/>
        <p:cNvGrpSpPr/>
        <p:nvPr/>
      </p:nvGrpSpPr>
      <p:grpSpPr>
        <a:xfrm>
          <a:off x="0" y="0"/>
          <a:ext cx="0" cy="0"/>
          <a:chOff x="0" y="0"/>
          <a:chExt cx="0" cy="0"/>
        </a:xfrm>
      </p:grpSpPr>
      <p:sp>
        <p:nvSpPr>
          <p:cNvPr id="161" name="Google Shape;161;p9"/>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9"/>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165" name="Google Shape;165;p9"/>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166" name="Google Shape;166;p9"/>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Build the Three Versions</a:t>
            </a:r>
            <a:endParaRPr b="0" i="0" sz="3000" u="none" cap="none" strike="noStrike">
              <a:solidFill>
                <a:schemeClr val="dk1"/>
              </a:solidFill>
              <a:latin typeface="Arial"/>
              <a:ea typeface="Arial"/>
              <a:cs typeface="Arial"/>
              <a:sym typeface="Arial"/>
            </a:endParaRPr>
          </a:p>
        </p:txBody>
      </p:sp>
      <p:sp>
        <p:nvSpPr>
          <p:cNvPr id="167" name="Google Shape;167;p9"/>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Practice compressing without losing the research story.</a:t>
            </a:r>
            <a:endParaRPr b="0" i="0" sz="1300" u="none" cap="none" strike="noStrike">
              <a:solidFill>
                <a:schemeClr val="dk1"/>
              </a:solidFill>
              <a:latin typeface="Arial"/>
              <a:ea typeface="Arial"/>
              <a:cs typeface="Arial"/>
              <a:sym typeface="Arial"/>
            </a:endParaRPr>
          </a:p>
        </p:txBody>
      </p:sp>
      <p:sp>
        <p:nvSpPr>
          <p:cNvPr id="169" name="Google Shape;169;p9"/>
          <p:cNvSpPr/>
          <p:nvPr/>
        </p:nvSpPr>
        <p:spPr>
          <a:xfrm>
            <a:off x="640080" y="157276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170" name="Google Shape;170;p9"/>
          <p:cNvSpPr/>
          <p:nvPr/>
        </p:nvSpPr>
        <p:spPr>
          <a:xfrm>
            <a:off x="640080" y="1874520"/>
            <a:ext cx="5212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Three-Length Practice</a:t>
            </a:r>
            <a:endParaRPr b="0" i="0" sz="2600" u="none" cap="none" strike="noStrike">
              <a:solidFill>
                <a:schemeClr val="dk1"/>
              </a:solidFill>
              <a:latin typeface="Arial"/>
              <a:ea typeface="Arial"/>
              <a:cs typeface="Arial"/>
              <a:sym typeface="Arial"/>
            </a:endParaRPr>
          </a:p>
        </p:txBody>
      </p:sp>
      <p:sp>
        <p:nvSpPr>
          <p:cNvPr id="171" name="Google Shape;171;p9"/>
          <p:cNvSpPr/>
          <p:nvPr/>
        </p:nvSpPr>
        <p:spPr>
          <a:xfrm>
            <a:off x="9509760" y="190195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12 MINUTES</a:t>
            </a:r>
            <a:endParaRPr b="0" i="0" sz="1600" u="none" cap="none" strike="noStrike">
              <a:solidFill>
                <a:schemeClr val="dk1"/>
              </a:solidFill>
              <a:latin typeface="Arial"/>
              <a:ea typeface="Arial"/>
              <a:cs typeface="Arial"/>
              <a:sym typeface="Arial"/>
            </a:endParaRPr>
          </a:p>
        </p:txBody>
      </p:sp>
      <p:cxnSp>
        <p:nvCxnSpPr>
          <p:cNvPr id="172" name="Google Shape;172;p9"/>
          <p:cNvCxnSpPr/>
          <p:nvPr/>
        </p:nvCxnSpPr>
        <p:spPr>
          <a:xfrm>
            <a:off x="640080" y="2523744"/>
            <a:ext cx="10881360" cy="0"/>
          </a:xfrm>
          <a:prstGeom prst="straightConnector1">
            <a:avLst/>
          </a:prstGeom>
          <a:noFill/>
          <a:ln cap="flat" cmpd="sng" w="12700">
            <a:solidFill>
              <a:srgbClr val="5A5A5A"/>
            </a:solidFill>
            <a:prstDash val="solid"/>
            <a:round/>
            <a:headEnd len="sm" w="sm" type="none"/>
            <a:tailEnd len="sm" w="sm" type="none"/>
          </a:ln>
        </p:spPr>
      </p:cxnSp>
      <p:sp>
        <p:nvSpPr>
          <p:cNvPr id="173" name="Google Shape;173;p9"/>
          <p:cNvSpPr/>
          <p:nvPr/>
        </p:nvSpPr>
        <p:spPr>
          <a:xfrm>
            <a:off x="822960" y="280720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Use your project to draft or rehearse: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1. A 30-second explanation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2. A 2-minute summary</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3. The formal presentation version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Your partner should listen for whether the problem, evidence, conclusion, and limitation are still clear.</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78" name="Shape 178"/>
        <p:cNvGrpSpPr/>
        <p:nvPr/>
      </p:nvGrpSpPr>
      <p:grpSpPr>
        <a:xfrm>
          <a:off x="0" y="0"/>
          <a:ext cx="0" cy="0"/>
          <a:chOff x="0" y="0"/>
          <a:chExt cx="0" cy="0"/>
        </a:xfrm>
      </p:grpSpPr>
      <p:sp>
        <p:nvSpPr>
          <p:cNvPr id="179" name="Google Shape;179;p10"/>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0"/>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0"/>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0"/>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183" name="Google Shape;183;p10"/>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184" name="Google Shape;184;p10"/>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Explain Methods Without Drowning the Audience</a:t>
            </a:r>
            <a:endParaRPr b="0" i="0" sz="3000" u="none" cap="none" strike="noStrike">
              <a:solidFill>
                <a:schemeClr val="dk1"/>
              </a:solidFill>
              <a:latin typeface="Arial"/>
              <a:ea typeface="Arial"/>
              <a:cs typeface="Arial"/>
              <a:sym typeface="Arial"/>
            </a:endParaRPr>
          </a:p>
        </p:txBody>
      </p:sp>
      <p:sp>
        <p:nvSpPr>
          <p:cNvPr id="185" name="Google Shape;185;p10"/>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0"/>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Methods should build trust, not consume the whole presentation.</a:t>
            </a:r>
            <a:endParaRPr b="0" i="0" sz="1300" u="none" cap="none" strike="noStrike">
              <a:solidFill>
                <a:schemeClr val="dk1"/>
              </a:solidFill>
              <a:latin typeface="Arial"/>
              <a:ea typeface="Arial"/>
              <a:cs typeface="Arial"/>
              <a:sym typeface="Arial"/>
            </a:endParaRPr>
          </a:p>
        </p:txBody>
      </p:sp>
      <p:sp>
        <p:nvSpPr>
          <p:cNvPr id="187" name="Google Shape;187;p10"/>
          <p:cNvSpPr/>
          <p:nvPr/>
        </p:nvSpPr>
        <p:spPr>
          <a:xfrm>
            <a:off x="777240" y="1600200"/>
            <a:ext cx="5166360" cy="388620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0"/>
          <p:cNvSpPr/>
          <p:nvPr/>
        </p:nvSpPr>
        <p:spPr>
          <a:xfrm>
            <a:off x="777240" y="1600200"/>
            <a:ext cx="64008" cy="388620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0"/>
          <p:cNvSpPr/>
          <p:nvPr/>
        </p:nvSpPr>
        <p:spPr>
          <a:xfrm>
            <a:off x="97840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INCLUDE</a:t>
            </a:r>
            <a:endParaRPr b="0" i="0" sz="1100" u="none" cap="none" strike="noStrike">
              <a:solidFill>
                <a:schemeClr val="dk1"/>
              </a:solidFill>
              <a:latin typeface="Arial"/>
              <a:ea typeface="Arial"/>
              <a:cs typeface="Arial"/>
              <a:sym typeface="Arial"/>
            </a:endParaRPr>
          </a:p>
        </p:txBody>
      </p:sp>
      <p:sp>
        <p:nvSpPr>
          <p:cNvPr id="190" name="Google Shape;190;p10"/>
          <p:cNvSpPr/>
          <p:nvPr/>
        </p:nvSpPr>
        <p:spPr>
          <a:xfrm>
            <a:off x="978408" y="2057400"/>
            <a:ext cx="4846320" cy="331927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What you changed, tested, built, or compared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The basic procedure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The measurement or performance metric</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Number of trials, samples, or iterations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Controls, criteria, or constraints that matter</a:t>
            </a:r>
            <a:endParaRPr b="0" i="0" sz="1600" u="none" cap="none" strike="noStrike">
              <a:solidFill>
                <a:schemeClr val="dk1"/>
              </a:solidFill>
              <a:latin typeface="Arial"/>
              <a:ea typeface="Arial"/>
              <a:cs typeface="Arial"/>
              <a:sym typeface="Arial"/>
            </a:endParaRPr>
          </a:p>
        </p:txBody>
      </p:sp>
      <p:sp>
        <p:nvSpPr>
          <p:cNvPr id="191" name="Google Shape;191;p10"/>
          <p:cNvSpPr/>
          <p:nvPr/>
        </p:nvSpPr>
        <p:spPr>
          <a:xfrm>
            <a:off x="6263640" y="1600200"/>
            <a:ext cx="5166360" cy="388620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0"/>
          <p:cNvSpPr/>
          <p:nvPr/>
        </p:nvSpPr>
        <p:spPr>
          <a:xfrm>
            <a:off x="6263640" y="1600200"/>
            <a:ext cx="64008" cy="388620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0"/>
          <p:cNvSpPr/>
          <p:nvPr/>
        </p:nvSpPr>
        <p:spPr>
          <a:xfrm>
            <a:off x="646480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LEAVE OUT OR SAVE FOR Q&amp;A</a:t>
            </a:r>
            <a:endParaRPr b="0" i="0" sz="1100" u="none" cap="none" strike="noStrike">
              <a:solidFill>
                <a:schemeClr val="dk1"/>
              </a:solidFill>
              <a:latin typeface="Arial"/>
              <a:ea typeface="Arial"/>
              <a:cs typeface="Arial"/>
              <a:sym typeface="Arial"/>
            </a:endParaRPr>
          </a:p>
        </p:txBody>
      </p:sp>
      <p:sp>
        <p:nvSpPr>
          <p:cNvPr id="194" name="Google Shape;194;p10"/>
          <p:cNvSpPr/>
          <p:nvPr/>
        </p:nvSpPr>
        <p:spPr>
          <a:xfrm>
            <a:off x="6464808" y="2057400"/>
            <a:ext cx="4846320" cy="331927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Every minor setup detail</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Long lists of materials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Chronological storytelling</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Troubleshooting history unless it explains a major revision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Details not needed to understand the evidence</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99" name="Shape 199"/>
        <p:cNvGrpSpPr/>
        <p:nvPr/>
      </p:nvGrpSpPr>
      <p:grpSpPr>
        <a:xfrm>
          <a:off x="0" y="0"/>
          <a:ext cx="0" cy="0"/>
          <a:chOff x="0" y="0"/>
          <a:chExt cx="0" cy="0"/>
        </a:xfrm>
      </p:grpSpPr>
      <p:sp>
        <p:nvSpPr>
          <p:cNvPr id="200" name="Google Shape;200;p11"/>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1"/>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1"/>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1"/>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204" name="Google Shape;204;p11"/>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205" name="Google Shape;205;p11"/>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Explain Data Aloud</a:t>
            </a:r>
            <a:endParaRPr b="0" i="0" sz="3000" u="none" cap="none" strike="noStrike">
              <a:solidFill>
                <a:schemeClr val="dk1"/>
              </a:solidFill>
              <a:latin typeface="Arial"/>
              <a:ea typeface="Arial"/>
              <a:cs typeface="Arial"/>
              <a:sym typeface="Arial"/>
            </a:endParaRPr>
          </a:p>
        </p:txBody>
      </p:sp>
      <p:sp>
        <p:nvSpPr>
          <p:cNvPr id="206" name="Google Shape;206;p11"/>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1"/>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Do not just point at a graph and hope the audience understands it.</a:t>
            </a:r>
            <a:endParaRPr b="0" i="0" sz="1300" u="none" cap="none" strike="noStrike">
              <a:solidFill>
                <a:schemeClr val="dk1"/>
              </a:solidFill>
              <a:latin typeface="Arial"/>
              <a:ea typeface="Arial"/>
              <a:cs typeface="Arial"/>
              <a:sym typeface="Arial"/>
            </a:endParaRPr>
          </a:p>
        </p:txBody>
      </p:sp>
      <p:sp>
        <p:nvSpPr>
          <p:cNvPr id="208" name="Google Shape;208;p11"/>
          <p:cNvSpPr/>
          <p:nvPr/>
        </p:nvSpPr>
        <p:spPr>
          <a:xfrm>
            <a:off x="777240" y="1554480"/>
            <a:ext cx="9601200" cy="36576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1" i="0" lang="en-US" sz="2000" u="none" cap="none" strike="noStrike">
                <a:solidFill>
                  <a:srgbClr val="A8A8A8"/>
                </a:solidFill>
                <a:latin typeface="Arial"/>
                <a:ea typeface="Arial"/>
                <a:cs typeface="Arial"/>
                <a:sym typeface="Arial"/>
              </a:rPr>
              <a:t>A strong graph explanation has four moves:</a:t>
            </a:r>
            <a:endParaRPr b="0" i="0" sz="2000" u="none" cap="none" strike="noStrike">
              <a:solidFill>
                <a:schemeClr val="dk1"/>
              </a:solidFill>
              <a:latin typeface="Arial"/>
              <a:ea typeface="Arial"/>
              <a:cs typeface="Arial"/>
              <a:sym typeface="Arial"/>
            </a:endParaRPr>
          </a:p>
        </p:txBody>
      </p:sp>
      <p:sp>
        <p:nvSpPr>
          <p:cNvPr id="209" name="Google Shape;209;p11"/>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1"/>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1"/>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1. ORIENT</a:t>
            </a:r>
            <a:endParaRPr b="0" i="0" sz="1100" u="none" cap="none" strike="noStrike">
              <a:solidFill>
                <a:schemeClr val="dk1"/>
              </a:solidFill>
              <a:latin typeface="Arial"/>
              <a:ea typeface="Arial"/>
              <a:cs typeface="Arial"/>
              <a:sym typeface="Arial"/>
            </a:endParaRPr>
          </a:p>
        </p:txBody>
      </p:sp>
      <p:sp>
        <p:nvSpPr>
          <p:cNvPr id="212" name="Google Shape;212;p11"/>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“This graph compares...”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Name the variables, groups, or prototype versions.</a:t>
            </a:r>
            <a:endParaRPr b="0" i="0" sz="1600" u="none" cap="none" strike="noStrike">
              <a:solidFill>
                <a:schemeClr val="dk1"/>
              </a:solidFill>
              <a:latin typeface="Arial"/>
              <a:ea typeface="Arial"/>
              <a:cs typeface="Arial"/>
              <a:sym typeface="Arial"/>
            </a:endParaRPr>
          </a:p>
        </p:txBody>
      </p:sp>
      <p:sp>
        <p:nvSpPr>
          <p:cNvPr id="213" name="Google Shape;213;p11"/>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1"/>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1"/>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2. POINT</a:t>
            </a:r>
            <a:endParaRPr b="0" i="0" sz="1100" u="none" cap="none" strike="noStrike">
              <a:solidFill>
                <a:schemeClr val="dk1"/>
              </a:solidFill>
              <a:latin typeface="Arial"/>
              <a:ea typeface="Arial"/>
              <a:cs typeface="Arial"/>
              <a:sym typeface="Arial"/>
            </a:endParaRPr>
          </a:p>
        </p:txBody>
      </p:sp>
      <p:sp>
        <p:nvSpPr>
          <p:cNvPr id="216" name="Google Shape;216;p11"/>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“Notice the highest value here...”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Direct the audience to the key feature.</a:t>
            </a:r>
            <a:endParaRPr b="0" i="0" sz="1600" u="none" cap="none" strike="noStrike">
              <a:solidFill>
                <a:schemeClr val="dk1"/>
              </a:solidFill>
              <a:latin typeface="Arial"/>
              <a:ea typeface="Arial"/>
              <a:cs typeface="Arial"/>
              <a:sym typeface="Arial"/>
            </a:endParaRPr>
          </a:p>
        </p:txBody>
      </p:sp>
      <p:sp>
        <p:nvSpPr>
          <p:cNvPr id="217" name="Google Shape;217;p11"/>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1"/>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1"/>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3. INTERPRET</a:t>
            </a:r>
            <a:endParaRPr b="0" i="0" sz="1100" u="none" cap="none" strike="noStrike">
              <a:solidFill>
                <a:schemeClr val="dk1"/>
              </a:solidFill>
              <a:latin typeface="Arial"/>
              <a:ea typeface="Arial"/>
              <a:cs typeface="Arial"/>
              <a:sym typeface="Arial"/>
            </a:endParaRPr>
          </a:p>
        </p:txBody>
      </p:sp>
      <p:sp>
        <p:nvSpPr>
          <p:cNvPr id="220" name="Google Shape;220;p11"/>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“This suggests...”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Connect the pattern to the research question.</a:t>
            </a:r>
            <a:endParaRPr b="0" i="0" sz="1600" u="none" cap="none" strike="noStrike">
              <a:solidFill>
                <a:schemeClr val="dk1"/>
              </a:solidFill>
              <a:latin typeface="Arial"/>
              <a:ea typeface="Arial"/>
              <a:cs typeface="Arial"/>
              <a:sym typeface="Arial"/>
            </a:endParaRPr>
          </a:p>
        </p:txBody>
      </p:sp>
      <p:sp>
        <p:nvSpPr>
          <p:cNvPr id="221" name="Google Shape;221;p11"/>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1"/>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4. LIMIT</a:t>
            </a:r>
            <a:endParaRPr b="0" i="0" sz="1100" u="none" cap="none" strike="noStrike">
              <a:solidFill>
                <a:schemeClr val="dk1"/>
              </a:solidFill>
              <a:latin typeface="Arial"/>
              <a:ea typeface="Arial"/>
              <a:cs typeface="Arial"/>
              <a:sym typeface="Arial"/>
            </a:endParaRPr>
          </a:p>
        </p:txBody>
      </p:sp>
      <p:sp>
        <p:nvSpPr>
          <p:cNvPr id="224" name="Google Shape;224;p11"/>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“One limitation is...”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Avoid overclaiming and acknowledge uncertainty.</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29" name="Shape 229"/>
        <p:cNvGrpSpPr/>
        <p:nvPr/>
      </p:nvGrpSpPr>
      <p:grpSpPr>
        <a:xfrm>
          <a:off x="0" y="0"/>
          <a:ext cx="0" cy="0"/>
          <a:chOff x="0" y="0"/>
          <a:chExt cx="0" cy="0"/>
        </a:xfrm>
      </p:grpSpPr>
      <p:sp>
        <p:nvSpPr>
          <p:cNvPr id="230" name="Google Shape;230;p12"/>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2"/>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2"/>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234" name="Google Shape;234;p12"/>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235" name="Google Shape;235;p12"/>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Graph Explanation Rehearsal</a:t>
            </a:r>
            <a:endParaRPr b="0" i="0" sz="3000" u="none" cap="none" strike="noStrike">
              <a:solidFill>
                <a:schemeClr val="dk1"/>
              </a:solidFill>
              <a:latin typeface="Arial"/>
              <a:ea typeface="Arial"/>
              <a:cs typeface="Arial"/>
              <a:sym typeface="Arial"/>
            </a:endParaRPr>
          </a:p>
        </p:txBody>
      </p:sp>
      <p:sp>
        <p:nvSpPr>
          <p:cNvPr id="236" name="Google Shape;236;p12"/>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2"/>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Use the four-move structure: orient, point, interpret, limit.</a:t>
            </a:r>
            <a:endParaRPr b="0" i="0" sz="1300" u="none" cap="none" strike="noStrike">
              <a:solidFill>
                <a:schemeClr val="dk1"/>
              </a:solidFill>
              <a:latin typeface="Arial"/>
              <a:ea typeface="Arial"/>
              <a:cs typeface="Arial"/>
              <a:sym typeface="Arial"/>
            </a:endParaRPr>
          </a:p>
        </p:txBody>
      </p:sp>
      <p:sp>
        <p:nvSpPr>
          <p:cNvPr id="238" name="Google Shape;238;p12"/>
          <p:cNvSpPr/>
          <p:nvPr/>
        </p:nvSpPr>
        <p:spPr>
          <a:xfrm>
            <a:off x="640080" y="157276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239" name="Google Shape;239;p12"/>
          <p:cNvSpPr/>
          <p:nvPr/>
        </p:nvSpPr>
        <p:spPr>
          <a:xfrm>
            <a:off x="640080" y="1874520"/>
            <a:ext cx="5212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Explain One Visual</a:t>
            </a:r>
            <a:endParaRPr b="0" i="0" sz="2600" u="none" cap="none" strike="noStrike">
              <a:solidFill>
                <a:schemeClr val="dk1"/>
              </a:solidFill>
              <a:latin typeface="Arial"/>
              <a:ea typeface="Arial"/>
              <a:cs typeface="Arial"/>
              <a:sym typeface="Arial"/>
            </a:endParaRPr>
          </a:p>
        </p:txBody>
      </p:sp>
      <p:sp>
        <p:nvSpPr>
          <p:cNvPr id="240" name="Google Shape;240;p12"/>
          <p:cNvSpPr/>
          <p:nvPr/>
        </p:nvSpPr>
        <p:spPr>
          <a:xfrm>
            <a:off x="9509760" y="190195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8 MINUTES</a:t>
            </a:r>
            <a:endParaRPr b="0" i="0" sz="1600" u="none" cap="none" strike="noStrike">
              <a:solidFill>
                <a:schemeClr val="dk1"/>
              </a:solidFill>
              <a:latin typeface="Arial"/>
              <a:ea typeface="Arial"/>
              <a:cs typeface="Arial"/>
              <a:sym typeface="Arial"/>
            </a:endParaRPr>
          </a:p>
        </p:txBody>
      </p:sp>
      <p:cxnSp>
        <p:nvCxnSpPr>
          <p:cNvPr id="241" name="Google Shape;241;p12"/>
          <p:cNvCxnSpPr/>
          <p:nvPr/>
        </p:nvCxnSpPr>
        <p:spPr>
          <a:xfrm>
            <a:off x="640080" y="2523744"/>
            <a:ext cx="10881360" cy="0"/>
          </a:xfrm>
          <a:prstGeom prst="straightConnector1">
            <a:avLst/>
          </a:prstGeom>
          <a:noFill/>
          <a:ln cap="flat" cmpd="sng" w="12700">
            <a:solidFill>
              <a:srgbClr val="5A5A5A"/>
            </a:solidFill>
            <a:prstDash val="solid"/>
            <a:round/>
            <a:headEnd len="sm" w="sm" type="none"/>
            <a:tailEnd len="sm" w="sm" type="none"/>
          </a:ln>
        </p:spPr>
      </p:cxnSp>
      <p:sp>
        <p:nvSpPr>
          <p:cNvPr id="242" name="Google Shape;242;p12"/>
          <p:cNvSpPr/>
          <p:nvPr/>
        </p:nvSpPr>
        <p:spPr>
          <a:xfrm>
            <a:off x="822960" y="280720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Choose your most important graph, table, image, prototype photo, or diagram.</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Practice explaining it in 45–60 seconds. Your partner listens for:</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what the visual shows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what pattern matters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what claim it supports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what limitation should be remembered</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47" name="Shape 247"/>
        <p:cNvGrpSpPr/>
        <p:nvPr/>
      </p:nvGrpSpPr>
      <p:grpSpPr>
        <a:xfrm>
          <a:off x="0" y="0"/>
          <a:ext cx="0" cy="0"/>
          <a:chOff x="0" y="0"/>
          <a:chExt cx="0" cy="0"/>
        </a:xfrm>
      </p:grpSpPr>
      <p:sp>
        <p:nvSpPr>
          <p:cNvPr id="248" name="Google Shape;248;p13"/>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3"/>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3"/>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3"/>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252" name="Google Shape;252;p13"/>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253" name="Google Shape;253;p13"/>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Use Visuals as Partners</a:t>
            </a:r>
            <a:endParaRPr b="0" i="0" sz="3000" u="none" cap="none" strike="noStrike">
              <a:solidFill>
                <a:schemeClr val="dk1"/>
              </a:solidFill>
              <a:latin typeface="Arial"/>
              <a:ea typeface="Arial"/>
              <a:cs typeface="Arial"/>
              <a:sym typeface="Arial"/>
            </a:endParaRPr>
          </a:p>
        </p:txBody>
      </p:sp>
      <p:sp>
        <p:nvSpPr>
          <p:cNvPr id="254" name="Google Shape;254;p13"/>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3"/>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Your visual aid should support the explanation, not replace it.</a:t>
            </a:r>
            <a:endParaRPr b="0" i="0" sz="1300" u="none" cap="none" strike="noStrike">
              <a:solidFill>
                <a:schemeClr val="dk1"/>
              </a:solidFill>
              <a:latin typeface="Arial"/>
              <a:ea typeface="Arial"/>
              <a:cs typeface="Arial"/>
              <a:sym typeface="Arial"/>
            </a:endParaRPr>
          </a:p>
        </p:txBody>
      </p:sp>
      <p:sp>
        <p:nvSpPr>
          <p:cNvPr id="256" name="Google Shape;256;p13"/>
          <p:cNvSpPr/>
          <p:nvPr/>
        </p:nvSpPr>
        <p:spPr>
          <a:xfrm>
            <a:off x="68580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3"/>
          <p:cNvSpPr/>
          <p:nvPr/>
        </p:nvSpPr>
        <p:spPr>
          <a:xfrm>
            <a:off x="68580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3"/>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WEAK VISUAL USE</a:t>
            </a:r>
            <a:endParaRPr b="0" i="0" sz="1100" u="none" cap="none" strike="noStrike">
              <a:solidFill>
                <a:schemeClr val="dk1"/>
              </a:solidFill>
              <a:latin typeface="Arial"/>
              <a:ea typeface="Arial"/>
              <a:cs typeface="Arial"/>
              <a:sym typeface="Arial"/>
            </a:endParaRPr>
          </a:p>
        </p:txBody>
      </p:sp>
      <p:sp>
        <p:nvSpPr>
          <p:cNvPr id="259" name="Google Shape;259;p13"/>
          <p:cNvSpPr/>
          <p:nvPr/>
        </p:nvSpPr>
        <p:spPr>
          <a:xfrm>
            <a:off x="88696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Reading every word from the board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Turning your back to the audience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Saying “as you can see” without explaining</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Ignoring the graph</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Pointing vaguely at crowded text</a:t>
            </a:r>
            <a:endParaRPr b="0" i="0" sz="1600" u="none" cap="none" strike="noStrike">
              <a:solidFill>
                <a:schemeClr val="dk1"/>
              </a:solidFill>
              <a:latin typeface="Arial"/>
              <a:ea typeface="Arial"/>
              <a:cs typeface="Arial"/>
              <a:sym typeface="Arial"/>
            </a:endParaRPr>
          </a:p>
        </p:txBody>
      </p:sp>
      <p:sp>
        <p:nvSpPr>
          <p:cNvPr id="260" name="Google Shape;260;p13"/>
          <p:cNvSpPr/>
          <p:nvPr/>
        </p:nvSpPr>
        <p:spPr>
          <a:xfrm>
            <a:off x="6355080" y="1600200"/>
            <a:ext cx="5166360" cy="379476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3"/>
          <p:cNvSpPr/>
          <p:nvPr/>
        </p:nvSpPr>
        <p:spPr>
          <a:xfrm>
            <a:off x="6355080" y="1600200"/>
            <a:ext cx="64008" cy="379476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3"/>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STRONG VISUAL USE</a:t>
            </a:r>
            <a:endParaRPr b="0" i="0" sz="1100" u="none" cap="none" strike="noStrike">
              <a:solidFill>
                <a:schemeClr val="dk1"/>
              </a:solidFill>
              <a:latin typeface="Arial"/>
              <a:ea typeface="Arial"/>
              <a:cs typeface="Arial"/>
              <a:sym typeface="Arial"/>
            </a:endParaRPr>
          </a:p>
        </p:txBody>
      </p:sp>
      <p:sp>
        <p:nvSpPr>
          <p:cNvPr id="263" name="Google Shape;263;p13"/>
          <p:cNvSpPr/>
          <p:nvPr/>
        </p:nvSpPr>
        <p:spPr>
          <a:xfrm>
            <a:off x="6556248" y="2057400"/>
            <a:ext cx="4846320" cy="32278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Stand so the visual stays visible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Point to exact features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Explain labels and units when needed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Pause while the audience looks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Let visuals carry evidence, not paragraphs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68" name="Shape 268"/>
        <p:cNvGrpSpPr/>
        <p:nvPr/>
      </p:nvGrpSpPr>
      <p:grpSpPr>
        <a:xfrm>
          <a:off x="0" y="0"/>
          <a:ext cx="0" cy="0"/>
          <a:chOff x="0" y="0"/>
          <a:chExt cx="0" cy="0"/>
        </a:xfrm>
      </p:grpSpPr>
      <p:sp>
        <p:nvSpPr>
          <p:cNvPr id="269" name="Google Shape;269;p14"/>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4"/>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4"/>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4"/>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273" name="Google Shape;273;p14"/>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274" name="Google Shape;274;p14"/>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Pacing and Transitions</a:t>
            </a:r>
            <a:endParaRPr b="0" i="0" sz="3000" u="none" cap="none" strike="noStrike">
              <a:solidFill>
                <a:schemeClr val="dk1"/>
              </a:solidFill>
              <a:latin typeface="Arial"/>
              <a:ea typeface="Arial"/>
              <a:cs typeface="Arial"/>
              <a:sym typeface="Arial"/>
            </a:endParaRPr>
          </a:p>
        </p:txBody>
      </p:sp>
      <p:sp>
        <p:nvSpPr>
          <p:cNvPr id="275" name="Google Shape;275;p14"/>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4"/>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A presentation feels professional when the audience knows where they are.</a:t>
            </a:r>
            <a:endParaRPr b="0" i="0" sz="1300" u="none" cap="none" strike="noStrike">
              <a:solidFill>
                <a:schemeClr val="dk1"/>
              </a:solidFill>
              <a:latin typeface="Arial"/>
              <a:ea typeface="Arial"/>
              <a:cs typeface="Arial"/>
              <a:sym typeface="Arial"/>
            </a:endParaRPr>
          </a:p>
        </p:txBody>
      </p:sp>
      <p:sp>
        <p:nvSpPr>
          <p:cNvPr id="277" name="Google Shape;277;p14"/>
          <p:cNvSpPr/>
          <p:nvPr/>
        </p:nvSpPr>
        <p:spPr>
          <a:xfrm>
            <a:off x="685800" y="1645920"/>
            <a:ext cx="5166360" cy="3520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4"/>
          <p:cNvSpPr/>
          <p:nvPr/>
        </p:nvSpPr>
        <p:spPr>
          <a:xfrm>
            <a:off x="685800" y="1645920"/>
            <a:ext cx="64008" cy="3520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4"/>
          <p:cNvSpPr/>
          <p:nvPr/>
        </p:nvSpPr>
        <p:spPr>
          <a:xfrm>
            <a:off x="886968" y="178308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PACING</a:t>
            </a:r>
            <a:endParaRPr b="0" i="0" sz="1100" u="none" cap="none" strike="noStrike">
              <a:solidFill>
                <a:schemeClr val="dk1"/>
              </a:solidFill>
              <a:latin typeface="Arial"/>
              <a:ea typeface="Arial"/>
              <a:cs typeface="Arial"/>
              <a:sym typeface="Arial"/>
            </a:endParaRPr>
          </a:p>
        </p:txBody>
      </p:sp>
      <p:sp>
        <p:nvSpPr>
          <p:cNvPr id="280" name="Google Shape;280;p14"/>
          <p:cNvSpPr/>
          <p:nvPr/>
        </p:nvSpPr>
        <p:spPr>
          <a:xfrm>
            <a:off x="886968" y="2103120"/>
            <a:ext cx="4846320" cy="2953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Slow down for the research question, the main graph, the conclusion, and limitations.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Fast delivery often signals uncertainty, even when the student understands the work.</a:t>
            </a:r>
            <a:endParaRPr b="0" i="0" sz="1600" u="none" cap="none" strike="noStrike">
              <a:solidFill>
                <a:schemeClr val="dk1"/>
              </a:solidFill>
              <a:latin typeface="Arial"/>
              <a:ea typeface="Arial"/>
              <a:cs typeface="Arial"/>
              <a:sym typeface="Arial"/>
            </a:endParaRPr>
          </a:p>
        </p:txBody>
      </p:sp>
      <p:sp>
        <p:nvSpPr>
          <p:cNvPr id="281" name="Google Shape;281;p14"/>
          <p:cNvSpPr/>
          <p:nvPr/>
        </p:nvSpPr>
        <p:spPr>
          <a:xfrm>
            <a:off x="6355080" y="1645920"/>
            <a:ext cx="5166360" cy="3520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4"/>
          <p:cNvSpPr/>
          <p:nvPr/>
        </p:nvSpPr>
        <p:spPr>
          <a:xfrm>
            <a:off x="6355080" y="1645920"/>
            <a:ext cx="64008" cy="3520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4"/>
          <p:cNvSpPr/>
          <p:nvPr/>
        </p:nvSpPr>
        <p:spPr>
          <a:xfrm>
            <a:off x="6556248" y="178308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TRANSITIONS</a:t>
            </a:r>
            <a:endParaRPr b="0" i="0" sz="1100" u="none" cap="none" strike="noStrike">
              <a:solidFill>
                <a:schemeClr val="dk1"/>
              </a:solidFill>
              <a:latin typeface="Arial"/>
              <a:ea typeface="Arial"/>
              <a:cs typeface="Arial"/>
              <a:sym typeface="Arial"/>
            </a:endParaRPr>
          </a:p>
        </p:txBody>
      </p:sp>
      <p:sp>
        <p:nvSpPr>
          <p:cNvPr id="284" name="Google Shape;284;p14"/>
          <p:cNvSpPr/>
          <p:nvPr/>
        </p:nvSpPr>
        <p:spPr>
          <a:xfrm>
            <a:off x="6556248" y="2103120"/>
            <a:ext cx="4846320" cy="2953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Use short guideposts: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“To test this...”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“The most important result was...”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“This connects back to my question because...”</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“One limitation is...”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89" name="Shape 289"/>
        <p:cNvGrpSpPr/>
        <p:nvPr/>
      </p:nvGrpSpPr>
      <p:grpSpPr>
        <a:xfrm>
          <a:off x="0" y="0"/>
          <a:ext cx="0" cy="0"/>
          <a:chOff x="0" y="0"/>
          <a:chExt cx="0" cy="0"/>
        </a:xfrm>
      </p:grpSpPr>
      <p:sp>
        <p:nvSpPr>
          <p:cNvPr id="290" name="Google Shape;290;p15"/>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5"/>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5"/>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5"/>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294" name="Google Shape;294;p15"/>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295" name="Google Shape;295;p15"/>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Audience Adaptation</a:t>
            </a:r>
            <a:endParaRPr b="0" i="0" sz="3000" u="none" cap="none" strike="noStrike">
              <a:solidFill>
                <a:schemeClr val="dk1"/>
              </a:solidFill>
              <a:latin typeface="Arial"/>
              <a:ea typeface="Arial"/>
              <a:cs typeface="Arial"/>
              <a:sym typeface="Arial"/>
            </a:endParaRPr>
          </a:p>
        </p:txBody>
      </p:sp>
      <p:sp>
        <p:nvSpPr>
          <p:cNvPr id="296" name="Google Shape;296;p15"/>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5"/>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Different audiences need different levels of background.</a:t>
            </a:r>
            <a:endParaRPr b="0" i="0" sz="1300" u="none" cap="none" strike="noStrike">
              <a:solidFill>
                <a:schemeClr val="dk1"/>
              </a:solidFill>
              <a:latin typeface="Arial"/>
              <a:ea typeface="Arial"/>
              <a:cs typeface="Arial"/>
              <a:sym typeface="Arial"/>
            </a:endParaRPr>
          </a:p>
        </p:txBody>
      </p:sp>
      <p:sp>
        <p:nvSpPr>
          <p:cNvPr id="298" name="Google Shape;298;p15"/>
          <p:cNvSpPr/>
          <p:nvPr/>
        </p:nvSpPr>
        <p:spPr>
          <a:xfrm>
            <a:off x="731520" y="1554480"/>
            <a:ext cx="5166360" cy="10972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5"/>
          <p:cNvSpPr/>
          <p:nvPr/>
        </p:nvSpPr>
        <p:spPr>
          <a:xfrm>
            <a:off x="731520" y="1554480"/>
            <a:ext cx="64008" cy="10972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5"/>
          <p:cNvSpPr/>
          <p:nvPr/>
        </p:nvSpPr>
        <p:spPr>
          <a:xfrm>
            <a:off x="932688" y="169164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YOUNGER STUDENT</a:t>
            </a:r>
            <a:endParaRPr b="0" i="0" sz="1100" u="none" cap="none" strike="noStrike">
              <a:solidFill>
                <a:schemeClr val="dk1"/>
              </a:solidFill>
              <a:latin typeface="Arial"/>
              <a:ea typeface="Arial"/>
              <a:cs typeface="Arial"/>
              <a:sym typeface="Arial"/>
            </a:endParaRPr>
          </a:p>
        </p:txBody>
      </p:sp>
      <p:sp>
        <p:nvSpPr>
          <p:cNvPr id="301" name="Google Shape;301;p15"/>
          <p:cNvSpPr/>
          <p:nvPr/>
        </p:nvSpPr>
        <p:spPr>
          <a:xfrm>
            <a:off x="932688" y="2011680"/>
            <a:ext cx="4846320" cy="530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Use simple vocabulary, analogies, and concrete visuals. Avoid unexplained technical terms.</a:t>
            </a:r>
            <a:endParaRPr b="0" i="0" sz="1600" u="none" cap="none" strike="noStrike">
              <a:solidFill>
                <a:schemeClr val="dk1"/>
              </a:solidFill>
              <a:latin typeface="Arial"/>
              <a:ea typeface="Arial"/>
              <a:cs typeface="Arial"/>
              <a:sym typeface="Arial"/>
            </a:endParaRPr>
          </a:p>
        </p:txBody>
      </p:sp>
      <p:sp>
        <p:nvSpPr>
          <p:cNvPr id="302" name="Google Shape;302;p15"/>
          <p:cNvSpPr/>
          <p:nvPr/>
        </p:nvSpPr>
        <p:spPr>
          <a:xfrm>
            <a:off x="6263640" y="1554480"/>
            <a:ext cx="5166360" cy="10972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5"/>
          <p:cNvSpPr/>
          <p:nvPr/>
        </p:nvSpPr>
        <p:spPr>
          <a:xfrm>
            <a:off x="6263640" y="1554480"/>
            <a:ext cx="64008" cy="10972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5"/>
          <p:cNvSpPr/>
          <p:nvPr/>
        </p:nvSpPr>
        <p:spPr>
          <a:xfrm>
            <a:off x="6464808" y="169164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COMMUNITY MEMBER</a:t>
            </a:r>
            <a:endParaRPr b="0" i="0" sz="1100" u="none" cap="none" strike="noStrike">
              <a:solidFill>
                <a:schemeClr val="dk1"/>
              </a:solidFill>
              <a:latin typeface="Arial"/>
              <a:ea typeface="Arial"/>
              <a:cs typeface="Arial"/>
              <a:sym typeface="Arial"/>
            </a:endParaRPr>
          </a:p>
        </p:txBody>
      </p:sp>
      <p:sp>
        <p:nvSpPr>
          <p:cNvPr id="305" name="Google Shape;305;p15"/>
          <p:cNvSpPr/>
          <p:nvPr/>
        </p:nvSpPr>
        <p:spPr>
          <a:xfrm>
            <a:off x="6464808" y="2011680"/>
            <a:ext cx="4846320" cy="530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Explain why the project matters and what problem or need connects it to the real world.</a:t>
            </a:r>
            <a:endParaRPr b="0" i="0" sz="1600" u="none" cap="none" strike="noStrike">
              <a:solidFill>
                <a:schemeClr val="dk1"/>
              </a:solidFill>
              <a:latin typeface="Arial"/>
              <a:ea typeface="Arial"/>
              <a:cs typeface="Arial"/>
              <a:sym typeface="Arial"/>
            </a:endParaRPr>
          </a:p>
        </p:txBody>
      </p:sp>
      <p:sp>
        <p:nvSpPr>
          <p:cNvPr id="306" name="Google Shape;306;p15"/>
          <p:cNvSpPr/>
          <p:nvPr/>
        </p:nvSpPr>
        <p:spPr>
          <a:xfrm>
            <a:off x="731520" y="3291840"/>
            <a:ext cx="5166360" cy="10972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5"/>
          <p:cNvSpPr/>
          <p:nvPr/>
        </p:nvSpPr>
        <p:spPr>
          <a:xfrm>
            <a:off x="731520" y="3291840"/>
            <a:ext cx="64008" cy="10972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5"/>
          <p:cNvSpPr/>
          <p:nvPr/>
        </p:nvSpPr>
        <p:spPr>
          <a:xfrm>
            <a:off x="932688" y="342900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SCIENCE TEACHER</a:t>
            </a:r>
            <a:endParaRPr b="0" i="0" sz="1100" u="none" cap="none" strike="noStrike">
              <a:solidFill>
                <a:schemeClr val="dk1"/>
              </a:solidFill>
              <a:latin typeface="Arial"/>
              <a:ea typeface="Arial"/>
              <a:cs typeface="Arial"/>
              <a:sym typeface="Arial"/>
            </a:endParaRPr>
          </a:p>
        </p:txBody>
      </p:sp>
      <p:sp>
        <p:nvSpPr>
          <p:cNvPr id="309" name="Google Shape;309;p15"/>
          <p:cNvSpPr/>
          <p:nvPr/>
        </p:nvSpPr>
        <p:spPr>
          <a:xfrm>
            <a:off x="932688" y="3749040"/>
            <a:ext cx="4846320" cy="530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Be ready to explain variables, method choices, data quality, and limitations.</a:t>
            </a:r>
            <a:endParaRPr b="0" i="0" sz="1600" u="none" cap="none" strike="noStrike">
              <a:solidFill>
                <a:schemeClr val="dk1"/>
              </a:solidFill>
              <a:latin typeface="Arial"/>
              <a:ea typeface="Arial"/>
              <a:cs typeface="Arial"/>
              <a:sym typeface="Arial"/>
            </a:endParaRPr>
          </a:p>
        </p:txBody>
      </p:sp>
      <p:sp>
        <p:nvSpPr>
          <p:cNvPr id="310" name="Google Shape;310;p15"/>
          <p:cNvSpPr/>
          <p:nvPr/>
        </p:nvSpPr>
        <p:spPr>
          <a:xfrm>
            <a:off x="6263640" y="3291840"/>
            <a:ext cx="5166360" cy="10972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5"/>
          <p:cNvSpPr/>
          <p:nvPr/>
        </p:nvSpPr>
        <p:spPr>
          <a:xfrm>
            <a:off x="6263640" y="3291840"/>
            <a:ext cx="64008" cy="10972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5"/>
          <p:cNvSpPr/>
          <p:nvPr/>
        </p:nvSpPr>
        <p:spPr>
          <a:xfrm>
            <a:off x="6464808" y="342900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MENTOR OR EXPERT</a:t>
            </a:r>
            <a:endParaRPr b="0" i="0" sz="1100" u="none" cap="none" strike="noStrike">
              <a:solidFill>
                <a:schemeClr val="dk1"/>
              </a:solidFill>
              <a:latin typeface="Arial"/>
              <a:ea typeface="Arial"/>
              <a:cs typeface="Arial"/>
              <a:sym typeface="Arial"/>
            </a:endParaRPr>
          </a:p>
        </p:txBody>
      </p:sp>
      <p:sp>
        <p:nvSpPr>
          <p:cNvPr id="313" name="Google Shape;313;p15"/>
          <p:cNvSpPr/>
          <p:nvPr/>
        </p:nvSpPr>
        <p:spPr>
          <a:xfrm>
            <a:off x="6464808" y="3749040"/>
            <a:ext cx="4846320" cy="530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Be ready for technical questions about measurement, design decisions, uncertainty, and next steps.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18" name="Shape 318"/>
        <p:cNvGrpSpPr/>
        <p:nvPr/>
      </p:nvGrpSpPr>
      <p:grpSpPr>
        <a:xfrm>
          <a:off x="0" y="0"/>
          <a:ext cx="0" cy="0"/>
          <a:chOff x="0" y="0"/>
          <a:chExt cx="0" cy="0"/>
        </a:xfrm>
      </p:grpSpPr>
      <p:sp>
        <p:nvSpPr>
          <p:cNvPr id="319" name="Google Shape;319;p16"/>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6"/>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6"/>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6"/>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323" name="Google Shape;323;p16"/>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324" name="Google Shape;324;p16"/>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Audience Swap</a:t>
            </a:r>
            <a:endParaRPr b="0" i="0" sz="3000" u="none" cap="none" strike="noStrike">
              <a:solidFill>
                <a:schemeClr val="dk1"/>
              </a:solidFill>
              <a:latin typeface="Arial"/>
              <a:ea typeface="Arial"/>
              <a:cs typeface="Arial"/>
              <a:sym typeface="Arial"/>
            </a:endParaRPr>
          </a:p>
        </p:txBody>
      </p:sp>
      <p:sp>
        <p:nvSpPr>
          <p:cNvPr id="325" name="Google Shape;325;p16"/>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6"/>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Practice changing the explanation without changing the science.</a:t>
            </a:r>
            <a:endParaRPr b="0" i="0" sz="1300" u="none" cap="none" strike="noStrike">
              <a:solidFill>
                <a:schemeClr val="dk1"/>
              </a:solidFill>
              <a:latin typeface="Arial"/>
              <a:ea typeface="Arial"/>
              <a:cs typeface="Arial"/>
              <a:sym typeface="Arial"/>
            </a:endParaRPr>
          </a:p>
        </p:txBody>
      </p:sp>
      <p:sp>
        <p:nvSpPr>
          <p:cNvPr id="327" name="Google Shape;327;p16"/>
          <p:cNvSpPr/>
          <p:nvPr/>
        </p:nvSpPr>
        <p:spPr>
          <a:xfrm>
            <a:off x="640080" y="157276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328" name="Google Shape;328;p16"/>
          <p:cNvSpPr/>
          <p:nvPr/>
        </p:nvSpPr>
        <p:spPr>
          <a:xfrm>
            <a:off x="640080" y="1874520"/>
            <a:ext cx="5212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Adapt the Same Idea</a:t>
            </a:r>
            <a:endParaRPr b="0" i="0" sz="2600" u="none" cap="none" strike="noStrike">
              <a:solidFill>
                <a:schemeClr val="dk1"/>
              </a:solidFill>
              <a:latin typeface="Arial"/>
              <a:ea typeface="Arial"/>
              <a:cs typeface="Arial"/>
              <a:sym typeface="Arial"/>
            </a:endParaRPr>
          </a:p>
        </p:txBody>
      </p:sp>
      <p:sp>
        <p:nvSpPr>
          <p:cNvPr id="329" name="Google Shape;329;p16"/>
          <p:cNvSpPr/>
          <p:nvPr/>
        </p:nvSpPr>
        <p:spPr>
          <a:xfrm>
            <a:off x="9509760" y="190195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10 MINUTES</a:t>
            </a:r>
            <a:endParaRPr b="0" i="0" sz="1600" u="none" cap="none" strike="noStrike">
              <a:solidFill>
                <a:schemeClr val="dk1"/>
              </a:solidFill>
              <a:latin typeface="Arial"/>
              <a:ea typeface="Arial"/>
              <a:cs typeface="Arial"/>
              <a:sym typeface="Arial"/>
            </a:endParaRPr>
          </a:p>
        </p:txBody>
      </p:sp>
      <p:cxnSp>
        <p:nvCxnSpPr>
          <p:cNvPr id="330" name="Google Shape;330;p16"/>
          <p:cNvCxnSpPr/>
          <p:nvPr/>
        </p:nvCxnSpPr>
        <p:spPr>
          <a:xfrm>
            <a:off x="640080" y="2523744"/>
            <a:ext cx="10881360" cy="0"/>
          </a:xfrm>
          <a:prstGeom prst="straightConnector1">
            <a:avLst/>
          </a:prstGeom>
          <a:noFill/>
          <a:ln cap="flat" cmpd="sng" w="12700">
            <a:solidFill>
              <a:srgbClr val="5A5A5A"/>
            </a:solidFill>
            <a:prstDash val="solid"/>
            <a:round/>
            <a:headEnd len="sm" w="sm" type="none"/>
            <a:tailEnd len="sm" w="sm" type="none"/>
          </a:ln>
        </p:spPr>
      </p:cxnSp>
      <p:sp>
        <p:nvSpPr>
          <p:cNvPr id="331" name="Google Shape;331;p16"/>
          <p:cNvSpPr/>
          <p:nvPr/>
        </p:nvSpPr>
        <p:spPr>
          <a:xfrm>
            <a:off x="822960" y="280720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Choose one difficult part of your project. Explain it twice: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1. To a younger student or non-expert</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2. To a science teacher, mentor, or expert</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Partner feedback: What vocabulary changed? What details were added or removed?</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36" name="Shape 336"/>
        <p:cNvGrpSpPr/>
        <p:nvPr/>
      </p:nvGrpSpPr>
      <p:grpSpPr>
        <a:xfrm>
          <a:off x="0" y="0"/>
          <a:ext cx="0" cy="0"/>
          <a:chOff x="0" y="0"/>
          <a:chExt cx="0" cy="0"/>
        </a:xfrm>
      </p:grpSpPr>
      <p:sp>
        <p:nvSpPr>
          <p:cNvPr id="337" name="Google Shape;337;p17"/>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7"/>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7"/>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7"/>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341" name="Google Shape;341;p17"/>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342" name="Google Shape;342;p17"/>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Delivery Habits That Matter</a:t>
            </a:r>
            <a:endParaRPr b="0" i="0" sz="3000" u="none" cap="none" strike="noStrike">
              <a:solidFill>
                <a:schemeClr val="dk1"/>
              </a:solidFill>
              <a:latin typeface="Arial"/>
              <a:ea typeface="Arial"/>
              <a:cs typeface="Arial"/>
              <a:sym typeface="Arial"/>
            </a:endParaRPr>
          </a:p>
        </p:txBody>
      </p:sp>
      <p:sp>
        <p:nvSpPr>
          <p:cNvPr id="343" name="Google Shape;343;p17"/>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7"/>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Small delivery choices change how credible the explanation feels.</a:t>
            </a:r>
            <a:endParaRPr b="0" i="0" sz="1300" u="none" cap="none" strike="noStrike">
              <a:solidFill>
                <a:schemeClr val="dk1"/>
              </a:solidFill>
              <a:latin typeface="Arial"/>
              <a:ea typeface="Arial"/>
              <a:cs typeface="Arial"/>
              <a:sym typeface="Arial"/>
            </a:endParaRPr>
          </a:p>
        </p:txBody>
      </p:sp>
      <p:sp>
        <p:nvSpPr>
          <p:cNvPr id="345" name="Google Shape;345;p17"/>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7"/>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7"/>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VOICE</a:t>
            </a:r>
            <a:endParaRPr b="0" i="0" sz="1100" u="none" cap="none" strike="noStrike">
              <a:solidFill>
                <a:schemeClr val="dk1"/>
              </a:solidFill>
              <a:latin typeface="Arial"/>
              <a:ea typeface="Arial"/>
              <a:cs typeface="Arial"/>
              <a:sym typeface="Arial"/>
            </a:endParaRPr>
          </a:p>
        </p:txBody>
      </p:sp>
      <p:sp>
        <p:nvSpPr>
          <p:cNvPr id="348" name="Google Shape;348;p17"/>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Speak loudly enough to be heard. Slow down for data and conclusions.</a:t>
            </a:r>
            <a:endParaRPr b="0" i="0" sz="1600" u="none" cap="none" strike="noStrike">
              <a:solidFill>
                <a:schemeClr val="dk1"/>
              </a:solidFill>
              <a:latin typeface="Arial"/>
              <a:ea typeface="Arial"/>
              <a:cs typeface="Arial"/>
              <a:sym typeface="Arial"/>
            </a:endParaRPr>
          </a:p>
        </p:txBody>
      </p:sp>
      <p:sp>
        <p:nvSpPr>
          <p:cNvPr id="349" name="Google Shape;349;p17"/>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7"/>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7"/>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EYE CONTACT</a:t>
            </a:r>
            <a:endParaRPr b="0" i="0" sz="1100" u="none" cap="none" strike="noStrike">
              <a:solidFill>
                <a:schemeClr val="dk1"/>
              </a:solidFill>
              <a:latin typeface="Arial"/>
              <a:ea typeface="Arial"/>
              <a:cs typeface="Arial"/>
              <a:sym typeface="Arial"/>
            </a:endParaRPr>
          </a:p>
        </p:txBody>
      </p:sp>
      <p:sp>
        <p:nvSpPr>
          <p:cNvPr id="352" name="Google Shape;352;p17"/>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Look up between notes. Do not present only to the poster, laptop, or floor.</a:t>
            </a:r>
            <a:endParaRPr b="0" i="0" sz="1600" u="none" cap="none" strike="noStrike">
              <a:solidFill>
                <a:schemeClr val="dk1"/>
              </a:solidFill>
              <a:latin typeface="Arial"/>
              <a:ea typeface="Arial"/>
              <a:cs typeface="Arial"/>
              <a:sym typeface="Arial"/>
            </a:endParaRPr>
          </a:p>
        </p:txBody>
      </p:sp>
      <p:sp>
        <p:nvSpPr>
          <p:cNvPr id="353" name="Google Shape;353;p17"/>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7"/>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7"/>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POSTURE</a:t>
            </a:r>
            <a:endParaRPr b="0" i="0" sz="1100" u="none" cap="none" strike="noStrike">
              <a:solidFill>
                <a:schemeClr val="dk1"/>
              </a:solidFill>
              <a:latin typeface="Arial"/>
              <a:ea typeface="Arial"/>
              <a:cs typeface="Arial"/>
              <a:sym typeface="Arial"/>
            </a:endParaRPr>
          </a:p>
        </p:txBody>
      </p:sp>
      <p:sp>
        <p:nvSpPr>
          <p:cNvPr id="356" name="Google Shape;356;p17"/>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Stand where the visual is visible. Avoid blocking graphs or turning away for long stretches.</a:t>
            </a:r>
            <a:endParaRPr b="0" i="0" sz="1600" u="none" cap="none" strike="noStrike">
              <a:solidFill>
                <a:schemeClr val="dk1"/>
              </a:solidFill>
              <a:latin typeface="Arial"/>
              <a:ea typeface="Arial"/>
              <a:cs typeface="Arial"/>
              <a:sym typeface="Arial"/>
            </a:endParaRPr>
          </a:p>
        </p:txBody>
      </p:sp>
      <p:sp>
        <p:nvSpPr>
          <p:cNvPr id="357" name="Google Shape;357;p17"/>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7"/>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7"/>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NOTES</a:t>
            </a:r>
            <a:endParaRPr b="0" i="0" sz="1100" u="none" cap="none" strike="noStrike">
              <a:solidFill>
                <a:schemeClr val="dk1"/>
              </a:solidFill>
              <a:latin typeface="Arial"/>
              <a:ea typeface="Arial"/>
              <a:cs typeface="Arial"/>
              <a:sym typeface="Arial"/>
            </a:endParaRPr>
          </a:p>
        </p:txBody>
      </p:sp>
      <p:sp>
        <p:nvSpPr>
          <p:cNvPr id="360" name="Google Shape;360;p17"/>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Use bullet notes as a map. Avoid reading the whole report or memorizing every word.</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65" name="Shape 365"/>
        <p:cNvGrpSpPr/>
        <p:nvPr/>
      </p:nvGrpSpPr>
      <p:grpSpPr>
        <a:xfrm>
          <a:off x="0" y="0"/>
          <a:ext cx="0" cy="0"/>
          <a:chOff x="0" y="0"/>
          <a:chExt cx="0" cy="0"/>
        </a:xfrm>
      </p:grpSpPr>
      <p:sp>
        <p:nvSpPr>
          <p:cNvPr id="366" name="Google Shape;366;p18"/>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8"/>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8"/>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8"/>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370" name="Google Shape;370;p18"/>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371" name="Google Shape;371;p18"/>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Feedback Should Lead to Revision</a:t>
            </a:r>
            <a:endParaRPr b="0" i="0" sz="3000" u="none" cap="none" strike="noStrike">
              <a:solidFill>
                <a:schemeClr val="dk1"/>
              </a:solidFill>
              <a:latin typeface="Arial"/>
              <a:ea typeface="Arial"/>
              <a:cs typeface="Arial"/>
              <a:sym typeface="Arial"/>
            </a:endParaRPr>
          </a:p>
        </p:txBody>
      </p:sp>
      <p:sp>
        <p:nvSpPr>
          <p:cNvPr id="372" name="Google Shape;372;p18"/>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8"/>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Practice only helps when feedback changes the next attempt.</a:t>
            </a:r>
            <a:endParaRPr b="0" i="0" sz="1300" u="none" cap="none" strike="noStrike">
              <a:solidFill>
                <a:schemeClr val="dk1"/>
              </a:solidFill>
              <a:latin typeface="Arial"/>
              <a:ea typeface="Arial"/>
              <a:cs typeface="Arial"/>
              <a:sym typeface="Arial"/>
            </a:endParaRPr>
          </a:p>
        </p:txBody>
      </p:sp>
      <p:sp>
        <p:nvSpPr>
          <p:cNvPr id="374" name="Google Shape;374;p18"/>
          <p:cNvSpPr/>
          <p:nvPr/>
        </p:nvSpPr>
        <p:spPr>
          <a:xfrm>
            <a:off x="777240" y="1600200"/>
            <a:ext cx="1005840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1" i="0" lang="en-US" sz="2000" u="none" cap="none" strike="noStrike">
                <a:solidFill>
                  <a:srgbClr val="A8A8A8"/>
                </a:solidFill>
                <a:latin typeface="Arial"/>
                <a:ea typeface="Arial"/>
                <a:cs typeface="Arial"/>
                <a:sym typeface="Arial"/>
              </a:rPr>
              <a:t>After each practice round, students should record:</a:t>
            </a:r>
            <a:endParaRPr b="0" i="0" sz="2000" u="none" cap="none" strike="noStrike">
              <a:solidFill>
                <a:schemeClr val="dk1"/>
              </a:solidFill>
              <a:latin typeface="Arial"/>
              <a:ea typeface="Arial"/>
              <a:cs typeface="Arial"/>
              <a:sym typeface="Arial"/>
            </a:endParaRPr>
          </a:p>
        </p:txBody>
      </p:sp>
      <p:sp>
        <p:nvSpPr>
          <p:cNvPr id="375" name="Google Shape;375;p18"/>
          <p:cNvSpPr/>
          <p:nvPr/>
        </p:nvSpPr>
        <p:spPr>
          <a:xfrm>
            <a:off x="731520" y="2148840"/>
            <a:ext cx="3429000" cy="2103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8"/>
          <p:cNvSpPr/>
          <p:nvPr/>
        </p:nvSpPr>
        <p:spPr>
          <a:xfrm>
            <a:off x="731520" y="2148840"/>
            <a:ext cx="64008" cy="2103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8"/>
          <p:cNvSpPr/>
          <p:nvPr/>
        </p:nvSpPr>
        <p:spPr>
          <a:xfrm>
            <a:off x="932688" y="228600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CONTENT FIX</a:t>
            </a:r>
            <a:endParaRPr b="0" i="0" sz="1100" u="none" cap="none" strike="noStrike">
              <a:solidFill>
                <a:schemeClr val="dk1"/>
              </a:solidFill>
              <a:latin typeface="Arial"/>
              <a:ea typeface="Arial"/>
              <a:cs typeface="Arial"/>
              <a:sym typeface="Arial"/>
            </a:endParaRPr>
          </a:p>
        </p:txBody>
      </p:sp>
      <p:sp>
        <p:nvSpPr>
          <p:cNvPr id="378" name="Google Shape;378;p18"/>
          <p:cNvSpPr/>
          <p:nvPr/>
        </p:nvSpPr>
        <p:spPr>
          <a:xfrm>
            <a:off x="932688" y="2606040"/>
            <a:ext cx="3108960" cy="1536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What idea, method detail, evidence, or limitation needs clearer explanation?</a:t>
            </a:r>
            <a:endParaRPr b="0" i="0" sz="1600" u="none" cap="none" strike="noStrike">
              <a:solidFill>
                <a:schemeClr val="dk1"/>
              </a:solidFill>
              <a:latin typeface="Arial"/>
              <a:ea typeface="Arial"/>
              <a:cs typeface="Arial"/>
              <a:sym typeface="Arial"/>
            </a:endParaRPr>
          </a:p>
        </p:txBody>
      </p:sp>
      <p:sp>
        <p:nvSpPr>
          <p:cNvPr id="379" name="Google Shape;379;p18"/>
          <p:cNvSpPr/>
          <p:nvPr/>
        </p:nvSpPr>
        <p:spPr>
          <a:xfrm>
            <a:off x="4389120" y="2148840"/>
            <a:ext cx="3429000" cy="2103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8"/>
          <p:cNvSpPr/>
          <p:nvPr/>
        </p:nvSpPr>
        <p:spPr>
          <a:xfrm>
            <a:off x="4389120" y="2148840"/>
            <a:ext cx="64008" cy="2103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8"/>
          <p:cNvSpPr/>
          <p:nvPr/>
        </p:nvSpPr>
        <p:spPr>
          <a:xfrm>
            <a:off x="4590288" y="228600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VISUAL FIX</a:t>
            </a:r>
            <a:endParaRPr b="0" i="0" sz="1100" u="none" cap="none" strike="noStrike">
              <a:solidFill>
                <a:schemeClr val="dk1"/>
              </a:solidFill>
              <a:latin typeface="Arial"/>
              <a:ea typeface="Arial"/>
              <a:cs typeface="Arial"/>
              <a:sym typeface="Arial"/>
            </a:endParaRPr>
          </a:p>
        </p:txBody>
      </p:sp>
      <p:sp>
        <p:nvSpPr>
          <p:cNvPr id="382" name="Google Shape;382;p18"/>
          <p:cNvSpPr/>
          <p:nvPr/>
        </p:nvSpPr>
        <p:spPr>
          <a:xfrm>
            <a:off x="4590288" y="2606040"/>
            <a:ext cx="3108960" cy="1536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What graph, label, caption, font size, layout, or image needs adjustment?</a:t>
            </a:r>
            <a:endParaRPr b="0" i="0" sz="1600" u="none" cap="none" strike="noStrike">
              <a:solidFill>
                <a:schemeClr val="dk1"/>
              </a:solidFill>
              <a:latin typeface="Arial"/>
              <a:ea typeface="Arial"/>
              <a:cs typeface="Arial"/>
              <a:sym typeface="Arial"/>
            </a:endParaRPr>
          </a:p>
        </p:txBody>
      </p:sp>
      <p:sp>
        <p:nvSpPr>
          <p:cNvPr id="383" name="Google Shape;383;p18"/>
          <p:cNvSpPr/>
          <p:nvPr/>
        </p:nvSpPr>
        <p:spPr>
          <a:xfrm>
            <a:off x="8046720" y="2148840"/>
            <a:ext cx="3429000" cy="2103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8"/>
          <p:cNvSpPr/>
          <p:nvPr/>
        </p:nvSpPr>
        <p:spPr>
          <a:xfrm>
            <a:off x="8046720" y="2148840"/>
            <a:ext cx="64008" cy="2103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8"/>
          <p:cNvSpPr/>
          <p:nvPr/>
        </p:nvSpPr>
        <p:spPr>
          <a:xfrm>
            <a:off x="8247888" y="228600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DELIVERY FIX</a:t>
            </a:r>
            <a:endParaRPr b="0" i="0" sz="1100" u="none" cap="none" strike="noStrike">
              <a:solidFill>
                <a:schemeClr val="dk1"/>
              </a:solidFill>
              <a:latin typeface="Arial"/>
              <a:ea typeface="Arial"/>
              <a:cs typeface="Arial"/>
              <a:sym typeface="Arial"/>
            </a:endParaRPr>
          </a:p>
        </p:txBody>
      </p:sp>
      <p:sp>
        <p:nvSpPr>
          <p:cNvPr id="386" name="Google Shape;386;p18"/>
          <p:cNvSpPr/>
          <p:nvPr/>
        </p:nvSpPr>
        <p:spPr>
          <a:xfrm>
            <a:off x="8247888" y="2606040"/>
            <a:ext cx="3108960" cy="1536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What pacing, volume, note use, eye contact, or transition needs practice?</a:t>
            </a:r>
            <a:endParaRPr b="0" i="0" sz="1600" u="none" cap="none" strike="noStrike">
              <a:solidFill>
                <a:schemeClr val="dk1"/>
              </a:solidFill>
              <a:latin typeface="Arial"/>
              <a:ea typeface="Arial"/>
              <a:cs typeface="Arial"/>
              <a:sym typeface="Arial"/>
            </a:endParaRPr>
          </a:p>
        </p:txBody>
      </p:sp>
      <p:sp>
        <p:nvSpPr>
          <p:cNvPr id="387" name="Google Shape;387;p18"/>
          <p:cNvSpPr/>
          <p:nvPr/>
        </p:nvSpPr>
        <p:spPr>
          <a:xfrm>
            <a:off x="1097280" y="4892040"/>
            <a:ext cx="10058400" cy="45720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200"/>
              <a:buFont typeface="Arial"/>
              <a:buNone/>
            </a:pPr>
            <a:r>
              <a:rPr b="1" i="0" lang="en-US" sz="2200" u="none" cap="none" strike="noStrike">
                <a:solidFill>
                  <a:srgbClr val="F4F4F4"/>
                </a:solidFill>
                <a:latin typeface="Arial"/>
                <a:ea typeface="Arial"/>
                <a:cs typeface="Arial"/>
                <a:sym typeface="Arial"/>
              </a:rPr>
              <a:t>A stronger presentation is built through repeated targeted revisions.</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92" name="Shape 392"/>
        <p:cNvGrpSpPr/>
        <p:nvPr/>
      </p:nvGrpSpPr>
      <p:grpSpPr>
        <a:xfrm>
          <a:off x="0" y="0"/>
          <a:ext cx="0" cy="0"/>
          <a:chOff x="0" y="0"/>
          <a:chExt cx="0" cy="0"/>
        </a:xfrm>
      </p:grpSpPr>
      <p:sp>
        <p:nvSpPr>
          <p:cNvPr id="393" name="Google Shape;393;p19"/>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9"/>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9"/>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9"/>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397" name="Google Shape;397;p19"/>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398" name="Google Shape;398;p19"/>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Practice Round + Revision Log</a:t>
            </a:r>
            <a:endParaRPr b="0" i="0" sz="3000" u="none" cap="none" strike="noStrike">
              <a:solidFill>
                <a:schemeClr val="dk1"/>
              </a:solidFill>
              <a:latin typeface="Arial"/>
              <a:ea typeface="Arial"/>
              <a:cs typeface="Arial"/>
              <a:sym typeface="Arial"/>
            </a:endParaRPr>
          </a:p>
        </p:txBody>
      </p:sp>
      <p:sp>
        <p:nvSpPr>
          <p:cNvPr id="399" name="Google Shape;399;p19"/>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9"/>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Turn practice feedback into a specific improvement plan.</a:t>
            </a:r>
            <a:endParaRPr b="0" i="0" sz="1300" u="none" cap="none" strike="noStrike">
              <a:solidFill>
                <a:schemeClr val="dk1"/>
              </a:solidFill>
              <a:latin typeface="Arial"/>
              <a:ea typeface="Arial"/>
              <a:cs typeface="Arial"/>
              <a:sym typeface="Arial"/>
            </a:endParaRPr>
          </a:p>
        </p:txBody>
      </p:sp>
      <p:sp>
        <p:nvSpPr>
          <p:cNvPr id="401" name="Google Shape;401;p19"/>
          <p:cNvSpPr/>
          <p:nvPr/>
        </p:nvSpPr>
        <p:spPr>
          <a:xfrm>
            <a:off x="640080" y="157276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402" name="Google Shape;402;p19"/>
          <p:cNvSpPr/>
          <p:nvPr/>
        </p:nvSpPr>
        <p:spPr>
          <a:xfrm>
            <a:off x="640080" y="1874520"/>
            <a:ext cx="5212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Present, Listen, Revise</a:t>
            </a:r>
            <a:endParaRPr b="0" i="0" sz="2600" u="none" cap="none" strike="noStrike">
              <a:solidFill>
                <a:schemeClr val="dk1"/>
              </a:solidFill>
              <a:latin typeface="Arial"/>
              <a:ea typeface="Arial"/>
              <a:cs typeface="Arial"/>
              <a:sym typeface="Arial"/>
            </a:endParaRPr>
          </a:p>
        </p:txBody>
      </p:sp>
      <p:sp>
        <p:nvSpPr>
          <p:cNvPr id="403" name="Google Shape;403;p19"/>
          <p:cNvSpPr/>
          <p:nvPr/>
        </p:nvSpPr>
        <p:spPr>
          <a:xfrm>
            <a:off x="9509760" y="190195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15–20 MINUTES</a:t>
            </a:r>
            <a:endParaRPr b="0" i="0" sz="1600" u="none" cap="none" strike="noStrike">
              <a:solidFill>
                <a:schemeClr val="dk1"/>
              </a:solidFill>
              <a:latin typeface="Arial"/>
              <a:ea typeface="Arial"/>
              <a:cs typeface="Arial"/>
              <a:sym typeface="Arial"/>
            </a:endParaRPr>
          </a:p>
        </p:txBody>
      </p:sp>
      <p:cxnSp>
        <p:nvCxnSpPr>
          <p:cNvPr id="404" name="Google Shape;404;p19"/>
          <p:cNvCxnSpPr/>
          <p:nvPr/>
        </p:nvCxnSpPr>
        <p:spPr>
          <a:xfrm>
            <a:off x="640080" y="2523744"/>
            <a:ext cx="10881360" cy="0"/>
          </a:xfrm>
          <a:prstGeom prst="straightConnector1">
            <a:avLst/>
          </a:prstGeom>
          <a:noFill/>
          <a:ln cap="flat" cmpd="sng" w="12700">
            <a:solidFill>
              <a:srgbClr val="5A5A5A"/>
            </a:solidFill>
            <a:prstDash val="solid"/>
            <a:round/>
            <a:headEnd len="sm" w="sm" type="none"/>
            <a:tailEnd len="sm" w="sm" type="none"/>
          </a:ln>
        </p:spPr>
      </p:cxnSp>
      <p:sp>
        <p:nvSpPr>
          <p:cNvPr id="405" name="Google Shape;405;p19"/>
          <p:cNvSpPr/>
          <p:nvPr/>
        </p:nvSpPr>
        <p:spPr>
          <a:xfrm>
            <a:off x="822960" y="280720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In pairs or groups of three: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1. Present a 2-minute version.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2. Listener completes the feedback form.</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3. Presenter records one content fix, one visual fix, and one delivery fix.</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4. Presenter revises speaking notes before the next round.</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410" name="Shape 410"/>
        <p:cNvGrpSpPr/>
        <p:nvPr/>
      </p:nvGrpSpPr>
      <p:grpSpPr>
        <a:xfrm>
          <a:off x="0" y="0"/>
          <a:ext cx="0" cy="0"/>
          <a:chOff x="0" y="0"/>
          <a:chExt cx="0" cy="0"/>
        </a:xfrm>
      </p:grpSpPr>
      <p:sp>
        <p:nvSpPr>
          <p:cNvPr id="411" name="Google Shape;411;p20"/>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0"/>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0"/>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0"/>
          <p:cNvSpPr/>
          <p:nvPr/>
        </p:nvSpPr>
        <p:spPr>
          <a:xfrm>
            <a:off x="384048" y="6364224"/>
            <a:ext cx="29260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ORAL PRESENTATION</a:t>
            </a:r>
            <a:endParaRPr b="0" i="0" sz="950" u="none" cap="none" strike="noStrike">
              <a:solidFill>
                <a:schemeClr val="dk1"/>
              </a:solidFill>
              <a:latin typeface="Arial"/>
              <a:ea typeface="Arial"/>
              <a:cs typeface="Arial"/>
              <a:sym typeface="Arial"/>
            </a:endParaRPr>
          </a:p>
        </p:txBody>
      </p:sp>
      <p:sp>
        <p:nvSpPr>
          <p:cNvPr id="415" name="Google Shape;415;p20"/>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17</a:t>
            </a:r>
            <a:endParaRPr b="0" i="0" sz="950" u="none" cap="none" strike="noStrike">
              <a:solidFill>
                <a:schemeClr val="dk1"/>
              </a:solidFill>
              <a:latin typeface="Arial"/>
              <a:ea typeface="Arial"/>
              <a:cs typeface="Arial"/>
              <a:sym typeface="Arial"/>
            </a:endParaRPr>
          </a:p>
        </p:txBody>
      </p:sp>
      <p:sp>
        <p:nvSpPr>
          <p:cNvPr id="416" name="Google Shape;416;p20"/>
          <p:cNvSpPr/>
          <p:nvPr/>
        </p:nvSpPr>
        <p:spPr>
          <a:xfrm>
            <a:off x="502920" y="502920"/>
            <a:ext cx="110642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Exit Ticket: Ready to Practice Again</a:t>
            </a:r>
            <a:endParaRPr b="0" i="0" sz="3000" u="none" cap="none" strike="noStrike">
              <a:solidFill>
                <a:schemeClr val="dk1"/>
              </a:solidFill>
              <a:latin typeface="Arial"/>
              <a:ea typeface="Arial"/>
              <a:cs typeface="Arial"/>
              <a:sym typeface="Arial"/>
            </a:endParaRPr>
          </a:p>
        </p:txBody>
      </p:sp>
      <p:sp>
        <p:nvSpPr>
          <p:cNvPr id="417" name="Google Shape;417;p20"/>
          <p:cNvSpPr/>
          <p:nvPr/>
        </p:nvSpPr>
        <p:spPr>
          <a:xfrm>
            <a:off x="502920" y="1143000"/>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0"/>
          <p:cNvSpPr/>
          <p:nvPr/>
        </p:nvSpPr>
        <p:spPr>
          <a:xfrm>
            <a:off x="1600200" y="1024128"/>
            <a:ext cx="98755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leave with a concrete speaking goal.</a:t>
            </a:r>
            <a:endParaRPr b="0" i="0" sz="1300" u="none" cap="none" strike="noStrike">
              <a:solidFill>
                <a:schemeClr val="dk1"/>
              </a:solidFill>
              <a:latin typeface="Arial"/>
              <a:ea typeface="Arial"/>
              <a:cs typeface="Arial"/>
              <a:sym typeface="Arial"/>
            </a:endParaRPr>
          </a:p>
        </p:txBody>
      </p:sp>
      <p:sp>
        <p:nvSpPr>
          <p:cNvPr id="419" name="Google Shape;419;p20"/>
          <p:cNvSpPr/>
          <p:nvPr/>
        </p:nvSpPr>
        <p:spPr>
          <a:xfrm>
            <a:off x="822960" y="1600200"/>
            <a:ext cx="1005840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1" i="0" lang="en-US" sz="2000" u="none" cap="none" strike="noStrike">
                <a:solidFill>
                  <a:srgbClr val="A8A8A8"/>
                </a:solidFill>
                <a:latin typeface="Arial"/>
                <a:ea typeface="Arial"/>
                <a:cs typeface="Arial"/>
                <a:sym typeface="Arial"/>
              </a:rPr>
              <a:t>Before leaving, answer:</a:t>
            </a:r>
            <a:endParaRPr b="0" i="0" sz="2000" u="none" cap="none" strike="noStrike">
              <a:solidFill>
                <a:schemeClr val="dk1"/>
              </a:solidFill>
              <a:latin typeface="Arial"/>
              <a:ea typeface="Arial"/>
              <a:cs typeface="Arial"/>
              <a:sym typeface="Arial"/>
            </a:endParaRPr>
          </a:p>
        </p:txBody>
      </p:sp>
      <p:sp>
        <p:nvSpPr>
          <p:cNvPr id="420" name="Google Shape;420;p20"/>
          <p:cNvSpPr/>
          <p:nvPr/>
        </p:nvSpPr>
        <p:spPr>
          <a:xfrm>
            <a:off x="914400" y="2148840"/>
            <a:ext cx="10241280" cy="187452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1. What is the clearest sentence in your presentation right now?</a:t>
            </a:r>
            <a:endParaRPr b="0" i="0" sz="24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2. What part of your explanation still feels confusing?</a:t>
            </a:r>
            <a:endParaRPr b="0" i="0" sz="24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3. What visual needs the most attention?</a:t>
            </a:r>
            <a:endParaRPr b="0" i="0" sz="24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4. What is one delivery habit you will practice next time?</a:t>
            </a:r>
            <a:endParaRPr b="0" i="0" sz="2400" u="none" cap="none" strike="noStrike">
              <a:solidFill>
                <a:schemeClr val="dk1"/>
              </a:solidFill>
              <a:latin typeface="Arial"/>
              <a:ea typeface="Arial"/>
              <a:cs typeface="Arial"/>
              <a:sym typeface="Arial"/>
            </a:endParaRPr>
          </a:p>
        </p:txBody>
      </p:sp>
      <p:sp>
        <p:nvSpPr>
          <p:cNvPr id="421" name="Google Shape;421;p20"/>
          <p:cNvSpPr/>
          <p:nvPr/>
        </p:nvSpPr>
        <p:spPr>
          <a:xfrm>
            <a:off x="914400" y="4892040"/>
            <a:ext cx="10241280" cy="50292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E3342F"/>
              </a:buClr>
              <a:buSzPts val="2600"/>
              <a:buFont typeface="Arial"/>
              <a:buNone/>
            </a:pPr>
            <a:r>
              <a:rPr b="1" i="0" lang="en-US" sz="2600" u="none" cap="none" strike="noStrike">
                <a:solidFill>
                  <a:srgbClr val="E3342F"/>
                </a:solidFill>
                <a:latin typeface="Arial"/>
                <a:ea typeface="Arial"/>
                <a:cs typeface="Arial"/>
                <a:sym typeface="Arial"/>
              </a:rPr>
              <a:t>Next Deck: Answering Questions Like a Scientist</a:t>
            </a:r>
            <a:endParaRPr b="0" i="0" sz="2600" u="none" cap="none" strike="noStrike">
              <a:solidFill>
                <a:schemeClr val="dk1"/>
              </a:solidFill>
              <a:latin typeface="Arial"/>
              <a:ea typeface="Arial"/>
              <a:cs typeface="Arial"/>
              <a:sym typeface="Arial"/>
            </a:endParaRPr>
          </a:p>
        </p:txBody>
      </p:sp>
      <p:sp>
        <p:nvSpPr>
          <p:cNvPr id="422" name="Google Shape;422;p20"/>
          <p:cNvSpPr/>
          <p:nvPr/>
        </p:nvSpPr>
        <p:spPr>
          <a:xfrm>
            <a:off x="914400" y="5504688"/>
            <a:ext cx="1005840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1500"/>
              <a:buFont typeface="Arial"/>
              <a:buNone/>
            </a:pPr>
            <a:r>
              <a:rPr b="0" i="0" lang="en-US" sz="1500" u="none" cap="none" strike="noStrike">
                <a:solidFill>
                  <a:srgbClr val="A8A8A8"/>
                </a:solidFill>
                <a:latin typeface="Arial"/>
                <a:ea typeface="Arial"/>
                <a:cs typeface="Arial"/>
                <a:sym typeface="Arial"/>
              </a:rPr>
              <a:t>Students will practice Q&amp;A, defending evidence, acknowledging limitations, and responding with scientific humility.</a:t>
            </a:r>
            <a:endParaRPr b="0" i="0" sz="15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