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4edafdf2514449e" /><Relationship Type="http://schemas.openxmlformats.org/officeDocument/2006/relationships/extended-properties" Target="/docProps/app.xml" Id="R484e0b5ab8664ac9" /><Relationship Type="http://schemas.openxmlformats.org/officeDocument/2006/relationships/officeDocument" Target="/ppt/presentation.xml" Id="R9b6aa0377b184e20"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945a855af0164ef9"/>
  </p:sldMasterIdLst>
  <p:notesMasterIdLst>
    <p:notesMasterId xmlns:r="http://schemas.openxmlformats.org/officeDocument/2006/relationships" r:id="R0b6042d49d7547cc"/>
  </p:notesMasterIdLst>
  <p:sldIdLst>
    <p:sldId xmlns:r="http://schemas.openxmlformats.org/officeDocument/2006/relationships" id="256" r:id="R3730e15c46b54ebd"/>
    <p:sldId xmlns:r="http://schemas.openxmlformats.org/officeDocument/2006/relationships" id="257" r:id="Rd2fd000998ae4926"/>
    <p:sldId xmlns:r="http://schemas.openxmlformats.org/officeDocument/2006/relationships" id="258" r:id="Rda7043123c714b43"/>
    <p:sldId xmlns:r="http://schemas.openxmlformats.org/officeDocument/2006/relationships" id="259" r:id="R4ea63cc0c44b44df"/>
    <p:sldId xmlns:r="http://schemas.openxmlformats.org/officeDocument/2006/relationships" id="260" r:id="R84bffb6d39f6441f"/>
    <p:sldId xmlns:r="http://schemas.openxmlformats.org/officeDocument/2006/relationships" id="261" r:id="R1b7ca2342e8c4cdd"/>
    <p:sldId xmlns:r="http://schemas.openxmlformats.org/officeDocument/2006/relationships" id="262" r:id="Recb18dacdf294cdc"/>
    <p:sldId xmlns:r="http://schemas.openxmlformats.org/officeDocument/2006/relationships" id="263" r:id="R283cdefa3f8b4fff"/>
    <p:sldId xmlns:r="http://schemas.openxmlformats.org/officeDocument/2006/relationships" id="264" r:id="Rf24078616ed34fae"/>
    <p:sldId xmlns:r="http://schemas.openxmlformats.org/officeDocument/2006/relationships" id="265" r:id="Raed96b2932d24c9f"/>
    <p:sldId xmlns:r="http://schemas.openxmlformats.org/officeDocument/2006/relationships" id="266" r:id="R0093ce3ae5fc49e5"/>
    <p:sldId xmlns:r="http://schemas.openxmlformats.org/officeDocument/2006/relationships" id="267" r:id="R443049c1571f401c"/>
    <p:sldId xmlns:r="http://schemas.openxmlformats.org/officeDocument/2006/relationships" id="268" r:id="R445d8c106c314728"/>
    <p:sldId xmlns:r="http://schemas.openxmlformats.org/officeDocument/2006/relationships" id="269" r:id="Ra7b1cfa203b5401f"/>
    <p:sldId xmlns:r="http://schemas.openxmlformats.org/officeDocument/2006/relationships" id="270" r:id="R304ba13e14a64174"/>
    <p:sldId xmlns:r="http://schemas.openxmlformats.org/officeDocument/2006/relationships" id="271" r:id="Rdf002cba29e142f1"/>
    <p:sldId xmlns:r="http://schemas.openxmlformats.org/officeDocument/2006/relationships" id="272" r:id="R3d45b7e9d0c14f1d"/>
    <p:sldId xmlns:r="http://schemas.openxmlformats.org/officeDocument/2006/relationships" id="273" r:id="Rff4aca07dac34cc4"/>
  </p:sldIdLst>
  <p:sldSz cx="12192000" cy="6858000"/>
  <p:notesSz cx="6858000" cy="9144000"/>
  <p:embeddedFontLst>
    <p:embeddedFont>
      <p:font typeface="Play"/>
      <p:regular xmlns:r="http://schemas.openxmlformats.org/officeDocument/2006/relationships" r:id="R7a6e534c5a914f4d"/>
      <p:bold xmlns:r="http://schemas.openxmlformats.org/officeDocument/2006/relationships" r:id="Rcfa74da544c24431"/>
    </p:embeddedFont>
  </p:embeddedFontLst>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cbd50b0bd494bd5" /><Relationship Type="http://schemas.openxmlformats.org/officeDocument/2006/relationships/slideMaster" Target="/ppt/slideMasters/slideMaster1.xml" Id="R945a855af0164ef9" /><Relationship Type="http://schemas.openxmlformats.org/officeDocument/2006/relationships/notesMaster" Target="/ppt/notesMasters/notesMaster1.xml" Id="R0b6042d49d7547cc" /><Relationship Type="http://schemas.openxmlformats.org/officeDocument/2006/relationships/presProps" Target="/ppt/presProps.xml" Id="R1adac677e9964abf" /><Relationship Type="http://schemas.openxmlformats.org/officeDocument/2006/relationships/tableStyles" Target="/ppt/tableStyles.xml" Id="R6d51a4a6220540c3" /><Relationship Type="http://schemas.openxmlformats.org/officeDocument/2006/relationships/font" Target="/ppt/fonts/font.dat" Id="R7a6e534c5a914f4d" /><Relationship Type="http://schemas.openxmlformats.org/officeDocument/2006/relationships/font" Target="/ppt/fonts/font2.dat" Id="Rcfa74da544c24431" /><Relationship Type="http://schemas.openxmlformats.org/officeDocument/2006/relationships/slide" Target="/ppt/slides/slide1.xml" Id="R3730e15c46b54ebd" /><Relationship Type="http://schemas.openxmlformats.org/officeDocument/2006/relationships/slide" Target="/ppt/slides/slide2.xml" Id="Rd2fd000998ae4926" /><Relationship Type="http://schemas.openxmlformats.org/officeDocument/2006/relationships/slide" Target="/ppt/slides/slide3.xml" Id="Rda7043123c714b43" /><Relationship Type="http://schemas.openxmlformats.org/officeDocument/2006/relationships/slide" Target="/ppt/slides/slide4.xml" Id="R4ea63cc0c44b44df" /><Relationship Type="http://schemas.openxmlformats.org/officeDocument/2006/relationships/slide" Target="/ppt/slides/slide5.xml" Id="R84bffb6d39f6441f" /><Relationship Type="http://schemas.openxmlformats.org/officeDocument/2006/relationships/slide" Target="/ppt/slides/slide6.xml" Id="R1b7ca2342e8c4cdd" /><Relationship Type="http://schemas.openxmlformats.org/officeDocument/2006/relationships/slide" Target="/ppt/slides/slide7.xml" Id="Recb18dacdf294cdc" /><Relationship Type="http://schemas.openxmlformats.org/officeDocument/2006/relationships/slide" Target="/ppt/slides/slide8.xml" Id="R283cdefa3f8b4fff" /><Relationship Type="http://schemas.openxmlformats.org/officeDocument/2006/relationships/slide" Target="/ppt/slides/slide9.xml" Id="Rf24078616ed34fae" /><Relationship Type="http://schemas.openxmlformats.org/officeDocument/2006/relationships/slide" Target="/ppt/slides/slide10.xml" Id="Raed96b2932d24c9f" /><Relationship Type="http://schemas.openxmlformats.org/officeDocument/2006/relationships/slide" Target="/ppt/slides/slide11.xml" Id="R0093ce3ae5fc49e5" /><Relationship Type="http://schemas.openxmlformats.org/officeDocument/2006/relationships/slide" Target="/ppt/slides/slide12.xml" Id="R443049c1571f401c" /><Relationship Type="http://schemas.openxmlformats.org/officeDocument/2006/relationships/slide" Target="/ppt/slides/slide13.xml" Id="R445d8c106c314728" /><Relationship Type="http://schemas.openxmlformats.org/officeDocument/2006/relationships/slide" Target="/ppt/slides/slide14.xml" Id="Ra7b1cfa203b5401f" /><Relationship Type="http://schemas.openxmlformats.org/officeDocument/2006/relationships/slide" Target="/ppt/slides/slide15.xml" Id="R304ba13e14a64174" /><Relationship Type="http://schemas.openxmlformats.org/officeDocument/2006/relationships/slide" Target="/ppt/slides/slide16.xml" Id="Rdf002cba29e142f1" /><Relationship Type="http://schemas.openxmlformats.org/officeDocument/2006/relationships/slide" Target="/ppt/slides/slide17.xml" Id="R3d45b7e9d0c14f1d" /><Relationship Type="http://schemas.openxmlformats.org/officeDocument/2006/relationships/slide" Target="/ppt/slides/slide18.xml" Id="Rff4aca07dac34cc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07d825ec82a4ca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921dda3df92421d" /><Relationship Type="http://schemas.openxmlformats.org/officeDocument/2006/relationships/notesMaster" Target="/ppt/notesMasters/notesMaster1.xml" Id="Re56fdc36d409494b" /></Relationships>
</file>

<file path=ppt/notesSlides/_rels/notesSlide2.xml.rels>&#65279;<?xml version="1.0" encoding="utf-8"?><Relationships xmlns="http://schemas.openxmlformats.org/package/2006/relationships"><Relationship Type="http://schemas.openxmlformats.org/officeDocument/2006/relationships/slide" Target="/ppt/slides/slide2.xml" Id="R1e8f9a35f6054261" /><Relationship Type="http://schemas.openxmlformats.org/officeDocument/2006/relationships/notesMaster" Target="/ppt/notesMasters/notesMaster1.xml" Id="R2b769740e1ad46cf" /></Relationships>
</file>

<file path=ppt/notesSlides/_rels/notesSlide3.xml.rels>&#65279;<?xml version="1.0" encoding="utf-8"?><Relationships xmlns="http://schemas.openxmlformats.org/package/2006/relationships"><Relationship Type="http://schemas.openxmlformats.org/officeDocument/2006/relationships/slide" Target="/ppt/slides/slide3.xml" Id="R0324d55e3674436c" /><Relationship Type="http://schemas.openxmlformats.org/officeDocument/2006/relationships/notesMaster" Target="/ppt/notesMasters/notesMaster1.xml" Id="R696bb6c4bb754f20" /></Relationships>
</file>

<file path=ppt/notesSlides/_rels/notesSlide4.xml.rels>&#65279;<?xml version="1.0" encoding="utf-8"?><Relationships xmlns="http://schemas.openxmlformats.org/package/2006/relationships"><Relationship Type="http://schemas.openxmlformats.org/officeDocument/2006/relationships/slide" Target="/ppt/slides/slide4.xml" Id="R4c9054b121484794" /><Relationship Type="http://schemas.openxmlformats.org/officeDocument/2006/relationships/notesMaster" Target="/ppt/notesMasters/notesMaster1.xml" Id="R2562aa0d69924dab" /></Relationships>
</file>

<file path=ppt/notesSlides/_rels/notesSlide5.xml.rels>&#65279;<?xml version="1.0" encoding="utf-8"?><Relationships xmlns="http://schemas.openxmlformats.org/package/2006/relationships"><Relationship Type="http://schemas.openxmlformats.org/officeDocument/2006/relationships/slide" Target="/ppt/slides/slide5.xml" Id="Rd8259fbb31424e3d" /><Relationship Type="http://schemas.openxmlformats.org/officeDocument/2006/relationships/notesMaster" Target="/ppt/notesMasters/notesMaster1.xml" Id="R5aa775bf92304dfe" /></Relationships>
</file>

<file path=ppt/notesSlides/_rels/notesSlide6.xml.rels>&#65279;<?xml version="1.0" encoding="utf-8"?><Relationships xmlns="http://schemas.openxmlformats.org/package/2006/relationships"><Relationship Type="http://schemas.openxmlformats.org/officeDocument/2006/relationships/slide" Target="/ppt/slides/slide6.xml" Id="R1c76aed66da94571" /><Relationship Type="http://schemas.openxmlformats.org/officeDocument/2006/relationships/notesMaster" Target="/ppt/notesMasters/notesMaster1.xml" Id="R76a329168ccb4760" /></Relationships>
</file>

<file path=ppt/notesSlides/_rels/notesSlide7.xml.rels>&#65279;<?xml version="1.0" encoding="utf-8"?><Relationships xmlns="http://schemas.openxmlformats.org/package/2006/relationships"><Relationship Type="http://schemas.openxmlformats.org/officeDocument/2006/relationships/slide" Target="/ppt/slides/slide7.xml" Id="R0783b647d83a4946" /><Relationship Type="http://schemas.openxmlformats.org/officeDocument/2006/relationships/notesMaster" Target="/ppt/notesMasters/notesMaster1.xml" Id="R5c2bdb2173044a29" /></Relationships>
</file>

<file path=ppt/notesSlides/_rels/notesSlide8.xml.rels>&#65279;<?xml version="1.0" encoding="utf-8"?><Relationships xmlns="http://schemas.openxmlformats.org/package/2006/relationships"><Relationship Type="http://schemas.openxmlformats.org/officeDocument/2006/relationships/slide" Target="/ppt/slides/slide8.xml" Id="R4fe179a28b564d57" /><Relationship Type="http://schemas.openxmlformats.org/officeDocument/2006/relationships/notesMaster" Target="/ppt/notesMasters/notesMaster1.xml" Id="Rf515cf1955f24f26" /></Relationships>
</file>

<file path=ppt/notesSlides/_rels/notesSlide9.xml.rels>&#65279;<?xml version="1.0" encoding="utf-8"?><Relationships xmlns="http://schemas.openxmlformats.org/package/2006/relationships"><Relationship Type="http://schemas.openxmlformats.org/officeDocument/2006/relationships/slide" Target="/ppt/slides/slide9.xml" Id="R6d12c67ea62b43e1" /><Relationship Type="http://schemas.openxmlformats.org/officeDocument/2006/relationships/notesMaster" Target="/ppt/notesMasters/notesMaster1.xml" Id="R199c85e5eeac48e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2ac5d12f3914045" /><Relationship Type="http://schemas.openxmlformats.org/officeDocument/2006/relationships/notesMaster" Target="/ppt/notesMasters/notesMaster1.xml" Id="Rc10b36df7c13436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056d918ac334e9c" /><Relationship Type="http://schemas.openxmlformats.org/officeDocument/2006/relationships/notesMaster" Target="/ppt/notesMasters/notesMaster1.xml" Id="R93733541acf241d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058d3ecafb5487a" /><Relationship Type="http://schemas.openxmlformats.org/officeDocument/2006/relationships/notesMaster" Target="/ppt/notesMasters/notesMaster1.xml" Id="Rbdb9a707a737434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e816feb52e24a54" /><Relationship Type="http://schemas.openxmlformats.org/officeDocument/2006/relationships/notesMaster" Target="/ppt/notesMasters/notesMaster1.xml" Id="R39d67cdf3d39436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e3e9dcdf7c24647" /><Relationship Type="http://schemas.openxmlformats.org/officeDocument/2006/relationships/notesMaster" Target="/ppt/notesMasters/notesMaster1.xml" Id="R429d4f277462427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b873cbbf8bb4fe5" /><Relationship Type="http://schemas.openxmlformats.org/officeDocument/2006/relationships/notesMaster" Target="/ppt/notesMasters/notesMaster1.xml" Id="Rfaf33b3991354fb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fe6cf30a5df4862" /><Relationship Type="http://schemas.openxmlformats.org/officeDocument/2006/relationships/notesMaster" Target="/ppt/notesMasters/notesMaster1.xml" Id="R0b16d078a5704a0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bf487c18c974acc" /><Relationship Type="http://schemas.openxmlformats.org/officeDocument/2006/relationships/notesMaster" Target="/ppt/notesMasters/notesMaster1.xml" Id="R9c0d39bb36664fb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19430302d8b4525" /><Relationship Type="http://schemas.openxmlformats.org/officeDocument/2006/relationships/notesMaster" Target="/ppt/notesMasters/notesMaster1.xml" Id="R643dbe47cf71441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PRIMARY TEACHING MOMENT</a:t>
            </a:r>
          </a:p>
          <a:p xmlns:a="http://schemas.openxmlformats.org/drawingml/2006/main">
            <a:pPr marL="0" indent="0" algn="l">
              <a:spcBef>
                <a:spcPts val="0"/>
              </a:spcBef>
              <a:spcAft>
                <a:spcPts val="0"/>
              </a:spcAft>
              <a:buNone/>
            </a:pPr>
            <a:r>
              <a:t>Unit 6, Week 29</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PREVIEW / REFERENCE</a:t>
            </a:r>
          </a:p>
          <a:p xmlns:a="http://schemas.openxmlformats.org/drawingml/2006/main">
            <a:pPr marL="0" indent="0" algn="l">
              <a:spcBef>
                <a:spcPts val="0"/>
              </a:spcBef>
              <a:spcAft>
                <a:spcPts val="0"/>
              </a:spcAft>
              <a:buNone/>
            </a:pPr>
            <a:r>
              <a:t>Unit 5, Week 28</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REVISIT / REFERENCE</a:t>
            </a:r>
          </a:p>
          <a:p xmlns:a="http://schemas.openxmlformats.org/drawingml/2006/main">
            <a:pPr marL="0" indent="0" algn="l">
              <a:spcBef>
                <a:spcPts val="0"/>
              </a:spcBef>
              <a:spcAft>
                <a:spcPts val="0"/>
              </a:spcAft>
              <a:buNone/>
            </a:pPr>
            <a:r>
              <a:t>Unit 6, Week 30</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WEEK 28 PREVIEW MATERIALS</a:t>
            </a:r>
          </a:p>
          <a:p xmlns:a="http://schemas.openxmlformats.org/drawingml/2006/main">
            <a:pPr marL="0" indent="0" algn="l">
              <a:spcBef>
                <a:spcPts val="0"/>
              </a:spcBef>
              <a:spcAft>
                <a:spcPts val="0"/>
              </a:spcAft>
              <a:buNone/>
            </a:pPr>
            <a:r>
              <a:t>- Unit 5 Student Handouts 10-11</a:t>
            </a:r>
          </a:p>
          <a:p xmlns:a="http://schemas.openxmlformats.org/drawingml/2006/main">
            <a:pPr marL="0" indent="0" algn="l">
              <a:spcBef>
                <a:spcPts val="0"/>
              </a:spcBef>
              <a:spcAft>
                <a:spcPts val="0"/>
              </a:spcAft>
              <a:buNone/>
            </a:pPr>
            <a:r>
              <a:t>- Unit 5 Appendix O</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REQUIRED WEEKS 29-30 MATERIALS</a:t>
            </a:r>
          </a:p>
          <a:p xmlns:a="http://schemas.openxmlformats.org/drawingml/2006/main">
            <a:pPr marL="0" indent="0" algn="l">
              <a:spcBef>
                <a:spcPts val="0"/>
              </a:spcBef>
              <a:spcAft>
                <a:spcPts val="0"/>
              </a:spcAft>
              <a:buNone/>
            </a:pPr>
            <a:r>
              <a:t>- Unit 6 Student Handouts 1-6</a:t>
            </a:r>
          </a:p>
          <a:p xmlns:a="http://schemas.openxmlformats.org/drawingml/2006/main">
            <a:pPr marL="0" indent="0" algn="l">
              <a:spcBef>
                <a:spcPts val="0"/>
              </a:spcBef>
              <a:spcAft>
                <a:spcPts val="0"/>
              </a:spcAft>
              <a:buNone/>
            </a:pPr>
            <a:r>
              <a:t>- Unit 6 Appendices A-E</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OPTIONAL / TEACHER SCORING REFERENCE</a:t>
            </a:r>
          </a:p>
          <a:p xmlns:a="http://schemas.openxmlformats.org/drawingml/2006/main">
            <a:pPr marL="0" indent="0" algn="l">
              <a:spcBef>
                <a:spcPts val="0"/>
              </a:spcBef>
              <a:spcAft>
                <a:spcPts val="0"/>
              </a:spcAft>
              <a:buNone/>
            </a:pPr>
            <a:r>
              <a:t>- Unit 6 Appendix L: Oral Presentation Rubric (final summative rubric; may be used to guide practice feedback)</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RESOURCE ALIGNMENT</a:t>
            </a:r>
          </a:p>
          <a:p xmlns:a="http://schemas.openxmlformats.org/drawingml/2006/main">
            <a:pPr marL="0" indent="0" algn="l">
              <a:spcBef>
                <a:spcPts val="0"/>
              </a:spcBef>
              <a:spcAft>
                <a:spcPts val="0"/>
              </a:spcAft>
              <a:buNone/>
            </a:pPr>
            <a:r>
              <a:t>Preview spoken-presentation expectations in Week 28, teach the full deck in Week 29, and revisit selected practice content in Week 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Preview the lesson as a practice-and-revision deck, not a one-time speech lesson. Students should have a near-final report, poster, board, or slide product, but they may still be revising their spoken explanation.</a:t>
            </a:r>
            <a:br/>
            <a:br/>
            <a:r>
              <a:t>Resource alignment:</a:t>
            </a:r>
            <a:br/>
            <a:r>
              <a:t>Use with Unit 6 Student Handout 1: Final Presentation Readiness Check and Unit 6 Appendix A: Presentation Structure Guide. This deck supports Unit 6 Weeks 29–30.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Students often try to present by reading their written report or poster. Emphasize that the presentation is a guided explanation of the most important ideas and evidence.</a:t>
            </a:r>
            <a:br/>
            <a:br/>
            <a:r>
              <a:t>Resource alignment:</a:t>
            </a:r>
            <a:br/>
            <a:r>
              <a:t>Use with Unit 6 Student Handout 2: Research Story Refinement. Resource connection: Unit 6 Appendix A: Presentation Structure Guide.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Have students check whether their current presentation has all seven parts. If students cannot name their key evidence, they may still be presenting a topic rather than a research finding.</a:t>
            </a:r>
            <a:br/>
            <a:br/>
            <a:r>
              <a:t>Resource alignment:</a:t>
            </a:r>
            <a:br/>
            <a:r>
              <a:t>Use with Unit 6 Student Handout 2: Research Story Refinement and Unit 6 Appendix A: Presentation Structure Guide.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Model the difference out loud. Students should hear that the stronger version does not necessarily use fancier words; it uses clearer research logic.</a:t>
            </a:r>
            <a:br/>
            <a:br/>
            <a:r>
              <a:t>Resource alignment:</a:t>
            </a:r>
            <a:br/>
            <a:r>
              <a:t>Use with Unit 6 Appendix C: Speaking Notes Guide. This also connects back to Unit 5 report structure but shifts from writing to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Emphasize that shorter versions are not watered-down versions. They are more selective versions. This is useful for public showcases where visitors may only stop for a short time.</a:t>
            </a:r>
            <a:br/>
            <a:br/>
            <a:r>
              <a:t>Resource alignment:</a:t>
            </a:r>
            <a:br/>
            <a:r>
              <a:t>Use with Unit 6 Student Handout 3: Three-Length Presentation Practice. Resource connection: Unit 6 Appendix A: Presentation Structure Guide.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Give students quiet drafting time before partner practice. Partners should not correct every word; they should check whether the research story is understandable at each length.</a:t>
            </a:r>
            <a:br/>
            <a:br/>
            <a:r>
              <a:t>Resource alignment:</a:t>
            </a:r>
            <a:br/>
            <a:r>
              <a:t>Use with Unit 6 Student Handout 3: Three-Length Presentation Practice. Students may also reference Unit 6 Appendix C: Speaking Notes Guide.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Students often overdescribe methods because it feels safer than interpreting data. Teach them to include enough method detail to make the evidence credible and save deeper details for questions.</a:t>
            </a:r>
            <a:br/>
            <a:br/>
            <a:r>
              <a:t>Resource alignment:</a:t>
            </a:r>
            <a:br/>
            <a:r>
              <a:t>Use with Unit 6 Student Handout 2: Research Story Refinement and Unit 6 Appendix B: Common Final Presentation Problems.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Have students practice with one of their actual graphs or visuals. Many students can make a graph but cannot explain what the audience should notice.</a:t>
            </a:r>
            <a:br/>
            <a:br/>
            <a:r>
              <a:t>Resource alignment:</a:t>
            </a:r>
            <a:br/>
            <a:r>
              <a:t>Use with Unit 6 Student Handout 4: Practice Presentation Feedback Form and Unit 6 Student Handout 6: Presentation Revision Log. Also reinforces Unit 4 graphing and interpretation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This should be spoken practice, not silent editing. Partners should ask: “What should I notice first?” and “What conclusion would be too strong?”</a:t>
            </a:r>
            <a:br/>
            <a:br/>
            <a:r>
              <a:t>Resource alignment:</a:t>
            </a:r>
            <a:br/>
            <a:r>
              <a:t>Use with Unit 6 Student Handout 4: Practice Presentation Feedback Form. Resource connection: Unit 6 Appendix D: Feedback Norms for Practice Presentations.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Students need explicit permission to pause while an audience looks at a graph or board. Rushing through visuals makes the evidence feel less important.</a:t>
            </a:r>
            <a:br/>
            <a:br/>
            <a:r>
              <a:t>Resource alignment:</a:t>
            </a:r>
            <a:br/>
            <a:r>
              <a:t>Use with Unit 6 Student Handout 1: Final Presentation Readiness Check and Unit 6 Appendix B: Common Final Presentation Problems.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Students often need simple transition language. Have them add transition phrases to speaking notes rather than writing full paragraphs.</a:t>
            </a:r>
            <a:br/>
            <a:br/>
            <a:r>
              <a:t>Resource alignment:</a:t>
            </a:r>
            <a:br/>
            <a:r>
              <a:t>Use with Unit 6 Student Handout 3: Three-Length Presentation Practice and Unit 6 Appendix C: Speaking Notes Guide.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This slide prepares students for public showcases. The same project explanation should not sound identical for every audience.</a:t>
            </a:r>
            <a:br/>
            <a:br/>
            <a:r>
              <a:t>Resource alignment:</a:t>
            </a:r>
            <a:br/>
            <a:r>
              <a:t>Use with Unit 6 Student Handout 5: Audience Adaptation Planner and Unit 6 Appendix E: Audience Types and Communication Strategies.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Students should learn that simplifying does not mean dumbing down. It means selecting language and context that help the audience understand the same evidence.</a:t>
            </a:r>
            <a:br/>
            <a:br/>
            <a:r>
              <a:t>Resource alignment:</a:t>
            </a:r>
            <a:br/>
            <a:r>
              <a:t>Use with Unit 6 Student Handout 5: Audience Adaptation Planner. Resource connection: Unit 6 Appendix E: Audience Types and Communication Strategies.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Keep the delivery advice practical and non-theatrical. The goal is professional scientific communication, not dramatic performance.</a:t>
            </a:r>
            <a:br/>
            <a:br/>
            <a:r>
              <a:t>Resource alignment:</a:t>
            </a:r>
            <a:br/>
            <a:r>
              <a:t>Use with Unit 6 Student Handout 4: Practice Presentation Feedback Form and Unit 6 Appendix C: Speaking Notes Guide.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Make students document revisions immediately after practice. Otherwise, useful feedback disappears. Ask them to choose a small number of changes rather than rewriting the whole presentation every time.</a:t>
            </a:r>
            <a:br/>
            <a:br/>
            <a:r>
              <a:t>Resource alignment:</a:t>
            </a:r>
            <a:br/>
            <a:r>
              <a:t>Use with Unit 6 Student Handout 6: Presentation Revision Log and Unit 6 Appendix D: Feedback Norms for Practice Presentations.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This is the main practice structure for the deck. Use short rotations if time is limited. Require the revision log so feedback becomes action.</a:t>
            </a:r>
            <a:br/>
            <a:br/>
            <a:r>
              <a:t>Resource alignment:</a:t>
            </a:r>
            <a:br/>
            <a:r>
              <a:t>Use with Unit 6 Student Handout 4: Practice Presentation Feedback Form and Unit 6 Student Handout 6: Presentation Revision 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Collect this exit ticket or have students add it to their presentation revision log. Use responses to plan the next practice session and identify students who need help with data explanation or delivery.</a:t>
            </a:r>
            <a:br/>
            <a:br/>
            <a:r>
              <a:t>Resource alignment:</a:t>
            </a:r>
            <a:br/>
            <a:r>
              <a:t>Use with Unit 6 Student Handout 6: Presentation Revision Log. Next deck connection: Deck 18: Answering Questions Like a Scientist.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58bb3e9d73c4226" /></Relationships>
</file>

<file path=ppt/slideLayouts/slideLayout1.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13d1436eb4d4d6e" /><Relationship Type="http://schemas.openxmlformats.org/officeDocument/2006/relationships/slideLayout" Target="/ppt/slideLayouts/slideLayout1.xml" Id="Rc6c6eee8d1534892"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c6c6eee8d1534892"/>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4c1bd8011fe4bc8" /><Relationship Type="http://schemas.openxmlformats.org/officeDocument/2006/relationships/image" Target="/ppt/media/image.png" Id="Rc7b764c9c24840d9" /><Relationship Type="http://schemas.openxmlformats.org/officeDocument/2006/relationships/notesSlide" Target="/ppt/notesSlides/notesSlide1.xml" Id="Ra5b834b53af4422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05a5ee2aca446f8" /><Relationship Type="http://schemas.openxmlformats.org/officeDocument/2006/relationships/notesSlide" Target="/ppt/notesSlides/notesSlide2.xml" Id="R4c56260110e24c1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6f95ba15f094d08" /><Relationship Type="http://schemas.openxmlformats.org/officeDocument/2006/relationships/notesSlide" Target="/ppt/notesSlides/notesSlide3.xml" Id="R91eac3e8344f401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b4032ffd8ec486a" /><Relationship Type="http://schemas.openxmlformats.org/officeDocument/2006/relationships/notesSlide" Target="/ppt/notesSlides/notesSlide4.xml" Id="R53dca12c5bcd4d3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955098df30549f5" /><Relationship Type="http://schemas.openxmlformats.org/officeDocument/2006/relationships/notesSlide" Target="/ppt/notesSlides/notesSlide5.xml" Id="Rc99282cd35454c4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57545b76de54a27" /><Relationship Type="http://schemas.openxmlformats.org/officeDocument/2006/relationships/notesSlide" Target="/ppt/notesSlides/notesSlide6.xml" Id="R7c833e68ffa04db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368297551e5434e" /><Relationship Type="http://schemas.openxmlformats.org/officeDocument/2006/relationships/notesSlide" Target="/ppt/notesSlides/notesSlide7.xml" Id="R40016a167a6048e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93c0da043814669" /><Relationship Type="http://schemas.openxmlformats.org/officeDocument/2006/relationships/notesSlide" Target="/ppt/notesSlides/notesSlide8.xml" Id="Rffb3622eaaf545b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7f9568541e343d0" /><Relationship Type="http://schemas.openxmlformats.org/officeDocument/2006/relationships/notesSlide" Target="/ppt/notesSlides/notesSlide9.xml" Id="R3c8b14f16ceb4be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a1eea1ca65d476c" /><Relationship Type="http://schemas.openxmlformats.org/officeDocument/2006/relationships/notesSlide" Target="/ppt/notesSlides/notesSlide10.xml" Id="R8e4e34478176416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c8ed2035f514017" /><Relationship Type="http://schemas.openxmlformats.org/officeDocument/2006/relationships/notesSlide" Target="/ppt/notesSlides/notesSlide11.xml" Id="Rc9a5b6b417d6403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50df9cf9d6f4976" /><Relationship Type="http://schemas.openxmlformats.org/officeDocument/2006/relationships/notesSlide" Target="/ppt/notesSlides/notesSlide12.xml" Id="R838436c06424480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ac6a0751d6d4600" /><Relationship Type="http://schemas.openxmlformats.org/officeDocument/2006/relationships/notesSlide" Target="/ppt/notesSlides/notesSlide13.xml" Id="Rf89aff54e60a4ea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817361040b74837" /><Relationship Type="http://schemas.openxmlformats.org/officeDocument/2006/relationships/notesSlide" Target="/ppt/notesSlides/notesSlide14.xml" Id="R5ec0131cdd0d4f4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a3bd138570c4691" /><Relationship Type="http://schemas.openxmlformats.org/officeDocument/2006/relationships/notesSlide" Target="/ppt/notesSlides/notesSlide15.xml" Id="Re95bc37bf9c348a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9198d3ce2c94f10" /><Relationship Type="http://schemas.openxmlformats.org/officeDocument/2006/relationships/notesSlide" Target="/ppt/notesSlides/notesSlide16.xml" Id="R3328051aed4e49b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3133416b5294bc2" /><Relationship Type="http://schemas.openxmlformats.org/officeDocument/2006/relationships/notesSlide" Target="/ppt/notesSlides/notesSlide17.xml" Id="R49b8310a37fb44c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931fafd94c140ff" /><Relationship Type="http://schemas.openxmlformats.org/officeDocument/2006/relationships/notesSlide" Target="/ppt/notesSlides/notesSlide18.xml" Id="Readfafd7e8734aa0" /></Relationships>
</file>

<file path=ppt/slides/slide1.xml><?xml version="1.0" encoding="utf-8"?>
<p:sld xmlns:p="http://schemas.openxmlformats.org/presentationml/2006/main">
  <p:cSld>
    <p:bg>
      <p:bgPr>
        <a:solidFill xmlns:a="http://schemas.openxmlformats.org/drawingml/2006/main">
          <a:srgbClr val="0B0B0D"/>
        </a:solidFill>
      </p:bgPr>
    </p:bg>
    <p:spTree>
      <p:nvGrpSpPr>
        <p:cNvPr id="1" name=""/>
        <p:cNvGrpSpPr/>
        <p:nvPr/>
      </p:nvGrpSpPr>
      <p:grpSpPr>
        <a:xfrm xmlns:a="http://schemas.openxmlformats.org/drawingml/2006/main"/>
      </p:grpSpPr>
      <p:sp>
        <p:nvSpPr>
          <p:cNvPr id="16" name="Google Shape;16;p3">
            <a:extLst xmlns:a="http://schemas.openxmlformats.org/drawingml/2006/main">
              <a:ext uri="{FF2B5EF4-FFF2-40B4-BE49-F238E27FC236}">
                <a16:creationId xmlns:a16="http://schemas.microsoft.com/office/drawing/2014/main" id="{2D497AD8-EC72-47A5-AA01-341324DEB7CA}"/>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D"/>
          </a:solidFill>
          <a:ln xmlns:a="http://schemas.openxmlformats.org/drawingml/2006/main" w="12700" cmpd="sng">
            <a:solidFill>
              <a:srgbClr val="0B0B0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7" name="Google Shape;17;p3">
            <a:extLst xmlns:a="http://schemas.openxmlformats.org/drawingml/2006/main">
              <a:ext uri="{FF2B5EF4-FFF2-40B4-BE49-F238E27FC236}">
                <a16:creationId xmlns:a16="http://schemas.microsoft.com/office/drawing/2014/main" id="{CAEDD527-DFBA-4C3C-8A7A-57CC46763E89}"/>
              </a:ext>
            </a:extLst>
          </p:cNvPr>
          <p:cNvSpPr>
            <a:spLocks xmlns:a="http://schemas.openxmlformats.org/drawingml/2006/main" noGrp="1"/>
          </p:cNvSpPr>
          <p:nvPr/>
        </p:nvSpPr>
        <p:spPr>
          <a:xfrm xmlns:a="http://schemas.openxmlformats.org/drawingml/2006/main">
            <a:off x="0" y="128016"/>
            <a:ext cx="12191695" cy="73152"/>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8" name="Google Shape;18;p3">
            <a:extLst xmlns:a="http://schemas.openxmlformats.org/drawingml/2006/main">
              <a:ext uri="{FF2B5EF4-FFF2-40B4-BE49-F238E27FC236}">
                <a16:creationId xmlns:a16="http://schemas.microsoft.com/office/drawing/2014/main" id="{D6BAFEF3-B6F1-4A97-BB0E-456B89DFFE6F}"/>
              </a:ext>
            </a:extLst>
          </p:cNvPr>
          <p:cNvSpPr>
            <a:spLocks xmlns:a="http://schemas.openxmlformats.org/drawingml/2006/main" noGrp="1"/>
          </p:cNvSpPr>
          <p:nvPr/>
        </p:nvSpPr>
        <p:spPr>
          <a:xfrm xmlns:a="http://schemas.openxmlformats.org/drawingml/2006/main">
            <a:off x="0" y="6629400"/>
            <a:ext cx="12191695" cy="73152"/>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pic>
        <p:nvPicPr>
          <p:cNvPr id="27" name="Google Shape;19;p3"/>
          <p:cNvPicPr>
            <a:picLocks xmlns:a="http://schemas.openxmlformats.org/drawingml/2006/main" noChangeAspect="1"/>
          </p:cNvPicPr>
          <p:nvPr/>
        </p:nvPicPr>
        <p:blipFill rotWithShape="1">
          <a:blip xmlns:r="http://schemas.openxmlformats.org/officeDocument/2006/relationships" xmlns:a="http://schemas.openxmlformats.org/drawingml/2006/main" r:embed="Rc7b764c9c24840d9">
            <a:alphaModFix/>
          </a:blip>
          <a:srcRect xmlns:a="http://schemas.openxmlformats.org/drawingml/2006/main" l="0" t="0" r="0" b="0"/>
          <a:stretch xmlns:a="http://schemas.openxmlformats.org/drawingml/2006/main"/>
        </p:blipFill>
        <p:spPr>
          <a:xfrm xmlns:a="http://schemas.openxmlformats.org/drawingml/2006/main">
            <a:off x="2057400" y="502920"/>
            <a:ext cx="8138160" cy="4069080"/>
          </a:xfrm>
          <a:prstGeom xmlns:a="http://schemas.openxmlformats.org/drawingml/2006/main" prst="rect">
            <a:avLst/>
          </a:prstGeom>
          <a:ln xmlns:a="http://schemas.openxmlformats.org/drawingml/2006/main">
            <a:noFill/>
          </a:ln>
        </p:spPr>
      </p:pic>
      <p:sp>
        <p:nvSpPr>
          <p:cNvPr id="20" name="Google Shape;20;p3">
            <a:extLst xmlns:a="http://schemas.openxmlformats.org/drawingml/2006/main">
              <a:ext uri="{FF2B5EF4-FFF2-40B4-BE49-F238E27FC236}">
                <a16:creationId xmlns:a16="http://schemas.microsoft.com/office/drawing/2014/main" id="{420F0DEB-1266-4DE2-A413-06D3C0F1BE6C}"/>
              </a:ext>
            </a:extLst>
          </p:cNvPr>
          <p:cNvSpPr>
            <a:spLocks xmlns:a="http://schemas.openxmlformats.org/drawingml/2006/main" noGrp="1"/>
          </p:cNvSpPr>
          <p:nvPr/>
        </p:nvSpPr>
        <p:spPr>
          <a:xfrm xmlns:a="http://schemas.openxmlformats.org/drawingml/2006/main">
            <a:off x="868680" y="4892040"/>
            <a:ext cx="10469880" cy="841248"/>
          </a:xfrm>
          <a:prstGeom xmlns:a="http://schemas.openxmlformats.org/drawingml/2006/main" prst="rect">
            <a:avLst/>
          </a:prstGeom>
          <a:solidFill xmlns:a="http://schemas.openxmlformats.org/drawingml/2006/main">
            <a:srgbClr val="0B0B0D">
              <a:alpha val="0"/>
            </a:srgbClr>
          </a:solidFill>
          <a:ln xmlns:a="http://schemas.openxmlformats.org/drawingml/2006/main" w="12700" cmpd="sng">
            <a:solidFill>
              <a:srgbClr val="A8A8A8"/>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1" name="Google Shape;21;p3">
            <a:extLst xmlns:a="http://schemas.openxmlformats.org/drawingml/2006/main">
              <a:ext uri="{FF2B5EF4-FFF2-40B4-BE49-F238E27FC236}">
                <a16:creationId xmlns:a16="http://schemas.microsoft.com/office/drawing/2014/main" id="{3C8D17B9-1109-4553-BA19-A2F81F17A115}"/>
              </a:ext>
            </a:extLst>
          </p:cNvPr>
          <p:cNvSpPr>
            <a:spLocks xmlns:a="http://schemas.openxmlformats.org/drawingml/2006/main" noGrp="1"/>
          </p:cNvSpPr>
          <p:nvPr/>
        </p:nvSpPr>
        <p:spPr>
          <a:xfrm xmlns:a="http://schemas.openxmlformats.org/drawingml/2006/main">
            <a:off x="960120" y="4983480"/>
            <a:ext cx="1028700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4F4F4"/>
              </a:buClr>
              <a:buSzPts val="3000"/>
              <a:buFont typeface="Play"/>
              <a:buNone/>
            </a:pPr>
            <a:r>
              <a:rPr sz="3000" b="1" i="0" u="none" cap="none">
                <a:solidFill>
                  <a:srgbClr val="F4F4F4"/>
                </a:solidFill>
                <a:latin typeface="Play"/>
                <a:ea typeface="Play"/>
                <a:cs typeface="Play"/>
              </a:rPr>
              <a:t>ORAL PRESENTATION SKILLS</a:t>
            </a:r>
          </a:p>
          <a:p xmlns:a="http://schemas.openxmlformats.org/drawingml/2006/main">
            <a:pPr marL="0" marR="0" indent="0" algn="l">
              <a:spcBef>
                <a:spcPts val="0"/>
              </a:spcBef>
              <a:spcAft>
                <a:spcPts val="0"/>
              </a:spcAft>
              <a:buClr>
                <a:srgbClr val="F4F4F4"/>
              </a:buClr>
              <a:buSzPts val="3000"/>
              <a:buFont typeface="Play"/>
              <a:buNone/>
            </a:pPr>
            <a:r>
              <a:rPr sz="3000" b="1" i="0" u="none" cap="none">
                <a:solidFill>
                  <a:srgbClr val="F4F4F4"/>
                </a:solidFill>
                <a:latin typeface="Play"/>
                <a:ea typeface="Play"/>
                <a:cs typeface="Play"/>
              </a:rPr>
              <a:t>FOR RESEARCH</a:t>
            </a:r>
          </a:p>
        </p:txBody>
      </p:sp>
      <p:sp>
        <p:nvSpPr>
          <p:cNvPr id="22" name="Google Shape;22;p3">
            <a:extLst xmlns:a="http://schemas.openxmlformats.org/drawingml/2006/main">
              <a:ext uri="{FF2B5EF4-FFF2-40B4-BE49-F238E27FC236}">
                <a16:creationId xmlns:a16="http://schemas.microsoft.com/office/drawing/2014/main" id="{AF9FFA84-6C21-4392-BB21-E5353B35262A}"/>
              </a:ext>
            </a:extLst>
          </p:cNvPr>
          <p:cNvSpPr>
            <a:spLocks xmlns:a="http://schemas.openxmlformats.org/drawingml/2006/main" noGrp="1"/>
          </p:cNvSpPr>
          <p:nvPr/>
        </p:nvSpPr>
        <p:spPr>
          <a:xfrm xmlns:a="http://schemas.openxmlformats.org/drawingml/2006/main">
            <a:off x="960120" y="5806440"/>
            <a:ext cx="65836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A8A8A8"/>
              </a:buClr>
              <a:buSzPts val="1250"/>
              <a:buFont typeface="Arial"/>
              <a:buNone/>
            </a:pPr>
            <a:r>
              <a:rPr sz="1250" b="0" i="0" u="none" cap="none">
                <a:solidFill>
                  <a:srgbClr val="A8A8A8"/>
                </a:solidFill>
                <a:latin typeface="Arial"/>
                <a:ea typeface="Arial"/>
                <a:cs typeface="Arial"/>
              </a:rPr>
              <a:t>STARLAB Deck 17  •  Unit 6 Core Instruction</a:t>
            </a:r>
          </a:p>
        </p:txBody>
      </p:sp>
    </p:spTree>
    <p:extLst>
      <p:ext uri="{BB962C8B-B14F-4D97-AF65-F5344CB8AC3E}">
        <p14:creationId xmlns:p14="http://schemas.microsoft.com/office/powerpoint/2010/main" val="1521160805"/>
      </p:ext>
    </p:extLst>
  </p:cSld>
</p:sld>
</file>

<file path=ppt/slides/slide2.xml><?xml version="1.0" encoding="utf-8"?>
<p:sld xmlns:p="http://schemas.openxmlformats.org/presentationml/2006/main">
  <p:cSld>
    <p:bg>
      <p:bgPr>
        <a:solidFill xmlns:a="http://schemas.openxmlformats.org/drawingml/2006/main">
          <a:srgbClr val="0B0B0D"/>
        </a:solidFill>
      </p:bgPr>
    </p:bg>
    <p:spTree>
      <p:nvGrpSpPr>
        <p:cNvPr id="1" name=""/>
        <p:cNvGrpSpPr/>
        <p:nvPr/>
      </p:nvGrpSpPr>
      <p:grpSpPr>
        <a:xfrm xmlns:a="http://schemas.openxmlformats.org/drawingml/2006/main"/>
      </p:grpSpPr>
      <p:sp>
        <p:nvSpPr>
          <p:cNvPr id="28" name="Google Shape;28;p4">
            <a:extLst xmlns:a="http://schemas.openxmlformats.org/drawingml/2006/main">
              <a:ext uri="{FF2B5EF4-FFF2-40B4-BE49-F238E27FC236}">
                <a16:creationId xmlns:a16="http://schemas.microsoft.com/office/drawing/2014/main" id="{7C4B2CEC-2B4D-495B-A8F5-69A22557AC6F}"/>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D"/>
          </a:solidFill>
          <a:ln xmlns:a="http://schemas.openxmlformats.org/drawingml/2006/main" w="12700" cmpd="sng">
            <a:solidFill>
              <a:srgbClr val="0B0B0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9" name="Google Shape;29;p4">
            <a:extLst xmlns:a="http://schemas.openxmlformats.org/drawingml/2006/main">
              <a:ext uri="{FF2B5EF4-FFF2-40B4-BE49-F238E27FC236}">
                <a16:creationId xmlns:a16="http://schemas.microsoft.com/office/drawing/2014/main" id="{0CCF8F56-8ED6-4194-9FF5-A3F79163F16B}"/>
              </a:ext>
            </a:extLst>
          </p:cNvPr>
          <p:cNvSpPr>
            <a:spLocks xmlns:a="http://schemas.openxmlformats.org/drawingml/2006/main" noGrp="1"/>
          </p:cNvSpPr>
          <p:nvPr/>
        </p:nvSpPr>
        <p:spPr>
          <a:xfrm xmlns:a="http://schemas.openxmlformats.org/drawingml/2006/main">
            <a:off x="0" y="109728"/>
            <a:ext cx="12191695" cy="64008"/>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0" name="Google Shape;30;p4">
            <a:extLst xmlns:a="http://schemas.openxmlformats.org/drawingml/2006/main">
              <a:ext uri="{FF2B5EF4-FFF2-40B4-BE49-F238E27FC236}">
                <a16:creationId xmlns:a16="http://schemas.microsoft.com/office/drawing/2014/main" id="{680B9331-61DA-41D5-8D20-A48B43122E70}"/>
              </a:ext>
            </a:extLst>
          </p:cNvPr>
          <p:cNvSpPr>
            <a:spLocks xmlns:a="http://schemas.openxmlformats.org/drawingml/2006/main" noGrp="1"/>
          </p:cNvSpPr>
          <p:nvPr/>
        </p:nvSpPr>
        <p:spPr>
          <a:xfrm xmlns:a="http://schemas.openxmlformats.org/drawingml/2006/main">
            <a:off x="0" y="6675120"/>
            <a:ext cx="12191695" cy="64008"/>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1" name="Google Shape;31;p4">
            <a:extLst xmlns:a="http://schemas.openxmlformats.org/drawingml/2006/main">
              <a:ext uri="{FF2B5EF4-FFF2-40B4-BE49-F238E27FC236}">
                <a16:creationId xmlns:a16="http://schemas.microsoft.com/office/drawing/2014/main" id="{E6AB9B2D-8A95-4A78-9554-B9EA7CDF4686}"/>
              </a:ext>
            </a:extLst>
          </p:cNvPr>
          <p:cNvSpPr>
            <a:spLocks xmlns:a="http://schemas.openxmlformats.org/drawingml/2006/main" noGrp="1"/>
          </p:cNvSpPr>
          <p:nvPr/>
        </p:nvSpPr>
        <p:spPr>
          <a:xfrm xmlns:a="http://schemas.openxmlformats.org/drawingml/2006/main">
            <a:off x="384048" y="6364224"/>
            <a:ext cx="29260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A8A8A8"/>
              </a:buClr>
              <a:buSzPts val="950"/>
              <a:buFont typeface="Arial"/>
              <a:buNone/>
            </a:pPr>
            <a:r>
              <a:rPr sz="950" b="1" i="0" u="none" cap="none">
                <a:solidFill>
                  <a:srgbClr val="A8A8A8"/>
                </a:solidFill>
                <a:latin typeface="Arial"/>
                <a:ea typeface="Arial"/>
                <a:cs typeface="Arial"/>
              </a:rPr>
              <a:t>ORAL PRESENTATION</a:t>
            </a:r>
          </a:p>
        </p:txBody>
      </p:sp>
      <p:sp>
        <p:nvSpPr>
          <p:cNvPr id="32" name="Google Shape;32;p4">
            <a:extLst xmlns:a="http://schemas.openxmlformats.org/drawingml/2006/main">
              <a:ext uri="{FF2B5EF4-FFF2-40B4-BE49-F238E27FC236}">
                <a16:creationId xmlns:a16="http://schemas.microsoft.com/office/drawing/2014/main" id="{04FDEBF0-8238-4CBA-8C8E-7FD7D0490BFF}"/>
              </a:ext>
            </a:extLst>
          </p:cNvPr>
          <p:cNvSpPr>
            <a:spLocks xmlns:a="http://schemas.openxmlformats.org/drawingml/2006/main" noGrp="1"/>
          </p:cNvSpPr>
          <p:nvPr/>
        </p:nvSpPr>
        <p:spPr>
          <a:xfrm xmlns:a="http://schemas.openxmlformats.org/drawingml/2006/main">
            <a:off x="10405872" y="6364224"/>
            <a:ext cx="1325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A8A8A8"/>
              </a:buClr>
              <a:buSzPts val="950"/>
              <a:buFont typeface="Arial"/>
              <a:buNone/>
            </a:pPr>
            <a:r>
              <a:rPr sz="950" b="1" i="0" u="none" cap="none">
                <a:solidFill>
                  <a:srgbClr val="A8A8A8"/>
                </a:solidFill>
                <a:latin typeface="Arial"/>
                <a:ea typeface="Arial"/>
                <a:cs typeface="Arial"/>
              </a:rPr>
              <a:t>DECK 17</a:t>
            </a:r>
          </a:p>
        </p:txBody>
      </p:sp>
      <p:sp>
        <p:nvSpPr>
          <p:cNvPr id="33" name="Google Shape;33;p4">
            <a:extLst xmlns:a="http://schemas.openxmlformats.org/drawingml/2006/main">
              <a:ext uri="{FF2B5EF4-FFF2-40B4-BE49-F238E27FC236}">
                <a16:creationId xmlns:a16="http://schemas.microsoft.com/office/drawing/2014/main" id="{4A6AC2C4-E324-4A35-B29B-2670E4C373C4}"/>
              </a:ext>
            </a:extLst>
          </p:cNvPr>
          <p:cNvSpPr>
            <a:spLocks xmlns:a="http://schemas.openxmlformats.org/drawingml/2006/main" noGrp="1"/>
          </p:cNvSpPr>
          <p:nvPr/>
        </p:nvSpPr>
        <p:spPr>
          <a:xfrm xmlns:a="http://schemas.openxmlformats.org/drawingml/2006/main">
            <a:off x="502920" y="502920"/>
            <a:ext cx="110642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4F4F4"/>
              </a:buClr>
              <a:buSzPts val="3000"/>
              <a:buFont typeface="Play"/>
              <a:buNone/>
            </a:pPr>
            <a:r>
              <a:rPr sz="3000" b="1" i="0" u="none" cap="none">
                <a:solidFill>
                  <a:srgbClr val="F4F4F4"/>
                </a:solidFill>
                <a:latin typeface="Play"/>
                <a:ea typeface="Play"/>
                <a:cs typeface="Play"/>
              </a:rPr>
              <a:t>Today’s Target</a:t>
            </a:r>
          </a:p>
        </p:txBody>
      </p:sp>
      <p:sp>
        <p:nvSpPr>
          <p:cNvPr id="34" name="Google Shape;34;p4">
            <a:extLst xmlns:a="http://schemas.openxmlformats.org/drawingml/2006/main">
              <a:ext uri="{FF2B5EF4-FFF2-40B4-BE49-F238E27FC236}">
                <a16:creationId xmlns:a16="http://schemas.microsoft.com/office/drawing/2014/main" id="{3C2BD39B-A590-4E37-9644-3DD6579D3CA1}"/>
              </a:ext>
            </a:extLst>
          </p:cNvPr>
          <p:cNvSpPr>
            <a:spLocks xmlns:a="http://schemas.openxmlformats.org/drawingml/2006/main" noGrp="1"/>
          </p:cNvSpPr>
          <p:nvPr/>
        </p:nvSpPr>
        <p:spPr>
          <a:xfrm xmlns:a="http://schemas.openxmlformats.org/drawingml/2006/main">
            <a:off x="502920" y="1143000"/>
            <a:ext cx="914400" cy="54864"/>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5" name="Google Shape;35;p4">
            <a:extLst xmlns:a="http://schemas.openxmlformats.org/drawingml/2006/main">
              <a:ext uri="{FF2B5EF4-FFF2-40B4-BE49-F238E27FC236}">
                <a16:creationId xmlns:a16="http://schemas.microsoft.com/office/drawing/2014/main" id="{B47E11F1-C6A4-4110-9785-B2AD4AF4F9DE}"/>
              </a:ext>
            </a:extLst>
          </p:cNvPr>
          <p:cNvSpPr>
            <a:spLocks xmlns:a="http://schemas.openxmlformats.org/drawingml/2006/main" noGrp="1"/>
          </p:cNvSpPr>
          <p:nvPr/>
        </p:nvSpPr>
        <p:spPr>
          <a:xfrm xmlns:a="http://schemas.openxmlformats.org/drawingml/2006/main">
            <a:off x="1600200" y="1024128"/>
            <a:ext cx="987552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A8A8A8"/>
              </a:buClr>
              <a:buSzPts val="1300"/>
              <a:buFont typeface="Arial"/>
              <a:buNone/>
            </a:pPr>
            <a:r>
              <a:rPr sz="1300" b="0" i="0" u="none" cap="none">
                <a:solidFill>
                  <a:srgbClr val="A8A8A8"/>
                </a:solidFill>
                <a:latin typeface="Arial"/>
                <a:ea typeface="Arial"/>
                <a:cs typeface="Arial"/>
              </a:rPr>
              <a:t>Students learn to explain research clearly, not simply read a finished report.</a:t>
            </a:r>
          </a:p>
        </p:txBody>
      </p:sp>
      <p:sp>
        <p:nvSpPr>
          <p:cNvPr id="36" name="Google Shape;36;p4">
            <a:extLst xmlns:a="http://schemas.openxmlformats.org/drawingml/2006/main">
              <a:ext uri="{FF2B5EF4-FFF2-40B4-BE49-F238E27FC236}">
                <a16:creationId xmlns:a16="http://schemas.microsoft.com/office/drawing/2014/main" id="{42F46F6F-A7D9-44E6-ABE7-016FD8FD6C25}"/>
              </a:ext>
            </a:extLst>
          </p:cNvPr>
          <p:cNvSpPr>
            <a:spLocks xmlns:a="http://schemas.openxmlformats.org/drawingml/2006/main" noGrp="1"/>
          </p:cNvSpPr>
          <p:nvPr/>
        </p:nvSpPr>
        <p:spPr>
          <a:xfrm xmlns:a="http://schemas.openxmlformats.org/drawingml/2006/main">
            <a:off x="685800" y="1645920"/>
            <a:ext cx="512064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500" tIns="500" rIns="500" bIns="500" anchor="t">
            <a:noAutofit/>
          </a:bodyPr>
          <a:lstStyle xmlns:a="http://schemas.openxmlformats.org/drawingml/2006/main"/>
          <a:p xmlns:a="http://schemas.openxmlformats.org/drawingml/2006/main">
            <a:pPr marL="0" marR="0" indent="0" algn="l">
              <a:spcBef>
                <a:spcPts val="0"/>
              </a:spcBef>
              <a:spcAft>
                <a:spcPts val="0"/>
              </a:spcAft>
              <a:buClr>
                <a:srgbClr val="A8A8A8"/>
              </a:buClr>
              <a:buSzPts val="1800"/>
              <a:buFont typeface="Arial"/>
              <a:buNone/>
            </a:pPr>
            <a:r>
              <a:rPr sz="1800" b="1" i="0" u="none" cap="none">
                <a:solidFill>
                  <a:srgbClr val="A8A8A8"/>
                </a:solidFill>
                <a:latin typeface="Arial"/>
                <a:ea typeface="Arial"/>
                <a:cs typeface="Arial"/>
              </a:rPr>
              <a:t>By the end, students should be able to:</a:t>
            </a:r>
          </a:p>
        </p:txBody>
      </p:sp>
      <p:sp>
        <p:nvSpPr>
          <p:cNvPr id="37" name="Google Shape;37;p4">
            <a:extLst xmlns:a="http://schemas.openxmlformats.org/drawingml/2006/main">
              <a:ext uri="{FF2B5EF4-FFF2-40B4-BE49-F238E27FC236}">
                <a16:creationId xmlns:a16="http://schemas.microsoft.com/office/drawing/2014/main" id="{B8F3F2B5-42E5-4EDB-811C-6249184E5D1C}"/>
              </a:ext>
            </a:extLst>
          </p:cNvPr>
          <p:cNvSpPr>
            <a:spLocks xmlns:a="http://schemas.openxmlformats.org/drawingml/2006/main" noGrp="1"/>
          </p:cNvSpPr>
          <p:nvPr/>
        </p:nvSpPr>
        <p:spPr>
          <a:xfrm xmlns:a="http://schemas.openxmlformats.org/drawingml/2006/main">
            <a:off x="777240" y="2057400"/>
            <a:ext cx="5120640" cy="1417320"/>
          </a:xfrm>
          <a:prstGeom xmlns:a="http://schemas.openxmlformats.org/drawingml/2006/main" prst="rect">
            <a:avLst/>
          </a:prstGeom>
          <a:solidFill xmlns:a="http://schemas.openxmlformats.org/drawingml/2006/main">
            <a:srgbClr val="111113"/>
          </a:solidFill>
          <a:ln xmlns:a="http://schemas.openxmlformats.org/drawingml/2006/main" w="12700" cmpd="sng">
            <a:solidFill>
              <a:srgbClr val="5A5A5A">
                <a:alpha val="8000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8" name="Google Shape;38;p4">
            <a:extLst xmlns:a="http://schemas.openxmlformats.org/drawingml/2006/main">
              <a:ext uri="{FF2B5EF4-FFF2-40B4-BE49-F238E27FC236}">
                <a16:creationId xmlns:a16="http://schemas.microsoft.com/office/drawing/2014/main" id="{47F44088-DCA9-45B4-9F75-AAA7518A8467}"/>
              </a:ext>
            </a:extLst>
          </p:cNvPr>
          <p:cNvSpPr>
            <a:spLocks xmlns:a="http://schemas.openxmlformats.org/drawingml/2006/main" noGrp="1"/>
          </p:cNvSpPr>
          <p:nvPr/>
        </p:nvSpPr>
        <p:spPr>
          <a:xfrm xmlns:a="http://schemas.openxmlformats.org/drawingml/2006/main">
            <a:off x="777240" y="2057400"/>
            <a:ext cx="64008" cy="1417320"/>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9" name="Google Shape;39;p4">
            <a:extLst xmlns:a="http://schemas.openxmlformats.org/drawingml/2006/main">
              <a:ext uri="{FF2B5EF4-FFF2-40B4-BE49-F238E27FC236}">
                <a16:creationId xmlns:a16="http://schemas.microsoft.com/office/drawing/2014/main" id="{573E96CF-E287-4093-A622-07066221F700}"/>
              </a:ext>
            </a:extLst>
          </p:cNvPr>
          <p:cNvSpPr>
            <a:spLocks xmlns:a="http://schemas.openxmlformats.org/drawingml/2006/main" noGrp="1"/>
          </p:cNvSpPr>
          <p:nvPr/>
        </p:nvSpPr>
        <p:spPr>
          <a:xfrm xmlns:a="http://schemas.openxmlformats.org/drawingml/2006/main">
            <a:off x="978408" y="2194560"/>
            <a:ext cx="48006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3342F"/>
              </a:buClr>
              <a:buSzPts val="1100"/>
              <a:buFont typeface="Arial"/>
              <a:buNone/>
            </a:pPr>
            <a:r>
              <a:rPr sz="1100" b="1" i="0" u="none" cap="none">
                <a:solidFill>
                  <a:srgbClr val="E3342F"/>
                </a:solidFill>
                <a:latin typeface="Arial"/>
                <a:ea typeface="Arial"/>
                <a:cs typeface="Arial"/>
              </a:rPr>
              <a:t>Identify the story</a:t>
            </a:r>
          </a:p>
        </p:txBody>
      </p:sp>
      <p:sp>
        <p:nvSpPr>
          <p:cNvPr id="40" name="Google Shape;40;p4">
            <a:extLst xmlns:a="http://schemas.openxmlformats.org/drawingml/2006/main">
              <a:ext uri="{FF2B5EF4-FFF2-40B4-BE49-F238E27FC236}">
                <a16:creationId xmlns:a16="http://schemas.microsoft.com/office/drawing/2014/main" id="{1DB12448-0A07-46F8-945B-280683C4C2D0}"/>
              </a:ext>
            </a:extLst>
          </p:cNvPr>
          <p:cNvSpPr>
            <a:spLocks xmlns:a="http://schemas.openxmlformats.org/drawingml/2006/main" noGrp="1"/>
          </p:cNvSpPr>
          <p:nvPr/>
        </p:nvSpPr>
        <p:spPr>
          <a:xfrm xmlns:a="http://schemas.openxmlformats.org/drawingml/2006/main">
            <a:off x="978408" y="2514600"/>
            <a:ext cx="4800600" cy="8503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Name the problem, question, method, evidence, conclusion, limitation, and future work.</a:t>
            </a:r>
          </a:p>
        </p:txBody>
      </p:sp>
      <p:sp>
        <p:nvSpPr>
          <p:cNvPr id="41" name="Google Shape;41;p4">
            <a:extLst xmlns:a="http://schemas.openxmlformats.org/drawingml/2006/main">
              <a:ext uri="{FF2B5EF4-FFF2-40B4-BE49-F238E27FC236}">
                <a16:creationId xmlns:a16="http://schemas.microsoft.com/office/drawing/2014/main" id="{C6CB90DB-FC04-4648-9EE2-415DAAD59129}"/>
              </a:ext>
            </a:extLst>
          </p:cNvPr>
          <p:cNvSpPr>
            <a:spLocks xmlns:a="http://schemas.openxmlformats.org/drawingml/2006/main" noGrp="1"/>
          </p:cNvSpPr>
          <p:nvPr/>
        </p:nvSpPr>
        <p:spPr>
          <a:xfrm xmlns:a="http://schemas.openxmlformats.org/drawingml/2006/main">
            <a:off x="6263640" y="2057400"/>
            <a:ext cx="5120640" cy="1417320"/>
          </a:xfrm>
          <a:prstGeom xmlns:a="http://schemas.openxmlformats.org/drawingml/2006/main" prst="rect">
            <a:avLst/>
          </a:prstGeom>
          <a:solidFill xmlns:a="http://schemas.openxmlformats.org/drawingml/2006/main">
            <a:srgbClr val="111113"/>
          </a:solidFill>
          <a:ln xmlns:a="http://schemas.openxmlformats.org/drawingml/2006/main" w="12700" cmpd="sng">
            <a:solidFill>
              <a:srgbClr val="5A5A5A">
                <a:alpha val="8000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2" name="Google Shape;42;p4">
            <a:extLst xmlns:a="http://schemas.openxmlformats.org/drawingml/2006/main">
              <a:ext uri="{FF2B5EF4-FFF2-40B4-BE49-F238E27FC236}">
                <a16:creationId xmlns:a16="http://schemas.microsoft.com/office/drawing/2014/main" id="{1962EB79-A298-4469-AF08-398AFA9C5805}"/>
              </a:ext>
            </a:extLst>
          </p:cNvPr>
          <p:cNvSpPr>
            <a:spLocks xmlns:a="http://schemas.openxmlformats.org/drawingml/2006/main" noGrp="1"/>
          </p:cNvSpPr>
          <p:nvPr/>
        </p:nvSpPr>
        <p:spPr>
          <a:xfrm xmlns:a="http://schemas.openxmlformats.org/drawingml/2006/main">
            <a:off x="6263640" y="2057400"/>
            <a:ext cx="64008" cy="1417320"/>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3" name="Google Shape;43;p4">
            <a:extLst xmlns:a="http://schemas.openxmlformats.org/drawingml/2006/main">
              <a:ext uri="{FF2B5EF4-FFF2-40B4-BE49-F238E27FC236}">
                <a16:creationId xmlns:a16="http://schemas.microsoft.com/office/drawing/2014/main" id="{A8D9E763-80E1-4347-A2F3-0ACBCB4C6004}"/>
              </a:ext>
            </a:extLst>
          </p:cNvPr>
          <p:cNvSpPr>
            <a:spLocks xmlns:a="http://schemas.openxmlformats.org/drawingml/2006/main" noGrp="1"/>
          </p:cNvSpPr>
          <p:nvPr/>
        </p:nvSpPr>
        <p:spPr>
          <a:xfrm xmlns:a="http://schemas.openxmlformats.org/drawingml/2006/main">
            <a:off x="6464808" y="2194560"/>
            <a:ext cx="48006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3342F"/>
              </a:buClr>
              <a:buSzPts val="1100"/>
              <a:buFont typeface="Arial"/>
              <a:buNone/>
            </a:pPr>
            <a:r>
              <a:rPr sz="1100" b="1" i="0" u="none" cap="none">
                <a:solidFill>
                  <a:srgbClr val="E3342F"/>
                </a:solidFill>
                <a:latin typeface="Arial"/>
                <a:ea typeface="Arial"/>
                <a:cs typeface="Arial"/>
              </a:rPr>
              <a:t>Use visuals well</a:t>
            </a:r>
          </a:p>
        </p:txBody>
      </p:sp>
      <p:sp>
        <p:nvSpPr>
          <p:cNvPr id="44" name="Google Shape;44;p4">
            <a:extLst xmlns:a="http://schemas.openxmlformats.org/drawingml/2006/main">
              <a:ext uri="{FF2B5EF4-FFF2-40B4-BE49-F238E27FC236}">
                <a16:creationId xmlns:a16="http://schemas.microsoft.com/office/drawing/2014/main" id="{BD8C653E-4606-40FD-897F-6C2073FAD79A}"/>
              </a:ext>
            </a:extLst>
          </p:cNvPr>
          <p:cNvSpPr>
            <a:spLocks xmlns:a="http://schemas.openxmlformats.org/drawingml/2006/main" noGrp="1"/>
          </p:cNvSpPr>
          <p:nvPr/>
        </p:nvSpPr>
        <p:spPr>
          <a:xfrm xmlns:a="http://schemas.openxmlformats.org/drawingml/2006/main">
            <a:off x="6464808" y="2514600"/>
            <a:ext cx="4800600" cy="8503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Point to graphs, images, prototypes, or boards while explaining what the audience should notice.</a:t>
            </a:r>
          </a:p>
        </p:txBody>
      </p:sp>
      <p:sp>
        <p:nvSpPr>
          <p:cNvPr id="45" name="Google Shape;45;p4">
            <a:extLst xmlns:a="http://schemas.openxmlformats.org/drawingml/2006/main">
              <a:ext uri="{FF2B5EF4-FFF2-40B4-BE49-F238E27FC236}">
                <a16:creationId xmlns:a16="http://schemas.microsoft.com/office/drawing/2014/main" id="{22FE2B54-9928-4828-9DE3-FFE7D380E934}"/>
              </a:ext>
            </a:extLst>
          </p:cNvPr>
          <p:cNvSpPr>
            <a:spLocks xmlns:a="http://schemas.openxmlformats.org/drawingml/2006/main" noGrp="1"/>
          </p:cNvSpPr>
          <p:nvPr/>
        </p:nvSpPr>
        <p:spPr>
          <a:xfrm xmlns:a="http://schemas.openxmlformats.org/drawingml/2006/main">
            <a:off x="777240" y="3977640"/>
            <a:ext cx="5120640" cy="1417320"/>
          </a:xfrm>
          <a:prstGeom xmlns:a="http://schemas.openxmlformats.org/drawingml/2006/main" prst="rect">
            <a:avLst/>
          </a:prstGeom>
          <a:solidFill xmlns:a="http://schemas.openxmlformats.org/drawingml/2006/main">
            <a:srgbClr val="111113"/>
          </a:solidFill>
          <a:ln xmlns:a="http://schemas.openxmlformats.org/drawingml/2006/main" w="12700" cmpd="sng">
            <a:solidFill>
              <a:srgbClr val="5A5A5A">
                <a:alpha val="8000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6" name="Google Shape;46;p4">
            <a:extLst xmlns:a="http://schemas.openxmlformats.org/drawingml/2006/main">
              <a:ext uri="{FF2B5EF4-FFF2-40B4-BE49-F238E27FC236}">
                <a16:creationId xmlns:a16="http://schemas.microsoft.com/office/drawing/2014/main" id="{B4802AFB-4DC5-45C2-93B6-75434FDC680F}"/>
              </a:ext>
            </a:extLst>
          </p:cNvPr>
          <p:cNvSpPr>
            <a:spLocks xmlns:a="http://schemas.openxmlformats.org/drawingml/2006/main" noGrp="1"/>
          </p:cNvSpPr>
          <p:nvPr/>
        </p:nvSpPr>
        <p:spPr>
          <a:xfrm xmlns:a="http://schemas.openxmlformats.org/drawingml/2006/main">
            <a:off x="777240" y="3977640"/>
            <a:ext cx="64008" cy="1417320"/>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7" name="Google Shape;47;p4">
            <a:extLst xmlns:a="http://schemas.openxmlformats.org/drawingml/2006/main">
              <a:ext uri="{FF2B5EF4-FFF2-40B4-BE49-F238E27FC236}">
                <a16:creationId xmlns:a16="http://schemas.microsoft.com/office/drawing/2014/main" id="{F83D9BC7-7A9F-407A-9B41-20F974689CFD}"/>
              </a:ext>
            </a:extLst>
          </p:cNvPr>
          <p:cNvSpPr>
            <a:spLocks xmlns:a="http://schemas.openxmlformats.org/drawingml/2006/main" noGrp="1"/>
          </p:cNvSpPr>
          <p:nvPr/>
        </p:nvSpPr>
        <p:spPr>
          <a:xfrm xmlns:a="http://schemas.openxmlformats.org/drawingml/2006/main">
            <a:off x="978408" y="4114800"/>
            <a:ext cx="48006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3342F"/>
              </a:buClr>
              <a:buSzPts val="1100"/>
              <a:buFont typeface="Arial"/>
              <a:buNone/>
            </a:pPr>
            <a:r>
              <a:rPr sz="1100" b="1" i="0" u="none" cap="none">
                <a:solidFill>
                  <a:srgbClr val="E3342F"/>
                </a:solidFill>
                <a:latin typeface="Arial"/>
                <a:ea typeface="Arial"/>
                <a:cs typeface="Arial"/>
              </a:rPr>
              <a:t>Adapt to audience</a:t>
            </a:r>
          </a:p>
        </p:txBody>
      </p:sp>
      <p:sp>
        <p:nvSpPr>
          <p:cNvPr id="48" name="Google Shape;48;p4">
            <a:extLst xmlns:a="http://schemas.openxmlformats.org/drawingml/2006/main">
              <a:ext uri="{FF2B5EF4-FFF2-40B4-BE49-F238E27FC236}">
                <a16:creationId xmlns:a16="http://schemas.microsoft.com/office/drawing/2014/main" id="{A86EAFF4-7190-4599-A8E5-472668EE7468}"/>
              </a:ext>
            </a:extLst>
          </p:cNvPr>
          <p:cNvSpPr>
            <a:spLocks xmlns:a="http://schemas.openxmlformats.org/drawingml/2006/main" noGrp="1"/>
          </p:cNvSpPr>
          <p:nvPr/>
        </p:nvSpPr>
        <p:spPr>
          <a:xfrm xmlns:a="http://schemas.openxmlformats.org/drawingml/2006/main">
            <a:off x="978408" y="4434840"/>
            <a:ext cx="4800600" cy="8503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Explain the same project at different levels of detail for different listeners.</a:t>
            </a:r>
          </a:p>
        </p:txBody>
      </p:sp>
      <p:sp>
        <p:nvSpPr>
          <p:cNvPr id="49" name="Google Shape;49;p4">
            <a:extLst xmlns:a="http://schemas.openxmlformats.org/drawingml/2006/main">
              <a:ext uri="{FF2B5EF4-FFF2-40B4-BE49-F238E27FC236}">
                <a16:creationId xmlns:a16="http://schemas.microsoft.com/office/drawing/2014/main" id="{68DB2387-5EB8-4D62-82E9-D93C8F83A562}"/>
              </a:ext>
            </a:extLst>
          </p:cNvPr>
          <p:cNvSpPr>
            <a:spLocks xmlns:a="http://schemas.openxmlformats.org/drawingml/2006/main" noGrp="1"/>
          </p:cNvSpPr>
          <p:nvPr/>
        </p:nvSpPr>
        <p:spPr>
          <a:xfrm xmlns:a="http://schemas.openxmlformats.org/drawingml/2006/main">
            <a:off x="6263640" y="3977640"/>
            <a:ext cx="5120640" cy="1417320"/>
          </a:xfrm>
          <a:prstGeom xmlns:a="http://schemas.openxmlformats.org/drawingml/2006/main" prst="rect">
            <a:avLst/>
          </a:prstGeom>
          <a:solidFill xmlns:a="http://schemas.openxmlformats.org/drawingml/2006/main">
            <a:srgbClr val="111113"/>
          </a:solidFill>
          <a:ln xmlns:a="http://schemas.openxmlformats.org/drawingml/2006/main" w="12700" cmpd="sng">
            <a:solidFill>
              <a:srgbClr val="5A5A5A">
                <a:alpha val="8000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0" name="Google Shape;50;p4">
            <a:extLst xmlns:a="http://schemas.openxmlformats.org/drawingml/2006/main">
              <a:ext uri="{FF2B5EF4-FFF2-40B4-BE49-F238E27FC236}">
                <a16:creationId xmlns:a16="http://schemas.microsoft.com/office/drawing/2014/main" id="{7466274A-93C1-45C6-A3A4-EA98046CCD01}"/>
              </a:ext>
            </a:extLst>
          </p:cNvPr>
          <p:cNvSpPr>
            <a:spLocks xmlns:a="http://schemas.openxmlformats.org/drawingml/2006/main" noGrp="1"/>
          </p:cNvSpPr>
          <p:nvPr/>
        </p:nvSpPr>
        <p:spPr>
          <a:xfrm xmlns:a="http://schemas.openxmlformats.org/drawingml/2006/main">
            <a:off x="6263640" y="3977640"/>
            <a:ext cx="64008" cy="1417320"/>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1" name="Google Shape;51;p4">
            <a:extLst xmlns:a="http://schemas.openxmlformats.org/drawingml/2006/main">
              <a:ext uri="{FF2B5EF4-FFF2-40B4-BE49-F238E27FC236}">
                <a16:creationId xmlns:a16="http://schemas.microsoft.com/office/drawing/2014/main" id="{FC9E1B7E-8D83-4C3F-A6CF-BB4ED4B1B2B2}"/>
              </a:ext>
            </a:extLst>
          </p:cNvPr>
          <p:cNvSpPr>
            <a:spLocks xmlns:a="http://schemas.openxmlformats.org/drawingml/2006/main" noGrp="1"/>
          </p:cNvSpPr>
          <p:nvPr/>
        </p:nvSpPr>
        <p:spPr>
          <a:xfrm xmlns:a="http://schemas.openxmlformats.org/drawingml/2006/main">
            <a:off x="6464808" y="4114800"/>
            <a:ext cx="48006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3342F"/>
              </a:buClr>
              <a:buSzPts val="1100"/>
              <a:buFont typeface="Arial"/>
              <a:buNone/>
            </a:pPr>
            <a:r>
              <a:rPr sz="1100" b="1" i="0" u="none" cap="none">
                <a:solidFill>
                  <a:srgbClr val="E3342F"/>
                </a:solidFill>
                <a:latin typeface="Arial"/>
                <a:ea typeface="Arial"/>
                <a:cs typeface="Arial"/>
              </a:rPr>
              <a:t>Practice with purpose</a:t>
            </a:r>
          </a:p>
        </p:txBody>
      </p:sp>
      <p:sp>
        <p:nvSpPr>
          <p:cNvPr id="52" name="Google Shape;52;p4">
            <a:extLst xmlns:a="http://schemas.openxmlformats.org/drawingml/2006/main">
              <a:ext uri="{FF2B5EF4-FFF2-40B4-BE49-F238E27FC236}">
                <a16:creationId xmlns:a16="http://schemas.microsoft.com/office/drawing/2014/main" id="{77038BA6-A321-42A6-9D64-04BEA16B03FB}"/>
              </a:ext>
            </a:extLst>
          </p:cNvPr>
          <p:cNvSpPr>
            <a:spLocks xmlns:a="http://schemas.openxmlformats.org/drawingml/2006/main" noGrp="1"/>
          </p:cNvSpPr>
          <p:nvPr/>
        </p:nvSpPr>
        <p:spPr>
          <a:xfrm xmlns:a="http://schemas.openxmlformats.org/drawingml/2006/main">
            <a:off x="6464808" y="4434840"/>
            <a:ext cx="4800600" cy="8503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Use feedback to revise speaking notes, pacing, delivery, and evidence explanation.</a:t>
            </a:r>
          </a:p>
        </p:txBody>
      </p:sp>
    </p:spTree>
    <p:extLst>
      <p:ext uri="{BB962C8B-B14F-4D97-AF65-F5344CB8AC3E}">
        <p14:creationId xmlns:p14="http://schemas.microsoft.com/office/powerpoint/2010/main" val="91884404"/>
      </p:ext>
    </p:extLst>
  </p:cSld>
</p:sld>
</file>

<file path=ppt/slides/slide3.xml><?xml version="1.0" encoding="utf-8"?>
<p:sld xmlns:p="http://schemas.openxmlformats.org/presentationml/2006/main">
  <p:cSld>
    <p:bg>
      <p:bgPr>
        <a:solidFill xmlns:a="http://schemas.openxmlformats.org/drawingml/2006/main">
          <a:srgbClr val="0B0B0D"/>
        </a:solidFill>
      </p:bgPr>
    </p:bg>
    <p:spTree>
      <p:nvGrpSpPr>
        <p:cNvPr id="1" name=""/>
        <p:cNvGrpSpPr/>
        <p:nvPr/>
      </p:nvGrpSpPr>
      <p:grpSpPr>
        <a:xfrm xmlns:a="http://schemas.openxmlformats.org/drawingml/2006/main"/>
      </p:grpSpPr>
      <p:sp>
        <p:nvSpPr>
          <p:cNvPr id="58" name="Google Shape;58;p5">
            <a:extLst xmlns:a="http://schemas.openxmlformats.org/drawingml/2006/main">
              <a:ext uri="{FF2B5EF4-FFF2-40B4-BE49-F238E27FC236}">
                <a16:creationId xmlns:a16="http://schemas.microsoft.com/office/drawing/2014/main" id="{B04CFFCA-E463-4B5A-9C0F-17BD2B118399}"/>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D"/>
          </a:solidFill>
          <a:ln xmlns:a="http://schemas.openxmlformats.org/drawingml/2006/main" w="12700" cmpd="sng">
            <a:solidFill>
              <a:srgbClr val="0B0B0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9" name="Google Shape;59;p5">
            <a:extLst xmlns:a="http://schemas.openxmlformats.org/drawingml/2006/main">
              <a:ext uri="{FF2B5EF4-FFF2-40B4-BE49-F238E27FC236}">
                <a16:creationId xmlns:a16="http://schemas.microsoft.com/office/drawing/2014/main" id="{3FD5C467-F980-4902-AEED-BF774A037AE9}"/>
              </a:ext>
            </a:extLst>
          </p:cNvPr>
          <p:cNvSpPr>
            <a:spLocks xmlns:a="http://schemas.openxmlformats.org/drawingml/2006/main" noGrp="1"/>
          </p:cNvSpPr>
          <p:nvPr/>
        </p:nvSpPr>
        <p:spPr>
          <a:xfrm xmlns:a="http://schemas.openxmlformats.org/drawingml/2006/main">
            <a:off x="0" y="109728"/>
            <a:ext cx="12191695" cy="64008"/>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0" name="Google Shape;60;p5">
            <a:extLst xmlns:a="http://schemas.openxmlformats.org/drawingml/2006/main">
              <a:ext uri="{FF2B5EF4-FFF2-40B4-BE49-F238E27FC236}">
                <a16:creationId xmlns:a16="http://schemas.microsoft.com/office/drawing/2014/main" id="{D76764AF-3D8C-4184-9408-C5D10F731842}"/>
              </a:ext>
            </a:extLst>
          </p:cNvPr>
          <p:cNvSpPr>
            <a:spLocks xmlns:a="http://schemas.openxmlformats.org/drawingml/2006/main" noGrp="1"/>
          </p:cNvSpPr>
          <p:nvPr/>
        </p:nvSpPr>
        <p:spPr>
          <a:xfrm xmlns:a="http://schemas.openxmlformats.org/drawingml/2006/main">
            <a:off x="0" y="6675120"/>
            <a:ext cx="12191695" cy="64008"/>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1" name="Google Shape;61;p5">
            <a:extLst xmlns:a="http://schemas.openxmlformats.org/drawingml/2006/main">
              <a:ext uri="{FF2B5EF4-FFF2-40B4-BE49-F238E27FC236}">
                <a16:creationId xmlns:a16="http://schemas.microsoft.com/office/drawing/2014/main" id="{4812EEF3-0F91-4D87-91C9-05279E808BDF}"/>
              </a:ext>
            </a:extLst>
          </p:cNvPr>
          <p:cNvSpPr>
            <a:spLocks xmlns:a="http://schemas.openxmlformats.org/drawingml/2006/main" noGrp="1"/>
          </p:cNvSpPr>
          <p:nvPr/>
        </p:nvSpPr>
        <p:spPr>
          <a:xfrm xmlns:a="http://schemas.openxmlformats.org/drawingml/2006/main">
            <a:off x="384048" y="6364224"/>
            <a:ext cx="29260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A8A8A8"/>
              </a:buClr>
              <a:buSzPts val="950"/>
              <a:buFont typeface="Arial"/>
              <a:buNone/>
            </a:pPr>
            <a:r>
              <a:rPr sz="950" b="1" i="0" u="none" cap="none">
                <a:solidFill>
                  <a:srgbClr val="A8A8A8"/>
                </a:solidFill>
                <a:latin typeface="Arial"/>
                <a:ea typeface="Arial"/>
                <a:cs typeface="Arial"/>
              </a:rPr>
              <a:t>ORAL PRESENTATION</a:t>
            </a:r>
          </a:p>
        </p:txBody>
      </p:sp>
      <p:sp>
        <p:nvSpPr>
          <p:cNvPr id="62" name="Google Shape;62;p5">
            <a:extLst xmlns:a="http://schemas.openxmlformats.org/drawingml/2006/main">
              <a:ext uri="{FF2B5EF4-FFF2-40B4-BE49-F238E27FC236}">
                <a16:creationId xmlns:a16="http://schemas.microsoft.com/office/drawing/2014/main" id="{FEF51CA8-DFB6-4C3B-AF5F-3D8CE7175E4E}"/>
              </a:ext>
            </a:extLst>
          </p:cNvPr>
          <p:cNvSpPr>
            <a:spLocks xmlns:a="http://schemas.openxmlformats.org/drawingml/2006/main" noGrp="1"/>
          </p:cNvSpPr>
          <p:nvPr/>
        </p:nvSpPr>
        <p:spPr>
          <a:xfrm xmlns:a="http://schemas.openxmlformats.org/drawingml/2006/main">
            <a:off x="10405872" y="6364224"/>
            <a:ext cx="1325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A8A8A8"/>
              </a:buClr>
              <a:buSzPts val="950"/>
              <a:buFont typeface="Arial"/>
              <a:buNone/>
            </a:pPr>
            <a:r>
              <a:rPr sz="950" b="1" i="0" u="none" cap="none">
                <a:solidFill>
                  <a:srgbClr val="A8A8A8"/>
                </a:solidFill>
                <a:latin typeface="Arial"/>
                <a:ea typeface="Arial"/>
                <a:cs typeface="Arial"/>
              </a:rPr>
              <a:t>DECK 17</a:t>
            </a:r>
          </a:p>
        </p:txBody>
      </p:sp>
      <p:sp>
        <p:nvSpPr>
          <p:cNvPr id="63" name="Google Shape;63;p5">
            <a:extLst xmlns:a="http://schemas.openxmlformats.org/drawingml/2006/main">
              <a:ext uri="{FF2B5EF4-FFF2-40B4-BE49-F238E27FC236}">
                <a16:creationId xmlns:a16="http://schemas.microsoft.com/office/drawing/2014/main" id="{BCCB7657-E0B1-4D96-AA6C-85D2D0F3FCF1}"/>
              </a:ext>
            </a:extLst>
          </p:cNvPr>
          <p:cNvSpPr>
            <a:spLocks xmlns:a="http://schemas.openxmlformats.org/drawingml/2006/main" noGrp="1"/>
          </p:cNvSpPr>
          <p:nvPr/>
        </p:nvSpPr>
        <p:spPr>
          <a:xfrm xmlns:a="http://schemas.openxmlformats.org/drawingml/2006/main">
            <a:off x="502920" y="502920"/>
            <a:ext cx="110642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4F4F4"/>
              </a:buClr>
              <a:buSzPts val="3000"/>
              <a:buFont typeface="Play"/>
              <a:buNone/>
            </a:pPr>
            <a:r>
              <a:rPr sz="3000" b="1" i="0" u="none" cap="none">
                <a:solidFill>
                  <a:srgbClr val="F4F4F4"/>
                </a:solidFill>
                <a:latin typeface="Play"/>
                <a:ea typeface="Play"/>
                <a:cs typeface="Play"/>
              </a:rPr>
              <a:t>A Presentation Is Not the Report</a:t>
            </a:r>
          </a:p>
        </p:txBody>
      </p:sp>
      <p:sp>
        <p:nvSpPr>
          <p:cNvPr id="64" name="Google Shape;64;p5">
            <a:extLst xmlns:a="http://schemas.openxmlformats.org/drawingml/2006/main">
              <a:ext uri="{FF2B5EF4-FFF2-40B4-BE49-F238E27FC236}">
                <a16:creationId xmlns:a16="http://schemas.microsoft.com/office/drawing/2014/main" id="{F139A960-EA73-484C-A792-BC3561430F11}"/>
              </a:ext>
            </a:extLst>
          </p:cNvPr>
          <p:cNvSpPr>
            <a:spLocks xmlns:a="http://schemas.openxmlformats.org/drawingml/2006/main" noGrp="1"/>
          </p:cNvSpPr>
          <p:nvPr/>
        </p:nvSpPr>
        <p:spPr>
          <a:xfrm xmlns:a="http://schemas.openxmlformats.org/drawingml/2006/main">
            <a:off x="502920" y="1143000"/>
            <a:ext cx="914400" cy="54864"/>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5" name="Google Shape;65;p5">
            <a:extLst xmlns:a="http://schemas.openxmlformats.org/drawingml/2006/main">
              <a:ext uri="{FF2B5EF4-FFF2-40B4-BE49-F238E27FC236}">
                <a16:creationId xmlns:a16="http://schemas.microsoft.com/office/drawing/2014/main" id="{1BCF606D-31EA-43B1-B2D8-6A2DD9BE0836}"/>
              </a:ext>
            </a:extLst>
          </p:cNvPr>
          <p:cNvSpPr>
            <a:spLocks xmlns:a="http://schemas.openxmlformats.org/drawingml/2006/main" noGrp="1"/>
          </p:cNvSpPr>
          <p:nvPr/>
        </p:nvSpPr>
        <p:spPr>
          <a:xfrm xmlns:a="http://schemas.openxmlformats.org/drawingml/2006/main">
            <a:off x="1600200" y="1024128"/>
            <a:ext cx="987552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A8A8A8"/>
              </a:buClr>
              <a:buSzPts val="1300"/>
              <a:buFont typeface="Arial"/>
              <a:buNone/>
            </a:pPr>
            <a:r>
              <a:rPr sz="1300" b="0" i="0" u="none" cap="none">
                <a:solidFill>
                  <a:srgbClr val="A8A8A8"/>
                </a:solidFill>
                <a:latin typeface="Arial"/>
                <a:ea typeface="Arial"/>
                <a:cs typeface="Arial"/>
              </a:rPr>
              <a:t>The report contains detail. The presentation guides attention.</a:t>
            </a:r>
          </a:p>
        </p:txBody>
      </p:sp>
      <p:sp>
        <p:nvSpPr>
          <p:cNvPr id="66" name="Google Shape;66;p5">
            <a:extLst xmlns:a="http://schemas.openxmlformats.org/drawingml/2006/main">
              <a:ext uri="{FF2B5EF4-FFF2-40B4-BE49-F238E27FC236}">
                <a16:creationId xmlns:a16="http://schemas.microsoft.com/office/drawing/2014/main" id="{7C0EFACA-F42A-4E11-BCC7-98790605CCA3}"/>
              </a:ext>
            </a:extLst>
          </p:cNvPr>
          <p:cNvSpPr>
            <a:spLocks xmlns:a="http://schemas.openxmlformats.org/drawingml/2006/main" noGrp="1"/>
          </p:cNvSpPr>
          <p:nvPr/>
        </p:nvSpPr>
        <p:spPr>
          <a:xfrm xmlns:a="http://schemas.openxmlformats.org/drawingml/2006/main">
            <a:off x="685800" y="1600200"/>
            <a:ext cx="5166360" cy="3794760"/>
          </a:xfrm>
          <a:prstGeom xmlns:a="http://schemas.openxmlformats.org/drawingml/2006/main" prst="rect">
            <a:avLst/>
          </a:prstGeom>
          <a:solidFill xmlns:a="http://schemas.openxmlformats.org/drawingml/2006/main">
            <a:srgbClr val="111113"/>
          </a:solidFill>
          <a:ln xmlns:a="http://schemas.openxmlformats.org/drawingml/2006/main" w="12700" cmpd="sng">
            <a:solidFill>
              <a:srgbClr val="5A5A5A">
                <a:alpha val="8000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7" name="Google Shape;67;p5">
            <a:extLst xmlns:a="http://schemas.openxmlformats.org/drawingml/2006/main">
              <a:ext uri="{FF2B5EF4-FFF2-40B4-BE49-F238E27FC236}">
                <a16:creationId xmlns:a16="http://schemas.microsoft.com/office/drawing/2014/main" id="{F944CDD6-E7F5-4DAD-861F-D84DE4ED230A}"/>
              </a:ext>
            </a:extLst>
          </p:cNvPr>
          <p:cNvSpPr>
            <a:spLocks xmlns:a="http://schemas.openxmlformats.org/drawingml/2006/main" noGrp="1"/>
          </p:cNvSpPr>
          <p:nvPr/>
        </p:nvSpPr>
        <p:spPr>
          <a:xfrm xmlns:a="http://schemas.openxmlformats.org/drawingml/2006/main">
            <a:off x="685800" y="1600200"/>
            <a:ext cx="64008" cy="3794760"/>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8" name="Google Shape;68;p5">
            <a:extLst xmlns:a="http://schemas.openxmlformats.org/drawingml/2006/main">
              <a:ext uri="{FF2B5EF4-FFF2-40B4-BE49-F238E27FC236}">
                <a16:creationId xmlns:a16="http://schemas.microsoft.com/office/drawing/2014/main" id="{34EB8A5E-BBF6-4D02-8A76-DBBFDD233C40}"/>
              </a:ext>
            </a:extLst>
          </p:cNvPr>
          <p:cNvSpPr>
            <a:spLocks xmlns:a="http://schemas.openxmlformats.org/drawingml/2006/main" noGrp="1"/>
          </p:cNvSpPr>
          <p:nvPr/>
        </p:nvSpPr>
        <p:spPr>
          <a:xfrm xmlns:a="http://schemas.openxmlformats.org/drawingml/2006/main">
            <a:off x="886968" y="1737360"/>
            <a:ext cx="484632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3342F"/>
              </a:buClr>
              <a:buSzPts val="1100"/>
              <a:buFont typeface="Arial"/>
              <a:buNone/>
            </a:pPr>
            <a:r>
              <a:rPr sz="1100" b="1" i="0" u="none" cap="none">
                <a:solidFill>
                  <a:srgbClr val="E3342F"/>
                </a:solidFill>
                <a:latin typeface="Arial"/>
                <a:ea typeface="Arial"/>
                <a:cs typeface="Arial"/>
              </a:rPr>
              <a:t>THE REPORT</a:t>
            </a:r>
          </a:p>
        </p:txBody>
      </p:sp>
      <p:sp>
        <p:nvSpPr>
          <p:cNvPr id="69" name="Google Shape;69;p5">
            <a:extLst xmlns:a="http://schemas.openxmlformats.org/drawingml/2006/main">
              <a:ext uri="{FF2B5EF4-FFF2-40B4-BE49-F238E27FC236}">
                <a16:creationId xmlns:a16="http://schemas.microsoft.com/office/drawing/2014/main" id="{4642A11F-EAAE-4780-AB0E-853ADE6FA86E}"/>
              </a:ext>
            </a:extLst>
          </p:cNvPr>
          <p:cNvSpPr>
            <a:spLocks xmlns:a="http://schemas.openxmlformats.org/drawingml/2006/main" noGrp="1"/>
          </p:cNvSpPr>
          <p:nvPr/>
        </p:nvSpPr>
        <p:spPr>
          <a:xfrm xmlns:a="http://schemas.openxmlformats.org/drawingml/2006/main">
            <a:off x="886968" y="2057400"/>
            <a:ext cx="4846320" cy="32278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Provides the full written record.</a:t>
            </a:r>
          </a:p>
          <a:p xmlns:a="http://schemas.openxmlformats.org/drawingml/2006/main">
            <a:pPr marL="0" marR="0" indent="0" algn="l">
              <a:spcBef>
                <a:spcPts val="0"/>
              </a:spcBef>
              <a:spcAft>
                <a:spcPts val="0"/>
              </a:spcAft>
              <a:buClr>
                <a:schemeClr val="dk1"/>
              </a:buClr>
              <a:buSzPts val="1600"/>
              <a:buFont typeface="Arial"/>
              <a:buNone/>
            </a:pPr>
            <a:r>
              <a:t/>
            </a:r>
          </a:p>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 More detail</a:t>
            </a:r>
          </a:p>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 Formal sections</a:t>
            </a:r>
          </a:p>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 Complete methods</a:t>
            </a:r>
          </a:p>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 Full discussion</a:t>
            </a:r>
          </a:p>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 References and appendices</a:t>
            </a:r>
          </a:p>
        </p:txBody>
      </p:sp>
      <p:sp>
        <p:nvSpPr>
          <p:cNvPr id="70" name="Google Shape;70;p5">
            <a:extLst xmlns:a="http://schemas.openxmlformats.org/drawingml/2006/main">
              <a:ext uri="{FF2B5EF4-FFF2-40B4-BE49-F238E27FC236}">
                <a16:creationId xmlns:a16="http://schemas.microsoft.com/office/drawing/2014/main" id="{80834949-25EC-4840-9033-4B9E7B2718DC}"/>
              </a:ext>
            </a:extLst>
          </p:cNvPr>
          <p:cNvSpPr>
            <a:spLocks xmlns:a="http://schemas.openxmlformats.org/drawingml/2006/main" noGrp="1"/>
          </p:cNvSpPr>
          <p:nvPr/>
        </p:nvSpPr>
        <p:spPr>
          <a:xfrm xmlns:a="http://schemas.openxmlformats.org/drawingml/2006/main">
            <a:off x="6355080" y="1600200"/>
            <a:ext cx="5166360" cy="3794760"/>
          </a:xfrm>
          <a:prstGeom xmlns:a="http://schemas.openxmlformats.org/drawingml/2006/main" prst="rect">
            <a:avLst/>
          </a:prstGeom>
          <a:solidFill xmlns:a="http://schemas.openxmlformats.org/drawingml/2006/main">
            <a:srgbClr val="111113"/>
          </a:solidFill>
          <a:ln xmlns:a="http://schemas.openxmlformats.org/drawingml/2006/main" w="12700" cmpd="sng">
            <a:solidFill>
              <a:srgbClr val="5A5A5A">
                <a:alpha val="8000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71" name="Google Shape;71;p5">
            <a:extLst xmlns:a="http://schemas.openxmlformats.org/drawingml/2006/main">
              <a:ext uri="{FF2B5EF4-FFF2-40B4-BE49-F238E27FC236}">
                <a16:creationId xmlns:a16="http://schemas.microsoft.com/office/drawing/2014/main" id="{FB81B05E-8756-41DE-950D-4AB05B8A1AEB}"/>
              </a:ext>
            </a:extLst>
          </p:cNvPr>
          <p:cNvSpPr>
            <a:spLocks xmlns:a="http://schemas.openxmlformats.org/drawingml/2006/main" noGrp="1"/>
          </p:cNvSpPr>
          <p:nvPr/>
        </p:nvSpPr>
        <p:spPr>
          <a:xfrm xmlns:a="http://schemas.openxmlformats.org/drawingml/2006/main">
            <a:off x="6355080" y="1600200"/>
            <a:ext cx="64008" cy="3794760"/>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72" name="Google Shape;72;p5">
            <a:extLst xmlns:a="http://schemas.openxmlformats.org/drawingml/2006/main">
              <a:ext uri="{FF2B5EF4-FFF2-40B4-BE49-F238E27FC236}">
                <a16:creationId xmlns:a16="http://schemas.microsoft.com/office/drawing/2014/main" id="{70AAEA3D-9CCE-4359-8C7E-5BD121AB2344}"/>
              </a:ext>
            </a:extLst>
          </p:cNvPr>
          <p:cNvSpPr>
            <a:spLocks xmlns:a="http://schemas.openxmlformats.org/drawingml/2006/main" noGrp="1"/>
          </p:cNvSpPr>
          <p:nvPr/>
        </p:nvSpPr>
        <p:spPr>
          <a:xfrm xmlns:a="http://schemas.openxmlformats.org/drawingml/2006/main">
            <a:off x="6556248" y="1737360"/>
            <a:ext cx="484632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3342F"/>
              </a:buClr>
              <a:buSzPts val="1100"/>
              <a:buFont typeface="Arial"/>
              <a:buNone/>
            </a:pPr>
            <a:r>
              <a:rPr sz="1100" b="1" i="0" u="none" cap="none">
                <a:solidFill>
                  <a:srgbClr val="E3342F"/>
                </a:solidFill>
                <a:latin typeface="Arial"/>
                <a:ea typeface="Arial"/>
                <a:cs typeface="Arial"/>
              </a:rPr>
              <a:t>THE PRESENTATION</a:t>
            </a:r>
          </a:p>
        </p:txBody>
      </p:sp>
      <p:sp>
        <p:nvSpPr>
          <p:cNvPr id="73" name="Google Shape;73;p5">
            <a:extLst xmlns:a="http://schemas.openxmlformats.org/drawingml/2006/main">
              <a:ext uri="{FF2B5EF4-FFF2-40B4-BE49-F238E27FC236}">
                <a16:creationId xmlns:a16="http://schemas.microsoft.com/office/drawing/2014/main" id="{9465DB42-4E99-45F7-94C7-D4DA158A8ECF}"/>
              </a:ext>
            </a:extLst>
          </p:cNvPr>
          <p:cNvSpPr>
            <a:spLocks xmlns:a="http://schemas.openxmlformats.org/drawingml/2006/main" noGrp="1"/>
          </p:cNvSpPr>
          <p:nvPr/>
        </p:nvSpPr>
        <p:spPr>
          <a:xfrm xmlns:a="http://schemas.openxmlformats.org/drawingml/2006/main">
            <a:off x="6556248" y="2057400"/>
            <a:ext cx="4846320" cy="32278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Helps an audience understand the research story.</a:t>
            </a:r>
          </a:p>
          <a:p xmlns:a="http://schemas.openxmlformats.org/drawingml/2006/main">
            <a:pPr marL="0" marR="0" indent="0" algn="l">
              <a:spcBef>
                <a:spcPts val="0"/>
              </a:spcBef>
              <a:spcAft>
                <a:spcPts val="0"/>
              </a:spcAft>
              <a:buClr>
                <a:schemeClr val="dk1"/>
              </a:buClr>
              <a:buSzPts val="1600"/>
              <a:buFont typeface="Arial"/>
              <a:buNone/>
            </a:pPr>
            <a:r>
              <a:t/>
            </a:r>
          </a:p>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 Clear path</a:t>
            </a:r>
          </a:p>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 Key evidence</a:t>
            </a:r>
          </a:p>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 Visual guidance</a:t>
            </a:r>
          </a:p>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 Spoken interpretation</a:t>
            </a:r>
          </a:p>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 Questions and dialogue</a:t>
            </a:r>
          </a:p>
        </p:txBody>
      </p:sp>
    </p:spTree>
    <p:extLst>
      <p:ext uri="{BB962C8B-B14F-4D97-AF65-F5344CB8AC3E}">
        <p14:creationId xmlns:p14="http://schemas.microsoft.com/office/powerpoint/2010/main" val="1704865907"/>
      </p:ext>
    </p:extLst>
  </p:cSld>
</p:sld>
</file>

<file path=ppt/slides/slide4.xml><?xml version="1.0" encoding="utf-8"?>
<p:sld xmlns:p="http://schemas.openxmlformats.org/presentationml/2006/main">
  <p:cSld>
    <p:bg>
      <p:bgPr>
        <a:solidFill xmlns:a="http://schemas.openxmlformats.org/drawingml/2006/main">
          <a:srgbClr val="0B0B0D"/>
        </a:solidFill>
      </p:bgPr>
    </p:bg>
    <p:spTree>
      <p:nvGrpSpPr>
        <p:cNvPr id="1" name=""/>
        <p:cNvGrpSpPr/>
        <p:nvPr/>
      </p:nvGrpSpPr>
      <p:grpSpPr>
        <a:xfrm xmlns:a="http://schemas.openxmlformats.org/drawingml/2006/main"/>
      </p:grpSpPr>
      <p:sp>
        <p:nvSpPr>
          <p:cNvPr id="79" name="Google Shape;79;p6">
            <a:extLst xmlns:a="http://schemas.openxmlformats.org/drawingml/2006/main">
              <a:ext uri="{FF2B5EF4-FFF2-40B4-BE49-F238E27FC236}">
                <a16:creationId xmlns:a16="http://schemas.microsoft.com/office/drawing/2014/main" id="{A114B32D-0CE6-4F94-9A56-302EC04B604C}"/>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D"/>
          </a:solidFill>
          <a:ln xmlns:a="http://schemas.openxmlformats.org/drawingml/2006/main" w="12700" cmpd="sng">
            <a:solidFill>
              <a:srgbClr val="0B0B0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80" name="Google Shape;80;p6">
            <a:extLst xmlns:a="http://schemas.openxmlformats.org/drawingml/2006/main">
              <a:ext uri="{FF2B5EF4-FFF2-40B4-BE49-F238E27FC236}">
                <a16:creationId xmlns:a16="http://schemas.microsoft.com/office/drawing/2014/main" id="{961C5A03-2145-4333-A8F3-D4BD574F4984}"/>
              </a:ext>
            </a:extLst>
          </p:cNvPr>
          <p:cNvSpPr>
            <a:spLocks xmlns:a="http://schemas.openxmlformats.org/drawingml/2006/main" noGrp="1"/>
          </p:cNvSpPr>
          <p:nvPr/>
        </p:nvSpPr>
        <p:spPr>
          <a:xfrm xmlns:a="http://schemas.openxmlformats.org/drawingml/2006/main">
            <a:off x="0" y="109728"/>
            <a:ext cx="12191695" cy="64008"/>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81" name="Google Shape;81;p6">
            <a:extLst xmlns:a="http://schemas.openxmlformats.org/drawingml/2006/main">
              <a:ext uri="{FF2B5EF4-FFF2-40B4-BE49-F238E27FC236}">
                <a16:creationId xmlns:a16="http://schemas.microsoft.com/office/drawing/2014/main" id="{8914DED8-B9A5-4BB7-A723-D55692FEEAF9}"/>
              </a:ext>
            </a:extLst>
          </p:cNvPr>
          <p:cNvSpPr>
            <a:spLocks xmlns:a="http://schemas.openxmlformats.org/drawingml/2006/main" noGrp="1"/>
          </p:cNvSpPr>
          <p:nvPr/>
        </p:nvSpPr>
        <p:spPr>
          <a:xfrm xmlns:a="http://schemas.openxmlformats.org/drawingml/2006/main">
            <a:off x="0" y="6675120"/>
            <a:ext cx="12191695" cy="64008"/>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82" name="Google Shape;82;p6">
            <a:extLst xmlns:a="http://schemas.openxmlformats.org/drawingml/2006/main">
              <a:ext uri="{FF2B5EF4-FFF2-40B4-BE49-F238E27FC236}">
                <a16:creationId xmlns:a16="http://schemas.microsoft.com/office/drawing/2014/main" id="{89ADD3B8-C3C5-434C-8A67-AE9024732B42}"/>
              </a:ext>
            </a:extLst>
          </p:cNvPr>
          <p:cNvSpPr>
            <a:spLocks xmlns:a="http://schemas.openxmlformats.org/drawingml/2006/main" noGrp="1"/>
          </p:cNvSpPr>
          <p:nvPr/>
        </p:nvSpPr>
        <p:spPr>
          <a:xfrm xmlns:a="http://schemas.openxmlformats.org/drawingml/2006/main">
            <a:off x="384048" y="6364224"/>
            <a:ext cx="29260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A8A8A8"/>
              </a:buClr>
              <a:buSzPts val="950"/>
              <a:buFont typeface="Arial"/>
              <a:buNone/>
            </a:pPr>
            <a:r>
              <a:rPr sz="950" b="1" i="0" u="none" cap="none">
                <a:solidFill>
                  <a:srgbClr val="A8A8A8"/>
                </a:solidFill>
                <a:latin typeface="Arial"/>
                <a:ea typeface="Arial"/>
                <a:cs typeface="Arial"/>
              </a:rPr>
              <a:t>ORAL PRESENTATION</a:t>
            </a:r>
          </a:p>
        </p:txBody>
      </p:sp>
      <p:sp>
        <p:nvSpPr>
          <p:cNvPr id="83" name="Google Shape;83;p6">
            <a:extLst xmlns:a="http://schemas.openxmlformats.org/drawingml/2006/main">
              <a:ext uri="{FF2B5EF4-FFF2-40B4-BE49-F238E27FC236}">
                <a16:creationId xmlns:a16="http://schemas.microsoft.com/office/drawing/2014/main" id="{67394789-5B93-4984-872F-7D5515713F1B}"/>
              </a:ext>
            </a:extLst>
          </p:cNvPr>
          <p:cNvSpPr>
            <a:spLocks xmlns:a="http://schemas.openxmlformats.org/drawingml/2006/main" noGrp="1"/>
          </p:cNvSpPr>
          <p:nvPr/>
        </p:nvSpPr>
        <p:spPr>
          <a:xfrm xmlns:a="http://schemas.openxmlformats.org/drawingml/2006/main">
            <a:off x="10405872" y="6364224"/>
            <a:ext cx="1325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A8A8A8"/>
              </a:buClr>
              <a:buSzPts val="950"/>
              <a:buFont typeface="Arial"/>
              <a:buNone/>
            </a:pPr>
            <a:r>
              <a:rPr sz="950" b="1" i="0" u="none" cap="none">
                <a:solidFill>
                  <a:srgbClr val="A8A8A8"/>
                </a:solidFill>
                <a:latin typeface="Arial"/>
                <a:ea typeface="Arial"/>
                <a:cs typeface="Arial"/>
              </a:rPr>
              <a:t>DECK 17</a:t>
            </a:r>
          </a:p>
        </p:txBody>
      </p:sp>
      <p:sp>
        <p:nvSpPr>
          <p:cNvPr id="84" name="Google Shape;84;p6">
            <a:extLst xmlns:a="http://schemas.openxmlformats.org/drawingml/2006/main">
              <a:ext uri="{FF2B5EF4-FFF2-40B4-BE49-F238E27FC236}">
                <a16:creationId xmlns:a16="http://schemas.microsoft.com/office/drawing/2014/main" id="{9D83A3B4-559F-47CE-8540-51E0BF8078F1}"/>
              </a:ext>
            </a:extLst>
          </p:cNvPr>
          <p:cNvSpPr>
            <a:spLocks xmlns:a="http://schemas.openxmlformats.org/drawingml/2006/main" noGrp="1"/>
          </p:cNvSpPr>
          <p:nvPr/>
        </p:nvSpPr>
        <p:spPr>
          <a:xfrm xmlns:a="http://schemas.openxmlformats.org/drawingml/2006/main">
            <a:off x="502920" y="502920"/>
            <a:ext cx="110642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4F4F4"/>
              </a:buClr>
              <a:buSzPts val="3000"/>
              <a:buFont typeface="Play"/>
              <a:buNone/>
            </a:pPr>
            <a:r>
              <a:rPr sz="3000" b="1" i="0" u="none" cap="none">
                <a:solidFill>
                  <a:srgbClr val="F4F4F4"/>
                </a:solidFill>
                <a:latin typeface="Play"/>
                <a:ea typeface="Play"/>
                <a:cs typeface="Play"/>
              </a:rPr>
              <a:t>The Research Story Spine</a:t>
            </a:r>
          </a:p>
        </p:txBody>
      </p:sp>
      <p:sp>
        <p:nvSpPr>
          <p:cNvPr id="85" name="Google Shape;85;p6">
            <a:extLst xmlns:a="http://schemas.openxmlformats.org/drawingml/2006/main">
              <a:ext uri="{FF2B5EF4-FFF2-40B4-BE49-F238E27FC236}">
                <a16:creationId xmlns:a16="http://schemas.microsoft.com/office/drawing/2014/main" id="{6B270A76-3F75-4A4B-94D0-81ECD43BD100}"/>
              </a:ext>
            </a:extLst>
          </p:cNvPr>
          <p:cNvSpPr>
            <a:spLocks xmlns:a="http://schemas.openxmlformats.org/drawingml/2006/main" noGrp="1"/>
          </p:cNvSpPr>
          <p:nvPr/>
        </p:nvSpPr>
        <p:spPr>
          <a:xfrm xmlns:a="http://schemas.openxmlformats.org/drawingml/2006/main">
            <a:off x="502920" y="1143000"/>
            <a:ext cx="914400" cy="54864"/>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86" name="Google Shape;86;p6">
            <a:extLst xmlns:a="http://schemas.openxmlformats.org/drawingml/2006/main">
              <a:ext uri="{FF2B5EF4-FFF2-40B4-BE49-F238E27FC236}">
                <a16:creationId xmlns:a16="http://schemas.microsoft.com/office/drawing/2014/main" id="{E4C63F79-38F4-455D-8FF9-35AEFA3CB972}"/>
              </a:ext>
            </a:extLst>
          </p:cNvPr>
          <p:cNvSpPr>
            <a:spLocks xmlns:a="http://schemas.openxmlformats.org/drawingml/2006/main" noGrp="1"/>
          </p:cNvSpPr>
          <p:nvPr/>
        </p:nvSpPr>
        <p:spPr>
          <a:xfrm xmlns:a="http://schemas.openxmlformats.org/drawingml/2006/main">
            <a:off x="1600200" y="1024128"/>
            <a:ext cx="987552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A8A8A8"/>
              </a:buClr>
              <a:buSzPts val="1300"/>
              <a:buFont typeface="Arial"/>
              <a:buNone/>
            </a:pPr>
            <a:r>
              <a:rPr sz="1300" b="0" i="0" u="none" cap="none">
                <a:solidFill>
                  <a:srgbClr val="A8A8A8"/>
                </a:solidFill>
                <a:latin typeface="Arial"/>
                <a:ea typeface="Arial"/>
                <a:cs typeface="Arial"/>
              </a:rPr>
              <a:t>Every strong research presentation has a clear path.</a:t>
            </a:r>
          </a:p>
        </p:txBody>
      </p:sp>
      <p:sp>
        <p:nvSpPr>
          <p:cNvPr id="87" name="Google Shape;87;p6">
            <a:extLst xmlns:a="http://schemas.openxmlformats.org/drawingml/2006/main">
              <a:ext uri="{FF2B5EF4-FFF2-40B4-BE49-F238E27FC236}">
                <a16:creationId xmlns:a16="http://schemas.microsoft.com/office/drawing/2014/main" id="{32A4AB99-DD57-4FC7-9F0F-BE60DA6450B9}"/>
              </a:ext>
            </a:extLst>
          </p:cNvPr>
          <p:cNvSpPr>
            <a:spLocks xmlns:a="http://schemas.openxmlformats.org/drawingml/2006/main" noGrp="1"/>
          </p:cNvSpPr>
          <p:nvPr/>
        </p:nvSpPr>
        <p:spPr>
          <a:xfrm xmlns:a="http://schemas.openxmlformats.org/drawingml/2006/main">
            <a:off x="640080" y="1874520"/>
            <a:ext cx="1325880" cy="685800"/>
          </a:xfrm>
          <a:prstGeom xmlns:a="http://schemas.openxmlformats.org/drawingml/2006/main" prst="rect">
            <a:avLst/>
          </a:prstGeom>
          <a:solidFill xmlns:a="http://schemas.openxmlformats.org/drawingml/2006/main">
            <a:srgbClr val="111113"/>
          </a:solidFill>
          <a:ln xmlns:a="http://schemas.openxmlformats.org/drawingml/2006/main" w="12700" cmpd="sng">
            <a:solidFill>
              <a:srgbClr val="5A5A5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88" name="Google Shape;88;p6">
            <a:extLst xmlns:a="http://schemas.openxmlformats.org/drawingml/2006/main">
              <a:ext uri="{FF2B5EF4-FFF2-40B4-BE49-F238E27FC236}">
                <a16:creationId xmlns:a16="http://schemas.microsoft.com/office/drawing/2014/main" id="{8C2E7050-BEEA-49FF-8C83-8BF7B05B1826}"/>
              </a:ext>
            </a:extLst>
          </p:cNvPr>
          <p:cNvSpPr>
            <a:spLocks xmlns:a="http://schemas.openxmlformats.org/drawingml/2006/main" noGrp="1"/>
          </p:cNvSpPr>
          <p:nvPr/>
        </p:nvSpPr>
        <p:spPr>
          <a:xfrm xmlns:a="http://schemas.openxmlformats.org/drawingml/2006/main">
            <a:off x="685800" y="2039112"/>
            <a:ext cx="12344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4F4F4"/>
              </a:buClr>
              <a:buSzPts val="1300"/>
              <a:buFont typeface="Arial"/>
              <a:buNone/>
            </a:pPr>
            <a:r>
              <a:rPr sz="1300" b="1" i="0" u="none" cap="none">
                <a:solidFill>
                  <a:srgbClr val="F4F4F4"/>
                </a:solidFill>
                <a:latin typeface="Arial"/>
                <a:ea typeface="Arial"/>
                <a:cs typeface="Arial"/>
              </a:rPr>
              <a:t>Problem</a:t>
            </a:r>
          </a:p>
        </p:txBody>
      </p:sp>
      <p:cxnSp>
        <p:nvCxnSpPr>
          <p:cNvPr id="145" name="Google Shape;89;p6"/>
          <p:cNvCxnSpPr/>
          <p:nvPr/>
        </p:nvCxnSpPr>
        <p:spPr>
          <a:xfrm xmlns:a="http://schemas.openxmlformats.org/drawingml/2006/main">
            <a:off x="1965960" y="2212848"/>
            <a:ext cx="320040" cy="0"/>
          </a:xfrm>
          <a:prstGeom xmlns:a="http://schemas.openxmlformats.org/drawingml/2006/main" prst="straightConnector1">
            <a:avLst/>
          </a:prstGeom>
          <a:ln xmlns:a="http://schemas.openxmlformats.org/drawingml/2006/main" w="12700" cap="flat">
            <a:solidFill>
              <a:srgbClr val="A8A8A8"/>
            </a:solidFill>
            <a:prstDash val="solid"/>
            <a:round/>
            <a:headEnd type="none" w="sm" len="sm"/>
            <a:tailEnd type="triangle" w="med" len="med"/>
          </a:ln>
        </p:spPr>
      </p:cxnSp>
      <p:sp>
        <p:nvSpPr>
          <p:cNvPr id="90" name="Google Shape;90;p6">
            <a:extLst xmlns:a="http://schemas.openxmlformats.org/drawingml/2006/main">
              <a:ext uri="{FF2B5EF4-FFF2-40B4-BE49-F238E27FC236}">
                <a16:creationId xmlns:a16="http://schemas.microsoft.com/office/drawing/2014/main" id="{11E1739E-4BA1-42AE-B7E3-8B5809B29685}"/>
              </a:ext>
            </a:extLst>
          </p:cNvPr>
          <p:cNvSpPr>
            <a:spLocks xmlns:a="http://schemas.openxmlformats.org/drawingml/2006/main" noGrp="1"/>
          </p:cNvSpPr>
          <p:nvPr/>
        </p:nvSpPr>
        <p:spPr>
          <a:xfrm xmlns:a="http://schemas.openxmlformats.org/drawingml/2006/main">
            <a:off x="2304288" y="1874520"/>
            <a:ext cx="1325880" cy="685800"/>
          </a:xfrm>
          <a:prstGeom xmlns:a="http://schemas.openxmlformats.org/drawingml/2006/main" prst="rect">
            <a:avLst/>
          </a:prstGeom>
          <a:solidFill xmlns:a="http://schemas.openxmlformats.org/drawingml/2006/main">
            <a:srgbClr val="111113"/>
          </a:solidFill>
          <a:ln xmlns:a="http://schemas.openxmlformats.org/drawingml/2006/main" w="12700" cmpd="sng">
            <a:solidFill>
              <a:srgbClr val="5A5A5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91" name="Google Shape;91;p6">
            <a:extLst xmlns:a="http://schemas.openxmlformats.org/drawingml/2006/main">
              <a:ext uri="{FF2B5EF4-FFF2-40B4-BE49-F238E27FC236}">
                <a16:creationId xmlns:a16="http://schemas.microsoft.com/office/drawing/2014/main" id="{6E0183DB-0EE2-4DF2-960E-A7F8BA8B6967}"/>
              </a:ext>
            </a:extLst>
          </p:cNvPr>
          <p:cNvSpPr>
            <a:spLocks xmlns:a="http://schemas.openxmlformats.org/drawingml/2006/main" noGrp="1"/>
          </p:cNvSpPr>
          <p:nvPr/>
        </p:nvSpPr>
        <p:spPr>
          <a:xfrm xmlns:a="http://schemas.openxmlformats.org/drawingml/2006/main">
            <a:off x="2350008" y="2039112"/>
            <a:ext cx="12344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4F4F4"/>
              </a:buClr>
              <a:buSzPts val="1300"/>
              <a:buFont typeface="Arial"/>
              <a:buNone/>
            </a:pPr>
            <a:r>
              <a:rPr sz="1300" b="1" i="0" u="none" cap="none">
                <a:solidFill>
                  <a:srgbClr val="F4F4F4"/>
                </a:solidFill>
                <a:latin typeface="Arial"/>
                <a:ea typeface="Arial"/>
                <a:cs typeface="Arial"/>
              </a:rPr>
              <a:t>Question / Goal</a:t>
            </a:r>
          </a:p>
        </p:txBody>
      </p:sp>
      <p:cxnSp>
        <p:nvCxnSpPr>
          <p:cNvPr id="148" name="Google Shape;92;p6"/>
          <p:cNvCxnSpPr/>
          <p:nvPr/>
        </p:nvCxnSpPr>
        <p:spPr>
          <a:xfrm xmlns:a="http://schemas.openxmlformats.org/drawingml/2006/main">
            <a:off x="3630168" y="2212848"/>
            <a:ext cx="320040" cy="0"/>
          </a:xfrm>
          <a:prstGeom xmlns:a="http://schemas.openxmlformats.org/drawingml/2006/main" prst="straightConnector1">
            <a:avLst/>
          </a:prstGeom>
          <a:ln xmlns:a="http://schemas.openxmlformats.org/drawingml/2006/main" w="12700" cap="flat">
            <a:solidFill>
              <a:srgbClr val="A8A8A8"/>
            </a:solidFill>
            <a:prstDash val="solid"/>
            <a:round/>
            <a:headEnd type="none" w="sm" len="sm"/>
            <a:tailEnd type="triangle" w="med" len="med"/>
          </a:ln>
        </p:spPr>
      </p:cxnSp>
      <p:sp>
        <p:nvSpPr>
          <p:cNvPr id="93" name="Google Shape;93;p6">
            <a:extLst xmlns:a="http://schemas.openxmlformats.org/drawingml/2006/main">
              <a:ext uri="{FF2B5EF4-FFF2-40B4-BE49-F238E27FC236}">
                <a16:creationId xmlns:a16="http://schemas.microsoft.com/office/drawing/2014/main" id="{8883D72E-AFC4-4333-9639-3D6A211A4553}"/>
              </a:ext>
            </a:extLst>
          </p:cNvPr>
          <p:cNvSpPr>
            <a:spLocks xmlns:a="http://schemas.openxmlformats.org/drawingml/2006/main" noGrp="1"/>
          </p:cNvSpPr>
          <p:nvPr/>
        </p:nvSpPr>
        <p:spPr>
          <a:xfrm xmlns:a="http://schemas.openxmlformats.org/drawingml/2006/main">
            <a:off x="3968496" y="1874520"/>
            <a:ext cx="1325880" cy="685800"/>
          </a:xfrm>
          <a:prstGeom xmlns:a="http://schemas.openxmlformats.org/drawingml/2006/main" prst="rect">
            <a:avLst/>
          </a:prstGeom>
          <a:solidFill xmlns:a="http://schemas.openxmlformats.org/drawingml/2006/main">
            <a:srgbClr val="111113"/>
          </a:solidFill>
          <a:ln xmlns:a="http://schemas.openxmlformats.org/drawingml/2006/main" w="12700" cmpd="sng">
            <a:solidFill>
              <a:srgbClr val="5A5A5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94" name="Google Shape;94;p6">
            <a:extLst xmlns:a="http://schemas.openxmlformats.org/drawingml/2006/main">
              <a:ext uri="{FF2B5EF4-FFF2-40B4-BE49-F238E27FC236}">
                <a16:creationId xmlns:a16="http://schemas.microsoft.com/office/drawing/2014/main" id="{B21897DA-2E3A-4E23-AE66-7CEF9B497AE0}"/>
              </a:ext>
            </a:extLst>
          </p:cNvPr>
          <p:cNvSpPr>
            <a:spLocks xmlns:a="http://schemas.openxmlformats.org/drawingml/2006/main" noGrp="1"/>
          </p:cNvSpPr>
          <p:nvPr/>
        </p:nvSpPr>
        <p:spPr>
          <a:xfrm xmlns:a="http://schemas.openxmlformats.org/drawingml/2006/main">
            <a:off x="4014216" y="2039112"/>
            <a:ext cx="12344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4F4F4"/>
              </a:buClr>
              <a:buSzPts val="1300"/>
              <a:buFont typeface="Arial"/>
              <a:buNone/>
            </a:pPr>
            <a:r>
              <a:rPr sz="1300" b="1" i="0" u="none" cap="none">
                <a:solidFill>
                  <a:srgbClr val="F4F4F4"/>
                </a:solidFill>
                <a:latin typeface="Arial"/>
                <a:ea typeface="Arial"/>
                <a:cs typeface="Arial"/>
              </a:rPr>
              <a:t>Method</a:t>
            </a:r>
          </a:p>
        </p:txBody>
      </p:sp>
      <p:cxnSp>
        <p:nvCxnSpPr>
          <p:cNvPr id="151" name="Google Shape;95;p6"/>
          <p:cNvCxnSpPr/>
          <p:nvPr/>
        </p:nvCxnSpPr>
        <p:spPr>
          <a:xfrm xmlns:a="http://schemas.openxmlformats.org/drawingml/2006/main">
            <a:off x="5294376" y="2212848"/>
            <a:ext cx="320040" cy="0"/>
          </a:xfrm>
          <a:prstGeom xmlns:a="http://schemas.openxmlformats.org/drawingml/2006/main" prst="straightConnector1">
            <a:avLst/>
          </a:prstGeom>
          <a:ln xmlns:a="http://schemas.openxmlformats.org/drawingml/2006/main" w="12700" cap="flat">
            <a:solidFill>
              <a:srgbClr val="A8A8A8"/>
            </a:solidFill>
            <a:prstDash val="solid"/>
            <a:round/>
            <a:headEnd type="none" w="sm" len="sm"/>
            <a:tailEnd type="triangle" w="med" len="med"/>
          </a:ln>
        </p:spPr>
      </p:cxnSp>
      <p:sp>
        <p:nvSpPr>
          <p:cNvPr id="96" name="Google Shape;96;p6">
            <a:extLst xmlns:a="http://schemas.openxmlformats.org/drawingml/2006/main">
              <a:ext uri="{FF2B5EF4-FFF2-40B4-BE49-F238E27FC236}">
                <a16:creationId xmlns:a16="http://schemas.microsoft.com/office/drawing/2014/main" id="{074E51E5-5953-4BB7-924E-E5910284FDD2}"/>
              </a:ext>
            </a:extLst>
          </p:cNvPr>
          <p:cNvSpPr>
            <a:spLocks xmlns:a="http://schemas.openxmlformats.org/drawingml/2006/main" noGrp="1"/>
          </p:cNvSpPr>
          <p:nvPr/>
        </p:nvSpPr>
        <p:spPr>
          <a:xfrm xmlns:a="http://schemas.openxmlformats.org/drawingml/2006/main">
            <a:off x="5632704" y="1874520"/>
            <a:ext cx="1325880" cy="685800"/>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97" name="Google Shape;97;p6">
            <a:extLst xmlns:a="http://schemas.openxmlformats.org/drawingml/2006/main">
              <a:ext uri="{FF2B5EF4-FFF2-40B4-BE49-F238E27FC236}">
                <a16:creationId xmlns:a16="http://schemas.microsoft.com/office/drawing/2014/main" id="{8736873E-EA05-41B8-AF02-B12D66D1E4C3}"/>
              </a:ext>
            </a:extLst>
          </p:cNvPr>
          <p:cNvSpPr>
            <a:spLocks xmlns:a="http://schemas.openxmlformats.org/drawingml/2006/main" noGrp="1"/>
          </p:cNvSpPr>
          <p:nvPr/>
        </p:nvSpPr>
        <p:spPr>
          <a:xfrm xmlns:a="http://schemas.openxmlformats.org/drawingml/2006/main">
            <a:off x="5678424" y="2039112"/>
            <a:ext cx="12344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4F4F4"/>
              </a:buClr>
              <a:buSzPts val="1300"/>
              <a:buFont typeface="Arial"/>
              <a:buNone/>
            </a:pPr>
            <a:r>
              <a:rPr sz="1300" b="1" i="0" u="none" cap="none">
                <a:solidFill>
                  <a:srgbClr val="F4F4F4"/>
                </a:solidFill>
                <a:latin typeface="Arial"/>
                <a:ea typeface="Arial"/>
                <a:cs typeface="Arial"/>
              </a:rPr>
              <a:t>Evidence</a:t>
            </a:r>
          </a:p>
        </p:txBody>
      </p:sp>
      <p:cxnSp>
        <p:nvCxnSpPr>
          <p:cNvPr id="154" name="Google Shape;98;p6"/>
          <p:cNvCxnSpPr/>
          <p:nvPr/>
        </p:nvCxnSpPr>
        <p:spPr>
          <a:xfrm xmlns:a="http://schemas.openxmlformats.org/drawingml/2006/main">
            <a:off x="6958584" y="2212848"/>
            <a:ext cx="320040" cy="0"/>
          </a:xfrm>
          <a:prstGeom xmlns:a="http://schemas.openxmlformats.org/drawingml/2006/main" prst="straightConnector1">
            <a:avLst/>
          </a:prstGeom>
          <a:ln xmlns:a="http://schemas.openxmlformats.org/drawingml/2006/main" w="12700" cap="flat">
            <a:solidFill>
              <a:srgbClr val="A8A8A8"/>
            </a:solidFill>
            <a:prstDash val="solid"/>
            <a:round/>
            <a:headEnd type="none" w="sm" len="sm"/>
            <a:tailEnd type="triangle" w="med" len="med"/>
          </a:ln>
        </p:spPr>
      </p:cxnSp>
      <p:sp>
        <p:nvSpPr>
          <p:cNvPr id="99" name="Google Shape;99;p6">
            <a:extLst xmlns:a="http://schemas.openxmlformats.org/drawingml/2006/main">
              <a:ext uri="{FF2B5EF4-FFF2-40B4-BE49-F238E27FC236}">
                <a16:creationId xmlns:a16="http://schemas.microsoft.com/office/drawing/2014/main" id="{F6C5BA72-64DF-46E9-8A5E-92376F7FA18A}"/>
              </a:ext>
            </a:extLst>
          </p:cNvPr>
          <p:cNvSpPr>
            <a:spLocks xmlns:a="http://schemas.openxmlformats.org/drawingml/2006/main" noGrp="1"/>
          </p:cNvSpPr>
          <p:nvPr/>
        </p:nvSpPr>
        <p:spPr>
          <a:xfrm xmlns:a="http://schemas.openxmlformats.org/drawingml/2006/main">
            <a:off x="7296912" y="1874520"/>
            <a:ext cx="1325880" cy="685800"/>
          </a:xfrm>
          <a:prstGeom xmlns:a="http://schemas.openxmlformats.org/drawingml/2006/main" prst="rect">
            <a:avLst/>
          </a:prstGeom>
          <a:solidFill xmlns:a="http://schemas.openxmlformats.org/drawingml/2006/main">
            <a:srgbClr val="111113"/>
          </a:solidFill>
          <a:ln xmlns:a="http://schemas.openxmlformats.org/drawingml/2006/main" w="12700" cmpd="sng">
            <a:solidFill>
              <a:srgbClr val="5A5A5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00" name="Google Shape;100;p6">
            <a:extLst xmlns:a="http://schemas.openxmlformats.org/drawingml/2006/main">
              <a:ext uri="{FF2B5EF4-FFF2-40B4-BE49-F238E27FC236}">
                <a16:creationId xmlns:a16="http://schemas.microsoft.com/office/drawing/2014/main" id="{989E11BD-DA10-42A1-9D90-E4E799A866FC}"/>
              </a:ext>
            </a:extLst>
          </p:cNvPr>
          <p:cNvSpPr>
            <a:spLocks xmlns:a="http://schemas.openxmlformats.org/drawingml/2006/main" noGrp="1"/>
          </p:cNvSpPr>
          <p:nvPr/>
        </p:nvSpPr>
        <p:spPr>
          <a:xfrm xmlns:a="http://schemas.openxmlformats.org/drawingml/2006/main">
            <a:off x="7342632" y="2039112"/>
            <a:ext cx="12344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4F4F4"/>
              </a:buClr>
              <a:buSzPts val="1300"/>
              <a:buFont typeface="Arial"/>
              <a:buNone/>
            </a:pPr>
            <a:r>
              <a:rPr sz="1300" b="1" i="0" u="none" cap="none">
                <a:solidFill>
                  <a:srgbClr val="F4F4F4"/>
                </a:solidFill>
                <a:latin typeface="Arial"/>
                <a:ea typeface="Arial"/>
                <a:cs typeface="Arial"/>
              </a:rPr>
              <a:t>Conclusion</a:t>
            </a:r>
          </a:p>
        </p:txBody>
      </p:sp>
      <p:cxnSp>
        <p:nvCxnSpPr>
          <p:cNvPr id="157" name="Google Shape;101;p6"/>
          <p:cNvCxnSpPr/>
          <p:nvPr/>
        </p:nvCxnSpPr>
        <p:spPr>
          <a:xfrm xmlns:a="http://schemas.openxmlformats.org/drawingml/2006/main">
            <a:off x="8622792" y="2212848"/>
            <a:ext cx="320040" cy="0"/>
          </a:xfrm>
          <a:prstGeom xmlns:a="http://schemas.openxmlformats.org/drawingml/2006/main" prst="straightConnector1">
            <a:avLst/>
          </a:prstGeom>
          <a:ln xmlns:a="http://schemas.openxmlformats.org/drawingml/2006/main" w="12700" cap="flat">
            <a:solidFill>
              <a:srgbClr val="A8A8A8"/>
            </a:solidFill>
            <a:prstDash val="solid"/>
            <a:round/>
            <a:headEnd type="none" w="sm" len="sm"/>
            <a:tailEnd type="triangle" w="med" len="med"/>
          </a:ln>
        </p:spPr>
      </p:cxnSp>
      <p:sp>
        <p:nvSpPr>
          <p:cNvPr id="102" name="Google Shape;102;p6">
            <a:extLst xmlns:a="http://schemas.openxmlformats.org/drawingml/2006/main">
              <a:ext uri="{FF2B5EF4-FFF2-40B4-BE49-F238E27FC236}">
                <a16:creationId xmlns:a16="http://schemas.microsoft.com/office/drawing/2014/main" id="{62802B8E-7118-4F09-8D0D-E63B846FCCED}"/>
              </a:ext>
            </a:extLst>
          </p:cNvPr>
          <p:cNvSpPr>
            <a:spLocks xmlns:a="http://schemas.openxmlformats.org/drawingml/2006/main" noGrp="1"/>
          </p:cNvSpPr>
          <p:nvPr/>
        </p:nvSpPr>
        <p:spPr>
          <a:xfrm xmlns:a="http://schemas.openxmlformats.org/drawingml/2006/main">
            <a:off x="8961120" y="1874520"/>
            <a:ext cx="1325880" cy="685800"/>
          </a:xfrm>
          <a:prstGeom xmlns:a="http://schemas.openxmlformats.org/drawingml/2006/main" prst="rect">
            <a:avLst/>
          </a:prstGeom>
          <a:solidFill xmlns:a="http://schemas.openxmlformats.org/drawingml/2006/main">
            <a:srgbClr val="111113"/>
          </a:solidFill>
          <a:ln xmlns:a="http://schemas.openxmlformats.org/drawingml/2006/main" w="12700" cmpd="sng">
            <a:solidFill>
              <a:srgbClr val="5A5A5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03" name="Google Shape;103;p6">
            <a:extLst xmlns:a="http://schemas.openxmlformats.org/drawingml/2006/main">
              <a:ext uri="{FF2B5EF4-FFF2-40B4-BE49-F238E27FC236}">
                <a16:creationId xmlns:a16="http://schemas.microsoft.com/office/drawing/2014/main" id="{7E3BDDE6-8E3D-4B44-9090-05CC8B79DA29}"/>
              </a:ext>
            </a:extLst>
          </p:cNvPr>
          <p:cNvSpPr>
            <a:spLocks xmlns:a="http://schemas.openxmlformats.org/drawingml/2006/main" noGrp="1"/>
          </p:cNvSpPr>
          <p:nvPr/>
        </p:nvSpPr>
        <p:spPr>
          <a:xfrm xmlns:a="http://schemas.openxmlformats.org/drawingml/2006/main">
            <a:off x="9006840" y="2039112"/>
            <a:ext cx="12344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4F4F4"/>
              </a:buClr>
              <a:buSzPts val="1300"/>
              <a:buFont typeface="Arial"/>
              <a:buNone/>
            </a:pPr>
            <a:r>
              <a:rPr sz="1300" b="1" i="0" u="none" cap="none">
                <a:solidFill>
                  <a:srgbClr val="F4F4F4"/>
                </a:solidFill>
                <a:latin typeface="Arial"/>
                <a:ea typeface="Arial"/>
                <a:cs typeface="Arial"/>
              </a:rPr>
              <a:t>Limitation</a:t>
            </a:r>
          </a:p>
        </p:txBody>
      </p:sp>
      <p:cxnSp>
        <p:nvCxnSpPr>
          <p:cNvPr id="160" name="Google Shape;104;p6"/>
          <p:cNvCxnSpPr/>
          <p:nvPr/>
        </p:nvCxnSpPr>
        <p:spPr>
          <a:xfrm xmlns:a="http://schemas.openxmlformats.org/drawingml/2006/main">
            <a:off x="10287000" y="2212848"/>
            <a:ext cx="320040" cy="0"/>
          </a:xfrm>
          <a:prstGeom xmlns:a="http://schemas.openxmlformats.org/drawingml/2006/main" prst="straightConnector1">
            <a:avLst/>
          </a:prstGeom>
          <a:ln xmlns:a="http://schemas.openxmlformats.org/drawingml/2006/main" w="12700" cap="flat">
            <a:solidFill>
              <a:srgbClr val="A8A8A8"/>
            </a:solidFill>
            <a:prstDash val="solid"/>
            <a:round/>
            <a:headEnd type="none" w="sm" len="sm"/>
            <a:tailEnd type="triangle" w="med" len="med"/>
          </a:ln>
        </p:spPr>
      </p:cxnSp>
      <p:sp>
        <p:nvSpPr>
          <p:cNvPr id="105" name="Google Shape;105;p6">
            <a:extLst xmlns:a="http://schemas.openxmlformats.org/drawingml/2006/main">
              <a:ext uri="{FF2B5EF4-FFF2-40B4-BE49-F238E27FC236}">
                <a16:creationId xmlns:a16="http://schemas.microsoft.com/office/drawing/2014/main" id="{9C03BC74-81B9-45F3-90A1-3A308B58052C}"/>
              </a:ext>
            </a:extLst>
          </p:cNvPr>
          <p:cNvSpPr>
            <a:spLocks xmlns:a="http://schemas.openxmlformats.org/drawingml/2006/main" noGrp="1"/>
          </p:cNvSpPr>
          <p:nvPr/>
        </p:nvSpPr>
        <p:spPr>
          <a:xfrm xmlns:a="http://schemas.openxmlformats.org/drawingml/2006/main">
            <a:off x="10625328" y="1874520"/>
            <a:ext cx="1325880" cy="685800"/>
          </a:xfrm>
          <a:prstGeom xmlns:a="http://schemas.openxmlformats.org/drawingml/2006/main" prst="rect">
            <a:avLst/>
          </a:prstGeom>
          <a:solidFill xmlns:a="http://schemas.openxmlformats.org/drawingml/2006/main">
            <a:srgbClr val="111113"/>
          </a:solidFill>
          <a:ln xmlns:a="http://schemas.openxmlformats.org/drawingml/2006/main" w="12700" cmpd="sng">
            <a:solidFill>
              <a:srgbClr val="5A5A5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06" name="Google Shape;106;p6">
            <a:extLst xmlns:a="http://schemas.openxmlformats.org/drawingml/2006/main">
              <a:ext uri="{FF2B5EF4-FFF2-40B4-BE49-F238E27FC236}">
                <a16:creationId xmlns:a16="http://schemas.microsoft.com/office/drawing/2014/main" id="{C8D0F4BF-8B26-46C3-A034-C4AF142950CB}"/>
              </a:ext>
            </a:extLst>
          </p:cNvPr>
          <p:cNvSpPr>
            <a:spLocks xmlns:a="http://schemas.openxmlformats.org/drawingml/2006/main" noGrp="1"/>
          </p:cNvSpPr>
          <p:nvPr/>
        </p:nvSpPr>
        <p:spPr>
          <a:xfrm xmlns:a="http://schemas.openxmlformats.org/drawingml/2006/main">
            <a:off x="10671048" y="2039112"/>
            <a:ext cx="12344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4F4F4"/>
              </a:buClr>
              <a:buSzPts val="1300"/>
              <a:buFont typeface="Arial"/>
              <a:buNone/>
            </a:pPr>
            <a:r>
              <a:rPr sz="1300" b="1" i="0" u="none" cap="none">
                <a:solidFill>
                  <a:srgbClr val="F4F4F4"/>
                </a:solidFill>
                <a:latin typeface="Arial"/>
                <a:ea typeface="Arial"/>
                <a:cs typeface="Arial"/>
              </a:rPr>
              <a:t>Future Work</a:t>
            </a:r>
          </a:p>
        </p:txBody>
      </p:sp>
      <p:sp>
        <p:nvSpPr>
          <p:cNvPr id="107" name="Google Shape;107;p6">
            <a:extLst xmlns:a="http://schemas.openxmlformats.org/drawingml/2006/main">
              <a:ext uri="{FF2B5EF4-FFF2-40B4-BE49-F238E27FC236}">
                <a16:creationId xmlns:a16="http://schemas.microsoft.com/office/drawing/2014/main" id="{9023CD5A-30ED-4F01-929A-F8A16B12E27B}"/>
              </a:ext>
            </a:extLst>
          </p:cNvPr>
          <p:cNvSpPr>
            <a:spLocks xmlns:a="http://schemas.openxmlformats.org/drawingml/2006/main" noGrp="1"/>
          </p:cNvSpPr>
          <p:nvPr/>
        </p:nvSpPr>
        <p:spPr>
          <a:xfrm xmlns:a="http://schemas.openxmlformats.org/drawingml/2006/main">
            <a:off x="1097280" y="3154680"/>
            <a:ext cx="987552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500" tIns="500" rIns="500" bIns="500" anchor="t">
            <a:noAutofit/>
          </a:bodyPr>
          <a:lstStyle xmlns:a="http://schemas.openxmlformats.org/drawingml/2006/main"/>
          <a:p xmlns:a="http://schemas.openxmlformats.org/drawingml/2006/main">
            <a:pPr marL="0" marR="0" indent="0" algn="l">
              <a:spcBef>
                <a:spcPts val="0"/>
              </a:spcBef>
              <a:spcAft>
                <a:spcPts val="0"/>
              </a:spcAft>
              <a:buClr>
                <a:srgbClr val="F4F4F4"/>
              </a:buClr>
              <a:buSzPts val="2400"/>
              <a:buFont typeface="Arial"/>
              <a:buNone/>
            </a:pPr>
            <a:r>
              <a:rPr sz="2400" b="1" i="0" u="none" cap="none">
                <a:solidFill>
                  <a:srgbClr val="F4F4F4"/>
                </a:solidFill>
                <a:latin typeface="Arial"/>
                <a:ea typeface="Arial"/>
                <a:cs typeface="Arial"/>
              </a:rPr>
              <a:t>Audience confusion usually happens when one link in the story spine is missing or out of order.</a:t>
            </a:r>
          </a:p>
        </p:txBody>
      </p:sp>
      <p:sp>
        <p:nvSpPr>
          <p:cNvPr id="108" name="Google Shape;108;p6">
            <a:extLst xmlns:a="http://schemas.openxmlformats.org/drawingml/2006/main">
              <a:ext uri="{FF2B5EF4-FFF2-40B4-BE49-F238E27FC236}">
                <a16:creationId xmlns:a16="http://schemas.microsoft.com/office/drawing/2014/main" id="{29820442-F0DD-4607-AFAF-2955EAA26DF8}"/>
              </a:ext>
            </a:extLst>
          </p:cNvPr>
          <p:cNvSpPr>
            <a:spLocks xmlns:a="http://schemas.openxmlformats.org/drawingml/2006/main" noGrp="1"/>
          </p:cNvSpPr>
          <p:nvPr/>
        </p:nvSpPr>
        <p:spPr>
          <a:xfrm xmlns:a="http://schemas.openxmlformats.org/drawingml/2006/main">
            <a:off x="1417320" y="3886200"/>
            <a:ext cx="914400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500" tIns="500" rIns="500" bIns="500" anchor="t">
            <a:noAutofit/>
          </a:bodyPr>
          <a:lstStyle xmlns:a="http://schemas.openxmlformats.org/drawingml/2006/main"/>
          <a:p xmlns:a="http://schemas.openxmlformats.org/drawingml/2006/main">
            <a:pPr marL="0" marR="0" indent="0" algn="l">
              <a:spcBef>
                <a:spcPts val="0"/>
              </a:spcBef>
              <a:spcAft>
                <a:spcPts val="0"/>
              </a:spcAft>
              <a:buClr>
                <a:srgbClr val="A8A8A8"/>
              </a:buClr>
              <a:buSzPts val="2000"/>
              <a:buFont typeface="Arial"/>
              <a:buNone/>
            </a:pPr>
            <a:r>
              <a:rPr sz="2000" b="0" i="0" u="none" cap="none">
                <a:solidFill>
                  <a:srgbClr val="A8A8A8"/>
                </a:solidFill>
                <a:latin typeface="Arial"/>
                <a:ea typeface="Arial"/>
                <a:cs typeface="Arial"/>
              </a:rPr>
              <a:t>A presentation does not need every detail from the project. It needs a complete path through the evidence.</a:t>
            </a:r>
          </a:p>
        </p:txBody>
      </p:sp>
    </p:spTree>
    <p:extLst>
      <p:ext uri="{BB962C8B-B14F-4D97-AF65-F5344CB8AC3E}">
        <p14:creationId xmlns:p14="http://schemas.microsoft.com/office/powerpoint/2010/main" val="1188303766"/>
      </p:ext>
    </p:extLst>
  </p:cSld>
</p:sld>
</file>

<file path=ppt/slides/slide5.xml><?xml version="1.0" encoding="utf-8"?>
<p:sld xmlns:p="http://schemas.openxmlformats.org/presentationml/2006/main">
  <p:cSld>
    <p:bg>
      <p:bgPr>
        <a:solidFill xmlns:a="http://schemas.openxmlformats.org/drawingml/2006/main">
          <a:srgbClr val="0B0B0D"/>
        </a:solidFill>
      </p:bgPr>
    </p:bg>
    <p:spTree>
      <p:nvGrpSpPr>
        <p:cNvPr id="1" name=""/>
        <p:cNvGrpSpPr/>
        <p:nvPr/>
      </p:nvGrpSpPr>
      <p:grpSpPr>
        <a:xfrm xmlns:a="http://schemas.openxmlformats.org/drawingml/2006/main"/>
      </p:grpSpPr>
      <p:sp>
        <p:nvSpPr>
          <p:cNvPr id="114" name="Google Shape;114;p7">
            <a:extLst xmlns:a="http://schemas.openxmlformats.org/drawingml/2006/main">
              <a:ext uri="{FF2B5EF4-FFF2-40B4-BE49-F238E27FC236}">
                <a16:creationId xmlns:a16="http://schemas.microsoft.com/office/drawing/2014/main" id="{CFE70CD3-05C8-4A77-9649-5E9D081220AF}"/>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D"/>
          </a:solidFill>
          <a:ln xmlns:a="http://schemas.openxmlformats.org/drawingml/2006/main" w="12700" cmpd="sng">
            <a:solidFill>
              <a:srgbClr val="0B0B0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15" name="Google Shape;115;p7">
            <a:extLst xmlns:a="http://schemas.openxmlformats.org/drawingml/2006/main">
              <a:ext uri="{FF2B5EF4-FFF2-40B4-BE49-F238E27FC236}">
                <a16:creationId xmlns:a16="http://schemas.microsoft.com/office/drawing/2014/main" id="{DBA92594-3A44-481B-976B-CD1011FA8358}"/>
              </a:ext>
            </a:extLst>
          </p:cNvPr>
          <p:cNvSpPr>
            <a:spLocks xmlns:a="http://schemas.openxmlformats.org/drawingml/2006/main" noGrp="1"/>
          </p:cNvSpPr>
          <p:nvPr/>
        </p:nvSpPr>
        <p:spPr>
          <a:xfrm xmlns:a="http://schemas.openxmlformats.org/drawingml/2006/main">
            <a:off x="0" y="109728"/>
            <a:ext cx="12191695" cy="64008"/>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16" name="Google Shape;116;p7">
            <a:extLst xmlns:a="http://schemas.openxmlformats.org/drawingml/2006/main">
              <a:ext uri="{FF2B5EF4-FFF2-40B4-BE49-F238E27FC236}">
                <a16:creationId xmlns:a16="http://schemas.microsoft.com/office/drawing/2014/main" id="{BADE9598-8BAC-4FB8-BB19-680193BEB8BC}"/>
              </a:ext>
            </a:extLst>
          </p:cNvPr>
          <p:cNvSpPr>
            <a:spLocks xmlns:a="http://schemas.openxmlformats.org/drawingml/2006/main" noGrp="1"/>
          </p:cNvSpPr>
          <p:nvPr/>
        </p:nvSpPr>
        <p:spPr>
          <a:xfrm xmlns:a="http://schemas.openxmlformats.org/drawingml/2006/main">
            <a:off x="0" y="6675120"/>
            <a:ext cx="12191695" cy="64008"/>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17" name="Google Shape;117;p7">
            <a:extLst xmlns:a="http://schemas.openxmlformats.org/drawingml/2006/main">
              <a:ext uri="{FF2B5EF4-FFF2-40B4-BE49-F238E27FC236}">
                <a16:creationId xmlns:a16="http://schemas.microsoft.com/office/drawing/2014/main" id="{227D4837-1C28-4C92-89A3-18FF7FE78E54}"/>
              </a:ext>
            </a:extLst>
          </p:cNvPr>
          <p:cNvSpPr>
            <a:spLocks xmlns:a="http://schemas.openxmlformats.org/drawingml/2006/main" noGrp="1"/>
          </p:cNvSpPr>
          <p:nvPr/>
        </p:nvSpPr>
        <p:spPr>
          <a:xfrm xmlns:a="http://schemas.openxmlformats.org/drawingml/2006/main">
            <a:off x="384048" y="6364224"/>
            <a:ext cx="29260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A8A8A8"/>
              </a:buClr>
              <a:buSzPts val="950"/>
              <a:buFont typeface="Arial"/>
              <a:buNone/>
            </a:pPr>
            <a:r>
              <a:rPr sz="950" b="1" i="0" u="none" cap="none">
                <a:solidFill>
                  <a:srgbClr val="A8A8A8"/>
                </a:solidFill>
                <a:latin typeface="Arial"/>
                <a:ea typeface="Arial"/>
                <a:cs typeface="Arial"/>
              </a:rPr>
              <a:t>ORAL PRESENTATION</a:t>
            </a:r>
          </a:p>
        </p:txBody>
      </p:sp>
      <p:sp>
        <p:nvSpPr>
          <p:cNvPr id="118" name="Google Shape;118;p7">
            <a:extLst xmlns:a="http://schemas.openxmlformats.org/drawingml/2006/main">
              <a:ext uri="{FF2B5EF4-FFF2-40B4-BE49-F238E27FC236}">
                <a16:creationId xmlns:a16="http://schemas.microsoft.com/office/drawing/2014/main" id="{DC2B0353-18D9-4952-83F4-91728D939DED}"/>
              </a:ext>
            </a:extLst>
          </p:cNvPr>
          <p:cNvSpPr>
            <a:spLocks xmlns:a="http://schemas.openxmlformats.org/drawingml/2006/main" noGrp="1"/>
          </p:cNvSpPr>
          <p:nvPr/>
        </p:nvSpPr>
        <p:spPr>
          <a:xfrm xmlns:a="http://schemas.openxmlformats.org/drawingml/2006/main">
            <a:off x="10405872" y="6364224"/>
            <a:ext cx="1325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A8A8A8"/>
              </a:buClr>
              <a:buSzPts val="950"/>
              <a:buFont typeface="Arial"/>
              <a:buNone/>
            </a:pPr>
            <a:r>
              <a:rPr sz="950" b="1" i="0" u="none" cap="none">
                <a:solidFill>
                  <a:srgbClr val="A8A8A8"/>
                </a:solidFill>
                <a:latin typeface="Arial"/>
                <a:ea typeface="Arial"/>
                <a:cs typeface="Arial"/>
              </a:rPr>
              <a:t>DECK 17</a:t>
            </a:r>
          </a:p>
        </p:txBody>
      </p:sp>
      <p:sp>
        <p:nvSpPr>
          <p:cNvPr id="119" name="Google Shape;119;p7">
            <a:extLst xmlns:a="http://schemas.openxmlformats.org/drawingml/2006/main">
              <a:ext uri="{FF2B5EF4-FFF2-40B4-BE49-F238E27FC236}">
                <a16:creationId xmlns:a16="http://schemas.microsoft.com/office/drawing/2014/main" id="{2DF103F0-A14C-4CE3-AC20-443378E180EE}"/>
              </a:ext>
            </a:extLst>
          </p:cNvPr>
          <p:cNvSpPr>
            <a:spLocks xmlns:a="http://schemas.openxmlformats.org/drawingml/2006/main" noGrp="1"/>
          </p:cNvSpPr>
          <p:nvPr/>
        </p:nvSpPr>
        <p:spPr>
          <a:xfrm xmlns:a="http://schemas.openxmlformats.org/drawingml/2006/main">
            <a:off x="502920" y="502920"/>
            <a:ext cx="110642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4F4F4"/>
              </a:buClr>
              <a:buSzPts val="3000"/>
              <a:buFont typeface="Play"/>
              <a:buNone/>
            </a:pPr>
            <a:r>
              <a:rPr sz="3000" b="1" i="0" u="none" cap="none">
                <a:solidFill>
                  <a:srgbClr val="F4F4F4"/>
                </a:solidFill>
                <a:latin typeface="Play"/>
                <a:ea typeface="Play"/>
                <a:cs typeface="Play"/>
              </a:rPr>
              <a:t>Speak as the Researcher</a:t>
            </a:r>
          </a:p>
        </p:txBody>
      </p:sp>
      <p:sp>
        <p:nvSpPr>
          <p:cNvPr id="120" name="Google Shape;120;p7">
            <a:extLst xmlns:a="http://schemas.openxmlformats.org/drawingml/2006/main">
              <a:ext uri="{FF2B5EF4-FFF2-40B4-BE49-F238E27FC236}">
                <a16:creationId xmlns:a16="http://schemas.microsoft.com/office/drawing/2014/main" id="{F31171EA-684F-401D-A1B8-7D2454D9112D}"/>
              </a:ext>
            </a:extLst>
          </p:cNvPr>
          <p:cNvSpPr>
            <a:spLocks xmlns:a="http://schemas.openxmlformats.org/drawingml/2006/main" noGrp="1"/>
          </p:cNvSpPr>
          <p:nvPr/>
        </p:nvSpPr>
        <p:spPr>
          <a:xfrm xmlns:a="http://schemas.openxmlformats.org/drawingml/2006/main">
            <a:off x="502920" y="1143000"/>
            <a:ext cx="914400" cy="54864"/>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21" name="Google Shape;121;p7">
            <a:extLst xmlns:a="http://schemas.openxmlformats.org/drawingml/2006/main">
              <a:ext uri="{FF2B5EF4-FFF2-40B4-BE49-F238E27FC236}">
                <a16:creationId xmlns:a16="http://schemas.microsoft.com/office/drawing/2014/main" id="{85666CDD-EA20-4102-95E8-17CE83740EE8}"/>
              </a:ext>
            </a:extLst>
          </p:cNvPr>
          <p:cNvSpPr>
            <a:spLocks xmlns:a="http://schemas.openxmlformats.org/drawingml/2006/main" noGrp="1"/>
          </p:cNvSpPr>
          <p:nvPr/>
        </p:nvSpPr>
        <p:spPr>
          <a:xfrm xmlns:a="http://schemas.openxmlformats.org/drawingml/2006/main">
            <a:off x="1600200" y="1024128"/>
            <a:ext cx="987552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A8A8A8"/>
              </a:buClr>
              <a:buSzPts val="1300"/>
              <a:buFont typeface="Arial"/>
              <a:buNone/>
            </a:pPr>
            <a:r>
              <a:rPr sz="1300" b="0" i="0" u="none" cap="none">
                <a:solidFill>
                  <a:srgbClr val="A8A8A8"/>
                </a:solidFill>
                <a:latin typeface="Arial"/>
                <a:ea typeface="Arial"/>
                <a:cs typeface="Arial"/>
              </a:rPr>
              <a:t>The audience needs your thinking, not your memorized paragraphs.</a:t>
            </a:r>
          </a:p>
        </p:txBody>
      </p:sp>
      <p:sp>
        <p:nvSpPr>
          <p:cNvPr id="122" name="Google Shape;122;p7">
            <a:extLst xmlns:a="http://schemas.openxmlformats.org/drawingml/2006/main">
              <a:ext uri="{FF2B5EF4-FFF2-40B4-BE49-F238E27FC236}">
                <a16:creationId xmlns:a16="http://schemas.microsoft.com/office/drawing/2014/main" id="{FDAB4DF1-BC44-4D94-B51A-7608D867CECD}"/>
              </a:ext>
            </a:extLst>
          </p:cNvPr>
          <p:cNvSpPr>
            <a:spLocks xmlns:a="http://schemas.openxmlformats.org/drawingml/2006/main" noGrp="1"/>
          </p:cNvSpPr>
          <p:nvPr/>
        </p:nvSpPr>
        <p:spPr>
          <a:xfrm xmlns:a="http://schemas.openxmlformats.org/drawingml/2006/main">
            <a:off x="685800" y="1600200"/>
            <a:ext cx="5166360" cy="3794760"/>
          </a:xfrm>
          <a:prstGeom xmlns:a="http://schemas.openxmlformats.org/drawingml/2006/main" prst="rect">
            <a:avLst/>
          </a:prstGeom>
          <a:solidFill xmlns:a="http://schemas.openxmlformats.org/drawingml/2006/main">
            <a:srgbClr val="111113"/>
          </a:solidFill>
          <a:ln xmlns:a="http://schemas.openxmlformats.org/drawingml/2006/main" w="12700" cmpd="sng">
            <a:solidFill>
              <a:srgbClr val="5A5A5A">
                <a:alpha val="8000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23" name="Google Shape;123;p7">
            <a:extLst xmlns:a="http://schemas.openxmlformats.org/drawingml/2006/main">
              <a:ext uri="{FF2B5EF4-FFF2-40B4-BE49-F238E27FC236}">
                <a16:creationId xmlns:a16="http://schemas.microsoft.com/office/drawing/2014/main" id="{3A3E8C20-AB2E-456E-94C5-B479E3E462C3}"/>
              </a:ext>
            </a:extLst>
          </p:cNvPr>
          <p:cNvSpPr>
            <a:spLocks xmlns:a="http://schemas.openxmlformats.org/drawingml/2006/main" noGrp="1"/>
          </p:cNvSpPr>
          <p:nvPr/>
        </p:nvSpPr>
        <p:spPr>
          <a:xfrm xmlns:a="http://schemas.openxmlformats.org/drawingml/2006/main">
            <a:off x="685800" y="1600200"/>
            <a:ext cx="64008" cy="3794760"/>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24" name="Google Shape;124;p7">
            <a:extLst xmlns:a="http://schemas.openxmlformats.org/drawingml/2006/main">
              <a:ext uri="{FF2B5EF4-FFF2-40B4-BE49-F238E27FC236}">
                <a16:creationId xmlns:a16="http://schemas.microsoft.com/office/drawing/2014/main" id="{E71FBF34-CE6C-441C-8D22-E90F0FFAC785}"/>
              </a:ext>
            </a:extLst>
          </p:cNvPr>
          <p:cNvSpPr>
            <a:spLocks xmlns:a="http://schemas.openxmlformats.org/drawingml/2006/main" noGrp="1"/>
          </p:cNvSpPr>
          <p:nvPr/>
        </p:nvSpPr>
        <p:spPr>
          <a:xfrm xmlns:a="http://schemas.openxmlformats.org/drawingml/2006/main">
            <a:off x="886968" y="1737360"/>
            <a:ext cx="484632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3342F"/>
              </a:buClr>
              <a:buSzPts val="1100"/>
              <a:buFont typeface="Arial"/>
              <a:buNone/>
            </a:pPr>
            <a:r>
              <a:rPr sz="1100" b="1" i="0" u="none" cap="none">
                <a:solidFill>
                  <a:srgbClr val="E3342F"/>
                </a:solidFill>
                <a:latin typeface="Arial"/>
                <a:ea typeface="Arial"/>
                <a:cs typeface="Arial"/>
              </a:rPr>
              <a:t>LESS EFFECTIVE</a:t>
            </a:r>
          </a:p>
        </p:txBody>
      </p:sp>
      <p:sp>
        <p:nvSpPr>
          <p:cNvPr id="125" name="Google Shape;125;p7">
            <a:extLst xmlns:a="http://schemas.openxmlformats.org/drawingml/2006/main">
              <a:ext uri="{FF2B5EF4-FFF2-40B4-BE49-F238E27FC236}">
                <a16:creationId xmlns:a16="http://schemas.microsoft.com/office/drawing/2014/main" id="{A3E9EDC2-3149-4DF9-A3B9-972CA8608B74}"/>
              </a:ext>
            </a:extLst>
          </p:cNvPr>
          <p:cNvSpPr>
            <a:spLocks xmlns:a="http://schemas.openxmlformats.org/drawingml/2006/main" noGrp="1"/>
          </p:cNvSpPr>
          <p:nvPr/>
        </p:nvSpPr>
        <p:spPr>
          <a:xfrm xmlns:a="http://schemas.openxmlformats.org/drawingml/2006/main">
            <a:off x="886968" y="2057400"/>
            <a:ext cx="4846320" cy="32278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“My introduction says... then my methods say... then this graph is here...”</a:t>
            </a:r>
          </a:p>
          <a:p xmlns:a="http://schemas.openxmlformats.org/drawingml/2006/main">
            <a:pPr marL="0" marR="0" indent="0" algn="l">
              <a:spcBef>
                <a:spcPts val="0"/>
              </a:spcBef>
              <a:spcAft>
                <a:spcPts val="0"/>
              </a:spcAft>
              <a:buClr>
                <a:schemeClr val="dk1"/>
              </a:buClr>
              <a:buSzPts val="1600"/>
              <a:buFont typeface="Arial"/>
              <a:buNone/>
            </a:pPr>
            <a:r>
              <a:t/>
            </a:r>
          </a:p>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The audience hears sections, not reasoning.</a:t>
            </a:r>
          </a:p>
        </p:txBody>
      </p:sp>
      <p:sp>
        <p:nvSpPr>
          <p:cNvPr id="126" name="Google Shape;126;p7">
            <a:extLst xmlns:a="http://schemas.openxmlformats.org/drawingml/2006/main">
              <a:ext uri="{FF2B5EF4-FFF2-40B4-BE49-F238E27FC236}">
                <a16:creationId xmlns:a16="http://schemas.microsoft.com/office/drawing/2014/main" id="{81313236-858C-4E9E-A762-354D80D15836}"/>
              </a:ext>
            </a:extLst>
          </p:cNvPr>
          <p:cNvSpPr>
            <a:spLocks xmlns:a="http://schemas.openxmlformats.org/drawingml/2006/main" noGrp="1"/>
          </p:cNvSpPr>
          <p:nvPr/>
        </p:nvSpPr>
        <p:spPr>
          <a:xfrm xmlns:a="http://schemas.openxmlformats.org/drawingml/2006/main">
            <a:off x="6355080" y="1600200"/>
            <a:ext cx="5166360" cy="3794760"/>
          </a:xfrm>
          <a:prstGeom xmlns:a="http://schemas.openxmlformats.org/drawingml/2006/main" prst="rect">
            <a:avLst/>
          </a:prstGeom>
          <a:solidFill xmlns:a="http://schemas.openxmlformats.org/drawingml/2006/main">
            <a:srgbClr val="111113"/>
          </a:solidFill>
          <a:ln xmlns:a="http://schemas.openxmlformats.org/drawingml/2006/main" w="12700" cmpd="sng">
            <a:solidFill>
              <a:srgbClr val="5A5A5A">
                <a:alpha val="8000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27" name="Google Shape;127;p7">
            <a:extLst xmlns:a="http://schemas.openxmlformats.org/drawingml/2006/main">
              <a:ext uri="{FF2B5EF4-FFF2-40B4-BE49-F238E27FC236}">
                <a16:creationId xmlns:a16="http://schemas.microsoft.com/office/drawing/2014/main" id="{5E783F68-D345-4E08-8E43-9E21A243C0F9}"/>
              </a:ext>
            </a:extLst>
          </p:cNvPr>
          <p:cNvSpPr>
            <a:spLocks xmlns:a="http://schemas.openxmlformats.org/drawingml/2006/main" noGrp="1"/>
          </p:cNvSpPr>
          <p:nvPr/>
        </p:nvSpPr>
        <p:spPr>
          <a:xfrm xmlns:a="http://schemas.openxmlformats.org/drawingml/2006/main">
            <a:off x="6355080" y="1600200"/>
            <a:ext cx="64008" cy="3794760"/>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28" name="Google Shape;128;p7">
            <a:extLst xmlns:a="http://schemas.openxmlformats.org/drawingml/2006/main">
              <a:ext uri="{FF2B5EF4-FFF2-40B4-BE49-F238E27FC236}">
                <a16:creationId xmlns:a16="http://schemas.microsoft.com/office/drawing/2014/main" id="{4207B4EE-413F-4685-9D81-98DE4CB8C5C8}"/>
              </a:ext>
            </a:extLst>
          </p:cNvPr>
          <p:cNvSpPr>
            <a:spLocks xmlns:a="http://schemas.openxmlformats.org/drawingml/2006/main" noGrp="1"/>
          </p:cNvSpPr>
          <p:nvPr/>
        </p:nvSpPr>
        <p:spPr>
          <a:xfrm xmlns:a="http://schemas.openxmlformats.org/drawingml/2006/main">
            <a:off x="6556248" y="1737360"/>
            <a:ext cx="484632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3342F"/>
              </a:buClr>
              <a:buSzPts val="1100"/>
              <a:buFont typeface="Arial"/>
              <a:buNone/>
            </a:pPr>
            <a:r>
              <a:rPr sz="1100" b="1" i="0" u="none" cap="none">
                <a:solidFill>
                  <a:srgbClr val="E3342F"/>
                </a:solidFill>
                <a:latin typeface="Arial"/>
                <a:ea typeface="Arial"/>
                <a:cs typeface="Arial"/>
              </a:rPr>
              <a:t>MORE EFFECTIVE</a:t>
            </a:r>
          </a:p>
        </p:txBody>
      </p:sp>
      <p:sp>
        <p:nvSpPr>
          <p:cNvPr id="129" name="Google Shape;129;p7">
            <a:extLst xmlns:a="http://schemas.openxmlformats.org/drawingml/2006/main">
              <a:ext uri="{FF2B5EF4-FFF2-40B4-BE49-F238E27FC236}">
                <a16:creationId xmlns:a16="http://schemas.microsoft.com/office/drawing/2014/main" id="{0F808077-840C-4F53-95DD-6581278722A3}"/>
              </a:ext>
            </a:extLst>
          </p:cNvPr>
          <p:cNvSpPr>
            <a:spLocks xmlns:a="http://schemas.openxmlformats.org/drawingml/2006/main" noGrp="1"/>
          </p:cNvSpPr>
          <p:nvPr/>
        </p:nvSpPr>
        <p:spPr>
          <a:xfrm xmlns:a="http://schemas.openxmlformats.org/drawingml/2006/main">
            <a:off x="6556248" y="2057400"/>
            <a:ext cx="4846320" cy="32278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“The key question was... so I tested... The most important evidence is... This suggests... but one limitation is...”</a:t>
            </a:r>
          </a:p>
          <a:p xmlns:a="http://schemas.openxmlformats.org/drawingml/2006/main">
            <a:pPr marL="0" marR="0" indent="0" algn="l">
              <a:spcBef>
                <a:spcPts val="0"/>
              </a:spcBef>
              <a:spcAft>
                <a:spcPts val="0"/>
              </a:spcAft>
              <a:buClr>
                <a:schemeClr val="dk1"/>
              </a:buClr>
              <a:buSzPts val="1600"/>
              <a:buFont typeface="Arial"/>
              <a:buNone/>
            </a:pPr>
            <a:r>
              <a:t/>
            </a:r>
          </a:p>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The audience hears a scientific argument.</a:t>
            </a:r>
          </a:p>
        </p:txBody>
      </p:sp>
    </p:spTree>
    <p:extLst>
      <p:ext uri="{BB962C8B-B14F-4D97-AF65-F5344CB8AC3E}">
        <p14:creationId xmlns:p14="http://schemas.microsoft.com/office/powerpoint/2010/main" val="1075758846"/>
      </p:ext>
    </p:extLst>
  </p:cSld>
</p:sld>
</file>

<file path=ppt/slides/slide6.xml><?xml version="1.0" encoding="utf-8"?>
<p:sld xmlns:p="http://schemas.openxmlformats.org/presentationml/2006/main">
  <p:cSld>
    <p:bg>
      <p:bgPr>
        <a:solidFill xmlns:a="http://schemas.openxmlformats.org/drawingml/2006/main">
          <a:srgbClr val="0B0B0D"/>
        </a:solidFill>
      </p:bgPr>
    </p:bg>
    <p:spTree>
      <p:nvGrpSpPr>
        <p:cNvPr id="1" name=""/>
        <p:cNvGrpSpPr/>
        <p:nvPr/>
      </p:nvGrpSpPr>
      <p:grpSpPr>
        <a:xfrm xmlns:a="http://schemas.openxmlformats.org/drawingml/2006/main"/>
      </p:grpSpPr>
      <p:sp>
        <p:nvSpPr>
          <p:cNvPr id="135" name="Google Shape;135;p8">
            <a:extLst xmlns:a="http://schemas.openxmlformats.org/drawingml/2006/main">
              <a:ext uri="{FF2B5EF4-FFF2-40B4-BE49-F238E27FC236}">
                <a16:creationId xmlns:a16="http://schemas.microsoft.com/office/drawing/2014/main" id="{83AAC3DC-FFC9-46A7-8C02-1F6376000247}"/>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D"/>
          </a:solidFill>
          <a:ln xmlns:a="http://schemas.openxmlformats.org/drawingml/2006/main" w="12700" cmpd="sng">
            <a:solidFill>
              <a:srgbClr val="0B0B0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36" name="Google Shape;136;p8">
            <a:extLst xmlns:a="http://schemas.openxmlformats.org/drawingml/2006/main">
              <a:ext uri="{FF2B5EF4-FFF2-40B4-BE49-F238E27FC236}">
                <a16:creationId xmlns:a16="http://schemas.microsoft.com/office/drawing/2014/main" id="{D9BE052D-B34E-48DE-A2A7-8B9941D24F38}"/>
              </a:ext>
            </a:extLst>
          </p:cNvPr>
          <p:cNvSpPr>
            <a:spLocks xmlns:a="http://schemas.openxmlformats.org/drawingml/2006/main" noGrp="1"/>
          </p:cNvSpPr>
          <p:nvPr/>
        </p:nvSpPr>
        <p:spPr>
          <a:xfrm xmlns:a="http://schemas.openxmlformats.org/drawingml/2006/main">
            <a:off x="0" y="109728"/>
            <a:ext cx="12191695" cy="64008"/>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37" name="Google Shape;137;p8">
            <a:extLst xmlns:a="http://schemas.openxmlformats.org/drawingml/2006/main">
              <a:ext uri="{FF2B5EF4-FFF2-40B4-BE49-F238E27FC236}">
                <a16:creationId xmlns:a16="http://schemas.microsoft.com/office/drawing/2014/main" id="{DE3EDC3E-8463-4112-8DEA-38294C6DEE81}"/>
              </a:ext>
            </a:extLst>
          </p:cNvPr>
          <p:cNvSpPr>
            <a:spLocks xmlns:a="http://schemas.openxmlformats.org/drawingml/2006/main" noGrp="1"/>
          </p:cNvSpPr>
          <p:nvPr/>
        </p:nvSpPr>
        <p:spPr>
          <a:xfrm xmlns:a="http://schemas.openxmlformats.org/drawingml/2006/main">
            <a:off x="0" y="6675120"/>
            <a:ext cx="12191695" cy="64008"/>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38" name="Google Shape;138;p8">
            <a:extLst xmlns:a="http://schemas.openxmlformats.org/drawingml/2006/main">
              <a:ext uri="{FF2B5EF4-FFF2-40B4-BE49-F238E27FC236}">
                <a16:creationId xmlns:a16="http://schemas.microsoft.com/office/drawing/2014/main" id="{C2B1AD7C-8E91-47B1-9894-2C70467E099B}"/>
              </a:ext>
            </a:extLst>
          </p:cNvPr>
          <p:cNvSpPr>
            <a:spLocks xmlns:a="http://schemas.openxmlformats.org/drawingml/2006/main" noGrp="1"/>
          </p:cNvSpPr>
          <p:nvPr/>
        </p:nvSpPr>
        <p:spPr>
          <a:xfrm xmlns:a="http://schemas.openxmlformats.org/drawingml/2006/main">
            <a:off x="384048" y="6364224"/>
            <a:ext cx="29260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A8A8A8"/>
              </a:buClr>
              <a:buSzPts val="950"/>
              <a:buFont typeface="Arial"/>
              <a:buNone/>
            </a:pPr>
            <a:r>
              <a:rPr sz="950" b="1" i="0" u="none" cap="none">
                <a:solidFill>
                  <a:srgbClr val="A8A8A8"/>
                </a:solidFill>
                <a:latin typeface="Arial"/>
                <a:ea typeface="Arial"/>
                <a:cs typeface="Arial"/>
              </a:rPr>
              <a:t>ORAL PRESENTATION</a:t>
            </a:r>
          </a:p>
        </p:txBody>
      </p:sp>
      <p:sp>
        <p:nvSpPr>
          <p:cNvPr id="139" name="Google Shape;139;p8">
            <a:extLst xmlns:a="http://schemas.openxmlformats.org/drawingml/2006/main">
              <a:ext uri="{FF2B5EF4-FFF2-40B4-BE49-F238E27FC236}">
                <a16:creationId xmlns:a16="http://schemas.microsoft.com/office/drawing/2014/main" id="{298A4353-DE09-4975-B207-451DF5099D55}"/>
              </a:ext>
            </a:extLst>
          </p:cNvPr>
          <p:cNvSpPr>
            <a:spLocks xmlns:a="http://schemas.openxmlformats.org/drawingml/2006/main" noGrp="1"/>
          </p:cNvSpPr>
          <p:nvPr/>
        </p:nvSpPr>
        <p:spPr>
          <a:xfrm xmlns:a="http://schemas.openxmlformats.org/drawingml/2006/main">
            <a:off x="10405872" y="6364224"/>
            <a:ext cx="1325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A8A8A8"/>
              </a:buClr>
              <a:buSzPts val="950"/>
              <a:buFont typeface="Arial"/>
              <a:buNone/>
            </a:pPr>
            <a:r>
              <a:rPr sz="950" b="1" i="0" u="none" cap="none">
                <a:solidFill>
                  <a:srgbClr val="A8A8A8"/>
                </a:solidFill>
                <a:latin typeface="Arial"/>
                <a:ea typeface="Arial"/>
                <a:cs typeface="Arial"/>
              </a:rPr>
              <a:t>DECK 17</a:t>
            </a:r>
          </a:p>
        </p:txBody>
      </p:sp>
      <p:sp>
        <p:nvSpPr>
          <p:cNvPr id="140" name="Google Shape;140;p8">
            <a:extLst xmlns:a="http://schemas.openxmlformats.org/drawingml/2006/main">
              <a:ext uri="{FF2B5EF4-FFF2-40B4-BE49-F238E27FC236}">
                <a16:creationId xmlns:a16="http://schemas.microsoft.com/office/drawing/2014/main" id="{0C934EF3-1322-4439-8DE0-8678D2908D5E}"/>
              </a:ext>
            </a:extLst>
          </p:cNvPr>
          <p:cNvSpPr>
            <a:spLocks xmlns:a="http://schemas.openxmlformats.org/drawingml/2006/main" noGrp="1"/>
          </p:cNvSpPr>
          <p:nvPr/>
        </p:nvSpPr>
        <p:spPr>
          <a:xfrm xmlns:a="http://schemas.openxmlformats.org/drawingml/2006/main">
            <a:off x="502920" y="502920"/>
            <a:ext cx="110642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4F4F4"/>
              </a:buClr>
              <a:buSzPts val="3000"/>
              <a:buFont typeface="Play"/>
              <a:buNone/>
            </a:pPr>
            <a:r>
              <a:rPr sz="3000" b="1" i="0" u="none" cap="none">
                <a:solidFill>
                  <a:srgbClr val="F4F4F4"/>
                </a:solidFill>
                <a:latin typeface="Play"/>
                <a:ea typeface="Play"/>
                <a:cs typeface="Play"/>
              </a:rPr>
              <a:t>Three Lengths, One Project</a:t>
            </a:r>
          </a:p>
        </p:txBody>
      </p:sp>
      <p:sp>
        <p:nvSpPr>
          <p:cNvPr id="141" name="Google Shape;141;p8">
            <a:extLst xmlns:a="http://schemas.openxmlformats.org/drawingml/2006/main">
              <a:ext uri="{FF2B5EF4-FFF2-40B4-BE49-F238E27FC236}">
                <a16:creationId xmlns:a16="http://schemas.microsoft.com/office/drawing/2014/main" id="{4BCDD58A-7179-4B3B-B1F9-B9F97767AE15}"/>
              </a:ext>
            </a:extLst>
          </p:cNvPr>
          <p:cNvSpPr>
            <a:spLocks xmlns:a="http://schemas.openxmlformats.org/drawingml/2006/main" noGrp="1"/>
          </p:cNvSpPr>
          <p:nvPr/>
        </p:nvSpPr>
        <p:spPr>
          <a:xfrm xmlns:a="http://schemas.openxmlformats.org/drawingml/2006/main">
            <a:off x="502920" y="1143000"/>
            <a:ext cx="914400" cy="54864"/>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42" name="Google Shape;142;p8">
            <a:extLst xmlns:a="http://schemas.openxmlformats.org/drawingml/2006/main">
              <a:ext uri="{FF2B5EF4-FFF2-40B4-BE49-F238E27FC236}">
                <a16:creationId xmlns:a16="http://schemas.microsoft.com/office/drawing/2014/main" id="{A452F538-4983-414F-B314-1156735C6C02}"/>
              </a:ext>
            </a:extLst>
          </p:cNvPr>
          <p:cNvSpPr>
            <a:spLocks xmlns:a="http://schemas.openxmlformats.org/drawingml/2006/main" noGrp="1"/>
          </p:cNvSpPr>
          <p:nvPr/>
        </p:nvSpPr>
        <p:spPr>
          <a:xfrm xmlns:a="http://schemas.openxmlformats.org/drawingml/2006/main">
            <a:off x="1600200" y="1024128"/>
            <a:ext cx="987552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A8A8A8"/>
              </a:buClr>
              <a:buSzPts val="1300"/>
              <a:buFont typeface="Arial"/>
              <a:buNone/>
            </a:pPr>
            <a:r>
              <a:rPr sz="1300" b="0" i="0" u="none" cap="none">
                <a:solidFill>
                  <a:srgbClr val="A8A8A8"/>
                </a:solidFill>
                <a:latin typeface="Arial"/>
                <a:ea typeface="Arial"/>
                <a:cs typeface="Arial"/>
              </a:rPr>
              <a:t>Researchers need flexible explanations.</a:t>
            </a:r>
          </a:p>
        </p:txBody>
      </p:sp>
      <p:sp>
        <p:nvSpPr>
          <p:cNvPr id="143" name="Google Shape;143;p8">
            <a:extLst xmlns:a="http://schemas.openxmlformats.org/drawingml/2006/main">
              <a:ext uri="{FF2B5EF4-FFF2-40B4-BE49-F238E27FC236}">
                <a16:creationId xmlns:a16="http://schemas.microsoft.com/office/drawing/2014/main" id="{68F121AB-60C2-4E5D-A262-E87C41BE133E}"/>
              </a:ext>
            </a:extLst>
          </p:cNvPr>
          <p:cNvSpPr>
            <a:spLocks xmlns:a="http://schemas.openxmlformats.org/drawingml/2006/main" noGrp="1"/>
          </p:cNvSpPr>
          <p:nvPr/>
        </p:nvSpPr>
        <p:spPr>
          <a:xfrm xmlns:a="http://schemas.openxmlformats.org/drawingml/2006/main">
            <a:off x="731520" y="1645920"/>
            <a:ext cx="3520440" cy="3108960"/>
          </a:xfrm>
          <a:prstGeom xmlns:a="http://schemas.openxmlformats.org/drawingml/2006/main" prst="rect">
            <a:avLst/>
          </a:prstGeom>
          <a:solidFill xmlns:a="http://schemas.openxmlformats.org/drawingml/2006/main">
            <a:srgbClr val="111113"/>
          </a:solidFill>
          <a:ln xmlns:a="http://schemas.openxmlformats.org/drawingml/2006/main" w="12700" cmpd="sng">
            <a:solidFill>
              <a:srgbClr val="5A5A5A">
                <a:alpha val="8000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44" name="Google Shape;144;p8">
            <a:extLst xmlns:a="http://schemas.openxmlformats.org/drawingml/2006/main">
              <a:ext uri="{FF2B5EF4-FFF2-40B4-BE49-F238E27FC236}">
                <a16:creationId xmlns:a16="http://schemas.microsoft.com/office/drawing/2014/main" id="{7ADE3FE8-7C6B-4964-A11F-2C90F892ED0D}"/>
              </a:ext>
            </a:extLst>
          </p:cNvPr>
          <p:cNvSpPr>
            <a:spLocks xmlns:a="http://schemas.openxmlformats.org/drawingml/2006/main" noGrp="1"/>
          </p:cNvSpPr>
          <p:nvPr/>
        </p:nvSpPr>
        <p:spPr>
          <a:xfrm xmlns:a="http://schemas.openxmlformats.org/drawingml/2006/main">
            <a:off x="731520" y="1645920"/>
            <a:ext cx="64008" cy="3108960"/>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45" name="Google Shape;145;p8">
            <a:extLst xmlns:a="http://schemas.openxmlformats.org/drawingml/2006/main">
              <a:ext uri="{FF2B5EF4-FFF2-40B4-BE49-F238E27FC236}">
                <a16:creationId xmlns:a16="http://schemas.microsoft.com/office/drawing/2014/main" id="{39912191-8B7B-4A50-B573-72594AE8E6EC}"/>
              </a:ext>
            </a:extLst>
          </p:cNvPr>
          <p:cNvSpPr>
            <a:spLocks xmlns:a="http://schemas.openxmlformats.org/drawingml/2006/main" noGrp="1"/>
          </p:cNvSpPr>
          <p:nvPr/>
        </p:nvSpPr>
        <p:spPr>
          <a:xfrm xmlns:a="http://schemas.openxmlformats.org/drawingml/2006/main">
            <a:off x="932688" y="1783080"/>
            <a:ext cx="32004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3342F"/>
              </a:buClr>
              <a:buSzPts val="1100"/>
              <a:buFont typeface="Arial"/>
              <a:buNone/>
            </a:pPr>
            <a:r>
              <a:rPr sz="1100" b="1" i="0" u="none" cap="none">
                <a:solidFill>
                  <a:srgbClr val="E3342F"/>
                </a:solidFill>
                <a:latin typeface="Arial"/>
                <a:ea typeface="Arial"/>
                <a:cs typeface="Arial"/>
              </a:rPr>
              <a:t>30 SECONDS</a:t>
            </a:r>
          </a:p>
        </p:txBody>
      </p:sp>
      <p:sp>
        <p:nvSpPr>
          <p:cNvPr id="146" name="Google Shape;146;p8">
            <a:extLst xmlns:a="http://schemas.openxmlformats.org/drawingml/2006/main">
              <a:ext uri="{FF2B5EF4-FFF2-40B4-BE49-F238E27FC236}">
                <a16:creationId xmlns:a16="http://schemas.microsoft.com/office/drawing/2014/main" id="{29BCE47C-7B95-4477-B4DE-ED236CD824D9}"/>
              </a:ext>
            </a:extLst>
          </p:cNvPr>
          <p:cNvSpPr>
            <a:spLocks xmlns:a="http://schemas.openxmlformats.org/drawingml/2006/main" noGrp="1"/>
          </p:cNvSpPr>
          <p:nvPr/>
        </p:nvSpPr>
        <p:spPr>
          <a:xfrm xmlns:a="http://schemas.openxmlformats.org/drawingml/2006/main">
            <a:off x="932688" y="2103120"/>
            <a:ext cx="3200400" cy="2542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A quick explanation for someone walking by. Focus on the problem, what you tested, and the main finding.</a:t>
            </a:r>
          </a:p>
        </p:txBody>
      </p:sp>
      <p:sp>
        <p:nvSpPr>
          <p:cNvPr id="147" name="Google Shape;147;p8">
            <a:extLst xmlns:a="http://schemas.openxmlformats.org/drawingml/2006/main">
              <a:ext uri="{FF2B5EF4-FFF2-40B4-BE49-F238E27FC236}">
                <a16:creationId xmlns:a16="http://schemas.microsoft.com/office/drawing/2014/main" id="{FF8EFCBD-9C43-4269-9115-7778BE68372C}"/>
              </a:ext>
            </a:extLst>
          </p:cNvPr>
          <p:cNvSpPr>
            <a:spLocks xmlns:a="http://schemas.openxmlformats.org/drawingml/2006/main" noGrp="1"/>
          </p:cNvSpPr>
          <p:nvPr/>
        </p:nvSpPr>
        <p:spPr>
          <a:xfrm xmlns:a="http://schemas.openxmlformats.org/drawingml/2006/main">
            <a:off x="4343400" y="1645920"/>
            <a:ext cx="3520440" cy="3108960"/>
          </a:xfrm>
          <a:prstGeom xmlns:a="http://schemas.openxmlformats.org/drawingml/2006/main" prst="rect">
            <a:avLst/>
          </a:prstGeom>
          <a:solidFill xmlns:a="http://schemas.openxmlformats.org/drawingml/2006/main">
            <a:srgbClr val="111113"/>
          </a:solidFill>
          <a:ln xmlns:a="http://schemas.openxmlformats.org/drawingml/2006/main" w="12700" cmpd="sng">
            <a:solidFill>
              <a:srgbClr val="5A5A5A">
                <a:alpha val="8000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48" name="Google Shape;148;p8">
            <a:extLst xmlns:a="http://schemas.openxmlformats.org/drawingml/2006/main">
              <a:ext uri="{FF2B5EF4-FFF2-40B4-BE49-F238E27FC236}">
                <a16:creationId xmlns:a16="http://schemas.microsoft.com/office/drawing/2014/main" id="{4F784092-4FC8-461F-AA4C-9EC0E4EFF4BF}"/>
              </a:ext>
            </a:extLst>
          </p:cNvPr>
          <p:cNvSpPr>
            <a:spLocks xmlns:a="http://schemas.openxmlformats.org/drawingml/2006/main" noGrp="1"/>
          </p:cNvSpPr>
          <p:nvPr/>
        </p:nvSpPr>
        <p:spPr>
          <a:xfrm xmlns:a="http://schemas.openxmlformats.org/drawingml/2006/main">
            <a:off x="4343400" y="1645920"/>
            <a:ext cx="64008" cy="3108960"/>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49" name="Google Shape;149;p8">
            <a:extLst xmlns:a="http://schemas.openxmlformats.org/drawingml/2006/main">
              <a:ext uri="{FF2B5EF4-FFF2-40B4-BE49-F238E27FC236}">
                <a16:creationId xmlns:a16="http://schemas.microsoft.com/office/drawing/2014/main" id="{E15CF42B-B839-49D9-8DCD-9CD5139A5CA6}"/>
              </a:ext>
            </a:extLst>
          </p:cNvPr>
          <p:cNvSpPr>
            <a:spLocks xmlns:a="http://schemas.openxmlformats.org/drawingml/2006/main" noGrp="1"/>
          </p:cNvSpPr>
          <p:nvPr/>
        </p:nvSpPr>
        <p:spPr>
          <a:xfrm xmlns:a="http://schemas.openxmlformats.org/drawingml/2006/main">
            <a:off x="4544568" y="1783080"/>
            <a:ext cx="32004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3342F"/>
              </a:buClr>
              <a:buSzPts val="1100"/>
              <a:buFont typeface="Arial"/>
              <a:buNone/>
            </a:pPr>
            <a:r>
              <a:rPr sz="1100" b="1" i="0" u="none" cap="none">
                <a:solidFill>
                  <a:srgbClr val="E3342F"/>
                </a:solidFill>
                <a:latin typeface="Arial"/>
                <a:ea typeface="Arial"/>
                <a:cs typeface="Arial"/>
              </a:rPr>
              <a:t>2 MINUTES</a:t>
            </a:r>
          </a:p>
        </p:txBody>
      </p:sp>
      <p:sp>
        <p:nvSpPr>
          <p:cNvPr id="150" name="Google Shape;150;p8">
            <a:extLst xmlns:a="http://schemas.openxmlformats.org/drawingml/2006/main">
              <a:ext uri="{FF2B5EF4-FFF2-40B4-BE49-F238E27FC236}">
                <a16:creationId xmlns:a16="http://schemas.microsoft.com/office/drawing/2014/main" id="{153A4755-71C6-4566-84BD-CE57E593E82E}"/>
              </a:ext>
            </a:extLst>
          </p:cNvPr>
          <p:cNvSpPr>
            <a:spLocks xmlns:a="http://schemas.openxmlformats.org/drawingml/2006/main" noGrp="1"/>
          </p:cNvSpPr>
          <p:nvPr/>
        </p:nvSpPr>
        <p:spPr>
          <a:xfrm xmlns:a="http://schemas.openxmlformats.org/drawingml/2006/main">
            <a:off x="4544568" y="2103120"/>
            <a:ext cx="3200400" cy="2542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A poster-session version. Include question, method overview, key evidence, and conclusion.</a:t>
            </a:r>
          </a:p>
        </p:txBody>
      </p:sp>
      <p:sp>
        <p:nvSpPr>
          <p:cNvPr id="151" name="Google Shape;151;p8">
            <a:extLst xmlns:a="http://schemas.openxmlformats.org/drawingml/2006/main">
              <a:ext uri="{FF2B5EF4-FFF2-40B4-BE49-F238E27FC236}">
                <a16:creationId xmlns:a16="http://schemas.microsoft.com/office/drawing/2014/main" id="{C3266036-5FAB-4E72-8433-3A871FAED8D1}"/>
              </a:ext>
            </a:extLst>
          </p:cNvPr>
          <p:cNvSpPr>
            <a:spLocks xmlns:a="http://schemas.openxmlformats.org/drawingml/2006/main" noGrp="1"/>
          </p:cNvSpPr>
          <p:nvPr/>
        </p:nvSpPr>
        <p:spPr>
          <a:xfrm xmlns:a="http://schemas.openxmlformats.org/drawingml/2006/main">
            <a:off x="7955280" y="1645920"/>
            <a:ext cx="3520440" cy="3108960"/>
          </a:xfrm>
          <a:prstGeom xmlns:a="http://schemas.openxmlformats.org/drawingml/2006/main" prst="rect">
            <a:avLst/>
          </a:prstGeom>
          <a:solidFill xmlns:a="http://schemas.openxmlformats.org/drawingml/2006/main">
            <a:srgbClr val="111113"/>
          </a:solidFill>
          <a:ln xmlns:a="http://schemas.openxmlformats.org/drawingml/2006/main" w="12700" cmpd="sng">
            <a:solidFill>
              <a:srgbClr val="5A5A5A">
                <a:alpha val="8000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52" name="Google Shape;152;p8">
            <a:extLst xmlns:a="http://schemas.openxmlformats.org/drawingml/2006/main">
              <a:ext uri="{FF2B5EF4-FFF2-40B4-BE49-F238E27FC236}">
                <a16:creationId xmlns:a16="http://schemas.microsoft.com/office/drawing/2014/main" id="{2658567C-8017-4D67-9EEB-04A8EDB94B23}"/>
              </a:ext>
            </a:extLst>
          </p:cNvPr>
          <p:cNvSpPr>
            <a:spLocks xmlns:a="http://schemas.openxmlformats.org/drawingml/2006/main" noGrp="1"/>
          </p:cNvSpPr>
          <p:nvPr/>
        </p:nvSpPr>
        <p:spPr>
          <a:xfrm xmlns:a="http://schemas.openxmlformats.org/drawingml/2006/main">
            <a:off x="7955280" y="1645920"/>
            <a:ext cx="64008" cy="3108960"/>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53" name="Google Shape;153;p8">
            <a:extLst xmlns:a="http://schemas.openxmlformats.org/drawingml/2006/main">
              <a:ext uri="{FF2B5EF4-FFF2-40B4-BE49-F238E27FC236}">
                <a16:creationId xmlns:a16="http://schemas.microsoft.com/office/drawing/2014/main" id="{96059ADE-8968-4662-AE3F-B9F61CBC47ED}"/>
              </a:ext>
            </a:extLst>
          </p:cNvPr>
          <p:cNvSpPr>
            <a:spLocks xmlns:a="http://schemas.openxmlformats.org/drawingml/2006/main" noGrp="1"/>
          </p:cNvSpPr>
          <p:nvPr/>
        </p:nvSpPr>
        <p:spPr>
          <a:xfrm xmlns:a="http://schemas.openxmlformats.org/drawingml/2006/main">
            <a:off x="8156448" y="1783080"/>
            <a:ext cx="32004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3342F"/>
              </a:buClr>
              <a:buSzPts val="1100"/>
              <a:buFont typeface="Arial"/>
              <a:buNone/>
            </a:pPr>
            <a:r>
              <a:rPr sz="1100" b="1" i="0" u="none" cap="none">
                <a:solidFill>
                  <a:srgbClr val="E3342F"/>
                </a:solidFill>
                <a:latin typeface="Arial"/>
                <a:ea typeface="Arial"/>
                <a:cs typeface="Arial"/>
              </a:rPr>
              <a:t>FORMAL VERSION</a:t>
            </a:r>
          </a:p>
        </p:txBody>
      </p:sp>
      <p:sp>
        <p:nvSpPr>
          <p:cNvPr id="154" name="Google Shape;154;p8">
            <a:extLst xmlns:a="http://schemas.openxmlformats.org/drawingml/2006/main">
              <a:ext uri="{FF2B5EF4-FFF2-40B4-BE49-F238E27FC236}">
                <a16:creationId xmlns:a16="http://schemas.microsoft.com/office/drawing/2014/main" id="{8A851782-29FB-476A-808B-3FE24294459D}"/>
              </a:ext>
            </a:extLst>
          </p:cNvPr>
          <p:cNvSpPr>
            <a:spLocks xmlns:a="http://schemas.openxmlformats.org/drawingml/2006/main" noGrp="1"/>
          </p:cNvSpPr>
          <p:nvPr/>
        </p:nvSpPr>
        <p:spPr>
          <a:xfrm xmlns:a="http://schemas.openxmlformats.org/drawingml/2006/main">
            <a:off x="8156448" y="2103120"/>
            <a:ext cx="3200400" cy="2542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A full presentation. Include background, method, results, interpretation, limitations, and future work.</a:t>
            </a:r>
          </a:p>
        </p:txBody>
      </p:sp>
      <p:sp>
        <p:nvSpPr>
          <p:cNvPr id="155" name="Google Shape;155;p8">
            <a:extLst xmlns:a="http://schemas.openxmlformats.org/drawingml/2006/main">
              <a:ext uri="{FF2B5EF4-FFF2-40B4-BE49-F238E27FC236}">
                <a16:creationId xmlns:a16="http://schemas.microsoft.com/office/drawing/2014/main" id="{CE62905E-7F58-486F-A095-9A18096C1A13}"/>
              </a:ext>
            </a:extLst>
          </p:cNvPr>
          <p:cNvSpPr>
            <a:spLocks xmlns:a="http://schemas.openxmlformats.org/drawingml/2006/main" noGrp="1"/>
          </p:cNvSpPr>
          <p:nvPr/>
        </p:nvSpPr>
        <p:spPr>
          <a:xfrm xmlns:a="http://schemas.openxmlformats.org/drawingml/2006/main">
            <a:off x="960120" y="5257800"/>
            <a:ext cx="1024128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500" tIns="500" rIns="500" bIns="500" anchor="t">
            <a:noAutofit/>
          </a:bodyPr>
          <a:lstStyle xmlns:a="http://schemas.openxmlformats.org/drawingml/2006/main"/>
          <a:p xmlns:a="http://schemas.openxmlformats.org/drawingml/2006/main">
            <a:pPr marL="0" marR="0" indent="0" algn="l">
              <a:spcBef>
                <a:spcPts val="0"/>
              </a:spcBef>
              <a:spcAft>
                <a:spcPts val="0"/>
              </a:spcAft>
              <a:buClr>
                <a:srgbClr val="F4F4F4"/>
              </a:buClr>
              <a:buSzPts val="2200"/>
              <a:buFont typeface="Arial"/>
              <a:buNone/>
            </a:pPr>
            <a:r>
              <a:rPr sz="2200" b="1" i="0" u="none" cap="none">
                <a:solidFill>
                  <a:srgbClr val="F4F4F4"/>
                </a:solidFill>
                <a:latin typeface="Arial"/>
                <a:ea typeface="Arial"/>
                <a:cs typeface="Arial"/>
              </a:rPr>
              <a:t>The length changes. The research story stays coherent.</a:t>
            </a:r>
          </a:p>
        </p:txBody>
      </p:sp>
    </p:spTree>
    <p:extLst>
      <p:ext uri="{BB962C8B-B14F-4D97-AF65-F5344CB8AC3E}">
        <p14:creationId xmlns:p14="http://schemas.microsoft.com/office/powerpoint/2010/main" val="619332931"/>
      </p:ext>
    </p:extLst>
  </p:cSld>
</p:sld>
</file>

<file path=ppt/slides/slide7.xml><?xml version="1.0" encoding="utf-8"?>
<p:sld xmlns:p="http://schemas.openxmlformats.org/presentationml/2006/main">
  <p:cSld>
    <p:bg>
      <p:bgPr>
        <a:solidFill xmlns:a="http://schemas.openxmlformats.org/drawingml/2006/main">
          <a:srgbClr val="0B0B0D"/>
        </a:solidFill>
      </p:bgPr>
    </p:bg>
    <p:spTree>
      <p:nvGrpSpPr>
        <p:cNvPr id="1" name=""/>
        <p:cNvGrpSpPr/>
        <p:nvPr/>
      </p:nvGrpSpPr>
      <p:grpSpPr>
        <a:xfrm xmlns:a="http://schemas.openxmlformats.org/drawingml/2006/main"/>
      </p:grpSpPr>
      <p:sp>
        <p:nvSpPr>
          <p:cNvPr id="161" name="Google Shape;161;p9">
            <a:extLst xmlns:a="http://schemas.openxmlformats.org/drawingml/2006/main">
              <a:ext uri="{FF2B5EF4-FFF2-40B4-BE49-F238E27FC236}">
                <a16:creationId xmlns:a16="http://schemas.microsoft.com/office/drawing/2014/main" id="{8FD4C588-74C8-4780-AD72-356F4F0BDA39}"/>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D"/>
          </a:solidFill>
          <a:ln xmlns:a="http://schemas.openxmlformats.org/drawingml/2006/main" w="12700" cmpd="sng">
            <a:solidFill>
              <a:srgbClr val="0B0B0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62" name="Google Shape;162;p9">
            <a:extLst xmlns:a="http://schemas.openxmlformats.org/drawingml/2006/main">
              <a:ext uri="{FF2B5EF4-FFF2-40B4-BE49-F238E27FC236}">
                <a16:creationId xmlns:a16="http://schemas.microsoft.com/office/drawing/2014/main" id="{65470541-19A7-49F1-9796-F00A88C2CCA7}"/>
              </a:ext>
            </a:extLst>
          </p:cNvPr>
          <p:cNvSpPr>
            <a:spLocks xmlns:a="http://schemas.openxmlformats.org/drawingml/2006/main" noGrp="1"/>
          </p:cNvSpPr>
          <p:nvPr/>
        </p:nvSpPr>
        <p:spPr>
          <a:xfrm xmlns:a="http://schemas.openxmlformats.org/drawingml/2006/main">
            <a:off x="0" y="109728"/>
            <a:ext cx="12191695" cy="64008"/>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63" name="Google Shape;163;p9">
            <a:extLst xmlns:a="http://schemas.openxmlformats.org/drawingml/2006/main">
              <a:ext uri="{FF2B5EF4-FFF2-40B4-BE49-F238E27FC236}">
                <a16:creationId xmlns:a16="http://schemas.microsoft.com/office/drawing/2014/main" id="{9B8CB429-2D6F-40C2-B8CE-DF77A22CC073}"/>
              </a:ext>
            </a:extLst>
          </p:cNvPr>
          <p:cNvSpPr>
            <a:spLocks xmlns:a="http://schemas.openxmlformats.org/drawingml/2006/main" noGrp="1"/>
          </p:cNvSpPr>
          <p:nvPr/>
        </p:nvSpPr>
        <p:spPr>
          <a:xfrm xmlns:a="http://schemas.openxmlformats.org/drawingml/2006/main">
            <a:off x="0" y="6675120"/>
            <a:ext cx="12191695" cy="64008"/>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64" name="Google Shape;164;p9">
            <a:extLst xmlns:a="http://schemas.openxmlformats.org/drawingml/2006/main">
              <a:ext uri="{FF2B5EF4-FFF2-40B4-BE49-F238E27FC236}">
                <a16:creationId xmlns:a16="http://schemas.microsoft.com/office/drawing/2014/main" id="{3EC3F246-C130-4C7A-B621-2E2B2EC95BC2}"/>
              </a:ext>
            </a:extLst>
          </p:cNvPr>
          <p:cNvSpPr>
            <a:spLocks xmlns:a="http://schemas.openxmlformats.org/drawingml/2006/main" noGrp="1"/>
          </p:cNvSpPr>
          <p:nvPr/>
        </p:nvSpPr>
        <p:spPr>
          <a:xfrm xmlns:a="http://schemas.openxmlformats.org/drawingml/2006/main">
            <a:off x="384048" y="6364224"/>
            <a:ext cx="29260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A8A8A8"/>
              </a:buClr>
              <a:buSzPts val="950"/>
              <a:buFont typeface="Arial"/>
              <a:buNone/>
            </a:pPr>
            <a:r>
              <a:rPr sz="950" b="1" i="0" u="none" cap="none">
                <a:solidFill>
                  <a:srgbClr val="A8A8A8"/>
                </a:solidFill>
                <a:latin typeface="Arial"/>
                <a:ea typeface="Arial"/>
                <a:cs typeface="Arial"/>
              </a:rPr>
              <a:t>STUDENT ACTIVITY</a:t>
            </a:r>
          </a:p>
        </p:txBody>
      </p:sp>
      <p:sp>
        <p:nvSpPr>
          <p:cNvPr id="165" name="Google Shape;165;p9">
            <a:extLst xmlns:a="http://schemas.openxmlformats.org/drawingml/2006/main">
              <a:ext uri="{FF2B5EF4-FFF2-40B4-BE49-F238E27FC236}">
                <a16:creationId xmlns:a16="http://schemas.microsoft.com/office/drawing/2014/main" id="{8B768EB1-19A2-444D-A08E-8CA5864ACDD0}"/>
              </a:ext>
            </a:extLst>
          </p:cNvPr>
          <p:cNvSpPr>
            <a:spLocks xmlns:a="http://schemas.openxmlformats.org/drawingml/2006/main" noGrp="1"/>
          </p:cNvSpPr>
          <p:nvPr/>
        </p:nvSpPr>
        <p:spPr>
          <a:xfrm xmlns:a="http://schemas.openxmlformats.org/drawingml/2006/main">
            <a:off x="10405872" y="6364224"/>
            <a:ext cx="1325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A8A8A8"/>
              </a:buClr>
              <a:buSzPts val="950"/>
              <a:buFont typeface="Arial"/>
              <a:buNone/>
            </a:pPr>
            <a:r>
              <a:rPr sz="950" b="1" i="0" u="none" cap="none">
                <a:solidFill>
                  <a:srgbClr val="A8A8A8"/>
                </a:solidFill>
                <a:latin typeface="Arial"/>
                <a:ea typeface="Arial"/>
                <a:cs typeface="Arial"/>
              </a:rPr>
              <a:t>DECK 17</a:t>
            </a:r>
          </a:p>
        </p:txBody>
      </p:sp>
      <p:sp>
        <p:nvSpPr>
          <p:cNvPr id="166" name="Google Shape;166;p9">
            <a:extLst xmlns:a="http://schemas.openxmlformats.org/drawingml/2006/main">
              <a:ext uri="{FF2B5EF4-FFF2-40B4-BE49-F238E27FC236}">
                <a16:creationId xmlns:a16="http://schemas.microsoft.com/office/drawing/2014/main" id="{A3E929FC-CFAB-4EED-8A1F-FA5C626C9F08}"/>
              </a:ext>
            </a:extLst>
          </p:cNvPr>
          <p:cNvSpPr>
            <a:spLocks xmlns:a="http://schemas.openxmlformats.org/drawingml/2006/main" noGrp="1"/>
          </p:cNvSpPr>
          <p:nvPr/>
        </p:nvSpPr>
        <p:spPr>
          <a:xfrm xmlns:a="http://schemas.openxmlformats.org/drawingml/2006/main">
            <a:off x="502920" y="502920"/>
            <a:ext cx="110642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4F4F4"/>
              </a:buClr>
              <a:buSzPts val="3000"/>
              <a:buFont typeface="Play"/>
              <a:buNone/>
            </a:pPr>
            <a:r>
              <a:rPr sz="3000" b="1" i="0" u="none" cap="none">
                <a:solidFill>
                  <a:srgbClr val="F4F4F4"/>
                </a:solidFill>
                <a:latin typeface="Play"/>
                <a:ea typeface="Play"/>
                <a:cs typeface="Play"/>
              </a:rPr>
              <a:t>Activity: Build the Three Versions</a:t>
            </a:r>
          </a:p>
        </p:txBody>
      </p:sp>
      <p:sp>
        <p:nvSpPr>
          <p:cNvPr id="167" name="Google Shape;167;p9">
            <a:extLst xmlns:a="http://schemas.openxmlformats.org/drawingml/2006/main">
              <a:ext uri="{FF2B5EF4-FFF2-40B4-BE49-F238E27FC236}">
                <a16:creationId xmlns:a16="http://schemas.microsoft.com/office/drawing/2014/main" id="{A9623F39-87AC-486A-9190-6D374F35335D}"/>
              </a:ext>
            </a:extLst>
          </p:cNvPr>
          <p:cNvSpPr>
            <a:spLocks xmlns:a="http://schemas.openxmlformats.org/drawingml/2006/main" noGrp="1"/>
          </p:cNvSpPr>
          <p:nvPr/>
        </p:nvSpPr>
        <p:spPr>
          <a:xfrm xmlns:a="http://schemas.openxmlformats.org/drawingml/2006/main">
            <a:off x="502920" y="1143000"/>
            <a:ext cx="914400" cy="54864"/>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68" name="Google Shape;168;p9">
            <a:extLst xmlns:a="http://schemas.openxmlformats.org/drawingml/2006/main">
              <a:ext uri="{FF2B5EF4-FFF2-40B4-BE49-F238E27FC236}">
                <a16:creationId xmlns:a16="http://schemas.microsoft.com/office/drawing/2014/main" id="{ED3A561A-3267-43A0-8085-4C20E032AC78}"/>
              </a:ext>
            </a:extLst>
          </p:cNvPr>
          <p:cNvSpPr>
            <a:spLocks xmlns:a="http://schemas.openxmlformats.org/drawingml/2006/main" noGrp="1"/>
          </p:cNvSpPr>
          <p:nvPr/>
        </p:nvSpPr>
        <p:spPr>
          <a:xfrm xmlns:a="http://schemas.openxmlformats.org/drawingml/2006/main">
            <a:off x="1600200" y="1024128"/>
            <a:ext cx="987552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A8A8A8"/>
              </a:buClr>
              <a:buSzPts val="1300"/>
              <a:buFont typeface="Arial"/>
              <a:buNone/>
            </a:pPr>
            <a:r>
              <a:rPr sz="1300" b="0" i="0" u="none" cap="none">
                <a:solidFill>
                  <a:srgbClr val="A8A8A8"/>
                </a:solidFill>
                <a:latin typeface="Arial"/>
                <a:ea typeface="Arial"/>
                <a:cs typeface="Arial"/>
              </a:rPr>
              <a:t>Practice compressing without losing the research story.</a:t>
            </a:r>
          </a:p>
        </p:txBody>
      </p:sp>
      <p:sp>
        <p:nvSpPr>
          <p:cNvPr id="169" name="Google Shape;169;p9">
            <a:extLst xmlns:a="http://schemas.openxmlformats.org/drawingml/2006/main">
              <a:ext uri="{FF2B5EF4-FFF2-40B4-BE49-F238E27FC236}">
                <a16:creationId xmlns:a16="http://schemas.microsoft.com/office/drawing/2014/main" id="{B018F5D3-EC4C-4C10-AB4E-50336BC632AA}"/>
              </a:ext>
            </a:extLst>
          </p:cNvPr>
          <p:cNvSpPr>
            <a:spLocks xmlns:a="http://schemas.openxmlformats.org/drawingml/2006/main" noGrp="1"/>
          </p:cNvSpPr>
          <p:nvPr/>
        </p:nvSpPr>
        <p:spPr>
          <a:xfrm xmlns:a="http://schemas.openxmlformats.org/drawingml/2006/main">
            <a:off x="640080" y="1572768"/>
            <a:ext cx="21488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3342F"/>
              </a:buClr>
              <a:buSzPts val="1200"/>
              <a:buFont typeface="Arial"/>
              <a:buNone/>
            </a:pPr>
            <a:r>
              <a:rPr sz="1200" b="1" i="0" u="none" cap="none">
                <a:solidFill>
                  <a:srgbClr val="E3342F"/>
                </a:solidFill>
                <a:latin typeface="Arial"/>
                <a:ea typeface="Arial"/>
                <a:cs typeface="Arial"/>
              </a:rPr>
              <a:t>STUDENT ACTIVITY</a:t>
            </a:r>
          </a:p>
        </p:txBody>
      </p:sp>
      <p:sp>
        <p:nvSpPr>
          <p:cNvPr id="170" name="Google Shape;170;p9">
            <a:extLst xmlns:a="http://schemas.openxmlformats.org/drawingml/2006/main">
              <a:ext uri="{FF2B5EF4-FFF2-40B4-BE49-F238E27FC236}">
                <a16:creationId xmlns:a16="http://schemas.microsoft.com/office/drawing/2014/main" id="{6F9BF8D2-4267-4D5B-8861-06290C30F002}"/>
              </a:ext>
            </a:extLst>
          </p:cNvPr>
          <p:cNvSpPr>
            <a:spLocks xmlns:a="http://schemas.openxmlformats.org/drawingml/2006/main" noGrp="1"/>
          </p:cNvSpPr>
          <p:nvPr/>
        </p:nvSpPr>
        <p:spPr>
          <a:xfrm xmlns:a="http://schemas.openxmlformats.org/drawingml/2006/main">
            <a:off x="640080" y="1874520"/>
            <a:ext cx="521208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4F4F4"/>
              </a:buClr>
              <a:buSzPts val="2600"/>
              <a:buFont typeface="Arial"/>
              <a:buNone/>
            </a:pPr>
            <a:r>
              <a:rPr sz="2600" b="1" i="0" u="none" cap="none">
                <a:solidFill>
                  <a:srgbClr val="F4F4F4"/>
                </a:solidFill>
                <a:latin typeface="Arial"/>
                <a:ea typeface="Arial"/>
                <a:cs typeface="Arial"/>
              </a:rPr>
              <a:t>Three-Length Practice</a:t>
            </a:r>
          </a:p>
        </p:txBody>
      </p:sp>
      <p:sp>
        <p:nvSpPr>
          <p:cNvPr id="171" name="Google Shape;171;p9">
            <a:extLst xmlns:a="http://schemas.openxmlformats.org/drawingml/2006/main">
              <a:ext uri="{FF2B5EF4-FFF2-40B4-BE49-F238E27FC236}">
                <a16:creationId xmlns:a16="http://schemas.microsoft.com/office/drawing/2014/main" id="{CD7904CB-9D3D-451F-95DA-C80FB2756018}"/>
              </a:ext>
            </a:extLst>
          </p:cNvPr>
          <p:cNvSpPr>
            <a:spLocks xmlns:a="http://schemas.openxmlformats.org/drawingml/2006/main" noGrp="1"/>
          </p:cNvSpPr>
          <p:nvPr/>
        </p:nvSpPr>
        <p:spPr>
          <a:xfrm xmlns:a="http://schemas.openxmlformats.org/drawingml/2006/main">
            <a:off x="9509760" y="1901952"/>
            <a:ext cx="18288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E3342F"/>
              </a:buClr>
              <a:buSzPts val="1600"/>
              <a:buFont typeface="Arial"/>
              <a:buNone/>
            </a:pPr>
            <a:r>
              <a:rPr sz="1600" b="1" i="0" u="none" cap="none">
                <a:solidFill>
                  <a:srgbClr val="E3342F"/>
                </a:solidFill>
                <a:latin typeface="Arial"/>
                <a:ea typeface="Arial"/>
                <a:cs typeface="Arial"/>
              </a:rPr>
              <a:t>12 MINUTES</a:t>
            </a:r>
          </a:p>
        </p:txBody>
      </p:sp>
      <p:cxnSp>
        <p:nvCxnSpPr>
          <p:cNvPr id="197" name="Google Shape;172;p9"/>
          <p:cNvCxnSpPr/>
          <p:nvPr/>
        </p:nvCxnSpPr>
        <p:spPr>
          <a:xfrm xmlns:a="http://schemas.openxmlformats.org/drawingml/2006/main">
            <a:off x="640080" y="2523744"/>
            <a:ext cx="10881360" cy="0"/>
          </a:xfrm>
          <a:prstGeom xmlns:a="http://schemas.openxmlformats.org/drawingml/2006/main" prst="straightConnector1">
            <a:avLst/>
          </a:prstGeom>
          <a:ln xmlns:a="http://schemas.openxmlformats.org/drawingml/2006/main" w="12700" cap="flat">
            <a:solidFill>
              <a:srgbClr val="5A5A5A"/>
            </a:solidFill>
            <a:prstDash val="solid"/>
            <a:round/>
            <a:headEnd type="none" w="sm" len="sm"/>
            <a:tailEnd type="none" w="sm" len="sm"/>
          </a:ln>
        </p:spPr>
      </p:cxnSp>
      <p:sp>
        <p:nvSpPr>
          <p:cNvPr id="173" name="Google Shape;173;p9">
            <a:extLst xmlns:a="http://schemas.openxmlformats.org/drawingml/2006/main">
              <a:ext uri="{FF2B5EF4-FFF2-40B4-BE49-F238E27FC236}">
                <a16:creationId xmlns:a16="http://schemas.microsoft.com/office/drawing/2014/main" id="{AD8E2593-9A86-421E-80C7-7FC9A8B2684D}"/>
              </a:ext>
            </a:extLst>
          </p:cNvPr>
          <p:cNvSpPr>
            <a:spLocks xmlns:a="http://schemas.openxmlformats.org/drawingml/2006/main" noGrp="1"/>
          </p:cNvSpPr>
          <p:nvPr/>
        </p:nvSpPr>
        <p:spPr>
          <a:xfrm xmlns:a="http://schemas.openxmlformats.org/drawingml/2006/main">
            <a:off x="822960" y="2807208"/>
            <a:ext cx="10515600" cy="2560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ctr">
            <a:noAutofit/>
          </a:bodyPr>
          <a:lstStyle xmlns:a="http://schemas.openxmlformats.org/drawingml/2006/main"/>
          <a:p xmlns:a="http://schemas.openxmlformats.org/drawingml/2006/main">
            <a:pPr marL="0" marR="0" indent="0" algn="l">
              <a:spcBef>
                <a:spcPts val="0"/>
              </a:spcBef>
              <a:spcAft>
                <a:spcPts val="0"/>
              </a:spcAft>
              <a:buClr>
                <a:srgbClr val="F4F4F4"/>
              </a:buClr>
              <a:buSzPts val="2100"/>
              <a:buFont typeface="Arial"/>
              <a:buNone/>
            </a:pPr>
            <a:r>
              <a:rPr sz="2100" b="0" i="0" u="none" cap="none">
                <a:solidFill>
                  <a:srgbClr val="F4F4F4"/>
                </a:solidFill>
                <a:latin typeface="Arial"/>
                <a:ea typeface="Arial"/>
                <a:cs typeface="Arial"/>
              </a:rPr>
              <a:t>Use your project to draft or rehearse:</a:t>
            </a:r>
          </a:p>
          <a:p xmlns:a="http://schemas.openxmlformats.org/drawingml/2006/main">
            <a:pPr marL="0" marR="0" indent="0" algn="l">
              <a:spcBef>
                <a:spcPts val="0"/>
              </a:spcBef>
              <a:spcAft>
                <a:spcPts val="0"/>
              </a:spcAft>
              <a:buClr>
                <a:schemeClr val="dk1"/>
              </a:buClr>
              <a:buSzPts val="2100"/>
              <a:buFont typeface="Arial"/>
              <a:buNone/>
            </a:pPr>
            <a:r>
              <a:t/>
            </a:r>
          </a:p>
          <a:p xmlns:a="http://schemas.openxmlformats.org/drawingml/2006/main">
            <a:pPr marL="0" marR="0" indent="0" algn="l">
              <a:spcBef>
                <a:spcPts val="0"/>
              </a:spcBef>
              <a:spcAft>
                <a:spcPts val="0"/>
              </a:spcAft>
              <a:buClr>
                <a:srgbClr val="F4F4F4"/>
              </a:buClr>
              <a:buSzPts val="2100"/>
              <a:buFont typeface="Arial"/>
              <a:buNone/>
            </a:pPr>
            <a:r>
              <a:rPr sz="2100" b="0" i="0" u="none" cap="none">
                <a:solidFill>
                  <a:srgbClr val="F4F4F4"/>
                </a:solidFill>
                <a:latin typeface="Arial"/>
                <a:ea typeface="Arial"/>
                <a:cs typeface="Arial"/>
              </a:rPr>
              <a:t>1. A 30-second explanation</a:t>
            </a:r>
          </a:p>
          <a:p xmlns:a="http://schemas.openxmlformats.org/drawingml/2006/main">
            <a:pPr marL="0" marR="0" indent="0" algn="l">
              <a:spcBef>
                <a:spcPts val="0"/>
              </a:spcBef>
              <a:spcAft>
                <a:spcPts val="0"/>
              </a:spcAft>
              <a:buClr>
                <a:srgbClr val="F4F4F4"/>
              </a:buClr>
              <a:buSzPts val="2100"/>
              <a:buFont typeface="Arial"/>
              <a:buNone/>
            </a:pPr>
            <a:r>
              <a:rPr sz="2100" b="0" i="0" u="none" cap="none">
                <a:solidFill>
                  <a:srgbClr val="F4F4F4"/>
                </a:solidFill>
                <a:latin typeface="Arial"/>
                <a:ea typeface="Arial"/>
                <a:cs typeface="Arial"/>
              </a:rPr>
              <a:t>2. A 2-minute summary</a:t>
            </a:r>
          </a:p>
          <a:p xmlns:a="http://schemas.openxmlformats.org/drawingml/2006/main">
            <a:pPr marL="0" marR="0" indent="0" algn="l">
              <a:spcBef>
                <a:spcPts val="0"/>
              </a:spcBef>
              <a:spcAft>
                <a:spcPts val="0"/>
              </a:spcAft>
              <a:buClr>
                <a:srgbClr val="F4F4F4"/>
              </a:buClr>
              <a:buSzPts val="2100"/>
              <a:buFont typeface="Arial"/>
              <a:buNone/>
            </a:pPr>
            <a:r>
              <a:rPr sz="2100" b="0" i="0" u="none" cap="none">
                <a:solidFill>
                  <a:srgbClr val="F4F4F4"/>
                </a:solidFill>
                <a:latin typeface="Arial"/>
                <a:ea typeface="Arial"/>
                <a:cs typeface="Arial"/>
              </a:rPr>
              <a:t>3. The formal presentation version</a:t>
            </a:r>
          </a:p>
          <a:p xmlns:a="http://schemas.openxmlformats.org/drawingml/2006/main">
            <a:pPr marL="0" marR="0" indent="0" algn="l">
              <a:spcBef>
                <a:spcPts val="0"/>
              </a:spcBef>
              <a:spcAft>
                <a:spcPts val="0"/>
              </a:spcAft>
              <a:buClr>
                <a:schemeClr val="dk1"/>
              </a:buClr>
              <a:buSzPts val="2100"/>
              <a:buFont typeface="Arial"/>
              <a:buNone/>
            </a:pPr>
            <a:r>
              <a:t/>
            </a:r>
          </a:p>
          <a:p xmlns:a="http://schemas.openxmlformats.org/drawingml/2006/main">
            <a:pPr marL="0" marR="0" indent="0" algn="l">
              <a:spcBef>
                <a:spcPts val="0"/>
              </a:spcBef>
              <a:spcAft>
                <a:spcPts val="0"/>
              </a:spcAft>
              <a:buClr>
                <a:srgbClr val="F4F4F4"/>
              </a:buClr>
              <a:buSzPts val="2100"/>
              <a:buFont typeface="Arial"/>
              <a:buNone/>
            </a:pPr>
            <a:r>
              <a:rPr sz="2100" b="0" i="0" u="none" cap="none">
                <a:solidFill>
                  <a:srgbClr val="F4F4F4"/>
                </a:solidFill>
                <a:latin typeface="Arial"/>
                <a:ea typeface="Arial"/>
                <a:cs typeface="Arial"/>
              </a:rPr>
              <a:t>Your partner should listen for whether the problem, evidence, conclusion, and limitation are still clear.</a:t>
            </a:r>
          </a:p>
        </p:txBody>
      </p:sp>
    </p:spTree>
    <p:extLst>
      <p:ext uri="{BB962C8B-B14F-4D97-AF65-F5344CB8AC3E}">
        <p14:creationId xmlns:p14="http://schemas.microsoft.com/office/powerpoint/2010/main" val="725654687"/>
      </p:ext>
    </p:extLst>
  </p:cSld>
</p:sld>
</file>

<file path=ppt/slides/slide8.xml><?xml version="1.0" encoding="utf-8"?>
<p:sld xmlns:p="http://schemas.openxmlformats.org/presentationml/2006/main">
  <p:cSld>
    <p:bg>
      <p:bgPr>
        <a:solidFill xmlns:a="http://schemas.openxmlformats.org/drawingml/2006/main">
          <a:srgbClr val="0B0B0D"/>
        </a:solidFill>
      </p:bgPr>
    </p:bg>
    <p:spTree>
      <p:nvGrpSpPr>
        <p:cNvPr id="1" name=""/>
        <p:cNvGrpSpPr/>
        <p:nvPr/>
      </p:nvGrpSpPr>
      <p:grpSpPr>
        <a:xfrm xmlns:a="http://schemas.openxmlformats.org/drawingml/2006/main"/>
      </p:grpSpPr>
      <p:sp>
        <p:nvSpPr>
          <p:cNvPr id="179" name="Google Shape;179;p10">
            <a:extLst xmlns:a="http://schemas.openxmlformats.org/drawingml/2006/main">
              <a:ext uri="{FF2B5EF4-FFF2-40B4-BE49-F238E27FC236}">
                <a16:creationId xmlns:a16="http://schemas.microsoft.com/office/drawing/2014/main" id="{21B810BF-C4B2-400B-B9BD-A4A204872309}"/>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D"/>
          </a:solidFill>
          <a:ln xmlns:a="http://schemas.openxmlformats.org/drawingml/2006/main" w="12700" cmpd="sng">
            <a:solidFill>
              <a:srgbClr val="0B0B0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80" name="Google Shape;180;p10">
            <a:extLst xmlns:a="http://schemas.openxmlformats.org/drawingml/2006/main">
              <a:ext uri="{FF2B5EF4-FFF2-40B4-BE49-F238E27FC236}">
                <a16:creationId xmlns:a16="http://schemas.microsoft.com/office/drawing/2014/main" id="{F350B6C5-7F3E-4E8E-B89F-32E0FC43AB83}"/>
              </a:ext>
            </a:extLst>
          </p:cNvPr>
          <p:cNvSpPr>
            <a:spLocks xmlns:a="http://schemas.openxmlformats.org/drawingml/2006/main" noGrp="1"/>
          </p:cNvSpPr>
          <p:nvPr/>
        </p:nvSpPr>
        <p:spPr>
          <a:xfrm xmlns:a="http://schemas.openxmlformats.org/drawingml/2006/main">
            <a:off x="0" y="109728"/>
            <a:ext cx="12191695" cy="64008"/>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81" name="Google Shape;181;p10">
            <a:extLst xmlns:a="http://schemas.openxmlformats.org/drawingml/2006/main">
              <a:ext uri="{FF2B5EF4-FFF2-40B4-BE49-F238E27FC236}">
                <a16:creationId xmlns:a16="http://schemas.microsoft.com/office/drawing/2014/main" id="{849CA7F6-C9C6-4C27-A92F-8A551D505C3B}"/>
              </a:ext>
            </a:extLst>
          </p:cNvPr>
          <p:cNvSpPr>
            <a:spLocks xmlns:a="http://schemas.openxmlformats.org/drawingml/2006/main" noGrp="1"/>
          </p:cNvSpPr>
          <p:nvPr/>
        </p:nvSpPr>
        <p:spPr>
          <a:xfrm xmlns:a="http://schemas.openxmlformats.org/drawingml/2006/main">
            <a:off x="0" y="6675120"/>
            <a:ext cx="12191695" cy="64008"/>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82" name="Google Shape;182;p10">
            <a:extLst xmlns:a="http://schemas.openxmlformats.org/drawingml/2006/main">
              <a:ext uri="{FF2B5EF4-FFF2-40B4-BE49-F238E27FC236}">
                <a16:creationId xmlns:a16="http://schemas.microsoft.com/office/drawing/2014/main" id="{B67E4622-ED62-4DD8-8939-BDB7ED0E3E6A}"/>
              </a:ext>
            </a:extLst>
          </p:cNvPr>
          <p:cNvSpPr>
            <a:spLocks xmlns:a="http://schemas.openxmlformats.org/drawingml/2006/main" noGrp="1"/>
          </p:cNvSpPr>
          <p:nvPr/>
        </p:nvSpPr>
        <p:spPr>
          <a:xfrm xmlns:a="http://schemas.openxmlformats.org/drawingml/2006/main">
            <a:off x="384048" y="6364224"/>
            <a:ext cx="29260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A8A8A8"/>
              </a:buClr>
              <a:buSzPts val="950"/>
              <a:buFont typeface="Arial"/>
              <a:buNone/>
            </a:pPr>
            <a:r>
              <a:rPr sz="950" b="1" i="0" u="none" cap="none">
                <a:solidFill>
                  <a:srgbClr val="A8A8A8"/>
                </a:solidFill>
                <a:latin typeface="Arial"/>
                <a:ea typeface="Arial"/>
                <a:cs typeface="Arial"/>
              </a:rPr>
              <a:t>ORAL PRESENTATION</a:t>
            </a:r>
          </a:p>
        </p:txBody>
      </p:sp>
      <p:sp>
        <p:nvSpPr>
          <p:cNvPr id="183" name="Google Shape;183;p10">
            <a:extLst xmlns:a="http://schemas.openxmlformats.org/drawingml/2006/main">
              <a:ext uri="{FF2B5EF4-FFF2-40B4-BE49-F238E27FC236}">
                <a16:creationId xmlns:a16="http://schemas.microsoft.com/office/drawing/2014/main" id="{A6A968E8-2257-4F29-99A5-AF37A027CE15}"/>
              </a:ext>
            </a:extLst>
          </p:cNvPr>
          <p:cNvSpPr>
            <a:spLocks xmlns:a="http://schemas.openxmlformats.org/drawingml/2006/main" noGrp="1"/>
          </p:cNvSpPr>
          <p:nvPr/>
        </p:nvSpPr>
        <p:spPr>
          <a:xfrm xmlns:a="http://schemas.openxmlformats.org/drawingml/2006/main">
            <a:off x="10405872" y="6364224"/>
            <a:ext cx="1325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A8A8A8"/>
              </a:buClr>
              <a:buSzPts val="950"/>
              <a:buFont typeface="Arial"/>
              <a:buNone/>
            </a:pPr>
            <a:r>
              <a:rPr sz="950" b="1" i="0" u="none" cap="none">
                <a:solidFill>
                  <a:srgbClr val="A8A8A8"/>
                </a:solidFill>
                <a:latin typeface="Arial"/>
                <a:ea typeface="Arial"/>
                <a:cs typeface="Arial"/>
              </a:rPr>
              <a:t>DECK 17</a:t>
            </a:r>
          </a:p>
        </p:txBody>
      </p:sp>
      <p:sp>
        <p:nvSpPr>
          <p:cNvPr id="184" name="Google Shape;184;p10">
            <a:extLst xmlns:a="http://schemas.openxmlformats.org/drawingml/2006/main">
              <a:ext uri="{FF2B5EF4-FFF2-40B4-BE49-F238E27FC236}">
                <a16:creationId xmlns:a16="http://schemas.microsoft.com/office/drawing/2014/main" id="{0C7BFC45-C394-4FCA-A584-F4AD4AF469F2}"/>
              </a:ext>
            </a:extLst>
          </p:cNvPr>
          <p:cNvSpPr>
            <a:spLocks xmlns:a="http://schemas.openxmlformats.org/drawingml/2006/main" noGrp="1"/>
          </p:cNvSpPr>
          <p:nvPr/>
        </p:nvSpPr>
        <p:spPr>
          <a:xfrm xmlns:a="http://schemas.openxmlformats.org/drawingml/2006/main">
            <a:off x="502920" y="502920"/>
            <a:ext cx="110642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4F4F4"/>
              </a:buClr>
              <a:buSzPts val="3000"/>
              <a:buFont typeface="Play"/>
              <a:buNone/>
            </a:pPr>
            <a:r>
              <a:rPr sz="3000" b="1" i="0" u="none" cap="none">
                <a:solidFill>
                  <a:srgbClr val="F4F4F4"/>
                </a:solidFill>
                <a:latin typeface="Play"/>
                <a:ea typeface="Play"/>
                <a:cs typeface="Play"/>
              </a:rPr>
              <a:t>Explain Methods Without Drowning the Audience</a:t>
            </a:r>
          </a:p>
        </p:txBody>
      </p:sp>
      <p:sp>
        <p:nvSpPr>
          <p:cNvPr id="185" name="Google Shape;185;p10">
            <a:extLst xmlns:a="http://schemas.openxmlformats.org/drawingml/2006/main">
              <a:ext uri="{FF2B5EF4-FFF2-40B4-BE49-F238E27FC236}">
                <a16:creationId xmlns:a16="http://schemas.microsoft.com/office/drawing/2014/main" id="{8A508EF4-05CC-4C7C-A0BC-9EEB7DA747EC}"/>
              </a:ext>
            </a:extLst>
          </p:cNvPr>
          <p:cNvSpPr>
            <a:spLocks xmlns:a="http://schemas.openxmlformats.org/drawingml/2006/main" noGrp="1"/>
          </p:cNvSpPr>
          <p:nvPr/>
        </p:nvSpPr>
        <p:spPr>
          <a:xfrm xmlns:a="http://schemas.openxmlformats.org/drawingml/2006/main">
            <a:off x="502920" y="1143000"/>
            <a:ext cx="914400" cy="54864"/>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86" name="Google Shape;186;p10">
            <a:extLst xmlns:a="http://schemas.openxmlformats.org/drawingml/2006/main">
              <a:ext uri="{FF2B5EF4-FFF2-40B4-BE49-F238E27FC236}">
                <a16:creationId xmlns:a16="http://schemas.microsoft.com/office/drawing/2014/main" id="{80324BD5-E478-4FD1-9C70-F51CAEC7D8E7}"/>
              </a:ext>
            </a:extLst>
          </p:cNvPr>
          <p:cNvSpPr>
            <a:spLocks xmlns:a="http://schemas.openxmlformats.org/drawingml/2006/main" noGrp="1"/>
          </p:cNvSpPr>
          <p:nvPr/>
        </p:nvSpPr>
        <p:spPr>
          <a:xfrm xmlns:a="http://schemas.openxmlformats.org/drawingml/2006/main">
            <a:off x="1600200" y="1024128"/>
            <a:ext cx="987552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A8A8A8"/>
              </a:buClr>
              <a:buSzPts val="1300"/>
              <a:buFont typeface="Arial"/>
              <a:buNone/>
            </a:pPr>
            <a:r>
              <a:rPr sz="1300" b="0" i="0" u="none" cap="none">
                <a:solidFill>
                  <a:srgbClr val="A8A8A8"/>
                </a:solidFill>
                <a:latin typeface="Arial"/>
                <a:ea typeface="Arial"/>
                <a:cs typeface="Arial"/>
              </a:rPr>
              <a:t>Methods should build trust, not consume the whole presentation.</a:t>
            </a:r>
          </a:p>
        </p:txBody>
      </p:sp>
      <p:sp>
        <p:nvSpPr>
          <p:cNvPr id="187" name="Google Shape;187;p10">
            <a:extLst xmlns:a="http://schemas.openxmlformats.org/drawingml/2006/main">
              <a:ext uri="{FF2B5EF4-FFF2-40B4-BE49-F238E27FC236}">
                <a16:creationId xmlns:a16="http://schemas.microsoft.com/office/drawing/2014/main" id="{9F3EE112-3FFD-4CA0-8321-3A051E3FA529}"/>
              </a:ext>
            </a:extLst>
          </p:cNvPr>
          <p:cNvSpPr>
            <a:spLocks xmlns:a="http://schemas.openxmlformats.org/drawingml/2006/main" noGrp="1"/>
          </p:cNvSpPr>
          <p:nvPr/>
        </p:nvSpPr>
        <p:spPr>
          <a:xfrm xmlns:a="http://schemas.openxmlformats.org/drawingml/2006/main">
            <a:off x="777240" y="1600200"/>
            <a:ext cx="5166360" cy="3886200"/>
          </a:xfrm>
          <a:prstGeom xmlns:a="http://schemas.openxmlformats.org/drawingml/2006/main" prst="rect">
            <a:avLst/>
          </a:prstGeom>
          <a:solidFill xmlns:a="http://schemas.openxmlformats.org/drawingml/2006/main">
            <a:srgbClr val="111113"/>
          </a:solidFill>
          <a:ln xmlns:a="http://schemas.openxmlformats.org/drawingml/2006/main" w="12700" cmpd="sng">
            <a:solidFill>
              <a:srgbClr val="5A5A5A">
                <a:alpha val="8000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88" name="Google Shape;188;p10">
            <a:extLst xmlns:a="http://schemas.openxmlformats.org/drawingml/2006/main">
              <a:ext uri="{FF2B5EF4-FFF2-40B4-BE49-F238E27FC236}">
                <a16:creationId xmlns:a16="http://schemas.microsoft.com/office/drawing/2014/main" id="{E8C6250E-7B1D-4F1C-A742-5DC297BC8FA3}"/>
              </a:ext>
            </a:extLst>
          </p:cNvPr>
          <p:cNvSpPr>
            <a:spLocks xmlns:a="http://schemas.openxmlformats.org/drawingml/2006/main" noGrp="1"/>
          </p:cNvSpPr>
          <p:nvPr/>
        </p:nvSpPr>
        <p:spPr>
          <a:xfrm xmlns:a="http://schemas.openxmlformats.org/drawingml/2006/main">
            <a:off x="777240" y="1600200"/>
            <a:ext cx="64008" cy="3886200"/>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89" name="Google Shape;189;p10">
            <a:extLst xmlns:a="http://schemas.openxmlformats.org/drawingml/2006/main">
              <a:ext uri="{FF2B5EF4-FFF2-40B4-BE49-F238E27FC236}">
                <a16:creationId xmlns:a16="http://schemas.microsoft.com/office/drawing/2014/main" id="{5241AC6E-792B-4A2A-B184-BCA4ACF08B10}"/>
              </a:ext>
            </a:extLst>
          </p:cNvPr>
          <p:cNvSpPr>
            <a:spLocks xmlns:a="http://schemas.openxmlformats.org/drawingml/2006/main" noGrp="1"/>
          </p:cNvSpPr>
          <p:nvPr/>
        </p:nvSpPr>
        <p:spPr>
          <a:xfrm xmlns:a="http://schemas.openxmlformats.org/drawingml/2006/main">
            <a:off x="978408" y="1737360"/>
            <a:ext cx="484632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3342F"/>
              </a:buClr>
              <a:buSzPts val="1100"/>
              <a:buFont typeface="Arial"/>
              <a:buNone/>
            </a:pPr>
            <a:r>
              <a:rPr sz="1100" b="1" i="0" u="none" cap="none">
                <a:solidFill>
                  <a:srgbClr val="E3342F"/>
                </a:solidFill>
                <a:latin typeface="Arial"/>
                <a:ea typeface="Arial"/>
                <a:cs typeface="Arial"/>
              </a:rPr>
              <a:t>INCLUDE</a:t>
            </a:r>
          </a:p>
        </p:txBody>
      </p:sp>
      <p:sp>
        <p:nvSpPr>
          <p:cNvPr id="190" name="Google Shape;190;p10">
            <a:extLst xmlns:a="http://schemas.openxmlformats.org/drawingml/2006/main">
              <a:ext uri="{FF2B5EF4-FFF2-40B4-BE49-F238E27FC236}">
                <a16:creationId xmlns:a16="http://schemas.microsoft.com/office/drawing/2014/main" id="{076CAC70-98B3-468A-997F-AD5C52A2F6A2}"/>
              </a:ext>
            </a:extLst>
          </p:cNvPr>
          <p:cNvSpPr>
            <a:spLocks xmlns:a="http://schemas.openxmlformats.org/drawingml/2006/main" noGrp="1"/>
          </p:cNvSpPr>
          <p:nvPr/>
        </p:nvSpPr>
        <p:spPr>
          <a:xfrm xmlns:a="http://schemas.openxmlformats.org/drawingml/2006/main">
            <a:off x="978408" y="2057400"/>
            <a:ext cx="4846320" cy="33192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 What you changed, tested, built, or compared</a:t>
            </a:r>
          </a:p>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 The basic procedure</a:t>
            </a:r>
          </a:p>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 The measurement or performance metric</a:t>
            </a:r>
          </a:p>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 Number of trials, samples, or iterations</a:t>
            </a:r>
          </a:p>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 Controls, criteria, or constraints that matter</a:t>
            </a:r>
          </a:p>
        </p:txBody>
      </p:sp>
      <p:sp>
        <p:nvSpPr>
          <p:cNvPr id="191" name="Google Shape;191;p10">
            <a:extLst xmlns:a="http://schemas.openxmlformats.org/drawingml/2006/main">
              <a:ext uri="{FF2B5EF4-FFF2-40B4-BE49-F238E27FC236}">
                <a16:creationId xmlns:a16="http://schemas.microsoft.com/office/drawing/2014/main" id="{F6D8E06C-860C-45AC-9A2F-777C188826B5}"/>
              </a:ext>
            </a:extLst>
          </p:cNvPr>
          <p:cNvSpPr>
            <a:spLocks xmlns:a="http://schemas.openxmlformats.org/drawingml/2006/main" noGrp="1"/>
          </p:cNvSpPr>
          <p:nvPr/>
        </p:nvSpPr>
        <p:spPr>
          <a:xfrm xmlns:a="http://schemas.openxmlformats.org/drawingml/2006/main">
            <a:off x="6263640" y="1600200"/>
            <a:ext cx="5166360" cy="3886200"/>
          </a:xfrm>
          <a:prstGeom xmlns:a="http://schemas.openxmlformats.org/drawingml/2006/main" prst="rect">
            <a:avLst/>
          </a:prstGeom>
          <a:solidFill xmlns:a="http://schemas.openxmlformats.org/drawingml/2006/main">
            <a:srgbClr val="111113"/>
          </a:solidFill>
          <a:ln xmlns:a="http://schemas.openxmlformats.org/drawingml/2006/main" w="12700" cmpd="sng">
            <a:solidFill>
              <a:srgbClr val="5A5A5A">
                <a:alpha val="8000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92" name="Google Shape;192;p10">
            <a:extLst xmlns:a="http://schemas.openxmlformats.org/drawingml/2006/main">
              <a:ext uri="{FF2B5EF4-FFF2-40B4-BE49-F238E27FC236}">
                <a16:creationId xmlns:a16="http://schemas.microsoft.com/office/drawing/2014/main" id="{D2272A93-D276-45B0-B5B8-C79806A89858}"/>
              </a:ext>
            </a:extLst>
          </p:cNvPr>
          <p:cNvSpPr>
            <a:spLocks xmlns:a="http://schemas.openxmlformats.org/drawingml/2006/main" noGrp="1"/>
          </p:cNvSpPr>
          <p:nvPr/>
        </p:nvSpPr>
        <p:spPr>
          <a:xfrm xmlns:a="http://schemas.openxmlformats.org/drawingml/2006/main">
            <a:off x="6263640" y="1600200"/>
            <a:ext cx="64008" cy="3886200"/>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93" name="Google Shape;193;p10">
            <a:extLst xmlns:a="http://schemas.openxmlformats.org/drawingml/2006/main">
              <a:ext uri="{FF2B5EF4-FFF2-40B4-BE49-F238E27FC236}">
                <a16:creationId xmlns:a16="http://schemas.microsoft.com/office/drawing/2014/main" id="{726453E9-9C2E-4695-97D9-1E25E4CFA1E2}"/>
              </a:ext>
            </a:extLst>
          </p:cNvPr>
          <p:cNvSpPr>
            <a:spLocks xmlns:a="http://schemas.openxmlformats.org/drawingml/2006/main" noGrp="1"/>
          </p:cNvSpPr>
          <p:nvPr/>
        </p:nvSpPr>
        <p:spPr>
          <a:xfrm xmlns:a="http://schemas.openxmlformats.org/drawingml/2006/main">
            <a:off x="6464808" y="1737360"/>
            <a:ext cx="484632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3342F"/>
              </a:buClr>
              <a:buSzPts val="1100"/>
              <a:buFont typeface="Arial"/>
              <a:buNone/>
            </a:pPr>
            <a:r>
              <a:rPr sz="1100" b="1" i="0" u="none" cap="none">
                <a:solidFill>
                  <a:srgbClr val="E3342F"/>
                </a:solidFill>
                <a:latin typeface="Arial"/>
                <a:ea typeface="Arial"/>
                <a:cs typeface="Arial"/>
              </a:rPr>
              <a:t>LEAVE OUT OR SAVE FOR Q&amp;A</a:t>
            </a:r>
          </a:p>
        </p:txBody>
      </p:sp>
      <p:sp>
        <p:nvSpPr>
          <p:cNvPr id="194" name="Google Shape;194;p10">
            <a:extLst xmlns:a="http://schemas.openxmlformats.org/drawingml/2006/main">
              <a:ext uri="{FF2B5EF4-FFF2-40B4-BE49-F238E27FC236}">
                <a16:creationId xmlns:a16="http://schemas.microsoft.com/office/drawing/2014/main" id="{C014642B-42F8-4D97-9277-903F06A2999A}"/>
              </a:ext>
            </a:extLst>
          </p:cNvPr>
          <p:cNvSpPr>
            <a:spLocks xmlns:a="http://schemas.openxmlformats.org/drawingml/2006/main" noGrp="1"/>
          </p:cNvSpPr>
          <p:nvPr/>
        </p:nvSpPr>
        <p:spPr>
          <a:xfrm xmlns:a="http://schemas.openxmlformats.org/drawingml/2006/main">
            <a:off x="6464808" y="2057400"/>
            <a:ext cx="4846320" cy="33192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 Every minor setup detail</a:t>
            </a:r>
          </a:p>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 Long lists of materials</a:t>
            </a:r>
          </a:p>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 Chronological storytelling</a:t>
            </a:r>
          </a:p>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 Troubleshooting history unless it explains a major revision</a:t>
            </a:r>
          </a:p>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 Details not needed to understand the evidence</a:t>
            </a:r>
          </a:p>
        </p:txBody>
      </p:sp>
    </p:spTree>
    <p:extLst>
      <p:ext uri="{BB962C8B-B14F-4D97-AF65-F5344CB8AC3E}">
        <p14:creationId xmlns:p14="http://schemas.microsoft.com/office/powerpoint/2010/main" val="1360949948"/>
      </p:ext>
    </p:extLst>
  </p:cSld>
</p:sld>
</file>

<file path=ppt/slides/slide9.xml><?xml version="1.0" encoding="utf-8"?>
<p:sld xmlns:p="http://schemas.openxmlformats.org/presentationml/2006/main">
  <p:cSld>
    <p:bg>
      <p:bgPr>
        <a:solidFill xmlns:a="http://schemas.openxmlformats.org/drawingml/2006/main">
          <a:srgbClr val="0B0B0D"/>
        </a:solidFill>
      </p:bgPr>
    </p:bg>
    <p:spTree>
      <p:nvGrpSpPr>
        <p:cNvPr id="1" name=""/>
        <p:cNvGrpSpPr/>
        <p:nvPr/>
      </p:nvGrpSpPr>
      <p:grpSpPr>
        <a:xfrm xmlns:a="http://schemas.openxmlformats.org/drawingml/2006/main"/>
      </p:grpSpPr>
      <p:sp>
        <p:nvSpPr>
          <p:cNvPr id="200" name="Google Shape;200;p11">
            <a:extLst xmlns:a="http://schemas.openxmlformats.org/drawingml/2006/main">
              <a:ext uri="{FF2B5EF4-FFF2-40B4-BE49-F238E27FC236}">
                <a16:creationId xmlns:a16="http://schemas.microsoft.com/office/drawing/2014/main" id="{42A10847-395A-4BB7-9137-42250F40B950}"/>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D"/>
          </a:solidFill>
          <a:ln xmlns:a="http://schemas.openxmlformats.org/drawingml/2006/main" w="12700" cmpd="sng">
            <a:solidFill>
              <a:srgbClr val="0B0B0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01" name="Google Shape;201;p11">
            <a:extLst xmlns:a="http://schemas.openxmlformats.org/drawingml/2006/main">
              <a:ext uri="{FF2B5EF4-FFF2-40B4-BE49-F238E27FC236}">
                <a16:creationId xmlns:a16="http://schemas.microsoft.com/office/drawing/2014/main" id="{E3402A81-F1C2-4594-B56B-BAFEA7027E87}"/>
              </a:ext>
            </a:extLst>
          </p:cNvPr>
          <p:cNvSpPr>
            <a:spLocks xmlns:a="http://schemas.openxmlformats.org/drawingml/2006/main" noGrp="1"/>
          </p:cNvSpPr>
          <p:nvPr/>
        </p:nvSpPr>
        <p:spPr>
          <a:xfrm xmlns:a="http://schemas.openxmlformats.org/drawingml/2006/main">
            <a:off x="0" y="109728"/>
            <a:ext cx="12191695" cy="64008"/>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02" name="Google Shape;202;p11">
            <a:extLst xmlns:a="http://schemas.openxmlformats.org/drawingml/2006/main">
              <a:ext uri="{FF2B5EF4-FFF2-40B4-BE49-F238E27FC236}">
                <a16:creationId xmlns:a16="http://schemas.microsoft.com/office/drawing/2014/main" id="{C91D592C-7CE9-4933-A1F9-35968C1319E3}"/>
              </a:ext>
            </a:extLst>
          </p:cNvPr>
          <p:cNvSpPr>
            <a:spLocks xmlns:a="http://schemas.openxmlformats.org/drawingml/2006/main" noGrp="1"/>
          </p:cNvSpPr>
          <p:nvPr/>
        </p:nvSpPr>
        <p:spPr>
          <a:xfrm xmlns:a="http://schemas.openxmlformats.org/drawingml/2006/main">
            <a:off x="0" y="6675120"/>
            <a:ext cx="12191695" cy="64008"/>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03" name="Google Shape;203;p11">
            <a:extLst xmlns:a="http://schemas.openxmlformats.org/drawingml/2006/main">
              <a:ext uri="{FF2B5EF4-FFF2-40B4-BE49-F238E27FC236}">
                <a16:creationId xmlns:a16="http://schemas.microsoft.com/office/drawing/2014/main" id="{7113B030-9D52-4136-BD45-610F28A710C2}"/>
              </a:ext>
            </a:extLst>
          </p:cNvPr>
          <p:cNvSpPr>
            <a:spLocks xmlns:a="http://schemas.openxmlformats.org/drawingml/2006/main" noGrp="1"/>
          </p:cNvSpPr>
          <p:nvPr/>
        </p:nvSpPr>
        <p:spPr>
          <a:xfrm xmlns:a="http://schemas.openxmlformats.org/drawingml/2006/main">
            <a:off x="384048" y="6364224"/>
            <a:ext cx="29260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A8A8A8"/>
              </a:buClr>
              <a:buSzPts val="950"/>
              <a:buFont typeface="Arial"/>
              <a:buNone/>
            </a:pPr>
            <a:r>
              <a:rPr sz="950" b="1" i="0" u="none" cap="none">
                <a:solidFill>
                  <a:srgbClr val="A8A8A8"/>
                </a:solidFill>
                <a:latin typeface="Arial"/>
                <a:ea typeface="Arial"/>
                <a:cs typeface="Arial"/>
              </a:rPr>
              <a:t>ORAL PRESENTATION</a:t>
            </a:r>
          </a:p>
        </p:txBody>
      </p:sp>
      <p:sp>
        <p:nvSpPr>
          <p:cNvPr id="204" name="Google Shape;204;p11">
            <a:extLst xmlns:a="http://schemas.openxmlformats.org/drawingml/2006/main">
              <a:ext uri="{FF2B5EF4-FFF2-40B4-BE49-F238E27FC236}">
                <a16:creationId xmlns:a16="http://schemas.microsoft.com/office/drawing/2014/main" id="{628F9F25-537B-4DF0-9FC2-FE1EFE129716}"/>
              </a:ext>
            </a:extLst>
          </p:cNvPr>
          <p:cNvSpPr>
            <a:spLocks xmlns:a="http://schemas.openxmlformats.org/drawingml/2006/main" noGrp="1"/>
          </p:cNvSpPr>
          <p:nvPr/>
        </p:nvSpPr>
        <p:spPr>
          <a:xfrm xmlns:a="http://schemas.openxmlformats.org/drawingml/2006/main">
            <a:off x="10405872" y="6364224"/>
            <a:ext cx="1325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A8A8A8"/>
              </a:buClr>
              <a:buSzPts val="950"/>
              <a:buFont typeface="Arial"/>
              <a:buNone/>
            </a:pPr>
            <a:r>
              <a:rPr sz="950" b="1" i="0" u="none" cap="none">
                <a:solidFill>
                  <a:srgbClr val="A8A8A8"/>
                </a:solidFill>
                <a:latin typeface="Arial"/>
                <a:ea typeface="Arial"/>
                <a:cs typeface="Arial"/>
              </a:rPr>
              <a:t>DECK 17</a:t>
            </a:r>
          </a:p>
        </p:txBody>
      </p:sp>
      <p:sp>
        <p:nvSpPr>
          <p:cNvPr id="205" name="Google Shape;205;p11">
            <a:extLst xmlns:a="http://schemas.openxmlformats.org/drawingml/2006/main">
              <a:ext uri="{FF2B5EF4-FFF2-40B4-BE49-F238E27FC236}">
                <a16:creationId xmlns:a16="http://schemas.microsoft.com/office/drawing/2014/main" id="{F61800FB-E385-4EAC-BE59-18FFB7F7B7AB}"/>
              </a:ext>
            </a:extLst>
          </p:cNvPr>
          <p:cNvSpPr>
            <a:spLocks xmlns:a="http://schemas.openxmlformats.org/drawingml/2006/main" noGrp="1"/>
          </p:cNvSpPr>
          <p:nvPr/>
        </p:nvSpPr>
        <p:spPr>
          <a:xfrm xmlns:a="http://schemas.openxmlformats.org/drawingml/2006/main">
            <a:off x="502920" y="502920"/>
            <a:ext cx="110642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4F4F4"/>
              </a:buClr>
              <a:buSzPts val="3000"/>
              <a:buFont typeface="Play"/>
              <a:buNone/>
            </a:pPr>
            <a:r>
              <a:rPr sz="3000" b="1" i="0" u="none" cap="none">
                <a:solidFill>
                  <a:srgbClr val="F4F4F4"/>
                </a:solidFill>
                <a:latin typeface="Play"/>
                <a:ea typeface="Play"/>
                <a:cs typeface="Play"/>
              </a:rPr>
              <a:t>Explain Data Aloud</a:t>
            </a:r>
          </a:p>
        </p:txBody>
      </p:sp>
      <p:sp>
        <p:nvSpPr>
          <p:cNvPr id="206" name="Google Shape;206;p11">
            <a:extLst xmlns:a="http://schemas.openxmlformats.org/drawingml/2006/main">
              <a:ext uri="{FF2B5EF4-FFF2-40B4-BE49-F238E27FC236}">
                <a16:creationId xmlns:a16="http://schemas.microsoft.com/office/drawing/2014/main" id="{D3964B72-E9CB-40D1-9745-AA19A3FE5C54}"/>
              </a:ext>
            </a:extLst>
          </p:cNvPr>
          <p:cNvSpPr>
            <a:spLocks xmlns:a="http://schemas.openxmlformats.org/drawingml/2006/main" noGrp="1"/>
          </p:cNvSpPr>
          <p:nvPr/>
        </p:nvSpPr>
        <p:spPr>
          <a:xfrm xmlns:a="http://schemas.openxmlformats.org/drawingml/2006/main">
            <a:off x="502920" y="1143000"/>
            <a:ext cx="914400" cy="54864"/>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07" name="Google Shape;207;p11">
            <a:extLst xmlns:a="http://schemas.openxmlformats.org/drawingml/2006/main">
              <a:ext uri="{FF2B5EF4-FFF2-40B4-BE49-F238E27FC236}">
                <a16:creationId xmlns:a16="http://schemas.microsoft.com/office/drawing/2014/main" id="{9961E9C0-AEC0-4119-B5C7-6DE9DEF6403D}"/>
              </a:ext>
            </a:extLst>
          </p:cNvPr>
          <p:cNvSpPr>
            <a:spLocks xmlns:a="http://schemas.openxmlformats.org/drawingml/2006/main" noGrp="1"/>
          </p:cNvSpPr>
          <p:nvPr/>
        </p:nvSpPr>
        <p:spPr>
          <a:xfrm xmlns:a="http://schemas.openxmlformats.org/drawingml/2006/main">
            <a:off x="1600200" y="1024128"/>
            <a:ext cx="987552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A8A8A8"/>
              </a:buClr>
              <a:buSzPts val="1300"/>
              <a:buFont typeface="Arial"/>
              <a:buNone/>
            </a:pPr>
            <a:r>
              <a:rPr sz="1300" b="0" i="0" u="none" cap="none">
                <a:solidFill>
                  <a:srgbClr val="A8A8A8"/>
                </a:solidFill>
                <a:latin typeface="Arial"/>
                <a:ea typeface="Arial"/>
                <a:cs typeface="Arial"/>
              </a:rPr>
              <a:t>Do not just point at a graph and hope the audience understands it.</a:t>
            </a:r>
          </a:p>
        </p:txBody>
      </p:sp>
      <p:sp>
        <p:nvSpPr>
          <p:cNvPr id="208" name="Google Shape;208;p11">
            <a:extLst xmlns:a="http://schemas.openxmlformats.org/drawingml/2006/main">
              <a:ext uri="{FF2B5EF4-FFF2-40B4-BE49-F238E27FC236}">
                <a16:creationId xmlns:a16="http://schemas.microsoft.com/office/drawing/2014/main" id="{9D032FDA-A00E-4E3D-AF03-3BAE395B2CD0}"/>
              </a:ext>
            </a:extLst>
          </p:cNvPr>
          <p:cNvSpPr>
            <a:spLocks xmlns:a="http://schemas.openxmlformats.org/drawingml/2006/main" noGrp="1"/>
          </p:cNvSpPr>
          <p:nvPr/>
        </p:nvSpPr>
        <p:spPr>
          <a:xfrm xmlns:a="http://schemas.openxmlformats.org/drawingml/2006/main">
            <a:off x="777240" y="1554480"/>
            <a:ext cx="960120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500" tIns="500" rIns="500" bIns="500" anchor="t">
            <a:noAutofit/>
          </a:bodyPr>
          <a:lstStyle xmlns:a="http://schemas.openxmlformats.org/drawingml/2006/main"/>
          <a:p xmlns:a="http://schemas.openxmlformats.org/drawingml/2006/main">
            <a:pPr marL="0" marR="0" indent="0" algn="l">
              <a:spcBef>
                <a:spcPts val="0"/>
              </a:spcBef>
              <a:spcAft>
                <a:spcPts val="0"/>
              </a:spcAft>
              <a:buClr>
                <a:srgbClr val="A8A8A8"/>
              </a:buClr>
              <a:buSzPts val="2000"/>
              <a:buFont typeface="Arial"/>
              <a:buNone/>
            </a:pPr>
            <a:r>
              <a:rPr sz="2000" b="1" i="0" u="none" cap="none">
                <a:solidFill>
                  <a:srgbClr val="A8A8A8"/>
                </a:solidFill>
                <a:latin typeface="Arial"/>
                <a:ea typeface="Arial"/>
                <a:cs typeface="Arial"/>
              </a:rPr>
              <a:t>A strong graph explanation has four moves:</a:t>
            </a:r>
          </a:p>
        </p:txBody>
      </p:sp>
      <p:sp>
        <p:nvSpPr>
          <p:cNvPr id="209" name="Google Shape;209;p11">
            <a:extLst xmlns:a="http://schemas.openxmlformats.org/drawingml/2006/main">
              <a:ext uri="{FF2B5EF4-FFF2-40B4-BE49-F238E27FC236}">
                <a16:creationId xmlns:a16="http://schemas.microsoft.com/office/drawing/2014/main" id="{52D1A04B-49EA-4C59-86E9-264966BDA846}"/>
              </a:ext>
            </a:extLst>
          </p:cNvPr>
          <p:cNvSpPr>
            <a:spLocks xmlns:a="http://schemas.openxmlformats.org/drawingml/2006/main" noGrp="1"/>
          </p:cNvSpPr>
          <p:nvPr/>
        </p:nvSpPr>
        <p:spPr>
          <a:xfrm xmlns:a="http://schemas.openxmlformats.org/drawingml/2006/main">
            <a:off x="777240" y="2057400"/>
            <a:ext cx="5120640" cy="1417320"/>
          </a:xfrm>
          <a:prstGeom xmlns:a="http://schemas.openxmlformats.org/drawingml/2006/main" prst="rect">
            <a:avLst/>
          </a:prstGeom>
          <a:solidFill xmlns:a="http://schemas.openxmlformats.org/drawingml/2006/main">
            <a:srgbClr val="111113"/>
          </a:solidFill>
          <a:ln xmlns:a="http://schemas.openxmlformats.org/drawingml/2006/main" w="12700" cmpd="sng">
            <a:solidFill>
              <a:srgbClr val="5A5A5A">
                <a:alpha val="8000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10" name="Google Shape;210;p11">
            <a:extLst xmlns:a="http://schemas.openxmlformats.org/drawingml/2006/main">
              <a:ext uri="{FF2B5EF4-FFF2-40B4-BE49-F238E27FC236}">
                <a16:creationId xmlns:a16="http://schemas.microsoft.com/office/drawing/2014/main" id="{13774589-3726-4D7F-A843-A7BD4718097B}"/>
              </a:ext>
            </a:extLst>
          </p:cNvPr>
          <p:cNvSpPr>
            <a:spLocks xmlns:a="http://schemas.openxmlformats.org/drawingml/2006/main" noGrp="1"/>
          </p:cNvSpPr>
          <p:nvPr/>
        </p:nvSpPr>
        <p:spPr>
          <a:xfrm xmlns:a="http://schemas.openxmlformats.org/drawingml/2006/main">
            <a:off x="777240" y="2057400"/>
            <a:ext cx="64008" cy="1417320"/>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11" name="Google Shape;211;p11">
            <a:extLst xmlns:a="http://schemas.openxmlformats.org/drawingml/2006/main">
              <a:ext uri="{FF2B5EF4-FFF2-40B4-BE49-F238E27FC236}">
                <a16:creationId xmlns:a16="http://schemas.microsoft.com/office/drawing/2014/main" id="{041B4244-18DA-412B-B4C4-577514EE1682}"/>
              </a:ext>
            </a:extLst>
          </p:cNvPr>
          <p:cNvSpPr>
            <a:spLocks xmlns:a="http://schemas.openxmlformats.org/drawingml/2006/main" noGrp="1"/>
          </p:cNvSpPr>
          <p:nvPr/>
        </p:nvSpPr>
        <p:spPr>
          <a:xfrm xmlns:a="http://schemas.openxmlformats.org/drawingml/2006/main">
            <a:off x="978408" y="2194560"/>
            <a:ext cx="48006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3342F"/>
              </a:buClr>
              <a:buSzPts val="1100"/>
              <a:buFont typeface="Arial"/>
              <a:buNone/>
            </a:pPr>
            <a:r>
              <a:rPr sz="1100" b="1" i="0" u="none" cap="none">
                <a:solidFill>
                  <a:srgbClr val="E3342F"/>
                </a:solidFill>
                <a:latin typeface="Arial"/>
                <a:ea typeface="Arial"/>
                <a:cs typeface="Arial"/>
              </a:rPr>
              <a:t>1. ORIENT</a:t>
            </a:r>
          </a:p>
        </p:txBody>
      </p:sp>
      <p:sp>
        <p:nvSpPr>
          <p:cNvPr id="212" name="Google Shape;212;p11">
            <a:extLst xmlns:a="http://schemas.openxmlformats.org/drawingml/2006/main">
              <a:ext uri="{FF2B5EF4-FFF2-40B4-BE49-F238E27FC236}">
                <a16:creationId xmlns:a16="http://schemas.microsoft.com/office/drawing/2014/main" id="{39B971D4-00ED-42B7-B2DF-5D47557DA86F}"/>
              </a:ext>
            </a:extLst>
          </p:cNvPr>
          <p:cNvSpPr>
            <a:spLocks xmlns:a="http://schemas.openxmlformats.org/drawingml/2006/main" noGrp="1"/>
          </p:cNvSpPr>
          <p:nvPr/>
        </p:nvSpPr>
        <p:spPr>
          <a:xfrm xmlns:a="http://schemas.openxmlformats.org/drawingml/2006/main">
            <a:off x="978408" y="2514600"/>
            <a:ext cx="4800600" cy="8503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“This graph compares...”</a:t>
            </a:r>
          </a:p>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Name the variables, groups, or prototype versions.</a:t>
            </a:r>
          </a:p>
        </p:txBody>
      </p:sp>
      <p:sp>
        <p:nvSpPr>
          <p:cNvPr id="213" name="Google Shape;213;p11">
            <a:extLst xmlns:a="http://schemas.openxmlformats.org/drawingml/2006/main">
              <a:ext uri="{FF2B5EF4-FFF2-40B4-BE49-F238E27FC236}">
                <a16:creationId xmlns:a16="http://schemas.microsoft.com/office/drawing/2014/main" id="{B9520E27-67F9-40C6-BB1A-AC6CF66ABC11}"/>
              </a:ext>
            </a:extLst>
          </p:cNvPr>
          <p:cNvSpPr>
            <a:spLocks xmlns:a="http://schemas.openxmlformats.org/drawingml/2006/main" noGrp="1"/>
          </p:cNvSpPr>
          <p:nvPr/>
        </p:nvSpPr>
        <p:spPr>
          <a:xfrm xmlns:a="http://schemas.openxmlformats.org/drawingml/2006/main">
            <a:off x="6263640" y="2057400"/>
            <a:ext cx="5120640" cy="1417320"/>
          </a:xfrm>
          <a:prstGeom xmlns:a="http://schemas.openxmlformats.org/drawingml/2006/main" prst="rect">
            <a:avLst/>
          </a:prstGeom>
          <a:solidFill xmlns:a="http://schemas.openxmlformats.org/drawingml/2006/main">
            <a:srgbClr val="111113"/>
          </a:solidFill>
          <a:ln xmlns:a="http://schemas.openxmlformats.org/drawingml/2006/main" w="12700" cmpd="sng">
            <a:solidFill>
              <a:srgbClr val="5A5A5A">
                <a:alpha val="8000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14" name="Google Shape;214;p11">
            <a:extLst xmlns:a="http://schemas.openxmlformats.org/drawingml/2006/main">
              <a:ext uri="{FF2B5EF4-FFF2-40B4-BE49-F238E27FC236}">
                <a16:creationId xmlns:a16="http://schemas.microsoft.com/office/drawing/2014/main" id="{D11486FE-4790-4A64-A0AE-E65652009A4A}"/>
              </a:ext>
            </a:extLst>
          </p:cNvPr>
          <p:cNvSpPr>
            <a:spLocks xmlns:a="http://schemas.openxmlformats.org/drawingml/2006/main" noGrp="1"/>
          </p:cNvSpPr>
          <p:nvPr/>
        </p:nvSpPr>
        <p:spPr>
          <a:xfrm xmlns:a="http://schemas.openxmlformats.org/drawingml/2006/main">
            <a:off x="6263640" y="2057400"/>
            <a:ext cx="64008" cy="1417320"/>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15" name="Google Shape;215;p11">
            <a:extLst xmlns:a="http://schemas.openxmlformats.org/drawingml/2006/main">
              <a:ext uri="{FF2B5EF4-FFF2-40B4-BE49-F238E27FC236}">
                <a16:creationId xmlns:a16="http://schemas.microsoft.com/office/drawing/2014/main" id="{715CD8FD-C581-4A5E-B86E-757D8CAA2B3E}"/>
              </a:ext>
            </a:extLst>
          </p:cNvPr>
          <p:cNvSpPr>
            <a:spLocks xmlns:a="http://schemas.openxmlformats.org/drawingml/2006/main" noGrp="1"/>
          </p:cNvSpPr>
          <p:nvPr/>
        </p:nvSpPr>
        <p:spPr>
          <a:xfrm xmlns:a="http://schemas.openxmlformats.org/drawingml/2006/main">
            <a:off x="6464808" y="2194560"/>
            <a:ext cx="48006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3342F"/>
              </a:buClr>
              <a:buSzPts val="1100"/>
              <a:buFont typeface="Arial"/>
              <a:buNone/>
            </a:pPr>
            <a:r>
              <a:rPr sz="1100" b="1" i="0" u="none" cap="none">
                <a:solidFill>
                  <a:srgbClr val="E3342F"/>
                </a:solidFill>
                <a:latin typeface="Arial"/>
                <a:ea typeface="Arial"/>
                <a:cs typeface="Arial"/>
              </a:rPr>
              <a:t>2. POINT</a:t>
            </a:r>
          </a:p>
        </p:txBody>
      </p:sp>
      <p:sp>
        <p:nvSpPr>
          <p:cNvPr id="216" name="Google Shape;216;p11">
            <a:extLst xmlns:a="http://schemas.openxmlformats.org/drawingml/2006/main">
              <a:ext uri="{FF2B5EF4-FFF2-40B4-BE49-F238E27FC236}">
                <a16:creationId xmlns:a16="http://schemas.microsoft.com/office/drawing/2014/main" id="{AC3EC4E8-72DA-4D0D-991B-01BDAB82D9D7}"/>
              </a:ext>
            </a:extLst>
          </p:cNvPr>
          <p:cNvSpPr>
            <a:spLocks xmlns:a="http://schemas.openxmlformats.org/drawingml/2006/main" noGrp="1"/>
          </p:cNvSpPr>
          <p:nvPr/>
        </p:nvSpPr>
        <p:spPr>
          <a:xfrm xmlns:a="http://schemas.openxmlformats.org/drawingml/2006/main">
            <a:off x="6464808" y="2514600"/>
            <a:ext cx="4800600" cy="8503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“Notice the highest value here...”</a:t>
            </a:r>
          </a:p>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Direct the audience to the key feature.</a:t>
            </a:r>
          </a:p>
        </p:txBody>
      </p:sp>
      <p:sp>
        <p:nvSpPr>
          <p:cNvPr id="217" name="Google Shape;217;p11">
            <a:extLst xmlns:a="http://schemas.openxmlformats.org/drawingml/2006/main">
              <a:ext uri="{FF2B5EF4-FFF2-40B4-BE49-F238E27FC236}">
                <a16:creationId xmlns:a16="http://schemas.microsoft.com/office/drawing/2014/main" id="{9BCBB42D-D7E4-4CFA-9F6E-D6EC017569B1}"/>
              </a:ext>
            </a:extLst>
          </p:cNvPr>
          <p:cNvSpPr>
            <a:spLocks xmlns:a="http://schemas.openxmlformats.org/drawingml/2006/main" noGrp="1"/>
          </p:cNvSpPr>
          <p:nvPr/>
        </p:nvSpPr>
        <p:spPr>
          <a:xfrm xmlns:a="http://schemas.openxmlformats.org/drawingml/2006/main">
            <a:off x="777240" y="3977640"/>
            <a:ext cx="5120640" cy="1417320"/>
          </a:xfrm>
          <a:prstGeom xmlns:a="http://schemas.openxmlformats.org/drawingml/2006/main" prst="rect">
            <a:avLst/>
          </a:prstGeom>
          <a:solidFill xmlns:a="http://schemas.openxmlformats.org/drawingml/2006/main">
            <a:srgbClr val="111113"/>
          </a:solidFill>
          <a:ln xmlns:a="http://schemas.openxmlformats.org/drawingml/2006/main" w="12700" cmpd="sng">
            <a:solidFill>
              <a:srgbClr val="5A5A5A">
                <a:alpha val="8000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18" name="Google Shape;218;p11">
            <a:extLst xmlns:a="http://schemas.openxmlformats.org/drawingml/2006/main">
              <a:ext uri="{FF2B5EF4-FFF2-40B4-BE49-F238E27FC236}">
                <a16:creationId xmlns:a16="http://schemas.microsoft.com/office/drawing/2014/main" id="{62CC97DE-5858-45C0-B716-6BB84E539C95}"/>
              </a:ext>
            </a:extLst>
          </p:cNvPr>
          <p:cNvSpPr>
            <a:spLocks xmlns:a="http://schemas.openxmlformats.org/drawingml/2006/main" noGrp="1"/>
          </p:cNvSpPr>
          <p:nvPr/>
        </p:nvSpPr>
        <p:spPr>
          <a:xfrm xmlns:a="http://schemas.openxmlformats.org/drawingml/2006/main">
            <a:off x="777240" y="3977640"/>
            <a:ext cx="64008" cy="1417320"/>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19" name="Google Shape;219;p11">
            <a:extLst xmlns:a="http://schemas.openxmlformats.org/drawingml/2006/main">
              <a:ext uri="{FF2B5EF4-FFF2-40B4-BE49-F238E27FC236}">
                <a16:creationId xmlns:a16="http://schemas.microsoft.com/office/drawing/2014/main" id="{D02F14B9-88FC-4B4F-8C90-6442BFACD25D}"/>
              </a:ext>
            </a:extLst>
          </p:cNvPr>
          <p:cNvSpPr>
            <a:spLocks xmlns:a="http://schemas.openxmlformats.org/drawingml/2006/main" noGrp="1"/>
          </p:cNvSpPr>
          <p:nvPr/>
        </p:nvSpPr>
        <p:spPr>
          <a:xfrm xmlns:a="http://schemas.openxmlformats.org/drawingml/2006/main">
            <a:off x="978408" y="4114800"/>
            <a:ext cx="48006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3342F"/>
              </a:buClr>
              <a:buSzPts val="1100"/>
              <a:buFont typeface="Arial"/>
              <a:buNone/>
            </a:pPr>
            <a:r>
              <a:rPr sz="1100" b="1" i="0" u="none" cap="none">
                <a:solidFill>
                  <a:srgbClr val="E3342F"/>
                </a:solidFill>
                <a:latin typeface="Arial"/>
                <a:ea typeface="Arial"/>
                <a:cs typeface="Arial"/>
              </a:rPr>
              <a:t>3. INTERPRET</a:t>
            </a:r>
          </a:p>
        </p:txBody>
      </p:sp>
      <p:sp>
        <p:nvSpPr>
          <p:cNvPr id="220" name="Google Shape;220;p11">
            <a:extLst xmlns:a="http://schemas.openxmlformats.org/drawingml/2006/main">
              <a:ext uri="{FF2B5EF4-FFF2-40B4-BE49-F238E27FC236}">
                <a16:creationId xmlns:a16="http://schemas.microsoft.com/office/drawing/2014/main" id="{FACE58FF-263E-4BCA-884B-B285783A1508}"/>
              </a:ext>
            </a:extLst>
          </p:cNvPr>
          <p:cNvSpPr>
            <a:spLocks xmlns:a="http://schemas.openxmlformats.org/drawingml/2006/main" noGrp="1"/>
          </p:cNvSpPr>
          <p:nvPr/>
        </p:nvSpPr>
        <p:spPr>
          <a:xfrm xmlns:a="http://schemas.openxmlformats.org/drawingml/2006/main">
            <a:off x="978408" y="4434840"/>
            <a:ext cx="4800600" cy="8503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“This suggests...”</a:t>
            </a:r>
          </a:p>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Connect the pattern to the research question.</a:t>
            </a:r>
          </a:p>
        </p:txBody>
      </p:sp>
      <p:sp>
        <p:nvSpPr>
          <p:cNvPr id="221" name="Google Shape;221;p11">
            <a:extLst xmlns:a="http://schemas.openxmlformats.org/drawingml/2006/main">
              <a:ext uri="{FF2B5EF4-FFF2-40B4-BE49-F238E27FC236}">
                <a16:creationId xmlns:a16="http://schemas.microsoft.com/office/drawing/2014/main" id="{8C58AE7C-F019-479B-9A25-3F4086DBD8D7}"/>
              </a:ext>
            </a:extLst>
          </p:cNvPr>
          <p:cNvSpPr>
            <a:spLocks xmlns:a="http://schemas.openxmlformats.org/drawingml/2006/main" noGrp="1"/>
          </p:cNvSpPr>
          <p:nvPr/>
        </p:nvSpPr>
        <p:spPr>
          <a:xfrm xmlns:a="http://schemas.openxmlformats.org/drawingml/2006/main">
            <a:off x="6263640" y="3977640"/>
            <a:ext cx="5120640" cy="1417320"/>
          </a:xfrm>
          <a:prstGeom xmlns:a="http://schemas.openxmlformats.org/drawingml/2006/main" prst="rect">
            <a:avLst/>
          </a:prstGeom>
          <a:solidFill xmlns:a="http://schemas.openxmlformats.org/drawingml/2006/main">
            <a:srgbClr val="111113"/>
          </a:solidFill>
          <a:ln xmlns:a="http://schemas.openxmlformats.org/drawingml/2006/main" w="12700" cmpd="sng">
            <a:solidFill>
              <a:srgbClr val="5A5A5A">
                <a:alpha val="8000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22" name="Google Shape;222;p11">
            <a:extLst xmlns:a="http://schemas.openxmlformats.org/drawingml/2006/main">
              <a:ext uri="{FF2B5EF4-FFF2-40B4-BE49-F238E27FC236}">
                <a16:creationId xmlns:a16="http://schemas.microsoft.com/office/drawing/2014/main" id="{C226A5DD-7EDF-4025-9C86-2EB20C15240E}"/>
              </a:ext>
            </a:extLst>
          </p:cNvPr>
          <p:cNvSpPr>
            <a:spLocks xmlns:a="http://schemas.openxmlformats.org/drawingml/2006/main" noGrp="1"/>
          </p:cNvSpPr>
          <p:nvPr/>
        </p:nvSpPr>
        <p:spPr>
          <a:xfrm xmlns:a="http://schemas.openxmlformats.org/drawingml/2006/main">
            <a:off x="6263640" y="3977640"/>
            <a:ext cx="64008" cy="1417320"/>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23" name="Google Shape;223;p11">
            <a:extLst xmlns:a="http://schemas.openxmlformats.org/drawingml/2006/main">
              <a:ext uri="{FF2B5EF4-FFF2-40B4-BE49-F238E27FC236}">
                <a16:creationId xmlns:a16="http://schemas.microsoft.com/office/drawing/2014/main" id="{F3AB2A11-CAB8-46CB-B784-B7B7A89E2C59}"/>
              </a:ext>
            </a:extLst>
          </p:cNvPr>
          <p:cNvSpPr>
            <a:spLocks xmlns:a="http://schemas.openxmlformats.org/drawingml/2006/main" noGrp="1"/>
          </p:cNvSpPr>
          <p:nvPr/>
        </p:nvSpPr>
        <p:spPr>
          <a:xfrm xmlns:a="http://schemas.openxmlformats.org/drawingml/2006/main">
            <a:off x="6464808" y="4114800"/>
            <a:ext cx="48006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3342F"/>
              </a:buClr>
              <a:buSzPts val="1100"/>
              <a:buFont typeface="Arial"/>
              <a:buNone/>
            </a:pPr>
            <a:r>
              <a:rPr sz="1100" b="1" i="0" u="none" cap="none">
                <a:solidFill>
                  <a:srgbClr val="E3342F"/>
                </a:solidFill>
                <a:latin typeface="Arial"/>
                <a:ea typeface="Arial"/>
                <a:cs typeface="Arial"/>
              </a:rPr>
              <a:t>4. LIMIT</a:t>
            </a:r>
          </a:p>
        </p:txBody>
      </p:sp>
      <p:sp>
        <p:nvSpPr>
          <p:cNvPr id="224" name="Google Shape;224;p11">
            <a:extLst xmlns:a="http://schemas.openxmlformats.org/drawingml/2006/main">
              <a:ext uri="{FF2B5EF4-FFF2-40B4-BE49-F238E27FC236}">
                <a16:creationId xmlns:a16="http://schemas.microsoft.com/office/drawing/2014/main" id="{27B3DABF-2A0D-4468-8F61-005B38BB278C}"/>
              </a:ext>
            </a:extLst>
          </p:cNvPr>
          <p:cNvSpPr>
            <a:spLocks xmlns:a="http://schemas.openxmlformats.org/drawingml/2006/main" noGrp="1"/>
          </p:cNvSpPr>
          <p:nvPr/>
        </p:nvSpPr>
        <p:spPr>
          <a:xfrm xmlns:a="http://schemas.openxmlformats.org/drawingml/2006/main">
            <a:off x="6464808" y="4434840"/>
            <a:ext cx="4800600" cy="8503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“One limitation is...”</a:t>
            </a:r>
          </a:p>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Avoid overclaiming and acknowledge uncertainty.</a:t>
            </a:r>
          </a:p>
        </p:txBody>
      </p:sp>
    </p:spTree>
    <p:extLst>
      <p:ext uri="{BB962C8B-B14F-4D97-AF65-F5344CB8AC3E}">
        <p14:creationId xmlns:p14="http://schemas.microsoft.com/office/powerpoint/2010/main" val="259848938"/>
      </p:ext>
    </p:extLst>
  </p:cSld>
</p:sld>
</file>

<file path=ppt/slides/slide10.xml><?xml version="1.0" encoding="utf-8"?>
<p:sld xmlns:p="http://schemas.openxmlformats.org/presentationml/2006/main">
  <p:cSld>
    <p:bg>
      <p:bgPr>
        <a:solidFill xmlns:a="http://schemas.openxmlformats.org/drawingml/2006/main">
          <a:srgbClr val="0B0B0D"/>
        </a:solidFill>
      </p:bgPr>
    </p:bg>
    <p:spTree>
      <p:nvGrpSpPr>
        <p:cNvPr id="1" name=""/>
        <p:cNvGrpSpPr/>
        <p:nvPr/>
      </p:nvGrpSpPr>
      <p:grpSpPr>
        <a:xfrm xmlns:a="http://schemas.openxmlformats.org/drawingml/2006/main"/>
      </p:grpSpPr>
      <p:sp>
        <p:nvSpPr>
          <p:cNvPr id="230" name="Google Shape;230;p12">
            <a:extLst xmlns:a="http://schemas.openxmlformats.org/drawingml/2006/main">
              <a:ext uri="{FF2B5EF4-FFF2-40B4-BE49-F238E27FC236}">
                <a16:creationId xmlns:a16="http://schemas.microsoft.com/office/drawing/2014/main" id="{15AC379F-E1E9-4251-A218-0C56C6EE338B}"/>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D"/>
          </a:solidFill>
          <a:ln xmlns:a="http://schemas.openxmlformats.org/drawingml/2006/main" w="12700" cmpd="sng">
            <a:solidFill>
              <a:srgbClr val="0B0B0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31" name="Google Shape;231;p12">
            <a:extLst xmlns:a="http://schemas.openxmlformats.org/drawingml/2006/main">
              <a:ext uri="{FF2B5EF4-FFF2-40B4-BE49-F238E27FC236}">
                <a16:creationId xmlns:a16="http://schemas.microsoft.com/office/drawing/2014/main" id="{5D2EC697-DC2E-477F-ACBB-83108A844B67}"/>
              </a:ext>
            </a:extLst>
          </p:cNvPr>
          <p:cNvSpPr>
            <a:spLocks xmlns:a="http://schemas.openxmlformats.org/drawingml/2006/main" noGrp="1"/>
          </p:cNvSpPr>
          <p:nvPr/>
        </p:nvSpPr>
        <p:spPr>
          <a:xfrm xmlns:a="http://schemas.openxmlformats.org/drawingml/2006/main">
            <a:off x="0" y="109728"/>
            <a:ext cx="12191695" cy="64008"/>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32" name="Google Shape;232;p12">
            <a:extLst xmlns:a="http://schemas.openxmlformats.org/drawingml/2006/main">
              <a:ext uri="{FF2B5EF4-FFF2-40B4-BE49-F238E27FC236}">
                <a16:creationId xmlns:a16="http://schemas.microsoft.com/office/drawing/2014/main" id="{40A5EF3A-614A-4DE7-9A93-E31BDB12CBA6}"/>
              </a:ext>
            </a:extLst>
          </p:cNvPr>
          <p:cNvSpPr>
            <a:spLocks xmlns:a="http://schemas.openxmlformats.org/drawingml/2006/main" noGrp="1"/>
          </p:cNvSpPr>
          <p:nvPr/>
        </p:nvSpPr>
        <p:spPr>
          <a:xfrm xmlns:a="http://schemas.openxmlformats.org/drawingml/2006/main">
            <a:off x="0" y="6675120"/>
            <a:ext cx="12191695" cy="64008"/>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33" name="Google Shape;233;p12">
            <a:extLst xmlns:a="http://schemas.openxmlformats.org/drawingml/2006/main">
              <a:ext uri="{FF2B5EF4-FFF2-40B4-BE49-F238E27FC236}">
                <a16:creationId xmlns:a16="http://schemas.microsoft.com/office/drawing/2014/main" id="{126A0998-58DE-4370-B2A6-2A6CEB850112}"/>
              </a:ext>
            </a:extLst>
          </p:cNvPr>
          <p:cNvSpPr>
            <a:spLocks xmlns:a="http://schemas.openxmlformats.org/drawingml/2006/main" noGrp="1"/>
          </p:cNvSpPr>
          <p:nvPr/>
        </p:nvSpPr>
        <p:spPr>
          <a:xfrm xmlns:a="http://schemas.openxmlformats.org/drawingml/2006/main">
            <a:off x="384048" y="6364224"/>
            <a:ext cx="29260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A8A8A8"/>
              </a:buClr>
              <a:buSzPts val="950"/>
              <a:buFont typeface="Arial"/>
              <a:buNone/>
            </a:pPr>
            <a:r>
              <a:rPr sz="950" b="1" i="0" u="none" cap="none">
                <a:solidFill>
                  <a:srgbClr val="A8A8A8"/>
                </a:solidFill>
                <a:latin typeface="Arial"/>
                <a:ea typeface="Arial"/>
                <a:cs typeface="Arial"/>
              </a:rPr>
              <a:t>STUDENT ACTIVITY</a:t>
            </a:r>
          </a:p>
        </p:txBody>
      </p:sp>
      <p:sp>
        <p:nvSpPr>
          <p:cNvPr id="234" name="Google Shape;234;p12">
            <a:extLst xmlns:a="http://schemas.openxmlformats.org/drawingml/2006/main">
              <a:ext uri="{FF2B5EF4-FFF2-40B4-BE49-F238E27FC236}">
                <a16:creationId xmlns:a16="http://schemas.microsoft.com/office/drawing/2014/main" id="{3B1B0EBD-8C6C-4B63-B68B-908C70CFADE4}"/>
              </a:ext>
            </a:extLst>
          </p:cNvPr>
          <p:cNvSpPr>
            <a:spLocks xmlns:a="http://schemas.openxmlformats.org/drawingml/2006/main" noGrp="1"/>
          </p:cNvSpPr>
          <p:nvPr/>
        </p:nvSpPr>
        <p:spPr>
          <a:xfrm xmlns:a="http://schemas.openxmlformats.org/drawingml/2006/main">
            <a:off x="10405872" y="6364224"/>
            <a:ext cx="1325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A8A8A8"/>
              </a:buClr>
              <a:buSzPts val="950"/>
              <a:buFont typeface="Arial"/>
              <a:buNone/>
            </a:pPr>
            <a:r>
              <a:rPr sz="950" b="1" i="0" u="none" cap="none">
                <a:solidFill>
                  <a:srgbClr val="A8A8A8"/>
                </a:solidFill>
                <a:latin typeface="Arial"/>
                <a:ea typeface="Arial"/>
                <a:cs typeface="Arial"/>
              </a:rPr>
              <a:t>DECK 17</a:t>
            </a:r>
          </a:p>
        </p:txBody>
      </p:sp>
      <p:sp>
        <p:nvSpPr>
          <p:cNvPr id="235" name="Google Shape;235;p12">
            <a:extLst xmlns:a="http://schemas.openxmlformats.org/drawingml/2006/main">
              <a:ext uri="{FF2B5EF4-FFF2-40B4-BE49-F238E27FC236}">
                <a16:creationId xmlns:a16="http://schemas.microsoft.com/office/drawing/2014/main" id="{A94FFB80-33A4-42DA-9C4E-E8D67105FC6A}"/>
              </a:ext>
            </a:extLst>
          </p:cNvPr>
          <p:cNvSpPr>
            <a:spLocks xmlns:a="http://schemas.openxmlformats.org/drawingml/2006/main" noGrp="1"/>
          </p:cNvSpPr>
          <p:nvPr/>
        </p:nvSpPr>
        <p:spPr>
          <a:xfrm xmlns:a="http://schemas.openxmlformats.org/drawingml/2006/main">
            <a:off x="502920" y="502920"/>
            <a:ext cx="110642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4F4F4"/>
              </a:buClr>
              <a:buSzPts val="3000"/>
              <a:buFont typeface="Play"/>
              <a:buNone/>
            </a:pPr>
            <a:r>
              <a:rPr sz="3000" b="1" i="0" u="none" cap="none">
                <a:solidFill>
                  <a:srgbClr val="F4F4F4"/>
                </a:solidFill>
                <a:latin typeface="Play"/>
                <a:ea typeface="Play"/>
                <a:cs typeface="Play"/>
              </a:rPr>
              <a:t>Activity: Graph Explanation Rehearsal</a:t>
            </a:r>
          </a:p>
        </p:txBody>
      </p:sp>
      <p:sp>
        <p:nvSpPr>
          <p:cNvPr id="236" name="Google Shape;236;p12">
            <a:extLst xmlns:a="http://schemas.openxmlformats.org/drawingml/2006/main">
              <a:ext uri="{FF2B5EF4-FFF2-40B4-BE49-F238E27FC236}">
                <a16:creationId xmlns:a16="http://schemas.microsoft.com/office/drawing/2014/main" id="{C3AB0D1E-8815-4F8E-84F3-CA36DEAED609}"/>
              </a:ext>
            </a:extLst>
          </p:cNvPr>
          <p:cNvSpPr>
            <a:spLocks xmlns:a="http://schemas.openxmlformats.org/drawingml/2006/main" noGrp="1"/>
          </p:cNvSpPr>
          <p:nvPr/>
        </p:nvSpPr>
        <p:spPr>
          <a:xfrm xmlns:a="http://schemas.openxmlformats.org/drawingml/2006/main">
            <a:off x="502920" y="1143000"/>
            <a:ext cx="914400" cy="54864"/>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37" name="Google Shape;237;p12">
            <a:extLst xmlns:a="http://schemas.openxmlformats.org/drawingml/2006/main">
              <a:ext uri="{FF2B5EF4-FFF2-40B4-BE49-F238E27FC236}">
                <a16:creationId xmlns:a16="http://schemas.microsoft.com/office/drawing/2014/main" id="{0A8C24FA-0B6F-443E-858F-FA4689179B92}"/>
              </a:ext>
            </a:extLst>
          </p:cNvPr>
          <p:cNvSpPr>
            <a:spLocks xmlns:a="http://schemas.openxmlformats.org/drawingml/2006/main" noGrp="1"/>
          </p:cNvSpPr>
          <p:nvPr/>
        </p:nvSpPr>
        <p:spPr>
          <a:xfrm xmlns:a="http://schemas.openxmlformats.org/drawingml/2006/main">
            <a:off x="1600200" y="1024128"/>
            <a:ext cx="987552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A8A8A8"/>
              </a:buClr>
              <a:buSzPts val="1300"/>
              <a:buFont typeface="Arial"/>
              <a:buNone/>
            </a:pPr>
            <a:r>
              <a:rPr sz="1300" b="0" i="0" u="none" cap="none">
                <a:solidFill>
                  <a:srgbClr val="A8A8A8"/>
                </a:solidFill>
                <a:latin typeface="Arial"/>
                <a:ea typeface="Arial"/>
                <a:cs typeface="Arial"/>
              </a:rPr>
              <a:t>Use the four-move structure: orient, point, interpret, limit.</a:t>
            </a:r>
          </a:p>
        </p:txBody>
      </p:sp>
      <p:sp>
        <p:nvSpPr>
          <p:cNvPr id="238" name="Google Shape;238;p12">
            <a:extLst xmlns:a="http://schemas.openxmlformats.org/drawingml/2006/main">
              <a:ext uri="{FF2B5EF4-FFF2-40B4-BE49-F238E27FC236}">
                <a16:creationId xmlns:a16="http://schemas.microsoft.com/office/drawing/2014/main" id="{4220C838-6ADE-4719-8C4B-8A351C830670}"/>
              </a:ext>
            </a:extLst>
          </p:cNvPr>
          <p:cNvSpPr>
            <a:spLocks xmlns:a="http://schemas.openxmlformats.org/drawingml/2006/main" noGrp="1"/>
          </p:cNvSpPr>
          <p:nvPr/>
        </p:nvSpPr>
        <p:spPr>
          <a:xfrm xmlns:a="http://schemas.openxmlformats.org/drawingml/2006/main">
            <a:off x="640080" y="1572768"/>
            <a:ext cx="21488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3342F"/>
              </a:buClr>
              <a:buSzPts val="1200"/>
              <a:buFont typeface="Arial"/>
              <a:buNone/>
            </a:pPr>
            <a:r>
              <a:rPr sz="1200" b="1" i="0" u="none" cap="none">
                <a:solidFill>
                  <a:srgbClr val="E3342F"/>
                </a:solidFill>
                <a:latin typeface="Arial"/>
                <a:ea typeface="Arial"/>
                <a:cs typeface="Arial"/>
              </a:rPr>
              <a:t>STUDENT ACTIVITY</a:t>
            </a:r>
          </a:p>
        </p:txBody>
      </p:sp>
      <p:sp>
        <p:nvSpPr>
          <p:cNvPr id="239" name="Google Shape;239;p12">
            <a:extLst xmlns:a="http://schemas.openxmlformats.org/drawingml/2006/main">
              <a:ext uri="{FF2B5EF4-FFF2-40B4-BE49-F238E27FC236}">
                <a16:creationId xmlns:a16="http://schemas.microsoft.com/office/drawing/2014/main" id="{3161ED6D-FA57-4874-9AE1-DE2E77E03C50}"/>
              </a:ext>
            </a:extLst>
          </p:cNvPr>
          <p:cNvSpPr>
            <a:spLocks xmlns:a="http://schemas.openxmlformats.org/drawingml/2006/main" noGrp="1"/>
          </p:cNvSpPr>
          <p:nvPr/>
        </p:nvSpPr>
        <p:spPr>
          <a:xfrm xmlns:a="http://schemas.openxmlformats.org/drawingml/2006/main">
            <a:off x="640080" y="1874520"/>
            <a:ext cx="521208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4F4F4"/>
              </a:buClr>
              <a:buSzPts val="2600"/>
              <a:buFont typeface="Arial"/>
              <a:buNone/>
            </a:pPr>
            <a:r>
              <a:rPr sz="2600" b="1" i="0" u="none" cap="none">
                <a:solidFill>
                  <a:srgbClr val="F4F4F4"/>
                </a:solidFill>
                <a:latin typeface="Arial"/>
                <a:ea typeface="Arial"/>
                <a:cs typeface="Arial"/>
              </a:rPr>
              <a:t>Explain One Visual</a:t>
            </a:r>
          </a:p>
        </p:txBody>
      </p:sp>
      <p:sp>
        <p:nvSpPr>
          <p:cNvPr id="240" name="Google Shape;240;p12">
            <a:extLst xmlns:a="http://schemas.openxmlformats.org/drawingml/2006/main">
              <a:ext uri="{FF2B5EF4-FFF2-40B4-BE49-F238E27FC236}">
                <a16:creationId xmlns:a16="http://schemas.microsoft.com/office/drawing/2014/main" id="{3138DF00-B95F-4D05-BFA4-6D26F7A721FB}"/>
              </a:ext>
            </a:extLst>
          </p:cNvPr>
          <p:cNvSpPr>
            <a:spLocks xmlns:a="http://schemas.openxmlformats.org/drawingml/2006/main" noGrp="1"/>
          </p:cNvSpPr>
          <p:nvPr/>
        </p:nvSpPr>
        <p:spPr>
          <a:xfrm xmlns:a="http://schemas.openxmlformats.org/drawingml/2006/main">
            <a:off x="9509760" y="1901952"/>
            <a:ext cx="18288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E3342F"/>
              </a:buClr>
              <a:buSzPts val="1600"/>
              <a:buFont typeface="Arial"/>
              <a:buNone/>
            </a:pPr>
            <a:r>
              <a:rPr sz="1600" b="1" i="0" u="none" cap="none">
                <a:solidFill>
                  <a:srgbClr val="E3342F"/>
                </a:solidFill>
                <a:latin typeface="Arial"/>
                <a:ea typeface="Arial"/>
                <a:cs typeface="Arial"/>
              </a:rPr>
              <a:t>8 MINUTES</a:t>
            </a:r>
          </a:p>
        </p:txBody>
      </p:sp>
      <p:cxnSp>
        <p:nvCxnSpPr>
          <p:cNvPr id="266" name="Google Shape;241;p12"/>
          <p:cNvCxnSpPr/>
          <p:nvPr/>
        </p:nvCxnSpPr>
        <p:spPr>
          <a:xfrm xmlns:a="http://schemas.openxmlformats.org/drawingml/2006/main">
            <a:off x="640080" y="2523744"/>
            <a:ext cx="10881360" cy="0"/>
          </a:xfrm>
          <a:prstGeom xmlns:a="http://schemas.openxmlformats.org/drawingml/2006/main" prst="straightConnector1">
            <a:avLst/>
          </a:prstGeom>
          <a:ln xmlns:a="http://schemas.openxmlformats.org/drawingml/2006/main" w="12700" cap="flat">
            <a:solidFill>
              <a:srgbClr val="5A5A5A"/>
            </a:solidFill>
            <a:prstDash val="solid"/>
            <a:round/>
            <a:headEnd type="none" w="sm" len="sm"/>
            <a:tailEnd type="none" w="sm" len="sm"/>
          </a:ln>
        </p:spPr>
      </p:cxnSp>
      <p:sp>
        <p:nvSpPr>
          <p:cNvPr id="242" name="Google Shape;242;p12">
            <a:extLst xmlns:a="http://schemas.openxmlformats.org/drawingml/2006/main">
              <a:ext uri="{FF2B5EF4-FFF2-40B4-BE49-F238E27FC236}">
                <a16:creationId xmlns:a16="http://schemas.microsoft.com/office/drawing/2014/main" id="{E7A755C2-08BF-40D2-B9A6-26DA5A82AFB9}"/>
              </a:ext>
            </a:extLst>
          </p:cNvPr>
          <p:cNvSpPr>
            <a:spLocks xmlns:a="http://schemas.openxmlformats.org/drawingml/2006/main" noGrp="1"/>
          </p:cNvSpPr>
          <p:nvPr/>
        </p:nvSpPr>
        <p:spPr>
          <a:xfrm xmlns:a="http://schemas.openxmlformats.org/drawingml/2006/main">
            <a:off x="822960" y="2807208"/>
            <a:ext cx="10515600" cy="2560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ctr">
            <a:noAutofit/>
          </a:bodyPr>
          <a:lstStyle xmlns:a="http://schemas.openxmlformats.org/drawingml/2006/main"/>
          <a:p xmlns:a="http://schemas.openxmlformats.org/drawingml/2006/main">
            <a:pPr marL="0" marR="0" indent="0" algn="l">
              <a:spcBef>
                <a:spcPts val="0"/>
              </a:spcBef>
              <a:spcAft>
                <a:spcPts val="0"/>
              </a:spcAft>
              <a:buClr>
                <a:srgbClr val="F4F4F4"/>
              </a:buClr>
              <a:buSzPts val="2100"/>
              <a:buFont typeface="Arial"/>
              <a:buNone/>
            </a:pPr>
            <a:r>
              <a:rPr sz="2100" b="0" i="0" u="none" cap="none">
                <a:solidFill>
                  <a:srgbClr val="F4F4F4"/>
                </a:solidFill>
                <a:latin typeface="Arial"/>
                <a:ea typeface="Arial"/>
                <a:cs typeface="Arial"/>
              </a:rPr>
              <a:t>Choose your most important graph, table, image, prototype photo, or diagram.</a:t>
            </a:r>
          </a:p>
          <a:p xmlns:a="http://schemas.openxmlformats.org/drawingml/2006/main">
            <a:pPr marL="0" marR="0" indent="0" algn="l">
              <a:spcBef>
                <a:spcPts val="0"/>
              </a:spcBef>
              <a:spcAft>
                <a:spcPts val="0"/>
              </a:spcAft>
              <a:buClr>
                <a:schemeClr val="dk1"/>
              </a:buClr>
              <a:buSzPts val="2100"/>
              <a:buFont typeface="Arial"/>
              <a:buNone/>
            </a:pPr>
            <a:r>
              <a:t/>
            </a:r>
          </a:p>
          <a:p xmlns:a="http://schemas.openxmlformats.org/drawingml/2006/main">
            <a:pPr marL="0" marR="0" indent="0" algn="l">
              <a:spcBef>
                <a:spcPts val="0"/>
              </a:spcBef>
              <a:spcAft>
                <a:spcPts val="0"/>
              </a:spcAft>
              <a:buClr>
                <a:srgbClr val="F4F4F4"/>
              </a:buClr>
              <a:buSzPts val="2100"/>
              <a:buFont typeface="Arial"/>
              <a:buNone/>
            </a:pPr>
            <a:r>
              <a:rPr sz="2100" b="0" i="0" u="none" cap="none">
                <a:solidFill>
                  <a:srgbClr val="F4F4F4"/>
                </a:solidFill>
                <a:latin typeface="Arial"/>
                <a:ea typeface="Arial"/>
                <a:cs typeface="Arial"/>
              </a:rPr>
              <a:t>Practice explaining it in 45–60 seconds. Your partner listens for:</a:t>
            </a:r>
          </a:p>
          <a:p xmlns:a="http://schemas.openxmlformats.org/drawingml/2006/main">
            <a:pPr marL="0" marR="0" indent="0" algn="l">
              <a:spcBef>
                <a:spcPts val="0"/>
              </a:spcBef>
              <a:spcAft>
                <a:spcPts val="0"/>
              </a:spcAft>
              <a:buClr>
                <a:srgbClr val="F4F4F4"/>
              </a:buClr>
              <a:buSzPts val="2100"/>
              <a:buFont typeface="Arial"/>
              <a:buNone/>
            </a:pPr>
            <a:r>
              <a:rPr sz="2100" b="0" i="0" u="none" cap="none">
                <a:solidFill>
                  <a:srgbClr val="F4F4F4"/>
                </a:solidFill>
                <a:latin typeface="Arial"/>
                <a:ea typeface="Arial"/>
                <a:cs typeface="Arial"/>
              </a:rPr>
              <a:t>• what the visual shows</a:t>
            </a:r>
          </a:p>
          <a:p xmlns:a="http://schemas.openxmlformats.org/drawingml/2006/main">
            <a:pPr marL="0" marR="0" indent="0" algn="l">
              <a:spcBef>
                <a:spcPts val="0"/>
              </a:spcBef>
              <a:spcAft>
                <a:spcPts val="0"/>
              </a:spcAft>
              <a:buClr>
                <a:srgbClr val="F4F4F4"/>
              </a:buClr>
              <a:buSzPts val="2100"/>
              <a:buFont typeface="Arial"/>
              <a:buNone/>
            </a:pPr>
            <a:r>
              <a:rPr sz="2100" b="0" i="0" u="none" cap="none">
                <a:solidFill>
                  <a:srgbClr val="F4F4F4"/>
                </a:solidFill>
                <a:latin typeface="Arial"/>
                <a:ea typeface="Arial"/>
                <a:cs typeface="Arial"/>
              </a:rPr>
              <a:t>• what pattern matters</a:t>
            </a:r>
          </a:p>
          <a:p xmlns:a="http://schemas.openxmlformats.org/drawingml/2006/main">
            <a:pPr marL="0" marR="0" indent="0" algn="l">
              <a:spcBef>
                <a:spcPts val="0"/>
              </a:spcBef>
              <a:spcAft>
                <a:spcPts val="0"/>
              </a:spcAft>
              <a:buClr>
                <a:srgbClr val="F4F4F4"/>
              </a:buClr>
              <a:buSzPts val="2100"/>
              <a:buFont typeface="Arial"/>
              <a:buNone/>
            </a:pPr>
            <a:r>
              <a:rPr sz="2100" b="0" i="0" u="none" cap="none">
                <a:solidFill>
                  <a:srgbClr val="F4F4F4"/>
                </a:solidFill>
                <a:latin typeface="Arial"/>
                <a:ea typeface="Arial"/>
                <a:cs typeface="Arial"/>
              </a:rPr>
              <a:t>• what claim it supports</a:t>
            </a:r>
          </a:p>
          <a:p xmlns:a="http://schemas.openxmlformats.org/drawingml/2006/main">
            <a:pPr marL="0" marR="0" indent="0" algn="l">
              <a:spcBef>
                <a:spcPts val="0"/>
              </a:spcBef>
              <a:spcAft>
                <a:spcPts val="0"/>
              </a:spcAft>
              <a:buClr>
                <a:srgbClr val="F4F4F4"/>
              </a:buClr>
              <a:buSzPts val="2100"/>
              <a:buFont typeface="Arial"/>
              <a:buNone/>
            </a:pPr>
            <a:r>
              <a:rPr sz="2100" b="0" i="0" u="none" cap="none">
                <a:solidFill>
                  <a:srgbClr val="F4F4F4"/>
                </a:solidFill>
                <a:latin typeface="Arial"/>
                <a:ea typeface="Arial"/>
                <a:cs typeface="Arial"/>
              </a:rPr>
              <a:t>• what limitation should be remembered</a:t>
            </a:r>
          </a:p>
        </p:txBody>
      </p:sp>
    </p:spTree>
    <p:extLst>
      <p:ext uri="{BB962C8B-B14F-4D97-AF65-F5344CB8AC3E}">
        <p14:creationId xmlns:p14="http://schemas.microsoft.com/office/powerpoint/2010/main" val="1399637017"/>
      </p:ext>
    </p:extLst>
  </p:cSld>
</p:sld>
</file>

<file path=ppt/slides/slide11.xml><?xml version="1.0" encoding="utf-8"?>
<p:sld xmlns:p="http://schemas.openxmlformats.org/presentationml/2006/main">
  <p:cSld>
    <p:bg>
      <p:bgPr>
        <a:solidFill xmlns:a="http://schemas.openxmlformats.org/drawingml/2006/main">
          <a:srgbClr val="0B0B0D"/>
        </a:solidFill>
      </p:bgPr>
    </p:bg>
    <p:spTree>
      <p:nvGrpSpPr>
        <p:cNvPr id="1" name=""/>
        <p:cNvGrpSpPr/>
        <p:nvPr/>
      </p:nvGrpSpPr>
      <p:grpSpPr>
        <a:xfrm xmlns:a="http://schemas.openxmlformats.org/drawingml/2006/main"/>
      </p:grpSpPr>
      <p:sp>
        <p:nvSpPr>
          <p:cNvPr id="248" name="Google Shape;248;p13">
            <a:extLst xmlns:a="http://schemas.openxmlformats.org/drawingml/2006/main">
              <a:ext uri="{FF2B5EF4-FFF2-40B4-BE49-F238E27FC236}">
                <a16:creationId xmlns:a16="http://schemas.microsoft.com/office/drawing/2014/main" id="{4D8875BA-3C34-465D-A8A6-BF8FF2D1007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D"/>
          </a:solidFill>
          <a:ln xmlns:a="http://schemas.openxmlformats.org/drawingml/2006/main" w="12700" cmpd="sng">
            <a:solidFill>
              <a:srgbClr val="0B0B0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49" name="Google Shape;249;p13">
            <a:extLst xmlns:a="http://schemas.openxmlformats.org/drawingml/2006/main">
              <a:ext uri="{FF2B5EF4-FFF2-40B4-BE49-F238E27FC236}">
                <a16:creationId xmlns:a16="http://schemas.microsoft.com/office/drawing/2014/main" id="{1B69DA57-78DD-4654-962B-7852E0D8091E}"/>
              </a:ext>
            </a:extLst>
          </p:cNvPr>
          <p:cNvSpPr>
            <a:spLocks xmlns:a="http://schemas.openxmlformats.org/drawingml/2006/main" noGrp="1"/>
          </p:cNvSpPr>
          <p:nvPr/>
        </p:nvSpPr>
        <p:spPr>
          <a:xfrm xmlns:a="http://schemas.openxmlformats.org/drawingml/2006/main">
            <a:off x="0" y="109728"/>
            <a:ext cx="12191695" cy="64008"/>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50" name="Google Shape;250;p13">
            <a:extLst xmlns:a="http://schemas.openxmlformats.org/drawingml/2006/main">
              <a:ext uri="{FF2B5EF4-FFF2-40B4-BE49-F238E27FC236}">
                <a16:creationId xmlns:a16="http://schemas.microsoft.com/office/drawing/2014/main" id="{19C3AE44-1B04-48B7-8976-0013664F79C9}"/>
              </a:ext>
            </a:extLst>
          </p:cNvPr>
          <p:cNvSpPr>
            <a:spLocks xmlns:a="http://schemas.openxmlformats.org/drawingml/2006/main" noGrp="1"/>
          </p:cNvSpPr>
          <p:nvPr/>
        </p:nvSpPr>
        <p:spPr>
          <a:xfrm xmlns:a="http://schemas.openxmlformats.org/drawingml/2006/main">
            <a:off x="0" y="6675120"/>
            <a:ext cx="12191695" cy="64008"/>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51" name="Google Shape;251;p13">
            <a:extLst xmlns:a="http://schemas.openxmlformats.org/drawingml/2006/main">
              <a:ext uri="{FF2B5EF4-FFF2-40B4-BE49-F238E27FC236}">
                <a16:creationId xmlns:a16="http://schemas.microsoft.com/office/drawing/2014/main" id="{6E720DBF-6D83-471F-959F-E0D9AEFB2FB0}"/>
              </a:ext>
            </a:extLst>
          </p:cNvPr>
          <p:cNvSpPr>
            <a:spLocks xmlns:a="http://schemas.openxmlformats.org/drawingml/2006/main" noGrp="1"/>
          </p:cNvSpPr>
          <p:nvPr/>
        </p:nvSpPr>
        <p:spPr>
          <a:xfrm xmlns:a="http://schemas.openxmlformats.org/drawingml/2006/main">
            <a:off x="384048" y="6364224"/>
            <a:ext cx="29260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A8A8A8"/>
              </a:buClr>
              <a:buSzPts val="950"/>
              <a:buFont typeface="Arial"/>
              <a:buNone/>
            </a:pPr>
            <a:r>
              <a:rPr sz="950" b="1" i="0" u="none" cap="none">
                <a:solidFill>
                  <a:srgbClr val="A8A8A8"/>
                </a:solidFill>
                <a:latin typeface="Arial"/>
                <a:ea typeface="Arial"/>
                <a:cs typeface="Arial"/>
              </a:rPr>
              <a:t>ORAL PRESENTATION</a:t>
            </a:r>
          </a:p>
        </p:txBody>
      </p:sp>
      <p:sp>
        <p:nvSpPr>
          <p:cNvPr id="252" name="Google Shape;252;p13">
            <a:extLst xmlns:a="http://schemas.openxmlformats.org/drawingml/2006/main">
              <a:ext uri="{FF2B5EF4-FFF2-40B4-BE49-F238E27FC236}">
                <a16:creationId xmlns:a16="http://schemas.microsoft.com/office/drawing/2014/main" id="{53C03DEA-2A30-4F63-B3F5-6A1D978C9119}"/>
              </a:ext>
            </a:extLst>
          </p:cNvPr>
          <p:cNvSpPr>
            <a:spLocks xmlns:a="http://schemas.openxmlformats.org/drawingml/2006/main" noGrp="1"/>
          </p:cNvSpPr>
          <p:nvPr/>
        </p:nvSpPr>
        <p:spPr>
          <a:xfrm xmlns:a="http://schemas.openxmlformats.org/drawingml/2006/main">
            <a:off x="10405872" y="6364224"/>
            <a:ext cx="1325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A8A8A8"/>
              </a:buClr>
              <a:buSzPts val="950"/>
              <a:buFont typeface="Arial"/>
              <a:buNone/>
            </a:pPr>
            <a:r>
              <a:rPr sz="950" b="1" i="0" u="none" cap="none">
                <a:solidFill>
                  <a:srgbClr val="A8A8A8"/>
                </a:solidFill>
                <a:latin typeface="Arial"/>
                <a:ea typeface="Arial"/>
                <a:cs typeface="Arial"/>
              </a:rPr>
              <a:t>DECK 17</a:t>
            </a:r>
          </a:p>
        </p:txBody>
      </p:sp>
      <p:sp>
        <p:nvSpPr>
          <p:cNvPr id="253" name="Google Shape;253;p13">
            <a:extLst xmlns:a="http://schemas.openxmlformats.org/drawingml/2006/main">
              <a:ext uri="{FF2B5EF4-FFF2-40B4-BE49-F238E27FC236}">
                <a16:creationId xmlns:a16="http://schemas.microsoft.com/office/drawing/2014/main" id="{D8CBF7BB-F305-4888-82CF-2A72D59C0C71}"/>
              </a:ext>
            </a:extLst>
          </p:cNvPr>
          <p:cNvSpPr>
            <a:spLocks xmlns:a="http://schemas.openxmlformats.org/drawingml/2006/main" noGrp="1"/>
          </p:cNvSpPr>
          <p:nvPr/>
        </p:nvSpPr>
        <p:spPr>
          <a:xfrm xmlns:a="http://schemas.openxmlformats.org/drawingml/2006/main">
            <a:off x="502920" y="502920"/>
            <a:ext cx="110642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4F4F4"/>
              </a:buClr>
              <a:buSzPts val="3000"/>
              <a:buFont typeface="Play"/>
              <a:buNone/>
            </a:pPr>
            <a:r>
              <a:rPr sz="3000" b="1" i="0" u="none" cap="none">
                <a:solidFill>
                  <a:srgbClr val="F4F4F4"/>
                </a:solidFill>
                <a:latin typeface="Play"/>
                <a:ea typeface="Play"/>
                <a:cs typeface="Play"/>
              </a:rPr>
              <a:t>Use Visuals as Partners</a:t>
            </a:r>
          </a:p>
        </p:txBody>
      </p:sp>
      <p:sp>
        <p:nvSpPr>
          <p:cNvPr id="254" name="Google Shape;254;p13">
            <a:extLst xmlns:a="http://schemas.openxmlformats.org/drawingml/2006/main">
              <a:ext uri="{FF2B5EF4-FFF2-40B4-BE49-F238E27FC236}">
                <a16:creationId xmlns:a16="http://schemas.microsoft.com/office/drawing/2014/main" id="{404D71A5-34E3-4626-AF71-5545A2E6F420}"/>
              </a:ext>
            </a:extLst>
          </p:cNvPr>
          <p:cNvSpPr>
            <a:spLocks xmlns:a="http://schemas.openxmlformats.org/drawingml/2006/main" noGrp="1"/>
          </p:cNvSpPr>
          <p:nvPr/>
        </p:nvSpPr>
        <p:spPr>
          <a:xfrm xmlns:a="http://schemas.openxmlformats.org/drawingml/2006/main">
            <a:off x="502920" y="1143000"/>
            <a:ext cx="914400" cy="54864"/>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55" name="Google Shape;255;p13">
            <a:extLst xmlns:a="http://schemas.openxmlformats.org/drawingml/2006/main">
              <a:ext uri="{FF2B5EF4-FFF2-40B4-BE49-F238E27FC236}">
                <a16:creationId xmlns:a16="http://schemas.microsoft.com/office/drawing/2014/main" id="{68FFA178-5C3F-4656-A7A5-95E023CF9B2D}"/>
              </a:ext>
            </a:extLst>
          </p:cNvPr>
          <p:cNvSpPr>
            <a:spLocks xmlns:a="http://schemas.openxmlformats.org/drawingml/2006/main" noGrp="1"/>
          </p:cNvSpPr>
          <p:nvPr/>
        </p:nvSpPr>
        <p:spPr>
          <a:xfrm xmlns:a="http://schemas.openxmlformats.org/drawingml/2006/main">
            <a:off x="1600200" y="1024128"/>
            <a:ext cx="987552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A8A8A8"/>
              </a:buClr>
              <a:buSzPts val="1300"/>
              <a:buFont typeface="Arial"/>
              <a:buNone/>
            </a:pPr>
            <a:r>
              <a:rPr sz="1300" b="0" i="0" u="none" cap="none">
                <a:solidFill>
                  <a:srgbClr val="A8A8A8"/>
                </a:solidFill>
                <a:latin typeface="Arial"/>
                <a:ea typeface="Arial"/>
                <a:cs typeface="Arial"/>
              </a:rPr>
              <a:t>Your visual aid should support the explanation, not replace it.</a:t>
            </a:r>
          </a:p>
        </p:txBody>
      </p:sp>
      <p:sp>
        <p:nvSpPr>
          <p:cNvPr id="256" name="Google Shape;256;p13">
            <a:extLst xmlns:a="http://schemas.openxmlformats.org/drawingml/2006/main">
              <a:ext uri="{FF2B5EF4-FFF2-40B4-BE49-F238E27FC236}">
                <a16:creationId xmlns:a16="http://schemas.microsoft.com/office/drawing/2014/main" id="{0B67F907-67AC-46C5-94EA-6A53E2619B74}"/>
              </a:ext>
            </a:extLst>
          </p:cNvPr>
          <p:cNvSpPr>
            <a:spLocks xmlns:a="http://schemas.openxmlformats.org/drawingml/2006/main" noGrp="1"/>
          </p:cNvSpPr>
          <p:nvPr/>
        </p:nvSpPr>
        <p:spPr>
          <a:xfrm xmlns:a="http://schemas.openxmlformats.org/drawingml/2006/main">
            <a:off x="685800" y="1600200"/>
            <a:ext cx="5166360" cy="3794760"/>
          </a:xfrm>
          <a:prstGeom xmlns:a="http://schemas.openxmlformats.org/drawingml/2006/main" prst="rect">
            <a:avLst/>
          </a:prstGeom>
          <a:solidFill xmlns:a="http://schemas.openxmlformats.org/drawingml/2006/main">
            <a:srgbClr val="111113"/>
          </a:solidFill>
          <a:ln xmlns:a="http://schemas.openxmlformats.org/drawingml/2006/main" w="12700" cmpd="sng">
            <a:solidFill>
              <a:srgbClr val="5A5A5A">
                <a:alpha val="8000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57" name="Google Shape;257;p13">
            <a:extLst xmlns:a="http://schemas.openxmlformats.org/drawingml/2006/main">
              <a:ext uri="{FF2B5EF4-FFF2-40B4-BE49-F238E27FC236}">
                <a16:creationId xmlns:a16="http://schemas.microsoft.com/office/drawing/2014/main" id="{9CECB458-D87B-4E7E-AE9E-89C4FC6B2C55}"/>
              </a:ext>
            </a:extLst>
          </p:cNvPr>
          <p:cNvSpPr>
            <a:spLocks xmlns:a="http://schemas.openxmlformats.org/drawingml/2006/main" noGrp="1"/>
          </p:cNvSpPr>
          <p:nvPr/>
        </p:nvSpPr>
        <p:spPr>
          <a:xfrm xmlns:a="http://schemas.openxmlformats.org/drawingml/2006/main">
            <a:off x="685800" y="1600200"/>
            <a:ext cx="64008" cy="3794760"/>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58" name="Google Shape;258;p13">
            <a:extLst xmlns:a="http://schemas.openxmlformats.org/drawingml/2006/main">
              <a:ext uri="{FF2B5EF4-FFF2-40B4-BE49-F238E27FC236}">
                <a16:creationId xmlns:a16="http://schemas.microsoft.com/office/drawing/2014/main" id="{233A9311-0F66-4DED-B16B-48D26D3EA111}"/>
              </a:ext>
            </a:extLst>
          </p:cNvPr>
          <p:cNvSpPr>
            <a:spLocks xmlns:a="http://schemas.openxmlformats.org/drawingml/2006/main" noGrp="1"/>
          </p:cNvSpPr>
          <p:nvPr/>
        </p:nvSpPr>
        <p:spPr>
          <a:xfrm xmlns:a="http://schemas.openxmlformats.org/drawingml/2006/main">
            <a:off x="886968" y="1737360"/>
            <a:ext cx="484632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3342F"/>
              </a:buClr>
              <a:buSzPts val="1100"/>
              <a:buFont typeface="Arial"/>
              <a:buNone/>
            </a:pPr>
            <a:r>
              <a:rPr sz="1100" b="1" i="0" u="none" cap="none">
                <a:solidFill>
                  <a:srgbClr val="E3342F"/>
                </a:solidFill>
                <a:latin typeface="Arial"/>
                <a:ea typeface="Arial"/>
                <a:cs typeface="Arial"/>
              </a:rPr>
              <a:t>WEAK VISUAL USE</a:t>
            </a:r>
          </a:p>
        </p:txBody>
      </p:sp>
      <p:sp>
        <p:nvSpPr>
          <p:cNvPr id="259" name="Google Shape;259;p13">
            <a:extLst xmlns:a="http://schemas.openxmlformats.org/drawingml/2006/main">
              <a:ext uri="{FF2B5EF4-FFF2-40B4-BE49-F238E27FC236}">
                <a16:creationId xmlns:a16="http://schemas.microsoft.com/office/drawing/2014/main" id="{24791ECB-BB7C-4D88-BBBC-CB11FF93F393}"/>
              </a:ext>
            </a:extLst>
          </p:cNvPr>
          <p:cNvSpPr>
            <a:spLocks xmlns:a="http://schemas.openxmlformats.org/drawingml/2006/main" noGrp="1"/>
          </p:cNvSpPr>
          <p:nvPr/>
        </p:nvSpPr>
        <p:spPr>
          <a:xfrm xmlns:a="http://schemas.openxmlformats.org/drawingml/2006/main">
            <a:off x="886968" y="2057400"/>
            <a:ext cx="4846320" cy="32278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 Reading every word from the board</a:t>
            </a:r>
          </a:p>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 Turning your back to the audience</a:t>
            </a:r>
          </a:p>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 Saying “as you can see” without explaining</a:t>
            </a:r>
          </a:p>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 Ignoring the graph</a:t>
            </a:r>
          </a:p>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 Pointing vaguely at crowded text</a:t>
            </a:r>
          </a:p>
        </p:txBody>
      </p:sp>
      <p:sp>
        <p:nvSpPr>
          <p:cNvPr id="260" name="Google Shape;260;p13">
            <a:extLst xmlns:a="http://schemas.openxmlformats.org/drawingml/2006/main">
              <a:ext uri="{FF2B5EF4-FFF2-40B4-BE49-F238E27FC236}">
                <a16:creationId xmlns:a16="http://schemas.microsoft.com/office/drawing/2014/main" id="{02B23555-2E98-4A86-83F8-83CB1B54A22A}"/>
              </a:ext>
            </a:extLst>
          </p:cNvPr>
          <p:cNvSpPr>
            <a:spLocks xmlns:a="http://schemas.openxmlformats.org/drawingml/2006/main" noGrp="1"/>
          </p:cNvSpPr>
          <p:nvPr/>
        </p:nvSpPr>
        <p:spPr>
          <a:xfrm xmlns:a="http://schemas.openxmlformats.org/drawingml/2006/main">
            <a:off x="6355080" y="1600200"/>
            <a:ext cx="5166360" cy="3794760"/>
          </a:xfrm>
          <a:prstGeom xmlns:a="http://schemas.openxmlformats.org/drawingml/2006/main" prst="rect">
            <a:avLst/>
          </a:prstGeom>
          <a:solidFill xmlns:a="http://schemas.openxmlformats.org/drawingml/2006/main">
            <a:srgbClr val="111113"/>
          </a:solidFill>
          <a:ln xmlns:a="http://schemas.openxmlformats.org/drawingml/2006/main" w="12700" cmpd="sng">
            <a:solidFill>
              <a:srgbClr val="5A5A5A">
                <a:alpha val="8000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61" name="Google Shape;261;p13">
            <a:extLst xmlns:a="http://schemas.openxmlformats.org/drawingml/2006/main">
              <a:ext uri="{FF2B5EF4-FFF2-40B4-BE49-F238E27FC236}">
                <a16:creationId xmlns:a16="http://schemas.microsoft.com/office/drawing/2014/main" id="{803315A1-118C-4EC2-B4D0-0564E4CC322E}"/>
              </a:ext>
            </a:extLst>
          </p:cNvPr>
          <p:cNvSpPr>
            <a:spLocks xmlns:a="http://schemas.openxmlformats.org/drawingml/2006/main" noGrp="1"/>
          </p:cNvSpPr>
          <p:nvPr/>
        </p:nvSpPr>
        <p:spPr>
          <a:xfrm xmlns:a="http://schemas.openxmlformats.org/drawingml/2006/main">
            <a:off x="6355080" y="1600200"/>
            <a:ext cx="64008" cy="3794760"/>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62" name="Google Shape;262;p13">
            <a:extLst xmlns:a="http://schemas.openxmlformats.org/drawingml/2006/main">
              <a:ext uri="{FF2B5EF4-FFF2-40B4-BE49-F238E27FC236}">
                <a16:creationId xmlns:a16="http://schemas.microsoft.com/office/drawing/2014/main" id="{78986BE6-5E55-4005-A414-BD81873F1352}"/>
              </a:ext>
            </a:extLst>
          </p:cNvPr>
          <p:cNvSpPr>
            <a:spLocks xmlns:a="http://schemas.openxmlformats.org/drawingml/2006/main" noGrp="1"/>
          </p:cNvSpPr>
          <p:nvPr/>
        </p:nvSpPr>
        <p:spPr>
          <a:xfrm xmlns:a="http://schemas.openxmlformats.org/drawingml/2006/main">
            <a:off x="6556248" y="1737360"/>
            <a:ext cx="484632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3342F"/>
              </a:buClr>
              <a:buSzPts val="1100"/>
              <a:buFont typeface="Arial"/>
              <a:buNone/>
            </a:pPr>
            <a:r>
              <a:rPr sz="1100" b="1" i="0" u="none" cap="none">
                <a:solidFill>
                  <a:srgbClr val="E3342F"/>
                </a:solidFill>
                <a:latin typeface="Arial"/>
                <a:ea typeface="Arial"/>
                <a:cs typeface="Arial"/>
              </a:rPr>
              <a:t>STRONG VISUAL USE</a:t>
            </a:r>
          </a:p>
        </p:txBody>
      </p:sp>
      <p:sp>
        <p:nvSpPr>
          <p:cNvPr id="263" name="Google Shape;263;p13">
            <a:extLst xmlns:a="http://schemas.openxmlformats.org/drawingml/2006/main">
              <a:ext uri="{FF2B5EF4-FFF2-40B4-BE49-F238E27FC236}">
                <a16:creationId xmlns:a16="http://schemas.microsoft.com/office/drawing/2014/main" id="{294DF84F-1E0F-4239-8337-3AAF433BA7B4}"/>
              </a:ext>
            </a:extLst>
          </p:cNvPr>
          <p:cNvSpPr>
            <a:spLocks xmlns:a="http://schemas.openxmlformats.org/drawingml/2006/main" noGrp="1"/>
          </p:cNvSpPr>
          <p:nvPr/>
        </p:nvSpPr>
        <p:spPr>
          <a:xfrm xmlns:a="http://schemas.openxmlformats.org/drawingml/2006/main">
            <a:off x="6556248" y="2057400"/>
            <a:ext cx="4846320" cy="32278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 Stand so the visual stays visible</a:t>
            </a:r>
          </a:p>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 Point to exact features</a:t>
            </a:r>
          </a:p>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 Explain labels and units when needed</a:t>
            </a:r>
          </a:p>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 Pause while the audience looks</a:t>
            </a:r>
          </a:p>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 Let visuals carry evidence, not paragraphs</a:t>
            </a:r>
          </a:p>
        </p:txBody>
      </p:sp>
    </p:spTree>
    <p:extLst>
      <p:ext uri="{BB962C8B-B14F-4D97-AF65-F5344CB8AC3E}">
        <p14:creationId xmlns:p14="http://schemas.microsoft.com/office/powerpoint/2010/main" val="1021671873"/>
      </p:ext>
    </p:extLst>
  </p:cSld>
</p:sld>
</file>

<file path=ppt/slides/slide12.xml><?xml version="1.0" encoding="utf-8"?>
<p:sld xmlns:p="http://schemas.openxmlformats.org/presentationml/2006/main">
  <p:cSld>
    <p:bg>
      <p:bgPr>
        <a:solidFill xmlns:a="http://schemas.openxmlformats.org/drawingml/2006/main">
          <a:srgbClr val="0B0B0D"/>
        </a:solidFill>
      </p:bgPr>
    </p:bg>
    <p:spTree>
      <p:nvGrpSpPr>
        <p:cNvPr id="1" name=""/>
        <p:cNvGrpSpPr/>
        <p:nvPr/>
      </p:nvGrpSpPr>
      <p:grpSpPr>
        <a:xfrm xmlns:a="http://schemas.openxmlformats.org/drawingml/2006/main"/>
      </p:grpSpPr>
      <p:sp>
        <p:nvSpPr>
          <p:cNvPr id="269" name="Google Shape;269;p14">
            <a:extLst xmlns:a="http://schemas.openxmlformats.org/drawingml/2006/main">
              <a:ext uri="{FF2B5EF4-FFF2-40B4-BE49-F238E27FC236}">
                <a16:creationId xmlns:a16="http://schemas.microsoft.com/office/drawing/2014/main" id="{3BFD838F-8117-4C4A-86F5-A03EDA508C90}"/>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D"/>
          </a:solidFill>
          <a:ln xmlns:a="http://schemas.openxmlformats.org/drawingml/2006/main" w="12700" cmpd="sng">
            <a:solidFill>
              <a:srgbClr val="0B0B0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70" name="Google Shape;270;p14">
            <a:extLst xmlns:a="http://schemas.openxmlformats.org/drawingml/2006/main">
              <a:ext uri="{FF2B5EF4-FFF2-40B4-BE49-F238E27FC236}">
                <a16:creationId xmlns:a16="http://schemas.microsoft.com/office/drawing/2014/main" id="{6F8A724B-9784-4D45-8B5C-672755FED5B7}"/>
              </a:ext>
            </a:extLst>
          </p:cNvPr>
          <p:cNvSpPr>
            <a:spLocks xmlns:a="http://schemas.openxmlformats.org/drawingml/2006/main" noGrp="1"/>
          </p:cNvSpPr>
          <p:nvPr/>
        </p:nvSpPr>
        <p:spPr>
          <a:xfrm xmlns:a="http://schemas.openxmlformats.org/drawingml/2006/main">
            <a:off x="0" y="109728"/>
            <a:ext cx="12191695" cy="64008"/>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71" name="Google Shape;271;p14">
            <a:extLst xmlns:a="http://schemas.openxmlformats.org/drawingml/2006/main">
              <a:ext uri="{FF2B5EF4-FFF2-40B4-BE49-F238E27FC236}">
                <a16:creationId xmlns:a16="http://schemas.microsoft.com/office/drawing/2014/main" id="{FE8B90D1-CA7E-4E85-9D96-DF133109619F}"/>
              </a:ext>
            </a:extLst>
          </p:cNvPr>
          <p:cNvSpPr>
            <a:spLocks xmlns:a="http://schemas.openxmlformats.org/drawingml/2006/main" noGrp="1"/>
          </p:cNvSpPr>
          <p:nvPr/>
        </p:nvSpPr>
        <p:spPr>
          <a:xfrm xmlns:a="http://schemas.openxmlformats.org/drawingml/2006/main">
            <a:off x="0" y="6675120"/>
            <a:ext cx="12191695" cy="64008"/>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72" name="Google Shape;272;p14">
            <a:extLst xmlns:a="http://schemas.openxmlformats.org/drawingml/2006/main">
              <a:ext uri="{FF2B5EF4-FFF2-40B4-BE49-F238E27FC236}">
                <a16:creationId xmlns:a16="http://schemas.microsoft.com/office/drawing/2014/main" id="{C1CFD05F-E3CC-4A72-9500-65D3FAA1FE63}"/>
              </a:ext>
            </a:extLst>
          </p:cNvPr>
          <p:cNvSpPr>
            <a:spLocks xmlns:a="http://schemas.openxmlformats.org/drawingml/2006/main" noGrp="1"/>
          </p:cNvSpPr>
          <p:nvPr/>
        </p:nvSpPr>
        <p:spPr>
          <a:xfrm xmlns:a="http://schemas.openxmlformats.org/drawingml/2006/main">
            <a:off x="384048" y="6364224"/>
            <a:ext cx="29260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A8A8A8"/>
              </a:buClr>
              <a:buSzPts val="950"/>
              <a:buFont typeface="Arial"/>
              <a:buNone/>
            </a:pPr>
            <a:r>
              <a:rPr sz="950" b="1" i="0" u="none" cap="none">
                <a:solidFill>
                  <a:srgbClr val="A8A8A8"/>
                </a:solidFill>
                <a:latin typeface="Arial"/>
                <a:ea typeface="Arial"/>
                <a:cs typeface="Arial"/>
              </a:rPr>
              <a:t>ORAL PRESENTATION</a:t>
            </a:r>
          </a:p>
        </p:txBody>
      </p:sp>
      <p:sp>
        <p:nvSpPr>
          <p:cNvPr id="273" name="Google Shape;273;p14">
            <a:extLst xmlns:a="http://schemas.openxmlformats.org/drawingml/2006/main">
              <a:ext uri="{FF2B5EF4-FFF2-40B4-BE49-F238E27FC236}">
                <a16:creationId xmlns:a16="http://schemas.microsoft.com/office/drawing/2014/main" id="{633970FE-DC1B-4AD6-BCCE-D227EA8B2B1A}"/>
              </a:ext>
            </a:extLst>
          </p:cNvPr>
          <p:cNvSpPr>
            <a:spLocks xmlns:a="http://schemas.openxmlformats.org/drawingml/2006/main" noGrp="1"/>
          </p:cNvSpPr>
          <p:nvPr/>
        </p:nvSpPr>
        <p:spPr>
          <a:xfrm xmlns:a="http://schemas.openxmlformats.org/drawingml/2006/main">
            <a:off x="10405872" y="6364224"/>
            <a:ext cx="1325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A8A8A8"/>
              </a:buClr>
              <a:buSzPts val="950"/>
              <a:buFont typeface="Arial"/>
              <a:buNone/>
            </a:pPr>
            <a:r>
              <a:rPr sz="950" b="1" i="0" u="none" cap="none">
                <a:solidFill>
                  <a:srgbClr val="A8A8A8"/>
                </a:solidFill>
                <a:latin typeface="Arial"/>
                <a:ea typeface="Arial"/>
                <a:cs typeface="Arial"/>
              </a:rPr>
              <a:t>DECK 17</a:t>
            </a:r>
          </a:p>
        </p:txBody>
      </p:sp>
      <p:sp>
        <p:nvSpPr>
          <p:cNvPr id="274" name="Google Shape;274;p14">
            <a:extLst xmlns:a="http://schemas.openxmlformats.org/drawingml/2006/main">
              <a:ext uri="{FF2B5EF4-FFF2-40B4-BE49-F238E27FC236}">
                <a16:creationId xmlns:a16="http://schemas.microsoft.com/office/drawing/2014/main" id="{1AF8A892-C60B-4202-9518-D7583C31E967}"/>
              </a:ext>
            </a:extLst>
          </p:cNvPr>
          <p:cNvSpPr>
            <a:spLocks xmlns:a="http://schemas.openxmlformats.org/drawingml/2006/main" noGrp="1"/>
          </p:cNvSpPr>
          <p:nvPr/>
        </p:nvSpPr>
        <p:spPr>
          <a:xfrm xmlns:a="http://schemas.openxmlformats.org/drawingml/2006/main">
            <a:off x="502920" y="502920"/>
            <a:ext cx="110642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4F4F4"/>
              </a:buClr>
              <a:buSzPts val="3000"/>
              <a:buFont typeface="Play"/>
              <a:buNone/>
            </a:pPr>
            <a:r>
              <a:rPr sz="3000" b="1" i="0" u="none" cap="none">
                <a:solidFill>
                  <a:srgbClr val="F4F4F4"/>
                </a:solidFill>
                <a:latin typeface="Play"/>
                <a:ea typeface="Play"/>
                <a:cs typeface="Play"/>
              </a:rPr>
              <a:t>Pacing and Transitions</a:t>
            </a:r>
          </a:p>
        </p:txBody>
      </p:sp>
      <p:sp>
        <p:nvSpPr>
          <p:cNvPr id="275" name="Google Shape;275;p14">
            <a:extLst xmlns:a="http://schemas.openxmlformats.org/drawingml/2006/main">
              <a:ext uri="{FF2B5EF4-FFF2-40B4-BE49-F238E27FC236}">
                <a16:creationId xmlns:a16="http://schemas.microsoft.com/office/drawing/2014/main" id="{CA8E9F4C-A403-41CB-837B-7A880D8EB227}"/>
              </a:ext>
            </a:extLst>
          </p:cNvPr>
          <p:cNvSpPr>
            <a:spLocks xmlns:a="http://schemas.openxmlformats.org/drawingml/2006/main" noGrp="1"/>
          </p:cNvSpPr>
          <p:nvPr/>
        </p:nvSpPr>
        <p:spPr>
          <a:xfrm xmlns:a="http://schemas.openxmlformats.org/drawingml/2006/main">
            <a:off x="502920" y="1143000"/>
            <a:ext cx="914400" cy="54864"/>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76" name="Google Shape;276;p14">
            <a:extLst xmlns:a="http://schemas.openxmlformats.org/drawingml/2006/main">
              <a:ext uri="{FF2B5EF4-FFF2-40B4-BE49-F238E27FC236}">
                <a16:creationId xmlns:a16="http://schemas.microsoft.com/office/drawing/2014/main" id="{66877A1D-D29F-4F89-8EF5-06AE267ACD6C}"/>
              </a:ext>
            </a:extLst>
          </p:cNvPr>
          <p:cNvSpPr>
            <a:spLocks xmlns:a="http://schemas.openxmlformats.org/drawingml/2006/main" noGrp="1"/>
          </p:cNvSpPr>
          <p:nvPr/>
        </p:nvSpPr>
        <p:spPr>
          <a:xfrm xmlns:a="http://schemas.openxmlformats.org/drawingml/2006/main">
            <a:off x="1600200" y="1024128"/>
            <a:ext cx="987552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A8A8A8"/>
              </a:buClr>
              <a:buSzPts val="1300"/>
              <a:buFont typeface="Arial"/>
              <a:buNone/>
            </a:pPr>
            <a:r>
              <a:rPr sz="1300" b="0" i="0" u="none" cap="none">
                <a:solidFill>
                  <a:srgbClr val="A8A8A8"/>
                </a:solidFill>
                <a:latin typeface="Arial"/>
                <a:ea typeface="Arial"/>
                <a:cs typeface="Arial"/>
              </a:rPr>
              <a:t>A presentation feels professional when the audience knows where they are.</a:t>
            </a:r>
          </a:p>
        </p:txBody>
      </p:sp>
      <p:sp>
        <p:nvSpPr>
          <p:cNvPr id="277" name="Google Shape;277;p14">
            <a:extLst xmlns:a="http://schemas.openxmlformats.org/drawingml/2006/main">
              <a:ext uri="{FF2B5EF4-FFF2-40B4-BE49-F238E27FC236}">
                <a16:creationId xmlns:a16="http://schemas.microsoft.com/office/drawing/2014/main" id="{FBAA4F7D-5BDA-442A-B33C-3DED494221E5}"/>
              </a:ext>
            </a:extLst>
          </p:cNvPr>
          <p:cNvSpPr>
            <a:spLocks xmlns:a="http://schemas.openxmlformats.org/drawingml/2006/main" noGrp="1"/>
          </p:cNvSpPr>
          <p:nvPr/>
        </p:nvSpPr>
        <p:spPr>
          <a:xfrm xmlns:a="http://schemas.openxmlformats.org/drawingml/2006/main">
            <a:off x="685800" y="1645920"/>
            <a:ext cx="5166360" cy="3520440"/>
          </a:xfrm>
          <a:prstGeom xmlns:a="http://schemas.openxmlformats.org/drawingml/2006/main" prst="rect">
            <a:avLst/>
          </a:prstGeom>
          <a:solidFill xmlns:a="http://schemas.openxmlformats.org/drawingml/2006/main">
            <a:srgbClr val="111113"/>
          </a:solidFill>
          <a:ln xmlns:a="http://schemas.openxmlformats.org/drawingml/2006/main" w="12700" cmpd="sng">
            <a:solidFill>
              <a:srgbClr val="5A5A5A">
                <a:alpha val="8000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78" name="Google Shape;278;p14">
            <a:extLst xmlns:a="http://schemas.openxmlformats.org/drawingml/2006/main">
              <a:ext uri="{FF2B5EF4-FFF2-40B4-BE49-F238E27FC236}">
                <a16:creationId xmlns:a16="http://schemas.microsoft.com/office/drawing/2014/main" id="{F2E027CF-E608-4BDE-908E-C811915E921F}"/>
              </a:ext>
            </a:extLst>
          </p:cNvPr>
          <p:cNvSpPr>
            <a:spLocks xmlns:a="http://schemas.openxmlformats.org/drawingml/2006/main" noGrp="1"/>
          </p:cNvSpPr>
          <p:nvPr/>
        </p:nvSpPr>
        <p:spPr>
          <a:xfrm xmlns:a="http://schemas.openxmlformats.org/drawingml/2006/main">
            <a:off x="685800" y="1645920"/>
            <a:ext cx="64008" cy="3520440"/>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79" name="Google Shape;279;p14">
            <a:extLst xmlns:a="http://schemas.openxmlformats.org/drawingml/2006/main">
              <a:ext uri="{FF2B5EF4-FFF2-40B4-BE49-F238E27FC236}">
                <a16:creationId xmlns:a16="http://schemas.microsoft.com/office/drawing/2014/main" id="{42C6B22B-B248-419E-9CF9-92073E00A84F}"/>
              </a:ext>
            </a:extLst>
          </p:cNvPr>
          <p:cNvSpPr>
            <a:spLocks xmlns:a="http://schemas.openxmlformats.org/drawingml/2006/main" noGrp="1"/>
          </p:cNvSpPr>
          <p:nvPr/>
        </p:nvSpPr>
        <p:spPr>
          <a:xfrm xmlns:a="http://schemas.openxmlformats.org/drawingml/2006/main">
            <a:off x="886968" y="1783080"/>
            <a:ext cx="484632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3342F"/>
              </a:buClr>
              <a:buSzPts val="1100"/>
              <a:buFont typeface="Arial"/>
              <a:buNone/>
            </a:pPr>
            <a:r>
              <a:rPr sz="1100" b="1" i="0" u="none" cap="none">
                <a:solidFill>
                  <a:srgbClr val="E3342F"/>
                </a:solidFill>
                <a:latin typeface="Arial"/>
                <a:ea typeface="Arial"/>
                <a:cs typeface="Arial"/>
              </a:rPr>
              <a:t>PACING</a:t>
            </a:r>
          </a:p>
        </p:txBody>
      </p:sp>
      <p:sp>
        <p:nvSpPr>
          <p:cNvPr id="280" name="Google Shape;280;p14">
            <a:extLst xmlns:a="http://schemas.openxmlformats.org/drawingml/2006/main">
              <a:ext uri="{FF2B5EF4-FFF2-40B4-BE49-F238E27FC236}">
                <a16:creationId xmlns:a16="http://schemas.microsoft.com/office/drawing/2014/main" id="{33A6107A-CF9B-48AE-BDFB-18B6D44E1922}"/>
              </a:ext>
            </a:extLst>
          </p:cNvPr>
          <p:cNvSpPr>
            <a:spLocks xmlns:a="http://schemas.openxmlformats.org/drawingml/2006/main" noGrp="1"/>
          </p:cNvSpPr>
          <p:nvPr/>
        </p:nvSpPr>
        <p:spPr>
          <a:xfrm xmlns:a="http://schemas.openxmlformats.org/drawingml/2006/main">
            <a:off x="886968" y="2103120"/>
            <a:ext cx="4846320" cy="29535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Slow down for the research question, the main graph, the conclusion, and limitations.</a:t>
            </a:r>
          </a:p>
          <a:p xmlns:a="http://schemas.openxmlformats.org/drawingml/2006/main">
            <a:pPr marL="0" marR="0" indent="0" algn="l">
              <a:spcBef>
                <a:spcPts val="0"/>
              </a:spcBef>
              <a:spcAft>
                <a:spcPts val="0"/>
              </a:spcAft>
              <a:buClr>
                <a:schemeClr val="dk1"/>
              </a:buClr>
              <a:buSzPts val="1600"/>
              <a:buFont typeface="Arial"/>
              <a:buNone/>
            </a:pPr>
            <a:r>
              <a:t/>
            </a:r>
          </a:p>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Fast delivery often signals uncertainty, even when the student understands the work.</a:t>
            </a:r>
          </a:p>
        </p:txBody>
      </p:sp>
      <p:sp>
        <p:nvSpPr>
          <p:cNvPr id="281" name="Google Shape;281;p14">
            <a:extLst xmlns:a="http://schemas.openxmlformats.org/drawingml/2006/main">
              <a:ext uri="{FF2B5EF4-FFF2-40B4-BE49-F238E27FC236}">
                <a16:creationId xmlns:a16="http://schemas.microsoft.com/office/drawing/2014/main" id="{F3FF5F19-E762-48B5-9AE4-888555A86FBD}"/>
              </a:ext>
            </a:extLst>
          </p:cNvPr>
          <p:cNvSpPr>
            <a:spLocks xmlns:a="http://schemas.openxmlformats.org/drawingml/2006/main" noGrp="1"/>
          </p:cNvSpPr>
          <p:nvPr/>
        </p:nvSpPr>
        <p:spPr>
          <a:xfrm xmlns:a="http://schemas.openxmlformats.org/drawingml/2006/main">
            <a:off x="6355080" y="1645920"/>
            <a:ext cx="5166360" cy="3520440"/>
          </a:xfrm>
          <a:prstGeom xmlns:a="http://schemas.openxmlformats.org/drawingml/2006/main" prst="rect">
            <a:avLst/>
          </a:prstGeom>
          <a:solidFill xmlns:a="http://schemas.openxmlformats.org/drawingml/2006/main">
            <a:srgbClr val="111113"/>
          </a:solidFill>
          <a:ln xmlns:a="http://schemas.openxmlformats.org/drawingml/2006/main" w="12700" cmpd="sng">
            <a:solidFill>
              <a:srgbClr val="5A5A5A">
                <a:alpha val="8000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82" name="Google Shape;282;p14">
            <a:extLst xmlns:a="http://schemas.openxmlformats.org/drawingml/2006/main">
              <a:ext uri="{FF2B5EF4-FFF2-40B4-BE49-F238E27FC236}">
                <a16:creationId xmlns:a16="http://schemas.microsoft.com/office/drawing/2014/main" id="{CA52A7DE-339A-45DB-BEA1-F4FB12992550}"/>
              </a:ext>
            </a:extLst>
          </p:cNvPr>
          <p:cNvSpPr>
            <a:spLocks xmlns:a="http://schemas.openxmlformats.org/drawingml/2006/main" noGrp="1"/>
          </p:cNvSpPr>
          <p:nvPr/>
        </p:nvSpPr>
        <p:spPr>
          <a:xfrm xmlns:a="http://schemas.openxmlformats.org/drawingml/2006/main">
            <a:off x="6355080" y="1645920"/>
            <a:ext cx="64008" cy="3520440"/>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83" name="Google Shape;283;p14">
            <a:extLst xmlns:a="http://schemas.openxmlformats.org/drawingml/2006/main">
              <a:ext uri="{FF2B5EF4-FFF2-40B4-BE49-F238E27FC236}">
                <a16:creationId xmlns:a16="http://schemas.microsoft.com/office/drawing/2014/main" id="{AE520474-CC68-4AB6-B2A0-9AAE09AD4DF0}"/>
              </a:ext>
            </a:extLst>
          </p:cNvPr>
          <p:cNvSpPr>
            <a:spLocks xmlns:a="http://schemas.openxmlformats.org/drawingml/2006/main" noGrp="1"/>
          </p:cNvSpPr>
          <p:nvPr/>
        </p:nvSpPr>
        <p:spPr>
          <a:xfrm xmlns:a="http://schemas.openxmlformats.org/drawingml/2006/main">
            <a:off x="6556248" y="1783080"/>
            <a:ext cx="484632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3342F"/>
              </a:buClr>
              <a:buSzPts val="1100"/>
              <a:buFont typeface="Arial"/>
              <a:buNone/>
            </a:pPr>
            <a:r>
              <a:rPr sz="1100" b="1" i="0" u="none" cap="none">
                <a:solidFill>
                  <a:srgbClr val="E3342F"/>
                </a:solidFill>
                <a:latin typeface="Arial"/>
                <a:ea typeface="Arial"/>
                <a:cs typeface="Arial"/>
              </a:rPr>
              <a:t>TRANSITIONS</a:t>
            </a:r>
          </a:p>
        </p:txBody>
      </p:sp>
      <p:sp>
        <p:nvSpPr>
          <p:cNvPr id="284" name="Google Shape;284;p14">
            <a:extLst xmlns:a="http://schemas.openxmlformats.org/drawingml/2006/main">
              <a:ext uri="{FF2B5EF4-FFF2-40B4-BE49-F238E27FC236}">
                <a16:creationId xmlns:a16="http://schemas.microsoft.com/office/drawing/2014/main" id="{A73B8D0B-C9AC-40C6-A7B0-9B29D2D2AB06}"/>
              </a:ext>
            </a:extLst>
          </p:cNvPr>
          <p:cNvSpPr>
            <a:spLocks xmlns:a="http://schemas.openxmlformats.org/drawingml/2006/main" noGrp="1"/>
          </p:cNvSpPr>
          <p:nvPr/>
        </p:nvSpPr>
        <p:spPr>
          <a:xfrm xmlns:a="http://schemas.openxmlformats.org/drawingml/2006/main">
            <a:off x="6556248" y="2103120"/>
            <a:ext cx="4846320" cy="29535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Use short guideposts:</a:t>
            </a:r>
          </a:p>
          <a:p xmlns:a="http://schemas.openxmlformats.org/drawingml/2006/main">
            <a:pPr marL="0" marR="0" indent="0" algn="l">
              <a:spcBef>
                <a:spcPts val="0"/>
              </a:spcBef>
              <a:spcAft>
                <a:spcPts val="0"/>
              </a:spcAft>
              <a:buClr>
                <a:schemeClr val="dk1"/>
              </a:buClr>
              <a:buSzPts val="1600"/>
              <a:buFont typeface="Arial"/>
              <a:buNone/>
            </a:pPr>
            <a:r>
              <a:t/>
            </a:r>
          </a:p>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 “To test this...”</a:t>
            </a:r>
          </a:p>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 “The most important result was...”</a:t>
            </a:r>
          </a:p>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 “This connects back to my question because...”</a:t>
            </a:r>
          </a:p>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 “One limitation is...”</a:t>
            </a:r>
          </a:p>
        </p:txBody>
      </p:sp>
    </p:spTree>
    <p:extLst>
      <p:ext uri="{BB962C8B-B14F-4D97-AF65-F5344CB8AC3E}">
        <p14:creationId xmlns:p14="http://schemas.microsoft.com/office/powerpoint/2010/main" val="1404332919"/>
      </p:ext>
    </p:extLst>
  </p:cSld>
</p:sld>
</file>

<file path=ppt/slides/slide13.xml><?xml version="1.0" encoding="utf-8"?>
<p:sld xmlns:p="http://schemas.openxmlformats.org/presentationml/2006/main">
  <p:cSld>
    <p:bg>
      <p:bgPr>
        <a:solidFill xmlns:a="http://schemas.openxmlformats.org/drawingml/2006/main">
          <a:srgbClr val="0B0B0D"/>
        </a:solidFill>
      </p:bgPr>
    </p:bg>
    <p:spTree>
      <p:nvGrpSpPr>
        <p:cNvPr id="1" name=""/>
        <p:cNvGrpSpPr/>
        <p:nvPr/>
      </p:nvGrpSpPr>
      <p:grpSpPr>
        <a:xfrm xmlns:a="http://schemas.openxmlformats.org/drawingml/2006/main"/>
      </p:grpSpPr>
      <p:sp>
        <p:nvSpPr>
          <p:cNvPr id="290" name="Google Shape;290;p15">
            <a:extLst xmlns:a="http://schemas.openxmlformats.org/drawingml/2006/main">
              <a:ext uri="{FF2B5EF4-FFF2-40B4-BE49-F238E27FC236}">
                <a16:creationId xmlns:a16="http://schemas.microsoft.com/office/drawing/2014/main" id="{EEFAB876-901F-4BAD-B1D5-0618036CB104}"/>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D"/>
          </a:solidFill>
          <a:ln xmlns:a="http://schemas.openxmlformats.org/drawingml/2006/main" w="12700" cmpd="sng">
            <a:solidFill>
              <a:srgbClr val="0B0B0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91" name="Google Shape;291;p15">
            <a:extLst xmlns:a="http://schemas.openxmlformats.org/drawingml/2006/main">
              <a:ext uri="{FF2B5EF4-FFF2-40B4-BE49-F238E27FC236}">
                <a16:creationId xmlns:a16="http://schemas.microsoft.com/office/drawing/2014/main" id="{6C8434BE-63AF-4B52-8788-02736ED51B19}"/>
              </a:ext>
            </a:extLst>
          </p:cNvPr>
          <p:cNvSpPr>
            <a:spLocks xmlns:a="http://schemas.openxmlformats.org/drawingml/2006/main" noGrp="1"/>
          </p:cNvSpPr>
          <p:nvPr/>
        </p:nvSpPr>
        <p:spPr>
          <a:xfrm xmlns:a="http://schemas.openxmlformats.org/drawingml/2006/main">
            <a:off x="0" y="109728"/>
            <a:ext cx="12191695" cy="64008"/>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92" name="Google Shape;292;p15">
            <a:extLst xmlns:a="http://schemas.openxmlformats.org/drawingml/2006/main">
              <a:ext uri="{FF2B5EF4-FFF2-40B4-BE49-F238E27FC236}">
                <a16:creationId xmlns:a16="http://schemas.microsoft.com/office/drawing/2014/main" id="{9BD88306-DFCD-4798-9A9E-131A2716C968}"/>
              </a:ext>
            </a:extLst>
          </p:cNvPr>
          <p:cNvSpPr>
            <a:spLocks xmlns:a="http://schemas.openxmlformats.org/drawingml/2006/main" noGrp="1"/>
          </p:cNvSpPr>
          <p:nvPr/>
        </p:nvSpPr>
        <p:spPr>
          <a:xfrm xmlns:a="http://schemas.openxmlformats.org/drawingml/2006/main">
            <a:off x="0" y="6675120"/>
            <a:ext cx="12191695" cy="64008"/>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93" name="Google Shape;293;p15">
            <a:extLst xmlns:a="http://schemas.openxmlformats.org/drawingml/2006/main">
              <a:ext uri="{FF2B5EF4-FFF2-40B4-BE49-F238E27FC236}">
                <a16:creationId xmlns:a16="http://schemas.microsoft.com/office/drawing/2014/main" id="{1A59123A-F032-403D-9302-B1566E6B70C0}"/>
              </a:ext>
            </a:extLst>
          </p:cNvPr>
          <p:cNvSpPr>
            <a:spLocks xmlns:a="http://schemas.openxmlformats.org/drawingml/2006/main" noGrp="1"/>
          </p:cNvSpPr>
          <p:nvPr/>
        </p:nvSpPr>
        <p:spPr>
          <a:xfrm xmlns:a="http://schemas.openxmlformats.org/drawingml/2006/main">
            <a:off x="384048" y="6364224"/>
            <a:ext cx="29260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A8A8A8"/>
              </a:buClr>
              <a:buSzPts val="950"/>
              <a:buFont typeface="Arial"/>
              <a:buNone/>
            </a:pPr>
            <a:r>
              <a:rPr sz="950" b="1" i="0" u="none" cap="none">
                <a:solidFill>
                  <a:srgbClr val="A8A8A8"/>
                </a:solidFill>
                <a:latin typeface="Arial"/>
                <a:ea typeface="Arial"/>
                <a:cs typeface="Arial"/>
              </a:rPr>
              <a:t>ORAL PRESENTATION</a:t>
            </a:r>
          </a:p>
        </p:txBody>
      </p:sp>
      <p:sp>
        <p:nvSpPr>
          <p:cNvPr id="294" name="Google Shape;294;p15">
            <a:extLst xmlns:a="http://schemas.openxmlformats.org/drawingml/2006/main">
              <a:ext uri="{FF2B5EF4-FFF2-40B4-BE49-F238E27FC236}">
                <a16:creationId xmlns:a16="http://schemas.microsoft.com/office/drawing/2014/main" id="{2C5EFC6C-2591-415E-B145-0A1ED4ED0CD7}"/>
              </a:ext>
            </a:extLst>
          </p:cNvPr>
          <p:cNvSpPr>
            <a:spLocks xmlns:a="http://schemas.openxmlformats.org/drawingml/2006/main" noGrp="1"/>
          </p:cNvSpPr>
          <p:nvPr/>
        </p:nvSpPr>
        <p:spPr>
          <a:xfrm xmlns:a="http://schemas.openxmlformats.org/drawingml/2006/main">
            <a:off x="10405872" y="6364224"/>
            <a:ext cx="1325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A8A8A8"/>
              </a:buClr>
              <a:buSzPts val="950"/>
              <a:buFont typeface="Arial"/>
              <a:buNone/>
            </a:pPr>
            <a:r>
              <a:rPr sz="950" b="1" i="0" u="none" cap="none">
                <a:solidFill>
                  <a:srgbClr val="A8A8A8"/>
                </a:solidFill>
                <a:latin typeface="Arial"/>
                <a:ea typeface="Arial"/>
                <a:cs typeface="Arial"/>
              </a:rPr>
              <a:t>DECK 17</a:t>
            </a:r>
          </a:p>
        </p:txBody>
      </p:sp>
      <p:sp>
        <p:nvSpPr>
          <p:cNvPr id="295" name="Google Shape;295;p15">
            <a:extLst xmlns:a="http://schemas.openxmlformats.org/drawingml/2006/main">
              <a:ext uri="{FF2B5EF4-FFF2-40B4-BE49-F238E27FC236}">
                <a16:creationId xmlns:a16="http://schemas.microsoft.com/office/drawing/2014/main" id="{4D46153C-421E-4DBA-830D-A88577190669}"/>
              </a:ext>
            </a:extLst>
          </p:cNvPr>
          <p:cNvSpPr>
            <a:spLocks xmlns:a="http://schemas.openxmlformats.org/drawingml/2006/main" noGrp="1"/>
          </p:cNvSpPr>
          <p:nvPr/>
        </p:nvSpPr>
        <p:spPr>
          <a:xfrm xmlns:a="http://schemas.openxmlformats.org/drawingml/2006/main">
            <a:off x="502920" y="502920"/>
            <a:ext cx="110642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4F4F4"/>
              </a:buClr>
              <a:buSzPts val="3000"/>
              <a:buFont typeface="Play"/>
              <a:buNone/>
            </a:pPr>
            <a:r>
              <a:rPr sz="3000" b="1" i="0" u="none" cap="none">
                <a:solidFill>
                  <a:srgbClr val="F4F4F4"/>
                </a:solidFill>
                <a:latin typeface="Play"/>
                <a:ea typeface="Play"/>
                <a:cs typeface="Play"/>
              </a:rPr>
              <a:t>Audience Adaptation</a:t>
            </a:r>
          </a:p>
        </p:txBody>
      </p:sp>
      <p:sp>
        <p:nvSpPr>
          <p:cNvPr id="296" name="Google Shape;296;p15">
            <a:extLst xmlns:a="http://schemas.openxmlformats.org/drawingml/2006/main">
              <a:ext uri="{FF2B5EF4-FFF2-40B4-BE49-F238E27FC236}">
                <a16:creationId xmlns:a16="http://schemas.microsoft.com/office/drawing/2014/main" id="{17184962-29A5-405B-B992-45618926C2C0}"/>
              </a:ext>
            </a:extLst>
          </p:cNvPr>
          <p:cNvSpPr>
            <a:spLocks xmlns:a="http://schemas.openxmlformats.org/drawingml/2006/main" noGrp="1"/>
          </p:cNvSpPr>
          <p:nvPr/>
        </p:nvSpPr>
        <p:spPr>
          <a:xfrm xmlns:a="http://schemas.openxmlformats.org/drawingml/2006/main">
            <a:off x="502920" y="1143000"/>
            <a:ext cx="914400" cy="54864"/>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97" name="Google Shape;297;p15">
            <a:extLst xmlns:a="http://schemas.openxmlformats.org/drawingml/2006/main">
              <a:ext uri="{FF2B5EF4-FFF2-40B4-BE49-F238E27FC236}">
                <a16:creationId xmlns:a16="http://schemas.microsoft.com/office/drawing/2014/main" id="{64CF65F2-433D-4D8E-86FA-130009D260B4}"/>
              </a:ext>
            </a:extLst>
          </p:cNvPr>
          <p:cNvSpPr>
            <a:spLocks xmlns:a="http://schemas.openxmlformats.org/drawingml/2006/main" noGrp="1"/>
          </p:cNvSpPr>
          <p:nvPr/>
        </p:nvSpPr>
        <p:spPr>
          <a:xfrm xmlns:a="http://schemas.openxmlformats.org/drawingml/2006/main">
            <a:off x="1600200" y="1024128"/>
            <a:ext cx="987552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A8A8A8"/>
              </a:buClr>
              <a:buSzPts val="1300"/>
              <a:buFont typeface="Arial"/>
              <a:buNone/>
            </a:pPr>
            <a:r>
              <a:rPr sz="1300" b="0" i="0" u="none" cap="none">
                <a:solidFill>
                  <a:srgbClr val="A8A8A8"/>
                </a:solidFill>
                <a:latin typeface="Arial"/>
                <a:ea typeface="Arial"/>
                <a:cs typeface="Arial"/>
              </a:rPr>
              <a:t>Different audiences need different levels of background.</a:t>
            </a:r>
          </a:p>
        </p:txBody>
      </p:sp>
      <p:sp>
        <p:nvSpPr>
          <p:cNvPr id="298" name="Google Shape;298;p15">
            <a:extLst xmlns:a="http://schemas.openxmlformats.org/drawingml/2006/main">
              <a:ext uri="{FF2B5EF4-FFF2-40B4-BE49-F238E27FC236}">
                <a16:creationId xmlns:a16="http://schemas.microsoft.com/office/drawing/2014/main" id="{5E1301B4-92BA-45E7-A316-C57D302F4937}"/>
              </a:ext>
            </a:extLst>
          </p:cNvPr>
          <p:cNvSpPr>
            <a:spLocks xmlns:a="http://schemas.openxmlformats.org/drawingml/2006/main" noGrp="1"/>
          </p:cNvSpPr>
          <p:nvPr/>
        </p:nvSpPr>
        <p:spPr>
          <a:xfrm xmlns:a="http://schemas.openxmlformats.org/drawingml/2006/main">
            <a:off x="731520" y="1554480"/>
            <a:ext cx="5166360" cy="1097280"/>
          </a:xfrm>
          <a:prstGeom xmlns:a="http://schemas.openxmlformats.org/drawingml/2006/main" prst="rect">
            <a:avLst/>
          </a:prstGeom>
          <a:solidFill xmlns:a="http://schemas.openxmlformats.org/drawingml/2006/main">
            <a:srgbClr val="111113"/>
          </a:solidFill>
          <a:ln xmlns:a="http://schemas.openxmlformats.org/drawingml/2006/main" w="12700" cmpd="sng">
            <a:solidFill>
              <a:srgbClr val="5A5A5A">
                <a:alpha val="8000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99" name="Google Shape;299;p15">
            <a:extLst xmlns:a="http://schemas.openxmlformats.org/drawingml/2006/main">
              <a:ext uri="{FF2B5EF4-FFF2-40B4-BE49-F238E27FC236}">
                <a16:creationId xmlns:a16="http://schemas.microsoft.com/office/drawing/2014/main" id="{CA668006-7290-4171-9DCE-D5782651AB35}"/>
              </a:ext>
            </a:extLst>
          </p:cNvPr>
          <p:cNvSpPr>
            <a:spLocks xmlns:a="http://schemas.openxmlformats.org/drawingml/2006/main" noGrp="1"/>
          </p:cNvSpPr>
          <p:nvPr/>
        </p:nvSpPr>
        <p:spPr>
          <a:xfrm xmlns:a="http://schemas.openxmlformats.org/drawingml/2006/main">
            <a:off x="731520" y="1554480"/>
            <a:ext cx="64008" cy="1097280"/>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00" name="Google Shape;300;p15">
            <a:extLst xmlns:a="http://schemas.openxmlformats.org/drawingml/2006/main">
              <a:ext uri="{FF2B5EF4-FFF2-40B4-BE49-F238E27FC236}">
                <a16:creationId xmlns:a16="http://schemas.microsoft.com/office/drawing/2014/main" id="{276D6FCC-B13F-4B61-BF1B-EEBE010CE3E7}"/>
              </a:ext>
            </a:extLst>
          </p:cNvPr>
          <p:cNvSpPr>
            <a:spLocks xmlns:a="http://schemas.openxmlformats.org/drawingml/2006/main" noGrp="1"/>
          </p:cNvSpPr>
          <p:nvPr/>
        </p:nvSpPr>
        <p:spPr>
          <a:xfrm xmlns:a="http://schemas.openxmlformats.org/drawingml/2006/main">
            <a:off x="932688" y="1691640"/>
            <a:ext cx="484632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3342F"/>
              </a:buClr>
              <a:buSzPts val="1100"/>
              <a:buFont typeface="Arial"/>
              <a:buNone/>
            </a:pPr>
            <a:r>
              <a:rPr sz="1100" b="1" i="0" u="none" cap="none">
                <a:solidFill>
                  <a:srgbClr val="E3342F"/>
                </a:solidFill>
                <a:latin typeface="Arial"/>
                <a:ea typeface="Arial"/>
                <a:cs typeface="Arial"/>
              </a:rPr>
              <a:t>YOUNGER STUDENT</a:t>
            </a:r>
          </a:p>
        </p:txBody>
      </p:sp>
      <p:sp>
        <p:nvSpPr>
          <p:cNvPr id="301" name="Google Shape;301;p15">
            <a:extLst xmlns:a="http://schemas.openxmlformats.org/drawingml/2006/main">
              <a:ext uri="{FF2B5EF4-FFF2-40B4-BE49-F238E27FC236}">
                <a16:creationId xmlns:a16="http://schemas.microsoft.com/office/drawing/2014/main" id="{77EACF31-BA91-411F-8FE0-F312701D7A9F}"/>
              </a:ext>
            </a:extLst>
          </p:cNvPr>
          <p:cNvSpPr>
            <a:spLocks xmlns:a="http://schemas.openxmlformats.org/drawingml/2006/main" noGrp="1"/>
          </p:cNvSpPr>
          <p:nvPr/>
        </p:nvSpPr>
        <p:spPr>
          <a:xfrm xmlns:a="http://schemas.openxmlformats.org/drawingml/2006/main">
            <a:off x="932688" y="2011680"/>
            <a:ext cx="4846320" cy="53035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Use simple vocabulary, analogies, and concrete visuals. Avoid unexplained technical terms.</a:t>
            </a:r>
          </a:p>
        </p:txBody>
      </p:sp>
      <p:sp>
        <p:nvSpPr>
          <p:cNvPr id="302" name="Google Shape;302;p15">
            <a:extLst xmlns:a="http://schemas.openxmlformats.org/drawingml/2006/main">
              <a:ext uri="{FF2B5EF4-FFF2-40B4-BE49-F238E27FC236}">
                <a16:creationId xmlns:a16="http://schemas.microsoft.com/office/drawing/2014/main" id="{D739A872-7052-44C4-819F-A40B33F5F7D1}"/>
              </a:ext>
            </a:extLst>
          </p:cNvPr>
          <p:cNvSpPr>
            <a:spLocks xmlns:a="http://schemas.openxmlformats.org/drawingml/2006/main" noGrp="1"/>
          </p:cNvSpPr>
          <p:nvPr/>
        </p:nvSpPr>
        <p:spPr>
          <a:xfrm xmlns:a="http://schemas.openxmlformats.org/drawingml/2006/main">
            <a:off x="6263640" y="1554480"/>
            <a:ext cx="5166360" cy="1097280"/>
          </a:xfrm>
          <a:prstGeom xmlns:a="http://schemas.openxmlformats.org/drawingml/2006/main" prst="rect">
            <a:avLst/>
          </a:prstGeom>
          <a:solidFill xmlns:a="http://schemas.openxmlformats.org/drawingml/2006/main">
            <a:srgbClr val="111113"/>
          </a:solidFill>
          <a:ln xmlns:a="http://schemas.openxmlformats.org/drawingml/2006/main" w="12700" cmpd="sng">
            <a:solidFill>
              <a:srgbClr val="5A5A5A">
                <a:alpha val="8000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03" name="Google Shape;303;p15">
            <a:extLst xmlns:a="http://schemas.openxmlformats.org/drawingml/2006/main">
              <a:ext uri="{FF2B5EF4-FFF2-40B4-BE49-F238E27FC236}">
                <a16:creationId xmlns:a16="http://schemas.microsoft.com/office/drawing/2014/main" id="{A3B4C934-C3E6-4C8B-9A2A-4A8B93ABB25E}"/>
              </a:ext>
            </a:extLst>
          </p:cNvPr>
          <p:cNvSpPr>
            <a:spLocks xmlns:a="http://schemas.openxmlformats.org/drawingml/2006/main" noGrp="1"/>
          </p:cNvSpPr>
          <p:nvPr/>
        </p:nvSpPr>
        <p:spPr>
          <a:xfrm xmlns:a="http://schemas.openxmlformats.org/drawingml/2006/main">
            <a:off x="6263640" y="1554480"/>
            <a:ext cx="64008" cy="1097280"/>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04" name="Google Shape;304;p15">
            <a:extLst xmlns:a="http://schemas.openxmlformats.org/drawingml/2006/main">
              <a:ext uri="{FF2B5EF4-FFF2-40B4-BE49-F238E27FC236}">
                <a16:creationId xmlns:a16="http://schemas.microsoft.com/office/drawing/2014/main" id="{04EBC869-77F7-4F3D-AE60-67D7102CCEC6}"/>
              </a:ext>
            </a:extLst>
          </p:cNvPr>
          <p:cNvSpPr>
            <a:spLocks xmlns:a="http://schemas.openxmlformats.org/drawingml/2006/main" noGrp="1"/>
          </p:cNvSpPr>
          <p:nvPr/>
        </p:nvSpPr>
        <p:spPr>
          <a:xfrm xmlns:a="http://schemas.openxmlformats.org/drawingml/2006/main">
            <a:off x="6464808" y="1691640"/>
            <a:ext cx="484632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3342F"/>
              </a:buClr>
              <a:buSzPts val="1100"/>
              <a:buFont typeface="Arial"/>
              <a:buNone/>
            </a:pPr>
            <a:r>
              <a:rPr sz="1100" b="1" i="0" u="none" cap="none">
                <a:solidFill>
                  <a:srgbClr val="E3342F"/>
                </a:solidFill>
                <a:latin typeface="Arial"/>
                <a:ea typeface="Arial"/>
                <a:cs typeface="Arial"/>
              </a:rPr>
              <a:t>COMMUNITY MEMBER</a:t>
            </a:r>
          </a:p>
        </p:txBody>
      </p:sp>
      <p:sp>
        <p:nvSpPr>
          <p:cNvPr id="305" name="Google Shape;305;p15">
            <a:extLst xmlns:a="http://schemas.openxmlformats.org/drawingml/2006/main">
              <a:ext uri="{FF2B5EF4-FFF2-40B4-BE49-F238E27FC236}">
                <a16:creationId xmlns:a16="http://schemas.microsoft.com/office/drawing/2014/main" id="{83B496E8-24ED-4F48-A25C-07FD28E843E5}"/>
              </a:ext>
            </a:extLst>
          </p:cNvPr>
          <p:cNvSpPr>
            <a:spLocks xmlns:a="http://schemas.openxmlformats.org/drawingml/2006/main" noGrp="1"/>
          </p:cNvSpPr>
          <p:nvPr/>
        </p:nvSpPr>
        <p:spPr>
          <a:xfrm xmlns:a="http://schemas.openxmlformats.org/drawingml/2006/main">
            <a:off x="6464808" y="2011680"/>
            <a:ext cx="4846320" cy="53035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Explain why the project matters and what problem or need connects it to the real world.</a:t>
            </a:r>
          </a:p>
        </p:txBody>
      </p:sp>
      <p:sp>
        <p:nvSpPr>
          <p:cNvPr id="306" name="Google Shape;306;p15">
            <a:extLst xmlns:a="http://schemas.openxmlformats.org/drawingml/2006/main">
              <a:ext uri="{FF2B5EF4-FFF2-40B4-BE49-F238E27FC236}">
                <a16:creationId xmlns:a16="http://schemas.microsoft.com/office/drawing/2014/main" id="{B8995040-F46A-47B9-86E1-7AFF00E7A298}"/>
              </a:ext>
            </a:extLst>
          </p:cNvPr>
          <p:cNvSpPr>
            <a:spLocks xmlns:a="http://schemas.openxmlformats.org/drawingml/2006/main" noGrp="1"/>
          </p:cNvSpPr>
          <p:nvPr/>
        </p:nvSpPr>
        <p:spPr>
          <a:xfrm xmlns:a="http://schemas.openxmlformats.org/drawingml/2006/main">
            <a:off x="731520" y="3291840"/>
            <a:ext cx="5166360" cy="1097280"/>
          </a:xfrm>
          <a:prstGeom xmlns:a="http://schemas.openxmlformats.org/drawingml/2006/main" prst="rect">
            <a:avLst/>
          </a:prstGeom>
          <a:solidFill xmlns:a="http://schemas.openxmlformats.org/drawingml/2006/main">
            <a:srgbClr val="111113"/>
          </a:solidFill>
          <a:ln xmlns:a="http://schemas.openxmlformats.org/drawingml/2006/main" w="12700" cmpd="sng">
            <a:solidFill>
              <a:srgbClr val="5A5A5A">
                <a:alpha val="8000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07" name="Google Shape;307;p15">
            <a:extLst xmlns:a="http://schemas.openxmlformats.org/drawingml/2006/main">
              <a:ext uri="{FF2B5EF4-FFF2-40B4-BE49-F238E27FC236}">
                <a16:creationId xmlns:a16="http://schemas.microsoft.com/office/drawing/2014/main" id="{6D57386A-1917-462D-8BCD-7657D76BA756}"/>
              </a:ext>
            </a:extLst>
          </p:cNvPr>
          <p:cNvSpPr>
            <a:spLocks xmlns:a="http://schemas.openxmlformats.org/drawingml/2006/main" noGrp="1"/>
          </p:cNvSpPr>
          <p:nvPr/>
        </p:nvSpPr>
        <p:spPr>
          <a:xfrm xmlns:a="http://schemas.openxmlformats.org/drawingml/2006/main">
            <a:off x="731520" y="3291840"/>
            <a:ext cx="64008" cy="1097280"/>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08" name="Google Shape;308;p15">
            <a:extLst xmlns:a="http://schemas.openxmlformats.org/drawingml/2006/main">
              <a:ext uri="{FF2B5EF4-FFF2-40B4-BE49-F238E27FC236}">
                <a16:creationId xmlns:a16="http://schemas.microsoft.com/office/drawing/2014/main" id="{92B283DC-F895-496E-8A36-E532E450A1CF}"/>
              </a:ext>
            </a:extLst>
          </p:cNvPr>
          <p:cNvSpPr>
            <a:spLocks xmlns:a="http://schemas.openxmlformats.org/drawingml/2006/main" noGrp="1"/>
          </p:cNvSpPr>
          <p:nvPr/>
        </p:nvSpPr>
        <p:spPr>
          <a:xfrm xmlns:a="http://schemas.openxmlformats.org/drawingml/2006/main">
            <a:off x="932688" y="3429000"/>
            <a:ext cx="484632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3342F"/>
              </a:buClr>
              <a:buSzPts val="1100"/>
              <a:buFont typeface="Arial"/>
              <a:buNone/>
            </a:pPr>
            <a:r>
              <a:rPr sz="1100" b="1" i="0" u="none" cap="none">
                <a:solidFill>
                  <a:srgbClr val="E3342F"/>
                </a:solidFill>
                <a:latin typeface="Arial"/>
                <a:ea typeface="Arial"/>
                <a:cs typeface="Arial"/>
              </a:rPr>
              <a:t>SCIENCE TEACHER</a:t>
            </a:r>
          </a:p>
        </p:txBody>
      </p:sp>
      <p:sp>
        <p:nvSpPr>
          <p:cNvPr id="309" name="Google Shape;309;p15">
            <a:extLst xmlns:a="http://schemas.openxmlformats.org/drawingml/2006/main">
              <a:ext uri="{FF2B5EF4-FFF2-40B4-BE49-F238E27FC236}">
                <a16:creationId xmlns:a16="http://schemas.microsoft.com/office/drawing/2014/main" id="{EA7254C4-970E-4B91-ACD1-0FF2F6E9800B}"/>
              </a:ext>
            </a:extLst>
          </p:cNvPr>
          <p:cNvSpPr>
            <a:spLocks xmlns:a="http://schemas.openxmlformats.org/drawingml/2006/main" noGrp="1"/>
          </p:cNvSpPr>
          <p:nvPr/>
        </p:nvSpPr>
        <p:spPr>
          <a:xfrm xmlns:a="http://schemas.openxmlformats.org/drawingml/2006/main">
            <a:off x="932688" y="3749040"/>
            <a:ext cx="4846320" cy="53035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Be ready to explain variables, method choices, data quality, and limitations.</a:t>
            </a:r>
          </a:p>
        </p:txBody>
      </p:sp>
      <p:sp>
        <p:nvSpPr>
          <p:cNvPr id="310" name="Google Shape;310;p15">
            <a:extLst xmlns:a="http://schemas.openxmlformats.org/drawingml/2006/main">
              <a:ext uri="{FF2B5EF4-FFF2-40B4-BE49-F238E27FC236}">
                <a16:creationId xmlns:a16="http://schemas.microsoft.com/office/drawing/2014/main" id="{8BDC0FE5-3D52-4AB6-9BE5-9F0A045B74E2}"/>
              </a:ext>
            </a:extLst>
          </p:cNvPr>
          <p:cNvSpPr>
            <a:spLocks xmlns:a="http://schemas.openxmlformats.org/drawingml/2006/main" noGrp="1"/>
          </p:cNvSpPr>
          <p:nvPr/>
        </p:nvSpPr>
        <p:spPr>
          <a:xfrm xmlns:a="http://schemas.openxmlformats.org/drawingml/2006/main">
            <a:off x="6263640" y="3291840"/>
            <a:ext cx="5166360" cy="1097280"/>
          </a:xfrm>
          <a:prstGeom xmlns:a="http://schemas.openxmlformats.org/drawingml/2006/main" prst="rect">
            <a:avLst/>
          </a:prstGeom>
          <a:solidFill xmlns:a="http://schemas.openxmlformats.org/drawingml/2006/main">
            <a:srgbClr val="111113"/>
          </a:solidFill>
          <a:ln xmlns:a="http://schemas.openxmlformats.org/drawingml/2006/main" w="12700" cmpd="sng">
            <a:solidFill>
              <a:srgbClr val="5A5A5A">
                <a:alpha val="8000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11" name="Google Shape;311;p15">
            <a:extLst xmlns:a="http://schemas.openxmlformats.org/drawingml/2006/main">
              <a:ext uri="{FF2B5EF4-FFF2-40B4-BE49-F238E27FC236}">
                <a16:creationId xmlns:a16="http://schemas.microsoft.com/office/drawing/2014/main" id="{6D86A385-A306-4A74-B141-EBC1632EB1FE}"/>
              </a:ext>
            </a:extLst>
          </p:cNvPr>
          <p:cNvSpPr>
            <a:spLocks xmlns:a="http://schemas.openxmlformats.org/drawingml/2006/main" noGrp="1"/>
          </p:cNvSpPr>
          <p:nvPr/>
        </p:nvSpPr>
        <p:spPr>
          <a:xfrm xmlns:a="http://schemas.openxmlformats.org/drawingml/2006/main">
            <a:off x="6263640" y="3291840"/>
            <a:ext cx="64008" cy="1097280"/>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12" name="Google Shape;312;p15">
            <a:extLst xmlns:a="http://schemas.openxmlformats.org/drawingml/2006/main">
              <a:ext uri="{FF2B5EF4-FFF2-40B4-BE49-F238E27FC236}">
                <a16:creationId xmlns:a16="http://schemas.microsoft.com/office/drawing/2014/main" id="{AD585723-FB59-45B5-BE1B-97D5A6D9AB83}"/>
              </a:ext>
            </a:extLst>
          </p:cNvPr>
          <p:cNvSpPr>
            <a:spLocks xmlns:a="http://schemas.openxmlformats.org/drawingml/2006/main" noGrp="1"/>
          </p:cNvSpPr>
          <p:nvPr/>
        </p:nvSpPr>
        <p:spPr>
          <a:xfrm xmlns:a="http://schemas.openxmlformats.org/drawingml/2006/main">
            <a:off x="6464808" y="3429000"/>
            <a:ext cx="484632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3342F"/>
              </a:buClr>
              <a:buSzPts val="1100"/>
              <a:buFont typeface="Arial"/>
              <a:buNone/>
            </a:pPr>
            <a:r>
              <a:rPr sz="1100" b="1" i="0" u="none" cap="none">
                <a:solidFill>
                  <a:srgbClr val="E3342F"/>
                </a:solidFill>
                <a:latin typeface="Arial"/>
                <a:ea typeface="Arial"/>
                <a:cs typeface="Arial"/>
              </a:rPr>
              <a:t>MENTOR OR EXPERT</a:t>
            </a:r>
          </a:p>
        </p:txBody>
      </p:sp>
      <p:sp>
        <p:nvSpPr>
          <p:cNvPr id="313" name="Google Shape;313;p15">
            <a:extLst xmlns:a="http://schemas.openxmlformats.org/drawingml/2006/main">
              <a:ext uri="{FF2B5EF4-FFF2-40B4-BE49-F238E27FC236}">
                <a16:creationId xmlns:a16="http://schemas.microsoft.com/office/drawing/2014/main" id="{3C1E7F42-08D5-42FC-A5B7-FF1013B59ACA}"/>
              </a:ext>
            </a:extLst>
          </p:cNvPr>
          <p:cNvSpPr>
            <a:spLocks xmlns:a="http://schemas.openxmlformats.org/drawingml/2006/main" noGrp="1"/>
          </p:cNvSpPr>
          <p:nvPr/>
        </p:nvSpPr>
        <p:spPr>
          <a:xfrm xmlns:a="http://schemas.openxmlformats.org/drawingml/2006/main">
            <a:off x="6464808" y="3749040"/>
            <a:ext cx="4846320" cy="53035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Be ready for technical questions about measurement, design decisions, uncertainty, and next steps.</a:t>
            </a:r>
          </a:p>
        </p:txBody>
      </p:sp>
    </p:spTree>
    <p:extLst>
      <p:ext uri="{BB962C8B-B14F-4D97-AF65-F5344CB8AC3E}">
        <p14:creationId xmlns:p14="http://schemas.microsoft.com/office/powerpoint/2010/main" val="1165525331"/>
      </p:ext>
    </p:extLst>
  </p:cSld>
</p:sld>
</file>

<file path=ppt/slides/slide14.xml><?xml version="1.0" encoding="utf-8"?>
<p:sld xmlns:p="http://schemas.openxmlformats.org/presentationml/2006/main">
  <p:cSld>
    <p:bg>
      <p:bgPr>
        <a:solidFill xmlns:a="http://schemas.openxmlformats.org/drawingml/2006/main">
          <a:srgbClr val="0B0B0D"/>
        </a:solidFill>
      </p:bgPr>
    </p:bg>
    <p:spTree>
      <p:nvGrpSpPr>
        <p:cNvPr id="1" name=""/>
        <p:cNvGrpSpPr/>
        <p:nvPr/>
      </p:nvGrpSpPr>
      <p:grpSpPr>
        <a:xfrm xmlns:a="http://schemas.openxmlformats.org/drawingml/2006/main"/>
      </p:grpSpPr>
      <p:sp>
        <p:nvSpPr>
          <p:cNvPr id="319" name="Google Shape;319;p16">
            <a:extLst xmlns:a="http://schemas.openxmlformats.org/drawingml/2006/main">
              <a:ext uri="{FF2B5EF4-FFF2-40B4-BE49-F238E27FC236}">
                <a16:creationId xmlns:a16="http://schemas.microsoft.com/office/drawing/2014/main" id="{E20D78F4-125B-4286-A5B1-4AFC4E2E6D70}"/>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D"/>
          </a:solidFill>
          <a:ln xmlns:a="http://schemas.openxmlformats.org/drawingml/2006/main" w="12700" cmpd="sng">
            <a:solidFill>
              <a:srgbClr val="0B0B0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20" name="Google Shape;320;p16">
            <a:extLst xmlns:a="http://schemas.openxmlformats.org/drawingml/2006/main">
              <a:ext uri="{FF2B5EF4-FFF2-40B4-BE49-F238E27FC236}">
                <a16:creationId xmlns:a16="http://schemas.microsoft.com/office/drawing/2014/main" id="{73E42498-F2EA-4B40-A424-5111DE0703A9}"/>
              </a:ext>
            </a:extLst>
          </p:cNvPr>
          <p:cNvSpPr>
            <a:spLocks xmlns:a="http://schemas.openxmlformats.org/drawingml/2006/main" noGrp="1"/>
          </p:cNvSpPr>
          <p:nvPr/>
        </p:nvSpPr>
        <p:spPr>
          <a:xfrm xmlns:a="http://schemas.openxmlformats.org/drawingml/2006/main">
            <a:off x="0" y="109728"/>
            <a:ext cx="12191695" cy="64008"/>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21" name="Google Shape;321;p16">
            <a:extLst xmlns:a="http://schemas.openxmlformats.org/drawingml/2006/main">
              <a:ext uri="{FF2B5EF4-FFF2-40B4-BE49-F238E27FC236}">
                <a16:creationId xmlns:a16="http://schemas.microsoft.com/office/drawing/2014/main" id="{BB3AD4E6-DC5E-4F7A-BE68-9D73B065F093}"/>
              </a:ext>
            </a:extLst>
          </p:cNvPr>
          <p:cNvSpPr>
            <a:spLocks xmlns:a="http://schemas.openxmlformats.org/drawingml/2006/main" noGrp="1"/>
          </p:cNvSpPr>
          <p:nvPr/>
        </p:nvSpPr>
        <p:spPr>
          <a:xfrm xmlns:a="http://schemas.openxmlformats.org/drawingml/2006/main">
            <a:off x="0" y="6675120"/>
            <a:ext cx="12191695" cy="64008"/>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22" name="Google Shape;322;p16">
            <a:extLst xmlns:a="http://schemas.openxmlformats.org/drawingml/2006/main">
              <a:ext uri="{FF2B5EF4-FFF2-40B4-BE49-F238E27FC236}">
                <a16:creationId xmlns:a16="http://schemas.microsoft.com/office/drawing/2014/main" id="{2A5616A5-6625-4F75-AB65-D2F311A6A916}"/>
              </a:ext>
            </a:extLst>
          </p:cNvPr>
          <p:cNvSpPr>
            <a:spLocks xmlns:a="http://schemas.openxmlformats.org/drawingml/2006/main" noGrp="1"/>
          </p:cNvSpPr>
          <p:nvPr/>
        </p:nvSpPr>
        <p:spPr>
          <a:xfrm xmlns:a="http://schemas.openxmlformats.org/drawingml/2006/main">
            <a:off x="384048" y="6364224"/>
            <a:ext cx="29260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A8A8A8"/>
              </a:buClr>
              <a:buSzPts val="950"/>
              <a:buFont typeface="Arial"/>
              <a:buNone/>
            </a:pPr>
            <a:r>
              <a:rPr sz="950" b="1" i="0" u="none" cap="none">
                <a:solidFill>
                  <a:srgbClr val="A8A8A8"/>
                </a:solidFill>
                <a:latin typeface="Arial"/>
                <a:ea typeface="Arial"/>
                <a:cs typeface="Arial"/>
              </a:rPr>
              <a:t>STUDENT ACTIVITY</a:t>
            </a:r>
          </a:p>
        </p:txBody>
      </p:sp>
      <p:sp>
        <p:nvSpPr>
          <p:cNvPr id="323" name="Google Shape;323;p16">
            <a:extLst xmlns:a="http://schemas.openxmlformats.org/drawingml/2006/main">
              <a:ext uri="{FF2B5EF4-FFF2-40B4-BE49-F238E27FC236}">
                <a16:creationId xmlns:a16="http://schemas.microsoft.com/office/drawing/2014/main" id="{D9345A96-FFBD-49D2-A1D4-CC78C8D7C74D}"/>
              </a:ext>
            </a:extLst>
          </p:cNvPr>
          <p:cNvSpPr>
            <a:spLocks xmlns:a="http://schemas.openxmlformats.org/drawingml/2006/main" noGrp="1"/>
          </p:cNvSpPr>
          <p:nvPr/>
        </p:nvSpPr>
        <p:spPr>
          <a:xfrm xmlns:a="http://schemas.openxmlformats.org/drawingml/2006/main">
            <a:off x="10405872" y="6364224"/>
            <a:ext cx="1325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A8A8A8"/>
              </a:buClr>
              <a:buSzPts val="950"/>
              <a:buFont typeface="Arial"/>
              <a:buNone/>
            </a:pPr>
            <a:r>
              <a:rPr sz="950" b="1" i="0" u="none" cap="none">
                <a:solidFill>
                  <a:srgbClr val="A8A8A8"/>
                </a:solidFill>
                <a:latin typeface="Arial"/>
                <a:ea typeface="Arial"/>
                <a:cs typeface="Arial"/>
              </a:rPr>
              <a:t>DECK 17</a:t>
            </a:r>
          </a:p>
        </p:txBody>
      </p:sp>
      <p:sp>
        <p:nvSpPr>
          <p:cNvPr id="324" name="Google Shape;324;p16">
            <a:extLst xmlns:a="http://schemas.openxmlformats.org/drawingml/2006/main">
              <a:ext uri="{FF2B5EF4-FFF2-40B4-BE49-F238E27FC236}">
                <a16:creationId xmlns:a16="http://schemas.microsoft.com/office/drawing/2014/main" id="{98F8A80F-211D-4557-8454-8F848C47802F}"/>
              </a:ext>
            </a:extLst>
          </p:cNvPr>
          <p:cNvSpPr>
            <a:spLocks xmlns:a="http://schemas.openxmlformats.org/drawingml/2006/main" noGrp="1"/>
          </p:cNvSpPr>
          <p:nvPr/>
        </p:nvSpPr>
        <p:spPr>
          <a:xfrm xmlns:a="http://schemas.openxmlformats.org/drawingml/2006/main">
            <a:off x="502920" y="502920"/>
            <a:ext cx="110642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4F4F4"/>
              </a:buClr>
              <a:buSzPts val="3000"/>
              <a:buFont typeface="Play"/>
              <a:buNone/>
            </a:pPr>
            <a:r>
              <a:rPr sz="3000" b="1" i="0" u="none" cap="none">
                <a:solidFill>
                  <a:srgbClr val="F4F4F4"/>
                </a:solidFill>
                <a:latin typeface="Play"/>
                <a:ea typeface="Play"/>
                <a:cs typeface="Play"/>
              </a:rPr>
              <a:t>Activity: Audience Swap</a:t>
            </a:r>
          </a:p>
        </p:txBody>
      </p:sp>
      <p:sp>
        <p:nvSpPr>
          <p:cNvPr id="325" name="Google Shape;325;p16">
            <a:extLst xmlns:a="http://schemas.openxmlformats.org/drawingml/2006/main">
              <a:ext uri="{FF2B5EF4-FFF2-40B4-BE49-F238E27FC236}">
                <a16:creationId xmlns:a16="http://schemas.microsoft.com/office/drawing/2014/main" id="{776B0656-7F28-46DE-885A-779997B6C4F4}"/>
              </a:ext>
            </a:extLst>
          </p:cNvPr>
          <p:cNvSpPr>
            <a:spLocks xmlns:a="http://schemas.openxmlformats.org/drawingml/2006/main" noGrp="1"/>
          </p:cNvSpPr>
          <p:nvPr/>
        </p:nvSpPr>
        <p:spPr>
          <a:xfrm xmlns:a="http://schemas.openxmlformats.org/drawingml/2006/main">
            <a:off x="502920" y="1143000"/>
            <a:ext cx="914400" cy="54864"/>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26" name="Google Shape;326;p16">
            <a:extLst xmlns:a="http://schemas.openxmlformats.org/drawingml/2006/main">
              <a:ext uri="{FF2B5EF4-FFF2-40B4-BE49-F238E27FC236}">
                <a16:creationId xmlns:a16="http://schemas.microsoft.com/office/drawing/2014/main" id="{6422998D-A830-44FF-83DF-FAE49E1749C7}"/>
              </a:ext>
            </a:extLst>
          </p:cNvPr>
          <p:cNvSpPr>
            <a:spLocks xmlns:a="http://schemas.openxmlformats.org/drawingml/2006/main" noGrp="1"/>
          </p:cNvSpPr>
          <p:nvPr/>
        </p:nvSpPr>
        <p:spPr>
          <a:xfrm xmlns:a="http://schemas.openxmlformats.org/drawingml/2006/main">
            <a:off x="1600200" y="1024128"/>
            <a:ext cx="987552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A8A8A8"/>
              </a:buClr>
              <a:buSzPts val="1300"/>
              <a:buFont typeface="Arial"/>
              <a:buNone/>
            </a:pPr>
            <a:r>
              <a:rPr sz="1300" b="0" i="0" u="none" cap="none">
                <a:solidFill>
                  <a:srgbClr val="A8A8A8"/>
                </a:solidFill>
                <a:latin typeface="Arial"/>
                <a:ea typeface="Arial"/>
                <a:cs typeface="Arial"/>
              </a:rPr>
              <a:t>Practice changing the explanation without changing the science.</a:t>
            </a:r>
          </a:p>
        </p:txBody>
      </p:sp>
      <p:sp>
        <p:nvSpPr>
          <p:cNvPr id="327" name="Google Shape;327;p16">
            <a:extLst xmlns:a="http://schemas.openxmlformats.org/drawingml/2006/main">
              <a:ext uri="{FF2B5EF4-FFF2-40B4-BE49-F238E27FC236}">
                <a16:creationId xmlns:a16="http://schemas.microsoft.com/office/drawing/2014/main" id="{768797F0-7A40-421F-B672-69AD462A8776}"/>
              </a:ext>
            </a:extLst>
          </p:cNvPr>
          <p:cNvSpPr>
            <a:spLocks xmlns:a="http://schemas.openxmlformats.org/drawingml/2006/main" noGrp="1"/>
          </p:cNvSpPr>
          <p:nvPr/>
        </p:nvSpPr>
        <p:spPr>
          <a:xfrm xmlns:a="http://schemas.openxmlformats.org/drawingml/2006/main">
            <a:off x="640080" y="1572768"/>
            <a:ext cx="21488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3342F"/>
              </a:buClr>
              <a:buSzPts val="1200"/>
              <a:buFont typeface="Arial"/>
              <a:buNone/>
            </a:pPr>
            <a:r>
              <a:rPr sz="1200" b="1" i="0" u="none" cap="none">
                <a:solidFill>
                  <a:srgbClr val="E3342F"/>
                </a:solidFill>
                <a:latin typeface="Arial"/>
                <a:ea typeface="Arial"/>
                <a:cs typeface="Arial"/>
              </a:rPr>
              <a:t>STUDENT ACTIVITY</a:t>
            </a:r>
          </a:p>
        </p:txBody>
      </p:sp>
      <p:sp>
        <p:nvSpPr>
          <p:cNvPr id="328" name="Google Shape;328;p16">
            <a:extLst xmlns:a="http://schemas.openxmlformats.org/drawingml/2006/main">
              <a:ext uri="{FF2B5EF4-FFF2-40B4-BE49-F238E27FC236}">
                <a16:creationId xmlns:a16="http://schemas.microsoft.com/office/drawing/2014/main" id="{370487A4-C36A-4BC8-9DFA-265E859D8742}"/>
              </a:ext>
            </a:extLst>
          </p:cNvPr>
          <p:cNvSpPr>
            <a:spLocks xmlns:a="http://schemas.openxmlformats.org/drawingml/2006/main" noGrp="1"/>
          </p:cNvSpPr>
          <p:nvPr/>
        </p:nvSpPr>
        <p:spPr>
          <a:xfrm xmlns:a="http://schemas.openxmlformats.org/drawingml/2006/main">
            <a:off x="640080" y="1874520"/>
            <a:ext cx="521208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4F4F4"/>
              </a:buClr>
              <a:buSzPts val="2600"/>
              <a:buFont typeface="Arial"/>
              <a:buNone/>
            </a:pPr>
            <a:r>
              <a:rPr sz="2600" b="1" i="0" u="none" cap="none">
                <a:solidFill>
                  <a:srgbClr val="F4F4F4"/>
                </a:solidFill>
                <a:latin typeface="Arial"/>
                <a:ea typeface="Arial"/>
                <a:cs typeface="Arial"/>
              </a:rPr>
              <a:t>Adapt the Same Idea</a:t>
            </a:r>
          </a:p>
        </p:txBody>
      </p:sp>
      <p:sp>
        <p:nvSpPr>
          <p:cNvPr id="329" name="Google Shape;329;p16">
            <a:extLst xmlns:a="http://schemas.openxmlformats.org/drawingml/2006/main">
              <a:ext uri="{FF2B5EF4-FFF2-40B4-BE49-F238E27FC236}">
                <a16:creationId xmlns:a16="http://schemas.microsoft.com/office/drawing/2014/main" id="{B40F38C1-B405-48CC-ADA3-0D41B2A8F73B}"/>
              </a:ext>
            </a:extLst>
          </p:cNvPr>
          <p:cNvSpPr>
            <a:spLocks xmlns:a="http://schemas.openxmlformats.org/drawingml/2006/main" noGrp="1"/>
          </p:cNvSpPr>
          <p:nvPr/>
        </p:nvSpPr>
        <p:spPr>
          <a:xfrm xmlns:a="http://schemas.openxmlformats.org/drawingml/2006/main">
            <a:off x="9509760" y="1901952"/>
            <a:ext cx="18288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E3342F"/>
              </a:buClr>
              <a:buSzPts val="1600"/>
              <a:buFont typeface="Arial"/>
              <a:buNone/>
            </a:pPr>
            <a:r>
              <a:rPr sz="1600" b="1" i="0" u="none" cap="none">
                <a:solidFill>
                  <a:srgbClr val="E3342F"/>
                </a:solidFill>
                <a:latin typeface="Arial"/>
                <a:ea typeface="Arial"/>
                <a:cs typeface="Arial"/>
              </a:rPr>
              <a:t>10 MINUTES</a:t>
            </a:r>
          </a:p>
        </p:txBody>
      </p:sp>
      <p:cxnSp>
        <p:nvCxnSpPr>
          <p:cNvPr id="355" name="Google Shape;330;p16"/>
          <p:cNvCxnSpPr/>
          <p:nvPr/>
        </p:nvCxnSpPr>
        <p:spPr>
          <a:xfrm xmlns:a="http://schemas.openxmlformats.org/drawingml/2006/main">
            <a:off x="640080" y="2523744"/>
            <a:ext cx="10881360" cy="0"/>
          </a:xfrm>
          <a:prstGeom xmlns:a="http://schemas.openxmlformats.org/drawingml/2006/main" prst="straightConnector1">
            <a:avLst/>
          </a:prstGeom>
          <a:ln xmlns:a="http://schemas.openxmlformats.org/drawingml/2006/main" w="12700" cap="flat">
            <a:solidFill>
              <a:srgbClr val="5A5A5A"/>
            </a:solidFill>
            <a:prstDash val="solid"/>
            <a:round/>
            <a:headEnd type="none" w="sm" len="sm"/>
            <a:tailEnd type="none" w="sm" len="sm"/>
          </a:ln>
        </p:spPr>
      </p:cxnSp>
      <p:sp>
        <p:nvSpPr>
          <p:cNvPr id="331" name="Google Shape;331;p16">
            <a:extLst xmlns:a="http://schemas.openxmlformats.org/drawingml/2006/main">
              <a:ext uri="{FF2B5EF4-FFF2-40B4-BE49-F238E27FC236}">
                <a16:creationId xmlns:a16="http://schemas.microsoft.com/office/drawing/2014/main" id="{6EC40ED9-FFD7-4376-A1C3-497E7CBE8782}"/>
              </a:ext>
            </a:extLst>
          </p:cNvPr>
          <p:cNvSpPr>
            <a:spLocks xmlns:a="http://schemas.openxmlformats.org/drawingml/2006/main" noGrp="1"/>
          </p:cNvSpPr>
          <p:nvPr/>
        </p:nvSpPr>
        <p:spPr>
          <a:xfrm xmlns:a="http://schemas.openxmlformats.org/drawingml/2006/main">
            <a:off x="822960" y="2807208"/>
            <a:ext cx="10515600" cy="2560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ctr">
            <a:noAutofit/>
          </a:bodyPr>
          <a:lstStyle xmlns:a="http://schemas.openxmlformats.org/drawingml/2006/main"/>
          <a:p xmlns:a="http://schemas.openxmlformats.org/drawingml/2006/main">
            <a:pPr marL="0" marR="0" indent="0" algn="l">
              <a:spcBef>
                <a:spcPts val="0"/>
              </a:spcBef>
              <a:spcAft>
                <a:spcPts val="0"/>
              </a:spcAft>
              <a:buClr>
                <a:srgbClr val="F4F4F4"/>
              </a:buClr>
              <a:buSzPts val="2100"/>
              <a:buFont typeface="Arial"/>
              <a:buNone/>
            </a:pPr>
            <a:r>
              <a:rPr sz="2100" b="0" i="0" u="none" cap="none">
                <a:solidFill>
                  <a:srgbClr val="F4F4F4"/>
                </a:solidFill>
                <a:latin typeface="Arial"/>
                <a:ea typeface="Arial"/>
                <a:cs typeface="Arial"/>
              </a:rPr>
              <a:t>Choose one difficult part of your project. Explain it twice:</a:t>
            </a:r>
          </a:p>
          <a:p xmlns:a="http://schemas.openxmlformats.org/drawingml/2006/main">
            <a:pPr marL="0" marR="0" indent="0" algn="l">
              <a:spcBef>
                <a:spcPts val="0"/>
              </a:spcBef>
              <a:spcAft>
                <a:spcPts val="0"/>
              </a:spcAft>
              <a:buClr>
                <a:schemeClr val="dk1"/>
              </a:buClr>
              <a:buSzPts val="2100"/>
              <a:buFont typeface="Arial"/>
              <a:buNone/>
            </a:pPr>
            <a:r>
              <a:t/>
            </a:r>
          </a:p>
          <a:p xmlns:a="http://schemas.openxmlformats.org/drawingml/2006/main">
            <a:pPr marL="0" marR="0" indent="0" algn="l">
              <a:spcBef>
                <a:spcPts val="0"/>
              </a:spcBef>
              <a:spcAft>
                <a:spcPts val="0"/>
              </a:spcAft>
              <a:buClr>
                <a:srgbClr val="F4F4F4"/>
              </a:buClr>
              <a:buSzPts val="2100"/>
              <a:buFont typeface="Arial"/>
              <a:buNone/>
            </a:pPr>
            <a:r>
              <a:rPr sz="2100" b="0" i="0" u="none" cap="none">
                <a:solidFill>
                  <a:srgbClr val="F4F4F4"/>
                </a:solidFill>
                <a:latin typeface="Arial"/>
                <a:ea typeface="Arial"/>
                <a:cs typeface="Arial"/>
              </a:rPr>
              <a:t>1. To a younger student or non-expert</a:t>
            </a:r>
          </a:p>
          <a:p xmlns:a="http://schemas.openxmlformats.org/drawingml/2006/main">
            <a:pPr marL="0" marR="0" indent="0" algn="l">
              <a:spcBef>
                <a:spcPts val="0"/>
              </a:spcBef>
              <a:spcAft>
                <a:spcPts val="0"/>
              </a:spcAft>
              <a:buClr>
                <a:srgbClr val="F4F4F4"/>
              </a:buClr>
              <a:buSzPts val="2100"/>
              <a:buFont typeface="Arial"/>
              <a:buNone/>
            </a:pPr>
            <a:r>
              <a:rPr sz="2100" b="0" i="0" u="none" cap="none">
                <a:solidFill>
                  <a:srgbClr val="F4F4F4"/>
                </a:solidFill>
                <a:latin typeface="Arial"/>
                <a:ea typeface="Arial"/>
                <a:cs typeface="Arial"/>
              </a:rPr>
              <a:t>2. To a science teacher, mentor, or expert</a:t>
            </a:r>
          </a:p>
          <a:p xmlns:a="http://schemas.openxmlformats.org/drawingml/2006/main">
            <a:pPr marL="0" marR="0" indent="0" algn="l">
              <a:spcBef>
                <a:spcPts val="0"/>
              </a:spcBef>
              <a:spcAft>
                <a:spcPts val="0"/>
              </a:spcAft>
              <a:buClr>
                <a:schemeClr val="dk1"/>
              </a:buClr>
              <a:buSzPts val="2100"/>
              <a:buFont typeface="Arial"/>
              <a:buNone/>
            </a:pPr>
            <a:r>
              <a:t/>
            </a:r>
          </a:p>
          <a:p xmlns:a="http://schemas.openxmlformats.org/drawingml/2006/main">
            <a:pPr marL="0" marR="0" indent="0" algn="l">
              <a:spcBef>
                <a:spcPts val="0"/>
              </a:spcBef>
              <a:spcAft>
                <a:spcPts val="0"/>
              </a:spcAft>
              <a:buClr>
                <a:srgbClr val="F4F4F4"/>
              </a:buClr>
              <a:buSzPts val="2100"/>
              <a:buFont typeface="Arial"/>
              <a:buNone/>
            </a:pPr>
            <a:r>
              <a:rPr sz="2100" b="0" i="0" u="none" cap="none">
                <a:solidFill>
                  <a:srgbClr val="F4F4F4"/>
                </a:solidFill>
                <a:latin typeface="Arial"/>
                <a:ea typeface="Arial"/>
                <a:cs typeface="Arial"/>
              </a:rPr>
              <a:t>Partner feedback: What vocabulary changed? What details were added or removed?</a:t>
            </a:r>
          </a:p>
        </p:txBody>
      </p:sp>
    </p:spTree>
    <p:extLst>
      <p:ext uri="{BB962C8B-B14F-4D97-AF65-F5344CB8AC3E}">
        <p14:creationId xmlns:p14="http://schemas.microsoft.com/office/powerpoint/2010/main" val="1378615945"/>
      </p:ext>
    </p:extLst>
  </p:cSld>
</p:sld>
</file>

<file path=ppt/slides/slide15.xml><?xml version="1.0" encoding="utf-8"?>
<p:sld xmlns:p="http://schemas.openxmlformats.org/presentationml/2006/main">
  <p:cSld>
    <p:bg>
      <p:bgPr>
        <a:solidFill xmlns:a="http://schemas.openxmlformats.org/drawingml/2006/main">
          <a:srgbClr val="0B0B0D"/>
        </a:solidFill>
      </p:bgPr>
    </p:bg>
    <p:spTree>
      <p:nvGrpSpPr>
        <p:cNvPr id="1" name=""/>
        <p:cNvGrpSpPr/>
        <p:nvPr/>
      </p:nvGrpSpPr>
      <p:grpSpPr>
        <a:xfrm xmlns:a="http://schemas.openxmlformats.org/drawingml/2006/main"/>
      </p:grpSpPr>
      <p:sp>
        <p:nvSpPr>
          <p:cNvPr id="337" name="Google Shape;337;p17">
            <a:extLst xmlns:a="http://schemas.openxmlformats.org/drawingml/2006/main">
              <a:ext uri="{FF2B5EF4-FFF2-40B4-BE49-F238E27FC236}">
                <a16:creationId xmlns:a16="http://schemas.microsoft.com/office/drawing/2014/main" id="{6D2CB77B-4970-4EAE-9517-A5183E15AD02}"/>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D"/>
          </a:solidFill>
          <a:ln xmlns:a="http://schemas.openxmlformats.org/drawingml/2006/main" w="12700" cmpd="sng">
            <a:solidFill>
              <a:srgbClr val="0B0B0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38" name="Google Shape;338;p17">
            <a:extLst xmlns:a="http://schemas.openxmlformats.org/drawingml/2006/main">
              <a:ext uri="{FF2B5EF4-FFF2-40B4-BE49-F238E27FC236}">
                <a16:creationId xmlns:a16="http://schemas.microsoft.com/office/drawing/2014/main" id="{8DD5B6C9-93AA-43B2-9359-00558EC8BF32}"/>
              </a:ext>
            </a:extLst>
          </p:cNvPr>
          <p:cNvSpPr>
            <a:spLocks xmlns:a="http://schemas.openxmlformats.org/drawingml/2006/main" noGrp="1"/>
          </p:cNvSpPr>
          <p:nvPr/>
        </p:nvSpPr>
        <p:spPr>
          <a:xfrm xmlns:a="http://schemas.openxmlformats.org/drawingml/2006/main">
            <a:off x="0" y="109728"/>
            <a:ext cx="12191695" cy="64008"/>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39" name="Google Shape;339;p17">
            <a:extLst xmlns:a="http://schemas.openxmlformats.org/drawingml/2006/main">
              <a:ext uri="{FF2B5EF4-FFF2-40B4-BE49-F238E27FC236}">
                <a16:creationId xmlns:a16="http://schemas.microsoft.com/office/drawing/2014/main" id="{049BB92C-8199-45F1-ACDC-514D1D8DFE10}"/>
              </a:ext>
            </a:extLst>
          </p:cNvPr>
          <p:cNvSpPr>
            <a:spLocks xmlns:a="http://schemas.openxmlformats.org/drawingml/2006/main" noGrp="1"/>
          </p:cNvSpPr>
          <p:nvPr/>
        </p:nvSpPr>
        <p:spPr>
          <a:xfrm xmlns:a="http://schemas.openxmlformats.org/drawingml/2006/main">
            <a:off x="0" y="6675120"/>
            <a:ext cx="12191695" cy="64008"/>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40" name="Google Shape;340;p17">
            <a:extLst xmlns:a="http://schemas.openxmlformats.org/drawingml/2006/main">
              <a:ext uri="{FF2B5EF4-FFF2-40B4-BE49-F238E27FC236}">
                <a16:creationId xmlns:a16="http://schemas.microsoft.com/office/drawing/2014/main" id="{FEDC843F-E473-4A78-9137-D556FB84FE08}"/>
              </a:ext>
            </a:extLst>
          </p:cNvPr>
          <p:cNvSpPr>
            <a:spLocks xmlns:a="http://schemas.openxmlformats.org/drawingml/2006/main" noGrp="1"/>
          </p:cNvSpPr>
          <p:nvPr/>
        </p:nvSpPr>
        <p:spPr>
          <a:xfrm xmlns:a="http://schemas.openxmlformats.org/drawingml/2006/main">
            <a:off x="384048" y="6364224"/>
            <a:ext cx="29260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A8A8A8"/>
              </a:buClr>
              <a:buSzPts val="950"/>
              <a:buFont typeface="Arial"/>
              <a:buNone/>
            </a:pPr>
            <a:r>
              <a:rPr sz="950" b="1" i="0" u="none" cap="none">
                <a:solidFill>
                  <a:srgbClr val="A8A8A8"/>
                </a:solidFill>
                <a:latin typeface="Arial"/>
                <a:ea typeface="Arial"/>
                <a:cs typeface="Arial"/>
              </a:rPr>
              <a:t>ORAL PRESENTATION</a:t>
            </a:r>
          </a:p>
        </p:txBody>
      </p:sp>
      <p:sp>
        <p:nvSpPr>
          <p:cNvPr id="341" name="Google Shape;341;p17">
            <a:extLst xmlns:a="http://schemas.openxmlformats.org/drawingml/2006/main">
              <a:ext uri="{FF2B5EF4-FFF2-40B4-BE49-F238E27FC236}">
                <a16:creationId xmlns:a16="http://schemas.microsoft.com/office/drawing/2014/main" id="{30F5DB43-A60B-4212-A9C9-DF0D32B9CC63}"/>
              </a:ext>
            </a:extLst>
          </p:cNvPr>
          <p:cNvSpPr>
            <a:spLocks xmlns:a="http://schemas.openxmlformats.org/drawingml/2006/main" noGrp="1"/>
          </p:cNvSpPr>
          <p:nvPr/>
        </p:nvSpPr>
        <p:spPr>
          <a:xfrm xmlns:a="http://schemas.openxmlformats.org/drawingml/2006/main">
            <a:off x="10405872" y="6364224"/>
            <a:ext cx="1325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A8A8A8"/>
              </a:buClr>
              <a:buSzPts val="950"/>
              <a:buFont typeface="Arial"/>
              <a:buNone/>
            </a:pPr>
            <a:r>
              <a:rPr sz="950" b="1" i="0" u="none" cap="none">
                <a:solidFill>
                  <a:srgbClr val="A8A8A8"/>
                </a:solidFill>
                <a:latin typeface="Arial"/>
                <a:ea typeface="Arial"/>
                <a:cs typeface="Arial"/>
              </a:rPr>
              <a:t>DECK 17</a:t>
            </a:r>
          </a:p>
        </p:txBody>
      </p:sp>
      <p:sp>
        <p:nvSpPr>
          <p:cNvPr id="342" name="Google Shape;342;p17">
            <a:extLst xmlns:a="http://schemas.openxmlformats.org/drawingml/2006/main">
              <a:ext uri="{FF2B5EF4-FFF2-40B4-BE49-F238E27FC236}">
                <a16:creationId xmlns:a16="http://schemas.microsoft.com/office/drawing/2014/main" id="{D1725AEF-7A17-4435-B7AD-5E7FE38F8089}"/>
              </a:ext>
            </a:extLst>
          </p:cNvPr>
          <p:cNvSpPr>
            <a:spLocks xmlns:a="http://schemas.openxmlformats.org/drawingml/2006/main" noGrp="1"/>
          </p:cNvSpPr>
          <p:nvPr/>
        </p:nvSpPr>
        <p:spPr>
          <a:xfrm xmlns:a="http://schemas.openxmlformats.org/drawingml/2006/main">
            <a:off x="502920" y="502920"/>
            <a:ext cx="110642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4F4F4"/>
              </a:buClr>
              <a:buSzPts val="3000"/>
              <a:buFont typeface="Play"/>
              <a:buNone/>
            </a:pPr>
            <a:r>
              <a:rPr sz="3000" b="1" i="0" u="none" cap="none">
                <a:solidFill>
                  <a:srgbClr val="F4F4F4"/>
                </a:solidFill>
                <a:latin typeface="Play"/>
                <a:ea typeface="Play"/>
                <a:cs typeface="Play"/>
              </a:rPr>
              <a:t>Delivery Habits That Matter</a:t>
            </a:r>
          </a:p>
        </p:txBody>
      </p:sp>
      <p:sp>
        <p:nvSpPr>
          <p:cNvPr id="343" name="Google Shape;343;p17">
            <a:extLst xmlns:a="http://schemas.openxmlformats.org/drawingml/2006/main">
              <a:ext uri="{FF2B5EF4-FFF2-40B4-BE49-F238E27FC236}">
                <a16:creationId xmlns:a16="http://schemas.microsoft.com/office/drawing/2014/main" id="{09EF43A6-54BB-467C-BD1F-26B7404411E9}"/>
              </a:ext>
            </a:extLst>
          </p:cNvPr>
          <p:cNvSpPr>
            <a:spLocks xmlns:a="http://schemas.openxmlformats.org/drawingml/2006/main" noGrp="1"/>
          </p:cNvSpPr>
          <p:nvPr/>
        </p:nvSpPr>
        <p:spPr>
          <a:xfrm xmlns:a="http://schemas.openxmlformats.org/drawingml/2006/main">
            <a:off x="502920" y="1143000"/>
            <a:ext cx="914400" cy="54864"/>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44" name="Google Shape;344;p17">
            <a:extLst xmlns:a="http://schemas.openxmlformats.org/drawingml/2006/main">
              <a:ext uri="{FF2B5EF4-FFF2-40B4-BE49-F238E27FC236}">
                <a16:creationId xmlns:a16="http://schemas.microsoft.com/office/drawing/2014/main" id="{3F56E2C3-108A-4A8E-9F12-3BAFD4495DB4}"/>
              </a:ext>
            </a:extLst>
          </p:cNvPr>
          <p:cNvSpPr>
            <a:spLocks xmlns:a="http://schemas.openxmlformats.org/drawingml/2006/main" noGrp="1"/>
          </p:cNvSpPr>
          <p:nvPr/>
        </p:nvSpPr>
        <p:spPr>
          <a:xfrm xmlns:a="http://schemas.openxmlformats.org/drawingml/2006/main">
            <a:off x="1600200" y="1024128"/>
            <a:ext cx="987552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A8A8A8"/>
              </a:buClr>
              <a:buSzPts val="1300"/>
              <a:buFont typeface="Arial"/>
              <a:buNone/>
            </a:pPr>
            <a:r>
              <a:rPr sz="1300" b="0" i="0" u="none" cap="none">
                <a:solidFill>
                  <a:srgbClr val="A8A8A8"/>
                </a:solidFill>
                <a:latin typeface="Arial"/>
                <a:ea typeface="Arial"/>
                <a:cs typeface="Arial"/>
              </a:rPr>
              <a:t>Small delivery choices change how credible the explanation feels.</a:t>
            </a:r>
          </a:p>
        </p:txBody>
      </p:sp>
      <p:sp>
        <p:nvSpPr>
          <p:cNvPr id="345" name="Google Shape;345;p17">
            <a:extLst xmlns:a="http://schemas.openxmlformats.org/drawingml/2006/main">
              <a:ext uri="{FF2B5EF4-FFF2-40B4-BE49-F238E27FC236}">
                <a16:creationId xmlns:a16="http://schemas.microsoft.com/office/drawing/2014/main" id="{FDA2E642-ACF7-43D0-9781-77569A8CAFFF}"/>
              </a:ext>
            </a:extLst>
          </p:cNvPr>
          <p:cNvSpPr>
            <a:spLocks xmlns:a="http://schemas.openxmlformats.org/drawingml/2006/main" noGrp="1"/>
          </p:cNvSpPr>
          <p:nvPr/>
        </p:nvSpPr>
        <p:spPr>
          <a:xfrm xmlns:a="http://schemas.openxmlformats.org/drawingml/2006/main">
            <a:off x="777240" y="2057400"/>
            <a:ext cx="5120640" cy="1417320"/>
          </a:xfrm>
          <a:prstGeom xmlns:a="http://schemas.openxmlformats.org/drawingml/2006/main" prst="rect">
            <a:avLst/>
          </a:prstGeom>
          <a:solidFill xmlns:a="http://schemas.openxmlformats.org/drawingml/2006/main">
            <a:srgbClr val="111113"/>
          </a:solidFill>
          <a:ln xmlns:a="http://schemas.openxmlformats.org/drawingml/2006/main" w="12700" cmpd="sng">
            <a:solidFill>
              <a:srgbClr val="5A5A5A">
                <a:alpha val="8000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46" name="Google Shape;346;p17">
            <a:extLst xmlns:a="http://schemas.openxmlformats.org/drawingml/2006/main">
              <a:ext uri="{FF2B5EF4-FFF2-40B4-BE49-F238E27FC236}">
                <a16:creationId xmlns:a16="http://schemas.microsoft.com/office/drawing/2014/main" id="{7BCAF81F-5D74-4F02-A704-96F8131A5833}"/>
              </a:ext>
            </a:extLst>
          </p:cNvPr>
          <p:cNvSpPr>
            <a:spLocks xmlns:a="http://schemas.openxmlformats.org/drawingml/2006/main" noGrp="1"/>
          </p:cNvSpPr>
          <p:nvPr/>
        </p:nvSpPr>
        <p:spPr>
          <a:xfrm xmlns:a="http://schemas.openxmlformats.org/drawingml/2006/main">
            <a:off x="777240" y="2057400"/>
            <a:ext cx="64008" cy="1417320"/>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47" name="Google Shape;347;p17">
            <a:extLst xmlns:a="http://schemas.openxmlformats.org/drawingml/2006/main">
              <a:ext uri="{FF2B5EF4-FFF2-40B4-BE49-F238E27FC236}">
                <a16:creationId xmlns:a16="http://schemas.microsoft.com/office/drawing/2014/main" id="{5BB45B76-614D-4375-ACF2-2C5F3F537DCF}"/>
              </a:ext>
            </a:extLst>
          </p:cNvPr>
          <p:cNvSpPr>
            <a:spLocks xmlns:a="http://schemas.openxmlformats.org/drawingml/2006/main" noGrp="1"/>
          </p:cNvSpPr>
          <p:nvPr/>
        </p:nvSpPr>
        <p:spPr>
          <a:xfrm xmlns:a="http://schemas.openxmlformats.org/drawingml/2006/main">
            <a:off x="978408" y="2194560"/>
            <a:ext cx="48006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3342F"/>
              </a:buClr>
              <a:buSzPts val="1100"/>
              <a:buFont typeface="Arial"/>
              <a:buNone/>
            </a:pPr>
            <a:r>
              <a:rPr sz="1100" b="1" i="0" u="none" cap="none">
                <a:solidFill>
                  <a:srgbClr val="E3342F"/>
                </a:solidFill>
                <a:latin typeface="Arial"/>
                <a:ea typeface="Arial"/>
                <a:cs typeface="Arial"/>
              </a:rPr>
              <a:t>VOICE</a:t>
            </a:r>
          </a:p>
        </p:txBody>
      </p:sp>
      <p:sp>
        <p:nvSpPr>
          <p:cNvPr id="348" name="Google Shape;348;p17">
            <a:extLst xmlns:a="http://schemas.openxmlformats.org/drawingml/2006/main">
              <a:ext uri="{FF2B5EF4-FFF2-40B4-BE49-F238E27FC236}">
                <a16:creationId xmlns:a16="http://schemas.microsoft.com/office/drawing/2014/main" id="{4BA6FED6-EDBF-44F2-8811-3C24AAA67501}"/>
              </a:ext>
            </a:extLst>
          </p:cNvPr>
          <p:cNvSpPr>
            <a:spLocks xmlns:a="http://schemas.openxmlformats.org/drawingml/2006/main" noGrp="1"/>
          </p:cNvSpPr>
          <p:nvPr/>
        </p:nvSpPr>
        <p:spPr>
          <a:xfrm xmlns:a="http://schemas.openxmlformats.org/drawingml/2006/main">
            <a:off x="978408" y="2514600"/>
            <a:ext cx="4800600" cy="8503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Speak loudly enough to be heard. Slow down for data and conclusions.</a:t>
            </a:r>
          </a:p>
        </p:txBody>
      </p:sp>
      <p:sp>
        <p:nvSpPr>
          <p:cNvPr id="349" name="Google Shape;349;p17">
            <a:extLst xmlns:a="http://schemas.openxmlformats.org/drawingml/2006/main">
              <a:ext uri="{FF2B5EF4-FFF2-40B4-BE49-F238E27FC236}">
                <a16:creationId xmlns:a16="http://schemas.microsoft.com/office/drawing/2014/main" id="{CBE38FB1-C462-4289-9A77-3CE035430D65}"/>
              </a:ext>
            </a:extLst>
          </p:cNvPr>
          <p:cNvSpPr>
            <a:spLocks xmlns:a="http://schemas.openxmlformats.org/drawingml/2006/main" noGrp="1"/>
          </p:cNvSpPr>
          <p:nvPr/>
        </p:nvSpPr>
        <p:spPr>
          <a:xfrm xmlns:a="http://schemas.openxmlformats.org/drawingml/2006/main">
            <a:off x="6263640" y="2057400"/>
            <a:ext cx="5120640" cy="1417320"/>
          </a:xfrm>
          <a:prstGeom xmlns:a="http://schemas.openxmlformats.org/drawingml/2006/main" prst="rect">
            <a:avLst/>
          </a:prstGeom>
          <a:solidFill xmlns:a="http://schemas.openxmlformats.org/drawingml/2006/main">
            <a:srgbClr val="111113"/>
          </a:solidFill>
          <a:ln xmlns:a="http://schemas.openxmlformats.org/drawingml/2006/main" w="12700" cmpd="sng">
            <a:solidFill>
              <a:srgbClr val="5A5A5A">
                <a:alpha val="8000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50" name="Google Shape;350;p17">
            <a:extLst xmlns:a="http://schemas.openxmlformats.org/drawingml/2006/main">
              <a:ext uri="{FF2B5EF4-FFF2-40B4-BE49-F238E27FC236}">
                <a16:creationId xmlns:a16="http://schemas.microsoft.com/office/drawing/2014/main" id="{A7080481-62B9-4E62-B795-4F096FE2F67B}"/>
              </a:ext>
            </a:extLst>
          </p:cNvPr>
          <p:cNvSpPr>
            <a:spLocks xmlns:a="http://schemas.openxmlformats.org/drawingml/2006/main" noGrp="1"/>
          </p:cNvSpPr>
          <p:nvPr/>
        </p:nvSpPr>
        <p:spPr>
          <a:xfrm xmlns:a="http://schemas.openxmlformats.org/drawingml/2006/main">
            <a:off x="6263640" y="2057400"/>
            <a:ext cx="64008" cy="1417320"/>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51" name="Google Shape;351;p17">
            <a:extLst xmlns:a="http://schemas.openxmlformats.org/drawingml/2006/main">
              <a:ext uri="{FF2B5EF4-FFF2-40B4-BE49-F238E27FC236}">
                <a16:creationId xmlns:a16="http://schemas.microsoft.com/office/drawing/2014/main" id="{420E97C6-285D-4A5B-AB8A-2A08F8EA3E89}"/>
              </a:ext>
            </a:extLst>
          </p:cNvPr>
          <p:cNvSpPr>
            <a:spLocks xmlns:a="http://schemas.openxmlformats.org/drawingml/2006/main" noGrp="1"/>
          </p:cNvSpPr>
          <p:nvPr/>
        </p:nvSpPr>
        <p:spPr>
          <a:xfrm xmlns:a="http://schemas.openxmlformats.org/drawingml/2006/main">
            <a:off x="6464808" y="2194560"/>
            <a:ext cx="48006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3342F"/>
              </a:buClr>
              <a:buSzPts val="1100"/>
              <a:buFont typeface="Arial"/>
              <a:buNone/>
            </a:pPr>
            <a:r>
              <a:rPr sz="1100" b="1" i="0" u="none" cap="none">
                <a:solidFill>
                  <a:srgbClr val="E3342F"/>
                </a:solidFill>
                <a:latin typeface="Arial"/>
                <a:ea typeface="Arial"/>
                <a:cs typeface="Arial"/>
              </a:rPr>
              <a:t>EYE CONTACT</a:t>
            </a:r>
          </a:p>
        </p:txBody>
      </p:sp>
      <p:sp>
        <p:nvSpPr>
          <p:cNvPr id="352" name="Google Shape;352;p17">
            <a:extLst xmlns:a="http://schemas.openxmlformats.org/drawingml/2006/main">
              <a:ext uri="{FF2B5EF4-FFF2-40B4-BE49-F238E27FC236}">
                <a16:creationId xmlns:a16="http://schemas.microsoft.com/office/drawing/2014/main" id="{ECED8574-9563-43E3-9D4A-B5ADD8FC9A13}"/>
              </a:ext>
            </a:extLst>
          </p:cNvPr>
          <p:cNvSpPr>
            <a:spLocks xmlns:a="http://schemas.openxmlformats.org/drawingml/2006/main" noGrp="1"/>
          </p:cNvSpPr>
          <p:nvPr/>
        </p:nvSpPr>
        <p:spPr>
          <a:xfrm xmlns:a="http://schemas.openxmlformats.org/drawingml/2006/main">
            <a:off x="6464808" y="2514600"/>
            <a:ext cx="4800600" cy="8503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Look up between notes. Do not present only to the poster, laptop, or floor.</a:t>
            </a:r>
          </a:p>
        </p:txBody>
      </p:sp>
      <p:sp>
        <p:nvSpPr>
          <p:cNvPr id="353" name="Google Shape;353;p17">
            <a:extLst xmlns:a="http://schemas.openxmlformats.org/drawingml/2006/main">
              <a:ext uri="{FF2B5EF4-FFF2-40B4-BE49-F238E27FC236}">
                <a16:creationId xmlns:a16="http://schemas.microsoft.com/office/drawing/2014/main" id="{62011468-A996-45FD-866E-33E70D39A2DF}"/>
              </a:ext>
            </a:extLst>
          </p:cNvPr>
          <p:cNvSpPr>
            <a:spLocks xmlns:a="http://schemas.openxmlformats.org/drawingml/2006/main" noGrp="1"/>
          </p:cNvSpPr>
          <p:nvPr/>
        </p:nvSpPr>
        <p:spPr>
          <a:xfrm xmlns:a="http://schemas.openxmlformats.org/drawingml/2006/main">
            <a:off x="777240" y="3977640"/>
            <a:ext cx="5120640" cy="1417320"/>
          </a:xfrm>
          <a:prstGeom xmlns:a="http://schemas.openxmlformats.org/drawingml/2006/main" prst="rect">
            <a:avLst/>
          </a:prstGeom>
          <a:solidFill xmlns:a="http://schemas.openxmlformats.org/drawingml/2006/main">
            <a:srgbClr val="111113"/>
          </a:solidFill>
          <a:ln xmlns:a="http://schemas.openxmlformats.org/drawingml/2006/main" w="12700" cmpd="sng">
            <a:solidFill>
              <a:srgbClr val="5A5A5A">
                <a:alpha val="8000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54" name="Google Shape;354;p17">
            <a:extLst xmlns:a="http://schemas.openxmlformats.org/drawingml/2006/main">
              <a:ext uri="{FF2B5EF4-FFF2-40B4-BE49-F238E27FC236}">
                <a16:creationId xmlns:a16="http://schemas.microsoft.com/office/drawing/2014/main" id="{F280358A-CBFF-44E6-BE66-7CB148036A29}"/>
              </a:ext>
            </a:extLst>
          </p:cNvPr>
          <p:cNvSpPr>
            <a:spLocks xmlns:a="http://schemas.openxmlformats.org/drawingml/2006/main" noGrp="1"/>
          </p:cNvSpPr>
          <p:nvPr/>
        </p:nvSpPr>
        <p:spPr>
          <a:xfrm xmlns:a="http://schemas.openxmlformats.org/drawingml/2006/main">
            <a:off x="777240" y="3977640"/>
            <a:ext cx="64008" cy="1417320"/>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55" name="Google Shape;355;p17">
            <a:extLst xmlns:a="http://schemas.openxmlformats.org/drawingml/2006/main">
              <a:ext uri="{FF2B5EF4-FFF2-40B4-BE49-F238E27FC236}">
                <a16:creationId xmlns:a16="http://schemas.microsoft.com/office/drawing/2014/main" id="{8CB2FAA1-5265-4101-8FE1-733931FC9022}"/>
              </a:ext>
            </a:extLst>
          </p:cNvPr>
          <p:cNvSpPr>
            <a:spLocks xmlns:a="http://schemas.openxmlformats.org/drawingml/2006/main" noGrp="1"/>
          </p:cNvSpPr>
          <p:nvPr/>
        </p:nvSpPr>
        <p:spPr>
          <a:xfrm xmlns:a="http://schemas.openxmlformats.org/drawingml/2006/main">
            <a:off x="978408" y="4114800"/>
            <a:ext cx="48006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3342F"/>
              </a:buClr>
              <a:buSzPts val="1100"/>
              <a:buFont typeface="Arial"/>
              <a:buNone/>
            </a:pPr>
            <a:r>
              <a:rPr sz="1100" b="1" i="0" u="none" cap="none">
                <a:solidFill>
                  <a:srgbClr val="E3342F"/>
                </a:solidFill>
                <a:latin typeface="Arial"/>
                <a:ea typeface="Arial"/>
                <a:cs typeface="Arial"/>
              </a:rPr>
              <a:t>POSTURE</a:t>
            </a:r>
          </a:p>
        </p:txBody>
      </p:sp>
      <p:sp>
        <p:nvSpPr>
          <p:cNvPr id="356" name="Google Shape;356;p17">
            <a:extLst xmlns:a="http://schemas.openxmlformats.org/drawingml/2006/main">
              <a:ext uri="{FF2B5EF4-FFF2-40B4-BE49-F238E27FC236}">
                <a16:creationId xmlns:a16="http://schemas.microsoft.com/office/drawing/2014/main" id="{1508A25B-95D7-491D-A325-FB824542E023}"/>
              </a:ext>
            </a:extLst>
          </p:cNvPr>
          <p:cNvSpPr>
            <a:spLocks xmlns:a="http://schemas.openxmlformats.org/drawingml/2006/main" noGrp="1"/>
          </p:cNvSpPr>
          <p:nvPr/>
        </p:nvSpPr>
        <p:spPr>
          <a:xfrm xmlns:a="http://schemas.openxmlformats.org/drawingml/2006/main">
            <a:off x="978408" y="4434840"/>
            <a:ext cx="4800600" cy="8503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Stand where the visual is visible. Avoid blocking graphs or turning away for long stretches.</a:t>
            </a:r>
          </a:p>
        </p:txBody>
      </p:sp>
      <p:sp>
        <p:nvSpPr>
          <p:cNvPr id="357" name="Google Shape;357;p17">
            <a:extLst xmlns:a="http://schemas.openxmlformats.org/drawingml/2006/main">
              <a:ext uri="{FF2B5EF4-FFF2-40B4-BE49-F238E27FC236}">
                <a16:creationId xmlns:a16="http://schemas.microsoft.com/office/drawing/2014/main" id="{12995627-6F29-43ED-824A-74A959833A5E}"/>
              </a:ext>
            </a:extLst>
          </p:cNvPr>
          <p:cNvSpPr>
            <a:spLocks xmlns:a="http://schemas.openxmlformats.org/drawingml/2006/main" noGrp="1"/>
          </p:cNvSpPr>
          <p:nvPr/>
        </p:nvSpPr>
        <p:spPr>
          <a:xfrm xmlns:a="http://schemas.openxmlformats.org/drawingml/2006/main">
            <a:off x="6263640" y="3977640"/>
            <a:ext cx="5120640" cy="1417320"/>
          </a:xfrm>
          <a:prstGeom xmlns:a="http://schemas.openxmlformats.org/drawingml/2006/main" prst="rect">
            <a:avLst/>
          </a:prstGeom>
          <a:solidFill xmlns:a="http://schemas.openxmlformats.org/drawingml/2006/main">
            <a:srgbClr val="111113"/>
          </a:solidFill>
          <a:ln xmlns:a="http://schemas.openxmlformats.org/drawingml/2006/main" w="12700" cmpd="sng">
            <a:solidFill>
              <a:srgbClr val="5A5A5A">
                <a:alpha val="8000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58" name="Google Shape;358;p17">
            <a:extLst xmlns:a="http://schemas.openxmlformats.org/drawingml/2006/main">
              <a:ext uri="{FF2B5EF4-FFF2-40B4-BE49-F238E27FC236}">
                <a16:creationId xmlns:a16="http://schemas.microsoft.com/office/drawing/2014/main" id="{4417D985-795B-4B26-8862-C7E612EF891F}"/>
              </a:ext>
            </a:extLst>
          </p:cNvPr>
          <p:cNvSpPr>
            <a:spLocks xmlns:a="http://schemas.openxmlformats.org/drawingml/2006/main" noGrp="1"/>
          </p:cNvSpPr>
          <p:nvPr/>
        </p:nvSpPr>
        <p:spPr>
          <a:xfrm xmlns:a="http://schemas.openxmlformats.org/drawingml/2006/main">
            <a:off x="6263640" y="3977640"/>
            <a:ext cx="64008" cy="1417320"/>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59" name="Google Shape;359;p17">
            <a:extLst xmlns:a="http://schemas.openxmlformats.org/drawingml/2006/main">
              <a:ext uri="{FF2B5EF4-FFF2-40B4-BE49-F238E27FC236}">
                <a16:creationId xmlns:a16="http://schemas.microsoft.com/office/drawing/2014/main" id="{DEA6FBB8-DA19-4480-B8BC-26CC2308DD16}"/>
              </a:ext>
            </a:extLst>
          </p:cNvPr>
          <p:cNvSpPr>
            <a:spLocks xmlns:a="http://schemas.openxmlformats.org/drawingml/2006/main" noGrp="1"/>
          </p:cNvSpPr>
          <p:nvPr/>
        </p:nvSpPr>
        <p:spPr>
          <a:xfrm xmlns:a="http://schemas.openxmlformats.org/drawingml/2006/main">
            <a:off x="6464808" y="4114800"/>
            <a:ext cx="48006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3342F"/>
              </a:buClr>
              <a:buSzPts val="1100"/>
              <a:buFont typeface="Arial"/>
              <a:buNone/>
            </a:pPr>
            <a:r>
              <a:rPr sz="1100" b="1" i="0" u="none" cap="none">
                <a:solidFill>
                  <a:srgbClr val="E3342F"/>
                </a:solidFill>
                <a:latin typeface="Arial"/>
                <a:ea typeface="Arial"/>
                <a:cs typeface="Arial"/>
              </a:rPr>
              <a:t>NOTES</a:t>
            </a:r>
          </a:p>
        </p:txBody>
      </p:sp>
      <p:sp>
        <p:nvSpPr>
          <p:cNvPr id="360" name="Google Shape;360;p17">
            <a:extLst xmlns:a="http://schemas.openxmlformats.org/drawingml/2006/main">
              <a:ext uri="{FF2B5EF4-FFF2-40B4-BE49-F238E27FC236}">
                <a16:creationId xmlns:a16="http://schemas.microsoft.com/office/drawing/2014/main" id="{365B1484-FBCB-4301-A506-5E4FCD0D2E04}"/>
              </a:ext>
            </a:extLst>
          </p:cNvPr>
          <p:cNvSpPr>
            <a:spLocks xmlns:a="http://schemas.openxmlformats.org/drawingml/2006/main" noGrp="1"/>
          </p:cNvSpPr>
          <p:nvPr/>
        </p:nvSpPr>
        <p:spPr>
          <a:xfrm xmlns:a="http://schemas.openxmlformats.org/drawingml/2006/main">
            <a:off x="6464808" y="4434840"/>
            <a:ext cx="4800600" cy="8503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Use bullet notes as a map. Avoid reading the whole report or memorizing every word.</a:t>
            </a:r>
          </a:p>
        </p:txBody>
      </p:sp>
    </p:spTree>
    <p:extLst>
      <p:ext uri="{BB962C8B-B14F-4D97-AF65-F5344CB8AC3E}">
        <p14:creationId xmlns:p14="http://schemas.microsoft.com/office/powerpoint/2010/main" val="611096422"/>
      </p:ext>
    </p:extLst>
  </p:cSld>
</p:sld>
</file>

<file path=ppt/slides/slide16.xml><?xml version="1.0" encoding="utf-8"?>
<p:sld xmlns:p="http://schemas.openxmlformats.org/presentationml/2006/main">
  <p:cSld>
    <p:bg>
      <p:bgPr>
        <a:solidFill xmlns:a="http://schemas.openxmlformats.org/drawingml/2006/main">
          <a:srgbClr val="0B0B0D"/>
        </a:solidFill>
      </p:bgPr>
    </p:bg>
    <p:spTree>
      <p:nvGrpSpPr>
        <p:cNvPr id="1" name=""/>
        <p:cNvGrpSpPr/>
        <p:nvPr/>
      </p:nvGrpSpPr>
      <p:grpSpPr>
        <a:xfrm xmlns:a="http://schemas.openxmlformats.org/drawingml/2006/main"/>
      </p:grpSpPr>
      <p:sp>
        <p:nvSpPr>
          <p:cNvPr id="366" name="Google Shape;366;p18">
            <a:extLst xmlns:a="http://schemas.openxmlformats.org/drawingml/2006/main">
              <a:ext uri="{FF2B5EF4-FFF2-40B4-BE49-F238E27FC236}">
                <a16:creationId xmlns:a16="http://schemas.microsoft.com/office/drawing/2014/main" id="{3ADFED74-5D86-4C35-8CB5-6996588D407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D"/>
          </a:solidFill>
          <a:ln xmlns:a="http://schemas.openxmlformats.org/drawingml/2006/main" w="12700" cmpd="sng">
            <a:solidFill>
              <a:srgbClr val="0B0B0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67" name="Google Shape;367;p18">
            <a:extLst xmlns:a="http://schemas.openxmlformats.org/drawingml/2006/main">
              <a:ext uri="{FF2B5EF4-FFF2-40B4-BE49-F238E27FC236}">
                <a16:creationId xmlns:a16="http://schemas.microsoft.com/office/drawing/2014/main" id="{CCAB3B94-23DE-4216-9E96-CA663793C138}"/>
              </a:ext>
            </a:extLst>
          </p:cNvPr>
          <p:cNvSpPr>
            <a:spLocks xmlns:a="http://schemas.openxmlformats.org/drawingml/2006/main" noGrp="1"/>
          </p:cNvSpPr>
          <p:nvPr/>
        </p:nvSpPr>
        <p:spPr>
          <a:xfrm xmlns:a="http://schemas.openxmlformats.org/drawingml/2006/main">
            <a:off x="0" y="109728"/>
            <a:ext cx="12191695" cy="64008"/>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68" name="Google Shape;368;p18">
            <a:extLst xmlns:a="http://schemas.openxmlformats.org/drawingml/2006/main">
              <a:ext uri="{FF2B5EF4-FFF2-40B4-BE49-F238E27FC236}">
                <a16:creationId xmlns:a16="http://schemas.microsoft.com/office/drawing/2014/main" id="{ACD33FA3-0A26-40ED-9BC2-190199F8997E}"/>
              </a:ext>
            </a:extLst>
          </p:cNvPr>
          <p:cNvSpPr>
            <a:spLocks xmlns:a="http://schemas.openxmlformats.org/drawingml/2006/main" noGrp="1"/>
          </p:cNvSpPr>
          <p:nvPr/>
        </p:nvSpPr>
        <p:spPr>
          <a:xfrm xmlns:a="http://schemas.openxmlformats.org/drawingml/2006/main">
            <a:off x="0" y="6675120"/>
            <a:ext cx="12191695" cy="64008"/>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69" name="Google Shape;369;p18">
            <a:extLst xmlns:a="http://schemas.openxmlformats.org/drawingml/2006/main">
              <a:ext uri="{FF2B5EF4-FFF2-40B4-BE49-F238E27FC236}">
                <a16:creationId xmlns:a16="http://schemas.microsoft.com/office/drawing/2014/main" id="{F4855690-7C2F-46F8-A979-828AF051B4F8}"/>
              </a:ext>
            </a:extLst>
          </p:cNvPr>
          <p:cNvSpPr>
            <a:spLocks xmlns:a="http://schemas.openxmlformats.org/drawingml/2006/main" noGrp="1"/>
          </p:cNvSpPr>
          <p:nvPr/>
        </p:nvSpPr>
        <p:spPr>
          <a:xfrm xmlns:a="http://schemas.openxmlformats.org/drawingml/2006/main">
            <a:off x="384048" y="6364224"/>
            <a:ext cx="29260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A8A8A8"/>
              </a:buClr>
              <a:buSzPts val="950"/>
              <a:buFont typeface="Arial"/>
              <a:buNone/>
            </a:pPr>
            <a:r>
              <a:rPr sz="950" b="1" i="0" u="none" cap="none">
                <a:solidFill>
                  <a:srgbClr val="A8A8A8"/>
                </a:solidFill>
                <a:latin typeface="Arial"/>
                <a:ea typeface="Arial"/>
                <a:cs typeface="Arial"/>
              </a:rPr>
              <a:t>ORAL PRESENTATION</a:t>
            </a:r>
          </a:p>
        </p:txBody>
      </p:sp>
      <p:sp>
        <p:nvSpPr>
          <p:cNvPr id="370" name="Google Shape;370;p18">
            <a:extLst xmlns:a="http://schemas.openxmlformats.org/drawingml/2006/main">
              <a:ext uri="{FF2B5EF4-FFF2-40B4-BE49-F238E27FC236}">
                <a16:creationId xmlns:a16="http://schemas.microsoft.com/office/drawing/2014/main" id="{26A2D7AB-6063-48DC-8EF9-D4FF05C4C5C0}"/>
              </a:ext>
            </a:extLst>
          </p:cNvPr>
          <p:cNvSpPr>
            <a:spLocks xmlns:a="http://schemas.openxmlformats.org/drawingml/2006/main" noGrp="1"/>
          </p:cNvSpPr>
          <p:nvPr/>
        </p:nvSpPr>
        <p:spPr>
          <a:xfrm xmlns:a="http://schemas.openxmlformats.org/drawingml/2006/main">
            <a:off x="10405872" y="6364224"/>
            <a:ext cx="1325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A8A8A8"/>
              </a:buClr>
              <a:buSzPts val="950"/>
              <a:buFont typeface="Arial"/>
              <a:buNone/>
            </a:pPr>
            <a:r>
              <a:rPr sz="950" b="1" i="0" u="none" cap="none">
                <a:solidFill>
                  <a:srgbClr val="A8A8A8"/>
                </a:solidFill>
                <a:latin typeface="Arial"/>
                <a:ea typeface="Arial"/>
                <a:cs typeface="Arial"/>
              </a:rPr>
              <a:t>DECK 17</a:t>
            </a:r>
          </a:p>
        </p:txBody>
      </p:sp>
      <p:sp>
        <p:nvSpPr>
          <p:cNvPr id="371" name="Google Shape;371;p18">
            <a:extLst xmlns:a="http://schemas.openxmlformats.org/drawingml/2006/main">
              <a:ext uri="{FF2B5EF4-FFF2-40B4-BE49-F238E27FC236}">
                <a16:creationId xmlns:a16="http://schemas.microsoft.com/office/drawing/2014/main" id="{83F65C83-3CE6-47CD-8D9B-8D4C827E37BC}"/>
              </a:ext>
            </a:extLst>
          </p:cNvPr>
          <p:cNvSpPr>
            <a:spLocks xmlns:a="http://schemas.openxmlformats.org/drawingml/2006/main" noGrp="1"/>
          </p:cNvSpPr>
          <p:nvPr/>
        </p:nvSpPr>
        <p:spPr>
          <a:xfrm xmlns:a="http://schemas.openxmlformats.org/drawingml/2006/main">
            <a:off x="502920" y="502920"/>
            <a:ext cx="110642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4F4F4"/>
              </a:buClr>
              <a:buSzPts val="3000"/>
              <a:buFont typeface="Play"/>
              <a:buNone/>
            </a:pPr>
            <a:r>
              <a:rPr sz="3000" b="1" i="0" u="none" cap="none">
                <a:solidFill>
                  <a:srgbClr val="F4F4F4"/>
                </a:solidFill>
                <a:latin typeface="Play"/>
                <a:ea typeface="Play"/>
                <a:cs typeface="Play"/>
              </a:rPr>
              <a:t>Feedback Should Lead to Revision</a:t>
            </a:r>
          </a:p>
        </p:txBody>
      </p:sp>
      <p:sp>
        <p:nvSpPr>
          <p:cNvPr id="372" name="Google Shape;372;p18">
            <a:extLst xmlns:a="http://schemas.openxmlformats.org/drawingml/2006/main">
              <a:ext uri="{FF2B5EF4-FFF2-40B4-BE49-F238E27FC236}">
                <a16:creationId xmlns:a16="http://schemas.microsoft.com/office/drawing/2014/main" id="{60CA19BC-A777-46BA-89C0-AAFDD71A0E35}"/>
              </a:ext>
            </a:extLst>
          </p:cNvPr>
          <p:cNvSpPr>
            <a:spLocks xmlns:a="http://schemas.openxmlformats.org/drawingml/2006/main" noGrp="1"/>
          </p:cNvSpPr>
          <p:nvPr/>
        </p:nvSpPr>
        <p:spPr>
          <a:xfrm xmlns:a="http://schemas.openxmlformats.org/drawingml/2006/main">
            <a:off x="502920" y="1143000"/>
            <a:ext cx="914400" cy="54864"/>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73" name="Google Shape;373;p18">
            <a:extLst xmlns:a="http://schemas.openxmlformats.org/drawingml/2006/main">
              <a:ext uri="{FF2B5EF4-FFF2-40B4-BE49-F238E27FC236}">
                <a16:creationId xmlns:a16="http://schemas.microsoft.com/office/drawing/2014/main" id="{4F540628-05CA-4034-B7B8-CF41256A78F1}"/>
              </a:ext>
            </a:extLst>
          </p:cNvPr>
          <p:cNvSpPr>
            <a:spLocks xmlns:a="http://schemas.openxmlformats.org/drawingml/2006/main" noGrp="1"/>
          </p:cNvSpPr>
          <p:nvPr/>
        </p:nvSpPr>
        <p:spPr>
          <a:xfrm xmlns:a="http://schemas.openxmlformats.org/drawingml/2006/main">
            <a:off x="1600200" y="1024128"/>
            <a:ext cx="987552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A8A8A8"/>
              </a:buClr>
              <a:buSzPts val="1300"/>
              <a:buFont typeface="Arial"/>
              <a:buNone/>
            </a:pPr>
            <a:r>
              <a:rPr sz="1300" b="0" i="0" u="none" cap="none">
                <a:solidFill>
                  <a:srgbClr val="A8A8A8"/>
                </a:solidFill>
                <a:latin typeface="Arial"/>
                <a:ea typeface="Arial"/>
                <a:cs typeface="Arial"/>
              </a:rPr>
              <a:t>Practice only helps when feedback changes the next attempt.</a:t>
            </a:r>
          </a:p>
        </p:txBody>
      </p:sp>
      <p:sp>
        <p:nvSpPr>
          <p:cNvPr id="374" name="Google Shape;374;p18">
            <a:extLst xmlns:a="http://schemas.openxmlformats.org/drawingml/2006/main">
              <a:ext uri="{FF2B5EF4-FFF2-40B4-BE49-F238E27FC236}">
                <a16:creationId xmlns:a16="http://schemas.microsoft.com/office/drawing/2014/main" id="{0C92B04C-1F8A-4D2E-AFAB-FED47F38A595}"/>
              </a:ext>
            </a:extLst>
          </p:cNvPr>
          <p:cNvSpPr>
            <a:spLocks xmlns:a="http://schemas.openxmlformats.org/drawingml/2006/main" noGrp="1"/>
          </p:cNvSpPr>
          <p:nvPr/>
        </p:nvSpPr>
        <p:spPr>
          <a:xfrm xmlns:a="http://schemas.openxmlformats.org/drawingml/2006/main">
            <a:off x="777240" y="1600200"/>
            <a:ext cx="100584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500" tIns="500" rIns="500" bIns="500" anchor="t">
            <a:noAutofit/>
          </a:bodyPr>
          <a:lstStyle xmlns:a="http://schemas.openxmlformats.org/drawingml/2006/main"/>
          <a:p xmlns:a="http://schemas.openxmlformats.org/drawingml/2006/main">
            <a:pPr marL="0" marR="0" indent="0" algn="l">
              <a:spcBef>
                <a:spcPts val="0"/>
              </a:spcBef>
              <a:spcAft>
                <a:spcPts val="0"/>
              </a:spcAft>
              <a:buClr>
                <a:srgbClr val="A8A8A8"/>
              </a:buClr>
              <a:buSzPts val="2000"/>
              <a:buFont typeface="Arial"/>
              <a:buNone/>
            </a:pPr>
            <a:r>
              <a:rPr sz="2000" b="1" i="0" u="none" cap="none">
                <a:solidFill>
                  <a:srgbClr val="A8A8A8"/>
                </a:solidFill>
                <a:latin typeface="Arial"/>
                <a:ea typeface="Arial"/>
                <a:cs typeface="Arial"/>
              </a:rPr>
              <a:t>After each practice round, students should record:</a:t>
            </a:r>
          </a:p>
        </p:txBody>
      </p:sp>
      <p:sp>
        <p:nvSpPr>
          <p:cNvPr id="375" name="Google Shape;375;p18">
            <a:extLst xmlns:a="http://schemas.openxmlformats.org/drawingml/2006/main">
              <a:ext uri="{FF2B5EF4-FFF2-40B4-BE49-F238E27FC236}">
                <a16:creationId xmlns:a16="http://schemas.microsoft.com/office/drawing/2014/main" id="{1D0EA6B2-D169-4283-97A9-183618FA2ADE}"/>
              </a:ext>
            </a:extLst>
          </p:cNvPr>
          <p:cNvSpPr>
            <a:spLocks xmlns:a="http://schemas.openxmlformats.org/drawingml/2006/main" noGrp="1"/>
          </p:cNvSpPr>
          <p:nvPr/>
        </p:nvSpPr>
        <p:spPr>
          <a:xfrm xmlns:a="http://schemas.openxmlformats.org/drawingml/2006/main">
            <a:off x="731520" y="2148840"/>
            <a:ext cx="3429000" cy="2103120"/>
          </a:xfrm>
          <a:prstGeom xmlns:a="http://schemas.openxmlformats.org/drawingml/2006/main" prst="rect">
            <a:avLst/>
          </a:prstGeom>
          <a:solidFill xmlns:a="http://schemas.openxmlformats.org/drawingml/2006/main">
            <a:srgbClr val="111113"/>
          </a:solidFill>
          <a:ln xmlns:a="http://schemas.openxmlformats.org/drawingml/2006/main" w="12700" cmpd="sng">
            <a:solidFill>
              <a:srgbClr val="5A5A5A">
                <a:alpha val="8000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76" name="Google Shape;376;p18">
            <a:extLst xmlns:a="http://schemas.openxmlformats.org/drawingml/2006/main">
              <a:ext uri="{FF2B5EF4-FFF2-40B4-BE49-F238E27FC236}">
                <a16:creationId xmlns:a16="http://schemas.microsoft.com/office/drawing/2014/main" id="{220F5409-554C-4C64-A691-7E57BCB0A046}"/>
              </a:ext>
            </a:extLst>
          </p:cNvPr>
          <p:cNvSpPr>
            <a:spLocks xmlns:a="http://schemas.openxmlformats.org/drawingml/2006/main" noGrp="1"/>
          </p:cNvSpPr>
          <p:nvPr/>
        </p:nvSpPr>
        <p:spPr>
          <a:xfrm xmlns:a="http://schemas.openxmlformats.org/drawingml/2006/main">
            <a:off x="731520" y="2148840"/>
            <a:ext cx="64008" cy="2103120"/>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77" name="Google Shape;377;p18">
            <a:extLst xmlns:a="http://schemas.openxmlformats.org/drawingml/2006/main">
              <a:ext uri="{FF2B5EF4-FFF2-40B4-BE49-F238E27FC236}">
                <a16:creationId xmlns:a16="http://schemas.microsoft.com/office/drawing/2014/main" id="{A42BE512-4294-4045-A974-E8027401BB23}"/>
              </a:ext>
            </a:extLst>
          </p:cNvPr>
          <p:cNvSpPr>
            <a:spLocks xmlns:a="http://schemas.openxmlformats.org/drawingml/2006/main" noGrp="1"/>
          </p:cNvSpPr>
          <p:nvPr/>
        </p:nvSpPr>
        <p:spPr>
          <a:xfrm xmlns:a="http://schemas.openxmlformats.org/drawingml/2006/main">
            <a:off x="932688" y="2286000"/>
            <a:ext cx="310896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3342F"/>
              </a:buClr>
              <a:buSzPts val="1100"/>
              <a:buFont typeface="Arial"/>
              <a:buNone/>
            </a:pPr>
            <a:r>
              <a:rPr sz="1100" b="1" i="0" u="none" cap="none">
                <a:solidFill>
                  <a:srgbClr val="E3342F"/>
                </a:solidFill>
                <a:latin typeface="Arial"/>
                <a:ea typeface="Arial"/>
                <a:cs typeface="Arial"/>
              </a:rPr>
              <a:t>CONTENT FIX</a:t>
            </a:r>
          </a:p>
        </p:txBody>
      </p:sp>
      <p:sp>
        <p:nvSpPr>
          <p:cNvPr id="378" name="Google Shape;378;p18">
            <a:extLst xmlns:a="http://schemas.openxmlformats.org/drawingml/2006/main">
              <a:ext uri="{FF2B5EF4-FFF2-40B4-BE49-F238E27FC236}">
                <a16:creationId xmlns:a16="http://schemas.microsoft.com/office/drawing/2014/main" id="{B0BD1FFB-E55E-4FC6-83E6-4B09787B320E}"/>
              </a:ext>
            </a:extLst>
          </p:cNvPr>
          <p:cNvSpPr>
            <a:spLocks xmlns:a="http://schemas.openxmlformats.org/drawingml/2006/main" noGrp="1"/>
          </p:cNvSpPr>
          <p:nvPr/>
        </p:nvSpPr>
        <p:spPr>
          <a:xfrm xmlns:a="http://schemas.openxmlformats.org/drawingml/2006/main">
            <a:off x="932688" y="2606040"/>
            <a:ext cx="3108960" cy="15361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What idea, method detail, evidence, or limitation needs clearer explanation?</a:t>
            </a:r>
          </a:p>
        </p:txBody>
      </p:sp>
      <p:sp>
        <p:nvSpPr>
          <p:cNvPr id="379" name="Google Shape;379;p18">
            <a:extLst xmlns:a="http://schemas.openxmlformats.org/drawingml/2006/main">
              <a:ext uri="{FF2B5EF4-FFF2-40B4-BE49-F238E27FC236}">
                <a16:creationId xmlns:a16="http://schemas.microsoft.com/office/drawing/2014/main" id="{E4E49A59-C4CC-464F-AC2D-68993F0D05F8}"/>
              </a:ext>
            </a:extLst>
          </p:cNvPr>
          <p:cNvSpPr>
            <a:spLocks xmlns:a="http://schemas.openxmlformats.org/drawingml/2006/main" noGrp="1"/>
          </p:cNvSpPr>
          <p:nvPr/>
        </p:nvSpPr>
        <p:spPr>
          <a:xfrm xmlns:a="http://schemas.openxmlformats.org/drawingml/2006/main">
            <a:off x="4389120" y="2148840"/>
            <a:ext cx="3429000" cy="2103120"/>
          </a:xfrm>
          <a:prstGeom xmlns:a="http://schemas.openxmlformats.org/drawingml/2006/main" prst="rect">
            <a:avLst/>
          </a:prstGeom>
          <a:solidFill xmlns:a="http://schemas.openxmlformats.org/drawingml/2006/main">
            <a:srgbClr val="111113"/>
          </a:solidFill>
          <a:ln xmlns:a="http://schemas.openxmlformats.org/drawingml/2006/main" w="12700" cmpd="sng">
            <a:solidFill>
              <a:srgbClr val="5A5A5A">
                <a:alpha val="8000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80" name="Google Shape;380;p18">
            <a:extLst xmlns:a="http://schemas.openxmlformats.org/drawingml/2006/main">
              <a:ext uri="{FF2B5EF4-FFF2-40B4-BE49-F238E27FC236}">
                <a16:creationId xmlns:a16="http://schemas.microsoft.com/office/drawing/2014/main" id="{AF7A66E7-DEED-4A02-A77B-493327737032}"/>
              </a:ext>
            </a:extLst>
          </p:cNvPr>
          <p:cNvSpPr>
            <a:spLocks xmlns:a="http://schemas.openxmlformats.org/drawingml/2006/main" noGrp="1"/>
          </p:cNvSpPr>
          <p:nvPr/>
        </p:nvSpPr>
        <p:spPr>
          <a:xfrm xmlns:a="http://schemas.openxmlformats.org/drawingml/2006/main">
            <a:off x="4389120" y="2148840"/>
            <a:ext cx="64008" cy="2103120"/>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81" name="Google Shape;381;p18">
            <a:extLst xmlns:a="http://schemas.openxmlformats.org/drawingml/2006/main">
              <a:ext uri="{FF2B5EF4-FFF2-40B4-BE49-F238E27FC236}">
                <a16:creationId xmlns:a16="http://schemas.microsoft.com/office/drawing/2014/main" id="{68931235-4024-4272-A4DC-620928D410B7}"/>
              </a:ext>
            </a:extLst>
          </p:cNvPr>
          <p:cNvSpPr>
            <a:spLocks xmlns:a="http://schemas.openxmlformats.org/drawingml/2006/main" noGrp="1"/>
          </p:cNvSpPr>
          <p:nvPr/>
        </p:nvSpPr>
        <p:spPr>
          <a:xfrm xmlns:a="http://schemas.openxmlformats.org/drawingml/2006/main">
            <a:off x="4590288" y="2286000"/>
            <a:ext cx="310896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3342F"/>
              </a:buClr>
              <a:buSzPts val="1100"/>
              <a:buFont typeface="Arial"/>
              <a:buNone/>
            </a:pPr>
            <a:r>
              <a:rPr sz="1100" b="1" i="0" u="none" cap="none">
                <a:solidFill>
                  <a:srgbClr val="E3342F"/>
                </a:solidFill>
                <a:latin typeface="Arial"/>
                <a:ea typeface="Arial"/>
                <a:cs typeface="Arial"/>
              </a:rPr>
              <a:t>VISUAL FIX</a:t>
            </a:r>
          </a:p>
        </p:txBody>
      </p:sp>
      <p:sp>
        <p:nvSpPr>
          <p:cNvPr id="382" name="Google Shape;382;p18">
            <a:extLst xmlns:a="http://schemas.openxmlformats.org/drawingml/2006/main">
              <a:ext uri="{FF2B5EF4-FFF2-40B4-BE49-F238E27FC236}">
                <a16:creationId xmlns:a16="http://schemas.microsoft.com/office/drawing/2014/main" id="{48E08EF9-B311-4616-9B81-8BA67EA2DC62}"/>
              </a:ext>
            </a:extLst>
          </p:cNvPr>
          <p:cNvSpPr>
            <a:spLocks xmlns:a="http://schemas.openxmlformats.org/drawingml/2006/main" noGrp="1"/>
          </p:cNvSpPr>
          <p:nvPr/>
        </p:nvSpPr>
        <p:spPr>
          <a:xfrm xmlns:a="http://schemas.openxmlformats.org/drawingml/2006/main">
            <a:off x="4590288" y="2606040"/>
            <a:ext cx="3108960" cy="15361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What graph, label, caption, font size, layout, or image needs adjustment?</a:t>
            </a:r>
          </a:p>
        </p:txBody>
      </p:sp>
      <p:sp>
        <p:nvSpPr>
          <p:cNvPr id="383" name="Google Shape;383;p18">
            <a:extLst xmlns:a="http://schemas.openxmlformats.org/drawingml/2006/main">
              <a:ext uri="{FF2B5EF4-FFF2-40B4-BE49-F238E27FC236}">
                <a16:creationId xmlns:a16="http://schemas.microsoft.com/office/drawing/2014/main" id="{86AA7947-1A15-489A-8E7A-CD6C42453173}"/>
              </a:ext>
            </a:extLst>
          </p:cNvPr>
          <p:cNvSpPr>
            <a:spLocks xmlns:a="http://schemas.openxmlformats.org/drawingml/2006/main" noGrp="1"/>
          </p:cNvSpPr>
          <p:nvPr/>
        </p:nvSpPr>
        <p:spPr>
          <a:xfrm xmlns:a="http://schemas.openxmlformats.org/drawingml/2006/main">
            <a:off x="8046720" y="2148840"/>
            <a:ext cx="3429000" cy="2103120"/>
          </a:xfrm>
          <a:prstGeom xmlns:a="http://schemas.openxmlformats.org/drawingml/2006/main" prst="rect">
            <a:avLst/>
          </a:prstGeom>
          <a:solidFill xmlns:a="http://schemas.openxmlformats.org/drawingml/2006/main">
            <a:srgbClr val="111113"/>
          </a:solidFill>
          <a:ln xmlns:a="http://schemas.openxmlformats.org/drawingml/2006/main" w="12700" cmpd="sng">
            <a:solidFill>
              <a:srgbClr val="5A5A5A">
                <a:alpha val="8000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84" name="Google Shape;384;p18">
            <a:extLst xmlns:a="http://schemas.openxmlformats.org/drawingml/2006/main">
              <a:ext uri="{FF2B5EF4-FFF2-40B4-BE49-F238E27FC236}">
                <a16:creationId xmlns:a16="http://schemas.microsoft.com/office/drawing/2014/main" id="{4B79D103-A1BD-4673-848F-F391E019DC5A}"/>
              </a:ext>
            </a:extLst>
          </p:cNvPr>
          <p:cNvSpPr>
            <a:spLocks xmlns:a="http://schemas.openxmlformats.org/drawingml/2006/main" noGrp="1"/>
          </p:cNvSpPr>
          <p:nvPr/>
        </p:nvSpPr>
        <p:spPr>
          <a:xfrm xmlns:a="http://schemas.openxmlformats.org/drawingml/2006/main">
            <a:off x="8046720" y="2148840"/>
            <a:ext cx="64008" cy="2103120"/>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85" name="Google Shape;385;p18">
            <a:extLst xmlns:a="http://schemas.openxmlformats.org/drawingml/2006/main">
              <a:ext uri="{FF2B5EF4-FFF2-40B4-BE49-F238E27FC236}">
                <a16:creationId xmlns:a16="http://schemas.microsoft.com/office/drawing/2014/main" id="{39F770D7-7F19-4845-AA6E-8E133C591DA3}"/>
              </a:ext>
            </a:extLst>
          </p:cNvPr>
          <p:cNvSpPr>
            <a:spLocks xmlns:a="http://schemas.openxmlformats.org/drawingml/2006/main" noGrp="1"/>
          </p:cNvSpPr>
          <p:nvPr/>
        </p:nvSpPr>
        <p:spPr>
          <a:xfrm xmlns:a="http://schemas.openxmlformats.org/drawingml/2006/main">
            <a:off x="8247888" y="2286000"/>
            <a:ext cx="310896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3342F"/>
              </a:buClr>
              <a:buSzPts val="1100"/>
              <a:buFont typeface="Arial"/>
              <a:buNone/>
            </a:pPr>
            <a:r>
              <a:rPr sz="1100" b="1" i="0" u="none" cap="none">
                <a:solidFill>
                  <a:srgbClr val="E3342F"/>
                </a:solidFill>
                <a:latin typeface="Arial"/>
                <a:ea typeface="Arial"/>
                <a:cs typeface="Arial"/>
              </a:rPr>
              <a:t>DELIVERY FIX</a:t>
            </a:r>
          </a:p>
        </p:txBody>
      </p:sp>
      <p:sp>
        <p:nvSpPr>
          <p:cNvPr id="386" name="Google Shape;386;p18">
            <a:extLst xmlns:a="http://schemas.openxmlformats.org/drawingml/2006/main">
              <a:ext uri="{FF2B5EF4-FFF2-40B4-BE49-F238E27FC236}">
                <a16:creationId xmlns:a16="http://schemas.microsoft.com/office/drawing/2014/main" id="{B5640DB6-F2C0-4CE6-B421-5AD9F0BF4584}"/>
              </a:ext>
            </a:extLst>
          </p:cNvPr>
          <p:cNvSpPr>
            <a:spLocks xmlns:a="http://schemas.openxmlformats.org/drawingml/2006/main" noGrp="1"/>
          </p:cNvSpPr>
          <p:nvPr/>
        </p:nvSpPr>
        <p:spPr>
          <a:xfrm xmlns:a="http://schemas.openxmlformats.org/drawingml/2006/main">
            <a:off x="8247888" y="2606040"/>
            <a:ext cx="3108960" cy="15361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4F4F4"/>
              </a:buClr>
              <a:buSzPts val="1600"/>
              <a:buFont typeface="Arial"/>
              <a:buNone/>
            </a:pPr>
            <a:r>
              <a:rPr sz="1600" b="0" i="0" u="none" cap="none">
                <a:solidFill>
                  <a:srgbClr val="F4F4F4"/>
                </a:solidFill>
                <a:latin typeface="Arial"/>
                <a:ea typeface="Arial"/>
                <a:cs typeface="Arial"/>
              </a:rPr>
              <a:t>What pacing, volume, note use, eye contact, or transition needs practice?</a:t>
            </a:r>
          </a:p>
        </p:txBody>
      </p:sp>
      <p:sp>
        <p:nvSpPr>
          <p:cNvPr id="387" name="Google Shape;387;p18">
            <a:extLst xmlns:a="http://schemas.openxmlformats.org/drawingml/2006/main">
              <a:ext uri="{FF2B5EF4-FFF2-40B4-BE49-F238E27FC236}">
                <a16:creationId xmlns:a16="http://schemas.microsoft.com/office/drawing/2014/main" id="{7451B30F-F5C8-43F7-BEF0-17708A62B3FC}"/>
              </a:ext>
            </a:extLst>
          </p:cNvPr>
          <p:cNvSpPr>
            <a:spLocks xmlns:a="http://schemas.openxmlformats.org/drawingml/2006/main" noGrp="1"/>
          </p:cNvSpPr>
          <p:nvPr/>
        </p:nvSpPr>
        <p:spPr>
          <a:xfrm xmlns:a="http://schemas.openxmlformats.org/drawingml/2006/main">
            <a:off x="1097280" y="4892040"/>
            <a:ext cx="100584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500" tIns="500" rIns="500" bIns="500" anchor="t">
            <a:noAutofit/>
          </a:bodyPr>
          <a:lstStyle xmlns:a="http://schemas.openxmlformats.org/drawingml/2006/main"/>
          <a:p xmlns:a="http://schemas.openxmlformats.org/drawingml/2006/main">
            <a:pPr marL="0" marR="0" indent="0" algn="l">
              <a:spcBef>
                <a:spcPts val="0"/>
              </a:spcBef>
              <a:spcAft>
                <a:spcPts val="0"/>
              </a:spcAft>
              <a:buClr>
                <a:srgbClr val="F4F4F4"/>
              </a:buClr>
              <a:buSzPts val="2200"/>
              <a:buFont typeface="Arial"/>
              <a:buNone/>
            </a:pPr>
            <a:r>
              <a:rPr sz="2200" b="1" i="0" u="none" cap="none">
                <a:solidFill>
                  <a:srgbClr val="F4F4F4"/>
                </a:solidFill>
                <a:latin typeface="Arial"/>
                <a:ea typeface="Arial"/>
                <a:cs typeface="Arial"/>
              </a:rPr>
              <a:t>A stronger presentation is built through repeated targeted revisions.</a:t>
            </a:r>
          </a:p>
        </p:txBody>
      </p:sp>
    </p:spTree>
    <p:extLst>
      <p:ext uri="{BB962C8B-B14F-4D97-AF65-F5344CB8AC3E}">
        <p14:creationId xmlns:p14="http://schemas.microsoft.com/office/powerpoint/2010/main" val="1461432642"/>
      </p:ext>
    </p:extLst>
  </p:cSld>
</p:sld>
</file>

<file path=ppt/slides/slide17.xml><?xml version="1.0" encoding="utf-8"?>
<p:sld xmlns:p="http://schemas.openxmlformats.org/presentationml/2006/main">
  <p:cSld>
    <p:bg>
      <p:bgPr>
        <a:solidFill xmlns:a="http://schemas.openxmlformats.org/drawingml/2006/main">
          <a:srgbClr val="0B0B0D"/>
        </a:solidFill>
      </p:bgPr>
    </p:bg>
    <p:spTree>
      <p:nvGrpSpPr>
        <p:cNvPr id="1" name=""/>
        <p:cNvGrpSpPr/>
        <p:nvPr/>
      </p:nvGrpSpPr>
      <p:grpSpPr>
        <a:xfrm xmlns:a="http://schemas.openxmlformats.org/drawingml/2006/main"/>
      </p:grpSpPr>
      <p:sp>
        <p:nvSpPr>
          <p:cNvPr id="393" name="Google Shape;393;p19">
            <a:extLst xmlns:a="http://schemas.openxmlformats.org/drawingml/2006/main">
              <a:ext uri="{FF2B5EF4-FFF2-40B4-BE49-F238E27FC236}">
                <a16:creationId xmlns:a16="http://schemas.microsoft.com/office/drawing/2014/main" id="{1055C889-94E9-4448-89E6-124F507353D6}"/>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D"/>
          </a:solidFill>
          <a:ln xmlns:a="http://schemas.openxmlformats.org/drawingml/2006/main" w="12700" cmpd="sng">
            <a:solidFill>
              <a:srgbClr val="0B0B0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94" name="Google Shape;394;p19">
            <a:extLst xmlns:a="http://schemas.openxmlformats.org/drawingml/2006/main">
              <a:ext uri="{FF2B5EF4-FFF2-40B4-BE49-F238E27FC236}">
                <a16:creationId xmlns:a16="http://schemas.microsoft.com/office/drawing/2014/main" id="{A95251C4-ACAE-4F53-9FB3-C1AD16234626}"/>
              </a:ext>
            </a:extLst>
          </p:cNvPr>
          <p:cNvSpPr>
            <a:spLocks xmlns:a="http://schemas.openxmlformats.org/drawingml/2006/main" noGrp="1"/>
          </p:cNvSpPr>
          <p:nvPr/>
        </p:nvSpPr>
        <p:spPr>
          <a:xfrm xmlns:a="http://schemas.openxmlformats.org/drawingml/2006/main">
            <a:off x="0" y="109728"/>
            <a:ext cx="12191695" cy="64008"/>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95" name="Google Shape;395;p19">
            <a:extLst xmlns:a="http://schemas.openxmlformats.org/drawingml/2006/main">
              <a:ext uri="{FF2B5EF4-FFF2-40B4-BE49-F238E27FC236}">
                <a16:creationId xmlns:a16="http://schemas.microsoft.com/office/drawing/2014/main" id="{7438D608-BB21-4A96-B488-9C55F647F43B}"/>
              </a:ext>
            </a:extLst>
          </p:cNvPr>
          <p:cNvSpPr>
            <a:spLocks xmlns:a="http://schemas.openxmlformats.org/drawingml/2006/main" noGrp="1"/>
          </p:cNvSpPr>
          <p:nvPr/>
        </p:nvSpPr>
        <p:spPr>
          <a:xfrm xmlns:a="http://schemas.openxmlformats.org/drawingml/2006/main">
            <a:off x="0" y="6675120"/>
            <a:ext cx="12191695" cy="64008"/>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96" name="Google Shape;396;p19">
            <a:extLst xmlns:a="http://schemas.openxmlformats.org/drawingml/2006/main">
              <a:ext uri="{FF2B5EF4-FFF2-40B4-BE49-F238E27FC236}">
                <a16:creationId xmlns:a16="http://schemas.microsoft.com/office/drawing/2014/main" id="{84D91BB0-B196-4408-A2EF-B6357AFB5E3D}"/>
              </a:ext>
            </a:extLst>
          </p:cNvPr>
          <p:cNvSpPr>
            <a:spLocks xmlns:a="http://schemas.openxmlformats.org/drawingml/2006/main" noGrp="1"/>
          </p:cNvSpPr>
          <p:nvPr/>
        </p:nvSpPr>
        <p:spPr>
          <a:xfrm xmlns:a="http://schemas.openxmlformats.org/drawingml/2006/main">
            <a:off x="384048" y="6364224"/>
            <a:ext cx="29260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A8A8A8"/>
              </a:buClr>
              <a:buSzPts val="950"/>
              <a:buFont typeface="Arial"/>
              <a:buNone/>
            </a:pPr>
            <a:r>
              <a:rPr sz="950" b="1" i="0" u="none" cap="none">
                <a:solidFill>
                  <a:srgbClr val="A8A8A8"/>
                </a:solidFill>
                <a:latin typeface="Arial"/>
                <a:ea typeface="Arial"/>
                <a:cs typeface="Arial"/>
              </a:rPr>
              <a:t>STUDENT ACTIVITY</a:t>
            </a:r>
          </a:p>
        </p:txBody>
      </p:sp>
      <p:sp>
        <p:nvSpPr>
          <p:cNvPr id="397" name="Google Shape;397;p19">
            <a:extLst xmlns:a="http://schemas.openxmlformats.org/drawingml/2006/main">
              <a:ext uri="{FF2B5EF4-FFF2-40B4-BE49-F238E27FC236}">
                <a16:creationId xmlns:a16="http://schemas.microsoft.com/office/drawing/2014/main" id="{2970F578-8443-429A-8705-32B63CF433D4}"/>
              </a:ext>
            </a:extLst>
          </p:cNvPr>
          <p:cNvSpPr>
            <a:spLocks xmlns:a="http://schemas.openxmlformats.org/drawingml/2006/main" noGrp="1"/>
          </p:cNvSpPr>
          <p:nvPr/>
        </p:nvSpPr>
        <p:spPr>
          <a:xfrm xmlns:a="http://schemas.openxmlformats.org/drawingml/2006/main">
            <a:off x="10405872" y="6364224"/>
            <a:ext cx="1325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A8A8A8"/>
              </a:buClr>
              <a:buSzPts val="950"/>
              <a:buFont typeface="Arial"/>
              <a:buNone/>
            </a:pPr>
            <a:r>
              <a:rPr sz="950" b="1" i="0" u="none" cap="none">
                <a:solidFill>
                  <a:srgbClr val="A8A8A8"/>
                </a:solidFill>
                <a:latin typeface="Arial"/>
                <a:ea typeface="Arial"/>
                <a:cs typeface="Arial"/>
              </a:rPr>
              <a:t>DECK 17</a:t>
            </a:r>
          </a:p>
        </p:txBody>
      </p:sp>
      <p:sp>
        <p:nvSpPr>
          <p:cNvPr id="398" name="Google Shape;398;p19">
            <a:extLst xmlns:a="http://schemas.openxmlformats.org/drawingml/2006/main">
              <a:ext uri="{FF2B5EF4-FFF2-40B4-BE49-F238E27FC236}">
                <a16:creationId xmlns:a16="http://schemas.microsoft.com/office/drawing/2014/main" id="{19E5438D-0D0D-44AC-8E5B-EE39F945D346}"/>
              </a:ext>
            </a:extLst>
          </p:cNvPr>
          <p:cNvSpPr>
            <a:spLocks xmlns:a="http://schemas.openxmlformats.org/drawingml/2006/main" noGrp="1"/>
          </p:cNvSpPr>
          <p:nvPr/>
        </p:nvSpPr>
        <p:spPr>
          <a:xfrm xmlns:a="http://schemas.openxmlformats.org/drawingml/2006/main">
            <a:off x="502920" y="502920"/>
            <a:ext cx="110642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4F4F4"/>
              </a:buClr>
              <a:buSzPts val="3000"/>
              <a:buFont typeface="Play"/>
              <a:buNone/>
            </a:pPr>
            <a:r>
              <a:rPr sz="3000" b="1" i="0" u="none" cap="none">
                <a:solidFill>
                  <a:srgbClr val="F4F4F4"/>
                </a:solidFill>
                <a:latin typeface="Play"/>
                <a:ea typeface="Play"/>
                <a:cs typeface="Play"/>
              </a:rPr>
              <a:t>Activity: Practice Round + Revision Log</a:t>
            </a:r>
          </a:p>
        </p:txBody>
      </p:sp>
      <p:sp>
        <p:nvSpPr>
          <p:cNvPr id="399" name="Google Shape;399;p19">
            <a:extLst xmlns:a="http://schemas.openxmlformats.org/drawingml/2006/main">
              <a:ext uri="{FF2B5EF4-FFF2-40B4-BE49-F238E27FC236}">
                <a16:creationId xmlns:a16="http://schemas.microsoft.com/office/drawing/2014/main" id="{F29EA159-3045-4AB8-B2F0-FC2D05A3A42A}"/>
              </a:ext>
            </a:extLst>
          </p:cNvPr>
          <p:cNvSpPr>
            <a:spLocks xmlns:a="http://schemas.openxmlformats.org/drawingml/2006/main" noGrp="1"/>
          </p:cNvSpPr>
          <p:nvPr/>
        </p:nvSpPr>
        <p:spPr>
          <a:xfrm xmlns:a="http://schemas.openxmlformats.org/drawingml/2006/main">
            <a:off x="502920" y="1143000"/>
            <a:ext cx="914400" cy="54864"/>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00" name="Google Shape;400;p19">
            <a:extLst xmlns:a="http://schemas.openxmlformats.org/drawingml/2006/main">
              <a:ext uri="{FF2B5EF4-FFF2-40B4-BE49-F238E27FC236}">
                <a16:creationId xmlns:a16="http://schemas.microsoft.com/office/drawing/2014/main" id="{5DA9C24B-A49F-448F-BA2F-48AFD54020E7}"/>
              </a:ext>
            </a:extLst>
          </p:cNvPr>
          <p:cNvSpPr>
            <a:spLocks xmlns:a="http://schemas.openxmlformats.org/drawingml/2006/main" noGrp="1"/>
          </p:cNvSpPr>
          <p:nvPr/>
        </p:nvSpPr>
        <p:spPr>
          <a:xfrm xmlns:a="http://schemas.openxmlformats.org/drawingml/2006/main">
            <a:off x="1600200" y="1024128"/>
            <a:ext cx="987552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A8A8A8"/>
              </a:buClr>
              <a:buSzPts val="1300"/>
              <a:buFont typeface="Arial"/>
              <a:buNone/>
            </a:pPr>
            <a:r>
              <a:rPr sz="1300" b="0" i="0" u="none" cap="none">
                <a:solidFill>
                  <a:srgbClr val="A8A8A8"/>
                </a:solidFill>
                <a:latin typeface="Arial"/>
                <a:ea typeface="Arial"/>
                <a:cs typeface="Arial"/>
              </a:rPr>
              <a:t>Turn practice feedback into a specific improvement plan.</a:t>
            </a:r>
          </a:p>
        </p:txBody>
      </p:sp>
      <p:sp>
        <p:nvSpPr>
          <p:cNvPr id="401" name="Google Shape;401;p19">
            <a:extLst xmlns:a="http://schemas.openxmlformats.org/drawingml/2006/main">
              <a:ext uri="{FF2B5EF4-FFF2-40B4-BE49-F238E27FC236}">
                <a16:creationId xmlns:a16="http://schemas.microsoft.com/office/drawing/2014/main" id="{CE4AC96D-182C-45AD-A91E-12347039CA68}"/>
              </a:ext>
            </a:extLst>
          </p:cNvPr>
          <p:cNvSpPr>
            <a:spLocks xmlns:a="http://schemas.openxmlformats.org/drawingml/2006/main" noGrp="1"/>
          </p:cNvSpPr>
          <p:nvPr/>
        </p:nvSpPr>
        <p:spPr>
          <a:xfrm xmlns:a="http://schemas.openxmlformats.org/drawingml/2006/main">
            <a:off x="640080" y="1572768"/>
            <a:ext cx="21488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3342F"/>
              </a:buClr>
              <a:buSzPts val="1200"/>
              <a:buFont typeface="Arial"/>
              <a:buNone/>
            </a:pPr>
            <a:r>
              <a:rPr sz="1200" b="1" i="0" u="none" cap="none">
                <a:solidFill>
                  <a:srgbClr val="E3342F"/>
                </a:solidFill>
                <a:latin typeface="Arial"/>
                <a:ea typeface="Arial"/>
                <a:cs typeface="Arial"/>
              </a:rPr>
              <a:t>STUDENT ACTIVITY</a:t>
            </a:r>
          </a:p>
        </p:txBody>
      </p:sp>
      <p:sp>
        <p:nvSpPr>
          <p:cNvPr id="402" name="Google Shape;402;p19">
            <a:extLst xmlns:a="http://schemas.openxmlformats.org/drawingml/2006/main">
              <a:ext uri="{FF2B5EF4-FFF2-40B4-BE49-F238E27FC236}">
                <a16:creationId xmlns:a16="http://schemas.microsoft.com/office/drawing/2014/main" id="{3DD57702-44D7-420D-9C90-10653E027B68}"/>
              </a:ext>
            </a:extLst>
          </p:cNvPr>
          <p:cNvSpPr>
            <a:spLocks xmlns:a="http://schemas.openxmlformats.org/drawingml/2006/main" noGrp="1"/>
          </p:cNvSpPr>
          <p:nvPr/>
        </p:nvSpPr>
        <p:spPr>
          <a:xfrm xmlns:a="http://schemas.openxmlformats.org/drawingml/2006/main">
            <a:off x="640080" y="1874520"/>
            <a:ext cx="521208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4F4F4"/>
              </a:buClr>
              <a:buSzPts val="2600"/>
              <a:buFont typeface="Arial"/>
              <a:buNone/>
            </a:pPr>
            <a:r>
              <a:rPr sz="2600" b="1" i="0" u="none" cap="none">
                <a:solidFill>
                  <a:srgbClr val="F4F4F4"/>
                </a:solidFill>
                <a:latin typeface="Arial"/>
                <a:ea typeface="Arial"/>
                <a:cs typeface="Arial"/>
              </a:rPr>
              <a:t>Present, Listen, Revise</a:t>
            </a:r>
          </a:p>
        </p:txBody>
      </p:sp>
      <p:sp>
        <p:nvSpPr>
          <p:cNvPr id="403" name="Google Shape;403;p19">
            <a:extLst xmlns:a="http://schemas.openxmlformats.org/drawingml/2006/main">
              <a:ext uri="{FF2B5EF4-FFF2-40B4-BE49-F238E27FC236}">
                <a16:creationId xmlns:a16="http://schemas.microsoft.com/office/drawing/2014/main" id="{DA89C91D-2E40-42DB-AE7E-C3CBCE6105B7}"/>
              </a:ext>
            </a:extLst>
          </p:cNvPr>
          <p:cNvSpPr>
            <a:spLocks xmlns:a="http://schemas.openxmlformats.org/drawingml/2006/main" noGrp="1"/>
          </p:cNvSpPr>
          <p:nvPr/>
        </p:nvSpPr>
        <p:spPr>
          <a:xfrm xmlns:a="http://schemas.openxmlformats.org/drawingml/2006/main">
            <a:off x="9509760" y="1901952"/>
            <a:ext cx="18288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E3342F"/>
              </a:buClr>
              <a:buSzPts val="1600"/>
              <a:buFont typeface="Arial"/>
              <a:buNone/>
            </a:pPr>
            <a:r>
              <a:rPr sz="1600" b="1" i="0" u="none" cap="none">
                <a:solidFill>
                  <a:srgbClr val="E3342F"/>
                </a:solidFill>
                <a:latin typeface="Arial"/>
                <a:ea typeface="Arial"/>
                <a:cs typeface="Arial"/>
              </a:rPr>
              <a:t>15–20 MINUTES</a:t>
            </a:r>
          </a:p>
        </p:txBody>
      </p:sp>
      <p:cxnSp>
        <p:nvCxnSpPr>
          <p:cNvPr id="429" name="Google Shape;404;p19"/>
          <p:cNvCxnSpPr/>
          <p:nvPr/>
        </p:nvCxnSpPr>
        <p:spPr>
          <a:xfrm xmlns:a="http://schemas.openxmlformats.org/drawingml/2006/main">
            <a:off x="640080" y="2523744"/>
            <a:ext cx="10881360" cy="0"/>
          </a:xfrm>
          <a:prstGeom xmlns:a="http://schemas.openxmlformats.org/drawingml/2006/main" prst="straightConnector1">
            <a:avLst/>
          </a:prstGeom>
          <a:ln xmlns:a="http://schemas.openxmlformats.org/drawingml/2006/main" w="12700" cap="flat">
            <a:solidFill>
              <a:srgbClr val="5A5A5A"/>
            </a:solidFill>
            <a:prstDash val="solid"/>
            <a:round/>
            <a:headEnd type="none" w="sm" len="sm"/>
            <a:tailEnd type="none" w="sm" len="sm"/>
          </a:ln>
        </p:spPr>
      </p:cxnSp>
      <p:sp>
        <p:nvSpPr>
          <p:cNvPr id="405" name="Google Shape;405;p19">
            <a:extLst xmlns:a="http://schemas.openxmlformats.org/drawingml/2006/main">
              <a:ext uri="{FF2B5EF4-FFF2-40B4-BE49-F238E27FC236}">
                <a16:creationId xmlns:a16="http://schemas.microsoft.com/office/drawing/2014/main" id="{29BB7A9C-8E65-40F1-BB9C-1B1EECBE8C6E}"/>
              </a:ext>
            </a:extLst>
          </p:cNvPr>
          <p:cNvSpPr>
            <a:spLocks xmlns:a="http://schemas.openxmlformats.org/drawingml/2006/main" noGrp="1"/>
          </p:cNvSpPr>
          <p:nvPr/>
        </p:nvSpPr>
        <p:spPr>
          <a:xfrm xmlns:a="http://schemas.openxmlformats.org/drawingml/2006/main">
            <a:off x="822960" y="2807208"/>
            <a:ext cx="10515600" cy="2560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ctr">
            <a:noAutofit/>
          </a:bodyPr>
          <a:lstStyle xmlns:a="http://schemas.openxmlformats.org/drawingml/2006/main"/>
          <a:p xmlns:a="http://schemas.openxmlformats.org/drawingml/2006/main">
            <a:pPr marL="0" marR="0" indent="0" algn="l">
              <a:spcBef>
                <a:spcPts val="0"/>
              </a:spcBef>
              <a:spcAft>
                <a:spcPts val="0"/>
              </a:spcAft>
              <a:buClr>
                <a:srgbClr val="F4F4F4"/>
              </a:buClr>
              <a:buSzPts val="2100"/>
              <a:buFont typeface="Arial"/>
              <a:buNone/>
            </a:pPr>
            <a:r>
              <a:rPr sz="2100" b="0" i="0" u="none" cap="none">
                <a:solidFill>
                  <a:srgbClr val="F4F4F4"/>
                </a:solidFill>
                <a:latin typeface="Arial"/>
                <a:ea typeface="Arial"/>
                <a:cs typeface="Arial"/>
              </a:rPr>
              <a:t>In pairs or groups of three:</a:t>
            </a:r>
          </a:p>
          <a:p xmlns:a="http://schemas.openxmlformats.org/drawingml/2006/main">
            <a:pPr marL="0" marR="0" indent="0" algn="l">
              <a:spcBef>
                <a:spcPts val="0"/>
              </a:spcBef>
              <a:spcAft>
                <a:spcPts val="0"/>
              </a:spcAft>
              <a:buClr>
                <a:schemeClr val="dk1"/>
              </a:buClr>
              <a:buSzPts val="2100"/>
              <a:buFont typeface="Arial"/>
              <a:buNone/>
            </a:pPr>
            <a:r>
              <a:t/>
            </a:r>
          </a:p>
          <a:p xmlns:a="http://schemas.openxmlformats.org/drawingml/2006/main">
            <a:pPr marL="0" marR="0" indent="0" algn="l">
              <a:spcBef>
                <a:spcPts val="0"/>
              </a:spcBef>
              <a:spcAft>
                <a:spcPts val="0"/>
              </a:spcAft>
              <a:buClr>
                <a:srgbClr val="F4F4F4"/>
              </a:buClr>
              <a:buSzPts val="2100"/>
              <a:buFont typeface="Arial"/>
              <a:buNone/>
            </a:pPr>
            <a:r>
              <a:rPr sz="2100" b="0" i="0" u="none" cap="none">
                <a:solidFill>
                  <a:srgbClr val="F4F4F4"/>
                </a:solidFill>
                <a:latin typeface="Arial"/>
                <a:ea typeface="Arial"/>
                <a:cs typeface="Arial"/>
              </a:rPr>
              <a:t>1. Present a 2-minute version.</a:t>
            </a:r>
          </a:p>
          <a:p xmlns:a="http://schemas.openxmlformats.org/drawingml/2006/main">
            <a:pPr marL="0" marR="0" indent="0" algn="l">
              <a:spcBef>
                <a:spcPts val="0"/>
              </a:spcBef>
              <a:spcAft>
                <a:spcPts val="0"/>
              </a:spcAft>
              <a:buClr>
                <a:srgbClr val="F4F4F4"/>
              </a:buClr>
              <a:buSzPts val="2100"/>
              <a:buFont typeface="Arial"/>
              <a:buNone/>
            </a:pPr>
            <a:r>
              <a:rPr sz="2100" b="0" i="0" u="none" cap="none">
                <a:solidFill>
                  <a:srgbClr val="F4F4F4"/>
                </a:solidFill>
                <a:latin typeface="Arial"/>
                <a:ea typeface="Arial"/>
                <a:cs typeface="Arial"/>
              </a:rPr>
              <a:t>2. Listener completes the feedback form.</a:t>
            </a:r>
          </a:p>
          <a:p xmlns:a="http://schemas.openxmlformats.org/drawingml/2006/main">
            <a:pPr marL="0" marR="0" indent="0" algn="l">
              <a:spcBef>
                <a:spcPts val="0"/>
              </a:spcBef>
              <a:spcAft>
                <a:spcPts val="0"/>
              </a:spcAft>
              <a:buClr>
                <a:srgbClr val="F4F4F4"/>
              </a:buClr>
              <a:buSzPts val="2100"/>
              <a:buFont typeface="Arial"/>
              <a:buNone/>
            </a:pPr>
            <a:r>
              <a:rPr sz="2100" b="0" i="0" u="none" cap="none">
                <a:solidFill>
                  <a:srgbClr val="F4F4F4"/>
                </a:solidFill>
                <a:latin typeface="Arial"/>
                <a:ea typeface="Arial"/>
                <a:cs typeface="Arial"/>
              </a:rPr>
              <a:t>3. Presenter records one content fix, one visual fix, and one delivery fix.</a:t>
            </a:r>
          </a:p>
          <a:p xmlns:a="http://schemas.openxmlformats.org/drawingml/2006/main">
            <a:pPr marL="0" marR="0" indent="0" algn="l">
              <a:spcBef>
                <a:spcPts val="0"/>
              </a:spcBef>
              <a:spcAft>
                <a:spcPts val="0"/>
              </a:spcAft>
              <a:buClr>
                <a:srgbClr val="F4F4F4"/>
              </a:buClr>
              <a:buSzPts val="2100"/>
              <a:buFont typeface="Arial"/>
              <a:buNone/>
            </a:pPr>
            <a:r>
              <a:rPr sz="2100" b="0" i="0" u="none" cap="none">
                <a:solidFill>
                  <a:srgbClr val="F4F4F4"/>
                </a:solidFill>
                <a:latin typeface="Arial"/>
                <a:ea typeface="Arial"/>
                <a:cs typeface="Arial"/>
              </a:rPr>
              <a:t>4. Presenter revises speaking notes before the next round.</a:t>
            </a:r>
          </a:p>
        </p:txBody>
      </p:sp>
    </p:spTree>
    <p:extLst>
      <p:ext uri="{BB962C8B-B14F-4D97-AF65-F5344CB8AC3E}">
        <p14:creationId xmlns:p14="http://schemas.microsoft.com/office/powerpoint/2010/main" val="860744576"/>
      </p:ext>
    </p:extLst>
  </p:cSld>
</p:sld>
</file>

<file path=ppt/slides/slide18.xml><?xml version="1.0" encoding="utf-8"?>
<p:sld xmlns:p="http://schemas.openxmlformats.org/presentationml/2006/main">
  <p:cSld>
    <p:bg>
      <p:bgPr>
        <a:solidFill xmlns:a="http://schemas.openxmlformats.org/drawingml/2006/main">
          <a:srgbClr val="0B0B0D"/>
        </a:solidFill>
      </p:bgPr>
    </p:bg>
    <p:spTree>
      <p:nvGrpSpPr>
        <p:cNvPr id="1" name=""/>
        <p:cNvGrpSpPr/>
        <p:nvPr/>
      </p:nvGrpSpPr>
      <p:grpSpPr>
        <a:xfrm xmlns:a="http://schemas.openxmlformats.org/drawingml/2006/main"/>
      </p:grpSpPr>
      <p:sp>
        <p:nvSpPr>
          <p:cNvPr id="411" name="Google Shape;411;p20">
            <a:extLst xmlns:a="http://schemas.openxmlformats.org/drawingml/2006/main">
              <a:ext uri="{FF2B5EF4-FFF2-40B4-BE49-F238E27FC236}">
                <a16:creationId xmlns:a16="http://schemas.microsoft.com/office/drawing/2014/main" id="{F81E9582-97C5-4480-AE12-53D36B028C1C}"/>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D"/>
          </a:solidFill>
          <a:ln xmlns:a="http://schemas.openxmlformats.org/drawingml/2006/main" w="12700" cmpd="sng">
            <a:solidFill>
              <a:srgbClr val="0B0B0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12" name="Google Shape;412;p20">
            <a:extLst xmlns:a="http://schemas.openxmlformats.org/drawingml/2006/main">
              <a:ext uri="{FF2B5EF4-FFF2-40B4-BE49-F238E27FC236}">
                <a16:creationId xmlns:a16="http://schemas.microsoft.com/office/drawing/2014/main" id="{F4B343C7-A096-42D5-AA27-CAFFBF4DE99A}"/>
              </a:ext>
            </a:extLst>
          </p:cNvPr>
          <p:cNvSpPr>
            <a:spLocks xmlns:a="http://schemas.openxmlformats.org/drawingml/2006/main" noGrp="1"/>
          </p:cNvSpPr>
          <p:nvPr/>
        </p:nvSpPr>
        <p:spPr>
          <a:xfrm xmlns:a="http://schemas.openxmlformats.org/drawingml/2006/main">
            <a:off x="0" y="109728"/>
            <a:ext cx="12191695" cy="64008"/>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13" name="Google Shape;413;p20">
            <a:extLst xmlns:a="http://schemas.openxmlformats.org/drawingml/2006/main">
              <a:ext uri="{FF2B5EF4-FFF2-40B4-BE49-F238E27FC236}">
                <a16:creationId xmlns:a16="http://schemas.microsoft.com/office/drawing/2014/main" id="{28CC35D3-1955-4F98-A118-3A28A3249F55}"/>
              </a:ext>
            </a:extLst>
          </p:cNvPr>
          <p:cNvSpPr>
            <a:spLocks xmlns:a="http://schemas.openxmlformats.org/drawingml/2006/main" noGrp="1"/>
          </p:cNvSpPr>
          <p:nvPr/>
        </p:nvSpPr>
        <p:spPr>
          <a:xfrm xmlns:a="http://schemas.openxmlformats.org/drawingml/2006/main">
            <a:off x="0" y="6675120"/>
            <a:ext cx="12191695" cy="64008"/>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14" name="Google Shape;414;p20">
            <a:extLst xmlns:a="http://schemas.openxmlformats.org/drawingml/2006/main">
              <a:ext uri="{FF2B5EF4-FFF2-40B4-BE49-F238E27FC236}">
                <a16:creationId xmlns:a16="http://schemas.microsoft.com/office/drawing/2014/main" id="{89419AAD-B234-40F7-93E7-AB793F4D9189}"/>
              </a:ext>
            </a:extLst>
          </p:cNvPr>
          <p:cNvSpPr>
            <a:spLocks xmlns:a="http://schemas.openxmlformats.org/drawingml/2006/main" noGrp="1"/>
          </p:cNvSpPr>
          <p:nvPr/>
        </p:nvSpPr>
        <p:spPr>
          <a:xfrm xmlns:a="http://schemas.openxmlformats.org/drawingml/2006/main">
            <a:off x="384048" y="6364224"/>
            <a:ext cx="29260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A8A8A8"/>
              </a:buClr>
              <a:buSzPts val="950"/>
              <a:buFont typeface="Arial"/>
              <a:buNone/>
            </a:pPr>
            <a:r>
              <a:rPr sz="950" b="1" i="0" u="none" cap="none">
                <a:solidFill>
                  <a:srgbClr val="A8A8A8"/>
                </a:solidFill>
                <a:latin typeface="Arial"/>
                <a:ea typeface="Arial"/>
                <a:cs typeface="Arial"/>
              </a:rPr>
              <a:t>ORAL PRESENTATION</a:t>
            </a:r>
          </a:p>
        </p:txBody>
      </p:sp>
      <p:sp>
        <p:nvSpPr>
          <p:cNvPr id="415" name="Google Shape;415;p20">
            <a:extLst xmlns:a="http://schemas.openxmlformats.org/drawingml/2006/main">
              <a:ext uri="{FF2B5EF4-FFF2-40B4-BE49-F238E27FC236}">
                <a16:creationId xmlns:a16="http://schemas.microsoft.com/office/drawing/2014/main" id="{BF9DA8D1-4DC9-4142-9D56-975EE8C1D22A}"/>
              </a:ext>
            </a:extLst>
          </p:cNvPr>
          <p:cNvSpPr>
            <a:spLocks xmlns:a="http://schemas.openxmlformats.org/drawingml/2006/main" noGrp="1"/>
          </p:cNvSpPr>
          <p:nvPr/>
        </p:nvSpPr>
        <p:spPr>
          <a:xfrm xmlns:a="http://schemas.openxmlformats.org/drawingml/2006/main">
            <a:off x="10405872" y="6364224"/>
            <a:ext cx="1325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A8A8A8"/>
              </a:buClr>
              <a:buSzPts val="950"/>
              <a:buFont typeface="Arial"/>
              <a:buNone/>
            </a:pPr>
            <a:r>
              <a:rPr sz="950" b="1" i="0" u="none" cap="none">
                <a:solidFill>
                  <a:srgbClr val="A8A8A8"/>
                </a:solidFill>
                <a:latin typeface="Arial"/>
                <a:ea typeface="Arial"/>
                <a:cs typeface="Arial"/>
              </a:rPr>
              <a:t>DECK 17</a:t>
            </a:r>
          </a:p>
        </p:txBody>
      </p:sp>
      <p:sp>
        <p:nvSpPr>
          <p:cNvPr id="416" name="Google Shape;416;p20">
            <a:extLst xmlns:a="http://schemas.openxmlformats.org/drawingml/2006/main">
              <a:ext uri="{FF2B5EF4-FFF2-40B4-BE49-F238E27FC236}">
                <a16:creationId xmlns:a16="http://schemas.microsoft.com/office/drawing/2014/main" id="{6B2E95D8-18E2-48FE-953E-9D24EB406CE9}"/>
              </a:ext>
            </a:extLst>
          </p:cNvPr>
          <p:cNvSpPr>
            <a:spLocks xmlns:a="http://schemas.openxmlformats.org/drawingml/2006/main" noGrp="1"/>
          </p:cNvSpPr>
          <p:nvPr/>
        </p:nvSpPr>
        <p:spPr>
          <a:xfrm xmlns:a="http://schemas.openxmlformats.org/drawingml/2006/main">
            <a:off x="502920" y="502920"/>
            <a:ext cx="110642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4F4F4"/>
              </a:buClr>
              <a:buSzPts val="3000"/>
              <a:buFont typeface="Play"/>
              <a:buNone/>
            </a:pPr>
            <a:r>
              <a:rPr sz="3000" b="1" i="0" u="none" cap="none">
                <a:solidFill>
                  <a:srgbClr val="F4F4F4"/>
                </a:solidFill>
                <a:latin typeface="Play"/>
                <a:ea typeface="Play"/>
                <a:cs typeface="Play"/>
              </a:rPr>
              <a:t>Exit Ticket: Ready to Practice Again</a:t>
            </a:r>
          </a:p>
        </p:txBody>
      </p:sp>
      <p:sp>
        <p:nvSpPr>
          <p:cNvPr id="417" name="Google Shape;417;p20">
            <a:extLst xmlns:a="http://schemas.openxmlformats.org/drawingml/2006/main">
              <a:ext uri="{FF2B5EF4-FFF2-40B4-BE49-F238E27FC236}">
                <a16:creationId xmlns:a16="http://schemas.microsoft.com/office/drawing/2014/main" id="{D1D80844-3475-4278-9D54-477302EA756E}"/>
              </a:ext>
            </a:extLst>
          </p:cNvPr>
          <p:cNvSpPr>
            <a:spLocks xmlns:a="http://schemas.openxmlformats.org/drawingml/2006/main" noGrp="1"/>
          </p:cNvSpPr>
          <p:nvPr/>
        </p:nvSpPr>
        <p:spPr>
          <a:xfrm xmlns:a="http://schemas.openxmlformats.org/drawingml/2006/main">
            <a:off x="502920" y="1143000"/>
            <a:ext cx="914400" cy="54864"/>
          </a:xfrm>
          <a:prstGeom xmlns:a="http://schemas.openxmlformats.org/drawingml/2006/main" prst="rect">
            <a:avLst/>
          </a:prstGeom>
          <a:solidFill xmlns:a="http://schemas.openxmlformats.org/drawingml/2006/main">
            <a:srgbClr val="E3342F"/>
          </a:solidFill>
          <a:ln xmlns:a="http://schemas.openxmlformats.org/drawingml/2006/main" w="12700" cmpd="sng">
            <a:solidFill>
              <a:srgbClr val="E3342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18" name="Google Shape;418;p20">
            <a:extLst xmlns:a="http://schemas.openxmlformats.org/drawingml/2006/main">
              <a:ext uri="{FF2B5EF4-FFF2-40B4-BE49-F238E27FC236}">
                <a16:creationId xmlns:a16="http://schemas.microsoft.com/office/drawing/2014/main" id="{0F747ED1-67B3-4AA8-99FB-06483B9ABD16}"/>
              </a:ext>
            </a:extLst>
          </p:cNvPr>
          <p:cNvSpPr>
            <a:spLocks xmlns:a="http://schemas.openxmlformats.org/drawingml/2006/main" noGrp="1"/>
          </p:cNvSpPr>
          <p:nvPr/>
        </p:nvSpPr>
        <p:spPr>
          <a:xfrm xmlns:a="http://schemas.openxmlformats.org/drawingml/2006/main">
            <a:off x="1600200" y="1024128"/>
            <a:ext cx="987552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A8A8A8"/>
              </a:buClr>
              <a:buSzPts val="1300"/>
              <a:buFont typeface="Arial"/>
              <a:buNone/>
            </a:pPr>
            <a:r>
              <a:rPr sz="1300" b="0" i="0" u="none" cap="none">
                <a:solidFill>
                  <a:srgbClr val="A8A8A8"/>
                </a:solidFill>
                <a:latin typeface="Arial"/>
                <a:ea typeface="Arial"/>
                <a:cs typeface="Arial"/>
              </a:rPr>
              <a:t>Students leave with a concrete speaking goal.</a:t>
            </a:r>
          </a:p>
        </p:txBody>
      </p:sp>
      <p:sp>
        <p:nvSpPr>
          <p:cNvPr id="419" name="Google Shape;419;p20">
            <a:extLst xmlns:a="http://schemas.openxmlformats.org/drawingml/2006/main">
              <a:ext uri="{FF2B5EF4-FFF2-40B4-BE49-F238E27FC236}">
                <a16:creationId xmlns:a16="http://schemas.microsoft.com/office/drawing/2014/main" id="{E43B7244-9400-4E20-AD9A-B2DA537A649A}"/>
              </a:ext>
            </a:extLst>
          </p:cNvPr>
          <p:cNvSpPr>
            <a:spLocks xmlns:a="http://schemas.openxmlformats.org/drawingml/2006/main" noGrp="1"/>
          </p:cNvSpPr>
          <p:nvPr/>
        </p:nvSpPr>
        <p:spPr>
          <a:xfrm xmlns:a="http://schemas.openxmlformats.org/drawingml/2006/main">
            <a:off x="822960" y="1600200"/>
            <a:ext cx="100584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500" tIns="500" rIns="500" bIns="500" anchor="t">
            <a:noAutofit/>
          </a:bodyPr>
          <a:lstStyle xmlns:a="http://schemas.openxmlformats.org/drawingml/2006/main"/>
          <a:p xmlns:a="http://schemas.openxmlformats.org/drawingml/2006/main">
            <a:pPr marL="0" marR="0" indent="0" algn="l">
              <a:spcBef>
                <a:spcPts val="0"/>
              </a:spcBef>
              <a:spcAft>
                <a:spcPts val="0"/>
              </a:spcAft>
              <a:buClr>
                <a:srgbClr val="A8A8A8"/>
              </a:buClr>
              <a:buSzPts val="2000"/>
              <a:buFont typeface="Arial"/>
              <a:buNone/>
            </a:pPr>
            <a:r>
              <a:rPr sz="2000" b="1" i="0" u="none" cap="none">
                <a:solidFill>
                  <a:srgbClr val="A8A8A8"/>
                </a:solidFill>
                <a:latin typeface="Arial"/>
                <a:ea typeface="Arial"/>
                <a:cs typeface="Arial"/>
              </a:rPr>
              <a:t>Before leaving, answer:</a:t>
            </a:r>
          </a:p>
        </p:txBody>
      </p:sp>
      <p:sp>
        <p:nvSpPr>
          <p:cNvPr id="420" name="Google Shape;420;p20">
            <a:extLst xmlns:a="http://schemas.openxmlformats.org/drawingml/2006/main">
              <a:ext uri="{FF2B5EF4-FFF2-40B4-BE49-F238E27FC236}">
                <a16:creationId xmlns:a16="http://schemas.microsoft.com/office/drawing/2014/main" id="{0C7AE72C-FB65-467D-B721-A4E19FB31AF3}"/>
              </a:ext>
            </a:extLst>
          </p:cNvPr>
          <p:cNvSpPr>
            <a:spLocks xmlns:a="http://schemas.openxmlformats.org/drawingml/2006/main" noGrp="1"/>
          </p:cNvSpPr>
          <p:nvPr/>
        </p:nvSpPr>
        <p:spPr>
          <a:xfrm xmlns:a="http://schemas.openxmlformats.org/drawingml/2006/main">
            <a:off x="914400" y="2148840"/>
            <a:ext cx="10241280" cy="1874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500" tIns="500" rIns="500" bIns="500" anchor="t">
            <a:noAutofit/>
          </a:bodyPr>
          <a:lstStyle xmlns:a="http://schemas.openxmlformats.org/drawingml/2006/main"/>
          <a:p xmlns:a="http://schemas.openxmlformats.org/drawingml/2006/main">
            <a:pPr marL="0" marR="0" indent="0" algn="l">
              <a:spcBef>
                <a:spcPts val="0"/>
              </a:spcBef>
              <a:spcAft>
                <a:spcPts val="0"/>
              </a:spcAft>
              <a:buClr>
                <a:srgbClr val="F4F4F4"/>
              </a:buClr>
              <a:buSzPts val="2400"/>
              <a:buFont typeface="Arial"/>
              <a:buNone/>
            </a:pPr>
            <a:r>
              <a:rPr sz="2400" b="0" i="0" u="none" cap="none">
                <a:solidFill>
                  <a:srgbClr val="F4F4F4"/>
                </a:solidFill>
                <a:latin typeface="Arial"/>
                <a:ea typeface="Arial"/>
                <a:cs typeface="Arial"/>
              </a:rPr>
              <a:t>1. What is the clearest sentence in your presentation right now?</a:t>
            </a:r>
          </a:p>
          <a:p xmlns:a="http://schemas.openxmlformats.org/drawingml/2006/main">
            <a:pPr marL="0" marR="0" indent="0" algn="l">
              <a:spcBef>
                <a:spcPts val="0"/>
              </a:spcBef>
              <a:spcAft>
                <a:spcPts val="0"/>
              </a:spcAft>
              <a:buClr>
                <a:srgbClr val="F4F4F4"/>
              </a:buClr>
              <a:buSzPts val="2400"/>
              <a:buFont typeface="Arial"/>
              <a:buNone/>
            </a:pPr>
            <a:r>
              <a:rPr sz="2400" b="0" i="0" u="none" cap="none">
                <a:solidFill>
                  <a:srgbClr val="F4F4F4"/>
                </a:solidFill>
                <a:latin typeface="Arial"/>
                <a:ea typeface="Arial"/>
                <a:cs typeface="Arial"/>
              </a:rPr>
              <a:t>2. What part of your explanation still feels confusing?</a:t>
            </a:r>
          </a:p>
          <a:p xmlns:a="http://schemas.openxmlformats.org/drawingml/2006/main">
            <a:pPr marL="0" marR="0" indent="0" algn="l">
              <a:spcBef>
                <a:spcPts val="0"/>
              </a:spcBef>
              <a:spcAft>
                <a:spcPts val="0"/>
              </a:spcAft>
              <a:buClr>
                <a:srgbClr val="F4F4F4"/>
              </a:buClr>
              <a:buSzPts val="2400"/>
              <a:buFont typeface="Arial"/>
              <a:buNone/>
            </a:pPr>
            <a:r>
              <a:rPr sz="2400" b="0" i="0" u="none" cap="none">
                <a:solidFill>
                  <a:srgbClr val="F4F4F4"/>
                </a:solidFill>
                <a:latin typeface="Arial"/>
                <a:ea typeface="Arial"/>
                <a:cs typeface="Arial"/>
              </a:rPr>
              <a:t>3. What visual needs the most attention?</a:t>
            </a:r>
          </a:p>
          <a:p xmlns:a="http://schemas.openxmlformats.org/drawingml/2006/main">
            <a:pPr marL="0" marR="0" indent="0" algn="l">
              <a:spcBef>
                <a:spcPts val="0"/>
              </a:spcBef>
              <a:spcAft>
                <a:spcPts val="0"/>
              </a:spcAft>
              <a:buClr>
                <a:srgbClr val="F4F4F4"/>
              </a:buClr>
              <a:buSzPts val="2400"/>
              <a:buFont typeface="Arial"/>
              <a:buNone/>
            </a:pPr>
            <a:r>
              <a:rPr sz="2400" b="0" i="0" u="none" cap="none">
                <a:solidFill>
                  <a:srgbClr val="F4F4F4"/>
                </a:solidFill>
                <a:latin typeface="Arial"/>
                <a:ea typeface="Arial"/>
                <a:cs typeface="Arial"/>
              </a:rPr>
              <a:t>4. What is one delivery habit you will practice next time?</a:t>
            </a:r>
          </a:p>
        </p:txBody>
      </p:sp>
      <p:sp>
        <p:nvSpPr>
          <p:cNvPr id="421" name="Google Shape;421;p20">
            <a:extLst xmlns:a="http://schemas.openxmlformats.org/drawingml/2006/main">
              <a:ext uri="{FF2B5EF4-FFF2-40B4-BE49-F238E27FC236}">
                <a16:creationId xmlns:a16="http://schemas.microsoft.com/office/drawing/2014/main" id="{D22C9036-08B7-4CD8-A74B-713446A0AF05}"/>
              </a:ext>
            </a:extLst>
          </p:cNvPr>
          <p:cNvSpPr>
            <a:spLocks xmlns:a="http://schemas.openxmlformats.org/drawingml/2006/main" noGrp="1"/>
          </p:cNvSpPr>
          <p:nvPr/>
        </p:nvSpPr>
        <p:spPr>
          <a:xfrm xmlns:a="http://schemas.openxmlformats.org/drawingml/2006/main">
            <a:off x="914400" y="4892040"/>
            <a:ext cx="1024128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500" tIns="500" rIns="500" bIns="500" anchor="t">
            <a:noAutofit/>
          </a:bodyPr>
          <a:lstStyle xmlns:a="http://schemas.openxmlformats.org/drawingml/2006/main"/>
          <a:p xmlns:a="http://schemas.openxmlformats.org/drawingml/2006/main">
            <a:pPr marL="0" marR="0" indent="0" algn="l">
              <a:spcBef>
                <a:spcPts val="0"/>
              </a:spcBef>
              <a:spcAft>
                <a:spcPts val="0"/>
              </a:spcAft>
              <a:buClr>
                <a:srgbClr val="E3342F"/>
              </a:buClr>
              <a:buSzPts val="2600"/>
              <a:buFont typeface="Arial"/>
              <a:buNone/>
            </a:pPr>
            <a:r>
              <a:rPr sz="2600" b="1" i="0" u="none" cap="none">
                <a:solidFill>
                  <a:srgbClr val="E3342F"/>
                </a:solidFill>
                <a:latin typeface="Arial"/>
                <a:ea typeface="Arial"/>
                <a:cs typeface="Arial"/>
              </a:rPr>
              <a:t>Next Deck: Answering Questions Like a Scientist</a:t>
            </a:r>
          </a:p>
        </p:txBody>
      </p:sp>
      <p:sp>
        <p:nvSpPr>
          <p:cNvPr id="422" name="Google Shape;422;p20">
            <a:extLst xmlns:a="http://schemas.openxmlformats.org/drawingml/2006/main">
              <a:ext uri="{FF2B5EF4-FFF2-40B4-BE49-F238E27FC236}">
                <a16:creationId xmlns:a16="http://schemas.microsoft.com/office/drawing/2014/main" id="{E02826B1-65C8-4777-BCF4-AAB2CC87F273}"/>
              </a:ext>
            </a:extLst>
          </p:cNvPr>
          <p:cNvSpPr>
            <a:spLocks xmlns:a="http://schemas.openxmlformats.org/drawingml/2006/main" noGrp="1"/>
          </p:cNvSpPr>
          <p:nvPr/>
        </p:nvSpPr>
        <p:spPr>
          <a:xfrm xmlns:a="http://schemas.openxmlformats.org/drawingml/2006/main">
            <a:off x="914400" y="5504688"/>
            <a:ext cx="100584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500" tIns="500" rIns="500" bIns="500" anchor="t">
            <a:noAutofit/>
          </a:bodyPr>
          <a:lstStyle xmlns:a="http://schemas.openxmlformats.org/drawingml/2006/main"/>
          <a:p xmlns:a="http://schemas.openxmlformats.org/drawingml/2006/main">
            <a:pPr marL="0" marR="0" indent="0" algn="l">
              <a:spcBef>
                <a:spcPts val="0"/>
              </a:spcBef>
              <a:spcAft>
                <a:spcPts val="0"/>
              </a:spcAft>
              <a:buClr>
                <a:srgbClr val="A8A8A8"/>
              </a:buClr>
              <a:buSzPts val="1500"/>
              <a:buFont typeface="Arial"/>
              <a:buNone/>
            </a:pPr>
            <a:r>
              <a:rPr sz="1500" b="0" i="0" u="none" cap="none">
                <a:solidFill>
                  <a:srgbClr val="A8A8A8"/>
                </a:solidFill>
                <a:latin typeface="Arial"/>
                <a:ea typeface="Arial"/>
                <a:cs typeface="Arial"/>
              </a:rPr>
              <a:t>Students will practice Q&amp;A, defending evidence, acknowledging limitations, and responding with scientific humility.</a:t>
            </a:r>
          </a:p>
        </p:txBody>
      </p:sp>
    </p:spTree>
    <p:extLst>
      <p:ext uri="{BB962C8B-B14F-4D97-AF65-F5344CB8AC3E}">
        <p14:creationId xmlns:p14="http://schemas.microsoft.com/office/powerpoint/2010/main" val="1291847506"/>
      </p:ext>
    </p:extLst>
  </p:cSld>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2026-07-16T16:38:46.1370000Z</dcterms:created>
  <dcterms:modified xsi:type="dcterms:W3CDTF">2026-07-16T16:38:46.1370000Z</dcterms:modified>
</coreProperties>
</file>