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Lst>
  <p:sldSz cy="6858000" cx="12192000"/>
  <p:notesSz cx="6858000" cy="12192000"/>
  <p:embeddedFontLst>
    <p:embeddedFont>
      <p:font typeface="Play"/>
      <p:regular r:id="rId25"/>
      <p:bold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font" Target="fonts/Play-bold.fntdata"/><Relationship Id="rId25" Type="http://schemas.openxmlformats.org/officeDocument/2006/relationships/font" Target="fonts/Play-regular.fnt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title slide as students enter. Frame the lesson as a transition from doing research to communicating research. The central message is that a scientific report is not a diary of everything that happened; it is a structured explanation of the question, method, evidence, interpretation, and significance.</a:t>
            </a:r>
            <a:br>
              <a:rPr lang="en-US"/>
            </a:br>
            <a:br>
              <a:rPr lang="en-US"/>
            </a:br>
            <a:r>
              <a:rPr lang="en-US"/>
              <a:t>Required print materials for Deck 13:</a:t>
            </a:r>
            <a:br>
              <a:rPr lang="en-US"/>
            </a:br>
            <a:r>
              <a:rPr lang="en-US"/>
              <a:t>• Unit 5 Student Handout 1: Scientific Report Dissection</a:t>
            </a:r>
            <a:br>
              <a:rPr lang="en-US"/>
            </a:br>
            <a:r>
              <a:rPr lang="en-US"/>
              <a:t>• Unit 5 Student Handout 2: My Research Report Planning Map</a:t>
            </a:r>
            <a:br>
              <a:rPr lang="en-US"/>
            </a:br>
            <a:r>
              <a:rPr lang="en-US"/>
              <a:t>• Unit 5 Appendix A: Scientific Report Section Guide</a:t>
            </a:r>
            <a:br>
              <a:rPr lang="en-US"/>
            </a:br>
            <a:r>
              <a:rPr lang="en-US"/>
              <a:t>• Unit 5 Appendix L: Scientific Report Template</a:t>
            </a:r>
            <a:br>
              <a:rPr lang="en-US"/>
            </a:br>
            <a:br>
              <a:rPr lang="en-US"/>
            </a:br>
            <a:r>
              <a:rPr lang="en-US"/>
              <a:t>Optional but useful:</a:t>
            </a:r>
            <a:br>
              <a:rPr lang="en-US"/>
            </a:br>
            <a:r>
              <a:rPr lang="en-US"/>
              <a:t>• Model scientific report or simplified published paper</a:t>
            </a:r>
            <a:br>
              <a:rPr lang="en-US"/>
            </a:br>
            <a:r>
              <a:rPr lang="en-US"/>
              <a:t>• Weak sample report or intentionally flawed excerpt</a:t>
            </a:r>
            <a:br>
              <a:rPr lang="en-US"/>
            </a:br>
            <a:br>
              <a:rPr lang="en-US"/>
            </a:br>
            <a:r>
              <a:rPr lang="en-US"/>
              <a:t>Resource alignment:</a:t>
            </a:r>
            <a:br>
              <a:rPr lang="en-US"/>
            </a:br>
            <a:r>
              <a:rPr lang="en-US"/>
              <a:t>Unit 5, Week 21: Understanding Scientific Reports. Next deck connection: Deck 14: Writing the Discussion — Claim, Evidence, Reasoning.</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Preview the lesson and make the deliverable clear: students are not drafting the full report today. They are learning the structure and beginning the planning map. Remind students that the report will eventually use materials they have already created: research question, method, data, figures, limitations, and interpretation.</a:t>
            </a:r>
            <a:br>
              <a:rPr lang="en-US"/>
            </a:br>
            <a:br>
              <a:rPr lang="en-US"/>
            </a:br>
            <a:r>
              <a:rPr lang="en-US"/>
              <a:t>Resource alignment:</a:t>
            </a:r>
            <a:br>
              <a:rPr lang="en-US"/>
            </a:br>
            <a:r>
              <a:rPr lang="en-US"/>
              <a:t>Use with Unit 5 Student Handout 1: Scientific Report Dissection and Unit 5 Student Handout 2: My Research Report Planning Map. Reference Unit 5 Appendix A: Scientific Report Section Guide.</a:t>
            </a:r>
            <a:endParaRPr/>
          </a:p>
        </p:txBody>
      </p:sp>
      <p:sp>
        <p:nvSpPr>
          <p:cNvPr id="26" name="Google Shape;26;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 name="Google Shape;49;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slide to establish that scientific communication is part of research, not an add-on after the “real work.” Ask students: If someone only saw your data file, what would they not understand yet?</a:t>
            </a:r>
            <a:br>
              <a:rPr lang="en-US"/>
            </a:br>
            <a:br>
              <a:rPr lang="en-US"/>
            </a:br>
            <a:r>
              <a:rPr lang="en-US"/>
              <a:t>Resource alignment:</a:t>
            </a:r>
            <a:br>
              <a:rPr lang="en-US"/>
            </a:br>
            <a:r>
              <a:rPr lang="en-US"/>
              <a:t>Use as a conceptual setup for Unit 5 Student Handout 2: My Research Report Planning Map. Connects to Unit 5 Appendix A: Scientific Report Section Guide.</a:t>
            </a:r>
            <a:endParaRPr/>
          </a:p>
        </p:txBody>
      </p:sp>
      <p:sp>
        <p:nvSpPr>
          <p:cNvPr id="50" name="Google Shape;50;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 name="Google Shape;73;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Walk through the report as a set of reader questions. This helps students understand purpose instead of treating section headings as arbitrary formatting requirements.</a:t>
            </a:r>
            <a:br>
              <a:rPr lang="en-US"/>
            </a:br>
            <a:br>
              <a:rPr lang="en-US"/>
            </a:br>
            <a:r>
              <a:rPr lang="en-US"/>
              <a:t>Resource alignment:</a:t>
            </a:r>
            <a:br>
              <a:rPr lang="en-US"/>
            </a:br>
            <a:r>
              <a:rPr lang="en-US"/>
              <a:t>Use with Unit 5 Appendix A: Scientific Report Section Guide and Unit 5 Appendix L: Scientific Report Template.</a:t>
            </a:r>
            <a:endParaRPr/>
          </a:p>
        </p:txBody>
      </p:sp>
      <p:sp>
        <p:nvSpPr>
          <p:cNvPr id="74" name="Google Shape;74;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 name="Google Shape;10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Students often write reports as chronological narratives. Use this slide to redirect them toward scientific structure. The report may include some sequence, especially in methods, but the whole report should be organized around purpose, evidence, and interpretation.</a:t>
            </a:r>
            <a:br>
              <a:rPr lang="en-US"/>
            </a:br>
            <a:br>
              <a:rPr lang="en-US"/>
            </a:br>
            <a:r>
              <a:rPr lang="en-US"/>
              <a:t>Resource alignment:</a:t>
            </a:r>
            <a:br>
              <a:rPr lang="en-US"/>
            </a:br>
            <a:r>
              <a:rPr lang="en-US"/>
              <a:t>Use with Unit 5 Student Handout 2: My Research Report Planning Map. Reference Unit 5 Appendix A: Scientific Report Section Guide.</a:t>
            </a:r>
            <a:endParaRPr/>
          </a:p>
        </p:txBody>
      </p:sp>
      <p:sp>
        <p:nvSpPr>
          <p:cNvPr id="103" name="Google Shape;10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 name="Google Shape;12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Explain that some teachers may require an abstract and some may use a short summary instead. Students should not start by writing the abstract; they will be better prepared after the full report sections are drafted.</a:t>
            </a:r>
            <a:br>
              <a:rPr lang="en-US"/>
            </a:br>
            <a:br>
              <a:rPr lang="en-US"/>
            </a:br>
            <a:r>
              <a:rPr lang="en-US"/>
              <a:t>Resource alignment:</a:t>
            </a:r>
            <a:br>
              <a:rPr lang="en-US"/>
            </a:br>
            <a:r>
              <a:rPr lang="en-US"/>
              <a:t>Reference Unit 5 Appendix A: Scientific Report Section Guide and Unit 5 Appendix L: Scientific Report Template.</a:t>
            </a:r>
            <a:endParaRPr/>
          </a:p>
        </p:txBody>
      </p:sp>
      <p:sp>
        <p:nvSpPr>
          <p:cNvPr id="123" name="Google Shape;12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is not the full introduction-writing lesson, but students need to understand the purpose of the section. Emphasize broad-to-narrow structure and connection to the research question.</a:t>
            </a:r>
            <a:br>
              <a:rPr lang="en-US"/>
            </a:br>
            <a:br>
              <a:rPr lang="en-US"/>
            </a:br>
            <a:r>
              <a:rPr lang="en-US"/>
              <a:t>Resource alignment:</a:t>
            </a:r>
            <a:br>
              <a:rPr lang="en-US"/>
            </a:br>
            <a:r>
              <a:rPr lang="en-US"/>
              <a:t>Preview Unit 5 Student Handout 3: Introduction Builder, Unit 5 Appendix B: Introduction Sentence Frames, and Unit 5 Appendix C: Research Question and Hypothesis Guide. For this deck, students record needed introduction content in Unit 5 Student Handout 2: My Research Report Planning Map.</a:t>
            </a:r>
            <a:endParaRPr/>
          </a:p>
        </p:txBody>
      </p:sp>
      <p:sp>
        <p:nvSpPr>
          <p:cNvPr id="143" name="Google Shape;143;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 name="Google Shape;16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Stress reproducibility and evaluability. A methods section does not need to become a personal story, but it must include enough detail to show how evidence was produced.</a:t>
            </a:r>
            <a:br>
              <a:rPr lang="en-US"/>
            </a:br>
            <a:br>
              <a:rPr lang="en-US"/>
            </a:br>
            <a:r>
              <a:rPr lang="en-US"/>
              <a:t>Resource alignment:</a:t>
            </a:r>
            <a:br>
              <a:rPr lang="en-US"/>
            </a:br>
            <a:r>
              <a:rPr lang="en-US"/>
              <a:t>Preview Unit 5 Student Handout 4: Methods Section Builder, Unit 5 Appendix D: Methods Checklist, and Unit 5 Appendix E: Variables and Controls Guide. For today, students map methods details in Unit 5 Student Handout 2.</a:t>
            </a:r>
            <a:endParaRPr/>
          </a:p>
        </p:txBody>
      </p:sp>
      <p:sp>
        <p:nvSpPr>
          <p:cNvPr id="167" name="Google Shape;167;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 name="Google Shape;182;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slide sets up the distinction between results and discussion. Students should learn that results are not just graphs; results also include concise descriptions of patterns and values.</a:t>
            </a:r>
            <a:br>
              <a:rPr lang="en-US"/>
            </a:br>
            <a:br>
              <a:rPr lang="en-US"/>
            </a:br>
            <a:r>
              <a:rPr lang="en-US"/>
              <a:t>Resource alignment:</a:t>
            </a:r>
            <a:br>
              <a:rPr lang="en-US"/>
            </a:br>
            <a:r>
              <a:rPr lang="en-US"/>
              <a:t>Preview Unit 5 Student Handout 5: Results and Visuals Builder, Unit 5 Appendix F: Graphing Standards, and Unit 5 Appendix G: Figure and Table Caption Guide. Connects back to Deck 11: Graphing and Visual Ethics.</a:t>
            </a:r>
            <a:endParaRPr/>
          </a:p>
        </p:txBody>
      </p:sp>
      <p:sp>
        <p:nvSpPr>
          <p:cNvPr id="183" name="Google Shape;183;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 name="Google Shape;205;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Do not teach the full discussion lesson here because Deck 14 will focus on it deeply. Use this as a preview: the discussion is where students connect evidence to meaning, limitations, and future work.</a:t>
            </a:r>
            <a:br>
              <a:rPr lang="en-US"/>
            </a:br>
            <a:br>
              <a:rPr lang="en-US"/>
            </a:br>
            <a:r>
              <a:rPr lang="en-US"/>
              <a:t>Resource alignment:</a:t>
            </a:r>
            <a:br>
              <a:rPr lang="en-US"/>
            </a:br>
            <a:r>
              <a:rPr lang="en-US"/>
              <a:t>Preview Unit 5 Student Handout 6: Discussion Builder, Unit 5 Appendix H: Claim-Evidence-Reasoning Guide, and Unit 5 Appendix I: Limitations and Error Analysis Guide. Next deck connection: Deck 14: Writing the Discussion — Claim, Evidence, Reasoning.</a:t>
            </a:r>
            <a:endParaRPr/>
          </a:p>
        </p:txBody>
      </p:sp>
      <p:sp>
        <p:nvSpPr>
          <p:cNvPr id="206" name="Google Shape;206;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Help students see that the conclusion is not a second discussion section. It should be concise. The best conclusions leave the reader with the central finding and why it matters without overclaiming.</a:t>
            </a:r>
            <a:br>
              <a:rPr lang="en-US"/>
            </a:br>
            <a:br>
              <a:rPr lang="en-US"/>
            </a:br>
            <a:r>
              <a:rPr lang="en-US"/>
              <a:t>Resource alignment:</a:t>
            </a:r>
            <a:br>
              <a:rPr lang="en-US"/>
            </a:br>
            <a:r>
              <a:rPr lang="en-US"/>
              <a:t>Preview Unit 5 Student Handout 7: Conclusion and Full Draft Assembly and Unit 5 Appendix L: Scientific Report Template.</a:t>
            </a:r>
            <a:endParaRPr/>
          </a:p>
        </p:txBody>
      </p:sp>
      <p:sp>
        <p:nvSpPr>
          <p:cNvPr id="232" name="Google Shape;23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 name="Google Shape;246;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Clarify local citation expectations if your school or department requires a specific format. Students should understand that references are not only for background facts; code, images, datasets, borrowed procedures, and mentor-provided resources may also need credit.</a:t>
            </a:r>
            <a:br>
              <a:rPr lang="en-US"/>
            </a:br>
            <a:br>
              <a:rPr lang="en-US"/>
            </a:br>
            <a:r>
              <a:rPr lang="en-US"/>
              <a:t>Resource alignment:</a:t>
            </a:r>
            <a:br>
              <a:rPr lang="en-US"/>
            </a:br>
            <a:r>
              <a:rPr lang="en-US"/>
              <a:t>Reference Unit 5 Appendix A: Scientific Report Section Guide and Unit 5 Appendix L: Scientific Report Template.</a:t>
            </a:r>
            <a:endParaRPr/>
          </a:p>
        </p:txBody>
      </p:sp>
      <p:sp>
        <p:nvSpPr>
          <p:cNvPr id="247" name="Google Shape;247;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 name="Google Shape;266;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Have students say which sentence is more cautious and which section it belongs in. This prepares students for Week 24 and Week 25.</a:t>
            </a:r>
            <a:br>
              <a:rPr lang="en-US"/>
            </a:br>
            <a:br>
              <a:rPr lang="en-US"/>
            </a:br>
            <a:r>
              <a:rPr lang="en-US"/>
              <a:t>Resource alignment:</a:t>
            </a:r>
            <a:br>
              <a:rPr lang="en-US"/>
            </a:br>
            <a:r>
              <a:rPr lang="en-US"/>
              <a:t>Use with Unit 5 Student Handout 2: My Research Report Planning Map. Preview Unit 5 Student Handout 5: Results and Visuals Builder and Student Handout 6: Discussion Builder.</a:t>
            </a:r>
            <a:endParaRPr/>
          </a:p>
        </p:txBody>
      </p:sp>
      <p:sp>
        <p:nvSpPr>
          <p:cNvPr id="267" name="Google Shape;267;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 name="Google Shape;287;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slide as a warning and a reassurance. Students can avoid many report problems by understanding each section’s purpose before drafting.</a:t>
            </a:r>
            <a:br>
              <a:rPr lang="en-US"/>
            </a:br>
            <a:br>
              <a:rPr lang="en-US"/>
            </a:br>
            <a:r>
              <a:rPr lang="en-US"/>
              <a:t>Resource alignment:</a:t>
            </a:r>
            <a:br>
              <a:rPr lang="en-US"/>
            </a:br>
            <a:r>
              <a:rPr lang="en-US"/>
              <a:t>Use with Unit 5 Student Handout 1: Scientific Report Dissection and Unit 5 Student Handout 2: My Research Report Planning Map.</a:t>
            </a:r>
            <a:endParaRPr/>
          </a:p>
        </p:txBody>
      </p:sp>
      <p:sp>
        <p:nvSpPr>
          <p:cNvPr id="288" name="Google Shape;288;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2" name="Google Shape;302;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Give students a model report or simplified published paper. If time is limited, use excerpts rather than a full paper. The goal is not to understand every scientific detail; it is to recognize structure and purpose.</a:t>
            </a:r>
            <a:br>
              <a:rPr lang="en-US"/>
            </a:br>
            <a:br>
              <a:rPr lang="en-US"/>
            </a:br>
            <a:r>
              <a:rPr lang="en-US"/>
              <a:t>Resource alignment:</a:t>
            </a:r>
            <a:br>
              <a:rPr lang="en-US"/>
            </a:br>
            <a:r>
              <a:rPr lang="en-US"/>
              <a:t>Use Unit 5 Student Handout 1: Scientific Report Dissection. Reference Unit 5 Appendix A: Scientific Report Section Guide.</a:t>
            </a:r>
            <a:endParaRPr/>
          </a:p>
        </p:txBody>
      </p:sp>
      <p:sp>
        <p:nvSpPr>
          <p:cNvPr id="303" name="Google Shape;303;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9" name="Google Shape;319;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activity can be completed with a teacher-created flawed example. Include common problems such as vague methods, unlabeled graphs, unsupported conclusions, casual language, and missing limitations.</a:t>
            </a:r>
            <a:br>
              <a:rPr lang="en-US"/>
            </a:br>
            <a:br>
              <a:rPr lang="en-US"/>
            </a:br>
            <a:r>
              <a:rPr lang="en-US"/>
              <a:t>Resource alignment:</a:t>
            </a:r>
            <a:br>
              <a:rPr lang="en-US"/>
            </a:br>
            <a:r>
              <a:rPr lang="en-US"/>
              <a:t>Use Unit 5 Student Handout 1: Scientific Report Dissection, Part D: Strong vs. Weak Comparison. Reference Unit 5 Appendix A: Scientific Report Section Guide.</a:t>
            </a:r>
            <a:endParaRPr/>
          </a:p>
        </p:txBody>
      </p:sp>
      <p:sp>
        <p:nvSpPr>
          <p:cNvPr id="320" name="Google Shape;320;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6" name="Google Shape;33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This is the main student work product for the deck. Circulate and help students identify missing evidence or unclear claims before they begin drafting.</a:t>
            </a:r>
            <a:br>
              <a:rPr lang="en-US"/>
            </a:br>
            <a:br>
              <a:rPr lang="en-US"/>
            </a:br>
            <a:r>
              <a:rPr lang="en-US"/>
              <a:t>Resource alignment:</a:t>
            </a:r>
            <a:br>
              <a:rPr lang="en-US"/>
            </a:br>
            <a:r>
              <a:rPr lang="en-US"/>
              <a:t>Use Unit 5 Student Handout 2: My Research Report Planning Map. Reference Unit 5 Appendix L: Scientific Report Template.</a:t>
            </a:r>
            <a:endParaRPr/>
          </a:p>
        </p:txBody>
      </p:sp>
      <p:sp>
        <p:nvSpPr>
          <p:cNvPr id="337" name="Google Shape;33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3" name="Google Shape;353;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Use this as a quick whole-class checkpoint before students submit the report planning map. If students cannot answer the results or discussion questions, they may need to revisit Unit 4 analysis before moving deeper into writing.</a:t>
            </a:r>
            <a:br>
              <a:rPr lang="en-US"/>
            </a:br>
            <a:br>
              <a:rPr lang="en-US"/>
            </a:br>
            <a:r>
              <a:rPr lang="en-US"/>
              <a:t>Resource alignment:</a:t>
            </a:r>
            <a:br>
              <a:rPr lang="en-US"/>
            </a:br>
            <a:r>
              <a:rPr lang="en-US"/>
              <a:t>Use with Unit 5 Student Handout 2: My Research Report Planning Map and Unit 5 Appendix A: Scientific Report Section Guide.</a:t>
            </a:r>
            <a:endParaRPr/>
          </a:p>
        </p:txBody>
      </p:sp>
      <p:sp>
        <p:nvSpPr>
          <p:cNvPr id="354" name="Google Shape;354;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Collect this to plan writing conferences. Sort students into groups based on their needs: introduction support, methods clarity, results/visuals, discussion/limitations, or missing analysis materials.</a:t>
            </a:r>
            <a:br>
              <a:rPr lang="en-US"/>
            </a:br>
            <a:br>
              <a:rPr lang="en-US"/>
            </a:br>
            <a:r>
              <a:rPr lang="en-US"/>
              <a:t>Resource alignment:</a:t>
            </a:r>
            <a:br>
              <a:rPr lang="en-US"/>
            </a:br>
            <a:r>
              <a:rPr lang="en-US"/>
              <a:t>Use after Unit 5 Student Handout 2: My Research Report Planning Map. This prepares students for Week 22: Writing the Introduction.</a:t>
            </a:r>
            <a:endParaRPr/>
          </a:p>
        </p:txBody>
      </p:sp>
      <p:sp>
        <p:nvSpPr>
          <p:cNvPr id="369" name="Google Shape;36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5" name="Google Shape;38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Teacher notes:</a:t>
            </a:r>
            <a:br>
              <a:rPr lang="en-US"/>
            </a:br>
            <a:r>
              <a:rPr lang="en-US"/>
              <a:t>Close by previewing the next instructional focus. Students now know the structure of a scientific report; the next deck will focus on the hardest section for most students: the discussion.</a:t>
            </a:r>
            <a:br>
              <a:rPr lang="en-US"/>
            </a:br>
            <a:br>
              <a:rPr lang="en-US"/>
            </a:br>
            <a:r>
              <a:rPr lang="en-US"/>
              <a:t>Resource alignment:</a:t>
            </a:r>
            <a:br>
              <a:rPr lang="en-US"/>
            </a:br>
            <a:r>
              <a:rPr lang="en-US"/>
              <a:t>Next deck connection: Deck 14: Writing the Discussion — Claim, Evidence, Reasoning. Continue Unit 5 Week 25 concepts while supporting the report drafting process.</a:t>
            </a:r>
            <a:endParaRPr/>
          </a:p>
        </p:txBody>
      </p:sp>
      <p:sp>
        <p:nvSpPr>
          <p:cNvPr id="386" name="Google Shape;38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15" name="Shape 15"/>
        <p:cNvGrpSpPr/>
        <p:nvPr/>
      </p:nvGrpSpPr>
      <p:grpSpPr>
        <a:xfrm>
          <a:off x="0" y="0"/>
          <a:ext cx="0" cy="0"/>
          <a:chOff x="0" y="0"/>
          <a:chExt cx="0" cy="0"/>
        </a:xfrm>
      </p:grpSpPr>
      <p:sp>
        <p:nvSpPr>
          <p:cNvPr id="16" name="Google Shape;16;p3"/>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3"/>
          <p:cNvSpPr/>
          <p:nvPr/>
        </p:nvSpPr>
        <p:spPr>
          <a:xfrm>
            <a:off x="0" y="219456"/>
            <a:ext cx="12191695" cy="82296"/>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3"/>
          <p:cNvSpPr/>
          <p:nvPr/>
        </p:nvSpPr>
        <p:spPr>
          <a:xfrm>
            <a:off x="0" y="6565392"/>
            <a:ext cx="12191695" cy="82296"/>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mnt/data/extract_deck12/ppt/media/image-1-1.png" id="19" name="Google Shape;19;p3"/>
          <p:cNvPicPr preferRelativeResize="0"/>
          <p:nvPr/>
        </p:nvPicPr>
        <p:blipFill rotWithShape="1">
          <a:blip r:embed="rId3">
            <a:alphaModFix/>
          </a:blip>
          <a:srcRect b="0" l="0" r="0" t="0"/>
          <a:stretch/>
        </p:blipFill>
        <p:spPr>
          <a:xfrm>
            <a:off x="1874520" y="530352"/>
            <a:ext cx="8321040" cy="4169664"/>
          </a:xfrm>
          <a:prstGeom prst="rect">
            <a:avLst/>
          </a:prstGeom>
          <a:noFill/>
          <a:ln>
            <a:noFill/>
          </a:ln>
        </p:spPr>
      </p:pic>
      <p:sp>
        <p:nvSpPr>
          <p:cNvPr id="20" name="Google Shape;20;p3"/>
          <p:cNvSpPr/>
          <p:nvPr/>
        </p:nvSpPr>
        <p:spPr>
          <a:xfrm>
            <a:off x="960120" y="5074920"/>
            <a:ext cx="10287000" cy="749808"/>
          </a:xfrm>
          <a:prstGeom prst="rect">
            <a:avLst/>
          </a:prstGeom>
          <a:solidFill>
            <a:srgbClr val="050505">
              <a:alpha val="0"/>
            </a:srgbClr>
          </a:solidFill>
          <a:ln cap="flat" cmpd="sng" w="15225">
            <a:solidFill>
              <a:srgbClr val="B8B8B8">
                <a:alpha val="80000"/>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1024128" y="5202936"/>
            <a:ext cx="101498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500"/>
              <a:buFont typeface="Play"/>
              <a:buNone/>
            </a:pPr>
            <a:r>
              <a:rPr b="1" i="0" lang="en-US" sz="2500" u="none" cap="none" strike="noStrike">
                <a:solidFill>
                  <a:srgbClr val="FFFFFF"/>
                </a:solidFill>
                <a:latin typeface="Play"/>
                <a:ea typeface="Play"/>
                <a:cs typeface="Play"/>
                <a:sym typeface="Play"/>
              </a:rPr>
              <a:t>SCIENTIFIC REPORT STRUCTURE</a:t>
            </a:r>
            <a:endParaRPr b="0" i="0" sz="2500" u="none" cap="none" strike="noStrike">
              <a:solidFill>
                <a:schemeClr val="dk1"/>
              </a:solidFill>
              <a:latin typeface="Arial"/>
              <a:ea typeface="Arial"/>
              <a:cs typeface="Arial"/>
              <a:sym typeface="Arial"/>
            </a:endParaRPr>
          </a:p>
        </p:txBody>
      </p:sp>
      <p:sp>
        <p:nvSpPr>
          <p:cNvPr id="22" name="Google Shape;22;p3"/>
          <p:cNvSpPr/>
          <p:nvPr/>
        </p:nvSpPr>
        <p:spPr>
          <a:xfrm>
            <a:off x="1024128" y="5916168"/>
            <a:ext cx="713232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b="0" i="0" lang="en-US" sz="1200" u="none" cap="none" strike="noStrike">
                <a:solidFill>
                  <a:srgbClr val="B8B8B8"/>
                </a:solidFill>
                <a:latin typeface="Arial"/>
                <a:ea typeface="Arial"/>
                <a:cs typeface="Arial"/>
                <a:sym typeface="Arial"/>
              </a:rPr>
              <a:t>STARLAB Deck 13  •  Unit 5 Core Instruction</a:t>
            </a:r>
            <a:endParaRPr b="0" i="0" sz="120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27" name="Shape 27"/>
        <p:cNvGrpSpPr/>
        <p:nvPr/>
      </p:nvGrpSpPr>
      <p:grpSpPr>
        <a:xfrm>
          <a:off x="0" y="0"/>
          <a:ext cx="0" cy="0"/>
          <a:chOff x="0" y="0"/>
          <a:chExt cx="0" cy="0"/>
        </a:xfrm>
      </p:grpSpPr>
      <p:sp>
        <p:nvSpPr>
          <p:cNvPr id="28" name="Google Shape;28;p4"/>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4"/>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4"/>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SCIENTIFIC REPORTING</a:t>
            </a:r>
            <a:endParaRPr b="0" i="0" sz="1000" u="none" cap="none" strike="noStrike">
              <a:solidFill>
                <a:schemeClr val="dk1"/>
              </a:solidFill>
              <a:latin typeface="Arial"/>
              <a:ea typeface="Arial"/>
              <a:cs typeface="Arial"/>
              <a:sym typeface="Arial"/>
            </a:endParaRPr>
          </a:p>
        </p:txBody>
      </p:sp>
      <p:sp>
        <p:nvSpPr>
          <p:cNvPr id="32" name="Google Shape;32;p4"/>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STARLAB</a:t>
            </a:r>
            <a:endParaRPr b="0" i="0" sz="1000" u="none" cap="none" strike="noStrike">
              <a:solidFill>
                <a:schemeClr val="dk1"/>
              </a:solidFill>
              <a:latin typeface="Arial"/>
              <a:ea typeface="Arial"/>
              <a:cs typeface="Arial"/>
              <a:sym typeface="Arial"/>
            </a:endParaRPr>
          </a:p>
        </p:txBody>
      </p:sp>
      <p:sp>
        <p:nvSpPr>
          <p:cNvPr id="33" name="Google Shape;33;p4"/>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DECK 13</a:t>
            </a:r>
            <a:endParaRPr b="0" i="0" sz="1100" u="none" cap="none" strike="noStrike">
              <a:solidFill>
                <a:schemeClr val="dk1"/>
              </a:solidFill>
              <a:latin typeface="Arial"/>
              <a:ea typeface="Arial"/>
              <a:cs typeface="Arial"/>
              <a:sym typeface="Arial"/>
            </a:endParaRPr>
          </a:p>
        </p:txBody>
      </p:sp>
      <p:sp>
        <p:nvSpPr>
          <p:cNvPr id="34" name="Google Shape;34;p4"/>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Today’s Target</a:t>
            </a:r>
            <a:endParaRPr b="0" i="0" sz="2800" u="none" cap="none" strike="noStrike">
              <a:solidFill>
                <a:schemeClr val="dk1"/>
              </a:solidFill>
              <a:latin typeface="Arial"/>
              <a:ea typeface="Arial"/>
              <a:cs typeface="Arial"/>
              <a:sym typeface="Arial"/>
            </a:endParaRPr>
          </a:p>
        </p:txBody>
      </p:sp>
      <p:sp>
        <p:nvSpPr>
          <p:cNvPr id="35" name="Google Shape;35;p4"/>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b="0" i="0" lang="en-US" sz="1200" u="none" cap="none" strike="noStrike">
                <a:solidFill>
                  <a:srgbClr val="B8B8B8"/>
                </a:solidFill>
                <a:latin typeface="Arial"/>
                <a:ea typeface="Arial"/>
                <a:cs typeface="Arial"/>
                <a:sym typeface="Arial"/>
              </a:rPr>
              <a:t>Move from research activity to scientific communication.</a:t>
            </a:r>
            <a:endParaRPr b="0" i="0" sz="1200" u="none" cap="none" strike="noStrike">
              <a:solidFill>
                <a:schemeClr val="dk1"/>
              </a:solidFill>
              <a:latin typeface="Arial"/>
              <a:ea typeface="Arial"/>
              <a:cs typeface="Arial"/>
              <a:sym typeface="Arial"/>
            </a:endParaRPr>
          </a:p>
        </p:txBody>
      </p:sp>
      <p:cxnSp>
        <p:nvCxnSpPr>
          <p:cNvPr id="36" name="Google Shape;36;p4"/>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37" name="Google Shape;37;p4"/>
          <p:cNvSpPr/>
          <p:nvPr/>
        </p:nvSpPr>
        <p:spPr>
          <a:xfrm>
            <a:off x="822960" y="1783080"/>
            <a:ext cx="3337560" cy="1965960"/>
          </a:xfrm>
          <a:prstGeom prst="roundRect">
            <a:avLst>
              <a:gd fmla="val 2791"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4"/>
          <p:cNvSpPr/>
          <p:nvPr/>
        </p:nvSpPr>
        <p:spPr>
          <a:xfrm>
            <a:off x="987552" y="1920240"/>
            <a:ext cx="300837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1. NAME THE STRUCTURE</a:t>
            </a:r>
            <a:endParaRPr b="0" i="0" sz="1200" u="none" cap="none" strike="noStrike">
              <a:solidFill>
                <a:schemeClr val="dk1"/>
              </a:solidFill>
              <a:latin typeface="Arial"/>
              <a:ea typeface="Arial"/>
              <a:cs typeface="Arial"/>
              <a:sym typeface="Arial"/>
            </a:endParaRPr>
          </a:p>
        </p:txBody>
      </p:sp>
      <p:sp>
        <p:nvSpPr>
          <p:cNvPr id="39" name="Google Shape;39;p4"/>
          <p:cNvSpPr/>
          <p:nvPr/>
        </p:nvSpPr>
        <p:spPr>
          <a:xfrm>
            <a:off x="987552" y="2286000"/>
            <a:ext cx="3008376" cy="13075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Identify what belongs in each major report section and why it exists.</a:t>
            </a:r>
            <a:endParaRPr b="0" i="0" sz="1700" u="none" cap="none" strike="noStrike">
              <a:solidFill>
                <a:schemeClr val="dk1"/>
              </a:solidFill>
              <a:latin typeface="Arial"/>
              <a:ea typeface="Arial"/>
              <a:cs typeface="Arial"/>
              <a:sym typeface="Arial"/>
            </a:endParaRPr>
          </a:p>
        </p:txBody>
      </p:sp>
      <p:sp>
        <p:nvSpPr>
          <p:cNvPr id="40" name="Google Shape;40;p4"/>
          <p:cNvSpPr/>
          <p:nvPr/>
        </p:nvSpPr>
        <p:spPr>
          <a:xfrm>
            <a:off x="4434840" y="1783080"/>
            <a:ext cx="3337560" cy="1965960"/>
          </a:xfrm>
          <a:prstGeom prst="roundRect">
            <a:avLst>
              <a:gd fmla="val 2791"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4"/>
          <p:cNvSpPr/>
          <p:nvPr/>
        </p:nvSpPr>
        <p:spPr>
          <a:xfrm>
            <a:off x="4599432" y="1920240"/>
            <a:ext cx="300837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2. SORT THE EVIDENCE</a:t>
            </a:r>
            <a:endParaRPr b="0" i="0" sz="1200" u="none" cap="none" strike="noStrike">
              <a:solidFill>
                <a:schemeClr val="dk1"/>
              </a:solidFill>
              <a:latin typeface="Arial"/>
              <a:ea typeface="Arial"/>
              <a:cs typeface="Arial"/>
              <a:sym typeface="Arial"/>
            </a:endParaRPr>
          </a:p>
        </p:txBody>
      </p:sp>
      <p:sp>
        <p:nvSpPr>
          <p:cNvPr id="42" name="Google Shape;42;p4"/>
          <p:cNvSpPr/>
          <p:nvPr/>
        </p:nvSpPr>
        <p:spPr>
          <a:xfrm>
            <a:off x="4599432" y="2286000"/>
            <a:ext cx="3008376" cy="13075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Decide where background, methods, results, interpretation, and limitations belong.</a:t>
            </a:r>
            <a:endParaRPr b="0" i="0" sz="1700" u="none" cap="none" strike="noStrike">
              <a:solidFill>
                <a:schemeClr val="dk1"/>
              </a:solidFill>
              <a:latin typeface="Arial"/>
              <a:ea typeface="Arial"/>
              <a:cs typeface="Arial"/>
              <a:sym typeface="Arial"/>
            </a:endParaRPr>
          </a:p>
        </p:txBody>
      </p:sp>
      <p:sp>
        <p:nvSpPr>
          <p:cNvPr id="43" name="Google Shape;43;p4"/>
          <p:cNvSpPr/>
          <p:nvPr/>
        </p:nvSpPr>
        <p:spPr>
          <a:xfrm>
            <a:off x="8046720" y="1783080"/>
            <a:ext cx="3337560" cy="1965960"/>
          </a:xfrm>
          <a:prstGeom prst="roundRect">
            <a:avLst>
              <a:gd fmla="val 2791"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4"/>
          <p:cNvSpPr/>
          <p:nvPr/>
        </p:nvSpPr>
        <p:spPr>
          <a:xfrm>
            <a:off x="8211312" y="1920240"/>
            <a:ext cx="300837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3. MAP YOUR REPORT</a:t>
            </a:r>
            <a:endParaRPr b="0" i="0" sz="1200" u="none" cap="none" strike="noStrike">
              <a:solidFill>
                <a:schemeClr val="dk1"/>
              </a:solidFill>
              <a:latin typeface="Arial"/>
              <a:ea typeface="Arial"/>
              <a:cs typeface="Arial"/>
              <a:sym typeface="Arial"/>
            </a:endParaRPr>
          </a:p>
        </p:txBody>
      </p:sp>
      <p:sp>
        <p:nvSpPr>
          <p:cNvPr id="45" name="Google Shape;45;p4"/>
          <p:cNvSpPr/>
          <p:nvPr/>
        </p:nvSpPr>
        <p:spPr>
          <a:xfrm>
            <a:off x="8211312" y="2286000"/>
            <a:ext cx="3008376" cy="13075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Begin planning your own STARLAB report using your project evidence.</a:t>
            </a:r>
            <a:endParaRPr b="0" i="0" sz="1700" u="none" cap="none" strike="noStrike">
              <a:solidFill>
                <a:schemeClr val="dk1"/>
              </a:solidFill>
              <a:latin typeface="Arial"/>
              <a:ea typeface="Arial"/>
              <a:cs typeface="Arial"/>
              <a:sym typeface="Arial"/>
            </a:endParaRPr>
          </a:p>
        </p:txBody>
      </p:sp>
      <p:sp>
        <p:nvSpPr>
          <p:cNvPr id="46" name="Google Shape;46;p4"/>
          <p:cNvSpPr/>
          <p:nvPr/>
        </p:nvSpPr>
        <p:spPr>
          <a:xfrm>
            <a:off x="960120" y="4434840"/>
            <a:ext cx="102412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Play"/>
              <a:buNone/>
            </a:pPr>
            <a:r>
              <a:rPr b="1" i="0" lang="en-US" sz="2400" u="none" cap="none" strike="noStrike">
                <a:solidFill>
                  <a:srgbClr val="FFFFFF"/>
                </a:solidFill>
                <a:latin typeface="Play"/>
                <a:ea typeface="Play"/>
                <a:cs typeface="Play"/>
                <a:sym typeface="Play"/>
              </a:rPr>
              <a:t>Student work today: annotate a model report, then map your own project into report sections.</a:t>
            </a:r>
            <a:endParaRPr b="0" i="0" sz="2400" u="none" cap="none" strike="noStrike">
              <a:solidFill>
                <a:schemeClr val="dk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51" name="Shape 51"/>
        <p:cNvGrpSpPr/>
        <p:nvPr/>
      </p:nvGrpSpPr>
      <p:grpSpPr>
        <a:xfrm>
          <a:off x="0" y="0"/>
          <a:ext cx="0" cy="0"/>
          <a:chOff x="0" y="0"/>
          <a:chExt cx="0" cy="0"/>
        </a:xfrm>
      </p:grpSpPr>
      <p:sp>
        <p:nvSpPr>
          <p:cNvPr id="52" name="Google Shape;52;p5"/>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5"/>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5"/>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5"/>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SCIENTIFIC REPORTING</a:t>
            </a:r>
            <a:endParaRPr b="0" i="0" sz="1000" u="none" cap="none" strike="noStrike">
              <a:solidFill>
                <a:schemeClr val="dk1"/>
              </a:solidFill>
              <a:latin typeface="Arial"/>
              <a:ea typeface="Arial"/>
              <a:cs typeface="Arial"/>
              <a:sym typeface="Arial"/>
            </a:endParaRPr>
          </a:p>
        </p:txBody>
      </p:sp>
      <p:sp>
        <p:nvSpPr>
          <p:cNvPr id="56" name="Google Shape;56;p5"/>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STARLAB</a:t>
            </a:r>
            <a:endParaRPr b="0" i="0" sz="1000" u="none" cap="none" strike="noStrike">
              <a:solidFill>
                <a:schemeClr val="dk1"/>
              </a:solidFill>
              <a:latin typeface="Arial"/>
              <a:ea typeface="Arial"/>
              <a:cs typeface="Arial"/>
              <a:sym typeface="Arial"/>
            </a:endParaRPr>
          </a:p>
        </p:txBody>
      </p:sp>
      <p:sp>
        <p:nvSpPr>
          <p:cNvPr id="57" name="Google Shape;57;p5"/>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DECK 13</a:t>
            </a:r>
            <a:endParaRPr b="0" i="0" sz="1100" u="none" cap="none" strike="noStrike">
              <a:solidFill>
                <a:schemeClr val="dk1"/>
              </a:solidFill>
              <a:latin typeface="Arial"/>
              <a:ea typeface="Arial"/>
              <a:cs typeface="Arial"/>
              <a:sym typeface="Arial"/>
            </a:endParaRPr>
          </a:p>
        </p:txBody>
      </p:sp>
      <p:sp>
        <p:nvSpPr>
          <p:cNvPr id="58" name="Google Shape;58;p5"/>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Why the Project Is Not Finished Yet</a:t>
            </a:r>
            <a:endParaRPr b="0" i="0" sz="2800" u="none" cap="none" strike="noStrike">
              <a:solidFill>
                <a:schemeClr val="dk1"/>
              </a:solidFill>
              <a:latin typeface="Arial"/>
              <a:ea typeface="Arial"/>
              <a:cs typeface="Arial"/>
              <a:sym typeface="Arial"/>
            </a:endParaRPr>
          </a:p>
        </p:txBody>
      </p:sp>
      <p:sp>
        <p:nvSpPr>
          <p:cNvPr id="59" name="Google Shape;59;p5"/>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b="0" i="0" lang="en-US" sz="1200" u="none" cap="none" strike="noStrike">
                <a:solidFill>
                  <a:srgbClr val="B8B8B8"/>
                </a:solidFill>
                <a:latin typeface="Arial"/>
                <a:ea typeface="Arial"/>
                <a:cs typeface="Arial"/>
                <a:sym typeface="Arial"/>
              </a:rPr>
              <a:t>Research is not complete until others can understand and evaluate it.</a:t>
            </a:r>
            <a:endParaRPr b="0" i="0" sz="1200" u="none" cap="none" strike="noStrike">
              <a:solidFill>
                <a:schemeClr val="dk1"/>
              </a:solidFill>
              <a:latin typeface="Arial"/>
              <a:ea typeface="Arial"/>
              <a:cs typeface="Arial"/>
              <a:sym typeface="Arial"/>
            </a:endParaRPr>
          </a:p>
        </p:txBody>
      </p:sp>
      <p:cxnSp>
        <p:nvCxnSpPr>
          <p:cNvPr id="60" name="Google Shape;60;p5"/>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61" name="Google Shape;61;p5"/>
          <p:cNvSpPr/>
          <p:nvPr/>
        </p:nvSpPr>
        <p:spPr>
          <a:xfrm>
            <a:off x="914400" y="1783080"/>
            <a:ext cx="1042416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600"/>
              <a:buFont typeface="Play"/>
              <a:buNone/>
            </a:pPr>
            <a:r>
              <a:rPr b="1" i="0" lang="en-US" sz="2600" u="none" cap="none" strike="noStrike">
                <a:solidFill>
                  <a:srgbClr val="FFFFFF"/>
                </a:solidFill>
                <a:latin typeface="Play"/>
                <a:ea typeface="Play"/>
                <a:cs typeface="Play"/>
                <a:sym typeface="Play"/>
              </a:rPr>
              <a:t>Completing the investigation is only part of the work.</a:t>
            </a:r>
            <a:endParaRPr b="0" i="0" sz="2600" u="none" cap="none" strike="noStrike">
              <a:solidFill>
                <a:schemeClr val="dk1"/>
              </a:solidFill>
              <a:latin typeface="Arial"/>
              <a:ea typeface="Arial"/>
              <a:cs typeface="Arial"/>
              <a:sym typeface="Arial"/>
            </a:endParaRPr>
          </a:p>
        </p:txBody>
      </p:sp>
      <p:sp>
        <p:nvSpPr>
          <p:cNvPr id="62" name="Google Shape;62;p5"/>
          <p:cNvSpPr/>
          <p:nvPr/>
        </p:nvSpPr>
        <p:spPr>
          <a:xfrm>
            <a:off x="914400" y="2606040"/>
            <a:ext cx="3017520" cy="2011680"/>
          </a:xfrm>
          <a:prstGeom prst="roundRect">
            <a:avLst>
              <a:gd fmla="val 2727"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5"/>
          <p:cNvSpPr/>
          <p:nvPr/>
        </p:nvSpPr>
        <p:spPr>
          <a:xfrm>
            <a:off x="1078992" y="2743200"/>
            <a:ext cx="26883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REPORT</a:t>
            </a:r>
            <a:endParaRPr b="0" i="0" sz="1200" u="none" cap="none" strike="noStrike">
              <a:solidFill>
                <a:schemeClr val="dk1"/>
              </a:solidFill>
              <a:latin typeface="Arial"/>
              <a:ea typeface="Arial"/>
              <a:cs typeface="Arial"/>
              <a:sym typeface="Arial"/>
            </a:endParaRPr>
          </a:p>
        </p:txBody>
      </p:sp>
      <p:sp>
        <p:nvSpPr>
          <p:cNvPr id="64" name="Google Shape;64;p5"/>
          <p:cNvSpPr/>
          <p:nvPr/>
        </p:nvSpPr>
        <p:spPr>
          <a:xfrm>
            <a:off x="1078992" y="3108960"/>
            <a:ext cx="2688336" cy="13533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A written record that lets others understand, evaluate, and build from the work.</a:t>
            </a:r>
            <a:endParaRPr b="0" i="0" sz="1700" u="none" cap="none" strike="noStrike">
              <a:solidFill>
                <a:schemeClr val="dk1"/>
              </a:solidFill>
              <a:latin typeface="Arial"/>
              <a:ea typeface="Arial"/>
              <a:cs typeface="Arial"/>
              <a:sym typeface="Arial"/>
            </a:endParaRPr>
          </a:p>
        </p:txBody>
      </p:sp>
      <p:sp>
        <p:nvSpPr>
          <p:cNvPr id="65" name="Google Shape;65;p5"/>
          <p:cNvSpPr/>
          <p:nvPr/>
        </p:nvSpPr>
        <p:spPr>
          <a:xfrm>
            <a:off x="4590288" y="2606040"/>
            <a:ext cx="3017520" cy="2011680"/>
          </a:xfrm>
          <a:prstGeom prst="roundRect">
            <a:avLst>
              <a:gd fmla="val 2727"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5"/>
          <p:cNvSpPr/>
          <p:nvPr/>
        </p:nvSpPr>
        <p:spPr>
          <a:xfrm>
            <a:off x="4754880" y="2743200"/>
            <a:ext cx="26883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VISUALS</a:t>
            </a:r>
            <a:endParaRPr b="0" i="0" sz="1200" u="none" cap="none" strike="noStrike">
              <a:solidFill>
                <a:schemeClr val="dk1"/>
              </a:solidFill>
              <a:latin typeface="Arial"/>
              <a:ea typeface="Arial"/>
              <a:cs typeface="Arial"/>
              <a:sym typeface="Arial"/>
            </a:endParaRPr>
          </a:p>
        </p:txBody>
      </p:sp>
      <p:sp>
        <p:nvSpPr>
          <p:cNvPr id="67" name="Google Shape;67;p5"/>
          <p:cNvSpPr/>
          <p:nvPr/>
        </p:nvSpPr>
        <p:spPr>
          <a:xfrm>
            <a:off x="4754880" y="3108960"/>
            <a:ext cx="2688336" cy="13533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Graphs, tables, diagrams, and images that make evidence visible and honest.</a:t>
            </a:r>
            <a:endParaRPr b="0" i="0" sz="1700" u="none" cap="none" strike="noStrike">
              <a:solidFill>
                <a:schemeClr val="dk1"/>
              </a:solidFill>
              <a:latin typeface="Arial"/>
              <a:ea typeface="Arial"/>
              <a:cs typeface="Arial"/>
              <a:sym typeface="Arial"/>
            </a:endParaRPr>
          </a:p>
        </p:txBody>
      </p:sp>
      <p:sp>
        <p:nvSpPr>
          <p:cNvPr id="68" name="Google Shape;68;p5"/>
          <p:cNvSpPr/>
          <p:nvPr/>
        </p:nvSpPr>
        <p:spPr>
          <a:xfrm>
            <a:off x="8275320" y="2606040"/>
            <a:ext cx="3017520" cy="2011680"/>
          </a:xfrm>
          <a:prstGeom prst="roundRect">
            <a:avLst>
              <a:gd fmla="val 2727"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5"/>
          <p:cNvSpPr/>
          <p:nvPr/>
        </p:nvSpPr>
        <p:spPr>
          <a:xfrm>
            <a:off x="8439912" y="2743200"/>
            <a:ext cx="26883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PRESENTATION</a:t>
            </a:r>
            <a:endParaRPr b="0" i="0" sz="1200" u="none" cap="none" strike="noStrike">
              <a:solidFill>
                <a:schemeClr val="dk1"/>
              </a:solidFill>
              <a:latin typeface="Arial"/>
              <a:ea typeface="Arial"/>
              <a:cs typeface="Arial"/>
              <a:sym typeface="Arial"/>
            </a:endParaRPr>
          </a:p>
        </p:txBody>
      </p:sp>
      <p:sp>
        <p:nvSpPr>
          <p:cNvPr id="70" name="Google Shape;70;p5"/>
          <p:cNvSpPr/>
          <p:nvPr/>
        </p:nvSpPr>
        <p:spPr>
          <a:xfrm>
            <a:off x="8439912" y="3108960"/>
            <a:ext cx="2688336" cy="135331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700"/>
              <a:buFont typeface="Arial"/>
              <a:buNone/>
            </a:pPr>
            <a:r>
              <a:rPr b="0" i="0" lang="en-US" sz="1700" u="none" cap="none" strike="noStrike">
                <a:solidFill>
                  <a:srgbClr val="FFFFFF"/>
                </a:solidFill>
                <a:latin typeface="Arial"/>
                <a:ea typeface="Arial"/>
                <a:cs typeface="Arial"/>
                <a:sym typeface="Arial"/>
              </a:rPr>
              <a:t>A spoken explanation that guides an audience through the research story.</a:t>
            </a:r>
            <a:endParaRPr b="0" i="0" sz="17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75" name="Shape 75"/>
        <p:cNvGrpSpPr/>
        <p:nvPr/>
      </p:nvGrpSpPr>
      <p:grpSpPr>
        <a:xfrm>
          <a:off x="0" y="0"/>
          <a:ext cx="0" cy="0"/>
          <a:chOff x="0" y="0"/>
          <a:chExt cx="0" cy="0"/>
        </a:xfrm>
      </p:grpSpPr>
      <p:sp>
        <p:nvSpPr>
          <p:cNvPr id="76" name="Google Shape;76;p6"/>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6"/>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6"/>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6"/>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SCIENTIFIC REPORTING</a:t>
            </a:r>
            <a:endParaRPr b="0" i="0" sz="1000" u="none" cap="none" strike="noStrike">
              <a:solidFill>
                <a:schemeClr val="dk1"/>
              </a:solidFill>
              <a:latin typeface="Arial"/>
              <a:ea typeface="Arial"/>
              <a:cs typeface="Arial"/>
              <a:sym typeface="Arial"/>
            </a:endParaRPr>
          </a:p>
        </p:txBody>
      </p:sp>
      <p:sp>
        <p:nvSpPr>
          <p:cNvPr id="80" name="Google Shape;80;p6"/>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STARLAB</a:t>
            </a:r>
            <a:endParaRPr b="0" i="0" sz="1000" u="none" cap="none" strike="noStrike">
              <a:solidFill>
                <a:schemeClr val="dk1"/>
              </a:solidFill>
              <a:latin typeface="Arial"/>
              <a:ea typeface="Arial"/>
              <a:cs typeface="Arial"/>
              <a:sym typeface="Arial"/>
            </a:endParaRPr>
          </a:p>
        </p:txBody>
      </p:sp>
      <p:sp>
        <p:nvSpPr>
          <p:cNvPr id="81" name="Google Shape;81;p6"/>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DECK 13</a:t>
            </a:r>
            <a:endParaRPr b="0" i="0" sz="1100" u="none" cap="none" strike="noStrike">
              <a:solidFill>
                <a:schemeClr val="dk1"/>
              </a:solidFill>
              <a:latin typeface="Arial"/>
              <a:ea typeface="Arial"/>
              <a:cs typeface="Arial"/>
              <a:sym typeface="Arial"/>
            </a:endParaRPr>
          </a:p>
        </p:txBody>
      </p:sp>
      <p:sp>
        <p:nvSpPr>
          <p:cNvPr id="82" name="Google Shape;82;p6"/>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The Scientific Report Has a Job</a:t>
            </a:r>
            <a:endParaRPr b="0" i="0" sz="2800" u="none" cap="none" strike="noStrike">
              <a:solidFill>
                <a:schemeClr val="dk1"/>
              </a:solidFill>
              <a:latin typeface="Arial"/>
              <a:ea typeface="Arial"/>
              <a:cs typeface="Arial"/>
              <a:sym typeface="Arial"/>
            </a:endParaRPr>
          </a:p>
        </p:txBody>
      </p:sp>
      <p:sp>
        <p:nvSpPr>
          <p:cNvPr id="83" name="Google Shape;83;p6"/>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b="0" i="0" lang="en-US" sz="1200" u="none" cap="none" strike="noStrike">
                <a:solidFill>
                  <a:srgbClr val="B8B8B8"/>
                </a:solidFill>
                <a:latin typeface="Arial"/>
                <a:ea typeface="Arial"/>
                <a:cs typeface="Arial"/>
                <a:sym typeface="Arial"/>
              </a:rPr>
              <a:t>Each section answers a different reader question.</a:t>
            </a:r>
            <a:endParaRPr b="0" i="0" sz="1200" u="none" cap="none" strike="noStrike">
              <a:solidFill>
                <a:schemeClr val="dk1"/>
              </a:solidFill>
              <a:latin typeface="Arial"/>
              <a:ea typeface="Arial"/>
              <a:cs typeface="Arial"/>
              <a:sym typeface="Arial"/>
            </a:endParaRPr>
          </a:p>
        </p:txBody>
      </p:sp>
      <p:cxnSp>
        <p:nvCxnSpPr>
          <p:cNvPr id="84" name="Google Shape;84;p6"/>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85" name="Google Shape;85;p6"/>
          <p:cNvSpPr/>
          <p:nvPr/>
        </p:nvSpPr>
        <p:spPr>
          <a:xfrm>
            <a:off x="960120" y="1737360"/>
            <a:ext cx="2377440" cy="43891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6"/>
          <p:cNvSpPr/>
          <p:nvPr/>
        </p:nvSpPr>
        <p:spPr>
          <a:xfrm>
            <a:off x="1051560" y="1856232"/>
            <a:ext cx="219456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INTRODUCTION</a:t>
            </a:r>
            <a:endParaRPr b="0" i="0" sz="1100" u="none" cap="none" strike="noStrike">
              <a:solidFill>
                <a:schemeClr val="dk1"/>
              </a:solidFill>
              <a:latin typeface="Arial"/>
              <a:ea typeface="Arial"/>
              <a:cs typeface="Arial"/>
              <a:sym typeface="Arial"/>
            </a:endParaRPr>
          </a:p>
        </p:txBody>
      </p:sp>
      <p:sp>
        <p:nvSpPr>
          <p:cNvPr id="87" name="Google Shape;87;p6"/>
          <p:cNvSpPr/>
          <p:nvPr/>
        </p:nvSpPr>
        <p:spPr>
          <a:xfrm>
            <a:off x="3657600" y="1792224"/>
            <a:ext cx="726948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Play"/>
              <a:buNone/>
            </a:pPr>
            <a:r>
              <a:rPr b="1" i="0" lang="en-US" sz="2200" u="none" cap="none" strike="noStrike">
                <a:solidFill>
                  <a:srgbClr val="FFFFFF"/>
                </a:solidFill>
                <a:latin typeface="Play"/>
                <a:ea typeface="Play"/>
                <a:cs typeface="Play"/>
                <a:sym typeface="Play"/>
              </a:rPr>
              <a:t>Why does this project matter?</a:t>
            </a:r>
            <a:endParaRPr b="0" i="0" sz="2200" u="none" cap="none" strike="noStrike">
              <a:solidFill>
                <a:schemeClr val="dk1"/>
              </a:solidFill>
              <a:latin typeface="Arial"/>
              <a:ea typeface="Arial"/>
              <a:cs typeface="Arial"/>
              <a:sym typeface="Arial"/>
            </a:endParaRPr>
          </a:p>
        </p:txBody>
      </p:sp>
      <p:sp>
        <p:nvSpPr>
          <p:cNvPr id="88" name="Google Shape;88;p6"/>
          <p:cNvSpPr/>
          <p:nvPr/>
        </p:nvSpPr>
        <p:spPr>
          <a:xfrm>
            <a:off x="960120" y="2487168"/>
            <a:ext cx="2377440" cy="43891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6"/>
          <p:cNvSpPr/>
          <p:nvPr/>
        </p:nvSpPr>
        <p:spPr>
          <a:xfrm>
            <a:off x="1051560" y="2606040"/>
            <a:ext cx="219456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METHODS</a:t>
            </a:r>
            <a:endParaRPr b="0" i="0" sz="1100" u="none" cap="none" strike="noStrike">
              <a:solidFill>
                <a:schemeClr val="dk1"/>
              </a:solidFill>
              <a:latin typeface="Arial"/>
              <a:ea typeface="Arial"/>
              <a:cs typeface="Arial"/>
              <a:sym typeface="Arial"/>
            </a:endParaRPr>
          </a:p>
        </p:txBody>
      </p:sp>
      <p:sp>
        <p:nvSpPr>
          <p:cNvPr id="90" name="Google Shape;90;p6"/>
          <p:cNvSpPr/>
          <p:nvPr/>
        </p:nvSpPr>
        <p:spPr>
          <a:xfrm>
            <a:off x="3657600" y="2542032"/>
            <a:ext cx="726948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Play"/>
              <a:buNone/>
            </a:pPr>
            <a:r>
              <a:rPr b="1" i="0" lang="en-US" sz="2200" u="none" cap="none" strike="noStrike">
                <a:solidFill>
                  <a:srgbClr val="FFFFFF"/>
                </a:solidFill>
                <a:latin typeface="Play"/>
                <a:ea typeface="Play"/>
                <a:cs typeface="Play"/>
                <a:sym typeface="Play"/>
              </a:rPr>
              <a:t>What exactly was done?</a:t>
            </a:r>
            <a:endParaRPr b="0" i="0" sz="2200" u="none" cap="none" strike="noStrike">
              <a:solidFill>
                <a:schemeClr val="dk1"/>
              </a:solidFill>
              <a:latin typeface="Arial"/>
              <a:ea typeface="Arial"/>
              <a:cs typeface="Arial"/>
              <a:sym typeface="Arial"/>
            </a:endParaRPr>
          </a:p>
        </p:txBody>
      </p:sp>
      <p:sp>
        <p:nvSpPr>
          <p:cNvPr id="91" name="Google Shape;91;p6"/>
          <p:cNvSpPr/>
          <p:nvPr/>
        </p:nvSpPr>
        <p:spPr>
          <a:xfrm>
            <a:off x="960120" y="3236976"/>
            <a:ext cx="2377440" cy="43891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6"/>
          <p:cNvSpPr/>
          <p:nvPr/>
        </p:nvSpPr>
        <p:spPr>
          <a:xfrm>
            <a:off x="1051560" y="3355848"/>
            <a:ext cx="219456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RESULTS</a:t>
            </a:r>
            <a:endParaRPr b="0" i="0" sz="1100" u="none" cap="none" strike="noStrike">
              <a:solidFill>
                <a:schemeClr val="dk1"/>
              </a:solidFill>
              <a:latin typeface="Arial"/>
              <a:ea typeface="Arial"/>
              <a:cs typeface="Arial"/>
              <a:sym typeface="Arial"/>
            </a:endParaRPr>
          </a:p>
        </p:txBody>
      </p:sp>
      <p:sp>
        <p:nvSpPr>
          <p:cNvPr id="93" name="Google Shape;93;p6"/>
          <p:cNvSpPr/>
          <p:nvPr/>
        </p:nvSpPr>
        <p:spPr>
          <a:xfrm>
            <a:off x="3657600" y="3291840"/>
            <a:ext cx="726948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Play"/>
              <a:buNone/>
            </a:pPr>
            <a:r>
              <a:rPr b="1" i="0" lang="en-US" sz="2200" u="none" cap="none" strike="noStrike">
                <a:solidFill>
                  <a:srgbClr val="FFFFFF"/>
                </a:solidFill>
                <a:latin typeface="Play"/>
                <a:ea typeface="Play"/>
                <a:cs typeface="Play"/>
                <a:sym typeface="Play"/>
              </a:rPr>
              <a:t>What did the evidence show?</a:t>
            </a:r>
            <a:endParaRPr b="0" i="0" sz="2200" u="none" cap="none" strike="noStrike">
              <a:solidFill>
                <a:schemeClr val="dk1"/>
              </a:solidFill>
              <a:latin typeface="Arial"/>
              <a:ea typeface="Arial"/>
              <a:cs typeface="Arial"/>
              <a:sym typeface="Arial"/>
            </a:endParaRPr>
          </a:p>
        </p:txBody>
      </p:sp>
      <p:sp>
        <p:nvSpPr>
          <p:cNvPr id="94" name="Google Shape;94;p6"/>
          <p:cNvSpPr/>
          <p:nvPr/>
        </p:nvSpPr>
        <p:spPr>
          <a:xfrm>
            <a:off x="960120" y="3986784"/>
            <a:ext cx="2377440" cy="43891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6"/>
          <p:cNvSpPr/>
          <p:nvPr/>
        </p:nvSpPr>
        <p:spPr>
          <a:xfrm>
            <a:off x="1051560" y="4105656"/>
            <a:ext cx="219456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DISCUSSION</a:t>
            </a:r>
            <a:endParaRPr b="0" i="0" sz="1100" u="none" cap="none" strike="noStrike">
              <a:solidFill>
                <a:schemeClr val="dk1"/>
              </a:solidFill>
              <a:latin typeface="Arial"/>
              <a:ea typeface="Arial"/>
              <a:cs typeface="Arial"/>
              <a:sym typeface="Arial"/>
            </a:endParaRPr>
          </a:p>
        </p:txBody>
      </p:sp>
      <p:sp>
        <p:nvSpPr>
          <p:cNvPr id="96" name="Google Shape;96;p6"/>
          <p:cNvSpPr/>
          <p:nvPr/>
        </p:nvSpPr>
        <p:spPr>
          <a:xfrm>
            <a:off x="3657600" y="4041648"/>
            <a:ext cx="726948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Play"/>
              <a:buNone/>
            </a:pPr>
            <a:r>
              <a:rPr b="1" i="0" lang="en-US" sz="2200" u="none" cap="none" strike="noStrike">
                <a:solidFill>
                  <a:srgbClr val="FFFFFF"/>
                </a:solidFill>
                <a:latin typeface="Play"/>
                <a:ea typeface="Play"/>
                <a:cs typeface="Play"/>
                <a:sym typeface="Play"/>
              </a:rPr>
              <a:t>What does the evidence mean?</a:t>
            </a:r>
            <a:endParaRPr b="0" i="0" sz="2200" u="none" cap="none" strike="noStrike">
              <a:solidFill>
                <a:schemeClr val="dk1"/>
              </a:solidFill>
              <a:latin typeface="Arial"/>
              <a:ea typeface="Arial"/>
              <a:cs typeface="Arial"/>
              <a:sym typeface="Arial"/>
            </a:endParaRPr>
          </a:p>
        </p:txBody>
      </p:sp>
      <p:sp>
        <p:nvSpPr>
          <p:cNvPr id="97" name="Google Shape;97;p6"/>
          <p:cNvSpPr/>
          <p:nvPr/>
        </p:nvSpPr>
        <p:spPr>
          <a:xfrm>
            <a:off x="960120" y="4736592"/>
            <a:ext cx="2377440" cy="43891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6"/>
          <p:cNvSpPr/>
          <p:nvPr/>
        </p:nvSpPr>
        <p:spPr>
          <a:xfrm>
            <a:off x="1051560" y="4855464"/>
            <a:ext cx="219456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Arial"/>
              <a:buNone/>
            </a:pPr>
            <a:r>
              <a:rPr b="1" i="0" lang="en-US" sz="1100" u="none" cap="none" strike="noStrike">
                <a:solidFill>
                  <a:srgbClr val="FFFFFF"/>
                </a:solidFill>
                <a:latin typeface="Arial"/>
                <a:ea typeface="Arial"/>
                <a:cs typeface="Arial"/>
                <a:sym typeface="Arial"/>
              </a:rPr>
              <a:t>CONCLUSION</a:t>
            </a:r>
            <a:endParaRPr b="0" i="0" sz="1100" u="none" cap="none" strike="noStrike">
              <a:solidFill>
                <a:schemeClr val="dk1"/>
              </a:solidFill>
              <a:latin typeface="Arial"/>
              <a:ea typeface="Arial"/>
              <a:cs typeface="Arial"/>
              <a:sym typeface="Arial"/>
            </a:endParaRPr>
          </a:p>
        </p:txBody>
      </p:sp>
      <p:sp>
        <p:nvSpPr>
          <p:cNvPr id="99" name="Google Shape;99;p6"/>
          <p:cNvSpPr/>
          <p:nvPr/>
        </p:nvSpPr>
        <p:spPr>
          <a:xfrm>
            <a:off x="3657600" y="4791456"/>
            <a:ext cx="726948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200"/>
              <a:buFont typeface="Play"/>
              <a:buNone/>
            </a:pPr>
            <a:r>
              <a:rPr b="1" i="0" lang="en-US" sz="2200" u="none" cap="none" strike="noStrike">
                <a:solidFill>
                  <a:srgbClr val="FFFFFF"/>
                </a:solidFill>
                <a:latin typeface="Play"/>
                <a:ea typeface="Play"/>
                <a:cs typeface="Play"/>
                <a:sym typeface="Play"/>
              </a:rPr>
              <a:t>What is the main takeaway?</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104" name="Shape 104"/>
        <p:cNvGrpSpPr/>
        <p:nvPr/>
      </p:nvGrpSpPr>
      <p:grpSpPr>
        <a:xfrm>
          <a:off x="0" y="0"/>
          <a:ext cx="0" cy="0"/>
          <a:chOff x="0" y="0"/>
          <a:chExt cx="0" cy="0"/>
        </a:xfrm>
      </p:grpSpPr>
      <p:sp>
        <p:nvSpPr>
          <p:cNvPr id="105" name="Google Shape;105;p7"/>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7"/>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7"/>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7"/>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SCIENTIFIC REPORTING</a:t>
            </a:r>
            <a:endParaRPr b="0" i="0" sz="1000" u="none" cap="none" strike="noStrike">
              <a:solidFill>
                <a:schemeClr val="dk1"/>
              </a:solidFill>
              <a:latin typeface="Arial"/>
              <a:ea typeface="Arial"/>
              <a:cs typeface="Arial"/>
              <a:sym typeface="Arial"/>
            </a:endParaRPr>
          </a:p>
        </p:txBody>
      </p:sp>
      <p:sp>
        <p:nvSpPr>
          <p:cNvPr id="109" name="Google Shape;109;p7"/>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STARLAB</a:t>
            </a:r>
            <a:endParaRPr b="0" i="0" sz="1000" u="none" cap="none" strike="noStrike">
              <a:solidFill>
                <a:schemeClr val="dk1"/>
              </a:solidFill>
              <a:latin typeface="Arial"/>
              <a:ea typeface="Arial"/>
              <a:cs typeface="Arial"/>
              <a:sym typeface="Arial"/>
            </a:endParaRPr>
          </a:p>
        </p:txBody>
      </p:sp>
      <p:sp>
        <p:nvSpPr>
          <p:cNvPr id="110" name="Google Shape;110;p7"/>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DECK 13</a:t>
            </a:r>
            <a:endParaRPr b="0" i="0" sz="1100" u="none" cap="none" strike="noStrike">
              <a:solidFill>
                <a:schemeClr val="dk1"/>
              </a:solidFill>
              <a:latin typeface="Arial"/>
              <a:ea typeface="Arial"/>
              <a:cs typeface="Arial"/>
              <a:sym typeface="Arial"/>
            </a:endParaRPr>
          </a:p>
        </p:txBody>
      </p:sp>
      <p:sp>
        <p:nvSpPr>
          <p:cNvPr id="111" name="Google Shape;111;p7"/>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A Report Is Not a Timeline</a:t>
            </a:r>
            <a:endParaRPr b="0" i="0" sz="2800" u="none" cap="none" strike="noStrike">
              <a:solidFill>
                <a:schemeClr val="dk1"/>
              </a:solidFill>
              <a:latin typeface="Arial"/>
              <a:ea typeface="Arial"/>
              <a:cs typeface="Arial"/>
              <a:sym typeface="Arial"/>
            </a:endParaRPr>
          </a:p>
        </p:txBody>
      </p:sp>
      <p:sp>
        <p:nvSpPr>
          <p:cNvPr id="112" name="Google Shape;112;p7"/>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b="0" i="0" lang="en-US" sz="1200" u="none" cap="none" strike="noStrike">
                <a:solidFill>
                  <a:srgbClr val="B8B8B8"/>
                </a:solidFill>
                <a:latin typeface="Arial"/>
                <a:ea typeface="Arial"/>
                <a:cs typeface="Arial"/>
                <a:sym typeface="Arial"/>
              </a:rPr>
              <a:t>Avoid writing the project as “first I did this, then I did this.”</a:t>
            </a:r>
            <a:endParaRPr b="0" i="0" sz="1200" u="none" cap="none" strike="noStrike">
              <a:solidFill>
                <a:schemeClr val="dk1"/>
              </a:solidFill>
              <a:latin typeface="Arial"/>
              <a:ea typeface="Arial"/>
              <a:cs typeface="Arial"/>
              <a:sym typeface="Arial"/>
            </a:endParaRPr>
          </a:p>
        </p:txBody>
      </p:sp>
      <p:cxnSp>
        <p:nvCxnSpPr>
          <p:cNvPr id="113" name="Google Shape;113;p7"/>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114" name="Google Shape;114;p7"/>
          <p:cNvSpPr/>
          <p:nvPr/>
        </p:nvSpPr>
        <p:spPr>
          <a:xfrm>
            <a:off x="914400" y="1828800"/>
            <a:ext cx="4709160" cy="3246120"/>
          </a:xfrm>
          <a:prstGeom prst="roundRect">
            <a:avLst>
              <a:gd fmla="val 1690" name="adj"/>
            </a:avLst>
          </a:prstGeom>
          <a:solidFill>
            <a:srgbClr val="101010"/>
          </a:solidFill>
          <a:ln cap="flat" cmpd="sng" w="12700">
            <a:solidFill>
              <a:srgbClr val="5555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7"/>
          <p:cNvSpPr/>
          <p:nvPr/>
        </p:nvSpPr>
        <p:spPr>
          <a:xfrm>
            <a:off x="1078992" y="1965960"/>
            <a:ext cx="437997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WEAK STRUCTURE</a:t>
            </a:r>
            <a:endParaRPr b="0" i="0" sz="1200" u="none" cap="none" strike="noStrike">
              <a:solidFill>
                <a:schemeClr val="dk1"/>
              </a:solidFill>
              <a:latin typeface="Arial"/>
              <a:ea typeface="Arial"/>
              <a:cs typeface="Arial"/>
              <a:sym typeface="Arial"/>
            </a:endParaRPr>
          </a:p>
        </p:txBody>
      </p:sp>
      <p:sp>
        <p:nvSpPr>
          <p:cNvPr id="116" name="Google Shape;116;p7"/>
          <p:cNvSpPr/>
          <p:nvPr/>
        </p:nvSpPr>
        <p:spPr>
          <a:xfrm>
            <a:off x="1078992" y="2331720"/>
            <a:ext cx="4379976" cy="25877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900"/>
              <a:buFont typeface="Arial"/>
              <a:buNone/>
            </a:pPr>
            <a:r>
              <a:rPr b="0" i="0" lang="en-US" sz="1900" u="none" cap="none" strike="noStrike">
                <a:solidFill>
                  <a:srgbClr val="FFFFFF"/>
                </a:solidFill>
                <a:latin typeface="Arial"/>
                <a:ea typeface="Arial"/>
                <a:cs typeface="Arial"/>
                <a:sym typeface="Arial"/>
              </a:rPr>
              <a:t>First I picked a topic. Then I made a plan. Then I tested it. Then something went wrong. Then I made a graph. Then I wrote my conclusion.</a:t>
            </a:r>
            <a:endParaRPr b="0" i="0" sz="1900" u="none" cap="none" strike="noStrike">
              <a:solidFill>
                <a:schemeClr val="dk1"/>
              </a:solidFill>
              <a:latin typeface="Arial"/>
              <a:ea typeface="Arial"/>
              <a:cs typeface="Arial"/>
              <a:sym typeface="Arial"/>
            </a:endParaRPr>
          </a:p>
        </p:txBody>
      </p:sp>
      <p:sp>
        <p:nvSpPr>
          <p:cNvPr id="117" name="Google Shape;117;p7"/>
          <p:cNvSpPr/>
          <p:nvPr/>
        </p:nvSpPr>
        <p:spPr>
          <a:xfrm>
            <a:off x="6537960" y="1828800"/>
            <a:ext cx="4709160" cy="3246120"/>
          </a:xfrm>
          <a:prstGeom prst="roundRect">
            <a:avLst>
              <a:gd fmla="val 1690" name="adj"/>
            </a:avLst>
          </a:prstGeom>
          <a:solidFill>
            <a:srgbClr val="101010"/>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7"/>
          <p:cNvSpPr/>
          <p:nvPr/>
        </p:nvSpPr>
        <p:spPr>
          <a:xfrm>
            <a:off x="6702552" y="1965960"/>
            <a:ext cx="437997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STRONG STRUCTURE</a:t>
            </a:r>
            <a:endParaRPr b="0" i="0" sz="1200" u="none" cap="none" strike="noStrike">
              <a:solidFill>
                <a:schemeClr val="dk1"/>
              </a:solidFill>
              <a:latin typeface="Arial"/>
              <a:ea typeface="Arial"/>
              <a:cs typeface="Arial"/>
              <a:sym typeface="Arial"/>
            </a:endParaRPr>
          </a:p>
        </p:txBody>
      </p:sp>
      <p:sp>
        <p:nvSpPr>
          <p:cNvPr id="119" name="Google Shape;119;p7"/>
          <p:cNvSpPr/>
          <p:nvPr/>
        </p:nvSpPr>
        <p:spPr>
          <a:xfrm>
            <a:off x="6702552" y="2331720"/>
            <a:ext cx="4379976" cy="25877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900"/>
              <a:buFont typeface="Arial"/>
              <a:buNone/>
            </a:pPr>
            <a:r>
              <a:rPr b="0" i="0" lang="en-US" sz="1900" u="none" cap="none" strike="noStrike">
                <a:solidFill>
                  <a:srgbClr val="FFFFFF"/>
                </a:solidFill>
                <a:latin typeface="Arial"/>
                <a:ea typeface="Arial"/>
                <a:cs typeface="Arial"/>
                <a:sym typeface="Arial"/>
              </a:rPr>
              <a:t>Here is the problem. Here is the method used to investigate it. Here is the evidence. Here is what the evidence supports. Here is what remains limited or uncertain.</a:t>
            </a:r>
            <a:endParaRPr b="0" i="0" sz="1900" u="none" cap="none" strike="noStrike">
              <a:solidFill>
                <a:schemeClr val="dk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124" name="Shape 124"/>
        <p:cNvGrpSpPr/>
        <p:nvPr/>
      </p:nvGrpSpPr>
      <p:grpSpPr>
        <a:xfrm>
          <a:off x="0" y="0"/>
          <a:ext cx="0" cy="0"/>
          <a:chOff x="0" y="0"/>
          <a:chExt cx="0" cy="0"/>
        </a:xfrm>
      </p:grpSpPr>
      <p:sp>
        <p:nvSpPr>
          <p:cNvPr id="125" name="Google Shape;125;p8"/>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8"/>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8"/>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8"/>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SCIENTIFIC REPORTING</a:t>
            </a:r>
            <a:endParaRPr b="0" i="0" sz="1000" u="none" cap="none" strike="noStrike">
              <a:solidFill>
                <a:schemeClr val="dk1"/>
              </a:solidFill>
              <a:latin typeface="Arial"/>
              <a:ea typeface="Arial"/>
              <a:cs typeface="Arial"/>
              <a:sym typeface="Arial"/>
            </a:endParaRPr>
          </a:p>
        </p:txBody>
      </p:sp>
      <p:sp>
        <p:nvSpPr>
          <p:cNvPr id="129" name="Google Shape;129;p8"/>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STARLAB</a:t>
            </a:r>
            <a:endParaRPr b="0" i="0" sz="1000" u="none" cap="none" strike="noStrike">
              <a:solidFill>
                <a:schemeClr val="dk1"/>
              </a:solidFill>
              <a:latin typeface="Arial"/>
              <a:ea typeface="Arial"/>
              <a:cs typeface="Arial"/>
              <a:sym typeface="Arial"/>
            </a:endParaRPr>
          </a:p>
        </p:txBody>
      </p:sp>
      <p:sp>
        <p:nvSpPr>
          <p:cNvPr id="130" name="Google Shape;130;p8"/>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DECK 13</a:t>
            </a:r>
            <a:endParaRPr b="0" i="0" sz="1100" u="none" cap="none" strike="noStrike">
              <a:solidFill>
                <a:schemeClr val="dk1"/>
              </a:solidFill>
              <a:latin typeface="Arial"/>
              <a:ea typeface="Arial"/>
              <a:cs typeface="Arial"/>
              <a:sym typeface="Arial"/>
            </a:endParaRPr>
          </a:p>
        </p:txBody>
      </p:sp>
      <p:sp>
        <p:nvSpPr>
          <p:cNvPr id="131" name="Google Shape;131;p8"/>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Title and Abstract or Summary</a:t>
            </a:r>
            <a:endParaRPr b="0" i="0" sz="2800" u="none" cap="none" strike="noStrike">
              <a:solidFill>
                <a:schemeClr val="dk1"/>
              </a:solidFill>
              <a:latin typeface="Arial"/>
              <a:ea typeface="Arial"/>
              <a:cs typeface="Arial"/>
              <a:sym typeface="Arial"/>
            </a:endParaRPr>
          </a:p>
        </p:txBody>
      </p:sp>
      <p:sp>
        <p:nvSpPr>
          <p:cNvPr id="132" name="Google Shape;132;p8"/>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b="0" i="0" lang="en-US" sz="1200" u="none" cap="none" strike="noStrike">
                <a:solidFill>
                  <a:srgbClr val="B8B8B8"/>
                </a:solidFill>
                <a:latin typeface="Arial"/>
                <a:ea typeface="Arial"/>
                <a:cs typeface="Arial"/>
                <a:sym typeface="Arial"/>
              </a:rPr>
              <a:t>The smallest sections often do important work.</a:t>
            </a:r>
            <a:endParaRPr b="0" i="0" sz="1200" u="none" cap="none" strike="noStrike">
              <a:solidFill>
                <a:schemeClr val="dk1"/>
              </a:solidFill>
              <a:latin typeface="Arial"/>
              <a:ea typeface="Arial"/>
              <a:cs typeface="Arial"/>
              <a:sym typeface="Arial"/>
            </a:endParaRPr>
          </a:p>
        </p:txBody>
      </p:sp>
      <p:cxnSp>
        <p:nvCxnSpPr>
          <p:cNvPr id="133" name="Google Shape;133;p8"/>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134" name="Google Shape;134;p8"/>
          <p:cNvSpPr/>
          <p:nvPr/>
        </p:nvSpPr>
        <p:spPr>
          <a:xfrm>
            <a:off x="868680" y="1828800"/>
            <a:ext cx="5074920" cy="3108960"/>
          </a:xfrm>
          <a:prstGeom prst="roundRect">
            <a:avLst>
              <a:gd fmla="val 1765"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8"/>
          <p:cNvSpPr/>
          <p:nvPr/>
        </p:nvSpPr>
        <p:spPr>
          <a:xfrm>
            <a:off x="1033272" y="1965960"/>
            <a:ext cx="47457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TITLE</a:t>
            </a:r>
            <a:endParaRPr b="0" i="0" sz="1200" u="none" cap="none" strike="noStrike">
              <a:solidFill>
                <a:schemeClr val="dk1"/>
              </a:solidFill>
              <a:latin typeface="Arial"/>
              <a:ea typeface="Arial"/>
              <a:cs typeface="Arial"/>
              <a:sym typeface="Arial"/>
            </a:endParaRPr>
          </a:p>
        </p:txBody>
      </p:sp>
      <p:sp>
        <p:nvSpPr>
          <p:cNvPr id="136" name="Google Shape;136;p8"/>
          <p:cNvSpPr/>
          <p:nvPr/>
        </p:nvSpPr>
        <p:spPr>
          <a:xfrm>
            <a:off x="1033272" y="2331720"/>
            <a:ext cx="4745736" cy="24505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A strong title names the project focus. It is specific enough to tell the reader what was studied, tested, built, or compared.</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Avoid: “My STARLAB Project”</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Better: “Effect of Blade Angle on Model Wind Turbine Voltage Output”</a:t>
            </a:r>
            <a:endParaRPr b="0" i="0" sz="1600" u="none" cap="none" strike="noStrike">
              <a:solidFill>
                <a:schemeClr val="dk1"/>
              </a:solidFill>
              <a:latin typeface="Arial"/>
              <a:ea typeface="Arial"/>
              <a:cs typeface="Arial"/>
              <a:sym typeface="Arial"/>
            </a:endParaRPr>
          </a:p>
        </p:txBody>
      </p:sp>
      <p:sp>
        <p:nvSpPr>
          <p:cNvPr id="137" name="Google Shape;137;p8"/>
          <p:cNvSpPr/>
          <p:nvPr/>
        </p:nvSpPr>
        <p:spPr>
          <a:xfrm>
            <a:off x="6263640" y="1828800"/>
            <a:ext cx="5074920" cy="3108960"/>
          </a:xfrm>
          <a:prstGeom prst="roundRect">
            <a:avLst>
              <a:gd fmla="val 1765"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8"/>
          <p:cNvSpPr/>
          <p:nvPr/>
        </p:nvSpPr>
        <p:spPr>
          <a:xfrm>
            <a:off x="6428232" y="1965960"/>
            <a:ext cx="47457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ABSTRACT / SUMMARY</a:t>
            </a:r>
            <a:endParaRPr b="0" i="0" sz="1200" u="none" cap="none" strike="noStrike">
              <a:solidFill>
                <a:schemeClr val="dk1"/>
              </a:solidFill>
              <a:latin typeface="Arial"/>
              <a:ea typeface="Arial"/>
              <a:cs typeface="Arial"/>
              <a:sym typeface="Arial"/>
            </a:endParaRPr>
          </a:p>
        </p:txBody>
      </p:sp>
      <p:sp>
        <p:nvSpPr>
          <p:cNvPr id="139" name="Google Shape;139;p8"/>
          <p:cNvSpPr/>
          <p:nvPr/>
        </p:nvSpPr>
        <p:spPr>
          <a:xfrm>
            <a:off x="6428232" y="2331720"/>
            <a:ext cx="4745736" cy="24505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A brief overview of the whole project: purpose, method, major result, and conclusion. Teachers may decide whether this is required for the report.</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chemeClr val="dk1"/>
              </a:buClr>
              <a:buSzPts val="1600"/>
              <a:buFont typeface="Arial"/>
              <a:buNone/>
            </a:pPr>
            <a:r>
              <a:t/>
            </a:r>
            <a:endParaRPr b="0" i="0" sz="1600" u="none" cap="none" strike="noStrike">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Write it last, even though it appears first.</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144" name="Shape 144"/>
        <p:cNvGrpSpPr/>
        <p:nvPr/>
      </p:nvGrpSpPr>
      <p:grpSpPr>
        <a:xfrm>
          <a:off x="0" y="0"/>
          <a:ext cx="0" cy="0"/>
          <a:chOff x="0" y="0"/>
          <a:chExt cx="0" cy="0"/>
        </a:xfrm>
      </p:grpSpPr>
      <p:sp>
        <p:nvSpPr>
          <p:cNvPr id="145" name="Google Shape;145;p9"/>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9"/>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9"/>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9"/>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SCIENTIFIC REPORTING</a:t>
            </a:r>
            <a:endParaRPr b="0" i="0" sz="1000" u="none" cap="none" strike="noStrike">
              <a:solidFill>
                <a:schemeClr val="dk1"/>
              </a:solidFill>
              <a:latin typeface="Arial"/>
              <a:ea typeface="Arial"/>
              <a:cs typeface="Arial"/>
              <a:sym typeface="Arial"/>
            </a:endParaRPr>
          </a:p>
        </p:txBody>
      </p:sp>
      <p:sp>
        <p:nvSpPr>
          <p:cNvPr id="149" name="Google Shape;149;p9"/>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STARLAB</a:t>
            </a:r>
            <a:endParaRPr b="0" i="0" sz="1000" u="none" cap="none" strike="noStrike">
              <a:solidFill>
                <a:schemeClr val="dk1"/>
              </a:solidFill>
              <a:latin typeface="Arial"/>
              <a:ea typeface="Arial"/>
              <a:cs typeface="Arial"/>
              <a:sym typeface="Arial"/>
            </a:endParaRPr>
          </a:p>
        </p:txBody>
      </p:sp>
      <p:sp>
        <p:nvSpPr>
          <p:cNvPr id="150" name="Google Shape;150;p9"/>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DECK 13</a:t>
            </a:r>
            <a:endParaRPr b="0" i="0" sz="1100" u="none" cap="none" strike="noStrike">
              <a:solidFill>
                <a:schemeClr val="dk1"/>
              </a:solidFill>
              <a:latin typeface="Arial"/>
              <a:ea typeface="Arial"/>
              <a:cs typeface="Arial"/>
              <a:sym typeface="Arial"/>
            </a:endParaRPr>
          </a:p>
        </p:txBody>
      </p:sp>
      <p:sp>
        <p:nvSpPr>
          <p:cNvPr id="151" name="Google Shape;151;p9"/>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Introduction: Prepare the Reader</a:t>
            </a:r>
            <a:endParaRPr b="0" i="0" sz="2800" u="none" cap="none" strike="noStrike">
              <a:solidFill>
                <a:schemeClr val="dk1"/>
              </a:solidFill>
              <a:latin typeface="Arial"/>
              <a:ea typeface="Arial"/>
              <a:cs typeface="Arial"/>
              <a:sym typeface="Arial"/>
            </a:endParaRPr>
          </a:p>
        </p:txBody>
      </p:sp>
      <p:sp>
        <p:nvSpPr>
          <p:cNvPr id="152" name="Google Shape;152;p9"/>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b="0" i="0" lang="en-US" sz="1200" u="none" cap="none" strike="noStrike">
                <a:solidFill>
                  <a:srgbClr val="B8B8B8"/>
                </a:solidFill>
                <a:latin typeface="Arial"/>
                <a:ea typeface="Arial"/>
                <a:cs typeface="Arial"/>
                <a:sym typeface="Arial"/>
              </a:rPr>
              <a:t>The introduction moves from context to a focused question.</a:t>
            </a:r>
            <a:endParaRPr b="0" i="0" sz="1200" u="none" cap="none" strike="noStrike">
              <a:solidFill>
                <a:schemeClr val="dk1"/>
              </a:solidFill>
              <a:latin typeface="Arial"/>
              <a:ea typeface="Arial"/>
              <a:cs typeface="Arial"/>
              <a:sym typeface="Arial"/>
            </a:endParaRPr>
          </a:p>
        </p:txBody>
      </p:sp>
      <p:cxnSp>
        <p:nvCxnSpPr>
          <p:cNvPr id="153" name="Google Shape;153;p9"/>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154" name="Google Shape;154;p9"/>
          <p:cNvSpPr/>
          <p:nvPr/>
        </p:nvSpPr>
        <p:spPr>
          <a:xfrm>
            <a:off x="914400" y="1828800"/>
            <a:ext cx="1033272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100"/>
              <a:buFont typeface="Play"/>
              <a:buNone/>
            </a:pPr>
            <a:r>
              <a:rPr b="1" i="0" lang="en-US" sz="2100" u="none" cap="none" strike="noStrike">
                <a:solidFill>
                  <a:srgbClr val="FFFFFF"/>
                </a:solidFill>
                <a:latin typeface="Play"/>
                <a:ea typeface="Play"/>
                <a:cs typeface="Play"/>
                <a:sym typeface="Play"/>
              </a:rPr>
              <a:t>Broad context → specific background → problem or gap → research question or goal → hypothesis or design criteria</a:t>
            </a:r>
            <a:endParaRPr b="0" i="0" sz="2100" u="none" cap="none" strike="noStrike">
              <a:solidFill>
                <a:schemeClr val="dk1"/>
              </a:solidFill>
              <a:latin typeface="Arial"/>
              <a:ea typeface="Arial"/>
              <a:cs typeface="Arial"/>
              <a:sym typeface="Arial"/>
            </a:endParaRPr>
          </a:p>
        </p:txBody>
      </p:sp>
      <p:sp>
        <p:nvSpPr>
          <p:cNvPr id="155" name="Google Shape;155;p9"/>
          <p:cNvSpPr/>
          <p:nvPr/>
        </p:nvSpPr>
        <p:spPr>
          <a:xfrm>
            <a:off x="914400" y="2743200"/>
            <a:ext cx="3154680" cy="1965960"/>
          </a:xfrm>
          <a:prstGeom prst="roundRect">
            <a:avLst>
              <a:gd fmla="val 2791"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9"/>
          <p:cNvSpPr/>
          <p:nvPr/>
        </p:nvSpPr>
        <p:spPr>
          <a:xfrm>
            <a:off x="1078992" y="2880360"/>
            <a:ext cx="282549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DO</a:t>
            </a:r>
            <a:endParaRPr b="0" i="0" sz="1200" u="none" cap="none" strike="noStrike">
              <a:solidFill>
                <a:schemeClr val="dk1"/>
              </a:solidFill>
              <a:latin typeface="Arial"/>
              <a:ea typeface="Arial"/>
              <a:cs typeface="Arial"/>
              <a:sym typeface="Arial"/>
            </a:endParaRPr>
          </a:p>
        </p:txBody>
      </p:sp>
      <p:sp>
        <p:nvSpPr>
          <p:cNvPr id="157" name="Google Shape;157;p9"/>
          <p:cNvSpPr/>
          <p:nvPr/>
        </p:nvSpPr>
        <p:spPr>
          <a:xfrm>
            <a:off x="1078992" y="3246120"/>
            <a:ext cx="2825496" cy="13075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Explain why the topic matters. Define key ideas. Introduce the problem. State the research question or engineering goal.</a:t>
            </a:r>
            <a:endParaRPr b="0" i="0" sz="1600" u="none" cap="none" strike="noStrike">
              <a:solidFill>
                <a:schemeClr val="dk1"/>
              </a:solidFill>
              <a:latin typeface="Arial"/>
              <a:ea typeface="Arial"/>
              <a:cs typeface="Arial"/>
              <a:sym typeface="Arial"/>
            </a:endParaRPr>
          </a:p>
        </p:txBody>
      </p:sp>
      <p:sp>
        <p:nvSpPr>
          <p:cNvPr id="158" name="Google Shape;158;p9"/>
          <p:cNvSpPr/>
          <p:nvPr/>
        </p:nvSpPr>
        <p:spPr>
          <a:xfrm>
            <a:off x="4526280" y="2743200"/>
            <a:ext cx="3154680" cy="1965960"/>
          </a:xfrm>
          <a:prstGeom prst="roundRect">
            <a:avLst>
              <a:gd fmla="val 2791"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9"/>
          <p:cNvSpPr/>
          <p:nvPr/>
        </p:nvSpPr>
        <p:spPr>
          <a:xfrm>
            <a:off x="4690872" y="2880360"/>
            <a:ext cx="282549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DO NOT</a:t>
            </a:r>
            <a:endParaRPr b="0" i="0" sz="1200" u="none" cap="none" strike="noStrike">
              <a:solidFill>
                <a:schemeClr val="dk1"/>
              </a:solidFill>
              <a:latin typeface="Arial"/>
              <a:ea typeface="Arial"/>
              <a:cs typeface="Arial"/>
              <a:sym typeface="Arial"/>
            </a:endParaRPr>
          </a:p>
        </p:txBody>
      </p:sp>
      <p:sp>
        <p:nvSpPr>
          <p:cNvPr id="160" name="Google Shape;160;p9"/>
          <p:cNvSpPr/>
          <p:nvPr/>
        </p:nvSpPr>
        <p:spPr>
          <a:xfrm>
            <a:off x="4690872" y="3246120"/>
            <a:ext cx="2825496" cy="13075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Describe every step of the procedure. Dump unrelated facts. Start too broad and never narrow.</a:t>
            </a:r>
            <a:endParaRPr b="0" i="0" sz="1600" u="none" cap="none" strike="noStrike">
              <a:solidFill>
                <a:schemeClr val="dk1"/>
              </a:solidFill>
              <a:latin typeface="Arial"/>
              <a:ea typeface="Arial"/>
              <a:cs typeface="Arial"/>
              <a:sym typeface="Arial"/>
            </a:endParaRPr>
          </a:p>
        </p:txBody>
      </p:sp>
      <p:sp>
        <p:nvSpPr>
          <p:cNvPr id="161" name="Google Shape;161;p9"/>
          <p:cNvSpPr/>
          <p:nvPr/>
        </p:nvSpPr>
        <p:spPr>
          <a:xfrm>
            <a:off x="8138160" y="2743200"/>
            <a:ext cx="3154680" cy="1965960"/>
          </a:xfrm>
          <a:prstGeom prst="roundRect">
            <a:avLst>
              <a:gd fmla="val 2791" name="adj"/>
            </a:avLst>
          </a:prstGeom>
          <a:solidFill>
            <a:srgbClr val="101010"/>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9"/>
          <p:cNvSpPr/>
          <p:nvPr/>
        </p:nvSpPr>
        <p:spPr>
          <a:xfrm>
            <a:off x="8302752" y="2880360"/>
            <a:ext cx="282549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i="0" lang="en-US" sz="1200" u="none" cap="none" strike="noStrike">
                <a:solidFill>
                  <a:srgbClr val="E22B27"/>
                </a:solidFill>
                <a:latin typeface="Arial"/>
                <a:ea typeface="Arial"/>
                <a:cs typeface="Arial"/>
                <a:sym typeface="Arial"/>
              </a:rPr>
              <a:t>CHECK</a:t>
            </a:r>
            <a:endParaRPr b="0" i="0" sz="1200" u="none" cap="none" strike="noStrike">
              <a:solidFill>
                <a:schemeClr val="dk1"/>
              </a:solidFill>
              <a:latin typeface="Arial"/>
              <a:ea typeface="Arial"/>
              <a:cs typeface="Arial"/>
              <a:sym typeface="Arial"/>
            </a:endParaRPr>
          </a:p>
        </p:txBody>
      </p:sp>
      <p:sp>
        <p:nvSpPr>
          <p:cNvPr id="163" name="Google Shape;163;p9"/>
          <p:cNvSpPr/>
          <p:nvPr/>
        </p:nvSpPr>
        <p:spPr>
          <a:xfrm>
            <a:off x="8302752" y="3246120"/>
            <a:ext cx="2825496" cy="13075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Would a reader understand why this project was worth doing before they read the methods?</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168" name="Shape 168"/>
        <p:cNvGrpSpPr/>
        <p:nvPr/>
      </p:nvGrpSpPr>
      <p:grpSpPr>
        <a:xfrm>
          <a:off x="0" y="0"/>
          <a:ext cx="0" cy="0"/>
          <a:chOff x="0" y="0"/>
          <a:chExt cx="0" cy="0"/>
        </a:xfrm>
      </p:grpSpPr>
      <p:sp>
        <p:nvSpPr>
          <p:cNvPr id="169" name="Google Shape;169;p10"/>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0"/>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10"/>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10"/>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SCIENTIFIC REPORTING</a:t>
            </a:r>
            <a:endParaRPr b="0" i="0" sz="1000" u="none" cap="none" strike="noStrike">
              <a:solidFill>
                <a:schemeClr val="dk1"/>
              </a:solidFill>
              <a:latin typeface="Arial"/>
              <a:ea typeface="Arial"/>
              <a:cs typeface="Arial"/>
              <a:sym typeface="Arial"/>
            </a:endParaRPr>
          </a:p>
        </p:txBody>
      </p:sp>
      <p:sp>
        <p:nvSpPr>
          <p:cNvPr id="173" name="Google Shape;173;p10"/>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i="0" lang="en-US" sz="1000" u="none" cap="none" strike="noStrike">
                <a:solidFill>
                  <a:srgbClr val="B8B8B8"/>
                </a:solidFill>
                <a:latin typeface="Arial"/>
                <a:ea typeface="Arial"/>
                <a:cs typeface="Arial"/>
                <a:sym typeface="Arial"/>
              </a:rPr>
              <a:t>STARLAB</a:t>
            </a:r>
            <a:endParaRPr b="0" i="0" sz="1000" u="none" cap="none" strike="noStrike">
              <a:solidFill>
                <a:schemeClr val="dk1"/>
              </a:solidFill>
              <a:latin typeface="Arial"/>
              <a:ea typeface="Arial"/>
              <a:cs typeface="Arial"/>
              <a:sym typeface="Arial"/>
            </a:endParaRPr>
          </a:p>
        </p:txBody>
      </p:sp>
      <p:sp>
        <p:nvSpPr>
          <p:cNvPr id="174" name="Google Shape;174;p10"/>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i="0" lang="en-US" sz="1100" u="none" cap="none" strike="noStrike">
                <a:solidFill>
                  <a:srgbClr val="E22B27"/>
                </a:solidFill>
                <a:latin typeface="Arial"/>
                <a:ea typeface="Arial"/>
                <a:cs typeface="Arial"/>
                <a:sym typeface="Arial"/>
              </a:rPr>
              <a:t>DECK 13</a:t>
            </a:r>
            <a:endParaRPr b="0" i="0" sz="1100" u="none" cap="none" strike="noStrike">
              <a:solidFill>
                <a:schemeClr val="dk1"/>
              </a:solidFill>
              <a:latin typeface="Arial"/>
              <a:ea typeface="Arial"/>
              <a:cs typeface="Arial"/>
              <a:sym typeface="Arial"/>
            </a:endParaRPr>
          </a:p>
        </p:txBody>
      </p:sp>
      <p:sp>
        <p:nvSpPr>
          <p:cNvPr id="175" name="Google Shape;175;p10"/>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i="0" lang="en-US" sz="2800" u="none" cap="none" strike="noStrike">
                <a:solidFill>
                  <a:srgbClr val="FFFFFF"/>
                </a:solidFill>
                <a:latin typeface="Play"/>
                <a:ea typeface="Play"/>
                <a:cs typeface="Play"/>
                <a:sym typeface="Play"/>
              </a:rPr>
              <a:t>Methods: Make the Work Reviewable</a:t>
            </a:r>
            <a:endParaRPr b="0" i="0" sz="2800" u="none" cap="none" strike="noStrike">
              <a:solidFill>
                <a:schemeClr val="dk1"/>
              </a:solidFill>
              <a:latin typeface="Arial"/>
              <a:ea typeface="Arial"/>
              <a:cs typeface="Arial"/>
              <a:sym typeface="Arial"/>
            </a:endParaRPr>
          </a:p>
        </p:txBody>
      </p:sp>
      <p:sp>
        <p:nvSpPr>
          <p:cNvPr id="176" name="Google Shape;176;p10"/>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b="0" i="0" lang="en-US" sz="1200" u="none" cap="none" strike="noStrike">
                <a:solidFill>
                  <a:srgbClr val="B8B8B8"/>
                </a:solidFill>
                <a:latin typeface="Arial"/>
                <a:ea typeface="Arial"/>
                <a:cs typeface="Arial"/>
                <a:sym typeface="Arial"/>
              </a:rPr>
              <a:t>A reader should understand what was done well enough to evaluate the research.</a:t>
            </a:r>
            <a:endParaRPr b="0" i="0" sz="1200" u="none" cap="none" strike="noStrike">
              <a:solidFill>
                <a:schemeClr val="dk1"/>
              </a:solidFill>
              <a:latin typeface="Arial"/>
              <a:ea typeface="Arial"/>
              <a:cs typeface="Arial"/>
              <a:sym typeface="Arial"/>
            </a:endParaRPr>
          </a:p>
        </p:txBody>
      </p:sp>
      <p:cxnSp>
        <p:nvCxnSpPr>
          <p:cNvPr id="177" name="Google Shape;177;p10"/>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178" name="Google Shape;178;p10"/>
          <p:cNvSpPr/>
          <p:nvPr/>
        </p:nvSpPr>
        <p:spPr>
          <a:xfrm>
            <a:off x="960120" y="1828800"/>
            <a:ext cx="10149840" cy="3474720"/>
          </a:xfrm>
          <a:prstGeom prst="rect">
            <a:avLst/>
          </a:prstGeom>
          <a:noFill/>
          <a:ln>
            <a:noFill/>
          </a:ln>
        </p:spPr>
        <p:txBody>
          <a:bodyPr anchorCtr="0" anchor="ctr" bIns="1000" lIns="1000" spcFirstLastPara="1" rIns="1000" wrap="square" tIns="1000">
            <a:noAutofit/>
          </a:bodyPr>
          <a:lstStyle/>
          <a:p>
            <a:pPr indent="0" lvl="0" marL="0" marR="0" rtl="0" algn="l">
              <a:spcBef>
                <a:spcPts val="0"/>
              </a:spcBef>
              <a:spcAft>
                <a:spcPts val="0"/>
              </a:spcAft>
              <a:buNone/>
            </a:pPr>
            <a:r>
              <a:rPr b="0" i="0" lang="en-US" sz="2100" u="none" cap="none" strike="noStrike">
                <a:solidFill>
                  <a:srgbClr val="FFFFFF"/>
                </a:solidFill>
                <a:latin typeface="Arial"/>
                <a:ea typeface="Arial"/>
                <a:cs typeface="Arial"/>
                <a:sym typeface="Arial"/>
              </a:rPr>
              <a:t>Materials, tools, software, or data sources</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Variables, controls, criteria, constraints, or performance metrics</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Procedure or testing protocol</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Number of trials, samples, observations, or iterations</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Measurement and data recording methods</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Safety or ethical considerations when relevant</a:t>
            </a:r>
            <a:endParaRPr sz="2100">
              <a:solidFill>
                <a:schemeClr val="dk1"/>
              </a:solidFill>
              <a:latin typeface="Arial"/>
              <a:ea typeface="Arial"/>
              <a:cs typeface="Arial"/>
              <a:sym typeface="Arial"/>
            </a:endParaRPr>
          </a:p>
        </p:txBody>
      </p:sp>
      <p:sp>
        <p:nvSpPr>
          <p:cNvPr id="179" name="Google Shape;179;p10"/>
          <p:cNvSpPr/>
          <p:nvPr/>
        </p:nvSpPr>
        <p:spPr>
          <a:xfrm>
            <a:off x="914400" y="5623560"/>
            <a:ext cx="1033272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22B27"/>
              </a:buClr>
              <a:buSzPts val="2300"/>
              <a:buFont typeface="Play"/>
              <a:buNone/>
            </a:pPr>
            <a:r>
              <a:rPr b="1" lang="en-US" sz="2300">
                <a:solidFill>
                  <a:srgbClr val="E22B27"/>
                </a:solidFill>
                <a:latin typeface="Play"/>
                <a:ea typeface="Play"/>
                <a:cs typeface="Play"/>
                <a:sym typeface="Play"/>
              </a:rPr>
              <a:t>Core question: Could someone understand and evaluate the method without interviewing you?</a:t>
            </a:r>
            <a:endParaRPr sz="2300">
              <a:solidFill>
                <a:schemeClr val="dk1"/>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184" name="Shape 184"/>
        <p:cNvGrpSpPr/>
        <p:nvPr/>
      </p:nvGrpSpPr>
      <p:grpSpPr>
        <a:xfrm>
          <a:off x="0" y="0"/>
          <a:ext cx="0" cy="0"/>
          <a:chOff x="0" y="0"/>
          <a:chExt cx="0" cy="0"/>
        </a:xfrm>
      </p:grpSpPr>
      <p:sp>
        <p:nvSpPr>
          <p:cNvPr id="185" name="Google Shape;185;p11"/>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11"/>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11"/>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1"/>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SCIENTIFIC REPORTING</a:t>
            </a:r>
            <a:endParaRPr sz="1000">
              <a:solidFill>
                <a:schemeClr val="dk1"/>
              </a:solidFill>
              <a:latin typeface="Arial"/>
              <a:ea typeface="Arial"/>
              <a:cs typeface="Arial"/>
              <a:sym typeface="Arial"/>
            </a:endParaRPr>
          </a:p>
        </p:txBody>
      </p:sp>
      <p:sp>
        <p:nvSpPr>
          <p:cNvPr id="189" name="Google Shape;189;p11"/>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190" name="Google Shape;190;p11"/>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13</a:t>
            </a:r>
            <a:endParaRPr sz="1100">
              <a:solidFill>
                <a:schemeClr val="dk1"/>
              </a:solidFill>
              <a:latin typeface="Arial"/>
              <a:ea typeface="Arial"/>
              <a:cs typeface="Arial"/>
              <a:sym typeface="Arial"/>
            </a:endParaRPr>
          </a:p>
        </p:txBody>
      </p:sp>
      <p:sp>
        <p:nvSpPr>
          <p:cNvPr id="191" name="Google Shape;191;p11"/>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Results: Present the Evidence</a:t>
            </a:r>
            <a:endParaRPr sz="2800">
              <a:solidFill>
                <a:schemeClr val="dk1"/>
              </a:solidFill>
              <a:latin typeface="Arial"/>
              <a:ea typeface="Arial"/>
              <a:cs typeface="Arial"/>
              <a:sym typeface="Arial"/>
            </a:endParaRPr>
          </a:p>
        </p:txBody>
      </p:sp>
      <p:sp>
        <p:nvSpPr>
          <p:cNvPr id="192" name="Google Shape;192;p11"/>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Results show what happened before explaining what it means.</a:t>
            </a:r>
            <a:endParaRPr sz="1200">
              <a:solidFill>
                <a:schemeClr val="dk1"/>
              </a:solidFill>
              <a:latin typeface="Arial"/>
              <a:ea typeface="Arial"/>
              <a:cs typeface="Arial"/>
              <a:sym typeface="Arial"/>
            </a:endParaRPr>
          </a:p>
        </p:txBody>
      </p:sp>
      <p:cxnSp>
        <p:nvCxnSpPr>
          <p:cNvPr id="193" name="Google Shape;193;p11"/>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194" name="Google Shape;194;p11"/>
          <p:cNvSpPr/>
          <p:nvPr/>
        </p:nvSpPr>
        <p:spPr>
          <a:xfrm>
            <a:off x="914400" y="1828800"/>
            <a:ext cx="3200400" cy="3017520"/>
          </a:xfrm>
          <a:prstGeom prst="roundRect">
            <a:avLst>
              <a:gd fmla="val 1818"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1"/>
          <p:cNvSpPr/>
          <p:nvPr/>
        </p:nvSpPr>
        <p:spPr>
          <a:xfrm>
            <a:off x="1078992" y="1965960"/>
            <a:ext cx="287121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WHAT BELONGS HERE</a:t>
            </a:r>
            <a:endParaRPr sz="1200">
              <a:solidFill>
                <a:schemeClr val="dk1"/>
              </a:solidFill>
              <a:latin typeface="Arial"/>
              <a:ea typeface="Arial"/>
              <a:cs typeface="Arial"/>
              <a:sym typeface="Arial"/>
            </a:endParaRPr>
          </a:p>
        </p:txBody>
      </p:sp>
      <p:sp>
        <p:nvSpPr>
          <p:cNvPr id="196" name="Google Shape;196;p11"/>
          <p:cNvSpPr/>
          <p:nvPr/>
        </p:nvSpPr>
        <p:spPr>
          <a:xfrm>
            <a:off x="1078992" y="2331720"/>
            <a:ext cx="2871216" cy="23591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Graphs</a:t>
            </a:r>
            <a:endParaRPr sz="1800">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Tables</a:t>
            </a:r>
            <a:endParaRPr sz="1800">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Images</a:t>
            </a:r>
            <a:endParaRPr sz="1800">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Diagrams</a:t>
            </a:r>
            <a:endParaRPr sz="1800">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Numerical summaries</a:t>
            </a:r>
            <a:endParaRPr sz="1800">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Written results statements</a:t>
            </a:r>
            <a:endParaRPr sz="1800">
              <a:solidFill>
                <a:schemeClr val="dk1"/>
              </a:solidFill>
              <a:latin typeface="Arial"/>
              <a:ea typeface="Arial"/>
              <a:cs typeface="Arial"/>
              <a:sym typeface="Arial"/>
            </a:endParaRPr>
          </a:p>
        </p:txBody>
      </p:sp>
      <p:sp>
        <p:nvSpPr>
          <p:cNvPr id="197" name="Google Shape;197;p11"/>
          <p:cNvSpPr/>
          <p:nvPr/>
        </p:nvSpPr>
        <p:spPr>
          <a:xfrm>
            <a:off x="4526280" y="1828800"/>
            <a:ext cx="3200400" cy="3017520"/>
          </a:xfrm>
          <a:prstGeom prst="roundRect">
            <a:avLst>
              <a:gd fmla="val 1818"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11"/>
          <p:cNvSpPr/>
          <p:nvPr/>
        </p:nvSpPr>
        <p:spPr>
          <a:xfrm>
            <a:off x="4690872" y="1965960"/>
            <a:ext cx="287121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RESULTS LANGUAGE</a:t>
            </a:r>
            <a:endParaRPr sz="1200">
              <a:solidFill>
                <a:schemeClr val="dk1"/>
              </a:solidFill>
              <a:latin typeface="Arial"/>
              <a:ea typeface="Arial"/>
              <a:cs typeface="Arial"/>
              <a:sym typeface="Arial"/>
            </a:endParaRPr>
          </a:p>
        </p:txBody>
      </p:sp>
      <p:sp>
        <p:nvSpPr>
          <p:cNvPr id="199" name="Google Shape;199;p11"/>
          <p:cNvSpPr/>
          <p:nvPr/>
        </p:nvSpPr>
        <p:spPr>
          <a:xfrm>
            <a:off x="4690872" y="2331720"/>
            <a:ext cx="2871216" cy="23591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The average was...</a:t>
            </a:r>
            <a:endParaRPr sz="1800">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The highest value occurred...</a:t>
            </a:r>
            <a:endParaRPr sz="1800">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Figure 2 shows...</a:t>
            </a:r>
            <a:endParaRPr sz="1800">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Prototype B supported...</a:t>
            </a:r>
            <a:endParaRPr sz="1800">
              <a:solidFill>
                <a:schemeClr val="dk1"/>
              </a:solidFill>
              <a:latin typeface="Arial"/>
              <a:ea typeface="Arial"/>
              <a:cs typeface="Arial"/>
              <a:sym typeface="Arial"/>
            </a:endParaRPr>
          </a:p>
        </p:txBody>
      </p:sp>
      <p:sp>
        <p:nvSpPr>
          <p:cNvPr id="200" name="Google Shape;200;p11"/>
          <p:cNvSpPr/>
          <p:nvPr/>
        </p:nvSpPr>
        <p:spPr>
          <a:xfrm>
            <a:off x="8138160" y="1828800"/>
            <a:ext cx="3200400" cy="3017520"/>
          </a:xfrm>
          <a:prstGeom prst="roundRect">
            <a:avLst>
              <a:gd fmla="val 1818" name="adj"/>
            </a:avLst>
          </a:prstGeom>
          <a:solidFill>
            <a:srgbClr val="101010"/>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1"/>
          <p:cNvSpPr/>
          <p:nvPr/>
        </p:nvSpPr>
        <p:spPr>
          <a:xfrm>
            <a:off x="8302752" y="1965960"/>
            <a:ext cx="287121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SAVE FOR DISCUSSION</a:t>
            </a:r>
            <a:endParaRPr sz="1200">
              <a:solidFill>
                <a:schemeClr val="dk1"/>
              </a:solidFill>
              <a:latin typeface="Arial"/>
              <a:ea typeface="Arial"/>
              <a:cs typeface="Arial"/>
              <a:sym typeface="Arial"/>
            </a:endParaRPr>
          </a:p>
        </p:txBody>
      </p:sp>
      <p:sp>
        <p:nvSpPr>
          <p:cNvPr id="202" name="Google Shape;202;p11"/>
          <p:cNvSpPr/>
          <p:nvPr/>
        </p:nvSpPr>
        <p:spPr>
          <a:xfrm>
            <a:off x="8302752" y="2331720"/>
            <a:ext cx="2871216" cy="23591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Why it happened</a:t>
            </a:r>
            <a:endParaRPr sz="1800">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Whether it proves something</a:t>
            </a:r>
            <a:endParaRPr sz="1800">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What it means for society</a:t>
            </a:r>
            <a:endParaRPr sz="1800">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Future work</a:t>
            </a:r>
            <a:endParaRPr sz="1800">
              <a:solidFill>
                <a:schemeClr val="dk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207" name="Shape 207"/>
        <p:cNvGrpSpPr/>
        <p:nvPr/>
      </p:nvGrpSpPr>
      <p:grpSpPr>
        <a:xfrm>
          <a:off x="0" y="0"/>
          <a:ext cx="0" cy="0"/>
          <a:chOff x="0" y="0"/>
          <a:chExt cx="0" cy="0"/>
        </a:xfrm>
      </p:grpSpPr>
      <p:sp>
        <p:nvSpPr>
          <p:cNvPr id="208" name="Google Shape;208;p12"/>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12"/>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12"/>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2"/>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SCIENTIFIC REPORTING</a:t>
            </a:r>
            <a:endParaRPr sz="1000">
              <a:solidFill>
                <a:schemeClr val="dk1"/>
              </a:solidFill>
              <a:latin typeface="Arial"/>
              <a:ea typeface="Arial"/>
              <a:cs typeface="Arial"/>
              <a:sym typeface="Arial"/>
            </a:endParaRPr>
          </a:p>
        </p:txBody>
      </p:sp>
      <p:sp>
        <p:nvSpPr>
          <p:cNvPr id="212" name="Google Shape;212;p12"/>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213" name="Google Shape;213;p12"/>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13</a:t>
            </a:r>
            <a:endParaRPr sz="1100">
              <a:solidFill>
                <a:schemeClr val="dk1"/>
              </a:solidFill>
              <a:latin typeface="Arial"/>
              <a:ea typeface="Arial"/>
              <a:cs typeface="Arial"/>
              <a:sym typeface="Arial"/>
            </a:endParaRPr>
          </a:p>
        </p:txBody>
      </p:sp>
      <p:sp>
        <p:nvSpPr>
          <p:cNvPr id="214" name="Google Shape;214;p12"/>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Discussion: Explain What the Evidence Supports</a:t>
            </a:r>
            <a:endParaRPr sz="2800">
              <a:solidFill>
                <a:schemeClr val="dk1"/>
              </a:solidFill>
              <a:latin typeface="Arial"/>
              <a:ea typeface="Arial"/>
              <a:cs typeface="Arial"/>
              <a:sym typeface="Arial"/>
            </a:endParaRPr>
          </a:p>
        </p:txBody>
      </p:sp>
      <p:sp>
        <p:nvSpPr>
          <p:cNvPr id="215" name="Google Shape;215;p12"/>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This is where the report becomes scientific argument.</a:t>
            </a:r>
            <a:endParaRPr sz="1200">
              <a:solidFill>
                <a:schemeClr val="dk1"/>
              </a:solidFill>
              <a:latin typeface="Arial"/>
              <a:ea typeface="Arial"/>
              <a:cs typeface="Arial"/>
              <a:sym typeface="Arial"/>
            </a:endParaRPr>
          </a:p>
        </p:txBody>
      </p:sp>
      <p:cxnSp>
        <p:nvCxnSpPr>
          <p:cNvPr id="216" name="Google Shape;216;p12"/>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217" name="Google Shape;217;p12"/>
          <p:cNvSpPr/>
          <p:nvPr/>
        </p:nvSpPr>
        <p:spPr>
          <a:xfrm>
            <a:off x="713232" y="1719072"/>
            <a:ext cx="685800" cy="685800"/>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12"/>
          <p:cNvSpPr/>
          <p:nvPr/>
        </p:nvSpPr>
        <p:spPr>
          <a:xfrm>
            <a:off x="713232" y="1828800"/>
            <a:ext cx="68580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Play"/>
              <a:buNone/>
            </a:pPr>
            <a:r>
              <a:rPr b="1" lang="en-US" sz="1800">
                <a:solidFill>
                  <a:srgbClr val="FFFFFF"/>
                </a:solidFill>
                <a:latin typeface="Play"/>
                <a:ea typeface="Play"/>
                <a:cs typeface="Play"/>
                <a:sym typeface="Play"/>
              </a:rPr>
              <a:t>CER</a:t>
            </a:r>
            <a:endParaRPr sz="1800">
              <a:solidFill>
                <a:schemeClr val="dk1"/>
              </a:solidFill>
              <a:latin typeface="Arial"/>
              <a:ea typeface="Arial"/>
              <a:cs typeface="Arial"/>
              <a:sym typeface="Arial"/>
            </a:endParaRPr>
          </a:p>
        </p:txBody>
      </p:sp>
      <p:sp>
        <p:nvSpPr>
          <p:cNvPr id="219" name="Google Shape;219;p12"/>
          <p:cNvSpPr/>
          <p:nvPr/>
        </p:nvSpPr>
        <p:spPr>
          <a:xfrm>
            <a:off x="1600200" y="1700784"/>
            <a:ext cx="950976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400"/>
              <a:buFont typeface="Play"/>
              <a:buNone/>
            </a:pPr>
            <a:r>
              <a:rPr b="1" lang="en-US" sz="2400">
                <a:solidFill>
                  <a:srgbClr val="FFFFFF"/>
                </a:solidFill>
                <a:latin typeface="Play"/>
                <a:ea typeface="Play"/>
                <a:cs typeface="Play"/>
                <a:sym typeface="Play"/>
              </a:rPr>
              <a:t>Claim • Evidence • Reasoning</a:t>
            </a:r>
            <a:endParaRPr sz="2400">
              <a:solidFill>
                <a:schemeClr val="dk1"/>
              </a:solidFill>
              <a:latin typeface="Arial"/>
              <a:ea typeface="Arial"/>
              <a:cs typeface="Arial"/>
              <a:sym typeface="Arial"/>
            </a:endParaRPr>
          </a:p>
        </p:txBody>
      </p:sp>
      <p:sp>
        <p:nvSpPr>
          <p:cNvPr id="220" name="Google Shape;220;p12"/>
          <p:cNvSpPr/>
          <p:nvPr/>
        </p:nvSpPr>
        <p:spPr>
          <a:xfrm>
            <a:off x="914400" y="2743200"/>
            <a:ext cx="3246120" cy="2286000"/>
          </a:xfrm>
          <a:prstGeom prst="roundRect">
            <a:avLst>
              <a:gd fmla="val 2400"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2"/>
          <p:cNvSpPr/>
          <p:nvPr/>
        </p:nvSpPr>
        <p:spPr>
          <a:xfrm>
            <a:off x="1078992" y="2880360"/>
            <a:ext cx="29169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CLAIM</a:t>
            </a:r>
            <a:endParaRPr sz="1200">
              <a:solidFill>
                <a:schemeClr val="dk1"/>
              </a:solidFill>
              <a:latin typeface="Arial"/>
              <a:ea typeface="Arial"/>
              <a:cs typeface="Arial"/>
              <a:sym typeface="Arial"/>
            </a:endParaRPr>
          </a:p>
        </p:txBody>
      </p:sp>
      <p:sp>
        <p:nvSpPr>
          <p:cNvPr id="222" name="Google Shape;222;p12"/>
          <p:cNvSpPr/>
          <p:nvPr/>
        </p:nvSpPr>
        <p:spPr>
          <a:xfrm>
            <a:off x="1078992" y="3246120"/>
            <a:ext cx="2916936" cy="16276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2000"/>
              <a:buFont typeface="Arial"/>
              <a:buNone/>
            </a:pPr>
            <a:r>
              <a:rPr lang="en-US" sz="2000">
                <a:solidFill>
                  <a:srgbClr val="FFFFFF"/>
                </a:solidFill>
                <a:latin typeface="Arial"/>
                <a:ea typeface="Arial"/>
                <a:cs typeface="Arial"/>
                <a:sym typeface="Arial"/>
              </a:rPr>
              <a:t>What does the data suggest or support?</a:t>
            </a:r>
            <a:endParaRPr sz="2000">
              <a:solidFill>
                <a:schemeClr val="dk1"/>
              </a:solidFill>
              <a:latin typeface="Arial"/>
              <a:ea typeface="Arial"/>
              <a:cs typeface="Arial"/>
              <a:sym typeface="Arial"/>
            </a:endParaRPr>
          </a:p>
        </p:txBody>
      </p:sp>
      <p:sp>
        <p:nvSpPr>
          <p:cNvPr id="223" name="Google Shape;223;p12"/>
          <p:cNvSpPr/>
          <p:nvPr/>
        </p:nvSpPr>
        <p:spPr>
          <a:xfrm>
            <a:off x="4480560" y="2743200"/>
            <a:ext cx="3246120" cy="2286000"/>
          </a:xfrm>
          <a:prstGeom prst="roundRect">
            <a:avLst>
              <a:gd fmla="val 2400"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2"/>
          <p:cNvSpPr/>
          <p:nvPr/>
        </p:nvSpPr>
        <p:spPr>
          <a:xfrm>
            <a:off x="4645152" y="2880360"/>
            <a:ext cx="29169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EVIDENCE</a:t>
            </a:r>
            <a:endParaRPr sz="1200">
              <a:solidFill>
                <a:schemeClr val="dk1"/>
              </a:solidFill>
              <a:latin typeface="Arial"/>
              <a:ea typeface="Arial"/>
              <a:cs typeface="Arial"/>
              <a:sym typeface="Arial"/>
            </a:endParaRPr>
          </a:p>
        </p:txBody>
      </p:sp>
      <p:sp>
        <p:nvSpPr>
          <p:cNvPr id="225" name="Google Shape;225;p12"/>
          <p:cNvSpPr/>
          <p:nvPr/>
        </p:nvSpPr>
        <p:spPr>
          <a:xfrm>
            <a:off x="4645152" y="3246120"/>
            <a:ext cx="2916936" cy="16276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2000"/>
              <a:buFont typeface="Arial"/>
              <a:buNone/>
            </a:pPr>
            <a:r>
              <a:rPr lang="en-US" sz="2000">
                <a:solidFill>
                  <a:srgbClr val="FFFFFF"/>
                </a:solidFill>
                <a:latin typeface="Arial"/>
                <a:ea typeface="Arial"/>
                <a:cs typeface="Arial"/>
                <a:sym typeface="Arial"/>
              </a:rPr>
              <a:t>What specific data, graph, calculation, or observation supports it?</a:t>
            </a:r>
            <a:endParaRPr sz="2000">
              <a:solidFill>
                <a:schemeClr val="dk1"/>
              </a:solidFill>
              <a:latin typeface="Arial"/>
              <a:ea typeface="Arial"/>
              <a:cs typeface="Arial"/>
              <a:sym typeface="Arial"/>
            </a:endParaRPr>
          </a:p>
        </p:txBody>
      </p:sp>
      <p:sp>
        <p:nvSpPr>
          <p:cNvPr id="226" name="Google Shape;226;p12"/>
          <p:cNvSpPr/>
          <p:nvPr/>
        </p:nvSpPr>
        <p:spPr>
          <a:xfrm>
            <a:off x="8046720" y="2743200"/>
            <a:ext cx="3246120" cy="2286000"/>
          </a:xfrm>
          <a:prstGeom prst="roundRect">
            <a:avLst>
              <a:gd fmla="val 2400" name="adj"/>
            </a:avLst>
          </a:prstGeom>
          <a:solidFill>
            <a:srgbClr val="101010"/>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2"/>
          <p:cNvSpPr/>
          <p:nvPr/>
        </p:nvSpPr>
        <p:spPr>
          <a:xfrm>
            <a:off x="8211312" y="2880360"/>
            <a:ext cx="291693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REASONING</a:t>
            </a:r>
            <a:endParaRPr sz="1200">
              <a:solidFill>
                <a:schemeClr val="dk1"/>
              </a:solidFill>
              <a:latin typeface="Arial"/>
              <a:ea typeface="Arial"/>
              <a:cs typeface="Arial"/>
              <a:sym typeface="Arial"/>
            </a:endParaRPr>
          </a:p>
        </p:txBody>
      </p:sp>
      <p:sp>
        <p:nvSpPr>
          <p:cNvPr id="228" name="Google Shape;228;p12"/>
          <p:cNvSpPr/>
          <p:nvPr/>
        </p:nvSpPr>
        <p:spPr>
          <a:xfrm>
            <a:off x="8211312" y="3246120"/>
            <a:ext cx="2916936" cy="162763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2000"/>
              <a:buFont typeface="Arial"/>
              <a:buNone/>
            </a:pPr>
            <a:r>
              <a:rPr lang="en-US" sz="2000">
                <a:solidFill>
                  <a:srgbClr val="FFFFFF"/>
                </a:solidFill>
                <a:latin typeface="Arial"/>
                <a:ea typeface="Arial"/>
                <a:cs typeface="Arial"/>
                <a:sym typeface="Arial"/>
              </a:rPr>
              <a:t>Why does that evidence support the claim? What limitations matter?</a:t>
            </a:r>
            <a:endParaRPr sz="2000">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233" name="Shape 233"/>
        <p:cNvGrpSpPr/>
        <p:nvPr/>
      </p:nvGrpSpPr>
      <p:grpSpPr>
        <a:xfrm>
          <a:off x="0" y="0"/>
          <a:ext cx="0" cy="0"/>
          <a:chOff x="0" y="0"/>
          <a:chExt cx="0" cy="0"/>
        </a:xfrm>
      </p:grpSpPr>
      <p:sp>
        <p:nvSpPr>
          <p:cNvPr id="234" name="Google Shape;234;p13"/>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13"/>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3"/>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3"/>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SCIENTIFIC REPORTING</a:t>
            </a:r>
            <a:endParaRPr sz="1000">
              <a:solidFill>
                <a:schemeClr val="dk1"/>
              </a:solidFill>
              <a:latin typeface="Arial"/>
              <a:ea typeface="Arial"/>
              <a:cs typeface="Arial"/>
              <a:sym typeface="Arial"/>
            </a:endParaRPr>
          </a:p>
        </p:txBody>
      </p:sp>
      <p:sp>
        <p:nvSpPr>
          <p:cNvPr id="238" name="Google Shape;238;p13"/>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239" name="Google Shape;239;p13"/>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13</a:t>
            </a:r>
            <a:endParaRPr sz="1100">
              <a:solidFill>
                <a:schemeClr val="dk1"/>
              </a:solidFill>
              <a:latin typeface="Arial"/>
              <a:ea typeface="Arial"/>
              <a:cs typeface="Arial"/>
              <a:sym typeface="Arial"/>
            </a:endParaRPr>
          </a:p>
        </p:txBody>
      </p:sp>
      <p:sp>
        <p:nvSpPr>
          <p:cNvPr id="240" name="Google Shape;240;p13"/>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Conclusion: The Main Takeaway</a:t>
            </a:r>
            <a:endParaRPr sz="2800">
              <a:solidFill>
                <a:schemeClr val="dk1"/>
              </a:solidFill>
              <a:latin typeface="Arial"/>
              <a:ea typeface="Arial"/>
              <a:cs typeface="Arial"/>
              <a:sym typeface="Arial"/>
            </a:endParaRPr>
          </a:p>
        </p:txBody>
      </p:sp>
      <p:sp>
        <p:nvSpPr>
          <p:cNvPr id="241" name="Google Shape;241;p13"/>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Short, focused, and connected to the evidence.</a:t>
            </a:r>
            <a:endParaRPr sz="1200">
              <a:solidFill>
                <a:schemeClr val="dk1"/>
              </a:solidFill>
              <a:latin typeface="Arial"/>
              <a:ea typeface="Arial"/>
              <a:cs typeface="Arial"/>
              <a:sym typeface="Arial"/>
            </a:endParaRPr>
          </a:p>
        </p:txBody>
      </p:sp>
      <p:cxnSp>
        <p:nvCxnSpPr>
          <p:cNvPr id="242" name="Google Shape;242;p13"/>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243" name="Google Shape;243;p13"/>
          <p:cNvSpPr/>
          <p:nvPr/>
        </p:nvSpPr>
        <p:spPr>
          <a:xfrm>
            <a:off x="960120" y="1828800"/>
            <a:ext cx="10058400" cy="3749040"/>
          </a:xfrm>
          <a:prstGeom prst="rect">
            <a:avLst/>
          </a:prstGeom>
          <a:noFill/>
          <a:ln>
            <a:noFill/>
          </a:ln>
        </p:spPr>
        <p:txBody>
          <a:bodyPr anchorCtr="0" anchor="ctr" bIns="1000" lIns="1000" spcFirstLastPara="1" rIns="1000" wrap="square" tIns="1000">
            <a:noAutofit/>
          </a:bodyPr>
          <a:lstStyle/>
          <a:p>
            <a:pPr indent="0" lvl="0" marL="0" marR="0" rtl="0" algn="l">
              <a:spcBef>
                <a:spcPts val="0"/>
              </a:spcBef>
              <a:spcAft>
                <a:spcPts val="0"/>
              </a:spcAft>
              <a:buNone/>
            </a:pPr>
            <a:r>
              <a:rPr lang="en-US" sz="2200">
                <a:solidFill>
                  <a:srgbClr val="FFFFFF"/>
                </a:solidFill>
                <a:latin typeface="Arial"/>
                <a:ea typeface="Arial"/>
                <a:cs typeface="Arial"/>
                <a:sym typeface="Arial"/>
              </a:rPr>
              <a:t>Restate the purpose of the project briefly.</a:t>
            </a:r>
            <a:endParaRPr sz="2200">
              <a:solidFill>
                <a:schemeClr val="dk1"/>
              </a:solidFill>
              <a:latin typeface="Arial"/>
              <a:ea typeface="Arial"/>
              <a:cs typeface="Arial"/>
              <a:sym typeface="Arial"/>
            </a:endParaRPr>
          </a:p>
          <a:p>
            <a:pPr indent="0" lvl="0" marL="0" marR="0" rtl="0" algn="l">
              <a:spcBef>
                <a:spcPts val="0"/>
              </a:spcBef>
              <a:spcAft>
                <a:spcPts val="0"/>
              </a:spcAft>
              <a:buNone/>
            </a:pPr>
            <a:r>
              <a:rPr lang="en-US" sz="2200">
                <a:solidFill>
                  <a:srgbClr val="FFFFFF"/>
                </a:solidFill>
                <a:latin typeface="Arial"/>
                <a:ea typeface="Arial"/>
                <a:cs typeface="Arial"/>
                <a:sym typeface="Arial"/>
              </a:rPr>
              <a:t>Summarize the most important finding or design outcome.</a:t>
            </a:r>
            <a:endParaRPr sz="2200">
              <a:solidFill>
                <a:schemeClr val="dk1"/>
              </a:solidFill>
              <a:latin typeface="Arial"/>
              <a:ea typeface="Arial"/>
              <a:cs typeface="Arial"/>
              <a:sym typeface="Arial"/>
            </a:endParaRPr>
          </a:p>
          <a:p>
            <a:pPr indent="0" lvl="0" marL="0" marR="0" rtl="0" algn="l">
              <a:spcBef>
                <a:spcPts val="0"/>
              </a:spcBef>
              <a:spcAft>
                <a:spcPts val="0"/>
              </a:spcAft>
              <a:buNone/>
            </a:pPr>
            <a:r>
              <a:rPr lang="en-US" sz="2200">
                <a:solidFill>
                  <a:srgbClr val="FFFFFF"/>
                </a:solidFill>
                <a:latin typeface="Arial"/>
                <a:ea typeface="Arial"/>
                <a:cs typeface="Arial"/>
                <a:sym typeface="Arial"/>
              </a:rPr>
              <a:t>Explain why the finding matters within the scope of the project.</a:t>
            </a:r>
            <a:endParaRPr sz="2200">
              <a:solidFill>
                <a:schemeClr val="dk1"/>
              </a:solidFill>
              <a:latin typeface="Arial"/>
              <a:ea typeface="Arial"/>
              <a:cs typeface="Arial"/>
              <a:sym typeface="Arial"/>
            </a:endParaRPr>
          </a:p>
          <a:p>
            <a:pPr indent="0" lvl="0" marL="0" marR="0" rtl="0" algn="l">
              <a:spcBef>
                <a:spcPts val="0"/>
              </a:spcBef>
              <a:spcAft>
                <a:spcPts val="0"/>
              </a:spcAft>
              <a:buNone/>
            </a:pPr>
            <a:r>
              <a:rPr lang="en-US" sz="2200">
                <a:solidFill>
                  <a:srgbClr val="FFFFFF"/>
                </a:solidFill>
                <a:latin typeface="Arial"/>
                <a:ea typeface="Arial"/>
                <a:cs typeface="Arial"/>
                <a:sym typeface="Arial"/>
              </a:rPr>
              <a:t>Name a major limitation or next step.</a:t>
            </a:r>
            <a:endParaRPr sz="2200">
              <a:solidFill>
                <a:schemeClr val="dk1"/>
              </a:solidFill>
              <a:latin typeface="Arial"/>
              <a:ea typeface="Arial"/>
              <a:cs typeface="Arial"/>
              <a:sym typeface="Arial"/>
            </a:endParaRPr>
          </a:p>
          <a:p>
            <a:pPr indent="0" lvl="0" marL="0" marR="0" rtl="0" algn="l">
              <a:spcBef>
                <a:spcPts val="0"/>
              </a:spcBef>
              <a:spcAft>
                <a:spcPts val="0"/>
              </a:spcAft>
              <a:buNone/>
            </a:pPr>
            <a:r>
              <a:rPr lang="en-US" sz="2200">
                <a:solidFill>
                  <a:srgbClr val="FFFFFF"/>
                </a:solidFill>
                <a:latin typeface="Arial"/>
                <a:ea typeface="Arial"/>
                <a:cs typeface="Arial"/>
                <a:sym typeface="Arial"/>
              </a:rPr>
              <a:t>Do not introduce a pile of new data.</a:t>
            </a:r>
            <a:endParaRPr sz="2200">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248" name="Shape 248"/>
        <p:cNvGrpSpPr/>
        <p:nvPr/>
      </p:nvGrpSpPr>
      <p:grpSpPr>
        <a:xfrm>
          <a:off x="0" y="0"/>
          <a:ext cx="0" cy="0"/>
          <a:chOff x="0" y="0"/>
          <a:chExt cx="0" cy="0"/>
        </a:xfrm>
      </p:grpSpPr>
      <p:sp>
        <p:nvSpPr>
          <p:cNvPr id="249" name="Google Shape;249;p14"/>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14"/>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4"/>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14"/>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SCIENTIFIC REPORTING</a:t>
            </a:r>
            <a:endParaRPr sz="1000">
              <a:solidFill>
                <a:schemeClr val="dk1"/>
              </a:solidFill>
              <a:latin typeface="Arial"/>
              <a:ea typeface="Arial"/>
              <a:cs typeface="Arial"/>
              <a:sym typeface="Arial"/>
            </a:endParaRPr>
          </a:p>
        </p:txBody>
      </p:sp>
      <p:sp>
        <p:nvSpPr>
          <p:cNvPr id="253" name="Google Shape;253;p14"/>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254" name="Google Shape;254;p14"/>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13</a:t>
            </a:r>
            <a:endParaRPr sz="1100">
              <a:solidFill>
                <a:schemeClr val="dk1"/>
              </a:solidFill>
              <a:latin typeface="Arial"/>
              <a:ea typeface="Arial"/>
              <a:cs typeface="Arial"/>
              <a:sym typeface="Arial"/>
            </a:endParaRPr>
          </a:p>
        </p:txBody>
      </p:sp>
      <p:sp>
        <p:nvSpPr>
          <p:cNvPr id="255" name="Google Shape;255;p14"/>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References and Appendices</a:t>
            </a:r>
            <a:endParaRPr sz="2800">
              <a:solidFill>
                <a:schemeClr val="dk1"/>
              </a:solidFill>
              <a:latin typeface="Arial"/>
              <a:ea typeface="Arial"/>
              <a:cs typeface="Arial"/>
              <a:sym typeface="Arial"/>
            </a:endParaRPr>
          </a:p>
        </p:txBody>
      </p:sp>
      <p:sp>
        <p:nvSpPr>
          <p:cNvPr id="256" name="Google Shape;256;p14"/>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Scientific writing gives credit and preserves useful detail.</a:t>
            </a:r>
            <a:endParaRPr sz="1200">
              <a:solidFill>
                <a:schemeClr val="dk1"/>
              </a:solidFill>
              <a:latin typeface="Arial"/>
              <a:ea typeface="Arial"/>
              <a:cs typeface="Arial"/>
              <a:sym typeface="Arial"/>
            </a:endParaRPr>
          </a:p>
        </p:txBody>
      </p:sp>
      <p:cxnSp>
        <p:nvCxnSpPr>
          <p:cNvPr id="257" name="Google Shape;257;p14"/>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258" name="Google Shape;258;p14"/>
          <p:cNvSpPr/>
          <p:nvPr/>
        </p:nvSpPr>
        <p:spPr>
          <a:xfrm>
            <a:off x="914400" y="1920240"/>
            <a:ext cx="4937760" cy="3108960"/>
          </a:xfrm>
          <a:prstGeom prst="roundRect">
            <a:avLst>
              <a:gd fmla="val 1765"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4"/>
          <p:cNvSpPr/>
          <p:nvPr/>
        </p:nvSpPr>
        <p:spPr>
          <a:xfrm>
            <a:off x="1078992" y="2057400"/>
            <a:ext cx="460857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REFERENCES</a:t>
            </a:r>
            <a:endParaRPr sz="1200">
              <a:solidFill>
                <a:schemeClr val="dk1"/>
              </a:solidFill>
              <a:latin typeface="Arial"/>
              <a:ea typeface="Arial"/>
              <a:cs typeface="Arial"/>
              <a:sym typeface="Arial"/>
            </a:endParaRPr>
          </a:p>
        </p:txBody>
      </p:sp>
      <p:sp>
        <p:nvSpPr>
          <p:cNvPr id="260" name="Google Shape;260;p14"/>
          <p:cNvSpPr/>
          <p:nvPr/>
        </p:nvSpPr>
        <p:spPr>
          <a:xfrm>
            <a:off x="1078992" y="2423160"/>
            <a:ext cx="4608576" cy="24505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Credit sources used for background, methods, images, datasets, code, or scientific context.</a:t>
            </a:r>
            <a:endParaRPr sz="1800">
              <a:solidFill>
                <a:schemeClr val="dk1"/>
              </a:solidFill>
              <a:latin typeface="Arial"/>
              <a:ea typeface="Arial"/>
              <a:cs typeface="Arial"/>
              <a:sym typeface="Arial"/>
            </a:endParaRPr>
          </a:p>
          <a:p>
            <a:pPr indent="0" lvl="0" marL="0" marR="0" rtl="0" algn="l">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Readers should be able to trace where outside information came from.</a:t>
            </a:r>
            <a:endParaRPr sz="1800">
              <a:solidFill>
                <a:schemeClr val="dk1"/>
              </a:solidFill>
              <a:latin typeface="Arial"/>
              <a:ea typeface="Arial"/>
              <a:cs typeface="Arial"/>
              <a:sym typeface="Arial"/>
            </a:endParaRPr>
          </a:p>
        </p:txBody>
      </p:sp>
      <p:sp>
        <p:nvSpPr>
          <p:cNvPr id="261" name="Google Shape;261;p14"/>
          <p:cNvSpPr/>
          <p:nvPr/>
        </p:nvSpPr>
        <p:spPr>
          <a:xfrm>
            <a:off x="6355080" y="1920240"/>
            <a:ext cx="4937760" cy="3108960"/>
          </a:xfrm>
          <a:prstGeom prst="roundRect">
            <a:avLst>
              <a:gd fmla="val 1765"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14"/>
          <p:cNvSpPr/>
          <p:nvPr/>
        </p:nvSpPr>
        <p:spPr>
          <a:xfrm>
            <a:off x="6519672" y="2057400"/>
            <a:ext cx="460857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APPENDIX</a:t>
            </a:r>
            <a:endParaRPr sz="1200">
              <a:solidFill>
                <a:schemeClr val="dk1"/>
              </a:solidFill>
              <a:latin typeface="Arial"/>
              <a:ea typeface="Arial"/>
              <a:cs typeface="Arial"/>
              <a:sym typeface="Arial"/>
            </a:endParaRPr>
          </a:p>
        </p:txBody>
      </p:sp>
      <p:sp>
        <p:nvSpPr>
          <p:cNvPr id="263" name="Google Shape;263;p14"/>
          <p:cNvSpPr/>
          <p:nvPr/>
        </p:nvSpPr>
        <p:spPr>
          <a:xfrm>
            <a:off x="6519672" y="2423160"/>
            <a:ext cx="4608576" cy="245059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Optional space for extra data, detailed calculations, code, survey questions, extended procedures, or additional graphs.</a:t>
            </a:r>
            <a:endParaRPr sz="1800">
              <a:solidFill>
                <a:schemeClr val="dk1"/>
              </a:solidFill>
              <a:latin typeface="Arial"/>
              <a:ea typeface="Arial"/>
              <a:cs typeface="Arial"/>
              <a:sym typeface="Arial"/>
            </a:endParaRPr>
          </a:p>
          <a:p>
            <a:pPr indent="0" lvl="0" marL="0" marR="0" rtl="0" algn="l">
              <a:spcBef>
                <a:spcPts val="0"/>
              </a:spcBef>
              <a:spcAft>
                <a:spcPts val="0"/>
              </a:spcAft>
              <a:buClr>
                <a:schemeClr val="dk1"/>
              </a:buClr>
              <a:buSzPts val="1800"/>
              <a:buFont typeface="Arial"/>
              <a:buNone/>
            </a:pPr>
            <a:r>
              <a:t/>
            </a:r>
            <a:endParaRPr sz="1800">
              <a:solidFill>
                <a:schemeClr val="dk1"/>
              </a:solidFill>
              <a:latin typeface="Arial"/>
              <a:ea typeface="Arial"/>
              <a:cs typeface="Arial"/>
              <a:sym typeface="Arial"/>
            </a:endParaRPr>
          </a:p>
          <a:p>
            <a:pPr indent="0" lvl="0" marL="0" marR="0" rtl="0" algn="l">
              <a:spcBef>
                <a:spcPts val="0"/>
              </a:spcBef>
              <a:spcAft>
                <a:spcPts val="0"/>
              </a:spcAft>
              <a:buClr>
                <a:srgbClr val="FFFFFF"/>
              </a:buClr>
              <a:buSzPts val="1800"/>
              <a:buFont typeface="Arial"/>
              <a:buNone/>
            </a:pPr>
            <a:r>
              <a:rPr lang="en-US" sz="1800">
                <a:solidFill>
                  <a:srgbClr val="FFFFFF"/>
                </a:solidFill>
                <a:latin typeface="Arial"/>
                <a:ea typeface="Arial"/>
                <a:cs typeface="Arial"/>
                <a:sym typeface="Arial"/>
              </a:rPr>
              <a:t>The main report should still make sense without it.</a:t>
            </a:r>
            <a:endParaRPr sz="1800">
              <a:solidFill>
                <a:schemeClr val="dk1"/>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268" name="Shape 268"/>
        <p:cNvGrpSpPr/>
        <p:nvPr/>
      </p:nvGrpSpPr>
      <p:grpSpPr>
        <a:xfrm>
          <a:off x="0" y="0"/>
          <a:ext cx="0" cy="0"/>
          <a:chOff x="0" y="0"/>
          <a:chExt cx="0" cy="0"/>
        </a:xfrm>
      </p:grpSpPr>
      <p:sp>
        <p:nvSpPr>
          <p:cNvPr id="269" name="Google Shape;269;p15"/>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15"/>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15"/>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5"/>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SCIENTIFIC REPORTING</a:t>
            </a:r>
            <a:endParaRPr sz="1000">
              <a:solidFill>
                <a:schemeClr val="dk1"/>
              </a:solidFill>
              <a:latin typeface="Arial"/>
              <a:ea typeface="Arial"/>
              <a:cs typeface="Arial"/>
              <a:sym typeface="Arial"/>
            </a:endParaRPr>
          </a:p>
        </p:txBody>
      </p:sp>
      <p:sp>
        <p:nvSpPr>
          <p:cNvPr id="273" name="Google Shape;273;p15"/>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274" name="Google Shape;274;p15"/>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13</a:t>
            </a:r>
            <a:endParaRPr sz="1100">
              <a:solidFill>
                <a:schemeClr val="dk1"/>
              </a:solidFill>
              <a:latin typeface="Arial"/>
              <a:ea typeface="Arial"/>
              <a:cs typeface="Arial"/>
              <a:sym typeface="Arial"/>
            </a:endParaRPr>
          </a:p>
        </p:txBody>
      </p:sp>
      <p:sp>
        <p:nvSpPr>
          <p:cNvPr id="275" name="Google Shape;275;p15"/>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Results vs. Discussion</a:t>
            </a:r>
            <a:endParaRPr sz="2800">
              <a:solidFill>
                <a:schemeClr val="dk1"/>
              </a:solidFill>
              <a:latin typeface="Arial"/>
              <a:ea typeface="Arial"/>
              <a:cs typeface="Arial"/>
              <a:sym typeface="Arial"/>
            </a:endParaRPr>
          </a:p>
        </p:txBody>
      </p:sp>
      <p:sp>
        <p:nvSpPr>
          <p:cNvPr id="276" name="Google Shape;276;p15"/>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This is the most common report mix-up.</a:t>
            </a:r>
            <a:endParaRPr sz="1200">
              <a:solidFill>
                <a:schemeClr val="dk1"/>
              </a:solidFill>
              <a:latin typeface="Arial"/>
              <a:ea typeface="Arial"/>
              <a:cs typeface="Arial"/>
              <a:sym typeface="Arial"/>
            </a:endParaRPr>
          </a:p>
        </p:txBody>
      </p:sp>
      <p:cxnSp>
        <p:nvCxnSpPr>
          <p:cNvPr id="277" name="Google Shape;277;p15"/>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278" name="Google Shape;278;p15"/>
          <p:cNvSpPr/>
          <p:nvPr/>
        </p:nvSpPr>
        <p:spPr>
          <a:xfrm>
            <a:off x="914400" y="1783080"/>
            <a:ext cx="4892040" cy="3474720"/>
          </a:xfrm>
          <a:prstGeom prst="roundRect">
            <a:avLst>
              <a:gd fmla="val 1579" name="adj"/>
            </a:avLst>
          </a:prstGeom>
          <a:solidFill>
            <a:srgbClr val="101010"/>
          </a:solidFill>
          <a:ln cap="flat" cmpd="sng" w="12700">
            <a:solidFill>
              <a:srgbClr val="4444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5"/>
          <p:cNvSpPr/>
          <p:nvPr/>
        </p:nvSpPr>
        <p:spPr>
          <a:xfrm>
            <a:off x="1078992" y="1920240"/>
            <a:ext cx="456285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RESULTS</a:t>
            </a:r>
            <a:endParaRPr sz="1200">
              <a:solidFill>
                <a:schemeClr val="dk1"/>
              </a:solidFill>
              <a:latin typeface="Arial"/>
              <a:ea typeface="Arial"/>
              <a:cs typeface="Arial"/>
              <a:sym typeface="Arial"/>
            </a:endParaRPr>
          </a:p>
        </p:txBody>
      </p:sp>
      <p:sp>
        <p:nvSpPr>
          <p:cNvPr id="280" name="Google Shape;280;p15"/>
          <p:cNvSpPr/>
          <p:nvPr/>
        </p:nvSpPr>
        <p:spPr>
          <a:xfrm>
            <a:off x="1078992" y="2286000"/>
            <a:ext cx="4562856" cy="28163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2000"/>
              <a:buFont typeface="Arial"/>
              <a:buNone/>
            </a:pPr>
            <a:r>
              <a:rPr lang="en-US" sz="2000">
                <a:solidFill>
                  <a:srgbClr val="FFFFFF"/>
                </a:solidFill>
                <a:latin typeface="Arial"/>
                <a:ea typeface="Arial"/>
                <a:cs typeface="Arial"/>
                <a:sym typeface="Arial"/>
              </a:rPr>
              <a:t>What the data showed.</a:t>
            </a:r>
            <a:endParaRPr sz="2000">
              <a:solidFill>
                <a:schemeClr val="dk1"/>
              </a:solidFill>
              <a:latin typeface="Arial"/>
              <a:ea typeface="Arial"/>
              <a:cs typeface="Arial"/>
              <a:sym typeface="Arial"/>
            </a:endParaRPr>
          </a:p>
          <a:p>
            <a:pPr indent="0" lvl="0" marL="0" marR="0" rtl="0" algn="l">
              <a:spcBef>
                <a:spcPts val="0"/>
              </a:spcBef>
              <a:spcAft>
                <a:spcPts val="0"/>
              </a:spcAft>
              <a:buClr>
                <a:schemeClr val="dk1"/>
              </a:buClr>
              <a:buSzPts val="2000"/>
              <a:buFont typeface="Arial"/>
              <a:buNone/>
            </a:pPr>
            <a:r>
              <a:t/>
            </a:r>
            <a:endParaRPr sz="2000">
              <a:solidFill>
                <a:schemeClr val="dk1"/>
              </a:solidFill>
              <a:latin typeface="Arial"/>
              <a:ea typeface="Arial"/>
              <a:cs typeface="Arial"/>
              <a:sym typeface="Arial"/>
            </a:endParaRPr>
          </a:p>
          <a:p>
            <a:pPr indent="0" lvl="0" marL="0" marR="0" rtl="0" algn="l">
              <a:spcBef>
                <a:spcPts val="0"/>
              </a:spcBef>
              <a:spcAft>
                <a:spcPts val="0"/>
              </a:spcAft>
              <a:buClr>
                <a:srgbClr val="FFFFFF"/>
              </a:buClr>
              <a:buSzPts val="2000"/>
              <a:buFont typeface="Arial"/>
              <a:buNone/>
            </a:pPr>
            <a:r>
              <a:rPr lang="en-US" sz="2000">
                <a:solidFill>
                  <a:srgbClr val="FFFFFF"/>
                </a:solidFill>
                <a:latin typeface="Arial"/>
                <a:ea typeface="Arial"/>
                <a:cs typeface="Arial"/>
                <a:sym typeface="Arial"/>
              </a:rPr>
              <a:t>“The average growth rate increased from 1.2 cm/week in the control group to 2.1 cm/week in the treatment group.”</a:t>
            </a:r>
            <a:endParaRPr sz="2000">
              <a:solidFill>
                <a:schemeClr val="dk1"/>
              </a:solidFill>
              <a:latin typeface="Arial"/>
              <a:ea typeface="Arial"/>
              <a:cs typeface="Arial"/>
              <a:sym typeface="Arial"/>
            </a:endParaRPr>
          </a:p>
        </p:txBody>
      </p:sp>
      <p:sp>
        <p:nvSpPr>
          <p:cNvPr id="281" name="Google Shape;281;p15"/>
          <p:cNvSpPr/>
          <p:nvPr/>
        </p:nvSpPr>
        <p:spPr>
          <a:xfrm>
            <a:off x="6355080" y="1783080"/>
            <a:ext cx="4892040" cy="3474720"/>
          </a:xfrm>
          <a:prstGeom prst="roundRect">
            <a:avLst>
              <a:gd fmla="val 1579" name="adj"/>
            </a:avLst>
          </a:prstGeom>
          <a:solidFill>
            <a:srgbClr val="101010"/>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5"/>
          <p:cNvSpPr/>
          <p:nvPr/>
        </p:nvSpPr>
        <p:spPr>
          <a:xfrm>
            <a:off x="6519672" y="1920240"/>
            <a:ext cx="4562856"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22B27"/>
              </a:buClr>
              <a:buSzPts val="1200"/>
              <a:buFont typeface="Arial"/>
              <a:buNone/>
            </a:pPr>
            <a:r>
              <a:rPr b="1" lang="en-US" sz="1200">
                <a:solidFill>
                  <a:srgbClr val="E22B27"/>
                </a:solidFill>
                <a:latin typeface="Arial"/>
                <a:ea typeface="Arial"/>
                <a:cs typeface="Arial"/>
                <a:sym typeface="Arial"/>
              </a:rPr>
              <a:t>DISCUSSION</a:t>
            </a:r>
            <a:endParaRPr sz="1200">
              <a:solidFill>
                <a:schemeClr val="dk1"/>
              </a:solidFill>
              <a:latin typeface="Arial"/>
              <a:ea typeface="Arial"/>
              <a:cs typeface="Arial"/>
              <a:sym typeface="Arial"/>
            </a:endParaRPr>
          </a:p>
        </p:txBody>
      </p:sp>
      <p:sp>
        <p:nvSpPr>
          <p:cNvPr id="283" name="Google Shape;283;p15"/>
          <p:cNvSpPr/>
          <p:nvPr/>
        </p:nvSpPr>
        <p:spPr>
          <a:xfrm>
            <a:off x="6519672" y="2286000"/>
            <a:ext cx="4562856" cy="2816352"/>
          </a:xfrm>
          <a:prstGeom prst="rect">
            <a:avLst/>
          </a:prstGeom>
          <a:noFill/>
          <a:ln>
            <a:noFill/>
          </a:ln>
        </p:spPr>
        <p:txBody>
          <a:bodyPr anchorCtr="0" anchor="ctr" bIns="250" lIns="250" spcFirstLastPara="1" rIns="250" wrap="square" tIns="250">
            <a:noAutofit/>
          </a:bodyPr>
          <a:lstStyle/>
          <a:p>
            <a:pPr indent="0" lvl="0" marL="0" marR="0" rtl="0" algn="l">
              <a:spcBef>
                <a:spcPts val="0"/>
              </a:spcBef>
              <a:spcAft>
                <a:spcPts val="0"/>
              </a:spcAft>
              <a:buClr>
                <a:srgbClr val="FFFFFF"/>
              </a:buClr>
              <a:buSzPts val="2000"/>
              <a:buFont typeface="Arial"/>
              <a:buNone/>
            </a:pPr>
            <a:r>
              <a:rPr lang="en-US" sz="2000">
                <a:solidFill>
                  <a:srgbClr val="FFFFFF"/>
                </a:solidFill>
                <a:latin typeface="Arial"/>
                <a:ea typeface="Arial"/>
                <a:cs typeface="Arial"/>
                <a:sym typeface="Arial"/>
              </a:rPr>
              <a:t>What the data may mean.</a:t>
            </a:r>
            <a:endParaRPr sz="2000">
              <a:solidFill>
                <a:schemeClr val="dk1"/>
              </a:solidFill>
              <a:latin typeface="Arial"/>
              <a:ea typeface="Arial"/>
              <a:cs typeface="Arial"/>
              <a:sym typeface="Arial"/>
            </a:endParaRPr>
          </a:p>
          <a:p>
            <a:pPr indent="0" lvl="0" marL="0" marR="0" rtl="0" algn="l">
              <a:spcBef>
                <a:spcPts val="0"/>
              </a:spcBef>
              <a:spcAft>
                <a:spcPts val="0"/>
              </a:spcAft>
              <a:buClr>
                <a:schemeClr val="dk1"/>
              </a:buClr>
              <a:buSzPts val="2000"/>
              <a:buFont typeface="Arial"/>
              <a:buNone/>
            </a:pPr>
            <a:r>
              <a:t/>
            </a:r>
            <a:endParaRPr sz="2000">
              <a:solidFill>
                <a:schemeClr val="dk1"/>
              </a:solidFill>
              <a:latin typeface="Arial"/>
              <a:ea typeface="Arial"/>
              <a:cs typeface="Arial"/>
              <a:sym typeface="Arial"/>
            </a:endParaRPr>
          </a:p>
          <a:p>
            <a:pPr indent="0" lvl="0" marL="0" marR="0" rtl="0" algn="l">
              <a:spcBef>
                <a:spcPts val="0"/>
              </a:spcBef>
              <a:spcAft>
                <a:spcPts val="0"/>
              </a:spcAft>
              <a:buClr>
                <a:srgbClr val="FFFFFF"/>
              </a:buClr>
              <a:buSzPts val="2000"/>
              <a:buFont typeface="Arial"/>
              <a:buNone/>
            </a:pPr>
            <a:r>
              <a:rPr lang="en-US" sz="2000">
                <a:solidFill>
                  <a:srgbClr val="FFFFFF"/>
                </a:solidFill>
                <a:latin typeface="Arial"/>
                <a:ea typeface="Arial"/>
                <a:cs typeface="Arial"/>
                <a:sym typeface="Arial"/>
              </a:rPr>
              <a:t>“This suggests that the treatment may have improved growth rate under the tested conditions.”</a:t>
            </a:r>
            <a:endParaRPr sz="2000">
              <a:solidFill>
                <a:schemeClr val="dk1"/>
              </a:solidFill>
              <a:latin typeface="Arial"/>
              <a:ea typeface="Arial"/>
              <a:cs typeface="Arial"/>
              <a:sym typeface="Arial"/>
            </a:endParaRPr>
          </a:p>
        </p:txBody>
      </p:sp>
      <p:sp>
        <p:nvSpPr>
          <p:cNvPr id="284" name="Google Shape;284;p15"/>
          <p:cNvSpPr/>
          <p:nvPr/>
        </p:nvSpPr>
        <p:spPr>
          <a:xfrm>
            <a:off x="914400" y="5623560"/>
            <a:ext cx="1033272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000"/>
              <a:buFont typeface="Play"/>
              <a:buNone/>
            </a:pPr>
            <a:r>
              <a:rPr b="1" lang="en-US" sz="2000">
                <a:solidFill>
                  <a:srgbClr val="FFFFFF"/>
                </a:solidFill>
                <a:latin typeface="Play"/>
                <a:ea typeface="Play"/>
                <a:cs typeface="Play"/>
                <a:sym typeface="Play"/>
              </a:rPr>
              <a:t>Simple test: if the sentence explains meaning, causes, limitations, or future work, it probably belongs in the discussion.</a:t>
            </a:r>
            <a:endParaRPr sz="2000">
              <a:solidFill>
                <a:schemeClr val="dk1"/>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289" name="Shape 289"/>
        <p:cNvGrpSpPr/>
        <p:nvPr/>
      </p:nvGrpSpPr>
      <p:grpSpPr>
        <a:xfrm>
          <a:off x="0" y="0"/>
          <a:ext cx="0" cy="0"/>
          <a:chOff x="0" y="0"/>
          <a:chExt cx="0" cy="0"/>
        </a:xfrm>
      </p:grpSpPr>
      <p:sp>
        <p:nvSpPr>
          <p:cNvPr id="290" name="Google Shape;290;p16"/>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6"/>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16"/>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6"/>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SCIENTIFIC REPORTING</a:t>
            </a:r>
            <a:endParaRPr sz="1000">
              <a:solidFill>
                <a:schemeClr val="dk1"/>
              </a:solidFill>
              <a:latin typeface="Arial"/>
              <a:ea typeface="Arial"/>
              <a:cs typeface="Arial"/>
              <a:sym typeface="Arial"/>
            </a:endParaRPr>
          </a:p>
        </p:txBody>
      </p:sp>
      <p:sp>
        <p:nvSpPr>
          <p:cNvPr id="294" name="Google Shape;294;p16"/>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295" name="Google Shape;295;p16"/>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13</a:t>
            </a:r>
            <a:endParaRPr sz="1100">
              <a:solidFill>
                <a:schemeClr val="dk1"/>
              </a:solidFill>
              <a:latin typeface="Arial"/>
              <a:ea typeface="Arial"/>
              <a:cs typeface="Arial"/>
              <a:sym typeface="Arial"/>
            </a:endParaRPr>
          </a:p>
        </p:txBody>
      </p:sp>
      <p:sp>
        <p:nvSpPr>
          <p:cNvPr id="296" name="Google Shape;296;p16"/>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Common Report Problems</a:t>
            </a:r>
            <a:endParaRPr sz="2800">
              <a:solidFill>
                <a:schemeClr val="dk1"/>
              </a:solidFill>
              <a:latin typeface="Arial"/>
              <a:ea typeface="Arial"/>
              <a:cs typeface="Arial"/>
              <a:sym typeface="Arial"/>
            </a:endParaRPr>
          </a:p>
        </p:txBody>
      </p:sp>
      <p:sp>
        <p:nvSpPr>
          <p:cNvPr id="297" name="Google Shape;297;p16"/>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Most weak reports are not weak because the project was bad.</a:t>
            </a:r>
            <a:endParaRPr sz="1200">
              <a:solidFill>
                <a:schemeClr val="dk1"/>
              </a:solidFill>
              <a:latin typeface="Arial"/>
              <a:ea typeface="Arial"/>
              <a:cs typeface="Arial"/>
              <a:sym typeface="Arial"/>
            </a:endParaRPr>
          </a:p>
        </p:txBody>
      </p:sp>
      <p:cxnSp>
        <p:nvCxnSpPr>
          <p:cNvPr id="298" name="Google Shape;298;p16"/>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299" name="Google Shape;299;p16"/>
          <p:cNvSpPr/>
          <p:nvPr/>
        </p:nvSpPr>
        <p:spPr>
          <a:xfrm>
            <a:off x="914400" y="1691640"/>
            <a:ext cx="10515600" cy="4343400"/>
          </a:xfrm>
          <a:prstGeom prst="rect">
            <a:avLst/>
          </a:prstGeom>
          <a:noFill/>
          <a:ln>
            <a:noFill/>
          </a:ln>
        </p:spPr>
        <p:txBody>
          <a:bodyPr anchorCtr="0" anchor="ctr" bIns="1000" lIns="1000" spcFirstLastPara="1" rIns="1000" wrap="square" tIns="1000">
            <a:noAutofit/>
          </a:bodyPr>
          <a:lstStyle/>
          <a:p>
            <a:pPr indent="0" lvl="0" marL="0" marR="0" rtl="0" algn="l">
              <a:spcBef>
                <a:spcPts val="0"/>
              </a:spcBef>
              <a:spcAft>
                <a:spcPts val="0"/>
              </a:spcAft>
              <a:buNone/>
            </a:pPr>
            <a:r>
              <a:rPr lang="en-US" sz="1900">
                <a:solidFill>
                  <a:srgbClr val="FFFFFF"/>
                </a:solidFill>
                <a:latin typeface="Arial"/>
                <a:ea typeface="Arial"/>
                <a:cs typeface="Arial"/>
                <a:sym typeface="Arial"/>
              </a:rPr>
              <a:t>The introduction is a list of random facts instead of a focused setup.</a:t>
            </a:r>
            <a:endParaRPr sz="1900">
              <a:solidFill>
                <a:schemeClr val="dk1"/>
              </a:solidFill>
              <a:latin typeface="Arial"/>
              <a:ea typeface="Arial"/>
              <a:cs typeface="Arial"/>
              <a:sym typeface="Arial"/>
            </a:endParaRPr>
          </a:p>
          <a:p>
            <a:pPr indent="0" lvl="0" marL="0" marR="0" rtl="0" algn="l">
              <a:spcBef>
                <a:spcPts val="0"/>
              </a:spcBef>
              <a:spcAft>
                <a:spcPts val="0"/>
              </a:spcAft>
              <a:buNone/>
            </a:pPr>
            <a:r>
              <a:rPr lang="en-US" sz="1900">
                <a:solidFill>
                  <a:srgbClr val="FFFFFF"/>
                </a:solidFill>
                <a:latin typeface="Arial"/>
                <a:ea typeface="Arial"/>
                <a:cs typeface="Arial"/>
                <a:sym typeface="Arial"/>
              </a:rPr>
              <a:t>The methods section is too vague to evaluate.</a:t>
            </a:r>
            <a:endParaRPr sz="1900">
              <a:solidFill>
                <a:schemeClr val="dk1"/>
              </a:solidFill>
              <a:latin typeface="Arial"/>
              <a:ea typeface="Arial"/>
              <a:cs typeface="Arial"/>
              <a:sym typeface="Arial"/>
            </a:endParaRPr>
          </a:p>
          <a:p>
            <a:pPr indent="0" lvl="0" marL="0" marR="0" rtl="0" algn="l">
              <a:spcBef>
                <a:spcPts val="0"/>
              </a:spcBef>
              <a:spcAft>
                <a:spcPts val="0"/>
              </a:spcAft>
              <a:buNone/>
            </a:pPr>
            <a:r>
              <a:rPr lang="en-US" sz="1900">
                <a:solidFill>
                  <a:srgbClr val="FFFFFF"/>
                </a:solidFill>
                <a:latin typeface="Arial"/>
                <a:ea typeface="Arial"/>
                <a:cs typeface="Arial"/>
                <a:sym typeface="Arial"/>
              </a:rPr>
              <a:t>Graphs are inserted without captions or explanation.</a:t>
            </a:r>
            <a:endParaRPr sz="1900">
              <a:solidFill>
                <a:schemeClr val="dk1"/>
              </a:solidFill>
              <a:latin typeface="Arial"/>
              <a:ea typeface="Arial"/>
              <a:cs typeface="Arial"/>
              <a:sym typeface="Arial"/>
            </a:endParaRPr>
          </a:p>
          <a:p>
            <a:pPr indent="0" lvl="0" marL="0" marR="0" rtl="0" algn="l">
              <a:spcBef>
                <a:spcPts val="0"/>
              </a:spcBef>
              <a:spcAft>
                <a:spcPts val="0"/>
              </a:spcAft>
              <a:buNone/>
            </a:pPr>
            <a:r>
              <a:rPr lang="en-US" sz="1900">
                <a:solidFill>
                  <a:srgbClr val="FFFFFF"/>
                </a:solidFill>
                <a:latin typeface="Arial"/>
                <a:ea typeface="Arial"/>
                <a:cs typeface="Arial"/>
                <a:sym typeface="Arial"/>
              </a:rPr>
              <a:t>Results and discussion are mixed together.</a:t>
            </a:r>
            <a:endParaRPr sz="1900">
              <a:solidFill>
                <a:schemeClr val="dk1"/>
              </a:solidFill>
              <a:latin typeface="Arial"/>
              <a:ea typeface="Arial"/>
              <a:cs typeface="Arial"/>
              <a:sym typeface="Arial"/>
            </a:endParaRPr>
          </a:p>
          <a:p>
            <a:pPr indent="0" lvl="0" marL="0" marR="0" rtl="0" algn="l">
              <a:spcBef>
                <a:spcPts val="0"/>
              </a:spcBef>
              <a:spcAft>
                <a:spcPts val="0"/>
              </a:spcAft>
              <a:buNone/>
            </a:pPr>
            <a:r>
              <a:rPr lang="en-US" sz="1900">
                <a:solidFill>
                  <a:srgbClr val="FFFFFF"/>
                </a:solidFill>
                <a:latin typeface="Arial"/>
                <a:ea typeface="Arial"/>
                <a:cs typeface="Arial"/>
                <a:sym typeface="Arial"/>
              </a:rPr>
              <a:t>Claims are stronger than the evidence allows.</a:t>
            </a:r>
            <a:endParaRPr sz="1900">
              <a:solidFill>
                <a:schemeClr val="dk1"/>
              </a:solidFill>
              <a:latin typeface="Arial"/>
              <a:ea typeface="Arial"/>
              <a:cs typeface="Arial"/>
              <a:sym typeface="Arial"/>
            </a:endParaRPr>
          </a:p>
          <a:p>
            <a:pPr indent="0" lvl="0" marL="0" marR="0" rtl="0" algn="l">
              <a:spcBef>
                <a:spcPts val="0"/>
              </a:spcBef>
              <a:spcAft>
                <a:spcPts val="0"/>
              </a:spcAft>
              <a:buNone/>
            </a:pPr>
            <a:r>
              <a:rPr lang="en-US" sz="1900">
                <a:solidFill>
                  <a:srgbClr val="FFFFFF"/>
                </a:solidFill>
                <a:latin typeface="Arial"/>
                <a:ea typeface="Arial"/>
                <a:cs typeface="Arial"/>
                <a:sym typeface="Arial"/>
              </a:rPr>
              <a:t>Limitations are missing or reduced to “human error.”</a:t>
            </a:r>
            <a:endParaRPr sz="1900">
              <a:solidFill>
                <a:schemeClr val="dk1"/>
              </a:solidFill>
              <a:latin typeface="Arial"/>
              <a:ea typeface="Arial"/>
              <a:cs typeface="Arial"/>
              <a:sym typeface="Arial"/>
            </a:endParaRPr>
          </a:p>
          <a:p>
            <a:pPr indent="0" lvl="0" marL="0" marR="0" rtl="0" algn="l">
              <a:spcBef>
                <a:spcPts val="0"/>
              </a:spcBef>
              <a:spcAft>
                <a:spcPts val="0"/>
              </a:spcAft>
              <a:buNone/>
            </a:pPr>
            <a:r>
              <a:rPr lang="en-US" sz="1900">
                <a:solidFill>
                  <a:srgbClr val="FFFFFF"/>
                </a:solidFill>
                <a:latin typeface="Arial"/>
                <a:ea typeface="Arial"/>
                <a:cs typeface="Arial"/>
                <a:sym typeface="Arial"/>
              </a:rPr>
              <a:t>The report reads like a diary instead of a scientific explanation.</a:t>
            </a:r>
            <a:endParaRPr sz="1900">
              <a:solidFill>
                <a:schemeClr val="dk1"/>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304" name="Shape 304"/>
        <p:cNvGrpSpPr/>
        <p:nvPr/>
      </p:nvGrpSpPr>
      <p:grpSpPr>
        <a:xfrm>
          <a:off x="0" y="0"/>
          <a:ext cx="0" cy="0"/>
          <a:chOff x="0" y="0"/>
          <a:chExt cx="0" cy="0"/>
        </a:xfrm>
      </p:grpSpPr>
      <p:sp>
        <p:nvSpPr>
          <p:cNvPr id="305" name="Google Shape;305;p17"/>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7"/>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7"/>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7"/>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STUDENT ACTIVITY</a:t>
            </a:r>
            <a:endParaRPr sz="1000">
              <a:solidFill>
                <a:schemeClr val="dk1"/>
              </a:solidFill>
              <a:latin typeface="Arial"/>
              <a:ea typeface="Arial"/>
              <a:cs typeface="Arial"/>
              <a:sym typeface="Arial"/>
            </a:endParaRPr>
          </a:p>
        </p:txBody>
      </p:sp>
      <p:sp>
        <p:nvSpPr>
          <p:cNvPr id="309" name="Google Shape;309;p17"/>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310" name="Google Shape;310;p17"/>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13</a:t>
            </a:r>
            <a:endParaRPr sz="1100">
              <a:solidFill>
                <a:schemeClr val="dk1"/>
              </a:solidFill>
              <a:latin typeface="Arial"/>
              <a:ea typeface="Arial"/>
              <a:cs typeface="Arial"/>
              <a:sym typeface="Arial"/>
            </a:endParaRPr>
          </a:p>
        </p:txBody>
      </p:sp>
      <p:sp>
        <p:nvSpPr>
          <p:cNvPr id="311" name="Google Shape;311;p17"/>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Activity 1: Scientific Report Dissection</a:t>
            </a:r>
            <a:endParaRPr sz="2800">
              <a:solidFill>
                <a:schemeClr val="dk1"/>
              </a:solidFill>
              <a:latin typeface="Arial"/>
              <a:ea typeface="Arial"/>
              <a:cs typeface="Arial"/>
              <a:sym typeface="Arial"/>
            </a:endParaRPr>
          </a:p>
        </p:txBody>
      </p:sp>
      <p:sp>
        <p:nvSpPr>
          <p:cNvPr id="312" name="Google Shape;312;p17"/>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15–20 minutes • Unit 5 Week 21</a:t>
            </a:r>
            <a:endParaRPr sz="1200">
              <a:solidFill>
                <a:schemeClr val="dk1"/>
              </a:solidFill>
              <a:latin typeface="Arial"/>
              <a:ea typeface="Arial"/>
              <a:cs typeface="Arial"/>
              <a:sym typeface="Arial"/>
            </a:endParaRPr>
          </a:p>
        </p:txBody>
      </p:sp>
      <p:cxnSp>
        <p:nvCxnSpPr>
          <p:cNvPr id="313" name="Google Shape;313;p17"/>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314" name="Google Shape;314;p17"/>
          <p:cNvSpPr/>
          <p:nvPr/>
        </p:nvSpPr>
        <p:spPr>
          <a:xfrm>
            <a:off x="777240" y="1783080"/>
            <a:ext cx="1874520" cy="34747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7"/>
          <p:cNvSpPr/>
          <p:nvPr/>
        </p:nvSpPr>
        <p:spPr>
          <a:xfrm>
            <a:off x="868680" y="1865376"/>
            <a:ext cx="169164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Arial"/>
              <a:buNone/>
            </a:pPr>
            <a:r>
              <a:rPr b="1" lang="en-US" sz="1000">
                <a:solidFill>
                  <a:srgbClr val="FFFFFF"/>
                </a:solidFill>
                <a:latin typeface="Arial"/>
                <a:ea typeface="Arial"/>
                <a:cs typeface="Arial"/>
                <a:sym typeface="Arial"/>
              </a:rPr>
              <a:t>STUDENT ACTIVITY</a:t>
            </a:r>
            <a:endParaRPr sz="1000">
              <a:solidFill>
                <a:schemeClr val="dk1"/>
              </a:solidFill>
              <a:latin typeface="Arial"/>
              <a:ea typeface="Arial"/>
              <a:cs typeface="Arial"/>
              <a:sym typeface="Arial"/>
            </a:endParaRPr>
          </a:p>
        </p:txBody>
      </p:sp>
      <p:sp>
        <p:nvSpPr>
          <p:cNvPr id="316" name="Google Shape;316;p17"/>
          <p:cNvSpPr/>
          <p:nvPr/>
        </p:nvSpPr>
        <p:spPr>
          <a:xfrm>
            <a:off x="868680" y="2331720"/>
            <a:ext cx="10332720" cy="3474720"/>
          </a:xfrm>
          <a:prstGeom prst="rect">
            <a:avLst/>
          </a:prstGeom>
          <a:noFill/>
          <a:ln>
            <a:noFill/>
          </a:ln>
        </p:spPr>
        <p:txBody>
          <a:bodyPr anchorCtr="0" anchor="ctr" bIns="1000" lIns="1000" spcFirstLastPara="1" rIns="1000" wrap="square" tIns="1000">
            <a:noAutofit/>
          </a:bodyPr>
          <a:lstStyle/>
          <a:p>
            <a:pPr indent="0" lvl="0" marL="0" marR="0" rtl="0" algn="l">
              <a:spcBef>
                <a:spcPts val="0"/>
              </a:spcBef>
              <a:spcAft>
                <a:spcPts val="0"/>
              </a:spcAft>
              <a:buNone/>
            </a:pPr>
            <a:r>
              <a:rPr lang="en-US" sz="2000">
                <a:solidFill>
                  <a:srgbClr val="FFFFFF"/>
                </a:solidFill>
                <a:latin typeface="Arial"/>
                <a:ea typeface="Arial"/>
                <a:cs typeface="Arial"/>
                <a:sym typeface="Arial"/>
              </a:rPr>
              <a:t>Read the model report or simplified research paper.</a:t>
            </a:r>
            <a:endParaRPr sz="2000">
              <a:solidFill>
                <a:schemeClr val="dk1"/>
              </a:solidFill>
              <a:latin typeface="Arial"/>
              <a:ea typeface="Arial"/>
              <a:cs typeface="Arial"/>
              <a:sym typeface="Arial"/>
            </a:endParaRPr>
          </a:p>
          <a:p>
            <a:pPr indent="0" lvl="0" marL="0" marR="0" rtl="0" algn="l">
              <a:spcBef>
                <a:spcPts val="0"/>
              </a:spcBef>
              <a:spcAft>
                <a:spcPts val="0"/>
              </a:spcAft>
              <a:buNone/>
            </a:pPr>
            <a:r>
              <a:rPr lang="en-US" sz="2000">
                <a:solidFill>
                  <a:srgbClr val="FFFFFF"/>
                </a:solidFill>
                <a:latin typeface="Arial"/>
                <a:ea typeface="Arial"/>
                <a:cs typeface="Arial"/>
                <a:sym typeface="Arial"/>
              </a:rPr>
              <a:t>Label the title, introduction, methods, results, discussion, conclusion, references, and figures/tables.</a:t>
            </a:r>
            <a:endParaRPr sz="2000">
              <a:solidFill>
                <a:schemeClr val="dk1"/>
              </a:solidFill>
              <a:latin typeface="Arial"/>
              <a:ea typeface="Arial"/>
              <a:cs typeface="Arial"/>
              <a:sym typeface="Arial"/>
            </a:endParaRPr>
          </a:p>
          <a:p>
            <a:pPr indent="0" lvl="0" marL="0" marR="0" rtl="0" algn="l">
              <a:spcBef>
                <a:spcPts val="0"/>
              </a:spcBef>
              <a:spcAft>
                <a:spcPts val="0"/>
              </a:spcAft>
              <a:buNone/>
            </a:pPr>
            <a:r>
              <a:rPr lang="en-US" sz="2000">
                <a:solidFill>
                  <a:srgbClr val="FFFFFF"/>
                </a:solidFill>
                <a:latin typeface="Arial"/>
                <a:ea typeface="Arial"/>
                <a:cs typeface="Arial"/>
                <a:sym typeface="Arial"/>
              </a:rPr>
              <a:t>Write what each section is doing for the reader.</a:t>
            </a:r>
            <a:endParaRPr sz="2000">
              <a:solidFill>
                <a:schemeClr val="dk1"/>
              </a:solidFill>
              <a:latin typeface="Arial"/>
              <a:ea typeface="Arial"/>
              <a:cs typeface="Arial"/>
              <a:sym typeface="Arial"/>
            </a:endParaRPr>
          </a:p>
          <a:p>
            <a:pPr indent="0" lvl="0" marL="0" marR="0" rtl="0" algn="l">
              <a:spcBef>
                <a:spcPts val="0"/>
              </a:spcBef>
              <a:spcAft>
                <a:spcPts val="0"/>
              </a:spcAft>
              <a:buNone/>
            </a:pPr>
            <a:r>
              <a:rPr lang="en-US" sz="2000">
                <a:solidFill>
                  <a:srgbClr val="FFFFFF"/>
                </a:solidFill>
                <a:latin typeface="Arial"/>
                <a:ea typeface="Arial"/>
                <a:cs typeface="Arial"/>
                <a:sym typeface="Arial"/>
              </a:rPr>
              <a:t>Identify one claim, one piece of evidence, and one limitation.</a:t>
            </a:r>
            <a:endParaRPr sz="2000">
              <a:solidFill>
                <a:schemeClr val="dk1"/>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321" name="Shape 321"/>
        <p:cNvGrpSpPr/>
        <p:nvPr/>
      </p:nvGrpSpPr>
      <p:grpSpPr>
        <a:xfrm>
          <a:off x="0" y="0"/>
          <a:ext cx="0" cy="0"/>
          <a:chOff x="0" y="0"/>
          <a:chExt cx="0" cy="0"/>
        </a:xfrm>
      </p:grpSpPr>
      <p:sp>
        <p:nvSpPr>
          <p:cNvPr id="322" name="Google Shape;322;p18"/>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8"/>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18"/>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8"/>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STUDENT ACTIVITY</a:t>
            </a:r>
            <a:endParaRPr sz="1000">
              <a:solidFill>
                <a:schemeClr val="dk1"/>
              </a:solidFill>
              <a:latin typeface="Arial"/>
              <a:ea typeface="Arial"/>
              <a:cs typeface="Arial"/>
              <a:sym typeface="Arial"/>
            </a:endParaRPr>
          </a:p>
        </p:txBody>
      </p:sp>
      <p:sp>
        <p:nvSpPr>
          <p:cNvPr id="326" name="Google Shape;326;p18"/>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327" name="Google Shape;327;p18"/>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13</a:t>
            </a:r>
            <a:endParaRPr sz="1100">
              <a:solidFill>
                <a:schemeClr val="dk1"/>
              </a:solidFill>
              <a:latin typeface="Arial"/>
              <a:ea typeface="Arial"/>
              <a:cs typeface="Arial"/>
              <a:sym typeface="Arial"/>
            </a:endParaRPr>
          </a:p>
        </p:txBody>
      </p:sp>
      <p:sp>
        <p:nvSpPr>
          <p:cNvPr id="328" name="Google Shape;328;p18"/>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Activity 2: Strong vs. Weak Report Moves</a:t>
            </a:r>
            <a:endParaRPr sz="2800">
              <a:solidFill>
                <a:schemeClr val="dk1"/>
              </a:solidFill>
              <a:latin typeface="Arial"/>
              <a:ea typeface="Arial"/>
              <a:cs typeface="Arial"/>
              <a:sym typeface="Arial"/>
            </a:endParaRPr>
          </a:p>
        </p:txBody>
      </p:sp>
      <p:sp>
        <p:nvSpPr>
          <p:cNvPr id="329" name="Google Shape;329;p18"/>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8–10 minutes • Unit 5 Week 21</a:t>
            </a:r>
            <a:endParaRPr sz="1200">
              <a:solidFill>
                <a:schemeClr val="dk1"/>
              </a:solidFill>
              <a:latin typeface="Arial"/>
              <a:ea typeface="Arial"/>
              <a:cs typeface="Arial"/>
              <a:sym typeface="Arial"/>
            </a:endParaRPr>
          </a:p>
        </p:txBody>
      </p:sp>
      <p:cxnSp>
        <p:nvCxnSpPr>
          <p:cNvPr id="330" name="Google Shape;330;p18"/>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331" name="Google Shape;331;p18"/>
          <p:cNvSpPr/>
          <p:nvPr/>
        </p:nvSpPr>
        <p:spPr>
          <a:xfrm>
            <a:off x="777240" y="1783080"/>
            <a:ext cx="1874520" cy="34747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18"/>
          <p:cNvSpPr/>
          <p:nvPr/>
        </p:nvSpPr>
        <p:spPr>
          <a:xfrm>
            <a:off x="868680" y="1865376"/>
            <a:ext cx="169164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Arial"/>
              <a:buNone/>
            </a:pPr>
            <a:r>
              <a:rPr b="1" lang="en-US" sz="1000">
                <a:solidFill>
                  <a:srgbClr val="FFFFFF"/>
                </a:solidFill>
                <a:latin typeface="Arial"/>
                <a:ea typeface="Arial"/>
                <a:cs typeface="Arial"/>
                <a:sym typeface="Arial"/>
              </a:rPr>
              <a:t>STUDENT ACTIVITY</a:t>
            </a:r>
            <a:endParaRPr sz="1000">
              <a:solidFill>
                <a:schemeClr val="dk1"/>
              </a:solidFill>
              <a:latin typeface="Arial"/>
              <a:ea typeface="Arial"/>
              <a:cs typeface="Arial"/>
              <a:sym typeface="Arial"/>
            </a:endParaRPr>
          </a:p>
        </p:txBody>
      </p:sp>
      <p:sp>
        <p:nvSpPr>
          <p:cNvPr id="333" name="Google Shape;333;p18"/>
          <p:cNvSpPr/>
          <p:nvPr/>
        </p:nvSpPr>
        <p:spPr>
          <a:xfrm>
            <a:off x="868680" y="2331720"/>
            <a:ext cx="10332720" cy="3474720"/>
          </a:xfrm>
          <a:prstGeom prst="rect">
            <a:avLst/>
          </a:prstGeom>
          <a:noFill/>
          <a:ln>
            <a:noFill/>
          </a:ln>
        </p:spPr>
        <p:txBody>
          <a:bodyPr anchorCtr="0" anchor="ctr" bIns="1000" lIns="1000" spcFirstLastPara="1" rIns="1000" wrap="square" tIns="1000">
            <a:noAutofit/>
          </a:bodyPr>
          <a:lstStyle/>
          <a:p>
            <a:pPr indent="0" lvl="0" marL="0" marR="0" rtl="0" algn="l">
              <a:spcBef>
                <a:spcPts val="0"/>
              </a:spcBef>
              <a:spcAft>
                <a:spcPts val="0"/>
              </a:spcAft>
              <a:buNone/>
            </a:pPr>
            <a:r>
              <a:rPr lang="en-US" sz="2000">
                <a:solidFill>
                  <a:srgbClr val="FFFFFF"/>
                </a:solidFill>
                <a:latin typeface="Arial"/>
                <a:ea typeface="Arial"/>
                <a:cs typeface="Arial"/>
                <a:sym typeface="Arial"/>
              </a:rPr>
              <a:t>Compare a strong report excerpt with a weak excerpt.</a:t>
            </a:r>
            <a:endParaRPr sz="2000">
              <a:solidFill>
                <a:schemeClr val="dk1"/>
              </a:solidFill>
              <a:latin typeface="Arial"/>
              <a:ea typeface="Arial"/>
              <a:cs typeface="Arial"/>
              <a:sym typeface="Arial"/>
            </a:endParaRPr>
          </a:p>
          <a:p>
            <a:pPr indent="0" lvl="0" marL="0" marR="0" rtl="0" algn="l">
              <a:spcBef>
                <a:spcPts val="0"/>
              </a:spcBef>
              <a:spcAft>
                <a:spcPts val="0"/>
              </a:spcAft>
              <a:buNone/>
            </a:pPr>
            <a:r>
              <a:rPr lang="en-US" sz="2000">
                <a:solidFill>
                  <a:srgbClr val="FFFFFF"/>
                </a:solidFill>
                <a:latin typeface="Arial"/>
                <a:ea typeface="Arial"/>
                <a:cs typeface="Arial"/>
                <a:sym typeface="Arial"/>
              </a:rPr>
              <a:t>Find one place where the weak report is vague.</a:t>
            </a:r>
            <a:endParaRPr sz="2000">
              <a:solidFill>
                <a:schemeClr val="dk1"/>
              </a:solidFill>
              <a:latin typeface="Arial"/>
              <a:ea typeface="Arial"/>
              <a:cs typeface="Arial"/>
              <a:sym typeface="Arial"/>
            </a:endParaRPr>
          </a:p>
          <a:p>
            <a:pPr indent="0" lvl="0" marL="0" marR="0" rtl="0" algn="l">
              <a:spcBef>
                <a:spcPts val="0"/>
              </a:spcBef>
              <a:spcAft>
                <a:spcPts val="0"/>
              </a:spcAft>
              <a:buNone/>
            </a:pPr>
            <a:r>
              <a:rPr lang="en-US" sz="2000">
                <a:solidFill>
                  <a:srgbClr val="FFFFFF"/>
                </a:solidFill>
                <a:latin typeface="Arial"/>
                <a:ea typeface="Arial"/>
                <a:cs typeface="Arial"/>
                <a:sym typeface="Arial"/>
              </a:rPr>
              <a:t>Find one place where evidence is missing or unsupported.</a:t>
            </a:r>
            <a:endParaRPr sz="2000">
              <a:solidFill>
                <a:schemeClr val="dk1"/>
              </a:solidFill>
              <a:latin typeface="Arial"/>
              <a:ea typeface="Arial"/>
              <a:cs typeface="Arial"/>
              <a:sym typeface="Arial"/>
            </a:endParaRPr>
          </a:p>
          <a:p>
            <a:pPr indent="0" lvl="0" marL="0" marR="0" rtl="0" algn="l">
              <a:spcBef>
                <a:spcPts val="0"/>
              </a:spcBef>
              <a:spcAft>
                <a:spcPts val="0"/>
              </a:spcAft>
              <a:buNone/>
            </a:pPr>
            <a:r>
              <a:rPr lang="en-US" sz="2000">
                <a:solidFill>
                  <a:srgbClr val="FFFFFF"/>
                </a:solidFill>
                <a:latin typeface="Arial"/>
                <a:ea typeface="Arial"/>
                <a:cs typeface="Arial"/>
                <a:sym typeface="Arial"/>
              </a:rPr>
              <a:t>Rewrite one weak sentence to make it more scientific, specific, or honest.</a:t>
            </a:r>
            <a:endParaRPr sz="2000">
              <a:solidFill>
                <a:schemeClr val="dk1"/>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338" name="Shape 338"/>
        <p:cNvGrpSpPr/>
        <p:nvPr/>
      </p:nvGrpSpPr>
      <p:grpSpPr>
        <a:xfrm>
          <a:off x="0" y="0"/>
          <a:ext cx="0" cy="0"/>
          <a:chOff x="0" y="0"/>
          <a:chExt cx="0" cy="0"/>
        </a:xfrm>
      </p:grpSpPr>
      <p:sp>
        <p:nvSpPr>
          <p:cNvPr id="339" name="Google Shape;339;p19"/>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19"/>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19"/>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9"/>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STUDENT ACTIVITY</a:t>
            </a:r>
            <a:endParaRPr sz="1000">
              <a:solidFill>
                <a:schemeClr val="dk1"/>
              </a:solidFill>
              <a:latin typeface="Arial"/>
              <a:ea typeface="Arial"/>
              <a:cs typeface="Arial"/>
              <a:sym typeface="Arial"/>
            </a:endParaRPr>
          </a:p>
        </p:txBody>
      </p:sp>
      <p:sp>
        <p:nvSpPr>
          <p:cNvPr id="343" name="Google Shape;343;p19"/>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344" name="Google Shape;344;p19"/>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13</a:t>
            </a:r>
            <a:endParaRPr sz="1100">
              <a:solidFill>
                <a:schemeClr val="dk1"/>
              </a:solidFill>
              <a:latin typeface="Arial"/>
              <a:ea typeface="Arial"/>
              <a:cs typeface="Arial"/>
              <a:sym typeface="Arial"/>
            </a:endParaRPr>
          </a:p>
        </p:txBody>
      </p:sp>
      <p:sp>
        <p:nvSpPr>
          <p:cNvPr id="345" name="Google Shape;345;p19"/>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Activity 3: Map Your Own Report</a:t>
            </a:r>
            <a:endParaRPr sz="2800">
              <a:solidFill>
                <a:schemeClr val="dk1"/>
              </a:solidFill>
              <a:latin typeface="Arial"/>
              <a:ea typeface="Arial"/>
              <a:cs typeface="Arial"/>
              <a:sym typeface="Arial"/>
            </a:endParaRPr>
          </a:p>
        </p:txBody>
      </p:sp>
      <p:sp>
        <p:nvSpPr>
          <p:cNvPr id="346" name="Google Shape;346;p19"/>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15 minutes • Unit 5 Week 21</a:t>
            </a:r>
            <a:endParaRPr sz="1200">
              <a:solidFill>
                <a:schemeClr val="dk1"/>
              </a:solidFill>
              <a:latin typeface="Arial"/>
              <a:ea typeface="Arial"/>
              <a:cs typeface="Arial"/>
              <a:sym typeface="Arial"/>
            </a:endParaRPr>
          </a:p>
        </p:txBody>
      </p:sp>
      <p:cxnSp>
        <p:nvCxnSpPr>
          <p:cNvPr id="347" name="Google Shape;347;p19"/>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348" name="Google Shape;348;p19"/>
          <p:cNvSpPr/>
          <p:nvPr/>
        </p:nvSpPr>
        <p:spPr>
          <a:xfrm>
            <a:off x="777240" y="1783080"/>
            <a:ext cx="1874520" cy="34747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9"/>
          <p:cNvSpPr/>
          <p:nvPr/>
        </p:nvSpPr>
        <p:spPr>
          <a:xfrm>
            <a:off x="868680" y="1865376"/>
            <a:ext cx="169164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Arial"/>
              <a:buNone/>
            </a:pPr>
            <a:r>
              <a:rPr b="1" lang="en-US" sz="1000">
                <a:solidFill>
                  <a:srgbClr val="FFFFFF"/>
                </a:solidFill>
                <a:latin typeface="Arial"/>
                <a:ea typeface="Arial"/>
                <a:cs typeface="Arial"/>
                <a:sym typeface="Arial"/>
              </a:rPr>
              <a:t>STUDENT ACTIVITY</a:t>
            </a:r>
            <a:endParaRPr sz="1000">
              <a:solidFill>
                <a:schemeClr val="dk1"/>
              </a:solidFill>
              <a:latin typeface="Arial"/>
              <a:ea typeface="Arial"/>
              <a:cs typeface="Arial"/>
              <a:sym typeface="Arial"/>
            </a:endParaRPr>
          </a:p>
        </p:txBody>
      </p:sp>
      <p:sp>
        <p:nvSpPr>
          <p:cNvPr id="350" name="Google Shape;350;p19"/>
          <p:cNvSpPr/>
          <p:nvPr/>
        </p:nvSpPr>
        <p:spPr>
          <a:xfrm>
            <a:off x="868680" y="2331720"/>
            <a:ext cx="10332720" cy="3474720"/>
          </a:xfrm>
          <a:prstGeom prst="rect">
            <a:avLst/>
          </a:prstGeom>
          <a:noFill/>
          <a:ln>
            <a:noFill/>
          </a:ln>
        </p:spPr>
        <p:txBody>
          <a:bodyPr anchorCtr="0" anchor="ctr" bIns="1000" lIns="1000" spcFirstLastPara="1" rIns="1000" wrap="square" tIns="1000">
            <a:noAutofit/>
          </a:bodyPr>
          <a:lstStyle/>
          <a:p>
            <a:pPr indent="0" lvl="0" marL="0" marR="0" rtl="0" algn="l">
              <a:spcBef>
                <a:spcPts val="0"/>
              </a:spcBef>
              <a:spcAft>
                <a:spcPts val="0"/>
              </a:spcAft>
              <a:buNone/>
            </a:pPr>
            <a:r>
              <a:rPr lang="en-US" sz="2000">
                <a:solidFill>
                  <a:srgbClr val="FFFFFF"/>
                </a:solidFill>
                <a:latin typeface="Arial"/>
                <a:ea typeface="Arial"/>
                <a:cs typeface="Arial"/>
                <a:sym typeface="Arial"/>
              </a:rPr>
              <a:t>Open your project journal, data set, and Unit 4 analysis materials.</a:t>
            </a:r>
            <a:endParaRPr sz="2000">
              <a:solidFill>
                <a:schemeClr val="dk1"/>
              </a:solidFill>
              <a:latin typeface="Arial"/>
              <a:ea typeface="Arial"/>
              <a:cs typeface="Arial"/>
              <a:sym typeface="Arial"/>
            </a:endParaRPr>
          </a:p>
          <a:p>
            <a:pPr indent="0" lvl="0" marL="0" marR="0" rtl="0" algn="l">
              <a:spcBef>
                <a:spcPts val="0"/>
              </a:spcBef>
              <a:spcAft>
                <a:spcPts val="0"/>
              </a:spcAft>
              <a:buNone/>
            </a:pPr>
            <a:r>
              <a:rPr lang="en-US" sz="2000">
                <a:solidFill>
                  <a:srgbClr val="FFFFFF"/>
                </a:solidFill>
                <a:latin typeface="Arial"/>
                <a:ea typeface="Arial"/>
                <a:cs typeface="Arial"/>
                <a:sym typeface="Arial"/>
              </a:rPr>
              <a:t>List what information you already have for each report section.</a:t>
            </a:r>
            <a:endParaRPr sz="2000">
              <a:solidFill>
                <a:schemeClr val="dk1"/>
              </a:solidFill>
              <a:latin typeface="Arial"/>
              <a:ea typeface="Arial"/>
              <a:cs typeface="Arial"/>
              <a:sym typeface="Arial"/>
            </a:endParaRPr>
          </a:p>
          <a:p>
            <a:pPr indent="0" lvl="0" marL="0" marR="0" rtl="0" algn="l">
              <a:spcBef>
                <a:spcPts val="0"/>
              </a:spcBef>
              <a:spcAft>
                <a:spcPts val="0"/>
              </a:spcAft>
              <a:buNone/>
            </a:pPr>
            <a:r>
              <a:rPr lang="en-US" sz="2000">
                <a:solidFill>
                  <a:srgbClr val="FFFFFF"/>
                </a:solidFill>
                <a:latin typeface="Arial"/>
                <a:ea typeface="Arial"/>
                <a:cs typeface="Arial"/>
                <a:sym typeface="Arial"/>
              </a:rPr>
              <a:t>Circle the section with the biggest missing piece.</a:t>
            </a:r>
            <a:endParaRPr sz="2000">
              <a:solidFill>
                <a:schemeClr val="dk1"/>
              </a:solidFill>
              <a:latin typeface="Arial"/>
              <a:ea typeface="Arial"/>
              <a:cs typeface="Arial"/>
              <a:sym typeface="Arial"/>
            </a:endParaRPr>
          </a:p>
          <a:p>
            <a:pPr indent="0" lvl="0" marL="0" marR="0" rtl="0" algn="l">
              <a:spcBef>
                <a:spcPts val="0"/>
              </a:spcBef>
              <a:spcAft>
                <a:spcPts val="0"/>
              </a:spcAft>
              <a:buNone/>
            </a:pPr>
            <a:r>
              <a:rPr lang="en-US" sz="2000">
                <a:solidFill>
                  <a:srgbClr val="FFFFFF"/>
                </a:solidFill>
                <a:latin typeface="Arial"/>
                <a:ea typeface="Arial"/>
                <a:cs typeface="Arial"/>
                <a:sym typeface="Arial"/>
              </a:rPr>
              <a:t>Write one next step that would make that section easier to draft.</a:t>
            </a:r>
            <a:endParaRPr sz="2000">
              <a:solidFill>
                <a:schemeClr val="dk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355" name="Shape 355"/>
        <p:cNvGrpSpPr/>
        <p:nvPr/>
      </p:nvGrpSpPr>
      <p:grpSpPr>
        <a:xfrm>
          <a:off x="0" y="0"/>
          <a:ext cx="0" cy="0"/>
          <a:chOff x="0" y="0"/>
          <a:chExt cx="0" cy="0"/>
        </a:xfrm>
      </p:grpSpPr>
      <p:sp>
        <p:nvSpPr>
          <p:cNvPr id="356" name="Google Shape;356;p20"/>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20"/>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20"/>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20"/>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SCIENTIFIC REPORTING</a:t>
            </a:r>
            <a:endParaRPr sz="1000">
              <a:solidFill>
                <a:schemeClr val="dk1"/>
              </a:solidFill>
              <a:latin typeface="Arial"/>
              <a:ea typeface="Arial"/>
              <a:cs typeface="Arial"/>
              <a:sym typeface="Arial"/>
            </a:endParaRPr>
          </a:p>
        </p:txBody>
      </p:sp>
      <p:sp>
        <p:nvSpPr>
          <p:cNvPr id="360" name="Google Shape;360;p20"/>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361" name="Google Shape;361;p20"/>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13</a:t>
            </a:r>
            <a:endParaRPr sz="1100">
              <a:solidFill>
                <a:schemeClr val="dk1"/>
              </a:solidFill>
              <a:latin typeface="Arial"/>
              <a:ea typeface="Arial"/>
              <a:cs typeface="Arial"/>
              <a:sym typeface="Arial"/>
            </a:endParaRPr>
          </a:p>
        </p:txBody>
      </p:sp>
      <p:sp>
        <p:nvSpPr>
          <p:cNvPr id="362" name="Google Shape;362;p20"/>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Section Checkpoint</a:t>
            </a:r>
            <a:endParaRPr sz="2800">
              <a:solidFill>
                <a:schemeClr val="dk1"/>
              </a:solidFill>
              <a:latin typeface="Arial"/>
              <a:ea typeface="Arial"/>
              <a:cs typeface="Arial"/>
              <a:sym typeface="Arial"/>
            </a:endParaRPr>
          </a:p>
        </p:txBody>
      </p:sp>
      <p:sp>
        <p:nvSpPr>
          <p:cNvPr id="363" name="Google Shape;363;p20"/>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Before drafting, students should know where the evidence goes.</a:t>
            </a:r>
            <a:endParaRPr sz="1200">
              <a:solidFill>
                <a:schemeClr val="dk1"/>
              </a:solidFill>
              <a:latin typeface="Arial"/>
              <a:ea typeface="Arial"/>
              <a:cs typeface="Arial"/>
              <a:sym typeface="Arial"/>
            </a:endParaRPr>
          </a:p>
        </p:txBody>
      </p:sp>
      <p:cxnSp>
        <p:nvCxnSpPr>
          <p:cNvPr id="364" name="Google Shape;364;p20"/>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365" name="Google Shape;365;p20"/>
          <p:cNvSpPr/>
          <p:nvPr/>
        </p:nvSpPr>
        <p:spPr>
          <a:xfrm>
            <a:off x="960120" y="1737360"/>
            <a:ext cx="10241280" cy="4023360"/>
          </a:xfrm>
          <a:prstGeom prst="rect">
            <a:avLst/>
          </a:prstGeom>
          <a:noFill/>
          <a:ln>
            <a:noFill/>
          </a:ln>
        </p:spPr>
        <p:txBody>
          <a:bodyPr anchorCtr="0" anchor="ctr" bIns="1000" lIns="1000" spcFirstLastPara="1" rIns="1000" wrap="square" tIns="1000">
            <a:noAutofit/>
          </a:bodyPr>
          <a:lstStyle/>
          <a:p>
            <a:pPr indent="0" lvl="0" marL="0" marR="0" rtl="0" algn="l">
              <a:spcBef>
                <a:spcPts val="0"/>
              </a:spcBef>
              <a:spcAft>
                <a:spcPts val="0"/>
              </a:spcAft>
              <a:buNone/>
            </a:pPr>
            <a:r>
              <a:rPr lang="en-US" sz="2000">
                <a:solidFill>
                  <a:srgbClr val="FFFFFF"/>
                </a:solidFill>
                <a:latin typeface="Arial"/>
                <a:ea typeface="Arial"/>
                <a:cs typeface="Arial"/>
                <a:sym typeface="Arial"/>
              </a:rPr>
              <a:t>Introduction: What context and question will frame the project?</a:t>
            </a:r>
            <a:endParaRPr sz="2000">
              <a:solidFill>
                <a:schemeClr val="dk1"/>
              </a:solidFill>
              <a:latin typeface="Arial"/>
              <a:ea typeface="Arial"/>
              <a:cs typeface="Arial"/>
              <a:sym typeface="Arial"/>
            </a:endParaRPr>
          </a:p>
          <a:p>
            <a:pPr indent="0" lvl="0" marL="0" marR="0" rtl="0" algn="l">
              <a:spcBef>
                <a:spcPts val="0"/>
              </a:spcBef>
              <a:spcAft>
                <a:spcPts val="0"/>
              </a:spcAft>
              <a:buNone/>
            </a:pPr>
            <a:r>
              <a:rPr lang="en-US" sz="2000">
                <a:solidFill>
                  <a:srgbClr val="FFFFFF"/>
                </a:solidFill>
                <a:latin typeface="Arial"/>
                <a:ea typeface="Arial"/>
                <a:cs typeface="Arial"/>
                <a:sym typeface="Arial"/>
              </a:rPr>
              <a:t>Methods: What procedure, tools, variables, or criteria must be described?</a:t>
            </a:r>
            <a:endParaRPr sz="2000">
              <a:solidFill>
                <a:schemeClr val="dk1"/>
              </a:solidFill>
              <a:latin typeface="Arial"/>
              <a:ea typeface="Arial"/>
              <a:cs typeface="Arial"/>
              <a:sym typeface="Arial"/>
            </a:endParaRPr>
          </a:p>
          <a:p>
            <a:pPr indent="0" lvl="0" marL="0" marR="0" rtl="0" algn="l">
              <a:spcBef>
                <a:spcPts val="0"/>
              </a:spcBef>
              <a:spcAft>
                <a:spcPts val="0"/>
              </a:spcAft>
              <a:buNone/>
            </a:pPr>
            <a:r>
              <a:rPr lang="en-US" sz="2000">
                <a:solidFill>
                  <a:srgbClr val="FFFFFF"/>
                </a:solidFill>
                <a:latin typeface="Arial"/>
                <a:ea typeface="Arial"/>
                <a:cs typeface="Arial"/>
                <a:sym typeface="Arial"/>
              </a:rPr>
              <a:t>Results: Which graphs, tables, images, or data summaries matter most?</a:t>
            </a:r>
            <a:endParaRPr sz="2000">
              <a:solidFill>
                <a:schemeClr val="dk1"/>
              </a:solidFill>
              <a:latin typeface="Arial"/>
              <a:ea typeface="Arial"/>
              <a:cs typeface="Arial"/>
              <a:sym typeface="Arial"/>
            </a:endParaRPr>
          </a:p>
          <a:p>
            <a:pPr indent="0" lvl="0" marL="0" marR="0" rtl="0" algn="l">
              <a:spcBef>
                <a:spcPts val="0"/>
              </a:spcBef>
              <a:spcAft>
                <a:spcPts val="0"/>
              </a:spcAft>
              <a:buNone/>
            </a:pPr>
            <a:r>
              <a:rPr lang="en-US" sz="2000">
                <a:solidFill>
                  <a:srgbClr val="FFFFFF"/>
                </a:solidFill>
                <a:latin typeface="Arial"/>
                <a:ea typeface="Arial"/>
                <a:cs typeface="Arial"/>
                <a:sym typeface="Arial"/>
              </a:rPr>
              <a:t>Discussion: What claims, evidence, reasoning, limitations, and future work will matter?</a:t>
            </a:r>
            <a:endParaRPr sz="2000">
              <a:solidFill>
                <a:schemeClr val="dk1"/>
              </a:solidFill>
              <a:latin typeface="Arial"/>
              <a:ea typeface="Arial"/>
              <a:cs typeface="Arial"/>
              <a:sym typeface="Arial"/>
            </a:endParaRPr>
          </a:p>
          <a:p>
            <a:pPr indent="0" lvl="0" marL="0" marR="0" rtl="0" algn="l">
              <a:spcBef>
                <a:spcPts val="0"/>
              </a:spcBef>
              <a:spcAft>
                <a:spcPts val="0"/>
              </a:spcAft>
              <a:buNone/>
            </a:pPr>
            <a:r>
              <a:rPr lang="en-US" sz="2000">
                <a:solidFill>
                  <a:srgbClr val="FFFFFF"/>
                </a:solidFill>
                <a:latin typeface="Arial"/>
                <a:ea typeface="Arial"/>
                <a:cs typeface="Arial"/>
                <a:sym typeface="Arial"/>
              </a:rPr>
              <a:t>Conclusion: What is the main takeaway?</a:t>
            </a:r>
            <a:endParaRPr sz="2000">
              <a:solidFill>
                <a:schemeClr val="dk1"/>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370" name="Shape 370"/>
        <p:cNvGrpSpPr/>
        <p:nvPr/>
      </p:nvGrpSpPr>
      <p:grpSpPr>
        <a:xfrm>
          <a:off x="0" y="0"/>
          <a:ext cx="0" cy="0"/>
          <a:chOff x="0" y="0"/>
          <a:chExt cx="0" cy="0"/>
        </a:xfrm>
      </p:grpSpPr>
      <p:sp>
        <p:nvSpPr>
          <p:cNvPr id="371" name="Google Shape;371;p21"/>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21"/>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 name="Google Shape;373;p21"/>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21"/>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SCIENTIFIC REPORTING</a:t>
            </a:r>
            <a:endParaRPr sz="1000">
              <a:solidFill>
                <a:schemeClr val="dk1"/>
              </a:solidFill>
              <a:latin typeface="Arial"/>
              <a:ea typeface="Arial"/>
              <a:cs typeface="Arial"/>
              <a:sym typeface="Arial"/>
            </a:endParaRPr>
          </a:p>
        </p:txBody>
      </p:sp>
      <p:sp>
        <p:nvSpPr>
          <p:cNvPr id="375" name="Google Shape;375;p21"/>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376" name="Google Shape;376;p21"/>
          <p:cNvSpPr/>
          <p:nvPr/>
        </p:nvSpPr>
        <p:spPr>
          <a:xfrm>
            <a:off x="10195560" y="384048"/>
            <a:ext cx="132588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22B27"/>
              </a:buClr>
              <a:buSzPts val="1100"/>
              <a:buFont typeface="Arial"/>
              <a:buNone/>
            </a:pPr>
            <a:r>
              <a:rPr b="1" lang="en-US" sz="1100">
                <a:solidFill>
                  <a:srgbClr val="E22B27"/>
                </a:solidFill>
                <a:latin typeface="Arial"/>
                <a:ea typeface="Arial"/>
                <a:cs typeface="Arial"/>
                <a:sym typeface="Arial"/>
              </a:rPr>
              <a:t>DECK 13</a:t>
            </a:r>
            <a:endParaRPr sz="1100">
              <a:solidFill>
                <a:schemeClr val="dk1"/>
              </a:solidFill>
              <a:latin typeface="Arial"/>
              <a:ea typeface="Arial"/>
              <a:cs typeface="Arial"/>
              <a:sym typeface="Arial"/>
            </a:endParaRPr>
          </a:p>
        </p:txBody>
      </p:sp>
      <p:sp>
        <p:nvSpPr>
          <p:cNvPr id="377" name="Google Shape;377;p21"/>
          <p:cNvSpPr/>
          <p:nvPr/>
        </p:nvSpPr>
        <p:spPr>
          <a:xfrm>
            <a:off x="685800" y="694944"/>
            <a:ext cx="982980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800"/>
              <a:buFont typeface="Play"/>
              <a:buNone/>
            </a:pPr>
            <a:r>
              <a:rPr b="1" lang="en-US" sz="2800">
                <a:solidFill>
                  <a:srgbClr val="FFFFFF"/>
                </a:solidFill>
                <a:latin typeface="Play"/>
                <a:ea typeface="Play"/>
                <a:cs typeface="Play"/>
                <a:sym typeface="Play"/>
              </a:rPr>
              <a:t>Exit Ticket</a:t>
            </a:r>
            <a:endParaRPr sz="2800">
              <a:solidFill>
                <a:schemeClr val="dk1"/>
              </a:solidFill>
              <a:latin typeface="Arial"/>
              <a:ea typeface="Arial"/>
              <a:cs typeface="Arial"/>
              <a:sym typeface="Arial"/>
            </a:endParaRPr>
          </a:p>
        </p:txBody>
      </p:sp>
      <p:sp>
        <p:nvSpPr>
          <p:cNvPr id="378" name="Google Shape;378;p21"/>
          <p:cNvSpPr/>
          <p:nvPr/>
        </p:nvSpPr>
        <p:spPr>
          <a:xfrm>
            <a:off x="694944" y="1243584"/>
            <a:ext cx="987552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200"/>
              <a:buFont typeface="Arial"/>
              <a:buNone/>
            </a:pPr>
            <a:r>
              <a:rPr lang="en-US" sz="1200">
                <a:solidFill>
                  <a:srgbClr val="B8B8B8"/>
                </a:solidFill>
                <a:latin typeface="Arial"/>
                <a:ea typeface="Arial"/>
                <a:cs typeface="Arial"/>
                <a:sym typeface="Arial"/>
              </a:rPr>
              <a:t>Leave with a clearer report plan.</a:t>
            </a:r>
            <a:endParaRPr sz="1200">
              <a:solidFill>
                <a:schemeClr val="dk1"/>
              </a:solidFill>
              <a:latin typeface="Arial"/>
              <a:ea typeface="Arial"/>
              <a:cs typeface="Arial"/>
              <a:sym typeface="Arial"/>
            </a:endParaRPr>
          </a:p>
        </p:txBody>
      </p:sp>
      <p:cxnSp>
        <p:nvCxnSpPr>
          <p:cNvPr id="379" name="Google Shape;379;p21"/>
          <p:cNvCxnSpPr/>
          <p:nvPr/>
        </p:nvCxnSpPr>
        <p:spPr>
          <a:xfrm>
            <a:off x="685800" y="1572768"/>
            <a:ext cx="10789920" cy="0"/>
          </a:xfrm>
          <a:prstGeom prst="straightConnector1">
            <a:avLst/>
          </a:prstGeom>
          <a:noFill/>
          <a:ln cap="flat" cmpd="sng" w="16500">
            <a:solidFill>
              <a:srgbClr val="E22B27"/>
            </a:solidFill>
            <a:prstDash val="solid"/>
            <a:round/>
            <a:headEnd len="sm" w="sm" type="none"/>
            <a:tailEnd len="sm" w="sm" type="none"/>
          </a:ln>
        </p:spPr>
      </p:cxnSp>
      <p:sp>
        <p:nvSpPr>
          <p:cNvPr id="380" name="Google Shape;380;p21"/>
          <p:cNvSpPr/>
          <p:nvPr/>
        </p:nvSpPr>
        <p:spPr>
          <a:xfrm>
            <a:off x="868680" y="1828800"/>
            <a:ext cx="1920240" cy="34747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21"/>
          <p:cNvSpPr/>
          <p:nvPr/>
        </p:nvSpPr>
        <p:spPr>
          <a:xfrm>
            <a:off x="960120" y="1911096"/>
            <a:ext cx="1737360" cy="16459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Arial"/>
              <a:buNone/>
            </a:pPr>
            <a:r>
              <a:rPr b="1" lang="en-US" sz="1000">
                <a:solidFill>
                  <a:srgbClr val="FFFFFF"/>
                </a:solidFill>
                <a:latin typeface="Arial"/>
                <a:ea typeface="Arial"/>
                <a:cs typeface="Arial"/>
                <a:sym typeface="Arial"/>
              </a:rPr>
              <a:t>EXIT TICKET</a:t>
            </a:r>
            <a:endParaRPr sz="1000">
              <a:solidFill>
                <a:schemeClr val="dk1"/>
              </a:solidFill>
              <a:latin typeface="Arial"/>
              <a:ea typeface="Arial"/>
              <a:cs typeface="Arial"/>
              <a:sym typeface="Arial"/>
            </a:endParaRPr>
          </a:p>
        </p:txBody>
      </p:sp>
      <p:sp>
        <p:nvSpPr>
          <p:cNvPr id="382" name="Google Shape;382;p21"/>
          <p:cNvSpPr/>
          <p:nvPr/>
        </p:nvSpPr>
        <p:spPr>
          <a:xfrm>
            <a:off x="960120" y="2423160"/>
            <a:ext cx="10149840" cy="2971800"/>
          </a:xfrm>
          <a:prstGeom prst="rect">
            <a:avLst/>
          </a:prstGeom>
          <a:noFill/>
          <a:ln>
            <a:noFill/>
          </a:ln>
        </p:spPr>
        <p:txBody>
          <a:bodyPr anchorCtr="0" anchor="ctr" bIns="1000" lIns="1000" spcFirstLastPara="1" rIns="1000" wrap="square" tIns="1000">
            <a:noAutofit/>
          </a:bodyPr>
          <a:lstStyle/>
          <a:p>
            <a:pPr indent="0" lvl="0" marL="0" marR="0" rtl="0" algn="l">
              <a:spcBef>
                <a:spcPts val="0"/>
              </a:spcBef>
              <a:spcAft>
                <a:spcPts val="0"/>
              </a:spcAft>
              <a:buNone/>
            </a:pPr>
            <a:r>
              <a:rPr lang="en-US" sz="2100">
                <a:solidFill>
                  <a:srgbClr val="FFFFFF"/>
                </a:solidFill>
                <a:latin typeface="Arial"/>
                <a:ea typeface="Arial"/>
                <a:cs typeface="Arial"/>
                <a:sym typeface="Arial"/>
              </a:rPr>
              <a:t>Which report section will be easiest for you to draft first? Why?</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Which section needs the most support or missing information?</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What is one graph, table, image, or result you know must appear in the report?</a:t>
            </a:r>
            <a:endParaRPr sz="2100">
              <a:solidFill>
                <a:schemeClr val="dk1"/>
              </a:solidFill>
              <a:latin typeface="Arial"/>
              <a:ea typeface="Arial"/>
              <a:cs typeface="Arial"/>
              <a:sym typeface="Arial"/>
            </a:endParaRPr>
          </a:p>
          <a:p>
            <a:pPr indent="0" lvl="0" marL="0" marR="0" rtl="0" algn="l">
              <a:spcBef>
                <a:spcPts val="0"/>
              </a:spcBef>
              <a:spcAft>
                <a:spcPts val="0"/>
              </a:spcAft>
              <a:buNone/>
            </a:pPr>
            <a:r>
              <a:rPr lang="en-US" sz="2100">
                <a:solidFill>
                  <a:srgbClr val="FFFFFF"/>
                </a:solidFill>
                <a:latin typeface="Arial"/>
                <a:ea typeface="Arial"/>
                <a:cs typeface="Arial"/>
                <a:sym typeface="Arial"/>
              </a:rPr>
              <a:t>What is one limitation you already know you need to discuss?</a:t>
            </a:r>
            <a:endParaRPr sz="2100">
              <a:solidFill>
                <a:schemeClr val="dk1"/>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50505"/>
        </a:solidFill>
      </p:bgPr>
    </p:bg>
    <p:spTree>
      <p:nvGrpSpPr>
        <p:cNvPr id="387" name="Shape 387"/>
        <p:cNvGrpSpPr/>
        <p:nvPr/>
      </p:nvGrpSpPr>
      <p:grpSpPr>
        <a:xfrm>
          <a:off x="0" y="0"/>
          <a:ext cx="0" cy="0"/>
          <a:chOff x="0" y="0"/>
          <a:chExt cx="0" cy="0"/>
        </a:xfrm>
      </p:grpSpPr>
      <p:sp>
        <p:nvSpPr>
          <p:cNvPr id="388" name="Google Shape;388;p22"/>
          <p:cNvSpPr/>
          <p:nvPr/>
        </p:nvSpPr>
        <p:spPr>
          <a:xfrm>
            <a:off x="0" y="0"/>
            <a:ext cx="12191695" cy="6858000"/>
          </a:xfrm>
          <a:prstGeom prst="rect">
            <a:avLst/>
          </a:prstGeom>
          <a:solidFill>
            <a:srgbClr val="050505"/>
          </a:solidFill>
          <a:ln cap="flat" cmpd="sng" w="12700">
            <a:solidFill>
              <a:srgbClr val="05050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22"/>
          <p:cNvSpPr/>
          <p:nvPr/>
        </p:nvSpPr>
        <p:spPr>
          <a:xfrm>
            <a:off x="0" y="164592"/>
            <a:ext cx="12191695" cy="73152"/>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22"/>
          <p:cNvSpPr/>
          <p:nvPr/>
        </p:nvSpPr>
        <p:spPr>
          <a:xfrm>
            <a:off x="0" y="6729984"/>
            <a:ext cx="12191695" cy="54864"/>
          </a:xfrm>
          <a:prstGeom prst="rect">
            <a:avLst/>
          </a:prstGeom>
          <a:solidFill>
            <a:srgbClr val="E22B27"/>
          </a:solidFill>
          <a:ln cap="flat" cmpd="sng" w="12700">
            <a:solidFill>
              <a:srgbClr val="E22B2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22"/>
          <p:cNvSpPr/>
          <p:nvPr/>
        </p:nvSpPr>
        <p:spPr>
          <a:xfrm>
            <a:off x="411480" y="6236208"/>
            <a:ext cx="384048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NEXT DECK</a:t>
            </a:r>
            <a:endParaRPr sz="1000">
              <a:solidFill>
                <a:schemeClr val="dk1"/>
              </a:solidFill>
              <a:latin typeface="Arial"/>
              <a:ea typeface="Arial"/>
              <a:cs typeface="Arial"/>
              <a:sym typeface="Arial"/>
            </a:endParaRPr>
          </a:p>
        </p:txBody>
      </p:sp>
      <p:sp>
        <p:nvSpPr>
          <p:cNvPr id="392" name="Google Shape;392;p22"/>
          <p:cNvSpPr/>
          <p:nvPr/>
        </p:nvSpPr>
        <p:spPr>
          <a:xfrm>
            <a:off x="10515600" y="6236208"/>
            <a:ext cx="1234440" cy="16459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B8B8B8"/>
              </a:buClr>
              <a:buSzPts val="1000"/>
              <a:buFont typeface="Arial"/>
              <a:buNone/>
            </a:pPr>
            <a:r>
              <a:rPr b="1" lang="en-US" sz="1000">
                <a:solidFill>
                  <a:srgbClr val="B8B8B8"/>
                </a:solidFill>
                <a:latin typeface="Arial"/>
                <a:ea typeface="Arial"/>
                <a:cs typeface="Arial"/>
                <a:sym typeface="Arial"/>
              </a:rPr>
              <a:t>STARLAB</a:t>
            </a:r>
            <a:endParaRPr sz="1000">
              <a:solidFill>
                <a:schemeClr val="dk1"/>
              </a:solidFill>
              <a:latin typeface="Arial"/>
              <a:ea typeface="Arial"/>
              <a:cs typeface="Arial"/>
              <a:sym typeface="Arial"/>
            </a:endParaRPr>
          </a:p>
        </p:txBody>
      </p:sp>
      <p:sp>
        <p:nvSpPr>
          <p:cNvPr id="393" name="Google Shape;393;p22"/>
          <p:cNvSpPr/>
          <p:nvPr/>
        </p:nvSpPr>
        <p:spPr>
          <a:xfrm>
            <a:off x="685800" y="1051560"/>
            <a:ext cx="1078992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22B27"/>
              </a:buClr>
              <a:buSzPts val="1300"/>
              <a:buFont typeface="Arial"/>
              <a:buNone/>
            </a:pPr>
            <a:r>
              <a:rPr b="1" lang="en-US" sz="1300">
                <a:solidFill>
                  <a:srgbClr val="E22B27"/>
                </a:solidFill>
                <a:latin typeface="Arial"/>
                <a:ea typeface="Arial"/>
                <a:cs typeface="Arial"/>
                <a:sym typeface="Arial"/>
              </a:rPr>
              <a:t>NEXT DECK</a:t>
            </a:r>
            <a:endParaRPr sz="1300">
              <a:solidFill>
                <a:schemeClr val="dk1"/>
              </a:solidFill>
              <a:latin typeface="Arial"/>
              <a:ea typeface="Arial"/>
              <a:cs typeface="Arial"/>
              <a:sym typeface="Arial"/>
            </a:endParaRPr>
          </a:p>
        </p:txBody>
      </p:sp>
      <p:sp>
        <p:nvSpPr>
          <p:cNvPr id="394" name="Google Shape;394;p22"/>
          <p:cNvSpPr/>
          <p:nvPr/>
        </p:nvSpPr>
        <p:spPr>
          <a:xfrm>
            <a:off x="960120" y="1828800"/>
            <a:ext cx="10287000" cy="12344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3600"/>
              <a:buFont typeface="Play"/>
              <a:buNone/>
            </a:pPr>
            <a:r>
              <a:rPr b="1" lang="en-US" sz="3600">
                <a:solidFill>
                  <a:srgbClr val="FFFFFF"/>
                </a:solidFill>
                <a:latin typeface="Play"/>
                <a:ea typeface="Play"/>
                <a:cs typeface="Play"/>
                <a:sym typeface="Play"/>
              </a:rPr>
              <a:t>Writing the Discussion:</a:t>
            </a:r>
            <a:endParaRPr sz="3600">
              <a:solidFill>
                <a:schemeClr val="dk1"/>
              </a:solidFill>
              <a:latin typeface="Arial"/>
              <a:ea typeface="Arial"/>
              <a:cs typeface="Arial"/>
              <a:sym typeface="Arial"/>
            </a:endParaRPr>
          </a:p>
          <a:p>
            <a:pPr indent="0" lvl="0" marL="0" marR="0" rtl="0" algn="ctr">
              <a:spcBef>
                <a:spcPts val="0"/>
              </a:spcBef>
              <a:spcAft>
                <a:spcPts val="0"/>
              </a:spcAft>
              <a:buClr>
                <a:srgbClr val="FFFFFF"/>
              </a:buClr>
              <a:buSzPts val="3600"/>
              <a:buFont typeface="Play"/>
              <a:buNone/>
            </a:pPr>
            <a:r>
              <a:rPr b="1" lang="en-US" sz="3600">
                <a:solidFill>
                  <a:srgbClr val="FFFFFF"/>
                </a:solidFill>
                <a:latin typeface="Play"/>
                <a:ea typeface="Play"/>
                <a:cs typeface="Play"/>
                <a:sym typeface="Play"/>
              </a:rPr>
              <a:t>Claim, Evidence, Reasoning</a:t>
            </a:r>
            <a:endParaRPr sz="3600">
              <a:solidFill>
                <a:schemeClr val="dk1"/>
              </a:solidFill>
              <a:latin typeface="Arial"/>
              <a:ea typeface="Arial"/>
              <a:cs typeface="Arial"/>
              <a:sym typeface="Arial"/>
            </a:endParaRPr>
          </a:p>
        </p:txBody>
      </p:sp>
      <p:cxnSp>
        <p:nvCxnSpPr>
          <p:cNvPr id="395" name="Google Shape;395;p22"/>
          <p:cNvCxnSpPr/>
          <p:nvPr/>
        </p:nvCxnSpPr>
        <p:spPr>
          <a:xfrm>
            <a:off x="1828800" y="3456432"/>
            <a:ext cx="8531352" cy="0"/>
          </a:xfrm>
          <a:prstGeom prst="straightConnector1">
            <a:avLst/>
          </a:prstGeom>
          <a:noFill/>
          <a:ln cap="flat" cmpd="sng" w="25400">
            <a:solidFill>
              <a:srgbClr val="E22B27"/>
            </a:solidFill>
            <a:prstDash val="solid"/>
            <a:round/>
            <a:headEnd len="sm" w="sm" type="none"/>
            <a:tailEnd len="sm" w="sm" type="none"/>
          </a:ln>
        </p:spPr>
      </p:cxnSp>
      <p:sp>
        <p:nvSpPr>
          <p:cNvPr id="396" name="Google Shape;396;p22"/>
          <p:cNvSpPr/>
          <p:nvPr/>
        </p:nvSpPr>
        <p:spPr>
          <a:xfrm>
            <a:off x="1508760" y="3977640"/>
            <a:ext cx="918972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8B8B8"/>
              </a:buClr>
              <a:buSzPts val="2100"/>
              <a:buFont typeface="Arial"/>
              <a:buNone/>
            </a:pPr>
            <a:r>
              <a:rPr lang="en-US" sz="2100">
                <a:solidFill>
                  <a:srgbClr val="B8B8B8"/>
                </a:solidFill>
                <a:latin typeface="Arial"/>
                <a:ea typeface="Arial"/>
                <a:cs typeface="Arial"/>
                <a:sym typeface="Arial"/>
              </a:rPr>
              <a:t>Now that the report structure is clear, students will learn how to build the argument at the center of the discussion section.</a:t>
            </a:r>
            <a:endParaRPr sz="2100">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