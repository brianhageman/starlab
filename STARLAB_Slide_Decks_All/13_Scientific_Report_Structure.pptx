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7926a1b7914087" /><Relationship Type="http://schemas.openxmlformats.org/officeDocument/2006/relationships/extended-properties" Target="/docProps/app.xml" Id="R1617085d58d34d19" /><Relationship Type="http://schemas.openxmlformats.org/officeDocument/2006/relationships/officeDocument" Target="/ppt/presentation.xml" Id="Rad993a30583049d3"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8614c5dacfa4dfc"/>
  </p:sldMasterIdLst>
  <p:notesMasterIdLst>
    <p:notesMasterId xmlns:r="http://schemas.openxmlformats.org/officeDocument/2006/relationships" r:id="R55b960bbff70491e"/>
  </p:notesMasterIdLst>
  <p:sldIdLst>
    <p:sldId xmlns:r="http://schemas.openxmlformats.org/officeDocument/2006/relationships" id="256" r:id="R8c6203b659914ff8"/>
    <p:sldId xmlns:r="http://schemas.openxmlformats.org/officeDocument/2006/relationships" id="257" r:id="R406f6ba4350a4248"/>
    <p:sldId xmlns:r="http://schemas.openxmlformats.org/officeDocument/2006/relationships" id="258" r:id="R41227ac897764247"/>
    <p:sldId xmlns:r="http://schemas.openxmlformats.org/officeDocument/2006/relationships" id="259" r:id="R71df7fdcc60845d9"/>
    <p:sldId xmlns:r="http://schemas.openxmlformats.org/officeDocument/2006/relationships" id="260" r:id="Rfbe03e2951db44b0"/>
    <p:sldId xmlns:r="http://schemas.openxmlformats.org/officeDocument/2006/relationships" id="261" r:id="R1f59c16108dd487e"/>
    <p:sldId xmlns:r="http://schemas.openxmlformats.org/officeDocument/2006/relationships" id="262" r:id="Rcd4e134bcdaa498d"/>
    <p:sldId xmlns:r="http://schemas.openxmlformats.org/officeDocument/2006/relationships" id="263" r:id="Ree07470347e34298"/>
    <p:sldId xmlns:r="http://schemas.openxmlformats.org/officeDocument/2006/relationships" id="264" r:id="R6fa5e0092e5a4d92"/>
    <p:sldId xmlns:r="http://schemas.openxmlformats.org/officeDocument/2006/relationships" id="265" r:id="R8c97ac3de205419e"/>
    <p:sldId xmlns:r="http://schemas.openxmlformats.org/officeDocument/2006/relationships" id="266" r:id="R36052a477c344666"/>
    <p:sldId xmlns:r="http://schemas.openxmlformats.org/officeDocument/2006/relationships" id="267" r:id="R6f4d715beada4f28"/>
    <p:sldId xmlns:r="http://schemas.openxmlformats.org/officeDocument/2006/relationships" id="268" r:id="R7de0cac4af614068"/>
    <p:sldId xmlns:r="http://schemas.openxmlformats.org/officeDocument/2006/relationships" id="269" r:id="R2b1f3e7f7ebf4692"/>
    <p:sldId xmlns:r="http://schemas.openxmlformats.org/officeDocument/2006/relationships" id="270" r:id="R295a3ab927d040cc"/>
    <p:sldId xmlns:r="http://schemas.openxmlformats.org/officeDocument/2006/relationships" id="271" r:id="R0facd6e5b05a4c37"/>
    <p:sldId xmlns:r="http://schemas.openxmlformats.org/officeDocument/2006/relationships" id="272" r:id="R89990cbfe06c4a5e"/>
    <p:sldId xmlns:r="http://schemas.openxmlformats.org/officeDocument/2006/relationships" id="273" r:id="R8c965f8a8d964ba3"/>
    <p:sldId xmlns:r="http://schemas.openxmlformats.org/officeDocument/2006/relationships" id="274" r:id="R1c049eaf277940b3"/>
    <p:sldId xmlns:r="http://schemas.openxmlformats.org/officeDocument/2006/relationships" id="275" r:id="Ra33f7ac824a945c1"/>
  </p:sldIdLst>
  <p:sldSz cx="12192000" cy="6858000"/>
  <p:notesSz cx="6858000" cy="9144000"/>
  <p:embeddedFontLst>
    <p:embeddedFont>
      <p:font typeface="Play"/>
      <p:regular xmlns:r="http://schemas.openxmlformats.org/officeDocument/2006/relationships" r:id="Rc5040c4a58e647ce"/>
      <p:bold xmlns:r="http://schemas.openxmlformats.org/officeDocument/2006/relationships" r:id="R5a17ffecdd9e43fc"/>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27065bba6f4462" /><Relationship Type="http://schemas.openxmlformats.org/officeDocument/2006/relationships/slideMaster" Target="/ppt/slideMasters/slideMaster1.xml" Id="R68614c5dacfa4dfc" /><Relationship Type="http://schemas.openxmlformats.org/officeDocument/2006/relationships/notesMaster" Target="/ppt/notesMasters/notesMaster1.xml" Id="R55b960bbff70491e" /><Relationship Type="http://schemas.openxmlformats.org/officeDocument/2006/relationships/presProps" Target="/ppt/presProps.xml" Id="R0ed80c5d9ecf4a89" /><Relationship Type="http://schemas.openxmlformats.org/officeDocument/2006/relationships/tableStyles" Target="/ppt/tableStyles.xml" Id="R43460415731440cf" /><Relationship Type="http://schemas.openxmlformats.org/officeDocument/2006/relationships/font" Target="/ppt/fonts/font.dat" Id="Rc5040c4a58e647ce" /><Relationship Type="http://schemas.openxmlformats.org/officeDocument/2006/relationships/font" Target="/ppt/fonts/font2.dat" Id="R5a17ffecdd9e43fc" /><Relationship Type="http://schemas.openxmlformats.org/officeDocument/2006/relationships/slide" Target="/ppt/slides/slide1.xml" Id="R8c6203b659914ff8" /><Relationship Type="http://schemas.openxmlformats.org/officeDocument/2006/relationships/slide" Target="/ppt/slides/slide2.xml" Id="R406f6ba4350a4248" /><Relationship Type="http://schemas.openxmlformats.org/officeDocument/2006/relationships/slide" Target="/ppt/slides/slide3.xml" Id="R41227ac897764247" /><Relationship Type="http://schemas.openxmlformats.org/officeDocument/2006/relationships/slide" Target="/ppt/slides/slide4.xml" Id="R71df7fdcc60845d9" /><Relationship Type="http://schemas.openxmlformats.org/officeDocument/2006/relationships/slide" Target="/ppt/slides/slide5.xml" Id="Rfbe03e2951db44b0" /><Relationship Type="http://schemas.openxmlformats.org/officeDocument/2006/relationships/slide" Target="/ppt/slides/slide6.xml" Id="R1f59c16108dd487e" /><Relationship Type="http://schemas.openxmlformats.org/officeDocument/2006/relationships/slide" Target="/ppt/slides/slide7.xml" Id="Rcd4e134bcdaa498d" /><Relationship Type="http://schemas.openxmlformats.org/officeDocument/2006/relationships/slide" Target="/ppt/slides/slide8.xml" Id="Ree07470347e34298" /><Relationship Type="http://schemas.openxmlformats.org/officeDocument/2006/relationships/slide" Target="/ppt/slides/slide9.xml" Id="R6fa5e0092e5a4d92" /><Relationship Type="http://schemas.openxmlformats.org/officeDocument/2006/relationships/slide" Target="/ppt/slides/slide10.xml" Id="R8c97ac3de205419e" /><Relationship Type="http://schemas.openxmlformats.org/officeDocument/2006/relationships/slide" Target="/ppt/slides/slide11.xml" Id="R36052a477c344666" /><Relationship Type="http://schemas.openxmlformats.org/officeDocument/2006/relationships/slide" Target="/ppt/slides/slide12.xml" Id="R6f4d715beada4f28" /><Relationship Type="http://schemas.openxmlformats.org/officeDocument/2006/relationships/slide" Target="/ppt/slides/slide13.xml" Id="R7de0cac4af614068" /><Relationship Type="http://schemas.openxmlformats.org/officeDocument/2006/relationships/slide" Target="/ppt/slides/slide14.xml" Id="R2b1f3e7f7ebf4692" /><Relationship Type="http://schemas.openxmlformats.org/officeDocument/2006/relationships/slide" Target="/ppt/slides/slide15.xml" Id="R295a3ab927d040cc" /><Relationship Type="http://schemas.openxmlformats.org/officeDocument/2006/relationships/slide" Target="/ppt/slides/slide16.xml" Id="R0facd6e5b05a4c37" /><Relationship Type="http://schemas.openxmlformats.org/officeDocument/2006/relationships/slide" Target="/ppt/slides/slide17.xml" Id="R89990cbfe06c4a5e" /><Relationship Type="http://schemas.openxmlformats.org/officeDocument/2006/relationships/slide" Target="/ppt/slides/slide18.xml" Id="R8c965f8a8d964ba3" /><Relationship Type="http://schemas.openxmlformats.org/officeDocument/2006/relationships/slide" Target="/ppt/slides/slide19.xml" Id="R1c049eaf277940b3" /><Relationship Type="http://schemas.openxmlformats.org/officeDocument/2006/relationships/slide" Target="/ppt/slides/slide20.xml" Id="Ra33f7ac824a945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74bf5bdf6e44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1046321d814ad8" /><Relationship Type="http://schemas.openxmlformats.org/officeDocument/2006/relationships/notesMaster" Target="/ppt/notesMasters/notesMaster1.xml" Id="R94dd96d008e24b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ae80588df4411f" /><Relationship Type="http://schemas.openxmlformats.org/officeDocument/2006/relationships/notesMaster" Target="/ppt/notesMasters/notesMaster1.xml" Id="R656fca48c3ea47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4125a42e4f447a" /><Relationship Type="http://schemas.openxmlformats.org/officeDocument/2006/relationships/notesMaster" Target="/ppt/notesMasters/notesMaster1.xml" Id="Rc93ed37cb5b349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f95a9fde6548c7" /><Relationship Type="http://schemas.openxmlformats.org/officeDocument/2006/relationships/notesMaster" Target="/ppt/notesMasters/notesMaster1.xml" Id="R597fc211c4c945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448007afa8479f" /><Relationship Type="http://schemas.openxmlformats.org/officeDocument/2006/relationships/notesMaster" Target="/ppt/notesMasters/notesMaster1.xml" Id="Rfc9f7c004d874b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f07167ca7c460e" /><Relationship Type="http://schemas.openxmlformats.org/officeDocument/2006/relationships/notesMaster" Target="/ppt/notesMasters/notesMaster1.xml" Id="R95812b40f7c942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ec7d8dc93b4fc8" /><Relationship Type="http://schemas.openxmlformats.org/officeDocument/2006/relationships/notesMaster" Target="/ppt/notesMasters/notesMaster1.xml" Id="Rc00309f51ca746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209e8c64294913" /><Relationship Type="http://schemas.openxmlformats.org/officeDocument/2006/relationships/notesMaster" Target="/ppt/notesMasters/notesMaster1.xml" Id="Rd1a17500e10a4a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64501263ac4974" /><Relationship Type="http://schemas.openxmlformats.org/officeDocument/2006/relationships/notesMaster" Target="/ppt/notesMasters/notesMaster1.xml" Id="R09840a08c4f148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28236c28aa4a9b" /><Relationship Type="http://schemas.openxmlformats.org/officeDocument/2006/relationships/notesMaster" Target="/ppt/notesMasters/notesMaster1.xml" Id="R1092b986d2b440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37cef1a6654491" /><Relationship Type="http://schemas.openxmlformats.org/officeDocument/2006/relationships/notesMaster" Target="/ppt/notesMasters/notesMaster1.xml" Id="R722131be956c4d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ff05f034b142fa" /><Relationship Type="http://schemas.openxmlformats.org/officeDocument/2006/relationships/notesMaster" Target="/ppt/notesMasters/notesMaster1.xml" Id="Rd99da539ff1747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2d3fe5dffa47f2" /><Relationship Type="http://schemas.openxmlformats.org/officeDocument/2006/relationships/notesMaster" Target="/ppt/notesMasters/notesMaster1.xml" Id="R3b6f3727938941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389efa9c144226" /><Relationship Type="http://schemas.openxmlformats.org/officeDocument/2006/relationships/notesMaster" Target="/ppt/notesMasters/notesMaster1.xml" Id="Reb8b741562bd48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00fe40f55f4183" /><Relationship Type="http://schemas.openxmlformats.org/officeDocument/2006/relationships/notesMaster" Target="/ppt/notesMasters/notesMaster1.xml" Id="R012bee5b332845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570ede66d749df" /><Relationship Type="http://schemas.openxmlformats.org/officeDocument/2006/relationships/notesMaster" Target="/ppt/notesMasters/notesMaster1.xml" Id="R5538534886f849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6f3d2edad446f2" /><Relationship Type="http://schemas.openxmlformats.org/officeDocument/2006/relationships/notesMaster" Target="/ppt/notesMasters/notesMaster1.xml" Id="Rd759c295bdb54c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a9ce824cf6d444b" /><Relationship Type="http://schemas.openxmlformats.org/officeDocument/2006/relationships/notesMaster" Target="/ppt/notesMasters/notesMaster1.xml" Id="R664f29d1b887410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2d0564780e4db7" /><Relationship Type="http://schemas.openxmlformats.org/officeDocument/2006/relationships/notesMaster" Target="/ppt/notesMasters/notesMaster1.xml" Id="Ref76bd8b92254c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16aacbe8854709" /><Relationship Type="http://schemas.openxmlformats.org/officeDocument/2006/relationships/notesMaster" Target="/ppt/notesMasters/notesMaster1.xml" Id="Rd283cb6f9e3546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PRIMARY TEACHING MOMENT</a:t>
            </a:r>
          </a:p>
          <a:p xmlns:a="http://schemas.openxmlformats.org/drawingml/2006/main">
            <a:pPr marL="0" indent="0" algn="l">
              <a:spcBef>
                <a:spcPts val="0"/>
              </a:spcBef>
              <a:spcAft>
                <a:spcPts val="0"/>
              </a:spcAft>
              <a:buNone/>
            </a:pPr>
            <a:r>
              <a:t>Unit 5, Week 21</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REVISIT / REFERENCE</a:t>
            </a:r>
          </a:p>
          <a:p xmlns:a="http://schemas.openxmlformats.org/drawingml/2006/main">
            <a:pPr marL="0" indent="0" algn="l">
              <a:spcBef>
                <a:spcPts val="0"/>
              </a:spcBef>
              <a:spcAft>
                <a:spcPts val="0"/>
              </a:spcAft>
              <a:buNone/>
            </a:pPr>
            <a:r>
              <a:t>Unit 5, Weeks 22, 23, and 26</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REQUIRED WEEK 21 MATERIALS</a:t>
            </a:r>
          </a:p>
          <a:p xmlns:a="http://schemas.openxmlformats.org/drawingml/2006/main">
            <a:pPr marL="0" indent="0" algn="l">
              <a:spcBef>
                <a:spcPts val="0"/>
              </a:spcBef>
              <a:spcAft>
                <a:spcPts val="0"/>
              </a:spcAft>
              <a:buNone/>
            </a:pPr>
            <a:r>
              <a:t>- Unit 5 Student Handouts 1-2</a:t>
            </a:r>
          </a:p>
          <a:p xmlns:a="http://schemas.openxmlformats.org/drawingml/2006/main">
            <a:pPr marL="0" indent="0" algn="l">
              <a:spcBef>
                <a:spcPts val="0"/>
              </a:spcBef>
              <a:spcAft>
                <a:spcPts val="0"/>
              </a:spcAft>
              <a:buNone/>
            </a:pPr>
            <a:r>
              <a:t>- Unit 5 Appendices A and L</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WEEK 22 REVISIT MATERIALS</a:t>
            </a:r>
          </a:p>
          <a:p xmlns:a="http://schemas.openxmlformats.org/drawingml/2006/main">
            <a:pPr marL="0" indent="0" algn="l">
              <a:spcBef>
                <a:spcPts val="0"/>
              </a:spcBef>
              <a:spcAft>
                <a:spcPts val="0"/>
              </a:spcAft>
              <a:buNone/>
            </a:pPr>
            <a:r>
              <a:t>- Unit 5 Student Handout 3</a:t>
            </a:r>
          </a:p>
          <a:p xmlns:a="http://schemas.openxmlformats.org/drawingml/2006/main">
            <a:pPr marL="0" indent="0" algn="l">
              <a:spcBef>
                <a:spcPts val="0"/>
              </a:spcBef>
              <a:spcAft>
                <a:spcPts val="0"/>
              </a:spcAft>
              <a:buNone/>
            </a:pPr>
            <a:r>
              <a:t>- Unit 5 Appendices B-C</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WEEK 23 REVISIT MATERIALS</a:t>
            </a:r>
          </a:p>
          <a:p xmlns:a="http://schemas.openxmlformats.org/drawingml/2006/main">
            <a:pPr marL="0" indent="0" algn="l">
              <a:spcBef>
                <a:spcPts val="0"/>
              </a:spcBef>
              <a:spcAft>
                <a:spcPts val="0"/>
              </a:spcAft>
              <a:buNone/>
            </a:pPr>
            <a:r>
              <a:t>- Unit 5 Student Handout 4</a:t>
            </a:r>
          </a:p>
          <a:p xmlns:a="http://schemas.openxmlformats.org/drawingml/2006/main">
            <a:pPr marL="0" indent="0" algn="l">
              <a:spcBef>
                <a:spcPts val="0"/>
              </a:spcBef>
              <a:spcAft>
                <a:spcPts val="0"/>
              </a:spcAft>
              <a:buNone/>
            </a:pPr>
            <a:r>
              <a:t>- Unit 5 Appendices D-E</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WEEK 26 REVISIT MATERIALS</a:t>
            </a:r>
          </a:p>
          <a:p xmlns:a="http://schemas.openxmlformats.org/drawingml/2006/main">
            <a:pPr marL="0" indent="0" algn="l">
              <a:spcBef>
                <a:spcPts val="0"/>
              </a:spcBef>
              <a:spcAft>
                <a:spcPts val="0"/>
              </a:spcAft>
              <a:buNone/>
            </a:pPr>
            <a:r>
              <a:t>- Unit 5 Student Handout 7</a:t>
            </a:r>
          </a:p>
          <a:p xmlns:a="http://schemas.openxmlformats.org/drawingml/2006/main">
            <a:pPr marL="0" indent="0" algn="l">
              <a:spcBef>
                <a:spcPts val="0"/>
              </a:spcBef>
              <a:spcAft>
                <a:spcPts val="0"/>
              </a:spcAft>
              <a:buNone/>
            </a:pPr>
            <a:r>
              <a:t>- Unit 5 Appendices J-L</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RESOURCE ALIGNMENT</a:t>
            </a:r>
          </a:p>
          <a:p xmlns:a="http://schemas.openxmlformats.org/drawingml/2006/main">
            <a:pPr marL="0" indent="0" algn="l">
              <a:spcBef>
                <a:spcPts val="0"/>
              </a:spcBef>
              <a:spcAft>
                <a:spcPts val="0"/>
              </a:spcAft>
              <a:buNone/>
            </a:pPr>
            <a:r>
              <a:t>Teach report architecture in Week 21. Revisit only the relevant section structure during introduction, methods, and full-report assembly weeks.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Preview the lesson and make the deliverable clear: students are not drafting the full report today. They are learning the structure and beginning the planning map. Remind students that the report will eventually use materials they have already created: research question, method, data, figures, limitations, and interpretation.</a:t>
            </a:r>
            <a:br/>
            <a:br/>
            <a:r>
              <a:t>Resource alignment:</a:t>
            </a:r>
            <a:br/>
            <a:r>
              <a:t>Use with Unit 5 Student Handout 1: Scientific Report Dissection and Unit 5 Student Handout 2: My Research Report Planning Map. Reference Unit 5 Appendix A: Scientific Report Section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to establish that scientific communication is part of research, not an add-on after the “real work.” Ask students: If someone only saw your data file, what would they not understand yet?</a:t>
            </a:r>
            <a:br/>
            <a:br/>
            <a:r>
              <a:t>Resource alignment:</a:t>
            </a:r>
            <a:br/>
            <a:r>
              <a:t>Use as a conceptual setup for Unit 5 Student Handout 2: My Research Report Planning Map. Connects to Unit 5 Appendix A: Scientific Report Section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Walk through the report as a set of reader questions. This helps students understand purpose instead of treating section headings as arbitrary formatting requirements.</a:t>
            </a:r>
            <a:br/>
            <a:br/>
            <a:r>
              <a:t>Resource alignment:</a:t>
            </a:r>
            <a:br/>
            <a:r>
              <a:t>Use with Unit 5 Appendix A: Scientific Report Section Guide and Unit 5 Appendix L: Scientific Report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Students often write reports as chronological narratives. Use this slide to redirect them toward scientific structure. The report may include some sequence, especially in methods, but the whole report should be organized around purpose, evidence, and interpretation.</a:t>
            </a:r>
            <a:br/>
            <a:br/>
            <a:r>
              <a:t>Resource alignment:</a:t>
            </a:r>
            <a:br/>
            <a:r>
              <a:t>Use with Unit 5 Student Handout 2: My Research Report Planning Map. Reference Unit 5 Appendix A: Scientific Report Section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Explain that some teachers may require an abstract and some may use a short summary instead. Students should not start by writing the abstract; they will be better prepared after the full report sections are drafted.</a:t>
            </a:r>
            <a:br/>
            <a:br/>
            <a:r>
              <a:t>Resource alignment:</a:t>
            </a:r>
            <a:br/>
            <a:r>
              <a:t>Reference Unit 5 Appendix A: Scientific Report Section Guide and Unit 5 Appendix L: Scientific Report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not the full introduction-writing lesson, but students need to understand the purpose of the section. Emphasize broad-to-narrow structure and connection to the research question.</a:t>
            </a:r>
            <a:br/>
            <a:br/>
            <a:r>
              <a:t>Resource alignment:</a:t>
            </a:r>
            <a:br/>
            <a:r>
              <a:t>Preview Unit 5 Student Handout 3: Introduction Builder, Unit 5 Appendix B: Introduction Sentence Frames, and Unit 5 Appendix C: Research Question and Hypothesis Guide. For this deck, students record needed introduction content in Unit 5 Student Handout 2: My Research Report Planning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Stress reproducibility and evaluability. A methods section does not need to become a personal story, but it must include enough detail to show how evidence was produced.</a:t>
            </a:r>
            <a:br/>
            <a:br/>
            <a:r>
              <a:t>Resource alignment:</a:t>
            </a:r>
            <a:br/>
            <a:r>
              <a:t>Preview Unit 5 Student Handout 4: Methods Section Builder, Unit 5 Appendix D: Methods Checklist, and Unit 5 Appendix E: Variables and Controls Guide. For today, students map methods details in Unit 5 Student Handout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slide sets up the distinction between results and discussion. Students should learn that results are not just graphs; results also include concise descriptions of patterns and values.</a:t>
            </a:r>
            <a:br/>
            <a:br/>
            <a:r>
              <a:t>Resource alignment:</a:t>
            </a:r>
            <a:br/>
            <a:r>
              <a:t>Preview Unit 5 Student Handout 5: Results and Visuals Builder, Unit 5 Appendix F: Graphing Standards, and Unit 5 Appendix G: Figure and Table Caption Guide. Connects back to Deck 11: Graphing and Visual Ethics.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Do not teach the full discussion lesson here because Deck 14 will focus on it deeply. Use this as a preview: the discussion is where students connect evidence to meaning, limitations, and future work.</a:t>
            </a:r>
            <a:br/>
            <a:br/>
            <a:r>
              <a:t>Resource alignment:</a:t>
            </a:r>
            <a:br/>
            <a:r>
              <a:t>Preview Unit 5 Student Handout 6: Discussion Builder, Unit 5 Appendix H: Claim-Evidence-Reasoning Guide, and Unit 5 Appendix I: Limitations and Error Analysis Guide. Next deck connection: Deck 14: Writing the Discussion — Claim, Evidence,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Help students see that the conclusion is not a second discussion section. It should be concise. The best conclusions leave the reader with the central finding and why it matters without overclaiming.</a:t>
            </a:r>
            <a:br/>
            <a:br/>
            <a:r>
              <a:t>Resource alignment:</a:t>
            </a:r>
            <a:br/>
            <a:r>
              <a:t>Preview Unit 5 Student Handout 7: Conclusion and Full Draft Assembly and Unit 5 Appendix L: Scientific Report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Clarify local citation expectations if your school or department requires a specific format. Students should understand that references are not only for background facts; code, images, datasets, borrowed procedures, and mentor-provided resources may also need credit.</a:t>
            </a:r>
            <a:br/>
            <a:br/>
            <a:r>
              <a:t>Resource alignment:</a:t>
            </a:r>
            <a:br/>
            <a:r>
              <a:t>Reference Unit 5 Appendix A: Scientific Report Section Guide and Unit 5 Appendix L: Scientific Report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Have students say which sentence is more cautious and which section it belongs in. This prepares students for Week 24 and Week 25.</a:t>
            </a:r>
            <a:br/>
            <a:br/>
            <a:r>
              <a:t>Resource alignment:</a:t>
            </a:r>
            <a:br/>
            <a:r>
              <a:t>Use with Unit 5 Student Handout 2: My Research Report Planning Map. Preview Unit 5 Student Handout 5: Results and Visuals Builder and Student Handout 6: Discussion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slide as a warning and a reassurance. Students can avoid many report problems by understanding each section’s purpose before drafting.</a:t>
            </a:r>
            <a:br/>
            <a:br/>
            <a:r>
              <a:t>Resource alignment:</a:t>
            </a:r>
            <a:br/>
            <a:r>
              <a:t>Use with Unit 5 Student Handout 1: Scientific Report Dissection and Unit 5 Student Handout 2: My Research Report Planning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Give students a model report or simplified published paper. If time is limited, use excerpts rather than a full paper. The goal is not to understand every scientific detail; it is to recognize structure and purpose.</a:t>
            </a:r>
            <a:br/>
            <a:br/>
            <a:r>
              <a:t>Resource alignment:</a:t>
            </a:r>
            <a:br/>
            <a:r>
              <a:t>Use Unit 5 Student Handout 1: Scientific Report Dissection. Reference Unit 5 Appendix A: Scientific Report Section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activity can be completed with a teacher-created flawed example. Include common problems such as vague methods, unlabeled graphs, unsupported conclusions, casual language, and missing limitations.</a:t>
            </a:r>
            <a:br/>
            <a:br/>
            <a:r>
              <a:t>Resource alignment:</a:t>
            </a:r>
            <a:br/>
            <a:r>
              <a:t>Use Unit 5 Student Handout 1: Scientific Report Dissection, Part D: Strong vs. Weak Comparison. Reference Unit 5 Appendix A: Scientific Report Section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This is the main student work product for the deck. Circulate and help students identify missing evidence or unclear claims before they begin drafting.</a:t>
            </a:r>
            <a:br/>
            <a:br/>
            <a:r>
              <a:t>Resource alignment:</a:t>
            </a:r>
            <a:br/>
            <a:r>
              <a:t>Use Unit 5 Student Handout 2: My Research Report Planning Map. Reference Unit 5 Appendix L: Scientific Report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Use this as a quick whole-class checkpoint before students submit the report planning map. If students cannot answer the results or discussion questions, they may need to revisit Unit 4 analysis before moving deeper into writing.</a:t>
            </a:r>
            <a:br/>
            <a:br/>
            <a:r>
              <a:t>Resource alignment:</a:t>
            </a:r>
            <a:br/>
            <a:r>
              <a:t>Use with Unit 5 Student Handout 2: My Research Report Planning Map and Unit 5 Appendix A: Scientific Report Section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Collect this to plan writing conferences. Sort students into groups based on their needs: introduction support, methods clarity, results/visuals, discussion/limitations, or missing analysis materials.</a:t>
            </a:r>
            <a:br/>
            <a:br/>
            <a:r>
              <a:t>Resource alignment:</a:t>
            </a:r>
            <a:br/>
            <a:r>
              <a:t>Use after Unit 5 Student Handout 2: My Research Report Planning Map. This prepares students for Week 22: Writing the 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Teacher notes:</a:t>
            </a:r>
            <a:br/>
            <a:r>
              <a:t>Close by previewing the next instructional focus. Students now know the structure of a scientific report; the next deck will focus on the hardest section for most students: the discussion.</a:t>
            </a:r>
            <a:br/>
            <a:br/>
            <a:r>
              <a:t>Resource alignment:</a:t>
            </a:r>
            <a:br/>
            <a:r>
              <a:t>Next deck connection: Deck 14: Writing the Discussion — Claim, Evidence, Reasoning. Continue Unit 5 Week 25 concepts while supporting the report drafting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8a3e522a8e41b1"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6bd052bd424d5d" /><Relationship Type="http://schemas.openxmlformats.org/officeDocument/2006/relationships/slideLayout" Target="/ppt/slideLayouts/slideLayout1.xml" Id="R51a815f019844efe"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1a815f019844ef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d4abce4e174c19" /><Relationship Type="http://schemas.openxmlformats.org/officeDocument/2006/relationships/image" Target="/ppt/media/image.png" Id="R13e9e6d2047a4782" /><Relationship Type="http://schemas.openxmlformats.org/officeDocument/2006/relationships/notesSlide" Target="/ppt/notesSlides/notesSlide1.xml" Id="R194bd5162cbf4a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2a7a6b26104477" /><Relationship Type="http://schemas.openxmlformats.org/officeDocument/2006/relationships/notesSlide" Target="/ppt/notesSlides/notesSlide2.xml" Id="R33ff8d0b1ade4e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193a27383f4c69" /><Relationship Type="http://schemas.openxmlformats.org/officeDocument/2006/relationships/notesSlide" Target="/ppt/notesSlides/notesSlide3.xml" Id="Rbb3c43363e9f46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cb563f696a4e9f" /><Relationship Type="http://schemas.openxmlformats.org/officeDocument/2006/relationships/notesSlide" Target="/ppt/notesSlides/notesSlide4.xml" Id="R9a7f9a8aec8e49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78e26870734ba1" /><Relationship Type="http://schemas.openxmlformats.org/officeDocument/2006/relationships/notesSlide" Target="/ppt/notesSlides/notesSlide5.xml" Id="R43e5b75fc9ed4a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65408e52514a35" /><Relationship Type="http://schemas.openxmlformats.org/officeDocument/2006/relationships/notesSlide" Target="/ppt/notesSlides/notesSlide6.xml" Id="R9d8f68d879524c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ac99045ca046b3" /><Relationship Type="http://schemas.openxmlformats.org/officeDocument/2006/relationships/notesSlide" Target="/ppt/notesSlides/notesSlide7.xml" Id="Rc8afb264d1874f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34a47a6b2c4f4a" /><Relationship Type="http://schemas.openxmlformats.org/officeDocument/2006/relationships/notesSlide" Target="/ppt/notesSlides/notesSlide8.xml" Id="Rc371773499fc4e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1db63e040d41bf" /><Relationship Type="http://schemas.openxmlformats.org/officeDocument/2006/relationships/notesSlide" Target="/ppt/notesSlides/notesSlide9.xml" Id="R2733e94eb9a94b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f93b74054d4daa" /><Relationship Type="http://schemas.openxmlformats.org/officeDocument/2006/relationships/notesSlide" Target="/ppt/notesSlides/notesSlide10.xml" Id="Rafc3a58c996145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d00e14ca6d4254" /><Relationship Type="http://schemas.openxmlformats.org/officeDocument/2006/relationships/notesSlide" Target="/ppt/notesSlides/notesSlide11.xml" Id="R7d0ef8319a2c4e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4434efc29c94366" /><Relationship Type="http://schemas.openxmlformats.org/officeDocument/2006/relationships/notesSlide" Target="/ppt/notesSlides/notesSlide12.xml" Id="R23ff7cbb419747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d3349176a2a4d44" /><Relationship Type="http://schemas.openxmlformats.org/officeDocument/2006/relationships/notesSlide" Target="/ppt/notesSlides/notesSlide13.xml" Id="Rcd1b03826a0749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acf549cdb14c66" /><Relationship Type="http://schemas.openxmlformats.org/officeDocument/2006/relationships/notesSlide" Target="/ppt/notesSlides/notesSlide14.xml" Id="R72892fc1651240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f75b8fd2c114573" /><Relationship Type="http://schemas.openxmlformats.org/officeDocument/2006/relationships/notesSlide" Target="/ppt/notesSlides/notesSlide15.xml" Id="R1669c169f14249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183923ff1f64429" /><Relationship Type="http://schemas.openxmlformats.org/officeDocument/2006/relationships/notesSlide" Target="/ppt/notesSlides/notesSlide16.xml" Id="Rd756d5a4ca61429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76e2bba7a6b417b" /><Relationship Type="http://schemas.openxmlformats.org/officeDocument/2006/relationships/notesSlide" Target="/ppt/notesSlides/notesSlide17.xml" Id="R2e0f668597674b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d8f952cb0474b14" /><Relationship Type="http://schemas.openxmlformats.org/officeDocument/2006/relationships/notesSlide" Target="/ppt/notesSlides/notesSlide18.xml" Id="R152e9f6db1e24c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a362886d10d4e3a" /><Relationship Type="http://schemas.openxmlformats.org/officeDocument/2006/relationships/notesSlide" Target="/ppt/notesSlides/notesSlide19.xml" Id="R03b8a72ef9cd4a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43a7814f9274872" /><Relationship Type="http://schemas.openxmlformats.org/officeDocument/2006/relationships/notesSlide" Target="/ppt/notesSlides/notesSlide20.xml" Id="R73967e8542b64938"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917EA0E-3F42-4CCF-ACDE-C3BB7D8D284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 name="Google Shape;17;p3">
            <a:extLst xmlns:a="http://schemas.openxmlformats.org/drawingml/2006/main">
              <a:ext uri="{FF2B5EF4-FFF2-40B4-BE49-F238E27FC236}">
                <a16:creationId xmlns:a16="http://schemas.microsoft.com/office/drawing/2014/main" id="{B351E853-66F6-47A8-85DA-4273CA426AA9}"/>
              </a:ext>
            </a:extLst>
          </p:cNvPr>
          <p:cNvSpPr>
            <a:spLocks xmlns:a="http://schemas.openxmlformats.org/drawingml/2006/main" noGrp="1"/>
          </p:cNvSpPr>
          <p:nvPr/>
        </p:nvSpPr>
        <p:spPr>
          <a:xfrm xmlns:a="http://schemas.openxmlformats.org/drawingml/2006/main">
            <a:off x="0" y="219456"/>
            <a:ext cx="12191695" cy="82296"/>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 name="Google Shape;18;p3">
            <a:extLst xmlns:a="http://schemas.openxmlformats.org/drawingml/2006/main">
              <a:ext uri="{FF2B5EF4-FFF2-40B4-BE49-F238E27FC236}">
                <a16:creationId xmlns:a16="http://schemas.microsoft.com/office/drawing/2014/main" id="{CE6E09BD-182F-4F0E-8777-5EC82AA53404}"/>
              </a:ext>
            </a:extLst>
          </p:cNvPr>
          <p:cNvSpPr>
            <a:spLocks xmlns:a="http://schemas.openxmlformats.org/drawingml/2006/main" noGrp="1"/>
          </p:cNvSpPr>
          <p:nvPr/>
        </p:nvSpPr>
        <p:spPr>
          <a:xfrm xmlns:a="http://schemas.openxmlformats.org/drawingml/2006/main">
            <a:off x="0" y="6565392"/>
            <a:ext cx="12191695" cy="82296"/>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pic>
        <p:nvPicPr>
          <p:cNvPr id="27" name="Google Shape;19;p3"/>
          <p:cNvPicPr>
            <a:picLocks xmlns:a="http://schemas.openxmlformats.org/drawingml/2006/main" noChangeAspect="1"/>
          </p:cNvPicPr>
          <p:nvPr/>
        </p:nvPicPr>
        <p:blipFill rotWithShape="1">
          <a:blip xmlns:r="http://schemas.openxmlformats.org/officeDocument/2006/relationships" xmlns:a="http://schemas.openxmlformats.org/drawingml/2006/main" r:embed="R13e9e6d2047a4782">
            <a:alphaModFix/>
          </a:blip>
          <a:srcRect xmlns:a="http://schemas.openxmlformats.org/drawingml/2006/main" l="0" t="0" r="0" b="0"/>
          <a:stretch xmlns:a="http://schemas.openxmlformats.org/drawingml/2006/main"/>
        </p:blipFill>
        <p:spPr>
          <a:xfrm xmlns:a="http://schemas.openxmlformats.org/drawingml/2006/main">
            <a:off x="1874520" y="530352"/>
            <a:ext cx="8321040" cy="4169664"/>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7B38E583-389C-40BD-8CFF-40365D9591B0}"/>
              </a:ext>
            </a:extLst>
          </p:cNvPr>
          <p:cNvSpPr>
            <a:spLocks xmlns:a="http://schemas.openxmlformats.org/drawingml/2006/main" noGrp="1"/>
          </p:cNvSpPr>
          <p:nvPr/>
        </p:nvSpPr>
        <p:spPr>
          <a:xfrm xmlns:a="http://schemas.openxmlformats.org/drawingml/2006/main">
            <a:off x="960120" y="5074920"/>
            <a:ext cx="10287000" cy="749808"/>
          </a:xfrm>
          <a:prstGeom xmlns:a="http://schemas.openxmlformats.org/drawingml/2006/main" prst="rect">
            <a:avLst/>
          </a:prstGeom>
          <a:solidFill xmlns:a="http://schemas.openxmlformats.org/drawingml/2006/main">
            <a:srgbClr val="050505">
              <a:alpha val="0"/>
            </a:srgbClr>
          </a:solidFill>
          <a:ln xmlns:a="http://schemas.openxmlformats.org/drawingml/2006/main" w="15225" cmpd="sng">
            <a:solidFill>
              <a:srgbClr val="B8B8B8">
                <a:alpha val="8000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3">
            <a:extLst xmlns:a="http://schemas.openxmlformats.org/drawingml/2006/main">
              <a:ext uri="{FF2B5EF4-FFF2-40B4-BE49-F238E27FC236}">
                <a16:creationId xmlns:a16="http://schemas.microsoft.com/office/drawing/2014/main" id="{C8879B81-A2EB-45EB-950D-A58F43C07752}"/>
              </a:ext>
            </a:extLst>
          </p:cNvPr>
          <p:cNvSpPr>
            <a:spLocks xmlns:a="http://schemas.openxmlformats.org/drawingml/2006/main" noGrp="1"/>
          </p:cNvSpPr>
          <p:nvPr/>
        </p:nvSpPr>
        <p:spPr>
          <a:xfrm xmlns:a="http://schemas.openxmlformats.org/drawingml/2006/main">
            <a:off x="1024128" y="5202936"/>
            <a:ext cx="101498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500"/>
              <a:buFont typeface="Play"/>
              <a:buNone/>
            </a:pPr>
            <a:r>
              <a:rPr sz="2500" b="1" i="0" u="none" cap="none">
                <a:solidFill>
                  <a:srgbClr val="FFFFFF"/>
                </a:solidFill>
                <a:latin typeface="Play"/>
                <a:ea typeface="Play"/>
                <a:cs typeface="Play"/>
              </a:rPr>
              <a:t>SCIENTIFIC REPORT STRUCTURE</a:t>
            </a:r>
          </a:p>
        </p:txBody>
      </p:sp>
      <p:sp>
        <p:nvSpPr>
          <p:cNvPr id="22" name="Google Shape;22;p3">
            <a:extLst xmlns:a="http://schemas.openxmlformats.org/drawingml/2006/main">
              <a:ext uri="{FF2B5EF4-FFF2-40B4-BE49-F238E27FC236}">
                <a16:creationId xmlns:a16="http://schemas.microsoft.com/office/drawing/2014/main" id="{4297359D-7D8F-49EF-8690-BFFB525A83AC}"/>
              </a:ext>
            </a:extLst>
          </p:cNvPr>
          <p:cNvSpPr>
            <a:spLocks xmlns:a="http://schemas.openxmlformats.org/drawingml/2006/main" noGrp="1"/>
          </p:cNvSpPr>
          <p:nvPr/>
        </p:nvSpPr>
        <p:spPr>
          <a:xfrm xmlns:a="http://schemas.openxmlformats.org/drawingml/2006/main">
            <a:off x="1024128" y="5916168"/>
            <a:ext cx="71323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STARLAB Deck 13  •  Unit 5 Core Instruction</a:t>
            </a:r>
          </a:p>
        </p:txBody>
      </p:sp>
    </p:spTree>
    <p:extLst>
      <p:ext uri="{BB962C8B-B14F-4D97-AF65-F5344CB8AC3E}">
        <p14:creationId xmlns:p14="http://schemas.microsoft.com/office/powerpoint/2010/main" val="1592267170"/>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FC41B457-C4B9-401A-8CD7-11E978A7335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 name="Google Shape;29;p4">
            <a:extLst xmlns:a="http://schemas.openxmlformats.org/drawingml/2006/main">
              <a:ext uri="{FF2B5EF4-FFF2-40B4-BE49-F238E27FC236}">
                <a16:creationId xmlns:a16="http://schemas.microsoft.com/office/drawing/2014/main" id="{38A76597-897E-432C-A430-BBCC8299543F}"/>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 name="Google Shape;30;p4">
            <a:extLst xmlns:a="http://schemas.openxmlformats.org/drawingml/2006/main">
              <a:ext uri="{FF2B5EF4-FFF2-40B4-BE49-F238E27FC236}">
                <a16:creationId xmlns:a16="http://schemas.microsoft.com/office/drawing/2014/main" id="{F8395FE9-9CF4-45D3-837F-AD94FAC8F631}"/>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 name="Google Shape;31;p4">
            <a:extLst xmlns:a="http://schemas.openxmlformats.org/drawingml/2006/main">
              <a:ext uri="{FF2B5EF4-FFF2-40B4-BE49-F238E27FC236}">
                <a16:creationId xmlns:a16="http://schemas.microsoft.com/office/drawing/2014/main" id="{F8E5F20F-8092-4F2E-B16D-79A9C9C6F9C8}"/>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SCIENTIFIC REPORTING</a:t>
            </a:r>
          </a:p>
        </p:txBody>
      </p:sp>
      <p:sp>
        <p:nvSpPr>
          <p:cNvPr id="32" name="Google Shape;32;p4">
            <a:extLst xmlns:a="http://schemas.openxmlformats.org/drawingml/2006/main">
              <a:ext uri="{FF2B5EF4-FFF2-40B4-BE49-F238E27FC236}">
                <a16:creationId xmlns:a16="http://schemas.microsoft.com/office/drawing/2014/main" id="{86AD4231-3A61-4E2E-B83E-940F16FC7950}"/>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33" name="Google Shape;33;p4">
            <a:extLst xmlns:a="http://schemas.openxmlformats.org/drawingml/2006/main">
              <a:ext uri="{FF2B5EF4-FFF2-40B4-BE49-F238E27FC236}">
                <a16:creationId xmlns:a16="http://schemas.microsoft.com/office/drawing/2014/main" id="{0ABEBB0A-DB08-4444-9984-D8963CB92169}"/>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13</a:t>
            </a:r>
          </a:p>
        </p:txBody>
      </p:sp>
      <p:sp>
        <p:nvSpPr>
          <p:cNvPr id="34" name="Google Shape;34;p4">
            <a:extLst xmlns:a="http://schemas.openxmlformats.org/drawingml/2006/main">
              <a:ext uri="{FF2B5EF4-FFF2-40B4-BE49-F238E27FC236}">
                <a16:creationId xmlns:a16="http://schemas.microsoft.com/office/drawing/2014/main" id="{5D01A58A-F68A-4195-84A0-5377B8B803D7}"/>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Today’s Target</a:t>
            </a:r>
          </a:p>
        </p:txBody>
      </p:sp>
      <p:sp>
        <p:nvSpPr>
          <p:cNvPr id="35" name="Google Shape;35;p4">
            <a:extLst xmlns:a="http://schemas.openxmlformats.org/drawingml/2006/main">
              <a:ext uri="{FF2B5EF4-FFF2-40B4-BE49-F238E27FC236}">
                <a16:creationId xmlns:a16="http://schemas.microsoft.com/office/drawing/2014/main" id="{B98362D9-F497-4B7B-B8BE-9868E0B9110D}"/>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Move from research activity to scientific communication.</a:t>
            </a:r>
          </a:p>
        </p:txBody>
      </p:sp>
      <p:cxnSp>
        <p:nvCxnSpPr>
          <p:cNvPr id="55" name="Google Shape;36;p4"/>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7" name="Google Shape;37;p4">
            <a:extLst xmlns:a="http://schemas.openxmlformats.org/drawingml/2006/main">
              <a:ext uri="{FF2B5EF4-FFF2-40B4-BE49-F238E27FC236}">
                <a16:creationId xmlns:a16="http://schemas.microsoft.com/office/drawing/2014/main" id="{90E7440A-1E12-44D4-B70E-26F185DB1967}"/>
              </a:ext>
            </a:extLst>
          </p:cNvPr>
          <p:cNvSpPr>
            <a:spLocks xmlns:a="http://schemas.openxmlformats.org/drawingml/2006/main" noGrp="1"/>
          </p:cNvSpPr>
          <p:nvPr/>
        </p:nvSpPr>
        <p:spPr>
          <a:xfrm xmlns:a="http://schemas.openxmlformats.org/drawingml/2006/main">
            <a:off x="822960" y="1783080"/>
            <a:ext cx="3337560" cy="1965960"/>
          </a:xfrm>
          <a:prstGeom xmlns:a="http://schemas.openxmlformats.org/drawingml/2006/main" prst="roundRect">
            <a:avLst>
              <a:gd name="adj" fmla="val 2791"/>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4">
            <a:extLst xmlns:a="http://schemas.openxmlformats.org/drawingml/2006/main">
              <a:ext uri="{FF2B5EF4-FFF2-40B4-BE49-F238E27FC236}">
                <a16:creationId xmlns:a16="http://schemas.microsoft.com/office/drawing/2014/main" id="{B1D5D754-8674-4782-BE8E-6210C0EB3543}"/>
              </a:ext>
            </a:extLst>
          </p:cNvPr>
          <p:cNvSpPr>
            <a:spLocks xmlns:a="http://schemas.openxmlformats.org/drawingml/2006/main" noGrp="1"/>
          </p:cNvSpPr>
          <p:nvPr/>
        </p:nvSpPr>
        <p:spPr>
          <a:xfrm xmlns:a="http://schemas.openxmlformats.org/drawingml/2006/main">
            <a:off x="987552" y="1920240"/>
            <a:ext cx="30083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1. NAME THE STRUCTURE</a:t>
            </a:r>
          </a:p>
        </p:txBody>
      </p:sp>
      <p:sp>
        <p:nvSpPr>
          <p:cNvPr id="39" name="Google Shape;39;p4">
            <a:extLst xmlns:a="http://schemas.openxmlformats.org/drawingml/2006/main">
              <a:ext uri="{FF2B5EF4-FFF2-40B4-BE49-F238E27FC236}">
                <a16:creationId xmlns:a16="http://schemas.microsoft.com/office/drawing/2014/main" id="{A68664FE-5823-4E09-9402-5BF7AAABB859}"/>
              </a:ext>
            </a:extLst>
          </p:cNvPr>
          <p:cNvSpPr>
            <a:spLocks xmlns:a="http://schemas.openxmlformats.org/drawingml/2006/main" noGrp="1"/>
          </p:cNvSpPr>
          <p:nvPr/>
        </p:nvSpPr>
        <p:spPr>
          <a:xfrm xmlns:a="http://schemas.openxmlformats.org/drawingml/2006/main">
            <a:off x="987552" y="2286000"/>
            <a:ext cx="3008376" cy="1307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Identify what belongs in each major report section and why it exists.</a:t>
            </a:r>
          </a:p>
        </p:txBody>
      </p:sp>
      <p:sp>
        <p:nvSpPr>
          <p:cNvPr id="40" name="Google Shape;40;p4">
            <a:extLst xmlns:a="http://schemas.openxmlformats.org/drawingml/2006/main">
              <a:ext uri="{FF2B5EF4-FFF2-40B4-BE49-F238E27FC236}">
                <a16:creationId xmlns:a16="http://schemas.microsoft.com/office/drawing/2014/main" id="{CB61AF34-2C22-4B27-B980-1820A10264B8}"/>
              </a:ext>
            </a:extLst>
          </p:cNvPr>
          <p:cNvSpPr>
            <a:spLocks xmlns:a="http://schemas.openxmlformats.org/drawingml/2006/main" noGrp="1"/>
          </p:cNvSpPr>
          <p:nvPr/>
        </p:nvSpPr>
        <p:spPr>
          <a:xfrm xmlns:a="http://schemas.openxmlformats.org/drawingml/2006/main">
            <a:off x="4434840" y="1783080"/>
            <a:ext cx="3337560" cy="1965960"/>
          </a:xfrm>
          <a:prstGeom xmlns:a="http://schemas.openxmlformats.org/drawingml/2006/main" prst="roundRect">
            <a:avLst>
              <a:gd name="adj" fmla="val 2791"/>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1" name="Google Shape;41;p4">
            <a:extLst xmlns:a="http://schemas.openxmlformats.org/drawingml/2006/main">
              <a:ext uri="{FF2B5EF4-FFF2-40B4-BE49-F238E27FC236}">
                <a16:creationId xmlns:a16="http://schemas.microsoft.com/office/drawing/2014/main" id="{5AECC90B-E626-465E-BB43-2B740CA44BBC}"/>
              </a:ext>
            </a:extLst>
          </p:cNvPr>
          <p:cNvSpPr>
            <a:spLocks xmlns:a="http://schemas.openxmlformats.org/drawingml/2006/main" noGrp="1"/>
          </p:cNvSpPr>
          <p:nvPr/>
        </p:nvSpPr>
        <p:spPr>
          <a:xfrm xmlns:a="http://schemas.openxmlformats.org/drawingml/2006/main">
            <a:off x="4599432" y="1920240"/>
            <a:ext cx="30083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2. SORT THE EVIDENCE</a:t>
            </a:r>
          </a:p>
        </p:txBody>
      </p:sp>
      <p:sp>
        <p:nvSpPr>
          <p:cNvPr id="42" name="Google Shape;42;p4">
            <a:extLst xmlns:a="http://schemas.openxmlformats.org/drawingml/2006/main">
              <a:ext uri="{FF2B5EF4-FFF2-40B4-BE49-F238E27FC236}">
                <a16:creationId xmlns:a16="http://schemas.microsoft.com/office/drawing/2014/main" id="{A97338A3-2413-47F4-B12C-4F8C7C652895}"/>
              </a:ext>
            </a:extLst>
          </p:cNvPr>
          <p:cNvSpPr>
            <a:spLocks xmlns:a="http://schemas.openxmlformats.org/drawingml/2006/main" noGrp="1"/>
          </p:cNvSpPr>
          <p:nvPr/>
        </p:nvSpPr>
        <p:spPr>
          <a:xfrm xmlns:a="http://schemas.openxmlformats.org/drawingml/2006/main">
            <a:off x="4599432" y="2286000"/>
            <a:ext cx="3008376" cy="1307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Decide where background, methods, results, interpretation, and limitations belong.</a:t>
            </a:r>
          </a:p>
        </p:txBody>
      </p:sp>
      <p:sp>
        <p:nvSpPr>
          <p:cNvPr id="43" name="Google Shape;43;p4">
            <a:extLst xmlns:a="http://schemas.openxmlformats.org/drawingml/2006/main">
              <a:ext uri="{FF2B5EF4-FFF2-40B4-BE49-F238E27FC236}">
                <a16:creationId xmlns:a16="http://schemas.microsoft.com/office/drawing/2014/main" id="{F6D87DDD-C857-414A-BB99-01C30E1332AA}"/>
              </a:ext>
            </a:extLst>
          </p:cNvPr>
          <p:cNvSpPr>
            <a:spLocks xmlns:a="http://schemas.openxmlformats.org/drawingml/2006/main" noGrp="1"/>
          </p:cNvSpPr>
          <p:nvPr/>
        </p:nvSpPr>
        <p:spPr>
          <a:xfrm xmlns:a="http://schemas.openxmlformats.org/drawingml/2006/main">
            <a:off x="8046720" y="1783080"/>
            <a:ext cx="3337560" cy="1965960"/>
          </a:xfrm>
          <a:prstGeom xmlns:a="http://schemas.openxmlformats.org/drawingml/2006/main" prst="roundRect">
            <a:avLst>
              <a:gd name="adj" fmla="val 2791"/>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4" name="Google Shape;44;p4">
            <a:extLst xmlns:a="http://schemas.openxmlformats.org/drawingml/2006/main">
              <a:ext uri="{FF2B5EF4-FFF2-40B4-BE49-F238E27FC236}">
                <a16:creationId xmlns:a16="http://schemas.microsoft.com/office/drawing/2014/main" id="{F8429B9E-B2B3-475D-BAF0-0B717840CA09}"/>
              </a:ext>
            </a:extLst>
          </p:cNvPr>
          <p:cNvSpPr>
            <a:spLocks xmlns:a="http://schemas.openxmlformats.org/drawingml/2006/main" noGrp="1"/>
          </p:cNvSpPr>
          <p:nvPr/>
        </p:nvSpPr>
        <p:spPr>
          <a:xfrm xmlns:a="http://schemas.openxmlformats.org/drawingml/2006/main">
            <a:off x="8211312" y="1920240"/>
            <a:ext cx="30083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3. MAP YOUR REPORT</a:t>
            </a:r>
          </a:p>
        </p:txBody>
      </p:sp>
      <p:sp>
        <p:nvSpPr>
          <p:cNvPr id="45" name="Google Shape;45;p4">
            <a:extLst xmlns:a="http://schemas.openxmlformats.org/drawingml/2006/main">
              <a:ext uri="{FF2B5EF4-FFF2-40B4-BE49-F238E27FC236}">
                <a16:creationId xmlns:a16="http://schemas.microsoft.com/office/drawing/2014/main" id="{AD104028-0FDE-4110-95D9-657960E0A991}"/>
              </a:ext>
            </a:extLst>
          </p:cNvPr>
          <p:cNvSpPr>
            <a:spLocks xmlns:a="http://schemas.openxmlformats.org/drawingml/2006/main" noGrp="1"/>
          </p:cNvSpPr>
          <p:nvPr/>
        </p:nvSpPr>
        <p:spPr>
          <a:xfrm xmlns:a="http://schemas.openxmlformats.org/drawingml/2006/main">
            <a:off x="8211312" y="2286000"/>
            <a:ext cx="3008376" cy="1307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Begin planning your own STARLAB report using your project evidence.</a:t>
            </a:r>
          </a:p>
        </p:txBody>
      </p:sp>
      <p:sp>
        <p:nvSpPr>
          <p:cNvPr id="46" name="Google Shape;46;p4">
            <a:extLst xmlns:a="http://schemas.openxmlformats.org/drawingml/2006/main">
              <a:ext uri="{FF2B5EF4-FFF2-40B4-BE49-F238E27FC236}">
                <a16:creationId xmlns:a16="http://schemas.microsoft.com/office/drawing/2014/main" id="{6A0E51A7-9CF8-4125-895F-CBD47735B6D7}"/>
              </a:ext>
            </a:extLst>
          </p:cNvPr>
          <p:cNvSpPr>
            <a:spLocks xmlns:a="http://schemas.openxmlformats.org/drawingml/2006/main" noGrp="1"/>
          </p:cNvSpPr>
          <p:nvPr/>
        </p:nvSpPr>
        <p:spPr>
          <a:xfrm xmlns:a="http://schemas.openxmlformats.org/drawingml/2006/main">
            <a:off x="960120" y="4434840"/>
            <a:ext cx="1024128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400"/>
              <a:buFont typeface="Play"/>
              <a:buNone/>
            </a:pPr>
            <a:r>
              <a:rPr sz="2400" b="1" i="0" u="none" cap="none">
                <a:solidFill>
                  <a:srgbClr val="FFFFFF"/>
                </a:solidFill>
                <a:latin typeface="Play"/>
                <a:ea typeface="Play"/>
                <a:cs typeface="Play"/>
              </a:rPr>
              <a:t>Student work today: annotate a model report, then map your own project into report sections.</a:t>
            </a:r>
          </a:p>
        </p:txBody>
      </p:sp>
    </p:spTree>
    <p:extLst>
      <p:ext uri="{BB962C8B-B14F-4D97-AF65-F5344CB8AC3E}">
        <p14:creationId xmlns:p14="http://schemas.microsoft.com/office/powerpoint/2010/main" val="2096025200"/>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2" name="Google Shape;52;p5">
            <a:extLst xmlns:a="http://schemas.openxmlformats.org/drawingml/2006/main">
              <a:ext uri="{FF2B5EF4-FFF2-40B4-BE49-F238E27FC236}">
                <a16:creationId xmlns:a16="http://schemas.microsoft.com/office/drawing/2014/main" id="{02083734-9897-452C-8481-A7ECF1B04AC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3" name="Google Shape;53;p5">
            <a:extLst xmlns:a="http://schemas.openxmlformats.org/drawingml/2006/main">
              <a:ext uri="{FF2B5EF4-FFF2-40B4-BE49-F238E27FC236}">
                <a16:creationId xmlns:a16="http://schemas.microsoft.com/office/drawing/2014/main" id="{93553C15-70BB-4AB0-8372-42D0AE6CFC29}"/>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4" name="Google Shape;54;p5">
            <a:extLst xmlns:a="http://schemas.openxmlformats.org/drawingml/2006/main">
              <a:ext uri="{FF2B5EF4-FFF2-40B4-BE49-F238E27FC236}">
                <a16:creationId xmlns:a16="http://schemas.microsoft.com/office/drawing/2014/main" id="{6A14C213-DAA2-46E1-81D9-E8B62254A2A0}"/>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5" name="Google Shape;55;p5">
            <a:extLst xmlns:a="http://schemas.openxmlformats.org/drawingml/2006/main">
              <a:ext uri="{FF2B5EF4-FFF2-40B4-BE49-F238E27FC236}">
                <a16:creationId xmlns:a16="http://schemas.microsoft.com/office/drawing/2014/main" id="{BA10E472-CC63-44B8-BE86-DDBDB0F7656F}"/>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SCIENTIFIC REPORTING</a:t>
            </a:r>
          </a:p>
        </p:txBody>
      </p:sp>
      <p:sp>
        <p:nvSpPr>
          <p:cNvPr id="56" name="Google Shape;56;p5">
            <a:extLst xmlns:a="http://schemas.openxmlformats.org/drawingml/2006/main">
              <a:ext uri="{FF2B5EF4-FFF2-40B4-BE49-F238E27FC236}">
                <a16:creationId xmlns:a16="http://schemas.microsoft.com/office/drawing/2014/main" id="{D5B0F980-9E94-4806-97AE-EFC489DE8182}"/>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57" name="Google Shape;57;p5">
            <a:extLst xmlns:a="http://schemas.openxmlformats.org/drawingml/2006/main">
              <a:ext uri="{FF2B5EF4-FFF2-40B4-BE49-F238E27FC236}">
                <a16:creationId xmlns:a16="http://schemas.microsoft.com/office/drawing/2014/main" id="{B32510D2-9748-4BDD-A1DF-521E12FDE36B}"/>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13</a:t>
            </a:r>
          </a:p>
        </p:txBody>
      </p:sp>
      <p:sp>
        <p:nvSpPr>
          <p:cNvPr id="58" name="Google Shape;58;p5">
            <a:extLst xmlns:a="http://schemas.openxmlformats.org/drawingml/2006/main">
              <a:ext uri="{FF2B5EF4-FFF2-40B4-BE49-F238E27FC236}">
                <a16:creationId xmlns:a16="http://schemas.microsoft.com/office/drawing/2014/main" id="{AD135199-C965-4C33-98E6-37CAAA319462}"/>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Why the Project Is Not Finished Yet</a:t>
            </a:r>
          </a:p>
        </p:txBody>
      </p:sp>
      <p:sp>
        <p:nvSpPr>
          <p:cNvPr id="59" name="Google Shape;59;p5">
            <a:extLst xmlns:a="http://schemas.openxmlformats.org/drawingml/2006/main">
              <a:ext uri="{FF2B5EF4-FFF2-40B4-BE49-F238E27FC236}">
                <a16:creationId xmlns:a16="http://schemas.microsoft.com/office/drawing/2014/main" id="{6AA4D196-4455-4AFF-BBDF-B681078BD215}"/>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Research is not complete until others can understand and evaluate it.</a:t>
            </a:r>
          </a:p>
        </p:txBody>
      </p:sp>
      <p:cxnSp>
        <p:nvCxnSpPr>
          <p:cNvPr id="79" name="Google Shape;60;p5"/>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61" name="Google Shape;61;p5">
            <a:extLst xmlns:a="http://schemas.openxmlformats.org/drawingml/2006/main">
              <a:ext uri="{FF2B5EF4-FFF2-40B4-BE49-F238E27FC236}">
                <a16:creationId xmlns:a16="http://schemas.microsoft.com/office/drawing/2014/main" id="{B84AD634-8063-4D8F-AD20-992DBE0EF807}"/>
              </a:ext>
            </a:extLst>
          </p:cNvPr>
          <p:cNvSpPr>
            <a:spLocks xmlns:a="http://schemas.openxmlformats.org/drawingml/2006/main" noGrp="1"/>
          </p:cNvSpPr>
          <p:nvPr/>
        </p:nvSpPr>
        <p:spPr>
          <a:xfrm xmlns:a="http://schemas.openxmlformats.org/drawingml/2006/main">
            <a:off x="914400" y="1783080"/>
            <a:ext cx="1042416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600"/>
              <a:buFont typeface="Play"/>
              <a:buNone/>
            </a:pPr>
            <a:r>
              <a:rPr sz="2600" b="1" i="0" u="none" cap="none">
                <a:solidFill>
                  <a:srgbClr val="FFFFFF"/>
                </a:solidFill>
                <a:latin typeface="Play"/>
                <a:ea typeface="Play"/>
                <a:cs typeface="Play"/>
              </a:rPr>
              <a:t>Completing the investigation is only part of the work.</a:t>
            </a:r>
          </a:p>
        </p:txBody>
      </p:sp>
      <p:sp>
        <p:nvSpPr>
          <p:cNvPr id="62" name="Google Shape;62;p5">
            <a:extLst xmlns:a="http://schemas.openxmlformats.org/drawingml/2006/main">
              <a:ext uri="{FF2B5EF4-FFF2-40B4-BE49-F238E27FC236}">
                <a16:creationId xmlns:a16="http://schemas.microsoft.com/office/drawing/2014/main" id="{2C4AEF9F-D355-45EF-8AE7-7F270F3F11B3}"/>
              </a:ext>
            </a:extLst>
          </p:cNvPr>
          <p:cNvSpPr>
            <a:spLocks xmlns:a="http://schemas.openxmlformats.org/drawingml/2006/main" noGrp="1"/>
          </p:cNvSpPr>
          <p:nvPr/>
        </p:nvSpPr>
        <p:spPr>
          <a:xfrm xmlns:a="http://schemas.openxmlformats.org/drawingml/2006/main">
            <a:off x="914400" y="2606040"/>
            <a:ext cx="3017520" cy="2011680"/>
          </a:xfrm>
          <a:prstGeom xmlns:a="http://schemas.openxmlformats.org/drawingml/2006/main" prst="roundRect">
            <a:avLst>
              <a:gd name="adj" fmla="val 2727"/>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3" name="Google Shape;63;p5">
            <a:extLst xmlns:a="http://schemas.openxmlformats.org/drawingml/2006/main">
              <a:ext uri="{FF2B5EF4-FFF2-40B4-BE49-F238E27FC236}">
                <a16:creationId xmlns:a16="http://schemas.microsoft.com/office/drawing/2014/main" id="{1A04C0EE-D87E-4273-8B21-75D376D7BE2F}"/>
              </a:ext>
            </a:extLst>
          </p:cNvPr>
          <p:cNvSpPr>
            <a:spLocks xmlns:a="http://schemas.openxmlformats.org/drawingml/2006/main" noGrp="1"/>
          </p:cNvSpPr>
          <p:nvPr/>
        </p:nvSpPr>
        <p:spPr>
          <a:xfrm xmlns:a="http://schemas.openxmlformats.org/drawingml/2006/main">
            <a:off x="1078992" y="2743200"/>
            <a:ext cx="26883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REPORT</a:t>
            </a:r>
          </a:p>
        </p:txBody>
      </p:sp>
      <p:sp>
        <p:nvSpPr>
          <p:cNvPr id="64" name="Google Shape;64;p5">
            <a:extLst xmlns:a="http://schemas.openxmlformats.org/drawingml/2006/main">
              <a:ext uri="{FF2B5EF4-FFF2-40B4-BE49-F238E27FC236}">
                <a16:creationId xmlns:a16="http://schemas.microsoft.com/office/drawing/2014/main" id="{6F84A4DE-E8A6-479F-80E0-BA3900377D54}"/>
              </a:ext>
            </a:extLst>
          </p:cNvPr>
          <p:cNvSpPr>
            <a:spLocks xmlns:a="http://schemas.openxmlformats.org/drawingml/2006/main" noGrp="1"/>
          </p:cNvSpPr>
          <p:nvPr/>
        </p:nvSpPr>
        <p:spPr>
          <a:xfrm xmlns:a="http://schemas.openxmlformats.org/drawingml/2006/main">
            <a:off x="1078992" y="3108960"/>
            <a:ext cx="2688336" cy="1353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A written record that lets others understand, evaluate, and build from the work.</a:t>
            </a:r>
          </a:p>
        </p:txBody>
      </p:sp>
      <p:sp>
        <p:nvSpPr>
          <p:cNvPr id="65" name="Google Shape;65;p5">
            <a:extLst xmlns:a="http://schemas.openxmlformats.org/drawingml/2006/main">
              <a:ext uri="{FF2B5EF4-FFF2-40B4-BE49-F238E27FC236}">
                <a16:creationId xmlns:a16="http://schemas.microsoft.com/office/drawing/2014/main" id="{6125212D-18B4-4957-9C0F-82F31FD571C4}"/>
              </a:ext>
            </a:extLst>
          </p:cNvPr>
          <p:cNvSpPr>
            <a:spLocks xmlns:a="http://schemas.openxmlformats.org/drawingml/2006/main" noGrp="1"/>
          </p:cNvSpPr>
          <p:nvPr/>
        </p:nvSpPr>
        <p:spPr>
          <a:xfrm xmlns:a="http://schemas.openxmlformats.org/drawingml/2006/main">
            <a:off x="4590288" y="2606040"/>
            <a:ext cx="3017520" cy="2011680"/>
          </a:xfrm>
          <a:prstGeom xmlns:a="http://schemas.openxmlformats.org/drawingml/2006/main" prst="roundRect">
            <a:avLst>
              <a:gd name="adj" fmla="val 2727"/>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6" name="Google Shape;66;p5">
            <a:extLst xmlns:a="http://schemas.openxmlformats.org/drawingml/2006/main">
              <a:ext uri="{FF2B5EF4-FFF2-40B4-BE49-F238E27FC236}">
                <a16:creationId xmlns:a16="http://schemas.microsoft.com/office/drawing/2014/main" id="{7D850CBB-F58B-4E39-90C5-E32C81BF0B16}"/>
              </a:ext>
            </a:extLst>
          </p:cNvPr>
          <p:cNvSpPr>
            <a:spLocks xmlns:a="http://schemas.openxmlformats.org/drawingml/2006/main" noGrp="1"/>
          </p:cNvSpPr>
          <p:nvPr/>
        </p:nvSpPr>
        <p:spPr>
          <a:xfrm xmlns:a="http://schemas.openxmlformats.org/drawingml/2006/main">
            <a:off x="4754880" y="2743200"/>
            <a:ext cx="26883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VISUALS</a:t>
            </a:r>
          </a:p>
        </p:txBody>
      </p:sp>
      <p:sp>
        <p:nvSpPr>
          <p:cNvPr id="67" name="Google Shape;67;p5">
            <a:extLst xmlns:a="http://schemas.openxmlformats.org/drawingml/2006/main">
              <a:ext uri="{FF2B5EF4-FFF2-40B4-BE49-F238E27FC236}">
                <a16:creationId xmlns:a16="http://schemas.microsoft.com/office/drawing/2014/main" id="{D414BDF6-7198-41B8-962C-98C841553130}"/>
              </a:ext>
            </a:extLst>
          </p:cNvPr>
          <p:cNvSpPr>
            <a:spLocks xmlns:a="http://schemas.openxmlformats.org/drawingml/2006/main" noGrp="1"/>
          </p:cNvSpPr>
          <p:nvPr/>
        </p:nvSpPr>
        <p:spPr>
          <a:xfrm xmlns:a="http://schemas.openxmlformats.org/drawingml/2006/main">
            <a:off x="4754880" y="3108960"/>
            <a:ext cx="2688336" cy="1353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Graphs, tables, diagrams, and images that make evidence visible and honest.</a:t>
            </a:r>
          </a:p>
        </p:txBody>
      </p:sp>
      <p:sp>
        <p:nvSpPr>
          <p:cNvPr id="68" name="Google Shape;68;p5">
            <a:extLst xmlns:a="http://schemas.openxmlformats.org/drawingml/2006/main">
              <a:ext uri="{FF2B5EF4-FFF2-40B4-BE49-F238E27FC236}">
                <a16:creationId xmlns:a16="http://schemas.microsoft.com/office/drawing/2014/main" id="{BF615B9C-98BC-4092-BA19-F8D21DA19C30}"/>
              </a:ext>
            </a:extLst>
          </p:cNvPr>
          <p:cNvSpPr>
            <a:spLocks xmlns:a="http://schemas.openxmlformats.org/drawingml/2006/main" noGrp="1"/>
          </p:cNvSpPr>
          <p:nvPr/>
        </p:nvSpPr>
        <p:spPr>
          <a:xfrm xmlns:a="http://schemas.openxmlformats.org/drawingml/2006/main">
            <a:off x="8275320" y="2606040"/>
            <a:ext cx="3017520" cy="2011680"/>
          </a:xfrm>
          <a:prstGeom xmlns:a="http://schemas.openxmlformats.org/drawingml/2006/main" prst="roundRect">
            <a:avLst>
              <a:gd name="adj" fmla="val 2727"/>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69" name="Google Shape;69;p5">
            <a:extLst xmlns:a="http://schemas.openxmlformats.org/drawingml/2006/main">
              <a:ext uri="{FF2B5EF4-FFF2-40B4-BE49-F238E27FC236}">
                <a16:creationId xmlns:a16="http://schemas.microsoft.com/office/drawing/2014/main" id="{11AE0BC2-D40F-4733-A07D-576C488397F7}"/>
              </a:ext>
            </a:extLst>
          </p:cNvPr>
          <p:cNvSpPr>
            <a:spLocks xmlns:a="http://schemas.openxmlformats.org/drawingml/2006/main" noGrp="1"/>
          </p:cNvSpPr>
          <p:nvPr/>
        </p:nvSpPr>
        <p:spPr>
          <a:xfrm xmlns:a="http://schemas.openxmlformats.org/drawingml/2006/main">
            <a:off x="8439912" y="2743200"/>
            <a:ext cx="26883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PRESENTATION</a:t>
            </a:r>
          </a:p>
        </p:txBody>
      </p:sp>
      <p:sp>
        <p:nvSpPr>
          <p:cNvPr id="70" name="Google Shape;70;p5">
            <a:extLst xmlns:a="http://schemas.openxmlformats.org/drawingml/2006/main">
              <a:ext uri="{FF2B5EF4-FFF2-40B4-BE49-F238E27FC236}">
                <a16:creationId xmlns:a16="http://schemas.microsoft.com/office/drawing/2014/main" id="{65E2FBD2-CCA1-40C0-A5A2-156693332D53}"/>
              </a:ext>
            </a:extLst>
          </p:cNvPr>
          <p:cNvSpPr>
            <a:spLocks xmlns:a="http://schemas.openxmlformats.org/drawingml/2006/main" noGrp="1"/>
          </p:cNvSpPr>
          <p:nvPr/>
        </p:nvSpPr>
        <p:spPr>
          <a:xfrm xmlns:a="http://schemas.openxmlformats.org/drawingml/2006/main">
            <a:off x="8439912" y="3108960"/>
            <a:ext cx="2688336" cy="1353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700"/>
              <a:buFont typeface="Arial"/>
              <a:buNone/>
            </a:pPr>
            <a:r>
              <a:rPr sz="1700" b="0" i="0" u="none" cap="none">
                <a:solidFill>
                  <a:srgbClr val="FFFFFF"/>
                </a:solidFill>
                <a:latin typeface="Arial"/>
                <a:ea typeface="Arial"/>
                <a:cs typeface="Arial"/>
              </a:rPr>
              <a:t>A spoken explanation that guides an audience through the research story.</a:t>
            </a:r>
          </a:p>
        </p:txBody>
      </p:sp>
    </p:spTree>
    <p:extLst>
      <p:ext uri="{BB962C8B-B14F-4D97-AF65-F5344CB8AC3E}">
        <p14:creationId xmlns:p14="http://schemas.microsoft.com/office/powerpoint/2010/main" val="636570639"/>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6" name="Google Shape;76;p6">
            <a:extLst xmlns:a="http://schemas.openxmlformats.org/drawingml/2006/main">
              <a:ext uri="{FF2B5EF4-FFF2-40B4-BE49-F238E27FC236}">
                <a16:creationId xmlns:a16="http://schemas.microsoft.com/office/drawing/2014/main" id="{94D43669-4477-4541-8B34-76A6899A28F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7" name="Google Shape;77;p6">
            <a:extLst xmlns:a="http://schemas.openxmlformats.org/drawingml/2006/main">
              <a:ext uri="{FF2B5EF4-FFF2-40B4-BE49-F238E27FC236}">
                <a16:creationId xmlns:a16="http://schemas.microsoft.com/office/drawing/2014/main" id="{6265E485-E930-4F80-88F9-72514C9BAED8}"/>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8" name="Google Shape;78;p6">
            <a:extLst xmlns:a="http://schemas.openxmlformats.org/drawingml/2006/main">
              <a:ext uri="{FF2B5EF4-FFF2-40B4-BE49-F238E27FC236}">
                <a16:creationId xmlns:a16="http://schemas.microsoft.com/office/drawing/2014/main" id="{7E0CC089-694C-4E89-8258-7718F40F0695}"/>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79" name="Google Shape;79;p6">
            <a:extLst xmlns:a="http://schemas.openxmlformats.org/drawingml/2006/main">
              <a:ext uri="{FF2B5EF4-FFF2-40B4-BE49-F238E27FC236}">
                <a16:creationId xmlns:a16="http://schemas.microsoft.com/office/drawing/2014/main" id="{379CB447-F9A1-4B87-BBBF-154A8A992A71}"/>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SCIENTIFIC REPORTING</a:t>
            </a:r>
          </a:p>
        </p:txBody>
      </p:sp>
      <p:sp>
        <p:nvSpPr>
          <p:cNvPr id="80" name="Google Shape;80;p6">
            <a:extLst xmlns:a="http://schemas.openxmlformats.org/drawingml/2006/main">
              <a:ext uri="{FF2B5EF4-FFF2-40B4-BE49-F238E27FC236}">
                <a16:creationId xmlns:a16="http://schemas.microsoft.com/office/drawing/2014/main" id="{7198A974-DEB3-4213-945C-F9833800C548}"/>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81" name="Google Shape;81;p6">
            <a:extLst xmlns:a="http://schemas.openxmlformats.org/drawingml/2006/main">
              <a:ext uri="{FF2B5EF4-FFF2-40B4-BE49-F238E27FC236}">
                <a16:creationId xmlns:a16="http://schemas.microsoft.com/office/drawing/2014/main" id="{9D07D0A4-C8F1-4D07-A666-A96D64031439}"/>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13</a:t>
            </a:r>
          </a:p>
        </p:txBody>
      </p:sp>
      <p:sp>
        <p:nvSpPr>
          <p:cNvPr id="82" name="Google Shape;82;p6">
            <a:extLst xmlns:a="http://schemas.openxmlformats.org/drawingml/2006/main">
              <a:ext uri="{FF2B5EF4-FFF2-40B4-BE49-F238E27FC236}">
                <a16:creationId xmlns:a16="http://schemas.microsoft.com/office/drawing/2014/main" id="{183C5B66-082B-42BF-A71D-8E4A69685F00}"/>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The Scientific Report Has a Job</a:t>
            </a:r>
          </a:p>
        </p:txBody>
      </p:sp>
      <p:sp>
        <p:nvSpPr>
          <p:cNvPr id="83" name="Google Shape;83;p6">
            <a:extLst xmlns:a="http://schemas.openxmlformats.org/drawingml/2006/main">
              <a:ext uri="{FF2B5EF4-FFF2-40B4-BE49-F238E27FC236}">
                <a16:creationId xmlns:a16="http://schemas.microsoft.com/office/drawing/2014/main" id="{BF6E03BC-E111-41ED-BE84-1B00032F5D6D}"/>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Each section answers a different reader question.</a:t>
            </a:r>
          </a:p>
        </p:txBody>
      </p:sp>
      <p:cxnSp>
        <p:nvCxnSpPr>
          <p:cNvPr id="108" name="Google Shape;84;p6"/>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85" name="Google Shape;85;p6">
            <a:extLst xmlns:a="http://schemas.openxmlformats.org/drawingml/2006/main">
              <a:ext uri="{FF2B5EF4-FFF2-40B4-BE49-F238E27FC236}">
                <a16:creationId xmlns:a16="http://schemas.microsoft.com/office/drawing/2014/main" id="{17B32699-5692-47F0-93BB-BB26A5EE41BA}"/>
              </a:ext>
            </a:extLst>
          </p:cNvPr>
          <p:cNvSpPr>
            <a:spLocks xmlns:a="http://schemas.openxmlformats.org/drawingml/2006/main" noGrp="1"/>
          </p:cNvSpPr>
          <p:nvPr/>
        </p:nvSpPr>
        <p:spPr>
          <a:xfrm xmlns:a="http://schemas.openxmlformats.org/drawingml/2006/main">
            <a:off x="960120" y="1737360"/>
            <a:ext cx="2377440" cy="43891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6" name="Google Shape;86;p6">
            <a:extLst xmlns:a="http://schemas.openxmlformats.org/drawingml/2006/main">
              <a:ext uri="{FF2B5EF4-FFF2-40B4-BE49-F238E27FC236}">
                <a16:creationId xmlns:a16="http://schemas.microsoft.com/office/drawing/2014/main" id="{D0D6DDDB-A0E9-46C9-911D-1121264C65A8}"/>
              </a:ext>
            </a:extLst>
          </p:cNvPr>
          <p:cNvSpPr>
            <a:spLocks xmlns:a="http://schemas.openxmlformats.org/drawingml/2006/main" noGrp="1"/>
          </p:cNvSpPr>
          <p:nvPr/>
        </p:nvSpPr>
        <p:spPr>
          <a:xfrm xmlns:a="http://schemas.openxmlformats.org/drawingml/2006/main">
            <a:off x="1051560" y="1856232"/>
            <a:ext cx="21945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INTRODUCTION</a:t>
            </a:r>
          </a:p>
        </p:txBody>
      </p:sp>
      <p:sp>
        <p:nvSpPr>
          <p:cNvPr id="87" name="Google Shape;87;p6">
            <a:extLst xmlns:a="http://schemas.openxmlformats.org/drawingml/2006/main">
              <a:ext uri="{FF2B5EF4-FFF2-40B4-BE49-F238E27FC236}">
                <a16:creationId xmlns:a16="http://schemas.microsoft.com/office/drawing/2014/main" id="{FC1F4A09-43D5-45B5-8C31-D7E0122C7FC8}"/>
              </a:ext>
            </a:extLst>
          </p:cNvPr>
          <p:cNvSpPr>
            <a:spLocks xmlns:a="http://schemas.openxmlformats.org/drawingml/2006/main" noGrp="1"/>
          </p:cNvSpPr>
          <p:nvPr/>
        </p:nvSpPr>
        <p:spPr>
          <a:xfrm xmlns:a="http://schemas.openxmlformats.org/drawingml/2006/main">
            <a:off x="3657600" y="1792224"/>
            <a:ext cx="726948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Why does this project matter?</a:t>
            </a:r>
          </a:p>
        </p:txBody>
      </p:sp>
      <p:sp>
        <p:nvSpPr>
          <p:cNvPr id="88" name="Google Shape;88;p6">
            <a:extLst xmlns:a="http://schemas.openxmlformats.org/drawingml/2006/main">
              <a:ext uri="{FF2B5EF4-FFF2-40B4-BE49-F238E27FC236}">
                <a16:creationId xmlns:a16="http://schemas.microsoft.com/office/drawing/2014/main" id="{F1C41C16-CC1D-4C96-884D-11571D9C1526}"/>
              </a:ext>
            </a:extLst>
          </p:cNvPr>
          <p:cNvSpPr>
            <a:spLocks xmlns:a="http://schemas.openxmlformats.org/drawingml/2006/main" noGrp="1"/>
          </p:cNvSpPr>
          <p:nvPr/>
        </p:nvSpPr>
        <p:spPr>
          <a:xfrm xmlns:a="http://schemas.openxmlformats.org/drawingml/2006/main">
            <a:off x="960120" y="2487168"/>
            <a:ext cx="2377440" cy="43891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89" name="Google Shape;89;p6">
            <a:extLst xmlns:a="http://schemas.openxmlformats.org/drawingml/2006/main">
              <a:ext uri="{FF2B5EF4-FFF2-40B4-BE49-F238E27FC236}">
                <a16:creationId xmlns:a16="http://schemas.microsoft.com/office/drawing/2014/main" id="{03B0C697-026C-436B-9C6E-4B4D92F8A8E0}"/>
              </a:ext>
            </a:extLst>
          </p:cNvPr>
          <p:cNvSpPr>
            <a:spLocks xmlns:a="http://schemas.openxmlformats.org/drawingml/2006/main" noGrp="1"/>
          </p:cNvSpPr>
          <p:nvPr/>
        </p:nvSpPr>
        <p:spPr>
          <a:xfrm xmlns:a="http://schemas.openxmlformats.org/drawingml/2006/main">
            <a:off x="1051560" y="2606040"/>
            <a:ext cx="21945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METHODS</a:t>
            </a:r>
          </a:p>
        </p:txBody>
      </p:sp>
      <p:sp>
        <p:nvSpPr>
          <p:cNvPr id="90" name="Google Shape;90;p6">
            <a:extLst xmlns:a="http://schemas.openxmlformats.org/drawingml/2006/main">
              <a:ext uri="{FF2B5EF4-FFF2-40B4-BE49-F238E27FC236}">
                <a16:creationId xmlns:a16="http://schemas.microsoft.com/office/drawing/2014/main" id="{C93ED879-7C64-4C6C-8B98-F9146EFC9B5C}"/>
              </a:ext>
            </a:extLst>
          </p:cNvPr>
          <p:cNvSpPr>
            <a:spLocks xmlns:a="http://schemas.openxmlformats.org/drawingml/2006/main" noGrp="1"/>
          </p:cNvSpPr>
          <p:nvPr/>
        </p:nvSpPr>
        <p:spPr>
          <a:xfrm xmlns:a="http://schemas.openxmlformats.org/drawingml/2006/main">
            <a:off x="3657600" y="2542032"/>
            <a:ext cx="726948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What exactly was done?</a:t>
            </a:r>
          </a:p>
        </p:txBody>
      </p:sp>
      <p:sp>
        <p:nvSpPr>
          <p:cNvPr id="91" name="Google Shape;91;p6">
            <a:extLst xmlns:a="http://schemas.openxmlformats.org/drawingml/2006/main">
              <a:ext uri="{FF2B5EF4-FFF2-40B4-BE49-F238E27FC236}">
                <a16:creationId xmlns:a16="http://schemas.microsoft.com/office/drawing/2014/main" id="{31AB9BDD-E909-445E-9845-09E99C609AF4}"/>
              </a:ext>
            </a:extLst>
          </p:cNvPr>
          <p:cNvSpPr>
            <a:spLocks xmlns:a="http://schemas.openxmlformats.org/drawingml/2006/main" noGrp="1"/>
          </p:cNvSpPr>
          <p:nvPr/>
        </p:nvSpPr>
        <p:spPr>
          <a:xfrm xmlns:a="http://schemas.openxmlformats.org/drawingml/2006/main">
            <a:off x="960120" y="3236976"/>
            <a:ext cx="2377440" cy="43891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2" name="Google Shape;92;p6">
            <a:extLst xmlns:a="http://schemas.openxmlformats.org/drawingml/2006/main">
              <a:ext uri="{FF2B5EF4-FFF2-40B4-BE49-F238E27FC236}">
                <a16:creationId xmlns:a16="http://schemas.microsoft.com/office/drawing/2014/main" id="{CE7A2459-3B52-46C0-A8C2-703811CE98BD}"/>
              </a:ext>
            </a:extLst>
          </p:cNvPr>
          <p:cNvSpPr>
            <a:spLocks xmlns:a="http://schemas.openxmlformats.org/drawingml/2006/main" noGrp="1"/>
          </p:cNvSpPr>
          <p:nvPr/>
        </p:nvSpPr>
        <p:spPr>
          <a:xfrm xmlns:a="http://schemas.openxmlformats.org/drawingml/2006/main">
            <a:off x="1051560" y="3355848"/>
            <a:ext cx="21945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RESULTS</a:t>
            </a:r>
          </a:p>
        </p:txBody>
      </p:sp>
      <p:sp>
        <p:nvSpPr>
          <p:cNvPr id="93" name="Google Shape;93;p6">
            <a:extLst xmlns:a="http://schemas.openxmlformats.org/drawingml/2006/main">
              <a:ext uri="{FF2B5EF4-FFF2-40B4-BE49-F238E27FC236}">
                <a16:creationId xmlns:a16="http://schemas.microsoft.com/office/drawing/2014/main" id="{E7246566-1A60-4B9F-B063-B832616AEB14}"/>
              </a:ext>
            </a:extLst>
          </p:cNvPr>
          <p:cNvSpPr>
            <a:spLocks xmlns:a="http://schemas.openxmlformats.org/drawingml/2006/main" noGrp="1"/>
          </p:cNvSpPr>
          <p:nvPr/>
        </p:nvSpPr>
        <p:spPr>
          <a:xfrm xmlns:a="http://schemas.openxmlformats.org/drawingml/2006/main">
            <a:off x="3657600" y="3291840"/>
            <a:ext cx="726948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What did the evidence show?</a:t>
            </a:r>
          </a:p>
        </p:txBody>
      </p:sp>
      <p:sp>
        <p:nvSpPr>
          <p:cNvPr id="94" name="Google Shape;94;p6">
            <a:extLst xmlns:a="http://schemas.openxmlformats.org/drawingml/2006/main">
              <a:ext uri="{FF2B5EF4-FFF2-40B4-BE49-F238E27FC236}">
                <a16:creationId xmlns:a16="http://schemas.microsoft.com/office/drawing/2014/main" id="{73B3FF3C-E02B-4E11-88ED-6461F4AF7FBE}"/>
              </a:ext>
            </a:extLst>
          </p:cNvPr>
          <p:cNvSpPr>
            <a:spLocks xmlns:a="http://schemas.openxmlformats.org/drawingml/2006/main" noGrp="1"/>
          </p:cNvSpPr>
          <p:nvPr/>
        </p:nvSpPr>
        <p:spPr>
          <a:xfrm xmlns:a="http://schemas.openxmlformats.org/drawingml/2006/main">
            <a:off x="960120" y="3986784"/>
            <a:ext cx="2377440" cy="43891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5" name="Google Shape;95;p6">
            <a:extLst xmlns:a="http://schemas.openxmlformats.org/drawingml/2006/main">
              <a:ext uri="{FF2B5EF4-FFF2-40B4-BE49-F238E27FC236}">
                <a16:creationId xmlns:a16="http://schemas.microsoft.com/office/drawing/2014/main" id="{BC7BCF05-5429-4F77-BFF1-EC6BDD5AD627}"/>
              </a:ext>
            </a:extLst>
          </p:cNvPr>
          <p:cNvSpPr>
            <a:spLocks xmlns:a="http://schemas.openxmlformats.org/drawingml/2006/main" noGrp="1"/>
          </p:cNvSpPr>
          <p:nvPr/>
        </p:nvSpPr>
        <p:spPr>
          <a:xfrm xmlns:a="http://schemas.openxmlformats.org/drawingml/2006/main">
            <a:off x="1051560" y="4105656"/>
            <a:ext cx="21945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DISCUSSION</a:t>
            </a:r>
          </a:p>
        </p:txBody>
      </p:sp>
      <p:sp>
        <p:nvSpPr>
          <p:cNvPr id="96" name="Google Shape;96;p6">
            <a:extLst xmlns:a="http://schemas.openxmlformats.org/drawingml/2006/main">
              <a:ext uri="{FF2B5EF4-FFF2-40B4-BE49-F238E27FC236}">
                <a16:creationId xmlns:a16="http://schemas.microsoft.com/office/drawing/2014/main" id="{64BB8474-92D1-4CCE-9729-23B7A46AE4DF}"/>
              </a:ext>
            </a:extLst>
          </p:cNvPr>
          <p:cNvSpPr>
            <a:spLocks xmlns:a="http://schemas.openxmlformats.org/drawingml/2006/main" noGrp="1"/>
          </p:cNvSpPr>
          <p:nvPr/>
        </p:nvSpPr>
        <p:spPr>
          <a:xfrm xmlns:a="http://schemas.openxmlformats.org/drawingml/2006/main">
            <a:off x="3657600" y="4041648"/>
            <a:ext cx="726948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What does the evidence mean?</a:t>
            </a:r>
          </a:p>
        </p:txBody>
      </p:sp>
      <p:sp>
        <p:nvSpPr>
          <p:cNvPr id="97" name="Google Shape;97;p6">
            <a:extLst xmlns:a="http://schemas.openxmlformats.org/drawingml/2006/main">
              <a:ext uri="{FF2B5EF4-FFF2-40B4-BE49-F238E27FC236}">
                <a16:creationId xmlns:a16="http://schemas.microsoft.com/office/drawing/2014/main" id="{C1D2103F-E734-4358-A5FA-BBA95C7FE701}"/>
              </a:ext>
            </a:extLst>
          </p:cNvPr>
          <p:cNvSpPr>
            <a:spLocks xmlns:a="http://schemas.openxmlformats.org/drawingml/2006/main" noGrp="1"/>
          </p:cNvSpPr>
          <p:nvPr/>
        </p:nvSpPr>
        <p:spPr>
          <a:xfrm xmlns:a="http://schemas.openxmlformats.org/drawingml/2006/main">
            <a:off x="960120" y="4736592"/>
            <a:ext cx="2377440" cy="43891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8" name="Google Shape;98;p6">
            <a:extLst xmlns:a="http://schemas.openxmlformats.org/drawingml/2006/main">
              <a:ext uri="{FF2B5EF4-FFF2-40B4-BE49-F238E27FC236}">
                <a16:creationId xmlns:a16="http://schemas.microsoft.com/office/drawing/2014/main" id="{64BE57B2-7964-4C3E-AD3E-33F774FDA260}"/>
              </a:ext>
            </a:extLst>
          </p:cNvPr>
          <p:cNvSpPr>
            <a:spLocks xmlns:a="http://schemas.openxmlformats.org/drawingml/2006/main" noGrp="1"/>
          </p:cNvSpPr>
          <p:nvPr/>
        </p:nvSpPr>
        <p:spPr>
          <a:xfrm xmlns:a="http://schemas.openxmlformats.org/drawingml/2006/main">
            <a:off x="1051560" y="4855464"/>
            <a:ext cx="21945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CONCLUSION</a:t>
            </a:r>
          </a:p>
        </p:txBody>
      </p:sp>
      <p:sp>
        <p:nvSpPr>
          <p:cNvPr id="99" name="Google Shape;99;p6">
            <a:extLst xmlns:a="http://schemas.openxmlformats.org/drawingml/2006/main">
              <a:ext uri="{FF2B5EF4-FFF2-40B4-BE49-F238E27FC236}">
                <a16:creationId xmlns:a16="http://schemas.microsoft.com/office/drawing/2014/main" id="{80F5D50F-C835-4119-A94D-91AF42E02347}"/>
              </a:ext>
            </a:extLst>
          </p:cNvPr>
          <p:cNvSpPr>
            <a:spLocks xmlns:a="http://schemas.openxmlformats.org/drawingml/2006/main" noGrp="1"/>
          </p:cNvSpPr>
          <p:nvPr/>
        </p:nvSpPr>
        <p:spPr>
          <a:xfrm xmlns:a="http://schemas.openxmlformats.org/drawingml/2006/main">
            <a:off x="3657600" y="4791456"/>
            <a:ext cx="726948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200"/>
              <a:buFont typeface="Play"/>
              <a:buNone/>
            </a:pPr>
            <a:r>
              <a:rPr sz="2200" b="1" i="0" u="none" cap="none">
                <a:solidFill>
                  <a:srgbClr val="FFFFFF"/>
                </a:solidFill>
                <a:latin typeface="Play"/>
                <a:ea typeface="Play"/>
                <a:cs typeface="Play"/>
              </a:rPr>
              <a:t>What is the main takeaway?</a:t>
            </a:r>
          </a:p>
        </p:txBody>
      </p:sp>
    </p:spTree>
    <p:extLst>
      <p:ext uri="{BB962C8B-B14F-4D97-AF65-F5344CB8AC3E}">
        <p14:creationId xmlns:p14="http://schemas.microsoft.com/office/powerpoint/2010/main" val="1715458685"/>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05" name="Google Shape;105;p7">
            <a:extLst xmlns:a="http://schemas.openxmlformats.org/drawingml/2006/main">
              <a:ext uri="{FF2B5EF4-FFF2-40B4-BE49-F238E27FC236}">
                <a16:creationId xmlns:a16="http://schemas.microsoft.com/office/drawing/2014/main" id="{1D1E117B-02DB-47A2-8C92-07E1FB1DEAA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6" name="Google Shape;106;p7">
            <a:extLst xmlns:a="http://schemas.openxmlformats.org/drawingml/2006/main">
              <a:ext uri="{FF2B5EF4-FFF2-40B4-BE49-F238E27FC236}">
                <a16:creationId xmlns:a16="http://schemas.microsoft.com/office/drawing/2014/main" id="{82216201-DEED-45BB-A3F4-9D8BE3FA7161}"/>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7" name="Google Shape;107;p7">
            <a:extLst xmlns:a="http://schemas.openxmlformats.org/drawingml/2006/main">
              <a:ext uri="{FF2B5EF4-FFF2-40B4-BE49-F238E27FC236}">
                <a16:creationId xmlns:a16="http://schemas.microsoft.com/office/drawing/2014/main" id="{7CA782D3-E4D0-4AAD-B158-25780532E92E}"/>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8" name="Google Shape;108;p7">
            <a:extLst xmlns:a="http://schemas.openxmlformats.org/drawingml/2006/main">
              <a:ext uri="{FF2B5EF4-FFF2-40B4-BE49-F238E27FC236}">
                <a16:creationId xmlns:a16="http://schemas.microsoft.com/office/drawing/2014/main" id="{84EAFCE5-3C60-4B77-945B-04EA8A8F4310}"/>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SCIENTIFIC REPORTING</a:t>
            </a:r>
          </a:p>
        </p:txBody>
      </p:sp>
      <p:sp>
        <p:nvSpPr>
          <p:cNvPr id="109" name="Google Shape;109;p7">
            <a:extLst xmlns:a="http://schemas.openxmlformats.org/drawingml/2006/main">
              <a:ext uri="{FF2B5EF4-FFF2-40B4-BE49-F238E27FC236}">
                <a16:creationId xmlns:a16="http://schemas.microsoft.com/office/drawing/2014/main" id="{2251E3DF-481D-490A-9AAD-1FDE76EB080B}"/>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110" name="Google Shape;110;p7">
            <a:extLst xmlns:a="http://schemas.openxmlformats.org/drawingml/2006/main">
              <a:ext uri="{FF2B5EF4-FFF2-40B4-BE49-F238E27FC236}">
                <a16:creationId xmlns:a16="http://schemas.microsoft.com/office/drawing/2014/main" id="{5E16ACE6-0147-4514-8C87-44C24E937AB4}"/>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13</a:t>
            </a:r>
          </a:p>
        </p:txBody>
      </p:sp>
      <p:sp>
        <p:nvSpPr>
          <p:cNvPr id="111" name="Google Shape;111;p7">
            <a:extLst xmlns:a="http://schemas.openxmlformats.org/drawingml/2006/main">
              <a:ext uri="{FF2B5EF4-FFF2-40B4-BE49-F238E27FC236}">
                <a16:creationId xmlns:a16="http://schemas.microsoft.com/office/drawing/2014/main" id="{53B7F199-06B2-4AEB-8B0C-04FBC34DC48C}"/>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A Report Is Not a Timeline</a:t>
            </a:r>
          </a:p>
        </p:txBody>
      </p:sp>
      <p:sp>
        <p:nvSpPr>
          <p:cNvPr id="112" name="Google Shape;112;p7">
            <a:extLst xmlns:a="http://schemas.openxmlformats.org/drawingml/2006/main">
              <a:ext uri="{FF2B5EF4-FFF2-40B4-BE49-F238E27FC236}">
                <a16:creationId xmlns:a16="http://schemas.microsoft.com/office/drawing/2014/main" id="{4ED29D00-654E-49C7-8FCC-104E7847EA6F}"/>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Avoid writing the project as “first I did this, then I did this.”</a:t>
            </a:r>
          </a:p>
        </p:txBody>
      </p:sp>
      <p:cxnSp>
        <p:nvCxnSpPr>
          <p:cNvPr id="128" name="Google Shape;113;p7"/>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14" name="Google Shape;114;p7">
            <a:extLst xmlns:a="http://schemas.openxmlformats.org/drawingml/2006/main">
              <a:ext uri="{FF2B5EF4-FFF2-40B4-BE49-F238E27FC236}">
                <a16:creationId xmlns:a16="http://schemas.microsoft.com/office/drawing/2014/main" id="{7FFE38B8-ED77-4D18-8A85-FBC0843318DB}"/>
              </a:ext>
            </a:extLst>
          </p:cNvPr>
          <p:cNvSpPr>
            <a:spLocks xmlns:a="http://schemas.openxmlformats.org/drawingml/2006/main" noGrp="1"/>
          </p:cNvSpPr>
          <p:nvPr/>
        </p:nvSpPr>
        <p:spPr>
          <a:xfrm xmlns:a="http://schemas.openxmlformats.org/drawingml/2006/main">
            <a:off x="914400" y="1828800"/>
            <a:ext cx="4709160" cy="3246120"/>
          </a:xfrm>
          <a:prstGeom xmlns:a="http://schemas.openxmlformats.org/drawingml/2006/main" prst="roundRect">
            <a:avLst>
              <a:gd name="adj" fmla="val 1690"/>
            </a:avLst>
          </a:prstGeom>
          <a:solidFill xmlns:a="http://schemas.openxmlformats.org/drawingml/2006/main">
            <a:srgbClr val="101010"/>
          </a:solidFill>
          <a:ln xmlns:a="http://schemas.openxmlformats.org/drawingml/2006/main" w="12700" cmpd="sng">
            <a:solidFill>
              <a:srgbClr val="55555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5" name="Google Shape;115;p7">
            <a:extLst xmlns:a="http://schemas.openxmlformats.org/drawingml/2006/main">
              <a:ext uri="{FF2B5EF4-FFF2-40B4-BE49-F238E27FC236}">
                <a16:creationId xmlns:a16="http://schemas.microsoft.com/office/drawing/2014/main" id="{21B61411-FBCA-4E94-8213-AAB7A6AA2C00}"/>
              </a:ext>
            </a:extLst>
          </p:cNvPr>
          <p:cNvSpPr>
            <a:spLocks xmlns:a="http://schemas.openxmlformats.org/drawingml/2006/main" noGrp="1"/>
          </p:cNvSpPr>
          <p:nvPr/>
        </p:nvSpPr>
        <p:spPr>
          <a:xfrm xmlns:a="http://schemas.openxmlformats.org/drawingml/2006/main">
            <a:off x="1078992" y="1965960"/>
            <a:ext cx="43799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WEAK STRUCTURE</a:t>
            </a:r>
          </a:p>
        </p:txBody>
      </p:sp>
      <p:sp>
        <p:nvSpPr>
          <p:cNvPr id="116" name="Google Shape;116;p7">
            <a:extLst xmlns:a="http://schemas.openxmlformats.org/drawingml/2006/main">
              <a:ext uri="{FF2B5EF4-FFF2-40B4-BE49-F238E27FC236}">
                <a16:creationId xmlns:a16="http://schemas.microsoft.com/office/drawing/2014/main" id="{5D58F4D9-F62B-4969-835F-6AAE8412F495}"/>
              </a:ext>
            </a:extLst>
          </p:cNvPr>
          <p:cNvSpPr>
            <a:spLocks xmlns:a="http://schemas.openxmlformats.org/drawingml/2006/main" noGrp="1"/>
          </p:cNvSpPr>
          <p:nvPr/>
        </p:nvSpPr>
        <p:spPr>
          <a:xfrm xmlns:a="http://schemas.openxmlformats.org/drawingml/2006/main">
            <a:off x="1078992" y="2331720"/>
            <a:ext cx="4379976" cy="2587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900"/>
              <a:buFont typeface="Arial"/>
              <a:buNone/>
            </a:pPr>
            <a:r>
              <a:rPr sz="1900" b="0" i="0" u="none" cap="none">
                <a:solidFill>
                  <a:srgbClr val="FFFFFF"/>
                </a:solidFill>
                <a:latin typeface="Arial"/>
                <a:ea typeface="Arial"/>
                <a:cs typeface="Arial"/>
              </a:rPr>
              <a:t>First I picked a topic. Then I made a plan. Then I tested it. Then something went wrong. Then I made a graph. Then I wrote my conclusion.</a:t>
            </a:r>
          </a:p>
        </p:txBody>
      </p:sp>
      <p:sp>
        <p:nvSpPr>
          <p:cNvPr id="117" name="Google Shape;117;p7">
            <a:extLst xmlns:a="http://schemas.openxmlformats.org/drawingml/2006/main">
              <a:ext uri="{FF2B5EF4-FFF2-40B4-BE49-F238E27FC236}">
                <a16:creationId xmlns:a16="http://schemas.microsoft.com/office/drawing/2014/main" id="{AE950299-B4AD-4E22-83F2-3E58217A302F}"/>
              </a:ext>
            </a:extLst>
          </p:cNvPr>
          <p:cNvSpPr>
            <a:spLocks xmlns:a="http://schemas.openxmlformats.org/drawingml/2006/main" noGrp="1"/>
          </p:cNvSpPr>
          <p:nvPr/>
        </p:nvSpPr>
        <p:spPr>
          <a:xfrm xmlns:a="http://schemas.openxmlformats.org/drawingml/2006/main">
            <a:off x="6537960" y="1828800"/>
            <a:ext cx="4709160" cy="3246120"/>
          </a:xfrm>
          <a:prstGeom xmlns:a="http://schemas.openxmlformats.org/drawingml/2006/main" prst="roundRect">
            <a:avLst>
              <a:gd name="adj" fmla="val 1690"/>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8" name="Google Shape;118;p7">
            <a:extLst xmlns:a="http://schemas.openxmlformats.org/drawingml/2006/main">
              <a:ext uri="{FF2B5EF4-FFF2-40B4-BE49-F238E27FC236}">
                <a16:creationId xmlns:a16="http://schemas.microsoft.com/office/drawing/2014/main" id="{1CDD40C3-21E0-424E-B3B0-5375797E7772}"/>
              </a:ext>
            </a:extLst>
          </p:cNvPr>
          <p:cNvSpPr>
            <a:spLocks xmlns:a="http://schemas.openxmlformats.org/drawingml/2006/main" noGrp="1"/>
          </p:cNvSpPr>
          <p:nvPr/>
        </p:nvSpPr>
        <p:spPr>
          <a:xfrm xmlns:a="http://schemas.openxmlformats.org/drawingml/2006/main">
            <a:off x="6702552" y="1965960"/>
            <a:ext cx="43799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STRONG STRUCTURE</a:t>
            </a:r>
          </a:p>
        </p:txBody>
      </p:sp>
      <p:sp>
        <p:nvSpPr>
          <p:cNvPr id="119" name="Google Shape;119;p7">
            <a:extLst xmlns:a="http://schemas.openxmlformats.org/drawingml/2006/main">
              <a:ext uri="{FF2B5EF4-FFF2-40B4-BE49-F238E27FC236}">
                <a16:creationId xmlns:a16="http://schemas.microsoft.com/office/drawing/2014/main" id="{4C447636-FD41-4054-B999-F554EFF533AF}"/>
              </a:ext>
            </a:extLst>
          </p:cNvPr>
          <p:cNvSpPr>
            <a:spLocks xmlns:a="http://schemas.openxmlformats.org/drawingml/2006/main" noGrp="1"/>
          </p:cNvSpPr>
          <p:nvPr/>
        </p:nvSpPr>
        <p:spPr>
          <a:xfrm xmlns:a="http://schemas.openxmlformats.org/drawingml/2006/main">
            <a:off x="6702552" y="2331720"/>
            <a:ext cx="4379976" cy="2587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900"/>
              <a:buFont typeface="Arial"/>
              <a:buNone/>
            </a:pPr>
            <a:r>
              <a:rPr sz="1900" b="0" i="0" u="none" cap="none">
                <a:solidFill>
                  <a:srgbClr val="FFFFFF"/>
                </a:solidFill>
                <a:latin typeface="Arial"/>
                <a:ea typeface="Arial"/>
                <a:cs typeface="Arial"/>
              </a:rPr>
              <a:t>Here is the problem. Here is the method used to investigate it. Here is the evidence. Here is what the evidence supports. Here is what remains limited or uncertain.</a:t>
            </a:r>
          </a:p>
        </p:txBody>
      </p:sp>
    </p:spTree>
    <p:extLst>
      <p:ext uri="{BB962C8B-B14F-4D97-AF65-F5344CB8AC3E}">
        <p14:creationId xmlns:p14="http://schemas.microsoft.com/office/powerpoint/2010/main" val="1873524823"/>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25" name="Google Shape;125;p8">
            <a:extLst xmlns:a="http://schemas.openxmlformats.org/drawingml/2006/main">
              <a:ext uri="{FF2B5EF4-FFF2-40B4-BE49-F238E27FC236}">
                <a16:creationId xmlns:a16="http://schemas.microsoft.com/office/drawing/2014/main" id="{EB435A5E-2CBD-4732-B23B-92C010DF28A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6" name="Google Shape;126;p8">
            <a:extLst xmlns:a="http://schemas.openxmlformats.org/drawingml/2006/main">
              <a:ext uri="{FF2B5EF4-FFF2-40B4-BE49-F238E27FC236}">
                <a16:creationId xmlns:a16="http://schemas.microsoft.com/office/drawing/2014/main" id="{F950CA78-73C3-4BB1-AD9E-41C3CE6CEFA3}"/>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7" name="Google Shape;127;p8">
            <a:extLst xmlns:a="http://schemas.openxmlformats.org/drawingml/2006/main">
              <a:ext uri="{FF2B5EF4-FFF2-40B4-BE49-F238E27FC236}">
                <a16:creationId xmlns:a16="http://schemas.microsoft.com/office/drawing/2014/main" id="{FE13AE53-1D6B-482E-A9B4-2084B044BED2}"/>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8" name="Google Shape;128;p8">
            <a:extLst xmlns:a="http://schemas.openxmlformats.org/drawingml/2006/main">
              <a:ext uri="{FF2B5EF4-FFF2-40B4-BE49-F238E27FC236}">
                <a16:creationId xmlns:a16="http://schemas.microsoft.com/office/drawing/2014/main" id="{F42A6F20-8FC1-434A-A3AE-1E6BBEE49B72}"/>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SCIENTIFIC REPORTING</a:t>
            </a:r>
          </a:p>
        </p:txBody>
      </p:sp>
      <p:sp>
        <p:nvSpPr>
          <p:cNvPr id="129" name="Google Shape;129;p8">
            <a:extLst xmlns:a="http://schemas.openxmlformats.org/drawingml/2006/main">
              <a:ext uri="{FF2B5EF4-FFF2-40B4-BE49-F238E27FC236}">
                <a16:creationId xmlns:a16="http://schemas.microsoft.com/office/drawing/2014/main" id="{CE6E2656-3B9A-4D4E-95BC-771DB0F3961E}"/>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130" name="Google Shape;130;p8">
            <a:extLst xmlns:a="http://schemas.openxmlformats.org/drawingml/2006/main">
              <a:ext uri="{FF2B5EF4-FFF2-40B4-BE49-F238E27FC236}">
                <a16:creationId xmlns:a16="http://schemas.microsoft.com/office/drawing/2014/main" id="{A2EFB3CA-1030-47E7-B338-B92D18266309}"/>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13</a:t>
            </a:r>
          </a:p>
        </p:txBody>
      </p:sp>
      <p:sp>
        <p:nvSpPr>
          <p:cNvPr id="131" name="Google Shape;131;p8">
            <a:extLst xmlns:a="http://schemas.openxmlformats.org/drawingml/2006/main">
              <a:ext uri="{FF2B5EF4-FFF2-40B4-BE49-F238E27FC236}">
                <a16:creationId xmlns:a16="http://schemas.microsoft.com/office/drawing/2014/main" id="{D5EE24E3-7AFB-4D30-B3F2-D681B29DF534}"/>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Title and Abstract or Summary</a:t>
            </a:r>
          </a:p>
        </p:txBody>
      </p:sp>
      <p:sp>
        <p:nvSpPr>
          <p:cNvPr id="132" name="Google Shape;132;p8">
            <a:extLst xmlns:a="http://schemas.openxmlformats.org/drawingml/2006/main">
              <a:ext uri="{FF2B5EF4-FFF2-40B4-BE49-F238E27FC236}">
                <a16:creationId xmlns:a16="http://schemas.microsoft.com/office/drawing/2014/main" id="{DB133092-9728-4F49-9C3A-3A925B1DC951}"/>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The smallest sections often do important work.</a:t>
            </a:r>
          </a:p>
        </p:txBody>
      </p:sp>
      <p:cxnSp>
        <p:nvCxnSpPr>
          <p:cNvPr id="148" name="Google Shape;133;p8"/>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34" name="Google Shape;134;p8">
            <a:extLst xmlns:a="http://schemas.openxmlformats.org/drawingml/2006/main">
              <a:ext uri="{FF2B5EF4-FFF2-40B4-BE49-F238E27FC236}">
                <a16:creationId xmlns:a16="http://schemas.microsoft.com/office/drawing/2014/main" id="{129BD0B8-D328-468C-98C1-25ED3FB8DFF5}"/>
              </a:ext>
            </a:extLst>
          </p:cNvPr>
          <p:cNvSpPr>
            <a:spLocks xmlns:a="http://schemas.openxmlformats.org/drawingml/2006/main" noGrp="1"/>
          </p:cNvSpPr>
          <p:nvPr/>
        </p:nvSpPr>
        <p:spPr>
          <a:xfrm xmlns:a="http://schemas.openxmlformats.org/drawingml/2006/main">
            <a:off x="868680" y="1828800"/>
            <a:ext cx="5074920" cy="3108960"/>
          </a:xfrm>
          <a:prstGeom xmlns:a="http://schemas.openxmlformats.org/drawingml/2006/main" prst="roundRect">
            <a:avLst>
              <a:gd name="adj" fmla="val 1765"/>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5" name="Google Shape;135;p8">
            <a:extLst xmlns:a="http://schemas.openxmlformats.org/drawingml/2006/main">
              <a:ext uri="{FF2B5EF4-FFF2-40B4-BE49-F238E27FC236}">
                <a16:creationId xmlns:a16="http://schemas.microsoft.com/office/drawing/2014/main" id="{DDF55829-3115-4608-8565-8F485FB8DF63}"/>
              </a:ext>
            </a:extLst>
          </p:cNvPr>
          <p:cNvSpPr>
            <a:spLocks xmlns:a="http://schemas.openxmlformats.org/drawingml/2006/main" noGrp="1"/>
          </p:cNvSpPr>
          <p:nvPr/>
        </p:nvSpPr>
        <p:spPr>
          <a:xfrm xmlns:a="http://schemas.openxmlformats.org/drawingml/2006/main">
            <a:off x="1033272" y="1965960"/>
            <a:ext cx="47457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TITLE</a:t>
            </a:r>
          </a:p>
        </p:txBody>
      </p:sp>
      <p:sp>
        <p:nvSpPr>
          <p:cNvPr id="136" name="Google Shape;136;p8">
            <a:extLst xmlns:a="http://schemas.openxmlformats.org/drawingml/2006/main">
              <a:ext uri="{FF2B5EF4-FFF2-40B4-BE49-F238E27FC236}">
                <a16:creationId xmlns:a16="http://schemas.microsoft.com/office/drawing/2014/main" id="{CCFF577D-E023-42E2-A590-A235A0318DF3}"/>
              </a:ext>
            </a:extLst>
          </p:cNvPr>
          <p:cNvSpPr>
            <a:spLocks xmlns:a="http://schemas.openxmlformats.org/drawingml/2006/main" noGrp="1"/>
          </p:cNvSpPr>
          <p:nvPr/>
        </p:nvSpPr>
        <p:spPr>
          <a:xfrm xmlns:a="http://schemas.openxmlformats.org/drawingml/2006/main">
            <a:off x="1033272" y="2331720"/>
            <a:ext cx="4745736" cy="2450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A strong title names the project focus. It is specific enough to tell the reader what was studied, tested, built, or compared.</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Avoid: “My STARLAB Project”</a:t>
            </a:r>
          </a:p>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Better: “Effect of Blade Angle on Model Wind Turbine Voltage Output”</a:t>
            </a:r>
          </a:p>
        </p:txBody>
      </p:sp>
      <p:sp>
        <p:nvSpPr>
          <p:cNvPr id="137" name="Google Shape;137;p8">
            <a:extLst xmlns:a="http://schemas.openxmlformats.org/drawingml/2006/main">
              <a:ext uri="{FF2B5EF4-FFF2-40B4-BE49-F238E27FC236}">
                <a16:creationId xmlns:a16="http://schemas.microsoft.com/office/drawing/2014/main" id="{0B08D397-73B0-4A08-A264-300B38C1CA27}"/>
              </a:ext>
            </a:extLst>
          </p:cNvPr>
          <p:cNvSpPr>
            <a:spLocks xmlns:a="http://schemas.openxmlformats.org/drawingml/2006/main" noGrp="1"/>
          </p:cNvSpPr>
          <p:nvPr/>
        </p:nvSpPr>
        <p:spPr>
          <a:xfrm xmlns:a="http://schemas.openxmlformats.org/drawingml/2006/main">
            <a:off x="6263640" y="1828800"/>
            <a:ext cx="5074920" cy="3108960"/>
          </a:xfrm>
          <a:prstGeom xmlns:a="http://schemas.openxmlformats.org/drawingml/2006/main" prst="roundRect">
            <a:avLst>
              <a:gd name="adj" fmla="val 1765"/>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8" name="Google Shape;138;p8">
            <a:extLst xmlns:a="http://schemas.openxmlformats.org/drawingml/2006/main">
              <a:ext uri="{FF2B5EF4-FFF2-40B4-BE49-F238E27FC236}">
                <a16:creationId xmlns:a16="http://schemas.microsoft.com/office/drawing/2014/main" id="{3A1E06A0-AC7D-4FA2-A578-DD57FAC986D8}"/>
              </a:ext>
            </a:extLst>
          </p:cNvPr>
          <p:cNvSpPr>
            <a:spLocks xmlns:a="http://schemas.openxmlformats.org/drawingml/2006/main" noGrp="1"/>
          </p:cNvSpPr>
          <p:nvPr/>
        </p:nvSpPr>
        <p:spPr>
          <a:xfrm xmlns:a="http://schemas.openxmlformats.org/drawingml/2006/main">
            <a:off x="6428232" y="1965960"/>
            <a:ext cx="47457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ABSTRACT / SUMMARY</a:t>
            </a:r>
          </a:p>
        </p:txBody>
      </p:sp>
      <p:sp>
        <p:nvSpPr>
          <p:cNvPr id="139" name="Google Shape;139;p8">
            <a:extLst xmlns:a="http://schemas.openxmlformats.org/drawingml/2006/main">
              <a:ext uri="{FF2B5EF4-FFF2-40B4-BE49-F238E27FC236}">
                <a16:creationId xmlns:a16="http://schemas.microsoft.com/office/drawing/2014/main" id="{194A6574-BFE9-4CC9-A614-87C96E653403}"/>
              </a:ext>
            </a:extLst>
          </p:cNvPr>
          <p:cNvSpPr>
            <a:spLocks xmlns:a="http://schemas.openxmlformats.org/drawingml/2006/main" noGrp="1"/>
          </p:cNvSpPr>
          <p:nvPr/>
        </p:nvSpPr>
        <p:spPr>
          <a:xfrm xmlns:a="http://schemas.openxmlformats.org/drawingml/2006/main">
            <a:off x="6428232" y="2331720"/>
            <a:ext cx="4745736" cy="2450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A brief overview of the whole project: purpose, method, major result, and conclusion. Teachers may decide whether this is required for the report.</a:t>
            </a:r>
          </a:p>
          <a:p xmlns:a="http://schemas.openxmlformats.org/drawingml/2006/main">
            <a:pPr marL="0" marR="0" indent="0" algn="l">
              <a:spcBef>
                <a:spcPts val="0"/>
              </a:spcBef>
              <a:spcAft>
                <a:spcPts val="0"/>
              </a:spcAft>
              <a:buClr>
                <a:schemeClr val="dk1"/>
              </a:buClr>
              <a:buSzPts val="1600"/>
              <a:buFont typeface="Arial"/>
              <a:buNone/>
            </a:pPr>
            <a:r>
              <a:t/>
            </a:r>
          </a:p>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Write it last, even though it appears first.</a:t>
            </a:r>
          </a:p>
        </p:txBody>
      </p:sp>
    </p:spTree>
    <p:extLst>
      <p:ext uri="{BB962C8B-B14F-4D97-AF65-F5344CB8AC3E}">
        <p14:creationId xmlns:p14="http://schemas.microsoft.com/office/powerpoint/2010/main" val="904879992"/>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5" name="Google Shape;145;p9">
            <a:extLst xmlns:a="http://schemas.openxmlformats.org/drawingml/2006/main">
              <a:ext uri="{FF2B5EF4-FFF2-40B4-BE49-F238E27FC236}">
                <a16:creationId xmlns:a16="http://schemas.microsoft.com/office/drawing/2014/main" id="{0682612E-2A22-4B3A-A68C-8AB6640F7F4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6" name="Google Shape;146;p9">
            <a:extLst xmlns:a="http://schemas.openxmlformats.org/drawingml/2006/main">
              <a:ext uri="{FF2B5EF4-FFF2-40B4-BE49-F238E27FC236}">
                <a16:creationId xmlns:a16="http://schemas.microsoft.com/office/drawing/2014/main" id="{4EA045F2-5907-4E64-9C49-D02475D0D471}"/>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7" name="Google Shape;147;p9">
            <a:extLst xmlns:a="http://schemas.openxmlformats.org/drawingml/2006/main">
              <a:ext uri="{FF2B5EF4-FFF2-40B4-BE49-F238E27FC236}">
                <a16:creationId xmlns:a16="http://schemas.microsoft.com/office/drawing/2014/main" id="{CEDB470C-404D-4079-8832-CA9FCEDF244E}"/>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48" name="Google Shape;148;p9">
            <a:extLst xmlns:a="http://schemas.openxmlformats.org/drawingml/2006/main">
              <a:ext uri="{FF2B5EF4-FFF2-40B4-BE49-F238E27FC236}">
                <a16:creationId xmlns:a16="http://schemas.microsoft.com/office/drawing/2014/main" id="{556329BB-112D-4E91-9EDB-4A0B22D00C61}"/>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SCIENTIFIC REPORTING</a:t>
            </a:r>
          </a:p>
        </p:txBody>
      </p:sp>
      <p:sp>
        <p:nvSpPr>
          <p:cNvPr id="149" name="Google Shape;149;p9">
            <a:extLst xmlns:a="http://schemas.openxmlformats.org/drawingml/2006/main">
              <a:ext uri="{FF2B5EF4-FFF2-40B4-BE49-F238E27FC236}">
                <a16:creationId xmlns:a16="http://schemas.microsoft.com/office/drawing/2014/main" id="{1FDE993A-8608-4A2A-9360-A11874C88219}"/>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150" name="Google Shape;150;p9">
            <a:extLst xmlns:a="http://schemas.openxmlformats.org/drawingml/2006/main">
              <a:ext uri="{FF2B5EF4-FFF2-40B4-BE49-F238E27FC236}">
                <a16:creationId xmlns:a16="http://schemas.microsoft.com/office/drawing/2014/main" id="{685642E9-D7A3-4E12-B554-84B3EB172194}"/>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13</a:t>
            </a:r>
          </a:p>
        </p:txBody>
      </p:sp>
      <p:sp>
        <p:nvSpPr>
          <p:cNvPr id="151" name="Google Shape;151;p9">
            <a:extLst xmlns:a="http://schemas.openxmlformats.org/drawingml/2006/main">
              <a:ext uri="{FF2B5EF4-FFF2-40B4-BE49-F238E27FC236}">
                <a16:creationId xmlns:a16="http://schemas.microsoft.com/office/drawing/2014/main" id="{DA2DE795-4734-4E9F-9C14-C6F7FB9609BF}"/>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Introduction: Prepare the Reader</a:t>
            </a:r>
          </a:p>
        </p:txBody>
      </p:sp>
      <p:sp>
        <p:nvSpPr>
          <p:cNvPr id="152" name="Google Shape;152;p9">
            <a:extLst xmlns:a="http://schemas.openxmlformats.org/drawingml/2006/main">
              <a:ext uri="{FF2B5EF4-FFF2-40B4-BE49-F238E27FC236}">
                <a16:creationId xmlns:a16="http://schemas.microsoft.com/office/drawing/2014/main" id="{271C6CEC-3D7F-4AE2-8F1E-557DC3A8E7E7}"/>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The introduction moves from context to a focused question.</a:t>
            </a:r>
          </a:p>
        </p:txBody>
      </p:sp>
      <p:cxnSp>
        <p:nvCxnSpPr>
          <p:cNvPr id="172" name="Google Shape;153;p9"/>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54" name="Google Shape;154;p9">
            <a:extLst xmlns:a="http://schemas.openxmlformats.org/drawingml/2006/main">
              <a:ext uri="{FF2B5EF4-FFF2-40B4-BE49-F238E27FC236}">
                <a16:creationId xmlns:a16="http://schemas.microsoft.com/office/drawing/2014/main" id="{AAAA15BB-537C-46E3-830B-173AE7B9F4C4}"/>
              </a:ext>
            </a:extLst>
          </p:cNvPr>
          <p:cNvSpPr>
            <a:spLocks xmlns:a="http://schemas.openxmlformats.org/drawingml/2006/main" noGrp="1"/>
          </p:cNvSpPr>
          <p:nvPr/>
        </p:nvSpPr>
        <p:spPr>
          <a:xfrm xmlns:a="http://schemas.openxmlformats.org/drawingml/2006/main">
            <a:off x="914400" y="1828800"/>
            <a:ext cx="103327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100"/>
              <a:buFont typeface="Play"/>
              <a:buNone/>
            </a:pPr>
            <a:r>
              <a:rPr sz="2100" b="1" i="0" u="none" cap="none">
                <a:solidFill>
                  <a:srgbClr val="FFFFFF"/>
                </a:solidFill>
                <a:latin typeface="Play"/>
                <a:ea typeface="Play"/>
                <a:cs typeface="Play"/>
              </a:rPr>
              <a:t>Broad context → specific background → problem or gap → research question or goal → hypothesis or design criteria</a:t>
            </a:r>
          </a:p>
        </p:txBody>
      </p:sp>
      <p:sp>
        <p:nvSpPr>
          <p:cNvPr id="155" name="Google Shape;155;p9">
            <a:extLst xmlns:a="http://schemas.openxmlformats.org/drawingml/2006/main">
              <a:ext uri="{FF2B5EF4-FFF2-40B4-BE49-F238E27FC236}">
                <a16:creationId xmlns:a16="http://schemas.microsoft.com/office/drawing/2014/main" id="{694CAD7F-A49C-474E-A84F-33ACDCE45DFB}"/>
              </a:ext>
            </a:extLst>
          </p:cNvPr>
          <p:cNvSpPr>
            <a:spLocks xmlns:a="http://schemas.openxmlformats.org/drawingml/2006/main" noGrp="1"/>
          </p:cNvSpPr>
          <p:nvPr/>
        </p:nvSpPr>
        <p:spPr>
          <a:xfrm xmlns:a="http://schemas.openxmlformats.org/drawingml/2006/main">
            <a:off x="914400" y="2743200"/>
            <a:ext cx="3154680" cy="1965960"/>
          </a:xfrm>
          <a:prstGeom xmlns:a="http://schemas.openxmlformats.org/drawingml/2006/main" prst="roundRect">
            <a:avLst>
              <a:gd name="adj" fmla="val 2791"/>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6" name="Google Shape;156;p9">
            <a:extLst xmlns:a="http://schemas.openxmlformats.org/drawingml/2006/main">
              <a:ext uri="{FF2B5EF4-FFF2-40B4-BE49-F238E27FC236}">
                <a16:creationId xmlns:a16="http://schemas.microsoft.com/office/drawing/2014/main" id="{38617D88-B279-46D2-B49A-823F8F8E9592}"/>
              </a:ext>
            </a:extLst>
          </p:cNvPr>
          <p:cNvSpPr>
            <a:spLocks xmlns:a="http://schemas.openxmlformats.org/drawingml/2006/main" noGrp="1"/>
          </p:cNvSpPr>
          <p:nvPr/>
        </p:nvSpPr>
        <p:spPr>
          <a:xfrm xmlns:a="http://schemas.openxmlformats.org/drawingml/2006/main">
            <a:off x="1078992" y="2880360"/>
            <a:ext cx="28254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DO</a:t>
            </a:r>
          </a:p>
        </p:txBody>
      </p:sp>
      <p:sp>
        <p:nvSpPr>
          <p:cNvPr id="157" name="Google Shape;157;p9">
            <a:extLst xmlns:a="http://schemas.openxmlformats.org/drawingml/2006/main">
              <a:ext uri="{FF2B5EF4-FFF2-40B4-BE49-F238E27FC236}">
                <a16:creationId xmlns:a16="http://schemas.microsoft.com/office/drawing/2014/main" id="{30A5DE33-A858-483A-B6A6-541F326E10C5}"/>
              </a:ext>
            </a:extLst>
          </p:cNvPr>
          <p:cNvSpPr>
            <a:spLocks xmlns:a="http://schemas.openxmlformats.org/drawingml/2006/main" noGrp="1"/>
          </p:cNvSpPr>
          <p:nvPr/>
        </p:nvSpPr>
        <p:spPr>
          <a:xfrm xmlns:a="http://schemas.openxmlformats.org/drawingml/2006/main">
            <a:off x="1078992" y="3246120"/>
            <a:ext cx="2825496" cy="1307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Explain why the topic matters. Define key ideas. Introduce the problem. State the research question or engineering goal.</a:t>
            </a:r>
          </a:p>
        </p:txBody>
      </p:sp>
      <p:sp>
        <p:nvSpPr>
          <p:cNvPr id="158" name="Google Shape;158;p9">
            <a:extLst xmlns:a="http://schemas.openxmlformats.org/drawingml/2006/main">
              <a:ext uri="{FF2B5EF4-FFF2-40B4-BE49-F238E27FC236}">
                <a16:creationId xmlns:a16="http://schemas.microsoft.com/office/drawing/2014/main" id="{633C6C96-357F-4DE3-B9FB-8BC927448012}"/>
              </a:ext>
            </a:extLst>
          </p:cNvPr>
          <p:cNvSpPr>
            <a:spLocks xmlns:a="http://schemas.openxmlformats.org/drawingml/2006/main" noGrp="1"/>
          </p:cNvSpPr>
          <p:nvPr/>
        </p:nvSpPr>
        <p:spPr>
          <a:xfrm xmlns:a="http://schemas.openxmlformats.org/drawingml/2006/main">
            <a:off x="4526280" y="2743200"/>
            <a:ext cx="3154680" cy="1965960"/>
          </a:xfrm>
          <a:prstGeom xmlns:a="http://schemas.openxmlformats.org/drawingml/2006/main" prst="roundRect">
            <a:avLst>
              <a:gd name="adj" fmla="val 2791"/>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59" name="Google Shape;159;p9">
            <a:extLst xmlns:a="http://schemas.openxmlformats.org/drawingml/2006/main">
              <a:ext uri="{FF2B5EF4-FFF2-40B4-BE49-F238E27FC236}">
                <a16:creationId xmlns:a16="http://schemas.microsoft.com/office/drawing/2014/main" id="{423ABE54-05E2-480F-8C72-1716061A6268}"/>
              </a:ext>
            </a:extLst>
          </p:cNvPr>
          <p:cNvSpPr>
            <a:spLocks xmlns:a="http://schemas.openxmlformats.org/drawingml/2006/main" noGrp="1"/>
          </p:cNvSpPr>
          <p:nvPr/>
        </p:nvSpPr>
        <p:spPr>
          <a:xfrm xmlns:a="http://schemas.openxmlformats.org/drawingml/2006/main">
            <a:off x="4690872" y="2880360"/>
            <a:ext cx="28254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DO NOT</a:t>
            </a:r>
          </a:p>
        </p:txBody>
      </p:sp>
      <p:sp>
        <p:nvSpPr>
          <p:cNvPr id="160" name="Google Shape;160;p9">
            <a:extLst xmlns:a="http://schemas.openxmlformats.org/drawingml/2006/main">
              <a:ext uri="{FF2B5EF4-FFF2-40B4-BE49-F238E27FC236}">
                <a16:creationId xmlns:a16="http://schemas.microsoft.com/office/drawing/2014/main" id="{7A9A5270-BC39-4348-A95B-8C01282B1889}"/>
              </a:ext>
            </a:extLst>
          </p:cNvPr>
          <p:cNvSpPr>
            <a:spLocks xmlns:a="http://schemas.openxmlformats.org/drawingml/2006/main" noGrp="1"/>
          </p:cNvSpPr>
          <p:nvPr/>
        </p:nvSpPr>
        <p:spPr>
          <a:xfrm xmlns:a="http://schemas.openxmlformats.org/drawingml/2006/main">
            <a:off x="4690872" y="3246120"/>
            <a:ext cx="2825496" cy="1307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Describe every step of the procedure. Dump unrelated facts. Start too broad and never narrow.</a:t>
            </a:r>
          </a:p>
        </p:txBody>
      </p:sp>
      <p:sp>
        <p:nvSpPr>
          <p:cNvPr id="161" name="Google Shape;161;p9">
            <a:extLst xmlns:a="http://schemas.openxmlformats.org/drawingml/2006/main">
              <a:ext uri="{FF2B5EF4-FFF2-40B4-BE49-F238E27FC236}">
                <a16:creationId xmlns:a16="http://schemas.microsoft.com/office/drawing/2014/main" id="{2E35EA01-8716-43F9-9009-0319B6423F82}"/>
              </a:ext>
            </a:extLst>
          </p:cNvPr>
          <p:cNvSpPr>
            <a:spLocks xmlns:a="http://schemas.openxmlformats.org/drawingml/2006/main" noGrp="1"/>
          </p:cNvSpPr>
          <p:nvPr/>
        </p:nvSpPr>
        <p:spPr>
          <a:xfrm xmlns:a="http://schemas.openxmlformats.org/drawingml/2006/main">
            <a:off x="8138160" y="2743200"/>
            <a:ext cx="3154680" cy="1965960"/>
          </a:xfrm>
          <a:prstGeom xmlns:a="http://schemas.openxmlformats.org/drawingml/2006/main" prst="roundRect">
            <a:avLst>
              <a:gd name="adj" fmla="val 2791"/>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2" name="Google Shape;162;p9">
            <a:extLst xmlns:a="http://schemas.openxmlformats.org/drawingml/2006/main">
              <a:ext uri="{FF2B5EF4-FFF2-40B4-BE49-F238E27FC236}">
                <a16:creationId xmlns:a16="http://schemas.microsoft.com/office/drawing/2014/main" id="{5C5FA1DD-54BF-4CB5-8CE5-DC3A7AD52C9F}"/>
              </a:ext>
            </a:extLst>
          </p:cNvPr>
          <p:cNvSpPr>
            <a:spLocks xmlns:a="http://schemas.openxmlformats.org/drawingml/2006/main" noGrp="1"/>
          </p:cNvSpPr>
          <p:nvPr/>
        </p:nvSpPr>
        <p:spPr>
          <a:xfrm xmlns:a="http://schemas.openxmlformats.org/drawingml/2006/main">
            <a:off x="8302752" y="2880360"/>
            <a:ext cx="28254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i="0" u="none" cap="none">
                <a:solidFill>
                  <a:srgbClr val="E22B27"/>
                </a:solidFill>
                <a:latin typeface="Arial"/>
                <a:ea typeface="Arial"/>
                <a:cs typeface="Arial"/>
              </a:rPr>
              <a:t>CHECK</a:t>
            </a:r>
          </a:p>
        </p:txBody>
      </p:sp>
      <p:sp>
        <p:nvSpPr>
          <p:cNvPr id="163" name="Google Shape;163;p9">
            <a:extLst xmlns:a="http://schemas.openxmlformats.org/drawingml/2006/main">
              <a:ext uri="{FF2B5EF4-FFF2-40B4-BE49-F238E27FC236}">
                <a16:creationId xmlns:a16="http://schemas.microsoft.com/office/drawing/2014/main" id="{B5AC160E-1191-4167-B4D9-497429A8598B}"/>
              </a:ext>
            </a:extLst>
          </p:cNvPr>
          <p:cNvSpPr>
            <a:spLocks xmlns:a="http://schemas.openxmlformats.org/drawingml/2006/main" noGrp="1"/>
          </p:cNvSpPr>
          <p:nvPr/>
        </p:nvSpPr>
        <p:spPr>
          <a:xfrm xmlns:a="http://schemas.openxmlformats.org/drawingml/2006/main">
            <a:off x="8302752" y="3246120"/>
            <a:ext cx="2825496" cy="1307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600"/>
              <a:buFont typeface="Arial"/>
              <a:buNone/>
            </a:pPr>
            <a:r>
              <a:rPr sz="1600" b="0" i="0" u="none" cap="none">
                <a:solidFill>
                  <a:srgbClr val="FFFFFF"/>
                </a:solidFill>
                <a:latin typeface="Arial"/>
                <a:ea typeface="Arial"/>
                <a:cs typeface="Arial"/>
              </a:rPr>
              <a:t>Would a reader understand why this project was worth doing before they read the methods?</a:t>
            </a:r>
          </a:p>
        </p:txBody>
      </p:sp>
    </p:spTree>
    <p:extLst>
      <p:ext uri="{BB962C8B-B14F-4D97-AF65-F5344CB8AC3E}">
        <p14:creationId xmlns:p14="http://schemas.microsoft.com/office/powerpoint/2010/main" val="1644631151"/>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9" name="Google Shape;169;p10">
            <a:extLst xmlns:a="http://schemas.openxmlformats.org/drawingml/2006/main">
              <a:ext uri="{FF2B5EF4-FFF2-40B4-BE49-F238E27FC236}">
                <a16:creationId xmlns:a16="http://schemas.microsoft.com/office/drawing/2014/main" id="{596BE46B-126C-4EA0-A871-DF258C17029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0" name="Google Shape;170;p10">
            <a:extLst xmlns:a="http://schemas.openxmlformats.org/drawingml/2006/main">
              <a:ext uri="{FF2B5EF4-FFF2-40B4-BE49-F238E27FC236}">
                <a16:creationId xmlns:a16="http://schemas.microsoft.com/office/drawing/2014/main" id="{A8C51CFC-4D0A-49F4-943C-AAA36595EBC8}"/>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1" name="Google Shape;171;p10">
            <a:extLst xmlns:a="http://schemas.openxmlformats.org/drawingml/2006/main">
              <a:ext uri="{FF2B5EF4-FFF2-40B4-BE49-F238E27FC236}">
                <a16:creationId xmlns:a16="http://schemas.microsoft.com/office/drawing/2014/main" id="{3D26F308-2F68-4D88-A986-B174584AC5F1}"/>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2" name="Google Shape;172;p10">
            <a:extLst xmlns:a="http://schemas.openxmlformats.org/drawingml/2006/main">
              <a:ext uri="{FF2B5EF4-FFF2-40B4-BE49-F238E27FC236}">
                <a16:creationId xmlns:a16="http://schemas.microsoft.com/office/drawing/2014/main" id="{865333BD-853D-4DA5-BE24-C684602B6A1F}"/>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SCIENTIFIC REPORTING</a:t>
            </a:r>
          </a:p>
        </p:txBody>
      </p:sp>
      <p:sp>
        <p:nvSpPr>
          <p:cNvPr id="173" name="Google Shape;173;p10">
            <a:extLst xmlns:a="http://schemas.openxmlformats.org/drawingml/2006/main">
              <a:ext uri="{FF2B5EF4-FFF2-40B4-BE49-F238E27FC236}">
                <a16:creationId xmlns:a16="http://schemas.microsoft.com/office/drawing/2014/main" id="{DC5A258E-ED6B-486D-BC1D-37A336F4710F}"/>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i="0" u="none" cap="none">
                <a:solidFill>
                  <a:srgbClr val="B8B8B8"/>
                </a:solidFill>
                <a:latin typeface="Arial"/>
                <a:ea typeface="Arial"/>
                <a:cs typeface="Arial"/>
              </a:rPr>
              <a:t>STARLAB</a:t>
            </a:r>
          </a:p>
        </p:txBody>
      </p:sp>
      <p:sp>
        <p:nvSpPr>
          <p:cNvPr id="174" name="Google Shape;174;p10">
            <a:extLst xmlns:a="http://schemas.openxmlformats.org/drawingml/2006/main">
              <a:ext uri="{FF2B5EF4-FFF2-40B4-BE49-F238E27FC236}">
                <a16:creationId xmlns:a16="http://schemas.microsoft.com/office/drawing/2014/main" id="{934EA0D4-1778-41CD-B232-62742D6EAE48}"/>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i="0" u="none" cap="none">
                <a:solidFill>
                  <a:srgbClr val="E22B27"/>
                </a:solidFill>
                <a:latin typeface="Arial"/>
                <a:ea typeface="Arial"/>
                <a:cs typeface="Arial"/>
              </a:rPr>
              <a:t>DECK 13</a:t>
            </a:r>
          </a:p>
        </p:txBody>
      </p:sp>
      <p:sp>
        <p:nvSpPr>
          <p:cNvPr id="175" name="Google Shape;175;p10">
            <a:extLst xmlns:a="http://schemas.openxmlformats.org/drawingml/2006/main">
              <a:ext uri="{FF2B5EF4-FFF2-40B4-BE49-F238E27FC236}">
                <a16:creationId xmlns:a16="http://schemas.microsoft.com/office/drawing/2014/main" id="{E9520088-4BD7-4C52-9198-DFBE53E73BAD}"/>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i="0" u="none" cap="none">
                <a:solidFill>
                  <a:srgbClr val="FFFFFF"/>
                </a:solidFill>
                <a:latin typeface="Play"/>
                <a:ea typeface="Play"/>
                <a:cs typeface="Play"/>
              </a:rPr>
              <a:t>Methods: Make the Work Reviewable</a:t>
            </a:r>
          </a:p>
        </p:txBody>
      </p:sp>
      <p:sp>
        <p:nvSpPr>
          <p:cNvPr id="176" name="Google Shape;176;p10">
            <a:extLst xmlns:a="http://schemas.openxmlformats.org/drawingml/2006/main">
              <a:ext uri="{FF2B5EF4-FFF2-40B4-BE49-F238E27FC236}">
                <a16:creationId xmlns:a16="http://schemas.microsoft.com/office/drawing/2014/main" id="{86A036D0-C469-470B-A4CE-1E4FD23BF2B7}"/>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b="0" i="0" u="none" cap="none">
                <a:solidFill>
                  <a:srgbClr val="B8B8B8"/>
                </a:solidFill>
                <a:latin typeface="Arial"/>
                <a:ea typeface="Arial"/>
                <a:cs typeface="Arial"/>
              </a:rPr>
              <a:t>A reader should understand what was done well enough to evaluate the research.</a:t>
            </a:r>
          </a:p>
        </p:txBody>
      </p:sp>
      <p:cxnSp>
        <p:nvCxnSpPr>
          <p:cNvPr id="188" name="Google Shape;177;p10"/>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78" name="Google Shape;178;p10">
            <a:extLst xmlns:a="http://schemas.openxmlformats.org/drawingml/2006/main">
              <a:ext uri="{FF2B5EF4-FFF2-40B4-BE49-F238E27FC236}">
                <a16:creationId xmlns:a16="http://schemas.microsoft.com/office/drawing/2014/main" id="{27D19CF1-E7C3-4130-A0C4-E6529CDD3A8C}"/>
              </a:ext>
            </a:extLst>
          </p:cNvPr>
          <p:cNvSpPr>
            <a:spLocks xmlns:a="http://schemas.openxmlformats.org/drawingml/2006/main" noGrp="1"/>
          </p:cNvSpPr>
          <p:nvPr/>
        </p:nvSpPr>
        <p:spPr>
          <a:xfrm xmlns:a="http://schemas.openxmlformats.org/drawingml/2006/main">
            <a:off x="960120" y="1828800"/>
            <a:ext cx="1014984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100" b="0" i="0" u="none" cap="none">
                <a:solidFill>
                  <a:srgbClr val="FFFFFF"/>
                </a:solidFill>
                <a:latin typeface="Arial"/>
                <a:ea typeface="Arial"/>
                <a:cs typeface="Arial"/>
              </a:rPr>
              <a:t>Materials, tools, software, or data sources</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Variables, controls, criteria, constraints, or performance metrics</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Procedure or testing protocol</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Number of trials, samples, observations, or iterations</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Measurement and data recording methods</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Safety or ethical considerations when relevant</a:t>
            </a:r>
          </a:p>
        </p:txBody>
      </p:sp>
      <p:sp>
        <p:nvSpPr>
          <p:cNvPr id="179" name="Google Shape;179;p10">
            <a:extLst xmlns:a="http://schemas.openxmlformats.org/drawingml/2006/main">
              <a:ext uri="{FF2B5EF4-FFF2-40B4-BE49-F238E27FC236}">
                <a16:creationId xmlns:a16="http://schemas.microsoft.com/office/drawing/2014/main" id="{EB0BB68F-7D3F-401B-BC25-033E2A33C8CE}"/>
              </a:ext>
            </a:extLst>
          </p:cNvPr>
          <p:cNvSpPr>
            <a:spLocks xmlns:a="http://schemas.openxmlformats.org/drawingml/2006/main" noGrp="1"/>
          </p:cNvSpPr>
          <p:nvPr/>
        </p:nvSpPr>
        <p:spPr>
          <a:xfrm xmlns:a="http://schemas.openxmlformats.org/drawingml/2006/main">
            <a:off x="914400" y="5623560"/>
            <a:ext cx="1033272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E22B27"/>
              </a:buClr>
              <a:buSzPts val="2300"/>
              <a:buFont typeface="Play"/>
              <a:buNone/>
            </a:pPr>
            <a:r>
              <a:rPr sz="2300" b="1">
                <a:solidFill>
                  <a:srgbClr val="E22B27"/>
                </a:solidFill>
                <a:latin typeface="Play"/>
                <a:ea typeface="Play"/>
                <a:cs typeface="Play"/>
              </a:rPr>
              <a:t>Core question: Could someone understand and evaluate the method without interviewing you?</a:t>
            </a:r>
          </a:p>
        </p:txBody>
      </p:sp>
    </p:spTree>
    <p:extLst>
      <p:ext uri="{BB962C8B-B14F-4D97-AF65-F5344CB8AC3E}">
        <p14:creationId xmlns:p14="http://schemas.microsoft.com/office/powerpoint/2010/main" val="42939562"/>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85" name="Google Shape;185;p11">
            <a:extLst xmlns:a="http://schemas.openxmlformats.org/drawingml/2006/main">
              <a:ext uri="{FF2B5EF4-FFF2-40B4-BE49-F238E27FC236}">
                <a16:creationId xmlns:a16="http://schemas.microsoft.com/office/drawing/2014/main" id="{D27464A1-FD84-40DD-B034-81C28201D33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6" name="Google Shape;186;p11">
            <a:extLst xmlns:a="http://schemas.openxmlformats.org/drawingml/2006/main">
              <a:ext uri="{FF2B5EF4-FFF2-40B4-BE49-F238E27FC236}">
                <a16:creationId xmlns:a16="http://schemas.microsoft.com/office/drawing/2014/main" id="{F5325F11-1800-4F75-89C4-D012C32053C8}"/>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7" name="Google Shape;187;p11">
            <a:extLst xmlns:a="http://schemas.openxmlformats.org/drawingml/2006/main">
              <a:ext uri="{FF2B5EF4-FFF2-40B4-BE49-F238E27FC236}">
                <a16:creationId xmlns:a16="http://schemas.microsoft.com/office/drawing/2014/main" id="{D7C52D29-FD51-4CF9-B93A-ADB3325841AB}"/>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8" name="Google Shape;188;p11">
            <a:extLst xmlns:a="http://schemas.openxmlformats.org/drawingml/2006/main">
              <a:ext uri="{FF2B5EF4-FFF2-40B4-BE49-F238E27FC236}">
                <a16:creationId xmlns:a16="http://schemas.microsoft.com/office/drawing/2014/main" id="{C951CD1B-2144-41E3-8781-1857E7F37F75}"/>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189" name="Google Shape;189;p11">
            <a:extLst xmlns:a="http://schemas.openxmlformats.org/drawingml/2006/main">
              <a:ext uri="{FF2B5EF4-FFF2-40B4-BE49-F238E27FC236}">
                <a16:creationId xmlns:a16="http://schemas.microsoft.com/office/drawing/2014/main" id="{2F331697-271D-4AB0-9CA8-CD1BA8B31AC1}"/>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190" name="Google Shape;190;p11">
            <a:extLst xmlns:a="http://schemas.openxmlformats.org/drawingml/2006/main">
              <a:ext uri="{FF2B5EF4-FFF2-40B4-BE49-F238E27FC236}">
                <a16:creationId xmlns:a16="http://schemas.microsoft.com/office/drawing/2014/main" id="{28EAE349-7C9A-4B45-8FC5-B34685410983}"/>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191" name="Google Shape;191;p11">
            <a:extLst xmlns:a="http://schemas.openxmlformats.org/drawingml/2006/main">
              <a:ext uri="{FF2B5EF4-FFF2-40B4-BE49-F238E27FC236}">
                <a16:creationId xmlns:a16="http://schemas.microsoft.com/office/drawing/2014/main" id="{0033B515-60AB-4C03-9F97-FB928388710F}"/>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Results: Present the Evidence</a:t>
            </a:r>
          </a:p>
        </p:txBody>
      </p:sp>
      <p:sp>
        <p:nvSpPr>
          <p:cNvPr id="192" name="Google Shape;192;p11">
            <a:extLst xmlns:a="http://schemas.openxmlformats.org/drawingml/2006/main">
              <a:ext uri="{FF2B5EF4-FFF2-40B4-BE49-F238E27FC236}">
                <a16:creationId xmlns:a16="http://schemas.microsoft.com/office/drawing/2014/main" id="{16E9A436-BBB6-4FEB-B86F-8DAC9D82C6A5}"/>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Results show what happened before explaining what it means.</a:t>
            </a:r>
          </a:p>
        </p:txBody>
      </p:sp>
      <p:cxnSp>
        <p:nvCxnSpPr>
          <p:cNvPr id="211" name="Google Shape;193;p11"/>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194" name="Google Shape;194;p11">
            <a:extLst xmlns:a="http://schemas.openxmlformats.org/drawingml/2006/main">
              <a:ext uri="{FF2B5EF4-FFF2-40B4-BE49-F238E27FC236}">
                <a16:creationId xmlns:a16="http://schemas.microsoft.com/office/drawing/2014/main" id="{F738C218-AC58-41E6-A56F-F7F3AD74446C}"/>
              </a:ext>
            </a:extLst>
          </p:cNvPr>
          <p:cNvSpPr>
            <a:spLocks xmlns:a="http://schemas.openxmlformats.org/drawingml/2006/main" noGrp="1"/>
          </p:cNvSpPr>
          <p:nvPr/>
        </p:nvSpPr>
        <p:spPr>
          <a:xfrm xmlns:a="http://schemas.openxmlformats.org/drawingml/2006/main">
            <a:off x="914400" y="1828800"/>
            <a:ext cx="3200400" cy="3017520"/>
          </a:xfrm>
          <a:prstGeom xmlns:a="http://schemas.openxmlformats.org/drawingml/2006/main" prst="roundRect">
            <a:avLst>
              <a:gd name="adj" fmla="val 1818"/>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5" name="Google Shape;195;p11">
            <a:extLst xmlns:a="http://schemas.openxmlformats.org/drawingml/2006/main">
              <a:ext uri="{FF2B5EF4-FFF2-40B4-BE49-F238E27FC236}">
                <a16:creationId xmlns:a16="http://schemas.microsoft.com/office/drawing/2014/main" id="{3A79C768-3FEE-4737-8007-A8CAAE9DA8F8}"/>
              </a:ext>
            </a:extLst>
          </p:cNvPr>
          <p:cNvSpPr>
            <a:spLocks xmlns:a="http://schemas.openxmlformats.org/drawingml/2006/main" noGrp="1"/>
          </p:cNvSpPr>
          <p:nvPr/>
        </p:nvSpPr>
        <p:spPr>
          <a:xfrm xmlns:a="http://schemas.openxmlformats.org/drawingml/2006/main">
            <a:off x="1078992" y="1965960"/>
            <a:ext cx="28712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WHAT BELONGS HERE</a:t>
            </a:r>
          </a:p>
        </p:txBody>
      </p:sp>
      <p:sp>
        <p:nvSpPr>
          <p:cNvPr id="196" name="Google Shape;196;p11">
            <a:extLst xmlns:a="http://schemas.openxmlformats.org/drawingml/2006/main">
              <a:ext uri="{FF2B5EF4-FFF2-40B4-BE49-F238E27FC236}">
                <a16:creationId xmlns:a16="http://schemas.microsoft.com/office/drawing/2014/main" id="{675AE401-A4BE-46B7-ADBC-C0E70A80A040}"/>
              </a:ext>
            </a:extLst>
          </p:cNvPr>
          <p:cNvSpPr>
            <a:spLocks xmlns:a="http://schemas.openxmlformats.org/drawingml/2006/main" noGrp="1"/>
          </p:cNvSpPr>
          <p:nvPr/>
        </p:nvSpPr>
        <p:spPr>
          <a:xfrm xmlns:a="http://schemas.openxmlformats.org/drawingml/2006/main">
            <a:off x="1078992" y="2331720"/>
            <a:ext cx="2871216" cy="23591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Graphs</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Tables</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Images</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Diagrams</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Numerical summaries</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Written results statements</a:t>
            </a:r>
          </a:p>
        </p:txBody>
      </p:sp>
      <p:sp>
        <p:nvSpPr>
          <p:cNvPr id="197" name="Google Shape;197;p11">
            <a:extLst xmlns:a="http://schemas.openxmlformats.org/drawingml/2006/main">
              <a:ext uri="{FF2B5EF4-FFF2-40B4-BE49-F238E27FC236}">
                <a16:creationId xmlns:a16="http://schemas.microsoft.com/office/drawing/2014/main" id="{06026874-CEB8-4D4E-A762-834565D0B793}"/>
              </a:ext>
            </a:extLst>
          </p:cNvPr>
          <p:cNvSpPr>
            <a:spLocks xmlns:a="http://schemas.openxmlformats.org/drawingml/2006/main" noGrp="1"/>
          </p:cNvSpPr>
          <p:nvPr/>
        </p:nvSpPr>
        <p:spPr>
          <a:xfrm xmlns:a="http://schemas.openxmlformats.org/drawingml/2006/main">
            <a:off x="4526280" y="1828800"/>
            <a:ext cx="3200400" cy="3017520"/>
          </a:xfrm>
          <a:prstGeom xmlns:a="http://schemas.openxmlformats.org/drawingml/2006/main" prst="roundRect">
            <a:avLst>
              <a:gd name="adj" fmla="val 1818"/>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11">
            <a:extLst xmlns:a="http://schemas.openxmlformats.org/drawingml/2006/main">
              <a:ext uri="{FF2B5EF4-FFF2-40B4-BE49-F238E27FC236}">
                <a16:creationId xmlns:a16="http://schemas.microsoft.com/office/drawing/2014/main" id="{1B0103DD-5E6E-4CEC-AE31-D74CE7FEF02B}"/>
              </a:ext>
            </a:extLst>
          </p:cNvPr>
          <p:cNvSpPr>
            <a:spLocks xmlns:a="http://schemas.openxmlformats.org/drawingml/2006/main" noGrp="1"/>
          </p:cNvSpPr>
          <p:nvPr/>
        </p:nvSpPr>
        <p:spPr>
          <a:xfrm xmlns:a="http://schemas.openxmlformats.org/drawingml/2006/main">
            <a:off x="4690872" y="1965960"/>
            <a:ext cx="28712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RESULTS LANGUAGE</a:t>
            </a:r>
          </a:p>
        </p:txBody>
      </p:sp>
      <p:sp>
        <p:nvSpPr>
          <p:cNvPr id="199" name="Google Shape;199;p11">
            <a:extLst xmlns:a="http://schemas.openxmlformats.org/drawingml/2006/main">
              <a:ext uri="{FF2B5EF4-FFF2-40B4-BE49-F238E27FC236}">
                <a16:creationId xmlns:a16="http://schemas.microsoft.com/office/drawing/2014/main" id="{9FD1CB35-4A04-42F3-B069-1499A897D2AC}"/>
              </a:ext>
            </a:extLst>
          </p:cNvPr>
          <p:cNvSpPr>
            <a:spLocks xmlns:a="http://schemas.openxmlformats.org/drawingml/2006/main" noGrp="1"/>
          </p:cNvSpPr>
          <p:nvPr/>
        </p:nvSpPr>
        <p:spPr>
          <a:xfrm xmlns:a="http://schemas.openxmlformats.org/drawingml/2006/main">
            <a:off x="4690872" y="2331720"/>
            <a:ext cx="2871216" cy="23591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The average was...</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The highest value occurred...</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Figure 2 shows...</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Prototype B supported...</a:t>
            </a:r>
          </a:p>
        </p:txBody>
      </p:sp>
      <p:sp>
        <p:nvSpPr>
          <p:cNvPr id="200" name="Google Shape;200;p11">
            <a:extLst xmlns:a="http://schemas.openxmlformats.org/drawingml/2006/main">
              <a:ext uri="{FF2B5EF4-FFF2-40B4-BE49-F238E27FC236}">
                <a16:creationId xmlns:a16="http://schemas.microsoft.com/office/drawing/2014/main" id="{D383C6D8-6DE5-4B56-91CB-F60B7A8B1A6B}"/>
              </a:ext>
            </a:extLst>
          </p:cNvPr>
          <p:cNvSpPr>
            <a:spLocks xmlns:a="http://schemas.openxmlformats.org/drawingml/2006/main" noGrp="1"/>
          </p:cNvSpPr>
          <p:nvPr/>
        </p:nvSpPr>
        <p:spPr>
          <a:xfrm xmlns:a="http://schemas.openxmlformats.org/drawingml/2006/main">
            <a:off x="8138160" y="1828800"/>
            <a:ext cx="3200400" cy="3017520"/>
          </a:xfrm>
          <a:prstGeom xmlns:a="http://schemas.openxmlformats.org/drawingml/2006/main" prst="roundRect">
            <a:avLst>
              <a:gd name="adj" fmla="val 1818"/>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1" name="Google Shape;201;p11">
            <a:extLst xmlns:a="http://schemas.openxmlformats.org/drawingml/2006/main">
              <a:ext uri="{FF2B5EF4-FFF2-40B4-BE49-F238E27FC236}">
                <a16:creationId xmlns:a16="http://schemas.microsoft.com/office/drawing/2014/main" id="{99185256-D6A9-43DE-B1C6-6BCAA0AD6710}"/>
              </a:ext>
            </a:extLst>
          </p:cNvPr>
          <p:cNvSpPr>
            <a:spLocks xmlns:a="http://schemas.openxmlformats.org/drawingml/2006/main" noGrp="1"/>
          </p:cNvSpPr>
          <p:nvPr/>
        </p:nvSpPr>
        <p:spPr>
          <a:xfrm xmlns:a="http://schemas.openxmlformats.org/drawingml/2006/main">
            <a:off x="8302752" y="1965960"/>
            <a:ext cx="28712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SAVE FOR DISCUSSION</a:t>
            </a:r>
          </a:p>
        </p:txBody>
      </p:sp>
      <p:sp>
        <p:nvSpPr>
          <p:cNvPr id="202" name="Google Shape;202;p11">
            <a:extLst xmlns:a="http://schemas.openxmlformats.org/drawingml/2006/main">
              <a:ext uri="{FF2B5EF4-FFF2-40B4-BE49-F238E27FC236}">
                <a16:creationId xmlns:a16="http://schemas.microsoft.com/office/drawing/2014/main" id="{EE102D85-1E27-4B0F-8AF8-D023EECCA31F}"/>
              </a:ext>
            </a:extLst>
          </p:cNvPr>
          <p:cNvSpPr>
            <a:spLocks xmlns:a="http://schemas.openxmlformats.org/drawingml/2006/main" noGrp="1"/>
          </p:cNvSpPr>
          <p:nvPr/>
        </p:nvSpPr>
        <p:spPr>
          <a:xfrm xmlns:a="http://schemas.openxmlformats.org/drawingml/2006/main">
            <a:off x="8302752" y="2331720"/>
            <a:ext cx="2871216" cy="23591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Why it happened</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Whether it proves something</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What it means for society</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Future work</a:t>
            </a:r>
          </a:p>
        </p:txBody>
      </p:sp>
    </p:spTree>
    <p:extLst>
      <p:ext uri="{BB962C8B-B14F-4D97-AF65-F5344CB8AC3E}">
        <p14:creationId xmlns:p14="http://schemas.microsoft.com/office/powerpoint/2010/main" val="567450498"/>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8" name="Google Shape;208;p12">
            <a:extLst xmlns:a="http://schemas.openxmlformats.org/drawingml/2006/main">
              <a:ext uri="{FF2B5EF4-FFF2-40B4-BE49-F238E27FC236}">
                <a16:creationId xmlns:a16="http://schemas.microsoft.com/office/drawing/2014/main" id="{830D94E0-CED2-4D9B-8032-B37443AE92B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9" name="Google Shape;209;p12">
            <a:extLst xmlns:a="http://schemas.openxmlformats.org/drawingml/2006/main">
              <a:ext uri="{FF2B5EF4-FFF2-40B4-BE49-F238E27FC236}">
                <a16:creationId xmlns:a16="http://schemas.microsoft.com/office/drawing/2014/main" id="{2DB26938-1FF4-4EC9-806D-80BC67F44198}"/>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0" name="Google Shape;210;p12">
            <a:extLst xmlns:a="http://schemas.openxmlformats.org/drawingml/2006/main">
              <a:ext uri="{FF2B5EF4-FFF2-40B4-BE49-F238E27FC236}">
                <a16:creationId xmlns:a16="http://schemas.microsoft.com/office/drawing/2014/main" id="{032697B0-E190-4D82-8F10-E8B830AA844A}"/>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1" name="Google Shape;211;p12">
            <a:extLst xmlns:a="http://schemas.openxmlformats.org/drawingml/2006/main">
              <a:ext uri="{FF2B5EF4-FFF2-40B4-BE49-F238E27FC236}">
                <a16:creationId xmlns:a16="http://schemas.microsoft.com/office/drawing/2014/main" id="{57DB429F-E717-4EC4-8645-47361D2A0648}"/>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212" name="Google Shape;212;p12">
            <a:extLst xmlns:a="http://schemas.openxmlformats.org/drawingml/2006/main">
              <a:ext uri="{FF2B5EF4-FFF2-40B4-BE49-F238E27FC236}">
                <a16:creationId xmlns:a16="http://schemas.microsoft.com/office/drawing/2014/main" id="{53AFC5EE-72BA-4C2E-86B3-626C0F2D608C}"/>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13" name="Google Shape;213;p12">
            <a:extLst xmlns:a="http://schemas.openxmlformats.org/drawingml/2006/main">
              <a:ext uri="{FF2B5EF4-FFF2-40B4-BE49-F238E27FC236}">
                <a16:creationId xmlns:a16="http://schemas.microsoft.com/office/drawing/2014/main" id="{15B9C2B1-F6BD-4E58-8A66-02D5A5470524}"/>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214" name="Google Shape;214;p12">
            <a:extLst xmlns:a="http://schemas.openxmlformats.org/drawingml/2006/main">
              <a:ext uri="{FF2B5EF4-FFF2-40B4-BE49-F238E27FC236}">
                <a16:creationId xmlns:a16="http://schemas.microsoft.com/office/drawing/2014/main" id="{BFC8A166-68F4-45DD-9AEB-9DDF10D1BD93}"/>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Discussion: Explain What the Evidence Supports</a:t>
            </a:r>
          </a:p>
        </p:txBody>
      </p:sp>
      <p:sp>
        <p:nvSpPr>
          <p:cNvPr id="215" name="Google Shape;215;p12">
            <a:extLst xmlns:a="http://schemas.openxmlformats.org/drawingml/2006/main">
              <a:ext uri="{FF2B5EF4-FFF2-40B4-BE49-F238E27FC236}">
                <a16:creationId xmlns:a16="http://schemas.microsoft.com/office/drawing/2014/main" id="{58C3280C-8C64-4FDD-86C3-0805137766D0}"/>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This is where the report becomes scientific argument.</a:t>
            </a:r>
          </a:p>
        </p:txBody>
      </p:sp>
      <p:cxnSp>
        <p:nvCxnSpPr>
          <p:cNvPr id="237" name="Google Shape;216;p12"/>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17" name="Google Shape;217;p12">
            <a:extLst xmlns:a="http://schemas.openxmlformats.org/drawingml/2006/main">
              <a:ext uri="{FF2B5EF4-FFF2-40B4-BE49-F238E27FC236}">
                <a16:creationId xmlns:a16="http://schemas.microsoft.com/office/drawing/2014/main" id="{2D246E6D-1E43-41BD-88D4-E69DED1E02C7}"/>
              </a:ext>
            </a:extLst>
          </p:cNvPr>
          <p:cNvSpPr>
            <a:spLocks xmlns:a="http://schemas.openxmlformats.org/drawingml/2006/main" noGrp="1"/>
          </p:cNvSpPr>
          <p:nvPr/>
        </p:nvSpPr>
        <p:spPr>
          <a:xfrm xmlns:a="http://schemas.openxmlformats.org/drawingml/2006/main">
            <a:off x="713232" y="1719072"/>
            <a:ext cx="685800" cy="685800"/>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8" name="Google Shape;218;p12">
            <a:extLst xmlns:a="http://schemas.openxmlformats.org/drawingml/2006/main">
              <a:ext uri="{FF2B5EF4-FFF2-40B4-BE49-F238E27FC236}">
                <a16:creationId xmlns:a16="http://schemas.microsoft.com/office/drawing/2014/main" id="{B82C0E5C-E560-4440-ACDE-AA9DB02CD8C1}"/>
              </a:ext>
            </a:extLst>
          </p:cNvPr>
          <p:cNvSpPr>
            <a:spLocks xmlns:a="http://schemas.openxmlformats.org/drawingml/2006/main" noGrp="1"/>
          </p:cNvSpPr>
          <p:nvPr/>
        </p:nvSpPr>
        <p:spPr>
          <a:xfrm xmlns:a="http://schemas.openxmlformats.org/drawingml/2006/main">
            <a:off x="713232" y="1828800"/>
            <a:ext cx="6858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800"/>
              <a:buFont typeface="Play"/>
              <a:buNone/>
            </a:pPr>
            <a:r>
              <a:rPr sz="1800" b="1">
                <a:solidFill>
                  <a:srgbClr val="FFFFFF"/>
                </a:solidFill>
                <a:latin typeface="Play"/>
                <a:ea typeface="Play"/>
                <a:cs typeface="Play"/>
              </a:rPr>
              <a:t>CER</a:t>
            </a:r>
          </a:p>
        </p:txBody>
      </p:sp>
      <p:sp>
        <p:nvSpPr>
          <p:cNvPr id="219" name="Google Shape;219;p12">
            <a:extLst xmlns:a="http://schemas.openxmlformats.org/drawingml/2006/main">
              <a:ext uri="{FF2B5EF4-FFF2-40B4-BE49-F238E27FC236}">
                <a16:creationId xmlns:a16="http://schemas.microsoft.com/office/drawing/2014/main" id="{CAAF84FC-DD08-42F4-8DC7-0D5403CB59E7}"/>
              </a:ext>
            </a:extLst>
          </p:cNvPr>
          <p:cNvSpPr>
            <a:spLocks xmlns:a="http://schemas.openxmlformats.org/drawingml/2006/main" noGrp="1"/>
          </p:cNvSpPr>
          <p:nvPr/>
        </p:nvSpPr>
        <p:spPr>
          <a:xfrm xmlns:a="http://schemas.openxmlformats.org/drawingml/2006/main">
            <a:off x="1600200" y="1700784"/>
            <a:ext cx="950976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400"/>
              <a:buFont typeface="Play"/>
              <a:buNone/>
            </a:pPr>
            <a:r>
              <a:rPr sz="2400" b="1">
                <a:solidFill>
                  <a:srgbClr val="FFFFFF"/>
                </a:solidFill>
                <a:latin typeface="Play"/>
                <a:ea typeface="Play"/>
                <a:cs typeface="Play"/>
              </a:rPr>
              <a:t>Claim • Evidence • Reasoning</a:t>
            </a:r>
          </a:p>
        </p:txBody>
      </p:sp>
      <p:sp>
        <p:nvSpPr>
          <p:cNvPr id="220" name="Google Shape;220;p12">
            <a:extLst xmlns:a="http://schemas.openxmlformats.org/drawingml/2006/main">
              <a:ext uri="{FF2B5EF4-FFF2-40B4-BE49-F238E27FC236}">
                <a16:creationId xmlns:a16="http://schemas.microsoft.com/office/drawing/2014/main" id="{FA210153-C15F-4E7B-8364-20BDF985B0E2}"/>
              </a:ext>
            </a:extLst>
          </p:cNvPr>
          <p:cNvSpPr>
            <a:spLocks xmlns:a="http://schemas.openxmlformats.org/drawingml/2006/main" noGrp="1"/>
          </p:cNvSpPr>
          <p:nvPr/>
        </p:nvSpPr>
        <p:spPr>
          <a:xfrm xmlns:a="http://schemas.openxmlformats.org/drawingml/2006/main">
            <a:off x="914400" y="2743200"/>
            <a:ext cx="3246120" cy="2286000"/>
          </a:xfrm>
          <a:prstGeom xmlns:a="http://schemas.openxmlformats.org/drawingml/2006/main" prst="roundRect">
            <a:avLst>
              <a:gd name="adj" fmla="val 2400"/>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1" name="Google Shape;221;p12">
            <a:extLst xmlns:a="http://schemas.openxmlformats.org/drawingml/2006/main">
              <a:ext uri="{FF2B5EF4-FFF2-40B4-BE49-F238E27FC236}">
                <a16:creationId xmlns:a16="http://schemas.microsoft.com/office/drawing/2014/main" id="{7B84C8BA-C2CE-4B1F-83DF-CBBE2E6B976B}"/>
              </a:ext>
            </a:extLst>
          </p:cNvPr>
          <p:cNvSpPr>
            <a:spLocks xmlns:a="http://schemas.openxmlformats.org/drawingml/2006/main" noGrp="1"/>
          </p:cNvSpPr>
          <p:nvPr/>
        </p:nvSpPr>
        <p:spPr>
          <a:xfrm xmlns:a="http://schemas.openxmlformats.org/drawingml/2006/main">
            <a:off x="1078992" y="2880360"/>
            <a:ext cx="29169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CLAIM</a:t>
            </a:r>
          </a:p>
        </p:txBody>
      </p:sp>
      <p:sp>
        <p:nvSpPr>
          <p:cNvPr id="222" name="Google Shape;222;p12">
            <a:extLst xmlns:a="http://schemas.openxmlformats.org/drawingml/2006/main">
              <a:ext uri="{FF2B5EF4-FFF2-40B4-BE49-F238E27FC236}">
                <a16:creationId xmlns:a16="http://schemas.microsoft.com/office/drawing/2014/main" id="{E55027CE-9055-446E-A45E-1BF582C03A65}"/>
              </a:ext>
            </a:extLst>
          </p:cNvPr>
          <p:cNvSpPr>
            <a:spLocks xmlns:a="http://schemas.openxmlformats.org/drawingml/2006/main" noGrp="1"/>
          </p:cNvSpPr>
          <p:nvPr/>
        </p:nvSpPr>
        <p:spPr>
          <a:xfrm xmlns:a="http://schemas.openxmlformats.org/drawingml/2006/main">
            <a:off x="1078992" y="3246120"/>
            <a:ext cx="2916936" cy="1627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a:solidFill>
                  <a:srgbClr val="FFFFFF"/>
                </a:solidFill>
                <a:latin typeface="Arial"/>
                <a:ea typeface="Arial"/>
                <a:cs typeface="Arial"/>
              </a:rPr>
              <a:t>What does the data suggest or support?</a:t>
            </a:r>
          </a:p>
        </p:txBody>
      </p:sp>
      <p:sp>
        <p:nvSpPr>
          <p:cNvPr id="223" name="Google Shape;223;p12">
            <a:extLst xmlns:a="http://schemas.openxmlformats.org/drawingml/2006/main">
              <a:ext uri="{FF2B5EF4-FFF2-40B4-BE49-F238E27FC236}">
                <a16:creationId xmlns:a16="http://schemas.microsoft.com/office/drawing/2014/main" id="{226D10BD-2EBF-414F-93F5-06BFB915A3A8}"/>
              </a:ext>
            </a:extLst>
          </p:cNvPr>
          <p:cNvSpPr>
            <a:spLocks xmlns:a="http://schemas.openxmlformats.org/drawingml/2006/main" noGrp="1"/>
          </p:cNvSpPr>
          <p:nvPr/>
        </p:nvSpPr>
        <p:spPr>
          <a:xfrm xmlns:a="http://schemas.openxmlformats.org/drawingml/2006/main">
            <a:off x="4480560" y="2743200"/>
            <a:ext cx="3246120" cy="2286000"/>
          </a:xfrm>
          <a:prstGeom xmlns:a="http://schemas.openxmlformats.org/drawingml/2006/main" prst="roundRect">
            <a:avLst>
              <a:gd name="adj" fmla="val 2400"/>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4" name="Google Shape;224;p12">
            <a:extLst xmlns:a="http://schemas.openxmlformats.org/drawingml/2006/main">
              <a:ext uri="{FF2B5EF4-FFF2-40B4-BE49-F238E27FC236}">
                <a16:creationId xmlns:a16="http://schemas.microsoft.com/office/drawing/2014/main" id="{A710F70B-F183-4AA9-B47D-2DA94324BDAB}"/>
              </a:ext>
            </a:extLst>
          </p:cNvPr>
          <p:cNvSpPr>
            <a:spLocks xmlns:a="http://schemas.openxmlformats.org/drawingml/2006/main" noGrp="1"/>
          </p:cNvSpPr>
          <p:nvPr/>
        </p:nvSpPr>
        <p:spPr>
          <a:xfrm xmlns:a="http://schemas.openxmlformats.org/drawingml/2006/main">
            <a:off x="4645152" y="2880360"/>
            <a:ext cx="29169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EVIDENCE</a:t>
            </a:r>
          </a:p>
        </p:txBody>
      </p:sp>
      <p:sp>
        <p:nvSpPr>
          <p:cNvPr id="225" name="Google Shape;225;p12">
            <a:extLst xmlns:a="http://schemas.openxmlformats.org/drawingml/2006/main">
              <a:ext uri="{FF2B5EF4-FFF2-40B4-BE49-F238E27FC236}">
                <a16:creationId xmlns:a16="http://schemas.microsoft.com/office/drawing/2014/main" id="{C4ADF459-2FC7-4AAB-B6C5-D8E69B2D170D}"/>
              </a:ext>
            </a:extLst>
          </p:cNvPr>
          <p:cNvSpPr>
            <a:spLocks xmlns:a="http://schemas.openxmlformats.org/drawingml/2006/main" noGrp="1"/>
          </p:cNvSpPr>
          <p:nvPr/>
        </p:nvSpPr>
        <p:spPr>
          <a:xfrm xmlns:a="http://schemas.openxmlformats.org/drawingml/2006/main">
            <a:off x="4645152" y="3246120"/>
            <a:ext cx="2916936" cy="1627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a:solidFill>
                  <a:srgbClr val="FFFFFF"/>
                </a:solidFill>
                <a:latin typeface="Arial"/>
                <a:ea typeface="Arial"/>
                <a:cs typeface="Arial"/>
              </a:rPr>
              <a:t>What specific data, graph, calculation, or observation supports it?</a:t>
            </a:r>
          </a:p>
        </p:txBody>
      </p:sp>
      <p:sp>
        <p:nvSpPr>
          <p:cNvPr id="226" name="Google Shape;226;p12">
            <a:extLst xmlns:a="http://schemas.openxmlformats.org/drawingml/2006/main">
              <a:ext uri="{FF2B5EF4-FFF2-40B4-BE49-F238E27FC236}">
                <a16:creationId xmlns:a16="http://schemas.microsoft.com/office/drawing/2014/main" id="{0A37D1C8-8A6A-46FE-9966-363FD1B9AFFF}"/>
              </a:ext>
            </a:extLst>
          </p:cNvPr>
          <p:cNvSpPr>
            <a:spLocks xmlns:a="http://schemas.openxmlformats.org/drawingml/2006/main" noGrp="1"/>
          </p:cNvSpPr>
          <p:nvPr/>
        </p:nvSpPr>
        <p:spPr>
          <a:xfrm xmlns:a="http://schemas.openxmlformats.org/drawingml/2006/main">
            <a:off x="8046720" y="2743200"/>
            <a:ext cx="3246120" cy="2286000"/>
          </a:xfrm>
          <a:prstGeom xmlns:a="http://schemas.openxmlformats.org/drawingml/2006/main" prst="roundRect">
            <a:avLst>
              <a:gd name="adj" fmla="val 2400"/>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7" name="Google Shape;227;p12">
            <a:extLst xmlns:a="http://schemas.openxmlformats.org/drawingml/2006/main">
              <a:ext uri="{FF2B5EF4-FFF2-40B4-BE49-F238E27FC236}">
                <a16:creationId xmlns:a16="http://schemas.microsoft.com/office/drawing/2014/main" id="{362BC258-CC21-478E-AB05-B4AB78E74130}"/>
              </a:ext>
            </a:extLst>
          </p:cNvPr>
          <p:cNvSpPr>
            <a:spLocks xmlns:a="http://schemas.openxmlformats.org/drawingml/2006/main" noGrp="1"/>
          </p:cNvSpPr>
          <p:nvPr/>
        </p:nvSpPr>
        <p:spPr>
          <a:xfrm xmlns:a="http://schemas.openxmlformats.org/drawingml/2006/main">
            <a:off x="8211312" y="2880360"/>
            <a:ext cx="29169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REASONING</a:t>
            </a:r>
          </a:p>
        </p:txBody>
      </p:sp>
      <p:sp>
        <p:nvSpPr>
          <p:cNvPr id="228" name="Google Shape;228;p12">
            <a:extLst xmlns:a="http://schemas.openxmlformats.org/drawingml/2006/main">
              <a:ext uri="{FF2B5EF4-FFF2-40B4-BE49-F238E27FC236}">
                <a16:creationId xmlns:a16="http://schemas.microsoft.com/office/drawing/2014/main" id="{3CE89539-CC29-4BB8-B1C7-230FA16EBD0E}"/>
              </a:ext>
            </a:extLst>
          </p:cNvPr>
          <p:cNvSpPr>
            <a:spLocks xmlns:a="http://schemas.openxmlformats.org/drawingml/2006/main" noGrp="1"/>
          </p:cNvSpPr>
          <p:nvPr/>
        </p:nvSpPr>
        <p:spPr>
          <a:xfrm xmlns:a="http://schemas.openxmlformats.org/drawingml/2006/main">
            <a:off x="8211312" y="3246120"/>
            <a:ext cx="2916936" cy="1627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a:solidFill>
                  <a:srgbClr val="FFFFFF"/>
                </a:solidFill>
                <a:latin typeface="Arial"/>
                <a:ea typeface="Arial"/>
                <a:cs typeface="Arial"/>
              </a:rPr>
              <a:t>Why does that evidence support the claim? What limitations matter?</a:t>
            </a:r>
          </a:p>
        </p:txBody>
      </p:sp>
    </p:spTree>
    <p:extLst>
      <p:ext uri="{BB962C8B-B14F-4D97-AF65-F5344CB8AC3E}">
        <p14:creationId xmlns:p14="http://schemas.microsoft.com/office/powerpoint/2010/main" val="792301848"/>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34" name="Google Shape;234;p13">
            <a:extLst xmlns:a="http://schemas.openxmlformats.org/drawingml/2006/main">
              <a:ext uri="{FF2B5EF4-FFF2-40B4-BE49-F238E27FC236}">
                <a16:creationId xmlns:a16="http://schemas.microsoft.com/office/drawing/2014/main" id="{2A2B9A8C-4802-452A-9B17-3D5FC580D39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5" name="Google Shape;235;p13">
            <a:extLst xmlns:a="http://schemas.openxmlformats.org/drawingml/2006/main">
              <a:ext uri="{FF2B5EF4-FFF2-40B4-BE49-F238E27FC236}">
                <a16:creationId xmlns:a16="http://schemas.microsoft.com/office/drawing/2014/main" id="{DFF2E9BE-9898-43BE-B2D1-D7F47DF1E6E8}"/>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6" name="Google Shape;236;p13">
            <a:extLst xmlns:a="http://schemas.openxmlformats.org/drawingml/2006/main">
              <a:ext uri="{FF2B5EF4-FFF2-40B4-BE49-F238E27FC236}">
                <a16:creationId xmlns:a16="http://schemas.microsoft.com/office/drawing/2014/main" id="{3B5DC064-6EE6-4BBD-BD72-F0DEF95E66AE}"/>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7" name="Google Shape;237;p13">
            <a:extLst xmlns:a="http://schemas.openxmlformats.org/drawingml/2006/main">
              <a:ext uri="{FF2B5EF4-FFF2-40B4-BE49-F238E27FC236}">
                <a16:creationId xmlns:a16="http://schemas.microsoft.com/office/drawing/2014/main" id="{42AAAFF6-13D5-45EF-A1AC-6E18B5E68F23}"/>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238" name="Google Shape;238;p13">
            <a:extLst xmlns:a="http://schemas.openxmlformats.org/drawingml/2006/main">
              <a:ext uri="{FF2B5EF4-FFF2-40B4-BE49-F238E27FC236}">
                <a16:creationId xmlns:a16="http://schemas.microsoft.com/office/drawing/2014/main" id="{9DF0235F-3BB0-4564-9686-45C45BC7EC69}"/>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39" name="Google Shape;239;p13">
            <a:extLst xmlns:a="http://schemas.openxmlformats.org/drawingml/2006/main">
              <a:ext uri="{FF2B5EF4-FFF2-40B4-BE49-F238E27FC236}">
                <a16:creationId xmlns:a16="http://schemas.microsoft.com/office/drawing/2014/main" id="{DF5BCEE5-2EB3-4A6A-89D9-5369D6EB76AD}"/>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240" name="Google Shape;240;p13">
            <a:extLst xmlns:a="http://schemas.openxmlformats.org/drawingml/2006/main">
              <a:ext uri="{FF2B5EF4-FFF2-40B4-BE49-F238E27FC236}">
                <a16:creationId xmlns:a16="http://schemas.microsoft.com/office/drawing/2014/main" id="{E6192C07-3FB9-41DF-B9A3-615233587E24}"/>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Conclusion: The Main Takeaway</a:t>
            </a:r>
          </a:p>
        </p:txBody>
      </p:sp>
      <p:sp>
        <p:nvSpPr>
          <p:cNvPr id="241" name="Google Shape;241;p13">
            <a:extLst xmlns:a="http://schemas.openxmlformats.org/drawingml/2006/main">
              <a:ext uri="{FF2B5EF4-FFF2-40B4-BE49-F238E27FC236}">
                <a16:creationId xmlns:a16="http://schemas.microsoft.com/office/drawing/2014/main" id="{92E08D78-E4E0-4071-B297-CD13F9A94B91}"/>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Short, focused, and connected to the evidence.</a:t>
            </a:r>
          </a:p>
        </p:txBody>
      </p:sp>
      <p:cxnSp>
        <p:nvCxnSpPr>
          <p:cNvPr id="252" name="Google Shape;242;p13"/>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43" name="Google Shape;243;p13">
            <a:extLst xmlns:a="http://schemas.openxmlformats.org/drawingml/2006/main">
              <a:ext uri="{FF2B5EF4-FFF2-40B4-BE49-F238E27FC236}">
                <a16:creationId xmlns:a16="http://schemas.microsoft.com/office/drawing/2014/main" id="{FF071383-C0C2-42DE-BB83-6B9CD05190C1}"/>
              </a:ext>
            </a:extLst>
          </p:cNvPr>
          <p:cNvSpPr>
            <a:spLocks xmlns:a="http://schemas.openxmlformats.org/drawingml/2006/main" noGrp="1"/>
          </p:cNvSpPr>
          <p:nvPr/>
        </p:nvSpPr>
        <p:spPr>
          <a:xfrm xmlns:a="http://schemas.openxmlformats.org/drawingml/2006/main">
            <a:off x="960120" y="1828800"/>
            <a:ext cx="10058400"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200">
                <a:solidFill>
                  <a:srgbClr val="FFFFFF"/>
                </a:solidFill>
                <a:latin typeface="Arial"/>
                <a:ea typeface="Arial"/>
                <a:cs typeface="Arial"/>
              </a:rPr>
              <a:t>Restate the purpose of the project briefly.</a:t>
            </a:r>
          </a:p>
          <a:p xmlns:a="http://schemas.openxmlformats.org/drawingml/2006/main">
            <a:pPr marL="0" marR="0" indent="0" algn="l">
              <a:spcBef>
                <a:spcPts val="0"/>
              </a:spcBef>
              <a:spcAft>
                <a:spcPts val="0"/>
              </a:spcAft>
              <a:buNone/>
            </a:pPr>
            <a:r>
              <a:rPr sz="2200">
                <a:solidFill>
                  <a:srgbClr val="FFFFFF"/>
                </a:solidFill>
                <a:latin typeface="Arial"/>
                <a:ea typeface="Arial"/>
                <a:cs typeface="Arial"/>
              </a:rPr>
              <a:t>Summarize the most important finding or design outcome.</a:t>
            </a:r>
          </a:p>
          <a:p xmlns:a="http://schemas.openxmlformats.org/drawingml/2006/main">
            <a:pPr marL="0" marR="0" indent="0" algn="l">
              <a:spcBef>
                <a:spcPts val="0"/>
              </a:spcBef>
              <a:spcAft>
                <a:spcPts val="0"/>
              </a:spcAft>
              <a:buNone/>
            </a:pPr>
            <a:r>
              <a:rPr sz="2200">
                <a:solidFill>
                  <a:srgbClr val="FFFFFF"/>
                </a:solidFill>
                <a:latin typeface="Arial"/>
                <a:ea typeface="Arial"/>
                <a:cs typeface="Arial"/>
              </a:rPr>
              <a:t>Explain why the finding matters within the scope of the project.</a:t>
            </a:r>
          </a:p>
          <a:p xmlns:a="http://schemas.openxmlformats.org/drawingml/2006/main">
            <a:pPr marL="0" marR="0" indent="0" algn="l">
              <a:spcBef>
                <a:spcPts val="0"/>
              </a:spcBef>
              <a:spcAft>
                <a:spcPts val="0"/>
              </a:spcAft>
              <a:buNone/>
            </a:pPr>
            <a:r>
              <a:rPr sz="2200">
                <a:solidFill>
                  <a:srgbClr val="FFFFFF"/>
                </a:solidFill>
                <a:latin typeface="Arial"/>
                <a:ea typeface="Arial"/>
                <a:cs typeface="Arial"/>
              </a:rPr>
              <a:t>Name a major limitation or next step.</a:t>
            </a:r>
          </a:p>
          <a:p xmlns:a="http://schemas.openxmlformats.org/drawingml/2006/main">
            <a:pPr marL="0" marR="0" indent="0" algn="l">
              <a:spcBef>
                <a:spcPts val="0"/>
              </a:spcBef>
              <a:spcAft>
                <a:spcPts val="0"/>
              </a:spcAft>
              <a:buNone/>
            </a:pPr>
            <a:r>
              <a:rPr sz="2200">
                <a:solidFill>
                  <a:srgbClr val="FFFFFF"/>
                </a:solidFill>
                <a:latin typeface="Arial"/>
                <a:ea typeface="Arial"/>
                <a:cs typeface="Arial"/>
              </a:rPr>
              <a:t>Do not introduce a pile of new data.</a:t>
            </a:r>
          </a:p>
        </p:txBody>
      </p:sp>
    </p:spTree>
    <p:extLst>
      <p:ext uri="{BB962C8B-B14F-4D97-AF65-F5344CB8AC3E}">
        <p14:creationId xmlns:p14="http://schemas.microsoft.com/office/powerpoint/2010/main" val="786514495"/>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49" name="Google Shape;249;p14">
            <a:extLst xmlns:a="http://schemas.openxmlformats.org/drawingml/2006/main">
              <a:ext uri="{FF2B5EF4-FFF2-40B4-BE49-F238E27FC236}">
                <a16:creationId xmlns:a16="http://schemas.microsoft.com/office/drawing/2014/main" id="{2C94A315-34D0-436C-B31E-91968288562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0" name="Google Shape;250;p14">
            <a:extLst xmlns:a="http://schemas.openxmlformats.org/drawingml/2006/main">
              <a:ext uri="{FF2B5EF4-FFF2-40B4-BE49-F238E27FC236}">
                <a16:creationId xmlns:a16="http://schemas.microsoft.com/office/drawing/2014/main" id="{222C0181-43A8-4AF6-B10C-8DA9AE21221E}"/>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1" name="Google Shape;251;p14">
            <a:extLst xmlns:a="http://schemas.openxmlformats.org/drawingml/2006/main">
              <a:ext uri="{FF2B5EF4-FFF2-40B4-BE49-F238E27FC236}">
                <a16:creationId xmlns:a16="http://schemas.microsoft.com/office/drawing/2014/main" id="{FAB3B115-8284-4F05-AD73-E9BBAB06B88F}"/>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2" name="Google Shape;252;p14">
            <a:extLst xmlns:a="http://schemas.openxmlformats.org/drawingml/2006/main">
              <a:ext uri="{FF2B5EF4-FFF2-40B4-BE49-F238E27FC236}">
                <a16:creationId xmlns:a16="http://schemas.microsoft.com/office/drawing/2014/main" id="{25BA2C09-8D6C-4B0F-8A10-D0B41A8F1950}"/>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253" name="Google Shape;253;p14">
            <a:extLst xmlns:a="http://schemas.openxmlformats.org/drawingml/2006/main">
              <a:ext uri="{FF2B5EF4-FFF2-40B4-BE49-F238E27FC236}">
                <a16:creationId xmlns:a16="http://schemas.microsoft.com/office/drawing/2014/main" id="{0CFF1E07-F6B9-49DB-A565-EDF666F41A07}"/>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54" name="Google Shape;254;p14">
            <a:extLst xmlns:a="http://schemas.openxmlformats.org/drawingml/2006/main">
              <a:ext uri="{FF2B5EF4-FFF2-40B4-BE49-F238E27FC236}">
                <a16:creationId xmlns:a16="http://schemas.microsoft.com/office/drawing/2014/main" id="{B116C785-F05E-4D38-B75D-C8CA3F5D196B}"/>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255" name="Google Shape;255;p14">
            <a:extLst xmlns:a="http://schemas.openxmlformats.org/drawingml/2006/main">
              <a:ext uri="{FF2B5EF4-FFF2-40B4-BE49-F238E27FC236}">
                <a16:creationId xmlns:a16="http://schemas.microsoft.com/office/drawing/2014/main" id="{DC7C0A98-9872-44F0-B6B7-E3FF06D367A4}"/>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References and Appendices</a:t>
            </a:r>
          </a:p>
        </p:txBody>
      </p:sp>
      <p:sp>
        <p:nvSpPr>
          <p:cNvPr id="256" name="Google Shape;256;p14">
            <a:extLst xmlns:a="http://schemas.openxmlformats.org/drawingml/2006/main">
              <a:ext uri="{FF2B5EF4-FFF2-40B4-BE49-F238E27FC236}">
                <a16:creationId xmlns:a16="http://schemas.microsoft.com/office/drawing/2014/main" id="{8B5D21EE-A222-4034-A74A-A022BF41B974}"/>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Scientific writing gives credit and preserves useful detail.</a:t>
            </a:r>
          </a:p>
        </p:txBody>
      </p:sp>
      <p:cxnSp>
        <p:nvCxnSpPr>
          <p:cNvPr id="272" name="Google Shape;257;p14"/>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58" name="Google Shape;258;p14">
            <a:extLst xmlns:a="http://schemas.openxmlformats.org/drawingml/2006/main">
              <a:ext uri="{FF2B5EF4-FFF2-40B4-BE49-F238E27FC236}">
                <a16:creationId xmlns:a16="http://schemas.microsoft.com/office/drawing/2014/main" id="{96DCAC51-BB0F-451F-BA90-A252987CF5B5}"/>
              </a:ext>
            </a:extLst>
          </p:cNvPr>
          <p:cNvSpPr>
            <a:spLocks xmlns:a="http://schemas.openxmlformats.org/drawingml/2006/main" noGrp="1"/>
          </p:cNvSpPr>
          <p:nvPr/>
        </p:nvSpPr>
        <p:spPr>
          <a:xfrm xmlns:a="http://schemas.openxmlformats.org/drawingml/2006/main">
            <a:off x="914400" y="1920240"/>
            <a:ext cx="4937760" cy="3108960"/>
          </a:xfrm>
          <a:prstGeom xmlns:a="http://schemas.openxmlformats.org/drawingml/2006/main" prst="roundRect">
            <a:avLst>
              <a:gd name="adj" fmla="val 1765"/>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9" name="Google Shape;259;p14">
            <a:extLst xmlns:a="http://schemas.openxmlformats.org/drawingml/2006/main">
              <a:ext uri="{FF2B5EF4-FFF2-40B4-BE49-F238E27FC236}">
                <a16:creationId xmlns:a16="http://schemas.microsoft.com/office/drawing/2014/main" id="{BCD9FC55-8270-4701-842F-D7D87939F2E8}"/>
              </a:ext>
            </a:extLst>
          </p:cNvPr>
          <p:cNvSpPr>
            <a:spLocks xmlns:a="http://schemas.openxmlformats.org/drawingml/2006/main" noGrp="1"/>
          </p:cNvSpPr>
          <p:nvPr/>
        </p:nvSpPr>
        <p:spPr>
          <a:xfrm xmlns:a="http://schemas.openxmlformats.org/drawingml/2006/main">
            <a:off x="1078992" y="2057400"/>
            <a:ext cx="46085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REFERENCES</a:t>
            </a:r>
          </a:p>
        </p:txBody>
      </p:sp>
      <p:sp>
        <p:nvSpPr>
          <p:cNvPr id="260" name="Google Shape;260;p14">
            <a:extLst xmlns:a="http://schemas.openxmlformats.org/drawingml/2006/main">
              <a:ext uri="{FF2B5EF4-FFF2-40B4-BE49-F238E27FC236}">
                <a16:creationId xmlns:a16="http://schemas.microsoft.com/office/drawing/2014/main" id="{3DFB8A4F-8E8A-403F-B023-32FA74234BD2}"/>
              </a:ext>
            </a:extLst>
          </p:cNvPr>
          <p:cNvSpPr>
            <a:spLocks xmlns:a="http://schemas.openxmlformats.org/drawingml/2006/main" noGrp="1"/>
          </p:cNvSpPr>
          <p:nvPr/>
        </p:nvSpPr>
        <p:spPr>
          <a:xfrm xmlns:a="http://schemas.openxmlformats.org/drawingml/2006/main">
            <a:off x="1078992" y="2423160"/>
            <a:ext cx="4608576" cy="2450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Credit sources used for background, methods, images, datasets, code, or scientific context.</a:t>
            </a:r>
          </a:p>
          <a:p xmlns:a="http://schemas.openxmlformats.org/drawingml/2006/main">
            <a:pPr marL="0" marR="0" indent="0" algn="l">
              <a:spcBef>
                <a:spcPts val="0"/>
              </a:spcBef>
              <a:spcAft>
                <a:spcPts val="0"/>
              </a:spcAft>
              <a:buClr>
                <a:schemeClr val="dk1"/>
              </a:buClr>
              <a:buSzPts val="1800"/>
              <a:buFont typeface="Arial"/>
              <a:buNone/>
            </a:pPr>
            <a:r>
              <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Readers should be able to trace where outside information came from.</a:t>
            </a:r>
          </a:p>
        </p:txBody>
      </p:sp>
      <p:sp>
        <p:nvSpPr>
          <p:cNvPr id="261" name="Google Shape;261;p14">
            <a:extLst xmlns:a="http://schemas.openxmlformats.org/drawingml/2006/main">
              <a:ext uri="{FF2B5EF4-FFF2-40B4-BE49-F238E27FC236}">
                <a16:creationId xmlns:a16="http://schemas.microsoft.com/office/drawing/2014/main" id="{27862A2B-F796-41E9-9FBB-A95A61B4DA66}"/>
              </a:ext>
            </a:extLst>
          </p:cNvPr>
          <p:cNvSpPr>
            <a:spLocks xmlns:a="http://schemas.openxmlformats.org/drawingml/2006/main" noGrp="1"/>
          </p:cNvSpPr>
          <p:nvPr/>
        </p:nvSpPr>
        <p:spPr>
          <a:xfrm xmlns:a="http://schemas.openxmlformats.org/drawingml/2006/main">
            <a:off x="6355080" y="1920240"/>
            <a:ext cx="4937760" cy="3108960"/>
          </a:xfrm>
          <a:prstGeom xmlns:a="http://schemas.openxmlformats.org/drawingml/2006/main" prst="roundRect">
            <a:avLst>
              <a:gd name="adj" fmla="val 1765"/>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2" name="Google Shape;262;p14">
            <a:extLst xmlns:a="http://schemas.openxmlformats.org/drawingml/2006/main">
              <a:ext uri="{FF2B5EF4-FFF2-40B4-BE49-F238E27FC236}">
                <a16:creationId xmlns:a16="http://schemas.microsoft.com/office/drawing/2014/main" id="{609EC9D8-1600-4CB6-94F0-ADCCDADBC8A9}"/>
              </a:ext>
            </a:extLst>
          </p:cNvPr>
          <p:cNvSpPr>
            <a:spLocks xmlns:a="http://schemas.openxmlformats.org/drawingml/2006/main" noGrp="1"/>
          </p:cNvSpPr>
          <p:nvPr/>
        </p:nvSpPr>
        <p:spPr>
          <a:xfrm xmlns:a="http://schemas.openxmlformats.org/drawingml/2006/main">
            <a:off x="6519672" y="2057400"/>
            <a:ext cx="46085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APPENDIX</a:t>
            </a:r>
          </a:p>
        </p:txBody>
      </p:sp>
      <p:sp>
        <p:nvSpPr>
          <p:cNvPr id="263" name="Google Shape;263;p14">
            <a:extLst xmlns:a="http://schemas.openxmlformats.org/drawingml/2006/main">
              <a:ext uri="{FF2B5EF4-FFF2-40B4-BE49-F238E27FC236}">
                <a16:creationId xmlns:a16="http://schemas.microsoft.com/office/drawing/2014/main" id="{00EF0809-BF11-4044-BCBB-ED58BE1357E0}"/>
              </a:ext>
            </a:extLst>
          </p:cNvPr>
          <p:cNvSpPr>
            <a:spLocks xmlns:a="http://schemas.openxmlformats.org/drawingml/2006/main" noGrp="1"/>
          </p:cNvSpPr>
          <p:nvPr/>
        </p:nvSpPr>
        <p:spPr>
          <a:xfrm xmlns:a="http://schemas.openxmlformats.org/drawingml/2006/main">
            <a:off x="6519672" y="2423160"/>
            <a:ext cx="4608576" cy="2450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Optional space for extra data, detailed calculations, code, survey questions, extended procedures, or additional graphs.</a:t>
            </a:r>
          </a:p>
          <a:p xmlns:a="http://schemas.openxmlformats.org/drawingml/2006/main">
            <a:pPr marL="0" marR="0" indent="0" algn="l">
              <a:spcBef>
                <a:spcPts val="0"/>
              </a:spcBef>
              <a:spcAft>
                <a:spcPts val="0"/>
              </a:spcAft>
              <a:buClr>
                <a:schemeClr val="dk1"/>
              </a:buClr>
              <a:buSzPts val="1800"/>
              <a:buFont typeface="Arial"/>
              <a:buNone/>
            </a:pPr>
            <a:r>
              <a:t/>
            </a:r>
          </a:p>
          <a:p xmlns:a="http://schemas.openxmlformats.org/drawingml/2006/main">
            <a:pPr marL="0" marR="0" indent="0" algn="l">
              <a:spcBef>
                <a:spcPts val="0"/>
              </a:spcBef>
              <a:spcAft>
                <a:spcPts val="0"/>
              </a:spcAft>
              <a:buClr>
                <a:srgbClr val="FFFFFF"/>
              </a:buClr>
              <a:buSzPts val="1800"/>
              <a:buFont typeface="Arial"/>
              <a:buNone/>
            </a:pPr>
            <a:r>
              <a:rPr sz="1800">
                <a:solidFill>
                  <a:srgbClr val="FFFFFF"/>
                </a:solidFill>
                <a:latin typeface="Arial"/>
                <a:ea typeface="Arial"/>
                <a:cs typeface="Arial"/>
              </a:rPr>
              <a:t>The main report should still make sense without it.</a:t>
            </a:r>
          </a:p>
        </p:txBody>
      </p:sp>
    </p:spTree>
    <p:extLst>
      <p:ext uri="{BB962C8B-B14F-4D97-AF65-F5344CB8AC3E}">
        <p14:creationId xmlns:p14="http://schemas.microsoft.com/office/powerpoint/2010/main" val="48919558"/>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69" name="Google Shape;269;p15">
            <a:extLst xmlns:a="http://schemas.openxmlformats.org/drawingml/2006/main">
              <a:ext uri="{FF2B5EF4-FFF2-40B4-BE49-F238E27FC236}">
                <a16:creationId xmlns:a16="http://schemas.microsoft.com/office/drawing/2014/main" id="{A1D06705-A7B5-415E-A499-35892EF4F4F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0" name="Google Shape;270;p15">
            <a:extLst xmlns:a="http://schemas.openxmlformats.org/drawingml/2006/main">
              <a:ext uri="{FF2B5EF4-FFF2-40B4-BE49-F238E27FC236}">
                <a16:creationId xmlns:a16="http://schemas.microsoft.com/office/drawing/2014/main" id="{29710651-22F5-4B72-B233-ECB6E9AA2D54}"/>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1" name="Google Shape;271;p15">
            <a:extLst xmlns:a="http://schemas.openxmlformats.org/drawingml/2006/main">
              <a:ext uri="{FF2B5EF4-FFF2-40B4-BE49-F238E27FC236}">
                <a16:creationId xmlns:a16="http://schemas.microsoft.com/office/drawing/2014/main" id="{2E627654-9685-484C-821C-E9A13F9E24E5}"/>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2" name="Google Shape;272;p15">
            <a:extLst xmlns:a="http://schemas.openxmlformats.org/drawingml/2006/main">
              <a:ext uri="{FF2B5EF4-FFF2-40B4-BE49-F238E27FC236}">
                <a16:creationId xmlns:a16="http://schemas.microsoft.com/office/drawing/2014/main" id="{72318054-A1D5-4BD3-9F96-B429A1EC98EE}"/>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273" name="Google Shape;273;p15">
            <a:extLst xmlns:a="http://schemas.openxmlformats.org/drawingml/2006/main">
              <a:ext uri="{FF2B5EF4-FFF2-40B4-BE49-F238E27FC236}">
                <a16:creationId xmlns:a16="http://schemas.microsoft.com/office/drawing/2014/main" id="{F6F245A9-CDC2-4B23-9C85-EC31C6B74622}"/>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74" name="Google Shape;274;p15">
            <a:extLst xmlns:a="http://schemas.openxmlformats.org/drawingml/2006/main">
              <a:ext uri="{FF2B5EF4-FFF2-40B4-BE49-F238E27FC236}">
                <a16:creationId xmlns:a16="http://schemas.microsoft.com/office/drawing/2014/main" id="{59298E67-40AD-4EFE-8C1D-6765148A1DD0}"/>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275" name="Google Shape;275;p15">
            <a:extLst xmlns:a="http://schemas.openxmlformats.org/drawingml/2006/main">
              <a:ext uri="{FF2B5EF4-FFF2-40B4-BE49-F238E27FC236}">
                <a16:creationId xmlns:a16="http://schemas.microsoft.com/office/drawing/2014/main" id="{5DD068E0-3823-48D7-B527-152A74BB74DC}"/>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Results vs. Discussion</a:t>
            </a:r>
          </a:p>
        </p:txBody>
      </p:sp>
      <p:sp>
        <p:nvSpPr>
          <p:cNvPr id="276" name="Google Shape;276;p15">
            <a:extLst xmlns:a="http://schemas.openxmlformats.org/drawingml/2006/main">
              <a:ext uri="{FF2B5EF4-FFF2-40B4-BE49-F238E27FC236}">
                <a16:creationId xmlns:a16="http://schemas.microsoft.com/office/drawing/2014/main" id="{28CF5430-FEE1-4B8E-BBF9-F3A58F423695}"/>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This is the most common report mix-up.</a:t>
            </a:r>
          </a:p>
        </p:txBody>
      </p:sp>
      <p:cxnSp>
        <p:nvCxnSpPr>
          <p:cNvPr id="293" name="Google Shape;277;p15"/>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78" name="Google Shape;278;p15">
            <a:extLst xmlns:a="http://schemas.openxmlformats.org/drawingml/2006/main">
              <a:ext uri="{FF2B5EF4-FFF2-40B4-BE49-F238E27FC236}">
                <a16:creationId xmlns:a16="http://schemas.microsoft.com/office/drawing/2014/main" id="{B978FFD3-D6DB-480A-9807-83570D6A011B}"/>
              </a:ext>
            </a:extLst>
          </p:cNvPr>
          <p:cNvSpPr>
            <a:spLocks xmlns:a="http://schemas.openxmlformats.org/drawingml/2006/main" noGrp="1"/>
          </p:cNvSpPr>
          <p:nvPr/>
        </p:nvSpPr>
        <p:spPr>
          <a:xfrm xmlns:a="http://schemas.openxmlformats.org/drawingml/2006/main">
            <a:off x="914400" y="1783080"/>
            <a:ext cx="4892040" cy="3474720"/>
          </a:xfrm>
          <a:prstGeom xmlns:a="http://schemas.openxmlformats.org/drawingml/2006/main" prst="roundRect">
            <a:avLst>
              <a:gd name="adj" fmla="val 1579"/>
            </a:avLst>
          </a:prstGeom>
          <a:solidFill xmlns:a="http://schemas.openxmlformats.org/drawingml/2006/main">
            <a:srgbClr val="101010"/>
          </a:solidFill>
          <a:ln xmlns:a="http://schemas.openxmlformats.org/drawingml/2006/main" w="12700" cmpd="sng">
            <a:solidFill>
              <a:srgbClr val="44444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9" name="Google Shape;279;p15">
            <a:extLst xmlns:a="http://schemas.openxmlformats.org/drawingml/2006/main">
              <a:ext uri="{FF2B5EF4-FFF2-40B4-BE49-F238E27FC236}">
                <a16:creationId xmlns:a16="http://schemas.microsoft.com/office/drawing/2014/main" id="{65295577-9434-4A0F-B411-2CD4E0640365}"/>
              </a:ext>
            </a:extLst>
          </p:cNvPr>
          <p:cNvSpPr>
            <a:spLocks xmlns:a="http://schemas.openxmlformats.org/drawingml/2006/main" noGrp="1"/>
          </p:cNvSpPr>
          <p:nvPr/>
        </p:nvSpPr>
        <p:spPr>
          <a:xfrm xmlns:a="http://schemas.openxmlformats.org/drawingml/2006/main">
            <a:off x="1078992" y="1920240"/>
            <a:ext cx="45628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RESULTS</a:t>
            </a:r>
          </a:p>
        </p:txBody>
      </p:sp>
      <p:sp>
        <p:nvSpPr>
          <p:cNvPr id="280" name="Google Shape;280;p15">
            <a:extLst xmlns:a="http://schemas.openxmlformats.org/drawingml/2006/main">
              <a:ext uri="{FF2B5EF4-FFF2-40B4-BE49-F238E27FC236}">
                <a16:creationId xmlns:a16="http://schemas.microsoft.com/office/drawing/2014/main" id="{1172F8D0-3693-49E8-BD8B-30B7980FAFC8}"/>
              </a:ext>
            </a:extLst>
          </p:cNvPr>
          <p:cNvSpPr>
            <a:spLocks xmlns:a="http://schemas.openxmlformats.org/drawingml/2006/main" noGrp="1"/>
          </p:cNvSpPr>
          <p:nvPr/>
        </p:nvSpPr>
        <p:spPr>
          <a:xfrm xmlns:a="http://schemas.openxmlformats.org/drawingml/2006/main">
            <a:off x="1078992" y="2286000"/>
            <a:ext cx="4562856" cy="2816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a:solidFill>
                  <a:srgbClr val="FFFFFF"/>
                </a:solidFill>
                <a:latin typeface="Arial"/>
                <a:ea typeface="Arial"/>
                <a:cs typeface="Arial"/>
              </a:rPr>
              <a:t>What the data showed.</a:t>
            </a:r>
          </a:p>
          <a:p xmlns:a="http://schemas.openxmlformats.org/drawingml/2006/main">
            <a:pPr marL="0" marR="0" indent="0" algn="l">
              <a:spcBef>
                <a:spcPts val="0"/>
              </a:spcBef>
              <a:spcAft>
                <a:spcPts val="0"/>
              </a:spcAft>
              <a:buClr>
                <a:schemeClr val="dk1"/>
              </a:buClr>
              <a:buSzPts val="2000"/>
              <a:buFont typeface="Arial"/>
              <a:buNone/>
            </a:pPr>
            <a:r>
              <a:t/>
            </a:r>
          </a:p>
          <a:p xmlns:a="http://schemas.openxmlformats.org/drawingml/2006/main">
            <a:pPr marL="0" marR="0" indent="0" algn="l">
              <a:spcBef>
                <a:spcPts val="0"/>
              </a:spcBef>
              <a:spcAft>
                <a:spcPts val="0"/>
              </a:spcAft>
              <a:buClr>
                <a:srgbClr val="FFFFFF"/>
              </a:buClr>
              <a:buSzPts val="2000"/>
              <a:buFont typeface="Arial"/>
              <a:buNone/>
            </a:pPr>
            <a:r>
              <a:rPr sz="2000">
                <a:solidFill>
                  <a:srgbClr val="FFFFFF"/>
                </a:solidFill>
                <a:latin typeface="Arial"/>
                <a:ea typeface="Arial"/>
                <a:cs typeface="Arial"/>
              </a:rPr>
              <a:t>“The average growth rate increased from 1.2 cm/week in the control group to 2.1 cm/week in the treatment group.”</a:t>
            </a:r>
          </a:p>
        </p:txBody>
      </p:sp>
      <p:sp>
        <p:nvSpPr>
          <p:cNvPr id="281" name="Google Shape;281;p15">
            <a:extLst xmlns:a="http://schemas.openxmlformats.org/drawingml/2006/main">
              <a:ext uri="{FF2B5EF4-FFF2-40B4-BE49-F238E27FC236}">
                <a16:creationId xmlns:a16="http://schemas.microsoft.com/office/drawing/2014/main" id="{FF0F23FF-4E66-44C6-A28C-CB99ADE753F9}"/>
              </a:ext>
            </a:extLst>
          </p:cNvPr>
          <p:cNvSpPr>
            <a:spLocks xmlns:a="http://schemas.openxmlformats.org/drawingml/2006/main" noGrp="1"/>
          </p:cNvSpPr>
          <p:nvPr/>
        </p:nvSpPr>
        <p:spPr>
          <a:xfrm xmlns:a="http://schemas.openxmlformats.org/drawingml/2006/main">
            <a:off x="6355080" y="1783080"/>
            <a:ext cx="4892040" cy="3474720"/>
          </a:xfrm>
          <a:prstGeom xmlns:a="http://schemas.openxmlformats.org/drawingml/2006/main" prst="roundRect">
            <a:avLst>
              <a:gd name="adj" fmla="val 1579"/>
            </a:avLst>
          </a:prstGeom>
          <a:solidFill xmlns:a="http://schemas.openxmlformats.org/drawingml/2006/main">
            <a:srgbClr val="101010"/>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2" name="Google Shape;282;p15">
            <a:extLst xmlns:a="http://schemas.openxmlformats.org/drawingml/2006/main">
              <a:ext uri="{FF2B5EF4-FFF2-40B4-BE49-F238E27FC236}">
                <a16:creationId xmlns:a16="http://schemas.microsoft.com/office/drawing/2014/main" id="{CD81ABD3-A948-4A07-9F66-6EA72929A4A5}"/>
              </a:ext>
            </a:extLst>
          </p:cNvPr>
          <p:cNvSpPr>
            <a:spLocks xmlns:a="http://schemas.openxmlformats.org/drawingml/2006/main" noGrp="1"/>
          </p:cNvSpPr>
          <p:nvPr/>
        </p:nvSpPr>
        <p:spPr>
          <a:xfrm xmlns:a="http://schemas.openxmlformats.org/drawingml/2006/main">
            <a:off x="6519672" y="1920240"/>
            <a:ext cx="45628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E22B27"/>
              </a:buClr>
              <a:buSzPts val="1200"/>
              <a:buFont typeface="Arial"/>
              <a:buNone/>
            </a:pPr>
            <a:r>
              <a:rPr sz="1200" b="1">
                <a:solidFill>
                  <a:srgbClr val="E22B27"/>
                </a:solidFill>
                <a:latin typeface="Arial"/>
                <a:ea typeface="Arial"/>
                <a:cs typeface="Arial"/>
              </a:rPr>
              <a:t>DISCUSSION</a:t>
            </a:r>
          </a:p>
        </p:txBody>
      </p:sp>
      <p:sp>
        <p:nvSpPr>
          <p:cNvPr id="283" name="Google Shape;283;p15">
            <a:extLst xmlns:a="http://schemas.openxmlformats.org/drawingml/2006/main">
              <a:ext uri="{FF2B5EF4-FFF2-40B4-BE49-F238E27FC236}">
                <a16:creationId xmlns:a16="http://schemas.microsoft.com/office/drawing/2014/main" id="{98CE6B56-0811-4778-BD3D-97957F3FDD26}"/>
              </a:ext>
            </a:extLst>
          </p:cNvPr>
          <p:cNvSpPr>
            <a:spLocks xmlns:a="http://schemas.openxmlformats.org/drawingml/2006/main" noGrp="1"/>
          </p:cNvSpPr>
          <p:nvPr/>
        </p:nvSpPr>
        <p:spPr>
          <a:xfrm xmlns:a="http://schemas.openxmlformats.org/drawingml/2006/main">
            <a:off x="6519672" y="2286000"/>
            <a:ext cx="4562856" cy="2816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000"/>
              <a:buFont typeface="Arial"/>
              <a:buNone/>
            </a:pPr>
            <a:r>
              <a:rPr sz="2000">
                <a:solidFill>
                  <a:srgbClr val="FFFFFF"/>
                </a:solidFill>
                <a:latin typeface="Arial"/>
                <a:ea typeface="Arial"/>
                <a:cs typeface="Arial"/>
              </a:rPr>
              <a:t>What the data may mean.</a:t>
            </a:r>
          </a:p>
          <a:p xmlns:a="http://schemas.openxmlformats.org/drawingml/2006/main">
            <a:pPr marL="0" marR="0" indent="0" algn="l">
              <a:spcBef>
                <a:spcPts val="0"/>
              </a:spcBef>
              <a:spcAft>
                <a:spcPts val="0"/>
              </a:spcAft>
              <a:buClr>
                <a:schemeClr val="dk1"/>
              </a:buClr>
              <a:buSzPts val="2000"/>
              <a:buFont typeface="Arial"/>
              <a:buNone/>
            </a:pPr>
            <a:r>
              <a:t/>
            </a:r>
          </a:p>
          <a:p xmlns:a="http://schemas.openxmlformats.org/drawingml/2006/main">
            <a:pPr marL="0" marR="0" indent="0" algn="l">
              <a:spcBef>
                <a:spcPts val="0"/>
              </a:spcBef>
              <a:spcAft>
                <a:spcPts val="0"/>
              </a:spcAft>
              <a:buClr>
                <a:srgbClr val="FFFFFF"/>
              </a:buClr>
              <a:buSzPts val="2000"/>
              <a:buFont typeface="Arial"/>
              <a:buNone/>
            </a:pPr>
            <a:r>
              <a:rPr sz="2000">
                <a:solidFill>
                  <a:srgbClr val="FFFFFF"/>
                </a:solidFill>
                <a:latin typeface="Arial"/>
                <a:ea typeface="Arial"/>
                <a:cs typeface="Arial"/>
              </a:rPr>
              <a:t>“This suggests that the treatment may have improved growth rate under the tested conditions.”</a:t>
            </a:r>
          </a:p>
        </p:txBody>
      </p:sp>
      <p:sp>
        <p:nvSpPr>
          <p:cNvPr id="284" name="Google Shape;284;p15">
            <a:extLst xmlns:a="http://schemas.openxmlformats.org/drawingml/2006/main">
              <a:ext uri="{FF2B5EF4-FFF2-40B4-BE49-F238E27FC236}">
                <a16:creationId xmlns:a16="http://schemas.microsoft.com/office/drawing/2014/main" id="{085B4E3E-30BE-46C2-AF01-BC8658D58361}"/>
              </a:ext>
            </a:extLst>
          </p:cNvPr>
          <p:cNvSpPr>
            <a:spLocks xmlns:a="http://schemas.openxmlformats.org/drawingml/2006/main" noGrp="1"/>
          </p:cNvSpPr>
          <p:nvPr/>
        </p:nvSpPr>
        <p:spPr>
          <a:xfrm xmlns:a="http://schemas.openxmlformats.org/drawingml/2006/main">
            <a:off x="914400" y="5623560"/>
            <a:ext cx="103327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2000"/>
              <a:buFont typeface="Play"/>
              <a:buNone/>
            </a:pPr>
            <a:r>
              <a:rPr sz="2000" b="1">
                <a:solidFill>
                  <a:srgbClr val="FFFFFF"/>
                </a:solidFill>
                <a:latin typeface="Play"/>
                <a:ea typeface="Play"/>
                <a:cs typeface="Play"/>
              </a:rPr>
              <a:t>Simple test: if the sentence explains meaning, causes, limitations, or future work, it probably belongs in the discussion.</a:t>
            </a:r>
          </a:p>
        </p:txBody>
      </p:sp>
    </p:spTree>
    <p:extLst>
      <p:ext uri="{BB962C8B-B14F-4D97-AF65-F5344CB8AC3E}">
        <p14:creationId xmlns:p14="http://schemas.microsoft.com/office/powerpoint/2010/main" val="671741447"/>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90" name="Google Shape;290;p16">
            <a:extLst xmlns:a="http://schemas.openxmlformats.org/drawingml/2006/main">
              <a:ext uri="{FF2B5EF4-FFF2-40B4-BE49-F238E27FC236}">
                <a16:creationId xmlns:a16="http://schemas.microsoft.com/office/drawing/2014/main" id="{65F1E7CD-9BBE-46EF-BC98-2BB11068770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1" name="Google Shape;291;p16">
            <a:extLst xmlns:a="http://schemas.openxmlformats.org/drawingml/2006/main">
              <a:ext uri="{FF2B5EF4-FFF2-40B4-BE49-F238E27FC236}">
                <a16:creationId xmlns:a16="http://schemas.microsoft.com/office/drawing/2014/main" id="{1A18026B-6354-42AC-9701-125F9F158FC4}"/>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2" name="Google Shape;292;p16">
            <a:extLst xmlns:a="http://schemas.openxmlformats.org/drawingml/2006/main">
              <a:ext uri="{FF2B5EF4-FFF2-40B4-BE49-F238E27FC236}">
                <a16:creationId xmlns:a16="http://schemas.microsoft.com/office/drawing/2014/main" id="{332C1FAD-2956-42DA-A046-6C53430AE0B7}"/>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93" name="Google Shape;293;p16">
            <a:extLst xmlns:a="http://schemas.openxmlformats.org/drawingml/2006/main">
              <a:ext uri="{FF2B5EF4-FFF2-40B4-BE49-F238E27FC236}">
                <a16:creationId xmlns:a16="http://schemas.microsoft.com/office/drawing/2014/main" id="{E28B539F-94F8-44C4-AC9C-3768D1F40DBB}"/>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294" name="Google Shape;294;p16">
            <a:extLst xmlns:a="http://schemas.openxmlformats.org/drawingml/2006/main">
              <a:ext uri="{FF2B5EF4-FFF2-40B4-BE49-F238E27FC236}">
                <a16:creationId xmlns:a16="http://schemas.microsoft.com/office/drawing/2014/main" id="{A0A82955-903C-48FB-9A42-3F0B52DC8C67}"/>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295" name="Google Shape;295;p16">
            <a:extLst xmlns:a="http://schemas.openxmlformats.org/drawingml/2006/main">
              <a:ext uri="{FF2B5EF4-FFF2-40B4-BE49-F238E27FC236}">
                <a16:creationId xmlns:a16="http://schemas.microsoft.com/office/drawing/2014/main" id="{8AA34357-56CD-42D7-862C-F621BFC10D98}"/>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296" name="Google Shape;296;p16">
            <a:extLst xmlns:a="http://schemas.openxmlformats.org/drawingml/2006/main">
              <a:ext uri="{FF2B5EF4-FFF2-40B4-BE49-F238E27FC236}">
                <a16:creationId xmlns:a16="http://schemas.microsoft.com/office/drawing/2014/main" id="{C64FE290-72F8-4724-80D4-090B4114470A}"/>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Common Report Problems</a:t>
            </a:r>
          </a:p>
        </p:txBody>
      </p:sp>
      <p:sp>
        <p:nvSpPr>
          <p:cNvPr id="297" name="Google Shape;297;p16">
            <a:extLst xmlns:a="http://schemas.openxmlformats.org/drawingml/2006/main">
              <a:ext uri="{FF2B5EF4-FFF2-40B4-BE49-F238E27FC236}">
                <a16:creationId xmlns:a16="http://schemas.microsoft.com/office/drawing/2014/main" id="{2472FE24-1604-4C2F-BF24-C40E1ED61F35}"/>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Most weak reports are not weak because the project was bad.</a:t>
            </a:r>
          </a:p>
        </p:txBody>
      </p:sp>
      <p:cxnSp>
        <p:nvCxnSpPr>
          <p:cNvPr id="308" name="Google Shape;298;p16"/>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299" name="Google Shape;299;p16">
            <a:extLst xmlns:a="http://schemas.openxmlformats.org/drawingml/2006/main">
              <a:ext uri="{FF2B5EF4-FFF2-40B4-BE49-F238E27FC236}">
                <a16:creationId xmlns:a16="http://schemas.microsoft.com/office/drawing/2014/main" id="{C3346B99-387C-4B0A-A92C-E8D515C100C4}"/>
              </a:ext>
            </a:extLst>
          </p:cNvPr>
          <p:cNvSpPr>
            <a:spLocks xmlns:a="http://schemas.openxmlformats.org/drawingml/2006/main" noGrp="1"/>
          </p:cNvSpPr>
          <p:nvPr/>
        </p:nvSpPr>
        <p:spPr>
          <a:xfrm xmlns:a="http://schemas.openxmlformats.org/drawingml/2006/main">
            <a:off x="914400" y="1691640"/>
            <a:ext cx="10515600" cy="434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1900">
                <a:solidFill>
                  <a:srgbClr val="FFFFFF"/>
                </a:solidFill>
                <a:latin typeface="Arial"/>
                <a:ea typeface="Arial"/>
                <a:cs typeface="Arial"/>
              </a:rPr>
              <a:t>The introduction is a list of random facts instead of a focused setup.</a:t>
            </a:r>
          </a:p>
          <a:p xmlns:a="http://schemas.openxmlformats.org/drawingml/2006/main">
            <a:pPr marL="0" marR="0" indent="0" algn="l">
              <a:spcBef>
                <a:spcPts val="0"/>
              </a:spcBef>
              <a:spcAft>
                <a:spcPts val="0"/>
              </a:spcAft>
              <a:buNone/>
            </a:pPr>
            <a:r>
              <a:rPr sz="1900">
                <a:solidFill>
                  <a:srgbClr val="FFFFFF"/>
                </a:solidFill>
                <a:latin typeface="Arial"/>
                <a:ea typeface="Arial"/>
                <a:cs typeface="Arial"/>
              </a:rPr>
              <a:t>The methods section is too vague to evaluate.</a:t>
            </a:r>
          </a:p>
          <a:p xmlns:a="http://schemas.openxmlformats.org/drawingml/2006/main">
            <a:pPr marL="0" marR="0" indent="0" algn="l">
              <a:spcBef>
                <a:spcPts val="0"/>
              </a:spcBef>
              <a:spcAft>
                <a:spcPts val="0"/>
              </a:spcAft>
              <a:buNone/>
            </a:pPr>
            <a:r>
              <a:rPr sz="1900">
                <a:solidFill>
                  <a:srgbClr val="FFFFFF"/>
                </a:solidFill>
                <a:latin typeface="Arial"/>
                <a:ea typeface="Arial"/>
                <a:cs typeface="Arial"/>
              </a:rPr>
              <a:t>Graphs are inserted without captions or explanation.</a:t>
            </a:r>
          </a:p>
          <a:p xmlns:a="http://schemas.openxmlformats.org/drawingml/2006/main">
            <a:pPr marL="0" marR="0" indent="0" algn="l">
              <a:spcBef>
                <a:spcPts val="0"/>
              </a:spcBef>
              <a:spcAft>
                <a:spcPts val="0"/>
              </a:spcAft>
              <a:buNone/>
            </a:pPr>
            <a:r>
              <a:rPr sz="1900">
                <a:solidFill>
                  <a:srgbClr val="FFFFFF"/>
                </a:solidFill>
                <a:latin typeface="Arial"/>
                <a:ea typeface="Arial"/>
                <a:cs typeface="Arial"/>
              </a:rPr>
              <a:t>Results and discussion are mixed together.</a:t>
            </a:r>
          </a:p>
          <a:p xmlns:a="http://schemas.openxmlformats.org/drawingml/2006/main">
            <a:pPr marL="0" marR="0" indent="0" algn="l">
              <a:spcBef>
                <a:spcPts val="0"/>
              </a:spcBef>
              <a:spcAft>
                <a:spcPts val="0"/>
              </a:spcAft>
              <a:buNone/>
            </a:pPr>
            <a:r>
              <a:rPr sz="1900">
                <a:solidFill>
                  <a:srgbClr val="FFFFFF"/>
                </a:solidFill>
                <a:latin typeface="Arial"/>
                <a:ea typeface="Arial"/>
                <a:cs typeface="Arial"/>
              </a:rPr>
              <a:t>Claims are stronger than the evidence allows.</a:t>
            </a:r>
          </a:p>
          <a:p xmlns:a="http://schemas.openxmlformats.org/drawingml/2006/main">
            <a:pPr marL="0" marR="0" indent="0" algn="l">
              <a:spcBef>
                <a:spcPts val="0"/>
              </a:spcBef>
              <a:spcAft>
                <a:spcPts val="0"/>
              </a:spcAft>
              <a:buNone/>
            </a:pPr>
            <a:r>
              <a:rPr sz="1900">
                <a:solidFill>
                  <a:srgbClr val="FFFFFF"/>
                </a:solidFill>
                <a:latin typeface="Arial"/>
                <a:ea typeface="Arial"/>
                <a:cs typeface="Arial"/>
              </a:rPr>
              <a:t>Limitations are missing or reduced to “human error.”</a:t>
            </a:r>
          </a:p>
          <a:p xmlns:a="http://schemas.openxmlformats.org/drawingml/2006/main">
            <a:pPr marL="0" marR="0" indent="0" algn="l">
              <a:spcBef>
                <a:spcPts val="0"/>
              </a:spcBef>
              <a:spcAft>
                <a:spcPts val="0"/>
              </a:spcAft>
              <a:buNone/>
            </a:pPr>
            <a:r>
              <a:rPr sz="1900">
                <a:solidFill>
                  <a:srgbClr val="FFFFFF"/>
                </a:solidFill>
                <a:latin typeface="Arial"/>
                <a:ea typeface="Arial"/>
                <a:cs typeface="Arial"/>
              </a:rPr>
              <a:t>The report reads like a diary instead of a scientific explanation.</a:t>
            </a:r>
          </a:p>
        </p:txBody>
      </p:sp>
    </p:spTree>
    <p:extLst>
      <p:ext uri="{BB962C8B-B14F-4D97-AF65-F5344CB8AC3E}">
        <p14:creationId xmlns:p14="http://schemas.microsoft.com/office/powerpoint/2010/main" val="1015588140"/>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05" name="Google Shape;305;p17">
            <a:extLst xmlns:a="http://schemas.openxmlformats.org/drawingml/2006/main">
              <a:ext uri="{FF2B5EF4-FFF2-40B4-BE49-F238E27FC236}">
                <a16:creationId xmlns:a16="http://schemas.microsoft.com/office/drawing/2014/main" id="{2B6343FC-3BE2-4FB3-B2D6-96951993999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6" name="Google Shape;306;p17">
            <a:extLst xmlns:a="http://schemas.openxmlformats.org/drawingml/2006/main">
              <a:ext uri="{FF2B5EF4-FFF2-40B4-BE49-F238E27FC236}">
                <a16:creationId xmlns:a16="http://schemas.microsoft.com/office/drawing/2014/main" id="{8649CC62-0A2F-4E69-8DB4-AC1997D6E930}"/>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7" name="Google Shape;307;p17">
            <a:extLst xmlns:a="http://schemas.openxmlformats.org/drawingml/2006/main">
              <a:ext uri="{FF2B5EF4-FFF2-40B4-BE49-F238E27FC236}">
                <a16:creationId xmlns:a16="http://schemas.microsoft.com/office/drawing/2014/main" id="{6F5292FD-F6B2-4807-AAED-185074A26569}"/>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08" name="Google Shape;308;p17">
            <a:extLst xmlns:a="http://schemas.openxmlformats.org/drawingml/2006/main">
              <a:ext uri="{FF2B5EF4-FFF2-40B4-BE49-F238E27FC236}">
                <a16:creationId xmlns:a16="http://schemas.microsoft.com/office/drawing/2014/main" id="{41355BD7-CFA5-4F01-87B8-3EE356CAD07C}"/>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STUDENT ACTIVITY</a:t>
            </a:r>
          </a:p>
        </p:txBody>
      </p:sp>
      <p:sp>
        <p:nvSpPr>
          <p:cNvPr id="309" name="Google Shape;309;p17">
            <a:extLst xmlns:a="http://schemas.openxmlformats.org/drawingml/2006/main">
              <a:ext uri="{FF2B5EF4-FFF2-40B4-BE49-F238E27FC236}">
                <a16:creationId xmlns:a16="http://schemas.microsoft.com/office/drawing/2014/main" id="{29D4AA54-455D-45B6-AE49-7F442233DD7D}"/>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10" name="Google Shape;310;p17">
            <a:extLst xmlns:a="http://schemas.openxmlformats.org/drawingml/2006/main">
              <a:ext uri="{FF2B5EF4-FFF2-40B4-BE49-F238E27FC236}">
                <a16:creationId xmlns:a16="http://schemas.microsoft.com/office/drawing/2014/main" id="{BEE4D453-3028-4C4C-9407-99D4C17635C9}"/>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311" name="Google Shape;311;p17">
            <a:extLst xmlns:a="http://schemas.openxmlformats.org/drawingml/2006/main">
              <a:ext uri="{FF2B5EF4-FFF2-40B4-BE49-F238E27FC236}">
                <a16:creationId xmlns:a16="http://schemas.microsoft.com/office/drawing/2014/main" id="{B0107D51-9CC2-4A51-813A-3FD47CD7063D}"/>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Activity 1: Scientific Report Dissection</a:t>
            </a:r>
          </a:p>
        </p:txBody>
      </p:sp>
      <p:sp>
        <p:nvSpPr>
          <p:cNvPr id="312" name="Google Shape;312;p17">
            <a:extLst xmlns:a="http://schemas.openxmlformats.org/drawingml/2006/main">
              <a:ext uri="{FF2B5EF4-FFF2-40B4-BE49-F238E27FC236}">
                <a16:creationId xmlns:a16="http://schemas.microsoft.com/office/drawing/2014/main" id="{E9BF20DA-9557-4834-B21A-B10640FB8E32}"/>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15–20 minutes • Unit 5 Week 21</a:t>
            </a:r>
          </a:p>
        </p:txBody>
      </p:sp>
      <p:cxnSp>
        <p:nvCxnSpPr>
          <p:cNvPr id="325" name="Google Shape;313;p17"/>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14" name="Google Shape;314;p17">
            <a:extLst xmlns:a="http://schemas.openxmlformats.org/drawingml/2006/main">
              <a:ext uri="{FF2B5EF4-FFF2-40B4-BE49-F238E27FC236}">
                <a16:creationId xmlns:a16="http://schemas.microsoft.com/office/drawing/2014/main" id="{19CF3EB3-4B5D-46DE-8197-85D8AAE02EC9}"/>
              </a:ext>
            </a:extLst>
          </p:cNvPr>
          <p:cNvSpPr>
            <a:spLocks xmlns:a="http://schemas.openxmlformats.org/drawingml/2006/main" noGrp="1"/>
          </p:cNvSpPr>
          <p:nvPr/>
        </p:nvSpPr>
        <p:spPr>
          <a:xfrm xmlns:a="http://schemas.openxmlformats.org/drawingml/2006/main">
            <a:off x="777240" y="1783080"/>
            <a:ext cx="187452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15" name="Google Shape;315;p17">
            <a:extLst xmlns:a="http://schemas.openxmlformats.org/drawingml/2006/main">
              <a:ext uri="{FF2B5EF4-FFF2-40B4-BE49-F238E27FC236}">
                <a16:creationId xmlns:a16="http://schemas.microsoft.com/office/drawing/2014/main" id="{C0A6FA6C-C87D-473B-9613-39090F4BEBB0}"/>
              </a:ext>
            </a:extLst>
          </p:cNvPr>
          <p:cNvSpPr>
            <a:spLocks xmlns:a="http://schemas.openxmlformats.org/drawingml/2006/main" noGrp="1"/>
          </p:cNvSpPr>
          <p:nvPr/>
        </p:nvSpPr>
        <p:spPr>
          <a:xfrm xmlns:a="http://schemas.openxmlformats.org/drawingml/2006/main">
            <a:off x="868680" y="1865376"/>
            <a:ext cx="1691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STUDENT ACTIVITY</a:t>
            </a:r>
          </a:p>
        </p:txBody>
      </p:sp>
      <p:sp>
        <p:nvSpPr>
          <p:cNvPr id="316" name="Google Shape;316;p17">
            <a:extLst xmlns:a="http://schemas.openxmlformats.org/drawingml/2006/main">
              <a:ext uri="{FF2B5EF4-FFF2-40B4-BE49-F238E27FC236}">
                <a16:creationId xmlns:a16="http://schemas.microsoft.com/office/drawing/2014/main" id="{8FF3A1A3-AC82-466B-8170-006D7DB0941D}"/>
              </a:ext>
            </a:extLst>
          </p:cNvPr>
          <p:cNvSpPr>
            <a:spLocks xmlns:a="http://schemas.openxmlformats.org/drawingml/2006/main" noGrp="1"/>
          </p:cNvSpPr>
          <p:nvPr/>
        </p:nvSpPr>
        <p:spPr>
          <a:xfrm xmlns:a="http://schemas.openxmlformats.org/drawingml/2006/main">
            <a:off x="868680" y="2331720"/>
            <a:ext cx="103327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000">
                <a:solidFill>
                  <a:srgbClr val="FFFFFF"/>
                </a:solidFill>
                <a:latin typeface="Arial"/>
                <a:ea typeface="Arial"/>
                <a:cs typeface="Arial"/>
              </a:rPr>
              <a:t>Read the model report or simplified research paper.</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Label the title, introduction, methods, results, discussion, conclusion, references, and figures/tables.</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Write what each section is doing for the reader.</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Identify one claim, one piece of evidence, and one limitation.</a:t>
            </a:r>
          </a:p>
        </p:txBody>
      </p:sp>
    </p:spTree>
    <p:extLst>
      <p:ext uri="{BB962C8B-B14F-4D97-AF65-F5344CB8AC3E}">
        <p14:creationId xmlns:p14="http://schemas.microsoft.com/office/powerpoint/2010/main" val="291033867"/>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22" name="Google Shape;322;p18">
            <a:extLst xmlns:a="http://schemas.openxmlformats.org/drawingml/2006/main">
              <a:ext uri="{FF2B5EF4-FFF2-40B4-BE49-F238E27FC236}">
                <a16:creationId xmlns:a16="http://schemas.microsoft.com/office/drawing/2014/main" id="{6A76E7E9-B3B8-4D93-874C-FE92D967357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3" name="Google Shape;323;p18">
            <a:extLst xmlns:a="http://schemas.openxmlformats.org/drawingml/2006/main">
              <a:ext uri="{FF2B5EF4-FFF2-40B4-BE49-F238E27FC236}">
                <a16:creationId xmlns:a16="http://schemas.microsoft.com/office/drawing/2014/main" id="{01FCA99D-6FE9-4260-A029-82AE0AC879BD}"/>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4" name="Google Shape;324;p18">
            <a:extLst xmlns:a="http://schemas.openxmlformats.org/drawingml/2006/main">
              <a:ext uri="{FF2B5EF4-FFF2-40B4-BE49-F238E27FC236}">
                <a16:creationId xmlns:a16="http://schemas.microsoft.com/office/drawing/2014/main" id="{7252B01A-4935-4C0E-A6EC-0AF3B2B011A4}"/>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25" name="Google Shape;325;p18">
            <a:extLst xmlns:a="http://schemas.openxmlformats.org/drawingml/2006/main">
              <a:ext uri="{FF2B5EF4-FFF2-40B4-BE49-F238E27FC236}">
                <a16:creationId xmlns:a16="http://schemas.microsoft.com/office/drawing/2014/main" id="{FDA7DB54-9573-4E38-AEEA-52BAC968B392}"/>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STUDENT ACTIVITY</a:t>
            </a:r>
          </a:p>
        </p:txBody>
      </p:sp>
      <p:sp>
        <p:nvSpPr>
          <p:cNvPr id="326" name="Google Shape;326;p18">
            <a:extLst xmlns:a="http://schemas.openxmlformats.org/drawingml/2006/main">
              <a:ext uri="{FF2B5EF4-FFF2-40B4-BE49-F238E27FC236}">
                <a16:creationId xmlns:a16="http://schemas.microsoft.com/office/drawing/2014/main" id="{A797F2EC-F4B9-4B95-8999-ADF16F77F9DA}"/>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27" name="Google Shape;327;p18">
            <a:extLst xmlns:a="http://schemas.openxmlformats.org/drawingml/2006/main">
              <a:ext uri="{FF2B5EF4-FFF2-40B4-BE49-F238E27FC236}">
                <a16:creationId xmlns:a16="http://schemas.microsoft.com/office/drawing/2014/main" id="{A7BCDAB5-3991-4609-A210-4655671944D8}"/>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328" name="Google Shape;328;p18">
            <a:extLst xmlns:a="http://schemas.openxmlformats.org/drawingml/2006/main">
              <a:ext uri="{FF2B5EF4-FFF2-40B4-BE49-F238E27FC236}">
                <a16:creationId xmlns:a16="http://schemas.microsoft.com/office/drawing/2014/main" id="{886F00B2-8473-458D-9440-AFE6D9AD68B8}"/>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Activity 2: Strong vs. Weak Report Moves</a:t>
            </a:r>
          </a:p>
        </p:txBody>
      </p:sp>
      <p:sp>
        <p:nvSpPr>
          <p:cNvPr id="329" name="Google Shape;329;p18">
            <a:extLst xmlns:a="http://schemas.openxmlformats.org/drawingml/2006/main">
              <a:ext uri="{FF2B5EF4-FFF2-40B4-BE49-F238E27FC236}">
                <a16:creationId xmlns:a16="http://schemas.microsoft.com/office/drawing/2014/main" id="{463EEB23-B1A5-41C0-A83F-27BD52EB9EA1}"/>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8–10 minutes • Unit 5 Week 21</a:t>
            </a:r>
          </a:p>
        </p:txBody>
      </p:sp>
      <p:cxnSp>
        <p:nvCxnSpPr>
          <p:cNvPr id="342" name="Google Shape;330;p18"/>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31" name="Google Shape;331;p18">
            <a:extLst xmlns:a="http://schemas.openxmlformats.org/drawingml/2006/main">
              <a:ext uri="{FF2B5EF4-FFF2-40B4-BE49-F238E27FC236}">
                <a16:creationId xmlns:a16="http://schemas.microsoft.com/office/drawing/2014/main" id="{D201E07F-A400-4B96-B107-E54B390B6C24}"/>
              </a:ext>
            </a:extLst>
          </p:cNvPr>
          <p:cNvSpPr>
            <a:spLocks xmlns:a="http://schemas.openxmlformats.org/drawingml/2006/main" noGrp="1"/>
          </p:cNvSpPr>
          <p:nvPr/>
        </p:nvSpPr>
        <p:spPr>
          <a:xfrm xmlns:a="http://schemas.openxmlformats.org/drawingml/2006/main">
            <a:off x="777240" y="1783080"/>
            <a:ext cx="187452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32" name="Google Shape;332;p18">
            <a:extLst xmlns:a="http://schemas.openxmlformats.org/drawingml/2006/main">
              <a:ext uri="{FF2B5EF4-FFF2-40B4-BE49-F238E27FC236}">
                <a16:creationId xmlns:a16="http://schemas.microsoft.com/office/drawing/2014/main" id="{35FE9571-5866-459E-A7FA-19043A64823F}"/>
              </a:ext>
            </a:extLst>
          </p:cNvPr>
          <p:cNvSpPr>
            <a:spLocks xmlns:a="http://schemas.openxmlformats.org/drawingml/2006/main" noGrp="1"/>
          </p:cNvSpPr>
          <p:nvPr/>
        </p:nvSpPr>
        <p:spPr>
          <a:xfrm xmlns:a="http://schemas.openxmlformats.org/drawingml/2006/main">
            <a:off x="868680" y="1865376"/>
            <a:ext cx="1691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STUDENT ACTIVITY</a:t>
            </a:r>
          </a:p>
        </p:txBody>
      </p:sp>
      <p:sp>
        <p:nvSpPr>
          <p:cNvPr id="333" name="Google Shape;333;p18">
            <a:extLst xmlns:a="http://schemas.openxmlformats.org/drawingml/2006/main">
              <a:ext uri="{FF2B5EF4-FFF2-40B4-BE49-F238E27FC236}">
                <a16:creationId xmlns:a16="http://schemas.microsoft.com/office/drawing/2014/main" id="{EDFD82A6-5BA9-4CEF-80AD-931EB1F9E1CC}"/>
              </a:ext>
            </a:extLst>
          </p:cNvPr>
          <p:cNvSpPr>
            <a:spLocks xmlns:a="http://schemas.openxmlformats.org/drawingml/2006/main" noGrp="1"/>
          </p:cNvSpPr>
          <p:nvPr/>
        </p:nvSpPr>
        <p:spPr>
          <a:xfrm xmlns:a="http://schemas.openxmlformats.org/drawingml/2006/main">
            <a:off x="868680" y="2331720"/>
            <a:ext cx="103327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000">
                <a:solidFill>
                  <a:srgbClr val="FFFFFF"/>
                </a:solidFill>
                <a:latin typeface="Arial"/>
                <a:ea typeface="Arial"/>
                <a:cs typeface="Arial"/>
              </a:rPr>
              <a:t>Compare a strong report excerpt with a weak excerpt.</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Find one place where the weak report is vague.</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Find one place where evidence is missing or unsupported.</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Rewrite one weak sentence to make it more scientific, specific, or honest.</a:t>
            </a:r>
          </a:p>
        </p:txBody>
      </p:sp>
    </p:spTree>
    <p:extLst>
      <p:ext uri="{BB962C8B-B14F-4D97-AF65-F5344CB8AC3E}">
        <p14:creationId xmlns:p14="http://schemas.microsoft.com/office/powerpoint/2010/main" val="71725139"/>
      </p:ext>
    </p:extLst>
  </p:cSld>
</p:sld>
</file>

<file path=ppt/slides/slide1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39" name="Google Shape;339;p19">
            <a:extLst xmlns:a="http://schemas.openxmlformats.org/drawingml/2006/main">
              <a:ext uri="{FF2B5EF4-FFF2-40B4-BE49-F238E27FC236}">
                <a16:creationId xmlns:a16="http://schemas.microsoft.com/office/drawing/2014/main" id="{DBC11A7B-A985-46CB-AB62-7EC9B5436DE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0" name="Google Shape;340;p19">
            <a:extLst xmlns:a="http://schemas.openxmlformats.org/drawingml/2006/main">
              <a:ext uri="{FF2B5EF4-FFF2-40B4-BE49-F238E27FC236}">
                <a16:creationId xmlns:a16="http://schemas.microsoft.com/office/drawing/2014/main" id="{613D969F-2FBE-4E40-8D0F-BFC0E4A86B1E}"/>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1" name="Google Shape;341;p19">
            <a:extLst xmlns:a="http://schemas.openxmlformats.org/drawingml/2006/main">
              <a:ext uri="{FF2B5EF4-FFF2-40B4-BE49-F238E27FC236}">
                <a16:creationId xmlns:a16="http://schemas.microsoft.com/office/drawing/2014/main" id="{6A1703E5-55DD-491B-9B1F-B0FB05265CCD}"/>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2" name="Google Shape;342;p19">
            <a:extLst xmlns:a="http://schemas.openxmlformats.org/drawingml/2006/main">
              <a:ext uri="{FF2B5EF4-FFF2-40B4-BE49-F238E27FC236}">
                <a16:creationId xmlns:a16="http://schemas.microsoft.com/office/drawing/2014/main" id="{03721E15-5045-4165-9349-DEAF3518346B}"/>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STUDENT ACTIVITY</a:t>
            </a:r>
          </a:p>
        </p:txBody>
      </p:sp>
      <p:sp>
        <p:nvSpPr>
          <p:cNvPr id="343" name="Google Shape;343;p19">
            <a:extLst xmlns:a="http://schemas.openxmlformats.org/drawingml/2006/main">
              <a:ext uri="{FF2B5EF4-FFF2-40B4-BE49-F238E27FC236}">
                <a16:creationId xmlns:a16="http://schemas.microsoft.com/office/drawing/2014/main" id="{316D12F1-00C5-4682-8FCC-D829BADDED6B}"/>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44" name="Google Shape;344;p19">
            <a:extLst xmlns:a="http://schemas.openxmlformats.org/drawingml/2006/main">
              <a:ext uri="{FF2B5EF4-FFF2-40B4-BE49-F238E27FC236}">
                <a16:creationId xmlns:a16="http://schemas.microsoft.com/office/drawing/2014/main" id="{9001298D-E4EC-4E3C-82B6-4FD380C87338}"/>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345" name="Google Shape;345;p19">
            <a:extLst xmlns:a="http://schemas.openxmlformats.org/drawingml/2006/main">
              <a:ext uri="{FF2B5EF4-FFF2-40B4-BE49-F238E27FC236}">
                <a16:creationId xmlns:a16="http://schemas.microsoft.com/office/drawing/2014/main" id="{04D81C79-0F88-4388-8604-AC19D7FD9117}"/>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Activity 3: Map Your Own Report</a:t>
            </a:r>
          </a:p>
        </p:txBody>
      </p:sp>
      <p:sp>
        <p:nvSpPr>
          <p:cNvPr id="346" name="Google Shape;346;p19">
            <a:extLst xmlns:a="http://schemas.openxmlformats.org/drawingml/2006/main">
              <a:ext uri="{FF2B5EF4-FFF2-40B4-BE49-F238E27FC236}">
                <a16:creationId xmlns:a16="http://schemas.microsoft.com/office/drawing/2014/main" id="{EEFE4819-BD41-43E5-A0BC-81FD738D3401}"/>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15 minutes • Unit 5 Week 21</a:t>
            </a:r>
          </a:p>
        </p:txBody>
      </p:sp>
      <p:cxnSp>
        <p:nvCxnSpPr>
          <p:cNvPr id="359" name="Google Shape;347;p19"/>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48" name="Google Shape;348;p19">
            <a:extLst xmlns:a="http://schemas.openxmlformats.org/drawingml/2006/main">
              <a:ext uri="{FF2B5EF4-FFF2-40B4-BE49-F238E27FC236}">
                <a16:creationId xmlns:a16="http://schemas.microsoft.com/office/drawing/2014/main" id="{4259DD3F-4204-473E-BACF-0A318E79F10C}"/>
              </a:ext>
            </a:extLst>
          </p:cNvPr>
          <p:cNvSpPr>
            <a:spLocks xmlns:a="http://schemas.openxmlformats.org/drawingml/2006/main" noGrp="1"/>
          </p:cNvSpPr>
          <p:nvPr/>
        </p:nvSpPr>
        <p:spPr>
          <a:xfrm xmlns:a="http://schemas.openxmlformats.org/drawingml/2006/main">
            <a:off x="777240" y="1783080"/>
            <a:ext cx="187452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9" name="Google Shape;349;p19">
            <a:extLst xmlns:a="http://schemas.openxmlformats.org/drawingml/2006/main">
              <a:ext uri="{FF2B5EF4-FFF2-40B4-BE49-F238E27FC236}">
                <a16:creationId xmlns:a16="http://schemas.microsoft.com/office/drawing/2014/main" id="{C400F516-CB7B-48E7-B65F-6F11E5D5B975}"/>
              </a:ext>
            </a:extLst>
          </p:cNvPr>
          <p:cNvSpPr>
            <a:spLocks xmlns:a="http://schemas.openxmlformats.org/drawingml/2006/main" noGrp="1"/>
          </p:cNvSpPr>
          <p:nvPr/>
        </p:nvSpPr>
        <p:spPr>
          <a:xfrm xmlns:a="http://schemas.openxmlformats.org/drawingml/2006/main">
            <a:off x="868680" y="1865376"/>
            <a:ext cx="16916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STUDENT ACTIVITY</a:t>
            </a:r>
          </a:p>
        </p:txBody>
      </p:sp>
      <p:sp>
        <p:nvSpPr>
          <p:cNvPr id="350" name="Google Shape;350;p19">
            <a:extLst xmlns:a="http://schemas.openxmlformats.org/drawingml/2006/main">
              <a:ext uri="{FF2B5EF4-FFF2-40B4-BE49-F238E27FC236}">
                <a16:creationId xmlns:a16="http://schemas.microsoft.com/office/drawing/2014/main" id="{274B81A7-A3B8-445E-9185-1A7262D50F28}"/>
              </a:ext>
            </a:extLst>
          </p:cNvPr>
          <p:cNvSpPr>
            <a:spLocks xmlns:a="http://schemas.openxmlformats.org/drawingml/2006/main" noGrp="1"/>
          </p:cNvSpPr>
          <p:nvPr/>
        </p:nvSpPr>
        <p:spPr>
          <a:xfrm xmlns:a="http://schemas.openxmlformats.org/drawingml/2006/main">
            <a:off x="868680" y="2331720"/>
            <a:ext cx="10332720" cy="3474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000">
                <a:solidFill>
                  <a:srgbClr val="FFFFFF"/>
                </a:solidFill>
                <a:latin typeface="Arial"/>
                <a:ea typeface="Arial"/>
                <a:cs typeface="Arial"/>
              </a:rPr>
              <a:t>Open your project journal, data set, and Unit 4 analysis materials.</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List what information you already have for each report section.</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Circle the section with the biggest missing piece.</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Write one next step that would make that section easier to draft.</a:t>
            </a:r>
          </a:p>
        </p:txBody>
      </p:sp>
    </p:spTree>
    <p:extLst>
      <p:ext uri="{BB962C8B-B14F-4D97-AF65-F5344CB8AC3E}">
        <p14:creationId xmlns:p14="http://schemas.microsoft.com/office/powerpoint/2010/main" val="949258323"/>
      </p:ext>
    </p:extLst>
  </p:cSld>
</p:sld>
</file>

<file path=ppt/slides/slide1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56" name="Google Shape;356;p20">
            <a:extLst xmlns:a="http://schemas.openxmlformats.org/drawingml/2006/main">
              <a:ext uri="{FF2B5EF4-FFF2-40B4-BE49-F238E27FC236}">
                <a16:creationId xmlns:a16="http://schemas.microsoft.com/office/drawing/2014/main" id="{A4A8F15F-DB96-48B6-96B2-159078F5570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7" name="Google Shape;357;p20">
            <a:extLst xmlns:a="http://schemas.openxmlformats.org/drawingml/2006/main">
              <a:ext uri="{FF2B5EF4-FFF2-40B4-BE49-F238E27FC236}">
                <a16:creationId xmlns:a16="http://schemas.microsoft.com/office/drawing/2014/main" id="{511EC0B9-CB12-4137-AE23-AD8B2C433F86}"/>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8" name="Google Shape;358;p20">
            <a:extLst xmlns:a="http://schemas.openxmlformats.org/drawingml/2006/main">
              <a:ext uri="{FF2B5EF4-FFF2-40B4-BE49-F238E27FC236}">
                <a16:creationId xmlns:a16="http://schemas.microsoft.com/office/drawing/2014/main" id="{F7B07064-43B2-4459-9D54-27D2C2E41FAE}"/>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59" name="Google Shape;359;p20">
            <a:extLst xmlns:a="http://schemas.openxmlformats.org/drawingml/2006/main">
              <a:ext uri="{FF2B5EF4-FFF2-40B4-BE49-F238E27FC236}">
                <a16:creationId xmlns:a16="http://schemas.microsoft.com/office/drawing/2014/main" id="{813409E8-7B65-430E-8234-C8AD1A850259}"/>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360" name="Google Shape;360;p20">
            <a:extLst xmlns:a="http://schemas.openxmlformats.org/drawingml/2006/main">
              <a:ext uri="{FF2B5EF4-FFF2-40B4-BE49-F238E27FC236}">
                <a16:creationId xmlns:a16="http://schemas.microsoft.com/office/drawing/2014/main" id="{9212870D-73BF-4368-BA29-CDC1032BA772}"/>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61" name="Google Shape;361;p20">
            <a:extLst xmlns:a="http://schemas.openxmlformats.org/drawingml/2006/main">
              <a:ext uri="{FF2B5EF4-FFF2-40B4-BE49-F238E27FC236}">
                <a16:creationId xmlns:a16="http://schemas.microsoft.com/office/drawing/2014/main" id="{B597FE94-1CD3-4AFC-B3B4-EA952874BDC7}"/>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362" name="Google Shape;362;p20">
            <a:extLst xmlns:a="http://schemas.openxmlformats.org/drawingml/2006/main">
              <a:ext uri="{FF2B5EF4-FFF2-40B4-BE49-F238E27FC236}">
                <a16:creationId xmlns:a16="http://schemas.microsoft.com/office/drawing/2014/main" id="{36700B69-EA9E-41D7-B0EE-89485D05D061}"/>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Section Checkpoint</a:t>
            </a:r>
          </a:p>
        </p:txBody>
      </p:sp>
      <p:sp>
        <p:nvSpPr>
          <p:cNvPr id="363" name="Google Shape;363;p20">
            <a:extLst xmlns:a="http://schemas.openxmlformats.org/drawingml/2006/main">
              <a:ext uri="{FF2B5EF4-FFF2-40B4-BE49-F238E27FC236}">
                <a16:creationId xmlns:a16="http://schemas.microsoft.com/office/drawing/2014/main" id="{C19DF5B1-9C9C-4477-A66A-9BF36E6BEC29}"/>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Before drafting, students should know where the evidence goes.</a:t>
            </a:r>
          </a:p>
        </p:txBody>
      </p:sp>
      <p:cxnSp>
        <p:nvCxnSpPr>
          <p:cNvPr id="374" name="Google Shape;364;p20"/>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65" name="Google Shape;365;p20">
            <a:extLst xmlns:a="http://schemas.openxmlformats.org/drawingml/2006/main">
              <a:ext uri="{FF2B5EF4-FFF2-40B4-BE49-F238E27FC236}">
                <a16:creationId xmlns:a16="http://schemas.microsoft.com/office/drawing/2014/main" id="{85257C3C-0A81-446B-B1E7-D2E28EFE81CB}"/>
              </a:ext>
            </a:extLst>
          </p:cNvPr>
          <p:cNvSpPr>
            <a:spLocks xmlns:a="http://schemas.openxmlformats.org/drawingml/2006/main" noGrp="1"/>
          </p:cNvSpPr>
          <p:nvPr/>
        </p:nvSpPr>
        <p:spPr>
          <a:xfrm xmlns:a="http://schemas.openxmlformats.org/drawingml/2006/main">
            <a:off x="960120" y="1737360"/>
            <a:ext cx="102412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000">
                <a:solidFill>
                  <a:srgbClr val="FFFFFF"/>
                </a:solidFill>
                <a:latin typeface="Arial"/>
                <a:ea typeface="Arial"/>
                <a:cs typeface="Arial"/>
              </a:rPr>
              <a:t>Introduction: What context and question will frame the project?</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Methods: What procedure, tools, variables, or criteria must be described?</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Results: Which graphs, tables, images, or data summaries matter most?</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Discussion: What claims, evidence, reasoning, limitations, and future work will matter?</a:t>
            </a:r>
          </a:p>
          <a:p xmlns:a="http://schemas.openxmlformats.org/drawingml/2006/main">
            <a:pPr marL="0" marR="0" indent="0" algn="l">
              <a:spcBef>
                <a:spcPts val="0"/>
              </a:spcBef>
              <a:spcAft>
                <a:spcPts val="0"/>
              </a:spcAft>
              <a:buNone/>
            </a:pPr>
            <a:r>
              <a:rPr sz="2000">
                <a:solidFill>
                  <a:srgbClr val="FFFFFF"/>
                </a:solidFill>
                <a:latin typeface="Arial"/>
                <a:ea typeface="Arial"/>
                <a:cs typeface="Arial"/>
              </a:rPr>
              <a:t>Conclusion: What is the main takeaway?</a:t>
            </a:r>
          </a:p>
        </p:txBody>
      </p:sp>
    </p:spTree>
    <p:extLst>
      <p:ext uri="{BB962C8B-B14F-4D97-AF65-F5344CB8AC3E}">
        <p14:creationId xmlns:p14="http://schemas.microsoft.com/office/powerpoint/2010/main" val="308529836"/>
      </p:ext>
    </p:extLst>
  </p:cSld>
</p:sld>
</file>

<file path=ppt/slides/slide1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71" name="Google Shape;371;p21">
            <a:extLst xmlns:a="http://schemas.openxmlformats.org/drawingml/2006/main">
              <a:ext uri="{FF2B5EF4-FFF2-40B4-BE49-F238E27FC236}">
                <a16:creationId xmlns:a16="http://schemas.microsoft.com/office/drawing/2014/main" id="{7E70FAB4-02F8-42AC-8C22-D73292F4915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2" name="Google Shape;372;p21">
            <a:extLst xmlns:a="http://schemas.openxmlformats.org/drawingml/2006/main">
              <a:ext uri="{FF2B5EF4-FFF2-40B4-BE49-F238E27FC236}">
                <a16:creationId xmlns:a16="http://schemas.microsoft.com/office/drawing/2014/main" id="{70E07FA7-BF28-42FF-9AEF-C82D588464D7}"/>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3" name="Google Shape;373;p21">
            <a:extLst xmlns:a="http://schemas.openxmlformats.org/drawingml/2006/main">
              <a:ext uri="{FF2B5EF4-FFF2-40B4-BE49-F238E27FC236}">
                <a16:creationId xmlns:a16="http://schemas.microsoft.com/office/drawing/2014/main" id="{3AA69C90-5903-451F-978B-F5BEFFB1544A}"/>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74" name="Google Shape;374;p21">
            <a:extLst xmlns:a="http://schemas.openxmlformats.org/drawingml/2006/main">
              <a:ext uri="{FF2B5EF4-FFF2-40B4-BE49-F238E27FC236}">
                <a16:creationId xmlns:a16="http://schemas.microsoft.com/office/drawing/2014/main" id="{57F1E8A6-BDF3-4637-BB2F-189B04AB866F}"/>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SCIENTIFIC REPORTING</a:t>
            </a:r>
          </a:p>
        </p:txBody>
      </p:sp>
      <p:sp>
        <p:nvSpPr>
          <p:cNvPr id="375" name="Google Shape;375;p21">
            <a:extLst xmlns:a="http://schemas.openxmlformats.org/drawingml/2006/main">
              <a:ext uri="{FF2B5EF4-FFF2-40B4-BE49-F238E27FC236}">
                <a16:creationId xmlns:a16="http://schemas.microsoft.com/office/drawing/2014/main" id="{745D9E67-D71C-418B-82F6-51095EF65490}"/>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76" name="Google Shape;376;p21">
            <a:extLst xmlns:a="http://schemas.openxmlformats.org/drawingml/2006/main">
              <a:ext uri="{FF2B5EF4-FFF2-40B4-BE49-F238E27FC236}">
                <a16:creationId xmlns:a16="http://schemas.microsoft.com/office/drawing/2014/main" id="{8473D590-D4B0-4890-AFD1-EE66389FE636}"/>
              </a:ext>
            </a:extLst>
          </p:cNvPr>
          <p:cNvSpPr>
            <a:spLocks xmlns:a="http://schemas.openxmlformats.org/drawingml/2006/main" noGrp="1"/>
          </p:cNvSpPr>
          <p:nvPr/>
        </p:nvSpPr>
        <p:spPr>
          <a:xfrm xmlns:a="http://schemas.openxmlformats.org/drawingml/2006/main">
            <a:off x="10195560" y="384048"/>
            <a:ext cx="132588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E22B27"/>
              </a:buClr>
              <a:buSzPts val="1100"/>
              <a:buFont typeface="Arial"/>
              <a:buNone/>
            </a:pPr>
            <a:r>
              <a:rPr sz="1100" b="1">
                <a:solidFill>
                  <a:srgbClr val="E22B27"/>
                </a:solidFill>
                <a:latin typeface="Arial"/>
                <a:ea typeface="Arial"/>
                <a:cs typeface="Arial"/>
              </a:rPr>
              <a:t>DECK 13</a:t>
            </a:r>
          </a:p>
        </p:txBody>
      </p:sp>
      <p:sp>
        <p:nvSpPr>
          <p:cNvPr id="377" name="Google Shape;377;p21">
            <a:extLst xmlns:a="http://schemas.openxmlformats.org/drawingml/2006/main">
              <a:ext uri="{FF2B5EF4-FFF2-40B4-BE49-F238E27FC236}">
                <a16:creationId xmlns:a16="http://schemas.microsoft.com/office/drawing/2014/main" id="{8929B45F-B8E9-49F9-9847-17803F457E9F}"/>
              </a:ext>
            </a:extLst>
          </p:cNvPr>
          <p:cNvSpPr>
            <a:spLocks xmlns:a="http://schemas.openxmlformats.org/drawingml/2006/main" noGrp="1"/>
          </p:cNvSpPr>
          <p:nvPr/>
        </p:nvSpPr>
        <p:spPr>
          <a:xfrm xmlns:a="http://schemas.openxmlformats.org/drawingml/2006/main">
            <a:off x="685800" y="694944"/>
            <a:ext cx="982980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FFFFFF"/>
              </a:buClr>
              <a:buSzPts val="2800"/>
              <a:buFont typeface="Play"/>
              <a:buNone/>
            </a:pPr>
            <a:r>
              <a:rPr sz="2800" b="1">
                <a:solidFill>
                  <a:srgbClr val="FFFFFF"/>
                </a:solidFill>
                <a:latin typeface="Play"/>
                <a:ea typeface="Play"/>
                <a:cs typeface="Play"/>
              </a:rPr>
              <a:t>Exit Ticket</a:t>
            </a:r>
          </a:p>
        </p:txBody>
      </p:sp>
      <p:sp>
        <p:nvSpPr>
          <p:cNvPr id="378" name="Google Shape;378;p21">
            <a:extLst xmlns:a="http://schemas.openxmlformats.org/drawingml/2006/main">
              <a:ext uri="{FF2B5EF4-FFF2-40B4-BE49-F238E27FC236}">
                <a16:creationId xmlns:a16="http://schemas.microsoft.com/office/drawing/2014/main" id="{18EB6862-2411-4824-8C6E-8750DC44C2BD}"/>
              </a:ext>
            </a:extLst>
          </p:cNvPr>
          <p:cNvSpPr>
            <a:spLocks xmlns:a="http://schemas.openxmlformats.org/drawingml/2006/main" noGrp="1"/>
          </p:cNvSpPr>
          <p:nvPr/>
        </p:nvSpPr>
        <p:spPr>
          <a:xfrm xmlns:a="http://schemas.openxmlformats.org/drawingml/2006/main">
            <a:off x="694944" y="1243584"/>
            <a:ext cx="98755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200"/>
              <a:buFont typeface="Arial"/>
              <a:buNone/>
            </a:pPr>
            <a:r>
              <a:rPr sz="1200">
                <a:solidFill>
                  <a:srgbClr val="B8B8B8"/>
                </a:solidFill>
                <a:latin typeface="Arial"/>
                <a:ea typeface="Arial"/>
                <a:cs typeface="Arial"/>
              </a:rPr>
              <a:t>Leave with a clearer report plan.</a:t>
            </a:r>
          </a:p>
        </p:txBody>
      </p:sp>
      <p:cxnSp>
        <p:nvCxnSpPr>
          <p:cNvPr id="391" name="Google Shape;379;p21"/>
          <p:cNvCxnSpPr/>
          <p:nvPr/>
        </p:nvCxnSpPr>
        <p:spPr>
          <a:xfrm xmlns:a="http://schemas.openxmlformats.org/drawingml/2006/main">
            <a:off x="685800" y="1572768"/>
            <a:ext cx="10789920" cy="0"/>
          </a:xfrm>
          <a:prstGeom xmlns:a="http://schemas.openxmlformats.org/drawingml/2006/main" prst="straightConnector1">
            <a:avLst/>
          </a:prstGeom>
          <a:ln xmlns:a="http://schemas.openxmlformats.org/drawingml/2006/main" w="16500" cap="flat">
            <a:solidFill>
              <a:srgbClr val="E22B27"/>
            </a:solidFill>
            <a:prstDash val="solid"/>
            <a:round/>
            <a:headEnd type="none" w="sm" len="sm"/>
            <a:tailEnd type="none" w="sm" len="sm"/>
          </a:ln>
        </p:spPr>
      </p:cxnSp>
      <p:sp>
        <p:nvSpPr>
          <p:cNvPr id="380" name="Google Shape;380;p21">
            <a:extLst xmlns:a="http://schemas.openxmlformats.org/drawingml/2006/main">
              <a:ext uri="{FF2B5EF4-FFF2-40B4-BE49-F238E27FC236}">
                <a16:creationId xmlns:a16="http://schemas.microsoft.com/office/drawing/2014/main" id="{37D24E39-CBDA-4A2B-897A-CE437398CBE2}"/>
              </a:ext>
            </a:extLst>
          </p:cNvPr>
          <p:cNvSpPr>
            <a:spLocks xmlns:a="http://schemas.openxmlformats.org/drawingml/2006/main" noGrp="1"/>
          </p:cNvSpPr>
          <p:nvPr/>
        </p:nvSpPr>
        <p:spPr>
          <a:xfrm xmlns:a="http://schemas.openxmlformats.org/drawingml/2006/main">
            <a:off x="868680" y="1828800"/>
            <a:ext cx="1920240" cy="34747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1" name="Google Shape;381;p21">
            <a:extLst xmlns:a="http://schemas.openxmlformats.org/drawingml/2006/main">
              <a:ext uri="{FF2B5EF4-FFF2-40B4-BE49-F238E27FC236}">
                <a16:creationId xmlns:a16="http://schemas.microsoft.com/office/drawing/2014/main" id="{78701CB1-4FD6-41D1-892E-E4B478376EF3}"/>
              </a:ext>
            </a:extLst>
          </p:cNvPr>
          <p:cNvSpPr>
            <a:spLocks xmlns:a="http://schemas.openxmlformats.org/drawingml/2006/main" noGrp="1"/>
          </p:cNvSpPr>
          <p:nvPr/>
        </p:nvSpPr>
        <p:spPr>
          <a:xfrm xmlns:a="http://schemas.openxmlformats.org/drawingml/2006/main">
            <a:off x="960120" y="1911096"/>
            <a:ext cx="17373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1000"/>
              <a:buFont typeface="Arial"/>
              <a:buNone/>
            </a:pPr>
            <a:r>
              <a:rPr sz="1000" b="1">
                <a:solidFill>
                  <a:srgbClr val="FFFFFF"/>
                </a:solidFill>
                <a:latin typeface="Arial"/>
                <a:ea typeface="Arial"/>
                <a:cs typeface="Arial"/>
              </a:rPr>
              <a:t>EXIT TICKET</a:t>
            </a:r>
          </a:p>
        </p:txBody>
      </p:sp>
      <p:sp>
        <p:nvSpPr>
          <p:cNvPr id="382" name="Google Shape;382;p21">
            <a:extLst xmlns:a="http://schemas.openxmlformats.org/drawingml/2006/main">
              <a:ext uri="{FF2B5EF4-FFF2-40B4-BE49-F238E27FC236}">
                <a16:creationId xmlns:a16="http://schemas.microsoft.com/office/drawing/2014/main" id="{55A68BD0-A573-4220-88AE-9166B05C8ACB}"/>
              </a:ext>
            </a:extLst>
          </p:cNvPr>
          <p:cNvSpPr>
            <a:spLocks xmlns:a="http://schemas.openxmlformats.org/drawingml/2006/main" noGrp="1"/>
          </p:cNvSpPr>
          <p:nvPr/>
        </p:nvSpPr>
        <p:spPr>
          <a:xfrm xmlns:a="http://schemas.openxmlformats.org/drawingml/2006/main">
            <a:off x="960120" y="2423160"/>
            <a:ext cx="10149840" cy="297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000" tIns="1000" rIns="1000" bIns="1000" anchor="ctr">
            <a:noAutofit/>
          </a:bodyPr>
          <a:lstStyle xmlns:a="http://schemas.openxmlformats.org/drawingml/2006/main"/>
          <a:p xmlns:a="http://schemas.openxmlformats.org/drawingml/2006/main">
            <a:pPr marL="0" marR="0" indent="0" algn="l">
              <a:spcBef>
                <a:spcPts val="0"/>
              </a:spcBef>
              <a:spcAft>
                <a:spcPts val="0"/>
              </a:spcAft>
              <a:buNone/>
            </a:pPr>
            <a:r>
              <a:rPr sz="2100">
                <a:solidFill>
                  <a:srgbClr val="FFFFFF"/>
                </a:solidFill>
                <a:latin typeface="Arial"/>
                <a:ea typeface="Arial"/>
                <a:cs typeface="Arial"/>
              </a:rPr>
              <a:t>Which report section will be easiest for you to draft first? Why?</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Which section needs the most support or missing information?</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What is one graph, table, image, or result you know must appear in the report?</a:t>
            </a:r>
          </a:p>
          <a:p xmlns:a="http://schemas.openxmlformats.org/drawingml/2006/main">
            <a:pPr marL="0" marR="0" indent="0" algn="l">
              <a:spcBef>
                <a:spcPts val="0"/>
              </a:spcBef>
              <a:spcAft>
                <a:spcPts val="0"/>
              </a:spcAft>
              <a:buNone/>
            </a:pPr>
            <a:r>
              <a:rPr sz="2100">
                <a:solidFill>
                  <a:srgbClr val="FFFFFF"/>
                </a:solidFill>
                <a:latin typeface="Arial"/>
                <a:ea typeface="Arial"/>
                <a:cs typeface="Arial"/>
              </a:rPr>
              <a:t>What is one limitation you already know you need to discuss?</a:t>
            </a:r>
          </a:p>
        </p:txBody>
      </p:sp>
    </p:spTree>
    <p:extLst>
      <p:ext uri="{BB962C8B-B14F-4D97-AF65-F5344CB8AC3E}">
        <p14:creationId xmlns:p14="http://schemas.microsoft.com/office/powerpoint/2010/main" val="1896209847"/>
      </p:ext>
    </p:extLst>
  </p:cSld>
</p:sld>
</file>

<file path=ppt/slides/slide2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88" name="Google Shape;388;p22">
            <a:extLst xmlns:a="http://schemas.openxmlformats.org/drawingml/2006/main">
              <a:ext uri="{FF2B5EF4-FFF2-40B4-BE49-F238E27FC236}">
                <a16:creationId xmlns:a16="http://schemas.microsoft.com/office/drawing/2014/main" id="{63729E37-9E3F-4E9B-B857-6E9D6645860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5"/>
          </a:solidFill>
          <a:ln xmlns:a="http://schemas.openxmlformats.org/drawingml/2006/main" w="12700" cmpd="sng">
            <a:solidFill>
              <a:srgbClr val="050505"/>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9" name="Google Shape;389;p22">
            <a:extLst xmlns:a="http://schemas.openxmlformats.org/drawingml/2006/main">
              <a:ext uri="{FF2B5EF4-FFF2-40B4-BE49-F238E27FC236}">
                <a16:creationId xmlns:a16="http://schemas.microsoft.com/office/drawing/2014/main" id="{D4197F68-610C-486E-B4D8-3727ABF1B84B}"/>
              </a:ext>
            </a:extLst>
          </p:cNvPr>
          <p:cNvSpPr>
            <a:spLocks xmlns:a="http://schemas.openxmlformats.org/drawingml/2006/main" noGrp="1"/>
          </p:cNvSpPr>
          <p:nvPr/>
        </p:nvSpPr>
        <p:spPr>
          <a:xfrm xmlns:a="http://schemas.openxmlformats.org/drawingml/2006/main">
            <a:off x="0" y="164592"/>
            <a:ext cx="12191695" cy="73152"/>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0" name="Google Shape;390;p22">
            <a:extLst xmlns:a="http://schemas.openxmlformats.org/drawingml/2006/main">
              <a:ext uri="{FF2B5EF4-FFF2-40B4-BE49-F238E27FC236}">
                <a16:creationId xmlns:a16="http://schemas.microsoft.com/office/drawing/2014/main" id="{A7801E18-5445-4AF1-B514-117A05E7F54E}"/>
              </a:ext>
            </a:extLst>
          </p:cNvPr>
          <p:cNvSpPr>
            <a:spLocks xmlns:a="http://schemas.openxmlformats.org/drawingml/2006/main" noGrp="1"/>
          </p:cNvSpPr>
          <p:nvPr/>
        </p:nvSpPr>
        <p:spPr>
          <a:xfrm xmlns:a="http://schemas.openxmlformats.org/drawingml/2006/main">
            <a:off x="0" y="6729984"/>
            <a:ext cx="12191695" cy="54864"/>
          </a:xfrm>
          <a:prstGeom xmlns:a="http://schemas.openxmlformats.org/drawingml/2006/main" prst="rect">
            <a:avLst/>
          </a:prstGeom>
          <a:solidFill xmlns:a="http://schemas.openxmlformats.org/drawingml/2006/main">
            <a:srgbClr val="E22B27"/>
          </a:solidFill>
          <a:ln xmlns:a="http://schemas.openxmlformats.org/drawingml/2006/main" w="12700" cmpd="sng">
            <a:solidFill>
              <a:srgbClr val="E22B2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91" name="Google Shape;391;p22">
            <a:extLst xmlns:a="http://schemas.openxmlformats.org/drawingml/2006/main">
              <a:ext uri="{FF2B5EF4-FFF2-40B4-BE49-F238E27FC236}">
                <a16:creationId xmlns:a16="http://schemas.microsoft.com/office/drawing/2014/main" id="{8FB9D26D-0A84-4628-A85C-6CCE4713F899}"/>
              </a:ext>
            </a:extLst>
          </p:cNvPr>
          <p:cNvSpPr>
            <a:spLocks xmlns:a="http://schemas.openxmlformats.org/drawingml/2006/main" noGrp="1"/>
          </p:cNvSpPr>
          <p:nvPr/>
        </p:nvSpPr>
        <p:spPr>
          <a:xfrm xmlns:a="http://schemas.openxmlformats.org/drawingml/2006/main">
            <a:off x="411480" y="6236208"/>
            <a:ext cx="384048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spcBef>
                <a:spcPts val="0"/>
              </a:spcBef>
              <a:spcAft>
                <a:spcPts val="0"/>
              </a:spcAft>
              <a:buClr>
                <a:srgbClr val="B8B8B8"/>
              </a:buClr>
              <a:buSzPts val="1000"/>
              <a:buFont typeface="Arial"/>
              <a:buNone/>
            </a:pPr>
            <a:r>
              <a:rPr sz="1000" b="1">
                <a:solidFill>
                  <a:srgbClr val="B8B8B8"/>
                </a:solidFill>
                <a:latin typeface="Arial"/>
                <a:ea typeface="Arial"/>
                <a:cs typeface="Arial"/>
              </a:rPr>
              <a:t>NEXT DECK</a:t>
            </a:r>
          </a:p>
        </p:txBody>
      </p:sp>
      <p:sp>
        <p:nvSpPr>
          <p:cNvPr id="392" name="Google Shape;392;p22">
            <a:extLst xmlns:a="http://schemas.openxmlformats.org/drawingml/2006/main">
              <a:ext uri="{FF2B5EF4-FFF2-40B4-BE49-F238E27FC236}">
                <a16:creationId xmlns:a16="http://schemas.microsoft.com/office/drawing/2014/main" id="{D6AF23F5-1609-4941-8B48-1E8B13C274CA}"/>
              </a:ext>
            </a:extLst>
          </p:cNvPr>
          <p:cNvSpPr>
            <a:spLocks xmlns:a="http://schemas.openxmlformats.org/drawingml/2006/main" noGrp="1"/>
          </p:cNvSpPr>
          <p:nvPr/>
        </p:nvSpPr>
        <p:spPr>
          <a:xfrm xmlns:a="http://schemas.openxmlformats.org/drawingml/2006/main">
            <a:off x="10515600" y="6236208"/>
            <a:ext cx="12344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r">
              <a:spcBef>
                <a:spcPts val="0"/>
              </a:spcBef>
              <a:spcAft>
                <a:spcPts val="0"/>
              </a:spcAft>
              <a:buClr>
                <a:srgbClr val="B8B8B8"/>
              </a:buClr>
              <a:buSzPts val="1000"/>
              <a:buFont typeface="Arial"/>
              <a:buNone/>
            </a:pPr>
            <a:r>
              <a:rPr sz="1000" b="1">
                <a:solidFill>
                  <a:srgbClr val="B8B8B8"/>
                </a:solidFill>
                <a:latin typeface="Arial"/>
                <a:ea typeface="Arial"/>
                <a:cs typeface="Arial"/>
              </a:rPr>
              <a:t>STARLAB</a:t>
            </a:r>
          </a:p>
        </p:txBody>
      </p:sp>
      <p:sp>
        <p:nvSpPr>
          <p:cNvPr id="393" name="Google Shape;393;p22">
            <a:extLst xmlns:a="http://schemas.openxmlformats.org/drawingml/2006/main">
              <a:ext uri="{FF2B5EF4-FFF2-40B4-BE49-F238E27FC236}">
                <a16:creationId xmlns:a16="http://schemas.microsoft.com/office/drawing/2014/main" id="{C02933B4-D409-4D1F-B643-8224816C3F97}"/>
              </a:ext>
            </a:extLst>
          </p:cNvPr>
          <p:cNvSpPr>
            <a:spLocks xmlns:a="http://schemas.openxmlformats.org/drawingml/2006/main" noGrp="1"/>
          </p:cNvSpPr>
          <p:nvPr/>
        </p:nvSpPr>
        <p:spPr>
          <a:xfrm xmlns:a="http://schemas.openxmlformats.org/drawingml/2006/main">
            <a:off x="685800" y="1051560"/>
            <a:ext cx="107899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E22B27"/>
              </a:buClr>
              <a:buSzPts val="1300"/>
              <a:buFont typeface="Arial"/>
              <a:buNone/>
            </a:pPr>
            <a:r>
              <a:rPr sz="1300" b="1">
                <a:solidFill>
                  <a:srgbClr val="E22B27"/>
                </a:solidFill>
                <a:latin typeface="Arial"/>
                <a:ea typeface="Arial"/>
                <a:cs typeface="Arial"/>
              </a:rPr>
              <a:t>NEXT DECK</a:t>
            </a:r>
          </a:p>
        </p:txBody>
      </p:sp>
      <p:sp>
        <p:nvSpPr>
          <p:cNvPr id="394" name="Google Shape;394;p22">
            <a:extLst xmlns:a="http://schemas.openxmlformats.org/drawingml/2006/main">
              <a:ext uri="{FF2B5EF4-FFF2-40B4-BE49-F238E27FC236}">
                <a16:creationId xmlns:a16="http://schemas.microsoft.com/office/drawing/2014/main" id="{6B2CC7A9-2184-4408-ABBA-264920440E6B}"/>
              </a:ext>
            </a:extLst>
          </p:cNvPr>
          <p:cNvSpPr>
            <a:spLocks xmlns:a="http://schemas.openxmlformats.org/drawingml/2006/main" noGrp="1"/>
          </p:cNvSpPr>
          <p:nvPr/>
        </p:nvSpPr>
        <p:spPr>
          <a:xfrm xmlns:a="http://schemas.openxmlformats.org/drawingml/2006/main">
            <a:off x="960120" y="1828800"/>
            <a:ext cx="1028700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FFFFFF"/>
              </a:buClr>
              <a:buSzPts val="3600"/>
              <a:buFont typeface="Play"/>
              <a:buNone/>
            </a:pPr>
            <a:r>
              <a:rPr sz="3600" b="1">
                <a:solidFill>
                  <a:srgbClr val="FFFFFF"/>
                </a:solidFill>
                <a:latin typeface="Play"/>
                <a:ea typeface="Play"/>
                <a:cs typeface="Play"/>
              </a:rPr>
              <a:t>Writing the Discussion:</a:t>
            </a:r>
          </a:p>
          <a:p xmlns:a="http://schemas.openxmlformats.org/drawingml/2006/main">
            <a:pPr marL="0" marR="0" indent="0" algn="ctr">
              <a:spcBef>
                <a:spcPts val="0"/>
              </a:spcBef>
              <a:spcAft>
                <a:spcPts val="0"/>
              </a:spcAft>
              <a:buClr>
                <a:srgbClr val="FFFFFF"/>
              </a:buClr>
              <a:buSzPts val="3600"/>
              <a:buFont typeface="Play"/>
              <a:buNone/>
            </a:pPr>
            <a:r>
              <a:rPr sz="3600" b="1">
                <a:solidFill>
                  <a:srgbClr val="FFFFFF"/>
                </a:solidFill>
                <a:latin typeface="Play"/>
                <a:ea typeface="Play"/>
                <a:cs typeface="Play"/>
              </a:rPr>
              <a:t>Claim, Evidence, Reasoning</a:t>
            </a:r>
          </a:p>
        </p:txBody>
      </p:sp>
      <p:cxnSp>
        <p:nvCxnSpPr>
          <p:cNvPr id="404" name="Google Shape;395;p22"/>
          <p:cNvCxnSpPr/>
          <p:nvPr/>
        </p:nvCxnSpPr>
        <p:spPr>
          <a:xfrm xmlns:a="http://schemas.openxmlformats.org/drawingml/2006/main">
            <a:off x="1828800" y="3456432"/>
            <a:ext cx="8531352" cy="0"/>
          </a:xfrm>
          <a:prstGeom xmlns:a="http://schemas.openxmlformats.org/drawingml/2006/main" prst="straightConnector1">
            <a:avLst/>
          </a:prstGeom>
          <a:ln xmlns:a="http://schemas.openxmlformats.org/drawingml/2006/main" w="25400" cap="flat">
            <a:solidFill>
              <a:srgbClr val="E22B27"/>
            </a:solidFill>
            <a:prstDash val="solid"/>
            <a:round/>
            <a:headEnd type="none" w="sm" len="sm"/>
            <a:tailEnd type="none" w="sm" len="sm"/>
          </a:ln>
        </p:spPr>
      </p:cxnSp>
      <p:sp>
        <p:nvSpPr>
          <p:cNvPr id="396" name="Google Shape;396;p22">
            <a:extLst xmlns:a="http://schemas.openxmlformats.org/drawingml/2006/main">
              <a:ext uri="{FF2B5EF4-FFF2-40B4-BE49-F238E27FC236}">
                <a16:creationId xmlns:a16="http://schemas.microsoft.com/office/drawing/2014/main" id="{582BBC8F-A333-4B79-958C-AC23AF6B33A1}"/>
              </a:ext>
            </a:extLst>
          </p:cNvPr>
          <p:cNvSpPr>
            <a:spLocks xmlns:a="http://schemas.openxmlformats.org/drawingml/2006/main" noGrp="1"/>
          </p:cNvSpPr>
          <p:nvPr/>
        </p:nvSpPr>
        <p:spPr>
          <a:xfrm xmlns:a="http://schemas.openxmlformats.org/drawingml/2006/main">
            <a:off x="1508760" y="3977640"/>
            <a:ext cx="918972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ctr">
              <a:spcBef>
                <a:spcPts val="0"/>
              </a:spcBef>
              <a:spcAft>
                <a:spcPts val="0"/>
              </a:spcAft>
              <a:buClr>
                <a:srgbClr val="B8B8B8"/>
              </a:buClr>
              <a:buSzPts val="2100"/>
              <a:buFont typeface="Arial"/>
              <a:buNone/>
            </a:pPr>
            <a:r>
              <a:rPr sz="2100">
                <a:solidFill>
                  <a:srgbClr val="B8B8B8"/>
                </a:solidFill>
                <a:latin typeface="Arial"/>
                <a:ea typeface="Arial"/>
                <a:cs typeface="Arial"/>
              </a:rPr>
              <a:t>Now that the report structure is clear, students will learn how to build the argument at the center of the discussion section.</a:t>
            </a:r>
          </a:p>
        </p:txBody>
      </p:sp>
    </p:spTree>
    <p:extLst>
      <p:ext uri="{BB962C8B-B14F-4D97-AF65-F5344CB8AC3E}">
        <p14:creationId xmlns:p14="http://schemas.microsoft.com/office/powerpoint/2010/main" val="1463876967"/>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2026-07-16T15:42:08.1510000Z</dcterms:created>
  <dcterms:modified xsi:type="dcterms:W3CDTF">2026-07-16T15:42:08.1510000Z</dcterms:modified>
</coreProperties>
</file>