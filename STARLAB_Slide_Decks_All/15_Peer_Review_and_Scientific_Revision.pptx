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1675"/>
  <p:notesSz cx="6858000" cy="12191675"/>
  <p:embeddedFontLst>
    <p:embeddedFont>
      <p:font typeface="Play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lay-bold.fntdata"/><Relationship Id="rId25" Type="http://schemas.openxmlformats.org/officeDocument/2006/relationships/font" Target="fonts/Pl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Teacher notes:</a:t>
            </a:r>
            <a:br>
              <a:rPr lang="en-US"/>
            </a:br>
            <a:r>
              <a:rPr lang="en-US"/>
              <a:t>Use this title slide as students enter. Frame peer review as part of how scientific work becomes clearer, more accurate, and more credible. The purpose is not to judge classmates; the purpose is to help the work survive a real audience.</a:t>
            </a:r>
            <a:br>
              <a:rPr lang="en-US"/>
            </a:br>
            <a:br>
              <a:rPr lang="en-US"/>
            </a:br>
            <a:r>
              <a:rPr lang="en-US"/>
              <a:t>Required print materials for Deck 15:</a:t>
            </a:r>
            <a:br>
              <a:rPr lang="en-US"/>
            </a:br>
            <a:r>
              <a:rPr lang="en-US"/>
              <a:t>• Unit 5 Student Handout 8: Peer Review Protocol</a:t>
            </a:r>
            <a:br>
              <a:rPr lang="en-US"/>
            </a:br>
            <a:r>
              <a:rPr lang="en-US"/>
              <a:t>• Unit 5 Student Handout 9: Revision Plan</a:t>
            </a:r>
            <a:br>
              <a:rPr lang="en-US"/>
            </a:br>
            <a:r>
              <a:rPr lang="en-US"/>
              <a:t>• Unit 5 Appendix M: Peer Review Sentence Stems</a:t>
            </a:r>
            <a:br>
              <a:rPr lang="en-US"/>
            </a:br>
            <a:r>
              <a:rPr lang="en-US"/>
              <a:t>• Unit 5 Appendix N: Scientific Report Rubric</a:t>
            </a:r>
            <a:br>
              <a:rPr lang="en-US"/>
            </a:br>
            <a:br>
              <a:rPr lang="en-US"/>
            </a:br>
            <a:r>
              <a:rPr lang="en-US"/>
              <a:t>Optional but useful:</a:t>
            </a:r>
            <a:br>
              <a:rPr lang="en-US"/>
            </a:br>
            <a:r>
              <a:rPr lang="en-US"/>
              <a:t>• Unit 5 Appendix J: Full Report Checklist</a:t>
            </a:r>
            <a:br>
              <a:rPr lang="en-US"/>
            </a:br>
            <a:r>
              <a:rPr lang="en-US"/>
              <a:t>• Unit 5 Appendix K: Report Formatting Guide</a:t>
            </a:r>
            <a:br>
              <a:rPr lang="en-US"/>
            </a:br>
            <a:r>
              <a:rPr lang="en-US"/>
              <a:t>• Unit 5 Appendix L: Scientific Report Template</a:t>
            </a:r>
            <a:br>
              <a:rPr lang="en-US"/>
            </a:br>
            <a:r>
              <a:rPr lang="en-US"/>
              <a:t>• A printed or digital copy of each student’s current full report draft</a:t>
            </a:r>
            <a:br>
              <a:rPr lang="en-US"/>
            </a:br>
            <a:br>
              <a:rPr lang="en-US"/>
            </a:br>
            <a:r>
              <a:rPr lang="en-US"/>
              <a:t>Resource alignment:</a:t>
            </a:r>
            <a:br>
              <a:rPr lang="en-US"/>
            </a:br>
            <a:r>
              <a:rPr lang="en-US"/>
              <a:t>Unit 5, Week 27: Peer Review and Revision. Previous deck connection: Deck 14: Writing the Discussion: Claim, Evidence, Reasoning. Next deck connection: Deck 16: Designing a Research Poster or Presentation Board.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Teacher notes:</a:t>
            </a:r>
            <a:br>
              <a:rPr lang="en-US"/>
            </a:br>
            <a:r>
              <a:rPr lang="en-US"/>
              <a:t>Preview the purpose of the lesson. Students should understand that peer review is not a spelling hunt or a compliment exchange. It is a structured scientific review process.</a:t>
            </a:r>
            <a:br>
              <a:rPr lang="en-US"/>
            </a:br>
            <a:br>
              <a:rPr lang="en-US"/>
            </a:br>
            <a:r>
              <a:rPr lang="en-US"/>
              <a:t>Resource alignment:</a:t>
            </a:r>
            <a:br>
              <a:rPr lang="en-US"/>
            </a:br>
            <a:r>
              <a:rPr lang="en-US"/>
              <a:t>Use with Unit 5 Student Handout 8: Peer Review Protocol and Unit 5 Student Handout 9: Revision Plan.</a:t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Teacher notes:</a:t>
            </a:r>
            <a:br>
              <a:rPr lang="en-US"/>
            </a:br>
            <a:r>
              <a:rPr lang="en-US"/>
              <a:t>Keep this student-friendly. Peer review in STARLAB is modeled after professional scientific review, but the goal is growth and clarity, not rejection.</a:t>
            </a:r>
            <a:br>
              <a:rPr lang="en-US"/>
            </a:br>
            <a:br>
              <a:rPr lang="en-US"/>
            </a:br>
            <a:r>
              <a:rPr lang="en-US"/>
              <a:t>Resource alignment:</a:t>
            </a:r>
            <a:br>
              <a:rPr lang="en-US"/>
            </a:br>
            <a:r>
              <a:rPr lang="en-US"/>
              <a:t>Use as conceptual introduction before Unit 5 Student Handout 8: Peer Review Protocol.</a:t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Teacher notes:</a:t>
            </a:r>
            <a:br>
              <a:rPr lang="en-US"/>
            </a:br>
            <a:r>
              <a:rPr lang="en-US"/>
              <a:t>Use this slide to establish peer review norms. Students need permission to be honest and a reminder to be respectful. Feedback should target the work, not the person.</a:t>
            </a:r>
            <a:br>
              <a:rPr lang="en-US"/>
            </a:br>
            <a:br>
              <a:rPr lang="en-US"/>
            </a:br>
            <a:r>
              <a:rPr lang="en-US"/>
              <a:t>Resource alignment:</a:t>
            </a:r>
            <a:br>
              <a:rPr lang="en-US"/>
            </a:br>
            <a:r>
              <a:rPr lang="en-US"/>
              <a:t>Reference Unit 5 Appendix M: Peer Review Sentence Stems. This slide also supports the classroom norms for Unit 5 critique culture.</a:t>
            </a:r>
            <a:endParaRPr/>
          </a:p>
        </p:txBody>
      </p:sp>
      <p:sp>
        <p:nvSpPr>
          <p:cNvPr id="68" name="Google Shape;6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Teacher notes:</a:t>
            </a:r>
            <a:br>
              <a:rPr lang="en-US"/>
            </a:br>
            <a:r>
              <a:rPr lang="en-US"/>
              <a:t>Have students repeat the four words if helpful. The feedback must be specific enough that the writer knows what to revise.</a:t>
            </a:r>
            <a:br>
              <a:rPr lang="en-US"/>
            </a:br>
            <a:br>
              <a:rPr lang="en-US"/>
            </a:br>
            <a:r>
              <a:rPr lang="en-US"/>
              <a:t>Resource alignment:</a:t>
            </a:r>
            <a:br>
              <a:rPr lang="en-US"/>
            </a:br>
            <a:r>
              <a:rPr lang="en-US"/>
              <a:t>Reference Unit 5 Appendix M: Peer Review Sentence Stems. Use before students begin Unit 5 Student Handout 8.</a:t>
            </a:r>
            <a:endParaRPr/>
          </a:p>
        </p:txBody>
      </p:sp>
      <p:sp>
        <p:nvSpPr>
          <p:cNvPr id="88" name="Google Shape;8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Teacher notes:</a:t>
            </a:r>
            <a:br>
              <a:rPr lang="en-US"/>
            </a:br>
            <a:r>
              <a:rPr lang="en-US"/>
              <a:t>Ask students what makes the stronger feedback more useful. They should notice that it names the problem and often suggests the next revision.</a:t>
            </a:r>
            <a:br>
              <a:rPr lang="en-US"/>
            </a:br>
            <a:br>
              <a:rPr lang="en-US"/>
            </a:br>
            <a:r>
              <a:rPr lang="en-US"/>
              <a:t>Resource alignment:</a:t>
            </a:r>
            <a:br>
              <a:rPr lang="en-US"/>
            </a:br>
            <a:r>
              <a:rPr lang="en-US"/>
              <a:t>Reference Unit 5 Appendix M: Peer Review Sentence Stems. Use as a model before students write comments on Unit 5 Student Handout 8.</a:t>
            </a:r>
            <a:endParaRPr/>
          </a:p>
        </p:txBody>
      </p:sp>
      <p:sp>
        <p:nvSpPr>
          <p:cNvPr id="114" name="Google Shape;11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Teacher notes:</a:t>
            </a:r>
            <a:br>
              <a:rPr lang="en-US"/>
            </a:br>
            <a:r>
              <a:rPr lang="en-US"/>
              <a:t>Explain that one rushed review is rarely enough. These three lenses match the peer review protocol and help students focus rather than trying to fix everything at once.</a:t>
            </a:r>
            <a:br>
              <a:rPr lang="en-US"/>
            </a:br>
            <a:br>
              <a:rPr lang="en-US"/>
            </a:br>
            <a:r>
              <a:rPr lang="en-US"/>
              <a:t>Resource alignment:</a:t>
            </a:r>
            <a:br>
              <a:rPr lang="en-US"/>
            </a:br>
            <a:r>
              <a:rPr lang="en-US"/>
              <a:t>Use with Unit 5 Student Handout 8: Peer Review Protocol, Rounds 1–3.</a:t>
            </a:r>
            <a:endParaRPr/>
          </a:p>
        </p:txBody>
      </p:sp>
      <p:sp>
        <p:nvSpPr>
          <p:cNvPr id="134" name="Google Shape;13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Teacher notes:</a:t>
            </a:r>
            <a:br>
              <a:rPr lang="en-US"/>
            </a:br>
            <a:r>
              <a:rPr lang="en-US"/>
              <a:t>This round should focus on organization and clarity, not grammar. Students should mark confusing sections and explain what information they needed.</a:t>
            </a:r>
            <a:br>
              <a:rPr lang="en-US"/>
            </a:br>
            <a:br>
              <a:rPr lang="en-US"/>
            </a:br>
            <a:r>
              <a:rPr lang="en-US"/>
              <a:t>Resource alignment:</a:t>
            </a:r>
            <a:br>
              <a:rPr lang="en-US"/>
            </a:br>
            <a:r>
              <a:rPr lang="en-US"/>
              <a:t>Use Unit 5 Student Handout 8: Peer Review Protocol, Round 1. Optional reference: Unit 5 Appendix A: Scientific Report Section Guide or Appendix J: Full Report Checklist.</a:t>
            </a:r>
            <a:endParaRPr/>
          </a:p>
        </p:txBody>
      </p:sp>
      <p:sp>
        <p:nvSpPr>
          <p:cNvPr id="157" name="Google Shape;15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Teacher notes:</a:t>
            </a:r>
            <a:br>
              <a:rPr lang="en-US"/>
            </a:br>
            <a:r>
              <a:rPr lang="en-US"/>
              <a:t>This is the most important scientific review round. Encourage students to point to exact claims and exact evidence. A claim without evidence needs revision.</a:t>
            </a:r>
            <a:br>
              <a:rPr lang="en-US"/>
            </a:br>
            <a:br>
              <a:rPr lang="en-US"/>
            </a:br>
            <a:r>
              <a:rPr lang="en-US"/>
              <a:t>Resource alignment:</a:t>
            </a:r>
            <a:br>
              <a:rPr lang="en-US"/>
            </a:br>
            <a:r>
              <a:rPr lang="en-US"/>
              <a:t>Use Unit 5 Student Handout 8: Peer Review Protocol, Round 2. Reference Unit 5 Appendix H: Claim-Evidence-Reasoning Guide, Appendix I: Limitations and Error Analysis Guide, and Appendix N: Scientific Report Rubric.</a:t>
            </a:r>
            <a:endParaRPr/>
          </a:p>
        </p:txBody>
      </p:sp>
      <p:sp>
        <p:nvSpPr>
          <p:cNvPr id="173" name="Google Shape;17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Teacher notes:</a:t>
            </a:r>
            <a:br>
              <a:rPr lang="en-US"/>
            </a:br>
            <a:r>
              <a:rPr lang="en-US"/>
              <a:t>This is where grammar and polish matter, but students should still connect comments to readability and professionalism. Visuals should be checked for accuracy, not just appearance.</a:t>
            </a:r>
            <a:br>
              <a:rPr lang="en-US"/>
            </a:br>
            <a:br>
              <a:rPr lang="en-US"/>
            </a:br>
            <a:r>
              <a:rPr lang="en-US"/>
              <a:t>Resource alignment:</a:t>
            </a:r>
            <a:br>
              <a:rPr lang="en-US"/>
            </a:br>
            <a:r>
              <a:rPr lang="en-US"/>
              <a:t>Use Unit 5 Student Handout 8: Peer Review Protocol, Round 3. Reference Unit 5 Appendix F: Graphing Standards, Appendix G: Figure and Table Caption Guide, Appendix J: Full Report Checklist, and Appendix K: Report Formatting Guide as needed.</a:t>
            </a:r>
            <a:endParaRPr/>
          </a:p>
        </p:txBody>
      </p:sp>
      <p:sp>
        <p:nvSpPr>
          <p:cNvPr id="189" name="Google Shape;18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Teacher notes:</a:t>
            </a:r>
            <a:br>
              <a:rPr lang="en-US"/>
            </a:br>
            <a:r>
              <a:rPr lang="en-US"/>
              <a:t>This preparation step makes peer review more focused. Students should not hand over an unmarked document and hope for useful feedback.</a:t>
            </a:r>
            <a:br>
              <a:rPr lang="en-US"/>
            </a:br>
            <a:br>
              <a:rPr lang="en-US"/>
            </a:br>
            <a:r>
              <a:rPr lang="en-US"/>
              <a:t>Resource alignment:</a:t>
            </a:r>
            <a:br>
              <a:rPr lang="en-US"/>
            </a:br>
            <a:r>
              <a:rPr lang="en-US"/>
              <a:t>Use before Unit 5 Student Handout 8: Peer Review Protocol. Optional support: Unit 5 Appendix J: Full Report Checklist.</a:t>
            </a:r>
            <a:endParaRPr/>
          </a:p>
        </p:txBody>
      </p:sp>
      <p:sp>
        <p:nvSpPr>
          <p:cNvPr id="205" name="Google Shape;20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Teacher notes:</a:t>
            </a:r>
            <a:br>
              <a:rPr lang="en-US"/>
            </a:br>
            <a:r>
              <a:rPr lang="en-US"/>
              <a:t>Keep students on task by assigning the lens: Round 1, Round 2, or Round 3. If time is short, have each pair complete one lens rather than rushing all three.</a:t>
            </a:r>
            <a:br>
              <a:rPr lang="en-US"/>
            </a:br>
            <a:br>
              <a:rPr lang="en-US"/>
            </a:br>
            <a:r>
              <a:rPr lang="en-US"/>
              <a:t>Resource alignment:</a:t>
            </a:r>
            <a:br>
              <a:rPr lang="en-US"/>
            </a:br>
            <a:r>
              <a:rPr lang="en-US"/>
              <a:t>Use Unit 5 Student Handout 8: Peer Review Protocol. Reference Unit 5 Appendix M: Peer Review Sentence Stems.</a:t>
            </a:r>
            <a:endParaRPr/>
          </a:p>
        </p:txBody>
      </p:sp>
      <p:sp>
        <p:nvSpPr>
          <p:cNvPr id="222" name="Google Shape;22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Teacher notes:</a:t>
            </a:r>
            <a:br>
              <a:rPr lang="en-US"/>
            </a:br>
            <a:r>
              <a:rPr lang="en-US"/>
              <a:t>Students often fix small grammar issues while ignoring major scientific problems. Require them to prioritize larger revisions before polish.</a:t>
            </a:r>
            <a:br>
              <a:rPr lang="en-US"/>
            </a:br>
            <a:br>
              <a:rPr lang="en-US"/>
            </a:br>
            <a:r>
              <a:rPr lang="en-US"/>
              <a:t>Resource alignment:</a:t>
            </a:r>
            <a:br>
              <a:rPr lang="en-US"/>
            </a:br>
            <a:r>
              <a:rPr lang="en-US"/>
              <a:t>Use with Unit 5 Student Handout 9: Revision Plan.</a:t>
            </a:r>
            <a:endParaRPr/>
          </a:p>
        </p:txBody>
      </p:sp>
      <p:sp>
        <p:nvSpPr>
          <p:cNvPr id="239" name="Google Shape;23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Teacher notes:</a:t>
            </a:r>
            <a:br>
              <a:rPr lang="en-US"/>
            </a:br>
            <a:r>
              <a:rPr lang="en-US"/>
              <a:t>This slide supports students who feel overwhelmed by conflicting peer comments. They should learn to evaluate feedback, not obey or ignore all of it.</a:t>
            </a:r>
            <a:br>
              <a:rPr lang="en-US"/>
            </a:br>
            <a:br>
              <a:rPr lang="en-US"/>
            </a:br>
            <a:r>
              <a:rPr lang="en-US"/>
              <a:t>Resource alignment:</a:t>
            </a:r>
            <a:br>
              <a:rPr lang="en-US"/>
            </a:br>
            <a:r>
              <a:rPr lang="en-US"/>
              <a:t>Use with Unit 5 Student Handout 9: Revision Plan, especially the section about feedback the writer will not use and why.</a:t>
            </a:r>
            <a:endParaRPr/>
          </a:p>
        </p:txBody>
      </p:sp>
      <p:sp>
        <p:nvSpPr>
          <p:cNvPr id="262" name="Google Shape;26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Teacher notes:</a:t>
            </a:r>
            <a:br>
              <a:rPr lang="en-US"/>
            </a:br>
            <a:r>
              <a:rPr lang="en-US"/>
              <a:t>This is the main accountability product after peer review. Students should leave with a plan that names specific changes, not vague goals like “fix my paper.”</a:t>
            </a:r>
            <a:br>
              <a:rPr lang="en-US"/>
            </a:br>
            <a:br>
              <a:rPr lang="en-US"/>
            </a:br>
            <a:r>
              <a:rPr lang="en-US"/>
              <a:t>Resource alignment:</a:t>
            </a:r>
            <a:br>
              <a:rPr lang="en-US"/>
            </a:br>
            <a:r>
              <a:rPr lang="en-US"/>
              <a:t>Use Unit 5 Student Handout 9: Revision Plan. Reference Unit 5 Appendix N: Scientific Report Rubric for prioritizing revision categories.</a:t>
            </a:r>
            <a:endParaRPr/>
          </a:p>
        </p:txBody>
      </p:sp>
      <p:sp>
        <p:nvSpPr>
          <p:cNvPr id="278" name="Google Shape;27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Teacher notes:</a:t>
            </a:r>
            <a:br>
              <a:rPr lang="en-US"/>
            </a:br>
            <a:r>
              <a:rPr lang="en-US"/>
              <a:t>Revision evidence is useful for grading and for student reflection. It also reinforces that scientific writing improves through specific decisions.</a:t>
            </a:r>
            <a:br>
              <a:rPr lang="en-US"/>
            </a:br>
            <a:br>
              <a:rPr lang="en-US"/>
            </a:br>
            <a:r>
              <a:rPr lang="en-US"/>
              <a:t>Resource alignment:</a:t>
            </a:r>
            <a:br>
              <a:rPr lang="en-US"/>
            </a:br>
            <a:r>
              <a:rPr lang="en-US"/>
              <a:t>Use with Unit 5 Student Handout 9: Revision Plan, Part E: Revision Reflection. Optional support: Unit 5 Appendix N: Scientific Report Rubric.</a:t>
            </a:r>
            <a:endParaRPr/>
          </a:p>
        </p:txBody>
      </p:sp>
      <p:sp>
        <p:nvSpPr>
          <p:cNvPr id="295" name="Google Shape;29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Teacher notes:</a:t>
            </a:r>
            <a:br>
              <a:rPr lang="en-US"/>
            </a:br>
            <a:r>
              <a:rPr lang="en-US"/>
              <a:t>Use this slide to steer students toward meaningful revision. If they only fix commas while the methods are vague or the discussion overclaims, the report has not truly improved.</a:t>
            </a:r>
            <a:br>
              <a:rPr lang="en-US"/>
            </a:br>
            <a:br>
              <a:rPr lang="en-US"/>
            </a:br>
            <a:r>
              <a:rPr lang="en-US"/>
              <a:t>Resource alignment:</a:t>
            </a:r>
            <a:br>
              <a:rPr lang="en-US"/>
            </a:br>
            <a:r>
              <a:rPr lang="en-US"/>
              <a:t>Reference Unit 5 Appendix J: Full Report Checklist and Appendix N: Scientific Report Rubric.</a:t>
            </a:r>
            <a:endParaRPr/>
          </a:p>
        </p:txBody>
      </p:sp>
      <p:sp>
        <p:nvSpPr>
          <p:cNvPr id="315" name="Google Shape;31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Teacher notes:</a:t>
            </a:r>
            <a:br>
              <a:rPr lang="en-US"/>
            </a:br>
            <a:r>
              <a:rPr lang="en-US"/>
              <a:t>This slide is teacher-facing but useful for transparency. Use these questions during writing conferences instead of giving a generic yes/no approval.</a:t>
            </a:r>
            <a:br>
              <a:rPr lang="en-US"/>
            </a:br>
            <a:br>
              <a:rPr lang="en-US"/>
            </a:br>
            <a:r>
              <a:rPr lang="en-US"/>
              <a:t>Resource alignment:</a:t>
            </a:r>
            <a:br>
              <a:rPr lang="en-US"/>
            </a:br>
            <a:r>
              <a:rPr lang="en-US"/>
              <a:t>Use during Unit 5 Week 27 conferences. Supports Unit 5 Student Handout 9: Revision Plan and Unit 5 Appendix N: Scientific Report Rubric.</a:t>
            </a:r>
            <a:endParaRPr/>
          </a:p>
        </p:txBody>
      </p:sp>
      <p:sp>
        <p:nvSpPr>
          <p:cNvPr id="330" name="Google Shape;33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Teacher notes:</a:t>
            </a:r>
            <a:br>
              <a:rPr lang="en-US"/>
            </a:br>
            <a:r>
              <a:rPr lang="en-US"/>
              <a:t>Collect this exit ticket or have students complete it at the bottom of the Revision Plan. Use responses to decide who needs a writing conference before Draft 2.</a:t>
            </a:r>
            <a:br>
              <a:rPr lang="en-US"/>
            </a:br>
            <a:br>
              <a:rPr lang="en-US"/>
            </a:br>
            <a:r>
              <a:rPr lang="en-US"/>
              <a:t>Resource alignment:</a:t>
            </a:r>
            <a:br>
              <a:rPr lang="en-US"/>
            </a:br>
            <a:r>
              <a:rPr lang="en-US"/>
              <a:t>Use after Unit 5 Student Handout 8: Peer Review Protocol and Unit 5 Student Handout 9: Revision Plan. Next deck connection: Deck 16: Designing a Research Poster or Presentation Board.</a:t>
            </a:r>
            <a:endParaRPr/>
          </a:p>
        </p:txBody>
      </p:sp>
      <p:sp>
        <p:nvSpPr>
          <p:cNvPr id="345" name="Google Shape;34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Teacher notes:</a:t>
            </a:r>
            <a:br>
              <a:rPr lang="en-US"/>
            </a:br>
            <a:r>
              <a:rPr lang="en-US"/>
              <a:t>Close by naming the transition. Peer review strengthens the written report; the next step is making the same research story clear in a visual format for an audience.</a:t>
            </a:r>
            <a:br>
              <a:rPr lang="en-US"/>
            </a:br>
            <a:br>
              <a:rPr lang="en-US"/>
            </a:br>
            <a:r>
              <a:rPr lang="en-US"/>
              <a:t>Resource alignment:</a:t>
            </a:r>
            <a:br>
              <a:rPr lang="en-US"/>
            </a:br>
            <a:r>
              <a:rPr lang="en-US"/>
              <a:t>Next deck connection: Deck 16: Designing a Research Poster or Presentation Board. This leads into Unit 5 Week 28 presentation design work.</a:t>
            </a:r>
            <a:endParaRPr/>
          </a:p>
        </p:txBody>
      </p:sp>
      <p:sp>
        <p:nvSpPr>
          <p:cNvPr id="361" name="Google Shape;361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cap="flat" cmpd="sng" w="12700">
            <a:solidFill>
              <a:srgbClr val="0505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219456"/>
            <a:ext cx="12191695" cy="82296"/>
          </a:xfrm>
          <a:prstGeom prst="rect">
            <a:avLst/>
          </a:prstGeom>
          <a:solidFill>
            <a:srgbClr val="E22B27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0" y="6565392"/>
            <a:ext cx="12191695" cy="82296"/>
          </a:xfrm>
          <a:prstGeom prst="rect">
            <a:avLst/>
          </a:prstGeom>
          <a:solidFill>
            <a:srgbClr val="E22B27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extract_deck12/ppt/media/image-1-1.png" id="19" name="Google Shape;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4520" y="530352"/>
            <a:ext cx="8321040" cy="4169664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960120" y="5029200"/>
            <a:ext cx="10287000" cy="822960"/>
          </a:xfrm>
          <a:prstGeom prst="rect">
            <a:avLst/>
          </a:prstGeom>
          <a:solidFill>
            <a:srgbClr val="050505">
              <a:alpha val="0"/>
            </a:srgbClr>
          </a:solidFill>
          <a:ln cap="flat" cmpd="sng" w="15225">
            <a:solidFill>
              <a:srgbClr val="B8B8B8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1024128" y="5157216"/>
            <a:ext cx="10149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PEER REVIEW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024128" y="551383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1700"/>
              <a:buFont typeface="Play"/>
              <a:buNone/>
            </a:pPr>
            <a:r>
              <a:rPr b="1" i="0" lang="en-US" sz="1700" u="none" cap="none" strike="noStrike">
                <a:solidFill>
                  <a:srgbClr val="E22B27"/>
                </a:solidFill>
                <a:latin typeface="Play"/>
                <a:ea typeface="Play"/>
                <a:cs typeface="Play"/>
                <a:sym typeface="Play"/>
              </a:rPr>
              <a:t>Scientific Revision and Feedback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024128" y="5934456"/>
            <a:ext cx="7132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STARLAB Deck 15  •  Unit 5 Core Instruction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cap="flat" cmpd="sng" w="12700">
            <a:solidFill>
              <a:srgbClr val="0505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E22B27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0" y="6729984"/>
            <a:ext cx="12191695" cy="54864"/>
          </a:xfrm>
          <a:prstGeom prst="rect">
            <a:avLst/>
          </a:prstGeom>
          <a:solidFill>
            <a:srgbClr val="E22B27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411480" y="6236208"/>
            <a:ext cx="4206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SCIENTIFIC REVISION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0515600" y="6236208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STARLAB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0195560" y="384048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22B27"/>
                </a:solidFill>
                <a:latin typeface="Arial"/>
                <a:ea typeface="Arial"/>
                <a:cs typeface="Arial"/>
                <a:sym typeface="Arial"/>
              </a:rPr>
              <a:t>DECK 15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685800" y="694944"/>
            <a:ext cx="98298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Today’s Target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694944" y="1271016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Use peer feedback to make scientific writing stronger.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" name="Google Shape;37;p4"/>
          <p:cNvCxnSpPr/>
          <p:nvPr/>
        </p:nvCxnSpPr>
        <p:spPr>
          <a:xfrm>
            <a:off x="685800" y="1591056"/>
            <a:ext cx="10789920" cy="0"/>
          </a:xfrm>
          <a:prstGeom prst="straightConnector1">
            <a:avLst/>
          </a:prstGeom>
          <a:noFill/>
          <a:ln cap="flat" cmpd="sng" w="165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4"/>
          <p:cNvSpPr/>
          <p:nvPr/>
        </p:nvSpPr>
        <p:spPr>
          <a:xfrm>
            <a:off x="868680" y="1783080"/>
            <a:ext cx="3246120" cy="1965960"/>
          </a:xfrm>
          <a:prstGeom prst="roundRect">
            <a:avLst>
              <a:gd fmla="val 2791" name="adj"/>
            </a:avLst>
          </a:prstGeom>
          <a:solidFill>
            <a:srgbClr val="101010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1033272" y="1920240"/>
            <a:ext cx="29169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22B27"/>
                </a:solidFill>
                <a:latin typeface="Arial"/>
                <a:ea typeface="Arial"/>
                <a:cs typeface="Arial"/>
                <a:sym typeface="Arial"/>
              </a:rPr>
              <a:t>1. REVIEW WITH PURPOSE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033272" y="2286000"/>
            <a:ext cx="2916936" cy="1307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 like a scientist: structure, evidence, accuracy, visuals, and limitations.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480560" y="1783080"/>
            <a:ext cx="3246120" cy="1965960"/>
          </a:xfrm>
          <a:prstGeom prst="roundRect">
            <a:avLst>
              <a:gd fmla="val 2791" name="adj"/>
            </a:avLst>
          </a:prstGeom>
          <a:solidFill>
            <a:srgbClr val="101010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4645152" y="1920240"/>
            <a:ext cx="29169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22B27"/>
                </a:solidFill>
                <a:latin typeface="Arial"/>
                <a:ea typeface="Arial"/>
                <a:cs typeface="Arial"/>
                <a:sym typeface="Arial"/>
              </a:rPr>
              <a:t>2. GIVE USEFUL FEEDBACK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645152" y="2286000"/>
            <a:ext cx="2916936" cy="1307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Write comments that are specific, kind, honest, and revision-ready.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8092440" y="1783080"/>
            <a:ext cx="3246120" cy="1965960"/>
          </a:xfrm>
          <a:prstGeom prst="roundRect">
            <a:avLst>
              <a:gd fmla="val 2791" name="adj"/>
            </a:avLst>
          </a:prstGeom>
          <a:solidFill>
            <a:srgbClr val="101010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8257032" y="1920240"/>
            <a:ext cx="29169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22B27"/>
                </a:solidFill>
                <a:latin typeface="Arial"/>
                <a:ea typeface="Arial"/>
                <a:cs typeface="Arial"/>
                <a:sym typeface="Arial"/>
              </a:rPr>
              <a:t>3. REVISE STRATEGICALLY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8257032" y="2286000"/>
            <a:ext cx="2916936" cy="1307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Decide which feedback to use and document how the report improved.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914400" y="438912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Play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By the end, every student should have peer feedback and a concrete revision plan.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cap="flat" cmpd="sng" w="12700">
            <a:solidFill>
              <a:srgbClr val="0505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E22B27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0" y="6729984"/>
            <a:ext cx="12191695" cy="54864"/>
          </a:xfrm>
          <a:prstGeom prst="rect">
            <a:avLst/>
          </a:prstGeom>
          <a:solidFill>
            <a:srgbClr val="E22B27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411480" y="6236208"/>
            <a:ext cx="4206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SCIENTIFIC REVISION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10515600" y="6236208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STARLAB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10195560" y="384048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22B27"/>
                </a:solidFill>
                <a:latin typeface="Arial"/>
                <a:ea typeface="Arial"/>
                <a:cs typeface="Arial"/>
                <a:sym typeface="Arial"/>
              </a:rPr>
              <a:t>DECK 15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685800" y="694944"/>
            <a:ext cx="98298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Why Scientists Use Peer Review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694944" y="1271016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Good work gets stronger when other people test it.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" name="Google Shape;61;p5"/>
          <p:cNvCxnSpPr/>
          <p:nvPr/>
        </p:nvCxnSpPr>
        <p:spPr>
          <a:xfrm>
            <a:off x="685800" y="1591056"/>
            <a:ext cx="10789920" cy="0"/>
          </a:xfrm>
          <a:prstGeom prst="straightConnector1">
            <a:avLst/>
          </a:prstGeom>
          <a:noFill/>
          <a:ln cap="flat" cmpd="sng" w="165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5"/>
          <p:cNvSpPr/>
          <p:nvPr/>
        </p:nvSpPr>
        <p:spPr>
          <a:xfrm>
            <a:off x="914400" y="1828800"/>
            <a:ext cx="73152" cy="1097280"/>
          </a:xfrm>
          <a:prstGeom prst="rect">
            <a:avLst/>
          </a:prstGeom>
          <a:solidFill>
            <a:srgbClr val="E22B27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1143000" y="1865376"/>
            <a:ext cx="9875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Peer review asks: can another reader understand, trust, and evaluate this research?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960120" y="3246120"/>
            <a:ext cx="101498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reviewer can notice missing details the writer no longer sees.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reviewer can test whether claims are actually supported by evidence.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reviewer can identify confusing methods, weak visuals, and overclaiming.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Revision turns feedback into a stronger scientific product.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cap="flat" cmpd="sng" w="12700">
            <a:solidFill>
              <a:srgbClr val="0505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E22B27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0" y="6729984"/>
            <a:ext cx="12191695" cy="54864"/>
          </a:xfrm>
          <a:prstGeom prst="rect">
            <a:avLst/>
          </a:prstGeom>
          <a:solidFill>
            <a:srgbClr val="E22B27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411480" y="6236208"/>
            <a:ext cx="4206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SCIENTIFIC REVISION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10515600" y="6236208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STARLAB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10195560" y="384048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E22B27"/>
                </a:solidFill>
                <a:latin typeface="Arial"/>
                <a:ea typeface="Arial"/>
                <a:cs typeface="Arial"/>
                <a:sym typeface="Arial"/>
              </a:rPr>
              <a:t>DECK 15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685800" y="694944"/>
            <a:ext cx="98298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Peer Review Is Not...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694944" y="1271016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Clear boundaries make feedback safer and more useful.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" name="Google Shape;78;p6"/>
          <p:cNvCxnSpPr/>
          <p:nvPr/>
        </p:nvCxnSpPr>
        <p:spPr>
          <a:xfrm>
            <a:off x="685800" y="1591056"/>
            <a:ext cx="10789920" cy="0"/>
          </a:xfrm>
          <a:prstGeom prst="straightConnector1">
            <a:avLst/>
          </a:prstGeom>
          <a:noFill/>
          <a:ln cap="flat" cmpd="sng" w="165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" name="Google Shape;79;p6"/>
          <p:cNvSpPr/>
          <p:nvPr/>
        </p:nvSpPr>
        <p:spPr>
          <a:xfrm>
            <a:off x="914400" y="1828800"/>
            <a:ext cx="4892040" cy="3429000"/>
          </a:xfrm>
          <a:prstGeom prst="roundRect">
            <a:avLst>
              <a:gd fmla="val 1600" name="adj"/>
            </a:avLst>
          </a:prstGeom>
          <a:solidFill>
            <a:srgbClr val="101010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1078992" y="1965960"/>
            <a:ext cx="45628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E22B27"/>
                </a:solidFill>
                <a:latin typeface="Arial"/>
                <a:ea typeface="Arial"/>
                <a:cs typeface="Arial"/>
                <a:sym typeface="Arial"/>
              </a:rPr>
              <a:t>NOT THIS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1078992" y="2331720"/>
            <a:ext cx="4562856" cy="2770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popularity contest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personal judgment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grammar-only check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chance to rewrite someone’s project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quick “looks good” signature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6355080" y="1828800"/>
            <a:ext cx="4892040" cy="3429000"/>
          </a:xfrm>
          <a:prstGeom prst="roundRect">
            <a:avLst>
              <a:gd fmla="val 1600" name="adj"/>
            </a:avLst>
          </a:prstGeom>
          <a:solidFill>
            <a:srgbClr val="101010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6519672" y="1965960"/>
            <a:ext cx="45628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E22B27"/>
                </a:solidFill>
                <a:latin typeface="Arial"/>
                <a:ea typeface="Arial"/>
                <a:cs typeface="Arial"/>
                <a:sym typeface="Arial"/>
              </a:rPr>
              <a:t>INSTEAD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6519672" y="2331720"/>
            <a:ext cx="4562856" cy="2770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structured reading of the work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search for clarity and evidence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way to find gaps before the final audience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conversation about revision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professional support system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cap="flat" cmpd="sng" w="12700">
            <a:solidFill>
              <a:srgbClr val="0505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E22B27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/>
          <p:cNvSpPr/>
          <p:nvPr/>
        </p:nvSpPr>
        <p:spPr>
          <a:xfrm>
            <a:off x="0" y="6729984"/>
            <a:ext cx="12191695" cy="54864"/>
          </a:xfrm>
          <a:prstGeom prst="rect">
            <a:avLst/>
          </a:prstGeom>
          <a:solidFill>
            <a:srgbClr val="E22B27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411480" y="6236208"/>
            <a:ext cx="4206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SCIENTIFIC REVISION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10515600" y="6236208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STARLAB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10195560" y="384048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E22B27"/>
                </a:solidFill>
                <a:latin typeface="Arial"/>
                <a:ea typeface="Arial"/>
                <a:cs typeface="Arial"/>
                <a:sym typeface="Arial"/>
              </a:rPr>
              <a:t>DECK 15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685800" y="694944"/>
            <a:ext cx="98298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Feedback Norms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694944" y="1271016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Specific • kind • honest • useful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7"/>
          <p:cNvCxnSpPr/>
          <p:nvPr/>
        </p:nvCxnSpPr>
        <p:spPr>
          <a:xfrm>
            <a:off x="685800" y="1591056"/>
            <a:ext cx="10789920" cy="0"/>
          </a:xfrm>
          <a:prstGeom prst="straightConnector1">
            <a:avLst/>
          </a:prstGeom>
          <a:noFill/>
          <a:ln cap="flat" cmpd="sng" w="165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7"/>
          <p:cNvSpPr/>
          <p:nvPr/>
        </p:nvSpPr>
        <p:spPr>
          <a:xfrm>
            <a:off x="868680" y="1828800"/>
            <a:ext cx="2560320" cy="2971800"/>
          </a:xfrm>
          <a:prstGeom prst="roundRect">
            <a:avLst>
              <a:gd fmla="val 2143" name="adj"/>
            </a:avLst>
          </a:prstGeom>
          <a:solidFill>
            <a:srgbClr val="101010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1033272" y="1965960"/>
            <a:ext cx="22311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E22B27"/>
                </a:solidFill>
                <a:latin typeface="Arial"/>
                <a:ea typeface="Arial"/>
                <a:cs typeface="Arial"/>
                <a:sym typeface="Arial"/>
              </a:rPr>
              <a:t>SPECIFIC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1033272" y="2331720"/>
            <a:ext cx="2231136" cy="2313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Name the exact section, sentence, graph, claim, or missing detail.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3611880" y="1828800"/>
            <a:ext cx="2560320" cy="2971800"/>
          </a:xfrm>
          <a:prstGeom prst="roundRect">
            <a:avLst>
              <a:gd fmla="val 2143" name="adj"/>
            </a:avLst>
          </a:prstGeom>
          <a:solidFill>
            <a:srgbClr val="101010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3776472" y="1965960"/>
            <a:ext cx="22311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E22B27"/>
                </a:solidFill>
                <a:latin typeface="Arial"/>
                <a:ea typeface="Arial"/>
                <a:cs typeface="Arial"/>
                <a:sym typeface="Arial"/>
              </a:rPr>
              <a:t>KIND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3776472" y="2331720"/>
            <a:ext cx="2231136" cy="2313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Critique the work, not the person. Assume the writer is still improving.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6355080" y="1828800"/>
            <a:ext cx="2560320" cy="2971800"/>
          </a:xfrm>
          <a:prstGeom prst="roundRect">
            <a:avLst>
              <a:gd fmla="val 2143" name="adj"/>
            </a:avLst>
          </a:prstGeom>
          <a:solidFill>
            <a:srgbClr val="101010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6519672" y="1965960"/>
            <a:ext cx="22311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E22B27"/>
                </a:solidFill>
                <a:latin typeface="Arial"/>
                <a:ea typeface="Arial"/>
                <a:cs typeface="Arial"/>
                <a:sym typeface="Arial"/>
              </a:rPr>
              <a:t>HONEST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6519672" y="2331720"/>
            <a:ext cx="2231136" cy="2313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 not pretend unclear work is clear. Confusion is useful information.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9098280" y="1828800"/>
            <a:ext cx="2240280" cy="2971800"/>
          </a:xfrm>
          <a:prstGeom prst="roundRect">
            <a:avLst>
              <a:gd fmla="val 2449" name="adj"/>
            </a:avLst>
          </a:prstGeom>
          <a:solidFill>
            <a:srgbClr val="101010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9262872" y="1965960"/>
            <a:ext cx="19110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E22B27"/>
                </a:solidFill>
                <a:latin typeface="Arial"/>
                <a:ea typeface="Arial"/>
                <a:cs typeface="Arial"/>
                <a:sym typeface="Arial"/>
              </a:rPr>
              <a:t>USEFUL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9262872" y="2331720"/>
            <a:ext cx="1911096" cy="2313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Write feedback the author can actually act on.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cap="flat" cmpd="sng" w="12700">
            <a:solidFill>
              <a:srgbClr val="0505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E22B27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"/>
          <p:cNvSpPr/>
          <p:nvPr/>
        </p:nvSpPr>
        <p:spPr>
          <a:xfrm>
            <a:off x="0" y="6729984"/>
            <a:ext cx="12191695" cy="54864"/>
          </a:xfrm>
          <a:prstGeom prst="rect">
            <a:avLst/>
          </a:prstGeom>
          <a:solidFill>
            <a:srgbClr val="E22B27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"/>
          <p:cNvSpPr/>
          <p:nvPr/>
        </p:nvSpPr>
        <p:spPr>
          <a:xfrm>
            <a:off x="411480" y="6236208"/>
            <a:ext cx="4206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SCIENTIFIC REVISION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10515600" y="6236208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STARLAB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10195560" y="384048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E22B27"/>
                </a:solidFill>
                <a:latin typeface="Arial"/>
                <a:ea typeface="Arial"/>
                <a:cs typeface="Arial"/>
                <a:sym typeface="Arial"/>
              </a:rPr>
              <a:t>DECK 15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685800" y="694944"/>
            <a:ext cx="98298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Weak Feedback vs. Strong Feedback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694944" y="1271016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Useful feedback points toward a revision.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" name="Google Shape;124;p8"/>
          <p:cNvCxnSpPr/>
          <p:nvPr/>
        </p:nvCxnSpPr>
        <p:spPr>
          <a:xfrm>
            <a:off x="685800" y="1591056"/>
            <a:ext cx="10789920" cy="0"/>
          </a:xfrm>
          <a:prstGeom prst="straightConnector1">
            <a:avLst/>
          </a:prstGeom>
          <a:noFill/>
          <a:ln cap="flat" cmpd="sng" w="165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p8"/>
          <p:cNvSpPr/>
          <p:nvPr/>
        </p:nvSpPr>
        <p:spPr>
          <a:xfrm>
            <a:off x="914400" y="1783080"/>
            <a:ext cx="4892040" cy="3429000"/>
          </a:xfrm>
          <a:prstGeom prst="roundRect">
            <a:avLst>
              <a:gd fmla="val 1600" name="adj"/>
            </a:avLst>
          </a:prstGeom>
          <a:solidFill>
            <a:srgbClr val="101010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"/>
          <p:cNvSpPr/>
          <p:nvPr/>
        </p:nvSpPr>
        <p:spPr>
          <a:xfrm>
            <a:off x="1078992" y="1920240"/>
            <a:ext cx="45628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E22B27"/>
                </a:solidFill>
                <a:latin typeface="Arial"/>
                <a:ea typeface="Arial"/>
                <a:cs typeface="Arial"/>
                <a:sym typeface="Arial"/>
              </a:rPr>
              <a:t>WEAK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1078992" y="2286000"/>
            <a:ext cx="4562856" cy="2770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“This is good.”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“Explain more.”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“Your graph is confusing.”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“Fix the discussion.”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6355080" y="1783080"/>
            <a:ext cx="4892040" cy="3429000"/>
          </a:xfrm>
          <a:prstGeom prst="roundRect">
            <a:avLst>
              <a:gd fmla="val 1600" name="adj"/>
            </a:avLst>
          </a:prstGeom>
          <a:solidFill>
            <a:srgbClr val="101010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6519672" y="1920240"/>
            <a:ext cx="45628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E22B27"/>
                </a:solidFill>
                <a:latin typeface="Arial"/>
                <a:ea typeface="Arial"/>
                <a:cs typeface="Arial"/>
                <a:sym typeface="Arial"/>
              </a:rPr>
              <a:t>STRONGER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6519672" y="2286000"/>
            <a:ext cx="4562856" cy="2770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“The research question is clear, but the introduction needs one sentence explaining why turbidity matters.”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“The discussion claims Prototype B was best, but it needs the load-per-gram value as evidence.”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“The graph needs units on the y-axis.”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cap="flat" cmpd="sng" w="12700">
            <a:solidFill>
              <a:srgbClr val="0505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E22B27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"/>
          <p:cNvSpPr/>
          <p:nvPr/>
        </p:nvSpPr>
        <p:spPr>
          <a:xfrm>
            <a:off x="0" y="6729984"/>
            <a:ext cx="12191695" cy="54864"/>
          </a:xfrm>
          <a:prstGeom prst="rect">
            <a:avLst/>
          </a:prstGeom>
          <a:solidFill>
            <a:srgbClr val="E22B27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"/>
          <p:cNvSpPr/>
          <p:nvPr/>
        </p:nvSpPr>
        <p:spPr>
          <a:xfrm>
            <a:off x="411480" y="6236208"/>
            <a:ext cx="4206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SCIENTIFIC REVISION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10515600" y="6236208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STARLAB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10195560" y="384048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E22B27"/>
                </a:solidFill>
                <a:latin typeface="Arial"/>
                <a:ea typeface="Arial"/>
                <a:cs typeface="Arial"/>
                <a:sym typeface="Arial"/>
              </a:rPr>
              <a:t>DECK 15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685800" y="694944"/>
            <a:ext cx="98298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The Three Peer Review Lenses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694944" y="1271016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Read the same report more than one way.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" name="Google Shape;144;p9"/>
          <p:cNvCxnSpPr/>
          <p:nvPr/>
        </p:nvCxnSpPr>
        <p:spPr>
          <a:xfrm>
            <a:off x="685800" y="1591056"/>
            <a:ext cx="10789920" cy="0"/>
          </a:xfrm>
          <a:prstGeom prst="straightConnector1">
            <a:avLst/>
          </a:prstGeom>
          <a:noFill/>
          <a:ln cap="flat" cmpd="sng" w="165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9"/>
          <p:cNvSpPr/>
          <p:nvPr/>
        </p:nvSpPr>
        <p:spPr>
          <a:xfrm>
            <a:off x="868680" y="1828800"/>
            <a:ext cx="3246120" cy="2971800"/>
          </a:xfrm>
          <a:prstGeom prst="roundRect">
            <a:avLst>
              <a:gd fmla="val 1846" name="adj"/>
            </a:avLst>
          </a:prstGeom>
          <a:solidFill>
            <a:srgbClr val="101010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"/>
          <p:cNvSpPr/>
          <p:nvPr/>
        </p:nvSpPr>
        <p:spPr>
          <a:xfrm>
            <a:off x="1033272" y="1965960"/>
            <a:ext cx="29169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E22B27"/>
                </a:solidFill>
                <a:latin typeface="Arial"/>
                <a:ea typeface="Arial"/>
                <a:cs typeface="Arial"/>
                <a:sym typeface="Arial"/>
              </a:rPr>
              <a:t>ROUND 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E22B27"/>
                </a:solidFill>
                <a:latin typeface="Arial"/>
                <a:ea typeface="Arial"/>
                <a:cs typeface="Arial"/>
                <a:sym typeface="Arial"/>
              </a:rPr>
              <a:t>STRUCTURE + CLARITY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1033272" y="2331720"/>
            <a:ext cx="2916936" cy="2313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Can the reader follow the scientific story?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Is each section doing its job?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4480560" y="1828800"/>
            <a:ext cx="3246120" cy="2971800"/>
          </a:xfrm>
          <a:prstGeom prst="roundRect">
            <a:avLst>
              <a:gd fmla="val 1846" name="adj"/>
            </a:avLst>
          </a:prstGeom>
          <a:solidFill>
            <a:srgbClr val="101010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4645152" y="1965960"/>
            <a:ext cx="29169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E22B27"/>
                </a:solidFill>
                <a:latin typeface="Arial"/>
                <a:ea typeface="Arial"/>
                <a:cs typeface="Arial"/>
                <a:sym typeface="Arial"/>
              </a:rPr>
              <a:t>ROUND 2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E22B27"/>
                </a:solidFill>
                <a:latin typeface="Arial"/>
                <a:ea typeface="Arial"/>
                <a:cs typeface="Arial"/>
                <a:sym typeface="Arial"/>
              </a:rPr>
              <a:t>ACCURACY + EVIDENCE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4645152" y="2331720"/>
            <a:ext cx="2916936" cy="2313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Are claims supported by data?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Are methods, results, and limitations scientifically honest?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8092440" y="1828800"/>
            <a:ext cx="3246120" cy="2971800"/>
          </a:xfrm>
          <a:prstGeom prst="roundRect">
            <a:avLst>
              <a:gd fmla="val 1846" name="adj"/>
            </a:avLst>
          </a:prstGeom>
          <a:solidFill>
            <a:srgbClr val="101010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8257032" y="1965960"/>
            <a:ext cx="29169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E22B27"/>
                </a:solidFill>
                <a:latin typeface="Arial"/>
                <a:ea typeface="Arial"/>
                <a:cs typeface="Arial"/>
                <a:sym typeface="Arial"/>
              </a:rPr>
              <a:t>ROUND 3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E22B27"/>
                </a:solidFill>
                <a:latin typeface="Arial"/>
                <a:ea typeface="Arial"/>
                <a:cs typeface="Arial"/>
                <a:sym typeface="Arial"/>
              </a:rPr>
              <a:t>VISUALS + POLISH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8257032" y="2331720"/>
            <a:ext cx="2916936" cy="2313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Are graphs, captions, headings, and professional style ready for an audience?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cap="flat" cmpd="sng" w="12700">
            <a:solidFill>
              <a:srgbClr val="0505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E22B27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"/>
          <p:cNvSpPr/>
          <p:nvPr/>
        </p:nvSpPr>
        <p:spPr>
          <a:xfrm>
            <a:off x="0" y="6729984"/>
            <a:ext cx="12191695" cy="54864"/>
          </a:xfrm>
          <a:prstGeom prst="rect">
            <a:avLst/>
          </a:prstGeom>
          <a:solidFill>
            <a:srgbClr val="E22B27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"/>
          <p:cNvSpPr/>
          <p:nvPr/>
        </p:nvSpPr>
        <p:spPr>
          <a:xfrm>
            <a:off x="411480" y="6236208"/>
            <a:ext cx="4206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SCIENTIFIC REVISION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10515600" y="6236208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STARLAB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10195560" y="384048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E22B27"/>
                </a:solidFill>
                <a:latin typeface="Arial"/>
                <a:ea typeface="Arial"/>
                <a:cs typeface="Arial"/>
                <a:sym typeface="Arial"/>
              </a:rPr>
              <a:t>DECK 15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685800" y="694944"/>
            <a:ext cx="98298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Round 1: Structure and Clarity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694944" y="1271016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Can the reader follow the report?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7" name="Google Shape;167;p10"/>
          <p:cNvCxnSpPr/>
          <p:nvPr/>
        </p:nvCxnSpPr>
        <p:spPr>
          <a:xfrm>
            <a:off x="685800" y="1591056"/>
            <a:ext cx="10789920" cy="0"/>
          </a:xfrm>
          <a:prstGeom prst="straightConnector1">
            <a:avLst/>
          </a:prstGeom>
          <a:noFill/>
          <a:ln cap="flat" cmpd="sng" w="165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" name="Google Shape;168;p10"/>
          <p:cNvSpPr/>
          <p:nvPr/>
        </p:nvSpPr>
        <p:spPr>
          <a:xfrm>
            <a:off x="914400" y="1828800"/>
            <a:ext cx="1042416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Is the research question or engineering goal easy to find?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Does each section serve its purpose?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Does the report flow logically from problem → method → evidence → interpretation?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Where does the reader get lost?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should be moved, added, removed, or clarified?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914400" y="5532120"/>
            <a:ext cx="10332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2200"/>
              <a:buFont typeface="Play"/>
              <a:buNone/>
            </a:pPr>
            <a:r>
              <a:rPr b="1" lang="en-US" sz="2200">
                <a:solidFill>
                  <a:srgbClr val="E22B27"/>
                </a:solidFill>
                <a:latin typeface="Play"/>
                <a:ea typeface="Play"/>
                <a:cs typeface="Play"/>
                <a:sym typeface="Play"/>
              </a:rPr>
              <a:t>Reviewer goal: help the writer make the scientific story easier to follow.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cap="flat" cmpd="sng" w="12700">
            <a:solidFill>
              <a:srgbClr val="0505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1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E22B27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1"/>
          <p:cNvSpPr/>
          <p:nvPr/>
        </p:nvSpPr>
        <p:spPr>
          <a:xfrm>
            <a:off x="0" y="6729984"/>
            <a:ext cx="12191695" cy="54864"/>
          </a:xfrm>
          <a:prstGeom prst="rect">
            <a:avLst/>
          </a:prstGeom>
          <a:solidFill>
            <a:srgbClr val="E22B27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1"/>
          <p:cNvSpPr/>
          <p:nvPr/>
        </p:nvSpPr>
        <p:spPr>
          <a:xfrm>
            <a:off x="411480" y="6236208"/>
            <a:ext cx="4206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SCIENTIFIC REVISION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10515600" y="6236208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STARLAB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10195560" y="384048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E22B27"/>
                </a:solidFill>
                <a:latin typeface="Arial"/>
                <a:ea typeface="Arial"/>
                <a:cs typeface="Arial"/>
                <a:sym typeface="Arial"/>
              </a:rPr>
              <a:t>DECK 15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685800" y="694944"/>
            <a:ext cx="98298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Round 2: Scientific Accuracy and Evidence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694944" y="1271016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Does the report support its claims?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" name="Google Shape;183;p11"/>
          <p:cNvCxnSpPr/>
          <p:nvPr/>
        </p:nvCxnSpPr>
        <p:spPr>
          <a:xfrm>
            <a:off x="685800" y="1591056"/>
            <a:ext cx="10789920" cy="0"/>
          </a:xfrm>
          <a:prstGeom prst="straightConnector1">
            <a:avLst/>
          </a:prstGeom>
          <a:noFill/>
          <a:ln cap="flat" cmpd="sng" w="165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" name="Google Shape;184;p11"/>
          <p:cNvSpPr/>
          <p:nvPr/>
        </p:nvSpPr>
        <p:spPr>
          <a:xfrm>
            <a:off x="914400" y="1828800"/>
            <a:ext cx="1042416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is the main claim of the report?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specific data, graph, image, calculation, or observation supports that claim?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Are any conclusions stronger than the evidence allows?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Are methods clear enough to evaluate the quality of the data?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Are limitations or sources of error addressed honestly?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914400" y="5532120"/>
            <a:ext cx="10332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2200"/>
              <a:buFont typeface="Play"/>
              <a:buNone/>
            </a:pPr>
            <a:r>
              <a:rPr b="1" lang="en-US" sz="2200">
                <a:solidFill>
                  <a:srgbClr val="E22B27"/>
                </a:solidFill>
                <a:latin typeface="Play"/>
                <a:ea typeface="Play"/>
                <a:cs typeface="Play"/>
                <a:sym typeface="Play"/>
              </a:rPr>
              <a:t>Reviewer goal: protect the scientific credibility of the report.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cap="flat" cmpd="sng" w="12700">
            <a:solidFill>
              <a:srgbClr val="0505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2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E22B27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2"/>
          <p:cNvSpPr/>
          <p:nvPr/>
        </p:nvSpPr>
        <p:spPr>
          <a:xfrm>
            <a:off x="0" y="6729984"/>
            <a:ext cx="12191695" cy="54864"/>
          </a:xfrm>
          <a:prstGeom prst="rect">
            <a:avLst/>
          </a:prstGeom>
          <a:solidFill>
            <a:srgbClr val="E22B27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2"/>
          <p:cNvSpPr/>
          <p:nvPr/>
        </p:nvSpPr>
        <p:spPr>
          <a:xfrm>
            <a:off x="411480" y="6236208"/>
            <a:ext cx="4206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SCIENTIFIC REVISION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2"/>
          <p:cNvSpPr/>
          <p:nvPr/>
        </p:nvSpPr>
        <p:spPr>
          <a:xfrm>
            <a:off x="10515600" y="6236208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STARLAB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2"/>
          <p:cNvSpPr/>
          <p:nvPr/>
        </p:nvSpPr>
        <p:spPr>
          <a:xfrm>
            <a:off x="10195560" y="384048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E22B27"/>
                </a:solidFill>
                <a:latin typeface="Arial"/>
                <a:ea typeface="Arial"/>
                <a:cs typeface="Arial"/>
                <a:sym typeface="Arial"/>
              </a:rPr>
              <a:t>DECK 15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685800" y="694944"/>
            <a:ext cx="98298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Round 3: Visuals, Style, and Professionalism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2"/>
          <p:cNvSpPr/>
          <p:nvPr/>
        </p:nvSpPr>
        <p:spPr>
          <a:xfrm>
            <a:off x="694944" y="1271016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The final product should look and sound like science.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9" name="Google Shape;199;p12"/>
          <p:cNvCxnSpPr/>
          <p:nvPr/>
        </p:nvCxnSpPr>
        <p:spPr>
          <a:xfrm>
            <a:off x="685800" y="1591056"/>
            <a:ext cx="10789920" cy="0"/>
          </a:xfrm>
          <a:prstGeom prst="straightConnector1">
            <a:avLst/>
          </a:prstGeom>
          <a:noFill/>
          <a:ln cap="flat" cmpd="sng" w="165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12"/>
          <p:cNvSpPr/>
          <p:nvPr/>
        </p:nvSpPr>
        <p:spPr>
          <a:xfrm>
            <a:off x="914400" y="1828800"/>
            <a:ext cx="1042416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Are graphs, tables, images, and diagrams clear and useful?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Are captions complete and informative?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Are axes, units, titles, and legends included where needed?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Is the writing professional and readable?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Are headings, formatting, figure numbers, and references consistent?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914400" y="5532120"/>
            <a:ext cx="10332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2200"/>
              <a:buFont typeface="Play"/>
              <a:buNone/>
            </a:pPr>
            <a:r>
              <a:rPr b="1" lang="en-US" sz="2200">
                <a:solidFill>
                  <a:srgbClr val="E22B27"/>
                </a:solidFill>
                <a:latin typeface="Play"/>
                <a:ea typeface="Play"/>
                <a:cs typeface="Play"/>
                <a:sym typeface="Play"/>
              </a:rPr>
              <a:t>Reviewer goal: help the report become audience-ready.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cap="flat" cmpd="sng" w="12700">
            <a:solidFill>
              <a:srgbClr val="0505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3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E22B27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3"/>
          <p:cNvSpPr/>
          <p:nvPr/>
        </p:nvSpPr>
        <p:spPr>
          <a:xfrm>
            <a:off x="0" y="6729984"/>
            <a:ext cx="12191695" cy="54864"/>
          </a:xfrm>
          <a:prstGeom prst="rect">
            <a:avLst/>
          </a:prstGeom>
          <a:solidFill>
            <a:srgbClr val="E22B27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3"/>
          <p:cNvSpPr/>
          <p:nvPr/>
        </p:nvSpPr>
        <p:spPr>
          <a:xfrm>
            <a:off x="411480" y="6236208"/>
            <a:ext cx="4206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STUDENT ACTIVITY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3"/>
          <p:cNvSpPr/>
          <p:nvPr/>
        </p:nvSpPr>
        <p:spPr>
          <a:xfrm>
            <a:off x="10515600" y="6236208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STARLAB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3"/>
          <p:cNvSpPr/>
          <p:nvPr/>
        </p:nvSpPr>
        <p:spPr>
          <a:xfrm>
            <a:off x="10195560" y="384048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E22B27"/>
                </a:solidFill>
                <a:latin typeface="Arial"/>
                <a:ea typeface="Arial"/>
                <a:cs typeface="Arial"/>
                <a:sym typeface="Arial"/>
              </a:rPr>
              <a:t>DECK 15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685800" y="694944"/>
            <a:ext cx="98298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Activity 1: Prepare Your Draft for Review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3"/>
          <p:cNvSpPr/>
          <p:nvPr/>
        </p:nvSpPr>
        <p:spPr>
          <a:xfrm>
            <a:off x="694944" y="1271016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6 minutes • Unit 5 Week 27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5" name="Google Shape;215;p13"/>
          <p:cNvCxnSpPr/>
          <p:nvPr/>
        </p:nvCxnSpPr>
        <p:spPr>
          <a:xfrm>
            <a:off x="685800" y="1591056"/>
            <a:ext cx="10789920" cy="0"/>
          </a:xfrm>
          <a:prstGeom prst="straightConnector1">
            <a:avLst/>
          </a:prstGeom>
          <a:noFill/>
          <a:ln cap="flat" cmpd="sng" w="165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p13"/>
          <p:cNvSpPr/>
          <p:nvPr/>
        </p:nvSpPr>
        <p:spPr>
          <a:xfrm>
            <a:off x="777240" y="1783080"/>
            <a:ext cx="1874520" cy="347472"/>
          </a:xfrm>
          <a:prstGeom prst="rect">
            <a:avLst/>
          </a:prstGeom>
          <a:solidFill>
            <a:srgbClr val="E22B27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3"/>
          <p:cNvSpPr/>
          <p:nvPr/>
        </p:nvSpPr>
        <p:spPr>
          <a:xfrm>
            <a:off x="868680" y="1865376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STUDENT ACTIVITY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868680" y="2331720"/>
            <a:ext cx="103327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 or print your current full report draft.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Highlight your research question or engineering goal.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Mark your most important graph, table, image, or result.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Star the claim you most want your reviewer to check.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Write one question you want your reviewer to answer.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cap="flat" cmpd="sng" w="12700">
            <a:solidFill>
              <a:srgbClr val="0505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4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E22B27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4"/>
          <p:cNvSpPr/>
          <p:nvPr/>
        </p:nvSpPr>
        <p:spPr>
          <a:xfrm>
            <a:off x="0" y="6729984"/>
            <a:ext cx="12191695" cy="54864"/>
          </a:xfrm>
          <a:prstGeom prst="rect">
            <a:avLst/>
          </a:prstGeom>
          <a:solidFill>
            <a:srgbClr val="E22B27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4"/>
          <p:cNvSpPr/>
          <p:nvPr/>
        </p:nvSpPr>
        <p:spPr>
          <a:xfrm>
            <a:off x="411480" y="6236208"/>
            <a:ext cx="4206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STUDENT ACTIVITY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4"/>
          <p:cNvSpPr/>
          <p:nvPr/>
        </p:nvSpPr>
        <p:spPr>
          <a:xfrm>
            <a:off x="10515600" y="6236208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STARLAB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4"/>
          <p:cNvSpPr/>
          <p:nvPr/>
        </p:nvSpPr>
        <p:spPr>
          <a:xfrm>
            <a:off x="10195560" y="384048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E22B27"/>
                </a:solidFill>
                <a:latin typeface="Arial"/>
                <a:ea typeface="Arial"/>
                <a:cs typeface="Arial"/>
                <a:sym typeface="Arial"/>
              </a:rPr>
              <a:t>DECK 15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4"/>
          <p:cNvSpPr/>
          <p:nvPr/>
        </p:nvSpPr>
        <p:spPr>
          <a:xfrm>
            <a:off x="685800" y="694944"/>
            <a:ext cx="98298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Activity 2: Peer Review Round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4"/>
          <p:cNvSpPr/>
          <p:nvPr/>
        </p:nvSpPr>
        <p:spPr>
          <a:xfrm>
            <a:off x="694944" y="1271016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15–20 minutes • Unit 5 Week 27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2" name="Google Shape;232;p14"/>
          <p:cNvCxnSpPr/>
          <p:nvPr/>
        </p:nvCxnSpPr>
        <p:spPr>
          <a:xfrm>
            <a:off x="685800" y="1591056"/>
            <a:ext cx="10789920" cy="0"/>
          </a:xfrm>
          <a:prstGeom prst="straightConnector1">
            <a:avLst/>
          </a:prstGeom>
          <a:noFill/>
          <a:ln cap="flat" cmpd="sng" w="165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3" name="Google Shape;233;p14"/>
          <p:cNvSpPr/>
          <p:nvPr/>
        </p:nvSpPr>
        <p:spPr>
          <a:xfrm>
            <a:off x="777240" y="1783080"/>
            <a:ext cx="1874520" cy="347472"/>
          </a:xfrm>
          <a:prstGeom prst="rect">
            <a:avLst/>
          </a:prstGeom>
          <a:solidFill>
            <a:srgbClr val="E22B27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4"/>
          <p:cNvSpPr/>
          <p:nvPr/>
        </p:nvSpPr>
        <p:spPr>
          <a:xfrm>
            <a:off x="868680" y="1865376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STUDENT ACTIVITY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4"/>
          <p:cNvSpPr/>
          <p:nvPr/>
        </p:nvSpPr>
        <p:spPr>
          <a:xfrm>
            <a:off x="868680" y="2331720"/>
            <a:ext cx="103327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Reviewer reads the assigned section or full report using one review lens.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Reviewer writes comments using the sentence stems or protocol questions.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Writer listens without defending during the first explanation.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Writer asks clarifying questions after the reviewer finishes.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Both students identify the single most important revision.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cap="flat" cmpd="sng" w="12700">
            <a:solidFill>
              <a:srgbClr val="0505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5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E22B27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5"/>
          <p:cNvSpPr/>
          <p:nvPr/>
        </p:nvSpPr>
        <p:spPr>
          <a:xfrm>
            <a:off x="0" y="6729984"/>
            <a:ext cx="12191695" cy="54864"/>
          </a:xfrm>
          <a:prstGeom prst="rect">
            <a:avLst/>
          </a:prstGeom>
          <a:solidFill>
            <a:srgbClr val="E22B27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5"/>
          <p:cNvSpPr/>
          <p:nvPr/>
        </p:nvSpPr>
        <p:spPr>
          <a:xfrm>
            <a:off x="411480" y="6236208"/>
            <a:ext cx="4206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SCIENTIFIC REVISION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5"/>
          <p:cNvSpPr/>
          <p:nvPr/>
        </p:nvSpPr>
        <p:spPr>
          <a:xfrm>
            <a:off x="10515600" y="6236208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STARLAB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5"/>
          <p:cNvSpPr/>
          <p:nvPr/>
        </p:nvSpPr>
        <p:spPr>
          <a:xfrm>
            <a:off x="10195560" y="384048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E22B27"/>
                </a:solidFill>
                <a:latin typeface="Arial"/>
                <a:ea typeface="Arial"/>
                <a:cs typeface="Arial"/>
                <a:sym typeface="Arial"/>
              </a:rPr>
              <a:t>DECK 15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5"/>
          <p:cNvSpPr/>
          <p:nvPr/>
        </p:nvSpPr>
        <p:spPr>
          <a:xfrm>
            <a:off x="685800" y="694944"/>
            <a:ext cx="98298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After Feedback: Do Not Revise Randomly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5"/>
          <p:cNvSpPr/>
          <p:nvPr/>
        </p:nvSpPr>
        <p:spPr>
          <a:xfrm>
            <a:off x="694944" y="1271016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Turn comments into a plan.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9" name="Google Shape;249;p15"/>
          <p:cNvCxnSpPr/>
          <p:nvPr/>
        </p:nvCxnSpPr>
        <p:spPr>
          <a:xfrm>
            <a:off x="685800" y="1591056"/>
            <a:ext cx="10789920" cy="0"/>
          </a:xfrm>
          <a:prstGeom prst="straightConnector1">
            <a:avLst/>
          </a:prstGeom>
          <a:noFill/>
          <a:ln cap="flat" cmpd="sng" w="165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0" name="Google Shape;250;p15"/>
          <p:cNvSpPr/>
          <p:nvPr/>
        </p:nvSpPr>
        <p:spPr>
          <a:xfrm>
            <a:off x="914400" y="1828800"/>
            <a:ext cx="3154680" cy="2971800"/>
          </a:xfrm>
          <a:prstGeom prst="roundRect">
            <a:avLst>
              <a:gd fmla="val 1846" name="adj"/>
            </a:avLst>
          </a:prstGeom>
          <a:solidFill>
            <a:srgbClr val="101010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5"/>
          <p:cNvSpPr/>
          <p:nvPr/>
        </p:nvSpPr>
        <p:spPr>
          <a:xfrm>
            <a:off x="1078992" y="1965960"/>
            <a:ext cx="28254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E22B27"/>
                </a:solidFill>
                <a:latin typeface="Arial"/>
                <a:ea typeface="Arial"/>
                <a:cs typeface="Arial"/>
                <a:sym typeface="Arial"/>
              </a:rPr>
              <a:t>SORT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5"/>
          <p:cNvSpPr/>
          <p:nvPr/>
        </p:nvSpPr>
        <p:spPr>
          <a:xfrm>
            <a:off x="1078992" y="2331720"/>
            <a:ext cx="2825496" cy="2313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Which feedback is about structure?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Which is about evidence?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Which is about style or formatting?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5"/>
          <p:cNvSpPr/>
          <p:nvPr/>
        </p:nvSpPr>
        <p:spPr>
          <a:xfrm>
            <a:off x="4526280" y="1828800"/>
            <a:ext cx="3154680" cy="2971800"/>
          </a:xfrm>
          <a:prstGeom prst="roundRect">
            <a:avLst>
              <a:gd fmla="val 1846" name="adj"/>
            </a:avLst>
          </a:prstGeom>
          <a:solidFill>
            <a:srgbClr val="101010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5"/>
          <p:cNvSpPr/>
          <p:nvPr/>
        </p:nvSpPr>
        <p:spPr>
          <a:xfrm>
            <a:off x="4690872" y="1965960"/>
            <a:ext cx="28254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E22B27"/>
                </a:solidFill>
                <a:latin typeface="Arial"/>
                <a:ea typeface="Arial"/>
                <a:cs typeface="Arial"/>
                <a:sym typeface="Arial"/>
              </a:rPr>
              <a:t>PRIORITIZE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5"/>
          <p:cNvSpPr/>
          <p:nvPr/>
        </p:nvSpPr>
        <p:spPr>
          <a:xfrm>
            <a:off x="4690872" y="2331720"/>
            <a:ext cx="2825496" cy="2313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revision will most improve scientific clarity or credibility?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5"/>
          <p:cNvSpPr/>
          <p:nvPr/>
        </p:nvSpPr>
        <p:spPr>
          <a:xfrm>
            <a:off x="8138160" y="1828800"/>
            <a:ext cx="3154680" cy="2971800"/>
          </a:xfrm>
          <a:prstGeom prst="roundRect">
            <a:avLst>
              <a:gd fmla="val 1846" name="adj"/>
            </a:avLst>
          </a:prstGeom>
          <a:solidFill>
            <a:srgbClr val="101010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5"/>
          <p:cNvSpPr/>
          <p:nvPr/>
        </p:nvSpPr>
        <p:spPr>
          <a:xfrm>
            <a:off x="8302752" y="1965960"/>
            <a:ext cx="28254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E22B27"/>
                </a:solidFill>
                <a:latin typeface="Arial"/>
                <a:ea typeface="Arial"/>
                <a:cs typeface="Arial"/>
                <a:sym typeface="Arial"/>
              </a:rPr>
              <a:t>DOCUMENT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5"/>
          <p:cNvSpPr/>
          <p:nvPr/>
        </p:nvSpPr>
        <p:spPr>
          <a:xfrm>
            <a:off x="8302752" y="2331720"/>
            <a:ext cx="2825496" cy="2313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did you change, and why did the change improve the report?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cap="flat" cmpd="sng" w="12700">
            <a:solidFill>
              <a:srgbClr val="0505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6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E22B27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6"/>
          <p:cNvSpPr/>
          <p:nvPr/>
        </p:nvSpPr>
        <p:spPr>
          <a:xfrm>
            <a:off x="0" y="6729984"/>
            <a:ext cx="12191695" cy="54864"/>
          </a:xfrm>
          <a:prstGeom prst="rect">
            <a:avLst/>
          </a:prstGeom>
          <a:solidFill>
            <a:srgbClr val="E22B27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6"/>
          <p:cNvSpPr/>
          <p:nvPr/>
        </p:nvSpPr>
        <p:spPr>
          <a:xfrm>
            <a:off x="411480" y="6236208"/>
            <a:ext cx="4206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SCIENTIFIC REVISION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6"/>
          <p:cNvSpPr/>
          <p:nvPr/>
        </p:nvSpPr>
        <p:spPr>
          <a:xfrm>
            <a:off x="10515600" y="6236208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STARLAB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6"/>
          <p:cNvSpPr/>
          <p:nvPr/>
        </p:nvSpPr>
        <p:spPr>
          <a:xfrm>
            <a:off x="10195560" y="384048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E22B27"/>
                </a:solidFill>
                <a:latin typeface="Arial"/>
                <a:ea typeface="Arial"/>
                <a:cs typeface="Arial"/>
                <a:sym typeface="Arial"/>
              </a:rPr>
              <a:t>DECK 15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6"/>
          <p:cNvSpPr/>
          <p:nvPr/>
        </p:nvSpPr>
        <p:spPr>
          <a:xfrm>
            <a:off x="685800" y="694944"/>
            <a:ext cx="98298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Which Feedback Should You Use?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6"/>
          <p:cNvSpPr/>
          <p:nvPr/>
        </p:nvSpPr>
        <p:spPr>
          <a:xfrm>
            <a:off x="694944" y="1271016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Not every suggestion is equal, but every suggestion deserves consideration.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2" name="Google Shape;272;p16"/>
          <p:cNvCxnSpPr/>
          <p:nvPr/>
        </p:nvCxnSpPr>
        <p:spPr>
          <a:xfrm>
            <a:off x="685800" y="1591056"/>
            <a:ext cx="10789920" cy="0"/>
          </a:xfrm>
          <a:prstGeom prst="straightConnector1">
            <a:avLst/>
          </a:prstGeom>
          <a:noFill/>
          <a:ln cap="flat" cmpd="sng" w="165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3" name="Google Shape;273;p16"/>
          <p:cNvSpPr/>
          <p:nvPr/>
        </p:nvSpPr>
        <p:spPr>
          <a:xfrm>
            <a:off x="914400" y="1828800"/>
            <a:ext cx="1033272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feedback that improves clarity, evidence, accuracy, organization, or professionalism.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Ask for help when feedback conflicts or when you do not understand it.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 may reject feedback if it does not fit the purpose of the report, but you must explain why.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 not reject feedback just because the revision is difficult.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6"/>
          <p:cNvSpPr/>
          <p:nvPr/>
        </p:nvSpPr>
        <p:spPr>
          <a:xfrm>
            <a:off x="914400" y="5532120"/>
            <a:ext cx="10332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2300"/>
              <a:buFont typeface="Play"/>
              <a:buNone/>
            </a:pPr>
            <a:r>
              <a:rPr b="1" lang="en-US" sz="2300">
                <a:solidFill>
                  <a:srgbClr val="E22B27"/>
                </a:solidFill>
                <a:latin typeface="Play"/>
                <a:ea typeface="Play"/>
                <a:cs typeface="Play"/>
                <a:sym typeface="Play"/>
              </a:rPr>
              <a:t>A scientific writer makes revision decisions, not just corrections.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cap="flat" cmpd="sng" w="12700">
            <a:solidFill>
              <a:srgbClr val="0505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7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E22B27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7"/>
          <p:cNvSpPr/>
          <p:nvPr/>
        </p:nvSpPr>
        <p:spPr>
          <a:xfrm>
            <a:off x="0" y="6729984"/>
            <a:ext cx="12191695" cy="54864"/>
          </a:xfrm>
          <a:prstGeom prst="rect">
            <a:avLst/>
          </a:prstGeom>
          <a:solidFill>
            <a:srgbClr val="E22B27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7"/>
          <p:cNvSpPr/>
          <p:nvPr/>
        </p:nvSpPr>
        <p:spPr>
          <a:xfrm>
            <a:off x="411480" y="6236208"/>
            <a:ext cx="4206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STUDENT ACTIVITY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7"/>
          <p:cNvSpPr/>
          <p:nvPr/>
        </p:nvSpPr>
        <p:spPr>
          <a:xfrm>
            <a:off x="10515600" y="6236208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STARLAB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7"/>
          <p:cNvSpPr/>
          <p:nvPr/>
        </p:nvSpPr>
        <p:spPr>
          <a:xfrm>
            <a:off x="10195560" y="384048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E22B27"/>
                </a:solidFill>
                <a:latin typeface="Arial"/>
                <a:ea typeface="Arial"/>
                <a:cs typeface="Arial"/>
                <a:sym typeface="Arial"/>
              </a:rPr>
              <a:t>DECK 15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7"/>
          <p:cNvSpPr/>
          <p:nvPr/>
        </p:nvSpPr>
        <p:spPr>
          <a:xfrm>
            <a:off x="685800" y="694944"/>
            <a:ext cx="98298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Activity 3: Build Your Revision Plan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694944" y="1271016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10 minutes • Unit 5 Week 27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8" name="Google Shape;288;p17"/>
          <p:cNvCxnSpPr/>
          <p:nvPr/>
        </p:nvCxnSpPr>
        <p:spPr>
          <a:xfrm>
            <a:off x="685800" y="1591056"/>
            <a:ext cx="10789920" cy="0"/>
          </a:xfrm>
          <a:prstGeom prst="straightConnector1">
            <a:avLst/>
          </a:prstGeom>
          <a:noFill/>
          <a:ln cap="flat" cmpd="sng" w="165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" name="Google Shape;289;p17"/>
          <p:cNvSpPr/>
          <p:nvPr/>
        </p:nvSpPr>
        <p:spPr>
          <a:xfrm>
            <a:off x="777240" y="1783080"/>
            <a:ext cx="1874520" cy="347472"/>
          </a:xfrm>
          <a:prstGeom prst="rect">
            <a:avLst/>
          </a:prstGeom>
          <a:solidFill>
            <a:srgbClr val="E22B27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7"/>
          <p:cNvSpPr/>
          <p:nvPr/>
        </p:nvSpPr>
        <p:spPr>
          <a:xfrm>
            <a:off x="868680" y="1865376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STUDENT ACTIVITY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7"/>
          <p:cNvSpPr/>
          <p:nvPr/>
        </p:nvSpPr>
        <p:spPr>
          <a:xfrm>
            <a:off x="868680" y="2331720"/>
            <a:ext cx="103327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List three major revisions you will make.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List two smaller formatting or style fixes.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Identify one piece of feedback you will not use and explain why.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Write one question you still have for the teacher or mentor.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 the highest-priority revision first.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cap="flat" cmpd="sng" w="12700">
            <a:solidFill>
              <a:srgbClr val="0505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8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E22B27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8"/>
          <p:cNvSpPr/>
          <p:nvPr/>
        </p:nvSpPr>
        <p:spPr>
          <a:xfrm>
            <a:off x="0" y="6729984"/>
            <a:ext cx="12191695" cy="54864"/>
          </a:xfrm>
          <a:prstGeom prst="rect">
            <a:avLst/>
          </a:prstGeom>
          <a:solidFill>
            <a:srgbClr val="E22B27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8"/>
          <p:cNvSpPr/>
          <p:nvPr/>
        </p:nvSpPr>
        <p:spPr>
          <a:xfrm>
            <a:off x="411480" y="6236208"/>
            <a:ext cx="4206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SCIENTIFIC REVISION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8"/>
          <p:cNvSpPr/>
          <p:nvPr/>
        </p:nvSpPr>
        <p:spPr>
          <a:xfrm>
            <a:off x="10515600" y="6236208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STARLAB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8"/>
          <p:cNvSpPr/>
          <p:nvPr/>
        </p:nvSpPr>
        <p:spPr>
          <a:xfrm>
            <a:off x="10195560" y="384048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E22B27"/>
                </a:solidFill>
                <a:latin typeface="Arial"/>
                <a:ea typeface="Arial"/>
                <a:cs typeface="Arial"/>
                <a:sym typeface="Arial"/>
              </a:rPr>
              <a:t>DECK 15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8"/>
          <p:cNvSpPr/>
          <p:nvPr/>
        </p:nvSpPr>
        <p:spPr>
          <a:xfrm>
            <a:off x="685800" y="694944"/>
            <a:ext cx="98298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Revision Should Leave Evidence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8"/>
          <p:cNvSpPr/>
          <p:nvPr/>
        </p:nvSpPr>
        <p:spPr>
          <a:xfrm>
            <a:off x="694944" y="1271016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A stronger draft should show what changed.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5" name="Google Shape;305;p18"/>
          <p:cNvCxnSpPr/>
          <p:nvPr/>
        </p:nvCxnSpPr>
        <p:spPr>
          <a:xfrm>
            <a:off x="685800" y="1591056"/>
            <a:ext cx="10789920" cy="0"/>
          </a:xfrm>
          <a:prstGeom prst="straightConnector1">
            <a:avLst/>
          </a:prstGeom>
          <a:noFill/>
          <a:ln cap="flat" cmpd="sng" w="165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18"/>
          <p:cNvSpPr/>
          <p:nvPr/>
        </p:nvSpPr>
        <p:spPr>
          <a:xfrm>
            <a:off x="914400" y="1828800"/>
            <a:ext cx="4892040" cy="3337560"/>
          </a:xfrm>
          <a:prstGeom prst="roundRect">
            <a:avLst>
              <a:gd fmla="val 1644" name="adj"/>
            </a:avLst>
          </a:prstGeom>
          <a:solidFill>
            <a:srgbClr val="101010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8"/>
          <p:cNvSpPr/>
          <p:nvPr/>
        </p:nvSpPr>
        <p:spPr>
          <a:xfrm>
            <a:off x="1078992" y="1965960"/>
            <a:ext cx="45628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E22B27"/>
                </a:solidFill>
                <a:latin typeface="Arial"/>
                <a:ea typeface="Arial"/>
                <a:cs typeface="Arial"/>
                <a:sym typeface="Arial"/>
              </a:rPr>
              <a:t>WEAK REVISION RECORD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8"/>
          <p:cNvSpPr/>
          <p:nvPr/>
        </p:nvSpPr>
        <p:spPr>
          <a:xfrm>
            <a:off x="1078992" y="2331720"/>
            <a:ext cx="4562856" cy="2679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</a:pPr>
            <a:r>
              <a:rPr lang="en-US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“I fixed my report.”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t/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</a:pPr>
            <a:r>
              <a:rPr lang="en-US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“I made it better.”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t/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</a:pPr>
            <a:r>
              <a:rPr lang="en-US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“I changed some stuff.”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8"/>
          <p:cNvSpPr/>
          <p:nvPr/>
        </p:nvSpPr>
        <p:spPr>
          <a:xfrm>
            <a:off x="6355080" y="1828800"/>
            <a:ext cx="4892040" cy="3337560"/>
          </a:xfrm>
          <a:prstGeom prst="roundRect">
            <a:avLst>
              <a:gd fmla="val 1644" name="adj"/>
            </a:avLst>
          </a:prstGeom>
          <a:solidFill>
            <a:srgbClr val="101010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8"/>
          <p:cNvSpPr/>
          <p:nvPr/>
        </p:nvSpPr>
        <p:spPr>
          <a:xfrm>
            <a:off x="6519672" y="1965960"/>
            <a:ext cx="45628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E22B27"/>
                </a:solidFill>
                <a:latin typeface="Arial"/>
                <a:ea typeface="Arial"/>
                <a:cs typeface="Arial"/>
                <a:sym typeface="Arial"/>
              </a:rPr>
              <a:t>STRONGER REVISION RECORD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8"/>
          <p:cNvSpPr/>
          <p:nvPr/>
        </p:nvSpPr>
        <p:spPr>
          <a:xfrm>
            <a:off x="6519672" y="2331720"/>
            <a:ext cx="4562856" cy="2679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“I added two sentences to the methods section explaining the force sensor calibration.”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“I revised the discussion claim so it says ‘suggests’ instead of ‘proves.’”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cap="flat" cmpd="sng" w="12700">
            <a:solidFill>
              <a:srgbClr val="0505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9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E22B27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9"/>
          <p:cNvSpPr/>
          <p:nvPr/>
        </p:nvSpPr>
        <p:spPr>
          <a:xfrm>
            <a:off x="0" y="6729984"/>
            <a:ext cx="12191695" cy="54864"/>
          </a:xfrm>
          <a:prstGeom prst="rect">
            <a:avLst/>
          </a:prstGeom>
          <a:solidFill>
            <a:srgbClr val="E22B27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9"/>
          <p:cNvSpPr/>
          <p:nvPr/>
        </p:nvSpPr>
        <p:spPr>
          <a:xfrm>
            <a:off x="411480" y="6236208"/>
            <a:ext cx="4206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SCIENTIFIC REVISION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9"/>
          <p:cNvSpPr/>
          <p:nvPr/>
        </p:nvSpPr>
        <p:spPr>
          <a:xfrm>
            <a:off x="10515600" y="6236208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STARLAB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10195560" y="384048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E22B27"/>
                </a:solidFill>
                <a:latin typeface="Arial"/>
                <a:ea typeface="Arial"/>
                <a:cs typeface="Arial"/>
                <a:sym typeface="Arial"/>
              </a:rPr>
              <a:t>DECK 15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9"/>
          <p:cNvSpPr/>
          <p:nvPr/>
        </p:nvSpPr>
        <p:spPr>
          <a:xfrm>
            <a:off x="685800" y="694944"/>
            <a:ext cx="98298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Common High-Value Revisions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9"/>
          <p:cNvSpPr/>
          <p:nvPr/>
        </p:nvSpPr>
        <p:spPr>
          <a:xfrm>
            <a:off x="694944" y="1271016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Fix these before tiny edits.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5" name="Google Shape;325;p19"/>
          <p:cNvCxnSpPr/>
          <p:nvPr/>
        </p:nvCxnSpPr>
        <p:spPr>
          <a:xfrm>
            <a:off x="685800" y="1591056"/>
            <a:ext cx="10789920" cy="0"/>
          </a:xfrm>
          <a:prstGeom prst="straightConnector1">
            <a:avLst/>
          </a:prstGeom>
          <a:noFill/>
          <a:ln cap="flat" cmpd="sng" w="165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6" name="Google Shape;326;p19"/>
          <p:cNvSpPr/>
          <p:nvPr/>
        </p:nvSpPr>
        <p:spPr>
          <a:xfrm>
            <a:off x="914400" y="1783080"/>
            <a:ext cx="104241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the research question or engineering goal easier to find.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 missing method details that affect reproducibility or evaluation.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Support every major claim with specific evidence.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Clarify graphs, captions, units, and figure references.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Replace overclaiming with cautious scientific language.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 specific limitations and future work.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cap="flat" cmpd="sng" w="12700">
            <a:solidFill>
              <a:srgbClr val="0505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0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E22B27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0"/>
          <p:cNvSpPr/>
          <p:nvPr/>
        </p:nvSpPr>
        <p:spPr>
          <a:xfrm>
            <a:off x="0" y="6729984"/>
            <a:ext cx="12191695" cy="54864"/>
          </a:xfrm>
          <a:prstGeom prst="rect">
            <a:avLst/>
          </a:prstGeom>
          <a:solidFill>
            <a:srgbClr val="E22B27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0"/>
          <p:cNvSpPr/>
          <p:nvPr/>
        </p:nvSpPr>
        <p:spPr>
          <a:xfrm>
            <a:off x="411480" y="6236208"/>
            <a:ext cx="4206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SCIENTIFIC REVISION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0"/>
          <p:cNvSpPr/>
          <p:nvPr/>
        </p:nvSpPr>
        <p:spPr>
          <a:xfrm>
            <a:off x="10515600" y="6236208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STARLAB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0"/>
          <p:cNvSpPr/>
          <p:nvPr/>
        </p:nvSpPr>
        <p:spPr>
          <a:xfrm>
            <a:off x="10195560" y="384048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E22B27"/>
                </a:solidFill>
                <a:latin typeface="Arial"/>
                <a:ea typeface="Arial"/>
                <a:cs typeface="Arial"/>
                <a:sym typeface="Arial"/>
              </a:rPr>
              <a:t>DECK 15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0"/>
          <p:cNvSpPr/>
          <p:nvPr/>
        </p:nvSpPr>
        <p:spPr>
          <a:xfrm>
            <a:off x="685800" y="694944"/>
            <a:ext cx="98298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Teacher Conference Prompts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0"/>
          <p:cNvSpPr/>
          <p:nvPr/>
        </p:nvSpPr>
        <p:spPr>
          <a:xfrm>
            <a:off x="694944" y="1271016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Use these when students ask, “Is my report good?”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0" name="Google Shape;340;p20"/>
          <p:cNvCxnSpPr/>
          <p:nvPr/>
        </p:nvCxnSpPr>
        <p:spPr>
          <a:xfrm>
            <a:off x="685800" y="1591056"/>
            <a:ext cx="10789920" cy="0"/>
          </a:xfrm>
          <a:prstGeom prst="straightConnector1">
            <a:avLst/>
          </a:prstGeom>
          <a:noFill/>
          <a:ln cap="flat" cmpd="sng" w="165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1" name="Google Shape;341;p20"/>
          <p:cNvSpPr/>
          <p:nvPr/>
        </p:nvSpPr>
        <p:spPr>
          <a:xfrm>
            <a:off x="914400" y="1783080"/>
            <a:ext cx="104241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Where is your clearest claim, and what evidence supports it?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section would a reader find most confusing?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method detail would someone need in order to evaluate your work?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Which visual best supports your main conclusion?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limitation have you explained most clearly?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is your highest-priority revision before Draft 2?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cap="flat" cmpd="sng" w="12700">
            <a:solidFill>
              <a:srgbClr val="0505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1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E22B27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1"/>
          <p:cNvSpPr/>
          <p:nvPr/>
        </p:nvSpPr>
        <p:spPr>
          <a:xfrm>
            <a:off x="0" y="6729984"/>
            <a:ext cx="12191695" cy="54864"/>
          </a:xfrm>
          <a:prstGeom prst="rect">
            <a:avLst/>
          </a:prstGeom>
          <a:solidFill>
            <a:srgbClr val="E22B27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1"/>
          <p:cNvSpPr/>
          <p:nvPr/>
        </p:nvSpPr>
        <p:spPr>
          <a:xfrm>
            <a:off x="411480" y="6236208"/>
            <a:ext cx="4206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EXIT TICKET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1"/>
          <p:cNvSpPr/>
          <p:nvPr/>
        </p:nvSpPr>
        <p:spPr>
          <a:xfrm>
            <a:off x="10515600" y="6236208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STARLAB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1"/>
          <p:cNvSpPr/>
          <p:nvPr/>
        </p:nvSpPr>
        <p:spPr>
          <a:xfrm>
            <a:off x="10195560" y="384048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E22B27"/>
                </a:solidFill>
                <a:latin typeface="Arial"/>
                <a:ea typeface="Arial"/>
                <a:cs typeface="Arial"/>
                <a:sym typeface="Arial"/>
              </a:rPr>
              <a:t>DECK 15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1"/>
          <p:cNvSpPr/>
          <p:nvPr/>
        </p:nvSpPr>
        <p:spPr>
          <a:xfrm>
            <a:off x="685800" y="694944"/>
            <a:ext cx="98298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Exit Ticket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1"/>
          <p:cNvSpPr/>
          <p:nvPr/>
        </p:nvSpPr>
        <p:spPr>
          <a:xfrm>
            <a:off x="694944" y="1271016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Leave with one concrete revision decision.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5" name="Google Shape;355;p21"/>
          <p:cNvCxnSpPr/>
          <p:nvPr/>
        </p:nvCxnSpPr>
        <p:spPr>
          <a:xfrm>
            <a:off x="685800" y="1591056"/>
            <a:ext cx="10789920" cy="0"/>
          </a:xfrm>
          <a:prstGeom prst="straightConnector1">
            <a:avLst/>
          </a:prstGeom>
          <a:noFill/>
          <a:ln cap="flat" cmpd="sng" w="165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6" name="Google Shape;356;p21"/>
          <p:cNvSpPr/>
          <p:nvPr/>
        </p:nvSpPr>
        <p:spPr>
          <a:xfrm>
            <a:off x="1005840" y="1920240"/>
            <a:ext cx="1014984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most useful feedback I received was...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first major revision I will make is...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revision will improve the report because...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One question I still need answered is...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1"/>
          <p:cNvSpPr/>
          <p:nvPr/>
        </p:nvSpPr>
        <p:spPr>
          <a:xfrm>
            <a:off x="914400" y="5532120"/>
            <a:ext cx="10332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2100"/>
              <a:buFont typeface="Play"/>
              <a:buNone/>
            </a:pPr>
            <a:r>
              <a:rPr b="1" lang="en-US" sz="2100">
                <a:solidFill>
                  <a:srgbClr val="E22B27"/>
                </a:solidFill>
                <a:latin typeface="Play"/>
                <a:ea typeface="Play"/>
                <a:cs typeface="Play"/>
                <a:sym typeface="Play"/>
              </a:rPr>
              <a:t>Submit your peer review form and revision plan before moving into Draft 2 work time.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cap="flat" cmpd="sng" w="12700">
            <a:solidFill>
              <a:srgbClr val="0505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2"/>
          <p:cNvSpPr/>
          <p:nvPr/>
        </p:nvSpPr>
        <p:spPr>
          <a:xfrm>
            <a:off x="0" y="164592"/>
            <a:ext cx="12191695" cy="73152"/>
          </a:xfrm>
          <a:prstGeom prst="rect">
            <a:avLst/>
          </a:prstGeom>
          <a:solidFill>
            <a:srgbClr val="E22B27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2"/>
          <p:cNvSpPr/>
          <p:nvPr/>
        </p:nvSpPr>
        <p:spPr>
          <a:xfrm>
            <a:off x="0" y="6729984"/>
            <a:ext cx="12191695" cy="54864"/>
          </a:xfrm>
          <a:prstGeom prst="rect">
            <a:avLst/>
          </a:prstGeom>
          <a:solidFill>
            <a:srgbClr val="E22B27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2"/>
          <p:cNvSpPr/>
          <p:nvPr/>
        </p:nvSpPr>
        <p:spPr>
          <a:xfrm>
            <a:off x="411480" y="6236208"/>
            <a:ext cx="4206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NEXT DECK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2"/>
          <p:cNvSpPr/>
          <p:nvPr/>
        </p:nvSpPr>
        <p:spPr>
          <a:xfrm>
            <a:off x="10515600" y="6236208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STARLAB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2"/>
          <p:cNvSpPr/>
          <p:nvPr/>
        </p:nvSpPr>
        <p:spPr>
          <a:xfrm>
            <a:off x="10195560" y="384048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E22B27"/>
                </a:solidFill>
                <a:latin typeface="Arial"/>
                <a:ea typeface="Arial"/>
                <a:cs typeface="Arial"/>
                <a:sym typeface="Arial"/>
              </a:rPr>
              <a:t>DECK 15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2"/>
          <p:cNvSpPr/>
          <p:nvPr/>
        </p:nvSpPr>
        <p:spPr>
          <a:xfrm>
            <a:off x="685800" y="694944"/>
            <a:ext cx="98298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b="1" lang="en-US" sz="2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Next Deck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2"/>
          <p:cNvSpPr/>
          <p:nvPr/>
        </p:nvSpPr>
        <p:spPr>
          <a:xfrm>
            <a:off x="694944" y="1271016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Designing a Research Poster or Presentation Board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1" name="Google Shape;371;p22"/>
          <p:cNvCxnSpPr/>
          <p:nvPr/>
        </p:nvCxnSpPr>
        <p:spPr>
          <a:xfrm>
            <a:off x="685800" y="1591056"/>
            <a:ext cx="10789920" cy="0"/>
          </a:xfrm>
          <a:prstGeom prst="straightConnector1">
            <a:avLst/>
          </a:prstGeom>
          <a:noFill/>
          <a:ln cap="flat" cmpd="sng" w="165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2" name="Google Shape;372;p22"/>
          <p:cNvSpPr/>
          <p:nvPr/>
        </p:nvSpPr>
        <p:spPr>
          <a:xfrm>
            <a:off x="914400" y="1920240"/>
            <a:ext cx="10332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lang="en-US" sz="24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Once the report is clearer, students translate the research story into a public-facing visual product.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2"/>
          <p:cNvSpPr/>
          <p:nvPr/>
        </p:nvSpPr>
        <p:spPr>
          <a:xfrm>
            <a:off x="1417320" y="3063240"/>
            <a:ext cx="9326880" cy="1371600"/>
          </a:xfrm>
          <a:prstGeom prst="roundRect">
            <a:avLst>
              <a:gd fmla="val 4000" name="adj"/>
            </a:avLst>
          </a:prstGeom>
          <a:solidFill>
            <a:srgbClr val="101010"/>
          </a:solidFill>
          <a:ln cap="flat" cmpd="sng" w="12700">
            <a:solidFill>
              <a:srgbClr val="E22B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2"/>
          <p:cNvSpPr/>
          <p:nvPr/>
        </p:nvSpPr>
        <p:spPr>
          <a:xfrm>
            <a:off x="1581912" y="3200400"/>
            <a:ext cx="89976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2B27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E22B27"/>
                </a:solidFill>
                <a:latin typeface="Arial"/>
                <a:ea typeface="Arial"/>
                <a:cs typeface="Arial"/>
                <a:sym typeface="Arial"/>
              </a:rPr>
              <a:t>NEXT FOCUS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2"/>
          <p:cNvSpPr/>
          <p:nvPr/>
        </p:nvSpPr>
        <p:spPr>
          <a:xfrm>
            <a:off x="1581912" y="3566160"/>
            <a:ext cx="8997696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Visual hierarchy • readable graphs • clean layout • captions • audience-centered design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2"/>
          <p:cNvSpPr/>
          <p:nvPr/>
        </p:nvSpPr>
        <p:spPr>
          <a:xfrm>
            <a:off x="914400" y="5166360"/>
            <a:ext cx="10332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B8B8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B8B8B8"/>
                </a:solidFill>
                <a:latin typeface="Arial"/>
                <a:ea typeface="Arial"/>
                <a:cs typeface="Arial"/>
                <a:sym typeface="Arial"/>
              </a:rPr>
              <a:t>Deck 16 will help students move from written report to showcase-ready visual communication.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