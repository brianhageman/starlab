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f6a64ba2554ea4" /><Relationship Type="http://schemas.openxmlformats.org/officeDocument/2006/relationships/extended-properties" Target="/docProps/app.xml" Id="R7a8dce1fd7744ccd" /><Relationship Type="http://schemas.openxmlformats.org/officeDocument/2006/relationships/officeDocument" Target="/ppt/presentation.xml" Id="Re307518c4aba4be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0a47ef28fbf4f1a"/>
  </p:sldMasterIdLst>
  <p:notesMasterIdLst>
    <p:notesMasterId xmlns:r="http://schemas.openxmlformats.org/officeDocument/2006/relationships" r:id="Rd4b50b0e17b24439"/>
  </p:notesMasterIdLst>
  <p:sldIdLst>
    <p:sldId xmlns:r="http://schemas.openxmlformats.org/officeDocument/2006/relationships" id="256" r:id="R8783ddb53d5448e5"/>
    <p:sldId xmlns:r="http://schemas.openxmlformats.org/officeDocument/2006/relationships" id="257" r:id="Rd4c4d7082e134305"/>
    <p:sldId xmlns:r="http://schemas.openxmlformats.org/officeDocument/2006/relationships" id="258" r:id="R0ba2ecbf9dbf4ff8"/>
    <p:sldId xmlns:r="http://schemas.openxmlformats.org/officeDocument/2006/relationships" id="259" r:id="R26af8adeb693437d"/>
    <p:sldId xmlns:r="http://schemas.openxmlformats.org/officeDocument/2006/relationships" id="260" r:id="R4d9df51e7f7f486c"/>
    <p:sldId xmlns:r="http://schemas.openxmlformats.org/officeDocument/2006/relationships" id="261" r:id="R05bf0468c0dd4899"/>
    <p:sldId xmlns:r="http://schemas.openxmlformats.org/officeDocument/2006/relationships" id="262" r:id="Rb2a5acb3de25428e"/>
    <p:sldId xmlns:r="http://schemas.openxmlformats.org/officeDocument/2006/relationships" id="263" r:id="R6c706923d6b1464b"/>
    <p:sldId xmlns:r="http://schemas.openxmlformats.org/officeDocument/2006/relationships" id="264" r:id="R752a2f90ddea4122"/>
    <p:sldId xmlns:r="http://schemas.openxmlformats.org/officeDocument/2006/relationships" id="265" r:id="R5da0adac3c6e4097"/>
    <p:sldId xmlns:r="http://schemas.openxmlformats.org/officeDocument/2006/relationships" id="266" r:id="R61e08a10aa554a3a"/>
    <p:sldId xmlns:r="http://schemas.openxmlformats.org/officeDocument/2006/relationships" id="267" r:id="R7f1f29478e314efe"/>
    <p:sldId xmlns:r="http://schemas.openxmlformats.org/officeDocument/2006/relationships" id="268" r:id="R1461644009704b79"/>
    <p:sldId xmlns:r="http://schemas.openxmlformats.org/officeDocument/2006/relationships" id="269" r:id="R2a68dd2161b540ef"/>
    <p:sldId xmlns:r="http://schemas.openxmlformats.org/officeDocument/2006/relationships" id="270" r:id="Rd721f61f115f43b5"/>
    <p:sldId xmlns:r="http://schemas.openxmlformats.org/officeDocument/2006/relationships" id="271" r:id="R6c7d11a7f13641a4"/>
    <p:sldId xmlns:r="http://schemas.openxmlformats.org/officeDocument/2006/relationships" id="272" r:id="R061a2e5351054b21"/>
    <p:sldId xmlns:r="http://schemas.openxmlformats.org/officeDocument/2006/relationships" id="273" r:id="Rbe6ffb391e234aa5"/>
    <p:sldId xmlns:r="http://schemas.openxmlformats.org/officeDocument/2006/relationships" id="274" r:id="R77da7089418640fc"/>
    <p:sldId xmlns:r="http://schemas.openxmlformats.org/officeDocument/2006/relationships" id="275" r:id="Ra32326541f5042bf"/>
  </p:sldIdLst>
  <p:sldSz cx="12191675" cy="6858000"/>
  <p:notesSz cx="6858000" cy="9144000"/>
  <p:embeddedFontLst>
    <p:embeddedFont>
      <p:font typeface="Play"/>
      <p:regular xmlns:r="http://schemas.openxmlformats.org/officeDocument/2006/relationships" r:id="Rd03a56cc89db4785"/>
      <p:bold xmlns:r="http://schemas.openxmlformats.org/officeDocument/2006/relationships" r:id="Rfd1fb2ca568e4d76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18ee79f70548e1" /><Relationship Type="http://schemas.openxmlformats.org/officeDocument/2006/relationships/slideMaster" Target="/ppt/slideMasters/slideMaster1.xml" Id="Rc0a47ef28fbf4f1a" /><Relationship Type="http://schemas.openxmlformats.org/officeDocument/2006/relationships/notesMaster" Target="/ppt/notesMasters/notesMaster1.xml" Id="Rd4b50b0e17b24439" /><Relationship Type="http://schemas.openxmlformats.org/officeDocument/2006/relationships/presProps" Target="/ppt/presProps.xml" Id="Re3d5982b650b4be8" /><Relationship Type="http://schemas.openxmlformats.org/officeDocument/2006/relationships/tableStyles" Target="/ppt/tableStyles.xml" Id="R31df4b6e134944e4" /><Relationship Type="http://schemas.openxmlformats.org/officeDocument/2006/relationships/font" Target="/ppt/fonts/font.dat" Id="Rd03a56cc89db4785" /><Relationship Type="http://schemas.openxmlformats.org/officeDocument/2006/relationships/font" Target="/ppt/fonts/font2.dat" Id="Rfd1fb2ca568e4d76" /><Relationship Type="http://schemas.openxmlformats.org/officeDocument/2006/relationships/slide" Target="/ppt/slides/slide1.xml" Id="R8783ddb53d5448e5" /><Relationship Type="http://schemas.openxmlformats.org/officeDocument/2006/relationships/slide" Target="/ppt/slides/slide2.xml" Id="Rd4c4d7082e134305" /><Relationship Type="http://schemas.openxmlformats.org/officeDocument/2006/relationships/slide" Target="/ppt/slides/slide3.xml" Id="R0ba2ecbf9dbf4ff8" /><Relationship Type="http://schemas.openxmlformats.org/officeDocument/2006/relationships/slide" Target="/ppt/slides/slide4.xml" Id="R26af8adeb693437d" /><Relationship Type="http://schemas.openxmlformats.org/officeDocument/2006/relationships/slide" Target="/ppt/slides/slide5.xml" Id="R4d9df51e7f7f486c" /><Relationship Type="http://schemas.openxmlformats.org/officeDocument/2006/relationships/slide" Target="/ppt/slides/slide6.xml" Id="R05bf0468c0dd4899" /><Relationship Type="http://schemas.openxmlformats.org/officeDocument/2006/relationships/slide" Target="/ppt/slides/slide7.xml" Id="Rb2a5acb3de25428e" /><Relationship Type="http://schemas.openxmlformats.org/officeDocument/2006/relationships/slide" Target="/ppt/slides/slide8.xml" Id="R6c706923d6b1464b" /><Relationship Type="http://schemas.openxmlformats.org/officeDocument/2006/relationships/slide" Target="/ppt/slides/slide9.xml" Id="R752a2f90ddea4122" /><Relationship Type="http://schemas.openxmlformats.org/officeDocument/2006/relationships/slide" Target="/ppt/slides/slide10.xml" Id="R5da0adac3c6e4097" /><Relationship Type="http://schemas.openxmlformats.org/officeDocument/2006/relationships/slide" Target="/ppt/slides/slide11.xml" Id="R61e08a10aa554a3a" /><Relationship Type="http://schemas.openxmlformats.org/officeDocument/2006/relationships/slide" Target="/ppt/slides/slide12.xml" Id="R7f1f29478e314efe" /><Relationship Type="http://schemas.openxmlformats.org/officeDocument/2006/relationships/slide" Target="/ppt/slides/slide13.xml" Id="R1461644009704b79" /><Relationship Type="http://schemas.openxmlformats.org/officeDocument/2006/relationships/slide" Target="/ppt/slides/slide14.xml" Id="R2a68dd2161b540ef" /><Relationship Type="http://schemas.openxmlformats.org/officeDocument/2006/relationships/slide" Target="/ppt/slides/slide15.xml" Id="Rd721f61f115f43b5" /><Relationship Type="http://schemas.openxmlformats.org/officeDocument/2006/relationships/slide" Target="/ppt/slides/slide16.xml" Id="R6c7d11a7f13641a4" /><Relationship Type="http://schemas.openxmlformats.org/officeDocument/2006/relationships/slide" Target="/ppt/slides/slide17.xml" Id="R061a2e5351054b21" /><Relationship Type="http://schemas.openxmlformats.org/officeDocument/2006/relationships/slide" Target="/ppt/slides/slide18.xml" Id="Rbe6ffb391e234aa5" /><Relationship Type="http://schemas.openxmlformats.org/officeDocument/2006/relationships/slide" Target="/ppt/slides/slide19.xml" Id="R77da7089418640fc" /><Relationship Type="http://schemas.openxmlformats.org/officeDocument/2006/relationships/slide" Target="/ppt/slides/slide20.xml" Id="Ra32326541f5042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3dda48bae146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06e8a4e9c44608" /><Relationship Type="http://schemas.openxmlformats.org/officeDocument/2006/relationships/notesMaster" Target="/ppt/notesMasters/notesMaster1.xml" Id="Rf7c57d81ea5648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988e3676474412" /><Relationship Type="http://schemas.openxmlformats.org/officeDocument/2006/relationships/notesMaster" Target="/ppt/notesMasters/notesMaster1.xml" Id="R76a51f8f60364e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81de8df8344c35" /><Relationship Type="http://schemas.openxmlformats.org/officeDocument/2006/relationships/notesMaster" Target="/ppt/notesMasters/notesMaster1.xml" Id="R59d709cbb58448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5646c34d894c1c" /><Relationship Type="http://schemas.openxmlformats.org/officeDocument/2006/relationships/notesMaster" Target="/ppt/notesMasters/notesMaster1.xml" Id="R0974daacba1e41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cf29c252b84aea" /><Relationship Type="http://schemas.openxmlformats.org/officeDocument/2006/relationships/notesMaster" Target="/ppt/notesMasters/notesMaster1.xml" Id="R28f86005b3bd4a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929c261450426d" /><Relationship Type="http://schemas.openxmlformats.org/officeDocument/2006/relationships/notesMaster" Target="/ppt/notesMasters/notesMaster1.xml" Id="Rd8d8bea5b334409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bcd93adbe4072" /><Relationship Type="http://schemas.openxmlformats.org/officeDocument/2006/relationships/notesMaster" Target="/ppt/notesMasters/notesMaster1.xml" Id="R177e897bed134ec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8941b44c154a2d" /><Relationship Type="http://schemas.openxmlformats.org/officeDocument/2006/relationships/notesMaster" Target="/ppt/notesMasters/notesMaster1.xml" Id="Ra18d1f2833e047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024d11bc1847e6" /><Relationship Type="http://schemas.openxmlformats.org/officeDocument/2006/relationships/notesMaster" Target="/ppt/notesMasters/notesMaster1.xml" Id="Radc1971476b84b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ccc6d00089434c" /><Relationship Type="http://schemas.openxmlformats.org/officeDocument/2006/relationships/notesMaster" Target="/ppt/notesMasters/notesMaster1.xml" Id="R0c4d8bc95cfe4b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f57451f2534dd0" /><Relationship Type="http://schemas.openxmlformats.org/officeDocument/2006/relationships/notesMaster" Target="/ppt/notesMasters/notesMaster1.xml" Id="Rac33aecce6ba4d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7c4d81f4d1473f" /><Relationship Type="http://schemas.openxmlformats.org/officeDocument/2006/relationships/notesMaster" Target="/ppt/notesMasters/notesMaster1.xml" Id="R48515e4aea9548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1be255cc5f84a63" /><Relationship Type="http://schemas.openxmlformats.org/officeDocument/2006/relationships/notesMaster" Target="/ppt/notesMasters/notesMaster1.xml" Id="Ra5585386668044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ccff26a6dc428b" /><Relationship Type="http://schemas.openxmlformats.org/officeDocument/2006/relationships/notesMaster" Target="/ppt/notesMasters/notesMaster1.xml" Id="Rcbcb3aa8c64942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a5fd78a8a0d4ae9" /><Relationship Type="http://schemas.openxmlformats.org/officeDocument/2006/relationships/notesMaster" Target="/ppt/notesMasters/notesMaster1.xml" Id="R12dfd0c98b2e4b8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2069943a884026" /><Relationship Type="http://schemas.openxmlformats.org/officeDocument/2006/relationships/notesMaster" Target="/ppt/notesMasters/notesMaster1.xml" Id="R9c59eb431fc544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855b778ac1743d4" /><Relationship Type="http://schemas.openxmlformats.org/officeDocument/2006/relationships/notesMaster" Target="/ppt/notesMasters/notesMaster1.xml" Id="R6d42a4d879174a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5e4686d9c6d461f" /><Relationship Type="http://schemas.openxmlformats.org/officeDocument/2006/relationships/notesMaster" Target="/ppt/notesMasters/notesMaster1.xml" Id="R6d3eb6ac70624e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bf9dc9def95470a" /><Relationship Type="http://schemas.openxmlformats.org/officeDocument/2006/relationships/notesMaster" Target="/ppt/notesMasters/notesMaster1.xml" Id="R4ceea04c538042c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af3be91634846f1" /><Relationship Type="http://schemas.openxmlformats.org/officeDocument/2006/relationships/notesMaster" Target="/ppt/notesMasters/notesMaster1.xml" Id="Rc0d614290bf2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PRIMARY TEACHING MOMENT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Unit 5, Week 27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REQUIRED WEEK 27 MATERIALS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5 Student Handouts 8-9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5 Appendices M-N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OPTIONAL / TEACHER REFERENCE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Unit 5 Appendices J-L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Current complete report draft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RESOURCE ALIGNMENT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after students have assembled complete drafts. This deck has no separately scheduled revisit week.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Preview the purpose of the lesson. Students should understand that peer review is not a spelling hunt or a compliment exchange. It is a structured scientific review process.</a:t>
            </a:r>
            <a:br/>
            <a:br/>
            <a:r>
              <a:t>Resource alignment:</a:t>
            </a:r>
            <a:br/>
            <a:r>
              <a:t>Use with Unit 5 Student Handout 8: Peer Review Protocol and Unit 5 Student Handout 9: Revision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Keep this student-friendly. Peer review in STARLAB is modeled after professional scientific review, but the goal is growth and clarity, not rejection.</a:t>
            </a:r>
            <a:br/>
            <a:br/>
            <a:r>
              <a:t>Resource alignment:</a:t>
            </a:r>
            <a:br/>
            <a:r>
              <a:t>Use as conceptual introduction before Unit 5 Student Handout 8: Peer Review Protocol.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slide to establish peer review norms. Students need permission to be honest and a reminder to be respectful. Feedback should target the work, not the person.</a:t>
            </a:r>
            <a:br/>
            <a:br/>
            <a:r>
              <a:t>Resource alignment:</a:t>
            </a:r>
            <a:br/>
            <a:r>
              <a:t>Reference Unit 5 Appendix M: Peer Review Sentence Stems. This slide also supports the classroom norms for Unit 5 critique culture.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Have students repeat the four words if helpful. The feedback must be specific enough that the writer knows what to revise.</a:t>
            </a:r>
            <a:br/>
            <a:br/>
            <a:r>
              <a:t>Resource alignment:</a:t>
            </a:r>
            <a:br/>
            <a:r>
              <a:t>Reference Unit 5 Appendix M: Peer Review Sentence Stems. Use before students begin Unit 5 Student Handout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Ask students what makes the stronger feedback more useful. They should notice that it names the problem and often suggests the next revision.</a:t>
            </a:r>
            <a:br/>
            <a:br/>
            <a:r>
              <a:t>Resource alignment:</a:t>
            </a:r>
            <a:br/>
            <a:r>
              <a:t>Reference Unit 5 Appendix M: Peer Review Sentence Stems. Use as a model before students write comments on Unit 5 Student Handout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Explain that one rushed review is rarely enough. These three lenses match the peer review protocol and help students focus rather than trying to fix everything at once.</a:t>
            </a:r>
            <a:br/>
            <a:br/>
            <a:r>
              <a:t>Resource alignment:</a:t>
            </a:r>
            <a:br/>
            <a:r>
              <a:t>Use with Unit 5 Student Handout 8: Peer Review Protocol, Rounds 1–3.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round should focus on organization and clarity, not grammar. Students should mark confusing sections and explain what information they needed.</a:t>
            </a:r>
            <a:br/>
            <a:br/>
            <a:r>
              <a:t>Resource alignment:</a:t>
            </a:r>
            <a:br/>
            <a:r>
              <a:t>Use Unit 5 Student Handout 8: Peer Review Protocol, Round 1. Optional reference: Unit 5 Appendix A: Scientific Report Section Guide or Appendix J: Full Report Checklist.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the most important scientific review round. Encourage students to point to exact claims and exact evidence. A claim without evidence needs revision.</a:t>
            </a:r>
            <a:br/>
            <a:br/>
            <a:r>
              <a:t>Resource alignment:</a:t>
            </a:r>
            <a:br/>
            <a:r>
              <a:t>Use Unit 5 Student Handout 8: Peer Review Protocol, Round 2. Reference Unit 5 Appendix H: Claim-Evidence-Reasoning Guide, Appendix I: Limitations and Error Analysis Guide, and Appendix N: Scientific Report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where grammar and polish matter, but students should still connect comments to readability and professionalism. Visuals should be checked for accuracy, not just appearance.</a:t>
            </a:r>
            <a:br/>
            <a:br/>
            <a:r>
              <a:t>Resource alignment:</a:t>
            </a:r>
            <a:br/>
            <a:r>
              <a:t>Use Unit 5 Student Handout 8: Peer Review Protocol, Round 3. Reference Unit 5 Appendix F: Graphing Standards, Appendix G: Figure and Table Caption Guide, Appendix J: Full Report Checklist, and Appendix K: Report Formatting Guide as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preparation step makes peer review more focused. Students should not hand over an unmarked document and hope for useful feedback.</a:t>
            </a:r>
            <a:br/>
            <a:br/>
            <a:r>
              <a:t>Resource alignment:</a:t>
            </a:r>
            <a:br/>
            <a:r>
              <a:t>Use before Unit 5 Student Handout 8: Peer Review Protocol. Optional support: Unit 5 Appendix J: Full Report Checklist.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Keep students on task by assigning the lens: Round 1, Round 2, or Round 3. If time is short, have each pair complete one lens rather than rushing all three.</a:t>
            </a:r>
            <a:br/>
            <a:br/>
            <a:r>
              <a:t>Resource alignment:</a:t>
            </a:r>
            <a:br/>
            <a:r>
              <a:t>Use Unit 5 Student Handout 8: Peer Review Protocol. Reference Unit 5 Appendix M: Peer Review Sentence Stems.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Students often fix small grammar issues while ignoring major scientific problems. Require them to prioritize larger revisions before polish.</a:t>
            </a:r>
            <a:br/>
            <a:br/>
            <a:r>
              <a:t>Resource alignment:</a:t>
            </a:r>
            <a:br/>
            <a:r>
              <a:t>Use with Unit 5 Student Handout 9: Revision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supports students who feel overwhelmed by conflicting peer comments. They should learn to evaluate feedback, not obey or ignore all of it.</a:t>
            </a:r>
            <a:br/>
            <a:br/>
            <a:r>
              <a:t>Resource alignment:</a:t>
            </a:r>
            <a:br/>
            <a:r>
              <a:t>Use with Unit 5 Student Handout 9: Revision Plan, especially the section about feedback the writer will not use and why.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is the main accountability product after peer review. Students should leave with a plan that names specific changes, not vague goals like “fix my paper.”</a:t>
            </a:r>
            <a:br/>
            <a:br/>
            <a:r>
              <a:t>Resource alignment:</a:t>
            </a:r>
            <a:br/>
            <a:r>
              <a:t>Use Unit 5 Student Handout 9: Revision Plan. Reference Unit 5 Appendix N: Scientific Report Rubric for prioritizing revision categories.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Revision evidence is useful for grading and for student reflection. It also reinforces that scientific writing improves through specific decisions.</a:t>
            </a:r>
            <a:br/>
            <a:br/>
            <a:r>
              <a:t>Resource alignment:</a:t>
            </a:r>
            <a:br/>
            <a:r>
              <a:t>Use with Unit 5 Student Handout 9: Revision Plan, Part E: Revision Reflection. Optional support: Unit 5 Appendix N: Scientific Report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Use this slide to steer students toward meaningful revision. If they only fix commas while the methods are vague or the discussion overclaims, the report has not truly improved.</a:t>
            </a:r>
            <a:br/>
            <a:br/>
            <a:r>
              <a:t>Resource alignment:</a:t>
            </a:r>
            <a:br/>
            <a:r>
              <a:t>Reference Unit 5 Appendix J: Full Report Checklist and Appendix N: Scientific Report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This slide is teacher-facing but useful for transparency. Use these questions during writing conferences instead of giving a generic yes/no approval.</a:t>
            </a:r>
            <a:br/>
            <a:br/>
            <a:r>
              <a:t>Resource alignment:</a:t>
            </a:r>
            <a:br/>
            <a:r>
              <a:t>Use during Unit 5 Week 27 conferences. Supports Unit 5 Student Handout 9: Revision Plan and Unit 5 Appendix N: Scientific Report Rubric.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Collect this exit ticket or have students complete it at the bottom of the Revision Plan. Use responses to decide who needs a writing conference before Draft 2.</a:t>
            </a:r>
            <a:br/>
            <a:br/>
            <a:r>
              <a:t>Resource alignment:</a:t>
            </a:r>
            <a:br/>
            <a:r>
              <a:t>Use after Unit 5 Student Handout 8: Peer Review Protocol and Unit 5 Student Handout 9: Revision Plan. Next deck connection: Deck 16: Designing a Research Poster or Presentation 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Teacher notes:</a:t>
            </a:r>
            <a:br/>
            <a:r>
              <a:t>Close by naming the transition. Peer review strengthens the written report; the next step is making the same research story clear in a visual format for an audience.</a:t>
            </a:r>
            <a:br/>
            <a:br/>
            <a:r>
              <a:t>Resource alignment:</a:t>
            </a:r>
            <a:br/>
            <a:r>
              <a:t>Next deck connection: Deck 16: Designing a Research Poster or Presentation Board. This leads into Unit 5 Week 28 presentation design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945d7eb1c3450c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f0d24567d245f9" /><Relationship Type="http://schemas.openxmlformats.org/officeDocument/2006/relationships/slideLayout" Target="/ppt/slideLayouts/slideLayout1.xml" Id="R56edc1171712476b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edc1171712476b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c019decc74e94" /><Relationship Type="http://schemas.openxmlformats.org/officeDocument/2006/relationships/image" Target="/ppt/media/image.png" Id="Re530ce824d2e4916" /><Relationship Type="http://schemas.openxmlformats.org/officeDocument/2006/relationships/notesSlide" Target="/ppt/notesSlides/notesSlide1.xml" Id="R99749dcdb99743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4723861644e87" /><Relationship Type="http://schemas.openxmlformats.org/officeDocument/2006/relationships/notesSlide" Target="/ppt/notesSlides/notesSlide2.xml" Id="R0e824222827e4f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5c45d00784f3e" /><Relationship Type="http://schemas.openxmlformats.org/officeDocument/2006/relationships/notesSlide" Target="/ppt/notesSlides/notesSlide3.xml" Id="Rdda3c1d0bc034a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caea76d2c448f" /><Relationship Type="http://schemas.openxmlformats.org/officeDocument/2006/relationships/notesSlide" Target="/ppt/notesSlides/notesSlide4.xml" Id="R6986a4a9f3184f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2c7042b5a42b4" /><Relationship Type="http://schemas.openxmlformats.org/officeDocument/2006/relationships/notesSlide" Target="/ppt/notesSlides/notesSlide5.xml" Id="R4c6a66c6e0974e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15036f0c846bc" /><Relationship Type="http://schemas.openxmlformats.org/officeDocument/2006/relationships/notesSlide" Target="/ppt/notesSlides/notesSlide6.xml" Id="Rac0cdbc40cba43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d853b014a4de6" /><Relationship Type="http://schemas.openxmlformats.org/officeDocument/2006/relationships/notesSlide" Target="/ppt/notesSlides/notesSlide7.xml" Id="R4b2e3271ed524d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8399a8ba843f7" /><Relationship Type="http://schemas.openxmlformats.org/officeDocument/2006/relationships/notesSlide" Target="/ppt/notesSlides/notesSlide8.xml" Id="Rf628308b93594a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ee7a42b044225" /><Relationship Type="http://schemas.openxmlformats.org/officeDocument/2006/relationships/notesSlide" Target="/ppt/notesSlides/notesSlide9.xml" Id="Rb29c00b4553946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6121bc34a442f" /><Relationship Type="http://schemas.openxmlformats.org/officeDocument/2006/relationships/notesSlide" Target="/ppt/notesSlides/notesSlide10.xml" Id="R527fc41ce40642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562a093fd4c9d" /><Relationship Type="http://schemas.openxmlformats.org/officeDocument/2006/relationships/notesSlide" Target="/ppt/notesSlides/notesSlide11.xml" Id="R1d45600cd82947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f5bb9b5d84309" /><Relationship Type="http://schemas.openxmlformats.org/officeDocument/2006/relationships/notesSlide" Target="/ppt/notesSlides/notesSlide12.xml" Id="Rcee3bf62afeb43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59887eb144d4f" /><Relationship Type="http://schemas.openxmlformats.org/officeDocument/2006/relationships/notesSlide" Target="/ppt/notesSlides/notesSlide13.xml" Id="R26d47640797340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a649e68014db0" /><Relationship Type="http://schemas.openxmlformats.org/officeDocument/2006/relationships/notesSlide" Target="/ppt/notesSlides/notesSlide14.xml" Id="R1cf3c69f06fa420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2c25874a7486f" /><Relationship Type="http://schemas.openxmlformats.org/officeDocument/2006/relationships/notesSlide" Target="/ppt/notesSlides/notesSlide15.xml" Id="Re7a5e35766574df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1dd54f5404f91" /><Relationship Type="http://schemas.openxmlformats.org/officeDocument/2006/relationships/notesSlide" Target="/ppt/notesSlides/notesSlide16.xml" Id="R0451300522e745b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1f604036a4fdc" /><Relationship Type="http://schemas.openxmlformats.org/officeDocument/2006/relationships/notesSlide" Target="/ppt/notesSlides/notesSlide17.xml" Id="R6bd33657bd62410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6bb9fad69404e" /><Relationship Type="http://schemas.openxmlformats.org/officeDocument/2006/relationships/notesSlide" Target="/ppt/notesSlides/notesSlide18.xml" Id="Rd50458f8200c413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a3f2cb5074fe6" /><Relationship Type="http://schemas.openxmlformats.org/officeDocument/2006/relationships/notesSlide" Target="/ppt/notesSlides/notesSlide19.xml" Id="R72e5d2f9b89a421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f138648e31454b" /><Relationship Type="http://schemas.openxmlformats.org/officeDocument/2006/relationships/notesSlide" Target="/ppt/notesSlides/notesSlide20.xml" Id="R87611dce549e40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899B1D1C-0755-4C3B-8E73-DBFFE98F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A819F24B-EFEA-41AD-8508-62B70B8F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9456"/>
            <a:ext cx="12191695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45EB0FED-CAA2-4D57-A7CE-CF52AF82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65392"/>
            <a:ext cx="12191695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8" name="Google Shape;19;p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30ce824d2e49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74520" y="530352"/>
            <a:ext cx="8321040" cy="41696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CF2B2F34-5089-477B-A9B6-B91D3CE1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029200"/>
            <a:ext cx="102870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0"/>
            </a:srgbClr>
          </a:solidFill>
          <a:ln xmlns:a="http://schemas.openxmlformats.org/drawingml/2006/main" w="15225" cmpd="sng">
            <a:solidFill>
              <a:srgbClr val="B8B8B8">
                <a:alpha val="8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2F5CBFE7-43B7-4EE5-A63A-313ABB88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157216"/>
            <a:ext cx="1014984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Play"/>
              <a:buNone/>
            </a:pPr>
            <a:r>
              <a:rPr sz="2500" b="1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PEER REVIEW</a:t>
            </a: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7D08C1EF-0774-4B1F-AEF7-2F9E6269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513832"/>
            <a:ext cx="731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700"/>
              <a:buFont typeface="Play"/>
              <a:buNone/>
            </a:pPr>
            <a:r>
              <a:rPr sz="1700" b="1" i="0" u="none" cap="none">
                <a:solidFill>
                  <a:srgbClr val="E22B27"/>
                </a:solidFill>
                <a:latin typeface="Play"/>
                <a:ea typeface="Play"/>
                <a:cs typeface="Play"/>
              </a:rPr>
              <a:t>Scientific Revision and Feedback</a:t>
            </a: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D541D508-3346-493E-B2DD-544F9501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5934456"/>
            <a:ext cx="713232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 Deck 15  •  Unit 5 Core Instruction</a:t>
            </a:r>
          </a:p>
        </p:txBody>
      </p:sp>
    </p:spTree>
    <p:extLst>
      <p:ext uri="{BB962C8B-B14F-4D97-AF65-F5344CB8AC3E}">
        <p14:creationId xmlns:p14="http://schemas.microsoft.com/office/powerpoint/2010/main" val="970299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973931B3-9923-4013-8390-DC4D01AF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A5AF69AC-2184-4823-B62F-69EB08F0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" name="Google Shape;31;p4">
            <a:extLst xmlns:a="http://schemas.openxmlformats.org/drawingml/2006/main">
              <a:ext uri="{FF2B5EF4-FFF2-40B4-BE49-F238E27FC236}">
                <a16:creationId xmlns:a16="http://schemas.microsoft.com/office/drawing/2014/main" id="{0F51641D-0D86-42FE-8947-205A18B7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" name="Google Shape;32;p4">
            <a:extLst xmlns:a="http://schemas.openxmlformats.org/drawingml/2006/main">
              <a:ext uri="{FF2B5EF4-FFF2-40B4-BE49-F238E27FC236}">
                <a16:creationId xmlns:a16="http://schemas.microsoft.com/office/drawing/2014/main" id="{FE881778-F11E-481E-9498-C2166274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33" name="Google Shape;33;p4">
            <a:extLst xmlns:a="http://schemas.openxmlformats.org/drawingml/2006/main">
              <a:ext uri="{FF2B5EF4-FFF2-40B4-BE49-F238E27FC236}">
                <a16:creationId xmlns:a16="http://schemas.microsoft.com/office/drawing/2014/main" id="{6F65FD43-C9B6-4981-A528-CD38B67C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4" name="Google Shape;34;p4">
            <a:extLst xmlns:a="http://schemas.openxmlformats.org/drawingml/2006/main">
              <a:ext uri="{FF2B5EF4-FFF2-40B4-BE49-F238E27FC236}">
                <a16:creationId xmlns:a16="http://schemas.microsoft.com/office/drawing/2014/main" id="{2C3380B0-5EC3-4B8F-9279-37A1D757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5" name="Google Shape;35;p4">
            <a:extLst xmlns:a="http://schemas.openxmlformats.org/drawingml/2006/main">
              <a:ext uri="{FF2B5EF4-FFF2-40B4-BE49-F238E27FC236}">
                <a16:creationId xmlns:a16="http://schemas.microsoft.com/office/drawing/2014/main" id="{A545C8AD-A4CE-42EE-8FD5-D47B4ABC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Today’s Target</a:t>
            </a:r>
          </a:p>
        </p:txBody>
      </p:sp>
      <p:sp>
        <p:nvSpPr>
          <p:cNvPr id="36" name="Google Shape;36;p4">
            <a:extLst xmlns:a="http://schemas.openxmlformats.org/drawingml/2006/main">
              <a:ext uri="{FF2B5EF4-FFF2-40B4-BE49-F238E27FC236}">
                <a16:creationId xmlns:a16="http://schemas.microsoft.com/office/drawing/2014/main" id="{C98B6C7E-8568-4B9D-9A6F-231CB791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Use peer feedback to make scientific writing stronger.</a:t>
            </a:r>
          </a:p>
        </p:txBody>
      </p:sp>
      <p:cxnSp>
        <p:nvCxnSpPr>
          <p:cNvPr id="56" name="Google Shape;37;p4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" name="Google Shape;38;p4">
            <a:extLst xmlns:a="http://schemas.openxmlformats.org/drawingml/2006/main">
              <a:ext uri="{FF2B5EF4-FFF2-40B4-BE49-F238E27FC236}">
                <a16:creationId xmlns:a16="http://schemas.microsoft.com/office/drawing/2014/main" id="{D2E74E11-2584-49AA-B95C-7C7038A6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83080"/>
            <a:ext cx="3246120" cy="196596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9" name="Google Shape;39;p4">
            <a:extLst xmlns:a="http://schemas.openxmlformats.org/drawingml/2006/main">
              <a:ext uri="{FF2B5EF4-FFF2-40B4-BE49-F238E27FC236}">
                <a16:creationId xmlns:a16="http://schemas.microsoft.com/office/drawing/2014/main" id="{641A8D0D-6AB4-4639-827F-5B0023EC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2024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22B27"/>
                </a:solidFill>
                <a:latin typeface="Arial"/>
                <a:ea typeface="Arial"/>
                <a:cs typeface="Arial"/>
              </a:rPr>
              <a:t>1. REVIEW WITH PURPOSE</a:t>
            </a:r>
          </a:p>
        </p:txBody>
      </p:sp>
      <p:sp>
        <p:nvSpPr>
          <p:cNvPr id="40" name="Google Shape;40;p4">
            <a:extLst xmlns:a="http://schemas.openxmlformats.org/drawingml/2006/main">
              <a:ext uri="{FF2B5EF4-FFF2-40B4-BE49-F238E27FC236}">
                <a16:creationId xmlns:a16="http://schemas.microsoft.com/office/drawing/2014/main" id="{167D1DC3-D930-42D9-8CA7-48D1FE21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286000"/>
            <a:ext cx="2916936" cy="1307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 like a scientist: structure, evidence, accuracy, visuals, and limitations.</a:t>
            </a:r>
          </a:p>
        </p:txBody>
      </p:sp>
      <p:sp>
        <p:nvSpPr>
          <p:cNvPr id="41" name="Google Shape;41;p4">
            <a:extLst xmlns:a="http://schemas.openxmlformats.org/drawingml/2006/main">
              <a:ext uri="{FF2B5EF4-FFF2-40B4-BE49-F238E27FC236}">
                <a16:creationId xmlns:a16="http://schemas.microsoft.com/office/drawing/2014/main" id="{C59F2086-6F22-4D29-8B0E-2ECA069F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783080"/>
            <a:ext cx="3246120" cy="196596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2" name="Google Shape;42;p4">
            <a:extLst xmlns:a="http://schemas.openxmlformats.org/drawingml/2006/main">
              <a:ext uri="{FF2B5EF4-FFF2-40B4-BE49-F238E27FC236}">
                <a16:creationId xmlns:a16="http://schemas.microsoft.com/office/drawing/2014/main" id="{A9EBB716-2B15-4AD0-AC96-2C58284F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92024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22B27"/>
                </a:solidFill>
                <a:latin typeface="Arial"/>
                <a:ea typeface="Arial"/>
                <a:cs typeface="Arial"/>
              </a:rPr>
              <a:t>2. GIVE USEFUL FEEDBACK</a:t>
            </a:r>
          </a:p>
        </p:txBody>
      </p:sp>
      <p:sp>
        <p:nvSpPr>
          <p:cNvPr id="43" name="Google Shape;43;p4">
            <a:extLst xmlns:a="http://schemas.openxmlformats.org/drawingml/2006/main">
              <a:ext uri="{FF2B5EF4-FFF2-40B4-BE49-F238E27FC236}">
                <a16:creationId xmlns:a16="http://schemas.microsoft.com/office/drawing/2014/main" id="{00A056B4-AED9-4D2A-BEF7-5609B5D3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286000"/>
            <a:ext cx="2916936" cy="1307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 comments that are specific, kind, honest, and revision-ready.</a:t>
            </a:r>
          </a:p>
        </p:txBody>
      </p:sp>
      <p:sp>
        <p:nvSpPr>
          <p:cNvPr id="44" name="Google Shape;44;p4">
            <a:extLst xmlns:a="http://schemas.openxmlformats.org/drawingml/2006/main">
              <a:ext uri="{FF2B5EF4-FFF2-40B4-BE49-F238E27FC236}">
                <a16:creationId xmlns:a16="http://schemas.microsoft.com/office/drawing/2014/main" id="{C8E2B758-0EAB-4F0F-96E5-AA00C015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783080"/>
            <a:ext cx="3246120" cy="196596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5" name="Google Shape;45;p4">
            <a:extLst xmlns:a="http://schemas.openxmlformats.org/drawingml/2006/main">
              <a:ext uri="{FF2B5EF4-FFF2-40B4-BE49-F238E27FC236}">
                <a16:creationId xmlns:a16="http://schemas.microsoft.com/office/drawing/2014/main" id="{08FB1F54-A02E-4028-823A-5D5ECBAC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92024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rgbClr val="E22B27"/>
                </a:solidFill>
                <a:latin typeface="Arial"/>
                <a:ea typeface="Arial"/>
                <a:cs typeface="Arial"/>
              </a:rPr>
              <a:t>3. REVISE STRATEGICALLY</a:t>
            </a:r>
          </a:p>
        </p:txBody>
      </p:sp>
      <p:sp>
        <p:nvSpPr>
          <p:cNvPr id="46" name="Google Shape;46;p4">
            <a:extLst xmlns:a="http://schemas.openxmlformats.org/drawingml/2006/main">
              <a:ext uri="{FF2B5EF4-FFF2-40B4-BE49-F238E27FC236}">
                <a16:creationId xmlns:a16="http://schemas.microsoft.com/office/drawing/2014/main" id="{8B8E892A-11A2-4D2C-90E1-44FB8BA6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286000"/>
            <a:ext cx="2916936" cy="1307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Decide which feedback to use and document how the report improved.</a:t>
            </a:r>
          </a:p>
        </p:txBody>
      </p:sp>
      <p:sp>
        <p:nvSpPr>
          <p:cNvPr id="47" name="Google Shape;47;p4">
            <a:extLst xmlns:a="http://schemas.openxmlformats.org/drawingml/2006/main">
              <a:ext uri="{FF2B5EF4-FFF2-40B4-BE49-F238E27FC236}">
                <a16:creationId xmlns:a16="http://schemas.microsoft.com/office/drawing/2014/main" id="{EF4EE388-72C7-43E4-BB56-9E9C9EC1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Play"/>
              <a:buNone/>
            </a:pPr>
            <a:r>
              <a:rPr sz="2300" b="1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By the end, every student should have peer feedback and a concrete revision plan.</a:t>
            </a:r>
          </a:p>
        </p:txBody>
      </p:sp>
    </p:spTree>
    <p:extLst>
      <p:ext uri="{BB962C8B-B14F-4D97-AF65-F5344CB8AC3E}">
        <p14:creationId xmlns:p14="http://schemas.microsoft.com/office/powerpoint/2010/main" val="7280255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5">
            <a:extLst xmlns:a="http://schemas.openxmlformats.org/drawingml/2006/main">
              <a:ext uri="{FF2B5EF4-FFF2-40B4-BE49-F238E27FC236}">
                <a16:creationId xmlns:a16="http://schemas.microsoft.com/office/drawing/2014/main" id="{3D407779-F7CF-4E3E-820E-4ADD236A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17CD8478-509E-4B69-9DA8-79DDEF6A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1C6F2686-B09D-42AD-B7F8-F9851D29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37210617-1F68-4049-800A-B22D8ADC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211EE324-ED71-4F61-ADA8-0D08EB9F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E471B583-C8E8-4AB4-90E5-4DFE473F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522FF881-5202-49A6-9E4E-62761842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Why Scientists Use Peer Review</a:t>
            </a: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FB4E1FCC-60FC-4FCD-8BA6-42147490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rgbClr val="B8B8B8"/>
                </a:solidFill>
                <a:latin typeface="Arial"/>
                <a:ea typeface="Arial"/>
                <a:cs typeface="Arial"/>
              </a:rPr>
              <a:t>Good work gets stronger when other people test it.</a:t>
            </a:r>
          </a:p>
        </p:txBody>
      </p:sp>
      <p:cxnSp>
        <p:nvCxnSpPr>
          <p:cNvPr id="73" name="Google Shape;61;p5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5">
            <a:extLst xmlns:a="http://schemas.openxmlformats.org/drawingml/2006/main">
              <a:ext uri="{FF2B5EF4-FFF2-40B4-BE49-F238E27FC236}">
                <a16:creationId xmlns:a16="http://schemas.microsoft.com/office/drawing/2014/main" id="{2C595F1A-A97C-4280-B060-C2534DA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73152" cy="1097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63" name="Google Shape;63;p5">
            <a:extLst xmlns:a="http://schemas.openxmlformats.org/drawingml/2006/main">
              <a:ext uri="{FF2B5EF4-FFF2-40B4-BE49-F238E27FC236}">
                <a16:creationId xmlns:a16="http://schemas.microsoft.com/office/drawing/2014/main" id="{97E683AD-EB56-49E5-B8C3-A4836011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5376"/>
            <a:ext cx="987552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500"/>
              <a:buFont typeface="Play"/>
              <a:buNone/>
            </a:pPr>
            <a:r>
              <a:rPr sz="2500" b="1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Peer review asks: can another reader understand, trust, and evaluate this research?</a:t>
            </a:r>
          </a:p>
        </p:txBody>
      </p:sp>
      <p:sp>
        <p:nvSpPr>
          <p:cNvPr id="64" name="Google Shape;64;p5">
            <a:extLst xmlns:a="http://schemas.openxmlformats.org/drawingml/2006/main">
              <a:ext uri="{FF2B5EF4-FFF2-40B4-BE49-F238E27FC236}">
                <a16:creationId xmlns:a16="http://schemas.microsoft.com/office/drawing/2014/main" id="{0483283D-DF52-4F1B-ADEA-FD1AD64A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46120"/>
            <a:ext cx="10149840" cy="2194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reviewer can notice missing details the writer no longer sees.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reviewer can test whether claims are actually supported by evidence.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reviewer can identify confusing methods, weak visuals, and overclaiming.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Revision turns feedback into a stronger scientific product.</a:t>
            </a:r>
          </a:p>
        </p:txBody>
      </p:sp>
    </p:spTree>
    <p:extLst>
      <p:ext uri="{BB962C8B-B14F-4D97-AF65-F5344CB8AC3E}">
        <p14:creationId xmlns:p14="http://schemas.microsoft.com/office/powerpoint/2010/main" val="1837763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E8B4AB33-0CE3-4BB4-83C2-9C068165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4ACF1948-3279-4271-BD15-1935295DF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AA698E3-F360-4FF6-9634-269AB27F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2F610D11-6E72-4B08-B1D8-2A5A4A3C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D2FB2542-2343-46C3-935E-06FC203B2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75" name="Google Shape;75;p6">
            <a:extLst xmlns:a="http://schemas.openxmlformats.org/drawingml/2006/main">
              <a:ext uri="{FF2B5EF4-FFF2-40B4-BE49-F238E27FC236}">
                <a16:creationId xmlns:a16="http://schemas.microsoft.com/office/drawing/2014/main" id="{DDB7034B-44C4-4F6F-BA95-472C2654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BE955124-C79B-42F8-AD3E-CB28DD71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Peer Review Is Not...</a:t>
            </a: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DB6809C8-3960-4871-8F4B-2DA93A69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Clear boundaries make feedback safer and more useful.</a:t>
            </a:r>
          </a:p>
        </p:txBody>
      </p:sp>
      <p:cxnSp>
        <p:nvCxnSpPr>
          <p:cNvPr id="93" name="Google Shape;78;p6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31D173BE-1FEA-4057-A2F0-8CC6FE68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4892040" cy="3429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140AF600-474B-4EF8-A668-D80177B5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96596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NOT THIS</a:t>
            </a: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291BB115-2424-4CA3-80DA-95A6E618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31720"/>
            <a:ext cx="4562856" cy="2770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popularity contest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personal judgment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grammar-only check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chance to rewrite someone’s project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quick “looks good” signature</a:t>
            </a: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756E8BA8-B954-4465-A73C-011317D1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28800"/>
            <a:ext cx="4892040" cy="3429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3" name="Google Shape;83;p6">
            <a:extLst xmlns:a="http://schemas.openxmlformats.org/drawingml/2006/main">
              <a:ext uri="{FF2B5EF4-FFF2-40B4-BE49-F238E27FC236}">
                <a16:creationId xmlns:a16="http://schemas.microsoft.com/office/drawing/2014/main" id="{12BCB0F3-F223-4654-A8AB-E975D6FA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96596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INSTEAD</a:t>
            </a:r>
          </a:p>
        </p:txBody>
      </p:sp>
      <p:sp>
        <p:nvSpPr>
          <p:cNvPr id="84" name="Google Shape;84;p6">
            <a:extLst xmlns:a="http://schemas.openxmlformats.org/drawingml/2006/main">
              <a:ext uri="{FF2B5EF4-FFF2-40B4-BE49-F238E27FC236}">
                <a16:creationId xmlns:a16="http://schemas.microsoft.com/office/drawing/2014/main" id="{16CA747C-2BB6-4FEB-8D7F-618A7F96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331720"/>
            <a:ext cx="4562856" cy="2770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structured reading of the work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search for clarity and evidence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way to find gaps before the final audience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conversation about revision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professional support system</a:t>
            </a:r>
          </a:p>
        </p:txBody>
      </p:sp>
    </p:spTree>
    <p:extLst>
      <p:ext uri="{BB962C8B-B14F-4D97-AF65-F5344CB8AC3E}">
        <p14:creationId xmlns:p14="http://schemas.microsoft.com/office/powerpoint/2010/main" val="20351095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7">
            <a:extLst xmlns:a="http://schemas.openxmlformats.org/drawingml/2006/main">
              <a:ext uri="{FF2B5EF4-FFF2-40B4-BE49-F238E27FC236}">
                <a16:creationId xmlns:a16="http://schemas.microsoft.com/office/drawing/2014/main" id="{C0E39F3D-5777-4E64-A2A7-C53F8D0A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4CA95D0B-AC1F-4DD5-9F36-66AA485D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AEF32131-37FB-4F89-93B4-B633B83C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F1597308-A7E9-4241-A7E1-80144451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94" name="Google Shape;94;p7">
            <a:extLst xmlns:a="http://schemas.openxmlformats.org/drawingml/2006/main">
              <a:ext uri="{FF2B5EF4-FFF2-40B4-BE49-F238E27FC236}">
                <a16:creationId xmlns:a16="http://schemas.microsoft.com/office/drawing/2014/main" id="{8C4FF997-6D6D-4A2B-B8C6-1B0CAB93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3901E9F4-8DAE-4403-844C-662042F5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E23E0790-839A-4559-915C-D8A0DA88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Feedback Norms</a:t>
            </a: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FA9E225E-9F4A-4DC8-818F-2DBF8F9F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Specific • kind • honest • useful</a:t>
            </a:r>
          </a:p>
        </p:txBody>
      </p:sp>
      <p:cxnSp>
        <p:nvCxnSpPr>
          <p:cNvPr id="119" name="Google Shape;98;p7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C2A0AA9A-901D-4DB4-A73D-292AED56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2560320" cy="29718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33CE785F-50B9-4F62-AC93-CF384390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65960"/>
            <a:ext cx="22311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SPECIFIC</a:t>
            </a: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327D3CE5-7225-4A79-AA15-F2EBC5AB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331720"/>
            <a:ext cx="22311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Name the exact section, sentence, graph, claim, or missing detail.</a:t>
            </a: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3055B40D-B3C1-40D7-A151-06233AC1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828800"/>
            <a:ext cx="2560320" cy="29718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80BAAB52-48B8-42E5-AB83-9233D577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472" y="1965960"/>
            <a:ext cx="22311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KIND</a:t>
            </a: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BFC8B81E-6655-4E4F-AB3B-DD5ADD1D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472" y="2331720"/>
            <a:ext cx="22311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Critique the work, not the person. Assume the writer is still improving.</a:t>
            </a:r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307F2203-1AA8-4F54-BA12-7B4C9FED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28800"/>
            <a:ext cx="2560320" cy="29718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A0AA4E2D-F25A-44EB-9291-0DAAD1A2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965960"/>
            <a:ext cx="22311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HONEST</a:t>
            </a: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88DC25F8-07D9-48BA-93B6-80097862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331720"/>
            <a:ext cx="22311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pretend unclear work is clear. Confusion is useful information.</a:t>
            </a: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B3277B51-E911-43CA-BC6A-02A988C63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828800"/>
            <a:ext cx="2240280" cy="297180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F21A3B90-7D53-4C2A-BFC1-4409BF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1965960"/>
            <a:ext cx="19110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USEFUL</a:t>
            </a: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8D3D2E09-4592-4959-B8D8-AB8C00B5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331720"/>
            <a:ext cx="191109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 feedback the author can actually act on.</a:t>
            </a:r>
          </a:p>
        </p:txBody>
      </p:sp>
    </p:spTree>
    <p:extLst>
      <p:ext uri="{BB962C8B-B14F-4D97-AF65-F5344CB8AC3E}">
        <p14:creationId xmlns:p14="http://schemas.microsoft.com/office/powerpoint/2010/main" val="5585852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8">
            <a:extLst xmlns:a="http://schemas.openxmlformats.org/drawingml/2006/main">
              <a:ext uri="{FF2B5EF4-FFF2-40B4-BE49-F238E27FC236}">
                <a16:creationId xmlns:a16="http://schemas.microsoft.com/office/drawing/2014/main" id="{513BE5AE-51A2-4F5D-A6FA-65D2032C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7" name="Google Shape;117;p8">
            <a:extLst xmlns:a="http://schemas.openxmlformats.org/drawingml/2006/main">
              <a:ext uri="{FF2B5EF4-FFF2-40B4-BE49-F238E27FC236}">
                <a16:creationId xmlns:a16="http://schemas.microsoft.com/office/drawing/2014/main" id="{A9297340-3CD0-4EBE-9C88-83945A14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8" name="Google Shape;118;p8">
            <a:extLst xmlns:a="http://schemas.openxmlformats.org/drawingml/2006/main">
              <a:ext uri="{FF2B5EF4-FFF2-40B4-BE49-F238E27FC236}">
                <a16:creationId xmlns:a16="http://schemas.microsoft.com/office/drawing/2014/main" id="{4E87884C-4A76-44E5-AF06-6E842BB3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9" name="Google Shape;119;p8">
            <a:extLst xmlns:a="http://schemas.openxmlformats.org/drawingml/2006/main">
              <a:ext uri="{FF2B5EF4-FFF2-40B4-BE49-F238E27FC236}">
                <a16:creationId xmlns:a16="http://schemas.microsoft.com/office/drawing/2014/main" id="{52700A7B-9665-4228-BB13-8DC97EC1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120" name="Google Shape;120;p8">
            <a:extLst xmlns:a="http://schemas.openxmlformats.org/drawingml/2006/main">
              <a:ext uri="{FF2B5EF4-FFF2-40B4-BE49-F238E27FC236}">
                <a16:creationId xmlns:a16="http://schemas.microsoft.com/office/drawing/2014/main" id="{FFB654A6-FA78-4B8F-A53C-AF82DA55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121" name="Google Shape;121;p8">
            <a:extLst xmlns:a="http://schemas.openxmlformats.org/drawingml/2006/main">
              <a:ext uri="{FF2B5EF4-FFF2-40B4-BE49-F238E27FC236}">
                <a16:creationId xmlns:a16="http://schemas.microsoft.com/office/drawing/2014/main" id="{5403A88D-CC99-445D-A75B-95D4BCE5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122" name="Google Shape;122;p8">
            <a:extLst xmlns:a="http://schemas.openxmlformats.org/drawingml/2006/main">
              <a:ext uri="{FF2B5EF4-FFF2-40B4-BE49-F238E27FC236}">
                <a16:creationId xmlns:a16="http://schemas.microsoft.com/office/drawing/2014/main" id="{6F09D880-3462-404E-9D2C-B95FBDA9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Weak Feedback vs. Strong Feedback</a:t>
            </a:r>
          </a:p>
        </p:txBody>
      </p:sp>
      <p:sp>
        <p:nvSpPr>
          <p:cNvPr id="123" name="Google Shape;123;p8">
            <a:extLst xmlns:a="http://schemas.openxmlformats.org/drawingml/2006/main">
              <a:ext uri="{FF2B5EF4-FFF2-40B4-BE49-F238E27FC236}">
                <a16:creationId xmlns:a16="http://schemas.microsoft.com/office/drawing/2014/main" id="{9B072384-02BE-4CDF-9409-DD5ABC90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Useful feedback points toward a revision.</a:t>
            </a:r>
          </a:p>
        </p:txBody>
      </p:sp>
      <p:cxnSp>
        <p:nvCxnSpPr>
          <p:cNvPr id="139" name="Google Shape;124;p8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8">
            <a:extLst xmlns:a="http://schemas.openxmlformats.org/drawingml/2006/main">
              <a:ext uri="{FF2B5EF4-FFF2-40B4-BE49-F238E27FC236}">
                <a16:creationId xmlns:a16="http://schemas.microsoft.com/office/drawing/2014/main" id="{D4BFDDC1-143F-43D4-8EF6-80165677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3080"/>
            <a:ext cx="4892040" cy="3429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6" name="Google Shape;126;p8">
            <a:extLst xmlns:a="http://schemas.openxmlformats.org/drawingml/2006/main">
              <a:ext uri="{FF2B5EF4-FFF2-40B4-BE49-F238E27FC236}">
                <a16:creationId xmlns:a16="http://schemas.microsoft.com/office/drawing/2014/main" id="{723801BF-0146-4FB4-AB52-C040AD8C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92024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WEAK</a:t>
            </a:r>
          </a:p>
        </p:txBody>
      </p:sp>
      <p:sp>
        <p:nvSpPr>
          <p:cNvPr id="127" name="Google Shape;127;p8">
            <a:extLst xmlns:a="http://schemas.openxmlformats.org/drawingml/2006/main">
              <a:ext uri="{FF2B5EF4-FFF2-40B4-BE49-F238E27FC236}">
                <a16:creationId xmlns:a16="http://schemas.microsoft.com/office/drawing/2014/main" id="{C654CEDF-8158-4138-8A39-3E0F97F7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286000"/>
            <a:ext cx="4562856" cy="2770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“This is good.”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“Explain more.”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“Your graph is confusing.”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“Fix the discussion.”</a:t>
            </a:r>
          </a:p>
        </p:txBody>
      </p:sp>
      <p:sp>
        <p:nvSpPr>
          <p:cNvPr id="128" name="Google Shape;128;p8">
            <a:extLst xmlns:a="http://schemas.openxmlformats.org/drawingml/2006/main">
              <a:ext uri="{FF2B5EF4-FFF2-40B4-BE49-F238E27FC236}">
                <a16:creationId xmlns:a16="http://schemas.microsoft.com/office/drawing/2014/main" id="{2C5ED162-8F48-4B97-9C76-E85399E0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4892040" cy="34290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9" name="Google Shape;129;p8">
            <a:extLst xmlns:a="http://schemas.openxmlformats.org/drawingml/2006/main">
              <a:ext uri="{FF2B5EF4-FFF2-40B4-BE49-F238E27FC236}">
                <a16:creationId xmlns:a16="http://schemas.microsoft.com/office/drawing/2014/main" id="{8AF224D4-A477-4B69-9B93-E8ABEE2D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92024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STRONGER</a:t>
            </a:r>
          </a:p>
        </p:txBody>
      </p:sp>
      <p:sp>
        <p:nvSpPr>
          <p:cNvPr id="130" name="Google Shape;130;p8">
            <a:extLst xmlns:a="http://schemas.openxmlformats.org/drawingml/2006/main">
              <a:ext uri="{FF2B5EF4-FFF2-40B4-BE49-F238E27FC236}">
                <a16:creationId xmlns:a16="http://schemas.microsoft.com/office/drawing/2014/main" id="{6E271AC1-BC4F-4003-A88B-4EF439EA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286000"/>
            <a:ext cx="4562856" cy="2770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“The research question is clear, but the introduction needs one sentence explaining why turbidity matters.”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“The discussion claims Prototype B was best, but it needs the load-per-gram value as evidence.”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“The graph needs units on the y-axis.”</a:t>
            </a:r>
          </a:p>
        </p:txBody>
      </p:sp>
    </p:spTree>
    <p:extLst>
      <p:ext uri="{BB962C8B-B14F-4D97-AF65-F5344CB8AC3E}">
        <p14:creationId xmlns:p14="http://schemas.microsoft.com/office/powerpoint/2010/main" val="12834936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6" name="Google Shape;136;p9">
            <a:extLst xmlns:a="http://schemas.openxmlformats.org/drawingml/2006/main">
              <a:ext uri="{FF2B5EF4-FFF2-40B4-BE49-F238E27FC236}">
                <a16:creationId xmlns:a16="http://schemas.microsoft.com/office/drawing/2014/main" id="{EBE6FEF2-7961-421B-A747-5264B9F1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7" name="Google Shape;137;p9">
            <a:extLst xmlns:a="http://schemas.openxmlformats.org/drawingml/2006/main">
              <a:ext uri="{FF2B5EF4-FFF2-40B4-BE49-F238E27FC236}">
                <a16:creationId xmlns:a16="http://schemas.microsoft.com/office/drawing/2014/main" id="{5F534BDB-1B22-4792-AB0D-C1B0B866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8" name="Google Shape;138;p9">
            <a:extLst xmlns:a="http://schemas.openxmlformats.org/drawingml/2006/main">
              <a:ext uri="{FF2B5EF4-FFF2-40B4-BE49-F238E27FC236}">
                <a16:creationId xmlns:a16="http://schemas.microsoft.com/office/drawing/2014/main" id="{9BD756FD-B474-4FC6-ADE4-64909D6F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10601176-959E-4C67-8349-6C3AD9D0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669B7177-352E-4473-9C6F-B5D55BF6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4133AC54-81D5-43DB-A7D1-2D84E78B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F6C48E89-3E08-406B-98C7-552DD628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The Three Peer Review Lenses</a:t>
            </a: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2318F761-6807-4996-901E-BF35D368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Read the same report more than one way.</a:t>
            </a:r>
          </a:p>
        </p:txBody>
      </p:sp>
      <p:cxnSp>
        <p:nvCxnSpPr>
          <p:cNvPr id="162" name="Google Shape;144;p9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F521AFB9-DBED-4633-9F07-0013F1F7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324612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6" name="Google Shape;146;p9">
            <a:extLst xmlns:a="http://schemas.openxmlformats.org/drawingml/2006/main">
              <a:ext uri="{FF2B5EF4-FFF2-40B4-BE49-F238E27FC236}">
                <a16:creationId xmlns:a16="http://schemas.microsoft.com/office/drawing/2014/main" id="{8A0B6038-B2D5-4B6F-8CF1-F2E08D3E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196596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ROUND 1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STRUCTURE + CLARITY</a:t>
            </a:r>
          </a:p>
        </p:txBody>
      </p:sp>
      <p:sp>
        <p:nvSpPr>
          <p:cNvPr id="147" name="Google Shape;147;p9">
            <a:extLst xmlns:a="http://schemas.openxmlformats.org/drawingml/2006/main">
              <a:ext uri="{FF2B5EF4-FFF2-40B4-BE49-F238E27FC236}">
                <a16:creationId xmlns:a16="http://schemas.microsoft.com/office/drawing/2014/main" id="{37D5C622-86E5-4895-9173-A14EC835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331720"/>
            <a:ext cx="29169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Can the reader follow the scientific story?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Is each section doing its job?</a:t>
            </a:r>
          </a:p>
        </p:txBody>
      </p:sp>
      <p:sp>
        <p:nvSpPr>
          <p:cNvPr id="148" name="Google Shape;148;p9">
            <a:extLst xmlns:a="http://schemas.openxmlformats.org/drawingml/2006/main">
              <a:ext uri="{FF2B5EF4-FFF2-40B4-BE49-F238E27FC236}">
                <a16:creationId xmlns:a16="http://schemas.microsoft.com/office/drawing/2014/main" id="{AFCF6F77-9CD4-4A03-885C-8FEA9653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28800"/>
            <a:ext cx="324612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49" name="Google Shape;149;p9">
            <a:extLst xmlns:a="http://schemas.openxmlformats.org/drawingml/2006/main">
              <a:ext uri="{FF2B5EF4-FFF2-40B4-BE49-F238E27FC236}">
                <a16:creationId xmlns:a16="http://schemas.microsoft.com/office/drawing/2014/main" id="{8B51BEAA-94A4-41BA-BD28-E6220453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96596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ROUND 2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ACCURACY + EVIDENCE</a:t>
            </a: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A4320D2E-C960-4568-9E53-01DBDCB9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331720"/>
            <a:ext cx="29169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claims supported by data?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methods, results, and limitations scientifically honest?</a:t>
            </a:r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6D920ADD-275E-4C31-8848-375DAA84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828800"/>
            <a:ext cx="324612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36A7F226-7CA2-4719-86F5-DF2DBEAD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965960"/>
            <a:ext cx="291693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ROUND 3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VISUALS + POLISH</a:t>
            </a: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CAAE80CD-678D-4826-893A-657338E5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331720"/>
            <a:ext cx="291693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graphs, captions, headings, and professional style ready for an audience?</a:t>
            </a:r>
          </a:p>
        </p:txBody>
      </p:sp>
    </p:spTree>
    <p:extLst>
      <p:ext uri="{BB962C8B-B14F-4D97-AF65-F5344CB8AC3E}">
        <p14:creationId xmlns:p14="http://schemas.microsoft.com/office/powerpoint/2010/main" val="2298300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9" name="Google Shape;159;p10">
            <a:extLst xmlns:a="http://schemas.openxmlformats.org/drawingml/2006/main">
              <a:ext uri="{FF2B5EF4-FFF2-40B4-BE49-F238E27FC236}">
                <a16:creationId xmlns:a16="http://schemas.microsoft.com/office/drawing/2014/main" id="{EDEA625D-1E98-4960-B8B1-186E2C62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0" name="Google Shape;160;p10">
            <a:extLst xmlns:a="http://schemas.openxmlformats.org/drawingml/2006/main">
              <a:ext uri="{FF2B5EF4-FFF2-40B4-BE49-F238E27FC236}">
                <a16:creationId xmlns:a16="http://schemas.microsoft.com/office/drawing/2014/main" id="{CE6A4BEA-88C0-4A43-A8E7-88A510EE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1" name="Google Shape;161;p10">
            <a:extLst xmlns:a="http://schemas.openxmlformats.org/drawingml/2006/main">
              <a:ext uri="{FF2B5EF4-FFF2-40B4-BE49-F238E27FC236}">
                <a16:creationId xmlns:a16="http://schemas.microsoft.com/office/drawing/2014/main" id="{69FD3C2A-F9F8-4587-A4AE-B7ACC4F2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2" name="Google Shape;162;p10">
            <a:extLst xmlns:a="http://schemas.openxmlformats.org/drawingml/2006/main">
              <a:ext uri="{FF2B5EF4-FFF2-40B4-BE49-F238E27FC236}">
                <a16:creationId xmlns:a16="http://schemas.microsoft.com/office/drawing/2014/main" id="{D3490CAC-2AE3-4F5F-9EF3-69C2066C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163" name="Google Shape;163;p10">
            <a:extLst xmlns:a="http://schemas.openxmlformats.org/drawingml/2006/main">
              <a:ext uri="{FF2B5EF4-FFF2-40B4-BE49-F238E27FC236}">
                <a16:creationId xmlns:a16="http://schemas.microsoft.com/office/drawing/2014/main" id="{02FBAD86-93CC-4DDD-800B-DA71B646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164" name="Google Shape;164;p10">
            <a:extLst xmlns:a="http://schemas.openxmlformats.org/drawingml/2006/main">
              <a:ext uri="{FF2B5EF4-FFF2-40B4-BE49-F238E27FC236}">
                <a16:creationId xmlns:a16="http://schemas.microsoft.com/office/drawing/2014/main" id="{4ECC3DAA-2AA6-48E9-9326-733C8CB30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165" name="Google Shape;165;p10">
            <a:extLst xmlns:a="http://schemas.openxmlformats.org/drawingml/2006/main">
              <a:ext uri="{FF2B5EF4-FFF2-40B4-BE49-F238E27FC236}">
                <a16:creationId xmlns:a16="http://schemas.microsoft.com/office/drawing/2014/main" id="{49B0553F-4002-4420-B911-34FED527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Round 1: Structure and Clarity</a:t>
            </a:r>
          </a:p>
        </p:txBody>
      </p:sp>
      <p:sp>
        <p:nvSpPr>
          <p:cNvPr id="166" name="Google Shape;166;p10">
            <a:extLst xmlns:a="http://schemas.openxmlformats.org/drawingml/2006/main">
              <a:ext uri="{FF2B5EF4-FFF2-40B4-BE49-F238E27FC236}">
                <a16:creationId xmlns:a16="http://schemas.microsoft.com/office/drawing/2014/main" id="{4092C773-B00A-4C0D-8FC1-57C10754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Can the reader follow the report?</a:t>
            </a:r>
          </a:p>
        </p:txBody>
      </p:sp>
      <p:cxnSp>
        <p:nvCxnSpPr>
          <p:cNvPr id="178" name="Google Shape;167;p10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8" name="Google Shape;168;p10">
            <a:extLst xmlns:a="http://schemas.openxmlformats.org/drawingml/2006/main">
              <a:ext uri="{FF2B5EF4-FFF2-40B4-BE49-F238E27FC236}">
                <a16:creationId xmlns:a16="http://schemas.microsoft.com/office/drawing/2014/main" id="{FCB2C2D0-7CBA-4F7A-AC7C-8EE588AD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0424160" cy="329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Is the research question or engineering goal easy to find?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Does each section serve its purpose?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Does the report flow logically from problem → method → evidence → interpretation?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does the reader get lost?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should be moved, added, removed, or clarified?</a:t>
            </a:r>
          </a:p>
        </p:txBody>
      </p:sp>
      <p:sp>
        <p:nvSpPr>
          <p:cNvPr id="169" name="Google Shape;169;p10">
            <a:extLst xmlns:a="http://schemas.openxmlformats.org/drawingml/2006/main">
              <a:ext uri="{FF2B5EF4-FFF2-40B4-BE49-F238E27FC236}">
                <a16:creationId xmlns:a16="http://schemas.microsoft.com/office/drawing/2014/main" id="{782ACE3B-43A8-463E-86AE-5F689121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2200"/>
              <a:buFont typeface="Play"/>
              <a:buNone/>
            </a:pPr>
            <a:r>
              <a:rPr sz="2200" b="1">
                <a:solidFill>
                  <a:srgbClr val="E22B27"/>
                </a:solidFill>
                <a:latin typeface="Play"/>
                <a:ea typeface="Play"/>
                <a:cs typeface="Play"/>
              </a:rPr>
              <a:t>Reviewer goal: help the writer make the scientific story easier to follow.</a:t>
            </a:r>
          </a:p>
        </p:txBody>
      </p:sp>
    </p:spTree>
    <p:extLst>
      <p:ext uri="{BB962C8B-B14F-4D97-AF65-F5344CB8AC3E}">
        <p14:creationId xmlns:p14="http://schemas.microsoft.com/office/powerpoint/2010/main" val="3492563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Google Shape;175;p11">
            <a:extLst xmlns:a="http://schemas.openxmlformats.org/drawingml/2006/main">
              <a:ext uri="{FF2B5EF4-FFF2-40B4-BE49-F238E27FC236}">
                <a16:creationId xmlns:a16="http://schemas.microsoft.com/office/drawing/2014/main" id="{4C8379B0-2B25-45B0-9529-FBD0FEAA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6" name="Google Shape;176;p11">
            <a:extLst xmlns:a="http://schemas.openxmlformats.org/drawingml/2006/main">
              <a:ext uri="{FF2B5EF4-FFF2-40B4-BE49-F238E27FC236}">
                <a16:creationId xmlns:a16="http://schemas.microsoft.com/office/drawing/2014/main" id="{F6036060-A27E-451B-A67B-B42F038B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7" name="Google Shape;177;p11">
            <a:extLst xmlns:a="http://schemas.openxmlformats.org/drawingml/2006/main">
              <a:ext uri="{FF2B5EF4-FFF2-40B4-BE49-F238E27FC236}">
                <a16:creationId xmlns:a16="http://schemas.microsoft.com/office/drawing/2014/main" id="{391B46FB-1EF6-4E1D-9A58-33040484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78" name="Google Shape;178;p11">
            <a:extLst xmlns:a="http://schemas.openxmlformats.org/drawingml/2006/main">
              <a:ext uri="{FF2B5EF4-FFF2-40B4-BE49-F238E27FC236}">
                <a16:creationId xmlns:a16="http://schemas.microsoft.com/office/drawing/2014/main" id="{4FCD0AE2-4955-4500-8711-E125C34F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179" name="Google Shape;179;p11">
            <a:extLst xmlns:a="http://schemas.openxmlformats.org/drawingml/2006/main">
              <a:ext uri="{FF2B5EF4-FFF2-40B4-BE49-F238E27FC236}">
                <a16:creationId xmlns:a16="http://schemas.microsoft.com/office/drawing/2014/main" id="{49779E78-14F7-432B-9BA6-B9D00017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180" name="Google Shape;180;p11">
            <a:extLst xmlns:a="http://schemas.openxmlformats.org/drawingml/2006/main">
              <a:ext uri="{FF2B5EF4-FFF2-40B4-BE49-F238E27FC236}">
                <a16:creationId xmlns:a16="http://schemas.microsoft.com/office/drawing/2014/main" id="{61FD028B-7856-404D-AF9F-04B6010D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181" name="Google Shape;181;p11">
            <a:extLst xmlns:a="http://schemas.openxmlformats.org/drawingml/2006/main">
              <a:ext uri="{FF2B5EF4-FFF2-40B4-BE49-F238E27FC236}">
                <a16:creationId xmlns:a16="http://schemas.microsoft.com/office/drawing/2014/main" id="{821015C7-81BD-440A-8F80-22E49321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Round 2: Scientific Accuracy and Evidence</a:t>
            </a:r>
          </a:p>
        </p:txBody>
      </p:sp>
      <p:sp>
        <p:nvSpPr>
          <p:cNvPr id="182" name="Google Shape;182;p11">
            <a:extLst xmlns:a="http://schemas.openxmlformats.org/drawingml/2006/main">
              <a:ext uri="{FF2B5EF4-FFF2-40B4-BE49-F238E27FC236}">
                <a16:creationId xmlns:a16="http://schemas.microsoft.com/office/drawing/2014/main" id="{87FDC008-8867-4438-A470-B8998D51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Does the report support its claims?</a:t>
            </a:r>
          </a:p>
        </p:txBody>
      </p:sp>
      <p:cxnSp>
        <p:nvCxnSpPr>
          <p:cNvPr id="194" name="Google Shape;183;p11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4" name="Google Shape;184;p11">
            <a:extLst xmlns:a="http://schemas.openxmlformats.org/drawingml/2006/main">
              <a:ext uri="{FF2B5EF4-FFF2-40B4-BE49-F238E27FC236}">
                <a16:creationId xmlns:a16="http://schemas.microsoft.com/office/drawing/2014/main" id="{2381ABF1-6D51-47EB-9834-670DAB2E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0424160" cy="329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is the main claim of the report?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specific data, graph, image, calculation, or observation supports that claim?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any conclusions stronger than the evidence allows?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methods clear enough to evaluate the quality of the data?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limitations or sources of error addressed honestly?</a:t>
            </a:r>
          </a:p>
        </p:txBody>
      </p:sp>
      <p:sp>
        <p:nvSpPr>
          <p:cNvPr id="185" name="Google Shape;185;p11">
            <a:extLst xmlns:a="http://schemas.openxmlformats.org/drawingml/2006/main">
              <a:ext uri="{FF2B5EF4-FFF2-40B4-BE49-F238E27FC236}">
                <a16:creationId xmlns:a16="http://schemas.microsoft.com/office/drawing/2014/main" id="{4FC9D3D5-D7C5-4C7C-865D-C77C5AA0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2200"/>
              <a:buFont typeface="Play"/>
              <a:buNone/>
            </a:pPr>
            <a:r>
              <a:rPr sz="2200" b="1">
                <a:solidFill>
                  <a:srgbClr val="E22B27"/>
                </a:solidFill>
                <a:latin typeface="Play"/>
                <a:ea typeface="Play"/>
                <a:cs typeface="Play"/>
              </a:rPr>
              <a:t>Reviewer goal: protect the scientific credibility of the report.</a:t>
            </a:r>
          </a:p>
        </p:txBody>
      </p:sp>
    </p:spTree>
    <p:extLst>
      <p:ext uri="{BB962C8B-B14F-4D97-AF65-F5344CB8AC3E}">
        <p14:creationId xmlns:p14="http://schemas.microsoft.com/office/powerpoint/2010/main" val="2831037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1" name="Google Shape;191;p12">
            <a:extLst xmlns:a="http://schemas.openxmlformats.org/drawingml/2006/main">
              <a:ext uri="{FF2B5EF4-FFF2-40B4-BE49-F238E27FC236}">
                <a16:creationId xmlns:a16="http://schemas.microsoft.com/office/drawing/2014/main" id="{F963C3F8-EEA3-409C-B787-128548B3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2" name="Google Shape;192;p12">
            <a:extLst xmlns:a="http://schemas.openxmlformats.org/drawingml/2006/main">
              <a:ext uri="{FF2B5EF4-FFF2-40B4-BE49-F238E27FC236}">
                <a16:creationId xmlns:a16="http://schemas.microsoft.com/office/drawing/2014/main" id="{914364F9-1A1B-4C9E-BF97-19C22DCF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3" name="Google Shape;193;p12">
            <a:extLst xmlns:a="http://schemas.openxmlformats.org/drawingml/2006/main">
              <a:ext uri="{FF2B5EF4-FFF2-40B4-BE49-F238E27FC236}">
                <a16:creationId xmlns:a16="http://schemas.microsoft.com/office/drawing/2014/main" id="{39525053-821A-4319-93BB-10DD003B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4" name="Google Shape;194;p12">
            <a:extLst xmlns:a="http://schemas.openxmlformats.org/drawingml/2006/main">
              <a:ext uri="{FF2B5EF4-FFF2-40B4-BE49-F238E27FC236}">
                <a16:creationId xmlns:a16="http://schemas.microsoft.com/office/drawing/2014/main" id="{E5041D83-9E2E-40DE-B373-D904D600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195" name="Google Shape;195;p12">
            <a:extLst xmlns:a="http://schemas.openxmlformats.org/drawingml/2006/main">
              <a:ext uri="{FF2B5EF4-FFF2-40B4-BE49-F238E27FC236}">
                <a16:creationId xmlns:a16="http://schemas.microsoft.com/office/drawing/2014/main" id="{FC3B4F43-7764-4B0F-B5FF-52606D68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196" name="Google Shape;196;p12">
            <a:extLst xmlns:a="http://schemas.openxmlformats.org/drawingml/2006/main">
              <a:ext uri="{FF2B5EF4-FFF2-40B4-BE49-F238E27FC236}">
                <a16:creationId xmlns:a16="http://schemas.microsoft.com/office/drawing/2014/main" id="{48F93D96-E72E-4EFE-BC79-6C758FE0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197" name="Google Shape;197;p12">
            <a:extLst xmlns:a="http://schemas.openxmlformats.org/drawingml/2006/main">
              <a:ext uri="{FF2B5EF4-FFF2-40B4-BE49-F238E27FC236}">
                <a16:creationId xmlns:a16="http://schemas.microsoft.com/office/drawing/2014/main" id="{9F0484DF-1259-4372-969D-E21541DD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Round 3: Visuals, Style, and Professionalism</a:t>
            </a:r>
          </a:p>
        </p:txBody>
      </p:sp>
      <p:sp>
        <p:nvSpPr>
          <p:cNvPr id="198" name="Google Shape;198;p12">
            <a:extLst xmlns:a="http://schemas.openxmlformats.org/drawingml/2006/main">
              <a:ext uri="{FF2B5EF4-FFF2-40B4-BE49-F238E27FC236}">
                <a16:creationId xmlns:a16="http://schemas.microsoft.com/office/drawing/2014/main" id="{0F31DDF3-5A1C-4292-A7EA-AB9B959E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The final product should look and sound like science.</a:t>
            </a:r>
          </a:p>
        </p:txBody>
      </p:sp>
      <p:cxnSp>
        <p:nvCxnSpPr>
          <p:cNvPr id="210" name="Google Shape;199;p12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0" name="Google Shape;200;p12">
            <a:extLst xmlns:a="http://schemas.openxmlformats.org/drawingml/2006/main">
              <a:ext uri="{FF2B5EF4-FFF2-40B4-BE49-F238E27FC236}">
                <a16:creationId xmlns:a16="http://schemas.microsoft.com/office/drawing/2014/main" id="{85CD202F-5F5C-49F0-B47F-73F5E77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0424160" cy="329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graphs, tables, images, and diagrams clear and useful?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captions complete and informative?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axes, units, titles, and legends included where needed?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Is the writing professional and readable?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Are headings, formatting, figure numbers, and references consistent?</a:t>
            </a:r>
          </a:p>
        </p:txBody>
      </p:sp>
      <p:sp>
        <p:nvSpPr>
          <p:cNvPr id="201" name="Google Shape;201;p12">
            <a:extLst xmlns:a="http://schemas.openxmlformats.org/drawingml/2006/main">
              <a:ext uri="{FF2B5EF4-FFF2-40B4-BE49-F238E27FC236}">
                <a16:creationId xmlns:a16="http://schemas.microsoft.com/office/drawing/2014/main" id="{D95868E1-558E-4823-BAAC-B17E32D2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2200"/>
              <a:buFont typeface="Play"/>
              <a:buNone/>
            </a:pPr>
            <a:r>
              <a:rPr sz="2200" b="1">
                <a:solidFill>
                  <a:srgbClr val="E22B27"/>
                </a:solidFill>
                <a:latin typeface="Play"/>
                <a:ea typeface="Play"/>
                <a:cs typeface="Play"/>
              </a:rPr>
              <a:t>Reviewer goal: help the report become audience-ready.</a:t>
            </a:r>
          </a:p>
        </p:txBody>
      </p:sp>
    </p:spTree>
    <p:extLst>
      <p:ext uri="{BB962C8B-B14F-4D97-AF65-F5344CB8AC3E}">
        <p14:creationId xmlns:p14="http://schemas.microsoft.com/office/powerpoint/2010/main" val="2222036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7" name="Google Shape;207;p13">
            <a:extLst xmlns:a="http://schemas.openxmlformats.org/drawingml/2006/main">
              <a:ext uri="{FF2B5EF4-FFF2-40B4-BE49-F238E27FC236}">
                <a16:creationId xmlns:a16="http://schemas.microsoft.com/office/drawing/2014/main" id="{1FD9426A-2172-407F-996D-C599FD82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8" name="Google Shape;208;p13">
            <a:extLst xmlns:a="http://schemas.openxmlformats.org/drawingml/2006/main">
              <a:ext uri="{FF2B5EF4-FFF2-40B4-BE49-F238E27FC236}">
                <a16:creationId xmlns:a16="http://schemas.microsoft.com/office/drawing/2014/main" id="{A1DFC6EC-D353-45D2-A093-F29DB3E5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09" name="Google Shape;209;p13">
            <a:extLst xmlns:a="http://schemas.openxmlformats.org/drawingml/2006/main">
              <a:ext uri="{FF2B5EF4-FFF2-40B4-BE49-F238E27FC236}">
                <a16:creationId xmlns:a16="http://schemas.microsoft.com/office/drawing/2014/main" id="{B108B76A-6C9D-460B-9D2C-4F3A7B91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0" name="Google Shape;210;p13">
            <a:extLst xmlns:a="http://schemas.openxmlformats.org/drawingml/2006/main">
              <a:ext uri="{FF2B5EF4-FFF2-40B4-BE49-F238E27FC236}">
                <a16:creationId xmlns:a16="http://schemas.microsoft.com/office/drawing/2014/main" id="{A3E8F6EA-0DE0-4222-AB4E-DE327E1D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11" name="Google Shape;211;p13">
            <a:extLst xmlns:a="http://schemas.openxmlformats.org/drawingml/2006/main">
              <a:ext uri="{FF2B5EF4-FFF2-40B4-BE49-F238E27FC236}">
                <a16:creationId xmlns:a16="http://schemas.microsoft.com/office/drawing/2014/main" id="{9D558DE9-06BB-473F-A322-8953709A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212" name="Google Shape;212;p13">
            <a:extLst xmlns:a="http://schemas.openxmlformats.org/drawingml/2006/main">
              <a:ext uri="{FF2B5EF4-FFF2-40B4-BE49-F238E27FC236}">
                <a16:creationId xmlns:a16="http://schemas.microsoft.com/office/drawing/2014/main" id="{73EE9F1D-5EE4-4670-90D2-9EEE6631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213" name="Google Shape;213;p13">
            <a:extLst xmlns:a="http://schemas.openxmlformats.org/drawingml/2006/main">
              <a:ext uri="{FF2B5EF4-FFF2-40B4-BE49-F238E27FC236}">
                <a16:creationId xmlns:a16="http://schemas.microsoft.com/office/drawing/2014/main" id="{66C52589-7598-49EC-8696-D0A7F2AD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Activity 1: Prepare Your Draft for Review</a:t>
            </a:r>
          </a:p>
        </p:txBody>
      </p:sp>
      <p:sp>
        <p:nvSpPr>
          <p:cNvPr id="214" name="Google Shape;214;p13">
            <a:extLst xmlns:a="http://schemas.openxmlformats.org/drawingml/2006/main">
              <a:ext uri="{FF2B5EF4-FFF2-40B4-BE49-F238E27FC236}">
                <a16:creationId xmlns:a16="http://schemas.microsoft.com/office/drawing/2014/main" id="{2956C16F-2016-46FB-9FD6-1A8D8D48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6 minutes • Unit 5 Week 27</a:t>
            </a:r>
          </a:p>
        </p:txBody>
      </p:sp>
      <p:cxnSp>
        <p:nvCxnSpPr>
          <p:cNvPr id="227" name="Google Shape;215;p13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6" name="Google Shape;216;p13">
            <a:extLst xmlns:a="http://schemas.openxmlformats.org/drawingml/2006/main">
              <a:ext uri="{FF2B5EF4-FFF2-40B4-BE49-F238E27FC236}">
                <a16:creationId xmlns:a16="http://schemas.microsoft.com/office/drawing/2014/main" id="{BC0B1ECE-26EB-4056-AD7B-8064ACD6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83080"/>
            <a:ext cx="187452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17" name="Google Shape;217;p13">
            <a:extLst xmlns:a="http://schemas.openxmlformats.org/drawingml/2006/main">
              <a:ext uri="{FF2B5EF4-FFF2-40B4-BE49-F238E27FC236}">
                <a16:creationId xmlns:a16="http://schemas.microsoft.com/office/drawing/2014/main" id="{4D5ACD18-0168-484C-BD03-827ADDBC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65376"/>
            <a:ext cx="16916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18" name="Google Shape;218;p13">
            <a:extLst xmlns:a="http://schemas.openxmlformats.org/drawingml/2006/main">
              <a:ext uri="{FF2B5EF4-FFF2-40B4-BE49-F238E27FC236}">
                <a16:creationId xmlns:a16="http://schemas.microsoft.com/office/drawing/2014/main" id="{5498F3A3-6275-4F8E-B8ED-6EB9D3D9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10332720" cy="3474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 or print your current full report draft.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Highlight your research question or engineering goal.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 your most important graph, table, image, or result.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Star the claim you most want your reviewer to check.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 one question you want your reviewer to answer.</a:t>
            </a:r>
          </a:p>
        </p:txBody>
      </p:sp>
    </p:spTree>
    <p:extLst>
      <p:ext uri="{BB962C8B-B14F-4D97-AF65-F5344CB8AC3E}">
        <p14:creationId xmlns:p14="http://schemas.microsoft.com/office/powerpoint/2010/main" val="20287781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Google Shape;224;p14">
            <a:extLst xmlns:a="http://schemas.openxmlformats.org/drawingml/2006/main">
              <a:ext uri="{FF2B5EF4-FFF2-40B4-BE49-F238E27FC236}">
                <a16:creationId xmlns:a16="http://schemas.microsoft.com/office/drawing/2014/main" id="{40B3E95C-5FCC-4926-A3AB-E7B71095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5" name="Google Shape;225;p14">
            <a:extLst xmlns:a="http://schemas.openxmlformats.org/drawingml/2006/main">
              <a:ext uri="{FF2B5EF4-FFF2-40B4-BE49-F238E27FC236}">
                <a16:creationId xmlns:a16="http://schemas.microsoft.com/office/drawing/2014/main" id="{6BCA217F-BF20-492E-8B12-B23BB4D8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6" name="Google Shape;226;p14">
            <a:extLst xmlns:a="http://schemas.openxmlformats.org/drawingml/2006/main">
              <a:ext uri="{FF2B5EF4-FFF2-40B4-BE49-F238E27FC236}">
                <a16:creationId xmlns:a16="http://schemas.microsoft.com/office/drawing/2014/main" id="{B9074005-B65B-4492-BB60-FBF74111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27" name="Google Shape;227;p14">
            <a:extLst xmlns:a="http://schemas.openxmlformats.org/drawingml/2006/main">
              <a:ext uri="{FF2B5EF4-FFF2-40B4-BE49-F238E27FC236}">
                <a16:creationId xmlns:a16="http://schemas.microsoft.com/office/drawing/2014/main" id="{B3281C15-6F11-4A25-99C9-C6778882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28" name="Google Shape;228;p14">
            <a:extLst xmlns:a="http://schemas.openxmlformats.org/drawingml/2006/main">
              <a:ext uri="{FF2B5EF4-FFF2-40B4-BE49-F238E27FC236}">
                <a16:creationId xmlns:a16="http://schemas.microsoft.com/office/drawing/2014/main" id="{DEE85BAF-4D35-4B49-91EF-A5AF59E1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229" name="Google Shape;229;p14">
            <a:extLst xmlns:a="http://schemas.openxmlformats.org/drawingml/2006/main">
              <a:ext uri="{FF2B5EF4-FFF2-40B4-BE49-F238E27FC236}">
                <a16:creationId xmlns:a16="http://schemas.microsoft.com/office/drawing/2014/main" id="{66336D51-B3C6-4972-9379-31E675C8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230" name="Google Shape;230;p14">
            <a:extLst xmlns:a="http://schemas.openxmlformats.org/drawingml/2006/main">
              <a:ext uri="{FF2B5EF4-FFF2-40B4-BE49-F238E27FC236}">
                <a16:creationId xmlns:a16="http://schemas.microsoft.com/office/drawing/2014/main" id="{631BEFD7-BF9F-4579-9D7B-B094C041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Activity 2: Peer Review Round</a:t>
            </a:r>
          </a:p>
        </p:txBody>
      </p:sp>
      <p:sp>
        <p:nvSpPr>
          <p:cNvPr id="231" name="Google Shape;231;p14">
            <a:extLst xmlns:a="http://schemas.openxmlformats.org/drawingml/2006/main">
              <a:ext uri="{FF2B5EF4-FFF2-40B4-BE49-F238E27FC236}">
                <a16:creationId xmlns:a16="http://schemas.microsoft.com/office/drawing/2014/main" id="{B55C9EB3-2F14-46C4-A039-1559E124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15–20 minutes • Unit 5 Week 27</a:t>
            </a:r>
          </a:p>
        </p:txBody>
      </p:sp>
      <p:cxnSp>
        <p:nvCxnSpPr>
          <p:cNvPr id="244" name="Google Shape;232;p14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3" name="Google Shape;233;p14">
            <a:extLst xmlns:a="http://schemas.openxmlformats.org/drawingml/2006/main">
              <a:ext uri="{FF2B5EF4-FFF2-40B4-BE49-F238E27FC236}">
                <a16:creationId xmlns:a16="http://schemas.microsoft.com/office/drawing/2014/main" id="{5E96F8A4-BF37-416E-B756-969869510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83080"/>
            <a:ext cx="187452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34" name="Google Shape;234;p14">
            <a:extLst xmlns:a="http://schemas.openxmlformats.org/drawingml/2006/main">
              <a:ext uri="{FF2B5EF4-FFF2-40B4-BE49-F238E27FC236}">
                <a16:creationId xmlns:a16="http://schemas.microsoft.com/office/drawing/2014/main" id="{6E241820-0920-4A04-8ED7-2BF4C81D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65376"/>
            <a:ext cx="16916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35" name="Google Shape;235;p14">
            <a:extLst xmlns:a="http://schemas.openxmlformats.org/drawingml/2006/main">
              <a:ext uri="{FF2B5EF4-FFF2-40B4-BE49-F238E27FC236}">
                <a16:creationId xmlns:a16="http://schemas.microsoft.com/office/drawing/2014/main" id="{B026874C-EC8E-468C-803E-78098F67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10332720" cy="3474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Reviewer reads the assigned section or full report using one review lens.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Reviewer writes comments using the sentence stems or protocol questions.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Writer listens without defending during the first explanation.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Writer asks clarifying questions after the reviewer finishes.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Both students identify the single most important revision.</a:t>
            </a:r>
          </a:p>
        </p:txBody>
      </p:sp>
    </p:spTree>
    <p:extLst>
      <p:ext uri="{BB962C8B-B14F-4D97-AF65-F5344CB8AC3E}">
        <p14:creationId xmlns:p14="http://schemas.microsoft.com/office/powerpoint/2010/main" val="18471235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1" name="Google Shape;241;p15">
            <a:extLst xmlns:a="http://schemas.openxmlformats.org/drawingml/2006/main">
              <a:ext uri="{FF2B5EF4-FFF2-40B4-BE49-F238E27FC236}">
                <a16:creationId xmlns:a16="http://schemas.microsoft.com/office/drawing/2014/main" id="{0521A8C2-3356-4B6F-A9C1-4EC48057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2" name="Google Shape;242;p15">
            <a:extLst xmlns:a="http://schemas.openxmlformats.org/drawingml/2006/main">
              <a:ext uri="{FF2B5EF4-FFF2-40B4-BE49-F238E27FC236}">
                <a16:creationId xmlns:a16="http://schemas.microsoft.com/office/drawing/2014/main" id="{48DDBAB1-6892-4552-9C4D-A18B123C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3" name="Google Shape;243;p15">
            <a:extLst xmlns:a="http://schemas.openxmlformats.org/drawingml/2006/main">
              <a:ext uri="{FF2B5EF4-FFF2-40B4-BE49-F238E27FC236}">
                <a16:creationId xmlns:a16="http://schemas.microsoft.com/office/drawing/2014/main" id="{A7416ECE-4601-48D3-969D-CEDE2AF8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44" name="Google Shape;244;p15">
            <a:extLst xmlns:a="http://schemas.openxmlformats.org/drawingml/2006/main">
              <a:ext uri="{FF2B5EF4-FFF2-40B4-BE49-F238E27FC236}">
                <a16:creationId xmlns:a16="http://schemas.microsoft.com/office/drawing/2014/main" id="{92985343-6E3D-4A32-8FDF-9BA39FB8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245" name="Google Shape;245;p15">
            <a:extLst xmlns:a="http://schemas.openxmlformats.org/drawingml/2006/main">
              <a:ext uri="{FF2B5EF4-FFF2-40B4-BE49-F238E27FC236}">
                <a16:creationId xmlns:a16="http://schemas.microsoft.com/office/drawing/2014/main" id="{1A31F84A-ECE0-42E5-94F4-8C4DE78A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246" name="Google Shape;246;p15">
            <a:extLst xmlns:a="http://schemas.openxmlformats.org/drawingml/2006/main">
              <a:ext uri="{FF2B5EF4-FFF2-40B4-BE49-F238E27FC236}">
                <a16:creationId xmlns:a16="http://schemas.microsoft.com/office/drawing/2014/main" id="{BD5B25A6-E9B8-49B6-BCFB-B565055C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247" name="Google Shape;247;p15">
            <a:extLst xmlns:a="http://schemas.openxmlformats.org/drawingml/2006/main">
              <a:ext uri="{FF2B5EF4-FFF2-40B4-BE49-F238E27FC236}">
                <a16:creationId xmlns:a16="http://schemas.microsoft.com/office/drawing/2014/main" id="{EDDB435F-4CCC-4749-9803-FF5199D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After Feedback: Do Not Revise Randomly</a:t>
            </a:r>
          </a:p>
        </p:txBody>
      </p:sp>
      <p:sp>
        <p:nvSpPr>
          <p:cNvPr id="248" name="Google Shape;248;p15">
            <a:extLst xmlns:a="http://schemas.openxmlformats.org/drawingml/2006/main">
              <a:ext uri="{FF2B5EF4-FFF2-40B4-BE49-F238E27FC236}">
                <a16:creationId xmlns:a16="http://schemas.microsoft.com/office/drawing/2014/main" id="{357C8080-E55E-4A70-9FD1-80D2771A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Turn comments into a plan.</a:t>
            </a:r>
          </a:p>
        </p:txBody>
      </p:sp>
      <p:cxnSp>
        <p:nvCxnSpPr>
          <p:cNvPr id="267" name="Google Shape;249;p15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0" name="Google Shape;250;p15">
            <a:extLst xmlns:a="http://schemas.openxmlformats.org/drawingml/2006/main">
              <a:ext uri="{FF2B5EF4-FFF2-40B4-BE49-F238E27FC236}">
                <a16:creationId xmlns:a16="http://schemas.microsoft.com/office/drawing/2014/main" id="{06D41D10-1509-4D0E-BF2D-0F1BFAAC1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315468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1" name="Google Shape;251;p15">
            <a:extLst xmlns:a="http://schemas.openxmlformats.org/drawingml/2006/main">
              <a:ext uri="{FF2B5EF4-FFF2-40B4-BE49-F238E27FC236}">
                <a16:creationId xmlns:a16="http://schemas.microsoft.com/office/drawing/2014/main" id="{50D23BD7-0B49-4E5D-864C-0356C7B1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965960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SORT</a:t>
            </a:r>
          </a:p>
        </p:txBody>
      </p:sp>
      <p:sp>
        <p:nvSpPr>
          <p:cNvPr id="252" name="Google Shape;252;p15">
            <a:extLst xmlns:a="http://schemas.openxmlformats.org/drawingml/2006/main">
              <a:ext uri="{FF2B5EF4-FFF2-40B4-BE49-F238E27FC236}">
                <a16:creationId xmlns:a16="http://schemas.microsoft.com/office/drawing/2014/main" id="{9B94E057-B89F-4B07-A378-A4978A14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31720"/>
            <a:ext cx="282549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feedback is about structure?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is about evidence?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is about style or formatting?</a:t>
            </a:r>
          </a:p>
        </p:txBody>
      </p:sp>
      <p:sp>
        <p:nvSpPr>
          <p:cNvPr id="253" name="Google Shape;253;p15">
            <a:extLst xmlns:a="http://schemas.openxmlformats.org/drawingml/2006/main">
              <a:ext uri="{FF2B5EF4-FFF2-40B4-BE49-F238E27FC236}">
                <a16:creationId xmlns:a16="http://schemas.microsoft.com/office/drawing/2014/main" id="{9337E9D0-CF7A-4495-A1D7-0C0459A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828800"/>
            <a:ext cx="315468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4" name="Google Shape;254;p15">
            <a:extLst xmlns:a="http://schemas.openxmlformats.org/drawingml/2006/main">
              <a:ext uri="{FF2B5EF4-FFF2-40B4-BE49-F238E27FC236}">
                <a16:creationId xmlns:a16="http://schemas.microsoft.com/office/drawing/2014/main" id="{D633CA0F-9100-4298-BF1B-382F603B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1965960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PRIORITIZE</a:t>
            </a:r>
          </a:p>
        </p:txBody>
      </p:sp>
      <p:sp>
        <p:nvSpPr>
          <p:cNvPr id="255" name="Google Shape;255;p15">
            <a:extLst xmlns:a="http://schemas.openxmlformats.org/drawingml/2006/main">
              <a:ext uri="{FF2B5EF4-FFF2-40B4-BE49-F238E27FC236}">
                <a16:creationId xmlns:a16="http://schemas.microsoft.com/office/drawing/2014/main" id="{A90EE0EA-BBA1-470E-9EF6-C1C50633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331720"/>
            <a:ext cx="282549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revision will most improve scientific clarity or credibility?</a:t>
            </a:r>
          </a:p>
        </p:txBody>
      </p:sp>
      <p:sp>
        <p:nvSpPr>
          <p:cNvPr id="256" name="Google Shape;256;p15">
            <a:extLst xmlns:a="http://schemas.openxmlformats.org/drawingml/2006/main">
              <a:ext uri="{FF2B5EF4-FFF2-40B4-BE49-F238E27FC236}">
                <a16:creationId xmlns:a16="http://schemas.microsoft.com/office/drawing/2014/main" id="{E62B0B51-C894-41F3-B4EC-152FEBB9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828800"/>
            <a:ext cx="3154680" cy="2971800"/>
          </a:xfrm>
          <a:prstGeom xmlns:a="http://schemas.openxmlformats.org/drawingml/2006/main" prst="roundRect">
            <a:avLst>
              <a:gd name="adj" fmla="val 1846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57" name="Google Shape;257;p15">
            <a:extLst xmlns:a="http://schemas.openxmlformats.org/drawingml/2006/main">
              <a:ext uri="{FF2B5EF4-FFF2-40B4-BE49-F238E27FC236}">
                <a16:creationId xmlns:a16="http://schemas.microsoft.com/office/drawing/2014/main" id="{D6C84764-E3FC-4A98-930F-692A3BD3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965960"/>
            <a:ext cx="28254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DOCUMENT</a:t>
            </a:r>
          </a:p>
        </p:txBody>
      </p:sp>
      <p:sp>
        <p:nvSpPr>
          <p:cNvPr id="258" name="Google Shape;258;p15">
            <a:extLst xmlns:a="http://schemas.openxmlformats.org/drawingml/2006/main">
              <a:ext uri="{FF2B5EF4-FFF2-40B4-BE49-F238E27FC236}">
                <a16:creationId xmlns:a16="http://schemas.microsoft.com/office/drawing/2014/main" id="{55CB0592-52BA-4B5C-8AFC-5B2DB33A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331720"/>
            <a:ext cx="2825496" cy="23134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sz="1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did you change, and why did the change improve the report?</a:t>
            </a:r>
          </a:p>
        </p:txBody>
      </p:sp>
    </p:spTree>
    <p:extLst>
      <p:ext uri="{BB962C8B-B14F-4D97-AF65-F5344CB8AC3E}">
        <p14:creationId xmlns:p14="http://schemas.microsoft.com/office/powerpoint/2010/main" val="7544758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4" name="Google Shape;264;p16">
            <a:extLst xmlns:a="http://schemas.openxmlformats.org/drawingml/2006/main">
              <a:ext uri="{FF2B5EF4-FFF2-40B4-BE49-F238E27FC236}">
                <a16:creationId xmlns:a16="http://schemas.microsoft.com/office/drawing/2014/main" id="{2C2EF3D1-3710-466C-AE2B-C6499082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5" name="Google Shape;265;p16">
            <a:extLst xmlns:a="http://schemas.openxmlformats.org/drawingml/2006/main">
              <a:ext uri="{FF2B5EF4-FFF2-40B4-BE49-F238E27FC236}">
                <a16:creationId xmlns:a16="http://schemas.microsoft.com/office/drawing/2014/main" id="{C949AA03-25E1-4FF6-8625-0DA858C0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6" name="Google Shape;266;p16">
            <a:extLst xmlns:a="http://schemas.openxmlformats.org/drawingml/2006/main">
              <a:ext uri="{FF2B5EF4-FFF2-40B4-BE49-F238E27FC236}">
                <a16:creationId xmlns:a16="http://schemas.microsoft.com/office/drawing/2014/main" id="{069646C7-04E6-4BCF-9D2E-43195F047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67" name="Google Shape;267;p16">
            <a:extLst xmlns:a="http://schemas.openxmlformats.org/drawingml/2006/main">
              <a:ext uri="{FF2B5EF4-FFF2-40B4-BE49-F238E27FC236}">
                <a16:creationId xmlns:a16="http://schemas.microsoft.com/office/drawing/2014/main" id="{45CAE011-D894-4C01-B550-1080DA99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268" name="Google Shape;268;p16">
            <a:extLst xmlns:a="http://schemas.openxmlformats.org/drawingml/2006/main">
              <a:ext uri="{FF2B5EF4-FFF2-40B4-BE49-F238E27FC236}">
                <a16:creationId xmlns:a16="http://schemas.microsoft.com/office/drawing/2014/main" id="{9C1FD177-D356-475A-922B-6F5555EC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269" name="Google Shape;269;p16">
            <a:extLst xmlns:a="http://schemas.openxmlformats.org/drawingml/2006/main">
              <a:ext uri="{FF2B5EF4-FFF2-40B4-BE49-F238E27FC236}">
                <a16:creationId xmlns:a16="http://schemas.microsoft.com/office/drawing/2014/main" id="{98A00D9B-D762-41F5-B816-E1DC3541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270" name="Google Shape;270;p16">
            <a:extLst xmlns:a="http://schemas.openxmlformats.org/drawingml/2006/main">
              <a:ext uri="{FF2B5EF4-FFF2-40B4-BE49-F238E27FC236}">
                <a16:creationId xmlns:a16="http://schemas.microsoft.com/office/drawing/2014/main" id="{034D2199-AC01-4E0F-AE5B-2C24915D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Which Feedback Should You Use?</a:t>
            </a:r>
          </a:p>
        </p:txBody>
      </p:sp>
      <p:sp>
        <p:nvSpPr>
          <p:cNvPr id="271" name="Google Shape;271;p16">
            <a:extLst xmlns:a="http://schemas.openxmlformats.org/drawingml/2006/main">
              <a:ext uri="{FF2B5EF4-FFF2-40B4-BE49-F238E27FC236}">
                <a16:creationId xmlns:a16="http://schemas.microsoft.com/office/drawing/2014/main" id="{29D5F071-7AFF-4288-81BD-956B5169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Not every suggestion is equal, but every suggestion deserves consideration.</a:t>
            </a:r>
          </a:p>
        </p:txBody>
      </p:sp>
      <p:cxnSp>
        <p:nvCxnSpPr>
          <p:cNvPr id="283" name="Google Shape;272;p16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3" name="Google Shape;273;p16">
            <a:extLst xmlns:a="http://schemas.openxmlformats.org/drawingml/2006/main">
              <a:ext uri="{FF2B5EF4-FFF2-40B4-BE49-F238E27FC236}">
                <a16:creationId xmlns:a16="http://schemas.microsoft.com/office/drawing/2014/main" id="{AB634980-D200-49DF-8088-FE92B339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10332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 feedback that improves clarity, evidence, accuracy, organization, or professionalism.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Ask for help when feedback conflicts or when you do not understand it.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may reject feedback if it does not fit the purpose of the report, but you must explain why.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Do not reject feedback just because the revision is difficult.</a:t>
            </a:r>
          </a:p>
        </p:txBody>
      </p:sp>
      <p:sp>
        <p:nvSpPr>
          <p:cNvPr id="274" name="Google Shape;274;p16">
            <a:extLst xmlns:a="http://schemas.openxmlformats.org/drawingml/2006/main">
              <a:ext uri="{FF2B5EF4-FFF2-40B4-BE49-F238E27FC236}">
                <a16:creationId xmlns:a16="http://schemas.microsoft.com/office/drawing/2014/main" id="{84D1FAA6-4012-4E76-A60E-EE48ACC8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2300"/>
              <a:buFont typeface="Play"/>
              <a:buNone/>
            </a:pPr>
            <a:r>
              <a:rPr sz="2300" b="1">
                <a:solidFill>
                  <a:srgbClr val="E22B27"/>
                </a:solidFill>
                <a:latin typeface="Play"/>
                <a:ea typeface="Play"/>
                <a:cs typeface="Play"/>
              </a:rPr>
              <a:t>A scientific writer makes revision decisions, not just corrections.</a:t>
            </a:r>
          </a:p>
        </p:txBody>
      </p:sp>
    </p:spTree>
    <p:extLst>
      <p:ext uri="{BB962C8B-B14F-4D97-AF65-F5344CB8AC3E}">
        <p14:creationId xmlns:p14="http://schemas.microsoft.com/office/powerpoint/2010/main" val="2361189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0" name="Google Shape;280;p17">
            <a:extLst xmlns:a="http://schemas.openxmlformats.org/drawingml/2006/main">
              <a:ext uri="{FF2B5EF4-FFF2-40B4-BE49-F238E27FC236}">
                <a16:creationId xmlns:a16="http://schemas.microsoft.com/office/drawing/2014/main" id="{D1A0E845-F403-45FE-9AE3-2DB482DC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1" name="Google Shape;281;p17">
            <a:extLst xmlns:a="http://schemas.openxmlformats.org/drawingml/2006/main">
              <a:ext uri="{FF2B5EF4-FFF2-40B4-BE49-F238E27FC236}">
                <a16:creationId xmlns:a16="http://schemas.microsoft.com/office/drawing/2014/main" id="{9A79F13A-C24A-4E75-9A93-CE2CC08F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2" name="Google Shape;282;p17">
            <a:extLst xmlns:a="http://schemas.openxmlformats.org/drawingml/2006/main">
              <a:ext uri="{FF2B5EF4-FFF2-40B4-BE49-F238E27FC236}">
                <a16:creationId xmlns:a16="http://schemas.microsoft.com/office/drawing/2014/main" id="{D3C57A3F-688D-4654-A536-6EB2C81C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83" name="Google Shape;283;p17">
            <a:extLst xmlns:a="http://schemas.openxmlformats.org/drawingml/2006/main">
              <a:ext uri="{FF2B5EF4-FFF2-40B4-BE49-F238E27FC236}">
                <a16:creationId xmlns:a16="http://schemas.microsoft.com/office/drawing/2014/main" id="{ACCE3D43-6A7B-4A44-849C-9B8F80B2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84" name="Google Shape;284;p17">
            <a:extLst xmlns:a="http://schemas.openxmlformats.org/drawingml/2006/main">
              <a:ext uri="{FF2B5EF4-FFF2-40B4-BE49-F238E27FC236}">
                <a16:creationId xmlns:a16="http://schemas.microsoft.com/office/drawing/2014/main" id="{9D2531DC-DB56-4D54-9CA1-E66D0D5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285" name="Google Shape;285;p17">
            <a:extLst xmlns:a="http://schemas.openxmlformats.org/drawingml/2006/main">
              <a:ext uri="{FF2B5EF4-FFF2-40B4-BE49-F238E27FC236}">
                <a16:creationId xmlns:a16="http://schemas.microsoft.com/office/drawing/2014/main" id="{00AF3FD1-C540-4159-91C4-4F8FAE65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286" name="Google Shape;286;p17">
            <a:extLst xmlns:a="http://schemas.openxmlformats.org/drawingml/2006/main">
              <a:ext uri="{FF2B5EF4-FFF2-40B4-BE49-F238E27FC236}">
                <a16:creationId xmlns:a16="http://schemas.microsoft.com/office/drawing/2014/main" id="{E65B8F7F-9E75-4601-801E-53A06DC8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Activity 3: Build Your Revision Plan</a:t>
            </a:r>
          </a:p>
        </p:txBody>
      </p:sp>
      <p:sp>
        <p:nvSpPr>
          <p:cNvPr id="287" name="Google Shape;287;p17">
            <a:extLst xmlns:a="http://schemas.openxmlformats.org/drawingml/2006/main">
              <a:ext uri="{FF2B5EF4-FFF2-40B4-BE49-F238E27FC236}">
                <a16:creationId xmlns:a16="http://schemas.microsoft.com/office/drawing/2014/main" id="{E59573A0-79D3-416E-8786-E4CD49BA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10 minutes • Unit 5 Week 27</a:t>
            </a:r>
          </a:p>
        </p:txBody>
      </p:sp>
      <p:cxnSp>
        <p:nvCxnSpPr>
          <p:cNvPr id="300" name="Google Shape;288;p17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9" name="Google Shape;289;p17">
            <a:extLst xmlns:a="http://schemas.openxmlformats.org/drawingml/2006/main">
              <a:ext uri="{FF2B5EF4-FFF2-40B4-BE49-F238E27FC236}">
                <a16:creationId xmlns:a16="http://schemas.microsoft.com/office/drawing/2014/main" id="{31F1D28A-B7F6-4B97-A2C2-E4D1E20C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783080"/>
            <a:ext cx="1874520" cy="3474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0" name="Google Shape;290;p17">
            <a:extLst xmlns:a="http://schemas.openxmlformats.org/drawingml/2006/main">
              <a:ext uri="{FF2B5EF4-FFF2-40B4-BE49-F238E27FC236}">
                <a16:creationId xmlns:a16="http://schemas.microsoft.com/office/drawing/2014/main" id="{9D84BFF8-8041-4BB9-B24B-F29BFB88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65376"/>
            <a:ext cx="16916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STUDENT ACTIVITY</a:t>
            </a:r>
          </a:p>
        </p:txBody>
      </p:sp>
      <p:sp>
        <p:nvSpPr>
          <p:cNvPr id="291" name="Google Shape;291;p17">
            <a:extLst xmlns:a="http://schemas.openxmlformats.org/drawingml/2006/main">
              <a:ext uri="{FF2B5EF4-FFF2-40B4-BE49-F238E27FC236}">
                <a16:creationId xmlns:a16="http://schemas.microsoft.com/office/drawing/2014/main" id="{67A627C3-BA8F-4A8A-A26B-B9FBC8BA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10332720" cy="3474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 three major revisions you will make.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 two smaller formatting or style fixes.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Identify one piece of feedback you will not use and explain why.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Write one question you still have for the teacher or mentor.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Begin the highest-priority revision first.</a:t>
            </a:r>
          </a:p>
        </p:txBody>
      </p:sp>
    </p:spTree>
    <p:extLst>
      <p:ext uri="{BB962C8B-B14F-4D97-AF65-F5344CB8AC3E}">
        <p14:creationId xmlns:p14="http://schemas.microsoft.com/office/powerpoint/2010/main" val="34193828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7" name="Google Shape;297;p18">
            <a:extLst xmlns:a="http://schemas.openxmlformats.org/drawingml/2006/main">
              <a:ext uri="{FF2B5EF4-FFF2-40B4-BE49-F238E27FC236}">
                <a16:creationId xmlns:a16="http://schemas.microsoft.com/office/drawing/2014/main" id="{E334968A-493D-4E77-B76B-8F1C83D4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8" name="Google Shape;298;p18">
            <a:extLst xmlns:a="http://schemas.openxmlformats.org/drawingml/2006/main">
              <a:ext uri="{FF2B5EF4-FFF2-40B4-BE49-F238E27FC236}">
                <a16:creationId xmlns:a16="http://schemas.microsoft.com/office/drawing/2014/main" id="{ABF5FA25-4C8B-4A80-8597-5056504A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299" name="Google Shape;299;p18">
            <a:extLst xmlns:a="http://schemas.openxmlformats.org/drawingml/2006/main">
              <a:ext uri="{FF2B5EF4-FFF2-40B4-BE49-F238E27FC236}">
                <a16:creationId xmlns:a16="http://schemas.microsoft.com/office/drawing/2014/main" id="{F7635AC3-B020-48BB-BD63-6573068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0" name="Google Shape;300;p18">
            <a:extLst xmlns:a="http://schemas.openxmlformats.org/drawingml/2006/main">
              <a:ext uri="{FF2B5EF4-FFF2-40B4-BE49-F238E27FC236}">
                <a16:creationId xmlns:a16="http://schemas.microsoft.com/office/drawing/2014/main" id="{3F74400A-2314-4A49-AF96-A4CFF5EC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301" name="Google Shape;301;p18">
            <a:extLst xmlns:a="http://schemas.openxmlformats.org/drawingml/2006/main">
              <a:ext uri="{FF2B5EF4-FFF2-40B4-BE49-F238E27FC236}">
                <a16:creationId xmlns:a16="http://schemas.microsoft.com/office/drawing/2014/main" id="{094D8A61-617F-45F6-954E-FABBDF31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02" name="Google Shape;302;p18">
            <a:extLst xmlns:a="http://schemas.openxmlformats.org/drawingml/2006/main">
              <a:ext uri="{FF2B5EF4-FFF2-40B4-BE49-F238E27FC236}">
                <a16:creationId xmlns:a16="http://schemas.microsoft.com/office/drawing/2014/main" id="{2C59773C-1B03-4074-9DAB-10A1D4AC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03" name="Google Shape;303;p18">
            <a:extLst xmlns:a="http://schemas.openxmlformats.org/drawingml/2006/main">
              <a:ext uri="{FF2B5EF4-FFF2-40B4-BE49-F238E27FC236}">
                <a16:creationId xmlns:a16="http://schemas.microsoft.com/office/drawing/2014/main" id="{F71718F0-0E36-4890-8B26-04D1A728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Revision Should Leave Evidence</a:t>
            </a:r>
          </a:p>
        </p:txBody>
      </p:sp>
      <p:sp>
        <p:nvSpPr>
          <p:cNvPr id="304" name="Google Shape;304;p18">
            <a:extLst xmlns:a="http://schemas.openxmlformats.org/drawingml/2006/main">
              <a:ext uri="{FF2B5EF4-FFF2-40B4-BE49-F238E27FC236}">
                <a16:creationId xmlns:a16="http://schemas.microsoft.com/office/drawing/2014/main" id="{358ED8DB-2E19-4B64-8D1B-EB3B64E0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A stronger draft should show what changed.</a:t>
            </a:r>
          </a:p>
        </p:txBody>
      </p:sp>
      <p:cxnSp>
        <p:nvCxnSpPr>
          <p:cNvPr id="320" name="Google Shape;305;p18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6" name="Google Shape;306;p18">
            <a:extLst xmlns:a="http://schemas.openxmlformats.org/drawingml/2006/main">
              <a:ext uri="{FF2B5EF4-FFF2-40B4-BE49-F238E27FC236}">
                <a16:creationId xmlns:a16="http://schemas.microsoft.com/office/drawing/2014/main" id="{D6C1A312-F19F-45C9-AE23-E3541B62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28800"/>
            <a:ext cx="4892040" cy="3337560"/>
          </a:xfrm>
          <a:prstGeom xmlns:a="http://schemas.openxmlformats.org/drawingml/2006/main" prst="roundRect">
            <a:avLst>
              <a:gd name="adj" fmla="val 1644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444444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07" name="Google Shape;307;p18">
            <a:extLst xmlns:a="http://schemas.openxmlformats.org/drawingml/2006/main">
              <a:ext uri="{FF2B5EF4-FFF2-40B4-BE49-F238E27FC236}">
                <a16:creationId xmlns:a16="http://schemas.microsoft.com/office/drawing/2014/main" id="{C9E351AD-9B69-49FC-9AC0-4E6F7865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96596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WEAK REVISION RECORD</a:t>
            </a:r>
          </a:p>
        </p:txBody>
      </p:sp>
      <p:sp>
        <p:nvSpPr>
          <p:cNvPr id="308" name="Google Shape;308;p18">
            <a:extLst xmlns:a="http://schemas.openxmlformats.org/drawingml/2006/main">
              <a:ext uri="{FF2B5EF4-FFF2-40B4-BE49-F238E27FC236}">
                <a16:creationId xmlns:a16="http://schemas.microsoft.com/office/drawing/2014/main" id="{2A1AD5D0-5E36-4706-AB6E-00061E81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31720"/>
            <a:ext cx="4562856" cy="2679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fixed my report.”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made it better.”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changed some stuff.”</a:t>
            </a:r>
          </a:p>
        </p:txBody>
      </p:sp>
      <p:sp>
        <p:nvSpPr>
          <p:cNvPr id="309" name="Google Shape;309;p18">
            <a:extLst xmlns:a="http://schemas.openxmlformats.org/drawingml/2006/main">
              <a:ext uri="{FF2B5EF4-FFF2-40B4-BE49-F238E27FC236}">
                <a16:creationId xmlns:a16="http://schemas.microsoft.com/office/drawing/2014/main" id="{B9FB2779-C313-40F2-B919-5FCCE3AA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28800"/>
            <a:ext cx="4892040" cy="3337560"/>
          </a:xfrm>
          <a:prstGeom xmlns:a="http://schemas.openxmlformats.org/drawingml/2006/main" prst="roundRect">
            <a:avLst>
              <a:gd name="adj" fmla="val 1644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0" name="Google Shape;310;p18">
            <a:extLst xmlns:a="http://schemas.openxmlformats.org/drawingml/2006/main">
              <a:ext uri="{FF2B5EF4-FFF2-40B4-BE49-F238E27FC236}">
                <a16:creationId xmlns:a16="http://schemas.microsoft.com/office/drawing/2014/main" id="{17CD553D-AE27-4281-A532-A17C0868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965960"/>
            <a:ext cx="456285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STRONGER REVISION RECORD</a:t>
            </a:r>
          </a:p>
        </p:txBody>
      </p:sp>
      <p:sp>
        <p:nvSpPr>
          <p:cNvPr id="311" name="Google Shape;311;p18">
            <a:extLst xmlns:a="http://schemas.openxmlformats.org/drawingml/2006/main">
              <a:ext uri="{FF2B5EF4-FFF2-40B4-BE49-F238E27FC236}">
                <a16:creationId xmlns:a16="http://schemas.microsoft.com/office/drawing/2014/main" id="{8540BDB2-0DA7-40E1-A920-6FAB5B2F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331720"/>
            <a:ext cx="4562856" cy="2679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added two sentences to the methods section explaining the force sensor calibration.”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sz="200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revised the discussion claim so it says ‘suggests’ instead of ‘proves.’”</a:t>
            </a:r>
          </a:p>
        </p:txBody>
      </p:sp>
    </p:spTree>
    <p:extLst>
      <p:ext uri="{BB962C8B-B14F-4D97-AF65-F5344CB8AC3E}">
        <p14:creationId xmlns:p14="http://schemas.microsoft.com/office/powerpoint/2010/main" val="15042151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7" name="Google Shape;317;p19">
            <a:extLst xmlns:a="http://schemas.openxmlformats.org/drawingml/2006/main">
              <a:ext uri="{FF2B5EF4-FFF2-40B4-BE49-F238E27FC236}">
                <a16:creationId xmlns:a16="http://schemas.microsoft.com/office/drawing/2014/main" id="{D1367DA6-BE58-4C08-97E8-7ED95DF6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8" name="Google Shape;318;p19">
            <a:extLst xmlns:a="http://schemas.openxmlformats.org/drawingml/2006/main">
              <a:ext uri="{FF2B5EF4-FFF2-40B4-BE49-F238E27FC236}">
                <a16:creationId xmlns:a16="http://schemas.microsoft.com/office/drawing/2014/main" id="{05A624FF-1A54-459A-B6A4-B2EBA3B8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19" name="Google Shape;319;p19">
            <a:extLst xmlns:a="http://schemas.openxmlformats.org/drawingml/2006/main">
              <a:ext uri="{FF2B5EF4-FFF2-40B4-BE49-F238E27FC236}">
                <a16:creationId xmlns:a16="http://schemas.microsoft.com/office/drawing/2014/main" id="{ACC6E122-ADA8-4653-B09D-69D688E1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20" name="Google Shape;320;p19">
            <a:extLst xmlns:a="http://schemas.openxmlformats.org/drawingml/2006/main">
              <a:ext uri="{FF2B5EF4-FFF2-40B4-BE49-F238E27FC236}">
                <a16:creationId xmlns:a16="http://schemas.microsoft.com/office/drawing/2014/main" id="{DB36C703-D85D-4E6D-9CF4-6CDC223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321" name="Google Shape;321;p19">
            <a:extLst xmlns:a="http://schemas.openxmlformats.org/drawingml/2006/main">
              <a:ext uri="{FF2B5EF4-FFF2-40B4-BE49-F238E27FC236}">
                <a16:creationId xmlns:a16="http://schemas.microsoft.com/office/drawing/2014/main" id="{01B1126E-753A-4214-B348-2D17216F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22" name="Google Shape;322;p19">
            <a:extLst xmlns:a="http://schemas.openxmlformats.org/drawingml/2006/main">
              <a:ext uri="{FF2B5EF4-FFF2-40B4-BE49-F238E27FC236}">
                <a16:creationId xmlns:a16="http://schemas.microsoft.com/office/drawing/2014/main" id="{BFC524C2-AF08-4E29-A248-FE744F46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23" name="Google Shape;323;p19">
            <a:extLst xmlns:a="http://schemas.openxmlformats.org/drawingml/2006/main">
              <a:ext uri="{FF2B5EF4-FFF2-40B4-BE49-F238E27FC236}">
                <a16:creationId xmlns:a16="http://schemas.microsoft.com/office/drawing/2014/main" id="{79AD0C15-64CE-4675-A837-057557FD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Common High-Value Revisions</a:t>
            </a:r>
          </a:p>
        </p:txBody>
      </p:sp>
      <p:sp>
        <p:nvSpPr>
          <p:cNvPr id="324" name="Google Shape;324;p19">
            <a:extLst xmlns:a="http://schemas.openxmlformats.org/drawingml/2006/main">
              <a:ext uri="{FF2B5EF4-FFF2-40B4-BE49-F238E27FC236}">
                <a16:creationId xmlns:a16="http://schemas.microsoft.com/office/drawing/2014/main" id="{09942B06-1B59-46AF-BE57-785F3426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Fix these before tiny edits.</a:t>
            </a:r>
          </a:p>
        </p:txBody>
      </p:sp>
      <p:cxnSp>
        <p:nvCxnSpPr>
          <p:cNvPr id="335" name="Google Shape;325;p19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6" name="Google Shape;326;p19">
            <a:extLst xmlns:a="http://schemas.openxmlformats.org/drawingml/2006/main">
              <a:ext uri="{FF2B5EF4-FFF2-40B4-BE49-F238E27FC236}">
                <a16:creationId xmlns:a16="http://schemas.microsoft.com/office/drawing/2014/main" id="{7D730392-87E4-4E1D-9927-75C7B9EE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3080"/>
            <a:ext cx="10424160" cy="402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Make the research question or engineering goal easier to find.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 missing method details that affect reproducibility or evaluation.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every major claim with specific evidence.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Clarify graphs, captions, units, and figure references.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overclaiming with cautious scientific language.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 specific limitations and future work.</a:t>
            </a:r>
          </a:p>
        </p:txBody>
      </p:sp>
    </p:spTree>
    <p:extLst>
      <p:ext uri="{BB962C8B-B14F-4D97-AF65-F5344CB8AC3E}">
        <p14:creationId xmlns:p14="http://schemas.microsoft.com/office/powerpoint/2010/main" val="5265243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Google Shape;332;p20">
            <a:extLst xmlns:a="http://schemas.openxmlformats.org/drawingml/2006/main">
              <a:ext uri="{FF2B5EF4-FFF2-40B4-BE49-F238E27FC236}">
                <a16:creationId xmlns:a16="http://schemas.microsoft.com/office/drawing/2014/main" id="{AAD39885-D037-457D-9D49-24CA082F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3" name="Google Shape;333;p20">
            <a:extLst xmlns:a="http://schemas.openxmlformats.org/drawingml/2006/main">
              <a:ext uri="{FF2B5EF4-FFF2-40B4-BE49-F238E27FC236}">
                <a16:creationId xmlns:a16="http://schemas.microsoft.com/office/drawing/2014/main" id="{863DB6E5-6A14-4764-8FDB-EF51A87D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4" name="Google Shape;334;p20">
            <a:extLst xmlns:a="http://schemas.openxmlformats.org/drawingml/2006/main">
              <a:ext uri="{FF2B5EF4-FFF2-40B4-BE49-F238E27FC236}">
                <a16:creationId xmlns:a16="http://schemas.microsoft.com/office/drawing/2014/main" id="{74172223-D665-4860-9661-2747E88E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35" name="Google Shape;335;p20">
            <a:extLst xmlns:a="http://schemas.openxmlformats.org/drawingml/2006/main">
              <a:ext uri="{FF2B5EF4-FFF2-40B4-BE49-F238E27FC236}">
                <a16:creationId xmlns:a16="http://schemas.microsoft.com/office/drawing/2014/main" id="{B09BF597-F6EC-48FD-A1F4-78BF35D7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SCIENTIFIC REVISION</a:t>
            </a:r>
          </a:p>
        </p:txBody>
      </p:sp>
      <p:sp>
        <p:nvSpPr>
          <p:cNvPr id="336" name="Google Shape;336;p20">
            <a:extLst xmlns:a="http://schemas.openxmlformats.org/drawingml/2006/main">
              <a:ext uri="{FF2B5EF4-FFF2-40B4-BE49-F238E27FC236}">
                <a16:creationId xmlns:a16="http://schemas.microsoft.com/office/drawing/2014/main" id="{A1DEEA0E-8DAC-4ACB-85C9-C9B1896C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37" name="Google Shape;337;p20">
            <a:extLst xmlns:a="http://schemas.openxmlformats.org/drawingml/2006/main">
              <a:ext uri="{FF2B5EF4-FFF2-40B4-BE49-F238E27FC236}">
                <a16:creationId xmlns:a16="http://schemas.microsoft.com/office/drawing/2014/main" id="{2D0C5039-EBC2-4488-A3DB-676B8DA9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38" name="Google Shape;338;p20">
            <a:extLst xmlns:a="http://schemas.openxmlformats.org/drawingml/2006/main">
              <a:ext uri="{FF2B5EF4-FFF2-40B4-BE49-F238E27FC236}">
                <a16:creationId xmlns:a16="http://schemas.microsoft.com/office/drawing/2014/main" id="{E6B96F00-6E09-42BE-BE63-E47A1A4E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Teacher Conference Prompts</a:t>
            </a:r>
          </a:p>
        </p:txBody>
      </p:sp>
      <p:sp>
        <p:nvSpPr>
          <p:cNvPr id="339" name="Google Shape;339;p20">
            <a:extLst xmlns:a="http://schemas.openxmlformats.org/drawingml/2006/main">
              <a:ext uri="{FF2B5EF4-FFF2-40B4-BE49-F238E27FC236}">
                <a16:creationId xmlns:a16="http://schemas.microsoft.com/office/drawing/2014/main" id="{CD8A6362-1E8A-4981-B6DF-7312E298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Use these when students ask, “Is my report good?”</a:t>
            </a:r>
          </a:p>
        </p:txBody>
      </p:sp>
      <p:cxnSp>
        <p:nvCxnSpPr>
          <p:cNvPr id="350" name="Google Shape;340;p20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1" name="Google Shape;341;p20">
            <a:extLst xmlns:a="http://schemas.openxmlformats.org/drawingml/2006/main">
              <a:ext uri="{FF2B5EF4-FFF2-40B4-BE49-F238E27FC236}">
                <a16:creationId xmlns:a16="http://schemas.microsoft.com/office/drawing/2014/main" id="{2CF2C8A9-94CF-44AC-8013-39775AED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3080"/>
            <a:ext cx="10424160" cy="402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is your clearest claim, and what evidence supports it?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section would a reader find most confusing?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method detail would someone need in order to evaluate your work?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visual best supports your main conclusion?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limitation have you explained most clearly?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is your highest-priority revision before Draft 2?</a:t>
            </a:r>
          </a:p>
        </p:txBody>
      </p:sp>
    </p:spTree>
    <p:extLst>
      <p:ext uri="{BB962C8B-B14F-4D97-AF65-F5344CB8AC3E}">
        <p14:creationId xmlns:p14="http://schemas.microsoft.com/office/powerpoint/2010/main" val="17657426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7" name="Google Shape;347;p21">
            <a:extLst xmlns:a="http://schemas.openxmlformats.org/drawingml/2006/main">
              <a:ext uri="{FF2B5EF4-FFF2-40B4-BE49-F238E27FC236}">
                <a16:creationId xmlns:a16="http://schemas.microsoft.com/office/drawing/2014/main" id="{A6AD20ED-F1CD-4A70-85A9-E4F3D420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8" name="Google Shape;348;p21">
            <a:extLst xmlns:a="http://schemas.openxmlformats.org/drawingml/2006/main">
              <a:ext uri="{FF2B5EF4-FFF2-40B4-BE49-F238E27FC236}">
                <a16:creationId xmlns:a16="http://schemas.microsoft.com/office/drawing/2014/main" id="{E338D117-FCBE-49E7-BD6F-713E6995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49" name="Google Shape;349;p21">
            <a:extLst xmlns:a="http://schemas.openxmlformats.org/drawingml/2006/main">
              <a:ext uri="{FF2B5EF4-FFF2-40B4-BE49-F238E27FC236}">
                <a16:creationId xmlns:a16="http://schemas.microsoft.com/office/drawing/2014/main" id="{72C2B973-51F5-4A15-8A2D-B3AD464A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50" name="Google Shape;350;p21">
            <a:extLst xmlns:a="http://schemas.openxmlformats.org/drawingml/2006/main">
              <a:ext uri="{FF2B5EF4-FFF2-40B4-BE49-F238E27FC236}">
                <a16:creationId xmlns:a16="http://schemas.microsoft.com/office/drawing/2014/main" id="{9C1BF3D3-F042-42A3-93A2-AB112C98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EXIT TICKET</a:t>
            </a:r>
          </a:p>
        </p:txBody>
      </p:sp>
      <p:sp>
        <p:nvSpPr>
          <p:cNvPr id="351" name="Google Shape;351;p21">
            <a:extLst xmlns:a="http://schemas.openxmlformats.org/drawingml/2006/main">
              <a:ext uri="{FF2B5EF4-FFF2-40B4-BE49-F238E27FC236}">
                <a16:creationId xmlns:a16="http://schemas.microsoft.com/office/drawing/2014/main" id="{B0F5F03B-A92C-48C1-8DB6-5EF05E3C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52" name="Google Shape;352;p21">
            <a:extLst xmlns:a="http://schemas.openxmlformats.org/drawingml/2006/main">
              <a:ext uri="{FF2B5EF4-FFF2-40B4-BE49-F238E27FC236}">
                <a16:creationId xmlns:a16="http://schemas.microsoft.com/office/drawing/2014/main" id="{C1DCBAED-1F54-4330-9F5F-D615B9E8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53" name="Google Shape;353;p21">
            <a:extLst xmlns:a="http://schemas.openxmlformats.org/drawingml/2006/main">
              <a:ext uri="{FF2B5EF4-FFF2-40B4-BE49-F238E27FC236}">
                <a16:creationId xmlns:a16="http://schemas.microsoft.com/office/drawing/2014/main" id="{CDD49248-2977-4959-A99B-AA7DCEAB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Exit Ticket</a:t>
            </a:r>
          </a:p>
        </p:txBody>
      </p:sp>
      <p:sp>
        <p:nvSpPr>
          <p:cNvPr id="354" name="Google Shape;354;p21">
            <a:extLst xmlns:a="http://schemas.openxmlformats.org/drawingml/2006/main">
              <a:ext uri="{FF2B5EF4-FFF2-40B4-BE49-F238E27FC236}">
                <a16:creationId xmlns:a16="http://schemas.microsoft.com/office/drawing/2014/main" id="{C419B3C6-A5DC-4BDD-8800-1AB8998A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Leave with one concrete revision decision.</a:t>
            </a:r>
          </a:p>
        </p:txBody>
      </p:sp>
      <p:cxnSp>
        <p:nvCxnSpPr>
          <p:cNvPr id="366" name="Google Shape;355;p21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6" name="Google Shape;356;p21">
            <a:extLst xmlns:a="http://schemas.openxmlformats.org/drawingml/2006/main">
              <a:ext uri="{FF2B5EF4-FFF2-40B4-BE49-F238E27FC236}">
                <a16:creationId xmlns:a16="http://schemas.microsoft.com/office/drawing/2014/main" id="{43AF54B0-6403-4638-BD81-003A2DBB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20240"/>
            <a:ext cx="10149840" cy="310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00" tIns="1000" rIns="1000" bIns="100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most useful feedback I received was...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first major revision I will make is...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revision will improve the report because...</a:t>
            </a:r>
          </a:p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question I still need answered is...</a:t>
            </a:r>
          </a:p>
        </p:txBody>
      </p:sp>
      <p:sp>
        <p:nvSpPr>
          <p:cNvPr id="357" name="Google Shape;357;p21">
            <a:extLst xmlns:a="http://schemas.openxmlformats.org/drawingml/2006/main">
              <a:ext uri="{FF2B5EF4-FFF2-40B4-BE49-F238E27FC236}">
                <a16:creationId xmlns:a16="http://schemas.microsoft.com/office/drawing/2014/main" id="{B673D2B3-8053-41C7-AF56-09B55BF9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212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2100"/>
              <a:buFont typeface="Play"/>
              <a:buNone/>
            </a:pPr>
            <a:r>
              <a:rPr sz="2100" b="1">
                <a:solidFill>
                  <a:srgbClr val="E22B27"/>
                </a:solidFill>
                <a:latin typeface="Play"/>
                <a:ea typeface="Play"/>
                <a:cs typeface="Play"/>
              </a:rPr>
              <a:t>Submit your peer review form and revision plan before moving into Draft 2 work time.</a:t>
            </a:r>
          </a:p>
        </p:txBody>
      </p:sp>
    </p:spTree>
    <p:extLst>
      <p:ext uri="{BB962C8B-B14F-4D97-AF65-F5344CB8AC3E}">
        <p14:creationId xmlns:p14="http://schemas.microsoft.com/office/powerpoint/2010/main" val="13892863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3" name="Google Shape;363;p22">
            <a:extLst xmlns:a="http://schemas.openxmlformats.org/drawingml/2006/main">
              <a:ext uri="{FF2B5EF4-FFF2-40B4-BE49-F238E27FC236}">
                <a16:creationId xmlns:a16="http://schemas.microsoft.com/office/drawing/2014/main" id="{4120B0D1-7418-4998-A839-D9C5CE1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/>
          </a:solidFill>
          <a:ln xmlns:a="http://schemas.openxmlformats.org/drawingml/2006/main" w="12700" cmpd="sng">
            <a:solidFill>
              <a:srgbClr val="05050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4" name="Google Shape;364;p22">
            <a:extLst xmlns:a="http://schemas.openxmlformats.org/drawingml/2006/main">
              <a:ext uri="{FF2B5EF4-FFF2-40B4-BE49-F238E27FC236}">
                <a16:creationId xmlns:a16="http://schemas.microsoft.com/office/drawing/2014/main" id="{39CC739F-BBB1-4594-BCD1-EBC82D5D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459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5" name="Google Shape;365;p22">
            <a:extLst xmlns:a="http://schemas.openxmlformats.org/drawingml/2006/main">
              <a:ext uri="{FF2B5EF4-FFF2-40B4-BE49-F238E27FC236}">
                <a16:creationId xmlns:a16="http://schemas.microsoft.com/office/drawing/2014/main" id="{2A0D2479-C63F-42BF-A93B-6D39C28A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9984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2B27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66" name="Google Shape;366;p22">
            <a:extLst xmlns:a="http://schemas.openxmlformats.org/drawingml/2006/main">
              <a:ext uri="{FF2B5EF4-FFF2-40B4-BE49-F238E27FC236}">
                <a16:creationId xmlns:a16="http://schemas.microsoft.com/office/drawing/2014/main" id="{F4C2987E-7F57-4161-A635-29D11064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6236208"/>
            <a:ext cx="42062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NEXT DECK</a:t>
            </a:r>
          </a:p>
        </p:txBody>
      </p:sp>
      <p:sp>
        <p:nvSpPr>
          <p:cNvPr id="367" name="Google Shape;367;p22">
            <a:extLst xmlns:a="http://schemas.openxmlformats.org/drawingml/2006/main">
              <a:ext uri="{FF2B5EF4-FFF2-40B4-BE49-F238E27FC236}">
                <a16:creationId xmlns:a16="http://schemas.microsoft.com/office/drawing/2014/main" id="{163E2F61-D560-4817-9140-B2D54D94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6236208"/>
            <a:ext cx="1234440" cy="16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000"/>
              <a:buFont typeface="Arial"/>
              <a:buNone/>
            </a:pPr>
            <a:r>
              <a:rPr sz="1000" b="1">
                <a:solidFill>
                  <a:srgbClr val="B8B8B8"/>
                </a:solidFill>
                <a:latin typeface="Arial"/>
                <a:ea typeface="Arial"/>
                <a:cs typeface="Arial"/>
              </a:rPr>
              <a:t>STARLAB</a:t>
            </a:r>
          </a:p>
        </p:txBody>
      </p:sp>
      <p:sp>
        <p:nvSpPr>
          <p:cNvPr id="368" name="Google Shape;368;p22">
            <a:extLst xmlns:a="http://schemas.openxmlformats.org/drawingml/2006/main">
              <a:ext uri="{FF2B5EF4-FFF2-40B4-BE49-F238E27FC236}">
                <a16:creationId xmlns:a16="http://schemas.microsoft.com/office/drawing/2014/main" id="{52AEB513-2AFA-42DD-A284-C4FF837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r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100"/>
              <a:buFont typeface="Arial"/>
              <a:buNone/>
            </a:pPr>
            <a:r>
              <a:rPr sz="11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DECK 15</a:t>
            </a:r>
          </a:p>
        </p:txBody>
      </p:sp>
      <p:sp>
        <p:nvSpPr>
          <p:cNvPr id="369" name="Google Shape;369;p22">
            <a:extLst xmlns:a="http://schemas.openxmlformats.org/drawingml/2006/main">
              <a:ext uri="{FF2B5EF4-FFF2-40B4-BE49-F238E27FC236}">
                <a16:creationId xmlns:a16="http://schemas.microsoft.com/office/drawing/2014/main" id="{3DCA15D4-5EFE-4287-95FB-85A1F98F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94944"/>
            <a:ext cx="9829800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sz="27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Next Deck</a:t>
            </a:r>
          </a:p>
        </p:txBody>
      </p:sp>
      <p:sp>
        <p:nvSpPr>
          <p:cNvPr id="370" name="Google Shape;370;p22">
            <a:extLst xmlns:a="http://schemas.openxmlformats.org/drawingml/2006/main">
              <a:ext uri="{FF2B5EF4-FFF2-40B4-BE49-F238E27FC236}">
                <a16:creationId xmlns:a16="http://schemas.microsoft.com/office/drawing/2014/main" id="{9A5AF0BB-510F-4E41-93D1-5A0591B5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271016"/>
            <a:ext cx="9875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sz="1200">
                <a:solidFill>
                  <a:srgbClr val="B8B8B8"/>
                </a:solidFill>
                <a:latin typeface="Arial"/>
                <a:ea typeface="Arial"/>
                <a:cs typeface="Arial"/>
              </a:rPr>
              <a:t>Designing a Research Poster or Presentation Board</a:t>
            </a:r>
          </a:p>
        </p:txBody>
      </p:sp>
      <p:cxnSp>
        <p:nvCxnSpPr>
          <p:cNvPr id="385" name="Google Shape;371;p22"/>
          <p:cNvCxnSpPr/>
          <p:nvPr/>
        </p:nvCxnSpPr>
        <p:spPr>
          <a:xfrm xmlns:a="http://schemas.openxmlformats.org/drawingml/2006/main">
            <a:off x="685800" y="1591056"/>
            <a:ext cx="10789920" cy="0"/>
          </a:xfrm>
          <a:prstGeom xmlns:a="http://schemas.openxmlformats.org/drawingml/2006/main" prst="straightConnector1">
            <a:avLst/>
          </a:prstGeom>
          <a:ln xmlns:a="http://schemas.openxmlformats.org/drawingml/2006/main" w="16500" cap="flat">
            <a:solidFill>
              <a:srgbClr val="E22B2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2" name="Google Shape;372;p22">
            <a:extLst xmlns:a="http://schemas.openxmlformats.org/drawingml/2006/main">
              <a:ext uri="{FF2B5EF4-FFF2-40B4-BE49-F238E27FC236}">
                <a16:creationId xmlns:a16="http://schemas.microsoft.com/office/drawing/2014/main" id="{3C8DBD71-E7CF-411E-88F1-6B42A410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0240"/>
            <a:ext cx="1033272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lay"/>
              <a:buNone/>
            </a:pPr>
            <a:r>
              <a:rPr sz="2400" b="1">
                <a:solidFill>
                  <a:srgbClr val="FFFFFF"/>
                </a:solidFill>
                <a:latin typeface="Play"/>
                <a:ea typeface="Play"/>
                <a:cs typeface="Play"/>
              </a:rPr>
              <a:t>Once the report is clearer, students translate the research story into a public-facing visual product.</a:t>
            </a:r>
          </a:p>
        </p:txBody>
      </p:sp>
      <p:sp>
        <p:nvSpPr>
          <p:cNvPr id="373" name="Google Shape;373;p22">
            <a:extLst xmlns:a="http://schemas.openxmlformats.org/drawingml/2006/main">
              <a:ext uri="{FF2B5EF4-FFF2-40B4-BE49-F238E27FC236}">
                <a16:creationId xmlns:a16="http://schemas.microsoft.com/office/drawing/2014/main" id="{15C51B2C-0970-41CD-A3D3-A352CC33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63240"/>
            <a:ext cx="9326880" cy="1371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01010"/>
          </a:solidFill>
          <a:ln xmlns:a="http://schemas.openxmlformats.org/drawingml/2006/main" w="12700" cmpd="sng">
            <a:solidFill>
              <a:srgbClr val="E22B27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4" name="Google Shape;374;p22">
            <a:extLst xmlns:a="http://schemas.openxmlformats.org/drawingml/2006/main">
              <a:ext uri="{FF2B5EF4-FFF2-40B4-BE49-F238E27FC236}">
                <a16:creationId xmlns:a16="http://schemas.microsoft.com/office/drawing/2014/main" id="{9CA97BB3-C774-417F-B09F-1C96B32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912" y="3200400"/>
            <a:ext cx="8997696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E22B27"/>
              </a:buClr>
              <a:buSzPts val="1200"/>
              <a:buFont typeface="Arial"/>
              <a:buNone/>
            </a:pPr>
            <a:r>
              <a:rPr sz="1200" b="1">
                <a:solidFill>
                  <a:srgbClr val="E22B27"/>
                </a:solidFill>
                <a:latin typeface="Arial"/>
                <a:ea typeface="Arial"/>
                <a:cs typeface="Arial"/>
              </a:rPr>
              <a:t>NEXT FOCUS</a:t>
            </a:r>
          </a:p>
        </p:txBody>
      </p:sp>
      <p:sp>
        <p:nvSpPr>
          <p:cNvPr id="375" name="Google Shape;375;p22">
            <a:extLst xmlns:a="http://schemas.openxmlformats.org/drawingml/2006/main">
              <a:ext uri="{FF2B5EF4-FFF2-40B4-BE49-F238E27FC236}">
                <a16:creationId xmlns:a16="http://schemas.microsoft.com/office/drawing/2014/main" id="{FFA7E246-88CB-4DB6-99F8-EC7DC315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912" y="3566160"/>
            <a:ext cx="8997696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50" tIns="250" rIns="250" bIns="25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sz="2400">
                <a:solidFill>
                  <a:srgbClr val="FFFFFF"/>
                </a:solidFill>
                <a:latin typeface="Arial"/>
                <a:ea typeface="Arial"/>
                <a:cs typeface="Arial"/>
              </a:rPr>
              <a:t>Visual hierarchy • readable graphs • clean layout • captions • audience-centered design</a:t>
            </a:r>
          </a:p>
        </p:txBody>
      </p:sp>
      <p:sp>
        <p:nvSpPr>
          <p:cNvPr id="376" name="Google Shape;376;p22">
            <a:extLst xmlns:a="http://schemas.openxmlformats.org/drawingml/2006/main">
              <a:ext uri="{FF2B5EF4-FFF2-40B4-BE49-F238E27FC236}">
                <a16:creationId xmlns:a16="http://schemas.microsoft.com/office/drawing/2014/main" id="{5E607A23-61C9-4FF8-A573-472875FF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600"/>
              <a:buFont typeface="Arial"/>
              <a:buNone/>
            </a:pPr>
            <a:r>
              <a:rPr sz="1600">
                <a:solidFill>
                  <a:srgbClr val="B8B8B8"/>
                </a:solidFill>
                <a:latin typeface="Arial"/>
                <a:ea typeface="Arial"/>
                <a:cs typeface="Arial"/>
              </a:rPr>
              <a:t>Deck 16 will help students move from written report to showcase-ready visual communication.</a:t>
            </a:r>
          </a:p>
        </p:txBody>
      </p:sp>
    </p:spTree>
    <p:extLst>
      <p:ext uri="{BB962C8B-B14F-4D97-AF65-F5344CB8AC3E}">
        <p14:creationId xmlns:p14="http://schemas.microsoft.com/office/powerpoint/2010/main" val="140852720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2026-07-16T15:42:09.5580000Z</dcterms:created>
  <dcterms:modified xsi:type="dcterms:W3CDTF">2026-07-16T15:42:09.5580000Z</dcterms:modified>
</coreProperties>
</file>