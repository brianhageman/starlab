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deck after students have drafted report sections and have finalized or near-finalized analysis visuals. Frame the board/poster as a scientific communication tool, not an art project. Students are converting their research report into a visual argument that an audience can follow quickly.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Primary unit connection: Unit 5 Week 28, Presentation Design and Practice. Secondary connection: Unit 6 Week 32, Final Showcase Preparation.</a:t>
            </a:r>
            <a:br>
              <a:rPr lang="en-US"/>
            </a:br>
            <a:br>
              <a:rPr lang="en-US"/>
            </a:br>
            <a:r>
              <a:rPr lang="en-US"/>
              <a:t>Required student copies for primary Week 28 use:</a:t>
            </a:r>
            <a:br>
              <a:rPr lang="en-US"/>
            </a:br>
            <a:r>
              <a:rPr lang="en-US"/>
              <a:t>• Unit 5 Student Handout 10: Presentation Planning Guide</a:t>
            </a:r>
            <a:br>
              <a:rPr lang="en-US"/>
            </a:br>
            <a:r>
              <a:rPr lang="en-US"/>
              <a:t>• Unit 5 Student Handout 11: Practice Presentation Feedback Form</a:t>
            </a:r>
            <a:br>
              <a:rPr lang="en-US"/>
            </a:br>
            <a:r>
              <a:rPr lang="en-US"/>
              <a:t>• Unit 5 Appendix O: Presentation Design Standards</a:t>
            </a:r>
            <a:br>
              <a:rPr lang="en-US"/>
            </a:br>
            <a:r>
              <a:rPr lang="en-US"/>
              <a:t>Required student copies for secondary Week 32 use:</a:t>
            </a:r>
            <a:br>
              <a:rPr lang="en-US"/>
            </a:br>
            <a:r>
              <a:rPr lang="en-US"/>
              <a:t>• Unit 6 Student Handout 10: Final Showcase Readiness Checklist</a:t>
            </a:r>
            <a:br>
              <a:rPr lang="en-US"/>
            </a:br>
            <a:r>
              <a:rPr lang="en-US"/>
              <a:t>• Unit 6 Student Handout 11: Presentation Product Final Check</a:t>
            </a:r>
            <a:br>
              <a:rPr lang="en-US"/>
            </a:br>
            <a:r>
              <a:rPr lang="en-US"/>
              <a:t>• Unit 6 Student Handout 12: Professionalism and Showcase Expectations</a:t>
            </a:r>
            <a:br>
              <a:rPr lang="en-US"/>
            </a:br>
            <a:br>
              <a:rPr lang="en-US"/>
            </a:br>
            <a:r>
              <a:rPr lang="en-US"/>
              <a:t>Optional / teacher reference:</a:t>
            </a:r>
            <a:br>
              <a:rPr lang="en-US"/>
            </a:br>
            <a:r>
              <a:rPr lang="en-US"/>
              <a:t>• Unit 5 Appendix Q: Question Bank for Practice Presentations</a:t>
            </a:r>
            <a:br>
              <a:rPr lang="en-US"/>
            </a:br>
            <a:r>
              <a:rPr lang="en-US"/>
              <a:t>• Unit 6 Appendix I: Showcase Planning Guide for Teachers</a:t>
            </a:r>
            <a:br>
              <a:rPr lang="en-US"/>
            </a:br>
            <a:r>
              <a:rPr lang="en-US"/>
              <a:t>• Unit 6 Appendix J: Sample Showcase Schedule</a:t>
            </a:r>
            <a:br>
              <a:rPr lang="en-US"/>
            </a:br>
            <a:r>
              <a:rPr lang="en-US"/>
              <a:t>• Unit 6 Appendix K: Visitor Question Guide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Frame today as a design-and-communication lesson. Students are not decorating their project; they are designing a visual explanation that helps an audience understand the research quickly and honestly.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10: Presentation Planning Guide. This deck prepares students for Unit 5 Week 28 and Unit 6 final showcase readiness checks.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Help students understand that they should not copy and paste report paragraphs onto a board. A visual presentation should invite conversation and make the research structure visible.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O: Presentation Design Standards and Unit 5 Student Handout 10: Presentation Planning Guide.</a:t>
            </a:r>
            <a:endParaRPr/>
          </a:p>
        </p:txBody>
      </p:sp>
      <p:sp>
        <p:nvSpPr>
          <p:cNvPr id="49" name="Google Shape;4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slide to make students identify the flow of their board before they start formatting. The story should be visible from several feet away.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10: Presentation Planning Guide, especially the presentation structure and visual aid plan sections.</a:t>
            </a:r>
            <a:endParaRPr/>
          </a:p>
        </p:txBody>
      </p:sp>
      <p:sp>
        <p:nvSpPr>
          <p:cNvPr id="72" name="Google Shape;7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often make everything the same size, which makes nothing feel important. Have them point to the first three things an audience member should notice on their board.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O: Presentation Design Standards and Unit 6 Student Handout 11: Presentation Product Final Check.</a:t>
            </a:r>
            <a:endParaRPr/>
          </a:p>
        </p:txBody>
      </p:sp>
      <p:sp>
        <p:nvSpPr>
          <p:cNvPr id="104" name="Google Shape;10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slide as a practical checklist. Emphasize that the exact layout can vary, but the audience must be able to find the major scientific sections.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O: Presentation Design Standards. Also connects to Unit 6 Student Handout 11: Presentation Product Final Check.</a:t>
            </a:r>
            <a:endParaRPr/>
          </a:p>
        </p:txBody>
      </p:sp>
      <p:sp>
        <p:nvSpPr>
          <p:cNvPr id="131" name="Google Shape;13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Ask students to identify their single most important graph, table, image, prototype comparison, or result. That item should not be small or buried.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5: Results and Visuals Builder, Unit 5 Appendix F: Graphing Standards, and Unit 5 Appendix G: Figure and Table Caption Guide.</a:t>
            </a:r>
            <a:endParaRPr/>
          </a:p>
        </p:txBody>
      </p:sp>
      <p:sp>
        <p:nvSpPr>
          <p:cNvPr id="150" name="Google Shape;15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Do a physical distance test if students are making posters or boards. Graphs that look fine on-screen often become unreadable when printed.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F: Graphing Standards and Unit 4 Student Handout 10: Graph Construction Checklist.</a:t>
            </a:r>
            <a:endParaRPr/>
          </a:p>
        </p:txBody>
      </p:sp>
      <p:sp>
        <p:nvSpPr>
          <p:cNvPr id="173" name="Google Shape;17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Have students revise one weak caption into a useful figure caption. Captions are especially important during poster sessions when visitors may read before the presenter speaks.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G: Figure and Table Caption Guide and Unit 4 Student Handout 12: Figure Caption Drafting.</a:t>
            </a:r>
            <a:endParaRPr/>
          </a:p>
        </p:txBody>
      </p:sp>
      <p:sp>
        <p:nvSpPr>
          <p:cNvPr id="192" name="Google Shape;19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slide helps students compress methods for a visual format. Encourage them to include enough method detail for trust, but not every step from the report.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10: Presentation Planning Guide and Unit 5 Appendix O: Presentation Design Standards.</a:t>
            </a:r>
            <a:endParaRPr/>
          </a:p>
        </p:txBody>
      </p:sp>
      <p:sp>
        <p:nvSpPr>
          <p:cNvPr id="215" name="Google Shape;21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Connect this back to Deck 11. Students should see visual design as part of research integrity, not only aesthetics.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F: Graphing Standards, Unit 5 Appendix O: Presentation Design Standards, and Unit 4 Appendix K: Misleading Graphs and Visual Ethics.</a:t>
            </a:r>
            <a:endParaRPr/>
          </a:p>
        </p:txBody>
      </p:sp>
      <p:sp>
        <p:nvSpPr>
          <p:cNvPr id="238" name="Google Shape;23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may want to hide limitations to make the project look stronger. Explain that visible limitations actually make the presentation more scientifically credible.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Appendix O: Presentation Design Standards and Unit 6 Student Handout 11: Presentation Product Final Check. Also reinforces Unit 4 error/limitations work.</a:t>
            </a:r>
            <a:endParaRPr/>
          </a:p>
        </p:txBody>
      </p:sp>
      <p:sp>
        <p:nvSpPr>
          <p:cNvPr id="257" name="Google Shape;25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is the main planning activity. Require students to sketch before opening design software or cutting board materials. The sketch should reveal whether the research story has a logical flow.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10: Presentation Planning Guide and Unit 5 Appendix O: Presentation Design Standards.</a:t>
            </a:r>
            <a:endParaRPr/>
          </a:p>
        </p:txBody>
      </p:sp>
      <p:sp>
        <p:nvSpPr>
          <p:cNvPr id="280" name="Google Shape;280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" name="Google Shape;30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often want to include every visual they made. Triage helps them prioritize clarity over completeness. Let them keep extra visuals in a report appendix or portfolio.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5: Results and Visuals Builder and Unit 5 Student Handout 10: Presentation Planning Guide.</a:t>
            </a:r>
            <a:endParaRPr/>
          </a:p>
        </p:txBody>
      </p:sp>
      <p:sp>
        <p:nvSpPr>
          <p:cNvPr id="303" name="Google Shape;303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9" name="Google Shape;32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Run a gallery walk or partner critique. Require specific feedback. Students should leave with actionable revisions, not vague approval.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5 Student Handout 11: Practice Presentation Feedback Form and Unit 6 Student Handout 11: Presentation Product Final Check.</a:t>
            </a:r>
            <a:endParaRPr/>
          </a:p>
        </p:txBody>
      </p:sp>
      <p:sp>
        <p:nvSpPr>
          <p:cNvPr id="330" name="Google Shape;330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as the practical transition into final showcase preparation. Students should not begin high-stakes presentation practice with a board that still needs major design revision.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1: Final Presentation Readiness Check and Unit 6 Student Handout 11: Presentation Product Final Check.</a:t>
            </a:r>
            <a:endParaRPr/>
          </a:p>
        </p:txBody>
      </p:sp>
      <p:sp>
        <p:nvSpPr>
          <p:cNvPr id="349" name="Google Shape;349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7" name="Google Shape;36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These questions can guide short conferences during work time. The goal is to make the design serve the scientific argument.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during Unit 5 Week 28 work sessions and Unit 6 Week 32 final product checks. Aligns with Unit 6 Student Handout 11: Presentation Product Final Check.</a:t>
            </a:r>
            <a:endParaRPr/>
          </a:p>
        </p:txBody>
      </p:sp>
      <p:sp>
        <p:nvSpPr>
          <p:cNvPr id="368" name="Google Shape;36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Collect this exit ticket to identify who needs design help before oral practice. Students should have a specific visual revision goal, not a vague plan to “make it better.”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after Unit 5 Student Handout 10: Presentation Planning Guide and before Deck 17: Oral Presentation Skills for Research. Next deck connection: Deck 17 — Oral Presentation Skills for Research.</a:t>
            </a:r>
            <a:endParaRPr/>
          </a:p>
        </p:txBody>
      </p:sp>
      <p:sp>
        <p:nvSpPr>
          <p:cNvPr id="387" name="Google Shape;387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0" y="6492240"/>
            <a:ext cx="12191695" cy="7315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mnt/data/STARLAB Logo 2026.png" id="19" name="Google Shape;1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0240" y="530352"/>
            <a:ext cx="8412480" cy="356616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/>
          <p:nvPr/>
        </p:nvSpPr>
        <p:spPr>
          <a:xfrm>
            <a:off x="777240" y="4572000"/>
            <a:ext cx="10652760" cy="868680"/>
          </a:xfrm>
          <a:prstGeom prst="rect">
            <a:avLst/>
          </a:prstGeom>
          <a:solidFill>
            <a:srgbClr val="050505">
              <a:alpha val="0"/>
            </a:srgbClr>
          </a:solidFill>
          <a:ln cap="flat" cmpd="sng" w="12700">
            <a:solidFill>
              <a:srgbClr val="D8D8D8">
                <a:alpha val="8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914400" y="4645152"/>
            <a:ext cx="10287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DESIGNING A RESEARCH POSTER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 PRESENTATION BOARD</a:t>
            </a:r>
            <a:endParaRPr b="0" i="0" sz="2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914400" y="55321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 Deck 16  •  Unit 5–6 Presentation Preparation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Today’s Target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Turn a report into a clear public-facing research story.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777240" y="2377440"/>
            <a:ext cx="5120640" cy="16916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777240" y="2377440"/>
            <a:ext cx="73152" cy="16916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941832" y="2487168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BY THE END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941832" y="2816352"/>
            <a:ext cx="4846320" cy="11612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Students should be able to choose what belongs on a poster or board, organize it in a logical flow, and revise visuals so they support scientific explanation.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309360" y="2377440"/>
            <a:ext cx="5120640" cy="16916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309360" y="2377440"/>
            <a:ext cx="73152" cy="16916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6473952" y="2487168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CORE STANDARD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473952" y="2816352"/>
            <a:ext cx="4846320" cy="11612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audience should understand the question, method, evidence, conclusion, limitation, and future work without needing a five-minute rescue explanation.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868680" y="489204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Student activity: begin Unit 5 Student Handout 10 by writing a one-sentence research story.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5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5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5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Poster Is Not a Smaller Report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685800" y="1600200"/>
            <a:ext cx="10881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report is built for reading. A poster or board is built for scanning, questioning, and conversation.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777240" y="2514600"/>
            <a:ext cx="4846320" cy="20116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777240" y="2514600"/>
            <a:ext cx="73152" cy="20116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941832" y="2624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REPORT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941832" y="2953512"/>
            <a:ext cx="4572000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Detailed explanation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Full methods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Extended reasoning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References and supporting information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6537960" y="2514600"/>
            <a:ext cx="4846320" cy="20116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6537960" y="2514600"/>
            <a:ext cx="73152" cy="20116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6702552" y="2624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POSTER / BOARD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6702552" y="2953512"/>
            <a:ext cx="4572000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Guided overview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Most important visuals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Concise evidence story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Prompts for conversation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868680" y="52578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 move: reduce, prioritize, and guide the eye.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6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6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6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Research Story Must Be Obvious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6"/>
          <p:cNvSpPr/>
          <p:nvPr/>
        </p:nvSpPr>
        <p:spPr>
          <a:xfrm>
            <a:off x="685800" y="2240280"/>
            <a:ext cx="1600200" cy="960120"/>
          </a:xfrm>
          <a:prstGeom prst="rect">
            <a:avLst/>
          </a:prstGeom>
          <a:solidFill>
            <a:srgbClr val="11111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6"/>
          <p:cNvSpPr/>
          <p:nvPr/>
        </p:nvSpPr>
        <p:spPr>
          <a:xfrm>
            <a:off x="795528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Problem or purpose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2313432" y="249631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2578608" y="2240280"/>
            <a:ext cx="1600200" cy="960120"/>
          </a:xfrm>
          <a:prstGeom prst="rect">
            <a:avLst/>
          </a:prstGeom>
          <a:solidFill>
            <a:srgbClr val="11111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2688336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Research question or goal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4206240" y="249631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4471416" y="2240280"/>
            <a:ext cx="1600200" cy="960120"/>
          </a:xfrm>
          <a:prstGeom prst="rect">
            <a:avLst/>
          </a:prstGeom>
          <a:solidFill>
            <a:srgbClr val="11111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4581144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 overview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6099048" y="249631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6364224" y="2240280"/>
            <a:ext cx="1600200" cy="96012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6473952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evidence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7991856" y="249631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8257032" y="2240280"/>
            <a:ext cx="1600200" cy="960120"/>
          </a:xfrm>
          <a:prstGeom prst="rect">
            <a:avLst/>
          </a:prstGeom>
          <a:solidFill>
            <a:srgbClr val="11111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8366760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9884664" y="2496312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10149840" y="2240280"/>
            <a:ext cx="1600200" cy="960120"/>
          </a:xfrm>
          <a:prstGeom prst="rect">
            <a:avLst/>
          </a:prstGeom>
          <a:solidFill>
            <a:srgbClr val="111111"/>
          </a:solidFill>
          <a:ln cap="flat" cmpd="sng" w="1270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10259568" y="2359152"/>
            <a:ext cx="138074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Limitation + future work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822960" y="4069080"/>
            <a:ext cx="10607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If the audience cannot find the story quickly, the layout is doing too much or guiding too little.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914400" y="4983480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Student activity: use the presentation outline in Handout 10 to identify the one section your visual currently hides or overcomplicates.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7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7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Visual Hierarchy: What Should the Eye See First?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7"/>
          <p:cNvSpPr/>
          <p:nvPr/>
        </p:nvSpPr>
        <p:spPr>
          <a:xfrm>
            <a:off x="68580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Not every piece of information deserves the same visual weight.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822960" y="2331720"/>
            <a:ext cx="3291840" cy="20116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/>
          <p:nvPr/>
        </p:nvSpPr>
        <p:spPr>
          <a:xfrm>
            <a:off x="822960" y="2331720"/>
            <a:ext cx="73152" cy="20116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7"/>
          <p:cNvSpPr/>
          <p:nvPr/>
        </p:nvSpPr>
        <p:spPr>
          <a:xfrm>
            <a:off x="987552" y="2441448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LARGEST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987552" y="2770632"/>
            <a:ext cx="3017520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Title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Research question or engineering goal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Main conclusion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4480560" y="2331720"/>
            <a:ext cx="3291840" cy="20116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4480560" y="2331720"/>
            <a:ext cx="73152" cy="20116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4645152" y="2441448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MEDIUM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4645152" y="2770632"/>
            <a:ext cx="3017520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Graphs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Images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 diagram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result statements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8138160" y="2331720"/>
            <a:ext cx="3291840" cy="20116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7"/>
          <p:cNvSpPr/>
          <p:nvPr/>
        </p:nvSpPr>
        <p:spPr>
          <a:xfrm>
            <a:off x="8138160" y="2331720"/>
            <a:ext cx="73152" cy="20116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8302752" y="2441448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SMALLEST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8302752" y="2770632"/>
            <a:ext cx="3017520" cy="14813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Background details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Procedure notes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References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Acknowledgments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822960" y="5029200"/>
            <a:ext cx="10607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 rule: the most important scientific idea should be the easiest thing to find.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Recommended Poster or Board Sections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868680" y="1691640"/>
            <a:ext cx="4480560" cy="425196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Title + student/school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Research question or engineering goal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Purpose / brief background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Methods summary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Results: graphs, tables, images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Discussion or conclusion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Limitations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Acknowledgments / references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5943600" y="1920240"/>
            <a:ext cx="5303520" cy="23774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5943600" y="1920240"/>
            <a:ext cx="73152" cy="23774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"/>
          <p:cNvSpPr/>
          <p:nvPr/>
        </p:nvSpPr>
        <p:spPr>
          <a:xfrm>
            <a:off x="6108192" y="202996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IMPORTANT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6108192" y="2359152"/>
            <a:ext cx="5029200" cy="18470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These sections do not all need equal space. Results and evidence should usually dominate the board. Background should be brief. Methods should be visual when possible.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6126480" y="489204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Evidence first. Decoration last.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9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9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9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9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the Board Around Evidence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9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9"/>
          <p:cNvSpPr/>
          <p:nvPr/>
        </p:nvSpPr>
        <p:spPr>
          <a:xfrm>
            <a:off x="731520" y="155448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largest section should usually be the evidence your claim depends on.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822960" y="2423160"/>
            <a:ext cx="4754880" cy="21488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822960" y="2423160"/>
            <a:ext cx="73152" cy="21488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9"/>
          <p:cNvSpPr/>
          <p:nvPr/>
        </p:nvSpPr>
        <p:spPr>
          <a:xfrm>
            <a:off x="987552" y="253288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WEAK PRIORITY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987552" y="2862072"/>
            <a:ext cx="4480560" cy="16184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Big background paragraphs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Tiny graph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Conclusion without numbers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 limitation visible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6583680" y="2423160"/>
            <a:ext cx="4754880" cy="21488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"/>
          <p:cNvSpPr/>
          <p:nvPr/>
        </p:nvSpPr>
        <p:spPr>
          <a:xfrm>
            <a:off x="6583680" y="2423160"/>
            <a:ext cx="73152" cy="21488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9"/>
          <p:cNvSpPr/>
          <p:nvPr/>
        </p:nvSpPr>
        <p:spPr>
          <a:xfrm>
            <a:off x="6748272" y="253288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STRONG PRIORITY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6748272" y="2862072"/>
            <a:ext cx="4480560" cy="16184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Large graph or prototype image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Short result statement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Caption with units/trials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Clear limitation note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822960" y="5166360"/>
            <a:ext cx="10607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The board should make the strongest evidence hard to miss.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0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0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0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0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0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0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Graphs Must Be Readable From a Distance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0"/>
          <p:cNvSpPr/>
          <p:nvPr/>
        </p:nvSpPr>
        <p:spPr>
          <a:xfrm>
            <a:off x="685800" y="160020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graph that only works on your laptop does not work on a presentation board.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0"/>
          <p:cNvSpPr/>
          <p:nvPr/>
        </p:nvSpPr>
        <p:spPr>
          <a:xfrm>
            <a:off x="868680" y="2331720"/>
            <a:ext cx="484632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Axis labels large enough to read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Units included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Scale is honest and appropriate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Legend included if needed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Caption explains what is shown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Unnecessary effects removed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0"/>
          <p:cNvSpPr/>
          <p:nvPr/>
        </p:nvSpPr>
        <p:spPr>
          <a:xfrm>
            <a:off x="6400800" y="2514600"/>
            <a:ext cx="4663440" cy="19202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"/>
          <p:cNvSpPr/>
          <p:nvPr/>
        </p:nvSpPr>
        <p:spPr>
          <a:xfrm>
            <a:off x="6400800" y="2514600"/>
            <a:ext cx="73152" cy="19202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0"/>
          <p:cNvSpPr/>
          <p:nvPr/>
        </p:nvSpPr>
        <p:spPr>
          <a:xfrm>
            <a:off x="6565392" y="2624328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TEST IT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6565392" y="2953512"/>
            <a:ext cx="4389120" cy="1389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Stand 6–8 feet away. Can you still read the title, axes, units, and major pattern? If not, simplify or enlarge it.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1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1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1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1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1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1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Captions Do Quiet Scientific Work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1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1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caption should tell the audience what the visual shows and how to read it.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1"/>
          <p:cNvSpPr/>
          <p:nvPr/>
        </p:nvSpPr>
        <p:spPr>
          <a:xfrm>
            <a:off x="822960" y="2377440"/>
            <a:ext cx="5212080" cy="19659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1"/>
          <p:cNvSpPr/>
          <p:nvPr/>
        </p:nvSpPr>
        <p:spPr>
          <a:xfrm>
            <a:off x="822960" y="2377440"/>
            <a:ext cx="73152" cy="19659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1"/>
          <p:cNvSpPr/>
          <p:nvPr/>
        </p:nvSpPr>
        <p:spPr>
          <a:xfrm>
            <a:off x="987552" y="2487168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CAPTION FORMULA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987552" y="2816352"/>
            <a:ext cx="4937760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Figure number + what is shown + groups/conditions + key measurement details + major visible pattern or purpose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1"/>
          <p:cNvSpPr/>
          <p:nvPr/>
        </p:nvSpPr>
        <p:spPr>
          <a:xfrm>
            <a:off x="6492240" y="2377440"/>
            <a:ext cx="4754880" cy="19659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"/>
          <p:cNvSpPr/>
          <p:nvPr/>
        </p:nvSpPr>
        <p:spPr>
          <a:xfrm>
            <a:off x="6492240" y="2377440"/>
            <a:ext cx="73152" cy="19659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1"/>
          <p:cNvSpPr/>
          <p:nvPr/>
        </p:nvSpPr>
        <p:spPr>
          <a:xfrm>
            <a:off x="6656832" y="248716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AVOID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6656832" y="2816352"/>
            <a:ext cx="4480560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“My graph”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“Results”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“Bridge picture”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“Data from experiment”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868680" y="507492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A good caption reduces how much the presenter has to rescue verbally.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2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2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2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2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2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Methods Should Be Visual When Possible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2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2"/>
          <p:cNvSpPr/>
          <p:nvPr/>
        </p:nvSpPr>
        <p:spPr>
          <a:xfrm>
            <a:off x="731520" y="160020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method visual can replace a long paragraph and make the project easier to evaluate.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2"/>
          <p:cNvSpPr/>
          <p:nvPr/>
        </p:nvSpPr>
        <p:spPr>
          <a:xfrm>
            <a:off x="822960" y="2377440"/>
            <a:ext cx="4754880" cy="23774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2"/>
          <p:cNvSpPr/>
          <p:nvPr/>
        </p:nvSpPr>
        <p:spPr>
          <a:xfrm>
            <a:off x="822960" y="2377440"/>
            <a:ext cx="73152" cy="23774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2"/>
          <p:cNvSpPr/>
          <p:nvPr/>
        </p:nvSpPr>
        <p:spPr>
          <a:xfrm>
            <a:off x="987552" y="248716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GOOD METHOD VISUALS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987552" y="2816352"/>
            <a:ext cx="4480560" cy="18470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Labeled setup photo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Procedure flowchart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Prototype diagram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Testing station sketch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collection workflow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6492240" y="2514600"/>
            <a:ext cx="4754880" cy="19202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2"/>
          <p:cNvSpPr/>
          <p:nvPr/>
        </p:nvSpPr>
        <p:spPr>
          <a:xfrm>
            <a:off x="6492240" y="2514600"/>
            <a:ext cx="73152" cy="19202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2"/>
          <p:cNvSpPr/>
          <p:nvPr/>
        </p:nvSpPr>
        <p:spPr>
          <a:xfrm>
            <a:off x="6656832" y="262432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KEEP IT SIMPLE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2"/>
          <p:cNvSpPr/>
          <p:nvPr/>
        </p:nvSpPr>
        <p:spPr>
          <a:xfrm>
            <a:off x="6656832" y="2953512"/>
            <a:ext cx="4480560" cy="1389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Show what the audience must understand to trust the evidence. Do not include every tiny procedural detail from the report.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868680" y="516636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Student activity: choose one method section that could become a diagram, flowchart, or labeled photo.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3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3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3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3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3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Visual Ethics Still Matter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3"/>
          <p:cNvSpPr/>
          <p:nvPr/>
        </p:nvSpPr>
        <p:spPr>
          <a:xfrm>
            <a:off x="731520" y="160020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presentation visual can mislead even when the numbers are real.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3"/>
          <p:cNvSpPr/>
          <p:nvPr/>
        </p:nvSpPr>
        <p:spPr>
          <a:xfrm>
            <a:off x="868680" y="2240280"/>
            <a:ext cx="557784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hide failed trials or weak results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crop axes to exaggerate differences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show only the best prototype if others failed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use color or layout to imply unsupported claims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remove inconvenient data without explanation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3"/>
          <p:cNvSpPr/>
          <p:nvPr/>
        </p:nvSpPr>
        <p:spPr>
          <a:xfrm>
            <a:off x="6949440" y="2560320"/>
            <a:ext cx="4206240" cy="210312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3"/>
          <p:cNvSpPr/>
          <p:nvPr/>
        </p:nvSpPr>
        <p:spPr>
          <a:xfrm>
            <a:off x="6949440" y="2560320"/>
            <a:ext cx="73152" cy="210312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3"/>
          <p:cNvSpPr/>
          <p:nvPr/>
        </p:nvSpPr>
        <p:spPr>
          <a:xfrm>
            <a:off x="7114032" y="2670048"/>
            <a:ext cx="3931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STANDARD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3"/>
          <p:cNvSpPr/>
          <p:nvPr/>
        </p:nvSpPr>
        <p:spPr>
          <a:xfrm>
            <a:off x="7114032" y="2999232"/>
            <a:ext cx="3931920" cy="157276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board should help the audience understand the evidence honestly, including uncertainty and limitations.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4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4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4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4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4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4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Limitations Belong on the Board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4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4"/>
          <p:cNvSpPr/>
          <p:nvPr/>
        </p:nvSpPr>
        <p:spPr>
          <a:xfrm>
            <a:off x="731520" y="160020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limitation is not an apology. It tells the audience how carefully to interpret the result.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4"/>
          <p:cNvSpPr/>
          <p:nvPr/>
        </p:nvSpPr>
        <p:spPr>
          <a:xfrm>
            <a:off x="868680" y="2514600"/>
            <a:ext cx="4754880" cy="17373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4"/>
          <p:cNvSpPr/>
          <p:nvPr/>
        </p:nvSpPr>
        <p:spPr>
          <a:xfrm>
            <a:off x="868680" y="2514600"/>
            <a:ext cx="73152" cy="17373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4"/>
          <p:cNvSpPr/>
          <p:nvPr/>
        </p:nvSpPr>
        <p:spPr>
          <a:xfrm>
            <a:off x="1033272" y="262432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WEAK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14"/>
          <p:cNvSpPr/>
          <p:nvPr/>
        </p:nvSpPr>
        <p:spPr>
          <a:xfrm>
            <a:off x="1033272" y="2953512"/>
            <a:ext cx="448056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“There was human error.”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“No project is perfect.”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“We needed more time.”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4"/>
          <p:cNvSpPr/>
          <p:nvPr/>
        </p:nvSpPr>
        <p:spPr>
          <a:xfrm>
            <a:off x="6492240" y="2514600"/>
            <a:ext cx="4754880" cy="17373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4"/>
          <p:cNvSpPr/>
          <p:nvPr/>
        </p:nvSpPr>
        <p:spPr>
          <a:xfrm>
            <a:off x="6492240" y="2514600"/>
            <a:ext cx="73152" cy="17373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4"/>
          <p:cNvSpPr/>
          <p:nvPr/>
        </p:nvSpPr>
        <p:spPr>
          <a:xfrm>
            <a:off x="6656832" y="262432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STRONG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4"/>
          <p:cNvSpPr/>
          <p:nvPr/>
        </p:nvSpPr>
        <p:spPr>
          <a:xfrm>
            <a:off x="6656832" y="2953512"/>
            <a:ext cx="448056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“Only three trials were completed per design, so differences in load capacity should be interpreted cautiously.”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4"/>
          <p:cNvSpPr/>
          <p:nvPr/>
        </p:nvSpPr>
        <p:spPr>
          <a:xfrm>
            <a:off x="868680" y="498348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2100"/>
              <a:buFont typeface="Arial"/>
              <a:buNone/>
            </a:pPr>
            <a:r>
              <a:rPr lang="en-US" sz="2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Your audience trusts you more when you know what your evidence cannot show.</a:t>
            </a:r>
            <a:endParaRPr sz="2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5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5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5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5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5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5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Activity: Visual Aid Storyboard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5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5"/>
          <p:cNvSpPr/>
          <p:nvPr/>
        </p:nvSpPr>
        <p:spPr>
          <a:xfrm>
            <a:off x="731520" y="1600200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Before designing the final board, sketch the flow.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5"/>
          <p:cNvSpPr/>
          <p:nvPr/>
        </p:nvSpPr>
        <p:spPr>
          <a:xfrm>
            <a:off x="822960" y="2331720"/>
            <a:ext cx="5212080" cy="22402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5"/>
          <p:cNvSpPr/>
          <p:nvPr/>
        </p:nvSpPr>
        <p:spPr>
          <a:xfrm>
            <a:off x="822960" y="2331720"/>
            <a:ext cx="73152" cy="22402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5"/>
          <p:cNvSpPr/>
          <p:nvPr/>
        </p:nvSpPr>
        <p:spPr>
          <a:xfrm>
            <a:off x="987552" y="2441448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5"/>
          <p:cNvSpPr/>
          <p:nvPr/>
        </p:nvSpPr>
        <p:spPr>
          <a:xfrm>
            <a:off x="987552" y="2770632"/>
            <a:ext cx="49377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Handout 10 to sketch where each major section will go. Mark the three items that should be largest: question, key evidence, and conclusion.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5"/>
          <p:cNvSpPr/>
          <p:nvPr/>
        </p:nvSpPr>
        <p:spPr>
          <a:xfrm>
            <a:off x="6492240" y="2331720"/>
            <a:ext cx="4754880" cy="224028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5"/>
          <p:cNvSpPr/>
          <p:nvPr/>
        </p:nvSpPr>
        <p:spPr>
          <a:xfrm>
            <a:off x="6492240" y="2331720"/>
            <a:ext cx="73152" cy="224028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5"/>
          <p:cNvSpPr/>
          <p:nvPr/>
        </p:nvSpPr>
        <p:spPr>
          <a:xfrm>
            <a:off x="6656832" y="2441448"/>
            <a:ext cx="4480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TIME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5"/>
          <p:cNvSpPr/>
          <p:nvPr/>
        </p:nvSpPr>
        <p:spPr>
          <a:xfrm>
            <a:off x="6656832" y="2770632"/>
            <a:ext cx="44805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 minutes independent sketch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minutes partner explanation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 minutes revision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5"/>
          <p:cNvSpPr/>
          <p:nvPr/>
        </p:nvSpPr>
        <p:spPr>
          <a:xfrm>
            <a:off x="868680" y="516636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Deliverable: a rough layout plan before students build the final product.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6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6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6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6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6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6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Activity: Visual Triage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6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Not every graph, photo, or table belongs on the final board.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6"/>
          <p:cNvSpPr/>
          <p:nvPr/>
        </p:nvSpPr>
        <p:spPr>
          <a:xfrm>
            <a:off x="822960" y="2286000"/>
            <a:ext cx="3474720" cy="228600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6"/>
          <p:cNvSpPr/>
          <p:nvPr/>
        </p:nvSpPr>
        <p:spPr>
          <a:xfrm>
            <a:off x="822960" y="2286000"/>
            <a:ext cx="73152" cy="228600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6"/>
          <p:cNvSpPr/>
          <p:nvPr/>
        </p:nvSpPr>
        <p:spPr>
          <a:xfrm>
            <a:off x="987552" y="239572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KEEP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6"/>
          <p:cNvSpPr/>
          <p:nvPr/>
        </p:nvSpPr>
        <p:spPr>
          <a:xfrm>
            <a:off x="987552" y="2724912"/>
            <a:ext cx="320040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Directly supports the main claim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Readable from a distance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Explains method or evidence clearly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6"/>
          <p:cNvSpPr/>
          <p:nvPr/>
        </p:nvSpPr>
        <p:spPr>
          <a:xfrm>
            <a:off x="4480560" y="2286000"/>
            <a:ext cx="3474720" cy="228600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6"/>
          <p:cNvSpPr/>
          <p:nvPr/>
        </p:nvSpPr>
        <p:spPr>
          <a:xfrm>
            <a:off x="4480560" y="2286000"/>
            <a:ext cx="73152" cy="228600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6"/>
          <p:cNvSpPr/>
          <p:nvPr/>
        </p:nvSpPr>
        <p:spPr>
          <a:xfrm>
            <a:off x="4645152" y="239572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CUT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6"/>
          <p:cNvSpPr/>
          <p:nvPr/>
        </p:nvSpPr>
        <p:spPr>
          <a:xfrm>
            <a:off x="4645152" y="2724912"/>
            <a:ext cx="320040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Repeats another visual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Too detailed for the audience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Makes the board crowded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6"/>
          <p:cNvSpPr/>
          <p:nvPr/>
        </p:nvSpPr>
        <p:spPr>
          <a:xfrm>
            <a:off x="8138160" y="2286000"/>
            <a:ext cx="3291840" cy="228600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16"/>
          <p:cNvSpPr/>
          <p:nvPr/>
        </p:nvSpPr>
        <p:spPr>
          <a:xfrm>
            <a:off x="8138160" y="2286000"/>
            <a:ext cx="73152" cy="228600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6"/>
          <p:cNvSpPr/>
          <p:nvPr/>
        </p:nvSpPr>
        <p:spPr>
          <a:xfrm>
            <a:off x="8302752" y="2395728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APPENDIX / REPORT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6"/>
          <p:cNvSpPr/>
          <p:nvPr/>
        </p:nvSpPr>
        <p:spPr>
          <a:xfrm>
            <a:off x="8302752" y="2724912"/>
            <a:ext cx="30175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Useful but not central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Extra data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Extended calculations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Backup evidence for questions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6"/>
          <p:cNvSpPr/>
          <p:nvPr/>
        </p:nvSpPr>
        <p:spPr>
          <a:xfrm>
            <a:off x="868680" y="516636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8D8D8"/>
              </a:buClr>
              <a:buSzPts val="1800"/>
              <a:buFont typeface="Arial"/>
              <a:buNone/>
            </a:pPr>
            <a:r>
              <a:rPr lang="en-US" sz="18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rPr>
              <a:t>Student activity: sort visuals into Keep / Cut / Appendix before building the final board.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7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7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7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7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7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7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Peer Review the Board Like an Audience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7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7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Reviewers should test clarity, not just compliment design.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7"/>
          <p:cNvSpPr/>
          <p:nvPr/>
        </p:nvSpPr>
        <p:spPr>
          <a:xfrm>
            <a:off x="868680" y="2194560"/>
            <a:ext cx="566928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question or goal is this project answering?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evidence is most important?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 you read the graph labels and units?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conclusion is supported?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limitation is visible?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Where does the layout feel crowded or confusing?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7"/>
          <p:cNvSpPr/>
          <p:nvPr/>
        </p:nvSpPr>
        <p:spPr>
          <a:xfrm>
            <a:off x="7086600" y="2743200"/>
            <a:ext cx="4023360" cy="182880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7"/>
          <p:cNvSpPr/>
          <p:nvPr/>
        </p:nvSpPr>
        <p:spPr>
          <a:xfrm>
            <a:off x="7086600" y="2743200"/>
            <a:ext cx="73152" cy="182880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7"/>
          <p:cNvSpPr/>
          <p:nvPr/>
        </p:nvSpPr>
        <p:spPr>
          <a:xfrm>
            <a:off x="7251192" y="2852928"/>
            <a:ext cx="37490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FEEDBACK RULE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7"/>
          <p:cNvSpPr/>
          <p:nvPr/>
        </p:nvSpPr>
        <p:spPr>
          <a:xfrm>
            <a:off x="7251192" y="3182112"/>
            <a:ext cx="3749040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Every comment should point to a specific place on the board and a specific revision the presenter can make.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8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8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8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8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8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8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Final Product Check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8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8"/>
          <p:cNvSpPr/>
          <p:nvPr/>
        </p:nvSpPr>
        <p:spPr>
          <a:xfrm>
            <a:off x="731520" y="1600200"/>
            <a:ext cx="10789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Before showcase practice, the visual product must be clear enough to support speaking.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8"/>
          <p:cNvSpPr/>
          <p:nvPr/>
        </p:nvSpPr>
        <p:spPr>
          <a:xfrm>
            <a:off x="868675" y="2489775"/>
            <a:ext cx="5577900" cy="31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Research question or goal is visible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evidence is large and readable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Results connect to conclusion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Limitations are included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Future work is specific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Text is concise and professional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Acknowledgments and references are included if needed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8"/>
          <p:cNvSpPr/>
          <p:nvPr/>
        </p:nvSpPr>
        <p:spPr>
          <a:xfrm>
            <a:off x="6949440" y="2743200"/>
            <a:ext cx="4160520" cy="19659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8"/>
          <p:cNvSpPr/>
          <p:nvPr/>
        </p:nvSpPr>
        <p:spPr>
          <a:xfrm>
            <a:off x="6949440" y="2743200"/>
            <a:ext cx="73152" cy="19659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8"/>
          <p:cNvSpPr/>
          <p:nvPr/>
        </p:nvSpPr>
        <p:spPr>
          <a:xfrm>
            <a:off x="7114032" y="2852928"/>
            <a:ext cx="3886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CHECKPOINT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8"/>
          <p:cNvSpPr/>
          <p:nvPr/>
        </p:nvSpPr>
        <p:spPr>
          <a:xfrm>
            <a:off x="7114032" y="3182112"/>
            <a:ext cx="3886200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If the presenter must explain where everything is before explaining the research, the layout needs revision.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9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9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9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9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9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9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Teacher Conference Questions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9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9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b="1" lang="en-US" sz="23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quick checks to catch visual communication problems before the final event.</a:t>
            </a:r>
            <a:endParaRPr sz="23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9"/>
          <p:cNvSpPr/>
          <p:nvPr/>
        </p:nvSpPr>
        <p:spPr>
          <a:xfrm>
            <a:off x="868675" y="2478925"/>
            <a:ext cx="6400800" cy="3144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Point to the main claim your board supports.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Show me the visual that best supports that claim.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 I read this graph from six feet away?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did you cut from the report, and why?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Where does the board acknowledge limitations?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question do you expect visitors to ask?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9"/>
          <p:cNvSpPr/>
          <p:nvPr/>
        </p:nvSpPr>
        <p:spPr>
          <a:xfrm>
            <a:off x="7589520" y="2743200"/>
            <a:ext cx="3474720" cy="192024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9"/>
          <p:cNvSpPr/>
          <p:nvPr/>
        </p:nvSpPr>
        <p:spPr>
          <a:xfrm>
            <a:off x="7589520" y="2743200"/>
            <a:ext cx="73152" cy="192024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9"/>
          <p:cNvSpPr/>
          <p:nvPr/>
        </p:nvSpPr>
        <p:spPr>
          <a:xfrm>
            <a:off x="7754112" y="285292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TEACHER MOVE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9"/>
          <p:cNvSpPr/>
          <p:nvPr/>
        </p:nvSpPr>
        <p:spPr>
          <a:xfrm>
            <a:off x="7754112" y="3182112"/>
            <a:ext cx="3200400" cy="138988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Ask students to physically point. If they cannot point to the evidence, the audience probably cannot find it either.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505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 cap="flat" cmpd="sng" w="12700">
            <a:solidFill>
              <a:srgbClr val="050505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0"/>
          <p:cNvSpPr/>
          <p:nvPr/>
        </p:nvSpPr>
        <p:spPr>
          <a:xfrm>
            <a:off x="0" y="109728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0"/>
          <p:cNvSpPr/>
          <p:nvPr/>
        </p:nvSpPr>
        <p:spPr>
          <a:xfrm>
            <a:off x="0" y="6656832"/>
            <a:ext cx="12191695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0"/>
          <p:cNvSpPr/>
          <p:nvPr/>
        </p:nvSpPr>
        <p:spPr>
          <a:xfrm>
            <a:off x="411480" y="640080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DECK 16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0"/>
          <p:cNvSpPr/>
          <p:nvPr/>
        </p:nvSpPr>
        <p:spPr>
          <a:xfrm>
            <a:off x="10241280" y="6400800"/>
            <a:ext cx="1554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B7B7B7"/>
                </a:solidFill>
                <a:latin typeface="Arial"/>
                <a:ea typeface="Arial"/>
                <a:cs typeface="Arial"/>
                <a:sym typeface="Arial"/>
              </a:rPr>
              <a:t>STARLAB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20"/>
          <p:cNvSpPr/>
          <p:nvPr/>
        </p:nvSpPr>
        <p:spPr>
          <a:xfrm>
            <a:off x="548640" y="438912"/>
            <a:ext cx="4206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100"/>
              <a:buFont typeface="Arial"/>
              <a:buNone/>
            </a:pPr>
            <a:r>
              <a:rPr b="1" lang="en-US" sz="11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DESIGNING RESEARCH VISUALS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20"/>
          <p:cNvSpPr/>
          <p:nvPr/>
        </p:nvSpPr>
        <p:spPr>
          <a:xfrm>
            <a:off x="548640" y="749808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Exit Ticket: Board Readiness</a:t>
            </a:r>
            <a:endParaRPr sz="3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20"/>
          <p:cNvSpPr/>
          <p:nvPr/>
        </p:nvSpPr>
        <p:spPr>
          <a:xfrm>
            <a:off x="548640" y="1335024"/>
            <a:ext cx="1143000" cy="50292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0"/>
          <p:cNvSpPr/>
          <p:nvPr/>
        </p:nvSpPr>
        <p:spPr>
          <a:xfrm>
            <a:off x="731520" y="1600200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Before leaving, students should know exactly what their visual aid still needs.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20"/>
          <p:cNvSpPr/>
          <p:nvPr/>
        </p:nvSpPr>
        <p:spPr>
          <a:xfrm>
            <a:off x="822960" y="2331720"/>
            <a:ext cx="5303520" cy="24231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0"/>
          <p:cNvSpPr/>
          <p:nvPr/>
        </p:nvSpPr>
        <p:spPr>
          <a:xfrm>
            <a:off x="822960" y="2331720"/>
            <a:ext cx="73152" cy="24231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0"/>
          <p:cNvSpPr/>
          <p:nvPr/>
        </p:nvSpPr>
        <p:spPr>
          <a:xfrm>
            <a:off x="987552" y="244144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WRITE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20"/>
          <p:cNvSpPr/>
          <p:nvPr/>
        </p:nvSpPr>
        <p:spPr>
          <a:xfrm>
            <a:off x="987552" y="2770632"/>
            <a:ext cx="5029200" cy="18928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1. The strongest visual on my board is...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2. One thing I need to enlarge or simplify is...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 One limitation I will include is...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4. My next revision step is...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0"/>
          <p:cNvSpPr/>
          <p:nvPr/>
        </p:nvSpPr>
        <p:spPr>
          <a:xfrm>
            <a:off x="6583680" y="2514600"/>
            <a:ext cx="4663440" cy="1965960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E4252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0"/>
          <p:cNvSpPr/>
          <p:nvPr/>
        </p:nvSpPr>
        <p:spPr>
          <a:xfrm>
            <a:off x="6583680" y="2514600"/>
            <a:ext cx="73152" cy="1965960"/>
          </a:xfrm>
          <a:prstGeom prst="rect">
            <a:avLst/>
          </a:prstGeom>
          <a:solidFill>
            <a:srgbClr val="E42521"/>
          </a:solidFill>
          <a:ln cap="flat" cmpd="sng" w="12700">
            <a:solidFill>
              <a:srgbClr val="E42521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0"/>
          <p:cNvSpPr/>
          <p:nvPr/>
        </p:nvSpPr>
        <p:spPr>
          <a:xfrm>
            <a:off x="6748272" y="2624328"/>
            <a:ext cx="4389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TURN IN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20"/>
          <p:cNvSpPr/>
          <p:nvPr/>
        </p:nvSpPr>
        <p:spPr>
          <a:xfrm>
            <a:off x="6748272" y="2953512"/>
            <a:ext cx="4389120" cy="1435608"/>
          </a:xfrm>
          <a:prstGeom prst="rect">
            <a:avLst/>
          </a:prstGeom>
          <a:noFill/>
          <a:ln>
            <a:noFill/>
          </a:ln>
        </p:spPr>
        <p:txBody>
          <a:bodyPr anchorCtr="0" anchor="t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Storyboard or draft board layout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Visual triage notes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One specific revision goal</a:t>
            </a:r>
            <a:endParaRPr sz="17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20"/>
          <p:cNvSpPr/>
          <p:nvPr/>
        </p:nvSpPr>
        <p:spPr>
          <a:xfrm>
            <a:off x="868680" y="5623560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42521"/>
              </a:buClr>
              <a:buSzPts val="2200"/>
              <a:buFont typeface="Arial"/>
              <a:buNone/>
            </a:pPr>
            <a:r>
              <a:rPr b="1" lang="en-US" sz="2200">
                <a:solidFill>
                  <a:srgbClr val="E42521"/>
                </a:solidFill>
                <a:latin typeface="Arial"/>
                <a:ea typeface="Arial"/>
                <a:cs typeface="Arial"/>
                <a:sym typeface="Arial"/>
              </a:rPr>
              <a:t>Next Deck: Oral Presentation Skills for Research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