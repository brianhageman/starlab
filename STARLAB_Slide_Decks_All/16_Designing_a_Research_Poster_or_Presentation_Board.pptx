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aacf777cce462b" /><Relationship Type="http://schemas.openxmlformats.org/officeDocument/2006/relationships/extended-properties" Target="/docProps/app.xml" Id="Rf1ce5de8ba954ed3" /><Relationship Type="http://schemas.openxmlformats.org/officeDocument/2006/relationships/officeDocument" Target="/ppt/presentation.xml" Id="R410b6f80b8c146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65f0f43dbc4402"/>
  </p:sldMasterIdLst>
  <p:notesMasterIdLst>
    <p:notesMasterId xmlns:r="http://schemas.openxmlformats.org/officeDocument/2006/relationships" r:id="R16ad6859b576454f"/>
  </p:notesMasterIdLst>
  <p:sldIdLst>
    <p:sldId xmlns:r="http://schemas.openxmlformats.org/officeDocument/2006/relationships" id="256" r:id="R5a066995112d4af7"/>
    <p:sldId xmlns:r="http://schemas.openxmlformats.org/officeDocument/2006/relationships" id="257" r:id="R661c81d7e4b74c85"/>
    <p:sldId xmlns:r="http://schemas.openxmlformats.org/officeDocument/2006/relationships" id="258" r:id="Re643856b6a804e70"/>
    <p:sldId xmlns:r="http://schemas.openxmlformats.org/officeDocument/2006/relationships" id="259" r:id="Rcc40abc037db4d31"/>
    <p:sldId xmlns:r="http://schemas.openxmlformats.org/officeDocument/2006/relationships" id="260" r:id="Redb9d8e470d941a4"/>
    <p:sldId xmlns:r="http://schemas.openxmlformats.org/officeDocument/2006/relationships" id="261" r:id="Rcf777a75a93e485b"/>
    <p:sldId xmlns:r="http://schemas.openxmlformats.org/officeDocument/2006/relationships" id="262" r:id="R2e0b2dc0f6c64da6"/>
    <p:sldId xmlns:r="http://schemas.openxmlformats.org/officeDocument/2006/relationships" id="263" r:id="Ra1c9524ae0a94f48"/>
    <p:sldId xmlns:r="http://schemas.openxmlformats.org/officeDocument/2006/relationships" id="264" r:id="Raa973e47d64a4a3d"/>
    <p:sldId xmlns:r="http://schemas.openxmlformats.org/officeDocument/2006/relationships" id="265" r:id="Ra4a4a3d0e4db41e8"/>
    <p:sldId xmlns:r="http://schemas.openxmlformats.org/officeDocument/2006/relationships" id="266" r:id="R272dff5ea22e437f"/>
    <p:sldId xmlns:r="http://schemas.openxmlformats.org/officeDocument/2006/relationships" id="267" r:id="R45ebff7b4df54581"/>
    <p:sldId xmlns:r="http://schemas.openxmlformats.org/officeDocument/2006/relationships" id="268" r:id="R71f31b50d2e7460e"/>
    <p:sldId xmlns:r="http://schemas.openxmlformats.org/officeDocument/2006/relationships" id="269" r:id="Ra4f2ab9ce4844a81"/>
    <p:sldId xmlns:r="http://schemas.openxmlformats.org/officeDocument/2006/relationships" id="270" r:id="R4030f8754ceb40e0"/>
    <p:sldId xmlns:r="http://schemas.openxmlformats.org/officeDocument/2006/relationships" id="271" r:id="R463db15894234d07"/>
    <p:sldId xmlns:r="http://schemas.openxmlformats.org/officeDocument/2006/relationships" id="272" r:id="Rcdeb60f78b8e481a"/>
    <p:sldId xmlns:r="http://schemas.openxmlformats.org/officeDocument/2006/relationships" id="273" r:id="Rafec8e013599452c"/>
  </p:sldIdLst>
  <p:sldSz cx="1219167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256629d44e486c" /><Relationship Type="http://schemas.openxmlformats.org/officeDocument/2006/relationships/slideMaster" Target="/ppt/slideMasters/slideMaster1.xml" Id="R6c65f0f43dbc4402" /><Relationship Type="http://schemas.openxmlformats.org/officeDocument/2006/relationships/notesMaster" Target="/ppt/notesMasters/notesMaster1.xml" Id="R16ad6859b576454f" /><Relationship Type="http://schemas.openxmlformats.org/officeDocument/2006/relationships/presProps" Target="/ppt/presProps.xml" Id="R7043662c66bc455f" /><Relationship Type="http://schemas.openxmlformats.org/officeDocument/2006/relationships/tableStyles" Target="/ppt/tableStyles.xml" Id="R8a6f819067034b46" /><Relationship Type="http://schemas.openxmlformats.org/officeDocument/2006/relationships/slide" Target="/ppt/slides/slide1.xml" Id="R5a066995112d4af7" /><Relationship Type="http://schemas.openxmlformats.org/officeDocument/2006/relationships/slide" Target="/ppt/slides/slide2.xml" Id="R661c81d7e4b74c85" /><Relationship Type="http://schemas.openxmlformats.org/officeDocument/2006/relationships/slide" Target="/ppt/slides/slide3.xml" Id="Re643856b6a804e70" /><Relationship Type="http://schemas.openxmlformats.org/officeDocument/2006/relationships/slide" Target="/ppt/slides/slide4.xml" Id="Rcc40abc037db4d31" /><Relationship Type="http://schemas.openxmlformats.org/officeDocument/2006/relationships/slide" Target="/ppt/slides/slide5.xml" Id="Redb9d8e470d941a4" /><Relationship Type="http://schemas.openxmlformats.org/officeDocument/2006/relationships/slide" Target="/ppt/slides/slide6.xml" Id="Rcf777a75a93e485b" /><Relationship Type="http://schemas.openxmlformats.org/officeDocument/2006/relationships/slide" Target="/ppt/slides/slide7.xml" Id="R2e0b2dc0f6c64da6" /><Relationship Type="http://schemas.openxmlformats.org/officeDocument/2006/relationships/slide" Target="/ppt/slides/slide8.xml" Id="Ra1c9524ae0a94f48" /><Relationship Type="http://schemas.openxmlformats.org/officeDocument/2006/relationships/slide" Target="/ppt/slides/slide9.xml" Id="Raa973e47d64a4a3d" /><Relationship Type="http://schemas.openxmlformats.org/officeDocument/2006/relationships/slide" Target="/ppt/slides/slide10.xml" Id="Ra4a4a3d0e4db41e8" /><Relationship Type="http://schemas.openxmlformats.org/officeDocument/2006/relationships/slide" Target="/ppt/slides/slide11.xml" Id="R272dff5ea22e437f" /><Relationship Type="http://schemas.openxmlformats.org/officeDocument/2006/relationships/slide" Target="/ppt/slides/slide12.xml" Id="R45ebff7b4df54581" /><Relationship Type="http://schemas.openxmlformats.org/officeDocument/2006/relationships/slide" Target="/ppt/slides/slide13.xml" Id="R71f31b50d2e7460e" /><Relationship Type="http://schemas.openxmlformats.org/officeDocument/2006/relationships/slide" Target="/ppt/slides/slide14.xml" Id="Ra4f2ab9ce4844a81" /><Relationship Type="http://schemas.openxmlformats.org/officeDocument/2006/relationships/slide" Target="/ppt/slides/slide15.xml" Id="R4030f8754ceb40e0" /><Relationship Type="http://schemas.openxmlformats.org/officeDocument/2006/relationships/slide" Target="/ppt/slides/slide16.xml" Id="R463db15894234d07" /><Relationship Type="http://schemas.openxmlformats.org/officeDocument/2006/relationships/slide" Target="/ppt/slides/slide17.xml" Id="Rcdeb60f78b8e481a" /><Relationship Type="http://schemas.openxmlformats.org/officeDocument/2006/relationships/slide" Target="/ppt/slides/slide18.xml" Id="Rafec8e01359945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bcaa6d1d3243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149b3d70294a1f" /><Relationship Type="http://schemas.openxmlformats.org/officeDocument/2006/relationships/notesMaster" Target="/ppt/notesMasters/notesMaster1.xml" Id="R3a105a54e5b145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478605e37d4942" /><Relationship Type="http://schemas.openxmlformats.org/officeDocument/2006/relationships/notesMaster" Target="/ppt/notesMasters/notesMaster1.xml" Id="R551b86237a0044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780c78b796468e" /><Relationship Type="http://schemas.openxmlformats.org/officeDocument/2006/relationships/notesMaster" Target="/ppt/notesMasters/notesMaster1.xml" Id="R03e849934e1342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6b043d2bc0479e" /><Relationship Type="http://schemas.openxmlformats.org/officeDocument/2006/relationships/notesMaster" Target="/ppt/notesMasters/notesMaster1.xml" Id="R88c3fe54b9d640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b43633bffd44f2" /><Relationship Type="http://schemas.openxmlformats.org/officeDocument/2006/relationships/notesMaster" Target="/ppt/notesMasters/notesMaster1.xml" Id="R25f1a9f2bfbf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0f401397634234" /><Relationship Type="http://schemas.openxmlformats.org/officeDocument/2006/relationships/notesMaster" Target="/ppt/notesMasters/notesMaster1.xml" Id="Rb631154a610647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bd7bfbbc764d6f" /><Relationship Type="http://schemas.openxmlformats.org/officeDocument/2006/relationships/notesMaster" Target="/ppt/notesMasters/notesMaster1.xml" Id="R28cbed6d659b48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cfd0ab874b4e32" /><Relationship Type="http://schemas.openxmlformats.org/officeDocument/2006/relationships/notesMaster" Target="/ppt/notesMasters/notesMaster1.xml" Id="R4394c72089e247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d4df71a45541a6" /><Relationship Type="http://schemas.openxmlformats.org/officeDocument/2006/relationships/notesMaster" Target="/ppt/notesMasters/notesMaster1.xml" Id="R24dd79806d334c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bc869eddd34809" /><Relationship Type="http://schemas.openxmlformats.org/officeDocument/2006/relationships/notesMaster" Target="/ppt/notesMasters/notesMaster1.xml" Id="R8665f147dc714b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faeb614bc046b1" /><Relationship Type="http://schemas.openxmlformats.org/officeDocument/2006/relationships/notesMaster" Target="/ppt/notesMasters/notesMaster1.xml" Id="Rdf68a6b507fa49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194aa9908d46fd" /><Relationship Type="http://schemas.openxmlformats.org/officeDocument/2006/relationships/notesMaster" Target="/ppt/notesMasters/notesMaster1.xml" Id="Radb25199d96f48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cb4f773c4c4fe7" /><Relationship Type="http://schemas.openxmlformats.org/officeDocument/2006/relationships/notesMaster" Target="/ppt/notesMasters/notesMaster1.xml" Id="Rc9b25f871d3944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3ea54644374e40" /><Relationship Type="http://schemas.openxmlformats.org/officeDocument/2006/relationships/notesMaster" Target="/ppt/notesMasters/notesMaster1.xml" Id="Rcc10aba0d43446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c78f693e3d4b92" /><Relationship Type="http://schemas.openxmlformats.org/officeDocument/2006/relationships/notesMaster" Target="/ppt/notesMasters/notesMaster1.xml" Id="Re544db73bab440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c71ab818df4820" /><Relationship Type="http://schemas.openxmlformats.org/officeDocument/2006/relationships/notesMaster" Target="/ppt/notesMasters/notesMaster1.xml" Id="R7c768b176da246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839c40bc344b39" /><Relationship Type="http://schemas.openxmlformats.org/officeDocument/2006/relationships/notesMaster" Target="/ppt/notesMasters/notesMaster1.xml" Id="R67acc26aca724a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12d4f74d2b48f4" /><Relationship Type="http://schemas.openxmlformats.org/officeDocument/2006/relationships/notesMaster" Target="/ppt/notesMasters/notesMaster1.xml" Id="R1f70b94586fc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TEACHING MOMENT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5, Week 28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REVISIT / REFERENCE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6, Week 32 during final showcase preparation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28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5 Student Handouts 10-11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5 Appendix O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32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Student Handouts 10-12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/ TEACHER REFERENCE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5 Appendix Q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Appendices I-K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RESOURCE ALIGNMENT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 presentation-product design in Week 28. Revisit selected slides for final showcase polish in Week 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Frame today as a design-and-communication lesson. Students are not decorating their project; they are designing a visual explanation that helps an audience understand the research quickly and honestly.</a:t>
            </a:r>
            <a:br/>
            <a:br/>
            <a:r>
              <a:t>Resource alignment:</a:t>
            </a:r>
            <a:br/>
            <a:r>
              <a:t>Use with Unit 5 Student Handout 10: Presentation Planning Guide. This deck prepares students for Unit 5 Week 28 and Unit 6 final showcase readiness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Help students understand that they should not copy and paste report paragraphs onto a board. A visual presentation should invite conversation and make the research structure visible.</a:t>
            </a:r>
            <a:br/>
            <a:br/>
            <a:r>
              <a:t>Resource alignment:</a:t>
            </a:r>
            <a:br/>
            <a:r>
              <a:t>Use with Unit 5 Appendix O: Presentation Design Standards and Unit 5 Student Handout 10: Presentation Planning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slide to make students identify the flow of their board before they start formatting. The story should be visible from several feet away.</a:t>
            </a:r>
            <a:br/>
            <a:br/>
            <a:r>
              <a:t>Resource alignment:</a:t>
            </a:r>
            <a:br/>
            <a:r>
              <a:t>Use with Unit 5 Student Handout 10: Presentation Planning Guide, especially the presentation structure and visual aid plan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often make everything the same size, which makes nothing feel important. Have them point to the first three things an audience member should notice on their board.</a:t>
            </a:r>
            <a:br/>
            <a:br/>
            <a:r>
              <a:t>Resource alignment:</a:t>
            </a:r>
            <a:br/>
            <a:r>
              <a:t>Use with Unit 5 Appendix O: Presentation Design Standards and Unit 6 Student Handout 11: Presentation Product Final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slide as a practical checklist. Emphasize that the exact layout can vary, but the audience must be able to find the major scientific sections.</a:t>
            </a:r>
            <a:br/>
            <a:br/>
            <a:r>
              <a:t>Resource alignment:</a:t>
            </a:r>
            <a:br/>
            <a:r>
              <a:t>Use with Unit 5 Appendix O: Presentation Design Standards. Also connects to Unit 6 Student Handout 11: Presentation Product Final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Ask students to identify their single most important graph, table, image, prototype comparison, or result. That item should not be small or buried.</a:t>
            </a:r>
            <a:br/>
            <a:br/>
            <a:r>
              <a:t>Resource alignment:</a:t>
            </a:r>
            <a:br/>
            <a:r>
              <a:t>Use with Unit 5 Student Handout 5: Results and Visuals Builder, Unit 5 Appendix F: Graphing Standards, and Unit 5 Appendix G: Figure and Table Caption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Do a physical distance test if students are making posters or boards. Graphs that look fine on-screen often become unreadable when printed.</a:t>
            </a:r>
            <a:br/>
            <a:br/>
            <a:r>
              <a:t>Resource alignment:</a:t>
            </a:r>
            <a:br/>
            <a:r>
              <a:t>Use with Unit 5 Appendix F: Graphing Standards and Unit 4 Student Handout 10: Graph Construction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Have students revise one weak caption into a useful figure caption. Captions are especially important during poster sessions when visitors may read before the presenter speaks.</a:t>
            </a:r>
            <a:br/>
            <a:br/>
            <a:r>
              <a:t>Resource alignment:</a:t>
            </a:r>
            <a:br/>
            <a:r>
              <a:t>Use with Unit 5 Appendix G: Figure and Table Caption Guide and Unit 4 Student Handout 12: Figure Caption Drafting.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helps students compress methods for a visual format. Encourage them to include enough method detail for trust, but not every step from the report.</a:t>
            </a:r>
            <a:br/>
            <a:br/>
            <a:r>
              <a:t>Resource alignment:</a:t>
            </a:r>
            <a:br/>
            <a:r>
              <a:t>Use with Unit 5 Student Handout 10: Presentation Planning Guide and Unit 5 Appendix O: Presentation Design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Connect this back to Deck 11. Students should see visual design as part of research integrity, not only aesthetics.</a:t>
            </a:r>
            <a:br/>
            <a:br/>
            <a:r>
              <a:t>Resource alignment:</a:t>
            </a:r>
            <a:br/>
            <a:r>
              <a:t>Use with Unit 5 Appendix F: Graphing Standards, Unit 5 Appendix O: Presentation Design Standards, and Unit 4 Appendix K: Misleading Graphs and Visual Ethics.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may want to hide limitations to make the project look stronger. Explain that visible limitations actually make the presentation more scientifically credible.</a:t>
            </a:r>
            <a:br/>
            <a:br/>
            <a:r>
              <a:t>Resource alignment:</a:t>
            </a:r>
            <a:br/>
            <a:r>
              <a:t>Use with Unit 5 Appendix O: Presentation Design Standards and Unit 6 Student Handout 11: Presentation Product Final Check. Also reinforces Unit 4 error/limitations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the main planning activity. Require students to sketch before opening design software or cutting board materials. The sketch should reveal whether the research story has a logical flow.</a:t>
            </a:r>
            <a:br/>
            <a:br/>
            <a:r>
              <a:t>Resource alignment:</a:t>
            </a:r>
            <a:br/>
            <a:r>
              <a:t>Use with Unit 5 Student Handout 10: Presentation Planning Guide and Unit 5 Appendix O: Presentation Design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often want to include every visual they made. Triage helps them prioritize clarity over completeness. Let them keep extra visuals in a report appendix or portfolio.</a:t>
            </a:r>
            <a:br/>
            <a:br/>
            <a:r>
              <a:t>Resource alignment:</a:t>
            </a:r>
            <a:br/>
            <a:r>
              <a:t>Use with Unit 5 Student Handout 5: Results and Visuals Builder and Unit 5 Student Handout 10: Presentation Planning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Run a gallery walk or partner critique. Require specific feedback. Students should leave with actionable revisions, not vague approval.</a:t>
            </a:r>
            <a:br/>
            <a:br/>
            <a:r>
              <a:t>Resource alignment:</a:t>
            </a:r>
            <a:br/>
            <a:r>
              <a:t>Use with Unit 5 Student Handout 11: Practice Presentation Feedback Form and Unit 6 Student Handout 11: Presentation Product Final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as the practical transition into final showcase preparation. Students should not begin high-stakes presentation practice with a board that still needs major design revision.</a:t>
            </a:r>
            <a:br/>
            <a:br/>
            <a:r>
              <a:t>Resource alignment:</a:t>
            </a:r>
            <a:br/>
            <a:r>
              <a:t>Use with Unit 6 Student Handout 1: Final Presentation Readiness Check and Unit 6 Student Handout 11: Presentation Product Final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These questions can guide short conferences during work time. The goal is to make the design serve the scientific argument.</a:t>
            </a:r>
            <a:br/>
            <a:br/>
            <a:r>
              <a:t>Resource alignment:</a:t>
            </a:r>
            <a:br/>
            <a:r>
              <a:t>Use during Unit 5 Week 28 work sessions and Unit 6 Week 32 final product checks. Aligns with Unit 6 Student Handout 11: Presentation Product Final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Collect this exit ticket to identify who needs design help before oral practice. Students should have a specific visual revision goal, not a vague plan to “make it better.”</a:t>
            </a:r>
            <a:br/>
            <a:br/>
            <a:r>
              <a:t>Resource alignment:</a:t>
            </a:r>
            <a:br/>
            <a:r>
              <a:t>Use after Unit 5 Student Handout 10: Presentation Planning Guide and before Deck 17: Oral Presentation Skills for Research. Next deck connection: Deck 17 — Oral Presentation Skills for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b2829522049d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bc199660754445" /><Relationship Type="http://schemas.openxmlformats.org/officeDocument/2006/relationships/slideLayout" Target="/ppt/slideLayouts/slideLayout1.xml" Id="Rb9c81094784348a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81094784348a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bb3eff02645c5" /><Relationship Type="http://schemas.openxmlformats.org/officeDocument/2006/relationships/image" Target="/ppt/media/image.png" Id="Rd28a74f693a04690" /><Relationship Type="http://schemas.openxmlformats.org/officeDocument/2006/relationships/notesSlide" Target="/ppt/notesSlides/notesSlide1.xml" Id="R4d2d7dcbfa9a45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40784d2b64ab5" /><Relationship Type="http://schemas.openxmlformats.org/officeDocument/2006/relationships/notesSlide" Target="/ppt/notesSlides/notesSlide2.xml" Id="Rcac7381ca72d4c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54ba9236c4db5" /><Relationship Type="http://schemas.openxmlformats.org/officeDocument/2006/relationships/notesSlide" Target="/ppt/notesSlides/notesSlide3.xml" Id="R97b1d41a76a54b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30b10ef73441b" /><Relationship Type="http://schemas.openxmlformats.org/officeDocument/2006/relationships/notesSlide" Target="/ppt/notesSlides/notesSlide4.xml" Id="R3779aaad29174d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da2f40ead4cbc" /><Relationship Type="http://schemas.openxmlformats.org/officeDocument/2006/relationships/notesSlide" Target="/ppt/notesSlides/notesSlide5.xml" Id="Ra48df2af8504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f29804553470f" /><Relationship Type="http://schemas.openxmlformats.org/officeDocument/2006/relationships/notesSlide" Target="/ppt/notesSlides/notesSlide6.xml" Id="Rfa7d5011d8b14e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cca0d02cf487c" /><Relationship Type="http://schemas.openxmlformats.org/officeDocument/2006/relationships/notesSlide" Target="/ppt/notesSlides/notesSlide7.xml" Id="Rb79afc6ff7f449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6942d39cc4bdd" /><Relationship Type="http://schemas.openxmlformats.org/officeDocument/2006/relationships/notesSlide" Target="/ppt/notesSlides/notesSlide8.xml" Id="R05c050a063474d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8ad9f2f99497a" /><Relationship Type="http://schemas.openxmlformats.org/officeDocument/2006/relationships/notesSlide" Target="/ppt/notesSlides/notesSlide9.xml" Id="Ra03734b752f64a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db3b671f34f08" /><Relationship Type="http://schemas.openxmlformats.org/officeDocument/2006/relationships/notesSlide" Target="/ppt/notesSlides/notesSlide10.xml" Id="R7e89db3ccf6a40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05277d3f94ef8" /><Relationship Type="http://schemas.openxmlformats.org/officeDocument/2006/relationships/notesSlide" Target="/ppt/notesSlides/notesSlide11.xml" Id="R734d9adba24842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8d069b5784836" /><Relationship Type="http://schemas.openxmlformats.org/officeDocument/2006/relationships/notesSlide" Target="/ppt/notesSlides/notesSlide12.xml" Id="R93ac16f2778c44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ee49b2fbf49bf" /><Relationship Type="http://schemas.openxmlformats.org/officeDocument/2006/relationships/notesSlide" Target="/ppt/notesSlides/notesSlide13.xml" Id="R3886fd7423324e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6c190879d4d40" /><Relationship Type="http://schemas.openxmlformats.org/officeDocument/2006/relationships/notesSlide" Target="/ppt/notesSlides/notesSlide14.xml" Id="Rd90769f28fd94f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6ad6d427248de" /><Relationship Type="http://schemas.openxmlformats.org/officeDocument/2006/relationships/notesSlide" Target="/ppt/notesSlides/notesSlide15.xml" Id="R24224a83539d48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cc946a67743a3" /><Relationship Type="http://schemas.openxmlformats.org/officeDocument/2006/relationships/notesSlide" Target="/ppt/notesSlides/notesSlide16.xml" Id="R4e1826da50e744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be239244a4aa0" /><Relationship Type="http://schemas.openxmlformats.org/officeDocument/2006/relationships/notesSlide" Target="/ppt/notesSlides/notesSlide17.xml" Id="R8490dafacb4f4d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81571da98406f" /><Relationship Type="http://schemas.openxmlformats.org/officeDocument/2006/relationships/notesSlide" Target="/ppt/notesSlides/notesSlide18.xml" Id="R4a1b097116534c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A531AE8-1D5C-4F45-A70F-26F0D0BE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460E934D-6679-48B5-8252-7EA8B8B9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B189CAFF-C886-4F99-8A18-253ECB56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" name="Google Shape;1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8a74f693a046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0240" y="530352"/>
            <a:ext cx="8412480" cy="3566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AB9F9FD8-426F-49C8-B63F-E6511502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106527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0"/>
            </a:srgbClr>
          </a:solidFill>
          <a:ln xmlns:a="http://schemas.openxmlformats.org/drawingml/2006/main" w="12700" cmpd="sng">
            <a:solidFill>
              <a:srgbClr val="D8D8D8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9FA4ADA8-2E8C-4779-B312-4DB6846E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5152"/>
            <a:ext cx="102870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sz="2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DESIGNING A RESEARCH POSTER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sz="2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OR PRESENTATION BOARD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DA34FC19-46D1-4450-ADDE-30F89FB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 Deck 16  •  Unit 5–6 Presentation Preparation</a:t>
            </a:r>
          </a:p>
        </p:txBody>
      </p:sp>
    </p:spTree>
    <p:extLst>
      <p:ext uri="{BB962C8B-B14F-4D97-AF65-F5344CB8AC3E}">
        <p14:creationId xmlns:p14="http://schemas.microsoft.com/office/powerpoint/2010/main" val="1658790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FADB963D-3857-4108-8901-37E4BBE1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F1EA4D8B-E416-4775-BD1D-AED5F9E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EB1C3565-8FF1-4111-8888-A7139ED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C2784FCB-3C4F-41BC-95DA-65B3EE54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64F846D3-34DE-452A-83D9-FC071662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EB849C96-F122-4ABC-9210-27F46A0D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7654297E-742E-4795-9E30-24DAEE93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Today’s Target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13273C4D-D2E6-4411-A88B-9CD7F91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478A3057-B0AC-419E-B6A6-BBD5D129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sz="2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a report into a clear public-facing research story.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C89B1F38-D737-40F7-8996-7F11F733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51206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89EBB582-B4A9-4A0B-B2F6-7DFE00A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73152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313543D0-D143-4E42-B058-1A9800BB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487168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BY THE END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0833EDFE-B398-4664-BF78-157170D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816352"/>
            <a:ext cx="4846320" cy="116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should be able to choose what belongs on a poster or board, organize it in a logical flow, and revise visuals so they support scientific explanation.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D28A4F50-8E0E-4E4D-82BE-32109A3A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77440"/>
            <a:ext cx="51206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F605DBE0-6618-4395-A9AD-0112B7D4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77440"/>
            <a:ext cx="73152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88D15ADD-0792-400E-87FA-635AEB3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87168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CORE STANDARD</a:t>
            </a: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9DA09840-B141-4DAF-B21C-E8C0F379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816352"/>
            <a:ext cx="4846320" cy="116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audience should understand the question, method, evidence, conclusion, limitation, and future work without needing a five-minute rescue explanation.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8F2F2A4C-A928-480C-A3CA-B196E65E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104241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D8D8D8"/>
                </a:solidFill>
                <a:latin typeface="Arial"/>
                <a:ea typeface="Arial"/>
                <a:cs typeface="Arial"/>
              </a:rPr>
              <a:t>Student activity: begin Unit 5 Student Handout 10 by writing a one-sentence research story.</a:t>
            </a:r>
          </a:p>
        </p:txBody>
      </p:sp>
    </p:spTree>
    <p:extLst>
      <p:ext uri="{BB962C8B-B14F-4D97-AF65-F5344CB8AC3E}">
        <p14:creationId xmlns:p14="http://schemas.microsoft.com/office/powerpoint/2010/main" val="261411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AF511881-38EF-44DF-A6EF-11B5B74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FFE521DD-CA6D-4DCF-8FFA-A23F041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5208C65C-0F19-4829-8A37-9DBDCC8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F6C6E47E-1647-4124-B07C-DC0C77CB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21432EA4-BD3D-4997-8E28-02B859A9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D5DB07DB-FAD6-451C-BBA3-26738FC1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03149EC5-C2D8-43D8-91BF-FCA44FDF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Poster Is Not a Smaller Report</a:t>
            </a: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8C4E7CF6-1EB1-41D8-90E8-3AA3F1E6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6D3DE210-423D-4B00-ADEE-0831A6EA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8136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report is built for reading. A poster or board is built for scanning, questioning, and conversation.</a:t>
            </a: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F60A77C2-530C-4201-A013-639B065D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48463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96172568-9209-4C44-954D-D2FFF64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5FBB11E6-A95A-4977-ACCD-CC75D082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624328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A7B88874-D32A-40BB-B440-F4F75AE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53512"/>
            <a:ext cx="4572000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Detailed explanation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methods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Extended reasoning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 and supporting information</a:t>
            </a: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6C88DED2-EC67-467A-8FC1-60BE8486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14600"/>
            <a:ext cx="484632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77060A29-F7E8-4947-9560-67E75C18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1460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44682EE0-E64D-4E74-A4FC-99485CF7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624328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POSTER / BOARD</a:t>
            </a: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CE8ADAED-B662-4E7B-B01E-91FFF7F0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953512"/>
            <a:ext cx="4572000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Guided overview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 important visuals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Concise evidence story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Prompts for conversation</a:t>
            </a: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F65A8B91-709E-43A7-860A-020CDD40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 move: reduce, prioritize, and guide the eye.</a:t>
            </a:r>
          </a:p>
        </p:txBody>
      </p:sp>
    </p:spTree>
    <p:extLst>
      <p:ext uri="{BB962C8B-B14F-4D97-AF65-F5344CB8AC3E}">
        <p14:creationId xmlns:p14="http://schemas.microsoft.com/office/powerpoint/2010/main" val="716968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F9944E15-CD1B-4009-8336-7905143E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6CFEC9AB-6BA6-4912-B370-8D85101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3FBC76DB-F06B-4129-A63D-965C5970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C3DC347E-D5C2-4A86-9632-64D136A9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434B1F17-80C0-4EA4-BA96-2FDD015E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47217028-427E-4205-8012-C4FFB261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5DF9D0B5-9C86-4578-8234-D54E9A4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Research Story Must Be Obvious</a:t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60C8B641-9C1B-44F3-BA26-9AEB34B4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1A0289BC-9CCD-4309-B26B-FEC8601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270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9E574FCD-597B-4C3F-AFC6-0BB7A3DD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59152"/>
            <a:ext cx="1380744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or purpose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9BDB483E-8B26-4E07-ADA6-9EAEC95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249631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8F9A657A-0231-4F47-B706-4A7FF52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4028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270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86B02CCC-C9C7-44A3-BFCD-07233BC5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2359152"/>
            <a:ext cx="1380744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question or goal</a:t>
            </a: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547EE5DF-51E1-4858-9400-1D86B466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49631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905F548D-063D-4A57-9FA4-9030709C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24028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270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9D57281B-178F-41AC-9C0B-EBB7538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359152"/>
            <a:ext cx="1380744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 overview</a:t>
            </a: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6AA6E7FF-D292-4B58-8311-97DAF3F0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49631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3AD4270D-16B9-4F9F-A00F-3E2E5ED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24028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09064A5E-21E0-4CEC-B7BE-1A48AF1D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359152"/>
            <a:ext cx="1380744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D5F2C3DD-044D-4EA0-9D09-7D00EBC6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249631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573D62E0-2FFF-4871-802A-D89B071B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24028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270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68924F97-930C-420B-A528-706DA928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59152"/>
            <a:ext cx="1380744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7A586C3C-94CE-49FF-9A35-18CCDDF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249631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A167977-9B46-495E-A569-FD7861AF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240280"/>
            <a:ext cx="16002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270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03BD7DB7-72ED-4461-9502-BAFAE318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359152"/>
            <a:ext cx="1380744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 + future work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7E7CE102-0761-466C-82C1-61F2303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6908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If the audience cannot find the story quickly, the layout is doing too much or guiding too little.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AD9CF343-5FA7-4E11-95BD-49A84189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348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D8D8D8"/>
                </a:solidFill>
                <a:latin typeface="Arial"/>
                <a:ea typeface="Arial"/>
                <a:cs typeface="Arial"/>
              </a:rPr>
              <a:t>Student activity: use the presentation outline in Handout 10 to identify the one section your visual currently hides or overcomplicates.</a:t>
            </a:r>
          </a:p>
        </p:txBody>
      </p:sp>
    </p:spTree>
    <p:extLst>
      <p:ext uri="{BB962C8B-B14F-4D97-AF65-F5344CB8AC3E}">
        <p14:creationId xmlns:p14="http://schemas.microsoft.com/office/powerpoint/2010/main" val="1371085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7">
            <a:extLst xmlns:a="http://schemas.openxmlformats.org/drawingml/2006/main">
              <a:ext uri="{FF2B5EF4-FFF2-40B4-BE49-F238E27FC236}">
                <a16:creationId xmlns:a16="http://schemas.microsoft.com/office/drawing/2014/main" id="{9C69131C-2365-470E-A315-E0622E16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4F39ED1F-7ABD-4649-8DF5-9B3E38AE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CCD6544E-A0F0-41E1-ADF4-7826CEB0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88A4994F-543B-4D0F-91BF-0B7F22EA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F521946A-4E79-4025-AADA-16DAD54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D74E6085-D4B2-4386-A102-EFD1C725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112" name="Google Shape;112;p7">
            <a:extLst xmlns:a="http://schemas.openxmlformats.org/drawingml/2006/main">
              <a:ext uri="{FF2B5EF4-FFF2-40B4-BE49-F238E27FC236}">
                <a16:creationId xmlns:a16="http://schemas.microsoft.com/office/drawing/2014/main" id="{103EE756-795F-469E-8C4A-0709383F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Hierarchy: What Should the Eye See First?</a:t>
            </a:r>
          </a:p>
        </p:txBody>
      </p:sp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274E9762-CBD1-411E-B25D-A217281E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B93BCDCC-1405-495D-9880-8F0167E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every piece of information deserves the same visual weight.</a:t>
            </a: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8613841C-3AE6-4683-80AB-FA9184D4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32918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5A150771-2DFD-43A4-8048-696DED87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95890A9E-E3EA-4BE2-BD5B-CFDB77A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41448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LARGEST</a:t>
            </a:r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FF6C3DFB-EA95-4B61-B82D-8032AC5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770632"/>
            <a:ext cx="3017520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question or engineering goal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conclusion</a:t>
            </a:r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2005E8DD-344E-4972-91AD-77CECEAF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32918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D19FF35F-0876-4CDA-917E-BB0C8797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9C805AAB-4BE3-4E6A-9A12-4D5DB877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441448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F85BD9BC-1E2A-4678-AE39-2A75586E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770632"/>
            <a:ext cx="3017520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 diagram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result statements</a:t>
            </a: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F2DC8306-F790-401D-9853-FC920850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331720"/>
            <a:ext cx="32918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23AB8576-BC59-4132-BBEC-38989BE3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CAF71734-0944-4095-A31D-FD97CB70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441448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SMALLEST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43701803-3692-4C02-90BD-19F771F0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70632"/>
            <a:ext cx="3017520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Background details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Procedure notes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Acknowledgments</a:t>
            </a: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11612F29-2399-4C6C-A09C-5AD7FFA1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106070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100"/>
              <a:buFont typeface="Arial"/>
              <a:buNone/>
            </a:pPr>
            <a:r>
              <a:rPr sz="21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 rule: the most important scientific idea should be the easiest thing to find.</a:t>
            </a:r>
          </a:p>
        </p:txBody>
      </p:sp>
    </p:spTree>
    <p:extLst>
      <p:ext uri="{BB962C8B-B14F-4D97-AF65-F5344CB8AC3E}">
        <p14:creationId xmlns:p14="http://schemas.microsoft.com/office/powerpoint/2010/main" val="2064045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574D98E2-4FB4-4EB4-857C-08592B2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61BA52E7-BFFF-498D-8772-60C6C3D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3E9EE7C6-E409-4D8F-BA34-FBF0CAA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2B34570B-D191-475F-BE29-C7B37DF5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36BE6652-8057-478E-98DF-1C79586C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1898BD04-A1EC-49D0-AC1A-65525830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9A4A33E8-2616-4E55-8F80-9BF21A69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Recommended Poster or Board Sections</a:t>
            </a:r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2391ED83-26EE-4CE3-9763-36535FBF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7FBEBB8A-B3C5-4934-8506-B013D90D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4480560" cy="425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 + student/school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question or engineering goal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 / brief background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Methods summary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Results: graphs, tables, images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 or conclusion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work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Acknowledgments / references</a:t>
            </a:r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323627CD-7F76-4775-9D66-15606290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0240"/>
            <a:ext cx="53035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6FD3B7C5-C42D-4BC9-8F37-5DA5186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0240"/>
            <a:ext cx="73152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A0C36A06-52DF-4E62-A1B0-D06BE79F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02996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C7C545D5-81EA-49D6-A6F1-5DF6C78B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359152"/>
            <a:ext cx="5029200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These sections do not all need equal space. Results and evidence should usually dominate the board. Background should be brief. Methods should be visual when possible.</a:t>
            </a: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710BA0C9-4134-42C0-91EF-F20ABB1C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800"/>
              <a:buFont typeface="Arial"/>
              <a:buNone/>
            </a:pPr>
            <a:r>
              <a:rPr sz="28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Evidence first. Decoration last.</a:t>
            </a:r>
          </a:p>
        </p:txBody>
      </p:sp>
    </p:spTree>
    <p:extLst>
      <p:ext uri="{BB962C8B-B14F-4D97-AF65-F5344CB8AC3E}">
        <p14:creationId xmlns:p14="http://schemas.microsoft.com/office/powerpoint/2010/main" val="85517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800CD301-0048-43E6-9934-FE694A11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D6766F13-5AAE-4C13-B61D-2C4FB599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AA36995C-7A28-491F-AD96-28F7DE98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2645DACD-B1E3-4DB8-9A05-17654CB3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08CB0C37-C3FE-4530-B54D-FEDFAB58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03F15992-2034-42D5-A75D-B4F67CA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158" name="Google Shape;158;p9">
            <a:extLst xmlns:a="http://schemas.openxmlformats.org/drawingml/2006/main">
              <a:ext uri="{FF2B5EF4-FFF2-40B4-BE49-F238E27FC236}">
                <a16:creationId xmlns:a16="http://schemas.microsoft.com/office/drawing/2014/main" id="{A1F5C976-5D0A-4C11-B1DF-57E98489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the Board Around Evidence</a:t>
            </a:r>
          </a:p>
        </p:txBody>
      </p: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53FA0B19-07FB-4CB8-9F13-BCF408E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F9EB54FA-5D9A-4298-A4F0-196D14E1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largest section should usually be the evidence your claim depends on.</a:t>
            </a:r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C13B6510-007C-4544-A0DD-8539BD10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475488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BFD5AAB6-5935-4BE6-A5C8-7D259D29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5B887E4A-7420-4988-AEE8-41A1AA55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3288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WEAK PRIORITY</a:t>
            </a:r>
          </a:p>
        </p:txBody>
      </p:sp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2951560E-CAB1-4F15-AAC9-E6D621A1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62072"/>
            <a:ext cx="4480560" cy="1618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 background paragraphs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Tiny graph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 without numbers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limitation visible</a:t>
            </a:r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2C73EC5D-5C5F-4FA8-A66D-5D18EE49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423160"/>
            <a:ext cx="475488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03C9D367-28B3-4E6B-B692-AFFE140E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42316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48C90591-0CAD-4042-BEE6-9556A234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53288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STRONG PRIORITY</a:t>
            </a:r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9389D682-1F0B-4E78-A17F-769D699C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862072"/>
            <a:ext cx="4480560" cy="1618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Large graph or prototype image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 result statement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Caption with units/trials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limitation note</a:t>
            </a:r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4FE08CC9-288E-43EF-85F9-D3E55A00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106070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200"/>
              <a:buFont typeface="Arial"/>
              <a:buNone/>
            </a:pPr>
            <a:r>
              <a:rPr sz="2200" b="1">
                <a:solidFill>
                  <a:srgbClr val="D8D8D8"/>
                </a:solidFill>
                <a:latin typeface="Arial"/>
                <a:ea typeface="Arial"/>
                <a:cs typeface="Arial"/>
              </a:rPr>
              <a:t>The board should make the strongest evidence hard to miss.</a:t>
            </a:r>
          </a:p>
        </p:txBody>
      </p:sp>
    </p:spTree>
    <p:extLst>
      <p:ext uri="{BB962C8B-B14F-4D97-AF65-F5344CB8AC3E}">
        <p14:creationId xmlns:p14="http://schemas.microsoft.com/office/powerpoint/2010/main" val="836229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Google Shape;175;p10">
            <a:extLst xmlns:a="http://schemas.openxmlformats.org/drawingml/2006/main">
              <a:ext uri="{FF2B5EF4-FFF2-40B4-BE49-F238E27FC236}">
                <a16:creationId xmlns:a16="http://schemas.microsoft.com/office/drawing/2014/main" id="{05C06AA6-DA1A-4207-83F9-F577086E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6" name="Google Shape;176;p10">
            <a:extLst xmlns:a="http://schemas.openxmlformats.org/drawingml/2006/main">
              <a:ext uri="{FF2B5EF4-FFF2-40B4-BE49-F238E27FC236}">
                <a16:creationId xmlns:a16="http://schemas.microsoft.com/office/drawing/2014/main" id="{9001680F-FFC6-4719-A397-041025D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7" name="Google Shape;177;p10">
            <a:extLst xmlns:a="http://schemas.openxmlformats.org/drawingml/2006/main">
              <a:ext uri="{FF2B5EF4-FFF2-40B4-BE49-F238E27FC236}">
                <a16:creationId xmlns:a16="http://schemas.microsoft.com/office/drawing/2014/main" id="{32FDD017-0492-4DC0-B803-58A136A3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8" name="Google Shape;178;p10">
            <a:extLst xmlns:a="http://schemas.openxmlformats.org/drawingml/2006/main">
              <a:ext uri="{FF2B5EF4-FFF2-40B4-BE49-F238E27FC236}">
                <a16:creationId xmlns:a16="http://schemas.microsoft.com/office/drawing/2014/main" id="{4C6A7AF5-6BE0-4C21-A41B-262A954B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179" name="Google Shape;179;p10">
            <a:extLst xmlns:a="http://schemas.openxmlformats.org/drawingml/2006/main">
              <a:ext uri="{FF2B5EF4-FFF2-40B4-BE49-F238E27FC236}">
                <a16:creationId xmlns:a16="http://schemas.microsoft.com/office/drawing/2014/main" id="{BE8202E1-1CCF-4EAC-B183-44A11E3E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AEC14419-96B0-4E47-B55C-FC462429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951BB343-4404-4A43-B7DA-725A782F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Graphs Must Be Readable From a Distance</a:t>
            </a:r>
          </a:p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BFFBAF4F-A2A9-4EA8-95F4-3208B1A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683AA933-02A8-489B-A753-60598FB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graph that only works on your laptop does not work on a presentation board.</a:t>
            </a:r>
          </a:p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EF05C9FA-DDB2-495E-B6EB-01C7EE8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4846320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Axis labels large enough to read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Units included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Scale is honest and appropriate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Legend included if needed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Caption explains what is shown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Unnecessary effects removed</a:t>
            </a:r>
          </a:p>
        </p:txBody>
      </p:sp>
      <p:sp>
        <p:nvSpPr>
          <p:cNvPr id="185" name="Google Shape;185;p10">
            <a:extLst xmlns:a="http://schemas.openxmlformats.org/drawingml/2006/main">
              <a:ext uri="{FF2B5EF4-FFF2-40B4-BE49-F238E27FC236}">
                <a16:creationId xmlns:a16="http://schemas.microsoft.com/office/drawing/2014/main" id="{3AF95590-4D57-4187-9298-EBFA6E0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66344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89D2C79E-FB65-4E0D-9E53-A90C1CD9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B2288AB4-1D81-43B2-9A9C-5158BBC1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624328"/>
            <a:ext cx="43891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TEST IT</a:t>
            </a:r>
          </a:p>
        </p:txBody>
      </p:sp>
      <p:sp>
        <p:nvSpPr>
          <p:cNvPr id="188" name="Google Shape;188;p10">
            <a:extLst xmlns:a="http://schemas.openxmlformats.org/drawingml/2006/main">
              <a:ext uri="{FF2B5EF4-FFF2-40B4-BE49-F238E27FC236}">
                <a16:creationId xmlns:a16="http://schemas.microsoft.com/office/drawing/2014/main" id="{A67F6786-5B1E-45CB-8A21-509D956B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953512"/>
            <a:ext cx="4389120" cy="138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 6–8 feet away. Can you still read the title, axes, units, and major pattern? If not, simplify or enlarge it.</a:t>
            </a:r>
          </a:p>
        </p:txBody>
      </p:sp>
    </p:spTree>
    <p:extLst>
      <p:ext uri="{BB962C8B-B14F-4D97-AF65-F5344CB8AC3E}">
        <p14:creationId xmlns:p14="http://schemas.microsoft.com/office/powerpoint/2010/main" val="54214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Google Shape;194;p11">
            <a:extLst xmlns:a="http://schemas.openxmlformats.org/drawingml/2006/main">
              <a:ext uri="{FF2B5EF4-FFF2-40B4-BE49-F238E27FC236}">
                <a16:creationId xmlns:a16="http://schemas.microsoft.com/office/drawing/2014/main" id="{D543C15C-EA41-496F-98A8-BF5DBB87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5" name="Google Shape;195;p11">
            <a:extLst xmlns:a="http://schemas.openxmlformats.org/drawingml/2006/main">
              <a:ext uri="{FF2B5EF4-FFF2-40B4-BE49-F238E27FC236}">
                <a16:creationId xmlns:a16="http://schemas.microsoft.com/office/drawing/2014/main" id="{B9FC1F05-88B6-4E33-A318-F495A2A8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6" name="Google Shape;196;p11">
            <a:extLst xmlns:a="http://schemas.openxmlformats.org/drawingml/2006/main">
              <a:ext uri="{FF2B5EF4-FFF2-40B4-BE49-F238E27FC236}">
                <a16:creationId xmlns:a16="http://schemas.microsoft.com/office/drawing/2014/main" id="{BC654972-C6A7-4891-A826-337CA4C6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11">
            <a:extLst xmlns:a="http://schemas.openxmlformats.org/drawingml/2006/main">
              <a:ext uri="{FF2B5EF4-FFF2-40B4-BE49-F238E27FC236}">
                <a16:creationId xmlns:a16="http://schemas.microsoft.com/office/drawing/2014/main" id="{E37E7DA1-1F61-4951-9766-3E6AC05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198" name="Google Shape;198;p11">
            <a:extLst xmlns:a="http://schemas.openxmlformats.org/drawingml/2006/main">
              <a:ext uri="{FF2B5EF4-FFF2-40B4-BE49-F238E27FC236}">
                <a16:creationId xmlns:a16="http://schemas.microsoft.com/office/drawing/2014/main" id="{09465F81-65D9-44CB-8B19-C8796C67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99" name="Google Shape;199;p11">
            <a:extLst xmlns:a="http://schemas.openxmlformats.org/drawingml/2006/main">
              <a:ext uri="{FF2B5EF4-FFF2-40B4-BE49-F238E27FC236}">
                <a16:creationId xmlns:a16="http://schemas.microsoft.com/office/drawing/2014/main" id="{B43B40E9-113D-40FB-B1A9-9FD281DD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200" name="Google Shape;200;p11">
            <a:extLst xmlns:a="http://schemas.openxmlformats.org/drawingml/2006/main">
              <a:ext uri="{FF2B5EF4-FFF2-40B4-BE49-F238E27FC236}">
                <a16:creationId xmlns:a16="http://schemas.microsoft.com/office/drawing/2014/main" id="{928645A5-6D47-44C6-A2DF-2981E71F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Captions Do Quiet Scientific Work</a:t>
            </a:r>
          </a:p>
        </p:txBody>
      </p:sp>
      <p:sp>
        <p:nvSpPr>
          <p:cNvPr id="201" name="Google Shape;201;p11">
            <a:extLst xmlns:a="http://schemas.openxmlformats.org/drawingml/2006/main">
              <a:ext uri="{FF2B5EF4-FFF2-40B4-BE49-F238E27FC236}">
                <a16:creationId xmlns:a16="http://schemas.microsoft.com/office/drawing/2014/main" id="{2D1C0BD1-0DBD-427F-8F21-17CA37D1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" name="Google Shape;202;p11">
            <a:extLst xmlns:a="http://schemas.openxmlformats.org/drawingml/2006/main">
              <a:ext uri="{FF2B5EF4-FFF2-40B4-BE49-F238E27FC236}">
                <a16:creationId xmlns:a16="http://schemas.microsoft.com/office/drawing/2014/main" id="{0346571D-CAA9-46AE-ADBA-1661E82B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caption should tell the audience what the visual shows and how to read it.</a:t>
            </a:r>
          </a:p>
        </p:txBody>
      </p:sp>
      <p:sp>
        <p:nvSpPr>
          <p:cNvPr id="203" name="Google Shape;203;p11">
            <a:extLst xmlns:a="http://schemas.openxmlformats.org/drawingml/2006/main">
              <a:ext uri="{FF2B5EF4-FFF2-40B4-BE49-F238E27FC236}">
                <a16:creationId xmlns:a16="http://schemas.microsoft.com/office/drawing/2014/main" id="{DD157D9F-DE60-4B48-BBFF-FEF4D8B2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521208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4" name="Google Shape;204;p11">
            <a:extLst xmlns:a="http://schemas.openxmlformats.org/drawingml/2006/main">
              <a:ext uri="{FF2B5EF4-FFF2-40B4-BE49-F238E27FC236}">
                <a16:creationId xmlns:a16="http://schemas.microsoft.com/office/drawing/2014/main" id="{7F43C7BF-2750-4E4E-AB83-B44F230C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11">
            <a:extLst xmlns:a="http://schemas.openxmlformats.org/drawingml/2006/main">
              <a:ext uri="{FF2B5EF4-FFF2-40B4-BE49-F238E27FC236}">
                <a16:creationId xmlns:a16="http://schemas.microsoft.com/office/drawing/2014/main" id="{3BE2913E-2634-4843-AA47-1DC8C59D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87168"/>
            <a:ext cx="49377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CAPTION FORMULA</a:t>
            </a:r>
          </a:p>
        </p:txBody>
      </p:sp>
      <p:sp>
        <p:nvSpPr>
          <p:cNvPr id="206" name="Google Shape;206;p11">
            <a:extLst xmlns:a="http://schemas.openxmlformats.org/drawingml/2006/main">
              <a:ext uri="{FF2B5EF4-FFF2-40B4-BE49-F238E27FC236}">
                <a16:creationId xmlns:a16="http://schemas.microsoft.com/office/drawing/2014/main" id="{0423FC8C-711A-43A6-997A-D783EC8E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16352"/>
            <a:ext cx="4937760" cy="143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number + what is shown + groups/conditions + key measurement details + major visible pattern or purpose</a:t>
            </a:r>
          </a:p>
        </p:txBody>
      </p:sp>
      <p:sp>
        <p:nvSpPr>
          <p:cNvPr id="207" name="Google Shape;207;p11">
            <a:extLst xmlns:a="http://schemas.openxmlformats.org/drawingml/2006/main">
              <a:ext uri="{FF2B5EF4-FFF2-40B4-BE49-F238E27FC236}">
                <a16:creationId xmlns:a16="http://schemas.microsoft.com/office/drawing/2014/main" id="{C691C86A-09F7-4BA2-BEA3-E3F32AB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77440"/>
            <a:ext cx="475488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8" name="Google Shape;208;p11">
            <a:extLst xmlns:a="http://schemas.openxmlformats.org/drawingml/2006/main">
              <a:ext uri="{FF2B5EF4-FFF2-40B4-BE49-F238E27FC236}">
                <a16:creationId xmlns:a16="http://schemas.microsoft.com/office/drawing/2014/main" id="{6CD6DDFA-DA09-4476-A908-5B2DFF9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7744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9" name="Google Shape;209;p11">
            <a:extLst xmlns:a="http://schemas.openxmlformats.org/drawingml/2006/main">
              <a:ext uri="{FF2B5EF4-FFF2-40B4-BE49-F238E27FC236}">
                <a16:creationId xmlns:a16="http://schemas.microsoft.com/office/drawing/2014/main" id="{E24A28F9-CC3F-4A9C-854E-6F507F09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8716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210" name="Google Shape;210;p11">
            <a:extLst xmlns:a="http://schemas.openxmlformats.org/drawingml/2006/main">
              <a:ext uri="{FF2B5EF4-FFF2-40B4-BE49-F238E27FC236}">
                <a16:creationId xmlns:a16="http://schemas.microsoft.com/office/drawing/2014/main" id="{D2F621DB-AE71-4951-905E-5D97F76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816352"/>
            <a:ext cx="4480560" cy="143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“My graph”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“Results”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“Bridge picture”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“Data from experiment”</a:t>
            </a:r>
          </a:p>
        </p:txBody>
      </p:sp>
      <p:sp>
        <p:nvSpPr>
          <p:cNvPr id="211" name="Google Shape;211;p11">
            <a:extLst xmlns:a="http://schemas.openxmlformats.org/drawingml/2006/main">
              <a:ext uri="{FF2B5EF4-FFF2-40B4-BE49-F238E27FC236}">
                <a16:creationId xmlns:a16="http://schemas.microsoft.com/office/drawing/2014/main" id="{50360A66-4D62-4ADF-A444-C80B61F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None/>
            </a:pPr>
            <a:r>
              <a:rPr sz="2000">
                <a:solidFill>
                  <a:srgbClr val="D8D8D8"/>
                </a:solidFill>
                <a:latin typeface="Arial"/>
                <a:ea typeface="Arial"/>
                <a:cs typeface="Arial"/>
              </a:rPr>
              <a:t>A good caption reduces how much the presenter has to rescue verbally.</a:t>
            </a:r>
          </a:p>
        </p:txBody>
      </p:sp>
    </p:spTree>
    <p:extLst>
      <p:ext uri="{BB962C8B-B14F-4D97-AF65-F5344CB8AC3E}">
        <p14:creationId xmlns:p14="http://schemas.microsoft.com/office/powerpoint/2010/main" val="1526798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" name="Google Shape;217;p12">
            <a:extLst xmlns:a="http://schemas.openxmlformats.org/drawingml/2006/main">
              <a:ext uri="{FF2B5EF4-FFF2-40B4-BE49-F238E27FC236}">
                <a16:creationId xmlns:a16="http://schemas.microsoft.com/office/drawing/2014/main" id="{F09AC858-94ED-4DFD-909A-0697A77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8" name="Google Shape;218;p12">
            <a:extLst xmlns:a="http://schemas.openxmlformats.org/drawingml/2006/main">
              <a:ext uri="{FF2B5EF4-FFF2-40B4-BE49-F238E27FC236}">
                <a16:creationId xmlns:a16="http://schemas.microsoft.com/office/drawing/2014/main" id="{B63F1B0F-B432-443A-AE56-C2110F3D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9" name="Google Shape;219;p12">
            <a:extLst xmlns:a="http://schemas.openxmlformats.org/drawingml/2006/main">
              <a:ext uri="{FF2B5EF4-FFF2-40B4-BE49-F238E27FC236}">
                <a16:creationId xmlns:a16="http://schemas.microsoft.com/office/drawing/2014/main" id="{C25E5ACB-20B6-43F6-9A8D-89140EF5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0" name="Google Shape;220;p12">
            <a:extLst xmlns:a="http://schemas.openxmlformats.org/drawingml/2006/main">
              <a:ext uri="{FF2B5EF4-FFF2-40B4-BE49-F238E27FC236}">
                <a16:creationId xmlns:a16="http://schemas.microsoft.com/office/drawing/2014/main" id="{13E84924-6B15-4DA5-A9AB-E6E92DE6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221" name="Google Shape;221;p12">
            <a:extLst xmlns:a="http://schemas.openxmlformats.org/drawingml/2006/main">
              <a:ext uri="{FF2B5EF4-FFF2-40B4-BE49-F238E27FC236}">
                <a16:creationId xmlns:a16="http://schemas.microsoft.com/office/drawing/2014/main" id="{0DCD94C9-05A3-4FED-B9B9-FDB6DEDF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222" name="Google Shape;222;p12">
            <a:extLst xmlns:a="http://schemas.openxmlformats.org/drawingml/2006/main">
              <a:ext uri="{FF2B5EF4-FFF2-40B4-BE49-F238E27FC236}">
                <a16:creationId xmlns:a16="http://schemas.microsoft.com/office/drawing/2014/main" id="{AF65BFAE-A796-48E8-962C-A4549CE5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223" name="Google Shape;223;p12">
            <a:extLst xmlns:a="http://schemas.openxmlformats.org/drawingml/2006/main">
              <a:ext uri="{FF2B5EF4-FFF2-40B4-BE49-F238E27FC236}">
                <a16:creationId xmlns:a16="http://schemas.microsoft.com/office/drawing/2014/main" id="{81BEFE1F-2B73-415A-988B-5A74520B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Methods Should Be Visual When Possible</a:t>
            </a:r>
          </a:p>
        </p:txBody>
      </p:sp>
      <p:sp>
        <p:nvSpPr>
          <p:cNvPr id="224" name="Google Shape;224;p12">
            <a:extLst xmlns:a="http://schemas.openxmlformats.org/drawingml/2006/main">
              <a:ext uri="{FF2B5EF4-FFF2-40B4-BE49-F238E27FC236}">
                <a16:creationId xmlns:a16="http://schemas.microsoft.com/office/drawing/2014/main" id="{2F368CD5-ADDF-4DC5-8381-2CC58642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12">
            <a:extLst xmlns:a="http://schemas.openxmlformats.org/drawingml/2006/main">
              <a:ext uri="{FF2B5EF4-FFF2-40B4-BE49-F238E27FC236}">
                <a16:creationId xmlns:a16="http://schemas.microsoft.com/office/drawing/2014/main" id="{E416248F-FE75-42E2-B551-CAB959A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method visual can replace a long paragraph and make the project easier to evaluate.</a:t>
            </a:r>
          </a:p>
        </p:txBody>
      </p:sp>
      <p:sp>
        <p:nvSpPr>
          <p:cNvPr id="226" name="Google Shape;226;p12">
            <a:extLst xmlns:a="http://schemas.openxmlformats.org/drawingml/2006/main">
              <a:ext uri="{FF2B5EF4-FFF2-40B4-BE49-F238E27FC236}">
                <a16:creationId xmlns:a16="http://schemas.microsoft.com/office/drawing/2014/main" id="{0F79AF93-DB25-48C1-B54A-401AC61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475488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12">
            <a:extLst xmlns:a="http://schemas.openxmlformats.org/drawingml/2006/main">
              <a:ext uri="{FF2B5EF4-FFF2-40B4-BE49-F238E27FC236}">
                <a16:creationId xmlns:a16="http://schemas.microsoft.com/office/drawing/2014/main" id="{C87541F9-0AF9-4B35-A186-B5C796AE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73152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" name="Google Shape;228;p12">
            <a:extLst xmlns:a="http://schemas.openxmlformats.org/drawingml/2006/main">
              <a:ext uri="{FF2B5EF4-FFF2-40B4-BE49-F238E27FC236}">
                <a16:creationId xmlns:a16="http://schemas.microsoft.com/office/drawing/2014/main" id="{7AB5B666-8C68-4CD2-A689-79F17821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8716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GOOD METHOD VISUALS</a:t>
            </a:r>
          </a:p>
        </p:txBody>
      </p:sp>
      <p:sp>
        <p:nvSpPr>
          <p:cNvPr id="229" name="Google Shape;229;p12">
            <a:extLst xmlns:a="http://schemas.openxmlformats.org/drawingml/2006/main">
              <a:ext uri="{FF2B5EF4-FFF2-40B4-BE49-F238E27FC236}">
                <a16:creationId xmlns:a16="http://schemas.microsoft.com/office/drawing/2014/main" id="{C6898B67-B378-4E50-B237-FFFCA9BB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16352"/>
            <a:ext cx="4480560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Labeled setup photo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Procedure flowchart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diagram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Testing station sketch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collection workflow</a:t>
            </a:r>
          </a:p>
        </p:txBody>
      </p:sp>
      <p:sp>
        <p:nvSpPr>
          <p:cNvPr id="230" name="Google Shape;230;p12">
            <a:extLst xmlns:a="http://schemas.openxmlformats.org/drawingml/2006/main">
              <a:ext uri="{FF2B5EF4-FFF2-40B4-BE49-F238E27FC236}">
                <a16:creationId xmlns:a16="http://schemas.microsoft.com/office/drawing/2014/main" id="{D96810DE-4143-40C9-8F63-72DE7962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75488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1" name="Google Shape;231;p12">
            <a:extLst xmlns:a="http://schemas.openxmlformats.org/drawingml/2006/main">
              <a:ext uri="{FF2B5EF4-FFF2-40B4-BE49-F238E27FC236}">
                <a16:creationId xmlns:a16="http://schemas.microsoft.com/office/drawing/2014/main" id="{9AC32578-A7B6-4964-B189-D63AEC00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12">
            <a:extLst xmlns:a="http://schemas.openxmlformats.org/drawingml/2006/main">
              <a:ext uri="{FF2B5EF4-FFF2-40B4-BE49-F238E27FC236}">
                <a16:creationId xmlns:a16="http://schemas.microsoft.com/office/drawing/2014/main" id="{2953752E-21BF-42F7-992E-19AFF6D3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62432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KEEP IT SIMPLE</a:t>
            </a:r>
          </a:p>
        </p:txBody>
      </p:sp>
      <p:sp>
        <p:nvSpPr>
          <p:cNvPr id="233" name="Google Shape;233;p12">
            <a:extLst xmlns:a="http://schemas.openxmlformats.org/drawingml/2006/main">
              <a:ext uri="{FF2B5EF4-FFF2-40B4-BE49-F238E27FC236}">
                <a16:creationId xmlns:a16="http://schemas.microsoft.com/office/drawing/2014/main" id="{84C5F604-5DD0-46A1-93B3-1729CCFA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53512"/>
            <a:ext cx="4480560" cy="138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what the audience must understand to trust the evidence. Do not include every tiny procedural detail from the report.</a:t>
            </a:r>
          </a:p>
        </p:txBody>
      </p:sp>
      <p:sp>
        <p:nvSpPr>
          <p:cNvPr id="234" name="Google Shape;234;p12">
            <a:extLst xmlns:a="http://schemas.openxmlformats.org/drawingml/2006/main">
              <a:ext uri="{FF2B5EF4-FFF2-40B4-BE49-F238E27FC236}">
                <a16:creationId xmlns:a16="http://schemas.microsoft.com/office/drawing/2014/main" id="{FC7EBCF2-3538-41D1-B7AF-511252E8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700"/>
              <a:buFont typeface="Arial"/>
              <a:buNone/>
            </a:pPr>
            <a:r>
              <a:rPr sz="1700">
                <a:solidFill>
                  <a:srgbClr val="D8D8D8"/>
                </a:solidFill>
                <a:latin typeface="Arial"/>
                <a:ea typeface="Arial"/>
                <a:cs typeface="Arial"/>
              </a:rPr>
              <a:t>Student activity: choose one method section that could become a diagram, flowchart, or labeled photo.</a:t>
            </a:r>
          </a:p>
        </p:txBody>
      </p:sp>
    </p:spTree>
    <p:extLst>
      <p:ext uri="{BB962C8B-B14F-4D97-AF65-F5344CB8AC3E}">
        <p14:creationId xmlns:p14="http://schemas.microsoft.com/office/powerpoint/2010/main" val="12101865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0" name="Google Shape;240;p13">
            <a:extLst xmlns:a="http://schemas.openxmlformats.org/drawingml/2006/main">
              <a:ext uri="{FF2B5EF4-FFF2-40B4-BE49-F238E27FC236}">
                <a16:creationId xmlns:a16="http://schemas.microsoft.com/office/drawing/2014/main" id="{D9664A2D-6995-4B79-91FD-1B281EC6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1" name="Google Shape;241;p13">
            <a:extLst xmlns:a="http://schemas.openxmlformats.org/drawingml/2006/main">
              <a:ext uri="{FF2B5EF4-FFF2-40B4-BE49-F238E27FC236}">
                <a16:creationId xmlns:a16="http://schemas.microsoft.com/office/drawing/2014/main" id="{25D9A260-2662-46A4-9138-A82D5653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13">
            <a:extLst xmlns:a="http://schemas.openxmlformats.org/drawingml/2006/main">
              <a:ext uri="{FF2B5EF4-FFF2-40B4-BE49-F238E27FC236}">
                <a16:creationId xmlns:a16="http://schemas.microsoft.com/office/drawing/2014/main" id="{DC2E1A8A-B32F-45FE-843A-B3B30C4D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3" name="Google Shape;243;p13">
            <a:extLst xmlns:a="http://schemas.openxmlformats.org/drawingml/2006/main">
              <a:ext uri="{FF2B5EF4-FFF2-40B4-BE49-F238E27FC236}">
                <a16:creationId xmlns:a16="http://schemas.microsoft.com/office/drawing/2014/main" id="{DF99AAF6-C5F8-413B-A0EF-415E1F2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244" name="Google Shape;244;p13">
            <a:extLst xmlns:a="http://schemas.openxmlformats.org/drawingml/2006/main">
              <a:ext uri="{FF2B5EF4-FFF2-40B4-BE49-F238E27FC236}">
                <a16:creationId xmlns:a16="http://schemas.microsoft.com/office/drawing/2014/main" id="{08D240C1-DAFC-491B-9345-3C81BDEA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245" name="Google Shape;245;p13">
            <a:extLst xmlns:a="http://schemas.openxmlformats.org/drawingml/2006/main">
              <a:ext uri="{FF2B5EF4-FFF2-40B4-BE49-F238E27FC236}">
                <a16:creationId xmlns:a16="http://schemas.microsoft.com/office/drawing/2014/main" id="{0AF9D292-DE85-4D34-8E28-69C205C8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246" name="Google Shape;246;p13">
            <a:extLst xmlns:a="http://schemas.openxmlformats.org/drawingml/2006/main">
              <a:ext uri="{FF2B5EF4-FFF2-40B4-BE49-F238E27FC236}">
                <a16:creationId xmlns:a16="http://schemas.microsoft.com/office/drawing/2014/main" id="{BC2C7ABB-7772-4D37-AE82-E36158CD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Ethics Still Matter</a:t>
            </a:r>
          </a:p>
        </p:txBody>
      </p:sp>
      <p:sp>
        <p:nvSpPr>
          <p:cNvPr id="247" name="Google Shape;247;p13">
            <a:extLst xmlns:a="http://schemas.openxmlformats.org/drawingml/2006/main">
              <a:ext uri="{FF2B5EF4-FFF2-40B4-BE49-F238E27FC236}">
                <a16:creationId xmlns:a16="http://schemas.microsoft.com/office/drawing/2014/main" id="{301C8FD7-FE1E-4E74-86D6-19690D0D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8" name="Google Shape;248;p13">
            <a:extLst xmlns:a="http://schemas.openxmlformats.org/drawingml/2006/main">
              <a:ext uri="{FF2B5EF4-FFF2-40B4-BE49-F238E27FC236}">
                <a16:creationId xmlns:a16="http://schemas.microsoft.com/office/drawing/2014/main" id="{7F701D57-5753-4F10-A5D7-E5771FE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presentation visual can mislead even when the numbers are real.</a:t>
            </a:r>
          </a:p>
        </p:txBody>
      </p:sp>
      <p:sp>
        <p:nvSpPr>
          <p:cNvPr id="249" name="Google Shape;249;p13">
            <a:extLst xmlns:a="http://schemas.openxmlformats.org/drawingml/2006/main">
              <a:ext uri="{FF2B5EF4-FFF2-40B4-BE49-F238E27FC236}">
                <a16:creationId xmlns:a16="http://schemas.microsoft.com/office/drawing/2014/main" id="{8DD50D46-363A-4EC6-ACB7-62ACCF9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5577840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hide failed trials or weak results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crop axes to exaggerate differences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show only the best prototype if others failed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use color or layout to imply unsupported claims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remove inconvenient data without explanation</a:t>
            </a:r>
          </a:p>
        </p:txBody>
      </p:sp>
      <p:sp>
        <p:nvSpPr>
          <p:cNvPr id="250" name="Google Shape;250;p13">
            <a:extLst xmlns:a="http://schemas.openxmlformats.org/drawingml/2006/main">
              <a:ext uri="{FF2B5EF4-FFF2-40B4-BE49-F238E27FC236}">
                <a16:creationId xmlns:a16="http://schemas.microsoft.com/office/drawing/2014/main" id="{ABC57D5F-1AF5-4191-9D88-957F704C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60320"/>
            <a:ext cx="42062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9A1913C7-909E-4053-BD55-C5D460B0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60320"/>
            <a:ext cx="7315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2" name="Google Shape;252;p13">
            <a:extLst xmlns:a="http://schemas.openxmlformats.org/drawingml/2006/main">
              <a:ext uri="{FF2B5EF4-FFF2-40B4-BE49-F238E27FC236}">
                <a16:creationId xmlns:a16="http://schemas.microsoft.com/office/drawing/2014/main" id="{61FBED9C-438C-4652-AE41-6EF9E5E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670048"/>
            <a:ext cx="39319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253" name="Google Shape;253;p13">
            <a:extLst xmlns:a="http://schemas.openxmlformats.org/drawingml/2006/main">
              <a:ext uri="{FF2B5EF4-FFF2-40B4-BE49-F238E27FC236}">
                <a16:creationId xmlns:a16="http://schemas.microsoft.com/office/drawing/2014/main" id="{8CB1C168-4831-43C9-8942-263D4CA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99232"/>
            <a:ext cx="3931920" cy="157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board should help the audience understand the evidence honestly, including uncertainty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12477034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9" name="Google Shape;259;p14">
            <a:extLst xmlns:a="http://schemas.openxmlformats.org/drawingml/2006/main">
              <a:ext uri="{FF2B5EF4-FFF2-40B4-BE49-F238E27FC236}">
                <a16:creationId xmlns:a16="http://schemas.microsoft.com/office/drawing/2014/main" id="{340701E1-32FF-41D4-93CB-C1B2FCAF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0" name="Google Shape;260;p14">
            <a:extLst xmlns:a="http://schemas.openxmlformats.org/drawingml/2006/main">
              <a:ext uri="{FF2B5EF4-FFF2-40B4-BE49-F238E27FC236}">
                <a16:creationId xmlns:a16="http://schemas.microsoft.com/office/drawing/2014/main" id="{B0952EA9-850E-4298-A8F7-C89FC782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1" name="Google Shape;261;p14">
            <a:extLst xmlns:a="http://schemas.openxmlformats.org/drawingml/2006/main">
              <a:ext uri="{FF2B5EF4-FFF2-40B4-BE49-F238E27FC236}">
                <a16:creationId xmlns:a16="http://schemas.microsoft.com/office/drawing/2014/main" id="{676A1307-3F5B-43BB-A038-F4DAA951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2" name="Google Shape;262;p14">
            <a:extLst xmlns:a="http://schemas.openxmlformats.org/drawingml/2006/main">
              <a:ext uri="{FF2B5EF4-FFF2-40B4-BE49-F238E27FC236}">
                <a16:creationId xmlns:a16="http://schemas.microsoft.com/office/drawing/2014/main" id="{39CD1118-358C-4499-9F38-F9EABF65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263" name="Google Shape;263;p14">
            <a:extLst xmlns:a="http://schemas.openxmlformats.org/drawingml/2006/main">
              <a:ext uri="{FF2B5EF4-FFF2-40B4-BE49-F238E27FC236}">
                <a16:creationId xmlns:a16="http://schemas.microsoft.com/office/drawing/2014/main" id="{F465A8BE-2773-4C2C-A4B3-E619FAA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264" name="Google Shape;264;p14">
            <a:extLst xmlns:a="http://schemas.openxmlformats.org/drawingml/2006/main">
              <a:ext uri="{FF2B5EF4-FFF2-40B4-BE49-F238E27FC236}">
                <a16:creationId xmlns:a16="http://schemas.microsoft.com/office/drawing/2014/main" id="{FA763F68-4112-419E-8BA9-ABF73563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265" name="Google Shape;265;p14">
            <a:extLst xmlns:a="http://schemas.openxmlformats.org/drawingml/2006/main">
              <a:ext uri="{FF2B5EF4-FFF2-40B4-BE49-F238E27FC236}">
                <a16:creationId xmlns:a16="http://schemas.microsoft.com/office/drawing/2014/main" id="{55440111-0BA4-41A0-A33B-BEED734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Belong on the Board</a:t>
            </a:r>
          </a:p>
        </p:txBody>
      </p:sp>
      <p:sp>
        <p:nvSpPr>
          <p:cNvPr id="266" name="Google Shape;266;p14">
            <a:extLst xmlns:a="http://schemas.openxmlformats.org/drawingml/2006/main">
              <a:ext uri="{FF2B5EF4-FFF2-40B4-BE49-F238E27FC236}">
                <a16:creationId xmlns:a16="http://schemas.microsoft.com/office/drawing/2014/main" id="{BC415AC2-4D27-41CC-95F4-1E30E3E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7" name="Google Shape;267;p14">
            <a:extLst xmlns:a="http://schemas.openxmlformats.org/drawingml/2006/main">
              <a:ext uri="{FF2B5EF4-FFF2-40B4-BE49-F238E27FC236}">
                <a16:creationId xmlns:a16="http://schemas.microsoft.com/office/drawing/2014/main" id="{4BD044CC-E831-473A-8466-F1A214E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limitation is not an apology. It tells the audience how carefully to interpret the result.</a:t>
            </a:r>
          </a:p>
        </p:txBody>
      </p:sp>
      <p:sp>
        <p:nvSpPr>
          <p:cNvPr id="268" name="Google Shape;268;p14">
            <a:extLst xmlns:a="http://schemas.openxmlformats.org/drawingml/2006/main">
              <a:ext uri="{FF2B5EF4-FFF2-40B4-BE49-F238E27FC236}">
                <a16:creationId xmlns:a16="http://schemas.microsoft.com/office/drawing/2014/main" id="{1D2FE9E5-D228-4B8E-925A-5FD89BD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475488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9" name="Google Shape;269;p14">
            <a:extLst xmlns:a="http://schemas.openxmlformats.org/drawingml/2006/main">
              <a:ext uri="{FF2B5EF4-FFF2-40B4-BE49-F238E27FC236}">
                <a16:creationId xmlns:a16="http://schemas.microsoft.com/office/drawing/2014/main" id="{77C3C355-EA33-45A3-8333-7FBBBF8C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7315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0" name="Google Shape;270;p14">
            <a:extLst xmlns:a="http://schemas.openxmlformats.org/drawingml/2006/main">
              <a:ext uri="{FF2B5EF4-FFF2-40B4-BE49-F238E27FC236}">
                <a16:creationId xmlns:a16="http://schemas.microsoft.com/office/drawing/2014/main" id="{87BCE6F6-7716-4C5E-8C6F-0F53D5FC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62432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WEAK</a:t>
            </a:r>
          </a:p>
        </p:txBody>
      </p:sp>
      <p:sp>
        <p:nvSpPr>
          <p:cNvPr id="271" name="Google Shape;271;p14">
            <a:extLst xmlns:a="http://schemas.openxmlformats.org/drawingml/2006/main">
              <a:ext uri="{FF2B5EF4-FFF2-40B4-BE49-F238E27FC236}">
                <a16:creationId xmlns:a16="http://schemas.microsoft.com/office/drawing/2014/main" id="{A0A23577-AB04-4BE3-A88C-131879BF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53512"/>
            <a:ext cx="4480560" cy="1207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“There was human error.”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“No project is perfect.”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“We needed more time.”</a:t>
            </a:r>
          </a:p>
        </p:txBody>
      </p:sp>
      <p:sp>
        <p:nvSpPr>
          <p:cNvPr id="272" name="Google Shape;272;p14">
            <a:extLst xmlns:a="http://schemas.openxmlformats.org/drawingml/2006/main">
              <a:ext uri="{FF2B5EF4-FFF2-40B4-BE49-F238E27FC236}">
                <a16:creationId xmlns:a16="http://schemas.microsoft.com/office/drawing/2014/main" id="{FE743377-27E4-495B-882C-D7C7DE8B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75488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3" name="Google Shape;273;p14">
            <a:extLst xmlns:a="http://schemas.openxmlformats.org/drawingml/2006/main">
              <a:ext uri="{FF2B5EF4-FFF2-40B4-BE49-F238E27FC236}">
                <a16:creationId xmlns:a16="http://schemas.microsoft.com/office/drawing/2014/main" id="{77F8612A-36EE-48DF-88C3-161F425E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7315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" name="Google Shape;274;p14">
            <a:extLst xmlns:a="http://schemas.openxmlformats.org/drawingml/2006/main">
              <a:ext uri="{FF2B5EF4-FFF2-40B4-BE49-F238E27FC236}">
                <a16:creationId xmlns:a16="http://schemas.microsoft.com/office/drawing/2014/main" id="{760264EF-626A-4146-A7D7-E526F6F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62432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275" name="Google Shape;275;p14">
            <a:extLst xmlns:a="http://schemas.openxmlformats.org/drawingml/2006/main">
              <a:ext uri="{FF2B5EF4-FFF2-40B4-BE49-F238E27FC236}">
                <a16:creationId xmlns:a16="http://schemas.microsoft.com/office/drawing/2014/main" id="{DB1F2EDC-A720-4989-8B62-0991B96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53512"/>
            <a:ext cx="4480560" cy="1207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“Only three trials were completed per design, so differences in load capacity should be interpreted cautiously.”</a:t>
            </a:r>
          </a:p>
        </p:txBody>
      </p:sp>
      <p:sp>
        <p:nvSpPr>
          <p:cNvPr id="276" name="Google Shape;276;p14">
            <a:extLst xmlns:a="http://schemas.openxmlformats.org/drawingml/2006/main">
              <a:ext uri="{FF2B5EF4-FFF2-40B4-BE49-F238E27FC236}">
                <a16:creationId xmlns:a16="http://schemas.microsoft.com/office/drawing/2014/main" id="{BE7FC4E3-229F-4DB9-ACA5-E5D587FA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83480"/>
            <a:ext cx="104241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100"/>
              <a:buFont typeface="Arial"/>
              <a:buNone/>
            </a:pPr>
            <a:r>
              <a:rPr sz="2100">
                <a:solidFill>
                  <a:srgbClr val="D8D8D8"/>
                </a:solidFill>
                <a:latin typeface="Arial"/>
                <a:ea typeface="Arial"/>
                <a:cs typeface="Arial"/>
              </a:rPr>
              <a:t>Your audience trusts you more when you know what your evidence cannot show.</a:t>
            </a:r>
          </a:p>
        </p:txBody>
      </p:sp>
    </p:spTree>
    <p:extLst>
      <p:ext uri="{BB962C8B-B14F-4D97-AF65-F5344CB8AC3E}">
        <p14:creationId xmlns:p14="http://schemas.microsoft.com/office/powerpoint/2010/main" val="5342661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2" name="Google Shape;282;p15">
            <a:extLst xmlns:a="http://schemas.openxmlformats.org/drawingml/2006/main">
              <a:ext uri="{FF2B5EF4-FFF2-40B4-BE49-F238E27FC236}">
                <a16:creationId xmlns:a16="http://schemas.microsoft.com/office/drawing/2014/main" id="{CBF697F8-845D-40BE-985F-06409F36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3" name="Google Shape;283;p15">
            <a:extLst xmlns:a="http://schemas.openxmlformats.org/drawingml/2006/main">
              <a:ext uri="{FF2B5EF4-FFF2-40B4-BE49-F238E27FC236}">
                <a16:creationId xmlns:a16="http://schemas.microsoft.com/office/drawing/2014/main" id="{ED0619E0-4BFF-41E3-8233-60919303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4" name="Google Shape;284;p15">
            <a:extLst xmlns:a="http://schemas.openxmlformats.org/drawingml/2006/main">
              <a:ext uri="{FF2B5EF4-FFF2-40B4-BE49-F238E27FC236}">
                <a16:creationId xmlns:a16="http://schemas.microsoft.com/office/drawing/2014/main" id="{99219498-8E87-417B-8D3A-68F3C326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" name="Google Shape;285;p15">
            <a:extLst xmlns:a="http://schemas.openxmlformats.org/drawingml/2006/main">
              <a:ext uri="{FF2B5EF4-FFF2-40B4-BE49-F238E27FC236}">
                <a16:creationId xmlns:a16="http://schemas.microsoft.com/office/drawing/2014/main" id="{E3EDE966-E60D-44F8-9571-16904ABA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286" name="Google Shape;286;p15">
            <a:extLst xmlns:a="http://schemas.openxmlformats.org/drawingml/2006/main">
              <a:ext uri="{FF2B5EF4-FFF2-40B4-BE49-F238E27FC236}">
                <a16:creationId xmlns:a16="http://schemas.microsoft.com/office/drawing/2014/main" id="{2A9CD468-9394-483B-AEEB-E557F7A8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287" name="Google Shape;287;p15">
            <a:extLst xmlns:a="http://schemas.openxmlformats.org/drawingml/2006/main">
              <a:ext uri="{FF2B5EF4-FFF2-40B4-BE49-F238E27FC236}">
                <a16:creationId xmlns:a16="http://schemas.microsoft.com/office/drawing/2014/main" id="{C2612853-9EC5-4048-AEA2-52C611C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288" name="Google Shape;288;p15">
            <a:extLst xmlns:a="http://schemas.openxmlformats.org/drawingml/2006/main">
              <a:ext uri="{FF2B5EF4-FFF2-40B4-BE49-F238E27FC236}">
                <a16:creationId xmlns:a16="http://schemas.microsoft.com/office/drawing/2014/main" id="{77D29BA7-EFBA-4177-BCB7-439686C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Activity: Visual Aid Storyboard</a:t>
            </a:r>
          </a:p>
        </p:txBody>
      </p:sp>
      <p:sp>
        <p:nvSpPr>
          <p:cNvPr id="289" name="Google Shape;289;p15">
            <a:extLst xmlns:a="http://schemas.openxmlformats.org/drawingml/2006/main">
              <a:ext uri="{FF2B5EF4-FFF2-40B4-BE49-F238E27FC236}">
                <a16:creationId xmlns:a16="http://schemas.microsoft.com/office/drawing/2014/main" id="{2E5377BF-63AC-4340-8D31-BD628A89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0" name="Google Shape;290;p15">
            <a:extLst xmlns:a="http://schemas.openxmlformats.org/drawingml/2006/main">
              <a:ext uri="{FF2B5EF4-FFF2-40B4-BE49-F238E27FC236}">
                <a16:creationId xmlns:a16="http://schemas.microsoft.com/office/drawing/2014/main" id="{FC8D9C3D-F0B1-4768-85F5-B44816C5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designing the final board, sketch the flow.</a:t>
            </a:r>
          </a:p>
        </p:txBody>
      </p:sp>
      <p:sp>
        <p:nvSpPr>
          <p:cNvPr id="291" name="Google Shape;291;p15">
            <a:extLst xmlns:a="http://schemas.openxmlformats.org/drawingml/2006/main">
              <a:ext uri="{FF2B5EF4-FFF2-40B4-BE49-F238E27FC236}">
                <a16:creationId xmlns:a16="http://schemas.microsoft.com/office/drawing/2014/main" id="{22131485-3519-4A91-8860-87FF55CA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521208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2" name="Google Shape;292;p15">
            <a:extLst xmlns:a="http://schemas.openxmlformats.org/drawingml/2006/main">
              <a:ext uri="{FF2B5EF4-FFF2-40B4-BE49-F238E27FC236}">
                <a16:creationId xmlns:a16="http://schemas.microsoft.com/office/drawing/2014/main" id="{8475C42A-F374-49DE-B92A-129EB55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5">
            <a:extLst xmlns:a="http://schemas.openxmlformats.org/drawingml/2006/main">
              <a:ext uri="{FF2B5EF4-FFF2-40B4-BE49-F238E27FC236}">
                <a16:creationId xmlns:a16="http://schemas.microsoft.com/office/drawing/2014/main" id="{6DB068AB-0FDA-43F1-BF78-D7352DE3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41448"/>
            <a:ext cx="49377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94" name="Google Shape;294;p15">
            <a:extLst xmlns:a="http://schemas.openxmlformats.org/drawingml/2006/main">
              <a:ext uri="{FF2B5EF4-FFF2-40B4-BE49-F238E27FC236}">
                <a16:creationId xmlns:a16="http://schemas.microsoft.com/office/drawing/2014/main" id="{CC473479-C5FE-42BE-AB8D-92EF75E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77063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Handout 10 to sketch where each major section will go. Mark the three items that should be largest: question, key evidence, and conclusion.</a:t>
            </a:r>
          </a:p>
        </p:txBody>
      </p:sp>
      <p:sp>
        <p:nvSpPr>
          <p:cNvPr id="295" name="Google Shape;295;p15">
            <a:extLst xmlns:a="http://schemas.openxmlformats.org/drawingml/2006/main">
              <a:ext uri="{FF2B5EF4-FFF2-40B4-BE49-F238E27FC236}">
                <a16:creationId xmlns:a16="http://schemas.microsoft.com/office/drawing/2014/main" id="{21EFBA3E-6DA6-4DAE-B041-CC70495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31720"/>
            <a:ext cx="475488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6" name="Google Shape;296;p15">
            <a:extLst xmlns:a="http://schemas.openxmlformats.org/drawingml/2006/main">
              <a:ext uri="{FF2B5EF4-FFF2-40B4-BE49-F238E27FC236}">
                <a16:creationId xmlns:a16="http://schemas.microsoft.com/office/drawing/2014/main" id="{0D924B7C-216E-490E-81C9-A290A5F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" name="Google Shape;297;p15">
            <a:extLst xmlns:a="http://schemas.openxmlformats.org/drawingml/2006/main">
              <a:ext uri="{FF2B5EF4-FFF2-40B4-BE49-F238E27FC236}">
                <a16:creationId xmlns:a16="http://schemas.microsoft.com/office/drawing/2014/main" id="{18DDC171-F228-4F8D-B1F9-E457E1FD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41448"/>
            <a:ext cx="44805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98" name="Google Shape;298;p15">
            <a:extLst xmlns:a="http://schemas.openxmlformats.org/drawingml/2006/main">
              <a:ext uri="{FF2B5EF4-FFF2-40B4-BE49-F238E27FC236}">
                <a16:creationId xmlns:a16="http://schemas.microsoft.com/office/drawing/2014/main" id="{2C582772-027F-4428-AD42-9DED8F26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770632"/>
            <a:ext cx="44805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minutes independent sketch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5 minutes partner explanation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3 minutes revision</a:t>
            </a:r>
          </a:p>
        </p:txBody>
      </p:sp>
      <p:sp>
        <p:nvSpPr>
          <p:cNvPr id="299" name="Google Shape;299;p15">
            <a:extLst xmlns:a="http://schemas.openxmlformats.org/drawingml/2006/main">
              <a:ext uri="{FF2B5EF4-FFF2-40B4-BE49-F238E27FC236}">
                <a16:creationId xmlns:a16="http://schemas.microsoft.com/office/drawing/2014/main" id="{D497AEA2-C94B-472D-8A2A-7BE3CBAF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104241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</a:pPr>
            <a:r>
              <a:rPr sz="1800">
                <a:solidFill>
                  <a:srgbClr val="D8D8D8"/>
                </a:solidFill>
                <a:latin typeface="Arial"/>
                <a:ea typeface="Arial"/>
                <a:cs typeface="Arial"/>
              </a:rPr>
              <a:t>Deliverable: a rough layout plan before students build the final product.</a:t>
            </a:r>
          </a:p>
        </p:txBody>
      </p:sp>
    </p:spTree>
    <p:extLst>
      <p:ext uri="{BB962C8B-B14F-4D97-AF65-F5344CB8AC3E}">
        <p14:creationId xmlns:p14="http://schemas.microsoft.com/office/powerpoint/2010/main" val="17863228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Google Shape;305;p16">
            <a:extLst xmlns:a="http://schemas.openxmlformats.org/drawingml/2006/main">
              <a:ext uri="{FF2B5EF4-FFF2-40B4-BE49-F238E27FC236}">
                <a16:creationId xmlns:a16="http://schemas.microsoft.com/office/drawing/2014/main" id="{530D3B56-08B0-4615-8B73-BD8F6B83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6" name="Google Shape;306;p16">
            <a:extLst xmlns:a="http://schemas.openxmlformats.org/drawingml/2006/main">
              <a:ext uri="{FF2B5EF4-FFF2-40B4-BE49-F238E27FC236}">
                <a16:creationId xmlns:a16="http://schemas.microsoft.com/office/drawing/2014/main" id="{5E29DB8B-2DA7-4DAF-8339-6640FC91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7" name="Google Shape;307;p16">
            <a:extLst xmlns:a="http://schemas.openxmlformats.org/drawingml/2006/main">
              <a:ext uri="{FF2B5EF4-FFF2-40B4-BE49-F238E27FC236}">
                <a16:creationId xmlns:a16="http://schemas.microsoft.com/office/drawing/2014/main" id="{EC4D7122-7802-4321-A09E-56850733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8" name="Google Shape;308;p16">
            <a:extLst xmlns:a="http://schemas.openxmlformats.org/drawingml/2006/main">
              <a:ext uri="{FF2B5EF4-FFF2-40B4-BE49-F238E27FC236}">
                <a16:creationId xmlns:a16="http://schemas.microsoft.com/office/drawing/2014/main" id="{B70662ED-9491-4889-97AE-E93039E8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309" name="Google Shape;309;p16">
            <a:extLst xmlns:a="http://schemas.openxmlformats.org/drawingml/2006/main">
              <a:ext uri="{FF2B5EF4-FFF2-40B4-BE49-F238E27FC236}">
                <a16:creationId xmlns:a16="http://schemas.microsoft.com/office/drawing/2014/main" id="{4D857AD4-8D11-40EE-9222-5E9ACB6A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10" name="Google Shape;310;p16">
            <a:extLst xmlns:a="http://schemas.openxmlformats.org/drawingml/2006/main">
              <a:ext uri="{FF2B5EF4-FFF2-40B4-BE49-F238E27FC236}">
                <a16:creationId xmlns:a16="http://schemas.microsoft.com/office/drawing/2014/main" id="{85FD0DA7-B65D-4356-8C85-721E386E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311" name="Google Shape;311;p16">
            <a:extLst xmlns:a="http://schemas.openxmlformats.org/drawingml/2006/main">
              <a:ext uri="{FF2B5EF4-FFF2-40B4-BE49-F238E27FC236}">
                <a16:creationId xmlns:a16="http://schemas.microsoft.com/office/drawing/2014/main" id="{7008B316-4BB7-4278-B36D-6A52DD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Activity: Visual Triage</a:t>
            </a:r>
          </a:p>
        </p:txBody>
      </p:sp>
      <p:sp>
        <p:nvSpPr>
          <p:cNvPr id="312" name="Google Shape;312;p16">
            <a:extLst xmlns:a="http://schemas.openxmlformats.org/drawingml/2006/main">
              <a:ext uri="{FF2B5EF4-FFF2-40B4-BE49-F238E27FC236}">
                <a16:creationId xmlns:a16="http://schemas.microsoft.com/office/drawing/2014/main" id="{C27B2EAB-C0A8-401E-BACD-B3D10BF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" name="Google Shape;313;p16">
            <a:extLst xmlns:a="http://schemas.openxmlformats.org/drawingml/2006/main">
              <a:ext uri="{FF2B5EF4-FFF2-40B4-BE49-F238E27FC236}">
                <a16:creationId xmlns:a16="http://schemas.microsoft.com/office/drawing/2014/main" id="{3B8FC929-EC9D-4084-8480-8BF6F4B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every graph, photo, or table belongs on the final board.</a:t>
            </a:r>
          </a:p>
        </p:txBody>
      </p:sp>
      <p:sp>
        <p:nvSpPr>
          <p:cNvPr id="314" name="Google Shape;314;p16">
            <a:extLst xmlns:a="http://schemas.openxmlformats.org/drawingml/2006/main">
              <a:ext uri="{FF2B5EF4-FFF2-40B4-BE49-F238E27FC236}">
                <a16:creationId xmlns:a16="http://schemas.microsoft.com/office/drawing/2014/main" id="{4E299688-53A0-4E39-8844-E20F5C21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34747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5" name="Google Shape;315;p16">
            <a:extLst xmlns:a="http://schemas.openxmlformats.org/drawingml/2006/main">
              <a:ext uri="{FF2B5EF4-FFF2-40B4-BE49-F238E27FC236}">
                <a16:creationId xmlns:a16="http://schemas.microsoft.com/office/drawing/2014/main" id="{E49F72F1-B7C9-4F97-9E9D-4AC2A955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73152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" name="Google Shape;316;p16">
            <a:extLst xmlns:a="http://schemas.openxmlformats.org/drawingml/2006/main">
              <a:ext uri="{FF2B5EF4-FFF2-40B4-BE49-F238E27FC236}">
                <a16:creationId xmlns:a16="http://schemas.microsoft.com/office/drawing/2014/main" id="{039E5819-2F7E-47DA-A0F2-5A678FA0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95728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317" name="Google Shape;317;p16">
            <a:extLst xmlns:a="http://schemas.openxmlformats.org/drawingml/2006/main">
              <a:ext uri="{FF2B5EF4-FFF2-40B4-BE49-F238E27FC236}">
                <a16:creationId xmlns:a16="http://schemas.microsoft.com/office/drawing/2014/main" id="{04E70791-7181-4C76-9F82-A72F1353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724912"/>
            <a:ext cx="3200400" cy="175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Directly supports the main claim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Readable from a distance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Explains method or evidence clearly</a:t>
            </a:r>
          </a:p>
        </p:txBody>
      </p:sp>
      <p:sp>
        <p:nvSpPr>
          <p:cNvPr id="318" name="Google Shape;318;p16">
            <a:extLst xmlns:a="http://schemas.openxmlformats.org/drawingml/2006/main">
              <a:ext uri="{FF2B5EF4-FFF2-40B4-BE49-F238E27FC236}">
                <a16:creationId xmlns:a16="http://schemas.microsoft.com/office/drawing/2014/main" id="{EE9BD9DA-53F3-438C-A18E-11586FF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86000"/>
            <a:ext cx="34747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9" name="Google Shape;319;p16">
            <a:extLst xmlns:a="http://schemas.openxmlformats.org/drawingml/2006/main">
              <a:ext uri="{FF2B5EF4-FFF2-40B4-BE49-F238E27FC236}">
                <a16:creationId xmlns:a16="http://schemas.microsoft.com/office/drawing/2014/main" id="{BAA4BFF2-31BB-4DCC-B5C5-558B2EA5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86000"/>
            <a:ext cx="73152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0" name="Google Shape;320;p16">
            <a:extLst xmlns:a="http://schemas.openxmlformats.org/drawingml/2006/main">
              <a:ext uri="{FF2B5EF4-FFF2-40B4-BE49-F238E27FC236}">
                <a16:creationId xmlns:a16="http://schemas.microsoft.com/office/drawing/2014/main" id="{54CB84FB-D02D-4DF8-AD74-F58565D1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395728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CUT</a:t>
            </a:r>
          </a:p>
        </p:txBody>
      </p:sp>
      <p:sp>
        <p:nvSpPr>
          <p:cNvPr id="321" name="Google Shape;321;p16">
            <a:extLst xmlns:a="http://schemas.openxmlformats.org/drawingml/2006/main">
              <a:ext uri="{FF2B5EF4-FFF2-40B4-BE49-F238E27FC236}">
                <a16:creationId xmlns:a16="http://schemas.microsoft.com/office/drawing/2014/main" id="{C79CE244-5FAF-498A-8FA4-4C8C4705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724912"/>
            <a:ext cx="3200400" cy="175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Repeats another visual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 detailed for the audience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Makes the board crowded</a:t>
            </a:r>
          </a:p>
        </p:txBody>
      </p:sp>
      <p:sp>
        <p:nvSpPr>
          <p:cNvPr id="322" name="Google Shape;322;p16">
            <a:extLst xmlns:a="http://schemas.openxmlformats.org/drawingml/2006/main">
              <a:ext uri="{FF2B5EF4-FFF2-40B4-BE49-F238E27FC236}">
                <a16:creationId xmlns:a16="http://schemas.microsoft.com/office/drawing/2014/main" id="{A6F3CC2F-F37C-4A57-88F1-ABB8B25A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0"/>
            <a:ext cx="32918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3" name="Google Shape;323;p16">
            <a:extLst xmlns:a="http://schemas.openxmlformats.org/drawingml/2006/main">
              <a:ext uri="{FF2B5EF4-FFF2-40B4-BE49-F238E27FC236}">
                <a16:creationId xmlns:a16="http://schemas.microsoft.com/office/drawing/2014/main" id="{A37C96C1-0965-46D9-9B42-F3EEC288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0"/>
            <a:ext cx="73152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4" name="Google Shape;324;p16">
            <a:extLst xmlns:a="http://schemas.openxmlformats.org/drawingml/2006/main">
              <a:ext uri="{FF2B5EF4-FFF2-40B4-BE49-F238E27FC236}">
                <a16:creationId xmlns:a16="http://schemas.microsoft.com/office/drawing/2014/main" id="{C79DCFA1-CD09-4D18-A3CE-0A805694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395728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APPENDIX / REPORT</a:t>
            </a:r>
          </a:p>
        </p:txBody>
      </p:sp>
      <p:sp>
        <p:nvSpPr>
          <p:cNvPr id="325" name="Google Shape;325;p16">
            <a:extLst xmlns:a="http://schemas.openxmlformats.org/drawingml/2006/main">
              <a:ext uri="{FF2B5EF4-FFF2-40B4-BE49-F238E27FC236}">
                <a16:creationId xmlns:a16="http://schemas.microsoft.com/office/drawing/2014/main" id="{B50FAFAF-BE09-4700-BD18-F1A8F95C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24912"/>
            <a:ext cx="3017520" cy="175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Useful but not central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Extra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Extended calculations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evidence for questions</a:t>
            </a:r>
          </a:p>
        </p:txBody>
      </p:sp>
      <p:sp>
        <p:nvSpPr>
          <p:cNvPr id="326" name="Google Shape;326;p16">
            <a:extLst xmlns:a="http://schemas.openxmlformats.org/drawingml/2006/main">
              <a:ext uri="{FF2B5EF4-FFF2-40B4-BE49-F238E27FC236}">
                <a16:creationId xmlns:a16="http://schemas.microsoft.com/office/drawing/2014/main" id="{E4875A31-6FFF-49DB-AEE5-CDBA1344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104241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</a:pPr>
            <a:r>
              <a:rPr sz="1800">
                <a:solidFill>
                  <a:srgbClr val="D8D8D8"/>
                </a:solidFill>
                <a:latin typeface="Arial"/>
                <a:ea typeface="Arial"/>
                <a:cs typeface="Arial"/>
              </a:rPr>
              <a:t>Student activity: sort visuals into Keep / Cut / Appendix before building the final board.</a:t>
            </a:r>
          </a:p>
        </p:txBody>
      </p:sp>
    </p:spTree>
    <p:extLst>
      <p:ext uri="{BB962C8B-B14F-4D97-AF65-F5344CB8AC3E}">
        <p14:creationId xmlns:p14="http://schemas.microsoft.com/office/powerpoint/2010/main" val="13015396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Google Shape;332;p17">
            <a:extLst xmlns:a="http://schemas.openxmlformats.org/drawingml/2006/main">
              <a:ext uri="{FF2B5EF4-FFF2-40B4-BE49-F238E27FC236}">
                <a16:creationId xmlns:a16="http://schemas.microsoft.com/office/drawing/2014/main" id="{E9116AEB-A4F9-42C2-89B9-28EED147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3" name="Google Shape;333;p17">
            <a:extLst xmlns:a="http://schemas.openxmlformats.org/drawingml/2006/main">
              <a:ext uri="{FF2B5EF4-FFF2-40B4-BE49-F238E27FC236}">
                <a16:creationId xmlns:a16="http://schemas.microsoft.com/office/drawing/2014/main" id="{F7324811-013C-4ECF-9E7E-E0DBD125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4" name="Google Shape;334;p17">
            <a:extLst xmlns:a="http://schemas.openxmlformats.org/drawingml/2006/main">
              <a:ext uri="{FF2B5EF4-FFF2-40B4-BE49-F238E27FC236}">
                <a16:creationId xmlns:a16="http://schemas.microsoft.com/office/drawing/2014/main" id="{F8C355D3-8624-4735-B4FB-A9154F6A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5" name="Google Shape;335;p17">
            <a:extLst xmlns:a="http://schemas.openxmlformats.org/drawingml/2006/main">
              <a:ext uri="{FF2B5EF4-FFF2-40B4-BE49-F238E27FC236}">
                <a16:creationId xmlns:a16="http://schemas.microsoft.com/office/drawing/2014/main" id="{8CC73A16-26C6-4CBD-A4F7-EAD10B70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336" name="Google Shape;336;p17">
            <a:extLst xmlns:a="http://schemas.openxmlformats.org/drawingml/2006/main">
              <a:ext uri="{FF2B5EF4-FFF2-40B4-BE49-F238E27FC236}">
                <a16:creationId xmlns:a16="http://schemas.microsoft.com/office/drawing/2014/main" id="{3C2AE266-1FAD-44AA-8B38-CCD9A17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37" name="Google Shape;337;p17">
            <a:extLst xmlns:a="http://schemas.openxmlformats.org/drawingml/2006/main">
              <a:ext uri="{FF2B5EF4-FFF2-40B4-BE49-F238E27FC236}">
                <a16:creationId xmlns:a16="http://schemas.microsoft.com/office/drawing/2014/main" id="{62FD983E-6722-43C0-AC1F-DD56ED9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338" name="Google Shape;338;p17">
            <a:extLst xmlns:a="http://schemas.openxmlformats.org/drawingml/2006/main">
              <a:ext uri="{FF2B5EF4-FFF2-40B4-BE49-F238E27FC236}">
                <a16:creationId xmlns:a16="http://schemas.microsoft.com/office/drawing/2014/main" id="{F74FC7F0-0544-4A59-B4A3-FD55607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Peer Review the Board Like an Audience</a:t>
            </a:r>
          </a:p>
        </p:txBody>
      </p:sp>
      <p:sp>
        <p:nvSpPr>
          <p:cNvPr id="339" name="Google Shape;339;p17">
            <a:extLst xmlns:a="http://schemas.openxmlformats.org/drawingml/2006/main">
              <a:ext uri="{FF2B5EF4-FFF2-40B4-BE49-F238E27FC236}">
                <a16:creationId xmlns:a16="http://schemas.microsoft.com/office/drawing/2014/main" id="{45D3604F-8D42-464A-954A-C532D2ED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0" name="Google Shape;340;p17">
            <a:extLst xmlns:a="http://schemas.openxmlformats.org/drawingml/2006/main">
              <a:ext uri="{FF2B5EF4-FFF2-40B4-BE49-F238E27FC236}">
                <a16:creationId xmlns:a16="http://schemas.microsoft.com/office/drawing/2014/main" id="{9FA2C6DC-A679-41EB-BB57-94374DA6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Reviewers should test clarity, not just compliment design.</a:t>
            </a:r>
          </a:p>
        </p:txBody>
      </p:sp>
      <p:sp>
        <p:nvSpPr>
          <p:cNvPr id="341" name="Google Shape;341;p17">
            <a:extLst xmlns:a="http://schemas.openxmlformats.org/drawingml/2006/main">
              <a:ext uri="{FF2B5EF4-FFF2-40B4-BE49-F238E27FC236}">
                <a16:creationId xmlns:a16="http://schemas.microsoft.com/office/drawing/2014/main" id="{9E0EDAC3-0E28-46F2-9F5F-6439B6A2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566928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question or goal is this project answering?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evidence is most important?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you read the graph labels and units?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conclusion is supported?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limitation is visible?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does the layout feel crowded or confusing?</a:t>
            </a:r>
          </a:p>
        </p:txBody>
      </p:sp>
      <p:sp>
        <p:nvSpPr>
          <p:cNvPr id="342" name="Google Shape;342;p17">
            <a:extLst xmlns:a="http://schemas.openxmlformats.org/drawingml/2006/main">
              <a:ext uri="{FF2B5EF4-FFF2-40B4-BE49-F238E27FC236}">
                <a16:creationId xmlns:a16="http://schemas.microsoft.com/office/drawing/2014/main" id="{B5EF90A1-0831-466C-8CBA-3351317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3" name="Google Shape;343;p17">
            <a:extLst xmlns:a="http://schemas.openxmlformats.org/drawingml/2006/main">
              <a:ext uri="{FF2B5EF4-FFF2-40B4-BE49-F238E27FC236}">
                <a16:creationId xmlns:a16="http://schemas.microsoft.com/office/drawing/2014/main" id="{FB768AE8-B94E-4079-9065-3A527B9B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4" name="Google Shape;344;p17">
            <a:extLst xmlns:a="http://schemas.openxmlformats.org/drawingml/2006/main">
              <a:ext uri="{FF2B5EF4-FFF2-40B4-BE49-F238E27FC236}">
                <a16:creationId xmlns:a16="http://schemas.microsoft.com/office/drawing/2014/main" id="{F69203D6-60A7-4D9F-8401-099193FC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852928"/>
            <a:ext cx="3749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FEEDBACK RULE</a:t>
            </a:r>
          </a:p>
        </p:txBody>
      </p:sp>
      <p:sp>
        <p:nvSpPr>
          <p:cNvPr id="345" name="Google Shape;345;p17">
            <a:extLst xmlns:a="http://schemas.openxmlformats.org/drawingml/2006/main">
              <a:ext uri="{FF2B5EF4-FFF2-40B4-BE49-F238E27FC236}">
                <a16:creationId xmlns:a16="http://schemas.microsoft.com/office/drawing/2014/main" id="{7B8D8DF0-6BF2-4712-A72D-D80F73AB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182112"/>
            <a:ext cx="3749040" cy="1298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comment should point to a specific place on the board and a specific revision the presenter can make.</a:t>
            </a:r>
          </a:p>
        </p:txBody>
      </p:sp>
    </p:spTree>
    <p:extLst>
      <p:ext uri="{BB962C8B-B14F-4D97-AF65-F5344CB8AC3E}">
        <p14:creationId xmlns:p14="http://schemas.microsoft.com/office/powerpoint/2010/main" val="8649631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Google Shape;351;p18">
            <a:extLst xmlns:a="http://schemas.openxmlformats.org/drawingml/2006/main">
              <a:ext uri="{FF2B5EF4-FFF2-40B4-BE49-F238E27FC236}">
                <a16:creationId xmlns:a16="http://schemas.microsoft.com/office/drawing/2014/main" id="{11843148-D2BF-4E68-8067-9360AF59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2" name="Google Shape;352;p18">
            <a:extLst xmlns:a="http://schemas.openxmlformats.org/drawingml/2006/main">
              <a:ext uri="{FF2B5EF4-FFF2-40B4-BE49-F238E27FC236}">
                <a16:creationId xmlns:a16="http://schemas.microsoft.com/office/drawing/2014/main" id="{571F7D82-3D43-4976-A10C-EE8EDB8C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3" name="Google Shape;353;p18">
            <a:extLst xmlns:a="http://schemas.openxmlformats.org/drawingml/2006/main">
              <a:ext uri="{FF2B5EF4-FFF2-40B4-BE49-F238E27FC236}">
                <a16:creationId xmlns:a16="http://schemas.microsoft.com/office/drawing/2014/main" id="{7C4688D1-1EDD-4984-AC65-AA641FDA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4" name="Google Shape;354;p18">
            <a:extLst xmlns:a="http://schemas.openxmlformats.org/drawingml/2006/main">
              <a:ext uri="{FF2B5EF4-FFF2-40B4-BE49-F238E27FC236}">
                <a16:creationId xmlns:a16="http://schemas.microsoft.com/office/drawing/2014/main" id="{EE683E5A-C890-4BD9-A4A4-22E3693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355" name="Google Shape;355;p18">
            <a:extLst xmlns:a="http://schemas.openxmlformats.org/drawingml/2006/main">
              <a:ext uri="{FF2B5EF4-FFF2-40B4-BE49-F238E27FC236}">
                <a16:creationId xmlns:a16="http://schemas.microsoft.com/office/drawing/2014/main" id="{777400F5-68DD-418D-8A94-7DD8D06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56" name="Google Shape;356;p18">
            <a:extLst xmlns:a="http://schemas.openxmlformats.org/drawingml/2006/main">
              <a:ext uri="{FF2B5EF4-FFF2-40B4-BE49-F238E27FC236}">
                <a16:creationId xmlns:a16="http://schemas.microsoft.com/office/drawing/2014/main" id="{240462CB-B76B-4680-878A-8A1BB95F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357" name="Google Shape;357;p18">
            <a:extLst xmlns:a="http://schemas.openxmlformats.org/drawingml/2006/main">
              <a:ext uri="{FF2B5EF4-FFF2-40B4-BE49-F238E27FC236}">
                <a16:creationId xmlns:a16="http://schemas.microsoft.com/office/drawing/2014/main" id="{09403BC5-E105-4A56-9E94-577E34A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Product Check</a:t>
            </a:r>
          </a:p>
        </p:txBody>
      </p:sp>
      <p:sp>
        <p:nvSpPr>
          <p:cNvPr id="358" name="Google Shape;358;p18">
            <a:extLst xmlns:a="http://schemas.openxmlformats.org/drawingml/2006/main">
              <a:ext uri="{FF2B5EF4-FFF2-40B4-BE49-F238E27FC236}">
                <a16:creationId xmlns:a16="http://schemas.microsoft.com/office/drawing/2014/main" id="{20C78911-E09B-43D6-87A5-B16B57B4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9" name="Google Shape;359;p18">
            <a:extLst xmlns:a="http://schemas.openxmlformats.org/drawingml/2006/main">
              <a:ext uri="{FF2B5EF4-FFF2-40B4-BE49-F238E27FC236}">
                <a16:creationId xmlns:a16="http://schemas.microsoft.com/office/drawing/2014/main" id="{09AD731A-DD4B-4678-BB7E-F3464931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showcase practice, the visual product must be clear enough to support speaking.</a:t>
            </a:r>
          </a:p>
        </p:txBody>
      </p:sp>
      <p:sp>
        <p:nvSpPr>
          <p:cNvPr id="360" name="Google Shape;360;p18">
            <a:extLst xmlns:a="http://schemas.openxmlformats.org/drawingml/2006/main">
              <a:ext uri="{FF2B5EF4-FFF2-40B4-BE49-F238E27FC236}">
                <a16:creationId xmlns:a16="http://schemas.microsoft.com/office/drawing/2014/main" id="{56C82E95-53D4-46B4-A12C-364B5E30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5" y="2489775"/>
            <a:ext cx="5577900" cy="31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question or goal is visible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evidence is large and readable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 connect to conclusion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are included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work is specific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 is concise and professional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Acknowledgments and references are included if needed</a:t>
            </a:r>
          </a:p>
        </p:txBody>
      </p:sp>
      <p:sp>
        <p:nvSpPr>
          <p:cNvPr id="361" name="Google Shape;361;p18">
            <a:extLst xmlns:a="http://schemas.openxmlformats.org/drawingml/2006/main">
              <a:ext uri="{FF2B5EF4-FFF2-40B4-BE49-F238E27FC236}">
                <a16:creationId xmlns:a16="http://schemas.microsoft.com/office/drawing/2014/main" id="{1968AB85-4018-4DEE-A2FE-69ECEADB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743200"/>
            <a:ext cx="41605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18">
            <a:extLst xmlns:a="http://schemas.openxmlformats.org/drawingml/2006/main">
              <a:ext uri="{FF2B5EF4-FFF2-40B4-BE49-F238E27FC236}">
                <a16:creationId xmlns:a16="http://schemas.microsoft.com/office/drawing/2014/main" id="{7879BA03-A84C-482B-AFE6-95D06D9D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74320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3" name="Google Shape;363;p18">
            <a:extLst xmlns:a="http://schemas.openxmlformats.org/drawingml/2006/main">
              <a:ext uri="{FF2B5EF4-FFF2-40B4-BE49-F238E27FC236}">
                <a16:creationId xmlns:a16="http://schemas.microsoft.com/office/drawing/2014/main" id="{9E42EB4B-1BB4-4402-A994-759F7253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52928"/>
            <a:ext cx="3886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364" name="Google Shape;364;p18">
            <a:extLst xmlns:a="http://schemas.openxmlformats.org/drawingml/2006/main">
              <a:ext uri="{FF2B5EF4-FFF2-40B4-BE49-F238E27FC236}">
                <a16:creationId xmlns:a16="http://schemas.microsoft.com/office/drawing/2014/main" id="{B1A72167-8D7E-40AB-932F-E6D2AEB9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182112"/>
            <a:ext cx="3886200" cy="143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If the presenter must explain where everything is before explaining the research, the layout needs revision.</a:t>
            </a:r>
          </a:p>
        </p:txBody>
      </p:sp>
    </p:spTree>
    <p:extLst>
      <p:ext uri="{BB962C8B-B14F-4D97-AF65-F5344CB8AC3E}">
        <p14:creationId xmlns:p14="http://schemas.microsoft.com/office/powerpoint/2010/main" val="10412942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0" name="Google Shape;370;p19">
            <a:extLst xmlns:a="http://schemas.openxmlformats.org/drawingml/2006/main">
              <a:ext uri="{FF2B5EF4-FFF2-40B4-BE49-F238E27FC236}">
                <a16:creationId xmlns:a16="http://schemas.microsoft.com/office/drawing/2014/main" id="{FC5D118A-1E76-4088-BAC2-4310C2E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19">
            <a:extLst xmlns:a="http://schemas.openxmlformats.org/drawingml/2006/main">
              <a:ext uri="{FF2B5EF4-FFF2-40B4-BE49-F238E27FC236}">
                <a16:creationId xmlns:a16="http://schemas.microsoft.com/office/drawing/2014/main" id="{EDCACDCB-6B8A-4E02-B844-7773A3BC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2" name="Google Shape;372;p19">
            <a:extLst xmlns:a="http://schemas.openxmlformats.org/drawingml/2006/main">
              <a:ext uri="{FF2B5EF4-FFF2-40B4-BE49-F238E27FC236}">
                <a16:creationId xmlns:a16="http://schemas.microsoft.com/office/drawing/2014/main" id="{A61DF7FD-6F03-4019-BBB9-940E42F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3" name="Google Shape;373;p19">
            <a:extLst xmlns:a="http://schemas.openxmlformats.org/drawingml/2006/main">
              <a:ext uri="{FF2B5EF4-FFF2-40B4-BE49-F238E27FC236}">
                <a16:creationId xmlns:a16="http://schemas.microsoft.com/office/drawing/2014/main" id="{B1E1B04B-C58F-41B5-A7EC-F40D9811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374" name="Google Shape;374;p19">
            <a:extLst xmlns:a="http://schemas.openxmlformats.org/drawingml/2006/main">
              <a:ext uri="{FF2B5EF4-FFF2-40B4-BE49-F238E27FC236}">
                <a16:creationId xmlns:a16="http://schemas.microsoft.com/office/drawing/2014/main" id="{BE864B81-2398-42EB-B212-808EB257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75" name="Google Shape;375;p19">
            <a:extLst xmlns:a="http://schemas.openxmlformats.org/drawingml/2006/main">
              <a:ext uri="{FF2B5EF4-FFF2-40B4-BE49-F238E27FC236}">
                <a16:creationId xmlns:a16="http://schemas.microsoft.com/office/drawing/2014/main" id="{5477562F-B1FF-4718-9F4D-5B8741E0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376" name="Google Shape;376;p19">
            <a:extLst xmlns:a="http://schemas.openxmlformats.org/drawingml/2006/main">
              <a:ext uri="{FF2B5EF4-FFF2-40B4-BE49-F238E27FC236}">
                <a16:creationId xmlns:a16="http://schemas.microsoft.com/office/drawing/2014/main" id="{9AAC9451-75FA-49D3-AC15-8F96EFB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Teacher Conference Questions</a:t>
            </a:r>
          </a:p>
        </p:txBody>
      </p:sp>
      <p:sp>
        <p:nvSpPr>
          <p:cNvPr id="377" name="Google Shape;377;p19">
            <a:extLst xmlns:a="http://schemas.openxmlformats.org/drawingml/2006/main">
              <a:ext uri="{FF2B5EF4-FFF2-40B4-BE49-F238E27FC236}">
                <a16:creationId xmlns:a16="http://schemas.microsoft.com/office/drawing/2014/main" id="{212697D1-A3CD-446C-843B-FFCF43D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8" name="Google Shape;378;p19">
            <a:extLst xmlns:a="http://schemas.openxmlformats.org/drawingml/2006/main">
              <a:ext uri="{FF2B5EF4-FFF2-40B4-BE49-F238E27FC236}">
                <a16:creationId xmlns:a16="http://schemas.microsoft.com/office/drawing/2014/main" id="{21CA5F94-7EE5-4FD7-852F-2081623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quick checks to catch visual communication problems before the final event.</a:t>
            </a:r>
          </a:p>
        </p:txBody>
      </p:sp>
      <p:sp>
        <p:nvSpPr>
          <p:cNvPr id="379" name="Google Shape;379;p19">
            <a:extLst xmlns:a="http://schemas.openxmlformats.org/drawingml/2006/main">
              <a:ext uri="{FF2B5EF4-FFF2-40B4-BE49-F238E27FC236}">
                <a16:creationId xmlns:a16="http://schemas.microsoft.com/office/drawing/2014/main" id="{8B6E3E06-3F8C-4C35-A972-BAC6CEED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5" y="2478925"/>
            <a:ext cx="6400800" cy="31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Point to the main claim your board supports.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me the visual that best supports that claim.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I read this graph from six feet away?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did you cut from the report, and why?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does the board acknowledge limitations?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question do you expect visitors to ask?</a:t>
            </a:r>
          </a:p>
        </p:txBody>
      </p:sp>
      <p:sp>
        <p:nvSpPr>
          <p:cNvPr id="380" name="Google Shape;380;p19">
            <a:extLst xmlns:a="http://schemas.openxmlformats.org/drawingml/2006/main">
              <a:ext uri="{FF2B5EF4-FFF2-40B4-BE49-F238E27FC236}">
                <a16:creationId xmlns:a16="http://schemas.microsoft.com/office/drawing/2014/main" id="{C03AEBA1-B341-4A5A-B9E7-4AA7691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43200"/>
            <a:ext cx="347472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1" name="Google Shape;381;p19">
            <a:extLst xmlns:a="http://schemas.openxmlformats.org/drawingml/2006/main">
              <a:ext uri="{FF2B5EF4-FFF2-40B4-BE49-F238E27FC236}">
                <a16:creationId xmlns:a16="http://schemas.microsoft.com/office/drawing/2014/main" id="{F0F7076A-6176-42B6-8479-B59F7D6E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4320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2" name="Google Shape;382;p19">
            <a:extLst xmlns:a="http://schemas.openxmlformats.org/drawingml/2006/main">
              <a:ext uri="{FF2B5EF4-FFF2-40B4-BE49-F238E27FC236}">
                <a16:creationId xmlns:a16="http://schemas.microsoft.com/office/drawing/2014/main" id="{B6AB3A1D-EE0B-4BC7-9167-388DF8FE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852928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TEACHER MOVE</a:t>
            </a:r>
          </a:p>
        </p:txBody>
      </p:sp>
      <p:sp>
        <p:nvSpPr>
          <p:cNvPr id="383" name="Google Shape;383;p19">
            <a:extLst xmlns:a="http://schemas.openxmlformats.org/drawingml/2006/main">
              <a:ext uri="{FF2B5EF4-FFF2-40B4-BE49-F238E27FC236}">
                <a16:creationId xmlns:a16="http://schemas.microsoft.com/office/drawing/2014/main" id="{4FC47AAF-0E22-4D42-82CC-B43A3EC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82112"/>
            <a:ext cx="3200400" cy="138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Ask students to physically point. If they cannot point to the evidence, the audience probably cannot find it either.</a:t>
            </a:r>
          </a:p>
        </p:txBody>
      </p:sp>
    </p:spTree>
    <p:extLst>
      <p:ext uri="{BB962C8B-B14F-4D97-AF65-F5344CB8AC3E}">
        <p14:creationId xmlns:p14="http://schemas.microsoft.com/office/powerpoint/2010/main" val="2090088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9" name="Google Shape;389;p20">
            <a:extLst xmlns:a="http://schemas.openxmlformats.org/drawingml/2006/main">
              <a:ext uri="{FF2B5EF4-FFF2-40B4-BE49-F238E27FC236}">
                <a16:creationId xmlns:a16="http://schemas.microsoft.com/office/drawing/2014/main" id="{A82B5101-1A38-4C38-BF6E-A448B46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0" name="Google Shape;390;p20">
            <a:extLst xmlns:a="http://schemas.openxmlformats.org/drawingml/2006/main">
              <a:ext uri="{FF2B5EF4-FFF2-40B4-BE49-F238E27FC236}">
                <a16:creationId xmlns:a16="http://schemas.microsoft.com/office/drawing/2014/main" id="{3BBB078E-6EE2-47F9-B96D-D09148B3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1" name="Google Shape;391;p20">
            <a:extLst xmlns:a="http://schemas.openxmlformats.org/drawingml/2006/main">
              <a:ext uri="{FF2B5EF4-FFF2-40B4-BE49-F238E27FC236}">
                <a16:creationId xmlns:a16="http://schemas.microsoft.com/office/drawing/2014/main" id="{431AF95C-CDB8-4337-836A-6B2ABB54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6832"/>
            <a:ext cx="12191695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2" name="Google Shape;392;p20">
            <a:extLst xmlns:a="http://schemas.openxmlformats.org/drawingml/2006/main">
              <a:ext uri="{FF2B5EF4-FFF2-40B4-BE49-F238E27FC236}">
                <a16:creationId xmlns:a16="http://schemas.microsoft.com/office/drawing/2014/main" id="{057C388F-3BA1-4479-AF08-7491AD7C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0080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DECK 16</a:t>
            </a:r>
          </a:p>
        </p:txBody>
      </p:sp>
      <p:sp>
        <p:nvSpPr>
          <p:cNvPr id="393" name="Google Shape;393;p20">
            <a:extLst xmlns:a="http://schemas.openxmlformats.org/drawingml/2006/main">
              <a:ext uri="{FF2B5EF4-FFF2-40B4-BE49-F238E27FC236}">
                <a16:creationId xmlns:a16="http://schemas.microsoft.com/office/drawing/2014/main" id="{88C20CD4-D99C-4210-8219-0EF48B9B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64008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Arial"/>
              <a:buNone/>
            </a:pPr>
            <a:r>
              <a:rPr sz="1000" b="1">
                <a:solidFill>
                  <a:srgbClr val="B7B7B7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94" name="Google Shape;394;p20">
            <a:extLst xmlns:a="http://schemas.openxmlformats.org/drawingml/2006/main">
              <a:ext uri="{FF2B5EF4-FFF2-40B4-BE49-F238E27FC236}">
                <a16:creationId xmlns:a16="http://schemas.microsoft.com/office/drawing/2014/main" id="{5120B37C-01DE-4A37-BF82-0C7A05A6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100"/>
              <a:buFont typeface="Arial"/>
              <a:buNone/>
            </a:pPr>
            <a:r>
              <a:rPr sz="11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DESIGNING RESEARCH VISUALS</a:t>
            </a:r>
          </a:p>
        </p:txBody>
      </p:sp>
      <p:sp>
        <p:nvSpPr>
          <p:cNvPr id="395" name="Google Shape;395;p20">
            <a:extLst xmlns:a="http://schemas.openxmlformats.org/drawingml/2006/main">
              <a:ext uri="{FF2B5EF4-FFF2-40B4-BE49-F238E27FC236}">
                <a16:creationId xmlns:a16="http://schemas.microsoft.com/office/drawing/2014/main" id="{25DBD4D3-A0EA-49E9-98D6-05D13BF7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Ticket: Board Readiness</a:t>
            </a:r>
          </a:p>
        </p:txBody>
      </p:sp>
      <p:sp>
        <p:nvSpPr>
          <p:cNvPr id="396" name="Google Shape;396;p20">
            <a:extLst xmlns:a="http://schemas.openxmlformats.org/drawingml/2006/main">
              <a:ext uri="{FF2B5EF4-FFF2-40B4-BE49-F238E27FC236}">
                <a16:creationId xmlns:a16="http://schemas.microsoft.com/office/drawing/2014/main" id="{0005EAEB-EDBF-4053-A332-19E07BC6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35024"/>
            <a:ext cx="11430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7" name="Google Shape;397;p20">
            <a:extLst xmlns:a="http://schemas.openxmlformats.org/drawingml/2006/main">
              <a:ext uri="{FF2B5EF4-FFF2-40B4-BE49-F238E27FC236}">
                <a16:creationId xmlns:a16="http://schemas.microsoft.com/office/drawing/2014/main" id="{E9ADE744-2BC1-43D2-A02F-6DA7AE16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leaving, students should know exactly what their visual aid still needs.</a:t>
            </a:r>
          </a:p>
        </p:txBody>
      </p:sp>
      <p:sp>
        <p:nvSpPr>
          <p:cNvPr id="398" name="Google Shape;398;p20">
            <a:extLst xmlns:a="http://schemas.openxmlformats.org/drawingml/2006/main">
              <a:ext uri="{FF2B5EF4-FFF2-40B4-BE49-F238E27FC236}">
                <a16:creationId xmlns:a16="http://schemas.microsoft.com/office/drawing/2014/main" id="{F71269DD-D3A5-4E1F-9ECB-5E8729AC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530352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9" name="Google Shape;399;p20">
            <a:extLst xmlns:a="http://schemas.openxmlformats.org/drawingml/2006/main">
              <a:ext uri="{FF2B5EF4-FFF2-40B4-BE49-F238E27FC236}">
                <a16:creationId xmlns:a16="http://schemas.microsoft.com/office/drawing/2014/main" id="{33AC6E09-3502-42DB-BE4B-9FA6B08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73152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0" name="Google Shape;400;p20">
            <a:extLst xmlns:a="http://schemas.openxmlformats.org/drawingml/2006/main">
              <a:ext uri="{FF2B5EF4-FFF2-40B4-BE49-F238E27FC236}">
                <a16:creationId xmlns:a16="http://schemas.microsoft.com/office/drawing/2014/main" id="{7885E9B7-CA8F-4077-844B-84381CAC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414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401" name="Google Shape;401;p20">
            <a:extLst xmlns:a="http://schemas.openxmlformats.org/drawingml/2006/main">
              <a:ext uri="{FF2B5EF4-FFF2-40B4-BE49-F238E27FC236}">
                <a16:creationId xmlns:a16="http://schemas.microsoft.com/office/drawing/2014/main" id="{F075A6EF-4EA5-466B-AA4C-065193B2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770632"/>
            <a:ext cx="5029200" cy="189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The strongest visual on my board is...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One thing I need to enlarge or simplify is...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One limitation I will include is...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My next revision step is...</a:t>
            </a:r>
          </a:p>
        </p:txBody>
      </p:sp>
      <p:sp>
        <p:nvSpPr>
          <p:cNvPr id="402" name="Google Shape;402;p20">
            <a:extLst xmlns:a="http://schemas.openxmlformats.org/drawingml/2006/main">
              <a:ext uri="{FF2B5EF4-FFF2-40B4-BE49-F238E27FC236}">
                <a16:creationId xmlns:a16="http://schemas.microsoft.com/office/drawing/2014/main" id="{65628447-DB59-4E7A-9F82-8B6A56D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14600"/>
            <a:ext cx="466344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3950" cmpd="sng">
            <a:solidFill>
              <a:srgbClr val="E4252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3" name="Google Shape;403;p20">
            <a:extLst xmlns:a="http://schemas.openxmlformats.org/drawingml/2006/main">
              <a:ext uri="{FF2B5EF4-FFF2-40B4-BE49-F238E27FC236}">
                <a16:creationId xmlns:a16="http://schemas.microsoft.com/office/drawing/2014/main" id="{811E97F7-F23A-475B-9E8C-55607ECD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1460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2521"/>
          </a:solidFill>
          <a:ln xmlns:a="http://schemas.openxmlformats.org/drawingml/2006/main" w="12700" cmpd="sng">
            <a:solidFill>
              <a:srgbClr val="E42521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4" name="Google Shape;404;p20">
            <a:extLst xmlns:a="http://schemas.openxmlformats.org/drawingml/2006/main">
              <a:ext uri="{FF2B5EF4-FFF2-40B4-BE49-F238E27FC236}">
                <a16:creationId xmlns:a16="http://schemas.microsoft.com/office/drawing/2014/main" id="{B7DADB52-A51A-4123-BC1C-3B1285A8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624328"/>
            <a:ext cx="43891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1000"/>
              <a:buFont typeface="Arial"/>
              <a:buNone/>
            </a:pPr>
            <a:r>
              <a:rPr sz="10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TURN IN</a:t>
            </a:r>
          </a:p>
        </p:txBody>
      </p:sp>
      <p:sp>
        <p:nvSpPr>
          <p:cNvPr id="405" name="Google Shape;405;p20">
            <a:extLst xmlns:a="http://schemas.openxmlformats.org/drawingml/2006/main">
              <a:ext uri="{FF2B5EF4-FFF2-40B4-BE49-F238E27FC236}">
                <a16:creationId xmlns:a16="http://schemas.microsoft.com/office/drawing/2014/main" id="{73AEAEDF-380E-4A76-8B70-DF3D8DB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953512"/>
            <a:ext cx="4389120" cy="143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Storyboard or draft board layout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triage notes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specific revision goal</a:t>
            </a:r>
          </a:p>
        </p:txBody>
      </p:sp>
      <p:sp>
        <p:nvSpPr>
          <p:cNvPr id="406" name="Google Shape;406;p20">
            <a:extLst xmlns:a="http://schemas.openxmlformats.org/drawingml/2006/main">
              <a:ext uri="{FF2B5EF4-FFF2-40B4-BE49-F238E27FC236}">
                <a16:creationId xmlns:a16="http://schemas.microsoft.com/office/drawing/2014/main" id="{829FECB3-F9FD-46E7-801E-E6C38BFC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104241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E42521"/>
              </a:buClr>
              <a:buSzPts val="2200"/>
              <a:buFont typeface="Arial"/>
              <a:buNone/>
            </a:pPr>
            <a:r>
              <a:rPr sz="2200" b="1">
                <a:solidFill>
                  <a:srgbClr val="E42521"/>
                </a:solidFill>
                <a:latin typeface="Arial"/>
                <a:ea typeface="Arial"/>
                <a:cs typeface="Arial"/>
              </a:rPr>
              <a:t>Next Deck: Oral Presentation Skills for Research</a:t>
            </a:r>
          </a:p>
        </p:txBody>
      </p:sp>
    </p:spTree>
    <p:extLst>
      <p:ext uri="{BB962C8B-B14F-4D97-AF65-F5344CB8AC3E}">
        <p14:creationId xmlns:p14="http://schemas.microsoft.com/office/powerpoint/2010/main" val="17080329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2026-07-16T15:42:10.2660000Z</dcterms:created>
  <dcterms:modified xsi:type="dcterms:W3CDTF">2026-07-16T15:42:10.2660000Z</dcterms:modified>
</coreProperties>
</file>