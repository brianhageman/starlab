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fb0bcdfdaa4b3f" /><Relationship Type="http://schemas.openxmlformats.org/officeDocument/2006/relationships/extended-properties" Target="/docProps/app.xml" Id="R1bbe4a398ff64eee" /><Relationship Type="http://schemas.openxmlformats.org/officeDocument/2006/relationships/officeDocument" Target="/ppt/presentation.xml" Id="R9641d80dce8d4907"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308dd7f945b45fc"/>
  </p:sldMasterIdLst>
  <p:notesMasterIdLst>
    <p:notesMasterId xmlns:r="http://schemas.openxmlformats.org/officeDocument/2006/relationships" r:id="R26e03ebb53e04924"/>
  </p:notesMasterIdLst>
  <p:sldIdLst>
    <p:sldId xmlns:r="http://schemas.openxmlformats.org/officeDocument/2006/relationships" id="256" r:id="R5563c21639fc4e02"/>
    <p:sldId xmlns:r="http://schemas.openxmlformats.org/officeDocument/2006/relationships" id="257" r:id="Rc5c5991839744191"/>
    <p:sldId xmlns:r="http://schemas.openxmlformats.org/officeDocument/2006/relationships" id="258" r:id="Rc6b22324da3d4921"/>
    <p:sldId xmlns:r="http://schemas.openxmlformats.org/officeDocument/2006/relationships" id="259" r:id="R56fa7003048f4553"/>
    <p:sldId xmlns:r="http://schemas.openxmlformats.org/officeDocument/2006/relationships" id="260" r:id="R80e27cc73ae3428d"/>
    <p:sldId xmlns:r="http://schemas.openxmlformats.org/officeDocument/2006/relationships" id="261" r:id="R603cc885c00b41bd"/>
    <p:sldId xmlns:r="http://schemas.openxmlformats.org/officeDocument/2006/relationships" id="262" r:id="Rd503341f30b24f29"/>
    <p:sldId xmlns:r="http://schemas.openxmlformats.org/officeDocument/2006/relationships" id="263" r:id="R3038560ca84146bb"/>
    <p:sldId xmlns:r="http://schemas.openxmlformats.org/officeDocument/2006/relationships" id="264" r:id="Rf4eca13571ef48d4"/>
    <p:sldId xmlns:r="http://schemas.openxmlformats.org/officeDocument/2006/relationships" id="265" r:id="R323b300945dc4fb8"/>
    <p:sldId xmlns:r="http://schemas.openxmlformats.org/officeDocument/2006/relationships" id="266" r:id="Re6b0a8c14fa94b6e"/>
    <p:sldId xmlns:r="http://schemas.openxmlformats.org/officeDocument/2006/relationships" id="267" r:id="R479b4288474242d9"/>
    <p:sldId xmlns:r="http://schemas.openxmlformats.org/officeDocument/2006/relationships" id="268" r:id="R63c1924e749a4d4b"/>
    <p:sldId xmlns:r="http://schemas.openxmlformats.org/officeDocument/2006/relationships" id="269" r:id="Rcf209389c75b4900"/>
    <p:sldId xmlns:r="http://schemas.openxmlformats.org/officeDocument/2006/relationships" id="270" r:id="Re3087eec3bd2418e"/>
    <p:sldId xmlns:r="http://schemas.openxmlformats.org/officeDocument/2006/relationships" id="271" r:id="Rd262debef77a4f2f"/>
    <p:sldId xmlns:r="http://schemas.openxmlformats.org/officeDocument/2006/relationships" id="272" r:id="Rb0d8e29975f14ce6"/>
    <p:sldId xmlns:r="http://schemas.openxmlformats.org/officeDocument/2006/relationships" id="273" r:id="R9b5a539741644dd5"/>
    <p:sldId xmlns:r="http://schemas.openxmlformats.org/officeDocument/2006/relationships" id="274" r:id="R85ae54db75c14f5b"/>
    <p:sldId xmlns:r="http://schemas.openxmlformats.org/officeDocument/2006/relationships" id="275" r:id="R51fc51952e724b2f"/>
    <p:sldId xmlns:r="http://schemas.openxmlformats.org/officeDocument/2006/relationships" id="276" r:id="R64426096a8944a4c"/>
    <p:sldId xmlns:r="http://schemas.openxmlformats.org/officeDocument/2006/relationships" id="277" r:id="Rd393b383e4214fb1"/>
  </p:sldIdLst>
  <p:sldSz cx="12192000" cy="6858000"/>
  <p:notesSz cx="6858000" cy="9144000"/>
  <p:embeddedFontLst>
    <p:embeddedFont>
      <p:font typeface="Play"/>
      <p:regular xmlns:r="http://schemas.openxmlformats.org/officeDocument/2006/relationships" r:id="R5dd4e5a8d8384efb"/>
      <p:bold xmlns:r="http://schemas.openxmlformats.org/officeDocument/2006/relationships" r:id="Rec8fe92813fc411c"/>
    </p:embeddedFont>
  </p:embeddedFontLst>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d7ef834cd1495e" /><Relationship Type="http://schemas.openxmlformats.org/officeDocument/2006/relationships/slideMaster" Target="/ppt/slideMasters/slideMaster1.xml" Id="R1308dd7f945b45fc" /><Relationship Type="http://schemas.openxmlformats.org/officeDocument/2006/relationships/notesMaster" Target="/ppt/notesMasters/notesMaster1.xml" Id="R26e03ebb53e04924" /><Relationship Type="http://schemas.openxmlformats.org/officeDocument/2006/relationships/presProps" Target="/ppt/presProps.xml" Id="R33e4a08a73de4299" /><Relationship Type="http://schemas.openxmlformats.org/officeDocument/2006/relationships/tableStyles" Target="/ppt/tableStyles.xml" Id="Rc6b22a255e20412b" /><Relationship Type="http://schemas.openxmlformats.org/officeDocument/2006/relationships/font" Target="/ppt/fonts/font.dat" Id="R5dd4e5a8d8384efb" /><Relationship Type="http://schemas.openxmlformats.org/officeDocument/2006/relationships/font" Target="/ppt/fonts/font2.dat" Id="Rec8fe92813fc411c" /><Relationship Type="http://schemas.openxmlformats.org/officeDocument/2006/relationships/slide" Target="/ppt/slides/slide1.xml" Id="R5563c21639fc4e02" /><Relationship Type="http://schemas.openxmlformats.org/officeDocument/2006/relationships/slide" Target="/ppt/slides/slide2.xml" Id="Rc5c5991839744191" /><Relationship Type="http://schemas.openxmlformats.org/officeDocument/2006/relationships/slide" Target="/ppt/slides/slide3.xml" Id="Rc6b22324da3d4921" /><Relationship Type="http://schemas.openxmlformats.org/officeDocument/2006/relationships/slide" Target="/ppt/slides/slide4.xml" Id="R56fa7003048f4553" /><Relationship Type="http://schemas.openxmlformats.org/officeDocument/2006/relationships/slide" Target="/ppt/slides/slide5.xml" Id="R80e27cc73ae3428d" /><Relationship Type="http://schemas.openxmlformats.org/officeDocument/2006/relationships/slide" Target="/ppt/slides/slide6.xml" Id="R603cc885c00b41bd" /><Relationship Type="http://schemas.openxmlformats.org/officeDocument/2006/relationships/slide" Target="/ppt/slides/slide7.xml" Id="Rd503341f30b24f29" /><Relationship Type="http://schemas.openxmlformats.org/officeDocument/2006/relationships/slide" Target="/ppt/slides/slide8.xml" Id="R3038560ca84146bb" /><Relationship Type="http://schemas.openxmlformats.org/officeDocument/2006/relationships/slide" Target="/ppt/slides/slide9.xml" Id="Rf4eca13571ef48d4" /><Relationship Type="http://schemas.openxmlformats.org/officeDocument/2006/relationships/slide" Target="/ppt/slides/slide10.xml" Id="R323b300945dc4fb8" /><Relationship Type="http://schemas.openxmlformats.org/officeDocument/2006/relationships/slide" Target="/ppt/slides/slide11.xml" Id="Re6b0a8c14fa94b6e" /><Relationship Type="http://schemas.openxmlformats.org/officeDocument/2006/relationships/slide" Target="/ppt/slides/slide12.xml" Id="R479b4288474242d9" /><Relationship Type="http://schemas.openxmlformats.org/officeDocument/2006/relationships/slide" Target="/ppt/slides/slide13.xml" Id="R63c1924e749a4d4b" /><Relationship Type="http://schemas.openxmlformats.org/officeDocument/2006/relationships/slide" Target="/ppt/slides/slide14.xml" Id="Rcf209389c75b4900" /><Relationship Type="http://schemas.openxmlformats.org/officeDocument/2006/relationships/slide" Target="/ppt/slides/slide15.xml" Id="Re3087eec3bd2418e" /><Relationship Type="http://schemas.openxmlformats.org/officeDocument/2006/relationships/slide" Target="/ppt/slides/slide16.xml" Id="Rd262debef77a4f2f" /><Relationship Type="http://schemas.openxmlformats.org/officeDocument/2006/relationships/slide" Target="/ppt/slides/slide17.xml" Id="Rb0d8e29975f14ce6" /><Relationship Type="http://schemas.openxmlformats.org/officeDocument/2006/relationships/slide" Target="/ppt/slides/slide18.xml" Id="R9b5a539741644dd5" /><Relationship Type="http://schemas.openxmlformats.org/officeDocument/2006/relationships/slide" Target="/ppt/slides/slide19.xml" Id="R85ae54db75c14f5b" /><Relationship Type="http://schemas.openxmlformats.org/officeDocument/2006/relationships/slide" Target="/ppt/slides/slide20.xml" Id="R51fc51952e724b2f" /><Relationship Type="http://schemas.openxmlformats.org/officeDocument/2006/relationships/slide" Target="/ppt/slides/slide21.xml" Id="R64426096a8944a4c" /><Relationship Type="http://schemas.openxmlformats.org/officeDocument/2006/relationships/slide" Target="/ppt/slides/slide22.xml" Id="Rd393b383e4214f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7958654a5e4c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ef7e58c14649bb" /><Relationship Type="http://schemas.openxmlformats.org/officeDocument/2006/relationships/notesMaster" Target="/ppt/notesMasters/notesMaster1.xml" Id="Rd333d4ae3a8641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387d3eaddc43d4" /><Relationship Type="http://schemas.openxmlformats.org/officeDocument/2006/relationships/notesMaster" Target="/ppt/notesMasters/notesMaster1.xml" Id="R4212092ba69749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e5e9aefd604f9e" /><Relationship Type="http://schemas.openxmlformats.org/officeDocument/2006/relationships/notesMaster" Target="/ppt/notesMasters/notesMaster1.xml" Id="Re62b36e5cad547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a358dc0c7a4e7d" /><Relationship Type="http://schemas.openxmlformats.org/officeDocument/2006/relationships/notesMaster" Target="/ppt/notesMasters/notesMaster1.xml" Id="Rae4f19c511804e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9dd9953c5c4b05" /><Relationship Type="http://schemas.openxmlformats.org/officeDocument/2006/relationships/notesMaster" Target="/ppt/notesMasters/notesMaster1.xml" Id="R23cd092faa594c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a1771ab11f4b36" /><Relationship Type="http://schemas.openxmlformats.org/officeDocument/2006/relationships/notesMaster" Target="/ppt/notesMasters/notesMaster1.xml" Id="Rae9e35af6d5f4e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0fd436fdca4a6b" /><Relationship Type="http://schemas.openxmlformats.org/officeDocument/2006/relationships/notesMaster" Target="/ppt/notesMasters/notesMaster1.xml" Id="R079f1210f04d46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187e91b052464b" /><Relationship Type="http://schemas.openxmlformats.org/officeDocument/2006/relationships/notesMaster" Target="/ppt/notesMasters/notesMaster1.xml" Id="R7d0fd840384a4a0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0cfaf17fbd4c82" /><Relationship Type="http://schemas.openxmlformats.org/officeDocument/2006/relationships/notesMaster" Target="/ppt/notesMasters/notesMaster1.xml" Id="Rdd89f8d4627941c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b83fb97d9045b1" /><Relationship Type="http://schemas.openxmlformats.org/officeDocument/2006/relationships/notesMaster" Target="/ppt/notesMasters/notesMaster1.xml" Id="Ref11950be95741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99a7018d7a49fe" /><Relationship Type="http://schemas.openxmlformats.org/officeDocument/2006/relationships/notesMaster" Target="/ppt/notesMasters/notesMaster1.xml" Id="Redbc866bdd5542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61b80966ba4b4d" /><Relationship Type="http://schemas.openxmlformats.org/officeDocument/2006/relationships/notesMaster" Target="/ppt/notesMasters/notesMaster1.xml" Id="Ref91aeec695d4ae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2f0473fd0c4fad" /><Relationship Type="http://schemas.openxmlformats.org/officeDocument/2006/relationships/notesMaster" Target="/ppt/notesMasters/notesMaster1.xml" Id="R6d7bdefb168a42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3a6f79318564ff4" /><Relationship Type="http://schemas.openxmlformats.org/officeDocument/2006/relationships/notesMaster" Target="/ppt/notesMasters/notesMaster1.xml" Id="R11b78458e1964cf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10ff0d200114fa8" /><Relationship Type="http://schemas.openxmlformats.org/officeDocument/2006/relationships/notesMaster" Target="/ppt/notesMasters/notesMaster1.xml" Id="R40719dba98f14a8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4bd81e18e8b4fb6" /><Relationship Type="http://schemas.openxmlformats.org/officeDocument/2006/relationships/notesMaster" Target="/ppt/notesMasters/notesMaster1.xml" Id="R41611d95739f49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fb5fb8a5bf8475b" /><Relationship Type="http://schemas.openxmlformats.org/officeDocument/2006/relationships/notesMaster" Target="/ppt/notesMasters/notesMaster1.xml" Id="Re177f7f9fc46439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309587941344639" /><Relationship Type="http://schemas.openxmlformats.org/officeDocument/2006/relationships/notesMaster" Target="/ppt/notesMasters/notesMaster1.xml" Id="Rc85b5373afb543c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2b05be6a6f745ec" /><Relationship Type="http://schemas.openxmlformats.org/officeDocument/2006/relationships/notesMaster" Target="/ppt/notesMasters/notesMaster1.xml" Id="Rdf96a8c54a8d496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87192f2462147be" /><Relationship Type="http://schemas.openxmlformats.org/officeDocument/2006/relationships/notesMaster" Target="/ppt/notesMasters/notesMaster1.xml" Id="R67346f7ec65047e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70f368060bb42c3" /><Relationship Type="http://schemas.openxmlformats.org/officeDocument/2006/relationships/notesMaster" Target="/ppt/notesMasters/notesMaster1.xml" Id="Rbcc6eca106e84d9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e997c9e30174514" /><Relationship Type="http://schemas.openxmlformats.org/officeDocument/2006/relationships/notesMaster" Target="/ppt/notesMasters/notesMaster1.xml" Id="R720b4fd07ec24f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PRIMARY TEACHING MOMENTS</a:t>
            </a:r>
          </a:p>
          <a:p xmlns:a="http://schemas.openxmlformats.org/drawingml/2006/main">
            <a:pPr marL="0" indent="0" algn="l">
              <a:spcBef>
                <a:spcPts val="0"/>
              </a:spcBef>
              <a:spcAft>
                <a:spcPts val="0"/>
              </a:spcAft>
              <a:buNone/>
            </a:pPr>
            <a:r>
              <a:t>Unit 4, Weeks 17-18</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REQUIRED WEEK 17 MATERIALS</a:t>
            </a:r>
          </a:p>
          <a:p xmlns:a="http://schemas.openxmlformats.org/drawingml/2006/main">
            <a:pPr marL="0" indent="0" algn="l">
              <a:spcBef>
                <a:spcPts val="0"/>
              </a:spcBef>
              <a:spcAft>
                <a:spcPts val="0"/>
              </a:spcAft>
              <a:buNone/>
            </a:pPr>
            <a:r>
              <a:t>- Unit 4 Student Handouts 1-4</a:t>
            </a:r>
          </a:p>
          <a:p xmlns:a="http://schemas.openxmlformats.org/drawingml/2006/main">
            <a:pPr marL="0" indent="0" algn="l">
              <a:spcBef>
                <a:spcPts val="0"/>
              </a:spcBef>
              <a:spcAft>
                <a:spcPts val="0"/>
              </a:spcAft>
              <a:buNone/>
            </a:pPr>
            <a:r>
              <a:t>- Unit 4 Appendices A-C</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REQUIRED WEEK 18 MATERIALS</a:t>
            </a:r>
          </a:p>
          <a:p xmlns:a="http://schemas.openxmlformats.org/drawingml/2006/main">
            <a:pPr marL="0" indent="0" algn="l">
              <a:spcBef>
                <a:spcPts val="0"/>
              </a:spcBef>
              <a:spcAft>
                <a:spcPts val="0"/>
              </a:spcAft>
              <a:buNone/>
            </a:pPr>
            <a:r>
              <a:t>- Unit 4 Student Handouts 5-8</a:t>
            </a:r>
          </a:p>
          <a:p xmlns:a="http://schemas.openxmlformats.org/drawingml/2006/main">
            <a:pPr marL="0" indent="0" algn="l">
              <a:spcBef>
                <a:spcPts val="0"/>
              </a:spcBef>
              <a:spcAft>
                <a:spcPts val="0"/>
              </a:spcAft>
              <a:buNone/>
            </a:pPr>
            <a:r>
              <a:t>- Unit 4 Appendices D-G</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RESOURCE ALIGNMENT</a:t>
            </a:r>
          </a:p>
          <a:p xmlns:a="http://schemas.openxmlformats.org/drawingml/2006/main">
            <a:pPr marL="0" indent="0" algn="l">
              <a:spcBef>
                <a:spcPts val="0"/>
              </a:spcBef>
              <a:spcAft>
                <a:spcPts val="0"/>
              </a:spcAft>
              <a:buNone/>
            </a:pPr>
            <a:r>
              <a:t>Introduce analysis selection in Week 17 after data organization, then continue the primary instruction in Week 18. Use only methods that fit the question and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Frame the lesson as a decision-making process. Students should leave with a concrete analysis plan, not just a list of possible statistics.</a:t>
            </a:r>
            <a:br/>
            <a:br/>
            <a:r>
              <a:t>Resource alignment:</a:t>
            </a:r>
            <a:br/>
            <a:r>
              <a:t>Use with Unit 4 Student Handout 5: Data Type and Analysis Match and Unit 4 Student Handout 6: Data Analysis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the conceptual anchor of the deck. Students often open a spreadsheet and start clicking graph options. Redirect them: the research question controls the analysis method.</a:t>
            </a:r>
            <a:br/>
            <a:br/>
            <a:r>
              <a:t>Resource alignment:</a:t>
            </a:r>
            <a:br/>
            <a:r>
              <a:t>Use as a bridge from Unit 4 Student Handout 1–4 data organization tasks into Unit 4 Student Handout 6: Data Analysis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Students do not need to memorize the labels, but they do need to recognize that a data set has a structure. Have them identify the best-fitting category for their own evidence.</a:t>
            </a:r>
            <a:br/>
            <a:br/>
            <a:r>
              <a:t>Resource alignment:</a:t>
            </a:r>
            <a:br/>
            <a:r>
              <a:t>Use with Unit 4 Student Handout 5: Data Type and Analysis 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Walk through one or two examples slowly. Ask students to explain why a method fits, not simply name the method. The reasoning matters more than the vocabulary.</a:t>
            </a:r>
            <a:br/>
            <a:br/>
            <a:r>
              <a:t>Resource alignment:</a:t>
            </a:r>
            <a:br/>
            <a:r>
              <a:t>Use with Unit 4 Appendix E: Choosing an Analysis Method and Unit 4 Student Handout 5: Data Type and Analysis 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Do not make this a full math lecture. Emphasize what each value helps a researcher understand. Students should know when an average is useful and when it may hide variation.</a:t>
            </a:r>
            <a:br/>
            <a:br/>
            <a:r>
              <a:t>Resource alignment:</a:t>
            </a:r>
            <a:br/>
            <a:r>
              <a:t>Use with Unit 4 Appendix D: Basic Statistics Guide and Unit 4 Student Handout 7: Calculation and Statistics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Use this slide to introduce the idea that averages alone can be misleading. If results vary widely, students should be cautious about their claims.</a:t>
            </a:r>
            <a:br/>
            <a:br/>
            <a:r>
              <a:t>Resource alignment:</a:t>
            </a:r>
            <a:br/>
            <a:r>
              <a:t>Use with Unit 4 Appendix D: Basic Statistics Guide. This also prepares students for the later Deck 11 discussion of error bars and visualizing variability.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Students often compare final values when percent change or rate would be more meaningful. Ask: Is the starting value important? Is time important?</a:t>
            </a:r>
            <a:br/>
            <a:br/>
            <a:r>
              <a:t>Resource alignment:</a:t>
            </a:r>
            <a:br/>
            <a:r>
              <a:t>Use with Unit 4 Appendix D: Basic Statistics Guide and Unit 4 Student Handout 7: Calculation and Statistics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slide is especially important for engineering projects. “Best” must be defined. Often the best design is not simply the biggest or heaviest design.</a:t>
            </a:r>
            <a:br/>
            <a:br/>
            <a:r>
              <a:t>Resource alignment:</a:t>
            </a:r>
            <a:br/>
            <a:r>
              <a:t>Use with Unit 4 Student Handout 8: Engineering Performance Analysis and Unit 4 Appendix F: Engineering and Design Analysis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Use this as a conceptual slide, not a full regression lesson. Students should understand that a trendline helps describe a pattern, but it does not automatically prove causation.</a:t>
            </a:r>
            <a:br/>
            <a:br/>
            <a:r>
              <a:t>Resource alignment:</a:t>
            </a:r>
            <a:br/>
            <a:r>
              <a:t>Use with Unit 4 Appendix D: Basic Statistics Guide and Unit 4 Appendix E: Choosing an Analysis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Students love making causal claims from limited data. Use this slide to introduce careful language. Ask: What would you need to control or test before claiming cause?</a:t>
            </a:r>
            <a:br/>
            <a:br/>
            <a:r>
              <a:t>Resource alignment:</a:t>
            </a:r>
            <a:br/>
            <a:r>
              <a:t>Use with Unit 4 Appendix D: Basic Statistics Guide and Unit 4 Appendix M later in the unit: Avoiding Overclaiming.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Experimental students may skip this slide as a review, but engineering students need it. The key question is not “Did it work?” but “How well did it meet the criteria under constraints?”</a:t>
            </a:r>
            <a:br/>
            <a:br/>
            <a:r>
              <a:t>Resource alignment:</a:t>
            </a:r>
            <a:br/>
            <a:r>
              <a:t>Use with Unit 4 Student Handout 8: Engineering Performance Analysis and Unit 4 Appendix F: Engineering and Design Analysis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slide helps students whose projects involve images, observations, failure types, interviews, or categories. The goal is to avoid casual opinion by using categories, counts, and representative examples.</a:t>
            </a:r>
            <a:br/>
            <a:br/>
            <a:r>
              <a:t>Resource alignment:</a:t>
            </a:r>
            <a:br/>
            <a:r>
              <a:t>Use with Unit 4 Appendix G: Qualitative and Observational Data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the first major work-time slide. Circulate and listen for mismatches: students choosing scatter plots for category comparisons, averages without repeated values, or advanced statistics they cannot explain.</a:t>
            </a:r>
            <a:br/>
            <a:br/>
            <a:r>
              <a:t>Resource alignment:</a:t>
            </a:r>
            <a:br/>
            <a:r>
              <a:t>Student-facing activity: Unit 4 Student Handout 5: Data Type and Analysis Match. Reference Unit 4 Appendix E: Choosing an Analysis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the central deliverable of the deck. Students should leave with a plan that is specific enough for a teacher conference.</a:t>
            </a:r>
            <a:br/>
            <a:br/>
            <a:r>
              <a:t>Resource alignment:</a:t>
            </a:r>
            <a:br/>
            <a:r>
              <a:t>Student-facing activity: Unit 4 Student Handout 6: Data Analysis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Students often write final numbers without showing how they got them. This undermines trust and makes errors harder to find. Require them to document the method and meaning of each calculation.</a:t>
            </a:r>
            <a:br/>
            <a:br/>
            <a:r>
              <a:t>Resource alignment:</a:t>
            </a:r>
            <a:br/>
            <a:r>
              <a:t>Use with Unit 4 Student Handout 7: Calculation and Statistics Record and Unit 4 Appendix D: Basic Statistics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Differentiate here. Not every student needs the engineering handout, but every engineering project does. Encourage students to define performance per constraint when appropriate.</a:t>
            </a:r>
            <a:br/>
            <a:br/>
            <a:r>
              <a:t>Resource alignment:</a:t>
            </a:r>
            <a:br/>
            <a:r>
              <a:t>Student-facing activity: Unit 4 Student Handout 8: Engineering Performance Analysis. Reference Unit 4 Appendix F: Engineering and Design Analysis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slide prevents students from deciding after the fact that whatever happened “supports” the project. Students should state what would support, challenge, or complicate their hypothesis or criteria.</a:t>
            </a:r>
            <a:br/>
            <a:br/>
            <a:r>
              <a:t>Resource alignment:</a:t>
            </a:r>
            <a:br/>
            <a:r>
              <a:t>Use with Unit 4 Student Handout 6: Data Analysis Plan. This also prepares for Unit 4 Student Handout 13: Claim-Evidence-Reasoning Organizer in Deck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Use this as a self-check before students begin calculations. Ask students which mistake they are most likely to make and what they can do to prevent it.</a:t>
            </a:r>
            <a:br/>
            <a:br/>
            <a:r>
              <a:t>Resource alignment:</a:t>
            </a:r>
            <a:br/>
            <a:r>
              <a:t>Use with Unit 4 Appendix E: Choosing an Analysis Method and Unit 4 Appendix D: Basic Statistics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Use these as rapid conference questions. Students who cannot explain why the method fits should revise before analysis begins.</a:t>
            </a:r>
            <a:br/>
            <a:br/>
            <a:r>
              <a:t>Resource alignment:</a:t>
            </a:r>
            <a:br/>
            <a:r>
              <a:t>Use after students complete Unit 4 Student Handout 5 and Unit 4 Student Handout 6. Optional support: Unit 4 Student Handout 7 for students ready to begin calculations.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Collect this or have students submit it with their analysis plan. Use responses to group students for calculation support, engineering analysis, qualitative coding, or graphing help.</a:t>
            </a:r>
            <a:br/>
            <a:br/>
            <a:r>
              <a:t>Resource alignment:</a:t>
            </a:r>
            <a:br/>
            <a:r>
              <a:t>Use after Unit 4 Student Handout 6: Data Analysis Plan. Next deck connection: Deck 11: Graphing and Visual Ethics.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Close by making the transition explicit. Students should now know what they are calculating or comparing. The next step is deciding how to show the result without misleading the audience.</a:t>
            </a:r>
            <a:br/>
            <a:br/>
            <a:r>
              <a:t>Resource alignment:</a:t>
            </a:r>
            <a:br/>
            <a:r>
              <a:t>Next deck connection: Deck 11: Graphing and Visual Ethics. This will use Unit 4 Student Handout 9, Student Handout 10, Student Handout 12, Appendix H, Appendix I, Appendix J, and Appendix 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76274f5d154092"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cf2d1822d74269" /><Relationship Type="http://schemas.openxmlformats.org/officeDocument/2006/relationships/slideLayout" Target="/ppt/slideLayouts/slideLayout1.xml" Id="R758b54a27e83487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58b54a27e83487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8f8db55f9d42ba" /><Relationship Type="http://schemas.openxmlformats.org/officeDocument/2006/relationships/image" Target="/ppt/media/image.png" Id="Rdcb0a3840af1476e" /><Relationship Type="http://schemas.openxmlformats.org/officeDocument/2006/relationships/notesSlide" Target="/ppt/notesSlides/notesSlide1.xml" Id="R0d164a7b91bb4d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a40a4dafe2b49f1" /><Relationship Type="http://schemas.openxmlformats.org/officeDocument/2006/relationships/notesSlide" Target="/ppt/notesSlides/notesSlide2.xml" Id="R3e8360d53c5947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956b20d3b374b46" /><Relationship Type="http://schemas.openxmlformats.org/officeDocument/2006/relationships/notesSlide" Target="/ppt/notesSlides/notesSlide3.xml" Id="Rec7df41065de47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2e8ea8da424f66" /><Relationship Type="http://schemas.openxmlformats.org/officeDocument/2006/relationships/notesSlide" Target="/ppt/notesSlides/notesSlide4.xml" Id="R56050ff7179947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49e3a151824007" /><Relationship Type="http://schemas.openxmlformats.org/officeDocument/2006/relationships/notesSlide" Target="/ppt/notesSlides/notesSlide5.xml" Id="R80bef65d47e043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92602b03874e02" /><Relationship Type="http://schemas.openxmlformats.org/officeDocument/2006/relationships/notesSlide" Target="/ppt/notesSlides/notesSlide6.xml" Id="R2bbc8219ba1742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7c16125b8042ce" /><Relationship Type="http://schemas.openxmlformats.org/officeDocument/2006/relationships/notesSlide" Target="/ppt/notesSlides/notesSlide7.xml" Id="Reeb1eb79cc3744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19afbb558e1400f" /><Relationship Type="http://schemas.openxmlformats.org/officeDocument/2006/relationships/notesSlide" Target="/ppt/notesSlides/notesSlide8.xml" Id="R1f9a6d0bc3b848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105ed83a8b44b5f" /><Relationship Type="http://schemas.openxmlformats.org/officeDocument/2006/relationships/notesSlide" Target="/ppt/notesSlides/notesSlide9.xml" Id="Raace5c219fee48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0f4210ef9f54227" /><Relationship Type="http://schemas.openxmlformats.org/officeDocument/2006/relationships/notesSlide" Target="/ppt/notesSlides/notesSlide10.xml" Id="Rcf189705d65842e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224de590ca44073" /><Relationship Type="http://schemas.openxmlformats.org/officeDocument/2006/relationships/notesSlide" Target="/ppt/notesSlides/notesSlide11.xml" Id="R905a8e09b94c41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0918cf396db4be2" /><Relationship Type="http://schemas.openxmlformats.org/officeDocument/2006/relationships/notesSlide" Target="/ppt/notesSlides/notesSlide12.xml" Id="Re15d71925778481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804709193234d6b" /><Relationship Type="http://schemas.openxmlformats.org/officeDocument/2006/relationships/notesSlide" Target="/ppt/notesSlides/notesSlide13.xml" Id="R40392c4942d542d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f481415c9b649f6" /><Relationship Type="http://schemas.openxmlformats.org/officeDocument/2006/relationships/notesSlide" Target="/ppt/notesSlides/notesSlide14.xml" Id="R5f845c16e172490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7da3efe59784f1b" /><Relationship Type="http://schemas.openxmlformats.org/officeDocument/2006/relationships/notesSlide" Target="/ppt/notesSlides/notesSlide15.xml" Id="R39df1505b59e416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fa1ab59bbf44e22" /><Relationship Type="http://schemas.openxmlformats.org/officeDocument/2006/relationships/notesSlide" Target="/ppt/notesSlides/notesSlide16.xml" Id="R12376528dc95472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a52186b189d4945" /><Relationship Type="http://schemas.openxmlformats.org/officeDocument/2006/relationships/notesSlide" Target="/ppt/notesSlides/notesSlide17.xml" Id="Rb051303568884a0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0dfcf6199a04d47" /><Relationship Type="http://schemas.openxmlformats.org/officeDocument/2006/relationships/notesSlide" Target="/ppt/notesSlides/notesSlide18.xml" Id="Rab0aa24385334f6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4c58a0b75be4a84" /><Relationship Type="http://schemas.openxmlformats.org/officeDocument/2006/relationships/notesSlide" Target="/ppt/notesSlides/notesSlide19.xml" Id="Rfe9a0ab4678a44f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7075c0b9adf425a" /><Relationship Type="http://schemas.openxmlformats.org/officeDocument/2006/relationships/notesSlide" Target="/ppt/notesSlides/notesSlide20.xml" Id="R8c5619134753471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f5181252982413f" /><Relationship Type="http://schemas.openxmlformats.org/officeDocument/2006/relationships/notesSlide" Target="/ppt/notesSlides/notesSlide21.xml" Id="R9b5f2d0e58434b5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3358e694ef94673" /><Relationship Type="http://schemas.openxmlformats.org/officeDocument/2006/relationships/image" Target="/ppt/media/image.png" Id="Rb76cd6a1cce445ce" /><Relationship Type="http://schemas.openxmlformats.org/officeDocument/2006/relationships/notesSlide" Target="/ppt/notesSlides/notesSlide22.xml" Id="R9682b0904d754eec" /></Relationships>
</file>

<file path=ppt/slides/slide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56AE5A9B-83AB-4F68-B7B8-1C45B7A9079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 name="Google Shape;17;p3">
            <a:extLst xmlns:a="http://schemas.openxmlformats.org/drawingml/2006/main">
              <a:ext uri="{FF2B5EF4-FFF2-40B4-BE49-F238E27FC236}">
                <a16:creationId xmlns:a16="http://schemas.microsoft.com/office/drawing/2014/main" id="{6ABE8F91-B1A8-4B96-BD16-76E4D3673292}"/>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 name="Google Shape;18;p3">
            <a:extLst xmlns:a="http://schemas.openxmlformats.org/drawingml/2006/main">
              <a:ext uri="{FF2B5EF4-FFF2-40B4-BE49-F238E27FC236}">
                <a16:creationId xmlns:a16="http://schemas.microsoft.com/office/drawing/2014/main" id="{0A22BEBF-2CF4-4110-9F9C-711396A7F66A}"/>
              </a:ext>
            </a:extLst>
          </p:cNvPr>
          <p:cNvSpPr>
            <a:spLocks xmlns:a="http://schemas.openxmlformats.org/drawingml/2006/main" noGrp="1"/>
          </p:cNvSpPr>
          <p:nvPr/>
        </p:nvSpPr>
        <p:spPr>
          <a:xfrm xmlns:a="http://schemas.openxmlformats.org/drawingml/2006/main">
            <a:off x="0" y="6620256"/>
            <a:ext cx="12191695" cy="73152"/>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pic>
        <p:nvPicPr>
          <p:cNvPr id="28" name="Google Shape;19;p3"/>
          <p:cNvPicPr>
            <a:picLocks xmlns:a="http://schemas.openxmlformats.org/drawingml/2006/main" noChangeAspect="1"/>
          </p:cNvPicPr>
          <p:nvPr/>
        </p:nvPicPr>
        <p:blipFill rotWithShape="1">
          <a:blip xmlns:r="http://schemas.openxmlformats.org/officeDocument/2006/relationships" xmlns:a="http://schemas.openxmlformats.org/drawingml/2006/main" r:embed="Rdcb0a3840af1476e">
            <a:alphaModFix/>
          </a:blip>
          <a:srcRect xmlns:a="http://schemas.openxmlformats.org/drawingml/2006/main" l="0" t="0" r="0" b="0"/>
          <a:stretch xmlns:a="http://schemas.openxmlformats.org/drawingml/2006/main"/>
        </p:blipFill>
        <p:spPr>
          <a:xfrm xmlns:a="http://schemas.openxmlformats.org/drawingml/2006/main">
            <a:off x="2057400" y="411480"/>
            <a:ext cx="8046720" cy="4297680"/>
          </a:xfrm>
          <a:prstGeom xmlns:a="http://schemas.openxmlformats.org/drawingml/2006/main" prst="rect">
            <a:avLst/>
          </a:prstGeom>
          <a:ln xmlns:a="http://schemas.openxmlformats.org/drawingml/2006/main">
            <a:noFill/>
          </a:ln>
        </p:spPr>
      </p:pic>
      <p:sp>
        <p:nvSpPr>
          <p:cNvPr id="20" name="Google Shape;20;p3">
            <a:extLst xmlns:a="http://schemas.openxmlformats.org/drawingml/2006/main">
              <a:ext uri="{FF2B5EF4-FFF2-40B4-BE49-F238E27FC236}">
                <a16:creationId xmlns:a16="http://schemas.microsoft.com/office/drawing/2014/main" id="{4DECF2B6-76BC-4B1F-BE89-612FF130CB37}"/>
              </a:ext>
            </a:extLst>
          </p:cNvPr>
          <p:cNvSpPr>
            <a:spLocks xmlns:a="http://schemas.openxmlformats.org/drawingml/2006/main" noGrp="1"/>
          </p:cNvSpPr>
          <p:nvPr/>
        </p:nvSpPr>
        <p:spPr>
          <a:xfrm xmlns:a="http://schemas.openxmlformats.org/drawingml/2006/main">
            <a:off x="868680" y="4800600"/>
            <a:ext cx="10469880" cy="1051560"/>
          </a:xfrm>
          <a:prstGeom xmlns:a="http://schemas.openxmlformats.org/drawingml/2006/main" prst="rect">
            <a:avLst/>
          </a:prstGeom>
          <a:solidFill xmlns:a="http://schemas.openxmlformats.org/drawingml/2006/main">
            <a:srgbClr val="111111"/>
          </a:solidFill>
          <a:ln xmlns:a="http://schemas.openxmlformats.org/drawingml/2006/main" w="15225" cmpd="sng">
            <a:solidFill>
              <a:srgbClr val="D71920">
                <a:alpha val="74901"/>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 name="Google Shape;21;p3">
            <a:extLst xmlns:a="http://schemas.openxmlformats.org/drawingml/2006/main">
              <a:ext uri="{FF2B5EF4-FFF2-40B4-BE49-F238E27FC236}">
                <a16:creationId xmlns:a16="http://schemas.microsoft.com/office/drawing/2014/main" id="{F0908270-FBCA-4668-92A4-2744E6BE6930}"/>
              </a:ext>
            </a:extLst>
          </p:cNvPr>
          <p:cNvSpPr>
            <a:spLocks xmlns:a="http://schemas.openxmlformats.org/drawingml/2006/main" noGrp="1"/>
          </p:cNvSpPr>
          <p:nvPr/>
        </p:nvSpPr>
        <p:spPr>
          <a:xfrm xmlns:a="http://schemas.openxmlformats.org/drawingml/2006/main">
            <a:off x="1143000" y="4965192"/>
            <a:ext cx="9875520" cy="3017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2100"/>
              <a:buFont typeface="Play"/>
              <a:buNone/>
            </a:pPr>
            <a:r>
              <a:rPr sz="2100" b="1" i="0" u="none" cap="none">
                <a:solidFill>
                  <a:srgbClr val="FFFFFF"/>
                </a:solidFill>
                <a:latin typeface="Play"/>
                <a:ea typeface="Play"/>
                <a:cs typeface="Play"/>
              </a:rPr>
              <a:t>CHOOSING THE RIGHT</a:t>
            </a:r>
          </a:p>
        </p:txBody>
      </p:sp>
      <p:sp>
        <p:nvSpPr>
          <p:cNvPr id="22" name="Google Shape;22;p3">
            <a:extLst xmlns:a="http://schemas.openxmlformats.org/drawingml/2006/main">
              <a:ext uri="{FF2B5EF4-FFF2-40B4-BE49-F238E27FC236}">
                <a16:creationId xmlns:a16="http://schemas.microsoft.com/office/drawing/2014/main" id="{4EF20CA8-7A58-424E-823D-F01DBE309637}"/>
              </a:ext>
            </a:extLst>
          </p:cNvPr>
          <p:cNvSpPr>
            <a:spLocks xmlns:a="http://schemas.openxmlformats.org/drawingml/2006/main" noGrp="1"/>
          </p:cNvSpPr>
          <p:nvPr/>
        </p:nvSpPr>
        <p:spPr>
          <a:xfrm xmlns:a="http://schemas.openxmlformats.org/drawingml/2006/main">
            <a:off x="1143000" y="5303520"/>
            <a:ext cx="987552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D71920"/>
              </a:buClr>
              <a:buSzPts val="2200"/>
              <a:buFont typeface="Play"/>
              <a:buNone/>
            </a:pPr>
            <a:r>
              <a:rPr sz="2200" b="1" i="0" u="none" cap="none">
                <a:solidFill>
                  <a:srgbClr val="D71920"/>
                </a:solidFill>
                <a:latin typeface="Play"/>
                <a:ea typeface="Play"/>
                <a:cs typeface="Play"/>
              </a:rPr>
              <a:t>DATA ANALYSIS METHOD</a:t>
            </a:r>
          </a:p>
        </p:txBody>
      </p:sp>
      <p:sp>
        <p:nvSpPr>
          <p:cNvPr id="23" name="Google Shape;23;p3">
            <a:extLst xmlns:a="http://schemas.openxmlformats.org/drawingml/2006/main">
              <a:ext uri="{FF2B5EF4-FFF2-40B4-BE49-F238E27FC236}">
                <a16:creationId xmlns:a16="http://schemas.microsoft.com/office/drawing/2014/main" id="{FF79C689-C628-442F-8A76-9B9C948ED29B}"/>
              </a:ext>
            </a:extLst>
          </p:cNvPr>
          <p:cNvSpPr>
            <a:spLocks xmlns:a="http://schemas.openxmlformats.org/drawingml/2006/main" noGrp="1"/>
          </p:cNvSpPr>
          <p:nvPr/>
        </p:nvSpPr>
        <p:spPr>
          <a:xfrm xmlns:a="http://schemas.openxmlformats.org/drawingml/2006/main">
            <a:off x="1143000" y="5961888"/>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B8B8B8"/>
              </a:buClr>
              <a:buSzPts val="1200"/>
              <a:buFont typeface="Arial"/>
              <a:buNone/>
            </a:pPr>
            <a:r>
              <a:rPr sz="1200" b="0" i="0" u="none" cap="none">
                <a:solidFill>
                  <a:srgbClr val="B8B8B8"/>
                </a:solidFill>
                <a:latin typeface="Arial"/>
                <a:ea typeface="Arial"/>
                <a:cs typeface="Arial"/>
              </a:rPr>
              <a:t>STARLAB Deck 10  •  Unit 4 Core Instruction</a:t>
            </a:r>
          </a:p>
        </p:txBody>
      </p:sp>
    </p:spTree>
    <p:extLst>
      <p:ext uri="{BB962C8B-B14F-4D97-AF65-F5344CB8AC3E}">
        <p14:creationId xmlns:p14="http://schemas.microsoft.com/office/powerpoint/2010/main" val="182648648"/>
      </p:ext>
    </p:extLst>
  </p:cSld>
</p:sld>
</file>

<file path=ppt/slides/slide2.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29" name="Google Shape;29;p4">
            <a:extLst xmlns:a="http://schemas.openxmlformats.org/drawingml/2006/main">
              <a:ext uri="{FF2B5EF4-FFF2-40B4-BE49-F238E27FC236}">
                <a16:creationId xmlns:a16="http://schemas.microsoft.com/office/drawing/2014/main" id="{9E8EFD03-A593-4F87-B9EC-0D5EFBD72A1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 name="Google Shape;30;p4">
            <a:extLst xmlns:a="http://schemas.openxmlformats.org/drawingml/2006/main">
              <a:ext uri="{FF2B5EF4-FFF2-40B4-BE49-F238E27FC236}">
                <a16:creationId xmlns:a16="http://schemas.microsoft.com/office/drawing/2014/main" id="{1D06EE1D-D9AC-4D66-965E-6639E524218A}"/>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 name="Google Shape;31;p4">
            <a:extLst xmlns:a="http://schemas.openxmlformats.org/drawingml/2006/main">
              <a:ext uri="{FF2B5EF4-FFF2-40B4-BE49-F238E27FC236}">
                <a16:creationId xmlns:a16="http://schemas.microsoft.com/office/drawing/2014/main" id="{D827C941-EF0F-43BB-9778-BF4DFDF6E415}"/>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 name="Google Shape;32;p4">
            <a:extLst xmlns:a="http://schemas.openxmlformats.org/drawingml/2006/main">
              <a:ext uri="{FF2B5EF4-FFF2-40B4-BE49-F238E27FC236}">
                <a16:creationId xmlns:a16="http://schemas.microsoft.com/office/drawing/2014/main" id="{60E1F95A-A569-48E1-8BBE-0D3E0D22E6F8}"/>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DATA ANALYSIS</a:t>
            </a:r>
          </a:p>
        </p:txBody>
      </p:sp>
      <p:sp>
        <p:nvSpPr>
          <p:cNvPr id="33" name="Google Shape;33;p4">
            <a:extLst xmlns:a="http://schemas.openxmlformats.org/drawingml/2006/main">
              <a:ext uri="{FF2B5EF4-FFF2-40B4-BE49-F238E27FC236}">
                <a16:creationId xmlns:a16="http://schemas.microsoft.com/office/drawing/2014/main" id="{B551DE4E-B319-4B9F-9E8D-2101E9D9950B}"/>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34" name="Google Shape;34;p4">
            <a:extLst xmlns:a="http://schemas.openxmlformats.org/drawingml/2006/main">
              <a:ext uri="{FF2B5EF4-FFF2-40B4-BE49-F238E27FC236}">
                <a16:creationId xmlns:a16="http://schemas.microsoft.com/office/drawing/2014/main" id="{A29C891F-E0F8-430C-8C28-A58ABD2DA30A}"/>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Today’s Target</a:t>
            </a:r>
          </a:p>
        </p:txBody>
      </p:sp>
      <p:sp>
        <p:nvSpPr>
          <p:cNvPr id="35" name="Google Shape;35;p4">
            <a:extLst xmlns:a="http://schemas.openxmlformats.org/drawingml/2006/main">
              <a:ext uri="{FF2B5EF4-FFF2-40B4-BE49-F238E27FC236}">
                <a16:creationId xmlns:a16="http://schemas.microsoft.com/office/drawing/2014/main" id="{3BF665B6-3AC1-42C4-820E-A69358901CE9}"/>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 name="Google Shape;36;p4">
            <a:extLst xmlns:a="http://schemas.openxmlformats.org/drawingml/2006/main">
              <a:ext uri="{FF2B5EF4-FFF2-40B4-BE49-F238E27FC236}">
                <a16:creationId xmlns:a16="http://schemas.microsoft.com/office/drawing/2014/main" id="{A8A35990-E632-4D9B-992C-3A96D0926CCF}"/>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Students choose analysis methods that fit the data and the question.</a:t>
            </a:r>
          </a:p>
        </p:txBody>
      </p:sp>
      <p:sp>
        <p:nvSpPr>
          <p:cNvPr id="37" name="Google Shape;37;p4">
            <a:extLst xmlns:a="http://schemas.openxmlformats.org/drawingml/2006/main">
              <a:ext uri="{FF2B5EF4-FFF2-40B4-BE49-F238E27FC236}">
                <a16:creationId xmlns:a16="http://schemas.microsoft.com/office/drawing/2014/main" id="{1818B62F-820C-4C34-94BA-0449442D4424}"/>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02</a:t>
            </a:r>
          </a:p>
        </p:txBody>
      </p:sp>
      <p:sp>
        <p:nvSpPr>
          <p:cNvPr id="38" name="Google Shape;38;p4">
            <a:extLst xmlns:a="http://schemas.openxmlformats.org/drawingml/2006/main">
              <a:ext uri="{FF2B5EF4-FFF2-40B4-BE49-F238E27FC236}">
                <a16:creationId xmlns:a16="http://schemas.microsoft.com/office/drawing/2014/main" id="{8482E41B-20A8-4704-B6FF-AAE19E11EC81}"/>
              </a:ext>
            </a:extLst>
          </p:cNvPr>
          <p:cNvSpPr>
            <a:spLocks xmlns:a="http://schemas.openxmlformats.org/drawingml/2006/main" noGrp="1"/>
          </p:cNvSpPr>
          <p:nvPr/>
        </p:nvSpPr>
        <p:spPr>
          <a:xfrm xmlns:a="http://schemas.openxmlformats.org/drawingml/2006/main">
            <a:off x="960120" y="1508760"/>
            <a:ext cx="9692640" cy="2103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Identify the type of data collected• Match data to useful calculations or comparisons</a:t>
            </a:r>
          </a:p>
          <a:p xmlns:a="http://schemas.openxmlformats.org/drawingml/2006/main">
            <a:pPr marL="0" marR="0" indent="0" algn="l">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Decide which analysis method actually answers the question</a:t>
            </a:r>
          </a:p>
          <a:p xmlns:a="http://schemas.openxmlformats.org/drawingml/2006/main">
            <a:pPr marL="0" marR="0" indent="0" algn="l">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Avoid “fancy” statistics that do not fit the evidence</a:t>
            </a:r>
          </a:p>
        </p:txBody>
      </p:sp>
      <p:sp>
        <p:nvSpPr>
          <p:cNvPr id="39" name="Google Shape;39;p4">
            <a:extLst xmlns:a="http://schemas.openxmlformats.org/drawingml/2006/main">
              <a:ext uri="{FF2B5EF4-FFF2-40B4-BE49-F238E27FC236}">
                <a16:creationId xmlns:a16="http://schemas.microsoft.com/office/drawing/2014/main" id="{6D037A3B-E3CB-4D85-BCC0-76C1E59107DB}"/>
              </a:ext>
            </a:extLst>
          </p:cNvPr>
          <p:cNvSpPr>
            <a:spLocks xmlns:a="http://schemas.openxmlformats.org/drawingml/2006/main" noGrp="1"/>
          </p:cNvSpPr>
          <p:nvPr/>
        </p:nvSpPr>
        <p:spPr>
          <a:xfrm xmlns:a="http://schemas.openxmlformats.org/drawingml/2006/main">
            <a:off x="777240" y="5166360"/>
            <a:ext cx="10652760" cy="960120"/>
          </a:xfrm>
          <a:prstGeom xmlns:a="http://schemas.openxmlformats.org/drawingml/2006/main" prst="roundRect">
            <a:avLst>
              <a:gd name="adj" fmla="val 7619"/>
            </a:avLst>
          </a:prstGeom>
          <a:solidFill xmlns:a="http://schemas.openxmlformats.org/drawingml/2006/main">
            <a:srgbClr val="151515"/>
          </a:solidFill>
          <a:ln xmlns:a="http://schemas.openxmlformats.org/drawingml/2006/main" w="12700" cmpd="sng">
            <a:solidFill>
              <a:srgbClr val="D71920">
                <a:alpha val="50196"/>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0" name="Google Shape;40;p4">
            <a:extLst xmlns:a="http://schemas.openxmlformats.org/drawingml/2006/main">
              <a:ext uri="{FF2B5EF4-FFF2-40B4-BE49-F238E27FC236}">
                <a16:creationId xmlns:a16="http://schemas.microsoft.com/office/drawing/2014/main" id="{12377D43-1F41-4375-BD9A-DA916EDE5943}"/>
              </a:ext>
            </a:extLst>
          </p:cNvPr>
          <p:cNvSpPr>
            <a:spLocks xmlns:a="http://schemas.openxmlformats.org/drawingml/2006/main" noGrp="1"/>
          </p:cNvSpPr>
          <p:nvPr/>
        </p:nvSpPr>
        <p:spPr>
          <a:xfrm xmlns:a="http://schemas.openxmlformats.org/drawingml/2006/main">
            <a:off x="1024128" y="5376672"/>
            <a:ext cx="1874520" cy="1463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850"/>
              <a:buFont typeface="Arial"/>
              <a:buNone/>
            </a:pPr>
            <a:r>
              <a:rPr sz="850" b="1" i="0" u="none" cap="none">
                <a:solidFill>
                  <a:srgbClr val="D71920"/>
                </a:solidFill>
                <a:latin typeface="Arial"/>
                <a:ea typeface="Arial"/>
                <a:cs typeface="Arial"/>
              </a:rPr>
              <a:t>STUDENT ACTIVITY</a:t>
            </a:r>
          </a:p>
        </p:txBody>
      </p:sp>
      <p:sp>
        <p:nvSpPr>
          <p:cNvPr id="41" name="Google Shape;41;p4">
            <a:extLst xmlns:a="http://schemas.openxmlformats.org/drawingml/2006/main">
              <a:ext uri="{FF2B5EF4-FFF2-40B4-BE49-F238E27FC236}">
                <a16:creationId xmlns:a16="http://schemas.microsoft.com/office/drawing/2014/main" id="{196ED297-F711-412C-B830-605F06D54AAA}"/>
              </a:ext>
            </a:extLst>
          </p:cNvPr>
          <p:cNvSpPr>
            <a:spLocks xmlns:a="http://schemas.openxmlformats.org/drawingml/2006/main" noGrp="1"/>
          </p:cNvSpPr>
          <p:nvPr/>
        </p:nvSpPr>
        <p:spPr>
          <a:xfrm xmlns:a="http://schemas.openxmlformats.org/drawingml/2006/main">
            <a:off x="1024128" y="5596128"/>
            <a:ext cx="42976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600"/>
              <a:buFont typeface="Arial"/>
              <a:buNone/>
            </a:pPr>
            <a:r>
              <a:rPr sz="1600" b="1" i="0" u="none" cap="none">
                <a:solidFill>
                  <a:srgbClr val="FFFFFF"/>
                </a:solidFill>
                <a:latin typeface="Arial"/>
                <a:ea typeface="Arial"/>
                <a:cs typeface="Arial"/>
              </a:rPr>
              <a:t>Start with the question</a:t>
            </a:r>
          </a:p>
        </p:txBody>
      </p:sp>
      <p:sp>
        <p:nvSpPr>
          <p:cNvPr id="42" name="Google Shape;42;p4">
            <a:extLst xmlns:a="http://schemas.openxmlformats.org/drawingml/2006/main">
              <a:ext uri="{FF2B5EF4-FFF2-40B4-BE49-F238E27FC236}">
                <a16:creationId xmlns:a16="http://schemas.microsoft.com/office/drawing/2014/main" id="{51F0F798-3CC9-4498-932C-431A989B731C}"/>
              </a:ext>
            </a:extLst>
          </p:cNvPr>
          <p:cNvSpPr>
            <a:spLocks xmlns:a="http://schemas.openxmlformats.org/drawingml/2006/main" noGrp="1"/>
          </p:cNvSpPr>
          <p:nvPr/>
        </p:nvSpPr>
        <p:spPr>
          <a:xfrm xmlns:a="http://schemas.openxmlformats.org/drawingml/2006/main">
            <a:off x="5349240" y="5468112"/>
            <a:ext cx="9601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B8B8B8"/>
              </a:buClr>
              <a:buSzPts val="1200"/>
              <a:buFont typeface="Arial"/>
              <a:buNone/>
            </a:pPr>
            <a:r>
              <a:rPr sz="1200" b="1" i="0" u="none" cap="none">
                <a:solidFill>
                  <a:srgbClr val="B8B8B8"/>
                </a:solidFill>
                <a:latin typeface="Arial"/>
                <a:ea typeface="Arial"/>
                <a:cs typeface="Arial"/>
              </a:rPr>
              <a:t>3 MIN</a:t>
            </a:r>
          </a:p>
        </p:txBody>
      </p:sp>
      <p:sp>
        <p:nvSpPr>
          <p:cNvPr id="43" name="Google Shape;43;p4">
            <a:extLst xmlns:a="http://schemas.openxmlformats.org/drawingml/2006/main">
              <a:ext uri="{FF2B5EF4-FFF2-40B4-BE49-F238E27FC236}">
                <a16:creationId xmlns:a16="http://schemas.microsoft.com/office/drawing/2014/main" id="{CB0EFF5E-64F2-457C-A23D-7656961BDC83}"/>
              </a:ext>
            </a:extLst>
          </p:cNvPr>
          <p:cNvSpPr>
            <a:spLocks xmlns:a="http://schemas.openxmlformats.org/drawingml/2006/main" noGrp="1"/>
          </p:cNvSpPr>
          <p:nvPr/>
        </p:nvSpPr>
        <p:spPr>
          <a:xfrm xmlns:a="http://schemas.openxmlformats.org/drawingml/2006/main">
            <a:off x="6446520" y="5367528"/>
            <a:ext cx="4663440" cy="4937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50"/>
              <a:buFont typeface="Arial"/>
              <a:buNone/>
            </a:pPr>
            <a:r>
              <a:rPr sz="1250" b="0" i="0" u="none" cap="none">
                <a:solidFill>
                  <a:srgbClr val="B8B8B8"/>
                </a:solidFill>
                <a:latin typeface="Arial"/>
                <a:ea typeface="Arial"/>
                <a:cs typeface="Arial"/>
              </a:rPr>
              <a:t>Open your clean data set and write: “My data need to show whether…”</a:t>
            </a:r>
          </a:p>
        </p:txBody>
      </p:sp>
    </p:spTree>
    <p:extLst>
      <p:ext uri="{BB962C8B-B14F-4D97-AF65-F5344CB8AC3E}">
        <p14:creationId xmlns:p14="http://schemas.microsoft.com/office/powerpoint/2010/main" val="705191748"/>
      </p:ext>
    </p:extLst>
  </p:cSld>
</p:sld>
</file>

<file path=ppt/slides/slide3.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49" name="Google Shape;49;p5">
            <a:extLst xmlns:a="http://schemas.openxmlformats.org/drawingml/2006/main">
              <a:ext uri="{FF2B5EF4-FFF2-40B4-BE49-F238E27FC236}">
                <a16:creationId xmlns:a16="http://schemas.microsoft.com/office/drawing/2014/main" id="{89050638-4AA5-4977-8E38-5F2F4063A00C}"/>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0" name="Google Shape;50;p5">
            <a:extLst xmlns:a="http://schemas.openxmlformats.org/drawingml/2006/main">
              <a:ext uri="{FF2B5EF4-FFF2-40B4-BE49-F238E27FC236}">
                <a16:creationId xmlns:a16="http://schemas.microsoft.com/office/drawing/2014/main" id="{BF418AC5-BA51-4C49-B8F7-4DBD20636BF2}"/>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 name="Google Shape;51;p5">
            <a:extLst xmlns:a="http://schemas.openxmlformats.org/drawingml/2006/main">
              <a:ext uri="{FF2B5EF4-FFF2-40B4-BE49-F238E27FC236}">
                <a16:creationId xmlns:a16="http://schemas.microsoft.com/office/drawing/2014/main" id="{3B8368E6-AF8D-4B26-A6C2-668E2668FFC0}"/>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2" name="Google Shape;52;p5">
            <a:extLst xmlns:a="http://schemas.openxmlformats.org/drawingml/2006/main">
              <a:ext uri="{FF2B5EF4-FFF2-40B4-BE49-F238E27FC236}">
                <a16:creationId xmlns:a16="http://schemas.microsoft.com/office/drawing/2014/main" id="{4A0CF352-4EE1-441E-A5F3-556AECEC2B18}"/>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CORE IDEA</a:t>
            </a:r>
          </a:p>
        </p:txBody>
      </p:sp>
      <p:sp>
        <p:nvSpPr>
          <p:cNvPr id="53" name="Google Shape;53;p5">
            <a:extLst xmlns:a="http://schemas.openxmlformats.org/drawingml/2006/main">
              <a:ext uri="{FF2B5EF4-FFF2-40B4-BE49-F238E27FC236}">
                <a16:creationId xmlns:a16="http://schemas.microsoft.com/office/drawing/2014/main" id="{20CA3896-57C8-4302-B48F-CF8D332B3F64}"/>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54" name="Google Shape;54;p5">
            <a:extLst xmlns:a="http://schemas.openxmlformats.org/drawingml/2006/main">
              <a:ext uri="{FF2B5EF4-FFF2-40B4-BE49-F238E27FC236}">
                <a16:creationId xmlns:a16="http://schemas.microsoft.com/office/drawing/2014/main" id="{804C50DA-E79F-450B-9EA4-003FA8EA19B7}"/>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Analysis Begins With the Question</a:t>
            </a:r>
          </a:p>
        </p:txBody>
      </p:sp>
      <p:sp>
        <p:nvSpPr>
          <p:cNvPr id="55" name="Google Shape;55;p5">
            <a:extLst xmlns:a="http://schemas.openxmlformats.org/drawingml/2006/main">
              <a:ext uri="{FF2B5EF4-FFF2-40B4-BE49-F238E27FC236}">
                <a16:creationId xmlns:a16="http://schemas.microsoft.com/office/drawing/2014/main" id="{FF9DDF3E-B73D-4F5A-A5E2-E189C9CD3405}"/>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6" name="Google Shape;56;p5">
            <a:extLst xmlns:a="http://schemas.openxmlformats.org/drawingml/2006/main">
              <a:ext uri="{FF2B5EF4-FFF2-40B4-BE49-F238E27FC236}">
                <a16:creationId xmlns:a16="http://schemas.microsoft.com/office/drawing/2014/main" id="{66BE0A85-8A01-4C8A-A064-D347D68E4E0B}"/>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Do not start with “What graph can I make?” Start with “What do I need to know?”</a:t>
            </a:r>
          </a:p>
        </p:txBody>
      </p:sp>
      <p:sp>
        <p:nvSpPr>
          <p:cNvPr id="57" name="Google Shape;57;p5">
            <a:extLst xmlns:a="http://schemas.openxmlformats.org/drawingml/2006/main">
              <a:ext uri="{FF2B5EF4-FFF2-40B4-BE49-F238E27FC236}">
                <a16:creationId xmlns:a16="http://schemas.microsoft.com/office/drawing/2014/main" id="{D5BBAC7E-8742-4211-84B7-D2ACD76010A0}"/>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03</a:t>
            </a:r>
          </a:p>
        </p:txBody>
      </p:sp>
      <p:sp>
        <p:nvSpPr>
          <p:cNvPr id="58" name="Google Shape;58;p5">
            <a:extLst xmlns:a="http://schemas.openxmlformats.org/drawingml/2006/main">
              <a:ext uri="{FF2B5EF4-FFF2-40B4-BE49-F238E27FC236}">
                <a16:creationId xmlns:a16="http://schemas.microsoft.com/office/drawing/2014/main" id="{F64D3496-5E0F-40B6-B0AD-3A56A2C39ED7}"/>
              </a:ext>
            </a:extLst>
          </p:cNvPr>
          <p:cNvSpPr>
            <a:spLocks xmlns:a="http://schemas.openxmlformats.org/drawingml/2006/main" noGrp="1"/>
          </p:cNvSpPr>
          <p:nvPr/>
        </p:nvSpPr>
        <p:spPr>
          <a:xfrm xmlns:a="http://schemas.openxmlformats.org/drawingml/2006/main">
            <a:off x="822960" y="2514600"/>
            <a:ext cx="2057400" cy="822960"/>
          </a:xfrm>
          <a:prstGeom xmlns:a="http://schemas.openxmlformats.org/drawingml/2006/main" prst="roundRect">
            <a:avLst>
              <a:gd name="adj" fmla="val 5556"/>
            </a:avLst>
          </a:prstGeom>
          <a:solidFill xmlns:a="http://schemas.openxmlformats.org/drawingml/2006/main">
            <a:srgbClr val="1A1A1A"/>
          </a:solidFill>
          <a:ln xmlns:a="http://schemas.openxmlformats.org/drawingml/2006/main" w="12700" cmpd="sng">
            <a:solidFill>
              <a:srgbClr val="D7192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9" name="Google Shape;59;p5">
            <a:extLst xmlns:a="http://schemas.openxmlformats.org/drawingml/2006/main">
              <a:ext uri="{FF2B5EF4-FFF2-40B4-BE49-F238E27FC236}">
                <a16:creationId xmlns:a16="http://schemas.microsoft.com/office/drawing/2014/main" id="{F01350C1-DDE4-4BAD-8D37-A185848C6F32}"/>
              </a:ext>
            </a:extLst>
          </p:cNvPr>
          <p:cNvSpPr>
            <a:spLocks xmlns:a="http://schemas.openxmlformats.org/drawingml/2006/main" noGrp="1"/>
          </p:cNvSpPr>
          <p:nvPr/>
        </p:nvSpPr>
        <p:spPr>
          <a:xfrm xmlns:a="http://schemas.openxmlformats.org/drawingml/2006/main">
            <a:off x="960120" y="2770632"/>
            <a:ext cx="1783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500"/>
              <a:buFont typeface="Arial"/>
              <a:buNone/>
            </a:pPr>
            <a:r>
              <a:rPr sz="1500" b="1" i="0" u="none" cap="none">
                <a:solidFill>
                  <a:srgbClr val="FFFFFF"/>
                </a:solidFill>
                <a:latin typeface="Arial"/>
                <a:ea typeface="Arial"/>
                <a:cs typeface="Arial"/>
              </a:rPr>
              <a:t>Research question</a:t>
            </a:r>
          </a:p>
        </p:txBody>
      </p:sp>
      <p:sp>
        <p:nvSpPr>
          <p:cNvPr id="60" name="Google Shape;60;p5">
            <a:extLst xmlns:a="http://schemas.openxmlformats.org/drawingml/2006/main">
              <a:ext uri="{FF2B5EF4-FFF2-40B4-BE49-F238E27FC236}">
                <a16:creationId xmlns:a16="http://schemas.microsoft.com/office/drawing/2014/main" id="{83901ACE-A7AA-4357-93E1-69F868633021}"/>
              </a:ext>
            </a:extLst>
          </p:cNvPr>
          <p:cNvSpPr>
            <a:spLocks xmlns:a="http://schemas.openxmlformats.org/drawingml/2006/main" noGrp="1"/>
          </p:cNvSpPr>
          <p:nvPr/>
        </p:nvSpPr>
        <p:spPr>
          <a:xfrm xmlns:a="http://schemas.openxmlformats.org/drawingml/2006/main">
            <a:off x="2944368" y="2724912"/>
            <a:ext cx="411480" cy="347472"/>
          </a:xfrm>
          <a:prstGeom xmlns:a="http://schemas.openxmlformats.org/drawingml/2006/main" prst="chevron">
            <a:avLst>
              <a:gd name="adj" fmla="val 50000"/>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1" name="Google Shape;61;p5">
            <a:extLst xmlns:a="http://schemas.openxmlformats.org/drawingml/2006/main">
              <a:ext uri="{FF2B5EF4-FFF2-40B4-BE49-F238E27FC236}">
                <a16:creationId xmlns:a16="http://schemas.microsoft.com/office/drawing/2014/main" id="{021A8015-E353-4B8C-842F-688AA0EBB8AF}"/>
              </a:ext>
            </a:extLst>
          </p:cNvPr>
          <p:cNvSpPr>
            <a:spLocks xmlns:a="http://schemas.openxmlformats.org/drawingml/2006/main" noGrp="1"/>
          </p:cNvSpPr>
          <p:nvPr/>
        </p:nvSpPr>
        <p:spPr>
          <a:xfrm xmlns:a="http://schemas.openxmlformats.org/drawingml/2006/main">
            <a:off x="3429000" y="2514600"/>
            <a:ext cx="2057400" cy="822960"/>
          </a:xfrm>
          <a:prstGeom xmlns:a="http://schemas.openxmlformats.org/drawingml/2006/main" prst="roundRect">
            <a:avLst>
              <a:gd name="adj" fmla="val 5556"/>
            </a:avLst>
          </a:prstGeom>
          <a:solidFill xmlns:a="http://schemas.openxmlformats.org/drawingml/2006/main">
            <a:srgbClr val="1A1A1A"/>
          </a:solidFill>
          <a:ln xmlns:a="http://schemas.openxmlformats.org/drawingml/2006/main" w="12700" cmpd="sng">
            <a:solidFill>
              <a:srgbClr val="D7192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2" name="Google Shape;62;p5">
            <a:extLst xmlns:a="http://schemas.openxmlformats.org/drawingml/2006/main">
              <a:ext uri="{FF2B5EF4-FFF2-40B4-BE49-F238E27FC236}">
                <a16:creationId xmlns:a16="http://schemas.microsoft.com/office/drawing/2014/main" id="{9EF98155-8C41-41DF-A839-9EC06359555C}"/>
              </a:ext>
            </a:extLst>
          </p:cNvPr>
          <p:cNvSpPr>
            <a:spLocks xmlns:a="http://schemas.openxmlformats.org/drawingml/2006/main" noGrp="1"/>
          </p:cNvSpPr>
          <p:nvPr/>
        </p:nvSpPr>
        <p:spPr>
          <a:xfrm xmlns:a="http://schemas.openxmlformats.org/drawingml/2006/main">
            <a:off x="3566160" y="2770632"/>
            <a:ext cx="1783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500"/>
              <a:buFont typeface="Arial"/>
              <a:buNone/>
            </a:pPr>
            <a:r>
              <a:rPr sz="1500" b="1" i="0" u="none" cap="none">
                <a:solidFill>
                  <a:srgbClr val="FFFFFF"/>
                </a:solidFill>
                <a:latin typeface="Arial"/>
                <a:ea typeface="Arial"/>
                <a:cs typeface="Arial"/>
              </a:rPr>
              <a:t>Type of evidence</a:t>
            </a:r>
          </a:p>
        </p:txBody>
      </p:sp>
      <p:sp>
        <p:nvSpPr>
          <p:cNvPr id="63" name="Google Shape;63;p5">
            <a:extLst xmlns:a="http://schemas.openxmlformats.org/drawingml/2006/main">
              <a:ext uri="{FF2B5EF4-FFF2-40B4-BE49-F238E27FC236}">
                <a16:creationId xmlns:a16="http://schemas.microsoft.com/office/drawing/2014/main" id="{1AFB838F-C2ED-4DF5-A541-0FDCA0AB7CF8}"/>
              </a:ext>
            </a:extLst>
          </p:cNvPr>
          <p:cNvSpPr>
            <a:spLocks xmlns:a="http://schemas.openxmlformats.org/drawingml/2006/main" noGrp="1"/>
          </p:cNvSpPr>
          <p:nvPr/>
        </p:nvSpPr>
        <p:spPr>
          <a:xfrm xmlns:a="http://schemas.openxmlformats.org/drawingml/2006/main">
            <a:off x="5550408" y="2724912"/>
            <a:ext cx="411480" cy="347472"/>
          </a:xfrm>
          <a:prstGeom xmlns:a="http://schemas.openxmlformats.org/drawingml/2006/main" prst="chevron">
            <a:avLst>
              <a:gd name="adj" fmla="val 50000"/>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4" name="Google Shape;64;p5">
            <a:extLst xmlns:a="http://schemas.openxmlformats.org/drawingml/2006/main">
              <a:ext uri="{FF2B5EF4-FFF2-40B4-BE49-F238E27FC236}">
                <a16:creationId xmlns:a16="http://schemas.microsoft.com/office/drawing/2014/main" id="{9424FCC4-90D9-4267-B100-5DA98ED3B2BC}"/>
              </a:ext>
            </a:extLst>
          </p:cNvPr>
          <p:cNvSpPr>
            <a:spLocks xmlns:a="http://schemas.openxmlformats.org/drawingml/2006/main" noGrp="1"/>
          </p:cNvSpPr>
          <p:nvPr/>
        </p:nvSpPr>
        <p:spPr>
          <a:xfrm xmlns:a="http://schemas.openxmlformats.org/drawingml/2006/main">
            <a:off x="6035040" y="2514600"/>
            <a:ext cx="2057400" cy="822960"/>
          </a:xfrm>
          <a:prstGeom xmlns:a="http://schemas.openxmlformats.org/drawingml/2006/main" prst="roundRect">
            <a:avLst>
              <a:gd name="adj" fmla="val 5556"/>
            </a:avLst>
          </a:prstGeom>
          <a:solidFill xmlns:a="http://schemas.openxmlformats.org/drawingml/2006/main">
            <a:srgbClr val="1A1A1A"/>
          </a:solidFill>
          <a:ln xmlns:a="http://schemas.openxmlformats.org/drawingml/2006/main" w="12700" cmpd="sng">
            <a:solidFill>
              <a:srgbClr val="D7192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5" name="Google Shape;65;p5">
            <a:extLst xmlns:a="http://schemas.openxmlformats.org/drawingml/2006/main">
              <a:ext uri="{FF2B5EF4-FFF2-40B4-BE49-F238E27FC236}">
                <a16:creationId xmlns:a16="http://schemas.microsoft.com/office/drawing/2014/main" id="{DA482D43-139D-4722-AA43-2C12D9AC23E2}"/>
              </a:ext>
            </a:extLst>
          </p:cNvPr>
          <p:cNvSpPr>
            <a:spLocks xmlns:a="http://schemas.openxmlformats.org/drawingml/2006/main" noGrp="1"/>
          </p:cNvSpPr>
          <p:nvPr/>
        </p:nvSpPr>
        <p:spPr>
          <a:xfrm xmlns:a="http://schemas.openxmlformats.org/drawingml/2006/main">
            <a:off x="6172200" y="2770632"/>
            <a:ext cx="1783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500"/>
              <a:buFont typeface="Arial"/>
              <a:buNone/>
            </a:pPr>
            <a:r>
              <a:rPr sz="1500" b="1" i="0" u="none" cap="none">
                <a:solidFill>
                  <a:srgbClr val="FFFFFF"/>
                </a:solidFill>
                <a:latin typeface="Arial"/>
                <a:ea typeface="Arial"/>
                <a:cs typeface="Arial"/>
              </a:rPr>
              <a:t>Analysis method</a:t>
            </a:r>
          </a:p>
        </p:txBody>
      </p:sp>
      <p:sp>
        <p:nvSpPr>
          <p:cNvPr id="66" name="Google Shape;66;p5">
            <a:extLst xmlns:a="http://schemas.openxmlformats.org/drawingml/2006/main">
              <a:ext uri="{FF2B5EF4-FFF2-40B4-BE49-F238E27FC236}">
                <a16:creationId xmlns:a16="http://schemas.microsoft.com/office/drawing/2014/main" id="{F1EAE4B2-047A-4A0F-BB55-B71A0AB536DF}"/>
              </a:ext>
            </a:extLst>
          </p:cNvPr>
          <p:cNvSpPr>
            <a:spLocks xmlns:a="http://schemas.openxmlformats.org/drawingml/2006/main" noGrp="1"/>
          </p:cNvSpPr>
          <p:nvPr/>
        </p:nvSpPr>
        <p:spPr>
          <a:xfrm xmlns:a="http://schemas.openxmlformats.org/drawingml/2006/main">
            <a:off x="8156448" y="2724912"/>
            <a:ext cx="411480" cy="347472"/>
          </a:xfrm>
          <a:prstGeom xmlns:a="http://schemas.openxmlformats.org/drawingml/2006/main" prst="chevron">
            <a:avLst>
              <a:gd name="adj" fmla="val 50000"/>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7" name="Google Shape;67;p5">
            <a:extLst xmlns:a="http://schemas.openxmlformats.org/drawingml/2006/main">
              <a:ext uri="{FF2B5EF4-FFF2-40B4-BE49-F238E27FC236}">
                <a16:creationId xmlns:a16="http://schemas.microsoft.com/office/drawing/2014/main" id="{A50A26A5-5427-42CF-9CE9-42B35C4C1A1E}"/>
              </a:ext>
            </a:extLst>
          </p:cNvPr>
          <p:cNvSpPr>
            <a:spLocks xmlns:a="http://schemas.openxmlformats.org/drawingml/2006/main" noGrp="1"/>
          </p:cNvSpPr>
          <p:nvPr/>
        </p:nvSpPr>
        <p:spPr>
          <a:xfrm xmlns:a="http://schemas.openxmlformats.org/drawingml/2006/main">
            <a:off x="8641080" y="2514600"/>
            <a:ext cx="2057400" cy="822960"/>
          </a:xfrm>
          <a:prstGeom xmlns:a="http://schemas.openxmlformats.org/drawingml/2006/main" prst="roundRect">
            <a:avLst>
              <a:gd name="adj" fmla="val 5556"/>
            </a:avLst>
          </a:prstGeom>
          <a:solidFill xmlns:a="http://schemas.openxmlformats.org/drawingml/2006/main">
            <a:srgbClr val="1A1A1A"/>
          </a:solidFill>
          <a:ln xmlns:a="http://schemas.openxmlformats.org/drawingml/2006/main" w="12700" cmpd="sng">
            <a:solidFill>
              <a:srgbClr val="D7192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8" name="Google Shape;68;p5">
            <a:extLst xmlns:a="http://schemas.openxmlformats.org/drawingml/2006/main">
              <a:ext uri="{FF2B5EF4-FFF2-40B4-BE49-F238E27FC236}">
                <a16:creationId xmlns:a16="http://schemas.microsoft.com/office/drawing/2014/main" id="{8C376F04-3FD9-4BAC-ABD6-62864C03F19A}"/>
              </a:ext>
            </a:extLst>
          </p:cNvPr>
          <p:cNvSpPr>
            <a:spLocks xmlns:a="http://schemas.openxmlformats.org/drawingml/2006/main" noGrp="1"/>
          </p:cNvSpPr>
          <p:nvPr/>
        </p:nvSpPr>
        <p:spPr>
          <a:xfrm xmlns:a="http://schemas.openxmlformats.org/drawingml/2006/main">
            <a:off x="8778240" y="2770632"/>
            <a:ext cx="17830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500"/>
              <a:buFont typeface="Arial"/>
              <a:buNone/>
            </a:pPr>
            <a:r>
              <a:rPr sz="1500" b="1" i="0" u="none" cap="none">
                <a:solidFill>
                  <a:srgbClr val="FFFFFF"/>
                </a:solidFill>
                <a:latin typeface="Arial"/>
                <a:ea typeface="Arial"/>
                <a:cs typeface="Arial"/>
              </a:rPr>
              <a:t>Possible claim</a:t>
            </a:r>
          </a:p>
        </p:txBody>
      </p:sp>
      <p:sp>
        <p:nvSpPr>
          <p:cNvPr id="69" name="Google Shape;69;p5">
            <a:extLst xmlns:a="http://schemas.openxmlformats.org/drawingml/2006/main">
              <a:ext uri="{FF2B5EF4-FFF2-40B4-BE49-F238E27FC236}">
                <a16:creationId xmlns:a16="http://schemas.microsoft.com/office/drawing/2014/main" id="{560B1D61-B59B-47AF-9E1C-5C04F0917841}"/>
              </a:ext>
            </a:extLst>
          </p:cNvPr>
          <p:cNvSpPr>
            <a:spLocks xmlns:a="http://schemas.openxmlformats.org/drawingml/2006/main" noGrp="1"/>
          </p:cNvSpPr>
          <p:nvPr/>
        </p:nvSpPr>
        <p:spPr>
          <a:xfrm xmlns:a="http://schemas.openxmlformats.org/drawingml/2006/main">
            <a:off x="1280160" y="4069080"/>
            <a:ext cx="96012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D71920"/>
              </a:buClr>
              <a:buSzPts val="2200"/>
              <a:buFont typeface="Arial"/>
              <a:buNone/>
            </a:pPr>
            <a:r>
              <a:rPr sz="2200" b="1" i="0" u="none" cap="none">
                <a:solidFill>
                  <a:srgbClr val="D71920"/>
                </a:solidFill>
                <a:latin typeface="Arial"/>
                <a:ea typeface="Arial"/>
                <a:cs typeface="Arial"/>
              </a:rPr>
              <a:t>Question first. Method second. Claim last.</a:t>
            </a:r>
          </a:p>
        </p:txBody>
      </p:sp>
    </p:spTree>
    <p:extLst>
      <p:ext uri="{BB962C8B-B14F-4D97-AF65-F5344CB8AC3E}">
        <p14:creationId xmlns:p14="http://schemas.microsoft.com/office/powerpoint/2010/main" val="944482864"/>
      </p:ext>
    </p:extLst>
  </p:cSld>
</p:sld>
</file>

<file path=ppt/slides/slide4.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5" name="Google Shape;75;p6">
            <a:extLst xmlns:a="http://schemas.openxmlformats.org/drawingml/2006/main">
              <a:ext uri="{FF2B5EF4-FFF2-40B4-BE49-F238E27FC236}">
                <a16:creationId xmlns:a16="http://schemas.microsoft.com/office/drawing/2014/main" id="{F0721ABB-0BD0-438A-A4EC-6C19984D1FF1}"/>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6" name="Google Shape;76;p6">
            <a:extLst xmlns:a="http://schemas.openxmlformats.org/drawingml/2006/main">
              <a:ext uri="{FF2B5EF4-FFF2-40B4-BE49-F238E27FC236}">
                <a16:creationId xmlns:a16="http://schemas.microsoft.com/office/drawing/2014/main" id="{CCF3853D-F737-427B-BFEA-F11384FDD3C3}"/>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7" name="Google Shape;77;p6">
            <a:extLst xmlns:a="http://schemas.openxmlformats.org/drawingml/2006/main">
              <a:ext uri="{FF2B5EF4-FFF2-40B4-BE49-F238E27FC236}">
                <a16:creationId xmlns:a16="http://schemas.microsoft.com/office/drawing/2014/main" id="{B724AD49-8D03-4B5D-80F8-B13C6893F8D5}"/>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8" name="Google Shape;78;p6">
            <a:extLst xmlns:a="http://schemas.openxmlformats.org/drawingml/2006/main">
              <a:ext uri="{FF2B5EF4-FFF2-40B4-BE49-F238E27FC236}">
                <a16:creationId xmlns:a16="http://schemas.microsoft.com/office/drawing/2014/main" id="{702F117C-58A6-4E36-B674-E53BA39279CF}"/>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DATA TYPES</a:t>
            </a:r>
          </a:p>
        </p:txBody>
      </p:sp>
      <p:sp>
        <p:nvSpPr>
          <p:cNvPr id="79" name="Google Shape;79;p6">
            <a:extLst xmlns:a="http://schemas.openxmlformats.org/drawingml/2006/main">
              <a:ext uri="{FF2B5EF4-FFF2-40B4-BE49-F238E27FC236}">
                <a16:creationId xmlns:a16="http://schemas.microsoft.com/office/drawing/2014/main" id="{B6F0C382-77E8-4E26-BB12-C19731897E85}"/>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80" name="Google Shape;80;p6">
            <a:extLst xmlns:a="http://schemas.openxmlformats.org/drawingml/2006/main">
              <a:ext uri="{FF2B5EF4-FFF2-40B4-BE49-F238E27FC236}">
                <a16:creationId xmlns:a16="http://schemas.microsoft.com/office/drawing/2014/main" id="{376284F6-A7D0-4BFC-B5DF-E571008D7990}"/>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What Kind of Data Do You Have?</a:t>
            </a:r>
          </a:p>
        </p:txBody>
      </p:sp>
      <p:sp>
        <p:nvSpPr>
          <p:cNvPr id="81" name="Google Shape;81;p6">
            <a:extLst xmlns:a="http://schemas.openxmlformats.org/drawingml/2006/main">
              <a:ext uri="{FF2B5EF4-FFF2-40B4-BE49-F238E27FC236}">
                <a16:creationId xmlns:a16="http://schemas.microsoft.com/office/drawing/2014/main" id="{54684D94-0BF9-4C49-9BA4-14ADEC0A6464}"/>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2" name="Google Shape;82;p6">
            <a:extLst xmlns:a="http://schemas.openxmlformats.org/drawingml/2006/main">
              <a:ext uri="{FF2B5EF4-FFF2-40B4-BE49-F238E27FC236}">
                <a16:creationId xmlns:a16="http://schemas.microsoft.com/office/drawing/2014/main" id="{1C9CA815-00D2-49C7-8F57-C5C9D944D3C0}"/>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Different evidence needs different analysis.</a:t>
            </a:r>
          </a:p>
        </p:txBody>
      </p:sp>
      <p:sp>
        <p:nvSpPr>
          <p:cNvPr id="83" name="Google Shape;83;p6">
            <a:extLst xmlns:a="http://schemas.openxmlformats.org/drawingml/2006/main">
              <a:ext uri="{FF2B5EF4-FFF2-40B4-BE49-F238E27FC236}">
                <a16:creationId xmlns:a16="http://schemas.microsoft.com/office/drawing/2014/main" id="{A39D5642-1C99-4822-BECB-E8099FD28CEF}"/>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04</a:t>
            </a:r>
          </a:p>
        </p:txBody>
      </p:sp>
      <p:sp>
        <p:nvSpPr>
          <p:cNvPr id="84" name="Google Shape;84;p6">
            <a:extLst xmlns:a="http://schemas.openxmlformats.org/drawingml/2006/main">
              <a:ext uri="{FF2B5EF4-FFF2-40B4-BE49-F238E27FC236}">
                <a16:creationId xmlns:a16="http://schemas.microsoft.com/office/drawing/2014/main" id="{C7265F29-238A-42BA-8A40-92D2787AFB44}"/>
              </a:ext>
            </a:extLst>
          </p:cNvPr>
          <p:cNvSpPr>
            <a:spLocks xmlns:a="http://schemas.openxmlformats.org/drawingml/2006/main" noGrp="1"/>
          </p:cNvSpPr>
          <p:nvPr/>
        </p:nvSpPr>
        <p:spPr>
          <a:xfrm xmlns:a="http://schemas.openxmlformats.org/drawingml/2006/main">
            <a:off x="777240" y="1508760"/>
            <a:ext cx="3337560" cy="1371600"/>
          </a:xfrm>
          <a:prstGeom xmlns:a="http://schemas.openxmlformats.org/drawingml/2006/main" prst="roundRect">
            <a:avLst>
              <a:gd name="adj" fmla="val 4000"/>
            </a:avLst>
          </a:prstGeom>
          <a:solidFill xmlns:a="http://schemas.openxmlformats.org/drawingml/2006/main">
            <a:srgbClr val="1A1A1A"/>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5" name="Google Shape;85;p6">
            <a:extLst xmlns:a="http://schemas.openxmlformats.org/drawingml/2006/main">
              <a:ext uri="{FF2B5EF4-FFF2-40B4-BE49-F238E27FC236}">
                <a16:creationId xmlns:a16="http://schemas.microsoft.com/office/drawing/2014/main" id="{BB98B4DD-6E4B-414C-A947-B2108D958D2F}"/>
              </a:ext>
            </a:extLst>
          </p:cNvPr>
          <p:cNvSpPr>
            <a:spLocks xmlns:a="http://schemas.openxmlformats.org/drawingml/2006/main" noGrp="1"/>
          </p:cNvSpPr>
          <p:nvPr/>
        </p:nvSpPr>
        <p:spPr>
          <a:xfrm xmlns:a="http://schemas.openxmlformats.org/drawingml/2006/main">
            <a:off x="941832" y="1709928"/>
            <a:ext cx="2971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600"/>
              <a:buFont typeface="Arial"/>
              <a:buNone/>
            </a:pPr>
            <a:r>
              <a:rPr sz="1600" b="1" i="0" u="none" cap="none">
                <a:solidFill>
                  <a:srgbClr val="D71920"/>
                </a:solidFill>
                <a:latin typeface="Arial"/>
                <a:ea typeface="Arial"/>
                <a:cs typeface="Arial"/>
              </a:rPr>
              <a:t>Numerical measurements</a:t>
            </a:r>
          </a:p>
        </p:txBody>
      </p:sp>
      <p:sp>
        <p:nvSpPr>
          <p:cNvPr id="86" name="Google Shape;86;p6">
            <a:extLst xmlns:a="http://schemas.openxmlformats.org/drawingml/2006/main">
              <a:ext uri="{FF2B5EF4-FFF2-40B4-BE49-F238E27FC236}">
                <a16:creationId xmlns:a16="http://schemas.microsoft.com/office/drawing/2014/main" id="{ABE49CDB-85B2-4630-89B4-FE578CAC1A56}"/>
              </a:ext>
            </a:extLst>
          </p:cNvPr>
          <p:cNvSpPr>
            <a:spLocks xmlns:a="http://schemas.openxmlformats.org/drawingml/2006/main" noGrp="1"/>
          </p:cNvSpPr>
          <p:nvPr/>
        </p:nvSpPr>
        <p:spPr>
          <a:xfrm xmlns:a="http://schemas.openxmlformats.org/drawingml/2006/main">
            <a:off x="941832" y="2121408"/>
            <a:ext cx="29718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300"/>
              <a:buFont typeface="Arial"/>
              <a:buNone/>
            </a:pPr>
            <a:r>
              <a:rPr sz="1300" b="0" i="0" u="none" cap="none">
                <a:solidFill>
                  <a:srgbClr val="FFFFFF"/>
                </a:solidFill>
                <a:latin typeface="Arial"/>
                <a:ea typeface="Arial"/>
                <a:cs typeface="Arial"/>
              </a:rPr>
              <a:t>height, voltage, mass, time</a:t>
            </a:r>
          </a:p>
        </p:txBody>
      </p:sp>
      <p:sp>
        <p:nvSpPr>
          <p:cNvPr id="87" name="Google Shape;87;p6">
            <a:extLst xmlns:a="http://schemas.openxmlformats.org/drawingml/2006/main">
              <a:ext uri="{FF2B5EF4-FFF2-40B4-BE49-F238E27FC236}">
                <a16:creationId xmlns:a16="http://schemas.microsoft.com/office/drawing/2014/main" id="{C198D4F0-8C9B-4061-A658-3C3986ADEA0F}"/>
              </a:ext>
            </a:extLst>
          </p:cNvPr>
          <p:cNvSpPr>
            <a:spLocks xmlns:a="http://schemas.openxmlformats.org/drawingml/2006/main" noGrp="1"/>
          </p:cNvSpPr>
          <p:nvPr/>
        </p:nvSpPr>
        <p:spPr>
          <a:xfrm xmlns:a="http://schemas.openxmlformats.org/drawingml/2006/main">
            <a:off x="4480560" y="1508760"/>
            <a:ext cx="3337560" cy="1371600"/>
          </a:xfrm>
          <a:prstGeom xmlns:a="http://schemas.openxmlformats.org/drawingml/2006/main" prst="roundRect">
            <a:avLst>
              <a:gd name="adj" fmla="val 4000"/>
            </a:avLst>
          </a:prstGeom>
          <a:solidFill xmlns:a="http://schemas.openxmlformats.org/drawingml/2006/main">
            <a:srgbClr val="1A1A1A"/>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8" name="Google Shape;88;p6">
            <a:extLst xmlns:a="http://schemas.openxmlformats.org/drawingml/2006/main">
              <a:ext uri="{FF2B5EF4-FFF2-40B4-BE49-F238E27FC236}">
                <a16:creationId xmlns:a16="http://schemas.microsoft.com/office/drawing/2014/main" id="{1F687EE3-3B52-424D-AA08-F7F1D0183E1A}"/>
              </a:ext>
            </a:extLst>
          </p:cNvPr>
          <p:cNvSpPr>
            <a:spLocks xmlns:a="http://schemas.openxmlformats.org/drawingml/2006/main" noGrp="1"/>
          </p:cNvSpPr>
          <p:nvPr/>
        </p:nvSpPr>
        <p:spPr>
          <a:xfrm xmlns:a="http://schemas.openxmlformats.org/drawingml/2006/main">
            <a:off x="4645152" y="1709928"/>
            <a:ext cx="2971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600"/>
              <a:buFont typeface="Arial"/>
              <a:buNone/>
            </a:pPr>
            <a:r>
              <a:rPr sz="1600" b="1" i="0" u="none" cap="none">
                <a:solidFill>
                  <a:srgbClr val="D71920"/>
                </a:solidFill>
                <a:latin typeface="Arial"/>
                <a:ea typeface="Arial"/>
                <a:cs typeface="Arial"/>
              </a:rPr>
              <a:t>Categories or groups</a:t>
            </a:r>
          </a:p>
        </p:txBody>
      </p:sp>
      <p:sp>
        <p:nvSpPr>
          <p:cNvPr id="89" name="Google Shape;89;p6">
            <a:extLst xmlns:a="http://schemas.openxmlformats.org/drawingml/2006/main">
              <a:ext uri="{FF2B5EF4-FFF2-40B4-BE49-F238E27FC236}">
                <a16:creationId xmlns:a16="http://schemas.microsoft.com/office/drawing/2014/main" id="{E351C379-8292-49FA-A366-48D5EE6C3BEE}"/>
              </a:ext>
            </a:extLst>
          </p:cNvPr>
          <p:cNvSpPr>
            <a:spLocks xmlns:a="http://schemas.openxmlformats.org/drawingml/2006/main" noGrp="1"/>
          </p:cNvSpPr>
          <p:nvPr/>
        </p:nvSpPr>
        <p:spPr>
          <a:xfrm xmlns:a="http://schemas.openxmlformats.org/drawingml/2006/main">
            <a:off x="4645152" y="2121408"/>
            <a:ext cx="29718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300"/>
              <a:buFont typeface="Arial"/>
              <a:buNone/>
            </a:pPr>
            <a:r>
              <a:rPr sz="1300" b="0" i="0" u="none" cap="none">
                <a:solidFill>
                  <a:srgbClr val="FFFFFF"/>
                </a:solidFill>
                <a:latin typeface="Arial"/>
                <a:ea typeface="Arial"/>
                <a:cs typeface="Arial"/>
              </a:rPr>
              <a:t>control vs. treatment, prototype A/B</a:t>
            </a:r>
          </a:p>
        </p:txBody>
      </p:sp>
      <p:sp>
        <p:nvSpPr>
          <p:cNvPr id="90" name="Google Shape;90;p6">
            <a:extLst xmlns:a="http://schemas.openxmlformats.org/drawingml/2006/main">
              <a:ext uri="{FF2B5EF4-FFF2-40B4-BE49-F238E27FC236}">
                <a16:creationId xmlns:a16="http://schemas.microsoft.com/office/drawing/2014/main" id="{092E6AA9-E3D8-4F91-8EAE-14ACE3D18916}"/>
              </a:ext>
            </a:extLst>
          </p:cNvPr>
          <p:cNvSpPr>
            <a:spLocks xmlns:a="http://schemas.openxmlformats.org/drawingml/2006/main" noGrp="1"/>
          </p:cNvSpPr>
          <p:nvPr/>
        </p:nvSpPr>
        <p:spPr>
          <a:xfrm xmlns:a="http://schemas.openxmlformats.org/drawingml/2006/main">
            <a:off x="8183880" y="1508760"/>
            <a:ext cx="3337560" cy="1371600"/>
          </a:xfrm>
          <a:prstGeom xmlns:a="http://schemas.openxmlformats.org/drawingml/2006/main" prst="roundRect">
            <a:avLst>
              <a:gd name="adj" fmla="val 4000"/>
            </a:avLst>
          </a:prstGeom>
          <a:solidFill xmlns:a="http://schemas.openxmlformats.org/drawingml/2006/main">
            <a:srgbClr val="1A1A1A"/>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1" name="Google Shape;91;p6">
            <a:extLst xmlns:a="http://schemas.openxmlformats.org/drawingml/2006/main">
              <a:ext uri="{FF2B5EF4-FFF2-40B4-BE49-F238E27FC236}">
                <a16:creationId xmlns:a16="http://schemas.microsoft.com/office/drawing/2014/main" id="{7CFB2138-930F-4723-B678-6BCBB137FB91}"/>
              </a:ext>
            </a:extLst>
          </p:cNvPr>
          <p:cNvSpPr>
            <a:spLocks xmlns:a="http://schemas.openxmlformats.org/drawingml/2006/main" noGrp="1"/>
          </p:cNvSpPr>
          <p:nvPr/>
        </p:nvSpPr>
        <p:spPr>
          <a:xfrm xmlns:a="http://schemas.openxmlformats.org/drawingml/2006/main">
            <a:off x="8348472" y="1709928"/>
            <a:ext cx="2971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600"/>
              <a:buFont typeface="Arial"/>
              <a:buNone/>
            </a:pPr>
            <a:r>
              <a:rPr sz="1600" b="1" i="0" u="none" cap="none">
                <a:solidFill>
                  <a:srgbClr val="D71920"/>
                </a:solidFill>
                <a:latin typeface="Arial"/>
                <a:ea typeface="Arial"/>
                <a:cs typeface="Arial"/>
              </a:rPr>
              <a:t>Time series</a:t>
            </a:r>
          </a:p>
        </p:txBody>
      </p:sp>
      <p:sp>
        <p:nvSpPr>
          <p:cNvPr id="92" name="Google Shape;92;p6">
            <a:extLst xmlns:a="http://schemas.openxmlformats.org/drawingml/2006/main">
              <a:ext uri="{FF2B5EF4-FFF2-40B4-BE49-F238E27FC236}">
                <a16:creationId xmlns:a16="http://schemas.microsoft.com/office/drawing/2014/main" id="{AC0898E2-6A46-4BC6-AF84-1B0A907FFBCF}"/>
              </a:ext>
            </a:extLst>
          </p:cNvPr>
          <p:cNvSpPr>
            <a:spLocks xmlns:a="http://schemas.openxmlformats.org/drawingml/2006/main" noGrp="1"/>
          </p:cNvSpPr>
          <p:nvPr/>
        </p:nvSpPr>
        <p:spPr>
          <a:xfrm xmlns:a="http://schemas.openxmlformats.org/drawingml/2006/main">
            <a:off x="8348472" y="2121408"/>
            <a:ext cx="29718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300"/>
              <a:buFont typeface="Arial"/>
              <a:buNone/>
            </a:pPr>
            <a:r>
              <a:rPr sz="1300" b="0" i="0" u="none" cap="none">
                <a:solidFill>
                  <a:srgbClr val="FFFFFF"/>
                </a:solidFill>
                <a:latin typeface="Arial"/>
                <a:ea typeface="Arial"/>
                <a:cs typeface="Arial"/>
              </a:rPr>
              <a:t>change over days, seconds, trials</a:t>
            </a:r>
          </a:p>
        </p:txBody>
      </p:sp>
      <p:sp>
        <p:nvSpPr>
          <p:cNvPr id="93" name="Google Shape;93;p6">
            <a:extLst xmlns:a="http://schemas.openxmlformats.org/drawingml/2006/main">
              <a:ext uri="{FF2B5EF4-FFF2-40B4-BE49-F238E27FC236}">
                <a16:creationId xmlns:a16="http://schemas.microsoft.com/office/drawing/2014/main" id="{F3CB407B-4B53-4560-A007-9596E04232F2}"/>
              </a:ext>
            </a:extLst>
          </p:cNvPr>
          <p:cNvSpPr>
            <a:spLocks xmlns:a="http://schemas.openxmlformats.org/drawingml/2006/main" noGrp="1"/>
          </p:cNvSpPr>
          <p:nvPr/>
        </p:nvSpPr>
        <p:spPr>
          <a:xfrm xmlns:a="http://schemas.openxmlformats.org/drawingml/2006/main">
            <a:off x="777240" y="3429000"/>
            <a:ext cx="3337560" cy="1371600"/>
          </a:xfrm>
          <a:prstGeom xmlns:a="http://schemas.openxmlformats.org/drawingml/2006/main" prst="roundRect">
            <a:avLst>
              <a:gd name="adj" fmla="val 4000"/>
            </a:avLst>
          </a:prstGeom>
          <a:solidFill xmlns:a="http://schemas.openxmlformats.org/drawingml/2006/main">
            <a:srgbClr val="1A1A1A"/>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4" name="Google Shape;94;p6">
            <a:extLst xmlns:a="http://schemas.openxmlformats.org/drawingml/2006/main">
              <a:ext uri="{FF2B5EF4-FFF2-40B4-BE49-F238E27FC236}">
                <a16:creationId xmlns:a16="http://schemas.microsoft.com/office/drawing/2014/main" id="{2B0BE59A-BC17-463C-AB37-322603E2446A}"/>
              </a:ext>
            </a:extLst>
          </p:cNvPr>
          <p:cNvSpPr>
            <a:spLocks xmlns:a="http://schemas.openxmlformats.org/drawingml/2006/main" noGrp="1"/>
          </p:cNvSpPr>
          <p:nvPr/>
        </p:nvSpPr>
        <p:spPr>
          <a:xfrm xmlns:a="http://schemas.openxmlformats.org/drawingml/2006/main">
            <a:off x="941832" y="3630168"/>
            <a:ext cx="2971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600"/>
              <a:buFont typeface="Arial"/>
              <a:buNone/>
            </a:pPr>
            <a:r>
              <a:rPr sz="1600" b="1" i="0" u="none" cap="none">
                <a:solidFill>
                  <a:srgbClr val="D71920"/>
                </a:solidFill>
                <a:latin typeface="Arial"/>
                <a:ea typeface="Arial"/>
                <a:cs typeface="Arial"/>
              </a:rPr>
              <a:t>Prototype performance</a:t>
            </a:r>
          </a:p>
        </p:txBody>
      </p:sp>
      <p:sp>
        <p:nvSpPr>
          <p:cNvPr id="95" name="Google Shape;95;p6">
            <a:extLst xmlns:a="http://schemas.openxmlformats.org/drawingml/2006/main">
              <a:ext uri="{FF2B5EF4-FFF2-40B4-BE49-F238E27FC236}">
                <a16:creationId xmlns:a16="http://schemas.microsoft.com/office/drawing/2014/main" id="{5E0B4D40-0726-4A5D-8F78-8BF998CD7AEA}"/>
              </a:ext>
            </a:extLst>
          </p:cNvPr>
          <p:cNvSpPr>
            <a:spLocks xmlns:a="http://schemas.openxmlformats.org/drawingml/2006/main" noGrp="1"/>
          </p:cNvSpPr>
          <p:nvPr/>
        </p:nvSpPr>
        <p:spPr>
          <a:xfrm xmlns:a="http://schemas.openxmlformats.org/drawingml/2006/main">
            <a:off x="941832" y="4041648"/>
            <a:ext cx="29718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300"/>
              <a:buFont typeface="Arial"/>
              <a:buNone/>
            </a:pPr>
            <a:r>
              <a:rPr sz="1300" b="0" i="0" u="none" cap="none">
                <a:solidFill>
                  <a:srgbClr val="FFFFFF"/>
                </a:solidFill>
                <a:latin typeface="Arial"/>
                <a:ea typeface="Arial"/>
                <a:cs typeface="Arial"/>
              </a:rPr>
              <a:t>load per gram, accuracy, failure point</a:t>
            </a:r>
          </a:p>
        </p:txBody>
      </p:sp>
      <p:sp>
        <p:nvSpPr>
          <p:cNvPr id="96" name="Google Shape;96;p6">
            <a:extLst xmlns:a="http://schemas.openxmlformats.org/drawingml/2006/main">
              <a:ext uri="{FF2B5EF4-FFF2-40B4-BE49-F238E27FC236}">
                <a16:creationId xmlns:a16="http://schemas.microsoft.com/office/drawing/2014/main" id="{8C57BB50-FDD6-4B24-89CE-9EC2845BD9EA}"/>
              </a:ext>
            </a:extLst>
          </p:cNvPr>
          <p:cNvSpPr>
            <a:spLocks xmlns:a="http://schemas.openxmlformats.org/drawingml/2006/main" noGrp="1"/>
          </p:cNvSpPr>
          <p:nvPr/>
        </p:nvSpPr>
        <p:spPr>
          <a:xfrm xmlns:a="http://schemas.openxmlformats.org/drawingml/2006/main">
            <a:off x="4480560" y="3429000"/>
            <a:ext cx="3337560" cy="1371600"/>
          </a:xfrm>
          <a:prstGeom xmlns:a="http://schemas.openxmlformats.org/drawingml/2006/main" prst="roundRect">
            <a:avLst>
              <a:gd name="adj" fmla="val 4000"/>
            </a:avLst>
          </a:prstGeom>
          <a:solidFill xmlns:a="http://schemas.openxmlformats.org/drawingml/2006/main">
            <a:srgbClr val="1A1A1A"/>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7" name="Google Shape;97;p6">
            <a:extLst xmlns:a="http://schemas.openxmlformats.org/drawingml/2006/main">
              <a:ext uri="{FF2B5EF4-FFF2-40B4-BE49-F238E27FC236}">
                <a16:creationId xmlns:a16="http://schemas.microsoft.com/office/drawing/2014/main" id="{144A4FF5-70A2-4FF3-A14B-52B7FBB2ACBC}"/>
              </a:ext>
            </a:extLst>
          </p:cNvPr>
          <p:cNvSpPr>
            <a:spLocks xmlns:a="http://schemas.openxmlformats.org/drawingml/2006/main" noGrp="1"/>
          </p:cNvSpPr>
          <p:nvPr/>
        </p:nvSpPr>
        <p:spPr>
          <a:xfrm xmlns:a="http://schemas.openxmlformats.org/drawingml/2006/main">
            <a:off x="4645152" y="3630168"/>
            <a:ext cx="2971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600"/>
              <a:buFont typeface="Arial"/>
              <a:buNone/>
            </a:pPr>
            <a:r>
              <a:rPr sz="1600" b="1" i="0" u="none" cap="none">
                <a:solidFill>
                  <a:srgbClr val="D71920"/>
                </a:solidFill>
                <a:latin typeface="Arial"/>
                <a:ea typeface="Arial"/>
                <a:cs typeface="Arial"/>
              </a:rPr>
              <a:t>Qualitative observations</a:t>
            </a:r>
          </a:p>
        </p:txBody>
      </p:sp>
      <p:sp>
        <p:nvSpPr>
          <p:cNvPr id="98" name="Google Shape;98;p6">
            <a:extLst xmlns:a="http://schemas.openxmlformats.org/drawingml/2006/main">
              <a:ext uri="{FF2B5EF4-FFF2-40B4-BE49-F238E27FC236}">
                <a16:creationId xmlns:a16="http://schemas.microsoft.com/office/drawing/2014/main" id="{49738C26-6656-42DF-95A5-3D403F6EC51C}"/>
              </a:ext>
            </a:extLst>
          </p:cNvPr>
          <p:cNvSpPr>
            <a:spLocks xmlns:a="http://schemas.openxmlformats.org/drawingml/2006/main" noGrp="1"/>
          </p:cNvSpPr>
          <p:nvPr/>
        </p:nvSpPr>
        <p:spPr>
          <a:xfrm xmlns:a="http://schemas.openxmlformats.org/drawingml/2006/main">
            <a:off x="4645152" y="4041648"/>
            <a:ext cx="29718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300"/>
              <a:buFont typeface="Arial"/>
              <a:buNone/>
            </a:pPr>
            <a:r>
              <a:rPr sz="1300" b="0" i="0" u="none" cap="none">
                <a:solidFill>
                  <a:srgbClr val="FFFFFF"/>
                </a:solidFill>
                <a:latin typeface="Arial"/>
                <a:ea typeface="Arial"/>
                <a:cs typeface="Arial"/>
              </a:rPr>
              <a:t>failure type, behavior category</a:t>
            </a:r>
          </a:p>
        </p:txBody>
      </p:sp>
      <p:sp>
        <p:nvSpPr>
          <p:cNvPr id="99" name="Google Shape;99;p6">
            <a:extLst xmlns:a="http://schemas.openxmlformats.org/drawingml/2006/main">
              <a:ext uri="{FF2B5EF4-FFF2-40B4-BE49-F238E27FC236}">
                <a16:creationId xmlns:a16="http://schemas.microsoft.com/office/drawing/2014/main" id="{38E11663-E2B3-4408-8E6A-25586504B471}"/>
              </a:ext>
            </a:extLst>
          </p:cNvPr>
          <p:cNvSpPr>
            <a:spLocks xmlns:a="http://schemas.openxmlformats.org/drawingml/2006/main" noGrp="1"/>
          </p:cNvSpPr>
          <p:nvPr/>
        </p:nvSpPr>
        <p:spPr>
          <a:xfrm xmlns:a="http://schemas.openxmlformats.org/drawingml/2006/main">
            <a:off x="8183880" y="3429000"/>
            <a:ext cx="3337560" cy="1371600"/>
          </a:xfrm>
          <a:prstGeom xmlns:a="http://schemas.openxmlformats.org/drawingml/2006/main" prst="roundRect">
            <a:avLst>
              <a:gd name="adj" fmla="val 4000"/>
            </a:avLst>
          </a:prstGeom>
          <a:solidFill xmlns:a="http://schemas.openxmlformats.org/drawingml/2006/main">
            <a:srgbClr val="1A1A1A"/>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0" name="Google Shape;100;p6">
            <a:extLst xmlns:a="http://schemas.openxmlformats.org/drawingml/2006/main">
              <a:ext uri="{FF2B5EF4-FFF2-40B4-BE49-F238E27FC236}">
                <a16:creationId xmlns:a16="http://schemas.microsoft.com/office/drawing/2014/main" id="{FED36268-873D-48DF-9993-9F6272F6494A}"/>
              </a:ext>
            </a:extLst>
          </p:cNvPr>
          <p:cNvSpPr>
            <a:spLocks xmlns:a="http://schemas.openxmlformats.org/drawingml/2006/main" noGrp="1"/>
          </p:cNvSpPr>
          <p:nvPr/>
        </p:nvSpPr>
        <p:spPr>
          <a:xfrm xmlns:a="http://schemas.openxmlformats.org/drawingml/2006/main">
            <a:off x="8348472" y="3630168"/>
            <a:ext cx="2971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600"/>
              <a:buFont typeface="Arial"/>
              <a:buNone/>
            </a:pPr>
            <a:r>
              <a:rPr sz="1600" b="1" i="0" u="none" cap="none">
                <a:solidFill>
                  <a:srgbClr val="D71920"/>
                </a:solidFill>
                <a:latin typeface="Arial"/>
                <a:ea typeface="Arial"/>
                <a:cs typeface="Arial"/>
              </a:rPr>
              <a:t>Model or code outputs</a:t>
            </a:r>
          </a:p>
        </p:txBody>
      </p:sp>
      <p:sp>
        <p:nvSpPr>
          <p:cNvPr id="101" name="Google Shape;101;p6">
            <a:extLst xmlns:a="http://schemas.openxmlformats.org/drawingml/2006/main">
              <a:ext uri="{FF2B5EF4-FFF2-40B4-BE49-F238E27FC236}">
                <a16:creationId xmlns:a16="http://schemas.microsoft.com/office/drawing/2014/main" id="{A27C187A-5F1E-4363-BC47-AD3781D976F7}"/>
              </a:ext>
            </a:extLst>
          </p:cNvPr>
          <p:cNvSpPr>
            <a:spLocks xmlns:a="http://schemas.openxmlformats.org/drawingml/2006/main" noGrp="1"/>
          </p:cNvSpPr>
          <p:nvPr/>
        </p:nvSpPr>
        <p:spPr>
          <a:xfrm xmlns:a="http://schemas.openxmlformats.org/drawingml/2006/main">
            <a:off x="8348472" y="4041648"/>
            <a:ext cx="29718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300"/>
              <a:buFont typeface="Arial"/>
              <a:buNone/>
            </a:pPr>
            <a:r>
              <a:rPr sz="1300" b="0" i="0" u="none" cap="none">
                <a:solidFill>
                  <a:srgbClr val="FFFFFF"/>
                </a:solidFill>
                <a:latin typeface="Arial"/>
                <a:ea typeface="Arial"/>
                <a:cs typeface="Arial"/>
              </a:rPr>
              <a:t>accuracy, error rate, prediction</a:t>
            </a:r>
          </a:p>
        </p:txBody>
      </p:sp>
    </p:spTree>
    <p:extLst>
      <p:ext uri="{BB962C8B-B14F-4D97-AF65-F5344CB8AC3E}">
        <p14:creationId xmlns:p14="http://schemas.microsoft.com/office/powerpoint/2010/main" val="1922978752"/>
      </p:ext>
    </p:extLst>
  </p:cSld>
</p:sld>
</file>

<file path=ppt/slides/slide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07" name="Google Shape;107;p7">
            <a:extLst xmlns:a="http://schemas.openxmlformats.org/drawingml/2006/main">
              <a:ext uri="{FF2B5EF4-FFF2-40B4-BE49-F238E27FC236}">
                <a16:creationId xmlns:a16="http://schemas.microsoft.com/office/drawing/2014/main" id="{2C46C019-5DBA-4433-ACDB-700BDAF3149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8" name="Google Shape;108;p7">
            <a:extLst xmlns:a="http://schemas.openxmlformats.org/drawingml/2006/main">
              <a:ext uri="{FF2B5EF4-FFF2-40B4-BE49-F238E27FC236}">
                <a16:creationId xmlns:a16="http://schemas.microsoft.com/office/drawing/2014/main" id="{382BF414-EA07-43F5-BE72-9A2B75400085}"/>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9" name="Google Shape;109;p7">
            <a:extLst xmlns:a="http://schemas.openxmlformats.org/drawingml/2006/main">
              <a:ext uri="{FF2B5EF4-FFF2-40B4-BE49-F238E27FC236}">
                <a16:creationId xmlns:a16="http://schemas.microsoft.com/office/drawing/2014/main" id="{92BB90C3-5904-4033-9070-B6838F8755B5}"/>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0" name="Google Shape;110;p7">
            <a:extLst xmlns:a="http://schemas.openxmlformats.org/drawingml/2006/main">
              <a:ext uri="{FF2B5EF4-FFF2-40B4-BE49-F238E27FC236}">
                <a16:creationId xmlns:a16="http://schemas.microsoft.com/office/drawing/2014/main" id="{6422915C-C16D-4AAB-9224-EA36FA280736}"/>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MATCHING</a:t>
            </a:r>
          </a:p>
        </p:txBody>
      </p:sp>
      <p:sp>
        <p:nvSpPr>
          <p:cNvPr id="111" name="Google Shape;111;p7">
            <a:extLst xmlns:a="http://schemas.openxmlformats.org/drawingml/2006/main">
              <a:ext uri="{FF2B5EF4-FFF2-40B4-BE49-F238E27FC236}">
                <a16:creationId xmlns:a16="http://schemas.microsoft.com/office/drawing/2014/main" id="{0A445081-33B3-406F-96BB-5BBC7DE4C2BF}"/>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112" name="Google Shape;112;p7">
            <a:extLst xmlns:a="http://schemas.openxmlformats.org/drawingml/2006/main">
              <a:ext uri="{FF2B5EF4-FFF2-40B4-BE49-F238E27FC236}">
                <a16:creationId xmlns:a16="http://schemas.microsoft.com/office/drawing/2014/main" id="{C65EE026-A37D-4977-BF52-4574B4ECFF46}"/>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The Analysis Match Test</a:t>
            </a:r>
          </a:p>
        </p:txBody>
      </p:sp>
      <p:sp>
        <p:nvSpPr>
          <p:cNvPr id="113" name="Google Shape;113;p7">
            <a:extLst xmlns:a="http://schemas.openxmlformats.org/drawingml/2006/main">
              <a:ext uri="{FF2B5EF4-FFF2-40B4-BE49-F238E27FC236}">
                <a16:creationId xmlns:a16="http://schemas.microsoft.com/office/drawing/2014/main" id="{9EF9B87B-4526-4966-9E51-EEAEFDB441D6}"/>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4" name="Google Shape;114;p7">
            <a:extLst xmlns:a="http://schemas.openxmlformats.org/drawingml/2006/main">
              <a:ext uri="{FF2B5EF4-FFF2-40B4-BE49-F238E27FC236}">
                <a16:creationId xmlns:a16="http://schemas.microsoft.com/office/drawing/2014/main" id="{E3377780-8055-49CC-93C0-DAEDDB2FE4A3}"/>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A good method makes the evidence easier to understand.</a:t>
            </a:r>
          </a:p>
        </p:txBody>
      </p:sp>
      <p:sp>
        <p:nvSpPr>
          <p:cNvPr id="115" name="Google Shape;115;p7">
            <a:extLst xmlns:a="http://schemas.openxmlformats.org/drawingml/2006/main">
              <a:ext uri="{FF2B5EF4-FFF2-40B4-BE49-F238E27FC236}">
                <a16:creationId xmlns:a16="http://schemas.microsoft.com/office/drawing/2014/main" id="{FCDCC09A-14FD-45DD-A74B-125F4F864A3A}"/>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05</a:t>
            </a:r>
          </a:p>
        </p:txBody>
      </p:sp>
      <p:sp>
        <p:nvSpPr>
          <p:cNvPr id="116" name="Google Shape;116;p7">
            <a:extLst xmlns:a="http://schemas.openxmlformats.org/drawingml/2006/main">
              <a:ext uri="{FF2B5EF4-FFF2-40B4-BE49-F238E27FC236}">
                <a16:creationId xmlns:a16="http://schemas.microsoft.com/office/drawing/2014/main" id="{457AE2A2-430A-4AAF-B534-48C628D1E287}"/>
              </a:ext>
            </a:extLst>
          </p:cNvPr>
          <p:cNvSpPr>
            <a:spLocks xmlns:a="http://schemas.openxmlformats.org/drawingml/2006/main" noGrp="1"/>
          </p:cNvSpPr>
          <p:nvPr/>
        </p:nvSpPr>
        <p:spPr>
          <a:xfrm xmlns:a="http://schemas.openxmlformats.org/drawingml/2006/main">
            <a:off x="868680" y="1463040"/>
            <a:ext cx="46634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500"/>
              <a:buFont typeface="Arial"/>
              <a:buNone/>
            </a:pPr>
            <a:r>
              <a:rPr sz="1500" b="1" i="0" u="none" cap="none">
                <a:solidFill>
                  <a:srgbClr val="D71920"/>
                </a:solidFill>
                <a:latin typeface="Arial"/>
                <a:ea typeface="Arial"/>
                <a:cs typeface="Arial"/>
              </a:rPr>
              <a:t>If your question asks you to...</a:t>
            </a:r>
          </a:p>
        </p:txBody>
      </p:sp>
      <p:sp>
        <p:nvSpPr>
          <p:cNvPr id="117" name="Google Shape;117;p7">
            <a:extLst xmlns:a="http://schemas.openxmlformats.org/drawingml/2006/main">
              <a:ext uri="{FF2B5EF4-FFF2-40B4-BE49-F238E27FC236}">
                <a16:creationId xmlns:a16="http://schemas.microsoft.com/office/drawing/2014/main" id="{6C1492D5-0E5A-43CD-898B-97F5BEE15C2B}"/>
              </a:ext>
            </a:extLst>
          </p:cNvPr>
          <p:cNvSpPr>
            <a:spLocks xmlns:a="http://schemas.openxmlformats.org/drawingml/2006/main" noGrp="1"/>
          </p:cNvSpPr>
          <p:nvPr/>
        </p:nvSpPr>
        <p:spPr>
          <a:xfrm xmlns:a="http://schemas.openxmlformats.org/drawingml/2006/main">
            <a:off x="6400800" y="1463040"/>
            <a:ext cx="46634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500"/>
              <a:buFont typeface="Arial"/>
              <a:buNone/>
            </a:pPr>
            <a:r>
              <a:rPr sz="1500" b="1" i="0" u="none" cap="none">
                <a:solidFill>
                  <a:srgbClr val="D71920"/>
                </a:solidFill>
                <a:latin typeface="Arial"/>
                <a:ea typeface="Arial"/>
                <a:cs typeface="Arial"/>
              </a:rPr>
              <a:t>Consider using...</a:t>
            </a:r>
          </a:p>
        </p:txBody>
      </p:sp>
      <p:sp>
        <p:nvSpPr>
          <p:cNvPr id="118" name="Google Shape;118;p7">
            <a:extLst xmlns:a="http://schemas.openxmlformats.org/drawingml/2006/main">
              <a:ext uri="{FF2B5EF4-FFF2-40B4-BE49-F238E27FC236}">
                <a16:creationId xmlns:a16="http://schemas.microsoft.com/office/drawing/2014/main" id="{1A34E0D7-FF9B-4E9E-9F10-22CC8B71B155}"/>
              </a:ext>
            </a:extLst>
          </p:cNvPr>
          <p:cNvSpPr>
            <a:spLocks xmlns:a="http://schemas.openxmlformats.org/drawingml/2006/main" noGrp="1"/>
          </p:cNvSpPr>
          <p:nvPr/>
        </p:nvSpPr>
        <p:spPr>
          <a:xfrm xmlns:a="http://schemas.openxmlformats.org/drawingml/2006/main">
            <a:off x="868680" y="1874520"/>
            <a:ext cx="4251960" cy="329184"/>
          </a:xfrm>
          <a:prstGeom xmlns:a="http://schemas.openxmlformats.org/drawingml/2006/main" prst="roundRect">
            <a:avLst>
              <a:gd name="adj" fmla="val 8333"/>
            </a:avLst>
          </a:prstGeom>
          <a:solidFill xmlns:a="http://schemas.openxmlformats.org/drawingml/2006/main">
            <a:srgbClr val="1A1A1A"/>
          </a:solidFill>
          <a:ln xmlns:a="http://schemas.openxmlformats.org/drawingml/2006/main" w="95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9" name="Google Shape;119;p7">
            <a:extLst xmlns:a="http://schemas.openxmlformats.org/drawingml/2006/main">
              <a:ext uri="{FF2B5EF4-FFF2-40B4-BE49-F238E27FC236}">
                <a16:creationId xmlns:a16="http://schemas.microsoft.com/office/drawing/2014/main" id="{3451E355-1961-439E-A1A1-70BD3AF7A0F7}"/>
              </a:ext>
            </a:extLst>
          </p:cNvPr>
          <p:cNvSpPr>
            <a:spLocks xmlns:a="http://schemas.openxmlformats.org/drawingml/2006/main" noGrp="1"/>
          </p:cNvSpPr>
          <p:nvPr/>
        </p:nvSpPr>
        <p:spPr>
          <a:xfrm xmlns:a="http://schemas.openxmlformats.org/drawingml/2006/main">
            <a:off x="1005840" y="1947672"/>
            <a:ext cx="3977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250"/>
              <a:buFont typeface="Arial"/>
              <a:buNone/>
            </a:pPr>
            <a:r>
              <a:rPr sz="1250" b="0" i="0" u="none" cap="none">
                <a:solidFill>
                  <a:srgbClr val="FFFFFF"/>
                </a:solidFill>
                <a:latin typeface="Arial"/>
                <a:ea typeface="Arial"/>
                <a:cs typeface="Arial"/>
              </a:rPr>
              <a:t>Compare groups</a:t>
            </a:r>
          </a:p>
        </p:txBody>
      </p:sp>
      <p:cxnSp>
        <p:nvCxnSpPr>
          <p:cNvPr id="161" name="Google Shape;120;p7"/>
          <p:cNvCxnSpPr/>
          <p:nvPr/>
        </p:nvCxnSpPr>
        <p:spPr>
          <a:xfrm xmlns:a="http://schemas.openxmlformats.org/drawingml/2006/main">
            <a:off x="5349240" y="2039112"/>
            <a:ext cx="685800" cy="0"/>
          </a:xfrm>
          <a:prstGeom xmlns:a="http://schemas.openxmlformats.org/drawingml/2006/main" prst="straightConnector1">
            <a:avLst/>
          </a:prstGeom>
          <a:ln xmlns:a="http://schemas.openxmlformats.org/drawingml/2006/main" w="12700" cap="flat">
            <a:solidFill>
              <a:srgbClr val="D71920"/>
            </a:solidFill>
            <a:prstDash val="solid"/>
            <a:round/>
            <a:headEnd type="none" w="sm" len="sm"/>
            <a:tailEnd type="triangle" w="med" len="med"/>
          </a:ln>
        </p:spPr>
      </p:cxnSp>
      <p:sp>
        <p:nvSpPr>
          <p:cNvPr id="121" name="Google Shape;121;p7">
            <a:extLst xmlns:a="http://schemas.openxmlformats.org/drawingml/2006/main">
              <a:ext uri="{FF2B5EF4-FFF2-40B4-BE49-F238E27FC236}">
                <a16:creationId xmlns:a16="http://schemas.microsoft.com/office/drawing/2014/main" id="{D2BE7095-D90E-4428-9311-58C77067FCA7}"/>
              </a:ext>
            </a:extLst>
          </p:cNvPr>
          <p:cNvSpPr>
            <a:spLocks xmlns:a="http://schemas.openxmlformats.org/drawingml/2006/main" noGrp="1"/>
          </p:cNvSpPr>
          <p:nvPr/>
        </p:nvSpPr>
        <p:spPr>
          <a:xfrm xmlns:a="http://schemas.openxmlformats.org/drawingml/2006/main">
            <a:off x="6400800" y="1874520"/>
            <a:ext cx="4251960" cy="329184"/>
          </a:xfrm>
          <a:prstGeom xmlns:a="http://schemas.openxmlformats.org/drawingml/2006/main" prst="roundRect">
            <a:avLst>
              <a:gd name="adj" fmla="val 8333"/>
            </a:avLst>
          </a:prstGeom>
          <a:solidFill xmlns:a="http://schemas.openxmlformats.org/drawingml/2006/main">
            <a:srgbClr val="1A1A1A"/>
          </a:solidFill>
          <a:ln xmlns:a="http://schemas.openxmlformats.org/drawingml/2006/main" w="95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2" name="Google Shape;122;p7">
            <a:extLst xmlns:a="http://schemas.openxmlformats.org/drawingml/2006/main">
              <a:ext uri="{FF2B5EF4-FFF2-40B4-BE49-F238E27FC236}">
                <a16:creationId xmlns:a16="http://schemas.microsoft.com/office/drawing/2014/main" id="{0B402A93-C8BB-4B41-B4E8-70FD456200D3}"/>
              </a:ext>
            </a:extLst>
          </p:cNvPr>
          <p:cNvSpPr>
            <a:spLocks xmlns:a="http://schemas.openxmlformats.org/drawingml/2006/main" noGrp="1"/>
          </p:cNvSpPr>
          <p:nvPr/>
        </p:nvSpPr>
        <p:spPr>
          <a:xfrm xmlns:a="http://schemas.openxmlformats.org/drawingml/2006/main">
            <a:off x="6537960" y="1947672"/>
            <a:ext cx="3977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250"/>
              <a:buFont typeface="Arial"/>
              <a:buNone/>
            </a:pPr>
            <a:r>
              <a:rPr sz="1250" b="0" i="0" u="none" cap="none">
                <a:solidFill>
                  <a:srgbClr val="FFFFFF"/>
                </a:solidFill>
                <a:latin typeface="Arial"/>
                <a:ea typeface="Arial"/>
                <a:cs typeface="Arial"/>
              </a:rPr>
              <a:t>mean / median / bar graph</a:t>
            </a:r>
          </a:p>
        </p:txBody>
      </p:sp>
      <p:sp>
        <p:nvSpPr>
          <p:cNvPr id="123" name="Google Shape;123;p7">
            <a:extLst xmlns:a="http://schemas.openxmlformats.org/drawingml/2006/main">
              <a:ext uri="{FF2B5EF4-FFF2-40B4-BE49-F238E27FC236}">
                <a16:creationId xmlns:a16="http://schemas.microsoft.com/office/drawing/2014/main" id="{6CC10A88-4A03-429F-BDC1-6637443FDC30}"/>
              </a:ext>
            </a:extLst>
          </p:cNvPr>
          <p:cNvSpPr>
            <a:spLocks xmlns:a="http://schemas.openxmlformats.org/drawingml/2006/main" noGrp="1"/>
          </p:cNvSpPr>
          <p:nvPr/>
        </p:nvSpPr>
        <p:spPr>
          <a:xfrm xmlns:a="http://schemas.openxmlformats.org/drawingml/2006/main">
            <a:off x="868680" y="2404872"/>
            <a:ext cx="4251960" cy="329184"/>
          </a:xfrm>
          <a:prstGeom xmlns:a="http://schemas.openxmlformats.org/drawingml/2006/main" prst="roundRect">
            <a:avLst>
              <a:gd name="adj" fmla="val 8333"/>
            </a:avLst>
          </a:prstGeom>
          <a:solidFill xmlns:a="http://schemas.openxmlformats.org/drawingml/2006/main">
            <a:srgbClr val="1A1A1A"/>
          </a:solidFill>
          <a:ln xmlns:a="http://schemas.openxmlformats.org/drawingml/2006/main" w="95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4" name="Google Shape;124;p7">
            <a:extLst xmlns:a="http://schemas.openxmlformats.org/drawingml/2006/main">
              <a:ext uri="{FF2B5EF4-FFF2-40B4-BE49-F238E27FC236}">
                <a16:creationId xmlns:a16="http://schemas.microsoft.com/office/drawing/2014/main" id="{E847B0E5-EB43-428F-B897-2508C8F35123}"/>
              </a:ext>
            </a:extLst>
          </p:cNvPr>
          <p:cNvSpPr>
            <a:spLocks xmlns:a="http://schemas.openxmlformats.org/drawingml/2006/main" noGrp="1"/>
          </p:cNvSpPr>
          <p:nvPr/>
        </p:nvSpPr>
        <p:spPr>
          <a:xfrm xmlns:a="http://schemas.openxmlformats.org/drawingml/2006/main">
            <a:off x="1005840" y="2478024"/>
            <a:ext cx="3977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250"/>
              <a:buFont typeface="Arial"/>
              <a:buNone/>
            </a:pPr>
            <a:r>
              <a:rPr sz="1250" b="0" i="0" u="none" cap="none">
                <a:solidFill>
                  <a:srgbClr val="FFFFFF"/>
                </a:solidFill>
                <a:latin typeface="Arial"/>
                <a:ea typeface="Arial"/>
                <a:cs typeface="Arial"/>
              </a:rPr>
              <a:t>Show change over time</a:t>
            </a:r>
          </a:p>
        </p:txBody>
      </p:sp>
      <p:cxnSp>
        <p:nvCxnSpPr>
          <p:cNvPr id="166" name="Google Shape;125;p7"/>
          <p:cNvCxnSpPr/>
          <p:nvPr/>
        </p:nvCxnSpPr>
        <p:spPr>
          <a:xfrm xmlns:a="http://schemas.openxmlformats.org/drawingml/2006/main">
            <a:off x="5349240" y="2569464"/>
            <a:ext cx="685800" cy="0"/>
          </a:xfrm>
          <a:prstGeom xmlns:a="http://schemas.openxmlformats.org/drawingml/2006/main" prst="straightConnector1">
            <a:avLst/>
          </a:prstGeom>
          <a:ln xmlns:a="http://schemas.openxmlformats.org/drawingml/2006/main" w="12700" cap="flat">
            <a:solidFill>
              <a:srgbClr val="D71920"/>
            </a:solidFill>
            <a:prstDash val="solid"/>
            <a:round/>
            <a:headEnd type="none" w="sm" len="sm"/>
            <a:tailEnd type="triangle" w="med" len="med"/>
          </a:ln>
        </p:spPr>
      </p:cxnSp>
      <p:sp>
        <p:nvSpPr>
          <p:cNvPr id="126" name="Google Shape;126;p7">
            <a:extLst xmlns:a="http://schemas.openxmlformats.org/drawingml/2006/main">
              <a:ext uri="{FF2B5EF4-FFF2-40B4-BE49-F238E27FC236}">
                <a16:creationId xmlns:a16="http://schemas.microsoft.com/office/drawing/2014/main" id="{956B74FC-01DD-43F1-96FB-D8F4DFB655E9}"/>
              </a:ext>
            </a:extLst>
          </p:cNvPr>
          <p:cNvSpPr>
            <a:spLocks xmlns:a="http://schemas.openxmlformats.org/drawingml/2006/main" noGrp="1"/>
          </p:cNvSpPr>
          <p:nvPr/>
        </p:nvSpPr>
        <p:spPr>
          <a:xfrm xmlns:a="http://schemas.openxmlformats.org/drawingml/2006/main">
            <a:off x="6400800" y="2404872"/>
            <a:ext cx="4251960" cy="329184"/>
          </a:xfrm>
          <a:prstGeom xmlns:a="http://schemas.openxmlformats.org/drawingml/2006/main" prst="roundRect">
            <a:avLst>
              <a:gd name="adj" fmla="val 8333"/>
            </a:avLst>
          </a:prstGeom>
          <a:solidFill xmlns:a="http://schemas.openxmlformats.org/drawingml/2006/main">
            <a:srgbClr val="1A1A1A"/>
          </a:solidFill>
          <a:ln xmlns:a="http://schemas.openxmlformats.org/drawingml/2006/main" w="95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7" name="Google Shape;127;p7">
            <a:extLst xmlns:a="http://schemas.openxmlformats.org/drawingml/2006/main">
              <a:ext uri="{FF2B5EF4-FFF2-40B4-BE49-F238E27FC236}">
                <a16:creationId xmlns:a16="http://schemas.microsoft.com/office/drawing/2014/main" id="{544D04C3-B5D6-4197-8AEB-433F50F9D50C}"/>
              </a:ext>
            </a:extLst>
          </p:cNvPr>
          <p:cNvSpPr>
            <a:spLocks xmlns:a="http://schemas.openxmlformats.org/drawingml/2006/main" noGrp="1"/>
          </p:cNvSpPr>
          <p:nvPr/>
        </p:nvSpPr>
        <p:spPr>
          <a:xfrm xmlns:a="http://schemas.openxmlformats.org/drawingml/2006/main">
            <a:off x="6537960" y="2478024"/>
            <a:ext cx="3977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250"/>
              <a:buFont typeface="Arial"/>
              <a:buNone/>
            </a:pPr>
            <a:r>
              <a:rPr sz="1250" b="0" i="0" u="none" cap="none">
                <a:solidFill>
                  <a:srgbClr val="FFFFFF"/>
                </a:solidFill>
                <a:latin typeface="Arial"/>
                <a:ea typeface="Arial"/>
                <a:cs typeface="Arial"/>
              </a:rPr>
              <a:t>line graph / rate</a:t>
            </a:r>
          </a:p>
        </p:txBody>
      </p:sp>
      <p:sp>
        <p:nvSpPr>
          <p:cNvPr id="128" name="Google Shape;128;p7">
            <a:extLst xmlns:a="http://schemas.openxmlformats.org/drawingml/2006/main">
              <a:ext uri="{FF2B5EF4-FFF2-40B4-BE49-F238E27FC236}">
                <a16:creationId xmlns:a16="http://schemas.microsoft.com/office/drawing/2014/main" id="{9E7C14BB-5F54-4CFE-AC41-4F822BBEE648}"/>
              </a:ext>
            </a:extLst>
          </p:cNvPr>
          <p:cNvSpPr>
            <a:spLocks xmlns:a="http://schemas.openxmlformats.org/drawingml/2006/main" noGrp="1"/>
          </p:cNvSpPr>
          <p:nvPr/>
        </p:nvSpPr>
        <p:spPr>
          <a:xfrm xmlns:a="http://schemas.openxmlformats.org/drawingml/2006/main">
            <a:off x="868680" y="2935224"/>
            <a:ext cx="4251960" cy="329184"/>
          </a:xfrm>
          <a:prstGeom xmlns:a="http://schemas.openxmlformats.org/drawingml/2006/main" prst="roundRect">
            <a:avLst>
              <a:gd name="adj" fmla="val 8333"/>
            </a:avLst>
          </a:prstGeom>
          <a:solidFill xmlns:a="http://schemas.openxmlformats.org/drawingml/2006/main">
            <a:srgbClr val="1A1A1A"/>
          </a:solidFill>
          <a:ln xmlns:a="http://schemas.openxmlformats.org/drawingml/2006/main" w="95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9" name="Google Shape;129;p7">
            <a:extLst xmlns:a="http://schemas.openxmlformats.org/drawingml/2006/main">
              <a:ext uri="{FF2B5EF4-FFF2-40B4-BE49-F238E27FC236}">
                <a16:creationId xmlns:a16="http://schemas.microsoft.com/office/drawing/2014/main" id="{948356D3-DA92-4432-8920-C686EEE9EE13}"/>
              </a:ext>
            </a:extLst>
          </p:cNvPr>
          <p:cNvSpPr>
            <a:spLocks xmlns:a="http://schemas.openxmlformats.org/drawingml/2006/main" noGrp="1"/>
          </p:cNvSpPr>
          <p:nvPr/>
        </p:nvSpPr>
        <p:spPr>
          <a:xfrm xmlns:a="http://schemas.openxmlformats.org/drawingml/2006/main">
            <a:off x="1005840" y="3008376"/>
            <a:ext cx="3977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250"/>
              <a:buFont typeface="Arial"/>
              <a:buNone/>
            </a:pPr>
            <a:r>
              <a:rPr sz="1250" b="0" i="0" u="none" cap="none">
                <a:solidFill>
                  <a:srgbClr val="FFFFFF"/>
                </a:solidFill>
                <a:latin typeface="Arial"/>
                <a:ea typeface="Arial"/>
                <a:cs typeface="Arial"/>
              </a:rPr>
              <a:t>Measure consistency</a:t>
            </a:r>
          </a:p>
        </p:txBody>
      </p:sp>
      <p:cxnSp>
        <p:nvCxnSpPr>
          <p:cNvPr id="171" name="Google Shape;130;p7"/>
          <p:cNvCxnSpPr/>
          <p:nvPr/>
        </p:nvCxnSpPr>
        <p:spPr>
          <a:xfrm xmlns:a="http://schemas.openxmlformats.org/drawingml/2006/main">
            <a:off x="5349240" y="3099816"/>
            <a:ext cx="685800" cy="0"/>
          </a:xfrm>
          <a:prstGeom xmlns:a="http://schemas.openxmlformats.org/drawingml/2006/main" prst="straightConnector1">
            <a:avLst/>
          </a:prstGeom>
          <a:ln xmlns:a="http://schemas.openxmlformats.org/drawingml/2006/main" w="12700" cap="flat">
            <a:solidFill>
              <a:srgbClr val="D71920"/>
            </a:solidFill>
            <a:prstDash val="solid"/>
            <a:round/>
            <a:headEnd type="none" w="sm" len="sm"/>
            <a:tailEnd type="triangle" w="med" len="med"/>
          </a:ln>
        </p:spPr>
      </p:cxnSp>
      <p:sp>
        <p:nvSpPr>
          <p:cNvPr id="131" name="Google Shape;131;p7">
            <a:extLst xmlns:a="http://schemas.openxmlformats.org/drawingml/2006/main">
              <a:ext uri="{FF2B5EF4-FFF2-40B4-BE49-F238E27FC236}">
                <a16:creationId xmlns:a16="http://schemas.microsoft.com/office/drawing/2014/main" id="{C524F18C-0653-4A19-B034-21441AE88BAF}"/>
              </a:ext>
            </a:extLst>
          </p:cNvPr>
          <p:cNvSpPr>
            <a:spLocks xmlns:a="http://schemas.openxmlformats.org/drawingml/2006/main" noGrp="1"/>
          </p:cNvSpPr>
          <p:nvPr/>
        </p:nvSpPr>
        <p:spPr>
          <a:xfrm xmlns:a="http://schemas.openxmlformats.org/drawingml/2006/main">
            <a:off x="6400800" y="2935224"/>
            <a:ext cx="4251960" cy="329184"/>
          </a:xfrm>
          <a:prstGeom xmlns:a="http://schemas.openxmlformats.org/drawingml/2006/main" prst="roundRect">
            <a:avLst>
              <a:gd name="adj" fmla="val 8333"/>
            </a:avLst>
          </a:prstGeom>
          <a:solidFill xmlns:a="http://schemas.openxmlformats.org/drawingml/2006/main">
            <a:srgbClr val="1A1A1A"/>
          </a:solidFill>
          <a:ln xmlns:a="http://schemas.openxmlformats.org/drawingml/2006/main" w="95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2" name="Google Shape;132;p7">
            <a:extLst xmlns:a="http://schemas.openxmlformats.org/drawingml/2006/main">
              <a:ext uri="{FF2B5EF4-FFF2-40B4-BE49-F238E27FC236}">
                <a16:creationId xmlns:a16="http://schemas.microsoft.com/office/drawing/2014/main" id="{CCFA9153-1906-40A3-90B1-E56E55CA05E8}"/>
              </a:ext>
            </a:extLst>
          </p:cNvPr>
          <p:cNvSpPr>
            <a:spLocks xmlns:a="http://schemas.openxmlformats.org/drawingml/2006/main" noGrp="1"/>
          </p:cNvSpPr>
          <p:nvPr/>
        </p:nvSpPr>
        <p:spPr>
          <a:xfrm xmlns:a="http://schemas.openxmlformats.org/drawingml/2006/main">
            <a:off x="6537960" y="3008376"/>
            <a:ext cx="3977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250"/>
              <a:buFont typeface="Arial"/>
              <a:buNone/>
            </a:pPr>
            <a:r>
              <a:rPr sz="1250" b="0" i="0" u="none" cap="none">
                <a:solidFill>
                  <a:srgbClr val="FFFFFF"/>
                </a:solidFill>
                <a:latin typeface="Arial"/>
                <a:ea typeface="Arial"/>
                <a:cs typeface="Arial"/>
              </a:rPr>
              <a:t>range / standard deviation</a:t>
            </a:r>
          </a:p>
        </p:txBody>
      </p:sp>
      <p:sp>
        <p:nvSpPr>
          <p:cNvPr id="133" name="Google Shape;133;p7">
            <a:extLst xmlns:a="http://schemas.openxmlformats.org/drawingml/2006/main">
              <a:ext uri="{FF2B5EF4-FFF2-40B4-BE49-F238E27FC236}">
                <a16:creationId xmlns:a16="http://schemas.microsoft.com/office/drawing/2014/main" id="{A48FC53F-0719-436A-9E9B-E48EFAF7F55B}"/>
              </a:ext>
            </a:extLst>
          </p:cNvPr>
          <p:cNvSpPr>
            <a:spLocks xmlns:a="http://schemas.openxmlformats.org/drawingml/2006/main" noGrp="1"/>
          </p:cNvSpPr>
          <p:nvPr/>
        </p:nvSpPr>
        <p:spPr>
          <a:xfrm xmlns:a="http://schemas.openxmlformats.org/drawingml/2006/main">
            <a:off x="868680" y="3465576"/>
            <a:ext cx="4251960" cy="329184"/>
          </a:xfrm>
          <a:prstGeom xmlns:a="http://schemas.openxmlformats.org/drawingml/2006/main" prst="roundRect">
            <a:avLst>
              <a:gd name="adj" fmla="val 8333"/>
            </a:avLst>
          </a:prstGeom>
          <a:solidFill xmlns:a="http://schemas.openxmlformats.org/drawingml/2006/main">
            <a:srgbClr val="1A1A1A"/>
          </a:solidFill>
          <a:ln xmlns:a="http://schemas.openxmlformats.org/drawingml/2006/main" w="95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4" name="Google Shape;134;p7">
            <a:extLst xmlns:a="http://schemas.openxmlformats.org/drawingml/2006/main">
              <a:ext uri="{FF2B5EF4-FFF2-40B4-BE49-F238E27FC236}">
                <a16:creationId xmlns:a16="http://schemas.microsoft.com/office/drawing/2014/main" id="{A82247E1-BE6F-4D4F-8723-B7EC0709AA01}"/>
              </a:ext>
            </a:extLst>
          </p:cNvPr>
          <p:cNvSpPr>
            <a:spLocks xmlns:a="http://schemas.openxmlformats.org/drawingml/2006/main" noGrp="1"/>
          </p:cNvSpPr>
          <p:nvPr/>
        </p:nvSpPr>
        <p:spPr>
          <a:xfrm xmlns:a="http://schemas.openxmlformats.org/drawingml/2006/main">
            <a:off x="1005840" y="3538728"/>
            <a:ext cx="3977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250"/>
              <a:buFont typeface="Arial"/>
              <a:buNone/>
            </a:pPr>
            <a:r>
              <a:rPr sz="1250" b="0" i="0" u="none" cap="none">
                <a:solidFill>
                  <a:srgbClr val="FFFFFF"/>
                </a:solidFill>
                <a:latin typeface="Arial"/>
                <a:ea typeface="Arial"/>
                <a:cs typeface="Arial"/>
              </a:rPr>
              <a:t>Optimize a design</a:t>
            </a:r>
          </a:p>
        </p:txBody>
      </p:sp>
      <p:cxnSp>
        <p:nvCxnSpPr>
          <p:cNvPr id="176" name="Google Shape;135;p7"/>
          <p:cNvCxnSpPr/>
          <p:nvPr/>
        </p:nvCxnSpPr>
        <p:spPr>
          <a:xfrm xmlns:a="http://schemas.openxmlformats.org/drawingml/2006/main">
            <a:off x="5349240" y="3630168"/>
            <a:ext cx="685800" cy="0"/>
          </a:xfrm>
          <a:prstGeom xmlns:a="http://schemas.openxmlformats.org/drawingml/2006/main" prst="straightConnector1">
            <a:avLst/>
          </a:prstGeom>
          <a:ln xmlns:a="http://schemas.openxmlformats.org/drawingml/2006/main" w="12700" cap="flat">
            <a:solidFill>
              <a:srgbClr val="D71920"/>
            </a:solidFill>
            <a:prstDash val="solid"/>
            <a:round/>
            <a:headEnd type="none" w="sm" len="sm"/>
            <a:tailEnd type="triangle" w="med" len="med"/>
          </a:ln>
        </p:spPr>
      </p:cxnSp>
      <p:sp>
        <p:nvSpPr>
          <p:cNvPr id="136" name="Google Shape;136;p7">
            <a:extLst xmlns:a="http://schemas.openxmlformats.org/drawingml/2006/main">
              <a:ext uri="{FF2B5EF4-FFF2-40B4-BE49-F238E27FC236}">
                <a16:creationId xmlns:a16="http://schemas.microsoft.com/office/drawing/2014/main" id="{BFD6A417-E793-431D-BDC5-832B3CD674E0}"/>
              </a:ext>
            </a:extLst>
          </p:cNvPr>
          <p:cNvSpPr>
            <a:spLocks xmlns:a="http://schemas.openxmlformats.org/drawingml/2006/main" noGrp="1"/>
          </p:cNvSpPr>
          <p:nvPr/>
        </p:nvSpPr>
        <p:spPr>
          <a:xfrm xmlns:a="http://schemas.openxmlformats.org/drawingml/2006/main">
            <a:off x="6400800" y="3465576"/>
            <a:ext cx="4251960" cy="329184"/>
          </a:xfrm>
          <a:prstGeom xmlns:a="http://schemas.openxmlformats.org/drawingml/2006/main" prst="roundRect">
            <a:avLst>
              <a:gd name="adj" fmla="val 8333"/>
            </a:avLst>
          </a:prstGeom>
          <a:solidFill xmlns:a="http://schemas.openxmlformats.org/drawingml/2006/main">
            <a:srgbClr val="1A1A1A"/>
          </a:solidFill>
          <a:ln xmlns:a="http://schemas.openxmlformats.org/drawingml/2006/main" w="95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7" name="Google Shape;137;p7">
            <a:extLst xmlns:a="http://schemas.openxmlformats.org/drawingml/2006/main">
              <a:ext uri="{FF2B5EF4-FFF2-40B4-BE49-F238E27FC236}">
                <a16:creationId xmlns:a16="http://schemas.microsoft.com/office/drawing/2014/main" id="{1AD75B89-ED85-43F4-B71D-008CB7D7E349}"/>
              </a:ext>
            </a:extLst>
          </p:cNvPr>
          <p:cNvSpPr>
            <a:spLocks xmlns:a="http://schemas.openxmlformats.org/drawingml/2006/main" noGrp="1"/>
          </p:cNvSpPr>
          <p:nvPr/>
        </p:nvSpPr>
        <p:spPr>
          <a:xfrm xmlns:a="http://schemas.openxmlformats.org/drawingml/2006/main">
            <a:off x="6537960" y="3538728"/>
            <a:ext cx="3977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250"/>
              <a:buFont typeface="Arial"/>
              <a:buNone/>
            </a:pPr>
            <a:r>
              <a:rPr sz="1250" b="0" i="0" u="none" cap="none">
                <a:solidFill>
                  <a:srgbClr val="FFFFFF"/>
                </a:solidFill>
                <a:latin typeface="Arial"/>
                <a:ea typeface="Arial"/>
                <a:cs typeface="Arial"/>
              </a:rPr>
              <a:t>performance metric</a:t>
            </a:r>
          </a:p>
        </p:txBody>
      </p:sp>
      <p:sp>
        <p:nvSpPr>
          <p:cNvPr id="138" name="Google Shape;138;p7">
            <a:extLst xmlns:a="http://schemas.openxmlformats.org/drawingml/2006/main">
              <a:ext uri="{FF2B5EF4-FFF2-40B4-BE49-F238E27FC236}">
                <a16:creationId xmlns:a16="http://schemas.microsoft.com/office/drawing/2014/main" id="{97F46D60-016D-4F72-B8F5-31726EE43CEF}"/>
              </a:ext>
            </a:extLst>
          </p:cNvPr>
          <p:cNvSpPr>
            <a:spLocks xmlns:a="http://schemas.openxmlformats.org/drawingml/2006/main" noGrp="1"/>
          </p:cNvSpPr>
          <p:nvPr/>
        </p:nvSpPr>
        <p:spPr>
          <a:xfrm xmlns:a="http://schemas.openxmlformats.org/drawingml/2006/main">
            <a:off x="868680" y="3995928"/>
            <a:ext cx="4251960" cy="329184"/>
          </a:xfrm>
          <a:prstGeom xmlns:a="http://schemas.openxmlformats.org/drawingml/2006/main" prst="roundRect">
            <a:avLst>
              <a:gd name="adj" fmla="val 8333"/>
            </a:avLst>
          </a:prstGeom>
          <a:solidFill xmlns:a="http://schemas.openxmlformats.org/drawingml/2006/main">
            <a:srgbClr val="1A1A1A"/>
          </a:solidFill>
          <a:ln xmlns:a="http://schemas.openxmlformats.org/drawingml/2006/main" w="95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9" name="Google Shape;139;p7">
            <a:extLst xmlns:a="http://schemas.openxmlformats.org/drawingml/2006/main">
              <a:ext uri="{FF2B5EF4-FFF2-40B4-BE49-F238E27FC236}">
                <a16:creationId xmlns:a16="http://schemas.microsoft.com/office/drawing/2014/main" id="{7C594AA1-34F6-4F2B-BD38-528D6FB68E3D}"/>
              </a:ext>
            </a:extLst>
          </p:cNvPr>
          <p:cNvSpPr>
            <a:spLocks xmlns:a="http://schemas.openxmlformats.org/drawingml/2006/main" noGrp="1"/>
          </p:cNvSpPr>
          <p:nvPr/>
        </p:nvSpPr>
        <p:spPr>
          <a:xfrm xmlns:a="http://schemas.openxmlformats.org/drawingml/2006/main">
            <a:off x="1005840" y="4069080"/>
            <a:ext cx="3977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250"/>
              <a:buFont typeface="Arial"/>
              <a:buNone/>
            </a:pPr>
            <a:r>
              <a:rPr sz="1250" b="0" i="0" u="none" cap="none">
                <a:solidFill>
                  <a:srgbClr val="FFFFFF"/>
                </a:solidFill>
                <a:latin typeface="Arial"/>
                <a:ea typeface="Arial"/>
                <a:cs typeface="Arial"/>
              </a:rPr>
              <a:t>Find a relationship</a:t>
            </a:r>
          </a:p>
        </p:txBody>
      </p:sp>
      <p:cxnSp>
        <p:nvCxnSpPr>
          <p:cNvPr id="181" name="Google Shape;140;p7"/>
          <p:cNvCxnSpPr/>
          <p:nvPr/>
        </p:nvCxnSpPr>
        <p:spPr>
          <a:xfrm xmlns:a="http://schemas.openxmlformats.org/drawingml/2006/main">
            <a:off x="5349240" y="4160520"/>
            <a:ext cx="685800" cy="0"/>
          </a:xfrm>
          <a:prstGeom xmlns:a="http://schemas.openxmlformats.org/drawingml/2006/main" prst="straightConnector1">
            <a:avLst/>
          </a:prstGeom>
          <a:ln xmlns:a="http://schemas.openxmlformats.org/drawingml/2006/main" w="12700" cap="flat">
            <a:solidFill>
              <a:srgbClr val="D71920"/>
            </a:solidFill>
            <a:prstDash val="solid"/>
            <a:round/>
            <a:headEnd type="none" w="sm" len="sm"/>
            <a:tailEnd type="triangle" w="med" len="med"/>
          </a:ln>
        </p:spPr>
      </p:cxnSp>
      <p:sp>
        <p:nvSpPr>
          <p:cNvPr id="141" name="Google Shape;141;p7">
            <a:extLst xmlns:a="http://schemas.openxmlformats.org/drawingml/2006/main">
              <a:ext uri="{FF2B5EF4-FFF2-40B4-BE49-F238E27FC236}">
                <a16:creationId xmlns:a16="http://schemas.microsoft.com/office/drawing/2014/main" id="{346D6B0A-09A8-416C-957A-EAE351FEC027}"/>
              </a:ext>
            </a:extLst>
          </p:cNvPr>
          <p:cNvSpPr>
            <a:spLocks xmlns:a="http://schemas.openxmlformats.org/drawingml/2006/main" noGrp="1"/>
          </p:cNvSpPr>
          <p:nvPr/>
        </p:nvSpPr>
        <p:spPr>
          <a:xfrm xmlns:a="http://schemas.openxmlformats.org/drawingml/2006/main">
            <a:off x="6400800" y="3995928"/>
            <a:ext cx="4251960" cy="329184"/>
          </a:xfrm>
          <a:prstGeom xmlns:a="http://schemas.openxmlformats.org/drawingml/2006/main" prst="roundRect">
            <a:avLst>
              <a:gd name="adj" fmla="val 8333"/>
            </a:avLst>
          </a:prstGeom>
          <a:solidFill xmlns:a="http://schemas.openxmlformats.org/drawingml/2006/main">
            <a:srgbClr val="1A1A1A"/>
          </a:solidFill>
          <a:ln xmlns:a="http://schemas.openxmlformats.org/drawingml/2006/main" w="95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2" name="Google Shape;142;p7">
            <a:extLst xmlns:a="http://schemas.openxmlformats.org/drawingml/2006/main">
              <a:ext uri="{FF2B5EF4-FFF2-40B4-BE49-F238E27FC236}">
                <a16:creationId xmlns:a16="http://schemas.microsoft.com/office/drawing/2014/main" id="{B877874C-507A-495F-8644-916955287351}"/>
              </a:ext>
            </a:extLst>
          </p:cNvPr>
          <p:cNvSpPr>
            <a:spLocks xmlns:a="http://schemas.openxmlformats.org/drawingml/2006/main" noGrp="1"/>
          </p:cNvSpPr>
          <p:nvPr/>
        </p:nvSpPr>
        <p:spPr>
          <a:xfrm xmlns:a="http://schemas.openxmlformats.org/drawingml/2006/main">
            <a:off x="6537960" y="4069080"/>
            <a:ext cx="3977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250"/>
              <a:buFont typeface="Arial"/>
              <a:buNone/>
            </a:pPr>
            <a:r>
              <a:rPr sz="1250" b="0" i="0" u="none" cap="none">
                <a:solidFill>
                  <a:srgbClr val="FFFFFF"/>
                </a:solidFill>
                <a:latin typeface="Arial"/>
                <a:ea typeface="Arial"/>
                <a:cs typeface="Arial"/>
              </a:rPr>
              <a:t>scatter plot / trendline</a:t>
            </a:r>
          </a:p>
        </p:txBody>
      </p:sp>
      <p:sp>
        <p:nvSpPr>
          <p:cNvPr id="143" name="Google Shape;143;p7">
            <a:extLst xmlns:a="http://schemas.openxmlformats.org/drawingml/2006/main">
              <a:ext uri="{FF2B5EF4-FFF2-40B4-BE49-F238E27FC236}">
                <a16:creationId xmlns:a16="http://schemas.microsoft.com/office/drawing/2014/main" id="{28A20B01-26D3-4C15-8211-CE28EE04DD5C}"/>
              </a:ext>
            </a:extLst>
          </p:cNvPr>
          <p:cNvSpPr>
            <a:spLocks xmlns:a="http://schemas.openxmlformats.org/drawingml/2006/main" noGrp="1"/>
          </p:cNvSpPr>
          <p:nvPr/>
        </p:nvSpPr>
        <p:spPr>
          <a:xfrm xmlns:a="http://schemas.openxmlformats.org/drawingml/2006/main">
            <a:off x="868680" y="4526280"/>
            <a:ext cx="4251960" cy="329184"/>
          </a:xfrm>
          <a:prstGeom xmlns:a="http://schemas.openxmlformats.org/drawingml/2006/main" prst="roundRect">
            <a:avLst>
              <a:gd name="adj" fmla="val 8333"/>
            </a:avLst>
          </a:prstGeom>
          <a:solidFill xmlns:a="http://schemas.openxmlformats.org/drawingml/2006/main">
            <a:srgbClr val="1A1A1A"/>
          </a:solidFill>
          <a:ln xmlns:a="http://schemas.openxmlformats.org/drawingml/2006/main" w="95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4" name="Google Shape;144;p7">
            <a:extLst xmlns:a="http://schemas.openxmlformats.org/drawingml/2006/main">
              <a:ext uri="{FF2B5EF4-FFF2-40B4-BE49-F238E27FC236}">
                <a16:creationId xmlns:a16="http://schemas.microsoft.com/office/drawing/2014/main" id="{F00FF85C-A627-4B6E-B8C3-B1081376E910}"/>
              </a:ext>
            </a:extLst>
          </p:cNvPr>
          <p:cNvSpPr>
            <a:spLocks xmlns:a="http://schemas.openxmlformats.org/drawingml/2006/main" noGrp="1"/>
          </p:cNvSpPr>
          <p:nvPr/>
        </p:nvSpPr>
        <p:spPr>
          <a:xfrm xmlns:a="http://schemas.openxmlformats.org/drawingml/2006/main">
            <a:off x="1005840" y="4599432"/>
            <a:ext cx="3977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250"/>
              <a:buFont typeface="Arial"/>
              <a:buNone/>
            </a:pPr>
            <a:r>
              <a:rPr sz="1250" b="0" i="0" u="none" cap="none">
                <a:solidFill>
                  <a:srgbClr val="FFFFFF"/>
                </a:solidFill>
                <a:latin typeface="Arial"/>
                <a:ea typeface="Arial"/>
                <a:cs typeface="Arial"/>
              </a:rPr>
              <a:t>Summarize observations</a:t>
            </a:r>
          </a:p>
        </p:txBody>
      </p:sp>
      <p:cxnSp>
        <p:nvCxnSpPr>
          <p:cNvPr id="186" name="Google Shape;145;p7"/>
          <p:cNvCxnSpPr/>
          <p:nvPr/>
        </p:nvCxnSpPr>
        <p:spPr>
          <a:xfrm xmlns:a="http://schemas.openxmlformats.org/drawingml/2006/main">
            <a:off x="5349240" y="4690872"/>
            <a:ext cx="685800" cy="0"/>
          </a:xfrm>
          <a:prstGeom xmlns:a="http://schemas.openxmlformats.org/drawingml/2006/main" prst="straightConnector1">
            <a:avLst/>
          </a:prstGeom>
          <a:ln xmlns:a="http://schemas.openxmlformats.org/drawingml/2006/main" w="12700" cap="flat">
            <a:solidFill>
              <a:srgbClr val="D71920"/>
            </a:solidFill>
            <a:prstDash val="solid"/>
            <a:round/>
            <a:headEnd type="none" w="sm" len="sm"/>
            <a:tailEnd type="triangle" w="med" len="med"/>
          </a:ln>
        </p:spPr>
      </p:cxnSp>
      <p:sp>
        <p:nvSpPr>
          <p:cNvPr id="146" name="Google Shape;146;p7">
            <a:extLst xmlns:a="http://schemas.openxmlformats.org/drawingml/2006/main">
              <a:ext uri="{FF2B5EF4-FFF2-40B4-BE49-F238E27FC236}">
                <a16:creationId xmlns:a16="http://schemas.microsoft.com/office/drawing/2014/main" id="{2F80D95F-4377-4B71-AD82-318D0EA0E660}"/>
              </a:ext>
            </a:extLst>
          </p:cNvPr>
          <p:cNvSpPr>
            <a:spLocks xmlns:a="http://schemas.openxmlformats.org/drawingml/2006/main" noGrp="1"/>
          </p:cNvSpPr>
          <p:nvPr/>
        </p:nvSpPr>
        <p:spPr>
          <a:xfrm xmlns:a="http://schemas.openxmlformats.org/drawingml/2006/main">
            <a:off x="6400800" y="4526280"/>
            <a:ext cx="4251960" cy="329184"/>
          </a:xfrm>
          <a:prstGeom xmlns:a="http://schemas.openxmlformats.org/drawingml/2006/main" prst="roundRect">
            <a:avLst>
              <a:gd name="adj" fmla="val 8333"/>
            </a:avLst>
          </a:prstGeom>
          <a:solidFill xmlns:a="http://schemas.openxmlformats.org/drawingml/2006/main">
            <a:srgbClr val="1A1A1A"/>
          </a:solidFill>
          <a:ln xmlns:a="http://schemas.openxmlformats.org/drawingml/2006/main" w="95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7" name="Google Shape;147;p7">
            <a:extLst xmlns:a="http://schemas.openxmlformats.org/drawingml/2006/main">
              <a:ext uri="{FF2B5EF4-FFF2-40B4-BE49-F238E27FC236}">
                <a16:creationId xmlns:a16="http://schemas.microsoft.com/office/drawing/2014/main" id="{FC397571-E741-4718-8A86-241C8A4A0261}"/>
              </a:ext>
            </a:extLst>
          </p:cNvPr>
          <p:cNvSpPr>
            <a:spLocks xmlns:a="http://schemas.openxmlformats.org/drawingml/2006/main" noGrp="1"/>
          </p:cNvSpPr>
          <p:nvPr/>
        </p:nvSpPr>
        <p:spPr>
          <a:xfrm xmlns:a="http://schemas.openxmlformats.org/drawingml/2006/main">
            <a:off x="6537960" y="4599432"/>
            <a:ext cx="3977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250"/>
              <a:buFont typeface="Arial"/>
              <a:buNone/>
            </a:pPr>
            <a:r>
              <a:rPr sz="1250" b="0" i="0" u="none" cap="none">
                <a:solidFill>
                  <a:srgbClr val="FFFFFF"/>
                </a:solidFill>
                <a:latin typeface="Arial"/>
                <a:ea typeface="Arial"/>
                <a:cs typeface="Arial"/>
              </a:rPr>
              <a:t>counts / categories</a:t>
            </a:r>
          </a:p>
        </p:txBody>
      </p:sp>
    </p:spTree>
    <p:extLst>
      <p:ext uri="{BB962C8B-B14F-4D97-AF65-F5344CB8AC3E}">
        <p14:creationId xmlns:p14="http://schemas.microsoft.com/office/powerpoint/2010/main" val="256492171"/>
      </p:ext>
    </p:extLst>
  </p:cSld>
</p:sld>
</file>

<file path=ppt/slides/slide6.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3" name="Google Shape;153;p8">
            <a:extLst xmlns:a="http://schemas.openxmlformats.org/drawingml/2006/main">
              <a:ext uri="{FF2B5EF4-FFF2-40B4-BE49-F238E27FC236}">
                <a16:creationId xmlns:a16="http://schemas.microsoft.com/office/drawing/2014/main" id="{79883B0B-A6FD-4624-B4A1-E6504A32183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4" name="Google Shape;154;p8">
            <a:extLst xmlns:a="http://schemas.openxmlformats.org/drawingml/2006/main">
              <a:ext uri="{FF2B5EF4-FFF2-40B4-BE49-F238E27FC236}">
                <a16:creationId xmlns:a16="http://schemas.microsoft.com/office/drawing/2014/main" id="{876CE5A9-7C9C-4035-8599-419EA4B80773}"/>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5" name="Google Shape;155;p8">
            <a:extLst xmlns:a="http://schemas.openxmlformats.org/drawingml/2006/main">
              <a:ext uri="{FF2B5EF4-FFF2-40B4-BE49-F238E27FC236}">
                <a16:creationId xmlns:a16="http://schemas.microsoft.com/office/drawing/2014/main" id="{F2A289B0-5C13-4B19-ADF1-07011ADA9AE7}"/>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6" name="Google Shape;156;p8">
            <a:extLst xmlns:a="http://schemas.openxmlformats.org/drawingml/2006/main">
              <a:ext uri="{FF2B5EF4-FFF2-40B4-BE49-F238E27FC236}">
                <a16:creationId xmlns:a16="http://schemas.microsoft.com/office/drawing/2014/main" id="{B5B5C175-5241-41A9-AFF2-9D20E2F73F19}"/>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BASIC STATS</a:t>
            </a:r>
          </a:p>
        </p:txBody>
      </p:sp>
      <p:sp>
        <p:nvSpPr>
          <p:cNvPr id="157" name="Google Shape;157;p8">
            <a:extLst xmlns:a="http://schemas.openxmlformats.org/drawingml/2006/main">
              <a:ext uri="{FF2B5EF4-FFF2-40B4-BE49-F238E27FC236}">
                <a16:creationId xmlns:a16="http://schemas.microsoft.com/office/drawing/2014/main" id="{0F868F61-8441-4C8A-9EFC-38082C88847B}"/>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158" name="Google Shape;158;p8">
            <a:extLst xmlns:a="http://schemas.openxmlformats.org/drawingml/2006/main">
              <a:ext uri="{FF2B5EF4-FFF2-40B4-BE49-F238E27FC236}">
                <a16:creationId xmlns:a16="http://schemas.microsoft.com/office/drawing/2014/main" id="{497FDE78-5EA4-481B-9D79-9D37D670069A}"/>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Mean, Median, and Range</a:t>
            </a:r>
          </a:p>
        </p:txBody>
      </p:sp>
      <p:sp>
        <p:nvSpPr>
          <p:cNvPr id="159" name="Google Shape;159;p8">
            <a:extLst xmlns:a="http://schemas.openxmlformats.org/drawingml/2006/main">
              <a:ext uri="{FF2B5EF4-FFF2-40B4-BE49-F238E27FC236}">
                <a16:creationId xmlns:a16="http://schemas.microsoft.com/office/drawing/2014/main" id="{83EF6D1A-85B4-4DAD-928C-E042C3B7A2C1}"/>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0" name="Google Shape;160;p8">
            <a:extLst xmlns:a="http://schemas.openxmlformats.org/drawingml/2006/main">
              <a:ext uri="{FF2B5EF4-FFF2-40B4-BE49-F238E27FC236}">
                <a16:creationId xmlns:a16="http://schemas.microsoft.com/office/drawing/2014/main" id="{A39A81A5-B445-440D-85BB-9474F4BDBE04}"/>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Simple summaries are often the most useful first analysis.</a:t>
            </a:r>
          </a:p>
        </p:txBody>
      </p:sp>
      <p:sp>
        <p:nvSpPr>
          <p:cNvPr id="161" name="Google Shape;161;p8">
            <a:extLst xmlns:a="http://schemas.openxmlformats.org/drawingml/2006/main">
              <a:ext uri="{FF2B5EF4-FFF2-40B4-BE49-F238E27FC236}">
                <a16:creationId xmlns:a16="http://schemas.microsoft.com/office/drawing/2014/main" id="{7FDA9F9A-FF47-4795-8D4F-A17DB3EF3B51}"/>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06</a:t>
            </a:r>
          </a:p>
        </p:txBody>
      </p:sp>
      <p:sp>
        <p:nvSpPr>
          <p:cNvPr id="162" name="Google Shape;162;p8">
            <a:extLst xmlns:a="http://schemas.openxmlformats.org/drawingml/2006/main">
              <a:ext uri="{FF2B5EF4-FFF2-40B4-BE49-F238E27FC236}">
                <a16:creationId xmlns:a16="http://schemas.microsoft.com/office/drawing/2014/main" id="{2FD2AF79-60E7-4661-8B5B-BFD81890B606}"/>
              </a:ext>
            </a:extLst>
          </p:cNvPr>
          <p:cNvSpPr>
            <a:spLocks xmlns:a="http://schemas.openxmlformats.org/drawingml/2006/main" noGrp="1"/>
          </p:cNvSpPr>
          <p:nvPr/>
        </p:nvSpPr>
        <p:spPr>
          <a:xfrm xmlns:a="http://schemas.openxmlformats.org/drawingml/2006/main">
            <a:off x="868680" y="1828800"/>
            <a:ext cx="3200400" cy="2286000"/>
          </a:xfrm>
          <a:prstGeom xmlns:a="http://schemas.openxmlformats.org/drawingml/2006/main" prst="roundRect">
            <a:avLst>
              <a:gd name="adj" fmla="val 2400"/>
            </a:avLst>
          </a:prstGeom>
          <a:solidFill xmlns:a="http://schemas.openxmlformats.org/drawingml/2006/main">
            <a:srgbClr val="1A1A1A"/>
          </a:solidFill>
          <a:ln xmlns:a="http://schemas.openxmlformats.org/drawingml/2006/main" w="12700" cmpd="sng">
            <a:solidFill>
              <a:srgbClr val="D71920">
                <a:alpha val="6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3" name="Google Shape;163;p8">
            <a:extLst xmlns:a="http://schemas.openxmlformats.org/drawingml/2006/main">
              <a:ext uri="{FF2B5EF4-FFF2-40B4-BE49-F238E27FC236}">
                <a16:creationId xmlns:a16="http://schemas.microsoft.com/office/drawing/2014/main" id="{9DDFE9F4-14B3-4DB6-A00F-073EDECA09F2}"/>
              </a:ext>
            </a:extLst>
          </p:cNvPr>
          <p:cNvSpPr>
            <a:spLocks xmlns:a="http://schemas.openxmlformats.org/drawingml/2006/main" noGrp="1"/>
          </p:cNvSpPr>
          <p:nvPr/>
        </p:nvSpPr>
        <p:spPr>
          <a:xfrm xmlns:a="http://schemas.openxmlformats.org/drawingml/2006/main">
            <a:off x="1033272" y="2084832"/>
            <a:ext cx="28346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D71920"/>
              </a:buClr>
              <a:buSzPts val="2000"/>
              <a:buFont typeface="Arial"/>
              <a:buNone/>
            </a:pPr>
            <a:r>
              <a:rPr sz="2000" b="1" i="0" u="none" cap="none">
                <a:solidFill>
                  <a:srgbClr val="D71920"/>
                </a:solidFill>
                <a:latin typeface="Arial"/>
                <a:ea typeface="Arial"/>
                <a:cs typeface="Arial"/>
              </a:rPr>
              <a:t>Mean</a:t>
            </a:r>
          </a:p>
        </p:txBody>
      </p:sp>
      <p:sp>
        <p:nvSpPr>
          <p:cNvPr id="164" name="Google Shape;164;p8">
            <a:extLst xmlns:a="http://schemas.openxmlformats.org/drawingml/2006/main">
              <a:ext uri="{FF2B5EF4-FFF2-40B4-BE49-F238E27FC236}">
                <a16:creationId xmlns:a16="http://schemas.microsoft.com/office/drawing/2014/main" id="{BD8C6CB3-B198-4E6F-B691-175815CC89BB}"/>
              </a:ext>
            </a:extLst>
          </p:cNvPr>
          <p:cNvSpPr>
            <a:spLocks xmlns:a="http://schemas.openxmlformats.org/drawingml/2006/main" noGrp="1"/>
          </p:cNvSpPr>
          <p:nvPr/>
        </p:nvSpPr>
        <p:spPr>
          <a:xfrm xmlns:a="http://schemas.openxmlformats.org/drawingml/2006/main">
            <a:off x="1097280" y="2697480"/>
            <a:ext cx="27432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400"/>
              <a:buFont typeface="Arial"/>
              <a:buNone/>
            </a:pPr>
            <a:r>
              <a:rPr sz="1400" b="0" i="0" u="none" cap="none">
                <a:solidFill>
                  <a:srgbClr val="FFFFFF"/>
                </a:solidFill>
                <a:latin typeface="Arial"/>
                <a:ea typeface="Arial"/>
                <a:cs typeface="Arial"/>
              </a:rPr>
              <a:t>Useful for repeated measurements when values are reasonably consistent.</a:t>
            </a:r>
          </a:p>
        </p:txBody>
      </p:sp>
      <p:sp>
        <p:nvSpPr>
          <p:cNvPr id="165" name="Google Shape;165;p8">
            <a:extLst xmlns:a="http://schemas.openxmlformats.org/drawingml/2006/main">
              <a:ext uri="{FF2B5EF4-FFF2-40B4-BE49-F238E27FC236}">
                <a16:creationId xmlns:a16="http://schemas.microsoft.com/office/drawing/2014/main" id="{1D2BC69F-18FB-4ECC-BD04-B6A4FBC15384}"/>
              </a:ext>
            </a:extLst>
          </p:cNvPr>
          <p:cNvSpPr>
            <a:spLocks xmlns:a="http://schemas.openxmlformats.org/drawingml/2006/main" noGrp="1"/>
          </p:cNvSpPr>
          <p:nvPr/>
        </p:nvSpPr>
        <p:spPr>
          <a:xfrm xmlns:a="http://schemas.openxmlformats.org/drawingml/2006/main">
            <a:off x="4617720" y="1828800"/>
            <a:ext cx="3200400" cy="2286000"/>
          </a:xfrm>
          <a:prstGeom xmlns:a="http://schemas.openxmlformats.org/drawingml/2006/main" prst="roundRect">
            <a:avLst>
              <a:gd name="adj" fmla="val 2400"/>
            </a:avLst>
          </a:prstGeom>
          <a:solidFill xmlns:a="http://schemas.openxmlformats.org/drawingml/2006/main">
            <a:srgbClr val="1A1A1A"/>
          </a:solidFill>
          <a:ln xmlns:a="http://schemas.openxmlformats.org/drawingml/2006/main" w="12700" cmpd="sng">
            <a:solidFill>
              <a:srgbClr val="D71920">
                <a:alpha val="6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6" name="Google Shape;166;p8">
            <a:extLst xmlns:a="http://schemas.openxmlformats.org/drawingml/2006/main">
              <a:ext uri="{FF2B5EF4-FFF2-40B4-BE49-F238E27FC236}">
                <a16:creationId xmlns:a16="http://schemas.microsoft.com/office/drawing/2014/main" id="{DCDA24A9-3E5A-486D-8E6C-D12903947346}"/>
              </a:ext>
            </a:extLst>
          </p:cNvPr>
          <p:cNvSpPr>
            <a:spLocks xmlns:a="http://schemas.openxmlformats.org/drawingml/2006/main" noGrp="1"/>
          </p:cNvSpPr>
          <p:nvPr/>
        </p:nvSpPr>
        <p:spPr>
          <a:xfrm xmlns:a="http://schemas.openxmlformats.org/drawingml/2006/main">
            <a:off x="4782312" y="2084832"/>
            <a:ext cx="28346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D71920"/>
              </a:buClr>
              <a:buSzPts val="2000"/>
              <a:buFont typeface="Arial"/>
              <a:buNone/>
            </a:pPr>
            <a:r>
              <a:rPr sz="2000" b="1" i="0" u="none" cap="none">
                <a:solidFill>
                  <a:srgbClr val="D71920"/>
                </a:solidFill>
                <a:latin typeface="Arial"/>
                <a:ea typeface="Arial"/>
                <a:cs typeface="Arial"/>
              </a:rPr>
              <a:t>Median</a:t>
            </a:r>
          </a:p>
        </p:txBody>
      </p:sp>
      <p:sp>
        <p:nvSpPr>
          <p:cNvPr id="167" name="Google Shape;167;p8">
            <a:extLst xmlns:a="http://schemas.openxmlformats.org/drawingml/2006/main">
              <a:ext uri="{FF2B5EF4-FFF2-40B4-BE49-F238E27FC236}">
                <a16:creationId xmlns:a16="http://schemas.microsoft.com/office/drawing/2014/main" id="{F7BBEE7D-7DC5-40A4-877B-A4C54DF127AF}"/>
              </a:ext>
            </a:extLst>
          </p:cNvPr>
          <p:cNvSpPr>
            <a:spLocks xmlns:a="http://schemas.openxmlformats.org/drawingml/2006/main" noGrp="1"/>
          </p:cNvSpPr>
          <p:nvPr/>
        </p:nvSpPr>
        <p:spPr>
          <a:xfrm xmlns:a="http://schemas.openxmlformats.org/drawingml/2006/main">
            <a:off x="4846320" y="2697480"/>
            <a:ext cx="27432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400"/>
              <a:buFont typeface="Arial"/>
              <a:buNone/>
            </a:pPr>
            <a:r>
              <a:rPr sz="1400" b="0" i="0" u="none" cap="none">
                <a:solidFill>
                  <a:srgbClr val="FFFFFF"/>
                </a:solidFill>
                <a:latin typeface="Arial"/>
                <a:ea typeface="Arial"/>
                <a:cs typeface="Arial"/>
              </a:rPr>
              <a:t>Useful when one extreme value may distort the average.</a:t>
            </a:r>
          </a:p>
        </p:txBody>
      </p:sp>
      <p:sp>
        <p:nvSpPr>
          <p:cNvPr id="168" name="Google Shape;168;p8">
            <a:extLst xmlns:a="http://schemas.openxmlformats.org/drawingml/2006/main">
              <a:ext uri="{FF2B5EF4-FFF2-40B4-BE49-F238E27FC236}">
                <a16:creationId xmlns:a16="http://schemas.microsoft.com/office/drawing/2014/main" id="{94283AC3-A7F6-4F1B-A99A-E37BA1F07729}"/>
              </a:ext>
            </a:extLst>
          </p:cNvPr>
          <p:cNvSpPr>
            <a:spLocks xmlns:a="http://schemas.openxmlformats.org/drawingml/2006/main" noGrp="1"/>
          </p:cNvSpPr>
          <p:nvPr/>
        </p:nvSpPr>
        <p:spPr>
          <a:xfrm xmlns:a="http://schemas.openxmlformats.org/drawingml/2006/main">
            <a:off x="8366760" y="1828800"/>
            <a:ext cx="3200400" cy="2286000"/>
          </a:xfrm>
          <a:prstGeom xmlns:a="http://schemas.openxmlformats.org/drawingml/2006/main" prst="roundRect">
            <a:avLst>
              <a:gd name="adj" fmla="val 2400"/>
            </a:avLst>
          </a:prstGeom>
          <a:solidFill xmlns:a="http://schemas.openxmlformats.org/drawingml/2006/main">
            <a:srgbClr val="1A1A1A"/>
          </a:solidFill>
          <a:ln xmlns:a="http://schemas.openxmlformats.org/drawingml/2006/main" w="12700" cmpd="sng">
            <a:solidFill>
              <a:srgbClr val="D71920">
                <a:alpha val="6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9" name="Google Shape;169;p8">
            <a:extLst xmlns:a="http://schemas.openxmlformats.org/drawingml/2006/main">
              <a:ext uri="{FF2B5EF4-FFF2-40B4-BE49-F238E27FC236}">
                <a16:creationId xmlns:a16="http://schemas.microsoft.com/office/drawing/2014/main" id="{8E9E8952-9240-43A6-8075-FE9778C332E1}"/>
              </a:ext>
            </a:extLst>
          </p:cNvPr>
          <p:cNvSpPr>
            <a:spLocks xmlns:a="http://schemas.openxmlformats.org/drawingml/2006/main" noGrp="1"/>
          </p:cNvSpPr>
          <p:nvPr/>
        </p:nvSpPr>
        <p:spPr>
          <a:xfrm xmlns:a="http://schemas.openxmlformats.org/drawingml/2006/main">
            <a:off x="8531352" y="2084832"/>
            <a:ext cx="28346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D71920"/>
              </a:buClr>
              <a:buSzPts val="2000"/>
              <a:buFont typeface="Arial"/>
              <a:buNone/>
            </a:pPr>
            <a:r>
              <a:rPr sz="2000" b="1" i="0" u="none" cap="none">
                <a:solidFill>
                  <a:srgbClr val="D71920"/>
                </a:solidFill>
                <a:latin typeface="Arial"/>
                <a:ea typeface="Arial"/>
                <a:cs typeface="Arial"/>
              </a:rPr>
              <a:t>Range</a:t>
            </a:r>
          </a:p>
        </p:txBody>
      </p:sp>
      <p:sp>
        <p:nvSpPr>
          <p:cNvPr id="170" name="Google Shape;170;p8">
            <a:extLst xmlns:a="http://schemas.openxmlformats.org/drawingml/2006/main">
              <a:ext uri="{FF2B5EF4-FFF2-40B4-BE49-F238E27FC236}">
                <a16:creationId xmlns:a16="http://schemas.microsoft.com/office/drawing/2014/main" id="{0CDDA31E-B599-4B31-9035-600C5F87960A}"/>
              </a:ext>
            </a:extLst>
          </p:cNvPr>
          <p:cNvSpPr>
            <a:spLocks xmlns:a="http://schemas.openxmlformats.org/drawingml/2006/main" noGrp="1"/>
          </p:cNvSpPr>
          <p:nvPr/>
        </p:nvSpPr>
        <p:spPr>
          <a:xfrm xmlns:a="http://schemas.openxmlformats.org/drawingml/2006/main">
            <a:off x="8595360" y="2697480"/>
            <a:ext cx="27432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400"/>
              <a:buFont typeface="Arial"/>
              <a:buNone/>
            </a:pPr>
            <a:r>
              <a:rPr sz="1400" b="0" i="0" u="none" cap="none">
                <a:solidFill>
                  <a:srgbClr val="FFFFFF"/>
                </a:solidFill>
                <a:latin typeface="Arial"/>
                <a:ea typeface="Arial"/>
                <a:cs typeface="Arial"/>
              </a:rPr>
              <a:t>Shows the spread between highest and lowest values.</a:t>
            </a:r>
          </a:p>
        </p:txBody>
      </p:sp>
      <p:sp>
        <p:nvSpPr>
          <p:cNvPr id="171" name="Google Shape;171;p8">
            <a:extLst xmlns:a="http://schemas.openxmlformats.org/drawingml/2006/main">
              <a:ext uri="{FF2B5EF4-FFF2-40B4-BE49-F238E27FC236}">
                <a16:creationId xmlns:a16="http://schemas.microsoft.com/office/drawing/2014/main" id="{93647F5F-BCE1-4141-BEF1-DA425F5BA4DF}"/>
              </a:ext>
            </a:extLst>
          </p:cNvPr>
          <p:cNvSpPr>
            <a:spLocks xmlns:a="http://schemas.openxmlformats.org/drawingml/2006/main" noGrp="1"/>
          </p:cNvSpPr>
          <p:nvPr/>
        </p:nvSpPr>
        <p:spPr>
          <a:xfrm xmlns:a="http://schemas.openxmlformats.org/drawingml/2006/main">
            <a:off x="777240" y="5166360"/>
            <a:ext cx="10652760" cy="960120"/>
          </a:xfrm>
          <a:prstGeom xmlns:a="http://schemas.openxmlformats.org/drawingml/2006/main" prst="roundRect">
            <a:avLst>
              <a:gd name="adj" fmla="val 7619"/>
            </a:avLst>
          </a:prstGeom>
          <a:solidFill xmlns:a="http://schemas.openxmlformats.org/drawingml/2006/main">
            <a:srgbClr val="151515"/>
          </a:solidFill>
          <a:ln xmlns:a="http://schemas.openxmlformats.org/drawingml/2006/main" w="12700" cmpd="sng">
            <a:solidFill>
              <a:srgbClr val="D71920">
                <a:alpha val="50196"/>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2" name="Google Shape;172;p8">
            <a:extLst xmlns:a="http://schemas.openxmlformats.org/drawingml/2006/main">
              <a:ext uri="{FF2B5EF4-FFF2-40B4-BE49-F238E27FC236}">
                <a16:creationId xmlns:a16="http://schemas.microsoft.com/office/drawing/2014/main" id="{F5E6722F-3E5E-4AB5-9920-E2D34B914203}"/>
              </a:ext>
            </a:extLst>
          </p:cNvPr>
          <p:cNvSpPr>
            <a:spLocks xmlns:a="http://schemas.openxmlformats.org/drawingml/2006/main" noGrp="1"/>
          </p:cNvSpPr>
          <p:nvPr/>
        </p:nvSpPr>
        <p:spPr>
          <a:xfrm xmlns:a="http://schemas.openxmlformats.org/drawingml/2006/main">
            <a:off x="1024128" y="5376672"/>
            <a:ext cx="1874520" cy="1463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850"/>
              <a:buFont typeface="Arial"/>
              <a:buNone/>
            </a:pPr>
            <a:r>
              <a:rPr sz="850" b="1" i="0" u="none" cap="none">
                <a:solidFill>
                  <a:srgbClr val="D71920"/>
                </a:solidFill>
                <a:latin typeface="Arial"/>
                <a:ea typeface="Arial"/>
                <a:cs typeface="Arial"/>
              </a:rPr>
              <a:t>STUDENT ACTIVITY</a:t>
            </a:r>
          </a:p>
        </p:txBody>
      </p:sp>
      <p:sp>
        <p:nvSpPr>
          <p:cNvPr id="173" name="Google Shape;173;p8">
            <a:extLst xmlns:a="http://schemas.openxmlformats.org/drawingml/2006/main">
              <a:ext uri="{FF2B5EF4-FFF2-40B4-BE49-F238E27FC236}">
                <a16:creationId xmlns:a16="http://schemas.microsoft.com/office/drawing/2014/main" id="{1061855D-1C5E-4435-9E5E-B821FBEEAE92}"/>
              </a:ext>
            </a:extLst>
          </p:cNvPr>
          <p:cNvSpPr>
            <a:spLocks xmlns:a="http://schemas.openxmlformats.org/drawingml/2006/main" noGrp="1"/>
          </p:cNvSpPr>
          <p:nvPr/>
        </p:nvSpPr>
        <p:spPr>
          <a:xfrm xmlns:a="http://schemas.openxmlformats.org/drawingml/2006/main">
            <a:off x="1024128" y="5596128"/>
            <a:ext cx="42976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600"/>
              <a:buFont typeface="Arial"/>
              <a:buNone/>
            </a:pPr>
            <a:r>
              <a:rPr sz="1600" b="1" i="0" u="none" cap="none">
                <a:solidFill>
                  <a:srgbClr val="FFFFFF"/>
                </a:solidFill>
                <a:latin typeface="Arial"/>
                <a:ea typeface="Arial"/>
                <a:cs typeface="Arial"/>
              </a:rPr>
              <a:t>Calculation record</a:t>
            </a:r>
          </a:p>
        </p:txBody>
      </p:sp>
      <p:sp>
        <p:nvSpPr>
          <p:cNvPr id="174" name="Google Shape;174;p8">
            <a:extLst xmlns:a="http://schemas.openxmlformats.org/drawingml/2006/main">
              <a:ext uri="{FF2B5EF4-FFF2-40B4-BE49-F238E27FC236}">
                <a16:creationId xmlns:a16="http://schemas.microsoft.com/office/drawing/2014/main" id="{A4F5F027-7578-43CD-9B89-97AFF571851D}"/>
              </a:ext>
            </a:extLst>
          </p:cNvPr>
          <p:cNvSpPr>
            <a:spLocks xmlns:a="http://schemas.openxmlformats.org/drawingml/2006/main" noGrp="1"/>
          </p:cNvSpPr>
          <p:nvPr/>
        </p:nvSpPr>
        <p:spPr>
          <a:xfrm xmlns:a="http://schemas.openxmlformats.org/drawingml/2006/main">
            <a:off x="5349240" y="5468112"/>
            <a:ext cx="9601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B8B8B8"/>
              </a:buClr>
              <a:buSzPts val="1200"/>
              <a:buFont typeface="Arial"/>
              <a:buNone/>
            </a:pPr>
            <a:r>
              <a:rPr sz="1200" b="1" i="0" u="none" cap="none">
                <a:solidFill>
                  <a:srgbClr val="B8B8B8"/>
                </a:solidFill>
                <a:latin typeface="Arial"/>
                <a:ea typeface="Arial"/>
                <a:cs typeface="Arial"/>
              </a:rPr>
              <a:t>6 MIN</a:t>
            </a:r>
          </a:p>
        </p:txBody>
      </p:sp>
      <p:sp>
        <p:nvSpPr>
          <p:cNvPr id="175" name="Google Shape;175;p8">
            <a:extLst xmlns:a="http://schemas.openxmlformats.org/drawingml/2006/main">
              <a:ext uri="{FF2B5EF4-FFF2-40B4-BE49-F238E27FC236}">
                <a16:creationId xmlns:a16="http://schemas.microsoft.com/office/drawing/2014/main" id="{B40AEB6A-20A1-497D-8999-71910EBC65AA}"/>
              </a:ext>
            </a:extLst>
          </p:cNvPr>
          <p:cNvSpPr>
            <a:spLocks xmlns:a="http://schemas.openxmlformats.org/drawingml/2006/main" noGrp="1"/>
          </p:cNvSpPr>
          <p:nvPr/>
        </p:nvSpPr>
        <p:spPr>
          <a:xfrm xmlns:a="http://schemas.openxmlformats.org/drawingml/2006/main">
            <a:off x="6446520" y="5367528"/>
            <a:ext cx="4663440" cy="4937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50"/>
              <a:buFont typeface="Arial"/>
              <a:buNone/>
            </a:pPr>
            <a:r>
              <a:rPr sz="1250" b="0" i="0" u="none" cap="none">
                <a:solidFill>
                  <a:srgbClr val="B8B8B8"/>
                </a:solidFill>
                <a:latin typeface="Arial"/>
                <a:ea typeface="Arial"/>
                <a:cs typeface="Arial"/>
              </a:rPr>
              <a:t>Use Handout 7 to document the first calculation you expect to make and what it represents.</a:t>
            </a:r>
          </a:p>
        </p:txBody>
      </p:sp>
    </p:spTree>
    <p:extLst>
      <p:ext uri="{BB962C8B-B14F-4D97-AF65-F5344CB8AC3E}">
        <p14:creationId xmlns:p14="http://schemas.microsoft.com/office/powerpoint/2010/main" val="523570885"/>
      </p:ext>
    </p:extLst>
  </p:cSld>
</p:sld>
</file>

<file path=ppt/slides/slide7.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81" name="Google Shape;181;p9">
            <a:extLst xmlns:a="http://schemas.openxmlformats.org/drawingml/2006/main">
              <a:ext uri="{FF2B5EF4-FFF2-40B4-BE49-F238E27FC236}">
                <a16:creationId xmlns:a16="http://schemas.microsoft.com/office/drawing/2014/main" id="{BECC1A22-9F4D-4FFE-AD1B-EE66205F68B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2" name="Google Shape;182;p9">
            <a:extLst xmlns:a="http://schemas.openxmlformats.org/drawingml/2006/main">
              <a:ext uri="{FF2B5EF4-FFF2-40B4-BE49-F238E27FC236}">
                <a16:creationId xmlns:a16="http://schemas.microsoft.com/office/drawing/2014/main" id="{01415CE6-AFE0-4BDF-B14F-EC463787A230}"/>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3" name="Google Shape;183;p9">
            <a:extLst xmlns:a="http://schemas.openxmlformats.org/drawingml/2006/main">
              <a:ext uri="{FF2B5EF4-FFF2-40B4-BE49-F238E27FC236}">
                <a16:creationId xmlns:a16="http://schemas.microsoft.com/office/drawing/2014/main" id="{5D16D120-AAF7-499E-9499-D3FD50648E9C}"/>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4" name="Google Shape;184;p9">
            <a:extLst xmlns:a="http://schemas.openxmlformats.org/drawingml/2006/main">
              <a:ext uri="{FF2B5EF4-FFF2-40B4-BE49-F238E27FC236}">
                <a16:creationId xmlns:a16="http://schemas.microsoft.com/office/drawing/2014/main" id="{00439273-090F-4B5D-909D-1E9A745CDD26}"/>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VARIABILITY</a:t>
            </a:r>
          </a:p>
        </p:txBody>
      </p:sp>
      <p:sp>
        <p:nvSpPr>
          <p:cNvPr id="185" name="Google Shape;185;p9">
            <a:extLst xmlns:a="http://schemas.openxmlformats.org/drawingml/2006/main">
              <a:ext uri="{FF2B5EF4-FFF2-40B4-BE49-F238E27FC236}">
                <a16:creationId xmlns:a16="http://schemas.microsoft.com/office/drawing/2014/main" id="{B3687060-70BF-4DF9-82BB-E8AAE0E09D81}"/>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186" name="Google Shape;186;p9">
            <a:extLst xmlns:a="http://schemas.openxmlformats.org/drawingml/2006/main">
              <a:ext uri="{FF2B5EF4-FFF2-40B4-BE49-F238E27FC236}">
                <a16:creationId xmlns:a16="http://schemas.microsoft.com/office/drawing/2014/main" id="{945982FA-1D06-41C3-8050-097DBF8F9306}"/>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Variability: The Story Behind the Average</a:t>
            </a:r>
          </a:p>
        </p:txBody>
      </p:sp>
      <p:sp>
        <p:nvSpPr>
          <p:cNvPr id="187" name="Google Shape;187;p9">
            <a:extLst xmlns:a="http://schemas.openxmlformats.org/drawingml/2006/main">
              <a:ext uri="{FF2B5EF4-FFF2-40B4-BE49-F238E27FC236}">
                <a16:creationId xmlns:a16="http://schemas.microsoft.com/office/drawing/2014/main" id="{1B64B7DE-0220-4A26-9C9C-CFAC26C675F6}"/>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8" name="Google Shape;188;p9">
            <a:extLst xmlns:a="http://schemas.openxmlformats.org/drawingml/2006/main">
              <a:ext uri="{FF2B5EF4-FFF2-40B4-BE49-F238E27FC236}">
                <a16:creationId xmlns:a16="http://schemas.microsoft.com/office/drawing/2014/main" id="{670CFC85-4740-492D-8F75-1B46FEF5440B}"/>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Two groups can have the same average and very different reliability.</a:t>
            </a:r>
          </a:p>
        </p:txBody>
      </p:sp>
      <p:sp>
        <p:nvSpPr>
          <p:cNvPr id="189" name="Google Shape;189;p9">
            <a:extLst xmlns:a="http://schemas.openxmlformats.org/drawingml/2006/main">
              <a:ext uri="{FF2B5EF4-FFF2-40B4-BE49-F238E27FC236}">
                <a16:creationId xmlns:a16="http://schemas.microsoft.com/office/drawing/2014/main" id="{8DBA1937-ACB6-4FC5-A9E1-92DD61EDEB4C}"/>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07</a:t>
            </a:r>
          </a:p>
        </p:txBody>
      </p:sp>
      <p:sp>
        <p:nvSpPr>
          <p:cNvPr id="190" name="Google Shape;190;p9">
            <a:extLst xmlns:a="http://schemas.openxmlformats.org/drawingml/2006/main">
              <a:ext uri="{FF2B5EF4-FFF2-40B4-BE49-F238E27FC236}">
                <a16:creationId xmlns:a16="http://schemas.microsoft.com/office/drawing/2014/main" id="{3509BA69-C4BD-4962-B4A2-117DADB9E55D}"/>
              </a:ext>
            </a:extLst>
          </p:cNvPr>
          <p:cNvSpPr>
            <a:spLocks xmlns:a="http://schemas.openxmlformats.org/drawingml/2006/main" noGrp="1"/>
          </p:cNvSpPr>
          <p:nvPr/>
        </p:nvSpPr>
        <p:spPr>
          <a:xfrm xmlns:a="http://schemas.openxmlformats.org/drawingml/2006/main">
            <a:off x="914400" y="1417320"/>
            <a:ext cx="100584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D71920"/>
              </a:buClr>
              <a:buSzPts val="2200"/>
              <a:buFont typeface="Arial"/>
              <a:buNone/>
            </a:pPr>
            <a:r>
              <a:rPr sz="2200" b="1" i="0" u="none" cap="none">
                <a:solidFill>
                  <a:srgbClr val="D71920"/>
                </a:solidFill>
                <a:latin typeface="Arial"/>
                <a:ea typeface="Arial"/>
                <a:cs typeface="Arial"/>
              </a:rPr>
              <a:t>Same mean. Different spread.</a:t>
            </a:r>
          </a:p>
        </p:txBody>
      </p:sp>
      <p:sp>
        <p:nvSpPr>
          <p:cNvPr id="191" name="Google Shape;191;p9">
            <a:extLst xmlns:a="http://schemas.openxmlformats.org/drawingml/2006/main">
              <a:ext uri="{FF2B5EF4-FFF2-40B4-BE49-F238E27FC236}">
                <a16:creationId xmlns:a16="http://schemas.microsoft.com/office/drawing/2014/main" id="{B2FF06B5-D76C-44B2-817D-CF1AA483A347}"/>
              </a:ext>
            </a:extLst>
          </p:cNvPr>
          <p:cNvSpPr>
            <a:spLocks xmlns:a="http://schemas.openxmlformats.org/drawingml/2006/main" noGrp="1"/>
          </p:cNvSpPr>
          <p:nvPr/>
        </p:nvSpPr>
        <p:spPr>
          <a:xfrm xmlns:a="http://schemas.openxmlformats.org/drawingml/2006/main">
            <a:off x="1188720" y="2560320"/>
            <a:ext cx="1005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400"/>
              <a:buFont typeface="Arial"/>
              <a:buNone/>
            </a:pPr>
            <a:r>
              <a:rPr sz="1400" b="1" i="0" u="none" cap="none">
                <a:solidFill>
                  <a:srgbClr val="FFFFFF"/>
                </a:solidFill>
                <a:latin typeface="Arial"/>
                <a:ea typeface="Arial"/>
                <a:cs typeface="Arial"/>
              </a:rPr>
              <a:t>Group A</a:t>
            </a:r>
          </a:p>
        </p:txBody>
      </p:sp>
      <p:sp>
        <p:nvSpPr>
          <p:cNvPr id="192" name="Google Shape;192;p9">
            <a:extLst xmlns:a="http://schemas.openxmlformats.org/drawingml/2006/main">
              <a:ext uri="{FF2B5EF4-FFF2-40B4-BE49-F238E27FC236}">
                <a16:creationId xmlns:a16="http://schemas.microsoft.com/office/drawing/2014/main" id="{C714F323-39FB-48ED-AAFF-268797FB363B}"/>
              </a:ext>
            </a:extLst>
          </p:cNvPr>
          <p:cNvSpPr>
            <a:spLocks xmlns:a="http://schemas.openxmlformats.org/drawingml/2006/main" noGrp="1"/>
          </p:cNvSpPr>
          <p:nvPr/>
        </p:nvSpPr>
        <p:spPr>
          <a:xfrm xmlns:a="http://schemas.openxmlformats.org/drawingml/2006/main">
            <a:off x="4206240" y="2743200"/>
            <a:ext cx="146304" cy="146304"/>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3" name="Google Shape;193;p9">
            <a:extLst xmlns:a="http://schemas.openxmlformats.org/drawingml/2006/main">
              <a:ext uri="{FF2B5EF4-FFF2-40B4-BE49-F238E27FC236}">
                <a16:creationId xmlns:a16="http://schemas.microsoft.com/office/drawing/2014/main" id="{7668F034-B124-4467-B090-B9FAAE7A8000}"/>
              </a:ext>
            </a:extLst>
          </p:cNvPr>
          <p:cNvSpPr>
            <a:spLocks xmlns:a="http://schemas.openxmlformats.org/drawingml/2006/main" noGrp="1"/>
          </p:cNvSpPr>
          <p:nvPr/>
        </p:nvSpPr>
        <p:spPr>
          <a:xfrm xmlns:a="http://schemas.openxmlformats.org/drawingml/2006/main">
            <a:off x="4434840" y="2743200"/>
            <a:ext cx="146304" cy="146304"/>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4" name="Google Shape;194;p9">
            <a:extLst xmlns:a="http://schemas.openxmlformats.org/drawingml/2006/main">
              <a:ext uri="{FF2B5EF4-FFF2-40B4-BE49-F238E27FC236}">
                <a16:creationId xmlns:a16="http://schemas.microsoft.com/office/drawing/2014/main" id="{F44E9181-53E5-4081-8E3E-1281F08B4D1F}"/>
              </a:ext>
            </a:extLst>
          </p:cNvPr>
          <p:cNvSpPr>
            <a:spLocks xmlns:a="http://schemas.openxmlformats.org/drawingml/2006/main" noGrp="1"/>
          </p:cNvSpPr>
          <p:nvPr/>
        </p:nvSpPr>
        <p:spPr>
          <a:xfrm xmlns:a="http://schemas.openxmlformats.org/drawingml/2006/main">
            <a:off x="4663440" y="2743200"/>
            <a:ext cx="146304" cy="146304"/>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5" name="Google Shape;195;p9">
            <a:extLst xmlns:a="http://schemas.openxmlformats.org/drawingml/2006/main">
              <a:ext uri="{FF2B5EF4-FFF2-40B4-BE49-F238E27FC236}">
                <a16:creationId xmlns:a16="http://schemas.microsoft.com/office/drawing/2014/main" id="{1D1CEC19-1FD7-45F2-9AF6-C0FF9BAE6097}"/>
              </a:ext>
            </a:extLst>
          </p:cNvPr>
          <p:cNvSpPr>
            <a:spLocks xmlns:a="http://schemas.openxmlformats.org/drawingml/2006/main" noGrp="1"/>
          </p:cNvSpPr>
          <p:nvPr/>
        </p:nvSpPr>
        <p:spPr>
          <a:xfrm xmlns:a="http://schemas.openxmlformats.org/drawingml/2006/main">
            <a:off x="4892040" y="2743200"/>
            <a:ext cx="146304" cy="146304"/>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6" name="Google Shape;196;p9">
            <a:extLst xmlns:a="http://schemas.openxmlformats.org/drawingml/2006/main">
              <a:ext uri="{FF2B5EF4-FFF2-40B4-BE49-F238E27FC236}">
                <a16:creationId xmlns:a16="http://schemas.microsoft.com/office/drawing/2014/main" id="{C9BC7C2E-1BEB-4C0A-BEDE-74C0D061D230}"/>
              </a:ext>
            </a:extLst>
          </p:cNvPr>
          <p:cNvSpPr>
            <a:spLocks xmlns:a="http://schemas.openxmlformats.org/drawingml/2006/main" noGrp="1"/>
          </p:cNvSpPr>
          <p:nvPr/>
        </p:nvSpPr>
        <p:spPr>
          <a:xfrm xmlns:a="http://schemas.openxmlformats.org/drawingml/2006/main">
            <a:off x="5120640" y="2743200"/>
            <a:ext cx="146304" cy="146304"/>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7" name="Google Shape;197;p9">
            <a:extLst xmlns:a="http://schemas.openxmlformats.org/drawingml/2006/main">
              <a:ext uri="{FF2B5EF4-FFF2-40B4-BE49-F238E27FC236}">
                <a16:creationId xmlns:a16="http://schemas.microsoft.com/office/drawing/2014/main" id="{7913BCE5-94D5-45D1-85B0-4E36807EB08A}"/>
              </a:ext>
            </a:extLst>
          </p:cNvPr>
          <p:cNvSpPr>
            <a:spLocks xmlns:a="http://schemas.openxmlformats.org/drawingml/2006/main" noGrp="1"/>
          </p:cNvSpPr>
          <p:nvPr/>
        </p:nvSpPr>
        <p:spPr>
          <a:xfrm xmlns:a="http://schemas.openxmlformats.org/drawingml/2006/main">
            <a:off x="6400800" y="2514600"/>
            <a:ext cx="21031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400"/>
              <a:buFont typeface="Arial"/>
              <a:buNone/>
            </a:pPr>
            <a:r>
              <a:rPr sz="1400" b="0" i="0" u="none" cap="none">
                <a:solidFill>
                  <a:srgbClr val="B8B8B8"/>
                </a:solidFill>
                <a:latin typeface="Arial"/>
                <a:ea typeface="Arial"/>
                <a:cs typeface="Arial"/>
              </a:rPr>
              <a:t>tight spread</a:t>
            </a:r>
          </a:p>
        </p:txBody>
      </p:sp>
      <p:sp>
        <p:nvSpPr>
          <p:cNvPr id="198" name="Google Shape;198;p9">
            <a:extLst xmlns:a="http://schemas.openxmlformats.org/drawingml/2006/main">
              <a:ext uri="{FF2B5EF4-FFF2-40B4-BE49-F238E27FC236}">
                <a16:creationId xmlns:a16="http://schemas.microsoft.com/office/drawing/2014/main" id="{DEAF2D05-F9EF-4533-91BC-167B0C03E53C}"/>
              </a:ext>
            </a:extLst>
          </p:cNvPr>
          <p:cNvSpPr>
            <a:spLocks xmlns:a="http://schemas.openxmlformats.org/drawingml/2006/main" noGrp="1"/>
          </p:cNvSpPr>
          <p:nvPr/>
        </p:nvSpPr>
        <p:spPr>
          <a:xfrm xmlns:a="http://schemas.openxmlformats.org/drawingml/2006/main">
            <a:off x="1188720" y="3794760"/>
            <a:ext cx="1005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400"/>
              <a:buFont typeface="Arial"/>
              <a:buNone/>
            </a:pPr>
            <a:r>
              <a:rPr sz="1400" b="1" i="0" u="none" cap="none">
                <a:solidFill>
                  <a:srgbClr val="FFFFFF"/>
                </a:solidFill>
                <a:latin typeface="Arial"/>
                <a:ea typeface="Arial"/>
                <a:cs typeface="Arial"/>
              </a:rPr>
              <a:t>Group B</a:t>
            </a:r>
          </a:p>
        </p:txBody>
      </p:sp>
      <p:sp>
        <p:nvSpPr>
          <p:cNvPr id="199" name="Google Shape;199;p9">
            <a:extLst xmlns:a="http://schemas.openxmlformats.org/drawingml/2006/main">
              <a:ext uri="{FF2B5EF4-FFF2-40B4-BE49-F238E27FC236}">
                <a16:creationId xmlns:a16="http://schemas.microsoft.com/office/drawing/2014/main" id="{5E6F84C0-CD92-485C-96AE-505E2FE06F22}"/>
              </a:ext>
            </a:extLst>
          </p:cNvPr>
          <p:cNvSpPr>
            <a:spLocks xmlns:a="http://schemas.openxmlformats.org/drawingml/2006/main" noGrp="1"/>
          </p:cNvSpPr>
          <p:nvPr/>
        </p:nvSpPr>
        <p:spPr>
          <a:xfrm xmlns:a="http://schemas.openxmlformats.org/drawingml/2006/main">
            <a:off x="3291840" y="3977640"/>
            <a:ext cx="146304" cy="146304"/>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0" name="Google Shape;200;p9">
            <a:extLst xmlns:a="http://schemas.openxmlformats.org/drawingml/2006/main">
              <a:ext uri="{FF2B5EF4-FFF2-40B4-BE49-F238E27FC236}">
                <a16:creationId xmlns:a16="http://schemas.microsoft.com/office/drawing/2014/main" id="{D2B8ECBF-6F30-4D88-9666-F335FB6E8B7C}"/>
              </a:ext>
            </a:extLst>
          </p:cNvPr>
          <p:cNvSpPr>
            <a:spLocks xmlns:a="http://schemas.openxmlformats.org/drawingml/2006/main" noGrp="1"/>
          </p:cNvSpPr>
          <p:nvPr/>
        </p:nvSpPr>
        <p:spPr>
          <a:xfrm xmlns:a="http://schemas.openxmlformats.org/drawingml/2006/main">
            <a:off x="3840480" y="3977640"/>
            <a:ext cx="146304" cy="146304"/>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1" name="Google Shape;201;p9">
            <a:extLst xmlns:a="http://schemas.openxmlformats.org/drawingml/2006/main">
              <a:ext uri="{FF2B5EF4-FFF2-40B4-BE49-F238E27FC236}">
                <a16:creationId xmlns:a16="http://schemas.microsoft.com/office/drawing/2014/main" id="{883F1CC2-2642-4205-8FD1-03AD8406F5EC}"/>
              </a:ext>
            </a:extLst>
          </p:cNvPr>
          <p:cNvSpPr>
            <a:spLocks xmlns:a="http://schemas.openxmlformats.org/drawingml/2006/main" noGrp="1"/>
          </p:cNvSpPr>
          <p:nvPr/>
        </p:nvSpPr>
        <p:spPr>
          <a:xfrm xmlns:a="http://schemas.openxmlformats.org/drawingml/2006/main">
            <a:off x="4663440" y="3977640"/>
            <a:ext cx="146304" cy="146304"/>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2" name="Google Shape;202;p9">
            <a:extLst xmlns:a="http://schemas.openxmlformats.org/drawingml/2006/main">
              <a:ext uri="{FF2B5EF4-FFF2-40B4-BE49-F238E27FC236}">
                <a16:creationId xmlns:a16="http://schemas.microsoft.com/office/drawing/2014/main" id="{AB5C6E9B-1CF5-46F4-9093-32B04BD62CA0}"/>
              </a:ext>
            </a:extLst>
          </p:cNvPr>
          <p:cNvSpPr>
            <a:spLocks xmlns:a="http://schemas.openxmlformats.org/drawingml/2006/main" noGrp="1"/>
          </p:cNvSpPr>
          <p:nvPr/>
        </p:nvSpPr>
        <p:spPr>
          <a:xfrm xmlns:a="http://schemas.openxmlformats.org/drawingml/2006/main">
            <a:off x="5486400" y="3977640"/>
            <a:ext cx="146304" cy="146304"/>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3" name="Google Shape;203;p9">
            <a:extLst xmlns:a="http://schemas.openxmlformats.org/drawingml/2006/main">
              <a:ext uri="{FF2B5EF4-FFF2-40B4-BE49-F238E27FC236}">
                <a16:creationId xmlns:a16="http://schemas.microsoft.com/office/drawing/2014/main" id="{4791130F-7801-4E45-A216-C756E3C977E8}"/>
              </a:ext>
            </a:extLst>
          </p:cNvPr>
          <p:cNvSpPr>
            <a:spLocks xmlns:a="http://schemas.openxmlformats.org/drawingml/2006/main" noGrp="1"/>
          </p:cNvSpPr>
          <p:nvPr/>
        </p:nvSpPr>
        <p:spPr>
          <a:xfrm xmlns:a="http://schemas.openxmlformats.org/drawingml/2006/main">
            <a:off x="6035040" y="3977640"/>
            <a:ext cx="146304" cy="146304"/>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4" name="Google Shape;204;p9">
            <a:extLst xmlns:a="http://schemas.openxmlformats.org/drawingml/2006/main">
              <a:ext uri="{FF2B5EF4-FFF2-40B4-BE49-F238E27FC236}">
                <a16:creationId xmlns:a16="http://schemas.microsoft.com/office/drawing/2014/main" id="{BC8ED109-F2AA-471B-8053-E388F8E1CD98}"/>
              </a:ext>
            </a:extLst>
          </p:cNvPr>
          <p:cNvSpPr>
            <a:spLocks xmlns:a="http://schemas.openxmlformats.org/drawingml/2006/main" noGrp="1"/>
          </p:cNvSpPr>
          <p:nvPr/>
        </p:nvSpPr>
        <p:spPr>
          <a:xfrm xmlns:a="http://schemas.openxmlformats.org/drawingml/2006/main">
            <a:off x="6400800" y="3749040"/>
            <a:ext cx="21031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400"/>
              <a:buFont typeface="Arial"/>
              <a:buNone/>
            </a:pPr>
            <a:r>
              <a:rPr sz="1400" b="0" i="0" u="none" cap="none">
                <a:solidFill>
                  <a:srgbClr val="B8B8B8"/>
                </a:solidFill>
                <a:latin typeface="Arial"/>
                <a:ea typeface="Arial"/>
                <a:cs typeface="Arial"/>
              </a:rPr>
              <a:t>wide spread</a:t>
            </a:r>
          </a:p>
        </p:txBody>
      </p:sp>
      <p:cxnSp>
        <p:nvCxnSpPr>
          <p:cNvPr id="231" name="Google Shape;205;p9"/>
          <p:cNvCxnSpPr/>
          <p:nvPr/>
        </p:nvCxnSpPr>
        <p:spPr>
          <a:xfrm xmlns:a="http://schemas.openxmlformats.org/drawingml/2006/main">
            <a:off x="2834640" y="4709160"/>
            <a:ext cx="4389120" cy="0"/>
          </a:xfrm>
          <a:prstGeom xmlns:a="http://schemas.openxmlformats.org/drawingml/2006/main" prst="straightConnector1">
            <a:avLst/>
          </a:prstGeom>
          <a:ln xmlns:a="http://schemas.openxmlformats.org/drawingml/2006/main" w="12700" cap="flat">
            <a:solidFill>
              <a:srgbClr val="B8B8B8"/>
            </a:solidFill>
            <a:prstDash val="solid"/>
            <a:round/>
            <a:headEnd type="none" w="sm" len="sm"/>
            <a:tailEnd type="none" w="sm" len="sm"/>
          </a:ln>
        </p:spPr>
      </p:cxnSp>
      <p:sp>
        <p:nvSpPr>
          <p:cNvPr id="206" name="Google Shape;206;p9">
            <a:extLst xmlns:a="http://schemas.openxmlformats.org/drawingml/2006/main">
              <a:ext uri="{FF2B5EF4-FFF2-40B4-BE49-F238E27FC236}">
                <a16:creationId xmlns:a16="http://schemas.microsoft.com/office/drawing/2014/main" id="{A0C856DB-5BF3-45B1-B190-552B926A5C3D}"/>
              </a:ext>
            </a:extLst>
          </p:cNvPr>
          <p:cNvSpPr>
            <a:spLocks xmlns:a="http://schemas.openxmlformats.org/drawingml/2006/main" noGrp="1"/>
          </p:cNvSpPr>
          <p:nvPr/>
        </p:nvSpPr>
        <p:spPr>
          <a:xfrm xmlns:a="http://schemas.openxmlformats.org/drawingml/2006/main">
            <a:off x="914400" y="5074920"/>
            <a:ext cx="100584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2000"/>
              <a:buFont typeface="Arial"/>
              <a:buNone/>
            </a:pPr>
            <a:r>
              <a:rPr sz="2000" b="1" i="0" u="none" cap="none">
                <a:solidFill>
                  <a:srgbClr val="FFFFFF"/>
                </a:solidFill>
                <a:latin typeface="Arial"/>
                <a:ea typeface="Arial"/>
                <a:cs typeface="Arial"/>
              </a:rPr>
              <a:t>Variability affects confidence.</a:t>
            </a:r>
          </a:p>
        </p:txBody>
      </p:sp>
    </p:spTree>
    <p:extLst>
      <p:ext uri="{BB962C8B-B14F-4D97-AF65-F5344CB8AC3E}">
        <p14:creationId xmlns:p14="http://schemas.microsoft.com/office/powerpoint/2010/main" val="413976337"/>
      </p:ext>
    </p:extLst>
  </p:cSld>
</p:sld>
</file>

<file path=ppt/slides/slide8.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212" name="Google Shape;212;p10">
            <a:extLst xmlns:a="http://schemas.openxmlformats.org/drawingml/2006/main">
              <a:ext uri="{FF2B5EF4-FFF2-40B4-BE49-F238E27FC236}">
                <a16:creationId xmlns:a16="http://schemas.microsoft.com/office/drawing/2014/main" id="{A8D95ED7-CB15-4F84-8486-131340E0879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3" name="Google Shape;213;p10">
            <a:extLst xmlns:a="http://schemas.openxmlformats.org/drawingml/2006/main">
              <a:ext uri="{FF2B5EF4-FFF2-40B4-BE49-F238E27FC236}">
                <a16:creationId xmlns:a16="http://schemas.microsoft.com/office/drawing/2014/main" id="{1716E1CF-DB3C-44A3-86F4-9DD4D6D8FA46}"/>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4" name="Google Shape;214;p10">
            <a:extLst xmlns:a="http://schemas.openxmlformats.org/drawingml/2006/main">
              <a:ext uri="{FF2B5EF4-FFF2-40B4-BE49-F238E27FC236}">
                <a16:creationId xmlns:a16="http://schemas.microsoft.com/office/drawing/2014/main" id="{A387A8E5-4446-4F48-853C-E9AD0F2EF69C}"/>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5" name="Google Shape;215;p10">
            <a:extLst xmlns:a="http://schemas.openxmlformats.org/drawingml/2006/main">
              <a:ext uri="{FF2B5EF4-FFF2-40B4-BE49-F238E27FC236}">
                <a16:creationId xmlns:a16="http://schemas.microsoft.com/office/drawing/2014/main" id="{48FBC111-28BE-4DEE-B227-393448848C78}"/>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CHANGE</a:t>
            </a:r>
          </a:p>
        </p:txBody>
      </p:sp>
      <p:sp>
        <p:nvSpPr>
          <p:cNvPr id="216" name="Google Shape;216;p10">
            <a:extLst xmlns:a="http://schemas.openxmlformats.org/drawingml/2006/main">
              <a:ext uri="{FF2B5EF4-FFF2-40B4-BE49-F238E27FC236}">
                <a16:creationId xmlns:a16="http://schemas.microsoft.com/office/drawing/2014/main" id="{FF750940-1733-4CA9-998B-D20DA024A557}"/>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217" name="Google Shape;217;p10">
            <a:extLst xmlns:a="http://schemas.openxmlformats.org/drawingml/2006/main">
              <a:ext uri="{FF2B5EF4-FFF2-40B4-BE49-F238E27FC236}">
                <a16:creationId xmlns:a16="http://schemas.microsoft.com/office/drawing/2014/main" id="{069ACAD6-6718-42EA-BC7B-32D2CADE8E67}"/>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Percent Change and Rates</a:t>
            </a:r>
          </a:p>
        </p:txBody>
      </p:sp>
      <p:sp>
        <p:nvSpPr>
          <p:cNvPr id="218" name="Google Shape;218;p10">
            <a:extLst xmlns:a="http://schemas.openxmlformats.org/drawingml/2006/main">
              <a:ext uri="{FF2B5EF4-FFF2-40B4-BE49-F238E27FC236}">
                <a16:creationId xmlns:a16="http://schemas.microsoft.com/office/drawing/2014/main" id="{AEB226BE-75F1-4B37-8511-40512FAACDF4}"/>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9" name="Google Shape;219;p10">
            <a:extLst xmlns:a="http://schemas.openxmlformats.org/drawingml/2006/main">
              <a:ext uri="{FF2B5EF4-FFF2-40B4-BE49-F238E27FC236}">
                <a16:creationId xmlns:a16="http://schemas.microsoft.com/office/drawing/2014/main" id="{0307458B-961F-43FD-84BF-6DEC599309AB}"/>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Use these when the question involves growth, loss, speed, or change over time.</a:t>
            </a:r>
          </a:p>
        </p:txBody>
      </p:sp>
      <p:sp>
        <p:nvSpPr>
          <p:cNvPr id="220" name="Google Shape;220;p10">
            <a:extLst xmlns:a="http://schemas.openxmlformats.org/drawingml/2006/main">
              <a:ext uri="{FF2B5EF4-FFF2-40B4-BE49-F238E27FC236}">
                <a16:creationId xmlns:a16="http://schemas.microsoft.com/office/drawing/2014/main" id="{F3296F7B-7317-46AF-870A-09AFC3763132}"/>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08</a:t>
            </a:r>
          </a:p>
        </p:txBody>
      </p:sp>
      <p:sp>
        <p:nvSpPr>
          <p:cNvPr id="221" name="Google Shape;221;p10">
            <a:extLst xmlns:a="http://schemas.openxmlformats.org/drawingml/2006/main">
              <a:ext uri="{FF2B5EF4-FFF2-40B4-BE49-F238E27FC236}">
                <a16:creationId xmlns:a16="http://schemas.microsoft.com/office/drawing/2014/main" id="{043826F8-7210-4CBF-81E4-6E103803B727}"/>
              </a:ext>
            </a:extLst>
          </p:cNvPr>
          <p:cNvSpPr>
            <a:spLocks xmlns:a="http://schemas.openxmlformats.org/drawingml/2006/main" noGrp="1"/>
          </p:cNvSpPr>
          <p:nvPr/>
        </p:nvSpPr>
        <p:spPr>
          <a:xfrm xmlns:a="http://schemas.openxmlformats.org/drawingml/2006/main">
            <a:off x="777240" y="1508760"/>
            <a:ext cx="5029200" cy="4069080"/>
          </a:xfrm>
          <a:prstGeom xmlns:a="http://schemas.openxmlformats.org/drawingml/2006/main" prst="roundRect">
            <a:avLst>
              <a:gd name="adj" fmla="val 1798"/>
            </a:avLst>
          </a:prstGeom>
          <a:solidFill xmlns:a="http://schemas.openxmlformats.org/drawingml/2006/main">
            <a:srgbClr val="1A1A1A"/>
          </a:solidFill>
          <a:ln xmlns:a="http://schemas.openxmlformats.org/drawingml/2006/main" w="15225" cmpd="sng">
            <a:solidFill>
              <a:srgbClr val="D71920">
                <a:alpha val="65098"/>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2" name="Google Shape;222;p10">
            <a:extLst xmlns:a="http://schemas.openxmlformats.org/drawingml/2006/main">
              <a:ext uri="{FF2B5EF4-FFF2-40B4-BE49-F238E27FC236}">
                <a16:creationId xmlns:a16="http://schemas.microsoft.com/office/drawing/2014/main" id="{410FB5F3-85EC-4EBF-A2B8-EB144283BC57}"/>
              </a:ext>
            </a:extLst>
          </p:cNvPr>
          <p:cNvSpPr>
            <a:spLocks xmlns:a="http://schemas.openxmlformats.org/drawingml/2006/main" noGrp="1"/>
          </p:cNvSpPr>
          <p:nvPr/>
        </p:nvSpPr>
        <p:spPr>
          <a:xfrm xmlns:a="http://schemas.openxmlformats.org/drawingml/2006/main">
            <a:off x="1051560" y="1783080"/>
            <a:ext cx="44805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600"/>
              <a:buFont typeface="Arial"/>
              <a:buNone/>
            </a:pPr>
            <a:r>
              <a:rPr sz="1600" b="1" i="0" u="none" cap="none">
                <a:solidFill>
                  <a:srgbClr val="D71920"/>
                </a:solidFill>
                <a:latin typeface="Arial"/>
                <a:ea typeface="Arial"/>
                <a:cs typeface="Arial"/>
              </a:rPr>
              <a:t>Percent change</a:t>
            </a:r>
          </a:p>
        </p:txBody>
      </p:sp>
      <p:sp>
        <p:nvSpPr>
          <p:cNvPr id="223" name="Google Shape;223;p10">
            <a:extLst xmlns:a="http://schemas.openxmlformats.org/drawingml/2006/main">
              <a:ext uri="{FF2B5EF4-FFF2-40B4-BE49-F238E27FC236}">
                <a16:creationId xmlns:a16="http://schemas.microsoft.com/office/drawing/2014/main" id="{1ACE3D94-431A-43B9-8C20-0942F989FA13}"/>
              </a:ext>
            </a:extLst>
          </p:cNvPr>
          <p:cNvSpPr>
            <a:spLocks xmlns:a="http://schemas.openxmlformats.org/drawingml/2006/main" noGrp="1"/>
          </p:cNvSpPr>
          <p:nvPr/>
        </p:nvSpPr>
        <p:spPr>
          <a:xfrm xmlns:a="http://schemas.openxmlformats.org/drawingml/2006/main">
            <a:off x="1097280" y="2377440"/>
            <a:ext cx="4297680" cy="2011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FFFFF"/>
              </a:buClr>
              <a:buSzPts val="1500"/>
              <a:buFont typeface="Arial"/>
              <a:buNone/>
            </a:pPr>
            <a:r>
              <a:rPr sz="1500" b="0" i="0" u="none" cap="none">
                <a:solidFill>
                  <a:srgbClr val="FFFFFF"/>
                </a:solidFill>
                <a:latin typeface="Arial"/>
                <a:ea typeface="Arial"/>
                <a:cs typeface="Arial"/>
              </a:rPr>
              <a:t>• ((new − original) / original) × 100</a:t>
            </a:r>
          </a:p>
          <a:p xmlns:a="http://schemas.openxmlformats.org/drawingml/2006/main">
            <a:pPr marL="0" marR="0" indent="0" algn="l">
              <a:spcBef>
                <a:spcPts val="0"/>
              </a:spcBef>
              <a:spcAft>
                <a:spcPts val="0"/>
              </a:spcAft>
              <a:buClr>
                <a:srgbClr val="FFFFFF"/>
              </a:buClr>
              <a:buSzPts val="1500"/>
              <a:buFont typeface="Arial"/>
              <a:buNone/>
            </a:pPr>
            <a:r>
              <a:rPr sz="1500" b="0" i="0" u="none" cap="none">
                <a:solidFill>
                  <a:srgbClr val="FFFFFF"/>
                </a:solidFill>
                <a:latin typeface="Arial"/>
                <a:ea typeface="Arial"/>
                <a:cs typeface="Arial"/>
              </a:rPr>
              <a:t>• Useful when comparing relative increase or decrease.</a:t>
            </a:r>
          </a:p>
        </p:txBody>
      </p:sp>
      <p:sp>
        <p:nvSpPr>
          <p:cNvPr id="224" name="Google Shape;224;p10">
            <a:extLst xmlns:a="http://schemas.openxmlformats.org/drawingml/2006/main">
              <a:ext uri="{FF2B5EF4-FFF2-40B4-BE49-F238E27FC236}">
                <a16:creationId xmlns:a16="http://schemas.microsoft.com/office/drawing/2014/main" id="{A85D61FA-6A9D-4FF2-AA1C-79382A5C2A88}"/>
              </a:ext>
            </a:extLst>
          </p:cNvPr>
          <p:cNvSpPr>
            <a:spLocks xmlns:a="http://schemas.openxmlformats.org/drawingml/2006/main" noGrp="1"/>
          </p:cNvSpPr>
          <p:nvPr/>
        </p:nvSpPr>
        <p:spPr>
          <a:xfrm xmlns:a="http://schemas.openxmlformats.org/drawingml/2006/main">
            <a:off x="6355080" y="1508760"/>
            <a:ext cx="5029200" cy="4069080"/>
          </a:xfrm>
          <a:prstGeom xmlns:a="http://schemas.openxmlformats.org/drawingml/2006/main" prst="roundRect">
            <a:avLst>
              <a:gd name="adj" fmla="val 1798"/>
            </a:avLst>
          </a:prstGeom>
          <a:solidFill xmlns:a="http://schemas.openxmlformats.org/drawingml/2006/main">
            <a:srgbClr val="1A1A1A"/>
          </a:solidFill>
          <a:ln xmlns:a="http://schemas.openxmlformats.org/drawingml/2006/main" w="15225" cmpd="sng">
            <a:solidFill>
              <a:srgbClr val="D71920">
                <a:alpha val="65098"/>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5" name="Google Shape;225;p10">
            <a:extLst xmlns:a="http://schemas.openxmlformats.org/drawingml/2006/main">
              <a:ext uri="{FF2B5EF4-FFF2-40B4-BE49-F238E27FC236}">
                <a16:creationId xmlns:a16="http://schemas.microsoft.com/office/drawing/2014/main" id="{E06DB0A2-1864-411C-A055-43F45C7FC9C8}"/>
              </a:ext>
            </a:extLst>
          </p:cNvPr>
          <p:cNvSpPr>
            <a:spLocks xmlns:a="http://schemas.openxmlformats.org/drawingml/2006/main" noGrp="1"/>
          </p:cNvSpPr>
          <p:nvPr/>
        </p:nvSpPr>
        <p:spPr>
          <a:xfrm xmlns:a="http://schemas.openxmlformats.org/drawingml/2006/main">
            <a:off x="6629400" y="1783080"/>
            <a:ext cx="44805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600"/>
              <a:buFont typeface="Arial"/>
              <a:buNone/>
            </a:pPr>
            <a:r>
              <a:rPr sz="1600" b="1" i="0" u="none" cap="none">
                <a:solidFill>
                  <a:srgbClr val="D71920"/>
                </a:solidFill>
                <a:latin typeface="Arial"/>
                <a:ea typeface="Arial"/>
                <a:cs typeface="Arial"/>
              </a:rPr>
              <a:t>Rate</a:t>
            </a:r>
          </a:p>
        </p:txBody>
      </p:sp>
      <p:sp>
        <p:nvSpPr>
          <p:cNvPr id="226" name="Google Shape;226;p10">
            <a:extLst xmlns:a="http://schemas.openxmlformats.org/drawingml/2006/main">
              <a:ext uri="{FF2B5EF4-FFF2-40B4-BE49-F238E27FC236}">
                <a16:creationId xmlns:a16="http://schemas.microsoft.com/office/drawing/2014/main" id="{6E1CF15D-E4CF-46E9-9E9A-BA32E1CE1EF4}"/>
              </a:ext>
            </a:extLst>
          </p:cNvPr>
          <p:cNvSpPr>
            <a:spLocks xmlns:a="http://schemas.openxmlformats.org/drawingml/2006/main" noGrp="1"/>
          </p:cNvSpPr>
          <p:nvPr/>
        </p:nvSpPr>
        <p:spPr>
          <a:xfrm xmlns:a="http://schemas.openxmlformats.org/drawingml/2006/main">
            <a:off x="6675120" y="2377440"/>
            <a:ext cx="4297680" cy="2011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FFFFF"/>
              </a:buClr>
              <a:buSzPts val="1500"/>
              <a:buFont typeface="Arial"/>
              <a:buNone/>
            </a:pPr>
            <a:r>
              <a:rPr sz="1500" b="0" i="0" u="none" cap="none">
                <a:solidFill>
                  <a:srgbClr val="FFFFFF"/>
                </a:solidFill>
                <a:latin typeface="Arial"/>
                <a:ea typeface="Arial"/>
                <a:cs typeface="Arial"/>
              </a:rPr>
              <a:t>• change ÷ time</a:t>
            </a:r>
          </a:p>
          <a:p xmlns:a="http://schemas.openxmlformats.org/drawingml/2006/main">
            <a:pPr marL="0" marR="0" indent="0" algn="l">
              <a:spcBef>
                <a:spcPts val="0"/>
              </a:spcBef>
              <a:spcAft>
                <a:spcPts val="0"/>
              </a:spcAft>
              <a:buClr>
                <a:srgbClr val="FFFFFF"/>
              </a:buClr>
              <a:buSzPts val="1500"/>
              <a:buFont typeface="Arial"/>
              <a:buNone/>
            </a:pPr>
            <a:r>
              <a:rPr sz="1500" b="0" i="0" u="none" cap="none">
                <a:solidFill>
                  <a:srgbClr val="FFFFFF"/>
                </a:solidFill>
                <a:latin typeface="Arial"/>
                <a:ea typeface="Arial"/>
                <a:cs typeface="Arial"/>
              </a:rPr>
              <a:t>• Useful when the speed of change matters.</a:t>
            </a:r>
          </a:p>
        </p:txBody>
      </p:sp>
    </p:spTree>
    <p:extLst>
      <p:ext uri="{BB962C8B-B14F-4D97-AF65-F5344CB8AC3E}">
        <p14:creationId xmlns:p14="http://schemas.microsoft.com/office/powerpoint/2010/main" val="744617815"/>
      </p:ext>
    </p:extLst>
  </p:cSld>
</p:sld>
</file>

<file path=ppt/slides/slide9.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232" name="Google Shape;232;p11">
            <a:extLst xmlns:a="http://schemas.openxmlformats.org/drawingml/2006/main">
              <a:ext uri="{FF2B5EF4-FFF2-40B4-BE49-F238E27FC236}">
                <a16:creationId xmlns:a16="http://schemas.microsoft.com/office/drawing/2014/main" id="{FC41BBD1-56BB-4485-BDA1-AFA35F513EB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3" name="Google Shape;233;p11">
            <a:extLst xmlns:a="http://schemas.openxmlformats.org/drawingml/2006/main">
              <a:ext uri="{FF2B5EF4-FFF2-40B4-BE49-F238E27FC236}">
                <a16:creationId xmlns:a16="http://schemas.microsoft.com/office/drawing/2014/main" id="{4943525C-C22F-4C2A-8842-BC1C64148C7A}"/>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4" name="Google Shape;234;p11">
            <a:extLst xmlns:a="http://schemas.openxmlformats.org/drawingml/2006/main">
              <a:ext uri="{FF2B5EF4-FFF2-40B4-BE49-F238E27FC236}">
                <a16:creationId xmlns:a16="http://schemas.microsoft.com/office/drawing/2014/main" id="{4422366D-C4B5-44AE-9FA3-A5884443629A}"/>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5" name="Google Shape;235;p11">
            <a:extLst xmlns:a="http://schemas.openxmlformats.org/drawingml/2006/main">
              <a:ext uri="{FF2B5EF4-FFF2-40B4-BE49-F238E27FC236}">
                <a16:creationId xmlns:a16="http://schemas.microsoft.com/office/drawing/2014/main" id="{D75347E3-067A-43FA-8F87-38851583D911}"/>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ENGINEERING</a:t>
            </a:r>
          </a:p>
        </p:txBody>
      </p:sp>
      <p:sp>
        <p:nvSpPr>
          <p:cNvPr id="236" name="Google Shape;236;p11">
            <a:extLst xmlns:a="http://schemas.openxmlformats.org/drawingml/2006/main">
              <a:ext uri="{FF2B5EF4-FFF2-40B4-BE49-F238E27FC236}">
                <a16:creationId xmlns:a16="http://schemas.microsoft.com/office/drawing/2014/main" id="{06F7A9C3-8E52-4D2A-ABBE-D7CA3444AF5D}"/>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237" name="Google Shape;237;p11">
            <a:extLst xmlns:a="http://schemas.openxmlformats.org/drawingml/2006/main">
              <a:ext uri="{FF2B5EF4-FFF2-40B4-BE49-F238E27FC236}">
                <a16:creationId xmlns:a16="http://schemas.microsoft.com/office/drawing/2014/main" id="{D845266F-1CFC-4A52-B221-94856513617A}"/>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Ratios and Efficiency Metrics</a:t>
            </a:r>
          </a:p>
        </p:txBody>
      </p:sp>
      <p:sp>
        <p:nvSpPr>
          <p:cNvPr id="238" name="Google Shape;238;p11">
            <a:extLst xmlns:a="http://schemas.openxmlformats.org/drawingml/2006/main">
              <a:ext uri="{FF2B5EF4-FFF2-40B4-BE49-F238E27FC236}">
                <a16:creationId xmlns:a16="http://schemas.microsoft.com/office/drawing/2014/main" id="{1FDE2B35-5373-4D94-8A7F-5936B963D38C}"/>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9" name="Google Shape;239;p11">
            <a:extLst xmlns:a="http://schemas.openxmlformats.org/drawingml/2006/main">
              <a:ext uri="{FF2B5EF4-FFF2-40B4-BE49-F238E27FC236}">
                <a16:creationId xmlns:a16="http://schemas.microsoft.com/office/drawing/2014/main" id="{2D425F87-AEF8-430C-9698-1EBDE1901C25}"/>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Engineering analysis often asks: how much performance per constraint?</a:t>
            </a:r>
          </a:p>
        </p:txBody>
      </p:sp>
      <p:sp>
        <p:nvSpPr>
          <p:cNvPr id="240" name="Google Shape;240;p11">
            <a:extLst xmlns:a="http://schemas.openxmlformats.org/drawingml/2006/main">
              <a:ext uri="{FF2B5EF4-FFF2-40B4-BE49-F238E27FC236}">
                <a16:creationId xmlns:a16="http://schemas.microsoft.com/office/drawing/2014/main" id="{4BC5D0AC-8BBA-47FB-9957-A6272AAF22E5}"/>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09</a:t>
            </a:r>
          </a:p>
        </p:txBody>
      </p:sp>
      <p:sp>
        <p:nvSpPr>
          <p:cNvPr id="241" name="Google Shape;241;p11">
            <a:extLst xmlns:a="http://schemas.openxmlformats.org/drawingml/2006/main">
              <a:ext uri="{FF2B5EF4-FFF2-40B4-BE49-F238E27FC236}">
                <a16:creationId xmlns:a16="http://schemas.microsoft.com/office/drawing/2014/main" id="{41989B51-C07E-4119-A35A-130BD3ECE4CB}"/>
              </a:ext>
            </a:extLst>
          </p:cNvPr>
          <p:cNvSpPr>
            <a:spLocks xmlns:a="http://schemas.openxmlformats.org/drawingml/2006/main" noGrp="1"/>
          </p:cNvSpPr>
          <p:nvPr/>
        </p:nvSpPr>
        <p:spPr>
          <a:xfrm xmlns:a="http://schemas.openxmlformats.org/drawingml/2006/main">
            <a:off x="960120" y="1600200"/>
            <a:ext cx="4754880" cy="777240"/>
          </a:xfrm>
          <a:prstGeom xmlns:a="http://schemas.openxmlformats.org/drawingml/2006/main" prst="roundRect">
            <a:avLst>
              <a:gd name="adj" fmla="val 4706"/>
            </a:avLst>
          </a:prstGeom>
          <a:solidFill xmlns:a="http://schemas.openxmlformats.org/drawingml/2006/main">
            <a:srgbClr val="1A1A1A"/>
          </a:solidFill>
          <a:ln xmlns:a="http://schemas.openxmlformats.org/drawingml/2006/main" w="9525" cmpd="sng">
            <a:solidFill>
              <a:srgbClr val="D71920">
                <a:alpha val="50196"/>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2" name="Google Shape;242;p11">
            <a:extLst xmlns:a="http://schemas.openxmlformats.org/drawingml/2006/main">
              <a:ext uri="{FF2B5EF4-FFF2-40B4-BE49-F238E27FC236}">
                <a16:creationId xmlns:a16="http://schemas.microsoft.com/office/drawing/2014/main" id="{28FAE475-3093-4231-8F8E-0C910B50001C}"/>
              </a:ext>
            </a:extLst>
          </p:cNvPr>
          <p:cNvSpPr>
            <a:spLocks xmlns:a="http://schemas.openxmlformats.org/drawingml/2006/main" noGrp="1"/>
          </p:cNvSpPr>
          <p:nvPr/>
        </p:nvSpPr>
        <p:spPr>
          <a:xfrm xmlns:a="http://schemas.openxmlformats.org/drawingml/2006/main">
            <a:off x="1124712" y="1746504"/>
            <a:ext cx="20116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400"/>
              <a:buFont typeface="Arial"/>
              <a:buNone/>
            </a:pPr>
            <a:r>
              <a:rPr sz="1400" b="1" i="0" u="none" cap="none">
                <a:solidFill>
                  <a:srgbClr val="D71920"/>
                </a:solidFill>
                <a:latin typeface="Arial"/>
                <a:ea typeface="Arial"/>
                <a:cs typeface="Arial"/>
              </a:rPr>
              <a:t>Load per gram</a:t>
            </a:r>
          </a:p>
        </p:txBody>
      </p:sp>
      <p:sp>
        <p:nvSpPr>
          <p:cNvPr id="243" name="Google Shape;243;p11">
            <a:extLst xmlns:a="http://schemas.openxmlformats.org/drawingml/2006/main">
              <a:ext uri="{FF2B5EF4-FFF2-40B4-BE49-F238E27FC236}">
                <a16:creationId xmlns:a16="http://schemas.microsoft.com/office/drawing/2014/main" id="{956DBB04-38CF-4128-9938-48B5F59B43E5}"/>
              </a:ext>
            </a:extLst>
          </p:cNvPr>
          <p:cNvSpPr>
            <a:spLocks xmlns:a="http://schemas.openxmlformats.org/drawingml/2006/main" noGrp="1"/>
          </p:cNvSpPr>
          <p:nvPr/>
        </p:nvSpPr>
        <p:spPr>
          <a:xfrm xmlns:a="http://schemas.openxmlformats.org/drawingml/2006/main">
            <a:off x="3291840" y="1728216"/>
            <a:ext cx="21488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150"/>
              <a:buFont typeface="Arial"/>
              <a:buNone/>
            </a:pPr>
            <a:r>
              <a:rPr sz="1150" b="0" i="0" u="none" cap="none">
                <a:solidFill>
                  <a:srgbClr val="FFFFFF"/>
                </a:solidFill>
                <a:latin typeface="Arial"/>
                <a:ea typeface="Arial"/>
                <a:cs typeface="Arial"/>
              </a:rPr>
              <a:t>bridge strength while controlling for mass</a:t>
            </a:r>
          </a:p>
        </p:txBody>
      </p:sp>
      <p:sp>
        <p:nvSpPr>
          <p:cNvPr id="244" name="Google Shape;244;p11">
            <a:extLst xmlns:a="http://schemas.openxmlformats.org/drawingml/2006/main">
              <a:ext uri="{FF2B5EF4-FFF2-40B4-BE49-F238E27FC236}">
                <a16:creationId xmlns:a16="http://schemas.microsoft.com/office/drawing/2014/main" id="{EF80578F-3FFD-4ACA-BB23-C67C7DB12665}"/>
              </a:ext>
            </a:extLst>
          </p:cNvPr>
          <p:cNvSpPr>
            <a:spLocks xmlns:a="http://schemas.openxmlformats.org/drawingml/2006/main" noGrp="1"/>
          </p:cNvSpPr>
          <p:nvPr/>
        </p:nvSpPr>
        <p:spPr>
          <a:xfrm xmlns:a="http://schemas.openxmlformats.org/drawingml/2006/main">
            <a:off x="6355080" y="1600200"/>
            <a:ext cx="4754880" cy="777240"/>
          </a:xfrm>
          <a:prstGeom xmlns:a="http://schemas.openxmlformats.org/drawingml/2006/main" prst="roundRect">
            <a:avLst>
              <a:gd name="adj" fmla="val 4706"/>
            </a:avLst>
          </a:prstGeom>
          <a:solidFill xmlns:a="http://schemas.openxmlformats.org/drawingml/2006/main">
            <a:srgbClr val="1A1A1A"/>
          </a:solidFill>
          <a:ln xmlns:a="http://schemas.openxmlformats.org/drawingml/2006/main" w="9525" cmpd="sng">
            <a:solidFill>
              <a:srgbClr val="D71920">
                <a:alpha val="50196"/>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5" name="Google Shape;245;p11">
            <a:extLst xmlns:a="http://schemas.openxmlformats.org/drawingml/2006/main">
              <a:ext uri="{FF2B5EF4-FFF2-40B4-BE49-F238E27FC236}">
                <a16:creationId xmlns:a16="http://schemas.microsoft.com/office/drawing/2014/main" id="{795A6131-0EAC-47D8-8D58-6AA8A94E551E}"/>
              </a:ext>
            </a:extLst>
          </p:cNvPr>
          <p:cNvSpPr>
            <a:spLocks xmlns:a="http://schemas.openxmlformats.org/drawingml/2006/main" noGrp="1"/>
          </p:cNvSpPr>
          <p:nvPr/>
        </p:nvSpPr>
        <p:spPr>
          <a:xfrm xmlns:a="http://schemas.openxmlformats.org/drawingml/2006/main">
            <a:off x="6519672" y="1746504"/>
            <a:ext cx="20116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400"/>
              <a:buFont typeface="Arial"/>
              <a:buNone/>
            </a:pPr>
            <a:r>
              <a:rPr sz="1400" b="1" i="0" u="none" cap="none">
                <a:solidFill>
                  <a:srgbClr val="D71920"/>
                </a:solidFill>
                <a:latin typeface="Arial"/>
                <a:ea typeface="Arial"/>
                <a:cs typeface="Arial"/>
              </a:rPr>
              <a:t>Voltage per blade mass</a:t>
            </a:r>
          </a:p>
        </p:txBody>
      </p:sp>
      <p:sp>
        <p:nvSpPr>
          <p:cNvPr id="246" name="Google Shape;246;p11">
            <a:extLst xmlns:a="http://schemas.openxmlformats.org/drawingml/2006/main">
              <a:ext uri="{FF2B5EF4-FFF2-40B4-BE49-F238E27FC236}">
                <a16:creationId xmlns:a16="http://schemas.microsoft.com/office/drawing/2014/main" id="{3313F651-2F9D-457A-8C6A-17F30CAF3B00}"/>
              </a:ext>
            </a:extLst>
          </p:cNvPr>
          <p:cNvSpPr>
            <a:spLocks xmlns:a="http://schemas.openxmlformats.org/drawingml/2006/main" noGrp="1"/>
          </p:cNvSpPr>
          <p:nvPr/>
        </p:nvSpPr>
        <p:spPr>
          <a:xfrm xmlns:a="http://schemas.openxmlformats.org/drawingml/2006/main">
            <a:off x="8686800" y="1728216"/>
            <a:ext cx="21488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150"/>
              <a:buFont typeface="Arial"/>
              <a:buNone/>
            </a:pPr>
            <a:r>
              <a:rPr sz="1150" b="0" i="0" u="none" cap="none">
                <a:solidFill>
                  <a:srgbClr val="FFFFFF"/>
                </a:solidFill>
                <a:latin typeface="Arial"/>
                <a:ea typeface="Arial"/>
                <a:cs typeface="Arial"/>
              </a:rPr>
              <a:t>turbine output while considering material use</a:t>
            </a:r>
          </a:p>
        </p:txBody>
      </p:sp>
      <p:sp>
        <p:nvSpPr>
          <p:cNvPr id="247" name="Google Shape;247;p11">
            <a:extLst xmlns:a="http://schemas.openxmlformats.org/drawingml/2006/main">
              <a:ext uri="{FF2B5EF4-FFF2-40B4-BE49-F238E27FC236}">
                <a16:creationId xmlns:a16="http://schemas.microsoft.com/office/drawing/2014/main" id="{0293CA2B-0FA4-4D9D-80F4-174BB184DA8E}"/>
              </a:ext>
            </a:extLst>
          </p:cNvPr>
          <p:cNvSpPr>
            <a:spLocks xmlns:a="http://schemas.openxmlformats.org/drawingml/2006/main" noGrp="1"/>
          </p:cNvSpPr>
          <p:nvPr/>
        </p:nvSpPr>
        <p:spPr>
          <a:xfrm xmlns:a="http://schemas.openxmlformats.org/drawingml/2006/main">
            <a:off x="960120" y="2697480"/>
            <a:ext cx="4754880" cy="777240"/>
          </a:xfrm>
          <a:prstGeom xmlns:a="http://schemas.openxmlformats.org/drawingml/2006/main" prst="roundRect">
            <a:avLst>
              <a:gd name="adj" fmla="val 4706"/>
            </a:avLst>
          </a:prstGeom>
          <a:solidFill xmlns:a="http://schemas.openxmlformats.org/drawingml/2006/main">
            <a:srgbClr val="1A1A1A"/>
          </a:solidFill>
          <a:ln xmlns:a="http://schemas.openxmlformats.org/drawingml/2006/main" w="9525" cmpd="sng">
            <a:solidFill>
              <a:srgbClr val="D71920">
                <a:alpha val="50196"/>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8" name="Google Shape;248;p11">
            <a:extLst xmlns:a="http://schemas.openxmlformats.org/drawingml/2006/main">
              <a:ext uri="{FF2B5EF4-FFF2-40B4-BE49-F238E27FC236}">
                <a16:creationId xmlns:a16="http://schemas.microsoft.com/office/drawing/2014/main" id="{7877082C-DE6E-496C-BE60-ADBCB02599D3}"/>
              </a:ext>
            </a:extLst>
          </p:cNvPr>
          <p:cNvSpPr>
            <a:spLocks xmlns:a="http://schemas.openxmlformats.org/drawingml/2006/main" noGrp="1"/>
          </p:cNvSpPr>
          <p:nvPr/>
        </p:nvSpPr>
        <p:spPr>
          <a:xfrm xmlns:a="http://schemas.openxmlformats.org/drawingml/2006/main">
            <a:off x="1124712" y="2843784"/>
            <a:ext cx="20116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400"/>
              <a:buFont typeface="Arial"/>
              <a:buNone/>
            </a:pPr>
            <a:r>
              <a:rPr sz="1400" b="1" i="0" u="none" cap="none">
                <a:solidFill>
                  <a:srgbClr val="D71920"/>
                </a:solidFill>
                <a:latin typeface="Arial"/>
                <a:ea typeface="Arial"/>
                <a:cs typeface="Arial"/>
              </a:rPr>
              <a:t>Accuracy percentage</a:t>
            </a:r>
          </a:p>
        </p:txBody>
      </p:sp>
      <p:sp>
        <p:nvSpPr>
          <p:cNvPr id="249" name="Google Shape;249;p11">
            <a:extLst xmlns:a="http://schemas.openxmlformats.org/drawingml/2006/main">
              <a:ext uri="{FF2B5EF4-FFF2-40B4-BE49-F238E27FC236}">
                <a16:creationId xmlns:a16="http://schemas.microsoft.com/office/drawing/2014/main" id="{164B2830-CCFB-445E-9D2C-04ED9AEAA336}"/>
              </a:ext>
            </a:extLst>
          </p:cNvPr>
          <p:cNvSpPr>
            <a:spLocks xmlns:a="http://schemas.openxmlformats.org/drawingml/2006/main" noGrp="1"/>
          </p:cNvSpPr>
          <p:nvPr/>
        </p:nvSpPr>
        <p:spPr>
          <a:xfrm xmlns:a="http://schemas.openxmlformats.org/drawingml/2006/main">
            <a:off x="3291840" y="2825496"/>
            <a:ext cx="21488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150"/>
              <a:buFont typeface="Arial"/>
              <a:buNone/>
            </a:pPr>
            <a:r>
              <a:rPr sz="1150" b="0" i="0" u="none" cap="none">
                <a:solidFill>
                  <a:srgbClr val="FFFFFF"/>
                </a:solidFill>
                <a:latin typeface="Arial"/>
                <a:ea typeface="Arial"/>
                <a:cs typeface="Arial"/>
              </a:rPr>
              <a:t>robot, model, or sensor success rate</a:t>
            </a:r>
          </a:p>
        </p:txBody>
      </p:sp>
      <p:sp>
        <p:nvSpPr>
          <p:cNvPr id="250" name="Google Shape;250;p11">
            <a:extLst xmlns:a="http://schemas.openxmlformats.org/drawingml/2006/main">
              <a:ext uri="{FF2B5EF4-FFF2-40B4-BE49-F238E27FC236}">
                <a16:creationId xmlns:a16="http://schemas.microsoft.com/office/drawing/2014/main" id="{4E43CD80-DE50-49EE-A993-D66DC0CF5780}"/>
              </a:ext>
            </a:extLst>
          </p:cNvPr>
          <p:cNvSpPr>
            <a:spLocks xmlns:a="http://schemas.openxmlformats.org/drawingml/2006/main" noGrp="1"/>
          </p:cNvSpPr>
          <p:nvPr/>
        </p:nvSpPr>
        <p:spPr>
          <a:xfrm xmlns:a="http://schemas.openxmlformats.org/drawingml/2006/main">
            <a:off x="6355080" y="2697480"/>
            <a:ext cx="4754880" cy="777240"/>
          </a:xfrm>
          <a:prstGeom xmlns:a="http://schemas.openxmlformats.org/drawingml/2006/main" prst="roundRect">
            <a:avLst>
              <a:gd name="adj" fmla="val 4706"/>
            </a:avLst>
          </a:prstGeom>
          <a:solidFill xmlns:a="http://schemas.openxmlformats.org/drawingml/2006/main">
            <a:srgbClr val="1A1A1A"/>
          </a:solidFill>
          <a:ln xmlns:a="http://schemas.openxmlformats.org/drawingml/2006/main" w="9525" cmpd="sng">
            <a:solidFill>
              <a:srgbClr val="D71920">
                <a:alpha val="50196"/>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1" name="Google Shape;251;p11">
            <a:extLst xmlns:a="http://schemas.openxmlformats.org/drawingml/2006/main">
              <a:ext uri="{FF2B5EF4-FFF2-40B4-BE49-F238E27FC236}">
                <a16:creationId xmlns:a16="http://schemas.microsoft.com/office/drawing/2014/main" id="{7A3C650E-621E-422E-A557-B78B58187521}"/>
              </a:ext>
            </a:extLst>
          </p:cNvPr>
          <p:cNvSpPr>
            <a:spLocks xmlns:a="http://schemas.openxmlformats.org/drawingml/2006/main" noGrp="1"/>
          </p:cNvSpPr>
          <p:nvPr/>
        </p:nvSpPr>
        <p:spPr>
          <a:xfrm xmlns:a="http://schemas.openxmlformats.org/drawingml/2006/main">
            <a:off x="6519672" y="2843784"/>
            <a:ext cx="20116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400"/>
              <a:buFont typeface="Arial"/>
              <a:buNone/>
            </a:pPr>
            <a:r>
              <a:rPr sz="1400" b="1" i="0" u="none" cap="none">
                <a:solidFill>
                  <a:srgbClr val="D71920"/>
                </a:solidFill>
                <a:latin typeface="Arial"/>
                <a:ea typeface="Arial"/>
                <a:cs typeface="Arial"/>
              </a:rPr>
              <a:t>Cost per performance unit</a:t>
            </a:r>
          </a:p>
        </p:txBody>
      </p:sp>
      <p:sp>
        <p:nvSpPr>
          <p:cNvPr id="252" name="Google Shape;252;p11">
            <a:extLst xmlns:a="http://schemas.openxmlformats.org/drawingml/2006/main">
              <a:ext uri="{FF2B5EF4-FFF2-40B4-BE49-F238E27FC236}">
                <a16:creationId xmlns:a16="http://schemas.microsoft.com/office/drawing/2014/main" id="{07E50B43-DF22-4B9B-B3E8-AB8FDF403889}"/>
              </a:ext>
            </a:extLst>
          </p:cNvPr>
          <p:cNvSpPr>
            <a:spLocks xmlns:a="http://schemas.openxmlformats.org/drawingml/2006/main" noGrp="1"/>
          </p:cNvSpPr>
          <p:nvPr/>
        </p:nvSpPr>
        <p:spPr>
          <a:xfrm xmlns:a="http://schemas.openxmlformats.org/drawingml/2006/main">
            <a:off x="8686800" y="2825496"/>
            <a:ext cx="21488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150"/>
              <a:buFont typeface="Arial"/>
              <a:buNone/>
            </a:pPr>
            <a:r>
              <a:rPr sz="1150" b="0" i="0" u="none" cap="none">
                <a:solidFill>
                  <a:srgbClr val="FFFFFF"/>
                </a:solidFill>
                <a:latin typeface="Arial"/>
                <a:ea typeface="Arial"/>
                <a:cs typeface="Arial"/>
              </a:rPr>
              <a:t>useful when budget is a constraint</a:t>
            </a:r>
          </a:p>
        </p:txBody>
      </p:sp>
      <p:sp>
        <p:nvSpPr>
          <p:cNvPr id="253" name="Google Shape;253;p11">
            <a:extLst xmlns:a="http://schemas.openxmlformats.org/drawingml/2006/main">
              <a:ext uri="{FF2B5EF4-FFF2-40B4-BE49-F238E27FC236}">
                <a16:creationId xmlns:a16="http://schemas.microsoft.com/office/drawing/2014/main" id="{0B484A6C-4C35-4107-A355-0E45D18A39DC}"/>
              </a:ext>
            </a:extLst>
          </p:cNvPr>
          <p:cNvSpPr>
            <a:spLocks xmlns:a="http://schemas.openxmlformats.org/drawingml/2006/main" noGrp="1"/>
          </p:cNvSpPr>
          <p:nvPr/>
        </p:nvSpPr>
        <p:spPr>
          <a:xfrm xmlns:a="http://schemas.openxmlformats.org/drawingml/2006/main">
            <a:off x="777240" y="5166360"/>
            <a:ext cx="10652760" cy="960120"/>
          </a:xfrm>
          <a:prstGeom xmlns:a="http://schemas.openxmlformats.org/drawingml/2006/main" prst="roundRect">
            <a:avLst>
              <a:gd name="adj" fmla="val 7619"/>
            </a:avLst>
          </a:prstGeom>
          <a:solidFill xmlns:a="http://schemas.openxmlformats.org/drawingml/2006/main">
            <a:srgbClr val="151515"/>
          </a:solidFill>
          <a:ln xmlns:a="http://schemas.openxmlformats.org/drawingml/2006/main" w="12700" cmpd="sng">
            <a:solidFill>
              <a:srgbClr val="D71920">
                <a:alpha val="50196"/>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4" name="Google Shape;254;p11">
            <a:extLst xmlns:a="http://schemas.openxmlformats.org/drawingml/2006/main">
              <a:ext uri="{FF2B5EF4-FFF2-40B4-BE49-F238E27FC236}">
                <a16:creationId xmlns:a16="http://schemas.microsoft.com/office/drawing/2014/main" id="{8A7518C8-8E00-462F-B7ED-EFC7BF80F3E0}"/>
              </a:ext>
            </a:extLst>
          </p:cNvPr>
          <p:cNvSpPr>
            <a:spLocks xmlns:a="http://schemas.openxmlformats.org/drawingml/2006/main" noGrp="1"/>
          </p:cNvSpPr>
          <p:nvPr/>
        </p:nvSpPr>
        <p:spPr>
          <a:xfrm xmlns:a="http://schemas.openxmlformats.org/drawingml/2006/main">
            <a:off x="1024128" y="5376672"/>
            <a:ext cx="1874520" cy="1463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850"/>
              <a:buFont typeface="Arial"/>
              <a:buNone/>
            </a:pPr>
            <a:r>
              <a:rPr sz="850" b="1" i="0" u="none" cap="none">
                <a:solidFill>
                  <a:srgbClr val="D71920"/>
                </a:solidFill>
                <a:latin typeface="Arial"/>
                <a:ea typeface="Arial"/>
                <a:cs typeface="Arial"/>
              </a:rPr>
              <a:t>STUDENT ACTIVITY</a:t>
            </a:r>
          </a:p>
        </p:txBody>
      </p:sp>
      <p:sp>
        <p:nvSpPr>
          <p:cNvPr id="255" name="Google Shape;255;p11">
            <a:extLst xmlns:a="http://schemas.openxmlformats.org/drawingml/2006/main">
              <a:ext uri="{FF2B5EF4-FFF2-40B4-BE49-F238E27FC236}">
                <a16:creationId xmlns:a16="http://schemas.microsoft.com/office/drawing/2014/main" id="{C4C710BF-F311-410E-8AC4-B840F07FE752}"/>
              </a:ext>
            </a:extLst>
          </p:cNvPr>
          <p:cNvSpPr>
            <a:spLocks xmlns:a="http://schemas.openxmlformats.org/drawingml/2006/main" noGrp="1"/>
          </p:cNvSpPr>
          <p:nvPr/>
        </p:nvSpPr>
        <p:spPr>
          <a:xfrm xmlns:a="http://schemas.openxmlformats.org/drawingml/2006/main">
            <a:off x="1024128" y="5596128"/>
            <a:ext cx="42976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600"/>
              <a:buFont typeface="Arial"/>
              <a:buNone/>
            </a:pPr>
            <a:r>
              <a:rPr sz="1600" b="1" i="0" u="none" cap="none">
                <a:solidFill>
                  <a:srgbClr val="FFFFFF"/>
                </a:solidFill>
                <a:latin typeface="Arial"/>
                <a:ea typeface="Arial"/>
                <a:cs typeface="Arial"/>
              </a:rPr>
              <a:t>Define “best”</a:t>
            </a:r>
          </a:p>
        </p:txBody>
      </p:sp>
      <p:sp>
        <p:nvSpPr>
          <p:cNvPr id="256" name="Google Shape;256;p11">
            <a:extLst xmlns:a="http://schemas.openxmlformats.org/drawingml/2006/main">
              <a:ext uri="{FF2B5EF4-FFF2-40B4-BE49-F238E27FC236}">
                <a16:creationId xmlns:a16="http://schemas.microsoft.com/office/drawing/2014/main" id="{1A24DBAF-696A-43E5-868F-976341E88750}"/>
              </a:ext>
            </a:extLst>
          </p:cNvPr>
          <p:cNvSpPr>
            <a:spLocks xmlns:a="http://schemas.openxmlformats.org/drawingml/2006/main" noGrp="1"/>
          </p:cNvSpPr>
          <p:nvPr/>
        </p:nvSpPr>
        <p:spPr>
          <a:xfrm xmlns:a="http://schemas.openxmlformats.org/drawingml/2006/main">
            <a:off x="5349240" y="5468112"/>
            <a:ext cx="9601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B8B8B8"/>
              </a:buClr>
              <a:buSzPts val="1200"/>
              <a:buFont typeface="Arial"/>
              <a:buNone/>
            </a:pPr>
            <a:r>
              <a:rPr sz="1200" b="1" i="0" u="none" cap="none">
                <a:solidFill>
                  <a:srgbClr val="B8B8B8"/>
                </a:solidFill>
                <a:latin typeface="Arial"/>
                <a:ea typeface="Arial"/>
                <a:cs typeface="Arial"/>
              </a:rPr>
              <a:t>5 MIN</a:t>
            </a:r>
          </a:p>
        </p:txBody>
      </p:sp>
      <p:sp>
        <p:nvSpPr>
          <p:cNvPr id="257" name="Google Shape;257;p11">
            <a:extLst xmlns:a="http://schemas.openxmlformats.org/drawingml/2006/main">
              <a:ext uri="{FF2B5EF4-FFF2-40B4-BE49-F238E27FC236}">
                <a16:creationId xmlns:a16="http://schemas.microsoft.com/office/drawing/2014/main" id="{DC993017-39AE-4080-B6A6-6D76BC026C63}"/>
              </a:ext>
            </a:extLst>
          </p:cNvPr>
          <p:cNvSpPr>
            <a:spLocks xmlns:a="http://schemas.openxmlformats.org/drawingml/2006/main" noGrp="1"/>
          </p:cNvSpPr>
          <p:nvPr/>
        </p:nvSpPr>
        <p:spPr>
          <a:xfrm xmlns:a="http://schemas.openxmlformats.org/drawingml/2006/main">
            <a:off x="6446520" y="5367528"/>
            <a:ext cx="4663440" cy="4937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50"/>
              <a:buFont typeface="Arial"/>
              <a:buNone/>
            </a:pPr>
            <a:r>
              <a:rPr sz="1250" b="0" i="0" u="none" cap="none">
                <a:solidFill>
                  <a:srgbClr val="B8B8B8"/>
                </a:solidFill>
                <a:latin typeface="Arial"/>
                <a:ea typeface="Arial"/>
                <a:cs typeface="Arial"/>
              </a:rPr>
              <a:t>Write the performance metric that would let someone compare your design versions fairly.</a:t>
            </a:r>
          </a:p>
        </p:txBody>
      </p:sp>
    </p:spTree>
    <p:extLst>
      <p:ext uri="{BB962C8B-B14F-4D97-AF65-F5344CB8AC3E}">
        <p14:creationId xmlns:p14="http://schemas.microsoft.com/office/powerpoint/2010/main" val="942317593"/>
      </p:ext>
    </p:extLst>
  </p:cSld>
</p:sld>
</file>

<file path=ppt/slides/slide1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263" name="Google Shape;263;p12">
            <a:extLst xmlns:a="http://schemas.openxmlformats.org/drawingml/2006/main">
              <a:ext uri="{FF2B5EF4-FFF2-40B4-BE49-F238E27FC236}">
                <a16:creationId xmlns:a16="http://schemas.microsoft.com/office/drawing/2014/main" id="{AC37E7D4-5856-4D29-971B-38858891953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4" name="Google Shape;264;p12">
            <a:extLst xmlns:a="http://schemas.openxmlformats.org/drawingml/2006/main">
              <a:ext uri="{FF2B5EF4-FFF2-40B4-BE49-F238E27FC236}">
                <a16:creationId xmlns:a16="http://schemas.microsoft.com/office/drawing/2014/main" id="{1CF09C3A-9D67-4EA2-A7F9-37D8F4631B5B}"/>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5" name="Google Shape;265;p12">
            <a:extLst xmlns:a="http://schemas.openxmlformats.org/drawingml/2006/main">
              <a:ext uri="{FF2B5EF4-FFF2-40B4-BE49-F238E27FC236}">
                <a16:creationId xmlns:a16="http://schemas.microsoft.com/office/drawing/2014/main" id="{9AA22FD3-166D-4F3C-80DE-CD12F82BE285}"/>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6" name="Google Shape;266;p12">
            <a:extLst xmlns:a="http://schemas.openxmlformats.org/drawingml/2006/main">
              <a:ext uri="{FF2B5EF4-FFF2-40B4-BE49-F238E27FC236}">
                <a16:creationId xmlns:a16="http://schemas.microsoft.com/office/drawing/2014/main" id="{148FB333-5DE0-4C65-BF27-DC2407EE5746}"/>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TRENDS</a:t>
            </a:r>
          </a:p>
        </p:txBody>
      </p:sp>
      <p:sp>
        <p:nvSpPr>
          <p:cNvPr id="267" name="Google Shape;267;p12">
            <a:extLst xmlns:a="http://schemas.openxmlformats.org/drawingml/2006/main">
              <a:ext uri="{FF2B5EF4-FFF2-40B4-BE49-F238E27FC236}">
                <a16:creationId xmlns:a16="http://schemas.microsoft.com/office/drawing/2014/main" id="{04760250-74AF-42EA-9AFE-5B6E6D8F502D}"/>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268" name="Google Shape;268;p12">
            <a:extLst xmlns:a="http://schemas.openxmlformats.org/drawingml/2006/main">
              <a:ext uri="{FF2B5EF4-FFF2-40B4-BE49-F238E27FC236}">
                <a16:creationId xmlns:a16="http://schemas.microsoft.com/office/drawing/2014/main" id="{5750E88B-80D7-4541-BAF0-6AC884756E63}"/>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Slope, Trendlines, and Relationships</a:t>
            </a:r>
          </a:p>
        </p:txBody>
      </p:sp>
      <p:sp>
        <p:nvSpPr>
          <p:cNvPr id="269" name="Google Shape;269;p12">
            <a:extLst xmlns:a="http://schemas.openxmlformats.org/drawingml/2006/main">
              <a:ext uri="{FF2B5EF4-FFF2-40B4-BE49-F238E27FC236}">
                <a16:creationId xmlns:a16="http://schemas.microsoft.com/office/drawing/2014/main" id="{9685F427-85D1-461F-97C1-28C2E4C635E3}"/>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0" name="Google Shape;270;p12">
            <a:extLst xmlns:a="http://schemas.openxmlformats.org/drawingml/2006/main">
              <a:ext uri="{FF2B5EF4-FFF2-40B4-BE49-F238E27FC236}">
                <a16:creationId xmlns:a16="http://schemas.microsoft.com/office/drawing/2014/main" id="{D2B945FE-3CDA-42AA-8973-93F0BA7C2E30}"/>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Use these when two numerical variables may be connected.</a:t>
            </a:r>
          </a:p>
        </p:txBody>
      </p:sp>
      <p:sp>
        <p:nvSpPr>
          <p:cNvPr id="271" name="Google Shape;271;p12">
            <a:extLst xmlns:a="http://schemas.openxmlformats.org/drawingml/2006/main">
              <a:ext uri="{FF2B5EF4-FFF2-40B4-BE49-F238E27FC236}">
                <a16:creationId xmlns:a16="http://schemas.microsoft.com/office/drawing/2014/main" id="{E6935A29-6818-4A4B-8DAB-802010FF0FF3}"/>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10</a:t>
            </a:r>
          </a:p>
        </p:txBody>
      </p:sp>
      <p:cxnSp>
        <p:nvCxnSpPr>
          <p:cNvPr id="295" name="Google Shape;272;p12"/>
          <p:cNvCxnSpPr/>
          <p:nvPr/>
        </p:nvCxnSpPr>
        <p:spPr>
          <a:xfrm xmlns:a="http://schemas.openxmlformats.org/drawingml/2006/main">
            <a:off x="1920240" y="4892040"/>
            <a:ext cx="7863840" cy="0"/>
          </a:xfrm>
          <a:prstGeom xmlns:a="http://schemas.openxmlformats.org/drawingml/2006/main" prst="straightConnector1">
            <a:avLst/>
          </a:prstGeom>
          <a:ln xmlns:a="http://schemas.openxmlformats.org/drawingml/2006/main" w="15225" cap="flat">
            <a:solidFill>
              <a:srgbClr val="B8B8B8"/>
            </a:solidFill>
            <a:prstDash val="solid"/>
            <a:round/>
            <a:headEnd type="none" w="sm" len="sm"/>
            <a:tailEnd type="none" w="sm" len="sm"/>
          </a:ln>
        </p:spPr>
      </p:cxnSp>
      <p:cxnSp>
        <p:nvCxnSpPr>
          <p:cNvPr id="296" name="Google Shape;273;p12"/>
          <p:cNvCxnSpPr/>
          <p:nvPr/>
        </p:nvCxnSpPr>
        <p:spPr>
          <a:xfrm xmlns:a="http://schemas.openxmlformats.org/drawingml/2006/main" rot="10800000">
            <a:off x="1920240" y="1874520"/>
            <a:ext cx="0" cy="3017520"/>
          </a:xfrm>
          <a:prstGeom xmlns:a="http://schemas.openxmlformats.org/drawingml/2006/main" prst="straightConnector1">
            <a:avLst/>
          </a:prstGeom>
          <a:ln xmlns:a="http://schemas.openxmlformats.org/drawingml/2006/main" w="15225" cap="flat">
            <a:solidFill>
              <a:srgbClr val="B8B8B8"/>
            </a:solidFill>
            <a:prstDash val="solid"/>
            <a:round/>
            <a:headEnd type="none" w="sm" len="sm"/>
            <a:tailEnd type="none" w="sm" len="sm"/>
          </a:ln>
        </p:spPr>
      </p:cxnSp>
      <p:sp>
        <p:nvSpPr>
          <p:cNvPr id="274" name="Google Shape;274;p12">
            <a:extLst xmlns:a="http://schemas.openxmlformats.org/drawingml/2006/main">
              <a:ext uri="{FF2B5EF4-FFF2-40B4-BE49-F238E27FC236}">
                <a16:creationId xmlns:a16="http://schemas.microsoft.com/office/drawing/2014/main" id="{B05948AC-3818-4FFB-BE33-97718CCAC416}"/>
              </a:ext>
            </a:extLst>
          </p:cNvPr>
          <p:cNvSpPr>
            <a:spLocks xmlns:a="http://schemas.openxmlformats.org/drawingml/2006/main" noGrp="1"/>
          </p:cNvSpPr>
          <p:nvPr/>
        </p:nvSpPr>
        <p:spPr>
          <a:xfrm xmlns:a="http://schemas.openxmlformats.org/drawingml/2006/main">
            <a:off x="2560320" y="4389120"/>
            <a:ext cx="118872" cy="118872"/>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5" name="Google Shape;275;p12">
            <a:extLst xmlns:a="http://schemas.openxmlformats.org/drawingml/2006/main">
              <a:ext uri="{FF2B5EF4-FFF2-40B4-BE49-F238E27FC236}">
                <a16:creationId xmlns:a16="http://schemas.microsoft.com/office/drawing/2014/main" id="{7E404A15-849B-4423-BE29-0EA0F9143721}"/>
              </a:ext>
            </a:extLst>
          </p:cNvPr>
          <p:cNvSpPr>
            <a:spLocks xmlns:a="http://schemas.openxmlformats.org/drawingml/2006/main" noGrp="1"/>
          </p:cNvSpPr>
          <p:nvPr/>
        </p:nvSpPr>
        <p:spPr>
          <a:xfrm xmlns:a="http://schemas.openxmlformats.org/drawingml/2006/main">
            <a:off x="3200400" y="3977640"/>
            <a:ext cx="118872" cy="118872"/>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6" name="Google Shape;276;p12">
            <a:extLst xmlns:a="http://schemas.openxmlformats.org/drawingml/2006/main">
              <a:ext uri="{FF2B5EF4-FFF2-40B4-BE49-F238E27FC236}">
                <a16:creationId xmlns:a16="http://schemas.microsoft.com/office/drawing/2014/main" id="{0F38A089-7BE5-4DC9-8F0A-81F61A8356D8}"/>
              </a:ext>
            </a:extLst>
          </p:cNvPr>
          <p:cNvSpPr>
            <a:spLocks xmlns:a="http://schemas.openxmlformats.org/drawingml/2006/main" noGrp="1"/>
          </p:cNvSpPr>
          <p:nvPr/>
        </p:nvSpPr>
        <p:spPr>
          <a:xfrm xmlns:a="http://schemas.openxmlformats.org/drawingml/2006/main">
            <a:off x="3840480" y="3749040"/>
            <a:ext cx="118872" cy="118872"/>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7" name="Google Shape;277;p12">
            <a:extLst xmlns:a="http://schemas.openxmlformats.org/drawingml/2006/main">
              <a:ext uri="{FF2B5EF4-FFF2-40B4-BE49-F238E27FC236}">
                <a16:creationId xmlns:a16="http://schemas.microsoft.com/office/drawing/2014/main" id="{F67A1FD9-4F6B-4502-B546-1628E5276F20}"/>
              </a:ext>
            </a:extLst>
          </p:cNvPr>
          <p:cNvSpPr>
            <a:spLocks xmlns:a="http://schemas.openxmlformats.org/drawingml/2006/main" noGrp="1"/>
          </p:cNvSpPr>
          <p:nvPr/>
        </p:nvSpPr>
        <p:spPr>
          <a:xfrm xmlns:a="http://schemas.openxmlformats.org/drawingml/2006/main">
            <a:off x="4572000" y="3154680"/>
            <a:ext cx="118872" cy="118872"/>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8" name="Google Shape;278;p12">
            <a:extLst xmlns:a="http://schemas.openxmlformats.org/drawingml/2006/main">
              <a:ext uri="{FF2B5EF4-FFF2-40B4-BE49-F238E27FC236}">
                <a16:creationId xmlns:a16="http://schemas.microsoft.com/office/drawing/2014/main" id="{3AFEFCE8-18AD-4D54-A08F-10F66D48ED77}"/>
              </a:ext>
            </a:extLst>
          </p:cNvPr>
          <p:cNvSpPr>
            <a:spLocks xmlns:a="http://schemas.openxmlformats.org/drawingml/2006/main" noGrp="1"/>
          </p:cNvSpPr>
          <p:nvPr/>
        </p:nvSpPr>
        <p:spPr>
          <a:xfrm xmlns:a="http://schemas.openxmlformats.org/drawingml/2006/main">
            <a:off x="5212080" y="2880360"/>
            <a:ext cx="118872" cy="118872"/>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9" name="Google Shape;279;p12">
            <a:extLst xmlns:a="http://schemas.openxmlformats.org/drawingml/2006/main">
              <a:ext uri="{FF2B5EF4-FFF2-40B4-BE49-F238E27FC236}">
                <a16:creationId xmlns:a16="http://schemas.microsoft.com/office/drawing/2014/main" id="{45F06654-92C6-4AEB-B169-40D4D1F84B3F}"/>
              </a:ext>
            </a:extLst>
          </p:cNvPr>
          <p:cNvSpPr>
            <a:spLocks xmlns:a="http://schemas.openxmlformats.org/drawingml/2006/main" noGrp="1"/>
          </p:cNvSpPr>
          <p:nvPr/>
        </p:nvSpPr>
        <p:spPr>
          <a:xfrm xmlns:a="http://schemas.openxmlformats.org/drawingml/2006/main">
            <a:off x="5852160" y="2514600"/>
            <a:ext cx="118872" cy="118872"/>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0" name="Google Shape;280;p12">
            <a:extLst xmlns:a="http://schemas.openxmlformats.org/drawingml/2006/main">
              <a:ext uri="{FF2B5EF4-FFF2-40B4-BE49-F238E27FC236}">
                <a16:creationId xmlns:a16="http://schemas.microsoft.com/office/drawing/2014/main" id="{0116379B-789A-4FF0-AA57-AA67BAB53EEC}"/>
              </a:ext>
            </a:extLst>
          </p:cNvPr>
          <p:cNvSpPr>
            <a:spLocks xmlns:a="http://schemas.openxmlformats.org/drawingml/2006/main" noGrp="1"/>
          </p:cNvSpPr>
          <p:nvPr/>
        </p:nvSpPr>
        <p:spPr>
          <a:xfrm xmlns:a="http://schemas.openxmlformats.org/drawingml/2006/main">
            <a:off x="6492240" y="2240280"/>
            <a:ext cx="118872" cy="118872"/>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1" name="Google Shape;281;p12">
            <a:extLst xmlns:a="http://schemas.openxmlformats.org/drawingml/2006/main">
              <a:ext uri="{FF2B5EF4-FFF2-40B4-BE49-F238E27FC236}">
                <a16:creationId xmlns:a16="http://schemas.microsoft.com/office/drawing/2014/main" id="{014FBA6F-0EBB-403B-8DA8-36FE610C2536}"/>
              </a:ext>
            </a:extLst>
          </p:cNvPr>
          <p:cNvSpPr>
            <a:spLocks xmlns:a="http://schemas.openxmlformats.org/drawingml/2006/main" noGrp="1"/>
          </p:cNvSpPr>
          <p:nvPr/>
        </p:nvSpPr>
        <p:spPr>
          <a:xfrm xmlns:a="http://schemas.openxmlformats.org/drawingml/2006/main">
            <a:off x="7315200" y="1965960"/>
            <a:ext cx="118872" cy="118872"/>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2" name="Google Shape;282;p12">
            <a:extLst xmlns:a="http://schemas.openxmlformats.org/drawingml/2006/main">
              <a:ext uri="{FF2B5EF4-FFF2-40B4-BE49-F238E27FC236}">
                <a16:creationId xmlns:a16="http://schemas.microsoft.com/office/drawing/2014/main" id="{99662514-B858-48C0-8ABC-58077DD8FD8D}"/>
              </a:ext>
            </a:extLst>
          </p:cNvPr>
          <p:cNvSpPr>
            <a:spLocks xmlns:a="http://schemas.openxmlformats.org/drawingml/2006/main" noGrp="1"/>
          </p:cNvSpPr>
          <p:nvPr/>
        </p:nvSpPr>
        <p:spPr>
          <a:xfrm xmlns:a="http://schemas.openxmlformats.org/drawingml/2006/main">
            <a:off x="7955280" y="1783080"/>
            <a:ext cx="118872" cy="118872"/>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3" name="Google Shape;283;p12">
            <a:extLst xmlns:a="http://schemas.openxmlformats.org/drawingml/2006/main">
              <a:ext uri="{FF2B5EF4-FFF2-40B4-BE49-F238E27FC236}">
                <a16:creationId xmlns:a16="http://schemas.microsoft.com/office/drawing/2014/main" id="{1AC3704D-81A4-449A-A68C-7934CEBF479B}"/>
              </a:ext>
            </a:extLst>
          </p:cNvPr>
          <p:cNvSpPr>
            <a:spLocks xmlns:a="http://schemas.openxmlformats.org/drawingml/2006/main" noGrp="1"/>
          </p:cNvSpPr>
          <p:nvPr/>
        </p:nvSpPr>
        <p:spPr>
          <a:xfrm xmlns:a="http://schemas.openxmlformats.org/drawingml/2006/main">
            <a:off x="8503920" y="1554480"/>
            <a:ext cx="118872" cy="118872"/>
          </a:xfrm>
          <a:prstGeom xmlns:a="http://schemas.openxmlformats.org/drawingml/2006/main" prst="ellipse">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cxnSp>
        <p:nvCxnSpPr>
          <p:cNvPr id="307" name="Google Shape;284;p12"/>
          <p:cNvCxnSpPr/>
          <p:nvPr/>
        </p:nvCxnSpPr>
        <p:spPr>
          <a:xfrm xmlns:a="http://schemas.openxmlformats.org/drawingml/2006/main" rot="10800000" flipH="1">
            <a:off x="2468880" y="1600200"/>
            <a:ext cx="6217920" cy="2743200"/>
          </a:xfrm>
          <a:prstGeom xmlns:a="http://schemas.openxmlformats.org/drawingml/2006/main" prst="straightConnector1">
            <a:avLst/>
          </a:prstGeom>
          <a:ln xmlns:a="http://schemas.openxmlformats.org/drawingml/2006/main" w="12700" cap="flat">
            <a:solidFill>
              <a:srgbClr val="FFFFFF">
                <a:alpha val="65098"/>
              </a:srgbClr>
            </a:solidFill>
            <a:prstDash val="solid"/>
            <a:round/>
            <a:headEnd type="none" w="sm" len="sm"/>
            <a:tailEnd type="none" w="sm" len="sm"/>
          </a:ln>
        </p:spPr>
      </p:cxnSp>
      <p:sp>
        <p:nvSpPr>
          <p:cNvPr id="285" name="Google Shape;285;p12">
            <a:extLst xmlns:a="http://schemas.openxmlformats.org/drawingml/2006/main">
              <a:ext uri="{FF2B5EF4-FFF2-40B4-BE49-F238E27FC236}">
                <a16:creationId xmlns:a16="http://schemas.microsoft.com/office/drawing/2014/main" id="{BB9562EE-4D6A-46A4-9880-73600C8D442D}"/>
              </a:ext>
            </a:extLst>
          </p:cNvPr>
          <p:cNvSpPr>
            <a:spLocks xmlns:a="http://schemas.openxmlformats.org/drawingml/2006/main" noGrp="1"/>
          </p:cNvSpPr>
          <p:nvPr/>
        </p:nvSpPr>
        <p:spPr>
          <a:xfrm xmlns:a="http://schemas.openxmlformats.org/drawingml/2006/main">
            <a:off x="1097280" y="5257800"/>
            <a:ext cx="987552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800"/>
              <a:buFont typeface="Arial"/>
              <a:buNone/>
            </a:pPr>
            <a:r>
              <a:rPr sz="1800" b="1" i="0" u="none" cap="none">
                <a:solidFill>
                  <a:srgbClr val="FFFFFF"/>
                </a:solidFill>
                <a:latin typeface="Arial"/>
                <a:ea typeface="Arial"/>
                <a:cs typeface="Arial"/>
              </a:rPr>
              <a:t>A trend describes a pattern. It does not prove cause.</a:t>
            </a:r>
          </a:p>
        </p:txBody>
      </p:sp>
    </p:spTree>
    <p:extLst>
      <p:ext uri="{BB962C8B-B14F-4D97-AF65-F5344CB8AC3E}">
        <p14:creationId xmlns:p14="http://schemas.microsoft.com/office/powerpoint/2010/main" val="701499258"/>
      </p:ext>
    </p:extLst>
  </p:cSld>
</p:sld>
</file>

<file path=ppt/slides/slide1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291" name="Google Shape;291;p13">
            <a:extLst xmlns:a="http://schemas.openxmlformats.org/drawingml/2006/main">
              <a:ext uri="{FF2B5EF4-FFF2-40B4-BE49-F238E27FC236}">
                <a16:creationId xmlns:a16="http://schemas.microsoft.com/office/drawing/2014/main" id="{1C61DF62-475C-4E72-A786-68B99DD47898}"/>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2" name="Google Shape;292;p13">
            <a:extLst xmlns:a="http://schemas.openxmlformats.org/drawingml/2006/main">
              <a:ext uri="{FF2B5EF4-FFF2-40B4-BE49-F238E27FC236}">
                <a16:creationId xmlns:a16="http://schemas.microsoft.com/office/drawing/2014/main" id="{E31F7A2A-C636-4B23-B0B6-0200BE8785B9}"/>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3" name="Google Shape;293;p13">
            <a:extLst xmlns:a="http://schemas.openxmlformats.org/drawingml/2006/main">
              <a:ext uri="{FF2B5EF4-FFF2-40B4-BE49-F238E27FC236}">
                <a16:creationId xmlns:a16="http://schemas.microsoft.com/office/drawing/2014/main" id="{B527D706-06BB-49D5-8097-4001AF50E4FD}"/>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4" name="Google Shape;294;p13">
            <a:extLst xmlns:a="http://schemas.openxmlformats.org/drawingml/2006/main">
              <a:ext uri="{FF2B5EF4-FFF2-40B4-BE49-F238E27FC236}">
                <a16:creationId xmlns:a16="http://schemas.microsoft.com/office/drawing/2014/main" id="{F31BEBCE-3E35-4992-A0C0-C6C530AB667D}"/>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CAUTION</a:t>
            </a:r>
          </a:p>
        </p:txBody>
      </p:sp>
      <p:sp>
        <p:nvSpPr>
          <p:cNvPr id="295" name="Google Shape;295;p13">
            <a:extLst xmlns:a="http://schemas.openxmlformats.org/drawingml/2006/main">
              <a:ext uri="{FF2B5EF4-FFF2-40B4-BE49-F238E27FC236}">
                <a16:creationId xmlns:a16="http://schemas.microsoft.com/office/drawing/2014/main" id="{F0D92189-582A-4125-93D2-438CDE15D466}"/>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296" name="Google Shape;296;p13">
            <a:extLst xmlns:a="http://schemas.openxmlformats.org/drawingml/2006/main">
              <a:ext uri="{FF2B5EF4-FFF2-40B4-BE49-F238E27FC236}">
                <a16:creationId xmlns:a16="http://schemas.microsoft.com/office/drawing/2014/main" id="{B28A70AE-3208-4DB2-AF53-5A14709CFC54}"/>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Correlation Is Not Causation</a:t>
            </a:r>
          </a:p>
        </p:txBody>
      </p:sp>
      <p:sp>
        <p:nvSpPr>
          <p:cNvPr id="297" name="Google Shape;297;p13">
            <a:extLst xmlns:a="http://schemas.openxmlformats.org/drawingml/2006/main">
              <a:ext uri="{FF2B5EF4-FFF2-40B4-BE49-F238E27FC236}">
                <a16:creationId xmlns:a16="http://schemas.microsoft.com/office/drawing/2014/main" id="{5FA9B5C0-15BC-4923-BA91-0E884AC0417B}"/>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8" name="Google Shape;298;p13">
            <a:extLst xmlns:a="http://schemas.openxmlformats.org/drawingml/2006/main">
              <a:ext uri="{FF2B5EF4-FFF2-40B4-BE49-F238E27FC236}">
                <a16:creationId xmlns:a16="http://schemas.microsoft.com/office/drawing/2014/main" id="{7CB0DBCF-AEC7-428A-9BF1-7BBE03CC28B9}"/>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A relationship between variables does not prove one caused the other.</a:t>
            </a:r>
          </a:p>
        </p:txBody>
      </p:sp>
      <p:sp>
        <p:nvSpPr>
          <p:cNvPr id="299" name="Google Shape;299;p13">
            <a:extLst xmlns:a="http://schemas.openxmlformats.org/drawingml/2006/main">
              <a:ext uri="{FF2B5EF4-FFF2-40B4-BE49-F238E27FC236}">
                <a16:creationId xmlns:a16="http://schemas.microsoft.com/office/drawing/2014/main" id="{FC126A57-5224-4E8B-A75B-13A34D22A020}"/>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11</a:t>
            </a:r>
          </a:p>
        </p:txBody>
      </p:sp>
      <p:sp>
        <p:nvSpPr>
          <p:cNvPr id="300" name="Google Shape;300;p13">
            <a:extLst xmlns:a="http://schemas.openxmlformats.org/drawingml/2006/main">
              <a:ext uri="{FF2B5EF4-FFF2-40B4-BE49-F238E27FC236}">
                <a16:creationId xmlns:a16="http://schemas.microsoft.com/office/drawing/2014/main" id="{E75D8867-2870-4D8D-B7F0-DFBE9FB1D9A0}"/>
              </a:ext>
            </a:extLst>
          </p:cNvPr>
          <p:cNvSpPr>
            <a:spLocks xmlns:a="http://schemas.openxmlformats.org/drawingml/2006/main" noGrp="1"/>
          </p:cNvSpPr>
          <p:nvPr/>
        </p:nvSpPr>
        <p:spPr>
          <a:xfrm xmlns:a="http://schemas.openxmlformats.org/drawingml/2006/main">
            <a:off x="1188720" y="2194560"/>
            <a:ext cx="2834640" cy="594360"/>
          </a:xfrm>
          <a:prstGeom xmlns:a="http://schemas.openxmlformats.org/drawingml/2006/main" prst="roundRect">
            <a:avLst>
              <a:gd name="adj" fmla="val 9231"/>
            </a:avLst>
          </a:prstGeom>
          <a:solidFill xmlns:a="http://schemas.openxmlformats.org/drawingml/2006/main">
            <a:srgbClr val="1A1A1A"/>
          </a:solidFill>
          <a:ln xmlns:a="http://schemas.openxmlformats.org/drawingml/2006/main" w="10150" cmpd="sng">
            <a:solidFill>
              <a:srgbClr val="D71920">
                <a:alpha val="34901"/>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1" name="Google Shape;301;p13">
            <a:extLst xmlns:a="http://schemas.openxmlformats.org/drawingml/2006/main">
              <a:ext uri="{FF2B5EF4-FFF2-40B4-BE49-F238E27FC236}">
                <a16:creationId xmlns:a16="http://schemas.microsoft.com/office/drawing/2014/main" id="{0BA20613-C258-4D1A-B6BC-FCA528523A53}"/>
              </a:ext>
            </a:extLst>
          </p:cNvPr>
          <p:cNvSpPr>
            <a:spLocks xmlns:a="http://schemas.openxmlformats.org/drawingml/2006/main" noGrp="1"/>
          </p:cNvSpPr>
          <p:nvPr/>
        </p:nvSpPr>
        <p:spPr>
          <a:xfrm xmlns:a="http://schemas.openxmlformats.org/drawingml/2006/main">
            <a:off x="1298448" y="2267712"/>
            <a:ext cx="2615184"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500"/>
              <a:buFont typeface="Arial"/>
              <a:buNone/>
            </a:pPr>
            <a:r>
              <a:rPr sz="1500" b="1" i="0" u="none" cap="none">
                <a:solidFill>
                  <a:srgbClr val="FFFFFF"/>
                </a:solidFill>
                <a:latin typeface="Arial"/>
                <a:ea typeface="Arial"/>
                <a:cs typeface="Arial"/>
              </a:rPr>
              <a:t>Variable A increases</a:t>
            </a:r>
          </a:p>
        </p:txBody>
      </p:sp>
      <p:sp>
        <p:nvSpPr>
          <p:cNvPr id="302" name="Google Shape;302;p13">
            <a:extLst xmlns:a="http://schemas.openxmlformats.org/drawingml/2006/main">
              <a:ext uri="{FF2B5EF4-FFF2-40B4-BE49-F238E27FC236}">
                <a16:creationId xmlns:a16="http://schemas.microsoft.com/office/drawing/2014/main" id="{1C40EE47-1FD6-4E73-8B64-773E0F7BA599}"/>
              </a:ext>
            </a:extLst>
          </p:cNvPr>
          <p:cNvSpPr>
            <a:spLocks xmlns:a="http://schemas.openxmlformats.org/drawingml/2006/main" noGrp="1"/>
          </p:cNvSpPr>
          <p:nvPr/>
        </p:nvSpPr>
        <p:spPr>
          <a:xfrm xmlns:a="http://schemas.openxmlformats.org/drawingml/2006/main">
            <a:off x="8138160" y="2194560"/>
            <a:ext cx="2834640" cy="594360"/>
          </a:xfrm>
          <a:prstGeom xmlns:a="http://schemas.openxmlformats.org/drawingml/2006/main" prst="roundRect">
            <a:avLst>
              <a:gd name="adj" fmla="val 9231"/>
            </a:avLst>
          </a:prstGeom>
          <a:solidFill xmlns:a="http://schemas.openxmlformats.org/drawingml/2006/main">
            <a:srgbClr val="1A1A1A"/>
          </a:solidFill>
          <a:ln xmlns:a="http://schemas.openxmlformats.org/drawingml/2006/main" w="10150" cmpd="sng">
            <a:solidFill>
              <a:srgbClr val="D71920">
                <a:alpha val="34901"/>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3" name="Google Shape;303;p13">
            <a:extLst xmlns:a="http://schemas.openxmlformats.org/drawingml/2006/main">
              <a:ext uri="{FF2B5EF4-FFF2-40B4-BE49-F238E27FC236}">
                <a16:creationId xmlns:a16="http://schemas.microsoft.com/office/drawing/2014/main" id="{5EC97852-8837-43ED-A70C-B63D09FAAFB6}"/>
              </a:ext>
            </a:extLst>
          </p:cNvPr>
          <p:cNvSpPr>
            <a:spLocks xmlns:a="http://schemas.openxmlformats.org/drawingml/2006/main" noGrp="1"/>
          </p:cNvSpPr>
          <p:nvPr/>
        </p:nvSpPr>
        <p:spPr>
          <a:xfrm xmlns:a="http://schemas.openxmlformats.org/drawingml/2006/main">
            <a:off x="8247888" y="2267712"/>
            <a:ext cx="2615184"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500"/>
              <a:buFont typeface="Arial"/>
              <a:buNone/>
            </a:pPr>
            <a:r>
              <a:rPr sz="1500" b="1" i="0" u="none" cap="none">
                <a:solidFill>
                  <a:srgbClr val="FFFFFF"/>
                </a:solidFill>
                <a:latin typeface="Arial"/>
                <a:ea typeface="Arial"/>
                <a:cs typeface="Arial"/>
              </a:rPr>
              <a:t>Variable B increases</a:t>
            </a:r>
          </a:p>
        </p:txBody>
      </p:sp>
      <p:sp>
        <p:nvSpPr>
          <p:cNvPr id="304" name="Google Shape;304;p13">
            <a:extLst xmlns:a="http://schemas.openxmlformats.org/drawingml/2006/main">
              <a:ext uri="{FF2B5EF4-FFF2-40B4-BE49-F238E27FC236}">
                <a16:creationId xmlns:a16="http://schemas.microsoft.com/office/drawing/2014/main" id="{B9B30588-FA0D-4C02-8894-97AD955197DD}"/>
              </a:ext>
            </a:extLst>
          </p:cNvPr>
          <p:cNvSpPr>
            <a:spLocks xmlns:a="http://schemas.openxmlformats.org/drawingml/2006/main" noGrp="1"/>
          </p:cNvSpPr>
          <p:nvPr/>
        </p:nvSpPr>
        <p:spPr>
          <a:xfrm xmlns:a="http://schemas.openxmlformats.org/drawingml/2006/main">
            <a:off x="4937760" y="2267712"/>
            <a:ext cx="960120" cy="411480"/>
          </a:xfrm>
          <a:prstGeom xmlns:a="http://schemas.openxmlformats.org/drawingml/2006/main" prst="chevron">
            <a:avLst>
              <a:gd name="adj" fmla="val 50000"/>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5" name="Google Shape;305;p13">
            <a:extLst xmlns:a="http://schemas.openxmlformats.org/drawingml/2006/main">
              <a:ext uri="{FF2B5EF4-FFF2-40B4-BE49-F238E27FC236}">
                <a16:creationId xmlns:a16="http://schemas.microsoft.com/office/drawing/2014/main" id="{F9ECE570-BA5F-4F4D-9833-E0C175E5BC90}"/>
              </a:ext>
            </a:extLst>
          </p:cNvPr>
          <p:cNvSpPr>
            <a:spLocks xmlns:a="http://schemas.openxmlformats.org/drawingml/2006/main" noGrp="1"/>
          </p:cNvSpPr>
          <p:nvPr/>
        </p:nvSpPr>
        <p:spPr>
          <a:xfrm xmlns:a="http://schemas.openxmlformats.org/drawingml/2006/main">
            <a:off x="4617720" y="2788920"/>
            <a:ext cx="1828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B8B8B8"/>
              </a:buClr>
              <a:buSzPts val="1300"/>
              <a:buFont typeface="Arial"/>
              <a:buNone/>
            </a:pPr>
            <a:r>
              <a:rPr sz="1300" b="0" i="0" u="none" cap="none">
                <a:solidFill>
                  <a:srgbClr val="B8B8B8"/>
                </a:solidFill>
                <a:latin typeface="Arial"/>
                <a:ea typeface="Arial"/>
                <a:cs typeface="Arial"/>
              </a:rPr>
              <a:t>relationship?</a:t>
            </a:r>
          </a:p>
        </p:txBody>
      </p:sp>
      <p:sp>
        <p:nvSpPr>
          <p:cNvPr id="306" name="Google Shape;306;p13">
            <a:extLst xmlns:a="http://schemas.openxmlformats.org/drawingml/2006/main">
              <a:ext uri="{FF2B5EF4-FFF2-40B4-BE49-F238E27FC236}">
                <a16:creationId xmlns:a16="http://schemas.microsoft.com/office/drawing/2014/main" id="{400748A9-7613-481F-8045-667D0391C0CF}"/>
              </a:ext>
            </a:extLst>
          </p:cNvPr>
          <p:cNvSpPr>
            <a:spLocks xmlns:a="http://schemas.openxmlformats.org/drawingml/2006/main" noGrp="1"/>
          </p:cNvSpPr>
          <p:nvPr/>
        </p:nvSpPr>
        <p:spPr>
          <a:xfrm xmlns:a="http://schemas.openxmlformats.org/drawingml/2006/main">
            <a:off x="1371600" y="3657600"/>
            <a:ext cx="9692640" cy="1097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 Could be direct cause• Could be caused by another variable</a:t>
            </a:r>
          </a:p>
          <a:p xmlns:a="http://schemas.openxmlformats.org/drawingml/2006/main">
            <a:pPr marL="0" marR="0" indent="0" algn="l">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 Could be coincidence in a small sample</a:t>
            </a:r>
          </a:p>
          <a:p xmlns:a="http://schemas.openxmlformats.org/drawingml/2006/main">
            <a:pPr marL="0" marR="0" indent="0" algn="l">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 Needs controls before causal claims</a:t>
            </a:r>
          </a:p>
        </p:txBody>
      </p:sp>
    </p:spTree>
    <p:extLst>
      <p:ext uri="{BB962C8B-B14F-4D97-AF65-F5344CB8AC3E}">
        <p14:creationId xmlns:p14="http://schemas.microsoft.com/office/powerpoint/2010/main" val="28736032"/>
      </p:ext>
    </p:extLst>
  </p:cSld>
</p:sld>
</file>

<file path=ppt/slides/slide12.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312" name="Google Shape;312;p14">
            <a:extLst xmlns:a="http://schemas.openxmlformats.org/drawingml/2006/main">
              <a:ext uri="{FF2B5EF4-FFF2-40B4-BE49-F238E27FC236}">
                <a16:creationId xmlns:a16="http://schemas.microsoft.com/office/drawing/2014/main" id="{14341D5A-099C-4C45-BE85-D13DF86B3F6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3" name="Google Shape;313;p14">
            <a:extLst xmlns:a="http://schemas.openxmlformats.org/drawingml/2006/main">
              <a:ext uri="{FF2B5EF4-FFF2-40B4-BE49-F238E27FC236}">
                <a16:creationId xmlns:a16="http://schemas.microsoft.com/office/drawing/2014/main" id="{9EDA46B5-21C9-4929-8215-06D2A4839576}"/>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4" name="Google Shape;314;p14">
            <a:extLst xmlns:a="http://schemas.openxmlformats.org/drawingml/2006/main">
              <a:ext uri="{FF2B5EF4-FFF2-40B4-BE49-F238E27FC236}">
                <a16:creationId xmlns:a16="http://schemas.microsoft.com/office/drawing/2014/main" id="{88B91324-8FDF-4837-A51C-0D63392285F3}"/>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5" name="Google Shape;315;p14">
            <a:extLst xmlns:a="http://schemas.openxmlformats.org/drawingml/2006/main">
              <a:ext uri="{FF2B5EF4-FFF2-40B4-BE49-F238E27FC236}">
                <a16:creationId xmlns:a16="http://schemas.microsoft.com/office/drawing/2014/main" id="{52147C31-21D5-4A38-A9B9-64926F712494}"/>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ENGINEERING</a:t>
            </a:r>
          </a:p>
        </p:txBody>
      </p:sp>
      <p:sp>
        <p:nvSpPr>
          <p:cNvPr id="316" name="Google Shape;316;p14">
            <a:extLst xmlns:a="http://schemas.openxmlformats.org/drawingml/2006/main">
              <a:ext uri="{FF2B5EF4-FFF2-40B4-BE49-F238E27FC236}">
                <a16:creationId xmlns:a16="http://schemas.microsoft.com/office/drawing/2014/main" id="{9230432A-AC3B-4402-82C6-E8E0527C1FEF}"/>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317" name="Google Shape;317;p14">
            <a:extLst xmlns:a="http://schemas.openxmlformats.org/drawingml/2006/main">
              <a:ext uri="{FF2B5EF4-FFF2-40B4-BE49-F238E27FC236}">
                <a16:creationId xmlns:a16="http://schemas.microsoft.com/office/drawing/2014/main" id="{70500BED-96DD-488C-97AC-55043E9FB102}"/>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Engineering Projects: Compare Against Criteria</a:t>
            </a:r>
          </a:p>
        </p:txBody>
      </p:sp>
      <p:sp>
        <p:nvSpPr>
          <p:cNvPr id="318" name="Google Shape;318;p14">
            <a:extLst xmlns:a="http://schemas.openxmlformats.org/drawingml/2006/main">
              <a:ext uri="{FF2B5EF4-FFF2-40B4-BE49-F238E27FC236}">
                <a16:creationId xmlns:a16="http://schemas.microsoft.com/office/drawing/2014/main" id="{54FDFAF4-A758-4662-9E67-20E7C9AFC6D1}"/>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9" name="Google Shape;319;p14">
            <a:extLst xmlns:a="http://schemas.openxmlformats.org/drawingml/2006/main">
              <a:ext uri="{FF2B5EF4-FFF2-40B4-BE49-F238E27FC236}">
                <a16:creationId xmlns:a16="http://schemas.microsoft.com/office/drawing/2014/main" id="{43ED90C3-C184-45D2-ABE4-790B99F93EED}"/>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A design is analyzed by performance, constraints, tradeoffs, and failure mode.</a:t>
            </a:r>
          </a:p>
        </p:txBody>
      </p:sp>
      <p:sp>
        <p:nvSpPr>
          <p:cNvPr id="320" name="Google Shape;320;p14">
            <a:extLst xmlns:a="http://schemas.openxmlformats.org/drawingml/2006/main">
              <a:ext uri="{FF2B5EF4-FFF2-40B4-BE49-F238E27FC236}">
                <a16:creationId xmlns:a16="http://schemas.microsoft.com/office/drawing/2014/main" id="{B717E47E-AAC7-4479-AE5A-D34BDBDAE891}"/>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12</a:t>
            </a:r>
          </a:p>
        </p:txBody>
      </p:sp>
      <p:sp>
        <p:nvSpPr>
          <p:cNvPr id="321" name="Google Shape;321;p14">
            <a:extLst xmlns:a="http://schemas.openxmlformats.org/drawingml/2006/main">
              <a:ext uri="{FF2B5EF4-FFF2-40B4-BE49-F238E27FC236}">
                <a16:creationId xmlns:a16="http://schemas.microsoft.com/office/drawing/2014/main" id="{BC235D24-B2DD-4EC3-9708-943942BD3379}"/>
              </a:ext>
            </a:extLst>
          </p:cNvPr>
          <p:cNvSpPr>
            <a:spLocks xmlns:a="http://schemas.openxmlformats.org/drawingml/2006/main" noGrp="1"/>
          </p:cNvSpPr>
          <p:nvPr/>
        </p:nvSpPr>
        <p:spPr>
          <a:xfrm xmlns:a="http://schemas.openxmlformats.org/drawingml/2006/main">
            <a:off x="777240" y="1508760"/>
            <a:ext cx="5029200" cy="4069080"/>
          </a:xfrm>
          <a:prstGeom xmlns:a="http://schemas.openxmlformats.org/drawingml/2006/main" prst="roundRect">
            <a:avLst>
              <a:gd name="adj" fmla="val 1798"/>
            </a:avLst>
          </a:prstGeom>
          <a:solidFill xmlns:a="http://schemas.openxmlformats.org/drawingml/2006/main">
            <a:srgbClr val="1A1A1A"/>
          </a:solidFill>
          <a:ln xmlns:a="http://schemas.openxmlformats.org/drawingml/2006/main" w="15225" cmpd="sng">
            <a:solidFill>
              <a:srgbClr val="D71920">
                <a:alpha val="65098"/>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2" name="Google Shape;322;p14">
            <a:extLst xmlns:a="http://schemas.openxmlformats.org/drawingml/2006/main">
              <a:ext uri="{FF2B5EF4-FFF2-40B4-BE49-F238E27FC236}">
                <a16:creationId xmlns:a16="http://schemas.microsoft.com/office/drawing/2014/main" id="{3F8F5778-4851-4311-BBE8-90573D56870F}"/>
              </a:ext>
            </a:extLst>
          </p:cNvPr>
          <p:cNvSpPr>
            <a:spLocks xmlns:a="http://schemas.openxmlformats.org/drawingml/2006/main" noGrp="1"/>
          </p:cNvSpPr>
          <p:nvPr/>
        </p:nvSpPr>
        <p:spPr>
          <a:xfrm xmlns:a="http://schemas.openxmlformats.org/drawingml/2006/main">
            <a:off x="1051560" y="1783080"/>
            <a:ext cx="44805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600"/>
              <a:buFont typeface="Arial"/>
              <a:buNone/>
            </a:pPr>
            <a:r>
              <a:rPr sz="1600" b="1" i="0" u="none" cap="none">
                <a:solidFill>
                  <a:srgbClr val="D71920"/>
                </a:solidFill>
                <a:latin typeface="Arial"/>
                <a:ea typeface="Arial"/>
                <a:cs typeface="Arial"/>
              </a:rPr>
              <a:t>Analyze performance</a:t>
            </a:r>
          </a:p>
        </p:txBody>
      </p:sp>
      <p:sp>
        <p:nvSpPr>
          <p:cNvPr id="323" name="Google Shape;323;p14">
            <a:extLst xmlns:a="http://schemas.openxmlformats.org/drawingml/2006/main">
              <a:ext uri="{FF2B5EF4-FFF2-40B4-BE49-F238E27FC236}">
                <a16:creationId xmlns:a16="http://schemas.microsoft.com/office/drawing/2014/main" id="{18737398-46E1-456A-B1FC-3618971B0BA8}"/>
              </a:ext>
            </a:extLst>
          </p:cNvPr>
          <p:cNvSpPr>
            <a:spLocks xmlns:a="http://schemas.openxmlformats.org/drawingml/2006/main" noGrp="1"/>
          </p:cNvSpPr>
          <p:nvPr/>
        </p:nvSpPr>
        <p:spPr>
          <a:xfrm xmlns:a="http://schemas.openxmlformats.org/drawingml/2006/main">
            <a:off x="1097280" y="2377440"/>
            <a:ext cx="4297680" cy="2011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FFFFF"/>
              </a:buClr>
              <a:buSzPts val="1500"/>
              <a:buFont typeface="Arial"/>
              <a:buNone/>
            </a:pPr>
            <a:r>
              <a:rPr sz="1500" b="0" i="0" u="none" cap="none">
                <a:solidFill>
                  <a:srgbClr val="FFFFFF"/>
                </a:solidFill>
                <a:latin typeface="Arial"/>
                <a:ea typeface="Arial"/>
                <a:cs typeface="Arial"/>
              </a:rPr>
              <a:t>• Which prototype performed best?</a:t>
            </a:r>
          </a:p>
          <a:p xmlns:a="http://schemas.openxmlformats.org/drawingml/2006/main">
            <a:pPr marL="0" marR="0" indent="0" algn="l">
              <a:spcBef>
                <a:spcPts val="0"/>
              </a:spcBef>
              <a:spcAft>
                <a:spcPts val="0"/>
              </a:spcAft>
              <a:buClr>
                <a:srgbClr val="FFFFFF"/>
              </a:buClr>
              <a:buSzPts val="1500"/>
              <a:buFont typeface="Arial"/>
              <a:buNone/>
            </a:pPr>
            <a:r>
              <a:rPr sz="1500" b="0" i="0" u="none" cap="none">
                <a:solidFill>
                  <a:srgbClr val="FFFFFF"/>
                </a:solidFill>
                <a:latin typeface="Arial"/>
                <a:ea typeface="Arial"/>
                <a:cs typeface="Arial"/>
              </a:rPr>
              <a:t>• Which criteria were met?</a:t>
            </a:r>
          </a:p>
          <a:p xmlns:a="http://schemas.openxmlformats.org/drawingml/2006/main">
            <a:pPr marL="0" marR="0" indent="0" algn="l">
              <a:spcBef>
                <a:spcPts val="0"/>
              </a:spcBef>
              <a:spcAft>
                <a:spcPts val="0"/>
              </a:spcAft>
              <a:buClr>
                <a:srgbClr val="FFFFFF"/>
              </a:buClr>
              <a:buSzPts val="1500"/>
              <a:buFont typeface="Arial"/>
              <a:buNone/>
            </a:pPr>
            <a:r>
              <a:rPr sz="1500" b="0" i="0" u="none" cap="none">
                <a:solidFill>
                  <a:srgbClr val="FFFFFF"/>
                </a:solidFill>
                <a:latin typeface="Arial"/>
                <a:ea typeface="Arial"/>
                <a:cs typeface="Arial"/>
              </a:rPr>
              <a:t>• Which constraints mattered?</a:t>
            </a:r>
          </a:p>
        </p:txBody>
      </p:sp>
      <p:sp>
        <p:nvSpPr>
          <p:cNvPr id="324" name="Google Shape;324;p14">
            <a:extLst xmlns:a="http://schemas.openxmlformats.org/drawingml/2006/main">
              <a:ext uri="{FF2B5EF4-FFF2-40B4-BE49-F238E27FC236}">
                <a16:creationId xmlns:a16="http://schemas.microsoft.com/office/drawing/2014/main" id="{CA8DAF15-CDFB-4ED0-A079-18B0B76E4C83}"/>
              </a:ext>
            </a:extLst>
          </p:cNvPr>
          <p:cNvSpPr>
            <a:spLocks xmlns:a="http://schemas.openxmlformats.org/drawingml/2006/main" noGrp="1"/>
          </p:cNvSpPr>
          <p:nvPr/>
        </p:nvSpPr>
        <p:spPr>
          <a:xfrm xmlns:a="http://schemas.openxmlformats.org/drawingml/2006/main">
            <a:off x="6355080" y="1508760"/>
            <a:ext cx="5029200" cy="4069080"/>
          </a:xfrm>
          <a:prstGeom xmlns:a="http://schemas.openxmlformats.org/drawingml/2006/main" prst="roundRect">
            <a:avLst>
              <a:gd name="adj" fmla="val 1798"/>
            </a:avLst>
          </a:prstGeom>
          <a:solidFill xmlns:a="http://schemas.openxmlformats.org/drawingml/2006/main">
            <a:srgbClr val="1A1A1A"/>
          </a:solidFill>
          <a:ln xmlns:a="http://schemas.openxmlformats.org/drawingml/2006/main" w="15225" cmpd="sng">
            <a:solidFill>
              <a:srgbClr val="D71920">
                <a:alpha val="65098"/>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5" name="Google Shape;325;p14">
            <a:extLst xmlns:a="http://schemas.openxmlformats.org/drawingml/2006/main">
              <a:ext uri="{FF2B5EF4-FFF2-40B4-BE49-F238E27FC236}">
                <a16:creationId xmlns:a16="http://schemas.microsoft.com/office/drawing/2014/main" id="{FEFEA431-831C-4DC1-ABAB-88D3793BE091}"/>
              </a:ext>
            </a:extLst>
          </p:cNvPr>
          <p:cNvSpPr>
            <a:spLocks xmlns:a="http://schemas.openxmlformats.org/drawingml/2006/main" noGrp="1"/>
          </p:cNvSpPr>
          <p:nvPr/>
        </p:nvSpPr>
        <p:spPr>
          <a:xfrm xmlns:a="http://schemas.openxmlformats.org/drawingml/2006/main">
            <a:off x="6629400" y="1783080"/>
            <a:ext cx="44805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600"/>
              <a:buFont typeface="Arial"/>
              <a:buNone/>
            </a:pPr>
            <a:r>
              <a:rPr sz="1600" b="1" i="0" u="none" cap="none">
                <a:solidFill>
                  <a:srgbClr val="D71920"/>
                </a:solidFill>
                <a:latin typeface="Arial"/>
                <a:ea typeface="Arial"/>
                <a:cs typeface="Arial"/>
              </a:rPr>
              <a:t>Analyze failure</a:t>
            </a:r>
          </a:p>
        </p:txBody>
      </p:sp>
      <p:sp>
        <p:nvSpPr>
          <p:cNvPr id="326" name="Google Shape;326;p14">
            <a:extLst xmlns:a="http://schemas.openxmlformats.org/drawingml/2006/main">
              <a:ext uri="{FF2B5EF4-FFF2-40B4-BE49-F238E27FC236}">
                <a16:creationId xmlns:a16="http://schemas.microsoft.com/office/drawing/2014/main" id="{097A0707-F669-4485-ADE3-A4ADAEA5FA90}"/>
              </a:ext>
            </a:extLst>
          </p:cNvPr>
          <p:cNvSpPr>
            <a:spLocks xmlns:a="http://schemas.openxmlformats.org/drawingml/2006/main" noGrp="1"/>
          </p:cNvSpPr>
          <p:nvPr/>
        </p:nvSpPr>
        <p:spPr>
          <a:xfrm xmlns:a="http://schemas.openxmlformats.org/drawingml/2006/main">
            <a:off x="6675120" y="2377440"/>
            <a:ext cx="4297680" cy="2011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FFFFF"/>
              </a:buClr>
              <a:buSzPts val="1500"/>
              <a:buFont typeface="Arial"/>
              <a:buNone/>
            </a:pPr>
            <a:r>
              <a:rPr sz="1500" b="0" i="0" u="none" cap="none">
                <a:solidFill>
                  <a:srgbClr val="FFFFFF"/>
                </a:solidFill>
                <a:latin typeface="Arial"/>
                <a:ea typeface="Arial"/>
                <a:cs typeface="Arial"/>
              </a:rPr>
              <a:t>• Where did it fail?</a:t>
            </a:r>
          </a:p>
          <a:p xmlns:a="http://schemas.openxmlformats.org/drawingml/2006/main">
            <a:pPr marL="0" marR="0" indent="0" algn="l">
              <a:spcBef>
                <a:spcPts val="0"/>
              </a:spcBef>
              <a:spcAft>
                <a:spcPts val="0"/>
              </a:spcAft>
              <a:buClr>
                <a:srgbClr val="FFFFFF"/>
              </a:buClr>
              <a:buSzPts val="1500"/>
              <a:buFont typeface="Arial"/>
              <a:buNone/>
            </a:pPr>
            <a:r>
              <a:rPr sz="1500" b="0" i="0" u="none" cap="none">
                <a:solidFill>
                  <a:srgbClr val="FFFFFF"/>
                </a:solidFill>
                <a:latin typeface="Arial"/>
                <a:ea typeface="Arial"/>
                <a:cs typeface="Arial"/>
              </a:rPr>
              <a:t>• What tradeoff appeared?</a:t>
            </a:r>
          </a:p>
          <a:p xmlns:a="http://schemas.openxmlformats.org/drawingml/2006/main">
            <a:pPr marL="0" marR="0" indent="0" algn="l">
              <a:spcBef>
                <a:spcPts val="0"/>
              </a:spcBef>
              <a:spcAft>
                <a:spcPts val="0"/>
              </a:spcAft>
              <a:buClr>
                <a:srgbClr val="FFFFFF"/>
              </a:buClr>
              <a:buSzPts val="1500"/>
              <a:buFont typeface="Arial"/>
              <a:buNone/>
            </a:pPr>
            <a:r>
              <a:rPr sz="1500" b="0" i="0" u="none" cap="none">
                <a:solidFill>
                  <a:srgbClr val="FFFFFF"/>
                </a:solidFill>
                <a:latin typeface="Arial"/>
                <a:ea typeface="Arial"/>
                <a:cs typeface="Arial"/>
              </a:rPr>
              <a:t>• What redesign is justified?</a:t>
            </a:r>
          </a:p>
        </p:txBody>
      </p:sp>
    </p:spTree>
    <p:extLst>
      <p:ext uri="{BB962C8B-B14F-4D97-AF65-F5344CB8AC3E}">
        <p14:creationId xmlns:p14="http://schemas.microsoft.com/office/powerpoint/2010/main" val="1965380537"/>
      </p:ext>
    </p:extLst>
  </p:cSld>
</p:sld>
</file>

<file path=ppt/slides/slide13.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332" name="Google Shape;332;p15">
            <a:extLst xmlns:a="http://schemas.openxmlformats.org/drawingml/2006/main">
              <a:ext uri="{FF2B5EF4-FFF2-40B4-BE49-F238E27FC236}">
                <a16:creationId xmlns:a16="http://schemas.microsoft.com/office/drawing/2014/main" id="{69542E8D-78FD-47F3-94EE-E1FBFDAB094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3" name="Google Shape;333;p15">
            <a:extLst xmlns:a="http://schemas.openxmlformats.org/drawingml/2006/main">
              <a:ext uri="{FF2B5EF4-FFF2-40B4-BE49-F238E27FC236}">
                <a16:creationId xmlns:a16="http://schemas.microsoft.com/office/drawing/2014/main" id="{7D6AE72C-7CA1-4E90-894C-EE58C7B187E3}"/>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4" name="Google Shape;334;p15">
            <a:extLst xmlns:a="http://schemas.openxmlformats.org/drawingml/2006/main">
              <a:ext uri="{FF2B5EF4-FFF2-40B4-BE49-F238E27FC236}">
                <a16:creationId xmlns:a16="http://schemas.microsoft.com/office/drawing/2014/main" id="{CA88FDE3-CCF4-40F0-8F51-77EE2A3BF7F9}"/>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5" name="Google Shape;335;p15">
            <a:extLst xmlns:a="http://schemas.openxmlformats.org/drawingml/2006/main">
              <a:ext uri="{FF2B5EF4-FFF2-40B4-BE49-F238E27FC236}">
                <a16:creationId xmlns:a16="http://schemas.microsoft.com/office/drawing/2014/main" id="{1D10B168-F6DC-45A4-91EF-745E43EAA9FE}"/>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QUALITATIVE</a:t>
            </a:r>
          </a:p>
        </p:txBody>
      </p:sp>
      <p:sp>
        <p:nvSpPr>
          <p:cNvPr id="336" name="Google Shape;336;p15">
            <a:extLst xmlns:a="http://schemas.openxmlformats.org/drawingml/2006/main">
              <a:ext uri="{FF2B5EF4-FFF2-40B4-BE49-F238E27FC236}">
                <a16:creationId xmlns:a16="http://schemas.microsoft.com/office/drawing/2014/main" id="{234BC7E3-961E-4DCB-A8A3-FC22DACAE8F0}"/>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337" name="Google Shape;337;p15">
            <a:extLst xmlns:a="http://schemas.openxmlformats.org/drawingml/2006/main">
              <a:ext uri="{FF2B5EF4-FFF2-40B4-BE49-F238E27FC236}">
                <a16:creationId xmlns:a16="http://schemas.microsoft.com/office/drawing/2014/main" id="{36B4F00B-3516-4321-B34C-3516DB1B4225}"/>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Observational Data Still Needs Structure</a:t>
            </a:r>
          </a:p>
        </p:txBody>
      </p:sp>
      <p:sp>
        <p:nvSpPr>
          <p:cNvPr id="338" name="Google Shape;338;p15">
            <a:extLst xmlns:a="http://schemas.openxmlformats.org/drawingml/2006/main">
              <a:ext uri="{FF2B5EF4-FFF2-40B4-BE49-F238E27FC236}">
                <a16:creationId xmlns:a16="http://schemas.microsoft.com/office/drawing/2014/main" id="{B3127390-F12A-4255-A493-8E804CFBDF29}"/>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9" name="Google Shape;339;p15">
            <a:extLst xmlns:a="http://schemas.openxmlformats.org/drawingml/2006/main">
              <a:ext uri="{FF2B5EF4-FFF2-40B4-BE49-F238E27FC236}">
                <a16:creationId xmlns:a16="http://schemas.microsoft.com/office/drawing/2014/main" id="{0701BC0D-A6E9-4079-ACFA-FF6AE950396F}"/>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Descriptive evidence can be analyzed when it is organized systematically.</a:t>
            </a:r>
          </a:p>
        </p:txBody>
      </p:sp>
      <p:sp>
        <p:nvSpPr>
          <p:cNvPr id="340" name="Google Shape;340;p15">
            <a:extLst xmlns:a="http://schemas.openxmlformats.org/drawingml/2006/main">
              <a:ext uri="{FF2B5EF4-FFF2-40B4-BE49-F238E27FC236}">
                <a16:creationId xmlns:a16="http://schemas.microsoft.com/office/drawing/2014/main" id="{C64C6447-DE3C-4685-B87B-E1FB8860402E}"/>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13</a:t>
            </a:r>
          </a:p>
        </p:txBody>
      </p:sp>
      <p:sp>
        <p:nvSpPr>
          <p:cNvPr id="341" name="Google Shape;341;p15">
            <a:extLst xmlns:a="http://schemas.openxmlformats.org/drawingml/2006/main">
              <a:ext uri="{FF2B5EF4-FFF2-40B4-BE49-F238E27FC236}">
                <a16:creationId xmlns:a16="http://schemas.microsoft.com/office/drawing/2014/main" id="{E1B634C2-1CC5-4DBE-B4E8-A5E645FA4859}"/>
              </a:ext>
            </a:extLst>
          </p:cNvPr>
          <p:cNvSpPr>
            <a:spLocks xmlns:a="http://schemas.openxmlformats.org/drawingml/2006/main" noGrp="1"/>
          </p:cNvSpPr>
          <p:nvPr/>
        </p:nvSpPr>
        <p:spPr>
          <a:xfrm xmlns:a="http://schemas.openxmlformats.org/drawingml/2006/main">
            <a:off x="777240" y="1508760"/>
            <a:ext cx="5029200" cy="4069080"/>
          </a:xfrm>
          <a:prstGeom xmlns:a="http://schemas.openxmlformats.org/drawingml/2006/main" prst="roundRect">
            <a:avLst>
              <a:gd name="adj" fmla="val 1798"/>
            </a:avLst>
          </a:prstGeom>
          <a:solidFill xmlns:a="http://schemas.openxmlformats.org/drawingml/2006/main">
            <a:srgbClr val="1A1A1A"/>
          </a:solidFill>
          <a:ln xmlns:a="http://schemas.openxmlformats.org/drawingml/2006/main" w="15225" cmpd="sng">
            <a:solidFill>
              <a:srgbClr val="D71920">
                <a:alpha val="65098"/>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2" name="Google Shape;342;p15">
            <a:extLst xmlns:a="http://schemas.openxmlformats.org/drawingml/2006/main">
              <a:ext uri="{FF2B5EF4-FFF2-40B4-BE49-F238E27FC236}">
                <a16:creationId xmlns:a16="http://schemas.microsoft.com/office/drawing/2014/main" id="{7EEAFEC3-A409-4278-BBC8-D273C706C7A7}"/>
              </a:ext>
            </a:extLst>
          </p:cNvPr>
          <p:cNvSpPr>
            <a:spLocks xmlns:a="http://schemas.openxmlformats.org/drawingml/2006/main" noGrp="1"/>
          </p:cNvSpPr>
          <p:nvPr/>
        </p:nvSpPr>
        <p:spPr>
          <a:xfrm xmlns:a="http://schemas.openxmlformats.org/drawingml/2006/main">
            <a:off x="1051560" y="1783080"/>
            <a:ext cx="44805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600"/>
              <a:buFont typeface="Arial"/>
              <a:buNone/>
            </a:pPr>
            <a:r>
              <a:rPr sz="1600" b="1" i="0" u="none" cap="none">
                <a:solidFill>
                  <a:srgbClr val="D71920"/>
                </a:solidFill>
                <a:latin typeface="Arial"/>
                <a:ea typeface="Arial"/>
                <a:cs typeface="Arial"/>
              </a:rPr>
              <a:t>Make it systematic</a:t>
            </a:r>
          </a:p>
        </p:txBody>
      </p:sp>
      <p:sp>
        <p:nvSpPr>
          <p:cNvPr id="343" name="Google Shape;343;p15">
            <a:extLst xmlns:a="http://schemas.openxmlformats.org/drawingml/2006/main">
              <a:ext uri="{FF2B5EF4-FFF2-40B4-BE49-F238E27FC236}">
                <a16:creationId xmlns:a16="http://schemas.microsoft.com/office/drawing/2014/main" id="{AFDE6DC2-4C5A-4862-8454-6E69A83DB107}"/>
              </a:ext>
            </a:extLst>
          </p:cNvPr>
          <p:cNvSpPr>
            <a:spLocks xmlns:a="http://schemas.openxmlformats.org/drawingml/2006/main" noGrp="1"/>
          </p:cNvSpPr>
          <p:nvPr/>
        </p:nvSpPr>
        <p:spPr>
          <a:xfrm xmlns:a="http://schemas.openxmlformats.org/drawingml/2006/main">
            <a:off x="1097280" y="2377440"/>
            <a:ext cx="4297680" cy="2011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FFFFF"/>
              </a:buClr>
              <a:buSzPts val="1500"/>
              <a:buFont typeface="Arial"/>
              <a:buNone/>
            </a:pPr>
            <a:r>
              <a:rPr sz="1500" b="0" i="0" u="none" cap="none">
                <a:solidFill>
                  <a:srgbClr val="FFFFFF"/>
                </a:solidFill>
                <a:latin typeface="Arial"/>
                <a:ea typeface="Arial"/>
                <a:cs typeface="Arial"/>
              </a:rPr>
              <a:t>• Create categories or codes</a:t>
            </a:r>
          </a:p>
          <a:p xmlns:a="http://schemas.openxmlformats.org/drawingml/2006/main">
            <a:pPr marL="0" marR="0" indent="0" algn="l">
              <a:spcBef>
                <a:spcPts val="0"/>
              </a:spcBef>
              <a:spcAft>
                <a:spcPts val="0"/>
              </a:spcAft>
              <a:buClr>
                <a:srgbClr val="FFFFFF"/>
              </a:buClr>
              <a:buSzPts val="1500"/>
              <a:buFont typeface="Arial"/>
              <a:buNone/>
            </a:pPr>
            <a:r>
              <a:rPr sz="1500" b="0" i="0" u="none" cap="none">
                <a:solidFill>
                  <a:srgbClr val="FFFFFF"/>
                </a:solidFill>
                <a:latin typeface="Arial"/>
                <a:ea typeface="Arial"/>
                <a:cs typeface="Arial"/>
              </a:rPr>
              <a:t>• Count how often categories appear</a:t>
            </a:r>
          </a:p>
          <a:p xmlns:a="http://schemas.openxmlformats.org/drawingml/2006/main">
            <a:pPr marL="0" marR="0" indent="0" algn="l">
              <a:spcBef>
                <a:spcPts val="0"/>
              </a:spcBef>
              <a:spcAft>
                <a:spcPts val="0"/>
              </a:spcAft>
              <a:buClr>
                <a:srgbClr val="FFFFFF"/>
              </a:buClr>
              <a:buSzPts val="1500"/>
              <a:buFont typeface="Arial"/>
              <a:buNone/>
            </a:pPr>
            <a:r>
              <a:rPr sz="1500" b="0" i="0" u="none" cap="none">
                <a:solidFill>
                  <a:srgbClr val="FFFFFF"/>
                </a:solidFill>
                <a:latin typeface="Arial"/>
                <a:ea typeface="Arial"/>
                <a:cs typeface="Arial"/>
              </a:rPr>
              <a:t>• Use representative examples</a:t>
            </a:r>
          </a:p>
        </p:txBody>
      </p:sp>
      <p:sp>
        <p:nvSpPr>
          <p:cNvPr id="344" name="Google Shape;344;p15">
            <a:extLst xmlns:a="http://schemas.openxmlformats.org/drawingml/2006/main">
              <a:ext uri="{FF2B5EF4-FFF2-40B4-BE49-F238E27FC236}">
                <a16:creationId xmlns:a16="http://schemas.microsoft.com/office/drawing/2014/main" id="{D4272D3D-A3ED-415F-ACCD-586289F29417}"/>
              </a:ext>
            </a:extLst>
          </p:cNvPr>
          <p:cNvSpPr>
            <a:spLocks xmlns:a="http://schemas.openxmlformats.org/drawingml/2006/main" noGrp="1"/>
          </p:cNvSpPr>
          <p:nvPr/>
        </p:nvSpPr>
        <p:spPr>
          <a:xfrm xmlns:a="http://schemas.openxmlformats.org/drawingml/2006/main">
            <a:off x="6355080" y="1508760"/>
            <a:ext cx="5029200" cy="4069080"/>
          </a:xfrm>
          <a:prstGeom xmlns:a="http://schemas.openxmlformats.org/drawingml/2006/main" prst="roundRect">
            <a:avLst>
              <a:gd name="adj" fmla="val 1798"/>
            </a:avLst>
          </a:prstGeom>
          <a:solidFill xmlns:a="http://schemas.openxmlformats.org/drawingml/2006/main">
            <a:srgbClr val="1A1A1A"/>
          </a:solidFill>
          <a:ln xmlns:a="http://schemas.openxmlformats.org/drawingml/2006/main" w="15225" cmpd="sng">
            <a:solidFill>
              <a:srgbClr val="D71920">
                <a:alpha val="65098"/>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5" name="Google Shape;345;p15">
            <a:extLst xmlns:a="http://schemas.openxmlformats.org/drawingml/2006/main">
              <a:ext uri="{FF2B5EF4-FFF2-40B4-BE49-F238E27FC236}">
                <a16:creationId xmlns:a16="http://schemas.microsoft.com/office/drawing/2014/main" id="{A9BC48B0-0E1F-4275-B1DC-78F3837F429D}"/>
              </a:ext>
            </a:extLst>
          </p:cNvPr>
          <p:cNvSpPr>
            <a:spLocks xmlns:a="http://schemas.openxmlformats.org/drawingml/2006/main" noGrp="1"/>
          </p:cNvSpPr>
          <p:nvPr/>
        </p:nvSpPr>
        <p:spPr>
          <a:xfrm xmlns:a="http://schemas.openxmlformats.org/drawingml/2006/main">
            <a:off x="6629400" y="1783080"/>
            <a:ext cx="44805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600"/>
              <a:buFont typeface="Arial"/>
              <a:buNone/>
            </a:pPr>
            <a:r>
              <a:rPr sz="1600" b="1" i="0" u="none" cap="none">
                <a:solidFill>
                  <a:srgbClr val="D71920"/>
                </a:solidFill>
                <a:latin typeface="Arial"/>
                <a:ea typeface="Arial"/>
                <a:cs typeface="Arial"/>
              </a:rPr>
              <a:t>Avoid casual claims</a:t>
            </a:r>
          </a:p>
        </p:txBody>
      </p:sp>
      <p:sp>
        <p:nvSpPr>
          <p:cNvPr id="346" name="Google Shape;346;p15">
            <a:extLst xmlns:a="http://schemas.openxmlformats.org/drawingml/2006/main">
              <a:ext uri="{FF2B5EF4-FFF2-40B4-BE49-F238E27FC236}">
                <a16:creationId xmlns:a16="http://schemas.microsoft.com/office/drawing/2014/main" id="{12CFE860-A743-4FF0-824E-BBCD41CF0FF8}"/>
              </a:ext>
            </a:extLst>
          </p:cNvPr>
          <p:cNvSpPr>
            <a:spLocks xmlns:a="http://schemas.openxmlformats.org/drawingml/2006/main" noGrp="1"/>
          </p:cNvSpPr>
          <p:nvPr/>
        </p:nvSpPr>
        <p:spPr>
          <a:xfrm xmlns:a="http://schemas.openxmlformats.org/drawingml/2006/main">
            <a:off x="6675120" y="2377440"/>
            <a:ext cx="4297680" cy="2011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FFFFF"/>
              </a:buClr>
              <a:buSzPts val="1500"/>
              <a:buFont typeface="Arial"/>
              <a:buNone/>
            </a:pPr>
            <a:r>
              <a:rPr sz="1500" b="0" i="0" u="none" cap="none">
                <a:solidFill>
                  <a:srgbClr val="FFFFFF"/>
                </a:solidFill>
                <a:latin typeface="Arial"/>
                <a:ea typeface="Arial"/>
                <a:cs typeface="Arial"/>
              </a:rPr>
              <a:t>• Do not rely on “it seemed like”</a:t>
            </a:r>
          </a:p>
          <a:p xmlns:a="http://schemas.openxmlformats.org/drawingml/2006/main">
            <a:pPr marL="0" marR="0" indent="0" algn="l">
              <a:spcBef>
                <a:spcPts val="0"/>
              </a:spcBef>
              <a:spcAft>
                <a:spcPts val="0"/>
              </a:spcAft>
              <a:buClr>
                <a:srgbClr val="FFFFFF"/>
              </a:buClr>
              <a:buSzPts val="1500"/>
              <a:buFont typeface="Arial"/>
              <a:buNone/>
            </a:pPr>
            <a:r>
              <a:rPr sz="1500" b="0" i="0" u="none" cap="none">
                <a:solidFill>
                  <a:srgbClr val="FFFFFF"/>
                </a:solidFill>
                <a:latin typeface="Arial"/>
                <a:ea typeface="Arial"/>
                <a:cs typeface="Arial"/>
              </a:rPr>
              <a:t>• Do not cherry-pick examples</a:t>
            </a:r>
          </a:p>
          <a:p xmlns:a="http://schemas.openxmlformats.org/drawingml/2006/main">
            <a:pPr marL="0" marR="0" indent="0" algn="l">
              <a:spcBef>
                <a:spcPts val="0"/>
              </a:spcBef>
              <a:spcAft>
                <a:spcPts val="0"/>
              </a:spcAft>
              <a:buClr>
                <a:srgbClr val="FFFFFF"/>
              </a:buClr>
              <a:buSzPts val="1500"/>
              <a:buFont typeface="Arial"/>
              <a:buNone/>
            </a:pPr>
            <a:r>
              <a:rPr sz="1500" b="0" i="0" u="none" cap="none">
                <a:solidFill>
                  <a:srgbClr val="FFFFFF"/>
                </a:solidFill>
                <a:latin typeface="Arial"/>
                <a:ea typeface="Arial"/>
                <a:cs typeface="Arial"/>
              </a:rPr>
              <a:t>• Connect observations to the question</a:t>
            </a:r>
          </a:p>
        </p:txBody>
      </p:sp>
    </p:spTree>
    <p:extLst>
      <p:ext uri="{BB962C8B-B14F-4D97-AF65-F5344CB8AC3E}">
        <p14:creationId xmlns:p14="http://schemas.microsoft.com/office/powerpoint/2010/main" val="1075881320"/>
      </p:ext>
    </p:extLst>
  </p:cSld>
</p:sld>
</file>

<file path=ppt/slides/slide14.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352" name="Google Shape;352;p16">
            <a:extLst xmlns:a="http://schemas.openxmlformats.org/drawingml/2006/main">
              <a:ext uri="{FF2B5EF4-FFF2-40B4-BE49-F238E27FC236}">
                <a16:creationId xmlns:a16="http://schemas.microsoft.com/office/drawing/2014/main" id="{2C27C9E7-584D-445B-907A-4BE49F68CA2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3" name="Google Shape;353;p16">
            <a:extLst xmlns:a="http://schemas.openxmlformats.org/drawingml/2006/main">
              <a:ext uri="{FF2B5EF4-FFF2-40B4-BE49-F238E27FC236}">
                <a16:creationId xmlns:a16="http://schemas.microsoft.com/office/drawing/2014/main" id="{1018D1CC-3C73-4421-A41B-8FE054AF60C2}"/>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4" name="Google Shape;354;p16">
            <a:extLst xmlns:a="http://schemas.openxmlformats.org/drawingml/2006/main">
              <a:ext uri="{FF2B5EF4-FFF2-40B4-BE49-F238E27FC236}">
                <a16:creationId xmlns:a16="http://schemas.microsoft.com/office/drawing/2014/main" id="{F936B87D-2B71-4E52-905E-F2F45391D27D}"/>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5" name="Google Shape;355;p16">
            <a:extLst xmlns:a="http://schemas.openxmlformats.org/drawingml/2006/main">
              <a:ext uri="{FF2B5EF4-FFF2-40B4-BE49-F238E27FC236}">
                <a16:creationId xmlns:a16="http://schemas.microsoft.com/office/drawing/2014/main" id="{04BC6D05-74E6-4C1B-A295-2AB189E2687A}"/>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STUDENT ACTIVITY</a:t>
            </a:r>
          </a:p>
        </p:txBody>
      </p:sp>
      <p:sp>
        <p:nvSpPr>
          <p:cNvPr id="356" name="Google Shape;356;p16">
            <a:extLst xmlns:a="http://schemas.openxmlformats.org/drawingml/2006/main">
              <a:ext uri="{FF2B5EF4-FFF2-40B4-BE49-F238E27FC236}">
                <a16:creationId xmlns:a16="http://schemas.microsoft.com/office/drawing/2014/main" id="{8B3EAFBF-FD5A-4EC5-9CE2-C19FDD832D17}"/>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357" name="Google Shape;357;p16">
            <a:extLst xmlns:a="http://schemas.openxmlformats.org/drawingml/2006/main">
              <a:ext uri="{FF2B5EF4-FFF2-40B4-BE49-F238E27FC236}">
                <a16:creationId xmlns:a16="http://schemas.microsoft.com/office/drawing/2014/main" id="{4FC62B03-972D-4213-A233-9CC4A219F3E1}"/>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Activity: Match Your Data to a Method</a:t>
            </a:r>
          </a:p>
        </p:txBody>
      </p:sp>
      <p:sp>
        <p:nvSpPr>
          <p:cNvPr id="358" name="Google Shape;358;p16">
            <a:extLst xmlns:a="http://schemas.openxmlformats.org/drawingml/2006/main">
              <a:ext uri="{FF2B5EF4-FFF2-40B4-BE49-F238E27FC236}">
                <a16:creationId xmlns:a16="http://schemas.microsoft.com/office/drawing/2014/main" id="{29748B16-7E97-436D-858F-D63E0713D547}"/>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9" name="Google Shape;359;p16">
            <a:extLst xmlns:a="http://schemas.openxmlformats.org/drawingml/2006/main">
              <a:ext uri="{FF2B5EF4-FFF2-40B4-BE49-F238E27FC236}">
                <a16:creationId xmlns:a16="http://schemas.microsoft.com/office/drawing/2014/main" id="{F561F890-82AA-47FA-A6CE-A3DDDA6A6BBC}"/>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Do not choose a method because it sounds advanced. Choose it because it answers the question.</a:t>
            </a:r>
          </a:p>
        </p:txBody>
      </p:sp>
      <p:sp>
        <p:nvSpPr>
          <p:cNvPr id="360" name="Google Shape;360;p16">
            <a:extLst xmlns:a="http://schemas.openxmlformats.org/drawingml/2006/main">
              <a:ext uri="{FF2B5EF4-FFF2-40B4-BE49-F238E27FC236}">
                <a16:creationId xmlns:a16="http://schemas.microsoft.com/office/drawing/2014/main" id="{240B58AA-F826-434B-B7D9-092F259A2EA2}"/>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14</a:t>
            </a:r>
          </a:p>
        </p:txBody>
      </p:sp>
      <p:sp>
        <p:nvSpPr>
          <p:cNvPr id="361" name="Google Shape;361;p16">
            <a:extLst xmlns:a="http://schemas.openxmlformats.org/drawingml/2006/main">
              <a:ext uri="{FF2B5EF4-FFF2-40B4-BE49-F238E27FC236}">
                <a16:creationId xmlns:a16="http://schemas.microsoft.com/office/drawing/2014/main" id="{F0620F02-4DF5-4668-9A5D-33900E860F2F}"/>
              </a:ext>
            </a:extLst>
          </p:cNvPr>
          <p:cNvSpPr>
            <a:spLocks xmlns:a="http://schemas.openxmlformats.org/drawingml/2006/main" noGrp="1"/>
          </p:cNvSpPr>
          <p:nvPr/>
        </p:nvSpPr>
        <p:spPr>
          <a:xfrm xmlns:a="http://schemas.openxmlformats.org/drawingml/2006/main">
            <a:off x="1005840" y="1600200"/>
            <a:ext cx="9692640" cy="2651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Name your data type• Identify what the data must show</a:t>
            </a:r>
          </a:p>
          <a:p xmlns:a="http://schemas.openxmlformats.org/drawingml/2006/main">
            <a:pPr marL="0" marR="0" indent="0" algn="l">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Choose one possible calculation or comparison</a:t>
            </a:r>
          </a:p>
          <a:p xmlns:a="http://schemas.openxmlformats.org/drawingml/2006/main">
            <a:pPr marL="0" marR="0" indent="0" algn="l">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Explain why it fits</a:t>
            </a:r>
          </a:p>
        </p:txBody>
      </p:sp>
      <p:sp>
        <p:nvSpPr>
          <p:cNvPr id="362" name="Google Shape;362;p16">
            <a:extLst xmlns:a="http://schemas.openxmlformats.org/drawingml/2006/main">
              <a:ext uri="{FF2B5EF4-FFF2-40B4-BE49-F238E27FC236}">
                <a16:creationId xmlns:a16="http://schemas.microsoft.com/office/drawing/2014/main" id="{3AF09C18-69FB-417F-99AA-F4B22DD26D2F}"/>
              </a:ext>
            </a:extLst>
          </p:cNvPr>
          <p:cNvSpPr>
            <a:spLocks xmlns:a="http://schemas.openxmlformats.org/drawingml/2006/main" noGrp="1"/>
          </p:cNvSpPr>
          <p:nvPr/>
        </p:nvSpPr>
        <p:spPr>
          <a:xfrm xmlns:a="http://schemas.openxmlformats.org/drawingml/2006/main">
            <a:off x="777240" y="5166360"/>
            <a:ext cx="10652760" cy="960120"/>
          </a:xfrm>
          <a:prstGeom xmlns:a="http://schemas.openxmlformats.org/drawingml/2006/main" prst="roundRect">
            <a:avLst>
              <a:gd name="adj" fmla="val 7619"/>
            </a:avLst>
          </a:prstGeom>
          <a:solidFill xmlns:a="http://schemas.openxmlformats.org/drawingml/2006/main">
            <a:srgbClr val="151515"/>
          </a:solidFill>
          <a:ln xmlns:a="http://schemas.openxmlformats.org/drawingml/2006/main" w="12700" cmpd="sng">
            <a:solidFill>
              <a:srgbClr val="D71920">
                <a:alpha val="50196"/>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3" name="Google Shape;363;p16">
            <a:extLst xmlns:a="http://schemas.openxmlformats.org/drawingml/2006/main">
              <a:ext uri="{FF2B5EF4-FFF2-40B4-BE49-F238E27FC236}">
                <a16:creationId xmlns:a16="http://schemas.microsoft.com/office/drawing/2014/main" id="{FF518FCE-E3CB-4442-9F44-079892737060}"/>
              </a:ext>
            </a:extLst>
          </p:cNvPr>
          <p:cNvSpPr>
            <a:spLocks xmlns:a="http://schemas.openxmlformats.org/drawingml/2006/main" noGrp="1"/>
          </p:cNvSpPr>
          <p:nvPr/>
        </p:nvSpPr>
        <p:spPr>
          <a:xfrm xmlns:a="http://schemas.openxmlformats.org/drawingml/2006/main">
            <a:off x="1024128" y="5376672"/>
            <a:ext cx="1874520" cy="1463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850"/>
              <a:buFont typeface="Arial"/>
              <a:buNone/>
            </a:pPr>
            <a:r>
              <a:rPr sz="850" b="1" i="0" u="none" cap="none">
                <a:solidFill>
                  <a:srgbClr val="D71920"/>
                </a:solidFill>
                <a:latin typeface="Arial"/>
                <a:ea typeface="Arial"/>
                <a:cs typeface="Arial"/>
              </a:rPr>
              <a:t>STUDENT ACTIVITY</a:t>
            </a:r>
          </a:p>
        </p:txBody>
      </p:sp>
      <p:sp>
        <p:nvSpPr>
          <p:cNvPr id="364" name="Google Shape;364;p16">
            <a:extLst xmlns:a="http://schemas.openxmlformats.org/drawingml/2006/main">
              <a:ext uri="{FF2B5EF4-FFF2-40B4-BE49-F238E27FC236}">
                <a16:creationId xmlns:a16="http://schemas.microsoft.com/office/drawing/2014/main" id="{DDABE90B-47DE-4BBB-9461-EF554D663D8E}"/>
              </a:ext>
            </a:extLst>
          </p:cNvPr>
          <p:cNvSpPr>
            <a:spLocks xmlns:a="http://schemas.openxmlformats.org/drawingml/2006/main" noGrp="1"/>
          </p:cNvSpPr>
          <p:nvPr/>
        </p:nvSpPr>
        <p:spPr>
          <a:xfrm xmlns:a="http://schemas.openxmlformats.org/drawingml/2006/main">
            <a:off x="1024128" y="5596128"/>
            <a:ext cx="42976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600"/>
              <a:buFont typeface="Arial"/>
              <a:buNone/>
            </a:pPr>
            <a:r>
              <a:rPr sz="1600" b="1" i="0" u="none" cap="none">
                <a:solidFill>
                  <a:srgbClr val="FFFFFF"/>
                </a:solidFill>
                <a:latin typeface="Arial"/>
                <a:ea typeface="Arial"/>
                <a:cs typeface="Arial"/>
              </a:rPr>
              <a:t>Data Type + Analysis Match</a:t>
            </a:r>
          </a:p>
        </p:txBody>
      </p:sp>
      <p:sp>
        <p:nvSpPr>
          <p:cNvPr id="365" name="Google Shape;365;p16">
            <a:extLst xmlns:a="http://schemas.openxmlformats.org/drawingml/2006/main">
              <a:ext uri="{FF2B5EF4-FFF2-40B4-BE49-F238E27FC236}">
                <a16:creationId xmlns:a16="http://schemas.microsoft.com/office/drawing/2014/main" id="{62659864-CACE-4655-B520-0889F085F75D}"/>
              </a:ext>
            </a:extLst>
          </p:cNvPr>
          <p:cNvSpPr>
            <a:spLocks xmlns:a="http://schemas.openxmlformats.org/drawingml/2006/main" noGrp="1"/>
          </p:cNvSpPr>
          <p:nvPr/>
        </p:nvSpPr>
        <p:spPr>
          <a:xfrm xmlns:a="http://schemas.openxmlformats.org/drawingml/2006/main">
            <a:off x="5349240" y="5468112"/>
            <a:ext cx="9601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B8B8B8"/>
              </a:buClr>
              <a:buSzPts val="1200"/>
              <a:buFont typeface="Arial"/>
              <a:buNone/>
            </a:pPr>
            <a:r>
              <a:rPr sz="1200" b="1" i="0" u="none" cap="none">
                <a:solidFill>
                  <a:srgbClr val="B8B8B8"/>
                </a:solidFill>
                <a:latin typeface="Arial"/>
                <a:ea typeface="Arial"/>
                <a:cs typeface="Arial"/>
              </a:rPr>
              <a:t>8–10 MIN</a:t>
            </a:r>
          </a:p>
        </p:txBody>
      </p:sp>
      <p:sp>
        <p:nvSpPr>
          <p:cNvPr id="366" name="Google Shape;366;p16">
            <a:extLst xmlns:a="http://schemas.openxmlformats.org/drawingml/2006/main">
              <a:ext uri="{FF2B5EF4-FFF2-40B4-BE49-F238E27FC236}">
                <a16:creationId xmlns:a16="http://schemas.microsoft.com/office/drawing/2014/main" id="{9855699B-949F-498A-ACAC-9FA2476FF508}"/>
              </a:ext>
            </a:extLst>
          </p:cNvPr>
          <p:cNvSpPr>
            <a:spLocks xmlns:a="http://schemas.openxmlformats.org/drawingml/2006/main" noGrp="1"/>
          </p:cNvSpPr>
          <p:nvPr/>
        </p:nvSpPr>
        <p:spPr>
          <a:xfrm xmlns:a="http://schemas.openxmlformats.org/drawingml/2006/main">
            <a:off x="6446520" y="5367528"/>
            <a:ext cx="4663440" cy="4937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50"/>
              <a:buFont typeface="Arial"/>
              <a:buNone/>
            </a:pPr>
            <a:r>
              <a:rPr sz="1250" b="0" i="0" u="none" cap="none">
                <a:solidFill>
                  <a:srgbClr val="B8B8B8"/>
                </a:solidFill>
                <a:latin typeface="Arial"/>
                <a:ea typeface="Arial"/>
                <a:cs typeface="Arial"/>
              </a:rPr>
              <a:t>Complete Handout 5 for your own project. If you have more than one data type, complete one row for each.</a:t>
            </a:r>
          </a:p>
        </p:txBody>
      </p:sp>
    </p:spTree>
    <p:extLst>
      <p:ext uri="{BB962C8B-B14F-4D97-AF65-F5344CB8AC3E}">
        <p14:creationId xmlns:p14="http://schemas.microsoft.com/office/powerpoint/2010/main" val="1511654621"/>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372" name="Google Shape;372;p17">
            <a:extLst xmlns:a="http://schemas.openxmlformats.org/drawingml/2006/main">
              <a:ext uri="{FF2B5EF4-FFF2-40B4-BE49-F238E27FC236}">
                <a16:creationId xmlns:a16="http://schemas.microsoft.com/office/drawing/2014/main" id="{E7730912-3BF6-401B-A223-5CBA332DADE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3" name="Google Shape;373;p17">
            <a:extLst xmlns:a="http://schemas.openxmlformats.org/drawingml/2006/main">
              <a:ext uri="{FF2B5EF4-FFF2-40B4-BE49-F238E27FC236}">
                <a16:creationId xmlns:a16="http://schemas.microsoft.com/office/drawing/2014/main" id="{DF0AE0C6-FADA-46EC-942D-9CFD403E150E}"/>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4" name="Google Shape;374;p17">
            <a:extLst xmlns:a="http://schemas.openxmlformats.org/drawingml/2006/main">
              <a:ext uri="{FF2B5EF4-FFF2-40B4-BE49-F238E27FC236}">
                <a16:creationId xmlns:a16="http://schemas.microsoft.com/office/drawing/2014/main" id="{983BF947-FE80-47A9-8075-00B3C3F1D094}"/>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5" name="Google Shape;375;p17">
            <a:extLst xmlns:a="http://schemas.openxmlformats.org/drawingml/2006/main">
              <a:ext uri="{FF2B5EF4-FFF2-40B4-BE49-F238E27FC236}">
                <a16:creationId xmlns:a16="http://schemas.microsoft.com/office/drawing/2014/main" id="{0CCCE99E-5799-4602-9BA1-75038C596B58}"/>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STUDENT ACTIVITY</a:t>
            </a:r>
          </a:p>
        </p:txBody>
      </p:sp>
      <p:sp>
        <p:nvSpPr>
          <p:cNvPr id="376" name="Google Shape;376;p17">
            <a:extLst xmlns:a="http://schemas.openxmlformats.org/drawingml/2006/main">
              <a:ext uri="{FF2B5EF4-FFF2-40B4-BE49-F238E27FC236}">
                <a16:creationId xmlns:a16="http://schemas.microsoft.com/office/drawing/2014/main" id="{1D546F07-E7D1-4AC0-B290-B5A7485AB465}"/>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377" name="Google Shape;377;p17">
            <a:extLst xmlns:a="http://schemas.openxmlformats.org/drawingml/2006/main">
              <a:ext uri="{FF2B5EF4-FFF2-40B4-BE49-F238E27FC236}">
                <a16:creationId xmlns:a16="http://schemas.microsoft.com/office/drawing/2014/main" id="{64C67A7D-49AE-4DF0-8415-9A9297790AFD}"/>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Activity: Build Your Data Analysis Plan</a:t>
            </a:r>
          </a:p>
        </p:txBody>
      </p:sp>
      <p:sp>
        <p:nvSpPr>
          <p:cNvPr id="378" name="Google Shape;378;p17">
            <a:extLst xmlns:a="http://schemas.openxmlformats.org/drawingml/2006/main">
              <a:ext uri="{FF2B5EF4-FFF2-40B4-BE49-F238E27FC236}">
                <a16:creationId xmlns:a16="http://schemas.microsoft.com/office/drawing/2014/main" id="{4884E229-C05F-478B-94C3-F82B52086DD2}"/>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9" name="Google Shape;379;p17">
            <a:extLst xmlns:a="http://schemas.openxmlformats.org/drawingml/2006/main">
              <a:ext uri="{FF2B5EF4-FFF2-40B4-BE49-F238E27FC236}">
                <a16:creationId xmlns:a16="http://schemas.microsoft.com/office/drawing/2014/main" id="{13F8DCD3-4861-4606-A31B-547FAA165ECF}"/>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Turn the method choice into a concrete plan.</a:t>
            </a:r>
          </a:p>
        </p:txBody>
      </p:sp>
      <p:sp>
        <p:nvSpPr>
          <p:cNvPr id="380" name="Google Shape;380;p17">
            <a:extLst xmlns:a="http://schemas.openxmlformats.org/drawingml/2006/main">
              <a:ext uri="{FF2B5EF4-FFF2-40B4-BE49-F238E27FC236}">
                <a16:creationId xmlns:a16="http://schemas.microsoft.com/office/drawing/2014/main" id="{C1683C1F-4E1A-485A-82CE-B8DF93380DCC}"/>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15</a:t>
            </a:r>
          </a:p>
        </p:txBody>
      </p:sp>
      <p:sp>
        <p:nvSpPr>
          <p:cNvPr id="381" name="Google Shape;381;p17">
            <a:extLst xmlns:a="http://schemas.openxmlformats.org/drawingml/2006/main">
              <a:ext uri="{FF2B5EF4-FFF2-40B4-BE49-F238E27FC236}">
                <a16:creationId xmlns:a16="http://schemas.microsoft.com/office/drawing/2014/main" id="{E6494EE5-D688-4332-AA8A-9EB68D79B59F}"/>
              </a:ext>
            </a:extLst>
          </p:cNvPr>
          <p:cNvSpPr>
            <a:spLocks xmlns:a="http://schemas.openxmlformats.org/drawingml/2006/main" noGrp="1"/>
          </p:cNvSpPr>
          <p:nvPr/>
        </p:nvSpPr>
        <p:spPr>
          <a:xfrm xmlns:a="http://schemas.openxmlformats.org/drawingml/2006/main">
            <a:off x="1005840" y="1600200"/>
            <a:ext cx="9692640" cy="2651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What data will you analyze?• What calculation or comparison will you use?</a:t>
            </a:r>
          </a:p>
          <a:p xmlns:a="http://schemas.openxmlformats.org/drawingml/2006/main">
            <a:pPr marL="0" marR="0" indent="0" algn="l">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What graph or table might show it?</a:t>
            </a:r>
          </a:p>
          <a:p xmlns:a="http://schemas.openxmlformats.org/drawingml/2006/main">
            <a:pPr marL="0" marR="0" indent="0" algn="l">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What result would support your claim?</a:t>
            </a:r>
          </a:p>
        </p:txBody>
      </p:sp>
      <p:sp>
        <p:nvSpPr>
          <p:cNvPr id="382" name="Google Shape;382;p17">
            <a:extLst xmlns:a="http://schemas.openxmlformats.org/drawingml/2006/main">
              <a:ext uri="{FF2B5EF4-FFF2-40B4-BE49-F238E27FC236}">
                <a16:creationId xmlns:a16="http://schemas.microsoft.com/office/drawing/2014/main" id="{6527314C-1421-4919-952B-F7A30832BB7D}"/>
              </a:ext>
            </a:extLst>
          </p:cNvPr>
          <p:cNvSpPr>
            <a:spLocks xmlns:a="http://schemas.openxmlformats.org/drawingml/2006/main" noGrp="1"/>
          </p:cNvSpPr>
          <p:nvPr/>
        </p:nvSpPr>
        <p:spPr>
          <a:xfrm xmlns:a="http://schemas.openxmlformats.org/drawingml/2006/main">
            <a:off x="777240" y="5166360"/>
            <a:ext cx="10652760" cy="960120"/>
          </a:xfrm>
          <a:prstGeom xmlns:a="http://schemas.openxmlformats.org/drawingml/2006/main" prst="roundRect">
            <a:avLst>
              <a:gd name="adj" fmla="val 7619"/>
            </a:avLst>
          </a:prstGeom>
          <a:solidFill xmlns:a="http://schemas.openxmlformats.org/drawingml/2006/main">
            <a:srgbClr val="151515"/>
          </a:solidFill>
          <a:ln xmlns:a="http://schemas.openxmlformats.org/drawingml/2006/main" w="12700" cmpd="sng">
            <a:solidFill>
              <a:srgbClr val="D71920">
                <a:alpha val="50196"/>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3" name="Google Shape;383;p17">
            <a:extLst xmlns:a="http://schemas.openxmlformats.org/drawingml/2006/main">
              <a:ext uri="{FF2B5EF4-FFF2-40B4-BE49-F238E27FC236}">
                <a16:creationId xmlns:a16="http://schemas.microsoft.com/office/drawing/2014/main" id="{91893F3A-AD06-4A62-92DB-06794CAA0307}"/>
              </a:ext>
            </a:extLst>
          </p:cNvPr>
          <p:cNvSpPr>
            <a:spLocks xmlns:a="http://schemas.openxmlformats.org/drawingml/2006/main" noGrp="1"/>
          </p:cNvSpPr>
          <p:nvPr/>
        </p:nvSpPr>
        <p:spPr>
          <a:xfrm xmlns:a="http://schemas.openxmlformats.org/drawingml/2006/main">
            <a:off x="1024128" y="5376672"/>
            <a:ext cx="1874520" cy="1463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850"/>
              <a:buFont typeface="Arial"/>
              <a:buNone/>
            </a:pPr>
            <a:r>
              <a:rPr sz="850" b="1" i="0" u="none" cap="none">
                <a:solidFill>
                  <a:srgbClr val="D71920"/>
                </a:solidFill>
                <a:latin typeface="Arial"/>
                <a:ea typeface="Arial"/>
                <a:cs typeface="Arial"/>
              </a:rPr>
              <a:t>STUDENT ACTIVITY</a:t>
            </a:r>
          </a:p>
        </p:txBody>
      </p:sp>
      <p:sp>
        <p:nvSpPr>
          <p:cNvPr id="384" name="Google Shape;384;p17">
            <a:extLst xmlns:a="http://schemas.openxmlformats.org/drawingml/2006/main">
              <a:ext uri="{FF2B5EF4-FFF2-40B4-BE49-F238E27FC236}">
                <a16:creationId xmlns:a16="http://schemas.microsoft.com/office/drawing/2014/main" id="{0409165C-7AC8-4E70-A2CD-AE998E4693C4}"/>
              </a:ext>
            </a:extLst>
          </p:cNvPr>
          <p:cNvSpPr>
            <a:spLocks xmlns:a="http://schemas.openxmlformats.org/drawingml/2006/main" noGrp="1"/>
          </p:cNvSpPr>
          <p:nvPr/>
        </p:nvSpPr>
        <p:spPr>
          <a:xfrm xmlns:a="http://schemas.openxmlformats.org/drawingml/2006/main">
            <a:off x="1024128" y="5596128"/>
            <a:ext cx="42976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600"/>
              <a:buFont typeface="Arial"/>
              <a:buNone/>
            </a:pPr>
            <a:r>
              <a:rPr sz="1600" b="1" i="0" u="none" cap="none">
                <a:solidFill>
                  <a:srgbClr val="FFFFFF"/>
                </a:solidFill>
                <a:latin typeface="Arial"/>
                <a:ea typeface="Arial"/>
                <a:cs typeface="Arial"/>
              </a:rPr>
              <a:t>Analysis Plan Sprint</a:t>
            </a:r>
          </a:p>
        </p:txBody>
      </p:sp>
      <p:sp>
        <p:nvSpPr>
          <p:cNvPr id="385" name="Google Shape;385;p17">
            <a:extLst xmlns:a="http://schemas.openxmlformats.org/drawingml/2006/main">
              <a:ext uri="{FF2B5EF4-FFF2-40B4-BE49-F238E27FC236}">
                <a16:creationId xmlns:a16="http://schemas.microsoft.com/office/drawing/2014/main" id="{4DA69536-D8A2-41E8-AF71-A9F0C302DCD0}"/>
              </a:ext>
            </a:extLst>
          </p:cNvPr>
          <p:cNvSpPr>
            <a:spLocks xmlns:a="http://schemas.openxmlformats.org/drawingml/2006/main" noGrp="1"/>
          </p:cNvSpPr>
          <p:nvPr/>
        </p:nvSpPr>
        <p:spPr>
          <a:xfrm xmlns:a="http://schemas.openxmlformats.org/drawingml/2006/main">
            <a:off x="5349240" y="5468112"/>
            <a:ext cx="9601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B8B8B8"/>
              </a:buClr>
              <a:buSzPts val="1200"/>
              <a:buFont typeface="Arial"/>
              <a:buNone/>
            </a:pPr>
            <a:r>
              <a:rPr sz="1200" b="1" i="0" u="none" cap="none">
                <a:solidFill>
                  <a:srgbClr val="B8B8B8"/>
                </a:solidFill>
                <a:latin typeface="Arial"/>
                <a:ea typeface="Arial"/>
                <a:cs typeface="Arial"/>
              </a:rPr>
              <a:t>10–12 MIN</a:t>
            </a:r>
          </a:p>
        </p:txBody>
      </p:sp>
      <p:sp>
        <p:nvSpPr>
          <p:cNvPr id="386" name="Google Shape;386;p17">
            <a:extLst xmlns:a="http://schemas.openxmlformats.org/drawingml/2006/main">
              <a:ext uri="{FF2B5EF4-FFF2-40B4-BE49-F238E27FC236}">
                <a16:creationId xmlns:a16="http://schemas.microsoft.com/office/drawing/2014/main" id="{619F1295-23DD-4BB9-ADD7-3857AEA68695}"/>
              </a:ext>
            </a:extLst>
          </p:cNvPr>
          <p:cNvSpPr>
            <a:spLocks xmlns:a="http://schemas.openxmlformats.org/drawingml/2006/main" noGrp="1"/>
          </p:cNvSpPr>
          <p:nvPr/>
        </p:nvSpPr>
        <p:spPr>
          <a:xfrm xmlns:a="http://schemas.openxmlformats.org/drawingml/2006/main">
            <a:off x="6446520" y="5367528"/>
            <a:ext cx="4663440" cy="4937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50"/>
              <a:buFont typeface="Arial"/>
              <a:buNone/>
            </a:pPr>
            <a:r>
              <a:rPr sz="1250" b="0" i="0" u="none" cap="none">
                <a:solidFill>
                  <a:srgbClr val="B8B8B8"/>
                </a:solidFill>
                <a:latin typeface="Arial"/>
                <a:ea typeface="Arial"/>
                <a:cs typeface="Arial"/>
              </a:rPr>
              <a:t>Complete the core sections of Handout 6. The plan should connect question → data → analysis → possible claim.</a:t>
            </a:r>
          </a:p>
        </p:txBody>
      </p:sp>
    </p:spTree>
    <p:extLst>
      <p:ext uri="{BB962C8B-B14F-4D97-AF65-F5344CB8AC3E}">
        <p14:creationId xmlns:p14="http://schemas.microsoft.com/office/powerpoint/2010/main" val="81624381"/>
      </p:ext>
    </p:extLst>
  </p:cSld>
</p:sld>
</file>

<file path=ppt/slides/slide16.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392" name="Google Shape;392;p18">
            <a:extLst xmlns:a="http://schemas.openxmlformats.org/drawingml/2006/main">
              <a:ext uri="{FF2B5EF4-FFF2-40B4-BE49-F238E27FC236}">
                <a16:creationId xmlns:a16="http://schemas.microsoft.com/office/drawing/2014/main" id="{F48B7A4D-D7EC-481A-8902-0C22FFB6682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3" name="Google Shape;393;p18">
            <a:extLst xmlns:a="http://schemas.openxmlformats.org/drawingml/2006/main">
              <a:ext uri="{FF2B5EF4-FFF2-40B4-BE49-F238E27FC236}">
                <a16:creationId xmlns:a16="http://schemas.microsoft.com/office/drawing/2014/main" id="{80C90381-E9CE-45C1-BDB8-D6459237EAE1}"/>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4" name="Google Shape;394;p18">
            <a:extLst xmlns:a="http://schemas.openxmlformats.org/drawingml/2006/main">
              <a:ext uri="{FF2B5EF4-FFF2-40B4-BE49-F238E27FC236}">
                <a16:creationId xmlns:a16="http://schemas.microsoft.com/office/drawing/2014/main" id="{42D9E5D4-3631-4D81-A0F7-F844416C3F93}"/>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5" name="Google Shape;395;p18">
            <a:extLst xmlns:a="http://schemas.openxmlformats.org/drawingml/2006/main">
              <a:ext uri="{FF2B5EF4-FFF2-40B4-BE49-F238E27FC236}">
                <a16:creationId xmlns:a16="http://schemas.microsoft.com/office/drawing/2014/main" id="{C270BF3C-1C27-4451-9E7E-EFC39A2DA465}"/>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CALCULATIONS</a:t>
            </a:r>
          </a:p>
        </p:txBody>
      </p:sp>
      <p:sp>
        <p:nvSpPr>
          <p:cNvPr id="396" name="Google Shape;396;p18">
            <a:extLst xmlns:a="http://schemas.openxmlformats.org/drawingml/2006/main">
              <a:ext uri="{FF2B5EF4-FFF2-40B4-BE49-F238E27FC236}">
                <a16:creationId xmlns:a16="http://schemas.microsoft.com/office/drawing/2014/main" id="{3E633FA1-81A6-4BB4-8EB4-FA6C3B3BA356}"/>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397" name="Google Shape;397;p18">
            <a:extLst xmlns:a="http://schemas.openxmlformats.org/drawingml/2006/main">
              <a:ext uri="{FF2B5EF4-FFF2-40B4-BE49-F238E27FC236}">
                <a16:creationId xmlns:a16="http://schemas.microsoft.com/office/drawing/2014/main" id="{B21E0D3B-BEA9-4181-BB33-B1F187EA7D7C}"/>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Document the Calculation, Not Just the Answer</a:t>
            </a:r>
          </a:p>
        </p:txBody>
      </p:sp>
      <p:sp>
        <p:nvSpPr>
          <p:cNvPr id="398" name="Google Shape;398;p18">
            <a:extLst xmlns:a="http://schemas.openxmlformats.org/drawingml/2006/main">
              <a:ext uri="{FF2B5EF4-FFF2-40B4-BE49-F238E27FC236}">
                <a16:creationId xmlns:a16="http://schemas.microsoft.com/office/drawing/2014/main" id="{C022AA45-9465-454D-B734-AEFC99CBE2C9}"/>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9" name="Google Shape;399;p18">
            <a:extLst xmlns:a="http://schemas.openxmlformats.org/drawingml/2006/main">
              <a:ext uri="{FF2B5EF4-FFF2-40B4-BE49-F238E27FC236}">
                <a16:creationId xmlns:a16="http://schemas.microsoft.com/office/drawing/2014/main" id="{8DDB78FC-B305-4AC9-817D-866EB9B3A9A4}"/>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Every result should be traceable back to a formula, method, or spreadsheet cell.</a:t>
            </a:r>
          </a:p>
        </p:txBody>
      </p:sp>
      <p:sp>
        <p:nvSpPr>
          <p:cNvPr id="400" name="Google Shape;400;p18">
            <a:extLst xmlns:a="http://schemas.openxmlformats.org/drawingml/2006/main">
              <a:ext uri="{FF2B5EF4-FFF2-40B4-BE49-F238E27FC236}">
                <a16:creationId xmlns:a16="http://schemas.microsoft.com/office/drawing/2014/main" id="{C440EC4E-22E3-4127-A2E5-7DBAE8009BF0}"/>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16</a:t>
            </a:r>
          </a:p>
        </p:txBody>
      </p:sp>
      <p:sp>
        <p:nvSpPr>
          <p:cNvPr id="401" name="Google Shape;401;p18">
            <a:extLst xmlns:a="http://schemas.openxmlformats.org/drawingml/2006/main">
              <a:ext uri="{FF2B5EF4-FFF2-40B4-BE49-F238E27FC236}">
                <a16:creationId xmlns:a16="http://schemas.microsoft.com/office/drawing/2014/main" id="{49656443-AFD1-4095-935D-A725C64FA435}"/>
              </a:ext>
            </a:extLst>
          </p:cNvPr>
          <p:cNvSpPr>
            <a:spLocks xmlns:a="http://schemas.openxmlformats.org/drawingml/2006/main" noGrp="1"/>
          </p:cNvSpPr>
          <p:nvPr/>
        </p:nvSpPr>
        <p:spPr>
          <a:xfrm xmlns:a="http://schemas.openxmlformats.org/drawingml/2006/main">
            <a:off x="1005840" y="1600200"/>
            <a:ext cx="10149840" cy="3154680"/>
          </a:xfrm>
          <a:prstGeom xmlns:a="http://schemas.openxmlformats.org/drawingml/2006/main" prst="roundRect">
            <a:avLst>
              <a:gd name="adj" fmla="val 1449"/>
            </a:avLst>
          </a:prstGeom>
          <a:solidFill xmlns:a="http://schemas.openxmlformats.org/drawingml/2006/main">
            <a:srgbClr val="1A1A1A"/>
          </a:solidFill>
          <a:ln xmlns:a="http://schemas.openxmlformats.org/drawingml/2006/main" w="12700" cmpd="sng">
            <a:solidFill>
              <a:srgbClr val="D71920">
                <a:alpha val="54901"/>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02" name="Google Shape;402;p18">
            <a:extLst xmlns:a="http://schemas.openxmlformats.org/drawingml/2006/main">
              <a:ext uri="{FF2B5EF4-FFF2-40B4-BE49-F238E27FC236}">
                <a16:creationId xmlns:a16="http://schemas.microsoft.com/office/drawing/2014/main" id="{03BD8602-C70D-405D-8F9A-5CC6A515BE70}"/>
              </a:ext>
            </a:extLst>
          </p:cNvPr>
          <p:cNvSpPr>
            <a:spLocks xmlns:a="http://schemas.openxmlformats.org/drawingml/2006/main" noGrp="1"/>
          </p:cNvSpPr>
          <p:nvPr/>
        </p:nvSpPr>
        <p:spPr>
          <a:xfrm xmlns:a="http://schemas.openxmlformats.org/drawingml/2006/main">
            <a:off x="1234440" y="1783080"/>
            <a:ext cx="16916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150"/>
              <a:buFont typeface="Arial"/>
              <a:buNone/>
            </a:pPr>
            <a:r>
              <a:rPr sz="1150" b="1" i="0" u="none" cap="none">
                <a:solidFill>
                  <a:srgbClr val="D71920"/>
                </a:solidFill>
                <a:latin typeface="Arial"/>
                <a:ea typeface="Arial"/>
                <a:cs typeface="Arial"/>
              </a:rPr>
              <a:t>Calculation</a:t>
            </a:r>
          </a:p>
        </p:txBody>
      </p:sp>
      <p:sp>
        <p:nvSpPr>
          <p:cNvPr id="403" name="Google Shape;403;p18">
            <a:extLst xmlns:a="http://schemas.openxmlformats.org/drawingml/2006/main">
              <a:ext uri="{FF2B5EF4-FFF2-40B4-BE49-F238E27FC236}">
                <a16:creationId xmlns:a16="http://schemas.microsoft.com/office/drawing/2014/main" id="{63C72F70-BC2C-4240-BE2C-11279E5C5F6A}"/>
              </a:ext>
            </a:extLst>
          </p:cNvPr>
          <p:cNvSpPr>
            <a:spLocks xmlns:a="http://schemas.openxmlformats.org/drawingml/2006/main" noGrp="1"/>
          </p:cNvSpPr>
          <p:nvPr/>
        </p:nvSpPr>
        <p:spPr>
          <a:xfrm xmlns:a="http://schemas.openxmlformats.org/drawingml/2006/main">
            <a:off x="3154680" y="1783080"/>
            <a:ext cx="16916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150"/>
              <a:buFont typeface="Arial"/>
              <a:buNone/>
            </a:pPr>
            <a:r>
              <a:rPr sz="1150" b="1" i="0" u="none" cap="none">
                <a:solidFill>
                  <a:srgbClr val="D71920"/>
                </a:solidFill>
                <a:latin typeface="Arial"/>
                <a:ea typeface="Arial"/>
                <a:cs typeface="Arial"/>
              </a:rPr>
              <a:t>Why use it?</a:t>
            </a:r>
          </a:p>
        </p:txBody>
      </p:sp>
      <p:sp>
        <p:nvSpPr>
          <p:cNvPr id="404" name="Google Shape;404;p18">
            <a:extLst xmlns:a="http://schemas.openxmlformats.org/drawingml/2006/main">
              <a:ext uri="{FF2B5EF4-FFF2-40B4-BE49-F238E27FC236}">
                <a16:creationId xmlns:a16="http://schemas.microsoft.com/office/drawing/2014/main" id="{B0260595-69C1-42C9-83CC-A0EA31D56D2A}"/>
              </a:ext>
            </a:extLst>
          </p:cNvPr>
          <p:cNvSpPr>
            <a:spLocks xmlns:a="http://schemas.openxmlformats.org/drawingml/2006/main" noGrp="1"/>
          </p:cNvSpPr>
          <p:nvPr/>
        </p:nvSpPr>
        <p:spPr>
          <a:xfrm xmlns:a="http://schemas.openxmlformats.org/drawingml/2006/main">
            <a:off x="5074920" y="1783080"/>
            <a:ext cx="16916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150"/>
              <a:buFont typeface="Arial"/>
              <a:buNone/>
            </a:pPr>
            <a:r>
              <a:rPr sz="1150" b="1" i="0" u="none" cap="none">
                <a:solidFill>
                  <a:srgbClr val="D71920"/>
                </a:solidFill>
                <a:latin typeface="Arial"/>
                <a:ea typeface="Arial"/>
                <a:cs typeface="Arial"/>
              </a:rPr>
              <a:t>Formula / method</a:t>
            </a:r>
          </a:p>
        </p:txBody>
      </p:sp>
      <p:sp>
        <p:nvSpPr>
          <p:cNvPr id="405" name="Google Shape;405;p18">
            <a:extLst xmlns:a="http://schemas.openxmlformats.org/drawingml/2006/main">
              <a:ext uri="{FF2B5EF4-FFF2-40B4-BE49-F238E27FC236}">
                <a16:creationId xmlns:a16="http://schemas.microsoft.com/office/drawing/2014/main" id="{6D03F7E3-C8CF-4E51-A2EC-D0B338D5C1E8}"/>
              </a:ext>
            </a:extLst>
          </p:cNvPr>
          <p:cNvSpPr>
            <a:spLocks xmlns:a="http://schemas.openxmlformats.org/drawingml/2006/main" noGrp="1"/>
          </p:cNvSpPr>
          <p:nvPr/>
        </p:nvSpPr>
        <p:spPr>
          <a:xfrm xmlns:a="http://schemas.openxmlformats.org/drawingml/2006/main">
            <a:off x="6995160" y="1783080"/>
            <a:ext cx="16916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150"/>
              <a:buFont typeface="Arial"/>
              <a:buNone/>
            </a:pPr>
            <a:r>
              <a:rPr sz="1150" b="1" i="0" u="none" cap="none">
                <a:solidFill>
                  <a:srgbClr val="D71920"/>
                </a:solidFill>
                <a:latin typeface="Arial"/>
                <a:ea typeface="Arial"/>
                <a:cs typeface="Arial"/>
              </a:rPr>
              <a:t>Result + units</a:t>
            </a:r>
          </a:p>
        </p:txBody>
      </p:sp>
      <p:sp>
        <p:nvSpPr>
          <p:cNvPr id="406" name="Google Shape;406;p18">
            <a:extLst xmlns:a="http://schemas.openxmlformats.org/drawingml/2006/main">
              <a:ext uri="{FF2B5EF4-FFF2-40B4-BE49-F238E27FC236}">
                <a16:creationId xmlns:a16="http://schemas.microsoft.com/office/drawing/2014/main" id="{3AD49231-0BEF-4E76-A26D-E05CF753D446}"/>
              </a:ext>
            </a:extLst>
          </p:cNvPr>
          <p:cNvSpPr>
            <a:spLocks xmlns:a="http://schemas.openxmlformats.org/drawingml/2006/main" noGrp="1"/>
          </p:cNvSpPr>
          <p:nvPr/>
        </p:nvSpPr>
        <p:spPr>
          <a:xfrm xmlns:a="http://schemas.openxmlformats.org/drawingml/2006/main">
            <a:off x="8915400" y="1783080"/>
            <a:ext cx="16916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150"/>
              <a:buFont typeface="Arial"/>
              <a:buNone/>
            </a:pPr>
            <a:r>
              <a:rPr sz="1150" b="1" i="0" u="none" cap="none">
                <a:solidFill>
                  <a:srgbClr val="D71920"/>
                </a:solidFill>
                <a:latin typeface="Arial"/>
                <a:ea typeface="Arial"/>
                <a:cs typeface="Arial"/>
              </a:rPr>
              <a:t>Meaning</a:t>
            </a:r>
          </a:p>
        </p:txBody>
      </p:sp>
      <p:sp>
        <p:nvSpPr>
          <p:cNvPr id="407" name="Google Shape;407;p18">
            <a:extLst xmlns:a="http://schemas.openxmlformats.org/drawingml/2006/main">
              <a:ext uri="{FF2B5EF4-FFF2-40B4-BE49-F238E27FC236}">
                <a16:creationId xmlns:a16="http://schemas.microsoft.com/office/drawing/2014/main" id="{AC655EB8-C723-4D75-A3AC-6BA0AC2CC3C7}"/>
              </a:ext>
            </a:extLst>
          </p:cNvPr>
          <p:cNvSpPr>
            <a:spLocks xmlns:a="http://schemas.openxmlformats.org/drawingml/2006/main" noGrp="1"/>
          </p:cNvSpPr>
          <p:nvPr/>
        </p:nvSpPr>
        <p:spPr>
          <a:xfrm xmlns:a="http://schemas.openxmlformats.org/drawingml/2006/main">
            <a:off x="1234440" y="2560320"/>
            <a:ext cx="16916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050"/>
              <a:buFont typeface="Arial"/>
              <a:buNone/>
            </a:pPr>
            <a:r>
              <a:rPr sz="1050" b="0" i="0" u="none" cap="none">
                <a:solidFill>
                  <a:srgbClr val="FFFFFF"/>
                </a:solidFill>
                <a:latin typeface="Arial"/>
                <a:ea typeface="Arial"/>
                <a:cs typeface="Arial"/>
              </a:rPr>
              <a:t>Mean height</a:t>
            </a:r>
          </a:p>
        </p:txBody>
      </p:sp>
      <p:sp>
        <p:nvSpPr>
          <p:cNvPr id="408" name="Google Shape;408;p18">
            <a:extLst xmlns:a="http://schemas.openxmlformats.org/drawingml/2006/main">
              <a:ext uri="{FF2B5EF4-FFF2-40B4-BE49-F238E27FC236}">
                <a16:creationId xmlns:a16="http://schemas.microsoft.com/office/drawing/2014/main" id="{25BADB58-C302-4320-A432-933946AFEC83}"/>
              </a:ext>
            </a:extLst>
          </p:cNvPr>
          <p:cNvSpPr>
            <a:spLocks xmlns:a="http://schemas.openxmlformats.org/drawingml/2006/main" noGrp="1"/>
          </p:cNvSpPr>
          <p:nvPr/>
        </p:nvSpPr>
        <p:spPr>
          <a:xfrm xmlns:a="http://schemas.openxmlformats.org/drawingml/2006/main">
            <a:off x="3154680" y="2560320"/>
            <a:ext cx="16916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050"/>
              <a:buFont typeface="Arial"/>
              <a:buNone/>
            </a:pPr>
            <a:r>
              <a:rPr sz="1050" b="0" i="0" u="none" cap="none">
                <a:solidFill>
                  <a:srgbClr val="FFFFFF"/>
                </a:solidFill>
                <a:latin typeface="Arial"/>
                <a:ea typeface="Arial"/>
                <a:cs typeface="Arial"/>
              </a:rPr>
              <a:t>Compare groups</a:t>
            </a:r>
          </a:p>
        </p:txBody>
      </p:sp>
      <p:sp>
        <p:nvSpPr>
          <p:cNvPr id="409" name="Google Shape;409;p18">
            <a:extLst xmlns:a="http://schemas.openxmlformats.org/drawingml/2006/main">
              <a:ext uri="{FF2B5EF4-FFF2-40B4-BE49-F238E27FC236}">
                <a16:creationId xmlns:a16="http://schemas.microsoft.com/office/drawing/2014/main" id="{31D16FC9-A41D-47A1-B824-955B27BFDB7A}"/>
              </a:ext>
            </a:extLst>
          </p:cNvPr>
          <p:cNvSpPr>
            <a:spLocks xmlns:a="http://schemas.openxmlformats.org/drawingml/2006/main" noGrp="1"/>
          </p:cNvSpPr>
          <p:nvPr/>
        </p:nvSpPr>
        <p:spPr>
          <a:xfrm xmlns:a="http://schemas.openxmlformats.org/drawingml/2006/main">
            <a:off x="5074920" y="2560320"/>
            <a:ext cx="16916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050"/>
              <a:buFont typeface="Arial"/>
              <a:buNone/>
            </a:pPr>
            <a:r>
              <a:rPr sz="1050" b="0" i="0" u="none" cap="none">
                <a:solidFill>
                  <a:srgbClr val="FFFFFF"/>
                </a:solidFill>
                <a:latin typeface="Arial"/>
                <a:ea typeface="Arial"/>
                <a:cs typeface="Arial"/>
              </a:rPr>
              <a:t>sum ÷ n</a:t>
            </a:r>
          </a:p>
        </p:txBody>
      </p:sp>
      <p:sp>
        <p:nvSpPr>
          <p:cNvPr id="410" name="Google Shape;410;p18">
            <a:extLst xmlns:a="http://schemas.openxmlformats.org/drawingml/2006/main">
              <a:ext uri="{FF2B5EF4-FFF2-40B4-BE49-F238E27FC236}">
                <a16:creationId xmlns:a16="http://schemas.microsoft.com/office/drawing/2014/main" id="{ED2C5261-8A9E-4B07-81F0-D7DAF43624B7}"/>
              </a:ext>
            </a:extLst>
          </p:cNvPr>
          <p:cNvSpPr>
            <a:spLocks xmlns:a="http://schemas.openxmlformats.org/drawingml/2006/main" noGrp="1"/>
          </p:cNvSpPr>
          <p:nvPr/>
        </p:nvSpPr>
        <p:spPr>
          <a:xfrm xmlns:a="http://schemas.openxmlformats.org/drawingml/2006/main">
            <a:off x="6995160" y="2560320"/>
            <a:ext cx="16916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050"/>
              <a:buFont typeface="Arial"/>
              <a:buNone/>
            </a:pPr>
            <a:r>
              <a:rPr sz="1050" b="0" i="0" u="none" cap="none">
                <a:solidFill>
                  <a:srgbClr val="FFFFFF"/>
                </a:solidFill>
                <a:latin typeface="Arial"/>
                <a:ea typeface="Arial"/>
                <a:cs typeface="Arial"/>
              </a:rPr>
              <a:t>14.2 cm</a:t>
            </a:r>
          </a:p>
        </p:txBody>
      </p:sp>
      <p:sp>
        <p:nvSpPr>
          <p:cNvPr id="411" name="Google Shape;411;p18">
            <a:extLst xmlns:a="http://schemas.openxmlformats.org/drawingml/2006/main">
              <a:ext uri="{FF2B5EF4-FFF2-40B4-BE49-F238E27FC236}">
                <a16:creationId xmlns:a16="http://schemas.microsoft.com/office/drawing/2014/main" id="{21D4F1DF-5BA4-4021-8179-2DF1A4888128}"/>
              </a:ext>
            </a:extLst>
          </p:cNvPr>
          <p:cNvSpPr>
            <a:spLocks xmlns:a="http://schemas.openxmlformats.org/drawingml/2006/main" noGrp="1"/>
          </p:cNvSpPr>
          <p:nvPr/>
        </p:nvSpPr>
        <p:spPr>
          <a:xfrm xmlns:a="http://schemas.openxmlformats.org/drawingml/2006/main">
            <a:off x="8915400" y="2560320"/>
            <a:ext cx="16916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050"/>
              <a:buFont typeface="Arial"/>
              <a:buNone/>
            </a:pPr>
            <a:r>
              <a:rPr sz="1050" b="0" i="0" u="none" cap="none">
                <a:solidFill>
                  <a:srgbClr val="FFFFFF"/>
                </a:solidFill>
                <a:latin typeface="Arial"/>
                <a:ea typeface="Arial"/>
                <a:cs typeface="Arial"/>
              </a:rPr>
              <a:t>Treatment group average</a:t>
            </a:r>
          </a:p>
        </p:txBody>
      </p:sp>
      <p:sp>
        <p:nvSpPr>
          <p:cNvPr id="412" name="Google Shape;412;p18">
            <a:extLst xmlns:a="http://schemas.openxmlformats.org/drawingml/2006/main">
              <a:ext uri="{FF2B5EF4-FFF2-40B4-BE49-F238E27FC236}">
                <a16:creationId xmlns:a16="http://schemas.microsoft.com/office/drawing/2014/main" id="{0B6147F0-64A4-404A-90B3-52C731CCDB5D}"/>
              </a:ext>
            </a:extLst>
          </p:cNvPr>
          <p:cNvSpPr>
            <a:spLocks xmlns:a="http://schemas.openxmlformats.org/drawingml/2006/main" noGrp="1"/>
          </p:cNvSpPr>
          <p:nvPr/>
        </p:nvSpPr>
        <p:spPr>
          <a:xfrm xmlns:a="http://schemas.openxmlformats.org/drawingml/2006/main">
            <a:off x="1234440" y="3337560"/>
            <a:ext cx="16916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050"/>
              <a:buFont typeface="Arial"/>
              <a:buNone/>
            </a:pPr>
            <a:r>
              <a:rPr sz="1050" b="0" i="0" u="none" cap="none">
                <a:solidFill>
                  <a:srgbClr val="FFFFFF"/>
                </a:solidFill>
                <a:latin typeface="Arial"/>
                <a:ea typeface="Arial"/>
                <a:cs typeface="Arial"/>
              </a:rPr>
              <a:t>Load per gram</a:t>
            </a:r>
          </a:p>
        </p:txBody>
      </p:sp>
      <p:sp>
        <p:nvSpPr>
          <p:cNvPr id="413" name="Google Shape;413;p18">
            <a:extLst xmlns:a="http://schemas.openxmlformats.org/drawingml/2006/main">
              <a:ext uri="{FF2B5EF4-FFF2-40B4-BE49-F238E27FC236}">
                <a16:creationId xmlns:a16="http://schemas.microsoft.com/office/drawing/2014/main" id="{0529CC79-E13E-44DD-BED2-907509D0DF31}"/>
              </a:ext>
            </a:extLst>
          </p:cNvPr>
          <p:cNvSpPr>
            <a:spLocks xmlns:a="http://schemas.openxmlformats.org/drawingml/2006/main" noGrp="1"/>
          </p:cNvSpPr>
          <p:nvPr/>
        </p:nvSpPr>
        <p:spPr>
          <a:xfrm xmlns:a="http://schemas.openxmlformats.org/drawingml/2006/main">
            <a:off x="3154680" y="3337560"/>
            <a:ext cx="16916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050"/>
              <a:buFont typeface="Arial"/>
              <a:buNone/>
            </a:pPr>
            <a:r>
              <a:rPr sz="1050" b="0" i="0" u="none" cap="none">
                <a:solidFill>
                  <a:srgbClr val="FFFFFF"/>
                </a:solidFill>
                <a:latin typeface="Arial"/>
                <a:ea typeface="Arial"/>
                <a:cs typeface="Arial"/>
              </a:rPr>
              <a:t>Control for mass</a:t>
            </a:r>
          </a:p>
        </p:txBody>
      </p:sp>
      <p:sp>
        <p:nvSpPr>
          <p:cNvPr id="414" name="Google Shape;414;p18">
            <a:extLst xmlns:a="http://schemas.openxmlformats.org/drawingml/2006/main">
              <a:ext uri="{FF2B5EF4-FFF2-40B4-BE49-F238E27FC236}">
                <a16:creationId xmlns:a16="http://schemas.microsoft.com/office/drawing/2014/main" id="{1CF36B3F-802A-4AEB-8C2A-3D0BEE1B2686}"/>
              </a:ext>
            </a:extLst>
          </p:cNvPr>
          <p:cNvSpPr>
            <a:spLocks xmlns:a="http://schemas.openxmlformats.org/drawingml/2006/main" noGrp="1"/>
          </p:cNvSpPr>
          <p:nvPr/>
        </p:nvSpPr>
        <p:spPr>
          <a:xfrm xmlns:a="http://schemas.openxmlformats.org/drawingml/2006/main">
            <a:off x="5074920" y="3337560"/>
            <a:ext cx="16916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050"/>
              <a:buFont typeface="Arial"/>
              <a:buNone/>
            </a:pPr>
            <a:r>
              <a:rPr sz="1050" b="0" i="0" u="none" cap="none">
                <a:solidFill>
                  <a:srgbClr val="FFFFFF"/>
                </a:solidFill>
                <a:latin typeface="Arial"/>
                <a:ea typeface="Arial"/>
                <a:cs typeface="Arial"/>
              </a:rPr>
              <a:t>load ÷ mass</a:t>
            </a:r>
          </a:p>
        </p:txBody>
      </p:sp>
      <p:sp>
        <p:nvSpPr>
          <p:cNvPr id="415" name="Google Shape;415;p18">
            <a:extLst xmlns:a="http://schemas.openxmlformats.org/drawingml/2006/main">
              <a:ext uri="{FF2B5EF4-FFF2-40B4-BE49-F238E27FC236}">
                <a16:creationId xmlns:a16="http://schemas.microsoft.com/office/drawing/2014/main" id="{65E6A521-F7BE-428C-AFA3-E91BAF037DFE}"/>
              </a:ext>
            </a:extLst>
          </p:cNvPr>
          <p:cNvSpPr>
            <a:spLocks xmlns:a="http://schemas.openxmlformats.org/drawingml/2006/main" noGrp="1"/>
          </p:cNvSpPr>
          <p:nvPr/>
        </p:nvSpPr>
        <p:spPr>
          <a:xfrm xmlns:a="http://schemas.openxmlformats.org/drawingml/2006/main">
            <a:off x="6995160" y="3337560"/>
            <a:ext cx="16916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050"/>
              <a:buFont typeface="Arial"/>
              <a:buNone/>
            </a:pPr>
            <a:r>
              <a:rPr sz="1050" b="0" i="0" u="none" cap="none">
                <a:solidFill>
                  <a:srgbClr val="FFFFFF"/>
                </a:solidFill>
                <a:latin typeface="Arial"/>
                <a:ea typeface="Arial"/>
                <a:cs typeface="Arial"/>
              </a:rPr>
              <a:t>3.8 N/g</a:t>
            </a:r>
          </a:p>
        </p:txBody>
      </p:sp>
      <p:sp>
        <p:nvSpPr>
          <p:cNvPr id="416" name="Google Shape;416;p18">
            <a:extLst xmlns:a="http://schemas.openxmlformats.org/drawingml/2006/main">
              <a:ext uri="{FF2B5EF4-FFF2-40B4-BE49-F238E27FC236}">
                <a16:creationId xmlns:a16="http://schemas.microsoft.com/office/drawing/2014/main" id="{864D11B0-38A4-44CB-84AA-F50DA4F0D38A}"/>
              </a:ext>
            </a:extLst>
          </p:cNvPr>
          <p:cNvSpPr>
            <a:spLocks xmlns:a="http://schemas.openxmlformats.org/drawingml/2006/main" noGrp="1"/>
          </p:cNvSpPr>
          <p:nvPr/>
        </p:nvSpPr>
        <p:spPr>
          <a:xfrm xmlns:a="http://schemas.openxmlformats.org/drawingml/2006/main">
            <a:off x="8915400" y="3337560"/>
            <a:ext cx="16916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050"/>
              <a:buFont typeface="Arial"/>
              <a:buNone/>
            </a:pPr>
            <a:r>
              <a:rPr sz="1050" b="0" i="0" u="none" cap="none">
                <a:solidFill>
                  <a:srgbClr val="FFFFFF"/>
                </a:solidFill>
                <a:latin typeface="Arial"/>
                <a:ea typeface="Arial"/>
                <a:cs typeface="Arial"/>
              </a:rPr>
              <a:t>Efficiency metric</a:t>
            </a:r>
          </a:p>
        </p:txBody>
      </p:sp>
      <p:sp>
        <p:nvSpPr>
          <p:cNvPr id="417" name="Google Shape;417;p18">
            <a:extLst xmlns:a="http://schemas.openxmlformats.org/drawingml/2006/main">
              <a:ext uri="{FF2B5EF4-FFF2-40B4-BE49-F238E27FC236}">
                <a16:creationId xmlns:a16="http://schemas.microsoft.com/office/drawing/2014/main" id="{A45687CA-843C-4A7F-B478-D9317FDAB738}"/>
              </a:ext>
            </a:extLst>
          </p:cNvPr>
          <p:cNvSpPr>
            <a:spLocks xmlns:a="http://schemas.openxmlformats.org/drawingml/2006/main" noGrp="1"/>
          </p:cNvSpPr>
          <p:nvPr/>
        </p:nvSpPr>
        <p:spPr>
          <a:xfrm xmlns:a="http://schemas.openxmlformats.org/drawingml/2006/main">
            <a:off x="1097280" y="5074920"/>
            <a:ext cx="98755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800"/>
              <a:buFont typeface="Arial"/>
              <a:buNone/>
            </a:pPr>
            <a:r>
              <a:rPr sz="1800" b="1" i="0" u="none" cap="none">
                <a:solidFill>
                  <a:srgbClr val="FFFFFF"/>
                </a:solidFill>
                <a:latin typeface="Arial"/>
                <a:ea typeface="Arial"/>
                <a:cs typeface="Arial"/>
              </a:rPr>
              <a:t>If you cannot explain what the number means, the calculation is not finished.</a:t>
            </a:r>
          </a:p>
        </p:txBody>
      </p:sp>
    </p:spTree>
    <p:extLst>
      <p:ext uri="{BB962C8B-B14F-4D97-AF65-F5344CB8AC3E}">
        <p14:creationId xmlns:p14="http://schemas.microsoft.com/office/powerpoint/2010/main" val="1629221891"/>
      </p:ext>
    </p:extLst>
  </p:cSld>
</p:sld>
</file>

<file path=ppt/slides/slide17.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423" name="Google Shape;423;p19">
            <a:extLst xmlns:a="http://schemas.openxmlformats.org/drawingml/2006/main">
              <a:ext uri="{FF2B5EF4-FFF2-40B4-BE49-F238E27FC236}">
                <a16:creationId xmlns:a16="http://schemas.microsoft.com/office/drawing/2014/main" id="{DB1AEE71-6F20-4A7D-9CC6-B289C155247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4" name="Google Shape;424;p19">
            <a:extLst xmlns:a="http://schemas.openxmlformats.org/drawingml/2006/main">
              <a:ext uri="{FF2B5EF4-FFF2-40B4-BE49-F238E27FC236}">
                <a16:creationId xmlns:a16="http://schemas.microsoft.com/office/drawing/2014/main" id="{34194518-7F97-4DBE-95C5-B910A0BA372C}"/>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5" name="Google Shape;425;p19">
            <a:extLst xmlns:a="http://schemas.openxmlformats.org/drawingml/2006/main">
              <a:ext uri="{FF2B5EF4-FFF2-40B4-BE49-F238E27FC236}">
                <a16:creationId xmlns:a16="http://schemas.microsoft.com/office/drawing/2014/main" id="{5E5712BA-A34C-4B53-A0D9-41A52807C2E6}"/>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6" name="Google Shape;426;p19">
            <a:extLst xmlns:a="http://schemas.openxmlformats.org/drawingml/2006/main">
              <a:ext uri="{FF2B5EF4-FFF2-40B4-BE49-F238E27FC236}">
                <a16:creationId xmlns:a16="http://schemas.microsoft.com/office/drawing/2014/main" id="{7040EEDB-8199-4390-9150-C0628DA62ABB}"/>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ENGINEERING ACTIVITY</a:t>
            </a:r>
          </a:p>
        </p:txBody>
      </p:sp>
      <p:sp>
        <p:nvSpPr>
          <p:cNvPr id="427" name="Google Shape;427;p19">
            <a:extLst xmlns:a="http://schemas.openxmlformats.org/drawingml/2006/main">
              <a:ext uri="{FF2B5EF4-FFF2-40B4-BE49-F238E27FC236}">
                <a16:creationId xmlns:a16="http://schemas.microsoft.com/office/drawing/2014/main" id="{CB47ACC6-8CD6-4476-BFFE-640F6AB3C29C}"/>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428" name="Google Shape;428;p19">
            <a:extLst xmlns:a="http://schemas.openxmlformats.org/drawingml/2006/main">
              <a:ext uri="{FF2B5EF4-FFF2-40B4-BE49-F238E27FC236}">
                <a16:creationId xmlns:a16="http://schemas.microsoft.com/office/drawing/2014/main" id="{B5058C00-9CE6-46BE-BB05-51085EDDB7DC}"/>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Activity: Define Your Performance Metric</a:t>
            </a:r>
          </a:p>
        </p:txBody>
      </p:sp>
      <p:sp>
        <p:nvSpPr>
          <p:cNvPr id="429" name="Google Shape;429;p19">
            <a:extLst xmlns:a="http://schemas.openxmlformats.org/drawingml/2006/main">
              <a:ext uri="{FF2B5EF4-FFF2-40B4-BE49-F238E27FC236}">
                <a16:creationId xmlns:a16="http://schemas.microsoft.com/office/drawing/2014/main" id="{F0F8C4F8-9B44-4679-9F42-FCDDC861E033}"/>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0" name="Google Shape;430;p19">
            <a:extLst xmlns:a="http://schemas.openxmlformats.org/drawingml/2006/main">
              <a:ext uri="{FF2B5EF4-FFF2-40B4-BE49-F238E27FC236}">
                <a16:creationId xmlns:a16="http://schemas.microsoft.com/office/drawing/2014/main" id="{45FC1859-92CD-4B94-91A0-5E30B0F52B84}"/>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For design projects, success must be measurable.</a:t>
            </a:r>
          </a:p>
        </p:txBody>
      </p:sp>
      <p:sp>
        <p:nvSpPr>
          <p:cNvPr id="431" name="Google Shape;431;p19">
            <a:extLst xmlns:a="http://schemas.openxmlformats.org/drawingml/2006/main">
              <a:ext uri="{FF2B5EF4-FFF2-40B4-BE49-F238E27FC236}">
                <a16:creationId xmlns:a16="http://schemas.microsoft.com/office/drawing/2014/main" id="{D46259F2-4897-4E98-B89B-2E1E84E9D3D7}"/>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17</a:t>
            </a:r>
          </a:p>
        </p:txBody>
      </p:sp>
      <p:sp>
        <p:nvSpPr>
          <p:cNvPr id="432" name="Google Shape;432;p19">
            <a:extLst xmlns:a="http://schemas.openxmlformats.org/drawingml/2006/main">
              <a:ext uri="{FF2B5EF4-FFF2-40B4-BE49-F238E27FC236}">
                <a16:creationId xmlns:a16="http://schemas.microsoft.com/office/drawing/2014/main" id="{0CD0A6FF-206A-46E0-B2B6-DE08C7C6C408}"/>
              </a:ext>
            </a:extLst>
          </p:cNvPr>
          <p:cNvSpPr>
            <a:spLocks xmlns:a="http://schemas.openxmlformats.org/drawingml/2006/main" noGrp="1"/>
          </p:cNvSpPr>
          <p:nvPr/>
        </p:nvSpPr>
        <p:spPr>
          <a:xfrm xmlns:a="http://schemas.openxmlformats.org/drawingml/2006/main">
            <a:off x="1005840" y="1600200"/>
            <a:ext cx="9692640" cy="2651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List your design criteria• List your constraints</a:t>
            </a:r>
          </a:p>
          <a:p xmlns:a="http://schemas.openxmlformats.org/drawingml/2006/main">
            <a:pPr marL="0" marR="0" indent="0" algn="l">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Choose one performance metric</a:t>
            </a:r>
          </a:p>
          <a:p xmlns:a="http://schemas.openxmlformats.org/drawingml/2006/main">
            <a:pPr marL="0" marR="0" indent="0" algn="l">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Identify the best comparison table</a:t>
            </a:r>
          </a:p>
        </p:txBody>
      </p:sp>
      <p:sp>
        <p:nvSpPr>
          <p:cNvPr id="433" name="Google Shape;433;p19">
            <a:extLst xmlns:a="http://schemas.openxmlformats.org/drawingml/2006/main">
              <a:ext uri="{FF2B5EF4-FFF2-40B4-BE49-F238E27FC236}">
                <a16:creationId xmlns:a16="http://schemas.microsoft.com/office/drawing/2014/main" id="{824B8ABE-B0F4-4231-9757-CA1CB108902A}"/>
              </a:ext>
            </a:extLst>
          </p:cNvPr>
          <p:cNvSpPr>
            <a:spLocks xmlns:a="http://schemas.openxmlformats.org/drawingml/2006/main" noGrp="1"/>
          </p:cNvSpPr>
          <p:nvPr/>
        </p:nvSpPr>
        <p:spPr>
          <a:xfrm xmlns:a="http://schemas.openxmlformats.org/drawingml/2006/main">
            <a:off x="777240" y="5166360"/>
            <a:ext cx="10652760" cy="960120"/>
          </a:xfrm>
          <a:prstGeom xmlns:a="http://schemas.openxmlformats.org/drawingml/2006/main" prst="roundRect">
            <a:avLst>
              <a:gd name="adj" fmla="val 7619"/>
            </a:avLst>
          </a:prstGeom>
          <a:solidFill xmlns:a="http://schemas.openxmlformats.org/drawingml/2006/main">
            <a:srgbClr val="151515"/>
          </a:solidFill>
          <a:ln xmlns:a="http://schemas.openxmlformats.org/drawingml/2006/main" w="12700" cmpd="sng">
            <a:solidFill>
              <a:srgbClr val="D71920">
                <a:alpha val="50196"/>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4" name="Google Shape;434;p19">
            <a:extLst xmlns:a="http://schemas.openxmlformats.org/drawingml/2006/main">
              <a:ext uri="{FF2B5EF4-FFF2-40B4-BE49-F238E27FC236}">
                <a16:creationId xmlns:a16="http://schemas.microsoft.com/office/drawing/2014/main" id="{61F725F7-0F8F-4BF6-B7DD-D00390B337C6}"/>
              </a:ext>
            </a:extLst>
          </p:cNvPr>
          <p:cNvSpPr>
            <a:spLocks xmlns:a="http://schemas.openxmlformats.org/drawingml/2006/main" noGrp="1"/>
          </p:cNvSpPr>
          <p:nvPr/>
        </p:nvSpPr>
        <p:spPr>
          <a:xfrm xmlns:a="http://schemas.openxmlformats.org/drawingml/2006/main">
            <a:off x="1024128" y="5376672"/>
            <a:ext cx="1874520" cy="1463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850"/>
              <a:buFont typeface="Arial"/>
              <a:buNone/>
            </a:pPr>
            <a:r>
              <a:rPr sz="850" b="1" i="0" u="none" cap="none">
                <a:solidFill>
                  <a:srgbClr val="D71920"/>
                </a:solidFill>
                <a:latin typeface="Arial"/>
                <a:ea typeface="Arial"/>
                <a:cs typeface="Arial"/>
              </a:rPr>
              <a:t>STUDENT ACTIVITY</a:t>
            </a:r>
          </a:p>
        </p:txBody>
      </p:sp>
      <p:sp>
        <p:nvSpPr>
          <p:cNvPr id="435" name="Google Shape;435;p19">
            <a:extLst xmlns:a="http://schemas.openxmlformats.org/drawingml/2006/main">
              <a:ext uri="{FF2B5EF4-FFF2-40B4-BE49-F238E27FC236}">
                <a16:creationId xmlns:a16="http://schemas.microsoft.com/office/drawing/2014/main" id="{426534DA-00B9-4953-A36E-741F18C56A3C}"/>
              </a:ext>
            </a:extLst>
          </p:cNvPr>
          <p:cNvSpPr>
            <a:spLocks xmlns:a="http://schemas.openxmlformats.org/drawingml/2006/main" noGrp="1"/>
          </p:cNvSpPr>
          <p:nvPr/>
        </p:nvSpPr>
        <p:spPr>
          <a:xfrm xmlns:a="http://schemas.openxmlformats.org/drawingml/2006/main">
            <a:off x="1024128" y="5596128"/>
            <a:ext cx="42976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600"/>
              <a:buFont typeface="Arial"/>
              <a:buNone/>
            </a:pPr>
            <a:r>
              <a:rPr sz="1600" b="1" i="0" u="none" cap="none">
                <a:solidFill>
                  <a:srgbClr val="FFFFFF"/>
                </a:solidFill>
                <a:latin typeface="Arial"/>
                <a:ea typeface="Arial"/>
                <a:cs typeface="Arial"/>
              </a:rPr>
              <a:t>Engineering Performance Check</a:t>
            </a:r>
          </a:p>
        </p:txBody>
      </p:sp>
      <p:sp>
        <p:nvSpPr>
          <p:cNvPr id="436" name="Google Shape;436;p19">
            <a:extLst xmlns:a="http://schemas.openxmlformats.org/drawingml/2006/main">
              <a:ext uri="{FF2B5EF4-FFF2-40B4-BE49-F238E27FC236}">
                <a16:creationId xmlns:a16="http://schemas.microsoft.com/office/drawing/2014/main" id="{79507FCA-594D-4A9F-B80A-09E98C217C03}"/>
              </a:ext>
            </a:extLst>
          </p:cNvPr>
          <p:cNvSpPr>
            <a:spLocks xmlns:a="http://schemas.openxmlformats.org/drawingml/2006/main" noGrp="1"/>
          </p:cNvSpPr>
          <p:nvPr/>
        </p:nvSpPr>
        <p:spPr>
          <a:xfrm xmlns:a="http://schemas.openxmlformats.org/drawingml/2006/main">
            <a:off x="5349240" y="5468112"/>
            <a:ext cx="9601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B8B8B8"/>
              </a:buClr>
              <a:buSzPts val="1200"/>
              <a:buFont typeface="Arial"/>
              <a:buNone/>
            </a:pPr>
            <a:r>
              <a:rPr sz="1200" b="1" i="0" u="none" cap="none">
                <a:solidFill>
                  <a:srgbClr val="B8B8B8"/>
                </a:solidFill>
                <a:latin typeface="Arial"/>
                <a:ea typeface="Arial"/>
                <a:cs typeface="Arial"/>
              </a:rPr>
              <a:t>8 MIN</a:t>
            </a:r>
          </a:p>
        </p:txBody>
      </p:sp>
      <p:sp>
        <p:nvSpPr>
          <p:cNvPr id="437" name="Google Shape;437;p19">
            <a:extLst xmlns:a="http://schemas.openxmlformats.org/drawingml/2006/main">
              <a:ext uri="{FF2B5EF4-FFF2-40B4-BE49-F238E27FC236}">
                <a16:creationId xmlns:a16="http://schemas.microsoft.com/office/drawing/2014/main" id="{7F00A075-FF1C-49B9-A20D-D56D9878655C}"/>
              </a:ext>
            </a:extLst>
          </p:cNvPr>
          <p:cNvSpPr>
            <a:spLocks xmlns:a="http://schemas.openxmlformats.org/drawingml/2006/main" noGrp="1"/>
          </p:cNvSpPr>
          <p:nvPr/>
        </p:nvSpPr>
        <p:spPr>
          <a:xfrm xmlns:a="http://schemas.openxmlformats.org/drawingml/2006/main">
            <a:off x="6446520" y="5367528"/>
            <a:ext cx="4663440" cy="4937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50"/>
              <a:buFont typeface="Arial"/>
              <a:buNone/>
            </a:pPr>
            <a:r>
              <a:rPr sz="1250" b="0" i="0" u="none" cap="none">
                <a:solidFill>
                  <a:srgbClr val="B8B8B8"/>
                </a:solidFill>
                <a:latin typeface="Arial"/>
                <a:ea typeface="Arial"/>
                <a:cs typeface="Arial"/>
              </a:rPr>
              <a:t>Engineering students complete Handout 8. Experimental or data students may use the time to strengthen Handout 6.</a:t>
            </a:r>
          </a:p>
        </p:txBody>
      </p:sp>
    </p:spTree>
    <p:extLst>
      <p:ext uri="{BB962C8B-B14F-4D97-AF65-F5344CB8AC3E}">
        <p14:creationId xmlns:p14="http://schemas.microsoft.com/office/powerpoint/2010/main" val="426224187"/>
      </p:ext>
    </p:extLst>
  </p:cSld>
</p:sld>
</file>

<file path=ppt/slides/slide18.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443" name="Google Shape;443;p20">
            <a:extLst xmlns:a="http://schemas.openxmlformats.org/drawingml/2006/main">
              <a:ext uri="{FF2B5EF4-FFF2-40B4-BE49-F238E27FC236}">
                <a16:creationId xmlns:a16="http://schemas.microsoft.com/office/drawing/2014/main" id="{C754A249-A9FB-4388-8C04-2DC4C44FC1E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44" name="Google Shape;444;p20">
            <a:extLst xmlns:a="http://schemas.openxmlformats.org/drawingml/2006/main">
              <a:ext uri="{FF2B5EF4-FFF2-40B4-BE49-F238E27FC236}">
                <a16:creationId xmlns:a16="http://schemas.microsoft.com/office/drawing/2014/main" id="{5D536FD9-2FAD-476F-9F4C-B7CF179C24D0}"/>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45" name="Google Shape;445;p20">
            <a:extLst xmlns:a="http://schemas.openxmlformats.org/drawingml/2006/main">
              <a:ext uri="{FF2B5EF4-FFF2-40B4-BE49-F238E27FC236}">
                <a16:creationId xmlns:a16="http://schemas.microsoft.com/office/drawing/2014/main" id="{758CE59F-6C28-4BAF-A1F2-DED793BBFEE8}"/>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46" name="Google Shape;446;p20">
            <a:extLst xmlns:a="http://schemas.openxmlformats.org/drawingml/2006/main">
              <a:ext uri="{FF2B5EF4-FFF2-40B4-BE49-F238E27FC236}">
                <a16:creationId xmlns:a16="http://schemas.microsoft.com/office/drawing/2014/main" id="{9C638547-8347-4609-80A2-90511EF0DD52}"/>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EVIDENCE</a:t>
            </a:r>
          </a:p>
        </p:txBody>
      </p:sp>
      <p:sp>
        <p:nvSpPr>
          <p:cNvPr id="447" name="Google Shape;447;p20">
            <a:extLst xmlns:a="http://schemas.openxmlformats.org/drawingml/2006/main">
              <a:ext uri="{FF2B5EF4-FFF2-40B4-BE49-F238E27FC236}">
                <a16:creationId xmlns:a16="http://schemas.microsoft.com/office/drawing/2014/main" id="{CFC683B5-5B50-4FBB-93D0-C34D44B7E10A}"/>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448" name="Google Shape;448;p20">
            <a:extLst xmlns:a="http://schemas.openxmlformats.org/drawingml/2006/main">
              <a:ext uri="{FF2B5EF4-FFF2-40B4-BE49-F238E27FC236}">
                <a16:creationId xmlns:a16="http://schemas.microsoft.com/office/drawing/2014/main" id="{179804AA-8202-41CC-8F31-1F7657260BEF}"/>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What Would Count as Evidence?</a:t>
            </a:r>
          </a:p>
        </p:txBody>
      </p:sp>
      <p:sp>
        <p:nvSpPr>
          <p:cNvPr id="449" name="Google Shape;449;p20">
            <a:extLst xmlns:a="http://schemas.openxmlformats.org/drawingml/2006/main">
              <a:ext uri="{FF2B5EF4-FFF2-40B4-BE49-F238E27FC236}">
                <a16:creationId xmlns:a16="http://schemas.microsoft.com/office/drawing/2014/main" id="{A3FD7493-52FB-461C-9224-A8F6DED5CF73}"/>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50" name="Google Shape;450;p20">
            <a:extLst xmlns:a="http://schemas.openxmlformats.org/drawingml/2006/main">
              <a:ext uri="{FF2B5EF4-FFF2-40B4-BE49-F238E27FC236}">
                <a16:creationId xmlns:a16="http://schemas.microsoft.com/office/drawing/2014/main" id="{9AAD44C7-3C77-422B-BAC1-3898E2AE2484}"/>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Before interpreting results, define what each result would mean.</a:t>
            </a:r>
          </a:p>
        </p:txBody>
      </p:sp>
      <p:sp>
        <p:nvSpPr>
          <p:cNvPr id="451" name="Google Shape;451;p20">
            <a:extLst xmlns:a="http://schemas.openxmlformats.org/drawingml/2006/main">
              <a:ext uri="{FF2B5EF4-FFF2-40B4-BE49-F238E27FC236}">
                <a16:creationId xmlns:a16="http://schemas.microsoft.com/office/drawing/2014/main" id="{901D6564-0EF1-4F87-B73C-0B20CCFA1C84}"/>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18</a:t>
            </a:r>
          </a:p>
        </p:txBody>
      </p:sp>
      <p:sp>
        <p:nvSpPr>
          <p:cNvPr id="452" name="Google Shape;452;p20">
            <a:extLst xmlns:a="http://schemas.openxmlformats.org/drawingml/2006/main">
              <a:ext uri="{FF2B5EF4-FFF2-40B4-BE49-F238E27FC236}">
                <a16:creationId xmlns:a16="http://schemas.microsoft.com/office/drawing/2014/main" id="{D8501DC5-FAD9-41AF-80EA-EC39E8FA5796}"/>
              </a:ext>
            </a:extLst>
          </p:cNvPr>
          <p:cNvSpPr>
            <a:spLocks xmlns:a="http://schemas.openxmlformats.org/drawingml/2006/main" noGrp="1"/>
          </p:cNvSpPr>
          <p:nvPr/>
        </p:nvSpPr>
        <p:spPr>
          <a:xfrm xmlns:a="http://schemas.openxmlformats.org/drawingml/2006/main">
            <a:off x="1097280" y="1600200"/>
            <a:ext cx="9966960" cy="731520"/>
          </a:xfrm>
          <a:prstGeom xmlns:a="http://schemas.openxmlformats.org/drawingml/2006/main" prst="roundRect">
            <a:avLst>
              <a:gd name="adj" fmla="val 6250"/>
            </a:avLst>
          </a:prstGeom>
          <a:solidFill xmlns:a="http://schemas.openxmlformats.org/drawingml/2006/main">
            <a:srgbClr val="1A1A1A"/>
          </a:solidFill>
          <a:ln xmlns:a="http://schemas.openxmlformats.org/drawingml/2006/main" w="9525" cmpd="sng">
            <a:solidFill>
              <a:srgbClr val="D71920">
                <a:alpha val="45098"/>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53" name="Google Shape;453;p20">
            <a:extLst xmlns:a="http://schemas.openxmlformats.org/drawingml/2006/main">
              <a:ext uri="{FF2B5EF4-FFF2-40B4-BE49-F238E27FC236}">
                <a16:creationId xmlns:a16="http://schemas.microsoft.com/office/drawing/2014/main" id="{7F6AA7C1-853C-4BDA-8088-112847EAAF51}"/>
              </a:ext>
            </a:extLst>
          </p:cNvPr>
          <p:cNvSpPr>
            <a:spLocks xmlns:a="http://schemas.openxmlformats.org/drawingml/2006/main" noGrp="1"/>
          </p:cNvSpPr>
          <p:nvPr/>
        </p:nvSpPr>
        <p:spPr>
          <a:xfrm xmlns:a="http://schemas.openxmlformats.org/drawingml/2006/main">
            <a:off x="1325880" y="1746504"/>
            <a:ext cx="310896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400"/>
              <a:buFont typeface="Arial"/>
              <a:buNone/>
            </a:pPr>
            <a:r>
              <a:rPr sz="1400" b="1" i="0" u="none" cap="none">
                <a:solidFill>
                  <a:srgbClr val="D71920"/>
                </a:solidFill>
                <a:latin typeface="Arial"/>
                <a:ea typeface="Arial"/>
                <a:cs typeface="Arial"/>
              </a:rPr>
              <a:t>If the result is higher...</a:t>
            </a:r>
          </a:p>
        </p:txBody>
      </p:sp>
      <p:sp>
        <p:nvSpPr>
          <p:cNvPr id="454" name="Google Shape;454;p20">
            <a:extLst xmlns:a="http://schemas.openxmlformats.org/drawingml/2006/main">
              <a:ext uri="{FF2B5EF4-FFF2-40B4-BE49-F238E27FC236}">
                <a16:creationId xmlns:a16="http://schemas.microsoft.com/office/drawing/2014/main" id="{2DB1D253-A668-4CAF-AAC3-68C982005DA3}"/>
              </a:ext>
            </a:extLst>
          </p:cNvPr>
          <p:cNvSpPr>
            <a:spLocks xmlns:a="http://schemas.openxmlformats.org/drawingml/2006/main" noGrp="1"/>
          </p:cNvSpPr>
          <p:nvPr/>
        </p:nvSpPr>
        <p:spPr>
          <a:xfrm xmlns:a="http://schemas.openxmlformats.org/drawingml/2006/main">
            <a:off x="4572000" y="1746504"/>
            <a:ext cx="60350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400"/>
              <a:buFont typeface="Arial"/>
              <a:buNone/>
            </a:pPr>
            <a:r>
              <a:rPr sz="1400" b="0" i="0" u="none" cap="none">
                <a:solidFill>
                  <a:srgbClr val="FFFFFF"/>
                </a:solidFill>
                <a:latin typeface="Arial"/>
                <a:ea typeface="Arial"/>
                <a:cs typeface="Arial"/>
              </a:rPr>
              <a:t>What claim would that support?</a:t>
            </a:r>
          </a:p>
        </p:txBody>
      </p:sp>
      <p:sp>
        <p:nvSpPr>
          <p:cNvPr id="455" name="Google Shape;455;p20">
            <a:extLst xmlns:a="http://schemas.openxmlformats.org/drawingml/2006/main">
              <a:ext uri="{FF2B5EF4-FFF2-40B4-BE49-F238E27FC236}">
                <a16:creationId xmlns:a16="http://schemas.microsoft.com/office/drawing/2014/main" id="{1F02ED8F-400E-40DC-BA5F-7472CE14DC95}"/>
              </a:ext>
            </a:extLst>
          </p:cNvPr>
          <p:cNvSpPr>
            <a:spLocks xmlns:a="http://schemas.openxmlformats.org/drawingml/2006/main" noGrp="1"/>
          </p:cNvSpPr>
          <p:nvPr/>
        </p:nvSpPr>
        <p:spPr>
          <a:xfrm xmlns:a="http://schemas.openxmlformats.org/drawingml/2006/main">
            <a:off x="1097280" y="2743200"/>
            <a:ext cx="9966960" cy="731520"/>
          </a:xfrm>
          <a:prstGeom xmlns:a="http://schemas.openxmlformats.org/drawingml/2006/main" prst="roundRect">
            <a:avLst>
              <a:gd name="adj" fmla="val 6250"/>
            </a:avLst>
          </a:prstGeom>
          <a:solidFill xmlns:a="http://schemas.openxmlformats.org/drawingml/2006/main">
            <a:srgbClr val="1A1A1A"/>
          </a:solidFill>
          <a:ln xmlns:a="http://schemas.openxmlformats.org/drawingml/2006/main" w="9525" cmpd="sng">
            <a:solidFill>
              <a:srgbClr val="D71920">
                <a:alpha val="45098"/>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56" name="Google Shape;456;p20">
            <a:extLst xmlns:a="http://schemas.openxmlformats.org/drawingml/2006/main">
              <a:ext uri="{FF2B5EF4-FFF2-40B4-BE49-F238E27FC236}">
                <a16:creationId xmlns:a16="http://schemas.microsoft.com/office/drawing/2014/main" id="{F07E679E-5865-4FD2-9757-ED3CF9EC9FE7}"/>
              </a:ext>
            </a:extLst>
          </p:cNvPr>
          <p:cNvSpPr>
            <a:spLocks xmlns:a="http://schemas.openxmlformats.org/drawingml/2006/main" noGrp="1"/>
          </p:cNvSpPr>
          <p:nvPr/>
        </p:nvSpPr>
        <p:spPr>
          <a:xfrm xmlns:a="http://schemas.openxmlformats.org/drawingml/2006/main">
            <a:off x="1325880" y="2889504"/>
            <a:ext cx="310896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400"/>
              <a:buFont typeface="Arial"/>
              <a:buNone/>
            </a:pPr>
            <a:r>
              <a:rPr sz="1400" b="1" i="0" u="none" cap="none">
                <a:solidFill>
                  <a:srgbClr val="D71920"/>
                </a:solidFill>
                <a:latin typeface="Arial"/>
                <a:ea typeface="Arial"/>
                <a:cs typeface="Arial"/>
              </a:rPr>
              <a:t>If the result is lower...</a:t>
            </a:r>
          </a:p>
        </p:txBody>
      </p:sp>
      <p:sp>
        <p:nvSpPr>
          <p:cNvPr id="457" name="Google Shape;457;p20">
            <a:extLst xmlns:a="http://schemas.openxmlformats.org/drawingml/2006/main">
              <a:ext uri="{FF2B5EF4-FFF2-40B4-BE49-F238E27FC236}">
                <a16:creationId xmlns:a16="http://schemas.microsoft.com/office/drawing/2014/main" id="{F6E0588F-6128-4323-BAAD-591A8AC53016}"/>
              </a:ext>
            </a:extLst>
          </p:cNvPr>
          <p:cNvSpPr>
            <a:spLocks xmlns:a="http://schemas.openxmlformats.org/drawingml/2006/main" noGrp="1"/>
          </p:cNvSpPr>
          <p:nvPr/>
        </p:nvSpPr>
        <p:spPr>
          <a:xfrm xmlns:a="http://schemas.openxmlformats.org/drawingml/2006/main">
            <a:off x="4572000" y="2889504"/>
            <a:ext cx="60350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400"/>
              <a:buFont typeface="Arial"/>
              <a:buNone/>
            </a:pPr>
            <a:r>
              <a:rPr sz="1400" b="0" i="0" u="none" cap="none">
                <a:solidFill>
                  <a:srgbClr val="FFFFFF"/>
                </a:solidFill>
                <a:latin typeface="Arial"/>
                <a:ea typeface="Arial"/>
                <a:cs typeface="Arial"/>
              </a:rPr>
              <a:t>What claim would that challenge?</a:t>
            </a:r>
          </a:p>
        </p:txBody>
      </p:sp>
      <p:sp>
        <p:nvSpPr>
          <p:cNvPr id="458" name="Google Shape;458;p20">
            <a:extLst xmlns:a="http://schemas.openxmlformats.org/drawingml/2006/main">
              <a:ext uri="{FF2B5EF4-FFF2-40B4-BE49-F238E27FC236}">
                <a16:creationId xmlns:a16="http://schemas.microsoft.com/office/drawing/2014/main" id="{9421CF36-557E-40EE-B7CB-0F677A88917F}"/>
              </a:ext>
            </a:extLst>
          </p:cNvPr>
          <p:cNvSpPr>
            <a:spLocks xmlns:a="http://schemas.openxmlformats.org/drawingml/2006/main" noGrp="1"/>
          </p:cNvSpPr>
          <p:nvPr/>
        </p:nvSpPr>
        <p:spPr>
          <a:xfrm xmlns:a="http://schemas.openxmlformats.org/drawingml/2006/main">
            <a:off x="1097280" y="3886200"/>
            <a:ext cx="9966960" cy="731520"/>
          </a:xfrm>
          <a:prstGeom xmlns:a="http://schemas.openxmlformats.org/drawingml/2006/main" prst="roundRect">
            <a:avLst>
              <a:gd name="adj" fmla="val 6250"/>
            </a:avLst>
          </a:prstGeom>
          <a:solidFill xmlns:a="http://schemas.openxmlformats.org/drawingml/2006/main">
            <a:srgbClr val="1A1A1A"/>
          </a:solidFill>
          <a:ln xmlns:a="http://schemas.openxmlformats.org/drawingml/2006/main" w="9525" cmpd="sng">
            <a:solidFill>
              <a:srgbClr val="D71920">
                <a:alpha val="45098"/>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59" name="Google Shape;459;p20">
            <a:extLst xmlns:a="http://schemas.openxmlformats.org/drawingml/2006/main">
              <a:ext uri="{FF2B5EF4-FFF2-40B4-BE49-F238E27FC236}">
                <a16:creationId xmlns:a16="http://schemas.microsoft.com/office/drawing/2014/main" id="{A1FBF691-6FA2-4CDC-AEEA-8FA418F9C445}"/>
              </a:ext>
            </a:extLst>
          </p:cNvPr>
          <p:cNvSpPr>
            <a:spLocks xmlns:a="http://schemas.openxmlformats.org/drawingml/2006/main" noGrp="1"/>
          </p:cNvSpPr>
          <p:nvPr/>
        </p:nvSpPr>
        <p:spPr>
          <a:xfrm xmlns:a="http://schemas.openxmlformats.org/drawingml/2006/main">
            <a:off x="1325880" y="4032504"/>
            <a:ext cx="310896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1400"/>
              <a:buFont typeface="Arial"/>
              <a:buNone/>
            </a:pPr>
            <a:r>
              <a:rPr sz="1400" b="1" i="0" u="none" cap="none">
                <a:solidFill>
                  <a:srgbClr val="D71920"/>
                </a:solidFill>
                <a:latin typeface="Arial"/>
                <a:ea typeface="Arial"/>
                <a:cs typeface="Arial"/>
              </a:rPr>
              <a:t>If results are inconsistent...</a:t>
            </a:r>
          </a:p>
        </p:txBody>
      </p:sp>
      <p:sp>
        <p:nvSpPr>
          <p:cNvPr id="460" name="Google Shape;460;p20">
            <a:extLst xmlns:a="http://schemas.openxmlformats.org/drawingml/2006/main">
              <a:ext uri="{FF2B5EF4-FFF2-40B4-BE49-F238E27FC236}">
                <a16:creationId xmlns:a16="http://schemas.microsoft.com/office/drawing/2014/main" id="{07DAD01B-8824-40E6-AEE9-1A4B8094DC69}"/>
              </a:ext>
            </a:extLst>
          </p:cNvPr>
          <p:cNvSpPr>
            <a:spLocks xmlns:a="http://schemas.openxmlformats.org/drawingml/2006/main" noGrp="1"/>
          </p:cNvSpPr>
          <p:nvPr/>
        </p:nvSpPr>
        <p:spPr>
          <a:xfrm xmlns:a="http://schemas.openxmlformats.org/drawingml/2006/main">
            <a:off x="4572000" y="4032504"/>
            <a:ext cx="60350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400"/>
              <a:buFont typeface="Arial"/>
              <a:buNone/>
            </a:pPr>
            <a:r>
              <a:rPr sz="1400" b="0" i="0" u="none" cap="none">
                <a:solidFill>
                  <a:srgbClr val="FFFFFF"/>
                </a:solidFill>
                <a:latin typeface="Arial"/>
                <a:ea typeface="Arial"/>
                <a:cs typeface="Arial"/>
              </a:rPr>
              <a:t>What limitation must be discussed?</a:t>
            </a:r>
          </a:p>
        </p:txBody>
      </p:sp>
    </p:spTree>
    <p:extLst>
      <p:ext uri="{BB962C8B-B14F-4D97-AF65-F5344CB8AC3E}">
        <p14:creationId xmlns:p14="http://schemas.microsoft.com/office/powerpoint/2010/main" val="1854817325"/>
      </p:ext>
    </p:extLst>
  </p:cSld>
</p:sld>
</file>

<file path=ppt/slides/slide19.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466" name="Google Shape;466;p21">
            <a:extLst xmlns:a="http://schemas.openxmlformats.org/drawingml/2006/main">
              <a:ext uri="{FF2B5EF4-FFF2-40B4-BE49-F238E27FC236}">
                <a16:creationId xmlns:a16="http://schemas.microsoft.com/office/drawing/2014/main" id="{9C92BC0D-B233-40C6-937D-5D2776203BB8}"/>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67" name="Google Shape;467;p21">
            <a:extLst xmlns:a="http://schemas.openxmlformats.org/drawingml/2006/main">
              <a:ext uri="{FF2B5EF4-FFF2-40B4-BE49-F238E27FC236}">
                <a16:creationId xmlns:a16="http://schemas.microsoft.com/office/drawing/2014/main" id="{0298C5AA-9482-40AB-9008-BE6EB053B99F}"/>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68" name="Google Shape;468;p21">
            <a:extLst xmlns:a="http://schemas.openxmlformats.org/drawingml/2006/main">
              <a:ext uri="{FF2B5EF4-FFF2-40B4-BE49-F238E27FC236}">
                <a16:creationId xmlns:a16="http://schemas.microsoft.com/office/drawing/2014/main" id="{B05F5E63-80D9-4047-B615-5ABFBE88B60E}"/>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69" name="Google Shape;469;p21">
            <a:extLst xmlns:a="http://schemas.openxmlformats.org/drawingml/2006/main">
              <a:ext uri="{FF2B5EF4-FFF2-40B4-BE49-F238E27FC236}">
                <a16:creationId xmlns:a16="http://schemas.microsoft.com/office/drawing/2014/main" id="{10FE5562-0462-4B18-A88E-0052A805022B}"/>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WATCH OUT</a:t>
            </a:r>
          </a:p>
        </p:txBody>
      </p:sp>
      <p:sp>
        <p:nvSpPr>
          <p:cNvPr id="470" name="Google Shape;470;p21">
            <a:extLst xmlns:a="http://schemas.openxmlformats.org/drawingml/2006/main">
              <a:ext uri="{FF2B5EF4-FFF2-40B4-BE49-F238E27FC236}">
                <a16:creationId xmlns:a16="http://schemas.microsoft.com/office/drawing/2014/main" id="{C0DD5CCC-1066-4455-B8E4-050543A9ED2A}"/>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471" name="Google Shape;471;p21">
            <a:extLst xmlns:a="http://schemas.openxmlformats.org/drawingml/2006/main">
              <a:ext uri="{FF2B5EF4-FFF2-40B4-BE49-F238E27FC236}">
                <a16:creationId xmlns:a16="http://schemas.microsoft.com/office/drawing/2014/main" id="{52399EFE-FBAA-48B0-82E2-33AF169AE545}"/>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Common Analysis Mistakes</a:t>
            </a:r>
          </a:p>
        </p:txBody>
      </p:sp>
      <p:sp>
        <p:nvSpPr>
          <p:cNvPr id="472" name="Google Shape;472;p21">
            <a:extLst xmlns:a="http://schemas.openxmlformats.org/drawingml/2006/main">
              <a:ext uri="{FF2B5EF4-FFF2-40B4-BE49-F238E27FC236}">
                <a16:creationId xmlns:a16="http://schemas.microsoft.com/office/drawing/2014/main" id="{F6B96562-88BB-4F30-B5D4-1E6B4DA449C5}"/>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73" name="Google Shape;473;p21">
            <a:extLst xmlns:a="http://schemas.openxmlformats.org/drawingml/2006/main">
              <a:ext uri="{FF2B5EF4-FFF2-40B4-BE49-F238E27FC236}">
                <a16:creationId xmlns:a16="http://schemas.microsoft.com/office/drawing/2014/main" id="{67F8E54D-F373-41F4-84ED-969B7873FD25}"/>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These errors make results harder to trust.</a:t>
            </a:r>
          </a:p>
        </p:txBody>
      </p:sp>
      <p:sp>
        <p:nvSpPr>
          <p:cNvPr id="474" name="Google Shape;474;p21">
            <a:extLst xmlns:a="http://schemas.openxmlformats.org/drawingml/2006/main">
              <a:ext uri="{FF2B5EF4-FFF2-40B4-BE49-F238E27FC236}">
                <a16:creationId xmlns:a16="http://schemas.microsoft.com/office/drawing/2014/main" id="{A6E016B2-1903-4260-BFB0-2FF493E46F26}"/>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19</a:t>
            </a:r>
          </a:p>
        </p:txBody>
      </p:sp>
      <p:sp>
        <p:nvSpPr>
          <p:cNvPr id="475" name="Google Shape;475;p21">
            <a:extLst xmlns:a="http://schemas.openxmlformats.org/drawingml/2006/main">
              <a:ext uri="{FF2B5EF4-FFF2-40B4-BE49-F238E27FC236}">
                <a16:creationId xmlns:a16="http://schemas.microsoft.com/office/drawing/2014/main" id="{A9B6C234-066F-417C-8585-E48AF02098A1}"/>
              </a:ext>
            </a:extLst>
          </p:cNvPr>
          <p:cNvSpPr>
            <a:spLocks xmlns:a="http://schemas.openxmlformats.org/drawingml/2006/main" noGrp="1"/>
          </p:cNvSpPr>
          <p:nvPr/>
        </p:nvSpPr>
        <p:spPr>
          <a:xfrm xmlns:a="http://schemas.openxmlformats.org/drawingml/2006/main">
            <a:off x="1097280" y="1417320"/>
            <a:ext cx="9692640" cy="365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 Choosing a statistic because it sounds impressive• Graphing before cleaning data</a:t>
            </a:r>
          </a:p>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 Using averages without checking spread</a:t>
            </a:r>
          </a:p>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 Comparing groups with unequal or missing trials</a:t>
            </a:r>
          </a:p>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 Claiming causation from correlation</a:t>
            </a:r>
          </a:p>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 Ignoring failed or flagged data</a:t>
            </a:r>
          </a:p>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 Not documenting formulas or calculation choices</a:t>
            </a:r>
          </a:p>
        </p:txBody>
      </p:sp>
    </p:spTree>
    <p:extLst>
      <p:ext uri="{BB962C8B-B14F-4D97-AF65-F5344CB8AC3E}">
        <p14:creationId xmlns:p14="http://schemas.microsoft.com/office/powerpoint/2010/main" val="2036853020"/>
      </p:ext>
    </p:extLst>
  </p:cSld>
</p:sld>
</file>

<file path=ppt/slides/slide2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481" name="Google Shape;481;p22">
            <a:extLst xmlns:a="http://schemas.openxmlformats.org/drawingml/2006/main">
              <a:ext uri="{FF2B5EF4-FFF2-40B4-BE49-F238E27FC236}">
                <a16:creationId xmlns:a16="http://schemas.microsoft.com/office/drawing/2014/main" id="{A2A18DF6-78AC-4079-AF92-A7E4D6EDCA11}"/>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82" name="Google Shape;482;p22">
            <a:extLst xmlns:a="http://schemas.openxmlformats.org/drawingml/2006/main">
              <a:ext uri="{FF2B5EF4-FFF2-40B4-BE49-F238E27FC236}">
                <a16:creationId xmlns:a16="http://schemas.microsoft.com/office/drawing/2014/main" id="{C6B3F0F6-468E-474F-AE23-5F04AD531AA4}"/>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83" name="Google Shape;483;p22">
            <a:extLst xmlns:a="http://schemas.openxmlformats.org/drawingml/2006/main">
              <a:ext uri="{FF2B5EF4-FFF2-40B4-BE49-F238E27FC236}">
                <a16:creationId xmlns:a16="http://schemas.microsoft.com/office/drawing/2014/main" id="{200E230D-D372-4C19-B773-65D9C8AA1806}"/>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84" name="Google Shape;484;p22">
            <a:extLst xmlns:a="http://schemas.openxmlformats.org/drawingml/2006/main">
              <a:ext uri="{FF2B5EF4-FFF2-40B4-BE49-F238E27FC236}">
                <a16:creationId xmlns:a16="http://schemas.microsoft.com/office/drawing/2014/main" id="{78878166-8C06-4FDB-A7AC-1D674BD5826A}"/>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TEACHER CHECKPOINT</a:t>
            </a:r>
          </a:p>
        </p:txBody>
      </p:sp>
      <p:sp>
        <p:nvSpPr>
          <p:cNvPr id="485" name="Google Shape;485;p22">
            <a:extLst xmlns:a="http://schemas.openxmlformats.org/drawingml/2006/main">
              <a:ext uri="{FF2B5EF4-FFF2-40B4-BE49-F238E27FC236}">
                <a16:creationId xmlns:a16="http://schemas.microsoft.com/office/drawing/2014/main" id="{ECB99A6D-39F7-4E7F-ABD2-0A4354F9230D}"/>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486" name="Google Shape;486;p22">
            <a:extLst xmlns:a="http://schemas.openxmlformats.org/drawingml/2006/main">
              <a:ext uri="{FF2B5EF4-FFF2-40B4-BE49-F238E27FC236}">
                <a16:creationId xmlns:a16="http://schemas.microsoft.com/office/drawing/2014/main" id="{BE91037A-CD2A-4648-82C5-47A89E1ACE16}"/>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Show Me Your Analysis Plan</a:t>
            </a:r>
          </a:p>
        </p:txBody>
      </p:sp>
      <p:sp>
        <p:nvSpPr>
          <p:cNvPr id="487" name="Google Shape;487;p22">
            <a:extLst xmlns:a="http://schemas.openxmlformats.org/drawingml/2006/main">
              <a:ext uri="{FF2B5EF4-FFF2-40B4-BE49-F238E27FC236}">
                <a16:creationId xmlns:a16="http://schemas.microsoft.com/office/drawing/2014/main" id="{E3D0A8B0-9FDF-4BEF-93B4-F4B161742A0F}"/>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88" name="Google Shape;488;p22">
            <a:extLst xmlns:a="http://schemas.openxmlformats.org/drawingml/2006/main">
              <a:ext uri="{FF2B5EF4-FFF2-40B4-BE49-F238E27FC236}">
                <a16:creationId xmlns:a16="http://schemas.microsoft.com/office/drawing/2014/main" id="{EF87C9CA-DEF2-4112-BD44-945638539359}"/>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Students are ready when they can explain the method, not just name it.</a:t>
            </a:r>
          </a:p>
        </p:txBody>
      </p:sp>
      <p:sp>
        <p:nvSpPr>
          <p:cNvPr id="489" name="Google Shape;489;p22">
            <a:extLst xmlns:a="http://schemas.openxmlformats.org/drawingml/2006/main">
              <a:ext uri="{FF2B5EF4-FFF2-40B4-BE49-F238E27FC236}">
                <a16:creationId xmlns:a16="http://schemas.microsoft.com/office/drawing/2014/main" id="{0247BB65-33B7-47CB-ADEE-4F2E8B58FB6F}"/>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20</a:t>
            </a:r>
          </a:p>
        </p:txBody>
      </p:sp>
      <p:sp>
        <p:nvSpPr>
          <p:cNvPr id="490" name="Google Shape;490;p22">
            <a:extLst xmlns:a="http://schemas.openxmlformats.org/drawingml/2006/main">
              <a:ext uri="{FF2B5EF4-FFF2-40B4-BE49-F238E27FC236}">
                <a16:creationId xmlns:a16="http://schemas.microsoft.com/office/drawing/2014/main" id="{CBB08045-2CA2-4A1A-8BA2-A1D8CBE0AC96}"/>
              </a:ext>
            </a:extLst>
          </p:cNvPr>
          <p:cNvSpPr>
            <a:spLocks xmlns:a="http://schemas.openxmlformats.org/drawingml/2006/main" noGrp="1"/>
          </p:cNvSpPr>
          <p:nvPr/>
        </p:nvSpPr>
        <p:spPr>
          <a:xfrm xmlns:a="http://schemas.openxmlformats.org/drawingml/2006/main">
            <a:off x="1097280" y="1417320"/>
            <a:ext cx="9692640" cy="3840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 What data are you analyzing?• What question should the analysis answer?</a:t>
            </a:r>
          </a:p>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 What calculation or comparison will you use?</a:t>
            </a:r>
          </a:p>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 Why does that method fit?</a:t>
            </a:r>
          </a:p>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 What graph or table might come next?</a:t>
            </a:r>
          </a:p>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 What result would be too weak to support a claim?</a:t>
            </a:r>
          </a:p>
        </p:txBody>
      </p:sp>
    </p:spTree>
    <p:extLst>
      <p:ext uri="{BB962C8B-B14F-4D97-AF65-F5344CB8AC3E}">
        <p14:creationId xmlns:p14="http://schemas.microsoft.com/office/powerpoint/2010/main" val="1102346156"/>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496" name="Google Shape;496;p23">
            <a:extLst xmlns:a="http://schemas.openxmlformats.org/drawingml/2006/main">
              <a:ext uri="{FF2B5EF4-FFF2-40B4-BE49-F238E27FC236}">
                <a16:creationId xmlns:a16="http://schemas.microsoft.com/office/drawing/2014/main" id="{24A7A8C1-682A-490D-9F5D-94033D11491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97" name="Google Shape;497;p23">
            <a:extLst xmlns:a="http://schemas.openxmlformats.org/drawingml/2006/main">
              <a:ext uri="{FF2B5EF4-FFF2-40B4-BE49-F238E27FC236}">
                <a16:creationId xmlns:a16="http://schemas.microsoft.com/office/drawing/2014/main" id="{3E2B4DC6-627F-4A5E-8F24-C0F3D5AC7143}"/>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98" name="Google Shape;498;p23">
            <a:extLst xmlns:a="http://schemas.openxmlformats.org/drawingml/2006/main">
              <a:ext uri="{FF2B5EF4-FFF2-40B4-BE49-F238E27FC236}">
                <a16:creationId xmlns:a16="http://schemas.microsoft.com/office/drawing/2014/main" id="{AA04C20A-160B-4EA0-A002-FBC8A83ACEB9}"/>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99" name="Google Shape;499;p23">
            <a:extLst xmlns:a="http://schemas.openxmlformats.org/drawingml/2006/main">
              <a:ext uri="{FF2B5EF4-FFF2-40B4-BE49-F238E27FC236}">
                <a16:creationId xmlns:a16="http://schemas.microsoft.com/office/drawing/2014/main" id="{9A0B6CEF-67EA-49EB-800D-AF11A5035B9A}"/>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EXIT TICKET</a:t>
            </a:r>
          </a:p>
        </p:txBody>
      </p:sp>
      <p:sp>
        <p:nvSpPr>
          <p:cNvPr id="500" name="Google Shape;500;p23">
            <a:extLst xmlns:a="http://schemas.openxmlformats.org/drawingml/2006/main">
              <a:ext uri="{FF2B5EF4-FFF2-40B4-BE49-F238E27FC236}">
                <a16:creationId xmlns:a16="http://schemas.microsoft.com/office/drawing/2014/main" id="{25358E81-1CC8-4628-B179-964E33360C42}"/>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501" name="Google Shape;501;p23">
            <a:extLst xmlns:a="http://schemas.openxmlformats.org/drawingml/2006/main">
              <a:ext uri="{FF2B5EF4-FFF2-40B4-BE49-F238E27FC236}">
                <a16:creationId xmlns:a16="http://schemas.microsoft.com/office/drawing/2014/main" id="{12354877-0DB6-493F-9D1B-0F9634E3E6C9}"/>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Exit Ticket</a:t>
            </a:r>
          </a:p>
        </p:txBody>
      </p:sp>
      <p:sp>
        <p:nvSpPr>
          <p:cNvPr id="502" name="Google Shape;502;p23">
            <a:extLst xmlns:a="http://schemas.openxmlformats.org/drawingml/2006/main">
              <a:ext uri="{FF2B5EF4-FFF2-40B4-BE49-F238E27FC236}">
                <a16:creationId xmlns:a16="http://schemas.microsoft.com/office/drawing/2014/main" id="{22487B9D-0463-4CA3-B6A4-525793DCB2F6}"/>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03" name="Google Shape;503;p23">
            <a:extLst xmlns:a="http://schemas.openxmlformats.org/drawingml/2006/main">
              <a:ext uri="{FF2B5EF4-FFF2-40B4-BE49-F238E27FC236}">
                <a16:creationId xmlns:a16="http://schemas.microsoft.com/office/drawing/2014/main" id="{51C413D6-E5E2-4866-9FFC-232161FB86BD}"/>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Leave with one clear first analysis move.</a:t>
            </a:r>
          </a:p>
        </p:txBody>
      </p:sp>
      <p:sp>
        <p:nvSpPr>
          <p:cNvPr id="504" name="Google Shape;504;p23">
            <a:extLst xmlns:a="http://schemas.openxmlformats.org/drawingml/2006/main">
              <a:ext uri="{FF2B5EF4-FFF2-40B4-BE49-F238E27FC236}">
                <a16:creationId xmlns:a16="http://schemas.microsoft.com/office/drawing/2014/main" id="{27FB97D6-9500-4788-BD14-91927777C799}"/>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21</a:t>
            </a:r>
          </a:p>
        </p:txBody>
      </p:sp>
      <p:sp>
        <p:nvSpPr>
          <p:cNvPr id="505" name="Google Shape;505;p23">
            <a:extLst xmlns:a="http://schemas.openxmlformats.org/drawingml/2006/main">
              <a:ext uri="{FF2B5EF4-FFF2-40B4-BE49-F238E27FC236}">
                <a16:creationId xmlns:a16="http://schemas.microsoft.com/office/drawing/2014/main" id="{595B34B2-5E10-4F50-B83A-76652DA5B40E}"/>
              </a:ext>
            </a:extLst>
          </p:cNvPr>
          <p:cNvSpPr>
            <a:spLocks xmlns:a="http://schemas.openxmlformats.org/drawingml/2006/main" noGrp="1"/>
          </p:cNvSpPr>
          <p:nvPr/>
        </p:nvSpPr>
        <p:spPr>
          <a:xfrm xmlns:a="http://schemas.openxmlformats.org/drawingml/2006/main">
            <a:off x="1097280" y="1600200"/>
            <a:ext cx="9692640" cy="274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900"/>
              <a:buFont typeface="Arial"/>
              <a:buNone/>
            </a:pPr>
            <a:r>
              <a:rPr sz="1900" b="0" i="0" u="none" cap="none">
                <a:solidFill>
                  <a:srgbClr val="FFFFFF"/>
                </a:solidFill>
                <a:latin typeface="Arial"/>
                <a:ea typeface="Arial"/>
                <a:cs typeface="Arial"/>
              </a:rPr>
              <a:t>• My first analysis method will be...• This method fits because...</a:t>
            </a:r>
          </a:p>
          <a:p xmlns:a="http://schemas.openxmlformats.org/drawingml/2006/main">
            <a:pPr marL="0" marR="0" indent="0" algn="l">
              <a:spcBef>
                <a:spcPts val="0"/>
              </a:spcBef>
              <a:spcAft>
                <a:spcPts val="0"/>
              </a:spcAft>
              <a:buClr>
                <a:srgbClr val="FFFFFF"/>
              </a:buClr>
              <a:buSzPts val="1900"/>
              <a:buFont typeface="Arial"/>
              <a:buNone/>
            </a:pPr>
            <a:r>
              <a:rPr sz="1900" b="0" i="0" u="none" cap="none">
                <a:solidFill>
                  <a:srgbClr val="FFFFFF"/>
                </a:solidFill>
                <a:latin typeface="Arial"/>
                <a:ea typeface="Arial"/>
                <a:cs typeface="Arial"/>
              </a:rPr>
              <a:t>• The calculation or comparison will show...</a:t>
            </a:r>
          </a:p>
          <a:p xmlns:a="http://schemas.openxmlformats.org/drawingml/2006/main">
            <a:pPr marL="0" marR="0" indent="0" algn="l">
              <a:spcBef>
                <a:spcPts val="0"/>
              </a:spcBef>
              <a:spcAft>
                <a:spcPts val="0"/>
              </a:spcAft>
              <a:buClr>
                <a:srgbClr val="FFFFFF"/>
              </a:buClr>
              <a:buSzPts val="1900"/>
              <a:buFont typeface="Arial"/>
              <a:buNone/>
            </a:pPr>
            <a:r>
              <a:rPr sz="1900" b="0" i="0" u="none" cap="none">
                <a:solidFill>
                  <a:srgbClr val="FFFFFF"/>
                </a:solidFill>
                <a:latin typeface="Arial"/>
                <a:ea typeface="Arial"/>
                <a:cs typeface="Arial"/>
              </a:rPr>
              <a:t>• The graph/table I may need next is...</a:t>
            </a:r>
          </a:p>
        </p:txBody>
      </p:sp>
      <p:sp>
        <p:nvSpPr>
          <p:cNvPr id="506" name="Google Shape;506;p23">
            <a:extLst xmlns:a="http://schemas.openxmlformats.org/drawingml/2006/main">
              <a:ext uri="{FF2B5EF4-FFF2-40B4-BE49-F238E27FC236}">
                <a16:creationId xmlns:a16="http://schemas.microsoft.com/office/drawing/2014/main" id="{8DA21A15-DB92-493F-98D9-C516FCE8D36A}"/>
              </a:ext>
            </a:extLst>
          </p:cNvPr>
          <p:cNvSpPr>
            <a:spLocks xmlns:a="http://schemas.openxmlformats.org/drawingml/2006/main" noGrp="1"/>
          </p:cNvSpPr>
          <p:nvPr/>
        </p:nvSpPr>
        <p:spPr>
          <a:xfrm xmlns:a="http://schemas.openxmlformats.org/drawingml/2006/main">
            <a:off x="1097280" y="4800600"/>
            <a:ext cx="96926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D71920"/>
              </a:buClr>
              <a:buSzPts val="1800"/>
              <a:buFont typeface="Arial"/>
              <a:buNone/>
            </a:pPr>
            <a:r>
              <a:rPr sz="1800" b="1" i="0" u="none" cap="none">
                <a:solidFill>
                  <a:srgbClr val="D71920"/>
                </a:solidFill>
                <a:latin typeface="Arial"/>
                <a:ea typeface="Arial"/>
                <a:cs typeface="Arial"/>
              </a:rPr>
              <a:t>Submit with your Data Analysis Plan.</a:t>
            </a:r>
          </a:p>
        </p:txBody>
      </p:sp>
    </p:spTree>
    <p:extLst>
      <p:ext uri="{BB962C8B-B14F-4D97-AF65-F5344CB8AC3E}">
        <p14:creationId xmlns:p14="http://schemas.microsoft.com/office/powerpoint/2010/main" val="1849160620"/>
      </p:ext>
    </p:extLst>
  </p:cSld>
</p:sld>
</file>

<file path=ppt/slides/slide22.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512" name="Google Shape;512;p24">
            <a:extLst xmlns:a="http://schemas.openxmlformats.org/drawingml/2006/main">
              <a:ext uri="{FF2B5EF4-FFF2-40B4-BE49-F238E27FC236}">
                <a16:creationId xmlns:a16="http://schemas.microsoft.com/office/drawing/2014/main" id="{3C6F0DEA-5B12-4EF4-BAE9-B4839285838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80808"/>
          </a:solidFill>
          <a:ln xmlns:a="http://schemas.openxmlformats.org/drawingml/2006/main" w="12700" cmpd="sng">
            <a:solidFill>
              <a:srgbClr val="080808">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3" name="Google Shape;513;p24">
            <a:extLst xmlns:a="http://schemas.openxmlformats.org/drawingml/2006/main">
              <a:ext uri="{FF2B5EF4-FFF2-40B4-BE49-F238E27FC236}">
                <a16:creationId xmlns:a16="http://schemas.microsoft.com/office/drawing/2014/main" id="{94584857-0162-4762-B1DF-70199E7557AC}"/>
              </a:ext>
            </a:extLst>
          </p:cNvPr>
          <p:cNvSpPr>
            <a:spLocks xmlns:a="http://schemas.openxmlformats.org/drawingml/2006/main" noGrp="1"/>
          </p:cNvSpPr>
          <p:nvPr/>
        </p:nvSpPr>
        <p:spPr>
          <a:xfrm xmlns:a="http://schemas.openxmlformats.org/drawingml/2006/main">
            <a:off x="0" y="10972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4" name="Google Shape;514;p24">
            <a:extLst xmlns:a="http://schemas.openxmlformats.org/drawingml/2006/main">
              <a:ext uri="{FF2B5EF4-FFF2-40B4-BE49-F238E27FC236}">
                <a16:creationId xmlns:a16="http://schemas.microsoft.com/office/drawing/2014/main" id="{4E92DEE4-DFA1-4845-8956-6381F0F5C7C8}"/>
              </a:ext>
            </a:extLst>
          </p:cNvPr>
          <p:cNvSpPr>
            <a:spLocks xmlns:a="http://schemas.openxmlformats.org/drawingml/2006/main" noGrp="1"/>
          </p:cNvSpPr>
          <p:nvPr/>
        </p:nvSpPr>
        <p:spPr>
          <a:xfrm xmlns:a="http://schemas.openxmlformats.org/drawingml/2006/main">
            <a:off x="0" y="6693408"/>
            <a:ext cx="12191695" cy="54864"/>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5" name="Google Shape;515;p24">
            <a:extLst xmlns:a="http://schemas.openxmlformats.org/drawingml/2006/main">
              <a:ext uri="{FF2B5EF4-FFF2-40B4-BE49-F238E27FC236}">
                <a16:creationId xmlns:a16="http://schemas.microsoft.com/office/drawing/2014/main" id="{5E7BD1BA-2906-448A-AF69-2DB70F54E277}"/>
              </a:ext>
            </a:extLst>
          </p:cNvPr>
          <p:cNvSpPr>
            <a:spLocks xmlns:a="http://schemas.openxmlformats.org/drawingml/2006/main" noGrp="1"/>
          </p:cNvSpPr>
          <p:nvPr/>
        </p:nvSpPr>
        <p:spPr>
          <a:xfrm xmlns:a="http://schemas.openxmlformats.org/drawingml/2006/main">
            <a:off x="411480" y="6419088"/>
            <a:ext cx="32918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NEXT DECK</a:t>
            </a:r>
          </a:p>
        </p:txBody>
      </p:sp>
      <p:sp>
        <p:nvSpPr>
          <p:cNvPr id="516" name="Google Shape;516;p24">
            <a:extLst xmlns:a="http://schemas.openxmlformats.org/drawingml/2006/main">
              <a:ext uri="{FF2B5EF4-FFF2-40B4-BE49-F238E27FC236}">
                <a16:creationId xmlns:a16="http://schemas.microsoft.com/office/drawing/2014/main" id="{6553989B-A3E8-4FD9-B3D5-7D450CC44205}"/>
              </a:ext>
            </a:extLst>
          </p:cNvPr>
          <p:cNvSpPr>
            <a:spLocks xmlns:a="http://schemas.openxmlformats.org/drawingml/2006/main" noGrp="1"/>
          </p:cNvSpPr>
          <p:nvPr/>
        </p:nvSpPr>
        <p:spPr>
          <a:xfrm xmlns:a="http://schemas.openxmlformats.org/drawingml/2006/main">
            <a:off x="10561320" y="6419088"/>
            <a:ext cx="11887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DECK 10</a:t>
            </a:r>
          </a:p>
        </p:txBody>
      </p:sp>
      <p:sp>
        <p:nvSpPr>
          <p:cNvPr id="517" name="Google Shape;517;p24">
            <a:extLst xmlns:a="http://schemas.openxmlformats.org/drawingml/2006/main">
              <a:ext uri="{FF2B5EF4-FFF2-40B4-BE49-F238E27FC236}">
                <a16:creationId xmlns:a16="http://schemas.microsoft.com/office/drawing/2014/main" id="{AB990BB0-BBE2-4C69-B056-CDB199847C51}"/>
              </a:ext>
            </a:extLst>
          </p:cNvPr>
          <p:cNvSpPr>
            <a:spLocks xmlns:a="http://schemas.openxmlformats.org/drawingml/2006/main" noGrp="1"/>
          </p:cNvSpPr>
          <p:nvPr/>
        </p:nvSpPr>
        <p:spPr>
          <a:xfrm xmlns:a="http://schemas.openxmlformats.org/drawingml/2006/main">
            <a:off x="640080" y="502920"/>
            <a:ext cx="996696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Next Deck: Graphing and Visual Ethics</a:t>
            </a:r>
          </a:p>
        </p:txBody>
      </p:sp>
      <p:sp>
        <p:nvSpPr>
          <p:cNvPr id="518" name="Google Shape;518;p24">
            <a:extLst xmlns:a="http://schemas.openxmlformats.org/drawingml/2006/main">
              <a:ext uri="{FF2B5EF4-FFF2-40B4-BE49-F238E27FC236}">
                <a16:creationId xmlns:a16="http://schemas.microsoft.com/office/drawing/2014/main" id="{F2853E8E-4DA4-4503-B13F-611BF613D3E9}"/>
              </a:ext>
            </a:extLst>
          </p:cNvPr>
          <p:cNvSpPr>
            <a:spLocks xmlns:a="http://schemas.openxmlformats.org/drawingml/2006/main" noGrp="1"/>
          </p:cNvSpPr>
          <p:nvPr/>
        </p:nvSpPr>
        <p:spPr>
          <a:xfrm xmlns:a="http://schemas.openxmlformats.org/drawingml/2006/main">
            <a:off x="640080" y="1078992"/>
            <a:ext cx="1234440" cy="45720"/>
          </a:xfrm>
          <a:prstGeom xmlns:a="http://schemas.openxmlformats.org/drawingml/2006/main" prst="rect">
            <a:avLst/>
          </a:prstGeom>
          <a:solidFill xmlns:a="http://schemas.openxmlformats.org/drawingml/2006/main">
            <a:srgbClr val="D71920"/>
          </a:solidFill>
          <a:ln xmlns:a="http://schemas.openxmlformats.org/drawingml/2006/main" w="12700" cmpd="sng">
            <a:solidFill>
              <a:srgbClr val="D7192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9" name="Google Shape;519;p24">
            <a:extLst xmlns:a="http://schemas.openxmlformats.org/drawingml/2006/main">
              <a:ext uri="{FF2B5EF4-FFF2-40B4-BE49-F238E27FC236}">
                <a16:creationId xmlns:a16="http://schemas.microsoft.com/office/drawing/2014/main" id="{C3379D2F-6F2C-4661-97FD-902696110445}"/>
              </a:ext>
            </a:extLst>
          </p:cNvPr>
          <p:cNvSpPr>
            <a:spLocks xmlns:a="http://schemas.openxmlformats.org/drawingml/2006/main" noGrp="1"/>
          </p:cNvSpPr>
          <p:nvPr/>
        </p:nvSpPr>
        <p:spPr>
          <a:xfrm xmlns:a="http://schemas.openxmlformats.org/drawingml/2006/main">
            <a:off x="2011680" y="987552"/>
            <a:ext cx="914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Once the method is chosen, students must represent results honestly and clearly.</a:t>
            </a:r>
          </a:p>
        </p:txBody>
      </p:sp>
      <p:sp>
        <p:nvSpPr>
          <p:cNvPr id="520" name="Google Shape;520;p24">
            <a:extLst xmlns:a="http://schemas.openxmlformats.org/drawingml/2006/main">
              <a:ext uri="{FF2B5EF4-FFF2-40B4-BE49-F238E27FC236}">
                <a16:creationId xmlns:a16="http://schemas.microsoft.com/office/drawing/2014/main" id="{B842DBD7-70CF-4B52-97E9-0CF563F72923}"/>
              </a:ext>
            </a:extLst>
          </p:cNvPr>
          <p:cNvSpPr>
            <a:spLocks xmlns:a="http://schemas.openxmlformats.org/drawingml/2006/main" noGrp="1"/>
          </p:cNvSpPr>
          <p:nvPr/>
        </p:nvSpPr>
        <p:spPr>
          <a:xfrm xmlns:a="http://schemas.openxmlformats.org/drawingml/2006/main">
            <a:off x="11064240" y="320040"/>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D71920"/>
              </a:buClr>
              <a:buSzPts val="1700"/>
              <a:buFont typeface="Play"/>
              <a:buNone/>
            </a:pPr>
            <a:r>
              <a:rPr sz="1700" b="1" i="0" u="none" cap="none">
                <a:solidFill>
                  <a:srgbClr val="D71920"/>
                </a:solidFill>
                <a:latin typeface="Play"/>
                <a:ea typeface="Play"/>
                <a:cs typeface="Play"/>
              </a:rPr>
              <a:t>22</a:t>
            </a:r>
          </a:p>
        </p:txBody>
      </p:sp>
      <p:pic>
        <p:nvPicPr>
          <p:cNvPr id="535" name="Google Shape;521;p24"/>
          <p:cNvPicPr>
            <a:picLocks xmlns:a="http://schemas.openxmlformats.org/drawingml/2006/main" noChangeAspect="1"/>
          </p:cNvPicPr>
          <p:nvPr/>
        </p:nvPicPr>
        <p:blipFill rotWithShape="1">
          <a:blip xmlns:r="http://schemas.openxmlformats.org/officeDocument/2006/relationships" xmlns:a="http://schemas.openxmlformats.org/drawingml/2006/main" r:embed="Rb76cd6a1cce445ce">
            <a:alphaModFix/>
          </a:blip>
          <a:srcRect xmlns:a="http://schemas.openxmlformats.org/drawingml/2006/main" l="0" t="0" r="0" b="0"/>
          <a:stretch xmlns:a="http://schemas.openxmlformats.org/drawingml/2006/main"/>
        </p:blipFill>
        <p:spPr>
          <a:xfrm xmlns:a="http://schemas.openxmlformats.org/drawingml/2006/main">
            <a:off x="1005840" y="1417320"/>
            <a:ext cx="3017520" cy="1600200"/>
          </a:xfrm>
          <a:prstGeom xmlns:a="http://schemas.openxmlformats.org/drawingml/2006/main" prst="rect">
            <a:avLst/>
          </a:prstGeom>
          <a:ln xmlns:a="http://schemas.openxmlformats.org/drawingml/2006/main">
            <a:noFill/>
          </a:ln>
        </p:spPr>
      </p:pic>
      <p:sp>
        <p:nvSpPr>
          <p:cNvPr id="522" name="Google Shape;522;p24">
            <a:extLst xmlns:a="http://schemas.openxmlformats.org/drawingml/2006/main">
              <a:ext uri="{FF2B5EF4-FFF2-40B4-BE49-F238E27FC236}">
                <a16:creationId xmlns:a16="http://schemas.microsoft.com/office/drawing/2014/main" id="{7494D2A4-4CA3-472B-95E2-3AAC16522FE2}"/>
              </a:ext>
            </a:extLst>
          </p:cNvPr>
          <p:cNvSpPr>
            <a:spLocks xmlns:a="http://schemas.openxmlformats.org/drawingml/2006/main" noGrp="1"/>
          </p:cNvSpPr>
          <p:nvPr/>
        </p:nvSpPr>
        <p:spPr>
          <a:xfrm xmlns:a="http://schemas.openxmlformats.org/drawingml/2006/main">
            <a:off x="4572000" y="1828800"/>
            <a:ext cx="649224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D71920"/>
              </a:buClr>
              <a:buSzPts val="2800"/>
              <a:buFont typeface="Arial"/>
              <a:buNone/>
            </a:pPr>
            <a:r>
              <a:rPr sz="2800" b="1" i="0" u="none" cap="none">
                <a:solidFill>
                  <a:srgbClr val="D71920"/>
                </a:solidFill>
                <a:latin typeface="Arial"/>
                <a:ea typeface="Arial"/>
                <a:cs typeface="Arial"/>
              </a:rPr>
              <a:t>GRAPHING AND VISUAL ETHICS</a:t>
            </a:r>
          </a:p>
        </p:txBody>
      </p:sp>
      <p:sp>
        <p:nvSpPr>
          <p:cNvPr id="523" name="Google Shape;523;p24">
            <a:extLst xmlns:a="http://schemas.openxmlformats.org/drawingml/2006/main">
              <a:ext uri="{FF2B5EF4-FFF2-40B4-BE49-F238E27FC236}">
                <a16:creationId xmlns:a16="http://schemas.microsoft.com/office/drawing/2014/main" id="{8F041BDF-FAF1-4151-9FDD-D070499A115D}"/>
              </a:ext>
            </a:extLst>
          </p:cNvPr>
          <p:cNvSpPr>
            <a:spLocks xmlns:a="http://schemas.openxmlformats.org/drawingml/2006/main" noGrp="1"/>
          </p:cNvSpPr>
          <p:nvPr/>
        </p:nvSpPr>
        <p:spPr>
          <a:xfrm xmlns:a="http://schemas.openxmlformats.org/drawingml/2006/main">
            <a:off x="4572000" y="2542032"/>
            <a:ext cx="60350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000"/>
              <a:buFont typeface="Arial"/>
              <a:buNone/>
            </a:pPr>
            <a:r>
              <a:rPr sz="2000" b="1" i="0" u="none" cap="none">
                <a:solidFill>
                  <a:srgbClr val="FFFFFF"/>
                </a:solidFill>
                <a:latin typeface="Arial"/>
                <a:ea typeface="Arial"/>
                <a:cs typeface="Arial"/>
              </a:rPr>
              <a:t>How do we show evidence clearly without misleading an audience?</a:t>
            </a:r>
          </a:p>
        </p:txBody>
      </p:sp>
      <p:sp>
        <p:nvSpPr>
          <p:cNvPr id="524" name="Google Shape;524;p24">
            <a:extLst xmlns:a="http://schemas.openxmlformats.org/drawingml/2006/main">
              <a:ext uri="{FF2B5EF4-FFF2-40B4-BE49-F238E27FC236}">
                <a16:creationId xmlns:a16="http://schemas.microsoft.com/office/drawing/2014/main" id="{DE6358B4-C70C-4EFE-AB1C-C3D43909BD95}"/>
              </a:ext>
            </a:extLst>
          </p:cNvPr>
          <p:cNvSpPr>
            <a:spLocks xmlns:a="http://schemas.openxmlformats.org/drawingml/2006/main" noGrp="1"/>
          </p:cNvSpPr>
          <p:nvPr/>
        </p:nvSpPr>
        <p:spPr>
          <a:xfrm xmlns:a="http://schemas.openxmlformats.org/drawingml/2006/main">
            <a:off x="4572000" y="3657600"/>
            <a:ext cx="60350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600"/>
              <a:buFont typeface="Arial"/>
              <a:buNone/>
            </a:pPr>
            <a:r>
              <a:rPr sz="1600" b="0" i="0" u="none" cap="none">
                <a:solidFill>
                  <a:srgbClr val="B8B8B8"/>
                </a:solidFill>
                <a:latin typeface="Arial"/>
                <a:ea typeface="Arial"/>
                <a:cs typeface="Arial"/>
              </a:rPr>
              <a:t>Next: choose visuals, build graphs, write captions, and avoid visual distortion.</a:t>
            </a:r>
          </a:p>
        </p:txBody>
      </p:sp>
    </p:spTree>
    <p:extLst>
      <p:ext uri="{BB962C8B-B14F-4D97-AF65-F5344CB8AC3E}">
        <p14:creationId xmlns:p14="http://schemas.microsoft.com/office/powerpoint/2010/main" val="397130608"/>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2026-07-16T15:42:05.3360000Z</dcterms:created>
  <dcterms:modified xsi:type="dcterms:W3CDTF">2026-07-16T15:42:05.3360000Z</dcterms:modified>
</coreProperties>
</file>