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Lst>
  <p:sldSz cy="6858000" cx="12192000"/>
  <p:notesSz cx="6858000" cy="12192000"/>
  <p:embeddedFontLst>
    <p:embeddedFont>
      <p:font typeface="Play"/>
      <p:regular r:id="rId27"/>
      <p:bold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font" Target="fonts/Play-bold.fntdata"/><Relationship Id="rId27" Type="http://schemas.openxmlformats.org/officeDocument/2006/relationships/font" Target="fonts/Play-regular.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cover slide as the program-branded entry point. This deck begins the transition from organized data to meaningful analysis. Keep the opening short: students are not choosing statistics to sound advanced; they are choosing analysis methods that fit the question and the evidence.</a:t>
            </a:r>
            <a:br>
              <a:rPr lang="en-US"/>
            </a:br>
            <a:br>
              <a:rPr lang="en-US"/>
            </a:br>
            <a:r>
              <a:rPr lang="en-US"/>
              <a:t>Resource alignment:</a:t>
            </a:r>
            <a:br>
              <a:rPr lang="en-US"/>
            </a:br>
            <a:r>
              <a:rPr lang="en-US"/>
              <a:t>Required print materials for this deck:</a:t>
            </a:r>
            <a:br>
              <a:rPr lang="en-US"/>
            </a:br>
            <a:r>
              <a:rPr lang="en-US"/>
              <a:t>• Unit 4 Student Handout 5: Data Type and Analysis Match</a:t>
            </a:r>
            <a:br>
              <a:rPr lang="en-US"/>
            </a:br>
            <a:r>
              <a:rPr lang="en-US"/>
              <a:t>• Unit 4 Student Handout 6: Data Analysis Plan</a:t>
            </a:r>
            <a:br>
              <a:rPr lang="en-US"/>
            </a:br>
            <a:r>
              <a:rPr lang="en-US"/>
              <a:t>• Unit 4 Student Handout 7: Calculation and Statistics Record</a:t>
            </a:r>
            <a:br>
              <a:rPr lang="en-US"/>
            </a:br>
            <a:r>
              <a:rPr lang="en-US"/>
              <a:t>• Unit 4 Student Handout 8: Engineering Performance Analysis</a:t>
            </a:r>
            <a:br>
              <a:rPr lang="en-US"/>
            </a:br>
            <a:r>
              <a:rPr lang="en-US"/>
              <a:t>• Unit 4 Appendix D: Basic Statistics Guide</a:t>
            </a:r>
            <a:br>
              <a:rPr lang="en-US"/>
            </a:br>
            <a:r>
              <a:rPr lang="en-US"/>
              <a:t>• Unit 4 Appendix E: Choosing an Analysis Method</a:t>
            </a:r>
            <a:br>
              <a:rPr lang="en-US"/>
            </a:br>
            <a:r>
              <a:rPr lang="en-US"/>
              <a:t>• Unit 4 Appendix F: Engineering and Design Analysis Guide</a:t>
            </a:r>
            <a:br>
              <a:rPr lang="en-US"/>
            </a:br>
            <a:r>
              <a:rPr lang="en-US"/>
              <a:t>• Unit 4 Appendix G: Qualitative and Observational Data Guide</a:t>
            </a:r>
            <a:br>
              <a:rPr lang="en-US"/>
            </a:br>
            <a:br>
              <a:rPr lang="en-US"/>
            </a:br>
            <a:r>
              <a:rPr lang="en-US"/>
              <a:t>Use after Deck 9: Data Organization — Raw Data vs. Clean Data.</a:t>
            </a:r>
            <a:br>
              <a:rPr lang="en-US"/>
            </a:br>
            <a:r>
              <a:rPr lang="en-US"/>
              <a:t>Next deck connection: Deck 11: Graphing and Visual Ethics.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Frame the lesson as a decision-making process. Students should leave with a concrete analysis plan, not just a list of possible statistics.</a:t>
            </a:r>
            <a:br>
              <a:rPr lang="en-US"/>
            </a:br>
            <a:br>
              <a:rPr lang="en-US"/>
            </a:br>
            <a:r>
              <a:rPr lang="en-US"/>
              <a:t>Resource alignment:</a:t>
            </a:r>
            <a:br>
              <a:rPr lang="en-US"/>
            </a:br>
            <a:r>
              <a:rPr lang="en-US"/>
              <a:t>Use with Unit 4 Student Handout 5: Data Type and Analysis Match and Unit 4 Student Handout 6: Data Analysis Plan.</a:t>
            </a:r>
            <a:endParaRPr/>
          </a:p>
        </p:txBody>
      </p:sp>
      <p:sp>
        <p:nvSpPr>
          <p:cNvPr id="27" name="Google Shape;2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 name="Google Shape;4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the conceptual anchor of the deck. Students often open a spreadsheet and start clicking graph options. Redirect them: the research question controls the analysis method.</a:t>
            </a:r>
            <a:br>
              <a:rPr lang="en-US"/>
            </a:br>
            <a:br>
              <a:rPr lang="en-US"/>
            </a:br>
            <a:r>
              <a:rPr lang="en-US"/>
              <a:t>Resource alignment:</a:t>
            </a:r>
            <a:br>
              <a:rPr lang="en-US"/>
            </a:br>
            <a:r>
              <a:rPr lang="en-US"/>
              <a:t>Use as a bridge from Unit 4 Student Handout 1–4 data organization tasks into Unit 4 Student Handout 6: Data Analysis Plan.</a:t>
            </a:r>
            <a:endParaRPr/>
          </a:p>
        </p:txBody>
      </p:sp>
      <p:sp>
        <p:nvSpPr>
          <p:cNvPr id="47" name="Google Shape;4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do not need to memorize the labels, but they do need to recognize that a data set has a structure. Have them identify the best-fitting category for their own evidence.</a:t>
            </a:r>
            <a:br>
              <a:rPr lang="en-US"/>
            </a:br>
            <a:br>
              <a:rPr lang="en-US"/>
            </a:br>
            <a:r>
              <a:rPr lang="en-US"/>
              <a:t>Resource alignment:</a:t>
            </a:r>
            <a:br>
              <a:rPr lang="en-US"/>
            </a:br>
            <a:r>
              <a:rPr lang="en-US"/>
              <a:t>Use with Unit 4 Student Handout 5: Data Type and Analysis Match.</a:t>
            </a:r>
            <a:endParaRPr/>
          </a:p>
        </p:txBody>
      </p:sp>
      <p:sp>
        <p:nvSpPr>
          <p:cNvPr id="73" name="Google Shape;7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 name="Google Shape;104;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Walk through one or two examples slowly. Ask students to explain why a method fits, not simply name the method. The reasoning matters more than the vocabulary.</a:t>
            </a:r>
            <a:br>
              <a:rPr lang="en-US"/>
            </a:br>
            <a:br>
              <a:rPr lang="en-US"/>
            </a:br>
            <a:r>
              <a:rPr lang="en-US"/>
              <a:t>Resource alignment:</a:t>
            </a:r>
            <a:br>
              <a:rPr lang="en-US"/>
            </a:br>
            <a:r>
              <a:rPr lang="en-US"/>
              <a:t>Use with Unit 4 Appendix E: Choosing an Analysis Method and Unit 4 Student Handout 5: Data Type and Analysis Match.</a:t>
            </a:r>
            <a:endParaRPr/>
          </a:p>
        </p:txBody>
      </p:sp>
      <p:sp>
        <p:nvSpPr>
          <p:cNvPr id="105" name="Google Shape;105;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Do not make this a full math lecture. Emphasize what each value helps a researcher understand. Students should know when an average is useful and when it may hide variation.</a:t>
            </a:r>
            <a:br>
              <a:rPr lang="en-US"/>
            </a:br>
            <a:br>
              <a:rPr lang="en-US"/>
            </a:br>
            <a:r>
              <a:rPr lang="en-US"/>
              <a:t>Resource alignment:</a:t>
            </a:r>
            <a:br>
              <a:rPr lang="en-US"/>
            </a:br>
            <a:r>
              <a:rPr lang="en-US"/>
              <a:t>Use with Unit 4 Appendix D: Basic Statistics Guide and Unit 4 Student Handout 7: Calculation and Statistics Record.</a:t>
            </a:r>
            <a:endParaRPr/>
          </a:p>
        </p:txBody>
      </p:sp>
      <p:sp>
        <p:nvSpPr>
          <p:cNvPr id="151" name="Google Shape;15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 name="Google Shape;178;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slide to introduce the idea that averages alone can be misleading. If results vary widely, students should be cautious about their claims.</a:t>
            </a:r>
            <a:br>
              <a:rPr lang="en-US"/>
            </a:br>
            <a:br>
              <a:rPr lang="en-US"/>
            </a:br>
            <a:r>
              <a:rPr lang="en-US"/>
              <a:t>Resource alignment:</a:t>
            </a:r>
            <a:br>
              <a:rPr lang="en-US"/>
            </a:br>
            <a:r>
              <a:rPr lang="en-US"/>
              <a:t>Use with Unit 4 Appendix D: Basic Statistics Guide. This also prepares students for the later Deck 11 discussion of error bars and visualizing variability.</a:t>
            </a:r>
            <a:endParaRPr/>
          </a:p>
        </p:txBody>
      </p:sp>
      <p:sp>
        <p:nvSpPr>
          <p:cNvPr id="179" name="Google Shape;179;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often compare final values when percent change or rate would be more meaningful. Ask: Is the starting value important? Is time important?</a:t>
            </a:r>
            <a:br>
              <a:rPr lang="en-US"/>
            </a:br>
            <a:br>
              <a:rPr lang="en-US"/>
            </a:br>
            <a:r>
              <a:rPr lang="en-US"/>
              <a:t>Resource alignment:</a:t>
            </a:r>
            <a:br>
              <a:rPr lang="en-US"/>
            </a:br>
            <a:r>
              <a:rPr lang="en-US"/>
              <a:t>Use with Unit 4 Appendix D: Basic Statistics Guide and Unit 4 Student Handout 7: Calculation and Statistics Record.</a:t>
            </a:r>
            <a:endParaRPr/>
          </a:p>
        </p:txBody>
      </p:sp>
      <p:sp>
        <p:nvSpPr>
          <p:cNvPr id="210" name="Google Shape;210;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slide is especially important for engineering projects. “Best” must be defined. Often the best design is not simply the biggest or heaviest design.</a:t>
            </a:r>
            <a:br>
              <a:rPr lang="en-US"/>
            </a:br>
            <a:br>
              <a:rPr lang="en-US"/>
            </a:br>
            <a:r>
              <a:rPr lang="en-US"/>
              <a:t>Resource alignment:</a:t>
            </a:r>
            <a:br>
              <a:rPr lang="en-US"/>
            </a:br>
            <a:r>
              <a:rPr lang="en-US"/>
              <a:t>Use with Unit 4 Student Handout 8: Engineering Performance Analysis and Unit 4 Appendix F: Engineering and Design Analysis Guide.</a:t>
            </a:r>
            <a:endParaRPr/>
          </a:p>
        </p:txBody>
      </p:sp>
      <p:sp>
        <p:nvSpPr>
          <p:cNvPr id="230" name="Google Shape;23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as a conceptual slide, not a full regression lesson. Students should understand that a trendline helps describe a pattern, but it does not automatically prove causation.</a:t>
            </a:r>
            <a:br>
              <a:rPr lang="en-US"/>
            </a:br>
            <a:br>
              <a:rPr lang="en-US"/>
            </a:br>
            <a:r>
              <a:rPr lang="en-US"/>
              <a:t>Resource alignment:</a:t>
            </a:r>
            <a:br>
              <a:rPr lang="en-US"/>
            </a:br>
            <a:r>
              <a:rPr lang="en-US"/>
              <a:t>Use with Unit 4 Appendix D: Basic Statistics Guide and Unit 4 Appendix E: Choosing an Analysis Method.</a:t>
            </a:r>
            <a:endParaRPr/>
          </a:p>
        </p:txBody>
      </p:sp>
      <p:sp>
        <p:nvSpPr>
          <p:cNvPr id="261" name="Google Shape;261;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 name="Google Shape;28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love making causal claims from limited data. Use this slide to introduce careful language. Ask: What would you need to control or test before claiming cause?</a:t>
            </a:r>
            <a:br>
              <a:rPr lang="en-US"/>
            </a:br>
            <a:br>
              <a:rPr lang="en-US"/>
            </a:br>
            <a:r>
              <a:rPr lang="en-US"/>
              <a:t>Resource alignment:</a:t>
            </a:r>
            <a:br>
              <a:rPr lang="en-US"/>
            </a:br>
            <a:r>
              <a:rPr lang="en-US"/>
              <a:t>Use with Unit 4 Appendix D: Basic Statistics Guide and Unit 4 Appendix M later in the unit: Avoiding Overclaiming.</a:t>
            </a:r>
            <a:endParaRPr/>
          </a:p>
        </p:txBody>
      </p:sp>
      <p:sp>
        <p:nvSpPr>
          <p:cNvPr id="289" name="Google Shape;28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Experimental students may skip this slide as a review, but engineering students need it. The key question is not “Did it work?” but “How well did it meet the criteria under constraints?”</a:t>
            </a:r>
            <a:br>
              <a:rPr lang="en-US"/>
            </a:br>
            <a:br>
              <a:rPr lang="en-US"/>
            </a:br>
            <a:r>
              <a:rPr lang="en-US"/>
              <a:t>Resource alignment:</a:t>
            </a:r>
            <a:br>
              <a:rPr lang="en-US"/>
            </a:br>
            <a:r>
              <a:rPr lang="en-US"/>
              <a:t>Use with Unit 4 Student Handout 8: Engineering Performance Analysis and Unit 4 Appendix F: Engineering and Design Analysis Guide.</a:t>
            </a:r>
            <a:endParaRPr/>
          </a:p>
        </p:txBody>
      </p:sp>
      <p:sp>
        <p:nvSpPr>
          <p:cNvPr id="310" name="Google Shape;31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9" name="Google Shape;329;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slide helps students whose projects involve images, observations, failure types, interviews, or categories. The goal is to avoid casual opinion by using categories, counts, and representative examples.</a:t>
            </a:r>
            <a:br>
              <a:rPr lang="en-US"/>
            </a:br>
            <a:br>
              <a:rPr lang="en-US"/>
            </a:br>
            <a:r>
              <a:rPr lang="en-US"/>
              <a:t>Resource alignment:</a:t>
            </a:r>
            <a:br>
              <a:rPr lang="en-US"/>
            </a:br>
            <a:r>
              <a:rPr lang="en-US"/>
              <a:t>Use with Unit 4 Appendix G: Qualitative and Observational Data Guide.</a:t>
            </a:r>
            <a:endParaRPr/>
          </a:p>
        </p:txBody>
      </p:sp>
      <p:sp>
        <p:nvSpPr>
          <p:cNvPr id="330" name="Google Shape;330;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9" name="Google Shape;34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the first major work-time slide. Circulate and listen for mismatches: students choosing scatter plots for category comparisons, averages without repeated values, or advanced statistics they cannot explain.</a:t>
            </a:r>
            <a:br>
              <a:rPr lang="en-US"/>
            </a:br>
            <a:br>
              <a:rPr lang="en-US"/>
            </a:br>
            <a:r>
              <a:rPr lang="en-US"/>
              <a:t>Resource alignment:</a:t>
            </a:r>
            <a:br>
              <a:rPr lang="en-US"/>
            </a:br>
            <a:r>
              <a:rPr lang="en-US"/>
              <a:t>Student-facing activity: Unit 4 Student Handout 5: Data Type and Analysis Match. Reference Unit 4 Appendix E: Choosing an Analysis Method.</a:t>
            </a:r>
            <a:endParaRPr/>
          </a:p>
        </p:txBody>
      </p:sp>
      <p:sp>
        <p:nvSpPr>
          <p:cNvPr id="350" name="Google Shape;35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 name="Google Shape;369;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the central deliverable of the deck. Students should leave with a plan that is specific enough for a teacher conference.</a:t>
            </a:r>
            <a:br>
              <a:rPr lang="en-US"/>
            </a:br>
            <a:br>
              <a:rPr lang="en-US"/>
            </a:br>
            <a:r>
              <a:rPr lang="en-US"/>
              <a:t>Resource alignment:</a:t>
            </a:r>
            <a:br>
              <a:rPr lang="en-US"/>
            </a:br>
            <a:r>
              <a:rPr lang="en-US"/>
              <a:t>Student-facing activity: Unit 4 Student Handout 6: Data Analysis Plan.</a:t>
            </a:r>
            <a:endParaRPr/>
          </a:p>
        </p:txBody>
      </p:sp>
      <p:sp>
        <p:nvSpPr>
          <p:cNvPr id="370" name="Google Shape;370;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often write final numbers without showing how they got them. This undermines trust and makes errors harder to find. Require them to document the method and meaning of each calculation.</a:t>
            </a:r>
            <a:br>
              <a:rPr lang="en-US"/>
            </a:br>
            <a:br>
              <a:rPr lang="en-US"/>
            </a:br>
            <a:r>
              <a:rPr lang="en-US"/>
              <a:t>Resource alignment:</a:t>
            </a:r>
            <a:br>
              <a:rPr lang="en-US"/>
            </a:br>
            <a:r>
              <a:rPr lang="en-US"/>
              <a:t>Use with Unit 4 Student Handout 7: Calculation and Statistics Record and Unit 4 Appendix D: Basic Statistics Guide.</a:t>
            </a:r>
            <a:endParaRPr/>
          </a:p>
        </p:txBody>
      </p:sp>
      <p:sp>
        <p:nvSpPr>
          <p:cNvPr id="390" name="Google Shape;39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0" name="Google Shape;420;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Differentiate here. Not every student needs the engineering handout, but every engineering project does. Encourage students to define performance per constraint when appropriate.</a:t>
            </a:r>
            <a:br>
              <a:rPr lang="en-US"/>
            </a:br>
            <a:br>
              <a:rPr lang="en-US"/>
            </a:br>
            <a:r>
              <a:rPr lang="en-US"/>
              <a:t>Resource alignment:</a:t>
            </a:r>
            <a:br>
              <a:rPr lang="en-US"/>
            </a:br>
            <a:r>
              <a:rPr lang="en-US"/>
              <a:t>Student-facing activity: Unit 4 Student Handout 8: Engineering Performance Analysis. Reference Unit 4 Appendix F: Engineering and Design Analysis Guide.</a:t>
            </a:r>
            <a:endParaRPr/>
          </a:p>
        </p:txBody>
      </p:sp>
      <p:sp>
        <p:nvSpPr>
          <p:cNvPr id="421" name="Google Shape;421;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8" name="Shape 438"/>
        <p:cNvGrpSpPr/>
        <p:nvPr/>
      </p:nvGrpSpPr>
      <p:grpSpPr>
        <a:xfrm>
          <a:off x="0" y="0"/>
          <a:ext cx="0" cy="0"/>
          <a:chOff x="0" y="0"/>
          <a:chExt cx="0" cy="0"/>
        </a:xfrm>
      </p:grpSpPr>
      <p:sp>
        <p:nvSpPr>
          <p:cNvPr id="439" name="Google Shape;43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0" name="Google Shape;44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slide prevents students from deciding after the fact that whatever happened “supports” the project. Students should state what would support, challenge, or complicate their hypothesis or criteria.</a:t>
            </a:r>
            <a:br>
              <a:rPr lang="en-US"/>
            </a:br>
            <a:br>
              <a:rPr lang="en-US"/>
            </a:br>
            <a:r>
              <a:rPr lang="en-US"/>
              <a:t>Resource alignment:</a:t>
            </a:r>
            <a:br>
              <a:rPr lang="en-US"/>
            </a:br>
            <a:r>
              <a:rPr lang="en-US"/>
              <a:t>Use with Unit 4 Student Handout 6: Data Analysis Plan. This also prepares for Unit 4 Student Handout 13: Claim-Evidence-Reasoning Organizer in Deck 12.</a:t>
            </a:r>
            <a:endParaRPr/>
          </a:p>
        </p:txBody>
      </p:sp>
      <p:sp>
        <p:nvSpPr>
          <p:cNvPr id="441" name="Google Shape;44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as a self-check before students begin calculations. Ask students which mistake they are most likely to make and what they can do to prevent it.</a:t>
            </a:r>
            <a:br>
              <a:rPr lang="en-US"/>
            </a:br>
            <a:br>
              <a:rPr lang="en-US"/>
            </a:br>
            <a:r>
              <a:rPr lang="en-US"/>
              <a:t>Resource alignment:</a:t>
            </a:r>
            <a:br>
              <a:rPr lang="en-US"/>
            </a:br>
            <a:r>
              <a:rPr lang="en-US"/>
              <a:t>Use with Unit 4 Appendix E: Choosing an Analysis Method and Unit 4 Appendix D: Basic Statistics Guide.</a:t>
            </a:r>
            <a:endParaRPr/>
          </a:p>
        </p:txBody>
      </p:sp>
      <p:sp>
        <p:nvSpPr>
          <p:cNvPr id="464" name="Google Shape;46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these as rapid conference questions. Students who cannot explain why the method fits should revise before analysis begins.</a:t>
            </a:r>
            <a:br>
              <a:rPr lang="en-US"/>
            </a:br>
            <a:br>
              <a:rPr lang="en-US"/>
            </a:br>
            <a:r>
              <a:rPr lang="en-US"/>
              <a:t>Resource alignment:</a:t>
            </a:r>
            <a:br>
              <a:rPr lang="en-US"/>
            </a:br>
            <a:r>
              <a:rPr lang="en-US"/>
              <a:t>Use after students complete Unit 4 Student Handout 5 and Unit 4 Student Handout 6. Optional support: Unit 4 Student Handout 7 for students ready to begin calculations.</a:t>
            </a:r>
            <a:endParaRPr/>
          </a:p>
        </p:txBody>
      </p:sp>
      <p:sp>
        <p:nvSpPr>
          <p:cNvPr id="479" name="Google Shape;479;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3" name="Google Shape;493;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Collect this or have students submit it with their analysis plan. Use responses to group students for calculation support, engineering analysis, qualitative coding, or graphing help.</a:t>
            </a:r>
            <a:br>
              <a:rPr lang="en-US"/>
            </a:br>
            <a:br>
              <a:rPr lang="en-US"/>
            </a:br>
            <a:r>
              <a:rPr lang="en-US"/>
              <a:t>Resource alignment:</a:t>
            </a:r>
            <a:br>
              <a:rPr lang="en-US"/>
            </a:br>
            <a:r>
              <a:rPr lang="en-US"/>
              <a:t>Use after Unit 4 Student Handout 6: Data Analysis Plan. Next deck connection: Deck 11: Graphing and Visual Ethics.</a:t>
            </a:r>
            <a:endParaRPr/>
          </a:p>
        </p:txBody>
      </p:sp>
      <p:sp>
        <p:nvSpPr>
          <p:cNvPr id="494" name="Google Shape;494;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9" name="Google Shape;509;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Close by making the transition explicit. Students should now know what they are calculating or comparing. The next step is deciding how to show the result without misleading the audience.</a:t>
            </a:r>
            <a:br>
              <a:rPr lang="en-US"/>
            </a:br>
            <a:br>
              <a:rPr lang="en-US"/>
            </a:br>
            <a:r>
              <a:rPr lang="en-US"/>
              <a:t>Resource alignment:</a:t>
            </a:r>
            <a:br>
              <a:rPr lang="en-US"/>
            </a:br>
            <a:r>
              <a:rPr lang="en-US"/>
              <a:t>Next deck connection: Deck 11: Graphing and Visual Ethics. This will use Unit 4 Student Handout 9, Student Handout 10, Student Handout 12, Appendix H, Appendix I, Appendix J, and Appendix K.</a:t>
            </a:r>
            <a:endParaRPr/>
          </a:p>
        </p:txBody>
      </p:sp>
      <p:sp>
        <p:nvSpPr>
          <p:cNvPr id="510" name="Google Shape;510;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15" name="Shape 15"/>
        <p:cNvGrpSpPr/>
        <p:nvPr/>
      </p:nvGrpSpPr>
      <p:grpSpPr>
        <a:xfrm>
          <a:off x="0" y="0"/>
          <a:ext cx="0" cy="0"/>
          <a:chOff x="0" y="0"/>
          <a:chExt cx="0" cy="0"/>
        </a:xfrm>
      </p:grpSpPr>
      <p:sp>
        <p:nvSpPr>
          <p:cNvPr id="16" name="Google Shape;16;p3"/>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a:off x="0" y="164592"/>
            <a:ext cx="12191695" cy="73152"/>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0" y="6620256"/>
            <a:ext cx="12191695" cy="73152"/>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mnt/data/STARLAB Logo 2026.png" id="19" name="Google Shape;19;p3"/>
          <p:cNvPicPr preferRelativeResize="0"/>
          <p:nvPr/>
        </p:nvPicPr>
        <p:blipFill rotWithShape="1">
          <a:blip r:embed="rId3">
            <a:alphaModFix/>
          </a:blip>
          <a:srcRect b="0" l="0" r="0" t="0"/>
          <a:stretch/>
        </p:blipFill>
        <p:spPr>
          <a:xfrm>
            <a:off x="2057400" y="411480"/>
            <a:ext cx="8046720" cy="4297680"/>
          </a:xfrm>
          <a:prstGeom prst="rect">
            <a:avLst/>
          </a:prstGeom>
          <a:noFill/>
          <a:ln>
            <a:noFill/>
          </a:ln>
        </p:spPr>
      </p:pic>
      <p:sp>
        <p:nvSpPr>
          <p:cNvPr id="20" name="Google Shape;20;p3"/>
          <p:cNvSpPr/>
          <p:nvPr/>
        </p:nvSpPr>
        <p:spPr>
          <a:xfrm>
            <a:off x="868680" y="4800600"/>
            <a:ext cx="10469880" cy="1051560"/>
          </a:xfrm>
          <a:prstGeom prst="rect">
            <a:avLst/>
          </a:prstGeom>
          <a:solidFill>
            <a:srgbClr val="111111"/>
          </a:solidFill>
          <a:ln cap="flat" cmpd="sng" w="15225">
            <a:solidFill>
              <a:srgbClr val="D71920">
                <a:alpha val="74901"/>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1143000" y="4965192"/>
            <a:ext cx="9875520"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100"/>
              <a:buFont typeface="Play"/>
              <a:buNone/>
            </a:pPr>
            <a:r>
              <a:rPr b="1" i="0" lang="en-US" sz="2100" u="none" cap="none" strike="noStrike">
                <a:solidFill>
                  <a:srgbClr val="FFFFFF"/>
                </a:solidFill>
                <a:latin typeface="Play"/>
                <a:ea typeface="Play"/>
                <a:cs typeface="Play"/>
                <a:sym typeface="Play"/>
              </a:rPr>
              <a:t>CHOOSING THE RIGHT</a:t>
            </a:r>
            <a:endParaRPr b="0" i="0" sz="2100" u="none" cap="none" strike="noStrike">
              <a:solidFill>
                <a:schemeClr val="dk1"/>
              </a:solidFill>
              <a:latin typeface="Arial"/>
              <a:ea typeface="Arial"/>
              <a:cs typeface="Arial"/>
              <a:sym typeface="Arial"/>
            </a:endParaRPr>
          </a:p>
        </p:txBody>
      </p:sp>
      <p:sp>
        <p:nvSpPr>
          <p:cNvPr id="22" name="Google Shape;22;p3"/>
          <p:cNvSpPr/>
          <p:nvPr/>
        </p:nvSpPr>
        <p:spPr>
          <a:xfrm>
            <a:off x="1143000" y="5303520"/>
            <a:ext cx="9875520"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71920"/>
              </a:buClr>
              <a:buSzPts val="2200"/>
              <a:buFont typeface="Play"/>
              <a:buNone/>
            </a:pPr>
            <a:r>
              <a:rPr b="1" i="0" lang="en-US" sz="2200" u="none" cap="none" strike="noStrike">
                <a:solidFill>
                  <a:srgbClr val="D71920"/>
                </a:solidFill>
                <a:latin typeface="Play"/>
                <a:ea typeface="Play"/>
                <a:cs typeface="Play"/>
                <a:sym typeface="Play"/>
              </a:rPr>
              <a:t>DATA ANALYSIS METHOD</a:t>
            </a:r>
            <a:endParaRPr b="0" i="0" sz="2200" u="none" cap="none" strike="noStrike">
              <a:solidFill>
                <a:schemeClr val="dk1"/>
              </a:solidFill>
              <a:latin typeface="Arial"/>
              <a:ea typeface="Arial"/>
              <a:cs typeface="Arial"/>
              <a:sym typeface="Arial"/>
            </a:endParaRPr>
          </a:p>
        </p:txBody>
      </p:sp>
      <p:sp>
        <p:nvSpPr>
          <p:cNvPr id="23" name="Google Shape;23;p3"/>
          <p:cNvSpPr/>
          <p:nvPr/>
        </p:nvSpPr>
        <p:spPr>
          <a:xfrm>
            <a:off x="1143000" y="5961888"/>
            <a:ext cx="98755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STARLAB Deck 10  •  Unit 4 Core Instruction</a:t>
            </a:r>
            <a:endParaRPr b="0" i="0" sz="12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28" name="Shape 28"/>
        <p:cNvGrpSpPr/>
        <p:nvPr/>
      </p:nvGrpSpPr>
      <p:grpSpPr>
        <a:xfrm>
          <a:off x="0" y="0"/>
          <a:ext cx="0" cy="0"/>
          <a:chOff x="0" y="0"/>
          <a:chExt cx="0" cy="0"/>
        </a:xfrm>
      </p:grpSpPr>
      <p:sp>
        <p:nvSpPr>
          <p:cNvPr id="29" name="Google Shape;29;p4"/>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4"/>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4"/>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DATA ANALYSIS</a:t>
            </a:r>
            <a:endParaRPr b="0" i="0" sz="900" u="none" cap="none" strike="noStrike">
              <a:solidFill>
                <a:schemeClr val="dk1"/>
              </a:solidFill>
              <a:latin typeface="Arial"/>
              <a:ea typeface="Arial"/>
              <a:cs typeface="Arial"/>
              <a:sym typeface="Arial"/>
            </a:endParaRPr>
          </a:p>
        </p:txBody>
      </p:sp>
      <p:sp>
        <p:nvSpPr>
          <p:cNvPr id="33" name="Google Shape;33;p4"/>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34" name="Google Shape;34;p4"/>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Today’s Target</a:t>
            </a:r>
            <a:endParaRPr b="0" i="0" sz="2800" u="none" cap="none" strike="noStrike">
              <a:solidFill>
                <a:schemeClr val="dk1"/>
              </a:solidFill>
              <a:latin typeface="Arial"/>
              <a:ea typeface="Arial"/>
              <a:cs typeface="Arial"/>
              <a:sym typeface="Arial"/>
            </a:endParaRPr>
          </a:p>
        </p:txBody>
      </p:sp>
      <p:sp>
        <p:nvSpPr>
          <p:cNvPr id="35" name="Google Shape;35;p4"/>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4"/>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Students choose analysis methods that fit the data and the question.</a:t>
            </a:r>
            <a:endParaRPr b="0" i="0" sz="1100" u="none" cap="none" strike="noStrike">
              <a:solidFill>
                <a:schemeClr val="dk1"/>
              </a:solidFill>
              <a:latin typeface="Arial"/>
              <a:ea typeface="Arial"/>
              <a:cs typeface="Arial"/>
              <a:sym typeface="Arial"/>
            </a:endParaRPr>
          </a:p>
        </p:txBody>
      </p:sp>
      <p:sp>
        <p:nvSpPr>
          <p:cNvPr id="37" name="Google Shape;37;p4"/>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02</a:t>
            </a:r>
            <a:endParaRPr b="0" i="0" sz="1700" u="none" cap="none" strike="noStrike">
              <a:solidFill>
                <a:schemeClr val="dk1"/>
              </a:solidFill>
              <a:latin typeface="Arial"/>
              <a:ea typeface="Arial"/>
              <a:cs typeface="Arial"/>
              <a:sym typeface="Arial"/>
            </a:endParaRPr>
          </a:p>
        </p:txBody>
      </p:sp>
      <p:sp>
        <p:nvSpPr>
          <p:cNvPr id="38" name="Google Shape;38;p4"/>
          <p:cNvSpPr/>
          <p:nvPr/>
        </p:nvSpPr>
        <p:spPr>
          <a:xfrm>
            <a:off x="960120" y="1508760"/>
            <a:ext cx="9692640" cy="210312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Identify the type of data collected• Match data to useful calculations or comparisons</a:t>
            </a:r>
            <a:endParaRPr b="0" i="0" sz="18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Decide which analysis method actually answers the question</a:t>
            </a:r>
            <a:endParaRPr b="0" i="0" sz="18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Avoid “fancy” statistics that do not fit the evidence</a:t>
            </a:r>
            <a:endParaRPr b="0" i="0" sz="1800" u="none" cap="none" strike="noStrike">
              <a:solidFill>
                <a:schemeClr val="dk1"/>
              </a:solidFill>
              <a:latin typeface="Arial"/>
              <a:ea typeface="Arial"/>
              <a:cs typeface="Arial"/>
              <a:sym typeface="Arial"/>
            </a:endParaRPr>
          </a:p>
        </p:txBody>
      </p:sp>
      <p:sp>
        <p:nvSpPr>
          <p:cNvPr id="39" name="Google Shape;39;p4"/>
          <p:cNvSpPr/>
          <p:nvPr/>
        </p:nvSpPr>
        <p:spPr>
          <a:xfrm>
            <a:off x="777240" y="5166360"/>
            <a:ext cx="10652760" cy="960120"/>
          </a:xfrm>
          <a:prstGeom prst="roundRect">
            <a:avLst>
              <a:gd fmla="val 7619" name="adj"/>
            </a:avLst>
          </a:prstGeom>
          <a:solidFill>
            <a:srgbClr val="151515"/>
          </a:solidFill>
          <a:ln cap="flat" cmpd="sng" w="12700">
            <a:solidFill>
              <a:srgbClr val="D71920">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1024128" y="5376672"/>
            <a:ext cx="1874520" cy="1463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850"/>
              <a:buFont typeface="Arial"/>
              <a:buNone/>
            </a:pPr>
            <a:r>
              <a:rPr b="1" i="0" lang="en-US" sz="850" u="none" cap="none" strike="noStrike">
                <a:solidFill>
                  <a:srgbClr val="D71920"/>
                </a:solidFill>
                <a:latin typeface="Arial"/>
                <a:ea typeface="Arial"/>
                <a:cs typeface="Arial"/>
                <a:sym typeface="Arial"/>
              </a:rPr>
              <a:t>STUDENT ACTIVITY</a:t>
            </a:r>
            <a:endParaRPr b="0" i="0" sz="850" u="none" cap="none" strike="noStrike">
              <a:solidFill>
                <a:schemeClr val="dk1"/>
              </a:solidFill>
              <a:latin typeface="Arial"/>
              <a:ea typeface="Arial"/>
              <a:cs typeface="Arial"/>
              <a:sym typeface="Arial"/>
            </a:endParaRPr>
          </a:p>
        </p:txBody>
      </p:sp>
      <p:sp>
        <p:nvSpPr>
          <p:cNvPr id="41" name="Google Shape;41;p4"/>
          <p:cNvSpPr/>
          <p:nvPr/>
        </p:nvSpPr>
        <p:spPr>
          <a:xfrm>
            <a:off x="1024128" y="5596128"/>
            <a:ext cx="42976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Start with the question</a:t>
            </a:r>
            <a:endParaRPr b="0" i="0" sz="1600" u="none" cap="none" strike="noStrike">
              <a:solidFill>
                <a:schemeClr val="dk1"/>
              </a:solidFill>
              <a:latin typeface="Arial"/>
              <a:ea typeface="Arial"/>
              <a:cs typeface="Arial"/>
              <a:sym typeface="Arial"/>
            </a:endParaRPr>
          </a:p>
        </p:txBody>
      </p:sp>
      <p:sp>
        <p:nvSpPr>
          <p:cNvPr id="42" name="Google Shape;42;p4"/>
          <p:cNvSpPr/>
          <p:nvPr/>
        </p:nvSpPr>
        <p:spPr>
          <a:xfrm>
            <a:off x="5349240" y="5468112"/>
            <a:ext cx="96012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8B8B8"/>
              </a:buClr>
              <a:buSzPts val="1200"/>
              <a:buFont typeface="Arial"/>
              <a:buNone/>
            </a:pPr>
            <a:r>
              <a:rPr b="1" i="0" lang="en-US" sz="1200" u="none" cap="none" strike="noStrike">
                <a:solidFill>
                  <a:srgbClr val="B8B8B8"/>
                </a:solidFill>
                <a:latin typeface="Arial"/>
                <a:ea typeface="Arial"/>
                <a:cs typeface="Arial"/>
                <a:sym typeface="Arial"/>
              </a:rPr>
              <a:t>3 MIN</a:t>
            </a:r>
            <a:endParaRPr b="0" i="0" sz="1200" u="none" cap="none" strike="noStrike">
              <a:solidFill>
                <a:schemeClr val="dk1"/>
              </a:solidFill>
              <a:latin typeface="Arial"/>
              <a:ea typeface="Arial"/>
              <a:cs typeface="Arial"/>
              <a:sym typeface="Arial"/>
            </a:endParaRPr>
          </a:p>
        </p:txBody>
      </p:sp>
      <p:sp>
        <p:nvSpPr>
          <p:cNvPr id="43" name="Google Shape;43;p4"/>
          <p:cNvSpPr/>
          <p:nvPr/>
        </p:nvSpPr>
        <p:spPr>
          <a:xfrm>
            <a:off x="6446520" y="5367528"/>
            <a:ext cx="4663440" cy="493776"/>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250"/>
              <a:buFont typeface="Arial"/>
              <a:buNone/>
            </a:pPr>
            <a:r>
              <a:rPr b="0" i="0" lang="en-US" sz="1250" u="none" cap="none" strike="noStrike">
                <a:solidFill>
                  <a:srgbClr val="B8B8B8"/>
                </a:solidFill>
                <a:latin typeface="Arial"/>
                <a:ea typeface="Arial"/>
                <a:cs typeface="Arial"/>
                <a:sym typeface="Arial"/>
              </a:rPr>
              <a:t>Open your clean data set and write: “My data need to show whether…”</a:t>
            </a:r>
            <a:endParaRPr b="0" i="0" sz="1250" u="none" cap="none" strike="noStrike">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48" name="Shape 48"/>
        <p:cNvGrpSpPr/>
        <p:nvPr/>
      </p:nvGrpSpPr>
      <p:grpSpPr>
        <a:xfrm>
          <a:off x="0" y="0"/>
          <a:ext cx="0" cy="0"/>
          <a:chOff x="0" y="0"/>
          <a:chExt cx="0" cy="0"/>
        </a:xfrm>
      </p:grpSpPr>
      <p:sp>
        <p:nvSpPr>
          <p:cNvPr id="49" name="Google Shape;49;p5"/>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5"/>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5"/>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CORE IDEA</a:t>
            </a:r>
            <a:endParaRPr b="0" i="0" sz="900" u="none" cap="none" strike="noStrike">
              <a:solidFill>
                <a:schemeClr val="dk1"/>
              </a:solidFill>
              <a:latin typeface="Arial"/>
              <a:ea typeface="Arial"/>
              <a:cs typeface="Arial"/>
              <a:sym typeface="Arial"/>
            </a:endParaRPr>
          </a:p>
        </p:txBody>
      </p:sp>
      <p:sp>
        <p:nvSpPr>
          <p:cNvPr id="53" name="Google Shape;53;p5"/>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54" name="Google Shape;54;p5"/>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Analysis Begins With the Question</a:t>
            </a:r>
            <a:endParaRPr b="0" i="0" sz="2800" u="none" cap="none" strike="noStrike">
              <a:solidFill>
                <a:schemeClr val="dk1"/>
              </a:solidFill>
              <a:latin typeface="Arial"/>
              <a:ea typeface="Arial"/>
              <a:cs typeface="Arial"/>
              <a:sym typeface="Arial"/>
            </a:endParaRPr>
          </a:p>
        </p:txBody>
      </p:sp>
      <p:sp>
        <p:nvSpPr>
          <p:cNvPr id="55" name="Google Shape;55;p5"/>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5"/>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Do not start with “What graph can I make?” Start with “What do I need to know?”</a:t>
            </a:r>
            <a:endParaRPr b="0" i="0" sz="1100" u="none" cap="none" strike="noStrike">
              <a:solidFill>
                <a:schemeClr val="dk1"/>
              </a:solidFill>
              <a:latin typeface="Arial"/>
              <a:ea typeface="Arial"/>
              <a:cs typeface="Arial"/>
              <a:sym typeface="Arial"/>
            </a:endParaRPr>
          </a:p>
        </p:txBody>
      </p:sp>
      <p:sp>
        <p:nvSpPr>
          <p:cNvPr id="57" name="Google Shape;57;p5"/>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03</a:t>
            </a:r>
            <a:endParaRPr b="0" i="0" sz="1700" u="none" cap="none" strike="noStrike">
              <a:solidFill>
                <a:schemeClr val="dk1"/>
              </a:solidFill>
              <a:latin typeface="Arial"/>
              <a:ea typeface="Arial"/>
              <a:cs typeface="Arial"/>
              <a:sym typeface="Arial"/>
            </a:endParaRPr>
          </a:p>
        </p:txBody>
      </p:sp>
      <p:sp>
        <p:nvSpPr>
          <p:cNvPr id="58" name="Google Shape;58;p5"/>
          <p:cNvSpPr/>
          <p:nvPr/>
        </p:nvSpPr>
        <p:spPr>
          <a:xfrm>
            <a:off x="822960" y="2514600"/>
            <a:ext cx="2057400" cy="822960"/>
          </a:xfrm>
          <a:prstGeom prst="roundRect">
            <a:avLst>
              <a:gd fmla="val 5556" name="adj"/>
            </a:avLst>
          </a:prstGeom>
          <a:solidFill>
            <a:srgbClr val="1A1A1A"/>
          </a:solidFill>
          <a:ln cap="flat" cmpd="sng" w="12700">
            <a:solidFill>
              <a:srgbClr val="D719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5"/>
          <p:cNvSpPr/>
          <p:nvPr/>
        </p:nvSpPr>
        <p:spPr>
          <a:xfrm>
            <a:off x="960120" y="2770632"/>
            <a:ext cx="178308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Research question</a:t>
            </a:r>
            <a:endParaRPr b="0" i="0" sz="1500" u="none" cap="none" strike="noStrike">
              <a:solidFill>
                <a:schemeClr val="dk1"/>
              </a:solidFill>
              <a:latin typeface="Arial"/>
              <a:ea typeface="Arial"/>
              <a:cs typeface="Arial"/>
              <a:sym typeface="Arial"/>
            </a:endParaRPr>
          </a:p>
        </p:txBody>
      </p:sp>
      <p:sp>
        <p:nvSpPr>
          <p:cNvPr id="60" name="Google Shape;60;p5"/>
          <p:cNvSpPr/>
          <p:nvPr/>
        </p:nvSpPr>
        <p:spPr>
          <a:xfrm>
            <a:off x="2944368" y="2724912"/>
            <a:ext cx="411480" cy="347472"/>
          </a:xfrm>
          <a:prstGeom prst="chevron">
            <a:avLst>
              <a:gd fmla="val 50000" name="adj"/>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5"/>
          <p:cNvSpPr/>
          <p:nvPr/>
        </p:nvSpPr>
        <p:spPr>
          <a:xfrm>
            <a:off x="3429000" y="2514600"/>
            <a:ext cx="2057400" cy="822960"/>
          </a:xfrm>
          <a:prstGeom prst="roundRect">
            <a:avLst>
              <a:gd fmla="val 5556" name="adj"/>
            </a:avLst>
          </a:prstGeom>
          <a:solidFill>
            <a:srgbClr val="1A1A1A"/>
          </a:solidFill>
          <a:ln cap="flat" cmpd="sng" w="12700">
            <a:solidFill>
              <a:srgbClr val="D719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5"/>
          <p:cNvSpPr/>
          <p:nvPr/>
        </p:nvSpPr>
        <p:spPr>
          <a:xfrm>
            <a:off x="3566160" y="2770632"/>
            <a:ext cx="178308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Type of evidence</a:t>
            </a:r>
            <a:endParaRPr b="0" i="0" sz="1500" u="none" cap="none" strike="noStrike">
              <a:solidFill>
                <a:schemeClr val="dk1"/>
              </a:solidFill>
              <a:latin typeface="Arial"/>
              <a:ea typeface="Arial"/>
              <a:cs typeface="Arial"/>
              <a:sym typeface="Arial"/>
            </a:endParaRPr>
          </a:p>
        </p:txBody>
      </p:sp>
      <p:sp>
        <p:nvSpPr>
          <p:cNvPr id="63" name="Google Shape;63;p5"/>
          <p:cNvSpPr/>
          <p:nvPr/>
        </p:nvSpPr>
        <p:spPr>
          <a:xfrm>
            <a:off x="5550408" y="2724912"/>
            <a:ext cx="411480" cy="347472"/>
          </a:xfrm>
          <a:prstGeom prst="chevron">
            <a:avLst>
              <a:gd fmla="val 50000" name="adj"/>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5"/>
          <p:cNvSpPr/>
          <p:nvPr/>
        </p:nvSpPr>
        <p:spPr>
          <a:xfrm>
            <a:off x="6035040" y="2514600"/>
            <a:ext cx="2057400" cy="822960"/>
          </a:xfrm>
          <a:prstGeom prst="roundRect">
            <a:avLst>
              <a:gd fmla="val 5556" name="adj"/>
            </a:avLst>
          </a:prstGeom>
          <a:solidFill>
            <a:srgbClr val="1A1A1A"/>
          </a:solidFill>
          <a:ln cap="flat" cmpd="sng" w="12700">
            <a:solidFill>
              <a:srgbClr val="D719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5"/>
          <p:cNvSpPr/>
          <p:nvPr/>
        </p:nvSpPr>
        <p:spPr>
          <a:xfrm>
            <a:off x="6172200" y="2770632"/>
            <a:ext cx="178308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Analysis method</a:t>
            </a:r>
            <a:endParaRPr b="0" i="0" sz="1500" u="none" cap="none" strike="noStrike">
              <a:solidFill>
                <a:schemeClr val="dk1"/>
              </a:solidFill>
              <a:latin typeface="Arial"/>
              <a:ea typeface="Arial"/>
              <a:cs typeface="Arial"/>
              <a:sym typeface="Arial"/>
            </a:endParaRPr>
          </a:p>
        </p:txBody>
      </p:sp>
      <p:sp>
        <p:nvSpPr>
          <p:cNvPr id="66" name="Google Shape;66;p5"/>
          <p:cNvSpPr/>
          <p:nvPr/>
        </p:nvSpPr>
        <p:spPr>
          <a:xfrm>
            <a:off x="8156448" y="2724912"/>
            <a:ext cx="411480" cy="347472"/>
          </a:xfrm>
          <a:prstGeom prst="chevron">
            <a:avLst>
              <a:gd fmla="val 50000" name="adj"/>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5"/>
          <p:cNvSpPr/>
          <p:nvPr/>
        </p:nvSpPr>
        <p:spPr>
          <a:xfrm>
            <a:off x="8641080" y="2514600"/>
            <a:ext cx="2057400" cy="822960"/>
          </a:xfrm>
          <a:prstGeom prst="roundRect">
            <a:avLst>
              <a:gd fmla="val 5556" name="adj"/>
            </a:avLst>
          </a:prstGeom>
          <a:solidFill>
            <a:srgbClr val="1A1A1A"/>
          </a:solidFill>
          <a:ln cap="flat" cmpd="sng" w="12700">
            <a:solidFill>
              <a:srgbClr val="D719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5"/>
          <p:cNvSpPr/>
          <p:nvPr/>
        </p:nvSpPr>
        <p:spPr>
          <a:xfrm>
            <a:off x="8778240" y="2770632"/>
            <a:ext cx="178308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Possible claim</a:t>
            </a:r>
            <a:endParaRPr b="0" i="0" sz="1500" u="none" cap="none" strike="noStrike">
              <a:solidFill>
                <a:schemeClr val="dk1"/>
              </a:solidFill>
              <a:latin typeface="Arial"/>
              <a:ea typeface="Arial"/>
              <a:cs typeface="Arial"/>
              <a:sym typeface="Arial"/>
            </a:endParaRPr>
          </a:p>
        </p:txBody>
      </p:sp>
      <p:sp>
        <p:nvSpPr>
          <p:cNvPr id="69" name="Google Shape;69;p5"/>
          <p:cNvSpPr/>
          <p:nvPr/>
        </p:nvSpPr>
        <p:spPr>
          <a:xfrm>
            <a:off x="1280160" y="4069080"/>
            <a:ext cx="96012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71920"/>
              </a:buClr>
              <a:buSzPts val="2200"/>
              <a:buFont typeface="Arial"/>
              <a:buNone/>
            </a:pPr>
            <a:r>
              <a:rPr b="1" i="0" lang="en-US" sz="2200" u="none" cap="none" strike="noStrike">
                <a:solidFill>
                  <a:srgbClr val="D71920"/>
                </a:solidFill>
                <a:latin typeface="Arial"/>
                <a:ea typeface="Arial"/>
                <a:cs typeface="Arial"/>
                <a:sym typeface="Arial"/>
              </a:rPr>
              <a:t>Question first. Method second. Claim last.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74" name="Shape 74"/>
        <p:cNvGrpSpPr/>
        <p:nvPr/>
      </p:nvGrpSpPr>
      <p:grpSpPr>
        <a:xfrm>
          <a:off x="0" y="0"/>
          <a:ext cx="0" cy="0"/>
          <a:chOff x="0" y="0"/>
          <a:chExt cx="0" cy="0"/>
        </a:xfrm>
      </p:grpSpPr>
      <p:sp>
        <p:nvSpPr>
          <p:cNvPr id="75" name="Google Shape;75;p6"/>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6"/>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6"/>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6"/>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DATA TYPES</a:t>
            </a:r>
            <a:endParaRPr b="0" i="0" sz="900" u="none" cap="none" strike="noStrike">
              <a:solidFill>
                <a:schemeClr val="dk1"/>
              </a:solidFill>
              <a:latin typeface="Arial"/>
              <a:ea typeface="Arial"/>
              <a:cs typeface="Arial"/>
              <a:sym typeface="Arial"/>
            </a:endParaRPr>
          </a:p>
        </p:txBody>
      </p:sp>
      <p:sp>
        <p:nvSpPr>
          <p:cNvPr id="79" name="Google Shape;79;p6"/>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80" name="Google Shape;80;p6"/>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What Kind of Data Do You Have?</a:t>
            </a:r>
            <a:endParaRPr b="0" i="0" sz="2800" u="none" cap="none" strike="noStrike">
              <a:solidFill>
                <a:schemeClr val="dk1"/>
              </a:solidFill>
              <a:latin typeface="Arial"/>
              <a:ea typeface="Arial"/>
              <a:cs typeface="Arial"/>
              <a:sym typeface="Arial"/>
            </a:endParaRPr>
          </a:p>
        </p:txBody>
      </p:sp>
      <p:sp>
        <p:nvSpPr>
          <p:cNvPr id="81" name="Google Shape;81;p6"/>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6"/>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Different evidence needs different analysis.</a:t>
            </a:r>
            <a:endParaRPr b="0" i="0" sz="1100" u="none" cap="none" strike="noStrike">
              <a:solidFill>
                <a:schemeClr val="dk1"/>
              </a:solidFill>
              <a:latin typeface="Arial"/>
              <a:ea typeface="Arial"/>
              <a:cs typeface="Arial"/>
              <a:sym typeface="Arial"/>
            </a:endParaRPr>
          </a:p>
        </p:txBody>
      </p:sp>
      <p:sp>
        <p:nvSpPr>
          <p:cNvPr id="83" name="Google Shape;83;p6"/>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04</a:t>
            </a:r>
            <a:endParaRPr b="0" i="0" sz="1700" u="none" cap="none" strike="noStrike">
              <a:solidFill>
                <a:schemeClr val="dk1"/>
              </a:solidFill>
              <a:latin typeface="Arial"/>
              <a:ea typeface="Arial"/>
              <a:cs typeface="Arial"/>
              <a:sym typeface="Arial"/>
            </a:endParaRPr>
          </a:p>
        </p:txBody>
      </p:sp>
      <p:sp>
        <p:nvSpPr>
          <p:cNvPr id="84" name="Google Shape;84;p6"/>
          <p:cNvSpPr/>
          <p:nvPr/>
        </p:nvSpPr>
        <p:spPr>
          <a:xfrm>
            <a:off x="777240" y="1508760"/>
            <a:ext cx="3337560" cy="1371600"/>
          </a:xfrm>
          <a:prstGeom prst="roundRect">
            <a:avLst>
              <a:gd fmla="val 4000" name="adj"/>
            </a:avLst>
          </a:prstGeom>
          <a:solidFill>
            <a:srgbClr val="1A1A1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6"/>
          <p:cNvSpPr/>
          <p:nvPr/>
        </p:nvSpPr>
        <p:spPr>
          <a:xfrm>
            <a:off x="941832" y="1709928"/>
            <a:ext cx="29718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600"/>
              <a:buFont typeface="Arial"/>
              <a:buNone/>
            </a:pPr>
            <a:r>
              <a:rPr b="1" i="0" lang="en-US" sz="1600" u="none" cap="none" strike="noStrike">
                <a:solidFill>
                  <a:srgbClr val="D71920"/>
                </a:solidFill>
                <a:latin typeface="Arial"/>
                <a:ea typeface="Arial"/>
                <a:cs typeface="Arial"/>
                <a:sym typeface="Arial"/>
              </a:rPr>
              <a:t>Numerical measurements</a:t>
            </a:r>
            <a:endParaRPr b="0" i="0" sz="1600" u="none" cap="none" strike="noStrike">
              <a:solidFill>
                <a:schemeClr val="dk1"/>
              </a:solidFill>
              <a:latin typeface="Arial"/>
              <a:ea typeface="Arial"/>
              <a:cs typeface="Arial"/>
              <a:sym typeface="Arial"/>
            </a:endParaRPr>
          </a:p>
        </p:txBody>
      </p:sp>
      <p:sp>
        <p:nvSpPr>
          <p:cNvPr id="86" name="Google Shape;86;p6"/>
          <p:cNvSpPr/>
          <p:nvPr/>
        </p:nvSpPr>
        <p:spPr>
          <a:xfrm>
            <a:off x="941832" y="2121408"/>
            <a:ext cx="29718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Arial"/>
              <a:buNone/>
            </a:pPr>
            <a:r>
              <a:rPr b="0" i="0" lang="en-US" sz="1300" u="none" cap="none" strike="noStrike">
                <a:solidFill>
                  <a:srgbClr val="FFFFFF"/>
                </a:solidFill>
                <a:latin typeface="Arial"/>
                <a:ea typeface="Arial"/>
                <a:cs typeface="Arial"/>
                <a:sym typeface="Arial"/>
              </a:rPr>
              <a:t>height, voltage, mass, time</a:t>
            </a:r>
            <a:endParaRPr b="0" i="0" sz="1300" u="none" cap="none" strike="noStrike">
              <a:solidFill>
                <a:schemeClr val="dk1"/>
              </a:solidFill>
              <a:latin typeface="Arial"/>
              <a:ea typeface="Arial"/>
              <a:cs typeface="Arial"/>
              <a:sym typeface="Arial"/>
            </a:endParaRPr>
          </a:p>
        </p:txBody>
      </p:sp>
      <p:sp>
        <p:nvSpPr>
          <p:cNvPr id="87" name="Google Shape;87;p6"/>
          <p:cNvSpPr/>
          <p:nvPr/>
        </p:nvSpPr>
        <p:spPr>
          <a:xfrm>
            <a:off x="4480560" y="1508760"/>
            <a:ext cx="3337560" cy="1371600"/>
          </a:xfrm>
          <a:prstGeom prst="roundRect">
            <a:avLst>
              <a:gd fmla="val 4000" name="adj"/>
            </a:avLst>
          </a:prstGeom>
          <a:solidFill>
            <a:srgbClr val="1A1A1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6"/>
          <p:cNvSpPr/>
          <p:nvPr/>
        </p:nvSpPr>
        <p:spPr>
          <a:xfrm>
            <a:off x="4645152" y="1709928"/>
            <a:ext cx="29718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600"/>
              <a:buFont typeface="Arial"/>
              <a:buNone/>
            </a:pPr>
            <a:r>
              <a:rPr b="1" i="0" lang="en-US" sz="1600" u="none" cap="none" strike="noStrike">
                <a:solidFill>
                  <a:srgbClr val="D71920"/>
                </a:solidFill>
                <a:latin typeface="Arial"/>
                <a:ea typeface="Arial"/>
                <a:cs typeface="Arial"/>
                <a:sym typeface="Arial"/>
              </a:rPr>
              <a:t>Categories or groups</a:t>
            </a:r>
            <a:endParaRPr b="0" i="0" sz="1600" u="none" cap="none" strike="noStrike">
              <a:solidFill>
                <a:schemeClr val="dk1"/>
              </a:solidFill>
              <a:latin typeface="Arial"/>
              <a:ea typeface="Arial"/>
              <a:cs typeface="Arial"/>
              <a:sym typeface="Arial"/>
            </a:endParaRPr>
          </a:p>
        </p:txBody>
      </p:sp>
      <p:sp>
        <p:nvSpPr>
          <p:cNvPr id="89" name="Google Shape;89;p6"/>
          <p:cNvSpPr/>
          <p:nvPr/>
        </p:nvSpPr>
        <p:spPr>
          <a:xfrm>
            <a:off x="4645152" y="2121408"/>
            <a:ext cx="29718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Arial"/>
              <a:buNone/>
            </a:pPr>
            <a:r>
              <a:rPr b="0" i="0" lang="en-US" sz="1300" u="none" cap="none" strike="noStrike">
                <a:solidFill>
                  <a:srgbClr val="FFFFFF"/>
                </a:solidFill>
                <a:latin typeface="Arial"/>
                <a:ea typeface="Arial"/>
                <a:cs typeface="Arial"/>
                <a:sym typeface="Arial"/>
              </a:rPr>
              <a:t>control vs. treatment, prototype A/B</a:t>
            </a:r>
            <a:endParaRPr b="0" i="0" sz="1300" u="none" cap="none" strike="noStrike">
              <a:solidFill>
                <a:schemeClr val="dk1"/>
              </a:solidFill>
              <a:latin typeface="Arial"/>
              <a:ea typeface="Arial"/>
              <a:cs typeface="Arial"/>
              <a:sym typeface="Arial"/>
            </a:endParaRPr>
          </a:p>
        </p:txBody>
      </p:sp>
      <p:sp>
        <p:nvSpPr>
          <p:cNvPr id="90" name="Google Shape;90;p6"/>
          <p:cNvSpPr/>
          <p:nvPr/>
        </p:nvSpPr>
        <p:spPr>
          <a:xfrm>
            <a:off x="8183880" y="1508760"/>
            <a:ext cx="3337560" cy="1371600"/>
          </a:xfrm>
          <a:prstGeom prst="roundRect">
            <a:avLst>
              <a:gd fmla="val 4000" name="adj"/>
            </a:avLst>
          </a:prstGeom>
          <a:solidFill>
            <a:srgbClr val="1A1A1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6"/>
          <p:cNvSpPr/>
          <p:nvPr/>
        </p:nvSpPr>
        <p:spPr>
          <a:xfrm>
            <a:off x="8348472" y="1709928"/>
            <a:ext cx="29718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600"/>
              <a:buFont typeface="Arial"/>
              <a:buNone/>
            </a:pPr>
            <a:r>
              <a:rPr b="1" i="0" lang="en-US" sz="1600" u="none" cap="none" strike="noStrike">
                <a:solidFill>
                  <a:srgbClr val="D71920"/>
                </a:solidFill>
                <a:latin typeface="Arial"/>
                <a:ea typeface="Arial"/>
                <a:cs typeface="Arial"/>
                <a:sym typeface="Arial"/>
              </a:rPr>
              <a:t>Time series</a:t>
            </a:r>
            <a:endParaRPr b="0" i="0" sz="1600" u="none" cap="none" strike="noStrike">
              <a:solidFill>
                <a:schemeClr val="dk1"/>
              </a:solidFill>
              <a:latin typeface="Arial"/>
              <a:ea typeface="Arial"/>
              <a:cs typeface="Arial"/>
              <a:sym typeface="Arial"/>
            </a:endParaRPr>
          </a:p>
        </p:txBody>
      </p:sp>
      <p:sp>
        <p:nvSpPr>
          <p:cNvPr id="92" name="Google Shape;92;p6"/>
          <p:cNvSpPr/>
          <p:nvPr/>
        </p:nvSpPr>
        <p:spPr>
          <a:xfrm>
            <a:off x="8348472" y="2121408"/>
            <a:ext cx="29718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Arial"/>
              <a:buNone/>
            </a:pPr>
            <a:r>
              <a:rPr b="0" i="0" lang="en-US" sz="1300" u="none" cap="none" strike="noStrike">
                <a:solidFill>
                  <a:srgbClr val="FFFFFF"/>
                </a:solidFill>
                <a:latin typeface="Arial"/>
                <a:ea typeface="Arial"/>
                <a:cs typeface="Arial"/>
                <a:sym typeface="Arial"/>
              </a:rPr>
              <a:t>change over days, seconds, trials</a:t>
            </a:r>
            <a:endParaRPr b="0" i="0" sz="1300" u="none" cap="none" strike="noStrike">
              <a:solidFill>
                <a:schemeClr val="dk1"/>
              </a:solidFill>
              <a:latin typeface="Arial"/>
              <a:ea typeface="Arial"/>
              <a:cs typeface="Arial"/>
              <a:sym typeface="Arial"/>
            </a:endParaRPr>
          </a:p>
        </p:txBody>
      </p:sp>
      <p:sp>
        <p:nvSpPr>
          <p:cNvPr id="93" name="Google Shape;93;p6"/>
          <p:cNvSpPr/>
          <p:nvPr/>
        </p:nvSpPr>
        <p:spPr>
          <a:xfrm>
            <a:off x="777240" y="3429000"/>
            <a:ext cx="3337560" cy="1371600"/>
          </a:xfrm>
          <a:prstGeom prst="roundRect">
            <a:avLst>
              <a:gd fmla="val 4000" name="adj"/>
            </a:avLst>
          </a:prstGeom>
          <a:solidFill>
            <a:srgbClr val="1A1A1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6"/>
          <p:cNvSpPr/>
          <p:nvPr/>
        </p:nvSpPr>
        <p:spPr>
          <a:xfrm>
            <a:off x="941832" y="3630168"/>
            <a:ext cx="29718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600"/>
              <a:buFont typeface="Arial"/>
              <a:buNone/>
            </a:pPr>
            <a:r>
              <a:rPr b="1" i="0" lang="en-US" sz="1600" u="none" cap="none" strike="noStrike">
                <a:solidFill>
                  <a:srgbClr val="D71920"/>
                </a:solidFill>
                <a:latin typeface="Arial"/>
                <a:ea typeface="Arial"/>
                <a:cs typeface="Arial"/>
                <a:sym typeface="Arial"/>
              </a:rPr>
              <a:t>Prototype performance</a:t>
            </a:r>
            <a:endParaRPr b="0" i="0" sz="1600" u="none" cap="none" strike="noStrike">
              <a:solidFill>
                <a:schemeClr val="dk1"/>
              </a:solidFill>
              <a:latin typeface="Arial"/>
              <a:ea typeface="Arial"/>
              <a:cs typeface="Arial"/>
              <a:sym typeface="Arial"/>
            </a:endParaRPr>
          </a:p>
        </p:txBody>
      </p:sp>
      <p:sp>
        <p:nvSpPr>
          <p:cNvPr id="95" name="Google Shape;95;p6"/>
          <p:cNvSpPr/>
          <p:nvPr/>
        </p:nvSpPr>
        <p:spPr>
          <a:xfrm>
            <a:off x="941832" y="4041648"/>
            <a:ext cx="29718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Arial"/>
              <a:buNone/>
            </a:pPr>
            <a:r>
              <a:rPr b="0" i="0" lang="en-US" sz="1300" u="none" cap="none" strike="noStrike">
                <a:solidFill>
                  <a:srgbClr val="FFFFFF"/>
                </a:solidFill>
                <a:latin typeface="Arial"/>
                <a:ea typeface="Arial"/>
                <a:cs typeface="Arial"/>
                <a:sym typeface="Arial"/>
              </a:rPr>
              <a:t>load per gram, accuracy, failure point</a:t>
            </a:r>
            <a:endParaRPr b="0" i="0" sz="1300" u="none" cap="none" strike="noStrike">
              <a:solidFill>
                <a:schemeClr val="dk1"/>
              </a:solidFill>
              <a:latin typeface="Arial"/>
              <a:ea typeface="Arial"/>
              <a:cs typeface="Arial"/>
              <a:sym typeface="Arial"/>
            </a:endParaRPr>
          </a:p>
        </p:txBody>
      </p:sp>
      <p:sp>
        <p:nvSpPr>
          <p:cNvPr id="96" name="Google Shape;96;p6"/>
          <p:cNvSpPr/>
          <p:nvPr/>
        </p:nvSpPr>
        <p:spPr>
          <a:xfrm>
            <a:off x="4480560" y="3429000"/>
            <a:ext cx="3337560" cy="1371600"/>
          </a:xfrm>
          <a:prstGeom prst="roundRect">
            <a:avLst>
              <a:gd fmla="val 4000" name="adj"/>
            </a:avLst>
          </a:prstGeom>
          <a:solidFill>
            <a:srgbClr val="1A1A1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6"/>
          <p:cNvSpPr/>
          <p:nvPr/>
        </p:nvSpPr>
        <p:spPr>
          <a:xfrm>
            <a:off x="4645152" y="3630168"/>
            <a:ext cx="29718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600"/>
              <a:buFont typeface="Arial"/>
              <a:buNone/>
            </a:pPr>
            <a:r>
              <a:rPr b="1" i="0" lang="en-US" sz="1600" u="none" cap="none" strike="noStrike">
                <a:solidFill>
                  <a:srgbClr val="D71920"/>
                </a:solidFill>
                <a:latin typeface="Arial"/>
                <a:ea typeface="Arial"/>
                <a:cs typeface="Arial"/>
                <a:sym typeface="Arial"/>
              </a:rPr>
              <a:t>Qualitative observations</a:t>
            </a:r>
            <a:endParaRPr b="0" i="0" sz="1600" u="none" cap="none" strike="noStrike">
              <a:solidFill>
                <a:schemeClr val="dk1"/>
              </a:solidFill>
              <a:latin typeface="Arial"/>
              <a:ea typeface="Arial"/>
              <a:cs typeface="Arial"/>
              <a:sym typeface="Arial"/>
            </a:endParaRPr>
          </a:p>
        </p:txBody>
      </p:sp>
      <p:sp>
        <p:nvSpPr>
          <p:cNvPr id="98" name="Google Shape;98;p6"/>
          <p:cNvSpPr/>
          <p:nvPr/>
        </p:nvSpPr>
        <p:spPr>
          <a:xfrm>
            <a:off x="4645152" y="4041648"/>
            <a:ext cx="29718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Arial"/>
              <a:buNone/>
            </a:pPr>
            <a:r>
              <a:rPr b="0" i="0" lang="en-US" sz="1300" u="none" cap="none" strike="noStrike">
                <a:solidFill>
                  <a:srgbClr val="FFFFFF"/>
                </a:solidFill>
                <a:latin typeface="Arial"/>
                <a:ea typeface="Arial"/>
                <a:cs typeface="Arial"/>
                <a:sym typeface="Arial"/>
              </a:rPr>
              <a:t>failure type, behavior category</a:t>
            </a:r>
            <a:endParaRPr b="0" i="0" sz="1300" u="none" cap="none" strike="noStrike">
              <a:solidFill>
                <a:schemeClr val="dk1"/>
              </a:solidFill>
              <a:latin typeface="Arial"/>
              <a:ea typeface="Arial"/>
              <a:cs typeface="Arial"/>
              <a:sym typeface="Arial"/>
            </a:endParaRPr>
          </a:p>
        </p:txBody>
      </p:sp>
      <p:sp>
        <p:nvSpPr>
          <p:cNvPr id="99" name="Google Shape;99;p6"/>
          <p:cNvSpPr/>
          <p:nvPr/>
        </p:nvSpPr>
        <p:spPr>
          <a:xfrm>
            <a:off x="8183880" y="3429000"/>
            <a:ext cx="3337560" cy="1371600"/>
          </a:xfrm>
          <a:prstGeom prst="roundRect">
            <a:avLst>
              <a:gd fmla="val 4000" name="adj"/>
            </a:avLst>
          </a:prstGeom>
          <a:solidFill>
            <a:srgbClr val="1A1A1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6"/>
          <p:cNvSpPr/>
          <p:nvPr/>
        </p:nvSpPr>
        <p:spPr>
          <a:xfrm>
            <a:off x="8348472" y="3630168"/>
            <a:ext cx="29718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600"/>
              <a:buFont typeface="Arial"/>
              <a:buNone/>
            </a:pPr>
            <a:r>
              <a:rPr b="1" i="0" lang="en-US" sz="1600" u="none" cap="none" strike="noStrike">
                <a:solidFill>
                  <a:srgbClr val="D71920"/>
                </a:solidFill>
                <a:latin typeface="Arial"/>
                <a:ea typeface="Arial"/>
                <a:cs typeface="Arial"/>
                <a:sym typeface="Arial"/>
              </a:rPr>
              <a:t>Model or code outputs</a:t>
            </a:r>
            <a:endParaRPr b="0" i="0" sz="1600" u="none" cap="none" strike="noStrike">
              <a:solidFill>
                <a:schemeClr val="dk1"/>
              </a:solidFill>
              <a:latin typeface="Arial"/>
              <a:ea typeface="Arial"/>
              <a:cs typeface="Arial"/>
              <a:sym typeface="Arial"/>
            </a:endParaRPr>
          </a:p>
        </p:txBody>
      </p:sp>
      <p:sp>
        <p:nvSpPr>
          <p:cNvPr id="101" name="Google Shape;101;p6"/>
          <p:cNvSpPr/>
          <p:nvPr/>
        </p:nvSpPr>
        <p:spPr>
          <a:xfrm>
            <a:off x="8348472" y="4041648"/>
            <a:ext cx="29718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Arial"/>
              <a:buNone/>
            </a:pPr>
            <a:r>
              <a:rPr b="0" i="0" lang="en-US" sz="1300" u="none" cap="none" strike="noStrike">
                <a:solidFill>
                  <a:srgbClr val="FFFFFF"/>
                </a:solidFill>
                <a:latin typeface="Arial"/>
                <a:ea typeface="Arial"/>
                <a:cs typeface="Arial"/>
                <a:sym typeface="Arial"/>
              </a:rPr>
              <a:t>accuracy, error rate, prediction</a:t>
            </a:r>
            <a:endParaRPr b="0" i="0" sz="1300" u="none" cap="none" strike="noStrike">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106" name="Shape 106"/>
        <p:cNvGrpSpPr/>
        <p:nvPr/>
      </p:nvGrpSpPr>
      <p:grpSpPr>
        <a:xfrm>
          <a:off x="0" y="0"/>
          <a:ext cx="0" cy="0"/>
          <a:chOff x="0" y="0"/>
          <a:chExt cx="0" cy="0"/>
        </a:xfrm>
      </p:grpSpPr>
      <p:sp>
        <p:nvSpPr>
          <p:cNvPr id="107" name="Google Shape;107;p7"/>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7"/>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7"/>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7"/>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MATCHING</a:t>
            </a:r>
            <a:endParaRPr b="0" i="0" sz="900" u="none" cap="none" strike="noStrike">
              <a:solidFill>
                <a:schemeClr val="dk1"/>
              </a:solidFill>
              <a:latin typeface="Arial"/>
              <a:ea typeface="Arial"/>
              <a:cs typeface="Arial"/>
              <a:sym typeface="Arial"/>
            </a:endParaRPr>
          </a:p>
        </p:txBody>
      </p:sp>
      <p:sp>
        <p:nvSpPr>
          <p:cNvPr id="111" name="Google Shape;111;p7"/>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112" name="Google Shape;112;p7"/>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The Analysis Match Test</a:t>
            </a:r>
            <a:endParaRPr b="0" i="0" sz="2800" u="none" cap="none" strike="noStrike">
              <a:solidFill>
                <a:schemeClr val="dk1"/>
              </a:solidFill>
              <a:latin typeface="Arial"/>
              <a:ea typeface="Arial"/>
              <a:cs typeface="Arial"/>
              <a:sym typeface="Arial"/>
            </a:endParaRPr>
          </a:p>
        </p:txBody>
      </p:sp>
      <p:sp>
        <p:nvSpPr>
          <p:cNvPr id="113" name="Google Shape;113;p7"/>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7"/>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A good method makes the evidence easier to understand.</a:t>
            </a:r>
            <a:endParaRPr b="0" i="0" sz="1100" u="none" cap="none" strike="noStrike">
              <a:solidFill>
                <a:schemeClr val="dk1"/>
              </a:solidFill>
              <a:latin typeface="Arial"/>
              <a:ea typeface="Arial"/>
              <a:cs typeface="Arial"/>
              <a:sym typeface="Arial"/>
            </a:endParaRPr>
          </a:p>
        </p:txBody>
      </p:sp>
      <p:sp>
        <p:nvSpPr>
          <p:cNvPr id="115" name="Google Shape;115;p7"/>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05</a:t>
            </a:r>
            <a:endParaRPr b="0" i="0" sz="1700" u="none" cap="none" strike="noStrike">
              <a:solidFill>
                <a:schemeClr val="dk1"/>
              </a:solidFill>
              <a:latin typeface="Arial"/>
              <a:ea typeface="Arial"/>
              <a:cs typeface="Arial"/>
              <a:sym typeface="Arial"/>
            </a:endParaRPr>
          </a:p>
        </p:txBody>
      </p:sp>
      <p:sp>
        <p:nvSpPr>
          <p:cNvPr id="116" name="Google Shape;116;p7"/>
          <p:cNvSpPr/>
          <p:nvPr/>
        </p:nvSpPr>
        <p:spPr>
          <a:xfrm>
            <a:off x="868680" y="1463040"/>
            <a:ext cx="46634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500"/>
              <a:buFont typeface="Arial"/>
              <a:buNone/>
            </a:pPr>
            <a:r>
              <a:rPr b="1" i="0" lang="en-US" sz="1500" u="none" cap="none" strike="noStrike">
                <a:solidFill>
                  <a:srgbClr val="D71920"/>
                </a:solidFill>
                <a:latin typeface="Arial"/>
                <a:ea typeface="Arial"/>
                <a:cs typeface="Arial"/>
                <a:sym typeface="Arial"/>
              </a:rPr>
              <a:t>If your question asks you to...</a:t>
            </a:r>
            <a:endParaRPr b="0" i="0" sz="1500" u="none" cap="none" strike="noStrike">
              <a:solidFill>
                <a:schemeClr val="dk1"/>
              </a:solidFill>
              <a:latin typeface="Arial"/>
              <a:ea typeface="Arial"/>
              <a:cs typeface="Arial"/>
              <a:sym typeface="Arial"/>
            </a:endParaRPr>
          </a:p>
        </p:txBody>
      </p:sp>
      <p:sp>
        <p:nvSpPr>
          <p:cNvPr id="117" name="Google Shape;117;p7"/>
          <p:cNvSpPr/>
          <p:nvPr/>
        </p:nvSpPr>
        <p:spPr>
          <a:xfrm>
            <a:off x="6400800" y="1463040"/>
            <a:ext cx="46634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500"/>
              <a:buFont typeface="Arial"/>
              <a:buNone/>
            </a:pPr>
            <a:r>
              <a:rPr b="1" i="0" lang="en-US" sz="1500" u="none" cap="none" strike="noStrike">
                <a:solidFill>
                  <a:srgbClr val="D71920"/>
                </a:solidFill>
                <a:latin typeface="Arial"/>
                <a:ea typeface="Arial"/>
                <a:cs typeface="Arial"/>
                <a:sym typeface="Arial"/>
              </a:rPr>
              <a:t>Consider using...</a:t>
            </a:r>
            <a:endParaRPr b="0" i="0" sz="1500" u="none" cap="none" strike="noStrike">
              <a:solidFill>
                <a:schemeClr val="dk1"/>
              </a:solidFill>
              <a:latin typeface="Arial"/>
              <a:ea typeface="Arial"/>
              <a:cs typeface="Arial"/>
              <a:sym typeface="Arial"/>
            </a:endParaRPr>
          </a:p>
        </p:txBody>
      </p:sp>
      <p:sp>
        <p:nvSpPr>
          <p:cNvPr id="118" name="Google Shape;118;p7"/>
          <p:cNvSpPr/>
          <p:nvPr/>
        </p:nvSpPr>
        <p:spPr>
          <a:xfrm>
            <a:off x="868680" y="1874520"/>
            <a:ext cx="4251960" cy="329184"/>
          </a:xfrm>
          <a:prstGeom prst="roundRect">
            <a:avLst>
              <a:gd fmla="val 8333" name="adj"/>
            </a:avLst>
          </a:prstGeom>
          <a:solidFill>
            <a:srgbClr val="1A1A1A"/>
          </a:solidFill>
          <a:ln cap="flat" cmpd="sng" w="95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7"/>
          <p:cNvSpPr/>
          <p:nvPr/>
        </p:nvSpPr>
        <p:spPr>
          <a:xfrm>
            <a:off x="1005840" y="1947672"/>
            <a:ext cx="39776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0" i="0" lang="en-US" sz="1250" u="none" cap="none" strike="noStrike">
                <a:solidFill>
                  <a:srgbClr val="FFFFFF"/>
                </a:solidFill>
                <a:latin typeface="Arial"/>
                <a:ea typeface="Arial"/>
                <a:cs typeface="Arial"/>
                <a:sym typeface="Arial"/>
              </a:rPr>
              <a:t>Compare groups</a:t>
            </a:r>
            <a:endParaRPr b="0" i="0" sz="1250" u="none" cap="none" strike="noStrike">
              <a:solidFill>
                <a:schemeClr val="dk1"/>
              </a:solidFill>
              <a:latin typeface="Arial"/>
              <a:ea typeface="Arial"/>
              <a:cs typeface="Arial"/>
              <a:sym typeface="Arial"/>
            </a:endParaRPr>
          </a:p>
        </p:txBody>
      </p:sp>
      <p:cxnSp>
        <p:nvCxnSpPr>
          <p:cNvPr id="120" name="Google Shape;120;p7"/>
          <p:cNvCxnSpPr/>
          <p:nvPr/>
        </p:nvCxnSpPr>
        <p:spPr>
          <a:xfrm>
            <a:off x="5349240" y="2039112"/>
            <a:ext cx="685800" cy="0"/>
          </a:xfrm>
          <a:prstGeom prst="straightConnector1">
            <a:avLst/>
          </a:prstGeom>
          <a:noFill/>
          <a:ln cap="flat" cmpd="sng" w="12700">
            <a:solidFill>
              <a:srgbClr val="D71920"/>
            </a:solidFill>
            <a:prstDash val="solid"/>
            <a:round/>
            <a:headEnd len="sm" w="sm" type="none"/>
            <a:tailEnd len="med" w="med" type="triangle"/>
          </a:ln>
        </p:spPr>
      </p:cxnSp>
      <p:sp>
        <p:nvSpPr>
          <p:cNvPr id="121" name="Google Shape;121;p7"/>
          <p:cNvSpPr/>
          <p:nvPr/>
        </p:nvSpPr>
        <p:spPr>
          <a:xfrm>
            <a:off x="6400800" y="1874520"/>
            <a:ext cx="4251960" cy="329184"/>
          </a:xfrm>
          <a:prstGeom prst="roundRect">
            <a:avLst>
              <a:gd fmla="val 8333" name="adj"/>
            </a:avLst>
          </a:prstGeom>
          <a:solidFill>
            <a:srgbClr val="1A1A1A"/>
          </a:solidFill>
          <a:ln cap="flat" cmpd="sng" w="95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7"/>
          <p:cNvSpPr/>
          <p:nvPr/>
        </p:nvSpPr>
        <p:spPr>
          <a:xfrm>
            <a:off x="6537960" y="1947672"/>
            <a:ext cx="39776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0" i="0" lang="en-US" sz="1250" u="none" cap="none" strike="noStrike">
                <a:solidFill>
                  <a:srgbClr val="FFFFFF"/>
                </a:solidFill>
                <a:latin typeface="Arial"/>
                <a:ea typeface="Arial"/>
                <a:cs typeface="Arial"/>
                <a:sym typeface="Arial"/>
              </a:rPr>
              <a:t>mean / median / bar graph</a:t>
            </a:r>
            <a:endParaRPr b="0" i="0" sz="1250" u="none" cap="none" strike="noStrike">
              <a:solidFill>
                <a:schemeClr val="dk1"/>
              </a:solidFill>
              <a:latin typeface="Arial"/>
              <a:ea typeface="Arial"/>
              <a:cs typeface="Arial"/>
              <a:sym typeface="Arial"/>
            </a:endParaRPr>
          </a:p>
        </p:txBody>
      </p:sp>
      <p:sp>
        <p:nvSpPr>
          <p:cNvPr id="123" name="Google Shape;123;p7"/>
          <p:cNvSpPr/>
          <p:nvPr/>
        </p:nvSpPr>
        <p:spPr>
          <a:xfrm>
            <a:off x="868680" y="2404872"/>
            <a:ext cx="4251960" cy="329184"/>
          </a:xfrm>
          <a:prstGeom prst="roundRect">
            <a:avLst>
              <a:gd fmla="val 8333" name="adj"/>
            </a:avLst>
          </a:prstGeom>
          <a:solidFill>
            <a:srgbClr val="1A1A1A"/>
          </a:solidFill>
          <a:ln cap="flat" cmpd="sng" w="95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7"/>
          <p:cNvSpPr/>
          <p:nvPr/>
        </p:nvSpPr>
        <p:spPr>
          <a:xfrm>
            <a:off x="1005840" y="2478024"/>
            <a:ext cx="39776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0" i="0" lang="en-US" sz="1250" u="none" cap="none" strike="noStrike">
                <a:solidFill>
                  <a:srgbClr val="FFFFFF"/>
                </a:solidFill>
                <a:latin typeface="Arial"/>
                <a:ea typeface="Arial"/>
                <a:cs typeface="Arial"/>
                <a:sym typeface="Arial"/>
              </a:rPr>
              <a:t>Show change over time</a:t>
            </a:r>
            <a:endParaRPr b="0" i="0" sz="1250" u="none" cap="none" strike="noStrike">
              <a:solidFill>
                <a:schemeClr val="dk1"/>
              </a:solidFill>
              <a:latin typeface="Arial"/>
              <a:ea typeface="Arial"/>
              <a:cs typeface="Arial"/>
              <a:sym typeface="Arial"/>
            </a:endParaRPr>
          </a:p>
        </p:txBody>
      </p:sp>
      <p:cxnSp>
        <p:nvCxnSpPr>
          <p:cNvPr id="125" name="Google Shape;125;p7"/>
          <p:cNvCxnSpPr/>
          <p:nvPr/>
        </p:nvCxnSpPr>
        <p:spPr>
          <a:xfrm>
            <a:off x="5349240" y="2569464"/>
            <a:ext cx="685800" cy="0"/>
          </a:xfrm>
          <a:prstGeom prst="straightConnector1">
            <a:avLst/>
          </a:prstGeom>
          <a:noFill/>
          <a:ln cap="flat" cmpd="sng" w="12700">
            <a:solidFill>
              <a:srgbClr val="D71920"/>
            </a:solidFill>
            <a:prstDash val="solid"/>
            <a:round/>
            <a:headEnd len="sm" w="sm" type="none"/>
            <a:tailEnd len="med" w="med" type="triangle"/>
          </a:ln>
        </p:spPr>
      </p:cxnSp>
      <p:sp>
        <p:nvSpPr>
          <p:cNvPr id="126" name="Google Shape;126;p7"/>
          <p:cNvSpPr/>
          <p:nvPr/>
        </p:nvSpPr>
        <p:spPr>
          <a:xfrm>
            <a:off x="6400800" y="2404872"/>
            <a:ext cx="4251960" cy="329184"/>
          </a:xfrm>
          <a:prstGeom prst="roundRect">
            <a:avLst>
              <a:gd fmla="val 8333" name="adj"/>
            </a:avLst>
          </a:prstGeom>
          <a:solidFill>
            <a:srgbClr val="1A1A1A"/>
          </a:solidFill>
          <a:ln cap="flat" cmpd="sng" w="95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7"/>
          <p:cNvSpPr/>
          <p:nvPr/>
        </p:nvSpPr>
        <p:spPr>
          <a:xfrm>
            <a:off x="6537960" y="2478024"/>
            <a:ext cx="39776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0" i="0" lang="en-US" sz="1250" u="none" cap="none" strike="noStrike">
                <a:solidFill>
                  <a:srgbClr val="FFFFFF"/>
                </a:solidFill>
                <a:latin typeface="Arial"/>
                <a:ea typeface="Arial"/>
                <a:cs typeface="Arial"/>
                <a:sym typeface="Arial"/>
              </a:rPr>
              <a:t>line graph / rate</a:t>
            </a:r>
            <a:endParaRPr b="0" i="0" sz="1250" u="none" cap="none" strike="noStrike">
              <a:solidFill>
                <a:schemeClr val="dk1"/>
              </a:solidFill>
              <a:latin typeface="Arial"/>
              <a:ea typeface="Arial"/>
              <a:cs typeface="Arial"/>
              <a:sym typeface="Arial"/>
            </a:endParaRPr>
          </a:p>
        </p:txBody>
      </p:sp>
      <p:sp>
        <p:nvSpPr>
          <p:cNvPr id="128" name="Google Shape;128;p7"/>
          <p:cNvSpPr/>
          <p:nvPr/>
        </p:nvSpPr>
        <p:spPr>
          <a:xfrm>
            <a:off x="868680" y="2935224"/>
            <a:ext cx="4251960" cy="329184"/>
          </a:xfrm>
          <a:prstGeom prst="roundRect">
            <a:avLst>
              <a:gd fmla="val 8333" name="adj"/>
            </a:avLst>
          </a:prstGeom>
          <a:solidFill>
            <a:srgbClr val="1A1A1A"/>
          </a:solidFill>
          <a:ln cap="flat" cmpd="sng" w="95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7"/>
          <p:cNvSpPr/>
          <p:nvPr/>
        </p:nvSpPr>
        <p:spPr>
          <a:xfrm>
            <a:off x="1005840" y="3008376"/>
            <a:ext cx="39776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0" i="0" lang="en-US" sz="1250" u="none" cap="none" strike="noStrike">
                <a:solidFill>
                  <a:srgbClr val="FFFFFF"/>
                </a:solidFill>
                <a:latin typeface="Arial"/>
                <a:ea typeface="Arial"/>
                <a:cs typeface="Arial"/>
                <a:sym typeface="Arial"/>
              </a:rPr>
              <a:t>Measure consistency</a:t>
            </a:r>
            <a:endParaRPr b="0" i="0" sz="1250" u="none" cap="none" strike="noStrike">
              <a:solidFill>
                <a:schemeClr val="dk1"/>
              </a:solidFill>
              <a:latin typeface="Arial"/>
              <a:ea typeface="Arial"/>
              <a:cs typeface="Arial"/>
              <a:sym typeface="Arial"/>
            </a:endParaRPr>
          </a:p>
        </p:txBody>
      </p:sp>
      <p:cxnSp>
        <p:nvCxnSpPr>
          <p:cNvPr id="130" name="Google Shape;130;p7"/>
          <p:cNvCxnSpPr/>
          <p:nvPr/>
        </p:nvCxnSpPr>
        <p:spPr>
          <a:xfrm>
            <a:off x="5349240" y="3099816"/>
            <a:ext cx="685800" cy="0"/>
          </a:xfrm>
          <a:prstGeom prst="straightConnector1">
            <a:avLst/>
          </a:prstGeom>
          <a:noFill/>
          <a:ln cap="flat" cmpd="sng" w="12700">
            <a:solidFill>
              <a:srgbClr val="D71920"/>
            </a:solidFill>
            <a:prstDash val="solid"/>
            <a:round/>
            <a:headEnd len="sm" w="sm" type="none"/>
            <a:tailEnd len="med" w="med" type="triangle"/>
          </a:ln>
        </p:spPr>
      </p:cxnSp>
      <p:sp>
        <p:nvSpPr>
          <p:cNvPr id="131" name="Google Shape;131;p7"/>
          <p:cNvSpPr/>
          <p:nvPr/>
        </p:nvSpPr>
        <p:spPr>
          <a:xfrm>
            <a:off x="6400800" y="2935224"/>
            <a:ext cx="4251960" cy="329184"/>
          </a:xfrm>
          <a:prstGeom prst="roundRect">
            <a:avLst>
              <a:gd fmla="val 8333" name="adj"/>
            </a:avLst>
          </a:prstGeom>
          <a:solidFill>
            <a:srgbClr val="1A1A1A"/>
          </a:solidFill>
          <a:ln cap="flat" cmpd="sng" w="95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7"/>
          <p:cNvSpPr/>
          <p:nvPr/>
        </p:nvSpPr>
        <p:spPr>
          <a:xfrm>
            <a:off x="6537960" y="3008376"/>
            <a:ext cx="39776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0" i="0" lang="en-US" sz="1250" u="none" cap="none" strike="noStrike">
                <a:solidFill>
                  <a:srgbClr val="FFFFFF"/>
                </a:solidFill>
                <a:latin typeface="Arial"/>
                <a:ea typeface="Arial"/>
                <a:cs typeface="Arial"/>
                <a:sym typeface="Arial"/>
              </a:rPr>
              <a:t>range / standard deviation</a:t>
            </a:r>
            <a:endParaRPr b="0" i="0" sz="1250" u="none" cap="none" strike="noStrike">
              <a:solidFill>
                <a:schemeClr val="dk1"/>
              </a:solidFill>
              <a:latin typeface="Arial"/>
              <a:ea typeface="Arial"/>
              <a:cs typeface="Arial"/>
              <a:sym typeface="Arial"/>
            </a:endParaRPr>
          </a:p>
        </p:txBody>
      </p:sp>
      <p:sp>
        <p:nvSpPr>
          <p:cNvPr id="133" name="Google Shape;133;p7"/>
          <p:cNvSpPr/>
          <p:nvPr/>
        </p:nvSpPr>
        <p:spPr>
          <a:xfrm>
            <a:off x="868680" y="3465576"/>
            <a:ext cx="4251960" cy="329184"/>
          </a:xfrm>
          <a:prstGeom prst="roundRect">
            <a:avLst>
              <a:gd fmla="val 8333" name="adj"/>
            </a:avLst>
          </a:prstGeom>
          <a:solidFill>
            <a:srgbClr val="1A1A1A"/>
          </a:solidFill>
          <a:ln cap="flat" cmpd="sng" w="95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7"/>
          <p:cNvSpPr/>
          <p:nvPr/>
        </p:nvSpPr>
        <p:spPr>
          <a:xfrm>
            <a:off x="1005840" y="3538728"/>
            <a:ext cx="39776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0" i="0" lang="en-US" sz="1250" u="none" cap="none" strike="noStrike">
                <a:solidFill>
                  <a:srgbClr val="FFFFFF"/>
                </a:solidFill>
                <a:latin typeface="Arial"/>
                <a:ea typeface="Arial"/>
                <a:cs typeface="Arial"/>
                <a:sym typeface="Arial"/>
              </a:rPr>
              <a:t>Optimize a design</a:t>
            </a:r>
            <a:endParaRPr b="0" i="0" sz="1250" u="none" cap="none" strike="noStrike">
              <a:solidFill>
                <a:schemeClr val="dk1"/>
              </a:solidFill>
              <a:latin typeface="Arial"/>
              <a:ea typeface="Arial"/>
              <a:cs typeface="Arial"/>
              <a:sym typeface="Arial"/>
            </a:endParaRPr>
          </a:p>
        </p:txBody>
      </p:sp>
      <p:cxnSp>
        <p:nvCxnSpPr>
          <p:cNvPr id="135" name="Google Shape;135;p7"/>
          <p:cNvCxnSpPr/>
          <p:nvPr/>
        </p:nvCxnSpPr>
        <p:spPr>
          <a:xfrm>
            <a:off x="5349240" y="3630168"/>
            <a:ext cx="685800" cy="0"/>
          </a:xfrm>
          <a:prstGeom prst="straightConnector1">
            <a:avLst/>
          </a:prstGeom>
          <a:noFill/>
          <a:ln cap="flat" cmpd="sng" w="12700">
            <a:solidFill>
              <a:srgbClr val="D71920"/>
            </a:solidFill>
            <a:prstDash val="solid"/>
            <a:round/>
            <a:headEnd len="sm" w="sm" type="none"/>
            <a:tailEnd len="med" w="med" type="triangle"/>
          </a:ln>
        </p:spPr>
      </p:cxnSp>
      <p:sp>
        <p:nvSpPr>
          <p:cNvPr id="136" name="Google Shape;136;p7"/>
          <p:cNvSpPr/>
          <p:nvPr/>
        </p:nvSpPr>
        <p:spPr>
          <a:xfrm>
            <a:off x="6400800" y="3465576"/>
            <a:ext cx="4251960" cy="329184"/>
          </a:xfrm>
          <a:prstGeom prst="roundRect">
            <a:avLst>
              <a:gd fmla="val 8333" name="adj"/>
            </a:avLst>
          </a:prstGeom>
          <a:solidFill>
            <a:srgbClr val="1A1A1A"/>
          </a:solidFill>
          <a:ln cap="flat" cmpd="sng" w="95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7"/>
          <p:cNvSpPr/>
          <p:nvPr/>
        </p:nvSpPr>
        <p:spPr>
          <a:xfrm>
            <a:off x="6537960" y="3538728"/>
            <a:ext cx="39776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0" i="0" lang="en-US" sz="1250" u="none" cap="none" strike="noStrike">
                <a:solidFill>
                  <a:srgbClr val="FFFFFF"/>
                </a:solidFill>
                <a:latin typeface="Arial"/>
                <a:ea typeface="Arial"/>
                <a:cs typeface="Arial"/>
                <a:sym typeface="Arial"/>
              </a:rPr>
              <a:t>performance metric</a:t>
            </a:r>
            <a:endParaRPr b="0" i="0" sz="1250" u="none" cap="none" strike="noStrike">
              <a:solidFill>
                <a:schemeClr val="dk1"/>
              </a:solidFill>
              <a:latin typeface="Arial"/>
              <a:ea typeface="Arial"/>
              <a:cs typeface="Arial"/>
              <a:sym typeface="Arial"/>
            </a:endParaRPr>
          </a:p>
        </p:txBody>
      </p:sp>
      <p:sp>
        <p:nvSpPr>
          <p:cNvPr id="138" name="Google Shape;138;p7"/>
          <p:cNvSpPr/>
          <p:nvPr/>
        </p:nvSpPr>
        <p:spPr>
          <a:xfrm>
            <a:off x="868680" y="3995928"/>
            <a:ext cx="4251960" cy="329184"/>
          </a:xfrm>
          <a:prstGeom prst="roundRect">
            <a:avLst>
              <a:gd fmla="val 8333" name="adj"/>
            </a:avLst>
          </a:prstGeom>
          <a:solidFill>
            <a:srgbClr val="1A1A1A"/>
          </a:solidFill>
          <a:ln cap="flat" cmpd="sng" w="95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7"/>
          <p:cNvSpPr/>
          <p:nvPr/>
        </p:nvSpPr>
        <p:spPr>
          <a:xfrm>
            <a:off x="1005840" y="4069080"/>
            <a:ext cx="39776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0" i="0" lang="en-US" sz="1250" u="none" cap="none" strike="noStrike">
                <a:solidFill>
                  <a:srgbClr val="FFFFFF"/>
                </a:solidFill>
                <a:latin typeface="Arial"/>
                <a:ea typeface="Arial"/>
                <a:cs typeface="Arial"/>
                <a:sym typeface="Arial"/>
              </a:rPr>
              <a:t>Find a relationship</a:t>
            </a:r>
            <a:endParaRPr b="0" i="0" sz="1250" u="none" cap="none" strike="noStrike">
              <a:solidFill>
                <a:schemeClr val="dk1"/>
              </a:solidFill>
              <a:latin typeface="Arial"/>
              <a:ea typeface="Arial"/>
              <a:cs typeface="Arial"/>
              <a:sym typeface="Arial"/>
            </a:endParaRPr>
          </a:p>
        </p:txBody>
      </p:sp>
      <p:cxnSp>
        <p:nvCxnSpPr>
          <p:cNvPr id="140" name="Google Shape;140;p7"/>
          <p:cNvCxnSpPr/>
          <p:nvPr/>
        </p:nvCxnSpPr>
        <p:spPr>
          <a:xfrm>
            <a:off x="5349240" y="4160520"/>
            <a:ext cx="685800" cy="0"/>
          </a:xfrm>
          <a:prstGeom prst="straightConnector1">
            <a:avLst/>
          </a:prstGeom>
          <a:noFill/>
          <a:ln cap="flat" cmpd="sng" w="12700">
            <a:solidFill>
              <a:srgbClr val="D71920"/>
            </a:solidFill>
            <a:prstDash val="solid"/>
            <a:round/>
            <a:headEnd len="sm" w="sm" type="none"/>
            <a:tailEnd len="med" w="med" type="triangle"/>
          </a:ln>
        </p:spPr>
      </p:cxnSp>
      <p:sp>
        <p:nvSpPr>
          <p:cNvPr id="141" name="Google Shape;141;p7"/>
          <p:cNvSpPr/>
          <p:nvPr/>
        </p:nvSpPr>
        <p:spPr>
          <a:xfrm>
            <a:off x="6400800" y="3995928"/>
            <a:ext cx="4251960" cy="329184"/>
          </a:xfrm>
          <a:prstGeom prst="roundRect">
            <a:avLst>
              <a:gd fmla="val 8333" name="adj"/>
            </a:avLst>
          </a:prstGeom>
          <a:solidFill>
            <a:srgbClr val="1A1A1A"/>
          </a:solidFill>
          <a:ln cap="flat" cmpd="sng" w="95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6537960" y="4069080"/>
            <a:ext cx="39776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0" i="0" lang="en-US" sz="1250" u="none" cap="none" strike="noStrike">
                <a:solidFill>
                  <a:srgbClr val="FFFFFF"/>
                </a:solidFill>
                <a:latin typeface="Arial"/>
                <a:ea typeface="Arial"/>
                <a:cs typeface="Arial"/>
                <a:sym typeface="Arial"/>
              </a:rPr>
              <a:t>scatter plot / trendline</a:t>
            </a:r>
            <a:endParaRPr b="0" i="0" sz="1250" u="none" cap="none" strike="noStrike">
              <a:solidFill>
                <a:schemeClr val="dk1"/>
              </a:solidFill>
              <a:latin typeface="Arial"/>
              <a:ea typeface="Arial"/>
              <a:cs typeface="Arial"/>
              <a:sym typeface="Arial"/>
            </a:endParaRPr>
          </a:p>
        </p:txBody>
      </p:sp>
      <p:sp>
        <p:nvSpPr>
          <p:cNvPr id="143" name="Google Shape;143;p7"/>
          <p:cNvSpPr/>
          <p:nvPr/>
        </p:nvSpPr>
        <p:spPr>
          <a:xfrm>
            <a:off x="868680" y="4526280"/>
            <a:ext cx="4251960" cy="329184"/>
          </a:xfrm>
          <a:prstGeom prst="roundRect">
            <a:avLst>
              <a:gd fmla="val 8333" name="adj"/>
            </a:avLst>
          </a:prstGeom>
          <a:solidFill>
            <a:srgbClr val="1A1A1A"/>
          </a:solidFill>
          <a:ln cap="flat" cmpd="sng" w="95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7"/>
          <p:cNvSpPr/>
          <p:nvPr/>
        </p:nvSpPr>
        <p:spPr>
          <a:xfrm>
            <a:off x="1005840" y="4599432"/>
            <a:ext cx="39776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0" i="0" lang="en-US" sz="1250" u="none" cap="none" strike="noStrike">
                <a:solidFill>
                  <a:srgbClr val="FFFFFF"/>
                </a:solidFill>
                <a:latin typeface="Arial"/>
                <a:ea typeface="Arial"/>
                <a:cs typeface="Arial"/>
                <a:sym typeface="Arial"/>
              </a:rPr>
              <a:t>Summarize observations</a:t>
            </a:r>
            <a:endParaRPr b="0" i="0" sz="1250" u="none" cap="none" strike="noStrike">
              <a:solidFill>
                <a:schemeClr val="dk1"/>
              </a:solidFill>
              <a:latin typeface="Arial"/>
              <a:ea typeface="Arial"/>
              <a:cs typeface="Arial"/>
              <a:sym typeface="Arial"/>
            </a:endParaRPr>
          </a:p>
        </p:txBody>
      </p:sp>
      <p:cxnSp>
        <p:nvCxnSpPr>
          <p:cNvPr id="145" name="Google Shape;145;p7"/>
          <p:cNvCxnSpPr/>
          <p:nvPr/>
        </p:nvCxnSpPr>
        <p:spPr>
          <a:xfrm>
            <a:off x="5349240" y="4690872"/>
            <a:ext cx="685800" cy="0"/>
          </a:xfrm>
          <a:prstGeom prst="straightConnector1">
            <a:avLst/>
          </a:prstGeom>
          <a:noFill/>
          <a:ln cap="flat" cmpd="sng" w="12700">
            <a:solidFill>
              <a:srgbClr val="D71920"/>
            </a:solidFill>
            <a:prstDash val="solid"/>
            <a:round/>
            <a:headEnd len="sm" w="sm" type="none"/>
            <a:tailEnd len="med" w="med" type="triangle"/>
          </a:ln>
        </p:spPr>
      </p:cxnSp>
      <p:sp>
        <p:nvSpPr>
          <p:cNvPr id="146" name="Google Shape;146;p7"/>
          <p:cNvSpPr/>
          <p:nvPr/>
        </p:nvSpPr>
        <p:spPr>
          <a:xfrm>
            <a:off x="6400800" y="4526280"/>
            <a:ext cx="4251960" cy="329184"/>
          </a:xfrm>
          <a:prstGeom prst="roundRect">
            <a:avLst>
              <a:gd fmla="val 8333" name="adj"/>
            </a:avLst>
          </a:prstGeom>
          <a:solidFill>
            <a:srgbClr val="1A1A1A"/>
          </a:solidFill>
          <a:ln cap="flat" cmpd="sng" w="95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7"/>
          <p:cNvSpPr/>
          <p:nvPr/>
        </p:nvSpPr>
        <p:spPr>
          <a:xfrm>
            <a:off x="6537960" y="4599432"/>
            <a:ext cx="39776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0" i="0" lang="en-US" sz="1250" u="none" cap="none" strike="noStrike">
                <a:solidFill>
                  <a:srgbClr val="FFFFFF"/>
                </a:solidFill>
                <a:latin typeface="Arial"/>
                <a:ea typeface="Arial"/>
                <a:cs typeface="Arial"/>
                <a:sym typeface="Arial"/>
              </a:rPr>
              <a:t>counts / categories</a:t>
            </a:r>
            <a:endParaRPr b="0" i="0" sz="1250" u="none" cap="none" strike="noStrike">
              <a:solidFill>
                <a:schemeClr val="dk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152" name="Shape 152"/>
        <p:cNvGrpSpPr/>
        <p:nvPr/>
      </p:nvGrpSpPr>
      <p:grpSpPr>
        <a:xfrm>
          <a:off x="0" y="0"/>
          <a:ext cx="0" cy="0"/>
          <a:chOff x="0" y="0"/>
          <a:chExt cx="0" cy="0"/>
        </a:xfrm>
      </p:grpSpPr>
      <p:sp>
        <p:nvSpPr>
          <p:cNvPr id="153" name="Google Shape;153;p8"/>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8"/>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8"/>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8"/>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BASIC STATS</a:t>
            </a:r>
            <a:endParaRPr b="0" i="0" sz="900" u="none" cap="none" strike="noStrike">
              <a:solidFill>
                <a:schemeClr val="dk1"/>
              </a:solidFill>
              <a:latin typeface="Arial"/>
              <a:ea typeface="Arial"/>
              <a:cs typeface="Arial"/>
              <a:sym typeface="Arial"/>
            </a:endParaRPr>
          </a:p>
        </p:txBody>
      </p:sp>
      <p:sp>
        <p:nvSpPr>
          <p:cNvPr id="157" name="Google Shape;157;p8"/>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158" name="Google Shape;158;p8"/>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Mean, Median, and Range</a:t>
            </a:r>
            <a:endParaRPr b="0" i="0" sz="2800" u="none" cap="none" strike="noStrike">
              <a:solidFill>
                <a:schemeClr val="dk1"/>
              </a:solidFill>
              <a:latin typeface="Arial"/>
              <a:ea typeface="Arial"/>
              <a:cs typeface="Arial"/>
              <a:sym typeface="Arial"/>
            </a:endParaRPr>
          </a:p>
        </p:txBody>
      </p:sp>
      <p:sp>
        <p:nvSpPr>
          <p:cNvPr id="159" name="Google Shape;159;p8"/>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Simple summaries are often the most useful first analysis.</a:t>
            </a:r>
            <a:endParaRPr b="0" i="0" sz="1100" u="none" cap="none" strike="noStrike">
              <a:solidFill>
                <a:schemeClr val="dk1"/>
              </a:solidFill>
              <a:latin typeface="Arial"/>
              <a:ea typeface="Arial"/>
              <a:cs typeface="Arial"/>
              <a:sym typeface="Arial"/>
            </a:endParaRPr>
          </a:p>
        </p:txBody>
      </p:sp>
      <p:sp>
        <p:nvSpPr>
          <p:cNvPr id="161" name="Google Shape;161;p8"/>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06</a:t>
            </a:r>
            <a:endParaRPr b="0" i="0" sz="1700" u="none" cap="none" strike="noStrike">
              <a:solidFill>
                <a:schemeClr val="dk1"/>
              </a:solidFill>
              <a:latin typeface="Arial"/>
              <a:ea typeface="Arial"/>
              <a:cs typeface="Arial"/>
              <a:sym typeface="Arial"/>
            </a:endParaRPr>
          </a:p>
        </p:txBody>
      </p:sp>
      <p:sp>
        <p:nvSpPr>
          <p:cNvPr id="162" name="Google Shape;162;p8"/>
          <p:cNvSpPr/>
          <p:nvPr/>
        </p:nvSpPr>
        <p:spPr>
          <a:xfrm>
            <a:off x="868680" y="1828800"/>
            <a:ext cx="3200400" cy="2286000"/>
          </a:xfrm>
          <a:prstGeom prst="roundRect">
            <a:avLst>
              <a:gd fmla="val 2400" name="adj"/>
            </a:avLst>
          </a:prstGeom>
          <a:solidFill>
            <a:srgbClr val="1A1A1A"/>
          </a:solidFill>
          <a:ln cap="flat" cmpd="sng" w="12700">
            <a:solidFill>
              <a:srgbClr val="D71920">
                <a:alpha val="6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8"/>
          <p:cNvSpPr/>
          <p:nvPr/>
        </p:nvSpPr>
        <p:spPr>
          <a:xfrm>
            <a:off x="1033272" y="2084832"/>
            <a:ext cx="28346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71920"/>
              </a:buClr>
              <a:buSzPts val="2000"/>
              <a:buFont typeface="Arial"/>
              <a:buNone/>
            </a:pPr>
            <a:r>
              <a:rPr b="1" i="0" lang="en-US" sz="2000" u="none" cap="none" strike="noStrike">
                <a:solidFill>
                  <a:srgbClr val="D71920"/>
                </a:solidFill>
                <a:latin typeface="Arial"/>
                <a:ea typeface="Arial"/>
                <a:cs typeface="Arial"/>
                <a:sym typeface="Arial"/>
              </a:rPr>
              <a:t>Mean</a:t>
            </a:r>
            <a:endParaRPr b="0" i="0" sz="2000" u="none" cap="none" strike="noStrike">
              <a:solidFill>
                <a:schemeClr val="dk1"/>
              </a:solidFill>
              <a:latin typeface="Arial"/>
              <a:ea typeface="Arial"/>
              <a:cs typeface="Arial"/>
              <a:sym typeface="Arial"/>
            </a:endParaRPr>
          </a:p>
        </p:txBody>
      </p:sp>
      <p:sp>
        <p:nvSpPr>
          <p:cNvPr id="164" name="Google Shape;164;p8"/>
          <p:cNvSpPr/>
          <p:nvPr/>
        </p:nvSpPr>
        <p:spPr>
          <a:xfrm>
            <a:off x="1097280" y="2697480"/>
            <a:ext cx="2743200" cy="914400"/>
          </a:xfrm>
          <a:prstGeom prst="rect">
            <a:avLst/>
          </a:prstGeom>
          <a:noFill/>
          <a:ln>
            <a:noFill/>
          </a:ln>
        </p:spPr>
        <p:txBody>
          <a:bodyPr anchorCtr="0" anchor="ctr" bIns="250" lIns="250" spcFirstLastPara="1" rIns="250" wrap="square" tIns="250">
            <a:noAutofit/>
          </a:bodyPr>
          <a:lstStyle/>
          <a:p>
            <a:pPr indent="0" lvl="0" marL="0" marR="0" rtl="0" algn="ctr">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Useful for repeated measurements when values are reasonably consistent.</a:t>
            </a:r>
            <a:endParaRPr b="0" i="0" sz="1400" u="none" cap="none" strike="noStrike">
              <a:solidFill>
                <a:schemeClr val="dk1"/>
              </a:solidFill>
              <a:latin typeface="Arial"/>
              <a:ea typeface="Arial"/>
              <a:cs typeface="Arial"/>
              <a:sym typeface="Arial"/>
            </a:endParaRPr>
          </a:p>
        </p:txBody>
      </p:sp>
      <p:sp>
        <p:nvSpPr>
          <p:cNvPr id="165" name="Google Shape;165;p8"/>
          <p:cNvSpPr/>
          <p:nvPr/>
        </p:nvSpPr>
        <p:spPr>
          <a:xfrm>
            <a:off x="4617720" y="1828800"/>
            <a:ext cx="3200400" cy="2286000"/>
          </a:xfrm>
          <a:prstGeom prst="roundRect">
            <a:avLst>
              <a:gd fmla="val 2400" name="adj"/>
            </a:avLst>
          </a:prstGeom>
          <a:solidFill>
            <a:srgbClr val="1A1A1A"/>
          </a:solidFill>
          <a:ln cap="flat" cmpd="sng" w="12700">
            <a:solidFill>
              <a:srgbClr val="D71920">
                <a:alpha val="6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4782312" y="2084832"/>
            <a:ext cx="28346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71920"/>
              </a:buClr>
              <a:buSzPts val="2000"/>
              <a:buFont typeface="Arial"/>
              <a:buNone/>
            </a:pPr>
            <a:r>
              <a:rPr b="1" i="0" lang="en-US" sz="2000" u="none" cap="none" strike="noStrike">
                <a:solidFill>
                  <a:srgbClr val="D71920"/>
                </a:solidFill>
                <a:latin typeface="Arial"/>
                <a:ea typeface="Arial"/>
                <a:cs typeface="Arial"/>
                <a:sym typeface="Arial"/>
              </a:rPr>
              <a:t>Median</a:t>
            </a:r>
            <a:endParaRPr b="0" i="0" sz="2000" u="none" cap="none" strike="noStrike">
              <a:solidFill>
                <a:schemeClr val="dk1"/>
              </a:solidFill>
              <a:latin typeface="Arial"/>
              <a:ea typeface="Arial"/>
              <a:cs typeface="Arial"/>
              <a:sym typeface="Arial"/>
            </a:endParaRPr>
          </a:p>
        </p:txBody>
      </p:sp>
      <p:sp>
        <p:nvSpPr>
          <p:cNvPr id="167" name="Google Shape;167;p8"/>
          <p:cNvSpPr/>
          <p:nvPr/>
        </p:nvSpPr>
        <p:spPr>
          <a:xfrm>
            <a:off x="4846320" y="2697480"/>
            <a:ext cx="2743200" cy="914400"/>
          </a:xfrm>
          <a:prstGeom prst="rect">
            <a:avLst/>
          </a:prstGeom>
          <a:noFill/>
          <a:ln>
            <a:noFill/>
          </a:ln>
        </p:spPr>
        <p:txBody>
          <a:bodyPr anchorCtr="0" anchor="ctr" bIns="250" lIns="250" spcFirstLastPara="1" rIns="250" wrap="square" tIns="250">
            <a:noAutofit/>
          </a:bodyPr>
          <a:lstStyle/>
          <a:p>
            <a:pPr indent="0" lvl="0" marL="0" marR="0" rtl="0" algn="ctr">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Useful when one extreme value may distort the average.</a:t>
            </a:r>
            <a:endParaRPr b="0" i="0" sz="1400" u="none" cap="none" strike="noStrike">
              <a:solidFill>
                <a:schemeClr val="dk1"/>
              </a:solidFill>
              <a:latin typeface="Arial"/>
              <a:ea typeface="Arial"/>
              <a:cs typeface="Arial"/>
              <a:sym typeface="Arial"/>
            </a:endParaRPr>
          </a:p>
        </p:txBody>
      </p:sp>
      <p:sp>
        <p:nvSpPr>
          <p:cNvPr id="168" name="Google Shape;168;p8"/>
          <p:cNvSpPr/>
          <p:nvPr/>
        </p:nvSpPr>
        <p:spPr>
          <a:xfrm>
            <a:off x="8366760" y="1828800"/>
            <a:ext cx="3200400" cy="2286000"/>
          </a:xfrm>
          <a:prstGeom prst="roundRect">
            <a:avLst>
              <a:gd fmla="val 2400" name="adj"/>
            </a:avLst>
          </a:prstGeom>
          <a:solidFill>
            <a:srgbClr val="1A1A1A"/>
          </a:solidFill>
          <a:ln cap="flat" cmpd="sng" w="12700">
            <a:solidFill>
              <a:srgbClr val="D71920">
                <a:alpha val="6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8"/>
          <p:cNvSpPr/>
          <p:nvPr/>
        </p:nvSpPr>
        <p:spPr>
          <a:xfrm>
            <a:off x="8531352" y="2084832"/>
            <a:ext cx="28346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71920"/>
              </a:buClr>
              <a:buSzPts val="2000"/>
              <a:buFont typeface="Arial"/>
              <a:buNone/>
            </a:pPr>
            <a:r>
              <a:rPr b="1" i="0" lang="en-US" sz="2000" u="none" cap="none" strike="noStrike">
                <a:solidFill>
                  <a:srgbClr val="D71920"/>
                </a:solidFill>
                <a:latin typeface="Arial"/>
                <a:ea typeface="Arial"/>
                <a:cs typeface="Arial"/>
                <a:sym typeface="Arial"/>
              </a:rPr>
              <a:t>Range</a:t>
            </a:r>
            <a:endParaRPr b="0" i="0" sz="2000" u="none" cap="none" strike="noStrike">
              <a:solidFill>
                <a:schemeClr val="dk1"/>
              </a:solidFill>
              <a:latin typeface="Arial"/>
              <a:ea typeface="Arial"/>
              <a:cs typeface="Arial"/>
              <a:sym typeface="Arial"/>
            </a:endParaRPr>
          </a:p>
        </p:txBody>
      </p:sp>
      <p:sp>
        <p:nvSpPr>
          <p:cNvPr id="170" name="Google Shape;170;p8"/>
          <p:cNvSpPr/>
          <p:nvPr/>
        </p:nvSpPr>
        <p:spPr>
          <a:xfrm>
            <a:off x="8595360" y="2697480"/>
            <a:ext cx="2743200" cy="914400"/>
          </a:xfrm>
          <a:prstGeom prst="rect">
            <a:avLst/>
          </a:prstGeom>
          <a:noFill/>
          <a:ln>
            <a:noFill/>
          </a:ln>
        </p:spPr>
        <p:txBody>
          <a:bodyPr anchorCtr="0" anchor="ctr" bIns="250" lIns="250" spcFirstLastPara="1" rIns="250" wrap="square" tIns="250">
            <a:noAutofit/>
          </a:bodyPr>
          <a:lstStyle/>
          <a:p>
            <a:pPr indent="0" lvl="0" marL="0" marR="0" rtl="0" algn="ctr">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Shows the spread between highest and lowest values.</a:t>
            </a:r>
            <a:endParaRPr b="0" i="0" sz="1400" u="none" cap="none" strike="noStrike">
              <a:solidFill>
                <a:schemeClr val="dk1"/>
              </a:solidFill>
              <a:latin typeface="Arial"/>
              <a:ea typeface="Arial"/>
              <a:cs typeface="Arial"/>
              <a:sym typeface="Arial"/>
            </a:endParaRPr>
          </a:p>
        </p:txBody>
      </p:sp>
      <p:sp>
        <p:nvSpPr>
          <p:cNvPr id="171" name="Google Shape;171;p8"/>
          <p:cNvSpPr/>
          <p:nvPr/>
        </p:nvSpPr>
        <p:spPr>
          <a:xfrm>
            <a:off x="777240" y="5166360"/>
            <a:ext cx="10652760" cy="960120"/>
          </a:xfrm>
          <a:prstGeom prst="roundRect">
            <a:avLst>
              <a:gd fmla="val 7619" name="adj"/>
            </a:avLst>
          </a:prstGeom>
          <a:solidFill>
            <a:srgbClr val="151515"/>
          </a:solidFill>
          <a:ln cap="flat" cmpd="sng" w="12700">
            <a:solidFill>
              <a:srgbClr val="D71920">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8"/>
          <p:cNvSpPr/>
          <p:nvPr/>
        </p:nvSpPr>
        <p:spPr>
          <a:xfrm>
            <a:off x="1024128" y="5376672"/>
            <a:ext cx="1874520" cy="1463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850"/>
              <a:buFont typeface="Arial"/>
              <a:buNone/>
            </a:pPr>
            <a:r>
              <a:rPr b="1" i="0" lang="en-US" sz="850" u="none" cap="none" strike="noStrike">
                <a:solidFill>
                  <a:srgbClr val="D71920"/>
                </a:solidFill>
                <a:latin typeface="Arial"/>
                <a:ea typeface="Arial"/>
                <a:cs typeface="Arial"/>
                <a:sym typeface="Arial"/>
              </a:rPr>
              <a:t>STUDENT ACTIVITY</a:t>
            </a:r>
            <a:endParaRPr b="0" i="0" sz="850" u="none" cap="none" strike="noStrike">
              <a:solidFill>
                <a:schemeClr val="dk1"/>
              </a:solidFill>
              <a:latin typeface="Arial"/>
              <a:ea typeface="Arial"/>
              <a:cs typeface="Arial"/>
              <a:sym typeface="Arial"/>
            </a:endParaRPr>
          </a:p>
        </p:txBody>
      </p:sp>
      <p:sp>
        <p:nvSpPr>
          <p:cNvPr id="173" name="Google Shape;173;p8"/>
          <p:cNvSpPr/>
          <p:nvPr/>
        </p:nvSpPr>
        <p:spPr>
          <a:xfrm>
            <a:off x="1024128" y="5596128"/>
            <a:ext cx="42976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Calculation record</a:t>
            </a:r>
            <a:endParaRPr b="0" i="0" sz="1600" u="none" cap="none" strike="noStrike">
              <a:solidFill>
                <a:schemeClr val="dk1"/>
              </a:solidFill>
              <a:latin typeface="Arial"/>
              <a:ea typeface="Arial"/>
              <a:cs typeface="Arial"/>
              <a:sym typeface="Arial"/>
            </a:endParaRPr>
          </a:p>
        </p:txBody>
      </p:sp>
      <p:sp>
        <p:nvSpPr>
          <p:cNvPr id="174" name="Google Shape;174;p8"/>
          <p:cNvSpPr/>
          <p:nvPr/>
        </p:nvSpPr>
        <p:spPr>
          <a:xfrm>
            <a:off x="5349240" y="5468112"/>
            <a:ext cx="96012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8B8B8"/>
              </a:buClr>
              <a:buSzPts val="1200"/>
              <a:buFont typeface="Arial"/>
              <a:buNone/>
            </a:pPr>
            <a:r>
              <a:rPr b="1" i="0" lang="en-US" sz="1200" u="none" cap="none" strike="noStrike">
                <a:solidFill>
                  <a:srgbClr val="B8B8B8"/>
                </a:solidFill>
                <a:latin typeface="Arial"/>
                <a:ea typeface="Arial"/>
                <a:cs typeface="Arial"/>
                <a:sym typeface="Arial"/>
              </a:rPr>
              <a:t>6 MIN</a:t>
            </a:r>
            <a:endParaRPr b="0" i="0" sz="1200" u="none" cap="none" strike="noStrike">
              <a:solidFill>
                <a:schemeClr val="dk1"/>
              </a:solidFill>
              <a:latin typeface="Arial"/>
              <a:ea typeface="Arial"/>
              <a:cs typeface="Arial"/>
              <a:sym typeface="Arial"/>
            </a:endParaRPr>
          </a:p>
        </p:txBody>
      </p:sp>
      <p:sp>
        <p:nvSpPr>
          <p:cNvPr id="175" name="Google Shape;175;p8"/>
          <p:cNvSpPr/>
          <p:nvPr/>
        </p:nvSpPr>
        <p:spPr>
          <a:xfrm>
            <a:off x="6446520" y="5367528"/>
            <a:ext cx="4663440" cy="493776"/>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250"/>
              <a:buFont typeface="Arial"/>
              <a:buNone/>
            </a:pPr>
            <a:r>
              <a:rPr b="0" i="0" lang="en-US" sz="1250" u="none" cap="none" strike="noStrike">
                <a:solidFill>
                  <a:srgbClr val="B8B8B8"/>
                </a:solidFill>
                <a:latin typeface="Arial"/>
                <a:ea typeface="Arial"/>
                <a:cs typeface="Arial"/>
                <a:sym typeface="Arial"/>
              </a:rPr>
              <a:t>Use Handout 7 to document the first calculation you expect to make and what it represents.</a:t>
            </a:r>
            <a:endParaRPr b="0" i="0" sz="1250" u="none" cap="none" strike="noStrike">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180" name="Shape 180"/>
        <p:cNvGrpSpPr/>
        <p:nvPr/>
      </p:nvGrpSpPr>
      <p:grpSpPr>
        <a:xfrm>
          <a:off x="0" y="0"/>
          <a:ext cx="0" cy="0"/>
          <a:chOff x="0" y="0"/>
          <a:chExt cx="0" cy="0"/>
        </a:xfrm>
      </p:grpSpPr>
      <p:sp>
        <p:nvSpPr>
          <p:cNvPr id="181" name="Google Shape;181;p9"/>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9"/>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9"/>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9"/>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VARIABILITY</a:t>
            </a:r>
            <a:endParaRPr b="0" i="0" sz="900" u="none" cap="none" strike="noStrike">
              <a:solidFill>
                <a:schemeClr val="dk1"/>
              </a:solidFill>
              <a:latin typeface="Arial"/>
              <a:ea typeface="Arial"/>
              <a:cs typeface="Arial"/>
              <a:sym typeface="Arial"/>
            </a:endParaRPr>
          </a:p>
        </p:txBody>
      </p:sp>
      <p:sp>
        <p:nvSpPr>
          <p:cNvPr id="185" name="Google Shape;185;p9"/>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186" name="Google Shape;186;p9"/>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Variability: The Story Behind the Average</a:t>
            </a:r>
            <a:endParaRPr b="0" i="0" sz="2800" u="none" cap="none" strike="noStrike">
              <a:solidFill>
                <a:schemeClr val="dk1"/>
              </a:solidFill>
              <a:latin typeface="Arial"/>
              <a:ea typeface="Arial"/>
              <a:cs typeface="Arial"/>
              <a:sym typeface="Arial"/>
            </a:endParaRPr>
          </a:p>
        </p:txBody>
      </p:sp>
      <p:sp>
        <p:nvSpPr>
          <p:cNvPr id="187" name="Google Shape;187;p9"/>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9"/>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Two groups can have the same average and very different reliability.</a:t>
            </a:r>
            <a:endParaRPr b="0" i="0" sz="1100" u="none" cap="none" strike="noStrike">
              <a:solidFill>
                <a:schemeClr val="dk1"/>
              </a:solidFill>
              <a:latin typeface="Arial"/>
              <a:ea typeface="Arial"/>
              <a:cs typeface="Arial"/>
              <a:sym typeface="Arial"/>
            </a:endParaRPr>
          </a:p>
        </p:txBody>
      </p:sp>
      <p:sp>
        <p:nvSpPr>
          <p:cNvPr id="189" name="Google Shape;189;p9"/>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07</a:t>
            </a:r>
            <a:endParaRPr b="0" i="0" sz="1700" u="none" cap="none" strike="noStrike">
              <a:solidFill>
                <a:schemeClr val="dk1"/>
              </a:solidFill>
              <a:latin typeface="Arial"/>
              <a:ea typeface="Arial"/>
              <a:cs typeface="Arial"/>
              <a:sym typeface="Arial"/>
            </a:endParaRPr>
          </a:p>
        </p:txBody>
      </p:sp>
      <p:sp>
        <p:nvSpPr>
          <p:cNvPr id="190" name="Google Shape;190;p9"/>
          <p:cNvSpPr/>
          <p:nvPr/>
        </p:nvSpPr>
        <p:spPr>
          <a:xfrm>
            <a:off x="914400" y="1417320"/>
            <a:ext cx="100584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71920"/>
              </a:buClr>
              <a:buSzPts val="2200"/>
              <a:buFont typeface="Arial"/>
              <a:buNone/>
            </a:pPr>
            <a:r>
              <a:rPr b="1" i="0" lang="en-US" sz="2200" u="none" cap="none" strike="noStrike">
                <a:solidFill>
                  <a:srgbClr val="D71920"/>
                </a:solidFill>
                <a:latin typeface="Arial"/>
                <a:ea typeface="Arial"/>
                <a:cs typeface="Arial"/>
                <a:sym typeface="Arial"/>
              </a:rPr>
              <a:t>Same mean. Different spread.</a:t>
            </a:r>
            <a:endParaRPr b="0" i="0" sz="2200" u="none" cap="none" strike="noStrike">
              <a:solidFill>
                <a:schemeClr val="dk1"/>
              </a:solidFill>
              <a:latin typeface="Arial"/>
              <a:ea typeface="Arial"/>
              <a:cs typeface="Arial"/>
              <a:sym typeface="Arial"/>
            </a:endParaRPr>
          </a:p>
        </p:txBody>
      </p:sp>
      <p:sp>
        <p:nvSpPr>
          <p:cNvPr id="191" name="Google Shape;191;p9"/>
          <p:cNvSpPr/>
          <p:nvPr/>
        </p:nvSpPr>
        <p:spPr>
          <a:xfrm>
            <a:off x="1188720" y="2560320"/>
            <a:ext cx="1005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Group A</a:t>
            </a:r>
            <a:endParaRPr b="0" i="0" sz="1400" u="none" cap="none" strike="noStrike">
              <a:solidFill>
                <a:schemeClr val="dk1"/>
              </a:solidFill>
              <a:latin typeface="Arial"/>
              <a:ea typeface="Arial"/>
              <a:cs typeface="Arial"/>
              <a:sym typeface="Arial"/>
            </a:endParaRPr>
          </a:p>
        </p:txBody>
      </p:sp>
      <p:sp>
        <p:nvSpPr>
          <p:cNvPr id="192" name="Google Shape;192;p9"/>
          <p:cNvSpPr/>
          <p:nvPr/>
        </p:nvSpPr>
        <p:spPr>
          <a:xfrm>
            <a:off x="4206240" y="2743200"/>
            <a:ext cx="146304" cy="146304"/>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9"/>
          <p:cNvSpPr/>
          <p:nvPr/>
        </p:nvSpPr>
        <p:spPr>
          <a:xfrm>
            <a:off x="4434840" y="2743200"/>
            <a:ext cx="146304" cy="146304"/>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9"/>
          <p:cNvSpPr/>
          <p:nvPr/>
        </p:nvSpPr>
        <p:spPr>
          <a:xfrm>
            <a:off x="4663440" y="2743200"/>
            <a:ext cx="146304" cy="146304"/>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9"/>
          <p:cNvSpPr/>
          <p:nvPr/>
        </p:nvSpPr>
        <p:spPr>
          <a:xfrm>
            <a:off x="4892040" y="2743200"/>
            <a:ext cx="146304" cy="146304"/>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9"/>
          <p:cNvSpPr/>
          <p:nvPr/>
        </p:nvSpPr>
        <p:spPr>
          <a:xfrm>
            <a:off x="5120640" y="2743200"/>
            <a:ext cx="146304" cy="146304"/>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9"/>
          <p:cNvSpPr/>
          <p:nvPr/>
        </p:nvSpPr>
        <p:spPr>
          <a:xfrm>
            <a:off x="6400800" y="2514600"/>
            <a:ext cx="21031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400"/>
              <a:buFont typeface="Arial"/>
              <a:buNone/>
            </a:pPr>
            <a:r>
              <a:rPr b="0" i="0" lang="en-US" sz="1400" u="none" cap="none" strike="noStrike">
                <a:solidFill>
                  <a:srgbClr val="B8B8B8"/>
                </a:solidFill>
                <a:latin typeface="Arial"/>
                <a:ea typeface="Arial"/>
                <a:cs typeface="Arial"/>
                <a:sym typeface="Arial"/>
              </a:rPr>
              <a:t>tight spread</a:t>
            </a:r>
            <a:endParaRPr b="0" i="0" sz="1400" u="none" cap="none" strike="noStrike">
              <a:solidFill>
                <a:schemeClr val="dk1"/>
              </a:solidFill>
              <a:latin typeface="Arial"/>
              <a:ea typeface="Arial"/>
              <a:cs typeface="Arial"/>
              <a:sym typeface="Arial"/>
            </a:endParaRPr>
          </a:p>
        </p:txBody>
      </p:sp>
      <p:sp>
        <p:nvSpPr>
          <p:cNvPr id="198" name="Google Shape;198;p9"/>
          <p:cNvSpPr/>
          <p:nvPr/>
        </p:nvSpPr>
        <p:spPr>
          <a:xfrm>
            <a:off x="1188720" y="3794760"/>
            <a:ext cx="1005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Group B</a:t>
            </a:r>
            <a:endParaRPr b="0" i="0" sz="1400" u="none" cap="none" strike="noStrike">
              <a:solidFill>
                <a:schemeClr val="dk1"/>
              </a:solidFill>
              <a:latin typeface="Arial"/>
              <a:ea typeface="Arial"/>
              <a:cs typeface="Arial"/>
              <a:sym typeface="Arial"/>
            </a:endParaRPr>
          </a:p>
        </p:txBody>
      </p:sp>
      <p:sp>
        <p:nvSpPr>
          <p:cNvPr id="199" name="Google Shape;199;p9"/>
          <p:cNvSpPr/>
          <p:nvPr/>
        </p:nvSpPr>
        <p:spPr>
          <a:xfrm>
            <a:off x="3291840" y="3977640"/>
            <a:ext cx="146304" cy="146304"/>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9"/>
          <p:cNvSpPr/>
          <p:nvPr/>
        </p:nvSpPr>
        <p:spPr>
          <a:xfrm>
            <a:off x="3840480" y="3977640"/>
            <a:ext cx="146304" cy="146304"/>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9"/>
          <p:cNvSpPr/>
          <p:nvPr/>
        </p:nvSpPr>
        <p:spPr>
          <a:xfrm>
            <a:off x="4663440" y="3977640"/>
            <a:ext cx="146304" cy="146304"/>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9"/>
          <p:cNvSpPr/>
          <p:nvPr/>
        </p:nvSpPr>
        <p:spPr>
          <a:xfrm>
            <a:off x="5486400" y="3977640"/>
            <a:ext cx="146304" cy="146304"/>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9"/>
          <p:cNvSpPr/>
          <p:nvPr/>
        </p:nvSpPr>
        <p:spPr>
          <a:xfrm>
            <a:off x="6035040" y="3977640"/>
            <a:ext cx="146304" cy="146304"/>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9"/>
          <p:cNvSpPr/>
          <p:nvPr/>
        </p:nvSpPr>
        <p:spPr>
          <a:xfrm>
            <a:off x="6400800" y="3749040"/>
            <a:ext cx="21031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400"/>
              <a:buFont typeface="Arial"/>
              <a:buNone/>
            </a:pPr>
            <a:r>
              <a:rPr b="0" i="0" lang="en-US" sz="1400" u="none" cap="none" strike="noStrike">
                <a:solidFill>
                  <a:srgbClr val="B8B8B8"/>
                </a:solidFill>
                <a:latin typeface="Arial"/>
                <a:ea typeface="Arial"/>
                <a:cs typeface="Arial"/>
                <a:sym typeface="Arial"/>
              </a:rPr>
              <a:t>wide spread</a:t>
            </a:r>
            <a:endParaRPr b="0" i="0" sz="1400" u="none" cap="none" strike="noStrike">
              <a:solidFill>
                <a:schemeClr val="dk1"/>
              </a:solidFill>
              <a:latin typeface="Arial"/>
              <a:ea typeface="Arial"/>
              <a:cs typeface="Arial"/>
              <a:sym typeface="Arial"/>
            </a:endParaRPr>
          </a:p>
        </p:txBody>
      </p:sp>
      <p:cxnSp>
        <p:nvCxnSpPr>
          <p:cNvPr id="205" name="Google Shape;205;p9"/>
          <p:cNvCxnSpPr/>
          <p:nvPr/>
        </p:nvCxnSpPr>
        <p:spPr>
          <a:xfrm>
            <a:off x="2834640" y="4709160"/>
            <a:ext cx="4389120" cy="0"/>
          </a:xfrm>
          <a:prstGeom prst="straightConnector1">
            <a:avLst/>
          </a:prstGeom>
          <a:noFill/>
          <a:ln cap="flat" cmpd="sng" w="12700">
            <a:solidFill>
              <a:srgbClr val="B8B8B8"/>
            </a:solidFill>
            <a:prstDash val="solid"/>
            <a:round/>
            <a:headEnd len="sm" w="sm" type="none"/>
            <a:tailEnd len="sm" w="sm" type="none"/>
          </a:ln>
        </p:spPr>
      </p:cxnSp>
      <p:sp>
        <p:nvSpPr>
          <p:cNvPr id="206" name="Google Shape;206;p9"/>
          <p:cNvSpPr/>
          <p:nvPr/>
        </p:nvSpPr>
        <p:spPr>
          <a:xfrm>
            <a:off x="914400" y="5074920"/>
            <a:ext cx="100584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000"/>
              <a:buFont typeface="Arial"/>
              <a:buNone/>
            </a:pPr>
            <a:r>
              <a:rPr b="1" i="0" lang="en-US" sz="2000" u="none" cap="none" strike="noStrike">
                <a:solidFill>
                  <a:srgbClr val="FFFFFF"/>
                </a:solidFill>
                <a:latin typeface="Arial"/>
                <a:ea typeface="Arial"/>
                <a:cs typeface="Arial"/>
                <a:sym typeface="Arial"/>
              </a:rPr>
              <a:t>Variability affects confidence.</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211" name="Shape 211"/>
        <p:cNvGrpSpPr/>
        <p:nvPr/>
      </p:nvGrpSpPr>
      <p:grpSpPr>
        <a:xfrm>
          <a:off x="0" y="0"/>
          <a:ext cx="0" cy="0"/>
          <a:chOff x="0" y="0"/>
          <a:chExt cx="0" cy="0"/>
        </a:xfrm>
      </p:grpSpPr>
      <p:sp>
        <p:nvSpPr>
          <p:cNvPr id="212" name="Google Shape;212;p10"/>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0"/>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10"/>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CHANGE</a:t>
            </a:r>
            <a:endParaRPr b="0" i="0" sz="900" u="none" cap="none" strike="noStrike">
              <a:solidFill>
                <a:schemeClr val="dk1"/>
              </a:solidFill>
              <a:latin typeface="Arial"/>
              <a:ea typeface="Arial"/>
              <a:cs typeface="Arial"/>
              <a:sym typeface="Arial"/>
            </a:endParaRPr>
          </a:p>
        </p:txBody>
      </p:sp>
      <p:sp>
        <p:nvSpPr>
          <p:cNvPr id="216" name="Google Shape;216;p10"/>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217" name="Google Shape;217;p10"/>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Percent Change and Rates</a:t>
            </a:r>
            <a:endParaRPr b="0" i="0" sz="2800" u="none" cap="none" strike="noStrike">
              <a:solidFill>
                <a:schemeClr val="dk1"/>
              </a:solidFill>
              <a:latin typeface="Arial"/>
              <a:ea typeface="Arial"/>
              <a:cs typeface="Arial"/>
              <a:sym typeface="Arial"/>
            </a:endParaRPr>
          </a:p>
        </p:txBody>
      </p:sp>
      <p:sp>
        <p:nvSpPr>
          <p:cNvPr id="218" name="Google Shape;218;p10"/>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Use these when the question involves growth, loss, speed, or change over time.</a:t>
            </a:r>
            <a:endParaRPr b="0" i="0" sz="1100" u="none" cap="none" strike="noStrike">
              <a:solidFill>
                <a:schemeClr val="dk1"/>
              </a:solidFill>
              <a:latin typeface="Arial"/>
              <a:ea typeface="Arial"/>
              <a:cs typeface="Arial"/>
              <a:sym typeface="Arial"/>
            </a:endParaRPr>
          </a:p>
        </p:txBody>
      </p:sp>
      <p:sp>
        <p:nvSpPr>
          <p:cNvPr id="220" name="Google Shape;220;p10"/>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08</a:t>
            </a:r>
            <a:endParaRPr b="0" i="0" sz="1700" u="none" cap="none" strike="noStrike">
              <a:solidFill>
                <a:schemeClr val="dk1"/>
              </a:solidFill>
              <a:latin typeface="Arial"/>
              <a:ea typeface="Arial"/>
              <a:cs typeface="Arial"/>
              <a:sym typeface="Arial"/>
            </a:endParaRPr>
          </a:p>
        </p:txBody>
      </p:sp>
      <p:sp>
        <p:nvSpPr>
          <p:cNvPr id="221" name="Google Shape;221;p10"/>
          <p:cNvSpPr/>
          <p:nvPr/>
        </p:nvSpPr>
        <p:spPr>
          <a:xfrm>
            <a:off x="777240" y="1508760"/>
            <a:ext cx="5029200" cy="4069080"/>
          </a:xfrm>
          <a:prstGeom prst="roundRect">
            <a:avLst>
              <a:gd fmla="val 1798" name="adj"/>
            </a:avLst>
          </a:prstGeom>
          <a:solidFill>
            <a:srgbClr val="1A1A1A"/>
          </a:solidFill>
          <a:ln cap="flat" cmpd="sng" w="15225">
            <a:solidFill>
              <a:srgbClr val="D71920">
                <a:alpha val="65098"/>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0"/>
          <p:cNvSpPr/>
          <p:nvPr/>
        </p:nvSpPr>
        <p:spPr>
          <a:xfrm>
            <a:off x="1051560" y="178308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600"/>
              <a:buFont typeface="Arial"/>
              <a:buNone/>
            </a:pPr>
            <a:r>
              <a:rPr b="1" i="0" lang="en-US" sz="1600" u="none" cap="none" strike="noStrike">
                <a:solidFill>
                  <a:srgbClr val="D71920"/>
                </a:solidFill>
                <a:latin typeface="Arial"/>
                <a:ea typeface="Arial"/>
                <a:cs typeface="Arial"/>
                <a:sym typeface="Arial"/>
              </a:rPr>
              <a:t>Percent change</a:t>
            </a:r>
            <a:endParaRPr b="0" i="0" sz="1600" u="none" cap="none" strike="noStrike">
              <a:solidFill>
                <a:schemeClr val="dk1"/>
              </a:solidFill>
              <a:latin typeface="Arial"/>
              <a:ea typeface="Arial"/>
              <a:cs typeface="Arial"/>
              <a:sym typeface="Arial"/>
            </a:endParaRPr>
          </a:p>
        </p:txBody>
      </p:sp>
      <p:sp>
        <p:nvSpPr>
          <p:cNvPr id="223" name="Google Shape;223;p10"/>
          <p:cNvSpPr/>
          <p:nvPr/>
        </p:nvSpPr>
        <p:spPr>
          <a:xfrm>
            <a:off x="1097280" y="2377440"/>
            <a:ext cx="4297680" cy="20116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((new − original) / original) × 100</a:t>
            </a:r>
            <a:endParaRPr b="0" i="0" sz="15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Useful when comparing relative increase or decrease.</a:t>
            </a:r>
            <a:endParaRPr b="0" i="0" sz="1500" u="none" cap="none" strike="noStrike">
              <a:solidFill>
                <a:schemeClr val="dk1"/>
              </a:solidFill>
              <a:latin typeface="Arial"/>
              <a:ea typeface="Arial"/>
              <a:cs typeface="Arial"/>
              <a:sym typeface="Arial"/>
            </a:endParaRPr>
          </a:p>
        </p:txBody>
      </p:sp>
      <p:sp>
        <p:nvSpPr>
          <p:cNvPr id="224" name="Google Shape;224;p10"/>
          <p:cNvSpPr/>
          <p:nvPr/>
        </p:nvSpPr>
        <p:spPr>
          <a:xfrm>
            <a:off x="6355080" y="1508760"/>
            <a:ext cx="5029200" cy="4069080"/>
          </a:xfrm>
          <a:prstGeom prst="roundRect">
            <a:avLst>
              <a:gd fmla="val 1798" name="adj"/>
            </a:avLst>
          </a:prstGeom>
          <a:solidFill>
            <a:srgbClr val="1A1A1A"/>
          </a:solidFill>
          <a:ln cap="flat" cmpd="sng" w="15225">
            <a:solidFill>
              <a:srgbClr val="D71920">
                <a:alpha val="65098"/>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0"/>
          <p:cNvSpPr/>
          <p:nvPr/>
        </p:nvSpPr>
        <p:spPr>
          <a:xfrm>
            <a:off x="6629400" y="178308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600"/>
              <a:buFont typeface="Arial"/>
              <a:buNone/>
            </a:pPr>
            <a:r>
              <a:rPr b="1" i="0" lang="en-US" sz="1600" u="none" cap="none" strike="noStrike">
                <a:solidFill>
                  <a:srgbClr val="D71920"/>
                </a:solidFill>
                <a:latin typeface="Arial"/>
                <a:ea typeface="Arial"/>
                <a:cs typeface="Arial"/>
                <a:sym typeface="Arial"/>
              </a:rPr>
              <a:t>Rate</a:t>
            </a:r>
            <a:endParaRPr b="0" i="0" sz="1600" u="none" cap="none" strike="noStrike">
              <a:solidFill>
                <a:schemeClr val="dk1"/>
              </a:solidFill>
              <a:latin typeface="Arial"/>
              <a:ea typeface="Arial"/>
              <a:cs typeface="Arial"/>
              <a:sym typeface="Arial"/>
            </a:endParaRPr>
          </a:p>
        </p:txBody>
      </p:sp>
      <p:sp>
        <p:nvSpPr>
          <p:cNvPr id="226" name="Google Shape;226;p10"/>
          <p:cNvSpPr/>
          <p:nvPr/>
        </p:nvSpPr>
        <p:spPr>
          <a:xfrm>
            <a:off x="6675120" y="2377440"/>
            <a:ext cx="4297680" cy="20116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change ÷ time</a:t>
            </a:r>
            <a:endParaRPr b="0" i="0" sz="15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Useful when the speed of change matters.</a:t>
            </a:r>
            <a:endParaRPr b="0" i="0" sz="1500" u="none" cap="none" strike="noStrike">
              <a:solidFill>
                <a:schemeClr val="dk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231" name="Shape 231"/>
        <p:cNvGrpSpPr/>
        <p:nvPr/>
      </p:nvGrpSpPr>
      <p:grpSpPr>
        <a:xfrm>
          <a:off x="0" y="0"/>
          <a:ext cx="0" cy="0"/>
          <a:chOff x="0" y="0"/>
          <a:chExt cx="0" cy="0"/>
        </a:xfrm>
      </p:grpSpPr>
      <p:sp>
        <p:nvSpPr>
          <p:cNvPr id="232" name="Google Shape;232;p11"/>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1"/>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1"/>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1"/>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ENGINEERING</a:t>
            </a:r>
            <a:endParaRPr b="0" i="0" sz="900" u="none" cap="none" strike="noStrike">
              <a:solidFill>
                <a:schemeClr val="dk1"/>
              </a:solidFill>
              <a:latin typeface="Arial"/>
              <a:ea typeface="Arial"/>
              <a:cs typeface="Arial"/>
              <a:sym typeface="Arial"/>
            </a:endParaRPr>
          </a:p>
        </p:txBody>
      </p:sp>
      <p:sp>
        <p:nvSpPr>
          <p:cNvPr id="236" name="Google Shape;236;p11"/>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237" name="Google Shape;237;p11"/>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Ratios and Efficiency Metrics</a:t>
            </a:r>
            <a:endParaRPr b="0" i="0" sz="2800" u="none" cap="none" strike="noStrike">
              <a:solidFill>
                <a:schemeClr val="dk1"/>
              </a:solidFill>
              <a:latin typeface="Arial"/>
              <a:ea typeface="Arial"/>
              <a:cs typeface="Arial"/>
              <a:sym typeface="Arial"/>
            </a:endParaRPr>
          </a:p>
        </p:txBody>
      </p:sp>
      <p:sp>
        <p:nvSpPr>
          <p:cNvPr id="238" name="Google Shape;238;p11"/>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1"/>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Engineering analysis often asks: how much performance per constraint?</a:t>
            </a:r>
            <a:endParaRPr b="0" i="0" sz="1100" u="none" cap="none" strike="noStrike">
              <a:solidFill>
                <a:schemeClr val="dk1"/>
              </a:solidFill>
              <a:latin typeface="Arial"/>
              <a:ea typeface="Arial"/>
              <a:cs typeface="Arial"/>
              <a:sym typeface="Arial"/>
            </a:endParaRPr>
          </a:p>
        </p:txBody>
      </p:sp>
      <p:sp>
        <p:nvSpPr>
          <p:cNvPr id="240" name="Google Shape;240;p11"/>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09</a:t>
            </a:r>
            <a:endParaRPr b="0" i="0" sz="1700" u="none" cap="none" strike="noStrike">
              <a:solidFill>
                <a:schemeClr val="dk1"/>
              </a:solidFill>
              <a:latin typeface="Arial"/>
              <a:ea typeface="Arial"/>
              <a:cs typeface="Arial"/>
              <a:sym typeface="Arial"/>
            </a:endParaRPr>
          </a:p>
        </p:txBody>
      </p:sp>
      <p:sp>
        <p:nvSpPr>
          <p:cNvPr id="241" name="Google Shape;241;p11"/>
          <p:cNvSpPr/>
          <p:nvPr/>
        </p:nvSpPr>
        <p:spPr>
          <a:xfrm>
            <a:off x="960120" y="1600200"/>
            <a:ext cx="4754880" cy="777240"/>
          </a:xfrm>
          <a:prstGeom prst="roundRect">
            <a:avLst>
              <a:gd fmla="val 4706" name="adj"/>
            </a:avLst>
          </a:prstGeom>
          <a:solidFill>
            <a:srgbClr val="1A1A1A"/>
          </a:solidFill>
          <a:ln cap="flat" cmpd="sng" w="9525">
            <a:solidFill>
              <a:srgbClr val="D71920">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1"/>
          <p:cNvSpPr/>
          <p:nvPr/>
        </p:nvSpPr>
        <p:spPr>
          <a:xfrm>
            <a:off x="1124712" y="1746504"/>
            <a:ext cx="20116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400"/>
              <a:buFont typeface="Arial"/>
              <a:buNone/>
            </a:pPr>
            <a:r>
              <a:rPr b="1" i="0" lang="en-US" sz="1400" u="none" cap="none" strike="noStrike">
                <a:solidFill>
                  <a:srgbClr val="D71920"/>
                </a:solidFill>
                <a:latin typeface="Arial"/>
                <a:ea typeface="Arial"/>
                <a:cs typeface="Arial"/>
                <a:sym typeface="Arial"/>
              </a:rPr>
              <a:t>Load per gram</a:t>
            </a:r>
            <a:endParaRPr b="0" i="0" sz="1400" u="none" cap="none" strike="noStrike">
              <a:solidFill>
                <a:schemeClr val="dk1"/>
              </a:solidFill>
              <a:latin typeface="Arial"/>
              <a:ea typeface="Arial"/>
              <a:cs typeface="Arial"/>
              <a:sym typeface="Arial"/>
            </a:endParaRPr>
          </a:p>
        </p:txBody>
      </p:sp>
      <p:sp>
        <p:nvSpPr>
          <p:cNvPr id="243" name="Google Shape;243;p11"/>
          <p:cNvSpPr/>
          <p:nvPr/>
        </p:nvSpPr>
        <p:spPr>
          <a:xfrm>
            <a:off x="3291840" y="1728216"/>
            <a:ext cx="21488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50"/>
              <a:buFont typeface="Arial"/>
              <a:buNone/>
            </a:pPr>
            <a:r>
              <a:rPr b="0" i="0" lang="en-US" sz="1150" u="none" cap="none" strike="noStrike">
                <a:solidFill>
                  <a:srgbClr val="FFFFFF"/>
                </a:solidFill>
                <a:latin typeface="Arial"/>
                <a:ea typeface="Arial"/>
                <a:cs typeface="Arial"/>
                <a:sym typeface="Arial"/>
              </a:rPr>
              <a:t>bridge strength while controlling for mass</a:t>
            </a:r>
            <a:endParaRPr b="0" i="0" sz="1150" u="none" cap="none" strike="noStrike">
              <a:solidFill>
                <a:schemeClr val="dk1"/>
              </a:solidFill>
              <a:latin typeface="Arial"/>
              <a:ea typeface="Arial"/>
              <a:cs typeface="Arial"/>
              <a:sym typeface="Arial"/>
            </a:endParaRPr>
          </a:p>
        </p:txBody>
      </p:sp>
      <p:sp>
        <p:nvSpPr>
          <p:cNvPr id="244" name="Google Shape;244;p11"/>
          <p:cNvSpPr/>
          <p:nvPr/>
        </p:nvSpPr>
        <p:spPr>
          <a:xfrm>
            <a:off x="6355080" y="1600200"/>
            <a:ext cx="4754880" cy="777240"/>
          </a:xfrm>
          <a:prstGeom prst="roundRect">
            <a:avLst>
              <a:gd fmla="val 4706" name="adj"/>
            </a:avLst>
          </a:prstGeom>
          <a:solidFill>
            <a:srgbClr val="1A1A1A"/>
          </a:solidFill>
          <a:ln cap="flat" cmpd="sng" w="9525">
            <a:solidFill>
              <a:srgbClr val="D71920">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6519672" y="1746504"/>
            <a:ext cx="20116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400"/>
              <a:buFont typeface="Arial"/>
              <a:buNone/>
            </a:pPr>
            <a:r>
              <a:rPr b="1" i="0" lang="en-US" sz="1400" u="none" cap="none" strike="noStrike">
                <a:solidFill>
                  <a:srgbClr val="D71920"/>
                </a:solidFill>
                <a:latin typeface="Arial"/>
                <a:ea typeface="Arial"/>
                <a:cs typeface="Arial"/>
                <a:sym typeface="Arial"/>
              </a:rPr>
              <a:t>Voltage per blade mass</a:t>
            </a:r>
            <a:endParaRPr b="0" i="0" sz="1400" u="none" cap="none" strike="noStrike">
              <a:solidFill>
                <a:schemeClr val="dk1"/>
              </a:solidFill>
              <a:latin typeface="Arial"/>
              <a:ea typeface="Arial"/>
              <a:cs typeface="Arial"/>
              <a:sym typeface="Arial"/>
            </a:endParaRPr>
          </a:p>
        </p:txBody>
      </p:sp>
      <p:sp>
        <p:nvSpPr>
          <p:cNvPr id="246" name="Google Shape;246;p11"/>
          <p:cNvSpPr/>
          <p:nvPr/>
        </p:nvSpPr>
        <p:spPr>
          <a:xfrm>
            <a:off x="8686800" y="1728216"/>
            <a:ext cx="21488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50"/>
              <a:buFont typeface="Arial"/>
              <a:buNone/>
            </a:pPr>
            <a:r>
              <a:rPr b="0" i="0" lang="en-US" sz="1150" u="none" cap="none" strike="noStrike">
                <a:solidFill>
                  <a:srgbClr val="FFFFFF"/>
                </a:solidFill>
                <a:latin typeface="Arial"/>
                <a:ea typeface="Arial"/>
                <a:cs typeface="Arial"/>
                <a:sym typeface="Arial"/>
              </a:rPr>
              <a:t>turbine output while considering material use</a:t>
            </a:r>
            <a:endParaRPr b="0" i="0" sz="1150" u="none" cap="none" strike="noStrike">
              <a:solidFill>
                <a:schemeClr val="dk1"/>
              </a:solidFill>
              <a:latin typeface="Arial"/>
              <a:ea typeface="Arial"/>
              <a:cs typeface="Arial"/>
              <a:sym typeface="Arial"/>
            </a:endParaRPr>
          </a:p>
        </p:txBody>
      </p:sp>
      <p:sp>
        <p:nvSpPr>
          <p:cNvPr id="247" name="Google Shape;247;p11"/>
          <p:cNvSpPr/>
          <p:nvPr/>
        </p:nvSpPr>
        <p:spPr>
          <a:xfrm>
            <a:off x="960120" y="2697480"/>
            <a:ext cx="4754880" cy="777240"/>
          </a:xfrm>
          <a:prstGeom prst="roundRect">
            <a:avLst>
              <a:gd fmla="val 4706" name="adj"/>
            </a:avLst>
          </a:prstGeom>
          <a:solidFill>
            <a:srgbClr val="1A1A1A"/>
          </a:solidFill>
          <a:ln cap="flat" cmpd="sng" w="9525">
            <a:solidFill>
              <a:srgbClr val="D71920">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1"/>
          <p:cNvSpPr/>
          <p:nvPr/>
        </p:nvSpPr>
        <p:spPr>
          <a:xfrm>
            <a:off x="1124712" y="2843784"/>
            <a:ext cx="20116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400"/>
              <a:buFont typeface="Arial"/>
              <a:buNone/>
            </a:pPr>
            <a:r>
              <a:rPr b="1" i="0" lang="en-US" sz="1400" u="none" cap="none" strike="noStrike">
                <a:solidFill>
                  <a:srgbClr val="D71920"/>
                </a:solidFill>
                <a:latin typeface="Arial"/>
                <a:ea typeface="Arial"/>
                <a:cs typeface="Arial"/>
                <a:sym typeface="Arial"/>
              </a:rPr>
              <a:t>Accuracy percentage</a:t>
            </a:r>
            <a:endParaRPr b="0" i="0" sz="1400" u="none" cap="none" strike="noStrike">
              <a:solidFill>
                <a:schemeClr val="dk1"/>
              </a:solidFill>
              <a:latin typeface="Arial"/>
              <a:ea typeface="Arial"/>
              <a:cs typeface="Arial"/>
              <a:sym typeface="Arial"/>
            </a:endParaRPr>
          </a:p>
        </p:txBody>
      </p:sp>
      <p:sp>
        <p:nvSpPr>
          <p:cNvPr id="249" name="Google Shape;249;p11"/>
          <p:cNvSpPr/>
          <p:nvPr/>
        </p:nvSpPr>
        <p:spPr>
          <a:xfrm>
            <a:off x="3291840" y="2825496"/>
            <a:ext cx="21488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50"/>
              <a:buFont typeface="Arial"/>
              <a:buNone/>
            </a:pPr>
            <a:r>
              <a:rPr b="0" i="0" lang="en-US" sz="1150" u="none" cap="none" strike="noStrike">
                <a:solidFill>
                  <a:srgbClr val="FFFFFF"/>
                </a:solidFill>
                <a:latin typeface="Arial"/>
                <a:ea typeface="Arial"/>
                <a:cs typeface="Arial"/>
                <a:sym typeface="Arial"/>
              </a:rPr>
              <a:t>robot, model, or sensor success rate</a:t>
            </a:r>
            <a:endParaRPr b="0" i="0" sz="1150" u="none" cap="none" strike="noStrike">
              <a:solidFill>
                <a:schemeClr val="dk1"/>
              </a:solidFill>
              <a:latin typeface="Arial"/>
              <a:ea typeface="Arial"/>
              <a:cs typeface="Arial"/>
              <a:sym typeface="Arial"/>
            </a:endParaRPr>
          </a:p>
        </p:txBody>
      </p:sp>
      <p:sp>
        <p:nvSpPr>
          <p:cNvPr id="250" name="Google Shape;250;p11"/>
          <p:cNvSpPr/>
          <p:nvPr/>
        </p:nvSpPr>
        <p:spPr>
          <a:xfrm>
            <a:off x="6355080" y="2697480"/>
            <a:ext cx="4754880" cy="777240"/>
          </a:xfrm>
          <a:prstGeom prst="roundRect">
            <a:avLst>
              <a:gd fmla="val 4706" name="adj"/>
            </a:avLst>
          </a:prstGeom>
          <a:solidFill>
            <a:srgbClr val="1A1A1A"/>
          </a:solidFill>
          <a:ln cap="flat" cmpd="sng" w="9525">
            <a:solidFill>
              <a:srgbClr val="D71920">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6519672" y="2843784"/>
            <a:ext cx="20116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400"/>
              <a:buFont typeface="Arial"/>
              <a:buNone/>
            </a:pPr>
            <a:r>
              <a:rPr b="1" i="0" lang="en-US" sz="1400" u="none" cap="none" strike="noStrike">
                <a:solidFill>
                  <a:srgbClr val="D71920"/>
                </a:solidFill>
                <a:latin typeface="Arial"/>
                <a:ea typeface="Arial"/>
                <a:cs typeface="Arial"/>
                <a:sym typeface="Arial"/>
              </a:rPr>
              <a:t>Cost per performance unit</a:t>
            </a:r>
            <a:endParaRPr b="0" i="0" sz="1400" u="none" cap="none" strike="noStrike">
              <a:solidFill>
                <a:schemeClr val="dk1"/>
              </a:solidFill>
              <a:latin typeface="Arial"/>
              <a:ea typeface="Arial"/>
              <a:cs typeface="Arial"/>
              <a:sym typeface="Arial"/>
            </a:endParaRPr>
          </a:p>
        </p:txBody>
      </p:sp>
      <p:sp>
        <p:nvSpPr>
          <p:cNvPr id="252" name="Google Shape;252;p11"/>
          <p:cNvSpPr/>
          <p:nvPr/>
        </p:nvSpPr>
        <p:spPr>
          <a:xfrm>
            <a:off x="8686800" y="2825496"/>
            <a:ext cx="21488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50"/>
              <a:buFont typeface="Arial"/>
              <a:buNone/>
            </a:pPr>
            <a:r>
              <a:rPr b="0" i="0" lang="en-US" sz="1150" u="none" cap="none" strike="noStrike">
                <a:solidFill>
                  <a:srgbClr val="FFFFFF"/>
                </a:solidFill>
                <a:latin typeface="Arial"/>
                <a:ea typeface="Arial"/>
                <a:cs typeface="Arial"/>
                <a:sym typeface="Arial"/>
              </a:rPr>
              <a:t>useful when budget is a constraint</a:t>
            </a:r>
            <a:endParaRPr b="0" i="0" sz="1150" u="none" cap="none" strike="noStrike">
              <a:solidFill>
                <a:schemeClr val="dk1"/>
              </a:solidFill>
              <a:latin typeface="Arial"/>
              <a:ea typeface="Arial"/>
              <a:cs typeface="Arial"/>
              <a:sym typeface="Arial"/>
            </a:endParaRPr>
          </a:p>
        </p:txBody>
      </p:sp>
      <p:sp>
        <p:nvSpPr>
          <p:cNvPr id="253" name="Google Shape;253;p11"/>
          <p:cNvSpPr/>
          <p:nvPr/>
        </p:nvSpPr>
        <p:spPr>
          <a:xfrm>
            <a:off x="777240" y="5166360"/>
            <a:ext cx="10652760" cy="960120"/>
          </a:xfrm>
          <a:prstGeom prst="roundRect">
            <a:avLst>
              <a:gd fmla="val 7619" name="adj"/>
            </a:avLst>
          </a:prstGeom>
          <a:solidFill>
            <a:srgbClr val="151515"/>
          </a:solidFill>
          <a:ln cap="flat" cmpd="sng" w="12700">
            <a:solidFill>
              <a:srgbClr val="D71920">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1"/>
          <p:cNvSpPr/>
          <p:nvPr/>
        </p:nvSpPr>
        <p:spPr>
          <a:xfrm>
            <a:off x="1024128" y="5376672"/>
            <a:ext cx="1874520" cy="1463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850"/>
              <a:buFont typeface="Arial"/>
              <a:buNone/>
            </a:pPr>
            <a:r>
              <a:rPr b="1" i="0" lang="en-US" sz="850" u="none" cap="none" strike="noStrike">
                <a:solidFill>
                  <a:srgbClr val="D71920"/>
                </a:solidFill>
                <a:latin typeface="Arial"/>
                <a:ea typeface="Arial"/>
                <a:cs typeface="Arial"/>
                <a:sym typeface="Arial"/>
              </a:rPr>
              <a:t>STUDENT ACTIVITY</a:t>
            </a:r>
            <a:endParaRPr b="0" i="0" sz="850" u="none" cap="none" strike="noStrike">
              <a:solidFill>
                <a:schemeClr val="dk1"/>
              </a:solidFill>
              <a:latin typeface="Arial"/>
              <a:ea typeface="Arial"/>
              <a:cs typeface="Arial"/>
              <a:sym typeface="Arial"/>
            </a:endParaRPr>
          </a:p>
        </p:txBody>
      </p:sp>
      <p:sp>
        <p:nvSpPr>
          <p:cNvPr id="255" name="Google Shape;255;p11"/>
          <p:cNvSpPr/>
          <p:nvPr/>
        </p:nvSpPr>
        <p:spPr>
          <a:xfrm>
            <a:off x="1024128" y="5596128"/>
            <a:ext cx="42976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Define “best”</a:t>
            </a:r>
            <a:endParaRPr b="0" i="0" sz="1600" u="none" cap="none" strike="noStrike">
              <a:solidFill>
                <a:schemeClr val="dk1"/>
              </a:solidFill>
              <a:latin typeface="Arial"/>
              <a:ea typeface="Arial"/>
              <a:cs typeface="Arial"/>
              <a:sym typeface="Arial"/>
            </a:endParaRPr>
          </a:p>
        </p:txBody>
      </p:sp>
      <p:sp>
        <p:nvSpPr>
          <p:cNvPr id="256" name="Google Shape;256;p11"/>
          <p:cNvSpPr/>
          <p:nvPr/>
        </p:nvSpPr>
        <p:spPr>
          <a:xfrm>
            <a:off x="5349240" y="5468112"/>
            <a:ext cx="96012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8B8B8"/>
              </a:buClr>
              <a:buSzPts val="1200"/>
              <a:buFont typeface="Arial"/>
              <a:buNone/>
            </a:pPr>
            <a:r>
              <a:rPr b="1" i="0" lang="en-US" sz="1200" u="none" cap="none" strike="noStrike">
                <a:solidFill>
                  <a:srgbClr val="B8B8B8"/>
                </a:solidFill>
                <a:latin typeface="Arial"/>
                <a:ea typeface="Arial"/>
                <a:cs typeface="Arial"/>
                <a:sym typeface="Arial"/>
              </a:rPr>
              <a:t>5 MIN</a:t>
            </a:r>
            <a:endParaRPr b="0" i="0" sz="1200" u="none" cap="none" strike="noStrike">
              <a:solidFill>
                <a:schemeClr val="dk1"/>
              </a:solidFill>
              <a:latin typeface="Arial"/>
              <a:ea typeface="Arial"/>
              <a:cs typeface="Arial"/>
              <a:sym typeface="Arial"/>
            </a:endParaRPr>
          </a:p>
        </p:txBody>
      </p:sp>
      <p:sp>
        <p:nvSpPr>
          <p:cNvPr id="257" name="Google Shape;257;p11"/>
          <p:cNvSpPr/>
          <p:nvPr/>
        </p:nvSpPr>
        <p:spPr>
          <a:xfrm>
            <a:off x="6446520" y="5367528"/>
            <a:ext cx="4663440" cy="493776"/>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250"/>
              <a:buFont typeface="Arial"/>
              <a:buNone/>
            </a:pPr>
            <a:r>
              <a:rPr b="0" i="0" lang="en-US" sz="1250" u="none" cap="none" strike="noStrike">
                <a:solidFill>
                  <a:srgbClr val="B8B8B8"/>
                </a:solidFill>
                <a:latin typeface="Arial"/>
                <a:ea typeface="Arial"/>
                <a:cs typeface="Arial"/>
                <a:sym typeface="Arial"/>
              </a:rPr>
              <a:t>Write the performance metric that would let someone compare your design versions fairly.</a:t>
            </a:r>
            <a:endParaRPr b="0" i="0" sz="1250" u="none" cap="none" strike="noStrike">
              <a:solidFill>
                <a:schemeClr val="dk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262" name="Shape 262"/>
        <p:cNvGrpSpPr/>
        <p:nvPr/>
      </p:nvGrpSpPr>
      <p:grpSpPr>
        <a:xfrm>
          <a:off x="0" y="0"/>
          <a:ext cx="0" cy="0"/>
          <a:chOff x="0" y="0"/>
          <a:chExt cx="0" cy="0"/>
        </a:xfrm>
      </p:grpSpPr>
      <p:sp>
        <p:nvSpPr>
          <p:cNvPr id="263" name="Google Shape;263;p12"/>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2"/>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2"/>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2"/>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TRENDS</a:t>
            </a:r>
            <a:endParaRPr b="0" i="0" sz="900" u="none" cap="none" strike="noStrike">
              <a:solidFill>
                <a:schemeClr val="dk1"/>
              </a:solidFill>
              <a:latin typeface="Arial"/>
              <a:ea typeface="Arial"/>
              <a:cs typeface="Arial"/>
              <a:sym typeface="Arial"/>
            </a:endParaRPr>
          </a:p>
        </p:txBody>
      </p:sp>
      <p:sp>
        <p:nvSpPr>
          <p:cNvPr id="267" name="Google Shape;267;p12"/>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268" name="Google Shape;268;p12"/>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Slope, Trendlines, and Relationships</a:t>
            </a:r>
            <a:endParaRPr b="0" i="0" sz="2800" u="none" cap="none" strike="noStrike">
              <a:solidFill>
                <a:schemeClr val="dk1"/>
              </a:solidFill>
              <a:latin typeface="Arial"/>
              <a:ea typeface="Arial"/>
              <a:cs typeface="Arial"/>
              <a:sym typeface="Arial"/>
            </a:endParaRPr>
          </a:p>
        </p:txBody>
      </p:sp>
      <p:sp>
        <p:nvSpPr>
          <p:cNvPr id="269" name="Google Shape;269;p12"/>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2"/>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Use these when two numerical variables may be connected.</a:t>
            </a:r>
            <a:endParaRPr b="0" i="0" sz="1100" u="none" cap="none" strike="noStrike">
              <a:solidFill>
                <a:schemeClr val="dk1"/>
              </a:solidFill>
              <a:latin typeface="Arial"/>
              <a:ea typeface="Arial"/>
              <a:cs typeface="Arial"/>
              <a:sym typeface="Arial"/>
            </a:endParaRPr>
          </a:p>
        </p:txBody>
      </p:sp>
      <p:sp>
        <p:nvSpPr>
          <p:cNvPr id="271" name="Google Shape;271;p12"/>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10</a:t>
            </a:r>
            <a:endParaRPr b="0" i="0" sz="1700" u="none" cap="none" strike="noStrike">
              <a:solidFill>
                <a:schemeClr val="dk1"/>
              </a:solidFill>
              <a:latin typeface="Arial"/>
              <a:ea typeface="Arial"/>
              <a:cs typeface="Arial"/>
              <a:sym typeface="Arial"/>
            </a:endParaRPr>
          </a:p>
        </p:txBody>
      </p:sp>
      <p:cxnSp>
        <p:nvCxnSpPr>
          <p:cNvPr id="272" name="Google Shape;272;p12"/>
          <p:cNvCxnSpPr/>
          <p:nvPr/>
        </p:nvCxnSpPr>
        <p:spPr>
          <a:xfrm>
            <a:off x="1920240" y="4892040"/>
            <a:ext cx="7863840" cy="0"/>
          </a:xfrm>
          <a:prstGeom prst="straightConnector1">
            <a:avLst/>
          </a:prstGeom>
          <a:noFill/>
          <a:ln cap="flat" cmpd="sng" w="15225">
            <a:solidFill>
              <a:srgbClr val="B8B8B8"/>
            </a:solidFill>
            <a:prstDash val="solid"/>
            <a:round/>
            <a:headEnd len="sm" w="sm" type="none"/>
            <a:tailEnd len="sm" w="sm" type="none"/>
          </a:ln>
        </p:spPr>
      </p:cxnSp>
      <p:cxnSp>
        <p:nvCxnSpPr>
          <p:cNvPr id="273" name="Google Shape;273;p12"/>
          <p:cNvCxnSpPr/>
          <p:nvPr/>
        </p:nvCxnSpPr>
        <p:spPr>
          <a:xfrm rot="10800000">
            <a:off x="1920240" y="1874520"/>
            <a:ext cx="0" cy="3017520"/>
          </a:xfrm>
          <a:prstGeom prst="straightConnector1">
            <a:avLst/>
          </a:prstGeom>
          <a:noFill/>
          <a:ln cap="flat" cmpd="sng" w="15225">
            <a:solidFill>
              <a:srgbClr val="B8B8B8"/>
            </a:solidFill>
            <a:prstDash val="solid"/>
            <a:round/>
            <a:headEnd len="sm" w="sm" type="none"/>
            <a:tailEnd len="sm" w="sm" type="none"/>
          </a:ln>
        </p:spPr>
      </p:cxnSp>
      <p:sp>
        <p:nvSpPr>
          <p:cNvPr id="274" name="Google Shape;274;p12"/>
          <p:cNvSpPr/>
          <p:nvPr/>
        </p:nvSpPr>
        <p:spPr>
          <a:xfrm>
            <a:off x="2560320" y="4389120"/>
            <a:ext cx="118872" cy="118872"/>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2"/>
          <p:cNvSpPr/>
          <p:nvPr/>
        </p:nvSpPr>
        <p:spPr>
          <a:xfrm>
            <a:off x="3200400" y="3977640"/>
            <a:ext cx="118872" cy="118872"/>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12"/>
          <p:cNvSpPr/>
          <p:nvPr/>
        </p:nvSpPr>
        <p:spPr>
          <a:xfrm>
            <a:off x="3840480" y="3749040"/>
            <a:ext cx="118872" cy="118872"/>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12"/>
          <p:cNvSpPr/>
          <p:nvPr/>
        </p:nvSpPr>
        <p:spPr>
          <a:xfrm>
            <a:off x="4572000" y="3154680"/>
            <a:ext cx="118872" cy="118872"/>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2"/>
          <p:cNvSpPr/>
          <p:nvPr/>
        </p:nvSpPr>
        <p:spPr>
          <a:xfrm>
            <a:off x="5212080" y="2880360"/>
            <a:ext cx="118872" cy="118872"/>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2"/>
          <p:cNvSpPr/>
          <p:nvPr/>
        </p:nvSpPr>
        <p:spPr>
          <a:xfrm>
            <a:off x="5852160" y="2514600"/>
            <a:ext cx="118872" cy="118872"/>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2"/>
          <p:cNvSpPr/>
          <p:nvPr/>
        </p:nvSpPr>
        <p:spPr>
          <a:xfrm>
            <a:off x="6492240" y="2240280"/>
            <a:ext cx="118872" cy="118872"/>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2"/>
          <p:cNvSpPr/>
          <p:nvPr/>
        </p:nvSpPr>
        <p:spPr>
          <a:xfrm>
            <a:off x="7315200" y="1965960"/>
            <a:ext cx="118872" cy="118872"/>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2"/>
          <p:cNvSpPr/>
          <p:nvPr/>
        </p:nvSpPr>
        <p:spPr>
          <a:xfrm>
            <a:off x="7955280" y="1783080"/>
            <a:ext cx="118872" cy="118872"/>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2"/>
          <p:cNvSpPr/>
          <p:nvPr/>
        </p:nvSpPr>
        <p:spPr>
          <a:xfrm>
            <a:off x="8503920" y="1554480"/>
            <a:ext cx="118872" cy="118872"/>
          </a:xfrm>
          <a:prstGeom prst="ellipse">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84" name="Google Shape;284;p12"/>
          <p:cNvCxnSpPr/>
          <p:nvPr/>
        </p:nvCxnSpPr>
        <p:spPr>
          <a:xfrm flipH="1" rot="10800000">
            <a:off x="2468880" y="1600200"/>
            <a:ext cx="6217920" cy="2743200"/>
          </a:xfrm>
          <a:prstGeom prst="straightConnector1">
            <a:avLst/>
          </a:prstGeom>
          <a:noFill/>
          <a:ln cap="flat" cmpd="sng" w="12700">
            <a:solidFill>
              <a:srgbClr val="FFFFFF">
                <a:alpha val="65098"/>
              </a:srgbClr>
            </a:solidFill>
            <a:prstDash val="solid"/>
            <a:round/>
            <a:headEnd len="sm" w="sm" type="none"/>
            <a:tailEnd len="sm" w="sm" type="none"/>
          </a:ln>
        </p:spPr>
      </p:cxnSp>
      <p:sp>
        <p:nvSpPr>
          <p:cNvPr id="285" name="Google Shape;285;p12"/>
          <p:cNvSpPr/>
          <p:nvPr/>
        </p:nvSpPr>
        <p:spPr>
          <a:xfrm>
            <a:off x="1097280" y="5257800"/>
            <a:ext cx="98755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Arial"/>
              <a:buNone/>
            </a:pPr>
            <a:r>
              <a:rPr b="1" i="0" lang="en-US" sz="1800" u="none" cap="none" strike="noStrike">
                <a:solidFill>
                  <a:srgbClr val="FFFFFF"/>
                </a:solidFill>
                <a:latin typeface="Arial"/>
                <a:ea typeface="Arial"/>
                <a:cs typeface="Arial"/>
                <a:sym typeface="Arial"/>
              </a:rPr>
              <a:t>A trend describes a pattern. It does not prove cause.</a:t>
            </a:r>
            <a:endParaRPr b="0" i="0" sz="18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290" name="Shape 290"/>
        <p:cNvGrpSpPr/>
        <p:nvPr/>
      </p:nvGrpSpPr>
      <p:grpSpPr>
        <a:xfrm>
          <a:off x="0" y="0"/>
          <a:ext cx="0" cy="0"/>
          <a:chOff x="0" y="0"/>
          <a:chExt cx="0" cy="0"/>
        </a:xfrm>
      </p:grpSpPr>
      <p:sp>
        <p:nvSpPr>
          <p:cNvPr id="291" name="Google Shape;291;p13"/>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3"/>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3"/>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3"/>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CAUTION</a:t>
            </a:r>
            <a:endParaRPr b="0" i="0" sz="900" u="none" cap="none" strike="noStrike">
              <a:solidFill>
                <a:schemeClr val="dk1"/>
              </a:solidFill>
              <a:latin typeface="Arial"/>
              <a:ea typeface="Arial"/>
              <a:cs typeface="Arial"/>
              <a:sym typeface="Arial"/>
            </a:endParaRPr>
          </a:p>
        </p:txBody>
      </p:sp>
      <p:sp>
        <p:nvSpPr>
          <p:cNvPr id="295" name="Google Shape;295;p13"/>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296" name="Google Shape;296;p13"/>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Correlation Is Not Causation</a:t>
            </a:r>
            <a:endParaRPr b="0" i="0" sz="2800" u="none" cap="none" strike="noStrike">
              <a:solidFill>
                <a:schemeClr val="dk1"/>
              </a:solidFill>
              <a:latin typeface="Arial"/>
              <a:ea typeface="Arial"/>
              <a:cs typeface="Arial"/>
              <a:sym typeface="Arial"/>
            </a:endParaRPr>
          </a:p>
        </p:txBody>
      </p:sp>
      <p:sp>
        <p:nvSpPr>
          <p:cNvPr id="297" name="Google Shape;297;p13"/>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3"/>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A relationship between variables does not prove one caused the other.</a:t>
            </a:r>
            <a:endParaRPr b="0" i="0" sz="1100" u="none" cap="none" strike="noStrike">
              <a:solidFill>
                <a:schemeClr val="dk1"/>
              </a:solidFill>
              <a:latin typeface="Arial"/>
              <a:ea typeface="Arial"/>
              <a:cs typeface="Arial"/>
              <a:sym typeface="Arial"/>
            </a:endParaRPr>
          </a:p>
        </p:txBody>
      </p:sp>
      <p:sp>
        <p:nvSpPr>
          <p:cNvPr id="299" name="Google Shape;299;p13"/>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11</a:t>
            </a:r>
            <a:endParaRPr b="0" i="0" sz="1700" u="none" cap="none" strike="noStrike">
              <a:solidFill>
                <a:schemeClr val="dk1"/>
              </a:solidFill>
              <a:latin typeface="Arial"/>
              <a:ea typeface="Arial"/>
              <a:cs typeface="Arial"/>
              <a:sym typeface="Arial"/>
            </a:endParaRPr>
          </a:p>
        </p:txBody>
      </p:sp>
      <p:sp>
        <p:nvSpPr>
          <p:cNvPr id="300" name="Google Shape;300;p13"/>
          <p:cNvSpPr/>
          <p:nvPr/>
        </p:nvSpPr>
        <p:spPr>
          <a:xfrm>
            <a:off x="1188720" y="2194560"/>
            <a:ext cx="2834640" cy="594360"/>
          </a:xfrm>
          <a:prstGeom prst="roundRect">
            <a:avLst>
              <a:gd fmla="val 9231" name="adj"/>
            </a:avLst>
          </a:prstGeom>
          <a:solidFill>
            <a:srgbClr val="1A1A1A"/>
          </a:solidFill>
          <a:ln cap="flat" cmpd="sng" w="10150">
            <a:solidFill>
              <a:srgbClr val="D71920">
                <a:alpha val="34901"/>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3"/>
          <p:cNvSpPr/>
          <p:nvPr/>
        </p:nvSpPr>
        <p:spPr>
          <a:xfrm>
            <a:off x="1298448" y="2267712"/>
            <a:ext cx="2615184" cy="4480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Variable A increases</a:t>
            </a:r>
            <a:endParaRPr b="0" i="0" sz="1500" u="none" cap="none" strike="noStrike">
              <a:solidFill>
                <a:schemeClr val="dk1"/>
              </a:solidFill>
              <a:latin typeface="Arial"/>
              <a:ea typeface="Arial"/>
              <a:cs typeface="Arial"/>
              <a:sym typeface="Arial"/>
            </a:endParaRPr>
          </a:p>
        </p:txBody>
      </p:sp>
      <p:sp>
        <p:nvSpPr>
          <p:cNvPr id="302" name="Google Shape;302;p13"/>
          <p:cNvSpPr/>
          <p:nvPr/>
        </p:nvSpPr>
        <p:spPr>
          <a:xfrm>
            <a:off x="8138160" y="2194560"/>
            <a:ext cx="2834640" cy="594360"/>
          </a:xfrm>
          <a:prstGeom prst="roundRect">
            <a:avLst>
              <a:gd fmla="val 9231" name="adj"/>
            </a:avLst>
          </a:prstGeom>
          <a:solidFill>
            <a:srgbClr val="1A1A1A"/>
          </a:solidFill>
          <a:ln cap="flat" cmpd="sng" w="10150">
            <a:solidFill>
              <a:srgbClr val="D71920">
                <a:alpha val="34901"/>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8247888" y="2267712"/>
            <a:ext cx="2615184" cy="4480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Variable B increases</a:t>
            </a:r>
            <a:endParaRPr b="0" i="0" sz="1500" u="none" cap="none" strike="noStrike">
              <a:solidFill>
                <a:schemeClr val="dk1"/>
              </a:solidFill>
              <a:latin typeface="Arial"/>
              <a:ea typeface="Arial"/>
              <a:cs typeface="Arial"/>
              <a:sym typeface="Arial"/>
            </a:endParaRPr>
          </a:p>
        </p:txBody>
      </p:sp>
      <p:sp>
        <p:nvSpPr>
          <p:cNvPr id="304" name="Google Shape;304;p13"/>
          <p:cNvSpPr/>
          <p:nvPr/>
        </p:nvSpPr>
        <p:spPr>
          <a:xfrm>
            <a:off x="4937760" y="2267712"/>
            <a:ext cx="960120" cy="411480"/>
          </a:xfrm>
          <a:prstGeom prst="chevron">
            <a:avLst>
              <a:gd fmla="val 50000" name="adj"/>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3"/>
          <p:cNvSpPr/>
          <p:nvPr/>
        </p:nvSpPr>
        <p:spPr>
          <a:xfrm>
            <a:off x="4617720" y="2788920"/>
            <a:ext cx="18288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8B8B8"/>
              </a:buClr>
              <a:buSzPts val="1300"/>
              <a:buFont typeface="Arial"/>
              <a:buNone/>
            </a:pPr>
            <a:r>
              <a:rPr b="0" i="0" lang="en-US" sz="1300" u="none" cap="none" strike="noStrike">
                <a:solidFill>
                  <a:srgbClr val="B8B8B8"/>
                </a:solidFill>
                <a:latin typeface="Arial"/>
                <a:ea typeface="Arial"/>
                <a:cs typeface="Arial"/>
                <a:sym typeface="Arial"/>
              </a:rPr>
              <a:t>relationship?</a:t>
            </a:r>
            <a:endParaRPr b="0" i="0" sz="1300" u="none" cap="none" strike="noStrike">
              <a:solidFill>
                <a:schemeClr val="dk1"/>
              </a:solidFill>
              <a:latin typeface="Arial"/>
              <a:ea typeface="Arial"/>
              <a:cs typeface="Arial"/>
              <a:sym typeface="Arial"/>
            </a:endParaRPr>
          </a:p>
        </p:txBody>
      </p:sp>
      <p:sp>
        <p:nvSpPr>
          <p:cNvPr id="306" name="Google Shape;306;p13"/>
          <p:cNvSpPr/>
          <p:nvPr/>
        </p:nvSpPr>
        <p:spPr>
          <a:xfrm>
            <a:off x="1371600" y="3657600"/>
            <a:ext cx="9692640" cy="109728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 Could be direct cause• Could be caused by another variable</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 Could be coincidence in a small sample</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 Needs controls before causal claims</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311" name="Shape 311"/>
        <p:cNvGrpSpPr/>
        <p:nvPr/>
      </p:nvGrpSpPr>
      <p:grpSpPr>
        <a:xfrm>
          <a:off x="0" y="0"/>
          <a:ext cx="0" cy="0"/>
          <a:chOff x="0" y="0"/>
          <a:chExt cx="0" cy="0"/>
        </a:xfrm>
      </p:grpSpPr>
      <p:sp>
        <p:nvSpPr>
          <p:cNvPr id="312" name="Google Shape;312;p14"/>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14"/>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4"/>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ENGINEERING</a:t>
            </a:r>
            <a:endParaRPr b="0" i="0" sz="900" u="none" cap="none" strike="noStrike">
              <a:solidFill>
                <a:schemeClr val="dk1"/>
              </a:solidFill>
              <a:latin typeface="Arial"/>
              <a:ea typeface="Arial"/>
              <a:cs typeface="Arial"/>
              <a:sym typeface="Arial"/>
            </a:endParaRPr>
          </a:p>
        </p:txBody>
      </p:sp>
      <p:sp>
        <p:nvSpPr>
          <p:cNvPr id="316" name="Google Shape;316;p14"/>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317" name="Google Shape;317;p14"/>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Engineering Projects: Compare Against Criteria</a:t>
            </a:r>
            <a:endParaRPr b="0" i="0" sz="2800" u="none" cap="none" strike="noStrike">
              <a:solidFill>
                <a:schemeClr val="dk1"/>
              </a:solidFill>
              <a:latin typeface="Arial"/>
              <a:ea typeface="Arial"/>
              <a:cs typeface="Arial"/>
              <a:sym typeface="Arial"/>
            </a:endParaRPr>
          </a:p>
        </p:txBody>
      </p:sp>
      <p:sp>
        <p:nvSpPr>
          <p:cNvPr id="318" name="Google Shape;318;p14"/>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A design is analyzed by performance, constraints, tradeoffs, and failure mode.</a:t>
            </a:r>
            <a:endParaRPr b="0" i="0" sz="1100" u="none" cap="none" strike="noStrike">
              <a:solidFill>
                <a:schemeClr val="dk1"/>
              </a:solidFill>
              <a:latin typeface="Arial"/>
              <a:ea typeface="Arial"/>
              <a:cs typeface="Arial"/>
              <a:sym typeface="Arial"/>
            </a:endParaRPr>
          </a:p>
        </p:txBody>
      </p:sp>
      <p:sp>
        <p:nvSpPr>
          <p:cNvPr id="320" name="Google Shape;320;p14"/>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12</a:t>
            </a:r>
            <a:endParaRPr b="0" i="0" sz="1700" u="none" cap="none" strike="noStrike">
              <a:solidFill>
                <a:schemeClr val="dk1"/>
              </a:solidFill>
              <a:latin typeface="Arial"/>
              <a:ea typeface="Arial"/>
              <a:cs typeface="Arial"/>
              <a:sym typeface="Arial"/>
            </a:endParaRPr>
          </a:p>
        </p:txBody>
      </p:sp>
      <p:sp>
        <p:nvSpPr>
          <p:cNvPr id="321" name="Google Shape;321;p14"/>
          <p:cNvSpPr/>
          <p:nvPr/>
        </p:nvSpPr>
        <p:spPr>
          <a:xfrm>
            <a:off x="777240" y="1508760"/>
            <a:ext cx="5029200" cy="4069080"/>
          </a:xfrm>
          <a:prstGeom prst="roundRect">
            <a:avLst>
              <a:gd fmla="val 1798" name="adj"/>
            </a:avLst>
          </a:prstGeom>
          <a:solidFill>
            <a:srgbClr val="1A1A1A"/>
          </a:solidFill>
          <a:ln cap="flat" cmpd="sng" w="15225">
            <a:solidFill>
              <a:srgbClr val="D71920">
                <a:alpha val="65098"/>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4"/>
          <p:cNvSpPr/>
          <p:nvPr/>
        </p:nvSpPr>
        <p:spPr>
          <a:xfrm>
            <a:off x="1051560" y="178308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600"/>
              <a:buFont typeface="Arial"/>
              <a:buNone/>
            </a:pPr>
            <a:r>
              <a:rPr b="1" i="0" lang="en-US" sz="1600" u="none" cap="none" strike="noStrike">
                <a:solidFill>
                  <a:srgbClr val="D71920"/>
                </a:solidFill>
                <a:latin typeface="Arial"/>
                <a:ea typeface="Arial"/>
                <a:cs typeface="Arial"/>
                <a:sym typeface="Arial"/>
              </a:rPr>
              <a:t>Analyze performance</a:t>
            </a:r>
            <a:endParaRPr b="0" i="0" sz="1600" u="none" cap="none" strike="noStrike">
              <a:solidFill>
                <a:schemeClr val="dk1"/>
              </a:solidFill>
              <a:latin typeface="Arial"/>
              <a:ea typeface="Arial"/>
              <a:cs typeface="Arial"/>
              <a:sym typeface="Arial"/>
            </a:endParaRPr>
          </a:p>
        </p:txBody>
      </p:sp>
      <p:sp>
        <p:nvSpPr>
          <p:cNvPr id="323" name="Google Shape;323;p14"/>
          <p:cNvSpPr/>
          <p:nvPr/>
        </p:nvSpPr>
        <p:spPr>
          <a:xfrm>
            <a:off x="1097280" y="2377440"/>
            <a:ext cx="4297680" cy="20116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Which prototype performed best?</a:t>
            </a:r>
            <a:endParaRPr b="0" i="0" sz="15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Which criteria were met?</a:t>
            </a:r>
            <a:endParaRPr b="0" i="0" sz="15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Which constraints mattered?</a:t>
            </a:r>
            <a:endParaRPr b="0" i="0" sz="1500" u="none" cap="none" strike="noStrike">
              <a:solidFill>
                <a:schemeClr val="dk1"/>
              </a:solidFill>
              <a:latin typeface="Arial"/>
              <a:ea typeface="Arial"/>
              <a:cs typeface="Arial"/>
              <a:sym typeface="Arial"/>
            </a:endParaRPr>
          </a:p>
        </p:txBody>
      </p:sp>
      <p:sp>
        <p:nvSpPr>
          <p:cNvPr id="324" name="Google Shape;324;p14"/>
          <p:cNvSpPr/>
          <p:nvPr/>
        </p:nvSpPr>
        <p:spPr>
          <a:xfrm>
            <a:off x="6355080" y="1508760"/>
            <a:ext cx="5029200" cy="4069080"/>
          </a:xfrm>
          <a:prstGeom prst="roundRect">
            <a:avLst>
              <a:gd fmla="val 1798" name="adj"/>
            </a:avLst>
          </a:prstGeom>
          <a:solidFill>
            <a:srgbClr val="1A1A1A"/>
          </a:solidFill>
          <a:ln cap="flat" cmpd="sng" w="15225">
            <a:solidFill>
              <a:srgbClr val="D71920">
                <a:alpha val="65098"/>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6629400" y="178308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600"/>
              <a:buFont typeface="Arial"/>
              <a:buNone/>
            </a:pPr>
            <a:r>
              <a:rPr b="1" i="0" lang="en-US" sz="1600" u="none" cap="none" strike="noStrike">
                <a:solidFill>
                  <a:srgbClr val="D71920"/>
                </a:solidFill>
                <a:latin typeface="Arial"/>
                <a:ea typeface="Arial"/>
                <a:cs typeface="Arial"/>
                <a:sym typeface="Arial"/>
              </a:rPr>
              <a:t>Analyze failure</a:t>
            </a:r>
            <a:endParaRPr b="0" i="0" sz="1600" u="none" cap="none" strike="noStrike">
              <a:solidFill>
                <a:schemeClr val="dk1"/>
              </a:solidFill>
              <a:latin typeface="Arial"/>
              <a:ea typeface="Arial"/>
              <a:cs typeface="Arial"/>
              <a:sym typeface="Arial"/>
            </a:endParaRPr>
          </a:p>
        </p:txBody>
      </p:sp>
      <p:sp>
        <p:nvSpPr>
          <p:cNvPr id="326" name="Google Shape;326;p14"/>
          <p:cNvSpPr/>
          <p:nvPr/>
        </p:nvSpPr>
        <p:spPr>
          <a:xfrm>
            <a:off x="6675120" y="2377440"/>
            <a:ext cx="4297680" cy="20116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Where did it fail?</a:t>
            </a:r>
            <a:endParaRPr b="0" i="0" sz="15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What tradeoff appeared?</a:t>
            </a:r>
            <a:endParaRPr b="0" i="0" sz="15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What redesign is justified?</a:t>
            </a:r>
            <a:endParaRPr b="0" i="0" sz="1500" u="none" cap="none" strike="noStrike">
              <a:solidFill>
                <a:schemeClr val="dk1"/>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331" name="Shape 331"/>
        <p:cNvGrpSpPr/>
        <p:nvPr/>
      </p:nvGrpSpPr>
      <p:grpSpPr>
        <a:xfrm>
          <a:off x="0" y="0"/>
          <a:ext cx="0" cy="0"/>
          <a:chOff x="0" y="0"/>
          <a:chExt cx="0" cy="0"/>
        </a:xfrm>
      </p:grpSpPr>
      <p:sp>
        <p:nvSpPr>
          <p:cNvPr id="332" name="Google Shape;332;p15"/>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5"/>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5"/>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5"/>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QUALITATIVE</a:t>
            </a:r>
            <a:endParaRPr b="0" i="0" sz="900" u="none" cap="none" strike="noStrike">
              <a:solidFill>
                <a:schemeClr val="dk1"/>
              </a:solidFill>
              <a:latin typeface="Arial"/>
              <a:ea typeface="Arial"/>
              <a:cs typeface="Arial"/>
              <a:sym typeface="Arial"/>
            </a:endParaRPr>
          </a:p>
        </p:txBody>
      </p:sp>
      <p:sp>
        <p:nvSpPr>
          <p:cNvPr id="336" name="Google Shape;336;p15"/>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337" name="Google Shape;337;p15"/>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Observational Data Still Needs Structure</a:t>
            </a:r>
            <a:endParaRPr b="0" i="0" sz="2800" u="none" cap="none" strike="noStrike">
              <a:solidFill>
                <a:schemeClr val="dk1"/>
              </a:solidFill>
              <a:latin typeface="Arial"/>
              <a:ea typeface="Arial"/>
              <a:cs typeface="Arial"/>
              <a:sym typeface="Arial"/>
            </a:endParaRPr>
          </a:p>
        </p:txBody>
      </p:sp>
      <p:sp>
        <p:nvSpPr>
          <p:cNvPr id="338" name="Google Shape;338;p15"/>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5"/>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Descriptive evidence can be analyzed when it is organized systematically.</a:t>
            </a:r>
            <a:endParaRPr b="0" i="0" sz="1100" u="none" cap="none" strike="noStrike">
              <a:solidFill>
                <a:schemeClr val="dk1"/>
              </a:solidFill>
              <a:latin typeface="Arial"/>
              <a:ea typeface="Arial"/>
              <a:cs typeface="Arial"/>
              <a:sym typeface="Arial"/>
            </a:endParaRPr>
          </a:p>
        </p:txBody>
      </p:sp>
      <p:sp>
        <p:nvSpPr>
          <p:cNvPr id="340" name="Google Shape;340;p15"/>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13</a:t>
            </a:r>
            <a:endParaRPr b="0" i="0" sz="1700" u="none" cap="none" strike="noStrike">
              <a:solidFill>
                <a:schemeClr val="dk1"/>
              </a:solidFill>
              <a:latin typeface="Arial"/>
              <a:ea typeface="Arial"/>
              <a:cs typeface="Arial"/>
              <a:sym typeface="Arial"/>
            </a:endParaRPr>
          </a:p>
        </p:txBody>
      </p:sp>
      <p:sp>
        <p:nvSpPr>
          <p:cNvPr id="341" name="Google Shape;341;p15"/>
          <p:cNvSpPr/>
          <p:nvPr/>
        </p:nvSpPr>
        <p:spPr>
          <a:xfrm>
            <a:off x="777240" y="1508760"/>
            <a:ext cx="5029200" cy="4069080"/>
          </a:xfrm>
          <a:prstGeom prst="roundRect">
            <a:avLst>
              <a:gd fmla="val 1798" name="adj"/>
            </a:avLst>
          </a:prstGeom>
          <a:solidFill>
            <a:srgbClr val="1A1A1A"/>
          </a:solidFill>
          <a:ln cap="flat" cmpd="sng" w="15225">
            <a:solidFill>
              <a:srgbClr val="D71920">
                <a:alpha val="65098"/>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5"/>
          <p:cNvSpPr/>
          <p:nvPr/>
        </p:nvSpPr>
        <p:spPr>
          <a:xfrm>
            <a:off x="1051560" y="178308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600"/>
              <a:buFont typeface="Arial"/>
              <a:buNone/>
            </a:pPr>
            <a:r>
              <a:rPr b="1" i="0" lang="en-US" sz="1600" u="none" cap="none" strike="noStrike">
                <a:solidFill>
                  <a:srgbClr val="D71920"/>
                </a:solidFill>
                <a:latin typeface="Arial"/>
                <a:ea typeface="Arial"/>
                <a:cs typeface="Arial"/>
                <a:sym typeface="Arial"/>
              </a:rPr>
              <a:t>Make it systematic</a:t>
            </a:r>
            <a:endParaRPr b="0" i="0" sz="1600" u="none" cap="none" strike="noStrike">
              <a:solidFill>
                <a:schemeClr val="dk1"/>
              </a:solidFill>
              <a:latin typeface="Arial"/>
              <a:ea typeface="Arial"/>
              <a:cs typeface="Arial"/>
              <a:sym typeface="Arial"/>
            </a:endParaRPr>
          </a:p>
        </p:txBody>
      </p:sp>
      <p:sp>
        <p:nvSpPr>
          <p:cNvPr id="343" name="Google Shape;343;p15"/>
          <p:cNvSpPr/>
          <p:nvPr/>
        </p:nvSpPr>
        <p:spPr>
          <a:xfrm>
            <a:off x="1097280" y="2377440"/>
            <a:ext cx="4297680" cy="20116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Create categories or codes</a:t>
            </a:r>
            <a:endParaRPr b="0" i="0" sz="15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Count how often categories appear</a:t>
            </a:r>
            <a:endParaRPr b="0" i="0" sz="15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Use representative examples</a:t>
            </a:r>
            <a:endParaRPr b="0" i="0" sz="1500" u="none" cap="none" strike="noStrike">
              <a:solidFill>
                <a:schemeClr val="dk1"/>
              </a:solidFill>
              <a:latin typeface="Arial"/>
              <a:ea typeface="Arial"/>
              <a:cs typeface="Arial"/>
              <a:sym typeface="Arial"/>
            </a:endParaRPr>
          </a:p>
        </p:txBody>
      </p:sp>
      <p:sp>
        <p:nvSpPr>
          <p:cNvPr id="344" name="Google Shape;344;p15"/>
          <p:cNvSpPr/>
          <p:nvPr/>
        </p:nvSpPr>
        <p:spPr>
          <a:xfrm>
            <a:off x="6355080" y="1508760"/>
            <a:ext cx="5029200" cy="4069080"/>
          </a:xfrm>
          <a:prstGeom prst="roundRect">
            <a:avLst>
              <a:gd fmla="val 1798" name="adj"/>
            </a:avLst>
          </a:prstGeom>
          <a:solidFill>
            <a:srgbClr val="1A1A1A"/>
          </a:solidFill>
          <a:ln cap="flat" cmpd="sng" w="15225">
            <a:solidFill>
              <a:srgbClr val="D71920">
                <a:alpha val="65098"/>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5"/>
          <p:cNvSpPr/>
          <p:nvPr/>
        </p:nvSpPr>
        <p:spPr>
          <a:xfrm>
            <a:off x="6629400" y="178308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600"/>
              <a:buFont typeface="Arial"/>
              <a:buNone/>
            </a:pPr>
            <a:r>
              <a:rPr b="1" i="0" lang="en-US" sz="1600" u="none" cap="none" strike="noStrike">
                <a:solidFill>
                  <a:srgbClr val="D71920"/>
                </a:solidFill>
                <a:latin typeface="Arial"/>
                <a:ea typeface="Arial"/>
                <a:cs typeface="Arial"/>
                <a:sym typeface="Arial"/>
              </a:rPr>
              <a:t>Avoid casual claims</a:t>
            </a:r>
            <a:endParaRPr b="0" i="0" sz="1600" u="none" cap="none" strike="noStrike">
              <a:solidFill>
                <a:schemeClr val="dk1"/>
              </a:solidFill>
              <a:latin typeface="Arial"/>
              <a:ea typeface="Arial"/>
              <a:cs typeface="Arial"/>
              <a:sym typeface="Arial"/>
            </a:endParaRPr>
          </a:p>
        </p:txBody>
      </p:sp>
      <p:sp>
        <p:nvSpPr>
          <p:cNvPr id="346" name="Google Shape;346;p15"/>
          <p:cNvSpPr/>
          <p:nvPr/>
        </p:nvSpPr>
        <p:spPr>
          <a:xfrm>
            <a:off x="6675120" y="2377440"/>
            <a:ext cx="4297680" cy="20116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Do not rely on “it seemed like”</a:t>
            </a:r>
            <a:endParaRPr b="0" i="0" sz="15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Do not cherry-pick examples</a:t>
            </a:r>
            <a:endParaRPr b="0" i="0" sz="15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500"/>
              <a:buFont typeface="Arial"/>
              <a:buNone/>
            </a:pPr>
            <a:r>
              <a:rPr b="0" i="0" lang="en-US" sz="1500" u="none" cap="none" strike="noStrike">
                <a:solidFill>
                  <a:srgbClr val="FFFFFF"/>
                </a:solidFill>
                <a:latin typeface="Arial"/>
                <a:ea typeface="Arial"/>
                <a:cs typeface="Arial"/>
                <a:sym typeface="Arial"/>
              </a:rPr>
              <a:t>• Connect observations to the question</a:t>
            </a:r>
            <a:endParaRPr b="0" i="0" sz="1500" u="none" cap="none" strike="noStrike">
              <a:solidFill>
                <a:schemeClr val="dk1"/>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351" name="Shape 351"/>
        <p:cNvGrpSpPr/>
        <p:nvPr/>
      </p:nvGrpSpPr>
      <p:grpSpPr>
        <a:xfrm>
          <a:off x="0" y="0"/>
          <a:ext cx="0" cy="0"/>
          <a:chOff x="0" y="0"/>
          <a:chExt cx="0" cy="0"/>
        </a:xfrm>
      </p:grpSpPr>
      <p:sp>
        <p:nvSpPr>
          <p:cNvPr id="352" name="Google Shape;352;p16"/>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6"/>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16"/>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6"/>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STUDENT ACTIVITY</a:t>
            </a:r>
            <a:endParaRPr b="0" i="0" sz="900" u="none" cap="none" strike="noStrike">
              <a:solidFill>
                <a:schemeClr val="dk1"/>
              </a:solidFill>
              <a:latin typeface="Arial"/>
              <a:ea typeface="Arial"/>
              <a:cs typeface="Arial"/>
              <a:sym typeface="Arial"/>
            </a:endParaRPr>
          </a:p>
        </p:txBody>
      </p:sp>
      <p:sp>
        <p:nvSpPr>
          <p:cNvPr id="356" name="Google Shape;356;p16"/>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357" name="Google Shape;357;p16"/>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Activity: Match Your Data to a Method</a:t>
            </a:r>
            <a:endParaRPr b="0" i="0" sz="2800" u="none" cap="none" strike="noStrike">
              <a:solidFill>
                <a:schemeClr val="dk1"/>
              </a:solidFill>
              <a:latin typeface="Arial"/>
              <a:ea typeface="Arial"/>
              <a:cs typeface="Arial"/>
              <a:sym typeface="Arial"/>
            </a:endParaRPr>
          </a:p>
        </p:txBody>
      </p:sp>
      <p:sp>
        <p:nvSpPr>
          <p:cNvPr id="358" name="Google Shape;358;p16"/>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6"/>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Do not choose a method because it sounds advanced. Choose it because it answers the question.</a:t>
            </a:r>
            <a:endParaRPr b="0" i="0" sz="1100" u="none" cap="none" strike="noStrike">
              <a:solidFill>
                <a:schemeClr val="dk1"/>
              </a:solidFill>
              <a:latin typeface="Arial"/>
              <a:ea typeface="Arial"/>
              <a:cs typeface="Arial"/>
              <a:sym typeface="Arial"/>
            </a:endParaRPr>
          </a:p>
        </p:txBody>
      </p:sp>
      <p:sp>
        <p:nvSpPr>
          <p:cNvPr id="360" name="Google Shape;360;p16"/>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14</a:t>
            </a:r>
            <a:endParaRPr b="0" i="0" sz="1700" u="none" cap="none" strike="noStrike">
              <a:solidFill>
                <a:schemeClr val="dk1"/>
              </a:solidFill>
              <a:latin typeface="Arial"/>
              <a:ea typeface="Arial"/>
              <a:cs typeface="Arial"/>
              <a:sym typeface="Arial"/>
            </a:endParaRPr>
          </a:p>
        </p:txBody>
      </p:sp>
      <p:sp>
        <p:nvSpPr>
          <p:cNvPr id="361" name="Google Shape;361;p16"/>
          <p:cNvSpPr/>
          <p:nvPr/>
        </p:nvSpPr>
        <p:spPr>
          <a:xfrm>
            <a:off x="1005840" y="1600200"/>
            <a:ext cx="9692640" cy="265176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Name your data type• Identify what the data must show</a:t>
            </a:r>
            <a:endParaRPr b="0" i="0" sz="18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Choose one possible calculation or comparison</a:t>
            </a:r>
            <a:endParaRPr b="0" i="0" sz="18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Explain why it fits</a:t>
            </a:r>
            <a:endParaRPr b="0" i="0" sz="1800" u="none" cap="none" strike="noStrike">
              <a:solidFill>
                <a:schemeClr val="dk1"/>
              </a:solidFill>
              <a:latin typeface="Arial"/>
              <a:ea typeface="Arial"/>
              <a:cs typeface="Arial"/>
              <a:sym typeface="Arial"/>
            </a:endParaRPr>
          </a:p>
        </p:txBody>
      </p:sp>
      <p:sp>
        <p:nvSpPr>
          <p:cNvPr id="362" name="Google Shape;362;p16"/>
          <p:cNvSpPr/>
          <p:nvPr/>
        </p:nvSpPr>
        <p:spPr>
          <a:xfrm>
            <a:off x="777240" y="5166360"/>
            <a:ext cx="10652760" cy="960120"/>
          </a:xfrm>
          <a:prstGeom prst="roundRect">
            <a:avLst>
              <a:gd fmla="val 7619" name="adj"/>
            </a:avLst>
          </a:prstGeom>
          <a:solidFill>
            <a:srgbClr val="151515"/>
          </a:solidFill>
          <a:ln cap="flat" cmpd="sng" w="12700">
            <a:solidFill>
              <a:srgbClr val="D71920">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6"/>
          <p:cNvSpPr/>
          <p:nvPr/>
        </p:nvSpPr>
        <p:spPr>
          <a:xfrm>
            <a:off x="1024128" y="5376672"/>
            <a:ext cx="1874520" cy="1463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850"/>
              <a:buFont typeface="Arial"/>
              <a:buNone/>
            </a:pPr>
            <a:r>
              <a:rPr b="1" i="0" lang="en-US" sz="850" u="none" cap="none" strike="noStrike">
                <a:solidFill>
                  <a:srgbClr val="D71920"/>
                </a:solidFill>
                <a:latin typeface="Arial"/>
                <a:ea typeface="Arial"/>
                <a:cs typeface="Arial"/>
                <a:sym typeface="Arial"/>
              </a:rPr>
              <a:t>STUDENT ACTIVITY</a:t>
            </a:r>
            <a:endParaRPr b="0" i="0" sz="850" u="none" cap="none" strike="noStrike">
              <a:solidFill>
                <a:schemeClr val="dk1"/>
              </a:solidFill>
              <a:latin typeface="Arial"/>
              <a:ea typeface="Arial"/>
              <a:cs typeface="Arial"/>
              <a:sym typeface="Arial"/>
            </a:endParaRPr>
          </a:p>
        </p:txBody>
      </p:sp>
      <p:sp>
        <p:nvSpPr>
          <p:cNvPr id="364" name="Google Shape;364;p16"/>
          <p:cNvSpPr/>
          <p:nvPr/>
        </p:nvSpPr>
        <p:spPr>
          <a:xfrm>
            <a:off x="1024128" y="5596128"/>
            <a:ext cx="42976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Data Type + Analysis Match</a:t>
            </a:r>
            <a:endParaRPr b="0" i="0" sz="1600" u="none" cap="none" strike="noStrike">
              <a:solidFill>
                <a:schemeClr val="dk1"/>
              </a:solidFill>
              <a:latin typeface="Arial"/>
              <a:ea typeface="Arial"/>
              <a:cs typeface="Arial"/>
              <a:sym typeface="Arial"/>
            </a:endParaRPr>
          </a:p>
        </p:txBody>
      </p:sp>
      <p:sp>
        <p:nvSpPr>
          <p:cNvPr id="365" name="Google Shape;365;p16"/>
          <p:cNvSpPr/>
          <p:nvPr/>
        </p:nvSpPr>
        <p:spPr>
          <a:xfrm>
            <a:off x="5349240" y="5468112"/>
            <a:ext cx="96012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8B8B8"/>
              </a:buClr>
              <a:buSzPts val="1200"/>
              <a:buFont typeface="Arial"/>
              <a:buNone/>
            </a:pPr>
            <a:r>
              <a:rPr b="1" i="0" lang="en-US" sz="1200" u="none" cap="none" strike="noStrike">
                <a:solidFill>
                  <a:srgbClr val="B8B8B8"/>
                </a:solidFill>
                <a:latin typeface="Arial"/>
                <a:ea typeface="Arial"/>
                <a:cs typeface="Arial"/>
                <a:sym typeface="Arial"/>
              </a:rPr>
              <a:t>8–10 MIN</a:t>
            </a:r>
            <a:endParaRPr b="0" i="0" sz="1200" u="none" cap="none" strike="noStrike">
              <a:solidFill>
                <a:schemeClr val="dk1"/>
              </a:solidFill>
              <a:latin typeface="Arial"/>
              <a:ea typeface="Arial"/>
              <a:cs typeface="Arial"/>
              <a:sym typeface="Arial"/>
            </a:endParaRPr>
          </a:p>
        </p:txBody>
      </p:sp>
      <p:sp>
        <p:nvSpPr>
          <p:cNvPr id="366" name="Google Shape;366;p16"/>
          <p:cNvSpPr/>
          <p:nvPr/>
        </p:nvSpPr>
        <p:spPr>
          <a:xfrm>
            <a:off x="6446520" y="5367528"/>
            <a:ext cx="4663440" cy="493776"/>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250"/>
              <a:buFont typeface="Arial"/>
              <a:buNone/>
            </a:pPr>
            <a:r>
              <a:rPr b="0" i="0" lang="en-US" sz="1250" u="none" cap="none" strike="noStrike">
                <a:solidFill>
                  <a:srgbClr val="B8B8B8"/>
                </a:solidFill>
                <a:latin typeface="Arial"/>
                <a:ea typeface="Arial"/>
                <a:cs typeface="Arial"/>
                <a:sym typeface="Arial"/>
              </a:rPr>
              <a:t>Complete Handout 5 for your own project. If you have more than one data type, complete one row for each.</a:t>
            </a:r>
            <a:endParaRPr b="0" i="0" sz="1250" u="none" cap="none" strike="noStrike">
              <a:solidFill>
                <a:schemeClr val="dk1"/>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371" name="Shape 371"/>
        <p:cNvGrpSpPr/>
        <p:nvPr/>
      </p:nvGrpSpPr>
      <p:grpSpPr>
        <a:xfrm>
          <a:off x="0" y="0"/>
          <a:ext cx="0" cy="0"/>
          <a:chOff x="0" y="0"/>
          <a:chExt cx="0" cy="0"/>
        </a:xfrm>
      </p:grpSpPr>
      <p:sp>
        <p:nvSpPr>
          <p:cNvPr id="372" name="Google Shape;372;p17"/>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17"/>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7"/>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7"/>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STUDENT ACTIVITY</a:t>
            </a:r>
            <a:endParaRPr b="0" i="0" sz="900" u="none" cap="none" strike="noStrike">
              <a:solidFill>
                <a:schemeClr val="dk1"/>
              </a:solidFill>
              <a:latin typeface="Arial"/>
              <a:ea typeface="Arial"/>
              <a:cs typeface="Arial"/>
              <a:sym typeface="Arial"/>
            </a:endParaRPr>
          </a:p>
        </p:txBody>
      </p:sp>
      <p:sp>
        <p:nvSpPr>
          <p:cNvPr id="376" name="Google Shape;376;p17"/>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377" name="Google Shape;377;p17"/>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Activity: Build Your Data Analysis Plan</a:t>
            </a:r>
            <a:endParaRPr b="0" i="0" sz="2800" u="none" cap="none" strike="noStrike">
              <a:solidFill>
                <a:schemeClr val="dk1"/>
              </a:solidFill>
              <a:latin typeface="Arial"/>
              <a:ea typeface="Arial"/>
              <a:cs typeface="Arial"/>
              <a:sym typeface="Arial"/>
            </a:endParaRPr>
          </a:p>
        </p:txBody>
      </p:sp>
      <p:sp>
        <p:nvSpPr>
          <p:cNvPr id="378" name="Google Shape;378;p17"/>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7"/>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Turn the method choice into a concrete plan.</a:t>
            </a:r>
            <a:endParaRPr b="0" i="0" sz="1100" u="none" cap="none" strike="noStrike">
              <a:solidFill>
                <a:schemeClr val="dk1"/>
              </a:solidFill>
              <a:latin typeface="Arial"/>
              <a:ea typeface="Arial"/>
              <a:cs typeface="Arial"/>
              <a:sym typeface="Arial"/>
            </a:endParaRPr>
          </a:p>
        </p:txBody>
      </p:sp>
      <p:sp>
        <p:nvSpPr>
          <p:cNvPr id="380" name="Google Shape;380;p17"/>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15</a:t>
            </a:r>
            <a:endParaRPr b="0" i="0" sz="1700" u="none" cap="none" strike="noStrike">
              <a:solidFill>
                <a:schemeClr val="dk1"/>
              </a:solidFill>
              <a:latin typeface="Arial"/>
              <a:ea typeface="Arial"/>
              <a:cs typeface="Arial"/>
              <a:sym typeface="Arial"/>
            </a:endParaRPr>
          </a:p>
        </p:txBody>
      </p:sp>
      <p:sp>
        <p:nvSpPr>
          <p:cNvPr id="381" name="Google Shape;381;p17"/>
          <p:cNvSpPr/>
          <p:nvPr/>
        </p:nvSpPr>
        <p:spPr>
          <a:xfrm>
            <a:off x="1005840" y="1600200"/>
            <a:ext cx="9692640" cy="265176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What data will you analyze?• What calculation or comparison will you use?</a:t>
            </a:r>
            <a:endParaRPr b="0" i="0" sz="18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What graph or table might show it?</a:t>
            </a:r>
            <a:endParaRPr b="0" i="0" sz="18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What result would support your claim?</a:t>
            </a:r>
            <a:endParaRPr b="0" i="0" sz="1800" u="none" cap="none" strike="noStrike">
              <a:solidFill>
                <a:schemeClr val="dk1"/>
              </a:solidFill>
              <a:latin typeface="Arial"/>
              <a:ea typeface="Arial"/>
              <a:cs typeface="Arial"/>
              <a:sym typeface="Arial"/>
            </a:endParaRPr>
          </a:p>
        </p:txBody>
      </p:sp>
      <p:sp>
        <p:nvSpPr>
          <p:cNvPr id="382" name="Google Shape;382;p17"/>
          <p:cNvSpPr/>
          <p:nvPr/>
        </p:nvSpPr>
        <p:spPr>
          <a:xfrm>
            <a:off x="777240" y="5166360"/>
            <a:ext cx="10652760" cy="960120"/>
          </a:xfrm>
          <a:prstGeom prst="roundRect">
            <a:avLst>
              <a:gd fmla="val 7619" name="adj"/>
            </a:avLst>
          </a:prstGeom>
          <a:solidFill>
            <a:srgbClr val="151515"/>
          </a:solidFill>
          <a:ln cap="flat" cmpd="sng" w="12700">
            <a:solidFill>
              <a:srgbClr val="D71920">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7"/>
          <p:cNvSpPr/>
          <p:nvPr/>
        </p:nvSpPr>
        <p:spPr>
          <a:xfrm>
            <a:off x="1024128" y="5376672"/>
            <a:ext cx="1874520" cy="1463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850"/>
              <a:buFont typeface="Arial"/>
              <a:buNone/>
            </a:pPr>
            <a:r>
              <a:rPr b="1" i="0" lang="en-US" sz="850" u="none" cap="none" strike="noStrike">
                <a:solidFill>
                  <a:srgbClr val="D71920"/>
                </a:solidFill>
                <a:latin typeface="Arial"/>
                <a:ea typeface="Arial"/>
                <a:cs typeface="Arial"/>
                <a:sym typeface="Arial"/>
              </a:rPr>
              <a:t>STUDENT ACTIVITY</a:t>
            </a:r>
            <a:endParaRPr b="0" i="0" sz="850" u="none" cap="none" strike="noStrike">
              <a:solidFill>
                <a:schemeClr val="dk1"/>
              </a:solidFill>
              <a:latin typeface="Arial"/>
              <a:ea typeface="Arial"/>
              <a:cs typeface="Arial"/>
              <a:sym typeface="Arial"/>
            </a:endParaRPr>
          </a:p>
        </p:txBody>
      </p:sp>
      <p:sp>
        <p:nvSpPr>
          <p:cNvPr id="384" name="Google Shape;384;p17"/>
          <p:cNvSpPr/>
          <p:nvPr/>
        </p:nvSpPr>
        <p:spPr>
          <a:xfrm>
            <a:off x="1024128" y="5596128"/>
            <a:ext cx="42976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Analysis Plan Sprint</a:t>
            </a:r>
            <a:endParaRPr b="0" i="0" sz="1600" u="none" cap="none" strike="noStrike">
              <a:solidFill>
                <a:schemeClr val="dk1"/>
              </a:solidFill>
              <a:latin typeface="Arial"/>
              <a:ea typeface="Arial"/>
              <a:cs typeface="Arial"/>
              <a:sym typeface="Arial"/>
            </a:endParaRPr>
          </a:p>
        </p:txBody>
      </p:sp>
      <p:sp>
        <p:nvSpPr>
          <p:cNvPr id="385" name="Google Shape;385;p17"/>
          <p:cNvSpPr/>
          <p:nvPr/>
        </p:nvSpPr>
        <p:spPr>
          <a:xfrm>
            <a:off x="5349240" y="5468112"/>
            <a:ext cx="96012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8B8B8"/>
              </a:buClr>
              <a:buSzPts val="1200"/>
              <a:buFont typeface="Arial"/>
              <a:buNone/>
            </a:pPr>
            <a:r>
              <a:rPr b="1" i="0" lang="en-US" sz="1200" u="none" cap="none" strike="noStrike">
                <a:solidFill>
                  <a:srgbClr val="B8B8B8"/>
                </a:solidFill>
                <a:latin typeface="Arial"/>
                <a:ea typeface="Arial"/>
                <a:cs typeface="Arial"/>
                <a:sym typeface="Arial"/>
              </a:rPr>
              <a:t>10–12 MIN</a:t>
            </a:r>
            <a:endParaRPr b="0" i="0" sz="1200" u="none" cap="none" strike="noStrike">
              <a:solidFill>
                <a:schemeClr val="dk1"/>
              </a:solidFill>
              <a:latin typeface="Arial"/>
              <a:ea typeface="Arial"/>
              <a:cs typeface="Arial"/>
              <a:sym typeface="Arial"/>
            </a:endParaRPr>
          </a:p>
        </p:txBody>
      </p:sp>
      <p:sp>
        <p:nvSpPr>
          <p:cNvPr id="386" name="Google Shape;386;p17"/>
          <p:cNvSpPr/>
          <p:nvPr/>
        </p:nvSpPr>
        <p:spPr>
          <a:xfrm>
            <a:off x="6446520" y="5367528"/>
            <a:ext cx="4663440" cy="493776"/>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250"/>
              <a:buFont typeface="Arial"/>
              <a:buNone/>
            </a:pPr>
            <a:r>
              <a:rPr b="0" i="0" lang="en-US" sz="1250" u="none" cap="none" strike="noStrike">
                <a:solidFill>
                  <a:srgbClr val="B8B8B8"/>
                </a:solidFill>
                <a:latin typeface="Arial"/>
                <a:ea typeface="Arial"/>
                <a:cs typeface="Arial"/>
                <a:sym typeface="Arial"/>
              </a:rPr>
              <a:t>Complete the core sections of Handout 6. The plan should connect question → data → analysis → possible claim.</a:t>
            </a:r>
            <a:endParaRPr b="0" i="0" sz="1250" u="none" cap="none" strike="noStrike">
              <a:solidFill>
                <a:schemeClr val="dk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391" name="Shape 391"/>
        <p:cNvGrpSpPr/>
        <p:nvPr/>
      </p:nvGrpSpPr>
      <p:grpSpPr>
        <a:xfrm>
          <a:off x="0" y="0"/>
          <a:ext cx="0" cy="0"/>
          <a:chOff x="0" y="0"/>
          <a:chExt cx="0" cy="0"/>
        </a:xfrm>
      </p:grpSpPr>
      <p:sp>
        <p:nvSpPr>
          <p:cNvPr id="392" name="Google Shape;392;p18"/>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18"/>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8"/>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8"/>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CALCULATIONS</a:t>
            </a:r>
            <a:endParaRPr b="0" i="0" sz="900" u="none" cap="none" strike="noStrike">
              <a:solidFill>
                <a:schemeClr val="dk1"/>
              </a:solidFill>
              <a:latin typeface="Arial"/>
              <a:ea typeface="Arial"/>
              <a:cs typeface="Arial"/>
              <a:sym typeface="Arial"/>
            </a:endParaRPr>
          </a:p>
        </p:txBody>
      </p:sp>
      <p:sp>
        <p:nvSpPr>
          <p:cNvPr id="396" name="Google Shape;396;p18"/>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397" name="Google Shape;397;p18"/>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Document the Calculation, Not Just the Answer</a:t>
            </a:r>
            <a:endParaRPr b="0" i="0" sz="2800" u="none" cap="none" strike="noStrike">
              <a:solidFill>
                <a:schemeClr val="dk1"/>
              </a:solidFill>
              <a:latin typeface="Arial"/>
              <a:ea typeface="Arial"/>
              <a:cs typeface="Arial"/>
              <a:sym typeface="Arial"/>
            </a:endParaRPr>
          </a:p>
        </p:txBody>
      </p:sp>
      <p:sp>
        <p:nvSpPr>
          <p:cNvPr id="398" name="Google Shape;398;p18"/>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18"/>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Every result should be traceable back to a formula, method, or spreadsheet cell.</a:t>
            </a:r>
            <a:endParaRPr b="0" i="0" sz="1100" u="none" cap="none" strike="noStrike">
              <a:solidFill>
                <a:schemeClr val="dk1"/>
              </a:solidFill>
              <a:latin typeface="Arial"/>
              <a:ea typeface="Arial"/>
              <a:cs typeface="Arial"/>
              <a:sym typeface="Arial"/>
            </a:endParaRPr>
          </a:p>
        </p:txBody>
      </p:sp>
      <p:sp>
        <p:nvSpPr>
          <p:cNvPr id="400" name="Google Shape;400;p18"/>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16</a:t>
            </a:r>
            <a:endParaRPr b="0" i="0" sz="1700" u="none" cap="none" strike="noStrike">
              <a:solidFill>
                <a:schemeClr val="dk1"/>
              </a:solidFill>
              <a:latin typeface="Arial"/>
              <a:ea typeface="Arial"/>
              <a:cs typeface="Arial"/>
              <a:sym typeface="Arial"/>
            </a:endParaRPr>
          </a:p>
        </p:txBody>
      </p:sp>
      <p:sp>
        <p:nvSpPr>
          <p:cNvPr id="401" name="Google Shape;401;p18"/>
          <p:cNvSpPr/>
          <p:nvPr/>
        </p:nvSpPr>
        <p:spPr>
          <a:xfrm>
            <a:off x="1005840" y="1600200"/>
            <a:ext cx="10149840" cy="3154680"/>
          </a:xfrm>
          <a:prstGeom prst="roundRect">
            <a:avLst>
              <a:gd fmla="val 1449" name="adj"/>
            </a:avLst>
          </a:prstGeom>
          <a:solidFill>
            <a:srgbClr val="1A1A1A"/>
          </a:solidFill>
          <a:ln cap="flat" cmpd="sng" w="12700">
            <a:solidFill>
              <a:srgbClr val="D71920">
                <a:alpha val="54901"/>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8"/>
          <p:cNvSpPr/>
          <p:nvPr/>
        </p:nvSpPr>
        <p:spPr>
          <a:xfrm>
            <a:off x="1234440" y="178308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150"/>
              <a:buFont typeface="Arial"/>
              <a:buNone/>
            </a:pPr>
            <a:r>
              <a:rPr b="1" i="0" lang="en-US" sz="1150" u="none" cap="none" strike="noStrike">
                <a:solidFill>
                  <a:srgbClr val="D71920"/>
                </a:solidFill>
                <a:latin typeface="Arial"/>
                <a:ea typeface="Arial"/>
                <a:cs typeface="Arial"/>
                <a:sym typeface="Arial"/>
              </a:rPr>
              <a:t>Calculation</a:t>
            </a:r>
            <a:endParaRPr b="0" i="0" sz="1150" u="none" cap="none" strike="noStrike">
              <a:solidFill>
                <a:schemeClr val="dk1"/>
              </a:solidFill>
              <a:latin typeface="Arial"/>
              <a:ea typeface="Arial"/>
              <a:cs typeface="Arial"/>
              <a:sym typeface="Arial"/>
            </a:endParaRPr>
          </a:p>
        </p:txBody>
      </p:sp>
      <p:sp>
        <p:nvSpPr>
          <p:cNvPr id="403" name="Google Shape;403;p18"/>
          <p:cNvSpPr/>
          <p:nvPr/>
        </p:nvSpPr>
        <p:spPr>
          <a:xfrm>
            <a:off x="3154680" y="178308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150"/>
              <a:buFont typeface="Arial"/>
              <a:buNone/>
            </a:pPr>
            <a:r>
              <a:rPr b="1" i="0" lang="en-US" sz="1150" u="none" cap="none" strike="noStrike">
                <a:solidFill>
                  <a:srgbClr val="D71920"/>
                </a:solidFill>
                <a:latin typeface="Arial"/>
                <a:ea typeface="Arial"/>
                <a:cs typeface="Arial"/>
                <a:sym typeface="Arial"/>
              </a:rPr>
              <a:t>Why use it?</a:t>
            </a:r>
            <a:endParaRPr b="0" i="0" sz="1150" u="none" cap="none" strike="noStrike">
              <a:solidFill>
                <a:schemeClr val="dk1"/>
              </a:solidFill>
              <a:latin typeface="Arial"/>
              <a:ea typeface="Arial"/>
              <a:cs typeface="Arial"/>
              <a:sym typeface="Arial"/>
            </a:endParaRPr>
          </a:p>
        </p:txBody>
      </p:sp>
      <p:sp>
        <p:nvSpPr>
          <p:cNvPr id="404" name="Google Shape;404;p18"/>
          <p:cNvSpPr/>
          <p:nvPr/>
        </p:nvSpPr>
        <p:spPr>
          <a:xfrm>
            <a:off x="5074920" y="178308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150"/>
              <a:buFont typeface="Arial"/>
              <a:buNone/>
            </a:pPr>
            <a:r>
              <a:rPr b="1" i="0" lang="en-US" sz="1150" u="none" cap="none" strike="noStrike">
                <a:solidFill>
                  <a:srgbClr val="D71920"/>
                </a:solidFill>
                <a:latin typeface="Arial"/>
                <a:ea typeface="Arial"/>
                <a:cs typeface="Arial"/>
                <a:sym typeface="Arial"/>
              </a:rPr>
              <a:t>Formula / method</a:t>
            </a:r>
            <a:endParaRPr b="0" i="0" sz="1150" u="none" cap="none" strike="noStrike">
              <a:solidFill>
                <a:schemeClr val="dk1"/>
              </a:solidFill>
              <a:latin typeface="Arial"/>
              <a:ea typeface="Arial"/>
              <a:cs typeface="Arial"/>
              <a:sym typeface="Arial"/>
            </a:endParaRPr>
          </a:p>
        </p:txBody>
      </p:sp>
      <p:sp>
        <p:nvSpPr>
          <p:cNvPr id="405" name="Google Shape;405;p18"/>
          <p:cNvSpPr/>
          <p:nvPr/>
        </p:nvSpPr>
        <p:spPr>
          <a:xfrm>
            <a:off x="6995160" y="178308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150"/>
              <a:buFont typeface="Arial"/>
              <a:buNone/>
            </a:pPr>
            <a:r>
              <a:rPr b="1" i="0" lang="en-US" sz="1150" u="none" cap="none" strike="noStrike">
                <a:solidFill>
                  <a:srgbClr val="D71920"/>
                </a:solidFill>
                <a:latin typeface="Arial"/>
                <a:ea typeface="Arial"/>
                <a:cs typeface="Arial"/>
                <a:sym typeface="Arial"/>
              </a:rPr>
              <a:t>Result + units</a:t>
            </a:r>
            <a:endParaRPr b="0" i="0" sz="1150" u="none" cap="none" strike="noStrike">
              <a:solidFill>
                <a:schemeClr val="dk1"/>
              </a:solidFill>
              <a:latin typeface="Arial"/>
              <a:ea typeface="Arial"/>
              <a:cs typeface="Arial"/>
              <a:sym typeface="Arial"/>
            </a:endParaRPr>
          </a:p>
        </p:txBody>
      </p:sp>
      <p:sp>
        <p:nvSpPr>
          <p:cNvPr id="406" name="Google Shape;406;p18"/>
          <p:cNvSpPr/>
          <p:nvPr/>
        </p:nvSpPr>
        <p:spPr>
          <a:xfrm>
            <a:off x="8915400" y="178308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150"/>
              <a:buFont typeface="Arial"/>
              <a:buNone/>
            </a:pPr>
            <a:r>
              <a:rPr b="1" i="0" lang="en-US" sz="1150" u="none" cap="none" strike="noStrike">
                <a:solidFill>
                  <a:srgbClr val="D71920"/>
                </a:solidFill>
                <a:latin typeface="Arial"/>
                <a:ea typeface="Arial"/>
                <a:cs typeface="Arial"/>
                <a:sym typeface="Arial"/>
              </a:rPr>
              <a:t>Meaning</a:t>
            </a:r>
            <a:endParaRPr b="0" i="0" sz="1150" u="none" cap="none" strike="noStrike">
              <a:solidFill>
                <a:schemeClr val="dk1"/>
              </a:solidFill>
              <a:latin typeface="Arial"/>
              <a:ea typeface="Arial"/>
              <a:cs typeface="Arial"/>
              <a:sym typeface="Arial"/>
            </a:endParaRPr>
          </a:p>
        </p:txBody>
      </p:sp>
      <p:sp>
        <p:nvSpPr>
          <p:cNvPr id="407" name="Google Shape;407;p18"/>
          <p:cNvSpPr/>
          <p:nvPr/>
        </p:nvSpPr>
        <p:spPr>
          <a:xfrm>
            <a:off x="1234440" y="256032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Arial"/>
              <a:buNone/>
            </a:pPr>
            <a:r>
              <a:rPr b="0" i="0" lang="en-US" sz="1050" u="none" cap="none" strike="noStrike">
                <a:solidFill>
                  <a:srgbClr val="FFFFFF"/>
                </a:solidFill>
                <a:latin typeface="Arial"/>
                <a:ea typeface="Arial"/>
                <a:cs typeface="Arial"/>
                <a:sym typeface="Arial"/>
              </a:rPr>
              <a:t>Mean height</a:t>
            </a:r>
            <a:endParaRPr b="0" i="0" sz="1050" u="none" cap="none" strike="noStrike">
              <a:solidFill>
                <a:schemeClr val="dk1"/>
              </a:solidFill>
              <a:latin typeface="Arial"/>
              <a:ea typeface="Arial"/>
              <a:cs typeface="Arial"/>
              <a:sym typeface="Arial"/>
            </a:endParaRPr>
          </a:p>
        </p:txBody>
      </p:sp>
      <p:sp>
        <p:nvSpPr>
          <p:cNvPr id="408" name="Google Shape;408;p18"/>
          <p:cNvSpPr/>
          <p:nvPr/>
        </p:nvSpPr>
        <p:spPr>
          <a:xfrm>
            <a:off x="3154680" y="256032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Arial"/>
              <a:buNone/>
            </a:pPr>
            <a:r>
              <a:rPr b="0" i="0" lang="en-US" sz="1050" u="none" cap="none" strike="noStrike">
                <a:solidFill>
                  <a:srgbClr val="FFFFFF"/>
                </a:solidFill>
                <a:latin typeface="Arial"/>
                <a:ea typeface="Arial"/>
                <a:cs typeface="Arial"/>
                <a:sym typeface="Arial"/>
              </a:rPr>
              <a:t>Compare groups</a:t>
            </a:r>
            <a:endParaRPr b="0" i="0" sz="1050" u="none" cap="none" strike="noStrike">
              <a:solidFill>
                <a:schemeClr val="dk1"/>
              </a:solidFill>
              <a:latin typeface="Arial"/>
              <a:ea typeface="Arial"/>
              <a:cs typeface="Arial"/>
              <a:sym typeface="Arial"/>
            </a:endParaRPr>
          </a:p>
        </p:txBody>
      </p:sp>
      <p:sp>
        <p:nvSpPr>
          <p:cNvPr id="409" name="Google Shape;409;p18"/>
          <p:cNvSpPr/>
          <p:nvPr/>
        </p:nvSpPr>
        <p:spPr>
          <a:xfrm>
            <a:off x="5074920" y="256032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Arial"/>
              <a:buNone/>
            </a:pPr>
            <a:r>
              <a:rPr b="0" i="0" lang="en-US" sz="1050" u="none" cap="none" strike="noStrike">
                <a:solidFill>
                  <a:srgbClr val="FFFFFF"/>
                </a:solidFill>
                <a:latin typeface="Arial"/>
                <a:ea typeface="Arial"/>
                <a:cs typeface="Arial"/>
                <a:sym typeface="Arial"/>
              </a:rPr>
              <a:t>sum ÷ n</a:t>
            </a:r>
            <a:endParaRPr b="0" i="0" sz="1050" u="none" cap="none" strike="noStrike">
              <a:solidFill>
                <a:schemeClr val="dk1"/>
              </a:solidFill>
              <a:latin typeface="Arial"/>
              <a:ea typeface="Arial"/>
              <a:cs typeface="Arial"/>
              <a:sym typeface="Arial"/>
            </a:endParaRPr>
          </a:p>
        </p:txBody>
      </p:sp>
      <p:sp>
        <p:nvSpPr>
          <p:cNvPr id="410" name="Google Shape;410;p18"/>
          <p:cNvSpPr/>
          <p:nvPr/>
        </p:nvSpPr>
        <p:spPr>
          <a:xfrm>
            <a:off x="6995160" y="256032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Arial"/>
              <a:buNone/>
            </a:pPr>
            <a:r>
              <a:rPr b="0" i="0" lang="en-US" sz="1050" u="none" cap="none" strike="noStrike">
                <a:solidFill>
                  <a:srgbClr val="FFFFFF"/>
                </a:solidFill>
                <a:latin typeface="Arial"/>
                <a:ea typeface="Arial"/>
                <a:cs typeface="Arial"/>
                <a:sym typeface="Arial"/>
              </a:rPr>
              <a:t>14.2 cm</a:t>
            </a:r>
            <a:endParaRPr b="0" i="0" sz="1050" u="none" cap="none" strike="noStrike">
              <a:solidFill>
                <a:schemeClr val="dk1"/>
              </a:solidFill>
              <a:latin typeface="Arial"/>
              <a:ea typeface="Arial"/>
              <a:cs typeface="Arial"/>
              <a:sym typeface="Arial"/>
            </a:endParaRPr>
          </a:p>
        </p:txBody>
      </p:sp>
      <p:sp>
        <p:nvSpPr>
          <p:cNvPr id="411" name="Google Shape;411;p18"/>
          <p:cNvSpPr/>
          <p:nvPr/>
        </p:nvSpPr>
        <p:spPr>
          <a:xfrm>
            <a:off x="8915400" y="256032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Arial"/>
              <a:buNone/>
            </a:pPr>
            <a:r>
              <a:rPr b="0" i="0" lang="en-US" sz="1050" u="none" cap="none" strike="noStrike">
                <a:solidFill>
                  <a:srgbClr val="FFFFFF"/>
                </a:solidFill>
                <a:latin typeface="Arial"/>
                <a:ea typeface="Arial"/>
                <a:cs typeface="Arial"/>
                <a:sym typeface="Arial"/>
              </a:rPr>
              <a:t>Treatment group average</a:t>
            </a:r>
            <a:endParaRPr b="0" i="0" sz="1050" u="none" cap="none" strike="noStrike">
              <a:solidFill>
                <a:schemeClr val="dk1"/>
              </a:solidFill>
              <a:latin typeface="Arial"/>
              <a:ea typeface="Arial"/>
              <a:cs typeface="Arial"/>
              <a:sym typeface="Arial"/>
            </a:endParaRPr>
          </a:p>
        </p:txBody>
      </p:sp>
      <p:sp>
        <p:nvSpPr>
          <p:cNvPr id="412" name="Google Shape;412;p18"/>
          <p:cNvSpPr/>
          <p:nvPr/>
        </p:nvSpPr>
        <p:spPr>
          <a:xfrm>
            <a:off x="1234440" y="333756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Arial"/>
              <a:buNone/>
            </a:pPr>
            <a:r>
              <a:rPr b="0" i="0" lang="en-US" sz="1050" u="none" cap="none" strike="noStrike">
                <a:solidFill>
                  <a:srgbClr val="FFFFFF"/>
                </a:solidFill>
                <a:latin typeface="Arial"/>
                <a:ea typeface="Arial"/>
                <a:cs typeface="Arial"/>
                <a:sym typeface="Arial"/>
              </a:rPr>
              <a:t>Load per gram</a:t>
            </a:r>
            <a:endParaRPr b="0" i="0" sz="1050" u="none" cap="none" strike="noStrike">
              <a:solidFill>
                <a:schemeClr val="dk1"/>
              </a:solidFill>
              <a:latin typeface="Arial"/>
              <a:ea typeface="Arial"/>
              <a:cs typeface="Arial"/>
              <a:sym typeface="Arial"/>
            </a:endParaRPr>
          </a:p>
        </p:txBody>
      </p:sp>
      <p:sp>
        <p:nvSpPr>
          <p:cNvPr id="413" name="Google Shape;413;p18"/>
          <p:cNvSpPr/>
          <p:nvPr/>
        </p:nvSpPr>
        <p:spPr>
          <a:xfrm>
            <a:off x="3154680" y="333756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Arial"/>
              <a:buNone/>
            </a:pPr>
            <a:r>
              <a:rPr b="0" i="0" lang="en-US" sz="1050" u="none" cap="none" strike="noStrike">
                <a:solidFill>
                  <a:srgbClr val="FFFFFF"/>
                </a:solidFill>
                <a:latin typeface="Arial"/>
                <a:ea typeface="Arial"/>
                <a:cs typeface="Arial"/>
                <a:sym typeface="Arial"/>
              </a:rPr>
              <a:t>Control for mass</a:t>
            </a:r>
            <a:endParaRPr b="0" i="0" sz="1050" u="none" cap="none" strike="noStrike">
              <a:solidFill>
                <a:schemeClr val="dk1"/>
              </a:solidFill>
              <a:latin typeface="Arial"/>
              <a:ea typeface="Arial"/>
              <a:cs typeface="Arial"/>
              <a:sym typeface="Arial"/>
            </a:endParaRPr>
          </a:p>
        </p:txBody>
      </p:sp>
      <p:sp>
        <p:nvSpPr>
          <p:cNvPr id="414" name="Google Shape;414;p18"/>
          <p:cNvSpPr/>
          <p:nvPr/>
        </p:nvSpPr>
        <p:spPr>
          <a:xfrm>
            <a:off x="5074920" y="333756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Arial"/>
              <a:buNone/>
            </a:pPr>
            <a:r>
              <a:rPr b="0" i="0" lang="en-US" sz="1050" u="none" cap="none" strike="noStrike">
                <a:solidFill>
                  <a:srgbClr val="FFFFFF"/>
                </a:solidFill>
                <a:latin typeface="Arial"/>
                <a:ea typeface="Arial"/>
                <a:cs typeface="Arial"/>
                <a:sym typeface="Arial"/>
              </a:rPr>
              <a:t>load ÷ mass</a:t>
            </a:r>
            <a:endParaRPr b="0" i="0" sz="1050" u="none" cap="none" strike="noStrike">
              <a:solidFill>
                <a:schemeClr val="dk1"/>
              </a:solidFill>
              <a:latin typeface="Arial"/>
              <a:ea typeface="Arial"/>
              <a:cs typeface="Arial"/>
              <a:sym typeface="Arial"/>
            </a:endParaRPr>
          </a:p>
        </p:txBody>
      </p:sp>
      <p:sp>
        <p:nvSpPr>
          <p:cNvPr id="415" name="Google Shape;415;p18"/>
          <p:cNvSpPr/>
          <p:nvPr/>
        </p:nvSpPr>
        <p:spPr>
          <a:xfrm>
            <a:off x="6995160" y="333756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Arial"/>
              <a:buNone/>
            </a:pPr>
            <a:r>
              <a:rPr b="0" i="0" lang="en-US" sz="1050" u="none" cap="none" strike="noStrike">
                <a:solidFill>
                  <a:srgbClr val="FFFFFF"/>
                </a:solidFill>
                <a:latin typeface="Arial"/>
                <a:ea typeface="Arial"/>
                <a:cs typeface="Arial"/>
                <a:sym typeface="Arial"/>
              </a:rPr>
              <a:t>3.8 N/g</a:t>
            </a:r>
            <a:endParaRPr b="0" i="0" sz="1050" u="none" cap="none" strike="noStrike">
              <a:solidFill>
                <a:schemeClr val="dk1"/>
              </a:solidFill>
              <a:latin typeface="Arial"/>
              <a:ea typeface="Arial"/>
              <a:cs typeface="Arial"/>
              <a:sym typeface="Arial"/>
            </a:endParaRPr>
          </a:p>
        </p:txBody>
      </p:sp>
      <p:sp>
        <p:nvSpPr>
          <p:cNvPr id="416" name="Google Shape;416;p18"/>
          <p:cNvSpPr/>
          <p:nvPr/>
        </p:nvSpPr>
        <p:spPr>
          <a:xfrm>
            <a:off x="8915400" y="3337560"/>
            <a:ext cx="16916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50"/>
              <a:buFont typeface="Arial"/>
              <a:buNone/>
            </a:pPr>
            <a:r>
              <a:rPr b="0" i="0" lang="en-US" sz="1050" u="none" cap="none" strike="noStrike">
                <a:solidFill>
                  <a:srgbClr val="FFFFFF"/>
                </a:solidFill>
                <a:latin typeface="Arial"/>
                <a:ea typeface="Arial"/>
                <a:cs typeface="Arial"/>
                <a:sym typeface="Arial"/>
              </a:rPr>
              <a:t>Efficiency metric</a:t>
            </a:r>
            <a:endParaRPr b="0" i="0" sz="1050" u="none" cap="none" strike="noStrike">
              <a:solidFill>
                <a:schemeClr val="dk1"/>
              </a:solidFill>
              <a:latin typeface="Arial"/>
              <a:ea typeface="Arial"/>
              <a:cs typeface="Arial"/>
              <a:sym typeface="Arial"/>
            </a:endParaRPr>
          </a:p>
        </p:txBody>
      </p:sp>
      <p:sp>
        <p:nvSpPr>
          <p:cNvPr id="417" name="Google Shape;417;p18"/>
          <p:cNvSpPr/>
          <p:nvPr/>
        </p:nvSpPr>
        <p:spPr>
          <a:xfrm>
            <a:off x="1097280" y="5074920"/>
            <a:ext cx="987552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Arial"/>
              <a:buNone/>
            </a:pPr>
            <a:r>
              <a:rPr b="1" i="0" lang="en-US" sz="1800" u="none" cap="none" strike="noStrike">
                <a:solidFill>
                  <a:srgbClr val="FFFFFF"/>
                </a:solidFill>
                <a:latin typeface="Arial"/>
                <a:ea typeface="Arial"/>
                <a:cs typeface="Arial"/>
                <a:sym typeface="Arial"/>
              </a:rPr>
              <a:t>If you cannot explain what the number means, the calculation is not finished.</a:t>
            </a:r>
            <a:endParaRPr b="0" i="0" sz="1800" u="none" cap="none" strike="noStrike">
              <a:solidFill>
                <a:schemeClr val="dk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422" name="Shape 422"/>
        <p:cNvGrpSpPr/>
        <p:nvPr/>
      </p:nvGrpSpPr>
      <p:grpSpPr>
        <a:xfrm>
          <a:off x="0" y="0"/>
          <a:ext cx="0" cy="0"/>
          <a:chOff x="0" y="0"/>
          <a:chExt cx="0" cy="0"/>
        </a:xfrm>
      </p:grpSpPr>
      <p:sp>
        <p:nvSpPr>
          <p:cNvPr id="423" name="Google Shape;423;p19"/>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19"/>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9"/>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9"/>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ENGINEERING ACTIVITY</a:t>
            </a:r>
            <a:endParaRPr b="0" i="0" sz="900" u="none" cap="none" strike="noStrike">
              <a:solidFill>
                <a:schemeClr val="dk1"/>
              </a:solidFill>
              <a:latin typeface="Arial"/>
              <a:ea typeface="Arial"/>
              <a:cs typeface="Arial"/>
              <a:sym typeface="Arial"/>
            </a:endParaRPr>
          </a:p>
        </p:txBody>
      </p:sp>
      <p:sp>
        <p:nvSpPr>
          <p:cNvPr id="427" name="Google Shape;427;p19"/>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428" name="Google Shape;428;p19"/>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Activity: Define Your Performance Metric</a:t>
            </a:r>
            <a:endParaRPr b="0" i="0" sz="2800" u="none" cap="none" strike="noStrike">
              <a:solidFill>
                <a:schemeClr val="dk1"/>
              </a:solidFill>
              <a:latin typeface="Arial"/>
              <a:ea typeface="Arial"/>
              <a:cs typeface="Arial"/>
              <a:sym typeface="Arial"/>
            </a:endParaRPr>
          </a:p>
        </p:txBody>
      </p:sp>
      <p:sp>
        <p:nvSpPr>
          <p:cNvPr id="429" name="Google Shape;429;p19"/>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9"/>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For design projects, success must be measurable.</a:t>
            </a:r>
            <a:endParaRPr b="0" i="0" sz="1100" u="none" cap="none" strike="noStrike">
              <a:solidFill>
                <a:schemeClr val="dk1"/>
              </a:solidFill>
              <a:latin typeface="Arial"/>
              <a:ea typeface="Arial"/>
              <a:cs typeface="Arial"/>
              <a:sym typeface="Arial"/>
            </a:endParaRPr>
          </a:p>
        </p:txBody>
      </p:sp>
      <p:sp>
        <p:nvSpPr>
          <p:cNvPr id="431" name="Google Shape;431;p19"/>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17</a:t>
            </a:r>
            <a:endParaRPr b="0" i="0" sz="1700" u="none" cap="none" strike="noStrike">
              <a:solidFill>
                <a:schemeClr val="dk1"/>
              </a:solidFill>
              <a:latin typeface="Arial"/>
              <a:ea typeface="Arial"/>
              <a:cs typeface="Arial"/>
              <a:sym typeface="Arial"/>
            </a:endParaRPr>
          </a:p>
        </p:txBody>
      </p:sp>
      <p:sp>
        <p:nvSpPr>
          <p:cNvPr id="432" name="Google Shape;432;p19"/>
          <p:cNvSpPr/>
          <p:nvPr/>
        </p:nvSpPr>
        <p:spPr>
          <a:xfrm>
            <a:off x="1005840" y="1600200"/>
            <a:ext cx="9692640" cy="265176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List your design criteria• List your constraints</a:t>
            </a:r>
            <a:endParaRPr b="0" i="0" sz="18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Choose one performance metric</a:t>
            </a:r>
            <a:endParaRPr b="0" i="0" sz="18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Identify the best comparison table</a:t>
            </a:r>
            <a:endParaRPr b="0" i="0" sz="1800" u="none" cap="none" strike="noStrike">
              <a:solidFill>
                <a:schemeClr val="dk1"/>
              </a:solidFill>
              <a:latin typeface="Arial"/>
              <a:ea typeface="Arial"/>
              <a:cs typeface="Arial"/>
              <a:sym typeface="Arial"/>
            </a:endParaRPr>
          </a:p>
        </p:txBody>
      </p:sp>
      <p:sp>
        <p:nvSpPr>
          <p:cNvPr id="433" name="Google Shape;433;p19"/>
          <p:cNvSpPr/>
          <p:nvPr/>
        </p:nvSpPr>
        <p:spPr>
          <a:xfrm>
            <a:off x="777240" y="5166360"/>
            <a:ext cx="10652760" cy="960120"/>
          </a:xfrm>
          <a:prstGeom prst="roundRect">
            <a:avLst>
              <a:gd fmla="val 7619" name="adj"/>
            </a:avLst>
          </a:prstGeom>
          <a:solidFill>
            <a:srgbClr val="151515"/>
          </a:solidFill>
          <a:ln cap="flat" cmpd="sng" w="12700">
            <a:solidFill>
              <a:srgbClr val="D71920">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9"/>
          <p:cNvSpPr/>
          <p:nvPr/>
        </p:nvSpPr>
        <p:spPr>
          <a:xfrm>
            <a:off x="1024128" y="5376672"/>
            <a:ext cx="1874520" cy="1463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850"/>
              <a:buFont typeface="Arial"/>
              <a:buNone/>
            </a:pPr>
            <a:r>
              <a:rPr b="1" i="0" lang="en-US" sz="850" u="none" cap="none" strike="noStrike">
                <a:solidFill>
                  <a:srgbClr val="D71920"/>
                </a:solidFill>
                <a:latin typeface="Arial"/>
                <a:ea typeface="Arial"/>
                <a:cs typeface="Arial"/>
                <a:sym typeface="Arial"/>
              </a:rPr>
              <a:t>STUDENT ACTIVITY</a:t>
            </a:r>
            <a:endParaRPr b="0" i="0" sz="850" u="none" cap="none" strike="noStrike">
              <a:solidFill>
                <a:schemeClr val="dk1"/>
              </a:solidFill>
              <a:latin typeface="Arial"/>
              <a:ea typeface="Arial"/>
              <a:cs typeface="Arial"/>
              <a:sym typeface="Arial"/>
            </a:endParaRPr>
          </a:p>
        </p:txBody>
      </p:sp>
      <p:sp>
        <p:nvSpPr>
          <p:cNvPr id="435" name="Google Shape;435;p19"/>
          <p:cNvSpPr/>
          <p:nvPr/>
        </p:nvSpPr>
        <p:spPr>
          <a:xfrm>
            <a:off x="1024128" y="5596128"/>
            <a:ext cx="42976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Engineering Performance Check</a:t>
            </a:r>
            <a:endParaRPr b="0" i="0" sz="1600" u="none" cap="none" strike="noStrike">
              <a:solidFill>
                <a:schemeClr val="dk1"/>
              </a:solidFill>
              <a:latin typeface="Arial"/>
              <a:ea typeface="Arial"/>
              <a:cs typeface="Arial"/>
              <a:sym typeface="Arial"/>
            </a:endParaRPr>
          </a:p>
        </p:txBody>
      </p:sp>
      <p:sp>
        <p:nvSpPr>
          <p:cNvPr id="436" name="Google Shape;436;p19"/>
          <p:cNvSpPr/>
          <p:nvPr/>
        </p:nvSpPr>
        <p:spPr>
          <a:xfrm>
            <a:off x="5349240" y="5468112"/>
            <a:ext cx="96012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8B8B8"/>
              </a:buClr>
              <a:buSzPts val="1200"/>
              <a:buFont typeface="Arial"/>
              <a:buNone/>
            </a:pPr>
            <a:r>
              <a:rPr b="1" i="0" lang="en-US" sz="1200" u="none" cap="none" strike="noStrike">
                <a:solidFill>
                  <a:srgbClr val="B8B8B8"/>
                </a:solidFill>
                <a:latin typeface="Arial"/>
                <a:ea typeface="Arial"/>
                <a:cs typeface="Arial"/>
                <a:sym typeface="Arial"/>
              </a:rPr>
              <a:t>8 MIN</a:t>
            </a:r>
            <a:endParaRPr b="0" i="0" sz="1200" u="none" cap="none" strike="noStrike">
              <a:solidFill>
                <a:schemeClr val="dk1"/>
              </a:solidFill>
              <a:latin typeface="Arial"/>
              <a:ea typeface="Arial"/>
              <a:cs typeface="Arial"/>
              <a:sym typeface="Arial"/>
            </a:endParaRPr>
          </a:p>
        </p:txBody>
      </p:sp>
      <p:sp>
        <p:nvSpPr>
          <p:cNvPr id="437" name="Google Shape;437;p19"/>
          <p:cNvSpPr/>
          <p:nvPr/>
        </p:nvSpPr>
        <p:spPr>
          <a:xfrm>
            <a:off x="6446520" y="5367528"/>
            <a:ext cx="4663440" cy="493776"/>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250"/>
              <a:buFont typeface="Arial"/>
              <a:buNone/>
            </a:pPr>
            <a:r>
              <a:rPr b="0" i="0" lang="en-US" sz="1250" u="none" cap="none" strike="noStrike">
                <a:solidFill>
                  <a:srgbClr val="B8B8B8"/>
                </a:solidFill>
                <a:latin typeface="Arial"/>
                <a:ea typeface="Arial"/>
                <a:cs typeface="Arial"/>
                <a:sym typeface="Arial"/>
              </a:rPr>
              <a:t>Engineering students complete Handout 8. Experimental or data students may use the time to strengthen Handout 6.</a:t>
            </a:r>
            <a:endParaRPr b="0" i="0" sz="1250" u="none" cap="none" strike="noStrike">
              <a:solidFill>
                <a:schemeClr val="dk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442" name="Shape 442"/>
        <p:cNvGrpSpPr/>
        <p:nvPr/>
      </p:nvGrpSpPr>
      <p:grpSpPr>
        <a:xfrm>
          <a:off x="0" y="0"/>
          <a:ext cx="0" cy="0"/>
          <a:chOff x="0" y="0"/>
          <a:chExt cx="0" cy="0"/>
        </a:xfrm>
      </p:grpSpPr>
      <p:sp>
        <p:nvSpPr>
          <p:cNvPr id="443" name="Google Shape;443;p20"/>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20"/>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20"/>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20"/>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EVIDENCE</a:t>
            </a:r>
            <a:endParaRPr b="0" i="0" sz="900" u="none" cap="none" strike="noStrike">
              <a:solidFill>
                <a:schemeClr val="dk1"/>
              </a:solidFill>
              <a:latin typeface="Arial"/>
              <a:ea typeface="Arial"/>
              <a:cs typeface="Arial"/>
              <a:sym typeface="Arial"/>
            </a:endParaRPr>
          </a:p>
        </p:txBody>
      </p:sp>
      <p:sp>
        <p:nvSpPr>
          <p:cNvPr id="447" name="Google Shape;447;p20"/>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448" name="Google Shape;448;p20"/>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What Would Count as Evidence?</a:t>
            </a:r>
            <a:endParaRPr b="0" i="0" sz="2800" u="none" cap="none" strike="noStrike">
              <a:solidFill>
                <a:schemeClr val="dk1"/>
              </a:solidFill>
              <a:latin typeface="Arial"/>
              <a:ea typeface="Arial"/>
              <a:cs typeface="Arial"/>
              <a:sym typeface="Arial"/>
            </a:endParaRPr>
          </a:p>
        </p:txBody>
      </p:sp>
      <p:sp>
        <p:nvSpPr>
          <p:cNvPr id="449" name="Google Shape;449;p20"/>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20"/>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Before interpreting results, define what each result would mean.</a:t>
            </a:r>
            <a:endParaRPr b="0" i="0" sz="1100" u="none" cap="none" strike="noStrike">
              <a:solidFill>
                <a:schemeClr val="dk1"/>
              </a:solidFill>
              <a:latin typeface="Arial"/>
              <a:ea typeface="Arial"/>
              <a:cs typeface="Arial"/>
              <a:sym typeface="Arial"/>
            </a:endParaRPr>
          </a:p>
        </p:txBody>
      </p:sp>
      <p:sp>
        <p:nvSpPr>
          <p:cNvPr id="451" name="Google Shape;451;p20"/>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18</a:t>
            </a:r>
            <a:endParaRPr b="0" i="0" sz="1700" u="none" cap="none" strike="noStrike">
              <a:solidFill>
                <a:schemeClr val="dk1"/>
              </a:solidFill>
              <a:latin typeface="Arial"/>
              <a:ea typeface="Arial"/>
              <a:cs typeface="Arial"/>
              <a:sym typeface="Arial"/>
            </a:endParaRPr>
          </a:p>
        </p:txBody>
      </p:sp>
      <p:sp>
        <p:nvSpPr>
          <p:cNvPr id="452" name="Google Shape;452;p20"/>
          <p:cNvSpPr/>
          <p:nvPr/>
        </p:nvSpPr>
        <p:spPr>
          <a:xfrm>
            <a:off x="1097280" y="1600200"/>
            <a:ext cx="9966960" cy="731520"/>
          </a:xfrm>
          <a:prstGeom prst="roundRect">
            <a:avLst>
              <a:gd fmla="val 6250" name="adj"/>
            </a:avLst>
          </a:prstGeom>
          <a:solidFill>
            <a:srgbClr val="1A1A1A"/>
          </a:solidFill>
          <a:ln cap="flat" cmpd="sng" w="9525">
            <a:solidFill>
              <a:srgbClr val="D71920">
                <a:alpha val="45098"/>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0"/>
          <p:cNvSpPr/>
          <p:nvPr/>
        </p:nvSpPr>
        <p:spPr>
          <a:xfrm>
            <a:off x="1325880" y="1746504"/>
            <a:ext cx="31089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400"/>
              <a:buFont typeface="Arial"/>
              <a:buNone/>
            </a:pPr>
            <a:r>
              <a:rPr b="1" i="0" lang="en-US" sz="1400" u="none" cap="none" strike="noStrike">
                <a:solidFill>
                  <a:srgbClr val="D71920"/>
                </a:solidFill>
                <a:latin typeface="Arial"/>
                <a:ea typeface="Arial"/>
                <a:cs typeface="Arial"/>
                <a:sym typeface="Arial"/>
              </a:rPr>
              <a:t>If the result is higher...</a:t>
            </a:r>
            <a:endParaRPr b="0" i="0" sz="1400" u="none" cap="none" strike="noStrike">
              <a:solidFill>
                <a:schemeClr val="dk1"/>
              </a:solidFill>
              <a:latin typeface="Arial"/>
              <a:ea typeface="Arial"/>
              <a:cs typeface="Arial"/>
              <a:sym typeface="Arial"/>
            </a:endParaRPr>
          </a:p>
        </p:txBody>
      </p:sp>
      <p:sp>
        <p:nvSpPr>
          <p:cNvPr id="454" name="Google Shape;454;p20"/>
          <p:cNvSpPr/>
          <p:nvPr/>
        </p:nvSpPr>
        <p:spPr>
          <a:xfrm>
            <a:off x="4572000" y="1746504"/>
            <a:ext cx="60350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What claim would that support?</a:t>
            </a:r>
            <a:endParaRPr b="0" i="0" sz="1400" u="none" cap="none" strike="noStrike">
              <a:solidFill>
                <a:schemeClr val="dk1"/>
              </a:solidFill>
              <a:latin typeface="Arial"/>
              <a:ea typeface="Arial"/>
              <a:cs typeface="Arial"/>
              <a:sym typeface="Arial"/>
            </a:endParaRPr>
          </a:p>
        </p:txBody>
      </p:sp>
      <p:sp>
        <p:nvSpPr>
          <p:cNvPr id="455" name="Google Shape;455;p20"/>
          <p:cNvSpPr/>
          <p:nvPr/>
        </p:nvSpPr>
        <p:spPr>
          <a:xfrm>
            <a:off x="1097280" y="2743200"/>
            <a:ext cx="9966960" cy="731520"/>
          </a:xfrm>
          <a:prstGeom prst="roundRect">
            <a:avLst>
              <a:gd fmla="val 6250" name="adj"/>
            </a:avLst>
          </a:prstGeom>
          <a:solidFill>
            <a:srgbClr val="1A1A1A"/>
          </a:solidFill>
          <a:ln cap="flat" cmpd="sng" w="9525">
            <a:solidFill>
              <a:srgbClr val="D71920">
                <a:alpha val="45098"/>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20"/>
          <p:cNvSpPr/>
          <p:nvPr/>
        </p:nvSpPr>
        <p:spPr>
          <a:xfrm>
            <a:off x="1325880" y="2889504"/>
            <a:ext cx="31089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400"/>
              <a:buFont typeface="Arial"/>
              <a:buNone/>
            </a:pPr>
            <a:r>
              <a:rPr b="1" i="0" lang="en-US" sz="1400" u="none" cap="none" strike="noStrike">
                <a:solidFill>
                  <a:srgbClr val="D71920"/>
                </a:solidFill>
                <a:latin typeface="Arial"/>
                <a:ea typeface="Arial"/>
                <a:cs typeface="Arial"/>
                <a:sym typeface="Arial"/>
              </a:rPr>
              <a:t>If the result is lower...</a:t>
            </a:r>
            <a:endParaRPr b="0" i="0" sz="1400" u="none" cap="none" strike="noStrike">
              <a:solidFill>
                <a:schemeClr val="dk1"/>
              </a:solidFill>
              <a:latin typeface="Arial"/>
              <a:ea typeface="Arial"/>
              <a:cs typeface="Arial"/>
              <a:sym typeface="Arial"/>
            </a:endParaRPr>
          </a:p>
        </p:txBody>
      </p:sp>
      <p:sp>
        <p:nvSpPr>
          <p:cNvPr id="457" name="Google Shape;457;p20"/>
          <p:cNvSpPr/>
          <p:nvPr/>
        </p:nvSpPr>
        <p:spPr>
          <a:xfrm>
            <a:off x="4572000" y="2889504"/>
            <a:ext cx="60350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What claim would that challenge?</a:t>
            </a:r>
            <a:endParaRPr b="0" i="0" sz="1400" u="none" cap="none" strike="noStrike">
              <a:solidFill>
                <a:schemeClr val="dk1"/>
              </a:solidFill>
              <a:latin typeface="Arial"/>
              <a:ea typeface="Arial"/>
              <a:cs typeface="Arial"/>
              <a:sym typeface="Arial"/>
            </a:endParaRPr>
          </a:p>
        </p:txBody>
      </p:sp>
      <p:sp>
        <p:nvSpPr>
          <p:cNvPr id="458" name="Google Shape;458;p20"/>
          <p:cNvSpPr/>
          <p:nvPr/>
        </p:nvSpPr>
        <p:spPr>
          <a:xfrm>
            <a:off x="1097280" y="3886200"/>
            <a:ext cx="9966960" cy="731520"/>
          </a:xfrm>
          <a:prstGeom prst="roundRect">
            <a:avLst>
              <a:gd fmla="val 6250" name="adj"/>
            </a:avLst>
          </a:prstGeom>
          <a:solidFill>
            <a:srgbClr val="1A1A1A"/>
          </a:solidFill>
          <a:ln cap="flat" cmpd="sng" w="9525">
            <a:solidFill>
              <a:srgbClr val="D71920">
                <a:alpha val="45098"/>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20"/>
          <p:cNvSpPr/>
          <p:nvPr/>
        </p:nvSpPr>
        <p:spPr>
          <a:xfrm>
            <a:off x="1325880" y="4032504"/>
            <a:ext cx="31089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1400"/>
              <a:buFont typeface="Arial"/>
              <a:buNone/>
            </a:pPr>
            <a:r>
              <a:rPr b="1" i="0" lang="en-US" sz="1400" u="none" cap="none" strike="noStrike">
                <a:solidFill>
                  <a:srgbClr val="D71920"/>
                </a:solidFill>
                <a:latin typeface="Arial"/>
                <a:ea typeface="Arial"/>
                <a:cs typeface="Arial"/>
                <a:sym typeface="Arial"/>
              </a:rPr>
              <a:t>If results are inconsistent...</a:t>
            </a:r>
            <a:endParaRPr b="0" i="0" sz="1400" u="none" cap="none" strike="noStrike">
              <a:solidFill>
                <a:schemeClr val="dk1"/>
              </a:solidFill>
              <a:latin typeface="Arial"/>
              <a:ea typeface="Arial"/>
              <a:cs typeface="Arial"/>
              <a:sym typeface="Arial"/>
            </a:endParaRPr>
          </a:p>
        </p:txBody>
      </p:sp>
      <p:sp>
        <p:nvSpPr>
          <p:cNvPr id="460" name="Google Shape;460;p20"/>
          <p:cNvSpPr/>
          <p:nvPr/>
        </p:nvSpPr>
        <p:spPr>
          <a:xfrm>
            <a:off x="4572000" y="4032504"/>
            <a:ext cx="60350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What limitation must be discussed?</a:t>
            </a:r>
            <a:endParaRPr b="0" i="0" sz="1400" u="none" cap="none" strike="noStrike">
              <a:solidFill>
                <a:schemeClr val="dk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465" name="Shape 465"/>
        <p:cNvGrpSpPr/>
        <p:nvPr/>
      </p:nvGrpSpPr>
      <p:grpSpPr>
        <a:xfrm>
          <a:off x="0" y="0"/>
          <a:ext cx="0" cy="0"/>
          <a:chOff x="0" y="0"/>
          <a:chExt cx="0" cy="0"/>
        </a:xfrm>
      </p:grpSpPr>
      <p:sp>
        <p:nvSpPr>
          <p:cNvPr id="466" name="Google Shape;466;p21"/>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21"/>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21"/>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21"/>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WATCH OUT</a:t>
            </a:r>
            <a:endParaRPr b="0" i="0" sz="900" u="none" cap="none" strike="noStrike">
              <a:solidFill>
                <a:schemeClr val="dk1"/>
              </a:solidFill>
              <a:latin typeface="Arial"/>
              <a:ea typeface="Arial"/>
              <a:cs typeface="Arial"/>
              <a:sym typeface="Arial"/>
            </a:endParaRPr>
          </a:p>
        </p:txBody>
      </p:sp>
      <p:sp>
        <p:nvSpPr>
          <p:cNvPr id="470" name="Google Shape;470;p21"/>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471" name="Google Shape;471;p21"/>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Common Analysis Mistakes</a:t>
            </a:r>
            <a:endParaRPr b="0" i="0" sz="2800" u="none" cap="none" strike="noStrike">
              <a:solidFill>
                <a:schemeClr val="dk1"/>
              </a:solidFill>
              <a:latin typeface="Arial"/>
              <a:ea typeface="Arial"/>
              <a:cs typeface="Arial"/>
              <a:sym typeface="Arial"/>
            </a:endParaRPr>
          </a:p>
        </p:txBody>
      </p:sp>
      <p:sp>
        <p:nvSpPr>
          <p:cNvPr id="472" name="Google Shape;472;p21"/>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21"/>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These errors make results harder to trust.</a:t>
            </a:r>
            <a:endParaRPr b="0" i="0" sz="1100" u="none" cap="none" strike="noStrike">
              <a:solidFill>
                <a:schemeClr val="dk1"/>
              </a:solidFill>
              <a:latin typeface="Arial"/>
              <a:ea typeface="Arial"/>
              <a:cs typeface="Arial"/>
              <a:sym typeface="Arial"/>
            </a:endParaRPr>
          </a:p>
        </p:txBody>
      </p:sp>
      <p:sp>
        <p:nvSpPr>
          <p:cNvPr id="474" name="Google Shape;474;p21"/>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19</a:t>
            </a:r>
            <a:endParaRPr b="0" i="0" sz="1700" u="none" cap="none" strike="noStrike">
              <a:solidFill>
                <a:schemeClr val="dk1"/>
              </a:solidFill>
              <a:latin typeface="Arial"/>
              <a:ea typeface="Arial"/>
              <a:cs typeface="Arial"/>
              <a:sym typeface="Arial"/>
            </a:endParaRPr>
          </a:p>
        </p:txBody>
      </p:sp>
      <p:sp>
        <p:nvSpPr>
          <p:cNvPr id="475" name="Google Shape;475;p21"/>
          <p:cNvSpPr/>
          <p:nvPr/>
        </p:nvSpPr>
        <p:spPr>
          <a:xfrm>
            <a:off x="1097280" y="1417320"/>
            <a:ext cx="9692640" cy="365760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 Choosing a statistic because it sounds impressive• Graphing before cleaning data</a:t>
            </a:r>
            <a:endParaRPr b="0" i="0" sz="17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 Using averages without checking spread</a:t>
            </a:r>
            <a:endParaRPr b="0" i="0" sz="17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 Comparing groups with unequal or missing trials</a:t>
            </a:r>
            <a:endParaRPr b="0" i="0" sz="17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 Claiming causation from correlation</a:t>
            </a:r>
            <a:endParaRPr b="0" i="0" sz="17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 Ignoring failed or flagged data</a:t>
            </a:r>
            <a:endParaRPr b="0" i="0" sz="17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 Not documenting formulas or calculation choices</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480" name="Shape 480"/>
        <p:cNvGrpSpPr/>
        <p:nvPr/>
      </p:nvGrpSpPr>
      <p:grpSpPr>
        <a:xfrm>
          <a:off x="0" y="0"/>
          <a:ext cx="0" cy="0"/>
          <a:chOff x="0" y="0"/>
          <a:chExt cx="0" cy="0"/>
        </a:xfrm>
      </p:grpSpPr>
      <p:sp>
        <p:nvSpPr>
          <p:cNvPr id="481" name="Google Shape;481;p22"/>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22"/>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22"/>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2"/>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TEACHER CHECKPOINT</a:t>
            </a:r>
            <a:endParaRPr b="0" i="0" sz="900" u="none" cap="none" strike="noStrike">
              <a:solidFill>
                <a:schemeClr val="dk1"/>
              </a:solidFill>
              <a:latin typeface="Arial"/>
              <a:ea typeface="Arial"/>
              <a:cs typeface="Arial"/>
              <a:sym typeface="Arial"/>
            </a:endParaRPr>
          </a:p>
        </p:txBody>
      </p:sp>
      <p:sp>
        <p:nvSpPr>
          <p:cNvPr id="485" name="Google Shape;485;p22"/>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486" name="Google Shape;486;p22"/>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Show Me Your Analysis Plan</a:t>
            </a:r>
            <a:endParaRPr b="0" i="0" sz="2800" u="none" cap="none" strike="noStrike">
              <a:solidFill>
                <a:schemeClr val="dk1"/>
              </a:solidFill>
              <a:latin typeface="Arial"/>
              <a:ea typeface="Arial"/>
              <a:cs typeface="Arial"/>
              <a:sym typeface="Arial"/>
            </a:endParaRPr>
          </a:p>
        </p:txBody>
      </p:sp>
      <p:sp>
        <p:nvSpPr>
          <p:cNvPr id="487" name="Google Shape;487;p22"/>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22"/>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Students are ready when they can explain the method, not just name it.</a:t>
            </a:r>
            <a:endParaRPr b="0" i="0" sz="1100" u="none" cap="none" strike="noStrike">
              <a:solidFill>
                <a:schemeClr val="dk1"/>
              </a:solidFill>
              <a:latin typeface="Arial"/>
              <a:ea typeface="Arial"/>
              <a:cs typeface="Arial"/>
              <a:sym typeface="Arial"/>
            </a:endParaRPr>
          </a:p>
        </p:txBody>
      </p:sp>
      <p:sp>
        <p:nvSpPr>
          <p:cNvPr id="489" name="Google Shape;489;p22"/>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20</a:t>
            </a:r>
            <a:endParaRPr b="0" i="0" sz="1700" u="none" cap="none" strike="noStrike">
              <a:solidFill>
                <a:schemeClr val="dk1"/>
              </a:solidFill>
              <a:latin typeface="Arial"/>
              <a:ea typeface="Arial"/>
              <a:cs typeface="Arial"/>
              <a:sym typeface="Arial"/>
            </a:endParaRPr>
          </a:p>
        </p:txBody>
      </p:sp>
      <p:sp>
        <p:nvSpPr>
          <p:cNvPr id="490" name="Google Shape;490;p22"/>
          <p:cNvSpPr/>
          <p:nvPr/>
        </p:nvSpPr>
        <p:spPr>
          <a:xfrm>
            <a:off x="1097280" y="1417320"/>
            <a:ext cx="9692640" cy="384048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 What data are you analyzing?• What question should the analysis answer?</a:t>
            </a:r>
            <a:endParaRPr b="0" i="0" sz="17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 What calculation or comparison will you use?</a:t>
            </a:r>
            <a:endParaRPr b="0" i="0" sz="17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 Why does that method fit?</a:t>
            </a:r>
            <a:endParaRPr b="0" i="0" sz="17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 What graph or table might come next?</a:t>
            </a:r>
            <a:endParaRPr b="0" i="0" sz="17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 What result would be too weak to support a claim?</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495" name="Shape 495"/>
        <p:cNvGrpSpPr/>
        <p:nvPr/>
      </p:nvGrpSpPr>
      <p:grpSpPr>
        <a:xfrm>
          <a:off x="0" y="0"/>
          <a:ext cx="0" cy="0"/>
          <a:chOff x="0" y="0"/>
          <a:chExt cx="0" cy="0"/>
        </a:xfrm>
      </p:grpSpPr>
      <p:sp>
        <p:nvSpPr>
          <p:cNvPr id="496" name="Google Shape;496;p23"/>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23"/>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23"/>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3"/>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EXIT TICKET</a:t>
            </a:r>
            <a:endParaRPr b="0" i="0" sz="900" u="none" cap="none" strike="noStrike">
              <a:solidFill>
                <a:schemeClr val="dk1"/>
              </a:solidFill>
              <a:latin typeface="Arial"/>
              <a:ea typeface="Arial"/>
              <a:cs typeface="Arial"/>
              <a:sym typeface="Arial"/>
            </a:endParaRPr>
          </a:p>
        </p:txBody>
      </p:sp>
      <p:sp>
        <p:nvSpPr>
          <p:cNvPr id="500" name="Google Shape;500;p23"/>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501" name="Google Shape;501;p23"/>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Exit Ticket</a:t>
            </a:r>
            <a:endParaRPr b="0" i="0" sz="2800" u="none" cap="none" strike="noStrike">
              <a:solidFill>
                <a:schemeClr val="dk1"/>
              </a:solidFill>
              <a:latin typeface="Arial"/>
              <a:ea typeface="Arial"/>
              <a:cs typeface="Arial"/>
              <a:sym typeface="Arial"/>
            </a:endParaRPr>
          </a:p>
        </p:txBody>
      </p:sp>
      <p:sp>
        <p:nvSpPr>
          <p:cNvPr id="502" name="Google Shape;502;p23"/>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23"/>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Leave with one clear first analysis move.</a:t>
            </a:r>
            <a:endParaRPr b="0" i="0" sz="1100" u="none" cap="none" strike="noStrike">
              <a:solidFill>
                <a:schemeClr val="dk1"/>
              </a:solidFill>
              <a:latin typeface="Arial"/>
              <a:ea typeface="Arial"/>
              <a:cs typeface="Arial"/>
              <a:sym typeface="Arial"/>
            </a:endParaRPr>
          </a:p>
        </p:txBody>
      </p:sp>
      <p:sp>
        <p:nvSpPr>
          <p:cNvPr id="504" name="Google Shape;504;p23"/>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21</a:t>
            </a:r>
            <a:endParaRPr b="0" i="0" sz="1700" u="none" cap="none" strike="noStrike">
              <a:solidFill>
                <a:schemeClr val="dk1"/>
              </a:solidFill>
              <a:latin typeface="Arial"/>
              <a:ea typeface="Arial"/>
              <a:cs typeface="Arial"/>
              <a:sym typeface="Arial"/>
            </a:endParaRPr>
          </a:p>
        </p:txBody>
      </p:sp>
      <p:sp>
        <p:nvSpPr>
          <p:cNvPr id="505" name="Google Shape;505;p23"/>
          <p:cNvSpPr/>
          <p:nvPr/>
        </p:nvSpPr>
        <p:spPr>
          <a:xfrm>
            <a:off x="1097280" y="1600200"/>
            <a:ext cx="9692640" cy="274320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FFFFF"/>
              </a:buClr>
              <a:buSzPts val="1900"/>
              <a:buFont typeface="Arial"/>
              <a:buNone/>
            </a:pPr>
            <a:r>
              <a:rPr b="0" i="0" lang="en-US" sz="1900" u="none" cap="none" strike="noStrike">
                <a:solidFill>
                  <a:srgbClr val="FFFFFF"/>
                </a:solidFill>
                <a:latin typeface="Arial"/>
                <a:ea typeface="Arial"/>
                <a:cs typeface="Arial"/>
                <a:sym typeface="Arial"/>
              </a:rPr>
              <a:t>• My first analysis method will be...• This method fits because...</a:t>
            </a:r>
            <a:endParaRPr b="0" i="0" sz="19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900"/>
              <a:buFont typeface="Arial"/>
              <a:buNone/>
            </a:pPr>
            <a:r>
              <a:rPr b="0" i="0" lang="en-US" sz="1900" u="none" cap="none" strike="noStrike">
                <a:solidFill>
                  <a:srgbClr val="FFFFFF"/>
                </a:solidFill>
                <a:latin typeface="Arial"/>
                <a:ea typeface="Arial"/>
                <a:cs typeface="Arial"/>
                <a:sym typeface="Arial"/>
              </a:rPr>
              <a:t>• The calculation or comparison will show...</a:t>
            </a:r>
            <a:endParaRPr b="0" i="0" sz="19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900"/>
              <a:buFont typeface="Arial"/>
              <a:buNone/>
            </a:pPr>
            <a:r>
              <a:rPr b="0" i="0" lang="en-US" sz="1900" u="none" cap="none" strike="noStrike">
                <a:solidFill>
                  <a:srgbClr val="FFFFFF"/>
                </a:solidFill>
                <a:latin typeface="Arial"/>
                <a:ea typeface="Arial"/>
                <a:cs typeface="Arial"/>
                <a:sym typeface="Arial"/>
              </a:rPr>
              <a:t>• The graph/table I may need next is...</a:t>
            </a:r>
            <a:endParaRPr b="0" i="0" sz="1900" u="none" cap="none" strike="noStrike">
              <a:solidFill>
                <a:schemeClr val="dk1"/>
              </a:solidFill>
              <a:latin typeface="Arial"/>
              <a:ea typeface="Arial"/>
              <a:cs typeface="Arial"/>
              <a:sym typeface="Arial"/>
            </a:endParaRPr>
          </a:p>
        </p:txBody>
      </p:sp>
      <p:sp>
        <p:nvSpPr>
          <p:cNvPr id="506" name="Google Shape;506;p23"/>
          <p:cNvSpPr/>
          <p:nvPr/>
        </p:nvSpPr>
        <p:spPr>
          <a:xfrm>
            <a:off x="1097280" y="4800600"/>
            <a:ext cx="96926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71920"/>
              </a:buClr>
              <a:buSzPts val="1800"/>
              <a:buFont typeface="Arial"/>
              <a:buNone/>
            </a:pPr>
            <a:r>
              <a:rPr b="1" i="0" lang="en-US" sz="1800" u="none" cap="none" strike="noStrike">
                <a:solidFill>
                  <a:srgbClr val="D71920"/>
                </a:solidFill>
                <a:latin typeface="Arial"/>
                <a:ea typeface="Arial"/>
                <a:cs typeface="Arial"/>
                <a:sym typeface="Arial"/>
              </a:rPr>
              <a:t>Submit with your Data Analysis Plan.</a:t>
            </a:r>
            <a:endParaRPr b="0" i="0" sz="1800" u="none" cap="none" strike="noStrike">
              <a:solidFill>
                <a:schemeClr val="dk1"/>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0808"/>
        </a:solidFill>
      </p:bgPr>
    </p:bg>
    <p:spTree>
      <p:nvGrpSpPr>
        <p:cNvPr id="511" name="Shape 511"/>
        <p:cNvGrpSpPr/>
        <p:nvPr/>
      </p:nvGrpSpPr>
      <p:grpSpPr>
        <a:xfrm>
          <a:off x="0" y="0"/>
          <a:ext cx="0" cy="0"/>
          <a:chOff x="0" y="0"/>
          <a:chExt cx="0" cy="0"/>
        </a:xfrm>
      </p:grpSpPr>
      <p:sp>
        <p:nvSpPr>
          <p:cNvPr id="512" name="Google Shape;512;p24"/>
          <p:cNvSpPr/>
          <p:nvPr/>
        </p:nvSpPr>
        <p:spPr>
          <a:xfrm>
            <a:off x="0" y="0"/>
            <a:ext cx="12191695" cy="6858000"/>
          </a:xfrm>
          <a:prstGeom prst="rect">
            <a:avLst/>
          </a:prstGeom>
          <a:solidFill>
            <a:srgbClr val="080808"/>
          </a:solidFill>
          <a:ln cap="flat" cmpd="sng" w="12700">
            <a:solidFill>
              <a:srgbClr val="080808">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24"/>
          <p:cNvSpPr/>
          <p:nvPr/>
        </p:nvSpPr>
        <p:spPr>
          <a:xfrm>
            <a:off x="0" y="10972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4"/>
          <p:cNvSpPr/>
          <p:nvPr/>
        </p:nvSpPr>
        <p:spPr>
          <a:xfrm>
            <a:off x="0" y="6693408"/>
            <a:ext cx="12191695" cy="54864"/>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4"/>
          <p:cNvSpPr/>
          <p:nvPr/>
        </p:nvSpPr>
        <p:spPr>
          <a:xfrm>
            <a:off x="411480" y="6419088"/>
            <a:ext cx="3291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NEXT DECK</a:t>
            </a:r>
            <a:endParaRPr b="0" i="0" sz="900" u="none" cap="none" strike="noStrike">
              <a:solidFill>
                <a:schemeClr val="dk1"/>
              </a:solidFill>
              <a:latin typeface="Arial"/>
              <a:ea typeface="Arial"/>
              <a:cs typeface="Arial"/>
              <a:sym typeface="Arial"/>
            </a:endParaRPr>
          </a:p>
        </p:txBody>
      </p:sp>
      <p:sp>
        <p:nvSpPr>
          <p:cNvPr id="516" name="Google Shape;516;p24"/>
          <p:cNvSpPr/>
          <p:nvPr/>
        </p:nvSpPr>
        <p:spPr>
          <a:xfrm>
            <a:off x="10561320" y="6419088"/>
            <a:ext cx="11887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DECK 10</a:t>
            </a:r>
            <a:endParaRPr b="0" i="0" sz="900" u="none" cap="none" strike="noStrike">
              <a:solidFill>
                <a:schemeClr val="dk1"/>
              </a:solidFill>
              <a:latin typeface="Arial"/>
              <a:ea typeface="Arial"/>
              <a:cs typeface="Arial"/>
              <a:sym typeface="Arial"/>
            </a:endParaRPr>
          </a:p>
        </p:txBody>
      </p:sp>
      <p:sp>
        <p:nvSpPr>
          <p:cNvPr id="517" name="Google Shape;517;p24"/>
          <p:cNvSpPr/>
          <p:nvPr/>
        </p:nvSpPr>
        <p:spPr>
          <a:xfrm>
            <a:off x="640080" y="502920"/>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Next Deck: Graphing and Visual Ethics</a:t>
            </a:r>
            <a:endParaRPr b="0" i="0" sz="2800" u="none" cap="none" strike="noStrike">
              <a:solidFill>
                <a:schemeClr val="dk1"/>
              </a:solidFill>
              <a:latin typeface="Arial"/>
              <a:ea typeface="Arial"/>
              <a:cs typeface="Arial"/>
              <a:sym typeface="Arial"/>
            </a:endParaRPr>
          </a:p>
        </p:txBody>
      </p:sp>
      <p:sp>
        <p:nvSpPr>
          <p:cNvPr id="518" name="Google Shape;518;p24"/>
          <p:cNvSpPr/>
          <p:nvPr/>
        </p:nvSpPr>
        <p:spPr>
          <a:xfrm>
            <a:off x="640080" y="1078992"/>
            <a:ext cx="1234440" cy="45720"/>
          </a:xfrm>
          <a:prstGeom prst="rect">
            <a:avLst/>
          </a:prstGeom>
          <a:solidFill>
            <a:srgbClr val="D71920"/>
          </a:solidFill>
          <a:ln cap="flat" cmpd="sng" w="12700">
            <a:solidFill>
              <a:srgbClr val="D7192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24"/>
          <p:cNvSpPr/>
          <p:nvPr/>
        </p:nvSpPr>
        <p:spPr>
          <a:xfrm>
            <a:off x="2011680" y="987552"/>
            <a:ext cx="9144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Once the method is chosen, students must represent results honestly and clearly.</a:t>
            </a:r>
            <a:endParaRPr b="0" i="0" sz="1100" u="none" cap="none" strike="noStrike">
              <a:solidFill>
                <a:schemeClr val="dk1"/>
              </a:solidFill>
              <a:latin typeface="Arial"/>
              <a:ea typeface="Arial"/>
              <a:cs typeface="Arial"/>
              <a:sym typeface="Arial"/>
            </a:endParaRPr>
          </a:p>
        </p:txBody>
      </p:sp>
      <p:sp>
        <p:nvSpPr>
          <p:cNvPr id="520" name="Google Shape;520;p24"/>
          <p:cNvSpPr/>
          <p:nvPr/>
        </p:nvSpPr>
        <p:spPr>
          <a:xfrm>
            <a:off x="11064240" y="320040"/>
            <a:ext cx="502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71920"/>
              </a:buClr>
              <a:buSzPts val="1700"/>
              <a:buFont typeface="Play"/>
              <a:buNone/>
            </a:pPr>
            <a:r>
              <a:rPr b="1" i="0" lang="en-US" sz="1700" u="none" cap="none" strike="noStrike">
                <a:solidFill>
                  <a:srgbClr val="D71920"/>
                </a:solidFill>
                <a:latin typeface="Play"/>
                <a:ea typeface="Play"/>
                <a:cs typeface="Play"/>
                <a:sym typeface="Play"/>
              </a:rPr>
              <a:t>22</a:t>
            </a:r>
            <a:endParaRPr b="0" i="0" sz="1700" u="none" cap="none" strike="noStrike">
              <a:solidFill>
                <a:schemeClr val="dk1"/>
              </a:solidFill>
              <a:latin typeface="Arial"/>
              <a:ea typeface="Arial"/>
              <a:cs typeface="Arial"/>
              <a:sym typeface="Arial"/>
            </a:endParaRPr>
          </a:p>
        </p:txBody>
      </p:sp>
      <p:pic>
        <p:nvPicPr>
          <p:cNvPr descr="/mnt/data/STARLAB Logo 2026.png" id="521" name="Google Shape;521;p24"/>
          <p:cNvPicPr preferRelativeResize="0"/>
          <p:nvPr/>
        </p:nvPicPr>
        <p:blipFill rotWithShape="1">
          <a:blip r:embed="rId3">
            <a:alphaModFix/>
          </a:blip>
          <a:srcRect b="0" l="0" r="0" t="0"/>
          <a:stretch/>
        </p:blipFill>
        <p:spPr>
          <a:xfrm>
            <a:off x="1005840" y="1417320"/>
            <a:ext cx="3017520" cy="1600200"/>
          </a:xfrm>
          <a:prstGeom prst="rect">
            <a:avLst/>
          </a:prstGeom>
          <a:noFill/>
          <a:ln>
            <a:noFill/>
          </a:ln>
        </p:spPr>
      </p:pic>
      <p:sp>
        <p:nvSpPr>
          <p:cNvPr id="522" name="Google Shape;522;p24"/>
          <p:cNvSpPr/>
          <p:nvPr/>
        </p:nvSpPr>
        <p:spPr>
          <a:xfrm>
            <a:off x="4572000" y="1828800"/>
            <a:ext cx="6492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71920"/>
              </a:buClr>
              <a:buSzPts val="2800"/>
              <a:buFont typeface="Arial"/>
              <a:buNone/>
            </a:pPr>
            <a:r>
              <a:rPr b="1" i="0" lang="en-US" sz="2800" u="none" cap="none" strike="noStrike">
                <a:solidFill>
                  <a:srgbClr val="D71920"/>
                </a:solidFill>
                <a:latin typeface="Arial"/>
                <a:ea typeface="Arial"/>
                <a:cs typeface="Arial"/>
                <a:sym typeface="Arial"/>
              </a:rPr>
              <a:t>GRAPHING AND VISUAL ETHICS</a:t>
            </a:r>
            <a:endParaRPr b="0" i="0" sz="2800" u="none" cap="none" strike="noStrike">
              <a:solidFill>
                <a:schemeClr val="dk1"/>
              </a:solidFill>
              <a:latin typeface="Arial"/>
              <a:ea typeface="Arial"/>
              <a:cs typeface="Arial"/>
              <a:sym typeface="Arial"/>
            </a:endParaRPr>
          </a:p>
        </p:txBody>
      </p:sp>
      <p:sp>
        <p:nvSpPr>
          <p:cNvPr id="523" name="Google Shape;523;p24"/>
          <p:cNvSpPr/>
          <p:nvPr/>
        </p:nvSpPr>
        <p:spPr>
          <a:xfrm>
            <a:off x="4572000" y="2542032"/>
            <a:ext cx="60350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000"/>
              <a:buFont typeface="Arial"/>
              <a:buNone/>
            </a:pPr>
            <a:r>
              <a:rPr b="1" i="0" lang="en-US" sz="2000" u="none" cap="none" strike="noStrike">
                <a:solidFill>
                  <a:srgbClr val="FFFFFF"/>
                </a:solidFill>
                <a:latin typeface="Arial"/>
                <a:ea typeface="Arial"/>
                <a:cs typeface="Arial"/>
                <a:sym typeface="Arial"/>
              </a:rPr>
              <a:t>How do we show evidence clearly without misleading an audience?</a:t>
            </a:r>
            <a:endParaRPr b="0" i="0" sz="2000" u="none" cap="none" strike="noStrike">
              <a:solidFill>
                <a:schemeClr val="dk1"/>
              </a:solidFill>
              <a:latin typeface="Arial"/>
              <a:ea typeface="Arial"/>
              <a:cs typeface="Arial"/>
              <a:sym typeface="Arial"/>
            </a:endParaRPr>
          </a:p>
        </p:txBody>
      </p:sp>
      <p:sp>
        <p:nvSpPr>
          <p:cNvPr id="524" name="Google Shape;524;p24"/>
          <p:cNvSpPr/>
          <p:nvPr/>
        </p:nvSpPr>
        <p:spPr>
          <a:xfrm>
            <a:off x="4572000" y="3657600"/>
            <a:ext cx="60350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600"/>
              <a:buFont typeface="Arial"/>
              <a:buNone/>
            </a:pPr>
            <a:r>
              <a:rPr b="0" i="0" lang="en-US" sz="1600" u="none" cap="none" strike="noStrike">
                <a:solidFill>
                  <a:srgbClr val="B8B8B8"/>
                </a:solidFill>
                <a:latin typeface="Arial"/>
                <a:ea typeface="Arial"/>
                <a:cs typeface="Arial"/>
                <a:sym typeface="Arial"/>
              </a:rPr>
              <a:t>Next: choose visuals, build graphs, write captions, and avoid visual distortion.</a:t>
            </a:r>
            <a:endParaRPr b="0" i="0" sz="1600" u="none" cap="none" strike="noStrike">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