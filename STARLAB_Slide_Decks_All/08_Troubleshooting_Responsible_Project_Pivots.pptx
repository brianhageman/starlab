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12192000"/>
  <p:embeddedFontLst>
    <p:embeddedFont>
      <p:font typeface="Play"/>
      <p:regular r:id="rId23"/>
      <p:bold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font" Target="fonts/Play-bold.fntdata"/><Relationship Id="rId12" Type="http://schemas.openxmlformats.org/officeDocument/2006/relationships/slide" Target="slides/slide8.xml"/><Relationship Id="rId23" Type="http://schemas.openxmlformats.org/officeDocument/2006/relationships/font" Target="fonts/Play-regular.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Use this deck after students have conducted initial pilot tests and are beginning to encounter problems. The purpose is to normalize troubleshooting as part of research, not as a sign that a project is failing. Frame the lesson around a calm research habit: diagnose, revise, document, and continue.</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during Unit 3, Weeks 6–10 after Deck 6: Pilot Testing and Deck 7: Research Journals and Scientific Documentation. Primary connections: Unit 3 Student Handout 4: Pilot Test Reflection and Troubleshooting Log; Unit 3 Student Handout 5: Method Revision Decision Chart; Unit 3 Student Handout 11: Troubleshooting Conference Prep; Unit 3 Appendix D: Types of Research Problems; Unit 3 Appendix E: Troubleshooting Sentence Frames; Unit 3 Appendix K: Responsible Project Pivots.</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Print:</a:t>
            </a:r>
            <a:endParaRPr/>
          </a:p>
          <a:p>
            <a:pPr indent="-228600" lvl="0" marL="457200" marR="0" rtl="0" algn="l">
              <a:lnSpc>
                <a:spcPct val="100000"/>
              </a:lnSpc>
              <a:spcBef>
                <a:spcPts val="0"/>
              </a:spcBef>
              <a:spcAft>
                <a:spcPts val="0"/>
              </a:spcAft>
              <a:buSzPts val="1400"/>
              <a:buNone/>
            </a:pPr>
            <a:r>
              <a:t/>
            </a:r>
            <a:endParaRPr/>
          </a:p>
          <a:p>
            <a:pPr indent="0" lvl="0" marL="228600" marR="0" rtl="0" algn="l">
              <a:lnSpc>
                <a:spcPct val="100000"/>
              </a:lnSpc>
              <a:spcBef>
                <a:spcPts val="0"/>
              </a:spcBef>
              <a:spcAft>
                <a:spcPts val="0"/>
              </a:spcAft>
              <a:buSzPts val="1400"/>
              <a:buNone/>
            </a:pPr>
            <a:r>
              <a:rPr lang="en-US"/>
              <a:t>* **Unit 3 Student Handout 4: Pilot Test Reflection and Troubleshooting Log**</a:t>
            </a:r>
            <a:endParaRPr/>
          </a:p>
          <a:p>
            <a:pPr indent="0" lvl="0" marL="228600" marR="0" rtl="0" algn="l">
              <a:lnSpc>
                <a:spcPct val="100000"/>
              </a:lnSpc>
              <a:spcBef>
                <a:spcPts val="0"/>
              </a:spcBef>
              <a:spcAft>
                <a:spcPts val="0"/>
              </a:spcAft>
              <a:buSzPts val="1400"/>
              <a:buNone/>
            </a:pPr>
            <a:r>
              <a:rPr lang="en-US"/>
              <a:t>* **Unit 3 Student Handout 5: Method Revision Decision Chart**</a:t>
            </a:r>
            <a:endParaRPr/>
          </a:p>
          <a:p>
            <a:pPr indent="0" lvl="0" marL="228600" marR="0" rtl="0" algn="l">
              <a:lnSpc>
                <a:spcPct val="100000"/>
              </a:lnSpc>
              <a:spcBef>
                <a:spcPts val="0"/>
              </a:spcBef>
              <a:spcAft>
                <a:spcPts val="0"/>
              </a:spcAft>
              <a:buSzPts val="1400"/>
              <a:buNone/>
            </a:pPr>
            <a:r>
              <a:rPr lang="en-US"/>
              <a:t>* **Unit 3 Student Handout 6: Revised Procedure Template**</a:t>
            </a:r>
            <a:endParaRPr/>
          </a:p>
          <a:p>
            <a:pPr indent="0" lvl="0" marL="228600" marR="0" rtl="0" algn="l">
              <a:lnSpc>
                <a:spcPct val="100000"/>
              </a:lnSpc>
              <a:spcBef>
                <a:spcPts val="0"/>
              </a:spcBef>
              <a:spcAft>
                <a:spcPts val="0"/>
              </a:spcAft>
              <a:buSzPts val="1400"/>
              <a:buNone/>
            </a:pPr>
            <a:r>
              <a:rPr lang="en-US"/>
              <a:t>* **Unit 3 Student Handout 11: Troubleshooting Conference Prep**</a:t>
            </a:r>
            <a:endParaRPr/>
          </a:p>
          <a:p>
            <a:pPr indent="0" lvl="0" marL="228600" marR="0" rtl="0" algn="l">
              <a:lnSpc>
                <a:spcPct val="100000"/>
              </a:lnSpc>
              <a:spcBef>
                <a:spcPts val="0"/>
              </a:spcBef>
              <a:spcAft>
                <a:spcPts val="0"/>
              </a:spcAft>
              <a:buSzPts val="1400"/>
              <a:buNone/>
            </a:pPr>
            <a:r>
              <a:rPr lang="en-US"/>
              <a:t>* **Unit 3 Student Handout 12: Mentor or Expert Feedback Log**</a:t>
            </a:r>
            <a:endParaRPr/>
          </a:p>
          <a:p>
            <a:pPr indent="0" lvl="0" marL="228600" marR="0" rtl="0" algn="l">
              <a:lnSpc>
                <a:spcPct val="100000"/>
              </a:lnSpc>
              <a:spcBef>
                <a:spcPts val="0"/>
              </a:spcBef>
              <a:spcAft>
                <a:spcPts val="0"/>
              </a:spcAft>
              <a:buSzPts val="1400"/>
              <a:buNone/>
            </a:pPr>
            <a:r>
              <a:rPr lang="en-US"/>
              <a:t>* **Unit 3 Appendix D: Types of Research Problems**</a:t>
            </a:r>
            <a:endParaRPr/>
          </a:p>
          <a:p>
            <a:pPr indent="0" lvl="0" marL="228600" marR="0" rtl="0" algn="l">
              <a:lnSpc>
                <a:spcPct val="100000"/>
              </a:lnSpc>
              <a:spcBef>
                <a:spcPts val="0"/>
              </a:spcBef>
              <a:spcAft>
                <a:spcPts val="0"/>
              </a:spcAft>
              <a:buSzPts val="1400"/>
              <a:buNone/>
            </a:pPr>
            <a:r>
              <a:rPr lang="en-US"/>
              <a:t>* **Unit 3 Appendix E: Troubleshooting Sentence Frames**</a:t>
            </a:r>
            <a:endParaRPr/>
          </a:p>
          <a:p>
            <a:pPr indent="0" lvl="0" marL="228600" marR="0" rtl="0" algn="l">
              <a:lnSpc>
                <a:spcPct val="100000"/>
              </a:lnSpc>
              <a:spcBef>
                <a:spcPts val="0"/>
              </a:spcBef>
              <a:spcAft>
                <a:spcPts val="0"/>
              </a:spcAft>
              <a:buSzPts val="1400"/>
              <a:buNone/>
            </a:pPr>
            <a:r>
              <a:rPr lang="en-US"/>
              <a:t>* **Unit 3 Appendix K: Responsible Project Pivots**</a:t>
            </a:r>
            <a:endParaRPr/>
          </a:p>
          <a:p>
            <a:pPr indent="0" lvl="0" marL="228600" marR="0" rtl="0" algn="l">
              <a:lnSpc>
                <a:spcPct val="100000"/>
              </a:lnSpc>
              <a:spcBef>
                <a:spcPts val="0"/>
              </a:spcBef>
              <a:spcAft>
                <a:spcPts val="0"/>
              </a:spcAft>
              <a:buSzPts val="1400"/>
              <a:buNone/>
            </a:pPr>
            <a:r>
              <a:t/>
            </a:r>
            <a:endParaRPr/>
          </a:p>
          <a:p>
            <a:pPr indent="0" lvl="0" marL="228600" marR="0" rtl="0" algn="l">
              <a:lnSpc>
                <a:spcPct val="100000"/>
              </a:lnSpc>
              <a:spcBef>
                <a:spcPts val="0"/>
              </a:spcBef>
              <a:spcAft>
                <a:spcPts val="0"/>
              </a:spcAft>
              <a:buSzPts val="1400"/>
              <a:buNone/>
            </a:pPr>
            <a:r>
              <a:rPr lang="en-US"/>
              <a:t>Optional but useful:</a:t>
            </a:r>
            <a:endParaRPr/>
          </a:p>
          <a:p>
            <a:pPr indent="0" lvl="0" marL="228600" marR="0" rtl="0" algn="l">
              <a:lnSpc>
                <a:spcPct val="100000"/>
              </a:lnSpc>
              <a:spcBef>
                <a:spcPts val="0"/>
              </a:spcBef>
              <a:spcAft>
                <a:spcPts val="0"/>
              </a:spcAft>
              <a:buSzPts val="1400"/>
              <a:buNone/>
            </a:pPr>
            <a:r>
              <a:t/>
            </a:r>
            <a:endParaRPr/>
          </a:p>
          <a:p>
            <a:pPr indent="0" lvl="0" marL="228600" marR="0" rtl="0" algn="l">
              <a:lnSpc>
                <a:spcPct val="100000"/>
              </a:lnSpc>
              <a:spcBef>
                <a:spcPts val="0"/>
              </a:spcBef>
              <a:spcAft>
                <a:spcPts val="0"/>
              </a:spcAft>
              <a:buSzPts val="1400"/>
              <a:buNone/>
            </a:pPr>
            <a:r>
              <a:rPr lang="en-US"/>
              <a:t>* **Unit 3 Student Handout 9: Weekly Progress Check-In**</a:t>
            </a:r>
            <a:endParaRPr/>
          </a:p>
          <a:p>
            <a:pPr indent="0" lvl="0" marL="228600" marR="0" rtl="0" algn="l">
              <a:lnSpc>
                <a:spcPct val="100000"/>
              </a:lnSpc>
              <a:spcBef>
                <a:spcPts val="0"/>
              </a:spcBef>
              <a:spcAft>
                <a:spcPts val="0"/>
              </a:spcAft>
              <a:buSzPts val="1400"/>
              <a:buNone/>
            </a:pPr>
            <a:r>
              <a:rPr lang="en-US"/>
              <a:t>* **Unit 3 Student Handout 15: Post-Progress Report Action Plan**</a:t>
            </a:r>
            <a:endParaRPr/>
          </a:p>
          <a:p>
            <a:pPr indent="0" lvl="0" marL="228600" marR="0" rtl="0" algn="l">
              <a:lnSpc>
                <a:spcPct val="100000"/>
              </a:lnSpc>
              <a:spcBef>
                <a:spcPts val="0"/>
              </a:spcBef>
              <a:spcAft>
                <a:spcPts val="0"/>
              </a:spcAft>
              <a:buSzPts val="1400"/>
              <a:buNone/>
            </a:pPr>
            <a:r>
              <a:rPr lang="en-US"/>
              <a:t>* **Unit 3 Appendix P: Recovery Plan Options**</a:t>
            </a:r>
            <a:endParaRPr/>
          </a:p>
          <a:p>
            <a:pPr indent="0" lvl="0" marL="228600" marR="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Open by reassuring students that problems are expected. Ask for examples of what has already gone wrong during pilot testing. Keep the tone practical and calm: problems are not personal failures. The goal is to turn vague frustration into a specific research problem that can be acted on.</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after students have completed Unit 3 Student Handout 1: Pilot Test Plan and begun documenting work with Unit 3 Student Handout 3: Daily Research Journal Entry Template. This slide sets up later use of Unit 3 Student Handout 4: Pilot Test Reflection and Troubleshooting Log.</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Students may see failure as embarrassing. Emphasize that a failed trial is only wasted if it is undocumented or ignored. Invite one student to translate an emotional reaction into an evidence-based observation. Reinforce the shift from 'I messed up' to 'Here is what happened, here is the evidence, and here is what I will test next.'</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4: Pilot Test Reflection and Troubleshooting Log. Also connect to Unit 3 Appendix E: Troubleshooting Sentence Frames for students who need language to describe problems productively.</a:t>
            </a:r>
            <a:endParaRPr/>
          </a:p>
        </p:txBody>
      </p:sp>
      <p:sp>
        <p:nvSpPr>
          <p:cNvPr id="47" name="Google Shape;4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Use this slide as the organizing framework for the deck. Have students quickly classify a current project issue into one of these categories. Most problems involve more than one category, which is fine. The point is to help students name the problem before they start changing the project.</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Appendix D: Types of Research Problems. Students can also record the category in Unit 3 Student Handout 4: Pilot Test Reflection and Troubleshooting Log.</a:t>
            </a:r>
            <a:endParaRPr/>
          </a:p>
        </p:txBody>
      </p:sp>
      <p:sp>
        <p:nvSpPr>
          <p:cNvPr id="69" name="Google Shape;6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This is a key research habit: students often make five changes at once and then cannot tell what actually helped. Reinforce the phrase 'one change, one reason, one record.' Push students to observe first, identify evidence, propose a cause, and then test one action.</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4: Pilot Test Reflection and Troubleshooting Log and Unit 3 Student Handout 11: Troubleshooting Conference Prep. This slide also supports Unit 3 Appendix E: Troubleshooting Sentence Frames.</a:t>
            </a:r>
            <a:endParaRPr/>
          </a:p>
        </p:txBody>
      </p:sp>
      <p:sp>
        <p:nvSpPr>
          <p:cNvPr id="101" name="Google Shape;10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 name="Google Shape;13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Connect this to the Revised Procedure Template. Procedural problems are common and easy to improve when students write the steps more precisely. Ask students whether another student could repeat their procedure without guessing. If the answer is no, the procedure needs revision before more data are collected.</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6: Revised Procedure Template and Unit 3 Appendix F: Procedure Revision Checklist. If students are deciding whether they are ready for full data collection, also use Unit 3 Student Handout 5: Method Revision Decision Chart.</a:t>
            </a:r>
            <a:endParaRPr/>
          </a:p>
        </p:txBody>
      </p:sp>
      <p:sp>
        <p:nvSpPr>
          <p:cNvPr id="136" name="Google Shape;13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Ask students to show their data table. If the data table cannot record the evidence needed, the measurement plan is not ready. Emphasize that measurement problems can make a promising project produce weak evidence, so they should be addressed before students collect more data.</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7: Data Table Audit. If students are actively collecting data, connect to Unit 3 Student Handout 8: Formal Data Collection Log. If they need to revisit planning, connect to Unit 2 Student Handout 8: Data Collection Plan.</a:t>
            </a:r>
            <a:endParaRPr/>
          </a:p>
        </p:txBody>
      </p:sp>
      <p:sp>
        <p:nvSpPr>
          <p:cNvPr id="156" name="Google Shape;15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Emphasize that equipment issues must be documented, especially if they affect a trial. A broken part is not just a problem; it can explain variation or invalid data later. Ask students to identify whether a trial should be flagged, repeated, or kept with a note.</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4: Pilot Test Reflection and Troubleshooting Log and Unit 3 Student Handout 3: Daily Research Journal Entry Template. This also connects to Unit 3 Appendix D: Types of Research Problems.</a:t>
            </a:r>
            <a:endParaRPr/>
          </a:p>
        </p:txBody>
      </p:sp>
      <p:sp>
        <p:nvSpPr>
          <p:cNvPr id="184" name="Google Shape;184;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 name="Google Shape;20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Engineering students often experience prototype failure. Make sure they do not interpret this as 'no data.' Failure mode, load at failure, time to failure, and redesign reasoning are all data. Encourage students to compare versions under consistent conditions.</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4: Pilot Test Reflection and Troubleshooting Log, Unit 3 Student Handout 5: Method Revision Decision Chart, and Unit 3 Appendix K: Responsible Project Pivots.</a:t>
            </a:r>
            <a:endParaRPr/>
          </a:p>
        </p:txBody>
      </p:sp>
      <p:sp>
        <p:nvSpPr>
          <p:cNvPr id="204" name="Google Shape;20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This slide should reduce shame around scope reduction. Make clear that a project can still be strong if it becomes a pilot study, feasibility study, focused comparison, or failure analysis. Smaller and defensible is better than ambitious and incomplete.</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9: Weekly Progress Check-In and Unit 3 Appendix P: Recovery Plan Options. Later in Unit 3, this can also connect to Unit 3 Student Handout 15: Post-Progress Report Action Plan.</a:t>
            </a:r>
            <a:endParaRPr/>
          </a:p>
        </p:txBody>
      </p:sp>
      <p:sp>
        <p:nvSpPr>
          <p:cNvPr id="226" name="Google Shape;22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Pause here and have students open the troubleshooting log. If time allows, have them complete the first two sections for a real problem from their project. Students should write what happened and what evidence shows the problem before proposing a fix.</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Primary resource: Unit 3 Student Handout 4: Pilot Test Reflection and Troubleshooting Log. Use Unit 3 Appendix E: Troubleshooting Sentence Frames for students who need support writing precise troubleshooting language.</a:t>
            </a:r>
            <a:endParaRPr/>
          </a:p>
        </p:txBody>
      </p:sp>
      <p:sp>
        <p:nvSpPr>
          <p:cNvPr id="248" name="Google Shape;248;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Students need a way to distinguish productive pivots from avoidance. Invite examples: a safer method, fewer variables, a smaller comparison, a shift to a pilot study, or a move from full build to feasibility testing. A responsible pivot is evidence-based and approved, not impulsive.</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Appendix K: Responsible Project Pivots. If the pivot requires outside guidance, connect to Unit 3 Student Handout 12: Mentor or Expert Feedback Log and Unit 3 Appendix L: Mentor Communication Guidelines.</a:t>
            </a:r>
            <a:endParaRPr/>
          </a:p>
        </p:txBody>
      </p:sp>
      <p:sp>
        <p:nvSpPr>
          <p:cNvPr id="276" name="Google Shape;27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Use this as a quick decision protocol. It also reinforces approval before major changes. Ask students which box they are currently in: revise and retest, reduce scope, pivot, document, or seek approval. Do not allow major project changes to happen silently.</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5: Method Revision Decision Chart and Unit 3 Appendix K: Responsible Project Pivots. Students should document the decision in Unit 3 Student Handout 4: Pilot Test Reflection and Troubleshooting Log or in their research journal.</a:t>
            </a:r>
            <a:endParaRPr/>
          </a:p>
        </p:txBody>
      </p:sp>
      <p:sp>
        <p:nvSpPr>
          <p:cNvPr id="296" name="Google Shape;29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8" name="Google Shape;32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Student-facing activity. Students can work individually first, then compare with a partner. Aim for the reasoning, not one perfect category. Scenarios map to measurement, procedure/data recording, design/prototype, and timeline/scope. Ask students to name evidence before proposing a fix.</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Appendix D: Types of Research Problems and Unit 3 Appendix E: Troubleshooting Sentence Frames. Students may record scenario responses on Unit 3 Student Handout 4: Pilot Test Reflection and Troubleshooting Log as practice before applying it to their own project.</a:t>
            </a:r>
            <a:endParaRPr/>
          </a:p>
        </p:txBody>
      </p:sp>
      <p:sp>
        <p:nvSpPr>
          <p:cNvPr id="329" name="Google Shape;32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This activity is especially useful during project work days. Groups of 3–4 can rotate through one problem per student. Enforce the clarifying-questions-only step to slow down premature advice. The goal is a documented next action, not a loose conversation.</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11: Troubleshooting Conference Prep. If students receive outside feedback, use Unit 3 Student Handout 12: Mentor or Expert Feedback Log.</a:t>
            </a:r>
            <a:endParaRPr/>
          </a:p>
        </p:txBody>
      </p:sp>
      <p:sp>
        <p:nvSpPr>
          <p:cNvPr id="354" name="Google Shape;35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1" name="Google Shape;38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This is the main work-time activity. Students should produce a documented decision, not just talk about what they might do. Push for the smallest responsible next move: revise, retest, seek approval, reduce scope, or pivot.</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with Unit 3 Student Handout 4: Pilot Test Reflection and Troubleshooting Log and Unit 3 Student Handout 5: Method Revision Decision Chart. Students should also update Unit 3 Student Handout 3: Daily Research Journal Entry Template or their active research journal. Use Unit 3 Appendix K: Responsible Project Pivots if the next move changes the project direction.</a:t>
            </a:r>
            <a:endParaRPr/>
          </a:p>
        </p:txBody>
      </p:sp>
      <p:sp>
        <p:nvSpPr>
          <p:cNvPr id="382" name="Google Shape;38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4" name="Google Shape;404;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Use this to ensure every student leaves with a specific next action. It also creates documentation for progress monitoring. Students who cannot identify evidence for the problem need a short conference before they keep working.</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Use as a quick checkpoint after Unit 3 Student Handout 4: Pilot Test Reflection and Troubleshooting Log or Unit 3 Student Handout 11: Troubleshooting Conference Prep. Students should attach the exit ticket to today’s research journal entry or use it to complete Unit 3 Student Handout 9: Weekly Progress Check-In.</a:t>
            </a:r>
            <a:endParaRPr/>
          </a:p>
        </p:txBody>
      </p:sp>
      <p:sp>
        <p:nvSpPr>
          <p:cNvPr id="405" name="Google Shape;405;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1" lang="en-US"/>
              <a:t>Teacher notes:</a:t>
            </a:r>
            <a:endParaRPr/>
          </a:p>
          <a:p>
            <a:pPr indent="-228600" lvl="0" marL="457200" marR="0" rtl="0" algn="l">
              <a:lnSpc>
                <a:spcPct val="100000"/>
              </a:lnSpc>
              <a:spcBef>
                <a:spcPts val="0"/>
              </a:spcBef>
              <a:spcAft>
                <a:spcPts val="0"/>
              </a:spcAft>
              <a:buSzPts val="1400"/>
              <a:buNone/>
            </a:pPr>
            <a:r>
              <a:rPr lang="en-US"/>
              <a:t>Close by connecting troubleshooting to data quality. If changes are undocumented, later data analysis becomes unreliable. Preview the next deck as the transition from project work to organized evidence. Students should understand that clean analysis depends on honest documentation of problems and revisions.</a:t>
            </a:r>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b="1" lang="en-US"/>
              <a:t>Resource alignment:</a:t>
            </a:r>
            <a:endParaRPr/>
          </a:p>
          <a:p>
            <a:pPr indent="-228600" lvl="0" marL="457200" marR="0" rtl="0" algn="l">
              <a:lnSpc>
                <a:spcPct val="100000"/>
              </a:lnSpc>
              <a:spcBef>
                <a:spcPts val="0"/>
              </a:spcBef>
              <a:spcAft>
                <a:spcPts val="0"/>
              </a:spcAft>
              <a:buSzPts val="1400"/>
              <a:buNone/>
            </a:pPr>
            <a:r>
              <a:rPr lang="en-US"/>
              <a:t>Next deck connection: Deck 9: Data Organization — Raw Data vs. Clean Data. This transition connects to Unit 3 Student Handout 17: Data Audit and Organization Checklist and Unit 3 Student Handout 18: Unit 3 Readiness for Analysis Review. It also previews Unit 4 Student Handout 1: Raw Data Inventory and Unit 4 Student Handout 2: Clean Data Set Builder.</a:t>
            </a:r>
            <a:endParaRPr/>
          </a:p>
        </p:txBody>
      </p:sp>
      <p:sp>
        <p:nvSpPr>
          <p:cNvPr id="430" name="Google Shape;43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3"/>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3"/>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3"/>
          <p:cNvSpPr/>
          <p:nvPr/>
        </p:nvSpPr>
        <p:spPr>
          <a:xfrm>
            <a:off x="950970" y="4782422"/>
            <a:ext cx="10287000" cy="1079100"/>
          </a:xfrm>
          <a:prstGeom prst="rect">
            <a:avLst/>
          </a:prstGeom>
          <a:solidFill>
            <a:srgbClr val="000000"/>
          </a:solidFill>
          <a:ln cap="flat" cmpd="sng" w="13950">
            <a:solidFill>
              <a:srgbClr val="77777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3"/>
          <p:cNvSpPr/>
          <p:nvPr/>
        </p:nvSpPr>
        <p:spPr>
          <a:xfrm>
            <a:off x="1033266" y="4873862"/>
            <a:ext cx="10104000" cy="841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TROUBLESHOOTING</a:t>
            </a:r>
            <a:endParaRPr b="0" i="0" sz="2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&amp; RESPONSIBLE PROJECT PIVOTS</a:t>
            </a:r>
            <a:endParaRPr b="0" i="0" sz="2700" u="none" cap="none" strike="noStrike">
              <a:solidFill>
                <a:schemeClr val="dk1"/>
              </a:solidFill>
              <a:latin typeface="Arial"/>
              <a:ea typeface="Arial"/>
              <a:cs typeface="Arial"/>
              <a:sym typeface="Arial"/>
            </a:endParaRPr>
          </a:p>
        </p:txBody>
      </p:sp>
      <p:sp>
        <p:nvSpPr>
          <p:cNvPr id="21" name="Google Shape;21;p3"/>
          <p:cNvSpPr/>
          <p:nvPr/>
        </p:nvSpPr>
        <p:spPr>
          <a:xfrm>
            <a:off x="1014978" y="5934566"/>
            <a:ext cx="68580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STARLAB Deck 08  •  Unit 3 Core Instruction</a:t>
            </a:r>
            <a:endParaRPr b="0" i="0" sz="1200" u="none" cap="none" strike="noStrike">
              <a:solidFill>
                <a:schemeClr val="dk1"/>
              </a:solidFill>
              <a:latin typeface="Arial"/>
              <a:ea typeface="Arial"/>
              <a:cs typeface="Arial"/>
              <a:sym typeface="Arial"/>
            </a:endParaRPr>
          </a:p>
        </p:txBody>
      </p:sp>
      <p:pic>
        <p:nvPicPr>
          <p:cNvPr descr="/mnt/data/STARLAB Logo 2026.png" id="22" name="Google Shape;22;p3"/>
          <p:cNvPicPr preferRelativeResize="0"/>
          <p:nvPr/>
        </p:nvPicPr>
        <p:blipFill rotWithShape="1">
          <a:blip r:embed="rId3">
            <a:alphaModFix/>
          </a:blip>
          <a:srcRect b="0" l="0" r="0" t="0"/>
          <a:stretch/>
        </p:blipFill>
        <p:spPr>
          <a:xfrm>
            <a:off x="1696153" y="470969"/>
            <a:ext cx="8778240" cy="416052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7" name="Shape 27"/>
        <p:cNvGrpSpPr/>
        <p:nvPr/>
      </p:nvGrpSpPr>
      <p:grpSpPr>
        <a:xfrm>
          <a:off x="0" y="0"/>
          <a:ext cx="0" cy="0"/>
          <a:chOff x="0" y="0"/>
          <a:chExt cx="0" cy="0"/>
        </a:xfrm>
      </p:grpSpPr>
      <p:sp>
        <p:nvSpPr>
          <p:cNvPr id="28" name="Google Shape;28;p4"/>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4"/>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4"/>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4"/>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WHEN RESEARCH GETS MESSY</a:t>
            </a:r>
            <a:endParaRPr b="0" i="0" sz="2700" u="none" cap="none" strike="noStrike">
              <a:solidFill>
                <a:schemeClr val="dk1"/>
              </a:solidFill>
              <a:latin typeface="Arial"/>
              <a:ea typeface="Arial"/>
              <a:cs typeface="Arial"/>
              <a:sym typeface="Arial"/>
            </a:endParaRPr>
          </a:p>
        </p:txBody>
      </p:sp>
      <p:sp>
        <p:nvSpPr>
          <p:cNvPr id="32" name="Google Shape;32;p4"/>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4"/>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The purpose of troubleshooting is to make the project stronger.</a:t>
            </a:r>
            <a:endParaRPr b="0" i="0" sz="1200" u="none" cap="none" strike="noStrike">
              <a:solidFill>
                <a:schemeClr val="dk1"/>
              </a:solidFill>
              <a:latin typeface="Arial"/>
              <a:ea typeface="Arial"/>
              <a:cs typeface="Arial"/>
              <a:sym typeface="Arial"/>
            </a:endParaRPr>
          </a:p>
        </p:txBody>
      </p:sp>
      <p:cxnSp>
        <p:nvCxnSpPr>
          <p:cNvPr id="34" name="Google Shape;34;p4"/>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35" name="Google Shape;35;p4"/>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02</a:t>
            </a:r>
            <a:endParaRPr b="0" i="0" sz="750" u="none" cap="none" strike="noStrike">
              <a:solidFill>
                <a:schemeClr val="dk1"/>
              </a:solidFill>
              <a:latin typeface="Arial"/>
              <a:ea typeface="Arial"/>
              <a:cs typeface="Arial"/>
              <a:sym typeface="Arial"/>
            </a:endParaRPr>
          </a:p>
        </p:txBody>
      </p:sp>
      <p:pic>
        <p:nvPicPr>
          <p:cNvPr descr="/mnt/data/STARLAB Logo 2026.png" id="36" name="Google Shape;36;p4"/>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37" name="Google Shape;37;p4"/>
          <p:cNvSpPr/>
          <p:nvPr/>
        </p:nvSpPr>
        <p:spPr>
          <a:xfrm>
            <a:off x="777240" y="1600200"/>
            <a:ext cx="4800600" cy="1051560"/>
          </a:xfrm>
          <a:prstGeom prst="roundRect">
            <a:avLst>
              <a:gd fmla="val 695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4"/>
          <p:cNvSpPr/>
          <p:nvPr/>
        </p:nvSpPr>
        <p:spPr>
          <a:xfrm>
            <a:off x="932688" y="1728216"/>
            <a:ext cx="4489704" cy="82296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100"/>
              <a:buFont typeface="Arial"/>
              <a:buNone/>
            </a:pPr>
            <a:r>
              <a:rPr b="1" i="0" lang="en-US" sz="2100" u="none" cap="none" strike="noStrike">
                <a:solidFill>
                  <a:srgbClr val="F7F7F7"/>
                </a:solidFill>
                <a:latin typeface="Arial"/>
                <a:ea typeface="Arial"/>
                <a:cs typeface="Arial"/>
                <a:sym typeface="Arial"/>
              </a:rPr>
              <a:t>A problem is not the end of the project.</a:t>
            </a:r>
            <a:endParaRPr b="0" i="0" sz="2100" u="none" cap="none" strike="noStrike">
              <a:solidFill>
                <a:schemeClr val="dk1"/>
              </a:solidFill>
              <a:latin typeface="Arial"/>
              <a:ea typeface="Arial"/>
              <a:cs typeface="Arial"/>
              <a:sym typeface="Arial"/>
            </a:endParaRPr>
          </a:p>
        </p:txBody>
      </p:sp>
      <p:sp>
        <p:nvSpPr>
          <p:cNvPr id="39" name="Google Shape;39;p4"/>
          <p:cNvSpPr/>
          <p:nvPr/>
        </p:nvSpPr>
        <p:spPr>
          <a:xfrm>
            <a:off x="6126480" y="1600200"/>
            <a:ext cx="5303520" cy="1051560"/>
          </a:xfrm>
          <a:prstGeom prst="roundRect">
            <a:avLst>
              <a:gd fmla="val 6957" name="adj"/>
            </a:avLst>
          </a:prstGeom>
          <a:solidFill>
            <a:srgbClr val="0B0B0D"/>
          </a:solidFill>
          <a:ln cap="flat" cmpd="sng" w="139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4"/>
          <p:cNvSpPr/>
          <p:nvPr/>
        </p:nvSpPr>
        <p:spPr>
          <a:xfrm>
            <a:off x="6281928" y="1728216"/>
            <a:ext cx="4992624" cy="82296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A problem is evidence that the method, design, measurement, or timeline needs attention.</a:t>
            </a:r>
            <a:endParaRPr b="0" i="0" sz="1800" u="none" cap="none" strike="noStrike">
              <a:solidFill>
                <a:schemeClr val="dk1"/>
              </a:solidFill>
              <a:latin typeface="Arial"/>
              <a:ea typeface="Arial"/>
              <a:cs typeface="Arial"/>
              <a:sym typeface="Arial"/>
            </a:endParaRPr>
          </a:p>
        </p:txBody>
      </p:sp>
      <p:sp>
        <p:nvSpPr>
          <p:cNvPr id="41" name="Google Shape;41;p4"/>
          <p:cNvSpPr/>
          <p:nvPr/>
        </p:nvSpPr>
        <p:spPr>
          <a:xfrm>
            <a:off x="960120" y="3072384"/>
            <a:ext cx="10241280" cy="150876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 Real research rarely follows the first plan exactly.</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 Pilot testing is designed to reveal weaknesses early.</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 The goal is not to hide problems; the goal is to respond responsibly.</a:t>
            </a:r>
            <a:endParaRPr b="0" i="0" sz="1800" u="none" cap="none" strike="noStrike">
              <a:solidFill>
                <a:schemeClr val="dk1"/>
              </a:solidFill>
              <a:latin typeface="Arial"/>
              <a:ea typeface="Arial"/>
              <a:cs typeface="Arial"/>
              <a:sym typeface="Arial"/>
            </a:endParaRPr>
          </a:p>
        </p:txBody>
      </p:sp>
      <p:cxnSp>
        <p:nvCxnSpPr>
          <p:cNvPr id="42" name="Google Shape;42;p4"/>
          <p:cNvCxnSpPr/>
          <p:nvPr/>
        </p:nvCxnSpPr>
        <p:spPr>
          <a:xfrm>
            <a:off x="960120" y="4892040"/>
            <a:ext cx="10241280" cy="0"/>
          </a:xfrm>
          <a:prstGeom prst="straightConnector1">
            <a:avLst/>
          </a:prstGeom>
          <a:noFill/>
          <a:ln cap="flat" cmpd="sng" w="19050">
            <a:solidFill>
              <a:srgbClr val="ED1C24"/>
            </a:solidFill>
            <a:prstDash val="solid"/>
            <a:round/>
            <a:headEnd len="sm" w="sm" type="none"/>
            <a:tailEnd len="sm" w="sm" type="none"/>
          </a:ln>
        </p:spPr>
      </p:cxnSp>
      <p:sp>
        <p:nvSpPr>
          <p:cNvPr id="43" name="Google Shape;43;p4"/>
          <p:cNvSpPr/>
          <p:nvPr/>
        </p:nvSpPr>
        <p:spPr>
          <a:xfrm>
            <a:off x="960120" y="5166360"/>
            <a:ext cx="1024128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000"/>
              <a:buFont typeface="Arial"/>
              <a:buNone/>
            </a:pPr>
            <a:r>
              <a:rPr b="1" i="0" lang="en-US" sz="2000" u="none" cap="none" strike="noStrike">
                <a:solidFill>
                  <a:srgbClr val="F7F7F7"/>
                </a:solidFill>
                <a:latin typeface="Arial"/>
                <a:ea typeface="Arial"/>
                <a:cs typeface="Arial"/>
                <a:sym typeface="Arial"/>
              </a:rPr>
              <a:t>Today’s move: diagnose → revise → document → continue.</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8" name="Shape 48"/>
        <p:cNvGrpSpPr/>
        <p:nvPr/>
      </p:nvGrpSpPr>
      <p:grpSpPr>
        <a:xfrm>
          <a:off x="0" y="0"/>
          <a:ext cx="0" cy="0"/>
          <a:chOff x="0" y="0"/>
          <a:chExt cx="0" cy="0"/>
        </a:xfrm>
      </p:grpSpPr>
      <p:sp>
        <p:nvSpPr>
          <p:cNvPr id="49" name="Google Shape;49;p5"/>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5"/>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5"/>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5"/>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FAILURE IS DATA</a:t>
            </a:r>
            <a:endParaRPr b="0" i="0" sz="2700" u="none" cap="none" strike="noStrike">
              <a:solidFill>
                <a:schemeClr val="dk1"/>
              </a:solidFill>
              <a:latin typeface="Arial"/>
              <a:ea typeface="Arial"/>
              <a:cs typeface="Arial"/>
              <a:sym typeface="Arial"/>
            </a:endParaRPr>
          </a:p>
        </p:txBody>
      </p:sp>
      <p:sp>
        <p:nvSpPr>
          <p:cNvPr id="53" name="Google Shape;53;p5"/>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5"/>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A failed trial can teach you what the next trial needs.</a:t>
            </a:r>
            <a:endParaRPr b="0" i="0" sz="1200" u="none" cap="none" strike="noStrike">
              <a:solidFill>
                <a:schemeClr val="dk1"/>
              </a:solidFill>
              <a:latin typeface="Arial"/>
              <a:ea typeface="Arial"/>
              <a:cs typeface="Arial"/>
              <a:sym typeface="Arial"/>
            </a:endParaRPr>
          </a:p>
        </p:txBody>
      </p:sp>
      <p:cxnSp>
        <p:nvCxnSpPr>
          <p:cNvPr id="55" name="Google Shape;55;p5"/>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56" name="Google Shape;56;p5"/>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03</a:t>
            </a:r>
            <a:endParaRPr b="0" i="0" sz="750" u="none" cap="none" strike="noStrike">
              <a:solidFill>
                <a:schemeClr val="dk1"/>
              </a:solidFill>
              <a:latin typeface="Arial"/>
              <a:ea typeface="Arial"/>
              <a:cs typeface="Arial"/>
              <a:sym typeface="Arial"/>
            </a:endParaRPr>
          </a:p>
        </p:txBody>
      </p:sp>
      <p:pic>
        <p:nvPicPr>
          <p:cNvPr descr="/mnt/data/STARLAB Logo 2026.png" id="57" name="Google Shape;57;p5"/>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cxnSp>
        <p:nvCxnSpPr>
          <p:cNvPr id="58" name="Google Shape;58;p5"/>
          <p:cNvCxnSpPr/>
          <p:nvPr/>
        </p:nvCxnSpPr>
        <p:spPr>
          <a:xfrm>
            <a:off x="777240" y="1938528"/>
            <a:ext cx="10195560" cy="0"/>
          </a:xfrm>
          <a:prstGeom prst="straightConnector1">
            <a:avLst/>
          </a:prstGeom>
          <a:noFill/>
          <a:ln cap="flat" cmpd="sng" w="12700">
            <a:solidFill>
              <a:srgbClr val="ED1C24"/>
            </a:solidFill>
            <a:prstDash val="solid"/>
            <a:round/>
            <a:headEnd len="sm" w="sm" type="none"/>
            <a:tailEnd len="sm" w="sm" type="none"/>
          </a:ln>
        </p:spPr>
      </p:cxnSp>
      <p:sp>
        <p:nvSpPr>
          <p:cNvPr id="59" name="Google Shape;59;p5"/>
          <p:cNvSpPr/>
          <p:nvPr/>
        </p:nvSpPr>
        <p:spPr>
          <a:xfrm>
            <a:off x="868680" y="2240280"/>
            <a:ext cx="4800600" cy="1143000"/>
          </a:xfrm>
          <a:prstGeom prst="roundRect">
            <a:avLst>
              <a:gd fmla="val 6400" name="adj"/>
            </a:avLst>
          </a:prstGeom>
          <a:solidFill>
            <a:srgbClr val="0B0B0D"/>
          </a:solidFill>
          <a:ln cap="flat" cmpd="sng" w="13950">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5"/>
          <p:cNvSpPr/>
          <p:nvPr/>
        </p:nvSpPr>
        <p:spPr>
          <a:xfrm>
            <a:off x="1024128" y="2368296"/>
            <a:ext cx="4489704" cy="9144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900"/>
              <a:buFont typeface="Arial"/>
              <a:buNone/>
            </a:pPr>
            <a:r>
              <a:rPr b="0" i="0" lang="en-US" sz="1900" u="none" cap="none" strike="noStrike">
                <a:solidFill>
                  <a:srgbClr val="F7F7F7"/>
                </a:solidFill>
                <a:latin typeface="Arial"/>
                <a:ea typeface="Arial"/>
                <a:cs typeface="Arial"/>
                <a:sym typeface="Arial"/>
              </a:rPr>
              <a:t>NOT USEFUL</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900"/>
              <a:buFont typeface="Arial"/>
              <a:buNone/>
            </a:pPr>
            <a:r>
              <a:rPr b="0" i="0" lang="en-US" sz="1900" u="none" cap="none" strike="noStrike">
                <a:solidFill>
                  <a:srgbClr val="F7F7F7"/>
                </a:solidFill>
                <a:latin typeface="Arial"/>
                <a:ea typeface="Arial"/>
                <a:cs typeface="Arial"/>
                <a:sym typeface="Arial"/>
              </a:rPr>
              <a:t>“I messed up. The project is bad.”</a:t>
            </a:r>
            <a:endParaRPr b="0" i="0" sz="1900" u="none" cap="none" strike="noStrike">
              <a:solidFill>
                <a:schemeClr val="dk1"/>
              </a:solidFill>
              <a:latin typeface="Arial"/>
              <a:ea typeface="Arial"/>
              <a:cs typeface="Arial"/>
              <a:sym typeface="Arial"/>
            </a:endParaRPr>
          </a:p>
        </p:txBody>
      </p:sp>
      <p:sp>
        <p:nvSpPr>
          <p:cNvPr id="61" name="Google Shape;61;p5"/>
          <p:cNvSpPr/>
          <p:nvPr/>
        </p:nvSpPr>
        <p:spPr>
          <a:xfrm>
            <a:off x="6446520" y="2240280"/>
            <a:ext cx="4800600" cy="1143000"/>
          </a:xfrm>
          <a:prstGeom prst="roundRect">
            <a:avLst>
              <a:gd fmla="val 6400"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5"/>
          <p:cNvSpPr/>
          <p:nvPr/>
        </p:nvSpPr>
        <p:spPr>
          <a:xfrm>
            <a:off x="6601968" y="2368296"/>
            <a:ext cx="4489704" cy="9144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USEFUL</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“The sensor drifted after 3 minutes, so I need to recalibrate between trials.”</a:t>
            </a:r>
            <a:endParaRPr b="0" i="0" sz="1800" u="none" cap="none" strike="noStrike">
              <a:solidFill>
                <a:schemeClr val="dk1"/>
              </a:solidFill>
              <a:latin typeface="Arial"/>
              <a:ea typeface="Arial"/>
              <a:cs typeface="Arial"/>
              <a:sym typeface="Arial"/>
            </a:endParaRPr>
          </a:p>
        </p:txBody>
      </p:sp>
      <p:sp>
        <p:nvSpPr>
          <p:cNvPr id="63" name="Google Shape;63;p5"/>
          <p:cNvSpPr/>
          <p:nvPr/>
        </p:nvSpPr>
        <p:spPr>
          <a:xfrm>
            <a:off x="1828800" y="3977640"/>
            <a:ext cx="8549640" cy="822960"/>
          </a:xfrm>
          <a:prstGeom prst="roundRect">
            <a:avLst>
              <a:gd fmla="val 8889"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5"/>
          <p:cNvSpPr/>
          <p:nvPr/>
        </p:nvSpPr>
        <p:spPr>
          <a:xfrm>
            <a:off x="1984248" y="4105656"/>
            <a:ext cx="8238744" cy="59436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200"/>
              <a:buFont typeface="Arial"/>
              <a:buNone/>
            </a:pPr>
            <a:r>
              <a:rPr b="1" i="0" lang="en-US" sz="2200" u="none" cap="none" strike="noStrike">
                <a:solidFill>
                  <a:srgbClr val="F7F7F7"/>
                </a:solidFill>
                <a:latin typeface="Arial"/>
                <a:ea typeface="Arial"/>
                <a:cs typeface="Arial"/>
                <a:sym typeface="Arial"/>
              </a:rPr>
              <a:t>The shift is from emotion to evidence.</a:t>
            </a:r>
            <a:endParaRPr b="0" i="0" sz="2200" u="none" cap="none" strike="noStrike">
              <a:solidFill>
                <a:schemeClr val="dk1"/>
              </a:solidFill>
              <a:latin typeface="Arial"/>
              <a:ea typeface="Arial"/>
              <a:cs typeface="Arial"/>
              <a:sym typeface="Arial"/>
            </a:endParaRPr>
          </a:p>
        </p:txBody>
      </p:sp>
      <p:sp>
        <p:nvSpPr>
          <p:cNvPr id="65" name="Google Shape;65;p5"/>
          <p:cNvSpPr/>
          <p:nvPr/>
        </p:nvSpPr>
        <p:spPr>
          <a:xfrm>
            <a:off x="1874520" y="4892040"/>
            <a:ext cx="8138160" cy="786384"/>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 What happened?</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 How do you know?</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 What might have caused it?</a:t>
            </a:r>
            <a:endParaRPr b="0" i="0" sz="17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 What will you try next?</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70" name="Shape 70"/>
        <p:cNvGrpSpPr/>
        <p:nvPr/>
      </p:nvGrpSpPr>
      <p:grpSpPr>
        <a:xfrm>
          <a:off x="0" y="0"/>
          <a:ext cx="0" cy="0"/>
          <a:chOff x="0" y="0"/>
          <a:chExt cx="0" cy="0"/>
        </a:xfrm>
      </p:grpSpPr>
      <p:sp>
        <p:nvSpPr>
          <p:cNvPr id="71" name="Google Shape;71;p6"/>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6"/>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6"/>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 name="Google Shape;74;p6"/>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SIX COMMON RESEARCH PROBLEMS</a:t>
            </a:r>
            <a:endParaRPr b="0" i="0" sz="2700" u="none" cap="none" strike="noStrike">
              <a:solidFill>
                <a:schemeClr val="dk1"/>
              </a:solidFill>
              <a:latin typeface="Arial"/>
              <a:ea typeface="Arial"/>
              <a:cs typeface="Arial"/>
              <a:sym typeface="Arial"/>
            </a:endParaRPr>
          </a:p>
        </p:txBody>
      </p:sp>
      <p:sp>
        <p:nvSpPr>
          <p:cNvPr id="75" name="Google Shape;75;p6"/>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6"/>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Most issues fall into a recognizable category.</a:t>
            </a:r>
            <a:endParaRPr b="0" i="0" sz="1200" u="none" cap="none" strike="noStrike">
              <a:solidFill>
                <a:schemeClr val="dk1"/>
              </a:solidFill>
              <a:latin typeface="Arial"/>
              <a:ea typeface="Arial"/>
              <a:cs typeface="Arial"/>
              <a:sym typeface="Arial"/>
            </a:endParaRPr>
          </a:p>
        </p:txBody>
      </p:sp>
      <p:cxnSp>
        <p:nvCxnSpPr>
          <p:cNvPr id="77" name="Google Shape;77;p6"/>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78" name="Google Shape;78;p6"/>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04</a:t>
            </a:r>
            <a:endParaRPr b="0" i="0" sz="750" u="none" cap="none" strike="noStrike">
              <a:solidFill>
                <a:schemeClr val="dk1"/>
              </a:solidFill>
              <a:latin typeface="Arial"/>
              <a:ea typeface="Arial"/>
              <a:cs typeface="Arial"/>
              <a:sym typeface="Arial"/>
            </a:endParaRPr>
          </a:p>
        </p:txBody>
      </p:sp>
      <p:pic>
        <p:nvPicPr>
          <p:cNvPr descr="/mnt/data/STARLAB Logo 2026.png" id="79" name="Google Shape;79;p6"/>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80" name="Google Shape;80;p6"/>
          <p:cNvSpPr/>
          <p:nvPr/>
        </p:nvSpPr>
        <p:spPr>
          <a:xfrm>
            <a:off x="777240" y="1600200"/>
            <a:ext cx="5074920" cy="960120"/>
          </a:xfrm>
          <a:prstGeom prst="roundRect">
            <a:avLst>
              <a:gd fmla="val 7619" name="adj"/>
            </a:avLst>
          </a:prstGeom>
          <a:solidFill>
            <a:srgbClr val="0B0B0D"/>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6"/>
          <p:cNvSpPr/>
          <p:nvPr/>
        </p:nvSpPr>
        <p:spPr>
          <a:xfrm>
            <a:off x="941832" y="172821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PROCEDURE</a:t>
            </a:r>
            <a:endParaRPr b="0" i="0" sz="1100" u="none" cap="none" strike="noStrike">
              <a:solidFill>
                <a:schemeClr val="dk1"/>
              </a:solidFill>
              <a:latin typeface="Arial"/>
              <a:ea typeface="Arial"/>
              <a:cs typeface="Arial"/>
              <a:sym typeface="Arial"/>
            </a:endParaRPr>
          </a:p>
        </p:txBody>
      </p:sp>
      <p:sp>
        <p:nvSpPr>
          <p:cNvPr id="82" name="Google Shape;82;p6"/>
          <p:cNvSpPr/>
          <p:nvPr/>
        </p:nvSpPr>
        <p:spPr>
          <a:xfrm>
            <a:off x="941832" y="200253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The steps are unclear, incomplete, or inconsistent.</a:t>
            </a:r>
            <a:endParaRPr b="0" i="0" sz="1400" u="none" cap="none" strike="noStrike">
              <a:solidFill>
                <a:schemeClr val="dk1"/>
              </a:solidFill>
              <a:latin typeface="Arial"/>
              <a:ea typeface="Arial"/>
              <a:cs typeface="Arial"/>
              <a:sym typeface="Arial"/>
            </a:endParaRPr>
          </a:p>
        </p:txBody>
      </p:sp>
      <p:sp>
        <p:nvSpPr>
          <p:cNvPr id="83" name="Google Shape;83;p6"/>
          <p:cNvSpPr/>
          <p:nvPr/>
        </p:nvSpPr>
        <p:spPr>
          <a:xfrm>
            <a:off x="6263640" y="1600200"/>
            <a:ext cx="5074920" cy="960120"/>
          </a:xfrm>
          <a:prstGeom prst="roundRect">
            <a:avLst>
              <a:gd fmla="val 7619" name="adj"/>
            </a:avLst>
          </a:prstGeom>
          <a:solidFill>
            <a:srgbClr val="0B0B0D"/>
          </a:solidFill>
          <a:ln cap="flat" cmpd="sng" w="1270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6"/>
          <p:cNvSpPr/>
          <p:nvPr/>
        </p:nvSpPr>
        <p:spPr>
          <a:xfrm>
            <a:off x="6428232" y="172821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MEASUREMENT</a:t>
            </a:r>
            <a:endParaRPr b="0" i="0" sz="1100" u="none" cap="none" strike="noStrike">
              <a:solidFill>
                <a:schemeClr val="dk1"/>
              </a:solidFill>
              <a:latin typeface="Arial"/>
              <a:ea typeface="Arial"/>
              <a:cs typeface="Arial"/>
              <a:sym typeface="Arial"/>
            </a:endParaRPr>
          </a:p>
        </p:txBody>
      </p:sp>
      <p:sp>
        <p:nvSpPr>
          <p:cNvPr id="85" name="Google Shape;85;p6"/>
          <p:cNvSpPr/>
          <p:nvPr/>
        </p:nvSpPr>
        <p:spPr>
          <a:xfrm>
            <a:off x="6428232" y="200253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The tool or method does not capture useful data.</a:t>
            </a:r>
            <a:endParaRPr b="0" i="0" sz="1400" u="none" cap="none" strike="noStrike">
              <a:solidFill>
                <a:schemeClr val="dk1"/>
              </a:solidFill>
              <a:latin typeface="Arial"/>
              <a:ea typeface="Arial"/>
              <a:cs typeface="Arial"/>
              <a:sym typeface="Arial"/>
            </a:endParaRPr>
          </a:p>
        </p:txBody>
      </p:sp>
      <p:sp>
        <p:nvSpPr>
          <p:cNvPr id="86" name="Google Shape;86;p6"/>
          <p:cNvSpPr/>
          <p:nvPr/>
        </p:nvSpPr>
        <p:spPr>
          <a:xfrm>
            <a:off x="777240" y="2926080"/>
            <a:ext cx="5074920" cy="960120"/>
          </a:xfrm>
          <a:prstGeom prst="roundRect">
            <a:avLst>
              <a:gd fmla="val 7619" name="adj"/>
            </a:avLst>
          </a:prstGeom>
          <a:solidFill>
            <a:srgbClr val="0B0B0D"/>
          </a:solidFill>
          <a:ln cap="flat" cmpd="sng" w="1270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6"/>
          <p:cNvSpPr/>
          <p:nvPr/>
        </p:nvSpPr>
        <p:spPr>
          <a:xfrm>
            <a:off x="941832" y="305409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EQUIPMENT / MATERIALS</a:t>
            </a:r>
            <a:endParaRPr b="0" i="0" sz="1100" u="none" cap="none" strike="noStrike">
              <a:solidFill>
                <a:schemeClr val="dk1"/>
              </a:solidFill>
              <a:latin typeface="Arial"/>
              <a:ea typeface="Arial"/>
              <a:cs typeface="Arial"/>
              <a:sym typeface="Arial"/>
            </a:endParaRPr>
          </a:p>
        </p:txBody>
      </p:sp>
      <p:sp>
        <p:nvSpPr>
          <p:cNvPr id="88" name="Google Shape;88;p6"/>
          <p:cNvSpPr/>
          <p:nvPr/>
        </p:nvSpPr>
        <p:spPr>
          <a:xfrm>
            <a:off x="941832" y="332841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A part, material, or tool fails or behaves unpredictably.</a:t>
            </a:r>
            <a:endParaRPr b="0" i="0" sz="1400" u="none" cap="none" strike="noStrike">
              <a:solidFill>
                <a:schemeClr val="dk1"/>
              </a:solidFill>
              <a:latin typeface="Arial"/>
              <a:ea typeface="Arial"/>
              <a:cs typeface="Arial"/>
              <a:sym typeface="Arial"/>
            </a:endParaRPr>
          </a:p>
        </p:txBody>
      </p:sp>
      <p:sp>
        <p:nvSpPr>
          <p:cNvPr id="89" name="Google Shape;89;p6"/>
          <p:cNvSpPr/>
          <p:nvPr/>
        </p:nvSpPr>
        <p:spPr>
          <a:xfrm>
            <a:off x="6263640" y="2926080"/>
            <a:ext cx="5074920" cy="960120"/>
          </a:xfrm>
          <a:prstGeom prst="roundRect">
            <a:avLst>
              <a:gd fmla="val 7619" name="adj"/>
            </a:avLst>
          </a:prstGeom>
          <a:solidFill>
            <a:srgbClr val="0B0B0D"/>
          </a:solidFill>
          <a:ln cap="flat" cmpd="sng" w="1270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6"/>
          <p:cNvSpPr/>
          <p:nvPr/>
        </p:nvSpPr>
        <p:spPr>
          <a:xfrm>
            <a:off x="6428232" y="305409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DESIGN / PROTOTYPE</a:t>
            </a:r>
            <a:endParaRPr b="0" i="0" sz="1100" u="none" cap="none" strike="noStrike">
              <a:solidFill>
                <a:schemeClr val="dk1"/>
              </a:solidFill>
              <a:latin typeface="Arial"/>
              <a:ea typeface="Arial"/>
              <a:cs typeface="Arial"/>
              <a:sym typeface="Arial"/>
            </a:endParaRPr>
          </a:p>
        </p:txBody>
      </p:sp>
      <p:sp>
        <p:nvSpPr>
          <p:cNvPr id="91" name="Google Shape;91;p6"/>
          <p:cNvSpPr/>
          <p:nvPr/>
        </p:nvSpPr>
        <p:spPr>
          <a:xfrm>
            <a:off x="6428232" y="332841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The build or setup cannot be tested as planned.</a:t>
            </a:r>
            <a:endParaRPr b="0" i="0" sz="1400" u="none" cap="none" strike="noStrike">
              <a:solidFill>
                <a:schemeClr val="dk1"/>
              </a:solidFill>
              <a:latin typeface="Arial"/>
              <a:ea typeface="Arial"/>
              <a:cs typeface="Arial"/>
              <a:sym typeface="Arial"/>
            </a:endParaRPr>
          </a:p>
        </p:txBody>
      </p:sp>
      <p:sp>
        <p:nvSpPr>
          <p:cNvPr id="92" name="Google Shape;92;p6"/>
          <p:cNvSpPr/>
          <p:nvPr/>
        </p:nvSpPr>
        <p:spPr>
          <a:xfrm>
            <a:off x="777240" y="4251960"/>
            <a:ext cx="5074920" cy="960120"/>
          </a:xfrm>
          <a:prstGeom prst="roundRect">
            <a:avLst>
              <a:gd fmla="val 7619" name="adj"/>
            </a:avLst>
          </a:prstGeom>
          <a:solidFill>
            <a:srgbClr val="0B0B0D"/>
          </a:solidFill>
          <a:ln cap="flat" cmpd="sng" w="1270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 name="Google Shape;93;p6"/>
          <p:cNvSpPr/>
          <p:nvPr/>
        </p:nvSpPr>
        <p:spPr>
          <a:xfrm>
            <a:off x="941832" y="437997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DATA RECORDING</a:t>
            </a:r>
            <a:endParaRPr b="0" i="0" sz="1100" u="none" cap="none" strike="noStrike">
              <a:solidFill>
                <a:schemeClr val="dk1"/>
              </a:solidFill>
              <a:latin typeface="Arial"/>
              <a:ea typeface="Arial"/>
              <a:cs typeface="Arial"/>
              <a:sym typeface="Arial"/>
            </a:endParaRPr>
          </a:p>
        </p:txBody>
      </p:sp>
      <p:sp>
        <p:nvSpPr>
          <p:cNvPr id="94" name="Google Shape;94;p6"/>
          <p:cNvSpPr/>
          <p:nvPr/>
        </p:nvSpPr>
        <p:spPr>
          <a:xfrm>
            <a:off x="941832" y="465429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Data exist, but they are not organized or usable.</a:t>
            </a:r>
            <a:endParaRPr b="0" i="0" sz="1400" u="none" cap="none" strike="noStrike">
              <a:solidFill>
                <a:schemeClr val="dk1"/>
              </a:solidFill>
              <a:latin typeface="Arial"/>
              <a:ea typeface="Arial"/>
              <a:cs typeface="Arial"/>
              <a:sym typeface="Arial"/>
            </a:endParaRPr>
          </a:p>
        </p:txBody>
      </p:sp>
      <p:sp>
        <p:nvSpPr>
          <p:cNvPr id="95" name="Google Shape;95;p6"/>
          <p:cNvSpPr/>
          <p:nvPr/>
        </p:nvSpPr>
        <p:spPr>
          <a:xfrm>
            <a:off x="6263640" y="4251960"/>
            <a:ext cx="5074920" cy="960120"/>
          </a:xfrm>
          <a:prstGeom prst="roundRect">
            <a:avLst>
              <a:gd fmla="val 7619" name="adj"/>
            </a:avLst>
          </a:prstGeom>
          <a:solidFill>
            <a:srgbClr val="0B0B0D"/>
          </a:solidFill>
          <a:ln cap="flat" cmpd="sng" w="1270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6"/>
          <p:cNvSpPr/>
          <p:nvPr/>
        </p:nvSpPr>
        <p:spPr>
          <a:xfrm>
            <a:off x="6428232" y="4379976"/>
            <a:ext cx="19202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100"/>
              <a:buFont typeface="Arial"/>
              <a:buNone/>
            </a:pPr>
            <a:r>
              <a:rPr b="1" i="0" lang="en-US" sz="1100" u="none" cap="none" strike="noStrike">
                <a:solidFill>
                  <a:srgbClr val="ED1C24"/>
                </a:solidFill>
                <a:latin typeface="Arial"/>
                <a:ea typeface="Arial"/>
                <a:cs typeface="Arial"/>
                <a:sym typeface="Arial"/>
              </a:rPr>
              <a:t>TIMELINE / SCOPE</a:t>
            </a:r>
            <a:endParaRPr b="0" i="0" sz="1100" u="none" cap="none" strike="noStrike">
              <a:solidFill>
                <a:schemeClr val="dk1"/>
              </a:solidFill>
              <a:latin typeface="Arial"/>
              <a:ea typeface="Arial"/>
              <a:cs typeface="Arial"/>
              <a:sym typeface="Arial"/>
            </a:endParaRPr>
          </a:p>
        </p:txBody>
      </p:sp>
      <p:sp>
        <p:nvSpPr>
          <p:cNvPr id="97" name="Google Shape;97;p6"/>
          <p:cNvSpPr/>
          <p:nvPr/>
        </p:nvSpPr>
        <p:spPr>
          <a:xfrm>
            <a:off x="6428232" y="4654296"/>
            <a:ext cx="4663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0" i="0" lang="en-US" sz="1400" u="none" cap="none" strike="noStrike">
                <a:solidFill>
                  <a:srgbClr val="F7F7F7"/>
                </a:solidFill>
                <a:latin typeface="Arial"/>
                <a:ea typeface="Arial"/>
                <a:cs typeface="Arial"/>
                <a:sym typeface="Arial"/>
              </a:rPr>
              <a:t>The project is too large for the remaining time.</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2" name="Shape 102"/>
        <p:cNvGrpSpPr/>
        <p:nvPr/>
      </p:nvGrpSpPr>
      <p:grpSpPr>
        <a:xfrm>
          <a:off x="0" y="0"/>
          <a:ext cx="0" cy="0"/>
          <a:chOff x="0" y="0"/>
          <a:chExt cx="0" cy="0"/>
        </a:xfrm>
      </p:grpSpPr>
      <p:sp>
        <p:nvSpPr>
          <p:cNvPr id="103" name="Google Shape;103;p7"/>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7"/>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7"/>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7"/>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DIAGNOSE BEFORE YOU FIX</a:t>
            </a:r>
            <a:endParaRPr b="0" i="0" sz="2700" u="none" cap="none" strike="noStrike">
              <a:solidFill>
                <a:schemeClr val="dk1"/>
              </a:solidFill>
              <a:latin typeface="Arial"/>
              <a:ea typeface="Arial"/>
              <a:cs typeface="Arial"/>
              <a:sym typeface="Arial"/>
            </a:endParaRPr>
          </a:p>
        </p:txBody>
      </p:sp>
      <p:sp>
        <p:nvSpPr>
          <p:cNvPr id="107" name="Google Shape;107;p7"/>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Do not change everything at once.</a:t>
            </a:r>
            <a:endParaRPr b="0" i="0" sz="1200" u="none" cap="none" strike="noStrike">
              <a:solidFill>
                <a:schemeClr val="dk1"/>
              </a:solidFill>
              <a:latin typeface="Arial"/>
              <a:ea typeface="Arial"/>
              <a:cs typeface="Arial"/>
              <a:sym typeface="Arial"/>
            </a:endParaRPr>
          </a:p>
        </p:txBody>
      </p:sp>
      <p:cxnSp>
        <p:nvCxnSpPr>
          <p:cNvPr id="109" name="Google Shape;109;p7"/>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110" name="Google Shape;110;p7"/>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05</a:t>
            </a:r>
            <a:endParaRPr b="0" i="0" sz="750" u="none" cap="none" strike="noStrike">
              <a:solidFill>
                <a:schemeClr val="dk1"/>
              </a:solidFill>
              <a:latin typeface="Arial"/>
              <a:ea typeface="Arial"/>
              <a:cs typeface="Arial"/>
              <a:sym typeface="Arial"/>
            </a:endParaRPr>
          </a:p>
        </p:txBody>
      </p:sp>
      <p:pic>
        <p:nvPicPr>
          <p:cNvPr descr="/mnt/data/STARLAB Logo 2026.png" id="111" name="Google Shape;111;p7"/>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112" name="Google Shape;112;p7"/>
          <p:cNvSpPr/>
          <p:nvPr/>
        </p:nvSpPr>
        <p:spPr>
          <a:xfrm>
            <a:off x="822960" y="1828800"/>
            <a:ext cx="621792" cy="621792"/>
          </a:xfrm>
          <a:prstGeom prst="ellipse">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7"/>
          <p:cNvSpPr/>
          <p:nvPr/>
        </p:nvSpPr>
        <p:spPr>
          <a:xfrm>
            <a:off x="1014984" y="1975104"/>
            <a:ext cx="228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1" i="0" lang="en-US" sz="1400" u="none" cap="none" strike="noStrike">
                <a:solidFill>
                  <a:srgbClr val="F7F7F7"/>
                </a:solidFill>
                <a:latin typeface="Arial"/>
                <a:ea typeface="Arial"/>
                <a:cs typeface="Arial"/>
                <a:sym typeface="Arial"/>
              </a:rPr>
              <a:t>1</a:t>
            </a:r>
            <a:endParaRPr b="0" i="0" sz="1400" u="none" cap="none" strike="noStrike">
              <a:solidFill>
                <a:schemeClr val="dk1"/>
              </a:solidFill>
              <a:latin typeface="Arial"/>
              <a:ea typeface="Arial"/>
              <a:cs typeface="Arial"/>
              <a:sym typeface="Arial"/>
            </a:endParaRPr>
          </a:p>
        </p:txBody>
      </p:sp>
      <p:sp>
        <p:nvSpPr>
          <p:cNvPr id="114" name="Google Shape;114;p7"/>
          <p:cNvSpPr/>
          <p:nvPr/>
        </p:nvSpPr>
        <p:spPr>
          <a:xfrm>
            <a:off x="1600200" y="1792224"/>
            <a:ext cx="19202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300"/>
              <a:buFont typeface="Arial"/>
              <a:buNone/>
            </a:pPr>
            <a:r>
              <a:rPr b="1" i="0" lang="en-US" sz="1300" u="none" cap="none" strike="noStrike">
                <a:solidFill>
                  <a:srgbClr val="F7F7F7"/>
                </a:solidFill>
                <a:latin typeface="Arial"/>
                <a:ea typeface="Arial"/>
                <a:cs typeface="Arial"/>
                <a:sym typeface="Arial"/>
              </a:rPr>
              <a:t>OBSERVE</a:t>
            </a:r>
            <a:endParaRPr b="0" i="0" sz="1300" u="none" cap="none" strike="noStrike">
              <a:solidFill>
                <a:schemeClr val="dk1"/>
              </a:solidFill>
              <a:latin typeface="Arial"/>
              <a:ea typeface="Arial"/>
              <a:cs typeface="Arial"/>
              <a:sym typeface="Arial"/>
            </a:endParaRPr>
          </a:p>
        </p:txBody>
      </p:sp>
      <p:sp>
        <p:nvSpPr>
          <p:cNvPr id="115" name="Google Shape;115;p7"/>
          <p:cNvSpPr/>
          <p:nvPr/>
        </p:nvSpPr>
        <p:spPr>
          <a:xfrm>
            <a:off x="1600200" y="2121408"/>
            <a:ext cx="18745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300" u="none" cap="none" strike="noStrike">
                <a:solidFill>
                  <a:srgbClr val="A6A6A6"/>
                </a:solidFill>
                <a:latin typeface="Arial"/>
                <a:ea typeface="Arial"/>
                <a:cs typeface="Arial"/>
                <a:sym typeface="Arial"/>
              </a:rPr>
              <a:t>What exactly happened?</a:t>
            </a:r>
            <a:endParaRPr b="0" i="0" sz="1300" u="none" cap="none" strike="noStrike">
              <a:solidFill>
                <a:schemeClr val="dk1"/>
              </a:solidFill>
              <a:latin typeface="Arial"/>
              <a:ea typeface="Arial"/>
              <a:cs typeface="Arial"/>
              <a:sym typeface="Arial"/>
            </a:endParaRPr>
          </a:p>
        </p:txBody>
      </p:sp>
      <p:cxnSp>
        <p:nvCxnSpPr>
          <p:cNvPr id="116" name="Google Shape;116;p7"/>
          <p:cNvCxnSpPr/>
          <p:nvPr/>
        </p:nvCxnSpPr>
        <p:spPr>
          <a:xfrm>
            <a:off x="1755648" y="2139696"/>
            <a:ext cx="1700784" cy="0"/>
          </a:xfrm>
          <a:prstGeom prst="straightConnector1">
            <a:avLst/>
          </a:prstGeom>
          <a:noFill/>
          <a:ln cap="flat" cmpd="sng" w="12700">
            <a:solidFill>
              <a:srgbClr val="ED1C24"/>
            </a:solidFill>
            <a:prstDash val="solid"/>
            <a:round/>
            <a:headEnd len="sm" w="sm" type="none"/>
            <a:tailEnd len="sm" w="sm" type="none"/>
          </a:ln>
        </p:spPr>
      </p:cxnSp>
      <p:sp>
        <p:nvSpPr>
          <p:cNvPr id="117" name="Google Shape;117;p7"/>
          <p:cNvSpPr/>
          <p:nvPr/>
        </p:nvSpPr>
        <p:spPr>
          <a:xfrm>
            <a:off x="3657600" y="1828800"/>
            <a:ext cx="621792" cy="621792"/>
          </a:xfrm>
          <a:prstGeom prst="ellipse">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7"/>
          <p:cNvSpPr/>
          <p:nvPr/>
        </p:nvSpPr>
        <p:spPr>
          <a:xfrm>
            <a:off x="3849624" y="1975104"/>
            <a:ext cx="228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1" i="0" lang="en-US" sz="1400" u="none" cap="none" strike="noStrike">
                <a:solidFill>
                  <a:srgbClr val="F7F7F7"/>
                </a:solidFill>
                <a:latin typeface="Arial"/>
                <a:ea typeface="Arial"/>
                <a:cs typeface="Arial"/>
                <a:sym typeface="Arial"/>
              </a:rPr>
              <a:t>2</a:t>
            </a:r>
            <a:endParaRPr b="0" i="0" sz="1400" u="none" cap="none" strike="noStrike">
              <a:solidFill>
                <a:schemeClr val="dk1"/>
              </a:solidFill>
              <a:latin typeface="Arial"/>
              <a:ea typeface="Arial"/>
              <a:cs typeface="Arial"/>
              <a:sym typeface="Arial"/>
            </a:endParaRPr>
          </a:p>
        </p:txBody>
      </p:sp>
      <p:sp>
        <p:nvSpPr>
          <p:cNvPr id="119" name="Google Shape;119;p7"/>
          <p:cNvSpPr/>
          <p:nvPr/>
        </p:nvSpPr>
        <p:spPr>
          <a:xfrm>
            <a:off x="4434840" y="1792224"/>
            <a:ext cx="19202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300"/>
              <a:buFont typeface="Arial"/>
              <a:buNone/>
            </a:pPr>
            <a:r>
              <a:rPr b="1" i="0" lang="en-US" sz="1300" u="none" cap="none" strike="noStrike">
                <a:solidFill>
                  <a:srgbClr val="F7F7F7"/>
                </a:solidFill>
                <a:latin typeface="Arial"/>
                <a:ea typeface="Arial"/>
                <a:cs typeface="Arial"/>
                <a:sym typeface="Arial"/>
              </a:rPr>
              <a:t>EVIDENCE</a:t>
            </a:r>
            <a:endParaRPr b="0" i="0" sz="1300" u="none" cap="none" strike="noStrike">
              <a:solidFill>
                <a:schemeClr val="dk1"/>
              </a:solidFill>
              <a:latin typeface="Arial"/>
              <a:ea typeface="Arial"/>
              <a:cs typeface="Arial"/>
              <a:sym typeface="Arial"/>
            </a:endParaRPr>
          </a:p>
        </p:txBody>
      </p:sp>
      <p:sp>
        <p:nvSpPr>
          <p:cNvPr id="120" name="Google Shape;120;p7"/>
          <p:cNvSpPr/>
          <p:nvPr/>
        </p:nvSpPr>
        <p:spPr>
          <a:xfrm>
            <a:off x="4434840" y="2121408"/>
            <a:ext cx="18745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300" u="none" cap="none" strike="noStrike">
                <a:solidFill>
                  <a:srgbClr val="A6A6A6"/>
                </a:solidFill>
                <a:latin typeface="Arial"/>
                <a:ea typeface="Arial"/>
                <a:cs typeface="Arial"/>
                <a:sym typeface="Arial"/>
              </a:rPr>
              <a:t>What proof shows this is the issue?</a:t>
            </a:r>
            <a:endParaRPr b="0" i="0" sz="1300" u="none" cap="none" strike="noStrike">
              <a:solidFill>
                <a:schemeClr val="dk1"/>
              </a:solidFill>
              <a:latin typeface="Arial"/>
              <a:ea typeface="Arial"/>
              <a:cs typeface="Arial"/>
              <a:sym typeface="Arial"/>
            </a:endParaRPr>
          </a:p>
        </p:txBody>
      </p:sp>
      <p:cxnSp>
        <p:nvCxnSpPr>
          <p:cNvPr id="121" name="Google Shape;121;p7"/>
          <p:cNvCxnSpPr/>
          <p:nvPr/>
        </p:nvCxnSpPr>
        <p:spPr>
          <a:xfrm>
            <a:off x="4590288" y="2139696"/>
            <a:ext cx="1700784" cy="0"/>
          </a:xfrm>
          <a:prstGeom prst="straightConnector1">
            <a:avLst/>
          </a:prstGeom>
          <a:noFill/>
          <a:ln cap="flat" cmpd="sng" w="12700">
            <a:solidFill>
              <a:srgbClr val="ED1C24"/>
            </a:solidFill>
            <a:prstDash val="solid"/>
            <a:round/>
            <a:headEnd len="sm" w="sm" type="none"/>
            <a:tailEnd len="sm" w="sm" type="none"/>
          </a:ln>
        </p:spPr>
      </p:cxnSp>
      <p:sp>
        <p:nvSpPr>
          <p:cNvPr id="122" name="Google Shape;122;p7"/>
          <p:cNvSpPr/>
          <p:nvPr/>
        </p:nvSpPr>
        <p:spPr>
          <a:xfrm>
            <a:off x="6492240" y="1828800"/>
            <a:ext cx="621792" cy="621792"/>
          </a:xfrm>
          <a:prstGeom prst="ellipse">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7"/>
          <p:cNvSpPr/>
          <p:nvPr/>
        </p:nvSpPr>
        <p:spPr>
          <a:xfrm>
            <a:off x="6684264" y="1975104"/>
            <a:ext cx="228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1" i="0" lang="en-US" sz="1400" u="none" cap="none" strike="noStrike">
                <a:solidFill>
                  <a:srgbClr val="F7F7F7"/>
                </a:solidFill>
                <a:latin typeface="Arial"/>
                <a:ea typeface="Arial"/>
                <a:cs typeface="Arial"/>
                <a:sym typeface="Arial"/>
              </a:rPr>
              <a:t>3</a:t>
            </a:r>
            <a:endParaRPr b="0" i="0" sz="1400" u="none" cap="none" strike="noStrike">
              <a:solidFill>
                <a:schemeClr val="dk1"/>
              </a:solidFill>
              <a:latin typeface="Arial"/>
              <a:ea typeface="Arial"/>
              <a:cs typeface="Arial"/>
              <a:sym typeface="Arial"/>
            </a:endParaRPr>
          </a:p>
        </p:txBody>
      </p:sp>
      <p:sp>
        <p:nvSpPr>
          <p:cNvPr id="124" name="Google Shape;124;p7"/>
          <p:cNvSpPr/>
          <p:nvPr/>
        </p:nvSpPr>
        <p:spPr>
          <a:xfrm>
            <a:off x="7269480" y="1792224"/>
            <a:ext cx="19202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300"/>
              <a:buFont typeface="Arial"/>
              <a:buNone/>
            </a:pPr>
            <a:r>
              <a:rPr b="1" i="0" lang="en-US" sz="1300" u="none" cap="none" strike="noStrike">
                <a:solidFill>
                  <a:srgbClr val="F7F7F7"/>
                </a:solidFill>
                <a:latin typeface="Arial"/>
                <a:ea typeface="Arial"/>
                <a:cs typeface="Arial"/>
                <a:sym typeface="Arial"/>
              </a:rPr>
              <a:t>CAUSE</a:t>
            </a:r>
            <a:endParaRPr b="0" i="0" sz="1300" u="none" cap="none" strike="noStrike">
              <a:solidFill>
                <a:schemeClr val="dk1"/>
              </a:solidFill>
              <a:latin typeface="Arial"/>
              <a:ea typeface="Arial"/>
              <a:cs typeface="Arial"/>
              <a:sym typeface="Arial"/>
            </a:endParaRPr>
          </a:p>
        </p:txBody>
      </p:sp>
      <p:sp>
        <p:nvSpPr>
          <p:cNvPr id="125" name="Google Shape;125;p7"/>
          <p:cNvSpPr/>
          <p:nvPr/>
        </p:nvSpPr>
        <p:spPr>
          <a:xfrm>
            <a:off x="7269480" y="2121408"/>
            <a:ext cx="18745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300" u="none" cap="none" strike="noStrike">
                <a:solidFill>
                  <a:srgbClr val="A6A6A6"/>
                </a:solidFill>
                <a:latin typeface="Arial"/>
                <a:ea typeface="Arial"/>
                <a:cs typeface="Arial"/>
                <a:sym typeface="Arial"/>
              </a:rPr>
              <a:t>What might explain it?</a:t>
            </a:r>
            <a:endParaRPr b="0" i="0" sz="1300" u="none" cap="none" strike="noStrike">
              <a:solidFill>
                <a:schemeClr val="dk1"/>
              </a:solidFill>
              <a:latin typeface="Arial"/>
              <a:ea typeface="Arial"/>
              <a:cs typeface="Arial"/>
              <a:sym typeface="Arial"/>
            </a:endParaRPr>
          </a:p>
        </p:txBody>
      </p:sp>
      <p:cxnSp>
        <p:nvCxnSpPr>
          <p:cNvPr id="126" name="Google Shape;126;p7"/>
          <p:cNvCxnSpPr/>
          <p:nvPr/>
        </p:nvCxnSpPr>
        <p:spPr>
          <a:xfrm>
            <a:off x="7424928" y="2139696"/>
            <a:ext cx="1700784" cy="0"/>
          </a:xfrm>
          <a:prstGeom prst="straightConnector1">
            <a:avLst/>
          </a:prstGeom>
          <a:noFill/>
          <a:ln cap="flat" cmpd="sng" w="12700">
            <a:solidFill>
              <a:srgbClr val="ED1C24"/>
            </a:solidFill>
            <a:prstDash val="solid"/>
            <a:round/>
            <a:headEnd len="sm" w="sm" type="none"/>
            <a:tailEnd len="sm" w="sm" type="none"/>
          </a:ln>
        </p:spPr>
      </p:cxnSp>
      <p:sp>
        <p:nvSpPr>
          <p:cNvPr id="127" name="Google Shape;127;p7"/>
          <p:cNvSpPr/>
          <p:nvPr/>
        </p:nvSpPr>
        <p:spPr>
          <a:xfrm>
            <a:off x="9326880" y="1828800"/>
            <a:ext cx="621792" cy="621792"/>
          </a:xfrm>
          <a:prstGeom prst="ellipse">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p7"/>
          <p:cNvSpPr/>
          <p:nvPr/>
        </p:nvSpPr>
        <p:spPr>
          <a:xfrm>
            <a:off x="9518904" y="1975104"/>
            <a:ext cx="228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400"/>
              <a:buFont typeface="Arial"/>
              <a:buNone/>
            </a:pPr>
            <a:r>
              <a:rPr b="1" i="0" lang="en-US" sz="1400" u="none" cap="none" strike="noStrike">
                <a:solidFill>
                  <a:srgbClr val="F7F7F7"/>
                </a:solidFill>
                <a:latin typeface="Arial"/>
                <a:ea typeface="Arial"/>
                <a:cs typeface="Arial"/>
                <a:sym typeface="Arial"/>
              </a:rPr>
              <a:t>4</a:t>
            </a:r>
            <a:endParaRPr b="0" i="0" sz="1400" u="none" cap="none" strike="noStrike">
              <a:solidFill>
                <a:schemeClr val="dk1"/>
              </a:solidFill>
              <a:latin typeface="Arial"/>
              <a:ea typeface="Arial"/>
              <a:cs typeface="Arial"/>
              <a:sym typeface="Arial"/>
            </a:endParaRPr>
          </a:p>
        </p:txBody>
      </p:sp>
      <p:sp>
        <p:nvSpPr>
          <p:cNvPr id="129" name="Google Shape;129;p7"/>
          <p:cNvSpPr/>
          <p:nvPr/>
        </p:nvSpPr>
        <p:spPr>
          <a:xfrm>
            <a:off x="10104120" y="1792224"/>
            <a:ext cx="192024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300"/>
              <a:buFont typeface="Arial"/>
              <a:buNone/>
            </a:pPr>
            <a:r>
              <a:rPr b="1" i="0" lang="en-US" sz="1300" u="none" cap="none" strike="noStrike">
                <a:solidFill>
                  <a:srgbClr val="F7F7F7"/>
                </a:solidFill>
                <a:latin typeface="Arial"/>
                <a:ea typeface="Arial"/>
                <a:cs typeface="Arial"/>
                <a:sym typeface="Arial"/>
              </a:rPr>
              <a:t>ACTION</a:t>
            </a:r>
            <a:endParaRPr b="0" i="0" sz="1300" u="none" cap="none" strike="noStrike">
              <a:solidFill>
                <a:schemeClr val="dk1"/>
              </a:solidFill>
              <a:latin typeface="Arial"/>
              <a:ea typeface="Arial"/>
              <a:cs typeface="Arial"/>
              <a:sym typeface="Arial"/>
            </a:endParaRPr>
          </a:p>
        </p:txBody>
      </p:sp>
      <p:sp>
        <p:nvSpPr>
          <p:cNvPr id="130" name="Google Shape;130;p7"/>
          <p:cNvSpPr/>
          <p:nvPr/>
        </p:nvSpPr>
        <p:spPr>
          <a:xfrm>
            <a:off x="10104120" y="2121408"/>
            <a:ext cx="18745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300"/>
              <a:buFont typeface="Arial"/>
              <a:buNone/>
            </a:pPr>
            <a:r>
              <a:rPr b="0" i="0" lang="en-US" sz="1300" u="none" cap="none" strike="noStrike">
                <a:solidFill>
                  <a:srgbClr val="A6A6A6"/>
                </a:solidFill>
                <a:latin typeface="Arial"/>
                <a:ea typeface="Arial"/>
                <a:cs typeface="Arial"/>
                <a:sym typeface="Arial"/>
              </a:rPr>
              <a:t>What single change will you test?</a:t>
            </a:r>
            <a:endParaRPr b="0" i="0" sz="1300" u="none" cap="none" strike="noStrike">
              <a:solidFill>
                <a:schemeClr val="dk1"/>
              </a:solidFill>
              <a:latin typeface="Arial"/>
              <a:ea typeface="Arial"/>
              <a:cs typeface="Arial"/>
              <a:sym typeface="Arial"/>
            </a:endParaRPr>
          </a:p>
        </p:txBody>
      </p:sp>
      <p:sp>
        <p:nvSpPr>
          <p:cNvPr id="131" name="Google Shape;131;p7"/>
          <p:cNvSpPr/>
          <p:nvPr/>
        </p:nvSpPr>
        <p:spPr>
          <a:xfrm>
            <a:off x="1143000" y="3977640"/>
            <a:ext cx="9921240" cy="1234440"/>
          </a:xfrm>
          <a:prstGeom prst="roundRect">
            <a:avLst>
              <a:gd fmla="val 5926"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7"/>
          <p:cNvSpPr/>
          <p:nvPr/>
        </p:nvSpPr>
        <p:spPr>
          <a:xfrm>
            <a:off x="1298448" y="4105656"/>
            <a:ext cx="9610344" cy="100584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000"/>
              <a:buFont typeface="Arial"/>
              <a:buNone/>
            </a:pPr>
            <a:r>
              <a:rPr b="0" i="0" lang="en-US" sz="2000" u="none" cap="none" strike="noStrike">
                <a:solidFill>
                  <a:srgbClr val="F7F7F7"/>
                </a:solidFill>
                <a:latin typeface="Arial"/>
                <a:ea typeface="Arial"/>
                <a:cs typeface="Arial"/>
                <a:sym typeface="Arial"/>
              </a:rPr>
              <a:t>Bad troubleshooting changes several variables at once. Good troubleshooting changes one thing, records it, and checks whether it worked.</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37" name="Shape 137"/>
        <p:cNvGrpSpPr/>
        <p:nvPr/>
      </p:nvGrpSpPr>
      <p:grpSpPr>
        <a:xfrm>
          <a:off x="0" y="0"/>
          <a:ext cx="0" cy="0"/>
          <a:chOff x="0" y="0"/>
          <a:chExt cx="0" cy="0"/>
        </a:xfrm>
      </p:grpSpPr>
      <p:sp>
        <p:nvSpPr>
          <p:cNvPr id="138" name="Google Shape;138;p8"/>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8"/>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8"/>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8"/>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PROCEDURAL PROBLEMS</a:t>
            </a:r>
            <a:endParaRPr b="0" i="0" sz="2700" u="none" cap="none" strike="noStrike">
              <a:solidFill>
                <a:schemeClr val="dk1"/>
              </a:solidFill>
              <a:latin typeface="Arial"/>
              <a:ea typeface="Arial"/>
              <a:cs typeface="Arial"/>
              <a:sym typeface="Arial"/>
            </a:endParaRPr>
          </a:p>
        </p:txBody>
      </p:sp>
      <p:sp>
        <p:nvSpPr>
          <p:cNvPr id="142" name="Google Shape;142;p8"/>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8"/>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The steps do not produce consistent, repeatable work.</a:t>
            </a:r>
            <a:endParaRPr b="0" i="0" sz="1200" u="none" cap="none" strike="noStrike">
              <a:solidFill>
                <a:schemeClr val="dk1"/>
              </a:solidFill>
              <a:latin typeface="Arial"/>
              <a:ea typeface="Arial"/>
              <a:cs typeface="Arial"/>
              <a:sym typeface="Arial"/>
            </a:endParaRPr>
          </a:p>
        </p:txBody>
      </p:sp>
      <p:cxnSp>
        <p:nvCxnSpPr>
          <p:cNvPr id="144" name="Google Shape;144;p8"/>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145" name="Google Shape;145;p8"/>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06</a:t>
            </a:r>
            <a:endParaRPr b="0" i="0" sz="750" u="none" cap="none" strike="noStrike">
              <a:solidFill>
                <a:schemeClr val="dk1"/>
              </a:solidFill>
              <a:latin typeface="Arial"/>
              <a:ea typeface="Arial"/>
              <a:cs typeface="Arial"/>
              <a:sym typeface="Arial"/>
            </a:endParaRPr>
          </a:p>
        </p:txBody>
      </p:sp>
      <p:pic>
        <p:nvPicPr>
          <p:cNvPr descr="/mnt/data/STARLAB Logo 2026.png" id="146" name="Google Shape;146;p8"/>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147" name="Google Shape;147;p8"/>
          <p:cNvSpPr/>
          <p:nvPr/>
        </p:nvSpPr>
        <p:spPr>
          <a:xfrm>
            <a:off x="868680" y="2098550"/>
            <a:ext cx="4663500" cy="297180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700"/>
              <a:buFont typeface="Arial"/>
              <a:buNone/>
            </a:pPr>
            <a:r>
              <a:rPr b="0" i="0" lang="en-US" sz="2000" u="none" cap="none" strike="noStrike">
                <a:solidFill>
                  <a:srgbClr val="F7F7F7"/>
                </a:solidFill>
                <a:latin typeface="Arial"/>
                <a:ea typeface="Arial"/>
                <a:cs typeface="Arial"/>
                <a:sym typeface="Arial"/>
              </a:rPr>
              <a:t>• A step is missing or vague.</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2000" u="none" cap="none" strike="noStrike">
                <a:solidFill>
                  <a:srgbClr val="F7F7F7"/>
                </a:solidFill>
                <a:latin typeface="Arial"/>
                <a:ea typeface="Arial"/>
                <a:cs typeface="Arial"/>
                <a:sym typeface="Arial"/>
              </a:rPr>
              <a:t>• Timing differs between trials.</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2000" u="none" cap="none" strike="noStrike">
                <a:solidFill>
                  <a:srgbClr val="F7F7F7"/>
                </a:solidFill>
                <a:latin typeface="Arial"/>
                <a:ea typeface="Arial"/>
                <a:cs typeface="Arial"/>
                <a:sym typeface="Arial"/>
              </a:rPr>
              <a:t>• Conditions are not kept the same.</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2000" u="none" cap="none" strike="noStrike">
                <a:solidFill>
                  <a:srgbClr val="F7F7F7"/>
                </a:solidFill>
                <a:latin typeface="Arial"/>
                <a:ea typeface="Arial"/>
                <a:cs typeface="Arial"/>
                <a:sym typeface="Arial"/>
              </a:rPr>
              <a:t>• The order of steps changes.</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700"/>
              <a:buFont typeface="Arial"/>
              <a:buNone/>
            </a:pPr>
            <a:r>
              <a:rPr b="0" i="0" lang="en-US" sz="2000" u="none" cap="none" strike="noStrike">
                <a:solidFill>
                  <a:srgbClr val="F7F7F7"/>
                </a:solidFill>
                <a:latin typeface="Arial"/>
                <a:ea typeface="Arial"/>
                <a:cs typeface="Arial"/>
                <a:sym typeface="Arial"/>
              </a:rPr>
              <a:t>• Cleanup or reset steps are unclear.</a:t>
            </a:r>
            <a:endParaRPr b="0" i="0" sz="2000" u="none" cap="none" strike="noStrike">
              <a:solidFill>
                <a:schemeClr val="dk1"/>
              </a:solidFill>
              <a:latin typeface="Arial"/>
              <a:ea typeface="Arial"/>
              <a:cs typeface="Arial"/>
              <a:sym typeface="Arial"/>
            </a:endParaRPr>
          </a:p>
        </p:txBody>
      </p:sp>
      <p:sp>
        <p:nvSpPr>
          <p:cNvPr id="148" name="Google Shape;148;p8"/>
          <p:cNvSpPr/>
          <p:nvPr/>
        </p:nvSpPr>
        <p:spPr>
          <a:xfrm>
            <a:off x="6263640" y="1600200"/>
            <a:ext cx="1143000" cy="457200"/>
          </a:xfrm>
          <a:prstGeom prst="roundRect">
            <a:avLst>
              <a:gd fmla="val 16000"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8"/>
          <p:cNvSpPr/>
          <p:nvPr/>
        </p:nvSpPr>
        <p:spPr>
          <a:xfrm>
            <a:off x="6419088" y="1728216"/>
            <a:ext cx="832104" cy="2286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Ask:</a:t>
            </a:r>
            <a:endParaRPr b="0" i="0" sz="1800" u="none" cap="none" strike="noStrike">
              <a:solidFill>
                <a:schemeClr val="dk1"/>
              </a:solidFill>
              <a:latin typeface="Arial"/>
              <a:ea typeface="Arial"/>
              <a:cs typeface="Arial"/>
              <a:sym typeface="Arial"/>
            </a:endParaRPr>
          </a:p>
        </p:txBody>
      </p:sp>
      <p:sp>
        <p:nvSpPr>
          <p:cNvPr id="150" name="Google Shape;150;p8"/>
          <p:cNvSpPr/>
          <p:nvPr/>
        </p:nvSpPr>
        <p:spPr>
          <a:xfrm>
            <a:off x="6355080" y="2240280"/>
            <a:ext cx="4800600" cy="155448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Could another student follow this without guessing?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is changing between trials?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needs to be written more precisely?</a:t>
            </a:r>
            <a:endParaRPr b="0" i="0" sz="1600" u="none" cap="none" strike="noStrike">
              <a:solidFill>
                <a:schemeClr val="dk1"/>
              </a:solidFill>
              <a:latin typeface="Arial"/>
              <a:ea typeface="Arial"/>
              <a:cs typeface="Arial"/>
              <a:sym typeface="Arial"/>
            </a:endParaRPr>
          </a:p>
        </p:txBody>
      </p:sp>
      <p:sp>
        <p:nvSpPr>
          <p:cNvPr id="151" name="Google Shape;151;p8"/>
          <p:cNvSpPr/>
          <p:nvPr/>
        </p:nvSpPr>
        <p:spPr>
          <a:xfrm>
            <a:off x="6309360" y="4434840"/>
            <a:ext cx="4572000" cy="822960"/>
          </a:xfrm>
          <a:prstGeom prst="roundRect">
            <a:avLst>
              <a:gd fmla="val 8889"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8"/>
          <p:cNvSpPr/>
          <p:nvPr/>
        </p:nvSpPr>
        <p:spPr>
          <a:xfrm>
            <a:off x="6464808" y="4562856"/>
            <a:ext cx="4261104" cy="59436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000"/>
              <a:buFont typeface="Arial"/>
              <a:buNone/>
            </a:pPr>
            <a:r>
              <a:rPr b="1" i="0" lang="en-US" sz="2000" u="none" cap="none" strike="noStrike">
                <a:solidFill>
                  <a:srgbClr val="F7F7F7"/>
                </a:solidFill>
                <a:latin typeface="Arial"/>
                <a:ea typeface="Arial"/>
                <a:cs typeface="Arial"/>
                <a:sym typeface="Arial"/>
              </a:rPr>
              <a:t>Fix: revise the procedure and document what changed.</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7" name="Shape 157"/>
        <p:cNvGrpSpPr/>
        <p:nvPr/>
      </p:nvGrpSpPr>
      <p:grpSpPr>
        <a:xfrm>
          <a:off x="0" y="0"/>
          <a:ext cx="0" cy="0"/>
          <a:chOff x="0" y="0"/>
          <a:chExt cx="0" cy="0"/>
        </a:xfrm>
      </p:grpSpPr>
      <p:sp>
        <p:nvSpPr>
          <p:cNvPr id="158" name="Google Shape;158;p9"/>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9"/>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9"/>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9"/>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MEASUREMENT PROBLEMS</a:t>
            </a:r>
            <a:endParaRPr b="0" i="0" sz="2700" u="none" cap="none" strike="noStrike">
              <a:solidFill>
                <a:schemeClr val="dk1"/>
              </a:solidFill>
              <a:latin typeface="Arial"/>
              <a:ea typeface="Arial"/>
              <a:cs typeface="Arial"/>
              <a:sym typeface="Arial"/>
            </a:endParaRPr>
          </a:p>
        </p:txBody>
      </p:sp>
      <p:sp>
        <p:nvSpPr>
          <p:cNvPr id="162" name="Google Shape;162;p9"/>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9"/>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The data do not answer the question clearly.</a:t>
            </a:r>
            <a:endParaRPr b="0" i="0" sz="1200" u="none" cap="none" strike="noStrike">
              <a:solidFill>
                <a:schemeClr val="dk1"/>
              </a:solidFill>
              <a:latin typeface="Arial"/>
              <a:ea typeface="Arial"/>
              <a:cs typeface="Arial"/>
              <a:sym typeface="Arial"/>
            </a:endParaRPr>
          </a:p>
        </p:txBody>
      </p:sp>
      <p:cxnSp>
        <p:nvCxnSpPr>
          <p:cNvPr id="164" name="Google Shape;164;p9"/>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165" name="Google Shape;165;p9"/>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07</a:t>
            </a:r>
            <a:endParaRPr b="0" i="0" sz="750" u="none" cap="none" strike="noStrike">
              <a:solidFill>
                <a:schemeClr val="dk1"/>
              </a:solidFill>
              <a:latin typeface="Arial"/>
              <a:ea typeface="Arial"/>
              <a:cs typeface="Arial"/>
              <a:sym typeface="Arial"/>
            </a:endParaRPr>
          </a:p>
        </p:txBody>
      </p:sp>
      <p:pic>
        <p:nvPicPr>
          <p:cNvPr descr="/mnt/data/STARLAB Logo 2026.png" id="166" name="Google Shape;166;p9"/>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167" name="Google Shape;167;p9"/>
          <p:cNvSpPr/>
          <p:nvPr/>
        </p:nvSpPr>
        <p:spPr>
          <a:xfrm>
            <a:off x="914400" y="1600200"/>
            <a:ext cx="10378440" cy="731520"/>
          </a:xfrm>
          <a:prstGeom prst="roundRect">
            <a:avLst>
              <a:gd fmla="val 10000"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9"/>
          <p:cNvSpPr/>
          <p:nvPr/>
        </p:nvSpPr>
        <p:spPr>
          <a:xfrm>
            <a:off x="1069848" y="1728216"/>
            <a:ext cx="10067544" cy="5029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100"/>
              <a:buFont typeface="Arial"/>
              <a:buNone/>
            </a:pPr>
            <a:r>
              <a:rPr b="1" i="0" lang="en-US" sz="2100" u="none" cap="none" strike="noStrike">
                <a:solidFill>
                  <a:srgbClr val="F7F7F7"/>
                </a:solidFill>
                <a:latin typeface="Arial"/>
                <a:ea typeface="Arial"/>
                <a:cs typeface="Arial"/>
                <a:sym typeface="Arial"/>
              </a:rPr>
              <a:t>A measurement problem means the project may be working, but the evidence is weak.</a:t>
            </a:r>
            <a:endParaRPr b="0" i="0" sz="2100" u="none" cap="none" strike="noStrike">
              <a:solidFill>
                <a:schemeClr val="dk1"/>
              </a:solidFill>
              <a:latin typeface="Arial"/>
              <a:ea typeface="Arial"/>
              <a:cs typeface="Arial"/>
              <a:sym typeface="Arial"/>
            </a:endParaRPr>
          </a:p>
        </p:txBody>
      </p:sp>
      <p:sp>
        <p:nvSpPr>
          <p:cNvPr id="169" name="Google Shape;169;p9"/>
          <p:cNvSpPr/>
          <p:nvPr/>
        </p:nvSpPr>
        <p:spPr>
          <a:xfrm>
            <a:off x="960120" y="2697480"/>
            <a:ext cx="5029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01</a:t>
            </a:r>
            <a:endParaRPr b="0" i="0" sz="1200" u="none" cap="none" strike="noStrike">
              <a:solidFill>
                <a:schemeClr val="dk1"/>
              </a:solidFill>
              <a:latin typeface="Arial"/>
              <a:ea typeface="Arial"/>
              <a:cs typeface="Arial"/>
              <a:sym typeface="Arial"/>
            </a:endParaRPr>
          </a:p>
        </p:txBody>
      </p:sp>
      <p:sp>
        <p:nvSpPr>
          <p:cNvPr id="170" name="Google Shape;170;p9"/>
          <p:cNvSpPr/>
          <p:nvPr/>
        </p:nvSpPr>
        <p:spPr>
          <a:xfrm>
            <a:off x="1572768" y="2660904"/>
            <a:ext cx="8869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Tool is not precise enough</a:t>
            </a:r>
            <a:endParaRPr b="0" i="0" sz="1700" u="none" cap="none" strike="noStrike">
              <a:solidFill>
                <a:schemeClr val="dk1"/>
              </a:solidFill>
              <a:latin typeface="Arial"/>
              <a:ea typeface="Arial"/>
              <a:cs typeface="Arial"/>
              <a:sym typeface="Arial"/>
            </a:endParaRPr>
          </a:p>
        </p:txBody>
      </p:sp>
      <p:sp>
        <p:nvSpPr>
          <p:cNvPr id="171" name="Google Shape;171;p9"/>
          <p:cNvSpPr/>
          <p:nvPr/>
        </p:nvSpPr>
        <p:spPr>
          <a:xfrm>
            <a:off x="960120" y="3218688"/>
            <a:ext cx="5029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02</a:t>
            </a:r>
            <a:endParaRPr b="0" i="0" sz="1200" u="none" cap="none" strike="noStrike">
              <a:solidFill>
                <a:schemeClr val="dk1"/>
              </a:solidFill>
              <a:latin typeface="Arial"/>
              <a:ea typeface="Arial"/>
              <a:cs typeface="Arial"/>
              <a:sym typeface="Arial"/>
            </a:endParaRPr>
          </a:p>
        </p:txBody>
      </p:sp>
      <p:sp>
        <p:nvSpPr>
          <p:cNvPr id="172" name="Google Shape;172;p9"/>
          <p:cNvSpPr/>
          <p:nvPr/>
        </p:nvSpPr>
        <p:spPr>
          <a:xfrm>
            <a:off x="1572768" y="3182112"/>
            <a:ext cx="8869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Units are missing or inconsistent</a:t>
            </a:r>
            <a:endParaRPr b="0" i="0" sz="1700" u="none" cap="none" strike="noStrike">
              <a:solidFill>
                <a:schemeClr val="dk1"/>
              </a:solidFill>
              <a:latin typeface="Arial"/>
              <a:ea typeface="Arial"/>
              <a:cs typeface="Arial"/>
              <a:sym typeface="Arial"/>
            </a:endParaRPr>
          </a:p>
        </p:txBody>
      </p:sp>
      <p:sp>
        <p:nvSpPr>
          <p:cNvPr id="173" name="Google Shape;173;p9"/>
          <p:cNvSpPr/>
          <p:nvPr/>
        </p:nvSpPr>
        <p:spPr>
          <a:xfrm>
            <a:off x="960120" y="3739896"/>
            <a:ext cx="5029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03</a:t>
            </a:r>
            <a:endParaRPr b="0" i="0" sz="1200" u="none" cap="none" strike="noStrike">
              <a:solidFill>
                <a:schemeClr val="dk1"/>
              </a:solidFill>
              <a:latin typeface="Arial"/>
              <a:ea typeface="Arial"/>
              <a:cs typeface="Arial"/>
              <a:sym typeface="Arial"/>
            </a:endParaRPr>
          </a:p>
        </p:txBody>
      </p:sp>
      <p:sp>
        <p:nvSpPr>
          <p:cNvPr id="174" name="Google Shape;174;p9"/>
          <p:cNvSpPr/>
          <p:nvPr/>
        </p:nvSpPr>
        <p:spPr>
          <a:xfrm>
            <a:off x="1572768" y="3703320"/>
            <a:ext cx="8869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Readings drift over time</a:t>
            </a:r>
            <a:endParaRPr b="0" i="0" sz="1700" u="none" cap="none" strike="noStrike">
              <a:solidFill>
                <a:schemeClr val="dk1"/>
              </a:solidFill>
              <a:latin typeface="Arial"/>
              <a:ea typeface="Arial"/>
              <a:cs typeface="Arial"/>
              <a:sym typeface="Arial"/>
            </a:endParaRPr>
          </a:p>
        </p:txBody>
      </p:sp>
      <p:sp>
        <p:nvSpPr>
          <p:cNvPr id="175" name="Google Shape;175;p9"/>
          <p:cNvSpPr/>
          <p:nvPr/>
        </p:nvSpPr>
        <p:spPr>
          <a:xfrm>
            <a:off x="960120" y="4261104"/>
            <a:ext cx="5029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04</a:t>
            </a:r>
            <a:endParaRPr b="0" i="0" sz="1200" u="none" cap="none" strike="noStrike">
              <a:solidFill>
                <a:schemeClr val="dk1"/>
              </a:solidFill>
              <a:latin typeface="Arial"/>
              <a:ea typeface="Arial"/>
              <a:cs typeface="Arial"/>
              <a:sym typeface="Arial"/>
            </a:endParaRPr>
          </a:p>
        </p:txBody>
      </p:sp>
      <p:sp>
        <p:nvSpPr>
          <p:cNvPr id="176" name="Google Shape;176;p9"/>
          <p:cNvSpPr/>
          <p:nvPr/>
        </p:nvSpPr>
        <p:spPr>
          <a:xfrm>
            <a:off x="1572768" y="4224528"/>
            <a:ext cx="8869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Measurement timing varies</a:t>
            </a:r>
            <a:endParaRPr b="0" i="0" sz="1700" u="none" cap="none" strike="noStrike">
              <a:solidFill>
                <a:schemeClr val="dk1"/>
              </a:solidFill>
              <a:latin typeface="Arial"/>
              <a:ea typeface="Arial"/>
              <a:cs typeface="Arial"/>
              <a:sym typeface="Arial"/>
            </a:endParaRPr>
          </a:p>
        </p:txBody>
      </p:sp>
      <p:sp>
        <p:nvSpPr>
          <p:cNvPr id="177" name="Google Shape;177;p9"/>
          <p:cNvSpPr/>
          <p:nvPr/>
        </p:nvSpPr>
        <p:spPr>
          <a:xfrm>
            <a:off x="960120" y="4782312"/>
            <a:ext cx="50292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200"/>
              <a:buFont typeface="Arial"/>
              <a:buNone/>
            </a:pPr>
            <a:r>
              <a:rPr b="1" i="0" lang="en-US" sz="1200" u="none" cap="none" strike="noStrike">
                <a:solidFill>
                  <a:srgbClr val="ED1C24"/>
                </a:solidFill>
                <a:latin typeface="Arial"/>
                <a:ea typeface="Arial"/>
                <a:cs typeface="Arial"/>
                <a:sym typeface="Arial"/>
              </a:rPr>
              <a:t>05</a:t>
            </a:r>
            <a:endParaRPr b="0" i="0" sz="1200" u="none" cap="none" strike="noStrike">
              <a:solidFill>
                <a:schemeClr val="dk1"/>
              </a:solidFill>
              <a:latin typeface="Arial"/>
              <a:ea typeface="Arial"/>
              <a:cs typeface="Arial"/>
              <a:sym typeface="Arial"/>
            </a:endParaRPr>
          </a:p>
        </p:txBody>
      </p:sp>
      <p:sp>
        <p:nvSpPr>
          <p:cNvPr id="178" name="Google Shape;178;p9"/>
          <p:cNvSpPr/>
          <p:nvPr/>
        </p:nvSpPr>
        <p:spPr>
          <a:xfrm>
            <a:off x="1572768" y="4745736"/>
            <a:ext cx="88696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Data table does not capture key information</a:t>
            </a:r>
            <a:endParaRPr b="0" i="0" sz="1700" u="none" cap="none" strike="noStrike">
              <a:solidFill>
                <a:schemeClr val="dk1"/>
              </a:solidFill>
              <a:latin typeface="Arial"/>
              <a:ea typeface="Arial"/>
              <a:cs typeface="Arial"/>
              <a:sym typeface="Arial"/>
            </a:endParaRPr>
          </a:p>
        </p:txBody>
      </p:sp>
      <p:sp>
        <p:nvSpPr>
          <p:cNvPr id="179" name="Google Shape;179;p9"/>
          <p:cNvSpPr/>
          <p:nvPr/>
        </p:nvSpPr>
        <p:spPr>
          <a:xfrm>
            <a:off x="914400" y="5440680"/>
            <a:ext cx="10378440" cy="530352"/>
          </a:xfrm>
          <a:prstGeom prst="roundRect">
            <a:avLst>
              <a:gd fmla="val 13793"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9"/>
          <p:cNvSpPr/>
          <p:nvPr/>
        </p:nvSpPr>
        <p:spPr>
          <a:xfrm>
            <a:off x="1069848" y="5568696"/>
            <a:ext cx="10067544" cy="30175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Fix: improve the measurement method before collecting more weak data.</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85" name="Shape 185"/>
        <p:cNvGrpSpPr/>
        <p:nvPr/>
      </p:nvGrpSpPr>
      <p:grpSpPr>
        <a:xfrm>
          <a:off x="0" y="0"/>
          <a:ext cx="0" cy="0"/>
          <a:chOff x="0" y="0"/>
          <a:chExt cx="0" cy="0"/>
        </a:xfrm>
      </p:grpSpPr>
      <p:sp>
        <p:nvSpPr>
          <p:cNvPr id="186" name="Google Shape;186;p10"/>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0"/>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0"/>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10"/>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EQUIPMENT AND MATERIAL PROBLEMS</a:t>
            </a:r>
            <a:endParaRPr b="0" i="0" sz="2700" u="none" cap="none" strike="noStrike">
              <a:solidFill>
                <a:schemeClr val="dk1"/>
              </a:solidFill>
              <a:latin typeface="Arial"/>
              <a:ea typeface="Arial"/>
              <a:cs typeface="Arial"/>
              <a:sym typeface="Arial"/>
            </a:endParaRPr>
          </a:p>
        </p:txBody>
      </p:sp>
      <p:sp>
        <p:nvSpPr>
          <p:cNvPr id="190" name="Google Shape;190;p10"/>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0"/>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Sometimes the tool, part, or material is the weak link.</a:t>
            </a:r>
            <a:endParaRPr b="0" i="0" sz="1200" u="none" cap="none" strike="noStrike">
              <a:solidFill>
                <a:schemeClr val="dk1"/>
              </a:solidFill>
              <a:latin typeface="Arial"/>
              <a:ea typeface="Arial"/>
              <a:cs typeface="Arial"/>
              <a:sym typeface="Arial"/>
            </a:endParaRPr>
          </a:p>
        </p:txBody>
      </p:sp>
      <p:cxnSp>
        <p:nvCxnSpPr>
          <p:cNvPr id="192" name="Google Shape;192;p10"/>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193" name="Google Shape;193;p10"/>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08</a:t>
            </a:r>
            <a:endParaRPr b="0" i="0" sz="750" u="none" cap="none" strike="noStrike">
              <a:solidFill>
                <a:schemeClr val="dk1"/>
              </a:solidFill>
              <a:latin typeface="Arial"/>
              <a:ea typeface="Arial"/>
              <a:cs typeface="Arial"/>
              <a:sym typeface="Arial"/>
            </a:endParaRPr>
          </a:p>
        </p:txBody>
      </p:sp>
      <p:pic>
        <p:nvPicPr>
          <p:cNvPr descr="/mnt/data/STARLAB Logo 2026.png" id="194" name="Google Shape;194;p10"/>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195" name="Google Shape;195;p10"/>
          <p:cNvSpPr/>
          <p:nvPr/>
        </p:nvSpPr>
        <p:spPr>
          <a:xfrm>
            <a:off x="822960" y="1600200"/>
            <a:ext cx="1828800" cy="411480"/>
          </a:xfrm>
          <a:prstGeom prst="roundRect">
            <a:avLst>
              <a:gd fmla="val 17778"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10"/>
          <p:cNvSpPr/>
          <p:nvPr/>
        </p:nvSpPr>
        <p:spPr>
          <a:xfrm>
            <a:off x="978408" y="1728216"/>
            <a:ext cx="1517904" cy="1828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1" i="0" lang="en-US" sz="1700" u="none" cap="none" strike="noStrike">
                <a:solidFill>
                  <a:srgbClr val="F7F7F7"/>
                </a:solidFill>
                <a:latin typeface="Arial"/>
                <a:ea typeface="Arial"/>
                <a:cs typeface="Arial"/>
                <a:sym typeface="Arial"/>
              </a:rPr>
              <a:t>Examples</a:t>
            </a:r>
            <a:endParaRPr b="0" i="0" sz="1700" u="none" cap="none" strike="noStrike">
              <a:solidFill>
                <a:schemeClr val="dk1"/>
              </a:solidFill>
              <a:latin typeface="Arial"/>
              <a:ea typeface="Arial"/>
              <a:cs typeface="Arial"/>
              <a:sym typeface="Arial"/>
            </a:endParaRPr>
          </a:p>
        </p:txBody>
      </p:sp>
      <p:sp>
        <p:nvSpPr>
          <p:cNvPr id="197" name="Google Shape;197;p10"/>
          <p:cNvSpPr/>
          <p:nvPr/>
        </p:nvSpPr>
        <p:spPr>
          <a:xfrm>
            <a:off x="914400" y="2148840"/>
            <a:ext cx="4937760" cy="228600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Loose wire or unstable sensor</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Prototype part breaks before testing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Material absorbs water unexpectedly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Battery voltage drops during trials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Software or code produces inconsistent output</a:t>
            </a:r>
            <a:endParaRPr b="0" i="0" sz="1600" u="none" cap="none" strike="noStrike">
              <a:solidFill>
                <a:schemeClr val="dk1"/>
              </a:solidFill>
              <a:latin typeface="Arial"/>
              <a:ea typeface="Arial"/>
              <a:cs typeface="Arial"/>
              <a:sym typeface="Arial"/>
            </a:endParaRPr>
          </a:p>
        </p:txBody>
      </p:sp>
      <p:sp>
        <p:nvSpPr>
          <p:cNvPr id="198" name="Google Shape;198;p10"/>
          <p:cNvSpPr/>
          <p:nvPr/>
        </p:nvSpPr>
        <p:spPr>
          <a:xfrm>
            <a:off x="6400800" y="1600200"/>
            <a:ext cx="4023360" cy="457200"/>
          </a:xfrm>
          <a:prstGeom prst="roundRect">
            <a:avLst>
              <a:gd fmla="val 16000"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10"/>
          <p:cNvSpPr/>
          <p:nvPr/>
        </p:nvSpPr>
        <p:spPr>
          <a:xfrm>
            <a:off x="6556248" y="1728216"/>
            <a:ext cx="3712464" cy="2286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1" i="0" lang="en-US" sz="1700" u="none" cap="none" strike="noStrike">
                <a:solidFill>
                  <a:srgbClr val="F7F7F7"/>
                </a:solidFill>
                <a:latin typeface="Arial"/>
                <a:ea typeface="Arial"/>
                <a:cs typeface="Arial"/>
                <a:sym typeface="Arial"/>
              </a:rPr>
              <a:t>Document like a researcher:</a:t>
            </a:r>
            <a:endParaRPr b="0" i="0" sz="1700" u="none" cap="none" strike="noStrike">
              <a:solidFill>
                <a:schemeClr val="dk1"/>
              </a:solidFill>
              <a:latin typeface="Arial"/>
              <a:ea typeface="Arial"/>
              <a:cs typeface="Arial"/>
              <a:sym typeface="Arial"/>
            </a:endParaRPr>
          </a:p>
        </p:txBody>
      </p:sp>
      <p:sp>
        <p:nvSpPr>
          <p:cNvPr id="200" name="Google Shape;200;p10"/>
          <p:cNvSpPr/>
          <p:nvPr/>
        </p:nvSpPr>
        <p:spPr>
          <a:xfrm>
            <a:off x="6492240" y="2148840"/>
            <a:ext cx="4663440" cy="228600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failed?</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When did it fail?</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How did it affect the data?</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repair or replacement was made?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Does the trial need to be flagged?</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05" name="Shape 205"/>
        <p:cNvGrpSpPr/>
        <p:nvPr/>
      </p:nvGrpSpPr>
      <p:grpSpPr>
        <a:xfrm>
          <a:off x="0" y="0"/>
          <a:ext cx="0" cy="0"/>
          <a:chOff x="0" y="0"/>
          <a:chExt cx="0" cy="0"/>
        </a:xfrm>
      </p:grpSpPr>
      <p:sp>
        <p:nvSpPr>
          <p:cNvPr id="206" name="Google Shape;206;p11"/>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1"/>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11"/>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1"/>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DESIGN OR PROTOTYPE PROBLEMS</a:t>
            </a:r>
            <a:endParaRPr b="0" i="0" sz="2700" u="none" cap="none" strike="noStrike">
              <a:solidFill>
                <a:schemeClr val="dk1"/>
              </a:solidFill>
              <a:latin typeface="Arial"/>
              <a:ea typeface="Arial"/>
              <a:cs typeface="Arial"/>
              <a:sym typeface="Arial"/>
            </a:endParaRPr>
          </a:p>
        </p:txBody>
      </p:sp>
      <p:sp>
        <p:nvSpPr>
          <p:cNvPr id="210" name="Google Shape;210;p11"/>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11"/>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The design itself may need revision.</a:t>
            </a:r>
            <a:endParaRPr b="0" i="0" sz="1200" u="none" cap="none" strike="noStrike">
              <a:solidFill>
                <a:schemeClr val="dk1"/>
              </a:solidFill>
              <a:latin typeface="Arial"/>
              <a:ea typeface="Arial"/>
              <a:cs typeface="Arial"/>
              <a:sym typeface="Arial"/>
            </a:endParaRPr>
          </a:p>
        </p:txBody>
      </p:sp>
      <p:cxnSp>
        <p:nvCxnSpPr>
          <p:cNvPr id="212" name="Google Shape;212;p11"/>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213" name="Google Shape;213;p11"/>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09</a:t>
            </a:r>
            <a:endParaRPr b="0" i="0" sz="750" u="none" cap="none" strike="noStrike">
              <a:solidFill>
                <a:schemeClr val="dk1"/>
              </a:solidFill>
              <a:latin typeface="Arial"/>
              <a:ea typeface="Arial"/>
              <a:cs typeface="Arial"/>
              <a:sym typeface="Arial"/>
            </a:endParaRPr>
          </a:p>
        </p:txBody>
      </p:sp>
      <p:pic>
        <p:nvPicPr>
          <p:cNvPr descr="/mnt/data/STARLAB Logo 2026.png" id="214" name="Google Shape;214;p11"/>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215" name="Google Shape;215;p11"/>
          <p:cNvSpPr/>
          <p:nvPr/>
        </p:nvSpPr>
        <p:spPr>
          <a:xfrm>
            <a:off x="868680" y="1600200"/>
            <a:ext cx="5029200" cy="685800"/>
          </a:xfrm>
          <a:prstGeom prst="roundRect">
            <a:avLst>
              <a:gd fmla="val 10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11"/>
          <p:cNvSpPr/>
          <p:nvPr/>
        </p:nvSpPr>
        <p:spPr>
          <a:xfrm>
            <a:off x="1024128" y="1728216"/>
            <a:ext cx="471830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000"/>
              <a:buFont typeface="Arial"/>
              <a:buNone/>
            </a:pPr>
            <a:r>
              <a:rPr b="1" i="0" lang="en-US" sz="2000" u="none" cap="none" strike="noStrike">
                <a:solidFill>
                  <a:srgbClr val="F7F7F7"/>
                </a:solidFill>
                <a:latin typeface="Arial"/>
                <a:ea typeface="Arial"/>
                <a:cs typeface="Arial"/>
                <a:sym typeface="Arial"/>
              </a:rPr>
              <a:t>A design problem is deeper than a bad trial.</a:t>
            </a:r>
            <a:endParaRPr b="0" i="0" sz="2000" u="none" cap="none" strike="noStrike">
              <a:solidFill>
                <a:schemeClr val="dk1"/>
              </a:solidFill>
              <a:latin typeface="Arial"/>
              <a:ea typeface="Arial"/>
              <a:cs typeface="Arial"/>
              <a:sym typeface="Arial"/>
            </a:endParaRPr>
          </a:p>
        </p:txBody>
      </p:sp>
      <p:sp>
        <p:nvSpPr>
          <p:cNvPr id="217" name="Google Shape;217;p11"/>
          <p:cNvSpPr/>
          <p:nvPr/>
        </p:nvSpPr>
        <p:spPr>
          <a:xfrm>
            <a:off x="868680" y="2606040"/>
            <a:ext cx="5212080" cy="246888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Prototype cannot survive basic testing.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Setup does not isolate the intended variable.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Design does not meet safety expectations.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Performance metric is not meaningful.</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Failure mode reveals a structural weakness.</a:t>
            </a:r>
            <a:endParaRPr b="0" i="0" sz="1600" u="none" cap="none" strike="noStrike">
              <a:solidFill>
                <a:schemeClr val="dk1"/>
              </a:solidFill>
              <a:latin typeface="Arial"/>
              <a:ea typeface="Arial"/>
              <a:cs typeface="Arial"/>
              <a:sym typeface="Arial"/>
            </a:endParaRPr>
          </a:p>
        </p:txBody>
      </p:sp>
      <p:sp>
        <p:nvSpPr>
          <p:cNvPr id="218" name="Google Shape;218;p11"/>
          <p:cNvSpPr/>
          <p:nvPr/>
        </p:nvSpPr>
        <p:spPr>
          <a:xfrm>
            <a:off x="6446520" y="1600200"/>
            <a:ext cx="4389120" cy="685800"/>
          </a:xfrm>
          <a:prstGeom prst="roundRect">
            <a:avLst>
              <a:gd fmla="val 10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11"/>
          <p:cNvSpPr/>
          <p:nvPr/>
        </p:nvSpPr>
        <p:spPr>
          <a:xfrm>
            <a:off x="6601968" y="1728216"/>
            <a:ext cx="407822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000"/>
              <a:buFont typeface="Arial"/>
              <a:buNone/>
            </a:pPr>
            <a:r>
              <a:rPr b="1" i="0" lang="en-US" sz="2000" u="none" cap="none" strike="noStrike">
                <a:solidFill>
                  <a:srgbClr val="F7F7F7"/>
                </a:solidFill>
                <a:latin typeface="Arial"/>
                <a:ea typeface="Arial"/>
                <a:cs typeface="Arial"/>
                <a:sym typeface="Arial"/>
              </a:rPr>
              <a:t>Research response:</a:t>
            </a:r>
            <a:endParaRPr b="0" i="0" sz="2000" u="none" cap="none" strike="noStrike">
              <a:solidFill>
                <a:schemeClr val="dk1"/>
              </a:solidFill>
              <a:latin typeface="Arial"/>
              <a:ea typeface="Arial"/>
              <a:cs typeface="Arial"/>
              <a:sym typeface="Arial"/>
            </a:endParaRPr>
          </a:p>
        </p:txBody>
      </p:sp>
      <p:sp>
        <p:nvSpPr>
          <p:cNvPr id="220" name="Google Shape;220;p11"/>
          <p:cNvSpPr/>
          <p:nvPr/>
        </p:nvSpPr>
        <p:spPr>
          <a:xfrm>
            <a:off x="6492240" y="2606040"/>
            <a:ext cx="4572000" cy="182880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Analyze the failure.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Revise one design feature.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Retest under the same conditions.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Compare evidence across versions.</a:t>
            </a:r>
            <a:endParaRPr b="0" i="0" sz="1600" u="none" cap="none" strike="noStrike">
              <a:solidFill>
                <a:schemeClr val="dk1"/>
              </a:solidFill>
              <a:latin typeface="Arial"/>
              <a:ea typeface="Arial"/>
              <a:cs typeface="Arial"/>
              <a:sym typeface="Arial"/>
            </a:endParaRPr>
          </a:p>
        </p:txBody>
      </p:sp>
      <p:sp>
        <p:nvSpPr>
          <p:cNvPr id="221" name="Google Shape;221;p11"/>
          <p:cNvSpPr/>
          <p:nvPr/>
        </p:nvSpPr>
        <p:spPr>
          <a:xfrm>
            <a:off x="6492240" y="4800600"/>
            <a:ext cx="4572000" cy="640080"/>
          </a:xfrm>
          <a:prstGeom prst="roundRect">
            <a:avLst>
              <a:gd fmla="val 11429"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11"/>
          <p:cNvSpPr/>
          <p:nvPr/>
        </p:nvSpPr>
        <p:spPr>
          <a:xfrm>
            <a:off x="6647688" y="4928616"/>
            <a:ext cx="4261104"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0" i="0" lang="en-US" sz="1700" u="none" cap="none" strike="noStrike">
                <a:solidFill>
                  <a:srgbClr val="F7F7F7"/>
                </a:solidFill>
                <a:latin typeface="Arial"/>
                <a:ea typeface="Arial"/>
                <a:cs typeface="Arial"/>
                <a:sym typeface="Arial"/>
              </a:rPr>
              <a:t>Engineering projects often learn the most from controlled failure.</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7" name="Shape 227"/>
        <p:cNvGrpSpPr/>
        <p:nvPr/>
      </p:nvGrpSpPr>
      <p:grpSpPr>
        <a:xfrm>
          <a:off x="0" y="0"/>
          <a:ext cx="0" cy="0"/>
          <a:chOff x="0" y="0"/>
          <a:chExt cx="0" cy="0"/>
        </a:xfrm>
      </p:grpSpPr>
      <p:sp>
        <p:nvSpPr>
          <p:cNvPr id="228" name="Google Shape;228;p12"/>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12"/>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12"/>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12"/>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TIMELINE AND SCOPE PROBLEMS</a:t>
            </a:r>
            <a:endParaRPr b="0" i="0" sz="2700" u="none" cap="none" strike="noStrike">
              <a:solidFill>
                <a:schemeClr val="dk1"/>
              </a:solidFill>
              <a:latin typeface="Arial"/>
              <a:ea typeface="Arial"/>
              <a:cs typeface="Arial"/>
              <a:sym typeface="Arial"/>
            </a:endParaRPr>
          </a:p>
        </p:txBody>
      </p:sp>
      <p:sp>
        <p:nvSpPr>
          <p:cNvPr id="232" name="Google Shape;232;p12"/>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12"/>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Sometimes the project is too large for the time remaining.</a:t>
            </a:r>
            <a:endParaRPr b="0" i="0" sz="1200" u="none" cap="none" strike="noStrike">
              <a:solidFill>
                <a:schemeClr val="dk1"/>
              </a:solidFill>
              <a:latin typeface="Arial"/>
              <a:ea typeface="Arial"/>
              <a:cs typeface="Arial"/>
              <a:sym typeface="Arial"/>
            </a:endParaRPr>
          </a:p>
        </p:txBody>
      </p:sp>
      <p:cxnSp>
        <p:nvCxnSpPr>
          <p:cNvPr id="234" name="Google Shape;234;p12"/>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235" name="Google Shape;235;p12"/>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10</a:t>
            </a:r>
            <a:endParaRPr b="0" i="0" sz="750" u="none" cap="none" strike="noStrike">
              <a:solidFill>
                <a:schemeClr val="dk1"/>
              </a:solidFill>
              <a:latin typeface="Arial"/>
              <a:ea typeface="Arial"/>
              <a:cs typeface="Arial"/>
              <a:sym typeface="Arial"/>
            </a:endParaRPr>
          </a:p>
        </p:txBody>
      </p:sp>
      <p:pic>
        <p:nvPicPr>
          <p:cNvPr descr="/mnt/data/STARLAB Logo 2026.png" id="236" name="Google Shape;236;p12"/>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237" name="Google Shape;237;p12"/>
          <p:cNvSpPr/>
          <p:nvPr/>
        </p:nvSpPr>
        <p:spPr>
          <a:xfrm>
            <a:off x="868680" y="1600200"/>
            <a:ext cx="2103120" cy="411480"/>
          </a:xfrm>
          <a:prstGeom prst="roundRect">
            <a:avLst>
              <a:gd fmla="val 17778"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12"/>
          <p:cNvSpPr/>
          <p:nvPr/>
        </p:nvSpPr>
        <p:spPr>
          <a:xfrm>
            <a:off x="1024128" y="1728216"/>
            <a:ext cx="1792224" cy="1828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1" i="0" lang="en-US" sz="1700" u="none" cap="none" strike="noStrike">
                <a:solidFill>
                  <a:srgbClr val="F7F7F7"/>
                </a:solidFill>
                <a:latin typeface="Arial"/>
                <a:ea typeface="Arial"/>
                <a:cs typeface="Arial"/>
                <a:sym typeface="Arial"/>
              </a:rPr>
              <a:t>Warning signs</a:t>
            </a:r>
            <a:endParaRPr b="0" i="0" sz="1700" u="none" cap="none" strike="noStrike">
              <a:solidFill>
                <a:schemeClr val="dk1"/>
              </a:solidFill>
              <a:latin typeface="Arial"/>
              <a:ea typeface="Arial"/>
              <a:cs typeface="Arial"/>
              <a:sym typeface="Arial"/>
            </a:endParaRPr>
          </a:p>
        </p:txBody>
      </p:sp>
      <p:sp>
        <p:nvSpPr>
          <p:cNvPr id="239" name="Google Shape;239;p12"/>
          <p:cNvSpPr/>
          <p:nvPr/>
        </p:nvSpPr>
        <p:spPr>
          <a:xfrm>
            <a:off x="960120" y="2148840"/>
            <a:ext cx="4937760" cy="219456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Materials still not available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Full data collection would take too long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Too many variables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Too many prototype versions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No usable data by the midpoint</a:t>
            </a:r>
            <a:endParaRPr b="0" i="0" sz="1600" u="none" cap="none" strike="noStrike">
              <a:solidFill>
                <a:schemeClr val="dk1"/>
              </a:solidFill>
              <a:latin typeface="Arial"/>
              <a:ea typeface="Arial"/>
              <a:cs typeface="Arial"/>
              <a:sym typeface="Arial"/>
            </a:endParaRPr>
          </a:p>
        </p:txBody>
      </p:sp>
      <p:sp>
        <p:nvSpPr>
          <p:cNvPr id="240" name="Google Shape;240;p12"/>
          <p:cNvSpPr/>
          <p:nvPr/>
        </p:nvSpPr>
        <p:spPr>
          <a:xfrm>
            <a:off x="6400800" y="1600200"/>
            <a:ext cx="2926080" cy="411480"/>
          </a:xfrm>
          <a:prstGeom prst="roundRect">
            <a:avLst>
              <a:gd fmla="val 17778"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12"/>
          <p:cNvSpPr/>
          <p:nvPr/>
        </p:nvSpPr>
        <p:spPr>
          <a:xfrm>
            <a:off x="6556248" y="1728216"/>
            <a:ext cx="2615184" cy="1828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1" i="0" lang="en-US" sz="1700" u="none" cap="none" strike="noStrike">
                <a:solidFill>
                  <a:srgbClr val="F7F7F7"/>
                </a:solidFill>
                <a:latin typeface="Arial"/>
                <a:ea typeface="Arial"/>
                <a:cs typeface="Arial"/>
                <a:sym typeface="Arial"/>
              </a:rPr>
              <a:t>Responsible response</a:t>
            </a:r>
            <a:endParaRPr b="0" i="0" sz="1700" u="none" cap="none" strike="noStrike">
              <a:solidFill>
                <a:schemeClr val="dk1"/>
              </a:solidFill>
              <a:latin typeface="Arial"/>
              <a:ea typeface="Arial"/>
              <a:cs typeface="Arial"/>
              <a:sym typeface="Arial"/>
            </a:endParaRPr>
          </a:p>
        </p:txBody>
      </p:sp>
      <p:sp>
        <p:nvSpPr>
          <p:cNvPr id="242" name="Google Shape;242;p12"/>
          <p:cNvSpPr/>
          <p:nvPr/>
        </p:nvSpPr>
        <p:spPr>
          <a:xfrm>
            <a:off x="6492240" y="2148840"/>
            <a:ext cx="4754880" cy="219456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Reduce scope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Test fewer conditions</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Frame as a pilot study</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Focus on one meaningful comparison</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Create a documented recovery plan</a:t>
            </a:r>
            <a:endParaRPr b="0" i="0" sz="1600" u="none" cap="none" strike="noStrike">
              <a:solidFill>
                <a:schemeClr val="dk1"/>
              </a:solidFill>
              <a:latin typeface="Arial"/>
              <a:ea typeface="Arial"/>
              <a:cs typeface="Arial"/>
              <a:sym typeface="Arial"/>
            </a:endParaRPr>
          </a:p>
        </p:txBody>
      </p:sp>
      <p:sp>
        <p:nvSpPr>
          <p:cNvPr id="243" name="Google Shape;243;p12"/>
          <p:cNvSpPr/>
          <p:nvPr/>
        </p:nvSpPr>
        <p:spPr>
          <a:xfrm>
            <a:off x="960120" y="5138928"/>
            <a:ext cx="10241280" cy="548640"/>
          </a:xfrm>
          <a:prstGeom prst="roundRect">
            <a:avLst>
              <a:gd fmla="val 13333"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12"/>
          <p:cNvSpPr/>
          <p:nvPr/>
        </p:nvSpPr>
        <p:spPr>
          <a:xfrm>
            <a:off x="1115568" y="5266944"/>
            <a:ext cx="9930384" cy="32004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100"/>
              <a:buFont typeface="Arial"/>
              <a:buNone/>
            </a:pPr>
            <a:r>
              <a:rPr b="1" i="0" lang="en-US" sz="2100" u="none" cap="none" strike="noStrike">
                <a:solidFill>
                  <a:srgbClr val="F7F7F7"/>
                </a:solidFill>
                <a:latin typeface="Arial"/>
                <a:ea typeface="Arial"/>
                <a:cs typeface="Arial"/>
                <a:sym typeface="Arial"/>
              </a:rPr>
              <a:t>Smaller and defensible beats ambitious and incomplete.</a:t>
            </a:r>
            <a:endParaRPr b="0" i="0" sz="21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49" name="Shape 249"/>
        <p:cNvGrpSpPr/>
        <p:nvPr/>
      </p:nvGrpSpPr>
      <p:grpSpPr>
        <a:xfrm>
          <a:off x="0" y="0"/>
          <a:ext cx="0" cy="0"/>
          <a:chOff x="0" y="0"/>
          <a:chExt cx="0" cy="0"/>
        </a:xfrm>
      </p:grpSpPr>
      <p:sp>
        <p:nvSpPr>
          <p:cNvPr id="250" name="Google Shape;250;p13"/>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3"/>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13"/>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3"/>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THE TROUBLESHOOTING LOG</a:t>
            </a:r>
            <a:endParaRPr b="0" i="0" sz="2700" u="none" cap="none" strike="noStrike">
              <a:solidFill>
                <a:schemeClr val="dk1"/>
              </a:solidFill>
              <a:latin typeface="Arial"/>
              <a:ea typeface="Arial"/>
              <a:cs typeface="Arial"/>
              <a:sym typeface="Arial"/>
            </a:endParaRPr>
          </a:p>
        </p:txBody>
      </p:sp>
      <p:sp>
        <p:nvSpPr>
          <p:cNvPr id="254" name="Google Shape;254;p13"/>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3"/>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Your fix is only scientific if it is documented.</a:t>
            </a:r>
            <a:endParaRPr b="0" i="0" sz="1200" u="none" cap="none" strike="noStrike">
              <a:solidFill>
                <a:schemeClr val="dk1"/>
              </a:solidFill>
              <a:latin typeface="Arial"/>
              <a:ea typeface="Arial"/>
              <a:cs typeface="Arial"/>
              <a:sym typeface="Arial"/>
            </a:endParaRPr>
          </a:p>
        </p:txBody>
      </p:sp>
      <p:cxnSp>
        <p:nvCxnSpPr>
          <p:cNvPr id="256" name="Google Shape;256;p13"/>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257" name="Google Shape;257;p13"/>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11</a:t>
            </a:r>
            <a:endParaRPr b="0" i="0" sz="750" u="none" cap="none" strike="noStrike">
              <a:solidFill>
                <a:schemeClr val="dk1"/>
              </a:solidFill>
              <a:latin typeface="Arial"/>
              <a:ea typeface="Arial"/>
              <a:cs typeface="Arial"/>
              <a:sym typeface="Arial"/>
            </a:endParaRPr>
          </a:p>
        </p:txBody>
      </p:sp>
      <p:pic>
        <p:nvPicPr>
          <p:cNvPr descr="/mnt/data/STARLAB Logo 2026.png" id="258" name="Google Shape;258;p13"/>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259" name="Google Shape;259;p13"/>
          <p:cNvSpPr/>
          <p:nvPr/>
        </p:nvSpPr>
        <p:spPr>
          <a:xfrm>
            <a:off x="868680" y="1600200"/>
            <a:ext cx="4892040" cy="676656"/>
          </a:xfrm>
          <a:prstGeom prst="roundRect">
            <a:avLst>
              <a:gd fmla="val 10811"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13"/>
          <p:cNvSpPr/>
          <p:nvPr/>
        </p:nvSpPr>
        <p:spPr>
          <a:xfrm>
            <a:off x="1024128" y="1728216"/>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Problem observed</a:t>
            </a:r>
            <a:endParaRPr b="0" i="0" sz="1800" u="none" cap="none" strike="noStrike">
              <a:solidFill>
                <a:schemeClr val="dk1"/>
              </a:solidFill>
              <a:latin typeface="Arial"/>
              <a:ea typeface="Arial"/>
              <a:cs typeface="Arial"/>
              <a:sym typeface="Arial"/>
            </a:endParaRPr>
          </a:p>
        </p:txBody>
      </p:sp>
      <p:sp>
        <p:nvSpPr>
          <p:cNvPr id="261" name="Google Shape;261;p13"/>
          <p:cNvSpPr/>
          <p:nvPr/>
        </p:nvSpPr>
        <p:spPr>
          <a:xfrm>
            <a:off x="868680" y="2624328"/>
            <a:ext cx="4892040" cy="676656"/>
          </a:xfrm>
          <a:prstGeom prst="roundRect">
            <a:avLst>
              <a:gd fmla="val 10811"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3"/>
          <p:cNvSpPr/>
          <p:nvPr/>
        </p:nvSpPr>
        <p:spPr>
          <a:xfrm>
            <a:off x="1024128" y="2752344"/>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Evidence</a:t>
            </a:r>
            <a:endParaRPr b="0" i="0" sz="1800" u="none" cap="none" strike="noStrike">
              <a:solidFill>
                <a:schemeClr val="dk1"/>
              </a:solidFill>
              <a:latin typeface="Arial"/>
              <a:ea typeface="Arial"/>
              <a:cs typeface="Arial"/>
              <a:sym typeface="Arial"/>
            </a:endParaRPr>
          </a:p>
        </p:txBody>
      </p:sp>
      <p:sp>
        <p:nvSpPr>
          <p:cNvPr id="263" name="Google Shape;263;p13"/>
          <p:cNvSpPr/>
          <p:nvPr/>
        </p:nvSpPr>
        <p:spPr>
          <a:xfrm>
            <a:off x="868680" y="3648456"/>
            <a:ext cx="4892040" cy="676656"/>
          </a:xfrm>
          <a:prstGeom prst="roundRect">
            <a:avLst>
              <a:gd fmla="val 10811"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13"/>
          <p:cNvSpPr/>
          <p:nvPr/>
        </p:nvSpPr>
        <p:spPr>
          <a:xfrm>
            <a:off x="1024128" y="3776472"/>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Possible cause</a:t>
            </a:r>
            <a:endParaRPr b="0" i="0" sz="1800" u="none" cap="none" strike="noStrike">
              <a:solidFill>
                <a:schemeClr val="dk1"/>
              </a:solidFill>
              <a:latin typeface="Arial"/>
              <a:ea typeface="Arial"/>
              <a:cs typeface="Arial"/>
              <a:sym typeface="Arial"/>
            </a:endParaRPr>
          </a:p>
        </p:txBody>
      </p:sp>
      <p:sp>
        <p:nvSpPr>
          <p:cNvPr id="265" name="Google Shape;265;p13"/>
          <p:cNvSpPr/>
          <p:nvPr/>
        </p:nvSpPr>
        <p:spPr>
          <a:xfrm>
            <a:off x="6309360" y="1600200"/>
            <a:ext cx="4892040" cy="676656"/>
          </a:xfrm>
          <a:prstGeom prst="roundRect">
            <a:avLst>
              <a:gd fmla="val 10811"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3"/>
          <p:cNvSpPr/>
          <p:nvPr/>
        </p:nvSpPr>
        <p:spPr>
          <a:xfrm>
            <a:off x="6464808" y="1728216"/>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Proposed fix</a:t>
            </a:r>
            <a:endParaRPr b="0" i="0" sz="1800" u="none" cap="none" strike="noStrike">
              <a:solidFill>
                <a:schemeClr val="dk1"/>
              </a:solidFill>
              <a:latin typeface="Arial"/>
              <a:ea typeface="Arial"/>
              <a:cs typeface="Arial"/>
              <a:sym typeface="Arial"/>
            </a:endParaRPr>
          </a:p>
        </p:txBody>
      </p:sp>
      <p:sp>
        <p:nvSpPr>
          <p:cNvPr id="267" name="Google Shape;267;p13"/>
          <p:cNvSpPr/>
          <p:nvPr/>
        </p:nvSpPr>
        <p:spPr>
          <a:xfrm>
            <a:off x="6309360" y="2624328"/>
            <a:ext cx="4892040" cy="676656"/>
          </a:xfrm>
          <a:prstGeom prst="roundRect">
            <a:avLst>
              <a:gd fmla="val 10811"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13"/>
          <p:cNvSpPr/>
          <p:nvPr/>
        </p:nvSpPr>
        <p:spPr>
          <a:xfrm>
            <a:off x="6464808" y="2752344"/>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Approval needed?</a:t>
            </a:r>
            <a:endParaRPr b="0" i="0" sz="1800" u="none" cap="none" strike="noStrike">
              <a:solidFill>
                <a:schemeClr val="dk1"/>
              </a:solidFill>
              <a:latin typeface="Arial"/>
              <a:ea typeface="Arial"/>
              <a:cs typeface="Arial"/>
              <a:sym typeface="Arial"/>
            </a:endParaRPr>
          </a:p>
        </p:txBody>
      </p:sp>
      <p:sp>
        <p:nvSpPr>
          <p:cNvPr id="269" name="Google Shape;269;p13"/>
          <p:cNvSpPr/>
          <p:nvPr/>
        </p:nvSpPr>
        <p:spPr>
          <a:xfrm>
            <a:off x="6309360" y="3648456"/>
            <a:ext cx="4892040" cy="676656"/>
          </a:xfrm>
          <a:prstGeom prst="roundRect">
            <a:avLst>
              <a:gd fmla="val 10811"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13"/>
          <p:cNvSpPr/>
          <p:nvPr/>
        </p:nvSpPr>
        <p:spPr>
          <a:xfrm>
            <a:off x="6464808" y="3776472"/>
            <a:ext cx="4581144" cy="448056"/>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Result of fix</a:t>
            </a:r>
            <a:endParaRPr b="0" i="0" sz="1800" u="none" cap="none" strike="noStrike">
              <a:solidFill>
                <a:schemeClr val="dk1"/>
              </a:solidFill>
              <a:latin typeface="Arial"/>
              <a:ea typeface="Arial"/>
              <a:cs typeface="Arial"/>
              <a:sym typeface="Arial"/>
            </a:endParaRPr>
          </a:p>
        </p:txBody>
      </p:sp>
      <p:sp>
        <p:nvSpPr>
          <p:cNvPr id="271" name="Google Shape;271;p13"/>
          <p:cNvSpPr/>
          <p:nvPr/>
        </p:nvSpPr>
        <p:spPr>
          <a:xfrm>
            <a:off x="914400" y="5074920"/>
            <a:ext cx="10332720" cy="685800"/>
          </a:xfrm>
          <a:prstGeom prst="roundRect">
            <a:avLst>
              <a:gd fmla="val 10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13"/>
          <p:cNvSpPr/>
          <p:nvPr/>
        </p:nvSpPr>
        <p:spPr>
          <a:xfrm>
            <a:off x="1069848" y="5202936"/>
            <a:ext cx="1002182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Handout match: Student Handout 4 — Pilot Test Reflection and Troubleshooting Log</a:t>
            </a:r>
            <a:endParaRPr b="0" i="0" sz="18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77" name="Shape 277"/>
        <p:cNvGrpSpPr/>
        <p:nvPr/>
      </p:nvGrpSpPr>
      <p:grpSpPr>
        <a:xfrm>
          <a:off x="0" y="0"/>
          <a:ext cx="0" cy="0"/>
          <a:chOff x="0" y="0"/>
          <a:chExt cx="0" cy="0"/>
        </a:xfrm>
      </p:grpSpPr>
      <p:sp>
        <p:nvSpPr>
          <p:cNvPr id="278" name="Google Shape;278;p14"/>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14"/>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4"/>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4"/>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RESPONSIBLE PROJECT PIVOTS</a:t>
            </a:r>
            <a:endParaRPr b="0" i="0" sz="2700" u="none" cap="none" strike="noStrike">
              <a:solidFill>
                <a:schemeClr val="dk1"/>
              </a:solidFill>
              <a:latin typeface="Arial"/>
              <a:ea typeface="Arial"/>
              <a:cs typeface="Arial"/>
              <a:sym typeface="Arial"/>
            </a:endParaRPr>
          </a:p>
        </p:txBody>
      </p:sp>
      <p:sp>
        <p:nvSpPr>
          <p:cNvPr id="282" name="Google Shape;282;p14"/>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4"/>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A pivot is not quitting. It is a justified change in direction.</a:t>
            </a:r>
            <a:endParaRPr b="0" i="0" sz="1200" u="none" cap="none" strike="noStrike">
              <a:solidFill>
                <a:schemeClr val="dk1"/>
              </a:solidFill>
              <a:latin typeface="Arial"/>
              <a:ea typeface="Arial"/>
              <a:cs typeface="Arial"/>
              <a:sym typeface="Arial"/>
            </a:endParaRPr>
          </a:p>
        </p:txBody>
      </p:sp>
      <p:cxnSp>
        <p:nvCxnSpPr>
          <p:cNvPr id="284" name="Google Shape;284;p14"/>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285" name="Google Shape;285;p14"/>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12</a:t>
            </a:r>
            <a:endParaRPr b="0" i="0" sz="750" u="none" cap="none" strike="noStrike">
              <a:solidFill>
                <a:schemeClr val="dk1"/>
              </a:solidFill>
              <a:latin typeface="Arial"/>
              <a:ea typeface="Arial"/>
              <a:cs typeface="Arial"/>
              <a:sym typeface="Arial"/>
            </a:endParaRPr>
          </a:p>
        </p:txBody>
      </p:sp>
      <p:pic>
        <p:nvPicPr>
          <p:cNvPr descr="/mnt/data/STARLAB Logo 2026.png" id="286" name="Google Shape;286;p14"/>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287" name="Google Shape;287;p14"/>
          <p:cNvSpPr/>
          <p:nvPr/>
        </p:nvSpPr>
        <p:spPr>
          <a:xfrm>
            <a:off x="868680" y="1600200"/>
            <a:ext cx="4023360" cy="438912"/>
          </a:xfrm>
          <a:prstGeom prst="roundRect">
            <a:avLst>
              <a:gd fmla="val 16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4"/>
          <p:cNvSpPr/>
          <p:nvPr/>
        </p:nvSpPr>
        <p:spPr>
          <a:xfrm>
            <a:off x="1024128" y="1728216"/>
            <a:ext cx="3712464" cy="21031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A responsible pivot...</a:t>
            </a:r>
            <a:endParaRPr b="0" i="0" sz="1800" u="none" cap="none" strike="noStrike">
              <a:solidFill>
                <a:schemeClr val="dk1"/>
              </a:solidFill>
              <a:latin typeface="Arial"/>
              <a:ea typeface="Arial"/>
              <a:cs typeface="Arial"/>
              <a:sym typeface="Arial"/>
            </a:endParaRPr>
          </a:p>
        </p:txBody>
      </p:sp>
      <p:sp>
        <p:nvSpPr>
          <p:cNvPr id="289" name="Google Shape;289;p14"/>
          <p:cNvSpPr/>
          <p:nvPr/>
        </p:nvSpPr>
        <p:spPr>
          <a:xfrm>
            <a:off x="960120" y="2148840"/>
            <a:ext cx="5029200" cy="256032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Preserves the core purpose when possible.</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Is based on evidence or feedback.</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Is approved before testing continues.</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Includes a revised question, method, or data plan.</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Is documented in the research journal.</a:t>
            </a:r>
            <a:endParaRPr b="0" i="0" sz="1550" u="none" cap="none" strike="noStrike">
              <a:solidFill>
                <a:schemeClr val="dk1"/>
              </a:solidFill>
              <a:latin typeface="Arial"/>
              <a:ea typeface="Arial"/>
              <a:cs typeface="Arial"/>
              <a:sym typeface="Arial"/>
            </a:endParaRPr>
          </a:p>
        </p:txBody>
      </p:sp>
      <p:sp>
        <p:nvSpPr>
          <p:cNvPr id="290" name="Google Shape;290;p14"/>
          <p:cNvSpPr/>
          <p:nvPr/>
        </p:nvSpPr>
        <p:spPr>
          <a:xfrm>
            <a:off x="6400800" y="1600200"/>
            <a:ext cx="3017520" cy="438912"/>
          </a:xfrm>
          <a:prstGeom prst="roundRect">
            <a:avLst>
              <a:gd fmla="val 16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14"/>
          <p:cNvSpPr/>
          <p:nvPr/>
        </p:nvSpPr>
        <p:spPr>
          <a:xfrm>
            <a:off x="6556248" y="1728216"/>
            <a:ext cx="2706624" cy="210312"/>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A weak pivot...</a:t>
            </a:r>
            <a:endParaRPr b="0" i="0" sz="1800" u="none" cap="none" strike="noStrike">
              <a:solidFill>
                <a:schemeClr val="dk1"/>
              </a:solidFill>
              <a:latin typeface="Arial"/>
              <a:ea typeface="Arial"/>
              <a:cs typeface="Arial"/>
              <a:sym typeface="Arial"/>
            </a:endParaRPr>
          </a:p>
        </p:txBody>
      </p:sp>
      <p:sp>
        <p:nvSpPr>
          <p:cNvPr id="292" name="Google Shape;292;p14"/>
          <p:cNvSpPr/>
          <p:nvPr/>
        </p:nvSpPr>
        <p:spPr>
          <a:xfrm>
            <a:off x="6492240" y="2148840"/>
            <a:ext cx="4846320" cy="256032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Happens because the project got hard.</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Avoids documentation.</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Ignores safety or approval.</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Changes the goal without a new evidence plan.</a:t>
            </a:r>
            <a:endParaRPr b="0" i="0" sz="155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550"/>
              <a:buFont typeface="Arial"/>
              <a:buNone/>
            </a:pPr>
            <a:r>
              <a:rPr b="0" i="0" lang="en-US" sz="1550" u="none" cap="none" strike="noStrike">
                <a:solidFill>
                  <a:srgbClr val="F7F7F7"/>
                </a:solidFill>
                <a:latin typeface="Arial"/>
                <a:ea typeface="Arial"/>
                <a:cs typeface="Arial"/>
                <a:sym typeface="Arial"/>
              </a:rPr>
              <a:t>• Abandons useful failure data.</a:t>
            </a:r>
            <a:endParaRPr b="0" i="0" sz="1550" u="none" cap="none" strike="noStrike">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97" name="Shape 297"/>
        <p:cNvGrpSpPr/>
        <p:nvPr/>
      </p:nvGrpSpPr>
      <p:grpSpPr>
        <a:xfrm>
          <a:off x="0" y="0"/>
          <a:ext cx="0" cy="0"/>
          <a:chOff x="0" y="0"/>
          <a:chExt cx="0" cy="0"/>
        </a:xfrm>
      </p:grpSpPr>
      <p:sp>
        <p:nvSpPr>
          <p:cNvPr id="298" name="Google Shape;298;p15"/>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15"/>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15"/>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15"/>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PIVOT DECISION FLOW</a:t>
            </a:r>
            <a:endParaRPr b="0" i="0" sz="2700" u="none" cap="none" strike="noStrike">
              <a:solidFill>
                <a:schemeClr val="dk1"/>
              </a:solidFill>
              <a:latin typeface="Arial"/>
              <a:ea typeface="Arial"/>
              <a:cs typeface="Arial"/>
              <a:sym typeface="Arial"/>
            </a:endParaRPr>
          </a:p>
        </p:txBody>
      </p:sp>
      <p:sp>
        <p:nvSpPr>
          <p:cNvPr id="302" name="Google Shape;302;p15"/>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15"/>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Use evidence to choose the next move.</a:t>
            </a:r>
            <a:endParaRPr b="0" i="0" sz="1200" u="none" cap="none" strike="noStrike">
              <a:solidFill>
                <a:schemeClr val="dk1"/>
              </a:solidFill>
              <a:latin typeface="Arial"/>
              <a:ea typeface="Arial"/>
              <a:cs typeface="Arial"/>
              <a:sym typeface="Arial"/>
            </a:endParaRPr>
          </a:p>
        </p:txBody>
      </p:sp>
      <p:cxnSp>
        <p:nvCxnSpPr>
          <p:cNvPr id="304" name="Google Shape;304;p15"/>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305" name="Google Shape;305;p15"/>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13</a:t>
            </a:r>
            <a:endParaRPr b="0" i="0" sz="750" u="none" cap="none" strike="noStrike">
              <a:solidFill>
                <a:schemeClr val="dk1"/>
              </a:solidFill>
              <a:latin typeface="Arial"/>
              <a:ea typeface="Arial"/>
              <a:cs typeface="Arial"/>
              <a:sym typeface="Arial"/>
            </a:endParaRPr>
          </a:p>
        </p:txBody>
      </p:sp>
      <p:pic>
        <p:nvPicPr>
          <p:cNvPr descr="/mnt/data/STARLAB Logo 2026.png" id="306" name="Google Shape;306;p15"/>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307" name="Google Shape;307;p15"/>
          <p:cNvSpPr/>
          <p:nvPr/>
        </p:nvSpPr>
        <p:spPr>
          <a:xfrm>
            <a:off x="822960" y="2148840"/>
            <a:ext cx="2194560" cy="685800"/>
          </a:xfrm>
          <a:prstGeom prst="roundRect">
            <a:avLst>
              <a:gd fmla="val 10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15"/>
          <p:cNvSpPr/>
          <p:nvPr/>
        </p:nvSpPr>
        <p:spPr>
          <a:xfrm>
            <a:off x="978408" y="2276856"/>
            <a:ext cx="188366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600"/>
              <a:buFont typeface="Arial"/>
              <a:buNone/>
            </a:pPr>
            <a:r>
              <a:rPr b="1" i="0" lang="en-US" sz="1600" u="none" cap="none" strike="noStrike">
                <a:solidFill>
                  <a:srgbClr val="F7F7F7"/>
                </a:solidFill>
                <a:latin typeface="Arial"/>
                <a:ea typeface="Arial"/>
                <a:cs typeface="Arial"/>
                <a:sym typeface="Arial"/>
              </a:rPr>
              <a:t>Problem identified</a:t>
            </a:r>
            <a:endParaRPr b="0" i="0" sz="1600" u="none" cap="none" strike="noStrike">
              <a:solidFill>
                <a:schemeClr val="dk1"/>
              </a:solidFill>
              <a:latin typeface="Arial"/>
              <a:ea typeface="Arial"/>
              <a:cs typeface="Arial"/>
              <a:sym typeface="Arial"/>
            </a:endParaRPr>
          </a:p>
        </p:txBody>
      </p:sp>
      <p:sp>
        <p:nvSpPr>
          <p:cNvPr id="309" name="Google Shape;309;p15"/>
          <p:cNvSpPr/>
          <p:nvPr/>
        </p:nvSpPr>
        <p:spPr>
          <a:xfrm>
            <a:off x="3429000" y="2148840"/>
            <a:ext cx="2286000" cy="685800"/>
          </a:xfrm>
          <a:prstGeom prst="roundRect">
            <a:avLst>
              <a:gd fmla="val 10667"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15"/>
          <p:cNvSpPr/>
          <p:nvPr/>
        </p:nvSpPr>
        <p:spPr>
          <a:xfrm>
            <a:off x="3584448" y="2276856"/>
            <a:ext cx="197510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600"/>
              <a:buFont typeface="Arial"/>
              <a:buNone/>
            </a:pPr>
            <a:r>
              <a:rPr b="1" i="0" lang="en-US" sz="1600" u="none" cap="none" strike="noStrike">
                <a:solidFill>
                  <a:srgbClr val="F7F7F7"/>
                </a:solidFill>
                <a:latin typeface="Arial"/>
                <a:ea typeface="Arial"/>
                <a:cs typeface="Arial"/>
                <a:sym typeface="Arial"/>
              </a:rPr>
              <a:t>Can one revision fix it?</a:t>
            </a:r>
            <a:endParaRPr b="0" i="0" sz="1600" u="none" cap="none" strike="noStrike">
              <a:solidFill>
                <a:schemeClr val="dk1"/>
              </a:solidFill>
              <a:latin typeface="Arial"/>
              <a:ea typeface="Arial"/>
              <a:cs typeface="Arial"/>
              <a:sym typeface="Arial"/>
            </a:endParaRPr>
          </a:p>
        </p:txBody>
      </p:sp>
      <p:sp>
        <p:nvSpPr>
          <p:cNvPr id="311" name="Google Shape;311;p15"/>
          <p:cNvSpPr/>
          <p:nvPr/>
        </p:nvSpPr>
        <p:spPr>
          <a:xfrm>
            <a:off x="6126480" y="1755648"/>
            <a:ext cx="2057400" cy="685800"/>
          </a:xfrm>
          <a:prstGeom prst="roundRect">
            <a:avLst>
              <a:gd fmla="val 10667"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5"/>
          <p:cNvSpPr/>
          <p:nvPr/>
        </p:nvSpPr>
        <p:spPr>
          <a:xfrm>
            <a:off x="6281928" y="1883664"/>
            <a:ext cx="174650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600"/>
              <a:buFont typeface="Arial"/>
              <a:buNone/>
            </a:pPr>
            <a:r>
              <a:rPr b="1" i="0" lang="en-US" sz="1600" u="none" cap="none" strike="noStrike">
                <a:solidFill>
                  <a:srgbClr val="F7F7F7"/>
                </a:solidFill>
                <a:latin typeface="Arial"/>
                <a:ea typeface="Arial"/>
                <a:cs typeface="Arial"/>
                <a:sym typeface="Arial"/>
              </a:rPr>
              <a:t>Revise + retest</a:t>
            </a:r>
            <a:endParaRPr b="0" i="0" sz="1600" u="none" cap="none" strike="noStrike">
              <a:solidFill>
                <a:schemeClr val="dk1"/>
              </a:solidFill>
              <a:latin typeface="Arial"/>
              <a:ea typeface="Arial"/>
              <a:cs typeface="Arial"/>
              <a:sym typeface="Arial"/>
            </a:endParaRPr>
          </a:p>
        </p:txBody>
      </p:sp>
      <p:sp>
        <p:nvSpPr>
          <p:cNvPr id="313" name="Google Shape;313;p15"/>
          <p:cNvSpPr/>
          <p:nvPr/>
        </p:nvSpPr>
        <p:spPr>
          <a:xfrm>
            <a:off x="6126480" y="2788920"/>
            <a:ext cx="2331720" cy="685800"/>
          </a:xfrm>
          <a:prstGeom prst="roundRect">
            <a:avLst>
              <a:gd fmla="val 10667"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15"/>
          <p:cNvSpPr/>
          <p:nvPr/>
        </p:nvSpPr>
        <p:spPr>
          <a:xfrm>
            <a:off x="6281928" y="2916936"/>
            <a:ext cx="202082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600"/>
              <a:buFont typeface="Arial"/>
              <a:buNone/>
            </a:pPr>
            <a:r>
              <a:rPr b="1" i="0" lang="en-US" sz="1600" u="none" cap="none" strike="noStrike">
                <a:solidFill>
                  <a:srgbClr val="F7F7F7"/>
                </a:solidFill>
                <a:latin typeface="Arial"/>
                <a:ea typeface="Arial"/>
                <a:cs typeface="Arial"/>
                <a:sym typeface="Arial"/>
              </a:rPr>
              <a:t>Reduce scope or pivot</a:t>
            </a:r>
            <a:endParaRPr b="0" i="0" sz="1600" u="none" cap="none" strike="noStrike">
              <a:solidFill>
                <a:schemeClr val="dk1"/>
              </a:solidFill>
              <a:latin typeface="Arial"/>
              <a:ea typeface="Arial"/>
              <a:cs typeface="Arial"/>
              <a:sym typeface="Arial"/>
            </a:endParaRPr>
          </a:p>
        </p:txBody>
      </p:sp>
      <p:sp>
        <p:nvSpPr>
          <p:cNvPr id="315" name="Google Shape;315;p15"/>
          <p:cNvSpPr/>
          <p:nvPr/>
        </p:nvSpPr>
        <p:spPr>
          <a:xfrm>
            <a:off x="8961120" y="2212848"/>
            <a:ext cx="2423160" cy="685800"/>
          </a:xfrm>
          <a:prstGeom prst="roundRect">
            <a:avLst>
              <a:gd fmla="val 10667"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5"/>
          <p:cNvSpPr/>
          <p:nvPr/>
        </p:nvSpPr>
        <p:spPr>
          <a:xfrm>
            <a:off x="9116568" y="2340864"/>
            <a:ext cx="211226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600"/>
              <a:buFont typeface="Arial"/>
              <a:buNone/>
            </a:pPr>
            <a:r>
              <a:rPr b="1" i="0" lang="en-US" sz="1600" u="none" cap="none" strike="noStrike">
                <a:solidFill>
                  <a:srgbClr val="F7F7F7"/>
                </a:solidFill>
                <a:latin typeface="Arial"/>
                <a:ea typeface="Arial"/>
                <a:cs typeface="Arial"/>
                <a:sym typeface="Arial"/>
              </a:rPr>
              <a:t>Document + seek approval</a:t>
            </a:r>
            <a:endParaRPr b="0" i="0" sz="1600" u="none" cap="none" strike="noStrike">
              <a:solidFill>
                <a:schemeClr val="dk1"/>
              </a:solidFill>
              <a:latin typeface="Arial"/>
              <a:ea typeface="Arial"/>
              <a:cs typeface="Arial"/>
              <a:sym typeface="Arial"/>
            </a:endParaRPr>
          </a:p>
        </p:txBody>
      </p:sp>
      <p:cxnSp>
        <p:nvCxnSpPr>
          <p:cNvPr id="317" name="Google Shape;317;p15"/>
          <p:cNvCxnSpPr/>
          <p:nvPr/>
        </p:nvCxnSpPr>
        <p:spPr>
          <a:xfrm>
            <a:off x="3017520" y="2487168"/>
            <a:ext cx="347472" cy="0"/>
          </a:xfrm>
          <a:prstGeom prst="straightConnector1">
            <a:avLst/>
          </a:prstGeom>
          <a:noFill/>
          <a:ln cap="flat" cmpd="sng" w="12700">
            <a:solidFill>
              <a:srgbClr val="ED1C24"/>
            </a:solidFill>
            <a:prstDash val="solid"/>
            <a:round/>
            <a:headEnd len="sm" w="sm" type="none"/>
            <a:tailEnd len="sm" w="sm" type="none"/>
          </a:ln>
        </p:spPr>
      </p:cxnSp>
      <p:cxnSp>
        <p:nvCxnSpPr>
          <p:cNvPr id="318" name="Google Shape;318;p15"/>
          <p:cNvCxnSpPr/>
          <p:nvPr/>
        </p:nvCxnSpPr>
        <p:spPr>
          <a:xfrm flipH="1" rot="10800000">
            <a:off x="5760720" y="2103120"/>
            <a:ext cx="292608" cy="384048"/>
          </a:xfrm>
          <a:prstGeom prst="straightConnector1">
            <a:avLst/>
          </a:prstGeom>
          <a:noFill/>
          <a:ln cap="flat" cmpd="sng" w="12700">
            <a:solidFill>
              <a:srgbClr val="ED1C24"/>
            </a:solidFill>
            <a:prstDash val="solid"/>
            <a:round/>
            <a:headEnd len="sm" w="sm" type="none"/>
            <a:tailEnd len="sm" w="sm" type="none"/>
          </a:ln>
        </p:spPr>
      </p:cxnSp>
      <p:cxnSp>
        <p:nvCxnSpPr>
          <p:cNvPr id="319" name="Google Shape;319;p15"/>
          <p:cNvCxnSpPr/>
          <p:nvPr/>
        </p:nvCxnSpPr>
        <p:spPr>
          <a:xfrm>
            <a:off x="5760720" y="2487168"/>
            <a:ext cx="292608" cy="640080"/>
          </a:xfrm>
          <a:prstGeom prst="straightConnector1">
            <a:avLst/>
          </a:prstGeom>
          <a:noFill/>
          <a:ln cap="flat" cmpd="sng" w="12700">
            <a:solidFill>
              <a:srgbClr val="ED1C24"/>
            </a:solidFill>
            <a:prstDash val="solid"/>
            <a:round/>
            <a:headEnd len="sm" w="sm" type="none"/>
            <a:tailEnd len="sm" w="sm" type="none"/>
          </a:ln>
        </p:spPr>
      </p:cxnSp>
      <p:cxnSp>
        <p:nvCxnSpPr>
          <p:cNvPr id="320" name="Google Shape;320;p15"/>
          <p:cNvCxnSpPr/>
          <p:nvPr/>
        </p:nvCxnSpPr>
        <p:spPr>
          <a:xfrm>
            <a:off x="8503920" y="2103120"/>
            <a:ext cx="384048" cy="448056"/>
          </a:xfrm>
          <a:prstGeom prst="straightConnector1">
            <a:avLst/>
          </a:prstGeom>
          <a:noFill/>
          <a:ln cap="flat" cmpd="sng" w="12700">
            <a:solidFill>
              <a:srgbClr val="ED1C24"/>
            </a:solidFill>
            <a:prstDash val="solid"/>
            <a:round/>
            <a:headEnd len="sm" w="sm" type="none"/>
            <a:tailEnd len="sm" w="sm" type="none"/>
          </a:ln>
        </p:spPr>
      </p:cxnSp>
      <p:cxnSp>
        <p:nvCxnSpPr>
          <p:cNvPr id="321" name="Google Shape;321;p15"/>
          <p:cNvCxnSpPr/>
          <p:nvPr/>
        </p:nvCxnSpPr>
        <p:spPr>
          <a:xfrm flipH="1" rot="10800000">
            <a:off x="8686800" y="2551176"/>
            <a:ext cx="201168" cy="576072"/>
          </a:xfrm>
          <a:prstGeom prst="straightConnector1">
            <a:avLst/>
          </a:prstGeom>
          <a:noFill/>
          <a:ln cap="flat" cmpd="sng" w="12700">
            <a:solidFill>
              <a:srgbClr val="ED1C24"/>
            </a:solidFill>
            <a:prstDash val="solid"/>
            <a:round/>
            <a:headEnd len="sm" w="sm" type="none"/>
            <a:tailEnd len="sm" w="sm" type="none"/>
          </a:ln>
        </p:spPr>
      </p:cxnSp>
      <p:sp>
        <p:nvSpPr>
          <p:cNvPr id="322" name="Google Shape;322;p15"/>
          <p:cNvSpPr/>
          <p:nvPr/>
        </p:nvSpPr>
        <p:spPr>
          <a:xfrm>
            <a:off x="5669280" y="1920240"/>
            <a:ext cx="36576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800"/>
              <a:buFont typeface="Arial"/>
              <a:buNone/>
            </a:pPr>
            <a:r>
              <a:rPr b="1" i="0" lang="en-US" sz="800" u="none" cap="none" strike="noStrike">
                <a:solidFill>
                  <a:srgbClr val="ED1C24"/>
                </a:solidFill>
                <a:latin typeface="Arial"/>
                <a:ea typeface="Arial"/>
                <a:cs typeface="Arial"/>
                <a:sym typeface="Arial"/>
              </a:rPr>
              <a:t>YES</a:t>
            </a:r>
            <a:endParaRPr b="0" i="0" sz="800" u="none" cap="none" strike="noStrike">
              <a:solidFill>
                <a:schemeClr val="dk1"/>
              </a:solidFill>
              <a:latin typeface="Arial"/>
              <a:ea typeface="Arial"/>
              <a:cs typeface="Arial"/>
              <a:sym typeface="Arial"/>
            </a:endParaRPr>
          </a:p>
        </p:txBody>
      </p:sp>
      <p:sp>
        <p:nvSpPr>
          <p:cNvPr id="323" name="Google Shape;323;p15"/>
          <p:cNvSpPr/>
          <p:nvPr/>
        </p:nvSpPr>
        <p:spPr>
          <a:xfrm>
            <a:off x="5715000" y="3218688"/>
            <a:ext cx="320040"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800"/>
              <a:buFont typeface="Arial"/>
              <a:buNone/>
            </a:pPr>
            <a:r>
              <a:rPr b="1" i="0" lang="en-US" sz="800" u="none" cap="none" strike="noStrike">
                <a:solidFill>
                  <a:srgbClr val="ED1C24"/>
                </a:solidFill>
                <a:latin typeface="Arial"/>
                <a:ea typeface="Arial"/>
                <a:cs typeface="Arial"/>
                <a:sym typeface="Arial"/>
              </a:rPr>
              <a:t>NO</a:t>
            </a:r>
            <a:endParaRPr b="0" i="0" sz="800" u="none" cap="none" strike="noStrike">
              <a:solidFill>
                <a:schemeClr val="dk1"/>
              </a:solidFill>
              <a:latin typeface="Arial"/>
              <a:ea typeface="Arial"/>
              <a:cs typeface="Arial"/>
              <a:sym typeface="Arial"/>
            </a:endParaRPr>
          </a:p>
        </p:txBody>
      </p:sp>
      <p:sp>
        <p:nvSpPr>
          <p:cNvPr id="324" name="Google Shape;324;p15"/>
          <p:cNvSpPr/>
          <p:nvPr/>
        </p:nvSpPr>
        <p:spPr>
          <a:xfrm>
            <a:off x="1920240" y="4617720"/>
            <a:ext cx="8321040" cy="685800"/>
          </a:xfrm>
          <a:prstGeom prst="roundRect">
            <a:avLst>
              <a:gd fmla="val 10667"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15"/>
          <p:cNvSpPr/>
          <p:nvPr/>
        </p:nvSpPr>
        <p:spPr>
          <a:xfrm>
            <a:off x="2075688" y="4745736"/>
            <a:ext cx="8010144" cy="45720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200"/>
              <a:buFont typeface="Arial"/>
              <a:buNone/>
            </a:pPr>
            <a:r>
              <a:rPr b="1" i="0" lang="en-US" sz="2200" u="none" cap="none" strike="noStrike">
                <a:solidFill>
                  <a:srgbClr val="F7F7F7"/>
                </a:solidFill>
                <a:latin typeface="Arial"/>
                <a:ea typeface="Arial"/>
                <a:cs typeface="Arial"/>
                <a:sym typeface="Arial"/>
              </a:rPr>
              <a:t>Key rule: no major pivot happens silently.</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30" name="Shape 330"/>
        <p:cNvGrpSpPr/>
        <p:nvPr/>
      </p:nvGrpSpPr>
      <p:grpSpPr>
        <a:xfrm>
          <a:off x="0" y="0"/>
          <a:ext cx="0" cy="0"/>
          <a:chOff x="0" y="0"/>
          <a:chExt cx="0" cy="0"/>
        </a:xfrm>
      </p:grpSpPr>
      <p:sp>
        <p:nvSpPr>
          <p:cNvPr id="331" name="Google Shape;331;p16"/>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16"/>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16"/>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16"/>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ACTIVITY: DIAGNOSE THE SCENARIO</a:t>
            </a:r>
            <a:endParaRPr b="0" i="0" sz="2700" u="none" cap="none" strike="noStrike">
              <a:solidFill>
                <a:schemeClr val="dk1"/>
              </a:solidFill>
              <a:latin typeface="Arial"/>
              <a:ea typeface="Arial"/>
              <a:cs typeface="Arial"/>
              <a:sym typeface="Arial"/>
            </a:endParaRPr>
          </a:p>
        </p:txBody>
      </p:sp>
      <p:sp>
        <p:nvSpPr>
          <p:cNvPr id="335" name="Google Shape;335;p16"/>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16"/>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Classify the problem before proposing a fix.</a:t>
            </a:r>
            <a:endParaRPr b="0" i="0" sz="1200" u="none" cap="none" strike="noStrike">
              <a:solidFill>
                <a:schemeClr val="dk1"/>
              </a:solidFill>
              <a:latin typeface="Arial"/>
              <a:ea typeface="Arial"/>
              <a:cs typeface="Arial"/>
              <a:sym typeface="Arial"/>
            </a:endParaRPr>
          </a:p>
        </p:txBody>
      </p:sp>
      <p:cxnSp>
        <p:nvCxnSpPr>
          <p:cNvPr id="337" name="Google Shape;337;p16"/>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338" name="Google Shape;338;p16"/>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14</a:t>
            </a:r>
            <a:endParaRPr b="0" i="0" sz="750" u="none" cap="none" strike="noStrike">
              <a:solidFill>
                <a:schemeClr val="dk1"/>
              </a:solidFill>
              <a:latin typeface="Arial"/>
              <a:ea typeface="Arial"/>
              <a:cs typeface="Arial"/>
              <a:sym typeface="Arial"/>
            </a:endParaRPr>
          </a:p>
        </p:txBody>
      </p:sp>
      <p:pic>
        <p:nvPicPr>
          <p:cNvPr descr="/mnt/data/STARLAB Logo 2026.png" id="339" name="Google Shape;339;p16"/>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340" name="Google Shape;340;p16"/>
          <p:cNvSpPr/>
          <p:nvPr/>
        </p:nvSpPr>
        <p:spPr>
          <a:xfrm>
            <a:off x="685800" y="1664208"/>
            <a:ext cx="2011680" cy="310896"/>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 name="Google Shape;341;p16"/>
          <p:cNvSpPr/>
          <p:nvPr/>
        </p:nvSpPr>
        <p:spPr>
          <a:xfrm>
            <a:off x="804672" y="1728216"/>
            <a:ext cx="1773936"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900"/>
              <a:buFont typeface="Arial"/>
              <a:buNone/>
            </a:pPr>
            <a:r>
              <a:rPr b="1" i="0" lang="en-US" sz="900" u="none" cap="none" strike="noStrike">
                <a:solidFill>
                  <a:srgbClr val="F7F7F7"/>
                </a:solidFill>
                <a:latin typeface="Arial"/>
                <a:ea typeface="Arial"/>
                <a:cs typeface="Arial"/>
                <a:sym typeface="Arial"/>
              </a:rPr>
              <a:t>STUDENT ACTIVITY</a:t>
            </a:r>
            <a:endParaRPr b="0" i="0" sz="900" u="none" cap="none" strike="noStrike">
              <a:solidFill>
                <a:schemeClr val="dk1"/>
              </a:solidFill>
              <a:latin typeface="Arial"/>
              <a:ea typeface="Arial"/>
              <a:cs typeface="Arial"/>
              <a:sym typeface="Arial"/>
            </a:endParaRPr>
          </a:p>
        </p:txBody>
      </p:sp>
      <p:sp>
        <p:nvSpPr>
          <p:cNvPr id="342" name="Google Shape;342;p16"/>
          <p:cNvSpPr/>
          <p:nvPr/>
        </p:nvSpPr>
        <p:spPr>
          <a:xfrm>
            <a:off x="914400" y="2331720"/>
            <a:ext cx="36576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1.</a:t>
            </a:r>
            <a:endParaRPr b="0" i="0" sz="1500" u="none" cap="none" strike="noStrike">
              <a:solidFill>
                <a:schemeClr val="dk1"/>
              </a:solidFill>
              <a:latin typeface="Arial"/>
              <a:ea typeface="Arial"/>
              <a:cs typeface="Arial"/>
              <a:sym typeface="Arial"/>
            </a:endParaRPr>
          </a:p>
        </p:txBody>
      </p:sp>
      <p:sp>
        <p:nvSpPr>
          <p:cNvPr id="343" name="Google Shape;343;p16"/>
          <p:cNvSpPr/>
          <p:nvPr/>
        </p:nvSpPr>
        <p:spPr>
          <a:xfrm>
            <a:off x="1325880" y="2295144"/>
            <a:ext cx="99669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A sensor reads 0 for every trial, even when conditions change.</a:t>
            </a:r>
            <a:endParaRPr b="0" i="0" sz="1600" u="none" cap="none" strike="noStrike">
              <a:solidFill>
                <a:schemeClr val="dk1"/>
              </a:solidFill>
              <a:latin typeface="Arial"/>
              <a:ea typeface="Arial"/>
              <a:cs typeface="Arial"/>
              <a:sym typeface="Arial"/>
            </a:endParaRPr>
          </a:p>
        </p:txBody>
      </p:sp>
      <p:sp>
        <p:nvSpPr>
          <p:cNvPr id="344" name="Google Shape;344;p16"/>
          <p:cNvSpPr/>
          <p:nvPr/>
        </p:nvSpPr>
        <p:spPr>
          <a:xfrm>
            <a:off x="914400" y="3044952"/>
            <a:ext cx="36576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2.</a:t>
            </a:r>
            <a:endParaRPr b="0" i="0" sz="1500" u="none" cap="none" strike="noStrike">
              <a:solidFill>
                <a:schemeClr val="dk1"/>
              </a:solidFill>
              <a:latin typeface="Arial"/>
              <a:ea typeface="Arial"/>
              <a:cs typeface="Arial"/>
              <a:sym typeface="Arial"/>
            </a:endParaRPr>
          </a:p>
        </p:txBody>
      </p:sp>
      <p:sp>
        <p:nvSpPr>
          <p:cNvPr id="345" name="Google Shape;345;p16"/>
          <p:cNvSpPr/>
          <p:nvPr/>
        </p:nvSpPr>
        <p:spPr>
          <a:xfrm>
            <a:off x="1325880" y="3008376"/>
            <a:ext cx="99669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A student changed the ramp height halfway through testing but kept the same data table.</a:t>
            </a:r>
            <a:endParaRPr b="0" i="0" sz="1600" u="none" cap="none" strike="noStrike">
              <a:solidFill>
                <a:schemeClr val="dk1"/>
              </a:solidFill>
              <a:latin typeface="Arial"/>
              <a:ea typeface="Arial"/>
              <a:cs typeface="Arial"/>
              <a:sym typeface="Arial"/>
            </a:endParaRPr>
          </a:p>
        </p:txBody>
      </p:sp>
      <p:sp>
        <p:nvSpPr>
          <p:cNvPr id="346" name="Google Shape;346;p16"/>
          <p:cNvSpPr/>
          <p:nvPr/>
        </p:nvSpPr>
        <p:spPr>
          <a:xfrm>
            <a:off x="914400" y="3758184"/>
            <a:ext cx="36576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3.</a:t>
            </a:r>
            <a:endParaRPr b="0" i="0" sz="1500" u="none" cap="none" strike="noStrike">
              <a:solidFill>
                <a:schemeClr val="dk1"/>
              </a:solidFill>
              <a:latin typeface="Arial"/>
              <a:ea typeface="Arial"/>
              <a:cs typeface="Arial"/>
              <a:sym typeface="Arial"/>
            </a:endParaRPr>
          </a:p>
        </p:txBody>
      </p:sp>
      <p:sp>
        <p:nvSpPr>
          <p:cNvPr id="347" name="Google Shape;347;p16"/>
          <p:cNvSpPr/>
          <p:nvPr/>
        </p:nvSpPr>
        <p:spPr>
          <a:xfrm>
            <a:off x="1325880" y="3721608"/>
            <a:ext cx="99669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A prototype breaks before the planned load test can begin.</a:t>
            </a:r>
            <a:endParaRPr b="0" i="0" sz="1600" u="none" cap="none" strike="noStrike">
              <a:solidFill>
                <a:schemeClr val="dk1"/>
              </a:solidFill>
              <a:latin typeface="Arial"/>
              <a:ea typeface="Arial"/>
              <a:cs typeface="Arial"/>
              <a:sym typeface="Arial"/>
            </a:endParaRPr>
          </a:p>
        </p:txBody>
      </p:sp>
      <p:sp>
        <p:nvSpPr>
          <p:cNvPr id="348" name="Google Shape;348;p16"/>
          <p:cNvSpPr/>
          <p:nvPr/>
        </p:nvSpPr>
        <p:spPr>
          <a:xfrm>
            <a:off x="914400" y="4471416"/>
            <a:ext cx="36576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4.</a:t>
            </a:r>
            <a:endParaRPr b="0" i="0" sz="1500" u="none" cap="none" strike="noStrike">
              <a:solidFill>
                <a:schemeClr val="dk1"/>
              </a:solidFill>
              <a:latin typeface="Arial"/>
              <a:ea typeface="Arial"/>
              <a:cs typeface="Arial"/>
              <a:sym typeface="Arial"/>
            </a:endParaRPr>
          </a:p>
        </p:txBody>
      </p:sp>
      <p:sp>
        <p:nvSpPr>
          <p:cNvPr id="349" name="Google Shape;349;p16"/>
          <p:cNvSpPr/>
          <p:nvPr/>
        </p:nvSpPr>
        <p:spPr>
          <a:xfrm>
            <a:off x="1325880" y="4434840"/>
            <a:ext cx="99669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The project requires 6 more weeks of growth data, but only 2 weeks remain.</a:t>
            </a:r>
            <a:endParaRPr b="0" i="0" sz="1600" u="none" cap="none" strike="noStrike">
              <a:solidFill>
                <a:schemeClr val="dk1"/>
              </a:solidFill>
              <a:latin typeface="Arial"/>
              <a:ea typeface="Arial"/>
              <a:cs typeface="Arial"/>
              <a:sym typeface="Arial"/>
            </a:endParaRPr>
          </a:p>
        </p:txBody>
      </p:sp>
      <p:sp>
        <p:nvSpPr>
          <p:cNvPr id="350" name="Google Shape;350;p16"/>
          <p:cNvSpPr/>
          <p:nvPr/>
        </p:nvSpPr>
        <p:spPr>
          <a:xfrm>
            <a:off x="914400" y="5504688"/>
            <a:ext cx="987552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700"/>
              <a:buFont typeface="Arial"/>
              <a:buNone/>
            </a:pPr>
            <a:r>
              <a:rPr b="0" i="0" lang="en-US" sz="1700" u="none" cap="none" strike="noStrike">
                <a:solidFill>
                  <a:srgbClr val="A6A6A6"/>
                </a:solidFill>
                <a:latin typeface="Arial"/>
                <a:ea typeface="Arial"/>
                <a:cs typeface="Arial"/>
                <a:sym typeface="Arial"/>
              </a:rPr>
              <a:t>Task: Identify the problem type, the evidence, and one responsible next step.</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5" name="Shape 355"/>
        <p:cNvGrpSpPr/>
        <p:nvPr/>
      </p:nvGrpSpPr>
      <p:grpSpPr>
        <a:xfrm>
          <a:off x="0" y="0"/>
          <a:ext cx="0" cy="0"/>
          <a:chOff x="0" y="0"/>
          <a:chExt cx="0" cy="0"/>
        </a:xfrm>
      </p:grpSpPr>
      <p:sp>
        <p:nvSpPr>
          <p:cNvPr id="356" name="Google Shape;356;p17"/>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17"/>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17"/>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17"/>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ACTIVITY: TROUBLESHOOTING CONFERENCE</a:t>
            </a:r>
            <a:endParaRPr b="0" i="0" sz="2700" u="none" cap="none" strike="noStrike">
              <a:solidFill>
                <a:schemeClr val="dk1"/>
              </a:solidFill>
              <a:latin typeface="Arial"/>
              <a:ea typeface="Arial"/>
              <a:cs typeface="Arial"/>
              <a:sym typeface="Arial"/>
            </a:endParaRPr>
          </a:p>
        </p:txBody>
      </p:sp>
      <p:sp>
        <p:nvSpPr>
          <p:cNvPr id="360" name="Google Shape;360;p17"/>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 name="Google Shape;361;p17"/>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Use a structured conversation instead of vague help-seeking.</a:t>
            </a:r>
            <a:endParaRPr b="0" i="0" sz="1200" u="none" cap="none" strike="noStrike">
              <a:solidFill>
                <a:schemeClr val="dk1"/>
              </a:solidFill>
              <a:latin typeface="Arial"/>
              <a:ea typeface="Arial"/>
              <a:cs typeface="Arial"/>
              <a:sym typeface="Arial"/>
            </a:endParaRPr>
          </a:p>
        </p:txBody>
      </p:sp>
      <p:cxnSp>
        <p:nvCxnSpPr>
          <p:cNvPr id="362" name="Google Shape;362;p17"/>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363" name="Google Shape;363;p17"/>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15</a:t>
            </a:r>
            <a:endParaRPr b="0" i="0" sz="750" u="none" cap="none" strike="noStrike">
              <a:solidFill>
                <a:schemeClr val="dk1"/>
              </a:solidFill>
              <a:latin typeface="Arial"/>
              <a:ea typeface="Arial"/>
              <a:cs typeface="Arial"/>
              <a:sym typeface="Arial"/>
            </a:endParaRPr>
          </a:p>
        </p:txBody>
      </p:sp>
      <p:pic>
        <p:nvPicPr>
          <p:cNvPr descr="/mnt/data/STARLAB Logo 2026.png" id="364" name="Google Shape;364;p17"/>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365" name="Google Shape;365;p17"/>
          <p:cNvSpPr/>
          <p:nvPr/>
        </p:nvSpPr>
        <p:spPr>
          <a:xfrm>
            <a:off x="685800" y="1664208"/>
            <a:ext cx="2011680" cy="310896"/>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17"/>
          <p:cNvSpPr/>
          <p:nvPr/>
        </p:nvSpPr>
        <p:spPr>
          <a:xfrm>
            <a:off x="804672" y="1728216"/>
            <a:ext cx="1773936"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900"/>
              <a:buFont typeface="Arial"/>
              <a:buNone/>
            </a:pPr>
            <a:r>
              <a:rPr b="1" i="0" lang="en-US" sz="900" u="none" cap="none" strike="noStrike">
                <a:solidFill>
                  <a:srgbClr val="F7F7F7"/>
                </a:solidFill>
                <a:latin typeface="Arial"/>
                <a:ea typeface="Arial"/>
                <a:cs typeface="Arial"/>
                <a:sym typeface="Arial"/>
              </a:rPr>
              <a:t>STUDENT ACTIVITY</a:t>
            </a:r>
            <a:endParaRPr b="0" i="0" sz="900" u="none" cap="none" strike="noStrike">
              <a:solidFill>
                <a:schemeClr val="dk1"/>
              </a:solidFill>
              <a:latin typeface="Arial"/>
              <a:ea typeface="Arial"/>
              <a:cs typeface="Arial"/>
              <a:sym typeface="Arial"/>
            </a:endParaRPr>
          </a:p>
        </p:txBody>
      </p:sp>
      <p:sp>
        <p:nvSpPr>
          <p:cNvPr id="367" name="Google Shape;367;p17"/>
          <p:cNvSpPr/>
          <p:nvPr/>
        </p:nvSpPr>
        <p:spPr>
          <a:xfrm>
            <a:off x="1005840" y="214884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1</a:t>
            </a:r>
            <a:endParaRPr b="0" i="0" sz="1500" u="none" cap="none" strike="noStrike">
              <a:solidFill>
                <a:schemeClr val="dk1"/>
              </a:solidFill>
              <a:latin typeface="Arial"/>
              <a:ea typeface="Arial"/>
              <a:cs typeface="Arial"/>
              <a:sym typeface="Arial"/>
            </a:endParaRPr>
          </a:p>
        </p:txBody>
      </p:sp>
      <p:sp>
        <p:nvSpPr>
          <p:cNvPr id="368" name="Google Shape;368;p17"/>
          <p:cNvSpPr/>
          <p:nvPr/>
        </p:nvSpPr>
        <p:spPr>
          <a:xfrm>
            <a:off x="1536192" y="2121408"/>
            <a:ext cx="93268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Researcher explains the problem in 2 minutes.</a:t>
            </a:r>
            <a:endParaRPr b="0" i="0" sz="1800" u="none" cap="none" strike="noStrike">
              <a:solidFill>
                <a:schemeClr val="dk1"/>
              </a:solidFill>
              <a:latin typeface="Arial"/>
              <a:ea typeface="Arial"/>
              <a:cs typeface="Arial"/>
              <a:sym typeface="Arial"/>
            </a:endParaRPr>
          </a:p>
        </p:txBody>
      </p:sp>
      <p:sp>
        <p:nvSpPr>
          <p:cNvPr id="369" name="Google Shape;369;p17"/>
          <p:cNvSpPr/>
          <p:nvPr/>
        </p:nvSpPr>
        <p:spPr>
          <a:xfrm>
            <a:off x="1005840" y="278892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2</a:t>
            </a:r>
            <a:endParaRPr b="0" i="0" sz="1500" u="none" cap="none" strike="noStrike">
              <a:solidFill>
                <a:schemeClr val="dk1"/>
              </a:solidFill>
              <a:latin typeface="Arial"/>
              <a:ea typeface="Arial"/>
              <a:cs typeface="Arial"/>
              <a:sym typeface="Arial"/>
            </a:endParaRPr>
          </a:p>
        </p:txBody>
      </p:sp>
      <p:sp>
        <p:nvSpPr>
          <p:cNvPr id="370" name="Google Shape;370;p17"/>
          <p:cNvSpPr/>
          <p:nvPr/>
        </p:nvSpPr>
        <p:spPr>
          <a:xfrm>
            <a:off x="1536192" y="2761488"/>
            <a:ext cx="93268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Group asks clarifying questions only.</a:t>
            </a:r>
            <a:endParaRPr b="0" i="0" sz="1800" u="none" cap="none" strike="noStrike">
              <a:solidFill>
                <a:schemeClr val="dk1"/>
              </a:solidFill>
              <a:latin typeface="Arial"/>
              <a:ea typeface="Arial"/>
              <a:cs typeface="Arial"/>
              <a:sym typeface="Arial"/>
            </a:endParaRPr>
          </a:p>
        </p:txBody>
      </p:sp>
      <p:sp>
        <p:nvSpPr>
          <p:cNvPr id="371" name="Google Shape;371;p17"/>
          <p:cNvSpPr/>
          <p:nvPr/>
        </p:nvSpPr>
        <p:spPr>
          <a:xfrm>
            <a:off x="1005840" y="342900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3</a:t>
            </a:r>
            <a:endParaRPr b="0" i="0" sz="1500" u="none" cap="none" strike="noStrike">
              <a:solidFill>
                <a:schemeClr val="dk1"/>
              </a:solidFill>
              <a:latin typeface="Arial"/>
              <a:ea typeface="Arial"/>
              <a:cs typeface="Arial"/>
              <a:sym typeface="Arial"/>
            </a:endParaRPr>
          </a:p>
        </p:txBody>
      </p:sp>
      <p:sp>
        <p:nvSpPr>
          <p:cNvPr id="372" name="Google Shape;372;p17"/>
          <p:cNvSpPr/>
          <p:nvPr/>
        </p:nvSpPr>
        <p:spPr>
          <a:xfrm>
            <a:off x="1536192" y="3401568"/>
            <a:ext cx="93268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Group suggests possible causes.</a:t>
            </a:r>
            <a:endParaRPr b="0" i="0" sz="1800" u="none" cap="none" strike="noStrike">
              <a:solidFill>
                <a:schemeClr val="dk1"/>
              </a:solidFill>
              <a:latin typeface="Arial"/>
              <a:ea typeface="Arial"/>
              <a:cs typeface="Arial"/>
              <a:sym typeface="Arial"/>
            </a:endParaRPr>
          </a:p>
        </p:txBody>
      </p:sp>
      <p:sp>
        <p:nvSpPr>
          <p:cNvPr id="373" name="Google Shape;373;p17"/>
          <p:cNvSpPr/>
          <p:nvPr/>
        </p:nvSpPr>
        <p:spPr>
          <a:xfrm>
            <a:off x="1005840" y="406908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4</a:t>
            </a:r>
            <a:endParaRPr b="0" i="0" sz="1500" u="none" cap="none" strike="noStrike">
              <a:solidFill>
                <a:schemeClr val="dk1"/>
              </a:solidFill>
              <a:latin typeface="Arial"/>
              <a:ea typeface="Arial"/>
              <a:cs typeface="Arial"/>
              <a:sym typeface="Arial"/>
            </a:endParaRPr>
          </a:p>
        </p:txBody>
      </p:sp>
      <p:sp>
        <p:nvSpPr>
          <p:cNvPr id="374" name="Google Shape;374;p17"/>
          <p:cNvSpPr/>
          <p:nvPr/>
        </p:nvSpPr>
        <p:spPr>
          <a:xfrm>
            <a:off x="1536192" y="4041648"/>
            <a:ext cx="93268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Group suggests possible next steps.</a:t>
            </a:r>
            <a:endParaRPr b="0" i="0" sz="1800" u="none" cap="none" strike="noStrike">
              <a:solidFill>
                <a:schemeClr val="dk1"/>
              </a:solidFill>
              <a:latin typeface="Arial"/>
              <a:ea typeface="Arial"/>
              <a:cs typeface="Arial"/>
              <a:sym typeface="Arial"/>
            </a:endParaRPr>
          </a:p>
        </p:txBody>
      </p:sp>
      <p:sp>
        <p:nvSpPr>
          <p:cNvPr id="375" name="Google Shape;375;p17"/>
          <p:cNvSpPr/>
          <p:nvPr/>
        </p:nvSpPr>
        <p:spPr>
          <a:xfrm>
            <a:off x="1005840" y="470916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500"/>
              <a:buFont typeface="Arial"/>
              <a:buNone/>
            </a:pPr>
            <a:r>
              <a:rPr b="1" i="0" lang="en-US" sz="1500" u="none" cap="none" strike="noStrike">
                <a:solidFill>
                  <a:srgbClr val="ED1C24"/>
                </a:solidFill>
                <a:latin typeface="Arial"/>
                <a:ea typeface="Arial"/>
                <a:cs typeface="Arial"/>
                <a:sym typeface="Arial"/>
              </a:rPr>
              <a:t>5</a:t>
            </a:r>
            <a:endParaRPr b="0" i="0" sz="1500" u="none" cap="none" strike="noStrike">
              <a:solidFill>
                <a:schemeClr val="dk1"/>
              </a:solidFill>
              <a:latin typeface="Arial"/>
              <a:ea typeface="Arial"/>
              <a:cs typeface="Arial"/>
              <a:sym typeface="Arial"/>
            </a:endParaRPr>
          </a:p>
        </p:txBody>
      </p:sp>
      <p:sp>
        <p:nvSpPr>
          <p:cNvPr id="376" name="Google Shape;376;p17"/>
          <p:cNvSpPr/>
          <p:nvPr/>
        </p:nvSpPr>
        <p:spPr>
          <a:xfrm>
            <a:off x="1536192" y="4681728"/>
            <a:ext cx="932688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1800"/>
              <a:buFont typeface="Arial"/>
              <a:buNone/>
            </a:pPr>
            <a:r>
              <a:rPr b="0" i="0" lang="en-US" sz="1800" u="none" cap="none" strike="noStrike">
                <a:solidFill>
                  <a:srgbClr val="F7F7F7"/>
                </a:solidFill>
                <a:latin typeface="Arial"/>
                <a:ea typeface="Arial"/>
                <a:cs typeface="Arial"/>
                <a:sym typeface="Arial"/>
              </a:rPr>
              <a:t>Researcher chooses one action and documents it.</a:t>
            </a:r>
            <a:endParaRPr b="0" i="0" sz="1800" u="none" cap="none" strike="noStrike">
              <a:solidFill>
                <a:schemeClr val="dk1"/>
              </a:solidFill>
              <a:latin typeface="Arial"/>
              <a:ea typeface="Arial"/>
              <a:cs typeface="Arial"/>
              <a:sym typeface="Arial"/>
            </a:endParaRPr>
          </a:p>
        </p:txBody>
      </p:sp>
      <p:sp>
        <p:nvSpPr>
          <p:cNvPr id="377" name="Google Shape;377;p17"/>
          <p:cNvSpPr/>
          <p:nvPr/>
        </p:nvSpPr>
        <p:spPr>
          <a:xfrm>
            <a:off x="1005840" y="5577840"/>
            <a:ext cx="8686800" cy="502920"/>
          </a:xfrm>
          <a:prstGeom prst="roundRect">
            <a:avLst>
              <a:gd fmla="val 14545"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17"/>
          <p:cNvSpPr/>
          <p:nvPr/>
        </p:nvSpPr>
        <p:spPr>
          <a:xfrm>
            <a:off x="1161288" y="5705856"/>
            <a:ext cx="8375904"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700"/>
              <a:buFont typeface="Arial"/>
              <a:buNone/>
            </a:pPr>
            <a:r>
              <a:rPr b="1" i="0" lang="en-US" sz="1700" u="none" cap="none" strike="noStrike">
                <a:solidFill>
                  <a:srgbClr val="F7F7F7"/>
                </a:solidFill>
                <a:latin typeface="Arial"/>
                <a:ea typeface="Arial"/>
                <a:cs typeface="Arial"/>
                <a:sym typeface="Arial"/>
              </a:rPr>
              <a:t>Handout match: Troubleshooting Conference Prep</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83" name="Shape 383"/>
        <p:cNvGrpSpPr/>
        <p:nvPr/>
      </p:nvGrpSpPr>
      <p:grpSpPr>
        <a:xfrm>
          <a:off x="0" y="0"/>
          <a:ext cx="0" cy="0"/>
          <a:chOff x="0" y="0"/>
          <a:chExt cx="0" cy="0"/>
        </a:xfrm>
      </p:grpSpPr>
      <p:sp>
        <p:nvSpPr>
          <p:cNvPr id="384" name="Google Shape;384;p18"/>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8"/>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18"/>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18"/>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ACTIVITY: REVISE, RETEST, OR PIVOT?</a:t>
            </a:r>
            <a:endParaRPr b="0" i="0" sz="2700" u="none" cap="none" strike="noStrike">
              <a:solidFill>
                <a:schemeClr val="dk1"/>
              </a:solidFill>
              <a:latin typeface="Arial"/>
              <a:ea typeface="Arial"/>
              <a:cs typeface="Arial"/>
              <a:sym typeface="Arial"/>
            </a:endParaRPr>
          </a:p>
        </p:txBody>
      </p:sp>
      <p:sp>
        <p:nvSpPr>
          <p:cNvPr id="388" name="Google Shape;388;p18"/>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18"/>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Choose the smallest responsible next move.</a:t>
            </a:r>
            <a:endParaRPr b="0" i="0" sz="1200" u="none" cap="none" strike="noStrike">
              <a:solidFill>
                <a:schemeClr val="dk1"/>
              </a:solidFill>
              <a:latin typeface="Arial"/>
              <a:ea typeface="Arial"/>
              <a:cs typeface="Arial"/>
              <a:sym typeface="Arial"/>
            </a:endParaRPr>
          </a:p>
        </p:txBody>
      </p:sp>
      <p:cxnSp>
        <p:nvCxnSpPr>
          <p:cNvPr id="390" name="Google Shape;390;p18"/>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391" name="Google Shape;391;p18"/>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16</a:t>
            </a:r>
            <a:endParaRPr b="0" i="0" sz="750" u="none" cap="none" strike="noStrike">
              <a:solidFill>
                <a:schemeClr val="dk1"/>
              </a:solidFill>
              <a:latin typeface="Arial"/>
              <a:ea typeface="Arial"/>
              <a:cs typeface="Arial"/>
              <a:sym typeface="Arial"/>
            </a:endParaRPr>
          </a:p>
        </p:txBody>
      </p:sp>
      <p:pic>
        <p:nvPicPr>
          <p:cNvPr descr="/mnt/data/STARLAB Logo 2026.png" id="392" name="Google Shape;392;p18"/>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393" name="Google Shape;393;p18"/>
          <p:cNvSpPr/>
          <p:nvPr/>
        </p:nvSpPr>
        <p:spPr>
          <a:xfrm>
            <a:off x="685800" y="1664208"/>
            <a:ext cx="2011680" cy="310896"/>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18"/>
          <p:cNvSpPr/>
          <p:nvPr/>
        </p:nvSpPr>
        <p:spPr>
          <a:xfrm>
            <a:off x="804672" y="1728216"/>
            <a:ext cx="1773936"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900"/>
              <a:buFont typeface="Arial"/>
              <a:buNone/>
            </a:pPr>
            <a:r>
              <a:rPr b="1" i="0" lang="en-US" sz="900" u="none" cap="none" strike="noStrike">
                <a:solidFill>
                  <a:srgbClr val="F7F7F7"/>
                </a:solidFill>
                <a:latin typeface="Arial"/>
                <a:ea typeface="Arial"/>
                <a:cs typeface="Arial"/>
                <a:sym typeface="Arial"/>
              </a:rPr>
              <a:t>STUDENT ACTIVITY</a:t>
            </a:r>
            <a:endParaRPr b="0" i="0" sz="900" u="none" cap="none" strike="noStrike">
              <a:solidFill>
                <a:schemeClr val="dk1"/>
              </a:solidFill>
              <a:latin typeface="Arial"/>
              <a:ea typeface="Arial"/>
              <a:cs typeface="Arial"/>
              <a:sym typeface="Arial"/>
            </a:endParaRPr>
          </a:p>
        </p:txBody>
      </p:sp>
      <p:sp>
        <p:nvSpPr>
          <p:cNvPr id="395" name="Google Shape;395;p18"/>
          <p:cNvSpPr/>
          <p:nvPr/>
        </p:nvSpPr>
        <p:spPr>
          <a:xfrm>
            <a:off x="868680" y="2057400"/>
            <a:ext cx="3840480" cy="475488"/>
          </a:xfrm>
          <a:prstGeom prst="roundRect">
            <a:avLst>
              <a:gd fmla="val 15385"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18"/>
          <p:cNvSpPr/>
          <p:nvPr/>
        </p:nvSpPr>
        <p:spPr>
          <a:xfrm>
            <a:off x="1024128" y="2185416"/>
            <a:ext cx="3529584" cy="24688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For your own project, answer:</a:t>
            </a:r>
            <a:endParaRPr b="0" i="0" sz="1800" u="none" cap="none" strike="noStrike">
              <a:solidFill>
                <a:schemeClr val="dk1"/>
              </a:solidFill>
              <a:latin typeface="Arial"/>
              <a:ea typeface="Arial"/>
              <a:cs typeface="Arial"/>
              <a:sym typeface="Arial"/>
            </a:endParaRPr>
          </a:p>
        </p:txBody>
      </p:sp>
      <p:sp>
        <p:nvSpPr>
          <p:cNvPr id="397" name="Google Shape;397;p18"/>
          <p:cNvSpPr/>
          <p:nvPr/>
        </p:nvSpPr>
        <p:spPr>
          <a:xfrm>
            <a:off x="960120" y="2743200"/>
            <a:ext cx="4846320" cy="2194560"/>
          </a:xfrm>
          <a:prstGeom prst="rect">
            <a:avLst/>
          </a:prstGeom>
          <a:noFill/>
          <a:ln>
            <a:noFill/>
          </a:ln>
        </p:spPr>
        <p:txBody>
          <a:bodyPr anchorCtr="0" anchor="t" bIns="750" lIns="750" spcFirstLastPara="1" rIns="750" wrap="square" tIns="750">
            <a:noAutofit/>
          </a:bodyPr>
          <a:lstStyle/>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is the main problem right now?</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What evidence shows it is a problem?</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Can one revision fix it?</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Do you need approval before continuing?</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1600"/>
              <a:buFont typeface="Arial"/>
              <a:buNone/>
            </a:pPr>
            <a:r>
              <a:rPr b="0" i="0" lang="en-US" sz="1600" u="none" cap="none" strike="noStrike">
                <a:solidFill>
                  <a:srgbClr val="F7F7F7"/>
                </a:solidFill>
                <a:latin typeface="Arial"/>
                <a:ea typeface="Arial"/>
                <a:cs typeface="Arial"/>
                <a:sym typeface="Arial"/>
              </a:rPr>
              <a:t>• Will you revise, retest, or pivot?</a:t>
            </a:r>
            <a:endParaRPr b="0" i="0" sz="1600" u="none" cap="none" strike="noStrike">
              <a:solidFill>
                <a:schemeClr val="dk1"/>
              </a:solidFill>
              <a:latin typeface="Arial"/>
              <a:ea typeface="Arial"/>
              <a:cs typeface="Arial"/>
              <a:sym typeface="Arial"/>
            </a:endParaRPr>
          </a:p>
        </p:txBody>
      </p:sp>
      <p:sp>
        <p:nvSpPr>
          <p:cNvPr id="398" name="Google Shape;398;p18"/>
          <p:cNvSpPr/>
          <p:nvPr/>
        </p:nvSpPr>
        <p:spPr>
          <a:xfrm>
            <a:off x="6492240" y="2057400"/>
            <a:ext cx="2011680" cy="475488"/>
          </a:xfrm>
          <a:prstGeom prst="roundRect">
            <a:avLst>
              <a:gd fmla="val 15385"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18"/>
          <p:cNvSpPr/>
          <p:nvPr/>
        </p:nvSpPr>
        <p:spPr>
          <a:xfrm>
            <a:off x="6647688" y="2185416"/>
            <a:ext cx="1700784" cy="246888"/>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800"/>
              <a:buFont typeface="Arial"/>
              <a:buNone/>
            </a:pPr>
            <a:r>
              <a:rPr b="1" i="0" lang="en-US" sz="1800" u="none" cap="none" strike="noStrike">
                <a:solidFill>
                  <a:srgbClr val="F7F7F7"/>
                </a:solidFill>
                <a:latin typeface="Arial"/>
                <a:ea typeface="Arial"/>
                <a:cs typeface="Arial"/>
                <a:sym typeface="Arial"/>
              </a:rPr>
              <a:t>Exit product:</a:t>
            </a:r>
            <a:endParaRPr b="0" i="0" sz="1800" u="none" cap="none" strike="noStrike">
              <a:solidFill>
                <a:schemeClr val="dk1"/>
              </a:solidFill>
              <a:latin typeface="Arial"/>
              <a:ea typeface="Arial"/>
              <a:cs typeface="Arial"/>
              <a:sym typeface="Arial"/>
            </a:endParaRPr>
          </a:p>
        </p:txBody>
      </p:sp>
      <p:sp>
        <p:nvSpPr>
          <p:cNvPr id="400" name="Google Shape;400;p18"/>
          <p:cNvSpPr/>
          <p:nvPr/>
        </p:nvSpPr>
        <p:spPr>
          <a:xfrm>
            <a:off x="6583680" y="2743200"/>
            <a:ext cx="4206240" cy="11887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2100"/>
              <a:buFont typeface="Arial"/>
              <a:buNone/>
            </a:pPr>
            <a:r>
              <a:rPr b="1" i="0" lang="en-US" sz="2100" u="none" cap="none" strike="noStrike">
                <a:solidFill>
                  <a:srgbClr val="F7F7F7"/>
                </a:solidFill>
                <a:latin typeface="Arial"/>
                <a:ea typeface="Arial"/>
                <a:cs typeface="Arial"/>
                <a:sym typeface="Arial"/>
              </a:rPr>
              <a:t>Complete one Troubleshooting Log entry and update your next research journal entry.</a:t>
            </a:r>
            <a:endParaRPr b="0" i="0" sz="2100" u="none" cap="none" strike="noStrike">
              <a:solidFill>
                <a:schemeClr val="dk1"/>
              </a:solidFill>
              <a:latin typeface="Arial"/>
              <a:ea typeface="Arial"/>
              <a:cs typeface="Arial"/>
              <a:sym typeface="Arial"/>
            </a:endParaRPr>
          </a:p>
        </p:txBody>
      </p:sp>
      <p:sp>
        <p:nvSpPr>
          <p:cNvPr id="401" name="Google Shape;401;p18"/>
          <p:cNvSpPr/>
          <p:nvPr/>
        </p:nvSpPr>
        <p:spPr>
          <a:xfrm>
            <a:off x="6583680" y="4526280"/>
            <a:ext cx="438912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700"/>
              <a:buFont typeface="Arial"/>
              <a:buNone/>
            </a:pPr>
            <a:r>
              <a:rPr b="1" i="0" lang="en-US" sz="1700" u="none" cap="none" strike="noStrike">
                <a:solidFill>
                  <a:srgbClr val="ED1C24"/>
                </a:solidFill>
                <a:latin typeface="Arial"/>
                <a:ea typeface="Arial"/>
                <a:cs typeface="Arial"/>
                <a:sym typeface="Arial"/>
              </a:rPr>
              <a:t>One change. One reason. One record.</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06" name="Shape 406"/>
        <p:cNvGrpSpPr/>
        <p:nvPr/>
      </p:nvGrpSpPr>
      <p:grpSpPr>
        <a:xfrm>
          <a:off x="0" y="0"/>
          <a:ext cx="0" cy="0"/>
          <a:chOff x="0" y="0"/>
          <a:chExt cx="0" cy="0"/>
        </a:xfrm>
      </p:grpSpPr>
      <p:sp>
        <p:nvSpPr>
          <p:cNvPr id="407" name="Google Shape;407;p19"/>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19"/>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19"/>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19"/>
          <p:cNvSpPr/>
          <p:nvPr/>
        </p:nvSpPr>
        <p:spPr>
          <a:xfrm>
            <a:off x="685800" y="621792"/>
            <a:ext cx="1083564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2700"/>
              <a:buFont typeface="Play"/>
              <a:buNone/>
            </a:pPr>
            <a:r>
              <a:rPr b="1" i="0" lang="en-US" sz="2700" u="none" cap="none" strike="noStrike">
                <a:solidFill>
                  <a:srgbClr val="F7F7F7"/>
                </a:solidFill>
                <a:latin typeface="Play"/>
                <a:ea typeface="Play"/>
                <a:cs typeface="Play"/>
                <a:sym typeface="Play"/>
              </a:rPr>
              <a:t>EXIT TICKET</a:t>
            </a:r>
            <a:endParaRPr b="0" i="0" sz="2700" u="none" cap="none" strike="noStrike">
              <a:solidFill>
                <a:schemeClr val="dk1"/>
              </a:solidFill>
              <a:latin typeface="Arial"/>
              <a:ea typeface="Arial"/>
              <a:cs typeface="Arial"/>
              <a:sym typeface="Arial"/>
            </a:endParaRPr>
          </a:p>
        </p:txBody>
      </p:sp>
      <p:sp>
        <p:nvSpPr>
          <p:cNvPr id="411" name="Google Shape;411;p19"/>
          <p:cNvSpPr/>
          <p:nvPr/>
        </p:nvSpPr>
        <p:spPr>
          <a:xfrm>
            <a:off x="685800" y="1389888"/>
            <a:ext cx="105156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9"/>
          <p:cNvSpPr/>
          <p:nvPr/>
        </p:nvSpPr>
        <p:spPr>
          <a:xfrm>
            <a:off x="1874520" y="1307592"/>
            <a:ext cx="87782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200"/>
              <a:buFont typeface="Arial"/>
              <a:buNone/>
            </a:pPr>
            <a:r>
              <a:rPr b="0" i="0" lang="en-US" sz="1200" u="none" cap="none" strike="noStrike">
                <a:solidFill>
                  <a:srgbClr val="A6A6A6"/>
                </a:solidFill>
                <a:latin typeface="Arial"/>
                <a:ea typeface="Arial"/>
                <a:cs typeface="Arial"/>
                <a:sym typeface="Arial"/>
              </a:rPr>
              <a:t>Leave with a responsible next step.</a:t>
            </a:r>
            <a:endParaRPr b="0" i="0" sz="1200" u="none" cap="none" strike="noStrike">
              <a:solidFill>
                <a:schemeClr val="dk1"/>
              </a:solidFill>
              <a:latin typeface="Arial"/>
              <a:ea typeface="Arial"/>
              <a:cs typeface="Arial"/>
              <a:sym typeface="Arial"/>
            </a:endParaRPr>
          </a:p>
        </p:txBody>
      </p:sp>
      <p:cxnSp>
        <p:nvCxnSpPr>
          <p:cNvPr id="413" name="Google Shape;413;p19"/>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414" name="Google Shape;414;p19"/>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17</a:t>
            </a:r>
            <a:endParaRPr b="0" i="0" sz="750" u="none" cap="none" strike="noStrike">
              <a:solidFill>
                <a:schemeClr val="dk1"/>
              </a:solidFill>
              <a:latin typeface="Arial"/>
              <a:ea typeface="Arial"/>
              <a:cs typeface="Arial"/>
              <a:sym typeface="Arial"/>
            </a:endParaRPr>
          </a:p>
        </p:txBody>
      </p:sp>
      <p:pic>
        <p:nvPicPr>
          <p:cNvPr descr="/mnt/data/STARLAB Logo 2026.png" id="415" name="Google Shape;415;p19"/>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
        <p:nvSpPr>
          <p:cNvPr id="416" name="Google Shape;416;p19"/>
          <p:cNvSpPr/>
          <p:nvPr/>
        </p:nvSpPr>
        <p:spPr>
          <a:xfrm>
            <a:off x="685800" y="1664208"/>
            <a:ext cx="2011680" cy="310896"/>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19"/>
          <p:cNvSpPr/>
          <p:nvPr/>
        </p:nvSpPr>
        <p:spPr>
          <a:xfrm>
            <a:off x="804672" y="1728216"/>
            <a:ext cx="1773936" cy="1645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900"/>
              <a:buFont typeface="Arial"/>
              <a:buNone/>
            </a:pPr>
            <a:r>
              <a:rPr b="1" i="0" lang="en-US" sz="900" u="none" cap="none" strike="noStrike">
                <a:solidFill>
                  <a:srgbClr val="F7F7F7"/>
                </a:solidFill>
                <a:latin typeface="Arial"/>
                <a:ea typeface="Arial"/>
                <a:cs typeface="Arial"/>
                <a:sym typeface="Arial"/>
              </a:rPr>
              <a:t>EXIT TICKET</a:t>
            </a:r>
            <a:endParaRPr b="0" i="0" sz="900" u="none" cap="none" strike="noStrike">
              <a:solidFill>
                <a:schemeClr val="dk1"/>
              </a:solidFill>
              <a:latin typeface="Arial"/>
              <a:ea typeface="Arial"/>
              <a:cs typeface="Arial"/>
              <a:sym typeface="Arial"/>
            </a:endParaRPr>
          </a:p>
        </p:txBody>
      </p:sp>
      <p:sp>
        <p:nvSpPr>
          <p:cNvPr id="418" name="Google Shape;418;p19"/>
          <p:cNvSpPr/>
          <p:nvPr/>
        </p:nvSpPr>
        <p:spPr>
          <a:xfrm>
            <a:off x="868680" y="2148840"/>
            <a:ext cx="3749040" cy="502920"/>
          </a:xfrm>
          <a:prstGeom prst="roundRect">
            <a:avLst>
              <a:gd fmla="val 14545" name="adj"/>
            </a:avLst>
          </a:prstGeom>
          <a:solidFill>
            <a:srgbClr val="0B0B0D"/>
          </a:solidFill>
          <a:ln cap="flat" cmpd="sng" w="1395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 name="Google Shape;419;p19"/>
          <p:cNvSpPr/>
          <p:nvPr/>
        </p:nvSpPr>
        <p:spPr>
          <a:xfrm>
            <a:off x="1024128" y="2276856"/>
            <a:ext cx="3438144" cy="27432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900"/>
              <a:buFont typeface="Arial"/>
              <a:buNone/>
            </a:pPr>
            <a:r>
              <a:rPr b="1" i="0" lang="en-US" sz="1900" u="none" cap="none" strike="noStrike">
                <a:solidFill>
                  <a:srgbClr val="F7F7F7"/>
                </a:solidFill>
                <a:latin typeface="Arial"/>
                <a:ea typeface="Arial"/>
                <a:cs typeface="Arial"/>
                <a:sym typeface="Arial"/>
              </a:rPr>
              <a:t>Write three sentences:</a:t>
            </a:r>
            <a:endParaRPr b="0" i="0" sz="1900" u="none" cap="none" strike="noStrike">
              <a:solidFill>
                <a:schemeClr val="dk1"/>
              </a:solidFill>
              <a:latin typeface="Arial"/>
              <a:ea typeface="Arial"/>
              <a:cs typeface="Arial"/>
              <a:sym typeface="Arial"/>
            </a:endParaRPr>
          </a:p>
        </p:txBody>
      </p:sp>
      <p:sp>
        <p:nvSpPr>
          <p:cNvPr id="420" name="Google Shape;420;p19"/>
          <p:cNvSpPr/>
          <p:nvPr/>
        </p:nvSpPr>
        <p:spPr>
          <a:xfrm>
            <a:off x="1005840" y="2788920"/>
            <a:ext cx="10058400" cy="640080"/>
          </a:xfrm>
          <a:prstGeom prst="roundRect">
            <a:avLst>
              <a:gd fmla="val 11429"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 name="Google Shape;421;p19"/>
          <p:cNvSpPr/>
          <p:nvPr/>
        </p:nvSpPr>
        <p:spPr>
          <a:xfrm>
            <a:off x="1161288" y="2916936"/>
            <a:ext cx="9747504"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900"/>
              <a:buFont typeface="Arial"/>
              <a:buNone/>
            </a:pPr>
            <a:r>
              <a:rPr b="0" i="0" lang="en-US" sz="1900" u="none" cap="none" strike="noStrike">
                <a:solidFill>
                  <a:srgbClr val="F7F7F7"/>
                </a:solidFill>
                <a:latin typeface="Arial"/>
                <a:ea typeface="Arial"/>
                <a:cs typeface="Arial"/>
                <a:sym typeface="Arial"/>
              </a:rPr>
              <a:t>The problem I need to troubleshoot is _____.</a:t>
            </a:r>
            <a:endParaRPr b="0" i="0" sz="1900" u="none" cap="none" strike="noStrike">
              <a:solidFill>
                <a:schemeClr val="dk1"/>
              </a:solidFill>
              <a:latin typeface="Arial"/>
              <a:ea typeface="Arial"/>
              <a:cs typeface="Arial"/>
              <a:sym typeface="Arial"/>
            </a:endParaRPr>
          </a:p>
        </p:txBody>
      </p:sp>
      <p:sp>
        <p:nvSpPr>
          <p:cNvPr id="422" name="Google Shape;422;p19"/>
          <p:cNvSpPr/>
          <p:nvPr/>
        </p:nvSpPr>
        <p:spPr>
          <a:xfrm>
            <a:off x="1005840" y="3593592"/>
            <a:ext cx="10058400" cy="640080"/>
          </a:xfrm>
          <a:prstGeom prst="roundRect">
            <a:avLst>
              <a:gd fmla="val 11429"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19"/>
          <p:cNvSpPr/>
          <p:nvPr/>
        </p:nvSpPr>
        <p:spPr>
          <a:xfrm>
            <a:off x="1161288" y="3721608"/>
            <a:ext cx="9747504"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900"/>
              <a:buFont typeface="Arial"/>
              <a:buNone/>
            </a:pPr>
            <a:r>
              <a:rPr b="0" i="0" lang="en-US" sz="1900" u="none" cap="none" strike="noStrike">
                <a:solidFill>
                  <a:srgbClr val="F7F7F7"/>
                </a:solidFill>
                <a:latin typeface="Arial"/>
                <a:ea typeface="Arial"/>
                <a:cs typeface="Arial"/>
                <a:sym typeface="Arial"/>
              </a:rPr>
              <a:t>The evidence that shows this problem is _____.</a:t>
            </a:r>
            <a:endParaRPr b="0" i="0" sz="1900" u="none" cap="none" strike="noStrike">
              <a:solidFill>
                <a:schemeClr val="dk1"/>
              </a:solidFill>
              <a:latin typeface="Arial"/>
              <a:ea typeface="Arial"/>
              <a:cs typeface="Arial"/>
              <a:sym typeface="Arial"/>
            </a:endParaRPr>
          </a:p>
        </p:txBody>
      </p:sp>
      <p:sp>
        <p:nvSpPr>
          <p:cNvPr id="424" name="Google Shape;424;p19"/>
          <p:cNvSpPr/>
          <p:nvPr/>
        </p:nvSpPr>
        <p:spPr>
          <a:xfrm>
            <a:off x="1005840" y="4398264"/>
            <a:ext cx="10058400" cy="640080"/>
          </a:xfrm>
          <a:prstGeom prst="roundRect">
            <a:avLst>
              <a:gd fmla="val 11429" name="adj"/>
            </a:avLst>
          </a:prstGeom>
          <a:solidFill>
            <a:srgbClr val="0B0B0D"/>
          </a:solidFill>
          <a:ln cap="flat" cmpd="sng" w="13950">
            <a:solidFill>
              <a:srgbClr val="2A2A2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19"/>
          <p:cNvSpPr/>
          <p:nvPr/>
        </p:nvSpPr>
        <p:spPr>
          <a:xfrm>
            <a:off x="1161288" y="4526280"/>
            <a:ext cx="9747504" cy="411480"/>
          </a:xfrm>
          <a:prstGeom prst="rect">
            <a:avLst/>
          </a:prstGeom>
          <a:noFill/>
          <a:ln>
            <a:noFill/>
          </a:ln>
        </p:spPr>
        <p:txBody>
          <a:bodyPr anchorCtr="0" anchor="ctr" bIns="250" lIns="250" spcFirstLastPara="1" rIns="250" wrap="square" tIns="250">
            <a:noAutofit/>
          </a:bodyPr>
          <a:lstStyle/>
          <a:p>
            <a:pPr indent="0" lvl="0" marL="0" marR="0" rtl="0" algn="l">
              <a:lnSpc>
                <a:spcPct val="100000"/>
              </a:lnSpc>
              <a:spcBef>
                <a:spcPts val="0"/>
              </a:spcBef>
              <a:spcAft>
                <a:spcPts val="0"/>
              </a:spcAft>
              <a:buClr>
                <a:srgbClr val="F7F7F7"/>
              </a:buClr>
              <a:buSzPts val="1900"/>
              <a:buFont typeface="Arial"/>
              <a:buNone/>
            </a:pPr>
            <a:r>
              <a:rPr b="0" i="0" lang="en-US" sz="1900" u="none" cap="none" strike="noStrike">
                <a:solidFill>
                  <a:srgbClr val="F7F7F7"/>
                </a:solidFill>
                <a:latin typeface="Arial"/>
                <a:ea typeface="Arial"/>
                <a:cs typeface="Arial"/>
                <a:sym typeface="Arial"/>
              </a:rPr>
              <a:t>My next approved step is _____ because _____.</a:t>
            </a:r>
            <a:endParaRPr b="0" i="0" sz="1900" u="none" cap="none" strike="noStrike">
              <a:solidFill>
                <a:schemeClr val="dk1"/>
              </a:solidFill>
              <a:latin typeface="Arial"/>
              <a:ea typeface="Arial"/>
              <a:cs typeface="Arial"/>
              <a:sym typeface="Arial"/>
            </a:endParaRPr>
          </a:p>
        </p:txBody>
      </p:sp>
      <p:sp>
        <p:nvSpPr>
          <p:cNvPr id="426" name="Google Shape;426;p19"/>
          <p:cNvSpPr/>
          <p:nvPr/>
        </p:nvSpPr>
        <p:spPr>
          <a:xfrm>
            <a:off x="1051560" y="5577840"/>
            <a:ext cx="96012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1600"/>
              <a:buFont typeface="Arial"/>
              <a:buNone/>
            </a:pPr>
            <a:r>
              <a:rPr b="0" i="0" lang="en-US" sz="1600" u="none" cap="none" strike="noStrike">
                <a:solidFill>
                  <a:srgbClr val="A6A6A6"/>
                </a:solidFill>
                <a:latin typeface="Arial"/>
                <a:ea typeface="Arial"/>
                <a:cs typeface="Arial"/>
                <a:sym typeface="Arial"/>
              </a:rPr>
              <a:t>Submit or attach this to today’s research journal entry.</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31" name="Shape 431"/>
        <p:cNvGrpSpPr/>
        <p:nvPr/>
      </p:nvGrpSpPr>
      <p:grpSpPr>
        <a:xfrm>
          <a:off x="0" y="0"/>
          <a:ext cx="0" cy="0"/>
          <a:chOff x="0" y="0"/>
          <a:chExt cx="0" cy="0"/>
        </a:xfrm>
      </p:grpSpPr>
      <p:sp>
        <p:nvSpPr>
          <p:cNvPr id="432" name="Google Shape;432;p20"/>
          <p:cNvSpPr/>
          <p:nvPr/>
        </p:nvSpPr>
        <p:spPr>
          <a:xfrm>
            <a:off x="0" y="0"/>
            <a:ext cx="12191695" cy="6858000"/>
          </a:xfrm>
          <a:prstGeom prst="rect">
            <a:avLst/>
          </a:prstGeom>
          <a:solidFill>
            <a:srgbClr val="000000"/>
          </a:solidFill>
          <a:ln cap="flat" cmpd="sng" w="12700">
            <a:solidFill>
              <a:srgbClr val="000000">
                <a:alpha val="0"/>
              </a:srgbClr>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p20"/>
          <p:cNvSpPr/>
          <p:nvPr/>
        </p:nvSpPr>
        <p:spPr>
          <a:xfrm>
            <a:off x="0" y="256032"/>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20"/>
          <p:cNvSpPr/>
          <p:nvPr/>
        </p:nvSpPr>
        <p:spPr>
          <a:xfrm>
            <a:off x="0" y="6711696"/>
            <a:ext cx="12191695" cy="64008"/>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p20"/>
          <p:cNvSpPr/>
          <p:nvPr/>
        </p:nvSpPr>
        <p:spPr>
          <a:xfrm>
            <a:off x="777240" y="1005840"/>
            <a:ext cx="30175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D1C24"/>
              </a:buClr>
              <a:buSzPts val="1600"/>
              <a:buFont typeface="Arial"/>
              <a:buNone/>
            </a:pPr>
            <a:r>
              <a:rPr b="1" i="0" lang="en-US" sz="1600" u="none" cap="none" strike="noStrike">
                <a:solidFill>
                  <a:srgbClr val="ED1C24"/>
                </a:solidFill>
                <a:latin typeface="Arial"/>
                <a:ea typeface="Arial"/>
                <a:cs typeface="Arial"/>
                <a:sym typeface="Arial"/>
              </a:rPr>
              <a:t>NEXT DECK</a:t>
            </a:r>
            <a:endParaRPr b="0" i="0" sz="1600" u="none" cap="none" strike="noStrike">
              <a:solidFill>
                <a:schemeClr val="dk1"/>
              </a:solidFill>
              <a:latin typeface="Arial"/>
              <a:ea typeface="Arial"/>
              <a:cs typeface="Arial"/>
              <a:sym typeface="Arial"/>
            </a:endParaRPr>
          </a:p>
        </p:txBody>
      </p:sp>
      <p:sp>
        <p:nvSpPr>
          <p:cNvPr id="436" name="Google Shape;436;p20"/>
          <p:cNvSpPr/>
          <p:nvPr/>
        </p:nvSpPr>
        <p:spPr>
          <a:xfrm>
            <a:off x="777240" y="1481328"/>
            <a:ext cx="10698480" cy="12344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7F7F7"/>
              </a:buClr>
              <a:buSzPts val="3300"/>
              <a:buFont typeface="Play"/>
              <a:buNone/>
            </a:pPr>
            <a:r>
              <a:rPr b="1" i="0" lang="en-US" sz="3300" u="none" cap="none" strike="noStrike">
                <a:solidFill>
                  <a:srgbClr val="F7F7F7"/>
                </a:solidFill>
                <a:latin typeface="Play"/>
                <a:ea typeface="Play"/>
                <a:cs typeface="Play"/>
                <a:sym typeface="Play"/>
              </a:rPr>
              <a:t>DATA ORGANIZATION:</a:t>
            </a:r>
            <a:endParaRPr b="0" i="0" sz="33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F7F7F7"/>
              </a:buClr>
              <a:buSzPts val="3300"/>
              <a:buFont typeface="Play"/>
              <a:buNone/>
            </a:pPr>
            <a:r>
              <a:rPr b="1" i="0" lang="en-US" sz="3300" u="none" cap="none" strike="noStrike">
                <a:solidFill>
                  <a:srgbClr val="F7F7F7"/>
                </a:solidFill>
                <a:latin typeface="Play"/>
                <a:ea typeface="Play"/>
                <a:cs typeface="Play"/>
                <a:sym typeface="Play"/>
              </a:rPr>
              <a:t>RAW DATA VS. CLEAN DATA</a:t>
            </a:r>
            <a:endParaRPr b="0" i="0" sz="3300" u="none" cap="none" strike="noStrike">
              <a:solidFill>
                <a:schemeClr val="dk1"/>
              </a:solidFill>
              <a:latin typeface="Arial"/>
              <a:ea typeface="Arial"/>
              <a:cs typeface="Arial"/>
              <a:sym typeface="Arial"/>
            </a:endParaRPr>
          </a:p>
        </p:txBody>
      </p:sp>
      <p:sp>
        <p:nvSpPr>
          <p:cNvPr id="437" name="Google Shape;437;p20"/>
          <p:cNvSpPr/>
          <p:nvPr/>
        </p:nvSpPr>
        <p:spPr>
          <a:xfrm>
            <a:off x="777240" y="3063240"/>
            <a:ext cx="1143000" cy="73152"/>
          </a:xfrm>
          <a:prstGeom prst="rect">
            <a:avLst/>
          </a:prstGeom>
          <a:solidFill>
            <a:srgbClr val="ED1C24"/>
          </a:solidFill>
          <a:ln cap="flat" cmpd="sng" w="12700">
            <a:solidFill>
              <a:srgbClr val="ED1C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20"/>
          <p:cNvSpPr/>
          <p:nvPr/>
        </p:nvSpPr>
        <p:spPr>
          <a:xfrm>
            <a:off x="777240" y="3401568"/>
            <a:ext cx="996696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2000"/>
              <a:buFont typeface="Arial"/>
              <a:buNone/>
            </a:pPr>
            <a:r>
              <a:rPr b="0" i="0" lang="en-US" sz="2000" u="none" cap="none" strike="noStrike">
                <a:solidFill>
                  <a:srgbClr val="A6A6A6"/>
                </a:solidFill>
                <a:latin typeface="Arial"/>
                <a:ea typeface="Arial"/>
                <a:cs typeface="Arial"/>
                <a:sym typeface="Arial"/>
              </a:rPr>
              <a:t>You cannot analyze evidence you cannot understand.</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A6A6A6"/>
              </a:buClr>
              <a:buSzPts val="2000"/>
              <a:buFont typeface="Arial"/>
              <a:buNone/>
            </a:pPr>
            <a:r>
              <a:rPr b="0" i="0" lang="en-US" sz="2000" u="none" cap="none" strike="noStrike">
                <a:solidFill>
                  <a:srgbClr val="A6A6A6"/>
                </a:solidFill>
                <a:latin typeface="Arial"/>
                <a:ea typeface="Arial"/>
                <a:cs typeface="Arial"/>
                <a:sym typeface="Arial"/>
              </a:rPr>
              <a:t>Next, students organize raw records into clean, usable data.</a:t>
            </a:r>
            <a:endParaRPr b="0" i="0" sz="2000" u="none" cap="none" strike="noStrike">
              <a:solidFill>
                <a:schemeClr val="dk1"/>
              </a:solidFill>
              <a:latin typeface="Arial"/>
              <a:ea typeface="Arial"/>
              <a:cs typeface="Arial"/>
              <a:sym typeface="Arial"/>
            </a:endParaRPr>
          </a:p>
        </p:txBody>
      </p:sp>
      <p:pic>
        <p:nvPicPr>
          <p:cNvPr descr="/mnt/data/STARLAB Logo 2026.png" id="439" name="Google Shape;439;p20"/>
          <p:cNvPicPr preferRelativeResize="0"/>
          <p:nvPr/>
        </p:nvPicPr>
        <p:blipFill rotWithShape="1">
          <a:blip r:embed="rId3">
            <a:alphaModFix/>
          </a:blip>
          <a:srcRect b="0" l="0" r="0" t="0"/>
          <a:stretch/>
        </p:blipFill>
        <p:spPr>
          <a:xfrm>
            <a:off x="7635240" y="4800600"/>
            <a:ext cx="3383280" cy="1188720"/>
          </a:xfrm>
          <a:prstGeom prst="rect">
            <a:avLst/>
          </a:prstGeom>
          <a:noFill/>
          <a:ln>
            <a:noFill/>
          </a:ln>
        </p:spPr>
      </p:pic>
      <p:cxnSp>
        <p:nvCxnSpPr>
          <p:cNvPr id="440" name="Google Shape;440;p20"/>
          <p:cNvCxnSpPr/>
          <p:nvPr/>
        </p:nvCxnSpPr>
        <p:spPr>
          <a:xfrm>
            <a:off x="502920" y="6089904"/>
            <a:ext cx="11201400" cy="0"/>
          </a:xfrm>
          <a:prstGeom prst="straightConnector1">
            <a:avLst/>
          </a:prstGeom>
          <a:noFill/>
          <a:ln cap="flat" cmpd="sng" w="12700">
            <a:solidFill>
              <a:srgbClr val="2A2A2D"/>
            </a:solidFill>
            <a:prstDash val="solid"/>
            <a:round/>
            <a:headEnd len="sm" w="sm" type="none"/>
            <a:tailEnd len="sm" w="sm" type="none"/>
          </a:ln>
        </p:spPr>
      </p:cxnSp>
      <p:sp>
        <p:nvSpPr>
          <p:cNvPr id="441" name="Google Shape;441;p20"/>
          <p:cNvSpPr/>
          <p:nvPr/>
        </p:nvSpPr>
        <p:spPr>
          <a:xfrm>
            <a:off x="530352" y="6163056"/>
            <a:ext cx="79552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6A6A6"/>
              </a:buClr>
              <a:buSzPts val="750"/>
              <a:buFont typeface="Arial"/>
              <a:buNone/>
            </a:pPr>
            <a:r>
              <a:rPr b="0" i="0" lang="en-US" sz="750" u="none" cap="none" strike="noStrike">
                <a:solidFill>
                  <a:srgbClr val="A6A6A6"/>
                </a:solidFill>
                <a:latin typeface="Arial"/>
                <a:ea typeface="Arial"/>
                <a:cs typeface="Arial"/>
                <a:sym typeface="Arial"/>
              </a:rPr>
              <a:t>STARLAB Deck 08  •  Troubleshooting &amp; Responsible Project Pivots  •  18</a:t>
            </a:r>
            <a:endParaRPr b="0" i="0" sz="750" u="none" cap="none" strike="noStrike">
              <a:solidFill>
                <a:schemeClr val="dk1"/>
              </a:solidFill>
              <a:latin typeface="Arial"/>
              <a:ea typeface="Arial"/>
              <a:cs typeface="Arial"/>
              <a:sym typeface="Arial"/>
            </a:endParaRPr>
          </a:p>
        </p:txBody>
      </p:sp>
      <p:pic>
        <p:nvPicPr>
          <p:cNvPr descr="/mnt/data/STARLAB Logo 2026.png" id="442" name="Google Shape;442;p20"/>
          <p:cNvPicPr preferRelativeResize="0"/>
          <p:nvPr/>
        </p:nvPicPr>
        <p:blipFill rotWithShape="1">
          <a:blip r:embed="rId3">
            <a:alphaModFix/>
          </a:blip>
          <a:srcRect b="0" l="0" r="0" t="0"/>
          <a:stretch/>
        </p:blipFill>
        <p:spPr>
          <a:xfrm>
            <a:off x="10287000" y="6053328"/>
            <a:ext cx="1417320" cy="4937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