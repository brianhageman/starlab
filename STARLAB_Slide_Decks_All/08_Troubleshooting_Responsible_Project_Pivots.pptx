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fc985561f04173" /><Relationship Type="http://schemas.openxmlformats.org/officeDocument/2006/relationships/extended-properties" Target="/docProps/app.xml" Id="R17c6054bc3fa4cfd" /><Relationship Type="http://schemas.openxmlformats.org/officeDocument/2006/relationships/officeDocument" Target="/ppt/presentation.xml" Id="Rec1f6e38587b482e"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06a4e1320db4c0e"/>
  </p:sldMasterIdLst>
  <p:notesMasterIdLst>
    <p:notesMasterId xmlns:r="http://schemas.openxmlformats.org/officeDocument/2006/relationships" r:id="R10a3eca4bc90424a"/>
  </p:notesMasterIdLst>
  <p:sldIdLst>
    <p:sldId xmlns:r="http://schemas.openxmlformats.org/officeDocument/2006/relationships" id="256" r:id="Ra124b1f3f7284cea"/>
    <p:sldId xmlns:r="http://schemas.openxmlformats.org/officeDocument/2006/relationships" id="257" r:id="R3eae6174e4d147b5"/>
    <p:sldId xmlns:r="http://schemas.openxmlformats.org/officeDocument/2006/relationships" id="258" r:id="Rc0c1a669402d43c6"/>
    <p:sldId xmlns:r="http://schemas.openxmlformats.org/officeDocument/2006/relationships" id="259" r:id="Rb43385a160d2491b"/>
    <p:sldId xmlns:r="http://schemas.openxmlformats.org/officeDocument/2006/relationships" id="260" r:id="R29c66b3aeb644f98"/>
    <p:sldId xmlns:r="http://schemas.openxmlformats.org/officeDocument/2006/relationships" id="261" r:id="R6ca3846d20cd489c"/>
    <p:sldId xmlns:r="http://schemas.openxmlformats.org/officeDocument/2006/relationships" id="262" r:id="R44177ebd835f4a4a"/>
    <p:sldId xmlns:r="http://schemas.openxmlformats.org/officeDocument/2006/relationships" id="263" r:id="R55e3ce5bfc8d4278"/>
    <p:sldId xmlns:r="http://schemas.openxmlformats.org/officeDocument/2006/relationships" id="264" r:id="R90e4a098172a4be2"/>
    <p:sldId xmlns:r="http://schemas.openxmlformats.org/officeDocument/2006/relationships" id="265" r:id="R1c440e10ce194150"/>
    <p:sldId xmlns:r="http://schemas.openxmlformats.org/officeDocument/2006/relationships" id="266" r:id="R8aaeee2f93a84e5d"/>
    <p:sldId xmlns:r="http://schemas.openxmlformats.org/officeDocument/2006/relationships" id="267" r:id="R689cdbc0ad794bdc"/>
    <p:sldId xmlns:r="http://schemas.openxmlformats.org/officeDocument/2006/relationships" id="268" r:id="R43f5f6c665ed47ff"/>
    <p:sldId xmlns:r="http://schemas.openxmlformats.org/officeDocument/2006/relationships" id="269" r:id="R94e8b8555d284181"/>
    <p:sldId xmlns:r="http://schemas.openxmlformats.org/officeDocument/2006/relationships" id="270" r:id="R20c064eb912b43b7"/>
    <p:sldId xmlns:r="http://schemas.openxmlformats.org/officeDocument/2006/relationships" id="271" r:id="Rdd1d94e013e141a4"/>
    <p:sldId xmlns:r="http://schemas.openxmlformats.org/officeDocument/2006/relationships" id="272" r:id="R92726f93a02e42f5"/>
    <p:sldId xmlns:r="http://schemas.openxmlformats.org/officeDocument/2006/relationships" id="273" r:id="Rf525a8944fc34bb9"/>
  </p:sldIdLst>
  <p:sldSz cx="12192000" cy="6858000"/>
  <p:notesSz cx="6858000" cy="9144000"/>
  <p:embeddedFontLst>
    <p:embeddedFont>
      <p:font typeface="Play"/>
      <p:regular xmlns:r="http://schemas.openxmlformats.org/officeDocument/2006/relationships" r:id="R81576c08fb3b4a00"/>
      <p:bold xmlns:r="http://schemas.openxmlformats.org/officeDocument/2006/relationships" r:id="Rc4a07078ed944921"/>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077988e7594c3a" /><Relationship Type="http://schemas.openxmlformats.org/officeDocument/2006/relationships/slideMaster" Target="/ppt/slideMasters/slideMaster1.xml" Id="R106a4e1320db4c0e" /><Relationship Type="http://schemas.openxmlformats.org/officeDocument/2006/relationships/notesMaster" Target="/ppt/notesMasters/notesMaster1.xml" Id="R10a3eca4bc90424a" /><Relationship Type="http://schemas.openxmlformats.org/officeDocument/2006/relationships/presProps" Target="/ppt/presProps.xml" Id="Rec26e323e7d148cf" /><Relationship Type="http://schemas.openxmlformats.org/officeDocument/2006/relationships/tableStyles" Target="/ppt/tableStyles.xml" Id="R3d72a75e70774617" /><Relationship Type="http://schemas.openxmlformats.org/officeDocument/2006/relationships/font" Target="/ppt/fonts/font.dat" Id="R81576c08fb3b4a00" /><Relationship Type="http://schemas.openxmlformats.org/officeDocument/2006/relationships/font" Target="/ppt/fonts/font2.dat" Id="Rc4a07078ed944921" /><Relationship Type="http://schemas.openxmlformats.org/officeDocument/2006/relationships/slide" Target="/ppt/slides/slide1.xml" Id="Ra124b1f3f7284cea" /><Relationship Type="http://schemas.openxmlformats.org/officeDocument/2006/relationships/slide" Target="/ppt/slides/slide2.xml" Id="R3eae6174e4d147b5" /><Relationship Type="http://schemas.openxmlformats.org/officeDocument/2006/relationships/slide" Target="/ppt/slides/slide3.xml" Id="Rc0c1a669402d43c6" /><Relationship Type="http://schemas.openxmlformats.org/officeDocument/2006/relationships/slide" Target="/ppt/slides/slide4.xml" Id="Rb43385a160d2491b" /><Relationship Type="http://schemas.openxmlformats.org/officeDocument/2006/relationships/slide" Target="/ppt/slides/slide5.xml" Id="R29c66b3aeb644f98" /><Relationship Type="http://schemas.openxmlformats.org/officeDocument/2006/relationships/slide" Target="/ppt/slides/slide6.xml" Id="R6ca3846d20cd489c" /><Relationship Type="http://schemas.openxmlformats.org/officeDocument/2006/relationships/slide" Target="/ppt/slides/slide7.xml" Id="R44177ebd835f4a4a" /><Relationship Type="http://schemas.openxmlformats.org/officeDocument/2006/relationships/slide" Target="/ppt/slides/slide8.xml" Id="R55e3ce5bfc8d4278" /><Relationship Type="http://schemas.openxmlformats.org/officeDocument/2006/relationships/slide" Target="/ppt/slides/slide9.xml" Id="R90e4a098172a4be2" /><Relationship Type="http://schemas.openxmlformats.org/officeDocument/2006/relationships/slide" Target="/ppt/slides/slide10.xml" Id="R1c440e10ce194150" /><Relationship Type="http://schemas.openxmlformats.org/officeDocument/2006/relationships/slide" Target="/ppt/slides/slide11.xml" Id="R8aaeee2f93a84e5d" /><Relationship Type="http://schemas.openxmlformats.org/officeDocument/2006/relationships/slide" Target="/ppt/slides/slide12.xml" Id="R689cdbc0ad794bdc" /><Relationship Type="http://schemas.openxmlformats.org/officeDocument/2006/relationships/slide" Target="/ppt/slides/slide13.xml" Id="R43f5f6c665ed47ff" /><Relationship Type="http://schemas.openxmlformats.org/officeDocument/2006/relationships/slide" Target="/ppt/slides/slide14.xml" Id="R94e8b8555d284181" /><Relationship Type="http://schemas.openxmlformats.org/officeDocument/2006/relationships/slide" Target="/ppt/slides/slide15.xml" Id="R20c064eb912b43b7" /><Relationship Type="http://schemas.openxmlformats.org/officeDocument/2006/relationships/slide" Target="/ppt/slides/slide16.xml" Id="Rdd1d94e013e141a4" /><Relationship Type="http://schemas.openxmlformats.org/officeDocument/2006/relationships/slide" Target="/ppt/slides/slide17.xml" Id="R92726f93a02e42f5" /><Relationship Type="http://schemas.openxmlformats.org/officeDocument/2006/relationships/slide" Target="/ppt/slides/slide18.xml" Id="Rf525a8944fc34b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da908c45f040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f1a7ee68bc44f5" /><Relationship Type="http://schemas.openxmlformats.org/officeDocument/2006/relationships/notesMaster" Target="/ppt/notesMasters/notesMaster1.xml" Id="Rb69de057f5ba47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5ee98e537342c6" /><Relationship Type="http://schemas.openxmlformats.org/officeDocument/2006/relationships/notesMaster" Target="/ppt/notesMasters/notesMaster1.xml" Id="R95b55d1c515a4d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a451770ccc4a2f" /><Relationship Type="http://schemas.openxmlformats.org/officeDocument/2006/relationships/notesMaster" Target="/ppt/notesMasters/notesMaster1.xml" Id="Rf541db88ef734f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c446354d824bae" /><Relationship Type="http://schemas.openxmlformats.org/officeDocument/2006/relationships/notesMaster" Target="/ppt/notesMasters/notesMaster1.xml" Id="Ra66ad9ccf30e4c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008bf0b4774725" /><Relationship Type="http://schemas.openxmlformats.org/officeDocument/2006/relationships/notesMaster" Target="/ppt/notesMasters/notesMaster1.xml" Id="R0859b3a9368e42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142faa30db47f7" /><Relationship Type="http://schemas.openxmlformats.org/officeDocument/2006/relationships/notesMaster" Target="/ppt/notesMasters/notesMaster1.xml" Id="R3eed0f16c04441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508d486de64130" /><Relationship Type="http://schemas.openxmlformats.org/officeDocument/2006/relationships/notesMaster" Target="/ppt/notesMasters/notesMaster1.xml" Id="R3ba0ed77e7b348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a44007d1ef45aa" /><Relationship Type="http://schemas.openxmlformats.org/officeDocument/2006/relationships/notesMaster" Target="/ppt/notesMasters/notesMaster1.xml" Id="Rb7521ce25c4e4e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5a0dca06914b8d" /><Relationship Type="http://schemas.openxmlformats.org/officeDocument/2006/relationships/notesMaster" Target="/ppt/notesMasters/notesMaster1.xml" Id="Rb0cf7a5c615441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9b44b5e1424154" /><Relationship Type="http://schemas.openxmlformats.org/officeDocument/2006/relationships/notesMaster" Target="/ppt/notesMasters/notesMaster1.xml" Id="R566fe7451d844c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aa24ea174d41b0" /><Relationship Type="http://schemas.openxmlformats.org/officeDocument/2006/relationships/notesMaster" Target="/ppt/notesMasters/notesMaster1.xml" Id="R5ca1c987221842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8a7ef57f6443b4" /><Relationship Type="http://schemas.openxmlformats.org/officeDocument/2006/relationships/notesMaster" Target="/ppt/notesMasters/notesMaster1.xml" Id="R45dc98180bc14d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511796f4ba40e7" /><Relationship Type="http://schemas.openxmlformats.org/officeDocument/2006/relationships/notesMaster" Target="/ppt/notesMasters/notesMaster1.xml" Id="R0b7b9eef58954a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2bd7eb4daef4c15" /><Relationship Type="http://schemas.openxmlformats.org/officeDocument/2006/relationships/notesMaster" Target="/ppt/notesMasters/notesMaster1.xml" Id="R9e63180819b14e4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d528ae94c0140ce" /><Relationship Type="http://schemas.openxmlformats.org/officeDocument/2006/relationships/notesMaster" Target="/ppt/notesMasters/notesMaster1.xml" Id="R471d165464924f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27b46862074089" /><Relationship Type="http://schemas.openxmlformats.org/officeDocument/2006/relationships/notesMaster" Target="/ppt/notesMasters/notesMaster1.xml" Id="Rf6f7dc94ec244e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d6307d261649d9" /><Relationship Type="http://schemas.openxmlformats.org/officeDocument/2006/relationships/notesMaster" Target="/ppt/notesMasters/notesMaster1.xml" Id="R428266fdbce648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8dd978e4ca34b0e" /><Relationship Type="http://schemas.openxmlformats.org/officeDocument/2006/relationships/notesMaster" Target="/ppt/notesMasters/notesMaster1.xml" Id="R32c433b964884b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PRIMARY TEACHING MOMENT</a:t>
            </a:r>
          </a:p>
          <a:p xmlns:a="http://schemas.openxmlformats.org/drawingml/2006/main">
            <a:pPr marL="457200" marR="0" indent="-228600" algn="l">
              <a:lnSpc>
                <a:spcPct val="100000"/>
              </a:lnSpc>
              <a:spcBef>
                <a:spcPts val="0"/>
              </a:spcBef>
              <a:spcAft>
                <a:spcPts val="0"/>
              </a:spcAft>
              <a:buSzPts val="1400"/>
              <a:buNone/>
            </a:pPr>
            <a:r>
              <a:t>Unit 3, Week 6</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REQUIRED WEEK 6 MATERIALS</a:t>
            </a:r>
          </a:p>
          <a:p xmlns:a="http://schemas.openxmlformats.org/drawingml/2006/main">
            <a:pPr marL="457200" marR="0" indent="-228600" algn="l">
              <a:lnSpc>
                <a:spcPct val="100000"/>
              </a:lnSpc>
              <a:spcBef>
                <a:spcPts val="0"/>
              </a:spcBef>
              <a:spcAft>
                <a:spcPts val="0"/>
              </a:spcAft>
              <a:buSzPts val="1400"/>
              <a:buNone/>
            </a:pPr>
            <a:r>
              <a:t>- Unit 3 Student Handout 4: Pilot Test Reflection and Troubleshooting Log</a:t>
            </a:r>
          </a:p>
          <a:p xmlns:a="http://schemas.openxmlformats.org/drawingml/2006/main">
            <a:pPr marL="457200" marR="0" indent="-228600" algn="l">
              <a:lnSpc>
                <a:spcPct val="100000"/>
              </a:lnSpc>
              <a:spcBef>
                <a:spcPts val="0"/>
              </a:spcBef>
              <a:spcAft>
                <a:spcPts val="0"/>
              </a:spcAft>
              <a:buSzPts val="1400"/>
              <a:buNone/>
            </a:pPr>
            <a:r>
              <a:t>- Unit 3 Student Handout 5: Method Revision Decision Chart</a:t>
            </a:r>
          </a:p>
          <a:p xmlns:a="http://schemas.openxmlformats.org/drawingml/2006/main">
            <a:pPr marL="457200" marR="0" indent="-228600" algn="l">
              <a:lnSpc>
                <a:spcPct val="100000"/>
              </a:lnSpc>
              <a:spcBef>
                <a:spcPts val="0"/>
              </a:spcBef>
              <a:spcAft>
                <a:spcPts val="0"/>
              </a:spcAft>
              <a:buSzPts val="1400"/>
              <a:buNone/>
            </a:pPr>
            <a:r>
              <a:t>- Unit 3 Appendix D: Types of Research Problems</a:t>
            </a:r>
          </a:p>
          <a:p xmlns:a="http://schemas.openxmlformats.org/drawingml/2006/main">
            <a:pPr marL="457200" marR="0" indent="-228600" algn="l">
              <a:lnSpc>
                <a:spcPct val="100000"/>
              </a:lnSpc>
              <a:spcBef>
                <a:spcPts val="0"/>
              </a:spcBef>
              <a:spcAft>
                <a:spcPts val="0"/>
              </a:spcAft>
              <a:buSzPts val="1400"/>
              <a:buNone/>
            </a:pPr>
            <a:r>
              <a:t>- Unit 3 Appendix E: Troubleshooting Sentence Frames</a:t>
            </a:r>
          </a:p>
          <a:p xmlns:a="http://schemas.openxmlformats.org/drawingml/2006/main">
            <a:pPr marL="228600" marR="0" indent="0" algn="l">
              <a:lnSpc>
                <a:spcPct val="100000"/>
              </a:lnSpc>
              <a:spcBef>
                <a:spcPts val="0"/>
              </a:spcBef>
              <a:spcAft>
                <a:spcPts val="0"/>
              </a:spcAft>
              <a:buSzPts val="1400"/>
              <a:buNone/>
            </a:pPr>
            <a:r>
              <a:t/>
            </a:r>
          </a:p>
          <a:p xmlns:a="http://schemas.openxmlformats.org/drawingml/2006/main">
            <a:pPr marL="228600" marR="0" indent="0" algn="l">
              <a:lnSpc>
                <a:spcPct val="100000"/>
              </a:lnSpc>
              <a:spcBef>
                <a:spcPts val="0"/>
              </a:spcBef>
              <a:spcAft>
                <a:spcPts val="0"/>
              </a:spcAft>
              <a:buSzPts val="1400"/>
              <a:buNone/>
            </a:pPr>
            <a:r>
              <a:t>REVISIT / SECONDARY USE</a:t>
            </a:r>
          </a:p>
          <a:p xmlns:a="http://schemas.openxmlformats.org/drawingml/2006/main">
            <a:pPr marL="228600" marR="0" indent="0" algn="l">
              <a:lnSpc>
                <a:spcPct val="100000"/>
              </a:lnSpc>
              <a:spcBef>
                <a:spcPts val="0"/>
              </a:spcBef>
              <a:spcAft>
                <a:spcPts val="0"/>
              </a:spcAft>
              <a:buSzPts val="1400"/>
              <a:buNone/>
            </a:pPr>
            <a:r>
              <a:t>Week 7 required: Student Handouts 6-7; Appendices F-G</a:t>
            </a:r>
          </a:p>
          <a:p xmlns:a="http://schemas.openxmlformats.org/drawingml/2006/main">
            <a:pPr marL="228600" marR="0" indent="0" algn="l">
              <a:lnSpc>
                <a:spcPct val="100000"/>
              </a:lnSpc>
              <a:spcBef>
                <a:spcPts val="0"/>
              </a:spcBef>
              <a:spcAft>
                <a:spcPts val="0"/>
              </a:spcAft>
              <a:buSzPts val="1400"/>
              <a:buNone/>
            </a:pPr>
            <a:r>
              <a:t>Week 10 required: Student Handouts 11-12</a:t>
            </a:r>
          </a:p>
          <a:p xmlns:a="http://schemas.openxmlformats.org/drawingml/2006/main">
            <a:pPr marL="228600" marR="0" indent="0" algn="l">
              <a:lnSpc>
                <a:spcPct val="100000"/>
              </a:lnSpc>
              <a:spcBef>
                <a:spcPts val="0"/>
              </a:spcBef>
              <a:spcAft>
                <a:spcPts val="0"/>
              </a:spcAft>
              <a:buSzPts val="1400"/>
              <a:buNone/>
            </a:pPr>
            <a:r>
              <a:t>Week 10 optional / teacher reference: Appendices K-L</a:t>
            </a:r>
          </a:p>
          <a:p xmlns:a="http://schemas.openxmlformats.org/drawingml/2006/main">
            <a:pPr marL="228600" marR="0" indent="0" algn="l">
              <a:lnSpc>
                <a:spcPct val="100000"/>
              </a:lnSpc>
              <a:spcBef>
                <a:spcPts val="0"/>
              </a:spcBef>
              <a:spcAft>
                <a:spcPts val="0"/>
              </a:spcAft>
              <a:buSzPts val="1400"/>
              <a:buNone/>
            </a:pPr>
            <a:r>
              <a:t>Week 13 required: Student Handouts 9 and 15</a:t>
            </a:r>
          </a:p>
          <a:p xmlns:a="http://schemas.openxmlformats.org/drawingml/2006/main">
            <a:pPr marL="228600" marR="0" indent="0" algn="l">
              <a:lnSpc>
                <a:spcPct val="100000"/>
              </a:lnSpc>
              <a:spcBef>
                <a:spcPts val="0"/>
              </a:spcBef>
              <a:spcAft>
                <a:spcPts val="0"/>
              </a:spcAft>
              <a:buSzPts val="1400"/>
              <a:buNone/>
            </a:pPr>
            <a:r>
              <a:t>Week 13 optional / teacher reference: Appendix P</a:t>
            </a:r>
          </a:p>
          <a:p xmlns:a="http://schemas.openxmlformats.org/drawingml/2006/main">
            <a:pPr marL="228600" marR="0" indent="0" algn="l">
              <a:lnSpc>
                <a:spcPct val="100000"/>
              </a:lnSpc>
              <a:spcBef>
                <a:spcPts val="0"/>
              </a:spcBef>
              <a:spcAft>
                <a:spcPts val="0"/>
              </a:spcAft>
              <a:buSzPts val="1400"/>
              <a:buNone/>
            </a:pPr>
            <a:r>
              <a:t/>
            </a:r>
          </a:p>
          <a:p xmlns:a="http://schemas.openxmlformats.org/drawingml/2006/main">
            <a:pPr marL="228600" marR="0" indent="0" algn="l">
              <a:lnSpc>
                <a:spcPct val="100000"/>
              </a:lnSpc>
              <a:spcBef>
                <a:spcPts val="0"/>
              </a:spcBef>
              <a:spcAft>
                <a:spcPts val="0"/>
              </a:spcAft>
              <a:buSzPts val="1400"/>
              <a:buNone/>
            </a:pPr>
            <a:r>
              <a:t>RESOURCE ALIGNMENT</a:t>
            </a:r>
          </a:p>
          <a:p xmlns:a="http://schemas.openxmlformats.org/drawingml/2006/main">
            <a:pPr marL="228600" marR="0" indent="0" algn="l">
              <a:lnSpc>
                <a:spcPct val="100000"/>
              </a:lnSpc>
              <a:spcBef>
                <a:spcPts val="0"/>
              </a:spcBef>
              <a:spcAft>
                <a:spcPts val="0"/>
              </a:spcAft>
              <a:buSzPts val="1400"/>
              <a:buNone/>
            </a:pPr>
            <a:r>
              <a:t>Use this deck whenever a project stalls, pivots, or needs structured revision. Print each later resource in its assigned week rather than as part of the Week 6 packet.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Open by reassuring students that problems are expected. Ask for examples of what has already gone wrong during pilot testing. Keep the tone practical and calm: problems are not personal failures. The goal is to turn vague frustration into a specific research problem that can be acted on.</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after students have completed Unit 3 Student Handout 1: Pilot Test Plan and begun documenting work with Unit 3 Student Handout 3: Daily Research Journal Entry Template. This slide sets up later use of Unit 3 Student Handout 4: Pilot Test Reflection and Troubleshooting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Students may see failure as embarrassing. Emphasize that a failed trial is only wasted if it is undocumented or ignored. Invite one student to translate an emotional reaction into an evidence-based observation. Reinforce the shift from 'I messed up' to 'Here is what happened, here is the evidence, and here is what I will test next.'</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4: Pilot Test Reflection and Troubleshooting Log. Also connect to Unit 3 Appendix E: Troubleshooting Sentence Frames for students who need language to describe problems productively.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Use this slide as the organizing framework for the deck. Have students quickly classify a current project issue into one of these categories. Most problems involve more than one category, which is fine. The point is to help students name the problem before they start changing the project.</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Appendix D: Types of Research Problems. Students can also record the category in Unit 3 Student Handout 4: Pilot Test Reflection and Troubleshooting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This is a key research habit: students often make five changes at once and then cannot tell what actually helped. Reinforce the phrase 'one change, one reason, one record.' Push students to observe first, identify evidence, propose a cause, and then test one action.</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4: Pilot Test Reflection and Troubleshooting Log and Unit 3 Student Handout 11: Troubleshooting Conference Prep. This slide also supports Unit 3 Appendix E: Troubleshooting Sentence Frames.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Connect this to the Revised Procedure Template. Procedural problems are common and easy to improve when students write the steps more precisely. Ask students whether another student could repeat their procedure without guessing. If the answer is no, the procedure needs revision before more data are collected.</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6: Revised Procedure Template and Unit 3 Appendix F: Procedure Revision Checklist. If students are deciding whether they are ready for full data collection, also use Unit 3 Student Handout 5: Method Revision Decision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Ask students to show their data table. If the data table cannot record the evidence needed, the measurement plan is not ready. Emphasize that measurement problems can make a promising project produce weak evidence, so they should be addressed before students collect more data.</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7: Data Table Audit. If students are actively collecting data, connect to Unit 3 Student Handout 8: Formal Data Collection Log. If they need to revisit planning, connect to Unit 2 Student Handout 8: Data Collection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Emphasize that equipment issues must be documented, especially if they affect a trial. A broken part is not just a problem; it can explain variation or invalid data later. Ask students to identify whether a trial should be flagged, repeated, or kept with a note.</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4: Pilot Test Reflection and Troubleshooting Log and Unit 3 Student Handout 3: Daily Research Journal Entry Template. This also connects to Unit 3 Appendix D: Types of Research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Engineering students often experience prototype failure. Make sure they do not interpret this as 'no data.' Failure mode, load at failure, time to failure, and redesign reasoning are all data. Encourage students to compare versions under consistent conditions.</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4: Pilot Test Reflection and Troubleshooting Log, Unit 3 Student Handout 5: Method Revision Decision Chart, and Unit 3 Appendix K: Responsible Project Pivots.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This slide should reduce shame around scope reduction. Make clear that a project can still be strong if it becomes a pilot study, feasibility study, focused comparison, or failure analysis. Smaller and defensible is better than ambitious and incomplete.</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9: Weekly Progress Check-In and Unit 3 Appendix P: Recovery Plan Options. Later in Unit 3, this can also connect to Unit 3 Student Handout 15: Post-Progress Report Action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Pause here and have students open the troubleshooting log. If time allows, have them complete the first two sections for a real problem from their project. Students should write what happened and what evidence shows the problem before proposing a fix.</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Primary resource: Unit 3 Student Handout 4: Pilot Test Reflection and Troubleshooting Log. Use Unit 3 Appendix E: Troubleshooting Sentence Frames for students who need support writing precise troubleshooting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Students need a way to distinguish productive pivots from avoidance. Invite examples: a safer method, fewer variables, a smaller comparison, a shift to a pilot study, or a move from full build to feasibility testing. A responsible pivot is evidence-based and approved, not impulsive.</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Appendix K: Responsible Project Pivots. If the pivot requires outside guidance, connect to Unit 3 Student Handout 12: Mentor or Expert Feedback Log and Unit 3 Appendix L: Mentor Communication 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Use this as a quick decision protocol. It also reinforces approval before major changes. Ask students which box they are currently in: revise and retest, reduce scope, pivot, document, or seek approval. Do not allow major project changes to happen silently.</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5: Method Revision Decision Chart and Unit 3 Appendix K: Responsible Project Pivots. Students should document the decision in Unit 3 Student Handout 4: Pilot Test Reflection and Troubleshooting Log or in their research journal.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Student-facing activity. Students can work individually first, then compare with a partner. Aim for the reasoning, not one perfect category. Scenarios map to measurement, procedure/data recording, design/prototype, and timeline/scope. Ask students to name evidence before proposing a fix.</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Appendix D: Types of Research Problems and Unit 3 Appendix E: Troubleshooting Sentence Frames. Students may record scenario responses on Unit 3 Student Handout 4: Pilot Test Reflection and Troubleshooting Log as practice before applying it to their own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This activity is especially useful during project work days. Groups of 3–4 can rotate through one problem per student. Enforce the clarifying-questions-only step to slow down premature advice. The goal is a documented next action, not a loose conversation.</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11: Troubleshooting Conference Prep. If students receive outside feedback, use Unit 3 Student Handout 12: Mentor or Expert Feedback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This is the main work-time activity. Students should produce a documented decision, not just talk about what they might do. Push for the smallest responsible next move: revise, retest, seek approval, reduce scope, or pivot.</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4: Pilot Test Reflection and Troubleshooting Log and Unit 3 Student Handout 5: Method Revision Decision Chart. Students should also update Unit 3 Student Handout 3: Daily Research Journal Entry Template or their active research journal. Use Unit 3 Appendix K: Responsible Project Pivots if the next move changes the project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Use this to ensure every student leaves with a specific next action. It also creates documentation for progress monitoring. Students who cannot identify evidence for the problem need a short conference before they keep working.</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as a quick checkpoint after Unit 3 Student Handout 4: Pilot Test Reflection and Troubleshooting Log or Unit 3 Student Handout 11: Troubleshooting Conference Prep. Students should attach the exit ticket to today’s research journal entry or use it to complete Unit 3 Student Handout 9: Weekly Progress Check-In.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Close by connecting troubleshooting to data quality. If changes are undocumented, later data analysis becomes unreliable. Preview the next deck as the transition from project work to organized evidence. Students should understand that clean analysis depends on honest documentation of problems and revisions.</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Next deck connection: Deck 9: Data Organization — Raw Data vs. Clean Data. This transition connects to Unit 3 Student Handout 17: Data Audit and Organization Checklist and Unit 3 Student Handout 18: Unit 3 Readiness for Analysis Review. It also previews Unit 4 Student Handout 1: Raw Data Inventory and Unit 4 Student Handout 2: Clean Data Set Builder.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d4ad53a8464486"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9e9f91d3f44c6c" /><Relationship Type="http://schemas.openxmlformats.org/officeDocument/2006/relationships/slideLayout" Target="/ppt/slideLayouts/slideLayout1.xml" Id="Rb2864328f15c44b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2864328f15c44b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a1ca6025494149" /><Relationship Type="http://schemas.openxmlformats.org/officeDocument/2006/relationships/image" Target="/ppt/media/image.png" Id="R7252da33d48440b3" /><Relationship Type="http://schemas.openxmlformats.org/officeDocument/2006/relationships/notesSlide" Target="/ppt/notesSlides/notesSlide1.xml" Id="Rfa29c31207fe4a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ad859e00db40a6" /><Relationship Type="http://schemas.openxmlformats.org/officeDocument/2006/relationships/image" Target="/ppt/media/image.png" Id="Rc5e2a3ffb4b5471b" /><Relationship Type="http://schemas.openxmlformats.org/officeDocument/2006/relationships/notesSlide" Target="/ppt/notesSlides/notesSlide2.xml" Id="R415e7b14cf0b43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08e6a10b79473d" /><Relationship Type="http://schemas.openxmlformats.org/officeDocument/2006/relationships/image" Target="/ppt/media/image.png" Id="Rf48ff0088fb14138" /><Relationship Type="http://schemas.openxmlformats.org/officeDocument/2006/relationships/notesSlide" Target="/ppt/notesSlides/notesSlide3.xml" Id="R308d405e002745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d2abd023014044" /><Relationship Type="http://schemas.openxmlformats.org/officeDocument/2006/relationships/image" Target="/ppt/media/image.png" Id="Ra21107f7ffb74c96" /><Relationship Type="http://schemas.openxmlformats.org/officeDocument/2006/relationships/notesSlide" Target="/ppt/notesSlides/notesSlide4.xml" Id="R99c6d495d0c548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76c664f62845bf" /><Relationship Type="http://schemas.openxmlformats.org/officeDocument/2006/relationships/image" Target="/ppt/media/image.png" Id="Rf57ca65675ca4c40" /><Relationship Type="http://schemas.openxmlformats.org/officeDocument/2006/relationships/notesSlide" Target="/ppt/notesSlides/notesSlide5.xml" Id="Re69f7d98c5cd48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802d1a99fe4607" /><Relationship Type="http://schemas.openxmlformats.org/officeDocument/2006/relationships/image" Target="/ppt/media/image.png" Id="R996bb42835d5406f" /><Relationship Type="http://schemas.openxmlformats.org/officeDocument/2006/relationships/notesSlide" Target="/ppt/notesSlides/notesSlide6.xml" Id="R2a32e130d8f648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410a86bd884a7d" /><Relationship Type="http://schemas.openxmlformats.org/officeDocument/2006/relationships/image" Target="/ppt/media/image.png" Id="R9e859792022448f6" /><Relationship Type="http://schemas.openxmlformats.org/officeDocument/2006/relationships/notesSlide" Target="/ppt/notesSlides/notesSlide7.xml" Id="R45c0ba032f9042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8c6f112fbe4241" /><Relationship Type="http://schemas.openxmlformats.org/officeDocument/2006/relationships/image" Target="/ppt/media/image.png" Id="Rb30f684b6bf9439d" /><Relationship Type="http://schemas.openxmlformats.org/officeDocument/2006/relationships/notesSlide" Target="/ppt/notesSlides/notesSlide8.xml" Id="Rc95d123286d94e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da94beb71e475f" /><Relationship Type="http://schemas.openxmlformats.org/officeDocument/2006/relationships/image" Target="/ppt/media/image.png" Id="R97a25b087a884549" /><Relationship Type="http://schemas.openxmlformats.org/officeDocument/2006/relationships/notesSlide" Target="/ppt/notesSlides/notesSlide9.xml" Id="R29a22740f7ed4c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aa563ccd034d99" /><Relationship Type="http://schemas.openxmlformats.org/officeDocument/2006/relationships/image" Target="/ppt/media/image.png" Id="R81b1a804de2f41ef" /><Relationship Type="http://schemas.openxmlformats.org/officeDocument/2006/relationships/notesSlide" Target="/ppt/notesSlides/notesSlide10.xml" Id="R2d441e966c3f41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4ea05f2c664159" /><Relationship Type="http://schemas.openxmlformats.org/officeDocument/2006/relationships/image" Target="/ppt/media/image.png" Id="Rf98b51ebf1924631" /><Relationship Type="http://schemas.openxmlformats.org/officeDocument/2006/relationships/notesSlide" Target="/ppt/notesSlides/notesSlide11.xml" Id="R1eb6c4d7b0494a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7bc55b0925e4d40" /><Relationship Type="http://schemas.openxmlformats.org/officeDocument/2006/relationships/image" Target="/ppt/media/image.png" Id="Re05e078c37524f12" /><Relationship Type="http://schemas.openxmlformats.org/officeDocument/2006/relationships/notesSlide" Target="/ppt/notesSlides/notesSlide12.xml" Id="R76b2b968da2548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6e96663932c4055" /><Relationship Type="http://schemas.openxmlformats.org/officeDocument/2006/relationships/image" Target="/ppt/media/image.png" Id="R3f115bd7a4c642bf" /><Relationship Type="http://schemas.openxmlformats.org/officeDocument/2006/relationships/notesSlide" Target="/ppt/notesSlides/notesSlide13.xml" Id="R6c9451c9df8240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2aab494aa8e4f42" /><Relationship Type="http://schemas.openxmlformats.org/officeDocument/2006/relationships/image" Target="/ppt/media/image.png" Id="R5e18453511884bd5" /><Relationship Type="http://schemas.openxmlformats.org/officeDocument/2006/relationships/notesSlide" Target="/ppt/notesSlides/notesSlide14.xml" Id="Rc060a72372494f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7f7f1be7dc34945" /><Relationship Type="http://schemas.openxmlformats.org/officeDocument/2006/relationships/image" Target="/ppt/media/image.png" Id="R7a51ed296f1742fc" /><Relationship Type="http://schemas.openxmlformats.org/officeDocument/2006/relationships/notesSlide" Target="/ppt/notesSlides/notesSlide15.xml" Id="Re4a0047b576747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4a004ea2f2340e1" /><Relationship Type="http://schemas.openxmlformats.org/officeDocument/2006/relationships/image" Target="/ppt/media/image.png" Id="R50ac8dfa746748bc" /><Relationship Type="http://schemas.openxmlformats.org/officeDocument/2006/relationships/notesSlide" Target="/ppt/notesSlides/notesSlide16.xml" Id="R2ec27d49dd71493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28a5f4f621249ac" /><Relationship Type="http://schemas.openxmlformats.org/officeDocument/2006/relationships/image" Target="/ppt/media/image.png" Id="R3c160b0ef5f84522" /><Relationship Type="http://schemas.openxmlformats.org/officeDocument/2006/relationships/notesSlide" Target="/ppt/notesSlides/notesSlide17.xml" Id="R953777737b7e41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c6375b78e7b40d5" /><Relationship Type="http://schemas.openxmlformats.org/officeDocument/2006/relationships/image" Target="/ppt/media/image.png" Id="R0a3d6303f54b4253" /><Relationship Type="http://schemas.openxmlformats.org/officeDocument/2006/relationships/notesSlide" Target="/ppt/notesSlides/notesSlide18.xml" Id="Rd7aa28d0853c44d3"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C267BB22-FFEA-42F5-BA25-8D3977B07E1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7" name="Google Shape;17;p3">
            <a:extLst xmlns:a="http://schemas.openxmlformats.org/drawingml/2006/main">
              <a:ext uri="{FF2B5EF4-FFF2-40B4-BE49-F238E27FC236}">
                <a16:creationId xmlns:a16="http://schemas.microsoft.com/office/drawing/2014/main" id="{A8DEC7C7-155E-4EC8-B3FD-FF174312C268}"/>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 name="Google Shape;18;p3">
            <a:extLst xmlns:a="http://schemas.openxmlformats.org/drawingml/2006/main">
              <a:ext uri="{FF2B5EF4-FFF2-40B4-BE49-F238E27FC236}">
                <a16:creationId xmlns:a16="http://schemas.microsoft.com/office/drawing/2014/main" id="{B8D636D8-DFB2-4C60-A1CF-92547A4270C5}"/>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9" name="Google Shape;19;p3">
            <a:extLst xmlns:a="http://schemas.openxmlformats.org/drawingml/2006/main">
              <a:ext uri="{FF2B5EF4-FFF2-40B4-BE49-F238E27FC236}">
                <a16:creationId xmlns:a16="http://schemas.microsoft.com/office/drawing/2014/main" id="{D2B4F34B-64B0-4932-B9B4-5C7010251B37}"/>
              </a:ext>
            </a:extLst>
          </p:cNvPr>
          <p:cNvSpPr>
            <a:spLocks xmlns:a="http://schemas.openxmlformats.org/drawingml/2006/main" noGrp="1"/>
          </p:cNvSpPr>
          <p:nvPr/>
        </p:nvSpPr>
        <p:spPr>
          <a:xfrm xmlns:a="http://schemas.openxmlformats.org/drawingml/2006/main">
            <a:off x="950970" y="4782422"/>
            <a:ext cx="10287000" cy="1079100"/>
          </a:xfrm>
          <a:prstGeom xmlns:a="http://schemas.openxmlformats.org/drawingml/2006/main" prst="rect">
            <a:avLst/>
          </a:prstGeom>
          <a:solidFill xmlns:a="http://schemas.openxmlformats.org/drawingml/2006/main">
            <a:srgbClr val="000000"/>
          </a:solidFill>
          <a:ln xmlns:a="http://schemas.openxmlformats.org/drawingml/2006/main" w="13950" cmpd="sng">
            <a:solidFill>
              <a:srgbClr val="77777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 name="Google Shape;20;p3">
            <a:extLst xmlns:a="http://schemas.openxmlformats.org/drawingml/2006/main">
              <a:ext uri="{FF2B5EF4-FFF2-40B4-BE49-F238E27FC236}">
                <a16:creationId xmlns:a16="http://schemas.microsoft.com/office/drawing/2014/main" id="{804AC9EB-255C-448B-87AD-D4200BE38FE2}"/>
              </a:ext>
            </a:extLst>
          </p:cNvPr>
          <p:cNvSpPr>
            <a:spLocks xmlns:a="http://schemas.openxmlformats.org/drawingml/2006/main" noGrp="1"/>
          </p:cNvSpPr>
          <p:nvPr/>
        </p:nvSpPr>
        <p:spPr>
          <a:xfrm xmlns:a="http://schemas.openxmlformats.org/drawingml/2006/main">
            <a:off x="1033266" y="4873862"/>
            <a:ext cx="10104000" cy="8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TROUBLESHOOTING</a:t>
            </a:r>
          </a:p>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&amp; RESPONSIBLE PROJECT PIVOTS</a:t>
            </a:r>
          </a:p>
        </p:txBody>
      </p:sp>
      <p:sp>
        <p:nvSpPr>
          <p:cNvPr id="21" name="Google Shape;21;p3">
            <a:extLst xmlns:a="http://schemas.openxmlformats.org/drawingml/2006/main">
              <a:ext uri="{FF2B5EF4-FFF2-40B4-BE49-F238E27FC236}">
                <a16:creationId xmlns:a16="http://schemas.microsoft.com/office/drawing/2014/main" id="{3498A7D9-931A-4347-AC48-A44E5283D12E}"/>
              </a:ext>
            </a:extLst>
          </p:cNvPr>
          <p:cNvSpPr>
            <a:spLocks xmlns:a="http://schemas.openxmlformats.org/drawingml/2006/main" noGrp="1"/>
          </p:cNvSpPr>
          <p:nvPr/>
        </p:nvSpPr>
        <p:spPr>
          <a:xfrm xmlns:a="http://schemas.openxmlformats.org/drawingml/2006/main">
            <a:off x="1014978" y="5934566"/>
            <a:ext cx="6858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STARLAB Deck 08  •  Unit 3 Core Instruction</a:t>
            </a:r>
          </a:p>
        </p:txBody>
      </p:sp>
      <p:pic>
        <p:nvPicPr>
          <p:cNvPr id="29" name="Google Shape;22;p3"/>
          <p:cNvPicPr>
            <a:picLocks xmlns:a="http://schemas.openxmlformats.org/drawingml/2006/main" noChangeAspect="1"/>
          </p:cNvPicPr>
          <p:nvPr/>
        </p:nvPicPr>
        <p:blipFill rotWithShape="1">
          <a:blip xmlns:r="http://schemas.openxmlformats.org/officeDocument/2006/relationships" xmlns:a="http://schemas.openxmlformats.org/drawingml/2006/main" r:embed="R7252da33d48440b3">
            <a:alphaModFix/>
          </a:blip>
          <a:srcRect xmlns:a="http://schemas.openxmlformats.org/drawingml/2006/main" l="0" t="0" r="0" b="0"/>
          <a:stretch xmlns:a="http://schemas.openxmlformats.org/drawingml/2006/main"/>
        </p:blipFill>
        <p:spPr>
          <a:xfrm xmlns:a="http://schemas.openxmlformats.org/drawingml/2006/main">
            <a:off x="1696153" y="470969"/>
            <a:ext cx="8778240" cy="416052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551781302"/>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C64B6C16-3F2C-4B94-ADA5-996EAD7AFCF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9" name="Google Shape;29;p4">
            <a:extLst xmlns:a="http://schemas.openxmlformats.org/drawingml/2006/main">
              <a:ext uri="{FF2B5EF4-FFF2-40B4-BE49-F238E27FC236}">
                <a16:creationId xmlns:a16="http://schemas.microsoft.com/office/drawing/2014/main" id="{879258B6-56AF-4BE2-96CB-90FD81C5676C}"/>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 name="Google Shape;30;p4">
            <a:extLst xmlns:a="http://schemas.openxmlformats.org/drawingml/2006/main">
              <a:ext uri="{FF2B5EF4-FFF2-40B4-BE49-F238E27FC236}">
                <a16:creationId xmlns:a16="http://schemas.microsoft.com/office/drawing/2014/main" id="{009D4033-5BF6-4F16-B420-4C35C27E8FDF}"/>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1" name="Google Shape;31;p4">
            <a:extLst xmlns:a="http://schemas.openxmlformats.org/drawingml/2006/main">
              <a:ext uri="{FF2B5EF4-FFF2-40B4-BE49-F238E27FC236}">
                <a16:creationId xmlns:a16="http://schemas.microsoft.com/office/drawing/2014/main" id="{CE0E7DCA-AA81-42DF-A142-C64A661D1CDC}"/>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WHEN RESEARCH GETS MESSY</a:t>
            </a:r>
          </a:p>
        </p:txBody>
      </p:sp>
      <p:sp>
        <p:nvSpPr>
          <p:cNvPr id="32" name="Google Shape;32;p4">
            <a:extLst xmlns:a="http://schemas.openxmlformats.org/drawingml/2006/main">
              <a:ext uri="{FF2B5EF4-FFF2-40B4-BE49-F238E27FC236}">
                <a16:creationId xmlns:a16="http://schemas.microsoft.com/office/drawing/2014/main" id="{24DA83B5-66AA-4EFF-B326-2082DE84B4A6}"/>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 name="Google Shape;33;p4">
            <a:extLst xmlns:a="http://schemas.openxmlformats.org/drawingml/2006/main">
              <a:ext uri="{FF2B5EF4-FFF2-40B4-BE49-F238E27FC236}">
                <a16:creationId xmlns:a16="http://schemas.microsoft.com/office/drawing/2014/main" id="{9F393954-4FC5-45EC-BDB7-22058D2AC241}"/>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The purpose of troubleshooting is to make the project stronger.</a:t>
            </a:r>
          </a:p>
        </p:txBody>
      </p:sp>
      <p:cxnSp>
        <p:nvCxnSpPr>
          <p:cNvPr id="51" name="Google Shape;34;p4"/>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35" name="Google Shape;35;p4">
            <a:extLst xmlns:a="http://schemas.openxmlformats.org/drawingml/2006/main">
              <a:ext uri="{FF2B5EF4-FFF2-40B4-BE49-F238E27FC236}">
                <a16:creationId xmlns:a16="http://schemas.microsoft.com/office/drawing/2014/main" id="{FBE56616-76E4-4FD6-BC42-CCFE80444172}"/>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02</a:t>
            </a:r>
          </a:p>
        </p:txBody>
      </p:sp>
      <p:pic>
        <p:nvPicPr>
          <p:cNvPr id="53" name="Google Shape;36;p4"/>
          <p:cNvPicPr>
            <a:picLocks xmlns:a="http://schemas.openxmlformats.org/drawingml/2006/main" noChangeAspect="1"/>
          </p:cNvPicPr>
          <p:nvPr/>
        </p:nvPicPr>
        <p:blipFill rotWithShape="1">
          <a:blip xmlns:r="http://schemas.openxmlformats.org/officeDocument/2006/relationships" xmlns:a="http://schemas.openxmlformats.org/drawingml/2006/main" r:embed="Rc5e2a3ffb4b5471b">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37" name="Google Shape;37;p4">
            <a:extLst xmlns:a="http://schemas.openxmlformats.org/drawingml/2006/main">
              <a:ext uri="{FF2B5EF4-FFF2-40B4-BE49-F238E27FC236}">
                <a16:creationId xmlns:a16="http://schemas.microsoft.com/office/drawing/2014/main" id="{2B8AD824-4799-4528-A68F-4C2B9CC4C61B}"/>
              </a:ext>
            </a:extLst>
          </p:cNvPr>
          <p:cNvSpPr>
            <a:spLocks xmlns:a="http://schemas.openxmlformats.org/drawingml/2006/main" noGrp="1"/>
          </p:cNvSpPr>
          <p:nvPr/>
        </p:nvSpPr>
        <p:spPr>
          <a:xfrm xmlns:a="http://schemas.openxmlformats.org/drawingml/2006/main">
            <a:off x="777240" y="1600200"/>
            <a:ext cx="4800600" cy="1051560"/>
          </a:xfrm>
          <a:prstGeom xmlns:a="http://schemas.openxmlformats.org/drawingml/2006/main" prst="roundRect">
            <a:avLst>
              <a:gd name="adj" fmla="val 695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8" name="Google Shape;38;p4">
            <a:extLst xmlns:a="http://schemas.openxmlformats.org/drawingml/2006/main">
              <a:ext uri="{FF2B5EF4-FFF2-40B4-BE49-F238E27FC236}">
                <a16:creationId xmlns:a16="http://schemas.microsoft.com/office/drawing/2014/main" id="{35EDEAFE-A7D4-4824-9E54-CE3FC9C66616}"/>
              </a:ext>
            </a:extLst>
          </p:cNvPr>
          <p:cNvSpPr>
            <a:spLocks xmlns:a="http://schemas.openxmlformats.org/drawingml/2006/main" noGrp="1"/>
          </p:cNvSpPr>
          <p:nvPr/>
        </p:nvSpPr>
        <p:spPr>
          <a:xfrm xmlns:a="http://schemas.openxmlformats.org/drawingml/2006/main">
            <a:off x="932688" y="1728216"/>
            <a:ext cx="4489704"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100"/>
              <a:buFont typeface="Arial"/>
              <a:buNone/>
            </a:pPr>
            <a:r>
              <a:rPr sz="2100" b="1" i="0" u="none" cap="none">
                <a:solidFill>
                  <a:srgbClr val="F7F7F7"/>
                </a:solidFill>
                <a:latin typeface="Arial"/>
                <a:ea typeface="Arial"/>
                <a:cs typeface="Arial"/>
              </a:rPr>
              <a:t>A problem is not the end of the project.</a:t>
            </a:r>
          </a:p>
        </p:txBody>
      </p:sp>
      <p:sp>
        <p:nvSpPr>
          <p:cNvPr id="39" name="Google Shape;39;p4">
            <a:extLst xmlns:a="http://schemas.openxmlformats.org/drawingml/2006/main">
              <a:ext uri="{FF2B5EF4-FFF2-40B4-BE49-F238E27FC236}">
                <a16:creationId xmlns:a16="http://schemas.microsoft.com/office/drawing/2014/main" id="{0D6E118F-FE59-43D4-9FE5-0B06CA0FADF8}"/>
              </a:ext>
            </a:extLst>
          </p:cNvPr>
          <p:cNvSpPr>
            <a:spLocks xmlns:a="http://schemas.openxmlformats.org/drawingml/2006/main" noGrp="1"/>
          </p:cNvSpPr>
          <p:nvPr/>
        </p:nvSpPr>
        <p:spPr>
          <a:xfrm xmlns:a="http://schemas.openxmlformats.org/drawingml/2006/main">
            <a:off x="6126480" y="1600200"/>
            <a:ext cx="5303520" cy="1051560"/>
          </a:xfrm>
          <a:prstGeom xmlns:a="http://schemas.openxmlformats.org/drawingml/2006/main" prst="roundRect">
            <a:avLst>
              <a:gd name="adj" fmla="val 6957"/>
            </a:avLst>
          </a:prstGeom>
          <a:solidFill xmlns:a="http://schemas.openxmlformats.org/drawingml/2006/main">
            <a:srgbClr val="0B0B0D"/>
          </a:solidFill>
          <a:ln xmlns:a="http://schemas.openxmlformats.org/drawingml/2006/main" w="13950"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0" name="Google Shape;40;p4">
            <a:extLst xmlns:a="http://schemas.openxmlformats.org/drawingml/2006/main">
              <a:ext uri="{FF2B5EF4-FFF2-40B4-BE49-F238E27FC236}">
                <a16:creationId xmlns:a16="http://schemas.microsoft.com/office/drawing/2014/main" id="{3DA74225-D9AD-44F7-A521-D898C2AEA3FC}"/>
              </a:ext>
            </a:extLst>
          </p:cNvPr>
          <p:cNvSpPr>
            <a:spLocks xmlns:a="http://schemas.openxmlformats.org/drawingml/2006/main" noGrp="1"/>
          </p:cNvSpPr>
          <p:nvPr/>
        </p:nvSpPr>
        <p:spPr>
          <a:xfrm xmlns:a="http://schemas.openxmlformats.org/drawingml/2006/main">
            <a:off x="6281928" y="1728216"/>
            <a:ext cx="4992624"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A problem is evidence that the method, design, measurement, or timeline needs attention.</a:t>
            </a:r>
          </a:p>
        </p:txBody>
      </p:sp>
      <p:sp>
        <p:nvSpPr>
          <p:cNvPr id="41" name="Google Shape;41;p4">
            <a:extLst xmlns:a="http://schemas.openxmlformats.org/drawingml/2006/main">
              <a:ext uri="{FF2B5EF4-FFF2-40B4-BE49-F238E27FC236}">
                <a16:creationId xmlns:a16="http://schemas.microsoft.com/office/drawing/2014/main" id="{9581DF83-AD3B-4F82-BDF7-86D0AA11B070}"/>
              </a:ext>
            </a:extLst>
          </p:cNvPr>
          <p:cNvSpPr>
            <a:spLocks xmlns:a="http://schemas.openxmlformats.org/drawingml/2006/main" noGrp="1"/>
          </p:cNvSpPr>
          <p:nvPr/>
        </p:nvSpPr>
        <p:spPr>
          <a:xfrm xmlns:a="http://schemas.openxmlformats.org/drawingml/2006/main">
            <a:off x="960120" y="3072384"/>
            <a:ext cx="10241280" cy="1508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 Real research rarely follows the first plan exactly.</a:t>
            </a:r>
          </a:p>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 Pilot testing is designed to reveal weaknesses early.</a:t>
            </a:r>
          </a:p>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 The goal is not to hide problems; the goal is to respond responsibly.</a:t>
            </a:r>
          </a:p>
        </p:txBody>
      </p:sp>
      <p:cxnSp>
        <p:nvCxnSpPr>
          <p:cNvPr id="59" name="Google Shape;42;p4"/>
          <p:cNvCxnSpPr/>
          <p:nvPr/>
        </p:nvCxnSpPr>
        <p:spPr>
          <a:xfrm xmlns:a="http://schemas.openxmlformats.org/drawingml/2006/main">
            <a:off x="960120" y="4892040"/>
            <a:ext cx="10241280" cy="0"/>
          </a:xfrm>
          <a:prstGeom xmlns:a="http://schemas.openxmlformats.org/drawingml/2006/main" prst="straightConnector1">
            <a:avLst/>
          </a:prstGeom>
          <a:ln xmlns:a="http://schemas.openxmlformats.org/drawingml/2006/main" w="19050" cap="flat">
            <a:solidFill>
              <a:srgbClr val="ED1C24"/>
            </a:solidFill>
            <a:prstDash val="solid"/>
            <a:round/>
            <a:headEnd type="none" w="sm" len="sm"/>
            <a:tailEnd type="none" w="sm" len="sm"/>
          </a:ln>
        </p:spPr>
      </p:cxnSp>
      <p:sp>
        <p:nvSpPr>
          <p:cNvPr id="43" name="Google Shape;43;p4">
            <a:extLst xmlns:a="http://schemas.openxmlformats.org/drawingml/2006/main">
              <a:ext uri="{FF2B5EF4-FFF2-40B4-BE49-F238E27FC236}">
                <a16:creationId xmlns:a16="http://schemas.microsoft.com/office/drawing/2014/main" id="{34750CEB-8B7C-4D6A-82E3-F47701FE59D0}"/>
              </a:ext>
            </a:extLst>
          </p:cNvPr>
          <p:cNvSpPr>
            <a:spLocks xmlns:a="http://schemas.openxmlformats.org/drawingml/2006/main" noGrp="1"/>
          </p:cNvSpPr>
          <p:nvPr/>
        </p:nvSpPr>
        <p:spPr>
          <a:xfrm xmlns:a="http://schemas.openxmlformats.org/drawingml/2006/main">
            <a:off x="960120" y="5166360"/>
            <a:ext cx="10241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000"/>
              <a:buFont typeface="Arial"/>
              <a:buNone/>
            </a:pPr>
            <a:r>
              <a:rPr sz="2000" b="1" i="0" u="none" cap="none">
                <a:solidFill>
                  <a:srgbClr val="F7F7F7"/>
                </a:solidFill>
                <a:latin typeface="Arial"/>
                <a:ea typeface="Arial"/>
                <a:cs typeface="Arial"/>
              </a:rPr>
              <a:t>Today’s move: diagnose → revise → document → continue.</a:t>
            </a:r>
          </a:p>
        </p:txBody>
      </p:sp>
    </p:spTree>
    <p:extLst>
      <p:ext uri="{BB962C8B-B14F-4D97-AF65-F5344CB8AC3E}">
        <p14:creationId xmlns:p14="http://schemas.microsoft.com/office/powerpoint/2010/main" val="125239833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9" name="Google Shape;49;p5">
            <a:extLst xmlns:a="http://schemas.openxmlformats.org/drawingml/2006/main">
              <a:ext uri="{FF2B5EF4-FFF2-40B4-BE49-F238E27FC236}">
                <a16:creationId xmlns:a16="http://schemas.microsoft.com/office/drawing/2014/main" id="{CD1F4E9F-3C91-4FCA-93F1-BF8A96B3374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50" name="Google Shape;50;p5">
            <a:extLst xmlns:a="http://schemas.openxmlformats.org/drawingml/2006/main">
              <a:ext uri="{FF2B5EF4-FFF2-40B4-BE49-F238E27FC236}">
                <a16:creationId xmlns:a16="http://schemas.microsoft.com/office/drawing/2014/main" id="{53E19B0A-D564-41C7-9A1A-59B9CB560F35}"/>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51" name="Google Shape;51;p5">
            <a:extLst xmlns:a="http://schemas.openxmlformats.org/drawingml/2006/main">
              <a:ext uri="{FF2B5EF4-FFF2-40B4-BE49-F238E27FC236}">
                <a16:creationId xmlns:a16="http://schemas.microsoft.com/office/drawing/2014/main" id="{3E64AE4E-29BB-49DB-B6E1-B8315381FEBC}"/>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52" name="Google Shape;52;p5">
            <a:extLst xmlns:a="http://schemas.openxmlformats.org/drawingml/2006/main">
              <a:ext uri="{FF2B5EF4-FFF2-40B4-BE49-F238E27FC236}">
                <a16:creationId xmlns:a16="http://schemas.microsoft.com/office/drawing/2014/main" id="{B96E26CC-9E7B-4C8A-8731-1D7422D30E06}"/>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FAILURE IS DATA</a:t>
            </a:r>
          </a:p>
        </p:txBody>
      </p:sp>
      <p:sp>
        <p:nvSpPr>
          <p:cNvPr id="53" name="Google Shape;53;p5">
            <a:extLst xmlns:a="http://schemas.openxmlformats.org/drawingml/2006/main">
              <a:ext uri="{FF2B5EF4-FFF2-40B4-BE49-F238E27FC236}">
                <a16:creationId xmlns:a16="http://schemas.microsoft.com/office/drawing/2014/main" id="{62814A46-588E-46F3-9867-2FBC01A4AD64}"/>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54" name="Google Shape;54;p5">
            <a:extLst xmlns:a="http://schemas.openxmlformats.org/drawingml/2006/main">
              <a:ext uri="{FF2B5EF4-FFF2-40B4-BE49-F238E27FC236}">
                <a16:creationId xmlns:a16="http://schemas.microsoft.com/office/drawing/2014/main" id="{1B084524-DA2B-4142-88C8-3579B6224234}"/>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A failed trial can teach you what the next trial needs.</a:t>
            </a:r>
          </a:p>
        </p:txBody>
      </p:sp>
      <p:cxnSp>
        <p:nvCxnSpPr>
          <p:cNvPr id="73" name="Google Shape;55;p5"/>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56" name="Google Shape;56;p5">
            <a:extLst xmlns:a="http://schemas.openxmlformats.org/drawingml/2006/main">
              <a:ext uri="{FF2B5EF4-FFF2-40B4-BE49-F238E27FC236}">
                <a16:creationId xmlns:a16="http://schemas.microsoft.com/office/drawing/2014/main" id="{F5B35D0F-5409-4AB0-BEFB-07BC6CE95E79}"/>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03</a:t>
            </a:r>
          </a:p>
        </p:txBody>
      </p:sp>
      <p:pic>
        <p:nvPicPr>
          <p:cNvPr id="75" name="Google Shape;57;p5"/>
          <p:cNvPicPr>
            <a:picLocks xmlns:a="http://schemas.openxmlformats.org/drawingml/2006/main" noChangeAspect="1"/>
          </p:cNvPicPr>
          <p:nvPr/>
        </p:nvPicPr>
        <p:blipFill rotWithShape="1">
          <a:blip xmlns:r="http://schemas.openxmlformats.org/officeDocument/2006/relationships" xmlns:a="http://schemas.openxmlformats.org/drawingml/2006/main" r:embed="Rf48ff0088fb14138">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cxnSp>
        <p:nvCxnSpPr>
          <p:cNvPr id="76" name="Google Shape;58;p5"/>
          <p:cNvCxnSpPr/>
          <p:nvPr/>
        </p:nvCxnSpPr>
        <p:spPr>
          <a:xfrm xmlns:a="http://schemas.openxmlformats.org/drawingml/2006/main">
            <a:off x="777240" y="1938528"/>
            <a:ext cx="10195560" cy="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sp>
        <p:nvSpPr>
          <p:cNvPr id="59" name="Google Shape;59;p5">
            <a:extLst xmlns:a="http://schemas.openxmlformats.org/drawingml/2006/main">
              <a:ext uri="{FF2B5EF4-FFF2-40B4-BE49-F238E27FC236}">
                <a16:creationId xmlns:a16="http://schemas.microsoft.com/office/drawing/2014/main" id="{BF5201F6-97EB-4F0A-8F99-FD8D4350C800}"/>
              </a:ext>
            </a:extLst>
          </p:cNvPr>
          <p:cNvSpPr>
            <a:spLocks xmlns:a="http://schemas.openxmlformats.org/drawingml/2006/main" noGrp="1"/>
          </p:cNvSpPr>
          <p:nvPr/>
        </p:nvSpPr>
        <p:spPr>
          <a:xfrm xmlns:a="http://schemas.openxmlformats.org/drawingml/2006/main">
            <a:off x="868680" y="2240280"/>
            <a:ext cx="4800600" cy="1143000"/>
          </a:xfrm>
          <a:prstGeom xmlns:a="http://schemas.openxmlformats.org/drawingml/2006/main" prst="roundRect">
            <a:avLst>
              <a:gd name="adj" fmla="val 6400"/>
            </a:avLst>
          </a:prstGeom>
          <a:solidFill xmlns:a="http://schemas.openxmlformats.org/drawingml/2006/main">
            <a:srgbClr val="0B0B0D"/>
          </a:solidFill>
          <a:ln xmlns:a="http://schemas.openxmlformats.org/drawingml/2006/main" w="13950"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60" name="Google Shape;60;p5">
            <a:extLst xmlns:a="http://schemas.openxmlformats.org/drawingml/2006/main">
              <a:ext uri="{FF2B5EF4-FFF2-40B4-BE49-F238E27FC236}">
                <a16:creationId xmlns:a16="http://schemas.microsoft.com/office/drawing/2014/main" id="{D5C5B851-38B8-4051-B480-3F146DEF19EA}"/>
              </a:ext>
            </a:extLst>
          </p:cNvPr>
          <p:cNvSpPr>
            <a:spLocks xmlns:a="http://schemas.openxmlformats.org/drawingml/2006/main" noGrp="1"/>
          </p:cNvSpPr>
          <p:nvPr/>
        </p:nvSpPr>
        <p:spPr>
          <a:xfrm xmlns:a="http://schemas.openxmlformats.org/drawingml/2006/main">
            <a:off x="1024128" y="2368296"/>
            <a:ext cx="4489704"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900"/>
              <a:buFont typeface="Arial"/>
              <a:buNone/>
            </a:pPr>
            <a:r>
              <a:rPr sz="1900" b="0" i="0" u="none" cap="none">
                <a:solidFill>
                  <a:srgbClr val="F7F7F7"/>
                </a:solidFill>
                <a:latin typeface="Arial"/>
                <a:ea typeface="Arial"/>
                <a:cs typeface="Arial"/>
              </a:rPr>
              <a:t>NOT USEFUL</a:t>
            </a:r>
          </a:p>
          <a:p xmlns:a="http://schemas.openxmlformats.org/drawingml/2006/main">
            <a:pPr marL="0" marR="0" indent="0" algn="l">
              <a:lnSpc>
                <a:spcPct val="100000"/>
              </a:lnSpc>
              <a:spcBef>
                <a:spcPts val="0"/>
              </a:spcBef>
              <a:spcAft>
                <a:spcPts val="0"/>
              </a:spcAft>
              <a:buClr>
                <a:srgbClr val="F7F7F7"/>
              </a:buClr>
              <a:buSzPts val="1900"/>
              <a:buFont typeface="Arial"/>
              <a:buNone/>
            </a:pPr>
            <a:r>
              <a:rPr sz="1900" b="0" i="0" u="none" cap="none">
                <a:solidFill>
                  <a:srgbClr val="F7F7F7"/>
                </a:solidFill>
                <a:latin typeface="Arial"/>
                <a:ea typeface="Arial"/>
                <a:cs typeface="Arial"/>
              </a:rPr>
              <a:t>“I messed up. The project is bad.”</a:t>
            </a:r>
          </a:p>
        </p:txBody>
      </p:sp>
      <p:sp>
        <p:nvSpPr>
          <p:cNvPr id="61" name="Google Shape;61;p5">
            <a:extLst xmlns:a="http://schemas.openxmlformats.org/drawingml/2006/main">
              <a:ext uri="{FF2B5EF4-FFF2-40B4-BE49-F238E27FC236}">
                <a16:creationId xmlns:a16="http://schemas.microsoft.com/office/drawing/2014/main" id="{D4FC1684-B85B-48D6-8E22-5900CDDA4D78}"/>
              </a:ext>
            </a:extLst>
          </p:cNvPr>
          <p:cNvSpPr>
            <a:spLocks xmlns:a="http://schemas.openxmlformats.org/drawingml/2006/main" noGrp="1"/>
          </p:cNvSpPr>
          <p:nvPr/>
        </p:nvSpPr>
        <p:spPr>
          <a:xfrm xmlns:a="http://schemas.openxmlformats.org/drawingml/2006/main">
            <a:off x="6446520" y="2240280"/>
            <a:ext cx="4800600" cy="1143000"/>
          </a:xfrm>
          <a:prstGeom xmlns:a="http://schemas.openxmlformats.org/drawingml/2006/main" prst="roundRect">
            <a:avLst>
              <a:gd name="adj" fmla="val 6400"/>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62" name="Google Shape;62;p5">
            <a:extLst xmlns:a="http://schemas.openxmlformats.org/drawingml/2006/main">
              <a:ext uri="{FF2B5EF4-FFF2-40B4-BE49-F238E27FC236}">
                <a16:creationId xmlns:a16="http://schemas.microsoft.com/office/drawing/2014/main" id="{23B6595D-7718-4037-98E5-1DCB5635A9AE}"/>
              </a:ext>
            </a:extLst>
          </p:cNvPr>
          <p:cNvSpPr>
            <a:spLocks xmlns:a="http://schemas.openxmlformats.org/drawingml/2006/main" noGrp="1"/>
          </p:cNvSpPr>
          <p:nvPr/>
        </p:nvSpPr>
        <p:spPr>
          <a:xfrm xmlns:a="http://schemas.openxmlformats.org/drawingml/2006/main">
            <a:off x="6601968" y="2368296"/>
            <a:ext cx="4489704"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USEFUL</a:t>
            </a:r>
          </a:p>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“The sensor drifted after 3 minutes, so I need to recalibrate between trials.”</a:t>
            </a:r>
          </a:p>
        </p:txBody>
      </p:sp>
      <p:sp>
        <p:nvSpPr>
          <p:cNvPr id="63" name="Google Shape;63;p5">
            <a:extLst xmlns:a="http://schemas.openxmlformats.org/drawingml/2006/main">
              <a:ext uri="{FF2B5EF4-FFF2-40B4-BE49-F238E27FC236}">
                <a16:creationId xmlns:a16="http://schemas.microsoft.com/office/drawing/2014/main" id="{04C935CD-0751-40FD-838B-49DD5EC7BFD5}"/>
              </a:ext>
            </a:extLst>
          </p:cNvPr>
          <p:cNvSpPr>
            <a:spLocks xmlns:a="http://schemas.openxmlformats.org/drawingml/2006/main" noGrp="1"/>
          </p:cNvSpPr>
          <p:nvPr/>
        </p:nvSpPr>
        <p:spPr>
          <a:xfrm xmlns:a="http://schemas.openxmlformats.org/drawingml/2006/main">
            <a:off x="1828800" y="3977640"/>
            <a:ext cx="8549640" cy="822960"/>
          </a:xfrm>
          <a:prstGeom xmlns:a="http://schemas.openxmlformats.org/drawingml/2006/main" prst="roundRect">
            <a:avLst>
              <a:gd name="adj" fmla="val 8889"/>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64" name="Google Shape;64;p5">
            <a:extLst xmlns:a="http://schemas.openxmlformats.org/drawingml/2006/main">
              <a:ext uri="{FF2B5EF4-FFF2-40B4-BE49-F238E27FC236}">
                <a16:creationId xmlns:a16="http://schemas.microsoft.com/office/drawing/2014/main" id="{AF008972-9C14-4074-92B9-D4FFCF5727B1}"/>
              </a:ext>
            </a:extLst>
          </p:cNvPr>
          <p:cNvSpPr>
            <a:spLocks xmlns:a="http://schemas.openxmlformats.org/drawingml/2006/main" noGrp="1"/>
          </p:cNvSpPr>
          <p:nvPr/>
        </p:nvSpPr>
        <p:spPr>
          <a:xfrm xmlns:a="http://schemas.openxmlformats.org/drawingml/2006/main">
            <a:off x="1984248" y="4105656"/>
            <a:ext cx="8238744"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200"/>
              <a:buFont typeface="Arial"/>
              <a:buNone/>
            </a:pPr>
            <a:r>
              <a:rPr sz="2200" b="1" i="0" u="none" cap="none">
                <a:solidFill>
                  <a:srgbClr val="F7F7F7"/>
                </a:solidFill>
                <a:latin typeface="Arial"/>
                <a:ea typeface="Arial"/>
                <a:cs typeface="Arial"/>
              </a:rPr>
              <a:t>The shift is from emotion to evidence.</a:t>
            </a:r>
          </a:p>
        </p:txBody>
      </p:sp>
      <p:sp>
        <p:nvSpPr>
          <p:cNvPr id="65" name="Google Shape;65;p5">
            <a:extLst xmlns:a="http://schemas.openxmlformats.org/drawingml/2006/main">
              <a:ext uri="{FF2B5EF4-FFF2-40B4-BE49-F238E27FC236}">
                <a16:creationId xmlns:a16="http://schemas.microsoft.com/office/drawing/2014/main" id="{16D694B2-6908-4DEA-BB77-4B7C090CB2EF}"/>
              </a:ext>
            </a:extLst>
          </p:cNvPr>
          <p:cNvSpPr>
            <a:spLocks xmlns:a="http://schemas.openxmlformats.org/drawingml/2006/main" noGrp="1"/>
          </p:cNvSpPr>
          <p:nvPr/>
        </p:nvSpPr>
        <p:spPr>
          <a:xfrm xmlns:a="http://schemas.openxmlformats.org/drawingml/2006/main">
            <a:off x="1874520" y="4892040"/>
            <a:ext cx="8138160" cy="7863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 What happened?</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 How do you know?</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 What might have caused it?</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 What will you try next?</a:t>
            </a:r>
          </a:p>
        </p:txBody>
      </p:sp>
    </p:spTree>
    <p:extLst>
      <p:ext uri="{BB962C8B-B14F-4D97-AF65-F5344CB8AC3E}">
        <p14:creationId xmlns:p14="http://schemas.microsoft.com/office/powerpoint/2010/main" val="712892544"/>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1" name="Google Shape;71;p6">
            <a:extLst xmlns:a="http://schemas.openxmlformats.org/drawingml/2006/main">
              <a:ext uri="{FF2B5EF4-FFF2-40B4-BE49-F238E27FC236}">
                <a16:creationId xmlns:a16="http://schemas.microsoft.com/office/drawing/2014/main" id="{D647D73B-63B8-47F7-BA27-A5DE1D46E00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72" name="Google Shape;72;p6">
            <a:extLst xmlns:a="http://schemas.openxmlformats.org/drawingml/2006/main">
              <a:ext uri="{FF2B5EF4-FFF2-40B4-BE49-F238E27FC236}">
                <a16:creationId xmlns:a16="http://schemas.microsoft.com/office/drawing/2014/main" id="{CBC04708-608A-4E51-AEF8-48301CDE8AFB}"/>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73" name="Google Shape;73;p6">
            <a:extLst xmlns:a="http://schemas.openxmlformats.org/drawingml/2006/main">
              <a:ext uri="{FF2B5EF4-FFF2-40B4-BE49-F238E27FC236}">
                <a16:creationId xmlns:a16="http://schemas.microsoft.com/office/drawing/2014/main" id="{4FA24004-8187-4F27-9F2F-233E1047E615}"/>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74" name="Google Shape;74;p6">
            <a:extLst xmlns:a="http://schemas.openxmlformats.org/drawingml/2006/main">
              <a:ext uri="{FF2B5EF4-FFF2-40B4-BE49-F238E27FC236}">
                <a16:creationId xmlns:a16="http://schemas.microsoft.com/office/drawing/2014/main" id="{E613FF53-6276-4810-A540-8781BCCA97D3}"/>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SIX COMMON RESEARCH PROBLEMS</a:t>
            </a:r>
          </a:p>
        </p:txBody>
      </p:sp>
      <p:sp>
        <p:nvSpPr>
          <p:cNvPr id="75" name="Google Shape;75;p6">
            <a:extLst xmlns:a="http://schemas.openxmlformats.org/drawingml/2006/main">
              <a:ext uri="{FF2B5EF4-FFF2-40B4-BE49-F238E27FC236}">
                <a16:creationId xmlns:a16="http://schemas.microsoft.com/office/drawing/2014/main" id="{99BBAC0F-A570-4FE6-B8EA-C13C8F57E032}"/>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76" name="Google Shape;76;p6">
            <a:extLst xmlns:a="http://schemas.openxmlformats.org/drawingml/2006/main">
              <a:ext uri="{FF2B5EF4-FFF2-40B4-BE49-F238E27FC236}">
                <a16:creationId xmlns:a16="http://schemas.microsoft.com/office/drawing/2014/main" id="{FF766BBA-86CF-472D-AAF0-ECEF11D83F82}"/>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Most issues fall into a recognizable category.</a:t>
            </a:r>
          </a:p>
        </p:txBody>
      </p:sp>
      <p:cxnSp>
        <p:nvCxnSpPr>
          <p:cNvPr id="105" name="Google Shape;77;p6"/>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78" name="Google Shape;78;p6">
            <a:extLst xmlns:a="http://schemas.openxmlformats.org/drawingml/2006/main">
              <a:ext uri="{FF2B5EF4-FFF2-40B4-BE49-F238E27FC236}">
                <a16:creationId xmlns:a16="http://schemas.microsoft.com/office/drawing/2014/main" id="{24E8EAF7-9F7D-4849-BEA0-7D5C135C3BD4}"/>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04</a:t>
            </a:r>
          </a:p>
        </p:txBody>
      </p:sp>
      <p:pic>
        <p:nvPicPr>
          <p:cNvPr id="107" name="Google Shape;79;p6"/>
          <p:cNvPicPr>
            <a:picLocks xmlns:a="http://schemas.openxmlformats.org/drawingml/2006/main" noChangeAspect="1"/>
          </p:cNvPicPr>
          <p:nvPr/>
        </p:nvPicPr>
        <p:blipFill rotWithShape="1">
          <a:blip xmlns:r="http://schemas.openxmlformats.org/officeDocument/2006/relationships" xmlns:a="http://schemas.openxmlformats.org/drawingml/2006/main" r:embed="Ra21107f7ffb74c96">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80" name="Google Shape;80;p6">
            <a:extLst xmlns:a="http://schemas.openxmlformats.org/drawingml/2006/main">
              <a:ext uri="{FF2B5EF4-FFF2-40B4-BE49-F238E27FC236}">
                <a16:creationId xmlns:a16="http://schemas.microsoft.com/office/drawing/2014/main" id="{AB7218EA-F57D-43A8-A419-AD0D8AE5DBAD}"/>
              </a:ext>
            </a:extLst>
          </p:cNvPr>
          <p:cNvSpPr>
            <a:spLocks xmlns:a="http://schemas.openxmlformats.org/drawingml/2006/main" noGrp="1"/>
          </p:cNvSpPr>
          <p:nvPr/>
        </p:nvSpPr>
        <p:spPr>
          <a:xfrm xmlns:a="http://schemas.openxmlformats.org/drawingml/2006/main">
            <a:off x="777240" y="160020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81" name="Google Shape;81;p6">
            <a:extLst xmlns:a="http://schemas.openxmlformats.org/drawingml/2006/main">
              <a:ext uri="{FF2B5EF4-FFF2-40B4-BE49-F238E27FC236}">
                <a16:creationId xmlns:a16="http://schemas.microsoft.com/office/drawing/2014/main" id="{DEAAE11D-0BCD-4F84-AFA0-560D37695AA8}"/>
              </a:ext>
            </a:extLst>
          </p:cNvPr>
          <p:cNvSpPr>
            <a:spLocks xmlns:a="http://schemas.openxmlformats.org/drawingml/2006/main" noGrp="1"/>
          </p:cNvSpPr>
          <p:nvPr/>
        </p:nvSpPr>
        <p:spPr>
          <a:xfrm xmlns:a="http://schemas.openxmlformats.org/drawingml/2006/main">
            <a:off x="941832" y="172821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PROCEDURE</a:t>
            </a:r>
          </a:p>
        </p:txBody>
      </p:sp>
      <p:sp>
        <p:nvSpPr>
          <p:cNvPr id="82" name="Google Shape;82;p6">
            <a:extLst xmlns:a="http://schemas.openxmlformats.org/drawingml/2006/main">
              <a:ext uri="{FF2B5EF4-FFF2-40B4-BE49-F238E27FC236}">
                <a16:creationId xmlns:a16="http://schemas.microsoft.com/office/drawing/2014/main" id="{D99D3C70-149D-4231-92DA-E5F8118EEE6D}"/>
              </a:ext>
            </a:extLst>
          </p:cNvPr>
          <p:cNvSpPr>
            <a:spLocks xmlns:a="http://schemas.openxmlformats.org/drawingml/2006/main" noGrp="1"/>
          </p:cNvSpPr>
          <p:nvPr/>
        </p:nvSpPr>
        <p:spPr>
          <a:xfrm xmlns:a="http://schemas.openxmlformats.org/drawingml/2006/main">
            <a:off x="941832" y="200253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The steps are unclear, incomplete, or inconsistent.</a:t>
            </a:r>
          </a:p>
        </p:txBody>
      </p:sp>
      <p:sp>
        <p:nvSpPr>
          <p:cNvPr id="83" name="Google Shape;83;p6">
            <a:extLst xmlns:a="http://schemas.openxmlformats.org/drawingml/2006/main">
              <a:ext uri="{FF2B5EF4-FFF2-40B4-BE49-F238E27FC236}">
                <a16:creationId xmlns:a16="http://schemas.microsoft.com/office/drawing/2014/main" id="{E3C14FEB-1A6B-4A13-B49A-C5A975D6FFF9}"/>
              </a:ext>
            </a:extLst>
          </p:cNvPr>
          <p:cNvSpPr>
            <a:spLocks xmlns:a="http://schemas.openxmlformats.org/drawingml/2006/main" noGrp="1"/>
          </p:cNvSpPr>
          <p:nvPr/>
        </p:nvSpPr>
        <p:spPr>
          <a:xfrm xmlns:a="http://schemas.openxmlformats.org/drawingml/2006/main">
            <a:off x="6263640" y="160020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84" name="Google Shape;84;p6">
            <a:extLst xmlns:a="http://schemas.openxmlformats.org/drawingml/2006/main">
              <a:ext uri="{FF2B5EF4-FFF2-40B4-BE49-F238E27FC236}">
                <a16:creationId xmlns:a16="http://schemas.microsoft.com/office/drawing/2014/main" id="{8AD8E419-45D8-4B39-BAD5-46066D4D5EC5}"/>
              </a:ext>
            </a:extLst>
          </p:cNvPr>
          <p:cNvSpPr>
            <a:spLocks xmlns:a="http://schemas.openxmlformats.org/drawingml/2006/main" noGrp="1"/>
          </p:cNvSpPr>
          <p:nvPr/>
        </p:nvSpPr>
        <p:spPr>
          <a:xfrm xmlns:a="http://schemas.openxmlformats.org/drawingml/2006/main">
            <a:off x="6428232" y="172821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MEASUREMENT</a:t>
            </a:r>
          </a:p>
        </p:txBody>
      </p:sp>
      <p:sp>
        <p:nvSpPr>
          <p:cNvPr id="85" name="Google Shape;85;p6">
            <a:extLst xmlns:a="http://schemas.openxmlformats.org/drawingml/2006/main">
              <a:ext uri="{FF2B5EF4-FFF2-40B4-BE49-F238E27FC236}">
                <a16:creationId xmlns:a16="http://schemas.microsoft.com/office/drawing/2014/main" id="{54BAF9EF-ACF8-45A1-A5F5-3757C55B640A}"/>
              </a:ext>
            </a:extLst>
          </p:cNvPr>
          <p:cNvSpPr>
            <a:spLocks xmlns:a="http://schemas.openxmlformats.org/drawingml/2006/main" noGrp="1"/>
          </p:cNvSpPr>
          <p:nvPr/>
        </p:nvSpPr>
        <p:spPr>
          <a:xfrm xmlns:a="http://schemas.openxmlformats.org/drawingml/2006/main">
            <a:off x="6428232" y="200253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The tool or method does not capture useful data.</a:t>
            </a:r>
          </a:p>
        </p:txBody>
      </p:sp>
      <p:sp>
        <p:nvSpPr>
          <p:cNvPr id="86" name="Google Shape;86;p6">
            <a:extLst xmlns:a="http://schemas.openxmlformats.org/drawingml/2006/main">
              <a:ext uri="{FF2B5EF4-FFF2-40B4-BE49-F238E27FC236}">
                <a16:creationId xmlns:a16="http://schemas.microsoft.com/office/drawing/2014/main" id="{49A19A20-FD82-4226-9608-DDA4D069CAE0}"/>
              </a:ext>
            </a:extLst>
          </p:cNvPr>
          <p:cNvSpPr>
            <a:spLocks xmlns:a="http://schemas.openxmlformats.org/drawingml/2006/main" noGrp="1"/>
          </p:cNvSpPr>
          <p:nvPr/>
        </p:nvSpPr>
        <p:spPr>
          <a:xfrm xmlns:a="http://schemas.openxmlformats.org/drawingml/2006/main">
            <a:off x="777240" y="292608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87" name="Google Shape;87;p6">
            <a:extLst xmlns:a="http://schemas.openxmlformats.org/drawingml/2006/main">
              <a:ext uri="{FF2B5EF4-FFF2-40B4-BE49-F238E27FC236}">
                <a16:creationId xmlns:a16="http://schemas.microsoft.com/office/drawing/2014/main" id="{0E6A1C4F-2186-4821-9A29-76CEAE709A29}"/>
              </a:ext>
            </a:extLst>
          </p:cNvPr>
          <p:cNvSpPr>
            <a:spLocks xmlns:a="http://schemas.openxmlformats.org/drawingml/2006/main" noGrp="1"/>
          </p:cNvSpPr>
          <p:nvPr/>
        </p:nvSpPr>
        <p:spPr>
          <a:xfrm xmlns:a="http://schemas.openxmlformats.org/drawingml/2006/main">
            <a:off x="941832" y="305409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EQUIPMENT / MATERIALS</a:t>
            </a:r>
          </a:p>
        </p:txBody>
      </p:sp>
      <p:sp>
        <p:nvSpPr>
          <p:cNvPr id="88" name="Google Shape;88;p6">
            <a:extLst xmlns:a="http://schemas.openxmlformats.org/drawingml/2006/main">
              <a:ext uri="{FF2B5EF4-FFF2-40B4-BE49-F238E27FC236}">
                <a16:creationId xmlns:a16="http://schemas.microsoft.com/office/drawing/2014/main" id="{591E8268-6E7F-4A1A-9F25-1A4D2F6F4003}"/>
              </a:ext>
            </a:extLst>
          </p:cNvPr>
          <p:cNvSpPr>
            <a:spLocks xmlns:a="http://schemas.openxmlformats.org/drawingml/2006/main" noGrp="1"/>
          </p:cNvSpPr>
          <p:nvPr/>
        </p:nvSpPr>
        <p:spPr>
          <a:xfrm xmlns:a="http://schemas.openxmlformats.org/drawingml/2006/main">
            <a:off x="941832" y="332841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A part, material, or tool fails or behaves unpredictably.</a:t>
            </a:r>
          </a:p>
        </p:txBody>
      </p:sp>
      <p:sp>
        <p:nvSpPr>
          <p:cNvPr id="89" name="Google Shape;89;p6">
            <a:extLst xmlns:a="http://schemas.openxmlformats.org/drawingml/2006/main">
              <a:ext uri="{FF2B5EF4-FFF2-40B4-BE49-F238E27FC236}">
                <a16:creationId xmlns:a16="http://schemas.microsoft.com/office/drawing/2014/main" id="{8CD1EE22-E2D6-41C6-BC48-C428C5905599}"/>
              </a:ext>
            </a:extLst>
          </p:cNvPr>
          <p:cNvSpPr>
            <a:spLocks xmlns:a="http://schemas.openxmlformats.org/drawingml/2006/main" noGrp="1"/>
          </p:cNvSpPr>
          <p:nvPr/>
        </p:nvSpPr>
        <p:spPr>
          <a:xfrm xmlns:a="http://schemas.openxmlformats.org/drawingml/2006/main">
            <a:off x="6263640" y="292608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90" name="Google Shape;90;p6">
            <a:extLst xmlns:a="http://schemas.openxmlformats.org/drawingml/2006/main">
              <a:ext uri="{FF2B5EF4-FFF2-40B4-BE49-F238E27FC236}">
                <a16:creationId xmlns:a16="http://schemas.microsoft.com/office/drawing/2014/main" id="{0E6279E7-C50B-40A2-B681-A6AB2571D797}"/>
              </a:ext>
            </a:extLst>
          </p:cNvPr>
          <p:cNvSpPr>
            <a:spLocks xmlns:a="http://schemas.openxmlformats.org/drawingml/2006/main" noGrp="1"/>
          </p:cNvSpPr>
          <p:nvPr/>
        </p:nvSpPr>
        <p:spPr>
          <a:xfrm xmlns:a="http://schemas.openxmlformats.org/drawingml/2006/main">
            <a:off x="6428232" y="305409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DESIGN / PROTOTYPE</a:t>
            </a:r>
          </a:p>
        </p:txBody>
      </p:sp>
      <p:sp>
        <p:nvSpPr>
          <p:cNvPr id="91" name="Google Shape;91;p6">
            <a:extLst xmlns:a="http://schemas.openxmlformats.org/drawingml/2006/main">
              <a:ext uri="{FF2B5EF4-FFF2-40B4-BE49-F238E27FC236}">
                <a16:creationId xmlns:a16="http://schemas.microsoft.com/office/drawing/2014/main" id="{8E38C3E6-02D5-4B9F-985C-AD363965825C}"/>
              </a:ext>
            </a:extLst>
          </p:cNvPr>
          <p:cNvSpPr>
            <a:spLocks xmlns:a="http://schemas.openxmlformats.org/drawingml/2006/main" noGrp="1"/>
          </p:cNvSpPr>
          <p:nvPr/>
        </p:nvSpPr>
        <p:spPr>
          <a:xfrm xmlns:a="http://schemas.openxmlformats.org/drawingml/2006/main">
            <a:off x="6428232" y="332841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The build or setup cannot be tested as planned.</a:t>
            </a:r>
          </a:p>
        </p:txBody>
      </p:sp>
      <p:sp>
        <p:nvSpPr>
          <p:cNvPr id="92" name="Google Shape;92;p6">
            <a:extLst xmlns:a="http://schemas.openxmlformats.org/drawingml/2006/main">
              <a:ext uri="{FF2B5EF4-FFF2-40B4-BE49-F238E27FC236}">
                <a16:creationId xmlns:a16="http://schemas.microsoft.com/office/drawing/2014/main" id="{EBCB0876-F3FE-4406-AE80-EE87568B226D}"/>
              </a:ext>
            </a:extLst>
          </p:cNvPr>
          <p:cNvSpPr>
            <a:spLocks xmlns:a="http://schemas.openxmlformats.org/drawingml/2006/main" noGrp="1"/>
          </p:cNvSpPr>
          <p:nvPr/>
        </p:nvSpPr>
        <p:spPr>
          <a:xfrm xmlns:a="http://schemas.openxmlformats.org/drawingml/2006/main">
            <a:off x="777240" y="425196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93" name="Google Shape;93;p6">
            <a:extLst xmlns:a="http://schemas.openxmlformats.org/drawingml/2006/main">
              <a:ext uri="{FF2B5EF4-FFF2-40B4-BE49-F238E27FC236}">
                <a16:creationId xmlns:a16="http://schemas.microsoft.com/office/drawing/2014/main" id="{590AB09D-E7EB-49C2-84B7-9BE055E13EA3}"/>
              </a:ext>
            </a:extLst>
          </p:cNvPr>
          <p:cNvSpPr>
            <a:spLocks xmlns:a="http://schemas.openxmlformats.org/drawingml/2006/main" noGrp="1"/>
          </p:cNvSpPr>
          <p:nvPr/>
        </p:nvSpPr>
        <p:spPr>
          <a:xfrm xmlns:a="http://schemas.openxmlformats.org/drawingml/2006/main">
            <a:off x="941832" y="437997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DATA RECORDING</a:t>
            </a:r>
          </a:p>
        </p:txBody>
      </p:sp>
      <p:sp>
        <p:nvSpPr>
          <p:cNvPr id="94" name="Google Shape;94;p6">
            <a:extLst xmlns:a="http://schemas.openxmlformats.org/drawingml/2006/main">
              <a:ext uri="{FF2B5EF4-FFF2-40B4-BE49-F238E27FC236}">
                <a16:creationId xmlns:a16="http://schemas.microsoft.com/office/drawing/2014/main" id="{A259DC70-3AD9-4CC9-9146-A1820AED945D}"/>
              </a:ext>
            </a:extLst>
          </p:cNvPr>
          <p:cNvSpPr>
            <a:spLocks xmlns:a="http://schemas.openxmlformats.org/drawingml/2006/main" noGrp="1"/>
          </p:cNvSpPr>
          <p:nvPr/>
        </p:nvSpPr>
        <p:spPr>
          <a:xfrm xmlns:a="http://schemas.openxmlformats.org/drawingml/2006/main">
            <a:off x="941832" y="465429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Data exist, but they are not organized or usable.</a:t>
            </a:r>
          </a:p>
        </p:txBody>
      </p:sp>
      <p:sp>
        <p:nvSpPr>
          <p:cNvPr id="95" name="Google Shape;95;p6">
            <a:extLst xmlns:a="http://schemas.openxmlformats.org/drawingml/2006/main">
              <a:ext uri="{FF2B5EF4-FFF2-40B4-BE49-F238E27FC236}">
                <a16:creationId xmlns:a16="http://schemas.microsoft.com/office/drawing/2014/main" id="{ED283C2C-9BEE-4FF0-B9E8-A44E1AE8FB8F}"/>
              </a:ext>
            </a:extLst>
          </p:cNvPr>
          <p:cNvSpPr>
            <a:spLocks xmlns:a="http://schemas.openxmlformats.org/drawingml/2006/main" noGrp="1"/>
          </p:cNvSpPr>
          <p:nvPr/>
        </p:nvSpPr>
        <p:spPr>
          <a:xfrm xmlns:a="http://schemas.openxmlformats.org/drawingml/2006/main">
            <a:off x="6263640" y="425196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96" name="Google Shape;96;p6">
            <a:extLst xmlns:a="http://schemas.openxmlformats.org/drawingml/2006/main">
              <a:ext uri="{FF2B5EF4-FFF2-40B4-BE49-F238E27FC236}">
                <a16:creationId xmlns:a16="http://schemas.microsoft.com/office/drawing/2014/main" id="{B4D59F28-C117-479C-9B9A-0DD6FB80881A}"/>
              </a:ext>
            </a:extLst>
          </p:cNvPr>
          <p:cNvSpPr>
            <a:spLocks xmlns:a="http://schemas.openxmlformats.org/drawingml/2006/main" noGrp="1"/>
          </p:cNvSpPr>
          <p:nvPr/>
        </p:nvSpPr>
        <p:spPr>
          <a:xfrm xmlns:a="http://schemas.openxmlformats.org/drawingml/2006/main">
            <a:off x="6428232" y="437997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TIMELINE / SCOPE</a:t>
            </a:r>
          </a:p>
        </p:txBody>
      </p:sp>
      <p:sp>
        <p:nvSpPr>
          <p:cNvPr id="97" name="Google Shape;97;p6">
            <a:extLst xmlns:a="http://schemas.openxmlformats.org/drawingml/2006/main">
              <a:ext uri="{FF2B5EF4-FFF2-40B4-BE49-F238E27FC236}">
                <a16:creationId xmlns:a16="http://schemas.microsoft.com/office/drawing/2014/main" id="{F20972D0-8E5E-4583-A271-D0C37777BDB9}"/>
              </a:ext>
            </a:extLst>
          </p:cNvPr>
          <p:cNvSpPr>
            <a:spLocks xmlns:a="http://schemas.openxmlformats.org/drawingml/2006/main" noGrp="1"/>
          </p:cNvSpPr>
          <p:nvPr/>
        </p:nvSpPr>
        <p:spPr>
          <a:xfrm xmlns:a="http://schemas.openxmlformats.org/drawingml/2006/main">
            <a:off x="6428232" y="465429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The project is too large for the remaining time.</a:t>
            </a:r>
          </a:p>
        </p:txBody>
      </p:sp>
    </p:spTree>
    <p:extLst>
      <p:ext uri="{BB962C8B-B14F-4D97-AF65-F5344CB8AC3E}">
        <p14:creationId xmlns:p14="http://schemas.microsoft.com/office/powerpoint/2010/main" val="799671966"/>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3" name="Google Shape;103;p7">
            <a:extLst xmlns:a="http://schemas.openxmlformats.org/drawingml/2006/main">
              <a:ext uri="{FF2B5EF4-FFF2-40B4-BE49-F238E27FC236}">
                <a16:creationId xmlns:a16="http://schemas.microsoft.com/office/drawing/2014/main" id="{88E0834E-B2D8-4565-A2C1-E3619234C94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04" name="Google Shape;104;p7">
            <a:extLst xmlns:a="http://schemas.openxmlformats.org/drawingml/2006/main">
              <a:ext uri="{FF2B5EF4-FFF2-40B4-BE49-F238E27FC236}">
                <a16:creationId xmlns:a16="http://schemas.microsoft.com/office/drawing/2014/main" id="{A6F79F72-1AC0-47FC-B8ED-DF8CCF1FCC44}"/>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05" name="Google Shape;105;p7">
            <a:extLst xmlns:a="http://schemas.openxmlformats.org/drawingml/2006/main">
              <a:ext uri="{FF2B5EF4-FFF2-40B4-BE49-F238E27FC236}">
                <a16:creationId xmlns:a16="http://schemas.microsoft.com/office/drawing/2014/main" id="{C88BF4CE-C2CA-4742-A060-09FB8BD7A732}"/>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06" name="Google Shape;106;p7">
            <a:extLst xmlns:a="http://schemas.openxmlformats.org/drawingml/2006/main">
              <a:ext uri="{FF2B5EF4-FFF2-40B4-BE49-F238E27FC236}">
                <a16:creationId xmlns:a16="http://schemas.microsoft.com/office/drawing/2014/main" id="{C04267D7-E012-4469-BF5D-54076A449517}"/>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DIAGNOSE BEFORE YOU FIX</a:t>
            </a:r>
          </a:p>
        </p:txBody>
      </p:sp>
      <p:sp>
        <p:nvSpPr>
          <p:cNvPr id="107" name="Google Shape;107;p7">
            <a:extLst xmlns:a="http://schemas.openxmlformats.org/drawingml/2006/main">
              <a:ext uri="{FF2B5EF4-FFF2-40B4-BE49-F238E27FC236}">
                <a16:creationId xmlns:a16="http://schemas.microsoft.com/office/drawing/2014/main" id="{6CB0A55E-5A2C-4E48-AB16-D03231E06428}"/>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08" name="Google Shape;108;p7">
            <a:extLst xmlns:a="http://schemas.openxmlformats.org/drawingml/2006/main">
              <a:ext uri="{FF2B5EF4-FFF2-40B4-BE49-F238E27FC236}">
                <a16:creationId xmlns:a16="http://schemas.microsoft.com/office/drawing/2014/main" id="{B3B1E27B-2C62-46C5-98EE-CBCA2DF8541A}"/>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Do not change everything at once.</a:t>
            </a:r>
          </a:p>
        </p:txBody>
      </p:sp>
      <p:cxnSp>
        <p:nvCxnSpPr>
          <p:cNvPr id="140" name="Google Shape;109;p7"/>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110" name="Google Shape;110;p7">
            <a:extLst xmlns:a="http://schemas.openxmlformats.org/drawingml/2006/main">
              <a:ext uri="{FF2B5EF4-FFF2-40B4-BE49-F238E27FC236}">
                <a16:creationId xmlns:a16="http://schemas.microsoft.com/office/drawing/2014/main" id="{E2547F22-CADD-4FD4-AF34-AA289743F1F5}"/>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05</a:t>
            </a:r>
          </a:p>
        </p:txBody>
      </p:sp>
      <p:pic>
        <p:nvPicPr>
          <p:cNvPr id="142" name="Google Shape;111;p7"/>
          <p:cNvPicPr>
            <a:picLocks xmlns:a="http://schemas.openxmlformats.org/drawingml/2006/main" noChangeAspect="1"/>
          </p:cNvPicPr>
          <p:nvPr/>
        </p:nvPicPr>
        <p:blipFill rotWithShape="1">
          <a:blip xmlns:r="http://schemas.openxmlformats.org/officeDocument/2006/relationships" xmlns:a="http://schemas.openxmlformats.org/drawingml/2006/main" r:embed="Rf57ca65675ca4c40">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112" name="Google Shape;112;p7">
            <a:extLst xmlns:a="http://schemas.openxmlformats.org/drawingml/2006/main">
              <a:ext uri="{FF2B5EF4-FFF2-40B4-BE49-F238E27FC236}">
                <a16:creationId xmlns:a16="http://schemas.microsoft.com/office/drawing/2014/main" id="{AC75D491-2E40-45F7-8019-D44585BCC382}"/>
              </a:ext>
            </a:extLst>
          </p:cNvPr>
          <p:cNvSpPr>
            <a:spLocks xmlns:a="http://schemas.openxmlformats.org/drawingml/2006/main" noGrp="1"/>
          </p:cNvSpPr>
          <p:nvPr/>
        </p:nvSpPr>
        <p:spPr>
          <a:xfrm xmlns:a="http://schemas.openxmlformats.org/drawingml/2006/main">
            <a:off x="822960" y="1828800"/>
            <a:ext cx="621792" cy="621792"/>
          </a:xfrm>
          <a:prstGeom xmlns:a="http://schemas.openxmlformats.org/drawingml/2006/main" prst="ellipse">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13" name="Google Shape;113;p7">
            <a:extLst xmlns:a="http://schemas.openxmlformats.org/drawingml/2006/main">
              <a:ext uri="{FF2B5EF4-FFF2-40B4-BE49-F238E27FC236}">
                <a16:creationId xmlns:a16="http://schemas.microsoft.com/office/drawing/2014/main" id="{F3543F18-99C5-421C-A704-250766B3A612}"/>
              </a:ext>
            </a:extLst>
          </p:cNvPr>
          <p:cNvSpPr>
            <a:spLocks xmlns:a="http://schemas.openxmlformats.org/drawingml/2006/main" noGrp="1"/>
          </p:cNvSpPr>
          <p:nvPr/>
        </p:nvSpPr>
        <p:spPr>
          <a:xfrm xmlns:a="http://schemas.openxmlformats.org/drawingml/2006/main">
            <a:off x="1014984" y="1975104"/>
            <a:ext cx="228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1" i="0" u="none" cap="none">
                <a:solidFill>
                  <a:srgbClr val="F7F7F7"/>
                </a:solidFill>
                <a:latin typeface="Arial"/>
                <a:ea typeface="Arial"/>
                <a:cs typeface="Arial"/>
              </a:rPr>
              <a:t>1</a:t>
            </a:r>
          </a:p>
        </p:txBody>
      </p:sp>
      <p:sp>
        <p:nvSpPr>
          <p:cNvPr id="114" name="Google Shape;114;p7">
            <a:extLst xmlns:a="http://schemas.openxmlformats.org/drawingml/2006/main">
              <a:ext uri="{FF2B5EF4-FFF2-40B4-BE49-F238E27FC236}">
                <a16:creationId xmlns:a16="http://schemas.microsoft.com/office/drawing/2014/main" id="{B347EECF-2EC4-42EF-BCC0-EB7795C49AC9}"/>
              </a:ext>
            </a:extLst>
          </p:cNvPr>
          <p:cNvSpPr>
            <a:spLocks xmlns:a="http://schemas.openxmlformats.org/drawingml/2006/main" noGrp="1"/>
          </p:cNvSpPr>
          <p:nvPr/>
        </p:nvSpPr>
        <p:spPr>
          <a:xfrm xmlns:a="http://schemas.openxmlformats.org/drawingml/2006/main">
            <a:off x="1600200" y="1792224"/>
            <a:ext cx="19202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300"/>
              <a:buFont typeface="Arial"/>
              <a:buNone/>
            </a:pPr>
            <a:r>
              <a:rPr sz="1300" b="1" i="0" u="none" cap="none">
                <a:solidFill>
                  <a:srgbClr val="F7F7F7"/>
                </a:solidFill>
                <a:latin typeface="Arial"/>
                <a:ea typeface="Arial"/>
                <a:cs typeface="Arial"/>
              </a:rPr>
              <a:t>OBSERVE</a:t>
            </a:r>
          </a:p>
        </p:txBody>
      </p:sp>
      <p:sp>
        <p:nvSpPr>
          <p:cNvPr id="115" name="Google Shape;115;p7">
            <a:extLst xmlns:a="http://schemas.openxmlformats.org/drawingml/2006/main">
              <a:ext uri="{FF2B5EF4-FFF2-40B4-BE49-F238E27FC236}">
                <a16:creationId xmlns:a16="http://schemas.microsoft.com/office/drawing/2014/main" id="{4CE109E3-85B3-4660-B8F3-66D47920315C}"/>
              </a:ext>
            </a:extLst>
          </p:cNvPr>
          <p:cNvSpPr>
            <a:spLocks xmlns:a="http://schemas.openxmlformats.org/drawingml/2006/main" noGrp="1"/>
          </p:cNvSpPr>
          <p:nvPr/>
        </p:nvSpPr>
        <p:spPr>
          <a:xfrm xmlns:a="http://schemas.openxmlformats.org/drawingml/2006/main">
            <a:off x="1600200" y="2121408"/>
            <a:ext cx="18745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300"/>
              <a:buFont typeface="Arial"/>
              <a:buNone/>
            </a:pPr>
            <a:r>
              <a:rPr sz="1300" b="0" i="0" u="none" cap="none">
                <a:solidFill>
                  <a:srgbClr val="A6A6A6"/>
                </a:solidFill>
                <a:latin typeface="Arial"/>
                <a:ea typeface="Arial"/>
                <a:cs typeface="Arial"/>
              </a:rPr>
              <a:t>What exactly happened?</a:t>
            </a:r>
          </a:p>
        </p:txBody>
      </p:sp>
      <p:cxnSp>
        <p:nvCxnSpPr>
          <p:cNvPr id="147" name="Google Shape;116;p7"/>
          <p:cNvCxnSpPr/>
          <p:nvPr/>
        </p:nvCxnSpPr>
        <p:spPr>
          <a:xfrm xmlns:a="http://schemas.openxmlformats.org/drawingml/2006/main">
            <a:off x="1755648" y="2139696"/>
            <a:ext cx="1700784" cy="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sp>
        <p:nvSpPr>
          <p:cNvPr id="117" name="Google Shape;117;p7">
            <a:extLst xmlns:a="http://schemas.openxmlformats.org/drawingml/2006/main">
              <a:ext uri="{FF2B5EF4-FFF2-40B4-BE49-F238E27FC236}">
                <a16:creationId xmlns:a16="http://schemas.microsoft.com/office/drawing/2014/main" id="{CAF723FF-C0CD-45BD-9C44-61A9F3818438}"/>
              </a:ext>
            </a:extLst>
          </p:cNvPr>
          <p:cNvSpPr>
            <a:spLocks xmlns:a="http://schemas.openxmlformats.org/drawingml/2006/main" noGrp="1"/>
          </p:cNvSpPr>
          <p:nvPr/>
        </p:nvSpPr>
        <p:spPr>
          <a:xfrm xmlns:a="http://schemas.openxmlformats.org/drawingml/2006/main">
            <a:off x="3657600" y="1828800"/>
            <a:ext cx="621792" cy="621792"/>
          </a:xfrm>
          <a:prstGeom xmlns:a="http://schemas.openxmlformats.org/drawingml/2006/main" prst="ellipse">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18" name="Google Shape;118;p7">
            <a:extLst xmlns:a="http://schemas.openxmlformats.org/drawingml/2006/main">
              <a:ext uri="{FF2B5EF4-FFF2-40B4-BE49-F238E27FC236}">
                <a16:creationId xmlns:a16="http://schemas.microsoft.com/office/drawing/2014/main" id="{2AA57073-8211-471C-86CD-4A0F36196CBA}"/>
              </a:ext>
            </a:extLst>
          </p:cNvPr>
          <p:cNvSpPr>
            <a:spLocks xmlns:a="http://schemas.openxmlformats.org/drawingml/2006/main" noGrp="1"/>
          </p:cNvSpPr>
          <p:nvPr/>
        </p:nvSpPr>
        <p:spPr>
          <a:xfrm xmlns:a="http://schemas.openxmlformats.org/drawingml/2006/main">
            <a:off x="3849624" y="1975104"/>
            <a:ext cx="228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1" i="0" u="none" cap="none">
                <a:solidFill>
                  <a:srgbClr val="F7F7F7"/>
                </a:solidFill>
                <a:latin typeface="Arial"/>
                <a:ea typeface="Arial"/>
                <a:cs typeface="Arial"/>
              </a:rPr>
              <a:t>2</a:t>
            </a:r>
          </a:p>
        </p:txBody>
      </p:sp>
      <p:sp>
        <p:nvSpPr>
          <p:cNvPr id="119" name="Google Shape;119;p7">
            <a:extLst xmlns:a="http://schemas.openxmlformats.org/drawingml/2006/main">
              <a:ext uri="{FF2B5EF4-FFF2-40B4-BE49-F238E27FC236}">
                <a16:creationId xmlns:a16="http://schemas.microsoft.com/office/drawing/2014/main" id="{9EA2AA78-4E1B-4335-A5D2-FE347E0A5CC5}"/>
              </a:ext>
            </a:extLst>
          </p:cNvPr>
          <p:cNvSpPr>
            <a:spLocks xmlns:a="http://schemas.openxmlformats.org/drawingml/2006/main" noGrp="1"/>
          </p:cNvSpPr>
          <p:nvPr/>
        </p:nvSpPr>
        <p:spPr>
          <a:xfrm xmlns:a="http://schemas.openxmlformats.org/drawingml/2006/main">
            <a:off x="4434840" y="1792224"/>
            <a:ext cx="19202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300"/>
              <a:buFont typeface="Arial"/>
              <a:buNone/>
            </a:pPr>
            <a:r>
              <a:rPr sz="1300" b="1" i="0" u="none" cap="none">
                <a:solidFill>
                  <a:srgbClr val="F7F7F7"/>
                </a:solidFill>
                <a:latin typeface="Arial"/>
                <a:ea typeface="Arial"/>
                <a:cs typeface="Arial"/>
              </a:rPr>
              <a:t>EVIDENCE</a:t>
            </a:r>
          </a:p>
        </p:txBody>
      </p:sp>
      <p:sp>
        <p:nvSpPr>
          <p:cNvPr id="120" name="Google Shape;120;p7">
            <a:extLst xmlns:a="http://schemas.openxmlformats.org/drawingml/2006/main">
              <a:ext uri="{FF2B5EF4-FFF2-40B4-BE49-F238E27FC236}">
                <a16:creationId xmlns:a16="http://schemas.microsoft.com/office/drawing/2014/main" id="{F4B1226F-72ED-4F34-BCDB-EB8DDBF60D5E}"/>
              </a:ext>
            </a:extLst>
          </p:cNvPr>
          <p:cNvSpPr>
            <a:spLocks xmlns:a="http://schemas.openxmlformats.org/drawingml/2006/main" noGrp="1"/>
          </p:cNvSpPr>
          <p:nvPr/>
        </p:nvSpPr>
        <p:spPr>
          <a:xfrm xmlns:a="http://schemas.openxmlformats.org/drawingml/2006/main">
            <a:off x="4434840" y="2121408"/>
            <a:ext cx="18745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300"/>
              <a:buFont typeface="Arial"/>
              <a:buNone/>
            </a:pPr>
            <a:r>
              <a:rPr sz="1300" b="0" i="0" u="none" cap="none">
                <a:solidFill>
                  <a:srgbClr val="A6A6A6"/>
                </a:solidFill>
                <a:latin typeface="Arial"/>
                <a:ea typeface="Arial"/>
                <a:cs typeface="Arial"/>
              </a:rPr>
              <a:t>What proof shows this is the issue?</a:t>
            </a:r>
          </a:p>
        </p:txBody>
      </p:sp>
      <p:cxnSp>
        <p:nvCxnSpPr>
          <p:cNvPr id="152" name="Google Shape;121;p7"/>
          <p:cNvCxnSpPr/>
          <p:nvPr/>
        </p:nvCxnSpPr>
        <p:spPr>
          <a:xfrm xmlns:a="http://schemas.openxmlformats.org/drawingml/2006/main">
            <a:off x="4590288" y="2139696"/>
            <a:ext cx="1700784" cy="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sp>
        <p:nvSpPr>
          <p:cNvPr id="122" name="Google Shape;122;p7">
            <a:extLst xmlns:a="http://schemas.openxmlformats.org/drawingml/2006/main">
              <a:ext uri="{FF2B5EF4-FFF2-40B4-BE49-F238E27FC236}">
                <a16:creationId xmlns:a16="http://schemas.microsoft.com/office/drawing/2014/main" id="{6110C557-4583-4D82-A9BC-E01CE3881CA1}"/>
              </a:ext>
            </a:extLst>
          </p:cNvPr>
          <p:cNvSpPr>
            <a:spLocks xmlns:a="http://schemas.openxmlformats.org/drawingml/2006/main" noGrp="1"/>
          </p:cNvSpPr>
          <p:nvPr/>
        </p:nvSpPr>
        <p:spPr>
          <a:xfrm xmlns:a="http://schemas.openxmlformats.org/drawingml/2006/main">
            <a:off x="6492240" y="1828800"/>
            <a:ext cx="621792" cy="621792"/>
          </a:xfrm>
          <a:prstGeom xmlns:a="http://schemas.openxmlformats.org/drawingml/2006/main" prst="ellipse">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23" name="Google Shape;123;p7">
            <a:extLst xmlns:a="http://schemas.openxmlformats.org/drawingml/2006/main">
              <a:ext uri="{FF2B5EF4-FFF2-40B4-BE49-F238E27FC236}">
                <a16:creationId xmlns:a16="http://schemas.microsoft.com/office/drawing/2014/main" id="{C5A0B972-3AA7-437B-B3BF-8F20CB7EA92F}"/>
              </a:ext>
            </a:extLst>
          </p:cNvPr>
          <p:cNvSpPr>
            <a:spLocks xmlns:a="http://schemas.openxmlformats.org/drawingml/2006/main" noGrp="1"/>
          </p:cNvSpPr>
          <p:nvPr/>
        </p:nvSpPr>
        <p:spPr>
          <a:xfrm xmlns:a="http://schemas.openxmlformats.org/drawingml/2006/main">
            <a:off x="6684264" y="1975104"/>
            <a:ext cx="228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1" i="0" u="none" cap="none">
                <a:solidFill>
                  <a:srgbClr val="F7F7F7"/>
                </a:solidFill>
                <a:latin typeface="Arial"/>
                <a:ea typeface="Arial"/>
                <a:cs typeface="Arial"/>
              </a:rPr>
              <a:t>3</a:t>
            </a:r>
          </a:p>
        </p:txBody>
      </p:sp>
      <p:sp>
        <p:nvSpPr>
          <p:cNvPr id="124" name="Google Shape;124;p7">
            <a:extLst xmlns:a="http://schemas.openxmlformats.org/drawingml/2006/main">
              <a:ext uri="{FF2B5EF4-FFF2-40B4-BE49-F238E27FC236}">
                <a16:creationId xmlns:a16="http://schemas.microsoft.com/office/drawing/2014/main" id="{74B21914-5625-40D0-BB69-49ED868F0332}"/>
              </a:ext>
            </a:extLst>
          </p:cNvPr>
          <p:cNvSpPr>
            <a:spLocks xmlns:a="http://schemas.openxmlformats.org/drawingml/2006/main" noGrp="1"/>
          </p:cNvSpPr>
          <p:nvPr/>
        </p:nvSpPr>
        <p:spPr>
          <a:xfrm xmlns:a="http://schemas.openxmlformats.org/drawingml/2006/main">
            <a:off x="7269480" y="1792224"/>
            <a:ext cx="19202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300"/>
              <a:buFont typeface="Arial"/>
              <a:buNone/>
            </a:pPr>
            <a:r>
              <a:rPr sz="1300" b="1" i="0" u="none" cap="none">
                <a:solidFill>
                  <a:srgbClr val="F7F7F7"/>
                </a:solidFill>
                <a:latin typeface="Arial"/>
                <a:ea typeface="Arial"/>
                <a:cs typeface="Arial"/>
              </a:rPr>
              <a:t>CAUSE</a:t>
            </a:r>
          </a:p>
        </p:txBody>
      </p:sp>
      <p:sp>
        <p:nvSpPr>
          <p:cNvPr id="125" name="Google Shape;125;p7">
            <a:extLst xmlns:a="http://schemas.openxmlformats.org/drawingml/2006/main">
              <a:ext uri="{FF2B5EF4-FFF2-40B4-BE49-F238E27FC236}">
                <a16:creationId xmlns:a16="http://schemas.microsoft.com/office/drawing/2014/main" id="{F63A0819-B40B-49B8-B6F0-B8F4AEF6381D}"/>
              </a:ext>
            </a:extLst>
          </p:cNvPr>
          <p:cNvSpPr>
            <a:spLocks xmlns:a="http://schemas.openxmlformats.org/drawingml/2006/main" noGrp="1"/>
          </p:cNvSpPr>
          <p:nvPr/>
        </p:nvSpPr>
        <p:spPr>
          <a:xfrm xmlns:a="http://schemas.openxmlformats.org/drawingml/2006/main">
            <a:off x="7269480" y="2121408"/>
            <a:ext cx="18745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300"/>
              <a:buFont typeface="Arial"/>
              <a:buNone/>
            </a:pPr>
            <a:r>
              <a:rPr sz="1300" b="0" i="0" u="none" cap="none">
                <a:solidFill>
                  <a:srgbClr val="A6A6A6"/>
                </a:solidFill>
                <a:latin typeface="Arial"/>
                <a:ea typeface="Arial"/>
                <a:cs typeface="Arial"/>
              </a:rPr>
              <a:t>What might explain it?</a:t>
            </a:r>
          </a:p>
        </p:txBody>
      </p:sp>
      <p:cxnSp>
        <p:nvCxnSpPr>
          <p:cNvPr id="157" name="Google Shape;126;p7"/>
          <p:cNvCxnSpPr/>
          <p:nvPr/>
        </p:nvCxnSpPr>
        <p:spPr>
          <a:xfrm xmlns:a="http://schemas.openxmlformats.org/drawingml/2006/main">
            <a:off x="7424928" y="2139696"/>
            <a:ext cx="1700784" cy="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sp>
        <p:nvSpPr>
          <p:cNvPr id="127" name="Google Shape;127;p7">
            <a:extLst xmlns:a="http://schemas.openxmlformats.org/drawingml/2006/main">
              <a:ext uri="{FF2B5EF4-FFF2-40B4-BE49-F238E27FC236}">
                <a16:creationId xmlns:a16="http://schemas.microsoft.com/office/drawing/2014/main" id="{6F6B4F41-54DA-455C-8F42-8EA406ABB498}"/>
              </a:ext>
            </a:extLst>
          </p:cNvPr>
          <p:cNvSpPr>
            <a:spLocks xmlns:a="http://schemas.openxmlformats.org/drawingml/2006/main" noGrp="1"/>
          </p:cNvSpPr>
          <p:nvPr/>
        </p:nvSpPr>
        <p:spPr>
          <a:xfrm xmlns:a="http://schemas.openxmlformats.org/drawingml/2006/main">
            <a:off x="9326880" y="1828800"/>
            <a:ext cx="621792" cy="621792"/>
          </a:xfrm>
          <a:prstGeom xmlns:a="http://schemas.openxmlformats.org/drawingml/2006/main" prst="ellipse">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28" name="Google Shape;128;p7">
            <a:extLst xmlns:a="http://schemas.openxmlformats.org/drawingml/2006/main">
              <a:ext uri="{FF2B5EF4-FFF2-40B4-BE49-F238E27FC236}">
                <a16:creationId xmlns:a16="http://schemas.microsoft.com/office/drawing/2014/main" id="{77426792-3498-4824-A1FD-3A192824EAA0}"/>
              </a:ext>
            </a:extLst>
          </p:cNvPr>
          <p:cNvSpPr>
            <a:spLocks xmlns:a="http://schemas.openxmlformats.org/drawingml/2006/main" noGrp="1"/>
          </p:cNvSpPr>
          <p:nvPr/>
        </p:nvSpPr>
        <p:spPr>
          <a:xfrm xmlns:a="http://schemas.openxmlformats.org/drawingml/2006/main">
            <a:off x="9518904" y="1975104"/>
            <a:ext cx="228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1" i="0" u="none" cap="none">
                <a:solidFill>
                  <a:srgbClr val="F7F7F7"/>
                </a:solidFill>
                <a:latin typeface="Arial"/>
                <a:ea typeface="Arial"/>
                <a:cs typeface="Arial"/>
              </a:rPr>
              <a:t>4</a:t>
            </a:r>
          </a:p>
        </p:txBody>
      </p:sp>
      <p:sp>
        <p:nvSpPr>
          <p:cNvPr id="129" name="Google Shape;129;p7">
            <a:extLst xmlns:a="http://schemas.openxmlformats.org/drawingml/2006/main">
              <a:ext uri="{FF2B5EF4-FFF2-40B4-BE49-F238E27FC236}">
                <a16:creationId xmlns:a16="http://schemas.microsoft.com/office/drawing/2014/main" id="{D4D9A269-0FB1-4EC9-84A7-5B36DC4C2CA4}"/>
              </a:ext>
            </a:extLst>
          </p:cNvPr>
          <p:cNvSpPr>
            <a:spLocks xmlns:a="http://schemas.openxmlformats.org/drawingml/2006/main" noGrp="1"/>
          </p:cNvSpPr>
          <p:nvPr/>
        </p:nvSpPr>
        <p:spPr>
          <a:xfrm xmlns:a="http://schemas.openxmlformats.org/drawingml/2006/main">
            <a:off x="10104120" y="1792224"/>
            <a:ext cx="19202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300"/>
              <a:buFont typeface="Arial"/>
              <a:buNone/>
            </a:pPr>
            <a:r>
              <a:rPr sz="1300" b="1" i="0" u="none" cap="none">
                <a:solidFill>
                  <a:srgbClr val="F7F7F7"/>
                </a:solidFill>
                <a:latin typeface="Arial"/>
                <a:ea typeface="Arial"/>
                <a:cs typeface="Arial"/>
              </a:rPr>
              <a:t>ACTION</a:t>
            </a:r>
          </a:p>
        </p:txBody>
      </p:sp>
      <p:sp>
        <p:nvSpPr>
          <p:cNvPr id="130" name="Google Shape;130;p7">
            <a:extLst xmlns:a="http://schemas.openxmlformats.org/drawingml/2006/main">
              <a:ext uri="{FF2B5EF4-FFF2-40B4-BE49-F238E27FC236}">
                <a16:creationId xmlns:a16="http://schemas.microsoft.com/office/drawing/2014/main" id="{BF5DF0E9-DA42-4FCE-A845-866686660797}"/>
              </a:ext>
            </a:extLst>
          </p:cNvPr>
          <p:cNvSpPr>
            <a:spLocks xmlns:a="http://schemas.openxmlformats.org/drawingml/2006/main" noGrp="1"/>
          </p:cNvSpPr>
          <p:nvPr/>
        </p:nvSpPr>
        <p:spPr>
          <a:xfrm xmlns:a="http://schemas.openxmlformats.org/drawingml/2006/main">
            <a:off x="10104120" y="2121408"/>
            <a:ext cx="18745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300"/>
              <a:buFont typeface="Arial"/>
              <a:buNone/>
            </a:pPr>
            <a:r>
              <a:rPr sz="1300" b="0" i="0" u="none" cap="none">
                <a:solidFill>
                  <a:srgbClr val="A6A6A6"/>
                </a:solidFill>
                <a:latin typeface="Arial"/>
                <a:ea typeface="Arial"/>
                <a:cs typeface="Arial"/>
              </a:rPr>
              <a:t>What single change will you test?</a:t>
            </a:r>
          </a:p>
        </p:txBody>
      </p:sp>
      <p:sp>
        <p:nvSpPr>
          <p:cNvPr id="131" name="Google Shape;131;p7">
            <a:extLst xmlns:a="http://schemas.openxmlformats.org/drawingml/2006/main">
              <a:ext uri="{FF2B5EF4-FFF2-40B4-BE49-F238E27FC236}">
                <a16:creationId xmlns:a16="http://schemas.microsoft.com/office/drawing/2014/main" id="{47634CB5-61D8-48D6-A667-4F97803BF93D}"/>
              </a:ext>
            </a:extLst>
          </p:cNvPr>
          <p:cNvSpPr>
            <a:spLocks xmlns:a="http://schemas.openxmlformats.org/drawingml/2006/main" noGrp="1"/>
          </p:cNvSpPr>
          <p:nvPr/>
        </p:nvSpPr>
        <p:spPr>
          <a:xfrm xmlns:a="http://schemas.openxmlformats.org/drawingml/2006/main">
            <a:off x="1143000" y="3977640"/>
            <a:ext cx="9921240" cy="1234440"/>
          </a:xfrm>
          <a:prstGeom xmlns:a="http://schemas.openxmlformats.org/drawingml/2006/main" prst="roundRect">
            <a:avLst>
              <a:gd name="adj" fmla="val 5926"/>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32" name="Google Shape;132;p7">
            <a:extLst xmlns:a="http://schemas.openxmlformats.org/drawingml/2006/main">
              <a:ext uri="{FF2B5EF4-FFF2-40B4-BE49-F238E27FC236}">
                <a16:creationId xmlns:a16="http://schemas.microsoft.com/office/drawing/2014/main" id="{7DDAE94E-79FC-4D32-B4BE-B24CA75CD0A2}"/>
              </a:ext>
            </a:extLst>
          </p:cNvPr>
          <p:cNvSpPr>
            <a:spLocks xmlns:a="http://schemas.openxmlformats.org/drawingml/2006/main" noGrp="1"/>
          </p:cNvSpPr>
          <p:nvPr/>
        </p:nvSpPr>
        <p:spPr>
          <a:xfrm xmlns:a="http://schemas.openxmlformats.org/drawingml/2006/main">
            <a:off x="1298448" y="4105656"/>
            <a:ext cx="9610344"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000"/>
              <a:buFont typeface="Arial"/>
              <a:buNone/>
            </a:pPr>
            <a:r>
              <a:rPr sz="2000" b="0" i="0" u="none" cap="none">
                <a:solidFill>
                  <a:srgbClr val="F7F7F7"/>
                </a:solidFill>
                <a:latin typeface="Arial"/>
                <a:ea typeface="Arial"/>
                <a:cs typeface="Arial"/>
              </a:rPr>
              <a:t>Bad troubleshooting changes several variables at once. Good troubleshooting changes one thing, records it, and checks whether it worked.</a:t>
            </a:r>
          </a:p>
        </p:txBody>
      </p:sp>
    </p:spTree>
    <p:extLst>
      <p:ext uri="{BB962C8B-B14F-4D97-AF65-F5344CB8AC3E}">
        <p14:creationId xmlns:p14="http://schemas.microsoft.com/office/powerpoint/2010/main" val="2111347695"/>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8" name="Google Shape;138;p8">
            <a:extLst xmlns:a="http://schemas.openxmlformats.org/drawingml/2006/main">
              <a:ext uri="{FF2B5EF4-FFF2-40B4-BE49-F238E27FC236}">
                <a16:creationId xmlns:a16="http://schemas.microsoft.com/office/drawing/2014/main" id="{F6A83CA2-58BD-4085-8C48-D6BC114A612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39" name="Google Shape;139;p8">
            <a:extLst xmlns:a="http://schemas.openxmlformats.org/drawingml/2006/main">
              <a:ext uri="{FF2B5EF4-FFF2-40B4-BE49-F238E27FC236}">
                <a16:creationId xmlns:a16="http://schemas.microsoft.com/office/drawing/2014/main" id="{22AD901C-F79E-471A-940B-099F40BCA9D7}"/>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0" name="Google Shape;140;p8">
            <a:extLst xmlns:a="http://schemas.openxmlformats.org/drawingml/2006/main">
              <a:ext uri="{FF2B5EF4-FFF2-40B4-BE49-F238E27FC236}">
                <a16:creationId xmlns:a16="http://schemas.microsoft.com/office/drawing/2014/main" id="{01931803-A5D1-48E1-AB44-A936D8AE7B7D}"/>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1" name="Google Shape;141;p8">
            <a:extLst xmlns:a="http://schemas.openxmlformats.org/drawingml/2006/main">
              <a:ext uri="{FF2B5EF4-FFF2-40B4-BE49-F238E27FC236}">
                <a16:creationId xmlns:a16="http://schemas.microsoft.com/office/drawing/2014/main" id="{52F22474-20D2-4DC6-8731-08E258D25299}"/>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PROCEDURAL PROBLEMS</a:t>
            </a:r>
          </a:p>
        </p:txBody>
      </p:sp>
      <p:sp>
        <p:nvSpPr>
          <p:cNvPr id="142" name="Google Shape;142;p8">
            <a:extLst xmlns:a="http://schemas.openxmlformats.org/drawingml/2006/main">
              <a:ext uri="{FF2B5EF4-FFF2-40B4-BE49-F238E27FC236}">
                <a16:creationId xmlns:a16="http://schemas.microsoft.com/office/drawing/2014/main" id="{FC0198B3-F4F4-4648-B33E-580420CB7337}"/>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3" name="Google Shape;143;p8">
            <a:extLst xmlns:a="http://schemas.openxmlformats.org/drawingml/2006/main">
              <a:ext uri="{FF2B5EF4-FFF2-40B4-BE49-F238E27FC236}">
                <a16:creationId xmlns:a16="http://schemas.microsoft.com/office/drawing/2014/main" id="{95246E71-208B-47D2-86C1-8E287C722976}"/>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The steps do not produce consistent, repeatable work.</a:t>
            </a:r>
          </a:p>
        </p:txBody>
      </p:sp>
      <p:cxnSp>
        <p:nvCxnSpPr>
          <p:cNvPr id="160" name="Google Shape;144;p8"/>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145" name="Google Shape;145;p8">
            <a:extLst xmlns:a="http://schemas.openxmlformats.org/drawingml/2006/main">
              <a:ext uri="{FF2B5EF4-FFF2-40B4-BE49-F238E27FC236}">
                <a16:creationId xmlns:a16="http://schemas.microsoft.com/office/drawing/2014/main" id="{D49D155D-CE46-4B30-B64C-5DBB028C2051}"/>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06</a:t>
            </a:r>
          </a:p>
        </p:txBody>
      </p:sp>
      <p:pic>
        <p:nvPicPr>
          <p:cNvPr id="162" name="Google Shape;146;p8"/>
          <p:cNvPicPr>
            <a:picLocks xmlns:a="http://schemas.openxmlformats.org/drawingml/2006/main" noChangeAspect="1"/>
          </p:cNvPicPr>
          <p:nvPr/>
        </p:nvPicPr>
        <p:blipFill rotWithShape="1">
          <a:blip xmlns:r="http://schemas.openxmlformats.org/officeDocument/2006/relationships" xmlns:a="http://schemas.openxmlformats.org/drawingml/2006/main" r:embed="R996bb42835d5406f">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147" name="Google Shape;147;p8">
            <a:extLst xmlns:a="http://schemas.openxmlformats.org/drawingml/2006/main">
              <a:ext uri="{FF2B5EF4-FFF2-40B4-BE49-F238E27FC236}">
                <a16:creationId xmlns:a16="http://schemas.microsoft.com/office/drawing/2014/main" id="{0C5CC3C4-DC1C-40A5-B2B2-519B0ABED548}"/>
              </a:ext>
            </a:extLst>
          </p:cNvPr>
          <p:cNvSpPr>
            <a:spLocks xmlns:a="http://schemas.openxmlformats.org/drawingml/2006/main" noGrp="1"/>
          </p:cNvSpPr>
          <p:nvPr/>
        </p:nvSpPr>
        <p:spPr>
          <a:xfrm xmlns:a="http://schemas.openxmlformats.org/drawingml/2006/main">
            <a:off x="868680" y="2098550"/>
            <a:ext cx="4663500" cy="297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2000" b="0" i="0" u="none" cap="none">
                <a:solidFill>
                  <a:srgbClr val="F7F7F7"/>
                </a:solidFill>
                <a:latin typeface="Arial"/>
                <a:ea typeface="Arial"/>
                <a:cs typeface="Arial"/>
              </a:rPr>
              <a:t>• A step is missing or vague.</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2000" b="0" i="0" u="none" cap="none">
                <a:solidFill>
                  <a:srgbClr val="F7F7F7"/>
                </a:solidFill>
                <a:latin typeface="Arial"/>
                <a:ea typeface="Arial"/>
                <a:cs typeface="Arial"/>
              </a:rPr>
              <a:t>• Timing differs between trials.</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2000" b="0" i="0" u="none" cap="none">
                <a:solidFill>
                  <a:srgbClr val="F7F7F7"/>
                </a:solidFill>
                <a:latin typeface="Arial"/>
                <a:ea typeface="Arial"/>
                <a:cs typeface="Arial"/>
              </a:rPr>
              <a:t>• Conditions are not kept the same.</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2000" b="0" i="0" u="none" cap="none">
                <a:solidFill>
                  <a:srgbClr val="F7F7F7"/>
                </a:solidFill>
                <a:latin typeface="Arial"/>
                <a:ea typeface="Arial"/>
                <a:cs typeface="Arial"/>
              </a:rPr>
              <a:t>• The order of steps changes.</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2000" b="0" i="0" u="none" cap="none">
                <a:solidFill>
                  <a:srgbClr val="F7F7F7"/>
                </a:solidFill>
                <a:latin typeface="Arial"/>
                <a:ea typeface="Arial"/>
                <a:cs typeface="Arial"/>
              </a:rPr>
              <a:t>• Cleanup or reset steps are unclear.</a:t>
            </a:r>
          </a:p>
        </p:txBody>
      </p:sp>
      <p:sp>
        <p:nvSpPr>
          <p:cNvPr id="148" name="Google Shape;148;p8">
            <a:extLst xmlns:a="http://schemas.openxmlformats.org/drawingml/2006/main">
              <a:ext uri="{FF2B5EF4-FFF2-40B4-BE49-F238E27FC236}">
                <a16:creationId xmlns:a16="http://schemas.microsoft.com/office/drawing/2014/main" id="{4F607869-185E-4E2A-9452-5FBA3166D516}"/>
              </a:ext>
            </a:extLst>
          </p:cNvPr>
          <p:cNvSpPr>
            <a:spLocks xmlns:a="http://schemas.openxmlformats.org/drawingml/2006/main" noGrp="1"/>
          </p:cNvSpPr>
          <p:nvPr/>
        </p:nvSpPr>
        <p:spPr>
          <a:xfrm xmlns:a="http://schemas.openxmlformats.org/drawingml/2006/main">
            <a:off x="6263640" y="1600200"/>
            <a:ext cx="1143000" cy="457200"/>
          </a:xfrm>
          <a:prstGeom xmlns:a="http://schemas.openxmlformats.org/drawingml/2006/main" prst="roundRect">
            <a:avLst>
              <a:gd name="adj" fmla="val 16000"/>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9" name="Google Shape;149;p8">
            <a:extLst xmlns:a="http://schemas.openxmlformats.org/drawingml/2006/main">
              <a:ext uri="{FF2B5EF4-FFF2-40B4-BE49-F238E27FC236}">
                <a16:creationId xmlns:a16="http://schemas.microsoft.com/office/drawing/2014/main" id="{18EA9438-488A-43EA-A7EE-A1600963E77C}"/>
              </a:ext>
            </a:extLst>
          </p:cNvPr>
          <p:cNvSpPr>
            <a:spLocks xmlns:a="http://schemas.openxmlformats.org/drawingml/2006/main" noGrp="1"/>
          </p:cNvSpPr>
          <p:nvPr/>
        </p:nvSpPr>
        <p:spPr>
          <a:xfrm xmlns:a="http://schemas.openxmlformats.org/drawingml/2006/main">
            <a:off x="6419088" y="1728216"/>
            <a:ext cx="83210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Ask:</a:t>
            </a:r>
          </a:p>
        </p:txBody>
      </p:sp>
      <p:sp>
        <p:nvSpPr>
          <p:cNvPr id="150" name="Google Shape;150;p8">
            <a:extLst xmlns:a="http://schemas.openxmlformats.org/drawingml/2006/main">
              <a:ext uri="{FF2B5EF4-FFF2-40B4-BE49-F238E27FC236}">
                <a16:creationId xmlns:a16="http://schemas.microsoft.com/office/drawing/2014/main" id="{9C7C53F5-4904-4644-A96B-F7433FEB9E5D}"/>
              </a:ext>
            </a:extLst>
          </p:cNvPr>
          <p:cNvSpPr>
            <a:spLocks xmlns:a="http://schemas.openxmlformats.org/drawingml/2006/main" noGrp="1"/>
          </p:cNvSpPr>
          <p:nvPr/>
        </p:nvSpPr>
        <p:spPr>
          <a:xfrm xmlns:a="http://schemas.openxmlformats.org/drawingml/2006/main">
            <a:off x="6355080" y="2240280"/>
            <a:ext cx="480060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Could another student follow this without guessing?</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is changing between trials?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needs to be written more precisely?</a:t>
            </a:r>
          </a:p>
        </p:txBody>
      </p:sp>
      <p:sp>
        <p:nvSpPr>
          <p:cNvPr id="151" name="Google Shape;151;p8">
            <a:extLst xmlns:a="http://schemas.openxmlformats.org/drawingml/2006/main">
              <a:ext uri="{FF2B5EF4-FFF2-40B4-BE49-F238E27FC236}">
                <a16:creationId xmlns:a16="http://schemas.microsoft.com/office/drawing/2014/main" id="{BD596CA4-4BC4-4C08-A2A9-AFA2F88F61F0}"/>
              </a:ext>
            </a:extLst>
          </p:cNvPr>
          <p:cNvSpPr>
            <a:spLocks xmlns:a="http://schemas.openxmlformats.org/drawingml/2006/main" noGrp="1"/>
          </p:cNvSpPr>
          <p:nvPr/>
        </p:nvSpPr>
        <p:spPr>
          <a:xfrm xmlns:a="http://schemas.openxmlformats.org/drawingml/2006/main">
            <a:off x="6309360" y="4434840"/>
            <a:ext cx="4572000" cy="822960"/>
          </a:xfrm>
          <a:prstGeom xmlns:a="http://schemas.openxmlformats.org/drawingml/2006/main" prst="roundRect">
            <a:avLst>
              <a:gd name="adj" fmla="val 8889"/>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2" name="Google Shape;152;p8">
            <a:extLst xmlns:a="http://schemas.openxmlformats.org/drawingml/2006/main">
              <a:ext uri="{FF2B5EF4-FFF2-40B4-BE49-F238E27FC236}">
                <a16:creationId xmlns:a16="http://schemas.microsoft.com/office/drawing/2014/main" id="{E45B237B-0C07-44AF-9E28-889B63B160DA}"/>
              </a:ext>
            </a:extLst>
          </p:cNvPr>
          <p:cNvSpPr>
            <a:spLocks xmlns:a="http://schemas.openxmlformats.org/drawingml/2006/main" noGrp="1"/>
          </p:cNvSpPr>
          <p:nvPr/>
        </p:nvSpPr>
        <p:spPr>
          <a:xfrm xmlns:a="http://schemas.openxmlformats.org/drawingml/2006/main">
            <a:off x="6464808" y="4562856"/>
            <a:ext cx="4261104"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000"/>
              <a:buFont typeface="Arial"/>
              <a:buNone/>
            </a:pPr>
            <a:r>
              <a:rPr sz="2000" b="1" i="0" u="none" cap="none">
                <a:solidFill>
                  <a:srgbClr val="F7F7F7"/>
                </a:solidFill>
                <a:latin typeface="Arial"/>
                <a:ea typeface="Arial"/>
                <a:cs typeface="Arial"/>
              </a:rPr>
              <a:t>Fix: revise the procedure and document what changed.</a:t>
            </a:r>
          </a:p>
        </p:txBody>
      </p:sp>
    </p:spTree>
    <p:extLst>
      <p:ext uri="{BB962C8B-B14F-4D97-AF65-F5344CB8AC3E}">
        <p14:creationId xmlns:p14="http://schemas.microsoft.com/office/powerpoint/2010/main" val="1789053296"/>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8" name="Google Shape;158;p9">
            <a:extLst xmlns:a="http://schemas.openxmlformats.org/drawingml/2006/main">
              <a:ext uri="{FF2B5EF4-FFF2-40B4-BE49-F238E27FC236}">
                <a16:creationId xmlns:a16="http://schemas.microsoft.com/office/drawing/2014/main" id="{0E7C7EC1-7E8D-4259-AFD3-4F41A65AA32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9" name="Google Shape;159;p9">
            <a:extLst xmlns:a="http://schemas.openxmlformats.org/drawingml/2006/main">
              <a:ext uri="{FF2B5EF4-FFF2-40B4-BE49-F238E27FC236}">
                <a16:creationId xmlns:a16="http://schemas.microsoft.com/office/drawing/2014/main" id="{5F3E4C0F-BB30-4B92-BAF8-6F8957A6C22E}"/>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60" name="Google Shape;160;p9">
            <a:extLst xmlns:a="http://schemas.openxmlformats.org/drawingml/2006/main">
              <a:ext uri="{FF2B5EF4-FFF2-40B4-BE49-F238E27FC236}">
                <a16:creationId xmlns:a16="http://schemas.microsoft.com/office/drawing/2014/main" id="{1F5A8645-449D-4C1C-B02C-6E79E4935816}"/>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61" name="Google Shape;161;p9">
            <a:extLst xmlns:a="http://schemas.openxmlformats.org/drawingml/2006/main">
              <a:ext uri="{FF2B5EF4-FFF2-40B4-BE49-F238E27FC236}">
                <a16:creationId xmlns:a16="http://schemas.microsoft.com/office/drawing/2014/main" id="{9F2C055A-E250-4C37-B56D-14CDE6762B29}"/>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MEASUREMENT PROBLEMS</a:t>
            </a:r>
          </a:p>
        </p:txBody>
      </p:sp>
      <p:sp>
        <p:nvSpPr>
          <p:cNvPr id="162" name="Google Shape;162;p9">
            <a:extLst xmlns:a="http://schemas.openxmlformats.org/drawingml/2006/main">
              <a:ext uri="{FF2B5EF4-FFF2-40B4-BE49-F238E27FC236}">
                <a16:creationId xmlns:a16="http://schemas.microsoft.com/office/drawing/2014/main" id="{389B550C-9574-46B2-90E4-16E69714B53D}"/>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63" name="Google Shape;163;p9">
            <a:extLst xmlns:a="http://schemas.openxmlformats.org/drawingml/2006/main">
              <a:ext uri="{FF2B5EF4-FFF2-40B4-BE49-F238E27FC236}">
                <a16:creationId xmlns:a16="http://schemas.microsoft.com/office/drawing/2014/main" id="{F9757200-8C7A-4E9F-BC4E-A82AD73F25F0}"/>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The data do not answer the question clearly.</a:t>
            </a:r>
          </a:p>
        </p:txBody>
      </p:sp>
      <p:cxnSp>
        <p:nvCxnSpPr>
          <p:cNvPr id="188" name="Google Shape;164;p9"/>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165" name="Google Shape;165;p9">
            <a:extLst xmlns:a="http://schemas.openxmlformats.org/drawingml/2006/main">
              <a:ext uri="{FF2B5EF4-FFF2-40B4-BE49-F238E27FC236}">
                <a16:creationId xmlns:a16="http://schemas.microsoft.com/office/drawing/2014/main" id="{C284FA06-71B4-4F23-8769-58F13E02FD20}"/>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07</a:t>
            </a:r>
          </a:p>
        </p:txBody>
      </p:sp>
      <p:pic>
        <p:nvPicPr>
          <p:cNvPr id="190" name="Google Shape;166;p9"/>
          <p:cNvPicPr>
            <a:picLocks xmlns:a="http://schemas.openxmlformats.org/drawingml/2006/main" noChangeAspect="1"/>
          </p:cNvPicPr>
          <p:nvPr/>
        </p:nvPicPr>
        <p:blipFill rotWithShape="1">
          <a:blip xmlns:r="http://schemas.openxmlformats.org/officeDocument/2006/relationships" xmlns:a="http://schemas.openxmlformats.org/drawingml/2006/main" r:embed="R9e859792022448f6">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167" name="Google Shape;167;p9">
            <a:extLst xmlns:a="http://schemas.openxmlformats.org/drawingml/2006/main">
              <a:ext uri="{FF2B5EF4-FFF2-40B4-BE49-F238E27FC236}">
                <a16:creationId xmlns:a16="http://schemas.microsoft.com/office/drawing/2014/main" id="{D76E7AF4-FF67-4EB7-9E37-A430F1CEE8C5}"/>
              </a:ext>
            </a:extLst>
          </p:cNvPr>
          <p:cNvSpPr>
            <a:spLocks xmlns:a="http://schemas.openxmlformats.org/drawingml/2006/main" noGrp="1"/>
          </p:cNvSpPr>
          <p:nvPr/>
        </p:nvSpPr>
        <p:spPr>
          <a:xfrm xmlns:a="http://schemas.openxmlformats.org/drawingml/2006/main">
            <a:off x="914400" y="1600200"/>
            <a:ext cx="10378440" cy="731520"/>
          </a:xfrm>
          <a:prstGeom xmlns:a="http://schemas.openxmlformats.org/drawingml/2006/main" prst="roundRect">
            <a:avLst>
              <a:gd name="adj" fmla="val 10000"/>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68" name="Google Shape;168;p9">
            <a:extLst xmlns:a="http://schemas.openxmlformats.org/drawingml/2006/main">
              <a:ext uri="{FF2B5EF4-FFF2-40B4-BE49-F238E27FC236}">
                <a16:creationId xmlns:a16="http://schemas.microsoft.com/office/drawing/2014/main" id="{BC8BDE14-3066-4E88-A0B2-199656B9BB09}"/>
              </a:ext>
            </a:extLst>
          </p:cNvPr>
          <p:cNvSpPr>
            <a:spLocks xmlns:a="http://schemas.openxmlformats.org/drawingml/2006/main" noGrp="1"/>
          </p:cNvSpPr>
          <p:nvPr/>
        </p:nvSpPr>
        <p:spPr>
          <a:xfrm xmlns:a="http://schemas.openxmlformats.org/drawingml/2006/main">
            <a:off x="1069848" y="1728216"/>
            <a:ext cx="10067544"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100"/>
              <a:buFont typeface="Arial"/>
              <a:buNone/>
            </a:pPr>
            <a:r>
              <a:rPr sz="2100" b="1" i="0" u="none" cap="none">
                <a:solidFill>
                  <a:srgbClr val="F7F7F7"/>
                </a:solidFill>
                <a:latin typeface="Arial"/>
                <a:ea typeface="Arial"/>
                <a:cs typeface="Arial"/>
              </a:rPr>
              <a:t>A measurement problem means the project may be working, but the evidence is weak.</a:t>
            </a:r>
          </a:p>
        </p:txBody>
      </p:sp>
      <p:sp>
        <p:nvSpPr>
          <p:cNvPr id="169" name="Google Shape;169;p9">
            <a:extLst xmlns:a="http://schemas.openxmlformats.org/drawingml/2006/main">
              <a:ext uri="{FF2B5EF4-FFF2-40B4-BE49-F238E27FC236}">
                <a16:creationId xmlns:a16="http://schemas.microsoft.com/office/drawing/2014/main" id="{F82A6BC8-3DC6-4476-BE3B-975C50AC7281}"/>
              </a:ext>
            </a:extLst>
          </p:cNvPr>
          <p:cNvSpPr>
            <a:spLocks xmlns:a="http://schemas.openxmlformats.org/drawingml/2006/main" noGrp="1"/>
          </p:cNvSpPr>
          <p:nvPr/>
        </p:nvSpPr>
        <p:spPr>
          <a:xfrm xmlns:a="http://schemas.openxmlformats.org/drawingml/2006/main">
            <a:off x="960120" y="2697480"/>
            <a:ext cx="502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01</a:t>
            </a:r>
          </a:p>
        </p:txBody>
      </p:sp>
      <p:sp>
        <p:nvSpPr>
          <p:cNvPr id="170" name="Google Shape;170;p9">
            <a:extLst xmlns:a="http://schemas.openxmlformats.org/drawingml/2006/main">
              <a:ext uri="{FF2B5EF4-FFF2-40B4-BE49-F238E27FC236}">
                <a16:creationId xmlns:a16="http://schemas.microsoft.com/office/drawing/2014/main" id="{C0609918-4BDB-46B0-86D1-BECB81DFF4D1}"/>
              </a:ext>
            </a:extLst>
          </p:cNvPr>
          <p:cNvSpPr>
            <a:spLocks xmlns:a="http://schemas.openxmlformats.org/drawingml/2006/main" noGrp="1"/>
          </p:cNvSpPr>
          <p:nvPr/>
        </p:nvSpPr>
        <p:spPr>
          <a:xfrm xmlns:a="http://schemas.openxmlformats.org/drawingml/2006/main">
            <a:off x="1572768" y="2660904"/>
            <a:ext cx="88696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Tool is not precise enough</a:t>
            </a:r>
          </a:p>
        </p:txBody>
      </p:sp>
      <p:sp>
        <p:nvSpPr>
          <p:cNvPr id="171" name="Google Shape;171;p9">
            <a:extLst xmlns:a="http://schemas.openxmlformats.org/drawingml/2006/main">
              <a:ext uri="{FF2B5EF4-FFF2-40B4-BE49-F238E27FC236}">
                <a16:creationId xmlns:a16="http://schemas.microsoft.com/office/drawing/2014/main" id="{E4D63DEF-CACC-4ABE-A5E8-5DC9F6C322B1}"/>
              </a:ext>
            </a:extLst>
          </p:cNvPr>
          <p:cNvSpPr>
            <a:spLocks xmlns:a="http://schemas.openxmlformats.org/drawingml/2006/main" noGrp="1"/>
          </p:cNvSpPr>
          <p:nvPr/>
        </p:nvSpPr>
        <p:spPr>
          <a:xfrm xmlns:a="http://schemas.openxmlformats.org/drawingml/2006/main">
            <a:off x="960120" y="3218688"/>
            <a:ext cx="502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02</a:t>
            </a:r>
          </a:p>
        </p:txBody>
      </p:sp>
      <p:sp>
        <p:nvSpPr>
          <p:cNvPr id="172" name="Google Shape;172;p9">
            <a:extLst xmlns:a="http://schemas.openxmlformats.org/drawingml/2006/main">
              <a:ext uri="{FF2B5EF4-FFF2-40B4-BE49-F238E27FC236}">
                <a16:creationId xmlns:a16="http://schemas.microsoft.com/office/drawing/2014/main" id="{EA7DCD21-F9C9-4E9D-97C7-0B49C88F28DD}"/>
              </a:ext>
            </a:extLst>
          </p:cNvPr>
          <p:cNvSpPr>
            <a:spLocks xmlns:a="http://schemas.openxmlformats.org/drawingml/2006/main" noGrp="1"/>
          </p:cNvSpPr>
          <p:nvPr/>
        </p:nvSpPr>
        <p:spPr>
          <a:xfrm xmlns:a="http://schemas.openxmlformats.org/drawingml/2006/main">
            <a:off x="1572768" y="3182112"/>
            <a:ext cx="88696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Units are missing or inconsistent</a:t>
            </a:r>
          </a:p>
        </p:txBody>
      </p:sp>
      <p:sp>
        <p:nvSpPr>
          <p:cNvPr id="173" name="Google Shape;173;p9">
            <a:extLst xmlns:a="http://schemas.openxmlformats.org/drawingml/2006/main">
              <a:ext uri="{FF2B5EF4-FFF2-40B4-BE49-F238E27FC236}">
                <a16:creationId xmlns:a16="http://schemas.microsoft.com/office/drawing/2014/main" id="{54042183-1629-4091-8F99-A9BDBB9655F9}"/>
              </a:ext>
            </a:extLst>
          </p:cNvPr>
          <p:cNvSpPr>
            <a:spLocks xmlns:a="http://schemas.openxmlformats.org/drawingml/2006/main" noGrp="1"/>
          </p:cNvSpPr>
          <p:nvPr/>
        </p:nvSpPr>
        <p:spPr>
          <a:xfrm xmlns:a="http://schemas.openxmlformats.org/drawingml/2006/main">
            <a:off x="960120" y="3739896"/>
            <a:ext cx="502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03</a:t>
            </a:r>
          </a:p>
        </p:txBody>
      </p:sp>
      <p:sp>
        <p:nvSpPr>
          <p:cNvPr id="174" name="Google Shape;174;p9">
            <a:extLst xmlns:a="http://schemas.openxmlformats.org/drawingml/2006/main">
              <a:ext uri="{FF2B5EF4-FFF2-40B4-BE49-F238E27FC236}">
                <a16:creationId xmlns:a16="http://schemas.microsoft.com/office/drawing/2014/main" id="{D3B13D6C-18C4-482C-82D0-811DD3C47F7C}"/>
              </a:ext>
            </a:extLst>
          </p:cNvPr>
          <p:cNvSpPr>
            <a:spLocks xmlns:a="http://schemas.openxmlformats.org/drawingml/2006/main" noGrp="1"/>
          </p:cNvSpPr>
          <p:nvPr/>
        </p:nvSpPr>
        <p:spPr>
          <a:xfrm xmlns:a="http://schemas.openxmlformats.org/drawingml/2006/main">
            <a:off x="1572768" y="3703320"/>
            <a:ext cx="88696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Readings drift over time</a:t>
            </a:r>
          </a:p>
        </p:txBody>
      </p:sp>
      <p:sp>
        <p:nvSpPr>
          <p:cNvPr id="175" name="Google Shape;175;p9">
            <a:extLst xmlns:a="http://schemas.openxmlformats.org/drawingml/2006/main">
              <a:ext uri="{FF2B5EF4-FFF2-40B4-BE49-F238E27FC236}">
                <a16:creationId xmlns:a16="http://schemas.microsoft.com/office/drawing/2014/main" id="{68204F7E-9BF4-436C-90CD-13D8940E5B06}"/>
              </a:ext>
            </a:extLst>
          </p:cNvPr>
          <p:cNvSpPr>
            <a:spLocks xmlns:a="http://schemas.openxmlformats.org/drawingml/2006/main" noGrp="1"/>
          </p:cNvSpPr>
          <p:nvPr/>
        </p:nvSpPr>
        <p:spPr>
          <a:xfrm xmlns:a="http://schemas.openxmlformats.org/drawingml/2006/main">
            <a:off x="960120" y="4261104"/>
            <a:ext cx="502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04</a:t>
            </a:r>
          </a:p>
        </p:txBody>
      </p:sp>
      <p:sp>
        <p:nvSpPr>
          <p:cNvPr id="176" name="Google Shape;176;p9">
            <a:extLst xmlns:a="http://schemas.openxmlformats.org/drawingml/2006/main">
              <a:ext uri="{FF2B5EF4-FFF2-40B4-BE49-F238E27FC236}">
                <a16:creationId xmlns:a16="http://schemas.microsoft.com/office/drawing/2014/main" id="{8AB791B7-CAB0-47A7-AE28-042C4CC915F6}"/>
              </a:ext>
            </a:extLst>
          </p:cNvPr>
          <p:cNvSpPr>
            <a:spLocks xmlns:a="http://schemas.openxmlformats.org/drawingml/2006/main" noGrp="1"/>
          </p:cNvSpPr>
          <p:nvPr/>
        </p:nvSpPr>
        <p:spPr>
          <a:xfrm xmlns:a="http://schemas.openxmlformats.org/drawingml/2006/main">
            <a:off x="1572768" y="4224528"/>
            <a:ext cx="88696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Measurement timing varies</a:t>
            </a:r>
          </a:p>
        </p:txBody>
      </p:sp>
      <p:sp>
        <p:nvSpPr>
          <p:cNvPr id="177" name="Google Shape;177;p9">
            <a:extLst xmlns:a="http://schemas.openxmlformats.org/drawingml/2006/main">
              <a:ext uri="{FF2B5EF4-FFF2-40B4-BE49-F238E27FC236}">
                <a16:creationId xmlns:a16="http://schemas.microsoft.com/office/drawing/2014/main" id="{B5028576-0037-46D1-92F8-321369D79880}"/>
              </a:ext>
            </a:extLst>
          </p:cNvPr>
          <p:cNvSpPr>
            <a:spLocks xmlns:a="http://schemas.openxmlformats.org/drawingml/2006/main" noGrp="1"/>
          </p:cNvSpPr>
          <p:nvPr/>
        </p:nvSpPr>
        <p:spPr>
          <a:xfrm xmlns:a="http://schemas.openxmlformats.org/drawingml/2006/main">
            <a:off x="960120" y="4782312"/>
            <a:ext cx="502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05</a:t>
            </a:r>
          </a:p>
        </p:txBody>
      </p:sp>
      <p:sp>
        <p:nvSpPr>
          <p:cNvPr id="178" name="Google Shape;178;p9">
            <a:extLst xmlns:a="http://schemas.openxmlformats.org/drawingml/2006/main">
              <a:ext uri="{FF2B5EF4-FFF2-40B4-BE49-F238E27FC236}">
                <a16:creationId xmlns:a16="http://schemas.microsoft.com/office/drawing/2014/main" id="{63B7A8E4-B7B7-4F50-9CBE-6576845E1A7D}"/>
              </a:ext>
            </a:extLst>
          </p:cNvPr>
          <p:cNvSpPr>
            <a:spLocks xmlns:a="http://schemas.openxmlformats.org/drawingml/2006/main" noGrp="1"/>
          </p:cNvSpPr>
          <p:nvPr/>
        </p:nvSpPr>
        <p:spPr>
          <a:xfrm xmlns:a="http://schemas.openxmlformats.org/drawingml/2006/main">
            <a:off x="1572768" y="4745736"/>
            <a:ext cx="88696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Data table does not capture key information</a:t>
            </a:r>
          </a:p>
        </p:txBody>
      </p:sp>
      <p:sp>
        <p:nvSpPr>
          <p:cNvPr id="179" name="Google Shape;179;p9">
            <a:extLst xmlns:a="http://schemas.openxmlformats.org/drawingml/2006/main">
              <a:ext uri="{FF2B5EF4-FFF2-40B4-BE49-F238E27FC236}">
                <a16:creationId xmlns:a16="http://schemas.microsoft.com/office/drawing/2014/main" id="{5FC4263E-DE02-4176-B534-42BA2D5BB099}"/>
              </a:ext>
            </a:extLst>
          </p:cNvPr>
          <p:cNvSpPr>
            <a:spLocks xmlns:a="http://schemas.openxmlformats.org/drawingml/2006/main" noGrp="1"/>
          </p:cNvSpPr>
          <p:nvPr/>
        </p:nvSpPr>
        <p:spPr>
          <a:xfrm xmlns:a="http://schemas.openxmlformats.org/drawingml/2006/main">
            <a:off x="914400" y="5440680"/>
            <a:ext cx="10378440" cy="530352"/>
          </a:xfrm>
          <a:prstGeom xmlns:a="http://schemas.openxmlformats.org/drawingml/2006/main" prst="roundRect">
            <a:avLst>
              <a:gd name="adj" fmla="val 13793"/>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0" name="Google Shape;180;p9">
            <a:extLst xmlns:a="http://schemas.openxmlformats.org/drawingml/2006/main">
              <a:ext uri="{FF2B5EF4-FFF2-40B4-BE49-F238E27FC236}">
                <a16:creationId xmlns:a16="http://schemas.microsoft.com/office/drawing/2014/main" id="{30E60790-A2CF-4A53-8B82-73DAC171D41F}"/>
              </a:ext>
            </a:extLst>
          </p:cNvPr>
          <p:cNvSpPr>
            <a:spLocks xmlns:a="http://schemas.openxmlformats.org/drawingml/2006/main" noGrp="1"/>
          </p:cNvSpPr>
          <p:nvPr/>
        </p:nvSpPr>
        <p:spPr>
          <a:xfrm xmlns:a="http://schemas.openxmlformats.org/drawingml/2006/main">
            <a:off x="1069848" y="5568696"/>
            <a:ext cx="10067544" cy="301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Fix: improve the measurement method before collecting more weak data.</a:t>
            </a:r>
          </a:p>
        </p:txBody>
      </p:sp>
    </p:spTree>
    <p:extLst>
      <p:ext uri="{BB962C8B-B14F-4D97-AF65-F5344CB8AC3E}">
        <p14:creationId xmlns:p14="http://schemas.microsoft.com/office/powerpoint/2010/main" val="1338747824"/>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6" name="Google Shape;186;p10">
            <a:extLst xmlns:a="http://schemas.openxmlformats.org/drawingml/2006/main">
              <a:ext uri="{FF2B5EF4-FFF2-40B4-BE49-F238E27FC236}">
                <a16:creationId xmlns:a16="http://schemas.microsoft.com/office/drawing/2014/main" id="{09314D2F-DB21-4B4A-B073-DE5F479E9C7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7" name="Google Shape;187;p10">
            <a:extLst xmlns:a="http://schemas.openxmlformats.org/drawingml/2006/main">
              <a:ext uri="{FF2B5EF4-FFF2-40B4-BE49-F238E27FC236}">
                <a16:creationId xmlns:a16="http://schemas.microsoft.com/office/drawing/2014/main" id="{AFA21E24-7D1F-463C-A72D-515B3F1F9CF3}"/>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8" name="Google Shape;188;p10">
            <a:extLst xmlns:a="http://schemas.openxmlformats.org/drawingml/2006/main">
              <a:ext uri="{FF2B5EF4-FFF2-40B4-BE49-F238E27FC236}">
                <a16:creationId xmlns:a16="http://schemas.microsoft.com/office/drawing/2014/main" id="{D4C3DD2E-9D1A-4C29-9DE9-9568CE47A892}"/>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9" name="Google Shape;189;p10">
            <a:extLst xmlns:a="http://schemas.openxmlformats.org/drawingml/2006/main">
              <a:ext uri="{FF2B5EF4-FFF2-40B4-BE49-F238E27FC236}">
                <a16:creationId xmlns:a16="http://schemas.microsoft.com/office/drawing/2014/main" id="{4C8C20A4-FB96-4AEE-AA72-C1BB6B690A2D}"/>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EQUIPMENT AND MATERIAL PROBLEMS</a:t>
            </a:r>
          </a:p>
        </p:txBody>
      </p:sp>
      <p:sp>
        <p:nvSpPr>
          <p:cNvPr id="190" name="Google Shape;190;p10">
            <a:extLst xmlns:a="http://schemas.openxmlformats.org/drawingml/2006/main">
              <a:ext uri="{FF2B5EF4-FFF2-40B4-BE49-F238E27FC236}">
                <a16:creationId xmlns:a16="http://schemas.microsoft.com/office/drawing/2014/main" id="{7836C393-920B-4B71-BDE5-1BB940312DB9}"/>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91" name="Google Shape;191;p10">
            <a:extLst xmlns:a="http://schemas.openxmlformats.org/drawingml/2006/main">
              <a:ext uri="{FF2B5EF4-FFF2-40B4-BE49-F238E27FC236}">
                <a16:creationId xmlns:a16="http://schemas.microsoft.com/office/drawing/2014/main" id="{561EFE91-AA8F-4858-9F67-8B6A6C49C17E}"/>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Sometimes the tool, part, or material is the weak link.</a:t>
            </a:r>
          </a:p>
        </p:txBody>
      </p:sp>
      <p:cxnSp>
        <p:nvCxnSpPr>
          <p:cNvPr id="208" name="Google Shape;192;p10"/>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193" name="Google Shape;193;p10">
            <a:extLst xmlns:a="http://schemas.openxmlformats.org/drawingml/2006/main">
              <a:ext uri="{FF2B5EF4-FFF2-40B4-BE49-F238E27FC236}">
                <a16:creationId xmlns:a16="http://schemas.microsoft.com/office/drawing/2014/main" id="{EE667839-6968-43A6-9BD2-0BD5AF0DAB7C}"/>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08</a:t>
            </a:r>
          </a:p>
        </p:txBody>
      </p:sp>
      <p:pic>
        <p:nvPicPr>
          <p:cNvPr id="210" name="Google Shape;194;p10"/>
          <p:cNvPicPr>
            <a:picLocks xmlns:a="http://schemas.openxmlformats.org/drawingml/2006/main" noChangeAspect="1"/>
          </p:cNvPicPr>
          <p:nvPr/>
        </p:nvPicPr>
        <p:blipFill rotWithShape="1">
          <a:blip xmlns:r="http://schemas.openxmlformats.org/officeDocument/2006/relationships" xmlns:a="http://schemas.openxmlformats.org/drawingml/2006/main" r:embed="Rb30f684b6bf9439d">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195" name="Google Shape;195;p10">
            <a:extLst xmlns:a="http://schemas.openxmlformats.org/drawingml/2006/main">
              <a:ext uri="{FF2B5EF4-FFF2-40B4-BE49-F238E27FC236}">
                <a16:creationId xmlns:a16="http://schemas.microsoft.com/office/drawing/2014/main" id="{08048448-F6F7-489A-8B1B-F159F3ED541A}"/>
              </a:ext>
            </a:extLst>
          </p:cNvPr>
          <p:cNvSpPr>
            <a:spLocks xmlns:a="http://schemas.openxmlformats.org/drawingml/2006/main" noGrp="1"/>
          </p:cNvSpPr>
          <p:nvPr/>
        </p:nvSpPr>
        <p:spPr>
          <a:xfrm xmlns:a="http://schemas.openxmlformats.org/drawingml/2006/main">
            <a:off x="822960" y="1600200"/>
            <a:ext cx="1828800" cy="411480"/>
          </a:xfrm>
          <a:prstGeom xmlns:a="http://schemas.openxmlformats.org/drawingml/2006/main" prst="roundRect">
            <a:avLst>
              <a:gd name="adj" fmla="val 17778"/>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96" name="Google Shape;196;p10">
            <a:extLst xmlns:a="http://schemas.openxmlformats.org/drawingml/2006/main">
              <a:ext uri="{FF2B5EF4-FFF2-40B4-BE49-F238E27FC236}">
                <a16:creationId xmlns:a16="http://schemas.microsoft.com/office/drawing/2014/main" id="{9978DCFB-6281-43E1-8ADE-1B9F9EF6A7CD}"/>
              </a:ext>
            </a:extLst>
          </p:cNvPr>
          <p:cNvSpPr>
            <a:spLocks xmlns:a="http://schemas.openxmlformats.org/drawingml/2006/main" noGrp="1"/>
          </p:cNvSpPr>
          <p:nvPr/>
        </p:nvSpPr>
        <p:spPr>
          <a:xfrm xmlns:a="http://schemas.openxmlformats.org/drawingml/2006/main">
            <a:off x="978408" y="1728216"/>
            <a:ext cx="1517904"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1" i="0" u="none" cap="none">
                <a:solidFill>
                  <a:srgbClr val="F7F7F7"/>
                </a:solidFill>
                <a:latin typeface="Arial"/>
                <a:ea typeface="Arial"/>
                <a:cs typeface="Arial"/>
              </a:rPr>
              <a:t>Examples</a:t>
            </a:r>
          </a:p>
        </p:txBody>
      </p:sp>
      <p:sp>
        <p:nvSpPr>
          <p:cNvPr id="197" name="Google Shape;197;p10">
            <a:extLst xmlns:a="http://schemas.openxmlformats.org/drawingml/2006/main">
              <a:ext uri="{FF2B5EF4-FFF2-40B4-BE49-F238E27FC236}">
                <a16:creationId xmlns:a16="http://schemas.microsoft.com/office/drawing/2014/main" id="{E9CCDF5A-B0E2-4122-AAD7-72CCDD345742}"/>
              </a:ext>
            </a:extLst>
          </p:cNvPr>
          <p:cNvSpPr>
            <a:spLocks xmlns:a="http://schemas.openxmlformats.org/drawingml/2006/main" noGrp="1"/>
          </p:cNvSpPr>
          <p:nvPr/>
        </p:nvSpPr>
        <p:spPr>
          <a:xfrm xmlns:a="http://schemas.openxmlformats.org/drawingml/2006/main">
            <a:off x="914400" y="2148840"/>
            <a:ext cx="4937760" cy="2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Loose wire or unstable sensor</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Prototype part breaks before testing</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Material absorbs water unexpectedly</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Battery voltage drops during trials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Software or code produces inconsistent output</a:t>
            </a:r>
          </a:p>
        </p:txBody>
      </p:sp>
      <p:sp>
        <p:nvSpPr>
          <p:cNvPr id="198" name="Google Shape;198;p10">
            <a:extLst xmlns:a="http://schemas.openxmlformats.org/drawingml/2006/main">
              <a:ext uri="{FF2B5EF4-FFF2-40B4-BE49-F238E27FC236}">
                <a16:creationId xmlns:a16="http://schemas.microsoft.com/office/drawing/2014/main" id="{62CD42A3-A35A-477F-8952-A5610D29C206}"/>
              </a:ext>
            </a:extLst>
          </p:cNvPr>
          <p:cNvSpPr>
            <a:spLocks xmlns:a="http://schemas.openxmlformats.org/drawingml/2006/main" noGrp="1"/>
          </p:cNvSpPr>
          <p:nvPr/>
        </p:nvSpPr>
        <p:spPr>
          <a:xfrm xmlns:a="http://schemas.openxmlformats.org/drawingml/2006/main">
            <a:off x="6400800" y="1600200"/>
            <a:ext cx="4023360" cy="457200"/>
          </a:xfrm>
          <a:prstGeom xmlns:a="http://schemas.openxmlformats.org/drawingml/2006/main" prst="roundRect">
            <a:avLst>
              <a:gd name="adj" fmla="val 16000"/>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99" name="Google Shape;199;p10">
            <a:extLst xmlns:a="http://schemas.openxmlformats.org/drawingml/2006/main">
              <a:ext uri="{FF2B5EF4-FFF2-40B4-BE49-F238E27FC236}">
                <a16:creationId xmlns:a16="http://schemas.microsoft.com/office/drawing/2014/main" id="{131866AD-077A-491F-8373-112575421A95}"/>
              </a:ext>
            </a:extLst>
          </p:cNvPr>
          <p:cNvSpPr>
            <a:spLocks xmlns:a="http://schemas.openxmlformats.org/drawingml/2006/main" noGrp="1"/>
          </p:cNvSpPr>
          <p:nvPr/>
        </p:nvSpPr>
        <p:spPr>
          <a:xfrm xmlns:a="http://schemas.openxmlformats.org/drawingml/2006/main">
            <a:off x="6556248" y="1728216"/>
            <a:ext cx="371246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1" i="0" u="none" cap="none">
                <a:solidFill>
                  <a:srgbClr val="F7F7F7"/>
                </a:solidFill>
                <a:latin typeface="Arial"/>
                <a:ea typeface="Arial"/>
                <a:cs typeface="Arial"/>
              </a:rPr>
              <a:t>Document like a researcher:</a:t>
            </a:r>
          </a:p>
        </p:txBody>
      </p:sp>
      <p:sp>
        <p:nvSpPr>
          <p:cNvPr id="200" name="Google Shape;200;p10">
            <a:extLst xmlns:a="http://schemas.openxmlformats.org/drawingml/2006/main">
              <a:ext uri="{FF2B5EF4-FFF2-40B4-BE49-F238E27FC236}">
                <a16:creationId xmlns:a16="http://schemas.microsoft.com/office/drawing/2014/main" id="{8ED6FD46-BA1D-48F4-B5AF-BBFE5731F2C2}"/>
              </a:ext>
            </a:extLst>
          </p:cNvPr>
          <p:cNvSpPr>
            <a:spLocks xmlns:a="http://schemas.openxmlformats.org/drawingml/2006/main" noGrp="1"/>
          </p:cNvSpPr>
          <p:nvPr/>
        </p:nvSpPr>
        <p:spPr>
          <a:xfrm xmlns:a="http://schemas.openxmlformats.org/drawingml/2006/main">
            <a:off x="6492240" y="2148840"/>
            <a:ext cx="4663440" cy="2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failed?</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When did it fail?</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How did it affect the data?</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repair or replacement was made?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Does the trial need to be flagged?</a:t>
            </a:r>
          </a:p>
        </p:txBody>
      </p:sp>
    </p:spTree>
    <p:extLst>
      <p:ext uri="{BB962C8B-B14F-4D97-AF65-F5344CB8AC3E}">
        <p14:creationId xmlns:p14="http://schemas.microsoft.com/office/powerpoint/2010/main" val="194466653"/>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6" name="Google Shape;206;p11">
            <a:extLst xmlns:a="http://schemas.openxmlformats.org/drawingml/2006/main">
              <a:ext uri="{FF2B5EF4-FFF2-40B4-BE49-F238E27FC236}">
                <a16:creationId xmlns:a16="http://schemas.microsoft.com/office/drawing/2014/main" id="{B2721563-3206-4912-BA6A-D501EEEF434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7" name="Google Shape;207;p11">
            <a:extLst xmlns:a="http://schemas.openxmlformats.org/drawingml/2006/main">
              <a:ext uri="{FF2B5EF4-FFF2-40B4-BE49-F238E27FC236}">
                <a16:creationId xmlns:a16="http://schemas.microsoft.com/office/drawing/2014/main" id="{487CEA87-045F-4E0E-9587-997499B807E8}"/>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8" name="Google Shape;208;p11">
            <a:extLst xmlns:a="http://schemas.openxmlformats.org/drawingml/2006/main">
              <a:ext uri="{FF2B5EF4-FFF2-40B4-BE49-F238E27FC236}">
                <a16:creationId xmlns:a16="http://schemas.microsoft.com/office/drawing/2014/main" id="{F1757B13-0B39-40D4-8833-AEDABFD3B33E}"/>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9" name="Google Shape;209;p11">
            <a:extLst xmlns:a="http://schemas.openxmlformats.org/drawingml/2006/main">
              <a:ext uri="{FF2B5EF4-FFF2-40B4-BE49-F238E27FC236}">
                <a16:creationId xmlns:a16="http://schemas.microsoft.com/office/drawing/2014/main" id="{23745C6C-FDBE-4E66-B7FB-2224E941192B}"/>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DESIGN OR PROTOTYPE PROBLEMS</a:t>
            </a:r>
          </a:p>
        </p:txBody>
      </p:sp>
      <p:sp>
        <p:nvSpPr>
          <p:cNvPr id="210" name="Google Shape;210;p11">
            <a:extLst xmlns:a="http://schemas.openxmlformats.org/drawingml/2006/main">
              <a:ext uri="{FF2B5EF4-FFF2-40B4-BE49-F238E27FC236}">
                <a16:creationId xmlns:a16="http://schemas.microsoft.com/office/drawing/2014/main" id="{6E0ADC11-1AA2-4C3F-BE50-F46EB47FA29A}"/>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1" name="Google Shape;211;p11">
            <a:extLst xmlns:a="http://schemas.openxmlformats.org/drawingml/2006/main">
              <a:ext uri="{FF2B5EF4-FFF2-40B4-BE49-F238E27FC236}">
                <a16:creationId xmlns:a16="http://schemas.microsoft.com/office/drawing/2014/main" id="{3774834D-C3D6-4F4E-87EA-8DE1483525A1}"/>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The design itself may need revision.</a:t>
            </a:r>
          </a:p>
        </p:txBody>
      </p:sp>
      <p:cxnSp>
        <p:nvCxnSpPr>
          <p:cNvPr id="230" name="Google Shape;212;p11"/>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213" name="Google Shape;213;p11">
            <a:extLst xmlns:a="http://schemas.openxmlformats.org/drawingml/2006/main">
              <a:ext uri="{FF2B5EF4-FFF2-40B4-BE49-F238E27FC236}">
                <a16:creationId xmlns:a16="http://schemas.microsoft.com/office/drawing/2014/main" id="{1E7956B6-F15D-4EAA-B00B-5AA6D7E06D26}"/>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09</a:t>
            </a:r>
          </a:p>
        </p:txBody>
      </p:sp>
      <p:pic>
        <p:nvPicPr>
          <p:cNvPr id="232" name="Google Shape;214;p11"/>
          <p:cNvPicPr>
            <a:picLocks xmlns:a="http://schemas.openxmlformats.org/drawingml/2006/main" noChangeAspect="1"/>
          </p:cNvPicPr>
          <p:nvPr/>
        </p:nvPicPr>
        <p:blipFill rotWithShape="1">
          <a:blip xmlns:r="http://schemas.openxmlformats.org/officeDocument/2006/relationships" xmlns:a="http://schemas.openxmlformats.org/drawingml/2006/main" r:embed="R97a25b087a884549">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215" name="Google Shape;215;p11">
            <a:extLst xmlns:a="http://schemas.openxmlformats.org/drawingml/2006/main">
              <a:ext uri="{FF2B5EF4-FFF2-40B4-BE49-F238E27FC236}">
                <a16:creationId xmlns:a16="http://schemas.microsoft.com/office/drawing/2014/main" id="{D3BE7706-7FF7-46DE-BE0E-D973A1692DBF}"/>
              </a:ext>
            </a:extLst>
          </p:cNvPr>
          <p:cNvSpPr>
            <a:spLocks xmlns:a="http://schemas.openxmlformats.org/drawingml/2006/main" noGrp="1"/>
          </p:cNvSpPr>
          <p:nvPr/>
        </p:nvSpPr>
        <p:spPr>
          <a:xfrm xmlns:a="http://schemas.openxmlformats.org/drawingml/2006/main">
            <a:off x="868680" y="1600200"/>
            <a:ext cx="502920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6" name="Google Shape;216;p11">
            <a:extLst xmlns:a="http://schemas.openxmlformats.org/drawingml/2006/main">
              <a:ext uri="{FF2B5EF4-FFF2-40B4-BE49-F238E27FC236}">
                <a16:creationId xmlns:a16="http://schemas.microsoft.com/office/drawing/2014/main" id="{581C9257-A90E-452D-8C1B-D10DE85E0019}"/>
              </a:ext>
            </a:extLst>
          </p:cNvPr>
          <p:cNvSpPr>
            <a:spLocks xmlns:a="http://schemas.openxmlformats.org/drawingml/2006/main" noGrp="1"/>
          </p:cNvSpPr>
          <p:nvPr/>
        </p:nvSpPr>
        <p:spPr>
          <a:xfrm xmlns:a="http://schemas.openxmlformats.org/drawingml/2006/main">
            <a:off x="1024128" y="1728216"/>
            <a:ext cx="471830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000"/>
              <a:buFont typeface="Arial"/>
              <a:buNone/>
            </a:pPr>
            <a:r>
              <a:rPr sz="2000" b="1" i="0" u="none" cap="none">
                <a:solidFill>
                  <a:srgbClr val="F7F7F7"/>
                </a:solidFill>
                <a:latin typeface="Arial"/>
                <a:ea typeface="Arial"/>
                <a:cs typeface="Arial"/>
              </a:rPr>
              <a:t>A design problem is deeper than a bad trial.</a:t>
            </a:r>
          </a:p>
        </p:txBody>
      </p:sp>
      <p:sp>
        <p:nvSpPr>
          <p:cNvPr id="217" name="Google Shape;217;p11">
            <a:extLst xmlns:a="http://schemas.openxmlformats.org/drawingml/2006/main">
              <a:ext uri="{FF2B5EF4-FFF2-40B4-BE49-F238E27FC236}">
                <a16:creationId xmlns:a16="http://schemas.microsoft.com/office/drawing/2014/main" id="{18EB8498-D11C-4F2D-96BE-8B9E01057194}"/>
              </a:ext>
            </a:extLst>
          </p:cNvPr>
          <p:cNvSpPr>
            <a:spLocks xmlns:a="http://schemas.openxmlformats.org/drawingml/2006/main" noGrp="1"/>
          </p:cNvSpPr>
          <p:nvPr/>
        </p:nvSpPr>
        <p:spPr>
          <a:xfrm xmlns:a="http://schemas.openxmlformats.org/drawingml/2006/main">
            <a:off x="868680" y="2606040"/>
            <a:ext cx="5212080" cy="2468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Prototype cannot survive basic testing.</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Setup does not isolate the intended variable.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Design does not meet safety expectations.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Performance metric is not meaningful.</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Failure mode reveals a structural weakness.</a:t>
            </a:r>
          </a:p>
        </p:txBody>
      </p:sp>
      <p:sp>
        <p:nvSpPr>
          <p:cNvPr id="218" name="Google Shape;218;p11">
            <a:extLst xmlns:a="http://schemas.openxmlformats.org/drawingml/2006/main">
              <a:ext uri="{FF2B5EF4-FFF2-40B4-BE49-F238E27FC236}">
                <a16:creationId xmlns:a16="http://schemas.microsoft.com/office/drawing/2014/main" id="{1ABD412C-5216-45F6-AD00-5A6501731E00}"/>
              </a:ext>
            </a:extLst>
          </p:cNvPr>
          <p:cNvSpPr>
            <a:spLocks xmlns:a="http://schemas.openxmlformats.org/drawingml/2006/main" noGrp="1"/>
          </p:cNvSpPr>
          <p:nvPr/>
        </p:nvSpPr>
        <p:spPr>
          <a:xfrm xmlns:a="http://schemas.openxmlformats.org/drawingml/2006/main">
            <a:off x="6446520" y="1600200"/>
            <a:ext cx="438912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9" name="Google Shape;219;p11">
            <a:extLst xmlns:a="http://schemas.openxmlformats.org/drawingml/2006/main">
              <a:ext uri="{FF2B5EF4-FFF2-40B4-BE49-F238E27FC236}">
                <a16:creationId xmlns:a16="http://schemas.microsoft.com/office/drawing/2014/main" id="{D9D684DB-82C5-4252-A1C2-3F03145C462D}"/>
              </a:ext>
            </a:extLst>
          </p:cNvPr>
          <p:cNvSpPr>
            <a:spLocks xmlns:a="http://schemas.openxmlformats.org/drawingml/2006/main" noGrp="1"/>
          </p:cNvSpPr>
          <p:nvPr/>
        </p:nvSpPr>
        <p:spPr>
          <a:xfrm xmlns:a="http://schemas.openxmlformats.org/drawingml/2006/main">
            <a:off x="6601968" y="1728216"/>
            <a:ext cx="407822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000"/>
              <a:buFont typeface="Arial"/>
              <a:buNone/>
            </a:pPr>
            <a:r>
              <a:rPr sz="2000" b="1" i="0" u="none" cap="none">
                <a:solidFill>
                  <a:srgbClr val="F7F7F7"/>
                </a:solidFill>
                <a:latin typeface="Arial"/>
                <a:ea typeface="Arial"/>
                <a:cs typeface="Arial"/>
              </a:rPr>
              <a:t>Research response:</a:t>
            </a:r>
          </a:p>
        </p:txBody>
      </p:sp>
      <p:sp>
        <p:nvSpPr>
          <p:cNvPr id="220" name="Google Shape;220;p11">
            <a:extLst xmlns:a="http://schemas.openxmlformats.org/drawingml/2006/main">
              <a:ext uri="{FF2B5EF4-FFF2-40B4-BE49-F238E27FC236}">
                <a16:creationId xmlns:a16="http://schemas.microsoft.com/office/drawing/2014/main" id="{2204518F-3864-4CFE-A06C-010709EEA127}"/>
              </a:ext>
            </a:extLst>
          </p:cNvPr>
          <p:cNvSpPr>
            <a:spLocks xmlns:a="http://schemas.openxmlformats.org/drawingml/2006/main" noGrp="1"/>
          </p:cNvSpPr>
          <p:nvPr/>
        </p:nvSpPr>
        <p:spPr>
          <a:xfrm xmlns:a="http://schemas.openxmlformats.org/drawingml/2006/main">
            <a:off x="6492240" y="2606040"/>
            <a:ext cx="45720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Analyze the failure.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Revise one design feature.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Retest under the same conditions.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Compare evidence across versions.</a:t>
            </a:r>
          </a:p>
        </p:txBody>
      </p:sp>
      <p:sp>
        <p:nvSpPr>
          <p:cNvPr id="221" name="Google Shape;221;p11">
            <a:extLst xmlns:a="http://schemas.openxmlformats.org/drawingml/2006/main">
              <a:ext uri="{FF2B5EF4-FFF2-40B4-BE49-F238E27FC236}">
                <a16:creationId xmlns:a16="http://schemas.microsoft.com/office/drawing/2014/main" id="{93D7614A-C734-4961-80E3-EC848E5217DC}"/>
              </a:ext>
            </a:extLst>
          </p:cNvPr>
          <p:cNvSpPr>
            <a:spLocks xmlns:a="http://schemas.openxmlformats.org/drawingml/2006/main" noGrp="1"/>
          </p:cNvSpPr>
          <p:nvPr/>
        </p:nvSpPr>
        <p:spPr>
          <a:xfrm xmlns:a="http://schemas.openxmlformats.org/drawingml/2006/main">
            <a:off x="6492240" y="4800600"/>
            <a:ext cx="4572000" cy="640080"/>
          </a:xfrm>
          <a:prstGeom xmlns:a="http://schemas.openxmlformats.org/drawingml/2006/main" prst="roundRect">
            <a:avLst>
              <a:gd name="adj" fmla="val 11429"/>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22" name="Google Shape;222;p11">
            <a:extLst xmlns:a="http://schemas.openxmlformats.org/drawingml/2006/main">
              <a:ext uri="{FF2B5EF4-FFF2-40B4-BE49-F238E27FC236}">
                <a16:creationId xmlns:a16="http://schemas.microsoft.com/office/drawing/2014/main" id="{04EC77BB-1F5E-4F02-B305-4E81643513AD}"/>
              </a:ext>
            </a:extLst>
          </p:cNvPr>
          <p:cNvSpPr>
            <a:spLocks xmlns:a="http://schemas.openxmlformats.org/drawingml/2006/main" noGrp="1"/>
          </p:cNvSpPr>
          <p:nvPr/>
        </p:nvSpPr>
        <p:spPr>
          <a:xfrm xmlns:a="http://schemas.openxmlformats.org/drawingml/2006/main">
            <a:off x="6647688" y="4928616"/>
            <a:ext cx="426110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Engineering projects often learn the most from controlled failure.</a:t>
            </a:r>
          </a:p>
        </p:txBody>
      </p:sp>
    </p:spTree>
    <p:extLst>
      <p:ext uri="{BB962C8B-B14F-4D97-AF65-F5344CB8AC3E}">
        <p14:creationId xmlns:p14="http://schemas.microsoft.com/office/powerpoint/2010/main" val="1174163714"/>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28" name="Google Shape;228;p12">
            <a:extLst xmlns:a="http://schemas.openxmlformats.org/drawingml/2006/main">
              <a:ext uri="{FF2B5EF4-FFF2-40B4-BE49-F238E27FC236}">
                <a16:creationId xmlns:a16="http://schemas.microsoft.com/office/drawing/2014/main" id="{838849AE-C9D4-41DF-A28F-F22FECA88E1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29" name="Google Shape;229;p12">
            <a:extLst xmlns:a="http://schemas.openxmlformats.org/drawingml/2006/main">
              <a:ext uri="{FF2B5EF4-FFF2-40B4-BE49-F238E27FC236}">
                <a16:creationId xmlns:a16="http://schemas.microsoft.com/office/drawing/2014/main" id="{75E164BF-61E3-42E8-9225-177B9DA97E54}"/>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30" name="Google Shape;230;p12">
            <a:extLst xmlns:a="http://schemas.openxmlformats.org/drawingml/2006/main">
              <a:ext uri="{FF2B5EF4-FFF2-40B4-BE49-F238E27FC236}">
                <a16:creationId xmlns:a16="http://schemas.microsoft.com/office/drawing/2014/main" id="{BDF1E1AC-423A-423B-9F1C-9EE38754464D}"/>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31" name="Google Shape;231;p12">
            <a:extLst xmlns:a="http://schemas.openxmlformats.org/drawingml/2006/main">
              <a:ext uri="{FF2B5EF4-FFF2-40B4-BE49-F238E27FC236}">
                <a16:creationId xmlns:a16="http://schemas.microsoft.com/office/drawing/2014/main" id="{492E881E-626B-459D-8B25-58BBC79CBBDB}"/>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TIMELINE AND SCOPE PROBLEMS</a:t>
            </a:r>
          </a:p>
        </p:txBody>
      </p:sp>
      <p:sp>
        <p:nvSpPr>
          <p:cNvPr id="232" name="Google Shape;232;p12">
            <a:extLst xmlns:a="http://schemas.openxmlformats.org/drawingml/2006/main">
              <a:ext uri="{FF2B5EF4-FFF2-40B4-BE49-F238E27FC236}">
                <a16:creationId xmlns:a16="http://schemas.microsoft.com/office/drawing/2014/main" id="{C85737A2-9F48-4FF6-9B41-6B43EAC4DD37}"/>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33" name="Google Shape;233;p12">
            <a:extLst xmlns:a="http://schemas.openxmlformats.org/drawingml/2006/main">
              <a:ext uri="{FF2B5EF4-FFF2-40B4-BE49-F238E27FC236}">
                <a16:creationId xmlns:a16="http://schemas.microsoft.com/office/drawing/2014/main" id="{2996DE36-C581-4FB9-BD76-1B3C0FCBEEC3}"/>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Sometimes the project is too large for the time remaining.</a:t>
            </a:r>
          </a:p>
        </p:txBody>
      </p:sp>
      <p:cxnSp>
        <p:nvCxnSpPr>
          <p:cNvPr id="252" name="Google Shape;234;p12"/>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235" name="Google Shape;235;p12">
            <a:extLst xmlns:a="http://schemas.openxmlformats.org/drawingml/2006/main">
              <a:ext uri="{FF2B5EF4-FFF2-40B4-BE49-F238E27FC236}">
                <a16:creationId xmlns:a16="http://schemas.microsoft.com/office/drawing/2014/main" id="{0ED971AB-6F55-4F26-8EB3-683E626ED049}"/>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10</a:t>
            </a:r>
          </a:p>
        </p:txBody>
      </p:sp>
      <p:pic>
        <p:nvPicPr>
          <p:cNvPr id="254" name="Google Shape;236;p12"/>
          <p:cNvPicPr>
            <a:picLocks xmlns:a="http://schemas.openxmlformats.org/drawingml/2006/main" noChangeAspect="1"/>
          </p:cNvPicPr>
          <p:nvPr/>
        </p:nvPicPr>
        <p:blipFill rotWithShape="1">
          <a:blip xmlns:r="http://schemas.openxmlformats.org/officeDocument/2006/relationships" xmlns:a="http://schemas.openxmlformats.org/drawingml/2006/main" r:embed="R81b1a804de2f41ef">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237" name="Google Shape;237;p12">
            <a:extLst xmlns:a="http://schemas.openxmlformats.org/drawingml/2006/main">
              <a:ext uri="{FF2B5EF4-FFF2-40B4-BE49-F238E27FC236}">
                <a16:creationId xmlns:a16="http://schemas.microsoft.com/office/drawing/2014/main" id="{8E3FDBEA-196F-4B66-B605-9C40C78DC235}"/>
              </a:ext>
            </a:extLst>
          </p:cNvPr>
          <p:cNvSpPr>
            <a:spLocks xmlns:a="http://schemas.openxmlformats.org/drawingml/2006/main" noGrp="1"/>
          </p:cNvSpPr>
          <p:nvPr/>
        </p:nvSpPr>
        <p:spPr>
          <a:xfrm xmlns:a="http://schemas.openxmlformats.org/drawingml/2006/main">
            <a:off x="868680" y="1600200"/>
            <a:ext cx="2103120" cy="411480"/>
          </a:xfrm>
          <a:prstGeom xmlns:a="http://schemas.openxmlformats.org/drawingml/2006/main" prst="roundRect">
            <a:avLst>
              <a:gd name="adj" fmla="val 17778"/>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38" name="Google Shape;238;p12">
            <a:extLst xmlns:a="http://schemas.openxmlformats.org/drawingml/2006/main">
              <a:ext uri="{FF2B5EF4-FFF2-40B4-BE49-F238E27FC236}">
                <a16:creationId xmlns:a16="http://schemas.microsoft.com/office/drawing/2014/main" id="{C6E187A0-1E78-4C21-8905-8820CF103CAF}"/>
              </a:ext>
            </a:extLst>
          </p:cNvPr>
          <p:cNvSpPr>
            <a:spLocks xmlns:a="http://schemas.openxmlformats.org/drawingml/2006/main" noGrp="1"/>
          </p:cNvSpPr>
          <p:nvPr/>
        </p:nvSpPr>
        <p:spPr>
          <a:xfrm xmlns:a="http://schemas.openxmlformats.org/drawingml/2006/main">
            <a:off x="1024128" y="1728216"/>
            <a:ext cx="1792224"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1" i="0" u="none" cap="none">
                <a:solidFill>
                  <a:srgbClr val="F7F7F7"/>
                </a:solidFill>
                <a:latin typeface="Arial"/>
                <a:ea typeface="Arial"/>
                <a:cs typeface="Arial"/>
              </a:rPr>
              <a:t>Warning signs</a:t>
            </a:r>
          </a:p>
        </p:txBody>
      </p:sp>
      <p:sp>
        <p:nvSpPr>
          <p:cNvPr id="239" name="Google Shape;239;p12">
            <a:extLst xmlns:a="http://schemas.openxmlformats.org/drawingml/2006/main">
              <a:ext uri="{FF2B5EF4-FFF2-40B4-BE49-F238E27FC236}">
                <a16:creationId xmlns:a16="http://schemas.microsoft.com/office/drawing/2014/main" id="{FC78BA33-E29B-4F44-A926-66FFC4FF8D77}"/>
              </a:ext>
            </a:extLst>
          </p:cNvPr>
          <p:cNvSpPr>
            <a:spLocks xmlns:a="http://schemas.openxmlformats.org/drawingml/2006/main" noGrp="1"/>
          </p:cNvSpPr>
          <p:nvPr/>
        </p:nvSpPr>
        <p:spPr>
          <a:xfrm xmlns:a="http://schemas.openxmlformats.org/drawingml/2006/main">
            <a:off x="960120" y="2148840"/>
            <a:ext cx="4937760" cy="2194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Materials still not available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Full data collection would take too long</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Too many variables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Too many prototype versions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No usable data by the midpoint</a:t>
            </a:r>
          </a:p>
        </p:txBody>
      </p:sp>
      <p:sp>
        <p:nvSpPr>
          <p:cNvPr id="240" name="Google Shape;240;p12">
            <a:extLst xmlns:a="http://schemas.openxmlformats.org/drawingml/2006/main">
              <a:ext uri="{FF2B5EF4-FFF2-40B4-BE49-F238E27FC236}">
                <a16:creationId xmlns:a16="http://schemas.microsoft.com/office/drawing/2014/main" id="{2A9F2BF9-C6A4-4EAD-9B89-0938EAEDF64F}"/>
              </a:ext>
            </a:extLst>
          </p:cNvPr>
          <p:cNvSpPr>
            <a:spLocks xmlns:a="http://schemas.openxmlformats.org/drawingml/2006/main" noGrp="1"/>
          </p:cNvSpPr>
          <p:nvPr/>
        </p:nvSpPr>
        <p:spPr>
          <a:xfrm xmlns:a="http://schemas.openxmlformats.org/drawingml/2006/main">
            <a:off x="6400800" y="1600200"/>
            <a:ext cx="2926080" cy="411480"/>
          </a:xfrm>
          <a:prstGeom xmlns:a="http://schemas.openxmlformats.org/drawingml/2006/main" prst="roundRect">
            <a:avLst>
              <a:gd name="adj" fmla="val 17778"/>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41" name="Google Shape;241;p12">
            <a:extLst xmlns:a="http://schemas.openxmlformats.org/drawingml/2006/main">
              <a:ext uri="{FF2B5EF4-FFF2-40B4-BE49-F238E27FC236}">
                <a16:creationId xmlns:a16="http://schemas.microsoft.com/office/drawing/2014/main" id="{42196AE0-B45D-489F-A122-4FD57C6C60CC}"/>
              </a:ext>
            </a:extLst>
          </p:cNvPr>
          <p:cNvSpPr>
            <a:spLocks xmlns:a="http://schemas.openxmlformats.org/drawingml/2006/main" noGrp="1"/>
          </p:cNvSpPr>
          <p:nvPr/>
        </p:nvSpPr>
        <p:spPr>
          <a:xfrm xmlns:a="http://schemas.openxmlformats.org/drawingml/2006/main">
            <a:off x="6556248" y="1728216"/>
            <a:ext cx="2615184"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1" i="0" u="none" cap="none">
                <a:solidFill>
                  <a:srgbClr val="F7F7F7"/>
                </a:solidFill>
                <a:latin typeface="Arial"/>
                <a:ea typeface="Arial"/>
                <a:cs typeface="Arial"/>
              </a:rPr>
              <a:t>Responsible response</a:t>
            </a:r>
          </a:p>
        </p:txBody>
      </p:sp>
      <p:sp>
        <p:nvSpPr>
          <p:cNvPr id="242" name="Google Shape;242;p12">
            <a:extLst xmlns:a="http://schemas.openxmlformats.org/drawingml/2006/main">
              <a:ext uri="{FF2B5EF4-FFF2-40B4-BE49-F238E27FC236}">
                <a16:creationId xmlns:a16="http://schemas.microsoft.com/office/drawing/2014/main" id="{035A1AA3-FFAC-4BE4-A1E8-C75AB91016D9}"/>
              </a:ext>
            </a:extLst>
          </p:cNvPr>
          <p:cNvSpPr>
            <a:spLocks xmlns:a="http://schemas.openxmlformats.org/drawingml/2006/main" noGrp="1"/>
          </p:cNvSpPr>
          <p:nvPr/>
        </p:nvSpPr>
        <p:spPr>
          <a:xfrm xmlns:a="http://schemas.openxmlformats.org/drawingml/2006/main">
            <a:off x="6492240" y="2148840"/>
            <a:ext cx="4754880" cy="2194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Reduce scope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Test fewer conditions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Frame as a pilot study</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Focus on one meaningful comparison</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Create a documented recovery plan</a:t>
            </a:r>
          </a:p>
        </p:txBody>
      </p:sp>
      <p:sp>
        <p:nvSpPr>
          <p:cNvPr id="243" name="Google Shape;243;p12">
            <a:extLst xmlns:a="http://schemas.openxmlformats.org/drawingml/2006/main">
              <a:ext uri="{FF2B5EF4-FFF2-40B4-BE49-F238E27FC236}">
                <a16:creationId xmlns:a16="http://schemas.microsoft.com/office/drawing/2014/main" id="{91CEE9A6-2B39-481C-BA5B-AB29AF13D25A}"/>
              </a:ext>
            </a:extLst>
          </p:cNvPr>
          <p:cNvSpPr>
            <a:spLocks xmlns:a="http://schemas.openxmlformats.org/drawingml/2006/main" noGrp="1"/>
          </p:cNvSpPr>
          <p:nvPr/>
        </p:nvSpPr>
        <p:spPr>
          <a:xfrm xmlns:a="http://schemas.openxmlformats.org/drawingml/2006/main">
            <a:off x="960120" y="5138928"/>
            <a:ext cx="10241280" cy="548640"/>
          </a:xfrm>
          <a:prstGeom xmlns:a="http://schemas.openxmlformats.org/drawingml/2006/main" prst="roundRect">
            <a:avLst>
              <a:gd name="adj" fmla="val 13333"/>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44" name="Google Shape;244;p12">
            <a:extLst xmlns:a="http://schemas.openxmlformats.org/drawingml/2006/main">
              <a:ext uri="{FF2B5EF4-FFF2-40B4-BE49-F238E27FC236}">
                <a16:creationId xmlns:a16="http://schemas.microsoft.com/office/drawing/2014/main" id="{3DA98D53-A8EA-4302-9636-9FFC8B573F61}"/>
              </a:ext>
            </a:extLst>
          </p:cNvPr>
          <p:cNvSpPr>
            <a:spLocks xmlns:a="http://schemas.openxmlformats.org/drawingml/2006/main" noGrp="1"/>
          </p:cNvSpPr>
          <p:nvPr/>
        </p:nvSpPr>
        <p:spPr>
          <a:xfrm xmlns:a="http://schemas.openxmlformats.org/drawingml/2006/main">
            <a:off x="1115568" y="5266944"/>
            <a:ext cx="9930384"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100"/>
              <a:buFont typeface="Arial"/>
              <a:buNone/>
            </a:pPr>
            <a:r>
              <a:rPr sz="2100" b="1" i="0" u="none" cap="none">
                <a:solidFill>
                  <a:srgbClr val="F7F7F7"/>
                </a:solidFill>
                <a:latin typeface="Arial"/>
                <a:ea typeface="Arial"/>
                <a:cs typeface="Arial"/>
              </a:rPr>
              <a:t>Smaller and defensible beats ambitious and incomplete.</a:t>
            </a:r>
          </a:p>
        </p:txBody>
      </p:sp>
    </p:spTree>
    <p:extLst>
      <p:ext uri="{BB962C8B-B14F-4D97-AF65-F5344CB8AC3E}">
        <p14:creationId xmlns:p14="http://schemas.microsoft.com/office/powerpoint/2010/main" val="1442421046"/>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50" name="Google Shape;250;p13">
            <a:extLst xmlns:a="http://schemas.openxmlformats.org/drawingml/2006/main">
              <a:ext uri="{FF2B5EF4-FFF2-40B4-BE49-F238E27FC236}">
                <a16:creationId xmlns:a16="http://schemas.microsoft.com/office/drawing/2014/main" id="{622B45AF-807F-464A-9855-12371A79433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1" name="Google Shape;251;p13">
            <a:extLst xmlns:a="http://schemas.openxmlformats.org/drawingml/2006/main">
              <a:ext uri="{FF2B5EF4-FFF2-40B4-BE49-F238E27FC236}">
                <a16:creationId xmlns:a16="http://schemas.microsoft.com/office/drawing/2014/main" id="{10FCF56A-D52E-42FA-864A-945AF18BEEDC}"/>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2" name="Google Shape;252;p13">
            <a:extLst xmlns:a="http://schemas.openxmlformats.org/drawingml/2006/main">
              <a:ext uri="{FF2B5EF4-FFF2-40B4-BE49-F238E27FC236}">
                <a16:creationId xmlns:a16="http://schemas.microsoft.com/office/drawing/2014/main" id="{539EAE10-ED4E-4549-B1DB-33F929D5C7F3}"/>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3" name="Google Shape;253;p13">
            <a:extLst xmlns:a="http://schemas.openxmlformats.org/drawingml/2006/main">
              <a:ext uri="{FF2B5EF4-FFF2-40B4-BE49-F238E27FC236}">
                <a16:creationId xmlns:a16="http://schemas.microsoft.com/office/drawing/2014/main" id="{6E8EFE0D-690E-4FA6-AE0C-CC6EA27F03F5}"/>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THE TROUBLESHOOTING LOG</a:t>
            </a:r>
          </a:p>
        </p:txBody>
      </p:sp>
      <p:sp>
        <p:nvSpPr>
          <p:cNvPr id="254" name="Google Shape;254;p13">
            <a:extLst xmlns:a="http://schemas.openxmlformats.org/drawingml/2006/main">
              <a:ext uri="{FF2B5EF4-FFF2-40B4-BE49-F238E27FC236}">
                <a16:creationId xmlns:a16="http://schemas.microsoft.com/office/drawing/2014/main" id="{BC095F48-733E-4BC8-8CAA-6E72B9FB1EFE}"/>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5" name="Google Shape;255;p13">
            <a:extLst xmlns:a="http://schemas.openxmlformats.org/drawingml/2006/main">
              <a:ext uri="{FF2B5EF4-FFF2-40B4-BE49-F238E27FC236}">
                <a16:creationId xmlns:a16="http://schemas.microsoft.com/office/drawing/2014/main" id="{F858D300-23F1-47CD-9762-460D968E8EAA}"/>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Your fix is only scientific if it is documented.</a:t>
            </a:r>
          </a:p>
        </p:txBody>
      </p:sp>
      <p:cxnSp>
        <p:nvCxnSpPr>
          <p:cNvPr id="280" name="Google Shape;256;p13"/>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257" name="Google Shape;257;p13">
            <a:extLst xmlns:a="http://schemas.openxmlformats.org/drawingml/2006/main">
              <a:ext uri="{FF2B5EF4-FFF2-40B4-BE49-F238E27FC236}">
                <a16:creationId xmlns:a16="http://schemas.microsoft.com/office/drawing/2014/main" id="{222DDD7A-A866-4948-A05D-9E041625B560}"/>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11</a:t>
            </a:r>
          </a:p>
        </p:txBody>
      </p:sp>
      <p:pic>
        <p:nvPicPr>
          <p:cNvPr id="282" name="Google Shape;258;p13"/>
          <p:cNvPicPr>
            <a:picLocks xmlns:a="http://schemas.openxmlformats.org/drawingml/2006/main" noChangeAspect="1"/>
          </p:cNvPicPr>
          <p:nvPr/>
        </p:nvPicPr>
        <p:blipFill rotWithShape="1">
          <a:blip xmlns:r="http://schemas.openxmlformats.org/officeDocument/2006/relationships" xmlns:a="http://schemas.openxmlformats.org/drawingml/2006/main" r:embed="Rf98b51ebf1924631">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259" name="Google Shape;259;p13">
            <a:extLst xmlns:a="http://schemas.openxmlformats.org/drawingml/2006/main">
              <a:ext uri="{FF2B5EF4-FFF2-40B4-BE49-F238E27FC236}">
                <a16:creationId xmlns:a16="http://schemas.microsoft.com/office/drawing/2014/main" id="{1BB8C957-542C-4A36-9EF0-B5070CDC1915}"/>
              </a:ext>
            </a:extLst>
          </p:cNvPr>
          <p:cNvSpPr>
            <a:spLocks xmlns:a="http://schemas.openxmlformats.org/drawingml/2006/main" noGrp="1"/>
          </p:cNvSpPr>
          <p:nvPr/>
        </p:nvSpPr>
        <p:spPr>
          <a:xfrm xmlns:a="http://schemas.openxmlformats.org/drawingml/2006/main">
            <a:off x="868680" y="1600200"/>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60" name="Google Shape;260;p13">
            <a:extLst xmlns:a="http://schemas.openxmlformats.org/drawingml/2006/main">
              <a:ext uri="{FF2B5EF4-FFF2-40B4-BE49-F238E27FC236}">
                <a16:creationId xmlns:a16="http://schemas.microsoft.com/office/drawing/2014/main" id="{DAA00896-E410-4895-AA25-C628D86107B2}"/>
              </a:ext>
            </a:extLst>
          </p:cNvPr>
          <p:cNvSpPr>
            <a:spLocks xmlns:a="http://schemas.openxmlformats.org/drawingml/2006/main" noGrp="1"/>
          </p:cNvSpPr>
          <p:nvPr/>
        </p:nvSpPr>
        <p:spPr>
          <a:xfrm xmlns:a="http://schemas.openxmlformats.org/drawingml/2006/main">
            <a:off x="1024128" y="1728216"/>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Problem observed</a:t>
            </a:r>
          </a:p>
        </p:txBody>
      </p:sp>
      <p:sp>
        <p:nvSpPr>
          <p:cNvPr id="261" name="Google Shape;261;p13">
            <a:extLst xmlns:a="http://schemas.openxmlformats.org/drawingml/2006/main">
              <a:ext uri="{FF2B5EF4-FFF2-40B4-BE49-F238E27FC236}">
                <a16:creationId xmlns:a16="http://schemas.microsoft.com/office/drawing/2014/main" id="{2D7E5566-8DD7-4FEB-8534-0DDF7C3FDE06}"/>
              </a:ext>
            </a:extLst>
          </p:cNvPr>
          <p:cNvSpPr>
            <a:spLocks xmlns:a="http://schemas.openxmlformats.org/drawingml/2006/main" noGrp="1"/>
          </p:cNvSpPr>
          <p:nvPr/>
        </p:nvSpPr>
        <p:spPr>
          <a:xfrm xmlns:a="http://schemas.openxmlformats.org/drawingml/2006/main">
            <a:off x="868680" y="2624328"/>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62" name="Google Shape;262;p13">
            <a:extLst xmlns:a="http://schemas.openxmlformats.org/drawingml/2006/main">
              <a:ext uri="{FF2B5EF4-FFF2-40B4-BE49-F238E27FC236}">
                <a16:creationId xmlns:a16="http://schemas.microsoft.com/office/drawing/2014/main" id="{6377C47D-A96F-41FF-AACB-654B46C6D1CE}"/>
              </a:ext>
            </a:extLst>
          </p:cNvPr>
          <p:cNvSpPr>
            <a:spLocks xmlns:a="http://schemas.openxmlformats.org/drawingml/2006/main" noGrp="1"/>
          </p:cNvSpPr>
          <p:nvPr/>
        </p:nvSpPr>
        <p:spPr>
          <a:xfrm xmlns:a="http://schemas.openxmlformats.org/drawingml/2006/main">
            <a:off x="1024128" y="2752344"/>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Evidence</a:t>
            </a:r>
          </a:p>
        </p:txBody>
      </p:sp>
      <p:sp>
        <p:nvSpPr>
          <p:cNvPr id="263" name="Google Shape;263;p13">
            <a:extLst xmlns:a="http://schemas.openxmlformats.org/drawingml/2006/main">
              <a:ext uri="{FF2B5EF4-FFF2-40B4-BE49-F238E27FC236}">
                <a16:creationId xmlns:a16="http://schemas.microsoft.com/office/drawing/2014/main" id="{E8C3DDB2-66DA-4CDE-8479-B3BADC62122B}"/>
              </a:ext>
            </a:extLst>
          </p:cNvPr>
          <p:cNvSpPr>
            <a:spLocks xmlns:a="http://schemas.openxmlformats.org/drawingml/2006/main" noGrp="1"/>
          </p:cNvSpPr>
          <p:nvPr/>
        </p:nvSpPr>
        <p:spPr>
          <a:xfrm xmlns:a="http://schemas.openxmlformats.org/drawingml/2006/main">
            <a:off x="868680" y="3648456"/>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64" name="Google Shape;264;p13">
            <a:extLst xmlns:a="http://schemas.openxmlformats.org/drawingml/2006/main">
              <a:ext uri="{FF2B5EF4-FFF2-40B4-BE49-F238E27FC236}">
                <a16:creationId xmlns:a16="http://schemas.microsoft.com/office/drawing/2014/main" id="{2824B65A-D9C3-40BC-8C03-05BDE8DDE43B}"/>
              </a:ext>
            </a:extLst>
          </p:cNvPr>
          <p:cNvSpPr>
            <a:spLocks xmlns:a="http://schemas.openxmlformats.org/drawingml/2006/main" noGrp="1"/>
          </p:cNvSpPr>
          <p:nvPr/>
        </p:nvSpPr>
        <p:spPr>
          <a:xfrm xmlns:a="http://schemas.openxmlformats.org/drawingml/2006/main">
            <a:off x="1024128" y="3776472"/>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Possible cause</a:t>
            </a:r>
          </a:p>
        </p:txBody>
      </p:sp>
      <p:sp>
        <p:nvSpPr>
          <p:cNvPr id="265" name="Google Shape;265;p13">
            <a:extLst xmlns:a="http://schemas.openxmlformats.org/drawingml/2006/main">
              <a:ext uri="{FF2B5EF4-FFF2-40B4-BE49-F238E27FC236}">
                <a16:creationId xmlns:a16="http://schemas.microsoft.com/office/drawing/2014/main" id="{66F51AC7-464B-4212-8E02-E42BA2B203C8}"/>
              </a:ext>
            </a:extLst>
          </p:cNvPr>
          <p:cNvSpPr>
            <a:spLocks xmlns:a="http://schemas.openxmlformats.org/drawingml/2006/main" noGrp="1"/>
          </p:cNvSpPr>
          <p:nvPr/>
        </p:nvSpPr>
        <p:spPr>
          <a:xfrm xmlns:a="http://schemas.openxmlformats.org/drawingml/2006/main">
            <a:off x="6309360" y="1600200"/>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66" name="Google Shape;266;p13">
            <a:extLst xmlns:a="http://schemas.openxmlformats.org/drawingml/2006/main">
              <a:ext uri="{FF2B5EF4-FFF2-40B4-BE49-F238E27FC236}">
                <a16:creationId xmlns:a16="http://schemas.microsoft.com/office/drawing/2014/main" id="{08AB059A-2F34-4438-AC39-8A503C880F1A}"/>
              </a:ext>
            </a:extLst>
          </p:cNvPr>
          <p:cNvSpPr>
            <a:spLocks xmlns:a="http://schemas.openxmlformats.org/drawingml/2006/main" noGrp="1"/>
          </p:cNvSpPr>
          <p:nvPr/>
        </p:nvSpPr>
        <p:spPr>
          <a:xfrm xmlns:a="http://schemas.openxmlformats.org/drawingml/2006/main">
            <a:off x="6464808" y="1728216"/>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Proposed fix</a:t>
            </a:r>
          </a:p>
        </p:txBody>
      </p:sp>
      <p:sp>
        <p:nvSpPr>
          <p:cNvPr id="267" name="Google Shape;267;p13">
            <a:extLst xmlns:a="http://schemas.openxmlformats.org/drawingml/2006/main">
              <a:ext uri="{FF2B5EF4-FFF2-40B4-BE49-F238E27FC236}">
                <a16:creationId xmlns:a16="http://schemas.microsoft.com/office/drawing/2014/main" id="{0ACF6160-C0DD-4849-8E2B-BB61D9D67E5C}"/>
              </a:ext>
            </a:extLst>
          </p:cNvPr>
          <p:cNvSpPr>
            <a:spLocks xmlns:a="http://schemas.openxmlformats.org/drawingml/2006/main" noGrp="1"/>
          </p:cNvSpPr>
          <p:nvPr/>
        </p:nvSpPr>
        <p:spPr>
          <a:xfrm xmlns:a="http://schemas.openxmlformats.org/drawingml/2006/main">
            <a:off x="6309360" y="2624328"/>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68" name="Google Shape;268;p13">
            <a:extLst xmlns:a="http://schemas.openxmlformats.org/drawingml/2006/main">
              <a:ext uri="{FF2B5EF4-FFF2-40B4-BE49-F238E27FC236}">
                <a16:creationId xmlns:a16="http://schemas.microsoft.com/office/drawing/2014/main" id="{70F2B825-A28E-4C66-BE8C-696DB1D01EDB}"/>
              </a:ext>
            </a:extLst>
          </p:cNvPr>
          <p:cNvSpPr>
            <a:spLocks xmlns:a="http://schemas.openxmlformats.org/drawingml/2006/main" noGrp="1"/>
          </p:cNvSpPr>
          <p:nvPr/>
        </p:nvSpPr>
        <p:spPr>
          <a:xfrm xmlns:a="http://schemas.openxmlformats.org/drawingml/2006/main">
            <a:off x="6464808" y="2752344"/>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Approval needed?</a:t>
            </a:r>
          </a:p>
        </p:txBody>
      </p:sp>
      <p:sp>
        <p:nvSpPr>
          <p:cNvPr id="269" name="Google Shape;269;p13">
            <a:extLst xmlns:a="http://schemas.openxmlformats.org/drawingml/2006/main">
              <a:ext uri="{FF2B5EF4-FFF2-40B4-BE49-F238E27FC236}">
                <a16:creationId xmlns:a16="http://schemas.microsoft.com/office/drawing/2014/main" id="{4D034B88-26CB-4CBE-A8FF-603A3EA62356}"/>
              </a:ext>
            </a:extLst>
          </p:cNvPr>
          <p:cNvSpPr>
            <a:spLocks xmlns:a="http://schemas.openxmlformats.org/drawingml/2006/main" noGrp="1"/>
          </p:cNvSpPr>
          <p:nvPr/>
        </p:nvSpPr>
        <p:spPr>
          <a:xfrm xmlns:a="http://schemas.openxmlformats.org/drawingml/2006/main">
            <a:off x="6309360" y="3648456"/>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70" name="Google Shape;270;p13">
            <a:extLst xmlns:a="http://schemas.openxmlformats.org/drawingml/2006/main">
              <a:ext uri="{FF2B5EF4-FFF2-40B4-BE49-F238E27FC236}">
                <a16:creationId xmlns:a16="http://schemas.microsoft.com/office/drawing/2014/main" id="{C6327861-F58D-446A-8102-F338772F9506}"/>
              </a:ext>
            </a:extLst>
          </p:cNvPr>
          <p:cNvSpPr>
            <a:spLocks xmlns:a="http://schemas.openxmlformats.org/drawingml/2006/main" noGrp="1"/>
          </p:cNvSpPr>
          <p:nvPr/>
        </p:nvSpPr>
        <p:spPr>
          <a:xfrm xmlns:a="http://schemas.openxmlformats.org/drawingml/2006/main">
            <a:off x="6464808" y="3776472"/>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Result of fix</a:t>
            </a:r>
          </a:p>
        </p:txBody>
      </p:sp>
      <p:sp>
        <p:nvSpPr>
          <p:cNvPr id="271" name="Google Shape;271;p13">
            <a:extLst xmlns:a="http://schemas.openxmlformats.org/drawingml/2006/main">
              <a:ext uri="{FF2B5EF4-FFF2-40B4-BE49-F238E27FC236}">
                <a16:creationId xmlns:a16="http://schemas.microsoft.com/office/drawing/2014/main" id="{5BF0CC68-D965-4EB5-9365-4AC2401646C5}"/>
              </a:ext>
            </a:extLst>
          </p:cNvPr>
          <p:cNvSpPr>
            <a:spLocks xmlns:a="http://schemas.openxmlformats.org/drawingml/2006/main" noGrp="1"/>
          </p:cNvSpPr>
          <p:nvPr/>
        </p:nvSpPr>
        <p:spPr>
          <a:xfrm xmlns:a="http://schemas.openxmlformats.org/drawingml/2006/main">
            <a:off x="914400" y="5074920"/>
            <a:ext cx="1033272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72" name="Google Shape;272;p13">
            <a:extLst xmlns:a="http://schemas.openxmlformats.org/drawingml/2006/main">
              <a:ext uri="{FF2B5EF4-FFF2-40B4-BE49-F238E27FC236}">
                <a16:creationId xmlns:a16="http://schemas.microsoft.com/office/drawing/2014/main" id="{3DF204FB-5D6B-4E36-8E99-7E3465542BAD}"/>
              </a:ext>
            </a:extLst>
          </p:cNvPr>
          <p:cNvSpPr>
            <a:spLocks xmlns:a="http://schemas.openxmlformats.org/drawingml/2006/main" noGrp="1"/>
          </p:cNvSpPr>
          <p:nvPr/>
        </p:nvSpPr>
        <p:spPr>
          <a:xfrm xmlns:a="http://schemas.openxmlformats.org/drawingml/2006/main">
            <a:off x="1069848" y="5202936"/>
            <a:ext cx="1002182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Handout match: Student Handout 4 — Pilot Test Reflection and Troubleshooting Log</a:t>
            </a:r>
          </a:p>
        </p:txBody>
      </p:sp>
    </p:spTree>
    <p:extLst>
      <p:ext uri="{BB962C8B-B14F-4D97-AF65-F5344CB8AC3E}">
        <p14:creationId xmlns:p14="http://schemas.microsoft.com/office/powerpoint/2010/main" val="718818421"/>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78" name="Google Shape;278;p14">
            <a:extLst xmlns:a="http://schemas.openxmlformats.org/drawingml/2006/main">
              <a:ext uri="{FF2B5EF4-FFF2-40B4-BE49-F238E27FC236}">
                <a16:creationId xmlns:a16="http://schemas.microsoft.com/office/drawing/2014/main" id="{EC384003-C6A6-4F00-B817-AF5E6492F12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79" name="Google Shape;279;p14">
            <a:extLst xmlns:a="http://schemas.openxmlformats.org/drawingml/2006/main">
              <a:ext uri="{FF2B5EF4-FFF2-40B4-BE49-F238E27FC236}">
                <a16:creationId xmlns:a16="http://schemas.microsoft.com/office/drawing/2014/main" id="{377F980F-A46F-47B7-85A9-3ED8CAB2CCA5}"/>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80" name="Google Shape;280;p14">
            <a:extLst xmlns:a="http://schemas.openxmlformats.org/drawingml/2006/main">
              <a:ext uri="{FF2B5EF4-FFF2-40B4-BE49-F238E27FC236}">
                <a16:creationId xmlns:a16="http://schemas.microsoft.com/office/drawing/2014/main" id="{36363A5F-3BB9-4972-BCFF-EDA15B3F0201}"/>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81" name="Google Shape;281;p14">
            <a:extLst xmlns:a="http://schemas.openxmlformats.org/drawingml/2006/main">
              <a:ext uri="{FF2B5EF4-FFF2-40B4-BE49-F238E27FC236}">
                <a16:creationId xmlns:a16="http://schemas.microsoft.com/office/drawing/2014/main" id="{BA612032-4E0B-4436-90CC-6A5EE40E9E49}"/>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RESPONSIBLE PROJECT PIVOTS</a:t>
            </a:r>
          </a:p>
        </p:txBody>
      </p:sp>
      <p:sp>
        <p:nvSpPr>
          <p:cNvPr id="282" name="Google Shape;282;p14">
            <a:extLst xmlns:a="http://schemas.openxmlformats.org/drawingml/2006/main">
              <a:ext uri="{FF2B5EF4-FFF2-40B4-BE49-F238E27FC236}">
                <a16:creationId xmlns:a16="http://schemas.microsoft.com/office/drawing/2014/main" id="{82D353B1-B576-4031-B2C6-CCE6A3999093}"/>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83" name="Google Shape;283;p14">
            <a:extLst xmlns:a="http://schemas.openxmlformats.org/drawingml/2006/main">
              <a:ext uri="{FF2B5EF4-FFF2-40B4-BE49-F238E27FC236}">
                <a16:creationId xmlns:a16="http://schemas.microsoft.com/office/drawing/2014/main" id="{71BD2011-A317-46AC-913A-B628C5BC692C}"/>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A pivot is not quitting. It is a justified change in direction.</a:t>
            </a:r>
          </a:p>
        </p:txBody>
      </p:sp>
      <p:cxnSp>
        <p:nvCxnSpPr>
          <p:cNvPr id="300" name="Google Shape;284;p14"/>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285" name="Google Shape;285;p14">
            <a:extLst xmlns:a="http://schemas.openxmlformats.org/drawingml/2006/main">
              <a:ext uri="{FF2B5EF4-FFF2-40B4-BE49-F238E27FC236}">
                <a16:creationId xmlns:a16="http://schemas.microsoft.com/office/drawing/2014/main" id="{7F14BC8C-F852-4ADE-8A88-827C575213DA}"/>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12</a:t>
            </a:r>
          </a:p>
        </p:txBody>
      </p:sp>
      <p:pic>
        <p:nvPicPr>
          <p:cNvPr id="302" name="Google Shape;286;p14"/>
          <p:cNvPicPr>
            <a:picLocks xmlns:a="http://schemas.openxmlformats.org/drawingml/2006/main" noChangeAspect="1"/>
          </p:cNvPicPr>
          <p:nvPr/>
        </p:nvPicPr>
        <p:blipFill rotWithShape="1">
          <a:blip xmlns:r="http://schemas.openxmlformats.org/officeDocument/2006/relationships" xmlns:a="http://schemas.openxmlformats.org/drawingml/2006/main" r:embed="Re05e078c37524f12">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287" name="Google Shape;287;p14">
            <a:extLst xmlns:a="http://schemas.openxmlformats.org/drawingml/2006/main">
              <a:ext uri="{FF2B5EF4-FFF2-40B4-BE49-F238E27FC236}">
                <a16:creationId xmlns:a16="http://schemas.microsoft.com/office/drawing/2014/main" id="{7D6B5215-C5B8-4A53-A1C5-69055109A52C}"/>
              </a:ext>
            </a:extLst>
          </p:cNvPr>
          <p:cNvSpPr>
            <a:spLocks xmlns:a="http://schemas.openxmlformats.org/drawingml/2006/main" noGrp="1"/>
          </p:cNvSpPr>
          <p:nvPr/>
        </p:nvSpPr>
        <p:spPr>
          <a:xfrm xmlns:a="http://schemas.openxmlformats.org/drawingml/2006/main">
            <a:off x="868680" y="1600200"/>
            <a:ext cx="4023360" cy="438912"/>
          </a:xfrm>
          <a:prstGeom xmlns:a="http://schemas.openxmlformats.org/drawingml/2006/main" prst="roundRect">
            <a:avLst>
              <a:gd name="adj" fmla="val 16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88" name="Google Shape;288;p14">
            <a:extLst xmlns:a="http://schemas.openxmlformats.org/drawingml/2006/main">
              <a:ext uri="{FF2B5EF4-FFF2-40B4-BE49-F238E27FC236}">
                <a16:creationId xmlns:a16="http://schemas.microsoft.com/office/drawing/2014/main" id="{669AD7A6-4D15-4940-9F96-146F49F0FADC}"/>
              </a:ext>
            </a:extLst>
          </p:cNvPr>
          <p:cNvSpPr>
            <a:spLocks xmlns:a="http://schemas.openxmlformats.org/drawingml/2006/main" noGrp="1"/>
          </p:cNvSpPr>
          <p:nvPr/>
        </p:nvSpPr>
        <p:spPr>
          <a:xfrm xmlns:a="http://schemas.openxmlformats.org/drawingml/2006/main">
            <a:off x="1024128" y="1728216"/>
            <a:ext cx="3712464" cy="210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A responsible pivot...</a:t>
            </a:r>
          </a:p>
        </p:txBody>
      </p:sp>
      <p:sp>
        <p:nvSpPr>
          <p:cNvPr id="289" name="Google Shape;289;p14">
            <a:extLst xmlns:a="http://schemas.openxmlformats.org/drawingml/2006/main">
              <a:ext uri="{FF2B5EF4-FFF2-40B4-BE49-F238E27FC236}">
                <a16:creationId xmlns:a16="http://schemas.microsoft.com/office/drawing/2014/main" id="{DAE61278-F896-4869-97E4-F33C6FD83433}"/>
              </a:ext>
            </a:extLst>
          </p:cNvPr>
          <p:cNvSpPr>
            <a:spLocks xmlns:a="http://schemas.openxmlformats.org/drawingml/2006/main" noGrp="1"/>
          </p:cNvSpPr>
          <p:nvPr/>
        </p:nvSpPr>
        <p:spPr>
          <a:xfrm xmlns:a="http://schemas.openxmlformats.org/drawingml/2006/main">
            <a:off x="960120" y="2148840"/>
            <a:ext cx="502920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Preserves the core purpose when possible.</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Is based on evidence or feedback.</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Is approved before testing continues.</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Includes a revised question, method, or data plan.</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Is documented in the research journal.</a:t>
            </a:r>
          </a:p>
        </p:txBody>
      </p:sp>
      <p:sp>
        <p:nvSpPr>
          <p:cNvPr id="290" name="Google Shape;290;p14">
            <a:extLst xmlns:a="http://schemas.openxmlformats.org/drawingml/2006/main">
              <a:ext uri="{FF2B5EF4-FFF2-40B4-BE49-F238E27FC236}">
                <a16:creationId xmlns:a16="http://schemas.microsoft.com/office/drawing/2014/main" id="{129F7242-065A-4FDE-830D-986CB294D78D}"/>
              </a:ext>
            </a:extLst>
          </p:cNvPr>
          <p:cNvSpPr>
            <a:spLocks xmlns:a="http://schemas.openxmlformats.org/drawingml/2006/main" noGrp="1"/>
          </p:cNvSpPr>
          <p:nvPr/>
        </p:nvSpPr>
        <p:spPr>
          <a:xfrm xmlns:a="http://schemas.openxmlformats.org/drawingml/2006/main">
            <a:off x="6400800" y="1600200"/>
            <a:ext cx="3017520" cy="438912"/>
          </a:xfrm>
          <a:prstGeom xmlns:a="http://schemas.openxmlformats.org/drawingml/2006/main" prst="roundRect">
            <a:avLst>
              <a:gd name="adj" fmla="val 16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91" name="Google Shape;291;p14">
            <a:extLst xmlns:a="http://schemas.openxmlformats.org/drawingml/2006/main">
              <a:ext uri="{FF2B5EF4-FFF2-40B4-BE49-F238E27FC236}">
                <a16:creationId xmlns:a16="http://schemas.microsoft.com/office/drawing/2014/main" id="{D5506B00-C429-444D-9B9A-B5AF8FE99E67}"/>
              </a:ext>
            </a:extLst>
          </p:cNvPr>
          <p:cNvSpPr>
            <a:spLocks xmlns:a="http://schemas.openxmlformats.org/drawingml/2006/main" noGrp="1"/>
          </p:cNvSpPr>
          <p:nvPr/>
        </p:nvSpPr>
        <p:spPr>
          <a:xfrm xmlns:a="http://schemas.openxmlformats.org/drawingml/2006/main">
            <a:off x="6556248" y="1728216"/>
            <a:ext cx="2706624" cy="210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A weak pivot...</a:t>
            </a:r>
          </a:p>
        </p:txBody>
      </p:sp>
      <p:sp>
        <p:nvSpPr>
          <p:cNvPr id="292" name="Google Shape;292;p14">
            <a:extLst xmlns:a="http://schemas.openxmlformats.org/drawingml/2006/main">
              <a:ext uri="{FF2B5EF4-FFF2-40B4-BE49-F238E27FC236}">
                <a16:creationId xmlns:a16="http://schemas.microsoft.com/office/drawing/2014/main" id="{BABA360D-688E-46F6-B8F1-A20E91E292DF}"/>
              </a:ext>
            </a:extLst>
          </p:cNvPr>
          <p:cNvSpPr>
            <a:spLocks xmlns:a="http://schemas.openxmlformats.org/drawingml/2006/main" noGrp="1"/>
          </p:cNvSpPr>
          <p:nvPr/>
        </p:nvSpPr>
        <p:spPr>
          <a:xfrm xmlns:a="http://schemas.openxmlformats.org/drawingml/2006/main">
            <a:off x="6492240" y="2148840"/>
            <a:ext cx="484632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Happens because the project got hard.</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Avoids documentation.</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Ignores safety or approval.</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Changes the goal without a new evidence plan.</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Abandons useful failure data.</a:t>
            </a:r>
          </a:p>
        </p:txBody>
      </p:sp>
    </p:spTree>
    <p:extLst>
      <p:ext uri="{BB962C8B-B14F-4D97-AF65-F5344CB8AC3E}">
        <p14:creationId xmlns:p14="http://schemas.microsoft.com/office/powerpoint/2010/main" val="1110271353"/>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8" name="Google Shape;298;p15">
            <a:extLst xmlns:a="http://schemas.openxmlformats.org/drawingml/2006/main">
              <a:ext uri="{FF2B5EF4-FFF2-40B4-BE49-F238E27FC236}">
                <a16:creationId xmlns:a16="http://schemas.microsoft.com/office/drawing/2014/main" id="{61BECF00-4F41-4F50-B238-23A50512A3E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99" name="Google Shape;299;p15">
            <a:extLst xmlns:a="http://schemas.openxmlformats.org/drawingml/2006/main">
              <a:ext uri="{FF2B5EF4-FFF2-40B4-BE49-F238E27FC236}">
                <a16:creationId xmlns:a16="http://schemas.microsoft.com/office/drawing/2014/main" id="{2791660F-0375-4138-9DC4-3A969C3E3D37}"/>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0" name="Google Shape;300;p15">
            <a:extLst xmlns:a="http://schemas.openxmlformats.org/drawingml/2006/main">
              <a:ext uri="{FF2B5EF4-FFF2-40B4-BE49-F238E27FC236}">
                <a16:creationId xmlns:a16="http://schemas.microsoft.com/office/drawing/2014/main" id="{196455A5-6949-4742-A7AD-39814BCB3755}"/>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1" name="Google Shape;301;p15">
            <a:extLst xmlns:a="http://schemas.openxmlformats.org/drawingml/2006/main">
              <a:ext uri="{FF2B5EF4-FFF2-40B4-BE49-F238E27FC236}">
                <a16:creationId xmlns:a16="http://schemas.microsoft.com/office/drawing/2014/main" id="{756946F5-6962-420E-AD23-9124EEDDD9DE}"/>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PIVOT DECISION FLOW</a:t>
            </a:r>
          </a:p>
        </p:txBody>
      </p:sp>
      <p:sp>
        <p:nvSpPr>
          <p:cNvPr id="302" name="Google Shape;302;p15">
            <a:extLst xmlns:a="http://schemas.openxmlformats.org/drawingml/2006/main">
              <a:ext uri="{FF2B5EF4-FFF2-40B4-BE49-F238E27FC236}">
                <a16:creationId xmlns:a16="http://schemas.microsoft.com/office/drawing/2014/main" id="{DAC7628F-5E7E-4D78-BF4E-043EC632E2B5}"/>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3" name="Google Shape;303;p15">
            <a:extLst xmlns:a="http://schemas.openxmlformats.org/drawingml/2006/main">
              <a:ext uri="{FF2B5EF4-FFF2-40B4-BE49-F238E27FC236}">
                <a16:creationId xmlns:a16="http://schemas.microsoft.com/office/drawing/2014/main" id="{B87D4C21-665A-4BDE-A9E6-EB2582A32E12}"/>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Use evidence to choose the next move.</a:t>
            </a:r>
          </a:p>
        </p:txBody>
      </p:sp>
      <p:cxnSp>
        <p:nvCxnSpPr>
          <p:cNvPr id="333" name="Google Shape;304;p15"/>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305" name="Google Shape;305;p15">
            <a:extLst xmlns:a="http://schemas.openxmlformats.org/drawingml/2006/main">
              <a:ext uri="{FF2B5EF4-FFF2-40B4-BE49-F238E27FC236}">
                <a16:creationId xmlns:a16="http://schemas.microsoft.com/office/drawing/2014/main" id="{413362E9-51C4-4CE7-A20A-9784968804E4}"/>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13</a:t>
            </a:r>
          </a:p>
        </p:txBody>
      </p:sp>
      <p:pic>
        <p:nvPicPr>
          <p:cNvPr id="335" name="Google Shape;306;p15"/>
          <p:cNvPicPr>
            <a:picLocks xmlns:a="http://schemas.openxmlformats.org/drawingml/2006/main" noChangeAspect="1"/>
          </p:cNvPicPr>
          <p:nvPr/>
        </p:nvPicPr>
        <p:blipFill rotWithShape="1">
          <a:blip xmlns:r="http://schemas.openxmlformats.org/officeDocument/2006/relationships" xmlns:a="http://schemas.openxmlformats.org/drawingml/2006/main" r:embed="R3f115bd7a4c642bf">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307" name="Google Shape;307;p15">
            <a:extLst xmlns:a="http://schemas.openxmlformats.org/drawingml/2006/main">
              <a:ext uri="{FF2B5EF4-FFF2-40B4-BE49-F238E27FC236}">
                <a16:creationId xmlns:a16="http://schemas.microsoft.com/office/drawing/2014/main" id="{3189519C-FAE7-418A-903B-9064AFBDC1EA}"/>
              </a:ext>
            </a:extLst>
          </p:cNvPr>
          <p:cNvSpPr>
            <a:spLocks xmlns:a="http://schemas.openxmlformats.org/drawingml/2006/main" noGrp="1"/>
          </p:cNvSpPr>
          <p:nvPr/>
        </p:nvSpPr>
        <p:spPr>
          <a:xfrm xmlns:a="http://schemas.openxmlformats.org/drawingml/2006/main">
            <a:off x="822960" y="2148840"/>
            <a:ext cx="219456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8" name="Google Shape;308;p15">
            <a:extLst xmlns:a="http://schemas.openxmlformats.org/drawingml/2006/main">
              <a:ext uri="{FF2B5EF4-FFF2-40B4-BE49-F238E27FC236}">
                <a16:creationId xmlns:a16="http://schemas.microsoft.com/office/drawing/2014/main" id="{1AA6DABE-B83B-4EF9-81AC-2DC5C1A0902B}"/>
              </a:ext>
            </a:extLst>
          </p:cNvPr>
          <p:cNvSpPr>
            <a:spLocks xmlns:a="http://schemas.openxmlformats.org/drawingml/2006/main" noGrp="1"/>
          </p:cNvSpPr>
          <p:nvPr/>
        </p:nvSpPr>
        <p:spPr>
          <a:xfrm xmlns:a="http://schemas.openxmlformats.org/drawingml/2006/main">
            <a:off x="978408" y="2276856"/>
            <a:ext cx="18836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1" i="0" u="none" cap="none">
                <a:solidFill>
                  <a:srgbClr val="F7F7F7"/>
                </a:solidFill>
                <a:latin typeface="Arial"/>
                <a:ea typeface="Arial"/>
                <a:cs typeface="Arial"/>
              </a:rPr>
              <a:t>Problem identified</a:t>
            </a:r>
          </a:p>
        </p:txBody>
      </p:sp>
      <p:sp>
        <p:nvSpPr>
          <p:cNvPr id="309" name="Google Shape;309;p15">
            <a:extLst xmlns:a="http://schemas.openxmlformats.org/drawingml/2006/main">
              <a:ext uri="{FF2B5EF4-FFF2-40B4-BE49-F238E27FC236}">
                <a16:creationId xmlns:a16="http://schemas.microsoft.com/office/drawing/2014/main" id="{046E59DB-96B5-4B9D-BDF3-A9110D0B1EEA}"/>
              </a:ext>
            </a:extLst>
          </p:cNvPr>
          <p:cNvSpPr>
            <a:spLocks xmlns:a="http://schemas.openxmlformats.org/drawingml/2006/main" noGrp="1"/>
          </p:cNvSpPr>
          <p:nvPr/>
        </p:nvSpPr>
        <p:spPr>
          <a:xfrm xmlns:a="http://schemas.openxmlformats.org/drawingml/2006/main">
            <a:off x="3429000" y="2148840"/>
            <a:ext cx="228600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10" name="Google Shape;310;p15">
            <a:extLst xmlns:a="http://schemas.openxmlformats.org/drawingml/2006/main">
              <a:ext uri="{FF2B5EF4-FFF2-40B4-BE49-F238E27FC236}">
                <a16:creationId xmlns:a16="http://schemas.microsoft.com/office/drawing/2014/main" id="{048BD9E1-8BE8-4EDA-9C95-CB345F967CE5}"/>
              </a:ext>
            </a:extLst>
          </p:cNvPr>
          <p:cNvSpPr>
            <a:spLocks xmlns:a="http://schemas.openxmlformats.org/drawingml/2006/main" noGrp="1"/>
          </p:cNvSpPr>
          <p:nvPr/>
        </p:nvSpPr>
        <p:spPr>
          <a:xfrm xmlns:a="http://schemas.openxmlformats.org/drawingml/2006/main">
            <a:off x="3584448" y="2276856"/>
            <a:ext cx="197510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1" i="0" u="none" cap="none">
                <a:solidFill>
                  <a:srgbClr val="F7F7F7"/>
                </a:solidFill>
                <a:latin typeface="Arial"/>
                <a:ea typeface="Arial"/>
                <a:cs typeface="Arial"/>
              </a:rPr>
              <a:t>Can one revision fix it?</a:t>
            </a:r>
          </a:p>
        </p:txBody>
      </p:sp>
      <p:sp>
        <p:nvSpPr>
          <p:cNvPr id="311" name="Google Shape;311;p15">
            <a:extLst xmlns:a="http://schemas.openxmlformats.org/drawingml/2006/main">
              <a:ext uri="{FF2B5EF4-FFF2-40B4-BE49-F238E27FC236}">
                <a16:creationId xmlns:a16="http://schemas.microsoft.com/office/drawing/2014/main" id="{7F348D7E-D9B4-4265-93B8-A55ECCC43627}"/>
              </a:ext>
            </a:extLst>
          </p:cNvPr>
          <p:cNvSpPr>
            <a:spLocks xmlns:a="http://schemas.openxmlformats.org/drawingml/2006/main" noGrp="1"/>
          </p:cNvSpPr>
          <p:nvPr/>
        </p:nvSpPr>
        <p:spPr>
          <a:xfrm xmlns:a="http://schemas.openxmlformats.org/drawingml/2006/main">
            <a:off x="6126480" y="1755648"/>
            <a:ext cx="205740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12" name="Google Shape;312;p15">
            <a:extLst xmlns:a="http://schemas.openxmlformats.org/drawingml/2006/main">
              <a:ext uri="{FF2B5EF4-FFF2-40B4-BE49-F238E27FC236}">
                <a16:creationId xmlns:a16="http://schemas.microsoft.com/office/drawing/2014/main" id="{6CB237CB-D350-4B1D-84A7-1F2D7A6CB2A0}"/>
              </a:ext>
            </a:extLst>
          </p:cNvPr>
          <p:cNvSpPr>
            <a:spLocks xmlns:a="http://schemas.openxmlformats.org/drawingml/2006/main" noGrp="1"/>
          </p:cNvSpPr>
          <p:nvPr/>
        </p:nvSpPr>
        <p:spPr>
          <a:xfrm xmlns:a="http://schemas.openxmlformats.org/drawingml/2006/main">
            <a:off x="6281928" y="1883664"/>
            <a:ext cx="174650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1" i="0" u="none" cap="none">
                <a:solidFill>
                  <a:srgbClr val="F7F7F7"/>
                </a:solidFill>
                <a:latin typeface="Arial"/>
                <a:ea typeface="Arial"/>
                <a:cs typeface="Arial"/>
              </a:rPr>
              <a:t>Revise + retest</a:t>
            </a:r>
          </a:p>
        </p:txBody>
      </p:sp>
      <p:sp>
        <p:nvSpPr>
          <p:cNvPr id="313" name="Google Shape;313;p15">
            <a:extLst xmlns:a="http://schemas.openxmlformats.org/drawingml/2006/main">
              <a:ext uri="{FF2B5EF4-FFF2-40B4-BE49-F238E27FC236}">
                <a16:creationId xmlns:a16="http://schemas.microsoft.com/office/drawing/2014/main" id="{0D23216C-2FB4-4D93-8ED9-1E518EDEB84C}"/>
              </a:ext>
            </a:extLst>
          </p:cNvPr>
          <p:cNvSpPr>
            <a:spLocks xmlns:a="http://schemas.openxmlformats.org/drawingml/2006/main" noGrp="1"/>
          </p:cNvSpPr>
          <p:nvPr/>
        </p:nvSpPr>
        <p:spPr>
          <a:xfrm xmlns:a="http://schemas.openxmlformats.org/drawingml/2006/main">
            <a:off x="6126480" y="2788920"/>
            <a:ext cx="233172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14" name="Google Shape;314;p15">
            <a:extLst xmlns:a="http://schemas.openxmlformats.org/drawingml/2006/main">
              <a:ext uri="{FF2B5EF4-FFF2-40B4-BE49-F238E27FC236}">
                <a16:creationId xmlns:a16="http://schemas.microsoft.com/office/drawing/2014/main" id="{78B7A6EA-A629-4DD4-8F2E-FC5DA8E1BF70}"/>
              </a:ext>
            </a:extLst>
          </p:cNvPr>
          <p:cNvSpPr>
            <a:spLocks xmlns:a="http://schemas.openxmlformats.org/drawingml/2006/main" noGrp="1"/>
          </p:cNvSpPr>
          <p:nvPr/>
        </p:nvSpPr>
        <p:spPr>
          <a:xfrm xmlns:a="http://schemas.openxmlformats.org/drawingml/2006/main">
            <a:off x="6281928" y="2916936"/>
            <a:ext cx="202082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1" i="0" u="none" cap="none">
                <a:solidFill>
                  <a:srgbClr val="F7F7F7"/>
                </a:solidFill>
                <a:latin typeface="Arial"/>
                <a:ea typeface="Arial"/>
                <a:cs typeface="Arial"/>
              </a:rPr>
              <a:t>Reduce scope or pivot</a:t>
            </a:r>
          </a:p>
        </p:txBody>
      </p:sp>
      <p:sp>
        <p:nvSpPr>
          <p:cNvPr id="315" name="Google Shape;315;p15">
            <a:extLst xmlns:a="http://schemas.openxmlformats.org/drawingml/2006/main">
              <a:ext uri="{FF2B5EF4-FFF2-40B4-BE49-F238E27FC236}">
                <a16:creationId xmlns:a16="http://schemas.microsoft.com/office/drawing/2014/main" id="{89695C06-ACED-4586-AB57-9B25E9B572CE}"/>
              </a:ext>
            </a:extLst>
          </p:cNvPr>
          <p:cNvSpPr>
            <a:spLocks xmlns:a="http://schemas.openxmlformats.org/drawingml/2006/main" noGrp="1"/>
          </p:cNvSpPr>
          <p:nvPr/>
        </p:nvSpPr>
        <p:spPr>
          <a:xfrm xmlns:a="http://schemas.openxmlformats.org/drawingml/2006/main">
            <a:off x="8961120" y="2212848"/>
            <a:ext cx="242316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16" name="Google Shape;316;p15">
            <a:extLst xmlns:a="http://schemas.openxmlformats.org/drawingml/2006/main">
              <a:ext uri="{FF2B5EF4-FFF2-40B4-BE49-F238E27FC236}">
                <a16:creationId xmlns:a16="http://schemas.microsoft.com/office/drawing/2014/main" id="{B1E36DD2-F142-4939-99EF-767A0BF858BA}"/>
              </a:ext>
            </a:extLst>
          </p:cNvPr>
          <p:cNvSpPr>
            <a:spLocks xmlns:a="http://schemas.openxmlformats.org/drawingml/2006/main" noGrp="1"/>
          </p:cNvSpPr>
          <p:nvPr/>
        </p:nvSpPr>
        <p:spPr>
          <a:xfrm xmlns:a="http://schemas.openxmlformats.org/drawingml/2006/main">
            <a:off x="9116568" y="2340864"/>
            <a:ext cx="21122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1" i="0" u="none" cap="none">
                <a:solidFill>
                  <a:srgbClr val="F7F7F7"/>
                </a:solidFill>
                <a:latin typeface="Arial"/>
                <a:ea typeface="Arial"/>
                <a:cs typeface="Arial"/>
              </a:rPr>
              <a:t>Document + seek approval</a:t>
            </a:r>
          </a:p>
        </p:txBody>
      </p:sp>
      <p:cxnSp>
        <p:nvCxnSpPr>
          <p:cNvPr id="346" name="Google Shape;317;p15"/>
          <p:cNvCxnSpPr/>
          <p:nvPr/>
        </p:nvCxnSpPr>
        <p:spPr>
          <a:xfrm xmlns:a="http://schemas.openxmlformats.org/drawingml/2006/main">
            <a:off x="3017520" y="2487168"/>
            <a:ext cx="347472" cy="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cxnSp>
        <p:nvCxnSpPr>
          <p:cNvPr id="347" name="Google Shape;318;p15"/>
          <p:cNvCxnSpPr/>
          <p:nvPr/>
        </p:nvCxnSpPr>
        <p:spPr>
          <a:xfrm xmlns:a="http://schemas.openxmlformats.org/drawingml/2006/main" rot="10800000" flipH="1">
            <a:off x="5760720" y="2103120"/>
            <a:ext cx="292608" cy="384048"/>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cxnSp>
        <p:nvCxnSpPr>
          <p:cNvPr id="348" name="Google Shape;319;p15"/>
          <p:cNvCxnSpPr/>
          <p:nvPr/>
        </p:nvCxnSpPr>
        <p:spPr>
          <a:xfrm xmlns:a="http://schemas.openxmlformats.org/drawingml/2006/main">
            <a:off x="5760720" y="2487168"/>
            <a:ext cx="292608" cy="64008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cxnSp>
        <p:nvCxnSpPr>
          <p:cNvPr id="349" name="Google Shape;320;p15"/>
          <p:cNvCxnSpPr/>
          <p:nvPr/>
        </p:nvCxnSpPr>
        <p:spPr>
          <a:xfrm xmlns:a="http://schemas.openxmlformats.org/drawingml/2006/main">
            <a:off x="8503920" y="2103120"/>
            <a:ext cx="384048" cy="448056"/>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cxnSp>
        <p:nvCxnSpPr>
          <p:cNvPr id="350" name="Google Shape;321;p15"/>
          <p:cNvCxnSpPr/>
          <p:nvPr/>
        </p:nvCxnSpPr>
        <p:spPr>
          <a:xfrm xmlns:a="http://schemas.openxmlformats.org/drawingml/2006/main" rot="10800000" flipH="1">
            <a:off x="8686800" y="2551176"/>
            <a:ext cx="201168" cy="576072"/>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sp>
        <p:nvSpPr>
          <p:cNvPr id="322" name="Google Shape;322;p15">
            <a:extLst xmlns:a="http://schemas.openxmlformats.org/drawingml/2006/main">
              <a:ext uri="{FF2B5EF4-FFF2-40B4-BE49-F238E27FC236}">
                <a16:creationId xmlns:a16="http://schemas.microsoft.com/office/drawing/2014/main" id="{2C3B150E-934B-4E6F-9CF9-4904973C787B}"/>
              </a:ext>
            </a:extLst>
          </p:cNvPr>
          <p:cNvSpPr>
            <a:spLocks xmlns:a="http://schemas.openxmlformats.org/drawingml/2006/main" noGrp="1"/>
          </p:cNvSpPr>
          <p:nvPr/>
        </p:nvSpPr>
        <p:spPr>
          <a:xfrm xmlns:a="http://schemas.openxmlformats.org/drawingml/2006/main">
            <a:off x="5669280" y="1920240"/>
            <a:ext cx="365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800"/>
              <a:buFont typeface="Arial"/>
              <a:buNone/>
            </a:pPr>
            <a:r>
              <a:rPr sz="800" b="1" i="0" u="none" cap="none">
                <a:solidFill>
                  <a:srgbClr val="ED1C24"/>
                </a:solidFill>
                <a:latin typeface="Arial"/>
                <a:ea typeface="Arial"/>
                <a:cs typeface="Arial"/>
              </a:rPr>
              <a:t>YES</a:t>
            </a:r>
          </a:p>
        </p:txBody>
      </p:sp>
      <p:sp>
        <p:nvSpPr>
          <p:cNvPr id="323" name="Google Shape;323;p15">
            <a:extLst xmlns:a="http://schemas.openxmlformats.org/drawingml/2006/main">
              <a:ext uri="{FF2B5EF4-FFF2-40B4-BE49-F238E27FC236}">
                <a16:creationId xmlns:a16="http://schemas.microsoft.com/office/drawing/2014/main" id="{8FCC8C44-D80A-4982-A4C2-91A71CBBE09A}"/>
              </a:ext>
            </a:extLst>
          </p:cNvPr>
          <p:cNvSpPr>
            <a:spLocks xmlns:a="http://schemas.openxmlformats.org/drawingml/2006/main" noGrp="1"/>
          </p:cNvSpPr>
          <p:nvPr/>
        </p:nvSpPr>
        <p:spPr>
          <a:xfrm xmlns:a="http://schemas.openxmlformats.org/drawingml/2006/main">
            <a:off x="5715000" y="3218688"/>
            <a:ext cx="3200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800"/>
              <a:buFont typeface="Arial"/>
              <a:buNone/>
            </a:pPr>
            <a:r>
              <a:rPr sz="800" b="1" i="0" u="none" cap="none">
                <a:solidFill>
                  <a:srgbClr val="ED1C24"/>
                </a:solidFill>
                <a:latin typeface="Arial"/>
                <a:ea typeface="Arial"/>
                <a:cs typeface="Arial"/>
              </a:rPr>
              <a:t>NO</a:t>
            </a:r>
          </a:p>
        </p:txBody>
      </p:sp>
      <p:sp>
        <p:nvSpPr>
          <p:cNvPr id="324" name="Google Shape;324;p15">
            <a:extLst xmlns:a="http://schemas.openxmlformats.org/drawingml/2006/main">
              <a:ext uri="{FF2B5EF4-FFF2-40B4-BE49-F238E27FC236}">
                <a16:creationId xmlns:a16="http://schemas.microsoft.com/office/drawing/2014/main" id="{4A6D6951-69A1-44B7-A6A5-FD9BC4C94952}"/>
              </a:ext>
            </a:extLst>
          </p:cNvPr>
          <p:cNvSpPr>
            <a:spLocks xmlns:a="http://schemas.openxmlformats.org/drawingml/2006/main" noGrp="1"/>
          </p:cNvSpPr>
          <p:nvPr/>
        </p:nvSpPr>
        <p:spPr>
          <a:xfrm xmlns:a="http://schemas.openxmlformats.org/drawingml/2006/main">
            <a:off x="1920240" y="4617720"/>
            <a:ext cx="832104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25" name="Google Shape;325;p15">
            <a:extLst xmlns:a="http://schemas.openxmlformats.org/drawingml/2006/main">
              <a:ext uri="{FF2B5EF4-FFF2-40B4-BE49-F238E27FC236}">
                <a16:creationId xmlns:a16="http://schemas.microsoft.com/office/drawing/2014/main" id="{1E9798FA-7E0D-4F94-A22C-5FCF8436769E}"/>
              </a:ext>
            </a:extLst>
          </p:cNvPr>
          <p:cNvSpPr>
            <a:spLocks xmlns:a="http://schemas.openxmlformats.org/drawingml/2006/main" noGrp="1"/>
          </p:cNvSpPr>
          <p:nvPr/>
        </p:nvSpPr>
        <p:spPr>
          <a:xfrm xmlns:a="http://schemas.openxmlformats.org/drawingml/2006/main">
            <a:off x="2075688" y="4745736"/>
            <a:ext cx="801014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200"/>
              <a:buFont typeface="Arial"/>
              <a:buNone/>
            </a:pPr>
            <a:r>
              <a:rPr sz="2200" b="1" i="0" u="none" cap="none">
                <a:solidFill>
                  <a:srgbClr val="F7F7F7"/>
                </a:solidFill>
                <a:latin typeface="Arial"/>
                <a:ea typeface="Arial"/>
                <a:cs typeface="Arial"/>
              </a:rPr>
              <a:t>Key rule: no major pivot happens silently.</a:t>
            </a:r>
          </a:p>
        </p:txBody>
      </p:sp>
    </p:spTree>
    <p:extLst>
      <p:ext uri="{BB962C8B-B14F-4D97-AF65-F5344CB8AC3E}">
        <p14:creationId xmlns:p14="http://schemas.microsoft.com/office/powerpoint/2010/main" val="1127770967"/>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1" name="Google Shape;331;p16">
            <a:extLst xmlns:a="http://schemas.openxmlformats.org/drawingml/2006/main">
              <a:ext uri="{FF2B5EF4-FFF2-40B4-BE49-F238E27FC236}">
                <a16:creationId xmlns:a16="http://schemas.microsoft.com/office/drawing/2014/main" id="{C4FCFFE5-E053-4139-B3AB-E474833D761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2" name="Google Shape;332;p16">
            <a:extLst xmlns:a="http://schemas.openxmlformats.org/drawingml/2006/main">
              <a:ext uri="{FF2B5EF4-FFF2-40B4-BE49-F238E27FC236}">
                <a16:creationId xmlns:a16="http://schemas.microsoft.com/office/drawing/2014/main" id="{5275FA77-142D-4763-A5A8-A0E0E96A2154}"/>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3" name="Google Shape;333;p16">
            <a:extLst xmlns:a="http://schemas.openxmlformats.org/drawingml/2006/main">
              <a:ext uri="{FF2B5EF4-FFF2-40B4-BE49-F238E27FC236}">
                <a16:creationId xmlns:a16="http://schemas.microsoft.com/office/drawing/2014/main" id="{A4BE2D36-2D66-4766-90D8-685B723C2E58}"/>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4" name="Google Shape;334;p16">
            <a:extLst xmlns:a="http://schemas.openxmlformats.org/drawingml/2006/main">
              <a:ext uri="{FF2B5EF4-FFF2-40B4-BE49-F238E27FC236}">
                <a16:creationId xmlns:a16="http://schemas.microsoft.com/office/drawing/2014/main" id="{CAE14741-6DAD-4291-A2E2-3498FE97309D}"/>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ACTIVITY: DIAGNOSE THE SCENARIO</a:t>
            </a:r>
          </a:p>
        </p:txBody>
      </p:sp>
      <p:sp>
        <p:nvSpPr>
          <p:cNvPr id="335" name="Google Shape;335;p16">
            <a:extLst xmlns:a="http://schemas.openxmlformats.org/drawingml/2006/main">
              <a:ext uri="{FF2B5EF4-FFF2-40B4-BE49-F238E27FC236}">
                <a16:creationId xmlns:a16="http://schemas.microsoft.com/office/drawing/2014/main" id="{05F79B99-9714-4166-A755-66AB68157DC0}"/>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6" name="Google Shape;336;p16">
            <a:extLst xmlns:a="http://schemas.openxmlformats.org/drawingml/2006/main">
              <a:ext uri="{FF2B5EF4-FFF2-40B4-BE49-F238E27FC236}">
                <a16:creationId xmlns:a16="http://schemas.microsoft.com/office/drawing/2014/main" id="{2DA8AD40-9EDD-4412-8F1A-66E71B62BC3A}"/>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Classify the problem before proposing a fix.</a:t>
            </a:r>
          </a:p>
        </p:txBody>
      </p:sp>
      <p:cxnSp>
        <p:nvCxnSpPr>
          <p:cNvPr id="358" name="Google Shape;337;p16"/>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338" name="Google Shape;338;p16">
            <a:extLst xmlns:a="http://schemas.openxmlformats.org/drawingml/2006/main">
              <a:ext uri="{FF2B5EF4-FFF2-40B4-BE49-F238E27FC236}">
                <a16:creationId xmlns:a16="http://schemas.microsoft.com/office/drawing/2014/main" id="{61FC9798-8AB5-4BC9-9342-3CE09F944112}"/>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14</a:t>
            </a:r>
          </a:p>
        </p:txBody>
      </p:sp>
      <p:pic>
        <p:nvPicPr>
          <p:cNvPr id="360" name="Google Shape;339;p16"/>
          <p:cNvPicPr>
            <a:picLocks xmlns:a="http://schemas.openxmlformats.org/drawingml/2006/main" noChangeAspect="1"/>
          </p:cNvPicPr>
          <p:nvPr/>
        </p:nvPicPr>
        <p:blipFill rotWithShape="1">
          <a:blip xmlns:r="http://schemas.openxmlformats.org/officeDocument/2006/relationships" xmlns:a="http://schemas.openxmlformats.org/drawingml/2006/main" r:embed="R5e18453511884bd5">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340" name="Google Shape;340;p16">
            <a:extLst xmlns:a="http://schemas.openxmlformats.org/drawingml/2006/main">
              <a:ext uri="{FF2B5EF4-FFF2-40B4-BE49-F238E27FC236}">
                <a16:creationId xmlns:a16="http://schemas.microsoft.com/office/drawing/2014/main" id="{2643270F-D241-4C6A-A433-E41AFFE660CD}"/>
              </a:ext>
            </a:extLst>
          </p:cNvPr>
          <p:cNvSpPr>
            <a:spLocks xmlns:a="http://schemas.openxmlformats.org/drawingml/2006/main" noGrp="1"/>
          </p:cNvSpPr>
          <p:nvPr/>
        </p:nvSpPr>
        <p:spPr>
          <a:xfrm xmlns:a="http://schemas.openxmlformats.org/drawingml/2006/main">
            <a:off x="685800" y="1664208"/>
            <a:ext cx="2011680" cy="310896"/>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41" name="Google Shape;341;p16">
            <a:extLst xmlns:a="http://schemas.openxmlformats.org/drawingml/2006/main">
              <a:ext uri="{FF2B5EF4-FFF2-40B4-BE49-F238E27FC236}">
                <a16:creationId xmlns:a16="http://schemas.microsoft.com/office/drawing/2014/main" id="{2A99F845-6EB6-49CF-95DF-7BEBE9F7168E}"/>
              </a:ext>
            </a:extLst>
          </p:cNvPr>
          <p:cNvSpPr>
            <a:spLocks xmlns:a="http://schemas.openxmlformats.org/drawingml/2006/main" noGrp="1"/>
          </p:cNvSpPr>
          <p:nvPr/>
        </p:nvSpPr>
        <p:spPr>
          <a:xfrm xmlns:a="http://schemas.openxmlformats.org/drawingml/2006/main">
            <a:off x="804672" y="172821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900"/>
              <a:buFont typeface="Arial"/>
              <a:buNone/>
            </a:pPr>
            <a:r>
              <a:rPr sz="900" b="1" i="0" u="none" cap="none">
                <a:solidFill>
                  <a:srgbClr val="F7F7F7"/>
                </a:solidFill>
                <a:latin typeface="Arial"/>
                <a:ea typeface="Arial"/>
                <a:cs typeface="Arial"/>
              </a:rPr>
              <a:t>STUDENT ACTIVITY</a:t>
            </a:r>
          </a:p>
        </p:txBody>
      </p:sp>
      <p:sp>
        <p:nvSpPr>
          <p:cNvPr id="342" name="Google Shape;342;p16">
            <a:extLst xmlns:a="http://schemas.openxmlformats.org/drawingml/2006/main">
              <a:ext uri="{FF2B5EF4-FFF2-40B4-BE49-F238E27FC236}">
                <a16:creationId xmlns:a16="http://schemas.microsoft.com/office/drawing/2014/main" id="{1F4A7491-EE02-4757-AF27-28FF8FA14D98}"/>
              </a:ext>
            </a:extLst>
          </p:cNvPr>
          <p:cNvSpPr>
            <a:spLocks xmlns:a="http://schemas.openxmlformats.org/drawingml/2006/main" noGrp="1"/>
          </p:cNvSpPr>
          <p:nvPr/>
        </p:nvSpPr>
        <p:spPr>
          <a:xfrm xmlns:a="http://schemas.openxmlformats.org/drawingml/2006/main">
            <a:off x="914400" y="2331720"/>
            <a:ext cx="3657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1.</a:t>
            </a:r>
          </a:p>
        </p:txBody>
      </p:sp>
      <p:sp>
        <p:nvSpPr>
          <p:cNvPr id="343" name="Google Shape;343;p16">
            <a:extLst xmlns:a="http://schemas.openxmlformats.org/drawingml/2006/main">
              <a:ext uri="{FF2B5EF4-FFF2-40B4-BE49-F238E27FC236}">
                <a16:creationId xmlns:a16="http://schemas.microsoft.com/office/drawing/2014/main" id="{EE826318-6F1F-4C39-B20E-D4795C76D427}"/>
              </a:ext>
            </a:extLst>
          </p:cNvPr>
          <p:cNvSpPr>
            <a:spLocks xmlns:a="http://schemas.openxmlformats.org/drawingml/2006/main" noGrp="1"/>
          </p:cNvSpPr>
          <p:nvPr/>
        </p:nvSpPr>
        <p:spPr>
          <a:xfrm xmlns:a="http://schemas.openxmlformats.org/drawingml/2006/main">
            <a:off x="1325880" y="2295144"/>
            <a:ext cx="99669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A sensor reads 0 for every trial, even when conditions change.</a:t>
            </a:r>
          </a:p>
        </p:txBody>
      </p:sp>
      <p:sp>
        <p:nvSpPr>
          <p:cNvPr id="344" name="Google Shape;344;p16">
            <a:extLst xmlns:a="http://schemas.openxmlformats.org/drawingml/2006/main">
              <a:ext uri="{FF2B5EF4-FFF2-40B4-BE49-F238E27FC236}">
                <a16:creationId xmlns:a16="http://schemas.microsoft.com/office/drawing/2014/main" id="{D394AF31-0070-4F3D-A241-C43ED3170F10}"/>
              </a:ext>
            </a:extLst>
          </p:cNvPr>
          <p:cNvSpPr>
            <a:spLocks xmlns:a="http://schemas.openxmlformats.org/drawingml/2006/main" noGrp="1"/>
          </p:cNvSpPr>
          <p:nvPr/>
        </p:nvSpPr>
        <p:spPr>
          <a:xfrm xmlns:a="http://schemas.openxmlformats.org/drawingml/2006/main">
            <a:off x="914400" y="3044952"/>
            <a:ext cx="3657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2.</a:t>
            </a:r>
          </a:p>
        </p:txBody>
      </p:sp>
      <p:sp>
        <p:nvSpPr>
          <p:cNvPr id="345" name="Google Shape;345;p16">
            <a:extLst xmlns:a="http://schemas.openxmlformats.org/drawingml/2006/main">
              <a:ext uri="{FF2B5EF4-FFF2-40B4-BE49-F238E27FC236}">
                <a16:creationId xmlns:a16="http://schemas.microsoft.com/office/drawing/2014/main" id="{98BE91B2-D095-4017-B072-6220DD4A2424}"/>
              </a:ext>
            </a:extLst>
          </p:cNvPr>
          <p:cNvSpPr>
            <a:spLocks xmlns:a="http://schemas.openxmlformats.org/drawingml/2006/main" noGrp="1"/>
          </p:cNvSpPr>
          <p:nvPr/>
        </p:nvSpPr>
        <p:spPr>
          <a:xfrm xmlns:a="http://schemas.openxmlformats.org/drawingml/2006/main">
            <a:off x="1325880" y="3008376"/>
            <a:ext cx="99669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A student changed the ramp height halfway through testing but kept the same data table.</a:t>
            </a:r>
          </a:p>
        </p:txBody>
      </p:sp>
      <p:sp>
        <p:nvSpPr>
          <p:cNvPr id="346" name="Google Shape;346;p16">
            <a:extLst xmlns:a="http://schemas.openxmlformats.org/drawingml/2006/main">
              <a:ext uri="{FF2B5EF4-FFF2-40B4-BE49-F238E27FC236}">
                <a16:creationId xmlns:a16="http://schemas.microsoft.com/office/drawing/2014/main" id="{BA8D8AAA-9FA1-42FD-AE05-7299B7590C33}"/>
              </a:ext>
            </a:extLst>
          </p:cNvPr>
          <p:cNvSpPr>
            <a:spLocks xmlns:a="http://schemas.openxmlformats.org/drawingml/2006/main" noGrp="1"/>
          </p:cNvSpPr>
          <p:nvPr/>
        </p:nvSpPr>
        <p:spPr>
          <a:xfrm xmlns:a="http://schemas.openxmlformats.org/drawingml/2006/main">
            <a:off x="914400" y="3758184"/>
            <a:ext cx="3657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3.</a:t>
            </a:r>
          </a:p>
        </p:txBody>
      </p:sp>
      <p:sp>
        <p:nvSpPr>
          <p:cNvPr id="347" name="Google Shape;347;p16">
            <a:extLst xmlns:a="http://schemas.openxmlformats.org/drawingml/2006/main">
              <a:ext uri="{FF2B5EF4-FFF2-40B4-BE49-F238E27FC236}">
                <a16:creationId xmlns:a16="http://schemas.microsoft.com/office/drawing/2014/main" id="{AD39B3B1-F03B-4FC1-9072-E7CDE5D10195}"/>
              </a:ext>
            </a:extLst>
          </p:cNvPr>
          <p:cNvSpPr>
            <a:spLocks xmlns:a="http://schemas.openxmlformats.org/drawingml/2006/main" noGrp="1"/>
          </p:cNvSpPr>
          <p:nvPr/>
        </p:nvSpPr>
        <p:spPr>
          <a:xfrm xmlns:a="http://schemas.openxmlformats.org/drawingml/2006/main">
            <a:off x="1325880" y="3721608"/>
            <a:ext cx="99669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A prototype breaks before the planned load test can begin.</a:t>
            </a:r>
          </a:p>
        </p:txBody>
      </p:sp>
      <p:sp>
        <p:nvSpPr>
          <p:cNvPr id="348" name="Google Shape;348;p16">
            <a:extLst xmlns:a="http://schemas.openxmlformats.org/drawingml/2006/main">
              <a:ext uri="{FF2B5EF4-FFF2-40B4-BE49-F238E27FC236}">
                <a16:creationId xmlns:a16="http://schemas.microsoft.com/office/drawing/2014/main" id="{61025A1B-5531-4FE8-8B6C-6FA76870B504}"/>
              </a:ext>
            </a:extLst>
          </p:cNvPr>
          <p:cNvSpPr>
            <a:spLocks xmlns:a="http://schemas.openxmlformats.org/drawingml/2006/main" noGrp="1"/>
          </p:cNvSpPr>
          <p:nvPr/>
        </p:nvSpPr>
        <p:spPr>
          <a:xfrm xmlns:a="http://schemas.openxmlformats.org/drawingml/2006/main">
            <a:off x="914400" y="4471416"/>
            <a:ext cx="3657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4.</a:t>
            </a:r>
          </a:p>
        </p:txBody>
      </p:sp>
      <p:sp>
        <p:nvSpPr>
          <p:cNvPr id="349" name="Google Shape;349;p16">
            <a:extLst xmlns:a="http://schemas.openxmlformats.org/drawingml/2006/main">
              <a:ext uri="{FF2B5EF4-FFF2-40B4-BE49-F238E27FC236}">
                <a16:creationId xmlns:a16="http://schemas.microsoft.com/office/drawing/2014/main" id="{7C537AF0-87B5-45D9-A03B-6C969DB16835}"/>
              </a:ext>
            </a:extLst>
          </p:cNvPr>
          <p:cNvSpPr>
            <a:spLocks xmlns:a="http://schemas.openxmlformats.org/drawingml/2006/main" noGrp="1"/>
          </p:cNvSpPr>
          <p:nvPr/>
        </p:nvSpPr>
        <p:spPr>
          <a:xfrm xmlns:a="http://schemas.openxmlformats.org/drawingml/2006/main">
            <a:off x="1325880" y="4434840"/>
            <a:ext cx="99669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The project requires 6 more weeks of growth data, but only 2 weeks remain.</a:t>
            </a:r>
          </a:p>
        </p:txBody>
      </p:sp>
      <p:sp>
        <p:nvSpPr>
          <p:cNvPr id="350" name="Google Shape;350;p16">
            <a:extLst xmlns:a="http://schemas.openxmlformats.org/drawingml/2006/main">
              <a:ext uri="{FF2B5EF4-FFF2-40B4-BE49-F238E27FC236}">
                <a16:creationId xmlns:a16="http://schemas.microsoft.com/office/drawing/2014/main" id="{D28F3A34-6496-42E6-BCB0-495777EAB831}"/>
              </a:ext>
            </a:extLst>
          </p:cNvPr>
          <p:cNvSpPr>
            <a:spLocks xmlns:a="http://schemas.openxmlformats.org/drawingml/2006/main" noGrp="1"/>
          </p:cNvSpPr>
          <p:nvPr/>
        </p:nvSpPr>
        <p:spPr>
          <a:xfrm xmlns:a="http://schemas.openxmlformats.org/drawingml/2006/main">
            <a:off x="914400" y="5504688"/>
            <a:ext cx="9875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700"/>
              <a:buFont typeface="Arial"/>
              <a:buNone/>
            </a:pPr>
            <a:r>
              <a:rPr sz="1700" b="0" i="0" u="none" cap="none">
                <a:solidFill>
                  <a:srgbClr val="A6A6A6"/>
                </a:solidFill>
                <a:latin typeface="Arial"/>
                <a:ea typeface="Arial"/>
                <a:cs typeface="Arial"/>
              </a:rPr>
              <a:t>Task: Identify the problem type, the evidence, and one responsible next step.</a:t>
            </a:r>
          </a:p>
        </p:txBody>
      </p:sp>
    </p:spTree>
    <p:extLst>
      <p:ext uri="{BB962C8B-B14F-4D97-AF65-F5344CB8AC3E}">
        <p14:creationId xmlns:p14="http://schemas.microsoft.com/office/powerpoint/2010/main" val="1587754942"/>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56" name="Google Shape;356;p17">
            <a:extLst xmlns:a="http://schemas.openxmlformats.org/drawingml/2006/main">
              <a:ext uri="{FF2B5EF4-FFF2-40B4-BE49-F238E27FC236}">
                <a16:creationId xmlns:a16="http://schemas.microsoft.com/office/drawing/2014/main" id="{122B9893-F9C0-4A0D-82E8-3BF5E9FF4EF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7" name="Google Shape;357;p17">
            <a:extLst xmlns:a="http://schemas.openxmlformats.org/drawingml/2006/main">
              <a:ext uri="{FF2B5EF4-FFF2-40B4-BE49-F238E27FC236}">
                <a16:creationId xmlns:a16="http://schemas.microsoft.com/office/drawing/2014/main" id="{01D5D82B-E2BA-4CD2-96D2-87F56D20DD48}"/>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8" name="Google Shape;358;p17">
            <a:extLst xmlns:a="http://schemas.openxmlformats.org/drawingml/2006/main">
              <a:ext uri="{FF2B5EF4-FFF2-40B4-BE49-F238E27FC236}">
                <a16:creationId xmlns:a16="http://schemas.microsoft.com/office/drawing/2014/main" id="{00518D26-A476-4510-ABAA-41AAEBB64141}"/>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9" name="Google Shape;359;p17">
            <a:extLst xmlns:a="http://schemas.openxmlformats.org/drawingml/2006/main">
              <a:ext uri="{FF2B5EF4-FFF2-40B4-BE49-F238E27FC236}">
                <a16:creationId xmlns:a16="http://schemas.microsoft.com/office/drawing/2014/main" id="{4D34EDDE-B5C8-4136-A357-54DC6FEB9BCE}"/>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ACTIVITY: TROUBLESHOOTING CONFERENCE</a:t>
            </a:r>
          </a:p>
        </p:txBody>
      </p:sp>
      <p:sp>
        <p:nvSpPr>
          <p:cNvPr id="360" name="Google Shape;360;p17">
            <a:extLst xmlns:a="http://schemas.openxmlformats.org/drawingml/2006/main">
              <a:ext uri="{FF2B5EF4-FFF2-40B4-BE49-F238E27FC236}">
                <a16:creationId xmlns:a16="http://schemas.microsoft.com/office/drawing/2014/main" id="{711D0097-8656-46A5-A445-5471D872086D}"/>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61" name="Google Shape;361;p17">
            <a:extLst xmlns:a="http://schemas.openxmlformats.org/drawingml/2006/main">
              <a:ext uri="{FF2B5EF4-FFF2-40B4-BE49-F238E27FC236}">
                <a16:creationId xmlns:a16="http://schemas.microsoft.com/office/drawing/2014/main" id="{70AE470D-80C6-4874-A318-79841E6B2066}"/>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Use a structured conversation instead of vague help-seeking.</a:t>
            </a:r>
          </a:p>
        </p:txBody>
      </p:sp>
      <p:cxnSp>
        <p:nvCxnSpPr>
          <p:cNvPr id="386" name="Google Shape;362;p17"/>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363" name="Google Shape;363;p17">
            <a:extLst xmlns:a="http://schemas.openxmlformats.org/drawingml/2006/main">
              <a:ext uri="{FF2B5EF4-FFF2-40B4-BE49-F238E27FC236}">
                <a16:creationId xmlns:a16="http://schemas.microsoft.com/office/drawing/2014/main" id="{A893153B-4739-4DF5-83E9-70D7AAC10826}"/>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15</a:t>
            </a:r>
          </a:p>
        </p:txBody>
      </p:sp>
      <p:pic>
        <p:nvPicPr>
          <p:cNvPr id="388" name="Google Shape;364;p17"/>
          <p:cNvPicPr>
            <a:picLocks xmlns:a="http://schemas.openxmlformats.org/drawingml/2006/main" noChangeAspect="1"/>
          </p:cNvPicPr>
          <p:nvPr/>
        </p:nvPicPr>
        <p:blipFill rotWithShape="1">
          <a:blip xmlns:r="http://schemas.openxmlformats.org/officeDocument/2006/relationships" xmlns:a="http://schemas.openxmlformats.org/drawingml/2006/main" r:embed="R7a51ed296f1742fc">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365" name="Google Shape;365;p17">
            <a:extLst xmlns:a="http://schemas.openxmlformats.org/drawingml/2006/main">
              <a:ext uri="{FF2B5EF4-FFF2-40B4-BE49-F238E27FC236}">
                <a16:creationId xmlns:a16="http://schemas.microsoft.com/office/drawing/2014/main" id="{87CEFF8F-8B58-444A-B4AC-F55F7EE7C5B7}"/>
              </a:ext>
            </a:extLst>
          </p:cNvPr>
          <p:cNvSpPr>
            <a:spLocks xmlns:a="http://schemas.openxmlformats.org/drawingml/2006/main" noGrp="1"/>
          </p:cNvSpPr>
          <p:nvPr/>
        </p:nvSpPr>
        <p:spPr>
          <a:xfrm xmlns:a="http://schemas.openxmlformats.org/drawingml/2006/main">
            <a:off x="685800" y="1664208"/>
            <a:ext cx="2011680" cy="310896"/>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66" name="Google Shape;366;p17">
            <a:extLst xmlns:a="http://schemas.openxmlformats.org/drawingml/2006/main">
              <a:ext uri="{FF2B5EF4-FFF2-40B4-BE49-F238E27FC236}">
                <a16:creationId xmlns:a16="http://schemas.microsoft.com/office/drawing/2014/main" id="{6E364A22-34B6-4BE6-B6A7-5C6782FEEF1D}"/>
              </a:ext>
            </a:extLst>
          </p:cNvPr>
          <p:cNvSpPr>
            <a:spLocks xmlns:a="http://schemas.openxmlformats.org/drawingml/2006/main" noGrp="1"/>
          </p:cNvSpPr>
          <p:nvPr/>
        </p:nvSpPr>
        <p:spPr>
          <a:xfrm xmlns:a="http://schemas.openxmlformats.org/drawingml/2006/main">
            <a:off x="804672" y="172821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900"/>
              <a:buFont typeface="Arial"/>
              <a:buNone/>
            </a:pPr>
            <a:r>
              <a:rPr sz="900" b="1" i="0" u="none" cap="none">
                <a:solidFill>
                  <a:srgbClr val="F7F7F7"/>
                </a:solidFill>
                <a:latin typeface="Arial"/>
                <a:ea typeface="Arial"/>
                <a:cs typeface="Arial"/>
              </a:rPr>
              <a:t>STUDENT ACTIVITY</a:t>
            </a:r>
          </a:p>
        </p:txBody>
      </p:sp>
      <p:sp>
        <p:nvSpPr>
          <p:cNvPr id="367" name="Google Shape;367;p17">
            <a:extLst xmlns:a="http://schemas.openxmlformats.org/drawingml/2006/main">
              <a:ext uri="{FF2B5EF4-FFF2-40B4-BE49-F238E27FC236}">
                <a16:creationId xmlns:a16="http://schemas.microsoft.com/office/drawing/2014/main" id="{0B150DFE-5BC4-4774-9DAB-CB84D9705376}"/>
              </a:ext>
            </a:extLst>
          </p:cNvPr>
          <p:cNvSpPr>
            <a:spLocks xmlns:a="http://schemas.openxmlformats.org/drawingml/2006/main" noGrp="1"/>
          </p:cNvSpPr>
          <p:nvPr/>
        </p:nvSpPr>
        <p:spPr>
          <a:xfrm xmlns:a="http://schemas.openxmlformats.org/drawingml/2006/main">
            <a:off x="1005840" y="2148840"/>
            <a:ext cx="384048"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1</a:t>
            </a:r>
          </a:p>
        </p:txBody>
      </p:sp>
      <p:sp>
        <p:nvSpPr>
          <p:cNvPr id="368" name="Google Shape;368;p17">
            <a:extLst xmlns:a="http://schemas.openxmlformats.org/drawingml/2006/main">
              <a:ext uri="{FF2B5EF4-FFF2-40B4-BE49-F238E27FC236}">
                <a16:creationId xmlns:a16="http://schemas.microsoft.com/office/drawing/2014/main" id="{218074E1-4B2D-4410-B85D-47B86E327718}"/>
              </a:ext>
            </a:extLst>
          </p:cNvPr>
          <p:cNvSpPr>
            <a:spLocks xmlns:a="http://schemas.openxmlformats.org/drawingml/2006/main" noGrp="1"/>
          </p:cNvSpPr>
          <p:nvPr/>
        </p:nvSpPr>
        <p:spPr>
          <a:xfrm xmlns:a="http://schemas.openxmlformats.org/drawingml/2006/main">
            <a:off x="1536192" y="2121408"/>
            <a:ext cx="93268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Researcher explains the problem in 2 minutes.</a:t>
            </a:r>
          </a:p>
        </p:txBody>
      </p:sp>
      <p:sp>
        <p:nvSpPr>
          <p:cNvPr id="369" name="Google Shape;369;p17">
            <a:extLst xmlns:a="http://schemas.openxmlformats.org/drawingml/2006/main">
              <a:ext uri="{FF2B5EF4-FFF2-40B4-BE49-F238E27FC236}">
                <a16:creationId xmlns:a16="http://schemas.microsoft.com/office/drawing/2014/main" id="{08A76555-ADAB-4B5A-8A47-3B328C84DE56}"/>
              </a:ext>
            </a:extLst>
          </p:cNvPr>
          <p:cNvSpPr>
            <a:spLocks xmlns:a="http://schemas.openxmlformats.org/drawingml/2006/main" noGrp="1"/>
          </p:cNvSpPr>
          <p:nvPr/>
        </p:nvSpPr>
        <p:spPr>
          <a:xfrm xmlns:a="http://schemas.openxmlformats.org/drawingml/2006/main">
            <a:off x="1005840" y="2788920"/>
            <a:ext cx="384048"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2</a:t>
            </a:r>
          </a:p>
        </p:txBody>
      </p:sp>
      <p:sp>
        <p:nvSpPr>
          <p:cNvPr id="370" name="Google Shape;370;p17">
            <a:extLst xmlns:a="http://schemas.openxmlformats.org/drawingml/2006/main">
              <a:ext uri="{FF2B5EF4-FFF2-40B4-BE49-F238E27FC236}">
                <a16:creationId xmlns:a16="http://schemas.microsoft.com/office/drawing/2014/main" id="{F8198D2C-E0B2-4172-8EF2-28551B28DF24}"/>
              </a:ext>
            </a:extLst>
          </p:cNvPr>
          <p:cNvSpPr>
            <a:spLocks xmlns:a="http://schemas.openxmlformats.org/drawingml/2006/main" noGrp="1"/>
          </p:cNvSpPr>
          <p:nvPr/>
        </p:nvSpPr>
        <p:spPr>
          <a:xfrm xmlns:a="http://schemas.openxmlformats.org/drawingml/2006/main">
            <a:off x="1536192" y="2761488"/>
            <a:ext cx="93268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Group asks clarifying questions only.</a:t>
            </a:r>
          </a:p>
        </p:txBody>
      </p:sp>
      <p:sp>
        <p:nvSpPr>
          <p:cNvPr id="371" name="Google Shape;371;p17">
            <a:extLst xmlns:a="http://schemas.openxmlformats.org/drawingml/2006/main">
              <a:ext uri="{FF2B5EF4-FFF2-40B4-BE49-F238E27FC236}">
                <a16:creationId xmlns:a16="http://schemas.microsoft.com/office/drawing/2014/main" id="{6ADA8455-1A9F-47CE-8075-863F70BC5BAD}"/>
              </a:ext>
            </a:extLst>
          </p:cNvPr>
          <p:cNvSpPr>
            <a:spLocks xmlns:a="http://schemas.openxmlformats.org/drawingml/2006/main" noGrp="1"/>
          </p:cNvSpPr>
          <p:nvPr/>
        </p:nvSpPr>
        <p:spPr>
          <a:xfrm xmlns:a="http://schemas.openxmlformats.org/drawingml/2006/main">
            <a:off x="1005840" y="3429000"/>
            <a:ext cx="384048"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3</a:t>
            </a:r>
          </a:p>
        </p:txBody>
      </p:sp>
      <p:sp>
        <p:nvSpPr>
          <p:cNvPr id="372" name="Google Shape;372;p17">
            <a:extLst xmlns:a="http://schemas.openxmlformats.org/drawingml/2006/main">
              <a:ext uri="{FF2B5EF4-FFF2-40B4-BE49-F238E27FC236}">
                <a16:creationId xmlns:a16="http://schemas.microsoft.com/office/drawing/2014/main" id="{9C9A80C4-F135-4DC4-976C-E74BA97689F5}"/>
              </a:ext>
            </a:extLst>
          </p:cNvPr>
          <p:cNvSpPr>
            <a:spLocks xmlns:a="http://schemas.openxmlformats.org/drawingml/2006/main" noGrp="1"/>
          </p:cNvSpPr>
          <p:nvPr/>
        </p:nvSpPr>
        <p:spPr>
          <a:xfrm xmlns:a="http://schemas.openxmlformats.org/drawingml/2006/main">
            <a:off x="1536192" y="3401568"/>
            <a:ext cx="93268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Group suggests possible causes.</a:t>
            </a:r>
          </a:p>
        </p:txBody>
      </p:sp>
      <p:sp>
        <p:nvSpPr>
          <p:cNvPr id="373" name="Google Shape;373;p17">
            <a:extLst xmlns:a="http://schemas.openxmlformats.org/drawingml/2006/main">
              <a:ext uri="{FF2B5EF4-FFF2-40B4-BE49-F238E27FC236}">
                <a16:creationId xmlns:a16="http://schemas.microsoft.com/office/drawing/2014/main" id="{44005829-4297-4979-A7A9-CF18AFDD5E87}"/>
              </a:ext>
            </a:extLst>
          </p:cNvPr>
          <p:cNvSpPr>
            <a:spLocks xmlns:a="http://schemas.openxmlformats.org/drawingml/2006/main" noGrp="1"/>
          </p:cNvSpPr>
          <p:nvPr/>
        </p:nvSpPr>
        <p:spPr>
          <a:xfrm xmlns:a="http://schemas.openxmlformats.org/drawingml/2006/main">
            <a:off x="1005840" y="4069080"/>
            <a:ext cx="384048"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4</a:t>
            </a:r>
          </a:p>
        </p:txBody>
      </p:sp>
      <p:sp>
        <p:nvSpPr>
          <p:cNvPr id="374" name="Google Shape;374;p17">
            <a:extLst xmlns:a="http://schemas.openxmlformats.org/drawingml/2006/main">
              <a:ext uri="{FF2B5EF4-FFF2-40B4-BE49-F238E27FC236}">
                <a16:creationId xmlns:a16="http://schemas.microsoft.com/office/drawing/2014/main" id="{19155D13-3FD0-4769-BA4D-09CA0B2C4F8F}"/>
              </a:ext>
            </a:extLst>
          </p:cNvPr>
          <p:cNvSpPr>
            <a:spLocks xmlns:a="http://schemas.openxmlformats.org/drawingml/2006/main" noGrp="1"/>
          </p:cNvSpPr>
          <p:nvPr/>
        </p:nvSpPr>
        <p:spPr>
          <a:xfrm xmlns:a="http://schemas.openxmlformats.org/drawingml/2006/main">
            <a:off x="1536192" y="4041648"/>
            <a:ext cx="93268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Group suggests possible next steps.</a:t>
            </a:r>
          </a:p>
        </p:txBody>
      </p:sp>
      <p:sp>
        <p:nvSpPr>
          <p:cNvPr id="375" name="Google Shape;375;p17">
            <a:extLst xmlns:a="http://schemas.openxmlformats.org/drawingml/2006/main">
              <a:ext uri="{FF2B5EF4-FFF2-40B4-BE49-F238E27FC236}">
                <a16:creationId xmlns:a16="http://schemas.microsoft.com/office/drawing/2014/main" id="{BA4CD1BE-C3FD-48CC-8FF9-9209B677E60A}"/>
              </a:ext>
            </a:extLst>
          </p:cNvPr>
          <p:cNvSpPr>
            <a:spLocks xmlns:a="http://schemas.openxmlformats.org/drawingml/2006/main" noGrp="1"/>
          </p:cNvSpPr>
          <p:nvPr/>
        </p:nvSpPr>
        <p:spPr>
          <a:xfrm xmlns:a="http://schemas.openxmlformats.org/drawingml/2006/main">
            <a:off x="1005840" y="4709160"/>
            <a:ext cx="384048"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5</a:t>
            </a:r>
          </a:p>
        </p:txBody>
      </p:sp>
      <p:sp>
        <p:nvSpPr>
          <p:cNvPr id="376" name="Google Shape;376;p17">
            <a:extLst xmlns:a="http://schemas.openxmlformats.org/drawingml/2006/main">
              <a:ext uri="{FF2B5EF4-FFF2-40B4-BE49-F238E27FC236}">
                <a16:creationId xmlns:a16="http://schemas.microsoft.com/office/drawing/2014/main" id="{DCB8ECE3-F5B2-4AEC-A1E9-ABE405845B06}"/>
              </a:ext>
            </a:extLst>
          </p:cNvPr>
          <p:cNvSpPr>
            <a:spLocks xmlns:a="http://schemas.openxmlformats.org/drawingml/2006/main" noGrp="1"/>
          </p:cNvSpPr>
          <p:nvPr/>
        </p:nvSpPr>
        <p:spPr>
          <a:xfrm xmlns:a="http://schemas.openxmlformats.org/drawingml/2006/main">
            <a:off x="1536192" y="4681728"/>
            <a:ext cx="93268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Researcher chooses one action and documents it.</a:t>
            </a:r>
          </a:p>
        </p:txBody>
      </p:sp>
      <p:sp>
        <p:nvSpPr>
          <p:cNvPr id="377" name="Google Shape;377;p17">
            <a:extLst xmlns:a="http://schemas.openxmlformats.org/drawingml/2006/main">
              <a:ext uri="{FF2B5EF4-FFF2-40B4-BE49-F238E27FC236}">
                <a16:creationId xmlns:a16="http://schemas.microsoft.com/office/drawing/2014/main" id="{DFCA7636-FE84-47BB-BFCE-40B54DE30682}"/>
              </a:ext>
            </a:extLst>
          </p:cNvPr>
          <p:cNvSpPr>
            <a:spLocks xmlns:a="http://schemas.openxmlformats.org/drawingml/2006/main" noGrp="1"/>
          </p:cNvSpPr>
          <p:nvPr/>
        </p:nvSpPr>
        <p:spPr>
          <a:xfrm xmlns:a="http://schemas.openxmlformats.org/drawingml/2006/main">
            <a:off x="1005840" y="5577840"/>
            <a:ext cx="8686800" cy="502920"/>
          </a:xfrm>
          <a:prstGeom xmlns:a="http://schemas.openxmlformats.org/drawingml/2006/main" prst="roundRect">
            <a:avLst>
              <a:gd name="adj" fmla="val 14545"/>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78" name="Google Shape;378;p17">
            <a:extLst xmlns:a="http://schemas.openxmlformats.org/drawingml/2006/main">
              <a:ext uri="{FF2B5EF4-FFF2-40B4-BE49-F238E27FC236}">
                <a16:creationId xmlns:a16="http://schemas.microsoft.com/office/drawing/2014/main" id="{1E5DD25C-1028-426E-AA1A-3585289AE4F5}"/>
              </a:ext>
            </a:extLst>
          </p:cNvPr>
          <p:cNvSpPr>
            <a:spLocks xmlns:a="http://schemas.openxmlformats.org/drawingml/2006/main" noGrp="1"/>
          </p:cNvSpPr>
          <p:nvPr/>
        </p:nvSpPr>
        <p:spPr>
          <a:xfrm xmlns:a="http://schemas.openxmlformats.org/drawingml/2006/main">
            <a:off x="1161288" y="5705856"/>
            <a:ext cx="8375904"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1" i="0" u="none" cap="none">
                <a:solidFill>
                  <a:srgbClr val="F7F7F7"/>
                </a:solidFill>
                <a:latin typeface="Arial"/>
                <a:ea typeface="Arial"/>
                <a:cs typeface="Arial"/>
              </a:rPr>
              <a:t>Handout match: Troubleshooting Conference Prep</a:t>
            </a:r>
          </a:p>
        </p:txBody>
      </p:sp>
    </p:spTree>
    <p:extLst>
      <p:ext uri="{BB962C8B-B14F-4D97-AF65-F5344CB8AC3E}">
        <p14:creationId xmlns:p14="http://schemas.microsoft.com/office/powerpoint/2010/main" val="1018337089"/>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4" name="Google Shape;384;p18">
            <a:extLst xmlns:a="http://schemas.openxmlformats.org/drawingml/2006/main">
              <a:ext uri="{FF2B5EF4-FFF2-40B4-BE49-F238E27FC236}">
                <a16:creationId xmlns:a16="http://schemas.microsoft.com/office/drawing/2014/main" id="{08974835-E99A-4F6C-A03C-0420FB9CC54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85" name="Google Shape;385;p18">
            <a:extLst xmlns:a="http://schemas.openxmlformats.org/drawingml/2006/main">
              <a:ext uri="{FF2B5EF4-FFF2-40B4-BE49-F238E27FC236}">
                <a16:creationId xmlns:a16="http://schemas.microsoft.com/office/drawing/2014/main" id="{9AF960D9-7B4B-440A-9A90-03AB4AD5AA56}"/>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86" name="Google Shape;386;p18">
            <a:extLst xmlns:a="http://schemas.openxmlformats.org/drawingml/2006/main">
              <a:ext uri="{FF2B5EF4-FFF2-40B4-BE49-F238E27FC236}">
                <a16:creationId xmlns:a16="http://schemas.microsoft.com/office/drawing/2014/main" id="{7DA4A3E4-D291-4B63-9599-9D280CA9670E}"/>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87" name="Google Shape;387;p18">
            <a:extLst xmlns:a="http://schemas.openxmlformats.org/drawingml/2006/main">
              <a:ext uri="{FF2B5EF4-FFF2-40B4-BE49-F238E27FC236}">
                <a16:creationId xmlns:a16="http://schemas.microsoft.com/office/drawing/2014/main" id="{3EE35E8D-BA2E-41C5-B711-732340434E08}"/>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ACTIVITY: REVISE, RETEST, OR PIVOT?</a:t>
            </a:r>
          </a:p>
        </p:txBody>
      </p:sp>
      <p:sp>
        <p:nvSpPr>
          <p:cNvPr id="388" name="Google Shape;388;p18">
            <a:extLst xmlns:a="http://schemas.openxmlformats.org/drawingml/2006/main">
              <a:ext uri="{FF2B5EF4-FFF2-40B4-BE49-F238E27FC236}">
                <a16:creationId xmlns:a16="http://schemas.microsoft.com/office/drawing/2014/main" id="{EC4D3679-1DB5-4CCD-BF63-4EB6FC63564D}"/>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89" name="Google Shape;389;p18">
            <a:extLst xmlns:a="http://schemas.openxmlformats.org/drawingml/2006/main">
              <a:ext uri="{FF2B5EF4-FFF2-40B4-BE49-F238E27FC236}">
                <a16:creationId xmlns:a16="http://schemas.microsoft.com/office/drawing/2014/main" id="{ECF8BB53-25EA-4FB7-8BC4-C71B406F8AD6}"/>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Choose the smallest responsible next move.</a:t>
            </a:r>
          </a:p>
        </p:txBody>
      </p:sp>
      <p:cxnSp>
        <p:nvCxnSpPr>
          <p:cNvPr id="409" name="Google Shape;390;p18"/>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391" name="Google Shape;391;p18">
            <a:extLst xmlns:a="http://schemas.openxmlformats.org/drawingml/2006/main">
              <a:ext uri="{FF2B5EF4-FFF2-40B4-BE49-F238E27FC236}">
                <a16:creationId xmlns:a16="http://schemas.microsoft.com/office/drawing/2014/main" id="{A5368BA0-AC0A-4B57-AE46-EDAB10AC770D}"/>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16</a:t>
            </a:r>
          </a:p>
        </p:txBody>
      </p:sp>
      <p:pic>
        <p:nvPicPr>
          <p:cNvPr id="411" name="Google Shape;392;p18"/>
          <p:cNvPicPr>
            <a:picLocks xmlns:a="http://schemas.openxmlformats.org/drawingml/2006/main" noChangeAspect="1"/>
          </p:cNvPicPr>
          <p:nvPr/>
        </p:nvPicPr>
        <p:blipFill rotWithShape="1">
          <a:blip xmlns:r="http://schemas.openxmlformats.org/officeDocument/2006/relationships" xmlns:a="http://schemas.openxmlformats.org/drawingml/2006/main" r:embed="R50ac8dfa746748bc">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393" name="Google Shape;393;p18">
            <a:extLst xmlns:a="http://schemas.openxmlformats.org/drawingml/2006/main">
              <a:ext uri="{FF2B5EF4-FFF2-40B4-BE49-F238E27FC236}">
                <a16:creationId xmlns:a16="http://schemas.microsoft.com/office/drawing/2014/main" id="{4B17DFB7-6B08-4047-ADC3-FE3C4F79B932}"/>
              </a:ext>
            </a:extLst>
          </p:cNvPr>
          <p:cNvSpPr>
            <a:spLocks xmlns:a="http://schemas.openxmlformats.org/drawingml/2006/main" noGrp="1"/>
          </p:cNvSpPr>
          <p:nvPr/>
        </p:nvSpPr>
        <p:spPr>
          <a:xfrm xmlns:a="http://schemas.openxmlformats.org/drawingml/2006/main">
            <a:off x="685800" y="1664208"/>
            <a:ext cx="2011680" cy="310896"/>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4" name="Google Shape;394;p18">
            <a:extLst xmlns:a="http://schemas.openxmlformats.org/drawingml/2006/main">
              <a:ext uri="{FF2B5EF4-FFF2-40B4-BE49-F238E27FC236}">
                <a16:creationId xmlns:a16="http://schemas.microsoft.com/office/drawing/2014/main" id="{20DA0E6B-0BE2-4110-8107-F5D4DF3FE75D}"/>
              </a:ext>
            </a:extLst>
          </p:cNvPr>
          <p:cNvSpPr>
            <a:spLocks xmlns:a="http://schemas.openxmlformats.org/drawingml/2006/main" noGrp="1"/>
          </p:cNvSpPr>
          <p:nvPr/>
        </p:nvSpPr>
        <p:spPr>
          <a:xfrm xmlns:a="http://schemas.openxmlformats.org/drawingml/2006/main">
            <a:off x="804672" y="172821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900"/>
              <a:buFont typeface="Arial"/>
              <a:buNone/>
            </a:pPr>
            <a:r>
              <a:rPr sz="900" b="1" i="0" u="none" cap="none">
                <a:solidFill>
                  <a:srgbClr val="F7F7F7"/>
                </a:solidFill>
                <a:latin typeface="Arial"/>
                <a:ea typeface="Arial"/>
                <a:cs typeface="Arial"/>
              </a:rPr>
              <a:t>STUDENT ACTIVITY</a:t>
            </a:r>
          </a:p>
        </p:txBody>
      </p:sp>
      <p:sp>
        <p:nvSpPr>
          <p:cNvPr id="395" name="Google Shape;395;p18">
            <a:extLst xmlns:a="http://schemas.openxmlformats.org/drawingml/2006/main">
              <a:ext uri="{FF2B5EF4-FFF2-40B4-BE49-F238E27FC236}">
                <a16:creationId xmlns:a16="http://schemas.microsoft.com/office/drawing/2014/main" id="{EB794A4F-3989-401D-A800-AEFF4B3A5040}"/>
              </a:ext>
            </a:extLst>
          </p:cNvPr>
          <p:cNvSpPr>
            <a:spLocks xmlns:a="http://schemas.openxmlformats.org/drawingml/2006/main" noGrp="1"/>
          </p:cNvSpPr>
          <p:nvPr/>
        </p:nvSpPr>
        <p:spPr>
          <a:xfrm xmlns:a="http://schemas.openxmlformats.org/drawingml/2006/main">
            <a:off x="868680" y="2057400"/>
            <a:ext cx="3840480" cy="475488"/>
          </a:xfrm>
          <a:prstGeom xmlns:a="http://schemas.openxmlformats.org/drawingml/2006/main" prst="roundRect">
            <a:avLst>
              <a:gd name="adj" fmla="val 15385"/>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6" name="Google Shape;396;p18">
            <a:extLst xmlns:a="http://schemas.openxmlformats.org/drawingml/2006/main">
              <a:ext uri="{FF2B5EF4-FFF2-40B4-BE49-F238E27FC236}">
                <a16:creationId xmlns:a16="http://schemas.microsoft.com/office/drawing/2014/main" id="{4E6C9471-D2DF-4864-8A22-91595789ABC8}"/>
              </a:ext>
            </a:extLst>
          </p:cNvPr>
          <p:cNvSpPr>
            <a:spLocks xmlns:a="http://schemas.openxmlformats.org/drawingml/2006/main" noGrp="1"/>
          </p:cNvSpPr>
          <p:nvPr/>
        </p:nvSpPr>
        <p:spPr>
          <a:xfrm xmlns:a="http://schemas.openxmlformats.org/drawingml/2006/main">
            <a:off x="1024128" y="2185416"/>
            <a:ext cx="3529584"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For your own project, answer:</a:t>
            </a:r>
          </a:p>
        </p:txBody>
      </p:sp>
      <p:sp>
        <p:nvSpPr>
          <p:cNvPr id="397" name="Google Shape;397;p18">
            <a:extLst xmlns:a="http://schemas.openxmlformats.org/drawingml/2006/main">
              <a:ext uri="{FF2B5EF4-FFF2-40B4-BE49-F238E27FC236}">
                <a16:creationId xmlns:a16="http://schemas.microsoft.com/office/drawing/2014/main" id="{C7218A73-F91D-443C-8B82-96732FA9E905}"/>
              </a:ext>
            </a:extLst>
          </p:cNvPr>
          <p:cNvSpPr>
            <a:spLocks xmlns:a="http://schemas.openxmlformats.org/drawingml/2006/main" noGrp="1"/>
          </p:cNvSpPr>
          <p:nvPr/>
        </p:nvSpPr>
        <p:spPr>
          <a:xfrm xmlns:a="http://schemas.openxmlformats.org/drawingml/2006/main">
            <a:off x="960120" y="2743200"/>
            <a:ext cx="4846320" cy="2194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is the main problem right now?</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evidence shows it is a problem?</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Can one revision fix it?</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Do you need approval before continuing?</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Will you revise, retest, or pivot?</a:t>
            </a:r>
          </a:p>
        </p:txBody>
      </p:sp>
      <p:sp>
        <p:nvSpPr>
          <p:cNvPr id="398" name="Google Shape;398;p18">
            <a:extLst xmlns:a="http://schemas.openxmlformats.org/drawingml/2006/main">
              <a:ext uri="{FF2B5EF4-FFF2-40B4-BE49-F238E27FC236}">
                <a16:creationId xmlns:a16="http://schemas.microsoft.com/office/drawing/2014/main" id="{F82F7FFA-BAFC-43D5-AF2A-D860CBBA7E74}"/>
              </a:ext>
            </a:extLst>
          </p:cNvPr>
          <p:cNvSpPr>
            <a:spLocks xmlns:a="http://schemas.openxmlformats.org/drawingml/2006/main" noGrp="1"/>
          </p:cNvSpPr>
          <p:nvPr/>
        </p:nvSpPr>
        <p:spPr>
          <a:xfrm xmlns:a="http://schemas.openxmlformats.org/drawingml/2006/main">
            <a:off x="6492240" y="2057400"/>
            <a:ext cx="2011680" cy="475488"/>
          </a:xfrm>
          <a:prstGeom xmlns:a="http://schemas.openxmlformats.org/drawingml/2006/main" prst="roundRect">
            <a:avLst>
              <a:gd name="adj" fmla="val 15385"/>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9" name="Google Shape;399;p18">
            <a:extLst xmlns:a="http://schemas.openxmlformats.org/drawingml/2006/main">
              <a:ext uri="{FF2B5EF4-FFF2-40B4-BE49-F238E27FC236}">
                <a16:creationId xmlns:a16="http://schemas.microsoft.com/office/drawing/2014/main" id="{2223B883-DEC1-41BA-A8D0-33FE628EB984}"/>
              </a:ext>
            </a:extLst>
          </p:cNvPr>
          <p:cNvSpPr>
            <a:spLocks xmlns:a="http://schemas.openxmlformats.org/drawingml/2006/main" noGrp="1"/>
          </p:cNvSpPr>
          <p:nvPr/>
        </p:nvSpPr>
        <p:spPr>
          <a:xfrm xmlns:a="http://schemas.openxmlformats.org/drawingml/2006/main">
            <a:off x="6647688" y="2185416"/>
            <a:ext cx="1700784"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Exit product:</a:t>
            </a:r>
          </a:p>
        </p:txBody>
      </p:sp>
      <p:sp>
        <p:nvSpPr>
          <p:cNvPr id="400" name="Google Shape;400;p18">
            <a:extLst xmlns:a="http://schemas.openxmlformats.org/drawingml/2006/main">
              <a:ext uri="{FF2B5EF4-FFF2-40B4-BE49-F238E27FC236}">
                <a16:creationId xmlns:a16="http://schemas.microsoft.com/office/drawing/2014/main" id="{7F770201-094B-42C7-A19E-C61F01A85CC5}"/>
              </a:ext>
            </a:extLst>
          </p:cNvPr>
          <p:cNvSpPr>
            <a:spLocks xmlns:a="http://schemas.openxmlformats.org/drawingml/2006/main" noGrp="1"/>
          </p:cNvSpPr>
          <p:nvPr/>
        </p:nvSpPr>
        <p:spPr>
          <a:xfrm xmlns:a="http://schemas.openxmlformats.org/drawingml/2006/main">
            <a:off x="6583680" y="2743200"/>
            <a:ext cx="420624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100"/>
              <a:buFont typeface="Arial"/>
              <a:buNone/>
            </a:pPr>
            <a:r>
              <a:rPr sz="2100" b="1" i="0" u="none" cap="none">
                <a:solidFill>
                  <a:srgbClr val="F7F7F7"/>
                </a:solidFill>
                <a:latin typeface="Arial"/>
                <a:ea typeface="Arial"/>
                <a:cs typeface="Arial"/>
              </a:rPr>
              <a:t>Complete one Troubleshooting Log entry and update your next research journal entry.</a:t>
            </a:r>
          </a:p>
        </p:txBody>
      </p:sp>
      <p:sp>
        <p:nvSpPr>
          <p:cNvPr id="401" name="Google Shape;401;p18">
            <a:extLst xmlns:a="http://schemas.openxmlformats.org/drawingml/2006/main">
              <a:ext uri="{FF2B5EF4-FFF2-40B4-BE49-F238E27FC236}">
                <a16:creationId xmlns:a16="http://schemas.microsoft.com/office/drawing/2014/main" id="{83CDCF50-08AA-4E14-ABAB-9C27895D8BD4}"/>
              </a:ext>
            </a:extLst>
          </p:cNvPr>
          <p:cNvSpPr>
            <a:spLocks xmlns:a="http://schemas.openxmlformats.org/drawingml/2006/main" noGrp="1"/>
          </p:cNvSpPr>
          <p:nvPr/>
        </p:nvSpPr>
        <p:spPr>
          <a:xfrm xmlns:a="http://schemas.openxmlformats.org/drawingml/2006/main">
            <a:off x="6583680" y="4526280"/>
            <a:ext cx="438912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700"/>
              <a:buFont typeface="Arial"/>
              <a:buNone/>
            </a:pPr>
            <a:r>
              <a:rPr sz="1700" b="1" i="0" u="none" cap="none">
                <a:solidFill>
                  <a:srgbClr val="ED1C24"/>
                </a:solidFill>
                <a:latin typeface="Arial"/>
                <a:ea typeface="Arial"/>
                <a:cs typeface="Arial"/>
              </a:rPr>
              <a:t>One change. One reason. One record.</a:t>
            </a:r>
          </a:p>
        </p:txBody>
      </p:sp>
    </p:spTree>
    <p:extLst>
      <p:ext uri="{BB962C8B-B14F-4D97-AF65-F5344CB8AC3E}">
        <p14:creationId xmlns:p14="http://schemas.microsoft.com/office/powerpoint/2010/main" val="204235228"/>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07" name="Google Shape;407;p19">
            <a:extLst xmlns:a="http://schemas.openxmlformats.org/drawingml/2006/main">
              <a:ext uri="{FF2B5EF4-FFF2-40B4-BE49-F238E27FC236}">
                <a16:creationId xmlns:a16="http://schemas.microsoft.com/office/drawing/2014/main" id="{A2490F14-2412-4674-AE20-E85169FC1E2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08" name="Google Shape;408;p19">
            <a:extLst xmlns:a="http://schemas.openxmlformats.org/drawingml/2006/main">
              <a:ext uri="{FF2B5EF4-FFF2-40B4-BE49-F238E27FC236}">
                <a16:creationId xmlns:a16="http://schemas.microsoft.com/office/drawing/2014/main" id="{8A22C04C-2A25-41E6-95C3-A3D471915443}"/>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09" name="Google Shape;409;p19">
            <a:extLst xmlns:a="http://schemas.openxmlformats.org/drawingml/2006/main">
              <a:ext uri="{FF2B5EF4-FFF2-40B4-BE49-F238E27FC236}">
                <a16:creationId xmlns:a16="http://schemas.microsoft.com/office/drawing/2014/main" id="{DE99CF6C-A092-48BC-9690-A8DFB072C965}"/>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0" name="Google Shape;410;p19">
            <a:extLst xmlns:a="http://schemas.openxmlformats.org/drawingml/2006/main">
              <a:ext uri="{FF2B5EF4-FFF2-40B4-BE49-F238E27FC236}">
                <a16:creationId xmlns:a16="http://schemas.microsoft.com/office/drawing/2014/main" id="{5DA89A8D-690A-4C70-B2DE-E2BD2E7E40F4}"/>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EXIT TICKET</a:t>
            </a:r>
          </a:p>
        </p:txBody>
      </p:sp>
      <p:sp>
        <p:nvSpPr>
          <p:cNvPr id="411" name="Google Shape;411;p19">
            <a:extLst xmlns:a="http://schemas.openxmlformats.org/drawingml/2006/main">
              <a:ext uri="{FF2B5EF4-FFF2-40B4-BE49-F238E27FC236}">
                <a16:creationId xmlns:a16="http://schemas.microsoft.com/office/drawing/2014/main" id="{EB507200-299A-452B-B634-550C9EAE5F51}"/>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2" name="Google Shape;412;p19">
            <a:extLst xmlns:a="http://schemas.openxmlformats.org/drawingml/2006/main">
              <a:ext uri="{FF2B5EF4-FFF2-40B4-BE49-F238E27FC236}">
                <a16:creationId xmlns:a16="http://schemas.microsoft.com/office/drawing/2014/main" id="{2D5CC2D1-E66A-4CB5-9A63-B4CB5BC7E212}"/>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Leave with a responsible next step.</a:t>
            </a:r>
          </a:p>
        </p:txBody>
      </p:sp>
      <p:cxnSp>
        <p:nvCxnSpPr>
          <p:cNvPr id="434" name="Google Shape;413;p19"/>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414" name="Google Shape;414;p19">
            <a:extLst xmlns:a="http://schemas.openxmlformats.org/drawingml/2006/main">
              <a:ext uri="{FF2B5EF4-FFF2-40B4-BE49-F238E27FC236}">
                <a16:creationId xmlns:a16="http://schemas.microsoft.com/office/drawing/2014/main" id="{97A8C7DE-0E41-45A4-A82D-6BEA25F23973}"/>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17</a:t>
            </a:r>
          </a:p>
        </p:txBody>
      </p:sp>
      <p:pic>
        <p:nvPicPr>
          <p:cNvPr id="436" name="Google Shape;415;p19"/>
          <p:cNvPicPr>
            <a:picLocks xmlns:a="http://schemas.openxmlformats.org/drawingml/2006/main" noChangeAspect="1"/>
          </p:cNvPicPr>
          <p:nvPr/>
        </p:nvPicPr>
        <p:blipFill rotWithShape="1">
          <a:blip xmlns:r="http://schemas.openxmlformats.org/officeDocument/2006/relationships" xmlns:a="http://schemas.openxmlformats.org/drawingml/2006/main" r:embed="R3c160b0ef5f84522">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416" name="Google Shape;416;p19">
            <a:extLst xmlns:a="http://schemas.openxmlformats.org/drawingml/2006/main">
              <a:ext uri="{FF2B5EF4-FFF2-40B4-BE49-F238E27FC236}">
                <a16:creationId xmlns:a16="http://schemas.microsoft.com/office/drawing/2014/main" id="{B6FA8D41-693C-49BE-9D30-053605E4D71C}"/>
              </a:ext>
            </a:extLst>
          </p:cNvPr>
          <p:cNvSpPr>
            <a:spLocks xmlns:a="http://schemas.openxmlformats.org/drawingml/2006/main" noGrp="1"/>
          </p:cNvSpPr>
          <p:nvPr/>
        </p:nvSpPr>
        <p:spPr>
          <a:xfrm xmlns:a="http://schemas.openxmlformats.org/drawingml/2006/main">
            <a:off x="685800" y="1664208"/>
            <a:ext cx="2011680" cy="310896"/>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7" name="Google Shape;417;p19">
            <a:extLst xmlns:a="http://schemas.openxmlformats.org/drawingml/2006/main">
              <a:ext uri="{FF2B5EF4-FFF2-40B4-BE49-F238E27FC236}">
                <a16:creationId xmlns:a16="http://schemas.microsoft.com/office/drawing/2014/main" id="{61F2F4C3-DC33-4E56-8538-971F3CCB500E}"/>
              </a:ext>
            </a:extLst>
          </p:cNvPr>
          <p:cNvSpPr>
            <a:spLocks xmlns:a="http://schemas.openxmlformats.org/drawingml/2006/main" noGrp="1"/>
          </p:cNvSpPr>
          <p:nvPr/>
        </p:nvSpPr>
        <p:spPr>
          <a:xfrm xmlns:a="http://schemas.openxmlformats.org/drawingml/2006/main">
            <a:off x="804672" y="172821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900"/>
              <a:buFont typeface="Arial"/>
              <a:buNone/>
            </a:pPr>
            <a:r>
              <a:rPr sz="900" b="1" i="0" u="none" cap="none">
                <a:solidFill>
                  <a:srgbClr val="F7F7F7"/>
                </a:solidFill>
                <a:latin typeface="Arial"/>
                <a:ea typeface="Arial"/>
                <a:cs typeface="Arial"/>
              </a:rPr>
              <a:t>EXIT TICKET</a:t>
            </a:r>
          </a:p>
        </p:txBody>
      </p:sp>
      <p:sp>
        <p:nvSpPr>
          <p:cNvPr id="418" name="Google Shape;418;p19">
            <a:extLst xmlns:a="http://schemas.openxmlformats.org/drawingml/2006/main">
              <a:ext uri="{FF2B5EF4-FFF2-40B4-BE49-F238E27FC236}">
                <a16:creationId xmlns:a16="http://schemas.microsoft.com/office/drawing/2014/main" id="{83108319-57FC-4C4C-92F8-CD557B5CAF0F}"/>
              </a:ext>
            </a:extLst>
          </p:cNvPr>
          <p:cNvSpPr>
            <a:spLocks xmlns:a="http://schemas.openxmlformats.org/drawingml/2006/main" noGrp="1"/>
          </p:cNvSpPr>
          <p:nvPr/>
        </p:nvSpPr>
        <p:spPr>
          <a:xfrm xmlns:a="http://schemas.openxmlformats.org/drawingml/2006/main">
            <a:off x="868680" y="2148840"/>
            <a:ext cx="3749040" cy="502920"/>
          </a:xfrm>
          <a:prstGeom xmlns:a="http://schemas.openxmlformats.org/drawingml/2006/main" prst="roundRect">
            <a:avLst>
              <a:gd name="adj" fmla="val 14545"/>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9" name="Google Shape;419;p19">
            <a:extLst xmlns:a="http://schemas.openxmlformats.org/drawingml/2006/main">
              <a:ext uri="{FF2B5EF4-FFF2-40B4-BE49-F238E27FC236}">
                <a16:creationId xmlns:a16="http://schemas.microsoft.com/office/drawing/2014/main" id="{3D209F58-A758-4ABB-BA8F-26098A3A121C}"/>
              </a:ext>
            </a:extLst>
          </p:cNvPr>
          <p:cNvSpPr>
            <a:spLocks xmlns:a="http://schemas.openxmlformats.org/drawingml/2006/main" noGrp="1"/>
          </p:cNvSpPr>
          <p:nvPr/>
        </p:nvSpPr>
        <p:spPr>
          <a:xfrm xmlns:a="http://schemas.openxmlformats.org/drawingml/2006/main">
            <a:off x="1024128" y="2276856"/>
            <a:ext cx="3438144"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900"/>
              <a:buFont typeface="Arial"/>
              <a:buNone/>
            </a:pPr>
            <a:r>
              <a:rPr sz="1900" b="1" i="0" u="none" cap="none">
                <a:solidFill>
                  <a:srgbClr val="F7F7F7"/>
                </a:solidFill>
                <a:latin typeface="Arial"/>
                <a:ea typeface="Arial"/>
                <a:cs typeface="Arial"/>
              </a:rPr>
              <a:t>Write three sentences:</a:t>
            </a:r>
          </a:p>
        </p:txBody>
      </p:sp>
      <p:sp>
        <p:nvSpPr>
          <p:cNvPr id="420" name="Google Shape;420;p19">
            <a:extLst xmlns:a="http://schemas.openxmlformats.org/drawingml/2006/main">
              <a:ext uri="{FF2B5EF4-FFF2-40B4-BE49-F238E27FC236}">
                <a16:creationId xmlns:a16="http://schemas.microsoft.com/office/drawing/2014/main" id="{2A475764-8226-4C84-9799-9758D53356B5}"/>
              </a:ext>
            </a:extLst>
          </p:cNvPr>
          <p:cNvSpPr>
            <a:spLocks xmlns:a="http://schemas.openxmlformats.org/drawingml/2006/main" noGrp="1"/>
          </p:cNvSpPr>
          <p:nvPr/>
        </p:nvSpPr>
        <p:spPr>
          <a:xfrm xmlns:a="http://schemas.openxmlformats.org/drawingml/2006/main">
            <a:off x="1005840" y="2788920"/>
            <a:ext cx="10058400" cy="640080"/>
          </a:xfrm>
          <a:prstGeom xmlns:a="http://schemas.openxmlformats.org/drawingml/2006/main" prst="roundRect">
            <a:avLst>
              <a:gd name="adj" fmla="val 11429"/>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1" name="Google Shape;421;p19">
            <a:extLst xmlns:a="http://schemas.openxmlformats.org/drawingml/2006/main">
              <a:ext uri="{FF2B5EF4-FFF2-40B4-BE49-F238E27FC236}">
                <a16:creationId xmlns:a16="http://schemas.microsoft.com/office/drawing/2014/main" id="{8E9E8C08-5923-481D-9AD9-F6E4BCD38167}"/>
              </a:ext>
            </a:extLst>
          </p:cNvPr>
          <p:cNvSpPr>
            <a:spLocks xmlns:a="http://schemas.openxmlformats.org/drawingml/2006/main" noGrp="1"/>
          </p:cNvSpPr>
          <p:nvPr/>
        </p:nvSpPr>
        <p:spPr>
          <a:xfrm xmlns:a="http://schemas.openxmlformats.org/drawingml/2006/main">
            <a:off x="1161288" y="2916936"/>
            <a:ext cx="974750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900"/>
              <a:buFont typeface="Arial"/>
              <a:buNone/>
            </a:pPr>
            <a:r>
              <a:rPr sz="1900" b="0" i="0" u="none" cap="none">
                <a:solidFill>
                  <a:srgbClr val="F7F7F7"/>
                </a:solidFill>
                <a:latin typeface="Arial"/>
                <a:ea typeface="Arial"/>
                <a:cs typeface="Arial"/>
              </a:rPr>
              <a:t>The problem I need to troubleshoot is _____.</a:t>
            </a:r>
          </a:p>
        </p:txBody>
      </p:sp>
      <p:sp>
        <p:nvSpPr>
          <p:cNvPr id="422" name="Google Shape;422;p19">
            <a:extLst xmlns:a="http://schemas.openxmlformats.org/drawingml/2006/main">
              <a:ext uri="{FF2B5EF4-FFF2-40B4-BE49-F238E27FC236}">
                <a16:creationId xmlns:a16="http://schemas.microsoft.com/office/drawing/2014/main" id="{354867F9-B565-4886-A670-8878F2705BF6}"/>
              </a:ext>
            </a:extLst>
          </p:cNvPr>
          <p:cNvSpPr>
            <a:spLocks xmlns:a="http://schemas.openxmlformats.org/drawingml/2006/main" noGrp="1"/>
          </p:cNvSpPr>
          <p:nvPr/>
        </p:nvSpPr>
        <p:spPr>
          <a:xfrm xmlns:a="http://schemas.openxmlformats.org/drawingml/2006/main">
            <a:off x="1005840" y="3593592"/>
            <a:ext cx="10058400" cy="640080"/>
          </a:xfrm>
          <a:prstGeom xmlns:a="http://schemas.openxmlformats.org/drawingml/2006/main" prst="roundRect">
            <a:avLst>
              <a:gd name="adj" fmla="val 11429"/>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3" name="Google Shape;423;p19">
            <a:extLst xmlns:a="http://schemas.openxmlformats.org/drawingml/2006/main">
              <a:ext uri="{FF2B5EF4-FFF2-40B4-BE49-F238E27FC236}">
                <a16:creationId xmlns:a16="http://schemas.microsoft.com/office/drawing/2014/main" id="{A031FB1F-2CC7-40DB-98B5-CCB50605D1F5}"/>
              </a:ext>
            </a:extLst>
          </p:cNvPr>
          <p:cNvSpPr>
            <a:spLocks xmlns:a="http://schemas.openxmlformats.org/drawingml/2006/main" noGrp="1"/>
          </p:cNvSpPr>
          <p:nvPr/>
        </p:nvSpPr>
        <p:spPr>
          <a:xfrm xmlns:a="http://schemas.openxmlformats.org/drawingml/2006/main">
            <a:off x="1161288" y="3721608"/>
            <a:ext cx="974750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900"/>
              <a:buFont typeface="Arial"/>
              <a:buNone/>
            </a:pPr>
            <a:r>
              <a:rPr sz="1900" b="0" i="0" u="none" cap="none">
                <a:solidFill>
                  <a:srgbClr val="F7F7F7"/>
                </a:solidFill>
                <a:latin typeface="Arial"/>
                <a:ea typeface="Arial"/>
                <a:cs typeface="Arial"/>
              </a:rPr>
              <a:t>The evidence that shows this problem is _____.</a:t>
            </a:r>
          </a:p>
        </p:txBody>
      </p:sp>
      <p:sp>
        <p:nvSpPr>
          <p:cNvPr id="424" name="Google Shape;424;p19">
            <a:extLst xmlns:a="http://schemas.openxmlformats.org/drawingml/2006/main">
              <a:ext uri="{FF2B5EF4-FFF2-40B4-BE49-F238E27FC236}">
                <a16:creationId xmlns:a16="http://schemas.microsoft.com/office/drawing/2014/main" id="{5F8F9E1C-981C-42DE-9D2A-E5E6E3648DA5}"/>
              </a:ext>
            </a:extLst>
          </p:cNvPr>
          <p:cNvSpPr>
            <a:spLocks xmlns:a="http://schemas.openxmlformats.org/drawingml/2006/main" noGrp="1"/>
          </p:cNvSpPr>
          <p:nvPr/>
        </p:nvSpPr>
        <p:spPr>
          <a:xfrm xmlns:a="http://schemas.openxmlformats.org/drawingml/2006/main">
            <a:off x="1005840" y="4398264"/>
            <a:ext cx="10058400" cy="640080"/>
          </a:xfrm>
          <a:prstGeom xmlns:a="http://schemas.openxmlformats.org/drawingml/2006/main" prst="roundRect">
            <a:avLst>
              <a:gd name="adj" fmla="val 11429"/>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5" name="Google Shape;425;p19">
            <a:extLst xmlns:a="http://schemas.openxmlformats.org/drawingml/2006/main">
              <a:ext uri="{FF2B5EF4-FFF2-40B4-BE49-F238E27FC236}">
                <a16:creationId xmlns:a16="http://schemas.microsoft.com/office/drawing/2014/main" id="{DFA215D0-757E-458B-BF09-78E0A687CEF9}"/>
              </a:ext>
            </a:extLst>
          </p:cNvPr>
          <p:cNvSpPr>
            <a:spLocks xmlns:a="http://schemas.openxmlformats.org/drawingml/2006/main" noGrp="1"/>
          </p:cNvSpPr>
          <p:nvPr/>
        </p:nvSpPr>
        <p:spPr>
          <a:xfrm xmlns:a="http://schemas.openxmlformats.org/drawingml/2006/main">
            <a:off x="1161288" y="4526280"/>
            <a:ext cx="974750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900"/>
              <a:buFont typeface="Arial"/>
              <a:buNone/>
            </a:pPr>
            <a:r>
              <a:rPr sz="1900" b="0" i="0" u="none" cap="none">
                <a:solidFill>
                  <a:srgbClr val="F7F7F7"/>
                </a:solidFill>
                <a:latin typeface="Arial"/>
                <a:ea typeface="Arial"/>
                <a:cs typeface="Arial"/>
              </a:rPr>
              <a:t>My next approved step is _____ because _____.</a:t>
            </a:r>
          </a:p>
        </p:txBody>
      </p:sp>
      <p:sp>
        <p:nvSpPr>
          <p:cNvPr id="426" name="Google Shape;426;p19">
            <a:extLst xmlns:a="http://schemas.openxmlformats.org/drawingml/2006/main">
              <a:ext uri="{FF2B5EF4-FFF2-40B4-BE49-F238E27FC236}">
                <a16:creationId xmlns:a16="http://schemas.microsoft.com/office/drawing/2014/main" id="{39CC42D4-AE32-4119-93A3-472D8AD960C1}"/>
              </a:ext>
            </a:extLst>
          </p:cNvPr>
          <p:cNvSpPr>
            <a:spLocks xmlns:a="http://schemas.openxmlformats.org/drawingml/2006/main" noGrp="1"/>
          </p:cNvSpPr>
          <p:nvPr/>
        </p:nvSpPr>
        <p:spPr>
          <a:xfrm xmlns:a="http://schemas.openxmlformats.org/drawingml/2006/main">
            <a:off x="1051560" y="5577840"/>
            <a:ext cx="96012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600"/>
              <a:buFont typeface="Arial"/>
              <a:buNone/>
            </a:pPr>
            <a:r>
              <a:rPr sz="1600" b="0" i="0" u="none" cap="none">
                <a:solidFill>
                  <a:srgbClr val="A6A6A6"/>
                </a:solidFill>
                <a:latin typeface="Arial"/>
                <a:ea typeface="Arial"/>
                <a:cs typeface="Arial"/>
              </a:rPr>
              <a:t>Submit or attach this to today’s research journal entry.</a:t>
            </a:r>
          </a:p>
        </p:txBody>
      </p:sp>
    </p:spTree>
    <p:extLst>
      <p:ext uri="{BB962C8B-B14F-4D97-AF65-F5344CB8AC3E}">
        <p14:creationId xmlns:p14="http://schemas.microsoft.com/office/powerpoint/2010/main" val="636642090"/>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32" name="Google Shape;432;p20">
            <a:extLst xmlns:a="http://schemas.openxmlformats.org/drawingml/2006/main">
              <a:ext uri="{FF2B5EF4-FFF2-40B4-BE49-F238E27FC236}">
                <a16:creationId xmlns:a16="http://schemas.microsoft.com/office/drawing/2014/main" id="{C8F77696-0FA6-4ECA-BD74-E01C3941E98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33" name="Google Shape;433;p20">
            <a:extLst xmlns:a="http://schemas.openxmlformats.org/drawingml/2006/main">
              <a:ext uri="{FF2B5EF4-FFF2-40B4-BE49-F238E27FC236}">
                <a16:creationId xmlns:a16="http://schemas.microsoft.com/office/drawing/2014/main" id="{0E9F4BAC-7F55-490D-A2CF-DCED4562416C}"/>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34" name="Google Shape;434;p20">
            <a:extLst xmlns:a="http://schemas.openxmlformats.org/drawingml/2006/main">
              <a:ext uri="{FF2B5EF4-FFF2-40B4-BE49-F238E27FC236}">
                <a16:creationId xmlns:a16="http://schemas.microsoft.com/office/drawing/2014/main" id="{DA8B5A30-DC07-4A47-937A-9DA605BA94EB}"/>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35" name="Google Shape;435;p20">
            <a:extLst xmlns:a="http://schemas.openxmlformats.org/drawingml/2006/main">
              <a:ext uri="{FF2B5EF4-FFF2-40B4-BE49-F238E27FC236}">
                <a16:creationId xmlns:a16="http://schemas.microsoft.com/office/drawing/2014/main" id="{A1C41B6B-8FFB-4524-A5EA-B1B760B0FD49}"/>
              </a:ext>
            </a:extLst>
          </p:cNvPr>
          <p:cNvSpPr>
            <a:spLocks xmlns:a="http://schemas.openxmlformats.org/drawingml/2006/main" noGrp="1"/>
          </p:cNvSpPr>
          <p:nvPr/>
        </p:nvSpPr>
        <p:spPr>
          <a:xfrm xmlns:a="http://schemas.openxmlformats.org/drawingml/2006/main">
            <a:off x="777240" y="1005840"/>
            <a:ext cx="301752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NEXT DECK</a:t>
            </a:r>
          </a:p>
        </p:txBody>
      </p:sp>
      <p:sp>
        <p:nvSpPr>
          <p:cNvPr id="436" name="Google Shape;436;p20">
            <a:extLst xmlns:a="http://schemas.openxmlformats.org/drawingml/2006/main">
              <a:ext uri="{FF2B5EF4-FFF2-40B4-BE49-F238E27FC236}">
                <a16:creationId xmlns:a16="http://schemas.microsoft.com/office/drawing/2014/main" id="{3123CE96-7A00-4297-BF64-C23D211B4B1A}"/>
              </a:ext>
            </a:extLst>
          </p:cNvPr>
          <p:cNvSpPr>
            <a:spLocks xmlns:a="http://schemas.openxmlformats.org/drawingml/2006/main" noGrp="1"/>
          </p:cNvSpPr>
          <p:nvPr/>
        </p:nvSpPr>
        <p:spPr>
          <a:xfrm xmlns:a="http://schemas.openxmlformats.org/drawingml/2006/main">
            <a:off x="777240" y="1481328"/>
            <a:ext cx="106984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3300"/>
              <a:buFont typeface="Play"/>
              <a:buNone/>
            </a:pPr>
            <a:r>
              <a:rPr sz="3300" b="1" i="0" u="none" cap="none">
                <a:solidFill>
                  <a:srgbClr val="F7F7F7"/>
                </a:solidFill>
                <a:latin typeface="Play"/>
                <a:ea typeface="Play"/>
                <a:cs typeface="Play"/>
              </a:rPr>
              <a:t>DATA ORGANIZATION:</a:t>
            </a:r>
          </a:p>
          <a:p xmlns:a="http://schemas.openxmlformats.org/drawingml/2006/main">
            <a:pPr marL="0" marR="0" indent="0" algn="l">
              <a:lnSpc>
                <a:spcPct val="100000"/>
              </a:lnSpc>
              <a:spcBef>
                <a:spcPts val="0"/>
              </a:spcBef>
              <a:spcAft>
                <a:spcPts val="0"/>
              </a:spcAft>
              <a:buClr>
                <a:srgbClr val="F7F7F7"/>
              </a:buClr>
              <a:buSzPts val="3300"/>
              <a:buFont typeface="Play"/>
              <a:buNone/>
            </a:pPr>
            <a:r>
              <a:rPr sz="3300" b="1" i="0" u="none" cap="none">
                <a:solidFill>
                  <a:srgbClr val="F7F7F7"/>
                </a:solidFill>
                <a:latin typeface="Play"/>
                <a:ea typeface="Play"/>
                <a:cs typeface="Play"/>
              </a:rPr>
              <a:t>RAW DATA VS. CLEAN DATA</a:t>
            </a:r>
          </a:p>
        </p:txBody>
      </p:sp>
      <p:sp>
        <p:nvSpPr>
          <p:cNvPr id="437" name="Google Shape;437;p20">
            <a:extLst xmlns:a="http://schemas.openxmlformats.org/drawingml/2006/main">
              <a:ext uri="{FF2B5EF4-FFF2-40B4-BE49-F238E27FC236}">
                <a16:creationId xmlns:a16="http://schemas.microsoft.com/office/drawing/2014/main" id="{EEB7DD5F-CECE-42A1-8E9D-0F12E21DD6B8}"/>
              </a:ext>
            </a:extLst>
          </p:cNvPr>
          <p:cNvSpPr>
            <a:spLocks xmlns:a="http://schemas.openxmlformats.org/drawingml/2006/main" noGrp="1"/>
          </p:cNvSpPr>
          <p:nvPr/>
        </p:nvSpPr>
        <p:spPr>
          <a:xfrm xmlns:a="http://schemas.openxmlformats.org/drawingml/2006/main">
            <a:off x="777240" y="3063240"/>
            <a:ext cx="114300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38" name="Google Shape;438;p20">
            <a:extLst xmlns:a="http://schemas.openxmlformats.org/drawingml/2006/main">
              <a:ext uri="{FF2B5EF4-FFF2-40B4-BE49-F238E27FC236}">
                <a16:creationId xmlns:a16="http://schemas.microsoft.com/office/drawing/2014/main" id="{B45E4341-C119-424E-90B3-213F8ED67A70}"/>
              </a:ext>
            </a:extLst>
          </p:cNvPr>
          <p:cNvSpPr>
            <a:spLocks xmlns:a="http://schemas.openxmlformats.org/drawingml/2006/main" noGrp="1"/>
          </p:cNvSpPr>
          <p:nvPr/>
        </p:nvSpPr>
        <p:spPr>
          <a:xfrm xmlns:a="http://schemas.openxmlformats.org/drawingml/2006/main">
            <a:off x="777240" y="3401568"/>
            <a:ext cx="996696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2000"/>
              <a:buFont typeface="Arial"/>
              <a:buNone/>
            </a:pPr>
            <a:r>
              <a:rPr sz="2000" b="0" i="0" u="none" cap="none">
                <a:solidFill>
                  <a:srgbClr val="A6A6A6"/>
                </a:solidFill>
                <a:latin typeface="Arial"/>
                <a:ea typeface="Arial"/>
                <a:cs typeface="Arial"/>
              </a:rPr>
              <a:t>You cannot analyze evidence you cannot understand.</a:t>
            </a:r>
          </a:p>
          <a:p xmlns:a="http://schemas.openxmlformats.org/drawingml/2006/main">
            <a:pPr marL="0" marR="0" indent="0" algn="l">
              <a:lnSpc>
                <a:spcPct val="100000"/>
              </a:lnSpc>
              <a:spcBef>
                <a:spcPts val="0"/>
              </a:spcBef>
              <a:spcAft>
                <a:spcPts val="0"/>
              </a:spcAft>
              <a:buClr>
                <a:srgbClr val="A6A6A6"/>
              </a:buClr>
              <a:buSzPts val="2000"/>
              <a:buFont typeface="Arial"/>
              <a:buNone/>
            </a:pPr>
            <a:r>
              <a:rPr sz="2000" b="0" i="0" u="none" cap="none">
                <a:solidFill>
                  <a:srgbClr val="A6A6A6"/>
                </a:solidFill>
                <a:latin typeface="Arial"/>
                <a:ea typeface="Arial"/>
                <a:cs typeface="Arial"/>
              </a:rPr>
              <a:t>Next, students organize raw records into clean, usable data.</a:t>
            </a:r>
          </a:p>
        </p:txBody>
      </p:sp>
      <p:pic>
        <p:nvPicPr>
          <p:cNvPr id="451" name="Google Shape;439;p20"/>
          <p:cNvPicPr>
            <a:picLocks xmlns:a="http://schemas.openxmlformats.org/drawingml/2006/main" noChangeAspect="1"/>
          </p:cNvPicPr>
          <p:nvPr/>
        </p:nvPicPr>
        <p:blipFill rotWithShape="1">
          <a:blip xmlns:r="http://schemas.openxmlformats.org/officeDocument/2006/relationships" xmlns:a="http://schemas.openxmlformats.org/drawingml/2006/main" r:embed="R0a3d6303f54b4253">
            <a:alphaModFix/>
          </a:blip>
          <a:srcRect xmlns:a="http://schemas.openxmlformats.org/drawingml/2006/main" l="0" t="0" r="0" b="0"/>
          <a:stretch xmlns:a="http://schemas.openxmlformats.org/drawingml/2006/main"/>
        </p:blipFill>
        <p:spPr>
          <a:xfrm xmlns:a="http://schemas.openxmlformats.org/drawingml/2006/main">
            <a:off x="7635240" y="4800600"/>
            <a:ext cx="3383280" cy="1188720"/>
          </a:xfrm>
          <a:prstGeom xmlns:a="http://schemas.openxmlformats.org/drawingml/2006/main" prst="rect">
            <a:avLst/>
          </a:prstGeom>
          <a:ln xmlns:a="http://schemas.openxmlformats.org/drawingml/2006/main">
            <a:noFill/>
          </a:ln>
        </p:spPr>
      </p:pic>
      <p:cxnSp>
        <p:nvCxnSpPr>
          <p:cNvPr id="452" name="Google Shape;440;p20"/>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441" name="Google Shape;441;p20">
            <a:extLst xmlns:a="http://schemas.openxmlformats.org/drawingml/2006/main">
              <a:ext uri="{FF2B5EF4-FFF2-40B4-BE49-F238E27FC236}">
                <a16:creationId xmlns:a16="http://schemas.microsoft.com/office/drawing/2014/main" id="{CD656E21-868F-46E8-8BE3-F1EE5AA2FC62}"/>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18</a:t>
            </a:r>
          </a:p>
        </p:txBody>
      </p:sp>
      <p:pic>
        <p:nvPicPr>
          <p:cNvPr id="454" name="Google Shape;442;p20"/>
          <p:cNvPicPr>
            <a:picLocks xmlns:a="http://schemas.openxmlformats.org/drawingml/2006/main" noChangeAspect="1"/>
          </p:cNvPicPr>
          <p:nvPr/>
        </p:nvPicPr>
        <p:blipFill rotWithShape="1">
          <a:blip xmlns:r="http://schemas.openxmlformats.org/officeDocument/2006/relationships" xmlns:a="http://schemas.openxmlformats.org/drawingml/2006/main" r:embed="R0a3d6303f54b4253">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721951134"/>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2026-07-16T15:08:44.8830000Z</dcterms:created>
  <dcterms:modified xsi:type="dcterms:W3CDTF">2026-07-16T15:08:44.8830000Z</dcterms:modified>
</coreProperties>
</file>