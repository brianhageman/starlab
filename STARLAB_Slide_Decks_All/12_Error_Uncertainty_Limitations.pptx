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12191675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this deck after students have begun graphing and interpreting results, especially during Unit 4 Week 19 or before Unit 5 discussion writing. The tone should be scientific honesty, not apology. Students need to see that uncertainty and limitations make conclusions more trustworthy when handled well.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Required print materials for this deck:</a:t>
            </a:r>
            <a:br>
              <a:rPr lang="en-US"/>
            </a:br>
            <a:r>
              <a:rPr lang="en-US"/>
              <a:t>• Unit 4 Student Handout 11: Error, Uncertainty, and Limitations Review</a:t>
            </a:r>
            <a:br>
              <a:rPr lang="en-US"/>
            </a:br>
            <a:r>
              <a:rPr lang="en-US"/>
              <a:t>• Unit 4 Appendix J: Error Bars and Uncertainty Basics</a:t>
            </a:r>
            <a:br>
              <a:rPr lang="en-US"/>
            </a:br>
            <a:r>
              <a:rPr lang="en-US"/>
              <a:t>• Unit 4 Appendix L: Scientific Interpretation Sentence Frames</a:t>
            </a:r>
            <a:br>
              <a:rPr lang="en-US"/>
            </a:br>
            <a:r>
              <a:rPr lang="en-US"/>
              <a:t>• Unit 4 Appendix M: Avoiding Overclaiming</a:t>
            </a:r>
            <a:br>
              <a:rPr lang="en-US"/>
            </a:br>
            <a:r>
              <a:rPr lang="en-US"/>
              <a:t>• Unit 5 Student Handout 6: Discussion Builder</a:t>
            </a:r>
            <a:br>
              <a:rPr lang="en-US"/>
            </a:br>
            <a:r>
              <a:rPr lang="en-US"/>
              <a:t>• Unit 5 Appendix I: Limitations and Error Analysis Guide</a:t>
            </a:r>
            <a:br>
              <a:rPr lang="en-US"/>
            </a:br>
            <a:r>
              <a:rPr lang="en-US"/>
              <a:t>Optional support:</a:t>
            </a:r>
            <a:br>
              <a:rPr lang="en-US"/>
            </a:br>
            <a:r>
              <a:rPr lang="en-US"/>
              <a:t>• Unit 5 Appendix H: Claim-Evidence-Reasoning Guide</a:t>
            </a:r>
            <a:br>
              <a:rPr lang="en-US"/>
            </a:br>
            <a:r>
              <a:rPr lang="en-US"/>
              <a:t>• Unit 5 Student Handout 8: Peer Review Protocol</a:t>
            </a:r>
            <a:br>
              <a:rPr lang="en-US"/>
            </a:br>
            <a:r>
              <a:rPr lang="en-US"/>
              <a:t>Next deck connection: Deck 13: Scientific Report Structure.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Frame this lesson as an upgrade from “my project had human error” to a more precise explanation of confidence and limitations. Students should understand that uncertainty does not ruin research; ignoring uncertainty does.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11: Error, Uncertainty, and Limitations Review. Students can use the opening prompt to begin Part D on limitations. Next deck connection: Deck 13: Scientific Report Structure.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Many students collapse everything into “error.” Slow down and define the difference. Ask students which term best fits their project’s biggest issue right now.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11: Error, Uncertainty, and Limitations Review. Students can classify their concerns under measurement uncertainty, variability, sources of error, and limitations. Next deck connection: Deck 13: Scientific Report Structure.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is one of the most important language corrections in the deck. Require students to name the specific mechanism of uncertainty rather than using “human error” as a catchall.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Appendix I: Limitations and Error Analysis Guide. Also use Unit 4 Student Handout 11, Part C: Sources of Error. Next deck connection: Deck 13: Scientific Report Structure.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project examples from the room. Ask students to hold up or name a measurement tool from their project and identify its precision or likely weak point.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11, Part A: Measurement Uncertainty. Reference Unit 4 Appendix J: Error Bars and Uncertainty Basics when students have repeated measurements. Next deck connection: Deck 13: Scientific Report Structure.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Keep this conceptual. Students do not need advanced statistics, but they should understand that “more trials” does not fix every problem. A biased instrument can remain biased across many trials.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11, Part C: Sources of Error. This also supports later discussion writing in Unit 5 Student Handout 6: Discussion Builder. Next deck connection: Deck 13: Scientific Report Structure.</a:t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Explain that variability is not automatically bad. It can reveal instability, sensitivity, inconsistent method, or natural variation. Students should describe spread before interpreting causes.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11, Part B: Variability. Reference Unit 4 Appendix J: Error Bars and Uncertainty Basics if students have repeated measurements. Next deck connection: Deck 13: Scientific Report Structure.</a:t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Keep the explanation concrete. Do not require error bars for every project, but require students to know what an error bar represents if they use one.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Appendix J: Error Bars and Uncertainty Basics. Also supports Unit 4 Student Handout 11, Parts B and C. Next deck connection: Deck 13: Scientific Report Structure.</a:t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Students may think limitations lower their grade. Explain that precise limitations strengthen credibility because they show the researcher knows the boundaries of the evidence.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Appendix I: Limitations and Error Analysis Guide and Unit 5 Student Handout 6: Discussion Builder. This prepares students for Unit 5 discussion writing. Next deck connection: Deck 13: Scientific Report Structure.</a:t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this as a menu, not a checklist. Students should choose limitations that truly affect their project rather than listing every possible problem.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11, Part D: Limitations. Also reference Unit 5 Appendix I: Limitations and Error Analysis Guide. Next deck connection: Deck 13: Scientific Report Structure.</a:t>
            </a:r>
            <a:endParaRPr/>
          </a:p>
        </p:txBody>
      </p:sp>
      <p:sp>
        <p:nvSpPr>
          <p:cNvPr id="281" name="Google Shape;2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Model the tone of scientific caution. The goal is not to weaken every claim, but to match the conclusion to the evidence and limitations.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Appendix M: Avoiding Overclaiming and Unit 4 Appendix L: Scientific Interpretation Sentence Frames. Also supports Unit 5 Student Handout 6: Discussion Builder. Next deck connection: Deck 13: Scientific Report Structure.</a:t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this to help students select appropriate language. A project can still be successful with preliminary evidence as long as the interpretation is honest.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Appendix L: Scientific Interpretation Sentence Frames and Unit 4 Appendix M: Avoiding Overclaiming. Next deck connection: Deck 13: Scientific Report Structure.</a:t>
            </a:r>
            <a:endParaRPr/>
          </a:p>
        </p:txBody>
      </p:sp>
      <p:sp>
        <p:nvSpPr>
          <p:cNvPr id="352" name="Google Shape;3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slide prevents engineering students from feeling that the lesson only applies to experiments. Engineering limitations can be about test conditions, criteria, constraints, or iteration count.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8: Engineering Performance Analysis if students have it available, plus Unit 4 Student Handout 11: Error, Uncertainty, and Limitations Review. Next deck connection: Deck 13: Scientific Report Structure.</a:t>
            </a:r>
            <a:endParaRPr/>
          </a:p>
        </p:txBody>
      </p:sp>
      <p:sp>
        <p:nvSpPr>
          <p:cNvPr id="381" name="Google Shape;3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Students with incomplete data often panic. Give them acceptable scientific frames: preliminary results, pilot study, feasibility test, or method-development project.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16: Unit 4 Analysis Summary if available, and Unit 5 Student Handout 6: Discussion Builder. Also connects to Unit 3 Appendix P: Recovery Plan Options. Next deck connection: Deck 13: Scientific Report Structure.</a:t>
            </a:r>
            <a:endParaRPr/>
          </a:p>
        </p:txBody>
      </p:sp>
      <p:sp>
        <p:nvSpPr>
          <p:cNvPr id="413" name="Google Shape;4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Give students quiet writing time first, then peer exchange. The partner’s job is to ask whether the limitation is specific and whether the effect on interpretation is clear.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11: Error, Uncertainty, and Limitations Review and Unit 5 Appendix I: Limitations and Error Analysis Guide. Next deck connection: Deck 13: Scientific Report Structure.</a:t>
            </a:r>
            <a:endParaRPr/>
          </a:p>
        </p:txBody>
      </p:sp>
      <p:sp>
        <p:nvSpPr>
          <p:cNvPr id="441" name="Google Shape;44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Make future work more than “do more research.” It should name a concrete next test, measurement, sample, design change, or analysis improvement.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Student Handout 6: Discussion Builder, Part F: Future Work. Also supports Unit 5 Appendix I: Limitations and Error Analysis Guide. Next deck connection: Deck 13: Scientific Report Structure.</a:t>
            </a:r>
            <a:endParaRPr/>
          </a:p>
        </p:txBody>
      </p:sp>
      <p:sp>
        <p:nvSpPr>
          <p:cNvPr id="461" name="Google Shape;46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this as the bridge to report writing. Students should see that limitations are not a separate apology paragraph; they are woven into discussion, conclusion, and future work.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Student Handout 6: Discussion Builder and Unit 5 Appendix H: Claim-Evidence-Reasoning Guide. Next deck connection: Deck 13: Scientific Report Structure.</a:t>
            </a:r>
            <a:endParaRPr/>
          </a:p>
        </p:txBody>
      </p:sp>
      <p:sp>
        <p:nvSpPr>
          <p:cNvPr id="493" name="Google Shape;49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Collect this as a quick readiness check for Unit 5 writing. Students who cannot complete sentence 2 or 3 need help identifying a specific limitation before writing the discussion.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4 Student Handout 11 and Unit 5 Student Handout 6: Discussion Builder. This exit ticket becomes a bridge into Deck 13: Scientific Report Structure.</a:t>
            </a:r>
            <a:endParaRPr/>
          </a:p>
        </p:txBody>
      </p:sp>
      <p:sp>
        <p:nvSpPr>
          <p:cNvPr id="524" name="Google Shape;52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Close by previewing the shift from analysis to communication. Students should see that today’s careful claims become the backbone of the report.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Next deck connection: Deck 13: Scientific Report Structure. Students should bring their Unit 4 Analysis Summary, graphs, captions, and limitation notes into Unit 5 report writing.</a:t>
            </a:r>
            <a:endParaRPr/>
          </a:p>
        </p:txBody>
      </p:sp>
      <p:sp>
        <p:nvSpPr>
          <p:cNvPr id="544" name="Google Shape;5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">
  <p:cSld name="BLACK">
    <p:bg>
      <p:bgPr>
        <a:solidFill>
          <a:srgbClr val="050505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ARLAB Logo 2026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438912"/>
            <a:ext cx="900684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841248" y="4617720"/>
            <a:ext cx="10469880" cy="822960"/>
          </a:xfrm>
          <a:prstGeom prst="rect">
            <a:avLst/>
          </a:prstGeom>
          <a:solidFill>
            <a:srgbClr val="050505">
              <a:alpha val="90196"/>
            </a:srgbClr>
          </a:solidFill>
          <a:ln cap="flat" cmpd="sng" w="127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896112" y="4681728"/>
            <a:ext cx="10012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ERROR, UNCERTAINTY,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&amp; LIMITATIONS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96112" y="5522976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  •  Unit 4–5 Core Instruction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4–5 CORE INSTRUCTION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Today’s target: honest interpretation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13232" y="162763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the end, students should be able to explain how uncertainty, error, variability, and limitations affect what their data can responsibly claim.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77240" y="242316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777240" y="2423160"/>
            <a:ext cx="73152" cy="196596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005840" y="258775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1. NAME 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005840" y="2898648"/>
            <a:ext cx="301752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Identify the kind of uncertainty or limitation affecting the project.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389120" y="242316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389120" y="2423160"/>
            <a:ext cx="73152" cy="196596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617720" y="258775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2. EXPLAIN 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617720" y="2898648"/>
            <a:ext cx="301752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Describe how it may have affected the data or confidence.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001000" y="242316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001000" y="2423160"/>
            <a:ext cx="73152" cy="196596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229600" y="258775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3. LIMIT CLAIMS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229600" y="2898648"/>
            <a:ext cx="301752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careful language so conclusions match the evidence.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77240" y="4892040"/>
            <a:ext cx="10652760" cy="777240"/>
          </a:xfrm>
          <a:prstGeom prst="roundRect">
            <a:avLst>
              <a:gd fmla="val 9412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77240" y="489204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886968" y="498348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005840" y="5257816"/>
            <a:ext cx="1019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Opening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 flipH="1">
            <a:off x="3310125" y="5289813"/>
            <a:ext cx="741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Write: “What could make a result less trustworthy even if the data were recorded honestly?”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Four terms students must separate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31520" y="1600200"/>
            <a:ext cx="2697480" cy="3063240"/>
          </a:xfrm>
          <a:prstGeom prst="roundRect">
            <a:avLst>
              <a:gd fmla="val 2712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731520" y="1600200"/>
            <a:ext cx="73152" cy="30632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960120" y="17647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60120" y="2075688"/>
            <a:ext cx="2286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Something that affects measurement or results. It may be random, systematic, or procedural.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611880" y="1600200"/>
            <a:ext cx="2697480" cy="3063240"/>
          </a:xfrm>
          <a:prstGeom prst="roundRect">
            <a:avLst>
              <a:gd fmla="val 2712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3611880" y="1600200"/>
            <a:ext cx="73152" cy="30632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840480" y="17647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UNCERTAINTY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840480" y="2075688"/>
            <a:ext cx="2286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honest range of doubt around measurements, patterns, or conclusions.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492240" y="1600200"/>
            <a:ext cx="2697480" cy="3063240"/>
          </a:xfrm>
          <a:prstGeom prst="roundRect">
            <a:avLst>
              <a:gd fmla="val 2712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92240" y="1600200"/>
            <a:ext cx="73152" cy="30632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720840" y="17647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VARIABILITY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720840" y="2075688"/>
            <a:ext cx="2286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much repeated measurements or trials differ from each other.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9372600" y="1600200"/>
            <a:ext cx="2148840" cy="3063240"/>
          </a:xfrm>
          <a:prstGeom prst="roundRect">
            <a:avLst>
              <a:gd fmla="val 3404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9372600" y="1600200"/>
            <a:ext cx="73152" cy="30632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9601200" y="17647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601200" y="2075688"/>
            <a:ext cx="173736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boundary on what your study can confidently claim.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22960" y="50749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These are related, but not interchangeable. Precise language leads to stronger discussion writing.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“Human error” is not enough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22960" y="1600200"/>
            <a:ext cx="4937760" cy="3200400"/>
          </a:xfrm>
          <a:prstGeom prst="roundRect">
            <a:avLst>
              <a:gd fmla="val 228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822960" y="1600200"/>
            <a:ext cx="73152" cy="320040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051560" y="1764792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WEAK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051560" y="2075688"/>
            <a:ext cx="4526280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“There was human error.”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Problem: vague, unhelpful, and impossible to fix.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400800" y="1600200"/>
            <a:ext cx="4937760" cy="3200400"/>
          </a:xfrm>
          <a:prstGeom prst="roundRect">
            <a:avLst>
              <a:gd fmla="val 228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400800" y="1600200"/>
            <a:ext cx="73152" cy="320040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629400" y="1764792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STRONGER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629400" y="2075688"/>
            <a:ext cx="4526280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“Reaction time may have affected stopwatch measurements because the start and stop points were judged manually.”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names the source and how it affected the data.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280160" y="5166360"/>
            <a:ext cx="9601200" cy="777240"/>
          </a:xfrm>
          <a:prstGeom prst="roundRect">
            <a:avLst>
              <a:gd fmla="val 9412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280160" y="516636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389888" y="52578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859560" y="5193848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Revision move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 flipH="1">
            <a:off x="1527060" y="558699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Replace “human error” with the specific action, tool, timing, judgment, or condition that introduced uncertainty.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0" y="17362"/>
            <a:ext cx="12191700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Measurement uncertainty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777240" y="1627632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measurement depends on the tool, the method, and the observer.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22960" y="2331720"/>
            <a:ext cx="3291840" cy="2011680"/>
          </a:xfrm>
          <a:prstGeom prst="roundRect">
            <a:avLst>
              <a:gd fmla="val 363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822960" y="2331720"/>
            <a:ext cx="73152" cy="20116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05156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TOOL LIMIT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051560" y="2807208"/>
            <a:ext cx="28803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ruler marked in millimeters cannot honestly report more precision than it can measure.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434840" y="2331720"/>
            <a:ext cx="3291840" cy="2011680"/>
          </a:xfrm>
          <a:prstGeom prst="roundRect">
            <a:avLst>
              <a:gd fmla="val 363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434840" y="2331720"/>
            <a:ext cx="73152" cy="20116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66344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METHOD LIMIT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663440" y="2807208"/>
            <a:ext cx="28803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sensor may drift, lag, saturate, or require calibration.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046720" y="2331720"/>
            <a:ext cx="3291840" cy="2011680"/>
          </a:xfrm>
          <a:prstGeom prst="roundRect">
            <a:avLst>
              <a:gd fmla="val 363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8046720" y="2331720"/>
            <a:ext cx="73152" cy="20116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827532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OBSERVER LIMIT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275320" y="2807208"/>
            <a:ext cx="28803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timing, judgment, or reading position can affect measurements.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60120" y="4892040"/>
            <a:ext cx="10287000" cy="804672"/>
          </a:xfrm>
          <a:prstGeom prst="roundRect">
            <a:avLst>
              <a:gd fmla="val 9091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960120" y="489204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069848" y="498348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188720" y="5367528"/>
            <a:ext cx="9829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 your method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 flipH="1">
            <a:off x="3509370" y="5413177"/>
            <a:ext cx="9829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Name the tool you used and one way its precision or use may limit confidence.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Random error vs. systematic error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914400" y="1664208"/>
            <a:ext cx="4754880" cy="2971800"/>
          </a:xfrm>
          <a:prstGeom prst="roundRect">
            <a:avLst>
              <a:gd fmla="val 2462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914400" y="1664208"/>
            <a:ext cx="73152" cy="297180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143000" y="182880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RANDOM ERROR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143000" y="2139696"/>
            <a:ext cx="4343400" cy="2404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Variation that changes unpredictably from trial to trial.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small differences in reaction time when stopping a timer.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Often shows up as spread or variability.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92240" y="1664208"/>
            <a:ext cx="4754880" cy="2971800"/>
          </a:xfrm>
          <a:prstGeom prst="roundRect">
            <a:avLst>
              <a:gd fmla="val 2462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6492240" y="1664208"/>
            <a:ext cx="73152" cy="297180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6720840" y="182880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SYSTEMATIC ERROR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720840" y="2139696"/>
            <a:ext cx="4343400" cy="2404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consistent bias in the same direction.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a scale that reads 0.4 g too high every time.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shift all results away from the true value.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960120" y="51206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Different errors require different responses: repeat trials may reveal random error, but calibration may be needed for systematic error.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Variability is information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822960" y="1645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repeated trials differ, ask what the spread reveals.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005840" y="21488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Low variability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1097280" y="2743200"/>
            <a:ext cx="4023360" cy="0"/>
          </a:xfrm>
          <a:prstGeom prst="straightConnector1">
            <a:avLst/>
          </a:prstGeom>
          <a:noFill/>
          <a:ln cap="flat" cmpd="sng" w="165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1737360" y="267919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920240" y="267919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2057400" y="267919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2212848" y="267919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2377440" y="267919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1005840" y="33832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High variability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1097280" y="3977640"/>
            <a:ext cx="4023360" cy="0"/>
          </a:xfrm>
          <a:prstGeom prst="straightConnector1">
            <a:avLst/>
          </a:prstGeom>
          <a:noFill/>
          <a:ln cap="flat" cmpd="sng" w="165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0"/>
          <p:cNvSpPr/>
          <p:nvPr/>
        </p:nvSpPr>
        <p:spPr>
          <a:xfrm>
            <a:off x="1325880" y="391363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1691640" y="391363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2331720" y="391363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063240" y="391363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3749040" y="3913632"/>
            <a:ext cx="128016" cy="128016"/>
          </a:xfrm>
          <a:prstGeom prst="ellipse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577840" y="1965960"/>
            <a:ext cx="5349240" cy="2560320"/>
          </a:xfrm>
          <a:prstGeom prst="roundRect">
            <a:avLst>
              <a:gd fmla="val 2857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577840" y="1965960"/>
            <a:ext cx="73152" cy="25603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5806440" y="213055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ASK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806440" y="2441448"/>
            <a:ext cx="49377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Are trials consistent?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Is the method stable?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Are there hidden variables?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Does the conclusion need caution?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Would more trials help?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14400" y="5166360"/>
            <a:ext cx="10332720" cy="685800"/>
          </a:xfrm>
          <a:prstGeom prst="roundRect">
            <a:avLst>
              <a:gd fmla="val 10667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14400" y="516636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1024128" y="52578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143063" y="5550398"/>
            <a:ext cx="987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 flipH="1">
            <a:off x="3191250" y="5513815"/>
            <a:ext cx="987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Look at repeated trials. Do they cluster tightly, spread widely, or show one unusual value?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Error bars: what they can show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22960" y="162763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Error bars are visual cues about spread or uncertainty — not decorative antennas.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1"/>
          <p:cNvCxnSpPr/>
          <p:nvPr/>
        </p:nvCxnSpPr>
        <p:spPr>
          <a:xfrm>
            <a:off x="1188720" y="4663440"/>
            <a:ext cx="4023360" cy="0"/>
          </a:xfrm>
          <a:prstGeom prst="straightConnector1">
            <a:avLst/>
          </a:prstGeom>
          <a:noFill/>
          <a:ln cap="flat" cmpd="sng" w="152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1"/>
          <p:cNvCxnSpPr/>
          <p:nvPr/>
        </p:nvCxnSpPr>
        <p:spPr>
          <a:xfrm>
            <a:off x="1188720" y="1920240"/>
            <a:ext cx="0" cy="2743200"/>
          </a:xfrm>
          <a:prstGeom prst="straightConnector1">
            <a:avLst/>
          </a:prstGeom>
          <a:noFill/>
          <a:ln cap="flat" cmpd="sng" w="152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1"/>
          <p:cNvSpPr/>
          <p:nvPr/>
        </p:nvSpPr>
        <p:spPr>
          <a:xfrm>
            <a:off x="1828800" y="3566160"/>
            <a:ext cx="502920" cy="10972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11"/>
          <p:cNvCxnSpPr/>
          <p:nvPr/>
        </p:nvCxnSpPr>
        <p:spPr>
          <a:xfrm>
            <a:off x="2080260" y="3310128"/>
            <a:ext cx="0" cy="512064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11"/>
          <p:cNvCxnSpPr/>
          <p:nvPr/>
        </p:nvCxnSpPr>
        <p:spPr>
          <a:xfrm>
            <a:off x="1947672" y="3310128"/>
            <a:ext cx="265176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11"/>
          <p:cNvCxnSpPr/>
          <p:nvPr/>
        </p:nvCxnSpPr>
        <p:spPr>
          <a:xfrm>
            <a:off x="1947672" y="3822192"/>
            <a:ext cx="265176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1"/>
          <p:cNvSpPr/>
          <p:nvPr/>
        </p:nvSpPr>
        <p:spPr>
          <a:xfrm>
            <a:off x="1965960" y="478231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017520" y="2834640"/>
            <a:ext cx="502920" cy="182880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11"/>
          <p:cNvCxnSpPr/>
          <p:nvPr/>
        </p:nvCxnSpPr>
        <p:spPr>
          <a:xfrm>
            <a:off x="3268980" y="2331720"/>
            <a:ext cx="0" cy="100584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3136392" y="2331720"/>
            <a:ext cx="265176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3136392" y="3337560"/>
            <a:ext cx="265176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3154680" y="478231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206240" y="3154680"/>
            <a:ext cx="502920" cy="150876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" name="Google Shape;237;p11"/>
          <p:cNvCxnSpPr/>
          <p:nvPr/>
        </p:nvCxnSpPr>
        <p:spPr>
          <a:xfrm>
            <a:off x="4457700" y="2862072"/>
            <a:ext cx="0" cy="585216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11"/>
          <p:cNvCxnSpPr/>
          <p:nvPr/>
        </p:nvCxnSpPr>
        <p:spPr>
          <a:xfrm>
            <a:off x="4325112" y="2862072"/>
            <a:ext cx="265176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1"/>
          <p:cNvCxnSpPr/>
          <p:nvPr/>
        </p:nvCxnSpPr>
        <p:spPr>
          <a:xfrm>
            <a:off x="4325112" y="3447288"/>
            <a:ext cx="265176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4343400" y="478231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057890" y="2244860"/>
            <a:ext cx="4755000" cy="2697600"/>
          </a:xfrm>
          <a:prstGeom prst="roundRect">
            <a:avLst>
              <a:gd fmla="val 2712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044165" y="2244910"/>
            <a:ext cx="73200" cy="269760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286490" y="2409452"/>
            <a:ext cx="434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BEFORE USING ERROR BARS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286490" y="2720348"/>
            <a:ext cx="4343400" cy="21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Do you have repeated measurements?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Do you know what the bars represent?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Are they standard deviation, range, or uncertainty?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Can you explain them aloud?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172200" y="5119577"/>
            <a:ext cx="4526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not add error bars just because they look scientific.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Limitations are not excuses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868680" y="1627632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limitation is a boundary on interpretation, not a confession that the project failed.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914400" y="2377440"/>
            <a:ext cx="3291840" cy="2286000"/>
          </a:xfrm>
          <a:prstGeom prst="roundRect">
            <a:avLst>
              <a:gd fmla="val 3200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914400" y="2377440"/>
            <a:ext cx="73152" cy="228600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1143000" y="254203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NOT HELPFUL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143000" y="2852928"/>
            <a:ext cx="288036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“My project had limitations.”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names nothing and explains nothing.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480560" y="2377440"/>
            <a:ext cx="3291840" cy="2286000"/>
          </a:xfrm>
          <a:prstGeom prst="roundRect">
            <a:avLst>
              <a:gd fmla="val 3200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480560" y="2377440"/>
            <a:ext cx="73152" cy="228600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4709160" y="254203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BETTER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709160" y="2852928"/>
            <a:ext cx="288036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“Only three trials were completed per condition, so small differences between groups should be interpreted cautiously.”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8046720" y="2377440"/>
            <a:ext cx="2926080" cy="2286000"/>
          </a:xfrm>
          <a:prstGeom prst="roundRect">
            <a:avLst>
              <a:gd fmla="val 3200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8046720" y="2377440"/>
            <a:ext cx="73152" cy="228600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8275320" y="254203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BEST MOVE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8275320" y="2852928"/>
            <a:ext cx="251460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 the limitation + explain how it affects confidence + suggest a future fix.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914400" y="5120640"/>
            <a:ext cx="10058400" cy="685800"/>
          </a:xfrm>
          <a:prstGeom prst="roundRect">
            <a:avLst>
              <a:gd fmla="val 10667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914400" y="512064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1024128" y="521208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143000" y="5486416"/>
            <a:ext cx="960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 flipH="1">
            <a:off x="3175000" y="5472668"/>
            <a:ext cx="960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Write one limitation as a boundary on what your data can claim.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Common STARLAB limitations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22960" y="1627632"/>
            <a:ext cx="5074920" cy="960120"/>
          </a:xfrm>
          <a:prstGeom prst="roundRect">
            <a:avLst>
              <a:gd fmla="val 7619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822960" y="1627632"/>
            <a:ext cx="73152" cy="9601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1051560" y="179222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Small sample size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1051560" y="2103120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few trials, samples, or observations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309360" y="1627632"/>
            <a:ext cx="5074920" cy="960120"/>
          </a:xfrm>
          <a:prstGeom prst="roundRect">
            <a:avLst>
              <a:gd fmla="val 7619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6309360" y="1627632"/>
            <a:ext cx="73152" cy="9601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6537960" y="179222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Equipment limits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537960" y="2103120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 precision, calibration, sensor drift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822960" y="2926080"/>
            <a:ext cx="5074920" cy="960120"/>
          </a:xfrm>
          <a:prstGeom prst="roundRect">
            <a:avLst>
              <a:gd fmla="val 7619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822960" y="2926080"/>
            <a:ext cx="73152" cy="9601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1051560" y="3090672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Uncontrolled variables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1051560" y="3401568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conditions that changed between trials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309360" y="2926080"/>
            <a:ext cx="5074920" cy="960120"/>
          </a:xfrm>
          <a:prstGeom prst="roundRect">
            <a:avLst>
              <a:gd fmla="val 7619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6309360" y="2926080"/>
            <a:ext cx="73152" cy="9601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6537960" y="3090672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Time limits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537960" y="3401568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growth periods, testing windows, incomplete iterations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822960" y="4224528"/>
            <a:ext cx="5074920" cy="960120"/>
          </a:xfrm>
          <a:prstGeom prst="roundRect">
            <a:avLst>
              <a:gd fmla="val 7619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822960" y="4224528"/>
            <a:ext cx="73152" cy="9601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1051560" y="438912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Prototype inconsistency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1051560" y="4700016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versions differ in more than one way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6309360" y="4224528"/>
            <a:ext cx="5074920" cy="960120"/>
          </a:xfrm>
          <a:prstGeom prst="roundRect">
            <a:avLst>
              <a:gd fmla="val 7619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6309360" y="4224528"/>
            <a:ext cx="73152" cy="9601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6537960" y="438912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Dataset limits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537960" y="4700016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missing fields, filtering choices, bias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960120" y="557784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Avoid “everything went wrong.” Be specific: what limitation matters most for your conclusion?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How limitations affect claims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822960" y="1627632"/>
            <a:ext cx="10424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data can support different strength claims depending on limitations.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914400" y="2331720"/>
            <a:ext cx="3154680" cy="2560320"/>
          </a:xfrm>
          <a:prstGeom prst="roundRect">
            <a:avLst>
              <a:gd fmla="val 2857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914400" y="2331720"/>
            <a:ext cx="73152" cy="25603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1143000" y="249631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TOO STRONG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143000" y="2807208"/>
            <a:ext cx="27432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“The treatment improves growth.”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sounds universal and overconfident.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4480560" y="2331720"/>
            <a:ext cx="3154680" cy="2560320"/>
          </a:xfrm>
          <a:prstGeom prst="roundRect">
            <a:avLst>
              <a:gd fmla="val 2857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4480560" y="2331720"/>
            <a:ext cx="73152" cy="25603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4709160" y="249631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CAREFUL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4709160" y="2807208"/>
            <a:ext cx="27432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“The treatment group showed greater average growth than the control under the tested conditions.”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8046720" y="2331720"/>
            <a:ext cx="3154680" cy="2560320"/>
          </a:xfrm>
          <a:prstGeom prst="roundRect">
            <a:avLst>
              <a:gd fmla="val 2857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8046720" y="2331720"/>
            <a:ext cx="73152" cy="256032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8275320" y="249631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STRONGEST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8275320" y="2807208"/>
            <a:ext cx="27432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“The result supports further testing with more trials and tighter control of light and water conditions.”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914400" y="5257800"/>
            <a:ext cx="10149840" cy="594360"/>
          </a:xfrm>
          <a:prstGeom prst="roundRect">
            <a:avLst>
              <a:gd fmla="val 12308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914400" y="525780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1024128" y="534924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2499050" y="5285226"/>
            <a:ext cx="969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Revision practice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 flipH="1">
            <a:off x="2057350" y="5541205"/>
            <a:ext cx="969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Revise one conclusion so it includes “under the tested conditions,” “in this sample,” or “based on available data.”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Evidence strength: a quick scale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22960" y="16276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all evidence supports the same level of confidence.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914400" y="2743200"/>
            <a:ext cx="2377440" cy="41148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1051560" y="28529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WEAK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914400" y="333756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few trials, unclear method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3703320" y="2743200"/>
            <a:ext cx="2377440" cy="41148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3840480" y="28529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PRELIMINARY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703320" y="333756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pilot data or limited sample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6492240" y="2743200"/>
            <a:ext cx="2377440" cy="4114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6629400" y="28529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6492240" y="333756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consistent pattern with known limits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9281160" y="2743200"/>
            <a:ext cx="2377440" cy="4114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9418320" y="285292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STRONG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9281160" y="333756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repeated, controlled, well-documented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914400" y="4892040"/>
            <a:ext cx="10149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conclusion language should move with your evidence strength.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914400" y="539496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“suggests”  →  “supports”  →  “strongly supports” only when the data deserve it.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Engineering projects have limitations too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777240" y="16276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design projects, uncertainty often appears as testing limits, prototype inconsistency, or tradeoffs.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822960" y="2331720"/>
            <a:ext cx="3291840" cy="2011680"/>
          </a:xfrm>
          <a:prstGeom prst="roundRect">
            <a:avLst>
              <a:gd fmla="val 363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822960" y="2331720"/>
            <a:ext cx="73152" cy="20116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105156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TESTING LIMIT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1051560" y="2807208"/>
            <a:ext cx="28803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test fixture failed before the design feature was truly measured.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434840" y="2331720"/>
            <a:ext cx="3291840" cy="2011680"/>
          </a:xfrm>
          <a:prstGeom prst="roundRect">
            <a:avLst>
              <a:gd fmla="val 363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4434840" y="2331720"/>
            <a:ext cx="73152" cy="20116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466344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PROTOTYPE LIMIT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663440" y="2807208"/>
            <a:ext cx="28803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Print quality, assembly variation, or material inconsistencies affected performance.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8046720" y="2331720"/>
            <a:ext cx="3291840" cy="2011680"/>
          </a:xfrm>
          <a:prstGeom prst="roundRect">
            <a:avLst>
              <a:gd fmla="val 3636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8046720" y="2331720"/>
            <a:ext cx="73152" cy="20116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827532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TRADEOFF LIMIT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8275320" y="2807208"/>
            <a:ext cx="28803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design improved one criterion while weakening another.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960120" y="4892040"/>
            <a:ext cx="10287000" cy="749808"/>
          </a:xfrm>
          <a:prstGeom prst="roundRect">
            <a:avLst>
              <a:gd fmla="val 9756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960120" y="489204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1069848" y="498348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1211582" y="5234953"/>
            <a:ext cx="9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move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6"/>
          <p:cNvSpPr/>
          <p:nvPr/>
        </p:nvSpPr>
        <p:spPr>
          <a:xfrm flipH="1">
            <a:off x="3682520" y="5253288"/>
            <a:ext cx="982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Write: “The design met ___ criteria but was limited by ___.”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When data are incomplete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822960" y="1627632"/>
            <a:ext cx="10424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Incomplete data should change the claim, not the honesty.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822960" y="2331720"/>
            <a:ext cx="3291840" cy="2240280"/>
          </a:xfrm>
          <a:prstGeom prst="roundRect">
            <a:avLst>
              <a:gd fmla="val 3265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822960" y="2331720"/>
            <a:ext cx="73152" cy="224028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105156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DO NOT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1051560" y="2807208"/>
            <a:ext cx="288036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Fill gaps from memory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Pretend all trials happened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Delete the condition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Ignore the issue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4434840" y="2331720"/>
            <a:ext cx="3291840" cy="2240280"/>
          </a:xfrm>
          <a:prstGeom prst="roundRect">
            <a:avLst>
              <a:gd fmla="val 3265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4434840" y="2331720"/>
            <a:ext cx="73152" cy="22402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466344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4663440" y="2807208"/>
            <a:ext cx="288036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Identify missing data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Explain why it is missing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Narrow the claim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Describe next steps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8046720" y="2331720"/>
            <a:ext cx="3291840" cy="2240280"/>
          </a:xfrm>
          <a:prstGeom prst="roundRect">
            <a:avLst>
              <a:gd fmla="val 3265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8046720" y="2331720"/>
            <a:ext cx="73152" cy="22402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827532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FRAME 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8275320" y="2807208"/>
            <a:ext cx="288036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Pilot study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Preliminary data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Feasibility test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Method development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smaller honest conclusion is stronger than a broad unsupported one.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Activity: limitation upgrade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822960" y="1627632"/>
            <a:ext cx="10561320" cy="3886200"/>
          </a:xfrm>
          <a:prstGeom prst="roundRect">
            <a:avLst>
              <a:gd fmla="val 1882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822960" y="1627632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932688" y="171907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1051560" y="2103120"/>
            <a:ext cx="10104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Activity: Upgrade your limitation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1051560" y="2496312"/>
            <a:ext cx="101041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Start with a weak limitation statement from your project.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Arial"/>
              <a:buNone/>
            </a:pPr>
            <a:r>
              <a:t/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1. Name the specific limitation.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2. Explain how it may have affected the data or confidence.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3. Write how future work could reduce it.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4. Share with a partner: does the revised version make the project more credible?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1051560" y="5715000"/>
            <a:ext cx="10012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Weak: “There was error.”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Strong: “Because the sensor drifted after repeated use, later voltage readings may be less reliable. Future testing should recalibrate between trials.”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From limitation to future work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822960" y="1627632"/>
            <a:ext cx="10424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Strong future work responds directly to a limitation.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822960" y="2331720"/>
            <a:ext cx="3291840" cy="2468880"/>
          </a:xfrm>
          <a:prstGeom prst="roundRect">
            <a:avLst>
              <a:gd fmla="val 2963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822960" y="2331720"/>
            <a:ext cx="73152" cy="24688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105156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1051560" y="2807208"/>
            <a:ext cx="288036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three trials were completed for each blade design.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4434840" y="2331720"/>
            <a:ext cx="3291840" cy="2468880"/>
          </a:xfrm>
          <a:prstGeom prst="roundRect">
            <a:avLst>
              <a:gd fmla="val 2963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4434840" y="2331720"/>
            <a:ext cx="73152" cy="24688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466344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4663440" y="2807208"/>
            <a:ext cx="288036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difference between designs may be less reliable if trial-to-trial variation is high.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8046720" y="2331720"/>
            <a:ext cx="3291840" cy="2468880"/>
          </a:xfrm>
          <a:prstGeom prst="roundRect">
            <a:avLst>
              <a:gd fmla="val 2963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8046720" y="2331720"/>
            <a:ext cx="73152" cy="246888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8275320" y="249631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8275320" y="2807208"/>
            <a:ext cx="288036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Repeat each design for at least ten trials and include error bars showing variability.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914400" y="5257800"/>
            <a:ext cx="10241280" cy="594360"/>
          </a:xfrm>
          <a:prstGeom prst="roundRect">
            <a:avLst>
              <a:gd fmla="val 12308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914400" y="525780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1024128" y="534924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2407625" y="5463538"/>
            <a:ext cx="978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9"/>
          <p:cNvSpPr/>
          <p:nvPr/>
        </p:nvSpPr>
        <p:spPr>
          <a:xfrm flipH="1">
            <a:off x="4114805" y="5404050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Convert one limitation into a specific future-work recommendation.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0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Where this appears in the report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731520" y="1572768"/>
            <a:ext cx="2743200" cy="3291840"/>
          </a:xfrm>
          <a:prstGeom prst="roundRect">
            <a:avLst>
              <a:gd fmla="val 2667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731520" y="1572768"/>
            <a:ext cx="73152" cy="32918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960120" y="173736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960120" y="2048256"/>
            <a:ext cx="233172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Describe patterns and variation without overexplaining.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averages, ranges, error bars, outliers.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3657600" y="1572768"/>
            <a:ext cx="2743200" cy="3291840"/>
          </a:xfrm>
          <a:prstGeom prst="roundRect">
            <a:avLst>
              <a:gd fmla="val 2667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3657600" y="1572768"/>
            <a:ext cx="73152" cy="32918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0"/>
          <p:cNvSpPr/>
          <p:nvPr/>
        </p:nvSpPr>
        <p:spPr>
          <a:xfrm>
            <a:off x="3886200" y="173736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3886200" y="2048256"/>
            <a:ext cx="233172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Explain what the uncertainty means for your claim.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is where limitations are interpreted.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6583680" y="1572768"/>
            <a:ext cx="2514600" cy="3291840"/>
          </a:xfrm>
          <a:prstGeom prst="roundRect">
            <a:avLst>
              <a:gd fmla="val 2909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6583680" y="1572768"/>
            <a:ext cx="73152" cy="32918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6812280" y="17373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6812280" y="2048256"/>
            <a:ext cx="210312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 a careful takeaway that matches the evidence.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9281160" y="1572768"/>
            <a:ext cx="2240280" cy="3291840"/>
          </a:xfrm>
          <a:prstGeom prst="roundRect">
            <a:avLst>
              <a:gd fmla="val 3265" name="adj"/>
            </a:avLst>
          </a:prstGeom>
          <a:solidFill>
            <a:srgbClr val="0B0B0B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9281160" y="1572768"/>
            <a:ext cx="73152" cy="3291840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9509760" y="17373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9509760" y="2048256"/>
            <a:ext cx="182880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Propose the next test or revision based on limitations.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822960" y="530352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 5 will turn today’s analysis language into report sections.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1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Exit ticket: claim with caution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822960" y="1645920"/>
            <a:ext cx="10561320" cy="4114800"/>
          </a:xfrm>
          <a:prstGeom prst="roundRect">
            <a:avLst>
              <a:gd fmla="val 1778" name="adj"/>
            </a:avLst>
          </a:prstGeom>
          <a:solidFill>
            <a:srgbClr val="101010"/>
          </a:solidFill>
          <a:ln cap="flat" cmpd="sng" w="1905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/>
          <p:cNvSpPr/>
          <p:nvPr/>
        </p:nvSpPr>
        <p:spPr>
          <a:xfrm>
            <a:off x="822960" y="1645920"/>
            <a:ext cx="1417320" cy="347472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/>
          <p:nvPr/>
        </p:nvSpPr>
        <p:spPr>
          <a:xfrm>
            <a:off x="932688" y="173736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1051560" y="2121408"/>
            <a:ext cx="10104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Exit Ticket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1051560" y="2514600"/>
            <a:ext cx="101041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Write four sentences: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Arial"/>
              <a:buNone/>
            </a:pPr>
            <a:r>
              <a:t/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1. My strongest evidence suggests ___ 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2. One limitation is ___ 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3. This affects my confidence because ___ 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4. A careful claim I can make is ___ 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Arial"/>
              <a:buNone/>
            </a:pPr>
            <a:r>
              <a:t/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Submit or save this as the first draft of your discussion interpretation.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1005840" y="585216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Do not leave with “my data proved.” Leave with “my evidence supports, with these limits.”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0" y="6601968"/>
            <a:ext cx="12191695" cy="54864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2"/>
          <p:cNvSpPr/>
          <p:nvPr/>
        </p:nvSpPr>
        <p:spPr>
          <a:xfrm>
            <a:off x="502920" y="384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ERROR • UNCERTAINTY • LIMITATIONS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9509760" y="3840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 Deck 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658368" y="74980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deck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658368" y="1389888"/>
            <a:ext cx="1051560" cy="36576"/>
          </a:xfrm>
          <a:prstGeom prst="rect">
            <a:avLst/>
          </a:prstGeom>
          <a:solidFill>
            <a:srgbClr val="E22622"/>
          </a:solidFill>
          <a:ln cap="flat" cmpd="sng" w="12700">
            <a:solidFill>
              <a:srgbClr val="E22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384048" y="6419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UNIT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10287000" y="6419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822960" y="16459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2622"/>
                </a:solidFill>
                <a:latin typeface="Arial"/>
                <a:ea typeface="Arial"/>
                <a:cs typeface="Arial"/>
                <a:sym typeface="Arial"/>
              </a:rPr>
              <a:t>NEXT DECK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822960" y="224028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SCIENTIFIC REPORT STRUCTURE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1371600" y="32461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Now that your analysis has limits and meaning, the next step is organizing your research into a formal scientific report.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8" name="Google Shape;558;p22"/>
          <p:cNvCxnSpPr/>
          <p:nvPr/>
        </p:nvCxnSpPr>
        <p:spPr>
          <a:xfrm>
            <a:off x="2926080" y="4892040"/>
            <a:ext cx="6309360" cy="0"/>
          </a:xfrm>
          <a:prstGeom prst="straightConnector1">
            <a:avLst/>
          </a:prstGeom>
          <a:noFill/>
          <a:ln cap="flat" cmpd="sng" w="1650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9" name="Google Shape;559;p22"/>
          <p:cNvSpPr/>
          <p:nvPr/>
        </p:nvSpPr>
        <p:spPr>
          <a:xfrm>
            <a:off x="1463040" y="5257800"/>
            <a:ext cx="9235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  •  Discussion  •  Conclusion  •  Future 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