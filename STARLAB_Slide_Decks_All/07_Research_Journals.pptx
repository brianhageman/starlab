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This deck pairs with Unit 3 Week 5. Use it immediately after Deck 6: Pilot Testing or on the same day students set up research journals. Frame documentation as a research habit, not a compliance task. The goal is for students to understand that the journal is the official record of decisions, data, problems, and revisions.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Primary alignment: Unit 3 Student Handout 2: Research Journal Setup; Unit 3 Student Handout 3: Daily Research Journal Entry Template. Also connects to Unit 3 Appendix B: Research Journal Standards. Next deck connection: Deck 8: Troubleshooting and Responsible Project Pivots.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Print:</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 **Unit 3 Student Handout 2: Research Journal Setup**</a:t>
            </a:r>
            <a:endParaRPr/>
          </a:p>
          <a:p>
            <a:pPr indent="-228600" lvl="0" marL="457200" marR="0" rtl="0" algn="l">
              <a:lnSpc>
                <a:spcPct val="100000"/>
              </a:lnSpc>
              <a:spcBef>
                <a:spcPts val="0"/>
              </a:spcBef>
              <a:spcAft>
                <a:spcPts val="0"/>
              </a:spcAft>
              <a:buSzPts val="1400"/>
              <a:buNone/>
            </a:pPr>
            <a:r>
              <a:rPr lang="en-US"/>
              <a:t>* **Unit 3 Student Handout 3: Daily Research Journal Entry Template**</a:t>
            </a:r>
            <a:endParaRPr/>
          </a:p>
          <a:p>
            <a:pPr indent="-228600" lvl="0" marL="457200" marR="0" rtl="0" algn="l">
              <a:lnSpc>
                <a:spcPct val="100000"/>
              </a:lnSpc>
              <a:spcBef>
                <a:spcPts val="0"/>
              </a:spcBef>
              <a:spcAft>
                <a:spcPts val="0"/>
              </a:spcAft>
              <a:buSzPts val="1400"/>
              <a:buNone/>
            </a:pPr>
            <a:r>
              <a:rPr lang="en-US"/>
              <a:t>* **Unit 3 Student Handout 4: Pilot Test Reflection and Troubleshooting Log**</a:t>
            </a:r>
            <a:endParaRPr/>
          </a:p>
          <a:p>
            <a:pPr indent="-228600" lvl="0" marL="457200" marR="0" rtl="0" algn="l">
              <a:lnSpc>
                <a:spcPct val="100000"/>
              </a:lnSpc>
              <a:spcBef>
                <a:spcPts val="0"/>
              </a:spcBef>
              <a:spcAft>
                <a:spcPts val="0"/>
              </a:spcAft>
              <a:buSzPts val="1400"/>
              <a:buNone/>
            </a:pPr>
            <a:r>
              <a:rPr lang="en-US"/>
              <a:t>* **Unit 3 Appendix B: Research Journal Standards**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Optional but useful for later Unit 3 checkpoints: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 **Unit 3 Student Handout 9: Weekly Progress Check-In**</a:t>
            </a:r>
            <a:endParaRPr/>
          </a:p>
          <a:p>
            <a:pPr indent="-228600" lvl="0" marL="457200" marR="0" rtl="0" algn="l">
              <a:lnSpc>
                <a:spcPct val="100000"/>
              </a:lnSpc>
              <a:spcBef>
                <a:spcPts val="0"/>
              </a:spcBef>
              <a:spcAft>
                <a:spcPts val="0"/>
              </a:spcAft>
              <a:buSzPts val="1400"/>
              <a:buNone/>
            </a:pPr>
            <a:r>
              <a:rPr lang="en-US"/>
              <a:t>* **Unit 3 Student Handout 19: Research Journal Self-Assessment**</a:t>
            </a:r>
            <a:endParaRPr/>
          </a:p>
          <a:p>
            <a:pPr indent="-228600" lvl="0" marL="457200" marR="0" rtl="0" algn="l">
              <a:lnSpc>
                <a:spcPct val="100000"/>
              </a:lnSpc>
              <a:spcBef>
                <a:spcPts val="0"/>
              </a:spcBef>
              <a:spcAft>
                <a:spcPts val="0"/>
              </a:spcAft>
              <a:buSzPts val="1400"/>
              <a:buNone/>
            </a:pPr>
            <a:r>
              <a:rPr lang="en-US"/>
              <a:t>* **Unit 3 Appendix Q: File and Data Organization Standards**</a:t>
            </a:r>
            <a:endParaRPr/>
          </a:p>
          <a:p>
            <a:pPr indent="-228600" lvl="0" marL="457200" marR="0" rtl="0" algn="l">
              <a:lnSpc>
                <a:spcPct val="100000"/>
              </a:lnSpc>
              <a:spcBef>
                <a:spcPts val="0"/>
              </a:spcBef>
              <a:spcAft>
                <a:spcPts val="0"/>
              </a:spcAft>
              <a:buSzPts val="1400"/>
              <a:buNone/>
            </a:pPr>
            <a:r>
              <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Use this slide to establish the core message of the deck: memory is not a reliable research system. Ask students to imagine a mentor, judge, teacher, or future version of themselves trying to reconstruct what happened weeks later. Emphasize that undocumented work cannot be defended well.</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Appendix B: Research Journal Standards. This slide sets up why students need Unit 3 Student Handout 2: Research Journal Setup before beginning regular pilot testing and documentation.</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Stress the distinction between a research journal and a diary. The journal can include reflection, but every reflection should serve the project. Students should record plans, actions, evidence, decisions, and next steps as the project actually unfolds.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2: Research Journal Setup. Students should use this slide to understand what sections their journal system needs to include.</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Use this slide to prevent students from copying lecture notes into a document and calling it a research journal. Ask students which side 'Trial 3 failed because the sensor disconnected' belongs on. The answer should be the research journal side because it documents project action.</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2: Research Journal Setup and Unit 3 Appendix B: Research Journal Standards.</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Have students compare this list to the Daily Research Journal Entry Template. Tell students the template is a scaffold. Advanced students may customize the format as long as each entry still includes date, goal, action, data or observations, problems, decisions, and next steps.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directly with Unit 3 Student Handout 3: Daily Research Journal Entry Template. This is the main structure students should use for daily documentation.</a:t>
            </a:r>
            <a:endParaRP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Have students practice converting an interpretive statement into observation plus interpretation. Example: 'It did not work because the motor is bad' becomes 'The motor stopped spinning after 12 seconds' and 'The motor may have overheated or lost power.' This distinction will help later troubleshooting and scientific writing.</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3: Daily Research Journal Entry Template, especially the Data/Observations and Problems/Unexpected Events sections. Also connects to Unit 3 Student Handout 4: Pilot Test Reflection and Troubleshooting Log.</a:t>
            </a:r>
            <a:endParaRPr/>
          </a:p>
        </p:txBody>
      </p:sp>
      <p:sp>
        <p:nvSpPr>
          <p:cNvPr id="128" name="Google Shape;12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Students should develop the habit of linking journal entries to raw evidence. Model phrases like 'Data recorded in Sheet 1, Trial 4' or 'Photo saved as PrototypeB_Failure_10-12.' This will make Unit 4 analysis and Unit 5 report writing much easier.</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3: Daily Research Journal Entry Template and Unit 3 Appendix H: Raw Data Standards. Also supports later work with Unit 3 Student Handout 17: Data Audit and Organization Checklist.</a:t>
            </a:r>
            <a:endParaRPr/>
          </a:p>
        </p:txBody>
      </p:sp>
      <p:sp>
        <p:nvSpPr>
          <p:cNvPr id="148" name="Google Shape;1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Normalize failure as useful evidence. Tell students that mentors and judges often trust projects more when students can explain failures and revisions clearly. A failed pilot test should be documented, not erased.</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4: Pilot Test Reflection and Troubleshooting Log. Also connects to Unit 3 Appendix B: Research Journal Standards and Unit 3 Appendix H: Raw Data Standards.</a:t>
            </a:r>
            <a:endParaRPr/>
          </a:p>
        </p:txBody>
      </p:sp>
      <p:sp>
        <p:nvSpPr>
          <p:cNvPr id="172" name="Google Shape;17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This slide supports method revision documentation. Students should understand that changing a method is not bad; changing it invisibly is the problem. Require students to record what changed, why it changed, who approved it, and what version is current.</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4: Pilot Test Reflection and Troubleshooting Log and Unit 3 Student Handout 6: Revised Procedure Template. Also connects to Unit 3 Student Handout 5: Method Revision Decision Chart.</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Ask students what information is missing from the weak entry. Then ask which parts of the strong entry would help during analysis, report writing, or Q&amp;A. The key is specificity: trial number, measurement, failure location, file name, and next step.</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Appendix B: Research Journal Standards. This example also prepares students to use Unit 3 Student Handout 3: Daily Research Journal Entry Template more effectively.</a:t>
            </a:r>
            <a:endParaRPr/>
          </a:p>
        </p:txBody>
      </p:sp>
      <p:sp>
        <p:nvSpPr>
          <p:cNvPr id="218" name="Google Shape;21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Give students four minutes to mark missing details, then five minutes to rewrite the entry. Have pairs compare revised entries. Look for date, goal, action, data or observation, problem, change, and next step.</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directly with Unit 3 Student Handout 3: Daily Research Journal Entry Template. Students may also reference Unit 3 Appendix B: Research Journal Standards while revising the weak entry.</a:t>
            </a:r>
            <a:endParaRPr/>
          </a:p>
        </p:txBody>
      </p:sp>
      <p:sp>
        <p:nvSpPr>
          <p:cNvPr id="236" name="Google Shape;23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Allow flexibility, but require consistency and teacher access. If your class uses one required platform, modify this slide verbally or in the deck. The best system is the one students will actually maintain and that the teacher can check.</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2: Research Journal Setup. Students should select their approved journal format and document where the journal is located, how it will be accessed, and how it will be backed up.</a:t>
            </a:r>
            <a:endParaRPr/>
          </a:p>
        </p:txBody>
      </p:sp>
      <p:sp>
        <p:nvSpPr>
          <p:cNvPr id="259" name="Google Shape;25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Connect this slide to future data organization. Students who name files well save time when they build reports and presentations. Encourage file names that include student name, project, item type, date, trial, or version.</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Appendix Q: File and Data Organization Standards. Also supports later work in Unit 4 Student Handout 1: Raw Data Inventory and Unit 4 Student Handout 2: Clean Data Set Builder.</a:t>
            </a:r>
            <a:endParaRPr/>
          </a:p>
        </p:txBody>
      </p:sp>
      <p:sp>
        <p:nvSpPr>
          <p:cNvPr id="283" name="Google Shape;28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Use these as weekly conference prompts. Students should be able to answer by pointing to journal entries and data files, not by relying on memory. This slide can become a recurring weekly check-in routine.</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9: Weekly Progress Check-In. Also connects to Unit 3 Student Handout 19: Research Journal Self-Assessment as a later checkpoint.</a:t>
            </a:r>
            <a:endParaRPr/>
          </a:p>
        </p:txBody>
      </p:sp>
      <p:sp>
        <p:nvSpPr>
          <p:cNvPr id="305" name="Google Shape;30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This is the main work-time activity. Give students eight to ten minutes to open or create their STARLAB journal, make the first entry, write a realistic next-session goal, and share the journal location. Circulate to verify that each student has an accessible system.</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directly with Unit 3 Student Handout 2: Research Journal Setup and Unit 3 Student Handout 3: Daily Research Journal Entry Template.</a:t>
            </a:r>
            <a:endParaRPr/>
          </a:p>
        </p:txBody>
      </p:sp>
      <p:sp>
        <p:nvSpPr>
          <p:cNvPr id="327" name="Google Shape;32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Use this as the minimum readiness check for moving deeper into pilot testing. Students do not need a polished journal yet, but they need a usable system, teacher access, a first entry, a data location, and a next step.</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2: Research Journal Setup and Unit 3 Student Handout 3: Daily Research Journal Entry Template. Later, revisit these expectations with Unit 3 Student Handout 19: Research Journal Self-Assessment.</a:t>
            </a:r>
            <a:endParaRPr/>
          </a:p>
        </p:txBody>
      </p:sp>
      <p:sp>
        <p:nvSpPr>
          <p:cNvPr id="351" name="Google Shape;35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Collect this quickly. If using Google Classroom, an LMS, or a shared folder, have students submit the link. This exit ticket prevents students from entering Unit 3 without a working documentation system.</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with Unit 3 Student Handout 2: Research Journal Setup and Unit 3 Student Handout 3: Daily Research Journal Entry Template. Optional follow-up: Unit 3 Student Handout 9: Weekly Progress Check-In once students begin regular work sessions.</a:t>
            </a:r>
            <a:endParaRPr/>
          </a:p>
        </p:txBody>
      </p:sp>
      <p:sp>
        <p:nvSpPr>
          <p:cNvPr id="376" name="Google Shape;37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Teacher notes:</a:t>
            </a:r>
            <a:endParaRPr/>
          </a:p>
          <a:p>
            <a:pPr indent="-228600" lvl="0" marL="457200" marR="0" rtl="0" algn="l">
              <a:lnSpc>
                <a:spcPct val="100000"/>
              </a:lnSpc>
              <a:spcBef>
                <a:spcPts val="0"/>
              </a:spcBef>
              <a:spcAft>
                <a:spcPts val="0"/>
              </a:spcAft>
              <a:buSzPts val="1400"/>
              <a:buNone/>
            </a:pPr>
            <a:r>
              <a:rPr lang="en-US"/>
              <a:t>Close by previewing the next deck. Students will use their documentation to make evidence-based decisions when a method fails, a prototype breaks, or a project needs to pivot. Reinforce that the journal is the project’s memory.</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Resource alignment:</a:t>
            </a:r>
            <a:endParaRPr/>
          </a:p>
          <a:p>
            <a:pPr indent="-228600" lvl="0" marL="457200" marR="0" rtl="0" algn="l">
              <a:lnSpc>
                <a:spcPct val="100000"/>
              </a:lnSpc>
              <a:spcBef>
                <a:spcPts val="0"/>
              </a:spcBef>
              <a:spcAft>
                <a:spcPts val="0"/>
              </a:spcAft>
              <a:buSzPts val="1400"/>
              <a:buNone/>
            </a:pPr>
            <a:r>
              <a:rPr lang="en-US"/>
              <a:t>Use as a transition after students have completed Unit 3 Student Handout 2: Research Journal Setup and at least one entry using Unit 3 Student Handout 3: Daily Research Journal Entry Template. Next deck connection: Deck 8: Troubleshooting and Responsible Project Pivots.</a:t>
            </a:r>
            <a:endParaRPr/>
          </a:p>
        </p:txBody>
      </p:sp>
      <p:sp>
        <p:nvSpPr>
          <p:cNvPr id="400" name="Google Shape;40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LAB Clean Black">
  <p:cSld name="STARLAB Clean Black">
    <p:bg>
      <p:bgPr>
        <a:solidFill>
          <a:srgbClr val="000000"/>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 name="Shape 16"/>
        <p:cNvGrpSpPr/>
        <p:nvPr/>
      </p:nvGrpSpPr>
      <p:grpSpPr>
        <a:xfrm>
          <a:off x="0" y="0"/>
          <a:ext cx="0" cy="0"/>
          <a:chOff x="0" y="0"/>
          <a:chExt cx="0" cy="0"/>
        </a:xfrm>
      </p:grpSpPr>
      <p:sp>
        <p:nvSpPr>
          <p:cNvPr id="17" name="Google Shape;17;p4"/>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4"/>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nt/data/STARLAB Logo 2026.png" id="19" name="Google Shape;19;p4"/>
          <p:cNvPicPr preferRelativeResize="0"/>
          <p:nvPr/>
        </p:nvPicPr>
        <p:blipFill rotWithShape="1">
          <a:blip r:embed="rId3">
            <a:alphaModFix/>
          </a:blip>
          <a:srcRect b="0" l="0" r="0" t="0"/>
          <a:stretch/>
        </p:blipFill>
        <p:spPr>
          <a:xfrm>
            <a:off x="1691640" y="676656"/>
            <a:ext cx="8778240" cy="4160520"/>
          </a:xfrm>
          <a:prstGeom prst="rect">
            <a:avLst/>
          </a:prstGeom>
          <a:noFill/>
          <a:ln>
            <a:noFill/>
          </a:ln>
        </p:spPr>
      </p:pic>
      <p:sp>
        <p:nvSpPr>
          <p:cNvPr id="20" name="Google Shape;20;p4"/>
          <p:cNvSpPr/>
          <p:nvPr/>
        </p:nvSpPr>
        <p:spPr>
          <a:xfrm>
            <a:off x="877824" y="5029200"/>
            <a:ext cx="10561320" cy="822960"/>
          </a:xfrm>
          <a:prstGeom prst="rect">
            <a:avLst/>
          </a:prstGeom>
          <a:solidFill>
            <a:srgbClr val="000000">
              <a:alpha val="0"/>
            </a:srgbClr>
          </a:solidFill>
          <a:ln cap="flat" cmpd="sng" w="15225">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
          <p:cNvSpPr/>
          <p:nvPr/>
        </p:nvSpPr>
        <p:spPr>
          <a:xfrm>
            <a:off x="932688" y="5111496"/>
            <a:ext cx="10058400" cy="612648"/>
          </a:xfrm>
          <a:prstGeom prst="rect">
            <a:avLst/>
          </a:prstGeom>
          <a:noFill/>
          <a:ln>
            <a:noFill/>
          </a:ln>
        </p:spPr>
        <p:txBody>
          <a:bodyPr anchorCtr="0" anchor="ctr" bIns="250" lIns="250" spcFirstLastPara="1" rIns="250" wrap="square" tIns="250">
            <a:noAutofit/>
          </a:bodyPr>
          <a:lstStyle/>
          <a:p>
            <a:pPr indent="0" lvl="0" marL="0" marR="0" rtl="0" algn="l">
              <a:lnSpc>
                <a:spcPct val="100000"/>
              </a:lnSpc>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RESEARCH JOURNALS</a:t>
            </a:r>
            <a:endParaRPr b="0" i="0" sz="2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2700"/>
              <a:buFont typeface="Arial"/>
              <a:buNone/>
            </a:pPr>
            <a:r>
              <a:rPr b="1" i="0" lang="en-US" sz="2700" u="none" cap="none" strike="noStrike">
                <a:solidFill>
                  <a:srgbClr val="FFFFFF"/>
                </a:solidFill>
                <a:latin typeface="Arial"/>
                <a:ea typeface="Arial"/>
                <a:cs typeface="Arial"/>
                <a:sym typeface="Arial"/>
              </a:rPr>
              <a:t>&amp; SCIENTIFIC DOCUMENTATION</a:t>
            </a:r>
            <a:endParaRPr b="0" i="0" sz="2700" u="none" cap="none" strike="noStrike">
              <a:solidFill>
                <a:schemeClr val="dk1"/>
              </a:solidFill>
              <a:latin typeface="Arial"/>
              <a:ea typeface="Arial"/>
              <a:cs typeface="Arial"/>
              <a:sym typeface="Arial"/>
            </a:endParaRPr>
          </a:p>
        </p:txBody>
      </p:sp>
      <p:sp>
        <p:nvSpPr>
          <p:cNvPr id="22" name="Google Shape;22;p4"/>
          <p:cNvSpPr/>
          <p:nvPr/>
        </p:nvSpPr>
        <p:spPr>
          <a:xfrm>
            <a:off x="932688" y="5971032"/>
            <a:ext cx="80467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150"/>
              <a:buFont typeface="Arial"/>
              <a:buNone/>
            </a:pPr>
            <a:r>
              <a:rPr b="0" i="0" lang="en-US" sz="1150" u="none" cap="none" strike="noStrike">
                <a:solidFill>
                  <a:srgbClr val="A6A6A6"/>
                </a:solidFill>
                <a:latin typeface="Arial"/>
                <a:ea typeface="Arial"/>
                <a:cs typeface="Arial"/>
                <a:sym typeface="Arial"/>
              </a:rPr>
              <a:t>STARLAB Deck 07  •  Unit 3 Core Instruction</a:t>
            </a:r>
            <a:endParaRPr b="0" i="0" sz="115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 name="Shape 27"/>
        <p:cNvGrpSpPr/>
        <p:nvPr/>
      </p:nvGrpSpPr>
      <p:grpSpPr>
        <a:xfrm>
          <a:off x="0" y="0"/>
          <a:ext cx="0" cy="0"/>
          <a:chOff x="0" y="0"/>
          <a:chExt cx="0" cy="0"/>
        </a:xfrm>
      </p:grpSpPr>
      <p:sp>
        <p:nvSpPr>
          <p:cNvPr id="28" name="Google Shape;28;p5"/>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5"/>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31" name="Google Shape;31;p5"/>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32" name="Google Shape;32;p5"/>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If it is not documented, it did not happen</a:t>
            </a:r>
            <a:endParaRPr b="0" i="0" sz="2500" u="none" cap="none" strike="noStrike">
              <a:solidFill>
                <a:schemeClr val="dk1"/>
              </a:solidFill>
              <a:latin typeface="Arial"/>
              <a:ea typeface="Arial"/>
              <a:cs typeface="Arial"/>
              <a:sym typeface="Arial"/>
            </a:endParaRPr>
          </a:p>
        </p:txBody>
      </p:sp>
      <p:cxnSp>
        <p:nvCxnSpPr>
          <p:cNvPr id="33" name="Google Shape;33;p5"/>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34" name="Google Shape;34;p5"/>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Research depends on a usable record of decisions, data, and change.</a:t>
            </a:r>
            <a:endParaRPr b="0" i="0" sz="1250" u="none" cap="none" strike="noStrike">
              <a:solidFill>
                <a:schemeClr val="dk1"/>
              </a:solidFill>
              <a:latin typeface="Arial"/>
              <a:ea typeface="Arial"/>
              <a:cs typeface="Arial"/>
              <a:sym typeface="Arial"/>
            </a:endParaRPr>
          </a:p>
        </p:txBody>
      </p:sp>
      <p:sp>
        <p:nvSpPr>
          <p:cNvPr id="35" name="Google Shape;35;p5"/>
          <p:cNvSpPr/>
          <p:nvPr/>
        </p:nvSpPr>
        <p:spPr>
          <a:xfrm>
            <a:off x="749808" y="214884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100"/>
              <a:buFont typeface="Arial"/>
              <a:buNone/>
            </a:pPr>
            <a:r>
              <a:rPr b="1" i="0" lang="en-US" sz="2100" u="none" cap="none" strike="noStrike">
                <a:solidFill>
                  <a:srgbClr val="FF1E1E"/>
                </a:solidFill>
                <a:latin typeface="Arial"/>
                <a:ea typeface="Arial"/>
                <a:cs typeface="Arial"/>
                <a:sym typeface="Arial"/>
              </a:rPr>
              <a:t>•</a:t>
            </a:r>
            <a:endParaRPr b="0" i="0" sz="2100" u="none" cap="none" strike="noStrike">
              <a:solidFill>
                <a:schemeClr val="dk1"/>
              </a:solidFill>
              <a:latin typeface="Arial"/>
              <a:ea typeface="Arial"/>
              <a:cs typeface="Arial"/>
              <a:sym typeface="Arial"/>
            </a:endParaRPr>
          </a:p>
        </p:txBody>
      </p:sp>
      <p:sp>
        <p:nvSpPr>
          <p:cNvPr id="36" name="Google Shape;36;p5"/>
          <p:cNvSpPr/>
          <p:nvPr/>
        </p:nvSpPr>
        <p:spPr>
          <a:xfrm>
            <a:off x="1060704" y="2130552"/>
            <a:ext cx="98755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100"/>
              <a:buFont typeface="Arial"/>
              <a:buNone/>
            </a:pPr>
            <a:r>
              <a:rPr b="0" i="0" lang="en-US" sz="2100" u="none" cap="none" strike="noStrike">
                <a:solidFill>
                  <a:srgbClr val="FFFFFF"/>
                </a:solidFill>
                <a:latin typeface="Arial"/>
                <a:ea typeface="Arial"/>
                <a:cs typeface="Arial"/>
                <a:sym typeface="Arial"/>
              </a:rPr>
              <a:t>Memory is not a data storage system.</a:t>
            </a:r>
            <a:endParaRPr b="0" i="0" sz="2100" u="none" cap="none" strike="noStrike">
              <a:solidFill>
                <a:schemeClr val="dk1"/>
              </a:solidFill>
              <a:latin typeface="Arial"/>
              <a:ea typeface="Arial"/>
              <a:cs typeface="Arial"/>
              <a:sym typeface="Arial"/>
            </a:endParaRPr>
          </a:p>
        </p:txBody>
      </p:sp>
      <p:sp>
        <p:nvSpPr>
          <p:cNvPr id="37" name="Google Shape;37;p5"/>
          <p:cNvSpPr/>
          <p:nvPr/>
        </p:nvSpPr>
        <p:spPr>
          <a:xfrm>
            <a:off x="749808" y="283464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100"/>
              <a:buFont typeface="Arial"/>
              <a:buNone/>
            </a:pPr>
            <a:r>
              <a:rPr b="1" i="0" lang="en-US" sz="2100" u="none" cap="none" strike="noStrike">
                <a:solidFill>
                  <a:srgbClr val="FF1E1E"/>
                </a:solidFill>
                <a:latin typeface="Arial"/>
                <a:ea typeface="Arial"/>
                <a:cs typeface="Arial"/>
                <a:sym typeface="Arial"/>
              </a:rPr>
              <a:t>•</a:t>
            </a:r>
            <a:endParaRPr b="0" i="0" sz="2100" u="none" cap="none" strike="noStrike">
              <a:solidFill>
                <a:schemeClr val="dk1"/>
              </a:solidFill>
              <a:latin typeface="Arial"/>
              <a:ea typeface="Arial"/>
              <a:cs typeface="Arial"/>
              <a:sym typeface="Arial"/>
            </a:endParaRPr>
          </a:p>
        </p:txBody>
      </p:sp>
      <p:sp>
        <p:nvSpPr>
          <p:cNvPr id="38" name="Google Shape;38;p5"/>
          <p:cNvSpPr/>
          <p:nvPr/>
        </p:nvSpPr>
        <p:spPr>
          <a:xfrm>
            <a:off x="1060704" y="2816352"/>
            <a:ext cx="98755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100"/>
              <a:buFont typeface="Arial"/>
              <a:buNone/>
            </a:pPr>
            <a:r>
              <a:rPr b="0" i="0" lang="en-US" sz="2100" u="none" cap="none" strike="noStrike">
                <a:solidFill>
                  <a:srgbClr val="FFFFFF"/>
                </a:solidFill>
                <a:latin typeface="Arial"/>
                <a:ea typeface="Arial"/>
                <a:cs typeface="Arial"/>
                <a:sym typeface="Arial"/>
              </a:rPr>
              <a:t>Your journal protects the integrity of your project.</a:t>
            </a:r>
            <a:endParaRPr b="0" i="0" sz="2100" u="none" cap="none" strike="noStrike">
              <a:solidFill>
                <a:schemeClr val="dk1"/>
              </a:solidFill>
              <a:latin typeface="Arial"/>
              <a:ea typeface="Arial"/>
              <a:cs typeface="Arial"/>
              <a:sym typeface="Arial"/>
            </a:endParaRPr>
          </a:p>
        </p:txBody>
      </p:sp>
      <p:sp>
        <p:nvSpPr>
          <p:cNvPr id="39" name="Google Shape;39;p5"/>
          <p:cNvSpPr/>
          <p:nvPr/>
        </p:nvSpPr>
        <p:spPr>
          <a:xfrm>
            <a:off x="749808" y="352044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100"/>
              <a:buFont typeface="Arial"/>
              <a:buNone/>
            </a:pPr>
            <a:r>
              <a:rPr b="1" i="0" lang="en-US" sz="2100" u="none" cap="none" strike="noStrike">
                <a:solidFill>
                  <a:srgbClr val="FF1E1E"/>
                </a:solidFill>
                <a:latin typeface="Arial"/>
                <a:ea typeface="Arial"/>
                <a:cs typeface="Arial"/>
                <a:sym typeface="Arial"/>
              </a:rPr>
              <a:t>•</a:t>
            </a:r>
            <a:endParaRPr b="0" i="0" sz="2100" u="none" cap="none" strike="noStrike">
              <a:solidFill>
                <a:schemeClr val="dk1"/>
              </a:solidFill>
              <a:latin typeface="Arial"/>
              <a:ea typeface="Arial"/>
              <a:cs typeface="Arial"/>
              <a:sym typeface="Arial"/>
            </a:endParaRPr>
          </a:p>
        </p:txBody>
      </p:sp>
      <p:sp>
        <p:nvSpPr>
          <p:cNvPr id="40" name="Google Shape;40;p5"/>
          <p:cNvSpPr/>
          <p:nvPr/>
        </p:nvSpPr>
        <p:spPr>
          <a:xfrm>
            <a:off x="1060704" y="3502152"/>
            <a:ext cx="98755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100"/>
              <a:buFont typeface="Arial"/>
              <a:buNone/>
            </a:pPr>
            <a:r>
              <a:rPr b="0" i="0" lang="en-US" sz="2100" u="none" cap="none" strike="noStrike">
                <a:solidFill>
                  <a:srgbClr val="FFFFFF"/>
                </a:solidFill>
                <a:latin typeface="Arial"/>
                <a:ea typeface="Arial"/>
                <a:cs typeface="Arial"/>
                <a:sym typeface="Arial"/>
              </a:rPr>
              <a:t>A good record lets someone understand what happened weeks later.</a:t>
            </a:r>
            <a:endParaRPr b="0" i="0" sz="2100" u="none" cap="none" strike="noStrike">
              <a:solidFill>
                <a:schemeClr val="dk1"/>
              </a:solidFill>
              <a:latin typeface="Arial"/>
              <a:ea typeface="Arial"/>
              <a:cs typeface="Arial"/>
              <a:sym typeface="Arial"/>
            </a:endParaRPr>
          </a:p>
        </p:txBody>
      </p:sp>
      <p:sp>
        <p:nvSpPr>
          <p:cNvPr id="41" name="Google Shape;41;p5"/>
          <p:cNvSpPr/>
          <p:nvPr/>
        </p:nvSpPr>
        <p:spPr>
          <a:xfrm>
            <a:off x="777240" y="4617720"/>
            <a:ext cx="10241280" cy="804672"/>
          </a:xfrm>
          <a:prstGeom prst="roundRect">
            <a:avLst>
              <a:gd fmla="val 5682" name="adj"/>
            </a:avLst>
          </a:prstGeom>
          <a:solidFill>
            <a:srgbClr val="000000">
              <a:alpha val="0"/>
            </a:srgbClr>
          </a:solidFill>
          <a:ln cap="flat" cmpd="sng" w="12700">
            <a:solidFill>
              <a:srgbClr val="FF1E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5"/>
          <p:cNvSpPr/>
          <p:nvPr/>
        </p:nvSpPr>
        <p:spPr>
          <a:xfrm>
            <a:off x="960120" y="4873752"/>
            <a:ext cx="978408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Core idea: your research journal is evidence of the process, not just notes about the process.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7" name="Shape 47"/>
        <p:cNvGrpSpPr/>
        <p:nvPr/>
      </p:nvGrpSpPr>
      <p:grpSpPr>
        <a:xfrm>
          <a:off x="0" y="0"/>
          <a:ext cx="0" cy="0"/>
          <a:chOff x="0" y="0"/>
          <a:chExt cx="0" cy="0"/>
        </a:xfrm>
      </p:grpSpPr>
      <p:sp>
        <p:nvSpPr>
          <p:cNvPr id="48" name="Google Shape;48;p6"/>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6"/>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6"/>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51" name="Google Shape;51;p6"/>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52" name="Google Shape;52;p6"/>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What a research journal is</a:t>
            </a:r>
            <a:endParaRPr b="0" i="0" sz="2500" u="none" cap="none" strike="noStrike">
              <a:solidFill>
                <a:schemeClr val="dk1"/>
              </a:solidFill>
              <a:latin typeface="Arial"/>
              <a:ea typeface="Arial"/>
              <a:cs typeface="Arial"/>
              <a:sym typeface="Arial"/>
            </a:endParaRPr>
          </a:p>
        </p:txBody>
      </p:sp>
      <p:cxnSp>
        <p:nvCxnSpPr>
          <p:cNvPr id="53" name="Google Shape;53;p6"/>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54" name="Google Shape;54;p6"/>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A living record of your project as it actually unfolds.</a:t>
            </a:r>
            <a:endParaRPr b="0" i="0" sz="1250" u="none" cap="none" strike="noStrike">
              <a:solidFill>
                <a:schemeClr val="dk1"/>
              </a:solidFill>
              <a:latin typeface="Arial"/>
              <a:ea typeface="Arial"/>
              <a:cs typeface="Arial"/>
              <a:sym typeface="Arial"/>
            </a:endParaRPr>
          </a:p>
        </p:txBody>
      </p:sp>
      <p:sp>
        <p:nvSpPr>
          <p:cNvPr id="55" name="Google Shape;55;p6"/>
          <p:cNvSpPr/>
          <p:nvPr/>
        </p:nvSpPr>
        <p:spPr>
          <a:xfrm>
            <a:off x="731520" y="187452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900"/>
              <a:buFont typeface="Arial"/>
              <a:buNone/>
            </a:pPr>
            <a:r>
              <a:rPr b="1" i="0" lang="en-US" sz="1900" u="none" cap="none" strike="noStrike">
                <a:solidFill>
                  <a:srgbClr val="FF1E1E"/>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56" name="Google Shape;56;p6"/>
          <p:cNvSpPr/>
          <p:nvPr/>
        </p:nvSpPr>
        <p:spPr>
          <a:xfrm>
            <a:off x="1042416" y="1856232"/>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Plans: what you intended to do</a:t>
            </a:r>
            <a:endParaRPr b="0" i="0" sz="1900" u="none" cap="none" strike="noStrike">
              <a:solidFill>
                <a:schemeClr val="dk1"/>
              </a:solidFill>
              <a:latin typeface="Arial"/>
              <a:ea typeface="Arial"/>
              <a:cs typeface="Arial"/>
              <a:sym typeface="Arial"/>
            </a:endParaRPr>
          </a:p>
        </p:txBody>
      </p:sp>
      <p:sp>
        <p:nvSpPr>
          <p:cNvPr id="57" name="Google Shape;57;p6"/>
          <p:cNvSpPr/>
          <p:nvPr/>
        </p:nvSpPr>
        <p:spPr>
          <a:xfrm>
            <a:off x="731520" y="2441448"/>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900"/>
              <a:buFont typeface="Arial"/>
              <a:buNone/>
            </a:pPr>
            <a:r>
              <a:rPr b="1" i="0" lang="en-US" sz="1900" u="none" cap="none" strike="noStrike">
                <a:solidFill>
                  <a:srgbClr val="FF1E1E"/>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58" name="Google Shape;58;p6"/>
          <p:cNvSpPr/>
          <p:nvPr/>
        </p:nvSpPr>
        <p:spPr>
          <a:xfrm>
            <a:off x="1042416" y="2423160"/>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Actions: what you actually did</a:t>
            </a:r>
            <a:endParaRPr b="0" i="0" sz="1900" u="none" cap="none" strike="noStrike">
              <a:solidFill>
                <a:schemeClr val="dk1"/>
              </a:solidFill>
              <a:latin typeface="Arial"/>
              <a:ea typeface="Arial"/>
              <a:cs typeface="Arial"/>
              <a:sym typeface="Arial"/>
            </a:endParaRPr>
          </a:p>
        </p:txBody>
      </p:sp>
      <p:sp>
        <p:nvSpPr>
          <p:cNvPr id="59" name="Google Shape;59;p6"/>
          <p:cNvSpPr/>
          <p:nvPr/>
        </p:nvSpPr>
        <p:spPr>
          <a:xfrm>
            <a:off x="731520" y="3008376"/>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900"/>
              <a:buFont typeface="Arial"/>
              <a:buNone/>
            </a:pPr>
            <a:r>
              <a:rPr b="1" i="0" lang="en-US" sz="1900" u="none" cap="none" strike="noStrike">
                <a:solidFill>
                  <a:srgbClr val="FF1E1E"/>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60" name="Google Shape;60;p6"/>
          <p:cNvSpPr/>
          <p:nvPr/>
        </p:nvSpPr>
        <p:spPr>
          <a:xfrm>
            <a:off x="1042416" y="2990088"/>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Evidence: data, observations, photos, files, outputs</a:t>
            </a:r>
            <a:endParaRPr b="0" i="0" sz="1900" u="none" cap="none" strike="noStrike">
              <a:solidFill>
                <a:schemeClr val="dk1"/>
              </a:solidFill>
              <a:latin typeface="Arial"/>
              <a:ea typeface="Arial"/>
              <a:cs typeface="Arial"/>
              <a:sym typeface="Arial"/>
            </a:endParaRPr>
          </a:p>
        </p:txBody>
      </p:sp>
      <p:sp>
        <p:nvSpPr>
          <p:cNvPr id="61" name="Google Shape;61;p6"/>
          <p:cNvSpPr/>
          <p:nvPr/>
        </p:nvSpPr>
        <p:spPr>
          <a:xfrm>
            <a:off x="731520" y="3575304"/>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900"/>
              <a:buFont typeface="Arial"/>
              <a:buNone/>
            </a:pPr>
            <a:r>
              <a:rPr b="1" i="0" lang="en-US" sz="1900" u="none" cap="none" strike="noStrike">
                <a:solidFill>
                  <a:srgbClr val="FF1E1E"/>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62" name="Google Shape;62;p6"/>
          <p:cNvSpPr/>
          <p:nvPr/>
        </p:nvSpPr>
        <p:spPr>
          <a:xfrm>
            <a:off x="1042416" y="3557016"/>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Decisions: what changed and why</a:t>
            </a:r>
            <a:endParaRPr b="0" i="0" sz="1900" u="none" cap="none" strike="noStrike">
              <a:solidFill>
                <a:schemeClr val="dk1"/>
              </a:solidFill>
              <a:latin typeface="Arial"/>
              <a:ea typeface="Arial"/>
              <a:cs typeface="Arial"/>
              <a:sym typeface="Arial"/>
            </a:endParaRPr>
          </a:p>
        </p:txBody>
      </p:sp>
      <p:sp>
        <p:nvSpPr>
          <p:cNvPr id="63" name="Google Shape;63;p6"/>
          <p:cNvSpPr/>
          <p:nvPr/>
        </p:nvSpPr>
        <p:spPr>
          <a:xfrm>
            <a:off x="731520" y="4142232"/>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900"/>
              <a:buFont typeface="Arial"/>
              <a:buNone/>
            </a:pPr>
            <a:r>
              <a:rPr b="1" i="0" lang="en-US" sz="1900" u="none" cap="none" strike="noStrike">
                <a:solidFill>
                  <a:srgbClr val="FF1E1E"/>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
        <p:nvSpPr>
          <p:cNvPr id="64" name="Google Shape;64;p6"/>
          <p:cNvSpPr/>
          <p:nvPr/>
        </p:nvSpPr>
        <p:spPr>
          <a:xfrm>
            <a:off x="1042416" y="4123944"/>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900"/>
              <a:buFont typeface="Arial"/>
              <a:buNone/>
            </a:pPr>
            <a:r>
              <a:rPr b="0" i="0" lang="en-US" sz="1900" u="none" cap="none" strike="noStrike">
                <a:solidFill>
                  <a:srgbClr val="FFFFFF"/>
                </a:solidFill>
                <a:latin typeface="Arial"/>
                <a:ea typeface="Arial"/>
                <a:cs typeface="Arial"/>
                <a:sym typeface="Arial"/>
              </a:rPr>
              <a:t>Reflection: what the next step should be</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9" name="Shape 69"/>
        <p:cNvGrpSpPr/>
        <p:nvPr/>
      </p:nvGrpSpPr>
      <p:grpSpPr>
        <a:xfrm>
          <a:off x="0" y="0"/>
          <a:ext cx="0" cy="0"/>
          <a:chOff x="0" y="0"/>
          <a:chExt cx="0" cy="0"/>
        </a:xfrm>
      </p:grpSpPr>
      <p:sp>
        <p:nvSpPr>
          <p:cNvPr id="70" name="Google Shape;70;p7"/>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7"/>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7"/>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73" name="Google Shape;73;p7"/>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74" name="Google Shape;74;p7"/>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Research journal ≠ class notes</a:t>
            </a:r>
            <a:endParaRPr b="0" i="0" sz="2500" u="none" cap="none" strike="noStrike">
              <a:solidFill>
                <a:schemeClr val="dk1"/>
              </a:solidFill>
              <a:latin typeface="Arial"/>
              <a:ea typeface="Arial"/>
              <a:cs typeface="Arial"/>
              <a:sym typeface="Arial"/>
            </a:endParaRPr>
          </a:p>
        </p:txBody>
      </p:sp>
      <p:cxnSp>
        <p:nvCxnSpPr>
          <p:cNvPr id="75" name="Google Shape;75;p7"/>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76" name="Google Shape;76;p7"/>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Class notes summarize information. Research journals document action.</a:t>
            </a:r>
            <a:endParaRPr b="0" i="0" sz="1250" u="none" cap="none" strike="noStrike">
              <a:solidFill>
                <a:schemeClr val="dk1"/>
              </a:solidFill>
              <a:latin typeface="Arial"/>
              <a:ea typeface="Arial"/>
              <a:cs typeface="Arial"/>
              <a:sym typeface="Arial"/>
            </a:endParaRPr>
          </a:p>
        </p:txBody>
      </p:sp>
      <p:sp>
        <p:nvSpPr>
          <p:cNvPr id="77" name="Google Shape;77;p7"/>
          <p:cNvSpPr/>
          <p:nvPr/>
        </p:nvSpPr>
        <p:spPr>
          <a:xfrm>
            <a:off x="777240" y="1828800"/>
            <a:ext cx="4892040" cy="3291840"/>
          </a:xfrm>
          <a:prstGeom prst="roundRect">
            <a:avLst>
              <a:gd fmla="val 1389"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7"/>
          <p:cNvSpPr/>
          <p:nvPr/>
        </p:nvSpPr>
        <p:spPr>
          <a:xfrm>
            <a:off x="6492240" y="1828800"/>
            <a:ext cx="4892040" cy="3291840"/>
          </a:xfrm>
          <a:prstGeom prst="roundRect">
            <a:avLst>
              <a:gd fmla="val 1389" name="adj"/>
            </a:avLst>
          </a:prstGeom>
          <a:solidFill>
            <a:srgbClr val="000000">
              <a:alpha val="0"/>
            </a:srgbClr>
          </a:solidFill>
          <a:ln cap="flat" cmpd="sng" w="12700">
            <a:solidFill>
              <a:srgbClr val="FF1E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7"/>
          <p:cNvSpPr/>
          <p:nvPr/>
        </p:nvSpPr>
        <p:spPr>
          <a:xfrm>
            <a:off x="1051560" y="2103120"/>
            <a:ext cx="42062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2000"/>
              <a:buFont typeface="Arial"/>
              <a:buNone/>
            </a:pPr>
            <a:r>
              <a:rPr b="1" i="0" lang="en-US" sz="2000" u="none" cap="none" strike="noStrike">
                <a:solidFill>
                  <a:srgbClr val="A6A6A6"/>
                </a:solidFill>
                <a:latin typeface="Arial"/>
                <a:ea typeface="Arial"/>
                <a:cs typeface="Arial"/>
                <a:sym typeface="Arial"/>
              </a:rPr>
              <a:t>CLASS NOTES</a:t>
            </a:r>
            <a:endParaRPr b="0" i="0" sz="2000" u="none" cap="none" strike="noStrike">
              <a:solidFill>
                <a:schemeClr val="dk1"/>
              </a:solidFill>
              <a:latin typeface="Arial"/>
              <a:ea typeface="Arial"/>
              <a:cs typeface="Arial"/>
              <a:sym typeface="Arial"/>
            </a:endParaRPr>
          </a:p>
        </p:txBody>
      </p:sp>
      <p:sp>
        <p:nvSpPr>
          <p:cNvPr id="80" name="Google Shape;80;p7"/>
          <p:cNvSpPr/>
          <p:nvPr/>
        </p:nvSpPr>
        <p:spPr>
          <a:xfrm>
            <a:off x="6766560" y="2103120"/>
            <a:ext cx="43434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RESEARCH JOURNAL</a:t>
            </a:r>
            <a:endParaRPr b="0" i="0" sz="2000" u="none" cap="none" strike="noStrike">
              <a:solidFill>
                <a:schemeClr val="dk1"/>
              </a:solidFill>
              <a:latin typeface="Arial"/>
              <a:ea typeface="Arial"/>
              <a:cs typeface="Arial"/>
              <a:sym typeface="Arial"/>
            </a:endParaRPr>
          </a:p>
        </p:txBody>
      </p:sp>
      <p:sp>
        <p:nvSpPr>
          <p:cNvPr id="81" name="Google Shape;81;p7"/>
          <p:cNvSpPr/>
          <p:nvPr/>
        </p:nvSpPr>
        <p:spPr>
          <a:xfrm>
            <a:off x="1124712" y="27432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600"/>
              <a:buFont typeface="Arial"/>
              <a:buNone/>
            </a:pPr>
            <a:r>
              <a:rPr b="1" i="0" lang="en-US" sz="1600" u="none" cap="none" strike="noStrike">
                <a:solidFill>
                  <a:srgbClr val="FF1E1E"/>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82" name="Google Shape;82;p7"/>
          <p:cNvSpPr/>
          <p:nvPr/>
        </p:nvSpPr>
        <p:spPr>
          <a:xfrm>
            <a:off x="1435608" y="2724912"/>
            <a:ext cx="39319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Definitions</a:t>
            </a:r>
            <a:endParaRPr b="0" i="0" sz="1600" u="none" cap="none" strike="noStrike">
              <a:solidFill>
                <a:schemeClr val="dk1"/>
              </a:solidFill>
              <a:latin typeface="Arial"/>
              <a:ea typeface="Arial"/>
              <a:cs typeface="Arial"/>
              <a:sym typeface="Arial"/>
            </a:endParaRPr>
          </a:p>
        </p:txBody>
      </p:sp>
      <p:sp>
        <p:nvSpPr>
          <p:cNvPr id="83" name="Google Shape;83;p7"/>
          <p:cNvSpPr/>
          <p:nvPr/>
        </p:nvSpPr>
        <p:spPr>
          <a:xfrm>
            <a:off x="1124712" y="32004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600"/>
              <a:buFont typeface="Arial"/>
              <a:buNone/>
            </a:pPr>
            <a:r>
              <a:rPr b="1" i="0" lang="en-US" sz="1600" u="none" cap="none" strike="noStrike">
                <a:solidFill>
                  <a:srgbClr val="FF1E1E"/>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84" name="Google Shape;84;p7"/>
          <p:cNvSpPr/>
          <p:nvPr/>
        </p:nvSpPr>
        <p:spPr>
          <a:xfrm>
            <a:off x="1435608" y="3182112"/>
            <a:ext cx="39319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Examples</a:t>
            </a:r>
            <a:endParaRPr b="0" i="0" sz="1600" u="none" cap="none" strike="noStrike">
              <a:solidFill>
                <a:schemeClr val="dk1"/>
              </a:solidFill>
              <a:latin typeface="Arial"/>
              <a:ea typeface="Arial"/>
              <a:cs typeface="Arial"/>
              <a:sym typeface="Arial"/>
            </a:endParaRPr>
          </a:p>
        </p:txBody>
      </p:sp>
      <p:sp>
        <p:nvSpPr>
          <p:cNvPr id="85" name="Google Shape;85;p7"/>
          <p:cNvSpPr/>
          <p:nvPr/>
        </p:nvSpPr>
        <p:spPr>
          <a:xfrm>
            <a:off x="1124712" y="36576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600"/>
              <a:buFont typeface="Arial"/>
              <a:buNone/>
            </a:pPr>
            <a:r>
              <a:rPr b="1" i="0" lang="en-US" sz="1600" u="none" cap="none" strike="noStrike">
                <a:solidFill>
                  <a:srgbClr val="FF1E1E"/>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86" name="Google Shape;86;p7"/>
          <p:cNvSpPr/>
          <p:nvPr/>
        </p:nvSpPr>
        <p:spPr>
          <a:xfrm>
            <a:off x="1435608" y="3639312"/>
            <a:ext cx="39319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Teacher explanations</a:t>
            </a:r>
            <a:endParaRPr b="0" i="0" sz="1600" u="none" cap="none" strike="noStrike">
              <a:solidFill>
                <a:schemeClr val="dk1"/>
              </a:solidFill>
              <a:latin typeface="Arial"/>
              <a:ea typeface="Arial"/>
              <a:cs typeface="Arial"/>
              <a:sym typeface="Arial"/>
            </a:endParaRPr>
          </a:p>
        </p:txBody>
      </p:sp>
      <p:sp>
        <p:nvSpPr>
          <p:cNvPr id="87" name="Google Shape;87;p7"/>
          <p:cNvSpPr/>
          <p:nvPr/>
        </p:nvSpPr>
        <p:spPr>
          <a:xfrm>
            <a:off x="1124712" y="41148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600"/>
              <a:buFont typeface="Arial"/>
              <a:buNone/>
            </a:pPr>
            <a:r>
              <a:rPr b="1" i="0" lang="en-US" sz="1600" u="none" cap="none" strike="noStrike">
                <a:solidFill>
                  <a:srgbClr val="FF1E1E"/>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88" name="Google Shape;88;p7"/>
          <p:cNvSpPr/>
          <p:nvPr/>
        </p:nvSpPr>
        <p:spPr>
          <a:xfrm>
            <a:off x="1435608" y="4096512"/>
            <a:ext cx="39319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Practice problems</a:t>
            </a:r>
            <a:endParaRPr b="0" i="0" sz="1600" u="none" cap="none" strike="noStrike">
              <a:solidFill>
                <a:schemeClr val="dk1"/>
              </a:solidFill>
              <a:latin typeface="Arial"/>
              <a:ea typeface="Arial"/>
              <a:cs typeface="Arial"/>
              <a:sym typeface="Arial"/>
            </a:endParaRPr>
          </a:p>
        </p:txBody>
      </p:sp>
      <p:sp>
        <p:nvSpPr>
          <p:cNvPr id="89" name="Google Shape;89;p7"/>
          <p:cNvSpPr/>
          <p:nvPr/>
        </p:nvSpPr>
        <p:spPr>
          <a:xfrm>
            <a:off x="6839712" y="27432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600"/>
              <a:buFont typeface="Arial"/>
              <a:buNone/>
            </a:pPr>
            <a:r>
              <a:rPr b="1" i="0" lang="en-US" sz="1600" u="none" cap="none" strike="noStrike">
                <a:solidFill>
                  <a:srgbClr val="FF1E1E"/>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90" name="Google Shape;90;p7"/>
          <p:cNvSpPr/>
          <p:nvPr/>
        </p:nvSpPr>
        <p:spPr>
          <a:xfrm>
            <a:off x="7150608" y="2724912"/>
            <a:ext cx="39319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Procedures attempted</a:t>
            </a:r>
            <a:endParaRPr b="0" i="0" sz="1600" u="none" cap="none" strike="noStrike">
              <a:solidFill>
                <a:schemeClr val="dk1"/>
              </a:solidFill>
              <a:latin typeface="Arial"/>
              <a:ea typeface="Arial"/>
              <a:cs typeface="Arial"/>
              <a:sym typeface="Arial"/>
            </a:endParaRPr>
          </a:p>
        </p:txBody>
      </p:sp>
      <p:sp>
        <p:nvSpPr>
          <p:cNvPr id="91" name="Google Shape;91;p7"/>
          <p:cNvSpPr/>
          <p:nvPr/>
        </p:nvSpPr>
        <p:spPr>
          <a:xfrm>
            <a:off x="6839712" y="32004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600"/>
              <a:buFont typeface="Arial"/>
              <a:buNone/>
            </a:pPr>
            <a:r>
              <a:rPr b="1" i="0" lang="en-US" sz="1600" u="none" cap="none" strike="noStrike">
                <a:solidFill>
                  <a:srgbClr val="FF1E1E"/>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92" name="Google Shape;92;p7"/>
          <p:cNvSpPr/>
          <p:nvPr/>
        </p:nvSpPr>
        <p:spPr>
          <a:xfrm>
            <a:off x="7150608" y="3182112"/>
            <a:ext cx="39319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Data collected</a:t>
            </a:r>
            <a:endParaRPr b="0" i="0" sz="1600" u="none" cap="none" strike="noStrike">
              <a:solidFill>
                <a:schemeClr val="dk1"/>
              </a:solidFill>
              <a:latin typeface="Arial"/>
              <a:ea typeface="Arial"/>
              <a:cs typeface="Arial"/>
              <a:sym typeface="Arial"/>
            </a:endParaRPr>
          </a:p>
        </p:txBody>
      </p:sp>
      <p:sp>
        <p:nvSpPr>
          <p:cNvPr id="93" name="Google Shape;93;p7"/>
          <p:cNvSpPr/>
          <p:nvPr/>
        </p:nvSpPr>
        <p:spPr>
          <a:xfrm>
            <a:off x="6839712" y="36576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600"/>
              <a:buFont typeface="Arial"/>
              <a:buNone/>
            </a:pPr>
            <a:r>
              <a:rPr b="1" i="0" lang="en-US" sz="1600" u="none" cap="none" strike="noStrike">
                <a:solidFill>
                  <a:srgbClr val="FF1E1E"/>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94" name="Google Shape;94;p7"/>
          <p:cNvSpPr/>
          <p:nvPr/>
        </p:nvSpPr>
        <p:spPr>
          <a:xfrm>
            <a:off x="7150608" y="3639312"/>
            <a:ext cx="39319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Problems encountered</a:t>
            </a:r>
            <a:endParaRPr b="0" i="0" sz="1600" u="none" cap="none" strike="noStrike">
              <a:solidFill>
                <a:schemeClr val="dk1"/>
              </a:solidFill>
              <a:latin typeface="Arial"/>
              <a:ea typeface="Arial"/>
              <a:cs typeface="Arial"/>
              <a:sym typeface="Arial"/>
            </a:endParaRPr>
          </a:p>
        </p:txBody>
      </p:sp>
      <p:sp>
        <p:nvSpPr>
          <p:cNvPr id="95" name="Google Shape;95;p7"/>
          <p:cNvSpPr/>
          <p:nvPr/>
        </p:nvSpPr>
        <p:spPr>
          <a:xfrm>
            <a:off x="6839712" y="41148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600"/>
              <a:buFont typeface="Arial"/>
              <a:buNone/>
            </a:pPr>
            <a:r>
              <a:rPr b="1" i="0" lang="en-US" sz="1600" u="none" cap="none" strike="noStrike">
                <a:solidFill>
                  <a:srgbClr val="FF1E1E"/>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96" name="Google Shape;96;p7"/>
          <p:cNvSpPr/>
          <p:nvPr/>
        </p:nvSpPr>
        <p:spPr>
          <a:xfrm>
            <a:off x="7150608" y="4096512"/>
            <a:ext cx="39319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Revisions made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1" name="Shape 101"/>
        <p:cNvGrpSpPr/>
        <p:nvPr/>
      </p:nvGrpSpPr>
      <p:grpSpPr>
        <a:xfrm>
          <a:off x="0" y="0"/>
          <a:ext cx="0" cy="0"/>
          <a:chOff x="0" y="0"/>
          <a:chExt cx="0" cy="0"/>
        </a:xfrm>
      </p:grpSpPr>
      <p:sp>
        <p:nvSpPr>
          <p:cNvPr id="102" name="Google Shape;102;p8"/>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8"/>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8"/>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105" name="Google Shape;105;p8"/>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106" name="Google Shape;106;p8"/>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Anatomy of a strong journal entry</a:t>
            </a:r>
            <a:endParaRPr b="0" i="0" sz="2500" u="none" cap="none" strike="noStrike">
              <a:solidFill>
                <a:schemeClr val="dk1"/>
              </a:solidFill>
              <a:latin typeface="Arial"/>
              <a:ea typeface="Arial"/>
              <a:cs typeface="Arial"/>
              <a:sym typeface="Arial"/>
            </a:endParaRPr>
          </a:p>
        </p:txBody>
      </p:sp>
      <p:cxnSp>
        <p:nvCxnSpPr>
          <p:cNvPr id="107" name="Google Shape;107;p8"/>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108" name="Google Shape;108;p8"/>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Every entry should help rebuild the research session.</a:t>
            </a:r>
            <a:endParaRPr b="0" i="0" sz="1250" u="none" cap="none" strike="noStrike">
              <a:solidFill>
                <a:schemeClr val="dk1"/>
              </a:solidFill>
              <a:latin typeface="Arial"/>
              <a:ea typeface="Arial"/>
              <a:cs typeface="Arial"/>
              <a:sym typeface="Arial"/>
            </a:endParaRPr>
          </a:p>
        </p:txBody>
      </p:sp>
      <p:sp>
        <p:nvSpPr>
          <p:cNvPr id="109" name="Google Shape;109;p8"/>
          <p:cNvSpPr/>
          <p:nvPr/>
        </p:nvSpPr>
        <p:spPr>
          <a:xfrm>
            <a:off x="822960" y="1828800"/>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400"/>
              <a:buFont typeface="Arial"/>
              <a:buNone/>
            </a:pPr>
            <a:r>
              <a:rPr b="1" i="0" lang="en-US" sz="2400" u="none" cap="none" strike="noStrike">
                <a:solidFill>
                  <a:srgbClr val="FF1E1E"/>
                </a:solidFill>
                <a:latin typeface="Arial"/>
                <a:ea typeface="Arial"/>
                <a:cs typeface="Arial"/>
                <a:sym typeface="Arial"/>
              </a:rPr>
              <a:t>01</a:t>
            </a:r>
            <a:endParaRPr b="0" i="0" sz="2400" u="none" cap="none" strike="noStrike">
              <a:solidFill>
                <a:schemeClr val="dk1"/>
              </a:solidFill>
              <a:latin typeface="Arial"/>
              <a:ea typeface="Arial"/>
              <a:cs typeface="Arial"/>
              <a:sym typeface="Arial"/>
            </a:endParaRPr>
          </a:p>
        </p:txBody>
      </p:sp>
      <p:sp>
        <p:nvSpPr>
          <p:cNvPr id="110" name="Google Shape;110;p8"/>
          <p:cNvSpPr/>
          <p:nvPr/>
        </p:nvSpPr>
        <p:spPr>
          <a:xfrm>
            <a:off x="1737360" y="1883664"/>
            <a:ext cx="32004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Date</a:t>
            </a:r>
            <a:endParaRPr b="0" i="0" sz="1500" u="none" cap="none" strike="noStrike">
              <a:solidFill>
                <a:schemeClr val="dk1"/>
              </a:solidFill>
              <a:latin typeface="Arial"/>
              <a:ea typeface="Arial"/>
              <a:cs typeface="Arial"/>
              <a:sym typeface="Arial"/>
            </a:endParaRPr>
          </a:p>
        </p:txBody>
      </p:sp>
      <p:sp>
        <p:nvSpPr>
          <p:cNvPr id="111" name="Google Shape;111;p8"/>
          <p:cNvSpPr/>
          <p:nvPr/>
        </p:nvSpPr>
        <p:spPr>
          <a:xfrm>
            <a:off x="822960" y="2578608"/>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400"/>
              <a:buFont typeface="Arial"/>
              <a:buNone/>
            </a:pPr>
            <a:r>
              <a:rPr b="1" i="0" lang="en-US" sz="2400" u="none" cap="none" strike="noStrike">
                <a:solidFill>
                  <a:srgbClr val="FF1E1E"/>
                </a:solidFill>
                <a:latin typeface="Arial"/>
                <a:ea typeface="Arial"/>
                <a:cs typeface="Arial"/>
                <a:sym typeface="Arial"/>
              </a:rPr>
              <a:t>02</a:t>
            </a:r>
            <a:endParaRPr b="0" i="0" sz="2400" u="none" cap="none" strike="noStrike">
              <a:solidFill>
                <a:schemeClr val="dk1"/>
              </a:solidFill>
              <a:latin typeface="Arial"/>
              <a:ea typeface="Arial"/>
              <a:cs typeface="Arial"/>
              <a:sym typeface="Arial"/>
            </a:endParaRPr>
          </a:p>
        </p:txBody>
      </p:sp>
      <p:sp>
        <p:nvSpPr>
          <p:cNvPr id="112" name="Google Shape;112;p8"/>
          <p:cNvSpPr/>
          <p:nvPr/>
        </p:nvSpPr>
        <p:spPr>
          <a:xfrm>
            <a:off x="1737360" y="2633472"/>
            <a:ext cx="32004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Goal</a:t>
            </a:r>
            <a:endParaRPr b="0" i="0" sz="1500" u="none" cap="none" strike="noStrike">
              <a:solidFill>
                <a:schemeClr val="dk1"/>
              </a:solidFill>
              <a:latin typeface="Arial"/>
              <a:ea typeface="Arial"/>
              <a:cs typeface="Arial"/>
              <a:sym typeface="Arial"/>
            </a:endParaRPr>
          </a:p>
        </p:txBody>
      </p:sp>
      <p:sp>
        <p:nvSpPr>
          <p:cNvPr id="113" name="Google Shape;113;p8"/>
          <p:cNvSpPr/>
          <p:nvPr/>
        </p:nvSpPr>
        <p:spPr>
          <a:xfrm>
            <a:off x="822960" y="3328416"/>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400"/>
              <a:buFont typeface="Arial"/>
              <a:buNone/>
            </a:pPr>
            <a:r>
              <a:rPr b="1" i="0" lang="en-US" sz="2400" u="none" cap="none" strike="noStrike">
                <a:solidFill>
                  <a:srgbClr val="FF1E1E"/>
                </a:solidFill>
                <a:latin typeface="Arial"/>
                <a:ea typeface="Arial"/>
                <a:cs typeface="Arial"/>
                <a:sym typeface="Arial"/>
              </a:rPr>
              <a:t>03</a:t>
            </a:r>
            <a:endParaRPr b="0" i="0" sz="2400" u="none" cap="none" strike="noStrike">
              <a:solidFill>
                <a:schemeClr val="dk1"/>
              </a:solidFill>
              <a:latin typeface="Arial"/>
              <a:ea typeface="Arial"/>
              <a:cs typeface="Arial"/>
              <a:sym typeface="Arial"/>
            </a:endParaRPr>
          </a:p>
        </p:txBody>
      </p:sp>
      <p:sp>
        <p:nvSpPr>
          <p:cNvPr id="114" name="Google Shape;114;p8"/>
          <p:cNvSpPr/>
          <p:nvPr/>
        </p:nvSpPr>
        <p:spPr>
          <a:xfrm>
            <a:off x="1737360" y="3383280"/>
            <a:ext cx="32004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What you did</a:t>
            </a:r>
            <a:endParaRPr b="0" i="0" sz="1500" u="none" cap="none" strike="noStrike">
              <a:solidFill>
                <a:schemeClr val="dk1"/>
              </a:solidFill>
              <a:latin typeface="Arial"/>
              <a:ea typeface="Arial"/>
              <a:cs typeface="Arial"/>
              <a:sym typeface="Arial"/>
            </a:endParaRPr>
          </a:p>
        </p:txBody>
      </p:sp>
      <p:sp>
        <p:nvSpPr>
          <p:cNvPr id="115" name="Google Shape;115;p8"/>
          <p:cNvSpPr/>
          <p:nvPr/>
        </p:nvSpPr>
        <p:spPr>
          <a:xfrm>
            <a:off x="822960" y="4078224"/>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400"/>
              <a:buFont typeface="Arial"/>
              <a:buNone/>
            </a:pPr>
            <a:r>
              <a:rPr b="1" i="0" lang="en-US" sz="2400" u="none" cap="none" strike="noStrike">
                <a:solidFill>
                  <a:srgbClr val="FF1E1E"/>
                </a:solidFill>
                <a:latin typeface="Arial"/>
                <a:ea typeface="Arial"/>
                <a:cs typeface="Arial"/>
                <a:sym typeface="Arial"/>
              </a:rPr>
              <a:t>04</a:t>
            </a:r>
            <a:endParaRPr b="0" i="0" sz="2400" u="none" cap="none" strike="noStrike">
              <a:solidFill>
                <a:schemeClr val="dk1"/>
              </a:solidFill>
              <a:latin typeface="Arial"/>
              <a:ea typeface="Arial"/>
              <a:cs typeface="Arial"/>
              <a:sym typeface="Arial"/>
            </a:endParaRPr>
          </a:p>
        </p:txBody>
      </p:sp>
      <p:sp>
        <p:nvSpPr>
          <p:cNvPr id="116" name="Google Shape;116;p8"/>
          <p:cNvSpPr/>
          <p:nvPr/>
        </p:nvSpPr>
        <p:spPr>
          <a:xfrm>
            <a:off x="1737360" y="4133088"/>
            <a:ext cx="32004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Data/observations</a:t>
            </a:r>
            <a:endParaRPr b="0" i="0" sz="1500" u="none" cap="none" strike="noStrike">
              <a:solidFill>
                <a:schemeClr val="dk1"/>
              </a:solidFill>
              <a:latin typeface="Arial"/>
              <a:ea typeface="Arial"/>
              <a:cs typeface="Arial"/>
              <a:sym typeface="Arial"/>
            </a:endParaRPr>
          </a:p>
        </p:txBody>
      </p:sp>
      <p:sp>
        <p:nvSpPr>
          <p:cNvPr id="117" name="Google Shape;117;p8"/>
          <p:cNvSpPr/>
          <p:nvPr/>
        </p:nvSpPr>
        <p:spPr>
          <a:xfrm>
            <a:off x="6400800" y="1828800"/>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400"/>
              <a:buFont typeface="Arial"/>
              <a:buNone/>
            </a:pPr>
            <a:r>
              <a:rPr b="1" i="0" lang="en-US" sz="2400" u="none" cap="none" strike="noStrike">
                <a:solidFill>
                  <a:srgbClr val="FF1E1E"/>
                </a:solidFill>
                <a:latin typeface="Arial"/>
                <a:ea typeface="Arial"/>
                <a:cs typeface="Arial"/>
                <a:sym typeface="Arial"/>
              </a:rPr>
              <a:t>05</a:t>
            </a:r>
            <a:endParaRPr b="0" i="0" sz="2400" u="none" cap="none" strike="noStrike">
              <a:solidFill>
                <a:schemeClr val="dk1"/>
              </a:solidFill>
              <a:latin typeface="Arial"/>
              <a:ea typeface="Arial"/>
              <a:cs typeface="Arial"/>
              <a:sym typeface="Arial"/>
            </a:endParaRPr>
          </a:p>
        </p:txBody>
      </p:sp>
      <p:sp>
        <p:nvSpPr>
          <p:cNvPr id="118" name="Google Shape;118;p8"/>
          <p:cNvSpPr/>
          <p:nvPr/>
        </p:nvSpPr>
        <p:spPr>
          <a:xfrm>
            <a:off x="7315200" y="1883664"/>
            <a:ext cx="32004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Problems</a:t>
            </a:r>
            <a:endParaRPr b="0" i="0" sz="1500" u="none" cap="none" strike="noStrike">
              <a:solidFill>
                <a:schemeClr val="dk1"/>
              </a:solidFill>
              <a:latin typeface="Arial"/>
              <a:ea typeface="Arial"/>
              <a:cs typeface="Arial"/>
              <a:sym typeface="Arial"/>
            </a:endParaRPr>
          </a:p>
        </p:txBody>
      </p:sp>
      <p:sp>
        <p:nvSpPr>
          <p:cNvPr id="119" name="Google Shape;119;p8"/>
          <p:cNvSpPr/>
          <p:nvPr/>
        </p:nvSpPr>
        <p:spPr>
          <a:xfrm>
            <a:off x="6400800" y="2578608"/>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400"/>
              <a:buFont typeface="Arial"/>
              <a:buNone/>
            </a:pPr>
            <a:r>
              <a:rPr b="1" i="0" lang="en-US" sz="2400" u="none" cap="none" strike="noStrike">
                <a:solidFill>
                  <a:srgbClr val="FF1E1E"/>
                </a:solidFill>
                <a:latin typeface="Arial"/>
                <a:ea typeface="Arial"/>
                <a:cs typeface="Arial"/>
                <a:sym typeface="Arial"/>
              </a:rPr>
              <a:t>06</a:t>
            </a:r>
            <a:endParaRPr b="0" i="0" sz="2400" u="none" cap="none" strike="noStrike">
              <a:solidFill>
                <a:schemeClr val="dk1"/>
              </a:solidFill>
              <a:latin typeface="Arial"/>
              <a:ea typeface="Arial"/>
              <a:cs typeface="Arial"/>
              <a:sym typeface="Arial"/>
            </a:endParaRPr>
          </a:p>
        </p:txBody>
      </p:sp>
      <p:sp>
        <p:nvSpPr>
          <p:cNvPr id="120" name="Google Shape;120;p8"/>
          <p:cNvSpPr/>
          <p:nvPr/>
        </p:nvSpPr>
        <p:spPr>
          <a:xfrm>
            <a:off x="7315200" y="2633472"/>
            <a:ext cx="32004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Decisions/changes</a:t>
            </a:r>
            <a:endParaRPr b="0" i="0" sz="1500" u="none" cap="none" strike="noStrike">
              <a:solidFill>
                <a:schemeClr val="dk1"/>
              </a:solidFill>
              <a:latin typeface="Arial"/>
              <a:ea typeface="Arial"/>
              <a:cs typeface="Arial"/>
              <a:sym typeface="Arial"/>
            </a:endParaRPr>
          </a:p>
        </p:txBody>
      </p:sp>
      <p:sp>
        <p:nvSpPr>
          <p:cNvPr id="121" name="Google Shape;121;p8"/>
          <p:cNvSpPr/>
          <p:nvPr/>
        </p:nvSpPr>
        <p:spPr>
          <a:xfrm>
            <a:off x="6400800" y="3328416"/>
            <a:ext cx="82296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400"/>
              <a:buFont typeface="Arial"/>
              <a:buNone/>
            </a:pPr>
            <a:r>
              <a:rPr b="1" i="0" lang="en-US" sz="2400" u="none" cap="none" strike="noStrike">
                <a:solidFill>
                  <a:srgbClr val="FF1E1E"/>
                </a:solidFill>
                <a:latin typeface="Arial"/>
                <a:ea typeface="Arial"/>
                <a:cs typeface="Arial"/>
                <a:sym typeface="Arial"/>
              </a:rPr>
              <a:t>07</a:t>
            </a:r>
            <a:endParaRPr b="0" i="0" sz="2400" u="none" cap="none" strike="noStrike">
              <a:solidFill>
                <a:schemeClr val="dk1"/>
              </a:solidFill>
              <a:latin typeface="Arial"/>
              <a:ea typeface="Arial"/>
              <a:cs typeface="Arial"/>
              <a:sym typeface="Arial"/>
            </a:endParaRPr>
          </a:p>
        </p:txBody>
      </p:sp>
      <p:sp>
        <p:nvSpPr>
          <p:cNvPr id="122" name="Google Shape;122;p8"/>
          <p:cNvSpPr/>
          <p:nvPr/>
        </p:nvSpPr>
        <p:spPr>
          <a:xfrm>
            <a:off x="7315200" y="3383280"/>
            <a:ext cx="32004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Next step</a:t>
            </a:r>
            <a:endParaRPr b="0" i="0" sz="1500" u="none" cap="none" strike="noStrike">
              <a:solidFill>
                <a:schemeClr val="dk1"/>
              </a:solidFill>
              <a:latin typeface="Arial"/>
              <a:ea typeface="Arial"/>
              <a:cs typeface="Arial"/>
              <a:sym typeface="Arial"/>
            </a:endParaRPr>
          </a:p>
        </p:txBody>
      </p:sp>
      <p:sp>
        <p:nvSpPr>
          <p:cNvPr id="123" name="Google Shape;123;p8"/>
          <p:cNvSpPr/>
          <p:nvPr/>
        </p:nvSpPr>
        <p:spPr>
          <a:xfrm>
            <a:off x="822960" y="5074920"/>
            <a:ext cx="10424160" cy="530352"/>
          </a:xfrm>
          <a:prstGeom prst="roundRect">
            <a:avLst>
              <a:gd fmla="val 8621" name="adj"/>
            </a:avLst>
          </a:prstGeom>
          <a:solidFill>
            <a:srgbClr val="000000">
              <a:alpha val="0"/>
            </a:srgbClr>
          </a:solidFill>
          <a:ln cap="flat" cmpd="sng" w="12700">
            <a:solidFill>
              <a:srgbClr val="FF1E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8"/>
          <p:cNvSpPr/>
          <p:nvPr/>
        </p:nvSpPr>
        <p:spPr>
          <a:xfrm>
            <a:off x="1051560" y="5248656"/>
            <a:ext cx="987552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If the entry does not tell the story of the work session, it is not finished.</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9" name="Shape 129"/>
        <p:cNvGrpSpPr/>
        <p:nvPr/>
      </p:nvGrpSpPr>
      <p:grpSpPr>
        <a:xfrm>
          <a:off x="0" y="0"/>
          <a:ext cx="0" cy="0"/>
          <a:chOff x="0" y="0"/>
          <a:chExt cx="0" cy="0"/>
        </a:xfrm>
      </p:grpSpPr>
      <p:sp>
        <p:nvSpPr>
          <p:cNvPr id="130" name="Google Shape;130;p9"/>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9"/>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9"/>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133" name="Google Shape;133;p9"/>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134" name="Google Shape;134;p9"/>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Separate observation from interpretation</a:t>
            </a:r>
            <a:endParaRPr b="0" i="0" sz="2500" u="none" cap="none" strike="noStrike">
              <a:solidFill>
                <a:schemeClr val="dk1"/>
              </a:solidFill>
              <a:latin typeface="Arial"/>
              <a:ea typeface="Arial"/>
              <a:cs typeface="Arial"/>
              <a:sym typeface="Arial"/>
            </a:endParaRPr>
          </a:p>
        </p:txBody>
      </p:sp>
      <p:cxnSp>
        <p:nvCxnSpPr>
          <p:cNvPr id="135" name="Google Shape;135;p9"/>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136" name="Google Shape;136;p9"/>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Both matter. Mixing them too early weakens your evidence.</a:t>
            </a:r>
            <a:endParaRPr b="0" i="0" sz="1250" u="none" cap="none" strike="noStrike">
              <a:solidFill>
                <a:schemeClr val="dk1"/>
              </a:solidFill>
              <a:latin typeface="Arial"/>
              <a:ea typeface="Arial"/>
              <a:cs typeface="Arial"/>
              <a:sym typeface="Arial"/>
            </a:endParaRPr>
          </a:p>
        </p:txBody>
      </p:sp>
      <p:sp>
        <p:nvSpPr>
          <p:cNvPr id="137" name="Google Shape;137;p9"/>
          <p:cNvSpPr/>
          <p:nvPr/>
        </p:nvSpPr>
        <p:spPr>
          <a:xfrm>
            <a:off x="822960" y="1874520"/>
            <a:ext cx="4846320" cy="3383280"/>
          </a:xfrm>
          <a:prstGeom prst="roundRect">
            <a:avLst>
              <a:gd fmla="val 1351"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9"/>
          <p:cNvSpPr/>
          <p:nvPr/>
        </p:nvSpPr>
        <p:spPr>
          <a:xfrm>
            <a:off x="6492240" y="1874520"/>
            <a:ext cx="4846320" cy="3383280"/>
          </a:xfrm>
          <a:prstGeom prst="roundRect">
            <a:avLst>
              <a:gd fmla="val 1351"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9"/>
          <p:cNvSpPr/>
          <p:nvPr/>
        </p:nvSpPr>
        <p:spPr>
          <a:xfrm>
            <a:off x="1143000" y="2148840"/>
            <a:ext cx="40233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OBSERVATION</a:t>
            </a:r>
            <a:endParaRPr b="0" i="0" sz="2100" u="none" cap="none" strike="noStrike">
              <a:solidFill>
                <a:schemeClr val="dk1"/>
              </a:solidFill>
              <a:latin typeface="Arial"/>
              <a:ea typeface="Arial"/>
              <a:cs typeface="Arial"/>
              <a:sym typeface="Arial"/>
            </a:endParaRPr>
          </a:p>
        </p:txBody>
      </p:sp>
      <p:sp>
        <p:nvSpPr>
          <p:cNvPr id="140" name="Google Shape;140;p9"/>
          <p:cNvSpPr/>
          <p:nvPr/>
        </p:nvSpPr>
        <p:spPr>
          <a:xfrm>
            <a:off x="6812280" y="2148840"/>
            <a:ext cx="40233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INTERPRETATION</a:t>
            </a:r>
            <a:endParaRPr b="0" i="0" sz="2100" u="none" cap="none" strike="noStrike">
              <a:solidFill>
                <a:schemeClr val="dk1"/>
              </a:solidFill>
              <a:latin typeface="Arial"/>
              <a:ea typeface="Arial"/>
              <a:cs typeface="Arial"/>
              <a:sym typeface="Arial"/>
            </a:endParaRPr>
          </a:p>
        </p:txBody>
      </p:sp>
      <p:sp>
        <p:nvSpPr>
          <p:cNvPr id="141" name="Google Shape;141;p9"/>
          <p:cNvSpPr/>
          <p:nvPr/>
        </p:nvSpPr>
        <p:spPr>
          <a:xfrm>
            <a:off x="1170432" y="2788920"/>
            <a:ext cx="4160520" cy="50292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A6A6A6"/>
              </a:buClr>
              <a:buSzPts val="1700"/>
              <a:buFont typeface="Arial"/>
              <a:buNone/>
            </a:pPr>
            <a:r>
              <a:rPr b="0" i="0" lang="en-US" sz="1700" u="none" cap="none" strike="noStrike">
                <a:solidFill>
                  <a:srgbClr val="A6A6A6"/>
                </a:solidFill>
                <a:latin typeface="Arial"/>
                <a:ea typeface="Arial"/>
                <a:cs typeface="Arial"/>
                <a:sym typeface="Arial"/>
              </a:rPr>
              <a:t>What you directly saw, measured, recorded, or heard.</a:t>
            </a:r>
            <a:endParaRPr b="0" i="0" sz="1700" u="none" cap="none" strike="noStrike">
              <a:solidFill>
                <a:schemeClr val="dk1"/>
              </a:solidFill>
              <a:latin typeface="Arial"/>
              <a:ea typeface="Arial"/>
              <a:cs typeface="Arial"/>
              <a:sym typeface="Arial"/>
            </a:endParaRPr>
          </a:p>
        </p:txBody>
      </p:sp>
      <p:sp>
        <p:nvSpPr>
          <p:cNvPr id="142" name="Google Shape;142;p9"/>
          <p:cNvSpPr/>
          <p:nvPr/>
        </p:nvSpPr>
        <p:spPr>
          <a:xfrm>
            <a:off x="6839712" y="2788920"/>
            <a:ext cx="4160520" cy="50292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A6A6A6"/>
              </a:buClr>
              <a:buSzPts val="1700"/>
              <a:buFont typeface="Arial"/>
              <a:buNone/>
            </a:pPr>
            <a:r>
              <a:rPr b="0" i="0" lang="en-US" sz="1700" u="none" cap="none" strike="noStrike">
                <a:solidFill>
                  <a:srgbClr val="A6A6A6"/>
                </a:solidFill>
                <a:latin typeface="Arial"/>
                <a:ea typeface="Arial"/>
                <a:cs typeface="Arial"/>
                <a:sym typeface="Arial"/>
              </a:rPr>
              <a:t>What you think the observation may mean.</a:t>
            </a:r>
            <a:endParaRPr b="0" i="0" sz="1700" u="none" cap="none" strike="noStrike">
              <a:solidFill>
                <a:schemeClr val="dk1"/>
              </a:solidFill>
              <a:latin typeface="Arial"/>
              <a:ea typeface="Arial"/>
              <a:cs typeface="Arial"/>
              <a:sym typeface="Arial"/>
            </a:endParaRPr>
          </a:p>
        </p:txBody>
      </p:sp>
      <p:sp>
        <p:nvSpPr>
          <p:cNvPr id="143" name="Google Shape;143;p9"/>
          <p:cNvSpPr/>
          <p:nvPr/>
        </p:nvSpPr>
        <p:spPr>
          <a:xfrm>
            <a:off x="1143000" y="3886200"/>
            <a:ext cx="4206240" cy="41148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FFFFFF"/>
              </a:buClr>
              <a:buSzPts val="1500"/>
              <a:buFont typeface="Arial"/>
              <a:buNone/>
            </a:pPr>
            <a:r>
              <a:rPr b="0" i="1" lang="en-US" sz="1500" u="none" cap="none" strike="noStrike">
                <a:solidFill>
                  <a:srgbClr val="FFFFFF"/>
                </a:solidFill>
                <a:latin typeface="Arial"/>
                <a:ea typeface="Arial"/>
                <a:cs typeface="Arial"/>
                <a:sym typeface="Arial"/>
              </a:rPr>
              <a:t>“The sensor reading dropped from 3.1 V to 1.4 V.”</a:t>
            </a:r>
            <a:endParaRPr b="0" i="0" sz="1500" u="none" cap="none" strike="noStrike">
              <a:solidFill>
                <a:schemeClr val="dk1"/>
              </a:solidFill>
              <a:latin typeface="Arial"/>
              <a:ea typeface="Arial"/>
              <a:cs typeface="Arial"/>
              <a:sym typeface="Arial"/>
            </a:endParaRPr>
          </a:p>
        </p:txBody>
      </p:sp>
      <p:sp>
        <p:nvSpPr>
          <p:cNvPr id="144" name="Google Shape;144;p9"/>
          <p:cNvSpPr/>
          <p:nvPr/>
        </p:nvSpPr>
        <p:spPr>
          <a:xfrm>
            <a:off x="6812280" y="3886200"/>
            <a:ext cx="4206240" cy="41148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FFFFFF"/>
              </a:buClr>
              <a:buSzPts val="1500"/>
              <a:buFont typeface="Arial"/>
              <a:buNone/>
            </a:pPr>
            <a:r>
              <a:rPr b="0" i="1" lang="en-US" sz="1500" u="none" cap="none" strike="noStrike">
                <a:solidFill>
                  <a:srgbClr val="FFFFFF"/>
                </a:solidFill>
                <a:latin typeface="Arial"/>
                <a:ea typeface="Arial"/>
                <a:cs typeface="Arial"/>
                <a:sym typeface="Arial"/>
              </a:rPr>
              <a:t>“The loose wire may have interrupted the signal.”</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9" name="Shape 149"/>
        <p:cNvGrpSpPr/>
        <p:nvPr/>
      </p:nvGrpSpPr>
      <p:grpSpPr>
        <a:xfrm>
          <a:off x="0" y="0"/>
          <a:ext cx="0" cy="0"/>
          <a:chOff x="0" y="0"/>
          <a:chExt cx="0" cy="0"/>
        </a:xfrm>
      </p:grpSpPr>
      <p:sp>
        <p:nvSpPr>
          <p:cNvPr id="150" name="Google Shape;150;p10"/>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0"/>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0"/>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153" name="Google Shape;153;p10"/>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154" name="Google Shape;154;p10"/>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Your journal must point to the evidence</a:t>
            </a:r>
            <a:endParaRPr b="0" i="0" sz="2500" u="none" cap="none" strike="noStrike">
              <a:solidFill>
                <a:schemeClr val="dk1"/>
              </a:solidFill>
              <a:latin typeface="Arial"/>
              <a:ea typeface="Arial"/>
              <a:cs typeface="Arial"/>
              <a:sym typeface="Arial"/>
            </a:endParaRPr>
          </a:p>
        </p:txBody>
      </p:sp>
      <p:cxnSp>
        <p:nvCxnSpPr>
          <p:cNvPr id="155" name="Google Shape;155;p10"/>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156" name="Google Shape;156;p10"/>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Data without context becomes a mystery.</a:t>
            </a:r>
            <a:endParaRPr b="0" i="0" sz="1250" u="none" cap="none" strike="noStrike">
              <a:solidFill>
                <a:schemeClr val="dk1"/>
              </a:solidFill>
              <a:latin typeface="Arial"/>
              <a:ea typeface="Arial"/>
              <a:cs typeface="Arial"/>
              <a:sym typeface="Arial"/>
            </a:endParaRPr>
          </a:p>
        </p:txBody>
      </p:sp>
      <p:sp>
        <p:nvSpPr>
          <p:cNvPr id="157" name="Google Shape;157;p10"/>
          <p:cNvSpPr/>
          <p:nvPr/>
        </p:nvSpPr>
        <p:spPr>
          <a:xfrm>
            <a:off x="822960" y="1828800"/>
            <a:ext cx="22860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Journal Entry</a:t>
            </a:r>
            <a:endParaRPr b="0" i="0" sz="1800" u="none" cap="none" strike="noStrike">
              <a:solidFill>
                <a:schemeClr val="dk1"/>
              </a:solidFill>
              <a:latin typeface="Arial"/>
              <a:ea typeface="Arial"/>
              <a:cs typeface="Arial"/>
              <a:sym typeface="Arial"/>
            </a:endParaRPr>
          </a:p>
        </p:txBody>
      </p:sp>
      <p:sp>
        <p:nvSpPr>
          <p:cNvPr id="158" name="Google Shape;158;p10"/>
          <p:cNvSpPr/>
          <p:nvPr/>
        </p:nvSpPr>
        <p:spPr>
          <a:xfrm>
            <a:off x="4846320" y="1828800"/>
            <a:ext cx="19202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Raw Data</a:t>
            </a:r>
            <a:endParaRPr b="0" i="0" sz="1800" u="none" cap="none" strike="noStrike">
              <a:solidFill>
                <a:schemeClr val="dk1"/>
              </a:solidFill>
              <a:latin typeface="Arial"/>
              <a:ea typeface="Arial"/>
              <a:cs typeface="Arial"/>
              <a:sym typeface="Arial"/>
            </a:endParaRPr>
          </a:p>
        </p:txBody>
      </p:sp>
      <p:sp>
        <p:nvSpPr>
          <p:cNvPr id="159" name="Google Shape;159;p10"/>
          <p:cNvSpPr/>
          <p:nvPr/>
        </p:nvSpPr>
        <p:spPr>
          <a:xfrm>
            <a:off x="8321040" y="1828800"/>
            <a:ext cx="2743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File / Photo / Output</a:t>
            </a:r>
            <a:endParaRPr b="0" i="0" sz="1800" u="none" cap="none" strike="noStrike">
              <a:solidFill>
                <a:schemeClr val="dk1"/>
              </a:solidFill>
              <a:latin typeface="Arial"/>
              <a:ea typeface="Arial"/>
              <a:cs typeface="Arial"/>
              <a:sym typeface="Arial"/>
            </a:endParaRPr>
          </a:p>
        </p:txBody>
      </p:sp>
      <p:sp>
        <p:nvSpPr>
          <p:cNvPr id="160" name="Google Shape;160;p10"/>
          <p:cNvSpPr/>
          <p:nvPr/>
        </p:nvSpPr>
        <p:spPr>
          <a:xfrm>
            <a:off x="822960" y="2423160"/>
            <a:ext cx="2468880" cy="1234440"/>
          </a:xfrm>
          <a:prstGeom prst="roundRect">
            <a:avLst>
              <a:gd fmla="val 3704"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0"/>
          <p:cNvSpPr/>
          <p:nvPr/>
        </p:nvSpPr>
        <p:spPr>
          <a:xfrm>
            <a:off x="987552" y="2788920"/>
            <a:ext cx="21488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Date + trial number</a:t>
            </a:r>
            <a:endParaRPr b="0" i="0" sz="1500" u="none" cap="none" strike="noStrike">
              <a:solidFill>
                <a:schemeClr val="dk1"/>
              </a:solidFill>
              <a:latin typeface="Arial"/>
              <a:ea typeface="Arial"/>
              <a:cs typeface="Arial"/>
              <a:sym typeface="Arial"/>
            </a:endParaRPr>
          </a:p>
        </p:txBody>
      </p:sp>
      <p:sp>
        <p:nvSpPr>
          <p:cNvPr id="162" name="Google Shape;162;p10"/>
          <p:cNvSpPr/>
          <p:nvPr/>
        </p:nvSpPr>
        <p:spPr>
          <a:xfrm>
            <a:off x="4754880" y="2423160"/>
            <a:ext cx="2468880" cy="1234440"/>
          </a:xfrm>
          <a:prstGeom prst="roundRect">
            <a:avLst>
              <a:gd fmla="val 3704"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0"/>
          <p:cNvSpPr/>
          <p:nvPr/>
        </p:nvSpPr>
        <p:spPr>
          <a:xfrm>
            <a:off x="4919472" y="2788920"/>
            <a:ext cx="21488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Measurements + units</a:t>
            </a:r>
            <a:endParaRPr b="0" i="0" sz="1500" u="none" cap="none" strike="noStrike">
              <a:solidFill>
                <a:schemeClr val="dk1"/>
              </a:solidFill>
              <a:latin typeface="Arial"/>
              <a:ea typeface="Arial"/>
              <a:cs typeface="Arial"/>
              <a:sym typeface="Arial"/>
            </a:endParaRPr>
          </a:p>
        </p:txBody>
      </p:sp>
      <p:sp>
        <p:nvSpPr>
          <p:cNvPr id="164" name="Google Shape;164;p10"/>
          <p:cNvSpPr/>
          <p:nvPr/>
        </p:nvSpPr>
        <p:spPr>
          <a:xfrm>
            <a:off x="8412480" y="2423160"/>
            <a:ext cx="2468880" cy="1234440"/>
          </a:xfrm>
          <a:prstGeom prst="roundRect">
            <a:avLst>
              <a:gd fmla="val 3704"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0"/>
          <p:cNvSpPr/>
          <p:nvPr/>
        </p:nvSpPr>
        <p:spPr>
          <a:xfrm>
            <a:off x="8577072" y="2788920"/>
            <a:ext cx="21488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File name + location</a:t>
            </a:r>
            <a:endParaRPr b="0" i="0" sz="1500" u="none" cap="none" strike="noStrike">
              <a:solidFill>
                <a:schemeClr val="dk1"/>
              </a:solidFill>
              <a:latin typeface="Arial"/>
              <a:ea typeface="Arial"/>
              <a:cs typeface="Arial"/>
              <a:sym typeface="Arial"/>
            </a:endParaRPr>
          </a:p>
        </p:txBody>
      </p:sp>
      <p:cxnSp>
        <p:nvCxnSpPr>
          <p:cNvPr id="166" name="Google Shape;166;p10"/>
          <p:cNvCxnSpPr/>
          <p:nvPr/>
        </p:nvCxnSpPr>
        <p:spPr>
          <a:xfrm>
            <a:off x="3474720" y="3035808"/>
            <a:ext cx="1051560" cy="0"/>
          </a:xfrm>
          <a:prstGeom prst="straightConnector1">
            <a:avLst/>
          </a:prstGeom>
          <a:noFill/>
          <a:ln cap="flat" cmpd="sng" w="25400">
            <a:solidFill>
              <a:srgbClr val="FF1E1E"/>
            </a:solidFill>
            <a:prstDash val="solid"/>
            <a:round/>
            <a:headEnd len="sm" w="sm" type="none"/>
            <a:tailEnd len="med" w="med" type="triangle"/>
          </a:ln>
        </p:spPr>
      </p:cxnSp>
      <p:cxnSp>
        <p:nvCxnSpPr>
          <p:cNvPr id="167" name="Google Shape;167;p10"/>
          <p:cNvCxnSpPr/>
          <p:nvPr/>
        </p:nvCxnSpPr>
        <p:spPr>
          <a:xfrm>
            <a:off x="7132320" y="3035808"/>
            <a:ext cx="1051560" cy="0"/>
          </a:xfrm>
          <a:prstGeom prst="straightConnector1">
            <a:avLst/>
          </a:prstGeom>
          <a:noFill/>
          <a:ln cap="flat" cmpd="sng" w="25400">
            <a:solidFill>
              <a:srgbClr val="FF1E1E"/>
            </a:solidFill>
            <a:prstDash val="solid"/>
            <a:round/>
            <a:headEnd len="sm" w="sm" type="none"/>
            <a:tailEnd len="med" w="med" type="triangle"/>
          </a:ln>
        </p:spPr>
      </p:cxnSp>
      <p:sp>
        <p:nvSpPr>
          <p:cNvPr id="168" name="Google Shape;168;p10"/>
          <p:cNvSpPr/>
          <p:nvPr/>
        </p:nvSpPr>
        <p:spPr>
          <a:xfrm>
            <a:off x="1051560" y="4892040"/>
            <a:ext cx="1005840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A good journal entry tells the reader where the evidence lives.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3" name="Shape 173"/>
        <p:cNvGrpSpPr/>
        <p:nvPr/>
      </p:nvGrpSpPr>
      <p:grpSpPr>
        <a:xfrm>
          <a:off x="0" y="0"/>
          <a:ext cx="0" cy="0"/>
          <a:chOff x="0" y="0"/>
          <a:chExt cx="0" cy="0"/>
        </a:xfrm>
      </p:grpSpPr>
      <p:sp>
        <p:nvSpPr>
          <p:cNvPr id="174" name="Google Shape;174;p11"/>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1"/>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1"/>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177" name="Google Shape;177;p11"/>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178" name="Google Shape;178;p11"/>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Record failed trials honestly</a:t>
            </a:r>
            <a:endParaRPr b="0" i="0" sz="2500" u="none" cap="none" strike="noStrike">
              <a:solidFill>
                <a:schemeClr val="dk1"/>
              </a:solidFill>
              <a:latin typeface="Arial"/>
              <a:ea typeface="Arial"/>
              <a:cs typeface="Arial"/>
              <a:sym typeface="Arial"/>
            </a:endParaRPr>
          </a:p>
        </p:txBody>
      </p:sp>
      <p:cxnSp>
        <p:nvCxnSpPr>
          <p:cNvPr id="179" name="Google Shape;179;p11"/>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180" name="Google Shape;180;p11"/>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Failure is often the most useful data you collect.</a:t>
            </a:r>
            <a:endParaRPr b="0" i="0" sz="1250" u="none" cap="none" strike="noStrike">
              <a:solidFill>
                <a:schemeClr val="dk1"/>
              </a:solidFill>
              <a:latin typeface="Arial"/>
              <a:ea typeface="Arial"/>
              <a:cs typeface="Arial"/>
              <a:sym typeface="Arial"/>
            </a:endParaRPr>
          </a:p>
        </p:txBody>
      </p:sp>
      <p:sp>
        <p:nvSpPr>
          <p:cNvPr id="181" name="Google Shape;181;p11"/>
          <p:cNvSpPr/>
          <p:nvPr/>
        </p:nvSpPr>
        <p:spPr>
          <a:xfrm>
            <a:off x="777240" y="192024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182" name="Google Shape;182;p11"/>
          <p:cNvSpPr/>
          <p:nvPr/>
        </p:nvSpPr>
        <p:spPr>
          <a:xfrm>
            <a:off x="1088136" y="1901952"/>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Do not erase failed attempts from the story.</a:t>
            </a:r>
            <a:endParaRPr b="0" i="0" sz="2000" u="none" cap="none" strike="noStrike">
              <a:solidFill>
                <a:schemeClr val="dk1"/>
              </a:solidFill>
              <a:latin typeface="Arial"/>
              <a:ea typeface="Arial"/>
              <a:cs typeface="Arial"/>
              <a:sym typeface="Arial"/>
            </a:endParaRPr>
          </a:p>
        </p:txBody>
      </p:sp>
      <p:sp>
        <p:nvSpPr>
          <p:cNvPr id="183" name="Google Shape;183;p11"/>
          <p:cNvSpPr/>
          <p:nvPr/>
        </p:nvSpPr>
        <p:spPr>
          <a:xfrm>
            <a:off x="777240" y="256032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184" name="Google Shape;184;p11"/>
          <p:cNvSpPr/>
          <p:nvPr/>
        </p:nvSpPr>
        <p:spPr>
          <a:xfrm>
            <a:off x="1088136" y="2542032"/>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Flag questionable data instead of hiding it.</a:t>
            </a:r>
            <a:endParaRPr b="0" i="0" sz="2000" u="none" cap="none" strike="noStrike">
              <a:solidFill>
                <a:schemeClr val="dk1"/>
              </a:solidFill>
              <a:latin typeface="Arial"/>
              <a:ea typeface="Arial"/>
              <a:cs typeface="Arial"/>
              <a:sym typeface="Arial"/>
            </a:endParaRPr>
          </a:p>
        </p:txBody>
      </p:sp>
      <p:sp>
        <p:nvSpPr>
          <p:cNvPr id="185" name="Google Shape;185;p11"/>
          <p:cNvSpPr/>
          <p:nvPr/>
        </p:nvSpPr>
        <p:spPr>
          <a:xfrm>
            <a:off x="777240" y="32004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186" name="Google Shape;186;p11"/>
          <p:cNvSpPr/>
          <p:nvPr/>
        </p:nvSpPr>
        <p:spPr>
          <a:xfrm>
            <a:off x="1088136" y="3182112"/>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Explain what happened and what changed afterward.</a:t>
            </a:r>
            <a:endParaRPr b="0" i="0" sz="2000" u="none" cap="none" strike="noStrike">
              <a:solidFill>
                <a:schemeClr val="dk1"/>
              </a:solidFill>
              <a:latin typeface="Arial"/>
              <a:ea typeface="Arial"/>
              <a:cs typeface="Arial"/>
              <a:sym typeface="Arial"/>
            </a:endParaRPr>
          </a:p>
        </p:txBody>
      </p:sp>
      <p:sp>
        <p:nvSpPr>
          <p:cNvPr id="187" name="Google Shape;187;p11"/>
          <p:cNvSpPr/>
          <p:nvPr/>
        </p:nvSpPr>
        <p:spPr>
          <a:xfrm>
            <a:off x="777240" y="384048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188" name="Google Shape;188;p11"/>
          <p:cNvSpPr/>
          <p:nvPr/>
        </p:nvSpPr>
        <p:spPr>
          <a:xfrm>
            <a:off x="1088136" y="3822192"/>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A failed pilot test can prevent a weak final project.</a:t>
            </a:r>
            <a:endParaRPr b="0" i="0" sz="2000" u="none" cap="none" strike="noStrike">
              <a:solidFill>
                <a:schemeClr val="dk1"/>
              </a:solidFill>
              <a:latin typeface="Arial"/>
              <a:ea typeface="Arial"/>
              <a:cs typeface="Arial"/>
              <a:sym typeface="Arial"/>
            </a:endParaRPr>
          </a:p>
        </p:txBody>
      </p:sp>
      <p:sp>
        <p:nvSpPr>
          <p:cNvPr id="189" name="Google Shape;189;p11"/>
          <p:cNvSpPr/>
          <p:nvPr/>
        </p:nvSpPr>
        <p:spPr>
          <a:xfrm>
            <a:off x="777240" y="5074920"/>
            <a:ext cx="10378440" cy="502920"/>
          </a:xfrm>
          <a:prstGeom prst="roundRect">
            <a:avLst>
              <a:gd fmla="val 9091" name="adj"/>
            </a:avLst>
          </a:prstGeom>
          <a:solidFill>
            <a:srgbClr val="000000">
              <a:alpha val="0"/>
            </a:srgbClr>
          </a:solidFill>
          <a:ln cap="flat" cmpd="sng" w="12700">
            <a:solidFill>
              <a:srgbClr val="FF1E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1"/>
          <p:cNvSpPr/>
          <p:nvPr/>
        </p:nvSpPr>
        <p:spPr>
          <a:xfrm>
            <a:off x="1051560" y="5248656"/>
            <a:ext cx="978408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A strong researcher documents reality, not the version that looks cleaner.</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5" name="Shape 195"/>
        <p:cNvGrpSpPr/>
        <p:nvPr/>
      </p:nvGrpSpPr>
      <p:grpSpPr>
        <a:xfrm>
          <a:off x="0" y="0"/>
          <a:ext cx="0" cy="0"/>
          <a:chOff x="0" y="0"/>
          <a:chExt cx="0" cy="0"/>
        </a:xfrm>
      </p:grpSpPr>
      <p:sp>
        <p:nvSpPr>
          <p:cNvPr id="196" name="Google Shape;196;p12"/>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2"/>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2"/>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199" name="Google Shape;199;p12"/>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200" name="Google Shape;200;p12"/>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If the method changes, the journal explains why</a:t>
            </a:r>
            <a:endParaRPr b="0" i="0" sz="2500" u="none" cap="none" strike="noStrike">
              <a:solidFill>
                <a:schemeClr val="dk1"/>
              </a:solidFill>
              <a:latin typeface="Arial"/>
              <a:ea typeface="Arial"/>
              <a:cs typeface="Arial"/>
              <a:sym typeface="Arial"/>
            </a:endParaRPr>
          </a:p>
        </p:txBody>
      </p:sp>
      <p:cxnSp>
        <p:nvCxnSpPr>
          <p:cNvPr id="201" name="Google Shape;201;p12"/>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202" name="Google Shape;202;p12"/>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A changed procedure without explanation creates weak evidence.</a:t>
            </a:r>
            <a:endParaRPr b="0" i="0" sz="1250" u="none" cap="none" strike="noStrike">
              <a:solidFill>
                <a:schemeClr val="dk1"/>
              </a:solidFill>
              <a:latin typeface="Arial"/>
              <a:ea typeface="Arial"/>
              <a:cs typeface="Arial"/>
              <a:sym typeface="Arial"/>
            </a:endParaRPr>
          </a:p>
        </p:txBody>
      </p:sp>
      <p:sp>
        <p:nvSpPr>
          <p:cNvPr id="203" name="Google Shape;203;p12"/>
          <p:cNvSpPr/>
          <p:nvPr/>
        </p:nvSpPr>
        <p:spPr>
          <a:xfrm>
            <a:off x="822960" y="1920240"/>
            <a:ext cx="256032"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300"/>
              <a:buFont typeface="Arial"/>
              <a:buNone/>
            </a:pPr>
            <a:r>
              <a:rPr b="1" i="0" lang="en-US" sz="1300" u="none" cap="none" strike="noStrike">
                <a:solidFill>
                  <a:srgbClr val="FF1E1E"/>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204" name="Google Shape;204;p12"/>
          <p:cNvSpPr/>
          <p:nvPr/>
        </p:nvSpPr>
        <p:spPr>
          <a:xfrm>
            <a:off x="1207008" y="1874520"/>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What changed?</a:t>
            </a:r>
            <a:endParaRPr b="0" i="0" sz="1800" u="none" cap="none" strike="noStrike">
              <a:solidFill>
                <a:schemeClr val="dk1"/>
              </a:solidFill>
              <a:latin typeface="Arial"/>
              <a:ea typeface="Arial"/>
              <a:cs typeface="Arial"/>
              <a:sym typeface="Arial"/>
            </a:endParaRPr>
          </a:p>
        </p:txBody>
      </p:sp>
      <p:sp>
        <p:nvSpPr>
          <p:cNvPr id="205" name="Google Shape;205;p12"/>
          <p:cNvSpPr/>
          <p:nvPr/>
        </p:nvSpPr>
        <p:spPr>
          <a:xfrm>
            <a:off x="5806440" y="1892808"/>
            <a:ext cx="5029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450"/>
              <a:buFont typeface="Arial"/>
              <a:buNone/>
            </a:pPr>
            <a:r>
              <a:rPr b="0" i="0" lang="en-US" sz="1450" u="none" cap="none" strike="noStrike">
                <a:solidFill>
                  <a:srgbClr val="A6A6A6"/>
                </a:solidFill>
                <a:latin typeface="Arial"/>
                <a:ea typeface="Arial"/>
                <a:cs typeface="Arial"/>
                <a:sym typeface="Arial"/>
              </a:rPr>
              <a:t>Ex: sensor distance changed from 5 cm to 10 cm</a:t>
            </a:r>
            <a:endParaRPr b="0" i="0" sz="1450" u="none" cap="none" strike="noStrike">
              <a:solidFill>
                <a:schemeClr val="dk1"/>
              </a:solidFill>
              <a:latin typeface="Arial"/>
              <a:ea typeface="Arial"/>
              <a:cs typeface="Arial"/>
              <a:sym typeface="Arial"/>
            </a:endParaRPr>
          </a:p>
        </p:txBody>
      </p:sp>
      <p:sp>
        <p:nvSpPr>
          <p:cNvPr id="206" name="Google Shape;206;p12"/>
          <p:cNvSpPr/>
          <p:nvPr/>
        </p:nvSpPr>
        <p:spPr>
          <a:xfrm>
            <a:off x="822960" y="2578608"/>
            <a:ext cx="256032"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300"/>
              <a:buFont typeface="Arial"/>
              <a:buNone/>
            </a:pPr>
            <a:r>
              <a:rPr b="1" i="0" lang="en-US" sz="1300" u="none" cap="none" strike="noStrike">
                <a:solidFill>
                  <a:srgbClr val="FF1E1E"/>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207" name="Google Shape;207;p12"/>
          <p:cNvSpPr/>
          <p:nvPr/>
        </p:nvSpPr>
        <p:spPr>
          <a:xfrm>
            <a:off x="1207008" y="2532888"/>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Why did it change?</a:t>
            </a:r>
            <a:endParaRPr b="0" i="0" sz="1800" u="none" cap="none" strike="noStrike">
              <a:solidFill>
                <a:schemeClr val="dk1"/>
              </a:solidFill>
              <a:latin typeface="Arial"/>
              <a:ea typeface="Arial"/>
              <a:cs typeface="Arial"/>
              <a:sym typeface="Arial"/>
            </a:endParaRPr>
          </a:p>
        </p:txBody>
      </p:sp>
      <p:sp>
        <p:nvSpPr>
          <p:cNvPr id="208" name="Google Shape;208;p12"/>
          <p:cNvSpPr/>
          <p:nvPr/>
        </p:nvSpPr>
        <p:spPr>
          <a:xfrm>
            <a:off x="5806440" y="2551176"/>
            <a:ext cx="5029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450"/>
              <a:buFont typeface="Arial"/>
              <a:buNone/>
            </a:pPr>
            <a:r>
              <a:rPr b="0" i="0" lang="en-US" sz="1450" u="none" cap="none" strike="noStrike">
                <a:solidFill>
                  <a:srgbClr val="A6A6A6"/>
                </a:solidFill>
                <a:latin typeface="Arial"/>
                <a:ea typeface="Arial"/>
                <a:cs typeface="Arial"/>
                <a:sym typeface="Arial"/>
              </a:rPr>
              <a:t>Ex: 5 cm readings saturated the sensor</a:t>
            </a:r>
            <a:endParaRPr b="0" i="0" sz="1450" u="none" cap="none" strike="noStrike">
              <a:solidFill>
                <a:schemeClr val="dk1"/>
              </a:solidFill>
              <a:latin typeface="Arial"/>
              <a:ea typeface="Arial"/>
              <a:cs typeface="Arial"/>
              <a:sym typeface="Arial"/>
            </a:endParaRPr>
          </a:p>
        </p:txBody>
      </p:sp>
      <p:sp>
        <p:nvSpPr>
          <p:cNvPr id="209" name="Google Shape;209;p12"/>
          <p:cNvSpPr/>
          <p:nvPr/>
        </p:nvSpPr>
        <p:spPr>
          <a:xfrm>
            <a:off x="822960" y="3236976"/>
            <a:ext cx="256032"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300"/>
              <a:buFont typeface="Arial"/>
              <a:buNone/>
            </a:pPr>
            <a:r>
              <a:rPr b="1" i="0" lang="en-US" sz="1300" u="none" cap="none" strike="noStrike">
                <a:solidFill>
                  <a:srgbClr val="FF1E1E"/>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210" name="Google Shape;210;p12"/>
          <p:cNvSpPr/>
          <p:nvPr/>
        </p:nvSpPr>
        <p:spPr>
          <a:xfrm>
            <a:off x="1207008" y="3191256"/>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Who approved it?</a:t>
            </a:r>
            <a:endParaRPr b="0" i="0" sz="1800" u="none" cap="none" strike="noStrike">
              <a:solidFill>
                <a:schemeClr val="dk1"/>
              </a:solidFill>
              <a:latin typeface="Arial"/>
              <a:ea typeface="Arial"/>
              <a:cs typeface="Arial"/>
              <a:sym typeface="Arial"/>
            </a:endParaRPr>
          </a:p>
        </p:txBody>
      </p:sp>
      <p:sp>
        <p:nvSpPr>
          <p:cNvPr id="211" name="Google Shape;211;p12"/>
          <p:cNvSpPr/>
          <p:nvPr/>
        </p:nvSpPr>
        <p:spPr>
          <a:xfrm>
            <a:off x="5806440" y="3209544"/>
            <a:ext cx="5029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450"/>
              <a:buFont typeface="Arial"/>
              <a:buNone/>
            </a:pPr>
            <a:r>
              <a:rPr b="0" i="0" lang="en-US" sz="1450" u="none" cap="none" strike="noStrike">
                <a:solidFill>
                  <a:srgbClr val="A6A6A6"/>
                </a:solidFill>
                <a:latin typeface="Arial"/>
                <a:ea typeface="Arial"/>
                <a:cs typeface="Arial"/>
                <a:sym typeface="Arial"/>
              </a:rPr>
              <a:t>Ex: teacher approved after pilot test</a:t>
            </a:r>
            <a:endParaRPr b="0" i="0" sz="1450" u="none" cap="none" strike="noStrike">
              <a:solidFill>
                <a:schemeClr val="dk1"/>
              </a:solidFill>
              <a:latin typeface="Arial"/>
              <a:ea typeface="Arial"/>
              <a:cs typeface="Arial"/>
              <a:sym typeface="Arial"/>
            </a:endParaRPr>
          </a:p>
        </p:txBody>
      </p:sp>
      <p:sp>
        <p:nvSpPr>
          <p:cNvPr id="212" name="Google Shape;212;p12"/>
          <p:cNvSpPr/>
          <p:nvPr/>
        </p:nvSpPr>
        <p:spPr>
          <a:xfrm>
            <a:off x="822960" y="3895344"/>
            <a:ext cx="256032"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300"/>
              <a:buFont typeface="Arial"/>
              <a:buNone/>
            </a:pPr>
            <a:r>
              <a:rPr b="1" i="0" lang="en-US" sz="1300" u="none" cap="none" strike="noStrike">
                <a:solidFill>
                  <a:srgbClr val="FF1E1E"/>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213" name="Google Shape;213;p12"/>
          <p:cNvSpPr/>
          <p:nvPr/>
        </p:nvSpPr>
        <p:spPr>
          <a:xfrm>
            <a:off x="1207008" y="3849624"/>
            <a:ext cx="402336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What version is current?</a:t>
            </a:r>
            <a:endParaRPr b="0" i="0" sz="1800" u="none" cap="none" strike="noStrike">
              <a:solidFill>
                <a:schemeClr val="dk1"/>
              </a:solidFill>
              <a:latin typeface="Arial"/>
              <a:ea typeface="Arial"/>
              <a:cs typeface="Arial"/>
              <a:sym typeface="Arial"/>
            </a:endParaRPr>
          </a:p>
        </p:txBody>
      </p:sp>
      <p:sp>
        <p:nvSpPr>
          <p:cNvPr id="214" name="Google Shape;214;p12"/>
          <p:cNvSpPr/>
          <p:nvPr/>
        </p:nvSpPr>
        <p:spPr>
          <a:xfrm>
            <a:off x="5806440" y="3867912"/>
            <a:ext cx="5029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450"/>
              <a:buFont typeface="Arial"/>
              <a:buNone/>
            </a:pPr>
            <a:r>
              <a:rPr b="0" i="0" lang="en-US" sz="1450" u="none" cap="none" strike="noStrike">
                <a:solidFill>
                  <a:srgbClr val="A6A6A6"/>
                </a:solidFill>
                <a:latin typeface="Arial"/>
                <a:ea typeface="Arial"/>
                <a:cs typeface="Arial"/>
                <a:sym typeface="Arial"/>
              </a:rPr>
              <a:t>Ex: Procedure v2 begins on Oct. 12</a:t>
            </a:r>
            <a:endParaRPr b="0" i="0" sz="145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9" name="Shape 219"/>
        <p:cNvGrpSpPr/>
        <p:nvPr/>
      </p:nvGrpSpPr>
      <p:grpSpPr>
        <a:xfrm>
          <a:off x="0" y="0"/>
          <a:ext cx="0" cy="0"/>
          <a:chOff x="0" y="0"/>
          <a:chExt cx="0" cy="0"/>
        </a:xfrm>
      </p:grpSpPr>
      <p:sp>
        <p:nvSpPr>
          <p:cNvPr id="220" name="Google Shape;220;p13"/>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3"/>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3"/>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223" name="Google Shape;223;p13"/>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224" name="Google Shape;224;p13"/>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Strong vs. weak documentation</a:t>
            </a:r>
            <a:endParaRPr b="0" i="0" sz="2500" u="none" cap="none" strike="noStrike">
              <a:solidFill>
                <a:schemeClr val="dk1"/>
              </a:solidFill>
              <a:latin typeface="Arial"/>
              <a:ea typeface="Arial"/>
              <a:cs typeface="Arial"/>
              <a:sym typeface="Arial"/>
            </a:endParaRPr>
          </a:p>
        </p:txBody>
      </p:sp>
      <p:cxnSp>
        <p:nvCxnSpPr>
          <p:cNvPr id="225" name="Google Shape;225;p13"/>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226" name="Google Shape;226;p13"/>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Good entries are specific enough to be useful later.</a:t>
            </a:r>
            <a:endParaRPr b="0" i="0" sz="1250" u="none" cap="none" strike="noStrike">
              <a:solidFill>
                <a:schemeClr val="dk1"/>
              </a:solidFill>
              <a:latin typeface="Arial"/>
              <a:ea typeface="Arial"/>
              <a:cs typeface="Arial"/>
              <a:sym typeface="Arial"/>
            </a:endParaRPr>
          </a:p>
        </p:txBody>
      </p:sp>
      <p:sp>
        <p:nvSpPr>
          <p:cNvPr id="227" name="Google Shape;227;p13"/>
          <p:cNvSpPr/>
          <p:nvPr/>
        </p:nvSpPr>
        <p:spPr>
          <a:xfrm>
            <a:off x="685800" y="1828800"/>
            <a:ext cx="5257800" cy="3291840"/>
          </a:xfrm>
          <a:prstGeom prst="roundRect">
            <a:avLst>
              <a:gd fmla="val 1389"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3"/>
          <p:cNvSpPr/>
          <p:nvPr/>
        </p:nvSpPr>
        <p:spPr>
          <a:xfrm>
            <a:off x="6263640" y="1828800"/>
            <a:ext cx="5257800" cy="3291840"/>
          </a:xfrm>
          <a:prstGeom prst="roundRect">
            <a:avLst>
              <a:gd fmla="val 1389" name="adj"/>
            </a:avLst>
          </a:prstGeom>
          <a:solidFill>
            <a:srgbClr val="000000">
              <a:alpha val="0"/>
            </a:srgbClr>
          </a:solidFill>
          <a:ln cap="flat" cmpd="sng" w="12700">
            <a:solidFill>
              <a:srgbClr val="FF1E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3"/>
          <p:cNvSpPr/>
          <p:nvPr/>
        </p:nvSpPr>
        <p:spPr>
          <a:xfrm>
            <a:off x="1005840" y="2084832"/>
            <a:ext cx="45720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6A6A6"/>
              </a:buClr>
              <a:buSzPts val="2000"/>
              <a:buFont typeface="Arial"/>
              <a:buNone/>
            </a:pPr>
            <a:r>
              <a:rPr b="1" i="0" lang="en-US" sz="2000" u="none" cap="none" strike="noStrike">
                <a:solidFill>
                  <a:srgbClr val="A6A6A6"/>
                </a:solidFill>
                <a:latin typeface="Arial"/>
                <a:ea typeface="Arial"/>
                <a:cs typeface="Arial"/>
                <a:sym typeface="Arial"/>
              </a:rPr>
              <a:t>WEAK ENTRY</a:t>
            </a:r>
            <a:endParaRPr b="0" i="0" sz="2000" u="none" cap="none" strike="noStrike">
              <a:solidFill>
                <a:schemeClr val="dk1"/>
              </a:solidFill>
              <a:latin typeface="Arial"/>
              <a:ea typeface="Arial"/>
              <a:cs typeface="Arial"/>
              <a:sym typeface="Arial"/>
            </a:endParaRPr>
          </a:p>
        </p:txBody>
      </p:sp>
      <p:sp>
        <p:nvSpPr>
          <p:cNvPr id="230" name="Google Shape;230;p13"/>
          <p:cNvSpPr/>
          <p:nvPr/>
        </p:nvSpPr>
        <p:spPr>
          <a:xfrm>
            <a:off x="6583680" y="2084832"/>
            <a:ext cx="457200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STRONG ENTRY</a:t>
            </a:r>
            <a:endParaRPr b="0" i="0" sz="2000" u="none" cap="none" strike="noStrike">
              <a:solidFill>
                <a:schemeClr val="dk1"/>
              </a:solidFill>
              <a:latin typeface="Arial"/>
              <a:ea typeface="Arial"/>
              <a:cs typeface="Arial"/>
              <a:sym typeface="Arial"/>
            </a:endParaRPr>
          </a:p>
        </p:txBody>
      </p:sp>
      <p:sp>
        <p:nvSpPr>
          <p:cNvPr id="231" name="Google Shape;231;p13"/>
          <p:cNvSpPr/>
          <p:nvPr/>
        </p:nvSpPr>
        <p:spPr>
          <a:xfrm>
            <a:off x="1078992" y="3017520"/>
            <a:ext cx="4526280" cy="77724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FFFFFF"/>
              </a:buClr>
              <a:buSzPts val="1800"/>
              <a:buFont typeface="Arial"/>
              <a:buNone/>
            </a:pPr>
            <a:r>
              <a:rPr b="0" i="1" lang="en-US" sz="1800" u="none" cap="none" strike="noStrike">
                <a:solidFill>
                  <a:srgbClr val="FFFFFF"/>
                </a:solidFill>
                <a:latin typeface="Arial"/>
                <a:ea typeface="Arial"/>
                <a:cs typeface="Arial"/>
                <a:sym typeface="Arial"/>
              </a:rPr>
              <a:t>“Tested the bridge. It broke. Need to fix it.”</a:t>
            </a:r>
            <a:endParaRPr b="0" i="0" sz="1800" u="none" cap="none" strike="noStrike">
              <a:solidFill>
                <a:schemeClr val="dk1"/>
              </a:solidFill>
              <a:latin typeface="Arial"/>
              <a:ea typeface="Arial"/>
              <a:cs typeface="Arial"/>
              <a:sym typeface="Arial"/>
            </a:endParaRPr>
          </a:p>
        </p:txBody>
      </p:sp>
      <p:sp>
        <p:nvSpPr>
          <p:cNvPr id="232" name="Google Shape;232;p13"/>
          <p:cNvSpPr/>
          <p:nvPr/>
        </p:nvSpPr>
        <p:spPr>
          <a:xfrm>
            <a:off x="6601968" y="2697480"/>
            <a:ext cx="4526280" cy="141732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FFFFFF"/>
              </a:buClr>
              <a:buSzPts val="1600"/>
              <a:buFont typeface="Arial"/>
              <a:buNone/>
            </a:pPr>
            <a:r>
              <a:rPr b="0" i="1" lang="en-US" sz="1600" u="none" cap="none" strike="noStrike">
                <a:solidFill>
                  <a:srgbClr val="FFFFFF"/>
                </a:solidFill>
                <a:latin typeface="Arial"/>
                <a:ea typeface="Arial"/>
                <a:cs typeface="Arial"/>
                <a:sym typeface="Arial"/>
              </a:rPr>
              <a:t>“Trial 2: Bridge B failed at 14.2 kg. Failure started at left joint. Photo saved as B_T2_failure. Next step: reinforce joint geometry before Trial 3.”</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7" name="Shape 237"/>
        <p:cNvGrpSpPr/>
        <p:nvPr/>
      </p:nvGrpSpPr>
      <p:grpSpPr>
        <a:xfrm>
          <a:off x="0" y="0"/>
          <a:ext cx="0" cy="0"/>
          <a:chOff x="0" y="0"/>
          <a:chExt cx="0" cy="0"/>
        </a:xfrm>
      </p:grpSpPr>
      <p:sp>
        <p:nvSpPr>
          <p:cNvPr id="238" name="Google Shape;238;p14"/>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4"/>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4"/>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241" name="Google Shape;241;p14"/>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242" name="Google Shape;242;p14"/>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Activity: Diagnose the weak entry</a:t>
            </a:r>
            <a:endParaRPr b="0" i="0" sz="2500" u="none" cap="none" strike="noStrike">
              <a:solidFill>
                <a:schemeClr val="dk1"/>
              </a:solidFill>
              <a:latin typeface="Arial"/>
              <a:ea typeface="Arial"/>
              <a:cs typeface="Arial"/>
              <a:sym typeface="Arial"/>
            </a:endParaRPr>
          </a:p>
        </p:txBody>
      </p:sp>
      <p:cxnSp>
        <p:nvCxnSpPr>
          <p:cNvPr id="243" name="Google Shape;243;p14"/>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244" name="Google Shape;244;p14"/>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Find what is missing, then rewrite it as a usable research record.</a:t>
            </a:r>
            <a:endParaRPr b="0" i="0" sz="1250" u="none" cap="none" strike="noStrike">
              <a:solidFill>
                <a:schemeClr val="dk1"/>
              </a:solidFill>
              <a:latin typeface="Arial"/>
              <a:ea typeface="Arial"/>
              <a:cs typeface="Arial"/>
              <a:sym typeface="Arial"/>
            </a:endParaRPr>
          </a:p>
        </p:txBody>
      </p:sp>
      <p:sp>
        <p:nvSpPr>
          <p:cNvPr id="245" name="Google Shape;245;p14"/>
          <p:cNvSpPr/>
          <p:nvPr/>
        </p:nvSpPr>
        <p:spPr>
          <a:xfrm>
            <a:off x="566928" y="1627632"/>
            <a:ext cx="2057400" cy="274320"/>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4"/>
          <p:cNvSpPr/>
          <p:nvPr/>
        </p:nvSpPr>
        <p:spPr>
          <a:xfrm>
            <a:off x="694944" y="1691640"/>
            <a:ext cx="1783080" cy="1097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STUDENT ACTIVITY</a:t>
            </a:r>
            <a:endParaRPr b="0" i="0" sz="800" u="none" cap="none" strike="noStrike">
              <a:solidFill>
                <a:schemeClr val="dk1"/>
              </a:solidFill>
              <a:latin typeface="Arial"/>
              <a:ea typeface="Arial"/>
              <a:cs typeface="Arial"/>
              <a:sym typeface="Arial"/>
            </a:endParaRPr>
          </a:p>
        </p:txBody>
      </p:sp>
      <p:sp>
        <p:nvSpPr>
          <p:cNvPr id="247" name="Google Shape;247;p14"/>
          <p:cNvSpPr/>
          <p:nvPr/>
        </p:nvSpPr>
        <p:spPr>
          <a:xfrm>
            <a:off x="777240" y="2240280"/>
            <a:ext cx="1828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500"/>
              <a:buFont typeface="Arial"/>
              <a:buNone/>
            </a:pPr>
            <a:r>
              <a:rPr b="1" i="0" lang="en-US" sz="1500" u="none" cap="none" strike="noStrike">
                <a:solidFill>
                  <a:srgbClr val="FF1E1E"/>
                </a:solidFill>
                <a:latin typeface="Arial"/>
                <a:ea typeface="Arial"/>
                <a:cs typeface="Arial"/>
                <a:sym typeface="Arial"/>
              </a:rPr>
              <a:t>Weak entry:</a:t>
            </a:r>
            <a:endParaRPr b="0" i="0" sz="1500" u="none" cap="none" strike="noStrike">
              <a:solidFill>
                <a:schemeClr val="dk1"/>
              </a:solidFill>
              <a:latin typeface="Arial"/>
              <a:ea typeface="Arial"/>
              <a:cs typeface="Arial"/>
              <a:sym typeface="Arial"/>
            </a:endParaRPr>
          </a:p>
        </p:txBody>
      </p:sp>
      <p:sp>
        <p:nvSpPr>
          <p:cNvPr id="248" name="Google Shape;248;p14"/>
          <p:cNvSpPr/>
          <p:nvPr/>
        </p:nvSpPr>
        <p:spPr>
          <a:xfrm>
            <a:off x="777240" y="2606040"/>
            <a:ext cx="10515600" cy="786384"/>
          </a:xfrm>
          <a:prstGeom prst="roundRect">
            <a:avLst>
              <a:gd fmla="val 5814"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4"/>
          <p:cNvSpPr/>
          <p:nvPr/>
        </p:nvSpPr>
        <p:spPr>
          <a:xfrm>
            <a:off x="1005840" y="2852928"/>
            <a:ext cx="996696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0" i="1" lang="en-US" sz="1800" u="none" cap="none" strike="noStrike">
                <a:solidFill>
                  <a:srgbClr val="FFFFFF"/>
                </a:solidFill>
                <a:latin typeface="Arial"/>
                <a:ea typeface="Arial"/>
                <a:cs typeface="Arial"/>
                <a:sym typeface="Arial"/>
              </a:rPr>
              <a:t>“Worked on prototype today. It kind of failed. I changed it and will try again.”</a:t>
            </a:r>
            <a:endParaRPr b="0" i="0" sz="1800" u="none" cap="none" strike="noStrike">
              <a:solidFill>
                <a:schemeClr val="dk1"/>
              </a:solidFill>
              <a:latin typeface="Arial"/>
              <a:ea typeface="Arial"/>
              <a:cs typeface="Arial"/>
              <a:sym typeface="Arial"/>
            </a:endParaRPr>
          </a:p>
        </p:txBody>
      </p:sp>
      <p:sp>
        <p:nvSpPr>
          <p:cNvPr id="250" name="Google Shape;250;p14"/>
          <p:cNvSpPr/>
          <p:nvPr/>
        </p:nvSpPr>
        <p:spPr>
          <a:xfrm>
            <a:off x="868680" y="397764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51" name="Google Shape;251;p14"/>
          <p:cNvSpPr/>
          <p:nvPr/>
        </p:nvSpPr>
        <p:spPr>
          <a:xfrm>
            <a:off x="1179576" y="3959352"/>
            <a:ext cx="98755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What details are missing?</a:t>
            </a:r>
            <a:endParaRPr b="0" i="0" sz="1800" u="none" cap="none" strike="noStrike">
              <a:solidFill>
                <a:schemeClr val="dk1"/>
              </a:solidFill>
              <a:latin typeface="Arial"/>
              <a:ea typeface="Arial"/>
              <a:cs typeface="Arial"/>
              <a:sym typeface="Arial"/>
            </a:endParaRPr>
          </a:p>
        </p:txBody>
      </p:sp>
      <p:sp>
        <p:nvSpPr>
          <p:cNvPr id="252" name="Google Shape;252;p14"/>
          <p:cNvSpPr/>
          <p:nvPr/>
        </p:nvSpPr>
        <p:spPr>
          <a:xfrm>
            <a:off x="868680" y="4507992"/>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53" name="Google Shape;253;p14"/>
          <p:cNvSpPr/>
          <p:nvPr/>
        </p:nvSpPr>
        <p:spPr>
          <a:xfrm>
            <a:off x="1179576" y="4489704"/>
            <a:ext cx="98755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What questions would a reviewer ask?</a:t>
            </a:r>
            <a:endParaRPr b="0" i="0" sz="1800" u="none" cap="none" strike="noStrike">
              <a:solidFill>
                <a:schemeClr val="dk1"/>
              </a:solidFill>
              <a:latin typeface="Arial"/>
              <a:ea typeface="Arial"/>
              <a:cs typeface="Arial"/>
              <a:sym typeface="Arial"/>
            </a:endParaRPr>
          </a:p>
        </p:txBody>
      </p:sp>
      <p:sp>
        <p:nvSpPr>
          <p:cNvPr id="254" name="Google Shape;254;p14"/>
          <p:cNvSpPr/>
          <p:nvPr/>
        </p:nvSpPr>
        <p:spPr>
          <a:xfrm>
            <a:off x="868680" y="5038344"/>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55" name="Google Shape;255;p14"/>
          <p:cNvSpPr/>
          <p:nvPr/>
        </p:nvSpPr>
        <p:spPr>
          <a:xfrm>
            <a:off x="1179576" y="5020056"/>
            <a:ext cx="987552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Rewrite the entry using today’s journal structure.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0" name="Shape 260"/>
        <p:cNvGrpSpPr/>
        <p:nvPr/>
      </p:nvGrpSpPr>
      <p:grpSpPr>
        <a:xfrm>
          <a:off x="0" y="0"/>
          <a:ext cx="0" cy="0"/>
          <a:chOff x="0" y="0"/>
          <a:chExt cx="0" cy="0"/>
        </a:xfrm>
      </p:grpSpPr>
      <p:sp>
        <p:nvSpPr>
          <p:cNvPr id="261" name="Google Shape;261;p15"/>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5"/>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5"/>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264" name="Google Shape;264;p15"/>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265" name="Google Shape;265;p15"/>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Choose a journal system you will actually maintain</a:t>
            </a:r>
            <a:endParaRPr b="0" i="0" sz="2500" u="none" cap="none" strike="noStrike">
              <a:solidFill>
                <a:schemeClr val="dk1"/>
              </a:solidFill>
              <a:latin typeface="Arial"/>
              <a:ea typeface="Arial"/>
              <a:cs typeface="Arial"/>
              <a:sym typeface="Arial"/>
            </a:endParaRPr>
          </a:p>
        </p:txBody>
      </p:sp>
      <p:cxnSp>
        <p:nvCxnSpPr>
          <p:cNvPr id="266" name="Google Shape;266;p15"/>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267" name="Google Shape;267;p15"/>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The best system is organized, accessible, and used consistently.</a:t>
            </a:r>
            <a:endParaRPr b="0" i="0" sz="1250" u="none" cap="none" strike="noStrike">
              <a:solidFill>
                <a:schemeClr val="dk1"/>
              </a:solidFill>
              <a:latin typeface="Arial"/>
              <a:ea typeface="Arial"/>
              <a:cs typeface="Arial"/>
              <a:sym typeface="Arial"/>
            </a:endParaRPr>
          </a:p>
        </p:txBody>
      </p:sp>
      <p:sp>
        <p:nvSpPr>
          <p:cNvPr id="268" name="Google Shape;268;p15"/>
          <p:cNvSpPr/>
          <p:nvPr/>
        </p:nvSpPr>
        <p:spPr>
          <a:xfrm>
            <a:off x="822960" y="1874520"/>
            <a:ext cx="4892040" cy="987552"/>
          </a:xfrm>
          <a:prstGeom prst="roundRect">
            <a:avLst>
              <a:gd fmla="val 4630"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5"/>
          <p:cNvSpPr/>
          <p:nvPr/>
        </p:nvSpPr>
        <p:spPr>
          <a:xfrm>
            <a:off x="1024128" y="2075688"/>
            <a:ext cx="44805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Physical notebook</a:t>
            </a:r>
            <a:endParaRPr b="0" i="0" sz="1700" u="none" cap="none" strike="noStrike">
              <a:solidFill>
                <a:schemeClr val="dk1"/>
              </a:solidFill>
              <a:latin typeface="Arial"/>
              <a:ea typeface="Arial"/>
              <a:cs typeface="Arial"/>
              <a:sym typeface="Arial"/>
            </a:endParaRPr>
          </a:p>
        </p:txBody>
      </p:sp>
      <p:sp>
        <p:nvSpPr>
          <p:cNvPr id="270" name="Google Shape;270;p15"/>
          <p:cNvSpPr/>
          <p:nvPr/>
        </p:nvSpPr>
        <p:spPr>
          <a:xfrm>
            <a:off x="1024128" y="2404872"/>
            <a:ext cx="448056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Great for sketches, setup notes, and quick entries</a:t>
            </a:r>
            <a:endParaRPr b="0" i="0" sz="1250" u="none" cap="none" strike="noStrike">
              <a:solidFill>
                <a:schemeClr val="dk1"/>
              </a:solidFill>
              <a:latin typeface="Arial"/>
              <a:ea typeface="Arial"/>
              <a:cs typeface="Arial"/>
              <a:sym typeface="Arial"/>
            </a:endParaRPr>
          </a:p>
        </p:txBody>
      </p:sp>
      <p:sp>
        <p:nvSpPr>
          <p:cNvPr id="271" name="Google Shape;271;p15"/>
          <p:cNvSpPr/>
          <p:nvPr/>
        </p:nvSpPr>
        <p:spPr>
          <a:xfrm>
            <a:off x="6400800" y="1874520"/>
            <a:ext cx="4892040" cy="987552"/>
          </a:xfrm>
          <a:prstGeom prst="roundRect">
            <a:avLst>
              <a:gd fmla="val 4630"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5"/>
          <p:cNvSpPr/>
          <p:nvPr/>
        </p:nvSpPr>
        <p:spPr>
          <a:xfrm>
            <a:off x="6601968" y="2075688"/>
            <a:ext cx="44805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Google Doc</a:t>
            </a:r>
            <a:endParaRPr b="0" i="0" sz="1700" u="none" cap="none" strike="noStrike">
              <a:solidFill>
                <a:schemeClr val="dk1"/>
              </a:solidFill>
              <a:latin typeface="Arial"/>
              <a:ea typeface="Arial"/>
              <a:cs typeface="Arial"/>
              <a:sym typeface="Arial"/>
            </a:endParaRPr>
          </a:p>
        </p:txBody>
      </p:sp>
      <p:sp>
        <p:nvSpPr>
          <p:cNvPr id="273" name="Google Shape;273;p15"/>
          <p:cNvSpPr/>
          <p:nvPr/>
        </p:nvSpPr>
        <p:spPr>
          <a:xfrm>
            <a:off x="6601968" y="2404872"/>
            <a:ext cx="448056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Easy to share, searchable, and teacher-accessible</a:t>
            </a:r>
            <a:endParaRPr b="0" i="0" sz="1250" u="none" cap="none" strike="noStrike">
              <a:solidFill>
                <a:schemeClr val="dk1"/>
              </a:solidFill>
              <a:latin typeface="Arial"/>
              <a:ea typeface="Arial"/>
              <a:cs typeface="Arial"/>
              <a:sym typeface="Arial"/>
            </a:endParaRPr>
          </a:p>
        </p:txBody>
      </p:sp>
      <p:sp>
        <p:nvSpPr>
          <p:cNvPr id="274" name="Google Shape;274;p15"/>
          <p:cNvSpPr/>
          <p:nvPr/>
        </p:nvSpPr>
        <p:spPr>
          <a:xfrm>
            <a:off x="822960" y="3383280"/>
            <a:ext cx="4892040" cy="987552"/>
          </a:xfrm>
          <a:prstGeom prst="roundRect">
            <a:avLst>
              <a:gd fmla="val 4630"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15"/>
          <p:cNvSpPr/>
          <p:nvPr/>
        </p:nvSpPr>
        <p:spPr>
          <a:xfrm>
            <a:off x="1024128" y="3584448"/>
            <a:ext cx="44805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Spreadsheet + log</a:t>
            </a:r>
            <a:endParaRPr b="0" i="0" sz="1700" u="none" cap="none" strike="noStrike">
              <a:solidFill>
                <a:schemeClr val="dk1"/>
              </a:solidFill>
              <a:latin typeface="Arial"/>
              <a:ea typeface="Arial"/>
              <a:cs typeface="Arial"/>
              <a:sym typeface="Arial"/>
            </a:endParaRPr>
          </a:p>
        </p:txBody>
      </p:sp>
      <p:sp>
        <p:nvSpPr>
          <p:cNvPr id="276" name="Google Shape;276;p15"/>
          <p:cNvSpPr/>
          <p:nvPr/>
        </p:nvSpPr>
        <p:spPr>
          <a:xfrm>
            <a:off x="1024128" y="3913632"/>
            <a:ext cx="448056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Strong for data-heavy projects</a:t>
            </a:r>
            <a:endParaRPr b="0" i="0" sz="1250" u="none" cap="none" strike="noStrike">
              <a:solidFill>
                <a:schemeClr val="dk1"/>
              </a:solidFill>
              <a:latin typeface="Arial"/>
              <a:ea typeface="Arial"/>
              <a:cs typeface="Arial"/>
              <a:sym typeface="Arial"/>
            </a:endParaRPr>
          </a:p>
        </p:txBody>
      </p:sp>
      <p:sp>
        <p:nvSpPr>
          <p:cNvPr id="277" name="Google Shape;277;p15"/>
          <p:cNvSpPr/>
          <p:nvPr/>
        </p:nvSpPr>
        <p:spPr>
          <a:xfrm>
            <a:off x="6400800" y="3383280"/>
            <a:ext cx="4892040" cy="987552"/>
          </a:xfrm>
          <a:prstGeom prst="roundRect">
            <a:avLst>
              <a:gd fmla="val 4630"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5"/>
          <p:cNvSpPr/>
          <p:nvPr/>
        </p:nvSpPr>
        <p:spPr>
          <a:xfrm>
            <a:off x="6601968" y="3584448"/>
            <a:ext cx="44805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Notion / digital notebook</a:t>
            </a:r>
            <a:endParaRPr b="0" i="0" sz="1700" u="none" cap="none" strike="noStrike">
              <a:solidFill>
                <a:schemeClr val="dk1"/>
              </a:solidFill>
              <a:latin typeface="Arial"/>
              <a:ea typeface="Arial"/>
              <a:cs typeface="Arial"/>
              <a:sym typeface="Arial"/>
            </a:endParaRPr>
          </a:p>
        </p:txBody>
      </p:sp>
      <p:sp>
        <p:nvSpPr>
          <p:cNvPr id="279" name="Google Shape;279;p15"/>
          <p:cNvSpPr/>
          <p:nvPr/>
        </p:nvSpPr>
        <p:spPr>
          <a:xfrm>
            <a:off x="6601968" y="3913632"/>
            <a:ext cx="448056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Useful for linking files, images, and tasks</a:t>
            </a:r>
            <a:endParaRPr b="0" i="0" sz="125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4" name="Shape 284"/>
        <p:cNvGrpSpPr/>
        <p:nvPr/>
      </p:nvGrpSpPr>
      <p:grpSpPr>
        <a:xfrm>
          <a:off x="0" y="0"/>
          <a:ext cx="0" cy="0"/>
          <a:chOff x="0" y="0"/>
          <a:chExt cx="0" cy="0"/>
        </a:xfrm>
      </p:grpSpPr>
      <p:sp>
        <p:nvSpPr>
          <p:cNvPr id="285" name="Google Shape;285;p16"/>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6"/>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6"/>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288" name="Google Shape;288;p16"/>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289" name="Google Shape;289;p16"/>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Name files so future-you can find them</a:t>
            </a:r>
            <a:endParaRPr b="0" i="0" sz="2500" u="none" cap="none" strike="noStrike">
              <a:solidFill>
                <a:schemeClr val="dk1"/>
              </a:solidFill>
              <a:latin typeface="Arial"/>
              <a:ea typeface="Arial"/>
              <a:cs typeface="Arial"/>
              <a:sym typeface="Arial"/>
            </a:endParaRPr>
          </a:p>
        </p:txBody>
      </p:sp>
      <p:cxnSp>
        <p:nvCxnSpPr>
          <p:cNvPr id="290" name="Google Shape;290;p16"/>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291" name="Google Shape;291;p16"/>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Documentation includes the files around the journal, not just the journal itself.</a:t>
            </a:r>
            <a:endParaRPr b="0" i="0" sz="1250" u="none" cap="none" strike="noStrike">
              <a:solidFill>
                <a:schemeClr val="dk1"/>
              </a:solidFill>
              <a:latin typeface="Arial"/>
              <a:ea typeface="Arial"/>
              <a:cs typeface="Arial"/>
              <a:sym typeface="Arial"/>
            </a:endParaRPr>
          </a:p>
        </p:txBody>
      </p:sp>
      <p:sp>
        <p:nvSpPr>
          <p:cNvPr id="292" name="Google Shape;292;p16"/>
          <p:cNvSpPr/>
          <p:nvPr/>
        </p:nvSpPr>
        <p:spPr>
          <a:xfrm>
            <a:off x="777240" y="1874520"/>
            <a:ext cx="10607040" cy="960120"/>
          </a:xfrm>
          <a:prstGeom prst="roundRect">
            <a:avLst>
              <a:gd fmla="val 4762" name="adj"/>
            </a:avLst>
          </a:prstGeom>
          <a:solidFill>
            <a:srgbClr val="000000">
              <a:alpha val="0"/>
            </a:srgbClr>
          </a:solidFill>
          <a:ln cap="flat" cmpd="sng" w="12700">
            <a:solidFill>
              <a:srgbClr val="FF1E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6"/>
          <p:cNvSpPr/>
          <p:nvPr/>
        </p:nvSpPr>
        <p:spPr>
          <a:xfrm>
            <a:off x="1051560" y="2212848"/>
            <a:ext cx="9875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Good format:  LastName_Project_Item_Date_or_Trial</a:t>
            </a:r>
            <a:endParaRPr b="0" i="0" sz="2100" u="none" cap="none" strike="noStrike">
              <a:solidFill>
                <a:schemeClr val="dk1"/>
              </a:solidFill>
              <a:latin typeface="Arial"/>
              <a:ea typeface="Arial"/>
              <a:cs typeface="Arial"/>
              <a:sym typeface="Arial"/>
            </a:endParaRPr>
          </a:p>
        </p:txBody>
      </p:sp>
      <p:sp>
        <p:nvSpPr>
          <p:cNvPr id="294" name="Google Shape;294;p16"/>
          <p:cNvSpPr/>
          <p:nvPr/>
        </p:nvSpPr>
        <p:spPr>
          <a:xfrm>
            <a:off x="1005840" y="34290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95" name="Google Shape;295;p16"/>
          <p:cNvSpPr/>
          <p:nvPr/>
        </p:nvSpPr>
        <p:spPr>
          <a:xfrm>
            <a:off x="1316736" y="3410712"/>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Hageman_Turbine_RawData_10-12</a:t>
            </a:r>
            <a:endParaRPr b="0" i="0" sz="1800" u="none" cap="none" strike="noStrike">
              <a:solidFill>
                <a:schemeClr val="dk1"/>
              </a:solidFill>
              <a:latin typeface="Arial"/>
              <a:ea typeface="Arial"/>
              <a:cs typeface="Arial"/>
              <a:sym typeface="Arial"/>
            </a:endParaRPr>
          </a:p>
        </p:txBody>
      </p:sp>
      <p:sp>
        <p:nvSpPr>
          <p:cNvPr id="296" name="Google Shape;296;p16"/>
          <p:cNvSpPr/>
          <p:nvPr/>
        </p:nvSpPr>
        <p:spPr>
          <a:xfrm>
            <a:off x="1005840" y="3922776"/>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97" name="Google Shape;297;p16"/>
          <p:cNvSpPr/>
          <p:nvPr/>
        </p:nvSpPr>
        <p:spPr>
          <a:xfrm>
            <a:off x="1316736" y="3904488"/>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Hageman_Turbine_PrototypeB_Photo_T3</a:t>
            </a:r>
            <a:endParaRPr b="0" i="0" sz="1800" u="none" cap="none" strike="noStrike">
              <a:solidFill>
                <a:schemeClr val="dk1"/>
              </a:solidFill>
              <a:latin typeface="Arial"/>
              <a:ea typeface="Arial"/>
              <a:cs typeface="Arial"/>
              <a:sym typeface="Arial"/>
            </a:endParaRPr>
          </a:p>
        </p:txBody>
      </p:sp>
      <p:sp>
        <p:nvSpPr>
          <p:cNvPr id="298" name="Google Shape;298;p16"/>
          <p:cNvSpPr/>
          <p:nvPr/>
        </p:nvSpPr>
        <p:spPr>
          <a:xfrm>
            <a:off x="1005840" y="4416552"/>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299" name="Google Shape;299;p16"/>
          <p:cNvSpPr/>
          <p:nvPr/>
        </p:nvSpPr>
        <p:spPr>
          <a:xfrm>
            <a:off x="1316736" y="4398264"/>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Hageman_Turbine_Procedure_v2</a:t>
            </a:r>
            <a:endParaRPr b="0" i="0" sz="1800" u="none" cap="none" strike="noStrike">
              <a:solidFill>
                <a:schemeClr val="dk1"/>
              </a:solidFill>
              <a:latin typeface="Arial"/>
              <a:ea typeface="Arial"/>
              <a:cs typeface="Arial"/>
              <a:sym typeface="Arial"/>
            </a:endParaRPr>
          </a:p>
        </p:txBody>
      </p:sp>
      <p:sp>
        <p:nvSpPr>
          <p:cNvPr id="300" name="Google Shape;300;p16"/>
          <p:cNvSpPr/>
          <p:nvPr/>
        </p:nvSpPr>
        <p:spPr>
          <a:xfrm>
            <a:off x="1005840" y="4910328"/>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01" name="Google Shape;301;p16"/>
          <p:cNvSpPr/>
          <p:nvPr/>
        </p:nvSpPr>
        <p:spPr>
          <a:xfrm>
            <a:off x="1316736" y="4892040"/>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Hageman_Turbine_MentorFeedback_10-19</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6" name="Shape 306"/>
        <p:cNvGrpSpPr/>
        <p:nvPr/>
      </p:nvGrpSpPr>
      <p:grpSpPr>
        <a:xfrm>
          <a:off x="0" y="0"/>
          <a:ext cx="0" cy="0"/>
          <a:chOff x="0" y="0"/>
          <a:chExt cx="0" cy="0"/>
        </a:xfrm>
      </p:grpSpPr>
      <p:sp>
        <p:nvSpPr>
          <p:cNvPr id="307" name="Google Shape;307;p17"/>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7"/>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7"/>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310" name="Google Shape;310;p17"/>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311" name="Google Shape;311;p17"/>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Journal quality checkpoint</a:t>
            </a:r>
            <a:endParaRPr b="0" i="0" sz="2500" u="none" cap="none" strike="noStrike">
              <a:solidFill>
                <a:schemeClr val="dk1"/>
              </a:solidFill>
              <a:latin typeface="Arial"/>
              <a:ea typeface="Arial"/>
              <a:cs typeface="Arial"/>
              <a:sym typeface="Arial"/>
            </a:endParaRPr>
          </a:p>
        </p:txBody>
      </p:sp>
      <p:cxnSp>
        <p:nvCxnSpPr>
          <p:cNvPr id="312" name="Google Shape;312;p17"/>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313" name="Google Shape;313;p17"/>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A strong journal can answer these questions quickly.</a:t>
            </a:r>
            <a:endParaRPr b="0" i="0" sz="1250" u="none" cap="none" strike="noStrike">
              <a:solidFill>
                <a:schemeClr val="dk1"/>
              </a:solidFill>
              <a:latin typeface="Arial"/>
              <a:ea typeface="Arial"/>
              <a:cs typeface="Arial"/>
              <a:sym typeface="Arial"/>
            </a:endParaRPr>
          </a:p>
        </p:txBody>
      </p:sp>
      <p:sp>
        <p:nvSpPr>
          <p:cNvPr id="314" name="Google Shape;314;p17"/>
          <p:cNvSpPr/>
          <p:nvPr/>
        </p:nvSpPr>
        <p:spPr>
          <a:xfrm>
            <a:off x="777240" y="196596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315" name="Google Shape;315;p17"/>
          <p:cNvSpPr/>
          <p:nvPr/>
        </p:nvSpPr>
        <p:spPr>
          <a:xfrm>
            <a:off x="1088136" y="1947672"/>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What did you do this week?</a:t>
            </a:r>
            <a:endParaRPr b="0" i="0" sz="2000" u="none" cap="none" strike="noStrike">
              <a:solidFill>
                <a:schemeClr val="dk1"/>
              </a:solidFill>
              <a:latin typeface="Arial"/>
              <a:ea typeface="Arial"/>
              <a:cs typeface="Arial"/>
              <a:sym typeface="Arial"/>
            </a:endParaRPr>
          </a:p>
        </p:txBody>
      </p:sp>
      <p:sp>
        <p:nvSpPr>
          <p:cNvPr id="316" name="Google Shape;316;p17"/>
          <p:cNvSpPr/>
          <p:nvPr/>
        </p:nvSpPr>
        <p:spPr>
          <a:xfrm>
            <a:off x="777240" y="2587752"/>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317" name="Google Shape;317;p17"/>
          <p:cNvSpPr/>
          <p:nvPr/>
        </p:nvSpPr>
        <p:spPr>
          <a:xfrm>
            <a:off x="1088136" y="2569464"/>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Where are your raw data?</a:t>
            </a:r>
            <a:endParaRPr b="0" i="0" sz="2000" u="none" cap="none" strike="noStrike">
              <a:solidFill>
                <a:schemeClr val="dk1"/>
              </a:solidFill>
              <a:latin typeface="Arial"/>
              <a:ea typeface="Arial"/>
              <a:cs typeface="Arial"/>
              <a:sym typeface="Arial"/>
            </a:endParaRPr>
          </a:p>
        </p:txBody>
      </p:sp>
      <p:sp>
        <p:nvSpPr>
          <p:cNvPr id="318" name="Google Shape;318;p17"/>
          <p:cNvSpPr/>
          <p:nvPr/>
        </p:nvSpPr>
        <p:spPr>
          <a:xfrm>
            <a:off x="777240" y="3209544"/>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319" name="Google Shape;319;p17"/>
          <p:cNvSpPr/>
          <p:nvPr/>
        </p:nvSpPr>
        <p:spPr>
          <a:xfrm>
            <a:off x="1088136" y="3191256"/>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What changed from your original plan?</a:t>
            </a:r>
            <a:endParaRPr b="0" i="0" sz="2000" u="none" cap="none" strike="noStrike">
              <a:solidFill>
                <a:schemeClr val="dk1"/>
              </a:solidFill>
              <a:latin typeface="Arial"/>
              <a:ea typeface="Arial"/>
              <a:cs typeface="Arial"/>
              <a:sym typeface="Arial"/>
            </a:endParaRPr>
          </a:p>
        </p:txBody>
      </p:sp>
      <p:sp>
        <p:nvSpPr>
          <p:cNvPr id="320" name="Google Shape;320;p17"/>
          <p:cNvSpPr/>
          <p:nvPr/>
        </p:nvSpPr>
        <p:spPr>
          <a:xfrm>
            <a:off x="777240" y="3831336"/>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321" name="Google Shape;321;p17"/>
          <p:cNvSpPr/>
          <p:nvPr/>
        </p:nvSpPr>
        <p:spPr>
          <a:xfrm>
            <a:off x="1088136" y="3813048"/>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What problem are you working on now?</a:t>
            </a:r>
            <a:endParaRPr b="0" i="0" sz="2000" u="none" cap="none" strike="noStrike">
              <a:solidFill>
                <a:schemeClr val="dk1"/>
              </a:solidFill>
              <a:latin typeface="Arial"/>
              <a:ea typeface="Arial"/>
              <a:cs typeface="Arial"/>
              <a:sym typeface="Arial"/>
            </a:endParaRPr>
          </a:p>
        </p:txBody>
      </p:sp>
      <p:sp>
        <p:nvSpPr>
          <p:cNvPr id="322" name="Google Shape;322;p17"/>
          <p:cNvSpPr/>
          <p:nvPr/>
        </p:nvSpPr>
        <p:spPr>
          <a:xfrm>
            <a:off x="777240" y="4453128"/>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323" name="Google Shape;323;p17"/>
          <p:cNvSpPr/>
          <p:nvPr/>
        </p:nvSpPr>
        <p:spPr>
          <a:xfrm>
            <a:off x="1088136" y="4434840"/>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What is your next specific step?</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8" name="Shape 328"/>
        <p:cNvGrpSpPr/>
        <p:nvPr/>
      </p:nvGrpSpPr>
      <p:grpSpPr>
        <a:xfrm>
          <a:off x="0" y="0"/>
          <a:ext cx="0" cy="0"/>
          <a:chOff x="0" y="0"/>
          <a:chExt cx="0" cy="0"/>
        </a:xfrm>
      </p:grpSpPr>
      <p:sp>
        <p:nvSpPr>
          <p:cNvPr id="329" name="Google Shape;329;p18"/>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8"/>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8"/>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332" name="Google Shape;332;p18"/>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333" name="Google Shape;333;p18"/>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Activity: Write a live entry</a:t>
            </a:r>
            <a:endParaRPr b="0" i="0" sz="2500" u="none" cap="none" strike="noStrike">
              <a:solidFill>
                <a:schemeClr val="dk1"/>
              </a:solidFill>
              <a:latin typeface="Arial"/>
              <a:ea typeface="Arial"/>
              <a:cs typeface="Arial"/>
              <a:sym typeface="Arial"/>
            </a:endParaRPr>
          </a:p>
        </p:txBody>
      </p:sp>
      <p:cxnSp>
        <p:nvCxnSpPr>
          <p:cNvPr id="334" name="Google Shape;334;p18"/>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335" name="Google Shape;335;p18"/>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Practice documenting a work session before the stakes are high.</a:t>
            </a:r>
            <a:endParaRPr b="0" i="0" sz="1250" u="none" cap="none" strike="noStrike">
              <a:solidFill>
                <a:schemeClr val="dk1"/>
              </a:solidFill>
              <a:latin typeface="Arial"/>
              <a:ea typeface="Arial"/>
              <a:cs typeface="Arial"/>
              <a:sym typeface="Arial"/>
            </a:endParaRPr>
          </a:p>
        </p:txBody>
      </p:sp>
      <p:sp>
        <p:nvSpPr>
          <p:cNvPr id="336" name="Google Shape;336;p18"/>
          <p:cNvSpPr/>
          <p:nvPr/>
        </p:nvSpPr>
        <p:spPr>
          <a:xfrm>
            <a:off x="566928" y="1627632"/>
            <a:ext cx="2057400" cy="274320"/>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8"/>
          <p:cNvSpPr/>
          <p:nvPr/>
        </p:nvSpPr>
        <p:spPr>
          <a:xfrm>
            <a:off x="694944" y="1691640"/>
            <a:ext cx="1783080" cy="1097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STUDENT ACTIVITY</a:t>
            </a:r>
            <a:endParaRPr b="0" i="0" sz="800" u="none" cap="none" strike="noStrike">
              <a:solidFill>
                <a:schemeClr val="dk1"/>
              </a:solidFill>
              <a:latin typeface="Arial"/>
              <a:ea typeface="Arial"/>
              <a:cs typeface="Arial"/>
              <a:sym typeface="Arial"/>
            </a:endParaRPr>
          </a:p>
        </p:txBody>
      </p:sp>
      <p:sp>
        <p:nvSpPr>
          <p:cNvPr id="338" name="Google Shape;338;p18"/>
          <p:cNvSpPr/>
          <p:nvPr/>
        </p:nvSpPr>
        <p:spPr>
          <a:xfrm>
            <a:off x="777240" y="224028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39" name="Google Shape;339;p18"/>
          <p:cNvSpPr/>
          <p:nvPr/>
        </p:nvSpPr>
        <p:spPr>
          <a:xfrm>
            <a:off x="1088136" y="2221992"/>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Open your STARLAB journal system.</a:t>
            </a:r>
            <a:endParaRPr b="0" i="0" sz="1800" u="none" cap="none" strike="noStrike">
              <a:solidFill>
                <a:schemeClr val="dk1"/>
              </a:solidFill>
              <a:latin typeface="Arial"/>
              <a:ea typeface="Arial"/>
              <a:cs typeface="Arial"/>
              <a:sym typeface="Arial"/>
            </a:endParaRPr>
          </a:p>
        </p:txBody>
      </p:sp>
      <p:sp>
        <p:nvSpPr>
          <p:cNvPr id="340" name="Google Shape;340;p18"/>
          <p:cNvSpPr/>
          <p:nvPr/>
        </p:nvSpPr>
        <p:spPr>
          <a:xfrm>
            <a:off x="777240" y="2770632"/>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41" name="Google Shape;341;p18"/>
          <p:cNvSpPr/>
          <p:nvPr/>
        </p:nvSpPr>
        <p:spPr>
          <a:xfrm>
            <a:off x="1088136" y="2752344"/>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Create today’s entry using the required structure.</a:t>
            </a:r>
            <a:endParaRPr b="0" i="0" sz="1800" u="none" cap="none" strike="noStrike">
              <a:solidFill>
                <a:schemeClr val="dk1"/>
              </a:solidFill>
              <a:latin typeface="Arial"/>
              <a:ea typeface="Arial"/>
              <a:cs typeface="Arial"/>
              <a:sym typeface="Arial"/>
            </a:endParaRPr>
          </a:p>
        </p:txBody>
      </p:sp>
      <p:sp>
        <p:nvSpPr>
          <p:cNvPr id="342" name="Google Shape;342;p18"/>
          <p:cNvSpPr/>
          <p:nvPr/>
        </p:nvSpPr>
        <p:spPr>
          <a:xfrm>
            <a:off x="777240" y="3300984"/>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43" name="Google Shape;343;p18"/>
          <p:cNvSpPr/>
          <p:nvPr/>
        </p:nvSpPr>
        <p:spPr>
          <a:xfrm>
            <a:off x="1088136" y="3282696"/>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Write a realistic goal for your next project work session.</a:t>
            </a:r>
            <a:endParaRPr b="0" i="0" sz="1800" u="none" cap="none" strike="noStrike">
              <a:solidFill>
                <a:schemeClr val="dk1"/>
              </a:solidFill>
              <a:latin typeface="Arial"/>
              <a:ea typeface="Arial"/>
              <a:cs typeface="Arial"/>
              <a:sym typeface="Arial"/>
            </a:endParaRPr>
          </a:p>
        </p:txBody>
      </p:sp>
      <p:sp>
        <p:nvSpPr>
          <p:cNvPr id="344" name="Google Shape;344;p18"/>
          <p:cNvSpPr/>
          <p:nvPr/>
        </p:nvSpPr>
        <p:spPr>
          <a:xfrm>
            <a:off x="777240" y="3831336"/>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45" name="Google Shape;345;p18"/>
          <p:cNvSpPr/>
          <p:nvPr/>
        </p:nvSpPr>
        <p:spPr>
          <a:xfrm>
            <a:off x="1088136" y="3813048"/>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Add a placeholder for data, observations, and next steps.</a:t>
            </a:r>
            <a:endParaRPr b="0" i="0" sz="1800" u="none" cap="none" strike="noStrike">
              <a:solidFill>
                <a:schemeClr val="dk1"/>
              </a:solidFill>
              <a:latin typeface="Arial"/>
              <a:ea typeface="Arial"/>
              <a:cs typeface="Arial"/>
              <a:sym typeface="Arial"/>
            </a:endParaRPr>
          </a:p>
        </p:txBody>
      </p:sp>
      <p:sp>
        <p:nvSpPr>
          <p:cNvPr id="346" name="Google Shape;346;p18"/>
          <p:cNvSpPr/>
          <p:nvPr/>
        </p:nvSpPr>
        <p:spPr>
          <a:xfrm>
            <a:off x="777240" y="4361688"/>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47" name="Google Shape;347;p18"/>
          <p:cNvSpPr/>
          <p:nvPr/>
        </p:nvSpPr>
        <p:spPr>
          <a:xfrm>
            <a:off x="1088136" y="4343400"/>
            <a:ext cx="100584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Share your journal location with your teacher.</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2" name="Shape 352"/>
        <p:cNvGrpSpPr/>
        <p:nvPr/>
      </p:nvGrpSpPr>
      <p:grpSpPr>
        <a:xfrm>
          <a:off x="0" y="0"/>
          <a:ext cx="0" cy="0"/>
          <a:chOff x="0" y="0"/>
          <a:chExt cx="0" cy="0"/>
        </a:xfrm>
      </p:grpSpPr>
      <p:sp>
        <p:nvSpPr>
          <p:cNvPr id="353" name="Google Shape;353;p19"/>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19"/>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9"/>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356" name="Google Shape;356;p19"/>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357" name="Google Shape;357;p19"/>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What “good enough” looks like this week</a:t>
            </a:r>
            <a:endParaRPr b="0" i="0" sz="2500" u="none" cap="none" strike="noStrike">
              <a:solidFill>
                <a:schemeClr val="dk1"/>
              </a:solidFill>
              <a:latin typeface="Arial"/>
              <a:ea typeface="Arial"/>
              <a:cs typeface="Arial"/>
              <a:sym typeface="Arial"/>
            </a:endParaRPr>
          </a:p>
        </p:txBody>
      </p:sp>
      <p:cxnSp>
        <p:nvCxnSpPr>
          <p:cNvPr id="358" name="Google Shape;358;p19"/>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359" name="Google Shape;359;p19"/>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Do not wait until the project is perfect to start documenting.</a:t>
            </a:r>
            <a:endParaRPr b="0" i="0" sz="1250" u="none" cap="none" strike="noStrike">
              <a:solidFill>
                <a:schemeClr val="dk1"/>
              </a:solidFill>
              <a:latin typeface="Arial"/>
              <a:ea typeface="Arial"/>
              <a:cs typeface="Arial"/>
              <a:sym typeface="Arial"/>
            </a:endParaRPr>
          </a:p>
        </p:txBody>
      </p:sp>
      <p:sp>
        <p:nvSpPr>
          <p:cNvPr id="360" name="Google Shape;360;p19"/>
          <p:cNvSpPr/>
          <p:nvPr/>
        </p:nvSpPr>
        <p:spPr>
          <a:xfrm>
            <a:off x="1097280" y="2057400"/>
            <a:ext cx="256032"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300"/>
              <a:buFont typeface="Arial"/>
              <a:buNone/>
            </a:pPr>
            <a:r>
              <a:rPr b="1" i="0" lang="en-US" sz="1300" u="none" cap="none" strike="noStrike">
                <a:solidFill>
                  <a:srgbClr val="FF1E1E"/>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361" name="Google Shape;361;p19"/>
          <p:cNvSpPr/>
          <p:nvPr/>
        </p:nvSpPr>
        <p:spPr>
          <a:xfrm>
            <a:off x="1481328" y="2084832"/>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Journal system created</a:t>
            </a:r>
            <a:endParaRPr b="0" i="0" sz="1900" u="none" cap="none" strike="noStrike">
              <a:solidFill>
                <a:schemeClr val="dk1"/>
              </a:solidFill>
              <a:latin typeface="Arial"/>
              <a:ea typeface="Arial"/>
              <a:cs typeface="Arial"/>
              <a:sym typeface="Arial"/>
            </a:endParaRPr>
          </a:p>
        </p:txBody>
      </p:sp>
      <p:sp>
        <p:nvSpPr>
          <p:cNvPr id="362" name="Google Shape;362;p19"/>
          <p:cNvSpPr/>
          <p:nvPr/>
        </p:nvSpPr>
        <p:spPr>
          <a:xfrm>
            <a:off x="1097280" y="2624328"/>
            <a:ext cx="256032"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300"/>
              <a:buFont typeface="Arial"/>
              <a:buNone/>
            </a:pPr>
            <a:r>
              <a:rPr b="1" i="0" lang="en-US" sz="1300" u="none" cap="none" strike="noStrike">
                <a:solidFill>
                  <a:srgbClr val="FF1E1E"/>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363" name="Google Shape;363;p19"/>
          <p:cNvSpPr/>
          <p:nvPr/>
        </p:nvSpPr>
        <p:spPr>
          <a:xfrm>
            <a:off x="1481328" y="2651760"/>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Teacher access confirmed</a:t>
            </a:r>
            <a:endParaRPr b="0" i="0" sz="1900" u="none" cap="none" strike="noStrike">
              <a:solidFill>
                <a:schemeClr val="dk1"/>
              </a:solidFill>
              <a:latin typeface="Arial"/>
              <a:ea typeface="Arial"/>
              <a:cs typeface="Arial"/>
              <a:sym typeface="Arial"/>
            </a:endParaRPr>
          </a:p>
        </p:txBody>
      </p:sp>
      <p:sp>
        <p:nvSpPr>
          <p:cNvPr id="364" name="Google Shape;364;p19"/>
          <p:cNvSpPr/>
          <p:nvPr/>
        </p:nvSpPr>
        <p:spPr>
          <a:xfrm>
            <a:off x="1097280" y="3191256"/>
            <a:ext cx="256032"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300"/>
              <a:buFont typeface="Arial"/>
              <a:buNone/>
            </a:pPr>
            <a:r>
              <a:rPr b="1" i="0" lang="en-US" sz="1300" u="none" cap="none" strike="noStrike">
                <a:solidFill>
                  <a:srgbClr val="FF1E1E"/>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365" name="Google Shape;365;p19"/>
          <p:cNvSpPr/>
          <p:nvPr/>
        </p:nvSpPr>
        <p:spPr>
          <a:xfrm>
            <a:off x="1481328" y="3218688"/>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First entry completed</a:t>
            </a:r>
            <a:endParaRPr b="0" i="0" sz="1900" u="none" cap="none" strike="noStrike">
              <a:solidFill>
                <a:schemeClr val="dk1"/>
              </a:solidFill>
              <a:latin typeface="Arial"/>
              <a:ea typeface="Arial"/>
              <a:cs typeface="Arial"/>
              <a:sym typeface="Arial"/>
            </a:endParaRPr>
          </a:p>
        </p:txBody>
      </p:sp>
      <p:sp>
        <p:nvSpPr>
          <p:cNvPr id="366" name="Google Shape;366;p19"/>
          <p:cNvSpPr/>
          <p:nvPr/>
        </p:nvSpPr>
        <p:spPr>
          <a:xfrm>
            <a:off x="1097280" y="3758184"/>
            <a:ext cx="256032"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300"/>
              <a:buFont typeface="Arial"/>
              <a:buNone/>
            </a:pPr>
            <a:r>
              <a:rPr b="1" i="0" lang="en-US" sz="1300" u="none" cap="none" strike="noStrike">
                <a:solidFill>
                  <a:srgbClr val="FF1E1E"/>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367" name="Google Shape;367;p19"/>
          <p:cNvSpPr/>
          <p:nvPr/>
        </p:nvSpPr>
        <p:spPr>
          <a:xfrm>
            <a:off x="1481328" y="3785616"/>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Data location identified</a:t>
            </a:r>
            <a:endParaRPr b="0" i="0" sz="1900" u="none" cap="none" strike="noStrike">
              <a:solidFill>
                <a:schemeClr val="dk1"/>
              </a:solidFill>
              <a:latin typeface="Arial"/>
              <a:ea typeface="Arial"/>
              <a:cs typeface="Arial"/>
              <a:sym typeface="Arial"/>
            </a:endParaRPr>
          </a:p>
        </p:txBody>
      </p:sp>
      <p:sp>
        <p:nvSpPr>
          <p:cNvPr id="368" name="Google Shape;368;p19"/>
          <p:cNvSpPr/>
          <p:nvPr/>
        </p:nvSpPr>
        <p:spPr>
          <a:xfrm>
            <a:off x="1097280" y="4325112"/>
            <a:ext cx="256032"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300"/>
              <a:buFont typeface="Arial"/>
              <a:buNone/>
            </a:pPr>
            <a:r>
              <a:rPr b="1" i="0" lang="en-US" sz="1300" u="none" cap="none" strike="noStrike">
                <a:solidFill>
                  <a:srgbClr val="FF1E1E"/>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p:txBody>
      </p:sp>
      <p:sp>
        <p:nvSpPr>
          <p:cNvPr id="369" name="Google Shape;369;p19"/>
          <p:cNvSpPr/>
          <p:nvPr/>
        </p:nvSpPr>
        <p:spPr>
          <a:xfrm>
            <a:off x="1481328" y="4352544"/>
            <a:ext cx="5486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900"/>
              <a:buFont typeface="Arial"/>
              <a:buNone/>
            </a:pPr>
            <a:r>
              <a:rPr b="1" i="0" lang="en-US" sz="1900" u="none" cap="none" strike="noStrike">
                <a:solidFill>
                  <a:srgbClr val="FFFFFF"/>
                </a:solidFill>
                <a:latin typeface="Arial"/>
                <a:ea typeface="Arial"/>
                <a:cs typeface="Arial"/>
                <a:sym typeface="Arial"/>
              </a:rPr>
              <a:t>Next step written</a:t>
            </a:r>
            <a:endParaRPr b="0" i="0" sz="1900" u="none" cap="none" strike="noStrike">
              <a:solidFill>
                <a:schemeClr val="dk1"/>
              </a:solidFill>
              <a:latin typeface="Arial"/>
              <a:ea typeface="Arial"/>
              <a:cs typeface="Arial"/>
              <a:sym typeface="Arial"/>
            </a:endParaRPr>
          </a:p>
        </p:txBody>
      </p:sp>
      <p:sp>
        <p:nvSpPr>
          <p:cNvPr id="370" name="Google Shape;370;p19"/>
          <p:cNvSpPr/>
          <p:nvPr/>
        </p:nvSpPr>
        <p:spPr>
          <a:xfrm>
            <a:off x="7315200" y="2011680"/>
            <a:ext cx="3383280" cy="2423160"/>
          </a:xfrm>
          <a:prstGeom prst="roundRect">
            <a:avLst>
              <a:gd fmla="val 1887"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9"/>
          <p:cNvSpPr/>
          <p:nvPr/>
        </p:nvSpPr>
        <p:spPr>
          <a:xfrm>
            <a:off x="7635240" y="2331720"/>
            <a:ext cx="27432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2100"/>
              <a:buFont typeface="Arial"/>
              <a:buNone/>
            </a:pPr>
            <a:r>
              <a:rPr b="1" i="0" lang="en-US" sz="2100" u="none" cap="none" strike="noStrike">
                <a:solidFill>
                  <a:srgbClr val="FF1E1E"/>
                </a:solidFill>
                <a:latin typeface="Arial"/>
                <a:ea typeface="Arial"/>
                <a:cs typeface="Arial"/>
                <a:sym typeface="Arial"/>
              </a:rPr>
              <a:t>Checkpoint</a:t>
            </a:r>
            <a:endParaRPr b="0" i="0" sz="2100" u="none" cap="none" strike="noStrike">
              <a:solidFill>
                <a:schemeClr val="dk1"/>
              </a:solidFill>
              <a:latin typeface="Arial"/>
              <a:ea typeface="Arial"/>
              <a:cs typeface="Arial"/>
              <a:sym typeface="Arial"/>
            </a:endParaRPr>
          </a:p>
        </p:txBody>
      </p:sp>
      <p:sp>
        <p:nvSpPr>
          <p:cNvPr id="372" name="Google Shape;372;p19"/>
          <p:cNvSpPr/>
          <p:nvPr/>
        </p:nvSpPr>
        <p:spPr>
          <a:xfrm>
            <a:off x="7635240" y="2999232"/>
            <a:ext cx="2743200" cy="731520"/>
          </a:xfrm>
          <a:prstGeom prst="rect">
            <a:avLst/>
          </a:prstGeom>
          <a:noFill/>
          <a:ln>
            <a:noFill/>
          </a:ln>
        </p:spPr>
        <p:txBody>
          <a:bodyPr anchorCtr="0" anchor="ctr" bIns="250" lIns="250" spcFirstLastPara="1" rIns="250" wrap="square" tIns="250">
            <a:noAutofit/>
          </a:bodyPr>
          <a:lstStyle/>
          <a:p>
            <a:pPr indent="0" lvl="0" marL="0" marR="0" rtl="0" algn="ctr">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Can another person understand what you did without asking you to remember it?</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77" name="Shape 377"/>
        <p:cNvGrpSpPr/>
        <p:nvPr/>
      </p:nvGrpSpPr>
      <p:grpSpPr>
        <a:xfrm>
          <a:off x="0" y="0"/>
          <a:ext cx="0" cy="0"/>
          <a:chOff x="0" y="0"/>
          <a:chExt cx="0" cy="0"/>
        </a:xfrm>
      </p:grpSpPr>
      <p:sp>
        <p:nvSpPr>
          <p:cNvPr id="378" name="Google Shape;378;p20"/>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0"/>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20"/>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381" name="Google Shape;381;p20"/>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382" name="Google Shape;382;p20"/>
          <p:cNvSpPr/>
          <p:nvPr/>
        </p:nvSpPr>
        <p:spPr>
          <a:xfrm>
            <a:off x="566928" y="621792"/>
            <a:ext cx="1042416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500"/>
              <a:buFont typeface="Arial"/>
              <a:buNone/>
            </a:pPr>
            <a:r>
              <a:rPr b="1" i="0" lang="en-US" sz="2500" u="none" cap="none" strike="noStrike">
                <a:solidFill>
                  <a:srgbClr val="FFFFFF"/>
                </a:solidFill>
                <a:latin typeface="Arial"/>
                <a:ea typeface="Arial"/>
                <a:cs typeface="Arial"/>
                <a:sym typeface="Arial"/>
              </a:rPr>
              <a:t>Exit ticket</a:t>
            </a:r>
            <a:endParaRPr b="0" i="0" sz="2500" u="none" cap="none" strike="noStrike">
              <a:solidFill>
                <a:schemeClr val="dk1"/>
              </a:solidFill>
              <a:latin typeface="Arial"/>
              <a:ea typeface="Arial"/>
              <a:cs typeface="Arial"/>
              <a:sym typeface="Arial"/>
            </a:endParaRPr>
          </a:p>
        </p:txBody>
      </p:sp>
      <p:cxnSp>
        <p:nvCxnSpPr>
          <p:cNvPr id="383" name="Google Shape;383;p20"/>
          <p:cNvCxnSpPr/>
          <p:nvPr/>
        </p:nvCxnSpPr>
        <p:spPr>
          <a:xfrm>
            <a:off x="566928" y="1207008"/>
            <a:ext cx="1828800" cy="0"/>
          </a:xfrm>
          <a:prstGeom prst="straightConnector1">
            <a:avLst/>
          </a:prstGeom>
          <a:noFill/>
          <a:ln cap="flat" cmpd="sng" w="25400">
            <a:solidFill>
              <a:srgbClr val="FF1E1E"/>
            </a:solidFill>
            <a:prstDash val="solid"/>
            <a:round/>
            <a:headEnd len="sm" w="sm" type="none"/>
            <a:tailEnd len="sm" w="sm" type="none"/>
          </a:ln>
        </p:spPr>
      </p:cxnSp>
      <p:sp>
        <p:nvSpPr>
          <p:cNvPr id="384" name="Google Shape;384;p20"/>
          <p:cNvSpPr/>
          <p:nvPr/>
        </p:nvSpPr>
        <p:spPr>
          <a:xfrm>
            <a:off x="566928" y="1298448"/>
            <a:ext cx="104241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1250"/>
              <a:buFont typeface="Arial"/>
              <a:buNone/>
            </a:pPr>
            <a:r>
              <a:rPr b="0" i="0" lang="en-US" sz="1250" u="none" cap="none" strike="noStrike">
                <a:solidFill>
                  <a:srgbClr val="A6A6A6"/>
                </a:solidFill>
                <a:latin typeface="Arial"/>
                <a:ea typeface="Arial"/>
                <a:cs typeface="Arial"/>
                <a:sym typeface="Arial"/>
              </a:rPr>
              <a:t>Before you leave, prove your journal is ready to support your research.</a:t>
            </a:r>
            <a:endParaRPr b="0" i="0" sz="1250" u="none" cap="none" strike="noStrike">
              <a:solidFill>
                <a:schemeClr val="dk1"/>
              </a:solidFill>
              <a:latin typeface="Arial"/>
              <a:ea typeface="Arial"/>
              <a:cs typeface="Arial"/>
              <a:sym typeface="Arial"/>
            </a:endParaRPr>
          </a:p>
        </p:txBody>
      </p:sp>
      <p:sp>
        <p:nvSpPr>
          <p:cNvPr id="385" name="Google Shape;385;p20"/>
          <p:cNvSpPr/>
          <p:nvPr/>
        </p:nvSpPr>
        <p:spPr>
          <a:xfrm>
            <a:off x="566928" y="1627632"/>
            <a:ext cx="2057400" cy="274320"/>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20"/>
          <p:cNvSpPr/>
          <p:nvPr/>
        </p:nvSpPr>
        <p:spPr>
          <a:xfrm>
            <a:off x="694944" y="1691640"/>
            <a:ext cx="1783080" cy="1097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Arial"/>
              <a:buNone/>
            </a:pPr>
            <a:r>
              <a:rPr b="1" i="0" lang="en-US" sz="800" u="none" cap="none" strike="noStrike">
                <a:solidFill>
                  <a:srgbClr val="FFFFFF"/>
                </a:solidFill>
                <a:latin typeface="Arial"/>
                <a:ea typeface="Arial"/>
                <a:cs typeface="Arial"/>
                <a:sym typeface="Arial"/>
              </a:rPr>
              <a:t>EXIT TICKET</a:t>
            </a:r>
            <a:endParaRPr b="0" i="0" sz="800" u="none" cap="none" strike="noStrike">
              <a:solidFill>
                <a:schemeClr val="dk1"/>
              </a:solidFill>
              <a:latin typeface="Arial"/>
              <a:ea typeface="Arial"/>
              <a:cs typeface="Arial"/>
              <a:sym typeface="Arial"/>
            </a:endParaRPr>
          </a:p>
        </p:txBody>
      </p:sp>
      <p:sp>
        <p:nvSpPr>
          <p:cNvPr id="387" name="Google Shape;387;p20"/>
          <p:cNvSpPr/>
          <p:nvPr/>
        </p:nvSpPr>
        <p:spPr>
          <a:xfrm>
            <a:off x="914400" y="2240280"/>
            <a:ext cx="10149840" cy="2331720"/>
          </a:xfrm>
          <a:prstGeom prst="roundRect">
            <a:avLst>
              <a:gd fmla="val 1961" name="adj"/>
            </a:avLst>
          </a:prstGeom>
          <a:solidFill>
            <a:srgbClr val="000000">
              <a:alpha val="0"/>
            </a:srgbClr>
          </a:solidFill>
          <a:ln cap="flat" cmpd="sng" w="12700">
            <a:solidFill>
              <a:srgbClr val="7A7A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0"/>
          <p:cNvSpPr/>
          <p:nvPr/>
        </p:nvSpPr>
        <p:spPr>
          <a:xfrm>
            <a:off x="1234440" y="2633472"/>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89" name="Google Shape;389;p20"/>
          <p:cNvSpPr/>
          <p:nvPr/>
        </p:nvSpPr>
        <p:spPr>
          <a:xfrm>
            <a:off x="1545336" y="2615184"/>
            <a:ext cx="932688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Where is your journal located?</a:t>
            </a:r>
            <a:endParaRPr b="0" i="0" sz="1800" u="none" cap="none" strike="noStrike">
              <a:solidFill>
                <a:schemeClr val="dk1"/>
              </a:solidFill>
              <a:latin typeface="Arial"/>
              <a:ea typeface="Arial"/>
              <a:cs typeface="Arial"/>
              <a:sym typeface="Arial"/>
            </a:endParaRPr>
          </a:p>
        </p:txBody>
      </p:sp>
      <p:sp>
        <p:nvSpPr>
          <p:cNvPr id="390" name="Google Shape;390;p20"/>
          <p:cNvSpPr/>
          <p:nvPr/>
        </p:nvSpPr>
        <p:spPr>
          <a:xfrm>
            <a:off x="1234440" y="310896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91" name="Google Shape;391;p20"/>
          <p:cNvSpPr/>
          <p:nvPr/>
        </p:nvSpPr>
        <p:spPr>
          <a:xfrm>
            <a:off x="1545336" y="3090672"/>
            <a:ext cx="932688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What evidence will you link to it?</a:t>
            </a:r>
            <a:endParaRPr b="0" i="0" sz="1800" u="none" cap="none" strike="noStrike">
              <a:solidFill>
                <a:schemeClr val="dk1"/>
              </a:solidFill>
              <a:latin typeface="Arial"/>
              <a:ea typeface="Arial"/>
              <a:cs typeface="Arial"/>
              <a:sym typeface="Arial"/>
            </a:endParaRPr>
          </a:p>
        </p:txBody>
      </p:sp>
      <p:sp>
        <p:nvSpPr>
          <p:cNvPr id="392" name="Google Shape;392;p20"/>
          <p:cNvSpPr/>
          <p:nvPr/>
        </p:nvSpPr>
        <p:spPr>
          <a:xfrm>
            <a:off x="1234440" y="3584448"/>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93" name="Google Shape;393;p20"/>
          <p:cNvSpPr/>
          <p:nvPr/>
        </p:nvSpPr>
        <p:spPr>
          <a:xfrm>
            <a:off x="1545336" y="3566160"/>
            <a:ext cx="932688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What will you record after your next pilot test?</a:t>
            </a:r>
            <a:endParaRPr b="0" i="0" sz="1800" u="none" cap="none" strike="noStrike">
              <a:solidFill>
                <a:schemeClr val="dk1"/>
              </a:solidFill>
              <a:latin typeface="Arial"/>
              <a:ea typeface="Arial"/>
              <a:cs typeface="Arial"/>
              <a:sym typeface="Arial"/>
            </a:endParaRPr>
          </a:p>
        </p:txBody>
      </p:sp>
      <p:sp>
        <p:nvSpPr>
          <p:cNvPr id="394" name="Google Shape;394;p20"/>
          <p:cNvSpPr/>
          <p:nvPr/>
        </p:nvSpPr>
        <p:spPr>
          <a:xfrm>
            <a:off x="1234440" y="4059936"/>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395" name="Google Shape;395;p20"/>
          <p:cNvSpPr/>
          <p:nvPr/>
        </p:nvSpPr>
        <p:spPr>
          <a:xfrm>
            <a:off x="1545336" y="4041648"/>
            <a:ext cx="932688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What is one documentation habit you need to improve?</a:t>
            </a:r>
            <a:endParaRPr b="0" i="0" sz="1800" u="none" cap="none" strike="noStrike">
              <a:solidFill>
                <a:schemeClr val="dk1"/>
              </a:solidFill>
              <a:latin typeface="Arial"/>
              <a:ea typeface="Arial"/>
              <a:cs typeface="Arial"/>
              <a:sym typeface="Arial"/>
            </a:endParaRPr>
          </a:p>
        </p:txBody>
      </p:sp>
      <p:sp>
        <p:nvSpPr>
          <p:cNvPr id="396" name="Google Shape;396;p20"/>
          <p:cNvSpPr/>
          <p:nvPr/>
        </p:nvSpPr>
        <p:spPr>
          <a:xfrm>
            <a:off x="914400" y="5074920"/>
            <a:ext cx="101498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1E1E"/>
              </a:buClr>
              <a:buSzPts val="1800"/>
              <a:buFont typeface="Arial"/>
              <a:buNone/>
            </a:pPr>
            <a:r>
              <a:rPr b="1" i="0" lang="en-US" sz="1800" u="none" cap="none" strike="noStrike">
                <a:solidFill>
                  <a:srgbClr val="FF1E1E"/>
                </a:solidFill>
                <a:latin typeface="Arial"/>
                <a:ea typeface="Arial"/>
                <a:cs typeface="Arial"/>
                <a:sym typeface="Arial"/>
              </a:rPr>
              <a:t>Submit: journal link/location + today’s first entry.</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01" name="Shape 401"/>
        <p:cNvGrpSpPr/>
        <p:nvPr/>
      </p:nvGrpSpPr>
      <p:grpSpPr>
        <a:xfrm>
          <a:off x="0" y="0"/>
          <a:ext cx="0" cy="0"/>
          <a:chOff x="0" y="0"/>
          <a:chExt cx="0" cy="0"/>
        </a:xfrm>
      </p:grpSpPr>
      <p:sp>
        <p:nvSpPr>
          <p:cNvPr id="402" name="Google Shape;402;p21"/>
          <p:cNvSpPr/>
          <p:nvPr/>
        </p:nvSpPr>
        <p:spPr>
          <a:xfrm>
            <a:off x="0" y="310896"/>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21"/>
          <p:cNvSpPr/>
          <p:nvPr/>
        </p:nvSpPr>
        <p:spPr>
          <a:xfrm>
            <a:off x="0" y="6473952"/>
            <a:ext cx="12191695" cy="54864"/>
          </a:xfrm>
          <a:prstGeom prst="rect">
            <a:avLst/>
          </a:prstGeom>
          <a:solidFill>
            <a:srgbClr val="FF1E1E"/>
          </a:solidFill>
          <a:ln cap="flat" cmpd="sng" w="12700">
            <a:solidFill>
              <a:srgbClr val="FF1E1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21"/>
          <p:cNvSpPr/>
          <p:nvPr/>
        </p:nvSpPr>
        <p:spPr>
          <a:xfrm>
            <a:off x="384048" y="6565392"/>
            <a:ext cx="39319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6A6A6"/>
              </a:buClr>
              <a:buSzPts val="750"/>
              <a:buFont typeface="Arial"/>
              <a:buNone/>
            </a:pPr>
            <a:r>
              <a:rPr b="0" i="0" lang="en-US" sz="750" u="none" cap="none" strike="noStrike">
                <a:solidFill>
                  <a:srgbClr val="A6A6A6"/>
                </a:solidFill>
                <a:latin typeface="Arial"/>
                <a:ea typeface="Arial"/>
                <a:cs typeface="Arial"/>
                <a:sym typeface="Arial"/>
              </a:rPr>
              <a:t>STARLAB Deck 07</a:t>
            </a:r>
            <a:endParaRPr b="0" i="0" sz="750" u="none" cap="none" strike="noStrike">
              <a:solidFill>
                <a:schemeClr val="dk1"/>
              </a:solidFill>
              <a:latin typeface="Arial"/>
              <a:ea typeface="Arial"/>
              <a:cs typeface="Arial"/>
              <a:sym typeface="Arial"/>
            </a:endParaRPr>
          </a:p>
        </p:txBody>
      </p:sp>
      <p:sp>
        <p:nvSpPr>
          <p:cNvPr id="405" name="Google Shape;405;p21"/>
          <p:cNvSpPr/>
          <p:nvPr/>
        </p:nvSpPr>
        <p:spPr>
          <a:xfrm>
            <a:off x="10469880" y="6556248"/>
            <a:ext cx="132588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A6A6A6"/>
              </a:buClr>
              <a:buSzPts val="800"/>
              <a:buFont typeface="Arial"/>
              <a:buNone/>
            </a:pPr>
            <a:r>
              <a:rPr b="1" i="0" lang="en-US" sz="800" u="none" cap="none" strike="noStrike">
                <a:solidFill>
                  <a:srgbClr val="A6A6A6"/>
                </a:solidFill>
                <a:latin typeface="Arial"/>
                <a:ea typeface="Arial"/>
                <a:cs typeface="Arial"/>
                <a:sym typeface="Arial"/>
              </a:rPr>
              <a:t>STARLAB</a:t>
            </a:r>
            <a:endParaRPr b="0" i="0" sz="800" u="none" cap="none" strike="noStrike">
              <a:solidFill>
                <a:schemeClr val="dk1"/>
              </a:solidFill>
              <a:latin typeface="Arial"/>
              <a:ea typeface="Arial"/>
              <a:cs typeface="Arial"/>
              <a:sym typeface="Arial"/>
            </a:endParaRPr>
          </a:p>
        </p:txBody>
      </p:sp>
      <p:sp>
        <p:nvSpPr>
          <p:cNvPr id="406" name="Google Shape;406;p21"/>
          <p:cNvSpPr/>
          <p:nvPr/>
        </p:nvSpPr>
        <p:spPr>
          <a:xfrm>
            <a:off x="822960" y="1143000"/>
            <a:ext cx="106070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RESEARCH JOURNALS ARE YOUR PROJECT’S MEMORY</a:t>
            </a:r>
            <a:endParaRPr b="0" i="0" sz="2800" u="none" cap="none" strike="noStrike">
              <a:solidFill>
                <a:schemeClr val="dk1"/>
              </a:solidFill>
              <a:latin typeface="Arial"/>
              <a:ea typeface="Arial"/>
              <a:cs typeface="Arial"/>
              <a:sym typeface="Arial"/>
            </a:endParaRPr>
          </a:p>
        </p:txBody>
      </p:sp>
      <p:cxnSp>
        <p:nvCxnSpPr>
          <p:cNvPr id="407" name="Google Shape;407;p21"/>
          <p:cNvCxnSpPr/>
          <p:nvPr/>
        </p:nvCxnSpPr>
        <p:spPr>
          <a:xfrm>
            <a:off x="3931920" y="1874520"/>
            <a:ext cx="4343400" cy="0"/>
          </a:xfrm>
          <a:prstGeom prst="straightConnector1">
            <a:avLst/>
          </a:prstGeom>
          <a:noFill/>
          <a:ln cap="flat" cmpd="sng" w="25400">
            <a:solidFill>
              <a:srgbClr val="FF1E1E"/>
            </a:solidFill>
            <a:prstDash val="solid"/>
            <a:round/>
            <a:headEnd len="sm" w="sm" type="none"/>
            <a:tailEnd len="sm" w="sm" type="none"/>
          </a:ln>
        </p:spPr>
      </p:cxnSp>
      <p:sp>
        <p:nvSpPr>
          <p:cNvPr id="408" name="Google Shape;408;p21"/>
          <p:cNvSpPr/>
          <p:nvPr/>
        </p:nvSpPr>
        <p:spPr>
          <a:xfrm>
            <a:off x="1417320" y="2514600"/>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409" name="Google Shape;409;p21"/>
          <p:cNvSpPr/>
          <p:nvPr/>
        </p:nvSpPr>
        <p:spPr>
          <a:xfrm>
            <a:off x="1728216" y="2496312"/>
            <a:ext cx="91440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Write what actually happened.</a:t>
            </a:r>
            <a:endParaRPr b="0" i="0" sz="2000" u="none" cap="none" strike="noStrike">
              <a:solidFill>
                <a:schemeClr val="dk1"/>
              </a:solidFill>
              <a:latin typeface="Arial"/>
              <a:ea typeface="Arial"/>
              <a:cs typeface="Arial"/>
              <a:sym typeface="Arial"/>
            </a:endParaRPr>
          </a:p>
        </p:txBody>
      </p:sp>
      <p:sp>
        <p:nvSpPr>
          <p:cNvPr id="410" name="Google Shape;410;p21"/>
          <p:cNvSpPr/>
          <p:nvPr/>
        </p:nvSpPr>
        <p:spPr>
          <a:xfrm>
            <a:off x="1417320" y="3099816"/>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411" name="Google Shape;411;p21"/>
          <p:cNvSpPr/>
          <p:nvPr/>
        </p:nvSpPr>
        <p:spPr>
          <a:xfrm>
            <a:off x="1728216" y="3081528"/>
            <a:ext cx="91440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Keep raw data connected to context.</a:t>
            </a:r>
            <a:endParaRPr b="0" i="0" sz="2000" u="none" cap="none" strike="noStrike">
              <a:solidFill>
                <a:schemeClr val="dk1"/>
              </a:solidFill>
              <a:latin typeface="Arial"/>
              <a:ea typeface="Arial"/>
              <a:cs typeface="Arial"/>
              <a:sym typeface="Arial"/>
            </a:endParaRPr>
          </a:p>
        </p:txBody>
      </p:sp>
      <p:sp>
        <p:nvSpPr>
          <p:cNvPr id="412" name="Google Shape;412;p21"/>
          <p:cNvSpPr/>
          <p:nvPr/>
        </p:nvSpPr>
        <p:spPr>
          <a:xfrm>
            <a:off x="1417320" y="3685032"/>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413" name="Google Shape;413;p21"/>
          <p:cNvSpPr/>
          <p:nvPr/>
        </p:nvSpPr>
        <p:spPr>
          <a:xfrm>
            <a:off x="1728216" y="3666744"/>
            <a:ext cx="91440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Document failures and revisions honestly.</a:t>
            </a:r>
            <a:endParaRPr b="0" i="0" sz="2000" u="none" cap="none" strike="noStrike">
              <a:solidFill>
                <a:schemeClr val="dk1"/>
              </a:solidFill>
              <a:latin typeface="Arial"/>
              <a:ea typeface="Arial"/>
              <a:cs typeface="Arial"/>
              <a:sym typeface="Arial"/>
            </a:endParaRPr>
          </a:p>
        </p:txBody>
      </p:sp>
      <p:sp>
        <p:nvSpPr>
          <p:cNvPr id="414" name="Google Shape;414;p21"/>
          <p:cNvSpPr/>
          <p:nvPr/>
        </p:nvSpPr>
        <p:spPr>
          <a:xfrm>
            <a:off x="1417320" y="4270248"/>
            <a:ext cx="182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1E1E"/>
              </a:buClr>
              <a:buSzPts val="2000"/>
              <a:buFont typeface="Arial"/>
              <a:buNone/>
            </a:pPr>
            <a:r>
              <a:rPr b="1" i="0" lang="en-US" sz="2000" u="none" cap="none" strike="noStrike">
                <a:solidFill>
                  <a:srgbClr val="FF1E1E"/>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415" name="Google Shape;415;p21"/>
          <p:cNvSpPr/>
          <p:nvPr/>
        </p:nvSpPr>
        <p:spPr>
          <a:xfrm>
            <a:off x="1728216" y="4251960"/>
            <a:ext cx="9144000" cy="310896"/>
          </a:xfrm>
          <a:prstGeom prst="rect">
            <a:avLst/>
          </a:prstGeom>
          <a:noFill/>
          <a:ln>
            <a:noFill/>
          </a:ln>
        </p:spPr>
        <p:txBody>
          <a:bodyPr anchorCtr="0" anchor="ctr" bIns="125" lIns="125" spcFirstLastPara="1" rIns="125" wrap="square" tIns="125">
            <a:no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Make your future report easier to write.</a:t>
            </a:r>
            <a:endParaRPr b="0" i="0" sz="2000" u="none" cap="none" strike="noStrike">
              <a:solidFill>
                <a:schemeClr val="dk1"/>
              </a:solidFill>
              <a:latin typeface="Arial"/>
              <a:ea typeface="Arial"/>
              <a:cs typeface="Arial"/>
              <a:sym typeface="Arial"/>
            </a:endParaRPr>
          </a:p>
        </p:txBody>
      </p:sp>
      <p:sp>
        <p:nvSpPr>
          <p:cNvPr id="416" name="Google Shape;416;p21"/>
          <p:cNvSpPr/>
          <p:nvPr/>
        </p:nvSpPr>
        <p:spPr>
          <a:xfrm>
            <a:off x="2011680" y="5349240"/>
            <a:ext cx="8138160" cy="502920"/>
          </a:xfrm>
          <a:prstGeom prst="roundRect">
            <a:avLst>
              <a:gd fmla="val 9091" name="adj"/>
            </a:avLst>
          </a:prstGeom>
          <a:solidFill>
            <a:srgbClr val="000000">
              <a:alpha val="0"/>
            </a:srgbClr>
          </a:solidFill>
          <a:ln cap="flat" cmpd="sng" w="12700">
            <a:solidFill>
              <a:srgbClr val="FF1E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1"/>
          <p:cNvSpPr/>
          <p:nvPr/>
        </p:nvSpPr>
        <p:spPr>
          <a:xfrm>
            <a:off x="2148840" y="5522976"/>
            <a:ext cx="786384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50"/>
              <a:buFont typeface="Arial"/>
              <a:buNone/>
            </a:pPr>
            <a:r>
              <a:rPr b="1" i="0" lang="en-US" sz="1450" u="none" cap="none" strike="noStrike">
                <a:solidFill>
                  <a:srgbClr val="FFFFFF"/>
                </a:solidFill>
                <a:latin typeface="Arial"/>
                <a:ea typeface="Arial"/>
                <a:cs typeface="Arial"/>
                <a:sym typeface="Arial"/>
              </a:rPr>
              <a:t>Next Deck: Troubleshooting and Responsible Project Pivots</a:t>
            </a:r>
            <a:endParaRPr b="0" i="0" sz="14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