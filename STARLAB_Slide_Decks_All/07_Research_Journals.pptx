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94c06f377c4060" /><Relationship Type="http://schemas.openxmlformats.org/officeDocument/2006/relationships/extended-properties" Target="/docProps/app.xml" Id="Ref2ca8168e42449d" /><Relationship Type="http://schemas.openxmlformats.org/officeDocument/2006/relationships/officeDocument" Target="/ppt/presentation.xml" Id="Rf8e9bc3df6444057" /></Relationships>
</file>

<file path=ppt/presentation.xml><?xml version="1.0" encoding="utf-8"?>
<p:presentation xmlns:p="http://schemas.openxmlformats.org/presentationml/2006/main">
  <p:sldMasterIdLst>
    <p:sldMasterId xmlns:r="http://schemas.openxmlformats.org/officeDocument/2006/relationships" id="2147483648" r:id="Refe15755c9a749cb"/>
  </p:sldMasterIdLst>
  <p:notesMasterIdLst>
    <p:notesMasterId xmlns:r="http://schemas.openxmlformats.org/officeDocument/2006/relationships" r:id="Re770d1eaf9d64ff7"/>
  </p:notesMasterIdLst>
  <p:sldIdLst>
    <p:sldId xmlns:r="http://schemas.openxmlformats.org/officeDocument/2006/relationships" id="256" r:id="R2299051e2acf47de"/>
    <p:sldId xmlns:r="http://schemas.openxmlformats.org/officeDocument/2006/relationships" id="257" r:id="R58027622ded9413d"/>
    <p:sldId xmlns:r="http://schemas.openxmlformats.org/officeDocument/2006/relationships" id="258" r:id="R8dc44a6cb5524d11"/>
    <p:sldId xmlns:r="http://schemas.openxmlformats.org/officeDocument/2006/relationships" id="259" r:id="R27eeb8b402314b18"/>
    <p:sldId xmlns:r="http://schemas.openxmlformats.org/officeDocument/2006/relationships" id="260" r:id="Re5545c4484fa466e"/>
    <p:sldId xmlns:r="http://schemas.openxmlformats.org/officeDocument/2006/relationships" id="261" r:id="Red6bc18c2ca24c01"/>
    <p:sldId xmlns:r="http://schemas.openxmlformats.org/officeDocument/2006/relationships" id="262" r:id="R8c5cef36b6554281"/>
    <p:sldId xmlns:r="http://schemas.openxmlformats.org/officeDocument/2006/relationships" id="263" r:id="R88724fd589b34e27"/>
    <p:sldId xmlns:r="http://schemas.openxmlformats.org/officeDocument/2006/relationships" id="264" r:id="Reb192a6100d54988"/>
    <p:sldId xmlns:r="http://schemas.openxmlformats.org/officeDocument/2006/relationships" id="265" r:id="Re2b9dd8dca6d4de1"/>
    <p:sldId xmlns:r="http://schemas.openxmlformats.org/officeDocument/2006/relationships" id="266" r:id="R83cd36e224a94b62"/>
    <p:sldId xmlns:r="http://schemas.openxmlformats.org/officeDocument/2006/relationships" id="267" r:id="R8ab31d88824a40db"/>
    <p:sldId xmlns:r="http://schemas.openxmlformats.org/officeDocument/2006/relationships" id="268" r:id="R7040bd7400164205"/>
    <p:sldId xmlns:r="http://schemas.openxmlformats.org/officeDocument/2006/relationships" id="269" r:id="R2c5b326ff445455c"/>
    <p:sldId xmlns:r="http://schemas.openxmlformats.org/officeDocument/2006/relationships" id="270" r:id="R43317555312d405f"/>
    <p:sldId xmlns:r="http://schemas.openxmlformats.org/officeDocument/2006/relationships" id="271" r:id="R57b3bc5e96ab466e"/>
    <p:sldId xmlns:r="http://schemas.openxmlformats.org/officeDocument/2006/relationships" id="272" r:id="Rc1dfe20e6d5c451f"/>
    <p:sldId xmlns:r="http://schemas.openxmlformats.org/officeDocument/2006/relationships" id="273" r:id="Rf286ef840f95483b"/>
  </p:sldIdLst>
  <p:sldSz cx="1219167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a4e210587e74be2" /><Relationship Type="http://schemas.openxmlformats.org/officeDocument/2006/relationships/slideMaster" Target="/ppt/slideMasters/slideMaster1.xml" Id="Refe15755c9a749cb" /><Relationship Type="http://schemas.openxmlformats.org/officeDocument/2006/relationships/notesMaster" Target="/ppt/notesMasters/notesMaster1.xml" Id="Re770d1eaf9d64ff7" /><Relationship Type="http://schemas.openxmlformats.org/officeDocument/2006/relationships/presProps" Target="/ppt/presProps.xml" Id="Re23e612ffcb649f9" /><Relationship Type="http://schemas.openxmlformats.org/officeDocument/2006/relationships/tableStyles" Target="/ppt/tableStyles.xml" Id="Rd16415ba8a004d8f" /><Relationship Type="http://schemas.openxmlformats.org/officeDocument/2006/relationships/slide" Target="/ppt/slides/slide1.xml" Id="R2299051e2acf47de" /><Relationship Type="http://schemas.openxmlformats.org/officeDocument/2006/relationships/slide" Target="/ppt/slides/slide2.xml" Id="R58027622ded9413d" /><Relationship Type="http://schemas.openxmlformats.org/officeDocument/2006/relationships/slide" Target="/ppt/slides/slide3.xml" Id="R8dc44a6cb5524d11" /><Relationship Type="http://schemas.openxmlformats.org/officeDocument/2006/relationships/slide" Target="/ppt/slides/slide4.xml" Id="R27eeb8b402314b18" /><Relationship Type="http://schemas.openxmlformats.org/officeDocument/2006/relationships/slide" Target="/ppt/slides/slide5.xml" Id="Re5545c4484fa466e" /><Relationship Type="http://schemas.openxmlformats.org/officeDocument/2006/relationships/slide" Target="/ppt/slides/slide6.xml" Id="Red6bc18c2ca24c01" /><Relationship Type="http://schemas.openxmlformats.org/officeDocument/2006/relationships/slide" Target="/ppt/slides/slide7.xml" Id="R8c5cef36b6554281" /><Relationship Type="http://schemas.openxmlformats.org/officeDocument/2006/relationships/slide" Target="/ppt/slides/slide8.xml" Id="R88724fd589b34e27" /><Relationship Type="http://schemas.openxmlformats.org/officeDocument/2006/relationships/slide" Target="/ppt/slides/slide9.xml" Id="Reb192a6100d54988" /><Relationship Type="http://schemas.openxmlformats.org/officeDocument/2006/relationships/slide" Target="/ppt/slides/slide10.xml" Id="Re2b9dd8dca6d4de1" /><Relationship Type="http://schemas.openxmlformats.org/officeDocument/2006/relationships/slide" Target="/ppt/slides/slide11.xml" Id="R83cd36e224a94b62" /><Relationship Type="http://schemas.openxmlformats.org/officeDocument/2006/relationships/slide" Target="/ppt/slides/slide12.xml" Id="R8ab31d88824a40db" /><Relationship Type="http://schemas.openxmlformats.org/officeDocument/2006/relationships/slide" Target="/ppt/slides/slide13.xml" Id="R7040bd7400164205" /><Relationship Type="http://schemas.openxmlformats.org/officeDocument/2006/relationships/slide" Target="/ppt/slides/slide14.xml" Id="R2c5b326ff445455c" /><Relationship Type="http://schemas.openxmlformats.org/officeDocument/2006/relationships/slide" Target="/ppt/slides/slide15.xml" Id="R43317555312d405f" /><Relationship Type="http://schemas.openxmlformats.org/officeDocument/2006/relationships/slide" Target="/ppt/slides/slide16.xml" Id="R57b3bc5e96ab466e" /><Relationship Type="http://schemas.openxmlformats.org/officeDocument/2006/relationships/slide" Target="/ppt/slides/slide17.xml" Id="Rc1dfe20e6d5c451f" /><Relationship Type="http://schemas.openxmlformats.org/officeDocument/2006/relationships/slide" Target="/ppt/slides/slide18.xml" Id="Rf286ef840f95483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84596764f44e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2c77ecf6244aa8" /><Relationship Type="http://schemas.openxmlformats.org/officeDocument/2006/relationships/notesMaster" Target="/ppt/notesMasters/notesMaster1.xml" Id="R93d65dcf2e7740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56e613d08b40d8" /><Relationship Type="http://schemas.openxmlformats.org/officeDocument/2006/relationships/notesMaster" Target="/ppt/notesMasters/notesMaster1.xml" Id="R781380a7f95848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43ac92806d4b01" /><Relationship Type="http://schemas.openxmlformats.org/officeDocument/2006/relationships/notesMaster" Target="/ppt/notesMasters/notesMaster1.xml" Id="Rb1c53e6a404e45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4c55a38a3d411a" /><Relationship Type="http://schemas.openxmlformats.org/officeDocument/2006/relationships/notesMaster" Target="/ppt/notesMasters/notesMaster1.xml" Id="R8e097390fb2446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f8a13d6e3742c8" /><Relationship Type="http://schemas.openxmlformats.org/officeDocument/2006/relationships/notesMaster" Target="/ppt/notesMasters/notesMaster1.xml" Id="R9a02d3c9d45d4853"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a0700fa3b2417d" /><Relationship Type="http://schemas.openxmlformats.org/officeDocument/2006/relationships/notesMaster" Target="/ppt/notesMasters/notesMaster1.xml" Id="Ref5c11f0b4f540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5ea450110c4864" /><Relationship Type="http://schemas.openxmlformats.org/officeDocument/2006/relationships/notesMaster" Target="/ppt/notesMasters/notesMaster1.xml" Id="R7acb0090cc874d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189b3439ee4ecb" /><Relationship Type="http://schemas.openxmlformats.org/officeDocument/2006/relationships/notesMaster" Target="/ppt/notesMasters/notesMaster1.xml" Id="R74f8c0b6e21948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880b32505c4c6d" /><Relationship Type="http://schemas.openxmlformats.org/officeDocument/2006/relationships/notesMaster" Target="/ppt/notesMasters/notesMaster1.xml" Id="Rd9c5b10472b04b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f9e42590bf44a1" /><Relationship Type="http://schemas.openxmlformats.org/officeDocument/2006/relationships/notesMaster" Target="/ppt/notesMasters/notesMaster1.xml" Id="R48556e6cd76b447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0c176b1e58144d4" /><Relationship Type="http://schemas.openxmlformats.org/officeDocument/2006/relationships/notesMaster" Target="/ppt/notesMasters/notesMaster1.xml" Id="R0c56615a32e44d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7e11383eae04681" /><Relationship Type="http://schemas.openxmlformats.org/officeDocument/2006/relationships/notesMaster" Target="/ppt/notesMasters/notesMaster1.xml" Id="R4ba61ca9be1b4e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e395ec9cd804ce8" /><Relationship Type="http://schemas.openxmlformats.org/officeDocument/2006/relationships/notesMaster" Target="/ppt/notesMasters/notesMaster1.xml" Id="R2ee790f385ac4c5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77060d941524676" /><Relationship Type="http://schemas.openxmlformats.org/officeDocument/2006/relationships/notesMaster" Target="/ppt/notesMasters/notesMaster1.xml" Id="R7f4b12b9dae34f5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469fca7d0a341a5" /><Relationship Type="http://schemas.openxmlformats.org/officeDocument/2006/relationships/notesMaster" Target="/ppt/notesMasters/notesMaster1.xml" Id="R35f5fee9af9f452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710c2b43b7d4b64" /><Relationship Type="http://schemas.openxmlformats.org/officeDocument/2006/relationships/notesMaster" Target="/ppt/notesMasters/notesMaster1.xml" Id="Rf758dc02018a48d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e643ca51f934552" /><Relationship Type="http://schemas.openxmlformats.org/officeDocument/2006/relationships/notesMaster" Target="/ppt/notesMasters/notesMaster1.xml" Id="R4ff42d70a934465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42f66a5444142ff" /><Relationship Type="http://schemas.openxmlformats.org/officeDocument/2006/relationships/notesMaster" Target="/ppt/notesMasters/notesMaster1.xml" Id="R1b38a6503e284b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PRIMARY TEACHING MOMENT</a:t>
            </a:r>
          </a:p>
          <a:p xmlns:a="http://schemas.openxmlformats.org/drawingml/2006/main">
            <a:pPr marL="457200" marR="0" indent="-228600" algn="l">
              <a:lnSpc>
                <a:spcPct val="100000"/>
              </a:lnSpc>
              <a:spcBef>
                <a:spcPts val="0"/>
              </a:spcBef>
              <a:spcAft>
                <a:spcPts val="0"/>
              </a:spcAft>
              <a:buSzPts val="1400"/>
              <a:buNone/>
            </a:pPr>
            <a:r>
              <a:t>Unit 3, Week 5</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REVISIT / SECONDARY USE</a:t>
            </a:r>
          </a:p>
          <a:p xmlns:a="http://schemas.openxmlformats.org/drawingml/2006/main">
            <a:pPr marL="457200" marR="0" indent="-228600" algn="l">
              <a:lnSpc>
                <a:spcPct val="100000"/>
              </a:lnSpc>
              <a:spcBef>
                <a:spcPts val="0"/>
              </a:spcBef>
              <a:spcAft>
                <a:spcPts val="0"/>
              </a:spcAft>
              <a:buSzPts val="1400"/>
              <a:buNone/>
            </a:pPr>
            <a:r>
              <a:t>Use documentation routines throughout Unit 3 as needed</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PAIRED DECK</a:t>
            </a:r>
          </a:p>
          <a:p xmlns:a="http://schemas.openxmlformats.org/drawingml/2006/main">
            <a:pPr marL="457200" marR="0" indent="-228600" algn="l">
              <a:lnSpc>
                <a:spcPct val="100000"/>
              </a:lnSpc>
              <a:spcBef>
                <a:spcPts val="0"/>
              </a:spcBef>
              <a:spcAft>
                <a:spcPts val="0"/>
              </a:spcAft>
              <a:buSzPts val="1400"/>
              <a:buNone/>
            </a:pPr>
            <a:r>
              <a:t>Deck 6: Pilot Testing - Test Small First</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REQUIRED WEEK 5 MATERIALS</a:t>
            </a:r>
          </a:p>
          <a:p xmlns:a="http://schemas.openxmlformats.org/drawingml/2006/main">
            <a:pPr marL="457200" marR="0" indent="-228600" algn="l">
              <a:lnSpc>
                <a:spcPct val="100000"/>
              </a:lnSpc>
              <a:spcBef>
                <a:spcPts val="0"/>
              </a:spcBef>
              <a:spcAft>
                <a:spcPts val="0"/>
              </a:spcAft>
              <a:buSzPts val="1400"/>
              <a:buNone/>
            </a:pPr>
            <a:r>
              <a:t>Shared weekly packet for Decks 6 and 7:</a:t>
            </a:r>
          </a:p>
          <a:p xmlns:a="http://schemas.openxmlformats.org/drawingml/2006/main">
            <a:pPr marL="457200" marR="0" indent="-228600" algn="l">
              <a:lnSpc>
                <a:spcPct val="100000"/>
              </a:lnSpc>
              <a:spcBef>
                <a:spcPts val="0"/>
              </a:spcBef>
              <a:spcAft>
                <a:spcPts val="0"/>
              </a:spcAft>
              <a:buSzPts val="1400"/>
              <a:buNone/>
            </a:pPr>
            <a:r>
              <a:t>- Unit 3 Student Handouts 1-3</a:t>
            </a:r>
          </a:p>
          <a:p xmlns:a="http://schemas.openxmlformats.org/drawingml/2006/main">
            <a:pPr marL="457200" marR="0" indent="-228600" algn="l">
              <a:lnSpc>
                <a:spcPct val="100000"/>
              </a:lnSpc>
              <a:spcBef>
                <a:spcPts val="0"/>
              </a:spcBef>
              <a:spcAft>
                <a:spcPts val="0"/>
              </a:spcAft>
              <a:buSzPts val="1400"/>
              <a:buNone/>
            </a:pPr>
            <a:r>
              <a:t>- Unit 3 Appendices A-C</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LATER OPTIONAL / TEACHER REFERENCE</a:t>
            </a:r>
          </a:p>
          <a:p xmlns:a="http://schemas.openxmlformats.org/drawingml/2006/main">
            <a:pPr marL="457200" marR="0" indent="-228600" algn="l">
              <a:lnSpc>
                <a:spcPct val="100000"/>
              </a:lnSpc>
              <a:spcBef>
                <a:spcPts val="0"/>
              </a:spcBef>
              <a:spcAft>
                <a:spcPts val="0"/>
              </a:spcAft>
              <a:buSzPts val="1400"/>
              <a:buNone/>
            </a:pPr>
            <a:r>
              <a:t>- Unit 3 Student Handout 9: Weekly Progress Check-In</a:t>
            </a:r>
          </a:p>
          <a:p xmlns:a="http://schemas.openxmlformats.org/drawingml/2006/main">
            <a:pPr marL="457200" marR="0" indent="-228600" algn="l">
              <a:lnSpc>
                <a:spcPct val="100000"/>
              </a:lnSpc>
              <a:spcBef>
                <a:spcPts val="0"/>
              </a:spcBef>
              <a:spcAft>
                <a:spcPts val="0"/>
              </a:spcAft>
              <a:buSzPts val="1400"/>
              <a:buNone/>
            </a:pPr>
            <a:r>
              <a:t>- Unit 3 Student Handout 19: Research Journal Self-Assessment</a:t>
            </a:r>
          </a:p>
          <a:p xmlns:a="http://schemas.openxmlformats.org/drawingml/2006/main">
            <a:pPr marL="457200" marR="0" indent="-228600" algn="l">
              <a:lnSpc>
                <a:spcPct val="100000"/>
              </a:lnSpc>
              <a:spcBef>
                <a:spcPts val="0"/>
              </a:spcBef>
              <a:spcAft>
                <a:spcPts val="0"/>
              </a:spcAft>
              <a:buSzPts val="1400"/>
              <a:buNone/>
            </a:pPr>
            <a:r>
              <a:t>- Unit 3 Appendix Q: File and Data Organization Standards</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Introduce the journal system in Week 5. Revisit only the relevant documentation routine later; do not print later-week resources before their assigned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this slide to establish the core message of the deck: memory is not a reliable research system. Ask students to imagine a mentor, judge, teacher, or future version of themselves trying to reconstruct what happened weeks later. Emphasize that undocumented work cannot be defended well.</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Appendix B: Research Journal Standards. This slide sets up why students need Unit 3 Student Handout 2: Research Journal Setup before beginning regular pilot testing and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Stress the distinction between a research journal and a diary. The journal can include reflection, but every reflection should serve the project. Students should record plans, actions, evidence, decisions, and next steps as the project actually unfolds.</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Students should use this slide to understand what sections their journal system needs to include.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this slide to prevent students from copying lecture notes into a document and calling it a research journal. Ask students which side 'Trial 3 failed because the sensor disconnected' belongs on. The answer should be the research journal side because it documents project action.</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and Unit 3 Appendix B: Research Journal Standards.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Have students compare this list to the Daily Research Journal Entry Template. Tell students the template is a scaffold. Advanced students may customize the format as long as each entry still includes date, goal, action, data or observations, problems, decisions, and next steps.</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directly with Unit 3 Student Handout 3: Daily Research Journal Entry Template. This is the main structure students should use for daily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Have students practice converting an interpretive statement into observation plus interpretation. Example: 'It did not work because the motor is bad' becomes 'The motor stopped spinning after 12 seconds' and 'The motor may have overheated or lost power.' This distinction will help later troubleshooting and scientific writing.</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3: Daily Research Journal Entry Template, especially the Data/Observations and Problems/Unexpected Events sections. Also connects to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Students should develop the habit of linking journal entries to raw evidence. Model phrases like 'Data recorded in Sheet 1, Trial 4' or 'Photo saved as PrototypeB_Failure_10-12.' This will make Unit 4 analysis and Unit 5 report writing much easier.</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3: Daily Research Journal Entry Template and Unit 3 Appendix H: Raw Data Standards. Also supports later work with Unit 3 Student Handout 17: Data Audit and Organization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Normalize failure as useful evidence. Tell students that mentors and judges often trust projects more when students can explain failures and revisions clearly. A failed pilot test should be documented, not erased.</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4: Pilot Test Reflection and Troubleshooting Log. Also connects to Unit 3 Appendix B: Research Journal Standards and Unit 3 Appendix H: Raw Data Standards.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This slide supports method revision documentation. Students should understand that changing a method is not bad; changing it invisibly is the problem. Require students to record what changed, why it changed, who approved it, and what version is current.</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4: Pilot Test Reflection and Troubleshooting Log and Unit 3 Student Handout 6: Revised Procedure Template. Also connects to Unit 3 Student Handout 5: Method Revision Decision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Ask students what information is missing from the weak entry. Then ask which parts of the strong entry would help during analysis, report writing, or Q&amp;A. The key is specificity: trial number, measurement, failure location, file name, and next step.</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Appendix B: Research Journal Standards. This example also prepares students to use Unit 3 Student Handout 3: Daily Research Journal Entry Template more effectively.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Give students four minutes to mark missing details, then five minutes to rewrite the entry. Have pairs compare revised entries. Look for date, goal, action, data or observation, problem, change, and next step.</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directly with Unit 3 Student Handout 3: Daily Research Journal Entry Template. Students may also reference Unit 3 Appendix B: Research Journal Standards while revising the weak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Allow flexibility, but require consistency and teacher access. If your class uses one required platform, modify this slide verbally or in the deck. The best system is the one students will actually maintain and that the teacher can check.</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Students should select their approved journal format and document where the journal is located, how it will be accessed, and how it will be backed 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Connect this slide to future data organization. Students who name files well save time when they build reports and presentations. Encourage file names that include student name, project, item type, date, trial, or version.</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Appendix Q: File and Data Organization Standards. Also supports later work in Unit 4 Student Handout 1: Raw Data Inventory and Unit 4 Student Handout 2: Clean Data Set Builder.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these as weekly conference prompts. Students should be able to answer by pointing to journal entries and data files, not by relying on memory. This slide can become a recurring weekly check-in routine.</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9: Weekly Progress Check-In. Also connects to Unit 3 Student Handout 19: Research Journal Self-Assessment as a later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This is the main work-time activity. Give students eight to ten minutes to open or create their STARLAB journal, make the first entry, write a realistic next-session goal, and share the journal location. Circulate to verify that each student has an accessible system.</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directly with Unit 3 Student Handout 2: Research Journal Setup and Unit 3 Student Handout 3: Daily Research Journal Entry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Use this as the minimum readiness check for moving deeper into pilot testing. Students do not need a polished journal yet, but they need a usable system, teacher access, a first entry, a data location, and a next step.</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and Unit 3 Student Handout 3: Daily Research Journal Entry Template. Later, revisit these expectations with Unit 3 Student Handout 19: Research Journal Self-Assessment.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Collect this quickly. If using Google Classroom, an LMS, or a shared folder, have students submit the link. This exit ticket prevents students from entering Unit 3 without a working documentation system.</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with Unit 3 Student Handout 2: Research Journal Setup and Unit 3 Student Handout 3: Daily Research Journal Entry Template. Optional follow-up: Unit 3 Student Handout 9: Weekly Progress Check-In once students begin regular work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457200" marR="0" indent="-228600" algn="l">
              <a:lnSpc>
                <a:spcPct val="100000"/>
              </a:lnSpc>
              <a:spcBef>
                <a:spcPts val="0"/>
              </a:spcBef>
              <a:spcAft>
                <a:spcPts val="0"/>
              </a:spcAft>
              <a:buSzPts val="1400"/>
              <a:buNone/>
            </a:pPr>
            <a:r>
              <a:t>Teacher notes:</a:t>
            </a:r>
          </a:p>
          <a:p xmlns:a="http://schemas.openxmlformats.org/drawingml/2006/main">
            <a:pPr marL="457200" marR="0" indent="-228600" algn="l">
              <a:lnSpc>
                <a:spcPct val="100000"/>
              </a:lnSpc>
              <a:spcBef>
                <a:spcPts val="0"/>
              </a:spcBef>
              <a:spcAft>
                <a:spcPts val="0"/>
              </a:spcAft>
              <a:buSzPts val="1400"/>
              <a:buNone/>
            </a:pPr>
            <a:r>
              <a:t>Close by previewing the next deck. Students will use their documentation to make evidence-based decisions when a method fails, a prototype breaks, or a project needs to pivot. Reinforce that the journal is the project’s memory.</a:t>
            </a:r>
          </a:p>
          <a:p xmlns:a="http://schemas.openxmlformats.org/drawingml/2006/main">
            <a:pPr marL="457200" marR="0" indent="-228600" algn="l">
              <a:lnSpc>
                <a:spcPct val="100000"/>
              </a:lnSpc>
              <a:spcBef>
                <a:spcPts val="0"/>
              </a:spcBef>
              <a:spcAft>
                <a:spcPts val="0"/>
              </a:spcAft>
              <a:buSzPts val="1400"/>
              <a:buNone/>
            </a:pPr>
            <a:r>
              <a:t/>
            </a:r>
          </a:p>
          <a:p xmlns:a="http://schemas.openxmlformats.org/drawingml/2006/main">
            <a:pPr marL="457200" marR="0" indent="-228600" algn="l">
              <a:lnSpc>
                <a:spcPct val="100000"/>
              </a:lnSpc>
              <a:spcBef>
                <a:spcPts val="0"/>
              </a:spcBef>
              <a:spcAft>
                <a:spcPts val="0"/>
              </a:spcAft>
              <a:buSzPts val="1400"/>
              <a:buNone/>
            </a:pPr>
            <a:r>
              <a:t>Resource alignment:</a:t>
            </a:r>
          </a:p>
          <a:p xmlns:a="http://schemas.openxmlformats.org/drawingml/2006/main">
            <a:pPr marL="457200" marR="0" indent="-228600" algn="l">
              <a:lnSpc>
                <a:spcPct val="100000"/>
              </a:lnSpc>
              <a:spcBef>
                <a:spcPts val="0"/>
              </a:spcBef>
              <a:spcAft>
                <a:spcPts val="0"/>
              </a:spcAft>
              <a:buSzPts val="1400"/>
              <a:buNone/>
            </a:pPr>
            <a:r>
              <a:t>Use as a transition after students have completed Unit 3 Student Handout 2: Research Journal Setup and at least one entry using Unit 3 Student Handout 3: Daily Research Journal Entry Template. Next deck connection: Deck 8: Troubleshooting and Responsible Project Pivots.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40dd4c4235420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cca94a8b4e6486f" /></Relationships>
</file>

<file path=ppt/slideLayouts/slideLayout1.xml><?xml version="1.0" encoding="utf-8"?>
<p:sldLayout xmlns:p="http://schemas.openxmlformats.org/presentationml/2006/main" matchingName="STARLAB Clean Black">
  <p:cSld name="STARLAB Clean Black">
    <p:bg>
      <p:bgPr>
        <a:solidFill xmlns:a="http://schemas.openxmlformats.org/drawingml/2006/main">
          <a:srgbClr val="000000"/>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26f80a35c641bf" /><Relationship Type="http://schemas.openxmlformats.org/officeDocument/2006/relationships/slideLayout" Target="/ppt/slideLayouts/slideLayout1.xml" Id="R68b990b4326d46e4" /><Relationship Type="http://schemas.openxmlformats.org/officeDocument/2006/relationships/slideLayout" Target="/ppt/slideLayouts/slideLayout2.xml" Id="R5f1a973ef263486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68b990b4326d46e4"/>
    <p:sldLayoutId xmlns:r="http://schemas.openxmlformats.org/officeDocument/2006/relationships" id="2147483650" r:id="R5f1a973ef263486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7cde00cf0df40fa" /><Relationship Type="http://schemas.openxmlformats.org/officeDocument/2006/relationships/image" Target="/ppt/media/image.png" Id="R16eeed211a614671" /><Relationship Type="http://schemas.openxmlformats.org/officeDocument/2006/relationships/notesSlide" Target="/ppt/notesSlides/notesSlide1.xml" Id="R9b0c296803ec4f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2b820d18618444c" /><Relationship Type="http://schemas.openxmlformats.org/officeDocument/2006/relationships/notesSlide" Target="/ppt/notesSlides/notesSlide2.xml" Id="Re12aa16c42e84b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8c946d4a02449f2" /><Relationship Type="http://schemas.openxmlformats.org/officeDocument/2006/relationships/notesSlide" Target="/ppt/notesSlides/notesSlide3.xml" Id="R5170efb6d44741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42297433f74fbe" /><Relationship Type="http://schemas.openxmlformats.org/officeDocument/2006/relationships/notesSlide" Target="/ppt/notesSlides/notesSlide4.xml" Id="R0e064146bcc54d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2850ea6befc4907" /><Relationship Type="http://schemas.openxmlformats.org/officeDocument/2006/relationships/notesSlide" Target="/ppt/notesSlides/notesSlide5.xml" Id="Reac14f02bd5e4e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1f3048f37de4476" /><Relationship Type="http://schemas.openxmlformats.org/officeDocument/2006/relationships/notesSlide" Target="/ppt/notesSlides/notesSlide6.xml" Id="R999264492ea845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38225aa904d4e65" /><Relationship Type="http://schemas.openxmlformats.org/officeDocument/2006/relationships/notesSlide" Target="/ppt/notesSlides/notesSlide7.xml" Id="Rf11e1db7465f45f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25d074bb164e5e" /><Relationship Type="http://schemas.openxmlformats.org/officeDocument/2006/relationships/notesSlide" Target="/ppt/notesSlides/notesSlide8.xml" Id="R5cc94f330c784d6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06399bc966d40fd" /><Relationship Type="http://schemas.openxmlformats.org/officeDocument/2006/relationships/notesSlide" Target="/ppt/notesSlides/notesSlide9.xml" Id="R7c2c41c1f34047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858c67336b84c24" /><Relationship Type="http://schemas.openxmlformats.org/officeDocument/2006/relationships/notesSlide" Target="/ppt/notesSlides/notesSlide10.xml" Id="Ra1dcca9ba73a436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296db40782a4a09" /><Relationship Type="http://schemas.openxmlformats.org/officeDocument/2006/relationships/notesSlide" Target="/ppt/notesSlides/notesSlide11.xml" Id="Rf656623c977a48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4e2e599db0e45d5" /><Relationship Type="http://schemas.openxmlformats.org/officeDocument/2006/relationships/notesSlide" Target="/ppt/notesSlides/notesSlide12.xml" Id="R9ea195765808451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e66d991c38f44fb" /><Relationship Type="http://schemas.openxmlformats.org/officeDocument/2006/relationships/notesSlide" Target="/ppt/notesSlides/notesSlide13.xml" Id="R760a03773f7d474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8309c8654c445c2" /><Relationship Type="http://schemas.openxmlformats.org/officeDocument/2006/relationships/notesSlide" Target="/ppt/notesSlides/notesSlide14.xml" Id="R2e5aa896b6484de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8849d602c994664" /><Relationship Type="http://schemas.openxmlformats.org/officeDocument/2006/relationships/notesSlide" Target="/ppt/notesSlides/notesSlide15.xml" Id="R1805bd862fe440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769217217af45d1" /><Relationship Type="http://schemas.openxmlformats.org/officeDocument/2006/relationships/notesSlide" Target="/ppt/notesSlides/notesSlide16.xml" Id="Rf5dd48da9b834d9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9b08a464ec147f4" /><Relationship Type="http://schemas.openxmlformats.org/officeDocument/2006/relationships/notesSlide" Target="/ppt/notesSlides/notesSlide17.xml" Id="Rd5a2343c9dc2471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3ae7af766a74a90" /><Relationship Type="http://schemas.openxmlformats.org/officeDocument/2006/relationships/notesSlide" Target="/ppt/notesSlides/notesSlide18.xml" Id="R39d9fafb0e124e5f" /></Relationships>
</file>

<file path=ppt/slides/slide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84C16B01-C8AB-450A-BAB7-BC94C1E8FAAB}"/>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8" name="Google Shape;18;p4">
            <a:extLst xmlns:a="http://schemas.openxmlformats.org/drawingml/2006/main">
              <a:ext uri="{FF2B5EF4-FFF2-40B4-BE49-F238E27FC236}">
                <a16:creationId xmlns:a16="http://schemas.microsoft.com/office/drawing/2014/main" id="{278939D7-D471-431A-8B4C-D9ECFBCCC8F2}"/>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pic>
        <p:nvPicPr>
          <p:cNvPr id="26" name="Google Shape;19;p4"/>
          <p:cNvPicPr>
            <a:picLocks xmlns:a="http://schemas.openxmlformats.org/drawingml/2006/main" noChangeAspect="1"/>
          </p:cNvPicPr>
          <p:nvPr/>
        </p:nvPicPr>
        <p:blipFill rotWithShape="1">
          <a:blip xmlns:r="http://schemas.openxmlformats.org/officeDocument/2006/relationships" xmlns:a="http://schemas.openxmlformats.org/drawingml/2006/main" r:embed="R16eeed211a614671">
            <a:alphaModFix/>
          </a:blip>
          <a:srcRect xmlns:a="http://schemas.openxmlformats.org/drawingml/2006/main" l="0" t="0" r="0" b="0"/>
          <a:stretch xmlns:a="http://schemas.openxmlformats.org/drawingml/2006/main"/>
        </p:blipFill>
        <p:spPr>
          <a:xfrm xmlns:a="http://schemas.openxmlformats.org/drawingml/2006/main">
            <a:off x="1691640" y="676656"/>
            <a:ext cx="8778240" cy="4160520"/>
          </a:xfrm>
          <a:prstGeom xmlns:a="http://schemas.openxmlformats.org/drawingml/2006/main" prst="rect">
            <a:avLst/>
          </a:prstGeom>
          <a:ln xmlns:a="http://schemas.openxmlformats.org/drawingml/2006/main">
            <a:noFill/>
          </a:ln>
        </p:spPr>
      </p:pic>
      <p:sp>
        <p:nvSpPr>
          <p:cNvPr id="20" name="Google Shape;20;p4">
            <a:extLst xmlns:a="http://schemas.openxmlformats.org/drawingml/2006/main">
              <a:ext uri="{FF2B5EF4-FFF2-40B4-BE49-F238E27FC236}">
                <a16:creationId xmlns:a16="http://schemas.microsoft.com/office/drawing/2014/main" id="{051659D8-8139-471B-AA3B-A322421DD871}"/>
              </a:ext>
            </a:extLst>
          </p:cNvPr>
          <p:cNvSpPr>
            <a:spLocks xmlns:a="http://schemas.openxmlformats.org/drawingml/2006/main" noGrp="1"/>
          </p:cNvSpPr>
          <p:nvPr/>
        </p:nvSpPr>
        <p:spPr>
          <a:xfrm xmlns:a="http://schemas.openxmlformats.org/drawingml/2006/main">
            <a:off x="877824" y="5029200"/>
            <a:ext cx="10561320" cy="822960"/>
          </a:xfrm>
          <a:prstGeom xmlns:a="http://schemas.openxmlformats.org/drawingml/2006/main" prst="rect">
            <a:avLst/>
          </a:prstGeom>
          <a:solidFill xmlns:a="http://schemas.openxmlformats.org/drawingml/2006/main">
            <a:srgbClr val="000000">
              <a:alpha val="0"/>
            </a:srgbClr>
          </a:solidFill>
          <a:ln xmlns:a="http://schemas.openxmlformats.org/drawingml/2006/main" w="15225"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1" name="Google Shape;21;p4">
            <a:extLst xmlns:a="http://schemas.openxmlformats.org/drawingml/2006/main">
              <a:ext uri="{FF2B5EF4-FFF2-40B4-BE49-F238E27FC236}">
                <a16:creationId xmlns:a16="http://schemas.microsoft.com/office/drawing/2014/main" id="{0AD71871-5513-4A81-93F6-50499529D930}"/>
              </a:ext>
            </a:extLst>
          </p:cNvPr>
          <p:cNvSpPr>
            <a:spLocks xmlns:a="http://schemas.openxmlformats.org/drawingml/2006/main" noGrp="1"/>
          </p:cNvSpPr>
          <p:nvPr/>
        </p:nvSpPr>
        <p:spPr>
          <a:xfrm xmlns:a="http://schemas.openxmlformats.org/drawingml/2006/main">
            <a:off x="932688" y="5111496"/>
            <a:ext cx="10058400" cy="6126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RESEARCH JOURNALS</a:t>
            </a:r>
          </a:p>
          <a:p xmlns:a="http://schemas.openxmlformats.org/drawingml/2006/main">
            <a:pPr marL="0" marR="0" indent="0" algn="l">
              <a:lnSpc>
                <a:spcPct val="100000"/>
              </a:lnSpc>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&amp; SCIENTIFIC DOCUMENTATION</a:t>
            </a:r>
          </a:p>
        </p:txBody>
      </p:sp>
      <p:sp>
        <p:nvSpPr>
          <p:cNvPr id="22" name="Google Shape;22;p4">
            <a:extLst xmlns:a="http://schemas.openxmlformats.org/drawingml/2006/main">
              <a:ext uri="{FF2B5EF4-FFF2-40B4-BE49-F238E27FC236}">
                <a16:creationId xmlns:a16="http://schemas.microsoft.com/office/drawing/2014/main" id="{4F64E8A9-65F0-45A3-8505-CD93F5B41055}"/>
              </a:ext>
            </a:extLst>
          </p:cNvPr>
          <p:cNvSpPr>
            <a:spLocks xmlns:a="http://schemas.openxmlformats.org/drawingml/2006/main" noGrp="1"/>
          </p:cNvSpPr>
          <p:nvPr/>
        </p:nvSpPr>
        <p:spPr>
          <a:xfrm xmlns:a="http://schemas.openxmlformats.org/drawingml/2006/main">
            <a:off x="932688" y="5971032"/>
            <a:ext cx="804672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150"/>
              <a:buFont typeface="Arial"/>
              <a:buNone/>
            </a:pPr>
            <a:r>
              <a:rPr sz="1150" b="0" i="0" u="none" cap="none">
                <a:solidFill>
                  <a:srgbClr val="A6A6A6"/>
                </a:solidFill>
                <a:latin typeface="Arial"/>
                <a:ea typeface="Arial"/>
                <a:cs typeface="Arial"/>
              </a:rPr>
              <a:t>STARLAB Deck 07  •  Unit 3 Core Instruction</a:t>
            </a:r>
          </a:p>
        </p:txBody>
      </p:sp>
    </p:spTree>
    <p:extLst>
      <p:ext uri="{BB962C8B-B14F-4D97-AF65-F5344CB8AC3E}">
        <p14:creationId xmlns:p14="http://schemas.microsoft.com/office/powerpoint/2010/main" val="344630977"/>
      </p:ext>
    </p:extLst>
  </p:cSld>
</p:sld>
</file>

<file path=ppt/slides/slide2.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8" name="Google Shape;28;p5">
            <a:extLst xmlns:a="http://schemas.openxmlformats.org/drawingml/2006/main">
              <a:ext uri="{FF2B5EF4-FFF2-40B4-BE49-F238E27FC236}">
                <a16:creationId xmlns:a16="http://schemas.microsoft.com/office/drawing/2014/main" id="{96A74A7B-1054-4C91-AC85-424860C84AFE}"/>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9" name="Google Shape;29;p5">
            <a:extLst xmlns:a="http://schemas.openxmlformats.org/drawingml/2006/main">
              <a:ext uri="{FF2B5EF4-FFF2-40B4-BE49-F238E27FC236}">
                <a16:creationId xmlns:a16="http://schemas.microsoft.com/office/drawing/2014/main" id="{16AC70AB-CB92-4069-B5CA-453BB8907E11}"/>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0" name="Google Shape;30;p5">
            <a:extLst xmlns:a="http://schemas.openxmlformats.org/drawingml/2006/main">
              <a:ext uri="{FF2B5EF4-FFF2-40B4-BE49-F238E27FC236}">
                <a16:creationId xmlns:a16="http://schemas.microsoft.com/office/drawing/2014/main" id="{91285908-192D-4835-A892-7AAADD3004DE}"/>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1" name="Google Shape;31;p5">
            <a:extLst xmlns:a="http://schemas.openxmlformats.org/drawingml/2006/main">
              <a:ext uri="{FF2B5EF4-FFF2-40B4-BE49-F238E27FC236}">
                <a16:creationId xmlns:a16="http://schemas.microsoft.com/office/drawing/2014/main" id="{1C49DF13-3D55-4FBB-B3DF-5529F819D0FB}"/>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2" name="Google Shape;32;p5">
            <a:extLst xmlns:a="http://schemas.openxmlformats.org/drawingml/2006/main">
              <a:ext uri="{FF2B5EF4-FFF2-40B4-BE49-F238E27FC236}">
                <a16:creationId xmlns:a16="http://schemas.microsoft.com/office/drawing/2014/main" id="{64F10FBB-3B3F-4244-A0DE-B58C2B9781E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If it is not documented, it did not happen</a:t>
            </a:r>
          </a:p>
        </p:txBody>
      </p:sp>
      <p:cxnSp>
        <p:nvCxnSpPr>
          <p:cNvPr id="48" name="Google Shape;33;p5"/>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4" name="Google Shape;34;p5">
            <a:extLst xmlns:a="http://schemas.openxmlformats.org/drawingml/2006/main">
              <a:ext uri="{FF2B5EF4-FFF2-40B4-BE49-F238E27FC236}">
                <a16:creationId xmlns:a16="http://schemas.microsoft.com/office/drawing/2014/main" id="{D9416E8A-6860-44EB-8B3A-057AF2BEAB33}"/>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Research depends on a usable record of decisions, data, and change.</a:t>
            </a:r>
          </a:p>
        </p:txBody>
      </p:sp>
      <p:sp>
        <p:nvSpPr>
          <p:cNvPr id="35" name="Google Shape;35;p5">
            <a:extLst xmlns:a="http://schemas.openxmlformats.org/drawingml/2006/main">
              <a:ext uri="{FF2B5EF4-FFF2-40B4-BE49-F238E27FC236}">
                <a16:creationId xmlns:a16="http://schemas.microsoft.com/office/drawing/2014/main" id="{690D0A73-1C09-405E-A439-0133CD9D8048}"/>
              </a:ext>
            </a:extLst>
          </p:cNvPr>
          <p:cNvSpPr>
            <a:spLocks xmlns:a="http://schemas.openxmlformats.org/drawingml/2006/main" noGrp="1"/>
          </p:cNvSpPr>
          <p:nvPr/>
        </p:nvSpPr>
        <p:spPr>
          <a:xfrm xmlns:a="http://schemas.openxmlformats.org/drawingml/2006/main">
            <a:off x="749808" y="21488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a:t>
            </a:r>
          </a:p>
        </p:txBody>
      </p:sp>
      <p:sp>
        <p:nvSpPr>
          <p:cNvPr id="36" name="Google Shape;36;p5">
            <a:extLst xmlns:a="http://schemas.openxmlformats.org/drawingml/2006/main">
              <a:ext uri="{FF2B5EF4-FFF2-40B4-BE49-F238E27FC236}">
                <a16:creationId xmlns:a16="http://schemas.microsoft.com/office/drawing/2014/main" id="{0920A95C-D5DB-4158-947D-6B733DD2BA8A}"/>
              </a:ext>
            </a:extLst>
          </p:cNvPr>
          <p:cNvSpPr>
            <a:spLocks xmlns:a="http://schemas.openxmlformats.org/drawingml/2006/main" noGrp="1"/>
          </p:cNvSpPr>
          <p:nvPr/>
        </p:nvSpPr>
        <p:spPr>
          <a:xfrm xmlns:a="http://schemas.openxmlformats.org/drawingml/2006/main">
            <a:off x="1060704" y="21305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Memory is not a data storage system.</a:t>
            </a:r>
          </a:p>
        </p:txBody>
      </p:sp>
      <p:sp>
        <p:nvSpPr>
          <p:cNvPr id="37" name="Google Shape;37;p5">
            <a:extLst xmlns:a="http://schemas.openxmlformats.org/drawingml/2006/main">
              <a:ext uri="{FF2B5EF4-FFF2-40B4-BE49-F238E27FC236}">
                <a16:creationId xmlns:a16="http://schemas.microsoft.com/office/drawing/2014/main" id="{A09DF4CB-9D22-4C25-9466-96B3D68D2472}"/>
              </a:ext>
            </a:extLst>
          </p:cNvPr>
          <p:cNvSpPr>
            <a:spLocks xmlns:a="http://schemas.openxmlformats.org/drawingml/2006/main" noGrp="1"/>
          </p:cNvSpPr>
          <p:nvPr/>
        </p:nvSpPr>
        <p:spPr>
          <a:xfrm xmlns:a="http://schemas.openxmlformats.org/drawingml/2006/main">
            <a:off x="749808" y="28346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a:t>
            </a:r>
          </a:p>
        </p:txBody>
      </p:sp>
      <p:sp>
        <p:nvSpPr>
          <p:cNvPr id="38" name="Google Shape;38;p5">
            <a:extLst xmlns:a="http://schemas.openxmlformats.org/drawingml/2006/main">
              <a:ext uri="{FF2B5EF4-FFF2-40B4-BE49-F238E27FC236}">
                <a16:creationId xmlns:a16="http://schemas.microsoft.com/office/drawing/2014/main" id="{79B5C843-EF26-44E3-B308-F6FF5F4C241F}"/>
              </a:ext>
            </a:extLst>
          </p:cNvPr>
          <p:cNvSpPr>
            <a:spLocks xmlns:a="http://schemas.openxmlformats.org/drawingml/2006/main" noGrp="1"/>
          </p:cNvSpPr>
          <p:nvPr/>
        </p:nvSpPr>
        <p:spPr>
          <a:xfrm xmlns:a="http://schemas.openxmlformats.org/drawingml/2006/main">
            <a:off x="1060704" y="28163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Your journal protects the integrity of your project.</a:t>
            </a:r>
          </a:p>
        </p:txBody>
      </p:sp>
      <p:sp>
        <p:nvSpPr>
          <p:cNvPr id="39" name="Google Shape;39;p5">
            <a:extLst xmlns:a="http://schemas.openxmlformats.org/drawingml/2006/main">
              <a:ext uri="{FF2B5EF4-FFF2-40B4-BE49-F238E27FC236}">
                <a16:creationId xmlns:a16="http://schemas.microsoft.com/office/drawing/2014/main" id="{4E06B084-4691-4C95-A516-B32AF88112BC}"/>
              </a:ext>
            </a:extLst>
          </p:cNvPr>
          <p:cNvSpPr>
            <a:spLocks xmlns:a="http://schemas.openxmlformats.org/drawingml/2006/main" noGrp="1"/>
          </p:cNvSpPr>
          <p:nvPr/>
        </p:nvSpPr>
        <p:spPr>
          <a:xfrm xmlns:a="http://schemas.openxmlformats.org/drawingml/2006/main">
            <a:off x="749808" y="35204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a:t>
            </a:r>
          </a:p>
        </p:txBody>
      </p:sp>
      <p:sp>
        <p:nvSpPr>
          <p:cNvPr id="40" name="Google Shape;40;p5">
            <a:extLst xmlns:a="http://schemas.openxmlformats.org/drawingml/2006/main">
              <a:ext uri="{FF2B5EF4-FFF2-40B4-BE49-F238E27FC236}">
                <a16:creationId xmlns:a16="http://schemas.microsoft.com/office/drawing/2014/main" id="{88C655C8-BF7F-45D1-8F12-073C1D9EBC99}"/>
              </a:ext>
            </a:extLst>
          </p:cNvPr>
          <p:cNvSpPr>
            <a:spLocks xmlns:a="http://schemas.openxmlformats.org/drawingml/2006/main" noGrp="1"/>
          </p:cNvSpPr>
          <p:nvPr/>
        </p:nvSpPr>
        <p:spPr>
          <a:xfrm xmlns:a="http://schemas.openxmlformats.org/drawingml/2006/main">
            <a:off x="1060704" y="35021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A good record lets someone understand what happened weeks later.</a:t>
            </a:r>
          </a:p>
        </p:txBody>
      </p:sp>
      <p:sp>
        <p:nvSpPr>
          <p:cNvPr id="41" name="Google Shape;41;p5">
            <a:extLst xmlns:a="http://schemas.openxmlformats.org/drawingml/2006/main">
              <a:ext uri="{FF2B5EF4-FFF2-40B4-BE49-F238E27FC236}">
                <a16:creationId xmlns:a16="http://schemas.microsoft.com/office/drawing/2014/main" id="{8F279FD6-3668-4925-829A-0BACAD07A502}"/>
              </a:ext>
            </a:extLst>
          </p:cNvPr>
          <p:cNvSpPr>
            <a:spLocks xmlns:a="http://schemas.openxmlformats.org/drawingml/2006/main" noGrp="1"/>
          </p:cNvSpPr>
          <p:nvPr/>
        </p:nvSpPr>
        <p:spPr>
          <a:xfrm xmlns:a="http://schemas.openxmlformats.org/drawingml/2006/main">
            <a:off x="777240" y="4617720"/>
            <a:ext cx="10241280" cy="804672"/>
          </a:xfrm>
          <a:prstGeom xmlns:a="http://schemas.openxmlformats.org/drawingml/2006/main" prst="roundRect">
            <a:avLst>
              <a:gd name="adj" fmla="val 5682"/>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2" name="Google Shape;42;p5">
            <a:extLst xmlns:a="http://schemas.openxmlformats.org/drawingml/2006/main">
              <a:ext uri="{FF2B5EF4-FFF2-40B4-BE49-F238E27FC236}">
                <a16:creationId xmlns:a16="http://schemas.microsoft.com/office/drawing/2014/main" id="{6228857B-37C0-4851-A44F-CEF506C1B990}"/>
              </a:ext>
            </a:extLst>
          </p:cNvPr>
          <p:cNvSpPr>
            <a:spLocks xmlns:a="http://schemas.openxmlformats.org/drawingml/2006/main" noGrp="1"/>
          </p:cNvSpPr>
          <p:nvPr/>
        </p:nvSpPr>
        <p:spPr>
          <a:xfrm xmlns:a="http://schemas.openxmlformats.org/drawingml/2006/main">
            <a:off x="960120" y="4873752"/>
            <a:ext cx="97840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600"/>
              <a:buFont typeface="Arial"/>
              <a:buNone/>
            </a:pPr>
            <a:r>
              <a:rPr sz="1600" b="1" i="0" u="none" cap="none">
                <a:solidFill>
                  <a:srgbClr val="FFFFFF"/>
                </a:solidFill>
                <a:latin typeface="Arial"/>
                <a:ea typeface="Arial"/>
                <a:cs typeface="Arial"/>
              </a:rPr>
              <a:t>Core idea: your research journal is evidence of the process, not just notes about the process.</a:t>
            </a:r>
          </a:p>
        </p:txBody>
      </p:sp>
    </p:spTree>
    <p:extLst>
      <p:ext uri="{BB962C8B-B14F-4D97-AF65-F5344CB8AC3E}">
        <p14:creationId xmlns:p14="http://schemas.microsoft.com/office/powerpoint/2010/main" val="1720435875"/>
      </p:ext>
    </p:extLst>
  </p:cSld>
</p:sld>
</file>

<file path=ppt/slides/slide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48" name="Google Shape;48;p6">
            <a:extLst xmlns:a="http://schemas.openxmlformats.org/drawingml/2006/main">
              <a:ext uri="{FF2B5EF4-FFF2-40B4-BE49-F238E27FC236}">
                <a16:creationId xmlns:a16="http://schemas.microsoft.com/office/drawing/2014/main" id="{EF99BE4F-9C6E-4300-811E-B54BB3B21E6C}"/>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9" name="Google Shape;49;p6">
            <a:extLst xmlns:a="http://schemas.openxmlformats.org/drawingml/2006/main">
              <a:ext uri="{FF2B5EF4-FFF2-40B4-BE49-F238E27FC236}">
                <a16:creationId xmlns:a16="http://schemas.microsoft.com/office/drawing/2014/main" id="{43BD0BA6-8877-4410-8362-35C70D9B4102}"/>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50" name="Google Shape;50;p6">
            <a:extLst xmlns:a="http://schemas.openxmlformats.org/drawingml/2006/main">
              <a:ext uri="{FF2B5EF4-FFF2-40B4-BE49-F238E27FC236}">
                <a16:creationId xmlns:a16="http://schemas.microsoft.com/office/drawing/2014/main" id="{A1683833-5F67-4FE7-8FF2-3F62C9C2DB8D}"/>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51" name="Google Shape;51;p6">
            <a:extLst xmlns:a="http://schemas.openxmlformats.org/drawingml/2006/main">
              <a:ext uri="{FF2B5EF4-FFF2-40B4-BE49-F238E27FC236}">
                <a16:creationId xmlns:a16="http://schemas.microsoft.com/office/drawing/2014/main" id="{78D76643-012D-4443-9474-3CB214D33840}"/>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52" name="Google Shape;52;p6">
            <a:extLst xmlns:a="http://schemas.openxmlformats.org/drawingml/2006/main">
              <a:ext uri="{FF2B5EF4-FFF2-40B4-BE49-F238E27FC236}">
                <a16:creationId xmlns:a16="http://schemas.microsoft.com/office/drawing/2014/main" id="{160533B2-FA38-4AF6-BAD4-E0F878D9D2F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What a research journal is</a:t>
            </a:r>
          </a:p>
        </p:txBody>
      </p:sp>
      <p:cxnSp>
        <p:nvCxnSpPr>
          <p:cNvPr id="70" name="Google Shape;53;p6"/>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54" name="Google Shape;54;p6">
            <a:extLst xmlns:a="http://schemas.openxmlformats.org/drawingml/2006/main">
              <a:ext uri="{FF2B5EF4-FFF2-40B4-BE49-F238E27FC236}">
                <a16:creationId xmlns:a16="http://schemas.microsoft.com/office/drawing/2014/main" id="{8DD20931-6821-4DB4-BDCE-7DC96BBBD112}"/>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A living record of your project as it actually unfolds.</a:t>
            </a:r>
          </a:p>
        </p:txBody>
      </p:sp>
      <p:sp>
        <p:nvSpPr>
          <p:cNvPr id="55" name="Google Shape;55;p6">
            <a:extLst xmlns:a="http://schemas.openxmlformats.org/drawingml/2006/main">
              <a:ext uri="{FF2B5EF4-FFF2-40B4-BE49-F238E27FC236}">
                <a16:creationId xmlns:a16="http://schemas.microsoft.com/office/drawing/2014/main" id="{1EB59C33-F11F-48F6-B9FB-E514322EC0DB}"/>
              </a:ext>
            </a:extLst>
          </p:cNvPr>
          <p:cNvSpPr>
            <a:spLocks xmlns:a="http://schemas.openxmlformats.org/drawingml/2006/main" noGrp="1"/>
          </p:cNvSpPr>
          <p:nvPr/>
        </p:nvSpPr>
        <p:spPr>
          <a:xfrm xmlns:a="http://schemas.openxmlformats.org/drawingml/2006/main">
            <a:off x="731520" y="187452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56" name="Google Shape;56;p6">
            <a:extLst xmlns:a="http://schemas.openxmlformats.org/drawingml/2006/main">
              <a:ext uri="{FF2B5EF4-FFF2-40B4-BE49-F238E27FC236}">
                <a16:creationId xmlns:a16="http://schemas.microsoft.com/office/drawing/2014/main" id="{5C09B61D-052C-4C14-B6A7-E335910093F6}"/>
              </a:ext>
            </a:extLst>
          </p:cNvPr>
          <p:cNvSpPr>
            <a:spLocks xmlns:a="http://schemas.openxmlformats.org/drawingml/2006/main" noGrp="1"/>
          </p:cNvSpPr>
          <p:nvPr/>
        </p:nvSpPr>
        <p:spPr>
          <a:xfrm xmlns:a="http://schemas.openxmlformats.org/drawingml/2006/main">
            <a:off x="1042416" y="185623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Plans: what you intended to do</a:t>
            </a:r>
          </a:p>
        </p:txBody>
      </p:sp>
      <p:sp>
        <p:nvSpPr>
          <p:cNvPr id="57" name="Google Shape;57;p6">
            <a:extLst xmlns:a="http://schemas.openxmlformats.org/drawingml/2006/main">
              <a:ext uri="{FF2B5EF4-FFF2-40B4-BE49-F238E27FC236}">
                <a16:creationId xmlns:a16="http://schemas.microsoft.com/office/drawing/2014/main" id="{F0008C21-82AE-4C97-964B-06E4B6CCBF47}"/>
              </a:ext>
            </a:extLst>
          </p:cNvPr>
          <p:cNvSpPr>
            <a:spLocks xmlns:a="http://schemas.openxmlformats.org/drawingml/2006/main" noGrp="1"/>
          </p:cNvSpPr>
          <p:nvPr/>
        </p:nvSpPr>
        <p:spPr>
          <a:xfrm xmlns:a="http://schemas.openxmlformats.org/drawingml/2006/main">
            <a:off x="731520" y="244144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58" name="Google Shape;58;p6">
            <a:extLst xmlns:a="http://schemas.openxmlformats.org/drawingml/2006/main">
              <a:ext uri="{FF2B5EF4-FFF2-40B4-BE49-F238E27FC236}">
                <a16:creationId xmlns:a16="http://schemas.microsoft.com/office/drawing/2014/main" id="{34A2D1DC-D76A-464A-9614-C8062EAF6692}"/>
              </a:ext>
            </a:extLst>
          </p:cNvPr>
          <p:cNvSpPr>
            <a:spLocks xmlns:a="http://schemas.openxmlformats.org/drawingml/2006/main" noGrp="1"/>
          </p:cNvSpPr>
          <p:nvPr/>
        </p:nvSpPr>
        <p:spPr>
          <a:xfrm xmlns:a="http://schemas.openxmlformats.org/drawingml/2006/main">
            <a:off x="1042416" y="242316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Actions: what you actually did</a:t>
            </a:r>
          </a:p>
        </p:txBody>
      </p:sp>
      <p:sp>
        <p:nvSpPr>
          <p:cNvPr id="59" name="Google Shape;59;p6">
            <a:extLst xmlns:a="http://schemas.openxmlformats.org/drawingml/2006/main">
              <a:ext uri="{FF2B5EF4-FFF2-40B4-BE49-F238E27FC236}">
                <a16:creationId xmlns:a16="http://schemas.microsoft.com/office/drawing/2014/main" id="{A4F11C33-826B-4DD9-B124-4DF463061137}"/>
              </a:ext>
            </a:extLst>
          </p:cNvPr>
          <p:cNvSpPr>
            <a:spLocks xmlns:a="http://schemas.openxmlformats.org/drawingml/2006/main" noGrp="1"/>
          </p:cNvSpPr>
          <p:nvPr/>
        </p:nvSpPr>
        <p:spPr>
          <a:xfrm xmlns:a="http://schemas.openxmlformats.org/drawingml/2006/main">
            <a:off x="731520" y="300837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60" name="Google Shape;60;p6">
            <a:extLst xmlns:a="http://schemas.openxmlformats.org/drawingml/2006/main">
              <a:ext uri="{FF2B5EF4-FFF2-40B4-BE49-F238E27FC236}">
                <a16:creationId xmlns:a16="http://schemas.microsoft.com/office/drawing/2014/main" id="{F92D3CA5-BED2-4513-9512-5DF408380C84}"/>
              </a:ext>
            </a:extLst>
          </p:cNvPr>
          <p:cNvSpPr>
            <a:spLocks xmlns:a="http://schemas.openxmlformats.org/drawingml/2006/main" noGrp="1"/>
          </p:cNvSpPr>
          <p:nvPr/>
        </p:nvSpPr>
        <p:spPr>
          <a:xfrm xmlns:a="http://schemas.openxmlformats.org/drawingml/2006/main">
            <a:off x="1042416" y="299008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Evidence: data, observations, photos, files, outputs</a:t>
            </a:r>
          </a:p>
        </p:txBody>
      </p:sp>
      <p:sp>
        <p:nvSpPr>
          <p:cNvPr id="61" name="Google Shape;61;p6">
            <a:extLst xmlns:a="http://schemas.openxmlformats.org/drawingml/2006/main">
              <a:ext uri="{FF2B5EF4-FFF2-40B4-BE49-F238E27FC236}">
                <a16:creationId xmlns:a16="http://schemas.microsoft.com/office/drawing/2014/main" id="{801C4B5B-1198-49A8-AE55-093E439F13D4}"/>
              </a:ext>
            </a:extLst>
          </p:cNvPr>
          <p:cNvSpPr>
            <a:spLocks xmlns:a="http://schemas.openxmlformats.org/drawingml/2006/main" noGrp="1"/>
          </p:cNvSpPr>
          <p:nvPr/>
        </p:nvSpPr>
        <p:spPr>
          <a:xfrm xmlns:a="http://schemas.openxmlformats.org/drawingml/2006/main">
            <a:off x="731520" y="357530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62" name="Google Shape;62;p6">
            <a:extLst xmlns:a="http://schemas.openxmlformats.org/drawingml/2006/main">
              <a:ext uri="{FF2B5EF4-FFF2-40B4-BE49-F238E27FC236}">
                <a16:creationId xmlns:a16="http://schemas.microsoft.com/office/drawing/2014/main" id="{6DCF8474-8A88-49DB-8B56-9337ED5A56F1}"/>
              </a:ext>
            </a:extLst>
          </p:cNvPr>
          <p:cNvSpPr>
            <a:spLocks xmlns:a="http://schemas.openxmlformats.org/drawingml/2006/main" noGrp="1"/>
          </p:cNvSpPr>
          <p:nvPr/>
        </p:nvSpPr>
        <p:spPr>
          <a:xfrm xmlns:a="http://schemas.openxmlformats.org/drawingml/2006/main">
            <a:off x="1042416" y="3557016"/>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Decisions: what changed and why</a:t>
            </a:r>
          </a:p>
        </p:txBody>
      </p:sp>
      <p:sp>
        <p:nvSpPr>
          <p:cNvPr id="63" name="Google Shape;63;p6">
            <a:extLst xmlns:a="http://schemas.openxmlformats.org/drawingml/2006/main">
              <a:ext uri="{FF2B5EF4-FFF2-40B4-BE49-F238E27FC236}">
                <a16:creationId xmlns:a16="http://schemas.microsoft.com/office/drawing/2014/main" id="{1A89C42E-EC9B-4899-9359-B954F663A15D}"/>
              </a:ext>
            </a:extLst>
          </p:cNvPr>
          <p:cNvSpPr>
            <a:spLocks xmlns:a="http://schemas.openxmlformats.org/drawingml/2006/main" noGrp="1"/>
          </p:cNvSpPr>
          <p:nvPr/>
        </p:nvSpPr>
        <p:spPr>
          <a:xfrm xmlns:a="http://schemas.openxmlformats.org/drawingml/2006/main">
            <a:off x="731520" y="414223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900"/>
              <a:buFont typeface="Arial"/>
              <a:buNone/>
            </a:pPr>
            <a:r>
              <a:rPr sz="1900" b="1" i="0" u="none" cap="none">
                <a:solidFill>
                  <a:srgbClr val="FF1E1E"/>
                </a:solidFill>
                <a:latin typeface="Arial"/>
                <a:ea typeface="Arial"/>
                <a:cs typeface="Arial"/>
              </a:rPr>
              <a:t>•</a:t>
            </a:r>
          </a:p>
        </p:txBody>
      </p:sp>
      <p:sp>
        <p:nvSpPr>
          <p:cNvPr id="64" name="Google Shape;64;p6">
            <a:extLst xmlns:a="http://schemas.openxmlformats.org/drawingml/2006/main">
              <a:ext uri="{FF2B5EF4-FFF2-40B4-BE49-F238E27FC236}">
                <a16:creationId xmlns:a16="http://schemas.microsoft.com/office/drawing/2014/main" id="{3BC175BC-F872-4B21-9B88-566EF02A5F86}"/>
              </a:ext>
            </a:extLst>
          </p:cNvPr>
          <p:cNvSpPr>
            <a:spLocks xmlns:a="http://schemas.openxmlformats.org/drawingml/2006/main" noGrp="1"/>
          </p:cNvSpPr>
          <p:nvPr/>
        </p:nvSpPr>
        <p:spPr>
          <a:xfrm xmlns:a="http://schemas.openxmlformats.org/drawingml/2006/main">
            <a:off x="1042416" y="412394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Reflection: what the next step should be</a:t>
            </a:r>
          </a:p>
        </p:txBody>
      </p:sp>
    </p:spTree>
    <p:extLst>
      <p:ext uri="{BB962C8B-B14F-4D97-AF65-F5344CB8AC3E}">
        <p14:creationId xmlns:p14="http://schemas.microsoft.com/office/powerpoint/2010/main" val="379403977"/>
      </p:ext>
    </p:extLst>
  </p:cSld>
</p:sld>
</file>

<file path=ppt/slides/slide4.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70" name="Google Shape;70;p7">
            <a:extLst xmlns:a="http://schemas.openxmlformats.org/drawingml/2006/main">
              <a:ext uri="{FF2B5EF4-FFF2-40B4-BE49-F238E27FC236}">
                <a16:creationId xmlns:a16="http://schemas.microsoft.com/office/drawing/2014/main" id="{FF1FA2A5-3A59-45E2-A94C-771CF1338CEB}"/>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1" name="Google Shape;71;p7">
            <a:extLst xmlns:a="http://schemas.openxmlformats.org/drawingml/2006/main">
              <a:ext uri="{FF2B5EF4-FFF2-40B4-BE49-F238E27FC236}">
                <a16:creationId xmlns:a16="http://schemas.microsoft.com/office/drawing/2014/main" id="{030768E8-33A9-4296-BAA6-A8CE8D1FEE0E}"/>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2" name="Google Shape;72;p7">
            <a:extLst xmlns:a="http://schemas.openxmlformats.org/drawingml/2006/main">
              <a:ext uri="{FF2B5EF4-FFF2-40B4-BE49-F238E27FC236}">
                <a16:creationId xmlns:a16="http://schemas.microsoft.com/office/drawing/2014/main" id="{536B31F7-4B50-4362-8DF4-FEEBBF978101}"/>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73" name="Google Shape;73;p7">
            <a:extLst xmlns:a="http://schemas.openxmlformats.org/drawingml/2006/main">
              <a:ext uri="{FF2B5EF4-FFF2-40B4-BE49-F238E27FC236}">
                <a16:creationId xmlns:a16="http://schemas.microsoft.com/office/drawing/2014/main" id="{68440235-F228-4C9F-8DDE-0E286EDC627A}"/>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74" name="Google Shape;74;p7">
            <a:extLst xmlns:a="http://schemas.openxmlformats.org/drawingml/2006/main">
              <a:ext uri="{FF2B5EF4-FFF2-40B4-BE49-F238E27FC236}">
                <a16:creationId xmlns:a16="http://schemas.microsoft.com/office/drawing/2014/main" id="{7749C73E-9928-4B23-8ED9-583DEB4CD6CB}"/>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Research journal ≠ class notes</a:t>
            </a:r>
          </a:p>
        </p:txBody>
      </p:sp>
      <p:cxnSp>
        <p:nvCxnSpPr>
          <p:cNvPr id="102" name="Google Shape;75;p7"/>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76" name="Google Shape;76;p7">
            <a:extLst xmlns:a="http://schemas.openxmlformats.org/drawingml/2006/main">
              <a:ext uri="{FF2B5EF4-FFF2-40B4-BE49-F238E27FC236}">
                <a16:creationId xmlns:a16="http://schemas.microsoft.com/office/drawing/2014/main" id="{8E4FB01C-1C25-466D-95F7-288736D8C98D}"/>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Class notes summarize information. Research journals document action.</a:t>
            </a:r>
          </a:p>
        </p:txBody>
      </p:sp>
      <p:sp>
        <p:nvSpPr>
          <p:cNvPr id="77" name="Google Shape;77;p7">
            <a:extLst xmlns:a="http://schemas.openxmlformats.org/drawingml/2006/main">
              <a:ext uri="{FF2B5EF4-FFF2-40B4-BE49-F238E27FC236}">
                <a16:creationId xmlns:a16="http://schemas.microsoft.com/office/drawing/2014/main" id="{BA7E7824-8920-4D1E-A4F8-683A2F295B28}"/>
              </a:ext>
            </a:extLst>
          </p:cNvPr>
          <p:cNvSpPr>
            <a:spLocks xmlns:a="http://schemas.openxmlformats.org/drawingml/2006/main" noGrp="1"/>
          </p:cNvSpPr>
          <p:nvPr/>
        </p:nvSpPr>
        <p:spPr>
          <a:xfrm xmlns:a="http://schemas.openxmlformats.org/drawingml/2006/main">
            <a:off x="777240" y="1828800"/>
            <a:ext cx="489204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8" name="Google Shape;78;p7">
            <a:extLst xmlns:a="http://schemas.openxmlformats.org/drawingml/2006/main">
              <a:ext uri="{FF2B5EF4-FFF2-40B4-BE49-F238E27FC236}">
                <a16:creationId xmlns:a16="http://schemas.microsoft.com/office/drawing/2014/main" id="{66AEA2B5-7FBB-4816-BECE-E46380A41DA9}"/>
              </a:ext>
            </a:extLst>
          </p:cNvPr>
          <p:cNvSpPr>
            <a:spLocks xmlns:a="http://schemas.openxmlformats.org/drawingml/2006/main" noGrp="1"/>
          </p:cNvSpPr>
          <p:nvPr/>
        </p:nvSpPr>
        <p:spPr>
          <a:xfrm xmlns:a="http://schemas.openxmlformats.org/drawingml/2006/main">
            <a:off x="6492240" y="1828800"/>
            <a:ext cx="489204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79" name="Google Shape;79;p7">
            <a:extLst xmlns:a="http://schemas.openxmlformats.org/drawingml/2006/main">
              <a:ext uri="{FF2B5EF4-FFF2-40B4-BE49-F238E27FC236}">
                <a16:creationId xmlns:a16="http://schemas.microsoft.com/office/drawing/2014/main" id="{DEB7B3A5-811B-4872-A6A4-BC2D80C04FED}"/>
              </a:ext>
            </a:extLst>
          </p:cNvPr>
          <p:cNvSpPr>
            <a:spLocks xmlns:a="http://schemas.openxmlformats.org/drawingml/2006/main" noGrp="1"/>
          </p:cNvSpPr>
          <p:nvPr/>
        </p:nvSpPr>
        <p:spPr>
          <a:xfrm xmlns:a="http://schemas.openxmlformats.org/drawingml/2006/main">
            <a:off x="1051560" y="2103120"/>
            <a:ext cx="4206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2000"/>
              <a:buFont typeface="Arial"/>
              <a:buNone/>
            </a:pPr>
            <a:r>
              <a:rPr sz="2000" b="1" i="0" u="none" cap="none">
                <a:solidFill>
                  <a:srgbClr val="A6A6A6"/>
                </a:solidFill>
                <a:latin typeface="Arial"/>
                <a:ea typeface="Arial"/>
                <a:cs typeface="Arial"/>
              </a:rPr>
              <a:t>CLASS NOTES</a:t>
            </a:r>
          </a:p>
        </p:txBody>
      </p:sp>
      <p:sp>
        <p:nvSpPr>
          <p:cNvPr id="80" name="Google Shape;80;p7">
            <a:extLst xmlns:a="http://schemas.openxmlformats.org/drawingml/2006/main">
              <a:ext uri="{FF2B5EF4-FFF2-40B4-BE49-F238E27FC236}">
                <a16:creationId xmlns:a16="http://schemas.microsoft.com/office/drawing/2014/main" id="{F6C68E22-38A8-47E1-B665-04B09C675433}"/>
              </a:ext>
            </a:extLst>
          </p:cNvPr>
          <p:cNvSpPr>
            <a:spLocks xmlns:a="http://schemas.openxmlformats.org/drawingml/2006/main" noGrp="1"/>
          </p:cNvSpPr>
          <p:nvPr/>
        </p:nvSpPr>
        <p:spPr>
          <a:xfrm xmlns:a="http://schemas.openxmlformats.org/drawingml/2006/main">
            <a:off x="6766560" y="2103120"/>
            <a:ext cx="4343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RESEARCH JOURNAL</a:t>
            </a:r>
          </a:p>
        </p:txBody>
      </p:sp>
      <p:sp>
        <p:nvSpPr>
          <p:cNvPr id="81" name="Google Shape;81;p7">
            <a:extLst xmlns:a="http://schemas.openxmlformats.org/drawingml/2006/main">
              <a:ext uri="{FF2B5EF4-FFF2-40B4-BE49-F238E27FC236}">
                <a16:creationId xmlns:a16="http://schemas.microsoft.com/office/drawing/2014/main" id="{25C35F0D-A802-4A2F-B429-2CA853C9EAA3}"/>
              </a:ext>
            </a:extLst>
          </p:cNvPr>
          <p:cNvSpPr>
            <a:spLocks xmlns:a="http://schemas.openxmlformats.org/drawingml/2006/main" noGrp="1"/>
          </p:cNvSpPr>
          <p:nvPr/>
        </p:nvSpPr>
        <p:spPr>
          <a:xfrm xmlns:a="http://schemas.openxmlformats.org/drawingml/2006/main">
            <a:off x="1124712" y="27432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2" name="Google Shape;82;p7">
            <a:extLst xmlns:a="http://schemas.openxmlformats.org/drawingml/2006/main">
              <a:ext uri="{FF2B5EF4-FFF2-40B4-BE49-F238E27FC236}">
                <a16:creationId xmlns:a16="http://schemas.microsoft.com/office/drawing/2014/main" id="{923BEA44-6D90-4913-921C-2FB9F719EC92}"/>
              </a:ext>
            </a:extLst>
          </p:cNvPr>
          <p:cNvSpPr>
            <a:spLocks xmlns:a="http://schemas.openxmlformats.org/drawingml/2006/main" noGrp="1"/>
          </p:cNvSpPr>
          <p:nvPr/>
        </p:nvSpPr>
        <p:spPr>
          <a:xfrm xmlns:a="http://schemas.openxmlformats.org/drawingml/2006/main">
            <a:off x="1435608" y="27249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Definitions</a:t>
            </a:r>
          </a:p>
        </p:txBody>
      </p:sp>
      <p:sp>
        <p:nvSpPr>
          <p:cNvPr id="83" name="Google Shape;83;p7">
            <a:extLst xmlns:a="http://schemas.openxmlformats.org/drawingml/2006/main">
              <a:ext uri="{FF2B5EF4-FFF2-40B4-BE49-F238E27FC236}">
                <a16:creationId xmlns:a16="http://schemas.microsoft.com/office/drawing/2014/main" id="{3E6484E0-F640-4A19-993B-5DD72A798393}"/>
              </a:ext>
            </a:extLst>
          </p:cNvPr>
          <p:cNvSpPr>
            <a:spLocks xmlns:a="http://schemas.openxmlformats.org/drawingml/2006/main" noGrp="1"/>
          </p:cNvSpPr>
          <p:nvPr/>
        </p:nvSpPr>
        <p:spPr>
          <a:xfrm xmlns:a="http://schemas.openxmlformats.org/drawingml/2006/main">
            <a:off x="1124712" y="32004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4" name="Google Shape;84;p7">
            <a:extLst xmlns:a="http://schemas.openxmlformats.org/drawingml/2006/main">
              <a:ext uri="{FF2B5EF4-FFF2-40B4-BE49-F238E27FC236}">
                <a16:creationId xmlns:a16="http://schemas.microsoft.com/office/drawing/2014/main" id="{F07B4FD5-204F-4C3B-8FB4-8DB9BE0F7FDD}"/>
              </a:ext>
            </a:extLst>
          </p:cNvPr>
          <p:cNvSpPr>
            <a:spLocks xmlns:a="http://schemas.openxmlformats.org/drawingml/2006/main" noGrp="1"/>
          </p:cNvSpPr>
          <p:nvPr/>
        </p:nvSpPr>
        <p:spPr>
          <a:xfrm xmlns:a="http://schemas.openxmlformats.org/drawingml/2006/main">
            <a:off x="1435608" y="31821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Examples</a:t>
            </a:r>
          </a:p>
        </p:txBody>
      </p:sp>
      <p:sp>
        <p:nvSpPr>
          <p:cNvPr id="85" name="Google Shape;85;p7">
            <a:extLst xmlns:a="http://schemas.openxmlformats.org/drawingml/2006/main">
              <a:ext uri="{FF2B5EF4-FFF2-40B4-BE49-F238E27FC236}">
                <a16:creationId xmlns:a16="http://schemas.microsoft.com/office/drawing/2014/main" id="{2D6400CE-2051-43AC-9F53-4CFBE4829407}"/>
              </a:ext>
            </a:extLst>
          </p:cNvPr>
          <p:cNvSpPr>
            <a:spLocks xmlns:a="http://schemas.openxmlformats.org/drawingml/2006/main" noGrp="1"/>
          </p:cNvSpPr>
          <p:nvPr/>
        </p:nvSpPr>
        <p:spPr>
          <a:xfrm xmlns:a="http://schemas.openxmlformats.org/drawingml/2006/main">
            <a:off x="1124712" y="36576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6" name="Google Shape;86;p7">
            <a:extLst xmlns:a="http://schemas.openxmlformats.org/drawingml/2006/main">
              <a:ext uri="{FF2B5EF4-FFF2-40B4-BE49-F238E27FC236}">
                <a16:creationId xmlns:a16="http://schemas.microsoft.com/office/drawing/2014/main" id="{A6E5C0BB-3688-474B-BA22-6CA7111D1E39}"/>
              </a:ext>
            </a:extLst>
          </p:cNvPr>
          <p:cNvSpPr>
            <a:spLocks xmlns:a="http://schemas.openxmlformats.org/drawingml/2006/main" noGrp="1"/>
          </p:cNvSpPr>
          <p:nvPr/>
        </p:nvSpPr>
        <p:spPr>
          <a:xfrm xmlns:a="http://schemas.openxmlformats.org/drawingml/2006/main">
            <a:off x="1435608" y="36393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Teacher explanations</a:t>
            </a:r>
          </a:p>
        </p:txBody>
      </p:sp>
      <p:sp>
        <p:nvSpPr>
          <p:cNvPr id="87" name="Google Shape;87;p7">
            <a:extLst xmlns:a="http://schemas.openxmlformats.org/drawingml/2006/main">
              <a:ext uri="{FF2B5EF4-FFF2-40B4-BE49-F238E27FC236}">
                <a16:creationId xmlns:a16="http://schemas.microsoft.com/office/drawing/2014/main" id="{8C96C9DA-85C6-4AEF-A181-15AD742878D8}"/>
              </a:ext>
            </a:extLst>
          </p:cNvPr>
          <p:cNvSpPr>
            <a:spLocks xmlns:a="http://schemas.openxmlformats.org/drawingml/2006/main" noGrp="1"/>
          </p:cNvSpPr>
          <p:nvPr/>
        </p:nvSpPr>
        <p:spPr>
          <a:xfrm xmlns:a="http://schemas.openxmlformats.org/drawingml/2006/main">
            <a:off x="1124712" y="41148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88" name="Google Shape;88;p7">
            <a:extLst xmlns:a="http://schemas.openxmlformats.org/drawingml/2006/main">
              <a:ext uri="{FF2B5EF4-FFF2-40B4-BE49-F238E27FC236}">
                <a16:creationId xmlns:a16="http://schemas.microsoft.com/office/drawing/2014/main" id="{64FC6994-6B56-46A2-B7BD-41E7424C7927}"/>
              </a:ext>
            </a:extLst>
          </p:cNvPr>
          <p:cNvSpPr>
            <a:spLocks xmlns:a="http://schemas.openxmlformats.org/drawingml/2006/main" noGrp="1"/>
          </p:cNvSpPr>
          <p:nvPr/>
        </p:nvSpPr>
        <p:spPr>
          <a:xfrm xmlns:a="http://schemas.openxmlformats.org/drawingml/2006/main">
            <a:off x="1435608" y="40965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Practice problems</a:t>
            </a:r>
          </a:p>
        </p:txBody>
      </p:sp>
      <p:sp>
        <p:nvSpPr>
          <p:cNvPr id="89" name="Google Shape;89;p7">
            <a:extLst xmlns:a="http://schemas.openxmlformats.org/drawingml/2006/main">
              <a:ext uri="{FF2B5EF4-FFF2-40B4-BE49-F238E27FC236}">
                <a16:creationId xmlns:a16="http://schemas.microsoft.com/office/drawing/2014/main" id="{13EEAE10-F173-409D-9AF3-69A2A4B7E1BB}"/>
              </a:ext>
            </a:extLst>
          </p:cNvPr>
          <p:cNvSpPr>
            <a:spLocks xmlns:a="http://schemas.openxmlformats.org/drawingml/2006/main" noGrp="1"/>
          </p:cNvSpPr>
          <p:nvPr/>
        </p:nvSpPr>
        <p:spPr>
          <a:xfrm xmlns:a="http://schemas.openxmlformats.org/drawingml/2006/main">
            <a:off x="6839712" y="27432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0" name="Google Shape;90;p7">
            <a:extLst xmlns:a="http://schemas.openxmlformats.org/drawingml/2006/main">
              <a:ext uri="{FF2B5EF4-FFF2-40B4-BE49-F238E27FC236}">
                <a16:creationId xmlns:a16="http://schemas.microsoft.com/office/drawing/2014/main" id="{E9609952-96CC-44D3-A912-4D2A4DBD8BB3}"/>
              </a:ext>
            </a:extLst>
          </p:cNvPr>
          <p:cNvSpPr>
            <a:spLocks xmlns:a="http://schemas.openxmlformats.org/drawingml/2006/main" noGrp="1"/>
          </p:cNvSpPr>
          <p:nvPr/>
        </p:nvSpPr>
        <p:spPr>
          <a:xfrm xmlns:a="http://schemas.openxmlformats.org/drawingml/2006/main">
            <a:off x="7150608" y="27249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Procedures attempted</a:t>
            </a:r>
          </a:p>
        </p:txBody>
      </p:sp>
      <p:sp>
        <p:nvSpPr>
          <p:cNvPr id="91" name="Google Shape;91;p7">
            <a:extLst xmlns:a="http://schemas.openxmlformats.org/drawingml/2006/main">
              <a:ext uri="{FF2B5EF4-FFF2-40B4-BE49-F238E27FC236}">
                <a16:creationId xmlns:a16="http://schemas.microsoft.com/office/drawing/2014/main" id="{51EB481B-74CA-43CE-A31D-CCAC3560E023}"/>
              </a:ext>
            </a:extLst>
          </p:cNvPr>
          <p:cNvSpPr>
            <a:spLocks xmlns:a="http://schemas.openxmlformats.org/drawingml/2006/main" noGrp="1"/>
          </p:cNvSpPr>
          <p:nvPr/>
        </p:nvSpPr>
        <p:spPr>
          <a:xfrm xmlns:a="http://schemas.openxmlformats.org/drawingml/2006/main">
            <a:off x="6839712" y="32004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2" name="Google Shape;92;p7">
            <a:extLst xmlns:a="http://schemas.openxmlformats.org/drawingml/2006/main">
              <a:ext uri="{FF2B5EF4-FFF2-40B4-BE49-F238E27FC236}">
                <a16:creationId xmlns:a16="http://schemas.microsoft.com/office/drawing/2014/main" id="{F54EFDC4-D7E1-49BE-AE67-BA9E181A1192}"/>
              </a:ext>
            </a:extLst>
          </p:cNvPr>
          <p:cNvSpPr>
            <a:spLocks xmlns:a="http://schemas.openxmlformats.org/drawingml/2006/main" noGrp="1"/>
          </p:cNvSpPr>
          <p:nvPr/>
        </p:nvSpPr>
        <p:spPr>
          <a:xfrm xmlns:a="http://schemas.openxmlformats.org/drawingml/2006/main">
            <a:off x="7150608" y="31821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Data collected</a:t>
            </a:r>
          </a:p>
        </p:txBody>
      </p:sp>
      <p:sp>
        <p:nvSpPr>
          <p:cNvPr id="93" name="Google Shape;93;p7">
            <a:extLst xmlns:a="http://schemas.openxmlformats.org/drawingml/2006/main">
              <a:ext uri="{FF2B5EF4-FFF2-40B4-BE49-F238E27FC236}">
                <a16:creationId xmlns:a16="http://schemas.microsoft.com/office/drawing/2014/main" id="{26E22F5B-455B-4552-9E6C-E787615294D4}"/>
              </a:ext>
            </a:extLst>
          </p:cNvPr>
          <p:cNvSpPr>
            <a:spLocks xmlns:a="http://schemas.openxmlformats.org/drawingml/2006/main" noGrp="1"/>
          </p:cNvSpPr>
          <p:nvPr/>
        </p:nvSpPr>
        <p:spPr>
          <a:xfrm xmlns:a="http://schemas.openxmlformats.org/drawingml/2006/main">
            <a:off x="6839712" y="36576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4" name="Google Shape;94;p7">
            <a:extLst xmlns:a="http://schemas.openxmlformats.org/drawingml/2006/main">
              <a:ext uri="{FF2B5EF4-FFF2-40B4-BE49-F238E27FC236}">
                <a16:creationId xmlns:a16="http://schemas.microsoft.com/office/drawing/2014/main" id="{8515A3D9-BD1C-43CB-9A62-D78FB7D74CA2}"/>
              </a:ext>
            </a:extLst>
          </p:cNvPr>
          <p:cNvSpPr>
            <a:spLocks xmlns:a="http://schemas.openxmlformats.org/drawingml/2006/main" noGrp="1"/>
          </p:cNvSpPr>
          <p:nvPr/>
        </p:nvSpPr>
        <p:spPr>
          <a:xfrm xmlns:a="http://schemas.openxmlformats.org/drawingml/2006/main">
            <a:off x="7150608" y="36393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Problems encountered</a:t>
            </a:r>
          </a:p>
        </p:txBody>
      </p:sp>
      <p:sp>
        <p:nvSpPr>
          <p:cNvPr id="95" name="Google Shape;95;p7">
            <a:extLst xmlns:a="http://schemas.openxmlformats.org/drawingml/2006/main">
              <a:ext uri="{FF2B5EF4-FFF2-40B4-BE49-F238E27FC236}">
                <a16:creationId xmlns:a16="http://schemas.microsoft.com/office/drawing/2014/main" id="{1A817AE8-228C-4C48-A394-19266AC2DBC9}"/>
              </a:ext>
            </a:extLst>
          </p:cNvPr>
          <p:cNvSpPr>
            <a:spLocks xmlns:a="http://schemas.openxmlformats.org/drawingml/2006/main" noGrp="1"/>
          </p:cNvSpPr>
          <p:nvPr/>
        </p:nvSpPr>
        <p:spPr>
          <a:xfrm xmlns:a="http://schemas.openxmlformats.org/drawingml/2006/main">
            <a:off x="6839712" y="41148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600"/>
              <a:buFont typeface="Arial"/>
              <a:buNone/>
            </a:pPr>
            <a:r>
              <a:rPr sz="1600" b="1" i="0" u="none" cap="none">
                <a:solidFill>
                  <a:srgbClr val="FF1E1E"/>
                </a:solidFill>
                <a:latin typeface="Arial"/>
                <a:ea typeface="Arial"/>
                <a:cs typeface="Arial"/>
              </a:rPr>
              <a:t>•</a:t>
            </a:r>
          </a:p>
        </p:txBody>
      </p:sp>
      <p:sp>
        <p:nvSpPr>
          <p:cNvPr id="96" name="Google Shape;96;p7">
            <a:extLst xmlns:a="http://schemas.openxmlformats.org/drawingml/2006/main">
              <a:ext uri="{FF2B5EF4-FFF2-40B4-BE49-F238E27FC236}">
                <a16:creationId xmlns:a16="http://schemas.microsoft.com/office/drawing/2014/main" id="{5FFF736A-7524-4C61-8F4E-9F77817807A1}"/>
              </a:ext>
            </a:extLst>
          </p:cNvPr>
          <p:cNvSpPr>
            <a:spLocks xmlns:a="http://schemas.openxmlformats.org/drawingml/2006/main" noGrp="1"/>
          </p:cNvSpPr>
          <p:nvPr/>
        </p:nvSpPr>
        <p:spPr>
          <a:xfrm xmlns:a="http://schemas.openxmlformats.org/drawingml/2006/main">
            <a:off x="7150608" y="4096512"/>
            <a:ext cx="39319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Revisions made</a:t>
            </a:r>
          </a:p>
        </p:txBody>
      </p:sp>
    </p:spTree>
    <p:extLst>
      <p:ext uri="{BB962C8B-B14F-4D97-AF65-F5344CB8AC3E}">
        <p14:creationId xmlns:p14="http://schemas.microsoft.com/office/powerpoint/2010/main" val="1492137041"/>
      </p:ext>
    </p:extLst>
  </p:cSld>
</p:sld>
</file>

<file path=ppt/slides/slide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02" name="Google Shape;102;p8">
            <a:extLst xmlns:a="http://schemas.openxmlformats.org/drawingml/2006/main">
              <a:ext uri="{FF2B5EF4-FFF2-40B4-BE49-F238E27FC236}">
                <a16:creationId xmlns:a16="http://schemas.microsoft.com/office/drawing/2014/main" id="{82F40666-2908-4435-A7FC-056ADB728B3C}"/>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03" name="Google Shape;103;p8">
            <a:extLst xmlns:a="http://schemas.openxmlformats.org/drawingml/2006/main">
              <a:ext uri="{FF2B5EF4-FFF2-40B4-BE49-F238E27FC236}">
                <a16:creationId xmlns:a16="http://schemas.microsoft.com/office/drawing/2014/main" id="{5AE84A26-5731-487D-83BA-8DBC6F829B08}"/>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04" name="Google Shape;104;p8">
            <a:extLst xmlns:a="http://schemas.openxmlformats.org/drawingml/2006/main">
              <a:ext uri="{FF2B5EF4-FFF2-40B4-BE49-F238E27FC236}">
                <a16:creationId xmlns:a16="http://schemas.microsoft.com/office/drawing/2014/main" id="{77DA28E8-A05E-4485-9100-67302125A07A}"/>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05" name="Google Shape;105;p8">
            <a:extLst xmlns:a="http://schemas.openxmlformats.org/drawingml/2006/main">
              <a:ext uri="{FF2B5EF4-FFF2-40B4-BE49-F238E27FC236}">
                <a16:creationId xmlns:a16="http://schemas.microsoft.com/office/drawing/2014/main" id="{713CBAA6-F130-476F-87BC-E86CCB678F8E}"/>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06" name="Google Shape;106;p8">
            <a:extLst xmlns:a="http://schemas.openxmlformats.org/drawingml/2006/main">
              <a:ext uri="{FF2B5EF4-FFF2-40B4-BE49-F238E27FC236}">
                <a16:creationId xmlns:a16="http://schemas.microsoft.com/office/drawing/2014/main" id="{38E072EF-7941-4C5C-AE1E-F18DB1C7F4E4}"/>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Anatomy of a strong journal entry</a:t>
            </a:r>
          </a:p>
        </p:txBody>
      </p:sp>
      <p:cxnSp>
        <p:nvCxnSpPr>
          <p:cNvPr id="130" name="Google Shape;107;p8"/>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08" name="Google Shape;108;p8">
            <a:extLst xmlns:a="http://schemas.openxmlformats.org/drawingml/2006/main">
              <a:ext uri="{FF2B5EF4-FFF2-40B4-BE49-F238E27FC236}">
                <a16:creationId xmlns:a16="http://schemas.microsoft.com/office/drawing/2014/main" id="{564E4CDB-2407-402A-A88A-524B2D486854}"/>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Every entry should help rebuild the research session.</a:t>
            </a:r>
          </a:p>
        </p:txBody>
      </p:sp>
      <p:sp>
        <p:nvSpPr>
          <p:cNvPr id="109" name="Google Shape;109;p8">
            <a:extLst xmlns:a="http://schemas.openxmlformats.org/drawingml/2006/main">
              <a:ext uri="{FF2B5EF4-FFF2-40B4-BE49-F238E27FC236}">
                <a16:creationId xmlns:a16="http://schemas.microsoft.com/office/drawing/2014/main" id="{76CBE249-54ED-45B3-88D1-AA9F7A44E992}"/>
              </a:ext>
            </a:extLst>
          </p:cNvPr>
          <p:cNvSpPr>
            <a:spLocks xmlns:a="http://schemas.openxmlformats.org/drawingml/2006/main" noGrp="1"/>
          </p:cNvSpPr>
          <p:nvPr/>
        </p:nvSpPr>
        <p:spPr>
          <a:xfrm xmlns:a="http://schemas.openxmlformats.org/drawingml/2006/main">
            <a:off x="822960" y="1828800"/>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01</a:t>
            </a:r>
          </a:p>
        </p:txBody>
      </p:sp>
      <p:sp>
        <p:nvSpPr>
          <p:cNvPr id="110" name="Google Shape;110;p8">
            <a:extLst xmlns:a="http://schemas.openxmlformats.org/drawingml/2006/main">
              <a:ext uri="{FF2B5EF4-FFF2-40B4-BE49-F238E27FC236}">
                <a16:creationId xmlns:a16="http://schemas.microsoft.com/office/drawing/2014/main" id="{358A1FA6-1926-4844-BF61-FE819E44C249}"/>
              </a:ext>
            </a:extLst>
          </p:cNvPr>
          <p:cNvSpPr>
            <a:spLocks xmlns:a="http://schemas.openxmlformats.org/drawingml/2006/main" noGrp="1"/>
          </p:cNvSpPr>
          <p:nvPr/>
        </p:nvSpPr>
        <p:spPr>
          <a:xfrm xmlns:a="http://schemas.openxmlformats.org/drawingml/2006/main">
            <a:off x="1737360" y="1883664"/>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Date</a:t>
            </a:r>
          </a:p>
        </p:txBody>
      </p:sp>
      <p:sp>
        <p:nvSpPr>
          <p:cNvPr id="111" name="Google Shape;111;p8">
            <a:extLst xmlns:a="http://schemas.openxmlformats.org/drawingml/2006/main">
              <a:ext uri="{FF2B5EF4-FFF2-40B4-BE49-F238E27FC236}">
                <a16:creationId xmlns:a16="http://schemas.microsoft.com/office/drawing/2014/main" id="{FE1EAC09-3597-41C1-ACF0-81499FB482D6}"/>
              </a:ext>
            </a:extLst>
          </p:cNvPr>
          <p:cNvSpPr>
            <a:spLocks xmlns:a="http://schemas.openxmlformats.org/drawingml/2006/main" noGrp="1"/>
          </p:cNvSpPr>
          <p:nvPr/>
        </p:nvSpPr>
        <p:spPr>
          <a:xfrm xmlns:a="http://schemas.openxmlformats.org/drawingml/2006/main">
            <a:off x="822960" y="2578608"/>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02</a:t>
            </a:r>
          </a:p>
        </p:txBody>
      </p:sp>
      <p:sp>
        <p:nvSpPr>
          <p:cNvPr id="112" name="Google Shape;112;p8">
            <a:extLst xmlns:a="http://schemas.openxmlformats.org/drawingml/2006/main">
              <a:ext uri="{FF2B5EF4-FFF2-40B4-BE49-F238E27FC236}">
                <a16:creationId xmlns:a16="http://schemas.microsoft.com/office/drawing/2014/main" id="{75582FEE-961B-4E34-863F-2FFA08B4E630}"/>
              </a:ext>
            </a:extLst>
          </p:cNvPr>
          <p:cNvSpPr>
            <a:spLocks xmlns:a="http://schemas.openxmlformats.org/drawingml/2006/main" noGrp="1"/>
          </p:cNvSpPr>
          <p:nvPr/>
        </p:nvSpPr>
        <p:spPr>
          <a:xfrm xmlns:a="http://schemas.openxmlformats.org/drawingml/2006/main">
            <a:off x="1737360" y="2633472"/>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Goal</a:t>
            </a:r>
          </a:p>
        </p:txBody>
      </p:sp>
      <p:sp>
        <p:nvSpPr>
          <p:cNvPr id="113" name="Google Shape;113;p8">
            <a:extLst xmlns:a="http://schemas.openxmlformats.org/drawingml/2006/main">
              <a:ext uri="{FF2B5EF4-FFF2-40B4-BE49-F238E27FC236}">
                <a16:creationId xmlns:a16="http://schemas.microsoft.com/office/drawing/2014/main" id="{AAE2669E-C1AD-4832-9EE6-439F789D920D}"/>
              </a:ext>
            </a:extLst>
          </p:cNvPr>
          <p:cNvSpPr>
            <a:spLocks xmlns:a="http://schemas.openxmlformats.org/drawingml/2006/main" noGrp="1"/>
          </p:cNvSpPr>
          <p:nvPr/>
        </p:nvSpPr>
        <p:spPr>
          <a:xfrm xmlns:a="http://schemas.openxmlformats.org/drawingml/2006/main">
            <a:off x="822960" y="3328416"/>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03</a:t>
            </a:r>
          </a:p>
        </p:txBody>
      </p:sp>
      <p:sp>
        <p:nvSpPr>
          <p:cNvPr id="114" name="Google Shape;114;p8">
            <a:extLst xmlns:a="http://schemas.openxmlformats.org/drawingml/2006/main">
              <a:ext uri="{FF2B5EF4-FFF2-40B4-BE49-F238E27FC236}">
                <a16:creationId xmlns:a16="http://schemas.microsoft.com/office/drawing/2014/main" id="{23D7CE2D-BA11-4567-8523-C8B1640F26BF}"/>
              </a:ext>
            </a:extLst>
          </p:cNvPr>
          <p:cNvSpPr>
            <a:spLocks xmlns:a="http://schemas.openxmlformats.org/drawingml/2006/main" noGrp="1"/>
          </p:cNvSpPr>
          <p:nvPr/>
        </p:nvSpPr>
        <p:spPr>
          <a:xfrm xmlns:a="http://schemas.openxmlformats.org/drawingml/2006/main">
            <a:off x="1737360" y="338328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What you did</a:t>
            </a:r>
          </a:p>
        </p:txBody>
      </p:sp>
      <p:sp>
        <p:nvSpPr>
          <p:cNvPr id="115" name="Google Shape;115;p8">
            <a:extLst xmlns:a="http://schemas.openxmlformats.org/drawingml/2006/main">
              <a:ext uri="{FF2B5EF4-FFF2-40B4-BE49-F238E27FC236}">
                <a16:creationId xmlns:a16="http://schemas.microsoft.com/office/drawing/2014/main" id="{F85E7C63-C535-4FAA-B7C0-94C7A384F6F9}"/>
              </a:ext>
            </a:extLst>
          </p:cNvPr>
          <p:cNvSpPr>
            <a:spLocks xmlns:a="http://schemas.openxmlformats.org/drawingml/2006/main" noGrp="1"/>
          </p:cNvSpPr>
          <p:nvPr/>
        </p:nvSpPr>
        <p:spPr>
          <a:xfrm xmlns:a="http://schemas.openxmlformats.org/drawingml/2006/main">
            <a:off x="822960" y="4078224"/>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04</a:t>
            </a:r>
          </a:p>
        </p:txBody>
      </p:sp>
      <p:sp>
        <p:nvSpPr>
          <p:cNvPr id="116" name="Google Shape;116;p8">
            <a:extLst xmlns:a="http://schemas.openxmlformats.org/drawingml/2006/main">
              <a:ext uri="{FF2B5EF4-FFF2-40B4-BE49-F238E27FC236}">
                <a16:creationId xmlns:a16="http://schemas.microsoft.com/office/drawing/2014/main" id="{516ADC79-7430-4265-86D9-3D5578C89721}"/>
              </a:ext>
            </a:extLst>
          </p:cNvPr>
          <p:cNvSpPr>
            <a:spLocks xmlns:a="http://schemas.openxmlformats.org/drawingml/2006/main" noGrp="1"/>
          </p:cNvSpPr>
          <p:nvPr/>
        </p:nvSpPr>
        <p:spPr>
          <a:xfrm xmlns:a="http://schemas.openxmlformats.org/drawingml/2006/main">
            <a:off x="1737360" y="4133088"/>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Data/observations</a:t>
            </a:r>
          </a:p>
        </p:txBody>
      </p:sp>
      <p:sp>
        <p:nvSpPr>
          <p:cNvPr id="117" name="Google Shape;117;p8">
            <a:extLst xmlns:a="http://schemas.openxmlformats.org/drawingml/2006/main">
              <a:ext uri="{FF2B5EF4-FFF2-40B4-BE49-F238E27FC236}">
                <a16:creationId xmlns:a16="http://schemas.microsoft.com/office/drawing/2014/main" id="{66E50DDE-7CBF-4CA8-92F7-CE6F115717C9}"/>
              </a:ext>
            </a:extLst>
          </p:cNvPr>
          <p:cNvSpPr>
            <a:spLocks xmlns:a="http://schemas.openxmlformats.org/drawingml/2006/main" noGrp="1"/>
          </p:cNvSpPr>
          <p:nvPr/>
        </p:nvSpPr>
        <p:spPr>
          <a:xfrm xmlns:a="http://schemas.openxmlformats.org/drawingml/2006/main">
            <a:off x="6400800" y="1828800"/>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05</a:t>
            </a:r>
          </a:p>
        </p:txBody>
      </p:sp>
      <p:sp>
        <p:nvSpPr>
          <p:cNvPr id="118" name="Google Shape;118;p8">
            <a:extLst xmlns:a="http://schemas.openxmlformats.org/drawingml/2006/main">
              <a:ext uri="{FF2B5EF4-FFF2-40B4-BE49-F238E27FC236}">
                <a16:creationId xmlns:a16="http://schemas.microsoft.com/office/drawing/2014/main" id="{47F72847-CCA1-4583-A5A5-B13CAB4A93C5}"/>
              </a:ext>
            </a:extLst>
          </p:cNvPr>
          <p:cNvSpPr>
            <a:spLocks xmlns:a="http://schemas.openxmlformats.org/drawingml/2006/main" noGrp="1"/>
          </p:cNvSpPr>
          <p:nvPr/>
        </p:nvSpPr>
        <p:spPr>
          <a:xfrm xmlns:a="http://schemas.openxmlformats.org/drawingml/2006/main">
            <a:off x="7315200" y="1883664"/>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Problems</a:t>
            </a:r>
          </a:p>
        </p:txBody>
      </p:sp>
      <p:sp>
        <p:nvSpPr>
          <p:cNvPr id="119" name="Google Shape;119;p8">
            <a:extLst xmlns:a="http://schemas.openxmlformats.org/drawingml/2006/main">
              <a:ext uri="{FF2B5EF4-FFF2-40B4-BE49-F238E27FC236}">
                <a16:creationId xmlns:a16="http://schemas.microsoft.com/office/drawing/2014/main" id="{AF7EC73B-4000-4435-8B3D-05596B76E3BE}"/>
              </a:ext>
            </a:extLst>
          </p:cNvPr>
          <p:cNvSpPr>
            <a:spLocks xmlns:a="http://schemas.openxmlformats.org/drawingml/2006/main" noGrp="1"/>
          </p:cNvSpPr>
          <p:nvPr/>
        </p:nvSpPr>
        <p:spPr>
          <a:xfrm xmlns:a="http://schemas.openxmlformats.org/drawingml/2006/main">
            <a:off x="6400800" y="2578608"/>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06</a:t>
            </a:r>
          </a:p>
        </p:txBody>
      </p:sp>
      <p:sp>
        <p:nvSpPr>
          <p:cNvPr id="120" name="Google Shape;120;p8">
            <a:extLst xmlns:a="http://schemas.openxmlformats.org/drawingml/2006/main">
              <a:ext uri="{FF2B5EF4-FFF2-40B4-BE49-F238E27FC236}">
                <a16:creationId xmlns:a16="http://schemas.microsoft.com/office/drawing/2014/main" id="{7DAE94B2-928F-4FBB-81FF-F2403DA2752E}"/>
              </a:ext>
            </a:extLst>
          </p:cNvPr>
          <p:cNvSpPr>
            <a:spLocks xmlns:a="http://schemas.openxmlformats.org/drawingml/2006/main" noGrp="1"/>
          </p:cNvSpPr>
          <p:nvPr/>
        </p:nvSpPr>
        <p:spPr>
          <a:xfrm xmlns:a="http://schemas.openxmlformats.org/drawingml/2006/main">
            <a:off x="7315200" y="2633472"/>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Decisions/changes</a:t>
            </a:r>
          </a:p>
        </p:txBody>
      </p:sp>
      <p:sp>
        <p:nvSpPr>
          <p:cNvPr id="121" name="Google Shape;121;p8">
            <a:extLst xmlns:a="http://schemas.openxmlformats.org/drawingml/2006/main">
              <a:ext uri="{FF2B5EF4-FFF2-40B4-BE49-F238E27FC236}">
                <a16:creationId xmlns:a16="http://schemas.microsoft.com/office/drawing/2014/main" id="{372243B3-C491-40A4-8CB8-311A48EA4A78}"/>
              </a:ext>
            </a:extLst>
          </p:cNvPr>
          <p:cNvSpPr>
            <a:spLocks xmlns:a="http://schemas.openxmlformats.org/drawingml/2006/main" noGrp="1"/>
          </p:cNvSpPr>
          <p:nvPr/>
        </p:nvSpPr>
        <p:spPr>
          <a:xfrm xmlns:a="http://schemas.openxmlformats.org/drawingml/2006/main">
            <a:off x="6400800" y="3328416"/>
            <a:ext cx="8229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400"/>
              <a:buFont typeface="Arial"/>
              <a:buNone/>
            </a:pPr>
            <a:r>
              <a:rPr sz="2400" b="1" i="0" u="none" cap="none">
                <a:solidFill>
                  <a:srgbClr val="FF1E1E"/>
                </a:solidFill>
                <a:latin typeface="Arial"/>
                <a:ea typeface="Arial"/>
                <a:cs typeface="Arial"/>
              </a:rPr>
              <a:t>07</a:t>
            </a:r>
          </a:p>
        </p:txBody>
      </p:sp>
      <p:sp>
        <p:nvSpPr>
          <p:cNvPr id="122" name="Google Shape;122;p8">
            <a:extLst xmlns:a="http://schemas.openxmlformats.org/drawingml/2006/main">
              <a:ext uri="{FF2B5EF4-FFF2-40B4-BE49-F238E27FC236}">
                <a16:creationId xmlns:a16="http://schemas.microsoft.com/office/drawing/2014/main" id="{030DF577-D9D6-463B-BE2D-CD0C3784098A}"/>
              </a:ext>
            </a:extLst>
          </p:cNvPr>
          <p:cNvSpPr>
            <a:spLocks xmlns:a="http://schemas.openxmlformats.org/drawingml/2006/main" noGrp="1"/>
          </p:cNvSpPr>
          <p:nvPr/>
        </p:nvSpPr>
        <p:spPr>
          <a:xfrm xmlns:a="http://schemas.openxmlformats.org/drawingml/2006/main">
            <a:off x="7315200" y="338328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Next step</a:t>
            </a:r>
          </a:p>
        </p:txBody>
      </p:sp>
      <p:sp>
        <p:nvSpPr>
          <p:cNvPr id="123" name="Google Shape;123;p8">
            <a:extLst xmlns:a="http://schemas.openxmlformats.org/drawingml/2006/main">
              <a:ext uri="{FF2B5EF4-FFF2-40B4-BE49-F238E27FC236}">
                <a16:creationId xmlns:a16="http://schemas.microsoft.com/office/drawing/2014/main" id="{5684AD8C-E64A-4CA9-BA58-7A968A4419D7}"/>
              </a:ext>
            </a:extLst>
          </p:cNvPr>
          <p:cNvSpPr>
            <a:spLocks xmlns:a="http://schemas.openxmlformats.org/drawingml/2006/main" noGrp="1"/>
          </p:cNvSpPr>
          <p:nvPr/>
        </p:nvSpPr>
        <p:spPr>
          <a:xfrm xmlns:a="http://schemas.openxmlformats.org/drawingml/2006/main">
            <a:off x="822960" y="5074920"/>
            <a:ext cx="10424160" cy="530352"/>
          </a:xfrm>
          <a:prstGeom xmlns:a="http://schemas.openxmlformats.org/drawingml/2006/main" prst="roundRect">
            <a:avLst>
              <a:gd name="adj" fmla="val 8621"/>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24" name="Google Shape;124;p8">
            <a:extLst xmlns:a="http://schemas.openxmlformats.org/drawingml/2006/main">
              <a:ext uri="{FF2B5EF4-FFF2-40B4-BE49-F238E27FC236}">
                <a16:creationId xmlns:a16="http://schemas.microsoft.com/office/drawing/2014/main" id="{02E82DDE-C779-42A8-92F8-AE3E10ABC655}"/>
              </a:ext>
            </a:extLst>
          </p:cNvPr>
          <p:cNvSpPr>
            <a:spLocks xmlns:a="http://schemas.openxmlformats.org/drawingml/2006/main" noGrp="1"/>
          </p:cNvSpPr>
          <p:nvPr/>
        </p:nvSpPr>
        <p:spPr>
          <a:xfrm xmlns:a="http://schemas.openxmlformats.org/drawingml/2006/main">
            <a:off x="1051560" y="5248656"/>
            <a:ext cx="98755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350"/>
              <a:buFont typeface="Arial"/>
              <a:buNone/>
            </a:pPr>
            <a:r>
              <a:rPr sz="1350" b="1" i="0" u="none" cap="none">
                <a:solidFill>
                  <a:srgbClr val="FFFFFF"/>
                </a:solidFill>
                <a:latin typeface="Arial"/>
                <a:ea typeface="Arial"/>
                <a:cs typeface="Arial"/>
              </a:rPr>
              <a:t>If the entry does not tell the story of the work session, it is not finished.</a:t>
            </a:r>
          </a:p>
        </p:txBody>
      </p:sp>
    </p:spTree>
    <p:extLst>
      <p:ext uri="{BB962C8B-B14F-4D97-AF65-F5344CB8AC3E}">
        <p14:creationId xmlns:p14="http://schemas.microsoft.com/office/powerpoint/2010/main" val="523941538"/>
      </p:ext>
    </p:extLst>
  </p:cSld>
</p:sld>
</file>

<file path=ppt/slides/slide6.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30" name="Google Shape;130;p9">
            <a:extLst xmlns:a="http://schemas.openxmlformats.org/drawingml/2006/main">
              <a:ext uri="{FF2B5EF4-FFF2-40B4-BE49-F238E27FC236}">
                <a16:creationId xmlns:a16="http://schemas.microsoft.com/office/drawing/2014/main" id="{93CFF909-7B7C-4A8B-99DB-54583444EA17}"/>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1" name="Google Shape;131;p9">
            <a:extLst xmlns:a="http://schemas.openxmlformats.org/drawingml/2006/main">
              <a:ext uri="{FF2B5EF4-FFF2-40B4-BE49-F238E27FC236}">
                <a16:creationId xmlns:a16="http://schemas.microsoft.com/office/drawing/2014/main" id="{3538FCAF-869D-4743-844E-0CE0C025B3E5}"/>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2" name="Google Shape;132;p9">
            <a:extLst xmlns:a="http://schemas.openxmlformats.org/drawingml/2006/main">
              <a:ext uri="{FF2B5EF4-FFF2-40B4-BE49-F238E27FC236}">
                <a16:creationId xmlns:a16="http://schemas.microsoft.com/office/drawing/2014/main" id="{6A441EBF-D1BC-46F1-BA6C-F9AC1FCCC87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33" name="Google Shape;133;p9">
            <a:extLst xmlns:a="http://schemas.openxmlformats.org/drawingml/2006/main">
              <a:ext uri="{FF2B5EF4-FFF2-40B4-BE49-F238E27FC236}">
                <a16:creationId xmlns:a16="http://schemas.microsoft.com/office/drawing/2014/main" id="{EAA93E94-AD42-41E3-99BB-1159F5781164}"/>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34" name="Google Shape;134;p9">
            <a:extLst xmlns:a="http://schemas.openxmlformats.org/drawingml/2006/main">
              <a:ext uri="{FF2B5EF4-FFF2-40B4-BE49-F238E27FC236}">
                <a16:creationId xmlns:a16="http://schemas.microsoft.com/office/drawing/2014/main" id="{8FDD717E-B580-40CE-980E-4ECB32B04F1C}"/>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Separate observation from interpretation</a:t>
            </a:r>
          </a:p>
        </p:txBody>
      </p:sp>
      <p:cxnSp>
        <p:nvCxnSpPr>
          <p:cNvPr id="150" name="Google Shape;135;p9"/>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36" name="Google Shape;136;p9">
            <a:extLst xmlns:a="http://schemas.openxmlformats.org/drawingml/2006/main">
              <a:ext uri="{FF2B5EF4-FFF2-40B4-BE49-F238E27FC236}">
                <a16:creationId xmlns:a16="http://schemas.microsoft.com/office/drawing/2014/main" id="{1F774A7A-1484-4EBB-81BE-1DC14E31871C}"/>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Both matter. Mixing them too early weakens your evidence.</a:t>
            </a:r>
          </a:p>
        </p:txBody>
      </p:sp>
      <p:sp>
        <p:nvSpPr>
          <p:cNvPr id="137" name="Google Shape;137;p9">
            <a:extLst xmlns:a="http://schemas.openxmlformats.org/drawingml/2006/main">
              <a:ext uri="{FF2B5EF4-FFF2-40B4-BE49-F238E27FC236}">
                <a16:creationId xmlns:a16="http://schemas.microsoft.com/office/drawing/2014/main" id="{E263AC36-C3BF-4710-AABB-E91AC8FD59FC}"/>
              </a:ext>
            </a:extLst>
          </p:cNvPr>
          <p:cNvSpPr>
            <a:spLocks xmlns:a="http://schemas.openxmlformats.org/drawingml/2006/main" noGrp="1"/>
          </p:cNvSpPr>
          <p:nvPr/>
        </p:nvSpPr>
        <p:spPr>
          <a:xfrm xmlns:a="http://schemas.openxmlformats.org/drawingml/2006/main">
            <a:off x="822960" y="1874520"/>
            <a:ext cx="4846320" cy="3383280"/>
          </a:xfrm>
          <a:prstGeom xmlns:a="http://schemas.openxmlformats.org/drawingml/2006/main" prst="roundRect">
            <a:avLst>
              <a:gd name="adj" fmla="val 1351"/>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8" name="Google Shape;138;p9">
            <a:extLst xmlns:a="http://schemas.openxmlformats.org/drawingml/2006/main">
              <a:ext uri="{FF2B5EF4-FFF2-40B4-BE49-F238E27FC236}">
                <a16:creationId xmlns:a16="http://schemas.microsoft.com/office/drawing/2014/main" id="{7950252F-368D-4798-9051-16445AFC469C}"/>
              </a:ext>
            </a:extLst>
          </p:cNvPr>
          <p:cNvSpPr>
            <a:spLocks xmlns:a="http://schemas.openxmlformats.org/drawingml/2006/main" noGrp="1"/>
          </p:cNvSpPr>
          <p:nvPr/>
        </p:nvSpPr>
        <p:spPr>
          <a:xfrm xmlns:a="http://schemas.openxmlformats.org/drawingml/2006/main">
            <a:off x="6492240" y="1874520"/>
            <a:ext cx="4846320" cy="3383280"/>
          </a:xfrm>
          <a:prstGeom xmlns:a="http://schemas.openxmlformats.org/drawingml/2006/main" prst="roundRect">
            <a:avLst>
              <a:gd name="adj" fmla="val 1351"/>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39" name="Google Shape;139;p9">
            <a:extLst xmlns:a="http://schemas.openxmlformats.org/drawingml/2006/main">
              <a:ext uri="{FF2B5EF4-FFF2-40B4-BE49-F238E27FC236}">
                <a16:creationId xmlns:a16="http://schemas.microsoft.com/office/drawing/2014/main" id="{5846130A-7C4F-46F3-B4F4-4EB2D91FF3B3}"/>
              </a:ext>
            </a:extLst>
          </p:cNvPr>
          <p:cNvSpPr>
            <a:spLocks xmlns:a="http://schemas.openxmlformats.org/drawingml/2006/main" noGrp="1"/>
          </p:cNvSpPr>
          <p:nvPr/>
        </p:nvSpPr>
        <p:spPr>
          <a:xfrm xmlns:a="http://schemas.openxmlformats.org/drawingml/2006/main">
            <a:off x="1143000" y="2148840"/>
            <a:ext cx="40233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OBSERVATION</a:t>
            </a:r>
          </a:p>
        </p:txBody>
      </p:sp>
      <p:sp>
        <p:nvSpPr>
          <p:cNvPr id="140" name="Google Shape;140;p9">
            <a:extLst xmlns:a="http://schemas.openxmlformats.org/drawingml/2006/main">
              <a:ext uri="{FF2B5EF4-FFF2-40B4-BE49-F238E27FC236}">
                <a16:creationId xmlns:a16="http://schemas.microsoft.com/office/drawing/2014/main" id="{917E7B4C-E8C4-434C-8921-3AFBF2B25033}"/>
              </a:ext>
            </a:extLst>
          </p:cNvPr>
          <p:cNvSpPr>
            <a:spLocks xmlns:a="http://schemas.openxmlformats.org/drawingml/2006/main" noGrp="1"/>
          </p:cNvSpPr>
          <p:nvPr/>
        </p:nvSpPr>
        <p:spPr>
          <a:xfrm xmlns:a="http://schemas.openxmlformats.org/drawingml/2006/main">
            <a:off x="6812280" y="2148840"/>
            <a:ext cx="40233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INTERPRETATION</a:t>
            </a:r>
          </a:p>
        </p:txBody>
      </p:sp>
      <p:sp>
        <p:nvSpPr>
          <p:cNvPr id="141" name="Google Shape;141;p9">
            <a:extLst xmlns:a="http://schemas.openxmlformats.org/drawingml/2006/main">
              <a:ext uri="{FF2B5EF4-FFF2-40B4-BE49-F238E27FC236}">
                <a16:creationId xmlns:a16="http://schemas.microsoft.com/office/drawing/2014/main" id="{4429C75E-36EA-496D-AB30-BDFD8AE32D19}"/>
              </a:ext>
            </a:extLst>
          </p:cNvPr>
          <p:cNvSpPr>
            <a:spLocks xmlns:a="http://schemas.openxmlformats.org/drawingml/2006/main" noGrp="1"/>
          </p:cNvSpPr>
          <p:nvPr/>
        </p:nvSpPr>
        <p:spPr>
          <a:xfrm xmlns:a="http://schemas.openxmlformats.org/drawingml/2006/main">
            <a:off x="1170432" y="2788920"/>
            <a:ext cx="41605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1700"/>
              <a:buFont typeface="Arial"/>
              <a:buNone/>
            </a:pPr>
            <a:r>
              <a:rPr sz="1700" b="0" i="0" u="none" cap="none">
                <a:solidFill>
                  <a:srgbClr val="A6A6A6"/>
                </a:solidFill>
                <a:latin typeface="Arial"/>
                <a:ea typeface="Arial"/>
                <a:cs typeface="Arial"/>
              </a:rPr>
              <a:t>What you directly saw, measured, recorded, or heard.</a:t>
            </a:r>
          </a:p>
        </p:txBody>
      </p:sp>
      <p:sp>
        <p:nvSpPr>
          <p:cNvPr id="142" name="Google Shape;142;p9">
            <a:extLst xmlns:a="http://schemas.openxmlformats.org/drawingml/2006/main">
              <a:ext uri="{FF2B5EF4-FFF2-40B4-BE49-F238E27FC236}">
                <a16:creationId xmlns:a16="http://schemas.microsoft.com/office/drawing/2014/main" id="{A2611658-9678-4016-B9D0-2329764E4C3B}"/>
              </a:ext>
            </a:extLst>
          </p:cNvPr>
          <p:cNvSpPr>
            <a:spLocks xmlns:a="http://schemas.openxmlformats.org/drawingml/2006/main" noGrp="1"/>
          </p:cNvSpPr>
          <p:nvPr/>
        </p:nvSpPr>
        <p:spPr>
          <a:xfrm xmlns:a="http://schemas.openxmlformats.org/drawingml/2006/main">
            <a:off x="6839712" y="2788920"/>
            <a:ext cx="41605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1700"/>
              <a:buFont typeface="Arial"/>
              <a:buNone/>
            </a:pPr>
            <a:r>
              <a:rPr sz="1700" b="0" i="0" u="none" cap="none">
                <a:solidFill>
                  <a:srgbClr val="A6A6A6"/>
                </a:solidFill>
                <a:latin typeface="Arial"/>
                <a:ea typeface="Arial"/>
                <a:cs typeface="Arial"/>
              </a:rPr>
              <a:t>What you think the observation may mean.</a:t>
            </a:r>
          </a:p>
        </p:txBody>
      </p:sp>
      <p:sp>
        <p:nvSpPr>
          <p:cNvPr id="143" name="Google Shape;143;p9">
            <a:extLst xmlns:a="http://schemas.openxmlformats.org/drawingml/2006/main">
              <a:ext uri="{FF2B5EF4-FFF2-40B4-BE49-F238E27FC236}">
                <a16:creationId xmlns:a16="http://schemas.microsoft.com/office/drawing/2014/main" id="{5621D5ED-9599-4A6C-99F6-70677A6DEBF9}"/>
              </a:ext>
            </a:extLst>
          </p:cNvPr>
          <p:cNvSpPr>
            <a:spLocks xmlns:a="http://schemas.openxmlformats.org/drawingml/2006/main" noGrp="1"/>
          </p:cNvSpPr>
          <p:nvPr/>
        </p:nvSpPr>
        <p:spPr>
          <a:xfrm xmlns:a="http://schemas.openxmlformats.org/drawingml/2006/main">
            <a:off x="1143000" y="3886200"/>
            <a:ext cx="4206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0" i="1" u="none" cap="none">
                <a:solidFill>
                  <a:srgbClr val="FFFFFF"/>
                </a:solidFill>
                <a:latin typeface="Arial"/>
                <a:ea typeface="Arial"/>
                <a:cs typeface="Arial"/>
              </a:rPr>
              <a:t>“The sensor reading dropped from 3.1 V to 1.4 V.”</a:t>
            </a:r>
          </a:p>
        </p:txBody>
      </p:sp>
      <p:sp>
        <p:nvSpPr>
          <p:cNvPr id="144" name="Google Shape;144;p9">
            <a:extLst xmlns:a="http://schemas.openxmlformats.org/drawingml/2006/main">
              <a:ext uri="{FF2B5EF4-FFF2-40B4-BE49-F238E27FC236}">
                <a16:creationId xmlns:a16="http://schemas.microsoft.com/office/drawing/2014/main" id="{7E4C8557-38AB-42B3-9B45-ABA6DEDBCA6C}"/>
              </a:ext>
            </a:extLst>
          </p:cNvPr>
          <p:cNvSpPr>
            <a:spLocks xmlns:a="http://schemas.openxmlformats.org/drawingml/2006/main" noGrp="1"/>
          </p:cNvSpPr>
          <p:nvPr/>
        </p:nvSpPr>
        <p:spPr>
          <a:xfrm xmlns:a="http://schemas.openxmlformats.org/drawingml/2006/main">
            <a:off x="6812280" y="3886200"/>
            <a:ext cx="4206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0" i="1" u="none" cap="none">
                <a:solidFill>
                  <a:srgbClr val="FFFFFF"/>
                </a:solidFill>
                <a:latin typeface="Arial"/>
                <a:ea typeface="Arial"/>
                <a:cs typeface="Arial"/>
              </a:rPr>
              <a:t>“The loose wire may have interrupted the signal.”</a:t>
            </a:r>
          </a:p>
        </p:txBody>
      </p:sp>
    </p:spTree>
    <p:extLst>
      <p:ext uri="{BB962C8B-B14F-4D97-AF65-F5344CB8AC3E}">
        <p14:creationId xmlns:p14="http://schemas.microsoft.com/office/powerpoint/2010/main" val="246144658"/>
      </p:ext>
    </p:extLst>
  </p:cSld>
</p:sld>
</file>

<file path=ppt/slides/slide7.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50" name="Google Shape;150;p10">
            <a:extLst xmlns:a="http://schemas.openxmlformats.org/drawingml/2006/main">
              <a:ext uri="{FF2B5EF4-FFF2-40B4-BE49-F238E27FC236}">
                <a16:creationId xmlns:a16="http://schemas.microsoft.com/office/drawing/2014/main" id="{50F2E21F-341C-4C33-8EB3-CC57BC00DFC5}"/>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51" name="Google Shape;151;p10">
            <a:extLst xmlns:a="http://schemas.openxmlformats.org/drawingml/2006/main">
              <a:ext uri="{FF2B5EF4-FFF2-40B4-BE49-F238E27FC236}">
                <a16:creationId xmlns:a16="http://schemas.microsoft.com/office/drawing/2014/main" id="{54C548B0-9D7C-45D3-A651-10C3E0D06B3D}"/>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52" name="Google Shape;152;p10">
            <a:extLst xmlns:a="http://schemas.openxmlformats.org/drawingml/2006/main">
              <a:ext uri="{FF2B5EF4-FFF2-40B4-BE49-F238E27FC236}">
                <a16:creationId xmlns:a16="http://schemas.microsoft.com/office/drawing/2014/main" id="{8944B857-121E-4FFF-9663-441716D42B43}"/>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53" name="Google Shape;153;p10">
            <a:extLst xmlns:a="http://schemas.openxmlformats.org/drawingml/2006/main">
              <a:ext uri="{FF2B5EF4-FFF2-40B4-BE49-F238E27FC236}">
                <a16:creationId xmlns:a16="http://schemas.microsoft.com/office/drawing/2014/main" id="{B74E0602-BE24-49E2-A326-626984BE9D21}"/>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54" name="Google Shape;154;p10">
            <a:extLst xmlns:a="http://schemas.openxmlformats.org/drawingml/2006/main">
              <a:ext uri="{FF2B5EF4-FFF2-40B4-BE49-F238E27FC236}">
                <a16:creationId xmlns:a16="http://schemas.microsoft.com/office/drawing/2014/main" id="{4ECA70BB-70FD-4E29-9894-5B22AFC6F1BE}"/>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Your journal must point to the evidence</a:t>
            </a:r>
          </a:p>
        </p:txBody>
      </p:sp>
      <p:cxnSp>
        <p:nvCxnSpPr>
          <p:cNvPr id="174" name="Google Shape;155;p10"/>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56" name="Google Shape;156;p10">
            <a:extLst xmlns:a="http://schemas.openxmlformats.org/drawingml/2006/main">
              <a:ext uri="{FF2B5EF4-FFF2-40B4-BE49-F238E27FC236}">
                <a16:creationId xmlns:a16="http://schemas.microsoft.com/office/drawing/2014/main" id="{463820A2-1CE3-4582-8AC0-A177A40ED829}"/>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Data without context becomes a mystery.</a:t>
            </a:r>
          </a:p>
        </p:txBody>
      </p:sp>
      <p:sp>
        <p:nvSpPr>
          <p:cNvPr id="157" name="Google Shape;157;p10">
            <a:extLst xmlns:a="http://schemas.openxmlformats.org/drawingml/2006/main">
              <a:ext uri="{FF2B5EF4-FFF2-40B4-BE49-F238E27FC236}">
                <a16:creationId xmlns:a16="http://schemas.microsoft.com/office/drawing/2014/main" id="{F537B2DD-6FD3-4C40-AA5A-F39652BE7937}"/>
              </a:ext>
            </a:extLst>
          </p:cNvPr>
          <p:cNvSpPr>
            <a:spLocks xmlns:a="http://schemas.openxmlformats.org/drawingml/2006/main" noGrp="1"/>
          </p:cNvSpPr>
          <p:nvPr/>
        </p:nvSpPr>
        <p:spPr>
          <a:xfrm xmlns:a="http://schemas.openxmlformats.org/drawingml/2006/main">
            <a:off x="822960" y="1828800"/>
            <a:ext cx="22860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Journal Entry</a:t>
            </a:r>
          </a:p>
        </p:txBody>
      </p:sp>
      <p:sp>
        <p:nvSpPr>
          <p:cNvPr id="158" name="Google Shape;158;p10">
            <a:extLst xmlns:a="http://schemas.openxmlformats.org/drawingml/2006/main">
              <a:ext uri="{FF2B5EF4-FFF2-40B4-BE49-F238E27FC236}">
                <a16:creationId xmlns:a16="http://schemas.microsoft.com/office/drawing/2014/main" id="{A3B0279D-C50A-4C20-8685-4F845C202A77}"/>
              </a:ext>
            </a:extLst>
          </p:cNvPr>
          <p:cNvSpPr>
            <a:spLocks xmlns:a="http://schemas.openxmlformats.org/drawingml/2006/main" noGrp="1"/>
          </p:cNvSpPr>
          <p:nvPr/>
        </p:nvSpPr>
        <p:spPr>
          <a:xfrm xmlns:a="http://schemas.openxmlformats.org/drawingml/2006/main">
            <a:off x="4846320" y="1828800"/>
            <a:ext cx="19202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Raw Data</a:t>
            </a:r>
          </a:p>
        </p:txBody>
      </p:sp>
      <p:sp>
        <p:nvSpPr>
          <p:cNvPr id="159" name="Google Shape;159;p10">
            <a:extLst xmlns:a="http://schemas.openxmlformats.org/drawingml/2006/main">
              <a:ext uri="{FF2B5EF4-FFF2-40B4-BE49-F238E27FC236}">
                <a16:creationId xmlns:a16="http://schemas.microsoft.com/office/drawing/2014/main" id="{284C4C73-6AB8-476E-A212-2F3399A6DD4C}"/>
              </a:ext>
            </a:extLst>
          </p:cNvPr>
          <p:cNvSpPr>
            <a:spLocks xmlns:a="http://schemas.openxmlformats.org/drawingml/2006/main" noGrp="1"/>
          </p:cNvSpPr>
          <p:nvPr/>
        </p:nvSpPr>
        <p:spPr>
          <a:xfrm xmlns:a="http://schemas.openxmlformats.org/drawingml/2006/main">
            <a:off x="8321040" y="1828800"/>
            <a:ext cx="27432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File / Photo / Output</a:t>
            </a:r>
          </a:p>
        </p:txBody>
      </p:sp>
      <p:sp>
        <p:nvSpPr>
          <p:cNvPr id="160" name="Google Shape;160;p10">
            <a:extLst xmlns:a="http://schemas.openxmlformats.org/drawingml/2006/main">
              <a:ext uri="{FF2B5EF4-FFF2-40B4-BE49-F238E27FC236}">
                <a16:creationId xmlns:a16="http://schemas.microsoft.com/office/drawing/2014/main" id="{BC969D38-5806-47B6-B5CD-A428FC4B1648}"/>
              </a:ext>
            </a:extLst>
          </p:cNvPr>
          <p:cNvSpPr>
            <a:spLocks xmlns:a="http://schemas.openxmlformats.org/drawingml/2006/main" noGrp="1"/>
          </p:cNvSpPr>
          <p:nvPr/>
        </p:nvSpPr>
        <p:spPr>
          <a:xfrm xmlns:a="http://schemas.openxmlformats.org/drawingml/2006/main">
            <a:off x="822960" y="2423160"/>
            <a:ext cx="2468880" cy="1234440"/>
          </a:xfrm>
          <a:prstGeom xmlns:a="http://schemas.openxmlformats.org/drawingml/2006/main" prst="roundRect">
            <a:avLst>
              <a:gd name="adj" fmla="val 370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61" name="Google Shape;161;p10">
            <a:extLst xmlns:a="http://schemas.openxmlformats.org/drawingml/2006/main">
              <a:ext uri="{FF2B5EF4-FFF2-40B4-BE49-F238E27FC236}">
                <a16:creationId xmlns:a16="http://schemas.microsoft.com/office/drawing/2014/main" id="{5B24D487-D7B4-42D3-B113-8D005E78A9D0}"/>
              </a:ext>
            </a:extLst>
          </p:cNvPr>
          <p:cNvSpPr>
            <a:spLocks xmlns:a="http://schemas.openxmlformats.org/drawingml/2006/main" noGrp="1"/>
          </p:cNvSpPr>
          <p:nvPr/>
        </p:nvSpPr>
        <p:spPr>
          <a:xfrm xmlns:a="http://schemas.openxmlformats.org/drawingml/2006/main">
            <a:off x="987552" y="2788920"/>
            <a:ext cx="2148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Date + trial number</a:t>
            </a:r>
          </a:p>
        </p:txBody>
      </p:sp>
      <p:sp>
        <p:nvSpPr>
          <p:cNvPr id="162" name="Google Shape;162;p10">
            <a:extLst xmlns:a="http://schemas.openxmlformats.org/drawingml/2006/main">
              <a:ext uri="{FF2B5EF4-FFF2-40B4-BE49-F238E27FC236}">
                <a16:creationId xmlns:a16="http://schemas.microsoft.com/office/drawing/2014/main" id="{52C6C772-E2B5-41CE-A4FA-73C0B01E6CC0}"/>
              </a:ext>
            </a:extLst>
          </p:cNvPr>
          <p:cNvSpPr>
            <a:spLocks xmlns:a="http://schemas.openxmlformats.org/drawingml/2006/main" noGrp="1"/>
          </p:cNvSpPr>
          <p:nvPr/>
        </p:nvSpPr>
        <p:spPr>
          <a:xfrm xmlns:a="http://schemas.openxmlformats.org/drawingml/2006/main">
            <a:off x="4754880" y="2423160"/>
            <a:ext cx="2468880" cy="1234440"/>
          </a:xfrm>
          <a:prstGeom xmlns:a="http://schemas.openxmlformats.org/drawingml/2006/main" prst="roundRect">
            <a:avLst>
              <a:gd name="adj" fmla="val 370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63" name="Google Shape;163;p10">
            <a:extLst xmlns:a="http://schemas.openxmlformats.org/drawingml/2006/main">
              <a:ext uri="{FF2B5EF4-FFF2-40B4-BE49-F238E27FC236}">
                <a16:creationId xmlns:a16="http://schemas.microsoft.com/office/drawing/2014/main" id="{875F3829-0940-4D9C-A691-14F0C799F506}"/>
              </a:ext>
            </a:extLst>
          </p:cNvPr>
          <p:cNvSpPr>
            <a:spLocks xmlns:a="http://schemas.openxmlformats.org/drawingml/2006/main" noGrp="1"/>
          </p:cNvSpPr>
          <p:nvPr/>
        </p:nvSpPr>
        <p:spPr>
          <a:xfrm xmlns:a="http://schemas.openxmlformats.org/drawingml/2006/main">
            <a:off x="4919472" y="2788920"/>
            <a:ext cx="2148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Measurements + units</a:t>
            </a:r>
          </a:p>
        </p:txBody>
      </p:sp>
      <p:sp>
        <p:nvSpPr>
          <p:cNvPr id="164" name="Google Shape;164;p10">
            <a:extLst xmlns:a="http://schemas.openxmlformats.org/drawingml/2006/main">
              <a:ext uri="{FF2B5EF4-FFF2-40B4-BE49-F238E27FC236}">
                <a16:creationId xmlns:a16="http://schemas.microsoft.com/office/drawing/2014/main" id="{E2C87375-EC40-4F62-B39D-7E11C0CA797A}"/>
              </a:ext>
            </a:extLst>
          </p:cNvPr>
          <p:cNvSpPr>
            <a:spLocks xmlns:a="http://schemas.openxmlformats.org/drawingml/2006/main" noGrp="1"/>
          </p:cNvSpPr>
          <p:nvPr/>
        </p:nvSpPr>
        <p:spPr>
          <a:xfrm xmlns:a="http://schemas.openxmlformats.org/drawingml/2006/main">
            <a:off x="8412480" y="2423160"/>
            <a:ext cx="2468880" cy="1234440"/>
          </a:xfrm>
          <a:prstGeom xmlns:a="http://schemas.openxmlformats.org/drawingml/2006/main" prst="roundRect">
            <a:avLst>
              <a:gd name="adj" fmla="val 370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65" name="Google Shape;165;p10">
            <a:extLst xmlns:a="http://schemas.openxmlformats.org/drawingml/2006/main">
              <a:ext uri="{FF2B5EF4-FFF2-40B4-BE49-F238E27FC236}">
                <a16:creationId xmlns:a16="http://schemas.microsoft.com/office/drawing/2014/main" id="{6FFA6689-7BBE-4991-B2BA-2A3422C47003}"/>
              </a:ext>
            </a:extLst>
          </p:cNvPr>
          <p:cNvSpPr>
            <a:spLocks xmlns:a="http://schemas.openxmlformats.org/drawingml/2006/main" noGrp="1"/>
          </p:cNvSpPr>
          <p:nvPr/>
        </p:nvSpPr>
        <p:spPr>
          <a:xfrm xmlns:a="http://schemas.openxmlformats.org/drawingml/2006/main">
            <a:off x="8577072" y="2788920"/>
            <a:ext cx="2148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File name + location</a:t>
            </a:r>
          </a:p>
        </p:txBody>
      </p:sp>
      <p:cxnSp>
        <p:nvCxnSpPr>
          <p:cNvPr id="185" name="Google Shape;166;p10"/>
          <p:cNvCxnSpPr/>
          <p:nvPr/>
        </p:nvCxnSpPr>
        <p:spPr>
          <a:xfrm xmlns:a="http://schemas.openxmlformats.org/drawingml/2006/main">
            <a:off x="3474720" y="3035808"/>
            <a:ext cx="105156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triangle" w="med" len="med"/>
          </a:ln>
        </p:spPr>
      </p:cxnSp>
      <p:cxnSp>
        <p:nvCxnSpPr>
          <p:cNvPr id="186" name="Google Shape;167;p10"/>
          <p:cNvCxnSpPr/>
          <p:nvPr/>
        </p:nvCxnSpPr>
        <p:spPr>
          <a:xfrm xmlns:a="http://schemas.openxmlformats.org/drawingml/2006/main">
            <a:off x="7132320" y="3035808"/>
            <a:ext cx="105156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triangle" w="med" len="med"/>
          </a:ln>
        </p:spPr>
      </p:cxnSp>
      <p:sp>
        <p:nvSpPr>
          <p:cNvPr id="168" name="Google Shape;168;p10">
            <a:extLst xmlns:a="http://schemas.openxmlformats.org/drawingml/2006/main">
              <a:ext uri="{FF2B5EF4-FFF2-40B4-BE49-F238E27FC236}">
                <a16:creationId xmlns:a16="http://schemas.microsoft.com/office/drawing/2014/main" id="{BC21B35F-0444-4212-B0FD-0C5F5EB5F35F}"/>
              </a:ext>
            </a:extLst>
          </p:cNvPr>
          <p:cNvSpPr>
            <a:spLocks xmlns:a="http://schemas.openxmlformats.org/drawingml/2006/main" noGrp="1"/>
          </p:cNvSpPr>
          <p:nvPr/>
        </p:nvSpPr>
        <p:spPr>
          <a:xfrm xmlns:a="http://schemas.openxmlformats.org/drawingml/2006/main">
            <a:off x="1051560" y="4892040"/>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A good journal entry tells the reader where the evidence lives.</a:t>
            </a:r>
          </a:p>
        </p:txBody>
      </p:sp>
    </p:spTree>
    <p:extLst>
      <p:ext uri="{BB962C8B-B14F-4D97-AF65-F5344CB8AC3E}">
        <p14:creationId xmlns:p14="http://schemas.microsoft.com/office/powerpoint/2010/main" val="654958956"/>
      </p:ext>
    </p:extLst>
  </p:cSld>
</p:sld>
</file>

<file path=ppt/slides/slide8.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74" name="Google Shape;174;p11">
            <a:extLst xmlns:a="http://schemas.openxmlformats.org/drawingml/2006/main">
              <a:ext uri="{FF2B5EF4-FFF2-40B4-BE49-F238E27FC236}">
                <a16:creationId xmlns:a16="http://schemas.microsoft.com/office/drawing/2014/main" id="{48A0F446-B0FA-4B15-B9EE-8E33C48A2FDB}"/>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75" name="Google Shape;175;p11">
            <a:extLst xmlns:a="http://schemas.openxmlformats.org/drawingml/2006/main">
              <a:ext uri="{FF2B5EF4-FFF2-40B4-BE49-F238E27FC236}">
                <a16:creationId xmlns:a16="http://schemas.microsoft.com/office/drawing/2014/main" id="{B554A660-50B0-429A-B6A1-1D676D0D5F09}"/>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76" name="Google Shape;176;p11">
            <a:extLst xmlns:a="http://schemas.openxmlformats.org/drawingml/2006/main">
              <a:ext uri="{FF2B5EF4-FFF2-40B4-BE49-F238E27FC236}">
                <a16:creationId xmlns:a16="http://schemas.microsoft.com/office/drawing/2014/main" id="{29BD98B2-B04A-482C-A6AC-C8453D9B21E3}"/>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77" name="Google Shape;177;p11">
            <a:extLst xmlns:a="http://schemas.openxmlformats.org/drawingml/2006/main">
              <a:ext uri="{FF2B5EF4-FFF2-40B4-BE49-F238E27FC236}">
                <a16:creationId xmlns:a16="http://schemas.microsoft.com/office/drawing/2014/main" id="{9ADAB1FD-E563-46CD-907E-94C12859105B}"/>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178" name="Google Shape;178;p11">
            <a:extLst xmlns:a="http://schemas.openxmlformats.org/drawingml/2006/main">
              <a:ext uri="{FF2B5EF4-FFF2-40B4-BE49-F238E27FC236}">
                <a16:creationId xmlns:a16="http://schemas.microsoft.com/office/drawing/2014/main" id="{3297EBCF-39D0-43D2-995C-4A3FE26568C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Record failed trials honestly</a:t>
            </a:r>
          </a:p>
        </p:txBody>
      </p:sp>
      <p:cxnSp>
        <p:nvCxnSpPr>
          <p:cNvPr id="196" name="Google Shape;179;p11"/>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180" name="Google Shape;180;p11">
            <a:extLst xmlns:a="http://schemas.openxmlformats.org/drawingml/2006/main">
              <a:ext uri="{FF2B5EF4-FFF2-40B4-BE49-F238E27FC236}">
                <a16:creationId xmlns:a16="http://schemas.microsoft.com/office/drawing/2014/main" id="{1C83E030-2A95-4079-871D-7DBAE32DF3E0}"/>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Failure is often the most useful data you collect.</a:t>
            </a:r>
          </a:p>
        </p:txBody>
      </p:sp>
      <p:sp>
        <p:nvSpPr>
          <p:cNvPr id="181" name="Google Shape;181;p11">
            <a:extLst xmlns:a="http://schemas.openxmlformats.org/drawingml/2006/main">
              <a:ext uri="{FF2B5EF4-FFF2-40B4-BE49-F238E27FC236}">
                <a16:creationId xmlns:a16="http://schemas.microsoft.com/office/drawing/2014/main" id="{C7EE012E-8718-40A8-B35A-32296FB4F0CA}"/>
              </a:ext>
            </a:extLst>
          </p:cNvPr>
          <p:cNvSpPr>
            <a:spLocks xmlns:a="http://schemas.openxmlformats.org/drawingml/2006/main" noGrp="1"/>
          </p:cNvSpPr>
          <p:nvPr/>
        </p:nvSpPr>
        <p:spPr>
          <a:xfrm xmlns:a="http://schemas.openxmlformats.org/drawingml/2006/main">
            <a:off x="777240" y="19202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2" name="Google Shape;182;p11">
            <a:extLst xmlns:a="http://schemas.openxmlformats.org/drawingml/2006/main">
              <a:ext uri="{FF2B5EF4-FFF2-40B4-BE49-F238E27FC236}">
                <a16:creationId xmlns:a16="http://schemas.microsoft.com/office/drawing/2014/main" id="{CC0F4A75-7E4C-434F-8ACF-88B8B041A426}"/>
              </a:ext>
            </a:extLst>
          </p:cNvPr>
          <p:cNvSpPr>
            <a:spLocks xmlns:a="http://schemas.openxmlformats.org/drawingml/2006/main" noGrp="1"/>
          </p:cNvSpPr>
          <p:nvPr/>
        </p:nvSpPr>
        <p:spPr>
          <a:xfrm xmlns:a="http://schemas.openxmlformats.org/drawingml/2006/main">
            <a:off x="1088136" y="190195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Do not erase failed attempts from the story.</a:t>
            </a:r>
          </a:p>
        </p:txBody>
      </p:sp>
      <p:sp>
        <p:nvSpPr>
          <p:cNvPr id="183" name="Google Shape;183;p11">
            <a:extLst xmlns:a="http://schemas.openxmlformats.org/drawingml/2006/main">
              <a:ext uri="{FF2B5EF4-FFF2-40B4-BE49-F238E27FC236}">
                <a16:creationId xmlns:a16="http://schemas.microsoft.com/office/drawing/2014/main" id="{75407986-5FFB-4992-B383-8B3678B658A7}"/>
              </a:ext>
            </a:extLst>
          </p:cNvPr>
          <p:cNvSpPr>
            <a:spLocks xmlns:a="http://schemas.openxmlformats.org/drawingml/2006/main" noGrp="1"/>
          </p:cNvSpPr>
          <p:nvPr/>
        </p:nvSpPr>
        <p:spPr>
          <a:xfrm xmlns:a="http://schemas.openxmlformats.org/drawingml/2006/main">
            <a:off x="777240" y="256032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4" name="Google Shape;184;p11">
            <a:extLst xmlns:a="http://schemas.openxmlformats.org/drawingml/2006/main">
              <a:ext uri="{FF2B5EF4-FFF2-40B4-BE49-F238E27FC236}">
                <a16:creationId xmlns:a16="http://schemas.microsoft.com/office/drawing/2014/main" id="{A2B765B6-56D4-425F-9A61-975FF623C30C}"/>
              </a:ext>
            </a:extLst>
          </p:cNvPr>
          <p:cNvSpPr>
            <a:spLocks xmlns:a="http://schemas.openxmlformats.org/drawingml/2006/main" noGrp="1"/>
          </p:cNvSpPr>
          <p:nvPr/>
        </p:nvSpPr>
        <p:spPr>
          <a:xfrm xmlns:a="http://schemas.openxmlformats.org/drawingml/2006/main">
            <a:off x="1088136" y="254203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Flag questionable data instead of hiding it.</a:t>
            </a:r>
          </a:p>
        </p:txBody>
      </p:sp>
      <p:sp>
        <p:nvSpPr>
          <p:cNvPr id="185" name="Google Shape;185;p11">
            <a:extLst xmlns:a="http://schemas.openxmlformats.org/drawingml/2006/main">
              <a:ext uri="{FF2B5EF4-FFF2-40B4-BE49-F238E27FC236}">
                <a16:creationId xmlns:a16="http://schemas.microsoft.com/office/drawing/2014/main" id="{98F71D16-2DD8-4D92-A304-7340C3BCD3F8}"/>
              </a:ext>
            </a:extLst>
          </p:cNvPr>
          <p:cNvSpPr>
            <a:spLocks xmlns:a="http://schemas.openxmlformats.org/drawingml/2006/main" noGrp="1"/>
          </p:cNvSpPr>
          <p:nvPr/>
        </p:nvSpPr>
        <p:spPr>
          <a:xfrm xmlns:a="http://schemas.openxmlformats.org/drawingml/2006/main">
            <a:off x="777240" y="32004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6" name="Google Shape;186;p11">
            <a:extLst xmlns:a="http://schemas.openxmlformats.org/drawingml/2006/main">
              <a:ext uri="{FF2B5EF4-FFF2-40B4-BE49-F238E27FC236}">
                <a16:creationId xmlns:a16="http://schemas.microsoft.com/office/drawing/2014/main" id="{E5367AAD-9CCB-417C-8565-21BBFF9478BB}"/>
              </a:ext>
            </a:extLst>
          </p:cNvPr>
          <p:cNvSpPr>
            <a:spLocks xmlns:a="http://schemas.openxmlformats.org/drawingml/2006/main" noGrp="1"/>
          </p:cNvSpPr>
          <p:nvPr/>
        </p:nvSpPr>
        <p:spPr>
          <a:xfrm xmlns:a="http://schemas.openxmlformats.org/drawingml/2006/main">
            <a:off x="1088136" y="318211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Explain what happened and what changed afterward.</a:t>
            </a:r>
          </a:p>
        </p:txBody>
      </p:sp>
      <p:sp>
        <p:nvSpPr>
          <p:cNvPr id="187" name="Google Shape;187;p11">
            <a:extLst xmlns:a="http://schemas.openxmlformats.org/drawingml/2006/main">
              <a:ext uri="{FF2B5EF4-FFF2-40B4-BE49-F238E27FC236}">
                <a16:creationId xmlns:a16="http://schemas.microsoft.com/office/drawing/2014/main" id="{4EB1B062-5169-4A4E-82B7-B42C3D22070F}"/>
              </a:ext>
            </a:extLst>
          </p:cNvPr>
          <p:cNvSpPr>
            <a:spLocks xmlns:a="http://schemas.openxmlformats.org/drawingml/2006/main" noGrp="1"/>
          </p:cNvSpPr>
          <p:nvPr/>
        </p:nvSpPr>
        <p:spPr>
          <a:xfrm xmlns:a="http://schemas.openxmlformats.org/drawingml/2006/main">
            <a:off x="777240" y="384048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188" name="Google Shape;188;p11">
            <a:extLst xmlns:a="http://schemas.openxmlformats.org/drawingml/2006/main">
              <a:ext uri="{FF2B5EF4-FFF2-40B4-BE49-F238E27FC236}">
                <a16:creationId xmlns:a16="http://schemas.microsoft.com/office/drawing/2014/main" id="{3459DA13-4268-4BAE-819F-93D8AF1F9875}"/>
              </a:ext>
            </a:extLst>
          </p:cNvPr>
          <p:cNvSpPr>
            <a:spLocks xmlns:a="http://schemas.openxmlformats.org/drawingml/2006/main" noGrp="1"/>
          </p:cNvSpPr>
          <p:nvPr/>
        </p:nvSpPr>
        <p:spPr>
          <a:xfrm xmlns:a="http://schemas.openxmlformats.org/drawingml/2006/main">
            <a:off x="1088136" y="382219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A failed pilot test can prevent a weak final project.</a:t>
            </a:r>
          </a:p>
        </p:txBody>
      </p:sp>
      <p:sp>
        <p:nvSpPr>
          <p:cNvPr id="189" name="Google Shape;189;p11">
            <a:extLst xmlns:a="http://schemas.openxmlformats.org/drawingml/2006/main">
              <a:ext uri="{FF2B5EF4-FFF2-40B4-BE49-F238E27FC236}">
                <a16:creationId xmlns:a16="http://schemas.microsoft.com/office/drawing/2014/main" id="{F3E73489-94F3-4B04-92D1-5768181DD3A6}"/>
              </a:ext>
            </a:extLst>
          </p:cNvPr>
          <p:cNvSpPr>
            <a:spLocks xmlns:a="http://schemas.openxmlformats.org/drawingml/2006/main" noGrp="1"/>
          </p:cNvSpPr>
          <p:nvPr/>
        </p:nvSpPr>
        <p:spPr>
          <a:xfrm xmlns:a="http://schemas.openxmlformats.org/drawingml/2006/main">
            <a:off x="777240" y="5074920"/>
            <a:ext cx="10378440" cy="502920"/>
          </a:xfrm>
          <a:prstGeom xmlns:a="http://schemas.openxmlformats.org/drawingml/2006/main" prst="roundRect">
            <a:avLst>
              <a:gd name="adj" fmla="val 9091"/>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90" name="Google Shape;190;p11">
            <a:extLst xmlns:a="http://schemas.openxmlformats.org/drawingml/2006/main">
              <a:ext uri="{FF2B5EF4-FFF2-40B4-BE49-F238E27FC236}">
                <a16:creationId xmlns:a16="http://schemas.microsoft.com/office/drawing/2014/main" id="{6AAE60B4-3C29-4EA9-A0C8-34D449AED64E}"/>
              </a:ext>
            </a:extLst>
          </p:cNvPr>
          <p:cNvSpPr>
            <a:spLocks xmlns:a="http://schemas.openxmlformats.org/drawingml/2006/main" noGrp="1"/>
          </p:cNvSpPr>
          <p:nvPr/>
        </p:nvSpPr>
        <p:spPr>
          <a:xfrm xmlns:a="http://schemas.openxmlformats.org/drawingml/2006/main">
            <a:off x="1051560" y="5248656"/>
            <a:ext cx="978408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350"/>
              <a:buFont typeface="Arial"/>
              <a:buNone/>
            </a:pPr>
            <a:r>
              <a:rPr sz="1350" b="1" i="0" u="none" cap="none">
                <a:solidFill>
                  <a:srgbClr val="FFFFFF"/>
                </a:solidFill>
                <a:latin typeface="Arial"/>
                <a:ea typeface="Arial"/>
                <a:cs typeface="Arial"/>
              </a:rPr>
              <a:t>A strong researcher documents reality, not the version that looks cleaner.</a:t>
            </a:r>
          </a:p>
        </p:txBody>
      </p:sp>
    </p:spTree>
    <p:extLst>
      <p:ext uri="{BB962C8B-B14F-4D97-AF65-F5344CB8AC3E}">
        <p14:creationId xmlns:p14="http://schemas.microsoft.com/office/powerpoint/2010/main" val="1121837270"/>
      </p:ext>
    </p:extLst>
  </p:cSld>
</p:sld>
</file>

<file path=ppt/slides/slide9.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96" name="Google Shape;196;p12">
            <a:extLst xmlns:a="http://schemas.openxmlformats.org/drawingml/2006/main">
              <a:ext uri="{FF2B5EF4-FFF2-40B4-BE49-F238E27FC236}">
                <a16:creationId xmlns:a16="http://schemas.microsoft.com/office/drawing/2014/main" id="{2050E970-AA3C-4B9F-8CFC-D3801D46677D}"/>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97" name="Google Shape;197;p12">
            <a:extLst xmlns:a="http://schemas.openxmlformats.org/drawingml/2006/main">
              <a:ext uri="{FF2B5EF4-FFF2-40B4-BE49-F238E27FC236}">
                <a16:creationId xmlns:a16="http://schemas.microsoft.com/office/drawing/2014/main" id="{FDA98371-C4DD-4657-B48E-B02EFB7C7AEC}"/>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198" name="Google Shape;198;p12">
            <a:extLst xmlns:a="http://schemas.openxmlformats.org/drawingml/2006/main">
              <a:ext uri="{FF2B5EF4-FFF2-40B4-BE49-F238E27FC236}">
                <a16:creationId xmlns:a16="http://schemas.microsoft.com/office/drawing/2014/main" id="{E25488ED-E806-4629-B75E-04FA83ABCC6B}"/>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199" name="Google Shape;199;p12">
            <a:extLst xmlns:a="http://schemas.openxmlformats.org/drawingml/2006/main">
              <a:ext uri="{FF2B5EF4-FFF2-40B4-BE49-F238E27FC236}">
                <a16:creationId xmlns:a16="http://schemas.microsoft.com/office/drawing/2014/main" id="{75FA16AB-6F8C-494F-A27D-1317BD64BE86}"/>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00" name="Google Shape;200;p12">
            <a:extLst xmlns:a="http://schemas.openxmlformats.org/drawingml/2006/main">
              <a:ext uri="{FF2B5EF4-FFF2-40B4-BE49-F238E27FC236}">
                <a16:creationId xmlns:a16="http://schemas.microsoft.com/office/drawing/2014/main" id="{16B9401C-D644-415F-B426-F783B2755ED3}"/>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If the method changes, the journal explains why</a:t>
            </a:r>
          </a:p>
        </p:txBody>
      </p:sp>
      <p:cxnSp>
        <p:nvCxnSpPr>
          <p:cNvPr id="220" name="Google Shape;201;p12"/>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02" name="Google Shape;202;p12">
            <a:extLst xmlns:a="http://schemas.openxmlformats.org/drawingml/2006/main">
              <a:ext uri="{FF2B5EF4-FFF2-40B4-BE49-F238E27FC236}">
                <a16:creationId xmlns:a16="http://schemas.microsoft.com/office/drawing/2014/main" id="{2F7F7D74-EBC8-4D3A-926A-BBA8BAC9A497}"/>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A changed procedure without explanation creates weak evidence.</a:t>
            </a:r>
          </a:p>
        </p:txBody>
      </p:sp>
      <p:sp>
        <p:nvSpPr>
          <p:cNvPr id="203" name="Google Shape;203;p12">
            <a:extLst xmlns:a="http://schemas.openxmlformats.org/drawingml/2006/main">
              <a:ext uri="{FF2B5EF4-FFF2-40B4-BE49-F238E27FC236}">
                <a16:creationId xmlns:a16="http://schemas.microsoft.com/office/drawing/2014/main" id="{2765A3B1-858B-44E6-B163-ADA690C32093}"/>
              </a:ext>
            </a:extLst>
          </p:cNvPr>
          <p:cNvSpPr>
            <a:spLocks xmlns:a="http://schemas.openxmlformats.org/drawingml/2006/main" noGrp="1"/>
          </p:cNvSpPr>
          <p:nvPr/>
        </p:nvSpPr>
        <p:spPr>
          <a:xfrm xmlns:a="http://schemas.openxmlformats.org/drawingml/2006/main">
            <a:off x="822960" y="1920240"/>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04" name="Google Shape;204;p12">
            <a:extLst xmlns:a="http://schemas.openxmlformats.org/drawingml/2006/main">
              <a:ext uri="{FF2B5EF4-FFF2-40B4-BE49-F238E27FC236}">
                <a16:creationId xmlns:a16="http://schemas.microsoft.com/office/drawing/2014/main" id="{24C2C366-118C-4A56-8DF4-70A4CEF3F45D}"/>
              </a:ext>
            </a:extLst>
          </p:cNvPr>
          <p:cNvSpPr>
            <a:spLocks xmlns:a="http://schemas.openxmlformats.org/drawingml/2006/main" noGrp="1"/>
          </p:cNvSpPr>
          <p:nvPr/>
        </p:nvSpPr>
        <p:spPr>
          <a:xfrm xmlns:a="http://schemas.openxmlformats.org/drawingml/2006/main">
            <a:off x="1207008" y="1874520"/>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What changed?</a:t>
            </a:r>
          </a:p>
        </p:txBody>
      </p:sp>
      <p:sp>
        <p:nvSpPr>
          <p:cNvPr id="205" name="Google Shape;205;p12">
            <a:extLst xmlns:a="http://schemas.openxmlformats.org/drawingml/2006/main">
              <a:ext uri="{FF2B5EF4-FFF2-40B4-BE49-F238E27FC236}">
                <a16:creationId xmlns:a16="http://schemas.microsoft.com/office/drawing/2014/main" id="{C28D1461-A669-40A1-9F7C-CDD9E2F6B9AC}"/>
              </a:ext>
            </a:extLst>
          </p:cNvPr>
          <p:cNvSpPr>
            <a:spLocks xmlns:a="http://schemas.openxmlformats.org/drawingml/2006/main" noGrp="1"/>
          </p:cNvSpPr>
          <p:nvPr/>
        </p:nvSpPr>
        <p:spPr>
          <a:xfrm xmlns:a="http://schemas.openxmlformats.org/drawingml/2006/main">
            <a:off x="5806440" y="1892808"/>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sensor distance changed from 5 cm to 10 cm</a:t>
            </a:r>
          </a:p>
        </p:txBody>
      </p:sp>
      <p:sp>
        <p:nvSpPr>
          <p:cNvPr id="206" name="Google Shape;206;p12">
            <a:extLst xmlns:a="http://schemas.openxmlformats.org/drawingml/2006/main">
              <a:ext uri="{FF2B5EF4-FFF2-40B4-BE49-F238E27FC236}">
                <a16:creationId xmlns:a16="http://schemas.microsoft.com/office/drawing/2014/main" id="{E2AB3201-EA76-400F-B383-D1C9E4B32AC3}"/>
              </a:ext>
            </a:extLst>
          </p:cNvPr>
          <p:cNvSpPr>
            <a:spLocks xmlns:a="http://schemas.openxmlformats.org/drawingml/2006/main" noGrp="1"/>
          </p:cNvSpPr>
          <p:nvPr/>
        </p:nvSpPr>
        <p:spPr>
          <a:xfrm xmlns:a="http://schemas.openxmlformats.org/drawingml/2006/main">
            <a:off x="822960" y="2578608"/>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07" name="Google Shape;207;p12">
            <a:extLst xmlns:a="http://schemas.openxmlformats.org/drawingml/2006/main">
              <a:ext uri="{FF2B5EF4-FFF2-40B4-BE49-F238E27FC236}">
                <a16:creationId xmlns:a16="http://schemas.microsoft.com/office/drawing/2014/main" id="{3D409A7C-87B9-4165-A928-FC058F4B49B2}"/>
              </a:ext>
            </a:extLst>
          </p:cNvPr>
          <p:cNvSpPr>
            <a:spLocks xmlns:a="http://schemas.openxmlformats.org/drawingml/2006/main" noGrp="1"/>
          </p:cNvSpPr>
          <p:nvPr/>
        </p:nvSpPr>
        <p:spPr>
          <a:xfrm xmlns:a="http://schemas.openxmlformats.org/drawingml/2006/main">
            <a:off x="1207008" y="2532888"/>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Why did it change?</a:t>
            </a:r>
          </a:p>
        </p:txBody>
      </p:sp>
      <p:sp>
        <p:nvSpPr>
          <p:cNvPr id="208" name="Google Shape;208;p12">
            <a:extLst xmlns:a="http://schemas.openxmlformats.org/drawingml/2006/main">
              <a:ext uri="{FF2B5EF4-FFF2-40B4-BE49-F238E27FC236}">
                <a16:creationId xmlns:a16="http://schemas.microsoft.com/office/drawing/2014/main" id="{EE131D4A-71A3-43E8-908B-A554D81EAAF0}"/>
              </a:ext>
            </a:extLst>
          </p:cNvPr>
          <p:cNvSpPr>
            <a:spLocks xmlns:a="http://schemas.openxmlformats.org/drawingml/2006/main" noGrp="1"/>
          </p:cNvSpPr>
          <p:nvPr/>
        </p:nvSpPr>
        <p:spPr>
          <a:xfrm xmlns:a="http://schemas.openxmlformats.org/drawingml/2006/main">
            <a:off x="5806440" y="2551176"/>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5 cm readings saturated the sensor</a:t>
            </a:r>
          </a:p>
        </p:txBody>
      </p:sp>
      <p:sp>
        <p:nvSpPr>
          <p:cNvPr id="209" name="Google Shape;209;p12">
            <a:extLst xmlns:a="http://schemas.openxmlformats.org/drawingml/2006/main">
              <a:ext uri="{FF2B5EF4-FFF2-40B4-BE49-F238E27FC236}">
                <a16:creationId xmlns:a16="http://schemas.microsoft.com/office/drawing/2014/main" id="{40EAE987-0605-447F-97C6-67124900E3EE}"/>
              </a:ext>
            </a:extLst>
          </p:cNvPr>
          <p:cNvSpPr>
            <a:spLocks xmlns:a="http://schemas.openxmlformats.org/drawingml/2006/main" noGrp="1"/>
          </p:cNvSpPr>
          <p:nvPr/>
        </p:nvSpPr>
        <p:spPr>
          <a:xfrm xmlns:a="http://schemas.openxmlformats.org/drawingml/2006/main">
            <a:off x="822960" y="3236976"/>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10" name="Google Shape;210;p12">
            <a:extLst xmlns:a="http://schemas.openxmlformats.org/drawingml/2006/main">
              <a:ext uri="{FF2B5EF4-FFF2-40B4-BE49-F238E27FC236}">
                <a16:creationId xmlns:a16="http://schemas.microsoft.com/office/drawing/2014/main" id="{7C8FA131-5640-4989-98B8-7436622F70A5}"/>
              </a:ext>
            </a:extLst>
          </p:cNvPr>
          <p:cNvSpPr>
            <a:spLocks xmlns:a="http://schemas.openxmlformats.org/drawingml/2006/main" noGrp="1"/>
          </p:cNvSpPr>
          <p:nvPr/>
        </p:nvSpPr>
        <p:spPr>
          <a:xfrm xmlns:a="http://schemas.openxmlformats.org/drawingml/2006/main">
            <a:off x="1207008" y="3191256"/>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Who approved it?</a:t>
            </a:r>
          </a:p>
        </p:txBody>
      </p:sp>
      <p:sp>
        <p:nvSpPr>
          <p:cNvPr id="211" name="Google Shape;211;p12">
            <a:extLst xmlns:a="http://schemas.openxmlformats.org/drawingml/2006/main">
              <a:ext uri="{FF2B5EF4-FFF2-40B4-BE49-F238E27FC236}">
                <a16:creationId xmlns:a16="http://schemas.microsoft.com/office/drawing/2014/main" id="{89A2C77F-5561-4B73-98CF-D934FB06FDBD}"/>
              </a:ext>
            </a:extLst>
          </p:cNvPr>
          <p:cNvSpPr>
            <a:spLocks xmlns:a="http://schemas.openxmlformats.org/drawingml/2006/main" noGrp="1"/>
          </p:cNvSpPr>
          <p:nvPr/>
        </p:nvSpPr>
        <p:spPr>
          <a:xfrm xmlns:a="http://schemas.openxmlformats.org/drawingml/2006/main">
            <a:off x="5806440" y="3209544"/>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teacher approved after pilot test</a:t>
            </a:r>
          </a:p>
        </p:txBody>
      </p:sp>
      <p:sp>
        <p:nvSpPr>
          <p:cNvPr id="212" name="Google Shape;212;p12">
            <a:extLst xmlns:a="http://schemas.openxmlformats.org/drawingml/2006/main">
              <a:ext uri="{FF2B5EF4-FFF2-40B4-BE49-F238E27FC236}">
                <a16:creationId xmlns:a16="http://schemas.microsoft.com/office/drawing/2014/main" id="{6E4E8249-B239-4836-B402-7E886375B0B9}"/>
              </a:ext>
            </a:extLst>
          </p:cNvPr>
          <p:cNvSpPr>
            <a:spLocks xmlns:a="http://schemas.openxmlformats.org/drawingml/2006/main" noGrp="1"/>
          </p:cNvSpPr>
          <p:nvPr/>
        </p:nvSpPr>
        <p:spPr>
          <a:xfrm xmlns:a="http://schemas.openxmlformats.org/drawingml/2006/main">
            <a:off x="822960" y="3895344"/>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213" name="Google Shape;213;p12">
            <a:extLst xmlns:a="http://schemas.openxmlformats.org/drawingml/2006/main">
              <a:ext uri="{FF2B5EF4-FFF2-40B4-BE49-F238E27FC236}">
                <a16:creationId xmlns:a16="http://schemas.microsoft.com/office/drawing/2014/main" id="{5430E578-AFB4-4A54-BF1E-18B4AFDD7619}"/>
              </a:ext>
            </a:extLst>
          </p:cNvPr>
          <p:cNvSpPr>
            <a:spLocks xmlns:a="http://schemas.openxmlformats.org/drawingml/2006/main" noGrp="1"/>
          </p:cNvSpPr>
          <p:nvPr/>
        </p:nvSpPr>
        <p:spPr>
          <a:xfrm xmlns:a="http://schemas.openxmlformats.org/drawingml/2006/main">
            <a:off x="1207008" y="3849624"/>
            <a:ext cx="402336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1" i="0" u="none" cap="none">
                <a:solidFill>
                  <a:srgbClr val="FFFFFF"/>
                </a:solidFill>
                <a:latin typeface="Arial"/>
                <a:ea typeface="Arial"/>
                <a:cs typeface="Arial"/>
              </a:rPr>
              <a:t>What version is current?</a:t>
            </a:r>
          </a:p>
        </p:txBody>
      </p:sp>
      <p:sp>
        <p:nvSpPr>
          <p:cNvPr id="214" name="Google Shape;214;p12">
            <a:extLst xmlns:a="http://schemas.openxmlformats.org/drawingml/2006/main">
              <a:ext uri="{FF2B5EF4-FFF2-40B4-BE49-F238E27FC236}">
                <a16:creationId xmlns:a16="http://schemas.microsoft.com/office/drawing/2014/main" id="{4CBC6E9F-46E7-4061-86B2-74D650ED6026}"/>
              </a:ext>
            </a:extLst>
          </p:cNvPr>
          <p:cNvSpPr>
            <a:spLocks xmlns:a="http://schemas.openxmlformats.org/drawingml/2006/main" noGrp="1"/>
          </p:cNvSpPr>
          <p:nvPr/>
        </p:nvSpPr>
        <p:spPr>
          <a:xfrm xmlns:a="http://schemas.openxmlformats.org/drawingml/2006/main">
            <a:off x="5806440" y="3867912"/>
            <a:ext cx="5029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450"/>
              <a:buFont typeface="Arial"/>
              <a:buNone/>
            </a:pPr>
            <a:r>
              <a:rPr sz="1450" b="0" i="0" u="none" cap="none">
                <a:solidFill>
                  <a:srgbClr val="A6A6A6"/>
                </a:solidFill>
                <a:latin typeface="Arial"/>
                <a:ea typeface="Arial"/>
                <a:cs typeface="Arial"/>
              </a:rPr>
              <a:t>Ex: Procedure v2 begins on Oct. 12</a:t>
            </a:r>
          </a:p>
        </p:txBody>
      </p:sp>
    </p:spTree>
    <p:extLst>
      <p:ext uri="{BB962C8B-B14F-4D97-AF65-F5344CB8AC3E}">
        <p14:creationId xmlns:p14="http://schemas.microsoft.com/office/powerpoint/2010/main" val="1473025379"/>
      </p:ext>
    </p:extLst>
  </p:cSld>
</p:sld>
</file>

<file path=ppt/slides/slide10.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20" name="Google Shape;220;p13">
            <a:extLst xmlns:a="http://schemas.openxmlformats.org/drawingml/2006/main">
              <a:ext uri="{FF2B5EF4-FFF2-40B4-BE49-F238E27FC236}">
                <a16:creationId xmlns:a16="http://schemas.microsoft.com/office/drawing/2014/main" id="{3FDE5D1C-A10F-4B73-AA9E-B2E1150C86C7}"/>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1" name="Google Shape;221;p13">
            <a:extLst xmlns:a="http://schemas.openxmlformats.org/drawingml/2006/main">
              <a:ext uri="{FF2B5EF4-FFF2-40B4-BE49-F238E27FC236}">
                <a16:creationId xmlns:a16="http://schemas.microsoft.com/office/drawing/2014/main" id="{DB891C99-D569-4146-9BAC-9C1FB3AC1A21}"/>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2" name="Google Shape;222;p13">
            <a:extLst xmlns:a="http://schemas.openxmlformats.org/drawingml/2006/main">
              <a:ext uri="{FF2B5EF4-FFF2-40B4-BE49-F238E27FC236}">
                <a16:creationId xmlns:a16="http://schemas.microsoft.com/office/drawing/2014/main" id="{E0331DE2-B3BD-4699-80F1-937D3763C343}"/>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23" name="Google Shape;223;p13">
            <a:extLst xmlns:a="http://schemas.openxmlformats.org/drawingml/2006/main">
              <a:ext uri="{FF2B5EF4-FFF2-40B4-BE49-F238E27FC236}">
                <a16:creationId xmlns:a16="http://schemas.microsoft.com/office/drawing/2014/main" id="{01C2CBD3-3392-4A43-9A17-7CCBA21788E8}"/>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24" name="Google Shape;224;p13">
            <a:extLst xmlns:a="http://schemas.openxmlformats.org/drawingml/2006/main">
              <a:ext uri="{FF2B5EF4-FFF2-40B4-BE49-F238E27FC236}">
                <a16:creationId xmlns:a16="http://schemas.microsoft.com/office/drawing/2014/main" id="{2D20A543-7FB5-455B-A74E-5413100AD22A}"/>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Strong vs. weak documentation</a:t>
            </a:r>
          </a:p>
        </p:txBody>
      </p:sp>
      <p:cxnSp>
        <p:nvCxnSpPr>
          <p:cNvPr id="238" name="Google Shape;225;p13"/>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26" name="Google Shape;226;p13">
            <a:extLst xmlns:a="http://schemas.openxmlformats.org/drawingml/2006/main">
              <a:ext uri="{FF2B5EF4-FFF2-40B4-BE49-F238E27FC236}">
                <a16:creationId xmlns:a16="http://schemas.microsoft.com/office/drawing/2014/main" id="{7FDF8C3E-CAF7-4311-8F24-7518B083107C}"/>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Good entries are specific enough to be useful later.</a:t>
            </a:r>
          </a:p>
        </p:txBody>
      </p:sp>
      <p:sp>
        <p:nvSpPr>
          <p:cNvPr id="227" name="Google Shape;227;p13">
            <a:extLst xmlns:a="http://schemas.openxmlformats.org/drawingml/2006/main">
              <a:ext uri="{FF2B5EF4-FFF2-40B4-BE49-F238E27FC236}">
                <a16:creationId xmlns:a16="http://schemas.microsoft.com/office/drawing/2014/main" id="{91C5AFFB-25B7-4D02-B191-CF6AFDD8D4C7}"/>
              </a:ext>
            </a:extLst>
          </p:cNvPr>
          <p:cNvSpPr>
            <a:spLocks xmlns:a="http://schemas.openxmlformats.org/drawingml/2006/main" noGrp="1"/>
          </p:cNvSpPr>
          <p:nvPr/>
        </p:nvSpPr>
        <p:spPr>
          <a:xfrm xmlns:a="http://schemas.openxmlformats.org/drawingml/2006/main">
            <a:off x="685800" y="1828800"/>
            <a:ext cx="525780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8" name="Google Shape;228;p13">
            <a:extLst xmlns:a="http://schemas.openxmlformats.org/drawingml/2006/main">
              <a:ext uri="{FF2B5EF4-FFF2-40B4-BE49-F238E27FC236}">
                <a16:creationId xmlns:a16="http://schemas.microsoft.com/office/drawing/2014/main" id="{04F2794E-BCB0-433B-A622-0BB63D8AB052}"/>
              </a:ext>
            </a:extLst>
          </p:cNvPr>
          <p:cNvSpPr>
            <a:spLocks xmlns:a="http://schemas.openxmlformats.org/drawingml/2006/main" noGrp="1"/>
          </p:cNvSpPr>
          <p:nvPr/>
        </p:nvSpPr>
        <p:spPr>
          <a:xfrm xmlns:a="http://schemas.openxmlformats.org/drawingml/2006/main">
            <a:off x="6263640" y="1828800"/>
            <a:ext cx="5257800" cy="3291840"/>
          </a:xfrm>
          <a:prstGeom xmlns:a="http://schemas.openxmlformats.org/drawingml/2006/main" prst="roundRect">
            <a:avLst>
              <a:gd name="adj" fmla="val 1389"/>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29" name="Google Shape;229;p13">
            <a:extLst xmlns:a="http://schemas.openxmlformats.org/drawingml/2006/main">
              <a:ext uri="{FF2B5EF4-FFF2-40B4-BE49-F238E27FC236}">
                <a16:creationId xmlns:a16="http://schemas.microsoft.com/office/drawing/2014/main" id="{0972FEF8-D86D-4B99-A0E9-BFF798FA0A98}"/>
              </a:ext>
            </a:extLst>
          </p:cNvPr>
          <p:cNvSpPr>
            <a:spLocks xmlns:a="http://schemas.openxmlformats.org/drawingml/2006/main" noGrp="1"/>
          </p:cNvSpPr>
          <p:nvPr/>
        </p:nvSpPr>
        <p:spPr>
          <a:xfrm xmlns:a="http://schemas.openxmlformats.org/drawingml/2006/main">
            <a:off x="1005840" y="2084832"/>
            <a:ext cx="457200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A6A6A6"/>
              </a:buClr>
              <a:buSzPts val="2000"/>
              <a:buFont typeface="Arial"/>
              <a:buNone/>
            </a:pPr>
            <a:r>
              <a:rPr sz="2000" b="1" i="0" u="none" cap="none">
                <a:solidFill>
                  <a:srgbClr val="A6A6A6"/>
                </a:solidFill>
                <a:latin typeface="Arial"/>
                <a:ea typeface="Arial"/>
                <a:cs typeface="Arial"/>
              </a:rPr>
              <a:t>WEAK ENTRY</a:t>
            </a:r>
          </a:p>
        </p:txBody>
      </p:sp>
      <p:sp>
        <p:nvSpPr>
          <p:cNvPr id="230" name="Google Shape;230;p13">
            <a:extLst xmlns:a="http://schemas.openxmlformats.org/drawingml/2006/main">
              <a:ext uri="{FF2B5EF4-FFF2-40B4-BE49-F238E27FC236}">
                <a16:creationId xmlns:a16="http://schemas.microsoft.com/office/drawing/2014/main" id="{673AA7C6-4BD9-4086-BFEB-3637287BA222}"/>
              </a:ext>
            </a:extLst>
          </p:cNvPr>
          <p:cNvSpPr>
            <a:spLocks xmlns:a="http://schemas.openxmlformats.org/drawingml/2006/main" noGrp="1"/>
          </p:cNvSpPr>
          <p:nvPr/>
        </p:nvSpPr>
        <p:spPr>
          <a:xfrm xmlns:a="http://schemas.openxmlformats.org/drawingml/2006/main">
            <a:off x="6583680" y="2084832"/>
            <a:ext cx="457200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STRONG ENTRY</a:t>
            </a:r>
          </a:p>
        </p:txBody>
      </p:sp>
      <p:sp>
        <p:nvSpPr>
          <p:cNvPr id="231" name="Google Shape;231;p13">
            <a:extLst xmlns:a="http://schemas.openxmlformats.org/drawingml/2006/main">
              <a:ext uri="{FF2B5EF4-FFF2-40B4-BE49-F238E27FC236}">
                <a16:creationId xmlns:a16="http://schemas.microsoft.com/office/drawing/2014/main" id="{38EEC948-B0AD-45A7-BF58-57FAC7AE729D}"/>
              </a:ext>
            </a:extLst>
          </p:cNvPr>
          <p:cNvSpPr>
            <a:spLocks xmlns:a="http://schemas.openxmlformats.org/drawingml/2006/main" noGrp="1"/>
          </p:cNvSpPr>
          <p:nvPr/>
        </p:nvSpPr>
        <p:spPr>
          <a:xfrm xmlns:a="http://schemas.openxmlformats.org/drawingml/2006/main">
            <a:off x="1078992" y="3017520"/>
            <a:ext cx="4526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800"/>
              <a:buFont typeface="Arial"/>
              <a:buNone/>
            </a:pPr>
            <a:r>
              <a:rPr sz="1800" b="0" i="1" u="none" cap="none">
                <a:solidFill>
                  <a:srgbClr val="FFFFFF"/>
                </a:solidFill>
                <a:latin typeface="Arial"/>
                <a:ea typeface="Arial"/>
                <a:cs typeface="Arial"/>
              </a:rPr>
              <a:t>“Tested the bridge. It broke. Need to fix it.”</a:t>
            </a:r>
          </a:p>
        </p:txBody>
      </p:sp>
      <p:sp>
        <p:nvSpPr>
          <p:cNvPr id="232" name="Google Shape;232;p13">
            <a:extLst xmlns:a="http://schemas.openxmlformats.org/drawingml/2006/main">
              <a:ext uri="{FF2B5EF4-FFF2-40B4-BE49-F238E27FC236}">
                <a16:creationId xmlns:a16="http://schemas.microsoft.com/office/drawing/2014/main" id="{AD4D6293-03EF-4BAC-8FC8-BC8E0BBA9BEB}"/>
              </a:ext>
            </a:extLst>
          </p:cNvPr>
          <p:cNvSpPr>
            <a:spLocks xmlns:a="http://schemas.openxmlformats.org/drawingml/2006/main" noGrp="1"/>
          </p:cNvSpPr>
          <p:nvPr/>
        </p:nvSpPr>
        <p:spPr>
          <a:xfrm xmlns:a="http://schemas.openxmlformats.org/drawingml/2006/main">
            <a:off x="6601968" y="2697480"/>
            <a:ext cx="452628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600"/>
              <a:buFont typeface="Arial"/>
              <a:buNone/>
            </a:pPr>
            <a:r>
              <a:rPr sz="1600" b="0" i="1" u="none" cap="none">
                <a:solidFill>
                  <a:srgbClr val="FFFFFF"/>
                </a:solidFill>
                <a:latin typeface="Arial"/>
                <a:ea typeface="Arial"/>
                <a:cs typeface="Arial"/>
              </a:rPr>
              <a:t>“Trial 2: Bridge B failed at 14.2 kg. Failure started at left joint. Photo saved as B_T2_failure. Next step: reinforce joint geometry before Trial 3.”</a:t>
            </a:r>
          </a:p>
        </p:txBody>
      </p:sp>
    </p:spTree>
    <p:extLst>
      <p:ext uri="{BB962C8B-B14F-4D97-AF65-F5344CB8AC3E}">
        <p14:creationId xmlns:p14="http://schemas.microsoft.com/office/powerpoint/2010/main" val="1318792118"/>
      </p:ext>
    </p:extLst>
  </p:cSld>
</p:sld>
</file>

<file path=ppt/slides/slide1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38" name="Google Shape;238;p14">
            <a:extLst xmlns:a="http://schemas.openxmlformats.org/drawingml/2006/main">
              <a:ext uri="{FF2B5EF4-FFF2-40B4-BE49-F238E27FC236}">
                <a16:creationId xmlns:a16="http://schemas.microsoft.com/office/drawing/2014/main" id="{6CAD3E6F-A1A9-42A3-BA59-B120D8572D84}"/>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39" name="Google Shape;239;p14">
            <a:extLst xmlns:a="http://schemas.openxmlformats.org/drawingml/2006/main">
              <a:ext uri="{FF2B5EF4-FFF2-40B4-BE49-F238E27FC236}">
                <a16:creationId xmlns:a16="http://schemas.microsoft.com/office/drawing/2014/main" id="{B7076094-E846-4ED5-9775-58498AECB8BD}"/>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40" name="Google Shape;240;p14">
            <a:extLst xmlns:a="http://schemas.openxmlformats.org/drawingml/2006/main">
              <a:ext uri="{FF2B5EF4-FFF2-40B4-BE49-F238E27FC236}">
                <a16:creationId xmlns:a16="http://schemas.microsoft.com/office/drawing/2014/main" id="{813E0AE2-6FE1-4C31-907A-DB2C3CE7D9AA}"/>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41" name="Google Shape;241;p14">
            <a:extLst xmlns:a="http://schemas.openxmlformats.org/drawingml/2006/main">
              <a:ext uri="{FF2B5EF4-FFF2-40B4-BE49-F238E27FC236}">
                <a16:creationId xmlns:a16="http://schemas.microsoft.com/office/drawing/2014/main" id="{A8DB3E56-80FA-425F-B13F-0B28705AD0B3}"/>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42" name="Google Shape;242;p14">
            <a:extLst xmlns:a="http://schemas.openxmlformats.org/drawingml/2006/main">
              <a:ext uri="{FF2B5EF4-FFF2-40B4-BE49-F238E27FC236}">
                <a16:creationId xmlns:a16="http://schemas.microsoft.com/office/drawing/2014/main" id="{DBB7A286-88BC-4EC9-8C92-3A2A2F028C0F}"/>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Activity: Diagnose the weak entry</a:t>
            </a:r>
          </a:p>
        </p:txBody>
      </p:sp>
      <p:cxnSp>
        <p:nvCxnSpPr>
          <p:cNvPr id="261" name="Google Shape;243;p14"/>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44" name="Google Shape;244;p14">
            <a:extLst xmlns:a="http://schemas.openxmlformats.org/drawingml/2006/main">
              <a:ext uri="{FF2B5EF4-FFF2-40B4-BE49-F238E27FC236}">
                <a16:creationId xmlns:a16="http://schemas.microsoft.com/office/drawing/2014/main" id="{002BBD20-F332-4343-BC05-BFC14D5E0D68}"/>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Find what is missing, then rewrite it as a usable research record.</a:t>
            </a:r>
          </a:p>
        </p:txBody>
      </p:sp>
      <p:sp>
        <p:nvSpPr>
          <p:cNvPr id="245" name="Google Shape;245;p14">
            <a:extLst xmlns:a="http://schemas.openxmlformats.org/drawingml/2006/main">
              <a:ext uri="{FF2B5EF4-FFF2-40B4-BE49-F238E27FC236}">
                <a16:creationId xmlns:a16="http://schemas.microsoft.com/office/drawing/2014/main" id="{E0FE79A8-322D-48CE-A4F5-7B3FE4B7C604}"/>
              </a:ext>
            </a:extLst>
          </p:cNvPr>
          <p:cNvSpPr>
            <a:spLocks xmlns:a="http://schemas.openxmlformats.org/drawingml/2006/main" noGrp="1"/>
          </p:cNvSpPr>
          <p:nvPr/>
        </p:nvSpPr>
        <p:spPr>
          <a:xfrm xmlns:a="http://schemas.openxmlformats.org/drawingml/2006/main">
            <a:off x="566928" y="1627632"/>
            <a:ext cx="2057400" cy="274320"/>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46" name="Google Shape;246;p14">
            <a:extLst xmlns:a="http://schemas.openxmlformats.org/drawingml/2006/main">
              <a:ext uri="{FF2B5EF4-FFF2-40B4-BE49-F238E27FC236}">
                <a16:creationId xmlns:a16="http://schemas.microsoft.com/office/drawing/2014/main" id="{A641646F-5688-44DA-974E-471D42AFC9F7}"/>
              </a:ext>
            </a:extLst>
          </p:cNvPr>
          <p:cNvSpPr>
            <a:spLocks xmlns:a="http://schemas.openxmlformats.org/drawingml/2006/main" noGrp="1"/>
          </p:cNvSpPr>
          <p:nvPr/>
        </p:nvSpPr>
        <p:spPr>
          <a:xfrm xmlns:a="http://schemas.openxmlformats.org/drawingml/2006/main">
            <a:off x="694944" y="1691640"/>
            <a:ext cx="178308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800"/>
              <a:buFont typeface="Arial"/>
              <a:buNone/>
            </a:pPr>
            <a:r>
              <a:rPr sz="800" b="1" i="0" u="none" cap="none">
                <a:solidFill>
                  <a:srgbClr val="FFFFFF"/>
                </a:solidFill>
                <a:latin typeface="Arial"/>
                <a:ea typeface="Arial"/>
                <a:cs typeface="Arial"/>
              </a:rPr>
              <a:t>STUDENT ACTIVITY</a:t>
            </a:r>
          </a:p>
        </p:txBody>
      </p:sp>
      <p:sp>
        <p:nvSpPr>
          <p:cNvPr id="247" name="Google Shape;247;p14">
            <a:extLst xmlns:a="http://schemas.openxmlformats.org/drawingml/2006/main">
              <a:ext uri="{FF2B5EF4-FFF2-40B4-BE49-F238E27FC236}">
                <a16:creationId xmlns:a16="http://schemas.microsoft.com/office/drawing/2014/main" id="{A5AA059F-A4CE-4061-A9DD-EA2708B28275}"/>
              </a:ext>
            </a:extLst>
          </p:cNvPr>
          <p:cNvSpPr>
            <a:spLocks xmlns:a="http://schemas.openxmlformats.org/drawingml/2006/main" noGrp="1"/>
          </p:cNvSpPr>
          <p:nvPr/>
        </p:nvSpPr>
        <p:spPr>
          <a:xfrm xmlns:a="http://schemas.openxmlformats.org/drawingml/2006/main">
            <a:off x="777240" y="2240280"/>
            <a:ext cx="1828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500"/>
              <a:buFont typeface="Arial"/>
              <a:buNone/>
            </a:pPr>
            <a:r>
              <a:rPr sz="1500" b="1" i="0" u="none" cap="none">
                <a:solidFill>
                  <a:srgbClr val="FF1E1E"/>
                </a:solidFill>
                <a:latin typeface="Arial"/>
                <a:ea typeface="Arial"/>
                <a:cs typeface="Arial"/>
              </a:rPr>
              <a:t>Weak entry:</a:t>
            </a:r>
          </a:p>
        </p:txBody>
      </p:sp>
      <p:sp>
        <p:nvSpPr>
          <p:cNvPr id="248" name="Google Shape;248;p14">
            <a:extLst xmlns:a="http://schemas.openxmlformats.org/drawingml/2006/main">
              <a:ext uri="{FF2B5EF4-FFF2-40B4-BE49-F238E27FC236}">
                <a16:creationId xmlns:a16="http://schemas.microsoft.com/office/drawing/2014/main" id="{9C7922F9-E754-4117-A67C-1AFEA14B769C}"/>
              </a:ext>
            </a:extLst>
          </p:cNvPr>
          <p:cNvSpPr>
            <a:spLocks xmlns:a="http://schemas.openxmlformats.org/drawingml/2006/main" noGrp="1"/>
          </p:cNvSpPr>
          <p:nvPr/>
        </p:nvSpPr>
        <p:spPr>
          <a:xfrm xmlns:a="http://schemas.openxmlformats.org/drawingml/2006/main">
            <a:off x="777240" y="2606040"/>
            <a:ext cx="10515600" cy="786384"/>
          </a:xfrm>
          <a:prstGeom xmlns:a="http://schemas.openxmlformats.org/drawingml/2006/main" prst="roundRect">
            <a:avLst>
              <a:gd name="adj" fmla="val 5814"/>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49" name="Google Shape;249;p14">
            <a:extLst xmlns:a="http://schemas.openxmlformats.org/drawingml/2006/main">
              <a:ext uri="{FF2B5EF4-FFF2-40B4-BE49-F238E27FC236}">
                <a16:creationId xmlns:a16="http://schemas.microsoft.com/office/drawing/2014/main" id="{97F1B43A-78E3-46BB-A15C-40B72C15B544}"/>
              </a:ext>
            </a:extLst>
          </p:cNvPr>
          <p:cNvSpPr>
            <a:spLocks xmlns:a="http://schemas.openxmlformats.org/drawingml/2006/main" noGrp="1"/>
          </p:cNvSpPr>
          <p:nvPr/>
        </p:nvSpPr>
        <p:spPr>
          <a:xfrm xmlns:a="http://schemas.openxmlformats.org/drawingml/2006/main">
            <a:off x="1005840" y="2852928"/>
            <a:ext cx="9966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800"/>
              <a:buFont typeface="Arial"/>
              <a:buNone/>
            </a:pPr>
            <a:r>
              <a:rPr sz="1800" b="0" i="1" u="none" cap="none">
                <a:solidFill>
                  <a:srgbClr val="FFFFFF"/>
                </a:solidFill>
                <a:latin typeface="Arial"/>
                <a:ea typeface="Arial"/>
                <a:cs typeface="Arial"/>
              </a:rPr>
              <a:t>“Worked on prototype today. It kind of failed. I changed it and will try again.”</a:t>
            </a:r>
          </a:p>
        </p:txBody>
      </p:sp>
      <p:sp>
        <p:nvSpPr>
          <p:cNvPr id="250" name="Google Shape;250;p14">
            <a:extLst xmlns:a="http://schemas.openxmlformats.org/drawingml/2006/main">
              <a:ext uri="{FF2B5EF4-FFF2-40B4-BE49-F238E27FC236}">
                <a16:creationId xmlns:a16="http://schemas.microsoft.com/office/drawing/2014/main" id="{BCA84C95-B29E-42FE-85FA-44FAB858087A}"/>
              </a:ext>
            </a:extLst>
          </p:cNvPr>
          <p:cNvSpPr>
            <a:spLocks xmlns:a="http://schemas.openxmlformats.org/drawingml/2006/main" noGrp="1"/>
          </p:cNvSpPr>
          <p:nvPr/>
        </p:nvSpPr>
        <p:spPr>
          <a:xfrm xmlns:a="http://schemas.openxmlformats.org/drawingml/2006/main">
            <a:off x="868680" y="397764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51" name="Google Shape;251;p14">
            <a:extLst xmlns:a="http://schemas.openxmlformats.org/drawingml/2006/main">
              <a:ext uri="{FF2B5EF4-FFF2-40B4-BE49-F238E27FC236}">
                <a16:creationId xmlns:a16="http://schemas.microsoft.com/office/drawing/2014/main" id="{93AF33C9-4C9C-43BB-8C8C-F1A11680423C}"/>
              </a:ext>
            </a:extLst>
          </p:cNvPr>
          <p:cNvSpPr>
            <a:spLocks xmlns:a="http://schemas.openxmlformats.org/drawingml/2006/main" noGrp="1"/>
          </p:cNvSpPr>
          <p:nvPr/>
        </p:nvSpPr>
        <p:spPr>
          <a:xfrm xmlns:a="http://schemas.openxmlformats.org/drawingml/2006/main">
            <a:off x="1179576" y="3959352"/>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details are missing?</a:t>
            </a:r>
          </a:p>
        </p:txBody>
      </p:sp>
      <p:sp>
        <p:nvSpPr>
          <p:cNvPr id="252" name="Google Shape;252;p14">
            <a:extLst xmlns:a="http://schemas.openxmlformats.org/drawingml/2006/main">
              <a:ext uri="{FF2B5EF4-FFF2-40B4-BE49-F238E27FC236}">
                <a16:creationId xmlns:a16="http://schemas.microsoft.com/office/drawing/2014/main" id="{EB36BA6B-8C86-4977-BE7C-2C884DE5A0E7}"/>
              </a:ext>
            </a:extLst>
          </p:cNvPr>
          <p:cNvSpPr>
            <a:spLocks xmlns:a="http://schemas.openxmlformats.org/drawingml/2006/main" noGrp="1"/>
          </p:cNvSpPr>
          <p:nvPr/>
        </p:nvSpPr>
        <p:spPr>
          <a:xfrm xmlns:a="http://schemas.openxmlformats.org/drawingml/2006/main">
            <a:off x="868680" y="450799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53" name="Google Shape;253;p14">
            <a:extLst xmlns:a="http://schemas.openxmlformats.org/drawingml/2006/main">
              <a:ext uri="{FF2B5EF4-FFF2-40B4-BE49-F238E27FC236}">
                <a16:creationId xmlns:a16="http://schemas.microsoft.com/office/drawing/2014/main" id="{E093B098-6506-47B5-89EF-B629D316BB72}"/>
              </a:ext>
            </a:extLst>
          </p:cNvPr>
          <p:cNvSpPr>
            <a:spLocks xmlns:a="http://schemas.openxmlformats.org/drawingml/2006/main" noGrp="1"/>
          </p:cNvSpPr>
          <p:nvPr/>
        </p:nvSpPr>
        <p:spPr>
          <a:xfrm xmlns:a="http://schemas.openxmlformats.org/drawingml/2006/main">
            <a:off x="1179576" y="4489704"/>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questions would a reviewer ask?</a:t>
            </a:r>
          </a:p>
        </p:txBody>
      </p:sp>
      <p:sp>
        <p:nvSpPr>
          <p:cNvPr id="254" name="Google Shape;254;p14">
            <a:extLst xmlns:a="http://schemas.openxmlformats.org/drawingml/2006/main">
              <a:ext uri="{FF2B5EF4-FFF2-40B4-BE49-F238E27FC236}">
                <a16:creationId xmlns:a16="http://schemas.microsoft.com/office/drawing/2014/main" id="{4ABB9259-C647-4C95-842B-02678B893DAE}"/>
              </a:ext>
            </a:extLst>
          </p:cNvPr>
          <p:cNvSpPr>
            <a:spLocks xmlns:a="http://schemas.openxmlformats.org/drawingml/2006/main" noGrp="1"/>
          </p:cNvSpPr>
          <p:nvPr/>
        </p:nvSpPr>
        <p:spPr>
          <a:xfrm xmlns:a="http://schemas.openxmlformats.org/drawingml/2006/main">
            <a:off x="868680" y="503834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55" name="Google Shape;255;p14">
            <a:extLst xmlns:a="http://schemas.openxmlformats.org/drawingml/2006/main">
              <a:ext uri="{FF2B5EF4-FFF2-40B4-BE49-F238E27FC236}">
                <a16:creationId xmlns:a16="http://schemas.microsoft.com/office/drawing/2014/main" id="{9BDE1178-3F4B-490D-80C8-3EABA336DC8C}"/>
              </a:ext>
            </a:extLst>
          </p:cNvPr>
          <p:cNvSpPr>
            <a:spLocks xmlns:a="http://schemas.openxmlformats.org/drawingml/2006/main" noGrp="1"/>
          </p:cNvSpPr>
          <p:nvPr/>
        </p:nvSpPr>
        <p:spPr>
          <a:xfrm xmlns:a="http://schemas.openxmlformats.org/drawingml/2006/main">
            <a:off x="1179576" y="5020056"/>
            <a:ext cx="987552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Rewrite the entry using today’s journal structure.</a:t>
            </a:r>
          </a:p>
        </p:txBody>
      </p:sp>
    </p:spTree>
    <p:extLst>
      <p:ext uri="{BB962C8B-B14F-4D97-AF65-F5344CB8AC3E}">
        <p14:creationId xmlns:p14="http://schemas.microsoft.com/office/powerpoint/2010/main" val="573267830"/>
      </p:ext>
    </p:extLst>
  </p:cSld>
</p:sld>
</file>

<file path=ppt/slides/slide12.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61" name="Google Shape;261;p15">
            <a:extLst xmlns:a="http://schemas.openxmlformats.org/drawingml/2006/main">
              <a:ext uri="{FF2B5EF4-FFF2-40B4-BE49-F238E27FC236}">
                <a16:creationId xmlns:a16="http://schemas.microsoft.com/office/drawing/2014/main" id="{ACCA61DF-6AF2-4AEC-9E0E-E00AE7918C21}"/>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62" name="Google Shape;262;p15">
            <a:extLst xmlns:a="http://schemas.openxmlformats.org/drawingml/2006/main">
              <a:ext uri="{FF2B5EF4-FFF2-40B4-BE49-F238E27FC236}">
                <a16:creationId xmlns:a16="http://schemas.microsoft.com/office/drawing/2014/main" id="{CE4C4F20-0E04-4B8E-AD16-18AE44757AE7}"/>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63" name="Google Shape;263;p15">
            <a:extLst xmlns:a="http://schemas.openxmlformats.org/drawingml/2006/main">
              <a:ext uri="{FF2B5EF4-FFF2-40B4-BE49-F238E27FC236}">
                <a16:creationId xmlns:a16="http://schemas.microsoft.com/office/drawing/2014/main" id="{2B97F39C-3FE8-4113-A40B-0FAF0BF1CA9C}"/>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64" name="Google Shape;264;p15">
            <a:extLst xmlns:a="http://schemas.openxmlformats.org/drawingml/2006/main">
              <a:ext uri="{FF2B5EF4-FFF2-40B4-BE49-F238E27FC236}">
                <a16:creationId xmlns:a16="http://schemas.microsoft.com/office/drawing/2014/main" id="{EDA7DC73-73E1-48B6-98A6-F3D52CAEBA38}"/>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65" name="Google Shape;265;p15">
            <a:extLst xmlns:a="http://schemas.openxmlformats.org/drawingml/2006/main">
              <a:ext uri="{FF2B5EF4-FFF2-40B4-BE49-F238E27FC236}">
                <a16:creationId xmlns:a16="http://schemas.microsoft.com/office/drawing/2014/main" id="{19CFE4B5-2D1D-446A-9049-7C3E04876210}"/>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Choose a journal system you will actually maintain</a:t>
            </a:r>
          </a:p>
        </p:txBody>
      </p:sp>
      <p:cxnSp>
        <p:nvCxnSpPr>
          <p:cNvPr id="285" name="Google Shape;266;p15"/>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67" name="Google Shape;267;p15">
            <a:extLst xmlns:a="http://schemas.openxmlformats.org/drawingml/2006/main">
              <a:ext uri="{FF2B5EF4-FFF2-40B4-BE49-F238E27FC236}">
                <a16:creationId xmlns:a16="http://schemas.microsoft.com/office/drawing/2014/main" id="{0F2A4C9C-6518-4201-B8E0-7AE4ACA48597}"/>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The best system is organized, accessible, and used consistently.</a:t>
            </a:r>
          </a:p>
        </p:txBody>
      </p:sp>
      <p:sp>
        <p:nvSpPr>
          <p:cNvPr id="268" name="Google Shape;268;p15">
            <a:extLst xmlns:a="http://schemas.openxmlformats.org/drawingml/2006/main">
              <a:ext uri="{FF2B5EF4-FFF2-40B4-BE49-F238E27FC236}">
                <a16:creationId xmlns:a16="http://schemas.microsoft.com/office/drawing/2014/main" id="{F0E1F2A9-7AD6-4010-84A2-562AA54BAFE9}"/>
              </a:ext>
            </a:extLst>
          </p:cNvPr>
          <p:cNvSpPr>
            <a:spLocks xmlns:a="http://schemas.openxmlformats.org/drawingml/2006/main" noGrp="1"/>
          </p:cNvSpPr>
          <p:nvPr/>
        </p:nvSpPr>
        <p:spPr>
          <a:xfrm xmlns:a="http://schemas.openxmlformats.org/drawingml/2006/main">
            <a:off x="822960" y="187452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69" name="Google Shape;269;p15">
            <a:extLst xmlns:a="http://schemas.openxmlformats.org/drawingml/2006/main">
              <a:ext uri="{FF2B5EF4-FFF2-40B4-BE49-F238E27FC236}">
                <a16:creationId xmlns:a16="http://schemas.microsoft.com/office/drawing/2014/main" id="{72393A07-2DA3-468A-83E5-ED006A3668B3}"/>
              </a:ext>
            </a:extLst>
          </p:cNvPr>
          <p:cNvSpPr>
            <a:spLocks xmlns:a="http://schemas.openxmlformats.org/drawingml/2006/main" noGrp="1"/>
          </p:cNvSpPr>
          <p:nvPr/>
        </p:nvSpPr>
        <p:spPr>
          <a:xfrm xmlns:a="http://schemas.openxmlformats.org/drawingml/2006/main">
            <a:off x="1024128" y="207568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Physical notebook</a:t>
            </a:r>
          </a:p>
        </p:txBody>
      </p:sp>
      <p:sp>
        <p:nvSpPr>
          <p:cNvPr id="270" name="Google Shape;270;p15">
            <a:extLst xmlns:a="http://schemas.openxmlformats.org/drawingml/2006/main">
              <a:ext uri="{FF2B5EF4-FFF2-40B4-BE49-F238E27FC236}">
                <a16:creationId xmlns:a16="http://schemas.microsoft.com/office/drawing/2014/main" id="{5AA3A5C6-7449-4FE7-A02A-29CDF4AFA4AD}"/>
              </a:ext>
            </a:extLst>
          </p:cNvPr>
          <p:cNvSpPr>
            <a:spLocks xmlns:a="http://schemas.openxmlformats.org/drawingml/2006/main" noGrp="1"/>
          </p:cNvSpPr>
          <p:nvPr/>
        </p:nvSpPr>
        <p:spPr>
          <a:xfrm xmlns:a="http://schemas.openxmlformats.org/drawingml/2006/main">
            <a:off x="1024128" y="240487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Great for sketches, setup notes, and quick entries</a:t>
            </a:r>
          </a:p>
        </p:txBody>
      </p:sp>
      <p:sp>
        <p:nvSpPr>
          <p:cNvPr id="271" name="Google Shape;271;p15">
            <a:extLst xmlns:a="http://schemas.openxmlformats.org/drawingml/2006/main">
              <a:ext uri="{FF2B5EF4-FFF2-40B4-BE49-F238E27FC236}">
                <a16:creationId xmlns:a16="http://schemas.microsoft.com/office/drawing/2014/main" id="{80E546F6-E7A2-4E9C-A5B4-6DDED234FE1F}"/>
              </a:ext>
            </a:extLst>
          </p:cNvPr>
          <p:cNvSpPr>
            <a:spLocks xmlns:a="http://schemas.openxmlformats.org/drawingml/2006/main" noGrp="1"/>
          </p:cNvSpPr>
          <p:nvPr/>
        </p:nvSpPr>
        <p:spPr>
          <a:xfrm xmlns:a="http://schemas.openxmlformats.org/drawingml/2006/main">
            <a:off x="6400800" y="187452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72" name="Google Shape;272;p15">
            <a:extLst xmlns:a="http://schemas.openxmlformats.org/drawingml/2006/main">
              <a:ext uri="{FF2B5EF4-FFF2-40B4-BE49-F238E27FC236}">
                <a16:creationId xmlns:a16="http://schemas.microsoft.com/office/drawing/2014/main" id="{ED578F86-5D0B-41B2-AF01-065F85B24B9C}"/>
              </a:ext>
            </a:extLst>
          </p:cNvPr>
          <p:cNvSpPr>
            <a:spLocks xmlns:a="http://schemas.openxmlformats.org/drawingml/2006/main" noGrp="1"/>
          </p:cNvSpPr>
          <p:nvPr/>
        </p:nvSpPr>
        <p:spPr>
          <a:xfrm xmlns:a="http://schemas.openxmlformats.org/drawingml/2006/main">
            <a:off x="6601968" y="207568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Google Doc</a:t>
            </a:r>
          </a:p>
        </p:txBody>
      </p:sp>
      <p:sp>
        <p:nvSpPr>
          <p:cNvPr id="273" name="Google Shape;273;p15">
            <a:extLst xmlns:a="http://schemas.openxmlformats.org/drawingml/2006/main">
              <a:ext uri="{FF2B5EF4-FFF2-40B4-BE49-F238E27FC236}">
                <a16:creationId xmlns:a16="http://schemas.microsoft.com/office/drawing/2014/main" id="{E11FDFCF-7AC1-4BAA-8F11-D3253BC2B284}"/>
              </a:ext>
            </a:extLst>
          </p:cNvPr>
          <p:cNvSpPr>
            <a:spLocks xmlns:a="http://schemas.openxmlformats.org/drawingml/2006/main" noGrp="1"/>
          </p:cNvSpPr>
          <p:nvPr/>
        </p:nvSpPr>
        <p:spPr>
          <a:xfrm xmlns:a="http://schemas.openxmlformats.org/drawingml/2006/main">
            <a:off x="6601968" y="240487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Easy to share, searchable, and teacher-accessible</a:t>
            </a:r>
          </a:p>
        </p:txBody>
      </p:sp>
      <p:sp>
        <p:nvSpPr>
          <p:cNvPr id="274" name="Google Shape;274;p15">
            <a:extLst xmlns:a="http://schemas.openxmlformats.org/drawingml/2006/main">
              <a:ext uri="{FF2B5EF4-FFF2-40B4-BE49-F238E27FC236}">
                <a16:creationId xmlns:a16="http://schemas.microsoft.com/office/drawing/2014/main" id="{92162C71-ACEF-4443-8B89-E2CC8FC229D7}"/>
              </a:ext>
            </a:extLst>
          </p:cNvPr>
          <p:cNvSpPr>
            <a:spLocks xmlns:a="http://schemas.openxmlformats.org/drawingml/2006/main" noGrp="1"/>
          </p:cNvSpPr>
          <p:nvPr/>
        </p:nvSpPr>
        <p:spPr>
          <a:xfrm xmlns:a="http://schemas.openxmlformats.org/drawingml/2006/main">
            <a:off x="822960" y="338328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75" name="Google Shape;275;p15">
            <a:extLst xmlns:a="http://schemas.openxmlformats.org/drawingml/2006/main">
              <a:ext uri="{FF2B5EF4-FFF2-40B4-BE49-F238E27FC236}">
                <a16:creationId xmlns:a16="http://schemas.microsoft.com/office/drawing/2014/main" id="{9C46C263-7087-48F3-ACC9-95C5B4A537A4}"/>
              </a:ext>
            </a:extLst>
          </p:cNvPr>
          <p:cNvSpPr>
            <a:spLocks xmlns:a="http://schemas.openxmlformats.org/drawingml/2006/main" noGrp="1"/>
          </p:cNvSpPr>
          <p:nvPr/>
        </p:nvSpPr>
        <p:spPr>
          <a:xfrm xmlns:a="http://schemas.openxmlformats.org/drawingml/2006/main">
            <a:off x="1024128" y="358444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Spreadsheet + log</a:t>
            </a:r>
          </a:p>
        </p:txBody>
      </p:sp>
      <p:sp>
        <p:nvSpPr>
          <p:cNvPr id="276" name="Google Shape;276;p15">
            <a:extLst xmlns:a="http://schemas.openxmlformats.org/drawingml/2006/main">
              <a:ext uri="{FF2B5EF4-FFF2-40B4-BE49-F238E27FC236}">
                <a16:creationId xmlns:a16="http://schemas.microsoft.com/office/drawing/2014/main" id="{89DFB1DD-0A9B-4038-9E7C-3428C8943480}"/>
              </a:ext>
            </a:extLst>
          </p:cNvPr>
          <p:cNvSpPr>
            <a:spLocks xmlns:a="http://schemas.openxmlformats.org/drawingml/2006/main" noGrp="1"/>
          </p:cNvSpPr>
          <p:nvPr/>
        </p:nvSpPr>
        <p:spPr>
          <a:xfrm xmlns:a="http://schemas.openxmlformats.org/drawingml/2006/main">
            <a:off x="1024128" y="391363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Strong for data-heavy projects</a:t>
            </a:r>
          </a:p>
        </p:txBody>
      </p:sp>
      <p:sp>
        <p:nvSpPr>
          <p:cNvPr id="277" name="Google Shape;277;p15">
            <a:extLst xmlns:a="http://schemas.openxmlformats.org/drawingml/2006/main">
              <a:ext uri="{FF2B5EF4-FFF2-40B4-BE49-F238E27FC236}">
                <a16:creationId xmlns:a16="http://schemas.microsoft.com/office/drawing/2014/main" id="{CB274B4F-D654-4BB5-B9E2-3A9453DF7924}"/>
              </a:ext>
            </a:extLst>
          </p:cNvPr>
          <p:cNvSpPr>
            <a:spLocks xmlns:a="http://schemas.openxmlformats.org/drawingml/2006/main" noGrp="1"/>
          </p:cNvSpPr>
          <p:nvPr/>
        </p:nvSpPr>
        <p:spPr>
          <a:xfrm xmlns:a="http://schemas.openxmlformats.org/drawingml/2006/main">
            <a:off x="6400800" y="3383280"/>
            <a:ext cx="4892040" cy="987552"/>
          </a:xfrm>
          <a:prstGeom xmlns:a="http://schemas.openxmlformats.org/drawingml/2006/main" prst="roundRect">
            <a:avLst>
              <a:gd name="adj" fmla="val 4630"/>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78" name="Google Shape;278;p15">
            <a:extLst xmlns:a="http://schemas.openxmlformats.org/drawingml/2006/main">
              <a:ext uri="{FF2B5EF4-FFF2-40B4-BE49-F238E27FC236}">
                <a16:creationId xmlns:a16="http://schemas.microsoft.com/office/drawing/2014/main" id="{45B73131-A00B-4E87-B0F8-D9AAB0F97EB7}"/>
              </a:ext>
            </a:extLst>
          </p:cNvPr>
          <p:cNvSpPr>
            <a:spLocks xmlns:a="http://schemas.openxmlformats.org/drawingml/2006/main" noGrp="1"/>
          </p:cNvSpPr>
          <p:nvPr/>
        </p:nvSpPr>
        <p:spPr>
          <a:xfrm xmlns:a="http://schemas.openxmlformats.org/drawingml/2006/main">
            <a:off x="6601968" y="3584448"/>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700"/>
              <a:buFont typeface="Arial"/>
              <a:buNone/>
            </a:pPr>
            <a:r>
              <a:rPr sz="1700" b="1" i="0" u="none" cap="none">
                <a:solidFill>
                  <a:srgbClr val="FFFFFF"/>
                </a:solidFill>
                <a:latin typeface="Arial"/>
                <a:ea typeface="Arial"/>
                <a:cs typeface="Arial"/>
              </a:rPr>
              <a:t>Notion / digital notebook</a:t>
            </a:r>
          </a:p>
        </p:txBody>
      </p:sp>
      <p:sp>
        <p:nvSpPr>
          <p:cNvPr id="279" name="Google Shape;279;p15">
            <a:extLst xmlns:a="http://schemas.openxmlformats.org/drawingml/2006/main">
              <a:ext uri="{FF2B5EF4-FFF2-40B4-BE49-F238E27FC236}">
                <a16:creationId xmlns:a16="http://schemas.microsoft.com/office/drawing/2014/main" id="{EF9C188B-6531-438A-A9C8-36A44F086DDD}"/>
              </a:ext>
            </a:extLst>
          </p:cNvPr>
          <p:cNvSpPr>
            <a:spLocks xmlns:a="http://schemas.openxmlformats.org/drawingml/2006/main" noGrp="1"/>
          </p:cNvSpPr>
          <p:nvPr/>
        </p:nvSpPr>
        <p:spPr>
          <a:xfrm xmlns:a="http://schemas.openxmlformats.org/drawingml/2006/main">
            <a:off x="6601968" y="3913632"/>
            <a:ext cx="4480560" cy="246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Useful for linking files, images, and tasks</a:t>
            </a:r>
          </a:p>
        </p:txBody>
      </p:sp>
    </p:spTree>
    <p:extLst>
      <p:ext uri="{BB962C8B-B14F-4D97-AF65-F5344CB8AC3E}">
        <p14:creationId xmlns:p14="http://schemas.microsoft.com/office/powerpoint/2010/main" val="960214186"/>
      </p:ext>
    </p:extLst>
  </p:cSld>
</p:sld>
</file>

<file path=ppt/slides/slide1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85" name="Google Shape;285;p16">
            <a:extLst xmlns:a="http://schemas.openxmlformats.org/drawingml/2006/main">
              <a:ext uri="{FF2B5EF4-FFF2-40B4-BE49-F238E27FC236}">
                <a16:creationId xmlns:a16="http://schemas.microsoft.com/office/drawing/2014/main" id="{063C6ABE-F068-49AD-8A7D-29CA6A0AECE2}"/>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86" name="Google Shape;286;p16">
            <a:extLst xmlns:a="http://schemas.openxmlformats.org/drawingml/2006/main">
              <a:ext uri="{FF2B5EF4-FFF2-40B4-BE49-F238E27FC236}">
                <a16:creationId xmlns:a16="http://schemas.microsoft.com/office/drawing/2014/main" id="{437BC399-446F-465D-870F-051AD717FA90}"/>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87" name="Google Shape;287;p16">
            <a:extLst xmlns:a="http://schemas.openxmlformats.org/drawingml/2006/main">
              <a:ext uri="{FF2B5EF4-FFF2-40B4-BE49-F238E27FC236}">
                <a16:creationId xmlns:a16="http://schemas.microsoft.com/office/drawing/2014/main" id="{AD4293E4-BD18-4D54-9374-9A0E2B9532A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288" name="Google Shape;288;p16">
            <a:extLst xmlns:a="http://schemas.openxmlformats.org/drawingml/2006/main">
              <a:ext uri="{FF2B5EF4-FFF2-40B4-BE49-F238E27FC236}">
                <a16:creationId xmlns:a16="http://schemas.microsoft.com/office/drawing/2014/main" id="{610E69BE-167C-4345-B8CF-15D1C52E28F1}"/>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289" name="Google Shape;289;p16">
            <a:extLst xmlns:a="http://schemas.openxmlformats.org/drawingml/2006/main">
              <a:ext uri="{FF2B5EF4-FFF2-40B4-BE49-F238E27FC236}">
                <a16:creationId xmlns:a16="http://schemas.microsoft.com/office/drawing/2014/main" id="{9A929154-7A53-4509-95CE-8CE79D77B66B}"/>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Name files so future-you can find them</a:t>
            </a:r>
          </a:p>
        </p:txBody>
      </p:sp>
      <p:cxnSp>
        <p:nvCxnSpPr>
          <p:cNvPr id="307" name="Google Shape;290;p16"/>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291" name="Google Shape;291;p16">
            <a:extLst xmlns:a="http://schemas.openxmlformats.org/drawingml/2006/main">
              <a:ext uri="{FF2B5EF4-FFF2-40B4-BE49-F238E27FC236}">
                <a16:creationId xmlns:a16="http://schemas.microsoft.com/office/drawing/2014/main" id="{7B790F8B-B253-48B1-8016-B345922B6AB9}"/>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Documentation includes the files around the journal, not just the journal itself.</a:t>
            </a:r>
          </a:p>
        </p:txBody>
      </p:sp>
      <p:sp>
        <p:nvSpPr>
          <p:cNvPr id="292" name="Google Shape;292;p16">
            <a:extLst xmlns:a="http://schemas.openxmlformats.org/drawingml/2006/main">
              <a:ext uri="{FF2B5EF4-FFF2-40B4-BE49-F238E27FC236}">
                <a16:creationId xmlns:a16="http://schemas.microsoft.com/office/drawing/2014/main" id="{9E02037A-D392-49D0-8EF1-906E60B26E9F}"/>
              </a:ext>
            </a:extLst>
          </p:cNvPr>
          <p:cNvSpPr>
            <a:spLocks xmlns:a="http://schemas.openxmlformats.org/drawingml/2006/main" noGrp="1"/>
          </p:cNvSpPr>
          <p:nvPr/>
        </p:nvSpPr>
        <p:spPr>
          <a:xfrm xmlns:a="http://schemas.openxmlformats.org/drawingml/2006/main">
            <a:off x="777240" y="1874520"/>
            <a:ext cx="10607040" cy="960120"/>
          </a:xfrm>
          <a:prstGeom xmlns:a="http://schemas.openxmlformats.org/drawingml/2006/main" prst="roundRect">
            <a:avLst>
              <a:gd name="adj" fmla="val 4762"/>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293" name="Google Shape;293;p16">
            <a:extLst xmlns:a="http://schemas.openxmlformats.org/drawingml/2006/main">
              <a:ext uri="{FF2B5EF4-FFF2-40B4-BE49-F238E27FC236}">
                <a16:creationId xmlns:a16="http://schemas.microsoft.com/office/drawing/2014/main" id="{16C6CD5B-66FD-40AF-88AA-A788EF8C939F}"/>
              </a:ext>
            </a:extLst>
          </p:cNvPr>
          <p:cNvSpPr>
            <a:spLocks xmlns:a="http://schemas.openxmlformats.org/drawingml/2006/main" noGrp="1"/>
          </p:cNvSpPr>
          <p:nvPr/>
        </p:nvSpPr>
        <p:spPr>
          <a:xfrm xmlns:a="http://schemas.openxmlformats.org/drawingml/2006/main">
            <a:off x="1051560" y="2212848"/>
            <a:ext cx="987552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Good format:  LastName_Project_Item_Date_or_Trial</a:t>
            </a:r>
          </a:p>
        </p:txBody>
      </p:sp>
      <p:sp>
        <p:nvSpPr>
          <p:cNvPr id="294" name="Google Shape;294;p16">
            <a:extLst xmlns:a="http://schemas.openxmlformats.org/drawingml/2006/main">
              <a:ext uri="{FF2B5EF4-FFF2-40B4-BE49-F238E27FC236}">
                <a16:creationId xmlns:a16="http://schemas.microsoft.com/office/drawing/2014/main" id="{4B3C388F-061E-4280-8D82-A0EF229D8DD1}"/>
              </a:ext>
            </a:extLst>
          </p:cNvPr>
          <p:cNvSpPr>
            <a:spLocks xmlns:a="http://schemas.openxmlformats.org/drawingml/2006/main" noGrp="1"/>
          </p:cNvSpPr>
          <p:nvPr/>
        </p:nvSpPr>
        <p:spPr>
          <a:xfrm xmlns:a="http://schemas.openxmlformats.org/drawingml/2006/main">
            <a:off x="1005840" y="34290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95" name="Google Shape;295;p16">
            <a:extLst xmlns:a="http://schemas.openxmlformats.org/drawingml/2006/main">
              <a:ext uri="{FF2B5EF4-FFF2-40B4-BE49-F238E27FC236}">
                <a16:creationId xmlns:a16="http://schemas.microsoft.com/office/drawing/2014/main" id="{39257FDA-3B96-4C93-A6B2-14E164C61924}"/>
              </a:ext>
            </a:extLst>
          </p:cNvPr>
          <p:cNvSpPr>
            <a:spLocks xmlns:a="http://schemas.openxmlformats.org/drawingml/2006/main" noGrp="1"/>
          </p:cNvSpPr>
          <p:nvPr/>
        </p:nvSpPr>
        <p:spPr>
          <a:xfrm xmlns:a="http://schemas.openxmlformats.org/drawingml/2006/main">
            <a:off x="1316736" y="341071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Hageman_Turbine_RawData_10-12</a:t>
            </a:r>
          </a:p>
        </p:txBody>
      </p:sp>
      <p:sp>
        <p:nvSpPr>
          <p:cNvPr id="296" name="Google Shape;296;p16">
            <a:extLst xmlns:a="http://schemas.openxmlformats.org/drawingml/2006/main">
              <a:ext uri="{FF2B5EF4-FFF2-40B4-BE49-F238E27FC236}">
                <a16:creationId xmlns:a16="http://schemas.microsoft.com/office/drawing/2014/main" id="{AD44A04A-A54D-4F83-B8BD-5ED0163205A2}"/>
              </a:ext>
            </a:extLst>
          </p:cNvPr>
          <p:cNvSpPr>
            <a:spLocks xmlns:a="http://schemas.openxmlformats.org/drawingml/2006/main" noGrp="1"/>
          </p:cNvSpPr>
          <p:nvPr/>
        </p:nvSpPr>
        <p:spPr>
          <a:xfrm xmlns:a="http://schemas.openxmlformats.org/drawingml/2006/main">
            <a:off x="1005840" y="392277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97" name="Google Shape;297;p16">
            <a:extLst xmlns:a="http://schemas.openxmlformats.org/drawingml/2006/main">
              <a:ext uri="{FF2B5EF4-FFF2-40B4-BE49-F238E27FC236}">
                <a16:creationId xmlns:a16="http://schemas.microsoft.com/office/drawing/2014/main" id="{FF156005-E24F-4E9F-B316-4C6D1456EBCE}"/>
              </a:ext>
            </a:extLst>
          </p:cNvPr>
          <p:cNvSpPr>
            <a:spLocks xmlns:a="http://schemas.openxmlformats.org/drawingml/2006/main" noGrp="1"/>
          </p:cNvSpPr>
          <p:nvPr/>
        </p:nvSpPr>
        <p:spPr>
          <a:xfrm xmlns:a="http://schemas.openxmlformats.org/drawingml/2006/main">
            <a:off x="1316736" y="390448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Hageman_Turbine_PrototypeB_Photo_T3</a:t>
            </a:r>
          </a:p>
        </p:txBody>
      </p:sp>
      <p:sp>
        <p:nvSpPr>
          <p:cNvPr id="298" name="Google Shape;298;p16">
            <a:extLst xmlns:a="http://schemas.openxmlformats.org/drawingml/2006/main">
              <a:ext uri="{FF2B5EF4-FFF2-40B4-BE49-F238E27FC236}">
                <a16:creationId xmlns:a16="http://schemas.microsoft.com/office/drawing/2014/main" id="{672E0016-6829-42B8-BC59-9422FD7C8F51}"/>
              </a:ext>
            </a:extLst>
          </p:cNvPr>
          <p:cNvSpPr>
            <a:spLocks xmlns:a="http://schemas.openxmlformats.org/drawingml/2006/main" noGrp="1"/>
          </p:cNvSpPr>
          <p:nvPr/>
        </p:nvSpPr>
        <p:spPr>
          <a:xfrm xmlns:a="http://schemas.openxmlformats.org/drawingml/2006/main">
            <a:off x="1005840" y="441655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299" name="Google Shape;299;p16">
            <a:extLst xmlns:a="http://schemas.openxmlformats.org/drawingml/2006/main">
              <a:ext uri="{FF2B5EF4-FFF2-40B4-BE49-F238E27FC236}">
                <a16:creationId xmlns:a16="http://schemas.microsoft.com/office/drawing/2014/main" id="{41237118-BD77-4218-907A-A0E61BE809FF}"/>
              </a:ext>
            </a:extLst>
          </p:cNvPr>
          <p:cNvSpPr>
            <a:spLocks xmlns:a="http://schemas.openxmlformats.org/drawingml/2006/main" noGrp="1"/>
          </p:cNvSpPr>
          <p:nvPr/>
        </p:nvSpPr>
        <p:spPr>
          <a:xfrm xmlns:a="http://schemas.openxmlformats.org/drawingml/2006/main">
            <a:off x="1316736" y="439826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Hageman_Turbine_Procedure_v2</a:t>
            </a:r>
          </a:p>
        </p:txBody>
      </p:sp>
      <p:sp>
        <p:nvSpPr>
          <p:cNvPr id="300" name="Google Shape;300;p16">
            <a:extLst xmlns:a="http://schemas.openxmlformats.org/drawingml/2006/main">
              <a:ext uri="{FF2B5EF4-FFF2-40B4-BE49-F238E27FC236}">
                <a16:creationId xmlns:a16="http://schemas.microsoft.com/office/drawing/2014/main" id="{710B6D72-1F35-4D29-A8E4-22DD1F56FC79}"/>
              </a:ext>
            </a:extLst>
          </p:cNvPr>
          <p:cNvSpPr>
            <a:spLocks xmlns:a="http://schemas.openxmlformats.org/drawingml/2006/main" noGrp="1"/>
          </p:cNvSpPr>
          <p:nvPr/>
        </p:nvSpPr>
        <p:spPr>
          <a:xfrm xmlns:a="http://schemas.openxmlformats.org/drawingml/2006/main">
            <a:off x="1005840" y="491032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01" name="Google Shape;301;p16">
            <a:extLst xmlns:a="http://schemas.openxmlformats.org/drawingml/2006/main">
              <a:ext uri="{FF2B5EF4-FFF2-40B4-BE49-F238E27FC236}">
                <a16:creationId xmlns:a16="http://schemas.microsoft.com/office/drawing/2014/main" id="{6B007DEC-C5FB-4E07-BE32-366C7DBCB514}"/>
              </a:ext>
            </a:extLst>
          </p:cNvPr>
          <p:cNvSpPr>
            <a:spLocks xmlns:a="http://schemas.openxmlformats.org/drawingml/2006/main" noGrp="1"/>
          </p:cNvSpPr>
          <p:nvPr/>
        </p:nvSpPr>
        <p:spPr>
          <a:xfrm xmlns:a="http://schemas.openxmlformats.org/drawingml/2006/main">
            <a:off x="1316736" y="489204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Hageman_Turbine_MentorFeedback_10-19</a:t>
            </a:r>
          </a:p>
        </p:txBody>
      </p:sp>
    </p:spTree>
    <p:extLst>
      <p:ext uri="{BB962C8B-B14F-4D97-AF65-F5344CB8AC3E}">
        <p14:creationId xmlns:p14="http://schemas.microsoft.com/office/powerpoint/2010/main" val="365944093"/>
      </p:ext>
    </p:extLst>
  </p:cSld>
</p:sld>
</file>

<file path=ppt/slides/slide14.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07" name="Google Shape;307;p17">
            <a:extLst xmlns:a="http://schemas.openxmlformats.org/drawingml/2006/main">
              <a:ext uri="{FF2B5EF4-FFF2-40B4-BE49-F238E27FC236}">
                <a16:creationId xmlns:a16="http://schemas.microsoft.com/office/drawing/2014/main" id="{3D59F011-4C76-477C-9EEC-DFABAFD1EEE1}"/>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08" name="Google Shape;308;p17">
            <a:extLst xmlns:a="http://schemas.openxmlformats.org/drawingml/2006/main">
              <a:ext uri="{FF2B5EF4-FFF2-40B4-BE49-F238E27FC236}">
                <a16:creationId xmlns:a16="http://schemas.microsoft.com/office/drawing/2014/main" id="{181C11FE-9F04-4FD7-93E3-0155C5115915}"/>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09" name="Google Shape;309;p17">
            <a:extLst xmlns:a="http://schemas.openxmlformats.org/drawingml/2006/main">
              <a:ext uri="{FF2B5EF4-FFF2-40B4-BE49-F238E27FC236}">
                <a16:creationId xmlns:a16="http://schemas.microsoft.com/office/drawing/2014/main" id="{701178A1-F3C3-4F59-A8F6-6071B1877A9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10" name="Google Shape;310;p17">
            <a:extLst xmlns:a="http://schemas.openxmlformats.org/drawingml/2006/main">
              <a:ext uri="{FF2B5EF4-FFF2-40B4-BE49-F238E27FC236}">
                <a16:creationId xmlns:a16="http://schemas.microsoft.com/office/drawing/2014/main" id="{C0F03E72-8F8D-4255-B94F-7493AA508BA4}"/>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11" name="Google Shape;311;p17">
            <a:extLst xmlns:a="http://schemas.openxmlformats.org/drawingml/2006/main">
              <a:ext uri="{FF2B5EF4-FFF2-40B4-BE49-F238E27FC236}">
                <a16:creationId xmlns:a16="http://schemas.microsoft.com/office/drawing/2014/main" id="{7CAA36AF-F3E0-4B0D-8AA2-037BA1A0867E}"/>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Journal quality checkpoint</a:t>
            </a:r>
          </a:p>
        </p:txBody>
      </p:sp>
      <p:cxnSp>
        <p:nvCxnSpPr>
          <p:cNvPr id="329" name="Google Shape;312;p17"/>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13" name="Google Shape;313;p17">
            <a:extLst xmlns:a="http://schemas.openxmlformats.org/drawingml/2006/main">
              <a:ext uri="{FF2B5EF4-FFF2-40B4-BE49-F238E27FC236}">
                <a16:creationId xmlns:a16="http://schemas.microsoft.com/office/drawing/2014/main" id="{7E008656-2E47-456E-954E-07FE38623220}"/>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A strong journal can answer these questions quickly.</a:t>
            </a:r>
          </a:p>
        </p:txBody>
      </p:sp>
      <p:sp>
        <p:nvSpPr>
          <p:cNvPr id="314" name="Google Shape;314;p17">
            <a:extLst xmlns:a="http://schemas.openxmlformats.org/drawingml/2006/main">
              <a:ext uri="{FF2B5EF4-FFF2-40B4-BE49-F238E27FC236}">
                <a16:creationId xmlns:a16="http://schemas.microsoft.com/office/drawing/2014/main" id="{FB31D56B-B0A5-4351-A8FF-67F1491CE63C}"/>
              </a:ext>
            </a:extLst>
          </p:cNvPr>
          <p:cNvSpPr>
            <a:spLocks xmlns:a="http://schemas.openxmlformats.org/drawingml/2006/main" noGrp="1"/>
          </p:cNvSpPr>
          <p:nvPr/>
        </p:nvSpPr>
        <p:spPr>
          <a:xfrm xmlns:a="http://schemas.openxmlformats.org/drawingml/2006/main">
            <a:off x="777240" y="196596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15" name="Google Shape;315;p17">
            <a:extLst xmlns:a="http://schemas.openxmlformats.org/drawingml/2006/main">
              <a:ext uri="{FF2B5EF4-FFF2-40B4-BE49-F238E27FC236}">
                <a16:creationId xmlns:a16="http://schemas.microsoft.com/office/drawing/2014/main" id="{DB6CDD1F-6426-4822-92CB-45A0877412B6}"/>
              </a:ext>
            </a:extLst>
          </p:cNvPr>
          <p:cNvSpPr>
            <a:spLocks xmlns:a="http://schemas.openxmlformats.org/drawingml/2006/main" noGrp="1"/>
          </p:cNvSpPr>
          <p:nvPr/>
        </p:nvSpPr>
        <p:spPr>
          <a:xfrm xmlns:a="http://schemas.openxmlformats.org/drawingml/2006/main">
            <a:off x="1088136" y="194767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did you do this week?</a:t>
            </a:r>
          </a:p>
        </p:txBody>
      </p:sp>
      <p:sp>
        <p:nvSpPr>
          <p:cNvPr id="316" name="Google Shape;316;p17">
            <a:extLst xmlns:a="http://schemas.openxmlformats.org/drawingml/2006/main">
              <a:ext uri="{FF2B5EF4-FFF2-40B4-BE49-F238E27FC236}">
                <a16:creationId xmlns:a16="http://schemas.microsoft.com/office/drawing/2014/main" id="{4EF5AFD3-184D-4D9F-ADD1-8A51F11862F9}"/>
              </a:ext>
            </a:extLst>
          </p:cNvPr>
          <p:cNvSpPr>
            <a:spLocks xmlns:a="http://schemas.openxmlformats.org/drawingml/2006/main" noGrp="1"/>
          </p:cNvSpPr>
          <p:nvPr/>
        </p:nvSpPr>
        <p:spPr>
          <a:xfrm xmlns:a="http://schemas.openxmlformats.org/drawingml/2006/main">
            <a:off x="777240" y="258775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17" name="Google Shape;317;p17">
            <a:extLst xmlns:a="http://schemas.openxmlformats.org/drawingml/2006/main">
              <a:ext uri="{FF2B5EF4-FFF2-40B4-BE49-F238E27FC236}">
                <a16:creationId xmlns:a16="http://schemas.microsoft.com/office/drawing/2014/main" id="{FC524255-DA7B-4452-950C-658B77A6D4D3}"/>
              </a:ext>
            </a:extLst>
          </p:cNvPr>
          <p:cNvSpPr>
            <a:spLocks xmlns:a="http://schemas.openxmlformats.org/drawingml/2006/main" noGrp="1"/>
          </p:cNvSpPr>
          <p:nvPr/>
        </p:nvSpPr>
        <p:spPr>
          <a:xfrm xmlns:a="http://schemas.openxmlformats.org/drawingml/2006/main">
            <a:off x="1088136" y="256946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Where are your raw data?</a:t>
            </a:r>
          </a:p>
        </p:txBody>
      </p:sp>
      <p:sp>
        <p:nvSpPr>
          <p:cNvPr id="318" name="Google Shape;318;p17">
            <a:extLst xmlns:a="http://schemas.openxmlformats.org/drawingml/2006/main">
              <a:ext uri="{FF2B5EF4-FFF2-40B4-BE49-F238E27FC236}">
                <a16:creationId xmlns:a16="http://schemas.microsoft.com/office/drawing/2014/main" id="{1A3D2971-B3AE-4A3F-84DC-8BE6A1EBE6CE}"/>
              </a:ext>
            </a:extLst>
          </p:cNvPr>
          <p:cNvSpPr>
            <a:spLocks xmlns:a="http://schemas.openxmlformats.org/drawingml/2006/main" noGrp="1"/>
          </p:cNvSpPr>
          <p:nvPr/>
        </p:nvSpPr>
        <p:spPr>
          <a:xfrm xmlns:a="http://schemas.openxmlformats.org/drawingml/2006/main">
            <a:off x="777240" y="320954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19" name="Google Shape;319;p17">
            <a:extLst xmlns:a="http://schemas.openxmlformats.org/drawingml/2006/main">
              <a:ext uri="{FF2B5EF4-FFF2-40B4-BE49-F238E27FC236}">
                <a16:creationId xmlns:a16="http://schemas.microsoft.com/office/drawing/2014/main" id="{7CBBB00E-07CF-4B86-BA55-815227DD59FB}"/>
              </a:ext>
            </a:extLst>
          </p:cNvPr>
          <p:cNvSpPr>
            <a:spLocks xmlns:a="http://schemas.openxmlformats.org/drawingml/2006/main" noGrp="1"/>
          </p:cNvSpPr>
          <p:nvPr/>
        </p:nvSpPr>
        <p:spPr>
          <a:xfrm xmlns:a="http://schemas.openxmlformats.org/drawingml/2006/main">
            <a:off x="1088136" y="3191256"/>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changed from your original plan?</a:t>
            </a:r>
          </a:p>
        </p:txBody>
      </p:sp>
      <p:sp>
        <p:nvSpPr>
          <p:cNvPr id="320" name="Google Shape;320;p17">
            <a:extLst xmlns:a="http://schemas.openxmlformats.org/drawingml/2006/main">
              <a:ext uri="{FF2B5EF4-FFF2-40B4-BE49-F238E27FC236}">
                <a16:creationId xmlns:a16="http://schemas.microsoft.com/office/drawing/2014/main" id="{FFC65F97-EA26-4E67-B3BD-286BB853E0F5}"/>
              </a:ext>
            </a:extLst>
          </p:cNvPr>
          <p:cNvSpPr>
            <a:spLocks xmlns:a="http://schemas.openxmlformats.org/drawingml/2006/main" noGrp="1"/>
          </p:cNvSpPr>
          <p:nvPr/>
        </p:nvSpPr>
        <p:spPr>
          <a:xfrm xmlns:a="http://schemas.openxmlformats.org/drawingml/2006/main">
            <a:off x="777240" y="383133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21" name="Google Shape;321;p17">
            <a:extLst xmlns:a="http://schemas.openxmlformats.org/drawingml/2006/main">
              <a:ext uri="{FF2B5EF4-FFF2-40B4-BE49-F238E27FC236}">
                <a16:creationId xmlns:a16="http://schemas.microsoft.com/office/drawing/2014/main" id="{9AEE845E-79DD-441C-9535-D138D140B5FE}"/>
              </a:ext>
            </a:extLst>
          </p:cNvPr>
          <p:cNvSpPr>
            <a:spLocks xmlns:a="http://schemas.openxmlformats.org/drawingml/2006/main" noGrp="1"/>
          </p:cNvSpPr>
          <p:nvPr/>
        </p:nvSpPr>
        <p:spPr>
          <a:xfrm xmlns:a="http://schemas.openxmlformats.org/drawingml/2006/main">
            <a:off x="1088136" y="381304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problem are you working on now?</a:t>
            </a:r>
          </a:p>
        </p:txBody>
      </p:sp>
      <p:sp>
        <p:nvSpPr>
          <p:cNvPr id="322" name="Google Shape;322;p17">
            <a:extLst xmlns:a="http://schemas.openxmlformats.org/drawingml/2006/main">
              <a:ext uri="{FF2B5EF4-FFF2-40B4-BE49-F238E27FC236}">
                <a16:creationId xmlns:a16="http://schemas.microsoft.com/office/drawing/2014/main" id="{C8D505C3-8E1C-4D11-9F12-C85FFC3761BB}"/>
              </a:ext>
            </a:extLst>
          </p:cNvPr>
          <p:cNvSpPr>
            <a:spLocks xmlns:a="http://schemas.openxmlformats.org/drawingml/2006/main" noGrp="1"/>
          </p:cNvSpPr>
          <p:nvPr/>
        </p:nvSpPr>
        <p:spPr>
          <a:xfrm xmlns:a="http://schemas.openxmlformats.org/drawingml/2006/main">
            <a:off x="777240" y="445312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323" name="Google Shape;323;p17">
            <a:extLst xmlns:a="http://schemas.openxmlformats.org/drawingml/2006/main">
              <a:ext uri="{FF2B5EF4-FFF2-40B4-BE49-F238E27FC236}">
                <a16:creationId xmlns:a16="http://schemas.microsoft.com/office/drawing/2014/main" id="{10AD480A-7B5C-4D25-8B6D-FF3D3884A347}"/>
              </a:ext>
            </a:extLst>
          </p:cNvPr>
          <p:cNvSpPr>
            <a:spLocks xmlns:a="http://schemas.openxmlformats.org/drawingml/2006/main" noGrp="1"/>
          </p:cNvSpPr>
          <p:nvPr/>
        </p:nvSpPr>
        <p:spPr>
          <a:xfrm xmlns:a="http://schemas.openxmlformats.org/drawingml/2006/main">
            <a:off x="1088136" y="443484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What is your next specific step?</a:t>
            </a:r>
          </a:p>
        </p:txBody>
      </p:sp>
    </p:spTree>
    <p:extLst>
      <p:ext uri="{BB962C8B-B14F-4D97-AF65-F5344CB8AC3E}">
        <p14:creationId xmlns:p14="http://schemas.microsoft.com/office/powerpoint/2010/main" val="460471150"/>
      </p:ext>
    </p:extLst>
  </p:cSld>
</p:sld>
</file>

<file path=ppt/slides/slide1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29" name="Google Shape;329;p18">
            <a:extLst xmlns:a="http://schemas.openxmlformats.org/drawingml/2006/main">
              <a:ext uri="{FF2B5EF4-FFF2-40B4-BE49-F238E27FC236}">
                <a16:creationId xmlns:a16="http://schemas.microsoft.com/office/drawing/2014/main" id="{1E6044F7-F299-4C14-BE12-B088CA133CB0}"/>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30" name="Google Shape;330;p18">
            <a:extLst xmlns:a="http://schemas.openxmlformats.org/drawingml/2006/main">
              <a:ext uri="{FF2B5EF4-FFF2-40B4-BE49-F238E27FC236}">
                <a16:creationId xmlns:a16="http://schemas.microsoft.com/office/drawing/2014/main" id="{818EBAE0-F405-4FC5-86E5-09F2BFCBAA69}"/>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31" name="Google Shape;331;p18">
            <a:extLst xmlns:a="http://schemas.openxmlformats.org/drawingml/2006/main">
              <a:ext uri="{FF2B5EF4-FFF2-40B4-BE49-F238E27FC236}">
                <a16:creationId xmlns:a16="http://schemas.microsoft.com/office/drawing/2014/main" id="{B38783FE-1C32-45DE-9097-F8899990DC8F}"/>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32" name="Google Shape;332;p18">
            <a:extLst xmlns:a="http://schemas.openxmlformats.org/drawingml/2006/main">
              <a:ext uri="{FF2B5EF4-FFF2-40B4-BE49-F238E27FC236}">
                <a16:creationId xmlns:a16="http://schemas.microsoft.com/office/drawing/2014/main" id="{A1B1E066-1A80-4ED4-B453-422CAB5F382B}"/>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33" name="Google Shape;333;p18">
            <a:extLst xmlns:a="http://schemas.openxmlformats.org/drawingml/2006/main">
              <a:ext uri="{FF2B5EF4-FFF2-40B4-BE49-F238E27FC236}">
                <a16:creationId xmlns:a16="http://schemas.microsoft.com/office/drawing/2014/main" id="{834171B9-20AD-4243-85E2-AC746C8CC626}"/>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Activity: Write a live entry</a:t>
            </a:r>
          </a:p>
        </p:txBody>
      </p:sp>
      <p:cxnSp>
        <p:nvCxnSpPr>
          <p:cNvPr id="353" name="Google Shape;334;p18"/>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35" name="Google Shape;335;p18">
            <a:extLst xmlns:a="http://schemas.openxmlformats.org/drawingml/2006/main">
              <a:ext uri="{FF2B5EF4-FFF2-40B4-BE49-F238E27FC236}">
                <a16:creationId xmlns:a16="http://schemas.microsoft.com/office/drawing/2014/main" id="{892674F9-120A-46C8-91B5-6FDF98BA985E}"/>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Practice documenting a work session before the stakes are high.</a:t>
            </a:r>
          </a:p>
        </p:txBody>
      </p:sp>
      <p:sp>
        <p:nvSpPr>
          <p:cNvPr id="336" name="Google Shape;336;p18">
            <a:extLst xmlns:a="http://schemas.openxmlformats.org/drawingml/2006/main">
              <a:ext uri="{FF2B5EF4-FFF2-40B4-BE49-F238E27FC236}">
                <a16:creationId xmlns:a16="http://schemas.microsoft.com/office/drawing/2014/main" id="{7C6E4387-1226-461B-A69F-F27D5F95341B}"/>
              </a:ext>
            </a:extLst>
          </p:cNvPr>
          <p:cNvSpPr>
            <a:spLocks xmlns:a="http://schemas.openxmlformats.org/drawingml/2006/main" noGrp="1"/>
          </p:cNvSpPr>
          <p:nvPr/>
        </p:nvSpPr>
        <p:spPr>
          <a:xfrm xmlns:a="http://schemas.openxmlformats.org/drawingml/2006/main">
            <a:off x="566928" y="1627632"/>
            <a:ext cx="2057400" cy="274320"/>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37" name="Google Shape;337;p18">
            <a:extLst xmlns:a="http://schemas.openxmlformats.org/drawingml/2006/main">
              <a:ext uri="{FF2B5EF4-FFF2-40B4-BE49-F238E27FC236}">
                <a16:creationId xmlns:a16="http://schemas.microsoft.com/office/drawing/2014/main" id="{6CDEF812-1991-4E68-8B82-079989E5CAD7}"/>
              </a:ext>
            </a:extLst>
          </p:cNvPr>
          <p:cNvSpPr>
            <a:spLocks xmlns:a="http://schemas.openxmlformats.org/drawingml/2006/main" noGrp="1"/>
          </p:cNvSpPr>
          <p:nvPr/>
        </p:nvSpPr>
        <p:spPr>
          <a:xfrm xmlns:a="http://schemas.openxmlformats.org/drawingml/2006/main">
            <a:off x="694944" y="1691640"/>
            <a:ext cx="178308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800"/>
              <a:buFont typeface="Arial"/>
              <a:buNone/>
            </a:pPr>
            <a:r>
              <a:rPr sz="800" b="1" i="0" u="none" cap="none">
                <a:solidFill>
                  <a:srgbClr val="FFFFFF"/>
                </a:solidFill>
                <a:latin typeface="Arial"/>
                <a:ea typeface="Arial"/>
                <a:cs typeface="Arial"/>
              </a:rPr>
              <a:t>STUDENT ACTIVITY</a:t>
            </a:r>
          </a:p>
        </p:txBody>
      </p:sp>
      <p:sp>
        <p:nvSpPr>
          <p:cNvPr id="338" name="Google Shape;338;p18">
            <a:extLst xmlns:a="http://schemas.openxmlformats.org/drawingml/2006/main">
              <a:ext uri="{FF2B5EF4-FFF2-40B4-BE49-F238E27FC236}">
                <a16:creationId xmlns:a16="http://schemas.microsoft.com/office/drawing/2014/main" id="{03B45D23-A57B-4053-AF80-D1696BEE2756}"/>
              </a:ext>
            </a:extLst>
          </p:cNvPr>
          <p:cNvSpPr>
            <a:spLocks xmlns:a="http://schemas.openxmlformats.org/drawingml/2006/main" noGrp="1"/>
          </p:cNvSpPr>
          <p:nvPr/>
        </p:nvSpPr>
        <p:spPr>
          <a:xfrm xmlns:a="http://schemas.openxmlformats.org/drawingml/2006/main">
            <a:off x="777240" y="224028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39" name="Google Shape;339;p18">
            <a:extLst xmlns:a="http://schemas.openxmlformats.org/drawingml/2006/main">
              <a:ext uri="{FF2B5EF4-FFF2-40B4-BE49-F238E27FC236}">
                <a16:creationId xmlns:a16="http://schemas.microsoft.com/office/drawing/2014/main" id="{6C74A821-2F59-40DC-A98A-9BB814B3FFD9}"/>
              </a:ext>
            </a:extLst>
          </p:cNvPr>
          <p:cNvSpPr>
            <a:spLocks xmlns:a="http://schemas.openxmlformats.org/drawingml/2006/main" noGrp="1"/>
          </p:cNvSpPr>
          <p:nvPr/>
        </p:nvSpPr>
        <p:spPr>
          <a:xfrm xmlns:a="http://schemas.openxmlformats.org/drawingml/2006/main">
            <a:off x="1088136" y="2221992"/>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Open your STARLAB journal system.</a:t>
            </a:r>
          </a:p>
        </p:txBody>
      </p:sp>
      <p:sp>
        <p:nvSpPr>
          <p:cNvPr id="340" name="Google Shape;340;p18">
            <a:extLst xmlns:a="http://schemas.openxmlformats.org/drawingml/2006/main">
              <a:ext uri="{FF2B5EF4-FFF2-40B4-BE49-F238E27FC236}">
                <a16:creationId xmlns:a16="http://schemas.microsoft.com/office/drawing/2014/main" id="{BB530751-9599-4A61-A4B6-D1730D0A281C}"/>
              </a:ext>
            </a:extLst>
          </p:cNvPr>
          <p:cNvSpPr>
            <a:spLocks xmlns:a="http://schemas.openxmlformats.org/drawingml/2006/main" noGrp="1"/>
          </p:cNvSpPr>
          <p:nvPr/>
        </p:nvSpPr>
        <p:spPr>
          <a:xfrm xmlns:a="http://schemas.openxmlformats.org/drawingml/2006/main">
            <a:off x="777240" y="277063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1" name="Google Shape;341;p18">
            <a:extLst xmlns:a="http://schemas.openxmlformats.org/drawingml/2006/main">
              <a:ext uri="{FF2B5EF4-FFF2-40B4-BE49-F238E27FC236}">
                <a16:creationId xmlns:a16="http://schemas.microsoft.com/office/drawing/2014/main" id="{DCB5DABB-4FC1-4E9F-AD50-30A06607B15C}"/>
              </a:ext>
            </a:extLst>
          </p:cNvPr>
          <p:cNvSpPr>
            <a:spLocks xmlns:a="http://schemas.openxmlformats.org/drawingml/2006/main" noGrp="1"/>
          </p:cNvSpPr>
          <p:nvPr/>
        </p:nvSpPr>
        <p:spPr>
          <a:xfrm xmlns:a="http://schemas.openxmlformats.org/drawingml/2006/main">
            <a:off x="1088136" y="2752344"/>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Create today’s entry using the required structure.</a:t>
            </a:r>
          </a:p>
        </p:txBody>
      </p:sp>
      <p:sp>
        <p:nvSpPr>
          <p:cNvPr id="342" name="Google Shape;342;p18">
            <a:extLst xmlns:a="http://schemas.openxmlformats.org/drawingml/2006/main">
              <a:ext uri="{FF2B5EF4-FFF2-40B4-BE49-F238E27FC236}">
                <a16:creationId xmlns:a16="http://schemas.microsoft.com/office/drawing/2014/main" id="{8CB25975-A136-47F4-B5A9-26594C91DAA1}"/>
              </a:ext>
            </a:extLst>
          </p:cNvPr>
          <p:cNvSpPr>
            <a:spLocks xmlns:a="http://schemas.openxmlformats.org/drawingml/2006/main" noGrp="1"/>
          </p:cNvSpPr>
          <p:nvPr/>
        </p:nvSpPr>
        <p:spPr>
          <a:xfrm xmlns:a="http://schemas.openxmlformats.org/drawingml/2006/main">
            <a:off x="777240" y="3300984"/>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3" name="Google Shape;343;p18">
            <a:extLst xmlns:a="http://schemas.openxmlformats.org/drawingml/2006/main">
              <a:ext uri="{FF2B5EF4-FFF2-40B4-BE49-F238E27FC236}">
                <a16:creationId xmlns:a16="http://schemas.microsoft.com/office/drawing/2014/main" id="{67DF5AAA-EC58-487F-A309-0D473007D387}"/>
              </a:ext>
            </a:extLst>
          </p:cNvPr>
          <p:cNvSpPr>
            <a:spLocks xmlns:a="http://schemas.openxmlformats.org/drawingml/2006/main" noGrp="1"/>
          </p:cNvSpPr>
          <p:nvPr/>
        </p:nvSpPr>
        <p:spPr>
          <a:xfrm xmlns:a="http://schemas.openxmlformats.org/drawingml/2006/main">
            <a:off x="1088136" y="3282696"/>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Write a realistic goal for your next project work session.</a:t>
            </a:r>
          </a:p>
        </p:txBody>
      </p:sp>
      <p:sp>
        <p:nvSpPr>
          <p:cNvPr id="344" name="Google Shape;344;p18">
            <a:extLst xmlns:a="http://schemas.openxmlformats.org/drawingml/2006/main">
              <a:ext uri="{FF2B5EF4-FFF2-40B4-BE49-F238E27FC236}">
                <a16:creationId xmlns:a16="http://schemas.microsoft.com/office/drawing/2014/main" id="{9CAFED4D-246A-4F37-A230-6C20C40882F1}"/>
              </a:ext>
            </a:extLst>
          </p:cNvPr>
          <p:cNvSpPr>
            <a:spLocks xmlns:a="http://schemas.openxmlformats.org/drawingml/2006/main" noGrp="1"/>
          </p:cNvSpPr>
          <p:nvPr/>
        </p:nvSpPr>
        <p:spPr>
          <a:xfrm xmlns:a="http://schemas.openxmlformats.org/drawingml/2006/main">
            <a:off x="777240" y="383133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5" name="Google Shape;345;p18">
            <a:extLst xmlns:a="http://schemas.openxmlformats.org/drawingml/2006/main">
              <a:ext uri="{FF2B5EF4-FFF2-40B4-BE49-F238E27FC236}">
                <a16:creationId xmlns:a16="http://schemas.microsoft.com/office/drawing/2014/main" id="{0127AEDE-0DAD-4CFB-893A-71B7C376A2C6}"/>
              </a:ext>
            </a:extLst>
          </p:cNvPr>
          <p:cNvSpPr>
            <a:spLocks xmlns:a="http://schemas.openxmlformats.org/drawingml/2006/main" noGrp="1"/>
          </p:cNvSpPr>
          <p:nvPr/>
        </p:nvSpPr>
        <p:spPr>
          <a:xfrm xmlns:a="http://schemas.openxmlformats.org/drawingml/2006/main">
            <a:off x="1088136" y="3813048"/>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Add a placeholder for data, observations, and next steps.</a:t>
            </a:r>
          </a:p>
        </p:txBody>
      </p:sp>
      <p:sp>
        <p:nvSpPr>
          <p:cNvPr id="346" name="Google Shape;346;p18">
            <a:extLst xmlns:a="http://schemas.openxmlformats.org/drawingml/2006/main">
              <a:ext uri="{FF2B5EF4-FFF2-40B4-BE49-F238E27FC236}">
                <a16:creationId xmlns:a16="http://schemas.microsoft.com/office/drawing/2014/main" id="{22E78726-D1CA-42F0-B9F6-B17F1BDB79B0}"/>
              </a:ext>
            </a:extLst>
          </p:cNvPr>
          <p:cNvSpPr>
            <a:spLocks xmlns:a="http://schemas.openxmlformats.org/drawingml/2006/main" noGrp="1"/>
          </p:cNvSpPr>
          <p:nvPr/>
        </p:nvSpPr>
        <p:spPr>
          <a:xfrm xmlns:a="http://schemas.openxmlformats.org/drawingml/2006/main">
            <a:off x="777240" y="436168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47" name="Google Shape;347;p18">
            <a:extLst xmlns:a="http://schemas.openxmlformats.org/drawingml/2006/main">
              <a:ext uri="{FF2B5EF4-FFF2-40B4-BE49-F238E27FC236}">
                <a16:creationId xmlns:a16="http://schemas.microsoft.com/office/drawing/2014/main" id="{0CD3780A-0CFA-4CB4-8351-BACDBE78B86B}"/>
              </a:ext>
            </a:extLst>
          </p:cNvPr>
          <p:cNvSpPr>
            <a:spLocks xmlns:a="http://schemas.openxmlformats.org/drawingml/2006/main" noGrp="1"/>
          </p:cNvSpPr>
          <p:nvPr/>
        </p:nvSpPr>
        <p:spPr>
          <a:xfrm xmlns:a="http://schemas.openxmlformats.org/drawingml/2006/main">
            <a:off x="1088136" y="4343400"/>
            <a:ext cx="100584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Share your journal location with your teacher.</a:t>
            </a:r>
          </a:p>
        </p:txBody>
      </p:sp>
    </p:spTree>
    <p:extLst>
      <p:ext uri="{BB962C8B-B14F-4D97-AF65-F5344CB8AC3E}">
        <p14:creationId xmlns:p14="http://schemas.microsoft.com/office/powerpoint/2010/main" val="245142272"/>
      </p:ext>
    </p:extLst>
  </p:cSld>
</p:sld>
</file>

<file path=ppt/slides/slide16.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53" name="Google Shape;353;p19">
            <a:extLst xmlns:a="http://schemas.openxmlformats.org/drawingml/2006/main">
              <a:ext uri="{FF2B5EF4-FFF2-40B4-BE49-F238E27FC236}">
                <a16:creationId xmlns:a16="http://schemas.microsoft.com/office/drawing/2014/main" id="{692DBE6C-899A-40A1-A37B-B03DCA8EA2C7}"/>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54" name="Google Shape;354;p19">
            <a:extLst xmlns:a="http://schemas.openxmlformats.org/drawingml/2006/main">
              <a:ext uri="{FF2B5EF4-FFF2-40B4-BE49-F238E27FC236}">
                <a16:creationId xmlns:a16="http://schemas.microsoft.com/office/drawing/2014/main" id="{F14A2949-3463-4C64-809C-4185A4F53762}"/>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55" name="Google Shape;355;p19">
            <a:extLst xmlns:a="http://schemas.openxmlformats.org/drawingml/2006/main">
              <a:ext uri="{FF2B5EF4-FFF2-40B4-BE49-F238E27FC236}">
                <a16:creationId xmlns:a16="http://schemas.microsoft.com/office/drawing/2014/main" id="{CD7180D9-B667-49E4-9B52-E266848230E2}"/>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56" name="Google Shape;356;p19">
            <a:extLst xmlns:a="http://schemas.openxmlformats.org/drawingml/2006/main">
              <a:ext uri="{FF2B5EF4-FFF2-40B4-BE49-F238E27FC236}">
                <a16:creationId xmlns:a16="http://schemas.microsoft.com/office/drawing/2014/main" id="{FECB6C9C-D643-417C-B05F-C8AF3ACE29AA}"/>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57" name="Google Shape;357;p19">
            <a:extLst xmlns:a="http://schemas.openxmlformats.org/drawingml/2006/main">
              <a:ext uri="{FF2B5EF4-FFF2-40B4-BE49-F238E27FC236}">
                <a16:creationId xmlns:a16="http://schemas.microsoft.com/office/drawing/2014/main" id="{CE359AB0-6A51-4746-9343-F206E1318735}"/>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What “good enough” looks like this week</a:t>
            </a:r>
          </a:p>
        </p:txBody>
      </p:sp>
      <p:cxnSp>
        <p:nvCxnSpPr>
          <p:cNvPr id="378" name="Google Shape;358;p19"/>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59" name="Google Shape;359;p19">
            <a:extLst xmlns:a="http://schemas.openxmlformats.org/drawingml/2006/main">
              <a:ext uri="{FF2B5EF4-FFF2-40B4-BE49-F238E27FC236}">
                <a16:creationId xmlns:a16="http://schemas.microsoft.com/office/drawing/2014/main" id="{FF69131C-B188-4416-8564-62D3B969D8B9}"/>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Do not wait until the project is perfect to start documenting.</a:t>
            </a:r>
          </a:p>
        </p:txBody>
      </p:sp>
      <p:sp>
        <p:nvSpPr>
          <p:cNvPr id="360" name="Google Shape;360;p19">
            <a:extLst xmlns:a="http://schemas.openxmlformats.org/drawingml/2006/main">
              <a:ext uri="{FF2B5EF4-FFF2-40B4-BE49-F238E27FC236}">
                <a16:creationId xmlns:a16="http://schemas.microsoft.com/office/drawing/2014/main" id="{7D1141BA-E948-4381-B270-517E54465847}"/>
              </a:ext>
            </a:extLst>
          </p:cNvPr>
          <p:cNvSpPr>
            <a:spLocks xmlns:a="http://schemas.openxmlformats.org/drawingml/2006/main" noGrp="1"/>
          </p:cNvSpPr>
          <p:nvPr/>
        </p:nvSpPr>
        <p:spPr>
          <a:xfrm xmlns:a="http://schemas.openxmlformats.org/drawingml/2006/main">
            <a:off x="1097280" y="2057400"/>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1" name="Google Shape;361;p19">
            <a:extLst xmlns:a="http://schemas.openxmlformats.org/drawingml/2006/main">
              <a:ext uri="{FF2B5EF4-FFF2-40B4-BE49-F238E27FC236}">
                <a16:creationId xmlns:a16="http://schemas.microsoft.com/office/drawing/2014/main" id="{2492FA05-98C0-4C1F-BF0C-980921AB9D1D}"/>
              </a:ext>
            </a:extLst>
          </p:cNvPr>
          <p:cNvSpPr>
            <a:spLocks xmlns:a="http://schemas.openxmlformats.org/drawingml/2006/main" noGrp="1"/>
          </p:cNvSpPr>
          <p:nvPr/>
        </p:nvSpPr>
        <p:spPr>
          <a:xfrm xmlns:a="http://schemas.openxmlformats.org/drawingml/2006/main">
            <a:off x="1481328" y="2084832"/>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Journal system created</a:t>
            </a:r>
          </a:p>
        </p:txBody>
      </p:sp>
      <p:sp>
        <p:nvSpPr>
          <p:cNvPr id="362" name="Google Shape;362;p19">
            <a:extLst xmlns:a="http://schemas.openxmlformats.org/drawingml/2006/main">
              <a:ext uri="{FF2B5EF4-FFF2-40B4-BE49-F238E27FC236}">
                <a16:creationId xmlns:a16="http://schemas.microsoft.com/office/drawing/2014/main" id="{01886D58-8BCB-44AE-B608-BFA1937F3F5E}"/>
              </a:ext>
            </a:extLst>
          </p:cNvPr>
          <p:cNvSpPr>
            <a:spLocks xmlns:a="http://schemas.openxmlformats.org/drawingml/2006/main" noGrp="1"/>
          </p:cNvSpPr>
          <p:nvPr/>
        </p:nvSpPr>
        <p:spPr>
          <a:xfrm xmlns:a="http://schemas.openxmlformats.org/drawingml/2006/main">
            <a:off x="1097280" y="2624328"/>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3" name="Google Shape;363;p19">
            <a:extLst xmlns:a="http://schemas.openxmlformats.org/drawingml/2006/main">
              <a:ext uri="{FF2B5EF4-FFF2-40B4-BE49-F238E27FC236}">
                <a16:creationId xmlns:a16="http://schemas.microsoft.com/office/drawing/2014/main" id="{443242C4-B8EE-42F2-A6A0-3189BE7F9EE3}"/>
              </a:ext>
            </a:extLst>
          </p:cNvPr>
          <p:cNvSpPr>
            <a:spLocks xmlns:a="http://schemas.openxmlformats.org/drawingml/2006/main" noGrp="1"/>
          </p:cNvSpPr>
          <p:nvPr/>
        </p:nvSpPr>
        <p:spPr>
          <a:xfrm xmlns:a="http://schemas.openxmlformats.org/drawingml/2006/main">
            <a:off x="1481328" y="2651760"/>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Teacher access confirmed</a:t>
            </a:r>
          </a:p>
        </p:txBody>
      </p:sp>
      <p:sp>
        <p:nvSpPr>
          <p:cNvPr id="364" name="Google Shape;364;p19">
            <a:extLst xmlns:a="http://schemas.openxmlformats.org/drawingml/2006/main">
              <a:ext uri="{FF2B5EF4-FFF2-40B4-BE49-F238E27FC236}">
                <a16:creationId xmlns:a16="http://schemas.microsoft.com/office/drawing/2014/main" id="{43535D24-D2B9-4EAF-98FC-820230758C4D}"/>
              </a:ext>
            </a:extLst>
          </p:cNvPr>
          <p:cNvSpPr>
            <a:spLocks xmlns:a="http://schemas.openxmlformats.org/drawingml/2006/main" noGrp="1"/>
          </p:cNvSpPr>
          <p:nvPr/>
        </p:nvSpPr>
        <p:spPr>
          <a:xfrm xmlns:a="http://schemas.openxmlformats.org/drawingml/2006/main">
            <a:off x="1097280" y="3191256"/>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5" name="Google Shape;365;p19">
            <a:extLst xmlns:a="http://schemas.openxmlformats.org/drawingml/2006/main">
              <a:ext uri="{FF2B5EF4-FFF2-40B4-BE49-F238E27FC236}">
                <a16:creationId xmlns:a16="http://schemas.microsoft.com/office/drawing/2014/main" id="{4561937A-95DC-4AA0-BF9D-5E3FD1807AEA}"/>
              </a:ext>
            </a:extLst>
          </p:cNvPr>
          <p:cNvSpPr>
            <a:spLocks xmlns:a="http://schemas.openxmlformats.org/drawingml/2006/main" noGrp="1"/>
          </p:cNvSpPr>
          <p:nvPr/>
        </p:nvSpPr>
        <p:spPr>
          <a:xfrm xmlns:a="http://schemas.openxmlformats.org/drawingml/2006/main">
            <a:off x="1481328" y="3218688"/>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First entry completed</a:t>
            </a:r>
          </a:p>
        </p:txBody>
      </p:sp>
      <p:sp>
        <p:nvSpPr>
          <p:cNvPr id="366" name="Google Shape;366;p19">
            <a:extLst xmlns:a="http://schemas.openxmlformats.org/drawingml/2006/main">
              <a:ext uri="{FF2B5EF4-FFF2-40B4-BE49-F238E27FC236}">
                <a16:creationId xmlns:a16="http://schemas.microsoft.com/office/drawing/2014/main" id="{A1A826B3-504C-449E-874C-5994C685792A}"/>
              </a:ext>
            </a:extLst>
          </p:cNvPr>
          <p:cNvSpPr>
            <a:spLocks xmlns:a="http://schemas.openxmlformats.org/drawingml/2006/main" noGrp="1"/>
          </p:cNvSpPr>
          <p:nvPr/>
        </p:nvSpPr>
        <p:spPr>
          <a:xfrm xmlns:a="http://schemas.openxmlformats.org/drawingml/2006/main">
            <a:off x="1097280" y="3758184"/>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7" name="Google Shape;367;p19">
            <a:extLst xmlns:a="http://schemas.openxmlformats.org/drawingml/2006/main">
              <a:ext uri="{FF2B5EF4-FFF2-40B4-BE49-F238E27FC236}">
                <a16:creationId xmlns:a16="http://schemas.microsoft.com/office/drawing/2014/main" id="{0D880E28-73FD-42B3-B396-FCDBC2B19F0E}"/>
              </a:ext>
            </a:extLst>
          </p:cNvPr>
          <p:cNvSpPr>
            <a:spLocks xmlns:a="http://schemas.openxmlformats.org/drawingml/2006/main" noGrp="1"/>
          </p:cNvSpPr>
          <p:nvPr/>
        </p:nvSpPr>
        <p:spPr>
          <a:xfrm xmlns:a="http://schemas.openxmlformats.org/drawingml/2006/main">
            <a:off x="1481328" y="3785616"/>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Data location identified</a:t>
            </a:r>
          </a:p>
        </p:txBody>
      </p:sp>
      <p:sp>
        <p:nvSpPr>
          <p:cNvPr id="368" name="Google Shape;368;p19">
            <a:extLst xmlns:a="http://schemas.openxmlformats.org/drawingml/2006/main">
              <a:ext uri="{FF2B5EF4-FFF2-40B4-BE49-F238E27FC236}">
                <a16:creationId xmlns:a16="http://schemas.microsoft.com/office/drawing/2014/main" id="{E7E25853-2D77-4021-AE6D-2C9C89D84A1F}"/>
              </a:ext>
            </a:extLst>
          </p:cNvPr>
          <p:cNvSpPr>
            <a:spLocks xmlns:a="http://schemas.openxmlformats.org/drawingml/2006/main" noGrp="1"/>
          </p:cNvSpPr>
          <p:nvPr/>
        </p:nvSpPr>
        <p:spPr>
          <a:xfrm xmlns:a="http://schemas.openxmlformats.org/drawingml/2006/main">
            <a:off x="1097280" y="4325112"/>
            <a:ext cx="256032"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300"/>
              <a:buFont typeface="Arial"/>
              <a:buNone/>
            </a:pPr>
            <a:r>
              <a:rPr sz="1300" b="1" i="0" u="none" cap="none">
                <a:solidFill>
                  <a:srgbClr val="FF1E1E"/>
                </a:solidFill>
                <a:latin typeface="Arial"/>
                <a:ea typeface="Arial"/>
                <a:cs typeface="Arial"/>
              </a:rPr>
              <a:t>✓</a:t>
            </a:r>
          </a:p>
        </p:txBody>
      </p:sp>
      <p:sp>
        <p:nvSpPr>
          <p:cNvPr id="369" name="Google Shape;369;p19">
            <a:extLst xmlns:a="http://schemas.openxmlformats.org/drawingml/2006/main">
              <a:ext uri="{FF2B5EF4-FFF2-40B4-BE49-F238E27FC236}">
                <a16:creationId xmlns:a16="http://schemas.microsoft.com/office/drawing/2014/main" id="{539B80C7-544F-47D5-931D-B27076ADB6DC}"/>
              </a:ext>
            </a:extLst>
          </p:cNvPr>
          <p:cNvSpPr>
            <a:spLocks xmlns:a="http://schemas.openxmlformats.org/drawingml/2006/main" noGrp="1"/>
          </p:cNvSpPr>
          <p:nvPr/>
        </p:nvSpPr>
        <p:spPr>
          <a:xfrm xmlns:a="http://schemas.openxmlformats.org/drawingml/2006/main">
            <a:off x="1481328" y="4352544"/>
            <a:ext cx="5486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Next step written</a:t>
            </a:r>
          </a:p>
        </p:txBody>
      </p:sp>
      <p:sp>
        <p:nvSpPr>
          <p:cNvPr id="370" name="Google Shape;370;p19">
            <a:extLst xmlns:a="http://schemas.openxmlformats.org/drawingml/2006/main">
              <a:ext uri="{FF2B5EF4-FFF2-40B4-BE49-F238E27FC236}">
                <a16:creationId xmlns:a16="http://schemas.microsoft.com/office/drawing/2014/main" id="{0C9231C0-DDDE-4311-888F-12AA4E95A2C5}"/>
              </a:ext>
            </a:extLst>
          </p:cNvPr>
          <p:cNvSpPr>
            <a:spLocks xmlns:a="http://schemas.openxmlformats.org/drawingml/2006/main" noGrp="1"/>
          </p:cNvSpPr>
          <p:nvPr/>
        </p:nvSpPr>
        <p:spPr>
          <a:xfrm xmlns:a="http://schemas.openxmlformats.org/drawingml/2006/main">
            <a:off x="7315200" y="2011680"/>
            <a:ext cx="3383280" cy="2423160"/>
          </a:xfrm>
          <a:prstGeom xmlns:a="http://schemas.openxmlformats.org/drawingml/2006/main" prst="roundRect">
            <a:avLst>
              <a:gd name="adj" fmla="val 1887"/>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71" name="Google Shape;371;p19">
            <a:extLst xmlns:a="http://schemas.openxmlformats.org/drawingml/2006/main">
              <a:ext uri="{FF2B5EF4-FFF2-40B4-BE49-F238E27FC236}">
                <a16:creationId xmlns:a16="http://schemas.microsoft.com/office/drawing/2014/main" id="{085E6402-022D-450E-AE27-A7E716D6CBFB}"/>
              </a:ext>
            </a:extLst>
          </p:cNvPr>
          <p:cNvSpPr>
            <a:spLocks xmlns:a="http://schemas.openxmlformats.org/drawingml/2006/main" noGrp="1"/>
          </p:cNvSpPr>
          <p:nvPr/>
        </p:nvSpPr>
        <p:spPr>
          <a:xfrm xmlns:a="http://schemas.openxmlformats.org/drawingml/2006/main">
            <a:off x="7635240" y="2331720"/>
            <a:ext cx="2743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2100"/>
              <a:buFont typeface="Arial"/>
              <a:buNone/>
            </a:pPr>
            <a:r>
              <a:rPr sz="2100" b="1" i="0" u="none" cap="none">
                <a:solidFill>
                  <a:srgbClr val="FF1E1E"/>
                </a:solidFill>
                <a:latin typeface="Arial"/>
                <a:ea typeface="Arial"/>
                <a:cs typeface="Arial"/>
              </a:rPr>
              <a:t>Checkpoint</a:t>
            </a:r>
          </a:p>
        </p:txBody>
      </p:sp>
      <p:sp>
        <p:nvSpPr>
          <p:cNvPr id="372" name="Google Shape;372;p19">
            <a:extLst xmlns:a="http://schemas.openxmlformats.org/drawingml/2006/main">
              <a:ext uri="{FF2B5EF4-FFF2-40B4-BE49-F238E27FC236}">
                <a16:creationId xmlns:a16="http://schemas.microsoft.com/office/drawing/2014/main" id="{FBF1B87D-95CB-4870-BC7D-BDF308BB7F1E}"/>
              </a:ext>
            </a:extLst>
          </p:cNvPr>
          <p:cNvSpPr>
            <a:spLocks xmlns:a="http://schemas.openxmlformats.org/drawingml/2006/main" noGrp="1"/>
          </p:cNvSpPr>
          <p:nvPr/>
        </p:nvSpPr>
        <p:spPr>
          <a:xfrm xmlns:a="http://schemas.openxmlformats.org/drawingml/2006/main">
            <a:off x="7635240" y="2999232"/>
            <a:ext cx="274320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Can another person understand what you did without asking you to remember it?</a:t>
            </a:r>
          </a:p>
        </p:txBody>
      </p:sp>
    </p:spTree>
    <p:extLst>
      <p:ext uri="{BB962C8B-B14F-4D97-AF65-F5344CB8AC3E}">
        <p14:creationId xmlns:p14="http://schemas.microsoft.com/office/powerpoint/2010/main" val="1496088728"/>
      </p:ext>
    </p:extLst>
  </p:cSld>
</p:sld>
</file>

<file path=ppt/slides/slide17.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378" name="Google Shape;378;p20">
            <a:extLst xmlns:a="http://schemas.openxmlformats.org/drawingml/2006/main">
              <a:ext uri="{FF2B5EF4-FFF2-40B4-BE49-F238E27FC236}">
                <a16:creationId xmlns:a16="http://schemas.microsoft.com/office/drawing/2014/main" id="{5A3EC6EA-D0F7-4D38-9834-16D6F08E7C0C}"/>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79" name="Google Shape;379;p20">
            <a:extLst xmlns:a="http://schemas.openxmlformats.org/drawingml/2006/main">
              <a:ext uri="{FF2B5EF4-FFF2-40B4-BE49-F238E27FC236}">
                <a16:creationId xmlns:a16="http://schemas.microsoft.com/office/drawing/2014/main" id="{BE104E20-B081-498B-966E-34B4F14C7DC9}"/>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80" name="Google Shape;380;p20">
            <a:extLst xmlns:a="http://schemas.openxmlformats.org/drawingml/2006/main">
              <a:ext uri="{FF2B5EF4-FFF2-40B4-BE49-F238E27FC236}">
                <a16:creationId xmlns:a16="http://schemas.microsoft.com/office/drawing/2014/main" id="{E8936C7A-1403-4405-AB5D-46339561F1EB}"/>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381" name="Google Shape;381;p20">
            <a:extLst xmlns:a="http://schemas.openxmlformats.org/drawingml/2006/main">
              <a:ext uri="{FF2B5EF4-FFF2-40B4-BE49-F238E27FC236}">
                <a16:creationId xmlns:a16="http://schemas.microsoft.com/office/drawing/2014/main" id="{8DDE126C-ADFE-42DD-8A92-43CFDF10A686}"/>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382" name="Google Shape;382;p20">
            <a:extLst xmlns:a="http://schemas.openxmlformats.org/drawingml/2006/main">
              <a:ext uri="{FF2B5EF4-FFF2-40B4-BE49-F238E27FC236}">
                <a16:creationId xmlns:a16="http://schemas.microsoft.com/office/drawing/2014/main" id="{EA0727C0-4E91-4E7E-B391-741A10BA73A2}"/>
              </a:ext>
            </a:extLst>
          </p:cNvPr>
          <p:cNvSpPr>
            <a:spLocks xmlns:a="http://schemas.openxmlformats.org/drawingml/2006/main" noGrp="1"/>
          </p:cNvSpPr>
          <p:nvPr/>
        </p:nvSpPr>
        <p:spPr>
          <a:xfrm xmlns:a="http://schemas.openxmlformats.org/drawingml/2006/main">
            <a:off x="566928" y="621792"/>
            <a:ext cx="1042416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Exit ticket</a:t>
            </a:r>
          </a:p>
        </p:txBody>
      </p:sp>
      <p:cxnSp>
        <p:nvCxnSpPr>
          <p:cNvPr id="402" name="Google Shape;383;p20"/>
          <p:cNvCxnSpPr/>
          <p:nvPr/>
        </p:nvCxnSpPr>
        <p:spPr>
          <a:xfrm xmlns:a="http://schemas.openxmlformats.org/drawingml/2006/main">
            <a:off x="566928" y="1207008"/>
            <a:ext cx="18288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384" name="Google Shape;384;p20">
            <a:extLst xmlns:a="http://schemas.openxmlformats.org/drawingml/2006/main">
              <a:ext uri="{FF2B5EF4-FFF2-40B4-BE49-F238E27FC236}">
                <a16:creationId xmlns:a16="http://schemas.microsoft.com/office/drawing/2014/main" id="{33BEA2C6-0BE7-4BC3-A9FE-15EA63F212EA}"/>
              </a:ext>
            </a:extLst>
          </p:cNvPr>
          <p:cNvSpPr>
            <a:spLocks xmlns:a="http://schemas.openxmlformats.org/drawingml/2006/main" noGrp="1"/>
          </p:cNvSpPr>
          <p:nvPr/>
        </p:nvSpPr>
        <p:spPr>
          <a:xfrm xmlns:a="http://schemas.openxmlformats.org/drawingml/2006/main">
            <a:off x="566928" y="1298448"/>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1250"/>
              <a:buFont typeface="Arial"/>
              <a:buNone/>
            </a:pPr>
            <a:r>
              <a:rPr sz="1250" b="0" i="0" u="none" cap="none">
                <a:solidFill>
                  <a:srgbClr val="A6A6A6"/>
                </a:solidFill>
                <a:latin typeface="Arial"/>
                <a:ea typeface="Arial"/>
                <a:cs typeface="Arial"/>
              </a:rPr>
              <a:t>Before you leave, prove your journal is ready to support your research.</a:t>
            </a:r>
          </a:p>
        </p:txBody>
      </p:sp>
      <p:sp>
        <p:nvSpPr>
          <p:cNvPr id="385" name="Google Shape;385;p20">
            <a:extLst xmlns:a="http://schemas.openxmlformats.org/drawingml/2006/main">
              <a:ext uri="{FF2B5EF4-FFF2-40B4-BE49-F238E27FC236}">
                <a16:creationId xmlns:a16="http://schemas.microsoft.com/office/drawing/2014/main" id="{70160F6A-6BE5-4FB5-A570-9963CB625813}"/>
              </a:ext>
            </a:extLst>
          </p:cNvPr>
          <p:cNvSpPr>
            <a:spLocks xmlns:a="http://schemas.openxmlformats.org/drawingml/2006/main" noGrp="1"/>
          </p:cNvSpPr>
          <p:nvPr/>
        </p:nvSpPr>
        <p:spPr>
          <a:xfrm xmlns:a="http://schemas.openxmlformats.org/drawingml/2006/main">
            <a:off x="566928" y="1627632"/>
            <a:ext cx="2057400" cy="274320"/>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86" name="Google Shape;386;p20">
            <a:extLst xmlns:a="http://schemas.openxmlformats.org/drawingml/2006/main">
              <a:ext uri="{FF2B5EF4-FFF2-40B4-BE49-F238E27FC236}">
                <a16:creationId xmlns:a16="http://schemas.microsoft.com/office/drawing/2014/main" id="{7AB43659-0D66-4FD1-B389-594E0D91D9A0}"/>
              </a:ext>
            </a:extLst>
          </p:cNvPr>
          <p:cNvSpPr>
            <a:spLocks xmlns:a="http://schemas.openxmlformats.org/drawingml/2006/main" noGrp="1"/>
          </p:cNvSpPr>
          <p:nvPr/>
        </p:nvSpPr>
        <p:spPr>
          <a:xfrm xmlns:a="http://schemas.openxmlformats.org/drawingml/2006/main">
            <a:off x="694944" y="1691640"/>
            <a:ext cx="178308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800"/>
              <a:buFont typeface="Arial"/>
              <a:buNone/>
            </a:pPr>
            <a:r>
              <a:rPr sz="800" b="1" i="0" u="none" cap="none">
                <a:solidFill>
                  <a:srgbClr val="FFFFFF"/>
                </a:solidFill>
                <a:latin typeface="Arial"/>
                <a:ea typeface="Arial"/>
                <a:cs typeface="Arial"/>
              </a:rPr>
              <a:t>EXIT TICKET</a:t>
            </a:r>
          </a:p>
        </p:txBody>
      </p:sp>
      <p:sp>
        <p:nvSpPr>
          <p:cNvPr id="387" name="Google Shape;387;p20">
            <a:extLst xmlns:a="http://schemas.openxmlformats.org/drawingml/2006/main">
              <a:ext uri="{FF2B5EF4-FFF2-40B4-BE49-F238E27FC236}">
                <a16:creationId xmlns:a16="http://schemas.microsoft.com/office/drawing/2014/main" id="{5BBFE2FE-F41F-4D2A-8D54-D4F62815911F}"/>
              </a:ext>
            </a:extLst>
          </p:cNvPr>
          <p:cNvSpPr>
            <a:spLocks xmlns:a="http://schemas.openxmlformats.org/drawingml/2006/main" noGrp="1"/>
          </p:cNvSpPr>
          <p:nvPr/>
        </p:nvSpPr>
        <p:spPr>
          <a:xfrm xmlns:a="http://schemas.openxmlformats.org/drawingml/2006/main">
            <a:off x="914400" y="2240280"/>
            <a:ext cx="10149840" cy="2331720"/>
          </a:xfrm>
          <a:prstGeom xmlns:a="http://schemas.openxmlformats.org/drawingml/2006/main" prst="roundRect">
            <a:avLst>
              <a:gd name="adj" fmla="val 1961"/>
            </a:avLst>
          </a:prstGeom>
          <a:solidFill xmlns:a="http://schemas.openxmlformats.org/drawingml/2006/main">
            <a:srgbClr val="000000">
              <a:alpha val="0"/>
            </a:srgbClr>
          </a:solidFill>
          <a:ln xmlns:a="http://schemas.openxmlformats.org/drawingml/2006/main" w="12700" cmpd="sng">
            <a:solidFill>
              <a:srgbClr val="7A7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388" name="Google Shape;388;p20">
            <a:extLst xmlns:a="http://schemas.openxmlformats.org/drawingml/2006/main">
              <a:ext uri="{FF2B5EF4-FFF2-40B4-BE49-F238E27FC236}">
                <a16:creationId xmlns:a16="http://schemas.microsoft.com/office/drawing/2014/main" id="{B843B96D-9643-4DBD-BE36-F83B26FC6400}"/>
              </a:ext>
            </a:extLst>
          </p:cNvPr>
          <p:cNvSpPr>
            <a:spLocks xmlns:a="http://schemas.openxmlformats.org/drawingml/2006/main" noGrp="1"/>
          </p:cNvSpPr>
          <p:nvPr/>
        </p:nvSpPr>
        <p:spPr>
          <a:xfrm xmlns:a="http://schemas.openxmlformats.org/drawingml/2006/main">
            <a:off x="1234440" y="263347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89" name="Google Shape;389;p20">
            <a:extLst xmlns:a="http://schemas.openxmlformats.org/drawingml/2006/main">
              <a:ext uri="{FF2B5EF4-FFF2-40B4-BE49-F238E27FC236}">
                <a16:creationId xmlns:a16="http://schemas.microsoft.com/office/drawing/2014/main" id="{E451C8D2-0009-49E6-B30F-AA0A9EA6530C}"/>
              </a:ext>
            </a:extLst>
          </p:cNvPr>
          <p:cNvSpPr>
            <a:spLocks xmlns:a="http://schemas.openxmlformats.org/drawingml/2006/main" noGrp="1"/>
          </p:cNvSpPr>
          <p:nvPr/>
        </p:nvSpPr>
        <p:spPr>
          <a:xfrm xmlns:a="http://schemas.openxmlformats.org/drawingml/2006/main">
            <a:off x="1545336" y="2615184"/>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Where is your journal located?</a:t>
            </a:r>
          </a:p>
        </p:txBody>
      </p:sp>
      <p:sp>
        <p:nvSpPr>
          <p:cNvPr id="390" name="Google Shape;390;p20">
            <a:extLst xmlns:a="http://schemas.openxmlformats.org/drawingml/2006/main">
              <a:ext uri="{FF2B5EF4-FFF2-40B4-BE49-F238E27FC236}">
                <a16:creationId xmlns:a16="http://schemas.microsoft.com/office/drawing/2014/main" id="{777D830B-C3F9-467B-B13A-9636266DB273}"/>
              </a:ext>
            </a:extLst>
          </p:cNvPr>
          <p:cNvSpPr>
            <a:spLocks xmlns:a="http://schemas.openxmlformats.org/drawingml/2006/main" noGrp="1"/>
          </p:cNvSpPr>
          <p:nvPr/>
        </p:nvSpPr>
        <p:spPr>
          <a:xfrm xmlns:a="http://schemas.openxmlformats.org/drawingml/2006/main">
            <a:off x="1234440" y="310896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91" name="Google Shape;391;p20">
            <a:extLst xmlns:a="http://schemas.openxmlformats.org/drawingml/2006/main">
              <a:ext uri="{FF2B5EF4-FFF2-40B4-BE49-F238E27FC236}">
                <a16:creationId xmlns:a16="http://schemas.microsoft.com/office/drawing/2014/main" id="{8D5377ED-71B5-4AE3-B790-A2488087153B}"/>
              </a:ext>
            </a:extLst>
          </p:cNvPr>
          <p:cNvSpPr>
            <a:spLocks xmlns:a="http://schemas.openxmlformats.org/drawingml/2006/main" noGrp="1"/>
          </p:cNvSpPr>
          <p:nvPr/>
        </p:nvSpPr>
        <p:spPr>
          <a:xfrm xmlns:a="http://schemas.openxmlformats.org/drawingml/2006/main">
            <a:off x="1545336" y="3090672"/>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evidence will you link to it?</a:t>
            </a:r>
          </a:p>
        </p:txBody>
      </p:sp>
      <p:sp>
        <p:nvSpPr>
          <p:cNvPr id="392" name="Google Shape;392;p20">
            <a:extLst xmlns:a="http://schemas.openxmlformats.org/drawingml/2006/main">
              <a:ext uri="{FF2B5EF4-FFF2-40B4-BE49-F238E27FC236}">
                <a16:creationId xmlns:a16="http://schemas.microsoft.com/office/drawing/2014/main" id="{87C4D516-BA68-4B07-9C99-3F969B7F0486}"/>
              </a:ext>
            </a:extLst>
          </p:cNvPr>
          <p:cNvSpPr>
            <a:spLocks xmlns:a="http://schemas.openxmlformats.org/drawingml/2006/main" noGrp="1"/>
          </p:cNvSpPr>
          <p:nvPr/>
        </p:nvSpPr>
        <p:spPr>
          <a:xfrm xmlns:a="http://schemas.openxmlformats.org/drawingml/2006/main">
            <a:off x="1234440" y="358444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93" name="Google Shape;393;p20">
            <a:extLst xmlns:a="http://schemas.openxmlformats.org/drawingml/2006/main">
              <a:ext uri="{FF2B5EF4-FFF2-40B4-BE49-F238E27FC236}">
                <a16:creationId xmlns:a16="http://schemas.microsoft.com/office/drawing/2014/main" id="{88E60C09-8EF8-4DD4-9098-2EAF31462310}"/>
              </a:ext>
            </a:extLst>
          </p:cNvPr>
          <p:cNvSpPr>
            <a:spLocks xmlns:a="http://schemas.openxmlformats.org/drawingml/2006/main" noGrp="1"/>
          </p:cNvSpPr>
          <p:nvPr/>
        </p:nvSpPr>
        <p:spPr>
          <a:xfrm xmlns:a="http://schemas.openxmlformats.org/drawingml/2006/main">
            <a:off x="1545336" y="3566160"/>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will you record after your next pilot test?</a:t>
            </a:r>
          </a:p>
        </p:txBody>
      </p:sp>
      <p:sp>
        <p:nvSpPr>
          <p:cNvPr id="394" name="Google Shape;394;p20">
            <a:extLst xmlns:a="http://schemas.openxmlformats.org/drawingml/2006/main">
              <a:ext uri="{FF2B5EF4-FFF2-40B4-BE49-F238E27FC236}">
                <a16:creationId xmlns:a16="http://schemas.microsoft.com/office/drawing/2014/main" id="{3CBD9A66-6B03-4ED2-832D-A88C826B7F6D}"/>
              </a:ext>
            </a:extLst>
          </p:cNvPr>
          <p:cNvSpPr>
            <a:spLocks xmlns:a="http://schemas.openxmlformats.org/drawingml/2006/main" noGrp="1"/>
          </p:cNvSpPr>
          <p:nvPr/>
        </p:nvSpPr>
        <p:spPr>
          <a:xfrm xmlns:a="http://schemas.openxmlformats.org/drawingml/2006/main">
            <a:off x="1234440" y="405993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a:t>
            </a:r>
          </a:p>
        </p:txBody>
      </p:sp>
      <p:sp>
        <p:nvSpPr>
          <p:cNvPr id="395" name="Google Shape;395;p20">
            <a:extLst xmlns:a="http://schemas.openxmlformats.org/drawingml/2006/main">
              <a:ext uri="{FF2B5EF4-FFF2-40B4-BE49-F238E27FC236}">
                <a16:creationId xmlns:a16="http://schemas.microsoft.com/office/drawing/2014/main" id="{092C129D-658A-4760-BF7A-D83A8412EB67}"/>
              </a:ext>
            </a:extLst>
          </p:cNvPr>
          <p:cNvSpPr>
            <a:spLocks xmlns:a="http://schemas.openxmlformats.org/drawingml/2006/main" noGrp="1"/>
          </p:cNvSpPr>
          <p:nvPr/>
        </p:nvSpPr>
        <p:spPr>
          <a:xfrm xmlns:a="http://schemas.openxmlformats.org/drawingml/2006/main">
            <a:off x="1545336" y="4041648"/>
            <a:ext cx="932688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is one documentation habit you need to improve?</a:t>
            </a:r>
          </a:p>
        </p:txBody>
      </p:sp>
      <p:sp>
        <p:nvSpPr>
          <p:cNvPr id="396" name="Google Shape;396;p20">
            <a:extLst xmlns:a="http://schemas.openxmlformats.org/drawingml/2006/main">
              <a:ext uri="{FF2B5EF4-FFF2-40B4-BE49-F238E27FC236}">
                <a16:creationId xmlns:a16="http://schemas.microsoft.com/office/drawing/2014/main" id="{A5147D27-D05B-402D-9D7F-A0189B59B3D5}"/>
              </a:ext>
            </a:extLst>
          </p:cNvPr>
          <p:cNvSpPr>
            <a:spLocks xmlns:a="http://schemas.openxmlformats.org/drawingml/2006/main" noGrp="1"/>
          </p:cNvSpPr>
          <p:nvPr/>
        </p:nvSpPr>
        <p:spPr>
          <a:xfrm xmlns:a="http://schemas.openxmlformats.org/drawingml/2006/main">
            <a:off x="914400" y="5074920"/>
            <a:ext cx="101498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1E1E"/>
              </a:buClr>
              <a:buSzPts val="1800"/>
              <a:buFont typeface="Arial"/>
              <a:buNone/>
            </a:pPr>
            <a:r>
              <a:rPr sz="1800" b="1" i="0" u="none" cap="none">
                <a:solidFill>
                  <a:srgbClr val="FF1E1E"/>
                </a:solidFill>
                <a:latin typeface="Arial"/>
                <a:ea typeface="Arial"/>
                <a:cs typeface="Arial"/>
              </a:rPr>
              <a:t>Submit: journal link/location + today’s first entry.</a:t>
            </a:r>
          </a:p>
        </p:txBody>
      </p:sp>
    </p:spTree>
    <p:extLst>
      <p:ext uri="{BB962C8B-B14F-4D97-AF65-F5344CB8AC3E}">
        <p14:creationId xmlns:p14="http://schemas.microsoft.com/office/powerpoint/2010/main" val="329641352"/>
      </p:ext>
    </p:extLst>
  </p:cSld>
</p:sld>
</file>

<file path=ppt/slides/slide18.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402" name="Google Shape;402;p21">
            <a:extLst xmlns:a="http://schemas.openxmlformats.org/drawingml/2006/main">
              <a:ext uri="{FF2B5EF4-FFF2-40B4-BE49-F238E27FC236}">
                <a16:creationId xmlns:a16="http://schemas.microsoft.com/office/drawing/2014/main" id="{36721131-B2B8-4F0D-9A75-A68D4689B724}"/>
              </a:ext>
            </a:extLst>
          </p:cNvPr>
          <p:cNvSpPr>
            <a:spLocks xmlns:a="http://schemas.openxmlformats.org/drawingml/2006/main" noGrp="1"/>
          </p:cNvSpPr>
          <p:nvPr/>
        </p:nvSpPr>
        <p:spPr>
          <a:xfrm xmlns:a="http://schemas.openxmlformats.org/drawingml/2006/main">
            <a:off x="0" y="310896"/>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03" name="Google Shape;403;p21">
            <a:extLst xmlns:a="http://schemas.openxmlformats.org/drawingml/2006/main">
              <a:ext uri="{FF2B5EF4-FFF2-40B4-BE49-F238E27FC236}">
                <a16:creationId xmlns:a16="http://schemas.microsoft.com/office/drawing/2014/main" id="{127C9854-874E-4572-BA7C-805D69AA6125}"/>
              </a:ext>
            </a:extLst>
          </p:cNvPr>
          <p:cNvSpPr>
            <a:spLocks xmlns:a="http://schemas.openxmlformats.org/drawingml/2006/main" noGrp="1"/>
          </p:cNvSpPr>
          <p:nvPr/>
        </p:nvSpPr>
        <p:spPr>
          <a:xfrm xmlns:a="http://schemas.openxmlformats.org/drawingml/2006/main">
            <a:off x="0" y="6473952"/>
            <a:ext cx="12191695" cy="54864"/>
          </a:xfrm>
          <a:prstGeom xmlns:a="http://schemas.openxmlformats.org/drawingml/2006/main" prst="rect">
            <a:avLst/>
          </a:prstGeom>
          <a:solidFill xmlns:a="http://schemas.openxmlformats.org/drawingml/2006/main">
            <a:srgbClr val="FF1E1E"/>
          </a:solidFill>
          <a:ln xmlns:a="http://schemas.openxmlformats.org/drawingml/2006/main" w="12700" cmpd="sng">
            <a:solidFill>
              <a:srgbClr val="FF1E1E">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04" name="Google Shape;404;p21">
            <a:extLst xmlns:a="http://schemas.openxmlformats.org/drawingml/2006/main">
              <a:ext uri="{FF2B5EF4-FFF2-40B4-BE49-F238E27FC236}">
                <a16:creationId xmlns:a16="http://schemas.microsoft.com/office/drawing/2014/main" id="{B179E6E7-1029-4D91-86DF-BA69B59E0C72}"/>
              </a:ext>
            </a:extLst>
          </p:cNvPr>
          <p:cNvSpPr>
            <a:spLocks xmlns:a="http://schemas.openxmlformats.org/drawingml/2006/main" noGrp="1"/>
          </p:cNvSpPr>
          <p:nvPr/>
        </p:nvSpPr>
        <p:spPr>
          <a:xfrm xmlns:a="http://schemas.openxmlformats.org/drawingml/2006/main">
            <a:off x="384048" y="6565392"/>
            <a:ext cx="393192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A6A6A6"/>
              </a:buClr>
              <a:buSzPts val="750"/>
              <a:buFont typeface="Arial"/>
              <a:buNone/>
            </a:pPr>
            <a:r>
              <a:rPr sz="750" b="0" i="0" u="none" cap="none">
                <a:solidFill>
                  <a:srgbClr val="A6A6A6"/>
                </a:solidFill>
                <a:latin typeface="Arial"/>
                <a:ea typeface="Arial"/>
                <a:cs typeface="Arial"/>
              </a:rPr>
              <a:t>STARLAB Deck 07</a:t>
            </a:r>
          </a:p>
        </p:txBody>
      </p:sp>
      <p:sp>
        <p:nvSpPr>
          <p:cNvPr id="405" name="Google Shape;405;p21">
            <a:extLst xmlns:a="http://schemas.openxmlformats.org/drawingml/2006/main">
              <a:ext uri="{FF2B5EF4-FFF2-40B4-BE49-F238E27FC236}">
                <a16:creationId xmlns:a16="http://schemas.microsoft.com/office/drawing/2014/main" id="{3F1EE177-3BC6-4C5F-84D5-599B659C2301}"/>
              </a:ext>
            </a:extLst>
          </p:cNvPr>
          <p:cNvSpPr>
            <a:spLocks xmlns:a="http://schemas.openxmlformats.org/drawingml/2006/main" noGrp="1"/>
          </p:cNvSpPr>
          <p:nvPr/>
        </p:nvSpPr>
        <p:spPr>
          <a:xfrm xmlns:a="http://schemas.openxmlformats.org/drawingml/2006/main">
            <a:off x="10469880" y="6556248"/>
            <a:ext cx="1325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lnSpc>
                <a:spcPct val="100000"/>
              </a:lnSpc>
              <a:spcBef>
                <a:spcPts val="0"/>
              </a:spcBef>
              <a:spcAft>
                <a:spcPts val="0"/>
              </a:spcAft>
              <a:buClr>
                <a:srgbClr val="A6A6A6"/>
              </a:buClr>
              <a:buSzPts val="800"/>
              <a:buFont typeface="Arial"/>
              <a:buNone/>
            </a:pPr>
            <a:r>
              <a:rPr sz="800" b="1" i="0" u="none" cap="none">
                <a:solidFill>
                  <a:srgbClr val="A6A6A6"/>
                </a:solidFill>
                <a:latin typeface="Arial"/>
                <a:ea typeface="Arial"/>
                <a:cs typeface="Arial"/>
              </a:rPr>
              <a:t>STARLAB</a:t>
            </a:r>
          </a:p>
        </p:txBody>
      </p:sp>
      <p:sp>
        <p:nvSpPr>
          <p:cNvPr id="406" name="Google Shape;406;p21">
            <a:extLst xmlns:a="http://schemas.openxmlformats.org/drawingml/2006/main">
              <a:ext uri="{FF2B5EF4-FFF2-40B4-BE49-F238E27FC236}">
                <a16:creationId xmlns:a16="http://schemas.microsoft.com/office/drawing/2014/main" id="{987C87EA-0E93-4143-84BF-9E0FAD2D5E33}"/>
              </a:ext>
            </a:extLst>
          </p:cNvPr>
          <p:cNvSpPr>
            <a:spLocks xmlns:a="http://schemas.openxmlformats.org/drawingml/2006/main" noGrp="1"/>
          </p:cNvSpPr>
          <p:nvPr/>
        </p:nvSpPr>
        <p:spPr>
          <a:xfrm xmlns:a="http://schemas.openxmlformats.org/drawingml/2006/main">
            <a:off x="822960" y="1143000"/>
            <a:ext cx="106070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2800"/>
              <a:buFont typeface="Arial"/>
              <a:buNone/>
            </a:pPr>
            <a:r>
              <a:rPr sz="2800" b="1" i="0" u="none" cap="none">
                <a:solidFill>
                  <a:srgbClr val="FFFFFF"/>
                </a:solidFill>
                <a:latin typeface="Arial"/>
                <a:ea typeface="Arial"/>
                <a:cs typeface="Arial"/>
              </a:rPr>
              <a:t>RESEARCH JOURNALS ARE YOUR PROJECT’S MEMORY</a:t>
            </a:r>
          </a:p>
        </p:txBody>
      </p:sp>
      <p:cxnSp>
        <p:nvCxnSpPr>
          <p:cNvPr id="423" name="Google Shape;407;p21"/>
          <p:cNvCxnSpPr/>
          <p:nvPr/>
        </p:nvCxnSpPr>
        <p:spPr>
          <a:xfrm xmlns:a="http://schemas.openxmlformats.org/drawingml/2006/main">
            <a:off x="3931920" y="1874520"/>
            <a:ext cx="4343400" cy="0"/>
          </a:xfrm>
          <a:prstGeom xmlns:a="http://schemas.openxmlformats.org/drawingml/2006/main" prst="straightConnector1">
            <a:avLst/>
          </a:prstGeom>
          <a:ln xmlns:a="http://schemas.openxmlformats.org/drawingml/2006/main" w="25400" cap="flat">
            <a:solidFill>
              <a:srgbClr val="FF1E1E"/>
            </a:solidFill>
            <a:prstDash val="solid"/>
            <a:round/>
            <a:headEnd type="none" w="sm" len="sm"/>
            <a:tailEnd type="none" w="sm" len="sm"/>
          </a:ln>
        </p:spPr>
      </p:cxnSp>
      <p:sp>
        <p:nvSpPr>
          <p:cNvPr id="408" name="Google Shape;408;p21">
            <a:extLst xmlns:a="http://schemas.openxmlformats.org/drawingml/2006/main">
              <a:ext uri="{FF2B5EF4-FFF2-40B4-BE49-F238E27FC236}">
                <a16:creationId xmlns:a16="http://schemas.microsoft.com/office/drawing/2014/main" id="{26849A7D-9ACE-4FEF-A412-6CE11FF49DAC}"/>
              </a:ext>
            </a:extLst>
          </p:cNvPr>
          <p:cNvSpPr>
            <a:spLocks xmlns:a="http://schemas.openxmlformats.org/drawingml/2006/main" noGrp="1"/>
          </p:cNvSpPr>
          <p:nvPr/>
        </p:nvSpPr>
        <p:spPr>
          <a:xfrm xmlns:a="http://schemas.openxmlformats.org/drawingml/2006/main">
            <a:off x="1417320" y="2514600"/>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09" name="Google Shape;409;p21">
            <a:extLst xmlns:a="http://schemas.openxmlformats.org/drawingml/2006/main">
              <a:ext uri="{FF2B5EF4-FFF2-40B4-BE49-F238E27FC236}">
                <a16:creationId xmlns:a16="http://schemas.microsoft.com/office/drawing/2014/main" id="{B5887F85-473F-479F-BD2A-D0452A108CE7}"/>
              </a:ext>
            </a:extLst>
          </p:cNvPr>
          <p:cNvSpPr>
            <a:spLocks xmlns:a="http://schemas.openxmlformats.org/drawingml/2006/main" noGrp="1"/>
          </p:cNvSpPr>
          <p:nvPr/>
        </p:nvSpPr>
        <p:spPr>
          <a:xfrm xmlns:a="http://schemas.openxmlformats.org/drawingml/2006/main">
            <a:off x="1728216" y="2496312"/>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Write what actually happened.</a:t>
            </a:r>
          </a:p>
        </p:txBody>
      </p:sp>
      <p:sp>
        <p:nvSpPr>
          <p:cNvPr id="410" name="Google Shape;410;p21">
            <a:extLst xmlns:a="http://schemas.openxmlformats.org/drawingml/2006/main">
              <a:ext uri="{FF2B5EF4-FFF2-40B4-BE49-F238E27FC236}">
                <a16:creationId xmlns:a16="http://schemas.microsoft.com/office/drawing/2014/main" id="{D4CB5C8D-7934-4275-80D2-9B4C7393403F}"/>
              </a:ext>
            </a:extLst>
          </p:cNvPr>
          <p:cNvSpPr>
            <a:spLocks xmlns:a="http://schemas.openxmlformats.org/drawingml/2006/main" noGrp="1"/>
          </p:cNvSpPr>
          <p:nvPr/>
        </p:nvSpPr>
        <p:spPr>
          <a:xfrm xmlns:a="http://schemas.openxmlformats.org/drawingml/2006/main">
            <a:off x="1417320" y="3099816"/>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11" name="Google Shape;411;p21">
            <a:extLst xmlns:a="http://schemas.openxmlformats.org/drawingml/2006/main">
              <a:ext uri="{FF2B5EF4-FFF2-40B4-BE49-F238E27FC236}">
                <a16:creationId xmlns:a16="http://schemas.microsoft.com/office/drawing/2014/main" id="{693F00F0-6C89-433E-ADB7-2D710F1F5AC8}"/>
              </a:ext>
            </a:extLst>
          </p:cNvPr>
          <p:cNvSpPr>
            <a:spLocks xmlns:a="http://schemas.openxmlformats.org/drawingml/2006/main" noGrp="1"/>
          </p:cNvSpPr>
          <p:nvPr/>
        </p:nvSpPr>
        <p:spPr>
          <a:xfrm xmlns:a="http://schemas.openxmlformats.org/drawingml/2006/main">
            <a:off x="1728216" y="3081528"/>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Keep raw data connected to context.</a:t>
            </a:r>
          </a:p>
        </p:txBody>
      </p:sp>
      <p:sp>
        <p:nvSpPr>
          <p:cNvPr id="412" name="Google Shape;412;p21">
            <a:extLst xmlns:a="http://schemas.openxmlformats.org/drawingml/2006/main">
              <a:ext uri="{FF2B5EF4-FFF2-40B4-BE49-F238E27FC236}">
                <a16:creationId xmlns:a16="http://schemas.microsoft.com/office/drawing/2014/main" id="{5F5C1180-FD5D-4278-B35D-E7A03E7CCA4E}"/>
              </a:ext>
            </a:extLst>
          </p:cNvPr>
          <p:cNvSpPr>
            <a:spLocks xmlns:a="http://schemas.openxmlformats.org/drawingml/2006/main" noGrp="1"/>
          </p:cNvSpPr>
          <p:nvPr/>
        </p:nvSpPr>
        <p:spPr>
          <a:xfrm xmlns:a="http://schemas.openxmlformats.org/drawingml/2006/main">
            <a:off x="1417320" y="3685032"/>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13" name="Google Shape;413;p21">
            <a:extLst xmlns:a="http://schemas.openxmlformats.org/drawingml/2006/main">
              <a:ext uri="{FF2B5EF4-FFF2-40B4-BE49-F238E27FC236}">
                <a16:creationId xmlns:a16="http://schemas.microsoft.com/office/drawing/2014/main" id="{E852F339-2CC0-4122-A1EA-1F4467F54BDE}"/>
              </a:ext>
            </a:extLst>
          </p:cNvPr>
          <p:cNvSpPr>
            <a:spLocks xmlns:a="http://schemas.openxmlformats.org/drawingml/2006/main" noGrp="1"/>
          </p:cNvSpPr>
          <p:nvPr/>
        </p:nvSpPr>
        <p:spPr>
          <a:xfrm xmlns:a="http://schemas.openxmlformats.org/drawingml/2006/main">
            <a:off x="1728216" y="3666744"/>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Document failures and revisions honestly.</a:t>
            </a:r>
          </a:p>
        </p:txBody>
      </p:sp>
      <p:sp>
        <p:nvSpPr>
          <p:cNvPr id="414" name="Google Shape;414;p21">
            <a:extLst xmlns:a="http://schemas.openxmlformats.org/drawingml/2006/main">
              <a:ext uri="{FF2B5EF4-FFF2-40B4-BE49-F238E27FC236}">
                <a16:creationId xmlns:a16="http://schemas.microsoft.com/office/drawing/2014/main" id="{4CD9C5B6-CDF9-41FE-BCC1-C495C9190779}"/>
              </a:ext>
            </a:extLst>
          </p:cNvPr>
          <p:cNvSpPr>
            <a:spLocks xmlns:a="http://schemas.openxmlformats.org/drawingml/2006/main" noGrp="1"/>
          </p:cNvSpPr>
          <p:nvPr/>
        </p:nvSpPr>
        <p:spPr>
          <a:xfrm xmlns:a="http://schemas.openxmlformats.org/drawingml/2006/main">
            <a:off x="1417320" y="4270248"/>
            <a:ext cx="182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1E1E"/>
              </a:buClr>
              <a:buSzPts val="2000"/>
              <a:buFont typeface="Arial"/>
              <a:buNone/>
            </a:pPr>
            <a:r>
              <a:rPr sz="2000" b="1" i="0" u="none" cap="none">
                <a:solidFill>
                  <a:srgbClr val="FF1E1E"/>
                </a:solidFill>
                <a:latin typeface="Arial"/>
                <a:ea typeface="Arial"/>
                <a:cs typeface="Arial"/>
              </a:rPr>
              <a:t>•</a:t>
            </a:r>
          </a:p>
        </p:txBody>
      </p:sp>
      <p:sp>
        <p:nvSpPr>
          <p:cNvPr id="415" name="Google Shape;415;p21">
            <a:extLst xmlns:a="http://schemas.openxmlformats.org/drawingml/2006/main">
              <a:ext uri="{FF2B5EF4-FFF2-40B4-BE49-F238E27FC236}">
                <a16:creationId xmlns:a16="http://schemas.microsoft.com/office/drawing/2014/main" id="{50D265F6-AB86-4E59-8A49-D5DCB2178A2C}"/>
              </a:ext>
            </a:extLst>
          </p:cNvPr>
          <p:cNvSpPr>
            <a:spLocks xmlns:a="http://schemas.openxmlformats.org/drawingml/2006/main" noGrp="1"/>
          </p:cNvSpPr>
          <p:nvPr/>
        </p:nvSpPr>
        <p:spPr>
          <a:xfrm xmlns:a="http://schemas.openxmlformats.org/drawingml/2006/main">
            <a:off x="1728216" y="4251960"/>
            <a:ext cx="9144000" cy="3108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5" tIns="125" rIns="125" bIns="1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Make your future report easier to write.</a:t>
            </a:r>
          </a:p>
        </p:txBody>
      </p:sp>
      <p:sp>
        <p:nvSpPr>
          <p:cNvPr id="416" name="Google Shape;416;p21">
            <a:extLst xmlns:a="http://schemas.openxmlformats.org/drawingml/2006/main">
              <a:ext uri="{FF2B5EF4-FFF2-40B4-BE49-F238E27FC236}">
                <a16:creationId xmlns:a16="http://schemas.microsoft.com/office/drawing/2014/main" id="{A740CFE5-8516-447C-B22A-6FBF92930CC9}"/>
              </a:ext>
            </a:extLst>
          </p:cNvPr>
          <p:cNvSpPr>
            <a:spLocks xmlns:a="http://schemas.openxmlformats.org/drawingml/2006/main" noGrp="1"/>
          </p:cNvSpPr>
          <p:nvPr/>
        </p:nvSpPr>
        <p:spPr>
          <a:xfrm xmlns:a="http://schemas.openxmlformats.org/drawingml/2006/main">
            <a:off x="2011680" y="5349240"/>
            <a:ext cx="8138160" cy="502920"/>
          </a:xfrm>
          <a:prstGeom xmlns:a="http://schemas.openxmlformats.org/drawingml/2006/main" prst="roundRect">
            <a:avLst>
              <a:gd name="adj" fmla="val 9091"/>
            </a:avLst>
          </a:prstGeom>
          <a:solidFill xmlns:a="http://schemas.openxmlformats.org/drawingml/2006/main">
            <a:srgbClr val="000000">
              <a:alpha val="0"/>
            </a:srgbClr>
          </a:solidFill>
          <a:ln xmlns:a="http://schemas.openxmlformats.org/drawingml/2006/main" w="12700" cmpd="sng">
            <a:solidFill>
              <a:srgbClr val="FF1E1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indent="0" algn="l">
              <a:lnSpc>
                <a:spcPct val="100000"/>
              </a:lnSpc>
              <a:spcBef>
                <a:spcPts val="0"/>
              </a:spcBef>
              <a:spcAft>
                <a:spcPts val="0"/>
              </a:spcAft>
              <a:buClr>
                <a:srgbClr val="000000"/>
              </a:buClr>
              <a:buSzPts val="1400"/>
              <a:buFont typeface="Arial"/>
              <a:buNone/>
            </a:pPr>
            <a:r>
              <a:t/>
            </a:r>
          </a:p>
        </p:txBody>
      </p:sp>
      <p:sp>
        <p:nvSpPr>
          <p:cNvPr id="417" name="Google Shape;417;p21">
            <a:extLst xmlns:a="http://schemas.openxmlformats.org/drawingml/2006/main">
              <a:ext uri="{FF2B5EF4-FFF2-40B4-BE49-F238E27FC236}">
                <a16:creationId xmlns:a16="http://schemas.microsoft.com/office/drawing/2014/main" id="{29F7D7ED-7856-4D9E-A9CD-0D36F48544B7}"/>
              </a:ext>
            </a:extLst>
          </p:cNvPr>
          <p:cNvSpPr>
            <a:spLocks xmlns:a="http://schemas.openxmlformats.org/drawingml/2006/main" noGrp="1"/>
          </p:cNvSpPr>
          <p:nvPr/>
        </p:nvSpPr>
        <p:spPr>
          <a:xfrm xmlns:a="http://schemas.openxmlformats.org/drawingml/2006/main">
            <a:off x="2148840" y="5522976"/>
            <a:ext cx="78638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lnSpc>
                <a:spcPct val="100000"/>
              </a:lnSpc>
              <a:spcBef>
                <a:spcPts val="0"/>
              </a:spcBef>
              <a:spcAft>
                <a:spcPts val="0"/>
              </a:spcAft>
              <a:buClr>
                <a:srgbClr val="FFFFFF"/>
              </a:buClr>
              <a:buSzPts val="1450"/>
              <a:buFont typeface="Arial"/>
              <a:buNone/>
            </a:pPr>
            <a:r>
              <a:rPr sz="1450" b="1" i="0" u="none" cap="none">
                <a:solidFill>
                  <a:srgbClr val="FFFFFF"/>
                </a:solidFill>
                <a:latin typeface="Arial"/>
                <a:ea typeface="Arial"/>
                <a:cs typeface="Arial"/>
              </a:rPr>
              <a:t>Next Deck: Troubleshooting and Responsible Project Pivots</a:t>
            </a:r>
          </a:p>
        </p:txBody>
      </p:sp>
    </p:spTree>
    <p:extLst>
      <p:ext uri="{BB962C8B-B14F-4D97-AF65-F5344CB8AC3E}">
        <p14:creationId xmlns:p14="http://schemas.microsoft.com/office/powerpoint/2010/main" val="1752045124"/>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2026-07-16T15:08:44.0580000Z</dcterms:created>
  <dcterms:modified xsi:type="dcterms:W3CDTF">2026-07-16T15:08:44.0580000Z</dcterms:modified>
</coreProperties>
</file>