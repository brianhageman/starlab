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1cfbc88d3544eb" /><Relationship Type="http://schemas.openxmlformats.org/officeDocument/2006/relationships/extended-properties" Target="/docProps/app.xml" Id="R562ec717a3cb45c3" /><Relationship Type="http://schemas.openxmlformats.org/officeDocument/2006/relationships/officeDocument" Target="/ppt/presentation.xml" Id="R166c8b41561f43d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66f3fd531134ea3"/>
  </p:sldMasterIdLst>
  <p:notesMasterIdLst>
    <p:notesMasterId xmlns:r="http://schemas.openxmlformats.org/officeDocument/2006/relationships" r:id="R05123a6f14ef41f4"/>
  </p:notesMasterIdLst>
  <p:sldIdLst>
    <p:sldId xmlns:r="http://schemas.openxmlformats.org/officeDocument/2006/relationships" id="256" r:id="R3421e40163d44277"/>
    <p:sldId xmlns:r="http://schemas.openxmlformats.org/officeDocument/2006/relationships" id="257" r:id="Ra66c5a4dd7604a0d"/>
    <p:sldId xmlns:r="http://schemas.openxmlformats.org/officeDocument/2006/relationships" id="258" r:id="Re99821bec4654771"/>
    <p:sldId xmlns:r="http://schemas.openxmlformats.org/officeDocument/2006/relationships" id="259" r:id="R3d7e719c4bb740e3"/>
    <p:sldId xmlns:r="http://schemas.openxmlformats.org/officeDocument/2006/relationships" id="260" r:id="R4dcf980080db40cd"/>
    <p:sldId xmlns:r="http://schemas.openxmlformats.org/officeDocument/2006/relationships" id="261" r:id="Rc4b01e7275c24760"/>
    <p:sldId xmlns:r="http://schemas.openxmlformats.org/officeDocument/2006/relationships" id="262" r:id="R588b7bceea974ac3"/>
    <p:sldId xmlns:r="http://schemas.openxmlformats.org/officeDocument/2006/relationships" id="263" r:id="R23df1e74758b4a5b"/>
    <p:sldId xmlns:r="http://schemas.openxmlformats.org/officeDocument/2006/relationships" id="264" r:id="Rce20ed694dfe47ee"/>
    <p:sldId xmlns:r="http://schemas.openxmlformats.org/officeDocument/2006/relationships" id="265" r:id="Rdbfa1214cbbe4952"/>
    <p:sldId xmlns:r="http://schemas.openxmlformats.org/officeDocument/2006/relationships" id="266" r:id="R4dd7c432cec2418d"/>
    <p:sldId xmlns:r="http://schemas.openxmlformats.org/officeDocument/2006/relationships" id="267" r:id="R29554efe6b304c53"/>
    <p:sldId xmlns:r="http://schemas.openxmlformats.org/officeDocument/2006/relationships" id="268" r:id="R554fb2ad56a54d14"/>
    <p:sldId xmlns:r="http://schemas.openxmlformats.org/officeDocument/2006/relationships" id="269" r:id="Rd1dd7a47ce404207"/>
    <p:sldId xmlns:r="http://schemas.openxmlformats.org/officeDocument/2006/relationships" id="270" r:id="R9e0e189a91fd4c78"/>
    <p:sldId xmlns:r="http://schemas.openxmlformats.org/officeDocument/2006/relationships" id="271" r:id="Rcda57895f7394102"/>
    <p:sldId xmlns:r="http://schemas.openxmlformats.org/officeDocument/2006/relationships" id="272" r:id="Red20a7b87bd84caa"/>
    <p:sldId xmlns:r="http://schemas.openxmlformats.org/officeDocument/2006/relationships" id="273" r:id="Rcfdf6f6b95f34a3c"/>
    <p:sldId xmlns:r="http://schemas.openxmlformats.org/officeDocument/2006/relationships" id="274" r:id="Ra3854747851a48f4"/>
    <p:sldId xmlns:r="http://schemas.openxmlformats.org/officeDocument/2006/relationships" id="275" r:id="R938649daf2944fe5"/>
    <p:sldId xmlns:r="http://schemas.openxmlformats.org/officeDocument/2006/relationships" id="276" r:id="R79e2abb38eba40d4"/>
    <p:sldId xmlns:r="http://schemas.openxmlformats.org/officeDocument/2006/relationships" id="277" r:id="Rf46e6f1558d54bbe"/>
  </p:sldIdLst>
  <p:sldSz cx="12191675" cy="6858000"/>
  <p:notesSz cx="6858000" cy="9144000"/>
  <p:embeddedFontLst>
    <p:embeddedFont>
      <p:font typeface="Play"/>
      <p:regular xmlns:r="http://schemas.openxmlformats.org/officeDocument/2006/relationships" r:id="Rfee9e6e334514d43"/>
      <p:bold xmlns:r="http://schemas.openxmlformats.org/officeDocument/2006/relationships" r:id="R2e658116074449e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d69380ab4f4e3d" /><Relationship Type="http://schemas.openxmlformats.org/officeDocument/2006/relationships/slideMaster" Target="/ppt/slideMasters/slideMaster1.xml" Id="R566f3fd531134ea3" /><Relationship Type="http://schemas.openxmlformats.org/officeDocument/2006/relationships/notesMaster" Target="/ppt/notesMasters/notesMaster1.xml" Id="R05123a6f14ef41f4" /><Relationship Type="http://schemas.openxmlformats.org/officeDocument/2006/relationships/presProps" Target="/ppt/presProps.xml" Id="R04f4db6a96b64c80" /><Relationship Type="http://schemas.openxmlformats.org/officeDocument/2006/relationships/tableStyles" Target="/ppt/tableStyles.xml" Id="Rdecb45dbf144438a" /><Relationship Type="http://schemas.openxmlformats.org/officeDocument/2006/relationships/font" Target="/ppt/fonts/font.dat" Id="Rfee9e6e334514d43" /><Relationship Type="http://schemas.openxmlformats.org/officeDocument/2006/relationships/font" Target="/ppt/fonts/font2.dat" Id="R2e658116074449ef" /><Relationship Type="http://schemas.openxmlformats.org/officeDocument/2006/relationships/slide" Target="/ppt/slides/slide1.xml" Id="R3421e40163d44277" /><Relationship Type="http://schemas.openxmlformats.org/officeDocument/2006/relationships/slide" Target="/ppt/slides/slide2.xml" Id="Ra66c5a4dd7604a0d" /><Relationship Type="http://schemas.openxmlformats.org/officeDocument/2006/relationships/slide" Target="/ppt/slides/slide3.xml" Id="Re99821bec4654771" /><Relationship Type="http://schemas.openxmlformats.org/officeDocument/2006/relationships/slide" Target="/ppt/slides/slide4.xml" Id="R3d7e719c4bb740e3" /><Relationship Type="http://schemas.openxmlformats.org/officeDocument/2006/relationships/slide" Target="/ppt/slides/slide5.xml" Id="R4dcf980080db40cd" /><Relationship Type="http://schemas.openxmlformats.org/officeDocument/2006/relationships/slide" Target="/ppt/slides/slide6.xml" Id="Rc4b01e7275c24760" /><Relationship Type="http://schemas.openxmlformats.org/officeDocument/2006/relationships/slide" Target="/ppt/slides/slide7.xml" Id="R588b7bceea974ac3" /><Relationship Type="http://schemas.openxmlformats.org/officeDocument/2006/relationships/slide" Target="/ppt/slides/slide8.xml" Id="R23df1e74758b4a5b" /><Relationship Type="http://schemas.openxmlformats.org/officeDocument/2006/relationships/slide" Target="/ppt/slides/slide9.xml" Id="Rce20ed694dfe47ee" /><Relationship Type="http://schemas.openxmlformats.org/officeDocument/2006/relationships/slide" Target="/ppt/slides/slide10.xml" Id="Rdbfa1214cbbe4952" /><Relationship Type="http://schemas.openxmlformats.org/officeDocument/2006/relationships/slide" Target="/ppt/slides/slide11.xml" Id="R4dd7c432cec2418d" /><Relationship Type="http://schemas.openxmlformats.org/officeDocument/2006/relationships/slide" Target="/ppt/slides/slide12.xml" Id="R29554efe6b304c53" /><Relationship Type="http://schemas.openxmlformats.org/officeDocument/2006/relationships/slide" Target="/ppt/slides/slide13.xml" Id="R554fb2ad56a54d14" /><Relationship Type="http://schemas.openxmlformats.org/officeDocument/2006/relationships/slide" Target="/ppt/slides/slide14.xml" Id="Rd1dd7a47ce404207" /><Relationship Type="http://schemas.openxmlformats.org/officeDocument/2006/relationships/slide" Target="/ppt/slides/slide15.xml" Id="R9e0e189a91fd4c78" /><Relationship Type="http://schemas.openxmlformats.org/officeDocument/2006/relationships/slide" Target="/ppt/slides/slide16.xml" Id="Rcda57895f7394102" /><Relationship Type="http://schemas.openxmlformats.org/officeDocument/2006/relationships/slide" Target="/ppt/slides/slide17.xml" Id="Red20a7b87bd84caa" /><Relationship Type="http://schemas.openxmlformats.org/officeDocument/2006/relationships/slide" Target="/ppt/slides/slide18.xml" Id="Rcfdf6f6b95f34a3c" /><Relationship Type="http://schemas.openxmlformats.org/officeDocument/2006/relationships/slide" Target="/ppt/slides/slide19.xml" Id="Ra3854747851a48f4" /><Relationship Type="http://schemas.openxmlformats.org/officeDocument/2006/relationships/slide" Target="/ppt/slides/slide20.xml" Id="R938649daf2944fe5" /><Relationship Type="http://schemas.openxmlformats.org/officeDocument/2006/relationships/slide" Target="/ppt/slides/slide21.xml" Id="R79e2abb38eba40d4" /><Relationship Type="http://schemas.openxmlformats.org/officeDocument/2006/relationships/slide" Target="/ppt/slides/slide22.xml" Id="Rf46e6f1558d5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71ff57c1a48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e42e90c9464576" /><Relationship Type="http://schemas.openxmlformats.org/officeDocument/2006/relationships/notesMaster" Target="/ppt/notesMasters/notesMaster1.xml" Id="R4c7f7d962a40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3fa323b64e4fda" /><Relationship Type="http://schemas.openxmlformats.org/officeDocument/2006/relationships/notesMaster" Target="/ppt/notesMasters/notesMaster1.xml" Id="R148862e82aca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02f22d5536414b" /><Relationship Type="http://schemas.openxmlformats.org/officeDocument/2006/relationships/notesMaster" Target="/ppt/notesMasters/notesMaster1.xml" Id="Rc8cf0a68fa764d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a33d2d00f49d5" /><Relationship Type="http://schemas.openxmlformats.org/officeDocument/2006/relationships/notesMaster" Target="/ppt/notesMasters/notesMaster1.xml" Id="Rfe5b279326c24c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eb849b0583408a" /><Relationship Type="http://schemas.openxmlformats.org/officeDocument/2006/relationships/notesMaster" Target="/ppt/notesMasters/notesMaster1.xml" Id="Rb0c675fc9711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0cb7371672447c" /><Relationship Type="http://schemas.openxmlformats.org/officeDocument/2006/relationships/notesMaster" Target="/ppt/notesMasters/notesMaster1.xml" Id="R29eb0352bcc940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66a86061d74416" /><Relationship Type="http://schemas.openxmlformats.org/officeDocument/2006/relationships/notesMaster" Target="/ppt/notesMasters/notesMaster1.xml" Id="Re7122072d24743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ad26fecd6d4338" /><Relationship Type="http://schemas.openxmlformats.org/officeDocument/2006/relationships/notesMaster" Target="/ppt/notesMasters/notesMaster1.xml" Id="Rb032c35c9067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bbccae68cc4682" /><Relationship Type="http://schemas.openxmlformats.org/officeDocument/2006/relationships/notesMaster" Target="/ppt/notesMasters/notesMaster1.xml" Id="R0f527c7a507840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d707efeca4407" /><Relationship Type="http://schemas.openxmlformats.org/officeDocument/2006/relationships/notesMaster" Target="/ppt/notesMasters/notesMaster1.xml" Id="R330b35eab23a49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e7e94352c747fc" /><Relationship Type="http://schemas.openxmlformats.org/officeDocument/2006/relationships/notesMaster" Target="/ppt/notesMasters/notesMaster1.xml" Id="Raa54ffd5627e42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7569f37b644bce" /><Relationship Type="http://schemas.openxmlformats.org/officeDocument/2006/relationships/notesMaster" Target="/ppt/notesMasters/notesMaster1.xml" Id="R9cdc019861eb4d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d7278cb9774377" /><Relationship Type="http://schemas.openxmlformats.org/officeDocument/2006/relationships/notesMaster" Target="/ppt/notesMasters/notesMaster1.xml" Id="Rd376f556479c46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cd09173d0148c5" /><Relationship Type="http://schemas.openxmlformats.org/officeDocument/2006/relationships/notesMaster" Target="/ppt/notesMasters/notesMaster1.xml" Id="Rff69009d0c4044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a3edc040bb4ad3" /><Relationship Type="http://schemas.openxmlformats.org/officeDocument/2006/relationships/notesMaster" Target="/ppt/notesMasters/notesMaster1.xml" Id="Rdf7c365a41bb4e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6e664d64dc488a" /><Relationship Type="http://schemas.openxmlformats.org/officeDocument/2006/relationships/notesMaster" Target="/ppt/notesMasters/notesMaster1.xml" Id="R121b39bce02d4c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56bdd80e024cd5" /><Relationship Type="http://schemas.openxmlformats.org/officeDocument/2006/relationships/notesMaster" Target="/ppt/notesMasters/notesMaster1.xml" Id="R21126aa7a65142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83035e36234750" /><Relationship Type="http://schemas.openxmlformats.org/officeDocument/2006/relationships/notesMaster" Target="/ppt/notesMasters/notesMaster1.xml" Id="Ra865c589f47044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eec619ebc54da6" /><Relationship Type="http://schemas.openxmlformats.org/officeDocument/2006/relationships/notesMaster" Target="/ppt/notesMasters/notesMaster1.xml" Id="R92eae64784c042d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7b489c9a9c42fe" /><Relationship Type="http://schemas.openxmlformats.org/officeDocument/2006/relationships/notesMaster" Target="/ppt/notesMasters/notesMaster1.xml" Id="Rf88a2c9a12174e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0b2b9fb5bc48d3" /><Relationship Type="http://schemas.openxmlformats.org/officeDocument/2006/relationships/notesMaster" Target="/ppt/notesMasters/notesMaster1.xml" Id="R59c88458877e46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50a834be364d2d" /><Relationship Type="http://schemas.openxmlformats.org/officeDocument/2006/relationships/notesMaster" Target="/ppt/notesMasters/notesMaster1.xml" Id="R81296398884a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TEACHING MOMENT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4, Week 19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REVISIT / REFERENCE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5, Week 24 during results and visual preparation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19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Student Handouts 9-12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Appendices H-K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24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5 Student Handout 5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5 Appendices F-G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RESOURCE ALIGNMENT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 graphing and visual ethics in Week 19. Revisit the visual standards during Week 24 results writing.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Frame the lesson around purpose. Students should not make a graph simply because the software can make it. Every visual needs a job: show a comparison, trend, relationship, distribution, design outcome, or important observation.</a:t>
            </a:r>
            <a:br/>
            <a:br/>
            <a:r>
              <a:t>Resource alignment:</a:t>
            </a:r>
            <a:br/>
            <a:r>
              <a:t>Use with Unit 4 Student Handout 9: Graph and Visual Selection Tool. This slide begins the transition from Deck 10 analysis methods into visual representation.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sets the ethical frame. Students should understand that visual choices are not neutral. A graph can clarify evidence or distort it.</a:t>
            </a:r>
            <a:br/>
            <a:br/>
            <a:r>
              <a:t>Resource alignment:</a:t>
            </a:r>
            <a:br/>
            <a:r>
              <a:t>Use with Unit 4 Appendix K: Misleading Graphs and Visual Ethics and Unit 4 Appendix I: Graphing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should be a quick matching lesson. Encourage students to decide based on the question, not aesthetics.</a:t>
            </a:r>
            <a:br/>
            <a:br/>
            <a:r>
              <a:t>Resource alignment:</a:t>
            </a:r>
            <a:br/>
            <a:r>
              <a:t>Student-facing activity: Unit 4 Student Handout 9: Graph and Visual Selection Tool. Reference Unit 4 Appendix H: Graph Selection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slide when students have categorical comparisons. Remind students that bar graphs summarize groups; they should not hide the raw story if sample size is tiny or variability matters.</a:t>
            </a:r>
            <a:br/>
            <a:br/>
            <a:r>
              <a:t>Resource alignment:</a:t>
            </a:r>
            <a:br/>
            <a:r>
              <a:t>Use with Unit 4 Appendix H: Graph Selection Guide and Unit 4 Appendix I: Graphing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Stress that line graphs imply continuity. Students should avoid connecting categories that do not have a meaningful order.</a:t>
            </a:r>
            <a:br/>
            <a:br/>
            <a:r>
              <a:t>Resource alignment:</a:t>
            </a:r>
            <a:br/>
            <a:r>
              <a:t>Use with Unit 4 Appendix H: Graph Selection Guide and Unit 4 Student Handout 9: Graph and Visual Selection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Connect back to Deck 10: a trendline can describe a relationship, but it does not prove causation by itself.</a:t>
            </a:r>
            <a:br/>
            <a:br/>
            <a:r>
              <a:t>Resource alignment:</a:t>
            </a:r>
            <a:br/>
            <a:r>
              <a:t>Use with Unit 4 Appendix H: Graph Selection Guide and Unit 4 Appendix D: Basic Statistics Guide if students are using trendlines or correlation.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helps students whose evidence is not purely numerical. The key is that the visual must still be systematic and connected to the research question.</a:t>
            </a:r>
            <a:br/>
            <a:br/>
            <a:r>
              <a:t>Resource alignment:</a:t>
            </a:r>
            <a:br/>
            <a:r>
              <a:t>Use with Unit 4 Student Handout 9: Graph and Visual Selection Tool and Unit 4 Appendix G: Qualitative and Observational Data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a checklist slide. Have students look at an existing graph or planned graph and identify the first fix they need to make.</a:t>
            </a:r>
            <a:br/>
            <a:br/>
            <a:r>
              <a:t>Resource alignment:</a:t>
            </a:r>
            <a:br/>
            <a:r>
              <a:t>Use with Unit 4 Student Handout 10: Graph Construction Checklist and Unit 4 Appendix I: Graphing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the first major work-time slide. Students should not leave this activity with ten graphs. They should identify the small number of visuals that matter most.</a:t>
            </a:r>
            <a:br/>
            <a:br/>
            <a:r>
              <a:t>Resource alignment:</a:t>
            </a:r>
            <a:br/>
            <a:r>
              <a:t>Student-facing activity: Unit 4 Student Handout 9: Graph and Visual Selection Tool. Reference Unit 4 Appendix H: Graph Selection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should not imply that all truncated axes are forbidden. The point is that scale choices must be justifiable and transparent.</a:t>
            </a:r>
            <a:br/>
            <a:br/>
            <a:r>
              <a:t>Resource alignment:</a:t>
            </a:r>
            <a:br/>
            <a:r>
              <a:t>Use with Unit 4 Appendix K: Misleading Graphs and Visual Ethics and Unit 4 Appendix I: Graphing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may want visuals to look impressive. Reinforce that the purpose is clarity and honesty. Decorative features can make a graph harder to interpret.</a:t>
            </a:r>
            <a:br/>
            <a:br/>
            <a:r>
              <a:t>Resource alignment:</a:t>
            </a:r>
            <a:br/>
            <a:r>
              <a:t>Use with Unit 4 Appendix K: Misleading Graphs and Visual Ethics and Unit 4 Student Handout 10: Graph Construction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a practical slide. Students should immediately apply it to their own graph or data table.</a:t>
            </a:r>
            <a:br/>
            <a:br/>
            <a:r>
              <a:t>Resource alignment:</a:t>
            </a:r>
            <a:br/>
            <a:r>
              <a:t>Use with Unit 4 Student Handout 10: Graph Construction Checklist and Unit 4 Appendix I: Graphing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Keep this conceptual. Deck 12 will go deeper into error, uncertainty, and limitations. For now, students should know that error bars require explanation.</a:t>
            </a:r>
            <a:br/>
            <a:br/>
            <a:r>
              <a:t>Resource alignment:</a:t>
            </a:r>
            <a:br/>
            <a:r>
              <a:t>Use with Unit 4 Appendix J: Error Bars and Uncertainty Basics and Unit 4 Student Handout 11: Error, Uncertainty, and Limitations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Captions are one of the easiest ways to improve student reports. A graph without a caption is harder to interpret and easier to misuse.</a:t>
            </a:r>
            <a:br/>
            <a:br/>
            <a:r>
              <a:t>Resource alignment:</a:t>
            </a:r>
            <a:br/>
            <a:r>
              <a:t>Use with Unit 4 Student Handout 12: Figure Caption Drafting. Optional Unit 5 Appendix G: Figure and Table Caption Guide if teaching this during report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a main production slide. Students should work on a real graph from their project, not a generic example. Circulate and ask what the graph is supposed to show.</a:t>
            </a:r>
            <a:br/>
            <a:br/>
            <a:r>
              <a:t>Resource alignment:</a:t>
            </a:r>
            <a:br/>
            <a:r>
              <a:t>Student-facing activity: Unit 4 Student Handout 10: Graph Construction Checklist. Reference Unit 4 Appendix I: Graphing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activity should be framed as ethical self-checking, not accusation. Students are learning to anticipate how visuals can accidentally mislead.</a:t>
            </a:r>
            <a:br/>
            <a:br/>
            <a:r>
              <a:t>Resource alignment:</a:t>
            </a:r>
            <a:br/>
            <a:r>
              <a:t>Student-facing activity: Unit 4 Appendix K: Misleading Graphs and Visual Ethics. Also connects to Unit 4 Student Handout 10: Graph Construction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should practice captions before writing the report. This helps them separate results from discussion and avoid overclaiming.</a:t>
            </a:r>
            <a:br/>
            <a:br/>
            <a:r>
              <a:t>Resource alignment:</a:t>
            </a:r>
            <a:br/>
            <a:r>
              <a:t>Student-facing activity: Unit 4 Student Handout 12: Figure Caption Drafting. Optional Unit 5 Student Handout 5: Results and Visuals Builder for report-writing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a strong peer-review structure because it reveals whether the visual communicates independently. If the reviewer cannot tell what it shows, the graph needs revision.</a:t>
            </a:r>
            <a:br/>
            <a:br/>
            <a:r>
              <a:t>Resource alignment:</a:t>
            </a:r>
            <a:br/>
            <a:r>
              <a:t>Use with Unit 4 Student Handout 10: Graph Construction Checklist and Unit 4 Student Handout 12: Figure Caption Drafting.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as a final self-check before students move into more formal results writing. Not every student will have the same issues, so let them choose the top two fixes that matter.</a:t>
            </a:r>
            <a:br/>
            <a:br/>
            <a:r>
              <a:t>Resource alignment:</a:t>
            </a:r>
            <a:br/>
            <a:r>
              <a:t>Use with Unit 4 Appendix I: Graphing Standards, Unit 4 Appendix K: Misleading Graphs and Visual Ethics, and Unit 4 Student Handout 10: Graph Construction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Collect this or have students submit links/screenshots. Use responses to determine who needs graphing support, caption support, or uncertainty/error support before Deck 12.</a:t>
            </a:r>
            <a:br/>
            <a:br/>
            <a:r>
              <a:t>Resource alignment:</a:t>
            </a:r>
            <a:br/>
            <a:r>
              <a:t>Use after Unit 4 Student Handout 9, Student Handout 10, and Student Handout 12. Next deck connection: Deck 12: Error, Uncertainty,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Close by making the transition explicit. Students now have a cleaner visual; next they must learn how to discuss uncertainty and limitations honestly.</a:t>
            </a:r>
            <a:br/>
            <a:br/>
            <a:r>
              <a:t>Resource alignment:</a:t>
            </a:r>
            <a:br/>
            <a:r>
              <a:t>Next deck connection: Deck 12: Error, Uncertainty, and Limitations. Continue using Unit 4 Student Handout 11: Error, Uncertainty, and Limitations Review and Unit 4 Appendix J: Error Bars and Uncertainty Basics.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9b41651db44a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b2bfbbc7b240cd" /><Relationship Type="http://schemas.openxmlformats.org/officeDocument/2006/relationships/slideLayout" Target="/ppt/slideLayouts/slideLayout1.xml" Id="R960455041c6f4af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0455041c6f4a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a0a8d3a64037" /><Relationship Type="http://schemas.openxmlformats.org/officeDocument/2006/relationships/image" Target="/ppt/media/image.png" Id="R556c0228ae7e4d67" /><Relationship Type="http://schemas.openxmlformats.org/officeDocument/2006/relationships/notesSlide" Target="/ppt/notesSlides/notesSlide1.xml" Id="R0c723db860e247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750f105b74621" /><Relationship Type="http://schemas.openxmlformats.org/officeDocument/2006/relationships/notesSlide" Target="/ppt/notesSlides/notesSlide2.xml" Id="R0b9f3fbb744547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2149bf3134d12" /><Relationship Type="http://schemas.openxmlformats.org/officeDocument/2006/relationships/notesSlide" Target="/ppt/notesSlides/notesSlide3.xml" Id="R6f424a365d054d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61281cab1465f" /><Relationship Type="http://schemas.openxmlformats.org/officeDocument/2006/relationships/notesSlide" Target="/ppt/notesSlides/notesSlide4.xml" Id="Rd2278b5d463c43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d93f4e7664162" /><Relationship Type="http://schemas.openxmlformats.org/officeDocument/2006/relationships/notesSlide" Target="/ppt/notesSlides/notesSlide5.xml" Id="R16323d9fe3384d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463da7c594830" /><Relationship Type="http://schemas.openxmlformats.org/officeDocument/2006/relationships/notesSlide" Target="/ppt/notesSlides/notesSlide6.xml" Id="R6b8356d541a542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601f6627e408a" /><Relationship Type="http://schemas.openxmlformats.org/officeDocument/2006/relationships/notesSlide" Target="/ppt/notesSlides/notesSlide7.xml" Id="Rae3c2ff46cfd45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5efd99e5a48f4" /><Relationship Type="http://schemas.openxmlformats.org/officeDocument/2006/relationships/notesSlide" Target="/ppt/notesSlides/notesSlide8.xml" Id="Rc77eee24ea8a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5f634cf5246e4" /><Relationship Type="http://schemas.openxmlformats.org/officeDocument/2006/relationships/notesSlide" Target="/ppt/notesSlides/notesSlide9.xml" Id="R601e1c75ef494e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243d653804888" /><Relationship Type="http://schemas.openxmlformats.org/officeDocument/2006/relationships/notesSlide" Target="/ppt/notesSlides/notesSlide10.xml" Id="Rcdfb06754fc946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10eb3cc994988" /><Relationship Type="http://schemas.openxmlformats.org/officeDocument/2006/relationships/notesSlide" Target="/ppt/notesSlides/notesSlide11.xml" Id="R7efb031e902347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42a5081464828" /><Relationship Type="http://schemas.openxmlformats.org/officeDocument/2006/relationships/notesSlide" Target="/ppt/notesSlides/notesSlide12.xml" Id="R6de159c7ee0a4a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507ebffed45b2" /><Relationship Type="http://schemas.openxmlformats.org/officeDocument/2006/relationships/notesSlide" Target="/ppt/notesSlides/notesSlide13.xml" Id="R979386dbbe644d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050c353824377" /><Relationship Type="http://schemas.openxmlformats.org/officeDocument/2006/relationships/notesSlide" Target="/ppt/notesSlides/notesSlide14.xml" Id="R548464ef4fc94d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7bb36653e4ffe" /><Relationship Type="http://schemas.openxmlformats.org/officeDocument/2006/relationships/notesSlide" Target="/ppt/notesSlides/notesSlide15.xml" Id="R482d8b2eec6f44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d117f05f14c4d" /><Relationship Type="http://schemas.openxmlformats.org/officeDocument/2006/relationships/notesSlide" Target="/ppt/notesSlides/notesSlide16.xml" Id="Rb10863137add45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344f17d1496e" /><Relationship Type="http://schemas.openxmlformats.org/officeDocument/2006/relationships/notesSlide" Target="/ppt/notesSlides/notesSlide17.xml" Id="Rb02d1c78e58a4a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c003146234b87" /><Relationship Type="http://schemas.openxmlformats.org/officeDocument/2006/relationships/notesSlide" Target="/ppt/notesSlides/notesSlide18.xml" Id="R082145515b774e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d6c2b441a40fb" /><Relationship Type="http://schemas.openxmlformats.org/officeDocument/2006/relationships/notesSlide" Target="/ppt/notesSlides/notesSlide19.xml" Id="R5e47288ab67043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505f9c72c4022" /><Relationship Type="http://schemas.openxmlformats.org/officeDocument/2006/relationships/notesSlide" Target="/ppt/notesSlides/notesSlide20.xml" Id="R12986f5e281548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60982362c43d2" /><Relationship Type="http://schemas.openxmlformats.org/officeDocument/2006/relationships/notesSlide" Target="/ppt/notesSlides/notesSlide21.xml" Id="Rc73891fd160f4e9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e489a1fd44c56" /><Relationship Type="http://schemas.openxmlformats.org/officeDocument/2006/relationships/notesSlide" Target="/ppt/notesSlides/notesSlide22.xml" Id="R8dcb6d119d1344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FD368AC6-F6FF-4F2A-8190-44DB0B4F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0CD07877-1912-4C41-9BC1-D0D6A6B5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851E911-4BA3-47B4-97D5-B9CD229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0256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" name="Google Shape;1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6c0228ae7e4d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57400" y="420624"/>
            <a:ext cx="8046720" cy="42976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F06ABB77-7351-4FD7-988D-F994DB71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00600"/>
            <a:ext cx="1046988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D71920">
                <a:alpha val="7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C4495186-E260-4B9E-9F5C-1D551E48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965192"/>
            <a:ext cx="100126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lay"/>
              <a:buNone/>
            </a:pPr>
            <a:r>
              <a:rPr sz="22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GRAPHING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819B1D17-2100-477B-9469-E27B04C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321808"/>
            <a:ext cx="10012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2300"/>
              <a:buFont typeface="Play"/>
              <a:buNone/>
            </a:pPr>
            <a:r>
              <a:rPr sz="23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&amp; VISUAL ETHICS</a:t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41A0DCAC-6283-4398-B026-455E325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188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STARLAB Deck 11  •  Unit 4–5 Core Instruction</a:t>
            </a:r>
          </a:p>
        </p:txBody>
      </p:sp>
    </p:spTree>
    <p:extLst>
      <p:ext uri="{BB962C8B-B14F-4D97-AF65-F5344CB8AC3E}">
        <p14:creationId xmlns:p14="http://schemas.microsoft.com/office/powerpoint/2010/main" val="1810218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C761D20-7EE8-4B28-B110-F391A921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86DDB5B-F253-4B18-9213-1A40E47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62D1DA1-2599-4296-9946-9DD6D3B9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3E976F2-6EC7-40DB-861D-6C63A826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GRAPHING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26241A6-787B-4F2C-BA11-5E0F4F51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6A60EA2-2C50-4A30-ADDE-5234B17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Today’s Target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7ECD9836-CA9F-430B-8FA3-F36C4E4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F367CC96-C5DF-4CDC-A7DD-D76CBD04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Students make visuals that are clear, honest, and useful for interpretation.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B553B671-7830-423D-B2F8-F6A76EE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02</a:t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D9AD02DF-44F8-45A2-AFD0-B42C1D00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08760"/>
            <a:ext cx="9875520" cy="214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Choose graph and visual formats that match the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Build graphs with titles, units, labels, scale, and captions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Recognize how visuals can accidentally or intentionally mislead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Prepare figures that can move into the report and presentation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5424B0EF-4A1F-4D72-AD55-2EEC9A91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F9E367E2-1782-434F-8249-48911D1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C7C7873A-4B68-40F5-9695-A289CC8F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purpose check</a:t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DDC619A0-E559-4B09-916D-84119B0F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E2F784B7-A60F-4029-A778-D8C24928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Open your analysis plan and write: “The visual I need most should help the audience see…”</a:t>
            </a:r>
          </a:p>
        </p:txBody>
      </p:sp>
    </p:spTree>
    <p:extLst>
      <p:ext uri="{BB962C8B-B14F-4D97-AF65-F5344CB8AC3E}">
        <p14:creationId xmlns:p14="http://schemas.microsoft.com/office/powerpoint/2010/main" val="1589589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6180A4F0-9616-4F01-BA36-0C1F60D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9E2CF7EC-8C8C-4C2C-BCD9-DAAAD58F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B1A35639-D728-4C7E-9D00-F433BBE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A6995185-0A27-404B-B09F-2744725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CORE IDEA</a:t>
            </a: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AA129B20-0F2A-4733-9761-45D48C5F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7582F612-1FF5-456B-A5E7-31C65158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A Graph Is an Argument With Evidence</a:t>
            </a: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42E63024-459D-4DE2-A647-09248F0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1E218C9-C88C-4ED8-B432-3D9BC37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Visuals do not just display data. They shape how people interpret it.</a:t>
            </a: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3E85B308-51E7-48C5-842B-B30B24F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03</a:t>
            </a: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05382CEE-8E17-47D1-A55C-5D0FDFD6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320040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8A57D0AB-FA45-434B-B7B1-3C85AC57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6FA72B0F-F4A3-47CD-8DC3-8C97D3B3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67335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CLARIFY</a:t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E50F6CE4-BA4B-41C7-8947-6A6E15D8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011680"/>
            <a:ext cx="288036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visual makes the important comparison, trend, or relationship easier to see.</a:t>
            </a: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0A9E51BC-B0A8-4F42-BFDD-2010D43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08760"/>
            <a:ext cx="320040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A424B92E-1A78-4902-B98F-8346199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0876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44F95225-B283-41CB-9522-9DD9E1BA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67335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CONTEXTUALIZE</a:t>
            </a: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BB3ECB50-EB6F-47A1-8EDA-C752CAC8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011680"/>
            <a:ext cx="288036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visual keeps units, labels, conditions, and sample information visible.</a:t>
            </a: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FF8C3D1E-2A4A-463A-BF74-C97879E2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08760"/>
            <a:ext cx="320040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536400BF-9270-4D2E-82ED-3DE0E6DA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0876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478ABDDE-E6D9-4DE2-B03D-D86A3CE0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67335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5AE4FA85-3F5C-4F39-9514-79F9482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011680"/>
            <a:ext cx="288036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visual avoids hiding uncertainty, failed trials, or inconvenient results.</a:t>
            </a:r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222C4E73-1AA2-47AC-87DE-D729A23C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78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Ask yourself: What would someone conclude from this visual before I explain it?</a:t>
            </a:r>
          </a:p>
        </p:txBody>
      </p:sp>
    </p:spTree>
    <p:extLst>
      <p:ext uri="{BB962C8B-B14F-4D97-AF65-F5344CB8AC3E}">
        <p14:creationId xmlns:p14="http://schemas.microsoft.com/office/powerpoint/2010/main" val="1831175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EFDAED0F-4F5E-4301-9D5B-C3136B96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4C545B5E-D145-4C5B-897E-1E313D9D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26AFAE5F-4A93-48D4-AE4E-DD678444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21C3439C-0B3F-4840-8144-9C58F50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GRAPH SELECTION</a:t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FDCBF069-28DC-47E9-B4CA-4D9AD92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82394E33-B44E-4B2B-9558-DB6CD12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Match the Visual to the Question</a:t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C619B52F-48EF-49C3-9BC5-0880FEAD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5068A205-074D-425B-B2A2-CDA7C5C9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The right graph depends on what the data need to show.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53AC5A1F-A85E-4E17-9BBA-F716A1B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04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7A7538FE-326E-4069-9475-D07658E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32461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92877D16-FE2A-49DC-A364-FF278BE8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45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F7482E32-2761-4786-9265-F6AA264C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5819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Compare groups</a:t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7E60A9DD-8ADC-450B-8F6C-4D3296E6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2024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Bar graph or table</a:t>
            </a: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E34E900C-9DF2-45F3-B931-F3010F8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17320"/>
            <a:ext cx="32461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CCE20813-BDB3-4704-88DD-804685A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17320"/>
            <a:ext cx="45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C6CB8409-9B09-47D1-B4BE-0FAF6EFB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5819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Show change over time</a:t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3A49204A-ACC1-4A81-9A62-56D43C62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92024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Line graph</a:t>
            </a: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0B912B94-7300-453C-BCE1-67DB382F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2461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FC2DB8F6-2613-4D77-AC91-41E1DBD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45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625B7101-B4C9-459E-A7B3-05FEB8B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15819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Show relationship</a:t>
            </a: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F9431CE2-194B-434F-9A26-DB056B4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192024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Scatter plot</a:t>
            </a: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FF0041F6-D574-4E19-9463-6CD3C415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32461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002C073E-1C9E-4FB0-A6E0-442CCBBD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45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658339C8-1848-4B56-8B36-9686422B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906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Show exact values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86542C77-8648-43AF-8F3B-D7B6FCCB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42900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738BFF6-46D2-422D-8A3B-A121283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926080"/>
            <a:ext cx="32461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251D0DC0-7B7C-4142-980F-2307A20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926080"/>
            <a:ext cx="45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A70ED583-8B29-4109-BAE5-7D87864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0906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Show design changes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8C5829BA-F3A0-417F-A42D-BAA798F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42900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Photo series or diagram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5A5E5B49-62CE-4B60-9C86-8AC20B5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26080"/>
            <a:ext cx="32461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3248AFD8-D8FE-4CF4-A41E-20341147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26080"/>
            <a:ext cx="45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CCE05A70-7EE4-4AF2-8588-5817CBF5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9067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Show categories</a:t>
            </a: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6A04F045-B079-48F5-B0AC-3E58755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42900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Frequency table or coded chart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AF6D0CD6-9BB7-4CFC-92C8-7C9F977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D318AEFC-6102-4A9B-9974-573C27C9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61152EAB-2EF8-42EF-8344-C12D835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the visual type</a:t>
            </a:r>
          </a:p>
        </p:txBody>
      </p:sp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1ACC20CA-0D06-4C6D-A830-05E3AA4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68E9F85F-1967-41BD-B5F6-80FC2864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Handout 9. For each major data set, name the visual that best shows what the audience needs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721152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52BF3698-A660-4094-BFE8-5BDA4C3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D2DFC0F4-C68A-4B00-82BC-8E7EB5C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CE02C8-9DBB-4AA7-8AE9-DBAE4F7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4804D34D-A6F7-4E32-B65F-C06A26F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BAR GRAPHS</a:t>
            </a: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F4371DC1-C1D8-4358-B124-6308C10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2A32F1A2-4B8F-4C01-A833-7613A69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Bar Graphs Compare Categories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62E2553B-5415-4EBC-B2F6-9BCF7D2A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C3F5651E-AB52-4175-B3C8-2653E5A5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when the independent variable is a group, category, condition, or design.</a:t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47E99F0C-67C4-4756-BF56-99B3FAD1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05</a:t>
            </a:r>
          </a:p>
        </p:txBody>
      </p:sp>
      <p:cxnSp>
        <p:nvCxnSpPr>
          <p:cNvPr id="151" name="Google Shape;128;p7"/>
          <p:cNvCxnSpPr/>
          <p:nvPr/>
        </p:nvCxnSpPr>
        <p:spPr>
          <a:xfrm xmlns:a="http://schemas.openxmlformats.org/drawingml/2006/main" rot="10800000">
            <a:off x="868680" y="1965960"/>
            <a:ext cx="0" cy="196596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29;p7"/>
          <p:cNvCxnSpPr/>
          <p:nvPr/>
        </p:nvCxnSpPr>
        <p:spPr>
          <a:xfrm xmlns:a="http://schemas.openxmlformats.org/drawingml/2006/main">
            <a:off x="868680" y="3931920"/>
            <a:ext cx="338328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8105A710-F712-41EF-9277-09CB4ED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006" y="3243834"/>
            <a:ext cx="434993" cy="688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12700" cmpd="sng">
            <a:solidFill>
              <a:srgbClr val="222222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7B7563D2-D81A-487B-B921-B2CAB556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657" y="2791663"/>
            <a:ext cx="434993" cy="1140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222222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F1053B4F-719B-4111-BF7B-CFAF0871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309" y="2398471"/>
            <a:ext cx="434993" cy="1533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12700" cmpd="sng">
            <a:solidFill>
              <a:srgbClr val="222222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FDD4DF0A-A7E5-4E4B-9983-F57EE364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27432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4BC9131E-A419-4892-A614-F8AEEDA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44514B6B-AE96-4BFC-B591-CF6149EE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67335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GOOD FOR</a:t>
            </a: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AF6CCFD4-4F58-4407-9C49-6DE1A94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1168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height by treatment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Voltage by blade design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supported by truss type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0D070447-C86C-43FF-AFEF-ADAB6742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27432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A2B1555C-B136-4981-836D-770A865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8E98ACBE-5BF1-45D0-8675-C69B9FE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67335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WATCH OUT</a:t>
            </a: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958FCD5D-439A-4ABD-8614-E6068FCE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01168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Missing units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Unequal sample sizes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Bars hiding variability</a:t>
            </a: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4DEABC-B63A-4DF7-9023-6F37C522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sz="1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type: Which group, condition, or design performed differently?</a:t>
            </a:r>
          </a:p>
        </p:txBody>
      </p:sp>
    </p:spTree>
    <p:extLst>
      <p:ext uri="{BB962C8B-B14F-4D97-AF65-F5344CB8AC3E}">
        <p14:creationId xmlns:p14="http://schemas.microsoft.com/office/powerpoint/2010/main" val="517562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5E984104-A402-4A54-ACA0-8711C21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8" name="Google Shape;148;p8">
            <a:extLst xmlns:a="http://schemas.openxmlformats.org/drawingml/2006/main">
              <a:ext uri="{FF2B5EF4-FFF2-40B4-BE49-F238E27FC236}">
                <a16:creationId xmlns:a16="http://schemas.microsoft.com/office/drawing/2014/main" id="{84E0205A-10F4-432E-92CE-BE23B819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8">
            <a:extLst xmlns:a="http://schemas.openxmlformats.org/drawingml/2006/main">
              <a:ext uri="{FF2B5EF4-FFF2-40B4-BE49-F238E27FC236}">
                <a16:creationId xmlns:a16="http://schemas.microsoft.com/office/drawing/2014/main" id="{016724A9-585D-41C1-8FD0-E1498DE7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0" name="Google Shape;150;p8">
            <a:extLst xmlns:a="http://schemas.openxmlformats.org/drawingml/2006/main">
              <a:ext uri="{FF2B5EF4-FFF2-40B4-BE49-F238E27FC236}">
                <a16:creationId xmlns:a16="http://schemas.microsoft.com/office/drawing/2014/main" id="{DB4C40E3-C052-4B16-9B7B-EC037EE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LINE GRAPHS</a:t>
            </a:r>
          </a:p>
        </p:txBody>
      </p:sp>
      <p:sp>
        <p:nvSpPr>
          <p:cNvPr id="151" name="Google Shape;151;p8">
            <a:extLst xmlns:a="http://schemas.openxmlformats.org/drawingml/2006/main">
              <a:ext uri="{FF2B5EF4-FFF2-40B4-BE49-F238E27FC236}">
                <a16:creationId xmlns:a16="http://schemas.microsoft.com/office/drawing/2014/main" id="{E104A5CC-14E8-45F4-952F-9E07122B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71BEE94A-7DCB-4873-ADB1-5914D3FB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Line Graphs Show Change</a:t>
            </a:r>
          </a:p>
        </p:txBody>
      </p:sp>
      <p:sp>
        <p:nvSpPr>
          <p:cNvPr id="153" name="Google Shape;153;p8">
            <a:extLst xmlns:a="http://schemas.openxmlformats.org/drawingml/2006/main">
              <a:ext uri="{FF2B5EF4-FFF2-40B4-BE49-F238E27FC236}">
                <a16:creationId xmlns:a16="http://schemas.microsoft.com/office/drawing/2014/main" id="{A7B5DF1C-00AA-4C92-A5CE-0ABAE85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8">
            <a:extLst xmlns:a="http://schemas.openxmlformats.org/drawingml/2006/main">
              <a:ext uri="{FF2B5EF4-FFF2-40B4-BE49-F238E27FC236}">
                <a16:creationId xmlns:a16="http://schemas.microsoft.com/office/drawing/2014/main" id="{5E2F9C63-BC4F-4FA3-9B97-3AC93D5D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when the x-axis represents time, sequence, or a continuous variable.</a:t>
            </a:r>
          </a:p>
        </p:txBody>
      </p:sp>
      <p:sp>
        <p:nvSpPr>
          <p:cNvPr id="155" name="Google Shape;155;p8">
            <a:extLst xmlns:a="http://schemas.openxmlformats.org/drawingml/2006/main">
              <a:ext uri="{FF2B5EF4-FFF2-40B4-BE49-F238E27FC236}">
                <a16:creationId xmlns:a16="http://schemas.microsoft.com/office/drawing/2014/main" id="{B6DEB03C-94FC-4912-84B9-A6E03B7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06</a:t>
            </a:r>
          </a:p>
        </p:txBody>
      </p:sp>
      <p:cxnSp>
        <p:nvCxnSpPr>
          <p:cNvPr id="185" name="Google Shape;156;p8"/>
          <p:cNvCxnSpPr/>
          <p:nvPr/>
        </p:nvCxnSpPr>
        <p:spPr>
          <a:xfrm xmlns:a="http://schemas.openxmlformats.org/drawingml/2006/main" rot="10800000">
            <a:off x="868680" y="1828800"/>
            <a:ext cx="0" cy="210312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57;p8"/>
          <p:cNvCxnSpPr/>
          <p:nvPr/>
        </p:nvCxnSpPr>
        <p:spPr>
          <a:xfrm xmlns:a="http://schemas.openxmlformats.org/drawingml/2006/main">
            <a:off x="868680" y="3931920"/>
            <a:ext cx="338328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58;p8"/>
          <p:cNvCxnSpPr/>
          <p:nvPr/>
        </p:nvCxnSpPr>
        <p:spPr>
          <a:xfrm xmlns:a="http://schemas.openxmlformats.org/drawingml/2006/main" rot="10800000" flipH="1">
            <a:off x="1139342" y="3195828"/>
            <a:ext cx="676656" cy="31546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D7192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59;p8"/>
          <p:cNvCxnSpPr/>
          <p:nvPr/>
        </p:nvCxnSpPr>
        <p:spPr>
          <a:xfrm xmlns:a="http://schemas.openxmlformats.org/drawingml/2006/main" rot="10800000" flipH="1">
            <a:off x="1815998" y="2712110"/>
            <a:ext cx="676656" cy="48371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D7192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9" name="Google Shape;160;p8"/>
          <p:cNvCxnSpPr/>
          <p:nvPr/>
        </p:nvCxnSpPr>
        <p:spPr>
          <a:xfrm xmlns:a="http://schemas.openxmlformats.org/drawingml/2006/main" rot="10800000" flipH="1">
            <a:off x="2492654" y="2564892"/>
            <a:ext cx="676656" cy="14721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D7192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61;p8"/>
          <p:cNvCxnSpPr/>
          <p:nvPr/>
        </p:nvCxnSpPr>
        <p:spPr>
          <a:xfrm xmlns:a="http://schemas.openxmlformats.org/drawingml/2006/main" rot="10800000" flipH="1">
            <a:off x="3169310" y="2249424"/>
            <a:ext cx="676656" cy="31546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D719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8">
            <a:extLst xmlns:a="http://schemas.openxmlformats.org/drawingml/2006/main">
              <a:ext uri="{FF2B5EF4-FFF2-40B4-BE49-F238E27FC236}">
                <a16:creationId xmlns:a16="http://schemas.microsoft.com/office/drawing/2014/main" id="{2991CBA6-D133-4678-B90E-5C561B73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" y="3474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3" name="Google Shape;163;p8">
            <a:extLst xmlns:a="http://schemas.openxmlformats.org/drawingml/2006/main">
              <a:ext uri="{FF2B5EF4-FFF2-40B4-BE49-F238E27FC236}">
                <a16:creationId xmlns:a16="http://schemas.microsoft.com/office/drawing/2014/main" id="{D546928D-1BC2-4936-AEBE-821A69B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422" y="315925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4" name="Google Shape;164;p8">
            <a:extLst xmlns:a="http://schemas.openxmlformats.org/drawingml/2006/main">
              <a:ext uri="{FF2B5EF4-FFF2-40B4-BE49-F238E27FC236}">
                <a16:creationId xmlns:a16="http://schemas.microsoft.com/office/drawing/2014/main" id="{BC8F6BC4-C749-499A-8B28-8188A006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078" y="267553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8">
            <a:extLst xmlns:a="http://schemas.openxmlformats.org/drawingml/2006/main">
              <a:ext uri="{FF2B5EF4-FFF2-40B4-BE49-F238E27FC236}">
                <a16:creationId xmlns:a16="http://schemas.microsoft.com/office/drawing/2014/main" id="{D6EE1416-BD0D-4275-A355-1CB601F8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734" y="252831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6" name="Google Shape;166;p8">
            <a:extLst xmlns:a="http://schemas.openxmlformats.org/drawingml/2006/main">
              <a:ext uri="{FF2B5EF4-FFF2-40B4-BE49-F238E27FC236}">
                <a16:creationId xmlns:a16="http://schemas.microsoft.com/office/drawing/2014/main" id="{E7B3B3CC-01DB-48FA-A145-918CE194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390" y="22128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7" name="Google Shape;167;p8">
            <a:extLst xmlns:a="http://schemas.openxmlformats.org/drawingml/2006/main">
              <a:ext uri="{FF2B5EF4-FFF2-40B4-BE49-F238E27FC236}">
                <a16:creationId xmlns:a16="http://schemas.microsoft.com/office/drawing/2014/main" id="{6E5BD479-AE0D-49FB-AA50-78FE2348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27432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8">
            <a:extLst xmlns:a="http://schemas.openxmlformats.org/drawingml/2006/main">
              <a:ext uri="{FF2B5EF4-FFF2-40B4-BE49-F238E27FC236}">
                <a16:creationId xmlns:a16="http://schemas.microsoft.com/office/drawing/2014/main" id="{4BBAD7FF-FFF1-4BA1-9F21-5B658694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8">
            <a:extLst xmlns:a="http://schemas.openxmlformats.org/drawingml/2006/main">
              <a:ext uri="{FF2B5EF4-FFF2-40B4-BE49-F238E27FC236}">
                <a16:creationId xmlns:a16="http://schemas.microsoft.com/office/drawing/2014/main" id="{238E487E-73CB-460B-B59F-73415862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67335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GOOD FOR</a:t>
            </a:r>
          </a:p>
        </p:txBody>
      </p:sp>
      <p:sp>
        <p:nvSpPr>
          <p:cNvPr id="170" name="Google Shape;170;p8">
            <a:extLst xmlns:a="http://schemas.openxmlformats.org/drawingml/2006/main">
              <a:ext uri="{FF2B5EF4-FFF2-40B4-BE49-F238E27FC236}">
                <a16:creationId xmlns:a16="http://schemas.microsoft.com/office/drawing/2014/main" id="{434E8F19-6475-434A-93EB-2AFAC77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1168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Temperature over time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Growth by week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Sensor output across trials</a:t>
            </a:r>
          </a:p>
        </p:txBody>
      </p:sp>
      <p:sp>
        <p:nvSpPr>
          <p:cNvPr id="171" name="Google Shape;171;p8">
            <a:extLst xmlns:a="http://schemas.openxmlformats.org/drawingml/2006/main">
              <a:ext uri="{FF2B5EF4-FFF2-40B4-BE49-F238E27FC236}">
                <a16:creationId xmlns:a16="http://schemas.microsoft.com/office/drawing/2014/main" id="{E772213E-6FFA-4D81-9FF3-9D098AB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27432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8">
            <a:extLst xmlns:a="http://schemas.openxmlformats.org/drawingml/2006/main">
              <a:ext uri="{FF2B5EF4-FFF2-40B4-BE49-F238E27FC236}">
                <a16:creationId xmlns:a16="http://schemas.microsoft.com/office/drawing/2014/main" id="{5D008F57-8B4D-4419-A2EF-7E240059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3" name="Google Shape;173;p8">
            <a:extLst xmlns:a="http://schemas.openxmlformats.org/drawingml/2006/main">
              <a:ext uri="{FF2B5EF4-FFF2-40B4-BE49-F238E27FC236}">
                <a16:creationId xmlns:a16="http://schemas.microsoft.com/office/drawing/2014/main" id="{57AA3DD3-5C3C-4BED-B275-D7F5EE62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67335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WATCH OUT</a:t>
            </a:r>
          </a:p>
        </p:txBody>
      </p:sp>
      <p:sp>
        <p:nvSpPr>
          <p:cNvPr id="174" name="Google Shape;174;p8">
            <a:extLst xmlns:a="http://schemas.openxmlformats.org/drawingml/2006/main">
              <a:ext uri="{FF2B5EF4-FFF2-40B4-BE49-F238E27FC236}">
                <a16:creationId xmlns:a16="http://schemas.microsoft.com/office/drawing/2014/main" id="{EEC3F214-8296-4B22-A384-C8C6120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01168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Connecting unrelated categories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Uneven intervals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many lines at once</a:t>
            </a:r>
          </a:p>
        </p:txBody>
      </p:sp>
      <p:sp>
        <p:nvSpPr>
          <p:cNvPr id="175" name="Google Shape;175;p8">
            <a:extLst xmlns:a="http://schemas.openxmlformats.org/drawingml/2006/main">
              <a:ext uri="{FF2B5EF4-FFF2-40B4-BE49-F238E27FC236}">
                <a16:creationId xmlns:a16="http://schemas.microsoft.com/office/drawing/2014/main" id="{049733F8-8CF6-4750-8F73-C4A5367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type: How does the measurement change across time or a continuous condition?</a:t>
            </a:r>
          </a:p>
        </p:txBody>
      </p:sp>
    </p:spTree>
    <p:extLst>
      <p:ext uri="{BB962C8B-B14F-4D97-AF65-F5344CB8AC3E}">
        <p14:creationId xmlns:p14="http://schemas.microsoft.com/office/powerpoint/2010/main" val="596111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9">
            <a:extLst xmlns:a="http://schemas.openxmlformats.org/drawingml/2006/main">
              <a:ext uri="{FF2B5EF4-FFF2-40B4-BE49-F238E27FC236}">
                <a16:creationId xmlns:a16="http://schemas.microsoft.com/office/drawing/2014/main" id="{326E5002-01FB-42F4-BA65-3037943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2" name="Google Shape;182;p9">
            <a:extLst xmlns:a="http://schemas.openxmlformats.org/drawingml/2006/main">
              <a:ext uri="{FF2B5EF4-FFF2-40B4-BE49-F238E27FC236}">
                <a16:creationId xmlns:a16="http://schemas.microsoft.com/office/drawing/2014/main" id="{EC36197B-676C-400D-B678-AAB41317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3" name="Google Shape;183;p9">
            <a:extLst xmlns:a="http://schemas.openxmlformats.org/drawingml/2006/main">
              <a:ext uri="{FF2B5EF4-FFF2-40B4-BE49-F238E27FC236}">
                <a16:creationId xmlns:a16="http://schemas.microsoft.com/office/drawing/2014/main" id="{46CCA031-7A13-4299-BAA6-5ED771D0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4" name="Google Shape;184;p9">
            <a:extLst xmlns:a="http://schemas.openxmlformats.org/drawingml/2006/main">
              <a:ext uri="{FF2B5EF4-FFF2-40B4-BE49-F238E27FC236}">
                <a16:creationId xmlns:a16="http://schemas.microsoft.com/office/drawing/2014/main" id="{DBC35FEB-ECB2-4597-BF4E-6A32127A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SCATTER PLOTS</a:t>
            </a:r>
          </a:p>
        </p:txBody>
      </p:sp>
      <p:sp>
        <p:nvSpPr>
          <p:cNvPr id="185" name="Google Shape;185;p9">
            <a:extLst xmlns:a="http://schemas.openxmlformats.org/drawingml/2006/main">
              <a:ext uri="{FF2B5EF4-FFF2-40B4-BE49-F238E27FC236}">
                <a16:creationId xmlns:a16="http://schemas.microsoft.com/office/drawing/2014/main" id="{73C97C6F-70E4-4DAB-B8C2-785283E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186" name="Google Shape;186;p9">
            <a:extLst xmlns:a="http://schemas.openxmlformats.org/drawingml/2006/main">
              <a:ext uri="{FF2B5EF4-FFF2-40B4-BE49-F238E27FC236}">
                <a16:creationId xmlns:a16="http://schemas.microsoft.com/office/drawing/2014/main" id="{116A4019-4CF2-402D-9524-13AE1D7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Scatter Plots Show Relationships</a:t>
            </a:r>
          </a:p>
        </p:txBody>
      </p:sp>
      <p:sp>
        <p:nvSpPr>
          <p:cNvPr id="187" name="Google Shape;187;p9">
            <a:extLst xmlns:a="http://schemas.openxmlformats.org/drawingml/2006/main">
              <a:ext uri="{FF2B5EF4-FFF2-40B4-BE49-F238E27FC236}">
                <a16:creationId xmlns:a16="http://schemas.microsoft.com/office/drawing/2014/main" id="{0DF93A7D-107C-45E4-B614-04C0557D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8" name="Google Shape;188;p9">
            <a:extLst xmlns:a="http://schemas.openxmlformats.org/drawingml/2006/main">
              <a:ext uri="{FF2B5EF4-FFF2-40B4-BE49-F238E27FC236}">
                <a16:creationId xmlns:a16="http://schemas.microsoft.com/office/drawing/2014/main" id="{B3634A90-05E9-45E8-8597-510B39CC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when both variables are numerical measurements.</a:t>
            </a:r>
          </a:p>
        </p:txBody>
      </p:sp>
      <p:sp>
        <p:nvSpPr>
          <p:cNvPr id="189" name="Google Shape;189;p9">
            <a:extLst xmlns:a="http://schemas.openxmlformats.org/drawingml/2006/main">
              <a:ext uri="{FF2B5EF4-FFF2-40B4-BE49-F238E27FC236}">
                <a16:creationId xmlns:a16="http://schemas.microsoft.com/office/drawing/2014/main" id="{3EF357DD-A4D7-468A-ADCB-A9F5C71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07</a:t>
            </a:r>
          </a:p>
        </p:txBody>
      </p:sp>
      <p:cxnSp>
        <p:nvCxnSpPr>
          <p:cNvPr id="217" name="Google Shape;190;p9"/>
          <p:cNvCxnSpPr/>
          <p:nvPr/>
        </p:nvCxnSpPr>
        <p:spPr>
          <a:xfrm xmlns:a="http://schemas.openxmlformats.org/drawingml/2006/main" rot="10800000">
            <a:off x="868680" y="1828800"/>
            <a:ext cx="0" cy="210312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191;p9"/>
          <p:cNvCxnSpPr/>
          <p:nvPr/>
        </p:nvCxnSpPr>
        <p:spPr>
          <a:xfrm xmlns:a="http://schemas.openxmlformats.org/drawingml/2006/main">
            <a:off x="868680" y="3931920"/>
            <a:ext cx="338328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9">
            <a:extLst xmlns:a="http://schemas.openxmlformats.org/drawingml/2006/main">
              <a:ext uri="{FF2B5EF4-FFF2-40B4-BE49-F238E27FC236}">
                <a16:creationId xmlns:a16="http://schemas.microsoft.com/office/drawing/2014/main" id="{ACF476C8-1F3C-4A15-8935-EE17805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96" y="343265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9">
            <a:extLst xmlns:a="http://schemas.openxmlformats.org/drawingml/2006/main">
              <a:ext uri="{FF2B5EF4-FFF2-40B4-BE49-F238E27FC236}">
                <a16:creationId xmlns:a16="http://schemas.microsoft.com/office/drawing/2014/main" id="{8D075745-6153-442E-B0A7-7B0DB43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1802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4" name="Google Shape;194;p9">
            <a:extLst xmlns:a="http://schemas.openxmlformats.org/drawingml/2006/main">
              <a:ext uri="{FF2B5EF4-FFF2-40B4-BE49-F238E27FC236}">
                <a16:creationId xmlns:a16="http://schemas.microsoft.com/office/drawing/2014/main" id="{6D998B4B-ACD3-4C0C-96B2-731D706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082" y="2864815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5" name="Google Shape;195;p9">
            <a:extLst xmlns:a="http://schemas.openxmlformats.org/drawingml/2006/main">
              <a:ext uri="{FF2B5EF4-FFF2-40B4-BE49-F238E27FC236}">
                <a16:creationId xmlns:a16="http://schemas.microsoft.com/office/drawing/2014/main" id="{867045E9-0938-4A86-96EB-3AFE600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406" y="261244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6" name="Google Shape;196;p9">
            <a:extLst xmlns:a="http://schemas.openxmlformats.org/drawingml/2006/main">
              <a:ext uri="{FF2B5EF4-FFF2-40B4-BE49-F238E27FC236}">
                <a16:creationId xmlns:a16="http://schemas.microsoft.com/office/drawing/2014/main" id="{4D5821E3-35E3-40C1-92EB-AEC2A628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066" y="244419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9">
            <a:extLst xmlns:a="http://schemas.openxmlformats.org/drawingml/2006/main">
              <a:ext uri="{FF2B5EF4-FFF2-40B4-BE49-F238E27FC236}">
                <a16:creationId xmlns:a16="http://schemas.microsoft.com/office/drawing/2014/main" id="{852124B4-8470-4F49-A9B2-72714979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725" y="217078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25" name="Google Shape;198;p9"/>
          <p:cNvCxnSpPr/>
          <p:nvPr/>
        </p:nvCxnSpPr>
        <p:spPr>
          <a:xfrm xmlns:a="http://schemas.openxmlformats.org/drawingml/2006/main" rot="10800000" flipH="1">
            <a:off x="1274674" y="2249424"/>
            <a:ext cx="2638958" cy="121981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B8B8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9">
            <a:extLst xmlns:a="http://schemas.openxmlformats.org/drawingml/2006/main">
              <a:ext uri="{FF2B5EF4-FFF2-40B4-BE49-F238E27FC236}">
                <a16:creationId xmlns:a16="http://schemas.microsoft.com/office/drawing/2014/main" id="{31690D5F-4B24-489C-8670-57C44E9F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27432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0" name="Google Shape;200;p9">
            <a:extLst xmlns:a="http://schemas.openxmlformats.org/drawingml/2006/main">
              <a:ext uri="{FF2B5EF4-FFF2-40B4-BE49-F238E27FC236}">
                <a16:creationId xmlns:a16="http://schemas.microsoft.com/office/drawing/2014/main" id="{1150DB5A-952C-4061-8E24-D1939289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9">
            <a:extLst xmlns:a="http://schemas.openxmlformats.org/drawingml/2006/main">
              <a:ext uri="{FF2B5EF4-FFF2-40B4-BE49-F238E27FC236}">
                <a16:creationId xmlns:a16="http://schemas.microsoft.com/office/drawing/2014/main" id="{43F746C5-A900-41BC-B8B7-863568BF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67335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GOOD FOR</a:t>
            </a:r>
          </a:p>
        </p:txBody>
      </p:sp>
      <p:sp>
        <p:nvSpPr>
          <p:cNvPr id="202" name="Google Shape;202;p9">
            <a:extLst xmlns:a="http://schemas.openxmlformats.org/drawingml/2006/main">
              <a:ext uri="{FF2B5EF4-FFF2-40B4-BE49-F238E27FC236}">
                <a16:creationId xmlns:a16="http://schemas.microsoft.com/office/drawing/2014/main" id="{C6586439-1735-4F7F-9A32-F9A9C7E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1168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Mass vs. load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Temperature vs. voltage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Concentration vs. reaction time</a:t>
            </a:r>
          </a:p>
        </p:txBody>
      </p:sp>
      <p:sp>
        <p:nvSpPr>
          <p:cNvPr id="203" name="Google Shape;203;p9">
            <a:extLst xmlns:a="http://schemas.openxmlformats.org/drawingml/2006/main">
              <a:ext uri="{FF2B5EF4-FFF2-40B4-BE49-F238E27FC236}">
                <a16:creationId xmlns:a16="http://schemas.microsoft.com/office/drawing/2014/main" id="{88C40E2B-32E4-4867-B6F2-6A282EA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27432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4" name="Google Shape;204;p9">
            <a:extLst xmlns:a="http://schemas.openxmlformats.org/drawingml/2006/main">
              <a:ext uri="{FF2B5EF4-FFF2-40B4-BE49-F238E27FC236}">
                <a16:creationId xmlns:a16="http://schemas.microsoft.com/office/drawing/2014/main" id="{EA9988E5-FB17-4241-A685-A6A099E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9">
            <a:extLst xmlns:a="http://schemas.openxmlformats.org/drawingml/2006/main">
              <a:ext uri="{FF2B5EF4-FFF2-40B4-BE49-F238E27FC236}">
                <a16:creationId xmlns:a16="http://schemas.microsoft.com/office/drawing/2014/main" id="{2134697A-4396-42A6-B42E-2EF4ECCB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67335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WATCH OUT</a:t>
            </a:r>
          </a:p>
        </p:txBody>
      </p:sp>
      <p:sp>
        <p:nvSpPr>
          <p:cNvPr id="206" name="Google Shape;206;p9">
            <a:extLst xmlns:a="http://schemas.openxmlformats.org/drawingml/2006/main">
              <a:ext uri="{FF2B5EF4-FFF2-40B4-BE49-F238E27FC236}">
                <a16:creationId xmlns:a16="http://schemas.microsoft.com/office/drawing/2014/main" id="{6B4ECD7F-8A77-4864-A63D-A6FB8E5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01168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Correlation ≠ causation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Outliers need context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Trendlines require caution</a:t>
            </a:r>
          </a:p>
        </p:txBody>
      </p:sp>
      <p:sp>
        <p:nvSpPr>
          <p:cNvPr id="207" name="Google Shape;207;p9">
            <a:extLst xmlns:a="http://schemas.openxmlformats.org/drawingml/2006/main">
              <a:ext uri="{FF2B5EF4-FFF2-40B4-BE49-F238E27FC236}">
                <a16:creationId xmlns:a16="http://schemas.microsoft.com/office/drawing/2014/main" id="{CA01CE54-8908-4B58-ADB3-42F7F8BE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sz="1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type: Is there a relationship between two measured variables?</a:t>
            </a:r>
          </a:p>
        </p:txBody>
      </p:sp>
    </p:spTree>
    <p:extLst>
      <p:ext uri="{BB962C8B-B14F-4D97-AF65-F5344CB8AC3E}">
        <p14:creationId xmlns:p14="http://schemas.microsoft.com/office/powerpoint/2010/main" val="1259154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10">
            <a:extLst xmlns:a="http://schemas.openxmlformats.org/drawingml/2006/main">
              <a:ext uri="{FF2B5EF4-FFF2-40B4-BE49-F238E27FC236}">
                <a16:creationId xmlns:a16="http://schemas.microsoft.com/office/drawing/2014/main" id="{C02A58B8-7D15-4E2E-BF82-6E06D5C4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4" name="Google Shape;214;p10">
            <a:extLst xmlns:a="http://schemas.openxmlformats.org/drawingml/2006/main">
              <a:ext uri="{FF2B5EF4-FFF2-40B4-BE49-F238E27FC236}">
                <a16:creationId xmlns:a16="http://schemas.microsoft.com/office/drawing/2014/main" id="{8690D24E-94C5-4CF7-8FFC-B107851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5" name="Google Shape;215;p10">
            <a:extLst xmlns:a="http://schemas.openxmlformats.org/drawingml/2006/main">
              <a:ext uri="{FF2B5EF4-FFF2-40B4-BE49-F238E27FC236}">
                <a16:creationId xmlns:a16="http://schemas.microsoft.com/office/drawing/2014/main" id="{B6C1510B-E536-4DFB-89CE-76903E8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6" name="Google Shape;216;p10">
            <a:extLst xmlns:a="http://schemas.openxmlformats.org/drawingml/2006/main">
              <a:ext uri="{FF2B5EF4-FFF2-40B4-BE49-F238E27FC236}">
                <a16:creationId xmlns:a16="http://schemas.microsoft.com/office/drawing/2014/main" id="{C378EBF5-2C01-4B33-B1DC-2BFCB801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OTHER VISUALS</a:t>
            </a:r>
          </a:p>
        </p:txBody>
      </p:sp>
      <p:sp>
        <p:nvSpPr>
          <p:cNvPr id="217" name="Google Shape;217;p10">
            <a:extLst xmlns:a="http://schemas.openxmlformats.org/drawingml/2006/main">
              <a:ext uri="{FF2B5EF4-FFF2-40B4-BE49-F238E27FC236}">
                <a16:creationId xmlns:a16="http://schemas.microsoft.com/office/drawing/2014/main" id="{CAD55D2B-179E-40DC-ACCC-AC852F2E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218" name="Google Shape;218;p10">
            <a:extLst xmlns:a="http://schemas.openxmlformats.org/drawingml/2006/main">
              <a:ext uri="{FF2B5EF4-FFF2-40B4-BE49-F238E27FC236}">
                <a16:creationId xmlns:a16="http://schemas.microsoft.com/office/drawing/2014/main" id="{5734C739-908F-4D2A-B6CE-EE1154B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Not Every Result Needs a Graph</a:t>
            </a:r>
          </a:p>
        </p:txBody>
      </p:sp>
      <p:sp>
        <p:nvSpPr>
          <p:cNvPr id="219" name="Google Shape;219;p10">
            <a:extLst xmlns:a="http://schemas.openxmlformats.org/drawingml/2006/main">
              <a:ext uri="{FF2B5EF4-FFF2-40B4-BE49-F238E27FC236}">
                <a16:creationId xmlns:a16="http://schemas.microsoft.com/office/drawing/2014/main" id="{86ED867A-16DC-43F7-AD4E-BBED380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0" name="Google Shape;220;p10">
            <a:extLst xmlns:a="http://schemas.openxmlformats.org/drawingml/2006/main">
              <a:ext uri="{FF2B5EF4-FFF2-40B4-BE49-F238E27FC236}">
                <a16:creationId xmlns:a16="http://schemas.microsoft.com/office/drawing/2014/main" id="{21C6AF1F-47D3-4698-9106-9E5533BF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Tables, photos, diagrams, and coded charts can be the right visual.</a:t>
            </a:r>
          </a:p>
        </p:txBody>
      </p:sp>
      <p:sp>
        <p:nvSpPr>
          <p:cNvPr id="221" name="Google Shape;221;p10">
            <a:extLst xmlns:a="http://schemas.openxmlformats.org/drawingml/2006/main">
              <a:ext uri="{FF2B5EF4-FFF2-40B4-BE49-F238E27FC236}">
                <a16:creationId xmlns:a16="http://schemas.microsoft.com/office/drawing/2014/main" id="{7DC6BC49-7A0D-47FF-838F-12BD0711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08</a:t>
            </a:r>
          </a:p>
        </p:txBody>
      </p:sp>
      <p:sp>
        <p:nvSpPr>
          <p:cNvPr id="222" name="Google Shape;222;p10">
            <a:extLst xmlns:a="http://schemas.openxmlformats.org/drawingml/2006/main">
              <a:ext uri="{FF2B5EF4-FFF2-40B4-BE49-F238E27FC236}">
                <a16:creationId xmlns:a16="http://schemas.microsoft.com/office/drawing/2014/main" id="{A388F070-5E59-4D36-90BB-721AA87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260604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" name="Google Shape;223;p10">
            <a:extLst xmlns:a="http://schemas.openxmlformats.org/drawingml/2006/main">
              <a:ext uri="{FF2B5EF4-FFF2-40B4-BE49-F238E27FC236}">
                <a16:creationId xmlns:a16="http://schemas.microsoft.com/office/drawing/2014/main" id="{2B87362E-CD0E-4CB6-B080-97E8E3EC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" name="Google Shape;224;p10">
            <a:extLst xmlns:a="http://schemas.openxmlformats.org/drawingml/2006/main">
              <a:ext uri="{FF2B5EF4-FFF2-40B4-BE49-F238E27FC236}">
                <a16:creationId xmlns:a16="http://schemas.microsoft.com/office/drawing/2014/main" id="{E0FA86E4-16CF-424F-80B1-53C2AE7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225" name="Google Shape;225;p10">
            <a:extLst xmlns:a="http://schemas.openxmlformats.org/drawingml/2006/main">
              <a:ext uri="{FF2B5EF4-FFF2-40B4-BE49-F238E27FC236}">
                <a16:creationId xmlns:a16="http://schemas.microsoft.com/office/drawing/2014/main" id="{E23ABA49-37C6-4DB0-A9AD-FD8B1BF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2860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 values, multiple metrics, design comparisons.</a:t>
            </a:r>
          </a:p>
        </p:txBody>
      </p:sp>
      <p:sp>
        <p:nvSpPr>
          <p:cNvPr id="226" name="Google Shape;226;p10">
            <a:extLst xmlns:a="http://schemas.openxmlformats.org/drawingml/2006/main">
              <a:ext uri="{FF2B5EF4-FFF2-40B4-BE49-F238E27FC236}">
                <a16:creationId xmlns:a16="http://schemas.microsoft.com/office/drawing/2014/main" id="{A98BB45D-C784-4348-A34B-D30A132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17320"/>
            <a:ext cx="260604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10">
            <a:extLst xmlns:a="http://schemas.openxmlformats.org/drawingml/2006/main">
              <a:ext uri="{FF2B5EF4-FFF2-40B4-BE49-F238E27FC236}">
                <a16:creationId xmlns:a16="http://schemas.microsoft.com/office/drawing/2014/main" id="{1D581791-D074-4B1D-9223-070B656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17320"/>
            <a:ext cx="45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10">
            <a:extLst xmlns:a="http://schemas.openxmlformats.org/drawingml/2006/main">
              <a:ext uri="{FF2B5EF4-FFF2-40B4-BE49-F238E27FC236}">
                <a16:creationId xmlns:a16="http://schemas.microsoft.com/office/drawing/2014/main" id="{2968492A-F1D4-4874-8593-15D2D7B0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581912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PHOTO SERIES</a:t>
            </a:r>
          </a:p>
        </p:txBody>
      </p:sp>
      <p:sp>
        <p:nvSpPr>
          <p:cNvPr id="229" name="Google Shape;229;p10">
            <a:extLst xmlns:a="http://schemas.openxmlformats.org/drawingml/2006/main">
              <a:ext uri="{FF2B5EF4-FFF2-40B4-BE49-F238E27FC236}">
                <a16:creationId xmlns:a16="http://schemas.microsoft.com/office/drawing/2014/main" id="{2345AB4F-2D3E-4031-9A5A-6DC5ECDD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920240"/>
            <a:ext cx="22860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iterations, failure modes, before/after evidence.</a:t>
            </a:r>
          </a:p>
        </p:txBody>
      </p:sp>
      <p:sp>
        <p:nvSpPr>
          <p:cNvPr id="230" name="Google Shape;230;p10">
            <a:extLst xmlns:a="http://schemas.openxmlformats.org/drawingml/2006/main">
              <a:ext uri="{FF2B5EF4-FFF2-40B4-BE49-F238E27FC236}">
                <a16:creationId xmlns:a16="http://schemas.microsoft.com/office/drawing/2014/main" id="{922F9E9D-3426-4B20-A9BD-A38F2406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417320"/>
            <a:ext cx="260604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10">
            <a:extLst xmlns:a="http://schemas.openxmlformats.org/drawingml/2006/main">
              <a:ext uri="{FF2B5EF4-FFF2-40B4-BE49-F238E27FC236}">
                <a16:creationId xmlns:a16="http://schemas.microsoft.com/office/drawing/2014/main" id="{CE611F61-23EB-48FB-80E8-86EB76B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417320"/>
            <a:ext cx="45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10">
            <a:extLst xmlns:a="http://schemas.openxmlformats.org/drawingml/2006/main">
              <a:ext uri="{FF2B5EF4-FFF2-40B4-BE49-F238E27FC236}">
                <a16:creationId xmlns:a16="http://schemas.microsoft.com/office/drawing/2014/main" id="{1BA61BE7-0CCF-4B08-89E7-1A7C477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581912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DIAGRAM</a:t>
            </a:r>
          </a:p>
        </p:txBody>
      </p:sp>
      <p:sp>
        <p:nvSpPr>
          <p:cNvPr id="233" name="Google Shape;233;p10">
            <a:extLst xmlns:a="http://schemas.openxmlformats.org/drawingml/2006/main">
              <a:ext uri="{FF2B5EF4-FFF2-40B4-BE49-F238E27FC236}">
                <a16:creationId xmlns:a16="http://schemas.microsoft.com/office/drawing/2014/main" id="{083A8917-CF1D-491C-A221-FD2BF7F2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20240"/>
            <a:ext cx="22860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Setup, mechanism, procedure, or design structure.</a:t>
            </a:r>
          </a:p>
        </p:txBody>
      </p:sp>
      <p:sp>
        <p:nvSpPr>
          <p:cNvPr id="234" name="Google Shape;234;p10">
            <a:extLst xmlns:a="http://schemas.openxmlformats.org/drawingml/2006/main">
              <a:ext uri="{FF2B5EF4-FFF2-40B4-BE49-F238E27FC236}">
                <a16:creationId xmlns:a16="http://schemas.microsoft.com/office/drawing/2014/main" id="{5A6A05D1-C16E-41F0-AFC3-F842F1F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17320"/>
            <a:ext cx="19659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5" name="Google Shape;235;p10">
            <a:extLst xmlns:a="http://schemas.openxmlformats.org/drawingml/2006/main">
              <a:ext uri="{FF2B5EF4-FFF2-40B4-BE49-F238E27FC236}">
                <a16:creationId xmlns:a16="http://schemas.microsoft.com/office/drawing/2014/main" id="{A047C7AB-FCFB-4485-83C4-A1B57ED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17320"/>
            <a:ext cx="457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6" name="Google Shape;236;p10">
            <a:extLst xmlns:a="http://schemas.openxmlformats.org/drawingml/2006/main">
              <a:ext uri="{FF2B5EF4-FFF2-40B4-BE49-F238E27FC236}">
                <a16:creationId xmlns:a16="http://schemas.microsoft.com/office/drawing/2014/main" id="{1728179D-BD4B-4236-A18F-0194EFB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581912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CODED CHART</a:t>
            </a:r>
          </a:p>
        </p:txBody>
      </p:sp>
      <p:sp>
        <p:nvSpPr>
          <p:cNvPr id="237" name="Google Shape;237;p10">
            <a:extLst xmlns:a="http://schemas.openxmlformats.org/drawingml/2006/main">
              <a:ext uri="{FF2B5EF4-FFF2-40B4-BE49-F238E27FC236}">
                <a16:creationId xmlns:a16="http://schemas.microsoft.com/office/drawing/2014/main" id="{F967F11B-F9B5-4C8C-B1DB-BABABFF5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20240"/>
            <a:ext cx="164592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Qualitative categories or observation counts.</a:t>
            </a:r>
          </a:p>
        </p:txBody>
      </p:sp>
      <p:sp>
        <p:nvSpPr>
          <p:cNvPr id="238" name="Google Shape;238;p10">
            <a:extLst xmlns:a="http://schemas.openxmlformats.org/drawingml/2006/main">
              <a:ext uri="{FF2B5EF4-FFF2-40B4-BE49-F238E27FC236}">
                <a16:creationId xmlns:a16="http://schemas.microsoft.com/office/drawing/2014/main" id="{28D00826-9F32-4445-8B64-9B359993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9" name="Google Shape;239;p10">
            <a:extLst xmlns:a="http://schemas.openxmlformats.org/drawingml/2006/main">
              <a:ext uri="{FF2B5EF4-FFF2-40B4-BE49-F238E27FC236}">
                <a16:creationId xmlns:a16="http://schemas.microsoft.com/office/drawing/2014/main" id="{1FAE7FC9-E784-4B59-B20C-0A286B48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40" name="Google Shape;240;p10">
            <a:extLst xmlns:a="http://schemas.openxmlformats.org/drawingml/2006/main">
              <a:ext uri="{FF2B5EF4-FFF2-40B4-BE49-F238E27FC236}">
                <a16:creationId xmlns:a16="http://schemas.microsoft.com/office/drawing/2014/main" id="{4095D420-720D-4D1D-B1A2-E64B06A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format decision</a:t>
            </a:r>
          </a:p>
        </p:txBody>
      </p:sp>
      <p:sp>
        <p:nvSpPr>
          <p:cNvPr id="241" name="Google Shape;241;p10">
            <a:extLst xmlns:a="http://schemas.openxmlformats.org/drawingml/2006/main">
              <a:ext uri="{FF2B5EF4-FFF2-40B4-BE49-F238E27FC236}">
                <a16:creationId xmlns:a16="http://schemas.microsoft.com/office/drawing/2014/main" id="{3C61C4D1-0946-44B6-AE9B-238EA7C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242" name="Google Shape;242;p10">
            <a:extLst xmlns:a="http://schemas.openxmlformats.org/drawingml/2006/main">
              <a:ext uri="{FF2B5EF4-FFF2-40B4-BE49-F238E27FC236}">
                <a16:creationId xmlns:a16="http://schemas.microsoft.com/office/drawing/2014/main" id="{5BB372E8-F283-4843-AB81-94B7BA3C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For one result, decide whether a graph, table, image, or diagram would communicate it best.</a:t>
            </a:r>
          </a:p>
        </p:txBody>
      </p:sp>
    </p:spTree>
    <p:extLst>
      <p:ext uri="{BB962C8B-B14F-4D97-AF65-F5344CB8AC3E}">
        <p14:creationId xmlns:p14="http://schemas.microsoft.com/office/powerpoint/2010/main" val="13529114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11">
            <a:extLst xmlns:a="http://schemas.openxmlformats.org/drawingml/2006/main">
              <a:ext uri="{FF2B5EF4-FFF2-40B4-BE49-F238E27FC236}">
                <a16:creationId xmlns:a16="http://schemas.microsoft.com/office/drawing/2014/main" id="{64A42C16-F496-4996-AAC1-CDCD7EC6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9" name="Google Shape;249;p11">
            <a:extLst xmlns:a="http://schemas.openxmlformats.org/drawingml/2006/main">
              <a:ext uri="{FF2B5EF4-FFF2-40B4-BE49-F238E27FC236}">
                <a16:creationId xmlns:a16="http://schemas.microsoft.com/office/drawing/2014/main" id="{8E62C9E4-8CF5-45EB-A2E8-593B10CD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0" name="Google Shape;250;p11">
            <a:extLst xmlns:a="http://schemas.openxmlformats.org/drawingml/2006/main">
              <a:ext uri="{FF2B5EF4-FFF2-40B4-BE49-F238E27FC236}">
                <a16:creationId xmlns:a16="http://schemas.microsoft.com/office/drawing/2014/main" id="{537DCB33-0B55-402A-97C3-6594929C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" name="Google Shape;251;p11">
            <a:extLst xmlns:a="http://schemas.openxmlformats.org/drawingml/2006/main">
              <a:ext uri="{FF2B5EF4-FFF2-40B4-BE49-F238E27FC236}">
                <a16:creationId xmlns:a16="http://schemas.microsoft.com/office/drawing/2014/main" id="{20CC6A7B-5088-4B71-A46B-CEA9913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GRAPH ANATOMY</a:t>
            </a:r>
          </a:p>
        </p:txBody>
      </p:sp>
      <p:sp>
        <p:nvSpPr>
          <p:cNvPr id="252" name="Google Shape;252;p11">
            <a:extLst xmlns:a="http://schemas.openxmlformats.org/drawingml/2006/main">
              <a:ext uri="{FF2B5EF4-FFF2-40B4-BE49-F238E27FC236}">
                <a16:creationId xmlns:a16="http://schemas.microsoft.com/office/drawing/2014/main" id="{F57D7A16-69FE-436B-B4FD-EF9E800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253" name="Google Shape;253;p11">
            <a:extLst xmlns:a="http://schemas.openxmlformats.org/drawingml/2006/main">
              <a:ext uri="{FF2B5EF4-FFF2-40B4-BE49-F238E27FC236}">
                <a16:creationId xmlns:a16="http://schemas.microsoft.com/office/drawing/2014/main" id="{EC2DEF2D-1CB7-4EDF-A298-B3D48C2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The Anatomy of an Ethical Graph</a:t>
            </a:r>
          </a:p>
        </p:txBody>
      </p:sp>
      <p:sp>
        <p:nvSpPr>
          <p:cNvPr id="254" name="Google Shape;254;p11">
            <a:extLst xmlns:a="http://schemas.openxmlformats.org/drawingml/2006/main">
              <a:ext uri="{FF2B5EF4-FFF2-40B4-BE49-F238E27FC236}">
                <a16:creationId xmlns:a16="http://schemas.microsoft.com/office/drawing/2014/main" id="{5576CDB3-EF4B-474A-B71C-F800C62E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5" name="Google Shape;255;p11">
            <a:extLst xmlns:a="http://schemas.openxmlformats.org/drawingml/2006/main">
              <a:ext uri="{FF2B5EF4-FFF2-40B4-BE49-F238E27FC236}">
                <a16:creationId xmlns:a16="http://schemas.microsoft.com/office/drawing/2014/main" id="{E7CC6DCD-6924-485C-A248-09167BDC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graph should be understandable before the presenter explains it.</a:t>
            </a:r>
          </a:p>
        </p:txBody>
      </p:sp>
      <p:sp>
        <p:nvSpPr>
          <p:cNvPr id="256" name="Google Shape;256;p11">
            <a:extLst xmlns:a="http://schemas.openxmlformats.org/drawingml/2006/main">
              <a:ext uri="{FF2B5EF4-FFF2-40B4-BE49-F238E27FC236}">
                <a16:creationId xmlns:a16="http://schemas.microsoft.com/office/drawing/2014/main" id="{BFD03EFB-6E4F-45AF-8B3C-6A5B00A0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09</a:t>
            </a:r>
          </a:p>
        </p:txBody>
      </p:sp>
      <p:sp>
        <p:nvSpPr>
          <p:cNvPr id="257" name="Google Shape;257;p11">
            <a:extLst xmlns:a="http://schemas.openxmlformats.org/drawingml/2006/main">
              <a:ext uri="{FF2B5EF4-FFF2-40B4-BE49-F238E27FC236}">
                <a16:creationId xmlns:a16="http://schemas.microsoft.com/office/drawing/2014/main" id="{85BDADAE-1899-44A4-9FBC-AC659A4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2461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8" name="Google Shape;258;p11">
            <a:extLst xmlns:a="http://schemas.openxmlformats.org/drawingml/2006/main">
              <a:ext uri="{FF2B5EF4-FFF2-40B4-BE49-F238E27FC236}">
                <a16:creationId xmlns:a16="http://schemas.microsoft.com/office/drawing/2014/main" id="{3D26A54E-7DE4-429D-835A-99DF676B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9" name="Google Shape;259;p11">
            <a:extLst xmlns:a="http://schemas.openxmlformats.org/drawingml/2006/main">
              <a:ext uri="{FF2B5EF4-FFF2-40B4-BE49-F238E27FC236}">
                <a16:creationId xmlns:a16="http://schemas.microsoft.com/office/drawing/2014/main" id="{99931D7E-F975-42D7-A801-4F7BD00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260" name="Google Shape;260;p11">
            <a:extLst xmlns:a="http://schemas.openxmlformats.org/drawingml/2006/main">
              <a:ext uri="{FF2B5EF4-FFF2-40B4-BE49-F238E27FC236}">
                <a16:creationId xmlns:a16="http://schemas.microsoft.com/office/drawing/2014/main" id="{CDB10D49-C83C-46CB-9C7D-9BDC2015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being shown?</a:t>
            </a:r>
          </a:p>
        </p:txBody>
      </p:sp>
      <p:sp>
        <p:nvSpPr>
          <p:cNvPr id="261" name="Google Shape;261;p11">
            <a:extLst xmlns:a="http://schemas.openxmlformats.org/drawingml/2006/main">
              <a:ext uri="{FF2B5EF4-FFF2-40B4-BE49-F238E27FC236}">
                <a16:creationId xmlns:a16="http://schemas.microsoft.com/office/drawing/2014/main" id="{CC71E706-D8FB-429F-8F9A-F89C32D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17320"/>
            <a:ext cx="32461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" name="Google Shape;262;p11">
            <a:extLst xmlns:a="http://schemas.openxmlformats.org/drawingml/2006/main">
              <a:ext uri="{FF2B5EF4-FFF2-40B4-BE49-F238E27FC236}">
                <a16:creationId xmlns:a16="http://schemas.microsoft.com/office/drawing/2014/main" id="{45186002-3166-47DE-8031-485D2B46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17320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3" name="Google Shape;263;p11">
            <a:extLst xmlns:a="http://schemas.openxmlformats.org/drawingml/2006/main">
              <a:ext uri="{FF2B5EF4-FFF2-40B4-BE49-F238E27FC236}">
                <a16:creationId xmlns:a16="http://schemas.microsoft.com/office/drawing/2014/main" id="{7FF9C774-BDDF-4EA1-A07A-F6C840DB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15819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X-axis</a:t>
            </a:r>
          </a:p>
        </p:txBody>
      </p:sp>
      <p:sp>
        <p:nvSpPr>
          <p:cNvPr id="264" name="Google Shape;264;p11">
            <a:extLst xmlns:a="http://schemas.openxmlformats.org/drawingml/2006/main">
              <a:ext uri="{FF2B5EF4-FFF2-40B4-BE49-F238E27FC236}">
                <a16:creationId xmlns:a16="http://schemas.microsoft.com/office/drawing/2014/main" id="{338FED51-1B72-4F16-965C-AF9220B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19202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Condition, group, time, or variable</a:t>
            </a:r>
          </a:p>
        </p:txBody>
      </p:sp>
      <p:sp>
        <p:nvSpPr>
          <p:cNvPr id="265" name="Google Shape;265;p11">
            <a:extLst xmlns:a="http://schemas.openxmlformats.org/drawingml/2006/main">
              <a:ext uri="{FF2B5EF4-FFF2-40B4-BE49-F238E27FC236}">
                <a16:creationId xmlns:a16="http://schemas.microsoft.com/office/drawing/2014/main" id="{7E7A4023-AF98-4359-BAB1-B8702798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417320"/>
            <a:ext cx="32461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6" name="Google Shape;266;p11">
            <a:extLst xmlns:a="http://schemas.openxmlformats.org/drawingml/2006/main">
              <a:ext uri="{FF2B5EF4-FFF2-40B4-BE49-F238E27FC236}">
                <a16:creationId xmlns:a16="http://schemas.microsoft.com/office/drawing/2014/main" id="{7320BC4C-A763-4720-9F3C-B92F41F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417320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7" name="Google Shape;267;p11">
            <a:extLst xmlns:a="http://schemas.openxmlformats.org/drawingml/2006/main">
              <a:ext uri="{FF2B5EF4-FFF2-40B4-BE49-F238E27FC236}">
                <a16:creationId xmlns:a16="http://schemas.microsoft.com/office/drawing/2014/main" id="{2A1CD7E7-0337-438A-BE68-34822686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5819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Y-axis</a:t>
            </a:r>
          </a:p>
        </p:txBody>
      </p:sp>
      <p:sp>
        <p:nvSpPr>
          <p:cNvPr id="268" name="Google Shape;268;p11">
            <a:extLst xmlns:a="http://schemas.openxmlformats.org/drawingml/2006/main">
              <a:ext uri="{FF2B5EF4-FFF2-40B4-BE49-F238E27FC236}">
                <a16:creationId xmlns:a16="http://schemas.microsoft.com/office/drawing/2014/main" id="{EC4D0C9F-20C6-48CF-9863-8DBB8E9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19202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outcome</a:t>
            </a:r>
          </a:p>
        </p:txBody>
      </p:sp>
      <p:sp>
        <p:nvSpPr>
          <p:cNvPr id="269" name="Google Shape;269;p11">
            <a:extLst xmlns:a="http://schemas.openxmlformats.org/drawingml/2006/main">
              <a:ext uri="{FF2B5EF4-FFF2-40B4-BE49-F238E27FC236}">
                <a16:creationId xmlns:a16="http://schemas.microsoft.com/office/drawing/2014/main" id="{BBEB39AA-9B5E-4C7B-B326-F23850FC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32461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0" name="Google Shape;270;p11">
            <a:extLst xmlns:a="http://schemas.openxmlformats.org/drawingml/2006/main">
              <a:ext uri="{FF2B5EF4-FFF2-40B4-BE49-F238E27FC236}">
                <a16:creationId xmlns:a16="http://schemas.microsoft.com/office/drawing/2014/main" id="{E5B1AEFA-0E30-4F66-9101-41EA1B2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1" name="Google Shape;271;p11">
            <a:extLst xmlns:a="http://schemas.openxmlformats.org/drawingml/2006/main">
              <a:ext uri="{FF2B5EF4-FFF2-40B4-BE49-F238E27FC236}">
                <a16:creationId xmlns:a16="http://schemas.microsoft.com/office/drawing/2014/main" id="{52E11E08-C4C5-4B67-B192-90B925E8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535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272" name="Google Shape;272;p11">
            <a:extLst xmlns:a="http://schemas.openxmlformats.org/drawingml/2006/main">
              <a:ext uri="{FF2B5EF4-FFF2-40B4-BE49-F238E27FC236}">
                <a16:creationId xmlns:a16="http://schemas.microsoft.com/office/drawing/2014/main" id="{22D4D58E-3515-4041-BC7B-03BC0BC1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2918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cm, g, V, s, °C, %</a:t>
            </a:r>
          </a:p>
        </p:txBody>
      </p:sp>
      <p:sp>
        <p:nvSpPr>
          <p:cNvPr id="273" name="Google Shape;273;p11">
            <a:extLst xmlns:a="http://schemas.openxmlformats.org/drawingml/2006/main">
              <a:ext uri="{FF2B5EF4-FFF2-40B4-BE49-F238E27FC236}">
                <a16:creationId xmlns:a16="http://schemas.microsoft.com/office/drawing/2014/main" id="{C96A0F97-A36F-4D8D-93DB-3E65A6A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788920"/>
            <a:ext cx="32461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" name="Google Shape;274;p11">
            <a:extLst xmlns:a="http://schemas.openxmlformats.org/drawingml/2006/main">
              <a:ext uri="{FF2B5EF4-FFF2-40B4-BE49-F238E27FC236}">
                <a16:creationId xmlns:a16="http://schemas.microsoft.com/office/drawing/2014/main" id="{2AE9D143-6B56-46BF-80D7-B00076AE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788920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5" name="Google Shape;275;p11">
            <a:extLst xmlns:a="http://schemas.openxmlformats.org/drawingml/2006/main">
              <a:ext uri="{FF2B5EF4-FFF2-40B4-BE49-F238E27FC236}">
                <a16:creationId xmlns:a16="http://schemas.microsoft.com/office/drawing/2014/main" id="{01057A94-0F3D-4399-A230-E7553B98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9535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276" name="Google Shape;276;p11">
            <a:extLst xmlns:a="http://schemas.openxmlformats.org/drawingml/2006/main">
              <a:ext uri="{FF2B5EF4-FFF2-40B4-BE49-F238E27FC236}">
                <a16:creationId xmlns:a16="http://schemas.microsoft.com/office/drawing/2014/main" id="{86812315-AA45-4E6B-80C8-048ABD8B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32918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if multiple groups need it</a:t>
            </a:r>
          </a:p>
        </p:txBody>
      </p:sp>
      <p:sp>
        <p:nvSpPr>
          <p:cNvPr id="277" name="Google Shape;277;p11">
            <a:extLst xmlns:a="http://schemas.openxmlformats.org/drawingml/2006/main">
              <a:ext uri="{FF2B5EF4-FFF2-40B4-BE49-F238E27FC236}">
                <a16:creationId xmlns:a16="http://schemas.microsoft.com/office/drawing/2014/main" id="{7DA83F04-18ED-48F4-98B4-B20CF88A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88920"/>
            <a:ext cx="32461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8" name="Google Shape;278;p11">
            <a:extLst xmlns:a="http://schemas.openxmlformats.org/drawingml/2006/main">
              <a:ext uri="{FF2B5EF4-FFF2-40B4-BE49-F238E27FC236}">
                <a16:creationId xmlns:a16="http://schemas.microsoft.com/office/drawing/2014/main" id="{5AF325F1-60DA-4952-BEF5-813C36D3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88920"/>
            <a:ext cx="45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9" name="Google Shape;279;p11">
            <a:extLst xmlns:a="http://schemas.openxmlformats.org/drawingml/2006/main">
              <a:ext uri="{FF2B5EF4-FFF2-40B4-BE49-F238E27FC236}">
                <a16:creationId xmlns:a16="http://schemas.microsoft.com/office/drawing/2014/main" id="{7DF47716-C0CD-48B6-B2C6-05CE2A44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95351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80" name="Google Shape;280;p11">
            <a:extLst xmlns:a="http://schemas.openxmlformats.org/drawingml/2006/main">
              <a:ext uri="{FF2B5EF4-FFF2-40B4-BE49-F238E27FC236}">
                <a16:creationId xmlns:a16="http://schemas.microsoft.com/office/drawing/2014/main" id="{6060B578-E7D2-4B12-B6B7-92E9396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2918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Accurate and not exaggerated</a:t>
            </a:r>
          </a:p>
        </p:txBody>
      </p:sp>
      <p:sp>
        <p:nvSpPr>
          <p:cNvPr id="281" name="Google Shape;281;p11">
            <a:extLst xmlns:a="http://schemas.openxmlformats.org/drawingml/2006/main">
              <a:ext uri="{FF2B5EF4-FFF2-40B4-BE49-F238E27FC236}">
                <a16:creationId xmlns:a16="http://schemas.microsoft.com/office/drawing/2014/main" id="{589AEF5A-6966-43CB-902C-0526ACFC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2" name="Google Shape;282;p11">
            <a:extLst xmlns:a="http://schemas.openxmlformats.org/drawingml/2006/main">
              <a:ext uri="{FF2B5EF4-FFF2-40B4-BE49-F238E27FC236}">
                <a16:creationId xmlns:a16="http://schemas.microsoft.com/office/drawing/2014/main" id="{3EE83783-4711-459C-B785-BED94DC2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83" name="Google Shape;283;p11">
            <a:extLst xmlns:a="http://schemas.openxmlformats.org/drawingml/2006/main">
              <a:ext uri="{FF2B5EF4-FFF2-40B4-BE49-F238E27FC236}">
                <a16:creationId xmlns:a16="http://schemas.microsoft.com/office/drawing/2014/main" id="{1BD0C0E0-1C06-4D54-8533-43F76343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checklist preview</a:t>
            </a:r>
          </a:p>
        </p:txBody>
      </p:sp>
      <p:sp>
        <p:nvSpPr>
          <p:cNvPr id="284" name="Google Shape;284;p11">
            <a:extLst xmlns:a="http://schemas.openxmlformats.org/drawingml/2006/main">
              <a:ext uri="{FF2B5EF4-FFF2-40B4-BE49-F238E27FC236}">
                <a16:creationId xmlns:a16="http://schemas.microsoft.com/office/drawing/2014/main" id="{9C8DF3F4-908D-44DA-81D5-7C195AF9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285" name="Google Shape;285;p11">
            <a:extLst xmlns:a="http://schemas.openxmlformats.org/drawingml/2006/main">
              <a:ext uri="{FF2B5EF4-FFF2-40B4-BE49-F238E27FC236}">
                <a16:creationId xmlns:a16="http://schemas.microsoft.com/office/drawing/2014/main" id="{EB2B9666-CDBD-4671-8FF1-E03A151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Compare this list with your current graph. What is missing or unclear?</a:t>
            </a:r>
          </a:p>
        </p:txBody>
      </p:sp>
    </p:spTree>
    <p:extLst>
      <p:ext uri="{BB962C8B-B14F-4D97-AF65-F5344CB8AC3E}">
        <p14:creationId xmlns:p14="http://schemas.microsoft.com/office/powerpoint/2010/main" val="2136128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Google Shape;291;p12">
            <a:extLst xmlns:a="http://schemas.openxmlformats.org/drawingml/2006/main">
              <a:ext uri="{FF2B5EF4-FFF2-40B4-BE49-F238E27FC236}">
                <a16:creationId xmlns:a16="http://schemas.microsoft.com/office/drawing/2014/main" id="{D306C633-0E2B-4C94-9C06-B4F7CDE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" name="Google Shape;292;p12">
            <a:extLst xmlns:a="http://schemas.openxmlformats.org/drawingml/2006/main">
              <a:ext uri="{FF2B5EF4-FFF2-40B4-BE49-F238E27FC236}">
                <a16:creationId xmlns:a16="http://schemas.microsoft.com/office/drawing/2014/main" id="{9BD02847-E25F-4009-99D2-F1611B8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2">
            <a:extLst xmlns:a="http://schemas.openxmlformats.org/drawingml/2006/main">
              <a:ext uri="{FF2B5EF4-FFF2-40B4-BE49-F238E27FC236}">
                <a16:creationId xmlns:a16="http://schemas.microsoft.com/office/drawing/2014/main" id="{C16634FA-099C-4510-982D-EE0BCF3B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" name="Google Shape;294;p12">
            <a:extLst xmlns:a="http://schemas.openxmlformats.org/drawingml/2006/main">
              <a:ext uri="{FF2B5EF4-FFF2-40B4-BE49-F238E27FC236}">
                <a16:creationId xmlns:a16="http://schemas.microsoft.com/office/drawing/2014/main" id="{F58A6EE7-19E8-4535-B609-93BC91C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95" name="Google Shape;295;p12">
            <a:extLst xmlns:a="http://schemas.openxmlformats.org/drawingml/2006/main">
              <a:ext uri="{FF2B5EF4-FFF2-40B4-BE49-F238E27FC236}">
                <a16:creationId xmlns:a16="http://schemas.microsoft.com/office/drawing/2014/main" id="{F7AB182C-D098-4129-ACD5-1FF825CF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296" name="Google Shape;296;p12">
            <a:extLst xmlns:a="http://schemas.openxmlformats.org/drawingml/2006/main">
              <a:ext uri="{FF2B5EF4-FFF2-40B4-BE49-F238E27FC236}">
                <a16:creationId xmlns:a16="http://schemas.microsoft.com/office/drawing/2014/main" id="{6B3E7B0E-4A80-44EC-ADF8-8D997B8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Activity: Select Your Visuals</a:t>
            </a:r>
          </a:p>
        </p:txBody>
      </p:sp>
      <p:sp>
        <p:nvSpPr>
          <p:cNvPr id="297" name="Google Shape;297;p12">
            <a:extLst xmlns:a="http://schemas.openxmlformats.org/drawingml/2006/main">
              <a:ext uri="{FF2B5EF4-FFF2-40B4-BE49-F238E27FC236}">
                <a16:creationId xmlns:a16="http://schemas.microsoft.com/office/drawing/2014/main" id="{26DD14B2-5247-4600-9C50-D1EAFEC4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8" name="Google Shape;298;p12">
            <a:extLst xmlns:a="http://schemas.openxmlformats.org/drawingml/2006/main">
              <a:ext uri="{FF2B5EF4-FFF2-40B4-BE49-F238E27FC236}">
                <a16:creationId xmlns:a16="http://schemas.microsoft.com/office/drawing/2014/main" id="{36AD8104-5A47-4116-9BC7-B65D245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Choose the visuals that actually support your evidence.</a:t>
            </a:r>
          </a:p>
        </p:txBody>
      </p:sp>
      <p:sp>
        <p:nvSpPr>
          <p:cNvPr id="299" name="Google Shape;299;p12">
            <a:extLst xmlns:a="http://schemas.openxmlformats.org/drawingml/2006/main">
              <a:ext uri="{FF2B5EF4-FFF2-40B4-BE49-F238E27FC236}">
                <a16:creationId xmlns:a16="http://schemas.microsoft.com/office/drawing/2014/main" id="{9107CECC-423B-4634-AADE-A3F2842A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10</a:t>
            </a:r>
          </a:p>
        </p:txBody>
      </p:sp>
      <p:sp>
        <p:nvSpPr>
          <p:cNvPr id="300" name="Google Shape;300;p12">
            <a:extLst xmlns:a="http://schemas.openxmlformats.org/drawingml/2006/main">
              <a:ext uri="{FF2B5EF4-FFF2-40B4-BE49-F238E27FC236}">
                <a16:creationId xmlns:a16="http://schemas.microsoft.com/office/drawing/2014/main" id="{17AC431B-681E-46CE-8040-21EFF8A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9921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List your three most important data sets or evidence pieces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Choose the best visual format for each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Write what each visual should help the audience see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Circle the one visual that will matter most in your report or presentation</a:t>
            </a:r>
          </a:p>
        </p:txBody>
      </p:sp>
      <p:sp>
        <p:nvSpPr>
          <p:cNvPr id="301" name="Google Shape;301;p12">
            <a:extLst xmlns:a="http://schemas.openxmlformats.org/drawingml/2006/main">
              <a:ext uri="{FF2B5EF4-FFF2-40B4-BE49-F238E27FC236}">
                <a16:creationId xmlns:a16="http://schemas.microsoft.com/office/drawing/2014/main" id="{946DCDC4-1124-4D13-A61A-1F90625B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2" name="Google Shape;302;p12">
            <a:extLst xmlns:a="http://schemas.openxmlformats.org/drawingml/2006/main">
              <a:ext uri="{FF2B5EF4-FFF2-40B4-BE49-F238E27FC236}">
                <a16:creationId xmlns:a16="http://schemas.microsoft.com/office/drawing/2014/main" id="{A6D53BBE-B6DF-4D85-A172-D931211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03" name="Google Shape;303;p12">
            <a:extLst xmlns:a="http://schemas.openxmlformats.org/drawingml/2006/main">
              <a:ext uri="{FF2B5EF4-FFF2-40B4-BE49-F238E27FC236}">
                <a16:creationId xmlns:a16="http://schemas.microsoft.com/office/drawing/2014/main" id="{A1E14B86-2F91-4594-B639-CD249AF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Handout 9</a:t>
            </a:r>
          </a:p>
        </p:txBody>
      </p:sp>
      <p:sp>
        <p:nvSpPr>
          <p:cNvPr id="304" name="Google Shape;304;p12">
            <a:extLst xmlns:a="http://schemas.openxmlformats.org/drawingml/2006/main">
              <a:ext uri="{FF2B5EF4-FFF2-40B4-BE49-F238E27FC236}">
                <a16:creationId xmlns:a16="http://schemas.microsoft.com/office/drawing/2014/main" id="{12982F63-6A59-41CA-8E30-DF4F437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305" name="Google Shape;305;p12">
            <a:extLst xmlns:a="http://schemas.openxmlformats.org/drawingml/2006/main">
              <a:ext uri="{FF2B5EF4-FFF2-40B4-BE49-F238E27FC236}">
                <a16:creationId xmlns:a16="http://schemas.microsoft.com/office/drawing/2014/main" id="{49182895-3F88-4173-BF39-C232324C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Work independently first, then ask a partner: “Does this visual type match what I need to show?”</a:t>
            </a:r>
          </a:p>
        </p:txBody>
      </p:sp>
    </p:spTree>
    <p:extLst>
      <p:ext uri="{BB962C8B-B14F-4D97-AF65-F5344CB8AC3E}">
        <p14:creationId xmlns:p14="http://schemas.microsoft.com/office/powerpoint/2010/main" val="1285084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13">
            <a:extLst xmlns:a="http://schemas.openxmlformats.org/drawingml/2006/main">
              <a:ext uri="{FF2B5EF4-FFF2-40B4-BE49-F238E27FC236}">
                <a16:creationId xmlns:a16="http://schemas.microsoft.com/office/drawing/2014/main" id="{4882B2A8-9242-4781-AA19-08786ADF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2" name="Google Shape;312;p13">
            <a:extLst xmlns:a="http://schemas.openxmlformats.org/drawingml/2006/main">
              <a:ext uri="{FF2B5EF4-FFF2-40B4-BE49-F238E27FC236}">
                <a16:creationId xmlns:a16="http://schemas.microsoft.com/office/drawing/2014/main" id="{D73FE98A-7E9F-4CC2-B1E3-A8EE4E0D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13">
            <a:extLst xmlns:a="http://schemas.openxmlformats.org/drawingml/2006/main">
              <a:ext uri="{FF2B5EF4-FFF2-40B4-BE49-F238E27FC236}">
                <a16:creationId xmlns:a16="http://schemas.microsoft.com/office/drawing/2014/main" id="{35F7CA3E-BA17-4A17-8420-7BDB4663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" name="Google Shape;314;p13">
            <a:extLst xmlns:a="http://schemas.openxmlformats.org/drawingml/2006/main">
              <a:ext uri="{FF2B5EF4-FFF2-40B4-BE49-F238E27FC236}">
                <a16:creationId xmlns:a16="http://schemas.microsoft.com/office/drawing/2014/main" id="{354F47B2-C320-4A9C-B114-12C4BF6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VISUAL ETHICS</a:t>
            </a:r>
          </a:p>
        </p:txBody>
      </p:sp>
      <p:sp>
        <p:nvSpPr>
          <p:cNvPr id="315" name="Google Shape;315;p13">
            <a:extLst xmlns:a="http://schemas.openxmlformats.org/drawingml/2006/main">
              <a:ext uri="{FF2B5EF4-FFF2-40B4-BE49-F238E27FC236}">
                <a16:creationId xmlns:a16="http://schemas.microsoft.com/office/drawing/2014/main" id="{25EA009F-23EE-4894-B899-9BF5272F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316" name="Google Shape;316;p13">
            <a:extLst xmlns:a="http://schemas.openxmlformats.org/drawingml/2006/main">
              <a:ext uri="{FF2B5EF4-FFF2-40B4-BE49-F238E27FC236}">
                <a16:creationId xmlns:a16="http://schemas.microsoft.com/office/drawing/2014/main" id="{FC7EA23B-BC42-4BC2-9942-BB1A63B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Scale Choices Can Mislead</a:t>
            </a:r>
          </a:p>
        </p:txBody>
      </p:sp>
      <p:sp>
        <p:nvSpPr>
          <p:cNvPr id="317" name="Google Shape;317;p13">
            <a:extLst xmlns:a="http://schemas.openxmlformats.org/drawingml/2006/main">
              <a:ext uri="{FF2B5EF4-FFF2-40B4-BE49-F238E27FC236}">
                <a16:creationId xmlns:a16="http://schemas.microsoft.com/office/drawing/2014/main" id="{050CF6A5-D120-4943-A30D-F040A06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8" name="Google Shape;318;p13">
            <a:extLst xmlns:a="http://schemas.openxmlformats.org/drawingml/2006/main">
              <a:ext uri="{FF2B5EF4-FFF2-40B4-BE49-F238E27FC236}">
                <a16:creationId xmlns:a16="http://schemas.microsoft.com/office/drawing/2014/main" id="{F15307FB-A919-4CF4-8A56-D9B5EFC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Accurate numbers can still create a misleading visual.</a:t>
            </a:r>
          </a:p>
        </p:txBody>
      </p:sp>
      <p:sp>
        <p:nvSpPr>
          <p:cNvPr id="319" name="Google Shape;319;p13">
            <a:extLst xmlns:a="http://schemas.openxmlformats.org/drawingml/2006/main">
              <a:ext uri="{FF2B5EF4-FFF2-40B4-BE49-F238E27FC236}">
                <a16:creationId xmlns:a16="http://schemas.microsoft.com/office/drawing/2014/main" id="{5B06E814-6119-453C-9645-6F8C7A2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11</a:t>
            </a:r>
          </a:p>
        </p:txBody>
      </p:sp>
      <p:sp>
        <p:nvSpPr>
          <p:cNvPr id="320" name="Google Shape;320;p13">
            <a:extLst xmlns:a="http://schemas.openxmlformats.org/drawingml/2006/main">
              <a:ext uri="{FF2B5EF4-FFF2-40B4-BE49-F238E27FC236}">
                <a16:creationId xmlns:a16="http://schemas.microsoft.com/office/drawing/2014/main" id="{AFF4B5D4-F18A-4D0B-AB0C-6E1A3729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84632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1" name="Google Shape;321;p13">
            <a:extLst xmlns:a="http://schemas.openxmlformats.org/drawingml/2006/main">
              <a:ext uri="{FF2B5EF4-FFF2-40B4-BE49-F238E27FC236}">
                <a16:creationId xmlns:a16="http://schemas.microsoft.com/office/drawing/2014/main" id="{2B678513-C1F2-4FBF-B67F-EBF1AC1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2" name="Google Shape;322;p13">
            <a:extLst xmlns:a="http://schemas.openxmlformats.org/drawingml/2006/main">
              <a:ext uri="{FF2B5EF4-FFF2-40B4-BE49-F238E27FC236}">
                <a16:creationId xmlns:a16="http://schemas.microsoft.com/office/drawing/2014/main" id="{74D3BE31-E2DD-48E1-9B6C-2C39CBC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MISLEADING SCALE</a:t>
            </a:r>
          </a:p>
        </p:txBody>
      </p:sp>
      <p:sp>
        <p:nvSpPr>
          <p:cNvPr id="323" name="Google Shape;323;p13">
            <a:extLst xmlns:a="http://schemas.openxmlformats.org/drawingml/2006/main">
              <a:ext uri="{FF2B5EF4-FFF2-40B4-BE49-F238E27FC236}">
                <a16:creationId xmlns:a16="http://schemas.microsoft.com/office/drawing/2014/main" id="{C9066912-0188-4EAF-A2AB-19976C3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452628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y-axis that begins at 95 can make a small difference look dramatic.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Ask: Does the scale exaggerate the result?</a:t>
            </a:r>
          </a:p>
        </p:txBody>
      </p:sp>
      <p:sp>
        <p:nvSpPr>
          <p:cNvPr id="324" name="Google Shape;324;p13">
            <a:extLst xmlns:a="http://schemas.openxmlformats.org/drawingml/2006/main">
              <a:ext uri="{FF2B5EF4-FFF2-40B4-BE49-F238E27FC236}">
                <a16:creationId xmlns:a16="http://schemas.microsoft.com/office/drawing/2014/main" id="{40127ADE-0628-47BB-BAFB-C5112FC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84632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5" name="Google Shape;325;p13">
            <a:extLst xmlns:a="http://schemas.openxmlformats.org/drawingml/2006/main">
              <a:ext uri="{FF2B5EF4-FFF2-40B4-BE49-F238E27FC236}">
                <a16:creationId xmlns:a16="http://schemas.microsoft.com/office/drawing/2014/main" id="{AF4C2BAC-B6BE-41E9-9B03-5BC42B4A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6" name="Google Shape;326;p13">
            <a:extLst xmlns:a="http://schemas.openxmlformats.org/drawingml/2006/main">
              <a:ext uri="{FF2B5EF4-FFF2-40B4-BE49-F238E27FC236}">
                <a16:creationId xmlns:a16="http://schemas.microsoft.com/office/drawing/2014/main" id="{574D1CB4-D815-4196-BF29-F4E9C5A8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81912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BETTER PRACTICE</a:t>
            </a:r>
          </a:p>
        </p:txBody>
      </p:sp>
      <p:sp>
        <p:nvSpPr>
          <p:cNvPr id="327" name="Google Shape;327;p13">
            <a:extLst xmlns:a="http://schemas.openxmlformats.org/drawingml/2006/main">
              <a:ext uri="{FF2B5EF4-FFF2-40B4-BE49-F238E27FC236}">
                <a16:creationId xmlns:a16="http://schemas.microsoft.com/office/drawing/2014/main" id="{6D13E034-8689-4EBC-8A93-AB5A43B0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20240"/>
            <a:ext cx="452628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 scale that shows the pattern without overstating it.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captions to explain what matters.</a:t>
            </a:r>
          </a:p>
        </p:txBody>
      </p:sp>
      <p:sp>
        <p:nvSpPr>
          <p:cNvPr id="328" name="Google Shape;328;p13">
            <a:extLst xmlns:a="http://schemas.openxmlformats.org/drawingml/2006/main">
              <a:ext uri="{FF2B5EF4-FFF2-40B4-BE49-F238E27FC236}">
                <a16:creationId xmlns:a16="http://schemas.microsoft.com/office/drawing/2014/main" id="{F968EF0F-26EA-4DA2-B4D1-65DB507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624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Visual ethics rule: the audience should not need to inspect the axis to avoid being tricked.</a:t>
            </a:r>
          </a:p>
        </p:txBody>
      </p:sp>
    </p:spTree>
    <p:extLst>
      <p:ext uri="{BB962C8B-B14F-4D97-AF65-F5344CB8AC3E}">
        <p14:creationId xmlns:p14="http://schemas.microsoft.com/office/powerpoint/2010/main" val="584773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Google Shape;334;p14">
            <a:extLst xmlns:a="http://schemas.openxmlformats.org/drawingml/2006/main">
              <a:ext uri="{FF2B5EF4-FFF2-40B4-BE49-F238E27FC236}">
                <a16:creationId xmlns:a16="http://schemas.microsoft.com/office/drawing/2014/main" id="{7102FE49-4178-4FEA-9710-8B1BDD7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5" name="Google Shape;335;p14">
            <a:extLst xmlns:a="http://schemas.openxmlformats.org/drawingml/2006/main">
              <a:ext uri="{FF2B5EF4-FFF2-40B4-BE49-F238E27FC236}">
                <a16:creationId xmlns:a16="http://schemas.microsoft.com/office/drawing/2014/main" id="{30453DA9-64E6-41F5-B130-DBD05FB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14">
            <a:extLst xmlns:a="http://schemas.openxmlformats.org/drawingml/2006/main">
              <a:ext uri="{FF2B5EF4-FFF2-40B4-BE49-F238E27FC236}">
                <a16:creationId xmlns:a16="http://schemas.microsoft.com/office/drawing/2014/main" id="{228ADF52-B13C-4235-9531-D21A115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7" name="Google Shape;337;p14">
            <a:extLst xmlns:a="http://schemas.openxmlformats.org/drawingml/2006/main">
              <a:ext uri="{FF2B5EF4-FFF2-40B4-BE49-F238E27FC236}">
                <a16:creationId xmlns:a16="http://schemas.microsoft.com/office/drawing/2014/main" id="{13E29FEC-2932-4F7D-9E8D-9CCC164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VISUAL ETHICS</a:t>
            </a:r>
          </a:p>
        </p:txBody>
      </p:sp>
      <p:sp>
        <p:nvSpPr>
          <p:cNvPr id="338" name="Google Shape;338;p14">
            <a:extLst xmlns:a="http://schemas.openxmlformats.org/drawingml/2006/main">
              <a:ext uri="{FF2B5EF4-FFF2-40B4-BE49-F238E27FC236}">
                <a16:creationId xmlns:a16="http://schemas.microsoft.com/office/drawing/2014/main" id="{81FDF4DF-5214-4AE7-8CA1-419EE02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339" name="Google Shape;339;p14">
            <a:extLst xmlns:a="http://schemas.openxmlformats.org/drawingml/2006/main">
              <a:ext uri="{FF2B5EF4-FFF2-40B4-BE49-F238E27FC236}">
                <a16:creationId xmlns:a16="http://schemas.microsoft.com/office/drawing/2014/main" id="{AF50764F-811C-4953-929D-3B05CAC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Chartjunk Hides Evidence</a:t>
            </a:r>
          </a:p>
        </p:txBody>
      </p:sp>
      <p:sp>
        <p:nvSpPr>
          <p:cNvPr id="340" name="Google Shape;340;p14">
            <a:extLst xmlns:a="http://schemas.openxmlformats.org/drawingml/2006/main">
              <a:ext uri="{FF2B5EF4-FFF2-40B4-BE49-F238E27FC236}">
                <a16:creationId xmlns:a16="http://schemas.microsoft.com/office/drawing/2014/main" id="{865F1440-4398-4E8E-BAD1-245AC635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1" name="Google Shape;341;p14">
            <a:extLst xmlns:a="http://schemas.openxmlformats.org/drawingml/2006/main">
              <a:ext uri="{FF2B5EF4-FFF2-40B4-BE49-F238E27FC236}">
                <a16:creationId xmlns:a16="http://schemas.microsoft.com/office/drawing/2014/main" id="{08F75043-B03B-4262-9951-69497799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graph is not stronger because it looks busier.</a:t>
            </a:r>
          </a:p>
        </p:txBody>
      </p:sp>
      <p:sp>
        <p:nvSpPr>
          <p:cNvPr id="342" name="Google Shape;342;p14">
            <a:extLst xmlns:a="http://schemas.openxmlformats.org/drawingml/2006/main">
              <a:ext uri="{FF2B5EF4-FFF2-40B4-BE49-F238E27FC236}">
                <a16:creationId xmlns:a16="http://schemas.microsoft.com/office/drawing/2014/main" id="{764A1EB1-A67C-418F-B390-169BA81F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12</a:t>
            </a:r>
          </a:p>
        </p:txBody>
      </p:sp>
      <p:sp>
        <p:nvSpPr>
          <p:cNvPr id="343" name="Google Shape;343;p14">
            <a:extLst xmlns:a="http://schemas.openxmlformats.org/drawingml/2006/main">
              <a:ext uri="{FF2B5EF4-FFF2-40B4-BE49-F238E27FC236}">
                <a16:creationId xmlns:a16="http://schemas.microsoft.com/office/drawing/2014/main" id="{ECF94380-AB56-431E-94A2-52DD227C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20040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4" name="Google Shape;344;p14">
            <a:extLst xmlns:a="http://schemas.openxmlformats.org/drawingml/2006/main">
              <a:ext uri="{FF2B5EF4-FFF2-40B4-BE49-F238E27FC236}">
                <a16:creationId xmlns:a16="http://schemas.microsoft.com/office/drawing/2014/main" id="{AA40953B-E09E-41A2-936E-4FBC2F08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5" name="Google Shape;345;p14">
            <a:extLst xmlns:a="http://schemas.openxmlformats.org/drawingml/2006/main">
              <a:ext uri="{FF2B5EF4-FFF2-40B4-BE49-F238E27FC236}">
                <a16:creationId xmlns:a16="http://schemas.microsoft.com/office/drawing/2014/main" id="{A884B3B9-6736-4C4B-BE78-EE59688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346" name="Google Shape;346;p14">
            <a:extLst xmlns:a="http://schemas.openxmlformats.org/drawingml/2006/main">
              <a:ext uri="{FF2B5EF4-FFF2-40B4-BE49-F238E27FC236}">
                <a16:creationId xmlns:a16="http://schemas.microsoft.com/office/drawing/2014/main" id="{06FB6195-6B82-4410-A9EB-019BB8F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88036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3D effects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heavy shadows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decorative images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unnecessary colors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cluttered labels</a:t>
            </a:r>
          </a:p>
        </p:txBody>
      </p:sp>
      <p:sp>
        <p:nvSpPr>
          <p:cNvPr id="347" name="Google Shape;347;p14">
            <a:extLst xmlns:a="http://schemas.openxmlformats.org/drawingml/2006/main">
              <a:ext uri="{FF2B5EF4-FFF2-40B4-BE49-F238E27FC236}">
                <a16:creationId xmlns:a16="http://schemas.microsoft.com/office/drawing/2014/main" id="{023342ED-B635-4AA0-90F1-8763379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20040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8" name="Google Shape;348;p14">
            <a:extLst xmlns:a="http://schemas.openxmlformats.org/drawingml/2006/main">
              <a:ext uri="{FF2B5EF4-FFF2-40B4-BE49-F238E27FC236}">
                <a16:creationId xmlns:a16="http://schemas.microsoft.com/office/drawing/2014/main" id="{2A49055F-E2AC-42E0-B2E2-FB4AC227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9" name="Google Shape;349;p14">
            <a:extLst xmlns:a="http://schemas.openxmlformats.org/drawingml/2006/main">
              <a:ext uri="{FF2B5EF4-FFF2-40B4-BE49-F238E27FC236}">
                <a16:creationId xmlns:a16="http://schemas.microsoft.com/office/drawing/2014/main" id="{59C78135-432F-413C-A2CD-50FCADE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350" name="Google Shape;350;p14">
            <a:extLst xmlns:a="http://schemas.openxmlformats.org/drawingml/2006/main">
              <a:ext uri="{FF2B5EF4-FFF2-40B4-BE49-F238E27FC236}">
                <a16:creationId xmlns:a16="http://schemas.microsoft.com/office/drawing/2014/main" id="{3EC0D9D9-E0F8-4A74-B50B-518E52F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920240"/>
            <a:ext cx="288036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axes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readable text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consistent labels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useful caption</a:t>
            </a:r>
          </a:p>
        </p:txBody>
      </p:sp>
      <p:sp>
        <p:nvSpPr>
          <p:cNvPr id="351" name="Google Shape;351;p14">
            <a:extLst xmlns:a="http://schemas.openxmlformats.org/drawingml/2006/main">
              <a:ext uri="{FF2B5EF4-FFF2-40B4-BE49-F238E27FC236}">
                <a16:creationId xmlns:a16="http://schemas.microsoft.com/office/drawing/2014/main" id="{58306A56-7E3D-41D3-B8E8-817DC75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20040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2" name="Google Shape;352;p14">
            <a:extLst xmlns:a="http://schemas.openxmlformats.org/drawingml/2006/main">
              <a:ext uri="{FF2B5EF4-FFF2-40B4-BE49-F238E27FC236}">
                <a16:creationId xmlns:a16="http://schemas.microsoft.com/office/drawing/2014/main" id="{758CA808-4596-4E49-A586-46C91866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14">
            <a:extLst xmlns:a="http://schemas.openxmlformats.org/drawingml/2006/main">
              <a:ext uri="{FF2B5EF4-FFF2-40B4-BE49-F238E27FC236}">
                <a16:creationId xmlns:a16="http://schemas.microsoft.com/office/drawing/2014/main" id="{28CF978B-6BC8-4859-9DCC-B8BC374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54" name="Google Shape;354;p14">
            <a:extLst xmlns:a="http://schemas.openxmlformats.org/drawingml/2006/main">
              <a:ext uri="{FF2B5EF4-FFF2-40B4-BE49-F238E27FC236}">
                <a16:creationId xmlns:a16="http://schemas.microsoft.com/office/drawing/2014/main" id="{5ECCA44C-41B6-4E53-84DF-96650C9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920240"/>
            <a:ext cx="288036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Does this design choice help the reader understand the evidence?</a:t>
            </a:r>
          </a:p>
        </p:txBody>
      </p:sp>
    </p:spTree>
    <p:extLst>
      <p:ext uri="{BB962C8B-B14F-4D97-AF65-F5344CB8AC3E}">
        <p14:creationId xmlns:p14="http://schemas.microsoft.com/office/powerpoint/2010/main" val="3179834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Google Shape;360;p15">
            <a:extLst xmlns:a="http://schemas.openxmlformats.org/drawingml/2006/main">
              <a:ext uri="{FF2B5EF4-FFF2-40B4-BE49-F238E27FC236}">
                <a16:creationId xmlns:a16="http://schemas.microsoft.com/office/drawing/2014/main" id="{BE7E9188-5A69-44A1-BFED-2B6A5653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1" name="Google Shape;361;p15">
            <a:extLst xmlns:a="http://schemas.openxmlformats.org/drawingml/2006/main">
              <a:ext uri="{FF2B5EF4-FFF2-40B4-BE49-F238E27FC236}">
                <a16:creationId xmlns:a16="http://schemas.microsoft.com/office/drawing/2014/main" id="{2E76AAF3-C447-4C18-B14E-A69E415C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15">
            <a:extLst xmlns:a="http://schemas.openxmlformats.org/drawingml/2006/main">
              <a:ext uri="{FF2B5EF4-FFF2-40B4-BE49-F238E27FC236}">
                <a16:creationId xmlns:a16="http://schemas.microsoft.com/office/drawing/2014/main" id="{0EA7D4E8-CD95-4BE4-8ADA-568C0FD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3" name="Google Shape;363;p15">
            <a:extLst xmlns:a="http://schemas.openxmlformats.org/drawingml/2006/main">
              <a:ext uri="{FF2B5EF4-FFF2-40B4-BE49-F238E27FC236}">
                <a16:creationId xmlns:a16="http://schemas.microsoft.com/office/drawing/2014/main" id="{DF754924-3C65-4445-8FD3-6644BC9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GRAPH STANDARDS</a:t>
            </a:r>
          </a:p>
        </p:txBody>
      </p:sp>
      <p:sp>
        <p:nvSpPr>
          <p:cNvPr id="364" name="Google Shape;364;p15">
            <a:extLst xmlns:a="http://schemas.openxmlformats.org/drawingml/2006/main">
              <a:ext uri="{FF2B5EF4-FFF2-40B4-BE49-F238E27FC236}">
                <a16:creationId xmlns:a16="http://schemas.microsoft.com/office/drawing/2014/main" id="{4CAFC42C-5C2A-4502-BEB2-EB72059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365" name="Google Shape;365;p15">
            <a:extLst xmlns:a="http://schemas.openxmlformats.org/drawingml/2006/main">
              <a:ext uri="{FF2B5EF4-FFF2-40B4-BE49-F238E27FC236}">
                <a16:creationId xmlns:a16="http://schemas.microsoft.com/office/drawing/2014/main" id="{EF5DBAC1-C373-45D4-8B06-96CB6CC0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Missing Labels Destroy Meaning</a:t>
            </a:r>
          </a:p>
        </p:txBody>
      </p:sp>
      <p:sp>
        <p:nvSpPr>
          <p:cNvPr id="366" name="Google Shape;366;p15">
            <a:extLst xmlns:a="http://schemas.openxmlformats.org/drawingml/2006/main">
              <a:ext uri="{FF2B5EF4-FFF2-40B4-BE49-F238E27FC236}">
                <a16:creationId xmlns:a16="http://schemas.microsoft.com/office/drawing/2014/main" id="{1B8A8E22-139D-4E02-AAE2-76729A6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7" name="Google Shape;367;p15">
            <a:extLst xmlns:a="http://schemas.openxmlformats.org/drawingml/2006/main">
              <a:ext uri="{FF2B5EF4-FFF2-40B4-BE49-F238E27FC236}">
                <a16:creationId xmlns:a16="http://schemas.microsoft.com/office/drawing/2014/main" id="{5A8E9C7D-05F9-4EF4-9E64-C98A6085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number without context is not evidence.</a:t>
            </a:r>
          </a:p>
        </p:txBody>
      </p:sp>
      <p:sp>
        <p:nvSpPr>
          <p:cNvPr id="368" name="Google Shape;368;p15">
            <a:extLst xmlns:a="http://schemas.openxmlformats.org/drawingml/2006/main">
              <a:ext uri="{FF2B5EF4-FFF2-40B4-BE49-F238E27FC236}">
                <a16:creationId xmlns:a16="http://schemas.microsoft.com/office/drawing/2014/main" id="{9932128F-04CB-4B8B-A1D7-FEA0D92B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13</a:t>
            </a:r>
          </a:p>
        </p:txBody>
      </p:sp>
      <p:sp>
        <p:nvSpPr>
          <p:cNvPr id="369" name="Google Shape;369;p15">
            <a:extLst xmlns:a="http://schemas.openxmlformats.org/drawingml/2006/main">
              <a:ext uri="{FF2B5EF4-FFF2-40B4-BE49-F238E27FC236}">
                <a16:creationId xmlns:a16="http://schemas.microsoft.com/office/drawing/2014/main" id="{8949885E-B2AE-4573-B322-45D2BEB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2004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0" name="Google Shape;370;p15">
            <a:extLst xmlns:a="http://schemas.openxmlformats.org/drawingml/2006/main">
              <a:ext uri="{FF2B5EF4-FFF2-40B4-BE49-F238E27FC236}">
                <a16:creationId xmlns:a16="http://schemas.microsoft.com/office/drawing/2014/main" id="{AC83DC6F-FF4B-4149-80E3-E46F088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15">
            <a:extLst xmlns:a="http://schemas.openxmlformats.org/drawingml/2006/main">
              <a:ext uri="{FF2B5EF4-FFF2-40B4-BE49-F238E27FC236}">
                <a16:creationId xmlns:a16="http://schemas.microsoft.com/office/drawing/2014/main" id="{E0895E8A-DEC7-4EBC-BDA0-532FB373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MISSING UNIT</a:t>
            </a:r>
          </a:p>
        </p:txBody>
      </p:sp>
      <p:sp>
        <p:nvSpPr>
          <p:cNvPr id="372" name="Google Shape;372;p15">
            <a:extLst xmlns:a="http://schemas.openxmlformats.org/drawingml/2006/main">
              <a:ext uri="{FF2B5EF4-FFF2-40B4-BE49-F238E27FC236}">
                <a16:creationId xmlns:a16="http://schemas.microsoft.com/office/drawing/2014/main" id="{0FD29593-7CC2-4D90-9149-F35D683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880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“Height = 12”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12 what? cm? mm? inches?</a:t>
            </a:r>
          </a:p>
        </p:txBody>
      </p:sp>
      <p:sp>
        <p:nvSpPr>
          <p:cNvPr id="373" name="Google Shape;373;p15">
            <a:extLst xmlns:a="http://schemas.openxmlformats.org/drawingml/2006/main">
              <a:ext uri="{FF2B5EF4-FFF2-40B4-BE49-F238E27FC236}">
                <a16:creationId xmlns:a16="http://schemas.microsoft.com/office/drawing/2014/main" id="{838C736D-0B6B-4FF0-9ABA-AD54207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2004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4" name="Google Shape;374;p15">
            <a:extLst xmlns:a="http://schemas.openxmlformats.org/drawingml/2006/main">
              <a:ext uri="{FF2B5EF4-FFF2-40B4-BE49-F238E27FC236}">
                <a16:creationId xmlns:a16="http://schemas.microsoft.com/office/drawing/2014/main" id="{DC0532A7-BE26-4087-81EB-04B2A809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5" name="Google Shape;375;p15">
            <a:extLst xmlns:a="http://schemas.openxmlformats.org/drawingml/2006/main">
              <a:ext uri="{FF2B5EF4-FFF2-40B4-BE49-F238E27FC236}">
                <a16:creationId xmlns:a16="http://schemas.microsoft.com/office/drawing/2014/main" id="{D43C547D-BAD4-4646-849B-7ACBF90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UNCLEAR CONDITION</a:t>
            </a:r>
          </a:p>
        </p:txBody>
      </p:sp>
      <p:sp>
        <p:nvSpPr>
          <p:cNvPr id="376" name="Google Shape;376;p15">
            <a:extLst xmlns:a="http://schemas.openxmlformats.org/drawingml/2006/main">
              <a:ext uri="{FF2B5EF4-FFF2-40B4-BE49-F238E27FC236}">
                <a16:creationId xmlns:a16="http://schemas.microsoft.com/office/drawing/2014/main" id="{098F6251-159B-47CF-BC62-F4C3263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920240"/>
            <a:ext cx="2880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“Trial 3”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group, setting, design, or treatment?</a:t>
            </a:r>
          </a:p>
        </p:txBody>
      </p:sp>
      <p:sp>
        <p:nvSpPr>
          <p:cNvPr id="377" name="Google Shape;377;p15">
            <a:extLst xmlns:a="http://schemas.openxmlformats.org/drawingml/2006/main">
              <a:ext uri="{FF2B5EF4-FFF2-40B4-BE49-F238E27FC236}">
                <a16:creationId xmlns:a16="http://schemas.microsoft.com/office/drawing/2014/main" id="{91F68C1E-DD4E-4897-896E-2EE0ED8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2004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15">
            <a:extLst xmlns:a="http://schemas.openxmlformats.org/drawingml/2006/main">
              <a:ext uri="{FF2B5EF4-FFF2-40B4-BE49-F238E27FC236}">
                <a16:creationId xmlns:a16="http://schemas.microsoft.com/office/drawing/2014/main" id="{C95D9CA5-9E5F-459B-A58B-A1B33B37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9" name="Google Shape;379;p15">
            <a:extLst xmlns:a="http://schemas.openxmlformats.org/drawingml/2006/main">
              <a:ext uri="{FF2B5EF4-FFF2-40B4-BE49-F238E27FC236}">
                <a16:creationId xmlns:a16="http://schemas.microsoft.com/office/drawing/2014/main" id="{EAAFF49E-9F70-4C46-8284-7D062645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VAGUE TITLE</a:t>
            </a:r>
          </a:p>
        </p:txBody>
      </p:sp>
      <p:sp>
        <p:nvSpPr>
          <p:cNvPr id="380" name="Google Shape;380;p15">
            <a:extLst xmlns:a="http://schemas.openxmlformats.org/drawingml/2006/main">
              <a:ext uri="{FF2B5EF4-FFF2-40B4-BE49-F238E27FC236}">
                <a16:creationId xmlns:a16="http://schemas.microsoft.com/office/drawing/2014/main" id="{97885423-3C87-4A00-8A25-821D646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920240"/>
            <a:ext cx="2880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“Results”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 of what comparison?</a:t>
            </a:r>
          </a:p>
        </p:txBody>
      </p:sp>
      <p:sp>
        <p:nvSpPr>
          <p:cNvPr id="381" name="Google Shape;381;p15">
            <a:extLst xmlns:a="http://schemas.openxmlformats.org/drawingml/2006/main">
              <a:ext uri="{FF2B5EF4-FFF2-40B4-BE49-F238E27FC236}">
                <a16:creationId xmlns:a16="http://schemas.microsoft.com/office/drawing/2014/main" id="{4D775A9E-B468-4D40-B40D-C52E67D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2" name="Google Shape;382;p15">
            <a:extLst xmlns:a="http://schemas.openxmlformats.org/drawingml/2006/main">
              <a:ext uri="{FF2B5EF4-FFF2-40B4-BE49-F238E27FC236}">
                <a16:creationId xmlns:a16="http://schemas.microsoft.com/office/drawing/2014/main" id="{B5992EBB-775E-410A-8EC6-F8F1891F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83" name="Google Shape;383;p15">
            <a:extLst xmlns:a="http://schemas.openxmlformats.org/drawingml/2006/main">
              <a:ext uri="{FF2B5EF4-FFF2-40B4-BE49-F238E27FC236}">
                <a16:creationId xmlns:a16="http://schemas.microsoft.com/office/drawing/2014/main" id="{4BF33ED1-BF16-42E6-A783-8D1AF74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 audit</a:t>
            </a:r>
          </a:p>
        </p:txBody>
      </p:sp>
      <p:sp>
        <p:nvSpPr>
          <p:cNvPr id="384" name="Google Shape;384;p15">
            <a:extLst xmlns:a="http://schemas.openxmlformats.org/drawingml/2006/main">
              <a:ext uri="{FF2B5EF4-FFF2-40B4-BE49-F238E27FC236}">
                <a16:creationId xmlns:a16="http://schemas.microsoft.com/office/drawing/2014/main" id="{8AB76B06-825D-4294-AE08-971B89F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385" name="Google Shape;385;p15">
            <a:extLst xmlns:a="http://schemas.openxmlformats.org/drawingml/2006/main">
              <a:ext uri="{FF2B5EF4-FFF2-40B4-BE49-F238E27FC236}">
                <a16:creationId xmlns:a16="http://schemas.microsoft.com/office/drawing/2014/main" id="{7EA1A195-EFC2-4532-A28A-332CF0D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Find one label, unit, or title in your current visual plan that needs to be clearer.</a:t>
            </a:r>
          </a:p>
        </p:txBody>
      </p:sp>
    </p:spTree>
    <p:extLst>
      <p:ext uri="{BB962C8B-B14F-4D97-AF65-F5344CB8AC3E}">
        <p14:creationId xmlns:p14="http://schemas.microsoft.com/office/powerpoint/2010/main" val="4755902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1" name="Google Shape;391;p16">
            <a:extLst xmlns:a="http://schemas.openxmlformats.org/drawingml/2006/main">
              <a:ext uri="{FF2B5EF4-FFF2-40B4-BE49-F238E27FC236}">
                <a16:creationId xmlns:a16="http://schemas.microsoft.com/office/drawing/2014/main" id="{1304DB77-D7D8-4B38-BFD0-998F57B6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2" name="Google Shape;392;p16">
            <a:extLst xmlns:a="http://schemas.openxmlformats.org/drawingml/2006/main">
              <a:ext uri="{FF2B5EF4-FFF2-40B4-BE49-F238E27FC236}">
                <a16:creationId xmlns:a16="http://schemas.microsoft.com/office/drawing/2014/main" id="{0F0B0868-D694-435D-AA81-504513CA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3" name="Google Shape;393;p16">
            <a:extLst xmlns:a="http://schemas.openxmlformats.org/drawingml/2006/main">
              <a:ext uri="{FF2B5EF4-FFF2-40B4-BE49-F238E27FC236}">
                <a16:creationId xmlns:a16="http://schemas.microsoft.com/office/drawing/2014/main" id="{A961F0DF-1D8D-41EA-978E-2E54A26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4" name="Google Shape;394;p16">
            <a:extLst xmlns:a="http://schemas.openxmlformats.org/drawingml/2006/main">
              <a:ext uri="{FF2B5EF4-FFF2-40B4-BE49-F238E27FC236}">
                <a16:creationId xmlns:a16="http://schemas.microsoft.com/office/drawing/2014/main" id="{A5C89678-5156-4430-9DA5-CCA2EF2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VARIABILITY</a:t>
            </a:r>
          </a:p>
        </p:txBody>
      </p:sp>
      <p:sp>
        <p:nvSpPr>
          <p:cNvPr id="395" name="Google Shape;395;p16">
            <a:extLst xmlns:a="http://schemas.openxmlformats.org/drawingml/2006/main">
              <a:ext uri="{FF2B5EF4-FFF2-40B4-BE49-F238E27FC236}">
                <a16:creationId xmlns:a16="http://schemas.microsoft.com/office/drawing/2014/main" id="{A6202A0D-950C-4776-BC9A-C916214B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396" name="Google Shape;396;p16">
            <a:extLst xmlns:a="http://schemas.openxmlformats.org/drawingml/2006/main">
              <a:ext uri="{FF2B5EF4-FFF2-40B4-BE49-F238E27FC236}">
                <a16:creationId xmlns:a16="http://schemas.microsoft.com/office/drawing/2014/main" id="{E5D8AA0C-88FE-4A41-8984-C656E039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Error Bars Show Spread or Uncertainty</a:t>
            </a:r>
          </a:p>
        </p:txBody>
      </p:sp>
      <p:sp>
        <p:nvSpPr>
          <p:cNvPr id="397" name="Google Shape;397;p16">
            <a:extLst xmlns:a="http://schemas.openxmlformats.org/drawingml/2006/main">
              <a:ext uri="{FF2B5EF4-FFF2-40B4-BE49-F238E27FC236}">
                <a16:creationId xmlns:a16="http://schemas.microsoft.com/office/drawing/2014/main" id="{3B0B9490-9CD5-4ABF-B3FD-4CE59F97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8" name="Google Shape;398;p16">
            <a:extLst xmlns:a="http://schemas.openxmlformats.org/drawingml/2006/main">
              <a:ext uri="{FF2B5EF4-FFF2-40B4-BE49-F238E27FC236}">
                <a16:creationId xmlns:a16="http://schemas.microsoft.com/office/drawing/2014/main" id="{78403081-0CF4-4027-890C-D1546F69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them only when you know what they represent.</a:t>
            </a:r>
          </a:p>
        </p:txBody>
      </p:sp>
      <p:sp>
        <p:nvSpPr>
          <p:cNvPr id="399" name="Google Shape;399;p16">
            <a:extLst xmlns:a="http://schemas.openxmlformats.org/drawingml/2006/main">
              <a:ext uri="{FF2B5EF4-FFF2-40B4-BE49-F238E27FC236}">
                <a16:creationId xmlns:a16="http://schemas.microsoft.com/office/drawing/2014/main" id="{1A3E7DCF-6468-4347-8E71-6A246162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14</a:t>
            </a:r>
          </a:p>
        </p:txBody>
      </p:sp>
      <p:sp>
        <p:nvSpPr>
          <p:cNvPr id="400" name="Google Shape;400;p16">
            <a:extLst xmlns:a="http://schemas.openxmlformats.org/drawingml/2006/main">
              <a:ext uri="{FF2B5EF4-FFF2-40B4-BE49-F238E27FC236}">
                <a16:creationId xmlns:a16="http://schemas.microsoft.com/office/drawing/2014/main" id="{B7B1F63B-93EB-471D-A76D-061C1E0B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20040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1" name="Google Shape;401;p16">
            <a:extLst xmlns:a="http://schemas.openxmlformats.org/drawingml/2006/main">
              <a:ext uri="{FF2B5EF4-FFF2-40B4-BE49-F238E27FC236}">
                <a16:creationId xmlns:a16="http://schemas.microsoft.com/office/drawing/2014/main" id="{9265E377-544D-4FF7-9E5E-388F3509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2" name="Google Shape;402;p16">
            <a:extLst xmlns:a="http://schemas.openxmlformats.org/drawingml/2006/main">
              <a:ext uri="{FF2B5EF4-FFF2-40B4-BE49-F238E27FC236}">
                <a16:creationId xmlns:a16="http://schemas.microsoft.com/office/drawing/2014/main" id="{15F2CC0C-55D1-4CB6-AD77-C2232A8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CAN SHOW</a:t>
            </a:r>
          </a:p>
        </p:txBody>
      </p:sp>
      <p:sp>
        <p:nvSpPr>
          <p:cNvPr id="403" name="Google Shape;403;p16">
            <a:extLst xmlns:a="http://schemas.openxmlformats.org/drawingml/2006/main">
              <a:ext uri="{FF2B5EF4-FFF2-40B4-BE49-F238E27FC236}">
                <a16:creationId xmlns:a16="http://schemas.microsoft.com/office/drawing/2014/main" id="{AECB749F-FF22-4AB1-8F86-FB2F0134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8803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 deviation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 error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range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measurement uncertainty</a:t>
            </a:r>
          </a:p>
        </p:txBody>
      </p:sp>
      <p:sp>
        <p:nvSpPr>
          <p:cNvPr id="404" name="Google Shape;404;p16">
            <a:extLst xmlns:a="http://schemas.openxmlformats.org/drawingml/2006/main">
              <a:ext uri="{FF2B5EF4-FFF2-40B4-BE49-F238E27FC236}">
                <a16:creationId xmlns:a16="http://schemas.microsoft.com/office/drawing/2014/main" id="{A9B01A61-2808-4D7C-B0A5-4D7E639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20040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5" name="Google Shape;405;p16">
            <a:extLst xmlns:a="http://schemas.openxmlformats.org/drawingml/2006/main">
              <a:ext uri="{FF2B5EF4-FFF2-40B4-BE49-F238E27FC236}">
                <a16:creationId xmlns:a16="http://schemas.microsoft.com/office/drawing/2014/main" id="{F751A1CF-F0E4-4D94-BA7F-45A27EB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4572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6" name="Google Shape;406;p16">
            <a:extLst xmlns:a="http://schemas.openxmlformats.org/drawingml/2006/main">
              <a:ext uri="{FF2B5EF4-FFF2-40B4-BE49-F238E27FC236}">
                <a16:creationId xmlns:a16="http://schemas.microsoft.com/office/drawing/2014/main" id="{9C39ED56-0A26-4DE1-90B6-57D87930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USE WHEN</a:t>
            </a:r>
          </a:p>
        </p:txBody>
      </p:sp>
      <p:sp>
        <p:nvSpPr>
          <p:cNvPr id="407" name="Google Shape;407;p16">
            <a:extLst xmlns:a="http://schemas.openxmlformats.org/drawingml/2006/main">
              <a:ext uri="{FF2B5EF4-FFF2-40B4-BE49-F238E27FC236}">
                <a16:creationId xmlns:a16="http://schemas.microsoft.com/office/drawing/2014/main" id="{62DE0345-7844-4EED-B52D-786DF78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920240"/>
            <a:ext cx="28803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have repeated measurements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need to show variability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can explain what the bars mean</a:t>
            </a:r>
          </a:p>
        </p:txBody>
      </p:sp>
      <p:sp>
        <p:nvSpPr>
          <p:cNvPr id="408" name="Google Shape;408;p16">
            <a:extLst xmlns:a="http://schemas.openxmlformats.org/drawingml/2006/main">
              <a:ext uri="{FF2B5EF4-FFF2-40B4-BE49-F238E27FC236}">
                <a16:creationId xmlns:a16="http://schemas.microsoft.com/office/drawing/2014/main" id="{BD2FDD32-4ECD-49C3-9CC5-F1DFE3B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20040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9" name="Google Shape;409;p16">
            <a:extLst xmlns:a="http://schemas.openxmlformats.org/drawingml/2006/main">
              <a:ext uri="{FF2B5EF4-FFF2-40B4-BE49-F238E27FC236}">
                <a16:creationId xmlns:a16="http://schemas.microsoft.com/office/drawing/2014/main" id="{19970920-5AC1-408E-867E-325C213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4572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0" name="Google Shape;410;p16">
            <a:extLst xmlns:a="http://schemas.openxmlformats.org/drawingml/2006/main">
              <a:ext uri="{FF2B5EF4-FFF2-40B4-BE49-F238E27FC236}">
                <a16:creationId xmlns:a16="http://schemas.microsoft.com/office/drawing/2014/main" id="{3AA3D1CC-D813-45E7-9CC0-C87699E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DO NOT USE</a:t>
            </a:r>
          </a:p>
        </p:txBody>
      </p:sp>
      <p:sp>
        <p:nvSpPr>
          <p:cNvPr id="411" name="Google Shape;411;p16">
            <a:extLst xmlns:a="http://schemas.openxmlformats.org/drawingml/2006/main">
              <a:ext uri="{FF2B5EF4-FFF2-40B4-BE49-F238E27FC236}">
                <a16:creationId xmlns:a16="http://schemas.microsoft.com/office/drawing/2014/main" id="{5627A159-613B-4698-BF3C-D65807EB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920240"/>
            <a:ext cx="28803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just to look scientific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knowing the meaning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labeling in caption</a:t>
            </a:r>
          </a:p>
        </p:txBody>
      </p:sp>
      <p:sp>
        <p:nvSpPr>
          <p:cNvPr id="412" name="Google Shape;412;p16">
            <a:extLst xmlns:a="http://schemas.openxmlformats.org/drawingml/2006/main">
              <a:ext uri="{FF2B5EF4-FFF2-40B4-BE49-F238E27FC236}">
                <a16:creationId xmlns:a16="http://schemas.microsoft.com/office/drawing/2014/main" id="{FFB5E1D3-BAF8-4795-AD03-BD999A22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Error bars are not decoration. They are a claim about uncertainty.</a:t>
            </a:r>
          </a:p>
        </p:txBody>
      </p:sp>
    </p:spTree>
    <p:extLst>
      <p:ext uri="{BB962C8B-B14F-4D97-AF65-F5344CB8AC3E}">
        <p14:creationId xmlns:p14="http://schemas.microsoft.com/office/powerpoint/2010/main" val="1569388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Google Shape;418;p17">
            <a:extLst xmlns:a="http://schemas.openxmlformats.org/drawingml/2006/main">
              <a:ext uri="{FF2B5EF4-FFF2-40B4-BE49-F238E27FC236}">
                <a16:creationId xmlns:a16="http://schemas.microsoft.com/office/drawing/2014/main" id="{393A49D4-7769-4AF4-B43B-684353E1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9" name="Google Shape;419;p17">
            <a:extLst xmlns:a="http://schemas.openxmlformats.org/drawingml/2006/main">
              <a:ext uri="{FF2B5EF4-FFF2-40B4-BE49-F238E27FC236}">
                <a16:creationId xmlns:a16="http://schemas.microsoft.com/office/drawing/2014/main" id="{8F4E220A-BFFC-480F-9A29-B54B0F1E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0" name="Google Shape;420;p17">
            <a:extLst xmlns:a="http://schemas.openxmlformats.org/drawingml/2006/main">
              <a:ext uri="{FF2B5EF4-FFF2-40B4-BE49-F238E27FC236}">
                <a16:creationId xmlns:a16="http://schemas.microsoft.com/office/drawing/2014/main" id="{5012EA76-7C46-44A4-AA61-8EB5484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1" name="Google Shape;421;p17">
            <a:extLst xmlns:a="http://schemas.openxmlformats.org/drawingml/2006/main">
              <a:ext uri="{FF2B5EF4-FFF2-40B4-BE49-F238E27FC236}">
                <a16:creationId xmlns:a16="http://schemas.microsoft.com/office/drawing/2014/main" id="{7E66E018-3956-45F0-A17A-5E747DE9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CAPTIONS</a:t>
            </a:r>
          </a:p>
        </p:txBody>
      </p:sp>
      <p:sp>
        <p:nvSpPr>
          <p:cNvPr id="422" name="Google Shape;422;p17">
            <a:extLst xmlns:a="http://schemas.openxmlformats.org/drawingml/2006/main">
              <a:ext uri="{FF2B5EF4-FFF2-40B4-BE49-F238E27FC236}">
                <a16:creationId xmlns:a16="http://schemas.microsoft.com/office/drawing/2014/main" id="{82C891D6-1B48-496F-8C28-AAA3D9F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423" name="Google Shape;423;p17">
            <a:extLst xmlns:a="http://schemas.openxmlformats.org/drawingml/2006/main">
              <a:ext uri="{FF2B5EF4-FFF2-40B4-BE49-F238E27FC236}">
                <a16:creationId xmlns:a16="http://schemas.microsoft.com/office/drawing/2014/main" id="{5D368545-F4EB-484E-A3DA-0F08269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Captions Turn Visuals Into Scientific Evidence</a:t>
            </a:r>
          </a:p>
        </p:txBody>
      </p:sp>
      <p:sp>
        <p:nvSpPr>
          <p:cNvPr id="424" name="Google Shape;424;p17">
            <a:extLst xmlns:a="http://schemas.openxmlformats.org/drawingml/2006/main">
              <a:ext uri="{FF2B5EF4-FFF2-40B4-BE49-F238E27FC236}">
                <a16:creationId xmlns:a16="http://schemas.microsoft.com/office/drawing/2014/main" id="{15CA4571-4033-4A79-8B83-7FA40963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5" name="Google Shape;425;p17">
            <a:extLst xmlns:a="http://schemas.openxmlformats.org/drawingml/2006/main">
              <a:ext uri="{FF2B5EF4-FFF2-40B4-BE49-F238E27FC236}">
                <a16:creationId xmlns:a16="http://schemas.microsoft.com/office/drawing/2014/main" id="{FF0539E3-EC8F-4583-91EC-50028007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caption tells the reader what the visual shows and why it matters.</a:t>
            </a:r>
          </a:p>
        </p:txBody>
      </p:sp>
      <p:sp>
        <p:nvSpPr>
          <p:cNvPr id="426" name="Google Shape;426;p17">
            <a:extLst xmlns:a="http://schemas.openxmlformats.org/drawingml/2006/main">
              <a:ext uri="{FF2B5EF4-FFF2-40B4-BE49-F238E27FC236}">
                <a16:creationId xmlns:a16="http://schemas.microsoft.com/office/drawing/2014/main" id="{32F41F81-5DE5-4DFA-962A-082BBF8F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15</a:t>
            </a:r>
          </a:p>
        </p:txBody>
      </p:sp>
      <p:sp>
        <p:nvSpPr>
          <p:cNvPr id="427" name="Google Shape;427;p17">
            <a:extLst xmlns:a="http://schemas.openxmlformats.org/drawingml/2006/main">
              <a:ext uri="{FF2B5EF4-FFF2-40B4-BE49-F238E27FC236}">
                <a16:creationId xmlns:a16="http://schemas.microsoft.com/office/drawing/2014/main" id="{AF0658F1-E54F-4836-9B8F-85A3C26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01752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8" name="Google Shape;428;p17">
            <a:extLst xmlns:a="http://schemas.openxmlformats.org/drawingml/2006/main">
              <a:ext uri="{FF2B5EF4-FFF2-40B4-BE49-F238E27FC236}">
                <a16:creationId xmlns:a16="http://schemas.microsoft.com/office/drawing/2014/main" id="{B7CF5B69-E54B-42E1-B465-A9934C66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9" name="Google Shape;429;p17">
            <a:extLst xmlns:a="http://schemas.openxmlformats.org/drawingml/2006/main">
              <a:ext uri="{FF2B5EF4-FFF2-40B4-BE49-F238E27FC236}">
                <a16:creationId xmlns:a16="http://schemas.microsoft.com/office/drawing/2014/main" id="{7CE16659-1806-4783-835A-45AE0CC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697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INCLUDE</a:t>
            </a:r>
          </a:p>
        </p:txBody>
      </p:sp>
      <p:sp>
        <p:nvSpPr>
          <p:cNvPr id="430" name="Google Shape;430;p17">
            <a:extLst xmlns:a="http://schemas.openxmlformats.org/drawingml/2006/main">
              <a:ext uri="{FF2B5EF4-FFF2-40B4-BE49-F238E27FC236}">
                <a16:creationId xmlns:a16="http://schemas.microsoft.com/office/drawing/2014/main" id="{7E4585B0-F480-462F-9938-366B93D5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69748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number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shown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groups or conditions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units or sample size</a:t>
            </a:r>
          </a:p>
        </p:txBody>
      </p:sp>
      <p:sp>
        <p:nvSpPr>
          <p:cNvPr id="431" name="Google Shape;431;p17">
            <a:extLst xmlns:a="http://schemas.openxmlformats.org/drawingml/2006/main">
              <a:ext uri="{FF2B5EF4-FFF2-40B4-BE49-F238E27FC236}">
                <a16:creationId xmlns:a16="http://schemas.microsoft.com/office/drawing/2014/main" id="{4041DA4D-5355-4CED-9A7F-57798D65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01752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2" name="Google Shape;432;p17">
            <a:extLst xmlns:a="http://schemas.openxmlformats.org/drawingml/2006/main">
              <a:ext uri="{FF2B5EF4-FFF2-40B4-BE49-F238E27FC236}">
                <a16:creationId xmlns:a16="http://schemas.microsoft.com/office/drawing/2014/main" id="{1224447F-C0DA-40ED-8620-BDC37886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3" name="Google Shape;433;p17">
            <a:extLst xmlns:a="http://schemas.openxmlformats.org/drawingml/2006/main">
              <a:ext uri="{FF2B5EF4-FFF2-40B4-BE49-F238E27FC236}">
                <a16:creationId xmlns:a16="http://schemas.microsoft.com/office/drawing/2014/main" id="{BB163A42-96C9-4ADE-ABA9-96D79AB7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581912"/>
            <a:ext cx="2697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434" name="Google Shape;434;p17">
            <a:extLst xmlns:a="http://schemas.openxmlformats.org/drawingml/2006/main">
              <a:ext uri="{FF2B5EF4-FFF2-40B4-BE49-F238E27FC236}">
                <a16:creationId xmlns:a16="http://schemas.microsoft.com/office/drawing/2014/main" id="{AB178A2C-689F-4298-86B9-E3B5AF4D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920240"/>
            <a:ext cx="269748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 pattern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brief context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important limitation if needed</a:t>
            </a:r>
          </a:p>
        </p:txBody>
      </p:sp>
      <p:sp>
        <p:nvSpPr>
          <p:cNvPr id="435" name="Google Shape;435;p17">
            <a:extLst xmlns:a="http://schemas.openxmlformats.org/drawingml/2006/main">
              <a:ext uri="{FF2B5EF4-FFF2-40B4-BE49-F238E27FC236}">
                <a16:creationId xmlns:a16="http://schemas.microsoft.com/office/drawing/2014/main" id="{0FC8A8F6-1A6F-40D4-9680-A827842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347472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6" name="Google Shape;436;p17">
            <a:extLst xmlns:a="http://schemas.openxmlformats.org/drawingml/2006/main">
              <a:ext uri="{FF2B5EF4-FFF2-40B4-BE49-F238E27FC236}">
                <a16:creationId xmlns:a16="http://schemas.microsoft.com/office/drawing/2014/main" id="{19168C5C-5C09-4E97-AC2B-3F5FECCF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4572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7" name="Google Shape;437;p17">
            <a:extLst xmlns:a="http://schemas.openxmlformats.org/drawingml/2006/main">
              <a:ext uri="{FF2B5EF4-FFF2-40B4-BE49-F238E27FC236}">
                <a16:creationId xmlns:a16="http://schemas.microsoft.com/office/drawing/2014/main" id="{F52BBAC1-78DF-4E21-9A61-6197DAD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581912"/>
            <a:ext cx="31546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438" name="Google Shape;438;p17">
            <a:extLst xmlns:a="http://schemas.openxmlformats.org/drawingml/2006/main">
              <a:ext uri="{FF2B5EF4-FFF2-40B4-BE49-F238E27FC236}">
                <a16:creationId xmlns:a16="http://schemas.microsoft.com/office/drawing/2014/main" id="{636ED814-153A-42FB-AA87-A0CC00A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20240"/>
            <a:ext cx="315468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overclaiming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explaining every detail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repeating the title only</a:t>
            </a:r>
          </a:p>
        </p:txBody>
      </p:sp>
      <p:sp>
        <p:nvSpPr>
          <p:cNvPr id="439" name="Google Shape;439;p17">
            <a:extLst xmlns:a="http://schemas.openxmlformats.org/drawingml/2006/main">
              <a:ext uri="{FF2B5EF4-FFF2-40B4-BE49-F238E27FC236}">
                <a16:creationId xmlns:a16="http://schemas.microsoft.com/office/drawing/2014/main" id="{0D643A37-4662-4F36-B887-9DCE13E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0" name="Google Shape;440;p17">
            <a:extLst xmlns:a="http://schemas.openxmlformats.org/drawingml/2006/main">
              <a:ext uri="{FF2B5EF4-FFF2-40B4-BE49-F238E27FC236}">
                <a16:creationId xmlns:a16="http://schemas.microsoft.com/office/drawing/2014/main" id="{9B2CA674-664F-4FCC-9D1B-29BA865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41" name="Google Shape;441;p17">
            <a:extLst xmlns:a="http://schemas.openxmlformats.org/drawingml/2006/main">
              <a:ext uri="{FF2B5EF4-FFF2-40B4-BE49-F238E27FC236}">
                <a16:creationId xmlns:a16="http://schemas.microsoft.com/office/drawing/2014/main" id="{012983F6-1C81-475F-A04E-C4D8C78C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Caption formula</a:t>
            </a:r>
          </a:p>
        </p:txBody>
      </p:sp>
      <p:sp>
        <p:nvSpPr>
          <p:cNvPr id="442" name="Google Shape;442;p17">
            <a:extLst xmlns:a="http://schemas.openxmlformats.org/drawingml/2006/main">
              <a:ext uri="{FF2B5EF4-FFF2-40B4-BE49-F238E27FC236}">
                <a16:creationId xmlns:a16="http://schemas.microsoft.com/office/drawing/2014/main" id="{7EEB300C-A0A2-4357-B556-F9D1814B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443" name="Google Shape;443;p17">
            <a:extLst xmlns:a="http://schemas.openxmlformats.org/drawingml/2006/main">
              <a:ext uri="{FF2B5EF4-FFF2-40B4-BE49-F238E27FC236}">
                <a16:creationId xmlns:a16="http://schemas.microsoft.com/office/drawing/2014/main" id="{2C3EAC5E-98A0-4444-B8A2-A2EAFA98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Draft one caption: Figure number + what is shown + conditions + major pattern without overclaiming.</a:t>
            </a:r>
          </a:p>
        </p:txBody>
      </p:sp>
    </p:spTree>
    <p:extLst>
      <p:ext uri="{BB962C8B-B14F-4D97-AF65-F5344CB8AC3E}">
        <p14:creationId xmlns:p14="http://schemas.microsoft.com/office/powerpoint/2010/main" val="1132150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9" name="Google Shape;449;p18">
            <a:extLst xmlns:a="http://schemas.openxmlformats.org/drawingml/2006/main">
              <a:ext uri="{FF2B5EF4-FFF2-40B4-BE49-F238E27FC236}">
                <a16:creationId xmlns:a16="http://schemas.microsoft.com/office/drawing/2014/main" id="{96F00058-1971-498B-8722-56D2AA0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0" name="Google Shape;450;p18">
            <a:extLst xmlns:a="http://schemas.openxmlformats.org/drawingml/2006/main">
              <a:ext uri="{FF2B5EF4-FFF2-40B4-BE49-F238E27FC236}">
                <a16:creationId xmlns:a16="http://schemas.microsoft.com/office/drawing/2014/main" id="{8C61022F-4129-4213-8B20-4707C67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1" name="Google Shape;451;p18">
            <a:extLst xmlns:a="http://schemas.openxmlformats.org/drawingml/2006/main">
              <a:ext uri="{FF2B5EF4-FFF2-40B4-BE49-F238E27FC236}">
                <a16:creationId xmlns:a16="http://schemas.microsoft.com/office/drawing/2014/main" id="{FDA75D16-ED49-4003-A3A9-100E002A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2" name="Google Shape;452;p18">
            <a:extLst xmlns:a="http://schemas.openxmlformats.org/drawingml/2006/main">
              <a:ext uri="{FF2B5EF4-FFF2-40B4-BE49-F238E27FC236}">
                <a16:creationId xmlns:a16="http://schemas.microsoft.com/office/drawing/2014/main" id="{D5A38BE3-7732-4F33-8B78-1E5311C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53" name="Google Shape;453;p18">
            <a:extLst xmlns:a="http://schemas.openxmlformats.org/drawingml/2006/main">
              <a:ext uri="{FF2B5EF4-FFF2-40B4-BE49-F238E27FC236}">
                <a16:creationId xmlns:a16="http://schemas.microsoft.com/office/drawing/2014/main" id="{643AA8B0-B668-4EB0-8D90-C1D19AF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454" name="Google Shape;454;p18">
            <a:extLst xmlns:a="http://schemas.openxmlformats.org/drawingml/2006/main">
              <a:ext uri="{FF2B5EF4-FFF2-40B4-BE49-F238E27FC236}">
                <a16:creationId xmlns:a16="http://schemas.microsoft.com/office/drawing/2014/main" id="{EC0F9E8F-38CD-49A6-91EA-F901F659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Activity: Build or Revise One Graph</a:t>
            </a:r>
          </a:p>
        </p:txBody>
      </p:sp>
      <p:sp>
        <p:nvSpPr>
          <p:cNvPr id="455" name="Google Shape;455;p18">
            <a:extLst xmlns:a="http://schemas.openxmlformats.org/drawingml/2006/main">
              <a:ext uri="{FF2B5EF4-FFF2-40B4-BE49-F238E27FC236}">
                <a16:creationId xmlns:a16="http://schemas.microsoft.com/office/drawing/2014/main" id="{31322D7A-2B67-4A23-898C-A3CB331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6" name="Google Shape;456;p18">
            <a:extLst xmlns:a="http://schemas.openxmlformats.org/drawingml/2006/main">
              <a:ext uri="{FF2B5EF4-FFF2-40B4-BE49-F238E27FC236}">
                <a16:creationId xmlns:a16="http://schemas.microsoft.com/office/drawing/2014/main" id="{006251B2-38A6-46FA-BBB5-B06940BF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Make one visual clear enough for someone else to interpret.</a:t>
            </a:r>
          </a:p>
        </p:txBody>
      </p:sp>
      <p:sp>
        <p:nvSpPr>
          <p:cNvPr id="457" name="Google Shape;457;p18">
            <a:extLst xmlns:a="http://schemas.openxmlformats.org/drawingml/2006/main">
              <a:ext uri="{FF2B5EF4-FFF2-40B4-BE49-F238E27FC236}">
                <a16:creationId xmlns:a16="http://schemas.microsoft.com/office/drawing/2014/main" id="{B622C9A8-A950-4312-9D19-72AC463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16</a:t>
            </a:r>
          </a:p>
        </p:txBody>
      </p:sp>
      <p:sp>
        <p:nvSpPr>
          <p:cNvPr id="458" name="Google Shape;458;p18">
            <a:extLst xmlns:a="http://schemas.openxmlformats.org/drawingml/2006/main">
              <a:ext uri="{FF2B5EF4-FFF2-40B4-BE49-F238E27FC236}">
                <a16:creationId xmlns:a16="http://schemas.microsoft.com/office/drawing/2014/main" id="{FB6A8745-D535-45A3-B93B-5417B646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012680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Choose one important graph or visual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Add or revise title, axes, labels, units, and scale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Check whether the visual type matches the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Add a note for any questionable data or limitation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Complete the graph checklist before peer review</a:t>
            </a:r>
          </a:p>
        </p:txBody>
      </p:sp>
      <p:sp>
        <p:nvSpPr>
          <p:cNvPr id="459" name="Google Shape;459;p18">
            <a:extLst xmlns:a="http://schemas.openxmlformats.org/drawingml/2006/main">
              <a:ext uri="{FF2B5EF4-FFF2-40B4-BE49-F238E27FC236}">
                <a16:creationId xmlns:a16="http://schemas.microsoft.com/office/drawing/2014/main" id="{7256DE99-AE85-40E1-A269-D5470F4C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0" name="Google Shape;460;p18">
            <a:extLst xmlns:a="http://schemas.openxmlformats.org/drawingml/2006/main">
              <a:ext uri="{FF2B5EF4-FFF2-40B4-BE49-F238E27FC236}">
                <a16:creationId xmlns:a16="http://schemas.microsoft.com/office/drawing/2014/main" id="{448FC093-88DE-4F02-B994-B12C9F4E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61" name="Google Shape;461;p18">
            <a:extLst xmlns:a="http://schemas.openxmlformats.org/drawingml/2006/main">
              <a:ext uri="{FF2B5EF4-FFF2-40B4-BE49-F238E27FC236}">
                <a16:creationId xmlns:a16="http://schemas.microsoft.com/office/drawing/2014/main" id="{150AF3E8-1FBF-4A13-9B4F-73EDD918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Construction Checklist</a:t>
            </a:r>
          </a:p>
        </p:txBody>
      </p:sp>
      <p:sp>
        <p:nvSpPr>
          <p:cNvPr id="462" name="Google Shape;462;p18">
            <a:extLst xmlns:a="http://schemas.openxmlformats.org/drawingml/2006/main">
              <a:ext uri="{FF2B5EF4-FFF2-40B4-BE49-F238E27FC236}">
                <a16:creationId xmlns:a16="http://schemas.microsoft.com/office/drawing/2014/main" id="{D49B747C-F7DB-4311-A62F-C1253599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12–15 MIN</a:t>
            </a:r>
          </a:p>
        </p:txBody>
      </p:sp>
      <p:sp>
        <p:nvSpPr>
          <p:cNvPr id="463" name="Google Shape;463;p18">
            <a:extLst xmlns:a="http://schemas.openxmlformats.org/drawingml/2006/main">
              <a:ext uri="{FF2B5EF4-FFF2-40B4-BE49-F238E27FC236}">
                <a16:creationId xmlns:a16="http://schemas.microsoft.com/office/drawing/2014/main" id="{9F440BC9-9A2D-4F19-822F-24291481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Handout 10 while revising. Do not move on until the visual passes the checklist.</a:t>
            </a:r>
          </a:p>
        </p:txBody>
      </p:sp>
    </p:spTree>
    <p:extLst>
      <p:ext uri="{BB962C8B-B14F-4D97-AF65-F5344CB8AC3E}">
        <p14:creationId xmlns:p14="http://schemas.microsoft.com/office/powerpoint/2010/main" val="14569473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9" name="Google Shape;469;p19">
            <a:extLst xmlns:a="http://schemas.openxmlformats.org/drawingml/2006/main">
              <a:ext uri="{FF2B5EF4-FFF2-40B4-BE49-F238E27FC236}">
                <a16:creationId xmlns:a16="http://schemas.microsoft.com/office/drawing/2014/main" id="{C6D12CD8-2ADF-4CB6-AFAF-3FAB14CC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0" name="Google Shape;470;p19">
            <a:extLst xmlns:a="http://schemas.openxmlformats.org/drawingml/2006/main">
              <a:ext uri="{FF2B5EF4-FFF2-40B4-BE49-F238E27FC236}">
                <a16:creationId xmlns:a16="http://schemas.microsoft.com/office/drawing/2014/main" id="{8A22C0F8-32B6-4F16-AFB9-E6486E33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1" name="Google Shape;471;p19">
            <a:extLst xmlns:a="http://schemas.openxmlformats.org/drawingml/2006/main">
              <a:ext uri="{FF2B5EF4-FFF2-40B4-BE49-F238E27FC236}">
                <a16:creationId xmlns:a16="http://schemas.microsoft.com/office/drawing/2014/main" id="{EB1BF077-2BF7-4F0E-89D8-FCDDE5C4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2" name="Google Shape;472;p19">
            <a:extLst xmlns:a="http://schemas.openxmlformats.org/drawingml/2006/main">
              <a:ext uri="{FF2B5EF4-FFF2-40B4-BE49-F238E27FC236}">
                <a16:creationId xmlns:a16="http://schemas.microsoft.com/office/drawing/2014/main" id="{F1125ADA-3D25-4D77-A334-0B01A98C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73" name="Google Shape;473;p19">
            <a:extLst xmlns:a="http://schemas.openxmlformats.org/drawingml/2006/main">
              <a:ext uri="{FF2B5EF4-FFF2-40B4-BE49-F238E27FC236}">
                <a16:creationId xmlns:a16="http://schemas.microsoft.com/office/drawing/2014/main" id="{E8BB9FA9-59D3-42CD-B4A2-209F0A6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474" name="Google Shape;474;p19">
            <a:extLst xmlns:a="http://schemas.openxmlformats.org/drawingml/2006/main">
              <a:ext uri="{FF2B5EF4-FFF2-40B4-BE49-F238E27FC236}">
                <a16:creationId xmlns:a16="http://schemas.microsoft.com/office/drawing/2014/main" id="{9F9D5E71-57D6-4A72-BDA5-B8F284A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Activity: Misleading Graph Audit</a:t>
            </a:r>
          </a:p>
        </p:txBody>
      </p:sp>
      <p:sp>
        <p:nvSpPr>
          <p:cNvPr id="475" name="Google Shape;475;p19">
            <a:extLst xmlns:a="http://schemas.openxmlformats.org/drawingml/2006/main">
              <a:ext uri="{FF2B5EF4-FFF2-40B4-BE49-F238E27FC236}">
                <a16:creationId xmlns:a16="http://schemas.microsoft.com/office/drawing/2014/main" id="{DF8CF9FE-2C26-4878-9509-86C8006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6" name="Google Shape;476;p19">
            <a:extLst xmlns:a="http://schemas.openxmlformats.org/drawingml/2006/main">
              <a:ext uri="{FF2B5EF4-FFF2-40B4-BE49-F238E27FC236}">
                <a16:creationId xmlns:a16="http://schemas.microsoft.com/office/drawing/2014/main" id="{18DF749D-497E-48E4-A5C6-37B622B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Before trusting a visual, check how it could mislead.</a:t>
            </a:r>
          </a:p>
        </p:txBody>
      </p:sp>
      <p:sp>
        <p:nvSpPr>
          <p:cNvPr id="477" name="Google Shape;477;p19">
            <a:extLst xmlns:a="http://schemas.openxmlformats.org/drawingml/2006/main">
              <a:ext uri="{FF2B5EF4-FFF2-40B4-BE49-F238E27FC236}">
                <a16:creationId xmlns:a16="http://schemas.microsoft.com/office/drawing/2014/main" id="{EB126E74-494A-4372-902E-9764562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17</a:t>
            </a:r>
          </a:p>
        </p:txBody>
      </p:sp>
      <p:sp>
        <p:nvSpPr>
          <p:cNvPr id="478" name="Google Shape;478;p19">
            <a:extLst xmlns:a="http://schemas.openxmlformats.org/drawingml/2006/main">
              <a:ext uri="{FF2B5EF4-FFF2-40B4-BE49-F238E27FC236}">
                <a16:creationId xmlns:a16="http://schemas.microsoft.com/office/drawing/2014/main" id="{80FF525F-28AC-4798-A050-B8EAA85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012680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Does the scale exaggerate or hide a difference?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Are units, sample sizes, and conditions clear?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Are any trials, failed tests, or outliers hidden?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Does color or formatting imply something unsupported?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Would the graph still be honest without your explanation?</a:t>
            </a:r>
          </a:p>
        </p:txBody>
      </p:sp>
      <p:sp>
        <p:nvSpPr>
          <p:cNvPr id="479" name="Google Shape;479;p19">
            <a:extLst xmlns:a="http://schemas.openxmlformats.org/drawingml/2006/main">
              <a:ext uri="{FF2B5EF4-FFF2-40B4-BE49-F238E27FC236}">
                <a16:creationId xmlns:a16="http://schemas.microsoft.com/office/drawing/2014/main" id="{B507311A-0372-4DEE-8BA6-204F1491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0" name="Google Shape;480;p19">
            <a:extLst xmlns:a="http://schemas.openxmlformats.org/drawingml/2006/main">
              <a:ext uri="{FF2B5EF4-FFF2-40B4-BE49-F238E27FC236}">
                <a16:creationId xmlns:a16="http://schemas.microsoft.com/office/drawing/2014/main" id="{4E854113-D38F-4EF4-BFE9-3167BFA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81" name="Google Shape;481;p19">
            <a:extLst xmlns:a="http://schemas.openxmlformats.org/drawingml/2006/main">
              <a:ext uri="{FF2B5EF4-FFF2-40B4-BE49-F238E27FC236}">
                <a16:creationId xmlns:a16="http://schemas.microsoft.com/office/drawing/2014/main" id="{36CDF6D0-823B-4E1A-A3D9-BB9ADDC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+ revise</a:t>
            </a:r>
          </a:p>
        </p:txBody>
      </p:sp>
      <p:sp>
        <p:nvSpPr>
          <p:cNvPr id="482" name="Google Shape;482;p19">
            <a:extLst xmlns:a="http://schemas.openxmlformats.org/drawingml/2006/main">
              <a:ext uri="{FF2B5EF4-FFF2-40B4-BE49-F238E27FC236}">
                <a16:creationId xmlns:a16="http://schemas.microsoft.com/office/drawing/2014/main" id="{F4FD8896-363D-47C8-A979-F9ABAA18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8–10 MIN</a:t>
            </a:r>
          </a:p>
        </p:txBody>
      </p:sp>
      <p:sp>
        <p:nvSpPr>
          <p:cNvPr id="483" name="Google Shape;483;p19">
            <a:extLst xmlns:a="http://schemas.openxmlformats.org/drawingml/2006/main">
              <a:ext uri="{FF2B5EF4-FFF2-40B4-BE49-F238E27FC236}">
                <a16:creationId xmlns:a16="http://schemas.microsoft.com/office/drawing/2014/main" id="{3ABE52EA-8A36-4242-8237-4908EF3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Use Appendix K as the audit lens. Identify one change that makes your visual more honest.</a:t>
            </a:r>
          </a:p>
        </p:txBody>
      </p:sp>
    </p:spTree>
    <p:extLst>
      <p:ext uri="{BB962C8B-B14F-4D97-AF65-F5344CB8AC3E}">
        <p14:creationId xmlns:p14="http://schemas.microsoft.com/office/powerpoint/2010/main" val="12508632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9" name="Google Shape;489;p20">
            <a:extLst xmlns:a="http://schemas.openxmlformats.org/drawingml/2006/main">
              <a:ext uri="{FF2B5EF4-FFF2-40B4-BE49-F238E27FC236}">
                <a16:creationId xmlns:a16="http://schemas.microsoft.com/office/drawing/2014/main" id="{31F263C2-884B-4FA8-BA81-5AB648B2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0" name="Google Shape;490;p20">
            <a:extLst xmlns:a="http://schemas.openxmlformats.org/drawingml/2006/main">
              <a:ext uri="{FF2B5EF4-FFF2-40B4-BE49-F238E27FC236}">
                <a16:creationId xmlns:a16="http://schemas.microsoft.com/office/drawing/2014/main" id="{F36BF1DA-DFD3-4DB3-9DE0-3927BF32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1" name="Google Shape;491;p20">
            <a:extLst xmlns:a="http://schemas.openxmlformats.org/drawingml/2006/main">
              <a:ext uri="{FF2B5EF4-FFF2-40B4-BE49-F238E27FC236}">
                <a16:creationId xmlns:a16="http://schemas.microsoft.com/office/drawing/2014/main" id="{DEF20B49-4E5D-44FB-A4CC-04639B2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2" name="Google Shape;492;p20">
            <a:extLst xmlns:a="http://schemas.openxmlformats.org/drawingml/2006/main">
              <a:ext uri="{FF2B5EF4-FFF2-40B4-BE49-F238E27FC236}">
                <a16:creationId xmlns:a16="http://schemas.microsoft.com/office/drawing/2014/main" id="{05F2BAB9-1C78-4170-8CF3-B99C2822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93" name="Google Shape;493;p20">
            <a:extLst xmlns:a="http://schemas.openxmlformats.org/drawingml/2006/main">
              <a:ext uri="{FF2B5EF4-FFF2-40B4-BE49-F238E27FC236}">
                <a16:creationId xmlns:a16="http://schemas.microsoft.com/office/drawing/2014/main" id="{7D36CD77-B9B3-4203-8487-01284B6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494" name="Google Shape;494;p20">
            <a:extLst xmlns:a="http://schemas.openxmlformats.org/drawingml/2006/main">
              <a:ext uri="{FF2B5EF4-FFF2-40B4-BE49-F238E27FC236}">
                <a16:creationId xmlns:a16="http://schemas.microsoft.com/office/drawing/2014/main" id="{31017D13-BD5D-4CAE-95FF-9CC525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Activity: Draft Figure Captions</a:t>
            </a:r>
          </a:p>
        </p:txBody>
      </p:sp>
      <p:sp>
        <p:nvSpPr>
          <p:cNvPr id="495" name="Google Shape;495;p20">
            <a:extLst xmlns:a="http://schemas.openxmlformats.org/drawingml/2006/main">
              <a:ext uri="{FF2B5EF4-FFF2-40B4-BE49-F238E27FC236}">
                <a16:creationId xmlns:a16="http://schemas.microsoft.com/office/drawing/2014/main" id="{AE9DF79A-CBD2-4341-99BF-72C42FEC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6" name="Google Shape;496;p20">
            <a:extLst xmlns:a="http://schemas.openxmlformats.org/drawingml/2006/main">
              <a:ext uri="{FF2B5EF4-FFF2-40B4-BE49-F238E27FC236}">
                <a16:creationId xmlns:a16="http://schemas.microsoft.com/office/drawing/2014/main" id="{188031F2-2932-4152-B918-43BA885B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caption should make the visual understandable without guessing.</a:t>
            </a:r>
          </a:p>
        </p:txBody>
      </p:sp>
      <p:sp>
        <p:nvSpPr>
          <p:cNvPr id="497" name="Google Shape;497;p20">
            <a:extLst xmlns:a="http://schemas.openxmlformats.org/drawingml/2006/main">
              <a:ext uri="{FF2B5EF4-FFF2-40B4-BE49-F238E27FC236}">
                <a16:creationId xmlns:a16="http://schemas.microsoft.com/office/drawing/2014/main" id="{E354F309-9B95-4010-8EC6-C5B24EA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18</a:t>
            </a:r>
          </a:p>
        </p:txBody>
      </p:sp>
      <p:sp>
        <p:nvSpPr>
          <p:cNvPr id="498" name="Google Shape;498;p20">
            <a:extLst xmlns:a="http://schemas.openxmlformats.org/drawingml/2006/main">
              <a:ext uri="{FF2B5EF4-FFF2-40B4-BE49-F238E27FC236}">
                <a16:creationId xmlns:a16="http://schemas.microsoft.com/office/drawing/2014/main" id="{F4F8118D-9133-4914-BCBF-6065AF0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012680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Figure 1: What is being shown?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groups, variables, or conditions are included?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units, trial count, or sample information matters?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major pattern is visible?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language avoids overstating the conclusion?</a:t>
            </a:r>
          </a:p>
        </p:txBody>
      </p:sp>
      <p:sp>
        <p:nvSpPr>
          <p:cNvPr id="499" name="Google Shape;499;p20">
            <a:extLst xmlns:a="http://schemas.openxmlformats.org/drawingml/2006/main">
              <a:ext uri="{FF2B5EF4-FFF2-40B4-BE49-F238E27FC236}">
                <a16:creationId xmlns:a16="http://schemas.microsoft.com/office/drawing/2014/main" id="{10DD2399-9318-43FD-B858-3EDB45B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0" name="Google Shape;500;p20">
            <a:extLst xmlns:a="http://schemas.openxmlformats.org/drawingml/2006/main">
              <a:ext uri="{FF2B5EF4-FFF2-40B4-BE49-F238E27FC236}">
                <a16:creationId xmlns:a16="http://schemas.microsoft.com/office/drawing/2014/main" id="{8E0A3E2B-064D-4AB8-A98B-CC1773E5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501" name="Google Shape;501;p20">
            <a:extLst xmlns:a="http://schemas.openxmlformats.org/drawingml/2006/main">
              <a:ext uri="{FF2B5EF4-FFF2-40B4-BE49-F238E27FC236}">
                <a16:creationId xmlns:a16="http://schemas.microsoft.com/office/drawing/2014/main" id="{4FF23F1F-3C85-456D-925F-2EAE961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Caption drafting</a:t>
            </a:r>
          </a:p>
        </p:txBody>
      </p:sp>
      <p:sp>
        <p:nvSpPr>
          <p:cNvPr id="502" name="Google Shape;502;p20">
            <a:extLst xmlns:a="http://schemas.openxmlformats.org/drawingml/2006/main">
              <a:ext uri="{FF2B5EF4-FFF2-40B4-BE49-F238E27FC236}">
                <a16:creationId xmlns:a16="http://schemas.microsoft.com/office/drawing/2014/main" id="{C5F53E12-6320-46CB-841D-FF50017D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8 MIN</a:t>
            </a:r>
          </a:p>
        </p:txBody>
      </p:sp>
      <p:sp>
        <p:nvSpPr>
          <p:cNvPr id="503" name="Google Shape;503;p20">
            <a:extLst xmlns:a="http://schemas.openxmlformats.org/drawingml/2006/main">
              <a:ext uri="{FF2B5EF4-FFF2-40B4-BE49-F238E27FC236}">
                <a16:creationId xmlns:a16="http://schemas.microsoft.com/office/drawing/2014/main" id="{3407A039-E2A7-41E0-94C6-326EC127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Complete Handout 12 for your two most important visuals. Partner checks for clarity and overclaiming.</a:t>
            </a:r>
          </a:p>
        </p:txBody>
      </p:sp>
    </p:spTree>
    <p:extLst>
      <p:ext uri="{BB962C8B-B14F-4D97-AF65-F5344CB8AC3E}">
        <p14:creationId xmlns:p14="http://schemas.microsoft.com/office/powerpoint/2010/main" val="12970018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9" name="Google Shape;509;p21">
            <a:extLst xmlns:a="http://schemas.openxmlformats.org/drawingml/2006/main">
              <a:ext uri="{FF2B5EF4-FFF2-40B4-BE49-F238E27FC236}">
                <a16:creationId xmlns:a16="http://schemas.microsoft.com/office/drawing/2014/main" id="{4AEDCBED-D392-4D51-A2E2-D5FFBE14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0" name="Google Shape;510;p21">
            <a:extLst xmlns:a="http://schemas.openxmlformats.org/drawingml/2006/main">
              <a:ext uri="{FF2B5EF4-FFF2-40B4-BE49-F238E27FC236}">
                <a16:creationId xmlns:a16="http://schemas.microsoft.com/office/drawing/2014/main" id="{DEEE89EC-FCF9-4582-B1FC-CF507773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1" name="Google Shape;511;p21">
            <a:extLst xmlns:a="http://schemas.openxmlformats.org/drawingml/2006/main">
              <a:ext uri="{FF2B5EF4-FFF2-40B4-BE49-F238E27FC236}">
                <a16:creationId xmlns:a16="http://schemas.microsoft.com/office/drawing/2014/main" id="{82C877A7-05FF-4456-9BC2-208A3D94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2" name="Google Shape;512;p21">
            <a:extLst xmlns:a="http://schemas.openxmlformats.org/drawingml/2006/main">
              <a:ext uri="{FF2B5EF4-FFF2-40B4-BE49-F238E27FC236}">
                <a16:creationId xmlns:a16="http://schemas.microsoft.com/office/drawing/2014/main" id="{59A647A7-8F02-4193-B657-A860ECF0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PEER REVIEW</a:t>
            </a:r>
          </a:p>
        </p:txBody>
      </p:sp>
      <p:sp>
        <p:nvSpPr>
          <p:cNvPr id="513" name="Google Shape;513;p21">
            <a:extLst xmlns:a="http://schemas.openxmlformats.org/drawingml/2006/main">
              <a:ext uri="{FF2B5EF4-FFF2-40B4-BE49-F238E27FC236}">
                <a16:creationId xmlns:a16="http://schemas.microsoft.com/office/drawing/2014/main" id="{D332E87A-2DE4-40D1-9226-89A0F5A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514" name="Google Shape;514;p21">
            <a:extLst xmlns:a="http://schemas.openxmlformats.org/drawingml/2006/main">
              <a:ext uri="{FF2B5EF4-FFF2-40B4-BE49-F238E27FC236}">
                <a16:creationId xmlns:a16="http://schemas.microsoft.com/office/drawing/2014/main" id="{5262FCEA-A2EA-49CF-A4B9-5FA93D1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Visual Review: Can Someone Else Read It?</a:t>
            </a:r>
          </a:p>
        </p:txBody>
      </p:sp>
      <p:sp>
        <p:nvSpPr>
          <p:cNvPr id="515" name="Google Shape;515;p21">
            <a:extLst xmlns:a="http://schemas.openxmlformats.org/drawingml/2006/main">
              <a:ext uri="{FF2B5EF4-FFF2-40B4-BE49-F238E27FC236}">
                <a16:creationId xmlns:a16="http://schemas.microsoft.com/office/drawing/2014/main" id="{6B3F1C68-7504-4FEA-9C5A-66BC993B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6" name="Google Shape;516;p21">
            <a:extLst xmlns:a="http://schemas.openxmlformats.org/drawingml/2006/main">
              <a:ext uri="{FF2B5EF4-FFF2-40B4-BE49-F238E27FC236}">
                <a16:creationId xmlns:a16="http://schemas.microsoft.com/office/drawing/2014/main" id="{43264ADE-350A-411F-B086-909A5F12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useful visual survives outside your own head.</a:t>
            </a:r>
          </a:p>
        </p:txBody>
      </p:sp>
      <p:sp>
        <p:nvSpPr>
          <p:cNvPr id="517" name="Google Shape;517;p21">
            <a:extLst xmlns:a="http://schemas.openxmlformats.org/drawingml/2006/main">
              <a:ext uri="{FF2B5EF4-FFF2-40B4-BE49-F238E27FC236}">
                <a16:creationId xmlns:a16="http://schemas.microsoft.com/office/drawing/2014/main" id="{BEF85C72-20C6-40CD-A311-9D0B066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19</a:t>
            </a:r>
          </a:p>
        </p:txBody>
      </p:sp>
      <p:sp>
        <p:nvSpPr>
          <p:cNvPr id="518" name="Google Shape;518;p21">
            <a:extLst xmlns:a="http://schemas.openxmlformats.org/drawingml/2006/main">
              <a:ext uri="{FF2B5EF4-FFF2-40B4-BE49-F238E27FC236}">
                <a16:creationId xmlns:a16="http://schemas.microsoft.com/office/drawing/2014/main" id="{3C92FF21-65D4-49B9-8BCF-259B9CA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2004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9" name="Google Shape;519;p21">
            <a:extLst xmlns:a="http://schemas.openxmlformats.org/drawingml/2006/main">
              <a:ext uri="{FF2B5EF4-FFF2-40B4-BE49-F238E27FC236}">
                <a16:creationId xmlns:a16="http://schemas.microsoft.com/office/drawing/2014/main" id="{509A5AF9-7CA0-4E5F-84F0-DA5C091F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0" name="Google Shape;520;p21">
            <a:extLst xmlns:a="http://schemas.openxmlformats.org/drawingml/2006/main">
              <a:ext uri="{FF2B5EF4-FFF2-40B4-BE49-F238E27FC236}">
                <a16:creationId xmlns:a16="http://schemas.microsoft.com/office/drawing/2014/main" id="{57C15FC1-741E-49A1-B709-52BD5DEF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REVIEWER ASKS</a:t>
            </a:r>
          </a:p>
        </p:txBody>
      </p:sp>
      <p:sp>
        <p:nvSpPr>
          <p:cNvPr id="521" name="Google Shape;521;p21">
            <a:extLst xmlns:a="http://schemas.openxmlformats.org/drawingml/2006/main">
              <a:ext uri="{FF2B5EF4-FFF2-40B4-BE49-F238E27FC236}">
                <a16:creationId xmlns:a16="http://schemas.microsoft.com/office/drawing/2014/main" id="{D80B570B-A57E-4E12-B69C-158FE9D6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20240"/>
            <a:ext cx="2880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does this show?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comparison is visible?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unclear?</a:t>
            </a:r>
          </a:p>
        </p:txBody>
      </p:sp>
      <p:sp>
        <p:nvSpPr>
          <p:cNvPr id="522" name="Google Shape;522;p21">
            <a:extLst xmlns:a="http://schemas.openxmlformats.org/drawingml/2006/main">
              <a:ext uri="{FF2B5EF4-FFF2-40B4-BE49-F238E27FC236}">
                <a16:creationId xmlns:a16="http://schemas.microsoft.com/office/drawing/2014/main" id="{9E41D578-6E93-4CD0-9EDE-E56FEF6F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2004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3" name="Google Shape;523;p21">
            <a:extLst xmlns:a="http://schemas.openxmlformats.org/drawingml/2006/main">
              <a:ext uri="{FF2B5EF4-FFF2-40B4-BE49-F238E27FC236}">
                <a16:creationId xmlns:a16="http://schemas.microsoft.com/office/drawing/2014/main" id="{B0FF82AE-F52A-4194-8D04-296F7D8A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4" name="Google Shape;524;p21">
            <a:extLst xmlns:a="http://schemas.openxmlformats.org/drawingml/2006/main">
              <a:ext uri="{FF2B5EF4-FFF2-40B4-BE49-F238E27FC236}">
                <a16:creationId xmlns:a16="http://schemas.microsoft.com/office/drawing/2014/main" id="{B964D8C8-5303-4E8B-B5C9-E44B4DB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PRESENTER LISTENS</a:t>
            </a:r>
          </a:p>
        </p:txBody>
      </p:sp>
      <p:sp>
        <p:nvSpPr>
          <p:cNvPr id="525" name="Google Shape;525;p21">
            <a:extLst xmlns:a="http://schemas.openxmlformats.org/drawingml/2006/main">
              <a:ext uri="{FF2B5EF4-FFF2-40B4-BE49-F238E27FC236}">
                <a16:creationId xmlns:a16="http://schemas.microsoft.com/office/drawing/2014/main" id="{027ECB37-5626-4C23-ABE0-CB44FABE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920240"/>
            <a:ext cx="2880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defend immediately. Mark what confused the reader.</a:t>
            </a:r>
          </a:p>
        </p:txBody>
      </p:sp>
      <p:sp>
        <p:nvSpPr>
          <p:cNvPr id="526" name="Google Shape;526;p21">
            <a:extLst xmlns:a="http://schemas.openxmlformats.org/drawingml/2006/main">
              <a:ext uri="{FF2B5EF4-FFF2-40B4-BE49-F238E27FC236}">
                <a16:creationId xmlns:a16="http://schemas.microsoft.com/office/drawing/2014/main" id="{E7466DDB-D204-42B7-A19E-29761650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20040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2700" cmpd="sng">
            <a:solidFill>
              <a:srgbClr val="D71920">
                <a:alpha val="54901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7" name="Google Shape;527;p21">
            <a:extLst xmlns:a="http://schemas.openxmlformats.org/drawingml/2006/main">
              <a:ext uri="{FF2B5EF4-FFF2-40B4-BE49-F238E27FC236}">
                <a16:creationId xmlns:a16="http://schemas.microsoft.com/office/drawing/2014/main" id="{9E14C384-82C5-4A3D-A797-2ABCE5B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457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8" name="Google Shape;528;p21">
            <a:extLst xmlns:a="http://schemas.openxmlformats.org/drawingml/2006/main">
              <a:ext uri="{FF2B5EF4-FFF2-40B4-BE49-F238E27FC236}">
                <a16:creationId xmlns:a16="http://schemas.microsoft.com/office/drawing/2014/main" id="{09F04323-5DA2-4E2F-BD9E-219F09D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581912"/>
            <a:ext cx="2880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450"/>
              <a:buFont typeface="Arial"/>
              <a:buNone/>
            </a:pPr>
            <a:r>
              <a:rPr sz="145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REVISION FOCUS</a:t>
            </a:r>
          </a:p>
        </p:txBody>
      </p:sp>
      <p:sp>
        <p:nvSpPr>
          <p:cNvPr id="529" name="Google Shape;529;p21">
            <a:extLst xmlns:a="http://schemas.openxmlformats.org/drawingml/2006/main">
              <a:ext uri="{FF2B5EF4-FFF2-40B4-BE49-F238E27FC236}">
                <a16:creationId xmlns:a16="http://schemas.microsoft.com/office/drawing/2014/main" id="{A076A5DE-4CE7-4005-B4C3-58C87907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920240"/>
            <a:ext cx="2880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bigger labels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clearer scale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better caption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 clutter</a:t>
            </a:r>
          </a:p>
        </p:txBody>
      </p:sp>
      <p:sp>
        <p:nvSpPr>
          <p:cNvPr id="530" name="Google Shape;530;p21">
            <a:extLst xmlns:a="http://schemas.openxmlformats.org/drawingml/2006/main">
              <a:ext uri="{FF2B5EF4-FFF2-40B4-BE49-F238E27FC236}">
                <a16:creationId xmlns:a16="http://schemas.microsoft.com/office/drawing/2014/main" id="{1E9CB6FD-7350-454D-968D-39446D8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1" name="Google Shape;531;p21">
            <a:extLst xmlns:a="http://schemas.openxmlformats.org/drawingml/2006/main">
              <a:ext uri="{FF2B5EF4-FFF2-40B4-BE49-F238E27FC236}">
                <a16:creationId xmlns:a16="http://schemas.microsoft.com/office/drawing/2014/main" id="{8A813B8C-05F2-4461-9B8D-171369B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532" name="Google Shape;532;p21">
            <a:extLst xmlns:a="http://schemas.openxmlformats.org/drawingml/2006/main">
              <a:ext uri="{FF2B5EF4-FFF2-40B4-BE49-F238E27FC236}">
                <a16:creationId xmlns:a16="http://schemas.microsoft.com/office/drawing/2014/main" id="{D81DDDF5-2CA4-4FF9-AAC0-50D45A3A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Peer visual review</a:t>
            </a:r>
          </a:p>
        </p:txBody>
      </p:sp>
      <p:sp>
        <p:nvSpPr>
          <p:cNvPr id="533" name="Google Shape;533;p21">
            <a:extLst xmlns:a="http://schemas.openxmlformats.org/drawingml/2006/main">
              <a:ext uri="{FF2B5EF4-FFF2-40B4-BE49-F238E27FC236}">
                <a16:creationId xmlns:a16="http://schemas.microsoft.com/office/drawing/2014/main" id="{1A1B8A7B-D8F7-4D1B-8CA5-CF2DD69D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7 MIN</a:t>
            </a:r>
          </a:p>
        </p:txBody>
      </p:sp>
      <p:sp>
        <p:nvSpPr>
          <p:cNvPr id="534" name="Google Shape;534;p21">
            <a:extLst xmlns:a="http://schemas.openxmlformats.org/drawingml/2006/main">
              <a:ext uri="{FF2B5EF4-FFF2-40B4-BE49-F238E27FC236}">
                <a16:creationId xmlns:a16="http://schemas.microsoft.com/office/drawing/2014/main" id="{433C5EBF-086E-4D3A-9DB4-44FAAE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Trade visuals. Reviewer explains what the graph shows before the creator explains it.</a:t>
            </a:r>
          </a:p>
        </p:txBody>
      </p:sp>
    </p:spTree>
    <p:extLst>
      <p:ext uri="{BB962C8B-B14F-4D97-AF65-F5344CB8AC3E}">
        <p14:creationId xmlns:p14="http://schemas.microsoft.com/office/powerpoint/2010/main" val="16159047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0" name="Google Shape;540;p22">
            <a:extLst xmlns:a="http://schemas.openxmlformats.org/drawingml/2006/main">
              <a:ext uri="{FF2B5EF4-FFF2-40B4-BE49-F238E27FC236}">
                <a16:creationId xmlns:a16="http://schemas.microsoft.com/office/drawing/2014/main" id="{C8375339-9B96-4DD1-BC68-F5D4124B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1" name="Google Shape;541;p22">
            <a:extLst xmlns:a="http://schemas.openxmlformats.org/drawingml/2006/main">
              <a:ext uri="{FF2B5EF4-FFF2-40B4-BE49-F238E27FC236}">
                <a16:creationId xmlns:a16="http://schemas.microsoft.com/office/drawing/2014/main" id="{9ED27AC5-DFF9-4A4D-8A44-3D6B9A88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2" name="Google Shape;542;p22">
            <a:extLst xmlns:a="http://schemas.openxmlformats.org/drawingml/2006/main">
              <a:ext uri="{FF2B5EF4-FFF2-40B4-BE49-F238E27FC236}">
                <a16:creationId xmlns:a16="http://schemas.microsoft.com/office/drawing/2014/main" id="{3EFEEC78-FDD4-4C19-813C-37E8DDE0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3" name="Google Shape;543;p22">
            <a:extLst xmlns:a="http://schemas.openxmlformats.org/drawingml/2006/main">
              <a:ext uri="{FF2B5EF4-FFF2-40B4-BE49-F238E27FC236}">
                <a16:creationId xmlns:a16="http://schemas.microsoft.com/office/drawing/2014/main" id="{4A7C6C18-F039-41C7-B891-9152DF53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SELF-CHECK</a:t>
            </a:r>
          </a:p>
        </p:txBody>
      </p:sp>
      <p:sp>
        <p:nvSpPr>
          <p:cNvPr id="544" name="Google Shape;544;p22">
            <a:extLst xmlns:a="http://schemas.openxmlformats.org/drawingml/2006/main">
              <a:ext uri="{FF2B5EF4-FFF2-40B4-BE49-F238E27FC236}">
                <a16:creationId xmlns:a16="http://schemas.microsoft.com/office/drawing/2014/main" id="{E6A35E65-FBF0-4443-AF54-7D5ADBC7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545" name="Google Shape;545;p22">
            <a:extLst xmlns:a="http://schemas.openxmlformats.org/drawingml/2006/main">
              <a:ext uri="{FF2B5EF4-FFF2-40B4-BE49-F238E27FC236}">
                <a16:creationId xmlns:a16="http://schemas.microsoft.com/office/drawing/2014/main" id="{586F512E-91E2-415A-95D2-1727D79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Common Graph Problems to Fix Before Reporting</a:t>
            </a:r>
          </a:p>
        </p:txBody>
      </p:sp>
      <p:sp>
        <p:nvSpPr>
          <p:cNvPr id="546" name="Google Shape;546;p22">
            <a:extLst xmlns:a="http://schemas.openxmlformats.org/drawingml/2006/main">
              <a:ext uri="{FF2B5EF4-FFF2-40B4-BE49-F238E27FC236}">
                <a16:creationId xmlns:a16="http://schemas.microsoft.com/office/drawing/2014/main" id="{A83B9BC9-6F66-4465-A636-2893EB33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7" name="Google Shape;547;p22">
            <a:extLst xmlns:a="http://schemas.openxmlformats.org/drawingml/2006/main">
              <a:ext uri="{FF2B5EF4-FFF2-40B4-BE49-F238E27FC236}">
                <a16:creationId xmlns:a16="http://schemas.microsoft.com/office/drawing/2014/main" id="{A527FFB4-9461-4CD5-BF5F-A527F551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Most visual problems are fixable before they become report problems.</a:t>
            </a:r>
          </a:p>
        </p:txBody>
      </p:sp>
      <p:sp>
        <p:nvSpPr>
          <p:cNvPr id="548" name="Google Shape;548;p22">
            <a:extLst xmlns:a="http://schemas.openxmlformats.org/drawingml/2006/main">
              <a:ext uri="{FF2B5EF4-FFF2-40B4-BE49-F238E27FC236}">
                <a16:creationId xmlns:a16="http://schemas.microsoft.com/office/drawing/2014/main" id="{AA6EDB3A-280D-4092-84E1-FD6905FB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20</a:t>
            </a:r>
          </a:p>
        </p:txBody>
      </p:sp>
      <p:sp>
        <p:nvSpPr>
          <p:cNvPr id="549" name="Google Shape;549;p22">
            <a:extLst xmlns:a="http://schemas.openxmlformats.org/drawingml/2006/main">
              <a:ext uri="{FF2B5EF4-FFF2-40B4-BE49-F238E27FC236}">
                <a16:creationId xmlns:a16="http://schemas.microsoft.com/office/drawing/2014/main" id="{C26FC9FC-17CC-4D2E-9E96-A072E5E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01268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Graph type does not match the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Title is too vague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Axes or units are missing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Scale exaggerates the pattern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Legend is missing or unnecessary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Too many variables are forced into one graph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Caption describes the visual poorly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Questionable data are hidden rather than flagged</a:t>
            </a:r>
          </a:p>
        </p:txBody>
      </p:sp>
      <p:sp>
        <p:nvSpPr>
          <p:cNvPr id="550" name="Google Shape;550;p22">
            <a:extLst xmlns:a="http://schemas.openxmlformats.org/drawingml/2006/main">
              <a:ext uri="{FF2B5EF4-FFF2-40B4-BE49-F238E27FC236}">
                <a16:creationId xmlns:a16="http://schemas.microsoft.com/office/drawing/2014/main" id="{21B52B7E-E6FB-4ED5-8C82-6935FEDC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1" name="Google Shape;551;p22">
            <a:extLst xmlns:a="http://schemas.openxmlformats.org/drawingml/2006/main">
              <a:ext uri="{FF2B5EF4-FFF2-40B4-BE49-F238E27FC236}">
                <a16:creationId xmlns:a16="http://schemas.microsoft.com/office/drawing/2014/main" id="{AD478FF2-FDBB-4BDC-A916-278038F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552" name="Google Shape;552;p22">
            <a:extLst xmlns:a="http://schemas.openxmlformats.org/drawingml/2006/main">
              <a:ext uri="{FF2B5EF4-FFF2-40B4-BE49-F238E27FC236}">
                <a16:creationId xmlns:a16="http://schemas.microsoft.com/office/drawing/2014/main" id="{B15F7EC1-B826-434F-BE4D-17DFEC6E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two fixes</a:t>
            </a:r>
          </a:p>
        </p:txBody>
      </p:sp>
      <p:sp>
        <p:nvSpPr>
          <p:cNvPr id="553" name="Google Shape;553;p22">
            <a:extLst xmlns:a="http://schemas.openxmlformats.org/drawingml/2006/main">
              <a:ext uri="{FF2B5EF4-FFF2-40B4-BE49-F238E27FC236}">
                <a16:creationId xmlns:a16="http://schemas.microsoft.com/office/drawing/2014/main" id="{ADA93079-9A77-4266-875C-8862C61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554" name="Google Shape;554;p22">
            <a:extLst xmlns:a="http://schemas.openxmlformats.org/drawingml/2006/main">
              <a:ext uri="{FF2B5EF4-FFF2-40B4-BE49-F238E27FC236}">
                <a16:creationId xmlns:a16="http://schemas.microsoft.com/office/drawing/2014/main" id="{5ECE0E30-4F9F-4938-A717-6C57BC8C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Choose the two problems most likely in your own visuals and fix or document them today.</a:t>
            </a:r>
          </a:p>
        </p:txBody>
      </p:sp>
    </p:spTree>
    <p:extLst>
      <p:ext uri="{BB962C8B-B14F-4D97-AF65-F5344CB8AC3E}">
        <p14:creationId xmlns:p14="http://schemas.microsoft.com/office/powerpoint/2010/main" val="6522304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0" name="Google Shape;560;p23">
            <a:extLst xmlns:a="http://schemas.openxmlformats.org/drawingml/2006/main">
              <a:ext uri="{FF2B5EF4-FFF2-40B4-BE49-F238E27FC236}">
                <a16:creationId xmlns:a16="http://schemas.microsoft.com/office/drawing/2014/main" id="{0C55E098-900F-4605-B605-94622AA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1" name="Google Shape;561;p23">
            <a:extLst xmlns:a="http://schemas.openxmlformats.org/drawingml/2006/main">
              <a:ext uri="{FF2B5EF4-FFF2-40B4-BE49-F238E27FC236}">
                <a16:creationId xmlns:a16="http://schemas.microsoft.com/office/drawing/2014/main" id="{C0E5F75E-71B3-4D88-AEBE-2B1557F7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2" name="Google Shape;562;p23">
            <a:extLst xmlns:a="http://schemas.openxmlformats.org/drawingml/2006/main">
              <a:ext uri="{FF2B5EF4-FFF2-40B4-BE49-F238E27FC236}">
                <a16:creationId xmlns:a16="http://schemas.microsoft.com/office/drawing/2014/main" id="{6DC41A13-197C-4870-9B5B-35D359F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3" name="Google Shape;563;p23">
            <a:extLst xmlns:a="http://schemas.openxmlformats.org/drawingml/2006/main">
              <a:ext uri="{FF2B5EF4-FFF2-40B4-BE49-F238E27FC236}">
                <a16:creationId xmlns:a16="http://schemas.microsoft.com/office/drawing/2014/main" id="{6132A028-0ABC-4C45-8E5B-6ED22139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564" name="Google Shape;564;p23">
            <a:extLst xmlns:a="http://schemas.openxmlformats.org/drawingml/2006/main">
              <a:ext uri="{FF2B5EF4-FFF2-40B4-BE49-F238E27FC236}">
                <a16:creationId xmlns:a16="http://schemas.microsoft.com/office/drawing/2014/main" id="{57DDEB08-F747-457A-94BA-D8D1821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565" name="Google Shape;565;p23">
            <a:extLst xmlns:a="http://schemas.openxmlformats.org/drawingml/2006/main">
              <a:ext uri="{FF2B5EF4-FFF2-40B4-BE49-F238E27FC236}">
                <a16:creationId xmlns:a16="http://schemas.microsoft.com/office/drawing/2014/main" id="{054F50A2-2767-4A1D-90BD-91E9728D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Exit Ticket: Is Your Visual Ready?</a:t>
            </a:r>
          </a:p>
        </p:txBody>
      </p:sp>
      <p:sp>
        <p:nvSpPr>
          <p:cNvPr id="566" name="Google Shape;566;p23">
            <a:extLst xmlns:a="http://schemas.openxmlformats.org/drawingml/2006/main">
              <a:ext uri="{FF2B5EF4-FFF2-40B4-BE49-F238E27FC236}">
                <a16:creationId xmlns:a16="http://schemas.microsoft.com/office/drawing/2014/main" id="{9F270782-06D4-48F1-94A5-3DB201A6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7" name="Google Shape;567;p23">
            <a:extLst xmlns:a="http://schemas.openxmlformats.org/drawingml/2006/main">
              <a:ext uri="{FF2B5EF4-FFF2-40B4-BE49-F238E27FC236}">
                <a16:creationId xmlns:a16="http://schemas.microsoft.com/office/drawing/2014/main" id="{4B1C1943-BA3F-494A-BAFB-36EACA5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Leave with one graph or visual that has a clear next revision.</a:t>
            </a:r>
          </a:p>
        </p:txBody>
      </p:sp>
      <p:sp>
        <p:nvSpPr>
          <p:cNvPr id="568" name="Google Shape;568;p23">
            <a:extLst xmlns:a="http://schemas.openxmlformats.org/drawingml/2006/main">
              <a:ext uri="{FF2B5EF4-FFF2-40B4-BE49-F238E27FC236}">
                <a16:creationId xmlns:a16="http://schemas.microsoft.com/office/drawing/2014/main" id="{E60470DB-F984-4039-8990-CAEFFB3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21</a:t>
            </a:r>
          </a:p>
        </p:txBody>
      </p:sp>
      <p:sp>
        <p:nvSpPr>
          <p:cNvPr id="569" name="Google Shape;569;p23">
            <a:extLst xmlns:a="http://schemas.openxmlformats.org/drawingml/2006/main">
              <a:ext uri="{FF2B5EF4-FFF2-40B4-BE49-F238E27FC236}">
                <a16:creationId xmlns:a16="http://schemas.microsoft.com/office/drawing/2014/main" id="{CB84D1A3-B1FB-4E59-BC0A-5EBD8571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01268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is the most important visual for your project right now?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does it help the audience understand?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is one ethical or clarity issue you checked?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revision still needs to happen before it is final?</a:t>
            </a:r>
          </a:p>
        </p:txBody>
      </p:sp>
      <p:sp>
        <p:nvSpPr>
          <p:cNvPr id="570" name="Google Shape;570;p23">
            <a:extLst xmlns:a="http://schemas.openxmlformats.org/drawingml/2006/main">
              <a:ext uri="{FF2B5EF4-FFF2-40B4-BE49-F238E27FC236}">
                <a16:creationId xmlns:a16="http://schemas.microsoft.com/office/drawing/2014/main" id="{6819FE08-7B81-4C83-AE01-B0CC3E2D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38928"/>
            <a:ext cx="106527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2700" cmpd="sng">
            <a:solidFill>
              <a:srgbClr val="D71920">
                <a:alpha val="5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71" name="Google Shape;571;p23">
            <a:extLst xmlns:a="http://schemas.openxmlformats.org/drawingml/2006/main">
              <a:ext uri="{FF2B5EF4-FFF2-40B4-BE49-F238E27FC236}">
                <a16:creationId xmlns:a16="http://schemas.microsoft.com/office/drawing/2014/main" id="{A8CE55E3-3D49-413D-BD5F-84312492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67528"/>
            <a:ext cx="201168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830"/>
              <a:buFont typeface="Arial"/>
              <a:buNone/>
            </a:pPr>
            <a:r>
              <a:rPr sz="83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572" name="Google Shape;572;p23">
            <a:extLst xmlns:a="http://schemas.openxmlformats.org/drawingml/2006/main">
              <a:ext uri="{FF2B5EF4-FFF2-40B4-BE49-F238E27FC236}">
                <a16:creationId xmlns:a16="http://schemas.microsoft.com/office/drawing/2014/main" id="{6FC6F24E-9426-46BB-9A92-A77E02C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96128"/>
            <a:ext cx="3977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 or show</a:t>
            </a:r>
          </a:p>
        </p:txBody>
      </p:sp>
      <p:sp>
        <p:nvSpPr>
          <p:cNvPr id="573" name="Google Shape;573;p23">
            <a:extLst xmlns:a="http://schemas.openxmlformats.org/drawingml/2006/main">
              <a:ext uri="{FF2B5EF4-FFF2-40B4-BE49-F238E27FC236}">
                <a16:creationId xmlns:a16="http://schemas.microsoft.com/office/drawing/2014/main" id="{946454B6-91F3-4094-A15C-4447188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68112"/>
            <a:ext cx="9601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574" name="Google Shape;574;p23">
            <a:extLst xmlns:a="http://schemas.openxmlformats.org/drawingml/2006/main">
              <a:ext uri="{FF2B5EF4-FFF2-40B4-BE49-F238E27FC236}">
                <a16:creationId xmlns:a16="http://schemas.microsoft.com/office/drawing/2014/main" id="{F6B900A7-215D-4581-BA63-BF4486C3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30952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Turn in your visual selection, graph checklist, and one draft caption or link to the working visual.</a:t>
            </a:r>
          </a:p>
        </p:txBody>
      </p:sp>
    </p:spTree>
    <p:extLst>
      <p:ext uri="{BB962C8B-B14F-4D97-AF65-F5344CB8AC3E}">
        <p14:creationId xmlns:p14="http://schemas.microsoft.com/office/powerpoint/2010/main" val="8590061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0" name="Google Shape;580;p24">
            <a:extLst xmlns:a="http://schemas.openxmlformats.org/drawingml/2006/main">
              <a:ext uri="{FF2B5EF4-FFF2-40B4-BE49-F238E27FC236}">
                <a16:creationId xmlns:a16="http://schemas.microsoft.com/office/drawing/2014/main" id="{457DBF91-F519-47D2-A4BD-6243986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12700" cmpd="sng">
            <a:solidFill>
              <a:srgbClr val="080808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1" name="Google Shape;581;p24">
            <a:extLst xmlns:a="http://schemas.openxmlformats.org/drawingml/2006/main">
              <a:ext uri="{FF2B5EF4-FFF2-40B4-BE49-F238E27FC236}">
                <a16:creationId xmlns:a16="http://schemas.microsoft.com/office/drawing/2014/main" id="{8F3A06C6-D5CD-45C2-9E56-F49C29C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2" name="Google Shape;582;p24">
            <a:extLst xmlns:a="http://schemas.openxmlformats.org/drawingml/2006/main">
              <a:ext uri="{FF2B5EF4-FFF2-40B4-BE49-F238E27FC236}">
                <a16:creationId xmlns:a16="http://schemas.microsoft.com/office/drawing/2014/main" id="{5BCE9F59-2A1E-4A1C-A45F-09ACE3D8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3" name="Google Shape;583;p24">
            <a:extLst xmlns:a="http://schemas.openxmlformats.org/drawingml/2006/main">
              <a:ext uri="{FF2B5EF4-FFF2-40B4-BE49-F238E27FC236}">
                <a16:creationId xmlns:a16="http://schemas.microsoft.com/office/drawing/2014/main" id="{03047768-C8D0-4E6F-A08C-B5E889CB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28232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NEXT DECK</a:t>
            </a:r>
          </a:p>
        </p:txBody>
      </p:sp>
      <p:sp>
        <p:nvSpPr>
          <p:cNvPr id="584" name="Google Shape;584;p24">
            <a:extLst xmlns:a="http://schemas.openxmlformats.org/drawingml/2006/main">
              <a:ext uri="{FF2B5EF4-FFF2-40B4-BE49-F238E27FC236}">
                <a16:creationId xmlns:a16="http://schemas.microsoft.com/office/drawing/2014/main" id="{C0C1BD52-8C4B-4970-B984-4370164B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4282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DECK 11</a:t>
            </a:r>
          </a:p>
        </p:txBody>
      </p:sp>
      <p:sp>
        <p:nvSpPr>
          <p:cNvPr id="585" name="Google Shape;585;p24">
            <a:extLst xmlns:a="http://schemas.openxmlformats.org/drawingml/2006/main">
              <a:ext uri="{FF2B5EF4-FFF2-40B4-BE49-F238E27FC236}">
                <a16:creationId xmlns:a16="http://schemas.microsoft.com/office/drawing/2014/main" id="{D4E6E822-ADDA-4818-B5F4-4797540B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9738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sz="27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Next Deck: Error, Uncertainty, and Limitations</a:t>
            </a:r>
          </a:p>
        </p:txBody>
      </p:sp>
      <p:sp>
        <p:nvSpPr>
          <p:cNvPr id="586" name="Google Shape;586;p24">
            <a:extLst xmlns:a="http://schemas.openxmlformats.org/drawingml/2006/main">
              <a:ext uri="{FF2B5EF4-FFF2-40B4-BE49-F238E27FC236}">
                <a16:creationId xmlns:a16="http://schemas.microsoft.com/office/drawing/2014/main" id="{EE2FF1F4-E84A-4EE4-AB76-72DB077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24128"/>
            <a:ext cx="120700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12700" cmpd="sng">
            <a:solidFill>
              <a:srgbClr val="D7192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7" name="Google Shape;587;p24">
            <a:extLst xmlns:a="http://schemas.openxmlformats.org/drawingml/2006/main">
              <a:ext uri="{FF2B5EF4-FFF2-40B4-BE49-F238E27FC236}">
                <a16:creationId xmlns:a16="http://schemas.microsoft.com/office/drawing/2014/main" id="{CE60BCF0-C6D0-4F1A-A140-8C77D7D8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9418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B8B8B8"/>
                </a:solidFill>
                <a:latin typeface="Arial"/>
                <a:ea typeface="Arial"/>
                <a:cs typeface="Arial"/>
              </a:rPr>
              <a:t>A clear graph is not enough. Students must explain how confident the evidence allows them to be.</a:t>
            </a:r>
          </a:p>
        </p:txBody>
      </p:sp>
      <p:sp>
        <p:nvSpPr>
          <p:cNvPr id="588" name="Google Shape;588;p24">
            <a:extLst xmlns:a="http://schemas.openxmlformats.org/drawingml/2006/main">
              <a:ext uri="{FF2B5EF4-FFF2-40B4-BE49-F238E27FC236}">
                <a16:creationId xmlns:a16="http://schemas.microsoft.com/office/drawing/2014/main" id="{481F0917-0999-43B4-9C26-F8EA35D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20040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1700"/>
              <a:buFont typeface="Play"/>
              <a:buNone/>
            </a:pPr>
            <a:r>
              <a:rPr sz="1700" b="1" i="0" u="none" cap="none">
                <a:solidFill>
                  <a:srgbClr val="D71920"/>
                </a:solidFill>
                <a:latin typeface="Play"/>
                <a:ea typeface="Play"/>
                <a:cs typeface="Play"/>
              </a:rPr>
              <a:t>22</a:t>
            </a:r>
          </a:p>
        </p:txBody>
      </p:sp>
      <p:sp>
        <p:nvSpPr>
          <p:cNvPr id="589" name="Google Shape;589;p24">
            <a:extLst xmlns:a="http://schemas.openxmlformats.org/drawingml/2006/main">
              <a:ext uri="{FF2B5EF4-FFF2-40B4-BE49-F238E27FC236}">
                <a16:creationId xmlns:a16="http://schemas.microsoft.com/office/drawing/2014/main" id="{B56BE105-10E8-4124-8DEB-8584D6F7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D71920"/>
                </a:solidFill>
                <a:latin typeface="Arial"/>
                <a:ea typeface="Arial"/>
                <a:cs typeface="Arial"/>
              </a:rPr>
              <a:t>NEXT: ERROR, UNCERTAINTY, AND LIMITATIONS</a:t>
            </a:r>
          </a:p>
        </p:txBody>
      </p:sp>
      <p:sp>
        <p:nvSpPr>
          <p:cNvPr id="590" name="Google Shape;590;p24">
            <a:extLst xmlns:a="http://schemas.openxmlformats.org/drawingml/2006/main">
              <a:ext uri="{FF2B5EF4-FFF2-40B4-BE49-F238E27FC236}">
                <a16:creationId xmlns:a16="http://schemas.microsoft.com/office/drawing/2014/main" id="{AF6568B7-9AD5-44AB-8B06-695D92C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80360"/>
            <a:ext cx="9326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will learn how measurement uncertainty, variability, sample size, and limitations affect what they can claim.</a:t>
            </a:r>
          </a:p>
        </p:txBody>
      </p:sp>
    </p:spTree>
    <p:extLst>
      <p:ext uri="{BB962C8B-B14F-4D97-AF65-F5344CB8AC3E}">
        <p14:creationId xmlns:p14="http://schemas.microsoft.com/office/powerpoint/2010/main" val="5988780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2026-07-16T15:42:06.3010000Z</dcterms:created>
  <dcterms:modified xsi:type="dcterms:W3CDTF">2026-07-16T15:42:06.3010000Z</dcterms:modified>
</coreProperties>
</file>