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y="6858000" cx="12191675"/>
  <p:notesSz cx="6858000" cy="12191675"/>
  <p:embeddedFontLst>
    <p:embeddedFont>
      <p:font typeface="Play"/>
      <p:regular r:id="rId27"/>
      <p:bold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font" Target="fonts/Play-bold.fntdata"/><Relationship Id="rId27" Type="http://schemas.openxmlformats.org/officeDocument/2006/relationships/font" Target="fonts/Play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cover slide as the program-branded entry point. This deck should feel clean and practical: students are learning to make visuals that clarify evidence without misleading an audience. Keep the opening brief and connect directly to the clean data sets students prepared in Deck 9 and the analysis decisions from Deck 10.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Required print materials for this deck:</a:t>
            </a:r>
            <a:br>
              <a:rPr lang="en-US"/>
            </a:br>
            <a:r>
              <a:rPr lang="en-US"/>
              <a:t>• Unit 4 Student Handout 9: Graph and Visual Selection Tool</a:t>
            </a:r>
            <a:br>
              <a:rPr lang="en-US"/>
            </a:br>
            <a:r>
              <a:rPr lang="en-US"/>
              <a:t>• Unit 4 Student Handout 10: Graph Construction Checklist</a:t>
            </a:r>
            <a:br>
              <a:rPr lang="en-US"/>
            </a:br>
            <a:r>
              <a:rPr lang="en-US"/>
              <a:t>• Unit 4 Student Handout 11: Error, Uncertainty, and Limitations Review</a:t>
            </a:r>
            <a:br>
              <a:rPr lang="en-US"/>
            </a:br>
            <a:r>
              <a:rPr lang="en-US"/>
              <a:t>• Unit 4 Student Handout 12: Figure Caption Drafting</a:t>
            </a:r>
            <a:br>
              <a:rPr lang="en-US"/>
            </a:br>
            <a:r>
              <a:rPr lang="en-US"/>
              <a:t>• Unit 4 Appendix H: Graph Selection Guide</a:t>
            </a:r>
            <a:br>
              <a:rPr lang="en-US"/>
            </a:br>
            <a:r>
              <a:rPr lang="en-US"/>
              <a:t>• Unit 4 Appendix I: Graphing Standards</a:t>
            </a:r>
            <a:br>
              <a:rPr lang="en-US"/>
            </a:br>
            <a:r>
              <a:rPr lang="en-US"/>
              <a:t>• Unit 4 Appendix J: Error Bars and Uncertainty Basics</a:t>
            </a:r>
            <a:br>
              <a:rPr lang="en-US"/>
            </a:br>
            <a:r>
              <a:rPr lang="en-US"/>
              <a:t>• Unit 4 Appendix K: Misleading Graphs and Visual Ethics</a:t>
            </a:r>
            <a:br>
              <a:rPr lang="en-US"/>
            </a:br>
            <a:br>
              <a:rPr lang="en-US"/>
            </a:br>
            <a:r>
              <a:rPr lang="en-US"/>
              <a:t>Optional print materials if using this deck during Unit 5 report writing:</a:t>
            </a:r>
            <a:br>
              <a:rPr lang="en-US"/>
            </a:br>
            <a:r>
              <a:rPr lang="en-US"/>
              <a:t>• Unit 5 Student Handout 5: Results and Visuals Builder</a:t>
            </a:r>
            <a:br>
              <a:rPr lang="en-US"/>
            </a:br>
            <a:r>
              <a:rPr lang="en-US"/>
              <a:t>• Unit 5 Appendix F: Graphing Standards</a:t>
            </a:r>
            <a:br>
              <a:rPr lang="en-US"/>
            </a:br>
            <a:r>
              <a:rPr lang="en-US"/>
              <a:t>• Unit 5 Appendix G: Figure and Table Caption Guide</a:t>
            </a:r>
            <a:br>
              <a:rPr lang="en-US"/>
            </a:br>
            <a:br>
              <a:rPr lang="en-US"/>
            </a:br>
            <a:r>
              <a:rPr lang="en-US"/>
              <a:t>Use after Deck 10: Choosing the Right Data Analysis Method.</a:t>
            </a:r>
            <a:br>
              <a:rPr lang="en-US"/>
            </a:br>
            <a:r>
              <a:rPr lang="en-US"/>
              <a:t>Next deck connection: Deck 12: Error, Uncertainty, and Limitations.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Frame the lesson around purpose. Students should not make a graph simply because the software can make it. Every visual needs a job: show a comparison, trend, relationship, distribution, design outcome, or important observation.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Student Handout 9: Graph and Visual Selection Tool. This slide begins the transition from Deck 10 analysis methods into visual representation.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slide sets the ethical frame. Students should understand that visual choices are not neutral. A graph can clarify evidence or distort it.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Appendix K: Misleading Graphs and Visual Ethics and Unit 4 Appendix I: Graphing Standards.</a:t>
            </a:r>
            <a:endParaRPr/>
          </a:p>
        </p:txBody>
      </p:sp>
      <p:sp>
        <p:nvSpPr>
          <p:cNvPr id="47" name="Google Shape;47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slide should be a quick matching lesson. Encourage students to decide based on the question, not aesthetics.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Student-facing activity: Unit 4 Student Handout 9: Graph and Visual Selection Tool. Reference Unit 4 Appendix H: Graph Selection Guide.</a:t>
            </a:r>
            <a:endParaRPr/>
          </a:p>
        </p:txBody>
      </p:sp>
      <p:sp>
        <p:nvSpPr>
          <p:cNvPr id="74" name="Google Shape;7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slide when students have categorical comparisons. Remind students that bar graphs summarize groups; they should not hide the raw story if sample size is tiny or variability matters.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Appendix H: Graph Selection Guide and Unit 4 Appendix I: Graphing Standards.</a:t>
            </a:r>
            <a:endParaRPr/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Stress that line graphs imply continuity. Students should avoid connecting categories that do not have a meaningful order.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Appendix H: Graph Selection Guide and Unit 4 Student Handout 9: Graph and Visual Selection Tool.</a:t>
            </a:r>
            <a:endParaRPr/>
          </a:p>
        </p:txBody>
      </p:sp>
      <p:sp>
        <p:nvSpPr>
          <p:cNvPr id="145" name="Google Shape;14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Connect back to Deck 10: a trendline can describe a relationship, but it does not prove causation by itself.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Appendix H: Graph Selection Guide and Unit 4 Appendix D: Basic Statistics Guide if students are using trendlines or correlation.</a:t>
            </a:r>
            <a:endParaRPr/>
          </a:p>
        </p:txBody>
      </p:sp>
      <p:sp>
        <p:nvSpPr>
          <p:cNvPr id="179" name="Google Shape;179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slide helps students whose evidence is not purely numerical. The key is that the visual must still be systematic and connected to the research question.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Student Handout 9: Graph and Visual Selection Tool and Unit 4 Appendix G: Qualitative and Observational Data Guide.</a:t>
            </a:r>
            <a:endParaRPr/>
          </a:p>
        </p:txBody>
      </p:sp>
      <p:sp>
        <p:nvSpPr>
          <p:cNvPr id="211" name="Google Shape;211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is a checklist slide. Have students look at an existing graph or planned graph and identify the first fix they need to make.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Student Handout 10: Graph Construction Checklist and Unit 4 Appendix I: Graphing Standards.</a:t>
            </a:r>
            <a:endParaRPr/>
          </a:p>
        </p:txBody>
      </p:sp>
      <p:sp>
        <p:nvSpPr>
          <p:cNvPr id="246" name="Google Shape;24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8" name="Google Shape;28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is the first major work-time slide. Students should not leave this activity with ten graphs. They should identify the small number of visuals that matter most.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Student-facing activity: Unit 4 Student Handout 9: Graph and Visual Selection Tool. Reference Unit 4 Appendix H: Graph Selection Guide.</a:t>
            </a:r>
            <a:endParaRPr/>
          </a:p>
        </p:txBody>
      </p:sp>
      <p:sp>
        <p:nvSpPr>
          <p:cNvPr id="289" name="Google Shape;28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slide should not imply that all truncated axes are forbidden. The point is that scale choices must be justifiable and transparent.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Appendix K: Misleading Graphs and Visual Ethics and Unit 4 Appendix I: Graphing Standards.</a:t>
            </a:r>
            <a:endParaRPr/>
          </a:p>
        </p:txBody>
      </p:sp>
      <p:sp>
        <p:nvSpPr>
          <p:cNvPr id="309" name="Google Shape;30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1" name="Google Shape;33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may want visuals to look impressive. Reinforce that the purpose is clarity and honesty. Decorative features can make a graph harder to interpret.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Appendix K: Misleading Graphs and Visual Ethics and Unit 4 Student Handout 10: Graph Construction Checklist.</a:t>
            </a:r>
            <a:endParaRPr/>
          </a:p>
        </p:txBody>
      </p:sp>
      <p:sp>
        <p:nvSpPr>
          <p:cNvPr id="332" name="Google Shape;33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7" name="Google Shape;35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is a practical slide. Students should immediately apply it to their own graph or data table.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Student Handout 10: Graph Construction Checklist and Unit 4 Appendix I: Graphing Standards.</a:t>
            </a:r>
            <a:endParaRPr/>
          </a:p>
        </p:txBody>
      </p:sp>
      <p:sp>
        <p:nvSpPr>
          <p:cNvPr id="358" name="Google Shape;358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Keep this conceptual. Deck 12 will go deeper into error, uncertainty, and limitations. For now, students should know that error bars require explanation.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Appendix J: Error Bars and Uncertainty Basics and Unit 4 Student Handout 11: Error, Uncertainty, and Limitations Review.</a:t>
            </a:r>
            <a:endParaRPr/>
          </a:p>
        </p:txBody>
      </p:sp>
      <p:sp>
        <p:nvSpPr>
          <p:cNvPr id="389" name="Google Shape;389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5" name="Google Shape;41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Captions are one of the easiest ways to improve student reports. A graph without a caption is harder to interpret and easier to misuse.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Student Handout 12: Figure Caption Drafting. Optional Unit 5 Appendix G: Figure and Table Caption Guide if teaching this during report preparation.</a:t>
            </a:r>
            <a:endParaRPr/>
          </a:p>
        </p:txBody>
      </p:sp>
      <p:sp>
        <p:nvSpPr>
          <p:cNvPr id="416" name="Google Shape;41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6" name="Google Shape;44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is a main production slide. Students should work on a real graph from their project, not a generic example. Circulate and ask what the graph is supposed to show.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Student-facing activity: Unit 4 Student Handout 10: Graph Construction Checklist. Reference Unit 4 Appendix I: Graphing Standards.</a:t>
            </a:r>
            <a:endParaRPr/>
          </a:p>
        </p:txBody>
      </p:sp>
      <p:sp>
        <p:nvSpPr>
          <p:cNvPr id="447" name="Google Shape;447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6" name="Google Shape;46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activity should be framed as ethical self-checking, not accusation. Students are learning to anticipate how visuals can accidentally mislead.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Student-facing activity: Unit 4 Appendix K: Misleading Graphs and Visual Ethics. Also connects to Unit 4 Student Handout 10: Graph Construction Checklist.</a:t>
            </a:r>
            <a:endParaRPr/>
          </a:p>
        </p:txBody>
      </p:sp>
      <p:sp>
        <p:nvSpPr>
          <p:cNvPr id="467" name="Google Shape;467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6" name="Google Shape;486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Students should practice captions before writing the report. This helps them separate results from discussion and avoid overclaiming.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Student-facing activity: Unit 4 Student Handout 12: Figure Caption Drafting. Optional Unit 5 Student Handout 5: Results and Visuals Builder for report-writing connection.</a:t>
            </a:r>
            <a:endParaRPr/>
          </a:p>
        </p:txBody>
      </p:sp>
      <p:sp>
        <p:nvSpPr>
          <p:cNvPr id="487" name="Google Shape;487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6" name="Google Shape;506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This is a strong peer-review structure because it reveals whether the visual communicates independently. If the reviewer cannot tell what it shows, the graph needs revision.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Student Handout 10: Graph Construction Checklist and Unit 4 Student Handout 12: Figure Caption Drafting.</a:t>
            </a:r>
            <a:endParaRPr/>
          </a:p>
        </p:txBody>
      </p:sp>
      <p:sp>
        <p:nvSpPr>
          <p:cNvPr id="507" name="Google Shape;50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7" name="Google Shape;5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Use this as a final self-check before students move into more formal results writing. Not every student will have the same issues, so let them choose the top two fixes that matter.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with Unit 4 Appendix I: Graphing Standards, Unit 4 Appendix K: Misleading Graphs and Visual Ethics, and Unit 4 Student Handout 10: Graph Construction Checklist.</a:t>
            </a:r>
            <a:endParaRPr/>
          </a:p>
        </p:txBody>
      </p:sp>
      <p:sp>
        <p:nvSpPr>
          <p:cNvPr id="538" name="Google Shape;538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7" name="Google Shape;55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Collect this or have students submit links/screenshots. Use responses to determine who needs graphing support, caption support, or uncertainty/error support before Deck 12.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Use after Unit 4 Student Handout 9, Student Handout 10, and Student Handout 12. Next deck connection: Deck 12: Error, Uncertainty, and Limitations.</a:t>
            </a:r>
            <a:endParaRPr/>
          </a:p>
        </p:txBody>
      </p:sp>
      <p:sp>
        <p:nvSpPr>
          <p:cNvPr id="558" name="Google Shape;55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7" name="Google Shape;57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Teacher notes:</a:t>
            </a:r>
            <a:br>
              <a:rPr lang="en-US"/>
            </a:br>
            <a:r>
              <a:rPr lang="en-US"/>
              <a:t>Close by making the transition explicit. Students now have a cleaner visual; next they must learn how to discuss uncertainty and limitations honestly.</a:t>
            </a:r>
            <a:br>
              <a:rPr lang="en-US"/>
            </a:br>
            <a:br>
              <a:rPr lang="en-US"/>
            </a:br>
            <a:r>
              <a:rPr lang="en-US"/>
              <a:t>Resource alignment:</a:t>
            </a:r>
            <a:br>
              <a:rPr lang="en-US"/>
            </a:br>
            <a:r>
              <a:rPr lang="en-US"/>
              <a:t>Next deck connection: Deck 12: Error, Uncertainty, and Limitations. Continue using Unit 4 Student Handout 11: Error, Uncertainty, and Limitations Review and Unit 4 Appendix J: Error Bars and Uncertainty Basics.</a:t>
            </a:r>
            <a:endParaRPr/>
          </a:p>
        </p:txBody>
      </p:sp>
      <p:sp>
        <p:nvSpPr>
          <p:cNvPr id="578" name="Google Shape;57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0" y="6620256"/>
            <a:ext cx="12191695" cy="73152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mnt/data/STARLAB Logo 2026.png" id="19" name="Google Shape;1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57400" y="420624"/>
            <a:ext cx="8046720" cy="429768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/>
          <p:nvPr/>
        </p:nvSpPr>
        <p:spPr>
          <a:xfrm>
            <a:off x="868680" y="4800600"/>
            <a:ext cx="10469880" cy="1078992"/>
          </a:xfrm>
          <a:prstGeom prst="rect">
            <a:avLst/>
          </a:prstGeom>
          <a:solidFill>
            <a:srgbClr val="111111"/>
          </a:solidFill>
          <a:ln cap="flat" cmpd="sng" w="13950">
            <a:solidFill>
              <a:srgbClr val="D71920">
                <a:alpha val="7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1097280" y="4965192"/>
            <a:ext cx="1001268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Play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GRAPHING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097280" y="5321808"/>
            <a:ext cx="10012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2300"/>
              <a:buFont typeface="Play"/>
              <a:buNone/>
            </a:pPr>
            <a:r>
              <a:rPr b="1" i="0" lang="en-US" sz="23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&amp; VISUAL ETHICS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143000" y="5961888"/>
            <a:ext cx="9875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STARLAB Deck 11  •  Unit 4–5 Core Instruction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GRAPHING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Today’s Target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Students make visuals that are clear, honest, and useful for interpretation.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02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960120" y="1508760"/>
            <a:ext cx="9875520" cy="2148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Choose graph and visual formats that match the data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Build graphs with titles, units, labels, scale, and captions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Recognize how visuals can accidentally or intentionally mislead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Prepare figures that can move into the report and presentation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Visual purpose check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3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Open your analysis plan and write: “The visual I need most should help the audience see…”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5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5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5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CORE IDEA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A Graph Is an Argument With Evidence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Visuals do not just display data. They shape how people interpret it.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03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868680" y="1508760"/>
            <a:ext cx="320040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868680" y="150876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1033272" y="167335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CLARIFY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1033272" y="2011680"/>
            <a:ext cx="288036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strong visual makes the important comparison, trend, or relationship easier to see.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4480560" y="1508760"/>
            <a:ext cx="320040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4480560" y="150876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5"/>
          <p:cNvSpPr/>
          <p:nvPr/>
        </p:nvSpPr>
        <p:spPr>
          <a:xfrm>
            <a:off x="4645152" y="167335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CONTEXTUALIZE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"/>
          <p:cNvSpPr/>
          <p:nvPr/>
        </p:nvSpPr>
        <p:spPr>
          <a:xfrm>
            <a:off x="4645152" y="2011680"/>
            <a:ext cx="288036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strong visual keeps units, labels, conditions, and sample information visible.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092440" y="1508760"/>
            <a:ext cx="320040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8092440" y="150876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8257032" y="167335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PROTECT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8257032" y="2011680"/>
            <a:ext cx="288036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strong visual avoids hiding uncertainty, failed trials, or inconvenient results.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914400" y="4343400"/>
            <a:ext cx="10378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Ask yourself: What would someone conclude from this visual before I explain it?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6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6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6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GRAPH SELECTION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Match the Visual to the Question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6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The right graph depends on what the data need to show.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04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777240" y="1417320"/>
            <a:ext cx="3246120" cy="1143000"/>
          </a:xfrm>
          <a:prstGeom prst="roundRect">
            <a:avLst>
              <a:gd fmla="val 48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/>
          <p:nvPr/>
        </p:nvSpPr>
        <p:spPr>
          <a:xfrm>
            <a:off x="777240" y="1417320"/>
            <a:ext cx="45720" cy="11430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/>
          <p:nvPr/>
        </p:nvSpPr>
        <p:spPr>
          <a:xfrm>
            <a:off x="941832" y="15819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Compare groups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941832" y="192024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Bar graph or table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4526280" y="1417320"/>
            <a:ext cx="3246120" cy="1143000"/>
          </a:xfrm>
          <a:prstGeom prst="roundRect">
            <a:avLst>
              <a:gd fmla="val 48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6"/>
          <p:cNvSpPr/>
          <p:nvPr/>
        </p:nvSpPr>
        <p:spPr>
          <a:xfrm>
            <a:off x="4526280" y="1417320"/>
            <a:ext cx="45720" cy="11430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4690872" y="15819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Show change over time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4690872" y="192024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Line graph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8275320" y="1417320"/>
            <a:ext cx="3246120" cy="1143000"/>
          </a:xfrm>
          <a:prstGeom prst="roundRect">
            <a:avLst>
              <a:gd fmla="val 48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"/>
          <p:cNvSpPr/>
          <p:nvPr/>
        </p:nvSpPr>
        <p:spPr>
          <a:xfrm>
            <a:off x="8275320" y="1417320"/>
            <a:ext cx="45720" cy="11430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8439912" y="15819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Show relationship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8439912" y="192024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Scatter plot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777240" y="2926080"/>
            <a:ext cx="3246120" cy="1143000"/>
          </a:xfrm>
          <a:prstGeom prst="roundRect">
            <a:avLst>
              <a:gd fmla="val 48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777240" y="2926080"/>
            <a:ext cx="45720" cy="11430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941832" y="309067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Show exact values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941832" y="342900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Table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4526280" y="2926080"/>
            <a:ext cx="3246120" cy="1143000"/>
          </a:xfrm>
          <a:prstGeom prst="roundRect">
            <a:avLst>
              <a:gd fmla="val 48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4526280" y="2926080"/>
            <a:ext cx="45720" cy="11430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4690872" y="309067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Show design changes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4690872" y="342900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Photo series or diagram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275320" y="2926080"/>
            <a:ext cx="3246120" cy="1143000"/>
          </a:xfrm>
          <a:prstGeom prst="roundRect">
            <a:avLst>
              <a:gd fmla="val 48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8275320" y="2926080"/>
            <a:ext cx="45720" cy="11430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8439912" y="309067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Show categories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8439912" y="3429000"/>
            <a:ext cx="29260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Frequency table or coded chart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Choose the visual type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5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Use Handout 9. For each major data set, name the visual that best shows what the audience needs to understand.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7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BAR GRAPHS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Bar Graphs Compare Categories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7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7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Use when the independent variable is a group, category, condition, or design.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05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8" name="Google Shape;128;p7"/>
          <p:cNvCxnSpPr/>
          <p:nvPr/>
        </p:nvCxnSpPr>
        <p:spPr>
          <a:xfrm rot="10800000">
            <a:off x="868680" y="1965960"/>
            <a:ext cx="0" cy="1965960"/>
          </a:xfrm>
          <a:prstGeom prst="straightConnector1">
            <a:avLst/>
          </a:prstGeom>
          <a:noFill/>
          <a:ln cap="flat" cmpd="sng" w="12700">
            <a:solidFill>
              <a:srgbClr val="B8B8B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9" name="Google Shape;129;p7"/>
          <p:cNvCxnSpPr/>
          <p:nvPr/>
        </p:nvCxnSpPr>
        <p:spPr>
          <a:xfrm>
            <a:off x="868680" y="3931920"/>
            <a:ext cx="3383280" cy="0"/>
          </a:xfrm>
          <a:prstGeom prst="straightConnector1">
            <a:avLst/>
          </a:prstGeom>
          <a:noFill/>
          <a:ln cap="flat" cmpd="sng" w="12700">
            <a:solidFill>
              <a:srgbClr val="B8B8B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0" name="Google Shape;130;p7"/>
          <p:cNvSpPr/>
          <p:nvPr/>
        </p:nvSpPr>
        <p:spPr>
          <a:xfrm>
            <a:off x="1352006" y="3243834"/>
            <a:ext cx="434993" cy="688086"/>
          </a:xfrm>
          <a:prstGeom prst="rect">
            <a:avLst/>
          </a:prstGeom>
          <a:solidFill>
            <a:srgbClr val="B8B8B8"/>
          </a:solidFill>
          <a:ln cap="flat" cmpd="sng" w="12700">
            <a:solidFill>
              <a:srgbClr val="22222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7"/>
          <p:cNvSpPr/>
          <p:nvPr/>
        </p:nvSpPr>
        <p:spPr>
          <a:xfrm>
            <a:off x="2318657" y="2791663"/>
            <a:ext cx="434993" cy="1140257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22222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3285309" y="2398471"/>
            <a:ext cx="434993" cy="1533449"/>
          </a:xfrm>
          <a:prstGeom prst="rect">
            <a:avLst/>
          </a:prstGeom>
          <a:solidFill>
            <a:srgbClr val="B8B8B8"/>
          </a:solidFill>
          <a:ln cap="flat" cmpd="sng" w="12700">
            <a:solidFill>
              <a:srgbClr val="222222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4846320" y="1508760"/>
            <a:ext cx="27432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7"/>
          <p:cNvSpPr/>
          <p:nvPr/>
        </p:nvSpPr>
        <p:spPr>
          <a:xfrm>
            <a:off x="4846320" y="150876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"/>
          <p:cNvSpPr/>
          <p:nvPr/>
        </p:nvSpPr>
        <p:spPr>
          <a:xfrm>
            <a:off x="5010912" y="1673352"/>
            <a:ext cx="24231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GOOD FOR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5010912" y="2011680"/>
            <a:ext cx="24231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Average height by treatment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Voltage by blade design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Load supported by truss type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8001000" y="1508760"/>
            <a:ext cx="27432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8001000" y="150876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"/>
          <p:cNvSpPr/>
          <p:nvPr/>
        </p:nvSpPr>
        <p:spPr>
          <a:xfrm>
            <a:off x="8165592" y="1673352"/>
            <a:ext cx="24231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WATCH OUT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8165592" y="2011680"/>
            <a:ext cx="24231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Missing units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Unequal sample sizes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Bars hiding variability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914400" y="434340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Question type: Which group, condition, or design performed differently?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LINE GRAPHS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Line Graphs Show Change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Use when the x-axis represents time, sequence, or a continuous variable.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06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6" name="Google Shape;156;p8"/>
          <p:cNvCxnSpPr/>
          <p:nvPr/>
        </p:nvCxnSpPr>
        <p:spPr>
          <a:xfrm rot="10800000">
            <a:off x="868680" y="1828800"/>
            <a:ext cx="0" cy="2103120"/>
          </a:xfrm>
          <a:prstGeom prst="straightConnector1">
            <a:avLst/>
          </a:prstGeom>
          <a:noFill/>
          <a:ln cap="flat" cmpd="sng" w="12700">
            <a:solidFill>
              <a:srgbClr val="B8B8B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7" name="Google Shape;157;p8"/>
          <p:cNvCxnSpPr/>
          <p:nvPr/>
        </p:nvCxnSpPr>
        <p:spPr>
          <a:xfrm>
            <a:off x="868680" y="3931920"/>
            <a:ext cx="3383280" cy="0"/>
          </a:xfrm>
          <a:prstGeom prst="straightConnector1">
            <a:avLst/>
          </a:prstGeom>
          <a:noFill/>
          <a:ln cap="flat" cmpd="sng" w="12700">
            <a:solidFill>
              <a:srgbClr val="B8B8B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8" name="Google Shape;158;p8"/>
          <p:cNvCxnSpPr/>
          <p:nvPr/>
        </p:nvCxnSpPr>
        <p:spPr>
          <a:xfrm flipH="1" rot="10800000">
            <a:off x="1139342" y="3195828"/>
            <a:ext cx="676656" cy="315468"/>
          </a:xfrm>
          <a:prstGeom prst="straightConnector1">
            <a:avLst/>
          </a:prstGeom>
          <a:noFill/>
          <a:ln cap="flat" cmpd="sng" w="25400">
            <a:solidFill>
              <a:srgbClr val="D7192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9" name="Google Shape;159;p8"/>
          <p:cNvCxnSpPr/>
          <p:nvPr/>
        </p:nvCxnSpPr>
        <p:spPr>
          <a:xfrm flipH="1" rot="10800000">
            <a:off x="1815998" y="2712110"/>
            <a:ext cx="676656" cy="483718"/>
          </a:xfrm>
          <a:prstGeom prst="straightConnector1">
            <a:avLst/>
          </a:prstGeom>
          <a:noFill/>
          <a:ln cap="flat" cmpd="sng" w="25400">
            <a:solidFill>
              <a:srgbClr val="D7192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0" name="Google Shape;160;p8"/>
          <p:cNvCxnSpPr/>
          <p:nvPr/>
        </p:nvCxnSpPr>
        <p:spPr>
          <a:xfrm flipH="1" rot="10800000">
            <a:off x="2492654" y="2564892"/>
            <a:ext cx="676656" cy="147218"/>
          </a:xfrm>
          <a:prstGeom prst="straightConnector1">
            <a:avLst/>
          </a:prstGeom>
          <a:noFill/>
          <a:ln cap="flat" cmpd="sng" w="25400">
            <a:solidFill>
              <a:srgbClr val="D7192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1" name="Google Shape;161;p8"/>
          <p:cNvCxnSpPr/>
          <p:nvPr/>
        </p:nvCxnSpPr>
        <p:spPr>
          <a:xfrm flipH="1" rot="10800000">
            <a:off x="3169310" y="2249424"/>
            <a:ext cx="676656" cy="315468"/>
          </a:xfrm>
          <a:prstGeom prst="straightConnector1">
            <a:avLst/>
          </a:prstGeom>
          <a:noFill/>
          <a:ln cap="flat" cmpd="sng" w="25400">
            <a:solidFill>
              <a:srgbClr val="D7192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8"/>
          <p:cNvSpPr/>
          <p:nvPr/>
        </p:nvSpPr>
        <p:spPr>
          <a:xfrm>
            <a:off x="1102766" y="3474720"/>
            <a:ext cx="73152" cy="73152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8"/>
          <p:cNvSpPr/>
          <p:nvPr/>
        </p:nvSpPr>
        <p:spPr>
          <a:xfrm>
            <a:off x="1779422" y="3159252"/>
            <a:ext cx="73152" cy="73152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/>
          <p:nvPr/>
        </p:nvSpPr>
        <p:spPr>
          <a:xfrm>
            <a:off x="2456078" y="2675534"/>
            <a:ext cx="73152" cy="73152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8"/>
          <p:cNvSpPr/>
          <p:nvPr/>
        </p:nvSpPr>
        <p:spPr>
          <a:xfrm>
            <a:off x="3132734" y="2528316"/>
            <a:ext cx="73152" cy="73152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"/>
          <p:cNvSpPr/>
          <p:nvPr/>
        </p:nvSpPr>
        <p:spPr>
          <a:xfrm>
            <a:off x="3809390" y="2212848"/>
            <a:ext cx="73152" cy="73152"/>
          </a:xfrm>
          <a:prstGeom prst="ellipse">
            <a:avLst/>
          </a:prstGeom>
          <a:solidFill>
            <a:srgbClr val="FFFFFF"/>
          </a:solidFill>
          <a:ln cap="flat" cmpd="sng" w="12700">
            <a:solidFill>
              <a:srgbClr val="FFFFFF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"/>
          <p:cNvSpPr/>
          <p:nvPr/>
        </p:nvSpPr>
        <p:spPr>
          <a:xfrm>
            <a:off x="4846320" y="1508760"/>
            <a:ext cx="27432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8"/>
          <p:cNvSpPr/>
          <p:nvPr/>
        </p:nvSpPr>
        <p:spPr>
          <a:xfrm>
            <a:off x="4846320" y="150876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8"/>
          <p:cNvSpPr/>
          <p:nvPr/>
        </p:nvSpPr>
        <p:spPr>
          <a:xfrm>
            <a:off x="5010912" y="1673352"/>
            <a:ext cx="24231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GOOD FOR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5010912" y="2011680"/>
            <a:ext cx="24231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Temperature over time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Growth by week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Sensor output across trials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8001000" y="1508760"/>
            <a:ext cx="27432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8001000" y="150876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8165592" y="1673352"/>
            <a:ext cx="24231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WATCH OUT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8165592" y="2011680"/>
            <a:ext cx="24231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Connecting unrelated categories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Uneven intervals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Too many lines at once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914400" y="434340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Question type: How does the measurement change across time or a continuous condition?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9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SCATTER PLOTS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Scatter Plots Show Relationships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9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Use when both variables are numerical measurements.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07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0" name="Google Shape;190;p9"/>
          <p:cNvCxnSpPr/>
          <p:nvPr/>
        </p:nvCxnSpPr>
        <p:spPr>
          <a:xfrm rot="10800000">
            <a:off x="868680" y="1828800"/>
            <a:ext cx="0" cy="2103120"/>
          </a:xfrm>
          <a:prstGeom prst="straightConnector1">
            <a:avLst/>
          </a:prstGeom>
          <a:noFill/>
          <a:ln cap="flat" cmpd="sng" w="12700">
            <a:solidFill>
              <a:srgbClr val="B8B8B8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1" name="Google Shape;191;p9"/>
          <p:cNvCxnSpPr/>
          <p:nvPr/>
        </p:nvCxnSpPr>
        <p:spPr>
          <a:xfrm>
            <a:off x="868680" y="3931920"/>
            <a:ext cx="3383280" cy="0"/>
          </a:xfrm>
          <a:prstGeom prst="straightConnector1">
            <a:avLst/>
          </a:prstGeom>
          <a:noFill/>
          <a:ln cap="flat" cmpd="sng" w="12700">
            <a:solidFill>
              <a:srgbClr val="B8B8B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" name="Google Shape;192;p9"/>
          <p:cNvSpPr/>
          <p:nvPr/>
        </p:nvSpPr>
        <p:spPr>
          <a:xfrm>
            <a:off x="1339596" y="3432658"/>
            <a:ext cx="73152" cy="73152"/>
          </a:xfrm>
          <a:prstGeom prst="ellipse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>
            <a:off x="1847088" y="3180283"/>
            <a:ext cx="73152" cy="73152"/>
          </a:xfrm>
          <a:prstGeom prst="ellipse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9"/>
          <p:cNvSpPr/>
          <p:nvPr/>
        </p:nvSpPr>
        <p:spPr>
          <a:xfrm>
            <a:off x="2253082" y="2864815"/>
            <a:ext cx="73152" cy="73152"/>
          </a:xfrm>
          <a:prstGeom prst="ellipse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>
            <a:off x="2794406" y="2612441"/>
            <a:ext cx="73152" cy="73152"/>
          </a:xfrm>
          <a:prstGeom prst="ellipse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9"/>
          <p:cNvSpPr/>
          <p:nvPr/>
        </p:nvSpPr>
        <p:spPr>
          <a:xfrm>
            <a:off x="3268066" y="2444191"/>
            <a:ext cx="73152" cy="73152"/>
          </a:xfrm>
          <a:prstGeom prst="ellipse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9"/>
          <p:cNvSpPr/>
          <p:nvPr/>
        </p:nvSpPr>
        <p:spPr>
          <a:xfrm>
            <a:off x="3741725" y="2170786"/>
            <a:ext cx="73152" cy="73152"/>
          </a:xfrm>
          <a:prstGeom prst="ellipse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8" name="Google Shape;198;p9"/>
          <p:cNvCxnSpPr/>
          <p:nvPr/>
        </p:nvCxnSpPr>
        <p:spPr>
          <a:xfrm flipH="1" rot="10800000">
            <a:off x="1274674" y="2249424"/>
            <a:ext cx="2638958" cy="1219810"/>
          </a:xfrm>
          <a:prstGeom prst="straightConnector1">
            <a:avLst/>
          </a:prstGeom>
          <a:noFill/>
          <a:ln cap="flat" cmpd="sng" w="15225">
            <a:solidFill>
              <a:srgbClr val="B8B8B8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9" name="Google Shape;199;p9"/>
          <p:cNvSpPr/>
          <p:nvPr/>
        </p:nvSpPr>
        <p:spPr>
          <a:xfrm>
            <a:off x="4846320" y="1508760"/>
            <a:ext cx="27432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9"/>
          <p:cNvSpPr/>
          <p:nvPr/>
        </p:nvSpPr>
        <p:spPr>
          <a:xfrm>
            <a:off x="4846320" y="150876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9"/>
          <p:cNvSpPr/>
          <p:nvPr/>
        </p:nvSpPr>
        <p:spPr>
          <a:xfrm>
            <a:off x="5010912" y="1673352"/>
            <a:ext cx="24231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GOOD FOR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5010912" y="2011680"/>
            <a:ext cx="24231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Mass vs. load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Temperature vs. voltage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Concentration vs. reaction time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8001000" y="1508760"/>
            <a:ext cx="27432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"/>
          <p:cNvSpPr/>
          <p:nvPr/>
        </p:nvSpPr>
        <p:spPr>
          <a:xfrm>
            <a:off x="8001000" y="150876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9"/>
          <p:cNvSpPr/>
          <p:nvPr/>
        </p:nvSpPr>
        <p:spPr>
          <a:xfrm>
            <a:off x="8165592" y="1673352"/>
            <a:ext cx="24231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WATCH OUT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8165592" y="2011680"/>
            <a:ext cx="24231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Correlation ≠ causation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Outliers need context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Trendlines require caution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914400" y="434340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Question type: Is there a relationship between two measured variables?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0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0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OTHER VISUALS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0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Not Every Result Needs a Graph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Tables, photos, diagrams, and coded charts can be the right visual.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08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868680" y="1417320"/>
            <a:ext cx="2606040" cy="1828800"/>
          </a:xfrm>
          <a:prstGeom prst="roundRect">
            <a:avLst>
              <a:gd fmla="val 30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0"/>
          <p:cNvSpPr/>
          <p:nvPr/>
        </p:nvSpPr>
        <p:spPr>
          <a:xfrm>
            <a:off x="868680" y="1417320"/>
            <a:ext cx="45720" cy="18288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1033272" y="1581912"/>
            <a:ext cx="2286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TABLE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1033272" y="1920240"/>
            <a:ext cx="228600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Exact values, multiple metrics, design comparisons.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3703320" y="1417320"/>
            <a:ext cx="2606040" cy="1828800"/>
          </a:xfrm>
          <a:prstGeom prst="roundRect">
            <a:avLst>
              <a:gd fmla="val 30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0"/>
          <p:cNvSpPr/>
          <p:nvPr/>
        </p:nvSpPr>
        <p:spPr>
          <a:xfrm>
            <a:off x="3703320" y="1417320"/>
            <a:ext cx="45720" cy="18288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0"/>
          <p:cNvSpPr/>
          <p:nvPr/>
        </p:nvSpPr>
        <p:spPr>
          <a:xfrm>
            <a:off x="3867912" y="1581912"/>
            <a:ext cx="2286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PHOTO SERIES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3867912" y="1920240"/>
            <a:ext cx="228600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Prototype iterations, failure modes, before/after evidence.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6537960" y="1417320"/>
            <a:ext cx="2606040" cy="1828800"/>
          </a:xfrm>
          <a:prstGeom prst="roundRect">
            <a:avLst>
              <a:gd fmla="val 30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0"/>
          <p:cNvSpPr/>
          <p:nvPr/>
        </p:nvSpPr>
        <p:spPr>
          <a:xfrm>
            <a:off x="6537960" y="1417320"/>
            <a:ext cx="45720" cy="18288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0"/>
          <p:cNvSpPr/>
          <p:nvPr/>
        </p:nvSpPr>
        <p:spPr>
          <a:xfrm>
            <a:off x="6702552" y="1581912"/>
            <a:ext cx="2286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DIAGRAM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6702552" y="1920240"/>
            <a:ext cx="228600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Setup, mechanism, procedure, or design structure.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9372600" y="1417320"/>
            <a:ext cx="1965960" cy="1828800"/>
          </a:xfrm>
          <a:prstGeom prst="roundRect">
            <a:avLst>
              <a:gd fmla="val 30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0"/>
          <p:cNvSpPr/>
          <p:nvPr/>
        </p:nvSpPr>
        <p:spPr>
          <a:xfrm>
            <a:off x="9372600" y="1417320"/>
            <a:ext cx="45720" cy="182880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/>
          <p:nvPr/>
        </p:nvSpPr>
        <p:spPr>
          <a:xfrm>
            <a:off x="9537192" y="15819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CODED CHART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9537192" y="1920240"/>
            <a:ext cx="16459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Qualitative categories or observation counts.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Visual format decision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4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0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For one result, decide whether a graph, table, image, or diagram would communicate it best.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1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1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GRAPH ANATOMY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The Anatomy of an Ethical Graph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1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1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A graph should be understandable before the presenter explains it.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09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868680" y="1417320"/>
            <a:ext cx="3246120" cy="1005840"/>
          </a:xfrm>
          <a:prstGeom prst="roundRect">
            <a:avLst>
              <a:gd fmla="val 5455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1"/>
          <p:cNvSpPr/>
          <p:nvPr/>
        </p:nvSpPr>
        <p:spPr>
          <a:xfrm>
            <a:off x="868680" y="1417320"/>
            <a:ext cx="45720" cy="100584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1033272" y="15819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Title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1"/>
          <p:cNvSpPr/>
          <p:nvPr/>
        </p:nvSpPr>
        <p:spPr>
          <a:xfrm>
            <a:off x="1033272" y="192024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is being shown?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4617720" y="1417320"/>
            <a:ext cx="3246120" cy="1005840"/>
          </a:xfrm>
          <a:prstGeom prst="roundRect">
            <a:avLst>
              <a:gd fmla="val 5455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1"/>
          <p:cNvSpPr/>
          <p:nvPr/>
        </p:nvSpPr>
        <p:spPr>
          <a:xfrm>
            <a:off x="4617720" y="1417320"/>
            <a:ext cx="45720" cy="100584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1"/>
          <p:cNvSpPr/>
          <p:nvPr/>
        </p:nvSpPr>
        <p:spPr>
          <a:xfrm>
            <a:off x="4782312" y="15819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X-axis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4782312" y="192024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Condition, group, time, or variable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8366760" y="1417320"/>
            <a:ext cx="3246120" cy="1005840"/>
          </a:xfrm>
          <a:prstGeom prst="roundRect">
            <a:avLst>
              <a:gd fmla="val 5455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8366760" y="1417320"/>
            <a:ext cx="45720" cy="100584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8531352" y="15819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Y-axis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1"/>
          <p:cNvSpPr/>
          <p:nvPr/>
        </p:nvSpPr>
        <p:spPr>
          <a:xfrm>
            <a:off x="8531352" y="192024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Measured outcome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868680" y="2788920"/>
            <a:ext cx="3246120" cy="1005840"/>
          </a:xfrm>
          <a:prstGeom prst="roundRect">
            <a:avLst>
              <a:gd fmla="val 5455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1"/>
          <p:cNvSpPr/>
          <p:nvPr/>
        </p:nvSpPr>
        <p:spPr>
          <a:xfrm>
            <a:off x="868680" y="2788920"/>
            <a:ext cx="45720" cy="100584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1033272" y="29535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Units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1033272" y="329184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cm, g, V, s, °C, %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4617720" y="2788920"/>
            <a:ext cx="3246120" cy="1005840"/>
          </a:xfrm>
          <a:prstGeom prst="roundRect">
            <a:avLst>
              <a:gd fmla="val 5455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4617720" y="2788920"/>
            <a:ext cx="45720" cy="100584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1"/>
          <p:cNvSpPr/>
          <p:nvPr/>
        </p:nvSpPr>
        <p:spPr>
          <a:xfrm>
            <a:off x="4782312" y="29535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Legend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4782312" y="329184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Only if multiple groups need it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1"/>
          <p:cNvSpPr/>
          <p:nvPr/>
        </p:nvSpPr>
        <p:spPr>
          <a:xfrm>
            <a:off x="8366760" y="2788920"/>
            <a:ext cx="3246120" cy="1005840"/>
          </a:xfrm>
          <a:prstGeom prst="roundRect">
            <a:avLst>
              <a:gd fmla="val 5455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1"/>
          <p:cNvSpPr/>
          <p:nvPr/>
        </p:nvSpPr>
        <p:spPr>
          <a:xfrm>
            <a:off x="8366760" y="2788920"/>
            <a:ext cx="45720" cy="100584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8531352" y="2953512"/>
            <a:ext cx="29260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Scale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1"/>
          <p:cNvSpPr/>
          <p:nvPr/>
        </p:nvSpPr>
        <p:spPr>
          <a:xfrm>
            <a:off x="8531352" y="3291840"/>
            <a:ext cx="29260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Accurate and not exaggerated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1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1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Graph checklist preview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3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Compare this list with your current graph. What is missing or unclear?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2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2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2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Activity: Select Your Visuals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2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Choose the visuals that actually support your evidence.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2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10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2"/>
          <p:cNvSpPr/>
          <p:nvPr/>
        </p:nvSpPr>
        <p:spPr>
          <a:xfrm>
            <a:off x="914400" y="1417320"/>
            <a:ext cx="992124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List your three most important data sets or evidence pieces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Choose the best visual format for each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Write what each visual should help the audience see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Circle the one visual that will matter most in your report or presentation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2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2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2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Complete Handout 9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10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2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Work independently first, then ask a partner: “Does this visual type match what I need to show?”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3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3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3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VISUAL ETHICS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3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3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Scale Choices Can Mislead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3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Accurate numbers can still create a misleading visual.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11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868680" y="1417320"/>
            <a:ext cx="484632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3"/>
          <p:cNvSpPr/>
          <p:nvPr/>
        </p:nvSpPr>
        <p:spPr>
          <a:xfrm>
            <a:off x="868680" y="141732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3"/>
          <p:cNvSpPr/>
          <p:nvPr/>
        </p:nvSpPr>
        <p:spPr>
          <a:xfrm>
            <a:off x="1033272" y="1581912"/>
            <a:ext cx="45262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MISLEADING SCALE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3"/>
          <p:cNvSpPr/>
          <p:nvPr/>
        </p:nvSpPr>
        <p:spPr>
          <a:xfrm>
            <a:off x="1033272" y="1920240"/>
            <a:ext cx="4526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y-axis that begins at 95 can make a small difference look dramatic.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Ask: Does the scale exaggerate the result?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6446520" y="1417320"/>
            <a:ext cx="484632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3"/>
          <p:cNvSpPr/>
          <p:nvPr/>
        </p:nvSpPr>
        <p:spPr>
          <a:xfrm>
            <a:off x="6446520" y="141732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3"/>
          <p:cNvSpPr/>
          <p:nvPr/>
        </p:nvSpPr>
        <p:spPr>
          <a:xfrm>
            <a:off x="6611112" y="1581912"/>
            <a:ext cx="45262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BETTER PRACTICE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3"/>
          <p:cNvSpPr/>
          <p:nvPr/>
        </p:nvSpPr>
        <p:spPr>
          <a:xfrm>
            <a:off x="6611112" y="1920240"/>
            <a:ext cx="45262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Choose a scale that shows the pattern without overstating it.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captions to explain what matters.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3"/>
          <p:cNvSpPr/>
          <p:nvPr/>
        </p:nvSpPr>
        <p:spPr>
          <a:xfrm>
            <a:off x="914400" y="4206240"/>
            <a:ext cx="10332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Visual ethics rule: the audience should not need to inspect the axis to avoid being tricked.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4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4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4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VISUAL ETHICS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4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Chartjunk Hides Evidence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4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4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A graph is not stronger because it looks busier.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12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868680" y="1417320"/>
            <a:ext cx="320040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4"/>
          <p:cNvSpPr/>
          <p:nvPr/>
        </p:nvSpPr>
        <p:spPr>
          <a:xfrm>
            <a:off x="868680" y="141732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4"/>
          <p:cNvSpPr/>
          <p:nvPr/>
        </p:nvSpPr>
        <p:spPr>
          <a:xfrm>
            <a:off x="103327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AVOID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4"/>
          <p:cNvSpPr/>
          <p:nvPr/>
        </p:nvSpPr>
        <p:spPr>
          <a:xfrm>
            <a:off x="1033272" y="1920240"/>
            <a:ext cx="288036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3D effects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heavy shadows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decorative images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unnecessary colors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cluttered labels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4"/>
          <p:cNvSpPr/>
          <p:nvPr/>
        </p:nvSpPr>
        <p:spPr>
          <a:xfrm>
            <a:off x="4480560" y="1417320"/>
            <a:ext cx="320040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4"/>
          <p:cNvSpPr/>
          <p:nvPr/>
        </p:nvSpPr>
        <p:spPr>
          <a:xfrm>
            <a:off x="4480560" y="141732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4"/>
          <p:cNvSpPr/>
          <p:nvPr/>
        </p:nvSpPr>
        <p:spPr>
          <a:xfrm>
            <a:off x="464515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KEEP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4"/>
          <p:cNvSpPr/>
          <p:nvPr/>
        </p:nvSpPr>
        <p:spPr>
          <a:xfrm>
            <a:off x="4645152" y="1920240"/>
            <a:ext cx="288036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 axes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readable text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consistent labels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visible data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useful caption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4"/>
          <p:cNvSpPr/>
          <p:nvPr/>
        </p:nvSpPr>
        <p:spPr>
          <a:xfrm>
            <a:off x="8092440" y="1417320"/>
            <a:ext cx="320040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4"/>
          <p:cNvSpPr/>
          <p:nvPr/>
        </p:nvSpPr>
        <p:spPr>
          <a:xfrm>
            <a:off x="8092440" y="141732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4"/>
          <p:cNvSpPr/>
          <p:nvPr/>
        </p:nvSpPr>
        <p:spPr>
          <a:xfrm>
            <a:off x="825703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ASK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4"/>
          <p:cNvSpPr/>
          <p:nvPr/>
        </p:nvSpPr>
        <p:spPr>
          <a:xfrm>
            <a:off x="8257032" y="1920240"/>
            <a:ext cx="288036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Does this design choice help the reader understand the evidence?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15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5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5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GRAPH STANDARDS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Missing Labels Destroy Meaning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5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A number without context is not evidence.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13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868680" y="1417320"/>
            <a:ext cx="32004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5"/>
          <p:cNvSpPr/>
          <p:nvPr/>
        </p:nvSpPr>
        <p:spPr>
          <a:xfrm>
            <a:off x="868680" y="141732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5"/>
          <p:cNvSpPr/>
          <p:nvPr/>
        </p:nvSpPr>
        <p:spPr>
          <a:xfrm>
            <a:off x="103327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MISSING UNIT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1033272" y="1920240"/>
            <a:ext cx="28803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“Height = 12”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12 what? cm? mm? inches?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4480560" y="1417320"/>
            <a:ext cx="32004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5"/>
          <p:cNvSpPr/>
          <p:nvPr/>
        </p:nvSpPr>
        <p:spPr>
          <a:xfrm>
            <a:off x="4480560" y="141732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5"/>
          <p:cNvSpPr/>
          <p:nvPr/>
        </p:nvSpPr>
        <p:spPr>
          <a:xfrm>
            <a:off x="464515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UNCLEAR CONDITION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5"/>
          <p:cNvSpPr/>
          <p:nvPr/>
        </p:nvSpPr>
        <p:spPr>
          <a:xfrm>
            <a:off x="4645152" y="1920240"/>
            <a:ext cx="28803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“Trial 3”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Which group, setting, design, or treatment?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8092440" y="1417320"/>
            <a:ext cx="32004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5"/>
          <p:cNvSpPr/>
          <p:nvPr/>
        </p:nvSpPr>
        <p:spPr>
          <a:xfrm>
            <a:off x="8092440" y="141732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5"/>
          <p:cNvSpPr/>
          <p:nvPr/>
        </p:nvSpPr>
        <p:spPr>
          <a:xfrm>
            <a:off x="825703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VAGUE TITLE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8257032" y="1920240"/>
            <a:ext cx="28803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“Results”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Results of what comparison?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5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5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Label audit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5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4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Find one label, unit, or title in your current visual plan that needs to be clearer.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6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16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6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VARIABILITY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6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6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Error Bars Show Spread or Uncertainty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16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6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Use them only when you know what they represent.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16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14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6"/>
          <p:cNvSpPr/>
          <p:nvPr/>
        </p:nvSpPr>
        <p:spPr>
          <a:xfrm>
            <a:off x="868680" y="1417320"/>
            <a:ext cx="3200400" cy="2103120"/>
          </a:xfrm>
          <a:prstGeom prst="roundRect">
            <a:avLst>
              <a:gd fmla="val 2609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16"/>
          <p:cNvSpPr/>
          <p:nvPr/>
        </p:nvSpPr>
        <p:spPr>
          <a:xfrm>
            <a:off x="868680" y="1417320"/>
            <a:ext cx="45720" cy="21031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6"/>
          <p:cNvSpPr/>
          <p:nvPr/>
        </p:nvSpPr>
        <p:spPr>
          <a:xfrm>
            <a:off x="103327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CAN SHOW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6"/>
          <p:cNvSpPr/>
          <p:nvPr/>
        </p:nvSpPr>
        <p:spPr>
          <a:xfrm>
            <a:off x="1033272" y="1920240"/>
            <a:ext cx="288036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standard deviation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standard error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range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measurement uncertainty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6"/>
          <p:cNvSpPr/>
          <p:nvPr/>
        </p:nvSpPr>
        <p:spPr>
          <a:xfrm>
            <a:off x="4480560" y="1417320"/>
            <a:ext cx="3200400" cy="2103120"/>
          </a:xfrm>
          <a:prstGeom prst="roundRect">
            <a:avLst>
              <a:gd fmla="val 2609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p16"/>
          <p:cNvSpPr/>
          <p:nvPr/>
        </p:nvSpPr>
        <p:spPr>
          <a:xfrm>
            <a:off x="4480560" y="1417320"/>
            <a:ext cx="45720" cy="21031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16"/>
          <p:cNvSpPr/>
          <p:nvPr/>
        </p:nvSpPr>
        <p:spPr>
          <a:xfrm>
            <a:off x="464515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USE WHEN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16"/>
          <p:cNvSpPr/>
          <p:nvPr/>
        </p:nvSpPr>
        <p:spPr>
          <a:xfrm>
            <a:off x="4645152" y="1920240"/>
            <a:ext cx="288036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have repeated measurements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need to show variability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 explain what the bars mean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6"/>
          <p:cNvSpPr/>
          <p:nvPr/>
        </p:nvSpPr>
        <p:spPr>
          <a:xfrm>
            <a:off x="8092440" y="1417320"/>
            <a:ext cx="3200400" cy="2103120"/>
          </a:xfrm>
          <a:prstGeom prst="roundRect">
            <a:avLst>
              <a:gd fmla="val 2609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16"/>
          <p:cNvSpPr/>
          <p:nvPr/>
        </p:nvSpPr>
        <p:spPr>
          <a:xfrm>
            <a:off x="8092440" y="1417320"/>
            <a:ext cx="45720" cy="21031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6"/>
          <p:cNvSpPr/>
          <p:nvPr/>
        </p:nvSpPr>
        <p:spPr>
          <a:xfrm>
            <a:off x="825703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DO NOT USE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6"/>
          <p:cNvSpPr/>
          <p:nvPr/>
        </p:nvSpPr>
        <p:spPr>
          <a:xfrm>
            <a:off x="8257032" y="1920240"/>
            <a:ext cx="288036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just to look scientific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without knowing the meaning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without labeling in caption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6"/>
          <p:cNvSpPr/>
          <p:nvPr/>
        </p:nvSpPr>
        <p:spPr>
          <a:xfrm>
            <a:off x="914400" y="4160520"/>
            <a:ext cx="10332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Error bars are not decoration. They are a claim about uncertainty.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7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17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17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CAPTIONS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7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7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Captions Turn Visuals Into Scientific Evidence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7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7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A caption tells the reader what the visual shows and why it matters.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7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15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7"/>
          <p:cNvSpPr/>
          <p:nvPr/>
        </p:nvSpPr>
        <p:spPr>
          <a:xfrm>
            <a:off x="868680" y="1417320"/>
            <a:ext cx="301752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17"/>
          <p:cNvSpPr/>
          <p:nvPr/>
        </p:nvSpPr>
        <p:spPr>
          <a:xfrm>
            <a:off x="868680" y="141732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7"/>
          <p:cNvSpPr/>
          <p:nvPr/>
        </p:nvSpPr>
        <p:spPr>
          <a:xfrm>
            <a:off x="1033272" y="1581912"/>
            <a:ext cx="2697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INCLUDE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7"/>
          <p:cNvSpPr/>
          <p:nvPr/>
        </p:nvSpPr>
        <p:spPr>
          <a:xfrm>
            <a:off x="1033272" y="1920240"/>
            <a:ext cx="26974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figure number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is shown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groups or conditions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units or sample size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7"/>
          <p:cNvSpPr/>
          <p:nvPr/>
        </p:nvSpPr>
        <p:spPr>
          <a:xfrm>
            <a:off x="4343400" y="1417320"/>
            <a:ext cx="301752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7"/>
          <p:cNvSpPr/>
          <p:nvPr/>
        </p:nvSpPr>
        <p:spPr>
          <a:xfrm>
            <a:off x="4343400" y="141732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17"/>
          <p:cNvSpPr/>
          <p:nvPr/>
        </p:nvSpPr>
        <p:spPr>
          <a:xfrm>
            <a:off x="4507992" y="1581912"/>
            <a:ext cx="26974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ADD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7"/>
          <p:cNvSpPr/>
          <p:nvPr/>
        </p:nvSpPr>
        <p:spPr>
          <a:xfrm>
            <a:off x="4507992" y="1920240"/>
            <a:ext cx="26974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major pattern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brief context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important limitation if needed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7"/>
          <p:cNvSpPr/>
          <p:nvPr/>
        </p:nvSpPr>
        <p:spPr>
          <a:xfrm>
            <a:off x="7818120" y="1417320"/>
            <a:ext cx="3474720" cy="2194560"/>
          </a:xfrm>
          <a:prstGeom prst="roundRect">
            <a:avLst>
              <a:gd fmla="val 2500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17"/>
          <p:cNvSpPr/>
          <p:nvPr/>
        </p:nvSpPr>
        <p:spPr>
          <a:xfrm>
            <a:off x="7818120" y="1417320"/>
            <a:ext cx="45720" cy="219456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7"/>
          <p:cNvSpPr/>
          <p:nvPr/>
        </p:nvSpPr>
        <p:spPr>
          <a:xfrm>
            <a:off x="7982712" y="1581912"/>
            <a:ext cx="3154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AVOID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7"/>
          <p:cNvSpPr/>
          <p:nvPr/>
        </p:nvSpPr>
        <p:spPr>
          <a:xfrm>
            <a:off x="7982712" y="1920240"/>
            <a:ext cx="315468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overclaiming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explaining every detail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repeating the title only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7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7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7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 formula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7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5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7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Draft one caption: Figure number + what is shown + conditions + major pattern without overclaiming.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8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p18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8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8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8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Activity: Build or Revise One Graph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8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8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Make one visual clear enough for someone else to interpret.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8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16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8"/>
          <p:cNvSpPr/>
          <p:nvPr/>
        </p:nvSpPr>
        <p:spPr>
          <a:xfrm>
            <a:off x="914400" y="1417320"/>
            <a:ext cx="100126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Choose one important graph or visual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Add or revise title, axes, labels, units, and scale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Check whether the visual type matches the data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Add a note for any questionable data or limitation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Complete the graph checklist before peer review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8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8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1" name="Google Shape;461;p18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Graph Construction Checklist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18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12–15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18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Use Handout 10 while revising. Do not move on until the visual passes the checklist.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9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9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9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19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19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Activity: Misleading Graph Audit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19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9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Before trusting a visual, check how it could mislead.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19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17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9"/>
          <p:cNvSpPr/>
          <p:nvPr/>
        </p:nvSpPr>
        <p:spPr>
          <a:xfrm>
            <a:off x="914400" y="1417320"/>
            <a:ext cx="100126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Does the scale exaggerate or hide a difference?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Are units, sample sizes, and conditions clear?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Are any trials, failed tests, or outliers hidden?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Does color or formatting imply something unsupported?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Would the graph still be honest without your explanation?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19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9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9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Audit + revise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9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8–10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9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Use Appendix K as the audit lens. Identify one change that makes your visual more honest.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20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20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20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20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20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Activity: Draft Figure Captions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20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20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A caption should make the visual understandable without guessing.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20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18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20"/>
          <p:cNvSpPr/>
          <p:nvPr/>
        </p:nvSpPr>
        <p:spPr>
          <a:xfrm>
            <a:off x="914400" y="1417320"/>
            <a:ext cx="100126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Figure 1: What is being shown?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What groups, variables, or conditions are included?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What units, trial count, or sample information matters?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What major pattern is visible?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What language avoids overstating the conclusion?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20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20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20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 drafting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20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8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20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Complete Handout 12 for your two most important visuals. Partner checks for clarity and overclaiming.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21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21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21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PEER REVIEW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21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21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Visual Review: Can Someone Else Read It?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21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p21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A useful visual survives outside your own head.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21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19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21"/>
          <p:cNvSpPr/>
          <p:nvPr/>
        </p:nvSpPr>
        <p:spPr>
          <a:xfrm>
            <a:off x="868680" y="1417320"/>
            <a:ext cx="32004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21"/>
          <p:cNvSpPr/>
          <p:nvPr/>
        </p:nvSpPr>
        <p:spPr>
          <a:xfrm>
            <a:off x="868680" y="141732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21"/>
          <p:cNvSpPr/>
          <p:nvPr/>
        </p:nvSpPr>
        <p:spPr>
          <a:xfrm>
            <a:off x="103327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REVIEWER ASKS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1" name="Google Shape;521;p21"/>
          <p:cNvSpPr/>
          <p:nvPr/>
        </p:nvSpPr>
        <p:spPr>
          <a:xfrm>
            <a:off x="1033272" y="1920240"/>
            <a:ext cx="28803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does this show?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comparison is visible?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is unclear?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21"/>
          <p:cNvSpPr/>
          <p:nvPr/>
        </p:nvSpPr>
        <p:spPr>
          <a:xfrm>
            <a:off x="4480560" y="1417320"/>
            <a:ext cx="32004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3" name="Google Shape;523;p21"/>
          <p:cNvSpPr/>
          <p:nvPr/>
        </p:nvSpPr>
        <p:spPr>
          <a:xfrm>
            <a:off x="4480560" y="141732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21"/>
          <p:cNvSpPr/>
          <p:nvPr/>
        </p:nvSpPr>
        <p:spPr>
          <a:xfrm>
            <a:off x="464515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PRESENTER LISTENS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21"/>
          <p:cNvSpPr/>
          <p:nvPr/>
        </p:nvSpPr>
        <p:spPr>
          <a:xfrm>
            <a:off x="4645152" y="1920240"/>
            <a:ext cx="28803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defend immediately. Mark what confused the reader.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21"/>
          <p:cNvSpPr/>
          <p:nvPr/>
        </p:nvSpPr>
        <p:spPr>
          <a:xfrm>
            <a:off x="8092440" y="1417320"/>
            <a:ext cx="3200400" cy="2011680"/>
          </a:xfrm>
          <a:prstGeom prst="roundRect">
            <a:avLst>
              <a:gd fmla="val 2727" name="adj"/>
            </a:avLst>
          </a:prstGeom>
          <a:solidFill>
            <a:srgbClr val="141414"/>
          </a:solidFill>
          <a:ln cap="flat" cmpd="sng" w="12700">
            <a:solidFill>
              <a:srgbClr val="D71920">
                <a:alpha val="54901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1"/>
          <p:cNvSpPr/>
          <p:nvPr/>
        </p:nvSpPr>
        <p:spPr>
          <a:xfrm>
            <a:off x="8092440" y="1417320"/>
            <a:ext cx="45720" cy="201168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21"/>
          <p:cNvSpPr/>
          <p:nvPr/>
        </p:nvSpPr>
        <p:spPr>
          <a:xfrm>
            <a:off x="8257032" y="1581912"/>
            <a:ext cx="28803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450"/>
              <a:buFont typeface="Arial"/>
              <a:buNone/>
            </a:pPr>
            <a:r>
              <a:rPr b="1" i="0" lang="en-US" sz="145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REVISION FOCUS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21"/>
          <p:cNvSpPr/>
          <p:nvPr/>
        </p:nvSpPr>
        <p:spPr>
          <a:xfrm>
            <a:off x="8257032" y="1920240"/>
            <a:ext cx="288036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bigger labels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clearer scale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better caption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less clutter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21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21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21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Peer visual review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21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7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21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Trade visuals. Reviewer explains what the graph shows before the creator explains it.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22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22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22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SELF-CHECK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22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22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Common Graph Problems to Fix Before Reporting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p22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22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Most visual problems are fixable before they become report problems.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p22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20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p22"/>
          <p:cNvSpPr/>
          <p:nvPr/>
        </p:nvSpPr>
        <p:spPr>
          <a:xfrm>
            <a:off x="914400" y="1417320"/>
            <a:ext cx="1001268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Graph type does not match the data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Title is too vague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Axes or units are missing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Scale exaggerates the pattern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Legend is missing or unnecessary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Too many variables are forced into one graph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Caption describes the visual poorly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Questionable data are hidden rather than flagged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22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22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22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Top two fixes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22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4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22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Choose the two problems most likely in your own visuals and fix or document them today.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23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23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23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EXIT TICKET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23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5" name="Google Shape;565;p23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Exit Ticket: Is Your Visual Ready?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23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23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Leave with one graph or visual that has a clear next revision.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8" name="Google Shape;568;p23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21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23"/>
          <p:cNvSpPr/>
          <p:nvPr/>
        </p:nvSpPr>
        <p:spPr>
          <a:xfrm>
            <a:off x="914400" y="1417320"/>
            <a:ext cx="1001268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375" lIns="375" spcFirstLastPara="1" rIns="375" wrap="square" tIns="3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What is the most important visual for your project right now?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What does it help the audience understand?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What is one ethical or clarity issue you checked?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• What revision still needs to happen before it is final?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23"/>
          <p:cNvSpPr/>
          <p:nvPr/>
        </p:nvSpPr>
        <p:spPr>
          <a:xfrm>
            <a:off x="777240" y="5138928"/>
            <a:ext cx="10652760" cy="960120"/>
          </a:xfrm>
          <a:prstGeom prst="roundRect">
            <a:avLst>
              <a:gd fmla="val 7619" name="adj"/>
            </a:avLst>
          </a:prstGeom>
          <a:solidFill>
            <a:srgbClr val="151515"/>
          </a:solidFill>
          <a:ln cap="flat" cmpd="sng" w="12700">
            <a:solidFill>
              <a:srgbClr val="D71920">
                <a:alpha val="50196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23"/>
          <p:cNvSpPr/>
          <p:nvPr/>
        </p:nvSpPr>
        <p:spPr>
          <a:xfrm>
            <a:off x="1024128" y="5367528"/>
            <a:ext cx="20116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830"/>
              <a:buFont typeface="Arial"/>
              <a:buNone/>
            </a:pPr>
            <a:r>
              <a:rPr b="1" i="0" lang="en-US" sz="83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STUDENT ACTIVITY</a:t>
            </a:r>
            <a:endParaRPr b="0" i="0" sz="8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p23"/>
          <p:cNvSpPr/>
          <p:nvPr/>
        </p:nvSpPr>
        <p:spPr>
          <a:xfrm>
            <a:off x="1024128" y="5596128"/>
            <a:ext cx="3977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50"/>
              <a:buFont typeface="Arial"/>
              <a:buNone/>
            </a:pPr>
            <a:r>
              <a:rPr b="1" i="0" lang="en-US" sz="15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Submit or show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p23"/>
          <p:cNvSpPr/>
          <p:nvPr/>
        </p:nvSpPr>
        <p:spPr>
          <a:xfrm>
            <a:off x="5212080" y="5468112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5 MIN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4" name="Google Shape;574;p23"/>
          <p:cNvSpPr/>
          <p:nvPr/>
        </p:nvSpPr>
        <p:spPr>
          <a:xfrm>
            <a:off x="6355080" y="5330952"/>
            <a:ext cx="4800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250" lIns="250" spcFirstLastPara="1" rIns="250" wrap="square" tIns="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Turn in your visual selection, graph checklist, and one draft caption or link to the working visual.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808"/>
        </a:solidFill>
      </p:bgPr>
    </p:bg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8"/>
          </a:solidFill>
          <a:ln cap="flat" cmpd="sng" w="12700">
            <a:solidFill>
              <a:srgbClr val="080808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24"/>
          <p:cNvSpPr/>
          <p:nvPr/>
        </p:nvSpPr>
        <p:spPr>
          <a:xfrm>
            <a:off x="0" y="10972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24"/>
          <p:cNvSpPr/>
          <p:nvPr/>
        </p:nvSpPr>
        <p:spPr>
          <a:xfrm>
            <a:off x="0" y="6693408"/>
            <a:ext cx="12191695" cy="54864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24"/>
          <p:cNvSpPr/>
          <p:nvPr/>
        </p:nvSpPr>
        <p:spPr>
          <a:xfrm>
            <a:off x="411480" y="6428232"/>
            <a:ext cx="4023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NEXT DECK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4" name="Google Shape;584;p24"/>
          <p:cNvSpPr/>
          <p:nvPr/>
        </p:nvSpPr>
        <p:spPr>
          <a:xfrm>
            <a:off x="10607040" y="6428232"/>
            <a:ext cx="1143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DECK 11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5" name="Google Shape;585;p24"/>
          <p:cNvSpPr/>
          <p:nvPr/>
        </p:nvSpPr>
        <p:spPr>
          <a:xfrm>
            <a:off x="640080" y="475488"/>
            <a:ext cx="97383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Next Deck: Error, Uncertainty, and Limitations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6" name="Google Shape;586;p24"/>
          <p:cNvSpPr/>
          <p:nvPr/>
        </p:nvSpPr>
        <p:spPr>
          <a:xfrm>
            <a:off x="640080" y="1024128"/>
            <a:ext cx="1207008" cy="45720"/>
          </a:xfrm>
          <a:prstGeom prst="rect">
            <a:avLst/>
          </a:prstGeom>
          <a:solidFill>
            <a:srgbClr val="D71920"/>
          </a:solidFill>
          <a:ln cap="flat" cmpd="sng" w="12700">
            <a:solidFill>
              <a:srgbClr val="D71920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24"/>
          <p:cNvSpPr/>
          <p:nvPr/>
        </p:nvSpPr>
        <p:spPr>
          <a:xfrm>
            <a:off x="1993392" y="941832"/>
            <a:ext cx="85953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8B8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rPr>
              <a:t>A clear graph is not enough. Students must explain how confident the evidence allows them to be.</a:t>
            </a:r>
            <a:endParaRPr b="0" i="0" sz="11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24"/>
          <p:cNvSpPr/>
          <p:nvPr/>
        </p:nvSpPr>
        <p:spPr>
          <a:xfrm>
            <a:off x="11018520" y="320040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1700"/>
              <a:buFont typeface="Play"/>
              <a:buNone/>
            </a:pPr>
            <a:r>
              <a:rPr b="1" i="0" lang="en-US" sz="1700" u="none" cap="none" strike="noStrike">
                <a:solidFill>
                  <a:srgbClr val="D71920"/>
                </a:solidFill>
                <a:latin typeface="Play"/>
                <a:ea typeface="Play"/>
                <a:cs typeface="Play"/>
                <a:sym typeface="Play"/>
              </a:rPr>
              <a:t>22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9" name="Google Shape;589;p24"/>
          <p:cNvSpPr/>
          <p:nvPr/>
        </p:nvSpPr>
        <p:spPr>
          <a:xfrm>
            <a:off x="914400" y="2194560"/>
            <a:ext cx="10332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D71920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D71920"/>
                </a:solidFill>
                <a:latin typeface="Arial"/>
                <a:ea typeface="Arial"/>
                <a:cs typeface="Arial"/>
                <a:sym typeface="Arial"/>
              </a:rPr>
              <a:t>NEXT: ERROR, UNCERTAINTY, AND LIMITATIONS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0" name="Google Shape;590;p24"/>
          <p:cNvSpPr/>
          <p:nvPr/>
        </p:nvSpPr>
        <p:spPr>
          <a:xfrm>
            <a:off x="1417320" y="2880360"/>
            <a:ext cx="93268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Students will learn how measurement uncertainty, variability, sample size, and limitations affect what they can claim.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