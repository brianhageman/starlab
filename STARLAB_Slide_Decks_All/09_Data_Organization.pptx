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Lst>
  <p:sldSz cy="6858000" cx="12191675"/>
  <p:notesSz cx="6858000" cy="12191675"/>
  <p:embeddedFontLst>
    <p:embeddedFont>
      <p:font typeface="Play"/>
      <p:regular r:id="rId24"/>
      <p:bold r:id="rId2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font" Target="fonts/Play-regular.fntdata"/><Relationship Id="rId23" Type="http://schemas.openxmlformats.org/officeDocument/2006/relationships/slide" Target="slides/slide19.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25" Type="http://schemas.openxmlformats.org/officeDocument/2006/relationships/font" Target="fonts/Play-bold.fntdata"/><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11" Type="http://schemas.openxmlformats.org/officeDocument/2006/relationships/slide" Target="slides/slide7.xml"/><Relationship Id="rId10" Type="http://schemas.openxmlformats.org/officeDocument/2006/relationships/slide" Target="slides/slide6.xml"/><Relationship Id="rId13" Type="http://schemas.openxmlformats.org/officeDocument/2006/relationships/slide" Target="slides/slide9.xml"/><Relationship Id="rId12" Type="http://schemas.openxmlformats.org/officeDocument/2006/relationships/slide" Target="slides/slide8.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lang="en-US"/>
              <a:t>Teacher notes:</a:t>
            </a:r>
            <a:endParaRPr/>
          </a:p>
          <a:p>
            <a:pPr indent="-228600" lvl="0" marL="457200" marR="0" rtl="0" algn="l">
              <a:lnSpc>
                <a:spcPct val="100000"/>
              </a:lnSpc>
              <a:spcBef>
                <a:spcPts val="0"/>
              </a:spcBef>
              <a:spcAft>
                <a:spcPts val="0"/>
              </a:spcAft>
              <a:buSzPts val="1400"/>
              <a:buNone/>
            </a:pPr>
            <a:r>
              <a:rPr lang="en-US"/>
              <a:t>Use this cover slide as the program-branded entry point. Keep it brief. Say that today students will learn how to protect the integrity of their research by separating original records from working analysis copies. Student-facing prompt: ask students to turn to a partner and answer, “If someone opened your data file right now, would they know what each number means?”</a:t>
            </a:r>
            <a:endParaRPr/>
          </a:p>
          <a:p>
            <a:pPr indent="-228600" lvl="0" marL="457200" marR="0" rtl="0" algn="l">
              <a:lnSpc>
                <a:spcPct val="100000"/>
              </a:lnSpc>
              <a:spcBef>
                <a:spcPts val="0"/>
              </a:spcBef>
              <a:spcAft>
                <a:spcPts val="0"/>
              </a:spcAft>
              <a:buSzPts val="1400"/>
              <a:buNone/>
            </a:pPr>
            <a:r>
              <a:rPr lang="en-US"/>
              <a:t> </a:t>
            </a:r>
            <a:endParaRPr/>
          </a:p>
          <a:p>
            <a:pPr indent="-228600" lvl="0" marL="457200" marR="0" rtl="0" algn="l">
              <a:lnSpc>
                <a:spcPct val="100000"/>
              </a:lnSpc>
              <a:spcBef>
                <a:spcPts val="0"/>
              </a:spcBef>
              <a:spcAft>
                <a:spcPts val="0"/>
              </a:spcAft>
              <a:buSzPts val="1400"/>
              <a:buNone/>
            </a:pPr>
            <a:r>
              <a:rPr lang="en-US"/>
              <a:t>Resource alignment:</a:t>
            </a:r>
            <a:endParaRPr/>
          </a:p>
          <a:p>
            <a:pPr indent="-228600" lvl="0" marL="457200" marR="0" rtl="0" algn="l">
              <a:lnSpc>
                <a:spcPct val="100000"/>
              </a:lnSpc>
              <a:spcBef>
                <a:spcPts val="0"/>
              </a:spcBef>
              <a:spcAft>
                <a:spcPts val="0"/>
              </a:spcAft>
              <a:buSzPts val="1400"/>
              <a:buNone/>
            </a:pPr>
            <a:r>
              <a:rPr lang="en-US"/>
              <a:t>Use at the transition between Unit 3 and Unit 4, especially before Unit 4 Week 17 data organization begins. This deck prepares students for Unit 4 Student Handout 1: Raw Data Inventory and Unit 4 Student Handout 2: Clean Data Set Builder.</a:t>
            </a:r>
            <a:endParaRPr/>
          </a:p>
          <a:p>
            <a:pPr indent="-228600" lvl="0" marL="457200" marR="0" rtl="0" algn="l">
              <a:lnSpc>
                <a:spcPct val="100000"/>
              </a:lnSpc>
              <a:spcBef>
                <a:spcPts val="0"/>
              </a:spcBef>
              <a:spcAft>
                <a:spcPts val="0"/>
              </a:spcAft>
              <a:buSzPts val="1400"/>
              <a:buNone/>
            </a:pPr>
            <a:r>
              <a:rPr lang="en-US"/>
              <a:t>Next deck connection: Deck 10: Choosing the Right Data Analysis Method.</a:t>
            </a:r>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lang="en-US"/>
              <a:t>Print:</a:t>
            </a:r>
            <a:endParaRPr/>
          </a:p>
          <a:p>
            <a:pPr indent="-228600" lvl="0" marL="457200" marR="0" rtl="0" algn="l">
              <a:lnSpc>
                <a:spcPct val="100000"/>
              </a:lnSpc>
              <a:spcBef>
                <a:spcPts val="0"/>
              </a:spcBef>
              <a:spcAft>
                <a:spcPts val="0"/>
              </a:spcAft>
              <a:buSzPts val="1400"/>
              <a:buNone/>
            </a:pPr>
            <a:r>
              <a:rPr lang="en-US"/>
              <a:t>* **Unit 4 Student Handout 1: Raw Data Inventory**</a:t>
            </a:r>
            <a:endParaRPr/>
          </a:p>
          <a:p>
            <a:pPr indent="-228600" lvl="0" marL="457200" marR="0" rtl="0" algn="l">
              <a:lnSpc>
                <a:spcPct val="100000"/>
              </a:lnSpc>
              <a:spcBef>
                <a:spcPts val="0"/>
              </a:spcBef>
              <a:spcAft>
                <a:spcPts val="0"/>
              </a:spcAft>
              <a:buSzPts val="1400"/>
              <a:buNone/>
            </a:pPr>
            <a:r>
              <a:rPr lang="en-US"/>
              <a:t>* **Unit 4 Student Handout 2: Clean Data Set Builder**</a:t>
            </a:r>
            <a:endParaRPr/>
          </a:p>
          <a:p>
            <a:pPr indent="-228600" lvl="0" marL="457200" marR="0" rtl="0" algn="l">
              <a:lnSpc>
                <a:spcPct val="100000"/>
              </a:lnSpc>
              <a:spcBef>
                <a:spcPts val="0"/>
              </a:spcBef>
              <a:spcAft>
                <a:spcPts val="0"/>
              </a:spcAft>
              <a:buSzPts val="1400"/>
              <a:buNone/>
            </a:pPr>
            <a:r>
              <a:rPr lang="en-US"/>
              <a:t>* **Unit 4 Student Handout 3: Data Cleaning Decision Log**</a:t>
            </a:r>
            <a:endParaRPr/>
          </a:p>
          <a:p>
            <a:pPr indent="-228600" lvl="0" marL="457200" marR="0" rtl="0" algn="l">
              <a:lnSpc>
                <a:spcPct val="100000"/>
              </a:lnSpc>
              <a:spcBef>
                <a:spcPts val="0"/>
              </a:spcBef>
              <a:spcAft>
                <a:spcPts val="0"/>
              </a:spcAft>
              <a:buSzPts val="1400"/>
              <a:buNone/>
            </a:pPr>
            <a:r>
              <a:rPr lang="en-US"/>
              <a:t>* **Unit 4 Student Handout 4: Week 17 Data Audit**</a:t>
            </a:r>
            <a:endParaRPr/>
          </a:p>
          <a:p>
            <a:pPr indent="-228600" lvl="0" marL="457200" marR="0" rtl="0" algn="l">
              <a:lnSpc>
                <a:spcPct val="100000"/>
              </a:lnSpc>
              <a:spcBef>
                <a:spcPts val="0"/>
              </a:spcBef>
              <a:spcAft>
                <a:spcPts val="0"/>
              </a:spcAft>
              <a:buSzPts val="1400"/>
              <a:buNone/>
            </a:pPr>
            <a:r>
              <a:rPr lang="en-US"/>
              <a:t>* **Unit 4 Appendix A: Raw Data vs. Clean Data**</a:t>
            </a:r>
            <a:endParaRPr/>
          </a:p>
          <a:p>
            <a:pPr indent="-228600" lvl="0" marL="457200" marR="0" rtl="0" algn="l">
              <a:lnSpc>
                <a:spcPct val="100000"/>
              </a:lnSpc>
              <a:spcBef>
                <a:spcPts val="0"/>
              </a:spcBef>
              <a:spcAft>
                <a:spcPts val="0"/>
              </a:spcAft>
              <a:buSzPts val="1400"/>
              <a:buNone/>
            </a:pPr>
            <a:r>
              <a:rPr lang="en-US"/>
              <a:t>* **Unit 4 Appendix B: Data Cleaning Rules**</a:t>
            </a:r>
            <a:endParaRPr/>
          </a:p>
          <a:p>
            <a:pPr indent="-228600" lvl="0" marL="457200" marR="0" rtl="0" algn="l">
              <a:lnSpc>
                <a:spcPct val="100000"/>
              </a:lnSpc>
              <a:spcBef>
                <a:spcPts val="0"/>
              </a:spcBef>
              <a:spcAft>
                <a:spcPts val="0"/>
              </a:spcAft>
              <a:buSzPts val="1400"/>
              <a:buNone/>
            </a:pPr>
            <a:r>
              <a:rPr lang="en-US"/>
              <a:t>* **Unit 4 Appendix C: Common Data Organization Problems**</a:t>
            </a:r>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lang="en-US"/>
              <a:t>Optional but useful if using Deck 9 as a bridge from Unit 3 into Unit 4:</a:t>
            </a:r>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lang="en-US"/>
              <a:t>* **Unit 3 Student Handout 17: Data Audit and Organization Checklist**</a:t>
            </a:r>
            <a:endParaRPr/>
          </a:p>
          <a:p>
            <a:pPr indent="-228600" lvl="0" marL="457200" marR="0" rtl="0" algn="l">
              <a:lnSpc>
                <a:spcPct val="100000"/>
              </a:lnSpc>
              <a:spcBef>
                <a:spcPts val="0"/>
              </a:spcBef>
              <a:spcAft>
                <a:spcPts val="0"/>
              </a:spcAft>
              <a:buSzPts val="1400"/>
              <a:buNone/>
            </a:pPr>
            <a:r>
              <a:rPr lang="en-US"/>
              <a:t>* **Unit 3 Student Handout 18: Unit 3 Readiness for Analysis Review**</a:t>
            </a:r>
            <a:endParaRPr/>
          </a:p>
          <a:p>
            <a:pPr indent="-228600" lvl="0" marL="457200" marR="0" rtl="0" algn="l">
              <a:lnSpc>
                <a:spcPct val="100000"/>
              </a:lnSpc>
              <a:spcBef>
                <a:spcPts val="0"/>
              </a:spcBef>
              <a:spcAft>
                <a:spcPts val="0"/>
              </a:spcAft>
              <a:buSzPts val="1400"/>
              <a:buNone/>
            </a:pPr>
            <a:r>
              <a:rPr lang="en-US"/>
              <a:t>* **Unit 3 Appendix Q: File and Data Organization Standards**</a:t>
            </a:r>
            <a:endParaRPr/>
          </a:p>
          <a:p>
            <a:pPr indent="-228600" lvl="0" marL="457200" marR="0" rtl="0" algn="l">
              <a:lnSpc>
                <a:spcPct val="100000"/>
              </a:lnSpc>
              <a:spcBef>
                <a:spcPts val="0"/>
              </a:spcBef>
              <a:spcAft>
                <a:spcPts val="0"/>
              </a:spcAft>
              <a:buSzPts val="1400"/>
              <a:buNone/>
            </a:pPr>
            <a:r>
              <a:rPr lang="en-US"/>
              <a:t>* **Unit 3 Appendix R: Raw Data vs. Clean Data**</a:t>
            </a:r>
            <a:endParaRPr/>
          </a:p>
          <a:p>
            <a:pPr indent="-228600" lvl="0" marL="457200" marR="0" rtl="0" algn="l">
              <a:lnSpc>
                <a:spcPct val="100000"/>
              </a:lnSpc>
              <a:spcBef>
                <a:spcPts val="0"/>
              </a:spcBef>
              <a:spcAft>
                <a:spcPts val="0"/>
              </a:spcAft>
              <a:buSzPts val="1400"/>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 name="Google Shape;24;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lang="en-US"/>
              <a:t>Teacher notes:</a:t>
            </a:r>
            <a:endParaRPr/>
          </a:p>
          <a:p>
            <a:pPr indent="-228600" lvl="0" marL="457200" marR="0" rtl="0" algn="l">
              <a:lnSpc>
                <a:spcPct val="100000"/>
              </a:lnSpc>
              <a:spcBef>
                <a:spcPts val="0"/>
              </a:spcBef>
              <a:spcAft>
                <a:spcPts val="0"/>
              </a:spcAft>
              <a:buSzPts val="1400"/>
              <a:buNone/>
            </a:pPr>
            <a:r>
              <a:rPr lang="en-US"/>
              <a:t>Frame this lesson as a bridge between Unit 3 data collection and Unit 4 analysis. Do not let students jump directly into graphing if their data are not understandable. Have students open or think of their current data location and predict one issue they may need to fix today.</a:t>
            </a:r>
            <a:endParaRPr/>
          </a:p>
          <a:p>
            <a:pPr indent="-228600" lvl="0" marL="457200" marR="0" rtl="0" algn="l">
              <a:lnSpc>
                <a:spcPct val="100000"/>
              </a:lnSpc>
              <a:spcBef>
                <a:spcPts val="0"/>
              </a:spcBef>
              <a:spcAft>
                <a:spcPts val="0"/>
              </a:spcAft>
              <a:buSzPts val="1400"/>
              <a:buNone/>
            </a:pPr>
            <a:r>
              <a:rPr lang="en-US"/>
              <a:t> </a:t>
            </a:r>
            <a:endParaRPr/>
          </a:p>
          <a:p>
            <a:pPr indent="-228600" lvl="0" marL="457200" marR="0" rtl="0" algn="l">
              <a:lnSpc>
                <a:spcPct val="100000"/>
              </a:lnSpc>
              <a:spcBef>
                <a:spcPts val="0"/>
              </a:spcBef>
              <a:spcAft>
                <a:spcPts val="0"/>
              </a:spcAft>
              <a:buSzPts val="1400"/>
              <a:buNone/>
            </a:pPr>
            <a:r>
              <a:rPr lang="en-US"/>
              <a:t>Resource alignment:</a:t>
            </a:r>
            <a:endParaRPr/>
          </a:p>
          <a:p>
            <a:pPr indent="-228600" lvl="0" marL="457200" marR="0" rtl="0" algn="l">
              <a:lnSpc>
                <a:spcPct val="100000"/>
              </a:lnSpc>
              <a:spcBef>
                <a:spcPts val="0"/>
              </a:spcBef>
              <a:spcAft>
                <a:spcPts val="0"/>
              </a:spcAft>
              <a:buSzPts val="1400"/>
              <a:buNone/>
            </a:pPr>
            <a:r>
              <a:rPr lang="en-US"/>
              <a:t>Use with Unit 4 Student Handout 1: Raw Data Inventory and Unit 4 Student Handout 2: Clean Data Set Builder. This slide introduces the target for Unit 4 Week 17: locate raw data, preserve it, create a clean working copy, flag questionable data, and make labels/units consistent.</a:t>
            </a:r>
            <a:endParaRPr/>
          </a:p>
        </p:txBody>
      </p:sp>
      <p:sp>
        <p:nvSpPr>
          <p:cNvPr id="25" name="Google Shape;25;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 name="Shape 48"/>
        <p:cNvGrpSpPr/>
        <p:nvPr/>
      </p:nvGrpSpPr>
      <p:grpSpPr>
        <a:xfrm>
          <a:off x="0" y="0"/>
          <a:ext cx="0" cy="0"/>
          <a:chOff x="0" y="0"/>
          <a:chExt cx="0" cy="0"/>
        </a:xfrm>
      </p:grpSpPr>
      <p:sp>
        <p:nvSpPr>
          <p:cNvPr id="49" name="Google Shape;49;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 name="Google Shape;50;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lang="en-US"/>
              <a:t>Teacher notes:</a:t>
            </a:r>
            <a:endParaRPr/>
          </a:p>
          <a:p>
            <a:pPr indent="-228600" lvl="0" marL="457200" marR="0" rtl="0" algn="l">
              <a:lnSpc>
                <a:spcPct val="100000"/>
              </a:lnSpc>
              <a:spcBef>
                <a:spcPts val="0"/>
              </a:spcBef>
              <a:spcAft>
                <a:spcPts val="0"/>
              </a:spcAft>
              <a:buSzPts val="1400"/>
              <a:buNone/>
            </a:pPr>
            <a:r>
              <a:rPr lang="en-US"/>
              <a:t>Emphasize that the issue is not whether students are smart enough to analyze data. The issue is whether the evidence has been protected and labeled well enough to analyze honestly. Ask students to circle which listed issue has already appeared in their project.</a:t>
            </a:r>
            <a:endParaRPr/>
          </a:p>
          <a:p>
            <a:pPr indent="-228600" lvl="0" marL="457200" marR="0" rtl="0" algn="l">
              <a:lnSpc>
                <a:spcPct val="100000"/>
              </a:lnSpc>
              <a:spcBef>
                <a:spcPts val="0"/>
              </a:spcBef>
              <a:spcAft>
                <a:spcPts val="0"/>
              </a:spcAft>
              <a:buSzPts val="1400"/>
              <a:buNone/>
            </a:pPr>
            <a:r>
              <a:rPr lang="en-US"/>
              <a:t> </a:t>
            </a:r>
            <a:endParaRPr/>
          </a:p>
          <a:p>
            <a:pPr indent="-228600" lvl="0" marL="457200" marR="0" rtl="0" algn="l">
              <a:lnSpc>
                <a:spcPct val="100000"/>
              </a:lnSpc>
              <a:spcBef>
                <a:spcPts val="0"/>
              </a:spcBef>
              <a:spcAft>
                <a:spcPts val="0"/>
              </a:spcAft>
              <a:buSzPts val="1400"/>
              <a:buNone/>
            </a:pPr>
            <a:r>
              <a:rPr lang="en-US"/>
              <a:t>Resource alignment:</a:t>
            </a:r>
            <a:endParaRPr/>
          </a:p>
          <a:p>
            <a:pPr indent="-228600" lvl="0" marL="457200" marR="0" rtl="0" algn="l">
              <a:lnSpc>
                <a:spcPct val="100000"/>
              </a:lnSpc>
              <a:spcBef>
                <a:spcPts val="0"/>
              </a:spcBef>
              <a:spcAft>
                <a:spcPts val="0"/>
              </a:spcAft>
              <a:buSzPts val="1400"/>
              <a:buNone/>
            </a:pPr>
            <a:r>
              <a:rPr lang="en-US"/>
              <a:t>Use with Unit 4 Appendix C: Common Data Organization Problems. This slide also supports Unit 3 Student Handout 17: Data Audit and Organization Checklist if you are using the deck before Unit 4 officially begins.</a:t>
            </a:r>
            <a:endParaRPr/>
          </a:p>
        </p:txBody>
      </p:sp>
      <p:sp>
        <p:nvSpPr>
          <p:cNvPr id="51" name="Google Shape;51;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 name="Shape 66"/>
        <p:cNvGrpSpPr/>
        <p:nvPr/>
      </p:nvGrpSpPr>
      <p:grpSpPr>
        <a:xfrm>
          <a:off x="0" y="0"/>
          <a:ext cx="0" cy="0"/>
          <a:chOff x="0" y="0"/>
          <a:chExt cx="0" cy="0"/>
        </a:xfrm>
      </p:grpSpPr>
      <p:sp>
        <p:nvSpPr>
          <p:cNvPr id="67" name="Google Shape;67;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8" name="Google Shape;68;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lang="en-US"/>
              <a:t>Teacher notes:</a:t>
            </a:r>
            <a:endParaRPr/>
          </a:p>
          <a:p>
            <a:pPr indent="-228600" lvl="0" marL="457200" marR="0" rtl="0" algn="l">
              <a:lnSpc>
                <a:spcPct val="100000"/>
              </a:lnSpc>
              <a:spcBef>
                <a:spcPts val="0"/>
              </a:spcBef>
              <a:spcAft>
                <a:spcPts val="0"/>
              </a:spcAft>
              <a:buSzPts val="1400"/>
              <a:buNone/>
            </a:pPr>
            <a:r>
              <a:rPr lang="en-US"/>
              <a:t>Give students 8–12 minutes to list all evidence locations. For students with physical notebooks, have them mark pages with sticky tabs. For digital files, require exact file names, folder paths, or links. Push students to include evidence beyond spreadsheets: photos, videos, mentor emails, prototype notes, screenshots, and sensor files.</a:t>
            </a:r>
            <a:endParaRPr/>
          </a:p>
          <a:p>
            <a:pPr indent="-228600" lvl="0" marL="457200" marR="0" rtl="0" algn="l">
              <a:lnSpc>
                <a:spcPct val="100000"/>
              </a:lnSpc>
              <a:spcBef>
                <a:spcPts val="0"/>
              </a:spcBef>
              <a:spcAft>
                <a:spcPts val="0"/>
              </a:spcAft>
              <a:buSzPts val="1400"/>
              <a:buNone/>
            </a:pPr>
            <a:r>
              <a:rPr lang="en-US"/>
              <a:t> </a:t>
            </a:r>
            <a:endParaRPr/>
          </a:p>
          <a:p>
            <a:pPr indent="-228600" lvl="0" marL="457200" marR="0" rtl="0" algn="l">
              <a:lnSpc>
                <a:spcPct val="100000"/>
              </a:lnSpc>
              <a:spcBef>
                <a:spcPts val="0"/>
              </a:spcBef>
              <a:spcAft>
                <a:spcPts val="0"/>
              </a:spcAft>
              <a:buSzPts val="1400"/>
              <a:buNone/>
            </a:pPr>
            <a:r>
              <a:rPr lang="en-US"/>
              <a:t>Resource alignment:</a:t>
            </a:r>
            <a:endParaRPr/>
          </a:p>
          <a:p>
            <a:pPr indent="-228600" lvl="0" marL="457200" marR="0" rtl="0" algn="l">
              <a:lnSpc>
                <a:spcPct val="100000"/>
              </a:lnSpc>
              <a:spcBef>
                <a:spcPts val="0"/>
              </a:spcBef>
              <a:spcAft>
                <a:spcPts val="0"/>
              </a:spcAft>
              <a:buSzPts val="1400"/>
              <a:buNone/>
            </a:pPr>
            <a:r>
              <a:rPr lang="en-US"/>
              <a:t>Use directly with Unit 4 Student Handout 1: Raw Data Inventory. This activity matches Unit 4 Week 17 Day 1. Optional bridge: Unit 3 Student Handout 17: Data Audit and Organization Checklist.</a:t>
            </a:r>
            <a:endParaRPr/>
          </a:p>
        </p:txBody>
      </p:sp>
      <p:sp>
        <p:nvSpPr>
          <p:cNvPr id="69" name="Google Shape;69;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 name="Shape 85"/>
        <p:cNvGrpSpPr/>
        <p:nvPr/>
      </p:nvGrpSpPr>
      <p:grpSpPr>
        <a:xfrm>
          <a:off x="0" y="0"/>
          <a:ext cx="0" cy="0"/>
          <a:chOff x="0" y="0"/>
          <a:chExt cx="0" cy="0"/>
        </a:xfrm>
      </p:grpSpPr>
      <p:sp>
        <p:nvSpPr>
          <p:cNvPr id="86" name="Google Shape;86;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 name="Google Shape;87;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lang="en-US"/>
              <a:t>Teacher notes:</a:t>
            </a:r>
            <a:endParaRPr/>
          </a:p>
          <a:p>
            <a:pPr indent="-228600" lvl="0" marL="457200" marR="0" rtl="0" algn="l">
              <a:lnSpc>
                <a:spcPct val="100000"/>
              </a:lnSpc>
              <a:spcBef>
                <a:spcPts val="0"/>
              </a:spcBef>
              <a:spcAft>
                <a:spcPts val="0"/>
              </a:spcAft>
              <a:buSzPts val="1400"/>
              <a:buNone/>
            </a:pPr>
            <a:r>
              <a:rPr lang="en-US"/>
              <a:t>Raw data are the evidence trail. Students should understand that raw data can be messy and still valuable. Ask students to identify one example of raw data from their own project and where it is stored.</a:t>
            </a:r>
            <a:endParaRPr/>
          </a:p>
          <a:p>
            <a:pPr indent="-228600" lvl="0" marL="457200" marR="0" rtl="0" algn="l">
              <a:lnSpc>
                <a:spcPct val="100000"/>
              </a:lnSpc>
              <a:spcBef>
                <a:spcPts val="0"/>
              </a:spcBef>
              <a:spcAft>
                <a:spcPts val="0"/>
              </a:spcAft>
              <a:buSzPts val="1400"/>
              <a:buNone/>
            </a:pPr>
            <a:r>
              <a:rPr lang="en-US"/>
              <a:t> </a:t>
            </a:r>
            <a:endParaRPr/>
          </a:p>
          <a:p>
            <a:pPr indent="-228600" lvl="0" marL="457200" marR="0" rtl="0" algn="l">
              <a:lnSpc>
                <a:spcPct val="100000"/>
              </a:lnSpc>
              <a:spcBef>
                <a:spcPts val="0"/>
              </a:spcBef>
              <a:spcAft>
                <a:spcPts val="0"/>
              </a:spcAft>
              <a:buSzPts val="1400"/>
              <a:buNone/>
            </a:pPr>
            <a:r>
              <a:rPr lang="en-US"/>
              <a:t>Resource alignment:</a:t>
            </a:r>
            <a:endParaRPr/>
          </a:p>
          <a:p>
            <a:pPr indent="-228600" lvl="0" marL="457200" marR="0" rtl="0" algn="l">
              <a:lnSpc>
                <a:spcPct val="100000"/>
              </a:lnSpc>
              <a:spcBef>
                <a:spcPts val="0"/>
              </a:spcBef>
              <a:spcAft>
                <a:spcPts val="0"/>
              </a:spcAft>
              <a:buSzPts val="1400"/>
              <a:buNone/>
            </a:pPr>
            <a:r>
              <a:rPr lang="en-US"/>
              <a:t>Use with Unit 4 Appendix A: Raw Data vs. Clean Data. This slide helps students preserve original records before completing Unit 4 Student Handout 2: Clean Data Set Builder.</a:t>
            </a:r>
            <a:endParaRPr/>
          </a:p>
        </p:txBody>
      </p:sp>
      <p:sp>
        <p:nvSpPr>
          <p:cNvPr id="88" name="Google Shape;88;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 name="Google Shape;105;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lang="en-US"/>
              <a:t>Teacher notes:</a:t>
            </a:r>
            <a:endParaRPr/>
          </a:p>
          <a:p>
            <a:pPr indent="-228600" lvl="0" marL="457200" marR="0" rtl="0" algn="l">
              <a:lnSpc>
                <a:spcPct val="100000"/>
              </a:lnSpc>
              <a:spcBef>
                <a:spcPts val="0"/>
              </a:spcBef>
              <a:spcAft>
                <a:spcPts val="0"/>
              </a:spcAft>
              <a:buSzPts val="1400"/>
              <a:buNone/>
            </a:pPr>
            <a:r>
              <a:rPr lang="en-US"/>
              <a:t>Stress that clean data are a copy, not a replacement. Cleaning is about transparency and structure, not making results look better. Ask students to write a one-sentence definition of clean data in their own words.</a:t>
            </a:r>
            <a:endParaRPr/>
          </a:p>
          <a:p>
            <a:pPr indent="-228600" lvl="0" marL="457200" marR="0" rtl="0" algn="l">
              <a:lnSpc>
                <a:spcPct val="100000"/>
              </a:lnSpc>
              <a:spcBef>
                <a:spcPts val="0"/>
              </a:spcBef>
              <a:spcAft>
                <a:spcPts val="0"/>
              </a:spcAft>
              <a:buSzPts val="1400"/>
              <a:buNone/>
            </a:pPr>
            <a:r>
              <a:rPr lang="en-US"/>
              <a:t> </a:t>
            </a:r>
            <a:endParaRPr/>
          </a:p>
          <a:p>
            <a:pPr indent="-228600" lvl="0" marL="457200" marR="0" rtl="0" algn="l">
              <a:lnSpc>
                <a:spcPct val="100000"/>
              </a:lnSpc>
              <a:spcBef>
                <a:spcPts val="0"/>
              </a:spcBef>
              <a:spcAft>
                <a:spcPts val="0"/>
              </a:spcAft>
              <a:buSzPts val="1400"/>
              <a:buNone/>
            </a:pPr>
            <a:r>
              <a:rPr lang="en-US"/>
              <a:t>Resource alignment:</a:t>
            </a:r>
            <a:endParaRPr/>
          </a:p>
          <a:p>
            <a:pPr indent="-228600" lvl="0" marL="457200" marR="0" rtl="0" algn="l">
              <a:lnSpc>
                <a:spcPct val="100000"/>
              </a:lnSpc>
              <a:spcBef>
                <a:spcPts val="0"/>
              </a:spcBef>
              <a:spcAft>
                <a:spcPts val="0"/>
              </a:spcAft>
              <a:buSzPts val="1400"/>
              <a:buNone/>
            </a:pPr>
            <a:r>
              <a:rPr lang="en-US"/>
              <a:t>Use with Unit 4 Appendix A: Raw Data vs. Clean Data and Unit 4 Student Handout 2: Clean Data Set Builder. This slide prepares students to create an analysis-ready working copy without overwriting raw data.</a:t>
            </a:r>
            <a:endParaRPr/>
          </a:p>
        </p:txBody>
      </p:sp>
      <p:sp>
        <p:nvSpPr>
          <p:cNvPr id="106" name="Google Shape;106;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 name="Google Shape;123;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lang="en-US"/>
              <a:t>Teacher notes:</a:t>
            </a:r>
            <a:endParaRPr/>
          </a:p>
          <a:p>
            <a:pPr indent="-228600" lvl="0" marL="457200" marR="0" rtl="0" algn="l">
              <a:lnSpc>
                <a:spcPct val="100000"/>
              </a:lnSpc>
              <a:spcBef>
                <a:spcPts val="0"/>
              </a:spcBef>
              <a:spcAft>
                <a:spcPts val="0"/>
              </a:spcAft>
              <a:buSzPts val="1400"/>
              <a:buNone/>
            </a:pPr>
            <a:r>
              <a:rPr lang="en-US"/>
              <a:t>This is the central process slide. Walk through the pipeline slowly and make clear that analysis begins only after raw data have been preserved and a clean working copy exists. Have students identify which stage they are currently in.</a:t>
            </a:r>
            <a:endParaRPr/>
          </a:p>
          <a:p>
            <a:pPr indent="-228600" lvl="0" marL="457200" marR="0" rtl="0" algn="l">
              <a:lnSpc>
                <a:spcPct val="100000"/>
              </a:lnSpc>
              <a:spcBef>
                <a:spcPts val="0"/>
              </a:spcBef>
              <a:spcAft>
                <a:spcPts val="0"/>
              </a:spcAft>
              <a:buSzPts val="1400"/>
              <a:buNone/>
            </a:pPr>
            <a:r>
              <a:rPr lang="en-US"/>
              <a:t> </a:t>
            </a:r>
            <a:endParaRPr/>
          </a:p>
          <a:p>
            <a:pPr indent="-228600" lvl="0" marL="457200" marR="0" rtl="0" algn="l">
              <a:lnSpc>
                <a:spcPct val="100000"/>
              </a:lnSpc>
              <a:spcBef>
                <a:spcPts val="0"/>
              </a:spcBef>
              <a:spcAft>
                <a:spcPts val="0"/>
              </a:spcAft>
              <a:buSzPts val="1400"/>
              <a:buNone/>
            </a:pPr>
            <a:r>
              <a:rPr lang="en-US"/>
              <a:t>Resource alignment:</a:t>
            </a:r>
            <a:endParaRPr/>
          </a:p>
          <a:p>
            <a:pPr indent="-228600" lvl="0" marL="457200" marR="0" rtl="0" algn="l">
              <a:lnSpc>
                <a:spcPct val="100000"/>
              </a:lnSpc>
              <a:spcBef>
                <a:spcPts val="0"/>
              </a:spcBef>
              <a:spcAft>
                <a:spcPts val="0"/>
              </a:spcAft>
              <a:buSzPts val="1400"/>
              <a:buNone/>
            </a:pPr>
            <a:r>
              <a:rPr lang="en-US"/>
              <a:t>Use with Unit 4 Appendix B: Data Cleaning Rules. Also supports Unit 4 Student Handout 3: Data Cleaning Decision Log because students must document what changes between raw data and clean data.</a:t>
            </a:r>
            <a:endParaRPr/>
          </a:p>
        </p:txBody>
      </p:sp>
      <p:sp>
        <p:nvSpPr>
          <p:cNvPr id="124" name="Google Shape;124;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 name="Google Shape;162;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lang="en-US"/>
              <a:t>Teacher notes:</a:t>
            </a:r>
            <a:endParaRPr/>
          </a:p>
          <a:p>
            <a:pPr indent="-228600" lvl="0" marL="457200" marR="0" rtl="0" algn="l">
              <a:lnSpc>
                <a:spcPct val="100000"/>
              </a:lnSpc>
              <a:spcBef>
                <a:spcPts val="0"/>
              </a:spcBef>
              <a:spcAft>
                <a:spcPts val="0"/>
              </a:spcAft>
              <a:buSzPts val="1400"/>
              <a:buNone/>
            </a:pPr>
            <a:r>
              <a:rPr lang="en-US"/>
              <a:t>Connect this slide to the Clean Data Set Builder handout. If students are using photos or qualitative data, translate these fields: image number, condition, observation, code/category, and notes. Have students add any missing columns to their current data table.</a:t>
            </a:r>
            <a:endParaRPr/>
          </a:p>
          <a:p>
            <a:pPr indent="-228600" lvl="0" marL="457200" marR="0" rtl="0" algn="l">
              <a:lnSpc>
                <a:spcPct val="100000"/>
              </a:lnSpc>
              <a:spcBef>
                <a:spcPts val="0"/>
              </a:spcBef>
              <a:spcAft>
                <a:spcPts val="0"/>
              </a:spcAft>
              <a:buSzPts val="1400"/>
              <a:buNone/>
            </a:pPr>
            <a:r>
              <a:rPr lang="en-US"/>
              <a:t> </a:t>
            </a:r>
            <a:endParaRPr/>
          </a:p>
          <a:p>
            <a:pPr indent="-228600" lvl="0" marL="457200" marR="0" rtl="0" algn="l">
              <a:lnSpc>
                <a:spcPct val="100000"/>
              </a:lnSpc>
              <a:spcBef>
                <a:spcPts val="0"/>
              </a:spcBef>
              <a:spcAft>
                <a:spcPts val="0"/>
              </a:spcAft>
              <a:buSzPts val="1400"/>
              <a:buNone/>
            </a:pPr>
            <a:r>
              <a:rPr lang="en-US"/>
              <a:t>Resource alignment:</a:t>
            </a:r>
            <a:endParaRPr/>
          </a:p>
          <a:p>
            <a:pPr indent="-228600" lvl="0" marL="457200" marR="0" rtl="0" algn="l">
              <a:lnSpc>
                <a:spcPct val="100000"/>
              </a:lnSpc>
              <a:spcBef>
                <a:spcPts val="0"/>
              </a:spcBef>
              <a:spcAft>
                <a:spcPts val="0"/>
              </a:spcAft>
              <a:buSzPts val="1400"/>
              <a:buNone/>
            </a:pPr>
            <a:r>
              <a:rPr lang="en-US"/>
              <a:t>Use with Unit 4 Student Handout 2: Clean Data Set Builder. This slide also supports Unit 4 Appendix C: Common Data Organization Problems by helping students catch missing labels, units, trial numbers, and notes columns.</a:t>
            </a:r>
            <a:endParaRPr/>
          </a:p>
        </p:txBody>
      </p:sp>
      <p:sp>
        <p:nvSpPr>
          <p:cNvPr id="163" name="Google Shape;163;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2" name="Google Shape;192;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lang="en-US"/>
              <a:t>Teacher notes:</a:t>
            </a:r>
            <a:endParaRPr/>
          </a:p>
          <a:p>
            <a:pPr indent="-228600" lvl="0" marL="457200" marR="0" rtl="0" algn="l">
              <a:lnSpc>
                <a:spcPct val="100000"/>
              </a:lnSpc>
              <a:spcBef>
                <a:spcPts val="0"/>
              </a:spcBef>
              <a:spcAft>
                <a:spcPts val="0"/>
              </a:spcAft>
              <a:buSzPts val="1400"/>
              <a:buNone/>
            </a:pPr>
            <a:r>
              <a:rPr lang="en-US"/>
              <a:t>This slide should feel procedural and non-negotiable. Students should leave knowing that the raw data file stays untouched. Have students create a duplicate of their current spreadsheet or folder before making any changes.</a:t>
            </a:r>
            <a:endParaRPr/>
          </a:p>
          <a:p>
            <a:pPr indent="-228600" lvl="0" marL="457200" marR="0" rtl="0" algn="l">
              <a:lnSpc>
                <a:spcPct val="100000"/>
              </a:lnSpc>
              <a:spcBef>
                <a:spcPts val="0"/>
              </a:spcBef>
              <a:spcAft>
                <a:spcPts val="0"/>
              </a:spcAft>
              <a:buSzPts val="1400"/>
              <a:buNone/>
            </a:pPr>
            <a:r>
              <a:rPr lang="en-US"/>
              <a:t> </a:t>
            </a:r>
            <a:endParaRPr/>
          </a:p>
          <a:p>
            <a:pPr indent="-228600" lvl="0" marL="457200" marR="0" rtl="0" algn="l">
              <a:lnSpc>
                <a:spcPct val="100000"/>
              </a:lnSpc>
              <a:spcBef>
                <a:spcPts val="0"/>
              </a:spcBef>
              <a:spcAft>
                <a:spcPts val="0"/>
              </a:spcAft>
              <a:buSzPts val="1400"/>
              <a:buNone/>
            </a:pPr>
            <a:r>
              <a:rPr lang="en-US"/>
              <a:t>Resource alignment:</a:t>
            </a:r>
            <a:endParaRPr/>
          </a:p>
          <a:p>
            <a:pPr indent="-228600" lvl="0" marL="457200" marR="0" rtl="0" algn="l">
              <a:lnSpc>
                <a:spcPct val="100000"/>
              </a:lnSpc>
              <a:spcBef>
                <a:spcPts val="0"/>
              </a:spcBef>
              <a:spcAft>
                <a:spcPts val="0"/>
              </a:spcAft>
              <a:buSzPts val="1400"/>
              <a:buNone/>
            </a:pPr>
            <a:r>
              <a:rPr lang="en-US"/>
              <a:t>Use with Unit 4 Appendix B: Data Cleaning Rules and Unit 4 Student Handout 3: Data Cleaning Decision Log. This slide reinforces the rule that raw data must be preserved before cleaning begins.</a:t>
            </a:r>
            <a:endParaRPr/>
          </a:p>
        </p:txBody>
      </p:sp>
      <p:sp>
        <p:nvSpPr>
          <p:cNvPr id="193" name="Google Shape;193;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 name="Shape 219"/>
        <p:cNvGrpSpPr/>
        <p:nvPr/>
      </p:nvGrpSpPr>
      <p:grpSpPr>
        <a:xfrm>
          <a:off x="0" y="0"/>
          <a:ext cx="0" cy="0"/>
          <a:chOff x="0" y="0"/>
          <a:chExt cx="0" cy="0"/>
        </a:xfrm>
      </p:grpSpPr>
      <p:sp>
        <p:nvSpPr>
          <p:cNvPr id="220" name="Google Shape;220;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1" name="Google Shape;221;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lang="en-US"/>
              <a:t>Teacher notes:</a:t>
            </a:r>
            <a:endParaRPr/>
          </a:p>
          <a:p>
            <a:pPr indent="-228600" lvl="0" marL="457200" marR="0" rtl="0" algn="l">
              <a:lnSpc>
                <a:spcPct val="100000"/>
              </a:lnSpc>
              <a:spcBef>
                <a:spcPts val="0"/>
              </a:spcBef>
              <a:spcAft>
                <a:spcPts val="0"/>
              </a:spcAft>
              <a:buSzPts val="1400"/>
              <a:buNone/>
            </a:pPr>
            <a:r>
              <a:rPr lang="en-US"/>
              <a:t>This is a quick visible practice before students audit their own data. Ask students to identify issues first, not solve immediately. In pairs, students should list at least five problems and decide whether each is a labeling issue, missing information, flagging issue, or possible cleaning decision.</a:t>
            </a:r>
            <a:endParaRPr/>
          </a:p>
          <a:p>
            <a:pPr indent="-228600" lvl="0" marL="457200" marR="0" rtl="0" algn="l">
              <a:lnSpc>
                <a:spcPct val="100000"/>
              </a:lnSpc>
              <a:spcBef>
                <a:spcPts val="0"/>
              </a:spcBef>
              <a:spcAft>
                <a:spcPts val="0"/>
              </a:spcAft>
              <a:buSzPts val="1400"/>
              <a:buNone/>
            </a:pPr>
            <a:r>
              <a:rPr lang="en-US"/>
              <a:t> </a:t>
            </a:r>
            <a:endParaRPr/>
          </a:p>
          <a:p>
            <a:pPr indent="-228600" lvl="0" marL="457200" marR="0" rtl="0" algn="l">
              <a:lnSpc>
                <a:spcPct val="100000"/>
              </a:lnSpc>
              <a:spcBef>
                <a:spcPts val="0"/>
              </a:spcBef>
              <a:spcAft>
                <a:spcPts val="0"/>
              </a:spcAft>
              <a:buSzPts val="1400"/>
              <a:buNone/>
            </a:pPr>
            <a:r>
              <a:rPr lang="en-US"/>
              <a:t>Resource alignment:</a:t>
            </a:r>
            <a:endParaRPr/>
          </a:p>
          <a:p>
            <a:pPr indent="-228600" lvl="0" marL="457200" marR="0" rtl="0" algn="l">
              <a:lnSpc>
                <a:spcPct val="100000"/>
              </a:lnSpc>
              <a:spcBef>
                <a:spcPts val="0"/>
              </a:spcBef>
              <a:spcAft>
                <a:spcPts val="0"/>
              </a:spcAft>
              <a:buSzPts val="1400"/>
              <a:buNone/>
            </a:pPr>
            <a:r>
              <a:rPr lang="en-US"/>
              <a:t>Use with Unit 4 Student Handout 3: Data Cleaning Decision Log and Unit 4 Appendix C: Common Data Organization Problems. This activity matches Unit 4 Week 17 Day 3.</a:t>
            </a:r>
            <a:endParaRPr/>
          </a:p>
        </p:txBody>
      </p:sp>
      <p:sp>
        <p:nvSpPr>
          <p:cNvPr id="222" name="Google Shape;222;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 name="Shape 261"/>
        <p:cNvGrpSpPr/>
        <p:nvPr/>
      </p:nvGrpSpPr>
      <p:grpSpPr>
        <a:xfrm>
          <a:off x="0" y="0"/>
          <a:ext cx="0" cy="0"/>
          <a:chOff x="0" y="0"/>
          <a:chExt cx="0" cy="0"/>
        </a:xfrm>
      </p:grpSpPr>
      <p:sp>
        <p:nvSpPr>
          <p:cNvPr id="262" name="Google Shape;262;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3" name="Google Shape;263;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lang="en-US"/>
              <a:t>Teacher notes:</a:t>
            </a:r>
            <a:endParaRPr/>
          </a:p>
          <a:p>
            <a:pPr indent="-228600" lvl="0" marL="457200" marR="0" rtl="0" algn="l">
              <a:lnSpc>
                <a:spcPct val="100000"/>
              </a:lnSpc>
              <a:spcBef>
                <a:spcPts val="0"/>
              </a:spcBef>
              <a:spcAft>
                <a:spcPts val="0"/>
              </a:spcAft>
              <a:buSzPts val="1400"/>
              <a:buNone/>
            </a:pPr>
            <a:r>
              <a:rPr lang="en-US"/>
              <a:t>This slide matches the Data Cleaning Decision Log. Emphasize that cleaning decisions are not a sign of weakness; they are how researchers maintain transparency. Have students add one real cleaning decision from their own project to the decision log.</a:t>
            </a:r>
            <a:endParaRPr/>
          </a:p>
          <a:p>
            <a:pPr indent="-228600" lvl="0" marL="457200" marR="0" rtl="0" algn="l">
              <a:lnSpc>
                <a:spcPct val="100000"/>
              </a:lnSpc>
              <a:spcBef>
                <a:spcPts val="0"/>
              </a:spcBef>
              <a:spcAft>
                <a:spcPts val="0"/>
              </a:spcAft>
              <a:buSzPts val="1400"/>
              <a:buNone/>
            </a:pPr>
            <a:r>
              <a:rPr lang="en-US"/>
              <a:t> </a:t>
            </a:r>
            <a:endParaRPr/>
          </a:p>
          <a:p>
            <a:pPr indent="-228600" lvl="0" marL="457200" marR="0" rtl="0" algn="l">
              <a:lnSpc>
                <a:spcPct val="100000"/>
              </a:lnSpc>
              <a:spcBef>
                <a:spcPts val="0"/>
              </a:spcBef>
              <a:spcAft>
                <a:spcPts val="0"/>
              </a:spcAft>
              <a:buSzPts val="1400"/>
              <a:buNone/>
            </a:pPr>
            <a:r>
              <a:rPr lang="en-US"/>
              <a:t>Resource alignment:</a:t>
            </a:r>
            <a:endParaRPr/>
          </a:p>
          <a:p>
            <a:pPr indent="-228600" lvl="0" marL="457200" marR="0" rtl="0" algn="l">
              <a:lnSpc>
                <a:spcPct val="100000"/>
              </a:lnSpc>
              <a:spcBef>
                <a:spcPts val="0"/>
              </a:spcBef>
              <a:spcAft>
                <a:spcPts val="0"/>
              </a:spcAft>
              <a:buSzPts val="1400"/>
              <a:buNone/>
            </a:pPr>
            <a:r>
              <a:rPr lang="en-US"/>
              <a:t>Use directly with Unit 4 Student Handout 3: Data Cleaning Decision Log. Also reference Unit 4 Appendix B: Data Cleaning Rules when students are unsure whether a change is appropriate.</a:t>
            </a:r>
            <a:endParaRPr/>
          </a:p>
        </p:txBody>
      </p:sp>
      <p:sp>
        <p:nvSpPr>
          <p:cNvPr id="264" name="Google Shape;264;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3" name="Google Shape;293;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lang="en-US"/>
              <a:t>Teacher notes:</a:t>
            </a:r>
            <a:endParaRPr/>
          </a:p>
          <a:p>
            <a:pPr indent="-228600" lvl="0" marL="457200" marR="0" rtl="0" algn="l">
              <a:lnSpc>
                <a:spcPct val="100000"/>
              </a:lnSpc>
              <a:spcBef>
                <a:spcPts val="0"/>
              </a:spcBef>
              <a:spcAft>
                <a:spcPts val="0"/>
              </a:spcAft>
              <a:buSzPts val="1400"/>
              <a:buNone/>
            </a:pPr>
            <a:r>
              <a:rPr lang="en-US"/>
              <a:t>Reinforce integrity. Flagging is not the same as excluding. Exclusion may sometimes be justified, but it must be documented and explained. Have students identify one data point that may need a flag and write the reason in a notes column.</a:t>
            </a:r>
            <a:endParaRPr/>
          </a:p>
          <a:p>
            <a:pPr indent="-228600" lvl="0" marL="457200" marR="0" rtl="0" algn="l">
              <a:lnSpc>
                <a:spcPct val="100000"/>
              </a:lnSpc>
              <a:spcBef>
                <a:spcPts val="0"/>
              </a:spcBef>
              <a:spcAft>
                <a:spcPts val="0"/>
              </a:spcAft>
              <a:buSzPts val="1400"/>
              <a:buNone/>
            </a:pPr>
            <a:r>
              <a:rPr lang="en-US"/>
              <a:t> </a:t>
            </a:r>
            <a:endParaRPr/>
          </a:p>
          <a:p>
            <a:pPr indent="-228600" lvl="0" marL="457200" marR="0" rtl="0" algn="l">
              <a:lnSpc>
                <a:spcPct val="100000"/>
              </a:lnSpc>
              <a:spcBef>
                <a:spcPts val="0"/>
              </a:spcBef>
              <a:spcAft>
                <a:spcPts val="0"/>
              </a:spcAft>
              <a:buSzPts val="1400"/>
              <a:buNone/>
            </a:pPr>
            <a:r>
              <a:rPr lang="en-US"/>
              <a:t>Resource alignment:</a:t>
            </a:r>
            <a:endParaRPr/>
          </a:p>
          <a:p>
            <a:pPr indent="-228600" lvl="0" marL="457200" marR="0" rtl="0" algn="l">
              <a:lnSpc>
                <a:spcPct val="100000"/>
              </a:lnSpc>
              <a:spcBef>
                <a:spcPts val="0"/>
              </a:spcBef>
              <a:spcAft>
                <a:spcPts val="0"/>
              </a:spcAft>
              <a:buSzPts val="1400"/>
              <a:buNone/>
            </a:pPr>
            <a:r>
              <a:rPr lang="en-US"/>
              <a:t>Use with Unit 4 Student Handout 3: Data Cleaning Decision Log and Unit 4 Appendix B: Data Cleaning Rules. This also prepares students for Unit 4 Student Handout 11: Error, Uncertainty, and Limitations Review later in Unit 4.</a:t>
            </a:r>
            <a:endParaRPr/>
          </a:p>
        </p:txBody>
      </p:sp>
      <p:sp>
        <p:nvSpPr>
          <p:cNvPr id="294" name="Google Shape;294;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0" name="Shape 310"/>
        <p:cNvGrpSpPr/>
        <p:nvPr/>
      </p:nvGrpSpPr>
      <p:grpSpPr>
        <a:xfrm>
          <a:off x="0" y="0"/>
          <a:ext cx="0" cy="0"/>
          <a:chOff x="0" y="0"/>
          <a:chExt cx="0" cy="0"/>
        </a:xfrm>
      </p:grpSpPr>
      <p:sp>
        <p:nvSpPr>
          <p:cNvPr id="311" name="Google Shape;311;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2" name="Google Shape;312;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lang="en-US"/>
              <a:t>Teacher notes:</a:t>
            </a:r>
            <a:endParaRPr/>
          </a:p>
          <a:p>
            <a:pPr indent="-228600" lvl="0" marL="457200" marR="0" rtl="0" algn="l">
              <a:lnSpc>
                <a:spcPct val="100000"/>
              </a:lnSpc>
              <a:spcBef>
                <a:spcPts val="0"/>
              </a:spcBef>
              <a:spcAft>
                <a:spcPts val="0"/>
              </a:spcAft>
              <a:buSzPts val="1400"/>
              <a:buNone/>
            </a:pPr>
            <a:r>
              <a:rPr lang="en-US"/>
              <a:t>Help students understand that missing data are not a reason to fake or ignore gaps. Missing data affect the strength of conclusions. Students should identify one gap in their data and decide whether it can still be collected safely and honestly or must be reported as a limitation.</a:t>
            </a:r>
            <a:endParaRPr/>
          </a:p>
          <a:p>
            <a:pPr indent="-228600" lvl="0" marL="457200" marR="0" rtl="0" algn="l">
              <a:lnSpc>
                <a:spcPct val="100000"/>
              </a:lnSpc>
              <a:spcBef>
                <a:spcPts val="0"/>
              </a:spcBef>
              <a:spcAft>
                <a:spcPts val="0"/>
              </a:spcAft>
              <a:buSzPts val="1400"/>
              <a:buNone/>
            </a:pPr>
            <a:r>
              <a:rPr lang="en-US"/>
              <a:t> </a:t>
            </a:r>
            <a:endParaRPr/>
          </a:p>
          <a:p>
            <a:pPr indent="-228600" lvl="0" marL="457200" marR="0" rtl="0" algn="l">
              <a:lnSpc>
                <a:spcPct val="100000"/>
              </a:lnSpc>
              <a:spcBef>
                <a:spcPts val="0"/>
              </a:spcBef>
              <a:spcAft>
                <a:spcPts val="0"/>
              </a:spcAft>
              <a:buSzPts val="1400"/>
              <a:buNone/>
            </a:pPr>
            <a:r>
              <a:rPr lang="en-US"/>
              <a:t>Resource alignment:</a:t>
            </a:r>
            <a:endParaRPr/>
          </a:p>
          <a:p>
            <a:pPr indent="-228600" lvl="0" marL="457200" marR="0" rtl="0" algn="l">
              <a:lnSpc>
                <a:spcPct val="100000"/>
              </a:lnSpc>
              <a:spcBef>
                <a:spcPts val="0"/>
              </a:spcBef>
              <a:spcAft>
                <a:spcPts val="0"/>
              </a:spcAft>
              <a:buSzPts val="1400"/>
              <a:buNone/>
            </a:pPr>
            <a:r>
              <a:rPr lang="en-US"/>
              <a:t>Use with Unit 4 Student Handout 4: Week 17 Data Audit and Unit 4 Appendix B: Data Cleaning Rules. This slide also connects to Unit 3 Student Handout 18: Unit 3 Readiness for Analysis Review when students are deciding whether they are ready for Unit 4 analysis.</a:t>
            </a:r>
            <a:endParaRPr/>
          </a:p>
        </p:txBody>
      </p:sp>
      <p:sp>
        <p:nvSpPr>
          <p:cNvPr id="313" name="Google Shape;313;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6" name="Shape 336"/>
        <p:cNvGrpSpPr/>
        <p:nvPr/>
      </p:nvGrpSpPr>
      <p:grpSpPr>
        <a:xfrm>
          <a:off x="0" y="0"/>
          <a:ext cx="0" cy="0"/>
          <a:chOff x="0" y="0"/>
          <a:chExt cx="0" cy="0"/>
        </a:xfrm>
      </p:grpSpPr>
      <p:sp>
        <p:nvSpPr>
          <p:cNvPr id="337" name="Google Shape;337;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8" name="Google Shape;338;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lang="en-US"/>
              <a:t>Teacher notes:</a:t>
            </a:r>
            <a:endParaRPr/>
          </a:p>
          <a:p>
            <a:pPr indent="-228600" lvl="0" marL="457200" marR="0" rtl="0" algn="l">
              <a:lnSpc>
                <a:spcPct val="100000"/>
              </a:lnSpc>
              <a:spcBef>
                <a:spcPts val="0"/>
              </a:spcBef>
              <a:spcAft>
                <a:spcPts val="0"/>
              </a:spcAft>
              <a:buSzPts val="1400"/>
              <a:buNone/>
            </a:pPr>
            <a:r>
              <a:rPr lang="en-US"/>
              <a:t>This slide is simple but high value. File organization saves time during report writing and presentation preparation. Give students time to create or clean their project folder structure.</a:t>
            </a:r>
            <a:endParaRPr/>
          </a:p>
          <a:p>
            <a:pPr indent="-228600" lvl="0" marL="457200" marR="0" rtl="0" algn="l">
              <a:lnSpc>
                <a:spcPct val="100000"/>
              </a:lnSpc>
              <a:spcBef>
                <a:spcPts val="0"/>
              </a:spcBef>
              <a:spcAft>
                <a:spcPts val="0"/>
              </a:spcAft>
              <a:buSzPts val="1400"/>
              <a:buNone/>
            </a:pPr>
            <a:r>
              <a:rPr lang="en-US"/>
              <a:t> </a:t>
            </a:r>
            <a:endParaRPr/>
          </a:p>
          <a:p>
            <a:pPr indent="-228600" lvl="0" marL="457200" marR="0" rtl="0" algn="l">
              <a:lnSpc>
                <a:spcPct val="100000"/>
              </a:lnSpc>
              <a:spcBef>
                <a:spcPts val="0"/>
              </a:spcBef>
              <a:spcAft>
                <a:spcPts val="0"/>
              </a:spcAft>
              <a:buSzPts val="1400"/>
              <a:buNone/>
            </a:pPr>
            <a:r>
              <a:rPr lang="en-US"/>
              <a:t>Resource alignment:</a:t>
            </a:r>
            <a:endParaRPr/>
          </a:p>
          <a:p>
            <a:pPr indent="-228600" lvl="0" marL="457200" marR="0" rtl="0" algn="l">
              <a:lnSpc>
                <a:spcPct val="100000"/>
              </a:lnSpc>
              <a:spcBef>
                <a:spcPts val="0"/>
              </a:spcBef>
              <a:spcAft>
                <a:spcPts val="0"/>
              </a:spcAft>
              <a:buSzPts val="1400"/>
              <a:buNone/>
            </a:pPr>
            <a:r>
              <a:rPr lang="en-US"/>
              <a:t>Use with Unit 3 Appendix Q: File and Data Organization Standards. Also supports Unit 4 Student Handout 1: Raw Data Inventory because students should be able to name where raw and clean files are stored.</a:t>
            </a:r>
            <a:endParaRPr/>
          </a:p>
        </p:txBody>
      </p:sp>
      <p:sp>
        <p:nvSpPr>
          <p:cNvPr id="339" name="Google Shape;339;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8" name="Shape 358"/>
        <p:cNvGrpSpPr/>
        <p:nvPr/>
      </p:nvGrpSpPr>
      <p:grpSpPr>
        <a:xfrm>
          <a:off x="0" y="0"/>
          <a:ext cx="0" cy="0"/>
          <a:chOff x="0" y="0"/>
          <a:chExt cx="0" cy="0"/>
        </a:xfrm>
      </p:grpSpPr>
      <p:sp>
        <p:nvSpPr>
          <p:cNvPr id="359" name="Google Shape;359;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0" name="Google Shape;360;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lang="en-US"/>
              <a:t>Teacher notes:</a:t>
            </a:r>
            <a:endParaRPr/>
          </a:p>
          <a:p>
            <a:pPr indent="-228600" lvl="0" marL="457200" marR="0" rtl="0" algn="l">
              <a:lnSpc>
                <a:spcPct val="100000"/>
              </a:lnSpc>
              <a:spcBef>
                <a:spcPts val="0"/>
              </a:spcBef>
              <a:spcAft>
                <a:spcPts val="0"/>
              </a:spcAft>
              <a:buSzPts val="1400"/>
              <a:buNone/>
            </a:pPr>
            <a:r>
              <a:rPr lang="en-US"/>
              <a:t>This activity is the main work-time slide. Circulate and ask students to show you raw data, clean data, and one documented cleaning decision. Students should share the clean table with a partner and ask, “Could you understand this without me?”</a:t>
            </a:r>
            <a:endParaRPr/>
          </a:p>
          <a:p>
            <a:pPr indent="-228600" lvl="0" marL="457200" marR="0" rtl="0" algn="l">
              <a:lnSpc>
                <a:spcPct val="100000"/>
              </a:lnSpc>
              <a:spcBef>
                <a:spcPts val="0"/>
              </a:spcBef>
              <a:spcAft>
                <a:spcPts val="0"/>
              </a:spcAft>
              <a:buSzPts val="1400"/>
              <a:buNone/>
            </a:pPr>
            <a:r>
              <a:rPr lang="en-US"/>
              <a:t> </a:t>
            </a:r>
            <a:endParaRPr/>
          </a:p>
          <a:p>
            <a:pPr indent="-228600" lvl="0" marL="457200" marR="0" rtl="0" algn="l">
              <a:lnSpc>
                <a:spcPct val="100000"/>
              </a:lnSpc>
              <a:spcBef>
                <a:spcPts val="0"/>
              </a:spcBef>
              <a:spcAft>
                <a:spcPts val="0"/>
              </a:spcAft>
              <a:buSzPts val="1400"/>
              <a:buNone/>
            </a:pPr>
            <a:r>
              <a:rPr lang="en-US"/>
              <a:t>Resource alignment:</a:t>
            </a:r>
            <a:endParaRPr/>
          </a:p>
          <a:p>
            <a:pPr indent="-228600" lvl="0" marL="457200" marR="0" rtl="0" algn="l">
              <a:lnSpc>
                <a:spcPct val="100000"/>
              </a:lnSpc>
              <a:spcBef>
                <a:spcPts val="0"/>
              </a:spcBef>
              <a:spcAft>
                <a:spcPts val="0"/>
              </a:spcAft>
              <a:buSzPts val="1400"/>
              <a:buNone/>
            </a:pPr>
            <a:r>
              <a:rPr lang="en-US"/>
              <a:t>Use with Unit 4 Student Handout 2: Clean Data Set Builder and Unit 4 Student Handout 3: Data Cleaning Decision Log. This activity matches Unit 4 Week 17 Days 2–3.</a:t>
            </a:r>
            <a:endParaRPr/>
          </a:p>
        </p:txBody>
      </p:sp>
      <p:sp>
        <p:nvSpPr>
          <p:cNvPr id="361" name="Google Shape;361;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9" name="Google Shape;379;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lang="en-US"/>
              <a:t>Teacher notes:</a:t>
            </a:r>
            <a:endParaRPr/>
          </a:p>
          <a:p>
            <a:pPr indent="-228600" lvl="0" marL="457200" marR="0" rtl="0" algn="l">
              <a:lnSpc>
                <a:spcPct val="100000"/>
              </a:lnSpc>
              <a:spcBef>
                <a:spcPts val="0"/>
              </a:spcBef>
              <a:spcAft>
                <a:spcPts val="0"/>
              </a:spcAft>
              <a:buSzPts val="1400"/>
              <a:buNone/>
            </a:pPr>
            <a:r>
              <a:rPr lang="en-US"/>
              <a:t>Use these as rapid conference questions. The checkpoint is not about final analysis; it is about readiness. Students should rehearse answering these questions with a partner before the teacher checks.</a:t>
            </a:r>
            <a:endParaRPr/>
          </a:p>
          <a:p>
            <a:pPr indent="-228600" lvl="0" marL="457200" marR="0" rtl="0" algn="l">
              <a:lnSpc>
                <a:spcPct val="100000"/>
              </a:lnSpc>
              <a:spcBef>
                <a:spcPts val="0"/>
              </a:spcBef>
              <a:spcAft>
                <a:spcPts val="0"/>
              </a:spcAft>
              <a:buSzPts val="1400"/>
              <a:buNone/>
            </a:pPr>
            <a:r>
              <a:rPr lang="en-US"/>
              <a:t> </a:t>
            </a:r>
            <a:endParaRPr/>
          </a:p>
          <a:p>
            <a:pPr indent="-228600" lvl="0" marL="457200" marR="0" rtl="0" algn="l">
              <a:lnSpc>
                <a:spcPct val="100000"/>
              </a:lnSpc>
              <a:spcBef>
                <a:spcPts val="0"/>
              </a:spcBef>
              <a:spcAft>
                <a:spcPts val="0"/>
              </a:spcAft>
              <a:buSzPts val="1400"/>
              <a:buNone/>
            </a:pPr>
            <a:r>
              <a:rPr lang="en-US"/>
              <a:t>Resource alignment:</a:t>
            </a:r>
            <a:endParaRPr/>
          </a:p>
          <a:p>
            <a:pPr indent="-228600" lvl="0" marL="457200" marR="0" rtl="0" algn="l">
              <a:lnSpc>
                <a:spcPct val="100000"/>
              </a:lnSpc>
              <a:spcBef>
                <a:spcPts val="0"/>
              </a:spcBef>
              <a:spcAft>
                <a:spcPts val="0"/>
              </a:spcAft>
              <a:buSzPts val="1400"/>
              <a:buNone/>
            </a:pPr>
            <a:r>
              <a:rPr lang="en-US"/>
              <a:t>Use with Unit 4 Student Handout 4: Week 17 Data Audit. Also connects to Unit 3 Student Handout 18: Unit 3 Readiness for Analysis Review if students need an additional readiness check before moving into analysis.</a:t>
            </a:r>
            <a:endParaRPr/>
          </a:p>
        </p:txBody>
      </p:sp>
      <p:sp>
        <p:nvSpPr>
          <p:cNvPr id="380" name="Google Shape;380;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4" name="Shape 394"/>
        <p:cNvGrpSpPr/>
        <p:nvPr/>
      </p:nvGrpSpPr>
      <p:grpSpPr>
        <a:xfrm>
          <a:off x="0" y="0"/>
          <a:ext cx="0" cy="0"/>
          <a:chOff x="0" y="0"/>
          <a:chExt cx="0" cy="0"/>
        </a:xfrm>
      </p:grpSpPr>
      <p:sp>
        <p:nvSpPr>
          <p:cNvPr id="395" name="Google Shape;395;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6" name="Google Shape;396;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lang="en-US"/>
              <a:t>Teacher notes:</a:t>
            </a:r>
            <a:endParaRPr/>
          </a:p>
          <a:p>
            <a:pPr indent="-228600" lvl="0" marL="457200" marR="0" rtl="0" algn="l">
              <a:lnSpc>
                <a:spcPct val="100000"/>
              </a:lnSpc>
              <a:spcBef>
                <a:spcPts val="0"/>
              </a:spcBef>
              <a:spcAft>
                <a:spcPts val="0"/>
              </a:spcAft>
              <a:buSzPts val="1400"/>
              <a:buNone/>
            </a:pPr>
            <a:r>
              <a:rPr lang="en-US"/>
              <a:t>Use this as a final self-check before students move into Deck 10. Have students choose the top two risks in their own data and fix or document them before analysis begins.</a:t>
            </a:r>
            <a:endParaRPr/>
          </a:p>
          <a:p>
            <a:pPr indent="-228600" lvl="0" marL="457200" marR="0" rtl="0" algn="l">
              <a:lnSpc>
                <a:spcPct val="100000"/>
              </a:lnSpc>
              <a:spcBef>
                <a:spcPts val="0"/>
              </a:spcBef>
              <a:spcAft>
                <a:spcPts val="0"/>
              </a:spcAft>
              <a:buSzPts val="1400"/>
              <a:buNone/>
            </a:pPr>
            <a:r>
              <a:rPr lang="en-US"/>
              <a:t> </a:t>
            </a:r>
            <a:endParaRPr/>
          </a:p>
          <a:p>
            <a:pPr indent="-228600" lvl="0" marL="457200" marR="0" rtl="0" algn="l">
              <a:lnSpc>
                <a:spcPct val="100000"/>
              </a:lnSpc>
              <a:spcBef>
                <a:spcPts val="0"/>
              </a:spcBef>
              <a:spcAft>
                <a:spcPts val="0"/>
              </a:spcAft>
              <a:buSzPts val="1400"/>
              <a:buNone/>
            </a:pPr>
            <a:r>
              <a:rPr lang="en-US"/>
              <a:t>Resource alignment:</a:t>
            </a:r>
            <a:endParaRPr/>
          </a:p>
          <a:p>
            <a:pPr indent="-228600" lvl="0" marL="457200" marR="0" rtl="0" algn="l">
              <a:lnSpc>
                <a:spcPct val="100000"/>
              </a:lnSpc>
              <a:spcBef>
                <a:spcPts val="0"/>
              </a:spcBef>
              <a:spcAft>
                <a:spcPts val="0"/>
              </a:spcAft>
              <a:buSzPts val="1400"/>
              <a:buNone/>
            </a:pPr>
            <a:r>
              <a:rPr lang="en-US"/>
              <a:t>Use with Unit 4 Appendix C: Common Data Organization Problems and Unit 4 Student Handout 4: Week 17 Data Audit. Students should use this slide to identify problems that must be resolved before analysis.</a:t>
            </a:r>
            <a:endParaRPr/>
          </a:p>
        </p:txBody>
      </p:sp>
      <p:sp>
        <p:nvSpPr>
          <p:cNvPr id="397" name="Google Shape;397;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0" name="Shape 430"/>
        <p:cNvGrpSpPr/>
        <p:nvPr/>
      </p:nvGrpSpPr>
      <p:grpSpPr>
        <a:xfrm>
          <a:off x="0" y="0"/>
          <a:ext cx="0" cy="0"/>
          <a:chOff x="0" y="0"/>
          <a:chExt cx="0" cy="0"/>
        </a:xfrm>
      </p:grpSpPr>
      <p:sp>
        <p:nvSpPr>
          <p:cNvPr id="431" name="Google Shape;431;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2" name="Google Shape;432;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lang="en-US"/>
              <a:t>Teacher notes:</a:t>
            </a:r>
            <a:endParaRPr/>
          </a:p>
          <a:p>
            <a:pPr indent="-228600" lvl="0" marL="457200" marR="0" rtl="0" algn="l">
              <a:lnSpc>
                <a:spcPct val="100000"/>
              </a:lnSpc>
              <a:spcBef>
                <a:spcPts val="0"/>
              </a:spcBef>
              <a:spcAft>
                <a:spcPts val="0"/>
              </a:spcAft>
              <a:buSzPts val="1400"/>
              <a:buNone/>
            </a:pPr>
            <a:r>
              <a:rPr lang="en-US"/>
              <a:t>Collect a screenshot, link, or handout depending on your classroom system. Students should complete the checklist and identify their first analysis move for the next deck. Use responses to sort students into ready for analysis, minor cleanup, major cleanup, or conference-needed groups.</a:t>
            </a:r>
            <a:endParaRPr/>
          </a:p>
          <a:p>
            <a:pPr indent="-228600" lvl="0" marL="457200" marR="0" rtl="0" algn="l">
              <a:lnSpc>
                <a:spcPct val="100000"/>
              </a:lnSpc>
              <a:spcBef>
                <a:spcPts val="0"/>
              </a:spcBef>
              <a:spcAft>
                <a:spcPts val="0"/>
              </a:spcAft>
              <a:buSzPts val="1400"/>
              <a:buNone/>
            </a:pPr>
            <a:r>
              <a:rPr lang="en-US"/>
              <a:t> </a:t>
            </a:r>
            <a:endParaRPr/>
          </a:p>
          <a:p>
            <a:pPr indent="-228600" lvl="0" marL="457200" marR="0" rtl="0" algn="l">
              <a:lnSpc>
                <a:spcPct val="100000"/>
              </a:lnSpc>
              <a:spcBef>
                <a:spcPts val="0"/>
              </a:spcBef>
              <a:spcAft>
                <a:spcPts val="0"/>
              </a:spcAft>
              <a:buSzPts val="1400"/>
              <a:buNone/>
            </a:pPr>
            <a:r>
              <a:rPr lang="en-US"/>
              <a:t>Resource alignment:</a:t>
            </a:r>
            <a:endParaRPr/>
          </a:p>
          <a:p>
            <a:pPr indent="-228600" lvl="0" marL="457200" marR="0" rtl="0" algn="l">
              <a:lnSpc>
                <a:spcPct val="100000"/>
              </a:lnSpc>
              <a:spcBef>
                <a:spcPts val="0"/>
              </a:spcBef>
              <a:spcAft>
                <a:spcPts val="0"/>
              </a:spcAft>
              <a:buSzPts val="1400"/>
              <a:buNone/>
            </a:pPr>
            <a:r>
              <a:rPr lang="en-US"/>
              <a:t>Use with Unit 4 Student Handout 4: Week 17 Data Audit and Unit 3 Student Handout 18: Unit 3 Readiness for Analysis Review. Students should turn in or show Unit 4 Student Handout 1: Raw Data Inventory, Unit 4 Student Handout 2: Clean Data Set Builder, and Unit 4 Student Handout 3: Data Cleaning Decision Log.</a:t>
            </a:r>
            <a:endParaRPr/>
          </a:p>
        </p:txBody>
      </p:sp>
      <p:sp>
        <p:nvSpPr>
          <p:cNvPr id="433" name="Google Shape;433;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 name="Shape 449"/>
        <p:cNvGrpSpPr/>
        <p:nvPr/>
      </p:nvGrpSpPr>
      <p:grpSpPr>
        <a:xfrm>
          <a:off x="0" y="0"/>
          <a:ext cx="0" cy="0"/>
          <a:chOff x="0" y="0"/>
          <a:chExt cx="0" cy="0"/>
        </a:xfrm>
      </p:grpSpPr>
      <p:sp>
        <p:nvSpPr>
          <p:cNvPr id="450" name="Google Shape;450;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1" name="Google Shape;451;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lang="en-US"/>
              <a:t>Teacher notes:</a:t>
            </a:r>
            <a:endParaRPr/>
          </a:p>
          <a:p>
            <a:pPr indent="-228600" lvl="0" marL="457200" marR="0" rtl="0" algn="l">
              <a:lnSpc>
                <a:spcPct val="100000"/>
              </a:lnSpc>
              <a:spcBef>
                <a:spcPts val="0"/>
              </a:spcBef>
              <a:spcAft>
                <a:spcPts val="0"/>
              </a:spcAft>
              <a:buSzPts val="1400"/>
              <a:buNone/>
            </a:pPr>
            <a:r>
              <a:rPr lang="en-US"/>
              <a:t>End by making the transition explicit. Students should not begin analysis until data organization is complete. Emphasize that the next deck asks students to choose calculations, comparisons, and visualizations based on the kind of data they have.</a:t>
            </a:r>
            <a:endParaRPr/>
          </a:p>
          <a:p>
            <a:pPr indent="-228600" lvl="0" marL="457200" marR="0" rtl="0" algn="l">
              <a:lnSpc>
                <a:spcPct val="100000"/>
              </a:lnSpc>
              <a:spcBef>
                <a:spcPts val="0"/>
              </a:spcBef>
              <a:spcAft>
                <a:spcPts val="0"/>
              </a:spcAft>
              <a:buSzPts val="1400"/>
              <a:buNone/>
            </a:pPr>
            <a:r>
              <a:rPr lang="en-US"/>
              <a:t> </a:t>
            </a:r>
            <a:endParaRPr/>
          </a:p>
          <a:p>
            <a:pPr indent="-228600" lvl="0" marL="457200" marR="0" rtl="0" algn="l">
              <a:lnSpc>
                <a:spcPct val="100000"/>
              </a:lnSpc>
              <a:spcBef>
                <a:spcPts val="0"/>
              </a:spcBef>
              <a:spcAft>
                <a:spcPts val="0"/>
              </a:spcAft>
              <a:buSzPts val="1400"/>
              <a:buNone/>
            </a:pPr>
            <a:r>
              <a:rPr lang="en-US"/>
              <a:t>Resource alignment:</a:t>
            </a:r>
            <a:endParaRPr/>
          </a:p>
          <a:p>
            <a:pPr indent="-228600" lvl="0" marL="457200" marR="0" rtl="0" algn="l">
              <a:lnSpc>
                <a:spcPct val="100000"/>
              </a:lnSpc>
              <a:spcBef>
                <a:spcPts val="0"/>
              </a:spcBef>
              <a:spcAft>
                <a:spcPts val="0"/>
              </a:spcAft>
              <a:buSzPts val="1400"/>
              <a:buNone/>
            </a:pPr>
            <a:r>
              <a:rPr lang="en-US"/>
              <a:t>Use after students complete Unit 4 Student Handout 4: Week 17 Data Audit. Next deck connection: Deck 10: Choosing the Right Data Analysis Method.</a:t>
            </a:r>
            <a:endParaRPr/>
          </a:p>
        </p:txBody>
      </p:sp>
      <p:sp>
        <p:nvSpPr>
          <p:cNvPr id="452" name="Google Shape;452;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5" name="Shape 15"/>
        <p:cNvGrpSpPr/>
        <p:nvPr/>
      </p:nvGrpSpPr>
      <p:grpSpPr>
        <a:xfrm>
          <a:off x="0" y="0"/>
          <a:ext cx="0" cy="0"/>
          <a:chOff x="0" y="0"/>
          <a:chExt cx="0" cy="0"/>
        </a:xfrm>
      </p:grpSpPr>
      <p:cxnSp>
        <p:nvCxnSpPr>
          <p:cNvPr id="16" name="Google Shape;16;p3"/>
          <p:cNvCxnSpPr/>
          <p:nvPr/>
        </p:nvCxnSpPr>
        <p:spPr>
          <a:xfrm>
            <a:off x="0" y="256032"/>
            <a:ext cx="12191695" cy="0"/>
          </a:xfrm>
          <a:prstGeom prst="straightConnector1">
            <a:avLst/>
          </a:prstGeom>
          <a:noFill/>
          <a:ln cap="flat" cmpd="sng" w="38100">
            <a:solidFill>
              <a:srgbClr val="ED1C24"/>
            </a:solidFill>
            <a:prstDash val="solid"/>
            <a:round/>
            <a:headEnd len="sm" w="sm" type="none"/>
            <a:tailEnd len="sm" w="sm" type="none"/>
          </a:ln>
        </p:spPr>
      </p:cxnSp>
      <p:cxnSp>
        <p:nvCxnSpPr>
          <p:cNvPr id="17" name="Google Shape;17;p3"/>
          <p:cNvCxnSpPr/>
          <p:nvPr/>
        </p:nvCxnSpPr>
        <p:spPr>
          <a:xfrm>
            <a:off x="0" y="6537960"/>
            <a:ext cx="12191695" cy="0"/>
          </a:xfrm>
          <a:prstGeom prst="straightConnector1">
            <a:avLst/>
          </a:prstGeom>
          <a:noFill/>
          <a:ln cap="flat" cmpd="sng" w="38100">
            <a:solidFill>
              <a:srgbClr val="ED1C24"/>
            </a:solidFill>
            <a:prstDash val="solid"/>
            <a:round/>
            <a:headEnd len="sm" w="sm" type="none"/>
            <a:tailEnd len="sm" w="sm" type="none"/>
          </a:ln>
        </p:spPr>
      </p:cxnSp>
      <p:pic>
        <p:nvPicPr>
          <p:cNvPr descr="/mnt/data/STARLAB Logo 2026.png" id="18" name="Google Shape;18;p3"/>
          <p:cNvPicPr preferRelativeResize="0"/>
          <p:nvPr/>
        </p:nvPicPr>
        <p:blipFill rotWithShape="1">
          <a:blip r:embed="rId3">
            <a:alphaModFix/>
          </a:blip>
          <a:srcRect b="0" l="0" r="0" t="0"/>
          <a:stretch/>
        </p:blipFill>
        <p:spPr>
          <a:xfrm>
            <a:off x="2194560" y="438912"/>
            <a:ext cx="7772400" cy="3886200"/>
          </a:xfrm>
          <a:prstGeom prst="rect">
            <a:avLst/>
          </a:prstGeom>
          <a:noFill/>
          <a:ln>
            <a:noFill/>
          </a:ln>
        </p:spPr>
      </p:pic>
      <p:sp>
        <p:nvSpPr>
          <p:cNvPr id="19" name="Google Shape;19;p3"/>
          <p:cNvSpPr/>
          <p:nvPr/>
        </p:nvSpPr>
        <p:spPr>
          <a:xfrm>
            <a:off x="777240" y="4983480"/>
            <a:ext cx="10652760" cy="804672"/>
          </a:xfrm>
          <a:prstGeom prst="rect">
            <a:avLst/>
          </a:prstGeom>
          <a:solidFill>
            <a:srgbClr val="000000">
              <a:alpha val="0"/>
            </a:srgbClr>
          </a:solidFill>
          <a:ln cap="flat" cmpd="sng" w="15225">
            <a:solidFill>
              <a:srgbClr val="B8B8B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 name="Google Shape;20;p3"/>
          <p:cNvSpPr/>
          <p:nvPr/>
        </p:nvSpPr>
        <p:spPr>
          <a:xfrm>
            <a:off x="822960" y="5102352"/>
            <a:ext cx="10515600" cy="585216"/>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DATA ORGANIZATION: RAW DATA VS. CLEAN DATA</a:t>
            </a:r>
            <a:endParaRPr b="0" i="0" sz="2800" u="none" cap="none" strike="noStrike">
              <a:solidFill>
                <a:schemeClr val="dk1"/>
              </a:solidFill>
              <a:latin typeface="Arial"/>
              <a:ea typeface="Arial"/>
              <a:cs typeface="Arial"/>
              <a:sym typeface="Arial"/>
            </a:endParaRPr>
          </a:p>
        </p:txBody>
      </p:sp>
      <p:sp>
        <p:nvSpPr>
          <p:cNvPr id="21" name="Google Shape;21;p3"/>
          <p:cNvSpPr/>
          <p:nvPr/>
        </p:nvSpPr>
        <p:spPr>
          <a:xfrm>
            <a:off x="822960" y="5870448"/>
            <a:ext cx="10515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8B8B8"/>
              </a:buClr>
              <a:buSzPts val="1300"/>
              <a:buFont typeface="Arial"/>
              <a:buNone/>
            </a:pPr>
            <a:r>
              <a:rPr b="0" i="0" lang="en-US" sz="1300" u="none" cap="none" strike="noStrike">
                <a:solidFill>
                  <a:srgbClr val="B8B8B8"/>
                </a:solidFill>
                <a:latin typeface="Arial"/>
                <a:ea typeface="Arial"/>
                <a:cs typeface="Arial"/>
                <a:sym typeface="Arial"/>
              </a:rPr>
              <a:t>STARLAB Deck 09  •  Unit 3–4 Core Instruction</a:t>
            </a:r>
            <a:endParaRPr b="0" i="0" sz="1300" u="none" cap="none" strike="noStrike">
              <a:solidFill>
                <a:schemeClr val="dk1"/>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6" name="Shape 26"/>
        <p:cNvGrpSpPr/>
        <p:nvPr/>
      </p:nvGrpSpPr>
      <p:grpSpPr>
        <a:xfrm>
          <a:off x="0" y="0"/>
          <a:ext cx="0" cy="0"/>
          <a:chOff x="0" y="0"/>
          <a:chExt cx="0" cy="0"/>
        </a:xfrm>
      </p:grpSpPr>
      <p:cxnSp>
        <p:nvCxnSpPr>
          <p:cNvPr id="27" name="Google Shape;27;p4"/>
          <p:cNvCxnSpPr/>
          <p:nvPr/>
        </p:nvCxnSpPr>
        <p:spPr>
          <a:xfrm>
            <a:off x="0" y="256032"/>
            <a:ext cx="12191695" cy="0"/>
          </a:xfrm>
          <a:prstGeom prst="straightConnector1">
            <a:avLst/>
          </a:prstGeom>
          <a:noFill/>
          <a:ln cap="flat" cmpd="sng" w="38100">
            <a:solidFill>
              <a:srgbClr val="ED1C24"/>
            </a:solidFill>
            <a:prstDash val="solid"/>
            <a:round/>
            <a:headEnd len="sm" w="sm" type="none"/>
            <a:tailEnd len="sm" w="sm" type="none"/>
          </a:ln>
        </p:spPr>
      </p:cxnSp>
      <p:cxnSp>
        <p:nvCxnSpPr>
          <p:cNvPr id="28" name="Google Shape;28;p4"/>
          <p:cNvCxnSpPr/>
          <p:nvPr/>
        </p:nvCxnSpPr>
        <p:spPr>
          <a:xfrm>
            <a:off x="0" y="6537960"/>
            <a:ext cx="12191695" cy="0"/>
          </a:xfrm>
          <a:prstGeom prst="straightConnector1">
            <a:avLst/>
          </a:prstGeom>
          <a:noFill/>
          <a:ln cap="flat" cmpd="sng" w="38100">
            <a:solidFill>
              <a:srgbClr val="ED1C24"/>
            </a:solidFill>
            <a:prstDash val="solid"/>
            <a:round/>
            <a:headEnd len="sm" w="sm" type="none"/>
            <a:tailEnd len="sm" w="sm" type="none"/>
          </a:ln>
        </p:spPr>
      </p:cxnSp>
      <p:sp>
        <p:nvSpPr>
          <p:cNvPr id="29" name="Google Shape;29;p4"/>
          <p:cNvSpPr/>
          <p:nvPr/>
        </p:nvSpPr>
        <p:spPr>
          <a:xfrm>
            <a:off x="411480" y="6592824"/>
            <a:ext cx="2011680" cy="1645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650"/>
              <a:buFont typeface="Arial"/>
              <a:buNone/>
            </a:pPr>
            <a:r>
              <a:rPr b="1" i="0" lang="en-US" sz="650" u="none" cap="none" strike="noStrike">
                <a:solidFill>
                  <a:srgbClr val="737373"/>
                </a:solidFill>
                <a:latin typeface="Arial"/>
                <a:ea typeface="Arial"/>
                <a:cs typeface="Arial"/>
                <a:sym typeface="Arial"/>
              </a:rPr>
              <a:t>DECK 09</a:t>
            </a:r>
            <a:endParaRPr b="0" i="0" sz="650" u="none" cap="none" strike="noStrike">
              <a:solidFill>
                <a:schemeClr val="dk1"/>
              </a:solidFill>
              <a:latin typeface="Arial"/>
              <a:ea typeface="Arial"/>
              <a:cs typeface="Arial"/>
              <a:sym typeface="Arial"/>
            </a:endParaRPr>
          </a:p>
        </p:txBody>
      </p:sp>
      <p:sp>
        <p:nvSpPr>
          <p:cNvPr id="30" name="Google Shape;30;p4"/>
          <p:cNvSpPr/>
          <p:nvPr/>
        </p:nvSpPr>
        <p:spPr>
          <a:xfrm>
            <a:off x="10058400" y="6565392"/>
            <a:ext cx="173736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737373"/>
              </a:buClr>
              <a:buSzPts val="700"/>
              <a:buFont typeface="Arial"/>
              <a:buNone/>
            </a:pPr>
            <a:r>
              <a:rPr b="1" i="0" lang="en-US" sz="700" u="none" cap="none" strike="noStrike">
                <a:solidFill>
                  <a:srgbClr val="737373"/>
                </a:solidFill>
                <a:latin typeface="Arial"/>
                <a:ea typeface="Arial"/>
                <a:cs typeface="Arial"/>
                <a:sym typeface="Arial"/>
              </a:rPr>
              <a:t>STARLAB</a:t>
            </a:r>
            <a:endParaRPr b="0" i="0" sz="700" u="none" cap="none" strike="noStrike">
              <a:solidFill>
                <a:schemeClr val="dk1"/>
              </a:solidFill>
              <a:latin typeface="Arial"/>
              <a:ea typeface="Arial"/>
              <a:cs typeface="Arial"/>
              <a:sym typeface="Arial"/>
            </a:endParaRPr>
          </a:p>
        </p:txBody>
      </p:sp>
      <p:sp>
        <p:nvSpPr>
          <p:cNvPr id="31" name="Google Shape;31;p4"/>
          <p:cNvSpPr/>
          <p:nvPr/>
        </p:nvSpPr>
        <p:spPr>
          <a:xfrm>
            <a:off x="502920" y="475488"/>
            <a:ext cx="438912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900"/>
              <a:buFont typeface="Arial"/>
              <a:buNone/>
            </a:pPr>
            <a:r>
              <a:rPr b="1" i="0" lang="en-US" sz="900" u="none" cap="none" strike="noStrike">
                <a:solidFill>
                  <a:srgbClr val="ED1C24"/>
                </a:solidFill>
                <a:latin typeface="Arial"/>
                <a:ea typeface="Arial"/>
                <a:cs typeface="Arial"/>
                <a:sym typeface="Arial"/>
              </a:rPr>
              <a:t>DATA ORGANIZATION</a:t>
            </a:r>
            <a:endParaRPr b="0" i="0" sz="900" u="none" cap="none" strike="noStrike">
              <a:solidFill>
                <a:schemeClr val="dk1"/>
              </a:solidFill>
              <a:latin typeface="Arial"/>
              <a:ea typeface="Arial"/>
              <a:cs typeface="Arial"/>
              <a:sym typeface="Arial"/>
            </a:endParaRPr>
          </a:p>
        </p:txBody>
      </p:sp>
      <p:sp>
        <p:nvSpPr>
          <p:cNvPr id="32" name="Google Shape;32;p4"/>
          <p:cNvSpPr/>
          <p:nvPr/>
        </p:nvSpPr>
        <p:spPr>
          <a:xfrm>
            <a:off x="502920" y="749808"/>
            <a:ext cx="1097280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What this deck prepares you to do</a:t>
            </a:r>
            <a:endParaRPr b="0" i="0" sz="2800" u="none" cap="none" strike="noStrike">
              <a:solidFill>
                <a:schemeClr val="dk1"/>
              </a:solidFill>
              <a:latin typeface="Arial"/>
              <a:ea typeface="Arial"/>
              <a:cs typeface="Arial"/>
              <a:sym typeface="Arial"/>
            </a:endParaRPr>
          </a:p>
        </p:txBody>
      </p:sp>
      <p:cxnSp>
        <p:nvCxnSpPr>
          <p:cNvPr id="33" name="Google Shape;33;p4"/>
          <p:cNvCxnSpPr/>
          <p:nvPr/>
        </p:nvCxnSpPr>
        <p:spPr>
          <a:xfrm>
            <a:off x="502920" y="1389888"/>
            <a:ext cx="11109960" cy="0"/>
          </a:xfrm>
          <a:prstGeom prst="straightConnector1">
            <a:avLst/>
          </a:prstGeom>
          <a:noFill/>
          <a:ln cap="flat" cmpd="sng" w="17775">
            <a:solidFill>
              <a:srgbClr val="ED1C24">
                <a:alpha val="90196"/>
              </a:srgbClr>
            </a:solidFill>
            <a:prstDash val="solid"/>
            <a:round/>
            <a:headEnd len="sm" w="sm" type="none"/>
            <a:tailEnd len="sm" w="sm" type="none"/>
          </a:ln>
        </p:spPr>
      </p:cxnSp>
      <p:sp>
        <p:nvSpPr>
          <p:cNvPr id="34" name="Google Shape;34;p4"/>
          <p:cNvSpPr/>
          <p:nvPr/>
        </p:nvSpPr>
        <p:spPr>
          <a:xfrm>
            <a:off x="777240" y="1828800"/>
            <a:ext cx="5212080" cy="1463040"/>
          </a:xfrm>
          <a:prstGeom prst="rect">
            <a:avLst/>
          </a:prstGeom>
          <a:solidFill>
            <a:srgbClr val="0D0D0D"/>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4"/>
          <p:cNvSpPr/>
          <p:nvPr/>
        </p:nvSpPr>
        <p:spPr>
          <a:xfrm>
            <a:off x="777240" y="1828800"/>
            <a:ext cx="73152" cy="1463040"/>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4"/>
          <p:cNvSpPr/>
          <p:nvPr/>
        </p:nvSpPr>
        <p:spPr>
          <a:xfrm>
            <a:off x="978408" y="1993392"/>
            <a:ext cx="48920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000"/>
              <a:buFont typeface="Arial"/>
              <a:buNone/>
            </a:pPr>
            <a:r>
              <a:rPr b="1" i="0" lang="en-US" sz="1000" u="none" cap="none" strike="noStrike">
                <a:solidFill>
                  <a:srgbClr val="ED1C24"/>
                </a:solidFill>
                <a:latin typeface="Arial"/>
                <a:ea typeface="Arial"/>
                <a:cs typeface="Arial"/>
                <a:sym typeface="Arial"/>
              </a:rPr>
              <a:t>TODAY’S TARGET</a:t>
            </a:r>
            <a:endParaRPr b="0" i="0" sz="1000" u="none" cap="none" strike="noStrike">
              <a:solidFill>
                <a:schemeClr val="dk1"/>
              </a:solidFill>
              <a:latin typeface="Arial"/>
              <a:ea typeface="Arial"/>
              <a:cs typeface="Arial"/>
              <a:sym typeface="Arial"/>
            </a:endParaRPr>
          </a:p>
        </p:txBody>
      </p:sp>
      <p:sp>
        <p:nvSpPr>
          <p:cNvPr id="37" name="Google Shape;37;p4"/>
          <p:cNvSpPr/>
          <p:nvPr/>
        </p:nvSpPr>
        <p:spPr>
          <a:xfrm>
            <a:off x="978408" y="2331720"/>
            <a:ext cx="4892040" cy="841248"/>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1700"/>
              <a:buFont typeface="Arial"/>
              <a:buNone/>
            </a:pPr>
            <a:r>
              <a:rPr b="0" i="0" lang="en-US" sz="1700" u="none" cap="none" strike="noStrike">
                <a:solidFill>
                  <a:srgbClr val="FFFFFF"/>
                </a:solidFill>
                <a:latin typeface="Arial"/>
                <a:ea typeface="Arial"/>
                <a:cs typeface="Arial"/>
                <a:sym typeface="Arial"/>
              </a:rPr>
              <a:t>Turn scattered project evidence into a clean, analysis-ready data set without damaging the original record.</a:t>
            </a:r>
            <a:endParaRPr b="0" i="0" sz="1700" u="none" cap="none" strike="noStrike">
              <a:solidFill>
                <a:schemeClr val="dk1"/>
              </a:solidFill>
              <a:latin typeface="Arial"/>
              <a:ea typeface="Arial"/>
              <a:cs typeface="Arial"/>
              <a:sym typeface="Arial"/>
            </a:endParaRPr>
          </a:p>
        </p:txBody>
      </p:sp>
      <p:sp>
        <p:nvSpPr>
          <p:cNvPr id="38" name="Google Shape;38;p4"/>
          <p:cNvSpPr/>
          <p:nvPr/>
        </p:nvSpPr>
        <p:spPr>
          <a:xfrm>
            <a:off x="6217920" y="1828800"/>
            <a:ext cx="5212080" cy="1463040"/>
          </a:xfrm>
          <a:prstGeom prst="rect">
            <a:avLst/>
          </a:prstGeom>
          <a:solidFill>
            <a:srgbClr val="0D0D0D"/>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 name="Google Shape;39;p4"/>
          <p:cNvSpPr/>
          <p:nvPr/>
        </p:nvSpPr>
        <p:spPr>
          <a:xfrm>
            <a:off x="6217920" y="1828800"/>
            <a:ext cx="73152" cy="1463040"/>
          </a:xfrm>
          <a:prstGeom prst="rect">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 name="Google Shape;40;p4"/>
          <p:cNvSpPr/>
          <p:nvPr/>
        </p:nvSpPr>
        <p:spPr>
          <a:xfrm>
            <a:off x="6419088" y="1993392"/>
            <a:ext cx="48920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000"/>
              <a:buFont typeface="Arial"/>
              <a:buNone/>
            </a:pPr>
            <a:r>
              <a:rPr b="1" i="0" lang="en-US" sz="1000" u="none" cap="none" strike="noStrike">
                <a:solidFill>
                  <a:srgbClr val="FFFFFF"/>
                </a:solidFill>
                <a:latin typeface="Arial"/>
                <a:ea typeface="Arial"/>
                <a:cs typeface="Arial"/>
                <a:sym typeface="Arial"/>
              </a:rPr>
              <a:t>WHY IT MATTERS</a:t>
            </a:r>
            <a:endParaRPr b="0" i="0" sz="1000" u="none" cap="none" strike="noStrike">
              <a:solidFill>
                <a:schemeClr val="dk1"/>
              </a:solidFill>
              <a:latin typeface="Arial"/>
              <a:ea typeface="Arial"/>
              <a:cs typeface="Arial"/>
              <a:sym typeface="Arial"/>
            </a:endParaRPr>
          </a:p>
        </p:txBody>
      </p:sp>
      <p:sp>
        <p:nvSpPr>
          <p:cNvPr id="41" name="Google Shape;41;p4"/>
          <p:cNvSpPr/>
          <p:nvPr/>
        </p:nvSpPr>
        <p:spPr>
          <a:xfrm>
            <a:off x="6419088" y="2331720"/>
            <a:ext cx="4892040" cy="841248"/>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1700"/>
              <a:buFont typeface="Arial"/>
              <a:buNone/>
            </a:pPr>
            <a:r>
              <a:rPr b="0" i="0" lang="en-US" sz="1700" u="none" cap="none" strike="noStrike">
                <a:solidFill>
                  <a:srgbClr val="FFFFFF"/>
                </a:solidFill>
                <a:latin typeface="Arial"/>
                <a:ea typeface="Arial"/>
                <a:cs typeface="Arial"/>
                <a:sym typeface="Arial"/>
              </a:rPr>
              <a:t>If data are unlabeled, overwritten, or stored in five places, the analysis stage becomes guesswork.</a:t>
            </a:r>
            <a:endParaRPr b="0" i="0" sz="1700" u="none" cap="none" strike="noStrike">
              <a:solidFill>
                <a:schemeClr val="dk1"/>
              </a:solidFill>
              <a:latin typeface="Arial"/>
              <a:ea typeface="Arial"/>
              <a:cs typeface="Arial"/>
              <a:sym typeface="Arial"/>
            </a:endParaRPr>
          </a:p>
        </p:txBody>
      </p:sp>
      <p:sp>
        <p:nvSpPr>
          <p:cNvPr id="42" name="Google Shape;42;p4"/>
          <p:cNvSpPr/>
          <p:nvPr/>
        </p:nvSpPr>
        <p:spPr>
          <a:xfrm>
            <a:off x="777250" y="3657600"/>
            <a:ext cx="10652700" cy="2711700"/>
          </a:xfrm>
          <a:prstGeom prst="rect">
            <a:avLst/>
          </a:prstGeom>
          <a:solidFill>
            <a:srgbClr val="0D0D0D"/>
          </a:solidFill>
          <a:ln cap="flat" cmpd="sng" w="15225">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 name="Google Shape;43;p4"/>
          <p:cNvSpPr/>
          <p:nvPr/>
        </p:nvSpPr>
        <p:spPr>
          <a:xfrm>
            <a:off x="1005840" y="3886200"/>
            <a:ext cx="1600200" cy="292608"/>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 name="Google Shape;44;p4"/>
          <p:cNvSpPr/>
          <p:nvPr/>
        </p:nvSpPr>
        <p:spPr>
          <a:xfrm>
            <a:off x="1051560" y="3941064"/>
            <a:ext cx="1508760" cy="16459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Arial"/>
              <a:buNone/>
            </a:pPr>
            <a:r>
              <a:rPr b="1" i="0" lang="en-US" sz="800" u="none" cap="none" strike="noStrike">
                <a:solidFill>
                  <a:srgbClr val="FFFFFF"/>
                </a:solidFill>
                <a:latin typeface="Arial"/>
                <a:ea typeface="Arial"/>
                <a:cs typeface="Arial"/>
                <a:sym typeface="Arial"/>
              </a:rPr>
              <a:t>STUDENT ACTIVITY</a:t>
            </a:r>
            <a:endParaRPr b="0" i="0" sz="800" u="none" cap="none" strike="noStrike">
              <a:solidFill>
                <a:schemeClr val="dk1"/>
              </a:solidFill>
              <a:latin typeface="Arial"/>
              <a:ea typeface="Arial"/>
              <a:cs typeface="Arial"/>
              <a:sym typeface="Arial"/>
            </a:endParaRPr>
          </a:p>
        </p:txBody>
      </p:sp>
      <p:sp>
        <p:nvSpPr>
          <p:cNvPr id="45" name="Google Shape;45;p4"/>
          <p:cNvSpPr/>
          <p:nvPr/>
        </p:nvSpPr>
        <p:spPr>
          <a:xfrm>
            <a:off x="1005840" y="4315968"/>
            <a:ext cx="10195560" cy="41148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2200"/>
              <a:buFont typeface="Play"/>
              <a:buNone/>
            </a:pPr>
            <a:r>
              <a:rPr b="1" i="0" lang="en-US" sz="2200" u="none" cap="none" strike="noStrike">
                <a:solidFill>
                  <a:srgbClr val="FFFFFF"/>
                </a:solidFill>
                <a:latin typeface="Play"/>
                <a:ea typeface="Play"/>
                <a:cs typeface="Play"/>
                <a:sym typeface="Play"/>
              </a:rPr>
              <a:t>By the end, your data should be understandable to someone else.</a:t>
            </a:r>
            <a:endParaRPr b="0" i="0" sz="2200" u="none" cap="none" strike="noStrike">
              <a:solidFill>
                <a:schemeClr val="dk1"/>
              </a:solidFill>
              <a:latin typeface="Arial"/>
              <a:ea typeface="Arial"/>
              <a:cs typeface="Arial"/>
              <a:sym typeface="Arial"/>
            </a:endParaRPr>
          </a:p>
        </p:txBody>
      </p:sp>
      <p:sp>
        <p:nvSpPr>
          <p:cNvPr id="46" name="Google Shape;46;p4"/>
          <p:cNvSpPr/>
          <p:nvPr/>
        </p:nvSpPr>
        <p:spPr>
          <a:xfrm>
            <a:off x="1033272" y="4736592"/>
            <a:ext cx="10140696"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8B8B8"/>
              </a:buClr>
              <a:buSzPts val="850"/>
              <a:buFont typeface="Arial"/>
              <a:buNone/>
            </a:pPr>
            <a:r>
              <a:rPr b="1" i="0" lang="en-US" sz="850" u="none" cap="none" strike="noStrike">
                <a:solidFill>
                  <a:srgbClr val="B8B8B8"/>
                </a:solidFill>
                <a:latin typeface="Arial"/>
                <a:ea typeface="Arial"/>
                <a:cs typeface="Arial"/>
                <a:sym typeface="Arial"/>
              </a:rPr>
              <a:t>Unit 4 Week 17 • Student Handout 1: Raw Data Inventory; Student Handout 2: Clean Data Set Builder</a:t>
            </a:r>
            <a:endParaRPr b="0" i="0" sz="850" u="none" cap="none" strike="noStrike">
              <a:solidFill>
                <a:schemeClr val="dk1"/>
              </a:solidFill>
              <a:latin typeface="Arial"/>
              <a:ea typeface="Arial"/>
              <a:cs typeface="Arial"/>
              <a:sym typeface="Arial"/>
            </a:endParaRPr>
          </a:p>
        </p:txBody>
      </p:sp>
      <p:sp>
        <p:nvSpPr>
          <p:cNvPr id="47" name="Google Shape;47;p4"/>
          <p:cNvSpPr/>
          <p:nvPr/>
        </p:nvSpPr>
        <p:spPr>
          <a:xfrm>
            <a:off x="1097275" y="5193874"/>
            <a:ext cx="9966900" cy="816000"/>
          </a:xfrm>
          <a:prstGeom prst="rect">
            <a:avLst/>
          </a:prstGeom>
          <a:noFill/>
          <a:ln>
            <a:noFill/>
          </a:ln>
        </p:spPr>
        <p:txBody>
          <a:bodyPr anchorCtr="0" anchor="ctr" bIns="1000" lIns="1000" spcFirstLastPara="1" rIns="1000" wrap="square" tIns="1000">
            <a:noAutofit/>
          </a:bodyPr>
          <a:lstStyle/>
          <a:p>
            <a:pPr indent="0" lvl="0" marL="0" marR="0" rtl="0" algn="l">
              <a:lnSpc>
                <a:spcPct val="100000"/>
              </a:lnSpc>
              <a:spcBef>
                <a:spcPts val="0"/>
              </a:spcBef>
              <a:spcAft>
                <a:spcPts val="0"/>
              </a:spcAft>
              <a:buClr>
                <a:srgbClr val="000000"/>
              </a:buClr>
              <a:buSzPts val="1720"/>
              <a:buFont typeface="Arial"/>
              <a:buNone/>
            </a:pPr>
            <a:r>
              <a:rPr b="0" i="0" lang="en-US" sz="1720" u="none" cap="none" strike="noStrike">
                <a:solidFill>
                  <a:srgbClr val="FFFFFF"/>
                </a:solidFill>
                <a:latin typeface="Arial"/>
                <a:ea typeface="Arial"/>
                <a:cs typeface="Arial"/>
                <a:sym typeface="Arial"/>
              </a:rPr>
              <a:t>Locate raw data and preserve it</a:t>
            </a:r>
            <a:endParaRPr b="0" i="0" sz="172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20"/>
              <a:buFont typeface="Arial"/>
              <a:buNone/>
            </a:pPr>
            <a:r>
              <a:rPr b="0" i="0" lang="en-US" sz="1720" u="none" cap="none" strike="noStrike">
                <a:solidFill>
                  <a:srgbClr val="FFFFFF"/>
                </a:solidFill>
                <a:latin typeface="Arial"/>
                <a:ea typeface="Arial"/>
                <a:cs typeface="Arial"/>
                <a:sym typeface="Arial"/>
              </a:rPr>
              <a:t>Create a clean working copy for analysis</a:t>
            </a:r>
            <a:endParaRPr b="0" i="0" sz="172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20"/>
              <a:buFont typeface="Arial"/>
              <a:buNone/>
            </a:pPr>
            <a:r>
              <a:rPr b="0" i="0" lang="en-US" sz="1720" u="none" cap="none" strike="noStrike">
                <a:solidFill>
                  <a:srgbClr val="FFFFFF"/>
                </a:solidFill>
                <a:latin typeface="Arial"/>
                <a:ea typeface="Arial"/>
                <a:cs typeface="Arial"/>
                <a:sym typeface="Arial"/>
              </a:rPr>
              <a:t>Flag questionable data instead of deleting it</a:t>
            </a:r>
            <a:endParaRPr b="0" i="0" sz="172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20"/>
              <a:buFont typeface="Arial"/>
              <a:buNone/>
            </a:pPr>
            <a:r>
              <a:rPr b="0" i="0" lang="en-US" sz="1720" u="none" cap="none" strike="noStrike">
                <a:solidFill>
                  <a:srgbClr val="FFFFFF"/>
                </a:solidFill>
                <a:latin typeface="Arial"/>
                <a:ea typeface="Arial"/>
                <a:cs typeface="Arial"/>
                <a:sym typeface="Arial"/>
              </a:rPr>
              <a:t>Use labels, units, trial numbers, and file names consistently</a:t>
            </a:r>
            <a:endParaRPr b="0" i="0" sz="1720" u="none" cap="none" strike="noStrike">
              <a:solidFill>
                <a:schemeClr val="dk1"/>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52" name="Shape 52"/>
        <p:cNvGrpSpPr/>
        <p:nvPr/>
      </p:nvGrpSpPr>
      <p:grpSpPr>
        <a:xfrm>
          <a:off x="0" y="0"/>
          <a:ext cx="0" cy="0"/>
          <a:chOff x="0" y="0"/>
          <a:chExt cx="0" cy="0"/>
        </a:xfrm>
      </p:grpSpPr>
      <p:cxnSp>
        <p:nvCxnSpPr>
          <p:cNvPr id="53" name="Google Shape;53;p5"/>
          <p:cNvCxnSpPr/>
          <p:nvPr/>
        </p:nvCxnSpPr>
        <p:spPr>
          <a:xfrm>
            <a:off x="0" y="256032"/>
            <a:ext cx="12191695" cy="0"/>
          </a:xfrm>
          <a:prstGeom prst="straightConnector1">
            <a:avLst/>
          </a:prstGeom>
          <a:noFill/>
          <a:ln cap="flat" cmpd="sng" w="38100">
            <a:solidFill>
              <a:srgbClr val="ED1C24"/>
            </a:solidFill>
            <a:prstDash val="solid"/>
            <a:round/>
            <a:headEnd len="sm" w="sm" type="none"/>
            <a:tailEnd len="sm" w="sm" type="none"/>
          </a:ln>
        </p:spPr>
      </p:cxnSp>
      <p:cxnSp>
        <p:nvCxnSpPr>
          <p:cNvPr id="54" name="Google Shape;54;p5"/>
          <p:cNvCxnSpPr/>
          <p:nvPr/>
        </p:nvCxnSpPr>
        <p:spPr>
          <a:xfrm>
            <a:off x="0" y="6537960"/>
            <a:ext cx="12191695" cy="0"/>
          </a:xfrm>
          <a:prstGeom prst="straightConnector1">
            <a:avLst/>
          </a:prstGeom>
          <a:noFill/>
          <a:ln cap="flat" cmpd="sng" w="38100">
            <a:solidFill>
              <a:srgbClr val="ED1C24"/>
            </a:solidFill>
            <a:prstDash val="solid"/>
            <a:round/>
            <a:headEnd len="sm" w="sm" type="none"/>
            <a:tailEnd len="sm" w="sm" type="none"/>
          </a:ln>
        </p:spPr>
      </p:cxnSp>
      <p:sp>
        <p:nvSpPr>
          <p:cNvPr id="55" name="Google Shape;55;p5"/>
          <p:cNvSpPr/>
          <p:nvPr/>
        </p:nvSpPr>
        <p:spPr>
          <a:xfrm>
            <a:off x="411480" y="6592824"/>
            <a:ext cx="2011680" cy="1645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650"/>
              <a:buFont typeface="Arial"/>
              <a:buNone/>
            </a:pPr>
            <a:r>
              <a:rPr b="1" i="0" lang="en-US" sz="650" u="none" cap="none" strike="noStrike">
                <a:solidFill>
                  <a:srgbClr val="737373"/>
                </a:solidFill>
                <a:latin typeface="Arial"/>
                <a:ea typeface="Arial"/>
                <a:cs typeface="Arial"/>
                <a:sym typeface="Arial"/>
              </a:rPr>
              <a:t>DECK 09</a:t>
            </a:r>
            <a:endParaRPr b="0" i="0" sz="650" u="none" cap="none" strike="noStrike">
              <a:solidFill>
                <a:schemeClr val="dk1"/>
              </a:solidFill>
              <a:latin typeface="Arial"/>
              <a:ea typeface="Arial"/>
              <a:cs typeface="Arial"/>
              <a:sym typeface="Arial"/>
            </a:endParaRPr>
          </a:p>
        </p:txBody>
      </p:sp>
      <p:sp>
        <p:nvSpPr>
          <p:cNvPr id="56" name="Google Shape;56;p5"/>
          <p:cNvSpPr/>
          <p:nvPr/>
        </p:nvSpPr>
        <p:spPr>
          <a:xfrm>
            <a:off x="10058400" y="6565392"/>
            <a:ext cx="173736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737373"/>
              </a:buClr>
              <a:buSzPts val="700"/>
              <a:buFont typeface="Arial"/>
              <a:buNone/>
            </a:pPr>
            <a:r>
              <a:rPr b="1" i="0" lang="en-US" sz="700" u="none" cap="none" strike="noStrike">
                <a:solidFill>
                  <a:srgbClr val="737373"/>
                </a:solidFill>
                <a:latin typeface="Arial"/>
                <a:ea typeface="Arial"/>
                <a:cs typeface="Arial"/>
                <a:sym typeface="Arial"/>
              </a:rPr>
              <a:t>STARLAB</a:t>
            </a:r>
            <a:endParaRPr b="0" i="0" sz="700" u="none" cap="none" strike="noStrike">
              <a:solidFill>
                <a:schemeClr val="dk1"/>
              </a:solidFill>
              <a:latin typeface="Arial"/>
              <a:ea typeface="Arial"/>
              <a:cs typeface="Arial"/>
              <a:sym typeface="Arial"/>
            </a:endParaRPr>
          </a:p>
        </p:txBody>
      </p:sp>
      <p:sp>
        <p:nvSpPr>
          <p:cNvPr id="57" name="Google Shape;57;p5"/>
          <p:cNvSpPr/>
          <p:nvPr/>
        </p:nvSpPr>
        <p:spPr>
          <a:xfrm>
            <a:off x="502920" y="475488"/>
            <a:ext cx="438912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900"/>
              <a:buFont typeface="Arial"/>
              <a:buNone/>
            </a:pPr>
            <a:r>
              <a:rPr b="1" i="0" lang="en-US" sz="900" u="none" cap="none" strike="noStrike">
                <a:solidFill>
                  <a:srgbClr val="ED1C24"/>
                </a:solidFill>
                <a:latin typeface="Arial"/>
                <a:ea typeface="Arial"/>
                <a:cs typeface="Arial"/>
                <a:sym typeface="Arial"/>
              </a:rPr>
              <a:t>DATA ORGANIZATION</a:t>
            </a:r>
            <a:endParaRPr b="0" i="0" sz="900" u="none" cap="none" strike="noStrike">
              <a:solidFill>
                <a:schemeClr val="dk1"/>
              </a:solidFill>
              <a:latin typeface="Arial"/>
              <a:ea typeface="Arial"/>
              <a:cs typeface="Arial"/>
              <a:sym typeface="Arial"/>
            </a:endParaRPr>
          </a:p>
        </p:txBody>
      </p:sp>
      <p:sp>
        <p:nvSpPr>
          <p:cNvPr id="58" name="Google Shape;58;p5"/>
          <p:cNvSpPr/>
          <p:nvPr/>
        </p:nvSpPr>
        <p:spPr>
          <a:xfrm>
            <a:off x="502920" y="749808"/>
            <a:ext cx="1097280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The real problem: data decay</a:t>
            </a:r>
            <a:endParaRPr b="0" i="0" sz="2800" u="none" cap="none" strike="noStrike">
              <a:solidFill>
                <a:schemeClr val="dk1"/>
              </a:solidFill>
              <a:latin typeface="Arial"/>
              <a:ea typeface="Arial"/>
              <a:cs typeface="Arial"/>
              <a:sym typeface="Arial"/>
            </a:endParaRPr>
          </a:p>
        </p:txBody>
      </p:sp>
      <p:cxnSp>
        <p:nvCxnSpPr>
          <p:cNvPr id="59" name="Google Shape;59;p5"/>
          <p:cNvCxnSpPr/>
          <p:nvPr/>
        </p:nvCxnSpPr>
        <p:spPr>
          <a:xfrm>
            <a:off x="502920" y="1389888"/>
            <a:ext cx="11109960" cy="0"/>
          </a:xfrm>
          <a:prstGeom prst="straightConnector1">
            <a:avLst/>
          </a:prstGeom>
          <a:noFill/>
          <a:ln cap="flat" cmpd="sng" w="17775">
            <a:solidFill>
              <a:srgbClr val="ED1C24">
                <a:alpha val="90196"/>
              </a:srgbClr>
            </a:solidFill>
            <a:prstDash val="solid"/>
            <a:round/>
            <a:headEnd len="sm" w="sm" type="none"/>
            <a:tailEnd len="sm" w="sm" type="none"/>
          </a:ln>
        </p:spPr>
      </p:cxnSp>
      <p:sp>
        <p:nvSpPr>
          <p:cNvPr id="60" name="Google Shape;60;p5"/>
          <p:cNvSpPr/>
          <p:nvPr/>
        </p:nvSpPr>
        <p:spPr>
          <a:xfrm>
            <a:off x="777240" y="1783080"/>
            <a:ext cx="10607040" cy="41148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2400"/>
              <a:buFont typeface="Play"/>
              <a:buNone/>
            </a:pPr>
            <a:r>
              <a:rPr b="1" i="0" lang="en-US" sz="2400" u="none" cap="none" strike="noStrike">
                <a:solidFill>
                  <a:srgbClr val="FFFFFF"/>
                </a:solidFill>
                <a:latin typeface="Play"/>
                <a:ea typeface="Play"/>
                <a:cs typeface="Play"/>
                <a:sym typeface="Play"/>
              </a:rPr>
              <a:t>Good data can become useless when...</a:t>
            </a:r>
            <a:endParaRPr b="0" i="0" sz="2400" u="none" cap="none" strike="noStrike">
              <a:solidFill>
                <a:schemeClr val="dk1"/>
              </a:solidFill>
              <a:latin typeface="Arial"/>
              <a:ea typeface="Arial"/>
              <a:cs typeface="Arial"/>
              <a:sym typeface="Arial"/>
            </a:endParaRPr>
          </a:p>
        </p:txBody>
      </p:sp>
      <p:sp>
        <p:nvSpPr>
          <p:cNvPr id="61" name="Google Shape;61;p5"/>
          <p:cNvSpPr/>
          <p:nvPr/>
        </p:nvSpPr>
        <p:spPr>
          <a:xfrm>
            <a:off x="960120" y="2468880"/>
            <a:ext cx="5669280" cy="3291840"/>
          </a:xfrm>
          <a:prstGeom prst="rect">
            <a:avLst/>
          </a:prstGeom>
          <a:noFill/>
          <a:ln>
            <a:noFill/>
          </a:ln>
        </p:spPr>
        <p:txBody>
          <a:bodyPr anchorCtr="0" anchor="ctr" bIns="1000" lIns="1000" spcFirstLastPara="1" rIns="1000" wrap="square" tIns="1000">
            <a:noAutofit/>
          </a:bodyPr>
          <a:lstStyle/>
          <a:p>
            <a:pPr indent="0" lvl="0" marL="0" marR="0" rtl="0" algn="l">
              <a:lnSpc>
                <a:spcPct val="100000"/>
              </a:lnSpc>
              <a:spcBef>
                <a:spcPts val="0"/>
              </a:spcBef>
              <a:spcAft>
                <a:spcPts val="0"/>
              </a:spcAft>
              <a:buClr>
                <a:srgbClr val="000000"/>
              </a:buClr>
              <a:buSzPts val="1900"/>
              <a:buFont typeface="Arial"/>
              <a:buNone/>
            </a:pPr>
            <a:r>
              <a:rPr b="0" i="0" lang="en-US" sz="1900" u="none" cap="none" strike="noStrike">
                <a:solidFill>
                  <a:srgbClr val="FFFFFF"/>
                </a:solidFill>
                <a:latin typeface="Arial"/>
                <a:ea typeface="Arial"/>
                <a:cs typeface="Arial"/>
                <a:sym typeface="Arial"/>
              </a:rPr>
              <a:t>Units disappear</a:t>
            </a:r>
            <a:endParaRPr b="0" i="0" sz="19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900"/>
              <a:buFont typeface="Arial"/>
              <a:buNone/>
            </a:pPr>
            <a:r>
              <a:rPr b="0" i="0" lang="en-US" sz="1900" u="none" cap="none" strike="noStrike">
                <a:solidFill>
                  <a:srgbClr val="FFFFFF"/>
                </a:solidFill>
                <a:latin typeface="Arial"/>
                <a:ea typeface="Arial"/>
                <a:cs typeface="Arial"/>
                <a:sym typeface="Arial"/>
              </a:rPr>
              <a:t>Trial labels are inconsistent</a:t>
            </a:r>
            <a:endParaRPr b="0" i="0" sz="19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900"/>
              <a:buFont typeface="Arial"/>
              <a:buNone/>
            </a:pPr>
            <a:r>
              <a:rPr b="0" i="0" lang="en-US" sz="1900" u="none" cap="none" strike="noStrike">
                <a:solidFill>
                  <a:srgbClr val="FFFFFF"/>
                </a:solidFill>
                <a:latin typeface="Arial"/>
                <a:ea typeface="Arial"/>
                <a:cs typeface="Arial"/>
                <a:sym typeface="Arial"/>
              </a:rPr>
              <a:t>Photos are named “IMG_4307”</a:t>
            </a:r>
            <a:endParaRPr b="0" i="0" sz="19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900"/>
              <a:buFont typeface="Arial"/>
              <a:buNone/>
            </a:pPr>
            <a:r>
              <a:rPr b="0" i="0" lang="en-US" sz="1900" u="none" cap="none" strike="noStrike">
                <a:solidFill>
                  <a:srgbClr val="FFFFFF"/>
                </a:solidFill>
                <a:latin typeface="Arial"/>
                <a:ea typeface="Arial"/>
                <a:cs typeface="Arial"/>
                <a:sym typeface="Arial"/>
              </a:rPr>
              <a:t>A procedure changed but no one wrote why</a:t>
            </a:r>
            <a:endParaRPr b="0" i="0" sz="19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900"/>
              <a:buFont typeface="Arial"/>
              <a:buNone/>
            </a:pPr>
            <a:r>
              <a:rPr b="0" i="0" lang="en-US" sz="1900" u="none" cap="none" strike="noStrike">
                <a:solidFill>
                  <a:srgbClr val="FFFFFF"/>
                </a:solidFill>
                <a:latin typeface="Arial"/>
                <a:ea typeface="Arial"/>
                <a:cs typeface="Arial"/>
                <a:sym typeface="Arial"/>
              </a:rPr>
              <a:t>Failed trials are deleted</a:t>
            </a:r>
            <a:endParaRPr b="0" i="0" sz="19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900"/>
              <a:buFont typeface="Arial"/>
              <a:buNone/>
            </a:pPr>
            <a:r>
              <a:rPr b="0" i="0" lang="en-US" sz="1900" u="none" cap="none" strike="noStrike">
                <a:solidFill>
                  <a:srgbClr val="FFFFFF"/>
                </a:solidFill>
                <a:latin typeface="Arial"/>
                <a:ea typeface="Arial"/>
                <a:cs typeface="Arial"/>
                <a:sym typeface="Arial"/>
              </a:rPr>
              <a:t>Raw data are overwritten by formulas</a:t>
            </a:r>
            <a:endParaRPr b="0" i="0" sz="1900" u="none" cap="none" strike="noStrike">
              <a:solidFill>
                <a:schemeClr val="dk1"/>
              </a:solidFill>
              <a:latin typeface="Arial"/>
              <a:ea typeface="Arial"/>
              <a:cs typeface="Arial"/>
              <a:sym typeface="Arial"/>
            </a:endParaRPr>
          </a:p>
        </p:txBody>
      </p:sp>
      <p:sp>
        <p:nvSpPr>
          <p:cNvPr id="62" name="Google Shape;62;p5"/>
          <p:cNvSpPr/>
          <p:nvPr/>
        </p:nvSpPr>
        <p:spPr>
          <a:xfrm>
            <a:off x="6903720" y="2606040"/>
            <a:ext cx="4251960" cy="2194560"/>
          </a:xfrm>
          <a:prstGeom prst="rect">
            <a:avLst/>
          </a:prstGeom>
          <a:solidFill>
            <a:srgbClr val="0D0D0D"/>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 name="Google Shape;63;p5"/>
          <p:cNvSpPr/>
          <p:nvPr/>
        </p:nvSpPr>
        <p:spPr>
          <a:xfrm>
            <a:off x="6903720" y="2606040"/>
            <a:ext cx="73152" cy="2194560"/>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5"/>
          <p:cNvSpPr/>
          <p:nvPr/>
        </p:nvSpPr>
        <p:spPr>
          <a:xfrm>
            <a:off x="7104888" y="2770632"/>
            <a:ext cx="393192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000"/>
              <a:buFont typeface="Arial"/>
              <a:buNone/>
            </a:pPr>
            <a:r>
              <a:rPr b="1" i="0" lang="en-US" sz="1000" u="none" cap="none" strike="noStrike">
                <a:solidFill>
                  <a:srgbClr val="ED1C24"/>
                </a:solidFill>
                <a:latin typeface="Arial"/>
                <a:ea typeface="Arial"/>
                <a:cs typeface="Arial"/>
                <a:sym typeface="Arial"/>
              </a:rPr>
              <a:t>CORE IDEA</a:t>
            </a:r>
            <a:endParaRPr b="0" i="0" sz="1000" u="none" cap="none" strike="noStrike">
              <a:solidFill>
                <a:schemeClr val="dk1"/>
              </a:solidFill>
              <a:latin typeface="Arial"/>
              <a:ea typeface="Arial"/>
              <a:cs typeface="Arial"/>
              <a:sym typeface="Arial"/>
            </a:endParaRPr>
          </a:p>
        </p:txBody>
      </p:sp>
      <p:sp>
        <p:nvSpPr>
          <p:cNvPr id="65" name="Google Shape;65;p5"/>
          <p:cNvSpPr/>
          <p:nvPr/>
        </p:nvSpPr>
        <p:spPr>
          <a:xfrm>
            <a:off x="7104888" y="3108960"/>
            <a:ext cx="3931920" cy="1572768"/>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1700"/>
              <a:buFont typeface="Arial"/>
              <a:buNone/>
            </a:pPr>
            <a:r>
              <a:rPr b="0" i="0" lang="en-US" sz="1700" u="none" cap="none" strike="noStrike">
                <a:solidFill>
                  <a:srgbClr val="FFFFFF"/>
                </a:solidFill>
                <a:latin typeface="Arial"/>
                <a:ea typeface="Arial"/>
                <a:cs typeface="Arial"/>
                <a:sym typeface="Arial"/>
              </a:rPr>
              <a:t>Data organization is not clerical work. It is part of research integrity.</a:t>
            </a:r>
            <a:endParaRPr b="0" i="0" sz="1700" u="none" cap="none" strike="noStrike">
              <a:solidFill>
                <a:schemeClr val="dk1"/>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70" name="Shape 70"/>
        <p:cNvGrpSpPr/>
        <p:nvPr/>
      </p:nvGrpSpPr>
      <p:grpSpPr>
        <a:xfrm>
          <a:off x="0" y="0"/>
          <a:ext cx="0" cy="0"/>
          <a:chOff x="0" y="0"/>
          <a:chExt cx="0" cy="0"/>
        </a:xfrm>
      </p:grpSpPr>
      <p:cxnSp>
        <p:nvCxnSpPr>
          <p:cNvPr id="71" name="Google Shape;71;p6"/>
          <p:cNvCxnSpPr/>
          <p:nvPr/>
        </p:nvCxnSpPr>
        <p:spPr>
          <a:xfrm>
            <a:off x="0" y="256032"/>
            <a:ext cx="12191695" cy="0"/>
          </a:xfrm>
          <a:prstGeom prst="straightConnector1">
            <a:avLst/>
          </a:prstGeom>
          <a:noFill/>
          <a:ln cap="flat" cmpd="sng" w="38100">
            <a:solidFill>
              <a:srgbClr val="ED1C24"/>
            </a:solidFill>
            <a:prstDash val="solid"/>
            <a:round/>
            <a:headEnd len="sm" w="sm" type="none"/>
            <a:tailEnd len="sm" w="sm" type="none"/>
          </a:ln>
        </p:spPr>
      </p:cxnSp>
      <p:cxnSp>
        <p:nvCxnSpPr>
          <p:cNvPr id="72" name="Google Shape;72;p6"/>
          <p:cNvCxnSpPr/>
          <p:nvPr/>
        </p:nvCxnSpPr>
        <p:spPr>
          <a:xfrm>
            <a:off x="0" y="6537960"/>
            <a:ext cx="12191695" cy="0"/>
          </a:xfrm>
          <a:prstGeom prst="straightConnector1">
            <a:avLst/>
          </a:prstGeom>
          <a:noFill/>
          <a:ln cap="flat" cmpd="sng" w="38100">
            <a:solidFill>
              <a:srgbClr val="ED1C24"/>
            </a:solidFill>
            <a:prstDash val="solid"/>
            <a:round/>
            <a:headEnd len="sm" w="sm" type="none"/>
            <a:tailEnd len="sm" w="sm" type="none"/>
          </a:ln>
        </p:spPr>
      </p:cxnSp>
      <p:sp>
        <p:nvSpPr>
          <p:cNvPr id="73" name="Google Shape;73;p6"/>
          <p:cNvSpPr/>
          <p:nvPr/>
        </p:nvSpPr>
        <p:spPr>
          <a:xfrm>
            <a:off x="411480" y="6592824"/>
            <a:ext cx="2011680" cy="1645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650"/>
              <a:buFont typeface="Arial"/>
              <a:buNone/>
            </a:pPr>
            <a:r>
              <a:rPr b="1" i="0" lang="en-US" sz="650" u="none" cap="none" strike="noStrike">
                <a:solidFill>
                  <a:srgbClr val="737373"/>
                </a:solidFill>
                <a:latin typeface="Arial"/>
                <a:ea typeface="Arial"/>
                <a:cs typeface="Arial"/>
                <a:sym typeface="Arial"/>
              </a:rPr>
              <a:t>DECK 09</a:t>
            </a:r>
            <a:endParaRPr b="0" i="0" sz="650" u="none" cap="none" strike="noStrike">
              <a:solidFill>
                <a:schemeClr val="dk1"/>
              </a:solidFill>
              <a:latin typeface="Arial"/>
              <a:ea typeface="Arial"/>
              <a:cs typeface="Arial"/>
              <a:sym typeface="Arial"/>
            </a:endParaRPr>
          </a:p>
        </p:txBody>
      </p:sp>
      <p:sp>
        <p:nvSpPr>
          <p:cNvPr id="74" name="Google Shape;74;p6"/>
          <p:cNvSpPr/>
          <p:nvPr/>
        </p:nvSpPr>
        <p:spPr>
          <a:xfrm>
            <a:off x="10058400" y="6565392"/>
            <a:ext cx="173736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737373"/>
              </a:buClr>
              <a:buSzPts val="700"/>
              <a:buFont typeface="Arial"/>
              <a:buNone/>
            </a:pPr>
            <a:r>
              <a:rPr b="1" i="0" lang="en-US" sz="700" u="none" cap="none" strike="noStrike">
                <a:solidFill>
                  <a:srgbClr val="737373"/>
                </a:solidFill>
                <a:latin typeface="Arial"/>
                <a:ea typeface="Arial"/>
                <a:cs typeface="Arial"/>
                <a:sym typeface="Arial"/>
              </a:rPr>
              <a:t>STARLAB</a:t>
            </a:r>
            <a:endParaRPr b="0" i="0" sz="700" u="none" cap="none" strike="noStrike">
              <a:solidFill>
                <a:schemeClr val="dk1"/>
              </a:solidFill>
              <a:latin typeface="Arial"/>
              <a:ea typeface="Arial"/>
              <a:cs typeface="Arial"/>
              <a:sym typeface="Arial"/>
            </a:endParaRPr>
          </a:p>
        </p:txBody>
      </p:sp>
      <p:sp>
        <p:nvSpPr>
          <p:cNvPr id="75" name="Google Shape;75;p6"/>
          <p:cNvSpPr/>
          <p:nvPr/>
        </p:nvSpPr>
        <p:spPr>
          <a:xfrm>
            <a:off x="502920" y="475488"/>
            <a:ext cx="438912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900"/>
              <a:buFont typeface="Arial"/>
              <a:buNone/>
            </a:pPr>
            <a:r>
              <a:rPr b="1" i="0" lang="en-US" sz="900" u="none" cap="none" strike="noStrike">
                <a:solidFill>
                  <a:srgbClr val="ED1C24"/>
                </a:solidFill>
                <a:latin typeface="Arial"/>
                <a:ea typeface="Arial"/>
                <a:cs typeface="Arial"/>
                <a:sym typeface="Arial"/>
              </a:rPr>
              <a:t>DATA ORGANIZATION</a:t>
            </a:r>
            <a:endParaRPr b="0" i="0" sz="900" u="none" cap="none" strike="noStrike">
              <a:solidFill>
                <a:schemeClr val="dk1"/>
              </a:solidFill>
              <a:latin typeface="Arial"/>
              <a:ea typeface="Arial"/>
              <a:cs typeface="Arial"/>
              <a:sym typeface="Arial"/>
            </a:endParaRPr>
          </a:p>
        </p:txBody>
      </p:sp>
      <p:sp>
        <p:nvSpPr>
          <p:cNvPr id="76" name="Google Shape;76;p6"/>
          <p:cNvSpPr/>
          <p:nvPr/>
        </p:nvSpPr>
        <p:spPr>
          <a:xfrm>
            <a:off x="502920" y="749808"/>
            <a:ext cx="1097280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Activity: data scavenger hunt</a:t>
            </a:r>
            <a:endParaRPr b="0" i="0" sz="2800" u="none" cap="none" strike="noStrike">
              <a:solidFill>
                <a:schemeClr val="dk1"/>
              </a:solidFill>
              <a:latin typeface="Arial"/>
              <a:ea typeface="Arial"/>
              <a:cs typeface="Arial"/>
              <a:sym typeface="Arial"/>
            </a:endParaRPr>
          </a:p>
        </p:txBody>
      </p:sp>
      <p:cxnSp>
        <p:nvCxnSpPr>
          <p:cNvPr id="77" name="Google Shape;77;p6"/>
          <p:cNvCxnSpPr/>
          <p:nvPr/>
        </p:nvCxnSpPr>
        <p:spPr>
          <a:xfrm>
            <a:off x="502920" y="1389888"/>
            <a:ext cx="11109960" cy="0"/>
          </a:xfrm>
          <a:prstGeom prst="straightConnector1">
            <a:avLst/>
          </a:prstGeom>
          <a:noFill/>
          <a:ln cap="flat" cmpd="sng" w="17775">
            <a:solidFill>
              <a:srgbClr val="ED1C24">
                <a:alpha val="90196"/>
              </a:srgbClr>
            </a:solidFill>
            <a:prstDash val="solid"/>
            <a:round/>
            <a:headEnd len="sm" w="sm" type="none"/>
            <a:tailEnd len="sm" w="sm" type="none"/>
          </a:ln>
        </p:spPr>
      </p:cxnSp>
      <p:sp>
        <p:nvSpPr>
          <p:cNvPr id="78" name="Google Shape;78;p6"/>
          <p:cNvSpPr/>
          <p:nvPr/>
        </p:nvSpPr>
        <p:spPr>
          <a:xfrm>
            <a:off x="822960" y="1737360"/>
            <a:ext cx="10515600" cy="4297680"/>
          </a:xfrm>
          <a:prstGeom prst="rect">
            <a:avLst/>
          </a:prstGeom>
          <a:solidFill>
            <a:srgbClr val="0D0D0D"/>
          </a:solidFill>
          <a:ln cap="flat" cmpd="sng" w="15225">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 name="Google Shape;79;p6"/>
          <p:cNvSpPr/>
          <p:nvPr/>
        </p:nvSpPr>
        <p:spPr>
          <a:xfrm>
            <a:off x="1051560" y="1965960"/>
            <a:ext cx="1600200" cy="292608"/>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 name="Google Shape;80;p6"/>
          <p:cNvSpPr/>
          <p:nvPr/>
        </p:nvSpPr>
        <p:spPr>
          <a:xfrm>
            <a:off x="1097280" y="2020824"/>
            <a:ext cx="1508760" cy="16459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Arial"/>
              <a:buNone/>
            </a:pPr>
            <a:r>
              <a:rPr b="1" i="0" lang="en-US" sz="800" u="none" cap="none" strike="noStrike">
                <a:solidFill>
                  <a:srgbClr val="FFFFFF"/>
                </a:solidFill>
                <a:latin typeface="Arial"/>
                <a:ea typeface="Arial"/>
                <a:cs typeface="Arial"/>
                <a:sym typeface="Arial"/>
              </a:rPr>
              <a:t>STUDENT ACTIVITY</a:t>
            </a:r>
            <a:endParaRPr b="0" i="0" sz="800" u="none" cap="none" strike="noStrike">
              <a:solidFill>
                <a:schemeClr val="dk1"/>
              </a:solidFill>
              <a:latin typeface="Arial"/>
              <a:ea typeface="Arial"/>
              <a:cs typeface="Arial"/>
              <a:sym typeface="Arial"/>
            </a:endParaRPr>
          </a:p>
        </p:txBody>
      </p:sp>
      <p:sp>
        <p:nvSpPr>
          <p:cNvPr id="81" name="Google Shape;81;p6"/>
          <p:cNvSpPr/>
          <p:nvPr/>
        </p:nvSpPr>
        <p:spPr>
          <a:xfrm>
            <a:off x="1051560" y="2395728"/>
            <a:ext cx="10058400" cy="41148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2200"/>
              <a:buFont typeface="Play"/>
              <a:buNone/>
            </a:pPr>
            <a:r>
              <a:rPr b="1" i="0" lang="en-US" sz="2200" u="none" cap="none" strike="noStrike">
                <a:solidFill>
                  <a:srgbClr val="FFFFFF"/>
                </a:solidFill>
                <a:latin typeface="Play"/>
                <a:ea typeface="Play"/>
                <a:cs typeface="Play"/>
                <a:sym typeface="Play"/>
              </a:rPr>
              <a:t>Find every place your project evidence currently lives.</a:t>
            </a:r>
            <a:endParaRPr b="0" i="0" sz="2200" u="none" cap="none" strike="noStrike">
              <a:solidFill>
                <a:schemeClr val="dk1"/>
              </a:solidFill>
              <a:latin typeface="Arial"/>
              <a:ea typeface="Arial"/>
              <a:cs typeface="Arial"/>
              <a:sym typeface="Arial"/>
            </a:endParaRPr>
          </a:p>
        </p:txBody>
      </p:sp>
      <p:sp>
        <p:nvSpPr>
          <p:cNvPr id="82" name="Google Shape;82;p6"/>
          <p:cNvSpPr/>
          <p:nvPr/>
        </p:nvSpPr>
        <p:spPr>
          <a:xfrm>
            <a:off x="1078992" y="2816352"/>
            <a:ext cx="10003536"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8B8B8"/>
              </a:buClr>
              <a:buSzPts val="850"/>
              <a:buFont typeface="Arial"/>
              <a:buNone/>
            </a:pPr>
            <a:r>
              <a:rPr b="1" i="0" lang="en-US" sz="850" u="none" cap="none" strike="noStrike">
                <a:solidFill>
                  <a:srgbClr val="B8B8B8"/>
                </a:solidFill>
                <a:latin typeface="Arial"/>
                <a:ea typeface="Arial"/>
                <a:cs typeface="Arial"/>
                <a:sym typeface="Arial"/>
              </a:rPr>
              <a:t>Unit 4 Week 17 Day 1 • Student Handout 1: Raw Data Inventory</a:t>
            </a:r>
            <a:endParaRPr b="0" i="0" sz="850" u="none" cap="none" strike="noStrike">
              <a:solidFill>
                <a:schemeClr val="dk1"/>
              </a:solidFill>
              <a:latin typeface="Arial"/>
              <a:ea typeface="Arial"/>
              <a:cs typeface="Arial"/>
              <a:sym typeface="Arial"/>
            </a:endParaRPr>
          </a:p>
        </p:txBody>
      </p:sp>
      <p:sp>
        <p:nvSpPr>
          <p:cNvPr id="83" name="Google Shape;83;p6"/>
          <p:cNvSpPr/>
          <p:nvPr/>
        </p:nvSpPr>
        <p:spPr>
          <a:xfrm>
            <a:off x="1143000" y="3273552"/>
            <a:ext cx="9829800" cy="2359152"/>
          </a:xfrm>
          <a:prstGeom prst="rect">
            <a:avLst/>
          </a:prstGeom>
          <a:noFill/>
          <a:ln>
            <a:noFill/>
          </a:ln>
        </p:spPr>
        <p:txBody>
          <a:bodyPr anchorCtr="0" anchor="ctr" bIns="1000" lIns="1000" spcFirstLastPara="1" rIns="1000" wrap="square" tIns="1000">
            <a:noAutofit/>
          </a:bodyPr>
          <a:lstStyle/>
          <a:p>
            <a:pPr indent="0" lvl="0" marL="0" marR="0" rtl="0" algn="l">
              <a:lnSpc>
                <a:spcPct val="100000"/>
              </a:lnSpc>
              <a:spcBef>
                <a:spcPts val="0"/>
              </a:spcBef>
              <a:spcAft>
                <a:spcPts val="0"/>
              </a:spcAft>
              <a:buClr>
                <a:srgbClr val="000000"/>
              </a:buClr>
              <a:buSzPts val="1720"/>
              <a:buFont typeface="Arial"/>
              <a:buNone/>
            </a:pPr>
            <a:r>
              <a:rPr b="0" i="0" lang="en-US" sz="1720" u="none" cap="none" strike="noStrike">
                <a:solidFill>
                  <a:srgbClr val="FFFFFF"/>
                </a:solidFill>
                <a:latin typeface="Arial"/>
                <a:ea typeface="Arial"/>
                <a:cs typeface="Arial"/>
                <a:sym typeface="Arial"/>
              </a:rPr>
              <a:t>Research journal or notebook</a:t>
            </a:r>
            <a:endParaRPr b="0" i="0" sz="172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20"/>
              <a:buFont typeface="Arial"/>
              <a:buNone/>
            </a:pPr>
            <a:r>
              <a:rPr b="0" i="0" lang="en-US" sz="1720" u="none" cap="none" strike="noStrike">
                <a:solidFill>
                  <a:srgbClr val="FFFFFF"/>
                </a:solidFill>
                <a:latin typeface="Arial"/>
                <a:ea typeface="Arial"/>
                <a:cs typeface="Arial"/>
                <a:sym typeface="Arial"/>
              </a:rPr>
              <a:t>Spreadsheet or data table</a:t>
            </a:r>
            <a:endParaRPr b="0" i="0" sz="172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20"/>
              <a:buFont typeface="Arial"/>
              <a:buNone/>
            </a:pPr>
            <a:r>
              <a:rPr b="0" i="0" lang="en-US" sz="1720" u="none" cap="none" strike="noStrike">
                <a:solidFill>
                  <a:srgbClr val="FFFFFF"/>
                </a:solidFill>
                <a:latin typeface="Arial"/>
                <a:ea typeface="Arial"/>
                <a:cs typeface="Arial"/>
                <a:sym typeface="Arial"/>
              </a:rPr>
              <a:t>Photos, videos, or screenshots</a:t>
            </a:r>
            <a:endParaRPr b="0" i="0" sz="172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20"/>
              <a:buFont typeface="Arial"/>
              <a:buNone/>
            </a:pPr>
            <a:r>
              <a:rPr b="0" i="0" lang="en-US" sz="1720" u="none" cap="none" strike="noStrike">
                <a:solidFill>
                  <a:srgbClr val="FFFFFF"/>
                </a:solidFill>
                <a:latin typeface="Arial"/>
                <a:ea typeface="Arial"/>
                <a:cs typeface="Arial"/>
                <a:sym typeface="Arial"/>
              </a:rPr>
              <a:t>Sensor exports, code outputs, or files</a:t>
            </a:r>
            <a:endParaRPr b="0" i="0" sz="172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20"/>
              <a:buFont typeface="Arial"/>
              <a:buNone/>
            </a:pPr>
            <a:r>
              <a:rPr b="0" i="0" lang="en-US" sz="1720" u="none" cap="none" strike="noStrike">
                <a:solidFill>
                  <a:srgbClr val="FFFFFF"/>
                </a:solidFill>
                <a:latin typeface="Arial"/>
                <a:ea typeface="Arial"/>
                <a:cs typeface="Arial"/>
                <a:sym typeface="Arial"/>
              </a:rPr>
              <a:t>Prototype notes, mentor feedback, or emails</a:t>
            </a:r>
            <a:endParaRPr b="0" i="0" sz="172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20"/>
              <a:buFont typeface="Arial"/>
              <a:buNone/>
            </a:pPr>
            <a:r>
              <a:rPr b="0" i="0" lang="en-US" sz="1720" u="none" cap="none" strike="noStrike">
                <a:solidFill>
                  <a:srgbClr val="FFFFFF"/>
                </a:solidFill>
                <a:latin typeface="Arial"/>
                <a:ea typeface="Arial"/>
                <a:cs typeface="Arial"/>
                <a:sym typeface="Arial"/>
              </a:rPr>
              <a:t>Any data stored only in your head — write it down now</a:t>
            </a:r>
            <a:endParaRPr b="0" i="0" sz="1720" u="none" cap="none" strike="noStrike">
              <a:solidFill>
                <a:schemeClr val="dk1"/>
              </a:solidFill>
              <a:latin typeface="Arial"/>
              <a:ea typeface="Arial"/>
              <a:cs typeface="Arial"/>
              <a:sym typeface="Arial"/>
            </a:endParaRPr>
          </a:p>
        </p:txBody>
      </p:sp>
      <p:sp>
        <p:nvSpPr>
          <p:cNvPr id="84" name="Google Shape;84;p6"/>
          <p:cNvSpPr/>
          <p:nvPr/>
        </p:nvSpPr>
        <p:spPr>
          <a:xfrm>
            <a:off x="868680" y="6172200"/>
            <a:ext cx="10515600" cy="274320"/>
          </a:xfrm>
          <a:prstGeom prst="rect">
            <a:avLst/>
          </a:prstGeom>
          <a:noFill/>
          <a:ln>
            <a:noFill/>
          </a:ln>
        </p:spPr>
        <p:txBody>
          <a:bodyPr anchorCtr="0" anchor="t" bIns="625" lIns="625" spcFirstLastPara="1" rIns="625" wrap="square" tIns="625">
            <a:noAutofit/>
          </a:bodyPr>
          <a:lstStyle/>
          <a:p>
            <a:pPr indent="0" lvl="0" marL="0" marR="0" rtl="0" algn="l">
              <a:lnSpc>
                <a:spcPct val="100000"/>
              </a:lnSpc>
              <a:spcBef>
                <a:spcPts val="0"/>
              </a:spcBef>
              <a:spcAft>
                <a:spcPts val="0"/>
              </a:spcAft>
              <a:buClr>
                <a:srgbClr val="B8B8B8"/>
              </a:buClr>
              <a:buSzPts val="1400"/>
              <a:buFont typeface="Arial"/>
              <a:buNone/>
            </a:pPr>
            <a:r>
              <a:rPr b="0" i="0" lang="en-US" sz="1400" u="none" cap="none" strike="noStrike">
                <a:solidFill>
                  <a:srgbClr val="B8B8B8"/>
                </a:solidFill>
                <a:latin typeface="Arial"/>
                <a:ea typeface="Arial"/>
                <a:cs typeface="Arial"/>
                <a:sym typeface="Arial"/>
              </a:rPr>
              <a:t>Deliverable: a raw data inventory with file/location names.</a:t>
            </a:r>
            <a:endParaRPr b="0" i="0" sz="1400" u="none" cap="none" strike="noStrike">
              <a:solidFill>
                <a:schemeClr val="dk1"/>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89" name="Shape 89"/>
        <p:cNvGrpSpPr/>
        <p:nvPr/>
      </p:nvGrpSpPr>
      <p:grpSpPr>
        <a:xfrm>
          <a:off x="0" y="0"/>
          <a:ext cx="0" cy="0"/>
          <a:chOff x="0" y="0"/>
          <a:chExt cx="0" cy="0"/>
        </a:xfrm>
      </p:grpSpPr>
      <p:cxnSp>
        <p:nvCxnSpPr>
          <p:cNvPr id="90" name="Google Shape;90;p7"/>
          <p:cNvCxnSpPr/>
          <p:nvPr/>
        </p:nvCxnSpPr>
        <p:spPr>
          <a:xfrm>
            <a:off x="0" y="256032"/>
            <a:ext cx="12191695" cy="0"/>
          </a:xfrm>
          <a:prstGeom prst="straightConnector1">
            <a:avLst/>
          </a:prstGeom>
          <a:noFill/>
          <a:ln cap="flat" cmpd="sng" w="38100">
            <a:solidFill>
              <a:srgbClr val="ED1C24"/>
            </a:solidFill>
            <a:prstDash val="solid"/>
            <a:round/>
            <a:headEnd len="sm" w="sm" type="none"/>
            <a:tailEnd len="sm" w="sm" type="none"/>
          </a:ln>
        </p:spPr>
      </p:cxnSp>
      <p:cxnSp>
        <p:nvCxnSpPr>
          <p:cNvPr id="91" name="Google Shape;91;p7"/>
          <p:cNvCxnSpPr/>
          <p:nvPr/>
        </p:nvCxnSpPr>
        <p:spPr>
          <a:xfrm>
            <a:off x="0" y="6537960"/>
            <a:ext cx="12191695" cy="0"/>
          </a:xfrm>
          <a:prstGeom prst="straightConnector1">
            <a:avLst/>
          </a:prstGeom>
          <a:noFill/>
          <a:ln cap="flat" cmpd="sng" w="38100">
            <a:solidFill>
              <a:srgbClr val="ED1C24"/>
            </a:solidFill>
            <a:prstDash val="solid"/>
            <a:round/>
            <a:headEnd len="sm" w="sm" type="none"/>
            <a:tailEnd len="sm" w="sm" type="none"/>
          </a:ln>
        </p:spPr>
      </p:cxnSp>
      <p:sp>
        <p:nvSpPr>
          <p:cNvPr id="92" name="Google Shape;92;p7"/>
          <p:cNvSpPr/>
          <p:nvPr/>
        </p:nvSpPr>
        <p:spPr>
          <a:xfrm>
            <a:off x="411480" y="6592824"/>
            <a:ext cx="2011680" cy="1645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650"/>
              <a:buFont typeface="Arial"/>
              <a:buNone/>
            </a:pPr>
            <a:r>
              <a:rPr b="1" i="0" lang="en-US" sz="650" u="none" cap="none" strike="noStrike">
                <a:solidFill>
                  <a:srgbClr val="737373"/>
                </a:solidFill>
                <a:latin typeface="Arial"/>
                <a:ea typeface="Arial"/>
                <a:cs typeface="Arial"/>
                <a:sym typeface="Arial"/>
              </a:rPr>
              <a:t>DECK 09</a:t>
            </a:r>
            <a:endParaRPr b="0" i="0" sz="650" u="none" cap="none" strike="noStrike">
              <a:solidFill>
                <a:schemeClr val="dk1"/>
              </a:solidFill>
              <a:latin typeface="Arial"/>
              <a:ea typeface="Arial"/>
              <a:cs typeface="Arial"/>
              <a:sym typeface="Arial"/>
            </a:endParaRPr>
          </a:p>
        </p:txBody>
      </p:sp>
      <p:sp>
        <p:nvSpPr>
          <p:cNvPr id="93" name="Google Shape;93;p7"/>
          <p:cNvSpPr/>
          <p:nvPr/>
        </p:nvSpPr>
        <p:spPr>
          <a:xfrm>
            <a:off x="10058400" y="6565392"/>
            <a:ext cx="173736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737373"/>
              </a:buClr>
              <a:buSzPts val="700"/>
              <a:buFont typeface="Arial"/>
              <a:buNone/>
            </a:pPr>
            <a:r>
              <a:rPr b="1" i="0" lang="en-US" sz="700" u="none" cap="none" strike="noStrike">
                <a:solidFill>
                  <a:srgbClr val="737373"/>
                </a:solidFill>
                <a:latin typeface="Arial"/>
                <a:ea typeface="Arial"/>
                <a:cs typeface="Arial"/>
                <a:sym typeface="Arial"/>
              </a:rPr>
              <a:t>STARLAB</a:t>
            </a:r>
            <a:endParaRPr b="0" i="0" sz="700" u="none" cap="none" strike="noStrike">
              <a:solidFill>
                <a:schemeClr val="dk1"/>
              </a:solidFill>
              <a:latin typeface="Arial"/>
              <a:ea typeface="Arial"/>
              <a:cs typeface="Arial"/>
              <a:sym typeface="Arial"/>
            </a:endParaRPr>
          </a:p>
        </p:txBody>
      </p:sp>
      <p:sp>
        <p:nvSpPr>
          <p:cNvPr id="94" name="Google Shape;94;p7"/>
          <p:cNvSpPr/>
          <p:nvPr/>
        </p:nvSpPr>
        <p:spPr>
          <a:xfrm>
            <a:off x="502920" y="475488"/>
            <a:ext cx="438912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900"/>
              <a:buFont typeface="Arial"/>
              <a:buNone/>
            </a:pPr>
            <a:r>
              <a:rPr b="1" i="0" lang="en-US" sz="900" u="none" cap="none" strike="noStrike">
                <a:solidFill>
                  <a:srgbClr val="ED1C24"/>
                </a:solidFill>
                <a:latin typeface="Arial"/>
                <a:ea typeface="Arial"/>
                <a:cs typeface="Arial"/>
                <a:sym typeface="Arial"/>
              </a:rPr>
              <a:t>DATA ORGANIZATION</a:t>
            </a:r>
            <a:endParaRPr b="0" i="0" sz="900" u="none" cap="none" strike="noStrike">
              <a:solidFill>
                <a:schemeClr val="dk1"/>
              </a:solidFill>
              <a:latin typeface="Arial"/>
              <a:ea typeface="Arial"/>
              <a:cs typeface="Arial"/>
              <a:sym typeface="Arial"/>
            </a:endParaRPr>
          </a:p>
        </p:txBody>
      </p:sp>
      <p:sp>
        <p:nvSpPr>
          <p:cNvPr id="95" name="Google Shape;95;p7"/>
          <p:cNvSpPr/>
          <p:nvPr/>
        </p:nvSpPr>
        <p:spPr>
          <a:xfrm>
            <a:off x="502920" y="749808"/>
            <a:ext cx="1097280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Raw data: the original record</a:t>
            </a:r>
            <a:endParaRPr b="0" i="0" sz="2800" u="none" cap="none" strike="noStrike">
              <a:solidFill>
                <a:schemeClr val="dk1"/>
              </a:solidFill>
              <a:latin typeface="Arial"/>
              <a:ea typeface="Arial"/>
              <a:cs typeface="Arial"/>
              <a:sym typeface="Arial"/>
            </a:endParaRPr>
          </a:p>
        </p:txBody>
      </p:sp>
      <p:cxnSp>
        <p:nvCxnSpPr>
          <p:cNvPr id="96" name="Google Shape;96;p7"/>
          <p:cNvCxnSpPr/>
          <p:nvPr/>
        </p:nvCxnSpPr>
        <p:spPr>
          <a:xfrm>
            <a:off x="502920" y="1389888"/>
            <a:ext cx="11109960" cy="0"/>
          </a:xfrm>
          <a:prstGeom prst="straightConnector1">
            <a:avLst/>
          </a:prstGeom>
          <a:noFill/>
          <a:ln cap="flat" cmpd="sng" w="17775">
            <a:solidFill>
              <a:srgbClr val="ED1C24">
                <a:alpha val="90196"/>
              </a:srgbClr>
            </a:solidFill>
            <a:prstDash val="solid"/>
            <a:round/>
            <a:headEnd len="sm" w="sm" type="none"/>
            <a:tailEnd len="sm" w="sm" type="none"/>
          </a:ln>
        </p:spPr>
      </p:cxnSp>
      <p:sp>
        <p:nvSpPr>
          <p:cNvPr id="97" name="Google Shape;97;p7"/>
          <p:cNvSpPr/>
          <p:nvPr/>
        </p:nvSpPr>
        <p:spPr>
          <a:xfrm>
            <a:off x="685800" y="1737360"/>
            <a:ext cx="5212080" cy="4251960"/>
          </a:xfrm>
          <a:prstGeom prst="rect">
            <a:avLst/>
          </a:prstGeom>
          <a:solidFill>
            <a:srgbClr val="0D0D0D"/>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7"/>
          <p:cNvSpPr/>
          <p:nvPr/>
        </p:nvSpPr>
        <p:spPr>
          <a:xfrm>
            <a:off x="6309360" y="1737360"/>
            <a:ext cx="5212080" cy="4251960"/>
          </a:xfrm>
          <a:prstGeom prst="rect">
            <a:avLst/>
          </a:prstGeom>
          <a:solidFill>
            <a:srgbClr val="0D0D0D"/>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7"/>
          <p:cNvSpPr/>
          <p:nvPr/>
        </p:nvSpPr>
        <p:spPr>
          <a:xfrm>
            <a:off x="960120" y="1938528"/>
            <a:ext cx="4663440" cy="41148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ED1C24"/>
              </a:buClr>
              <a:buSzPts val="2100"/>
              <a:buFont typeface="Play"/>
              <a:buNone/>
            </a:pPr>
            <a:r>
              <a:rPr b="1" i="0" lang="en-US" sz="2100" u="none" cap="none" strike="noStrike">
                <a:solidFill>
                  <a:srgbClr val="ED1C24"/>
                </a:solidFill>
                <a:latin typeface="Play"/>
                <a:ea typeface="Play"/>
                <a:cs typeface="Play"/>
                <a:sym typeface="Play"/>
              </a:rPr>
              <a:t>RAW DATA IS</a:t>
            </a:r>
            <a:endParaRPr b="0" i="0" sz="2100" u="none" cap="none" strike="noStrike">
              <a:solidFill>
                <a:schemeClr val="dk1"/>
              </a:solidFill>
              <a:latin typeface="Arial"/>
              <a:ea typeface="Arial"/>
              <a:cs typeface="Arial"/>
              <a:sym typeface="Arial"/>
            </a:endParaRPr>
          </a:p>
        </p:txBody>
      </p:sp>
      <p:sp>
        <p:nvSpPr>
          <p:cNvPr id="100" name="Google Shape;100;p7"/>
          <p:cNvSpPr/>
          <p:nvPr/>
        </p:nvSpPr>
        <p:spPr>
          <a:xfrm>
            <a:off x="6583680" y="1938528"/>
            <a:ext cx="4663440" cy="41148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ED1C24"/>
              </a:buClr>
              <a:buSzPts val="2100"/>
              <a:buFont typeface="Play"/>
              <a:buNone/>
            </a:pPr>
            <a:r>
              <a:rPr b="1" i="0" lang="en-US" sz="2100" u="none" cap="none" strike="noStrike">
                <a:solidFill>
                  <a:srgbClr val="ED1C24"/>
                </a:solidFill>
                <a:latin typeface="Play"/>
                <a:ea typeface="Play"/>
                <a:cs typeface="Play"/>
                <a:sym typeface="Play"/>
              </a:rPr>
              <a:t>RAW DATA IS NOT</a:t>
            </a:r>
            <a:endParaRPr b="0" i="0" sz="2100" u="none" cap="none" strike="noStrike">
              <a:solidFill>
                <a:schemeClr val="dk1"/>
              </a:solidFill>
              <a:latin typeface="Arial"/>
              <a:ea typeface="Arial"/>
              <a:cs typeface="Arial"/>
              <a:sym typeface="Arial"/>
            </a:endParaRPr>
          </a:p>
        </p:txBody>
      </p:sp>
      <p:sp>
        <p:nvSpPr>
          <p:cNvPr id="101" name="Google Shape;101;p7"/>
          <p:cNvSpPr/>
          <p:nvPr/>
        </p:nvSpPr>
        <p:spPr>
          <a:xfrm>
            <a:off x="960120" y="2542032"/>
            <a:ext cx="4663440" cy="2926080"/>
          </a:xfrm>
          <a:prstGeom prst="rect">
            <a:avLst/>
          </a:prstGeom>
          <a:noFill/>
          <a:ln>
            <a:noFill/>
          </a:ln>
        </p:spPr>
        <p:txBody>
          <a:bodyPr anchorCtr="0" anchor="ctr" bIns="1000" lIns="1000" spcFirstLastPara="1" rIns="1000" wrap="square" tIns="1000">
            <a:noAutofit/>
          </a:bodyPr>
          <a:lstStyle/>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FFFFFF"/>
                </a:solidFill>
                <a:latin typeface="Arial"/>
                <a:ea typeface="Arial"/>
                <a:cs typeface="Arial"/>
                <a:sym typeface="Arial"/>
              </a:rPr>
              <a:t>Original measurements</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FFFFFF"/>
                </a:solidFill>
                <a:latin typeface="Arial"/>
                <a:ea typeface="Arial"/>
                <a:cs typeface="Arial"/>
                <a:sym typeface="Arial"/>
              </a:rPr>
              <a:t>Original sensor output</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FFFFFF"/>
                </a:solidFill>
                <a:latin typeface="Arial"/>
                <a:ea typeface="Arial"/>
                <a:cs typeface="Arial"/>
                <a:sym typeface="Arial"/>
              </a:rPr>
              <a:t>Notebook entries</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FFFFFF"/>
                </a:solidFill>
                <a:latin typeface="Arial"/>
                <a:ea typeface="Arial"/>
                <a:cs typeface="Arial"/>
                <a:sym typeface="Arial"/>
              </a:rPr>
              <a:t>Photos or videos from testing</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FFFFFF"/>
                </a:solidFill>
                <a:latin typeface="Arial"/>
                <a:ea typeface="Arial"/>
                <a:cs typeface="Arial"/>
                <a:sym typeface="Arial"/>
              </a:rPr>
              <a:t>Prototype trial logs</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FFFFFF"/>
                </a:solidFill>
                <a:latin typeface="Arial"/>
                <a:ea typeface="Arial"/>
                <a:cs typeface="Arial"/>
                <a:sym typeface="Arial"/>
              </a:rPr>
              <a:t>Unedited survey export, if approved</a:t>
            </a:r>
            <a:endParaRPr b="0" i="0" sz="1700" u="none" cap="none" strike="noStrike">
              <a:solidFill>
                <a:schemeClr val="dk1"/>
              </a:solidFill>
              <a:latin typeface="Arial"/>
              <a:ea typeface="Arial"/>
              <a:cs typeface="Arial"/>
              <a:sym typeface="Arial"/>
            </a:endParaRPr>
          </a:p>
        </p:txBody>
      </p:sp>
      <p:sp>
        <p:nvSpPr>
          <p:cNvPr id="102" name="Google Shape;102;p7"/>
          <p:cNvSpPr/>
          <p:nvPr/>
        </p:nvSpPr>
        <p:spPr>
          <a:xfrm>
            <a:off x="6583680" y="2542032"/>
            <a:ext cx="4663440" cy="2926080"/>
          </a:xfrm>
          <a:prstGeom prst="rect">
            <a:avLst/>
          </a:prstGeom>
          <a:noFill/>
          <a:ln>
            <a:noFill/>
          </a:ln>
        </p:spPr>
        <p:txBody>
          <a:bodyPr anchorCtr="0" anchor="ctr" bIns="1000" lIns="1000" spcFirstLastPara="1" rIns="1000" wrap="square" tIns="1000">
            <a:noAutofit/>
          </a:bodyPr>
          <a:lstStyle/>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FFFFFF"/>
                </a:solidFill>
                <a:latin typeface="Arial"/>
                <a:ea typeface="Arial"/>
                <a:cs typeface="Arial"/>
                <a:sym typeface="Arial"/>
              </a:rPr>
              <a:t>A polished graph</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FFFFFF"/>
                </a:solidFill>
                <a:latin typeface="Arial"/>
                <a:ea typeface="Arial"/>
                <a:cs typeface="Arial"/>
                <a:sym typeface="Arial"/>
              </a:rPr>
              <a:t>A cleaned-up summary only</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FFFFFF"/>
                </a:solidFill>
                <a:latin typeface="Arial"/>
                <a:ea typeface="Arial"/>
                <a:cs typeface="Arial"/>
                <a:sym typeface="Arial"/>
              </a:rPr>
              <a:t>A table with failed trials removed</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FFFFFF"/>
                </a:solidFill>
                <a:latin typeface="Arial"/>
                <a:ea typeface="Arial"/>
                <a:cs typeface="Arial"/>
                <a:sym typeface="Arial"/>
              </a:rPr>
              <a:t>A memory of what probably happened</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FFFFFF"/>
                </a:solidFill>
                <a:latin typeface="Arial"/>
                <a:ea typeface="Arial"/>
                <a:cs typeface="Arial"/>
                <a:sym typeface="Arial"/>
              </a:rPr>
              <a:t>A file with formulas overwriting measurements</a:t>
            </a:r>
            <a:endParaRPr b="0" i="0" sz="1700" u="none" cap="none" strike="noStrike">
              <a:solidFill>
                <a:schemeClr val="dk1"/>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07" name="Shape 107"/>
        <p:cNvGrpSpPr/>
        <p:nvPr/>
      </p:nvGrpSpPr>
      <p:grpSpPr>
        <a:xfrm>
          <a:off x="0" y="0"/>
          <a:ext cx="0" cy="0"/>
          <a:chOff x="0" y="0"/>
          <a:chExt cx="0" cy="0"/>
        </a:xfrm>
      </p:grpSpPr>
      <p:cxnSp>
        <p:nvCxnSpPr>
          <p:cNvPr id="108" name="Google Shape;108;p8"/>
          <p:cNvCxnSpPr/>
          <p:nvPr/>
        </p:nvCxnSpPr>
        <p:spPr>
          <a:xfrm>
            <a:off x="0" y="256032"/>
            <a:ext cx="12191695" cy="0"/>
          </a:xfrm>
          <a:prstGeom prst="straightConnector1">
            <a:avLst/>
          </a:prstGeom>
          <a:noFill/>
          <a:ln cap="flat" cmpd="sng" w="38100">
            <a:solidFill>
              <a:srgbClr val="ED1C24"/>
            </a:solidFill>
            <a:prstDash val="solid"/>
            <a:round/>
            <a:headEnd len="sm" w="sm" type="none"/>
            <a:tailEnd len="sm" w="sm" type="none"/>
          </a:ln>
        </p:spPr>
      </p:cxnSp>
      <p:cxnSp>
        <p:nvCxnSpPr>
          <p:cNvPr id="109" name="Google Shape;109;p8"/>
          <p:cNvCxnSpPr/>
          <p:nvPr/>
        </p:nvCxnSpPr>
        <p:spPr>
          <a:xfrm>
            <a:off x="0" y="6537960"/>
            <a:ext cx="12191695" cy="0"/>
          </a:xfrm>
          <a:prstGeom prst="straightConnector1">
            <a:avLst/>
          </a:prstGeom>
          <a:noFill/>
          <a:ln cap="flat" cmpd="sng" w="38100">
            <a:solidFill>
              <a:srgbClr val="ED1C24"/>
            </a:solidFill>
            <a:prstDash val="solid"/>
            <a:round/>
            <a:headEnd len="sm" w="sm" type="none"/>
            <a:tailEnd len="sm" w="sm" type="none"/>
          </a:ln>
        </p:spPr>
      </p:cxnSp>
      <p:sp>
        <p:nvSpPr>
          <p:cNvPr id="110" name="Google Shape;110;p8"/>
          <p:cNvSpPr/>
          <p:nvPr/>
        </p:nvSpPr>
        <p:spPr>
          <a:xfrm>
            <a:off x="411480" y="6592824"/>
            <a:ext cx="2011680" cy="1645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650"/>
              <a:buFont typeface="Arial"/>
              <a:buNone/>
            </a:pPr>
            <a:r>
              <a:rPr b="1" i="0" lang="en-US" sz="650" u="none" cap="none" strike="noStrike">
                <a:solidFill>
                  <a:srgbClr val="737373"/>
                </a:solidFill>
                <a:latin typeface="Arial"/>
                <a:ea typeface="Arial"/>
                <a:cs typeface="Arial"/>
                <a:sym typeface="Arial"/>
              </a:rPr>
              <a:t>DECK 09</a:t>
            </a:r>
            <a:endParaRPr b="0" i="0" sz="650" u="none" cap="none" strike="noStrike">
              <a:solidFill>
                <a:schemeClr val="dk1"/>
              </a:solidFill>
              <a:latin typeface="Arial"/>
              <a:ea typeface="Arial"/>
              <a:cs typeface="Arial"/>
              <a:sym typeface="Arial"/>
            </a:endParaRPr>
          </a:p>
        </p:txBody>
      </p:sp>
      <p:sp>
        <p:nvSpPr>
          <p:cNvPr id="111" name="Google Shape;111;p8"/>
          <p:cNvSpPr/>
          <p:nvPr/>
        </p:nvSpPr>
        <p:spPr>
          <a:xfrm>
            <a:off x="10058400" y="6565392"/>
            <a:ext cx="173736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737373"/>
              </a:buClr>
              <a:buSzPts val="700"/>
              <a:buFont typeface="Arial"/>
              <a:buNone/>
            </a:pPr>
            <a:r>
              <a:rPr b="1" i="0" lang="en-US" sz="700" u="none" cap="none" strike="noStrike">
                <a:solidFill>
                  <a:srgbClr val="737373"/>
                </a:solidFill>
                <a:latin typeface="Arial"/>
                <a:ea typeface="Arial"/>
                <a:cs typeface="Arial"/>
                <a:sym typeface="Arial"/>
              </a:rPr>
              <a:t>STARLAB</a:t>
            </a:r>
            <a:endParaRPr b="0" i="0" sz="700" u="none" cap="none" strike="noStrike">
              <a:solidFill>
                <a:schemeClr val="dk1"/>
              </a:solidFill>
              <a:latin typeface="Arial"/>
              <a:ea typeface="Arial"/>
              <a:cs typeface="Arial"/>
              <a:sym typeface="Arial"/>
            </a:endParaRPr>
          </a:p>
        </p:txBody>
      </p:sp>
      <p:sp>
        <p:nvSpPr>
          <p:cNvPr id="112" name="Google Shape;112;p8"/>
          <p:cNvSpPr/>
          <p:nvPr/>
        </p:nvSpPr>
        <p:spPr>
          <a:xfrm>
            <a:off x="502920" y="475488"/>
            <a:ext cx="438912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900"/>
              <a:buFont typeface="Arial"/>
              <a:buNone/>
            </a:pPr>
            <a:r>
              <a:rPr b="1" i="0" lang="en-US" sz="900" u="none" cap="none" strike="noStrike">
                <a:solidFill>
                  <a:srgbClr val="ED1C24"/>
                </a:solidFill>
                <a:latin typeface="Arial"/>
                <a:ea typeface="Arial"/>
                <a:cs typeface="Arial"/>
                <a:sym typeface="Arial"/>
              </a:rPr>
              <a:t>DATA ORGANIZATION</a:t>
            </a:r>
            <a:endParaRPr b="0" i="0" sz="900" u="none" cap="none" strike="noStrike">
              <a:solidFill>
                <a:schemeClr val="dk1"/>
              </a:solidFill>
              <a:latin typeface="Arial"/>
              <a:ea typeface="Arial"/>
              <a:cs typeface="Arial"/>
              <a:sym typeface="Arial"/>
            </a:endParaRPr>
          </a:p>
        </p:txBody>
      </p:sp>
      <p:sp>
        <p:nvSpPr>
          <p:cNvPr id="113" name="Google Shape;113;p8"/>
          <p:cNvSpPr/>
          <p:nvPr/>
        </p:nvSpPr>
        <p:spPr>
          <a:xfrm>
            <a:off x="502920" y="749808"/>
            <a:ext cx="1097280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Clean data: a working copy for analysis</a:t>
            </a:r>
            <a:endParaRPr b="0" i="0" sz="2800" u="none" cap="none" strike="noStrike">
              <a:solidFill>
                <a:schemeClr val="dk1"/>
              </a:solidFill>
              <a:latin typeface="Arial"/>
              <a:ea typeface="Arial"/>
              <a:cs typeface="Arial"/>
              <a:sym typeface="Arial"/>
            </a:endParaRPr>
          </a:p>
        </p:txBody>
      </p:sp>
      <p:cxnSp>
        <p:nvCxnSpPr>
          <p:cNvPr id="114" name="Google Shape;114;p8"/>
          <p:cNvCxnSpPr/>
          <p:nvPr/>
        </p:nvCxnSpPr>
        <p:spPr>
          <a:xfrm>
            <a:off x="502920" y="1389888"/>
            <a:ext cx="11109960" cy="0"/>
          </a:xfrm>
          <a:prstGeom prst="straightConnector1">
            <a:avLst/>
          </a:prstGeom>
          <a:noFill/>
          <a:ln cap="flat" cmpd="sng" w="17775">
            <a:solidFill>
              <a:srgbClr val="ED1C24">
                <a:alpha val="90196"/>
              </a:srgbClr>
            </a:solidFill>
            <a:prstDash val="solid"/>
            <a:round/>
            <a:headEnd len="sm" w="sm" type="none"/>
            <a:tailEnd len="sm" w="sm" type="none"/>
          </a:ln>
        </p:spPr>
      </p:cxnSp>
      <p:sp>
        <p:nvSpPr>
          <p:cNvPr id="115" name="Google Shape;115;p8"/>
          <p:cNvSpPr/>
          <p:nvPr/>
        </p:nvSpPr>
        <p:spPr>
          <a:xfrm>
            <a:off x="685800" y="1737360"/>
            <a:ext cx="5212080" cy="4251960"/>
          </a:xfrm>
          <a:prstGeom prst="rect">
            <a:avLst/>
          </a:prstGeom>
          <a:solidFill>
            <a:srgbClr val="0D0D0D"/>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8"/>
          <p:cNvSpPr/>
          <p:nvPr/>
        </p:nvSpPr>
        <p:spPr>
          <a:xfrm>
            <a:off x="6309360" y="1737360"/>
            <a:ext cx="5212080" cy="4251960"/>
          </a:xfrm>
          <a:prstGeom prst="rect">
            <a:avLst/>
          </a:prstGeom>
          <a:solidFill>
            <a:srgbClr val="0D0D0D"/>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8"/>
          <p:cNvSpPr/>
          <p:nvPr/>
        </p:nvSpPr>
        <p:spPr>
          <a:xfrm>
            <a:off x="960120" y="1938528"/>
            <a:ext cx="4663440" cy="41148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ED1C24"/>
              </a:buClr>
              <a:buSzPts val="2100"/>
              <a:buFont typeface="Play"/>
              <a:buNone/>
            </a:pPr>
            <a:r>
              <a:rPr b="1" i="0" lang="en-US" sz="2100" u="none" cap="none" strike="noStrike">
                <a:solidFill>
                  <a:srgbClr val="ED1C24"/>
                </a:solidFill>
                <a:latin typeface="Play"/>
                <a:ea typeface="Play"/>
                <a:cs typeface="Play"/>
                <a:sym typeface="Play"/>
              </a:rPr>
              <a:t>CLEAN DATA DOES</a:t>
            </a:r>
            <a:endParaRPr b="0" i="0" sz="2100" u="none" cap="none" strike="noStrike">
              <a:solidFill>
                <a:schemeClr val="dk1"/>
              </a:solidFill>
              <a:latin typeface="Arial"/>
              <a:ea typeface="Arial"/>
              <a:cs typeface="Arial"/>
              <a:sym typeface="Arial"/>
            </a:endParaRPr>
          </a:p>
        </p:txBody>
      </p:sp>
      <p:sp>
        <p:nvSpPr>
          <p:cNvPr id="118" name="Google Shape;118;p8"/>
          <p:cNvSpPr/>
          <p:nvPr/>
        </p:nvSpPr>
        <p:spPr>
          <a:xfrm>
            <a:off x="6583680" y="1938528"/>
            <a:ext cx="4663440" cy="41148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ED1C24"/>
              </a:buClr>
              <a:buSzPts val="2100"/>
              <a:buFont typeface="Play"/>
              <a:buNone/>
            </a:pPr>
            <a:r>
              <a:rPr b="1" i="0" lang="en-US" sz="2100" u="none" cap="none" strike="noStrike">
                <a:solidFill>
                  <a:srgbClr val="ED1C24"/>
                </a:solidFill>
                <a:latin typeface="Play"/>
                <a:ea typeface="Play"/>
                <a:cs typeface="Play"/>
                <a:sym typeface="Play"/>
              </a:rPr>
              <a:t>CLEAN DATA DOES NOT</a:t>
            </a:r>
            <a:endParaRPr b="0" i="0" sz="2100" u="none" cap="none" strike="noStrike">
              <a:solidFill>
                <a:schemeClr val="dk1"/>
              </a:solidFill>
              <a:latin typeface="Arial"/>
              <a:ea typeface="Arial"/>
              <a:cs typeface="Arial"/>
              <a:sym typeface="Arial"/>
            </a:endParaRPr>
          </a:p>
        </p:txBody>
      </p:sp>
      <p:sp>
        <p:nvSpPr>
          <p:cNvPr id="119" name="Google Shape;119;p8"/>
          <p:cNvSpPr/>
          <p:nvPr/>
        </p:nvSpPr>
        <p:spPr>
          <a:xfrm>
            <a:off x="960120" y="2542032"/>
            <a:ext cx="4663440" cy="2926080"/>
          </a:xfrm>
          <a:prstGeom prst="rect">
            <a:avLst/>
          </a:prstGeom>
          <a:noFill/>
          <a:ln>
            <a:noFill/>
          </a:ln>
        </p:spPr>
        <p:txBody>
          <a:bodyPr anchorCtr="0" anchor="ctr" bIns="1000" lIns="1000" spcFirstLastPara="1" rIns="1000" wrap="square" tIns="1000">
            <a:noAutofit/>
          </a:bodyPr>
          <a:lstStyle/>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FFFFFF"/>
                </a:solidFill>
                <a:latin typeface="Arial"/>
                <a:ea typeface="Arial"/>
                <a:cs typeface="Arial"/>
                <a:sym typeface="Arial"/>
              </a:rPr>
              <a:t>Organizes raw measurements</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FFFFFF"/>
                </a:solidFill>
                <a:latin typeface="Arial"/>
                <a:ea typeface="Arial"/>
                <a:cs typeface="Arial"/>
                <a:sym typeface="Arial"/>
              </a:rPr>
              <a:t>Adds clear labels and units</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FFFFFF"/>
                </a:solidFill>
                <a:latin typeface="Arial"/>
                <a:ea typeface="Arial"/>
                <a:cs typeface="Arial"/>
                <a:sym typeface="Arial"/>
              </a:rPr>
              <a:t>Separates raw and calculated columns</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FFFFFF"/>
                </a:solidFill>
                <a:latin typeface="Arial"/>
                <a:ea typeface="Arial"/>
                <a:cs typeface="Arial"/>
                <a:sym typeface="Arial"/>
              </a:rPr>
              <a:t>Flags questionable entries</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FFFFFF"/>
                </a:solidFill>
                <a:latin typeface="Arial"/>
                <a:ea typeface="Arial"/>
                <a:cs typeface="Arial"/>
                <a:sym typeface="Arial"/>
              </a:rPr>
              <a:t>Makes analysis possible</a:t>
            </a:r>
            <a:endParaRPr b="0" i="0" sz="1700" u="none" cap="none" strike="noStrike">
              <a:solidFill>
                <a:schemeClr val="dk1"/>
              </a:solidFill>
              <a:latin typeface="Arial"/>
              <a:ea typeface="Arial"/>
              <a:cs typeface="Arial"/>
              <a:sym typeface="Arial"/>
            </a:endParaRPr>
          </a:p>
        </p:txBody>
      </p:sp>
      <p:sp>
        <p:nvSpPr>
          <p:cNvPr id="120" name="Google Shape;120;p8"/>
          <p:cNvSpPr/>
          <p:nvPr/>
        </p:nvSpPr>
        <p:spPr>
          <a:xfrm>
            <a:off x="6583680" y="2542032"/>
            <a:ext cx="4663440" cy="2926080"/>
          </a:xfrm>
          <a:prstGeom prst="rect">
            <a:avLst/>
          </a:prstGeom>
          <a:noFill/>
          <a:ln>
            <a:noFill/>
          </a:ln>
        </p:spPr>
        <p:txBody>
          <a:bodyPr anchorCtr="0" anchor="ctr" bIns="1000" lIns="1000" spcFirstLastPara="1" rIns="1000" wrap="square" tIns="1000">
            <a:noAutofit/>
          </a:bodyPr>
          <a:lstStyle/>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FFFFFF"/>
                </a:solidFill>
                <a:latin typeface="Arial"/>
                <a:ea typeface="Arial"/>
                <a:cs typeface="Arial"/>
                <a:sym typeface="Arial"/>
              </a:rPr>
              <a:t>Erase inconvenient results</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FFFFFF"/>
                </a:solidFill>
                <a:latin typeface="Arial"/>
                <a:ea typeface="Arial"/>
                <a:cs typeface="Arial"/>
                <a:sym typeface="Arial"/>
              </a:rPr>
              <a:t>Change numbers to fit expectations</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FFFFFF"/>
                </a:solidFill>
                <a:latin typeface="Arial"/>
                <a:ea typeface="Arial"/>
                <a:cs typeface="Arial"/>
                <a:sym typeface="Arial"/>
              </a:rPr>
              <a:t>Hide failed trials</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FFFFFF"/>
                </a:solidFill>
                <a:latin typeface="Arial"/>
                <a:ea typeface="Arial"/>
                <a:cs typeface="Arial"/>
                <a:sym typeface="Arial"/>
              </a:rPr>
              <a:t>Replace the raw record</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FFFFFF"/>
                </a:solidFill>
                <a:latin typeface="Arial"/>
                <a:ea typeface="Arial"/>
                <a:cs typeface="Arial"/>
                <a:sym typeface="Arial"/>
              </a:rPr>
              <a:t>Remove uncertainty</a:t>
            </a:r>
            <a:endParaRPr b="0" i="0" sz="1700" u="none" cap="none" strike="noStrike">
              <a:solidFill>
                <a:schemeClr val="dk1"/>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25" name="Shape 125"/>
        <p:cNvGrpSpPr/>
        <p:nvPr/>
      </p:nvGrpSpPr>
      <p:grpSpPr>
        <a:xfrm>
          <a:off x="0" y="0"/>
          <a:ext cx="0" cy="0"/>
          <a:chOff x="0" y="0"/>
          <a:chExt cx="0" cy="0"/>
        </a:xfrm>
      </p:grpSpPr>
      <p:cxnSp>
        <p:nvCxnSpPr>
          <p:cNvPr id="126" name="Google Shape;126;p9"/>
          <p:cNvCxnSpPr/>
          <p:nvPr/>
        </p:nvCxnSpPr>
        <p:spPr>
          <a:xfrm>
            <a:off x="0" y="256032"/>
            <a:ext cx="12191695" cy="0"/>
          </a:xfrm>
          <a:prstGeom prst="straightConnector1">
            <a:avLst/>
          </a:prstGeom>
          <a:noFill/>
          <a:ln cap="flat" cmpd="sng" w="38100">
            <a:solidFill>
              <a:srgbClr val="ED1C24"/>
            </a:solidFill>
            <a:prstDash val="solid"/>
            <a:round/>
            <a:headEnd len="sm" w="sm" type="none"/>
            <a:tailEnd len="sm" w="sm" type="none"/>
          </a:ln>
        </p:spPr>
      </p:cxnSp>
      <p:cxnSp>
        <p:nvCxnSpPr>
          <p:cNvPr id="127" name="Google Shape;127;p9"/>
          <p:cNvCxnSpPr/>
          <p:nvPr/>
        </p:nvCxnSpPr>
        <p:spPr>
          <a:xfrm>
            <a:off x="0" y="6537960"/>
            <a:ext cx="12191695" cy="0"/>
          </a:xfrm>
          <a:prstGeom prst="straightConnector1">
            <a:avLst/>
          </a:prstGeom>
          <a:noFill/>
          <a:ln cap="flat" cmpd="sng" w="38100">
            <a:solidFill>
              <a:srgbClr val="ED1C24"/>
            </a:solidFill>
            <a:prstDash val="solid"/>
            <a:round/>
            <a:headEnd len="sm" w="sm" type="none"/>
            <a:tailEnd len="sm" w="sm" type="none"/>
          </a:ln>
        </p:spPr>
      </p:cxnSp>
      <p:sp>
        <p:nvSpPr>
          <p:cNvPr id="128" name="Google Shape;128;p9"/>
          <p:cNvSpPr/>
          <p:nvPr/>
        </p:nvSpPr>
        <p:spPr>
          <a:xfrm>
            <a:off x="411480" y="6592824"/>
            <a:ext cx="2011680" cy="1645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650"/>
              <a:buFont typeface="Arial"/>
              <a:buNone/>
            </a:pPr>
            <a:r>
              <a:rPr b="1" i="0" lang="en-US" sz="650" u="none" cap="none" strike="noStrike">
                <a:solidFill>
                  <a:srgbClr val="737373"/>
                </a:solidFill>
                <a:latin typeface="Arial"/>
                <a:ea typeface="Arial"/>
                <a:cs typeface="Arial"/>
                <a:sym typeface="Arial"/>
              </a:rPr>
              <a:t>DECK 09</a:t>
            </a:r>
            <a:endParaRPr b="0" i="0" sz="650" u="none" cap="none" strike="noStrike">
              <a:solidFill>
                <a:schemeClr val="dk1"/>
              </a:solidFill>
              <a:latin typeface="Arial"/>
              <a:ea typeface="Arial"/>
              <a:cs typeface="Arial"/>
              <a:sym typeface="Arial"/>
            </a:endParaRPr>
          </a:p>
        </p:txBody>
      </p:sp>
      <p:sp>
        <p:nvSpPr>
          <p:cNvPr id="129" name="Google Shape;129;p9"/>
          <p:cNvSpPr/>
          <p:nvPr/>
        </p:nvSpPr>
        <p:spPr>
          <a:xfrm>
            <a:off x="10058400" y="6565392"/>
            <a:ext cx="173736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737373"/>
              </a:buClr>
              <a:buSzPts val="700"/>
              <a:buFont typeface="Arial"/>
              <a:buNone/>
            </a:pPr>
            <a:r>
              <a:rPr b="1" i="0" lang="en-US" sz="700" u="none" cap="none" strike="noStrike">
                <a:solidFill>
                  <a:srgbClr val="737373"/>
                </a:solidFill>
                <a:latin typeface="Arial"/>
                <a:ea typeface="Arial"/>
                <a:cs typeface="Arial"/>
                <a:sym typeface="Arial"/>
              </a:rPr>
              <a:t>STARLAB</a:t>
            </a:r>
            <a:endParaRPr b="0" i="0" sz="700" u="none" cap="none" strike="noStrike">
              <a:solidFill>
                <a:schemeClr val="dk1"/>
              </a:solidFill>
              <a:latin typeface="Arial"/>
              <a:ea typeface="Arial"/>
              <a:cs typeface="Arial"/>
              <a:sym typeface="Arial"/>
            </a:endParaRPr>
          </a:p>
        </p:txBody>
      </p:sp>
      <p:sp>
        <p:nvSpPr>
          <p:cNvPr id="130" name="Google Shape;130;p9"/>
          <p:cNvSpPr/>
          <p:nvPr/>
        </p:nvSpPr>
        <p:spPr>
          <a:xfrm>
            <a:off x="502920" y="475488"/>
            <a:ext cx="438912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900"/>
              <a:buFont typeface="Arial"/>
              <a:buNone/>
            </a:pPr>
            <a:r>
              <a:rPr b="1" i="0" lang="en-US" sz="900" u="none" cap="none" strike="noStrike">
                <a:solidFill>
                  <a:srgbClr val="ED1C24"/>
                </a:solidFill>
                <a:latin typeface="Arial"/>
                <a:ea typeface="Arial"/>
                <a:cs typeface="Arial"/>
                <a:sym typeface="Arial"/>
              </a:rPr>
              <a:t>DATA ORGANIZATION</a:t>
            </a:r>
            <a:endParaRPr b="0" i="0" sz="900" u="none" cap="none" strike="noStrike">
              <a:solidFill>
                <a:schemeClr val="dk1"/>
              </a:solidFill>
              <a:latin typeface="Arial"/>
              <a:ea typeface="Arial"/>
              <a:cs typeface="Arial"/>
              <a:sym typeface="Arial"/>
            </a:endParaRPr>
          </a:p>
        </p:txBody>
      </p:sp>
      <p:sp>
        <p:nvSpPr>
          <p:cNvPr id="131" name="Google Shape;131;p9"/>
          <p:cNvSpPr/>
          <p:nvPr/>
        </p:nvSpPr>
        <p:spPr>
          <a:xfrm>
            <a:off x="502920" y="749808"/>
            <a:ext cx="1097280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The STARLAB data pipeline</a:t>
            </a:r>
            <a:endParaRPr b="0" i="0" sz="2800" u="none" cap="none" strike="noStrike">
              <a:solidFill>
                <a:schemeClr val="dk1"/>
              </a:solidFill>
              <a:latin typeface="Arial"/>
              <a:ea typeface="Arial"/>
              <a:cs typeface="Arial"/>
              <a:sym typeface="Arial"/>
            </a:endParaRPr>
          </a:p>
        </p:txBody>
      </p:sp>
      <p:cxnSp>
        <p:nvCxnSpPr>
          <p:cNvPr id="132" name="Google Shape;132;p9"/>
          <p:cNvCxnSpPr/>
          <p:nvPr/>
        </p:nvCxnSpPr>
        <p:spPr>
          <a:xfrm>
            <a:off x="502920" y="1389888"/>
            <a:ext cx="11109960" cy="0"/>
          </a:xfrm>
          <a:prstGeom prst="straightConnector1">
            <a:avLst/>
          </a:prstGeom>
          <a:noFill/>
          <a:ln cap="flat" cmpd="sng" w="17775">
            <a:solidFill>
              <a:srgbClr val="ED1C24">
                <a:alpha val="90196"/>
              </a:srgbClr>
            </a:solidFill>
            <a:prstDash val="solid"/>
            <a:round/>
            <a:headEnd len="sm" w="sm" type="none"/>
            <a:tailEnd len="sm" w="sm" type="none"/>
          </a:ln>
        </p:spPr>
      </p:cxnSp>
      <p:sp>
        <p:nvSpPr>
          <p:cNvPr id="133" name="Google Shape;133;p9"/>
          <p:cNvSpPr/>
          <p:nvPr/>
        </p:nvSpPr>
        <p:spPr>
          <a:xfrm>
            <a:off x="731520" y="2331720"/>
            <a:ext cx="1920240" cy="1417320"/>
          </a:xfrm>
          <a:prstGeom prst="rect">
            <a:avLst/>
          </a:prstGeom>
          <a:solidFill>
            <a:srgbClr val="151515"/>
          </a:solidFill>
          <a:ln cap="flat" cmpd="sng" w="15225">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 name="Google Shape;134;p9"/>
          <p:cNvSpPr/>
          <p:nvPr/>
        </p:nvSpPr>
        <p:spPr>
          <a:xfrm>
            <a:off x="868680" y="2468880"/>
            <a:ext cx="32004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000"/>
              <a:buFont typeface="Arial"/>
              <a:buNone/>
            </a:pPr>
            <a:r>
              <a:rPr b="1" i="0" lang="en-US" sz="1000" u="none" cap="none" strike="noStrike">
                <a:solidFill>
                  <a:srgbClr val="ED1C24"/>
                </a:solidFill>
                <a:latin typeface="Arial"/>
                <a:ea typeface="Arial"/>
                <a:cs typeface="Arial"/>
                <a:sym typeface="Arial"/>
              </a:rPr>
              <a:t>1</a:t>
            </a:r>
            <a:endParaRPr b="0" i="0" sz="1000" u="none" cap="none" strike="noStrike">
              <a:solidFill>
                <a:schemeClr val="dk1"/>
              </a:solidFill>
              <a:latin typeface="Arial"/>
              <a:ea typeface="Arial"/>
              <a:cs typeface="Arial"/>
              <a:sym typeface="Arial"/>
            </a:endParaRPr>
          </a:p>
        </p:txBody>
      </p:sp>
      <p:sp>
        <p:nvSpPr>
          <p:cNvPr id="135" name="Google Shape;135;p9"/>
          <p:cNvSpPr/>
          <p:nvPr/>
        </p:nvSpPr>
        <p:spPr>
          <a:xfrm>
            <a:off x="987552" y="2834640"/>
            <a:ext cx="1408176"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700"/>
              <a:buFont typeface="Play"/>
              <a:buNone/>
            </a:pPr>
            <a:r>
              <a:rPr b="1" i="0" lang="en-US" sz="1700" u="none" cap="none" strike="noStrike">
                <a:solidFill>
                  <a:srgbClr val="FFFFFF"/>
                </a:solidFill>
                <a:latin typeface="Play"/>
                <a:ea typeface="Play"/>
                <a:cs typeface="Play"/>
                <a:sym typeface="Play"/>
              </a:rPr>
              <a:t>RAW</a:t>
            </a:r>
            <a:endParaRPr b="0" i="0" sz="17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FFFFFF"/>
              </a:buClr>
              <a:buSzPts val="1700"/>
              <a:buFont typeface="Play"/>
              <a:buNone/>
            </a:pPr>
            <a:r>
              <a:rPr b="1" i="0" lang="en-US" sz="1700" u="none" cap="none" strike="noStrike">
                <a:solidFill>
                  <a:srgbClr val="FFFFFF"/>
                </a:solidFill>
                <a:latin typeface="Play"/>
                <a:ea typeface="Play"/>
                <a:cs typeface="Play"/>
                <a:sym typeface="Play"/>
              </a:rPr>
              <a:t>DATA</a:t>
            </a:r>
            <a:endParaRPr b="0" i="0" sz="1700" u="none" cap="none" strike="noStrike">
              <a:solidFill>
                <a:schemeClr val="dk1"/>
              </a:solidFill>
              <a:latin typeface="Arial"/>
              <a:ea typeface="Arial"/>
              <a:cs typeface="Arial"/>
              <a:sym typeface="Arial"/>
            </a:endParaRPr>
          </a:p>
        </p:txBody>
      </p:sp>
      <p:cxnSp>
        <p:nvCxnSpPr>
          <p:cNvPr id="136" name="Google Shape;136;p9"/>
          <p:cNvCxnSpPr/>
          <p:nvPr/>
        </p:nvCxnSpPr>
        <p:spPr>
          <a:xfrm>
            <a:off x="2697480" y="3044952"/>
            <a:ext cx="201168" cy="0"/>
          </a:xfrm>
          <a:prstGeom prst="straightConnector1">
            <a:avLst/>
          </a:prstGeom>
          <a:noFill/>
          <a:ln cap="flat" cmpd="sng" w="19050">
            <a:solidFill>
              <a:srgbClr val="ED1C24"/>
            </a:solidFill>
            <a:prstDash val="solid"/>
            <a:round/>
            <a:headEnd len="sm" w="sm" type="none"/>
            <a:tailEnd len="med" w="med" type="triangle"/>
          </a:ln>
        </p:spPr>
      </p:cxnSp>
      <p:sp>
        <p:nvSpPr>
          <p:cNvPr id="137" name="Google Shape;137;p9"/>
          <p:cNvSpPr/>
          <p:nvPr/>
        </p:nvSpPr>
        <p:spPr>
          <a:xfrm>
            <a:off x="2944368" y="2331720"/>
            <a:ext cx="1920240" cy="1417320"/>
          </a:xfrm>
          <a:prstGeom prst="rect">
            <a:avLst/>
          </a:prstGeom>
          <a:solidFill>
            <a:srgbClr val="0D0D0D"/>
          </a:solidFill>
          <a:ln cap="flat" cmpd="sng" w="15225">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 name="Google Shape;138;p9"/>
          <p:cNvSpPr/>
          <p:nvPr/>
        </p:nvSpPr>
        <p:spPr>
          <a:xfrm>
            <a:off x="3081528" y="2468880"/>
            <a:ext cx="32004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000"/>
              <a:buFont typeface="Arial"/>
              <a:buNone/>
            </a:pPr>
            <a:r>
              <a:rPr b="1" i="0" lang="en-US" sz="1000" u="none" cap="none" strike="noStrike">
                <a:solidFill>
                  <a:srgbClr val="ED1C24"/>
                </a:solidFill>
                <a:latin typeface="Arial"/>
                <a:ea typeface="Arial"/>
                <a:cs typeface="Arial"/>
                <a:sym typeface="Arial"/>
              </a:rPr>
              <a:t>2</a:t>
            </a:r>
            <a:endParaRPr b="0" i="0" sz="1000" u="none" cap="none" strike="noStrike">
              <a:solidFill>
                <a:schemeClr val="dk1"/>
              </a:solidFill>
              <a:latin typeface="Arial"/>
              <a:ea typeface="Arial"/>
              <a:cs typeface="Arial"/>
              <a:sym typeface="Arial"/>
            </a:endParaRPr>
          </a:p>
        </p:txBody>
      </p:sp>
      <p:sp>
        <p:nvSpPr>
          <p:cNvPr id="139" name="Google Shape;139;p9"/>
          <p:cNvSpPr/>
          <p:nvPr/>
        </p:nvSpPr>
        <p:spPr>
          <a:xfrm>
            <a:off x="3200400" y="2834640"/>
            <a:ext cx="1408176"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700"/>
              <a:buFont typeface="Play"/>
              <a:buNone/>
            </a:pPr>
            <a:r>
              <a:rPr b="1" i="0" lang="en-US" sz="1700" u="none" cap="none" strike="noStrike">
                <a:solidFill>
                  <a:srgbClr val="FFFFFF"/>
                </a:solidFill>
                <a:latin typeface="Play"/>
                <a:ea typeface="Play"/>
                <a:cs typeface="Play"/>
                <a:sym typeface="Play"/>
              </a:rPr>
              <a:t>BACKUP</a:t>
            </a:r>
            <a:endParaRPr b="0" i="0" sz="1700" u="none" cap="none" strike="noStrike">
              <a:solidFill>
                <a:schemeClr val="dk1"/>
              </a:solidFill>
              <a:latin typeface="Arial"/>
              <a:ea typeface="Arial"/>
              <a:cs typeface="Arial"/>
              <a:sym typeface="Arial"/>
            </a:endParaRPr>
          </a:p>
        </p:txBody>
      </p:sp>
      <p:cxnSp>
        <p:nvCxnSpPr>
          <p:cNvPr id="140" name="Google Shape;140;p9"/>
          <p:cNvCxnSpPr/>
          <p:nvPr/>
        </p:nvCxnSpPr>
        <p:spPr>
          <a:xfrm>
            <a:off x="4910328" y="3044952"/>
            <a:ext cx="201168" cy="0"/>
          </a:xfrm>
          <a:prstGeom prst="straightConnector1">
            <a:avLst/>
          </a:prstGeom>
          <a:noFill/>
          <a:ln cap="flat" cmpd="sng" w="19050">
            <a:solidFill>
              <a:srgbClr val="ED1C24"/>
            </a:solidFill>
            <a:prstDash val="solid"/>
            <a:round/>
            <a:headEnd len="sm" w="sm" type="none"/>
            <a:tailEnd len="med" w="med" type="triangle"/>
          </a:ln>
        </p:spPr>
      </p:cxnSp>
      <p:sp>
        <p:nvSpPr>
          <p:cNvPr id="141" name="Google Shape;141;p9"/>
          <p:cNvSpPr/>
          <p:nvPr/>
        </p:nvSpPr>
        <p:spPr>
          <a:xfrm>
            <a:off x="5157216" y="2331720"/>
            <a:ext cx="1920240" cy="1417320"/>
          </a:xfrm>
          <a:prstGeom prst="rect">
            <a:avLst/>
          </a:prstGeom>
          <a:solidFill>
            <a:srgbClr val="0D0D0D"/>
          </a:solidFill>
          <a:ln cap="flat" cmpd="sng" w="15225">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9"/>
          <p:cNvSpPr/>
          <p:nvPr/>
        </p:nvSpPr>
        <p:spPr>
          <a:xfrm>
            <a:off x="5294376" y="2468880"/>
            <a:ext cx="32004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000"/>
              <a:buFont typeface="Arial"/>
              <a:buNone/>
            </a:pPr>
            <a:r>
              <a:rPr b="1" i="0" lang="en-US" sz="1000" u="none" cap="none" strike="noStrike">
                <a:solidFill>
                  <a:srgbClr val="ED1C24"/>
                </a:solidFill>
                <a:latin typeface="Arial"/>
                <a:ea typeface="Arial"/>
                <a:cs typeface="Arial"/>
                <a:sym typeface="Arial"/>
              </a:rPr>
              <a:t>3</a:t>
            </a:r>
            <a:endParaRPr b="0" i="0" sz="1000" u="none" cap="none" strike="noStrike">
              <a:solidFill>
                <a:schemeClr val="dk1"/>
              </a:solidFill>
              <a:latin typeface="Arial"/>
              <a:ea typeface="Arial"/>
              <a:cs typeface="Arial"/>
              <a:sym typeface="Arial"/>
            </a:endParaRPr>
          </a:p>
        </p:txBody>
      </p:sp>
      <p:sp>
        <p:nvSpPr>
          <p:cNvPr id="143" name="Google Shape;143;p9"/>
          <p:cNvSpPr/>
          <p:nvPr/>
        </p:nvSpPr>
        <p:spPr>
          <a:xfrm>
            <a:off x="5413248" y="2834640"/>
            <a:ext cx="1408176"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700"/>
              <a:buFont typeface="Play"/>
              <a:buNone/>
            </a:pPr>
            <a:r>
              <a:rPr b="1" i="0" lang="en-US" sz="1700" u="none" cap="none" strike="noStrike">
                <a:solidFill>
                  <a:srgbClr val="FFFFFF"/>
                </a:solidFill>
                <a:latin typeface="Play"/>
                <a:ea typeface="Play"/>
                <a:cs typeface="Play"/>
                <a:sym typeface="Play"/>
              </a:rPr>
              <a:t>WORKING</a:t>
            </a:r>
            <a:endParaRPr b="0" i="0" sz="17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FFFFFF"/>
              </a:buClr>
              <a:buSzPts val="1700"/>
              <a:buFont typeface="Play"/>
              <a:buNone/>
            </a:pPr>
            <a:r>
              <a:rPr b="1" i="0" lang="en-US" sz="1700" u="none" cap="none" strike="noStrike">
                <a:solidFill>
                  <a:srgbClr val="FFFFFF"/>
                </a:solidFill>
                <a:latin typeface="Play"/>
                <a:ea typeface="Play"/>
                <a:cs typeface="Play"/>
                <a:sym typeface="Play"/>
              </a:rPr>
              <a:t>COPY</a:t>
            </a:r>
            <a:endParaRPr b="0" i="0" sz="1700" u="none" cap="none" strike="noStrike">
              <a:solidFill>
                <a:schemeClr val="dk1"/>
              </a:solidFill>
              <a:latin typeface="Arial"/>
              <a:ea typeface="Arial"/>
              <a:cs typeface="Arial"/>
              <a:sym typeface="Arial"/>
            </a:endParaRPr>
          </a:p>
        </p:txBody>
      </p:sp>
      <p:cxnSp>
        <p:nvCxnSpPr>
          <p:cNvPr id="144" name="Google Shape;144;p9"/>
          <p:cNvCxnSpPr/>
          <p:nvPr/>
        </p:nvCxnSpPr>
        <p:spPr>
          <a:xfrm>
            <a:off x="7123176" y="3044952"/>
            <a:ext cx="201168" cy="0"/>
          </a:xfrm>
          <a:prstGeom prst="straightConnector1">
            <a:avLst/>
          </a:prstGeom>
          <a:noFill/>
          <a:ln cap="flat" cmpd="sng" w="19050">
            <a:solidFill>
              <a:srgbClr val="ED1C24"/>
            </a:solidFill>
            <a:prstDash val="solid"/>
            <a:round/>
            <a:headEnd len="sm" w="sm" type="none"/>
            <a:tailEnd len="med" w="med" type="triangle"/>
          </a:ln>
        </p:spPr>
      </p:cxnSp>
      <p:sp>
        <p:nvSpPr>
          <p:cNvPr id="145" name="Google Shape;145;p9"/>
          <p:cNvSpPr/>
          <p:nvPr/>
        </p:nvSpPr>
        <p:spPr>
          <a:xfrm>
            <a:off x="7370064" y="2331720"/>
            <a:ext cx="1920240" cy="1417320"/>
          </a:xfrm>
          <a:prstGeom prst="rect">
            <a:avLst/>
          </a:prstGeom>
          <a:solidFill>
            <a:srgbClr val="0D0D0D"/>
          </a:solidFill>
          <a:ln cap="flat" cmpd="sng" w="15225">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 name="Google Shape;146;p9"/>
          <p:cNvSpPr/>
          <p:nvPr/>
        </p:nvSpPr>
        <p:spPr>
          <a:xfrm>
            <a:off x="7507224" y="2468880"/>
            <a:ext cx="32004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000"/>
              <a:buFont typeface="Arial"/>
              <a:buNone/>
            </a:pPr>
            <a:r>
              <a:rPr b="1" i="0" lang="en-US" sz="1000" u="none" cap="none" strike="noStrike">
                <a:solidFill>
                  <a:srgbClr val="ED1C24"/>
                </a:solidFill>
                <a:latin typeface="Arial"/>
                <a:ea typeface="Arial"/>
                <a:cs typeface="Arial"/>
                <a:sym typeface="Arial"/>
              </a:rPr>
              <a:t>4</a:t>
            </a:r>
            <a:endParaRPr b="0" i="0" sz="1000" u="none" cap="none" strike="noStrike">
              <a:solidFill>
                <a:schemeClr val="dk1"/>
              </a:solidFill>
              <a:latin typeface="Arial"/>
              <a:ea typeface="Arial"/>
              <a:cs typeface="Arial"/>
              <a:sym typeface="Arial"/>
            </a:endParaRPr>
          </a:p>
        </p:txBody>
      </p:sp>
      <p:sp>
        <p:nvSpPr>
          <p:cNvPr id="147" name="Google Shape;147;p9"/>
          <p:cNvSpPr/>
          <p:nvPr/>
        </p:nvSpPr>
        <p:spPr>
          <a:xfrm>
            <a:off x="7626096" y="2834640"/>
            <a:ext cx="1408176"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700"/>
              <a:buFont typeface="Play"/>
              <a:buNone/>
            </a:pPr>
            <a:r>
              <a:rPr b="1" i="0" lang="en-US" sz="1700" u="none" cap="none" strike="noStrike">
                <a:solidFill>
                  <a:srgbClr val="FFFFFF"/>
                </a:solidFill>
                <a:latin typeface="Play"/>
                <a:ea typeface="Play"/>
                <a:cs typeface="Play"/>
                <a:sym typeface="Play"/>
              </a:rPr>
              <a:t>CLEAN</a:t>
            </a:r>
            <a:endParaRPr b="0" i="0" sz="17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FFFFFF"/>
              </a:buClr>
              <a:buSzPts val="1700"/>
              <a:buFont typeface="Play"/>
              <a:buNone/>
            </a:pPr>
            <a:r>
              <a:rPr b="1" i="0" lang="en-US" sz="1700" u="none" cap="none" strike="noStrike">
                <a:solidFill>
                  <a:srgbClr val="FFFFFF"/>
                </a:solidFill>
                <a:latin typeface="Play"/>
                <a:ea typeface="Play"/>
                <a:cs typeface="Play"/>
                <a:sym typeface="Play"/>
              </a:rPr>
              <a:t>DATA</a:t>
            </a:r>
            <a:endParaRPr b="0" i="0" sz="1700" u="none" cap="none" strike="noStrike">
              <a:solidFill>
                <a:schemeClr val="dk1"/>
              </a:solidFill>
              <a:latin typeface="Arial"/>
              <a:ea typeface="Arial"/>
              <a:cs typeface="Arial"/>
              <a:sym typeface="Arial"/>
            </a:endParaRPr>
          </a:p>
        </p:txBody>
      </p:sp>
      <p:cxnSp>
        <p:nvCxnSpPr>
          <p:cNvPr id="148" name="Google Shape;148;p9"/>
          <p:cNvCxnSpPr/>
          <p:nvPr/>
        </p:nvCxnSpPr>
        <p:spPr>
          <a:xfrm>
            <a:off x="9336024" y="3044952"/>
            <a:ext cx="201168" cy="0"/>
          </a:xfrm>
          <a:prstGeom prst="straightConnector1">
            <a:avLst/>
          </a:prstGeom>
          <a:noFill/>
          <a:ln cap="flat" cmpd="sng" w="19050">
            <a:solidFill>
              <a:srgbClr val="ED1C24"/>
            </a:solidFill>
            <a:prstDash val="solid"/>
            <a:round/>
            <a:headEnd len="sm" w="sm" type="none"/>
            <a:tailEnd len="med" w="med" type="triangle"/>
          </a:ln>
        </p:spPr>
      </p:cxnSp>
      <p:sp>
        <p:nvSpPr>
          <p:cNvPr id="149" name="Google Shape;149;p9"/>
          <p:cNvSpPr/>
          <p:nvPr/>
        </p:nvSpPr>
        <p:spPr>
          <a:xfrm>
            <a:off x="9582912" y="2331720"/>
            <a:ext cx="1920240" cy="1417320"/>
          </a:xfrm>
          <a:prstGeom prst="rect">
            <a:avLst/>
          </a:prstGeom>
          <a:solidFill>
            <a:srgbClr val="0D0D0D"/>
          </a:solidFill>
          <a:ln cap="flat" cmpd="sng" w="15225">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 name="Google Shape;150;p9"/>
          <p:cNvSpPr/>
          <p:nvPr/>
        </p:nvSpPr>
        <p:spPr>
          <a:xfrm>
            <a:off x="9720072" y="2468880"/>
            <a:ext cx="32004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000"/>
              <a:buFont typeface="Arial"/>
              <a:buNone/>
            </a:pPr>
            <a:r>
              <a:rPr b="1" i="0" lang="en-US" sz="1000" u="none" cap="none" strike="noStrike">
                <a:solidFill>
                  <a:srgbClr val="ED1C24"/>
                </a:solidFill>
                <a:latin typeface="Arial"/>
                <a:ea typeface="Arial"/>
                <a:cs typeface="Arial"/>
                <a:sym typeface="Arial"/>
              </a:rPr>
              <a:t>5</a:t>
            </a:r>
            <a:endParaRPr b="0" i="0" sz="1000" u="none" cap="none" strike="noStrike">
              <a:solidFill>
                <a:schemeClr val="dk1"/>
              </a:solidFill>
              <a:latin typeface="Arial"/>
              <a:ea typeface="Arial"/>
              <a:cs typeface="Arial"/>
              <a:sym typeface="Arial"/>
            </a:endParaRPr>
          </a:p>
        </p:txBody>
      </p:sp>
      <p:sp>
        <p:nvSpPr>
          <p:cNvPr id="151" name="Google Shape;151;p9"/>
          <p:cNvSpPr/>
          <p:nvPr/>
        </p:nvSpPr>
        <p:spPr>
          <a:xfrm>
            <a:off x="9838944" y="2834640"/>
            <a:ext cx="1408176"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700"/>
              <a:buFont typeface="Play"/>
              <a:buNone/>
            </a:pPr>
            <a:r>
              <a:rPr b="1" i="0" lang="en-US" sz="1700" u="none" cap="none" strike="noStrike">
                <a:solidFill>
                  <a:srgbClr val="FFFFFF"/>
                </a:solidFill>
                <a:latin typeface="Play"/>
                <a:ea typeface="Play"/>
                <a:cs typeface="Play"/>
                <a:sym typeface="Play"/>
              </a:rPr>
              <a:t>ANALYSIS</a:t>
            </a:r>
            <a:endParaRPr b="0" i="0" sz="1700" u="none" cap="none" strike="noStrike">
              <a:solidFill>
                <a:schemeClr val="dk1"/>
              </a:solidFill>
              <a:latin typeface="Arial"/>
              <a:ea typeface="Arial"/>
              <a:cs typeface="Arial"/>
              <a:sym typeface="Arial"/>
            </a:endParaRPr>
          </a:p>
        </p:txBody>
      </p:sp>
      <p:sp>
        <p:nvSpPr>
          <p:cNvPr id="152" name="Google Shape;152;p9"/>
          <p:cNvSpPr/>
          <p:nvPr/>
        </p:nvSpPr>
        <p:spPr>
          <a:xfrm>
            <a:off x="868680" y="4343400"/>
            <a:ext cx="5074920" cy="1097280"/>
          </a:xfrm>
          <a:prstGeom prst="rect">
            <a:avLst/>
          </a:prstGeom>
          <a:solidFill>
            <a:srgbClr val="0D0D0D"/>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9"/>
          <p:cNvSpPr/>
          <p:nvPr/>
        </p:nvSpPr>
        <p:spPr>
          <a:xfrm>
            <a:off x="868680" y="4343400"/>
            <a:ext cx="73152" cy="1097280"/>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 name="Google Shape;154;p9"/>
          <p:cNvSpPr/>
          <p:nvPr/>
        </p:nvSpPr>
        <p:spPr>
          <a:xfrm>
            <a:off x="1069848" y="4507992"/>
            <a:ext cx="475488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000"/>
              <a:buFont typeface="Arial"/>
              <a:buNone/>
            </a:pPr>
            <a:r>
              <a:rPr b="1" i="0" lang="en-US" sz="1000" u="none" cap="none" strike="noStrike">
                <a:solidFill>
                  <a:srgbClr val="ED1C24"/>
                </a:solidFill>
                <a:latin typeface="Arial"/>
                <a:ea typeface="Arial"/>
                <a:cs typeface="Arial"/>
                <a:sym typeface="Arial"/>
              </a:rPr>
              <a:t>RULE</a:t>
            </a:r>
            <a:endParaRPr b="0" i="0" sz="1000" u="none" cap="none" strike="noStrike">
              <a:solidFill>
                <a:schemeClr val="dk1"/>
              </a:solidFill>
              <a:latin typeface="Arial"/>
              <a:ea typeface="Arial"/>
              <a:cs typeface="Arial"/>
              <a:sym typeface="Arial"/>
            </a:endParaRPr>
          </a:p>
        </p:txBody>
      </p:sp>
      <p:sp>
        <p:nvSpPr>
          <p:cNvPr id="155" name="Google Shape;155;p9"/>
          <p:cNvSpPr/>
          <p:nvPr/>
        </p:nvSpPr>
        <p:spPr>
          <a:xfrm>
            <a:off x="1069848" y="4846320"/>
            <a:ext cx="4754880" cy="475488"/>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1700"/>
              <a:buFont typeface="Arial"/>
              <a:buNone/>
            </a:pPr>
            <a:r>
              <a:rPr b="0" i="0" lang="en-US" sz="1700" u="none" cap="none" strike="noStrike">
                <a:solidFill>
                  <a:srgbClr val="FFFFFF"/>
                </a:solidFill>
                <a:latin typeface="Arial"/>
                <a:ea typeface="Arial"/>
                <a:cs typeface="Arial"/>
                <a:sym typeface="Arial"/>
              </a:rPr>
              <a:t>Never edit the only copy of your raw data.</a:t>
            </a:r>
            <a:endParaRPr b="0" i="0" sz="1700" u="none" cap="none" strike="noStrike">
              <a:solidFill>
                <a:schemeClr val="dk1"/>
              </a:solidFill>
              <a:latin typeface="Arial"/>
              <a:ea typeface="Arial"/>
              <a:cs typeface="Arial"/>
              <a:sym typeface="Arial"/>
            </a:endParaRPr>
          </a:p>
        </p:txBody>
      </p:sp>
      <p:sp>
        <p:nvSpPr>
          <p:cNvPr id="156" name="Google Shape;156;p9"/>
          <p:cNvSpPr/>
          <p:nvPr/>
        </p:nvSpPr>
        <p:spPr>
          <a:xfrm>
            <a:off x="6217920" y="4343400"/>
            <a:ext cx="4937760" cy="1097280"/>
          </a:xfrm>
          <a:prstGeom prst="rect">
            <a:avLst/>
          </a:prstGeom>
          <a:solidFill>
            <a:srgbClr val="0D0D0D"/>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 name="Google Shape;157;p9"/>
          <p:cNvSpPr/>
          <p:nvPr/>
        </p:nvSpPr>
        <p:spPr>
          <a:xfrm>
            <a:off x="6217920" y="4343400"/>
            <a:ext cx="73152" cy="1097280"/>
          </a:xfrm>
          <a:prstGeom prst="rect">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 name="Google Shape;158;p9"/>
          <p:cNvSpPr/>
          <p:nvPr/>
        </p:nvSpPr>
        <p:spPr>
          <a:xfrm>
            <a:off x="6419088" y="4507992"/>
            <a:ext cx="461772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000"/>
              <a:buFont typeface="Arial"/>
              <a:buNone/>
            </a:pPr>
            <a:r>
              <a:rPr b="1" i="0" lang="en-US" sz="1000" u="none" cap="none" strike="noStrike">
                <a:solidFill>
                  <a:srgbClr val="FFFFFF"/>
                </a:solidFill>
                <a:latin typeface="Arial"/>
                <a:ea typeface="Arial"/>
                <a:cs typeface="Arial"/>
                <a:sym typeface="Arial"/>
              </a:rPr>
              <a:t>QUESTION</a:t>
            </a:r>
            <a:endParaRPr b="0" i="0" sz="1000" u="none" cap="none" strike="noStrike">
              <a:solidFill>
                <a:schemeClr val="dk1"/>
              </a:solidFill>
              <a:latin typeface="Arial"/>
              <a:ea typeface="Arial"/>
              <a:cs typeface="Arial"/>
              <a:sym typeface="Arial"/>
            </a:endParaRPr>
          </a:p>
        </p:txBody>
      </p:sp>
      <p:sp>
        <p:nvSpPr>
          <p:cNvPr id="159" name="Google Shape;159;p9"/>
          <p:cNvSpPr/>
          <p:nvPr/>
        </p:nvSpPr>
        <p:spPr>
          <a:xfrm>
            <a:off x="6419088" y="4846320"/>
            <a:ext cx="4617720" cy="475488"/>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1700"/>
              <a:buFont typeface="Arial"/>
              <a:buNone/>
            </a:pPr>
            <a:r>
              <a:rPr b="0" i="0" lang="en-US" sz="1700" u="none" cap="none" strike="noStrike">
                <a:solidFill>
                  <a:srgbClr val="FFFFFF"/>
                </a:solidFill>
                <a:latin typeface="Arial"/>
                <a:ea typeface="Arial"/>
                <a:cs typeface="Arial"/>
                <a:sym typeface="Arial"/>
              </a:rPr>
              <a:t>Can someone trace your final graph back to the original record?</a:t>
            </a:r>
            <a:endParaRPr b="0" i="0" sz="1700" u="none" cap="none" strike="noStrike">
              <a:solidFill>
                <a:schemeClr val="dk1"/>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64" name="Shape 164"/>
        <p:cNvGrpSpPr/>
        <p:nvPr/>
      </p:nvGrpSpPr>
      <p:grpSpPr>
        <a:xfrm>
          <a:off x="0" y="0"/>
          <a:ext cx="0" cy="0"/>
          <a:chOff x="0" y="0"/>
          <a:chExt cx="0" cy="0"/>
        </a:xfrm>
      </p:grpSpPr>
      <p:cxnSp>
        <p:nvCxnSpPr>
          <p:cNvPr id="165" name="Google Shape;165;p10"/>
          <p:cNvCxnSpPr/>
          <p:nvPr/>
        </p:nvCxnSpPr>
        <p:spPr>
          <a:xfrm>
            <a:off x="0" y="256032"/>
            <a:ext cx="12191695" cy="0"/>
          </a:xfrm>
          <a:prstGeom prst="straightConnector1">
            <a:avLst/>
          </a:prstGeom>
          <a:noFill/>
          <a:ln cap="flat" cmpd="sng" w="38100">
            <a:solidFill>
              <a:srgbClr val="ED1C24"/>
            </a:solidFill>
            <a:prstDash val="solid"/>
            <a:round/>
            <a:headEnd len="sm" w="sm" type="none"/>
            <a:tailEnd len="sm" w="sm" type="none"/>
          </a:ln>
        </p:spPr>
      </p:cxnSp>
      <p:cxnSp>
        <p:nvCxnSpPr>
          <p:cNvPr id="166" name="Google Shape;166;p10"/>
          <p:cNvCxnSpPr/>
          <p:nvPr/>
        </p:nvCxnSpPr>
        <p:spPr>
          <a:xfrm>
            <a:off x="0" y="6537960"/>
            <a:ext cx="12191695" cy="0"/>
          </a:xfrm>
          <a:prstGeom prst="straightConnector1">
            <a:avLst/>
          </a:prstGeom>
          <a:noFill/>
          <a:ln cap="flat" cmpd="sng" w="38100">
            <a:solidFill>
              <a:srgbClr val="ED1C24"/>
            </a:solidFill>
            <a:prstDash val="solid"/>
            <a:round/>
            <a:headEnd len="sm" w="sm" type="none"/>
            <a:tailEnd len="sm" w="sm" type="none"/>
          </a:ln>
        </p:spPr>
      </p:cxnSp>
      <p:sp>
        <p:nvSpPr>
          <p:cNvPr id="167" name="Google Shape;167;p10"/>
          <p:cNvSpPr/>
          <p:nvPr/>
        </p:nvSpPr>
        <p:spPr>
          <a:xfrm>
            <a:off x="411480" y="6592824"/>
            <a:ext cx="2011680" cy="1645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650"/>
              <a:buFont typeface="Arial"/>
              <a:buNone/>
            </a:pPr>
            <a:r>
              <a:rPr b="1" i="0" lang="en-US" sz="650" u="none" cap="none" strike="noStrike">
                <a:solidFill>
                  <a:srgbClr val="737373"/>
                </a:solidFill>
                <a:latin typeface="Arial"/>
                <a:ea typeface="Arial"/>
                <a:cs typeface="Arial"/>
                <a:sym typeface="Arial"/>
              </a:rPr>
              <a:t>DECK 09</a:t>
            </a:r>
            <a:endParaRPr b="0" i="0" sz="650" u="none" cap="none" strike="noStrike">
              <a:solidFill>
                <a:schemeClr val="dk1"/>
              </a:solidFill>
              <a:latin typeface="Arial"/>
              <a:ea typeface="Arial"/>
              <a:cs typeface="Arial"/>
              <a:sym typeface="Arial"/>
            </a:endParaRPr>
          </a:p>
        </p:txBody>
      </p:sp>
      <p:sp>
        <p:nvSpPr>
          <p:cNvPr id="168" name="Google Shape;168;p10"/>
          <p:cNvSpPr/>
          <p:nvPr/>
        </p:nvSpPr>
        <p:spPr>
          <a:xfrm>
            <a:off x="10058400" y="6565392"/>
            <a:ext cx="173736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737373"/>
              </a:buClr>
              <a:buSzPts val="700"/>
              <a:buFont typeface="Arial"/>
              <a:buNone/>
            </a:pPr>
            <a:r>
              <a:rPr b="1" i="0" lang="en-US" sz="700" u="none" cap="none" strike="noStrike">
                <a:solidFill>
                  <a:srgbClr val="737373"/>
                </a:solidFill>
                <a:latin typeface="Arial"/>
                <a:ea typeface="Arial"/>
                <a:cs typeface="Arial"/>
                <a:sym typeface="Arial"/>
              </a:rPr>
              <a:t>STARLAB</a:t>
            </a:r>
            <a:endParaRPr b="0" i="0" sz="700" u="none" cap="none" strike="noStrike">
              <a:solidFill>
                <a:schemeClr val="dk1"/>
              </a:solidFill>
              <a:latin typeface="Arial"/>
              <a:ea typeface="Arial"/>
              <a:cs typeface="Arial"/>
              <a:sym typeface="Arial"/>
            </a:endParaRPr>
          </a:p>
        </p:txBody>
      </p:sp>
      <p:sp>
        <p:nvSpPr>
          <p:cNvPr id="169" name="Google Shape;169;p10"/>
          <p:cNvSpPr/>
          <p:nvPr/>
        </p:nvSpPr>
        <p:spPr>
          <a:xfrm>
            <a:off x="502920" y="475488"/>
            <a:ext cx="438912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900"/>
              <a:buFont typeface="Arial"/>
              <a:buNone/>
            </a:pPr>
            <a:r>
              <a:rPr b="1" i="0" lang="en-US" sz="900" u="none" cap="none" strike="noStrike">
                <a:solidFill>
                  <a:srgbClr val="ED1C24"/>
                </a:solidFill>
                <a:latin typeface="Arial"/>
                <a:ea typeface="Arial"/>
                <a:cs typeface="Arial"/>
                <a:sym typeface="Arial"/>
              </a:rPr>
              <a:t>DATA ORGANIZATION</a:t>
            </a:r>
            <a:endParaRPr b="0" i="0" sz="900" u="none" cap="none" strike="noStrike">
              <a:solidFill>
                <a:schemeClr val="dk1"/>
              </a:solidFill>
              <a:latin typeface="Arial"/>
              <a:ea typeface="Arial"/>
              <a:cs typeface="Arial"/>
              <a:sym typeface="Arial"/>
            </a:endParaRPr>
          </a:p>
        </p:txBody>
      </p:sp>
      <p:sp>
        <p:nvSpPr>
          <p:cNvPr id="170" name="Google Shape;170;p10"/>
          <p:cNvSpPr/>
          <p:nvPr/>
        </p:nvSpPr>
        <p:spPr>
          <a:xfrm>
            <a:off x="502920" y="749808"/>
            <a:ext cx="1097280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What belongs in a clean data set?</a:t>
            </a:r>
            <a:endParaRPr b="0" i="0" sz="2800" u="none" cap="none" strike="noStrike">
              <a:solidFill>
                <a:schemeClr val="dk1"/>
              </a:solidFill>
              <a:latin typeface="Arial"/>
              <a:ea typeface="Arial"/>
              <a:cs typeface="Arial"/>
              <a:sym typeface="Arial"/>
            </a:endParaRPr>
          </a:p>
        </p:txBody>
      </p:sp>
      <p:cxnSp>
        <p:nvCxnSpPr>
          <p:cNvPr id="171" name="Google Shape;171;p10"/>
          <p:cNvCxnSpPr/>
          <p:nvPr/>
        </p:nvCxnSpPr>
        <p:spPr>
          <a:xfrm>
            <a:off x="502920" y="1389888"/>
            <a:ext cx="11109960" cy="0"/>
          </a:xfrm>
          <a:prstGeom prst="straightConnector1">
            <a:avLst/>
          </a:prstGeom>
          <a:noFill/>
          <a:ln cap="flat" cmpd="sng" w="17775">
            <a:solidFill>
              <a:srgbClr val="ED1C24">
                <a:alpha val="90196"/>
              </a:srgbClr>
            </a:solidFill>
            <a:prstDash val="solid"/>
            <a:round/>
            <a:headEnd len="sm" w="sm" type="none"/>
            <a:tailEnd len="sm" w="sm" type="none"/>
          </a:ln>
        </p:spPr>
      </p:cxnSp>
      <p:sp>
        <p:nvSpPr>
          <p:cNvPr id="172" name="Google Shape;172;p10"/>
          <p:cNvSpPr/>
          <p:nvPr/>
        </p:nvSpPr>
        <p:spPr>
          <a:xfrm>
            <a:off x="777240" y="1737360"/>
            <a:ext cx="5166360" cy="960120"/>
          </a:xfrm>
          <a:prstGeom prst="rect">
            <a:avLst/>
          </a:prstGeom>
          <a:solidFill>
            <a:srgbClr val="0D0D0D"/>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10"/>
          <p:cNvSpPr/>
          <p:nvPr/>
        </p:nvSpPr>
        <p:spPr>
          <a:xfrm>
            <a:off x="978408" y="1901952"/>
            <a:ext cx="2057400" cy="292608"/>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ED1C24"/>
              </a:buClr>
              <a:buSzPts val="1500"/>
              <a:buFont typeface="Play"/>
              <a:buNone/>
            </a:pPr>
            <a:r>
              <a:rPr b="1" i="0" lang="en-US" sz="1500" u="none" cap="none" strike="noStrike">
                <a:solidFill>
                  <a:srgbClr val="ED1C24"/>
                </a:solidFill>
                <a:latin typeface="Play"/>
                <a:ea typeface="Play"/>
                <a:cs typeface="Play"/>
                <a:sym typeface="Play"/>
              </a:rPr>
              <a:t>Trial / Sample #</a:t>
            </a:r>
            <a:endParaRPr b="0" i="0" sz="1500" u="none" cap="none" strike="noStrike">
              <a:solidFill>
                <a:schemeClr val="dk1"/>
              </a:solidFill>
              <a:latin typeface="Arial"/>
              <a:ea typeface="Arial"/>
              <a:cs typeface="Arial"/>
              <a:sym typeface="Arial"/>
            </a:endParaRPr>
          </a:p>
        </p:txBody>
      </p:sp>
      <p:sp>
        <p:nvSpPr>
          <p:cNvPr id="174" name="Google Shape;174;p10"/>
          <p:cNvSpPr/>
          <p:nvPr/>
        </p:nvSpPr>
        <p:spPr>
          <a:xfrm>
            <a:off x="3291840" y="1938528"/>
            <a:ext cx="2331720" cy="310896"/>
          </a:xfrm>
          <a:prstGeom prst="rect">
            <a:avLst/>
          </a:prstGeom>
          <a:noFill/>
          <a:ln>
            <a:noFill/>
          </a:ln>
        </p:spPr>
        <p:txBody>
          <a:bodyPr anchorCtr="0" anchor="t" bIns="625" lIns="625" spcFirstLastPara="1" rIns="625" wrap="square" tIns="625">
            <a:noAutofit/>
          </a:bodyPr>
          <a:lstStyle/>
          <a:p>
            <a:pPr indent="0" lvl="0" marL="0" marR="0" rtl="0" algn="l">
              <a:lnSpc>
                <a:spcPct val="100000"/>
              </a:lnSpc>
              <a:spcBef>
                <a:spcPts val="0"/>
              </a:spcBef>
              <a:spcAft>
                <a:spcPts val="0"/>
              </a:spcAft>
              <a:buClr>
                <a:srgbClr val="FFFFFF"/>
              </a:buClr>
              <a:buSzPts val="1300"/>
              <a:buFont typeface="Arial"/>
              <a:buNone/>
            </a:pPr>
            <a:r>
              <a:rPr b="0" i="0" lang="en-US" sz="1300" u="none" cap="none" strike="noStrike">
                <a:solidFill>
                  <a:srgbClr val="FFFFFF"/>
                </a:solidFill>
                <a:latin typeface="Arial"/>
                <a:ea typeface="Arial"/>
                <a:cs typeface="Arial"/>
                <a:sym typeface="Arial"/>
              </a:rPr>
              <a:t>Every row needs an identity</a:t>
            </a:r>
            <a:endParaRPr b="0" i="0" sz="1300" u="none" cap="none" strike="noStrike">
              <a:solidFill>
                <a:schemeClr val="dk1"/>
              </a:solidFill>
              <a:latin typeface="Arial"/>
              <a:ea typeface="Arial"/>
              <a:cs typeface="Arial"/>
              <a:sym typeface="Arial"/>
            </a:endParaRPr>
          </a:p>
        </p:txBody>
      </p:sp>
      <p:sp>
        <p:nvSpPr>
          <p:cNvPr id="175" name="Google Shape;175;p10"/>
          <p:cNvSpPr/>
          <p:nvPr/>
        </p:nvSpPr>
        <p:spPr>
          <a:xfrm>
            <a:off x="6309360" y="1737360"/>
            <a:ext cx="5166360" cy="960120"/>
          </a:xfrm>
          <a:prstGeom prst="rect">
            <a:avLst/>
          </a:prstGeom>
          <a:solidFill>
            <a:srgbClr val="0D0D0D"/>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 name="Google Shape;176;p10"/>
          <p:cNvSpPr/>
          <p:nvPr/>
        </p:nvSpPr>
        <p:spPr>
          <a:xfrm>
            <a:off x="6510528" y="1901952"/>
            <a:ext cx="2057400" cy="292608"/>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ED1C24"/>
              </a:buClr>
              <a:buSzPts val="1500"/>
              <a:buFont typeface="Play"/>
              <a:buNone/>
            </a:pPr>
            <a:r>
              <a:rPr b="1" i="0" lang="en-US" sz="1500" u="none" cap="none" strike="noStrike">
                <a:solidFill>
                  <a:srgbClr val="ED1C24"/>
                </a:solidFill>
                <a:latin typeface="Play"/>
                <a:ea typeface="Play"/>
                <a:cs typeface="Play"/>
                <a:sym typeface="Play"/>
              </a:rPr>
              <a:t>Condition</a:t>
            </a:r>
            <a:endParaRPr b="0" i="0" sz="1500" u="none" cap="none" strike="noStrike">
              <a:solidFill>
                <a:schemeClr val="dk1"/>
              </a:solidFill>
              <a:latin typeface="Arial"/>
              <a:ea typeface="Arial"/>
              <a:cs typeface="Arial"/>
              <a:sym typeface="Arial"/>
            </a:endParaRPr>
          </a:p>
        </p:txBody>
      </p:sp>
      <p:sp>
        <p:nvSpPr>
          <p:cNvPr id="177" name="Google Shape;177;p10"/>
          <p:cNvSpPr/>
          <p:nvPr/>
        </p:nvSpPr>
        <p:spPr>
          <a:xfrm>
            <a:off x="8823960" y="1938528"/>
            <a:ext cx="2331720" cy="310896"/>
          </a:xfrm>
          <a:prstGeom prst="rect">
            <a:avLst/>
          </a:prstGeom>
          <a:noFill/>
          <a:ln>
            <a:noFill/>
          </a:ln>
        </p:spPr>
        <p:txBody>
          <a:bodyPr anchorCtr="0" anchor="t" bIns="625" lIns="625" spcFirstLastPara="1" rIns="625" wrap="square" tIns="625">
            <a:noAutofit/>
          </a:bodyPr>
          <a:lstStyle/>
          <a:p>
            <a:pPr indent="0" lvl="0" marL="0" marR="0" rtl="0" algn="l">
              <a:lnSpc>
                <a:spcPct val="100000"/>
              </a:lnSpc>
              <a:spcBef>
                <a:spcPts val="0"/>
              </a:spcBef>
              <a:spcAft>
                <a:spcPts val="0"/>
              </a:spcAft>
              <a:buClr>
                <a:srgbClr val="FFFFFF"/>
              </a:buClr>
              <a:buSzPts val="1300"/>
              <a:buFont typeface="Arial"/>
              <a:buNone/>
            </a:pPr>
            <a:r>
              <a:rPr b="0" i="0" lang="en-US" sz="1300" u="none" cap="none" strike="noStrike">
                <a:solidFill>
                  <a:srgbClr val="FFFFFF"/>
                </a:solidFill>
                <a:latin typeface="Arial"/>
                <a:ea typeface="Arial"/>
                <a:cs typeface="Arial"/>
                <a:sym typeface="Arial"/>
              </a:rPr>
              <a:t>What group, version, or variable level?</a:t>
            </a:r>
            <a:endParaRPr b="0" i="0" sz="1300" u="none" cap="none" strike="noStrike">
              <a:solidFill>
                <a:schemeClr val="dk1"/>
              </a:solidFill>
              <a:latin typeface="Arial"/>
              <a:ea typeface="Arial"/>
              <a:cs typeface="Arial"/>
              <a:sym typeface="Arial"/>
            </a:endParaRPr>
          </a:p>
        </p:txBody>
      </p:sp>
      <p:sp>
        <p:nvSpPr>
          <p:cNvPr id="178" name="Google Shape;178;p10"/>
          <p:cNvSpPr/>
          <p:nvPr/>
        </p:nvSpPr>
        <p:spPr>
          <a:xfrm>
            <a:off x="777240" y="3063240"/>
            <a:ext cx="5166360" cy="960120"/>
          </a:xfrm>
          <a:prstGeom prst="rect">
            <a:avLst/>
          </a:prstGeom>
          <a:solidFill>
            <a:srgbClr val="0D0D0D"/>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 name="Google Shape;179;p10"/>
          <p:cNvSpPr/>
          <p:nvPr/>
        </p:nvSpPr>
        <p:spPr>
          <a:xfrm>
            <a:off x="978408" y="3227832"/>
            <a:ext cx="2057400" cy="292608"/>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ED1C24"/>
              </a:buClr>
              <a:buSzPts val="1500"/>
              <a:buFont typeface="Play"/>
              <a:buNone/>
            </a:pPr>
            <a:r>
              <a:rPr b="1" i="0" lang="en-US" sz="1500" u="none" cap="none" strike="noStrike">
                <a:solidFill>
                  <a:srgbClr val="ED1C24"/>
                </a:solidFill>
                <a:latin typeface="Play"/>
                <a:ea typeface="Play"/>
                <a:cs typeface="Play"/>
                <a:sym typeface="Play"/>
              </a:rPr>
              <a:t>Measurement</a:t>
            </a:r>
            <a:endParaRPr b="0" i="0" sz="1500" u="none" cap="none" strike="noStrike">
              <a:solidFill>
                <a:schemeClr val="dk1"/>
              </a:solidFill>
              <a:latin typeface="Arial"/>
              <a:ea typeface="Arial"/>
              <a:cs typeface="Arial"/>
              <a:sym typeface="Arial"/>
            </a:endParaRPr>
          </a:p>
        </p:txBody>
      </p:sp>
      <p:sp>
        <p:nvSpPr>
          <p:cNvPr id="180" name="Google Shape;180;p10"/>
          <p:cNvSpPr/>
          <p:nvPr/>
        </p:nvSpPr>
        <p:spPr>
          <a:xfrm>
            <a:off x="3291840" y="3264408"/>
            <a:ext cx="2331720" cy="310896"/>
          </a:xfrm>
          <a:prstGeom prst="rect">
            <a:avLst/>
          </a:prstGeom>
          <a:noFill/>
          <a:ln>
            <a:noFill/>
          </a:ln>
        </p:spPr>
        <p:txBody>
          <a:bodyPr anchorCtr="0" anchor="t" bIns="625" lIns="625" spcFirstLastPara="1" rIns="625" wrap="square" tIns="625">
            <a:noAutofit/>
          </a:bodyPr>
          <a:lstStyle/>
          <a:p>
            <a:pPr indent="0" lvl="0" marL="0" marR="0" rtl="0" algn="l">
              <a:lnSpc>
                <a:spcPct val="100000"/>
              </a:lnSpc>
              <a:spcBef>
                <a:spcPts val="0"/>
              </a:spcBef>
              <a:spcAft>
                <a:spcPts val="0"/>
              </a:spcAft>
              <a:buClr>
                <a:srgbClr val="FFFFFF"/>
              </a:buClr>
              <a:buSzPts val="1300"/>
              <a:buFont typeface="Arial"/>
              <a:buNone/>
            </a:pPr>
            <a:r>
              <a:rPr b="0" i="0" lang="en-US" sz="1300" u="none" cap="none" strike="noStrike">
                <a:solidFill>
                  <a:srgbClr val="FFFFFF"/>
                </a:solidFill>
                <a:latin typeface="Arial"/>
                <a:ea typeface="Arial"/>
                <a:cs typeface="Arial"/>
                <a:sym typeface="Arial"/>
              </a:rPr>
              <a:t>Raw value first</a:t>
            </a:r>
            <a:endParaRPr b="0" i="0" sz="1300" u="none" cap="none" strike="noStrike">
              <a:solidFill>
                <a:schemeClr val="dk1"/>
              </a:solidFill>
              <a:latin typeface="Arial"/>
              <a:ea typeface="Arial"/>
              <a:cs typeface="Arial"/>
              <a:sym typeface="Arial"/>
            </a:endParaRPr>
          </a:p>
        </p:txBody>
      </p:sp>
      <p:sp>
        <p:nvSpPr>
          <p:cNvPr id="181" name="Google Shape;181;p10"/>
          <p:cNvSpPr/>
          <p:nvPr/>
        </p:nvSpPr>
        <p:spPr>
          <a:xfrm>
            <a:off x="6309360" y="3063240"/>
            <a:ext cx="5166360" cy="960120"/>
          </a:xfrm>
          <a:prstGeom prst="rect">
            <a:avLst/>
          </a:prstGeom>
          <a:solidFill>
            <a:srgbClr val="0D0D0D"/>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 name="Google Shape;182;p10"/>
          <p:cNvSpPr/>
          <p:nvPr/>
        </p:nvSpPr>
        <p:spPr>
          <a:xfrm>
            <a:off x="6510528" y="3227832"/>
            <a:ext cx="2057400" cy="292608"/>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ED1C24"/>
              </a:buClr>
              <a:buSzPts val="1500"/>
              <a:buFont typeface="Play"/>
              <a:buNone/>
            </a:pPr>
            <a:r>
              <a:rPr b="1" i="0" lang="en-US" sz="1500" u="none" cap="none" strike="noStrike">
                <a:solidFill>
                  <a:srgbClr val="ED1C24"/>
                </a:solidFill>
                <a:latin typeface="Play"/>
                <a:ea typeface="Play"/>
                <a:cs typeface="Play"/>
                <a:sym typeface="Play"/>
              </a:rPr>
              <a:t>Units</a:t>
            </a:r>
            <a:endParaRPr b="0" i="0" sz="1500" u="none" cap="none" strike="noStrike">
              <a:solidFill>
                <a:schemeClr val="dk1"/>
              </a:solidFill>
              <a:latin typeface="Arial"/>
              <a:ea typeface="Arial"/>
              <a:cs typeface="Arial"/>
              <a:sym typeface="Arial"/>
            </a:endParaRPr>
          </a:p>
        </p:txBody>
      </p:sp>
      <p:sp>
        <p:nvSpPr>
          <p:cNvPr id="183" name="Google Shape;183;p10"/>
          <p:cNvSpPr/>
          <p:nvPr/>
        </p:nvSpPr>
        <p:spPr>
          <a:xfrm>
            <a:off x="8823960" y="3264408"/>
            <a:ext cx="2331720" cy="310896"/>
          </a:xfrm>
          <a:prstGeom prst="rect">
            <a:avLst/>
          </a:prstGeom>
          <a:noFill/>
          <a:ln>
            <a:noFill/>
          </a:ln>
        </p:spPr>
        <p:txBody>
          <a:bodyPr anchorCtr="0" anchor="t" bIns="625" lIns="625" spcFirstLastPara="1" rIns="625" wrap="square" tIns="625">
            <a:noAutofit/>
          </a:bodyPr>
          <a:lstStyle/>
          <a:p>
            <a:pPr indent="0" lvl="0" marL="0" marR="0" rtl="0" algn="l">
              <a:lnSpc>
                <a:spcPct val="100000"/>
              </a:lnSpc>
              <a:spcBef>
                <a:spcPts val="0"/>
              </a:spcBef>
              <a:spcAft>
                <a:spcPts val="0"/>
              </a:spcAft>
              <a:buClr>
                <a:srgbClr val="FFFFFF"/>
              </a:buClr>
              <a:buSzPts val="1300"/>
              <a:buFont typeface="Arial"/>
              <a:buNone/>
            </a:pPr>
            <a:r>
              <a:rPr b="0" i="0" lang="en-US" sz="1300" u="none" cap="none" strike="noStrike">
                <a:solidFill>
                  <a:srgbClr val="FFFFFF"/>
                </a:solidFill>
                <a:latin typeface="Arial"/>
                <a:ea typeface="Arial"/>
                <a:cs typeface="Arial"/>
                <a:sym typeface="Arial"/>
              </a:rPr>
              <a:t>cm, g, V, s, °C, etc.</a:t>
            </a:r>
            <a:endParaRPr b="0" i="0" sz="1300" u="none" cap="none" strike="noStrike">
              <a:solidFill>
                <a:schemeClr val="dk1"/>
              </a:solidFill>
              <a:latin typeface="Arial"/>
              <a:ea typeface="Arial"/>
              <a:cs typeface="Arial"/>
              <a:sym typeface="Arial"/>
            </a:endParaRPr>
          </a:p>
        </p:txBody>
      </p:sp>
      <p:sp>
        <p:nvSpPr>
          <p:cNvPr id="184" name="Google Shape;184;p10"/>
          <p:cNvSpPr/>
          <p:nvPr/>
        </p:nvSpPr>
        <p:spPr>
          <a:xfrm>
            <a:off x="777240" y="4389120"/>
            <a:ext cx="5166360" cy="960120"/>
          </a:xfrm>
          <a:prstGeom prst="rect">
            <a:avLst/>
          </a:prstGeom>
          <a:solidFill>
            <a:srgbClr val="0D0D0D"/>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 name="Google Shape;185;p10"/>
          <p:cNvSpPr/>
          <p:nvPr/>
        </p:nvSpPr>
        <p:spPr>
          <a:xfrm>
            <a:off x="978408" y="4553712"/>
            <a:ext cx="2057400" cy="292608"/>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ED1C24"/>
              </a:buClr>
              <a:buSzPts val="1500"/>
              <a:buFont typeface="Play"/>
              <a:buNone/>
            </a:pPr>
            <a:r>
              <a:rPr b="1" i="0" lang="en-US" sz="1500" u="none" cap="none" strike="noStrike">
                <a:solidFill>
                  <a:srgbClr val="ED1C24"/>
                </a:solidFill>
                <a:latin typeface="Play"/>
                <a:ea typeface="Play"/>
                <a:cs typeface="Play"/>
                <a:sym typeface="Play"/>
              </a:rPr>
              <a:t>Date / Session</a:t>
            </a:r>
            <a:endParaRPr b="0" i="0" sz="1500" u="none" cap="none" strike="noStrike">
              <a:solidFill>
                <a:schemeClr val="dk1"/>
              </a:solidFill>
              <a:latin typeface="Arial"/>
              <a:ea typeface="Arial"/>
              <a:cs typeface="Arial"/>
              <a:sym typeface="Arial"/>
            </a:endParaRPr>
          </a:p>
        </p:txBody>
      </p:sp>
      <p:sp>
        <p:nvSpPr>
          <p:cNvPr id="186" name="Google Shape;186;p10"/>
          <p:cNvSpPr/>
          <p:nvPr/>
        </p:nvSpPr>
        <p:spPr>
          <a:xfrm>
            <a:off x="3291840" y="4590288"/>
            <a:ext cx="2331720" cy="310896"/>
          </a:xfrm>
          <a:prstGeom prst="rect">
            <a:avLst/>
          </a:prstGeom>
          <a:noFill/>
          <a:ln>
            <a:noFill/>
          </a:ln>
        </p:spPr>
        <p:txBody>
          <a:bodyPr anchorCtr="0" anchor="t" bIns="625" lIns="625" spcFirstLastPara="1" rIns="625" wrap="square" tIns="625">
            <a:noAutofit/>
          </a:bodyPr>
          <a:lstStyle/>
          <a:p>
            <a:pPr indent="0" lvl="0" marL="0" marR="0" rtl="0" algn="l">
              <a:lnSpc>
                <a:spcPct val="100000"/>
              </a:lnSpc>
              <a:spcBef>
                <a:spcPts val="0"/>
              </a:spcBef>
              <a:spcAft>
                <a:spcPts val="0"/>
              </a:spcAft>
              <a:buClr>
                <a:srgbClr val="FFFFFF"/>
              </a:buClr>
              <a:buSzPts val="1300"/>
              <a:buFont typeface="Arial"/>
              <a:buNone/>
            </a:pPr>
            <a:r>
              <a:rPr b="0" i="0" lang="en-US" sz="1300" u="none" cap="none" strike="noStrike">
                <a:solidFill>
                  <a:srgbClr val="FFFFFF"/>
                </a:solidFill>
                <a:latin typeface="Arial"/>
                <a:ea typeface="Arial"/>
                <a:cs typeface="Arial"/>
                <a:sym typeface="Arial"/>
              </a:rPr>
              <a:t>When was it collected?</a:t>
            </a:r>
            <a:endParaRPr b="0" i="0" sz="1300" u="none" cap="none" strike="noStrike">
              <a:solidFill>
                <a:schemeClr val="dk1"/>
              </a:solidFill>
              <a:latin typeface="Arial"/>
              <a:ea typeface="Arial"/>
              <a:cs typeface="Arial"/>
              <a:sym typeface="Arial"/>
            </a:endParaRPr>
          </a:p>
        </p:txBody>
      </p:sp>
      <p:sp>
        <p:nvSpPr>
          <p:cNvPr id="187" name="Google Shape;187;p10"/>
          <p:cNvSpPr/>
          <p:nvPr/>
        </p:nvSpPr>
        <p:spPr>
          <a:xfrm>
            <a:off x="6309360" y="4389120"/>
            <a:ext cx="5166360" cy="960120"/>
          </a:xfrm>
          <a:prstGeom prst="rect">
            <a:avLst/>
          </a:prstGeom>
          <a:solidFill>
            <a:srgbClr val="0D0D0D"/>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 name="Google Shape;188;p10"/>
          <p:cNvSpPr/>
          <p:nvPr/>
        </p:nvSpPr>
        <p:spPr>
          <a:xfrm>
            <a:off x="6510528" y="4553712"/>
            <a:ext cx="2057400" cy="292608"/>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ED1C24"/>
              </a:buClr>
              <a:buSzPts val="1500"/>
              <a:buFont typeface="Play"/>
              <a:buNone/>
            </a:pPr>
            <a:r>
              <a:rPr b="1" i="0" lang="en-US" sz="1500" u="none" cap="none" strike="noStrike">
                <a:solidFill>
                  <a:srgbClr val="ED1C24"/>
                </a:solidFill>
                <a:latin typeface="Play"/>
                <a:ea typeface="Play"/>
                <a:cs typeface="Play"/>
                <a:sym typeface="Play"/>
              </a:rPr>
              <a:t>Notes / Flags</a:t>
            </a:r>
            <a:endParaRPr b="0" i="0" sz="1500" u="none" cap="none" strike="noStrike">
              <a:solidFill>
                <a:schemeClr val="dk1"/>
              </a:solidFill>
              <a:latin typeface="Arial"/>
              <a:ea typeface="Arial"/>
              <a:cs typeface="Arial"/>
              <a:sym typeface="Arial"/>
            </a:endParaRPr>
          </a:p>
        </p:txBody>
      </p:sp>
      <p:sp>
        <p:nvSpPr>
          <p:cNvPr id="189" name="Google Shape;189;p10"/>
          <p:cNvSpPr/>
          <p:nvPr/>
        </p:nvSpPr>
        <p:spPr>
          <a:xfrm>
            <a:off x="8823960" y="4590288"/>
            <a:ext cx="2331720" cy="310896"/>
          </a:xfrm>
          <a:prstGeom prst="rect">
            <a:avLst/>
          </a:prstGeom>
          <a:noFill/>
          <a:ln>
            <a:noFill/>
          </a:ln>
        </p:spPr>
        <p:txBody>
          <a:bodyPr anchorCtr="0" anchor="t" bIns="625" lIns="625" spcFirstLastPara="1" rIns="625" wrap="square" tIns="625">
            <a:noAutofit/>
          </a:bodyPr>
          <a:lstStyle/>
          <a:p>
            <a:pPr indent="0" lvl="0" marL="0" marR="0" rtl="0" algn="l">
              <a:lnSpc>
                <a:spcPct val="100000"/>
              </a:lnSpc>
              <a:spcBef>
                <a:spcPts val="0"/>
              </a:spcBef>
              <a:spcAft>
                <a:spcPts val="0"/>
              </a:spcAft>
              <a:buClr>
                <a:srgbClr val="FFFFFF"/>
              </a:buClr>
              <a:buSzPts val="1300"/>
              <a:buFont typeface="Arial"/>
              <a:buNone/>
            </a:pPr>
            <a:r>
              <a:rPr b="0" i="0" lang="en-US" sz="1300" u="none" cap="none" strike="noStrike">
                <a:solidFill>
                  <a:srgbClr val="FFFFFF"/>
                </a:solidFill>
                <a:latin typeface="Arial"/>
                <a:ea typeface="Arial"/>
                <a:cs typeface="Arial"/>
                <a:sym typeface="Arial"/>
              </a:rPr>
              <a:t>Unusual events, failed trials, comments</a:t>
            </a:r>
            <a:endParaRPr b="0" i="0" sz="1300" u="none" cap="none" strike="noStrike">
              <a:solidFill>
                <a:schemeClr val="dk1"/>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94" name="Shape 194"/>
        <p:cNvGrpSpPr/>
        <p:nvPr/>
      </p:nvGrpSpPr>
      <p:grpSpPr>
        <a:xfrm>
          <a:off x="0" y="0"/>
          <a:ext cx="0" cy="0"/>
          <a:chOff x="0" y="0"/>
          <a:chExt cx="0" cy="0"/>
        </a:xfrm>
      </p:grpSpPr>
      <p:cxnSp>
        <p:nvCxnSpPr>
          <p:cNvPr id="195" name="Google Shape;195;p11"/>
          <p:cNvCxnSpPr/>
          <p:nvPr/>
        </p:nvCxnSpPr>
        <p:spPr>
          <a:xfrm>
            <a:off x="0" y="256032"/>
            <a:ext cx="12191695" cy="0"/>
          </a:xfrm>
          <a:prstGeom prst="straightConnector1">
            <a:avLst/>
          </a:prstGeom>
          <a:noFill/>
          <a:ln cap="flat" cmpd="sng" w="38100">
            <a:solidFill>
              <a:srgbClr val="ED1C24"/>
            </a:solidFill>
            <a:prstDash val="solid"/>
            <a:round/>
            <a:headEnd len="sm" w="sm" type="none"/>
            <a:tailEnd len="sm" w="sm" type="none"/>
          </a:ln>
        </p:spPr>
      </p:cxnSp>
      <p:cxnSp>
        <p:nvCxnSpPr>
          <p:cNvPr id="196" name="Google Shape;196;p11"/>
          <p:cNvCxnSpPr/>
          <p:nvPr/>
        </p:nvCxnSpPr>
        <p:spPr>
          <a:xfrm>
            <a:off x="0" y="6537960"/>
            <a:ext cx="12191695" cy="0"/>
          </a:xfrm>
          <a:prstGeom prst="straightConnector1">
            <a:avLst/>
          </a:prstGeom>
          <a:noFill/>
          <a:ln cap="flat" cmpd="sng" w="38100">
            <a:solidFill>
              <a:srgbClr val="ED1C24"/>
            </a:solidFill>
            <a:prstDash val="solid"/>
            <a:round/>
            <a:headEnd len="sm" w="sm" type="none"/>
            <a:tailEnd len="sm" w="sm" type="none"/>
          </a:ln>
        </p:spPr>
      </p:cxnSp>
      <p:sp>
        <p:nvSpPr>
          <p:cNvPr id="197" name="Google Shape;197;p11"/>
          <p:cNvSpPr/>
          <p:nvPr/>
        </p:nvSpPr>
        <p:spPr>
          <a:xfrm>
            <a:off x="411480" y="6592824"/>
            <a:ext cx="2011680" cy="1645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650"/>
              <a:buFont typeface="Arial"/>
              <a:buNone/>
            </a:pPr>
            <a:r>
              <a:rPr b="1" i="0" lang="en-US" sz="650" u="none" cap="none" strike="noStrike">
                <a:solidFill>
                  <a:srgbClr val="737373"/>
                </a:solidFill>
                <a:latin typeface="Arial"/>
                <a:ea typeface="Arial"/>
                <a:cs typeface="Arial"/>
                <a:sym typeface="Arial"/>
              </a:rPr>
              <a:t>DECK 09</a:t>
            </a:r>
            <a:endParaRPr b="0" i="0" sz="650" u="none" cap="none" strike="noStrike">
              <a:solidFill>
                <a:schemeClr val="dk1"/>
              </a:solidFill>
              <a:latin typeface="Arial"/>
              <a:ea typeface="Arial"/>
              <a:cs typeface="Arial"/>
              <a:sym typeface="Arial"/>
            </a:endParaRPr>
          </a:p>
        </p:txBody>
      </p:sp>
      <p:sp>
        <p:nvSpPr>
          <p:cNvPr id="198" name="Google Shape;198;p11"/>
          <p:cNvSpPr/>
          <p:nvPr/>
        </p:nvSpPr>
        <p:spPr>
          <a:xfrm>
            <a:off x="10058400" y="6565392"/>
            <a:ext cx="173736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737373"/>
              </a:buClr>
              <a:buSzPts val="700"/>
              <a:buFont typeface="Arial"/>
              <a:buNone/>
            </a:pPr>
            <a:r>
              <a:rPr b="1" i="0" lang="en-US" sz="700" u="none" cap="none" strike="noStrike">
                <a:solidFill>
                  <a:srgbClr val="737373"/>
                </a:solidFill>
                <a:latin typeface="Arial"/>
                <a:ea typeface="Arial"/>
                <a:cs typeface="Arial"/>
                <a:sym typeface="Arial"/>
              </a:rPr>
              <a:t>STARLAB</a:t>
            </a:r>
            <a:endParaRPr b="0" i="0" sz="700" u="none" cap="none" strike="noStrike">
              <a:solidFill>
                <a:schemeClr val="dk1"/>
              </a:solidFill>
              <a:latin typeface="Arial"/>
              <a:ea typeface="Arial"/>
              <a:cs typeface="Arial"/>
              <a:sym typeface="Arial"/>
            </a:endParaRPr>
          </a:p>
        </p:txBody>
      </p:sp>
      <p:sp>
        <p:nvSpPr>
          <p:cNvPr id="199" name="Google Shape;199;p11"/>
          <p:cNvSpPr/>
          <p:nvPr/>
        </p:nvSpPr>
        <p:spPr>
          <a:xfrm>
            <a:off x="502920" y="475488"/>
            <a:ext cx="438912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900"/>
              <a:buFont typeface="Arial"/>
              <a:buNone/>
            </a:pPr>
            <a:r>
              <a:rPr b="1" i="0" lang="en-US" sz="900" u="none" cap="none" strike="noStrike">
                <a:solidFill>
                  <a:srgbClr val="ED1C24"/>
                </a:solidFill>
                <a:latin typeface="Arial"/>
                <a:ea typeface="Arial"/>
                <a:cs typeface="Arial"/>
                <a:sym typeface="Arial"/>
              </a:rPr>
              <a:t>DATA ORGANIZATION</a:t>
            </a:r>
            <a:endParaRPr b="0" i="0" sz="900" u="none" cap="none" strike="noStrike">
              <a:solidFill>
                <a:schemeClr val="dk1"/>
              </a:solidFill>
              <a:latin typeface="Arial"/>
              <a:ea typeface="Arial"/>
              <a:cs typeface="Arial"/>
              <a:sym typeface="Arial"/>
            </a:endParaRPr>
          </a:p>
        </p:txBody>
      </p:sp>
      <p:sp>
        <p:nvSpPr>
          <p:cNvPr id="200" name="Google Shape;200;p11"/>
          <p:cNvSpPr/>
          <p:nvPr/>
        </p:nvSpPr>
        <p:spPr>
          <a:xfrm>
            <a:off x="502920" y="749808"/>
            <a:ext cx="1097280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Preserve before you clean</a:t>
            </a:r>
            <a:endParaRPr b="0" i="0" sz="2800" u="none" cap="none" strike="noStrike">
              <a:solidFill>
                <a:schemeClr val="dk1"/>
              </a:solidFill>
              <a:latin typeface="Arial"/>
              <a:ea typeface="Arial"/>
              <a:cs typeface="Arial"/>
              <a:sym typeface="Arial"/>
            </a:endParaRPr>
          </a:p>
        </p:txBody>
      </p:sp>
      <p:cxnSp>
        <p:nvCxnSpPr>
          <p:cNvPr id="201" name="Google Shape;201;p11"/>
          <p:cNvCxnSpPr/>
          <p:nvPr/>
        </p:nvCxnSpPr>
        <p:spPr>
          <a:xfrm>
            <a:off x="502920" y="1389888"/>
            <a:ext cx="11109960" cy="0"/>
          </a:xfrm>
          <a:prstGeom prst="straightConnector1">
            <a:avLst/>
          </a:prstGeom>
          <a:noFill/>
          <a:ln cap="flat" cmpd="sng" w="17775">
            <a:solidFill>
              <a:srgbClr val="ED1C24">
                <a:alpha val="90196"/>
              </a:srgbClr>
            </a:solidFill>
            <a:prstDash val="solid"/>
            <a:round/>
            <a:headEnd len="sm" w="sm" type="none"/>
            <a:tailEnd len="sm" w="sm" type="none"/>
          </a:ln>
        </p:spPr>
      </p:cxnSp>
      <p:sp>
        <p:nvSpPr>
          <p:cNvPr id="202" name="Google Shape;202;p11"/>
          <p:cNvSpPr/>
          <p:nvPr/>
        </p:nvSpPr>
        <p:spPr>
          <a:xfrm>
            <a:off x="777240" y="1874520"/>
            <a:ext cx="5120640" cy="1143000"/>
          </a:xfrm>
          <a:prstGeom prst="rect">
            <a:avLst/>
          </a:prstGeom>
          <a:solidFill>
            <a:srgbClr val="0D0D0D"/>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11"/>
          <p:cNvSpPr/>
          <p:nvPr/>
        </p:nvSpPr>
        <p:spPr>
          <a:xfrm>
            <a:off x="777240" y="1874520"/>
            <a:ext cx="73152" cy="1143000"/>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 name="Google Shape;204;p11"/>
          <p:cNvSpPr/>
          <p:nvPr/>
        </p:nvSpPr>
        <p:spPr>
          <a:xfrm>
            <a:off x="978408" y="2039112"/>
            <a:ext cx="4800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000"/>
              <a:buFont typeface="Arial"/>
              <a:buNone/>
            </a:pPr>
            <a:r>
              <a:rPr b="1" i="0" lang="en-US" sz="1000" u="none" cap="none" strike="noStrike">
                <a:solidFill>
                  <a:srgbClr val="ED1C24"/>
                </a:solidFill>
                <a:latin typeface="Arial"/>
                <a:ea typeface="Arial"/>
                <a:cs typeface="Arial"/>
                <a:sym typeface="Arial"/>
              </a:rPr>
              <a:t>STEP 1</a:t>
            </a:r>
            <a:endParaRPr b="0" i="0" sz="1000" u="none" cap="none" strike="noStrike">
              <a:solidFill>
                <a:schemeClr val="dk1"/>
              </a:solidFill>
              <a:latin typeface="Arial"/>
              <a:ea typeface="Arial"/>
              <a:cs typeface="Arial"/>
              <a:sym typeface="Arial"/>
            </a:endParaRPr>
          </a:p>
        </p:txBody>
      </p:sp>
      <p:sp>
        <p:nvSpPr>
          <p:cNvPr id="205" name="Google Shape;205;p11"/>
          <p:cNvSpPr/>
          <p:nvPr/>
        </p:nvSpPr>
        <p:spPr>
          <a:xfrm>
            <a:off x="978408" y="2377440"/>
            <a:ext cx="4800600" cy="521208"/>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1700"/>
              <a:buFont typeface="Arial"/>
              <a:buNone/>
            </a:pPr>
            <a:r>
              <a:rPr b="0" i="0" lang="en-US" sz="1700" u="none" cap="none" strike="noStrike">
                <a:solidFill>
                  <a:srgbClr val="FFFFFF"/>
                </a:solidFill>
                <a:latin typeface="Arial"/>
                <a:ea typeface="Arial"/>
                <a:cs typeface="Arial"/>
                <a:sym typeface="Arial"/>
              </a:rPr>
              <a:t>Make a copy of the raw data file or preserve notebook pages with photos/scans.</a:t>
            </a:r>
            <a:endParaRPr b="0" i="0" sz="1700" u="none" cap="none" strike="noStrike">
              <a:solidFill>
                <a:schemeClr val="dk1"/>
              </a:solidFill>
              <a:latin typeface="Arial"/>
              <a:ea typeface="Arial"/>
              <a:cs typeface="Arial"/>
              <a:sym typeface="Arial"/>
            </a:endParaRPr>
          </a:p>
        </p:txBody>
      </p:sp>
      <p:sp>
        <p:nvSpPr>
          <p:cNvPr id="206" name="Google Shape;206;p11"/>
          <p:cNvSpPr/>
          <p:nvPr/>
        </p:nvSpPr>
        <p:spPr>
          <a:xfrm>
            <a:off x="6309360" y="1874520"/>
            <a:ext cx="4983480" cy="1143000"/>
          </a:xfrm>
          <a:prstGeom prst="rect">
            <a:avLst/>
          </a:prstGeom>
          <a:solidFill>
            <a:srgbClr val="0D0D0D"/>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 name="Google Shape;207;p11"/>
          <p:cNvSpPr/>
          <p:nvPr/>
        </p:nvSpPr>
        <p:spPr>
          <a:xfrm>
            <a:off x="6309360" y="1874520"/>
            <a:ext cx="73152" cy="1143000"/>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 name="Google Shape;208;p11"/>
          <p:cNvSpPr/>
          <p:nvPr/>
        </p:nvSpPr>
        <p:spPr>
          <a:xfrm>
            <a:off x="6510528" y="2039112"/>
            <a:ext cx="46634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000"/>
              <a:buFont typeface="Arial"/>
              <a:buNone/>
            </a:pPr>
            <a:r>
              <a:rPr b="1" i="0" lang="en-US" sz="1000" u="none" cap="none" strike="noStrike">
                <a:solidFill>
                  <a:srgbClr val="ED1C24"/>
                </a:solidFill>
                <a:latin typeface="Arial"/>
                <a:ea typeface="Arial"/>
                <a:cs typeface="Arial"/>
                <a:sym typeface="Arial"/>
              </a:rPr>
              <a:t>STEP 2</a:t>
            </a:r>
            <a:endParaRPr b="0" i="0" sz="1000" u="none" cap="none" strike="noStrike">
              <a:solidFill>
                <a:schemeClr val="dk1"/>
              </a:solidFill>
              <a:latin typeface="Arial"/>
              <a:ea typeface="Arial"/>
              <a:cs typeface="Arial"/>
              <a:sym typeface="Arial"/>
            </a:endParaRPr>
          </a:p>
        </p:txBody>
      </p:sp>
      <p:sp>
        <p:nvSpPr>
          <p:cNvPr id="209" name="Google Shape;209;p11"/>
          <p:cNvSpPr/>
          <p:nvPr/>
        </p:nvSpPr>
        <p:spPr>
          <a:xfrm>
            <a:off x="6510528" y="2377440"/>
            <a:ext cx="4663440" cy="521208"/>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1700"/>
              <a:buFont typeface="Arial"/>
              <a:buNone/>
            </a:pPr>
            <a:r>
              <a:rPr b="0" i="0" lang="en-US" sz="1700" u="none" cap="none" strike="noStrike">
                <a:solidFill>
                  <a:srgbClr val="FFFFFF"/>
                </a:solidFill>
                <a:latin typeface="Arial"/>
                <a:ea typeface="Arial"/>
                <a:cs typeface="Arial"/>
                <a:sym typeface="Arial"/>
              </a:rPr>
              <a:t>Name the copy clearly so everyone knows it is the version for cleaning and analysis.</a:t>
            </a:r>
            <a:endParaRPr b="0" i="0" sz="1700" u="none" cap="none" strike="noStrike">
              <a:solidFill>
                <a:schemeClr val="dk1"/>
              </a:solidFill>
              <a:latin typeface="Arial"/>
              <a:ea typeface="Arial"/>
              <a:cs typeface="Arial"/>
              <a:sym typeface="Arial"/>
            </a:endParaRPr>
          </a:p>
        </p:txBody>
      </p:sp>
      <p:sp>
        <p:nvSpPr>
          <p:cNvPr id="210" name="Google Shape;210;p11"/>
          <p:cNvSpPr/>
          <p:nvPr/>
        </p:nvSpPr>
        <p:spPr>
          <a:xfrm>
            <a:off x="777240" y="3429000"/>
            <a:ext cx="5120640" cy="1143000"/>
          </a:xfrm>
          <a:prstGeom prst="rect">
            <a:avLst/>
          </a:prstGeom>
          <a:solidFill>
            <a:srgbClr val="0D0D0D"/>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1" name="Google Shape;211;p11"/>
          <p:cNvSpPr/>
          <p:nvPr/>
        </p:nvSpPr>
        <p:spPr>
          <a:xfrm>
            <a:off x="777240" y="3429000"/>
            <a:ext cx="73152" cy="1143000"/>
          </a:xfrm>
          <a:prstGeom prst="rect">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 name="Google Shape;212;p11"/>
          <p:cNvSpPr/>
          <p:nvPr/>
        </p:nvSpPr>
        <p:spPr>
          <a:xfrm>
            <a:off x="978408" y="3593592"/>
            <a:ext cx="4800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000"/>
              <a:buFont typeface="Arial"/>
              <a:buNone/>
            </a:pPr>
            <a:r>
              <a:rPr b="1" i="0" lang="en-US" sz="1000" u="none" cap="none" strike="noStrike">
                <a:solidFill>
                  <a:srgbClr val="FFFFFF"/>
                </a:solidFill>
                <a:latin typeface="Arial"/>
                <a:ea typeface="Arial"/>
                <a:cs typeface="Arial"/>
                <a:sym typeface="Arial"/>
              </a:rPr>
              <a:t>STEP 3</a:t>
            </a:r>
            <a:endParaRPr b="0" i="0" sz="1000" u="none" cap="none" strike="noStrike">
              <a:solidFill>
                <a:schemeClr val="dk1"/>
              </a:solidFill>
              <a:latin typeface="Arial"/>
              <a:ea typeface="Arial"/>
              <a:cs typeface="Arial"/>
              <a:sym typeface="Arial"/>
            </a:endParaRPr>
          </a:p>
        </p:txBody>
      </p:sp>
      <p:sp>
        <p:nvSpPr>
          <p:cNvPr id="213" name="Google Shape;213;p11"/>
          <p:cNvSpPr/>
          <p:nvPr/>
        </p:nvSpPr>
        <p:spPr>
          <a:xfrm>
            <a:off x="978408" y="3931920"/>
            <a:ext cx="4800600" cy="521208"/>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1700"/>
              <a:buFont typeface="Arial"/>
              <a:buNone/>
            </a:pPr>
            <a:r>
              <a:rPr b="0" i="0" lang="en-US" sz="1700" u="none" cap="none" strike="noStrike">
                <a:solidFill>
                  <a:srgbClr val="FFFFFF"/>
                </a:solidFill>
                <a:latin typeface="Arial"/>
                <a:ea typeface="Arial"/>
                <a:cs typeface="Arial"/>
                <a:sym typeface="Arial"/>
              </a:rPr>
              <a:t>Record what you changed in a cleaning decision log.</a:t>
            </a:r>
            <a:endParaRPr b="0" i="0" sz="1700" u="none" cap="none" strike="noStrike">
              <a:solidFill>
                <a:schemeClr val="dk1"/>
              </a:solidFill>
              <a:latin typeface="Arial"/>
              <a:ea typeface="Arial"/>
              <a:cs typeface="Arial"/>
              <a:sym typeface="Arial"/>
            </a:endParaRPr>
          </a:p>
        </p:txBody>
      </p:sp>
      <p:sp>
        <p:nvSpPr>
          <p:cNvPr id="214" name="Google Shape;214;p11"/>
          <p:cNvSpPr/>
          <p:nvPr/>
        </p:nvSpPr>
        <p:spPr>
          <a:xfrm>
            <a:off x="6309360" y="3429000"/>
            <a:ext cx="4983480" cy="1143000"/>
          </a:xfrm>
          <a:prstGeom prst="rect">
            <a:avLst/>
          </a:prstGeom>
          <a:solidFill>
            <a:srgbClr val="0D0D0D"/>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 name="Google Shape;215;p11"/>
          <p:cNvSpPr/>
          <p:nvPr/>
        </p:nvSpPr>
        <p:spPr>
          <a:xfrm>
            <a:off x="6309360" y="3429000"/>
            <a:ext cx="73152" cy="1143000"/>
          </a:xfrm>
          <a:prstGeom prst="rect">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 name="Google Shape;216;p11"/>
          <p:cNvSpPr/>
          <p:nvPr/>
        </p:nvSpPr>
        <p:spPr>
          <a:xfrm>
            <a:off x="6510528" y="3593592"/>
            <a:ext cx="46634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000"/>
              <a:buFont typeface="Arial"/>
              <a:buNone/>
            </a:pPr>
            <a:r>
              <a:rPr b="1" i="0" lang="en-US" sz="1000" u="none" cap="none" strike="noStrike">
                <a:solidFill>
                  <a:srgbClr val="FFFFFF"/>
                </a:solidFill>
                <a:latin typeface="Arial"/>
                <a:ea typeface="Arial"/>
                <a:cs typeface="Arial"/>
                <a:sym typeface="Arial"/>
              </a:rPr>
              <a:t>STEP 4</a:t>
            </a:r>
            <a:endParaRPr b="0" i="0" sz="1000" u="none" cap="none" strike="noStrike">
              <a:solidFill>
                <a:schemeClr val="dk1"/>
              </a:solidFill>
              <a:latin typeface="Arial"/>
              <a:ea typeface="Arial"/>
              <a:cs typeface="Arial"/>
              <a:sym typeface="Arial"/>
            </a:endParaRPr>
          </a:p>
        </p:txBody>
      </p:sp>
      <p:sp>
        <p:nvSpPr>
          <p:cNvPr id="217" name="Google Shape;217;p11"/>
          <p:cNvSpPr/>
          <p:nvPr/>
        </p:nvSpPr>
        <p:spPr>
          <a:xfrm>
            <a:off x="6510528" y="3931920"/>
            <a:ext cx="4663440" cy="521208"/>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1700"/>
              <a:buFont typeface="Arial"/>
              <a:buNone/>
            </a:pPr>
            <a:r>
              <a:rPr b="0" i="0" lang="en-US" sz="1700" u="none" cap="none" strike="noStrike">
                <a:solidFill>
                  <a:srgbClr val="FFFFFF"/>
                </a:solidFill>
                <a:latin typeface="Arial"/>
                <a:ea typeface="Arial"/>
                <a:cs typeface="Arial"/>
                <a:sym typeface="Arial"/>
              </a:rPr>
              <a:t>Keep questionable data visible with flags or notes instead of deleting it.</a:t>
            </a:r>
            <a:endParaRPr b="0" i="0" sz="1700" u="none" cap="none" strike="noStrike">
              <a:solidFill>
                <a:schemeClr val="dk1"/>
              </a:solidFill>
              <a:latin typeface="Arial"/>
              <a:ea typeface="Arial"/>
              <a:cs typeface="Arial"/>
              <a:sym typeface="Arial"/>
            </a:endParaRPr>
          </a:p>
        </p:txBody>
      </p:sp>
      <p:sp>
        <p:nvSpPr>
          <p:cNvPr id="218" name="Google Shape;218;p11"/>
          <p:cNvSpPr/>
          <p:nvPr/>
        </p:nvSpPr>
        <p:spPr>
          <a:xfrm>
            <a:off x="777240" y="5532120"/>
            <a:ext cx="10515600" cy="365760"/>
          </a:xfrm>
          <a:prstGeom prst="rect">
            <a:avLst/>
          </a:prstGeom>
          <a:noFill/>
          <a:ln>
            <a:noFill/>
          </a:ln>
        </p:spPr>
        <p:txBody>
          <a:bodyPr anchorCtr="0" anchor="t" bIns="625" lIns="625" spcFirstLastPara="1" rIns="625" wrap="square" tIns="625">
            <a:noAutofit/>
          </a:bodyPr>
          <a:lstStyle/>
          <a:p>
            <a:pPr indent="0" lvl="0" marL="0" marR="0" rtl="0" algn="ctr">
              <a:lnSpc>
                <a:spcPct val="100000"/>
              </a:lnSpc>
              <a:spcBef>
                <a:spcPts val="0"/>
              </a:spcBef>
              <a:spcAft>
                <a:spcPts val="0"/>
              </a:spcAft>
              <a:buClr>
                <a:srgbClr val="B8B8B8"/>
              </a:buClr>
              <a:buSzPts val="1800"/>
              <a:buFont typeface="Arial"/>
              <a:buNone/>
            </a:pPr>
            <a:r>
              <a:rPr b="0" i="0" lang="en-US" sz="1800" u="none" cap="none" strike="noStrike">
                <a:solidFill>
                  <a:srgbClr val="B8B8B8"/>
                </a:solidFill>
                <a:latin typeface="Arial"/>
                <a:ea typeface="Arial"/>
                <a:cs typeface="Arial"/>
                <a:sym typeface="Arial"/>
              </a:rPr>
              <a:t>Default file names: Raw_Data, Clean_Data, Decision_Log</a:t>
            </a:r>
            <a:endParaRPr b="0" i="0" sz="1800" u="none" cap="none" strike="noStrike">
              <a:solidFill>
                <a:schemeClr val="dk1"/>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23" name="Shape 223"/>
        <p:cNvGrpSpPr/>
        <p:nvPr/>
      </p:nvGrpSpPr>
      <p:grpSpPr>
        <a:xfrm>
          <a:off x="0" y="0"/>
          <a:ext cx="0" cy="0"/>
          <a:chOff x="0" y="0"/>
          <a:chExt cx="0" cy="0"/>
        </a:xfrm>
      </p:grpSpPr>
      <p:cxnSp>
        <p:nvCxnSpPr>
          <p:cNvPr id="224" name="Google Shape;224;p12"/>
          <p:cNvCxnSpPr/>
          <p:nvPr/>
        </p:nvCxnSpPr>
        <p:spPr>
          <a:xfrm>
            <a:off x="0" y="256032"/>
            <a:ext cx="12191695" cy="0"/>
          </a:xfrm>
          <a:prstGeom prst="straightConnector1">
            <a:avLst/>
          </a:prstGeom>
          <a:noFill/>
          <a:ln cap="flat" cmpd="sng" w="38100">
            <a:solidFill>
              <a:srgbClr val="ED1C24"/>
            </a:solidFill>
            <a:prstDash val="solid"/>
            <a:round/>
            <a:headEnd len="sm" w="sm" type="none"/>
            <a:tailEnd len="sm" w="sm" type="none"/>
          </a:ln>
        </p:spPr>
      </p:cxnSp>
      <p:cxnSp>
        <p:nvCxnSpPr>
          <p:cNvPr id="225" name="Google Shape;225;p12"/>
          <p:cNvCxnSpPr/>
          <p:nvPr/>
        </p:nvCxnSpPr>
        <p:spPr>
          <a:xfrm>
            <a:off x="0" y="6537960"/>
            <a:ext cx="12191695" cy="0"/>
          </a:xfrm>
          <a:prstGeom prst="straightConnector1">
            <a:avLst/>
          </a:prstGeom>
          <a:noFill/>
          <a:ln cap="flat" cmpd="sng" w="38100">
            <a:solidFill>
              <a:srgbClr val="ED1C24"/>
            </a:solidFill>
            <a:prstDash val="solid"/>
            <a:round/>
            <a:headEnd len="sm" w="sm" type="none"/>
            <a:tailEnd len="sm" w="sm" type="none"/>
          </a:ln>
        </p:spPr>
      </p:cxnSp>
      <p:sp>
        <p:nvSpPr>
          <p:cNvPr id="226" name="Google Shape;226;p12"/>
          <p:cNvSpPr/>
          <p:nvPr/>
        </p:nvSpPr>
        <p:spPr>
          <a:xfrm>
            <a:off x="411480" y="6592824"/>
            <a:ext cx="2011680" cy="1645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650"/>
              <a:buFont typeface="Arial"/>
              <a:buNone/>
            </a:pPr>
            <a:r>
              <a:rPr b="1" i="0" lang="en-US" sz="650" u="none" cap="none" strike="noStrike">
                <a:solidFill>
                  <a:srgbClr val="737373"/>
                </a:solidFill>
                <a:latin typeface="Arial"/>
                <a:ea typeface="Arial"/>
                <a:cs typeface="Arial"/>
                <a:sym typeface="Arial"/>
              </a:rPr>
              <a:t>DECK 09</a:t>
            </a:r>
            <a:endParaRPr b="0" i="0" sz="650" u="none" cap="none" strike="noStrike">
              <a:solidFill>
                <a:schemeClr val="dk1"/>
              </a:solidFill>
              <a:latin typeface="Arial"/>
              <a:ea typeface="Arial"/>
              <a:cs typeface="Arial"/>
              <a:sym typeface="Arial"/>
            </a:endParaRPr>
          </a:p>
        </p:txBody>
      </p:sp>
      <p:sp>
        <p:nvSpPr>
          <p:cNvPr id="227" name="Google Shape;227;p12"/>
          <p:cNvSpPr/>
          <p:nvPr/>
        </p:nvSpPr>
        <p:spPr>
          <a:xfrm>
            <a:off x="10058400" y="6565392"/>
            <a:ext cx="173736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737373"/>
              </a:buClr>
              <a:buSzPts val="700"/>
              <a:buFont typeface="Arial"/>
              <a:buNone/>
            </a:pPr>
            <a:r>
              <a:rPr b="1" i="0" lang="en-US" sz="700" u="none" cap="none" strike="noStrike">
                <a:solidFill>
                  <a:srgbClr val="737373"/>
                </a:solidFill>
                <a:latin typeface="Arial"/>
                <a:ea typeface="Arial"/>
                <a:cs typeface="Arial"/>
                <a:sym typeface="Arial"/>
              </a:rPr>
              <a:t>STARLAB</a:t>
            </a:r>
            <a:endParaRPr b="0" i="0" sz="700" u="none" cap="none" strike="noStrike">
              <a:solidFill>
                <a:schemeClr val="dk1"/>
              </a:solidFill>
              <a:latin typeface="Arial"/>
              <a:ea typeface="Arial"/>
              <a:cs typeface="Arial"/>
              <a:sym typeface="Arial"/>
            </a:endParaRPr>
          </a:p>
        </p:txBody>
      </p:sp>
      <p:sp>
        <p:nvSpPr>
          <p:cNvPr id="228" name="Google Shape;228;p12"/>
          <p:cNvSpPr/>
          <p:nvPr/>
        </p:nvSpPr>
        <p:spPr>
          <a:xfrm>
            <a:off x="502920" y="475488"/>
            <a:ext cx="438912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900"/>
              <a:buFont typeface="Arial"/>
              <a:buNone/>
            </a:pPr>
            <a:r>
              <a:rPr b="1" i="0" lang="en-US" sz="900" u="none" cap="none" strike="noStrike">
                <a:solidFill>
                  <a:srgbClr val="ED1C24"/>
                </a:solidFill>
                <a:latin typeface="Arial"/>
                <a:ea typeface="Arial"/>
                <a:cs typeface="Arial"/>
                <a:sym typeface="Arial"/>
              </a:rPr>
              <a:t>DATA ORGANIZATION</a:t>
            </a:r>
            <a:endParaRPr b="0" i="0" sz="900" u="none" cap="none" strike="noStrike">
              <a:solidFill>
                <a:schemeClr val="dk1"/>
              </a:solidFill>
              <a:latin typeface="Arial"/>
              <a:ea typeface="Arial"/>
              <a:cs typeface="Arial"/>
              <a:sym typeface="Arial"/>
            </a:endParaRPr>
          </a:p>
        </p:txBody>
      </p:sp>
      <p:sp>
        <p:nvSpPr>
          <p:cNvPr id="229" name="Google Shape;229;p12"/>
          <p:cNvSpPr/>
          <p:nvPr/>
        </p:nvSpPr>
        <p:spPr>
          <a:xfrm>
            <a:off x="502920" y="749808"/>
            <a:ext cx="1097280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Activity: audit a messy data table</a:t>
            </a:r>
            <a:endParaRPr b="0" i="0" sz="2800" u="none" cap="none" strike="noStrike">
              <a:solidFill>
                <a:schemeClr val="dk1"/>
              </a:solidFill>
              <a:latin typeface="Arial"/>
              <a:ea typeface="Arial"/>
              <a:cs typeface="Arial"/>
              <a:sym typeface="Arial"/>
            </a:endParaRPr>
          </a:p>
        </p:txBody>
      </p:sp>
      <p:cxnSp>
        <p:nvCxnSpPr>
          <p:cNvPr id="230" name="Google Shape;230;p12"/>
          <p:cNvCxnSpPr/>
          <p:nvPr/>
        </p:nvCxnSpPr>
        <p:spPr>
          <a:xfrm>
            <a:off x="502920" y="1389888"/>
            <a:ext cx="11109960" cy="0"/>
          </a:xfrm>
          <a:prstGeom prst="straightConnector1">
            <a:avLst/>
          </a:prstGeom>
          <a:noFill/>
          <a:ln cap="flat" cmpd="sng" w="17775">
            <a:solidFill>
              <a:srgbClr val="ED1C24">
                <a:alpha val="90196"/>
              </a:srgbClr>
            </a:solidFill>
            <a:prstDash val="solid"/>
            <a:round/>
            <a:headEnd len="sm" w="sm" type="none"/>
            <a:tailEnd len="sm" w="sm" type="none"/>
          </a:ln>
        </p:spPr>
      </p:cxnSp>
      <p:sp>
        <p:nvSpPr>
          <p:cNvPr id="231" name="Google Shape;231;p12"/>
          <p:cNvSpPr/>
          <p:nvPr/>
        </p:nvSpPr>
        <p:spPr>
          <a:xfrm>
            <a:off x="685800" y="1783080"/>
            <a:ext cx="10835640" cy="3383280"/>
          </a:xfrm>
          <a:prstGeom prst="rect">
            <a:avLst/>
          </a:prstGeom>
          <a:solidFill>
            <a:srgbClr val="0D0D0D"/>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2" name="Google Shape;232;p12"/>
          <p:cNvSpPr/>
          <p:nvPr/>
        </p:nvSpPr>
        <p:spPr>
          <a:xfrm>
            <a:off x="914400" y="2011680"/>
            <a:ext cx="1188720" cy="27432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ED1C24"/>
              </a:buClr>
              <a:buSzPts val="1200"/>
              <a:buFont typeface="Arial"/>
              <a:buNone/>
            </a:pPr>
            <a:r>
              <a:rPr b="1" i="0" lang="en-US" sz="1200" u="none" cap="none" strike="noStrike">
                <a:solidFill>
                  <a:srgbClr val="ED1C24"/>
                </a:solidFill>
                <a:latin typeface="Arial"/>
                <a:ea typeface="Arial"/>
                <a:cs typeface="Arial"/>
                <a:sym typeface="Arial"/>
              </a:rPr>
              <a:t>Trial</a:t>
            </a:r>
            <a:endParaRPr b="0" i="0" sz="1200" u="none" cap="none" strike="noStrike">
              <a:solidFill>
                <a:schemeClr val="dk1"/>
              </a:solidFill>
              <a:latin typeface="Arial"/>
              <a:ea typeface="Arial"/>
              <a:cs typeface="Arial"/>
              <a:sym typeface="Arial"/>
            </a:endParaRPr>
          </a:p>
        </p:txBody>
      </p:sp>
      <p:sp>
        <p:nvSpPr>
          <p:cNvPr id="233" name="Google Shape;233;p12"/>
          <p:cNvSpPr/>
          <p:nvPr/>
        </p:nvSpPr>
        <p:spPr>
          <a:xfrm>
            <a:off x="2423160" y="2011680"/>
            <a:ext cx="1828800" cy="27432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ED1C24"/>
              </a:buClr>
              <a:buSzPts val="1200"/>
              <a:buFont typeface="Arial"/>
              <a:buNone/>
            </a:pPr>
            <a:r>
              <a:rPr b="1" i="0" lang="en-US" sz="1200" u="none" cap="none" strike="noStrike">
                <a:solidFill>
                  <a:srgbClr val="ED1C24"/>
                </a:solidFill>
                <a:latin typeface="Arial"/>
                <a:ea typeface="Arial"/>
                <a:cs typeface="Arial"/>
                <a:sym typeface="Arial"/>
              </a:rPr>
              <a:t>Condition</a:t>
            </a:r>
            <a:endParaRPr b="0" i="0" sz="1200" u="none" cap="none" strike="noStrike">
              <a:solidFill>
                <a:schemeClr val="dk1"/>
              </a:solidFill>
              <a:latin typeface="Arial"/>
              <a:ea typeface="Arial"/>
              <a:cs typeface="Arial"/>
              <a:sym typeface="Arial"/>
            </a:endParaRPr>
          </a:p>
        </p:txBody>
      </p:sp>
      <p:sp>
        <p:nvSpPr>
          <p:cNvPr id="234" name="Google Shape;234;p12"/>
          <p:cNvSpPr/>
          <p:nvPr/>
        </p:nvSpPr>
        <p:spPr>
          <a:xfrm>
            <a:off x="4572000" y="2011680"/>
            <a:ext cx="1463040" cy="27432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ED1C24"/>
              </a:buClr>
              <a:buSzPts val="1200"/>
              <a:buFont typeface="Arial"/>
              <a:buNone/>
            </a:pPr>
            <a:r>
              <a:rPr b="1" i="0" lang="en-US" sz="1200" u="none" cap="none" strike="noStrike">
                <a:solidFill>
                  <a:srgbClr val="ED1C24"/>
                </a:solidFill>
                <a:latin typeface="Arial"/>
                <a:ea typeface="Arial"/>
                <a:cs typeface="Arial"/>
                <a:sym typeface="Arial"/>
              </a:rPr>
              <a:t>Height</a:t>
            </a:r>
            <a:endParaRPr b="0" i="0" sz="1200" u="none" cap="none" strike="noStrike">
              <a:solidFill>
                <a:schemeClr val="dk1"/>
              </a:solidFill>
              <a:latin typeface="Arial"/>
              <a:ea typeface="Arial"/>
              <a:cs typeface="Arial"/>
              <a:sym typeface="Arial"/>
            </a:endParaRPr>
          </a:p>
        </p:txBody>
      </p:sp>
      <p:sp>
        <p:nvSpPr>
          <p:cNvPr id="235" name="Google Shape;235;p12"/>
          <p:cNvSpPr/>
          <p:nvPr/>
        </p:nvSpPr>
        <p:spPr>
          <a:xfrm>
            <a:off x="6400800" y="2011680"/>
            <a:ext cx="4206240" cy="27432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ED1C24"/>
              </a:buClr>
              <a:buSzPts val="1200"/>
              <a:buFont typeface="Arial"/>
              <a:buNone/>
            </a:pPr>
            <a:r>
              <a:rPr b="1" i="0" lang="en-US" sz="1200" u="none" cap="none" strike="noStrike">
                <a:solidFill>
                  <a:srgbClr val="ED1C24"/>
                </a:solidFill>
                <a:latin typeface="Arial"/>
                <a:ea typeface="Arial"/>
                <a:cs typeface="Arial"/>
                <a:sym typeface="Arial"/>
              </a:rPr>
              <a:t>Notes</a:t>
            </a:r>
            <a:endParaRPr b="0" i="0" sz="1200" u="none" cap="none" strike="noStrike">
              <a:solidFill>
                <a:schemeClr val="dk1"/>
              </a:solidFill>
              <a:latin typeface="Arial"/>
              <a:ea typeface="Arial"/>
              <a:cs typeface="Arial"/>
              <a:sym typeface="Arial"/>
            </a:endParaRPr>
          </a:p>
        </p:txBody>
      </p:sp>
      <p:sp>
        <p:nvSpPr>
          <p:cNvPr id="236" name="Google Shape;236;p12"/>
          <p:cNvSpPr/>
          <p:nvPr/>
        </p:nvSpPr>
        <p:spPr>
          <a:xfrm>
            <a:off x="914400" y="2450592"/>
            <a:ext cx="1188720" cy="27432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1100"/>
              <a:buFont typeface="Arial"/>
              <a:buNone/>
            </a:pPr>
            <a:r>
              <a:rPr b="0" i="0" lang="en-US" sz="1100" u="none" cap="none" strike="noStrike">
                <a:solidFill>
                  <a:srgbClr val="FFFFFF"/>
                </a:solidFill>
                <a:latin typeface="Arial"/>
                <a:ea typeface="Arial"/>
                <a:cs typeface="Arial"/>
                <a:sym typeface="Arial"/>
              </a:rPr>
              <a:t>1</a:t>
            </a:r>
            <a:endParaRPr b="0" i="0" sz="1100" u="none" cap="none" strike="noStrike">
              <a:solidFill>
                <a:schemeClr val="dk1"/>
              </a:solidFill>
              <a:latin typeface="Arial"/>
              <a:ea typeface="Arial"/>
              <a:cs typeface="Arial"/>
              <a:sym typeface="Arial"/>
            </a:endParaRPr>
          </a:p>
        </p:txBody>
      </p:sp>
      <p:sp>
        <p:nvSpPr>
          <p:cNvPr id="237" name="Google Shape;237;p12"/>
          <p:cNvSpPr/>
          <p:nvPr/>
        </p:nvSpPr>
        <p:spPr>
          <a:xfrm>
            <a:off x="2423160" y="2450592"/>
            <a:ext cx="1828800" cy="27432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1100"/>
              <a:buFont typeface="Arial"/>
              <a:buNone/>
            </a:pPr>
            <a:r>
              <a:rPr b="0" i="0" lang="en-US" sz="1100" u="none" cap="none" strike="noStrike">
                <a:solidFill>
                  <a:srgbClr val="FFFFFF"/>
                </a:solidFill>
                <a:latin typeface="Arial"/>
                <a:ea typeface="Arial"/>
                <a:cs typeface="Arial"/>
                <a:sym typeface="Arial"/>
              </a:rPr>
              <a:t>control</a:t>
            </a:r>
            <a:endParaRPr b="0" i="0" sz="1100" u="none" cap="none" strike="noStrike">
              <a:solidFill>
                <a:schemeClr val="dk1"/>
              </a:solidFill>
              <a:latin typeface="Arial"/>
              <a:ea typeface="Arial"/>
              <a:cs typeface="Arial"/>
              <a:sym typeface="Arial"/>
            </a:endParaRPr>
          </a:p>
        </p:txBody>
      </p:sp>
      <p:sp>
        <p:nvSpPr>
          <p:cNvPr id="238" name="Google Shape;238;p12"/>
          <p:cNvSpPr/>
          <p:nvPr/>
        </p:nvSpPr>
        <p:spPr>
          <a:xfrm>
            <a:off x="4572000" y="2450592"/>
            <a:ext cx="1463040" cy="27432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1100"/>
              <a:buFont typeface="Arial"/>
              <a:buNone/>
            </a:pPr>
            <a:r>
              <a:rPr b="0" i="0" lang="en-US" sz="1100" u="none" cap="none" strike="noStrike">
                <a:solidFill>
                  <a:srgbClr val="FFFFFF"/>
                </a:solidFill>
                <a:latin typeface="Arial"/>
                <a:ea typeface="Arial"/>
                <a:cs typeface="Arial"/>
                <a:sym typeface="Arial"/>
              </a:rPr>
              <a:t>12</a:t>
            </a:r>
            <a:endParaRPr b="0" i="0" sz="1100" u="none" cap="none" strike="noStrike">
              <a:solidFill>
                <a:schemeClr val="dk1"/>
              </a:solidFill>
              <a:latin typeface="Arial"/>
              <a:ea typeface="Arial"/>
              <a:cs typeface="Arial"/>
              <a:sym typeface="Arial"/>
            </a:endParaRPr>
          </a:p>
        </p:txBody>
      </p:sp>
      <p:sp>
        <p:nvSpPr>
          <p:cNvPr id="239" name="Google Shape;239;p12"/>
          <p:cNvSpPr/>
          <p:nvPr/>
        </p:nvSpPr>
        <p:spPr>
          <a:xfrm>
            <a:off x="6400800" y="2450592"/>
            <a:ext cx="4206240" cy="27432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1100"/>
              <a:buFont typeface="Arial"/>
              <a:buNone/>
            </a:pPr>
            <a:r>
              <a:rPr b="0" i="0" lang="en-US" sz="1100" u="none" cap="none" strike="noStrike">
                <a:solidFill>
                  <a:srgbClr val="FFFFFF"/>
                </a:solidFill>
                <a:latin typeface="Arial"/>
                <a:ea typeface="Arial"/>
                <a:cs typeface="Arial"/>
                <a:sym typeface="Arial"/>
              </a:rPr>
              <a:t>ok</a:t>
            </a:r>
            <a:endParaRPr b="0" i="0" sz="1100" u="none" cap="none" strike="noStrike">
              <a:solidFill>
                <a:schemeClr val="dk1"/>
              </a:solidFill>
              <a:latin typeface="Arial"/>
              <a:ea typeface="Arial"/>
              <a:cs typeface="Arial"/>
              <a:sym typeface="Arial"/>
            </a:endParaRPr>
          </a:p>
        </p:txBody>
      </p:sp>
      <p:sp>
        <p:nvSpPr>
          <p:cNvPr id="240" name="Google Shape;240;p12"/>
          <p:cNvSpPr/>
          <p:nvPr/>
        </p:nvSpPr>
        <p:spPr>
          <a:xfrm>
            <a:off x="914400" y="2889504"/>
            <a:ext cx="1188720" cy="27432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1100"/>
              <a:buFont typeface="Arial"/>
              <a:buNone/>
            </a:pPr>
            <a:r>
              <a:rPr b="0" i="0" lang="en-US" sz="1100" u="none" cap="none" strike="noStrike">
                <a:solidFill>
                  <a:srgbClr val="FFFFFF"/>
                </a:solidFill>
                <a:latin typeface="Arial"/>
                <a:ea typeface="Arial"/>
                <a:cs typeface="Arial"/>
                <a:sym typeface="Arial"/>
              </a:rPr>
              <a:t>2</a:t>
            </a:r>
            <a:endParaRPr b="0" i="0" sz="1100" u="none" cap="none" strike="noStrike">
              <a:solidFill>
                <a:schemeClr val="dk1"/>
              </a:solidFill>
              <a:latin typeface="Arial"/>
              <a:ea typeface="Arial"/>
              <a:cs typeface="Arial"/>
              <a:sym typeface="Arial"/>
            </a:endParaRPr>
          </a:p>
        </p:txBody>
      </p:sp>
      <p:sp>
        <p:nvSpPr>
          <p:cNvPr id="241" name="Google Shape;241;p12"/>
          <p:cNvSpPr/>
          <p:nvPr/>
        </p:nvSpPr>
        <p:spPr>
          <a:xfrm>
            <a:off x="2423160" y="2889504"/>
            <a:ext cx="1828800" cy="27432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1100"/>
              <a:buFont typeface="Arial"/>
              <a:buNone/>
            </a:pPr>
            <a:r>
              <a:rPr b="0" i="0" lang="en-US" sz="1100" u="none" cap="none" strike="noStrike">
                <a:solidFill>
                  <a:srgbClr val="FFFFFF"/>
                </a:solidFill>
                <a:latin typeface="Arial"/>
                <a:ea typeface="Arial"/>
                <a:cs typeface="Arial"/>
                <a:sym typeface="Arial"/>
              </a:rPr>
              <a:t>Control</a:t>
            </a:r>
            <a:endParaRPr b="0" i="0" sz="1100" u="none" cap="none" strike="noStrike">
              <a:solidFill>
                <a:schemeClr val="dk1"/>
              </a:solidFill>
              <a:latin typeface="Arial"/>
              <a:ea typeface="Arial"/>
              <a:cs typeface="Arial"/>
              <a:sym typeface="Arial"/>
            </a:endParaRPr>
          </a:p>
        </p:txBody>
      </p:sp>
      <p:sp>
        <p:nvSpPr>
          <p:cNvPr id="242" name="Google Shape;242;p12"/>
          <p:cNvSpPr/>
          <p:nvPr/>
        </p:nvSpPr>
        <p:spPr>
          <a:xfrm>
            <a:off x="4572000" y="2889504"/>
            <a:ext cx="1463040" cy="27432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1100"/>
              <a:buFont typeface="Arial"/>
              <a:buNone/>
            </a:pPr>
            <a:r>
              <a:rPr b="0" i="0" lang="en-US" sz="1100" u="none" cap="none" strike="noStrike">
                <a:solidFill>
                  <a:srgbClr val="FFFFFF"/>
                </a:solidFill>
                <a:latin typeface="Arial"/>
                <a:ea typeface="Arial"/>
                <a:cs typeface="Arial"/>
                <a:sym typeface="Arial"/>
              </a:rPr>
              <a:t>13 cm</a:t>
            </a:r>
            <a:endParaRPr b="0" i="0" sz="1100" u="none" cap="none" strike="noStrike">
              <a:solidFill>
                <a:schemeClr val="dk1"/>
              </a:solidFill>
              <a:latin typeface="Arial"/>
              <a:ea typeface="Arial"/>
              <a:cs typeface="Arial"/>
              <a:sym typeface="Arial"/>
            </a:endParaRPr>
          </a:p>
        </p:txBody>
      </p:sp>
      <p:sp>
        <p:nvSpPr>
          <p:cNvPr id="243" name="Google Shape;243;p12"/>
          <p:cNvSpPr/>
          <p:nvPr/>
        </p:nvSpPr>
        <p:spPr>
          <a:xfrm>
            <a:off x="6400800" y="2889504"/>
            <a:ext cx="4206240" cy="27432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chemeClr val="dk1"/>
              </a:buClr>
              <a:buSzPts val="1100"/>
              <a:buFont typeface="Arial"/>
              <a:buNone/>
            </a:pPr>
            <a:r>
              <a:t/>
            </a:r>
            <a:endParaRPr b="0" i="0" sz="1100" u="none" cap="none" strike="noStrike">
              <a:solidFill>
                <a:schemeClr val="dk1"/>
              </a:solidFill>
              <a:latin typeface="Arial"/>
              <a:ea typeface="Arial"/>
              <a:cs typeface="Arial"/>
              <a:sym typeface="Arial"/>
            </a:endParaRPr>
          </a:p>
        </p:txBody>
      </p:sp>
      <p:sp>
        <p:nvSpPr>
          <p:cNvPr id="244" name="Google Shape;244;p12"/>
          <p:cNvSpPr/>
          <p:nvPr/>
        </p:nvSpPr>
        <p:spPr>
          <a:xfrm>
            <a:off x="914400" y="3328416"/>
            <a:ext cx="1188720" cy="27432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1100"/>
              <a:buFont typeface="Arial"/>
              <a:buNone/>
            </a:pPr>
            <a:r>
              <a:rPr b="0" i="0" lang="en-US" sz="1100" u="none" cap="none" strike="noStrike">
                <a:solidFill>
                  <a:srgbClr val="FFFFFF"/>
                </a:solidFill>
                <a:latin typeface="Arial"/>
                <a:ea typeface="Arial"/>
                <a:cs typeface="Arial"/>
                <a:sym typeface="Arial"/>
              </a:rPr>
              <a:t>3</a:t>
            </a:r>
            <a:endParaRPr b="0" i="0" sz="1100" u="none" cap="none" strike="noStrike">
              <a:solidFill>
                <a:schemeClr val="dk1"/>
              </a:solidFill>
              <a:latin typeface="Arial"/>
              <a:ea typeface="Arial"/>
              <a:cs typeface="Arial"/>
              <a:sym typeface="Arial"/>
            </a:endParaRPr>
          </a:p>
        </p:txBody>
      </p:sp>
      <p:sp>
        <p:nvSpPr>
          <p:cNvPr id="245" name="Google Shape;245;p12"/>
          <p:cNvSpPr/>
          <p:nvPr/>
        </p:nvSpPr>
        <p:spPr>
          <a:xfrm>
            <a:off x="2423160" y="3328416"/>
            <a:ext cx="1828800" cy="27432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1100"/>
              <a:buFont typeface="Arial"/>
              <a:buNone/>
            </a:pPr>
            <a:r>
              <a:rPr b="0" i="0" lang="en-US" sz="1100" u="none" cap="none" strike="noStrike">
                <a:solidFill>
                  <a:srgbClr val="FFFFFF"/>
                </a:solidFill>
                <a:latin typeface="Arial"/>
                <a:ea typeface="Arial"/>
                <a:cs typeface="Arial"/>
                <a:sym typeface="Arial"/>
              </a:rPr>
              <a:t>fert</a:t>
            </a:r>
            <a:endParaRPr b="0" i="0" sz="1100" u="none" cap="none" strike="noStrike">
              <a:solidFill>
                <a:schemeClr val="dk1"/>
              </a:solidFill>
              <a:latin typeface="Arial"/>
              <a:ea typeface="Arial"/>
              <a:cs typeface="Arial"/>
              <a:sym typeface="Arial"/>
            </a:endParaRPr>
          </a:p>
        </p:txBody>
      </p:sp>
      <p:sp>
        <p:nvSpPr>
          <p:cNvPr id="246" name="Google Shape;246;p12"/>
          <p:cNvSpPr/>
          <p:nvPr/>
        </p:nvSpPr>
        <p:spPr>
          <a:xfrm>
            <a:off x="4572000" y="3328416"/>
            <a:ext cx="1463040" cy="27432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1100"/>
              <a:buFont typeface="Arial"/>
              <a:buNone/>
            </a:pPr>
            <a:r>
              <a:rPr b="0" i="0" lang="en-US" sz="1100" u="none" cap="none" strike="noStrike">
                <a:solidFill>
                  <a:srgbClr val="FFFFFF"/>
                </a:solidFill>
                <a:latin typeface="Arial"/>
                <a:ea typeface="Arial"/>
                <a:cs typeface="Arial"/>
                <a:sym typeface="Arial"/>
              </a:rPr>
              <a:t>18</a:t>
            </a:r>
            <a:endParaRPr b="0" i="0" sz="1100" u="none" cap="none" strike="noStrike">
              <a:solidFill>
                <a:schemeClr val="dk1"/>
              </a:solidFill>
              <a:latin typeface="Arial"/>
              <a:ea typeface="Arial"/>
              <a:cs typeface="Arial"/>
              <a:sym typeface="Arial"/>
            </a:endParaRPr>
          </a:p>
        </p:txBody>
      </p:sp>
      <p:sp>
        <p:nvSpPr>
          <p:cNvPr id="247" name="Google Shape;247;p12"/>
          <p:cNvSpPr/>
          <p:nvPr/>
        </p:nvSpPr>
        <p:spPr>
          <a:xfrm>
            <a:off x="6400800" y="3328416"/>
            <a:ext cx="4206240" cy="27432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1100"/>
              <a:buFont typeface="Arial"/>
              <a:buNone/>
            </a:pPr>
            <a:r>
              <a:rPr b="0" i="0" lang="en-US" sz="1100" u="none" cap="none" strike="noStrike">
                <a:solidFill>
                  <a:srgbClr val="FFFFFF"/>
                </a:solidFill>
                <a:latin typeface="Arial"/>
                <a:ea typeface="Arial"/>
                <a:cs typeface="Arial"/>
                <a:sym typeface="Arial"/>
              </a:rPr>
              <a:t>spilled?</a:t>
            </a:r>
            <a:endParaRPr b="0" i="0" sz="1100" u="none" cap="none" strike="noStrike">
              <a:solidFill>
                <a:schemeClr val="dk1"/>
              </a:solidFill>
              <a:latin typeface="Arial"/>
              <a:ea typeface="Arial"/>
              <a:cs typeface="Arial"/>
              <a:sym typeface="Arial"/>
            </a:endParaRPr>
          </a:p>
        </p:txBody>
      </p:sp>
      <p:sp>
        <p:nvSpPr>
          <p:cNvPr id="248" name="Google Shape;248;p12"/>
          <p:cNvSpPr/>
          <p:nvPr/>
        </p:nvSpPr>
        <p:spPr>
          <a:xfrm>
            <a:off x="914400" y="3767328"/>
            <a:ext cx="1188720" cy="27432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1100"/>
              <a:buFont typeface="Arial"/>
              <a:buNone/>
            </a:pPr>
            <a:r>
              <a:rPr b="0" i="0" lang="en-US" sz="1100" u="none" cap="none" strike="noStrike">
                <a:solidFill>
                  <a:srgbClr val="FFFFFF"/>
                </a:solidFill>
                <a:latin typeface="Arial"/>
                <a:ea typeface="Arial"/>
                <a:cs typeface="Arial"/>
                <a:sym typeface="Arial"/>
              </a:rPr>
              <a:t>4</a:t>
            </a:r>
            <a:endParaRPr b="0" i="0" sz="1100" u="none" cap="none" strike="noStrike">
              <a:solidFill>
                <a:schemeClr val="dk1"/>
              </a:solidFill>
              <a:latin typeface="Arial"/>
              <a:ea typeface="Arial"/>
              <a:cs typeface="Arial"/>
              <a:sym typeface="Arial"/>
            </a:endParaRPr>
          </a:p>
        </p:txBody>
      </p:sp>
      <p:sp>
        <p:nvSpPr>
          <p:cNvPr id="249" name="Google Shape;249;p12"/>
          <p:cNvSpPr/>
          <p:nvPr/>
        </p:nvSpPr>
        <p:spPr>
          <a:xfrm>
            <a:off x="2423160" y="3767328"/>
            <a:ext cx="1828800" cy="27432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1100"/>
              <a:buFont typeface="Arial"/>
              <a:buNone/>
            </a:pPr>
            <a:r>
              <a:rPr b="0" i="0" lang="en-US" sz="1100" u="none" cap="none" strike="noStrike">
                <a:solidFill>
                  <a:srgbClr val="FFFFFF"/>
                </a:solidFill>
                <a:latin typeface="Arial"/>
                <a:ea typeface="Arial"/>
                <a:cs typeface="Arial"/>
                <a:sym typeface="Arial"/>
              </a:rPr>
              <a:t>fertilizer</a:t>
            </a:r>
            <a:endParaRPr b="0" i="0" sz="1100" u="none" cap="none" strike="noStrike">
              <a:solidFill>
                <a:schemeClr val="dk1"/>
              </a:solidFill>
              <a:latin typeface="Arial"/>
              <a:ea typeface="Arial"/>
              <a:cs typeface="Arial"/>
              <a:sym typeface="Arial"/>
            </a:endParaRPr>
          </a:p>
        </p:txBody>
      </p:sp>
      <p:sp>
        <p:nvSpPr>
          <p:cNvPr id="250" name="Google Shape;250;p12"/>
          <p:cNvSpPr/>
          <p:nvPr/>
        </p:nvSpPr>
        <p:spPr>
          <a:xfrm>
            <a:off x="4572000" y="3767328"/>
            <a:ext cx="1463040" cy="27432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1100"/>
              <a:buFont typeface="Arial"/>
              <a:buNone/>
            </a:pPr>
            <a:r>
              <a:rPr b="0" i="0" lang="en-US" sz="1100" u="none" cap="none" strike="noStrike">
                <a:solidFill>
                  <a:srgbClr val="FFFFFF"/>
                </a:solidFill>
                <a:latin typeface="Arial"/>
                <a:ea typeface="Arial"/>
                <a:cs typeface="Arial"/>
                <a:sym typeface="Arial"/>
              </a:rPr>
              <a:t>22</a:t>
            </a:r>
            <a:endParaRPr b="0" i="0" sz="1100" u="none" cap="none" strike="noStrike">
              <a:solidFill>
                <a:schemeClr val="dk1"/>
              </a:solidFill>
              <a:latin typeface="Arial"/>
              <a:ea typeface="Arial"/>
              <a:cs typeface="Arial"/>
              <a:sym typeface="Arial"/>
            </a:endParaRPr>
          </a:p>
        </p:txBody>
      </p:sp>
      <p:sp>
        <p:nvSpPr>
          <p:cNvPr id="251" name="Google Shape;251;p12"/>
          <p:cNvSpPr/>
          <p:nvPr/>
        </p:nvSpPr>
        <p:spPr>
          <a:xfrm>
            <a:off x="6400800" y="3767328"/>
            <a:ext cx="4206240" cy="27432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1100"/>
              <a:buFont typeface="Arial"/>
              <a:buNone/>
            </a:pPr>
            <a:r>
              <a:rPr b="0" i="0" lang="en-US" sz="1100" u="none" cap="none" strike="noStrike">
                <a:solidFill>
                  <a:srgbClr val="FFFFFF"/>
                </a:solidFill>
                <a:latin typeface="Arial"/>
                <a:ea typeface="Arial"/>
                <a:cs typeface="Arial"/>
                <a:sym typeface="Arial"/>
              </a:rPr>
              <a:t>best one</a:t>
            </a:r>
            <a:endParaRPr b="0" i="0" sz="1100" u="none" cap="none" strike="noStrike">
              <a:solidFill>
                <a:schemeClr val="dk1"/>
              </a:solidFill>
              <a:latin typeface="Arial"/>
              <a:ea typeface="Arial"/>
              <a:cs typeface="Arial"/>
              <a:sym typeface="Arial"/>
            </a:endParaRPr>
          </a:p>
        </p:txBody>
      </p:sp>
      <p:sp>
        <p:nvSpPr>
          <p:cNvPr id="252" name="Google Shape;252;p12"/>
          <p:cNvSpPr/>
          <p:nvPr/>
        </p:nvSpPr>
        <p:spPr>
          <a:xfrm>
            <a:off x="914400" y="4206240"/>
            <a:ext cx="1188720" cy="27432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1100"/>
              <a:buFont typeface="Arial"/>
              <a:buNone/>
            </a:pPr>
            <a:r>
              <a:rPr b="0" i="0" lang="en-US" sz="1100" u="none" cap="none" strike="noStrike">
                <a:solidFill>
                  <a:srgbClr val="FFFFFF"/>
                </a:solidFill>
                <a:latin typeface="Arial"/>
                <a:ea typeface="Arial"/>
                <a:cs typeface="Arial"/>
                <a:sym typeface="Arial"/>
              </a:rPr>
              <a:t>5</a:t>
            </a:r>
            <a:endParaRPr b="0" i="0" sz="1100" u="none" cap="none" strike="noStrike">
              <a:solidFill>
                <a:schemeClr val="dk1"/>
              </a:solidFill>
              <a:latin typeface="Arial"/>
              <a:ea typeface="Arial"/>
              <a:cs typeface="Arial"/>
              <a:sym typeface="Arial"/>
            </a:endParaRPr>
          </a:p>
        </p:txBody>
      </p:sp>
      <p:sp>
        <p:nvSpPr>
          <p:cNvPr id="253" name="Google Shape;253;p12"/>
          <p:cNvSpPr/>
          <p:nvPr/>
        </p:nvSpPr>
        <p:spPr>
          <a:xfrm>
            <a:off x="2423160" y="4206240"/>
            <a:ext cx="1828800" cy="27432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chemeClr val="dk1"/>
              </a:buClr>
              <a:buSzPts val="1100"/>
              <a:buFont typeface="Arial"/>
              <a:buNone/>
            </a:pPr>
            <a:r>
              <a:t/>
            </a:r>
            <a:endParaRPr b="0" i="0" sz="1100" u="none" cap="none" strike="noStrike">
              <a:solidFill>
                <a:schemeClr val="dk1"/>
              </a:solidFill>
              <a:latin typeface="Arial"/>
              <a:ea typeface="Arial"/>
              <a:cs typeface="Arial"/>
              <a:sym typeface="Arial"/>
            </a:endParaRPr>
          </a:p>
        </p:txBody>
      </p:sp>
      <p:sp>
        <p:nvSpPr>
          <p:cNvPr id="254" name="Google Shape;254;p12"/>
          <p:cNvSpPr/>
          <p:nvPr/>
        </p:nvSpPr>
        <p:spPr>
          <a:xfrm>
            <a:off x="4572000" y="4206240"/>
            <a:ext cx="1463040" cy="27432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1100"/>
              <a:buFont typeface="Arial"/>
              <a:buNone/>
            </a:pPr>
            <a:r>
              <a:rPr b="0" i="0" lang="en-US" sz="1100" u="none" cap="none" strike="noStrike">
                <a:solidFill>
                  <a:srgbClr val="FFFFFF"/>
                </a:solidFill>
                <a:latin typeface="Arial"/>
                <a:ea typeface="Arial"/>
                <a:cs typeface="Arial"/>
                <a:sym typeface="Arial"/>
              </a:rPr>
              <a:t>19 cm</a:t>
            </a:r>
            <a:endParaRPr b="0" i="0" sz="1100" u="none" cap="none" strike="noStrike">
              <a:solidFill>
                <a:schemeClr val="dk1"/>
              </a:solidFill>
              <a:latin typeface="Arial"/>
              <a:ea typeface="Arial"/>
              <a:cs typeface="Arial"/>
              <a:sym typeface="Arial"/>
            </a:endParaRPr>
          </a:p>
        </p:txBody>
      </p:sp>
      <p:sp>
        <p:nvSpPr>
          <p:cNvPr id="255" name="Google Shape;255;p12"/>
          <p:cNvSpPr/>
          <p:nvPr/>
        </p:nvSpPr>
        <p:spPr>
          <a:xfrm>
            <a:off x="6400800" y="4206240"/>
            <a:ext cx="4206240" cy="27432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1100"/>
              <a:buFont typeface="Arial"/>
              <a:buNone/>
            </a:pPr>
            <a:r>
              <a:rPr b="0" i="0" lang="en-US" sz="1100" u="none" cap="none" strike="noStrike">
                <a:solidFill>
                  <a:srgbClr val="FFFFFF"/>
                </a:solidFill>
                <a:latin typeface="Arial"/>
                <a:ea typeface="Arial"/>
                <a:cs typeface="Arial"/>
                <a:sym typeface="Arial"/>
              </a:rPr>
              <a:t>forgot date</a:t>
            </a:r>
            <a:endParaRPr b="0" i="0" sz="1100" u="none" cap="none" strike="noStrike">
              <a:solidFill>
                <a:schemeClr val="dk1"/>
              </a:solidFill>
              <a:latin typeface="Arial"/>
              <a:ea typeface="Arial"/>
              <a:cs typeface="Arial"/>
              <a:sym typeface="Arial"/>
            </a:endParaRPr>
          </a:p>
        </p:txBody>
      </p:sp>
      <p:sp>
        <p:nvSpPr>
          <p:cNvPr id="256" name="Google Shape;256;p12"/>
          <p:cNvSpPr/>
          <p:nvPr/>
        </p:nvSpPr>
        <p:spPr>
          <a:xfrm>
            <a:off x="685800" y="5257800"/>
            <a:ext cx="10835640" cy="777240"/>
          </a:xfrm>
          <a:prstGeom prst="rect">
            <a:avLst/>
          </a:prstGeom>
          <a:solidFill>
            <a:srgbClr val="0D0D0D"/>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 name="Google Shape;257;p12"/>
          <p:cNvSpPr/>
          <p:nvPr/>
        </p:nvSpPr>
        <p:spPr>
          <a:xfrm>
            <a:off x="914400" y="5376672"/>
            <a:ext cx="1508760" cy="292608"/>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12"/>
          <p:cNvSpPr/>
          <p:nvPr/>
        </p:nvSpPr>
        <p:spPr>
          <a:xfrm>
            <a:off x="960120" y="5431536"/>
            <a:ext cx="1417320" cy="16459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Arial"/>
              <a:buNone/>
            </a:pPr>
            <a:r>
              <a:rPr b="1" i="0" lang="en-US" sz="800" u="none" cap="none" strike="noStrike">
                <a:solidFill>
                  <a:srgbClr val="FFFFFF"/>
                </a:solidFill>
                <a:latin typeface="Arial"/>
                <a:ea typeface="Arial"/>
                <a:cs typeface="Arial"/>
                <a:sym typeface="Arial"/>
              </a:rPr>
              <a:t>STUDENT ACTIVITY</a:t>
            </a:r>
            <a:endParaRPr b="0" i="0" sz="800" u="none" cap="none" strike="noStrike">
              <a:solidFill>
                <a:schemeClr val="dk1"/>
              </a:solidFill>
              <a:latin typeface="Arial"/>
              <a:ea typeface="Arial"/>
              <a:cs typeface="Arial"/>
              <a:sym typeface="Arial"/>
            </a:endParaRPr>
          </a:p>
        </p:txBody>
      </p:sp>
      <p:sp>
        <p:nvSpPr>
          <p:cNvPr id="259" name="Google Shape;259;p12"/>
          <p:cNvSpPr/>
          <p:nvPr/>
        </p:nvSpPr>
        <p:spPr>
          <a:xfrm>
            <a:off x="2606040" y="5321808"/>
            <a:ext cx="8458200" cy="164592"/>
          </a:xfrm>
          <a:prstGeom prst="rect">
            <a:avLst/>
          </a:prstGeom>
          <a:noFill/>
          <a:ln>
            <a:noFill/>
          </a:ln>
        </p:spPr>
        <p:txBody>
          <a:bodyPr anchorCtr="0" anchor="t" bIns="625" lIns="625" spcFirstLastPara="1" rIns="625" wrap="square" tIns="625">
            <a:noAutofit/>
          </a:bodyPr>
          <a:lstStyle/>
          <a:p>
            <a:pPr indent="0" lvl="0" marL="0" marR="0" rtl="0" algn="l">
              <a:lnSpc>
                <a:spcPct val="100000"/>
              </a:lnSpc>
              <a:spcBef>
                <a:spcPts val="0"/>
              </a:spcBef>
              <a:spcAft>
                <a:spcPts val="0"/>
              </a:spcAft>
              <a:buClr>
                <a:srgbClr val="B8B8B8"/>
              </a:buClr>
              <a:buSzPts val="780"/>
              <a:buFont typeface="Arial"/>
              <a:buNone/>
            </a:pPr>
            <a:r>
              <a:rPr b="0" i="0" lang="en-US" sz="780" u="none" cap="none" strike="noStrike">
                <a:solidFill>
                  <a:srgbClr val="B8B8B8"/>
                </a:solidFill>
                <a:latin typeface="Arial"/>
                <a:ea typeface="Arial"/>
                <a:cs typeface="Arial"/>
                <a:sym typeface="Arial"/>
              </a:rPr>
              <a:t>Unit 4 Week 17 Day 3 • Student Handout 3: Data Cleaning Decision Log; Appendix C: Common Data Organization Problems</a:t>
            </a:r>
            <a:endParaRPr b="0" i="0" sz="780" u="none" cap="none" strike="noStrike">
              <a:solidFill>
                <a:schemeClr val="dk1"/>
              </a:solidFill>
              <a:latin typeface="Arial"/>
              <a:ea typeface="Arial"/>
              <a:cs typeface="Arial"/>
              <a:sym typeface="Arial"/>
            </a:endParaRPr>
          </a:p>
        </p:txBody>
      </p:sp>
      <p:sp>
        <p:nvSpPr>
          <p:cNvPr id="260" name="Google Shape;260;p12"/>
          <p:cNvSpPr/>
          <p:nvPr/>
        </p:nvSpPr>
        <p:spPr>
          <a:xfrm>
            <a:off x="2606040" y="5532120"/>
            <a:ext cx="8458200" cy="256032"/>
          </a:xfrm>
          <a:prstGeom prst="rect">
            <a:avLst/>
          </a:prstGeom>
          <a:noFill/>
          <a:ln>
            <a:noFill/>
          </a:ln>
        </p:spPr>
        <p:txBody>
          <a:bodyPr anchorCtr="0" anchor="t" bIns="625" lIns="625" spcFirstLastPara="1" rIns="625" wrap="square" tIns="625">
            <a:noAutofit/>
          </a:bodyPr>
          <a:lstStyle/>
          <a:p>
            <a:pPr indent="0" lvl="0" marL="0" marR="0" rtl="0" algn="l">
              <a:lnSpc>
                <a:spcPct val="100000"/>
              </a:lnSpc>
              <a:spcBef>
                <a:spcPts val="0"/>
              </a:spcBef>
              <a:spcAft>
                <a:spcPts val="0"/>
              </a:spcAft>
              <a:buClr>
                <a:srgbClr val="FFFFFF"/>
              </a:buClr>
              <a:buSzPts val="1400"/>
              <a:buFont typeface="Arial"/>
              <a:buNone/>
            </a:pPr>
            <a:r>
              <a:rPr b="0" i="0" lang="en-US" sz="1400" u="none" cap="none" strike="noStrike">
                <a:solidFill>
                  <a:srgbClr val="FFFFFF"/>
                </a:solidFill>
                <a:latin typeface="Arial"/>
                <a:ea typeface="Arial"/>
                <a:cs typeface="Arial"/>
                <a:sym typeface="Arial"/>
              </a:rPr>
              <a:t>Find five problems: labels, units, flags, missing information, and cleaning decisions.</a:t>
            </a:r>
            <a:endParaRPr b="0" i="0" sz="1400" u="none" cap="none" strike="noStrike">
              <a:solidFill>
                <a:schemeClr val="dk1"/>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65" name="Shape 265"/>
        <p:cNvGrpSpPr/>
        <p:nvPr/>
      </p:nvGrpSpPr>
      <p:grpSpPr>
        <a:xfrm>
          <a:off x="0" y="0"/>
          <a:ext cx="0" cy="0"/>
          <a:chOff x="0" y="0"/>
          <a:chExt cx="0" cy="0"/>
        </a:xfrm>
      </p:grpSpPr>
      <p:cxnSp>
        <p:nvCxnSpPr>
          <p:cNvPr id="266" name="Google Shape;266;p13"/>
          <p:cNvCxnSpPr/>
          <p:nvPr/>
        </p:nvCxnSpPr>
        <p:spPr>
          <a:xfrm>
            <a:off x="0" y="256032"/>
            <a:ext cx="12191695" cy="0"/>
          </a:xfrm>
          <a:prstGeom prst="straightConnector1">
            <a:avLst/>
          </a:prstGeom>
          <a:noFill/>
          <a:ln cap="flat" cmpd="sng" w="38100">
            <a:solidFill>
              <a:srgbClr val="ED1C24"/>
            </a:solidFill>
            <a:prstDash val="solid"/>
            <a:round/>
            <a:headEnd len="sm" w="sm" type="none"/>
            <a:tailEnd len="sm" w="sm" type="none"/>
          </a:ln>
        </p:spPr>
      </p:cxnSp>
      <p:cxnSp>
        <p:nvCxnSpPr>
          <p:cNvPr id="267" name="Google Shape;267;p13"/>
          <p:cNvCxnSpPr/>
          <p:nvPr/>
        </p:nvCxnSpPr>
        <p:spPr>
          <a:xfrm>
            <a:off x="0" y="6537960"/>
            <a:ext cx="12191695" cy="0"/>
          </a:xfrm>
          <a:prstGeom prst="straightConnector1">
            <a:avLst/>
          </a:prstGeom>
          <a:noFill/>
          <a:ln cap="flat" cmpd="sng" w="38100">
            <a:solidFill>
              <a:srgbClr val="ED1C24"/>
            </a:solidFill>
            <a:prstDash val="solid"/>
            <a:round/>
            <a:headEnd len="sm" w="sm" type="none"/>
            <a:tailEnd len="sm" w="sm" type="none"/>
          </a:ln>
        </p:spPr>
      </p:cxnSp>
      <p:sp>
        <p:nvSpPr>
          <p:cNvPr id="268" name="Google Shape;268;p13"/>
          <p:cNvSpPr/>
          <p:nvPr/>
        </p:nvSpPr>
        <p:spPr>
          <a:xfrm>
            <a:off x="411480" y="6592824"/>
            <a:ext cx="2011680" cy="1645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650"/>
              <a:buFont typeface="Arial"/>
              <a:buNone/>
            </a:pPr>
            <a:r>
              <a:rPr b="1" i="0" lang="en-US" sz="650" u="none" cap="none" strike="noStrike">
                <a:solidFill>
                  <a:srgbClr val="737373"/>
                </a:solidFill>
                <a:latin typeface="Arial"/>
                <a:ea typeface="Arial"/>
                <a:cs typeface="Arial"/>
                <a:sym typeface="Arial"/>
              </a:rPr>
              <a:t>DECK 09</a:t>
            </a:r>
            <a:endParaRPr b="0" i="0" sz="650" u="none" cap="none" strike="noStrike">
              <a:solidFill>
                <a:schemeClr val="dk1"/>
              </a:solidFill>
              <a:latin typeface="Arial"/>
              <a:ea typeface="Arial"/>
              <a:cs typeface="Arial"/>
              <a:sym typeface="Arial"/>
            </a:endParaRPr>
          </a:p>
        </p:txBody>
      </p:sp>
      <p:sp>
        <p:nvSpPr>
          <p:cNvPr id="269" name="Google Shape;269;p13"/>
          <p:cNvSpPr/>
          <p:nvPr/>
        </p:nvSpPr>
        <p:spPr>
          <a:xfrm>
            <a:off x="10058400" y="6565392"/>
            <a:ext cx="173736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737373"/>
              </a:buClr>
              <a:buSzPts val="700"/>
              <a:buFont typeface="Arial"/>
              <a:buNone/>
            </a:pPr>
            <a:r>
              <a:rPr b="1" i="0" lang="en-US" sz="700" u="none" cap="none" strike="noStrike">
                <a:solidFill>
                  <a:srgbClr val="737373"/>
                </a:solidFill>
                <a:latin typeface="Arial"/>
                <a:ea typeface="Arial"/>
                <a:cs typeface="Arial"/>
                <a:sym typeface="Arial"/>
              </a:rPr>
              <a:t>STARLAB</a:t>
            </a:r>
            <a:endParaRPr b="0" i="0" sz="700" u="none" cap="none" strike="noStrike">
              <a:solidFill>
                <a:schemeClr val="dk1"/>
              </a:solidFill>
              <a:latin typeface="Arial"/>
              <a:ea typeface="Arial"/>
              <a:cs typeface="Arial"/>
              <a:sym typeface="Arial"/>
            </a:endParaRPr>
          </a:p>
        </p:txBody>
      </p:sp>
      <p:sp>
        <p:nvSpPr>
          <p:cNvPr id="270" name="Google Shape;270;p13"/>
          <p:cNvSpPr/>
          <p:nvPr/>
        </p:nvSpPr>
        <p:spPr>
          <a:xfrm>
            <a:off x="502920" y="475488"/>
            <a:ext cx="438912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900"/>
              <a:buFont typeface="Arial"/>
              <a:buNone/>
            </a:pPr>
            <a:r>
              <a:rPr b="1" i="0" lang="en-US" sz="900" u="none" cap="none" strike="noStrike">
                <a:solidFill>
                  <a:srgbClr val="ED1C24"/>
                </a:solidFill>
                <a:latin typeface="Arial"/>
                <a:ea typeface="Arial"/>
                <a:cs typeface="Arial"/>
                <a:sym typeface="Arial"/>
              </a:rPr>
              <a:t>DATA ORGANIZATION</a:t>
            </a:r>
            <a:endParaRPr b="0" i="0" sz="900" u="none" cap="none" strike="noStrike">
              <a:solidFill>
                <a:schemeClr val="dk1"/>
              </a:solidFill>
              <a:latin typeface="Arial"/>
              <a:ea typeface="Arial"/>
              <a:cs typeface="Arial"/>
              <a:sym typeface="Arial"/>
            </a:endParaRPr>
          </a:p>
        </p:txBody>
      </p:sp>
      <p:sp>
        <p:nvSpPr>
          <p:cNvPr id="271" name="Google Shape;271;p13"/>
          <p:cNvSpPr/>
          <p:nvPr/>
        </p:nvSpPr>
        <p:spPr>
          <a:xfrm>
            <a:off x="502920" y="749808"/>
            <a:ext cx="1097280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Cleaning decisions must be documented</a:t>
            </a:r>
            <a:endParaRPr b="0" i="0" sz="2800" u="none" cap="none" strike="noStrike">
              <a:solidFill>
                <a:schemeClr val="dk1"/>
              </a:solidFill>
              <a:latin typeface="Arial"/>
              <a:ea typeface="Arial"/>
              <a:cs typeface="Arial"/>
              <a:sym typeface="Arial"/>
            </a:endParaRPr>
          </a:p>
        </p:txBody>
      </p:sp>
      <p:cxnSp>
        <p:nvCxnSpPr>
          <p:cNvPr id="272" name="Google Shape;272;p13"/>
          <p:cNvCxnSpPr/>
          <p:nvPr/>
        </p:nvCxnSpPr>
        <p:spPr>
          <a:xfrm>
            <a:off x="502920" y="1389888"/>
            <a:ext cx="11109960" cy="0"/>
          </a:xfrm>
          <a:prstGeom prst="straightConnector1">
            <a:avLst/>
          </a:prstGeom>
          <a:noFill/>
          <a:ln cap="flat" cmpd="sng" w="17775">
            <a:solidFill>
              <a:srgbClr val="ED1C24">
                <a:alpha val="90196"/>
              </a:srgbClr>
            </a:solidFill>
            <a:prstDash val="solid"/>
            <a:round/>
            <a:headEnd len="sm" w="sm" type="none"/>
            <a:tailEnd len="sm" w="sm" type="none"/>
          </a:ln>
        </p:spPr>
      </p:cxnSp>
      <p:sp>
        <p:nvSpPr>
          <p:cNvPr id="273" name="Google Shape;273;p13"/>
          <p:cNvSpPr/>
          <p:nvPr/>
        </p:nvSpPr>
        <p:spPr>
          <a:xfrm>
            <a:off x="777240" y="1828800"/>
            <a:ext cx="10652760" cy="3291840"/>
          </a:xfrm>
          <a:prstGeom prst="rect">
            <a:avLst/>
          </a:prstGeom>
          <a:solidFill>
            <a:srgbClr val="0D0D0D"/>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 name="Google Shape;274;p13"/>
          <p:cNvSpPr/>
          <p:nvPr/>
        </p:nvSpPr>
        <p:spPr>
          <a:xfrm>
            <a:off x="1005840" y="2057400"/>
            <a:ext cx="233172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000"/>
              <a:buFont typeface="Arial"/>
              <a:buNone/>
            </a:pPr>
            <a:r>
              <a:rPr b="1" i="0" lang="en-US" sz="1000" u="none" cap="none" strike="noStrike">
                <a:solidFill>
                  <a:srgbClr val="ED1C24"/>
                </a:solidFill>
                <a:latin typeface="Arial"/>
                <a:ea typeface="Arial"/>
                <a:cs typeface="Arial"/>
                <a:sym typeface="Arial"/>
              </a:rPr>
              <a:t>Data affected</a:t>
            </a:r>
            <a:endParaRPr b="0" i="0" sz="1000" u="none" cap="none" strike="noStrike">
              <a:solidFill>
                <a:schemeClr val="dk1"/>
              </a:solidFill>
              <a:latin typeface="Arial"/>
              <a:ea typeface="Arial"/>
              <a:cs typeface="Arial"/>
              <a:sym typeface="Arial"/>
            </a:endParaRPr>
          </a:p>
        </p:txBody>
      </p:sp>
      <p:sp>
        <p:nvSpPr>
          <p:cNvPr id="275" name="Google Shape;275;p13"/>
          <p:cNvSpPr/>
          <p:nvPr/>
        </p:nvSpPr>
        <p:spPr>
          <a:xfrm>
            <a:off x="3657600" y="2057400"/>
            <a:ext cx="233172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000"/>
              <a:buFont typeface="Arial"/>
              <a:buNone/>
            </a:pPr>
            <a:r>
              <a:rPr b="1" i="0" lang="en-US" sz="1000" u="none" cap="none" strike="noStrike">
                <a:solidFill>
                  <a:srgbClr val="ED1C24"/>
                </a:solidFill>
                <a:latin typeface="Arial"/>
                <a:ea typeface="Arial"/>
                <a:cs typeface="Arial"/>
                <a:sym typeface="Arial"/>
              </a:rPr>
              <a:t>Decision made</a:t>
            </a:r>
            <a:endParaRPr b="0" i="0" sz="1000" u="none" cap="none" strike="noStrike">
              <a:solidFill>
                <a:schemeClr val="dk1"/>
              </a:solidFill>
              <a:latin typeface="Arial"/>
              <a:ea typeface="Arial"/>
              <a:cs typeface="Arial"/>
              <a:sym typeface="Arial"/>
            </a:endParaRPr>
          </a:p>
        </p:txBody>
      </p:sp>
      <p:sp>
        <p:nvSpPr>
          <p:cNvPr id="276" name="Google Shape;276;p13"/>
          <p:cNvSpPr/>
          <p:nvPr/>
        </p:nvSpPr>
        <p:spPr>
          <a:xfrm>
            <a:off x="6309360" y="2057400"/>
            <a:ext cx="265176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000"/>
              <a:buFont typeface="Arial"/>
              <a:buNone/>
            </a:pPr>
            <a:r>
              <a:rPr b="1" i="0" lang="en-US" sz="1000" u="none" cap="none" strike="noStrike">
                <a:solidFill>
                  <a:srgbClr val="ED1C24"/>
                </a:solidFill>
                <a:latin typeface="Arial"/>
                <a:ea typeface="Arial"/>
                <a:cs typeface="Arial"/>
                <a:sym typeface="Arial"/>
              </a:rPr>
              <a:t>Reason</a:t>
            </a:r>
            <a:endParaRPr b="0" i="0" sz="1000" u="none" cap="none" strike="noStrike">
              <a:solidFill>
                <a:schemeClr val="dk1"/>
              </a:solidFill>
              <a:latin typeface="Arial"/>
              <a:ea typeface="Arial"/>
              <a:cs typeface="Arial"/>
              <a:sym typeface="Arial"/>
            </a:endParaRPr>
          </a:p>
        </p:txBody>
      </p:sp>
      <p:sp>
        <p:nvSpPr>
          <p:cNvPr id="277" name="Google Shape;277;p13"/>
          <p:cNvSpPr/>
          <p:nvPr/>
        </p:nvSpPr>
        <p:spPr>
          <a:xfrm>
            <a:off x="9372600" y="2057400"/>
            <a:ext cx="150876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000"/>
              <a:buFont typeface="Arial"/>
              <a:buNone/>
            </a:pPr>
            <a:r>
              <a:rPr b="1" i="0" lang="en-US" sz="1000" u="none" cap="none" strike="noStrike">
                <a:solidFill>
                  <a:srgbClr val="ED1C24"/>
                </a:solidFill>
                <a:latin typeface="Arial"/>
                <a:ea typeface="Arial"/>
                <a:cs typeface="Arial"/>
                <a:sym typeface="Arial"/>
              </a:rPr>
              <a:t>Raw preserved?</a:t>
            </a:r>
            <a:endParaRPr b="0" i="0" sz="1000" u="none" cap="none" strike="noStrike">
              <a:solidFill>
                <a:schemeClr val="dk1"/>
              </a:solidFill>
              <a:latin typeface="Arial"/>
              <a:ea typeface="Arial"/>
              <a:cs typeface="Arial"/>
              <a:sym typeface="Arial"/>
            </a:endParaRPr>
          </a:p>
        </p:txBody>
      </p:sp>
      <p:sp>
        <p:nvSpPr>
          <p:cNvPr id="278" name="Google Shape;278;p13"/>
          <p:cNvSpPr/>
          <p:nvPr/>
        </p:nvSpPr>
        <p:spPr>
          <a:xfrm>
            <a:off x="1005840" y="2578608"/>
            <a:ext cx="2331720" cy="347472"/>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1200"/>
              <a:buFont typeface="Arial"/>
              <a:buNone/>
            </a:pPr>
            <a:r>
              <a:rPr b="0" i="0" lang="en-US" sz="1200" u="none" cap="none" strike="noStrike">
                <a:solidFill>
                  <a:srgbClr val="FFFFFF"/>
                </a:solidFill>
                <a:latin typeface="Arial"/>
                <a:ea typeface="Arial"/>
                <a:cs typeface="Arial"/>
                <a:sym typeface="Arial"/>
              </a:rPr>
              <a:t>Height column</a:t>
            </a:r>
            <a:endParaRPr b="0" i="0" sz="1200" u="none" cap="none" strike="noStrike">
              <a:solidFill>
                <a:schemeClr val="dk1"/>
              </a:solidFill>
              <a:latin typeface="Arial"/>
              <a:ea typeface="Arial"/>
              <a:cs typeface="Arial"/>
              <a:sym typeface="Arial"/>
            </a:endParaRPr>
          </a:p>
        </p:txBody>
      </p:sp>
      <p:sp>
        <p:nvSpPr>
          <p:cNvPr id="279" name="Google Shape;279;p13"/>
          <p:cNvSpPr/>
          <p:nvPr/>
        </p:nvSpPr>
        <p:spPr>
          <a:xfrm>
            <a:off x="3657600" y="2578608"/>
            <a:ext cx="2331720" cy="347472"/>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1200"/>
              <a:buFont typeface="Arial"/>
              <a:buNone/>
            </a:pPr>
            <a:r>
              <a:rPr b="0" i="0" lang="en-US" sz="1200" u="none" cap="none" strike="noStrike">
                <a:solidFill>
                  <a:srgbClr val="FFFFFF"/>
                </a:solidFill>
                <a:latin typeface="Arial"/>
                <a:ea typeface="Arial"/>
                <a:cs typeface="Arial"/>
                <a:sym typeface="Arial"/>
              </a:rPr>
              <a:t>Standardized to cm</a:t>
            </a:r>
            <a:endParaRPr b="0" i="0" sz="1200" u="none" cap="none" strike="noStrike">
              <a:solidFill>
                <a:schemeClr val="dk1"/>
              </a:solidFill>
              <a:latin typeface="Arial"/>
              <a:ea typeface="Arial"/>
              <a:cs typeface="Arial"/>
              <a:sym typeface="Arial"/>
            </a:endParaRPr>
          </a:p>
        </p:txBody>
      </p:sp>
      <p:sp>
        <p:nvSpPr>
          <p:cNvPr id="280" name="Google Shape;280;p13"/>
          <p:cNvSpPr/>
          <p:nvPr/>
        </p:nvSpPr>
        <p:spPr>
          <a:xfrm>
            <a:off x="6309360" y="2578608"/>
            <a:ext cx="2651760" cy="347472"/>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1200"/>
              <a:buFont typeface="Arial"/>
              <a:buNone/>
            </a:pPr>
            <a:r>
              <a:rPr b="0" i="0" lang="en-US" sz="1200" u="none" cap="none" strike="noStrike">
                <a:solidFill>
                  <a:srgbClr val="FFFFFF"/>
                </a:solidFill>
                <a:latin typeface="Arial"/>
                <a:ea typeface="Arial"/>
                <a:cs typeface="Arial"/>
                <a:sym typeface="Arial"/>
              </a:rPr>
              <a:t>Mixed units</a:t>
            </a:r>
            <a:endParaRPr b="0" i="0" sz="1200" u="none" cap="none" strike="noStrike">
              <a:solidFill>
                <a:schemeClr val="dk1"/>
              </a:solidFill>
              <a:latin typeface="Arial"/>
              <a:ea typeface="Arial"/>
              <a:cs typeface="Arial"/>
              <a:sym typeface="Arial"/>
            </a:endParaRPr>
          </a:p>
        </p:txBody>
      </p:sp>
      <p:sp>
        <p:nvSpPr>
          <p:cNvPr id="281" name="Google Shape;281;p13"/>
          <p:cNvSpPr/>
          <p:nvPr/>
        </p:nvSpPr>
        <p:spPr>
          <a:xfrm>
            <a:off x="9372600" y="2578608"/>
            <a:ext cx="1508760" cy="347472"/>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1200"/>
              <a:buFont typeface="Arial"/>
              <a:buNone/>
            </a:pPr>
            <a:r>
              <a:rPr b="0" i="0" lang="en-US" sz="1200" u="none" cap="none" strike="noStrike">
                <a:solidFill>
                  <a:srgbClr val="FFFFFF"/>
                </a:solidFill>
                <a:latin typeface="Arial"/>
                <a:ea typeface="Arial"/>
                <a:cs typeface="Arial"/>
                <a:sym typeface="Arial"/>
              </a:rPr>
              <a:t>Yes</a:t>
            </a:r>
            <a:endParaRPr b="0" i="0" sz="1200" u="none" cap="none" strike="noStrike">
              <a:solidFill>
                <a:schemeClr val="dk1"/>
              </a:solidFill>
              <a:latin typeface="Arial"/>
              <a:ea typeface="Arial"/>
              <a:cs typeface="Arial"/>
              <a:sym typeface="Arial"/>
            </a:endParaRPr>
          </a:p>
        </p:txBody>
      </p:sp>
      <p:sp>
        <p:nvSpPr>
          <p:cNvPr id="282" name="Google Shape;282;p13"/>
          <p:cNvSpPr/>
          <p:nvPr/>
        </p:nvSpPr>
        <p:spPr>
          <a:xfrm>
            <a:off x="1005840" y="3236976"/>
            <a:ext cx="2331720" cy="347472"/>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1200"/>
              <a:buFont typeface="Arial"/>
              <a:buNone/>
            </a:pPr>
            <a:r>
              <a:rPr b="0" i="0" lang="en-US" sz="1200" u="none" cap="none" strike="noStrike">
                <a:solidFill>
                  <a:srgbClr val="FFFFFF"/>
                </a:solidFill>
                <a:latin typeface="Arial"/>
                <a:ea typeface="Arial"/>
                <a:cs typeface="Arial"/>
                <a:sym typeface="Arial"/>
              </a:rPr>
              <a:t>Trial 3</a:t>
            </a:r>
            <a:endParaRPr b="0" i="0" sz="1200" u="none" cap="none" strike="noStrike">
              <a:solidFill>
                <a:schemeClr val="dk1"/>
              </a:solidFill>
              <a:latin typeface="Arial"/>
              <a:ea typeface="Arial"/>
              <a:cs typeface="Arial"/>
              <a:sym typeface="Arial"/>
            </a:endParaRPr>
          </a:p>
        </p:txBody>
      </p:sp>
      <p:sp>
        <p:nvSpPr>
          <p:cNvPr id="283" name="Google Shape;283;p13"/>
          <p:cNvSpPr/>
          <p:nvPr/>
        </p:nvSpPr>
        <p:spPr>
          <a:xfrm>
            <a:off x="3657600" y="3236976"/>
            <a:ext cx="2331720" cy="347472"/>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1200"/>
              <a:buFont typeface="Arial"/>
              <a:buNone/>
            </a:pPr>
            <a:r>
              <a:rPr b="0" i="0" lang="en-US" sz="1200" u="none" cap="none" strike="noStrike">
                <a:solidFill>
                  <a:srgbClr val="FFFFFF"/>
                </a:solidFill>
                <a:latin typeface="Arial"/>
                <a:ea typeface="Arial"/>
                <a:cs typeface="Arial"/>
                <a:sym typeface="Arial"/>
              </a:rPr>
              <a:t>Flagged</a:t>
            </a:r>
            <a:endParaRPr b="0" i="0" sz="1200" u="none" cap="none" strike="noStrike">
              <a:solidFill>
                <a:schemeClr val="dk1"/>
              </a:solidFill>
              <a:latin typeface="Arial"/>
              <a:ea typeface="Arial"/>
              <a:cs typeface="Arial"/>
              <a:sym typeface="Arial"/>
            </a:endParaRPr>
          </a:p>
        </p:txBody>
      </p:sp>
      <p:sp>
        <p:nvSpPr>
          <p:cNvPr id="284" name="Google Shape;284;p13"/>
          <p:cNvSpPr/>
          <p:nvPr/>
        </p:nvSpPr>
        <p:spPr>
          <a:xfrm>
            <a:off x="6309360" y="3236976"/>
            <a:ext cx="2651760" cy="347472"/>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1200"/>
              <a:buFont typeface="Arial"/>
              <a:buNone/>
            </a:pPr>
            <a:r>
              <a:rPr b="0" i="0" lang="en-US" sz="1200" u="none" cap="none" strike="noStrike">
                <a:solidFill>
                  <a:srgbClr val="FFFFFF"/>
                </a:solidFill>
                <a:latin typeface="Arial"/>
                <a:ea typeface="Arial"/>
                <a:cs typeface="Arial"/>
                <a:sym typeface="Arial"/>
              </a:rPr>
              <a:t>Known spill during setup</a:t>
            </a:r>
            <a:endParaRPr b="0" i="0" sz="1200" u="none" cap="none" strike="noStrike">
              <a:solidFill>
                <a:schemeClr val="dk1"/>
              </a:solidFill>
              <a:latin typeface="Arial"/>
              <a:ea typeface="Arial"/>
              <a:cs typeface="Arial"/>
              <a:sym typeface="Arial"/>
            </a:endParaRPr>
          </a:p>
        </p:txBody>
      </p:sp>
      <p:sp>
        <p:nvSpPr>
          <p:cNvPr id="285" name="Google Shape;285;p13"/>
          <p:cNvSpPr/>
          <p:nvPr/>
        </p:nvSpPr>
        <p:spPr>
          <a:xfrm>
            <a:off x="9372600" y="3236976"/>
            <a:ext cx="1508760" cy="347472"/>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1200"/>
              <a:buFont typeface="Arial"/>
              <a:buNone/>
            </a:pPr>
            <a:r>
              <a:rPr b="0" i="0" lang="en-US" sz="1200" u="none" cap="none" strike="noStrike">
                <a:solidFill>
                  <a:srgbClr val="FFFFFF"/>
                </a:solidFill>
                <a:latin typeface="Arial"/>
                <a:ea typeface="Arial"/>
                <a:cs typeface="Arial"/>
                <a:sym typeface="Arial"/>
              </a:rPr>
              <a:t>Yes</a:t>
            </a:r>
            <a:endParaRPr b="0" i="0" sz="1200" u="none" cap="none" strike="noStrike">
              <a:solidFill>
                <a:schemeClr val="dk1"/>
              </a:solidFill>
              <a:latin typeface="Arial"/>
              <a:ea typeface="Arial"/>
              <a:cs typeface="Arial"/>
              <a:sym typeface="Arial"/>
            </a:endParaRPr>
          </a:p>
        </p:txBody>
      </p:sp>
      <p:sp>
        <p:nvSpPr>
          <p:cNvPr id="286" name="Google Shape;286;p13"/>
          <p:cNvSpPr/>
          <p:nvPr/>
        </p:nvSpPr>
        <p:spPr>
          <a:xfrm>
            <a:off x="1005840" y="3895344"/>
            <a:ext cx="2331720" cy="347472"/>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1200"/>
              <a:buFont typeface="Arial"/>
              <a:buNone/>
            </a:pPr>
            <a:r>
              <a:rPr b="0" i="0" lang="en-US" sz="1200" u="none" cap="none" strike="noStrike">
                <a:solidFill>
                  <a:srgbClr val="FFFFFF"/>
                </a:solidFill>
                <a:latin typeface="Arial"/>
                <a:ea typeface="Arial"/>
                <a:cs typeface="Arial"/>
                <a:sym typeface="Arial"/>
              </a:rPr>
              <a:t>Duplicate row</a:t>
            </a:r>
            <a:endParaRPr b="0" i="0" sz="1200" u="none" cap="none" strike="noStrike">
              <a:solidFill>
                <a:schemeClr val="dk1"/>
              </a:solidFill>
              <a:latin typeface="Arial"/>
              <a:ea typeface="Arial"/>
              <a:cs typeface="Arial"/>
              <a:sym typeface="Arial"/>
            </a:endParaRPr>
          </a:p>
        </p:txBody>
      </p:sp>
      <p:sp>
        <p:nvSpPr>
          <p:cNvPr id="287" name="Google Shape;287;p13"/>
          <p:cNvSpPr/>
          <p:nvPr/>
        </p:nvSpPr>
        <p:spPr>
          <a:xfrm>
            <a:off x="3657600" y="3895344"/>
            <a:ext cx="2331720" cy="347472"/>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1200"/>
              <a:buFont typeface="Arial"/>
              <a:buNone/>
            </a:pPr>
            <a:r>
              <a:rPr b="0" i="0" lang="en-US" sz="1200" u="none" cap="none" strike="noStrike">
                <a:solidFill>
                  <a:srgbClr val="FFFFFF"/>
                </a:solidFill>
                <a:latin typeface="Arial"/>
                <a:ea typeface="Arial"/>
                <a:cs typeface="Arial"/>
                <a:sym typeface="Arial"/>
              </a:rPr>
              <a:t>Removed from clean copy</a:t>
            </a:r>
            <a:endParaRPr b="0" i="0" sz="1200" u="none" cap="none" strike="noStrike">
              <a:solidFill>
                <a:schemeClr val="dk1"/>
              </a:solidFill>
              <a:latin typeface="Arial"/>
              <a:ea typeface="Arial"/>
              <a:cs typeface="Arial"/>
              <a:sym typeface="Arial"/>
            </a:endParaRPr>
          </a:p>
        </p:txBody>
      </p:sp>
      <p:sp>
        <p:nvSpPr>
          <p:cNvPr id="288" name="Google Shape;288;p13"/>
          <p:cNvSpPr/>
          <p:nvPr/>
        </p:nvSpPr>
        <p:spPr>
          <a:xfrm>
            <a:off x="6309360" y="3895344"/>
            <a:ext cx="2651760" cy="347472"/>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1200"/>
              <a:buFont typeface="Arial"/>
              <a:buNone/>
            </a:pPr>
            <a:r>
              <a:rPr b="0" i="0" lang="en-US" sz="1200" u="none" cap="none" strike="noStrike">
                <a:solidFill>
                  <a:srgbClr val="FFFFFF"/>
                </a:solidFill>
                <a:latin typeface="Arial"/>
                <a:ea typeface="Arial"/>
                <a:cs typeface="Arial"/>
                <a:sym typeface="Arial"/>
              </a:rPr>
              <a:t>Accidental duplicate</a:t>
            </a:r>
            <a:endParaRPr b="0" i="0" sz="1200" u="none" cap="none" strike="noStrike">
              <a:solidFill>
                <a:schemeClr val="dk1"/>
              </a:solidFill>
              <a:latin typeface="Arial"/>
              <a:ea typeface="Arial"/>
              <a:cs typeface="Arial"/>
              <a:sym typeface="Arial"/>
            </a:endParaRPr>
          </a:p>
        </p:txBody>
      </p:sp>
      <p:sp>
        <p:nvSpPr>
          <p:cNvPr id="289" name="Google Shape;289;p13"/>
          <p:cNvSpPr/>
          <p:nvPr/>
        </p:nvSpPr>
        <p:spPr>
          <a:xfrm>
            <a:off x="9372600" y="3895344"/>
            <a:ext cx="1508760" cy="347472"/>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1200"/>
              <a:buFont typeface="Arial"/>
              <a:buNone/>
            </a:pPr>
            <a:r>
              <a:rPr b="0" i="0" lang="en-US" sz="1200" u="none" cap="none" strike="noStrike">
                <a:solidFill>
                  <a:srgbClr val="FFFFFF"/>
                </a:solidFill>
                <a:latin typeface="Arial"/>
                <a:ea typeface="Arial"/>
                <a:cs typeface="Arial"/>
                <a:sym typeface="Arial"/>
              </a:rPr>
              <a:t>Yes</a:t>
            </a:r>
            <a:endParaRPr b="0" i="0" sz="1200" u="none" cap="none" strike="noStrike">
              <a:solidFill>
                <a:schemeClr val="dk1"/>
              </a:solidFill>
              <a:latin typeface="Arial"/>
              <a:ea typeface="Arial"/>
              <a:cs typeface="Arial"/>
              <a:sym typeface="Arial"/>
            </a:endParaRPr>
          </a:p>
        </p:txBody>
      </p:sp>
      <p:sp>
        <p:nvSpPr>
          <p:cNvPr id="290" name="Google Shape;290;p13"/>
          <p:cNvSpPr/>
          <p:nvPr/>
        </p:nvSpPr>
        <p:spPr>
          <a:xfrm>
            <a:off x="822960" y="5532120"/>
            <a:ext cx="10607040" cy="365760"/>
          </a:xfrm>
          <a:prstGeom prst="rect">
            <a:avLst/>
          </a:prstGeom>
          <a:noFill/>
          <a:ln>
            <a:noFill/>
          </a:ln>
        </p:spPr>
        <p:txBody>
          <a:bodyPr anchorCtr="0" anchor="t" bIns="625" lIns="625" spcFirstLastPara="1" rIns="625" wrap="square" tIns="625">
            <a:noAutofit/>
          </a:bodyPr>
          <a:lstStyle/>
          <a:p>
            <a:pPr indent="0" lvl="0" marL="0" marR="0" rtl="0" algn="ctr">
              <a:lnSpc>
                <a:spcPct val="100000"/>
              </a:lnSpc>
              <a:spcBef>
                <a:spcPts val="0"/>
              </a:spcBef>
              <a:spcAft>
                <a:spcPts val="0"/>
              </a:spcAft>
              <a:buClr>
                <a:srgbClr val="FFFFFF"/>
              </a:buClr>
              <a:buSzPts val="2000"/>
              <a:buFont typeface="Arial"/>
              <a:buNone/>
            </a:pPr>
            <a:r>
              <a:rPr b="0" i="0" lang="en-US" sz="2000" u="none" cap="none" strike="noStrike">
                <a:solidFill>
                  <a:srgbClr val="FFFFFF"/>
                </a:solidFill>
                <a:latin typeface="Arial"/>
                <a:ea typeface="Arial"/>
                <a:cs typeface="Arial"/>
                <a:sym typeface="Arial"/>
              </a:rPr>
              <a:t>If you cannot explain a cleaning choice, do not make it silently.</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95" name="Shape 295"/>
        <p:cNvGrpSpPr/>
        <p:nvPr/>
      </p:nvGrpSpPr>
      <p:grpSpPr>
        <a:xfrm>
          <a:off x="0" y="0"/>
          <a:ext cx="0" cy="0"/>
          <a:chOff x="0" y="0"/>
          <a:chExt cx="0" cy="0"/>
        </a:xfrm>
      </p:grpSpPr>
      <p:cxnSp>
        <p:nvCxnSpPr>
          <p:cNvPr id="296" name="Google Shape;296;p14"/>
          <p:cNvCxnSpPr/>
          <p:nvPr/>
        </p:nvCxnSpPr>
        <p:spPr>
          <a:xfrm>
            <a:off x="0" y="256032"/>
            <a:ext cx="12191695" cy="0"/>
          </a:xfrm>
          <a:prstGeom prst="straightConnector1">
            <a:avLst/>
          </a:prstGeom>
          <a:noFill/>
          <a:ln cap="flat" cmpd="sng" w="38100">
            <a:solidFill>
              <a:srgbClr val="ED1C24"/>
            </a:solidFill>
            <a:prstDash val="solid"/>
            <a:round/>
            <a:headEnd len="sm" w="sm" type="none"/>
            <a:tailEnd len="sm" w="sm" type="none"/>
          </a:ln>
        </p:spPr>
      </p:cxnSp>
      <p:cxnSp>
        <p:nvCxnSpPr>
          <p:cNvPr id="297" name="Google Shape;297;p14"/>
          <p:cNvCxnSpPr/>
          <p:nvPr/>
        </p:nvCxnSpPr>
        <p:spPr>
          <a:xfrm>
            <a:off x="0" y="6537960"/>
            <a:ext cx="12191695" cy="0"/>
          </a:xfrm>
          <a:prstGeom prst="straightConnector1">
            <a:avLst/>
          </a:prstGeom>
          <a:noFill/>
          <a:ln cap="flat" cmpd="sng" w="38100">
            <a:solidFill>
              <a:srgbClr val="ED1C24"/>
            </a:solidFill>
            <a:prstDash val="solid"/>
            <a:round/>
            <a:headEnd len="sm" w="sm" type="none"/>
            <a:tailEnd len="sm" w="sm" type="none"/>
          </a:ln>
        </p:spPr>
      </p:cxnSp>
      <p:sp>
        <p:nvSpPr>
          <p:cNvPr id="298" name="Google Shape;298;p14"/>
          <p:cNvSpPr/>
          <p:nvPr/>
        </p:nvSpPr>
        <p:spPr>
          <a:xfrm>
            <a:off x="411480" y="6592824"/>
            <a:ext cx="2011680" cy="1645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650"/>
              <a:buFont typeface="Arial"/>
              <a:buNone/>
            </a:pPr>
            <a:r>
              <a:rPr b="1" i="0" lang="en-US" sz="650" u="none" cap="none" strike="noStrike">
                <a:solidFill>
                  <a:srgbClr val="737373"/>
                </a:solidFill>
                <a:latin typeface="Arial"/>
                <a:ea typeface="Arial"/>
                <a:cs typeface="Arial"/>
                <a:sym typeface="Arial"/>
              </a:rPr>
              <a:t>DECK 09</a:t>
            </a:r>
            <a:endParaRPr b="0" i="0" sz="650" u="none" cap="none" strike="noStrike">
              <a:solidFill>
                <a:schemeClr val="dk1"/>
              </a:solidFill>
              <a:latin typeface="Arial"/>
              <a:ea typeface="Arial"/>
              <a:cs typeface="Arial"/>
              <a:sym typeface="Arial"/>
            </a:endParaRPr>
          </a:p>
        </p:txBody>
      </p:sp>
      <p:sp>
        <p:nvSpPr>
          <p:cNvPr id="299" name="Google Shape;299;p14"/>
          <p:cNvSpPr/>
          <p:nvPr/>
        </p:nvSpPr>
        <p:spPr>
          <a:xfrm>
            <a:off x="10058400" y="6565392"/>
            <a:ext cx="173736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737373"/>
              </a:buClr>
              <a:buSzPts val="700"/>
              <a:buFont typeface="Arial"/>
              <a:buNone/>
            </a:pPr>
            <a:r>
              <a:rPr b="1" i="0" lang="en-US" sz="700" u="none" cap="none" strike="noStrike">
                <a:solidFill>
                  <a:srgbClr val="737373"/>
                </a:solidFill>
                <a:latin typeface="Arial"/>
                <a:ea typeface="Arial"/>
                <a:cs typeface="Arial"/>
                <a:sym typeface="Arial"/>
              </a:rPr>
              <a:t>STARLAB</a:t>
            </a:r>
            <a:endParaRPr b="0" i="0" sz="700" u="none" cap="none" strike="noStrike">
              <a:solidFill>
                <a:schemeClr val="dk1"/>
              </a:solidFill>
              <a:latin typeface="Arial"/>
              <a:ea typeface="Arial"/>
              <a:cs typeface="Arial"/>
              <a:sym typeface="Arial"/>
            </a:endParaRPr>
          </a:p>
        </p:txBody>
      </p:sp>
      <p:sp>
        <p:nvSpPr>
          <p:cNvPr id="300" name="Google Shape;300;p14"/>
          <p:cNvSpPr/>
          <p:nvPr/>
        </p:nvSpPr>
        <p:spPr>
          <a:xfrm>
            <a:off x="502920" y="475488"/>
            <a:ext cx="438912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900"/>
              <a:buFont typeface="Arial"/>
              <a:buNone/>
            </a:pPr>
            <a:r>
              <a:rPr b="1" i="0" lang="en-US" sz="900" u="none" cap="none" strike="noStrike">
                <a:solidFill>
                  <a:srgbClr val="ED1C24"/>
                </a:solidFill>
                <a:latin typeface="Arial"/>
                <a:ea typeface="Arial"/>
                <a:cs typeface="Arial"/>
                <a:sym typeface="Arial"/>
              </a:rPr>
              <a:t>DATA ORGANIZATION</a:t>
            </a:r>
            <a:endParaRPr b="0" i="0" sz="900" u="none" cap="none" strike="noStrike">
              <a:solidFill>
                <a:schemeClr val="dk1"/>
              </a:solidFill>
              <a:latin typeface="Arial"/>
              <a:ea typeface="Arial"/>
              <a:cs typeface="Arial"/>
              <a:sym typeface="Arial"/>
            </a:endParaRPr>
          </a:p>
        </p:txBody>
      </p:sp>
      <p:sp>
        <p:nvSpPr>
          <p:cNvPr id="301" name="Google Shape;301;p14"/>
          <p:cNvSpPr/>
          <p:nvPr/>
        </p:nvSpPr>
        <p:spPr>
          <a:xfrm>
            <a:off x="502920" y="749808"/>
            <a:ext cx="1097280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Questionable data: flag, don’t erase</a:t>
            </a:r>
            <a:endParaRPr b="0" i="0" sz="2800" u="none" cap="none" strike="noStrike">
              <a:solidFill>
                <a:schemeClr val="dk1"/>
              </a:solidFill>
              <a:latin typeface="Arial"/>
              <a:ea typeface="Arial"/>
              <a:cs typeface="Arial"/>
              <a:sym typeface="Arial"/>
            </a:endParaRPr>
          </a:p>
        </p:txBody>
      </p:sp>
      <p:cxnSp>
        <p:nvCxnSpPr>
          <p:cNvPr id="302" name="Google Shape;302;p14"/>
          <p:cNvCxnSpPr/>
          <p:nvPr/>
        </p:nvCxnSpPr>
        <p:spPr>
          <a:xfrm>
            <a:off x="502920" y="1389888"/>
            <a:ext cx="11109960" cy="0"/>
          </a:xfrm>
          <a:prstGeom prst="straightConnector1">
            <a:avLst/>
          </a:prstGeom>
          <a:noFill/>
          <a:ln cap="flat" cmpd="sng" w="17775">
            <a:solidFill>
              <a:srgbClr val="ED1C24">
                <a:alpha val="90196"/>
              </a:srgbClr>
            </a:solidFill>
            <a:prstDash val="solid"/>
            <a:round/>
            <a:headEnd len="sm" w="sm" type="none"/>
            <a:tailEnd len="sm" w="sm" type="none"/>
          </a:ln>
        </p:spPr>
      </p:cxnSp>
      <p:sp>
        <p:nvSpPr>
          <p:cNvPr id="303" name="Google Shape;303;p14"/>
          <p:cNvSpPr/>
          <p:nvPr/>
        </p:nvSpPr>
        <p:spPr>
          <a:xfrm>
            <a:off x="685800" y="1737360"/>
            <a:ext cx="5212080" cy="4251960"/>
          </a:xfrm>
          <a:prstGeom prst="rect">
            <a:avLst/>
          </a:prstGeom>
          <a:solidFill>
            <a:srgbClr val="0D0D0D"/>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4" name="Google Shape;304;p14"/>
          <p:cNvSpPr/>
          <p:nvPr/>
        </p:nvSpPr>
        <p:spPr>
          <a:xfrm>
            <a:off x="6309360" y="1737360"/>
            <a:ext cx="5212080" cy="4251960"/>
          </a:xfrm>
          <a:prstGeom prst="rect">
            <a:avLst/>
          </a:prstGeom>
          <a:solidFill>
            <a:srgbClr val="0D0D0D"/>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5" name="Google Shape;305;p14"/>
          <p:cNvSpPr/>
          <p:nvPr/>
        </p:nvSpPr>
        <p:spPr>
          <a:xfrm>
            <a:off x="960120" y="1938528"/>
            <a:ext cx="4663440" cy="41148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ED1C24"/>
              </a:buClr>
              <a:buSzPts val="2100"/>
              <a:buFont typeface="Play"/>
              <a:buNone/>
            </a:pPr>
            <a:r>
              <a:rPr b="1" i="0" lang="en-US" sz="2100" u="none" cap="none" strike="noStrike">
                <a:solidFill>
                  <a:srgbClr val="ED1C24"/>
                </a:solidFill>
                <a:latin typeface="Play"/>
                <a:ea typeface="Play"/>
                <a:cs typeface="Play"/>
                <a:sym typeface="Play"/>
              </a:rPr>
              <a:t>FLAG IT WHEN</a:t>
            </a:r>
            <a:endParaRPr b="0" i="0" sz="2100" u="none" cap="none" strike="noStrike">
              <a:solidFill>
                <a:schemeClr val="dk1"/>
              </a:solidFill>
              <a:latin typeface="Arial"/>
              <a:ea typeface="Arial"/>
              <a:cs typeface="Arial"/>
              <a:sym typeface="Arial"/>
            </a:endParaRPr>
          </a:p>
        </p:txBody>
      </p:sp>
      <p:sp>
        <p:nvSpPr>
          <p:cNvPr id="306" name="Google Shape;306;p14"/>
          <p:cNvSpPr/>
          <p:nvPr/>
        </p:nvSpPr>
        <p:spPr>
          <a:xfrm>
            <a:off x="6583680" y="1938528"/>
            <a:ext cx="4663440" cy="41148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ED1C24"/>
              </a:buClr>
              <a:buSzPts val="2100"/>
              <a:buFont typeface="Play"/>
              <a:buNone/>
            </a:pPr>
            <a:r>
              <a:rPr b="1" i="0" lang="en-US" sz="2100" u="none" cap="none" strike="noStrike">
                <a:solidFill>
                  <a:srgbClr val="ED1C24"/>
                </a:solidFill>
                <a:latin typeface="Play"/>
                <a:ea typeface="Play"/>
                <a:cs typeface="Play"/>
                <a:sym typeface="Play"/>
              </a:rPr>
              <a:t>DON’T DELETE JUST BECAUSE</a:t>
            </a:r>
            <a:endParaRPr b="0" i="0" sz="2100" u="none" cap="none" strike="noStrike">
              <a:solidFill>
                <a:schemeClr val="dk1"/>
              </a:solidFill>
              <a:latin typeface="Arial"/>
              <a:ea typeface="Arial"/>
              <a:cs typeface="Arial"/>
              <a:sym typeface="Arial"/>
            </a:endParaRPr>
          </a:p>
        </p:txBody>
      </p:sp>
      <p:sp>
        <p:nvSpPr>
          <p:cNvPr id="307" name="Google Shape;307;p14"/>
          <p:cNvSpPr/>
          <p:nvPr/>
        </p:nvSpPr>
        <p:spPr>
          <a:xfrm>
            <a:off x="960120" y="2542032"/>
            <a:ext cx="4663440" cy="2926080"/>
          </a:xfrm>
          <a:prstGeom prst="rect">
            <a:avLst/>
          </a:prstGeom>
          <a:noFill/>
          <a:ln>
            <a:noFill/>
          </a:ln>
        </p:spPr>
        <p:txBody>
          <a:bodyPr anchorCtr="0" anchor="ctr" bIns="1000" lIns="1000" spcFirstLastPara="1" rIns="1000" wrap="square" tIns="1000">
            <a:noAutofit/>
          </a:bodyPr>
          <a:lstStyle/>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FFFFFF"/>
                </a:solidFill>
                <a:latin typeface="Arial"/>
                <a:ea typeface="Arial"/>
                <a:cs typeface="Arial"/>
                <a:sym typeface="Arial"/>
              </a:rPr>
              <a:t>A sensor disconnected</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FFFFFF"/>
                </a:solidFill>
                <a:latin typeface="Arial"/>
                <a:ea typeface="Arial"/>
                <a:cs typeface="Arial"/>
                <a:sym typeface="Arial"/>
              </a:rPr>
              <a:t>A trial spilled or broke</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FFFFFF"/>
                </a:solidFill>
                <a:latin typeface="Arial"/>
                <a:ea typeface="Arial"/>
                <a:cs typeface="Arial"/>
                <a:sym typeface="Arial"/>
              </a:rPr>
              <a:t>Timing was interrupted</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FFFFFF"/>
                </a:solidFill>
                <a:latin typeface="Arial"/>
                <a:ea typeface="Arial"/>
                <a:cs typeface="Arial"/>
                <a:sym typeface="Arial"/>
              </a:rPr>
              <a:t>The procedure changed</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FFFFFF"/>
                </a:solidFill>
                <a:latin typeface="Arial"/>
                <a:ea typeface="Arial"/>
                <a:cs typeface="Arial"/>
                <a:sym typeface="Arial"/>
              </a:rPr>
              <a:t>The value is unusual and needs attention</a:t>
            </a:r>
            <a:endParaRPr b="0" i="0" sz="1700" u="none" cap="none" strike="noStrike">
              <a:solidFill>
                <a:schemeClr val="dk1"/>
              </a:solidFill>
              <a:latin typeface="Arial"/>
              <a:ea typeface="Arial"/>
              <a:cs typeface="Arial"/>
              <a:sym typeface="Arial"/>
            </a:endParaRPr>
          </a:p>
        </p:txBody>
      </p:sp>
      <p:sp>
        <p:nvSpPr>
          <p:cNvPr id="308" name="Google Shape;308;p14"/>
          <p:cNvSpPr/>
          <p:nvPr/>
        </p:nvSpPr>
        <p:spPr>
          <a:xfrm>
            <a:off x="6583680" y="2542032"/>
            <a:ext cx="4663440" cy="2926080"/>
          </a:xfrm>
          <a:prstGeom prst="rect">
            <a:avLst/>
          </a:prstGeom>
          <a:noFill/>
          <a:ln>
            <a:noFill/>
          </a:ln>
        </p:spPr>
        <p:txBody>
          <a:bodyPr anchorCtr="0" anchor="ctr" bIns="1000" lIns="1000" spcFirstLastPara="1" rIns="1000" wrap="square" tIns="1000">
            <a:noAutofit/>
          </a:bodyPr>
          <a:lstStyle/>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FFFFFF"/>
                </a:solidFill>
                <a:latin typeface="Arial"/>
                <a:ea typeface="Arial"/>
                <a:cs typeface="Arial"/>
                <a:sym typeface="Arial"/>
              </a:rPr>
              <a:t>It hurts your hypothesis</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FFFFFF"/>
                </a:solidFill>
                <a:latin typeface="Arial"/>
                <a:ea typeface="Arial"/>
                <a:cs typeface="Arial"/>
                <a:sym typeface="Arial"/>
              </a:rPr>
              <a:t>It is lower than expected</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FFFFFF"/>
                </a:solidFill>
                <a:latin typeface="Arial"/>
                <a:ea typeface="Arial"/>
                <a:cs typeface="Arial"/>
                <a:sym typeface="Arial"/>
              </a:rPr>
              <a:t>It makes the graph messier</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FFFFFF"/>
                </a:solidFill>
                <a:latin typeface="Arial"/>
                <a:ea typeface="Arial"/>
                <a:cs typeface="Arial"/>
                <a:sym typeface="Arial"/>
              </a:rPr>
              <a:t>You do not like the result</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FFFFFF"/>
                </a:solidFill>
                <a:latin typeface="Arial"/>
                <a:ea typeface="Arial"/>
                <a:cs typeface="Arial"/>
                <a:sym typeface="Arial"/>
              </a:rPr>
              <a:t>You forgot to predict it</a:t>
            </a:r>
            <a:endParaRPr b="0" i="0" sz="1700" u="none" cap="none" strike="noStrike">
              <a:solidFill>
                <a:schemeClr val="dk1"/>
              </a:solidFill>
              <a:latin typeface="Arial"/>
              <a:ea typeface="Arial"/>
              <a:cs typeface="Arial"/>
              <a:sym typeface="Arial"/>
            </a:endParaRPr>
          </a:p>
        </p:txBody>
      </p:sp>
      <p:sp>
        <p:nvSpPr>
          <p:cNvPr id="309" name="Google Shape;309;p14"/>
          <p:cNvSpPr/>
          <p:nvPr/>
        </p:nvSpPr>
        <p:spPr>
          <a:xfrm>
            <a:off x="822960" y="6080760"/>
            <a:ext cx="10561320" cy="274320"/>
          </a:xfrm>
          <a:prstGeom prst="rect">
            <a:avLst/>
          </a:prstGeom>
          <a:noFill/>
          <a:ln>
            <a:noFill/>
          </a:ln>
        </p:spPr>
        <p:txBody>
          <a:bodyPr anchorCtr="0" anchor="t" bIns="625" lIns="625" spcFirstLastPara="1" rIns="625" wrap="square" tIns="625">
            <a:noAutofit/>
          </a:bodyPr>
          <a:lstStyle/>
          <a:p>
            <a:pPr indent="0" lvl="0" marL="0" marR="0" rtl="0" algn="ctr">
              <a:lnSpc>
                <a:spcPct val="100000"/>
              </a:lnSpc>
              <a:spcBef>
                <a:spcPts val="0"/>
              </a:spcBef>
              <a:spcAft>
                <a:spcPts val="0"/>
              </a:spcAft>
              <a:buClr>
                <a:srgbClr val="B8B8B8"/>
              </a:buClr>
              <a:buSzPts val="1700"/>
              <a:buFont typeface="Arial"/>
              <a:buNone/>
            </a:pPr>
            <a:r>
              <a:rPr b="0" i="0" lang="en-US" sz="1700" u="none" cap="none" strike="noStrike">
                <a:solidFill>
                  <a:srgbClr val="B8B8B8"/>
                </a:solidFill>
                <a:latin typeface="Arial"/>
                <a:ea typeface="Arial"/>
                <a:cs typeface="Arial"/>
                <a:sym typeface="Arial"/>
              </a:rPr>
              <a:t>A flagged data point remains visible and explainable.</a:t>
            </a:r>
            <a:endParaRPr b="0" i="0" sz="1700" u="none" cap="none" strike="noStrike">
              <a:solidFill>
                <a:schemeClr val="dk1"/>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314" name="Shape 314"/>
        <p:cNvGrpSpPr/>
        <p:nvPr/>
      </p:nvGrpSpPr>
      <p:grpSpPr>
        <a:xfrm>
          <a:off x="0" y="0"/>
          <a:ext cx="0" cy="0"/>
          <a:chOff x="0" y="0"/>
          <a:chExt cx="0" cy="0"/>
        </a:xfrm>
      </p:grpSpPr>
      <p:cxnSp>
        <p:nvCxnSpPr>
          <p:cNvPr id="315" name="Google Shape;315;p15"/>
          <p:cNvCxnSpPr/>
          <p:nvPr/>
        </p:nvCxnSpPr>
        <p:spPr>
          <a:xfrm>
            <a:off x="0" y="256032"/>
            <a:ext cx="12191695" cy="0"/>
          </a:xfrm>
          <a:prstGeom prst="straightConnector1">
            <a:avLst/>
          </a:prstGeom>
          <a:noFill/>
          <a:ln cap="flat" cmpd="sng" w="38100">
            <a:solidFill>
              <a:srgbClr val="ED1C24"/>
            </a:solidFill>
            <a:prstDash val="solid"/>
            <a:round/>
            <a:headEnd len="sm" w="sm" type="none"/>
            <a:tailEnd len="sm" w="sm" type="none"/>
          </a:ln>
        </p:spPr>
      </p:cxnSp>
      <p:cxnSp>
        <p:nvCxnSpPr>
          <p:cNvPr id="316" name="Google Shape;316;p15"/>
          <p:cNvCxnSpPr/>
          <p:nvPr/>
        </p:nvCxnSpPr>
        <p:spPr>
          <a:xfrm>
            <a:off x="0" y="6537960"/>
            <a:ext cx="12191695" cy="0"/>
          </a:xfrm>
          <a:prstGeom prst="straightConnector1">
            <a:avLst/>
          </a:prstGeom>
          <a:noFill/>
          <a:ln cap="flat" cmpd="sng" w="38100">
            <a:solidFill>
              <a:srgbClr val="ED1C24"/>
            </a:solidFill>
            <a:prstDash val="solid"/>
            <a:round/>
            <a:headEnd len="sm" w="sm" type="none"/>
            <a:tailEnd len="sm" w="sm" type="none"/>
          </a:ln>
        </p:spPr>
      </p:cxnSp>
      <p:sp>
        <p:nvSpPr>
          <p:cNvPr id="317" name="Google Shape;317;p15"/>
          <p:cNvSpPr/>
          <p:nvPr/>
        </p:nvSpPr>
        <p:spPr>
          <a:xfrm>
            <a:off x="411480" y="6592824"/>
            <a:ext cx="2011680" cy="1645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650"/>
              <a:buFont typeface="Arial"/>
              <a:buNone/>
            </a:pPr>
            <a:r>
              <a:rPr b="1" i="0" lang="en-US" sz="650" u="none" cap="none" strike="noStrike">
                <a:solidFill>
                  <a:srgbClr val="737373"/>
                </a:solidFill>
                <a:latin typeface="Arial"/>
                <a:ea typeface="Arial"/>
                <a:cs typeface="Arial"/>
                <a:sym typeface="Arial"/>
              </a:rPr>
              <a:t>DECK 09</a:t>
            </a:r>
            <a:endParaRPr b="0" i="0" sz="650" u="none" cap="none" strike="noStrike">
              <a:solidFill>
                <a:schemeClr val="dk1"/>
              </a:solidFill>
              <a:latin typeface="Arial"/>
              <a:ea typeface="Arial"/>
              <a:cs typeface="Arial"/>
              <a:sym typeface="Arial"/>
            </a:endParaRPr>
          </a:p>
        </p:txBody>
      </p:sp>
      <p:sp>
        <p:nvSpPr>
          <p:cNvPr id="318" name="Google Shape;318;p15"/>
          <p:cNvSpPr/>
          <p:nvPr/>
        </p:nvSpPr>
        <p:spPr>
          <a:xfrm>
            <a:off x="10058400" y="6565392"/>
            <a:ext cx="173736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737373"/>
              </a:buClr>
              <a:buSzPts val="700"/>
              <a:buFont typeface="Arial"/>
              <a:buNone/>
            </a:pPr>
            <a:r>
              <a:rPr b="1" i="0" lang="en-US" sz="700" u="none" cap="none" strike="noStrike">
                <a:solidFill>
                  <a:srgbClr val="737373"/>
                </a:solidFill>
                <a:latin typeface="Arial"/>
                <a:ea typeface="Arial"/>
                <a:cs typeface="Arial"/>
                <a:sym typeface="Arial"/>
              </a:rPr>
              <a:t>STARLAB</a:t>
            </a:r>
            <a:endParaRPr b="0" i="0" sz="700" u="none" cap="none" strike="noStrike">
              <a:solidFill>
                <a:schemeClr val="dk1"/>
              </a:solidFill>
              <a:latin typeface="Arial"/>
              <a:ea typeface="Arial"/>
              <a:cs typeface="Arial"/>
              <a:sym typeface="Arial"/>
            </a:endParaRPr>
          </a:p>
        </p:txBody>
      </p:sp>
      <p:sp>
        <p:nvSpPr>
          <p:cNvPr id="319" name="Google Shape;319;p15"/>
          <p:cNvSpPr/>
          <p:nvPr/>
        </p:nvSpPr>
        <p:spPr>
          <a:xfrm>
            <a:off x="502920" y="475488"/>
            <a:ext cx="438912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900"/>
              <a:buFont typeface="Arial"/>
              <a:buNone/>
            </a:pPr>
            <a:r>
              <a:rPr b="1" i="0" lang="en-US" sz="900" u="none" cap="none" strike="noStrike">
                <a:solidFill>
                  <a:srgbClr val="ED1C24"/>
                </a:solidFill>
                <a:latin typeface="Arial"/>
                <a:ea typeface="Arial"/>
                <a:cs typeface="Arial"/>
                <a:sym typeface="Arial"/>
              </a:rPr>
              <a:t>DATA ORGANIZATION</a:t>
            </a:r>
            <a:endParaRPr b="0" i="0" sz="900" u="none" cap="none" strike="noStrike">
              <a:solidFill>
                <a:schemeClr val="dk1"/>
              </a:solidFill>
              <a:latin typeface="Arial"/>
              <a:ea typeface="Arial"/>
              <a:cs typeface="Arial"/>
              <a:sym typeface="Arial"/>
            </a:endParaRPr>
          </a:p>
        </p:txBody>
      </p:sp>
      <p:sp>
        <p:nvSpPr>
          <p:cNvPr id="320" name="Google Shape;320;p15"/>
          <p:cNvSpPr/>
          <p:nvPr/>
        </p:nvSpPr>
        <p:spPr>
          <a:xfrm>
            <a:off x="502920" y="749808"/>
            <a:ext cx="1097280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Missing data becomes a limitation</a:t>
            </a:r>
            <a:endParaRPr b="0" i="0" sz="2800" u="none" cap="none" strike="noStrike">
              <a:solidFill>
                <a:schemeClr val="dk1"/>
              </a:solidFill>
              <a:latin typeface="Arial"/>
              <a:ea typeface="Arial"/>
              <a:cs typeface="Arial"/>
              <a:sym typeface="Arial"/>
            </a:endParaRPr>
          </a:p>
        </p:txBody>
      </p:sp>
      <p:cxnSp>
        <p:nvCxnSpPr>
          <p:cNvPr id="321" name="Google Shape;321;p15"/>
          <p:cNvCxnSpPr/>
          <p:nvPr/>
        </p:nvCxnSpPr>
        <p:spPr>
          <a:xfrm>
            <a:off x="502920" y="1389888"/>
            <a:ext cx="11109960" cy="0"/>
          </a:xfrm>
          <a:prstGeom prst="straightConnector1">
            <a:avLst/>
          </a:prstGeom>
          <a:noFill/>
          <a:ln cap="flat" cmpd="sng" w="17775">
            <a:solidFill>
              <a:srgbClr val="ED1C24">
                <a:alpha val="90196"/>
              </a:srgbClr>
            </a:solidFill>
            <a:prstDash val="solid"/>
            <a:round/>
            <a:headEnd len="sm" w="sm" type="none"/>
            <a:tailEnd len="sm" w="sm" type="none"/>
          </a:ln>
        </p:spPr>
      </p:cxnSp>
      <p:sp>
        <p:nvSpPr>
          <p:cNvPr id="322" name="Google Shape;322;p15"/>
          <p:cNvSpPr/>
          <p:nvPr/>
        </p:nvSpPr>
        <p:spPr>
          <a:xfrm>
            <a:off x="777240" y="1828800"/>
            <a:ext cx="5120640" cy="1508760"/>
          </a:xfrm>
          <a:prstGeom prst="rect">
            <a:avLst/>
          </a:prstGeom>
          <a:solidFill>
            <a:srgbClr val="0D0D0D"/>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15"/>
          <p:cNvSpPr/>
          <p:nvPr/>
        </p:nvSpPr>
        <p:spPr>
          <a:xfrm>
            <a:off x="777240" y="1828800"/>
            <a:ext cx="73152" cy="1508760"/>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15"/>
          <p:cNvSpPr/>
          <p:nvPr/>
        </p:nvSpPr>
        <p:spPr>
          <a:xfrm>
            <a:off x="978408" y="1993392"/>
            <a:ext cx="4800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000"/>
              <a:buFont typeface="Arial"/>
              <a:buNone/>
            </a:pPr>
            <a:r>
              <a:rPr b="1" i="0" lang="en-US" sz="1000" u="none" cap="none" strike="noStrike">
                <a:solidFill>
                  <a:srgbClr val="ED1C24"/>
                </a:solidFill>
                <a:latin typeface="Arial"/>
                <a:ea typeface="Arial"/>
                <a:cs typeface="Arial"/>
                <a:sym typeface="Arial"/>
              </a:rPr>
              <a:t>MISSING DATA</a:t>
            </a:r>
            <a:endParaRPr b="0" i="0" sz="1000" u="none" cap="none" strike="noStrike">
              <a:solidFill>
                <a:schemeClr val="dk1"/>
              </a:solidFill>
              <a:latin typeface="Arial"/>
              <a:ea typeface="Arial"/>
              <a:cs typeface="Arial"/>
              <a:sym typeface="Arial"/>
            </a:endParaRPr>
          </a:p>
        </p:txBody>
      </p:sp>
      <p:sp>
        <p:nvSpPr>
          <p:cNvPr id="325" name="Google Shape;325;p15"/>
          <p:cNvSpPr/>
          <p:nvPr/>
        </p:nvSpPr>
        <p:spPr>
          <a:xfrm>
            <a:off x="978408" y="2331720"/>
            <a:ext cx="4800600" cy="886968"/>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1700"/>
              <a:buFont typeface="Arial"/>
              <a:buNone/>
            </a:pPr>
            <a:r>
              <a:rPr b="0" i="0" lang="en-US" sz="1700" u="none" cap="none" strike="noStrike">
                <a:solidFill>
                  <a:srgbClr val="FFFFFF"/>
                </a:solidFill>
                <a:latin typeface="Arial"/>
                <a:ea typeface="Arial"/>
                <a:cs typeface="Arial"/>
                <a:sym typeface="Arial"/>
              </a:rPr>
              <a:t>A planned measurement, trial, condition, sample, or file that does not exist or cannot be trusted.</a:t>
            </a:r>
            <a:endParaRPr b="0" i="0" sz="1700" u="none" cap="none" strike="noStrike">
              <a:solidFill>
                <a:schemeClr val="dk1"/>
              </a:solidFill>
              <a:latin typeface="Arial"/>
              <a:ea typeface="Arial"/>
              <a:cs typeface="Arial"/>
              <a:sym typeface="Arial"/>
            </a:endParaRPr>
          </a:p>
        </p:txBody>
      </p:sp>
      <p:sp>
        <p:nvSpPr>
          <p:cNvPr id="326" name="Google Shape;326;p15"/>
          <p:cNvSpPr/>
          <p:nvPr/>
        </p:nvSpPr>
        <p:spPr>
          <a:xfrm>
            <a:off x="6309360" y="1828800"/>
            <a:ext cx="4983480" cy="1508760"/>
          </a:xfrm>
          <a:prstGeom prst="rect">
            <a:avLst/>
          </a:prstGeom>
          <a:solidFill>
            <a:srgbClr val="0D0D0D"/>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15"/>
          <p:cNvSpPr/>
          <p:nvPr/>
        </p:nvSpPr>
        <p:spPr>
          <a:xfrm>
            <a:off x="6309360" y="1828800"/>
            <a:ext cx="73152" cy="1508760"/>
          </a:xfrm>
          <a:prstGeom prst="rect">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8" name="Google Shape;328;p15"/>
          <p:cNvSpPr/>
          <p:nvPr/>
        </p:nvSpPr>
        <p:spPr>
          <a:xfrm>
            <a:off x="6510528" y="1993392"/>
            <a:ext cx="46634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000"/>
              <a:buFont typeface="Arial"/>
              <a:buNone/>
            </a:pPr>
            <a:r>
              <a:rPr b="1" i="0" lang="en-US" sz="1000" u="none" cap="none" strike="noStrike">
                <a:solidFill>
                  <a:srgbClr val="FFFFFF"/>
                </a:solidFill>
                <a:latin typeface="Arial"/>
                <a:ea typeface="Arial"/>
                <a:cs typeface="Arial"/>
                <a:sym typeface="Arial"/>
              </a:rPr>
              <a:t>LIMITATION LANGUAGE</a:t>
            </a:r>
            <a:endParaRPr b="0" i="0" sz="1000" u="none" cap="none" strike="noStrike">
              <a:solidFill>
                <a:schemeClr val="dk1"/>
              </a:solidFill>
              <a:latin typeface="Arial"/>
              <a:ea typeface="Arial"/>
              <a:cs typeface="Arial"/>
              <a:sym typeface="Arial"/>
            </a:endParaRPr>
          </a:p>
        </p:txBody>
      </p:sp>
      <p:sp>
        <p:nvSpPr>
          <p:cNvPr id="329" name="Google Shape;329;p15"/>
          <p:cNvSpPr/>
          <p:nvPr/>
        </p:nvSpPr>
        <p:spPr>
          <a:xfrm>
            <a:off x="6510528" y="2331720"/>
            <a:ext cx="4663440" cy="886968"/>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1700"/>
              <a:buFont typeface="Arial"/>
              <a:buNone/>
            </a:pPr>
            <a:r>
              <a:rPr b="0" i="0" lang="en-US" sz="1700" u="none" cap="none" strike="noStrike">
                <a:solidFill>
                  <a:srgbClr val="FFFFFF"/>
                </a:solidFill>
                <a:latin typeface="Arial"/>
                <a:ea typeface="Arial"/>
                <a:cs typeface="Arial"/>
                <a:sym typeface="Arial"/>
              </a:rPr>
              <a:t>“Because only two trials were completed for Condition B, comparisons with Condition A should be interpreted cautiously.”</a:t>
            </a:r>
            <a:endParaRPr b="0" i="0" sz="1700" u="none" cap="none" strike="noStrike">
              <a:solidFill>
                <a:schemeClr val="dk1"/>
              </a:solidFill>
              <a:latin typeface="Arial"/>
              <a:ea typeface="Arial"/>
              <a:cs typeface="Arial"/>
              <a:sym typeface="Arial"/>
            </a:endParaRPr>
          </a:p>
        </p:txBody>
      </p:sp>
      <p:sp>
        <p:nvSpPr>
          <p:cNvPr id="330" name="Google Shape;330;p15"/>
          <p:cNvSpPr/>
          <p:nvPr/>
        </p:nvSpPr>
        <p:spPr>
          <a:xfrm>
            <a:off x="777250" y="3794746"/>
            <a:ext cx="10515600" cy="2490300"/>
          </a:xfrm>
          <a:prstGeom prst="rect">
            <a:avLst/>
          </a:prstGeom>
          <a:solidFill>
            <a:srgbClr val="0D0D0D"/>
          </a:solidFill>
          <a:ln cap="flat" cmpd="sng" w="15225">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1" name="Google Shape;331;p15"/>
          <p:cNvSpPr/>
          <p:nvPr/>
        </p:nvSpPr>
        <p:spPr>
          <a:xfrm>
            <a:off x="1005840" y="4023360"/>
            <a:ext cx="1600200" cy="292608"/>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 name="Google Shape;332;p15"/>
          <p:cNvSpPr/>
          <p:nvPr/>
        </p:nvSpPr>
        <p:spPr>
          <a:xfrm>
            <a:off x="1051560" y="4078224"/>
            <a:ext cx="1508760" cy="16459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Arial"/>
              <a:buNone/>
            </a:pPr>
            <a:r>
              <a:rPr b="1" i="0" lang="en-US" sz="800" u="none" cap="none" strike="noStrike">
                <a:solidFill>
                  <a:srgbClr val="FFFFFF"/>
                </a:solidFill>
                <a:latin typeface="Arial"/>
                <a:ea typeface="Arial"/>
                <a:cs typeface="Arial"/>
                <a:sym typeface="Arial"/>
              </a:rPr>
              <a:t>STUDENT ACTIVITY</a:t>
            </a:r>
            <a:endParaRPr b="0" i="0" sz="800" u="none" cap="none" strike="noStrike">
              <a:solidFill>
                <a:schemeClr val="dk1"/>
              </a:solidFill>
              <a:latin typeface="Arial"/>
              <a:ea typeface="Arial"/>
              <a:cs typeface="Arial"/>
              <a:sym typeface="Arial"/>
            </a:endParaRPr>
          </a:p>
        </p:txBody>
      </p:sp>
      <p:sp>
        <p:nvSpPr>
          <p:cNvPr id="333" name="Google Shape;333;p15"/>
          <p:cNvSpPr/>
          <p:nvPr/>
        </p:nvSpPr>
        <p:spPr>
          <a:xfrm>
            <a:off x="1005840" y="4453128"/>
            <a:ext cx="10058400" cy="41148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2200"/>
              <a:buFont typeface="Play"/>
              <a:buNone/>
            </a:pPr>
            <a:r>
              <a:rPr b="1" i="0" lang="en-US" sz="2200" u="none" cap="none" strike="noStrike">
                <a:solidFill>
                  <a:srgbClr val="FFFFFF"/>
                </a:solidFill>
                <a:latin typeface="Play"/>
                <a:ea typeface="Play"/>
                <a:cs typeface="Play"/>
                <a:sym typeface="Play"/>
              </a:rPr>
              <a:t>Decision point</a:t>
            </a:r>
            <a:endParaRPr b="0" i="0" sz="2200" u="none" cap="none" strike="noStrike">
              <a:solidFill>
                <a:schemeClr val="dk1"/>
              </a:solidFill>
              <a:latin typeface="Arial"/>
              <a:ea typeface="Arial"/>
              <a:cs typeface="Arial"/>
              <a:sym typeface="Arial"/>
            </a:endParaRPr>
          </a:p>
        </p:txBody>
      </p:sp>
      <p:sp>
        <p:nvSpPr>
          <p:cNvPr id="334" name="Google Shape;334;p15"/>
          <p:cNvSpPr/>
          <p:nvPr/>
        </p:nvSpPr>
        <p:spPr>
          <a:xfrm>
            <a:off x="1033272" y="4873752"/>
            <a:ext cx="10003536"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8B8B8"/>
              </a:buClr>
              <a:buSzPts val="850"/>
              <a:buFont typeface="Arial"/>
              <a:buNone/>
            </a:pPr>
            <a:r>
              <a:rPr b="1" i="0" lang="en-US" sz="850" u="none" cap="none" strike="noStrike">
                <a:solidFill>
                  <a:srgbClr val="B8B8B8"/>
                </a:solidFill>
                <a:latin typeface="Arial"/>
                <a:ea typeface="Arial"/>
                <a:cs typeface="Arial"/>
                <a:sym typeface="Arial"/>
              </a:rPr>
              <a:t>Unit 4 Week 17 Day 4 • Student Handout 4: Week 17 Data Audit; Appendix B: Data Cleaning Rules</a:t>
            </a:r>
            <a:endParaRPr b="0" i="0" sz="850" u="none" cap="none" strike="noStrike">
              <a:solidFill>
                <a:schemeClr val="dk1"/>
              </a:solidFill>
              <a:latin typeface="Arial"/>
              <a:ea typeface="Arial"/>
              <a:cs typeface="Arial"/>
              <a:sym typeface="Arial"/>
            </a:endParaRPr>
          </a:p>
        </p:txBody>
      </p:sp>
      <p:sp>
        <p:nvSpPr>
          <p:cNvPr id="335" name="Google Shape;335;p15"/>
          <p:cNvSpPr/>
          <p:nvPr/>
        </p:nvSpPr>
        <p:spPr>
          <a:xfrm flipH="1">
            <a:off x="1097275" y="5129736"/>
            <a:ext cx="9829800" cy="1107000"/>
          </a:xfrm>
          <a:prstGeom prst="rect">
            <a:avLst/>
          </a:prstGeom>
          <a:noFill/>
          <a:ln>
            <a:noFill/>
          </a:ln>
        </p:spPr>
        <p:txBody>
          <a:bodyPr anchorCtr="0" anchor="ctr" bIns="1000" lIns="1000" spcFirstLastPara="1" rIns="1000" wrap="square" tIns="1000">
            <a:noAutofit/>
          </a:bodyPr>
          <a:lstStyle/>
          <a:p>
            <a:pPr indent="0" lvl="0" marL="0" marR="0" rtl="0" algn="l">
              <a:lnSpc>
                <a:spcPct val="100000"/>
              </a:lnSpc>
              <a:spcBef>
                <a:spcPts val="0"/>
              </a:spcBef>
              <a:spcAft>
                <a:spcPts val="0"/>
              </a:spcAft>
              <a:buClr>
                <a:srgbClr val="000000"/>
              </a:buClr>
              <a:buSzPts val="1720"/>
              <a:buFont typeface="Arial"/>
              <a:buNone/>
            </a:pPr>
            <a:r>
              <a:rPr b="0" i="0" lang="en-US" sz="1720" u="none" cap="none" strike="noStrike">
                <a:solidFill>
                  <a:srgbClr val="FFFFFF"/>
                </a:solidFill>
                <a:latin typeface="Arial"/>
                <a:ea typeface="Arial"/>
                <a:cs typeface="Arial"/>
                <a:sym typeface="Arial"/>
              </a:rPr>
              <a:t>Can the missing data still be collected safely and honestly?</a:t>
            </a:r>
            <a:endParaRPr b="0" i="0" sz="172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20"/>
              <a:buFont typeface="Arial"/>
              <a:buNone/>
            </a:pPr>
            <a:r>
              <a:rPr b="0" i="0" lang="en-US" sz="1720" u="none" cap="none" strike="noStrike">
                <a:solidFill>
                  <a:srgbClr val="FFFFFF"/>
                </a:solidFill>
                <a:latin typeface="Arial"/>
                <a:ea typeface="Arial"/>
                <a:cs typeface="Arial"/>
                <a:sym typeface="Arial"/>
              </a:rPr>
              <a:t>If not, how will you describe the limitation?</a:t>
            </a:r>
            <a:endParaRPr b="0" i="0" sz="172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20"/>
              <a:buFont typeface="Arial"/>
              <a:buNone/>
            </a:pPr>
            <a:r>
              <a:rPr b="0" i="0" lang="en-US" sz="1720" u="none" cap="none" strike="noStrike">
                <a:solidFill>
                  <a:srgbClr val="FFFFFF"/>
                </a:solidFill>
                <a:latin typeface="Arial"/>
                <a:ea typeface="Arial"/>
                <a:cs typeface="Arial"/>
                <a:sym typeface="Arial"/>
              </a:rPr>
              <a:t>Does your research question need to become narrower?</a:t>
            </a:r>
            <a:endParaRPr b="0" i="0" sz="1720" u="none" cap="none" strike="noStrike">
              <a:solidFill>
                <a:schemeClr val="dk1"/>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340" name="Shape 340"/>
        <p:cNvGrpSpPr/>
        <p:nvPr/>
      </p:nvGrpSpPr>
      <p:grpSpPr>
        <a:xfrm>
          <a:off x="0" y="0"/>
          <a:ext cx="0" cy="0"/>
          <a:chOff x="0" y="0"/>
          <a:chExt cx="0" cy="0"/>
        </a:xfrm>
      </p:grpSpPr>
      <p:cxnSp>
        <p:nvCxnSpPr>
          <p:cNvPr id="341" name="Google Shape;341;p16"/>
          <p:cNvCxnSpPr/>
          <p:nvPr/>
        </p:nvCxnSpPr>
        <p:spPr>
          <a:xfrm>
            <a:off x="0" y="256032"/>
            <a:ext cx="12191695" cy="0"/>
          </a:xfrm>
          <a:prstGeom prst="straightConnector1">
            <a:avLst/>
          </a:prstGeom>
          <a:noFill/>
          <a:ln cap="flat" cmpd="sng" w="38100">
            <a:solidFill>
              <a:srgbClr val="ED1C24"/>
            </a:solidFill>
            <a:prstDash val="solid"/>
            <a:round/>
            <a:headEnd len="sm" w="sm" type="none"/>
            <a:tailEnd len="sm" w="sm" type="none"/>
          </a:ln>
        </p:spPr>
      </p:cxnSp>
      <p:cxnSp>
        <p:nvCxnSpPr>
          <p:cNvPr id="342" name="Google Shape;342;p16"/>
          <p:cNvCxnSpPr/>
          <p:nvPr/>
        </p:nvCxnSpPr>
        <p:spPr>
          <a:xfrm>
            <a:off x="0" y="6537960"/>
            <a:ext cx="12191695" cy="0"/>
          </a:xfrm>
          <a:prstGeom prst="straightConnector1">
            <a:avLst/>
          </a:prstGeom>
          <a:noFill/>
          <a:ln cap="flat" cmpd="sng" w="38100">
            <a:solidFill>
              <a:srgbClr val="ED1C24"/>
            </a:solidFill>
            <a:prstDash val="solid"/>
            <a:round/>
            <a:headEnd len="sm" w="sm" type="none"/>
            <a:tailEnd len="sm" w="sm" type="none"/>
          </a:ln>
        </p:spPr>
      </p:cxnSp>
      <p:sp>
        <p:nvSpPr>
          <p:cNvPr id="343" name="Google Shape;343;p16"/>
          <p:cNvSpPr/>
          <p:nvPr/>
        </p:nvSpPr>
        <p:spPr>
          <a:xfrm>
            <a:off x="411480" y="6592824"/>
            <a:ext cx="2011680" cy="1645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650"/>
              <a:buFont typeface="Arial"/>
              <a:buNone/>
            </a:pPr>
            <a:r>
              <a:rPr b="1" i="0" lang="en-US" sz="650" u="none" cap="none" strike="noStrike">
                <a:solidFill>
                  <a:srgbClr val="737373"/>
                </a:solidFill>
                <a:latin typeface="Arial"/>
                <a:ea typeface="Arial"/>
                <a:cs typeface="Arial"/>
                <a:sym typeface="Arial"/>
              </a:rPr>
              <a:t>DECK 09</a:t>
            </a:r>
            <a:endParaRPr b="0" i="0" sz="650" u="none" cap="none" strike="noStrike">
              <a:solidFill>
                <a:schemeClr val="dk1"/>
              </a:solidFill>
              <a:latin typeface="Arial"/>
              <a:ea typeface="Arial"/>
              <a:cs typeface="Arial"/>
              <a:sym typeface="Arial"/>
            </a:endParaRPr>
          </a:p>
        </p:txBody>
      </p:sp>
      <p:sp>
        <p:nvSpPr>
          <p:cNvPr id="344" name="Google Shape;344;p16"/>
          <p:cNvSpPr/>
          <p:nvPr/>
        </p:nvSpPr>
        <p:spPr>
          <a:xfrm>
            <a:off x="10058400" y="6565392"/>
            <a:ext cx="173736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737373"/>
              </a:buClr>
              <a:buSzPts val="700"/>
              <a:buFont typeface="Arial"/>
              <a:buNone/>
            </a:pPr>
            <a:r>
              <a:rPr b="1" i="0" lang="en-US" sz="700" u="none" cap="none" strike="noStrike">
                <a:solidFill>
                  <a:srgbClr val="737373"/>
                </a:solidFill>
                <a:latin typeface="Arial"/>
                <a:ea typeface="Arial"/>
                <a:cs typeface="Arial"/>
                <a:sym typeface="Arial"/>
              </a:rPr>
              <a:t>STARLAB</a:t>
            </a:r>
            <a:endParaRPr b="0" i="0" sz="700" u="none" cap="none" strike="noStrike">
              <a:solidFill>
                <a:schemeClr val="dk1"/>
              </a:solidFill>
              <a:latin typeface="Arial"/>
              <a:ea typeface="Arial"/>
              <a:cs typeface="Arial"/>
              <a:sym typeface="Arial"/>
            </a:endParaRPr>
          </a:p>
        </p:txBody>
      </p:sp>
      <p:sp>
        <p:nvSpPr>
          <p:cNvPr id="345" name="Google Shape;345;p16"/>
          <p:cNvSpPr/>
          <p:nvPr/>
        </p:nvSpPr>
        <p:spPr>
          <a:xfrm>
            <a:off x="502920" y="475488"/>
            <a:ext cx="438912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900"/>
              <a:buFont typeface="Arial"/>
              <a:buNone/>
            </a:pPr>
            <a:r>
              <a:rPr b="1" i="0" lang="en-US" sz="900" u="none" cap="none" strike="noStrike">
                <a:solidFill>
                  <a:srgbClr val="ED1C24"/>
                </a:solidFill>
                <a:latin typeface="Arial"/>
                <a:ea typeface="Arial"/>
                <a:cs typeface="Arial"/>
                <a:sym typeface="Arial"/>
              </a:rPr>
              <a:t>DATA ORGANIZATION</a:t>
            </a:r>
            <a:endParaRPr b="0" i="0" sz="900" u="none" cap="none" strike="noStrike">
              <a:solidFill>
                <a:schemeClr val="dk1"/>
              </a:solidFill>
              <a:latin typeface="Arial"/>
              <a:ea typeface="Arial"/>
              <a:cs typeface="Arial"/>
              <a:sym typeface="Arial"/>
            </a:endParaRPr>
          </a:p>
        </p:txBody>
      </p:sp>
      <p:sp>
        <p:nvSpPr>
          <p:cNvPr id="346" name="Google Shape;346;p16"/>
          <p:cNvSpPr/>
          <p:nvPr/>
        </p:nvSpPr>
        <p:spPr>
          <a:xfrm>
            <a:off x="502920" y="749808"/>
            <a:ext cx="1097280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File organization that future-you will understand</a:t>
            </a:r>
            <a:endParaRPr b="0" i="0" sz="2800" u="none" cap="none" strike="noStrike">
              <a:solidFill>
                <a:schemeClr val="dk1"/>
              </a:solidFill>
              <a:latin typeface="Arial"/>
              <a:ea typeface="Arial"/>
              <a:cs typeface="Arial"/>
              <a:sym typeface="Arial"/>
            </a:endParaRPr>
          </a:p>
        </p:txBody>
      </p:sp>
      <p:cxnSp>
        <p:nvCxnSpPr>
          <p:cNvPr id="347" name="Google Shape;347;p16"/>
          <p:cNvCxnSpPr/>
          <p:nvPr/>
        </p:nvCxnSpPr>
        <p:spPr>
          <a:xfrm>
            <a:off x="502920" y="1389888"/>
            <a:ext cx="11109960" cy="0"/>
          </a:xfrm>
          <a:prstGeom prst="straightConnector1">
            <a:avLst/>
          </a:prstGeom>
          <a:noFill/>
          <a:ln cap="flat" cmpd="sng" w="17775">
            <a:solidFill>
              <a:srgbClr val="ED1C24">
                <a:alpha val="90196"/>
              </a:srgbClr>
            </a:solidFill>
            <a:prstDash val="solid"/>
            <a:round/>
            <a:headEnd len="sm" w="sm" type="none"/>
            <a:tailEnd len="sm" w="sm" type="none"/>
          </a:ln>
        </p:spPr>
      </p:cxnSp>
      <p:sp>
        <p:nvSpPr>
          <p:cNvPr id="348" name="Google Shape;348;p16"/>
          <p:cNvSpPr/>
          <p:nvPr/>
        </p:nvSpPr>
        <p:spPr>
          <a:xfrm>
            <a:off x="777240" y="1737360"/>
            <a:ext cx="5212080" cy="4297680"/>
          </a:xfrm>
          <a:prstGeom prst="rect">
            <a:avLst/>
          </a:prstGeom>
          <a:solidFill>
            <a:srgbClr val="0D0D0D"/>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9" name="Google Shape;349;p16"/>
          <p:cNvSpPr/>
          <p:nvPr/>
        </p:nvSpPr>
        <p:spPr>
          <a:xfrm>
            <a:off x="1024128" y="1965960"/>
            <a:ext cx="4663440" cy="329184"/>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ED1C24"/>
              </a:buClr>
              <a:buSzPts val="1900"/>
              <a:buFont typeface="Play"/>
              <a:buNone/>
            </a:pPr>
            <a:r>
              <a:rPr b="1" i="0" lang="en-US" sz="1900" u="none" cap="none" strike="noStrike">
                <a:solidFill>
                  <a:srgbClr val="ED1C24"/>
                </a:solidFill>
                <a:latin typeface="Play"/>
                <a:ea typeface="Play"/>
                <a:cs typeface="Play"/>
                <a:sym typeface="Play"/>
              </a:rPr>
              <a:t>Suggested folder structure</a:t>
            </a:r>
            <a:endParaRPr b="0" i="0" sz="1900" u="none" cap="none" strike="noStrike">
              <a:solidFill>
                <a:schemeClr val="dk1"/>
              </a:solidFill>
              <a:latin typeface="Arial"/>
              <a:ea typeface="Arial"/>
              <a:cs typeface="Arial"/>
              <a:sym typeface="Arial"/>
            </a:endParaRPr>
          </a:p>
        </p:txBody>
      </p:sp>
      <p:sp>
        <p:nvSpPr>
          <p:cNvPr id="350" name="Google Shape;350;p16"/>
          <p:cNvSpPr/>
          <p:nvPr/>
        </p:nvSpPr>
        <p:spPr>
          <a:xfrm>
            <a:off x="1097280" y="2606040"/>
            <a:ext cx="4480560" cy="2560320"/>
          </a:xfrm>
          <a:prstGeom prst="rect">
            <a:avLst/>
          </a:prstGeom>
          <a:noFill/>
          <a:ln>
            <a:noFill/>
          </a:ln>
        </p:spPr>
        <p:txBody>
          <a:bodyPr anchorCtr="0" anchor="t" bIns="625" lIns="625" spcFirstLastPara="1" rIns="625" wrap="square" tIns="625">
            <a:noAutofit/>
          </a:bodyPr>
          <a:lstStyle/>
          <a:p>
            <a:pPr indent="0" lvl="0" marL="0" marR="0" rtl="0" algn="l">
              <a:lnSpc>
                <a:spcPct val="100000"/>
              </a:lnSpc>
              <a:spcBef>
                <a:spcPts val="0"/>
              </a:spcBef>
              <a:spcAft>
                <a:spcPts val="0"/>
              </a:spcAft>
              <a:buClr>
                <a:srgbClr val="FFFFFF"/>
              </a:buClr>
              <a:buSzPts val="1800"/>
              <a:buFont typeface="Arial"/>
              <a:buNone/>
            </a:pPr>
            <a:r>
              <a:rPr b="0" i="0" lang="en-US" sz="1800" u="none" cap="none" strike="noStrike">
                <a:solidFill>
                  <a:srgbClr val="FFFFFF"/>
                </a:solidFill>
                <a:latin typeface="Arial"/>
                <a:ea typeface="Arial"/>
                <a:cs typeface="Arial"/>
                <a:sym typeface="Arial"/>
              </a:rPr>
              <a:t>▸ Project Plan/</a:t>
            </a:r>
            <a:endParaRPr b="0" i="0" sz="18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FFFFF"/>
              </a:buClr>
              <a:buSzPts val="1800"/>
              <a:buFont typeface="Arial"/>
              <a:buNone/>
            </a:pPr>
            <a:r>
              <a:rPr b="0" i="0" lang="en-US" sz="1800" u="none" cap="none" strike="noStrike">
                <a:solidFill>
                  <a:srgbClr val="FFFFFF"/>
                </a:solidFill>
                <a:latin typeface="Arial"/>
                <a:ea typeface="Arial"/>
                <a:cs typeface="Arial"/>
                <a:sym typeface="Arial"/>
              </a:rPr>
              <a:t>▸ Research Journal/</a:t>
            </a:r>
            <a:endParaRPr b="0" i="0" sz="18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FFFFF"/>
              </a:buClr>
              <a:buSzPts val="1800"/>
              <a:buFont typeface="Arial"/>
              <a:buNone/>
            </a:pPr>
            <a:r>
              <a:rPr b="0" i="0" lang="en-US" sz="1800" u="none" cap="none" strike="noStrike">
                <a:solidFill>
                  <a:srgbClr val="FFFFFF"/>
                </a:solidFill>
                <a:latin typeface="Arial"/>
                <a:ea typeface="Arial"/>
                <a:cs typeface="Arial"/>
                <a:sym typeface="Arial"/>
              </a:rPr>
              <a:t>▸ Raw Data/</a:t>
            </a:r>
            <a:endParaRPr b="0" i="0" sz="18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FFFFF"/>
              </a:buClr>
              <a:buSzPts val="1800"/>
              <a:buFont typeface="Arial"/>
              <a:buNone/>
            </a:pPr>
            <a:r>
              <a:rPr b="0" i="0" lang="en-US" sz="1800" u="none" cap="none" strike="noStrike">
                <a:solidFill>
                  <a:srgbClr val="FFFFFF"/>
                </a:solidFill>
                <a:latin typeface="Arial"/>
                <a:ea typeface="Arial"/>
                <a:cs typeface="Arial"/>
                <a:sym typeface="Arial"/>
              </a:rPr>
              <a:t>▸ Clean Data/</a:t>
            </a:r>
            <a:endParaRPr b="0" i="0" sz="18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FFFFF"/>
              </a:buClr>
              <a:buSzPts val="1800"/>
              <a:buFont typeface="Arial"/>
              <a:buNone/>
            </a:pPr>
            <a:r>
              <a:rPr b="0" i="0" lang="en-US" sz="1800" u="none" cap="none" strike="noStrike">
                <a:solidFill>
                  <a:srgbClr val="FFFFFF"/>
                </a:solidFill>
                <a:latin typeface="Arial"/>
                <a:ea typeface="Arial"/>
                <a:cs typeface="Arial"/>
                <a:sym typeface="Arial"/>
              </a:rPr>
              <a:t>▸ Images &amp; Videos/</a:t>
            </a:r>
            <a:endParaRPr b="0" i="0" sz="18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FFFFF"/>
              </a:buClr>
              <a:buSzPts val="1800"/>
              <a:buFont typeface="Arial"/>
              <a:buNone/>
            </a:pPr>
            <a:r>
              <a:rPr b="0" i="0" lang="en-US" sz="1800" u="none" cap="none" strike="noStrike">
                <a:solidFill>
                  <a:srgbClr val="FFFFFF"/>
                </a:solidFill>
                <a:latin typeface="Arial"/>
                <a:ea typeface="Arial"/>
                <a:cs typeface="Arial"/>
                <a:sym typeface="Arial"/>
              </a:rPr>
              <a:t>▸ Mentor Feedback/</a:t>
            </a:r>
            <a:endParaRPr b="0" i="0" sz="18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FFFFF"/>
              </a:buClr>
              <a:buSzPts val="1800"/>
              <a:buFont typeface="Arial"/>
              <a:buNone/>
            </a:pPr>
            <a:r>
              <a:rPr b="0" i="0" lang="en-US" sz="1800" u="none" cap="none" strike="noStrike">
                <a:solidFill>
                  <a:srgbClr val="FFFFFF"/>
                </a:solidFill>
                <a:latin typeface="Arial"/>
                <a:ea typeface="Arial"/>
                <a:cs typeface="Arial"/>
                <a:sym typeface="Arial"/>
              </a:rPr>
              <a:t>▸ Draft Reports/</a:t>
            </a:r>
            <a:endParaRPr b="0" i="0" sz="1800" u="none" cap="none" strike="noStrike">
              <a:solidFill>
                <a:schemeClr val="dk1"/>
              </a:solidFill>
              <a:latin typeface="Arial"/>
              <a:ea typeface="Arial"/>
              <a:cs typeface="Arial"/>
              <a:sym typeface="Arial"/>
            </a:endParaRPr>
          </a:p>
        </p:txBody>
      </p:sp>
      <p:sp>
        <p:nvSpPr>
          <p:cNvPr id="351" name="Google Shape;351;p16"/>
          <p:cNvSpPr/>
          <p:nvPr/>
        </p:nvSpPr>
        <p:spPr>
          <a:xfrm>
            <a:off x="6309360" y="1737360"/>
            <a:ext cx="4983480" cy="4297680"/>
          </a:xfrm>
          <a:prstGeom prst="rect">
            <a:avLst/>
          </a:prstGeom>
          <a:solidFill>
            <a:srgbClr val="0D0D0D"/>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2" name="Google Shape;352;p16"/>
          <p:cNvSpPr/>
          <p:nvPr/>
        </p:nvSpPr>
        <p:spPr>
          <a:xfrm>
            <a:off x="6583680" y="1965960"/>
            <a:ext cx="4480560" cy="329184"/>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ED1C24"/>
              </a:buClr>
              <a:buSzPts val="1900"/>
              <a:buFont typeface="Play"/>
              <a:buNone/>
            </a:pPr>
            <a:r>
              <a:rPr b="1" i="0" lang="en-US" sz="1900" u="none" cap="none" strike="noStrike">
                <a:solidFill>
                  <a:srgbClr val="ED1C24"/>
                </a:solidFill>
                <a:latin typeface="Play"/>
                <a:ea typeface="Play"/>
                <a:cs typeface="Play"/>
                <a:sym typeface="Play"/>
              </a:rPr>
              <a:t>File naming rule</a:t>
            </a:r>
            <a:endParaRPr b="0" i="0" sz="1900" u="none" cap="none" strike="noStrike">
              <a:solidFill>
                <a:schemeClr val="dk1"/>
              </a:solidFill>
              <a:latin typeface="Arial"/>
              <a:ea typeface="Arial"/>
              <a:cs typeface="Arial"/>
              <a:sym typeface="Arial"/>
            </a:endParaRPr>
          </a:p>
        </p:txBody>
      </p:sp>
      <p:sp>
        <p:nvSpPr>
          <p:cNvPr id="353" name="Google Shape;353;p16"/>
          <p:cNvSpPr/>
          <p:nvPr/>
        </p:nvSpPr>
        <p:spPr>
          <a:xfrm>
            <a:off x="6583680" y="2651760"/>
            <a:ext cx="4389120" cy="1645920"/>
          </a:xfrm>
          <a:prstGeom prst="rect">
            <a:avLst/>
          </a:prstGeom>
          <a:noFill/>
          <a:ln>
            <a:noFill/>
          </a:ln>
        </p:spPr>
        <p:txBody>
          <a:bodyPr anchorCtr="0" anchor="t" bIns="625" lIns="625" spcFirstLastPara="1" rIns="625" wrap="square" tIns="625">
            <a:noAutofit/>
          </a:bodyPr>
          <a:lstStyle/>
          <a:p>
            <a:pPr indent="0" lvl="0" marL="0" marR="0" rtl="0" algn="l">
              <a:lnSpc>
                <a:spcPct val="100000"/>
              </a:lnSpc>
              <a:spcBef>
                <a:spcPts val="0"/>
              </a:spcBef>
              <a:spcAft>
                <a:spcPts val="0"/>
              </a:spcAft>
              <a:buClr>
                <a:srgbClr val="FFFFFF"/>
              </a:buClr>
              <a:buSzPts val="1600"/>
              <a:buFont typeface="Arial"/>
              <a:buNone/>
            </a:pPr>
            <a:r>
              <a:rPr b="0" i="0" lang="en-US" sz="1600" u="none" cap="none" strike="noStrike">
                <a:solidFill>
                  <a:srgbClr val="FFFFFF"/>
                </a:solidFill>
                <a:latin typeface="Arial"/>
                <a:ea typeface="Arial"/>
                <a:cs typeface="Arial"/>
                <a:sym typeface="Arial"/>
              </a:rPr>
              <a:t>StudentLastName_Project_Data_Raw</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FFFFF"/>
              </a:buClr>
              <a:buSzPts val="1600"/>
              <a:buFont typeface="Arial"/>
              <a:buNone/>
            </a:pPr>
            <a:r>
              <a:rPr b="0" i="0" lang="en-US" sz="1600" u="none" cap="none" strike="noStrike">
                <a:solidFill>
                  <a:srgbClr val="FFFFFF"/>
                </a:solidFill>
                <a:latin typeface="Arial"/>
                <a:ea typeface="Arial"/>
                <a:cs typeface="Arial"/>
                <a:sym typeface="Arial"/>
              </a:rPr>
              <a:t>StudentLastName_Project_Data_Clean</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FFFFF"/>
              </a:buClr>
              <a:buSzPts val="1600"/>
              <a:buFont typeface="Arial"/>
              <a:buNone/>
            </a:pPr>
            <a:r>
              <a:rPr b="0" i="0" lang="en-US" sz="1600" u="none" cap="none" strike="noStrike">
                <a:solidFill>
                  <a:srgbClr val="FFFFFF"/>
                </a:solidFill>
                <a:latin typeface="Arial"/>
                <a:ea typeface="Arial"/>
                <a:cs typeface="Arial"/>
                <a:sym typeface="Arial"/>
              </a:rPr>
              <a:t>StudentLastName_Project_DecisionLog</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FFFFF"/>
              </a:buClr>
              <a:buSzPts val="1600"/>
              <a:buFont typeface="Arial"/>
              <a:buNone/>
            </a:pPr>
            <a:r>
              <a:rPr b="0" i="0" lang="en-US" sz="1600" u="none" cap="none" strike="noStrike">
                <a:solidFill>
                  <a:srgbClr val="FFFFFF"/>
                </a:solidFill>
                <a:latin typeface="Arial"/>
                <a:ea typeface="Arial"/>
                <a:cs typeface="Arial"/>
                <a:sym typeface="Arial"/>
              </a:rPr>
              <a:t>StudentLastName_Project_Photos</a:t>
            </a:r>
            <a:endParaRPr b="0" i="0" sz="1600" u="none" cap="none" strike="noStrike">
              <a:solidFill>
                <a:schemeClr val="dk1"/>
              </a:solidFill>
              <a:latin typeface="Arial"/>
              <a:ea typeface="Arial"/>
              <a:cs typeface="Arial"/>
              <a:sym typeface="Arial"/>
            </a:endParaRPr>
          </a:p>
        </p:txBody>
      </p:sp>
      <p:sp>
        <p:nvSpPr>
          <p:cNvPr id="354" name="Google Shape;354;p16"/>
          <p:cNvSpPr/>
          <p:nvPr/>
        </p:nvSpPr>
        <p:spPr>
          <a:xfrm>
            <a:off x="6583680" y="4754880"/>
            <a:ext cx="4206240" cy="685800"/>
          </a:xfrm>
          <a:prstGeom prst="rect">
            <a:avLst/>
          </a:prstGeom>
          <a:solidFill>
            <a:srgbClr val="0D0D0D"/>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16"/>
          <p:cNvSpPr/>
          <p:nvPr/>
        </p:nvSpPr>
        <p:spPr>
          <a:xfrm>
            <a:off x="6583680" y="4754880"/>
            <a:ext cx="73152" cy="685800"/>
          </a:xfrm>
          <a:prstGeom prst="rect">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6" name="Google Shape;356;p16"/>
          <p:cNvSpPr/>
          <p:nvPr/>
        </p:nvSpPr>
        <p:spPr>
          <a:xfrm>
            <a:off x="6784848" y="4919472"/>
            <a:ext cx="38862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000"/>
              <a:buFont typeface="Arial"/>
              <a:buNone/>
            </a:pPr>
            <a:r>
              <a:rPr b="1" i="0" lang="en-US" sz="1000" u="none" cap="none" strike="noStrike">
                <a:solidFill>
                  <a:srgbClr val="FFFFFF"/>
                </a:solidFill>
                <a:latin typeface="Arial"/>
                <a:ea typeface="Arial"/>
                <a:cs typeface="Arial"/>
                <a:sym typeface="Arial"/>
              </a:rPr>
              <a:t>AVOID</a:t>
            </a:r>
            <a:endParaRPr b="0" i="0" sz="1000" u="none" cap="none" strike="noStrike">
              <a:solidFill>
                <a:schemeClr val="dk1"/>
              </a:solidFill>
              <a:latin typeface="Arial"/>
              <a:ea typeface="Arial"/>
              <a:cs typeface="Arial"/>
              <a:sym typeface="Arial"/>
            </a:endParaRPr>
          </a:p>
        </p:txBody>
      </p:sp>
      <p:sp>
        <p:nvSpPr>
          <p:cNvPr id="357" name="Google Shape;357;p16"/>
          <p:cNvSpPr/>
          <p:nvPr/>
        </p:nvSpPr>
        <p:spPr>
          <a:xfrm>
            <a:off x="6784848" y="5257800"/>
            <a:ext cx="3886200" cy="64008"/>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1700"/>
              <a:buFont typeface="Arial"/>
              <a:buNone/>
            </a:pPr>
            <a:r>
              <a:rPr b="0" i="0" lang="en-US" sz="1700" u="none" cap="none" strike="noStrike">
                <a:solidFill>
                  <a:srgbClr val="FFFFFF"/>
                </a:solidFill>
                <a:latin typeface="Arial"/>
                <a:ea typeface="Arial"/>
                <a:cs typeface="Arial"/>
                <a:sym typeface="Arial"/>
              </a:rPr>
              <a:t>final_final_REALLYfinal_v8</a:t>
            </a:r>
            <a:endParaRPr b="0" i="0" sz="1700" u="none" cap="none" strike="noStrike">
              <a:solidFill>
                <a:schemeClr val="dk1"/>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362" name="Shape 362"/>
        <p:cNvGrpSpPr/>
        <p:nvPr/>
      </p:nvGrpSpPr>
      <p:grpSpPr>
        <a:xfrm>
          <a:off x="0" y="0"/>
          <a:ext cx="0" cy="0"/>
          <a:chOff x="0" y="0"/>
          <a:chExt cx="0" cy="0"/>
        </a:xfrm>
      </p:grpSpPr>
      <p:cxnSp>
        <p:nvCxnSpPr>
          <p:cNvPr id="363" name="Google Shape;363;p17"/>
          <p:cNvCxnSpPr/>
          <p:nvPr/>
        </p:nvCxnSpPr>
        <p:spPr>
          <a:xfrm>
            <a:off x="0" y="256032"/>
            <a:ext cx="12191695" cy="0"/>
          </a:xfrm>
          <a:prstGeom prst="straightConnector1">
            <a:avLst/>
          </a:prstGeom>
          <a:noFill/>
          <a:ln cap="flat" cmpd="sng" w="38100">
            <a:solidFill>
              <a:srgbClr val="ED1C24"/>
            </a:solidFill>
            <a:prstDash val="solid"/>
            <a:round/>
            <a:headEnd len="sm" w="sm" type="none"/>
            <a:tailEnd len="sm" w="sm" type="none"/>
          </a:ln>
        </p:spPr>
      </p:cxnSp>
      <p:cxnSp>
        <p:nvCxnSpPr>
          <p:cNvPr id="364" name="Google Shape;364;p17"/>
          <p:cNvCxnSpPr/>
          <p:nvPr/>
        </p:nvCxnSpPr>
        <p:spPr>
          <a:xfrm>
            <a:off x="0" y="6537960"/>
            <a:ext cx="12191695" cy="0"/>
          </a:xfrm>
          <a:prstGeom prst="straightConnector1">
            <a:avLst/>
          </a:prstGeom>
          <a:noFill/>
          <a:ln cap="flat" cmpd="sng" w="38100">
            <a:solidFill>
              <a:srgbClr val="ED1C24"/>
            </a:solidFill>
            <a:prstDash val="solid"/>
            <a:round/>
            <a:headEnd len="sm" w="sm" type="none"/>
            <a:tailEnd len="sm" w="sm" type="none"/>
          </a:ln>
        </p:spPr>
      </p:cxnSp>
      <p:sp>
        <p:nvSpPr>
          <p:cNvPr id="365" name="Google Shape;365;p17"/>
          <p:cNvSpPr/>
          <p:nvPr/>
        </p:nvSpPr>
        <p:spPr>
          <a:xfrm>
            <a:off x="411480" y="6592824"/>
            <a:ext cx="2011680" cy="1645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650"/>
              <a:buFont typeface="Arial"/>
              <a:buNone/>
            </a:pPr>
            <a:r>
              <a:rPr b="1" i="0" lang="en-US" sz="650" u="none" cap="none" strike="noStrike">
                <a:solidFill>
                  <a:srgbClr val="737373"/>
                </a:solidFill>
                <a:latin typeface="Arial"/>
                <a:ea typeface="Arial"/>
                <a:cs typeface="Arial"/>
                <a:sym typeface="Arial"/>
              </a:rPr>
              <a:t>DECK 09</a:t>
            </a:r>
            <a:endParaRPr b="0" i="0" sz="650" u="none" cap="none" strike="noStrike">
              <a:solidFill>
                <a:schemeClr val="dk1"/>
              </a:solidFill>
              <a:latin typeface="Arial"/>
              <a:ea typeface="Arial"/>
              <a:cs typeface="Arial"/>
              <a:sym typeface="Arial"/>
            </a:endParaRPr>
          </a:p>
        </p:txBody>
      </p:sp>
      <p:sp>
        <p:nvSpPr>
          <p:cNvPr id="366" name="Google Shape;366;p17"/>
          <p:cNvSpPr/>
          <p:nvPr/>
        </p:nvSpPr>
        <p:spPr>
          <a:xfrm>
            <a:off x="10058400" y="6565392"/>
            <a:ext cx="173736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737373"/>
              </a:buClr>
              <a:buSzPts val="700"/>
              <a:buFont typeface="Arial"/>
              <a:buNone/>
            </a:pPr>
            <a:r>
              <a:rPr b="1" i="0" lang="en-US" sz="700" u="none" cap="none" strike="noStrike">
                <a:solidFill>
                  <a:srgbClr val="737373"/>
                </a:solidFill>
                <a:latin typeface="Arial"/>
                <a:ea typeface="Arial"/>
                <a:cs typeface="Arial"/>
                <a:sym typeface="Arial"/>
              </a:rPr>
              <a:t>STARLAB</a:t>
            </a:r>
            <a:endParaRPr b="0" i="0" sz="700" u="none" cap="none" strike="noStrike">
              <a:solidFill>
                <a:schemeClr val="dk1"/>
              </a:solidFill>
              <a:latin typeface="Arial"/>
              <a:ea typeface="Arial"/>
              <a:cs typeface="Arial"/>
              <a:sym typeface="Arial"/>
            </a:endParaRPr>
          </a:p>
        </p:txBody>
      </p:sp>
      <p:sp>
        <p:nvSpPr>
          <p:cNvPr id="367" name="Google Shape;367;p17"/>
          <p:cNvSpPr/>
          <p:nvPr/>
        </p:nvSpPr>
        <p:spPr>
          <a:xfrm>
            <a:off x="502920" y="475488"/>
            <a:ext cx="438912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900"/>
              <a:buFont typeface="Arial"/>
              <a:buNone/>
            </a:pPr>
            <a:r>
              <a:rPr b="1" i="0" lang="en-US" sz="900" u="none" cap="none" strike="noStrike">
                <a:solidFill>
                  <a:srgbClr val="ED1C24"/>
                </a:solidFill>
                <a:latin typeface="Arial"/>
                <a:ea typeface="Arial"/>
                <a:cs typeface="Arial"/>
                <a:sym typeface="Arial"/>
              </a:rPr>
              <a:t>DATA ORGANIZATION</a:t>
            </a:r>
            <a:endParaRPr b="0" i="0" sz="900" u="none" cap="none" strike="noStrike">
              <a:solidFill>
                <a:schemeClr val="dk1"/>
              </a:solidFill>
              <a:latin typeface="Arial"/>
              <a:ea typeface="Arial"/>
              <a:cs typeface="Arial"/>
              <a:sym typeface="Arial"/>
            </a:endParaRPr>
          </a:p>
        </p:txBody>
      </p:sp>
      <p:sp>
        <p:nvSpPr>
          <p:cNvPr id="368" name="Google Shape;368;p17"/>
          <p:cNvSpPr/>
          <p:nvPr/>
        </p:nvSpPr>
        <p:spPr>
          <a:xfrm>
            <a:off x="502920" y="749808"/>
            <a:ext cx="1097280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Activity: build your analysis-ready data table</a:t>
            </a:r>
            <a:endParaRPr b="0" i="0" sz="2800" u="none" cap="none" strike="noStrike">
              <a:solidFill>
                <a:schemeClr val="dk1"/>
              </a:solidFill>
              <a:latin typeface="Arial"/>
              <a:ea typeface="Arial"/>
              <a:cs typeface="Arial"/>
              <a:sym typeface="Arial"/>
            </a:endParaRPr>
          </a:p>
        </p:txBody>
      </p:sp>
      <p:cxnSp>
        <p:nvCxnSpPr>
          <p:cNvPr id="369" name="Google Shape;369;p17"/>
          <p:cNvCxnSpPr/>
          <p:nvPr/>
        </p:nvCxnSpPr>
        <p:spPr>
          <a:xfrm>
            <a:off x="502920" y="1389888"/>
            <a:ext cx="11109960" cy="0"/>
          </a:xfrm>
          <a:prstGeom prst="straightConnector1">
            <a:avLst/>
          </a:prstGeom>
          <a:noFill/>
          <a:ln cap="flat" cmpd="sng" w="17775">
            <a:solidFill>
              <a:srgbClr val="ED1C24">
                <a:alpha val="90196"/>
              </a:srgbClr>
            </a:solidFill>
            <a:prstDash val="solid"/>
            <a:round/>
            <a:headEnd len="sm" w="sm" type="none"/>
            <a:tailEnd len="sm" w="sm" type="none"/>
          </a:ln>
        </p:spPr>
      </p:cxnSp>
      <p:sp>
        <p:nvSpPr>
          <p:cNvPr id="370" name="Google Shape;370;p17"/>
          <p:cNvSpPr/>
          <p:nvPr/>
        </p:nvSpPr>
        <p:spPr>
          <a:xfrm>
            <a:off x="777240" y="1783080"/>
            <a:ext cx="10607040" cy="3886200"/>
          </a:xfrm>
          <a:prstGeom prst="rect">
            <a:avLst/>
          </a:prstGeom>
          <a:solidFill>
            <a:srgbClr val="0D0D0D"/>
          </a:solidFill>
          <a:ln cap="flat" cmpd="sng" w="15225">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 name="Google Shape;371;p17"/>
          <p:cNvSpPr/>
          <p:nvPr/>
        </p:nvSpPr>
        <p:spPr>
          <a:xfrm>
            <a:off x="1005840" y="2011680"/>
            <a:ext cx="1600200" cy="292608"/>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 name="Google Shape;372;p17"/>
          <p:cNvSpPr/>
          <p:nvPr/>
        </p:nvSpPr>
        <p:spPr>
          <a:xfrm>
            <a:off x="1051560" y="2066544"/>
            <a:ext cx="1508760" cy="16459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Arial"/>
              <a:buNone/>
            </a:pPr>
            <a:r>
              <a:rPr b="1" i="0" lang="en-US" sz="800" u="none" cap="none" strike="noStrike">
                <a:solidFill>
                  <a:srgbClr val="FFFFFF"/>
                </a:solidFill>
                <a:latin typeface="Arial"/>
                <a:ea typeface="Arial"/>
                <a:cs typeface="Arial"/>
                <a:sym typeface="Arial"/>
              </a:rPr>
              <a:t>STUDENT ACTIVITY</a:t>
            </a:r>
            <a:endParaRPr b="0" i="0" sz="800" u="none" cap="none" strike="noStrike">
              <a:solidFill>
                <a:schemeClr val="dk1"/>
              </a:solidFill>
              <a:latin typeface="Arial"/>
              <a:ea typeface="Arial"/>
              <a:cs typeface="Arial"/>
              <a:sym typeface="Arial"/>
            </a:endParaRPr>
          </a:p>
        </p:txBody>
      </p:sp>
      <p:sp>
        <p:nvSpPr>
          <p:cNvPr id="373" name="Google Shape;373;p17"/>
          <p:cNvSpPr/>
          <p:nvPr/>
        </p:nvSpPr>
        <p:spPr>
          <a:xfrm>
            <a:off x="1005840" y="2441448"/>
            <a:ext cx="10149840" cy="41148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2200"/>
              <a:buFont typeface="Play"/>
              <a:buNone/>
            </a:pPr>
            <a:r>
              <a:rPr b="1" i="0" lang="en-US" sz="2200" u="none" cap="none" strike="noStrike">
                <a:solidFill>
                  <a:srgbClr val="FFFFFF"/>
                </a:solidFill>
                <a:latin typeface="Play"/>
                <a:ea typeface="Play"/>
                <a:cs typeface="Play"/>
                <a:sym typeface="Play"/>
              </a:rPr>
              <a:t>Create or revise your clean data table.</a:t>
            </a:r>
            <a:endParaRPr b="0" i="0" sz="2200" u="none" cap="none" strike="noStrike">
              <a:solidFill>
                <a:schemeClr val="dk1"/>
              </a:solidFill>
              <a:latin typeface="Arial"/>
              <a:ea typeface="Arial"/>
              <a:cs typeface="Arial"/>
              <a:sym typeface="Arial"/>
            </a:endParaRPr>
          </a:p>
        </p:txBody>
      </p:sp>
      <p:sp>
        <p:nvSpPr>
          <p:cNvPr id="374" name="Google Shape;374;p17"/>
          <p:cNvSpPr/>
          <p:nvPr/>
        </p:nvSpPr>
        <p:spPr>
          <a:xfrm>
            <a:off x="1033272" y="2862072"/>
            <a:ext cx="10094976"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8B8B8"/>
              </a:buClr>
              <a:buSzPts val="850"/>
              <a:buFont typeface="Arial"/>
              <a:buNone/>
            </a:pPr>
            <a:r>
              <a:rPr b="1" i="0" lang="en-US" sz="850" u="none" cap="none" strike="noStrike">
                <a:solidFill>
                  <a:srgbClr val="B8B8B8"/>
                </a:solidFill>
                <a:latin typeface="Arial"/>
                <a:ea typeface="Arial"/>
                <a:cs typeface="Arial"/>
                <a:sym typeface="Arial"/>
              </a:rPr>
              <a:t>Unit 4 Week 17 Day 2–3 • Student Handout 2: Clean Data Set Builder; Student Handout 3: Data Cleaning Decision Log</a:t>
            </a:r>
            <a:endParaRPr b="0" i="0" sz="850" u="none" cap="none" strike="noStrike">
              <a:solidFill>
                <a:schemeClr val="dk1"/>
              </a:solidFill>
              <a:latin typeface="Arial"/>
              <a:ea typeface="Arial"/>
              <a:cs typeface="Arial"/>
              <a:sym typeface="Arial"/>
            </a:endParaRPr>
          </a:p>
        </p:txBody>
      </p:sp>
      <p:sp>
        <p:nvSpPr>
          <p:cNvPr id="375" name="Google Shape;375;p17"/>
          <p:cNvSpPr/>
          <p:nvPr/>
        </p:nvSpPr>
        <p:spPr>
          <a:xfrm>
            <a:off x="1097280" y="3319272"/>
            <a:ext cx="9921240" cy="1947672"/>
          </a:xfrm>
          <a:prstGeom prst="rect">
            <a:avLst/>
          </a:prstGeom>
          <a:noFill/>
          <a:ln>
            <a:noFill/>
          </a:ln>
        </p:spPr>
        <p:txBody>
          <a:bodyPr anchorCtr="0" anchor="ctr" bIns="1000" lIns="1000" spcFirstLastPara="1" rIns="1000" wrap="square" tIns="1000">
            <a:noAutofit/>
          </a:bodyPr>
          <a:lstStyle/>
          <a:p>
            <a:pPr indent="0" lvl="0" marL="0" marR="0" rtl="0" algn="l">
              <a:lnSpc>
                <a:spcPct val="100000"/>
              </a:lnSpc>
              <a:spcBef>
                <a:spcPts val="0"/>
              </a:spcBef>
              <a:spcAft>
                <a:spcPts val="0"/>
              </a:spcAft>
              <a:buClr>
                <a:srgbClr val="000000"/>
              </a:buClr>
              <a:buSzPts val="1720"/>
              <a:buFont typeface="Arial"/>
              <a:buNone/>
            </a:pPr>
            <a:r>
              <a:rPr b="0" i="0" lang="en-US" sz="1720" u="none" cap="none" strike="noStrike">
                <a:solidFill>
                  <a:srgbClr val="FFFFFF"/>
                </a:solidFill>
                <a:latin typeface="Arial"/>
                <a:ea typeface="Arial"/>
                <a:cs typeface="Arial"/>
                <a:sym typeface="Arial"/>
              </a:rPr>
              <a:t>Use one row per trial, sample, observation, or iteration</a:t>
            </a:r>
            <a:endParaRPr b="0" i="0" sz="172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20"/>
              <a:buFont typeface="Arial"/>
              <a:buNone/>
            </a:pPr>
            <a:r>
              <a:rPr b="0" i="0" lang="en-US" sz="1720" u="none" cap="none" strike="noStrike">
                <a:solidFill>
                  <a:srgbClr val="FFFFFF"/>
                </a:solidFill>
                <a:latin typeface="Arial"/>
                <a:ea typeface="Arial"/>
                <a:cs typeface="Arial"/>
                <a:sym typeface="Arial"/>
              </a:rPr>
              <a:t>Include columns for condition, measurement, unit, and notes</a:t>
            </a:r>
            <a:endParaRPr b="0" i="0" sz="172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20"/>
              <a:buFont typeface="Arial"/>
              <a:buNone/>
            </a:pPr>
            <a:r>
              <a:rPr b="0" i="0" lang="en-US" sz="1720" u="none" cap="none" strike="noStrike">
                <a:solidFill>
                  <a:srgbClr val="FFFFFF"/>
                </a:solidFill>
                <a:latin typeface="Arial"/>
                <a:ea typeface="Arial"/>
                <a:cs typeface="Arial"/>
                <a:sym typeface="Arial"/>
              </a:rPr>
              <a:t>Separate raw measurements from calculated values</a:t>
            </a:r>
            <a:endParaRPr b="0" i="0" sz="172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20"/>
              <a:buFont typeface="Arial"/>
              <a:buNone/>
            </a:pPr>
            <a:r>
              <a:rPr b="0" i="0" lang="en-US" sz="1720" u="none" cap="none" strike="noStrike">
                <a:solidFill>
                  <a:srgbClr val="FFFFFF"/>
                </a:solidFill>
                <a:latin typeface="Arial"/>
                <a:ea typeface="Arial"/>
                <a:cs typeface="Arial"/>
                <a:sym typeface="Arial"/>
              </a:rPr>
              <a:t>Add a flag column for questionable data</a:t>
            </a:r>
            <a:endParaRPr b="0" i="0" sz="172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20"/>
              <a:buFont typeface="Arial"/>
              <a:buNone/>
            </a:pPr>
            <a:r>
              <a:rPr b="0" i="0" lang="en-US" sz="1720" u="none" cap="none" strike="noStrike">
                <a:solidFill>
                  <a:srgbClr val="FFFFFF"/>
                </a:solidFill>
                <a:latin typeface="Arial"/>
                <a:ea typeface="Arial"/>
                <a:cs typeface="Arial"/>
                <a:sym typeface="Arial"/>
              </a:rPr>
              <a:t>Share the table with a partner and ask: “Could you understand this without me?”</a:t>
            </a:r>
            <a:endParaRPr b="0" i="0" sz="1720" u="none" cap="none" strike="noStrike">
              <a:solidFill>
                <a:schemeClr val="dk1"/>
              </a:solidFill>
              <a:latin typeface="Arial"/>
              <a:ea typeface="Arial"/>
              <a:cs typeface="Arial"/>
              <a:sym typeface="Arial"/>
            </a:endParaRPr>
          </a:p>
        </p:txBody>
      </p:sp>
      <p:sp>
        <p:nvSpPr>
          <p:cNvPr id="376" name="Google Shape;376;p17"/>
          <p:cNvSpPr/>
          <p:nvPr/>
        </p:nvSpPr>
        <p:spPr>
          <a:xfrm>
            <a:off x="777240" y="5989320"/>
            <a:ext cx="10607040" cy="320040"/>
          </a:xfrm>
          <a:prstGeom prst="rect">
            <a:avLst/>
          </a:prstGeom>
          <a:noFill/>
          <a:ln>
            <a:noFill/>
          </a:ln>
        </p:spPr>
        <p:txBody>
          <a:bodyPr anchorCtr="0" anchor="t" bIns="625" lIns="625" spcFirstLastPara="1" rIns="625" wrap="square" tIns="625">
            <a:noAutofit/>
          </a:bodyPr>
          <a:lstStyle/>
          <a:p>
            <a:pPr indent="0" lvl="0" marL="0" marR="0" rtl="0" algn="ctr">
              <a:lnSpc>
                <a:spcPct val="100000"/>
              </a:lnSpc>
              <a:spcBef>
                <a:spcPts val="0"/>
              </a:spcBef>
              <a:spcAft>
                <a:spcPts val="0"/>
              </a:spcAft>
              <a:buClr>
                <a:srgbClr val="B8B8B8"/>
              </a:buClr>
              <a:buSzPts val="1600"/>
              <a:buFont typeface="Arial"/>
              <a:buNone/>
            </a:pPr>
            <a:r>
              <a:rPr b="0" i="0" lang="en-US" sz="1600" u="none" cap="none" strike="noStrike">
                <a:solidFill>
                  <a:srgbClr val="B8B8B8"/>
                </a:solidFill>
                <a:latin typeface="Arial"/>
                <a:ea typeface="Arial"/>
                <a:cs typeface="Arial"/>
                <a:sym typeface="Arial"/>
              </a:rPr>
              <a:t>Deliverable: clean data set + one documented cleaning decision.</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381" name="Shape 381"/>
        <p:cNvGrpSpPr/>
        <p:nvPr/>
      </p:nvGrpSpPr>
      <p:grpSpPr>
        <a:xfrm>
          <a:off x="0" y="0"/>
          <a:ext cx="0" cy="0"/>
          <a:chOff x="0" y="0"/>
          <a:chExt cx="0" cy="0"/>
        </a:xfrm>
      </p:grpSpPr>
      <p:cxnSp>
        <p:nvCxnSpPr>
          <p:cNvPr id="382" name="Google Shape;382;p18"/>
          <p:cNvCxnSpPr/>
          <p:nvPr/>
        </p:nvCxnSpPr>
        <p:spPr>
          <a:xfrm>
            <a:off x="0" y="256032"/>
            <a:ext cx="12191695" cy="0"/>
          </a:xfrm>
          <a:prstGeom prst="straightConnector1">
            <a:avLst/>
          </a:prstGeom>
          <a:noFill/>
          <a:ln cap="flat" cmpd="sng" w="38100">
            <a:solidFill>
              <a:srgbClr val="ED1C24"/>
            </a:solidFill>
            <a:prstDash val="solid"/>
            <a:round/>
            <a:headEnd len="sm" w="sm" type="none"/>
            <a:tailEnd len="sm" w="sm" type="none"/>
          </a:ln>
        </p:spPr>
      </p:cxnSp>
      <p:cxnSp>
        <p:nvCxnSpPr>
          <p:cNvPr id="383" name="Google Shape;383;p18"/>
          <p:cNvCxnSpPr/>
          <p:nvPr/>
        </p:nvCxnSpPr>
        <p:spPr>
          <a:xfrm>
            <a:off x="0" y="6537960"/>
            <a:ext cx="12191695" cy="0"/>
          </a:xfrm>
          <a:prstGeom prst="straightConnector1">
            <a:avLst/>
          </a:prstGeom>
          <a:noFill/>
          <a:ln cap="flat" cmpd="sng" w="38100">
            <a:solidFill>
              <a:srgbClr val="ED1C24"/>
            </a:solidFill>
            <a:prstDash val="solid"/>
            <a:round/>
            <a:headEnd len="sm" w="sm" type="none"/>
            <a:tailEnd len="sm" w="sm" type="none"/>
          </a:ln>
        </p:spPr>
      </p:cxnSp>
      <p:sp>
        <p:nvSpPr>
          <p:cNvPr id="384" name="Google Shape;384;p18"/>
          <p:cNvSpPr/>
          <p:nvPr/>
        </p:nvSpPr>
        <p:spPr>
          <a:xfrm>
            <a:off x="411480" y="6592824"/>
            <a:ext cx="2011680" cy="1645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650"/>
              <a:buFont typeface="Arial"/>
              <a:buNone/>
            </a:pPr>
            <a:r>
              <a:rPr b="1" i="0" lang="en-US" sz="650" u="none" cap="none" strike="noStrike">
                <a:solidFill>
                  <a:srgbClr val="737373"/>
                </a:solidFill>
                <a:latin typeface="Arial"/>
                <a:ea typeface="Arial"/>
                <a:cs typeface="Arial"/>
                <a:sym typeface="Arial"/>
              </a:rPr>
              <a:t>DECK 09</a:t>
            </a:r>
            <a:endParaRPr b="0" i="0" sz="650" u="none" cap="none" strike="noStrike">
              <a:solidFill>
                <a:schemeClr val="dk1"/>
              </a:solidFill>
              <a:latin typeface="Arial"/>
              <a:ea typeface="Arial"/>
              <a:cs typeface="Arial"/>
              <a:sym typeface="Arial"/>
            </a:endParaRPr>
          </a:p>
        </p:txBody>
      </p:sp>
      <p:sp>
        <p:nvSpPr>
          <p:cNvPr id="385" name="Google Shape;385;p18"/>
          <p:cNvSpPr/>
          <p:nvPr/>
        </p:nvSpPr>
        <p:spPr>
          <a:xfrm>
            <a:off x="10058400" y="6565392"/>
            <a:ext cx="173736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737373"/>
              </a:buClr>
              <a:buSzPts val="700"/>
              <a:buFont typeface="Arial"/>
              <a:buNone/>
            </a:pPr>
            <a:r>
              <a:rPr b="1" i="0" lang="en-US" sz="700" u="none" cap="none" strike="noStrike">
                <a:solidFill>
                  <a:srgbClr val="737373"/>
                </a:solidFill>
                <a:latin typeface="Arial"/>
                <a:ea typeface="Arial"/>
                <a:cs typeface="Arial"/>
                <a:sym typeface="Arial"/>
              </a:rPr>
              <a:t>STARLAB</a:t>
            </a:r>
            <a:endParaRPr b="0" i="0" sz="700" u="none" cap="none" strike="noStrike">
              <a:solidFill>
                <a:schemeClr val="dk1"/>
              </a:solidFill>
              <a:latin typeface="Arial"/>
              <a:ea typeface="Arial"/>
              <a:cs typeface="Arial"/>
              <a:sym typeface="Arial"/>
            </a:endParaRPr>
          </a:p>
        </p:txBody>
      </p:sp>
      <p:sp>
        <p:nvSpPr>
          <p:cNvPr id="386" name="Google Shape;386;p18"/>
          <p:cNvSpPr/>
          <p:nvPr/>
        </p:nvSpPr>
        <p:spPr>
          <a:xfrm>
            <a:off x="502920" y="475488"/>
            <a:ext cx="438912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900"/>
              <a:buFont typeface="Arial"/>
              <a:buNone/>
            </a:pPr>
            <a:r>
              <a:rPr b="1" i="0" lang="en-US" sz="900" u="none" cap="none" strike="noStrike">
                <a:solidFill>
                  <a:srgbClr val="ED1C24"/>
                </a:solidFill>
                <a:latin typeface="Arial"/>
                <a:ea typeface="Arial"/>
                <a:cs typeface="Arial"/>
                <a:sym typeface="Arial"/>
              </a:rPr>
              <a:t>DATA ORGANIZATION</a:t>
            </a:r>
            <a:endParaRPr b="0" i="0" sz="900" u="none" cap="none" strike="noStrike">
              <a:solidFill>
                <a:schemeClr val="dk1"/>
              </a:solidFill>
              <a:latin typeface="Arial"/>
              <a:ea typeface="Arial"/>
              <a:cs typeface="Arial"/>
              <a:sym typeface="Arial"/>
            </a:endParaRPr>
          </a:p>
        </p:txBody>
      </p:sp>
      <p:sp>
        <p:nvSpPr>
          <p:cNvPr id="387" name="Google Shape;387;p18"/>
          <p:cNvSpPr/>
          <p:nvPr/>
        </p:nvSpPr>
        <p:spPr>
          <a:xfrm>
            <a:off x="502920" y="749808"/>
            <a:ext cx="1097280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Teacher checkpoint: show me your data</a:t>
            </a:r>
            <a:endParaRPr b="0" i="0" sz="2800" u="none" cap="none" strike="noStrike">
              <a:solidFill>
                <a:schemeClr val="dk1"/>
              </a:solidFill>
              <a:latin typeface="Arial"/>
              <a:ea typeface="Arial"/>
              <a:cs typeface="Arial"/>
              <a:sym typeface="Arial"/>
            </a:endParaRPr>
          </a:p>
        </p:txBody>
      </p:sp>
      <p:cxnSp>
        <p:nvCxnSpPr>
          <p:cNvPr id="388" name="Google Shape;388;p18"/>
          <p:cNvCxnSpPr/>
          <p:nvPr/>
        </p:nvCxnSpPr>
        <p:spPr>
          <a:xfrm>
            <a:off x="502920" y="1389888"/>
            <a:ext cx="11109960" cy="0"/>
          </a:xfrm>
          <a:prstGeom prst="straightConnector1">
            <a:avLst/>
          </a:prstGeom>
          <a:noFill/>
          <a:ln cap="flat" cmpd="sng" w="17775">
            <a:solidFill>
              <a:srgbClr val="ED1C24">
                <a:alpha val="90196"/>
              </a:srgbClr>
            </a:solidFill>
            <a:prstDash val="solid"/>
            <a:round/>
            <a:headEnd len="sm" w="sm" type="none"/>
            <a:tailEnd len="sm" w="sm" type="none"/>
          </a:ln>
        </p:spPr>
      </p:cxnSp>
      <p:sp>
        <p:nvSpPr>
          <p:cNvPr id="389" name="Google Shape;389;p18"/>
          <p:cNvSpPr/>
          <p:nvPr/>
        </p:nvSpPr>
        <p:spPr>
          <a:xfrm>
            <a:off x="914400" y="1828800"/>
            <a:ext cx="5943600" cy="3931920"/>
          </a:xfrm>
          <a:prstGeom prst="rect">
            <a:avLst/>
          </a:prstGeom>
          <a:noFill/>
          <a:ln>
            <a:noFill/>
          </a:ln>
        </p:spPr>
        <p:txBody>
          <a:bodyPr anchorCtr="0" anchor="ctr" bIns="1000" lIns="1000" spcFirstLastPara="1" rIns="1000" wrap="square" tIns="1000">
            <a:noAutofit/>
          </a:bodyPr>
          <a:lstStyle/>
          <a:p>
            <a:pPr indent="0" lvl="0" marL="0" marR="0" rtl="0" algn="l">
              <a:lnSpc>
                <a:spcPct val="100000"/>
              </a:lnSpc>
              <a:spcBef>
                <a:spcPts val="0"/>
              </a:spcBef>
              <a:spcAft>
                <a:spcPts val="0"/>
              </a:spcAft>
              <a:buClr>
                <a:srgbClr val="000000"/>
              </a:buClr>
              <a:buSzPts val="2100"/>
              <a:buFont typeface="Arial"/>
              <a:buNone/>
            </a:pPr>
            <a:r>
              <a:rPr b="0" i="0" lang="en-US" sz="2100" u="none" cap="none" strike="noStrike">
                <a:solidFill>
                  <a:srgbClr val="FFFFFF"/>
                </a:solidFill>
                <a:latin typeface="Arial"/>
                <a:ea typeface="Arial"/>
                <a:cs typeface="Arial"/>
                <a:sym typeface="Arial"/>
              </a:rPr>
              <a:t>Where is your raw data?</a:t>
            </a:r>
            <a:endParaRPr b="0" i="0" sz="21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100"/>
              <a:buFont typeface="Arial"/>
              <a:buNone/>
            </a:pPr>
            <a:r>
              <a:rPr b="0" i="0" lang="en-US" sz="2100" u="none" cap="none" strike="noStrike">
                <a:solidFill>
                  <a:srgbClr val="FFFFFF"/>
                </a:solidFill>
                <a:latin typeface="Arial"/>
                <a:ea typeface="Arial"/>
                <a:cs typeface="Arial"/>
                <a:sym typeface="Arial"/>
              </a:rPr>
              <a:t>Where is your clean copy?</a:t>
            </a:r>
            <a:endParaRPr b="0" i="0" sz="21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100"/>
              <a:buFont typeface="Arial"/>
              <a:buNone/>
            </a:pPr>
            <a:r>
              <a:rPr b="0" i="0" lang="en-US" sz="2100" u="none" cap="none" strike="noStrike">
                <a:solidFill>
                  <a:srgbClr val="FFFFFF"/>
                </a:solidFill>
                <a:latin typeface="Arial"/>
                <a:ea typeface="Arial"/>
                <a:cs typeface="Arial"/>
                <a:sym typeface="Arial"/>
              </a:rPr>
              <a:t>What does each column mean?</a:t>
            </a:r>
            <a:endParaRPr b="0" i="0" sz="21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100"/>
              <a:buFont typeface="Arial"/>
              <a:buNone/>
            </a:pPr>
            <a:r>
              <a:rPr b="0" i="0" lang="en-US" sz="2100" u="none" cap="none" strike="noStrike">
                <a:solidFill>
                  <a:srgbClr val="FFFFFF"/>
                </a:solidFill>
                <a:latin typeface="Arial"/>
                <a:ea typeface="Arial"/>
                <a:cs typeface="Arial"/>
                <a:sym typeface="Arial"/>
              </a:rPr>
              <a:t>Where are the units?</a:t>
            </a:r>
            <a:endParaRPr b="0" i="0" sz="21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100"/>
              <a:buFont typeface="Arial"/>
              <a:buNone/>
            </a:pPr>
            <a:r>
              <a:rPr b="0" i="0" lang="en-US" sz="2100" u="none" cap="none" strike="noStrike">
                <a:solidFill>
                  <a:srgbClr val="FFFFFF"/>
                </a:solidFill>
                <a:latin typeface="Arial"/>
                <a:ea typeface="Arial"/>
                <a:cs typeface="Arial"/>
                <a:sym typeface="Arial"/>
              </a:rPr>
              <a:t>Which data are flagged?</a:t>
            </a:r>
            <a:endParaRPr b="0" i="0" sz="21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100"/>
              <a:buFont typeface="Arial"/>
              <a:buNone/>
            </a:pPr>
            <a:r>
              <a:rPr b="0" i="0" lang="en-US" sz="2100" u="none" cap="none" strike="noStrike">
                <a:solidFill>
                  <a:srgbClr val="FFFFFF"/>
                </a:solidFill>
                <a:latin typeface="Arial"/>
                <a:ea typeface="Arial"/>
                <a:cs typeface="Arial"/>
                <a:sym typeface="Arial"/>
              </a:rPr>
              <a:t>What cleaning decisions did you make?</a:t>
            </a:r>
            <a:endParaRPr b="0" i="0" sz="21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100"/>
              <a:buFont typeface="Arial"/>
              <a:buNone/>
            </a:pPr>
            <a:r>
              <a:rPr b="0" i="0" lang="en-US" sz="2100" u="none" cap="none" strike="noStrike">
                <a:solidFill>
                  <a:srgbClr val="FFFFFF"/>
                </a:solidFill>
                <a:latin typeface="Arial"/>
                <a:ea typeface="Arial"/>
                <a:cs typeface="Arial"/>
                <a:sym typeface="Arial"/>
              </a:rPr>
              <a:t>What graph or analysis might come next?</a:t>
            </a:r>
            <a:endParaRPr b="0" i="0" sz="2100" u="none" cap="none" strike="noStrike">
              <a:solidFill>
                <a:schemeClr val="dk1"/>
              </a:solidFill>
              <a:latin typeface="Arial"/>
              <a:ea typeface="Arial"/>
              <a:cs typeface="Arial"/>
              <a:sym typeface="Arial"/>
            </a:endParaRPr>
          </a:p>
        </p:txBody>
      </p:sp>
      <p:sp>
        <p:nvSpPr>
          <p:cNvPr id="390" name="Google Shape;390;p18"/>
          <p:cNvSpPr/>
          <p:nvPr/>
        </p:nvSpPr>
        <p:spPr>
          <a:xfrm>
            <a:off x="7132320" y="2286000"/>
            <a:ext cx="4023360" cy="2011680"/>
          </a:xfrm>
          <a:prstGeom prst="rect">
            <a:avLst/>
          </a:prstGeom>
          <a:solidFill>
            <a:srgbClr val="0D0D0D"/>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1" name="Google Shape;391;p18"/>
          <p:cNvSpPr/>
          <p:nvPr/>
        </p:nvSpPr>
        <p:spPr>
          <a:xfrm>
            <a:off x="7132320" y="2286000"/>
            <a:ext cx="73152" cy="2011680"/>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2" name="Google Shape;392;p18"/>
          <p:cNvSpPr/>
          <p:nvPr/>
        </p:nvSpPr>
        <p:spPr>
          <a:xfrm>
            <a:off x="7333488" y="2450592"/>
            <a:ext cx="370332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000"/>
              <a:buFont typeface="Arial"/>
              <a:buNone/>
            </a:pPr>
            <a:r>
              <a:rPr b="1" i="0" lang="en-US" sz="1000" u="none" cap="none" strike="noStrike">
                <a:solidFill>
                  <a:srgbClr val="ED1C24"/>
                </a:solidFill>
                <a:latin typeface="Arial"/>
                <a:ea typeface="Arial"/>
                <a:cs typeface="Arial"/>
                <a:sym typeface="Arial"/>
              </a:rPr>
              <a:t>PASSING CHECKPOINT</a:t>
            </a:r>
            <a:endParaRPr b="0" i="0" sz="1000" u="none" cap="none" strike="noStrike">
              <a:solidFill>
                <a:schemeClr val="dk1"/>
              </a:solidFill>
              <a:latin typeface="Arial"/>
              <a:ea typeface="Arial"/>
              <a:cs typeface="Arial"/>
              <a:sym typeface="Arial"/>
            </a:endParaRPr>
          </a:p>
        </p:txBody>
      </p:sp>
      <p:sp>
        <p:nvSpPr>
          <p:cNvPr id="393" name="Google Shape;393;p18"/>
          <p:cNvSpPr/>
          <p:nvPr/>
        </p:nvSpPr>
        <p:spPr>
          <a:xfrm>
            <a:off x="7333488" y="2788920"/>
            <a:ext cx="3703320" cy="1389888"/>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1700"/>
              <a:buFont typeface="Arial"/>
              <a:buNone/>
            </a:pPr>
            <a:r>
              <a:rPr b="0" i="0" lang="en-US" sz="1700" u="none" cap="none" strike="noStrike">
                <a:solidFill>
                  <a:srgbClr val="FFFFFF"/>
                </a:solidFill>
                <a:latin typeface="Arial"/>
                <a:ea typeface="Arial"/>
                <a:cs typeface="Arial"/>
                <a:sym typeface="Arial"/>
              </a:rPr>
              <a:t>A teacher or classmate can understand your data organization without a five-minute rescue explanation.</a:t>
            </a:r>
            <a:endParaRPr b="0" i="0" sz="1700" u="none" cap="none" strike="noStrike">
              <a:solidFill>
                <a:schemeClr val="dk1"/>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398" name="Shape 398"/>
        <p:cNvGrpSpPr/>
        <p:nvPr/>
      </p:nvGrpSpPr>
      <p:grpSpPr>
        <a:xfrm>
          <a:off x="0" y="0"/>
          <a:ext cx="0" cy="0"/>
          <a:chOff x="0" y="0"/>
          <a:chExt cx="0" cy="0"/>
        </a:xfrm>
      </p:grpSpPr>
      <p:cxnSp>
        <p:nvCxnSpPr>
          <p:cNvPr id="399" name="Google Shape;399;p19"/>
          <p:cNvCxnSpPr/>
          <p:nvPr/>
        </p:nvCxnSpPr>
        <p:spPr>
          <a:xfrm>
            <a:off x="0" y="256032"/>
            <a:ext cx="12191695" cy="0"/>
          </a:xfrm>
          <a:prstGeom prst="straightConnector1">
            <a:avLst/>
          </a:prstGeom>
          <a:noFill/>
          <a:ln cap="flat" cmpd="sng" w="38100">
            <a:solidFill>
              <a:srgbClr val="ED1C24"/>
            </a:solidFill>
            <a:prstDash val="solid"/>
            <a:round/>
            <a:headEnd len="sm" w="sm" type="none"/>
            <a:tailEnd len="sm" w="sm" type="none"/>
          </a:ln>
        </p:spPr>
      </p:cxnSp>
      <p:cxnSp>
        <p:nvCxnSpPr>
          <p:cNvPr id="400" name="Google Shape;400;p19"/>
          <p:cNvCxnSpPr/>
          <p:nvPr/>
        </p:nvCxnSpPr>
        <p:spPr>
          <a:xfrm>
            <a:off x="0" y="6537960"/>
            <a:ext cx="12191695" cy="0"/>
          </a:xfrm>
          <a:prstGeom prst="straightConnector1">
            <a:avLst/>
          </a:prstGeom>
          <a:noFill/>
          <a:ln cap="flat" cmpd="sng" w="38100">
            <a:solidFill>
              <a:srgbClr val="ED1C24"/>
            </a:solidFill>
            <a:prstDash val="solid"/>
            <a:round/>
            <a:headEnd len="sm" w="sm" type="none"/>
            <a:tailEnd len="sm" w="sm" type="none"/>
          </a:ln>
        </p:spPr>
      </p:cxnSp>
      <p:sp>
        <p:nvSpPr>
          <p:cNvPr id="401" name="Google Shape;401;p19"/>
          <p:cNvSpPr/>
          <p:nvPr/>
        </p:nvSpPr>
        <p:spPr>
          <a:xfrm>
            <a:off x="411480" y="6592824"/>
            <a:ext cx="2011680" cy="1645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650"/>
              <a:buFont typeface="Arial"/>
              <a:buNone/>
            </a:pPr>
            <a:r>
              <a:rPr b="1" i="0" lang="en-US" sz="650" u="none" cap="none" strike="noStrike">
                <a:solidFill>
                  <a:srgbClr val="737373"/>
                </a:solidFill>
                <a:latin typeface="Arial"/>
                <a:ea typeface="Arial"/>
                <a:cs typeface="Arial"/>
                <a:sym typeface="Arial"/>
              </a:rPr>
              <a:t>DECK 09</a:t>
            </a:r>
            <a:endParaRPr b="0" i="0" sz="650" u="none" cap="none" strike="noStrike">
              <a:solidFill>
                <a:schemeClr val="dk1"/>
              </a:solidFill>
              <a:latin typeface="Arial"/>
              <a:ea typeface="Arial"/>
              <a:cs typeface="Arial"/>
              <a:sym typeface="Arial"/>
            </a:endParaRPr>
          </a:p>
        </p:txBody>
      </p:sp>
      <p:sp>
        <p:nvSpPr>
          <p:cNvPr id="402" name="Google Shape;402;p19"/>
          <p:cNvSpPr/>
          <p:nvPr/>
        </p:nvSpPr>
        <p:spPr>
          <a:xfrm>
            <a:off x="10058400" y="6565392"/>
            <a:ext cx="173736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737373"/>
              </a:buClr>
              <a:buSzPts val="700"/>
              <a:buFont typeface="Arial"/>
              <a:buNone/>
            </a:pPr>
            <a:r>
              <a:rPr b="1" i="0" lang="en-US" sz="700" u="none" cap="none" strike="noStrike">
                <a:solidFill>
                  <a:srgbClr val="737373"/>
                </a:solidFill>
                <a:latin typeface="Arial"/>
                <a:ea typeface="Arial"/>
                <a:cs typeface="Arial"/>
                <a:sym typeface="Arial"/>
              </a:rPr>
              <a:t>STARLAB</a:t>
            </a:r>
            <a:endParaRPr b="0" i="0" sz="700" u="none" cap="none" strike="noStrike">
              <a:solidFill>
                <a:schemeClr val="dk1"/>
              </a:solidFill>
              <a:latin typeface="Arial"/>
              <a:ea typeface="Arial"/>
              <a:cs typeface="Arial"/>
              <a:sym typeface="Arial"/>
            </a:endParaRPr>
          </a:p>
        </p:txBody>
      </p:sp>
      <p:sp>
        <p:nvSpPr>
          <p:cNvPr id="403" name="Google Shape;403;p19"/>
          <p:cNvSpPr/>
          <p:nvPr/>
        </p:nvSpPr>
        <p:spPr>
          <a:xfrm>
            <a:off x="502920" y="475488"/>
            <a:ext cx="438912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900"/>
              <a:buFont typeface="Arial"/>
              <a:buNone/>
            </a:pPr>
            <a:r>
              <a:rPr b="1" i="0" lang="en-US" sz="900" u="none" cap="none" strike="noStrike">
                <a:solidFill>
                  <a:srgbClr val="ED1C24"/>
                </a:solidFill>
                <a:latin typeface="Arial"/>
                <a:ea typeface="Arial"/>
                <a:cs typeface="Arial"/>
                <a:sym typeface="Arial"/>
              </a:rPr>
              <a:t>DATA ORGANIZATION</a:t>
            </a:r>
            <a:endParaRPr b="0" i="0" sz="900" u="none" cap="none" strike="noStrike">
              <a:solidFill>
                <a:schemeClr val="dk1"/>
              </a:solidFill>
              <a:latin typeface="Arial"/>
              <a:ea typeface="Arial"/>
              <a:cs typeface="Arial"/>
              <a:sym typeface="Arial"/>
            </a:endParaRPr>
          </a:p>
        </p:txBody>
      </p:sp>
      <p:sp>
        <p:nvSpPr>
          <p:cNvPr id="404" name="Google Shape;404;p19"/>
          <p:cNvSpPr/>
          <p:nvPr/>
        </p:nvSpPr>
        <p:spPr>
          <a:xfrm>
            <a:off x="502920" y="749808"/>
            <a:ext cx="1097280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Common problems to catch before analysis</a:t>
            </a:r>
            <a:endParaRPr b="0" i="0" sz="2800" u="none" cap="none" strike="noStrike">
              <a:solidFill>
                <a:schemeClr val="dk1"/>
              </a:solidFill>
              <a:latin typeface="Arial"/>
              <a:ea typeface="Arial"/>
              <a:cs typeface="Arial"/>
              <a:sym typeface="Arial"/>
            </a:endParaRPr>
          </a:p>
        </p:txBody>
      </p:sp>
      <p:cxnSp>
        <p:nvCxnSpPr>
          <p:cNvPr id="405" name="Google Shape;405;p19"/>
          <p:cNvCxnSpPr/>
          <p:nvPr/>
        </p:nvCxnSpPr>
        <p:spPr>
          <a:xfrm>
            <a:off x="502920" y="1389888"/>
            <a:ext cx="11109960" cy="0"/>
          </a:xfrm>
          <a:prstGeom prst="straightConnector1">
            <a:avLst/>
          </a:prstGeom>
          <a:noFill/>
          <a:ln cap="flat" cmpd="sng" w="17775">
            <a:solidFill>
              <a:srgbClr val="ED1C24">
                <a:alpha val="90196"/>
              </a:srgbClr>
            </a:solidFill>
            <a:prstDash val="solid"/>
            <a:round/>
            <a:headEnd len="sm" w="sm" type="none"/>
            <a:tailEnd len="sm" w="sm" type="none"/>
          </a:ln>
        </p:spPr>
      </p:cxnSp>
      <p:sp>
        <p:nvSpPr>
          <p:cNvPr id="406" name="Google Shape;406;p19"/>
          <p:cNvSpPr/>
          <p:nvPr/>
        </p:nvSpPr>
        <p:spPr>
          <a:xfrm>
            <a:off x="777240" y="1783080"/>
            <a:ext cx="5074920" cy="658368"/>
          </a:xfrm>
          <a:prstGeom prst="rect">
            <a:avLst/>
          </a:prstGeom>
          <a:solidFill>
            <a:srgbClr val="0D0D0D"/>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7" name="Google Shape;407;p19"/>
          <p:cNvSpPr/>
          <p:nvPr/>
        </p:nvSpPr>
        <p:spPr>
          <a:xfrm>
            <a:off x="960120" y="1892808"/>
            <a:ext cx="2286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600"/>
              <a:buFont typeface="Arial"/>
              <a:buNone/>
            </a:pPr>
            <a:r>
              <a:rPr b="1" i="0" lang="en-US" sz="1600" u="none" cap="none" strike="noStrike">
                <a:solidFill>
                  <a:srgbClr val="ED1C24"/>
                </a:solidFill>
                <a:latin typeface="Arial"/>
                <a:ea typeface="Arial"/>
                <a:cs typeface="Arial"/>
                <a:sym typeface="Arial"/>
              </a:rPr>
              <a:t>×</a:t>
            </a:r>
            <a:endParaRPr b="0" i="0" sz="1600" u="none" cap="none" strike="noStrike">
              <a:solidFill>
                <a:schemeClr val="dk1"/>
              </a:solidFill>
              <a:latin typeface="Arial"/>
              <a:ea typeface="Arial"/>
              <a:cs typeface="Arial"/>
              <a:sym typeface="Arial"/>
            </a:endParaRPr>
          </a:p>
        </p:txBody>
      </p:sp>
      <p:sp>
        <p:nvSpPr>
          <p:cNvPr id="408" name="Google Shape;408;p19"/>
          <p:cNvSpPr/>
          <p:nvPr/>
        </p:nvSpPr>
        <p:spPr>
          <a:xfrm>
            <a:off x="1298448" y="1883664"/>
            <a:ext cx="4389120" cy="256032"/>
          </a:xfrm>
          <a:prstGeom prst="rect">
            <a:avLst/>
          </a:prstGeom>
          <a:noFill/>
          <a:ln>
            <a:noFill/>
          </a:ln>
        </p:spPr>
        <p:txBody>
          <a:bodyPr anchorCtr="0" anchor="t" bIns="625" lIns="625" spcFirstLastPara="1" rIns="625" wrap="square" tIns="625">
            <a:noAutofit/>
          </a:bodyPr>
          <a:lstStyle/>
          <a:p>
            <a:pPr indent="0" lvl="0" marL="0" marR="0" rtl="0" algn="l">
              <a:lnSpc>
                <a:spcPct val="100000"/>
              </a:lnSpc>
              <a:spcBef>
                <a:spcPts val="0"/>
              </a:spcBef>
              <a:spcAft>
                <a:spcPts val="0"/>
              </a:spcAft>
              <a:buClr>
                <a:srgbClr val="FFFFFF"/>
              </a:buClr>
              <a:buSzPts val="1380"/>
              <a:buFont typeface="Arial"/>
              <a:buNone/>
            </a:pPr>
            <a:r>
              <a:rPr b="0" i="0" lang="en-US" sz="1380" u="none" cap="none" strike="noStrike">
                <a:solidFill>
                  <a:srgbClr val="FFFFFF"/>
                </a:solidFill>
                <a:latin typeface="Arial"/>
                <a:ea typeface="Arial"/>
                <a:cs typeface="Arial"/>
                <a:sym typeface="Arial"/>
              </a:rPr>
              <a:t>Averages recorded but raw values missing</a:t>
            </a:r>
            <a:endParaRPr b="0" i="0" sz="1380" u="none" cap="none" strike="noStrike">
              <a:solidFill>
                <a:schemeClr val="dk1"/>
              </a:solidFill>
              <a:latin typeface="Arial"/>
              <a:ea typeface="Arial"/>
              <a:cs typeface="Arial"/>
              <a:sym typeface="Arial"/>
            </a:endParaRPr>
          </a:p>
        </p:txBody>
      </p:sp>
      <p:sp>
        <p:nvSpPr>
          <p:cNvPr id="409" name="Google Shape;409;p19"/>
          <p:cNvSpPr/>
          <p:nvPr/>
        </p:nvSpPr>
        <p:spPr>
          <a:xfrm>
            <a:off x="777240" y="2743200"/>
            <a:ext cx="5074920" cy="658368"/>
          </a:xfrm>
          <a:prstGeom prst="rect">
            <a:avLst/>
          </a:prstGeom>
          <a:solidFill>
            <a:srgbClr val="0D0D0D"/>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0" name="Google Shape;410;p19"/>
          <p:cNvSpPr/>
          <p:nvPr/>
        </p:nvSpPr>
        <p:spPr>
          <a:xfrm>
            <a:off x="960120" y="2852928"/>
            <a:ext cx="2286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600"/>
              <a:buFont typeface="Arial"/>
              <a:buNone/>
            </a:pPr>
            <a:r>
              <a:rPr b="1" i="0" lang="en-US" sz="1600" u="none" cap="none" strike="noStrike">
                <a:solidFill>
                  <a:srgbClr val="ED1C24"/>
                </a:solidFill>
                <a:latin typeface="Arial"/>
                <a:ea typeface="Arial"/>
                <a:cs typeface="Arial"/>
                <a:sym typeface="Arial"/>
              </a:rPr>
              <a:t>×</a:t>
            </a:r>
            <a:endParaRPr b="0" i="0" sz="1600" u="none" cap="none" strike="noStrike">
              <a:solidFill>
                <a:schemeClr val="dk1"/>
              </a:solidFill>
              <a:latin typeface="Arial"/>
              <a:ea typeface="Arial"/>
              <a:cs typeface="Arial"/>
              <a:sym typeface="Arial"/>
            </a:endParaRPr>
          </a:p>
        </p:txBody>
      </p:sp>
      <p:sp>
        <p:nvSpPr>
          <p:cNvPr id="411" name="Google Shape;411;p19"/>
          <p:cNvSpPr/>
          <p:nvPr/>
        </p:nvSpPr>
        <p:spPr>
          <a:xfrm>
            <a:off x="1298448" y="2843784"/>
            <a:ext cx="4389120" cy="256032"/>
          </a:xfrm>
          <a:prstGeom prst="rect">
            <a:avLst/>
          </a:prstGeom>
          <a:noFill/>
          <a:ln>
            <a:noFill/>
          </a:ln>
        </p:spPr>
        <p:txBody>
          <a:bodyPr anchorCtr="0" anchor="t" bIns="625" lIns="625" spcFirstLastPara="1" rIns="625" wrap="square" tIns="625">
            <a:noAutofit/>
          </a:bodyPr>
          <a:lstStyle/>
          <a:p>
            <a:pPr indent="0" lvl="0" marL="0" marR="0" rtl="0" algn="l">
              <a:lnSpc>
                <a:spcPct val="100000"/>
              </a:lnSpc>
              <a:spcBef>
                <a:spcPts val="0"/>
              </a:spcBef>
              <a:spcAft>
                <a:spcPts val="0"/>
              </a:spcAft>
              <a:buClr>
                <a:srgbClr val="FFFFFF"/>
              </a:buClr>
              <a:buSzPts val="1380"/>
              <a:buFont typeface="Arial"/>
              <a:buNone/>
            </a:pPr>
            <a:r>
              <a:rPr b="0" i="0" lang="en-US" sz="1380" u="none" cap="none" strike="noStrike">
                <a:solidFill>
                  <a:srgbClr val="FFFFFF"/>
                </a:solidFill>
                <a:latin typeface="Arial"/>
                <a:ea typeface="Arial"/>
                <a:cs typeface="Arial"/>
                <a:sym typeface="Arial"/>
              </a:rPr>
              <a:t>Different groups have different numbers of trials</a:t>
            </a:r>
            <a:endParaRPr b="0" i="0" sz="1380" u="none" cap="none" strike="noStrike">
              <a:solidFill>
                <a:schemeClr val="dk1"/>
              </a:solidFill>
              <a:latin typeface="Arial"/>
              <a:ea typeface="Arial"/>
              <a:cs typeface="Arial"/>
              <a:sym typeface="Arial"/>
            </a:endParaRPr>
          </a:p>
        </p:txBody>
      </p:sp>
      <p:sp>
        <p:nvSpPr>
          <p:cNvPr id="412" name="Google Shape;412;p19"/>
          <p:cNvSpPr/>
          <p:nvPr/>
        </p:nvSpPr>
        <p:spPr>
          <a:xfrm>
            <a:off x="777240" y="3703320"/>
            <a:ext cx="5074920" cy="658368"/>
          </a:xfrm>
          <a:prstGeom prst="rect">
            <a:avLst/>
          </a:prstGeom>
          <a:solidFill>
            <a:srgbClr val="0D0D0D"/>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3" name="Google Shape;413;p19"/>
          <p:cNvSpPr/>
          <p:nvPr/>
        </p:nvSpPr>
        <p:spPr>
          <a:xfrm>
            <a:off x="960120" y="3813048"/>
            <a:ext cx="2286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600"/>
              <a:buFont typeface="Arial"/>
              <a:buNone/>
            </a:pPr>
            <a:r>
              <a:rPr b="1" i="0" lang="en-US" sz="1600" u="none" cap="none" strike="noStrike">
                <a:solidFill>
                  <a:srgbClr val="ED1C24"/>
                </a:solidFill>
                <a:latin typeface="Arial"/>
                <a:ea typeface="Arial"/>
                <a:cs typeface="Arial"/>
                <a:sym typeface="Arial"/>
              </a:rPr>
              <a:t>×</a:t>
            </a:r>
            <a:endParaRPr b="0" i="0" sz="1600" u="none" cap="none" strike="noStrike">
              <a:solidFill>
                <a:schemeClr val="dk1"/>
              </a:solidFill>
              <a:latin typeface="Arial"/>
              <a:ea typeface="Arial"/>
              <a:cs typeface="Arial"/>
              <a:sym typeface="Arial"/>
            </a:endParaRPr>
          </a:p>
        </p:txBody>
      </p:sp>
      <p:sp>
        <p:nvSpPr>
          <p:cNvPr id="414" name="Google Shape;414;p19"/>
          <p:cNvSpPr/>
          <p:nvPr/>
        </p:nvSpPr>
        <p:spPr>
          <a:xfrm>
            <a:off x="1298448" y="3803904"/>
            <a:ext cx="4389120" cy="256032"/>
          </a:xfrm>
          <a:prstGeom prst="rect">
            <a:avLst/>
          </a:prstGeom>
          <a:noFill/>
          <a:ln>
            <a:noFill/>
          </a:ln>
        </p:spPr>
        <p:txBody>
          <a:bodyPr anchorCtr="0" anchor="t" bIns="625" lIns="625" spcFirstLastPara="1" rIns="625" wrap="square" tIns="625">
            <a:noAutofit/>
          </a:bodyPr>
          <a:lstStyle/>
          <a:p>
            <a:pPr indent="0" lvl="0" marL="0" marR="0" rtl="0" algn="l">
              <a:lnSpc>
                <a:spcPct val="100000"/>
              </a:lnSpc>
              <a:spcBef>
                <a:spcPts val="0"/>
              </a:spcBef>
              <a:spcAft>
                <a:spcPts val="0"/>
              </a:spcAft>
              <a:buClr>
                <a:srgbClr val="FFFFFF"/>
              </a:buClr>
              <a:buSzPts val="1380"/>
              <a:buFont typeface="Arial"/>
              <a:buNone/>
            </a:pPr>
            <a:r>
              <a:rPr b="0" i="0" lang="en-US" sz="1380" u="none" cap="none" strike="noStrike">
                <a:solidFill>
                  <a:srgbClr val="FFFFFF"/>
                </a:solidFill>
                <a:latin typeface="Arial"/>
                <a:ea typeface="Arial"/>
                <a:cs typeface="Arial"/>
                <a:sym typeface="Arial"/>
              </a:rPr>
              <a:t>Units change halfway through the table</a:t>
            </a:r>
            <a:endParaRPr b="0" i="0" sz="1380" u="none" cap="none" strike="noStrike">
              <a:solidFill>
                <a:schemeClr val="dk1"/>
              </a:solidFill>
              <a:latin typeface="Arial"/>
              <a:ea typeface="Arial"/>
              <a:cs typeface="Arial"/>
              <a:sym typeface="Arial"/>
            </a:endParaRPr>
          </a:p>
        </p:txBody>
      </p:sp>
      <p:sp>
        <p:nvSpPr>
          <p:cNvPr id="415" name="Google Shape;415;p19"/>
          <p:cNvSpPr/>
          <p:nvPr/>
        </p:nvSpPr>
        <p:spPr>
          <a:xfrm>
            <a:off x="777240" y="4663440"/>
            <a:ext cx="5074920" cy="658368"/>
          </a:xfrm>
          <a:prstGeom prst="rect">
            <a:avLst/>
          </a:prstGeom>
          <a:solidFill>
            <a:srgbClr val="0D0D0D"/>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 name="Google Shape;416;p19"/>
          <p:cNvSpPr/>
          <p:nvPr/>
        </p:nvSpPr>
        <p:spPr>
          <a:xfrm>
            <a:off x="960120" y="4773168"/>
            <a:ext cx="2286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600"/>
              <a:buFont typeface="Arial"/>
              <a:buNone/>
            </a:pPr>
            <a:r>
              <a:rPr b="1" i="0" lang="en-US" sz="1600" u="none" cap="none" strike="noStrike">
                <a:solidFill>
                  <a:srgbClr val="ED1C24"/>
                </a:solidFill>
                <a:latin typeface="Arial"/>
                <a:ea typeface="Arial"/>
                <a:cs typeface="Arial"/>
                <a:sym typeface="Arial"/>
              </a:rPr>
              <a:t>×</a:t>
            </a:r>
            <a:endParaRPr b="0" i="0" sz="1600" u="none" cap="none" strike="noStrike">
              <a:solidFill>
                <a:schemeClr val="dk1"/>
              </a:solidFill>
              <a:latin typeface="Arial"/>
              <a:ea typeface="Arial"/>
              <a:cs typeface="Arial"/>
              <a:sym typeface="Arial"/>
            </a:endParaRPr>
          </a:p>
        </p:txBody>
      </p:sp>
      <p:sp>
        <p:nvSpPr>
          <p:cNvPr id="417" name="Google Shape;417;p19"/>
          <p:cNvSpPr/>
          <p:nvPr/>
        </p:nvSpPr>
        <p:spPr>
          <a:xfrm>
            <a:off x="1298448" y="4764024"/>
            <a:ext cx="4389120" cy="256032"/>
          </a:xfrm>
          <a:prstGeom prst="rect">
            <a:avLst/>
          </a:prstGeom>
          <a:noFill/>
          <a:ln>
            <a:noFill/>
          </a:ln>
        </p:spPr>
        <p:txBody>
          <a:bodyPr anchorCtr="0" anchor="t" bIns="625" lIns="625" spcFirstLastPara="1" rIns="625" wrap="square" tIns="625">
            <a:noAutofit/>
          </a:bodyPr>
          <a:lstStyle/>
          <a:p>
            <a:pPr indent="0" lvl="0" marL="0" marR="0" rtl="0" algn="l">
              <a:lnSpc>
                <a:spcPct val="100000"/>
              </a:lnSpc>
              <a:spcBef>
                <a:spcPts val="0"/>
              </a:spcBef>
              <a:spcAft>
                <a:spcPts val="0"/>
              </a:spcAft>
              <a:buClr>
                <a:srgbClr val="FFFFFF"/>
              </a:buClr>
              <a:buSzPts val="1380"/>
              <a:buFont typeface="Arial"/>
              <a:buNone/>
            </a:pPr>
            <a:r>
              <a:rPr b="0" i="0" lang="en-US" sz="1380" u="none" cap="none" strike="noStrike">
                <a:solidFill>
                  <a:srgbClr val="FFFFFF"/>
                </a:solidFill>
                <a:latin typeface="Arial"/>
                <a:ea typeface="Arial"/>
                <a:cs typeface="Arial"/>
                <a:sym typeface="Arial"/>
              </a:rPr>
              <a:t>The procedure changed without a note</a:t>
            </a:r>
            <a:endParaRPr b="0" i="0" sz="1380" u="none" cap="none" strike="noStrike">
              <a:solidFill>
                <a:schemeClr val="dk1"/>
              </a:solidFill>
              <a:latin typeface="Arial"/>
              <a:ea typeface="Arial"/>
              <a:cs typeface="Arial"/>
              <a:sym typeface="Arial"/>
            </a:endParaRPr>
          </a:p>
        </p:txBody>
      </p:sp>
      <p:sp>
        <p:nvSpPr>
          <p:cNvPr id="418" name="Google Shape;418;p19"/>
          <p:cNvSpPr/>
          <p:nvPr/>
        </p:nvSpPr>
        <p:spPr>
          <a:xfrm>
            <a:off x="6263640" y="1783080"/>
            <a:ext cx="5074920" cy="658368"/>
          </a:xfrm>
          <a:prstGeom prst="rect">
            <a:avLst/>
          </a:prstGeom>
          <a:solidFill>
            <a:srgbClr val="0D0D0D"/>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9" name="Google Shape;419;p19"/>
          <p:cNvSpPr/>
          <p:nvPr/>
        </p:nvSpPr>
        <p:spPr>
          <a:xfrm>
            <a:off x="6446520" y="1892808"/>
            <a:ext cx="2286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600"/>
              <a:buFont typeface="Arial"/>
              <a:buNone/>
            </a:pPr>
            <a:r>
              <a:rPr b="1" i="0" lang="en-US" sz="1600" u="none" cap="none" strike="noStrike">
                <a:solidFill>
                  <a:srgbClr val="ED1C24"/>
                </a:solidFill>
                <a:latin typeface="Arial"/>
                <a:ea typeface="Arial"/>
                <a:cs typeface="Arial"/>
                <a:sym typeface="Arial"/>
              </a:rPr>
              <a:t>×</a:t>
            </a:r>
            <a:endParaRPr b="0" i="0" sz="1600" u="none" cap="none" strike="noStrike">
              <a:solidFill>
                <a:schemeClr val="dk1"/>
              </a:solidFill>
              <a:latin typeface="Arial"/>
              <a:ea typeface="Arial"/>
              <a:cs typeface="Arial"/>
              <a:sym typeface="Arial"/>
            </a:endParaRPr>
          </a:p>
        </p:txBody>
      </p:sp>
      <p:sp>
        <p:nvSpPr>
          <p:cNvPr id="420" name="Google Shape;420;p19"/>
          <p:cNvSpPr/>
          <p:nvPr/>
        </p:nvSpPr>
        <p:spPr>
          <a:xfrm>
            <a:off x="6784848" y="1883664"/>
            <a:ext cx="4389120" cy="256032"/>
          </a:xfrm>
          <a:prstGeom prst="rect">
            <a:avLst/>
          </a:prstGeom>
          <a:noFill/>
          <a:ln>
            <a:noFill/>
          </a:ln>
        </p:spPr>
        <p:txBody>
          <a:bodyPr anchorCtr="0" anchor="t" bIns="625" lIns="625" spcFirstLastPara="1" rIns="625" wrap="square" tIns="625">
            <a:noAutofit/>
          </a:bodyPr>
          <a:lstStyle/>
          <a:p>
            <a:pPr indent="0" lvl="0" marL="0" marR="0" rtl="0" algn="l">
              <a:lnSpc>
                <a:spcPct val="100000"/>
              </a:lnSpc>
              <a:spcBef>
                <a:spcPts val="0"/>
              </a:spcBef>
              <a:spcAft>
                <a:spcPts val="0"/>
              </a:spcAft>
              <a:buClr>
                <a:srgbClr val="FFFFFF"/>
              </a:buClr>
              <a:buSzPts val="1380"/>
              <a:buFont typeface="Arial"/>
              <a:buNone/>
            </a:pPr>
            <a:r>
              <a:rPr b="0" i="0" lang="en-US" sz="1380" u="none" cap="none" strike="noStrike">
                <a:solidFill>
                  <a:srgbClr val="FFFFFF"/>
                </a:solidFill>
                <a:latin typeface="Arial"/>
                <a:ea typeface="Arial"/>
                <a:cs typeface="Arial"/>
                <a:sym typeface="Arial"/>
              </a:rPr>
              <a:t>Photos are not connected to trial numbers</a:t>
            </a:r>
            <a:endParaRPr b="0" i="0" sz="1380" u="none" cap="none" strike="noStrike">
              <a:solidFill>
                <a:schemeClr val="dk1"/>
              </a:solidFill>
              <a:latin typeface="Arial"/>
              <a:ea typeface="Arial"/>
              <a:cs typeface="Arial"/>
              <a:sym typeface="Arial"/>
            </a:endParaRPr>
          </a:p>
        </p:txBody>
      </p:sp>
      <p:sp>
        <p:nvSpPr>
          <p:cNvPr id="421" name="Google Shape;421;p19"/>
          <p:cNvSpPr/>
          <p:nvPr/>
        </p:nvSpPr>
        <p:spPr>
          <a:xfrm>
            <a:off x="6263640" y="2743200"/>
            <a:ext cx="5074920" cy="658368"/>
          </a:xfrm>
          <a:prstGeom prst="rect">
            <a:avLst/>
          </a:prstGeom>
          <a:solidFill>
            <a:srgbClr val="0D0D0D"/>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 name="Google Shape;422;p19"/>
          <p:cNvSpPr/>
          <p:nvPr/>
        </p:nvSpPr>
        <p:spPr>
          <a:xfrm>
            <a:off x="6446520" y="2852928"/>
            <a:ext cx="2286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600"/>
              <a:buFont typeface="Arial"/>
              <a:buNone/>
            </a:pPr>
            <a:r>
              <a:rPr b="1" i="0" lang="en-US" sz="1600" u="none" cap="none" strike="noStrike">
                <a:solidFill>
                  <a:srgbClr val="ED1C24"/>
                </a:solidFill>
                <a:latin typeface="Arial"/>
                <a:ea typeface="Arial"/>
                <a:cs typeface="Arial"/>
                <a:sym typeface="Arial"/>
              </a:rPr>
              <a:t>×</a:t>
            </a:r>
            <a:endParaRPr b="0" i="0" sz="1600" u="none" cap="none" strike="noStrike">
              <a:solidFill>
                <a:schemeClr val="dk1"/>
              </a:solidFill>
              <a:latin typeface="Arial"/>
              <a:ea typeface="Arial"/>
              <a:cs typeface="Arial"/>
              <a:sym typeface="Arial"/>
            </a:endParaRPr>
          </a:p>
        </p:txBody>
      </p:sp>
      <p:sp>
        <p:nvSpPr>
          <p:cNvPr id="423" name="Google Shape;423;p19"/>
          <p:cNvSpPr/>
          <p:nvPr/>
        </p:nvSpPr>
        <p:spPr>
          <a:xfrm>
            <a:off x="6784848" y="2843784"/>
            <a:ext cx="4389120" cy="256032"/>
          </a:xfrm>
          <a:prstGeom prst="rect">
            <a:avLst/>
          </a:prstGeom>
          <a:noFill/>
          <a:ln>
            <a:noFill/>
          </a:ln>
        </p:spPr>
        <p:txBody>
          <a:bodyPr anchorCtr="0" anchor="t" bIns="625" lIns="625" spcFirstLastPara="1" rIns="625" wrap="square" tIns="625">
            <a:noAutofit/>
          </a:bodyPr>
          <a:lstStyle/>
          <a:p>
            <a:pPr indent="0" lvl="0" marL="0" marR="0" rtl="0" algn="l">
              <a:lnSpc>
                <a:spcPct val="100000"/>
              </a:lnSpc>
              <a:spcBef>
                <a:spcPts val="0"/>
              </a:spcBef>
              <a:spcAft>
                <a:spcPts val="0"/>
              </a:spcAft>
              <a:buClr>
                <a:srgbClr val="FFFFFF"/>
              </a:buClr>
              <a:buSzPts val="1380"/>
              <a:buFont typeface="Arial"/>
              <a:buNone/>
            </a:pPr>
            <a:r>
              <a:rPr b="0" i="0" lang="en-US" sz="1380" u="none" cap="none" strike="noStrike">
                <a:solidFill>
                  <a:srgbClr val="FFFFFF"/>
                </a:solidFill>
                <a:latin typeface="Arial"/>
                <a:ea typeface="Arial"/>
                <a:cs typeface="Arial"/>
                <a:sym typeface="Arial"/>
              </a:rPr>
              <a:t>Only successful tests were saved</a:t>
            </a:r>
            <a:endParaRPr b="0" i="0" sz="1380" u="none" cap="none" strike="noStrike">
              <a:solidFill>
                <a:schemeClr val="dk1"/>
              </a:solidFill>
              <a:latin typeface="Arial"/>
              <a:ea typeface="Arial"/>
              <a:cs typeface="Arial"/>
              <a:sym typeface="Arial"/>
            </a:endParaRPr>
          </a:p>
        </p:txBody>
      </p:sp>
      <p:sp>
        <p:nvSpPr>
          <p:cNvPr id="424" name="Google Shape;424;p19"/>
          <p:cNvSpPr/>
          <p:nvPr/>
        </p:nvSpPr>
        <p:spPr>
          <a:xfrm>
            <a:off x="6263640" y="3703320"/>
            <a:ext cx="5074920" cy="658368"/>
          </a:xfrm>
          <a:prstGeom prst="rect">
            <a:avLst/>
          </a:prstGeom>
          <a:solidFill>
            <a:srgbClr val="0D0D0D"/>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5" name="Google Shape;425;p19"/>
          <p:cNvSpPr/>
          <p:nvPr/>
        </p:nvSpPr>
        <p:spPr>
          <a:xfrm>
            <a:off x="6446520" y="3813048"/>
            <a:ext cx="2286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600"/>
              <a:buFont typeface="Arial"/>
              <a:buNone/>
            </a:pPr>
            <a:r>
              <a:rPr b="1" i="0" lang="en-US" sz="1600" u="none" cap="none" strike="noStrike">
                <a:solidFill>
                  <a:srgbClr val="ED1C24"/>
                </a:solidFill>
                <a:latin typeface="Arial"/>
                <a:ea typeface="Arial"/>
                <a:cs typeface="Arial"/>
                <a:sym typeface="Arial"/>
              </a:rPr>
              <a:t>×</a:t>
            </a:r>
            <a:endParaRPr b="0" i="0" sz="1600" u="none" cap="none" strike="noStrike">
              <a:solidFill>
                <a:schemeClr val="dk1"/>
              </a:solidFill>
              <a:latin typeface="Arial"/>
              <a:ea typeface="Arial"/>
              <a:cs typeface="Arial"/>
              <a:sym typeface="Arial"/>
            </a:endParaRPr>
          </a:p>
        </p:txBody>
      </p:sp>
      <p:sp>
        <p:nvSpPr>
          <p:cNvPr id="426" name="Google Shape;426;p19"/>
          <p:cNvSpPr/>
          <p:nvPr/>
        </p:nvSpPr>
        <p:spPr>
          <a:xfrm>
            <a:off x="6784848" y="3803904"/>
            <a:ext cx="4389120" cy="256032"/>
          </a:xfrm>
          <a:prstGeom prst="rect">
            <a:avLst/>
          </a:prstGeom>
          <a:noFill/>
          <a:ln>
            <a:noFill/>
          </a:ln>
        </p:spPr>
        <p:txBody>
          <a:bodyPr anchorCtr="0" anchor="t" bIns="625" lIns="625" spcFirstLastPara="1" rIns="625" wrap="square" tIns="625">
            <a:noAutofit/>
          </a:bodyPr>
          <a:lstStyle/>
          <a:p>
            <a:pPr indent="0" lvl="0" marL="0" marR="0" rtl="0" algn="l">
              <a:lnSpc>
                <a:spcPct val="100000"/>
              </a:lnSpc>
              <a:spcBef>
                <a:spcPts val="0"/>
              </a:spcBef>
              <a:spcAft>
                <a:spcPts val="0"/>
              </a:spcAft>
              <a:buClr>
                <a:srgbClr val="FFFFFF"/>
              </a:buClr>
              <a:buSzPts val="1380"/>
              <a:buFont typeface="Arial"/>
              <a:buNone/>
            </a:pPr>
            <a:r>
              <a:rPr b="0" i="0" lang="en-US" sz="1380" u="none" cap="none" strike="noStrike">
                <a:solidFill>
                  <a:srgbClr val="FFFFFF"/>
                </a:solidFill>
                <a:latin typeface="Arial"/>
                <a:ea typeface="Arial"/>
                <a:cs typeface="Arial"/>
                <a:sym typeface="Arial"/>
              </a:rPr>
              <a:t>Conditions are named three different ways</a:t>
            </a:r>
            <a:endParaRPr b="0" i="0" sz="1380" u="none" cap="none" strike="noStrike">
              <a:solidFill>
                <a:schemeClr val="dk1"/>
              </a:solidFill>
              <a:latin typeface="Arial"/>
              <a:ea typeface="Arial"/>
              <a:cs typeface="Arial"/>
              <a:sym typeface="Arial"/>
            </a:endParaRPr>
          </a:p>
        </p:txBody>
      </p:sp>
      <p:sp>
        <p:nvSpPr>
          <p:cNvPr id="427" name="Google Shape;427;p19"/>
          <p:cNvSpPr/>
          <p:nvPr/>
        </p:nvSpPr>
        <p:spPr>
          <a:xfrm>
            <a:off x="6263640" y="4663440"/>
            <a:ext cx="5074920" cy="658368"/>
          </a:xfrm>
          <a:prstGeom prst="rect">
            <a:avLst/>
          </a:prstGeom>
          <a:solidFill>
            <a:srgbClr val="0D0D0D"/>
          </a:solidFill>
          <a:ln cap="flat" cmpd="sng" w="10150">
            <a:solidFill>
              <a:srgbClr val="3A3A3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8" name="Google Shape;428;p19"/>
          <p:cNvSpPr/>
          <p:nvPr/>
        </p:nvSpPr>
        <p:spPr>
          <a:xfrm>
            <a:off x="6446520" y="4773168"/>
            <a:ext cx="2286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600"/>
              <a:buFont typeface="Arial"/>
              <a:buNone/>
            </a:pPr>
            <a:r>
              <a:rPr b="1" i="0" lang="en-US" sz="1600" u="none" cap="none" strike="noStrike">
                <a:solidFill>
                  <a:srgbClr val="ED1C24"/>
                </a:solidFill>
                <a:latin typeface="Arial"/>
                <a:ea typeface="Arial"/>
                <a:cs typeface="Arial"/>
                <a:sym typeface="Arial"/>
              </a:rPr>
              <a:t>×</a:t>
            </a:r>
            <a:endParaRPr b="0" i="0" sz="1600" u="none" cap="none" strike="noStrike">
              <a:solidFill>
                <a:schemeClr val="dk1"/>
              </a:solidFill>
              <a:latin typeface="Arial"/>
              <a:ea typeface="Arial"/>
              <a:cs typeface="Arial"/>
              <a:sym typeface="Arial"/>
            </a:endParaRPr>
          </a:p>
        </p:txBody>
      </p:sp>
      <p:sp>
        <p:nvSpPr>
          <p:cNvPr id="429" name="Google Shape;429;p19"/>
          <p:cNvSpPr/>
          <p:nvPr/>
        </p:nvSpPr>
        <p:spPr>
          <a:xfrm>
            <a:off x="6784848" y="4764024"/>
            <a:ext cx="4389120" cy="256032"/>
          </a:xfrm>
          <a:prstGeom prst="rect">
            <a:avLst/>
          </a:prstGeom>
          <a:noFill/>
          <a:ln>
            <a:noFill/>
          </a:ln>
        </p:spPr>
        <p:txBody>
          <a:bodyPr anchorCtr="0" anchor="t" bIns="625" lIns="625" spcFirstLastPara="1" rIns="625" wrap="square" tIns="625">
            <a:noAutofit/>
          </a:bodyPr>
          <a:lstStyle/>
          <a:p>
            <a:pPr indent="0" lvl="0" marL="0" marR="0" rtl="0" algn="l">
              <a:lnSpc>
                <a:spcPct val="100000"/>
              </a:lnSpc>
              <a:spcBef>
                <a:spcPts val="0"/>
              </a:spcBef>
              <a:spcAft>
                <a:spcPts val="0"/>
              </a:spcAft>
              <a:buClr>
                <a:srgbClr val="FFFFFF"/>
              </a:buClr>
              <a:buSzPts val="1380"/>
              <a:buFont typeface="Arial"/>
              <a:buNone/>
            </a:pPr>
            <a:r>
              <a:rPr b="0" i="0" lang="en-US" sz="1380" u="none" cap="none" strike="noStrike">
                <a:solidFill>
                  <a:srgbClr val="FFFFFF"/>
                </a:solidFill>
                <a:latin typeface="Arial"/>
                <a:ea typeface="Arial"/>
                <a:cs typeface="Arial"/>
                <a:sym typeface="Arial"/>
              </a:rPr>
              <a:t>Questionable data are hidden rather than flagged</a:t>
            </a:r>
            <a:endParaRPr b="0" i="0" sz="1380" u="none" cap="none" strike="noStrike">
              <a:solidFill>
                <a:schemeClr val="dk1"/>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434" name="Shape 434"/>
        <p:cNvGrpSpPr/>
        <p:nvPr/>
      </p:nvGrpSpPr>
      <p:grpSpPr>
        <a:xfrm>
          <a:off x="0" y="0"/>
          <a:ext cx="0" cy="0"/>
          <a:chOff x="0" y="0"/>
          <a:chExt cx="0" cy="0"/>
        </a:xfrm>
      </p:grpSpPr>
      <p:cxnSp>
        <p:nvCxnSpPr>
          <p:cNvPr id="435" name="Google Shape;435;p20"/>
          <p:cNvCxnSpPr/>
          <p:nvPr/>
        </p:nvCxnSpPr>
        <p:spPr>
          <a:xfrm>
            <a:off x="0" y="256032"/>
            <a:ext cx="12191695" cy="0"/>
          </a:xfrm>
          <a:prstGeom prst="straightConnector1">
            <a:avLst/>
          </a:prstGeom>
          <a:noFill/>
          <a:ln cap="flat" cmpd="sng" w="38100">
            <a:solidFill>
              <a:srgbClr val="ED1C24"/>
            </a:solidFill>
            <a:prstDash val="solid"/>
            <a:round/>
            <a:headEnd len="sm" w="sm" type="none"/>
            <a:tailEnd len="sm" w="sm" type="none"/>
          </a:ln>
        </p:spPr>
      </p:cxnSp>
      <p:cxnSp>
        <p:nvCxnSpPr>
          <p:cNvPr id="436" name="Google Shape;436;p20"/>
          <p:cNvCxnSpPr/>
          <p:nvPr/>
        </p:nvCxnSpPr>
        <p:spPr>
          <a:xfrm>
            <a:off x="0" y="6537960"/>
            <a:ext cx="12191695" cy="0"/>
          </a:xfrm>
          <a:prstGeom prst="straightConnector1">
            <a:avLst/>
          </a:prstGeom>
          <a:noFill/>
          <a:ln cap="flat" cmpd="sng" w="38100">
            <a:solidFill>
              <a:srgbClr val="ED1C24"/>
            </a:solidFill>
            <a:prstDash val="solid"/>
            <a:round/>
            <a:headEnd len="sm" w="sm" type="none"/>
            <a:tailEnd len="sm" w="sm" type="none"/>
          </a:ln>
        </p:spPr>
      </p:cxnSp>
      <p:sp>
        <p:nvSpPr>
          <p:cNvPr id="437" name="Google Shape;437;p20"/>
          <p:cNvSpPr/>
          <p:nvPr/>
        </p:nvSpPr>
        <p:spPr>
          <a:xfrm>
            <a:off x="411480" y="6592824"/>
            <a:ext cx="2011680" cy="1645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650"/>
              <a:buFont typeface="Arial"/>
              <a:buNone/>
            </a:pPr>
            <a:r>
              <a:rPr b="1" i="0" lang="en-US" sz="650" u="none" cap="none" strike="noStrike">
                <a:solidFill>
                  <a:srgbClr val="737373"/>
                </a:solidFill>
                <a:latin typeface="Arial"/>
                <a:ea typeface="Arial"/>
                <a:cs typeface="Arial"/>
                <a:sym typeface="Arial"/>
              </a:rPr>
              <a:t>DECK 09</a:t>
            </a:r>
            <a:endParaRPr b="0" i="0" sz="650" u="none" cap="none" strike="noStrike">
              <a:solidFill>
                <a:schemeClr val="dk1"/>
              </a:solidFill>
              <a:latin typeface="Arial"/>
              <a:ea typeface="Arial"/>
              <a:cs typeface="Arial"/>
              <a:sym typeface="Arial"/>
            </a:endParaRPr>
          </a:p>
        </p:txBody>
      </p:sp>
      <p:sp>
        <p:nvSpPr>
          <p:cNvPr id="438" name="Google Shape;438;p20"/>
          <p:cNvSpPr/>
          <p:nvPr/>
        </p:nvSpPr>
        <p:spPr>
          <a:xfrm>
            <a:off x="10058400" y="6565392"/>
            <a:ext cx="173736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737373"/>
              </a:buClr>
              <a:buSzPts val="700"/>
              <a:buFont typeface="Arial"/>
              <a:buNone/>
            </a:pPr>
            <a:r>
              <a:rPr b="1" i="0" lang="en-US" sz="700" u="none" cap="none" strike="noStrike">
                <a:solidFill>
                  <a:srgbClr val="737373"/>
                </a:solidFill>
                <a:latin typeface="Arial"/>
                <a:ea typeface="Arial"/>
                <a:cs typeface="Arial"/>
                <a:sym typeface="Arial"/>
              </a:rPr>
              <a:t>STARLAB</a:t>
            </a:r>
            <a:endParaRPr b="0" i="0" sz="700" u="none" cap="none" strike="noStrike">
              <a:solidFill>
                <a:schemeClr val="dk1"/>
              </a:solidFill>
              <a:latin typeface="Arial"/>
              <a:ea typeface="Arial"/>
              <a:cs typeface="Arial"/>
              <a:sym typeface="Arial"/>
            </a:endParaRPr>
          </a:p>
        </p:txBody>
      </p:sp>
      <p:sp>
        <p:nvSpPr>
          <p:cNvPr id="439" name="Google Shape;439;p20"/>
          <p:cNvSpPr/>
          <p:nvPr/>
        </p:nvSpPr>
        <p:spPr>
          <a:xfrm>
            <a:off x="502920" y="475488"/>
            <a:ext cx="438912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900"/>
              <a:buFont typeface="Arial"/>
              <a:buNone/>
            </a:pPr>
            <a:r>
              <a:rPr b="1" i="0" lang="en-US" sz="900" u="none" cap="none" strike="noStrike">
                <a:solidFill>
                  <a:srgbClr val="ED1C24"/>
                </a:solidFill>
                <a:latin typeface="Arial"/>
                <a:ea typeface="Arial"/>
                <a:cs typeface="Arial"/>
                <a:sym typeface="Arial"/>
              </a:rPr>
              <a:t>DATA ORGANIZATION</a:t>
            </a:r>
            <a:endParaRPr b="0" i="0" sz="900" u="none" cap="none" strike="noStrike">
              <a:solidFill>
                <a:schemeClr val="dk1"/>
              </a:solidFill>
              <a:latin typeface="Arial"/>
              <a:ea typeface="Arial"/>
              <a:cs typeface="Arial"/>
              <a:sym typeface="Arial"/>
            </a:endParaRPr>
          </a:p>
        </p:txBody>
      </p:sp>
      <p:sp>
        <p:nvSpPr>
          <p:cNvPr id="440" name="Google Shape;440;p20"/>
          <p:cNvSpPr/>
          <p:nvPr/>
        </p:nvSpPr>
        <p:spPr>
          <a:xfrm>
            <a:off x="502920" y="749808"/>
            <a:ext cx="1097280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Exit ticket: are you ready for analysis?</a:t>
            </a:r>
            <a:endParaRPr b="0" i="0" sz="2800" u="none" cap="none" strike="noStrike">
              <a:solidFill>
                <a:schemeClr val="dk1"/>
              </a:solidFill>
              <a:latin typeface="Arial"/>
              <a:ea typeface="Arial"/>
              <a:cs typeface="Arial"/>
              <a:sym typeface="Arial"/>
            </a:endParaRPr>
          </a:p>
        </p:txBody>
      </p:sp>
      <p:cxnSp>
        <p:nvCxnSpPr>
          <p:cNvPr id="441" name="Google Shape;441;p20"/>
          <p:cNvCxnSpPr/>
          <p:nvPr/>
        </p:nvCxnSpPr>
        <p:spPr>
          <a:xfrm>
            <a:off x="502920" y="1389888"/>
            <a:ext cx="11109960" cy="0"/>
          </a:xfrm>
          <a:prstGeom prst="straightConnector1">
            <a:avLst/>
          </a:prstGeom>
          <a:noFill/>
          <a:ln cap="flat" cmpd="sng" w="17775">
            <a:solidFill>
              <a:srgbClr val="ED1C24">
                <a:alpha val="90196"/>
              </a:srgbClr>
            </a:solidFill>
            <a:prstDash val="solid"/>
            <a:round/>
            <a:headEnd len="sm" w="sm" type="none"/>
            <a:tailEnd len="sm" w="sm" type="none"/>
          </a:ln>
        </p:spPr>
      </p:cxnSp>
      <p:sp>
        <p:nvSpPr>
          <p:cNvPr id="442" name="Google Shape;442;p20"/>
          <p:cNvSpPr/>
          <p:nvPr/>
        </p:nvSpPr>
        <p:spPr>
          <a:xfrm>
            <a:off x="777240" y="1783080"/>
            <a:ext cx="10607040" cy="4023360"/>
          </a:xfrm>
          <a:prstGeom prst="rect">
            <a:avLst/>
          </a:prstGeom>
          <a:solidFill>
            <a:srgbClr val="0D0D0D"/>
          </a:solidFill>
          <a:ln cap="flat" cmpd="sng" w="15225">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 name="Google Shape;443;p20"/>
          <p:cNvSpPr/>
          <p:nvPr/>
        </p:nvSpPr>
        <p:spPr>
          <a:xfrm>
            <a:off x="1005840" y="2011680"/>
            <a:ext cx="1600200" cy="292608"/>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 name="Google Shape;444;p20"/>
          <p:cNvSpPr/>
          <p:nvPr/>
        </p:nvSpPr>
        <p:spPr>
          <a:xfrm>
            <a:off x="1051560" y="2066544"/>
            <a:ext cx="1508760" cy="16459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Arial"/>
              <a:buNone/>
            </a:pPr>
            <a:r>
              <a:rPr b="1" i="0" lang="en-US" sz="800" u="none" cap="none" strike="noStrike">
                <a:solidFill>
                  <a:srgbClr val="FFFFFF"/>
                </a:solidFill>
                <a:latin typeface="Arial"/>
                <a:ea typeface="Arial"/>
                <a:cs typeface="Arial"/>
                <a:sym typeface="Arial"/>
              </a:rPr>
              <a:t>STUDENT ACTIVITY</a:t>
            </a:r>
            <a:endParaRPr b="0" i="0" sz="800" u="none" cap="none" strike="noStrike">
              <a:solidFill>
                <a:schemeClr val="dk1"/>
              </a:solidFill>
              <a:latin typeface="Arial"/>
              <a:ea typeface="Arial"/>
              <a:cs typeface="Arial"/>
              <a:sym typeface="Arial"/>
            </a:endParaRPr>
          </a:p>
        </p:txBody>
      </p:sp>
      <p:sp>
        <p:nvSpPr>
          <p:cNvPr id="445" name="Google Shape;445;p20"/>
          <p:cNvSpPr/>
          <p:nvPr/>
        </p:nvSpPr>
        <p:spPr>
          <a:xfrm>
            <a:off x="1005840" y="2441448"/>
            <a:ext cx="10149840" cy="41148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FFFFF"/>
              </a:buClr>
              <a:buSzPts val="2200"/>
              <a:buFont typeface="Play"/>
              <a:buNone/>
            </a:pPr>
            <a:r>
              <a:rPr b="1" i="0" lang="en-US" sz="2200" u="none" cap="none" strike="noStrike">
                <a:solidFill>
                  <a:srgbClr val="FFFFFF"/>
                </a:solidFill>
                <a:latin typeface="Play"/>
                <a:ea typeface="Play"/>
                <a:cs typeface="Play"/>
                <a:sym typeface="Play"/>
              </a:rPr>
              <a:t>Before you leave, complete this readiness check.</a:t>
            </a:r>
            <a:endParaRPr b="0" i="0" sz="2200" u="none" cap="none" strike="noStrike">
              <a:solidFill>
                <a:schemeClr val="dk1"/>
              </a:solidFill>
              <a:latin typeface="Arial"/>
              <a:ea typeface="Arial"/>
              <a:cs typeface="Arial"/>
              <a:sym typeface="Arial"/>
            </a:endParaRPr>
          </a:p>
        </p:txBody>
      </p:sp>
      <p:sp>
        <p:nvSpPr>
          <p:cNvPr id="446" name="Google Shape;446;p20"/>
          <p:cNvSpPr/>
          <p:nvPr/>
        </p:nvSpPr>
        <p:spPr>
          <a:xfrm>
            <a:off x="1033272" y="2862072"/>
            <a:ext cx="10094976"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8B8B8"/>
              </a:buClr>
              <a:buSzPts val="850"/>
              <a:buFont typeface="Arial"/>
              <a:buNone/>
            </a:pPr>
            <a:r>
              <a:rPr b="1" i="0" lang="en-US" sz="850" u="none" cap="none" strike="noStrike">
                <a:solidFill>
                  <a:srgbClr val="B8B8B8"/>
                </a:solidFill>
                <a:latin typeface="Arial"/>
                <a:ea typeface="Arial"/>
                <a:cs typeface="Arial"/>
                <a:sym typeface="Arial"/>
              </a:rPr>
              <a:t>Unit 4 Week 17 Day 5 • Student Handout 4: Week 17 Data Audit; Unit 3 Student Handout 18: Unit 3 Readiness for Analysis Review</a:t>
            </a:r>
            <a:endParaRPr b="0" i="0" sz="850" u="none" cap="none" strike="noStrike">
              <a:solidFill>
                <a:schemeClr val="dk1"/>
              </a:solidFill>
              <a:latin typeface="Arial"/>
              <a:ea typeface="Arial"/>
              <a:cs typeface="Arial"/>
              <a:sym typeface="Arial"/>
            </a:endParaRPr>
          </a:p>
        </p:txBody>
      </p:sp>
      <p:sp>
        <p:nvSpPr>
          <p:cNvPr id="447" name="Google Shape;447;p20"/>
          <p:cNvSpPr/>
          <p:nvPr/>
        </p:nvSpPr>
        <p:spPr>
          <a:xfrm>
            <a:off x="1097280" y="3319272"/>
            <a:ext cx="9921240" cy="2084832"/>
          </a:xfrm>
          <a:prstGeom prst="rect">
            <a:avLst/>
          </a:prstGeom>
          <a:noFill/>
          <a:ln>
            <a:noFill/>
          </a:ln>
        </p:spPr>
        <p:txBody>
          <a:bodyPr anchorCtr="0" anchor="ctr" bIns="1000" lIns="1000" spcFirstLastPara="1" rIns="1000" wrap="square" tIns="1000">
            <a:noAutofit/>
          </a:bodyPr>
          <a:lstStyle/>
          <a:p>
            <a:pPr indent="0" lvl="0" marL="0" marR="0" rtl="0" algn="l">
              <a:lnSpc>
                <a:spcPct val="100000"/>
              </a:lnSpc>
              <a:spcBef>
                <a:spcPts val="0"/>
              </a:spcBef>
              <a:spcAft>
                <a:spcPts val="0"/>
              </a:spcAft>
              <a:buClr>
                <a:srgbClr val="000000"/>
              </a:buClr>
              <a:buSzPts val="1720"/>
              <a:buFont typeface="Arial"/>
              <a:buNone/>
            </a:pPr>
            <a:r>
              <a:rPr b="0" i="0" lang="en-US" sz="1720" u="none" cap="none" strike="noStrike">
                <a:solidFill>
                  <a:srgbClr val="FFFFFF"/>
                </a:solidFill>
                <a:latin typeface="Arial"/>
                <a:ea typeface="Arial"/>
                <a:cs typeface="Arial"/>
                <a:sym typeface="Arial"/>
              </a:rPr>
              <a:t>Raw data are preserved and backed up</a:t>
            </a:r>
            <a:endParaRPr b="0" i="0" sz="172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20"/>
              <a:buFont typeface="Arial"/>
              <a:buNone/>
            </a:pPr>
            <a:r>
              <a:rPr b="0" i="0" lang="en-US" sz="1720" u="none" cap="none" strike="noStrike">
                <a:solidFill>
                  <a:srgbClr val="FFFFFF"/>
                </a:solidFill>
                <a:latin typeface="Arial"/>
                <a:ea typeface="Arial"/>
                <a:cs typeface="Arial"/>
                <a:sym typeface="Arial"/>
              </a:rPr>
              <a:t>Clean data set exists as a separate copy</a:t>
            </a:r>
            <a:endParaRPr b="0" i="0" sz="172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20"/>
              <a:buFont typeface="Arial"/>
              <a:buNone/>
            </a:pPr>
            <a:r>
              <a:rPr b="0" i="0" lang="en-US" sz="1720" u="none" cap="none" strike="noStrike">
                <a:solidFill>
                  <a:srgbClr val="FFFFFF"/>
                </a:solidFill>
                <a:latin typeface="Arial"/>
                <a:ea typeface="Arial"/>
                <a:cs typeface="Arial"/>
                <a:sym typeface="Arial"/>
              </a:rPr>
              <a:t>Units and labels are clear</a:t>
            </a:r>
            <a:endParaRPr b="0" i="0" sz="172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20"/>
              <a:buFont typeface="Arial"/>
              <a:buNone/>
            </a:pPr>
            <a:r>
              <a:rPr b="0" i="0" lang="en-US" sz="1720" u="none" cap="none" strike="noStrike">
                <a:solidFill>
                  <a:srgbClr val="FFFFFF"/>
                </a:solidFill>
                <a:latin typeface="Arial"/>
                <a:ea typeface="Arial"/>
                <a:cs typeface="Arial"/>
                <a:sym typeface="Arial"/>
              </a:rPr>
              <a:t>Questionable data are flagged</a:t>
            </a:r>
            <a:endParaRPr b="0" i="0" sz="172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20"/>
              <a:buFont typeface="Arial"/>
              <a:buNone/>
            </a:pPr>
            <a:r>
              <a:rPr b="0" i="0" lang="en-US" sz="1720" u="none" cap="none" strike="noStrike">
                <a:solidFill>
                  <a:srgbClr val="FFFFFF"/>
                </a:solidFill>
                <a:latin typeface="Arial"/>
                <a:ea typeface="Arial"/>
                <a:cs typeface="Arial"/>
                <a:sym typeface="Arial"/>
              </a:rPr>
              <a:t>Cleaning decisions are documented</a:t>
            </a:r>
            <a:endParaRPr b="0" i="0" sz="172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20"/>
              <a:buFont typeface="Arial"/>
              <a:buNone/>
            </a:pPr>
            <a:r>
              <a:rPr b="0" i="0" lang="en-US" sz="1720" u="none" cap="none" strike="noStrike">
                <a:solidFill>
                  <a:srgbClr val="FFFFFF"/>
                </a:solidFill>
                <a:latin typeface="Arial"/>
                <a:ea typeface="Arial"/>
                <a:cs typeface="Arial"/>
                <a:sym typeface="Arial"/>
              </a:rPr>
              <a:t>A classmate can explain what your columns mean</a:t>
            </a:r>
            <a:endParaRPr b="0" i="0" sz="172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20"/>
              <a:buFont typeface="Arial"/>
              <a:buNone/>
            </a:pPr>
            <a:r>
              <a:rPr b="0" i="0" lang="en-US" sz="1720" u="none" cap="none" strike="noStrike">
                <a:solidFill>
                  <a:srgbClr val="FFFFFF"/>
                </a:solidFill>
                <a:latin typeface="Arial"/>
                <a:ea typeface="Arial"/>
                <a:cs typeface="Arial"/>
                <a:sym typeface="Arial"/>
              </a:rPr>
              <a:t>You know what calculation or graph you will try first</a:t>
            </a:r>
            <a:endParaRPr b="0" i="0" sz="1720" u="none" cap="none" strike="noStrike">
              <a:solidFill>
                <a:schemeClr val="dk1"/>
              </a:solidFill>
              <a:latin typeface="Arial"/>
              <a:ea typeface="Arial"/>
              <a:cs typeface="Arial"/>
              <a:sym typeface="Arial"/>
            </a:endParaRPr>
          </a:p>
        </p:txBody>
      </p:sp>
      <p:sp>
        <p:nvSpPr>
          <p:cNvPr id="448" name="Google Shape;448;p20"/>
          <p:cNvSpPr/>
          <p:nvPr/>
        </p:nvSpPr>
        <p:spPr>
          <a:xfrm>
            <a:off x="777240" y="5989320"/>
            <a:ext cx="10607040" cy="320040"/>
          </a:xfrm>
          <a:prstGeom prst="rect">
            <a:avLst/>
          </a:prstGeom>
          <a:noFill/>
          <a:ln>
            <a:noFill/>
          </a:ln>
        </p:spPr>
        <p:txBody>
          <a:bodyPr anchorCtr="0" anchor="t" bIns="625" lIns="625" spcFirstLastPara="1" rIns="625" wrap="square" tIns="625">
            <a:noAutofit/>
          </a:bodyPr>
          <a:lstStyle/>
          <a:p>
            <a:pPr indent="0" lvl="0" marL="0" marR="0" rtl="0" algn="ctr">
              <a:lnSpc>
                <a:spcPct val="100000"/>
              </a:lnSpc>
              <a:spcBef>
                <a:spcPts val="0"/>
              </a:spcBef>
              <a:spcAft>
                <a:spcPts val="0"/>
              </a:spcAft>
              <a:buClr>
                <a:srgbClr val="B8B8B8"/>
              </a:buClr>
              <a:buSzPts val="1500"/>
              <a:buFont typeface="Arial"/>
              <a:buNone/>
            </a:pPr>
            <a:r>
              <a:rPr b="0" i="0" lang="en-US" sz="1500" u="none" cap="none" strike="noStrike">
                <a:solidFill>
                  <a:srgbClr val="B8B8B8"/>
                </a:solidFill>
                <a:latin typeface="Arial"/>
                <a:ea typeface="Arial"/>
                <a:cs typeface="Arial"/>
                <a:sym typeface="Arial"/>
              </a:rPr>
              <a:t>Turn in: Raw Data Inventory + Clean Data Set Builder + Decision Log</a:t>
            </a:r>
            <a:endParaRPr b="0" i="0" sz="1500" u="none" cap="none" strike="noStrike">
              <a:solidFill>
                <a:schemeClr val="dk1"/>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453" name="Shape 453"/>
        <p:cNvGrpSpPr/>
        <p:nvPr/>
      </p:nvGrpSpPr>
      <p:grpSpPr>
        <a:xfrm>
          <a:off x="0" y="0"/>
          <a:ext cx="0" cy="0"/>
          <a:chOff x="0" y="0"/>
          <a:chExt cx="0" cy="0"/>
        </a:xfrm>
      </p:grpSpPr>
      <p:cxnSp>
        <p:nvCxnSpPr>
          <p:cNvPr id="454" name="Google Shape;454;p21"/>
          <p:cNvCxnSpPr/>
          <p:nvPr/>
        </p:nvCxnSpPr>
        <p:spPr>
          <a:xfrm>
            <a:off x="0" y="256032"/>
            <a:ext cx="12191695" cy="0"/>
          </a:xfrm>
          <a:prstGeom prst="straightConnector1">
            <a:avLst/>
          </a:prstGeom>
          <a:noFill/>
          <a:ln cap="flat" cmpd="sng" w="38100">
            <a:solidFill>
              <a:srgbClr val="ED1C24"/>
            </a:solidFill>
            <a:prstDash val="solid"/>
            <a:round/>
            <a:headEnd len="sm" w="sm" type="none"/>
            <a:tailEnd len="sm" w="sm" type="none"/>
          </a:ln>
        </p:spPr>
      </p:cxnSp>
      <p:cxnSp>
        <p:nvCxnSpPr>
          <p:cNvPr id="455" name="Google Shape;455;p21"/>
          <p:cNvCxnSpPr/>
          <p:nvPr/>
        </p:nvCxnSpPr>
        <p:spPr>
          <a:xfrm>
            <a:off x="0" y="6537960"/>
            <a:ext cx="12191695" cy="0"/>
          </a:xfrm>
          <a:prstGeom prst="straightConnector1">
            <a:avLst/>
          </a:prstGeom>
          <a:noFill/>
          <a:ln cap="flat" cmpd="sng" w="38100">
            <a:solidFill>
              <a:srgbClr val="ED1C24"/>
            </a:solidFill>
            <a:prstDash val="solid"/>
            <a:round/>
            <a:headEnd len="sm" w="sm" type="none"/>
            <a:tailEnd len="sm" w="sm" type="none"/>
          </a:ln>
        </p:spPr>
      </p:cxnSp>
      <p:sp>
        <p:nvSpPr>
          <p:cNvPr id="456" name="Google Shape;456;p21"/>
          <p:cNvSpPr/>
          <p:nvPr/>
        </p:nvSpPr>
        <p:spPr>
          <a:xfrm>
            <a:off x="411480" y="6592824"/>
            <a:ext cx="2011680" cy="1645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650"/>
              <a:buFont typeface="Arial"/>
              <a:buNone/>
            </a:pPr>
            <a:r>
              <a:rPr b="1" i="0" lang="en-US" sz="650" u="none" cap="none" strike="noStrike">
                <a:solidFill>
                  <a:srgbClr val="737373"/>
                </a:solidFill>
                <a:latin typeface="Arial"/>
                <a:ea typeface="Arial"/>
                <a:cs typeface="Arial"/>
                <a:sym typeface="Arial"/>
              </a:rPr>
              <a:t>NEXT DECK</a:t>
            </a:r>
            <a:endParaRPr b="0" i="0" sz="650" u="none" cap="none" strike="noStrike">
              <a:solidFill>
                <a:schemeClr val="dk1"/>
              </a:solidFill>
              <a:latin typeface="Arial"/>
              <a:ea typeface="Arial"/>
              <a:cs typeface="Arial"/>
              <a:sym typeface="Arial"/>
            </a:endParaRPr>
          </a:p>
        </p:txBody>
      </p:sp>
      <p:sp>
        <p:nvSpPr>
          <p:cNvPr id="457" name="Google Shape;457;p21"/>
          <p:cNvSpPr/>
          <p:nvPr/>
        </p:nvSpPr>
        <p:spPr>
          <a:xfrm>
            <a:off x="10058400" y="6565392"/>
            <a:ext cx="1737360" cy="20116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737373"/>
              </a:buClr>
              <a:buSzPts val="700"/>
              <a:buFont typeface="Arial"/>
              <a:buNone/>
            </a:pPr>
            <a:r>
              <a:rPr b="1" i="0" lang="en-US" sz="700" u="none" cap="none" strike="noStrike">
                <a:solidFill>
                  <a:srgbClr val="737373"/>
                </a:solidFill>
                <a:latin typeface="Arial"/>
                <a:ea typeface="Arial"/>
                <a:cs typeface="Arial"/>
                <a:sym typeface="Arial"/>
              </a:rPr>
              <a:t>STARLAB</a:t>
            </a:r>
            <a:endParaRPr b="0" i="0" sz="700" u="none" cap="none" strike="noStrike">
              <a:solidFill>
                <a:schemeClr val="dk1"/>
              </a:solidFill>
              <a:latin typeface="Arial"/>
              <a:ea typeface="Arial"/>
              <a:cs typeface="Arial"/>
              <a:sym typeface="Arial"/>
            </a:endParaRPr>
          </a:p>
        </p:txBody>
      </p:sp>
      <p:sp>
        <p:nvSpPr>
          <p:cNvPr id="458" name="Google Shape;458;p21"/>
          <p:cNvSpPr/>
          <p:nvPr/>
        </p:nvSpPr>
        <p:spPr>
          <a:xfrm>
            <a:off x="822960" y="1143000"/>
            <a:ext cx="10515600" cy="411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ED1C24"/>
              </a:buClr>
              <a:buSzPts val="1400"/>
              <a:buFont typeface="Arial"/>
              <a:buNone/>
            </a:pPr>
            <a:r>
              <a:rPr b="1" i="0" lang="en-US" sz="1400" u="none" cap="none" strike="noStrike">
                <a:solidFill>
                  <a:srgbClr val="ED1C24"/>
                </a:solidFill>
                <a:latin typeface="Arial"/>
                <a:ea typeface="Arial"/>
                <a:cs typeface="Arial"/>
                <a:sym typeface="Arial"/>
              </a:rPr>
              <a:t>NEXT DECK</a:t>
            </a:r>
            <a:endParaRPr b="0" i="0" sz="1400" u="none" cap="none" strike="noStrike">
              <a:solidFill>
                <a:schemeClr val="dk1"/>
              </a:solidFill>
              <a:latin typeface="Arial"/>
              <a:ea typeface="Arial"/>
              <a:cs typeface="Arial"/>
              <a:sym typeface="Arial"/>
            </a:endParaRPr>
          </a:p>
        </p:txBody>
      </p:sp>
      <p:sp>
        <p:nvSpPr>
          <p:cNvPr id="459" name="Google Shape;459;p21"/>
          <p:cNvSpPr/>
          <p:nvPr/>
        </p:nvSpPr>
        <p:spPr>
          <a:xfrm>
            <a:off x="1005840" y="2148840"/>
            <a:ext cx="10149840" cy="7772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3400"/>
              <a:buFont typeface="Play"/>
              <a:buNone/>
            </a:pPr>
            <a:r>
              <a:rPr b="1" i="0" lang="en-US" sz="3400" u="none" cap="none" strike="noStrike">
                <a:solidFill>
                  <a:srgbClr val="FFFFFF"/>
                </a:solidFill>
                <a:latin typeface="Play"/>
                <a:ea typeface="Play"/>
                <a:cs typeface="Play"/>
                <a:sym typeface="Play"/>
              </a:rPr>
              <a:t>Choosing the Right Data Analysis Method</a:t>
            </a:r>
            <a:endParaRPr b="0" i="0" sz="3400" u="none" cap="none" strike="noStrike">
              <a:solidFill>
                <a:schemeClr val="dk1"/>
              </a:solidFill>
              <a:latin typeface="Arial"/>
              <a:ea typeface="Arial"/>
              <a:cs typeface="Arial"/>
              <a:sym typeface="Arial"/>
            </a:endParaRPr>
          </a:p>
        </p:txBody>
      </p:sp>
      <p:cxnSp>
        <p:nvCxnSpPr>
          <p:cNvPr id="460" name="Google Shape;460;p21"/>
          <p:cNvCxnSpPr/>
          <p:nvPr/>
        </p:nvCxnSpPr>
        <p:spPr>
          <a:xfrm>
            <a:off x="2194560" y="3154680"/>
            <a:ext cx="7772400" cy="0"/>
          </a:xfrm>
          <a:prstGeom prst="straightConnector1">
            <a:avLst/>
          </a:prstGeom>
          <a:noFill/>
          <a:ln cap="flat" cmpd="sng" w="25400">
            <a:solidFill>
              <a:srgbClr val="ED1C24"/>
            </a:solidFill>
            <a:prstDash val="solid"/>
            <a:round/>
            <a:headEnd len="sm" w="sm" type="none"/>
            <a:tailEnd len="sm" w="sm" type="none"/>
          </a:ln>
        </p:spPr>
      </p:cxnSp>
      <p:sp>
        <p:nvSpPr>
          <p:cNvPr id="461" name="Google Shape;461;p21"/>
          <p:cNvSpPr/>
          <p:nvPr/>
        </p:nvSpPr>
        <p:spPr>
          <a:xfrm>
            <a:off x="1920240" y="3520440"/>
            <a:ext cx="8412480" cy="594360"/>
          </a:xfrm>
          <a:prstGeom prst="rect">
            <a:avLst/>
          </a:prstGeom>
          <a:noFill/>
          <a:ln>
            <a:noFill/>
          </a:ln>
        </p:spPr>
        <p:txBody>
          <a:bodyPr anchorCtr="0" anchor="ctr" bIns="625" lIns="625" spcFirstLastPara="1" rIns="625" wrap="square" tIns="625">
            <a:noAutofit/>
          </a:bodyPr>
          <a:lstStyle/>
          <a:p>
            <a:pPr indent="0" lvl="0" marL="0" marR="0" rtl="0" algn="ctr">
              <a:lnSpc>
                <a:spcPct val="100000"/>
              </a:lnSpc>
              <a:spcBef>
                <a:spcPts val="0"/>
              </a:spcBef>
              <a:spcAft>
                <a:spcPts val="0"/>
              </a:spcAft>
              <a:buClr>
                <a:srgbClr val="B8B8B8"/>
              </a:buClr>
              <a:buSzPts val="1800"/>
              <a:buFont typeface="Arial"/>
              <a:buNone/>
            </a:pPr>
            <a:r>
              <a:rPr b="0" i="0" lang="en-US" sz="1800" u="none" cap="none" strike="noStrike">
                <a:solidFill>
                  <a:srgbClr val="B8B8B8"/>
                </a:solidFill>
                <a:latin typeface="Arial"/>
                <a:ea typeface="Arial"/>
                <a:cs typeface="Arial"/>
                <a:sym typeface="Arial"/>
              </a:rPr>
              <a:t>Now that the data are protected and organized, we can decide what each data set is actually asking us to calculate, compare, or visualize.</a:t>
            </a:r>
            <a:endParaRPr b="0" i="0" sz="1800" u="none" cap="none" strike="noStrike">
              <a:solidFill>
                <a:schemeClr val="dk1"/>
              </a:solidFill>
              <a:latin typeface="Arial"/>
              <a:ea typeface="Arial"/>
              <a:cs typeface="Arial"/>
              <a:sym typeface="Arial"/>
            </a:endParaRPr>
          </a:p>
        </p:txBody>
      </p:sp>
      <p:pic>
        <p:nvPicPr>
          <p:cNvPr descr="/mnt/data/STARLAB Logo 2026.png" id="462" name="Google Shape;462;p21"/>
          <p:cNvPicPr preferRelativeResize="0"/>
          <p:nvPr/>
        </p:nvPicPr>
        <p:blipFill rotWithShape="1">
          <a:blip r:embed="rId3">
            <a:alphaModFix/>
          </a:blip>
          <a:srcRect b="0" l="0" r="0" t="0"/>
          <a:stretch/>
        </p:blipFill>
        <p:spPr>
          <a:xfrm>
            <a:off x="4846320" y="4434840"/>
            <a:ext cx="2468880" cy="123444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