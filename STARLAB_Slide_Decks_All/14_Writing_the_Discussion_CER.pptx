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1675"/>
  <p:notesSz cx="6858000" cy="12191675"/>
  <p:embeddedFontLst>
    <p:embeddedFont>
      <p:font typeface="Play"/>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Play-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title slide as students enter. Frame this lesson as the moment students move from reporting what happened to explaining what the evidence supports. The discussion section is where students become scientific thinkers rather than just project describers.</a:t>
            </a:r>
            <a:br>
              <a:rPr lang="en-US"/>
            </a:br>
            <a:br>
              <a:rPr lang="en-US"/>
            </a:br>
            <a:r>
              <a:rPr lang="en-US"/>
              <a:t>Required print materials for Deck 14:</a:t>
            </a:r>
            <a:br>
              <a:rPr lang="en-US"/>
            </a:br>
            <a:r>
              <a:rPr lang="en-US"/>
              <a:t>• Unit 5 Student Handout 6: Discussion Builder</a:t>
            </a:r>
            <a:br>
              <a:rPr lang="en-US"/>
            </a:br>
            <a:r>
              <a:rPr lang="en-US"/>
              <a:t>• Unit 5 Appendix H: Claim-Evidence-Reasoning Guide</a:t>
            </a:r>
            <a:br>
              <a:rPr lang="en-US"/>
            </a:br>
            <a:r>
              <a:rPr lang="en-US"/>
              <a:t>• Unit 5 Appendix I: Limitations and Error Analysis Guide</a:t>
            </a:r>
            <a:br>
              <a:rPr lang="en-US"/>
            </a:br>
            <a:br>
              <a:rPr lang="en-US"/>
            </a:br>
            <a:r>
              <a:rPr lang="en-US"/>
              <a:t>Optional but useful:</a:t>
            </a:r>
            <a:br>
              <a:rPr lang="en-US"/>
            </a:br>
            <a:r>
              <a:rPr lang="en-US"/>
              <a:t>• Unit 4 Student Handout 13: Claim-Evidence-Reasoning Organizer</a:t>
            </a:r>
            <a:br>
              <a:rPr lang="en-US"/>
            </a:br>
            <a:r>
              <a:rPr lang="en-US"/>
              <a:t>• Unit 4 Student Handout 14: Hypothesis or Design Criteria Review</a:t>
            </a:r>
            <a:br>
              <a:rPr lang="en-US"/>
            </a:br>
            <a:r>
              <a:rPr lang="en-US"/>
              <a:t>• Unit 4 Student Handout 15: Interpretation and Conclusion Draft Notes</a:t>
            </a:r>
            <a:br>
              <a:rPr lang="en-US"/>
            </a:br>
            <a:r>
              <a:rPr lang="en-US"/>
              <a:t>• A student graph or result excerpt for modeling</a:t>
            </a:r>
            <a:br>
              <a:rPr lang="en-US"/>
            </a:br>
            <a:br>
              <a:rPr lang="en-US"/>
            </a:br>
            <a:r>
              <a:rPr lang="en-US"/>
              <a:t>Resource alignment:</a:t>
            </a:r>
            <a:br>
              <a:rPr lang="en-US"/>
            </a:br>
            <a:r>
              <a:rPr lang="en-US"/>
              <a:t>Unit 5, Week 25: Writing the Discussion. Previous deck connection: Deck 13: Scientific Report Structure. Next deck connection: Deck 15: Peer Review and Scientific Revision.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Preview the lesson and the product. Students should leave with a claim-evidence-reasoning paragraph or outline that can become the center of their discussion section.</a:t>
            </a:r>
            <a:br>
              <a:rPr lang="en-US"/>
            </a:br>
            <a:br>
              <a:rPr lang="en-US"/>
            </a:br>
            <a:r>
              <a:rPr lang="en-US"/>
              <a:t>Resource alignment:</a:t>
            </a:r>
            <a:br>
              <a:rPr lang="en-US"/>
            </a:br>
            <a:r>
              <a:rPr lang="en-US"/>
              <a:t>Use with Unit 5 Student Handout 6: Discussion Builder. Reference Unit 5 Appendix H: Claim-Evidence-Reasoning Guide.</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Repeat the key question: “What does the evidence allow me to claim?” This phrase should become the anchor for discussion writing. Emphasize that the discussion is not where students simply repeat the results section.</a:t>
            </a:r>
            <a:br>
              <a:rPr lang="en-US"/>
            </a:br>
            <a:br>
              <a:rPr lang="en-US"/>
            </a:br>
            <a:r>
              <a:rPr lang="en-US"/>
              <a:t>Resource alignment:</a:t>
            </a:r>
            <a:br>
              <a:rPr lang="en-US"/>
            </a:br>
            <a:r>
              <a:rPr lang="en-US"/>
              <a:t>Use with Unit 5 Student Handout 6: Discussion Builder, especially Parts A–F. Reference Unit 5 Appendix H: Claim-Evidence-Reasoning Guide.</a:t>
            </a:r>
            <a:endParaRPr/>
          </a:p>
        </p:txBody>
      </p:sp>
      <p:sp>
        <p:nvSpPr>
          <p:cNvPr id="51" name="Google Shape;5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a quick verbal check: results describe; discussion interprets. Ask students which section should contain a limitation and which should contain the numerical values. They should see that values often appear in both, but the discussion uses values to support a claim.</a:t>
            </a:r>
            <a:br>
              <a:rPr lang="en-US"/>
            </a:br>
            <a:br>
              <a:rPr lang="en-US"/>
            </a:br>
            <a:r>
              <a:rPr lang="en-US"/>
              <a:t>Resource alignment:</a:t>
            </a:r>
            <a:br>
              <a:rPr lang="en-US"/>
            </a:br>
            <a:r>
              <a:rPr lang="en-US"/>
              <a:t>Connects to Deck 13 and Unit 5 Student Handout 6: Discussion Builder. Also supports Unit 5 Student Handout 5: Results and Visuals Builder as background.</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may know CER from earlier classes, but in STARLAB it must connect to their own data. Push them beyond generic reasoning. Reasoning should explain why their evidence matters for their project.</a:t>
            </a:r>
            <a:br>
              <a:rPr lang="en-US"/>
            </a:br>
            <a:br>
              <a:rPr lang="en-US"/>
            </a:br>
            <a:r>
              <a:rPr lang="en-US"/>
              <a:t>Resource alignment:</a:t>
            </a:r>
            <a:br>
              <a:rPr lang="en-US"/>
            </a:br>
            <a:r>
              <a:rPr lang="en-US"/>
              <a:t>Use with Unit 5 Appendix H: Claim-Evidence-Reasoning Guide and Unit 5 Student Handout 6: Discussion Builder.</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often think cautious language sounds less confident. Emphasize the opposite: precise and bounded claims are more scientifically credible.</a:t>
            </a:r>
            <a:br>
              <a:rPr lang="en-US"/>
            </a:br>
            <a:br>
              <a:rPr lang="en-US"/>
            </a:br>
            <a:r>
              <a:rPr lang="en-US"/>
              <a:t>Resource alignment:</a:t>
            </a:r>
            <a:br>
              <a:rPr lang="en-US"/>
            </a:br>
            <a:r>
              <a:rPr lang="en-US"/>
              <a:t>Use with Unit 5 Student Handout 6: Discussion Builder, Part A: Main Claim. Reference Unit 5 Appendix H and Appendix I.</a:t>
            </a:r>
            <a:endParaRPr/>
          </a:p>
        </p:txBody>
      </p:sp>
      <p:sp>
        <p:nvSpPr>
          <p:cNvPr id="112" name="Google Shape;11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Require students to include at least one specific number, comparison, figure reference, or observation in each major discussion claim. This prevents the discussion from becoming generic.</a:t>
            </a:r>
            <a:br>
              <a:rPr lang="en-US"/>
            </a:br>
            <a:br>
              <a:rPr lang="en-US"/>
            </a:br>
            <a:r>
              <a:rPr lang="en-US"/>
              <a:t>Resource alignment:</a:t>
            </a:r>
            <a:br>
              <a:rPr lang="en-US"/>
            </a:br>
            <a:r>
              <a:rPr lang="en-US"/>
              <a:t>Use with Unit 5 Student Handout 6: Discussion Builder, Part B: Evidence. Reference Unit 5 Appendix H: Claim-Evidence-Reasoning Guide.</a:t>
            </a:r>
            <a:endParaRPr/>
          </a:p>
        </p:txBody>
      </p:sp>
      <p:sp>
        <p:nvSpPr>
          <p:cNvPr id="128" name="Google Shape;12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Many students stop after claim and evidence. Prompt them with “because…” or “this matters because…” Reasoning should explain the connection between evidence and claim in the context of the project type.</a:t>
            </a:r>
            <a:br>
              <a:rPr lang="en-US"/>
            </a:br>
            <a:br>
              <a:rPr lang="en-US"/>
            </a:br>
            <a:r>
              <a:rPr lang="en-US"/>
              <a:t>Resource alignment:</a:t>
            </a:r>
            <a:br>
              <a:rPr lang="en-US"/>
            </a:br>
            <a:r>
              <a:rPr lang="en-US"/>
              <a:t>Use with Unit 5 Student Handout 6: Discussion Builder, Part C: Reasoning. Reference Unit 5 Appendix H: Claim-Evidence-Reasoning Guide.</a:t>
            </a:r>
            <a:endParaRPr/>
          </a:p>
        </p:txBody>
      </p:sp>
      <p:sp>
        <p:nvSpPr>
          <p:cNvPr id="148" name="Google Shape;14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helps keep different project types valid. Students should not force every project into “hypothesis supported” language if they are doing engineering or data analysis.</a:t>
            </a:r>
            <a:br>
              <a:rPr lang="en-US"/>
            </a:br>
            <a:br>
              <a:rPr lang="en-US"/>
            </a:br>
            <a:r>
              <a:rPr lang="en-US"/>
              <a:t>Resource alignment:</a:t>
            </a:r>
            <a:br>
              <a:rPr lang="en-US"/>
            </a:br>
            <a:r>
              <a:rPr lang="en-US"/>
              <a:t>Use with Unit 5 Student Handout 6: Discussion Builder, Part D: Connection to Hypothesis or Design Goal. Optional support: Unit 4 Student Handout 14: Hypothesis or Design Criteria Review.</a:t>
            </a:r>
            <a:endParaRPr/>
          </a:p>
        </p:txBody>
      </p:sp>
      <p:sp>
        <p:nvSpPr>
          <p:cNvPr id="173" name="Google Shape;17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Normalize limitations. Students may try to hide them because they think limitations make the project weaker. Explain that vague or missing limitations weaken trust more than honest, specific limitations.</a:t>
            </a:r>
            <a:br>
              <a:rPr lang="en-US"/>
            </a:br>
            <a:br>
              <a:rPr lang="en-US"/>
            </a:br>
            <a:r>
              <a:rPr lang="en-US"/>
              <a:t>Resource alignment:</a:t>
            </a:r>
            <a:br>
              <a:rPr lang="en-US"/>
            </a:br>
            <a:r>
              <a:rPr lang="en-US"/>
              <a:t>Use with Unit 5 Student Handout 6: Discussion Builder, Part E: Limitations and Sources of Error. Reference Unit 5 Appendix I: Limitations and Error Analysis Guide.</a:t>
            </a:r>
            <a:endParaRPr/>
          </a:p>
        </p:txBody>
      </p:sp>
      <p:sp>
        <p:nvSpPr>
          <p:cNvPr id="196" name="Google Shape;19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Have students identify what makes the stronger examples more useful: they name the limitation and explain how it affects confidence or interpretation.</a:t>
            </a:r>
            <a:br>
              <a:rPr lang="en-US"/>
            </a:br>
            <a:br>
              <a:rPr lang="en-US"/>
            </a:br>
            <a:r>
              <a:rPr lang="en-US"/>
              <a:t>Resource alignment:</a:t>
            </a:r>
            <a:br>
              <a:rPr lang="en-US"/>
            </a:br>
            <a:r>
              <a:rPr lang="en-US"/>
              <a:t>Use with Unit 5 Appendix I: Limitations and Error Analysis Guide. Students can adapt this language in Unit 5 Student Handout 6.</a:t>
            </a:r>
            <a:endParaRPr/>
          </a:p>
        </p:txBody>
      </p:sp>
      <p:sp>
        <p:nvSpPr>
          <p:cNvPr id="212" name="Google Shape;21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slide is important for students whose results did not support their original idea. Reinforce that a strong discussion can be built around unexpected or inconclusive evidence if the interpretation is honest and specific.</a:t>
            </a:r>
            <a:br>
              <a:rPr lang="en-US"/>
            </a:br>
            <a:br>
              <a:rPr lang="en-US"/>
            </a:br>
            <a:r>
              <a:rPr lang="en-US"/>
              <a:t>Resource alignment:</a:t>
            </a:r>
            <a:br>
              <a:rPr lang="en-US"/>
            </a:br>
            <a:r>
              <a:rPr lang="en-US"/>
              <a:t>Use with Unit 5 Student Handout 6: Discussion Builder and Unit 5 Appendix I: Limitations and Error Analysis Guide.</a:t>
            </a:r>
            <a:endParaRPr/>
          </a:p>
        </p:txBody>
      </p:sp>
      <p:sp>
        <p:nvSpPr>
          <p:cNvPr id="232" name="Google Shape;2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Future work should be specific and justified by the data, limitations, or failure modes. Ask students what their evidence makes them want to test next.</a:t>
            </a:r>
            <a:br>
              <a:rPr lang="en-US"/>
            </a:br>
            <a:br>
              <a:rPr lang="en-US"/>
            </a:br>
            <a:r>
              <a:rPr lang="en-US"/>
              <a:t>Resource alignment:</a:t>
            </a:r>
            <a:br>
              <a:rPr lang="en-US"/>
            </a:br>
            <a:r>
              <a:rPr lang="en-US"/>
              <a:t>Use with Unit 5 Student Handout 6: Discussion Builder, Part F: Future Work. Reference Unit 5 Appendix I.</a:t>
            </a:r>
            <a:endParaRPr/>
          </a:p>
        </p:txBody>
      </p:sp>
      <p:sp>
        <p:nvSpPr>
          <p:cNvPr id="248" name="Google Shape;24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Students often think “proves” sounds impressive. Explain that careful language is not weakness; it is scientific accuracy.</a:t>
            </a:r>
            <a:br>
              <a:rPr lang="en-US"/>
            </a:br>
            <a:br>
              <a:rPr lang="en-US"/>
            </a:br>
            <a:r>
              <a:rPr lang="en-US"/>
              <a:t>Resource alignment:</a:t>
            </a:r>
            <a:br>
              <a:rPr lang="en-US"/>
            </a:br>
            <a:r>
              <a:rPr lang="en-US"/>
              <a:t>Use with Unit 5 Student Handout 6 and Unit 5 Appendix H. This also connects to Unit 4 interpretation work and Deck 12: Error, Uncertainty, and Limitations.</a:t>
            </a:r>
            <a:endParaRPr/>
          </a:p>
        </p:txBody>
      </p:sp>
      <p:sp>
        <p:nvSpPr>
          <p:cNvPr id="268" name="Google Shape;26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is the main drafting activity. Require students to use their own data. If a student does not yet have final data, have them use preliminary evidence and label it honestly as preliminary.</a:t>
            </a:r>
            <a:br>
              <a:rPr lang="en-US"/>
            </a:br>
            <a:br>
              <a:rPr lang="en-US"/>
            </a:br>
            <a:r>
              <a:rPr lang="en-US"/>
              <a:t>Resource alignment:</a:t>
            </a:r>
            <a:br>
              <a:rPr lang="en-US"/>
            </a:br>
            <a:r>
              <a:rPr lang="en-US"/>
              <a:t>Use Unit 5 Student Handout 6: Discussion Builder, Parts A–E. Reference Unit 5 Appendix H: Claim-Evidence-Reasoning Guide and Appendix I: Limitations and Error Analysis Guide.</a:t>
            </a:r>
            <a:endParaRPr/>
          </a:p>
        </p:txBody>
      </p:sp>
      <p:sp>
        <p:nvSpPr>
          <p:cNvPr id="288" name="Google Shape;2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Partner feedback should be fast and focused. Students are not editing grammar yet; they are checking scientific argument quality.</a:t>
            </a:r>
            <a:br>
              <a:rPr lang="en-US"/>
            </a:br>
            <a:br>
              <a:rPr lang="en-US"/>
            </a:br>
            <a:r>
              <a:rPr lang="en-US"/>
              <a:t>Resource alignment:</a:t>
            </a:r>
            <a:br>
              <a:rPr lang="en-US"/>
            </a:br>
            <a:r>
              <a:rPr lang="en-US"/>
              <a:t>Use Unit 5 Student Handout 6: Discussion Builder. Reference Unit 5 Appendix H and Appendix I. This prepares students for Deck 15: Peer Review and Scientific Revision.</a:t>
            </a:r>
            <a:endParaRPr/>
          </a:p>
        </p:txBody>
      </p:sp>
      <p:sp>
        <p:nvSpPr>
          <p:cNvPr id="305" name="Google Shape;3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This is a planning map, not a rigid formula. Some projects may need multiple claims or a different order, but these parts should be present somewhere in the discussion.</a:t>
            </a:r>
            <a:br>
              <a:rPr lang="en-US"/>
            </a:br>
            <a:br>
              <a:rPr lang="en-US"/>
            </a:br>
            <a:r>
              <a:rPr lang="en-US"/>
              <a:t>Resource alignment:</a:t>
            </a:r>
            <a:br>
              <a:rPr lang="en-US"/>
            </a:br>
            <a:r>
              <a:rPr lang="en-US"/>
              <a:t>Use with Unit 5 Student Handout 6: Discussion Builder. Students can use this slide to organize the first full discussion draft.</a:t>
            </a:r>
            <a:endParaRPr/>
          </a:p>
        </p:txBody>
      </p:sp>
      <p:sp>
        <p:nvSpPr>
          <p:cNvPr id="322" name="Google Shape;32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Use this as a self-check before students submit or share their discussion drafts. Students who are missing evidence or reasoning should revise before moving into larger peer review.</a:t>
            </a:r>
            <a:br>
              <a:rPr lang="en-US"/>
            </a:br>
            <a:br>
              <a:rPr lang="en-US"/>
            </a:br>
            <a:r>
              <a:rPr lang="en-US"/>
              <a:t>Resource alignment:</a:t>
            </a:r>
            <a:br>
              <a:rPr lang="en-US"/>
            </a:br>
            <a:r>
              <a:rPr lang="en-US"/>
              <a:t>Use with Unit 5 Student Handout 6: Discussion Builder and Unit 5 Appendix H. This checkpoint prepares students for Deck 15: Peer Review and Scientific Revision.</a:t>
            </a:r>
            <a:endParaRPr/>
          </a:p>
        </p:txBody>
      </p:sp>
      <p:sp>
        <p:nvSpPr>
          <p:cNvPr id="356" name="Google Shape;3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notes:</a:t>
            </a:r>
            <a:br>
              <a:rPr lang="en-US"/>
            </a:br>
            <a:r>
              <a:rPr lang="en-US"/>
              <a:t>Close by reminding students that the discussion draft is not finished after one attempt. Deck 15 will focus on peer review and revision, especially whether claims are supported and limitations are addressed honestly.</a:t>
            </a:r>
            <a:br>
              <a:rPr lang="en-US"/>
            </a:br>
            <a:br>
              <a:rPr lang="en-US"/>
            </a:br>
            <a:r>
              <a:rPr lang="en-US"/>
              <a:t>Resource alignment:</a:t>
            </a:r>
            <a:br>
              <a:rPr lang="en-US"/>
            </a:br>
            <a:r>
              <a:rPr lang="en-US"/>
              <a:t>Next deck connection: Deck 15: Peer Review and Scientific Revision. Related resources: Unit 5 Student Handout 8: Peer Review Protocol, Unit 5 Student Handout 9: Revision Plan, Unit 5 Appendix M: Peer Review Sentence Stems, and Unit 5 Appendix N: Scientific Report Rubric.</a:t>
            </a:r>
            <a:endParaRPr/>
          </a:p>
        </p:txBody>
      </p:sp>
      <p:sp>
        <p:nvSpPr>
          <p:cNvPr id="371" name="Google Shape;37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5" name="Shape 15"/>
        <p:cNvGrpSpPr/>
        <p:nvPr/>
      </p:nvGrpSpPr>
      <p:grpSpPr>
        <a:xfrm>
          <a:off x="0" y="0"/>
          <a:ext cx="0" cy="0"/>
          <a:chOff x="0" y="0"/>
          <a:chExt cx="0" cy="0"/>
        </a:xfrm>
      </p:grpSpPr>
      <p:sp>
        <p:nvSpPr>
          <p:cNvPr id="16" name="Google Shape;16;p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219456"/>
            <a:ext cx="12191695" cy="82296"/>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6565392"/>
            <a:ext cx="12191695" cy="82296"/>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nt/data/extract_deck12/ppt/media/image-1-1.png" id="19" name="Google Shape;19;p3"/>
          <p:cNvPicPr preferRelativeResize="0"/>
          <p:nvPr/>
        </p:nvPicPr>
        <p:blipFill rotWithShape="1">
          <a:blip r:embed="rId3">
            <a:alphaModFix/>
          </a:blip>
          <a:srcRect b="0" l="0" r="0" t="0"/>
          <a:stretch/>
        </p:blipFill>
        <p:spPr>
          <a:xfrm>
            <a:off x="1874520" y="530352"/>
            <a:ext cx="8321040" cy="4169664"/>
          </a:xfrm>
          <a:prstGeom prst="rect">
            <a:avLst/>
          </a:prstGeom>
          <a:noFill/>
          <a:ln>
            <a:noFill/>
          </a:ln>
        </p:spPr>
      </p:pic>
      <p:sp>
        <p:nvSpPr>
          <p:cNvPr id="20" name="Google Shape;20;p3"/>
          <p:cNvSpPr/>
          <p:nvPr/>
        </p:nvSpPr>
        <p:spPr>
          <a:xfrm>
            <a:off x="960120" y="5029200"/>
            <a:ext cx="10287000" cy="822960"/>
          </a:xfrm>
          <a:prstGeom prst="rect">
            <a:avLst/>
          </a:prstGeom>
          <a:solidFill>
            <a:srgbClr val="050505">
              <a:alpha val="0"/>
            </a:srgbClr>
          </a:solidFill>
          <a:ln cap="flat" cmpd="sng" w="15225">
            <a:solidFill>
              <a:srgbClr val="B8B8B8">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024128" y="5157216"/>
            <a:ext cx="1014984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Play"/>
              <a:buNone/>
            </a:pPr>
            <a:r>
              <a:rPr b="1" i="0" lang="en-US" sz="2500" u="none" cap="none" strike="noStrike">
                <a:solidFill>
                  <a:srgbClr val="FFFFFF"/>
                </a:solidFill>
                <a:latin typeface="Play"/>
                <a:ea typeface="Play"/>
                <a:cs typeface="Play"/>
                <a:sym typeface="Play"/>
              </a:rPr>
              <a:t>WRITING THE DISCUSSION</a:t>
            </a:r>
            <a:endParaRPr b="0" i="0" sz="2500" u="none" cap="none" strike="noStrike">
              <a:solidFill>
                <a:schemeClr val="dk1"/>
              </a:solidFill>
              <a:latin typeface="Arial"/>
              <a:ea typeface="Arial"/>
              <a:cs typeface="Arial"/>
              <a:sym typeface="Arial"/>
            </a:endParaRPr>
          </a:p>
        </p:txBody>
      </p:sp>
      <p:sp>
        <p:nvSpPr>
          <p:cNvPr id="22" name="Google Shape;22;p3"/>
          <p:cNvSpPr/>
          <p:nvPr/>
        </p:nvSpPr>
        <p:spPr>
          <a:xfrm>
            <a:off x="1024128" y="5513832"/>
            <a:ext cx="7315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700"/>
              <a:buFont typeface="Play"/>
              <a:buNone/>
            </a:pPr>
            <a:r>
              <a:rPr b="1" i="0" lang="en-US" sz="1700" u="none" cap="none" strike="noStrike">
                <a:solidFill>
                  <a:srgbClr val="E22B27"/>
                </a:solidFill>
                <a:latin typeface="Play"/>
                <a:ea typeface="Play"/>
                <a:cs typeface="Play"/>
                <a:sym typeface="Play"/>
              </a:rPr>
              <a:t>Claim • Evidence • Reasoning</a:t>
            </a:r>
            <a:endParaRPr b="0" i="0" sz="1700" u="none" cap="none" strike="noStrike">
              <a:solidFill>
                <a:schemeClr val="dk1"/>
              </a:solidFill>
              <a:latin typeface="Arial"/>
              <a:ea typeface="Arial"/>
              <a:cs typeface="Arial"/>
              <a:sym typeface="Arial"/>
            </a:endParaRPr>
          </a:p>
        </p:txBody>
      </p:sp>
      <p:sp>
        <p:nvSpPr>
          <p:cNvPr id="23" name="Google Shape;23;p3"/>
          <p:cNvSpPr/>
          <p:nvPr/>
        </p:nvSpPr>
        <p:spPr>
          <a:xfrm>
            <a:off x="1024128" y="5934456"/>
            <a:ext cx="7132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STARLAB Deck 14  •  Unit 5 Core Instruction</a:t>
            </a:r>
            <a:endParaRPr b="0" i="0" sz="1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8" name="Shape 28"/>
        <p:cNvGrpSpPr/>
        <p:nvPr/>
      </p:nvGrpSpPr>
      <p:grpSpPr>
        <a:xfrm>
          <a:off x="0" y="0"/>
          <a:ext cx="0" cy="0"/>
          <a:chOff x="0" y="0"/>
          <a:chExt cx="0" cy="0"/>
        </a:xfrm>
      </p:grpSpPr>
      <p:sp>
        <p:nvSpPr>
          <p:cNvPr id="29" name="Google Shape;29;p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SCIENTIFIC REPORTING</a:t>
            </a:r>
            <a:endParaRPr b="0" i="0" sz="1000" u="none" cap="none" strike="noStrike">
              <a:solidFill>
                <a:schemeClr val="dk1"/>
              </a:solidFill>
              <a:latin typeface="Arial"/>
              <a:ea typeface="Arial"/>
              <a:cs typeface="Arial"/>
              <a:sym typeface="Arial"/>
            </a:endParaRPr>
          </a:p>
        </p:txBody>
      </p:sp>
      <p:sp>
        <p:nvSpPr>
          <p:cNvPr id="33" name="Google Shape;33;p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STARLAB</a:t>
            </a:r>
            <a:endParaRPr b="0" i="0" sz="1000" u="none" cap="none" strike="noStrike">
              <a:solidFill>
                <a:schemeClr val="dk1"/>
              </a:solidFill>
              <a:latin typeface="Arial"/>
              <a:ea typeface="Arial"/>
              <a:cs typeface="Arial"/>
              <a:sym typeface="Arial"/>
            </a:endParaRPr>
          </a:p>
        </p:txBody>
      </p:sp>
      <p:sp>
        <p:nvSpPr>
          <p:cNvPr id="34" name="Google Shape;34;p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DECK 14</a:t>
            </a:r>
            <a:endParaRPr b="0" i="0" sz="1100" u="none" cap="none" strike="noStrike">
              <a:solidFill>
                <a:schemeClr val="dk1"/>
              </a:solidFill>
              <a:latin typeface="Arial"/>
              <a:ea typeface="Arial"/>
              <a:cs typeface="Arial"/>
              <a:sym typeface="Arial"/>
            </a:endParaRPr>
          </a:p>
        </p:txBody>
      </p:sp>
      <p:sp>
        <p:nvSpPr>
          <p:cNvPr id="35" name="Google Shape;35;p4"/>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i="0" lang="en-US" sz="2700" u="none" cap="none" strike="noStrike">
                <a:solidFill>
                  <a:srgbClr val="FFFFFF"/>
                </a:solidFill>
                <a:latin typeface="Play"/>
                <a:ea typeface="Play"/>
                <a:cs typeface="Play"/>
                <a:sym typeface="Play"/>
              </a:rPr>
              <a:t>Today’s Target</a:t>
            </a:r>
            <a:endParaRPr b="0" i="0" sz="2700" u="none" cap="none" strike="noStrike">
              <a:solidFill>
                <a:schemeClr val="dk1"/>
              </a:solidFill>
              <a:latin typeface="Arial"/>
              <a:ea typeface="Arial"/>
              <a:cs typeface="Arial"/>
              <a:sym typeface="Arial"/>
            </a:endParaRPr>
          </a:p>
        </p:txBody>
      </p:sp>
      <p:sp>
        <p:nvSpPr>
          <p:cNvPr id="36" name="Google Shape;36;p4"/>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Use evidence to build a cautious scientific argument.</a:t>
            </a:r>
            <a:endParaRPr b="0" i="0" sz="1200" u="none" cap="none" strike="noStrike">
              <a:solidFill>
                <a:schemeClr val="dk1"/>
              </a:solidFill>
              <a:latin typeface="Arial"/>
              <a:ea typeface="Arial"/>
              <a:cs typeface="Arial"/>
              <a:sym typeface="Arial"/>
            </a:endParaRPr>
          </a:p>
        </p:txBody>
      </p:sp>
      <p:cxnSp>
        <p:nvCxnSpPr>
          <p:cNvPr id="37" name="Google Shape;37;p4"/>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38" name="Google Shape;38;p4"/>
          <p:cNvSpPr/>
          <p:nvPr/>
        </p:nvSpPr>
        <p:spPr>
          <a:xfrm>
            <a:off x="868680" y="1783080"/>
            <a:ext cx="3246120" cy="1965960"/>
          </a:xfrm>
          <a:prstGeom prst="roundRect">
            <a:avLst>
              <a:gd fmla="val 2791"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1033272" y="192024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i="0" lang="en-US" sz="1200" u="none" cap="none" strike="noStrike">
                <a:solidFill>
                  <a:srgbClr val="E22B27"/>
                </a:solidFill>
                <a:latin typeface="Arial"/>
                <a:ea typeface="Arial"/>
                <a:cs typeface="Arial"/>
                <a:sym typeface="Arial"/>
              </a:rPr>
              <a:t>1. NAME THE CLAIM</a:t>
            </a:r>
            <a:endParaRPr b="0" i="0" sz="1200" u="none" cap="none" strike="noStrike">
              <a:solidFill>
                <a:schemeClr val="dk1"/>
              </a:solidFill>
              <a:latin typeface="Arial"/>
              <a:ea typeface="Arial"/>
              <a:cs typeface="Arial"/>
              <a:sym typeface="Arial"/>
            </a:endParaRPr>
          </a:p>
        </p:txBody>
      </p:sp>
      <p:sp>
        <p:nvSpPr>
          <p:cNvPr id="40" name="Google Shape;40;p4"/>
          <p:cNvSpPr/>
          <p:nvPr/>
        </p:nvSpPr>
        <p:spPr>
          <a:xfrm>
            <a:off x="1033272" y="2286000"/>
            <a:ext cx="2916936" cy="1307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State what the data suggest without overclaiming.</a:t>
            </a:r>
            <a:endParaRPr b="0" i="0" sz="1800" u="none" cap="none" strike="noStrike">
              <a:solidFill>
                <a:schemeClr val="dk1"/>
              </a:solidFill>
              <a:latin typeface="Arial"/>
              <a:ea typeface="Arial"/>
              <a:cs typeface="Arial"/>
              <a:sym typeface="Arial"/>
            </a:endParaRPr>
          </a:p>
        </p:txBody>
      </p:sp>
      <p:sp>
        <p:nvSpPr>
          <p:cNvPr id="41" name="Google Shape;41;p4"/>
          <p:cNvSpPr/>
          <p:nvPr/>
        </p:nvSpPr>
        <p:spPr>
          <a:xfrm>
            <a:off x="4480560" y="1783080"/>
            <a:ext cx="3246120" cy="1965960"/>
          </a:xfrm>
          <a:prstGeom prst="roundRect">
            <a:avLst>
              <a:gd fmla="val 2791"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4645152" y="192024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i="0" lang="en-US" sz="1200" u="none" cap="none" strike="noStrike">
                <a:solidFill>
                  <a:srgbClr val="E22B27"/>
                </a:solidFill>
                <a:latin typeface="Arial"/>
                <a:ea typeface="Arial"/>
                <a:cs typeface="Arial"/>
                <a:sym typeface="Arial"/>
              </a:rPr>
              <a:t>2. ANCHOR IN EVIDENCE</a:t>
            </a:r>
            <a:endParaRPr b="0" i="0" sz="1200" u="none" cap="none" strike="noStrike">
              <a:solidFill>
                <a:schemeClr val="dk1"/>
              </a:solidFill>
              <a:latin typeface="Arial"/>
              <a:ea typeface="Arial"/>
              <a:cs typeface="Arial"/>
              <a:sym typeface="Arial"/>
            </a:endParaRPr>
          </a:p>
        </p:txBody>
      </p:sp>
      <p:sp>
        <p:nvSpPr>
          <p:cNvPr id="43" name="Google Shape;43;p4"/>
          <p:cNvSpPr/>
          <p:nvPr/>
        </p:nvSpPr>
        <p:spPr>
          <a:xfrm>
            <a:off x="4645152" y="2286000"/>
            <a:ext cx="2916936" cy="1307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Use specific numbers, graphs, observations, or design results.</a:t>
            </a:r>
            <a:endParaRPr b="0" i="0" sz="1800" u="none" cap="none" strike="noStrike">
              <a:solidFill>
                <a:schemeClr val="dk1"/>
              </a:solidFill>
              <a:latin typeface="Arial"/>
              <a:ea typeface="Arial"/>
              <a:cs typeface="Arial"/>
              <a:sym typeface="Arial"/>
            </a:endParaRPr>
          </a:p>
        </p:txBody>
      </p:sp>
      <p:sp>
        <p:nvSpPr>
          <p:cNvPr id="44" name="Google Shape;44;p4"/>
          <p:cNvSpPr/>
          <p:nvPr/>
        </p:nvSpPr>
        <p:spPr>
          <a:xfrm>
            <a:off x="8092440" y="1783080"/>
            <a:ext cx="3246120" cy="1965960"/>
          </a:xfrm>
          <a:prstGeom prst="roundRect">
            <a:avLst>
              <a:gd fmla="val 2791"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8257032" y="192024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i="0" lang="en-US" sz="1200" u="none" cap="none" strike="noStrike">
                <a:solidFill>
                  <a:srgbClr val="E22B27"/>
                </a:solidFill>
                <a:latin typeface="Arial"/>
                <a:ea typeface="Arial"/>
                <a:cs typeface="Arial"/>
                <a:sym typeface="Arial"/>
              </a:rPr>
              <a:t>3. EXPLAIN REASONING</a:t>
            </a:r>
            <a:endParaRPr b="0" i="0" sz="1200" u="none" cap="none" strike="noStrike">
              <a:solidFill>
                <a:schemeClr val="dk1"/>
              </a:solidFill>
              <a:latin typeface="Arial"/>
              <a:ea typeface="Arial"/>
              <a:cs typeface="Arial"/>
              <a:sym typeface="Arial"/>
            </a:endParaRPr>
          </a:p>
        </p:txBody>
      </p:sp>
      <p:sp>
        <p:nvSpPr>
          <p:cNvPr id="46" name="Google Shape;46;p4"/>
          <p:cNvSpPr/>
          <p:nvPr/>
        </p:nvSpPr>
        <p:spPr>
          <a:xfrm>
            <a:off x="8257032" y="2286000"/>
            <a:ext cx="2916936" cy="1307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Connect the evidence to the research question, limitations, and future work.</a:t>
            </a:r>
            <a:endParaRPr b="0" i="0" sz="1800" u="none" cap="none" strike="noStrike">
              <a:solidFill>
                <a:schemeClr val="dk1"/>
              </a:solidFill>
              <a:latin typeface="Arial"/>
              <a:ea typeface="Arial"/>
              <a:cs typeface="Arial"/>
              <a:sym typeface="Arial"/>
            </a:endParaRPr>
          </a:p>
        </p:txBody>
      </p:sp>
      <p:sp>
        <p:nvSpPr>
          <p:cNvPr id="47" name="Google Shape;47;p4"/>
          <p:cNvSpPr/>
          <p:nvPr/>
        </p:nvSpPr>
        <p:spPr>
          <a:xfrm>
            <a:off x="914400" y="4389120"/>
            <a:ext cx="103327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Play"/>
              <a:buNone/>
            </a:pPr>
            <a:r>
              <a:rPr b="1" i="0" lang="en-US" sz="2400" u="none" cap="none" strike="noStrike">
                <a:solidFill>
                  <a:srgbClr val="FFFFFF"/>
                </a:solidFill>
                <a:latin typeface="Play"/>
                <a:ea typeface="Play"/>
                <a:cs typeface="Play"/>
                <a:sym typeface="Play"/>
              </a:rPr>
              <a:t>By the end, every student should have the core of a discussion section drafted.</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52" name="Shape 52"/>
        <p:cNvGrpSpPr/>
        <p:nvPr/>
      </p:nvGrpSpPr>
      <p:grpSpPr>
        <a:xfrm>
          <a:off x="0" y="0"/>
          <a:ext cx="0" cy="0"/>
          <a:chOff x="0" y="0"/>
          <a:chExt cx="0" cy="0"/>
        </a:xfrm>
      </p:grpSpPr>
      <p:sp>
        <p:nvSpPr>
          <p:cNvPr id="53" name="Google Shape;53;p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SCIENTIFIC REPORTING</a:t>
            </a:r>
            <a:endParaRPr b="0" i="0" sz="1000" u="none" cap="none" strike="noStrike">
              <a:solidFill>
                <a:schemeClr val="dk1"/>
              </a:solidFill>
              <a:latin typeface="Arial"/>
              <a:ea typeface="Arial"/>
              <a:cs typeface="Arial"/>
              <a:sym typeface="Arial"/>
            </a:endParaRPr>
          </a:p>
        </p:txBody>
      </p:sp>
      <p:sp>
        <p:nvSpPr>
          <p:cNvPr id="57" name="Google Shape;57;p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i="0" lang="en-US" sz="1000" u="none" cap="none" strike="noStrike">
                <a:solidFill>
                  <a:srgbClr val="B8B8B8"/>
                </a:solidFill>
                <a:latin typeface="Arial"/>
                <a:ea typeface="Arial"/>
                <a:cs typeface="Arial"/>
                <a:sym typeface="Arial"/>
              </a:rPr>
              <a:t>STARLAB</a:t>
            </a:r>
            <a:endParaRPr b="0" i="0" sz="1000" u="none" cap="none" strike="noStrike">
              <a:solidFill>
                <a:schemeClr val="dk1"/>
              </a:solidFill>
              <a:latin typeface="Arial"/>
              <a:ea typeface="Arial"/>
              <a:cs typeface="Arial"/>
              <a:sym typeface="Arial"/>
            </a:endParaRPr>
          </a:p>
        </p:txBody>
      </p:sp>
      <p:sp>
        <p:nvSpPr>
          <p:cNvPr id="58" name="Google Shape;58;p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i="0" lang="en-US" sz="1100" u="none" cap="none" strike="noStrike">
                <a:solidFill>
                  <a:srgbClr val="E22B27"/>
                </a:solidFill>
                <a:latin typeface="Arial"/>
                <a:ea typeface="Arial"/>
                <a:cs typeface="Arial"/>
                <a:sym typeface="Arial"/>
              </a:rPr>
              <a:t>DECK 14</a:t>
            </a:r>
            <a:endParaRPr b="0" i="0" sz="1100" u="none" cap="none" strike="noStrike">
              <a:solidFill>
                <a:schemeClr val="dk1"/>
              </a:solidFill>
              <a:latin typeface="Arial"/>
              <a:ea typeface="Arial"/>
              <a:cs typeface="Arial"/>
              <a:sym typeface="Arial"/>
            </a:endParaRPr>
          </a:p>
        </p:txBody>
      </p:sp>
      <p:sp>
        <p:nvSpPr>
          <p:cNvPr id="59" name="Google Shape;59;p5"/>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i="0" lang="en-US" sz="2700" u="none" cap="none" strike="noStrike">
                <a:solidFill>
                  <a:srgbClr val="FFFFFF"/>
                </a:solidFill>
                <a:latin typeface="Play"/>
                <a:ea typeface="Play"/>
                <a:cs typeface="Play"/>
                <a:sym typeface="Play"/>
              </a:rPr>
              <a:t>What the Discussion Section Does</a:t>
            </a:r>
            <a:endParaRPr b="0" i="0" sz="2700" u="none" cap="none" strike="noStrike">
              <a:solidFill>
                <a:schemeClr val="dk1"/>
              </a:solidFill>
              <a:latin typeface="Arial"/>
              <a:ea typeface="Arial"/>
              <a:cs typeface="Arial"/>
              <a:sym typeface="Arial"/>
            </a:endParaRPr>
          </a:p>
        </p:txBody>
      </p:sp>
      <p:sp>
        <p:nvSpPr>
          <p:cNvPr id="60" name="Google Shape;60;p5"/>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b="0" i="0" lang="en-US" sz="1200" u="none" cap="none" strike="noStrike">
                <a:solidFill>
                  <a:srgbClr val="B8B8B8"/>
                </a:solidFill>
                <a:latin typeface="Arial"/>
                <a:ea typeface="Arial"/>
                <a:cs typeface="Arial"/>
                <a:sym typeface="Arial"/>
              </a:rPr>
              <a:t>It turns results into meaning.</a:t>
            </a:r>
            <a:endParaRPr b="0" i="0" sz="1200" u="none" cap="none" strike="noStrike">
              <a:solidFill>
                <a:schemeClr val="dk1"/>
              </a:solidFill>
              <a:latin typeface="Arial"/>
              <a:ea typeface="Arial"/>
              <a:cs typeface="Arial"/>
              <a:sym typeface="Arial"/>
            </a:endParaRPr>
          </a:p>
        </p:txBody>
      </p:sp>
      <p:cxnSp>
        <p:nvCxnSpPr>
          <p:cNvPr id="61" name="Google Shape;61;p5"/>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62" name="Google Shape;62;p5"/>
          <p:cNvSpPr/>
          <p:nvPr/>
        </p:nvSpPr>
        <p:spPr>
          <a:xfrm>
            <a:off x="914400" y="1828800"/>
            <a:ext cx="73152" cy="10972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1143000" y="1865376"/>
            <a:ext cx="9875520" cy="100584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500"/>
              <a:buFont typeface="Play"/>
              <a:buNone/>
            </a:pPr>
            <a:r>
              <a:rPr b="1" i="0" lang="en-US" sz="2500" u="none" cap="none" strike="noStrike">
                <a:solidFill>
                  <a:srgbClr val="FFFFFF"/>
                </a:solidFill>
                <a:latin typeface="Play"/>
                <a:ea typeface="Play"/>
                <a:cs typeface="Play"/>
                <a:sym typeface="Play"/>
              </a:rPr>
              <a:t>The discussion answers: what does the evidence allow me to claim?</a:t>
            </a:r>
            <a:endParaRPr b="0" i="0" sz="2500" u="none" cap="none" strike="noStrike">
              <a:solidFill>
                <a:schemeClr val="dk1"/>
              </a:solidFill>
              <a:latin typeface="Arial"/>
              <a:ea typeface="Arial"/>
              <a:cs typeface="Arial"/>
              <a:sym typeface="Arial"/>
            </a:endParaRPr>
          </a:p>
        </p:txBody>
      </p:sp>
      <p:sp>
        <p:nvSpPr>
          <p:cNvPr id="64" name="Google Shape;64;p5"/>
          <p:cNvSpPr/>
          <p:nvPr/>
        </p:nvSpPr>
        <p:spPr>
          <a:xfrm>
            <a:off x="960120" y="3246120"/>
            <a:ext cx="10149840" cy="228600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b="0" i="0" lang="en-US" sz="1900" u="none" cap="none" strike="noStrike">
                <a:solidFill>
                  <a:srgbClr val="FFFFFF"/>
                </a:solidFill>
                <a:latin typeface="Arial"/>
                <a:ea typeface="Arial"/>
                <a:cs typeface="Arial"/>
                <a:sym typeface="Arial"/>
              </a:rPr>
              <a:t>Connects results back to the research question or engineering goal.</a:t>
            </a:r>
            <a:endParaRPr sz="1900">
              <a:solidFill>
                <a:schemeClr val="dk1"/>
              </a:solidFill>
              <a:latin typeface="Arial"/>
              <a:ea typeface="Arial"/>
              <a:cs typeface="Arial"/>
              <a:sym typeface="Arial"/>
            </a:endParaRPr>
          </a:p>
          <a:p>
            <a:pPr indent="0" lvl="0" marL="0" marR="0" rtl="0" algn="l">
              <a:spcBef>
                <a:spcPts val="0"/>
              </a:spcBef>
              <a:spcAft>
                <a:spcPts val="0"/>
              </a:spcAft>
              <a:buNone/>
            </a:pPr>
            <a:r>
              <a:rPr lang="en-US" sz="1900">
                <a:solidFill>
                  <a:srgbClr val="FFFFFF"/>
                </a:solidFill>
                <a:latin typeface="Arial"/>
                <a:ea typeface="Arial"/>
                <a:cs typeface="Arial"/>
                <a:sym typeface="Arial"/>
              </a:rPr>
              <a:t>Explains whether the hypothesis was supported or the design criteria were met.</a:t>
            </a:r>
            <a:endParaRPr sz="1900">
              <a:solidFill>
                <a:schemeClr val="dk1"/>
              </a:solidFill>
              <a:latin typeface="Arial"/>
              <a:ea typeface="Arial"/>
              <a:cs typeface="Arial"/>
              <a:sym typeface="Arial"/>
            </a:endParaRPr>
          </a:p>
          <a:p>
            <a:pPr indent="0" lvl="0" marL="0" marR="0" rtl="0" algn="l">
              <a:spcBef>
                <a:spcPts val="0"/>
              </a:spcBef>
              <a:spcAft>
                <a:spcPts val="0"/>
              </a:spcAft>
              <a:buNone/>
            </a:pPr>
            <a:r>
              <a:rPr lang="en-US" sz="1900">
                <a:solidFill>
                  <a:srgbClr val="FFFFFF"/>
                </a:solidFill>
                <a:latin typeface="Arial"/>
                <a:ea typeface="Arial"/>
                <a:cs typeface="Arial"/>
                <a:sym typeface="Arial"/>
              </a:rPr>
              <a:t>Interprets patterns, tradeoffs, unexpected results, and failures.</a:t>
            </a:r>
            <a:endParaRPr sz="1900">
              <a:solidFill>
                <a:schemeClr val="dk1"/>
              </a:solidFill>
              <a:latin typeface="Arial"/>
              <a:ea typeface="Arial"/>
              <a:cs typeface="Arial"/>
              <a:sym typeface="Arial"/>
            </a:endParaRPr>
          </a:p>
          <a:p>
            <a:pPr indent="0" lvl="0" marL="0" marR="0" rtl="0" algn="l">
              <a:spcBef>
                <a:spcPts val="0"/>
              </a:spcBef>
              <a:spcAft>
                <a:spcPts val="0"/>
              </a:spcAft>
              <a:buNone/>
            </a:pPr>
            <a:r>
              <a:rPr lang="en-US" sz="1900">
                <a:solidFill>
                  <a:srgbClr val="FFFFFF"/>
                </a:solidFill>
                <a:latin typeface="Arial"/>
                <a:ea typeface="Arial"/>
                <a:cs typeface="Arial"/>
                <a:sym typeface="Arial"/>
              </a:rPr>
              <a:t>Acknowledges limitations and sources of uncertainty.</a:t>
            </a:r>
            <a:endParaRPr sz="1900">
              <a:solidFill>
                <a:schemeClr val="dk1"/>
              </a:solidFill>
              <a:latin typeface="Arial"/>
              <a:ea typeface="Arial"/>
              <a:cs typeface="Arial"/>
              <a:sym typeface="Arial"/>
            </a:endParaRPr>
          </a:p>
          <a:p>
            <a:pPr indent="0" lvl="0" marL="0" marR="0" rtl="0" algn="l">
              <a:spcBef>
                <a:spcPts val="0"/>
              </a:spcBef>
              <a:spcAft>
                <a:spcPts val="0"/>
              </a:spcAft>
              <a:buNone/>
            </a:pPr>
            <a:r>
              <a:rPr lang="en-US" sz="1900">
                <a:solidFill>
                  <a:srgbClr val="FFFFFF"/>
                </a:solidFill>
                <a:latin typeface="Arial"/>
                <a:ea typeface="Arial"/>
                <a:cs typeface="Arial"/>
                <a:sym typeface="Arial"/>
              </a:rPr>
              <a:t>Identifies future work that follows from the evidence.</a:t>
            </a:r>
            <a:endParaRPr sz="19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69" name="Shape 69"/>
        <p:cNvGrpSpPr/>
        <p:nvPr/>
      </p:nvGrpSpPr>
      <p:grpSpPr>
        <a:xfrm>
          <a:off x="0" y="0"/>
          <a:ext cx="0" cy="0"/>
          <a:chOff x="0" y="0"/>
          <a:chExt cx="0" cy="0"/>
        </a:xfrm>
      </p:grpSpPr>
      <p:sp>
        <p:nvSpPr>
          <p:cNvPr id="70" name="Google Shape;70;p6"/>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74" name="Google Shape;74;p6"/>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75" name="Google Shape;75;p6"/>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76" name="Google Shape;76;p6"/>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Results vs. Discussion</a:t>
            </a:r>
            <a:endParaRPr sz="2700">
              <a:solidFill>
                <a:schemeClr val="dk1"/>
              </a:solidFill>
              <a:latin typeface="Arial"/>
              <a:ea typeface="Arial"/>
              <a:cs typeface="Arial"/>
              <a:sym typeface="Arial"/>
            </a:endParaRPr>
          </a:p>
        </p:txBody>
      </p:sp>
      <p:sp>
        <p:nvSpPr>
          <p:cNvPr id="77" name="Google Shape;77;p6"/>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Show first. Explain second.</a:t>
            </a:r>
            <a:endParaRPr sz="1200">
              <a:solidFill>
                <a:schemeClr val="dk1"/>
              </a:solidFill>
              <a:latin typeface="Arial"/>
              <a:ea typeface="Arial"/>
              <a:cs typeface="Arial"/>
              <a:sym typeface="Arial"/>
            </a:endParaRPr>
          </a:p>
        </p:txBody>
      </p:sp>
      <p:cxnSp>
        <p:nvCxnSpPr>
          <p:cNvPr id="78" name="Google Shape;78;p6"/>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79" name="Google Shape;79;p6"/>
          <p:cNvSpPr/>
          <p:nvPr/>
        </p:nvSpPr>
        <p:spPr>
          <a:xfrm>
            <a:off x="914400" y="1828800"/>
            <a:ext cx="4892040" cy="3429000"/>
          </a:xfrm>
          <a:prstGeom prst="roundRect">
            <a:avLst>
              <a:gd fmla="val 1600"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107899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RESULTS</a:t>
            </a:r>
            <a:endParaRPr sz="1200">
              <a:solidFill>
                <a:schemeClr val="dk1"/>
              </a:solidFill>
              <a:latin typeface="Arial"/>
              <a:ea typeface="Arial"/>
              <a:cs typeface="Arial"/>
              <a:sym typeface="Arial"/>
            </a:endParaRPr>
          </a:p>
        </p:txBody>
      </p:sp>
      <p:sp>
        <p:nvSpPr>
          <p:cNvPr id="81" name="Google Shape;81;p6"/>
          <p:cNvSpPr/>
          <p:nvPr/>
        </p:nvSpPr>
        <p:spPr>
          <a:xfrm>
            <a:off x="1078992" y="2331720"/>
            <a:ext cx="4562856" cy="27706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What the data showed.</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“The triangular truss supported an average of 48 N before failure.”</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“The 45-degree blade produced the highest average voltage.”</a:t>
            </a:r>
            <a:endParaRPr sz="1900">
              <a:solidFill>
                <a:schemeClr val="dk1"/>
              </a:solidFill>
              <a:latin typeface="Arial"/>
              <a:ea typeface="Arial"/>
              <a:cs typeface="Arial"/>
              <a:sym typeface="Arial"/>
            </a:endParaRPr>
          </a:p>
        </p:txBody>
      </p:sp>
      <p:sp>
        <p:nvSpPr>
          <p:cNvPr id="82" name="Google Shape;82;p6"/>
          <p:cNvSpPr/>
          <p:nvPr/>
        </p:nvSpPr>
        <p:spPr>
          <a:xfrm>
            <a:off x="6355080" y="1828800"/>
            <a:ext cx="4892040" cy="3429000"/>
          </a:xfrm>
          <a:prstGeom prst="roundRect">
            <a:avLst>
              <a:gd fmla="val 1600"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651967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DISCUSSION</a:t>
            </a:r>
            <a:endParaRPr sz="1200">
              <a:solidFill>
                <a:schemeClr val="dk1"/>
              </a:solidFill>
              <a:latin typeface="Arial"/>
              <a:ea typeface="Arial"/>
              <a:cs typeface="Arial"/>
              <a:sym typeface="Arial"/>
            </a:endParaRPr>
          </a:p>
        </p:txBody>
      </p:sp>
      <p:sp>
        <p:nvSpPr>
          <p:cNvPr id="84" name="Google Shape;84;p6"/>
          <p:cNvSpPr/>
          <p:nvPr/>
        </p:nvSpPr>
        <p:spPr>
          <a:xfrm>
            <a:off x="6519672" y="2331720"/>
            <a:ext cx="4562856" cy="27706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What the data may mean.</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“This suggests that the triangular truss had a stronger strength-to-mass tradeoff under the tested conditions.”</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“The 45-degree blade may have balanced lift and drag more effectively.”</a:t>
            </a:r>
            <a:endParaRPr sz="19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89" name="Shape 89"/>
        <p:cNvGrpSpPr/>
        <p:nvPr/>
      </p:nvGrpSpPr>
      <p:grpSpPr>
        <a:xfrm>
          <a:off x="0" y="0"/>
          <a:ext cx="0" cy="0"/>
          <a:chOff x="0" y="0"/>
          <a:chExt cx="0" cy="0"/>
        </a:xfrm>
      </p:grpSpPr>
      <p:sp>
        <p:nvSpPr>
          <p:cNvPr id="90" name="Google Shape;90;p7"/>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94" name="Google Shape;94;p7"/>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95" name="Google Shape;95;p7"/>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96" name="Google Shape;96;p7"/>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The CER Engine</a:t>
            </a:r>
            <a:endParaRPr sz="2700">
              <a:solidFill>
                <a:schemeClr val="dk1"/>
              </a:solidFill>
              <a:latin typeface="Arial"/>
              <a:ea typeface="Arial"/>
              <a:cs typeface="Arial"/>
              <a:sym typeface="Arial"/>
            </a:endParaRPr>
          </a:p>
        </p:txBody>
      </p:sp>
      <p:sp>
        <p:nvSpPr>
          <p:cNvPr id="97" name="Google Shape;97;p7"/>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Claim • Evidence • Reasoning is the heart of the discussion.</a:t>
            </a:r>
            <a:endParaRPr sz="1200">
              <a:solidFill>
                <a:schemeClr val="dk1"/>
              </a:solidFill>
              <a:latin typeface="Arial"/>
              <a:ea typeface="Arial"/>
              <a:cs typeface="Arial"/>
              <a:sym typeface="Arial"/>
            </a:endParaRPr>
          </a:p>
        </p:txBody>
      </p:sp>
      <p:cxnSp>
        <p:nvCxnSpPr>
          <p:cNvPr id="98" name="Google Shape;98;p7"/>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99" name="Google Shape;99;p7"/>
          <p:cNvSpPr/>
          <p:nvPr/>
        </p:nvSpPr>
        <p:spPr>
          <a:xfrm>
            <a:off x="914400" y="1828800"/>
            <a:ext cx="3154680" cy="3017520"/>
          </a:xfrm>
          <a:prstGeom prst="roundRect">
            <a:avLst>
              <a:gd fmla="val 1818"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1078992" y="19659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CLAIM</a:t>
            </a:r>
            <a:endParaRPr sz="1200">
              <a:solidFill>
                <a:schemeClr val="dk1"/>
              </a:solidFill>
              <a:latin typeface="Arial"/>
              <a:ea typeface="Arial"/>
              <a:cs typeface="Arial"/>
              <a:sym typeface="Arial"/>
            </a:endParaRPr>
          </a:p>
        </p:txBody>
      </p:sp>
      <p:sp>
        <p:nvSpPr>
          <p:cNvPr id="101" name="Google Shape;101;p7"/>
          <p:cNvSpPr/>
          <p:nvPr/>
        </p:nvSpPr>
        <p:spPr>
          <a:xfrm>
            <a:off x="1078992" y="2331720"/>
            <a:ext cx="2825496" cy="23591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What does the evidence suggest?</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A claim should answer the research question or evaluate the design goal.</a:t>
            </a:r>
            <a:endParaRPr sz="1900">
              <a:solidFill>
                <a:schemeClr val="dk1"/>
              </a:solidFill>
              <a:latin typeface="Arial"/>
              <a:ea typeface="Arial"/>
              <a:cs typeface="Arial"/>
              <a:sym typeface="Arial"/>
            </a:endParaRPr>
          </a:p>
        </p:txBody>
      </p:sp>
      <p:sp>
        <p:nvSpPr>
          <p:cNvPr id="102" name="Google Shape;102;p7"/>
          <p:cNvSpPr/>
          <p:nvPr/>
        </p:nvSpPr>
        <p:spPr>
          <a:xfrm>
            <a:off x="4526280" y="1828800"/>
            <a:ext cx="3154680" cy="3017520"/>
          </a:xfrm>
          <a:prstGeom prst="roundRect">
            <a:avLst>
              <a:gd fmla="val 1818"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4690872" y="19659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EVIDENCE</a:t>
            </a:r>
            <a:endParaRPr sz="1200">
              <a:solidFill>
                <a:schemeClr val="dk1"/>
              </a:solidFill>
              <a:latin typeface="Arial"/>
              <a:ea typeface="Arial"/>
              <a:cs typeface="Arial"/>
              <a:sym typeface="Arial"/>
            </a:endParaRPr>
          </a:p>
        </p:txBody>
      </p:sp>
      <p:sp>
        <p:nvSpPr>
          <p:cNvPr id="104" name="Google Shape;104;p7"/>
          <p:cNvSpPr/>
          <p:nvPr/>
        </p:nvSpPr>
        <p:spPr>
          <a:xfrm>
            <a:off x="4690872" y="2331720"/>
            <a:ext cx="2825496" cy="23591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What specific data supports the claim?</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Use numbers, comparisons, graphs, observations, images, or performance metrics.</a:t>
            </a:r>
            <a:endParaRPr sz="1900">
              <a:solidFill>
                <a:schemeClr val="dk1"/>
              </a:solidFill>
              <a:latin typeface="Arial"/>
              <a:ea typeface="Arial"/>
              <a:cs typeface="Arial"/>
              <a:sym typeface="Arial"/>
            </a:endParaRPr>
          </a:p>
        </p:txBody>
      </p:sp>
      <p:sp>
        <p:nvSpPr>
          <p:cNvPr id="105" name="Google Shape;105;p7"/>
          <p:cNvSpPr/>
          <p:nvPr/>
        </p:nvSpPr>
        <p:spPr>
          <a:xfrm>
            <a:off x="8138160" y="1828800"/>
            <a:ext cx="3154680" cy="3017520"/>
          </a:xfrm>
          <a:prstGeom prst="roundRect">
            <a:avLst>
              <a:gd fmla="val 1818"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8302752" y="19659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REASONING</a:t>
            </a:r>
            <a:endParaRPr sz="1200">
              <a:solidFill>
                <a:schemeClr val="dk1"/>
              </a:solidFill>
              <a:latin typeface="Arial"/>
              <a:ea typeface="Arial"/>
              <a:cs typeface="Arial"/>
              <a:sym typeface="Arial"/>
            </a:endParaRPr>
          </a:p>
        </p:txBody>
      </p:sp>
      <p:sp>
        <p:nvSpPr>
          <p:cNvPr id="107" name="Google Shape;107;p7"/>
          <p:cNvSpPr/>
          <p:nvPr/>
        </p:nvSpPr>
        <p:spPr>
          <a:xfrm>
            <a:off x="8302752" y="2331720"/>
            <a:ext cx="2825496" cy="235915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Why does the evidence support the claim?</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Explain the scientific logic, design tradeoff, limitation, or mechanism.</a:t>
            </a:r>
            <a:endParaRPr sz="1900">
              <a:solidFill>
                <a:schemeClr val="dk1"/>
              </a:solidFill>
              <a:latin typeface="Arial"/>
              <a:ea typeface="Arial"/>
              <a:cs typeface="Arial"/>
              <a:sym typeface="Arial"/>
            </a:endParaRPr>
          </a:p>
        </p:txBody>
      </p:sp>
      <p:sp>
        <p:nvSpPr>
          <p:cNvPr id="108" name="Google Shape;108;p7"/>
          <p:cNvSpPr/>
          <p:nvPr/>
        </p:nvSpPr>
        <p:spPr>
          <a:xfrm>
            <a:off x="914400" y="5532120"/>
            <a:ext cx="103327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Play"/>
              <a:buNone/>
            </a:pPr>
            <a:r>
              <a:rPr b="1" lang="en-US" sz="2200">
                <a:solidFill>
                  <a:srgbClr val="FFFFFF"/>
                </a:solidFill>
                <a:latin typeface="Play"/>
                <a:ea typeface="Play"/>
                <a:cs typeface="Play"/>
                <a:sym typeface="Play"/>
              </a:rPr>
              <a:t>A discussion paragraph is weak when any one of these three parts is missing.</a:t>
            </a:r>
            <a:endParaRPr sz="22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13" name="Shape 113"/>
        <p:cNvGrpSpPr/>
        <p:nvPr/>
      </p:nvGrpSpPr>
      <p:grpSpPr>
        <a:xfrm>
          <a:off x="0" y="0"/>
          <a:ext cx="0" cy="0"/>
          <a:chOff x="0" y="0"/>
          <a:chExt cx="0" cy="0"/>
        </a:xfrm>
      </p:grpSpPr>
      <p:sp>
        <p:nvSpPr>
          <p:cNvPr id="114" name="Google Shape;114;p8"/>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118" name="Google Shape;118;p8"/>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19" name="Google Shape;119;p8"/>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120" name="Google Shape;120;p8"/>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Start With a Defensible Claim</a:t>
            </a:r>
            <a:endParaRPr sz="2700">
              <a:solidFill>
                <a:schemeClr val="dk1"/>
              </a:solidFill>
              <a:latin typeface="Arial"/>
              <a:ea typeface="Arial"/>
              <a:cs typeface="Arial"/>
              <a:sym typeface="Arial"/>
            </a:endParaRPr>
          </a:p>
        </p:txBody>
      </p:sp>
      <p:sp>
        <p:nvSpPr>
          <p:cNvPr id="121" name="Google Shape;121;p8"/>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The claim must fit the strength of the evidence.</a:t>
            </a:r>
            <a:endParaRPr sz="1200">
              <a:solidFill>
                <a:schemeClr val="dk1"/>
              </a:solidFill>
              <a:latin typeface="Arial"/>
              <a:ea typeface="Arial"/>
              <a:cs typeface="Arial"/>
              <a:sym typeface="Arial"/>
            </a:endParaRPr>
          </a:p>
        </p:txBody>
      </p:sp>
      <p:cxnSp>
        <p:nvCxnSpPr>
          <p:cNvPr id="122" name="Google Shape;122;p8"/>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123" name="Google Shape;123;p8"/>
          <p:cNvSpPr/>
          <p:nvPr/>
        </p:nvSpPr>
        <p:spPr>
          <a:xfrm>
            <a:off x="1005840" y="1828800"/>
            <a:ext cx="10058400" cy="329184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000">
                <a:solidFill>
                  <a:srgbClr val="FFFFFF"/>
                </a:solidFill>
                <a:latin typeface="Arial"/>
                <a:ea typeface="Arial"/>
                <a:cs typeface="Arial"/>
                <a:sym typeface="Arial"/>
              </a:rPr>
              <a:t>Weak claim: “My design is the best bridge.”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Better claim: “Among the three tested designs, the triangular truss supported the greatest load per gram.”</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Weak claim: “Fertilizer makes plants grow faster.”</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Better claim: “Under the tested conditions, the 10% fertilizer group had the highest average height after four weeks.”</a:t>
            </a:r>
            <a:endParaRPr sz="2000">
              <a:solidFill>
                <a:schemeClr val="dk1"/>
              </a:solidFill>
              <a:latin typeface="Arial"/>
              <a:ea typeface="Arial"/>
              <a:cs typeface="Arial"/>
              <a:sym typeface="Arial"/>
            </a:endParaRPr>
          </a:p>
        </p:txBody>
      </p:sp>
      <p:sp>
        <p:nvSpPr>
          <p:cNvPr id="124" name="Google Shape;124;p8"/>
          <p:cNvSpPr/>
          <p:nvPr/>
        </p:nvSpPr>
        <p:spPr>
          <a:xfrm>
            <a:off x="914400" y="5440680"/>
            <a:ext cx="10332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2B27"/>
              </a:buClr>
              <a:buSzPts val="2500"/>
              <a:buFont typeface="Play"/>
              <a:buNone/>
            </a:pPr>
            <a:r>
              <a:rPr b="1" lang="en-US" sz="2500">
                <a:solidFill>
                  <a:srgbClr val="E22B27"/>
                </a:solidFill>
                <a:latin typeface="Play"/>
                <a:ea typeface="Play"/>
                <a:cs typeface="Play"/>
                <a:sym typeface="Play"/>
              </a:rPr>
              <a:t>Precision makes a claim stronger, not weaker.</a:t>
            </a:r>
            <a:endParaRPr sz="25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29" name="Shape 129"/>
        <p:cNvGrpSpPr/>
        <p:nvPr/>
      </p:nvGrpSpPr>
      <p:grpSpPr>
        <a:xfrm>
          <a:off x="0" y="0"/>
          <a:ext cx="0" cy="0"/>
          <a:chOff x="0" y="0"/>
          <a:chExt cx="0" cy="0"/>
        </a:xfrm>
      </p:grpSpPr>
      <p:sp>
        <p:nvSpPr>
          <p:cNvPr id="130" name="Google Shape;130;p9"/>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134" name="Google Shape;134;p9"/>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35" name="Google Shape;135;p9"/>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136" name="Google Shape;136;p9"/>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Evidence Must Be Specific</a:t>
            </a:r>
            <a:endParaRPr sz="2700">
              <a:solidFill>
                <a:schemeClr val="dk1"/>
              </a:solidFill>
              <a:latin typeface="Arial"/>
              <a:ea typeface="Arial"/>
              <a:cs typeface="Arial"/>
              <a:sym typeface="Arial"/>
            </a:endParaRPr>
          </a:p>
        </p:txBody>
      </p:sp>
      <p:sp>
        <p:nvSpPr>
          <p:cNvPr id="137" name="Google Shape;137;p9"/>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Do not point vaguely at “the data.”</a:t>
            </a:r>
            <a:endParaRPr sz="1200">
              <a:solidFill>
                <a:schemeClr val="dk1"/>
              </a:solidFill>
              <a:latin typeface="Arial"/>
              <a:ea typeface="Arial"/>
              <a:cs typeface="Arial"/>
              <a:sym typeface="Arial"/>
            </a:endParaRPr>
          </a:p>
        </p:txBody>
      </p:sp>
      <p:cxnSp>
        <p:nvCxnSpPr>
          <p:cNvPr id="138" name="Google Shape;138;p9"/>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139" name="Google Shape;139;p9"/>
          <p:cNvSpPr/>
          <p:nvPr/>
        </p:nvSpPr>
        <p:spPr>
          <a:xfrm>
            <a:off x="914400" y="1828800"/>
            <a:ext cx="4892040" cy="3200400"/>
          </a:xfrm>
          <a:prstGeom prst="roundRect">
            <a:avLst>
              <a:gd fmla="val 171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107899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TOO VAGUE</a:t>
            </a:r>
            <a:endParaRPr sz="1200">
              <a:solidFill>
                <a:schemeClr val="dk1"/>
              </a:solidFill>
              <a:latin typeface="Arial"/>
              <a:ea typeface="Arial"/>
              <a:cs typeface="Arial"/>
              <a:sym typeface="Arial"/>
            </a:endParaRPr>
          </a:p>
        </p:txBody>
      </p:sp>
      <p:sp>
        <p:nvSpPr>
          <p:cNvPr id="141" name="Google Shape;141;p9"/>
          <p:cNvSpPr/>
          <p:nvPr/>
        </p:nvSpPr>
        <p:spPr>
          <a:xfrm>
            <a:off x="1078992" y="2331720"/>
            <a:ext cx="4562856" cy="2542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graph shows that the prototype worked better.”</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results supported my hypothesis.”</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“My data were pretty consistent.”</a:t>
            </a:r>
            <a:endParaRPr sz="2000">
              <a:solidFill>
                <a:schemeClr val="dk1"/>
              </a:solidFill>
              <a:latin typeface="Arial"/>
              <a:ea typeface="Arial"/>
              <a:cs typeface="Arial"/>
              <a:sym typeface="Arial"/>
            </a:endParaRPr>
          </a:p>
        </p:txBody>
      </p:sp>
      <p:sp>
        <p:nvSpPr>
          <p:cNvPr id="142" name="Google Shape;142;p9"/>
          <p:cNvSpPr/>
          <p:nvPr/>
        </p:nvSpPr>
        <p:spPr>
          <a:xfrm>
            <a:off x="6355080" y="1828800"/>
            <a:ext cx="4892040" cy="3200400"/>
          </a:xfrm>
          <a:prstGeom prst="roundRect">
            <a:avLst>
              <a:gd fmla="val 1714"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651967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MORE USEFUL</a:t>
            </a:r>
            <a:endParaRPr sz="1200">
              <a:solidFill>
                <a:schemeClr val="dk1"/>
              </a:solidFill>
              <a:latin typeface="Arial"/>
              <a:ea typeface="Arial"/>
              <a:cs typeface="Arial"/>
              <a:sym typeface="Arial"/>
            </a:endParaRPr>
          </a:p>
        </p:txBody>
      </p:sp>
      <p:sp>
        <p:nvSpPr>
          <p:cNvPr id="144" name="Google Shape;144;p9"/>
          <p:cNvSpPr/>
          <p:nvPr/>
        </p:nvSpPr>
        <p:spPr>
          <a:xfrm>
            <a:off x="6519672" y="2331720"/>
            <a:ext cx="4562856" cy="2542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“Prototype B completed 8 of 10 target landings, compared with 4 of 10 for Prototype A.”</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treatment group averaged 2.1 cm/week, compared with 1.2 cm/week in the control group.”</a:t>
            </a:r>
            <a:endParaRPr sz="20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49" name="Shape 149"/>
        <p:cNvGrpSpPr/>
        <p:nvPr/>
      </p:nvGrpSpPr>
      <p:grpSpPr>
        <a:xfrm>
          <a:off x="0" y="0"/>
          <a:ext cx="0" cy="0"/>
          <a:chOff x="0" y="0"/>
          <a:chExt cx="0" cy="0"/>
        </a:xfrm>
      </p:grpSpPr>
      <p:sp>
        <p:nvSpPr>
          <p:cNvPr id="150" name="Google Shape;150;p10"/>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154" name="Google Shape;154;p10"/>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55" name="Google Shape;155;p10"/>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156" name="Google Shape;156;p10"/>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Reasoning Connects the Dots</a:t>
            </a:r>
            <a:endParaRPr sz="2700">
              <a:solidFill>
                <a:schemeClr val="dk1"/>
              </a:solidFill>
              <a:latin typeface="Arial"/>
              <a:ea typeface="Arial"/>
              <a:cs typeface="Arial"/>
              <a:sym typeface="Arial"/>
            </a:endParaRPr>
          </a:p>
        </p:txBody>
      </p:sp>
      <p:sp>
        <p:nvSpPr>
          <p:cNvPr id="157" name="Google Shape;157;p10"/>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Evidence does not explain itself.</a:t>
            </a:r>
            <a:endParaRPr sz="1200">
              <a:solidFill>
                <a:schemeClr val="dk1"/>
              </a:solidFill>
              <a:latin typeface="Arial"/>
              <a:ea typeface="Arial"/>
              <a:cs typeface="Arial"/>
              <a:sym typeface="Arial"/>
            </a:endParaRPr>
          </a:p>
        </p:txBody>
      </p:sp>
      <p:cxnSp>
        <p:nvCxnSpPr>
          <p:cNvPr id="158" name="Google Shape;158;p10"/>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159" name="Google Shape;159;p10"/>
          <p:cNvSpPr/>
          <p:nvPr/>
        </p:nvSpPr>
        <p:spPr>
          <a:xfrm>
            <a:off x="914400" y="1828800"/>
            <a:ext cx="73152" cy="10972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1143000" y="1865376"/>
            <a:ext cx="9875520" cy="100584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500"/>
              <a:buFont typeface="Play"/>
              <a:buNone/>
            </a:pPr>
            <a:r>
              <a:rPr b="1" lang="en-US" sz="2500">
                <a:solidFill>
                  <a:srgbClr val="FFFFFF"/>
                </a:solidFill>
                <a:latin typeface="Play"/>
                <a:ea typeface="Play"/>
                <a:cs typeface="Play"/>
                <a:sym typeface="Play"/>
              </a:rPr>
              <a:t>Reasoning explains why the evidence matters.</a:t>
            </a:r>
            <a:endParaRPr sz="2500">
              <a:solidFill>
                <a:schemeClr val="dk1"/>
              </a:solidFill>
              <a:latin typeface="Arial"/>
              <a:ea typeface="Arial"/>
              <a:cs typeface="Arial"/>
              <a:sym typeface="Arial"/>
            </a:endParaRPr>
          </a:p>
        </p:txBody>
      </p:sp>
      <p:sp>
        <p:nvSpPr>
          <p:cNvPr id="161" name="Google Shape;161;p10"/>
          <p:cNvSpPr/>
          <p:nvPr/>
        </p:nvSpPr>
        <p:spPr>
          <a:xfrm>
            <a:off x="914400" y="3200400"/>
            <a:ext cx="3154680" cy="1920240"/>
          </a:xfrm>
          <a:prstGeom prst="roundRect">
            <a:avLst>
              <a:gd fmla="val 2857"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p:nvPr/>
        </p:nvSpPr>
        <p:spPr>
          <a:xfrm>
            <a:off x="1078992" y="33375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SCIENCE PROJECT</a:t>
            </a:r>
            <a:endParaRPr sz="1200">
              <a:solidFill>
                <a:schemeClr val="dk1"/>
              </a:solidFill>
              <a:latin typeface="Arial"/>
              <a:ea typeface="Arial"/>
              <a:cs typeface="Arial"/>
              <a:sym typeface="Arial"/>
            </a:endParaRPr>
          </a:p>
        </p:txBody>
      </p:sp>
      <p:sp>
        <p:nvSpPr>
          <p:cNvPr id="163" name="Google Shape;163;p10"/>
          <p:cNvSpPr/>
          <p:nvPr/>
        </p:nvSpPr>
        <p:spPr>
          <a:xfrm>
            <a:off x="1078992" y="3703320"/>
            <a:ext cx="2825496" cy="12618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800"/>
              <a:buFont typeface="Arial"/>
              <a:buNone/>
            </a:pPr>
            <a:r>
              <a:rPr lang="en-US" sz="1800">
                <a:solidFill>
                  <a:srgbClr val="FFFFFF"/>
                </a:solidFill>
                <a:latin typeface="Arial"/>
                <a:ea typeface="Arial"/>
                <a:cs typeface="Arial"/>
                <a:sym typeface="Arial"/>
              </a:rPr>
              <a:t>Connect the result to a mechanism, variable, relationship, or scientific principle.</a:t>
            </a:r>
            <a:endParaRPr sz="1800">
              <a:solidFill>
                <a:schemeClr val="dk1"/>
              </a:solidFill>
              <a:latin typeface="Arial"/>
              <a:ea typeface="Arial"/>
              <a:cs typeface="Arial"/>
              <a:sym typeface="Arial"/>
            </a:endParaRPr>
          </a:p>
        </p:txBody>
      </p:sp>
      <p:sp>
        <p:nvSpPr>
          <p:cNvPr id="164" name="Google Shape;164;p10"/>
          <p:cNvSpPr/>
          <p:nvPr/>
        </p:nvSpPr>
        <p:spPr>
          <a:xfrm>
            <a:off x="4526280" y="3200400"/>
            <a:ext cx="3154680" cy="1920240"/>
          </a:xfrm>
          <a:prstGeom prst="roundRect">
            <a:avLst>
              <a:gd fmla="val 2857"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4690872" y="33375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ENGINEERING PROJECT</a:t>
            </a:r>
            <a:endParaRPr sz="1200">
              <a:solidFill>
                <a:schemeClr val="dk1"/>
              </a:solidFill>
              <a:latin typeface="Arial"/>
              <a:ea typeface="Arial"/>
              <a:cs typeface="Arial"/>
              <a:sym typeface="Arial"/>
            </a:endParaRPr>
          </a:p>
        </p:txBody>
      </p:sp>
      <p:sp>
        <p:nvSpPr>
          <p:cNvPr id="166" name="Google Shape;166;p10"/>
          <p:cNvSpPr/>
          <p:nvPr/>
        </p:nvSpPr>
        <p:spPr>
          <a:xfrm>
            <a:off x="4690872" y="3703320"/>
            <a:ext cx="2825496" cy="12618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800"/>
              <a:buFont typeface="Arial"/>
              <a:buNone/>
            </a:pPr>
            <a:r>
              <a:rPr lang="en-US" sz="1800">
                <a:solidFill>
                  <a:srgbClr val="FFFFFF"/>
                </a:solidFill>
                <a:latin typeface="Arial"/>
                <a:ea typeface="Arial"/>
                <a:cs typeface="Arial"/>
                <a:sym typeface="Arial"/>
              </a:rPr>
              <a:t>Connect the result to criteria, constraints, performance metrics, tradeoffs, or failure modes.</a:t>
            </a:r>
            <a:endParaRPr sz="1800">
              <a:solidFill>
                <a:schemeClr val="dk1"/>
              </a:solidFill>
              <a:latin typeface="Arial"/>
              <a:ea typeface="Arial"/>
              <a:cs typeface="Arial"/>
              <a:sym typeface="Arial"/>
            </a:endParaRPr>
          </a:p>
        </p:txBody>
      </p:sp>
      <p:sp>
        <p:nvSpPr>
          <p:cNvPr id="167" name="Google Shape;167;p10"/>
          <p:cNvSpPr/>
          <p:nvPr/>
        </p:nvSpPr>
        <p:spPr>
          <a:xfrm>
            <a:off x="8138160" y="3200400"/>
            <a:ext cx="3154680" cy="1920240"/>
          </a:xfrm>
          <a:prstGeom prst="roundRect">
            <a:avLst>
              <a:gd fmla="val 2857"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8302752" y="3337560"/>
            <a:ext cx="28254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DATA PROJECT</a:t>
            </a:r>
            <a:endParaRPr sz="1200">
              <a:solidFill>
                <a:schemeClr val="dk1"/>
              </a:solidFill>
              <a:latin typeface="Arial"/>
              <a:ea typeface="Arial"/>
              <a:cs typeface="Arial"/>
              <a:sym typeface="Arial"/>
            </a:endParaRPr>
          </a:p>
        </p:txBody>
      </p:sp>
      <p:sp>
        <p:nvSpPr>
          <p:cNvPr id="169" name="Google Shape;169;p10"/>
          <p:cNvSpPr/>
          <p:nvPr/>
        </p:nvSpPr>
        <p:spPr>
          <a:xfrm>
            <a:off x="8302752" y="3703320"/>
            <a:ext cx="2825496" cy="12618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800"/>
              <a:buFont typeface="Arial"/>
              <a:buNone/>
            </a:pPr>
            <a:r>
              <a:rPr lang="en-US" sz="1800">
                <a:solidFill>
                  <a:srgbClr val="FFFFFF"/>
                </a:solidFill>
                <a:latin typeface="Arial"/>
                <a:ea typeface="Arial"/>
                <a:cs typeface="Arial"/>
                <a:sym typeface="Arial"/>
              </a:rPr>
              <a:t>Connect the result to patterns, correlations, categories, model accuracy, or dataset limitations.</a:t>
            </a:r>
            <a:endParaRPr sz="18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74" name="Shape 174"/>
        <p:cNvGrpSpPr/>
        <p:nvPr/>
      </p:nvGrpSpPr>
      <p:grpSpPr>
        <a:xfrm>
          <a:off x="0" y="0"/>
          <a:ext cx="0" cy="0"/>
          <a:chOff x="0" y="0"/>
          <a:chExt cx="0" cy="0"/>
        </a:xfrm>
      </p:grpSpPr>
      <p:sp>
        <p:nvSpPr>
          <p:cNvPr id="175" name="Google Shape;175;p11"/>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1"/>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179" name="Google Shape;179;p11"/>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180" name="Google Shape;180;p11"/>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181" name="Google Shape;181;p11"/>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Discuss the Hypothesis or Design Criteria</a:t>
            </a:r>
            <a:endParaRPr sz="2700">
              <a:solidFill>
                <a:schemeClr val="dk1"/>
              </a:solidFill>
              <a:latin typeface="Arial"/>
              <a:ea typeface="Arial"/>
              <a:cs typeface="Arial"/>
              <a:sym typeface="Arial"/>
            </a:endParaRPr>
          </a:p>
        </p:txBody>
      </p:sp>
      <p:sp>
        <p:nvSpPr>
          <p:cNvPr id="182" name="Google Shape;182;p11"/>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The discussion must return to the original purpose.</a:t>
            </a:r>
            <a:endParaRPr sz="1200">
              <a:solidFill>
                <a:schemeClr val="dk1"/>
              </a:solidFill>
              <a:latin typeface="Arial"/>
              <a:ea typeface="Arial"/>
              <a:cs typeface="Arial"/>
              <a:sym typeface="Arial"/>
            </a:endParaRPr>
          </a:p>
        </p:txBody>
      </p:sp>
      <p:cxnSp>
        <p:nvCxnSpPr>
          <p:cNvPr id="183" name="Google Shape;183;p11"/>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184" name="Google Shape;184;p11"/>
          <p:cNvSpPr/>
          <p:nvPr/>
        </p:nvSpPr>
        <p:spPr>
          <a:xfrm>
            <a:off x="914400" y="1828800"/>
            <a:ext cx="3246120" cy="3108960"/>
          </a:xfrm>
          <a:prstGeom prst="roundRect">
            <a:avLst>
              <a:gd fmla="val 176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1078992" y="196596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EXPERIMENT</a:t>
            </a:r>
            <a:endParaRPr sz="1200">
              <a:solidFill>
                <a:schemeClr val="dk1"/>
              </a:solidFill>
              <a:latin typeface="Arial"/>
              <a:ea typeface="Arial"/>
              <a:cs typeface="Arial"/>
              <a:sym typeface="Arial"/>
            </a:endParaRPr>
          </a:p>
        </p:txBody>
      </p:sp>
      <p:sp>
        <p:nvSpPr>
          <p:cNvPr id="186" name="Google Shape;186;p11"/>
          <p:cNvSpPr/>
          <p:nvPr/>
        </p:nvSpPr>
        <p:spPr>
          <a:xfrm>
            <a:off x="1078992" y="2331720"/>
            <a:ext cx="2916936" cy="2450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Was the hypothesis supported, partially supported, or not supported? What evidence supports that judgment?</a:t>
            </a:r>
            <a:endParaRPr sz="1900">
              <a:solidFill>
                <a:schemeClr val="dk1"/>
              </a:solidFill>
              <a:latin typeface="Arial"/>
              <a:ea typeface="Arial"/>
              <a:cs typeface="Arial"/>
              <a:sym typeface="Arial"/>
            </a:endParaRPr>
          </a:p>
        </p:txBody>
      </p:sp>
      <p:sp>
        <p:nvSpPr>
          <p:cNvPr id="187" name="Google Shape;187;p11"/>
          <p:cNvSpPr/>
          <p:nvPr/>
        </p:nvSpPr>
        <p:spPr>
          <a:xfrm>
            <a:off x="4480560" y="1828800"/>
            <a:ext cx="3246120" cy="3108960"/>
          </a:xfrm>
          <a:prstGeom prst="roundRect">
            <a:avLst>
              <a:gd fmla="val 1765"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4645152" y="196596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ENGINEERING</a:t>
            </a:r>
            <a:endParaRPr sz="1200">
              <a:solidFill>
                <a:schemeClr val="dk1"/>
              </a:solidFill>
              <a:latin typeface="Arial"/>
              <a:ea typeface="Arial"/>
              <a:cs typeface="Arial"/>
              <a:sym typeface="Arial"/>
            </a:endParaRPr>
          </a:p>
        </p:txBody>
      </p:sp>
      <p:sp>
        <p:nvSpPr>
          <p:cNvPr id="189" name="Google Shape;189;p11"/>
          <p:cNvSpPr/>
          <p:nvPr/>
        </p:nvSpPr>
        <p:spPr>
          <a:xfrm>
            <a:off x="4645152" y="2331720"/>
            <a:ext cx="2916936" cy="2450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Were the design criteria met? Which prototype performed best? What tradeoffs appeared?</a:t>
            </a:r>
            <a:endParaRPr sz="1900">
              <a:solidFill>
                <a:schemeClr val="dk1"/>
              </a:solidFill>
              <a:latin typeface="Arial"/>
              <a:ea typeface="Arial"/>
              <a:cs typeface="Arial"/>
              <a:sym typeface="Arial"/>
            </a:endParaRPr>
          </a:p>
        </p:txBody>
      </p:sp>
      <p:sp>
        <p:nvSpPr>
          <p:cNvPr id="190" name="Google Shape;190;p11"/>
          <p:cNvSpPr/>
          <p:nvPr/>
        </p:nvSpPr>
        <p:spPr>
          <a:xfrm>
            <a:off x="8046720" y="1828800"/>
            <a:ext cx="3246120" cy="3108960"/>
          </a:xfrm>
          <a:prstGeom prst="roundRect">
            <a:avLst>
              <a:gd fmla="val 1765"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8211312" y="1965960"/>
            <a:ext cx="291693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DATA / OBSERVATION</a:t>
            </a:r>
            <a:endParaRPr sz="1200">
              <a:solidFill>
                <a:schemeClr val="dk1"/>
              </a:solidFill>
              <a:latin typeface="Arial"/>
              <a:ea typeface="Arial"/>
              <a:cs typeface="Arial"/>
              <a:sym typeface="Arial"/>
            </a:endParaRPr>
          </a:p>
        </p:txBody>
      </p:sp>
      <p:sp>
        <p:nvSpPr>
          <p:cNvPr id="192" name="Google Shape;192;p11"/>
          <p:cNvSpPr/>
          <p:nvPr/>
        </p:nvSpPr>
        <p:spPr>
          <a:xfrm>
            <a:off x="8211312" y="2331720"/>
            <a:ext cx="2916936" cy="245059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What pattern, relationship, or comparison appeared? How strong is the evidence?</a:t>
            </a:r>
            <a:endParaRPr sz="19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197" name="Shape 197"/>
        <p:cNvGrpSpPr/>
        <p:nvPr/>
      </p:nvGrpSpPr>
      <p:grpSpPr>
        <a:xfrm>
          <a:off x="0" y="0"/>
          <a:ext cx="0" cy="0"/>
          <a:chOff x="0" y="0"/>
          <a:chExt cx="0" cy="0"/>
        </a:xfrm>
      </p:grpSpPr>
      <p:sp>
        <p:nvSpPr>
          <p:cNvPr id="198" name="Google Shape;198;p12"/>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2"/>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2"/>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202" name="Google Shape;202;p12"/>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03" name="Google Shape;203;p12"/>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204" name="Google Shape;204;p12"/>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Limitations Strengthen the Discussion</a:t>
            </a:r>
            <a:endParaRPr sz="2700">
              <a:solidFill>
                <a:schemeClr val="dk1"/>
              </a:solidFill>
              <a:latin typeface="Arial"/>
              <a:ea typeface="Arial"/>
              <a:cs typeface="Arial"/>
              <a:sym typeface="Arial"/>
            </a:endParaRPr>
          </a:p>
        </p:txBody>
      </p:sp>
      <p:sp>
        <p:nvSpPr>
          <p:cNvPr id="205" name="Google Shape;205;p12"/>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Honest uncertainty makes the claim more credible.</a:t>
            </a:r>
            <a:endParaRPr sz="1200">
              <a:solidFill>
                <a:schemeClr val="dk1"/>
              </a:solidFill>
              <a:latin typeface="Arial"/>
              <a:ea typeface="Arial"/>
              <a:cs typeface="Arial"/>
              <a:sym typeface="Arial"/>
            </a:endParaRPr>
          </a:p>
        </p:txBody>
      </p:sp>
      <p:cxnSp>
        <p:nvCxnSpPr>
          <p:cNvPr id="206" name="Google Shape;206;p12"/>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207" name="Google Shape;207;p12"/>
          <p:cNvSpPr/>
          <p:nvPr/>
        </p:nvSpPr>
        <p:spPr>
          <a:xfrm>
            <a:off x="914400" y="182880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000">
                <a:solidFill>
                  <a:srgbClr val="FFFFFF"/>
                </a:solidFill>
                <a:latin typeface="Arial"/>
                <a:ea typeface="Arial"/>
                <a:cs typeface="Arial"/>
                <a:sym typeface="Arial"/>
              </a:rPr>
              <a:t>A limitation is not an apology or a confession of failure.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A limitation tells the reader how far the evidence can reasonably go.</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Useful limitations are specific: small sample size, measurement precision, uncontrolled variables, prototype inconsistency, missing data, time constraints.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Avoid vague “human error” unless you explain the actual action and effect.</a:t>
            </a:r>
            <a:endParaRPr sz="2000">
              <a:solidFill>
                <a:schemeClr val="dk1"/>
              </a:solidFill>
              <a:latin typeface="Arial"/>
              <a:ea typeface="Arial"/>
              <a:cs typeface="Arial"/>
              <a:sym typeface="Arial"/>
            </a:endParaRPr>
          </a:p>
        </p:txBody>
      </p:sp>
      <p:sp>
        <p:nvSpPr>
          <p:cNvPr id="208" name="Google Shape;208;p12"/>
          <p:cNvSpPr/>
          <p:nvPr/>
        </p:nvSpPr>
        <p:spPr>
          <a:xfrm>
            <a:off x="914400" y="5623560"/>
            <a:ext cx="10332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2B27"/>
              </a:buClr>
              <a:buSzPts val="2200"/>
              <a:buFont typeface="Play"/>
              <a:buNone/>
            </a:pPr>
            <a:r>
              <a:rPr b="1" lang="en-US" sz="2200">
                <a:solidFill>
                  <a:srgbClr val="E22B27"/>
                </a:solidFill>
                <a:latin typeface="Play"/>
                <a:ea typeface="Play"/>
                <a:cs typeface="Play"/>
                <a:sym typeface="Play"/>
              </a:rPr>
              <a:t>Strong researchers explain both what the evidence shows and what it cannot show yet.</a:t>
            </a:r>
            <a:endParaRPr sz="22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13" name="Shape 213"/>
        <p:cNvGrpSpPr/>
        <p:nvPr/>
      </p:nvGrpSpPr>
      <p:grpSpPr>
        <a:xfrm>
          <a:off x="0" y="0"/>
          <a:ext cx="0" cy="0"/>
          <a:chOff x="0" y="0"/>
          <a:chExt cx="0" cy="0"/>
        </a:xfrm>
      </p:grpSpPr>
      <p:sp>
        <p:nvSpPr>
          <p:cNvPr id="214" name="Google Shape;214;p13"/>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3"/>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218" name="Google Shape;218;p13"/>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19" name="Google Shape;219;p13"/>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220" name="Google Shape;220;p13"/>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Specific Limitation Language</a:t>
            </a:r>
            <a:endParaRPr sz="2700">
              <a:solidFill>
                <a:schemeClr val="dk1"/>
              </a:solidFill>
              <a:latin typeface="Arial"/>
              <a:ea typeface="Arial"/>
              <a:cs typeface="Arial"/>
              <a:sym typeface="Arial"/>
            </a:endParaRPr>
          </a:p>
        </p:txBody>
      </p:sp>
      <p:sp>
        <p:nvSpPr>
          <p:cNvPr id="221" name="Google Shape;221;p13"/>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Name the limitation and explain the effect.</a:t>
            </a:r>
            <a:endParaRPr sz="1200">
              <a:solidFill>
                <a:schemeClr val="dk1"/>
              </a:solidFill>
              <a:latin typeface="Arial"/>
              <a:ea typeface="Arial"/>
              <a:cs typeface="Arial"/>
              <a:sym typeface="Arial"/>
            </a:endParaRPr>
          </a:p>
        </p:txBody>
      </p:sp>
      <p:cxnSp>
        <p:nvCxnSpPr>
          <p:cNvPr id="222" name="Google Shape;222;p13"/>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223" name="Google Shape;223;p13"/>
          <p:cNvSpPr/>
          <p:nvPr/>
        </p:nvSpPr>
        <p:spPr>
          <a:xfrm>
            <a:off x="914400" y="1828800"/>
            <a:ext cx="4892040" cy="3291840"/>
          </a:xfrm>
          <a:prstGeom prst="roundRect">
            <a:avLst>
              <a:gd fmla="val 1667"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3"/>
          <p:cNvSpPr/>
          <p:nvPr/>
        </p:nvSpPr>
        <p:spPr>
          <a:xfrm>
            <a:off x="107899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WEAK</a:t>
            </a:r>
            <a:endParaRPr sz="1200">
              <a:solidFill>
                <a:schemeClr val="dk1"/>
              </a:solidFill>
              <a:latin typeface="Arial"/>
              <a:ea typeface="Arial"/>
              <a:cs typeface="Arial"/>
              <a:sym typeface="Arial"/>
            </a:endParaRPr>
          </a:p>
        </p:txBody>
      </p:sp>
      <p:sp>
        <p:nvSpPr>
          <p:cNvPr id="225" name="Google Shape;225;p13"/>
          <p:cNvSpPr/>
          <p:nvPr/>
        </p:nvSpPr>
        <p:spPr>
          <a:xfrm>
            <a:off x="1078992" y="2331720"/>
            <a:ext cx="4562856" cy="26334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200"/>
              <a:buFont typeface="Arial"/>
              <a:buNone/>
            </a:pPr>
            <a:r>
              <a:rPr lang="en-US" sz="2200">
                <a:solidFill>
                  <a:srgbClr val="FFFFFF"/>
                </a:solidFill>
                <a:latin typeface="Arial"/>
                <a:ea typeface="Arial"/>
                <a:cs typeface="Arial"/>
                <a:sym typeface="Arial"/>
              </a:rPr>
              <a:t>“There was human error.”</a:t>
            </a:r>
            <a:endParaRPr sz="22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200"/>
              <a:buFont typeface="Arial"/>
              <a:buNone/>
            </a:pPr>
            <a:r>
              <a:t/>
            </a:r>
            <a:endParaRPr sz="22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200"/>
              <a:buFont typeface="Arial"/>
              <a:buNone/>
            </a:pPr>
            <a:r>
              <a:rPr lang="en-US" sz="2200">
                <a:solidFill>
                  <a:srgbClr val="FFFFFF"/>
                </a:solidFill>
                <a:latin typeface="Arial"/>
                <a:ea typeface="Arial"/>
                <a:cs typeface="Arial"/>
                <a:sym typeface="Arial"/>
              </a:rPr>
              <a:t>“There were some problems.”</a:t>
            </a:r>
            <a:endParaRPr sz="22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200"/>
              <a:buFont typeface="Arial"/>
              <a:buNone/>
            </a:pPr>
            <a:r>
              <a:t/>
            </a:r>
            <a:endParaRPr sz="22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200"/>
              <a:buFont typeface="Arial"/>
              <a:buNone/>
            </a:pPr>
            <a:r>
              <a:rPr lang="en-US" sz="2200">
                <a:solidFill>
                  <a:srgbClr val="FFFFFF"/>
                </a:solidFill>
                <a:latin typeface="Arial"/>
                <a:ea typeface="Arial"/>
                <a:cs typeface="Arial"/>
                <a:sym typeface="Arial"/>
              </a:rPr>
              <a:t>“My data might be wrong.”</a:t>
            </a:r>
            <a:endParaRPr sz="2200">
              <a:solidFill>
                <a:schemeClr val="dk1"/>
              </a:solidFill>
              <a:latin typeface="Arial"/>
              <a:ea typeface="Arial"/>
              <a:cs typeface="Arial"/>
              <a:sym typeface="Arial"/>
            </a:endParaRPr>
          </a:p>
        </p:txBody>
      </p:sp>
      <p:sp>
        <p:nvSpPr>
          <p:cNvPr id="226" name="Google Shape;226;p13"/>
          <p:cNvSpPr/>
          <p:nvPr/>
        </p:nvSpPr>
        <p:spPr>
          <a:xfrm>
            <a:off x="6355080" y="1828800"/>
            <a:ext cx="4892040" cy="3291840"/>
          </a:xfrm>
          <a:prstGeom prst="roundRect">
            <a:avLst>
              <a:gd fmla="val 1667"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651967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STRONGER</a:t>
            </a:r>
            <a:endParaRPr sz="1200">
              <a:solidFill>
                <a:schemeClr val="dk1"/>
              </a:solidFill>
              <a:latin typeface="Arial"/>
              <a:ea typeface="Arial"/>
              <a:cs typeface="Arial"/>
              <a:sym typeface="Arial"/>
            </a:endParaRPr>
          </a:p>
        </p:txBody>
      </p:sp>
      <p:sp>
        <p:nvSpPr>
          <p:cNvPr id="228" name="Google Shape;228;p13"/>
          <p:cNvSpPr/>
          <p:nvPr/>
        </p:nvSpPr>
        <p:spPr>
          <a:xfrm>
            <a:off x="6519672" y="2331720"/>
            <a:ext cx="4562856" cy="26334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“Only three trials were completed for each design, so the comparison should be interpreted cautiously.”</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000"/>
              <a:buFont typeface="Arial"/>
              <a:buNone/>
            </a:pPr>
            <a:r>
              <a:t/>
            </a:r>
            <a:endParaRPr sz="20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000"/>
              <a:buFont typeface="Arial"/>
              <a:buNone/>
            </a:pPr>
            <a:r>
              <a:rPr lang="en-US" sz="2000">
                <a:solidFill>
                  <a:srgbClr val="FFFFFF"/>
                </a:solidFill>
                <a:latin typeface="Arial"/>
                <a:ea typeface="Arial"/>
                <a:cs typeface="Arial"/>
                <a:sym typeface="Arial"/>
              </a:rPr>
              <a:t>“The force sensor drifted during longer tests, which may have increased uncertainty in the final readings.”</a:t>
            </a:r>
            <a:endParaRPr sz="20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33" name="Shape 233"/>
        <p:cNvGrpSpPr/>
        <p:nvPr/>
      </p:nvGrpSpPr>
      <p:grpSpPr>
        <a:xfrm>
          <a:off x="0" y="0"/>
          <a:ext cx="0" cy="0"/>
          <a:chOff x="0" y="0"/>
          <a:chExt cx="0" cy="0"/>
        </a:xfrm>
      </p:grpSpPr>
      <p:sp>
        <p:nvSpPr>
          <p:cNvPr id="234" name="Google Shape;234;p14"/>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238" name="Google Shape;238;p14"/>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39" name="Google Shape;239;p14"/>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240" name="Google Shape;240;p14"/>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Unexpected Results Are Still Results</a:t>
            </a:r>
            <a:endParaRPr sz="2700">
              <a:solidFill>
                <a:schemeClr val="dk1"/>
              </a:solidFill>
              <a:latin typeface="Arial"/>
              <a:ea typeface="Arial"/>
              <a:cs typeface="Arial"/>
              <a:sym typeface="Arial"/>
            </a:endParaRPr>
          </a:p>
        </p:txBody>
      </p:sp>
      <p:sp>
        <p:nvSpPr>
          <p:cNvPr id="241" name="Google Shape;241;p14"/>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 result does not need to match the hypothesis to be useful.</a:t>
            </a:r>
            <a:endParaRPr sz="1200">
              <a:solidFill>
                <a:schemeClr val="dk1"/>
              </a:solidFill>
              <a:latin typeface="Arial"/>
              <a:ea typeface="Arial"/>
              <a:cs typeface="Arial"/>
              <a:sym typeface="Arial"/>
            </a:endParaRPr>
          </a:p>
        </p:txBody>
      </p:sp>
      <p:cxnSp>
        <p:nvCxnSpPr>
          <p:cNvPr id="242" name="Google Shape;242;p14"/>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243" name="Google Shape;243;p14"/>
          <p:cNvSpPr/>
          <p:nvPr/>
        </p:nvSpPr>
        <p:spPr>
          <a:xfrm>
            <a:off x="960120" y="1828800"/>
            <a:ext cx="10241280" cy="333756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100">
                <a:solidFill>
                  <a:srgbClr val="FFFFFF"/>
                </a:solidFill>
                <a:latin typeface="Arial"/>
                <a:ea typeface="Arial"/>
                <a:cs typeface="Arial"/>
                <a:sym typeface="Arial"/>
              </a:rPr>
              <a:t>If the hypothesis was not supported, explain what the evidence showed instead.</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If a prototype failed, explain the failure mode and what it revealed.</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If the data were inconclusive, explain what limits confidence.</a:t>
            </a:r>
            <a:endParaRPr sz="2100">
              <a:solidFill>
                <a:schemeClr val="dk1"/>
              </a:solidFill>
              <a:latin typeface="Arial"/>
              <a:ea typeface="Arial"/>
              <a:cs typeface="Arial"/>
              <a:sym typeface="Arial"/>
            </a:endParaRPr>
          </a:p>
          <a:p>
            <a:pPr indent="0" lvl="0" marL="0" marR="0" rtl="0" algn="l">
              <a:spcBef>
                <a:spcPts val="0"/>
              </a:spcBef>
              <a:spcAft>
                <a:spcPts val="0"/>
              </a:spcAft>
              <a:buNone/>
            </a:pPr>
            <a:r>
              <a:rPr lang="en-US" sz="2100">
                <a:solidFill>
                  <a:srgbClr val="FFFFFF"/>
                </a:solidFill>
                <a:latin typeface="Arial"/>
                <a:ea typeface="Arial"/>
                <a:cs typeface="Arial"/>
                <a:sym typeface="Arial"/>
              </a:rPr>
              <a:t>If the method did not work, explain what future testing would need to fix.</a:t>
            </a:r>
            <a:endParaRPr sz="2100">
              <a:solidFill>
                <a:schemeClr val="dk1"/>
              </a:solidFill>
              <a:latin typeface="Arial"/>
              <a:ea typeface="Arial"/>
              <a:cs typeface="Arial"/>
              <a:sym typeface="Arial"/>
            </a:endParaRPr>
          </a:p>
        </p:txBody>
      </p:sp>
      <p:sp>
        <p:nvSpPr>
          <p:cNvPr id="244" name="Google Shape;244;p14"/>
          <p:cNvSpPr/>
          <p:nvPr/>
        </p:nvSpPr>
        <p:spPr>
          <a:xfrm>
            <a:off x="914400" y="5532120"/>
            <a:ext cx="10332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2B27"/>
              </a:buClr>
              <a:buSzPts val="2400"/>
              <a:buFont typeface="Play"/>
              <a:buNone/>
            </a:pPr>
            <a:r>
              <a:rPr b="1" lang="en-US" sz="2400">
                <a:solidFill>
                  <a:srgbClr val="E22B27"/>
                </a:solidFill>
                <a:latin typeface="Play"/>
                <a:ea typeface="Play"/>
                <a:cs typeface="Play"/>
                <a:sym typeface="Play"/>
              </a:rPr>
              <a:t>The discussion should tell the honest research story, not the perfect story.</a:t>
            </a:r>
            <a:endParaRPr sz="2400">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49" name="Shape 249"/>
        <p:cNvGrpSpPr/>
        <p:nvPr/>
      </p:nvGrpSpPr>
      <p:grpSpPr>
        <a:xfrm>
          <a:off x="0" y="0"/>
          <a:ext cx="0" cy="0"/>
          <a:chOff x="0" y="0"/>
          <a:chExt cx="0" cy="0"/>
        </a:xfrm>
      </p:grpSpPr>
      <p:sp>
        <p:nvSpPr>
          <p:cNvPr id="250" name="Google Shape;250;p15"/>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254" name="Google Shape;254;p15"/>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55" name="Google Shape;255;p15"/>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256" name="Google Shape;256;p15"/>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Future Work Must Follow From Evidence</a:t>
            </a:r>
            <a:endParaRPr sz="2700">
              <a:solidFill>
                <a:schemeClr val="dk1"/>
              </a:solidFill>
              <a:latin typeface="Arial"/>
              <a:ea typeface="Arial"/>
              <a:cs typeface="Arial"/>
              <a:sym typeface="Arial"/>
            </a:endParaRPr>
          </a:p>
        </p:txBody>
      </p:sp>
      <p:sp>
        <p:nvSpPr>
          <p:cNvPr id="257" name="Google Shape;257;p15"/>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Do not end with “I would do more research.”</a:t>
            </a:r>
            <a:endParaRPr sz="1200">
              <a:solidFill>
                <a:schemeClr val="dk1"/>
              </a:solidFill>
              <a:latin typeface="Arial"/>
              <a:ea typeface="Arial"/>
              <a:cs typeface="Arial"/>
              <a:sym typeface="Arial"/>
            </a:endParaRPr>
          </a:p>
        </p:txBody>
      </p:sp>
      <p:cxnSp>
        <p:nvCxnSpPr>
          <p:cNvPr id="258" name="Google Shape;258;p15"/>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259" name="Google Shape;259;p15"/>
          <p:cNvSpPr/>
          <p:nvPr/>
        </p:nvSpPr>
        <p:spPr>
          <a:xfrm>
            <a:off x="914400" y="1828800"/>
            <a:ext cx="4892040" cy="3200400"/>
          </a:xfrm>
          <a:prstGeom prst="roundRect">
            <a:avLst>
              <a:gd fmla="val 1714"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107899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WEAK FUTURE WORK</a:t>
            </a:r>
            <a:endParaRPr sz="1200">
              <a:solidFill>
                <a:schemeClr val="dk1"/>
              </a:solidFill>
              <a:latin typeface="Arial"/>
              <a:ea typeface="Arial"/>
              <a:cs typeface="Arial"/>
              <a:sym typeface="Arial"/>
            </a:endParaRPr>
          </a:p>
        </p:txBody>
      </p:sp>
      <p:sp>
        <p:nvSpPr>
          <p:cNvPr id="261" name="Google Shape;261;p15"/>
          <p:cNvSpPr/>
          <p:nvPr/>
        </p:nvSpPr>
        <p:spPr>
          <a:xfrm>
            <a:off x="1078992" y="2331720"/>
            <a:ext cx="4562856" cy="2542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100"/>
              <a:buFont typeface="Arial"/>
              <a:buNone/>
            </a:pPr>
            <a:r>
              <a:rPr lang="en-US" sz="2100">
                <a:solidFill>
                  <a:srgbClr val="FFFFFF"/>
                </a:solidFill>
                <a:latin typeface="Arial"/>
                <a:ea typeface="Arial"/>
                <a:cs typeface="Arial"/>
                <a:sym typeface="Arial"/>
              </a:rPr>
              <a:t>“In the future, I would do more trials.”</a:t>
            </a:r>
            <a:endParaRPr sz="21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100"/>
              <a:buFont typeface="Arial"/>
              <a:buNone/>
            </a:pPr>
            <a:r>
              <a:t/>
            </a:r>
            <a:endParaRPr sz="21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100"/>
              <a:buFont typeface="Arial"/>
              <a:buNone/>
            </a:pPr>
            <a:r>
              <a:rPr lang="en-US" sz="2100">
                <a:solidFill>
                  <a:srgbClr val="FFFFFF"/>
                </a:solidFill>
                <a:latin typeface="Arial"/>
                <a:ea typeface="Arial"/>
                <a:cs typeface="Arial"/>
                <a:sym typeface="Arial"/>
              </a:rPr>
              <a:t>“I would make it better.”</a:t>
            </a:r>
            <a:endParaRPr sz="21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100"/>
              <a:buFont typeface="Arial"/>
              <a:buNone/>
            </a:pPr>
            <a:r>
              <a:t/>
            </a:r>
            <a:endParaRPr sz="21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100"/>
              <a:buFont typeface="Arial"/>
              <a:buNone/>
            </a:pPr>
            <a:r>
              <a:rPr lang="en-US" sz="2100">
                <a:solidFill>
                  <a:srgbClr val="FFFFFF"/>
                </a:solidFill>
                <a:latin typeface="Arial"/>
                <a:ea typeface="Arial"/>
                <a:cs typeface="Arial"/>
                <a:sym typeface="Arial"/>
              </a:rPr>
              <a:t>“I would research this more.”</a:t>
            </a:r>
            <a:endParaRPr sz="2100">
              <a:solidFill>
                <a:schemeClr val="dk1"/>
              </a:solidFill>
              <a:latin typeface="Arial"/>
              <a:ea typeface="Arial"/>
              <a:cs typeface="Arial"/>
              <a:sym typeface="Arial"/>
            </a:endParaRPr>
          </a:p>
        </p:txBody>
      </p:sp>
      <p:sp>
        <p:nvSpPr>
          <p:cNvPr id="262" name="Google Shape;262;p15"/>
          <p:cNvSpPr/>
          <p:nvPr/>
        </p:nvSpPr>
        <p:spPr>
          <a:xfrm>
            <a:off x="6355080" y="1828800"/>
            <a:ext cx="4892040" cy="3200400"/>
          </a:xfrm>
          <a:prstGeom prst="roundRect">
            <a:avLst>
              <a:gd fmla="val 1714"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6519672" y="196596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STRONGER FUTURE WORK</a:t>
            </a:r>
            <a:endParaRPr sz="1200">
              <a:solidFill>
                <a:schemeClr val="dk1"/>
              </a:solidFill>
              <a:latin typeface="Arial"/>
              <a:ea typeface="Arial"/>
              <a:cs typeface="Arial"/>
              <a:sym typeface="Arial"/>
            </a:endParaRPr>
          </a:p>
        </p:txBody>
      </p:sp>
      <p:sp>
        <p:nvSpPr>
          <p:cNvPr id="264" name="Google Shape;264;p15"/>
          <p:cNvSpPr/>
          <p:nvPr/>
        </p:nvSpPr>
        <p:spPr>
          <a:xfrm>
            <a:off x="6519672" y="2331720"/>
            <a:ext cx="4562856" cy="254203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“Future testing should increase trials from 3 to 10 per design and test intermediate blade angles between 30° and 45°.”</a:t>
            </a:r>
            <a:endParaRPr sz="1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900"/>
              <a:buFont typeface="Arial"/>
              <a:buNone/>
            </a:pPr>
            <a:r>
              <a:t/>
            </a:r>
            <a:endParaRPr sz="19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1900"/>
              <a:buFont typeface="Arial"/>
              <a:buNone/>
            </a:pPr>
            <a:r>
              <a:rPr lang="en-US" sz="1900">
                <a:solidFill>
                  <a:srgbClr val="FFFFFF"/>
                </a:solidFill>
                <a:latin typeface="Arial"/>
                <a:ea typeface="Arial"/>
                <a:cs typeface="Arial"/>
                <a:sym typeface="Arial"/>
              </a:rPr>
              <a:t>“A revised prototype should reinforce the left joint where all failures began.”</a:t>
            </a:r>
            <a:endParaRPr sz="19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69" name="Shape 269"/>
        <p:cNvGrpSpPr/>
        <p:nvPr/>
      </p:nvGrpSpPr>
      <p:grpSpPr>
        <a:xfrm>
          <a:off x="0" y="0"/>
          <a:ext cx="0" cy="0"/>
          <a:chOff x="0" y="0"/>
          <a:chExt cx="0" cy="0"/>
        </a:xfrm>
      </p:grpSpPr>
      <p:sp>
        <p:nvSpPr>
          <p:cNvPr id="270" name="Google Shape;270;p16"/>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274" name="Google Shape;274;p16"/>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75" name="Google Shape;275;p16"/>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276" name="Google Shape;276;p16"/>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Scientific Caution: Stronger Than “Proof”</a:t>
            </a:r>
            <a:endParaRPr sz="2700">
              <a:solidFill>
                <a:schemeClr val="dk1"/>
              </a:solidFill>
              <a:latin typeface="Arial"/>
              <a:ea typeface="Arial"/>
              <a:cs typeface="Arial"/>
              <a:sym typeface="Arial"/>
            </a:endParaRPr>
          </a:p>
        </p:txBody>
      </p:sp>
      <p:sp>
        <p:nvSpPr>
          <p:cNvPr id="277" name="Google Shape;277;p16"/>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Avoid claims the data cannot support.</a:t>
            </a:r>
            <a:endParaRPr sz="1200">
              <a:solidFill>
                <a:schemeClr val="dk1"/>
              </a:solidFill>
              <a:latin typeface="Arial"/>
              <a:ea typeface="Arial"/>
              <a:cs typeface="Arial"/>
              <a:sym typeface="Arial"/>
            </a:endParaRPr>
          </a:p>
        </p:txBody>
      </p:sp>
      <p:cxnSp>
        <p:nvCxnSpPr>
          <p:cNvPr id="278" name="Google Shape;278;p16"/>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279" name="Google Shape;279;p16"/>
          <p:cNvSpPr/>
          <p:nvPr/>
        </p:nvSpPr>
        <p:spPr>
          <a:xfrm>
            <a:off x="914400" y="1783080"/>
            <a:ext cx="4892040" cy="3749040"/>
          </a:xfrm>
          <a:prstGeom prst="roundRect">
            <a:avLst>
              <a:gd fmla="val 1463" name="adj"/>
            </a:avLst>
          </a:prstGeom>
          <a:solidFill>
            <a:srgbClr val="101010"/>
          </a:solidFill>
          <a:ln cap="flat" cmpd="sng" w="12700">
            <a:solidFill>
              <a:srgbClr val="44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1078992" y="192024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AVOID</a:t>
            </a:r>
            <a:endParaRPr sz="1200">
              <a:solidFill>
                <a:schemeClr val="dk1"/>
              </a:solidFill>
              <a:latin typeface="Arial"/>
              <a:ea typeface="Arial"/>
              <a:cs typeface="Arial"/>
              <a:sym typeface="Arial"/>
            </a:endParaRPr>
          </a:p>
        </p:txBody>
      </p:sp>
      <p:sp>
        <p:nvSpPr>
          <p:cNvPr id="281" name="Google Shape;281;p16"/>
          <p:cNvSpPr/>
          <p:nvPr/>
        </p:nvSpPr>
        <p:spPr>
          <a:xfrm>
            <a:off x="1078992" y="2286000"/>
            <a:ext cx="4562856" cy="30906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This proves...</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This always shows...</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This is the best...</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There was no error...</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My data are perfect...</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This will definitely solve...</a:t>
            </a:r>
            <a:endParaRPr sz="2300">
              <a:solidFill>
                <a:schemeClr val="dk1"/>
              </a:solidFill>
              <a:latin typeface="Arial"/>
              <a:ea typeface="Arial"/>
              <a:cs typeface="Arial"/>
              <a:sym typeface="Arial"/>
            </a:endParaRPr>
          </a:p>
        </p:txBody>
      </p:sp>
      <p:sp>
        <p:nvSpPr>
          <p:cNvPr id="282" name="Google Shape;282;p16"/>
          <p:cNvSpPr/>
          <p:nvPr/>
        </p:nvSpPr>
        <p:spPr>
          <a:xfrm>
            <a:off x="6355080" y="1783080"/>
            <a:ext cx="4892040" cy="3749040"/>
          </a:xfrm>
          <a:prstGeom prst="roundRect">
            <a:avLst>
              <a:gd fmla="val 1463" name="adj"/>
            </a:avLst>
          </a:prstGeom>
          <a:solidFill>
            <a:srgbClr val="101010"/>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6519672" y="1920240"/>
            <a:ext cx="456285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2B27"/>
              </a:buClr>
              <a:buSzPts val="1200"/>
              <a:buFont typeface="Arial"/>
              <a:buNone/>
            </a:pPr>
            <a:r>
              <a:rPr b="1" lang="en-US" sz="1200">
                <a:solidFill>
                  <a:srgbClr val="E22B27"/>
                </a:solidFill>
                <a:latin typeface="Arial"/>
                <a:ea typeface="Arial"/>
                <a:cs typeface="Arial"/>
                <a:sym typeface="Arial"/>
              </a:rPr>
              <a:t>USE</a:t>
            </a:r>
            <a:endParaRPr sz="1200">
              <a:solidFill>
                <a:schemeClr val="dk1"/>
              </a:solidFill>
              <a:latin typeface="Arial"/>
              <a:ea typeface="Arial"/>
              <a:cs typeface="Arial"/>
              <a:sym typeface="Arial"/>
            </a:endParaRPr>
          </a:p>
        </p:txBody>
      </p:sp>
      <p:sp>
        <p:nvSpPr>
          <p:cNvPr id="284" name="Google Shape;284;p16"/>
          <p:cNvSpPr/>
          <p:nvPr/>
        </p:nvSpPr>
        <p:spPr>
          <a:xfrm>
            <a:off x="6519672" y="2286000"/>
            <a:ext cx="4562856" cy="3090672"/>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The data suggest...</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The results support...</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Under the tested conditions...</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This may indicate...</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One limitation is...</a:t>
            </a:r>
            <a:endParaRPr sz="23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300"/>
              <a:buFont typeface="Arial"/>
              <a:buNone/>
            </a:pPr>
            <a:r>
              <a:rPr lang="en-US" sz="2300">
                <a:solidFill>
                  <a:srgbClr val="FFFFFF"/>
                </a:solidFill>
                <a:latin typeface="Arial"/>
                <a:ea typeface="Arial"/>
                <a:cs typeface="Arial"/>
                <a:sym typeface="Arial"/>
              </a:rPr>
              <a:t>More data would be needed to...</a:t>
            </a:r>
            <a:endParaRPr sz="23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289" name="Shape 289"/>
        <p:cNvGrpSpPr/>
        <p:nvPr/>
      </p:nvGrpSpPr>
      <p:grpSpPr>
        <a:xfrm>
          <a:off x="0" y="0"/>
          <a:ext cx="0" cy="0"/>
          <a:chOff x="0" y="0"/>
          <a:chExt cx="0" cy="0"/>
        </a:xfrm>
      </p:grpSpPr>
      <p:sp>
        <p:nvSpPr>
          <p:cNvPr id="290" name="Google Shape;290;p17"/>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7"/>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294" name="Google Shape;294;p17"/>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295" name="Google Shape;295;p17"/>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296" name="Google Shape;296;p17"/>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Activity 1: Build One CER Paragraph</a:t>
            </a:r>
            <a:endParaRPr sz="2700">
              <a:solidFill>
                <a:schemeClr val="dk1"/>
              </a:solidFill>
              <a:latin typeface="Arial"/>
              <a:ea typeface="Arial"/>
              <a:cs typeface="Arial"/>
              <a:sym typeface="Arial"/>
            </a:endParaRPr>
          </a:p>
        </p:txBody>
      </p:sp>
      <p:sp>
        <p:nvSpPr>
          <p:cNvPr id="297" name="Google Shape;297;p17"/>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12 minutes • Unit 5 Week 25</a:t>
            </a:r>
            <a:endParaRPr sz="1200">
              <a:solidFill>
                <a:schemeClr val="dk1"/>
              </a:solidFill>
              <a:latin typeface="Arial"/>
              <a:ea typeface="Arial"/>
              <a:cs typeface="Arial"/>
              <a:sym typeface="Arial"/>
            </a:endParaRPr>
          </a:p>
        </p:txBody>
      </p:sp>
      <p:cxnSp>
        <p:nvCxnSpPr>
          <p:cNvPr id="298" name="Google Shape;298;p17"/>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299" name="Google Shape;299;p17"/>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01" name="Google Shape;301;p17"/>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000">
                <a:solidFill>
                  <a:srgbClr val="FFFFFF"/>
                </a:solidFill>
                <a:latin typeface="Arial"/>
                <a:ea typeface="Arial"/>
                <a:cs typeface="Arial"/>
                <a:sym typeface="Arial"/>
              </a:rPr>
              <a:t>Choose your strongest graph, table, image, or result.</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Write one claim that answers your research question or design goal.</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Add one specific piece of evidence: number, comparison, figure, observation, or metric.</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Write reasoning that explains why the evidence supports the claim.</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Add one limitation or caution sentence.</a:t>
            </a:r>
            <a:endParaRPr sz="20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06" name="Shape 306"/>
        <p:cNvGrpSpPr/>
        <p:nvPr/>
      </p:nvGrpSpPr>
      <p:grpSpPr>
        <a:xfrm>
          <a:off x="0" y="0"/>
          <a:ext cx="0" cy="0"/>
          <a:chOff x="0" y="0"/>
          <a:chExt cx="0" cy="0"/>
        </a:xfrm>
      </p:grpSpPr>
      <p:sp>
        <p:nvSpPr>
          <p:cNvPr id="307" name="Google Shape;307;p18"/>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8"/>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11" name="Google Shape;311;p18"/>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12" name="Google Shape;312;p18"/>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313" name="Google Shape;313;p18"/>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Activity 2: Strengthen the Claim</a:t>
            </a:r>
            <a:endParaRPr sz="2700">
              <a:solidFill>
                <a:schemeClr val="dk1"/>
              </a:solidFill>
              <a:latin typeface="Arial"/>
              <a:ea typeface="Arial"/>
              <a:cs typeface="Arial"/>
              <a:sym typeface="Arial"/>
            </a:endParaRPr>
          </a:p>
        </p:txBody>
      </p:sp>
      <p:sp>
        <p:nvSpPr>
          <p:cNvPr id="314" name="Google Shape;314;p18"/>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8 minutes • Unit 5 Week 25</a:t>
            </a:r>
            <a:endParaRPr sz="1200">
              <a:solidFill>
                <a:schemeClr val="dk1"/>
              </a:solidFill>
              <a:latin typeface="Arial"/>
              <a:ea typeface="Arial"/>
              <a:cs typeface="Arial"/>
              <a:sym typeface="Arial"/>
            </a:endParaRPr>
          </a:p>
        </p:txBody>
      </p:sp>
      <p:cxnSp>
        <p:nvCxnSpPr>
          <p:cNvPr id="315" name="Google Shape;315;p18"/>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316" name="Google Shape;316;p18"/>
          <p:cNvSpPr/>
          <p:nvPr/>
        </p:nvSpPr>
        <p:spPr>
          <a:xfrm>
            <a:off x="777240" y="1783080"/>
            <a:ext cx="1874520" cy="34747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868680" y="1865376"/>
            <a:ext cx="169164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Arial"/>
              <a:buNone/>
            </a:pPr>
            <a:r>
              <a:rPr b="1" lang="en-US" sz="1000">
                <a:solidFill>
                  <a:srgbClr val="FFFFFF"/>
                </a:solidFill>
                <a:latin typeface="Arial"/>
                <a:ea typeface="Arial"/>
                <a:cs typeface="Arial"/>
                <a:sym typeface="Arial"/>
              </a:rPr>
              <a:t>STUDENT ACTIVITY</a:t>
            </a:r>
            <a:endParaRPr sz="1000">
              <a:solidFill>
                <a:schemeClr val="dk1"/>
              </a:solidFill>
              <a:latin typeface="Arial"/>
              <a:ea typeface="Arial"/>
              <a:cs typeface="Arial"/>
              <a:sym typeface="Arial"/>
            </a:endParaRPr>
          </a:p>
        </p:txBody>
      </p:sp>
      <p:sp>
        <p:nvSpPr>
          <p:cNvPr id="318" name="Google Shape;318;p18"/>
          <p:cNvSpPr/>
          <p:nvPr/>
        </p:nvSpPr>
        <p:spPr>
          <a:xfrm>
            <a:off x="868680" y="2331720"/>
            <a:ext cx="10332720" cy="347472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000">
                <a:solidFill>
                  <a:srgbClr val="FFFFFF"/>
                </a:solidFill>
                <a:latin typeface="Arial"/>
                <a:ea typeface="Arial"/>
                <a:cs typeface="Arial"/>
                <a:sym typeface="Arial"/>
              </a:rPr>
              <a:t>Exchange your CER paragraph with a partner.</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Underline the claim.</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Box the specific evidence.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Star the reasoning sentence.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Circle any overclaiming or vague limitation language.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Revise one sentence to make the paragraph more precise.</a:t>
            </a:r>
            <a:endParaRPr sz="20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23" name="Shape 323"/>
        <p:cNvGrpSpPr/>
        <p:nvPr/>
      </p:nvGrpSpPr>
      <p:grpSpPr>
        <a:xfrm>
          <a:off x="0" y="0"/>
          <a:ext cx="0" cy="0"/>
          <a:chOff x="0" y="0"/>
          <a:chExt cx="0" cy="0"/>
        </a:xfrm>
      </p:grpSpPr>
      <p:sp>
        <p:nvSpPr>
          <p:cNvPr id="324" name="Google Shape;324;p19"/>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328" name="Google Shape;328;p19"/>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29" name="Google Shape;329;p19"/>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330" name="Google Shape;330;p19"/>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Discussion Section Shape</a:t>
            </a:r>
            <a:endParaRPr sz="2700">
              <a:solidFill>
                <a:schemeClr val="dk1"/>
              </a:solidFill>
              <a:latin typeface="Arial"/>
              <a:ea typeface="Arial"/>
              <a:cs typeface="Arial"/>
              <a:sym typeface="Arial"/>
            </a:endParaRPr>
          </a:p>
        </p:txBody>
      </p:sp>
      <p:sp>
        <p:nvSpPr>
          <p:cNvPr id="331" name="Google Shape;331;p19"/>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A full discussion can be built from connected CER moves.</a:t>
            </a:r>
            <a:endParaRPr sz="1200">
              <a:solidFill>
                <a:schemeClr val="dk1"/>
              </a:solidFill>
              <a:latin typeface="Arial"/>
              <a:ea typeface="Arial"/>
              <a:cs typeface="Arial"/>
              <a:sym typeface="Arial"/>
            </a:endParaRPr>
          </a:p>
        </p:txBody>
      </p:sp>
      <p:cxnSp>
        <p:nvCxnSpPr>
          <p:cNvPr id="332" name="Google Shape;332;p19"/>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333" name="Google Shape;333;p19"/>
          <p:cNvSpPr/>
          <p:nvPr/>
        </p:nvSpPr>
        <p:spPr>
          <a:xfrm>
            <a:off x="868680" y="1691640"/>
            <a:ext cx="502920" cy="4114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868680" y="1783080"/>
            <a:ext cx="5029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lay"/>
              <a:buNone/>
            </a:pPr>
            <a:r>
              <a:rPr b="1" lang="en-US" sz="1400">
                <a:solidFill>
                  <a:srgbClr val="FFFFFF"/>
                </a:solidFill>
                <a:latin typeface="Play"/>
                <a:ea typeface="Play"/>
                <a:cs typeface="Play"/>
                <a:sym typeface="Play"/>
              </a:rPr>
              <a:t>1</a:t>
            </a:r>
            <a:endParaRPr sz="1400">
              <a:solidFill>
                <a:schemeClr val="dk1"/>
              </a:solidFill>
              <a:latin typeface="Arial"/>
              <a:ea typeface="Arial"/>
              <a:cs typeface="Arial"/>
              <a:sym typeface="Arial"/>
            </a:endParaRPr>
          </a:p>
        </p:txBody>
      </p:sp>
      <p:sp>
        <p:nvSpPr>
          <p:cNvPr id="335" name="Google Shape;335;p19"/>
          <p:cNvSpPr/>
          <p:nvPr/>
        </p:nvSpPr>
        <p:spPr>
          <a:xfrm>
            <a:off x="1600200" y="173736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Play"/>
              <a:buNone/>
            </a:pPr>
            <a:r>
              <a:rPr b="1" lang="en-US" sz="1800">
                <a:solidFill>
                  <a:srgbClr val="FFFFFF"/>
                </a:solidFill>
                <a:latin typeface="Play"/>
                <a:ea typeface="Play"/>
                <a:cs typeface="Play"/>
                <a:sym typeface="Play"/>
              </a:rPr>
              <a:t>Main claim</a:t>
            </a:r>
            <a:endParaRPr sz="1800">
              <a:solidFill>
                <a:schemeClr val="dk1"/>
              </a:solidFill>
              <a:latin typeface="Arial"/>
              <a:ea typeface="Arial"/>
              <a:cs typeface="Arial"/>
              <a:sym typeface="Arial"/>
            </a:endParaRPr>
          </a:p>
        </p:txBody>
      </p:sp>
      <p:sp>
        <p:nvSpPr>
          <p:cNvPr id="336" name="Google Shape;336;p19"/>
          <p:cNvSpPr/>
          <p:nvPr/>
        </p:nvSpPr>
        <p:spPr>
          <a:xfrm>
            <a:off x="4480560" y="1737360"/>
            <a:ext cx="6675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500"/>
              <a:buFont typeface="Arial"/>
              <a:buNone/>
            </a:pPr>
            <a:r>
              <a:rPr lang="en-US" sz="1500">
                <a:solidFill>
                  <a:srgbClr val="B8B8B8"/>
                </a:solidFill>
                <a:latin typeface="Arial"/>
                <a:ea typeface="Arial"/>
                <a:cs typeface="Arial"/>
                <a:sym typeface="Arial"/>
              </a:rPr>
              <a:t>What does the evidence suggest overall?</a:t>
            </a:r>
            <a:endParaRPr sz="1500">
              <a:solidFill>
                <a:schemeClr val="dk1"/>
              </a:solidFill>
              <a:latin typeface="Arial"/>
              <a:ea typeface="Arial"/>
              <a:cs typeface="Arial"/>
              <a:sym typeface="Arial"/>
            </a:endParaRPr>
          </a:p>
        </p:txBody>
      </p:sp>
      <p:sp>
        <p:nvSpPr>
          <p:cNvPr id="337" name="Google Shape;337;p19"/>
          <p:cNvSpPr/>
          <p:nvPr/>
        </p:nvSpPr>
        <p:spPr>
          <a:xfrm>
            <a:off x="868680" y="2514600"/>
            <a:ext cx="502920" cy="4114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868680" y="2606040"/>
            <a:ext cx="5029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lay"/>
              <a:buNone/>
            </a:pPr>
            <a:r>
              <a:rPr b="1" lang="en-US" sz="1400">
                <a:solidFill>
                  <a:srgbClr val="FFFFFF"/>
                </a:solidFill>
                <a:latin typeface="Play"/>
                <a:ea typeface="Play"/>
                <a:cs typeface="Play"/>
                <a:sym typeface="Play"/>
              </a:rPr>
              <a:t>2</a:t>
            </a:r>
            <a:endParaRPr sz="1400">
              <a:solidFill>
                <a:schemeClr val="dk1"/>
              </a:solidFill>
              <a:latin typeface="Arial"/>
              <a:ea typeface="Arial"/>
              <a:cs typeface="Arial"/>
              <a:sym typeface="Arial"/>
            </a:endParaRPr>
          </a:p>
        </p:txBody>
      </p:sp>
      <p:sp>
        <p:nvSpPr>
          <p:cNvPr id="339" name="Google Shape;339;p19"/>
          <p:cNvSpPr/>
          <p:nvPr/>
        </p:nvSpPr>
        <p:spPr>
          <a:xfrm>
            <a:off x="1600200" y="256032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Play"/>
              <a:buNone/>
            </a:pPr>
            <a:r>
              <a:rPr b="1" lang="en-US" sz="1800">
                <a:solidFill>
                  <a:srgbClr val="FFFFFF"/>
                </a:solidFill>
                <a:latin typeface="Play"/>
                <a:ea typeface="Play"/>
                <a:cs typeface="Play"/>
                <a:sym typeface="Play"/>
              </a:rPr>
              <a:t>Evidence and reasoning</a:t>
            </a:r>
            <a:endParaRPr sz="1800">
              <a:solidFill>
                <a:schemeClr val="dk1"/>
              </a:solidFill>
              <a:latin typeface="Arial"/>
              <a:ea typeface="Arial"/>
              <a:cs typeface="Arial"/>
              <a:sym typeface="Arial"/>
            </a:endParaRPr>
          </a:p>
        </p:txBody>
      </p:sp>
      <p:sp>
        <p:nvSpPr>
          <p:cNvPr id="340" name="Google Shape;340;p19"/>
          <p:cNvSpPr/>
          <p:nvPr/>
        </p:nvSpPr>
        <p:spPr>
          <a:xfrm>
            <a:off x="4480560" y="2560320"/>
            <a:ext cx="6675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500"/>
              <a:buFont typeface="Arial"/>
              <a:buNone/>
            </a:pPr>
            <a:r>
              <a:rPr lang="en-US" sz="1500">
                <a:solidFill>
                  <a:srgbClr val="B8B8B8"/>
                </a:solidFill>
                <a:latin typeface="Arial"/>
                <a:ea typeface="Arial"/>
                <a:cs typeface="Arial"/>
                <a:sym typeface="Arial"/>
              </a:rPr>
              <a:t>What specific data support the claim, and why?</a:t>
            </a:r>
            <a:endParaRPr sz="1500">
              <a:solidFill>
                <a:schemeClr val="dk1"/>
              </a:solidFill>
              <a:latin typeface="Arial"/>
              <a:ea typeface="Arial"/>
              <a:cs typeface="Arial"/>
              <a:sym typeface="Arial"/>
            </a:endParaRPr>
          </a:p>
        </p:txBody>
      </p:sp>
      <p:sp>
        <p:nvSpPr>
          <p:cNvPr id="341" name="Google Shape;341;p19"/>
          <p:cNvSpPr/>
          <p:nvPr/>
        </p:nvSpPr>
        <p:spPr>
          <a:xfrm>
            <a:off x="868680" y="3337560"/>
            <a:ext cx="502920" cy="4114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a:off x="868680" y="3429000"/>
            <a:ext cx="5029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lay"/>
              <a:buNone/>
            </a:pPr>
            <a:r>
              <a:rPr b="1" lang="en-US" sz="1400">
                <a:solidFill>
                  <a:srgbClr val="FFFFFF"/>
                </a:solidFill>
                <a:latin typeface="Play"/>
                <a:ea typeface="Play"/>
                <a:cs typeface="Play"/>
                <a:sym typeface="Play"/>
              </a:rPr>
              <a:t>3</a:t>
            </a:r>
            <a:endParaRPr sz="1400">
              <a:solidFill>
                <a:schemeClr val="dk1"/>
              </a:solidFill>
              <a:latin typeface="Arial"/>
              <a:ea typeface="Arial"/>
              <a:cs typeface="Arial"/>
              <a:sym typeface="Arial"/>
            </a:endParaRPr>
          </a:p>
        </p:txBody>
      </p:sp>
      <p:sp>
        <p:nvSpPr>
          <p:cNvPr id="343" name="Google Shape;343;p19"/>
          <p:cNvSpPr/>
          <p:nvPr/>
        </p:nvSpPr>
        <p:spPr>
          <a:xfrm>
            <a:off x="1600200" y="338328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Play"/>
              <a:buNone/>
            </a:pPr>
            <a:r>
              <a:rPr b="1" lang="en-US" sz="1800">
                <a:solidFill>
                  <a:srgbClr val="FFFFFF"/>
                </a:solidFill>
                <a:latin typeface="Play"/>
                <a:ea typeface="Play"/>
                <a:cs typeface="Play"/>
                <a:sym typeface="Play"/>
              </a:rPr>
              <a:t>Hypothesis or criteria</a:t>
            </a:r>
            <a:endParaRPr sz="1800">
              <a:solidFill>
                <a:schemeClr val="dk1"/>
              </a:solidFill>
              <a:latin typeface="Arial"/>
              <a:ea typeface="Arial"/>
              <a:cs typeface="Arial"/>
              <a:sym typeface="Arial"/>
            </a:endParaRPr>
          </a:p>
        </p:txBody>
      </p:sp>
      <p:sp>
        <p:nvSpPr>
          <p:cNvPr id="344" name="Google Shape;344;p19"/>
          <p:cNvSpPr/>
          <p:nvPr/>
        </p:nvSpPr>
        <p:spPr>
          <a:xfrm>
            <a:off x="4480560" y="3383280"/>
            <a:ext cx="6675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500"/>
              <a:buFont typeface="Arial"/>
              <a:buNone/>
            </a:pPr>
            <a:r>
              <a:rPr lang="en-US" sz="1500">
                <a:solidFill>
                  <a:srgbClr val="B8B8B8"/>
                </a:solidFill>
                <a:latin typeface="Arial"/>
                <a:ea typeface="Arial"/>
                <a:cs typeface="Arial"/>
                <a:sym typeface="Arial"/>
              </a:rPr>
              <a:t>Was the prediction supported or were criteria met?</a:t>
            </a:r>
            <a:endParaRPr sz="1500">
              <a:solidFill>
                <a:schemeClr val="dk1"/>
              </a:solidFill>
              <a:latin typeface="Arial"/>
              <a:ea typeface="Arial"/>
              <a:cs typeface="Arial"/>
              <a:sym typeface="Arial"/>
            </a:endParaRPr>
          </a:p>
        </p:txBody>
      </p:sp>
      <p:sp>
        <p:nvSpPr>
          <p:cNvPr id="345" name="Google Shape;345;p19"/>
          <p:cNvSpPr/>
          <p:nvPr/>
        </p:nvSpPr>
        <p:spPr>
          <a:xfrm>
            <a:off x="868680" y="4160520"/>
            <a:ext cx="502920" cy="4114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868680" y="4251960"/>
            <a:ext cx="5029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lay"/>
              <a:buNone/>
            </a:pPr>
            <a:r>
              <a:rPr b="1" lang="en-US" sz="1400">
                <a:solidFill>
                  <a:srgbClr val="FFFFFF"/>
                </a:solidFill>
                <a:latin typeface="Play"/>
                <a:ea typeface="Play"/>
                <a:cs typeface="Play"/>
                <a:sym typeface="Play"/>
              </a:rPr>
              <a:t>4</a:t>
            </a:r>
            <a:endParaRPr sz="1400">
              <a:solidFill>
                <a:schemeClr val="dk1"/>
              </a:solidFill>
              <a:latin typeface="Arial"/>
              <a:ea typeface="Arial"/>
              <a:cs typeface="Arial"/>
              <a:sym typeface="Arial"/>
            </a:endParaRPr>
          </a:p>
        </p:txBody>
      </p:sp>
      <p:sp>
        <p:nvSpPr>
          <p:cNvPr id="347" name="Google Shape;347;p19"/>
          <p:cNvSpPr/>
          <p:nvPr/>
        </p:nvSpPr>
        <p:spPr>
          <a:xfrm>
            <a:off x="1600200" y="420624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Play"/>
              <a:buNone/>
            </a:pPr>
            <a:r>
              <a:rPr b="1" lang="en-US" sz="1800">
                <a:solidFill>
                  <a:srgbClr val="FFFFFF"/>
                </a:solidFill>
                <a:latin typeface="Play"/>
                <a:ea typeface="Play"/>
                <a:cs typeface="Play"/>
                <a:sym typeface="Play"/>
              </a:rPr>
              <a:t>Limitations</a:t>
            </a:r>
            <a:endParaRPr sz="1800">
              <a:solidFill>
                <a:schemeClr val="dk1"/>
              </a:solidFill>
              <a:latin typeface="Arial"/>
              <a:ea typeface="Arial"/>
              <a:cs typeface="Arial"/>
              <a:sym typeface="Arial"/>
            </a:endParaRPr>
          </a:p>
        </p:txBody>
      </p:sp>
      <p:sp>
        <p:nvSpPr>
          <p:cNvPr id="348" name="Google Shape;348;p19"/>
          <p:cNvSpPr/>
          <p:nvPr/>
        </p:nvSpPr>
        <p:spPr>
          <a:xfrm>
            <a:off x="4480560" y="4206240"/>
            <a:ext cx="6675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500"/>
              <a:buFont typeface="Arial"/>
              <a:buNone/>
            </a:pPr>
            <a:r>
              <a:rPr lang="en-US" sz="1500">
                <a:solidFill>
                  <a:srgbClr val="B8B8B8"/>
                </a:solidFill>
                <a:latin typeface="Arial"/>
                <a:ea typeface="Arial"/>
                <a:cs typeface="Arial"/>
                <a:sym typeface="Arial"/>
              </a:rPr>
              <a:t>What affects confidence in the result?</a:t>
            </a:r>
            <a:endParaRPr sz="1500">
              <a:solidFill>
                <a:schemeClr val="dk1"/>
              </a:solidFill>
              <a:latin typeface="Arial"/>
              <a:ea typeface="Arial"/>
              <a:cs typeface="Arial"/>
              <a:sym typeface="Arial"/>
            </a:endParaRPr>
          </a:p>
        </p:txBody>
      </p:sp>
      <p:sp>
        <p:nvSpPr>
          <p:cNvPr id="349" name="Google Shape;349;p19"/>
          <p:cNvSpPr/>
          <p:nvPr/>
        </p:nvSpPr>
        <p:spPr>
          <a:xfrm>
            <a:off x="868680" y="4983480"/>
            <a:ext cx="502920" cy="411480"/>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9"/>
          <p:cNvSpPr/>
          <p:nvPr/>
        </p:nvSpPr>
        <p:spPr>
          <a:xfrm>
            <a:off x="868680" y="5074920"/>
            <a:ext cx="5029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lay"/>
              <a:buNone/>
            </a:pPr>
            <a:r>
              <a:rPr b="1" lang="en-US" sz="1400">
                <a:solidFill>
                  <a:srgbClr val="FFFFFF"/>
                </a:solidFill>
                <a:latin typeface="Play"/>
                <a:ea typeface="Play"/>
                <a:cs typeface="Play"/>
                <a:sym typeface="Play"/>
              </a:rPr>
              <a:t>5</a:t>
            </a:r>
            <a:endParaRPr sz="1400">
              <a:solidFill>
                <a:schemeClr val="dk1"/>
              </a:solidFill>
              <a:latin typeface="Arial"/>
              <a:ea typeface="Arial"/>
              <a:cs typeface="Arial"/>
              <a:sym typeface="Arial"/>
            </a:endParaRPr>
          </a:p>
        </p:txBody>
      </p:sp>
      <p:sp>
        <p:nvSpPr>
          <p:cNvPr id="351" name="Google Shape;351;p19"/>
          <p:cNvSpPr/>
          <p:nvPr/>
        </p:nvSpPr>
        <p:spPr>
          <a:xfrm>
            <a:off x="1600200" y="502920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Play"/>
              <a:buNone/>
            </a:pPr>
            <a:r>
              <a:rPr b="1" lang="en-US" sz="1800">
                <a:solidFill>
                  <a:srgbClr val="FFFFFF"/>
                </a:solidFill>
                <a:latin typeface="Play"/>
                <a:ea typeface="Play"/>
                <a:cs typeface="Play"/>
                <a:sym typeface="Play"/>
              </a:rPr>
              <a:t>Future work</a:t>
            </a:r>
            <a:endParaRPr sz="1800">
              <a:solidFill>
                <a:schemeClr val="dk1"/>
              </a:solidFill>
              <a:latin typeface="Arial"/>
              <a:ea typeface="Arial"/>
              <a:cs typeface="Arial"/>
              <a:sym typeface="Arial"/>
            </a:endParaRPr>
          </a:p>
        </p:txBody>
      </p:sp>
      <p:sp>
        <p:nvSpPr>
          <p:cNvPr id="352" name="Google Shape;352;p19"/>
          <p:cNvSpPr/>
          <p:nvPr/>
        </p:nvSpPr>
        <p:spPr>
          <a:xfrm>
            <a:off x="4480560" y="5029200"/>
            <a:ext cx="6675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500"/>
              <a:buFont typeface="Arial"/>
              <a:buNone/>
            </a:pPr>
            <a:r>
              <a:rPr lang="en-US" sz="1500">
                <a:solidFill>
                  <a:srgbClr val="B8B8B8"/>
                </a:solidFill>
                <a:latin typeface="Arial"/>
                <a:ea typeface="Arial"/>
                <a:cs typeface="Arial"/>
                <a:sym typeface="Arial"/>
              </a:rPr>
              <a:t>What should happen next based on the evidence?</a:t>
            </a:r>
            <a:endParaRPr sz="15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57" name="Shape 357"/>
        <p:cNvGrpSpPr/>
        <p:nvPr/>
      </p:nvGrpSpPr>
      <p:grpSpPr>
        <a:xfrm>
          <a:off x="0" y="0"/>
          <a:ext cx="0" cy="0"/>
          <a:chOff x="0" y="0"/>
          <a:chExt cx="0" cy="0"/>
        </a:xfrm>
      </p:grpSpPr>
      <p:sp>
        <p:nvSpPr>
          <p:cNvPr id="358" name="Google Shape;358;p20"/>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0"/>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0"/>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0"/>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SCIENTIFIC REPORTING</a:t>
            </a:r>
            <a:endParaRPr sz="1000">
              <a:solidFill>
                <a:schemeClr val="dk1"/>
              </a:solidFill>
              <a:latin typeface="Arial"/>
              <a:ea typeface="Arial"/>
              <a:cs typeface="Arial"/>
              <a:sym typeface="Arial"/>
            </a:endParaRPr>
          </a:p>
        </p:txBody>
      </p:sp>
      <p:sp>
        <p:nvSpPr>
          <p:cNvPr id="362" name="Google Shape;362;p20"/>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63" name="Google Shape;363;p20"/>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14</a:t>
            </a:r>
            <a:endParaRPr sz="1100">
              <a:solidFill>
                <a:schemeClr val="dk1"/>
              </a:solidFill>
              <a:latin typeface="Arial"/>
              <a:ea typeface="Arial"/>
              <a:cs typeface="Arial"/>
              <a:sym typeface="Arial"/>
            </a:endParaRPr>
          </a:p>
        </p:txBody>
      </p:sp>
      <p:sp>
        <p:nvSpPr>
          <p:cNvPr id="364" name="Google Shape;364;p20"/>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Discussion Draft Checkpoint</a:t>
            </a:r>
            <a:endParaRPr sz="2700">
              <a:solidFill>
                <a:schemeClr val="dk1"/>
              </a:solidFill>
              <a:latin typeface="Arial"/>
              <a:ea typeface="Arial"/>
              <a:cs typeface="Arial"/>
              <a:sym typeface="Arial"/>
            </a:endParaRPr>
          </a:p>
        </p:txBody>
      </p:sp>
      <p:sp>
        <p:nvSpPr>
          <p:cNvPr id="365" name="Google Shape;365;p20"/>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Before moving on, every discussion needs these pieces.</a:t>
            </a:r>
            <a:endParaRPr sz="1200">
              <a:solidFill>
                <a:schemeClr val="dk1"/>
              </a:solidFill>
              <a:latin typeface="Arial"/>
              <a:ea typeface="Arial"/>
              <a:cs typeface="Arial"/>
              <a:sym typeface="Arial"/>
            </a:endParaRPr>
          </a:p>
        </p:txBody>
      </p:sp>
      <p:cxnSp>
        <p:nvCxnSpPr>
          <p:cNvPr id="366" name="Google Shape;366;p20"/>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367" name="Google Shape;367;p20"/>
          <p:cNvSpPr/>
          <p:nvPr/>
        </p:nvSpPr>
        <p:spPr>
          <a:xfrm>
            <a:off x="960120" y="1737360"/>
            <a:ext cx="10241280" cy="4023360"/>
          </a:xfrm>
          <a:prstGeom prst="rect">
            <a:avLst/>
          </a:prstGeom>
          <a:noFill/>
          <a:ln>
            <a:noFill/>
          </a:ln>
        </p:spPr>
        <p:txBody>
          <a:bodyPr anchorCtr="0" anchor="ctr" bIns="1000" lIns="1000" spcFirstLastPara="1" rIns="1000" wrap="square" tIns="1000">
            <a:noAutofit/>
          </a:bodyPr>
          <a:lstStyle/>
          <a:p>
            <a:pPr indent="0" lvl="0" marL="0" marR="0" rtl="0" algn="l">
              <a:spcBef>
                <a:spcPts val="0"/>
              </a:spcBef>
              <a:spcAft>
                <a:spcPts val="0"/>
              </a:spcAft>
              <a:buNone/>
            </a:pPr>
            <a:r>
              <a:rPr lang="en-US" sz="2000">
                <a:solidFill>
                  <a:srgbClr val="FFFFFF"/>
                </a:solidFill>
                <a:latin typeface="Arial"/>
                <a:ea typeface="Arial"/>
                <a:cs typeface="Arial"/>
                <a:sym typeface="Arial"/>
              </a:rPr>
              <a:t>A clear main claim that fits the evidence.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Specific evidence from the project, not vague references to “the data.”</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Reasoning that explains why the evidence matters.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Connection to the hypothesis, research question, engineering goal, or design criteria.</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Specific limitations or sources of error.</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rgbClr val="FFFFFF"/>
                </a:solidFill>
                <a:latin typeface="Arial"/>
                <a:ea typeface="Arial"/>
                <a:cs typeface="Arial"/>
                <a:sym typeface="Arial"/>
              </a:rPr>
              <a:t>Future work that follows from the evidence.</a:t>
            </a:r>
            <a:endParaRPr sz="20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72" name="Shape 372"/>
        <p:cNvGrpSpPr/>
        <p:nvPr/>
      </p:nvGrpSpPr>
      <p:grpSpPr>
        <a:xfrm>
          <a:off x="0" y="0"/>
          <a:ext cx="0" cy="0"/>
          <a:chOff x="0" y="0"/>
          <a:chExt cx="0" cy="0"/>
        </a:xfrm>
      </p:grpSpPr>
      <p:sp>
        <p:nvSpPr>
          <p:cNvPr id="373" name="Google Shape;373;p21"/>
          <p:cNvSpPr/>
          <p:nvPr/>
        </p:nvSpPr>
        <p:spPr>
          <a:xfrm>
            <a:off x="0" y="0"/>
            <a:ext cx="12191695" cy="6858000"/>
          </a:xfrm>
          <a:prstGeom prst="rect">
            <a:avLst/>
          </a:prstGeom>
          <a:solidFill>
            <a:srgbClr val="050505"/>
          </a:solidFill>
          <a:ln cap="flat" cmpd="sng" w="12700">
            <a:solidFill>
              <a:srgbClr val="05050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1"/>
          <p:cNvSpPr/>
          <p:nvPr/>
        </p:nvSpPr>
        <p:spPr>
          <a:xfrm>
            <a:off x="0" y="164592"/>
            <a:ext cx="12191695" cy="73152"/>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p:nvPr/>
        </p:nvSpPr>
        <p:spPr>
          <a:xfrm>
            <a:off x="0" y="6729984"/>
            <a:ext cx="12191695" cy="54864"/>
          </a:xfrm>
          <a:prstGeom prst="rect">
            <a:avLst/>
          </a:prstGeom>
          <a:solidFill>
            <a:srgbClr val="E22B27"/>
          </a:solidFill>
          <a:ln cap="flat" cmpd="sng" w="12700">
            <a:solidFill>
              <a:srgbClr val="E22B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1"/>
          <p:cNvSpPr/>
          <p:nvPr/>
        </p:nvSpPr>
        <p:spPr>
          <a:xfrm>
            <a:off x="411480" y="6236208"/>
            <a:ext cx="42062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NEXT DECK</a:t>
            </a:r>
            <a:endParaRPr sz="1000">
              <a:solidFill>
                <a:schemeClr val="dk1"/>
              </a:solidFill>
              <a:latin typeface="Arial"/>
              <a:ea typeface="Arial"/>
              <a:cs typeface="Arial"/>
              <a:sym typeface="Arial"/>
            </a:endParaRPr>
          </a:p>
        </p:txBody>
      </p:sp>
      <p:sp>
        <p:nvSpPr>
          <p:cNvPr id="377" name="Google Shape;377;p21"/>
          <p:cNvSpPr/>
          <p:nvPr/>
        </p:nvSpPr>
        <p:spPr>
          <a:xfrm>
            <a:off x="10515600" y="6236208"/>
            <a:ext cx="12344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B8B8"/>
              </a:buClr>
              <a:buSzPts val="1000"/>
              <a:buFont typeface="Arial"/>
              <a:buNone/>
            </a:pPr>
            <a:r>
              <a:rPr b="1" lang="en-US" sz="1000">
                <a:solidFill>
                  <a:srgbClr val="B8B8B8"/>
                </a:solidFill>
                <a:latin typeface="Arial"/>
                <a:ea typeface="Arial"/>
                <a:cs typeface="Arial"/>
                <a:sym typeface="Arial"/>
              </a:rPr>
              <a:t>STARLAB</a:t>
            </a:r>
            <a:endParaRPr sz="1000">
              <a:solidFill>
                <a:schemeClr val="dk1"/>
              </a:solidFill>
              <a:latin typeface="Arial"/>
              <a:ea typeface="Arial"/>
              <a:cs typeface="Arial"/>
              <a:sym typeface="Arial"/>
            </a:endParaRPr>
          </a:p>
        </p:txBody>
      </p:sp>
      <p:sp>
        <p:nvSpPr>
          <p:cNvPr id="378" name="Google Shape;378;p21"/>
          <p:cNvSpPr/>
          <p:nvPr/>
        </p:nvSpPr>
        <p:spPr>
          <a:xfrm>
            <a:off x="10195560" y="384048"/>
            <a:ext cx="132588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22B27"/>
              </a:buClr>
              <a:buSzPts val="1100"/>
              <a:buFont typeface="Arial"/>
              <a:buNone/>
            </a:pPr>
            <a:r>
              <a:rPr b="1" lang="en-US" sz="1100">
                <a:solidFill>
                  <a:srgbClr val="E22B27"/>
                </a:solidFill>
                <a:latin typeface="Arial"/>
                <a:ea typeface="Arial"/>
                <a:cs typeface="Arial"/>
                <a:sym typeface="Arial"/>
              </a:rPr>
              <a:t>DECK 15</a:t>
            </a:r>
            <a:endParaRPr sz="1100">
              <a:solidFill>
                <a:schemeClr val="dk1"/>
              </a:solidFill>
              <a:latin typeface="Arial"/>
              <a:ea typeface="Arial"/>
              <a:cs typeface="Arial"/>
              <a:sym typeface="Arial"/>
            </a:endParaRPr>
          </a:p>
        </p:txBody>
      </p:sp>
      <p:sp>
        <p:nvSpPr>
          <p:cNvPr id="379" name="Google Shape;379;p21"/>
          <p:cNvSpPr/>
          <p:nvPr/>
        </p:nvSpPr>
        <p:spPr>
          <a:xfrm>
            <a:off x="685800" y="694944"/>
            <a:ext cx="982980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lay"/>
              <a:buNone/>
            </a:pPr>
            <a:r>
              <a:rPr b="1" lang="en-US" sz="2700">
                <a:solidFill>
                  <a:srgbClr val="FFFFFF"/>
                </a:solidFill>
                <a:latin typeface="Play"/>
                <a:ea typeface="Play"/>
                <a:cs typeface="Play"/>
                <a:sym typeface="Play"/>
              </a:rPr>
              <a:t>Next Deck</a:t>
            </a:r>
            <a:endParaRPr sz="2700">
              <a:solidFill>
                <a:schemeClr val="dk1"/>
              </a:solidFill>
              <a:latin typeface="Arial"/>
              <a:ea typeface="Arial"/>
              <a:cs typeface="Arial"/>
              <a:sym typeface="Arial"/>
            </a:endParaRPr>
          </a:p>
        </p:txBody>
      </p:sp>
      <p:sp>
        <p:nvSpPr>
          <p:cNvPr id="380" name="Google Shape;380;p21"/>
          <p:cNvSpPr/>
          <p:nvPr/>
        </p:nvSpPr>
        <p:spPr>
          <a:xfrm>
            <a:off x="694944" y="1271016"/>
            <a:ext cx="9875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8B8"/>
              </a:buClr>
              <a:buSzPts val="1200"/>
              <a:buFont typeface="Arial"/>
              <a:buNone/>
            </a:pPr>
            <a:r>
              <a:rPr lang="en-US" sz="1200">
                <a:solidFill>
                  <a:srgbClr val="B8B8B8"/>
                </a:solidFill>
                <a:latin typeface="Arial"/>
                <a:ea typeface="Arial"/>
                <a:cs typeface="Arial"/>
                <a:sym typeface="Arial"/>
              </a:rPr>
              <a:t>Peer Review and Scientific Revision</a:t>
            </a:r>
            <a:endParaRPr sz="1200">
              <a:solidFill>
                <a:schemeClr val="dk1"/>
              </a:solidFill>
              <a:latin typeface="Arial"/>
              <a:ea typeface="Arial"/>
              <a:cs typeface="Arial"/>
              <a:sym typeface="Arial"/>
            </a:endParaRPr>
          </a:p>
        </p:txBody>
      </p:sp>
      <p:cxnSp>
        <p:nvCxnSpPr>
          <p:cNvPr id="381" name="Google Shape;381;p21"/>
          <p:cNvCxnSpPr/>
          <p:nvPr/>
        </p:nvCxnSpPr>
        <p:spPr>
          <a:xfrm>
            <a:off x="685800" y="1591056"/>
            <a:ext cx="10789920" cy="0"/>
          </a:xfrm>
          <a:prstGeom prst="straightConnector1">
            <a:avLst/>
          </a:prstGeom>
          <a:noFill/>
          <a:ln cap="flat" cmpd="sng" w="16500">
            <a:solidFill>
              <a:srgbClr val="E22B27"/>
            </a:solidFill>
            <a:prstDash val="solid"/>
            <a:round/>
            <a:headEnd len="sm" w="sm" type="none"/>
            <a:tailEnd len="sm" w="sm" type="none"/>
          </a:ln>
        </p:spPr>
      </p:cxnSp>
      <p:sp>
        <p:nvSpPr>
          <p:cNvPr id="382" name="Google Shape;382;p21"/>
          <p:cNvSpPr/>
          <p:nvPr/>
        </p:nvSpPr>
        <p:spPr>
          <a:xfrm>
            <a:off x="1005840" y="1965960"/>
            <a:ext cx="10149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Play"/>
              <a:buNone/>
            </a:pPr>
            <a:r>
              <a:rPr b="1" lang="en-US" sz="3000">
                <a:solidFill>
                  <a:srgbClr val="FFFFFF"/>
                </a:solidFill>
                <a:latin typeface="Play"/>
                <a:ea typeface="Play"/>
                <a:cs typeface="Play"/>
                <a:sym typeface="Play"/>
              </a:rPr>
              <a:t>A strong discussion becomes stronger when another reader challenges the clarity, evidence, and reasoning.</a:t>
            </a:r>
            <a:endParaRPr sz="3000">
              <a:solidFill>
                <a:schemeClr val="dk1"/>
              </a:solidFill>
              <a:latin typeface="Arial"/>
              <a:ea typeface="Arial"/>
              <a:cs typeface="Arial"/>
              <a:sym typeface="Arial"/>
            </a:endParaRPr>
          </a:p>
        </p:txBody>
      </p:sp>
      <p:cxnSp>
        <p:nvCxnSpPr>
          <p:cNvPr id="383" name="Google Shape;383;p21"/>
          <p:cNvCxnSpPr/>
          <p:nvPr/>
        </p:nvCxnSpPr>
        <p:spPr>
          <a:xfrm>
            <a:off x="1828800" y="3657600"/>
            <a:ext cx="8503920" cy="0"/>
          </a:xfrm>
          <a:prstGeom prst="straightConnector1">
            <a:avLst/>
          </a:prstGeom>
          <a:noFill/>
          <a:ln cap="flat" cmpd="sng" w="19050">
            <a:solidFill>
              <a:srgbClr val="E22B27"/>
            </a:solidFill>
            <a:prstDash val="solid"/>
            <a:round/>
            <a:headEnd len="sm" w="sm" type="none"/>
            <a:tailEnd len="sm" w="sm" type="none"/>
          </a:ln>
        </p:spPr>
      </p:cxnSp>
      <p:sp>
        <p:nvSpPr>
          <p:cNvPr id="384" name="Google Shape;384;p21"/>
          <p:cNvSpPr/>
          <p:nvPr/>
        </p:nvSpPr>
        <p:spPr>
          <a:xfrm>
            <a:off x="1280160" y="4160520"/>
            <a:ext cx="9692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B8B8"/>
              </a:buClr>
              <a:buSzPts val="2200"/>
              <a:buFont typeface="Arial"/>
              <a:buNone/>
            </a:pPr>
            <a:r>
              <a:rPr lang="en-US" sz="2200">
                <a:solidFill>
                  <a:srgbClr val="B8B8B8"/>
                </a:solidFill>
                <a:latin typeface="Arial"/>
                <a:ea typeface="Arial"/>
                <a:cs typeface="Arial"/>
                <a:sym typeface="Arial"/>
              </a:rPr>
              <a:t>Next: learn how to give and use specific scientific feedback.</a:t>
            </a:r>
            <a:endParaRPr sz="22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