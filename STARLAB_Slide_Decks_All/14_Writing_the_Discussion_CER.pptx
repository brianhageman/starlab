
<file path=[Content_Types].xml><?xml version="1.0" encoding="utf-8"?>
<Types xmlns="http://schemas.openxmlformats.org/package/2006/content-types">
  <Default Extension="xml" ContentType="application/vnd.openxmlformats-package.core-properties+xml"/>
  <Default Extension="dat" ContentType="application/x-fontdata"/>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1e941e6b3c25455f" /><Relationship Type="http://schemas.openxmlformats.org/officeDocument/2006/relationships/extended-properties" Target="/docProps/app.xml" Id="Ra3e6471ffa554466" /><Relationship Type="http://schemas.openxmlformats.org/officeDocument/2006/relationships/officeDocument" Target="/ppt/presentation.xml" Id="Re83f21f1b97948cb" /></Relationships>
</file>

<file path=ppt/presentation.xml><?xml version="1.0" encoding="utf-8"?>
<p:presentation xmlns:p="http://schemas.openxmlformats.org/presentationml/2006/main" embedTrueTypeFonts="1" saveSubsetFonts="0">
  <p:sldMasterIdLst>
    <p:sldMasterId xmlns:r="http://schemas.openxmlformats.org/officeDocument/2006/relationships" id="2147483648" r:id="R308a9c478a7b4d1a"/>
  </p:sldMasterIdLst>
  <p:notesMasterIdLst>
    <p:notesMasterId xmlns:r="http://schemas.openxmlformats.org/officeDocument/2006/relationships" r:id="R3dbb908ebe574c63"/>
  </p:notesMasterIdLst>
  <p:sldIdLst>
    <p:sldId xmlns:r="http://schemas.openxmlformats.org/officeDocument/2006/relationships" id="256" r:id="Re3eae5f9fefe4d1b"/>
    <p:sldId xmlns:r="http://schemas.openxmlformats.org/officeDocument/2006/relationships" id="257" r:id="Rf09b2403dc294863"/>
    <p:sldId xmlns:r="http://schemas.openxmlformats.org/officeDocument/2006/relationships" id="258" r:id="Rd4d70b6187ca4475"/>
    <p:sldId xmlns:r="http://schemas.openxmlformats.org/officeDocument/2006/relationships" id="259" r:id="R5c53853efe0d43e6"/>
    <p:sldId xmlns:r="http://schemas.openxmlformats.org/officeDocument/2006/relationships" id="260" r:id="R737d02716d134b47"/>
    <p:sldId xmlns:r="http://schemas.openxmlformats.org/officeDocument/2006/relationships" id="261" r:id="R32ef5cb832d9476b"/>
    <p:sldId xmlns:r="http://schemas.openxmlformats.org/officeDocument/2006/relationships" id="262" r:id="Redc64658efb64460"/>
    <p:sldId xmlns:r="http://schemas.openxmlformats.org/officeDocument/2006/relationships" id="263" r:id="R57c8cd3b1ccf49b9"/>
    <p:sldId xmlns:r="http://schemas.openxmlformats.org/officeDocument/2006/relationships" id="264" r:id="R4680bfed756f4201"/>
    <p:sldId xmlns:r="http://schemas.openxmlformats.org/officeDocument/2006/relationships" id="265" r:id="R055a2993c7eb45a5"/>
    <p:sldId xmlns:r="http://schemas.openxmlformats.org/officeDocument/2006/relationships" id="266" r:id="R341018066c1847f9"/>
    <p:sldId xmlns:r="http://schemas.openxmlformats.org/officeDocument/2006/relationships" id="267" r:id="Rc449f987013d40cb"/>
    <p:sldId xmlns:r="http://schemas.openxmlformats.org/officeDocument/2006/relationships" id="268" r:id="R0235fc0730ca436a"/>
    <p:sldId xmlns:r="http://schemas.openxmlformats.org/officeDocument/2006/relationships" id="269" r:id="R86d32685be424a4d"/>
    <p:sldId xmlns:r="http://schemas.openxmlformats.org/officeDocument/2006/relationships" id="270" r:id="Ra6b0cf71540d4362"/>
    <p:sldId xmlns:r="http://schemas.openxmlformats.org/officeDocument/2006/relationships" id="271" r:id="Rc915b2b6171f404b"/>
    <p:sldId xmlns:r="http://schemas.openxmlformats.org/officeDocument/2006/relationships" id="272" r:id="Rd2597ca2dfd0411f"/>
    <p:sldId xmlns:r="http://schemas.openxmlformats.org/officeDocument/2006/relationships" id="273" r:id="Rfe979f6b9ba043be"/>
    <p:sldId xmlns:r="http://schemas.openxmlformats.org/officeDocument/2006/relationships" id="274" r:id="R24f9aae0ed914972"/>
  </p:sldIdLst>
  <p:sldSz cx="12191675" cy="6858000"/>
  <p:notesSz cx="6858000" cy="9144000"/>
  <p:embeddedFontLst>
    <p:embeddedFont>
      <p:font typeface="Play"/>
      <p:regular xmlns:r="http://schemas.openxmlformats.org/officeDocument/2006/relationships" r:id="Re7db36f539274016"/>
      <p:bold xmlns:r="http://schemas.openxmlformats.org/officeDocument/2006/relationships" r:id="R83c736007fb04c5c"/>
    </p:embeddedFont>
  </p:embeddedFontLst>
  <p:defaultTextStyle>
    <a:defPPr xmlns:a="http://schemas.openxmlformats.org/drawingml/2006/main">
      <a:defRPr lang="en-US"/>
    </a:defPPr>
    <a:lvl1pPr xmlns:a="http://schemas.openxmlformats.org/drawingml/2006/main" marL="0" indent="0" algn="l" defTabSz="914400">
      <a:defRPr sz="1800" kern="1200">
        <a:solidFill>
          <a:schemeClr val="tx1"/>
        </a:solidFill>
        <a:latin typeface="+mn-lt"/>
        <a:ea typeface="+mn-ea"/>
        <a:cs typeface="+mn-cs"/>
      </a:defRPr>
    </a:lvl1pPr>
    <a:lvl2pPr xmlns:a="http://schemas.openxmlformats.org/drawingml/2006/main" marL="457200" indent="0" algn="l" defTabSz="914400">
      <a:defRPr sz="1800" kern="1200">
        <a:solidFill>
          <a:schemeClr val="tx1"/>
        </a:solidFill>
        <a:latin typeface="+mn-lt"/>
        <a:ea typeface="+mn-ea"/>
        <a:cs typeface="+mn-cs"/>
      </a:defRPr>
    </a:lvl2pPr>
    <a:lvl3pPr xmlns:a="http://schemas.openxmlformats.org/drawingml/2006/main" marL="914400" indent="0" algn="l" defTabSz="914400">
      <a:defRPr sz="1800" kern="1200">
        <a:solidFill>
          <a:schemeClr val="tx1"/>
        </a:solidFill>
        <a:latin typeface="+mn-lt"/>
        <a:ea typeface="+mn-ea"/>
        <a:cs typeface="+mn-cs"/>
      </a:defRPr>
    </a:lvl3pPr>
    <a:lvl4pPr xmlns:a="http://schemas.openxmlformats.org/drawingml/2006/main" marL="1371600" indent="0" algn="l" defTabSz="914400">
      <a:defRPr sz="1800" kern="1200">
        <a:solidFill>
          <a:schemeClr val="tx1"/>
        </a:solidFill>
        <a:latin typeface="+mn-lt"/>
        <a:ea typeface="+mn-ea"/>
        <a:cs typeface="+mn-cs"/>
      </a:defRPr>
    </a:lvl4pPr>
    <a:lvl5pPr xmlns:a="http://schemas.openxmlformats.org/drawingml/2006/main" marL="1828800" indent="0" algn="l" defTabSz="914400">
      <a:defRPr sz="1800" kern="1200">
        <a:solidFill>
          <a:schemeClr val="tx1"/>
        </a:solidFill>
        <a:latin typeface="+mn-lt"/>
        <a:ea typeface="+mn-ea"/>
        <a:cs typeface="+mn-cs"/>
      </a:defRPr>
    </a:lvl5pPr>
    <a:lvl6pPr xmlns:a="http://schemas.openxmlformats.org/drawingml/2006/main" marL="2286000" indent="0" algn="l" defTabSz="914400">
      <a:defRPr sz="1800" kern="1200">
        <a:solidFill>
          <a:schemeClr val="tx1"/>
        </a:solidFill>
        <a:latin typeface="+mn-lt"/>
        <a:ea typeface="+mn-ea"/>
        <a:cs typeface="+mn-cs"/>
      </a:defRPr>
    </a:lvl6pPr>
    <a:lvl7pPr xmlns:a="http://schemas.openxmlformats.org/drawingml/2006/main" marL="2743200" indent="0" algn="l" defTabSz="914400">
      <a:defRPr sz="1800" kern="1200">
        <a:solidFill>
          <a:schemeClr val="tx1"/>
        </a:solidFill>
        <a:latin typeface="+mn-lt"/>
        <a:ea typeface="+mn-ea"/>
        <a:cs typeface="+mn-cs"/>
      </a:defRPr>
    </a:lvl7pPr>
    <a:lvl8pPr xmlns:a="http://schemas.openxmlformats.org/drawingml/2006/main" marL="3200400" indent="0" algn="l" defTabSz="914400">
      <a:defRPr sz="1800" kern="1200">
        <a:solidFill>
          <a:schemeClr val="tx1"/>
        </a:solidFill>
        <a:latin typeface="+mn-lt"/>
        <a:ea typeface="+mn-ea"/>
        <a:cs typeface="+mn-cs"/>
      </a:defRPr>
    </a:lvl8pPr>
    <a:lvl9pPr xmlns:a="http://schemas.openxmlformats.org/drawingml/2006/main"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a73e08069ddf487d" /><Relationship Type="http://schemas.openxmlformats.org/officeDocument/2006/relationships/slideMaster" Target="/ppt/slideMasters/slideMaster1.xml" Id="R308a9c478a7b4d1a" /><Relationship Type="http://schemas.openxmlformats.org/officeDocument/2006/relationships/notesMaster" Target="/ppt/notesMasters/notesMaster1.xml" Id="R3dbb908ebe574c63" /><Relationship Type="http://schemas.openxmlformats.org/officeDocument/2006/relationships/presProps" Target="/ppt/presProps.xml" Id="Rcd33ee27ed894114" /><Relationship Type="http://schemas.openxmlformats.org/officeDocument/2006/relationships/tableStyles" Target="/ppt/tableStyles.xml" Id="Re2442fad15ec4f99" /><Relationship Type="http://schemas.openxmlformats.org/officeDocument/2006/relationships/font" Target="/ppt/fonts/font.dat" Id="Re7db36f539274016" /><Relationship Type="http://schemas.openxmlformats.org/officeDocument/2006/relationships/font" Target="/ppt/fonts/font2.dat" Id="R83c736007fb04c5c" /><Relationship Type="http://schemas.openxmlformats.org/officeDocument/2006/relationships/slide" Target="/ppt/slides/slide1.xml" Id="Re3eae5f9fefe4d1b" /><Relationship Type="http://schemas.openxmlformats.org/officeDocument/2006/relationships/slide" Target="/ppt/slides/slide2.xml" Id="Rf09b2403dc294863" /><Relationship Type="http://schemas.openxmlformats.org/officeDocument/2006/relationships/slide" Target="/ppt/slides/slide3.xml" Id="Rd4d70b6187ca4475" /><Relationship Type="http://schemas.openxmlformats.org/officeDocument/2006/relationships/slide" Target="/ppt/slides/slide4.xml" Id="R5c53853efe0d43e6" /><Relationship Type="http://schemas.openxmlformats.org/officeDocument/2006/relationships/slide" Target="/ppt/slides/slide5.xml" Id="R737d02716d134b47" /><Relationship Type="http://schemas.openxmlformats.org/officeDocument/2006/relationships/slide" Target="/ppt/slides/slide6.xml" Id="R32ef5cb832d9476b" /><Relationship Type="http://schemas.openxmlformats.org/officeDocument/2006/relationships/slide" Target="/ppt/slides/slide7.xml" Id="Redc64658efb64460" /><Relationship Type="http://schemas.openxmlformats.org/officeDocument/2006/relationships/slide" Target="/ppt/slides/slide8.xml" Id="R57c8cd3b1ccf49b9" /><Relationship Type="http://schemas.openxmlformats.org/officeDocument/2006/relationships/slide" Target="/ppt/slides/slide9.xml" Id="R4680bfed756f4201" /><Relationship Type="http://schemas.openxmlformats.org/officeDocument/2006/relationships/slide" Target="/ppt/slides/slide10.xml" Id="R055a2993c7eb45a5" /><Relationship Type="http://schemas.openxmlformats.org/officeDocument/2006/relationships/slide" Target="/ppt/slides/slide11.xml" Id="R341018066c1847f9" /><Relationship Type="http://schemas.openxmlformats.org/officeDocument/2006/relationships/slide" Target="/ppt/slides/slide12.xml" Id="Rc449f987013d40cb" /><Relationship Type="http://schemas.openxmlformats.org/officeDocument/2006/relationships/slide" Target="/ppt/slides/slide13.xml" Id="R0235fc0730ca436a" /><Relationship Type="http://schemas.openxmlformats.org/officeDocument/2006/relationships/slide" Target="/ppt/slides/slide14.xml" Id="R86d32685be424a4d" /><Relationship Type="http://schemas.openxmlformats.org/officeDocument/2006/relationships/slide" Target="/ppt/slides/slide15.xml" Id="Ra6b0cf71540d4362" /><Relationship Type="http://schemas.openxmlformats.org/officeDocument/2006/relationships/slide" Target="/ppt/slides/slide16.xml" Id="Rc915b2b6171f404b" /><Relationship Type="http://schemas.openxmlformats.org/officeDocument/2006/relationships/slide" Target="/ppt/slides/slide17.xml" Id="Rd2597ca2dfd0411f" /><Relationship Type="http://schemas.openxmlformats.org/officeDocument/2006/relationships/slide" Target="/ppt/slides/slide18.xml" Id="Rfe979f6b9ba043be" /><Relationship Type="http://schemas.openxmlformats.org/officeDocument/2006/relationships/slide" Target="/ppt/slides/slide19.xml" Id="R24f9aae0ed914972"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e021fc71cea542bd"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dk2" tx2="lt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8a42aaba5a7f4536" /><Relationship Type="http://schemas.openxmlformats.org/officeDocument/2006/relationships/notesMaster" Target="/ppt/notesMasters/notesMaster1.xml" Id="R24a35e1b72004dd7" /></Relationships>
</file>

<file path=ppt/notesSlides/_rels/notesSlide2.xml.rels>&#65279;<?xml version="1.0" encoding="utf-8"?><Relationships xmlns="http://schemas.openxmlformats.org/package/2006/relationships"><Relationship Type="http://schemas.openxmlformats.org/officeDocument/2006/relationships/slide" Target="/ppt/slides/slide2.xml" Id="Rabf3a363184249fb" /><Relationship Type="http://schemas.openxmlformats.org/officeDocument/2006/relationships/notesMaster" Target="/ppt/notesMasters/notesMaster1.xml" Id="R205cbb3afbde4fc6" /></Relationships>
</file>

<file path=ppt/notesSlides/_rels/notesSlide3.xml.rels>&#65279;<?xml version="1.0" encoding="utf-8"?><Relationships xmlns="http://schemas.openxmlformats.org/package/2006/relationships"><Relationship Type="http://schemas.openxmlformats.org/officeDocument/2006/relationships/slide" Target="/ppt/slides/slide3.xml" Id="Rf96da9749048432f" /><Relationship Type="http://schemas.openxmlformats.org/officeDocument/2006/relationships/notesMaster" Target="/ppt/notesMasters/notesMaster1.xml" Id="R54c4b652c5eb4c47" /></Relationships>
</file>

<file path=ppt/notesSlides/_rels/notesSlide4.xml.rels>&#65279;<?xml version="1.0" encoding="utf-8"?><Relationships xmlns="http://schemas.openxmlformats.org/package/2006/relationships"><Relationship Type="http://schemas.openxmlformats.org/officeDocument/2006/relationships/slide" Target="/ppt/slides/slide4.xml" Id="Rc486555fdbb34339" /><Relationship Type="http://schemas.openxmlformats.org/officeDocument/2006/relationships/notesMaster" Target="/ppt/notesMasters/notesMaster1.xml" Id="Rd2ac365c26b44736" /></Relationships>
</file>

<file path=ppt/notesSlides/_rels/notesSlide5.xml.rels>&#65279;<?xml version="1.0" encoding="utf-8"?><Relationships xmlns="http://schemas.openxmlformats.org/package/2006/relationships"><Relationship Type="http://schemas.openxmlformats.org/officeDocument/2006/relationships/slide" Target="/ppt/slides/slide5.xml" Id="R95af1e16271e48dd" /><Relationship Type="http://schemas.openxmlformats.org/officeDocument/2006/relationships/notesMaster" Target="/ppt/notesMasters/notesMaster1.xml" Id="Rc9951cfb8bc1472a" /></Relationships>
</file>

<file path=ppt/notesSlides/_rels/notesSlide6.xml.rels>&#65279;<?xml version="1.0" encoding="utf-8"?><Relationships xmlns="http://schemas.openxmlformats.org/package/2006/relationships"><Relationship Type="http://schemas.openxmlformats.org/officeDocument/2006/relationships/slide" Target="/ppt/slides/slide6.xml" Id="R48433e84d33e4bbb" /><Relationship Type="http://schemas.openxmlformats.org/officeDocument/2006/relationships/notesMaster" Target="/ppt/notesMasters/notesMaster1.xml" Id="R943efe0b40aa4966" /></Relationships>
</file>

<file path=ppt/notesSlides/_rels/notesSlide7.xml.rels>&#65279;<?xml version="1.0" encoding="utf-8"?><Relationships xmlns="http://schemas.openxmlformats.org/package/2006/relationships"><Relationship Type="http://schemas.openxmlformats.org/officeDocument/2006/relationships/slide" Target="/ppt/slides/slide7.xml" Id="R72ab8f25ccf24d41" /><Relationship Type="http://schemas.openxmlformats.org/officeDocument/2006/relationships/notesMaster" Target="/ppt/notesMasters/notesMaster1.xml" Id="R4f8e0c19a47d4b48" /></Relationships>
</file>

<file path=ppt/notesSlides/_rels/notesSlide8.xml.rels>&#65279;<?xml version="1.0" encoding="utf-8"?><Relationships xmlns="http://schemas.openxmlformats.org/package/2006/relationships"><Relationship Type="http://schemas.openxmlformats.org/officeDocument/2006/relationships/slide" Target="/ppt/slides/slide8.xml" Id="R3324fa7e73d94cc2" /><Relationship Type="http://schemas.openxmlformats.org/officeDocument/2006/relationships/notesMaster" Target="/ppt/notesMasters/notesMaster1.xml" Id="R2fabbc06ab6045cf" /></Relationships>
</file>

<file path=ppt/notesSlides/_rels/notesSlide9.xml.rels>&#65279;<?xml version="1.0" encoding="utf-8"?><Relationships xmlns="http://schemas.openxmlformats.org/package/2006/relationships"><Relationship Type="http://schemas.openxmlformats.org/officeDocument/2006/relationships/slide" Target="/ppt/slides/slide9.xml" Id="R946602df4b924267" /><Relationship Type="http://schemas.openxmlformats.org/officeDocument/2006/relationships/notesMaster" Target="/ppt/notesMasters/notesMaster1.xml" Id="Ra391208c04874a7b"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0c6446d9b1f14e6e" /><Relationship Type="http://schemas.openxmlformats.org/officeDocument/2006/relationships/notesMaster" Target="/ppt/notesMasters/notesMaster1.xml" Id="R6eac26335fe7417b"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ad1216578b9c401a" /><Relationship Type="http://schemas.openxmlformats.org/officeDocument/2006/relationships/notesMaster" Target="/ppt/notesMasters/notesMaster1.xml" Id="R1ffa2284009847e7"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29ce86726240498c" /><Relationship Type="http://schemas.openxmlformats.org/officeDocument/2006/relationships/notesMaster" Target="/ppt/notesMasters/notesMaster1.xml" Id="R4f62694cd6044f88"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364d2b55e9ff4fab" /><Relationship Type="http://schemas.openxmlformats.org/officeDocument/2006/relationships/notesMaster" Target="/ppt/notesMasters/notesMaster1.xml" Id="R2ac2a6e1b6d740f4"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0551811110a9413d" /><Relationship Type="http://schemas.openxmlformats.org/officeDocument/2006/relationships/notesMaster" Target="/ppt/notesMasters/notesMaster1.xml" Id="Reb1c04aae0d4490d"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41ec55aed2c24737" /><Relationship Type="http://schemas.openxmlformats.org/officeDocument/2006/relationships/notesMaster" Target="/ppt/notesMasters/notesMaster1.xml" Id="R9ce819eff8a4429d"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09824051ffbf4719" /><Relationship Type="http://schemas.openxmlformats.org/officeDocument/2006/relationships/notesMaster" Target="/ppt/notesMasters/notesMaster1.xml" Id="Rb1f86df1f11b4a9c"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a0d919d1b92d4ebc" /><Relationship Type="http://schemas.openxmlformats.org/officeDocument/2006/relationships/notesMaster" Target="/ppt/notesMasters/notesMaster1.xml" Id="R698886c0e89d4814"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594c16448db84e06" /><Relationship Type="http://schemas.openxmlformats.org/officeDocument/2006/relationships/notesMaster" Target="/ppt/notesMasters/notesMaster1.xml" Id="Rb89dbe3991f94d42"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836ab9e22d1940f9" /><Relationship Type="http://schemas.openxmlformats.org/officeDocument/2006/relationships/notesMaster" Target="/ppt/notesMasters/notesMaster1.xml" Id="R079ec3c4c9ab4f8b"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PRIMARY TEACHING MOMENT</a:t>
            </a:r>
          </a:p>
          <a:p xmlns:a="http://schemas.openxmlformats.org/drawingml/2006/main">
            <a:pPr marL="0" indent="0" algn="l">
              <a:spcBef>
                <a:spcPts val="0"/>
              </a:spcBef>
              <a:spcAft>
                <a:spcPts val="0"/>
              </a:spcAft>
              <a:buNone/>
            </a:pPr>
            <a:r>
              <a:t>Unit 5, Week 25</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REQUIRED WEEK 25 MATERIALS</a:t>
            </a:r>
          </a:p>
          <a:p xmlns:a="http://schemas.openxmlformats.org/drawingml/2006/main">
            <a:pPr marL="0" indent="0" algn="l">
              <a:spcBef>
                <a:spcPts val="0"/>
              </a:spcBef>
              <a:spcAft>
                <a:spcPts val="0"/>
              </a:spcAft>
              <a:buNone/>
            </a:pPr>
            <a:r>
              <a:t>- Unit 5 Student Handout 6</a:t>
            </a:r>
          </a:p>
          <a:p xmlns:a="http://schemas.openxmlformats.org/drawingml/2006/main">
            <a:pPr marL="0" indent="0" algn="l">
              <a:spcBef>
                <a:spcPts val="0"/>
              </a:spcBef>
              <a:spcAft>
                <a:spcPts val="0"/>
              </a:spcAft>
              <a:buNone/>
            </a:pPr>
            <a:r>
              <a:t>- Unit 5 Appendices H-I</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OPTIONAL / TEACHER REFERENCE</a:t>
            </a:r>
          </a:p>
          <a:p xmlns:a="http://schemas.openxmlformats.org/drawingml/2006/main">
            <a:pPr marL="0" indent="0" algn="l">
              <a:spcBef>
                <a:spcPts val="0"/>
              </a:spcBef>
              <a:spcAft>
                <a:spcPts val="0"/>
              </a:spcAft>
              <a:buNone/>
            </a:pPr>
            <a:r>
              <a:t>- Student graphs, analysis summaries, and limitation notes</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RESOURCE ALIGNMENT</a:t>
            </a:r>
          </a:p>
          <a:p xmlns:a="http://schemas.openxmlformats.org/drawingml/2006/main">
            <a:pPr marL="0" indent="0" algn="l">
              <a:spcBef>
                <a:spcPts val="0"/>
              </a:spcBef>
              <a:spcAft>
                <a:spcPts val="0"/>
              </a:spcAft>
              <a:buNone/>
            </a:pPr>
            <a:r>
              <a:t>This is the Week 25 discussion-writing deck. Unit 4 interpretation work is a prerequisite, not a separate Week 20 deck assignment.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Preview the lesson and the product. Students should leave with a claim-evidence-reasoning paragraph or outline that can become the center of their discussion section.</a:t>
            </a:r>
            <a:br/>
            <a:br/>
            <a:r>
              <a:t>Resource alignment:</a:t>
            </a:r>
            <a:br/>
            <a:r>
              <a:t>Use with Unit 5 Student Handout 6: Discussion Builder. Reference Unit 5 Appendix H: Claim-Evidence-Reasoning Guide.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Repeat the key question: “What does the evidence allow me to claim?” This phrase should become the anchor for discussion writing. Emphasize that the discussion is not where students simply repeat the results section.</a:t>
            </a:r>
            <a:br/>
            <a:br/>
            <a:r>
              <a:t>Resource alignment:</a:t>
            </a:r>
            <a:br/>
            <a:r>
              <a:t>Use with Unit 5 Student Handout 6: Discussion Builder, especially Parts A–F. Reference Unit 5 Appendix H: Claim-Evidence-Reasoning Guide.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Use a quick verbal check: results describe; discussion interprets. Ask students which section should contain a limitation and which should contain the numerical values. They should see that values often appear in both, but the discussion uses values to support a claim.</a:t>
            </a:r>
            <a:br/>
            <a:br/>
            <a:r>
              <a:t>Resource alignment:</a:t>
            </a:r>
            <a:br/>
            <a:r>
              <a:t>Connects to Deck 13 and Unit 5 Student Handout 6: Discussion Builder. Also supports Unit 5 Student Handout 5: Results and Visuals Builder as background.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Students may know CER from earlier classes, but in STARLAB it must connect to their own data. Push them beyond generic reasoning. Reasoning should explain why their evidence matters for their project.</a:t>
            </a:r>
            <a:br/>
            <a:br/>
            <a:r>
              <a:t>Resource alignment:</a:t>
            </a:r>
            <a:br/>
            <a:r>
              <a:t>Use with Unit 5 Appendix H: Claim-Evidence-Reasoning Guide and Unit 5 Student Handout 6: Discussion Builder.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Students often think cautious language sounds less confident. Emphasize the opposite: precise and bounded claims are more scientifically credible.</a:t>
            </a:r>
            <a:br/>
            <a:br/>
            <a:r>
              <a:t>Resource alignment:</a:t>
            </a:r>
            <a:br/>
            <a:r>
              <a:t>Use with Unit 5 Student Handout 6: Discussion Builder, Part A: Main Claim. Reference Unit 5 Appendix H and Appendix I.</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Require students to include at least one specific number, comparison, figure reference, or observation in each major discussion claim. This prevents the discussion from becoming generic.</a:t>
            </a:r>
            <a:br/>
            <a:br/>
            <a:r>
              <a:t>Resource alignment:</a:t>
            </a:r>
            <a:br/>
            <a:r>
              <a:t>Use with Unit 5 Student Handout 6: Discussion Builder, Part B: Evidence. Reference Unit 5 Appendix H: Claim-Evidence-Reasoning Guide.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Many students stop after claim and evidence. Prompt them with “because…” or “this matters because…” Reasoning should explain the connection between evidence and claim in the context of the project type.</a:t>
            </a:r>
            <a:br/>
            <a:br/>
            <a:r>
              <a:t>Resource alignment:</a:t>
            </a:r>
            <a:br/>
            <a:r>
              <a:t>Use with Unit 5 Student Handout 6: Discussion Builder, Part C: Reasoning. Reference Unit 5 Appendix H: Claim-Evidence-Reasoning Guide.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This slide helps keep different project types valid. Students should not force every project into “hypothesis supported” language if they are doing engineering or data analysis.</a:t>
            </a:r>
            <a:br/>
            <a:br/>
            <a:r>
              <a:t>Resource alignment:</a:t>
            </a:r>
            <a:br/>
            <a:r>
              <a:t>Use with Unit 5 Student Handout 6: Discussion Builder, Part D: Connection to Hypothesis or Design Goal. Optional support: Unit 4 Student Handout 14: Hypothesis or Design Criteria Review.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Normalize limitations. Students may try to hide them because they think limitations make the project weaker. Explain that vague or missing limitations weaken trust more than honest, specific limitations.</a:t>
            </a:r>
            <a:br/>
            <a:br/>
            <a:r>
              <a:t>Resource alignment:</a:t>
            </a:r>
            <a:br/>
            <a:r>
              <a:t>Use with Unit 5 Student Handout 6: Discussion Builder, Part E: Limitations and Sources of Error. Reference Unit 5 Appendix I: Limitations and Error Analysis Guide.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Have students identify what makes the stronger examples more useful: they name the limitation and explain how it affects confidence or interpretation.</a:t>
            </a:r>
            <a:br/>
            <a:br/>
            <a:r>
              <a:t>Resource alignment:</a:t>
            </a:r>
            <a:br/>
            <a:r>
              <a:t>Use with Unit 5 Appendix I: Limitations and Error Analysis Guide. Students can adapt this language in Unit 5 Student Handout 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This slide is important for students whose results did not support their original idea. Reinforce that a strong discussion can be built around unexpected or inconclusive evidence if the interpretation is honest and specific.</a:t>
            </a:r>
            <a:br/>
            <a:br/>
            <a:r>
              <a:t>Resource alignment:</a:t>
            </a:r>
            <a:br/>
            <a:r>
              <a:t>Use with Unit 5 Student Handout 6: Discussion Builder and Unit 5 Appendix I: Limitations and Error Analysis Guide.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Future work should be specific and justified by the data, limitations, or failure modes. Ask students what their evidence makes them want to test next.</a:t>
            </a:r>
            <a:br/>
            <a:br/>
            <a:r>
              <a:t>Resource alignment:</a:t>
            </a:r>
            <a:br/>
            <a:r>
              <a:t>Use with Unit 5 Student Handout 6: Discussion Builder, Part F: Future Work. Reference Unit 5 Appendix I.</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Students often think “proves” sounds impressive. Explain that careful language is not weakness; it is scientific accuracy.</a:t>
            </a:r>
            <a:br/>
            <a:br/>
            <a:r>
              <a:t>Resource alignment:</a:t>
            </a:r>
            <a:br/>
            <a:r>
              <a:t>Use with Unit 5 Student Handout 6 and Unit 5 Appendix H. This also connects to Unit 4 interpretation work and Deck 12: Error, Uncertainty, and Limitations.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This is the main drafting activity. Require students to use their own data. If a student does not yet have final data, have them use preliminary evidence and label it honestly as preliminary.</a:t>
            </a:r>
            <a:br/>
            <a:br/>
            <a:r>
              <a:t>Resource alignment:</a:t>
            </a:r>
            <a:br/>
            <a:r>
              <a:t>Use Unit 5 Student Handout 6: Discussion Builder, Parts A–E. Reference Unit 5 Appendix H: Claim-Evidence-Reasoning Guide and Appendix I: Limitations and Error Analysis Guide.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Partner feedback should be fast and focused. Students are not editing grammar yet; they are checking scientific argument quality.</a:t>
            </a:r>
            <a:br/>
            <a:br/>
            <a:r>
              <a:t>Resource alignment:</a:t>
            </a:r>
            <a:br/>
            <a:r>
              <a:t>Use Unit 5 Student Handout 6: Discussion Builder. Reference Unit 5 Appendix H and Appendix I. This prepares students for Deck 15: Peer Review and Scientific Revision.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This is a planning map, not a rigid formula. Some projects may need multiple claims or a different order, but these parts should be present somewhere in the discussion.</a:t>
            </a:r>
            <a:br/>
            <a:br/>
            <a:r>
              <a:t>Resource alignment:</a:t>
            </a:r>
            <a:br/>
            <a:r>
              <a:t>Use with Unit 5 Student Handout 6: Discussion Builder. Students can use this slide to organize the first full discussion draft.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Use this as a self-check before students submit or share their discussion drafts. Students who are missing evidence or reasoning should revise before moving into larger peer review.</a:t>
            </a:r>
            <a:br/>
            <a:br/>
            <a:r>
              <a:t>Resource alignment:</a:t>
            </a:r>
            <a:br/>
            <a:r>
              <a:t>Use with Unit 5 Student Handout 6: Discussion Builder and Unit 5 Appendix H. This checkpoint prepares students for Deck 15: Peer Review and Scientific Revision.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Close by reminding students that the discussion draft is not finished after one attempt. Deck 15 will focus on peer review and revision, especially whether claims are supported and limitations are addressed honestly.</a:t>
            </a:r>
            <a:br/>
            <a:br/>
            <a:r>
              <a:t>Resource alignment:</a:t>
            </a:r>
            <a:br/>
            <a:r>
              <a:t>Next deck connection: Deck 15: Peer Review and Scientific Revision. Related resources: Unit 5 Student Handout 8: Peer Review Protocol, Unit 5 Student Handout 9: Revision Plan, Unit 5 Appendix M: Peer Review Sentence Stems, and Unit 5 Appendix N: Scientific Report Rubric.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beb8d08acbfb4f12" /></Relationships>
</file>

<file path=ppt/slideLayouts/slideLayout1.xml><?xml version="1.0" encoding="utf-8"?>
<p:sldLayout xmlns:p="http://schemas.openxmlformats.org/presentationml/2006/main" matchingName="DEFAULT">
  <p:cSld name="DEFAULT">
    <p:bg>
      <p:bgPr>
        <a:solidFill xmlns:a="http://schemas.openxmlformats.org/drawingml/2006/main">
          <a:schemeClr val="lt1"/>
        </a:solidFill>
      </p:bgPr>
    </p:bg>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07c43b62a91f4bbd" /><Relationship Type="http://schemas.openxmlformats.org/officeDocument/2006/relationships/slideLayout" Target="/ppt/slideLayouts/slideLayout1.xml" Id="R8a5d4a9e878f4e61" /></Relationships>
</file>

<file path=ppt/slideMasters/slideMaster1.xml><?xml version="1.0" encoding="utf-8"?>
<p:sldMaster xmlns:p="http://schemas.openxmlformats.org/presentationml/2006/main">
  <p:cSld>
    <p:spTree>
      <p:nvGrpSpPr>
        <p:cNvPr id="1" name=""/>
        <p:cNvGrpSpPr/>
        <p:nvPr/>
      </p:nvGrpSpPr>
      <p:grpSpPr>
        <a:xfrm xmlns:a="http://schemas.openxmlformats.org/drawingml/2006/main"/>
      </p:grpSpPr>
    </p:spTree>
  </p:cSld>
  <p:clrMap bg1="lt1" tx1="dk1" bg2="dk2" tx2="lt2" accent1="accent1" accent2="accent2" accent3="accent3" accent4="accent4" accent5="accent5" accent6="accent6" hlink="hlink" folHlink="folHlink"/>
  <p:sldLayoutIdLst>
    <p:sldLayoutId xmlns:r="http://schemas.openxmlformats.org/officeDocument/2006/relationships" id="2147483649" r:id="R8a5d4a9e878f4e61"/>
  </p:sldLayoutIdLst>
  <p:hf sldNum="0" hdr="0" ftr="0" dt="0"/>
  <p:txStyles>
    <p:titleStyle>
      <a:lvl1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9pPr>
    </p:titleStyle>
    <p:bodyStyle>
      <a:lvl1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9pPr>
    </p:bodyStyle>
    <p:otherStyle>
      <a:lvl1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9pPr>
    </p:otherStyle>
  </p:txStyles>
</p:sldMaster>
</file>

<file path=ppt/slideMasters/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9381b99d9fdc48aa" /><Relationship Type="http://schemas.openxmlformats.org/officeDocument/2006/relationships/image" Target="/ppt/media/image.png" Id="R1215f7fc8d21475e" /><Relationship Type="http://schemas.openxmlformats.org/officeDocument/2006/relationships/notesSlide" Target="/ppt/notesSlides/notesSlide1.xml" Id="Rea5c98e2e0454e24"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b94b575091934fda" /><Relationship Type="http://schemas.openxmlformats.org/officeDocument/2006/relationships/notesSlide" Target="/ppt/notesSlides/notesSlide2.xml" Id="Rca013e80b88b40f6"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ffd3cd00c78e4d3a" /><Relationship Type="http://schemas.openxmlformats.org/officeDocument/2006/relationships/notesSlide" Target="/ppt/notesSlides/notesSlide3.xml" Id="R86600c366daa4650"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2b66a092507a4e13" /><Relationship Type="http://schemas.openxmlformats.org/officeDocument/2006/relationships/notesSlide" Target="/ppt/notesSlides/notesSlide4.xml" Id="R9b382df0e6554564"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0484e36a6b84483d" /><Relationship Type="http://schemas.openxmlformats.org/officeDocument/2006/relationships/notesSlide" Target="/ppt/notesSlides/notesSlide5.xml" Id="R991b63bca4644dc4"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39779149def4470c" /><Relationship Type="http://schemas.openxmlformats.org/officeDocument/2006/relationships/notesSlide" Target="/ppt/notesSlides/notesSlide6.xml" Id="Rd3830d500832423d"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fbd5728e50f34f0a" /><Relationship Type="http://schemas.openxmlformats.org/officeDocument/2006/relationships/notesSlide" Target="/ppt/notesSlides/notesSlide7.xml" Id="R55ddd26c45fd4c59"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0b27bc766895422b" /><Relationship Type="http://schemas.openxmlformats.org/officeDocument/2006/relationships/notesSlide" Target="/ppt/notesSlides/notesSlide8.xml" Id="R7b3c95d523824aeb"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6345f424ea254246" /><Relationship Type="http://schemas.openxmlformats.org/officeDocument/2006/relationships/notesSlide" Target="/ppt/notesSlides/notesSlide9.xml" Id="R180e78eaacad48d2"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f9dfb4f0cda84ce6" /><Relationship Type="http://schemas.openxmlformats.org/officeDocument/2006/relationships/notesSlide" Target="/ppt/notesSlides/notesSlide10.xml" Id="Re5e3c5dd0cca441f"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04d1c5de49e94972" /><Relationship Type="http://schemas.openxmlformats.org/officeDocument/2006/relationships/notesSlide" Target="/ppt/notesSlides/notesSlide11.xml" Id="R4da6bb36a9ec4d5d"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42aaa9e27e1a4e58" /><Relationship Type="http://schemas.openxmlformats.org/officeDocument/2006/relationships/notesSlide" Target="/ppt/notesSlides/notesSlide12.xml" Id="R2dd7605517f64ede"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09146d2e2ca24a1c" /><Relationship Type="http://schemas.openxmlformats.org/officeDocument/2006/relationships/notesSlide" Target="/ppt/notesSlides/notesSlide13.xml" Id="Rec4031e1ee2a4bea"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04c600f8ab994903" /><Relationship Type="http://schemas.openxmlformats.org/officeDocument/2006/relationships/notesSlide" Target="/ppt/notesSlides/notesSlide14.xml" Id="R41a6af0804da4b41"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fb8e9cdf69c446f3" /><Relationship Type="http://schemas.openxmlformats.org/officeDocument/2006/relationships/notesSlide" Target="/ppt/notesSlides/notesSlide15.xml" Id="Rb33cb9644700463e"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524f159686db462e" /><Relationship Type="http://schemas.openxmlformats.org/officeDocument/2006/relationships/notesSlide" Target="/ppt/notesSlides/notesSlide16.xml" Id="R9fc67fdc8bb34a1b"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004b7c5a47bc4368" /><Relationship Type="http://schemas.openxmlformats.org/officeDocument/2006/relationships/notesSlide" Target="/ppt/notesSlides/notesSlide17.xml" Id="R3eaf32f73567420a"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1b8e7d4a616a4472" /><Relationship Type="http://schemas.openxmlformats.org/officeDocument/2006/relationships/notesSlide" Target="/ppt/notesSlides/notesSlide18.xml" Id="Rcfa9d3a8aecc4cdc"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3419c55fa8df4d15" /><Relationship Type="http://schemas.openxmlformats.org/officeDocument/2006/relationships/notesSlide" Target="/ppt/notesSlides/notesSlide19.xml" Id="Rbf927d20315f4dc9" /></Relationships>
</file>

<file path=ppt/slides/slide1.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16" name="Google Shape;16;p3">
            <a:extLst xmlns:a="http://schemas.openxmlformats.org/drawingml/2006/main">
              <a:ext uri="{FF2B5EF4-FFF2-40B4-BE49-F238E27FC236}">
                <a16:creationId xmlns:a16="http://schemas.microsoft.com/office/drawing/2014/main" id="{47638DB4-63CD-4CAD-AD8A-AB1F36A967B3}"/>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7" name="Google Shape;17;p3">
            <a:extLst xmlns:a="http://schemas.openxmlformats.org/drawingml/2006/main">
              <a:ext uri="{FF2B5EF4-FFF2-40B4-BE49-F238E27FC236}">
                <a16:creationId xmlns:a16="http://schemas.microsoft.com/office/drawing/2014/main" id="{55426B92-9CDE-467B-98B1-7BED9675B280}"/>
              </a:ext>
            </a:extLst>
          </p:cNvPr>
          <p:cNvSpPr>
            <a:spLocks xmlns:a="http://schemas.openxmlformats.org/drawingml/2006/main" noGrp="1"/>
          </p:cNvSpPr>
          <p:nvPr/>
        </p:nvSpPr>
        <p:spPr>
          <a:xfrm xmlns:a="http://schemas.openxmlformats.org/drawingml/2006/main">
            <a:off x="0" y="219456"/>
            <a:ext cx="12191695" cy="82296"/>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8" name="Google Shape;18;p3">
            <a:extLst xmlns:a="http://schemas.openxmlformats.org/drawingml/2006/main">
              <a:ext uri="{FF2B5EF4-FFF2-40B4-BE49-F238E27FC236}">
                <a16:creationId xmlns:a16="http://schemas.microsoft.com/office/drawing/2014/main" id="{93CF688F-28EE-4F65-BDFF-B8892D74641A}"/>
              </a:ext>
            </a:extLst>
          </p:cNvPr>
          <p:cNvSpPr>
            <a:spLocks xmlns:a="http://schemas.openxmlformats.org/drawingml/2006/main" noGrp="1"/>
          </p:cNvSpPr>
          <p:nvPr/>
        </p:nvSpPr>
        <p:spPr>
          <a:xfrm xmlns:a="http://schemas.openxmlformats.org/drawingml/2006/main">
            <a:off x="0" y="6565392"/>
            <a:ext cx="12191695" cy="82296"/>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pic>
        <p:nvPicPr>
          <p:cNvPr id="28" name="Google Shape;19;p3"/>
          <p:cNvPicPr>
            <a:picLocks xmlns:a="http://schemas.openxmlformats.org/drawingml/2006/main" noChangeAspect="1"/>
          </p:cNvPicPr>
          <p:nvPr/>
        </p:nvPicPr>
        <p:blipFill rotWithShape="1">
          <a:blip xmlns:r="http://schemas.openxmlformats.org/officeDocument/2006/relationships" xmlns:a="http://schemas.openxmlformats.org/drawingml/2006/main" r:embed="R1215f7fc8d21475e">
            <a:alphaModFix/>
          </a:blip>
          <a:srcRect xmlns:a="http://schemas.openxmlformats.org/drawingml/2006/main" l="0" t="0" r="0" b="0"/>
          <a:stretch xmlns:a="http://schemas.openxmlformats.org/drawingml/2006/main"/>
        </p:blipFill>
        <p:spPr>
          <a:xfrm xmlns:a="http://schemas.openxmlformats.org/drawingml/2006/main">
            <a:off x="1874520" y="530352"/>
            <a:ext cx="8321040" cy="4169664"/>
          </a:xfrm>
          <a:prstGeom xmlns:a="http://schemas.openxmlformats.org/drawingml/2006/main" prst="rect">
            <a:avLst/>
          </a:prstGeom>
          <a:ln xmlns:a="http://schemas.openxmlformats.org/drawingml/2006/main">
            <a:noFill/>
          </a:ln>
        </p:spPr>
      </p:pic>
      <p:sp>
        <p:nvSpPr>
          <p:cNvPr id="20" name="Google Shape;20;p3">
            <a:extLst xmlns:a="http://schemas.openxmlformats.org/drawingml/2006/main">
              <a:ext uri="{FF2B5EF4-FFF2-40B4-BE49-F238E27FC236}">
                <a16:creationId xmlns:a16="http://schemas.microsoft.com/office/drawing/2014/main" id="{30270BC0-B2E4-4210-ABE0-10E06AE7B610}"/>
              </a:ext>
            </a:extLst>
          </p:cNvPr>
          <p:cNvSpPr>
            <a:spLocks xmlns:a="http://schemas.openxmlformats.org/drawingml/2006/main" noGrp="1"/>
          </p:cNvSpPr>
          <p:nvPr/>
        </p:nvSpPr>
        <p:spPr>
          <a:xfrm xmlns:a="http://schemas.openxmlformats.org/drawingml/2006/main">
            <a:off x="960120" y="5029200"/>
            <a:ext cx="10287000" cy="822960"/>
          </a:xfrm>
          <a:prstGeom xmlns:a="http://schemas.openxmlformats.org/drawingml/2006/main" prst="rect">
            <a:avLst/>
          </a:prstGeom>
          <a:solidFill xmlns:a="http://schemas.openxmlformats.org/drawingml/2006/main">
            <a:srgbClr val="050505">
              <a:alpha val="0"/>
            </a:srgbClr>
          </a:solidFill>
          <a:ln xmlns:a="http://schemas.openxmlformats.org/drawingml/2006/main" w="15225" cmpd="sng">
            <a:solidFill>
              <a:srgbClr val="B8B8B8">
                <a:alpha val="8000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1" name="Google Shape;21;p3">
            <a:extLst xmlns:a="http://schemas.openxmlformats.org/drawingml/2006/main">
              <a:ext uri="{FF2B5EF4-FFF2-40B4-BE49-F238E27FC236}">
                <a16:creationId xmlns:a16="http://schemas.microsoft.com/office/drawing/2014/main" id="{D4CAF04D-A077-4A39-B5C3-65E3B2082095}"/>
              </a:ext>
            </a:extLst>
          </p:cNvPr>
          <p:cNvSpPr>
            <a:spLocks xmlns:a="http://schemas.openxmlformats.org/drawingml/2006/main" noGrp="1"/>
          </p:cNvSpPr>
          <p:nvPr/>
        </p:nvSpPr>
        <p:spPr>
          <a:xfrm xmlns:a="http://schemas.openxmlformats.org/drawingml/2006/main">
            <a:off x="1024128" y="5157216"/>
            <a:ext cx="10149840" cy="32918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500"/>
              <a:buFont typeface="Play"/>
              <a:buNone/>
            </a:pPr>
            <a:r>
              <a:rPr sz="2500" b="1" i="0" u="none" cap="none">
                <a:solidFill>
                  <a:srgbClr val="FFFFFF"/>
                </a:solidFill>
                <a:latin typeface="Play"/>
                <a:ea typeface="Play"/>
                <a:cs typeface="Play"/>
              </a:rPr>
              <a:t>WRITING THE DISCUSSION</a:t>
            </a:r>
          </a:p>
        </p:txBody>
      </p:sp>
      <p:sp>
        <p:nvSpPr>
          <p:cNvPr id="22" name="Google Shape;22;p3">
            <a:extLst xmlns:a="http://schemas.openxmlformats.org/drawingml/2006/main">
              <a:ext uri="{FF2B5EF4-FFF2-40B4-BE49-F238E27FC236}">
                <a16:creationId xmlns:a16="http://schemas.microsoft.com/office/drawing/2014/main" id="{A9DC6434-AA2C-4F7A-8D8D-BA28DD2CD6AE}"/>
              </a:ext>
            </a:extLst>
          </p:cNvPr>
          <p:cNvSpPr>
            <a:spLocks xmlns:a="http://schemas.openxmlformats.org/drawingml/2006/main" noGrp="1"/>
          </p:cNvSpPr>
          <p:nvPr/>
        </p:nvSpPr>
        <p:spPr>
          <a:xfrm xmlns:a="http://schemas.openxmlformats.org/drawingml/2006/main">
            <a:off x="1024128" y="5513832"/>
            <a:ext cx="7315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700"/>
              <a:buFont typeface="Play"/>
              <a:buNone/>
            </a:pPr>
            <a:r>
              <a:rPr sz="1700" b="1" i="0" u="none" cap="none">
                <a:solidFill>
                  <a:srgbClr val="E22B27"/>
                </a:solidFill>
                <a:latin typeface="Play"/>
                <a:ea typeface="Play"/>
                <a:cs typeface="Play"/>
              </a:rPr>
              <a:t>Claim • Evidence • Reasoning</a:t>
            </a:r>
          </a:p>
        </p:txBody>
      </p:sp>
      <p:sp>
        <p:nvSpPr>
          <p:cNvPr id="23" name="Google Shape;23;p3">
            <a:extLst xmlns:a="http://schemas.openxmlformats.org/drawingml/2006/main">
              <a:ext uri="{FF2B5EF4-FFF2-40B4-BE49-F238E27FC236}">
                <a16:creationId xmlns:a16="http://schemas.microsoft.com/office/drawing/2014/main" id="{2742675D-641D-4D7F-BAED-F2C66A403B27}"/>
              </a:ext>
            </a:extLst>
          </p:cNvPr>
          <p:cNvSpPr>
            <a:spLocks xmlns:a="http://schemas.openxmlformats.org/drawingml/2006/main" noGrp="1"/>
          </p:cNvSpPr>
          <p:nvPr/>
        </p:nvSpPr>
        <p:spPr>
          <a:xfrm xmlns:a="http://schemas.openxmlformats.org/drawingml/2006/main">
            <a:off x="1024128" y="5934456"/>
            <a:ext cx="713232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200"/>
              <a:buFont typeface="Arial"/>
              <a:buNone/>
            </a:pPr>
            <a:r>
              <a:rPr sz="1200" b="0" i="0" u="none" cap="none">
                <a:solidFill>
                  <a:srgbClr val="B8B8B8"/>
                </a:solidFill>
                <a:latin typeface="Arial"/>
                <a:ea typeface="Arial"/>
                <a:cs typeface="Arial"/>
              </a:rPr>
              <a:t>STARLAB Deck 14  •  Unit 5 Core Instruction</a:t>
            </a:r>
          </a:p>
        </p:txBody>
      </p:sp>
    </p:spTree>
    <p:extLst>
      <p:ext uri="{BB962C8B-B14F-4D97-AF65-F5344CB8AC3E}">
        <p14:creationId xmlns:p14="http://schemas.microsoft.com/office/powerpoint/2010/main" val="1835771797"/>
      </p:ext>
    </p:extLst>
  </p:cSld>
</p:sld>
</file>

<file path=ppt/slides/slide2.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29" name="Google Shape;29;p4">
            <a:extLst xmlns:a="http://schemas.openxmlformats.org/drawingml/2006/main">
              <a:ext uri="{FF2B5EF4-FFF2-40B4-BE49-F238E27FC236}">
                <a16:creationId xmlns:a16="http://schemas.microsoft.com/office/drawing/2014/main" id="{4CB10DF0-A481-4DAC-A359-22DEEEC3FDEF}"/>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0" name="Google Shape;30;p4">
            <a:extLst xmlns:a="http://schemas.openxmlformats.org/drawingml/2006/main">
              <a:ext uri="{FF2B5EF4-FFF2-40B4-BE49-F238E27FC236}">
                <a16:creationId xmlns:a16="http://schemas.microsoft.com/office/drawing/2014/main" id="{CD0F0216-4AEB-4C83-91E4-1E60589720CA}"/>
              </a:ext>
            </a:extLst>
          </p:cNvPr>
          <p:cNvSpPr>
            <a:spLocks xmlns:a="http://schemas.openxmlformats.org/drawingml/2006/main" noGrp="1"/>
          </p:cNvSpPr>
          <p:nvPr/>
        </p:nvSpPr>
        <p:spPr>
          <a:xfrm xmlns:a="http://schemas.openxmlformats.org/drawingml/2006/main">
            <a:off x="0" y="164592"/>
            <a:ext cx="12191695" cy="7315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1" name="Google Shape;31;p4">
            <a:extLst xmlns:a="http://schemas.openxmlformats.org/drawingml/2006/main">
              <a:ext uri="{FF2B5EF4-FFF2-40B4-BE49-F238E27FC236}">
                <a16:creationId xmlns:a16="http://schemas.microsoft.com/office/drawing/2014/main" id="{E9516887-9339-43AB-9A05-F7EB0933A147}"/>
              </a:ext>
            </a:extLst>
          </p:cNvPr>
          <p:cNvSpPr>
            <a:spLocks xmlns:a="http://schemas.openxmlformats.org/drawingml/2006/main" noGrp="1"/>
          </p:cNvSpPr>
          <p:nvPr/>
        </p:nvSpPr>
        <p:spPr>
          <a:xfrm xmlns:a="http://schemas.openxmlformats.org/drawingml/2006/main">
            <a:off x="0" y="6729984"/>
            <a:ext cx="12191695" cy="54864"/>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2" name="Google Shape;32;p4">
            <a:extLst xmlns:a="http://schemas.openxmlformats.org/drawingml/2006/main">
              <a:ext uri="{FF2B5EF4-FFF2-40B4-BE49-F238E27FC236}">
                <a16:creationId xmlns:a16="http://schemas.microsoft.com/office/drawing/2014/main" id="{478EF102-7356-4D88-97C0-BA4CA99B7033}"/>
              </a:ext>
            </a:extLst>
          </p:cNvPr>
          <p:cNvSpPr>
            <a:spLocks xmlns:a="http://schemas.openxmlformats.org/drawingml/2006/main" noGrp="1"/>
          </p:cNvSpPr>
          <p:nvPr/>
        </p:nvSpPr>
        <p:spPr>
          <a:xfrm xmlns:a="http://schemas.openxmlformats.org/drawingml/2006/main">
            <a:off x="411480" y="6236208"/>
            <a:ext cx="420624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000"/>
              <a:buFont typeface="Arial"/>
              <a:buNone/>
            </a:pPr>
            <a:r>
              <a:rPr sz="1000" b="1" i="0" u="none" cap="none">
                <a:solidFill>
                  <a:srgbClr val="B8B8B8"/>
                </a:solidFill>
                <a:latin typeface="Arial"/>
                <a:ea typeface="Arial"/>
                <a:cs typeface="Arial"/>
              </a:rPr>
              <a:t>SCIENTIFIC REPORTING</a:t>
            </a:r>
          </a:p>
        </p:txBody>
      </p:sp>
      <p:sp>
        <p:nvSpPr>
          <p:cNvPr id="33" name="Google Shape;33;p4">
            <a:extLst xmlns:a="http://schemas.openxmlformats.org/drawingml/2006/main">
              <a:ext uri="{FF2B5EF4-FFF2-40B4-BE49-F238E27FC236}">
                <a16:creationId xmlns:a16="http://schemas.microsoft.com/office/drawing/2014/main" id="{46915BAD-7BE1-4C7A-8ECC-374A50AD919A}"/>
              </a:ext>
            </a:extLst>
          </p:cNvPr>
          <p:cNvSpPr>
            <a:spLocks xmlns:a="http://schemas.openxmlformats.org/drawingml/2006/main" noGrp="1"/>
          </p:cNvSpPr>
          <p:nvPr/>
        </p:nvSpPr>
        <p:spPr>
          <a:xfrm xmlns:a="http://schemas.openxmlformats.org/drawingml/2006/main">
            <a:off x="10515600" y="6236208"/>
            <a:ext cx="123444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B8B8B8"/>
              </a:buClr>
              <a:buSzPts val="1000"/>
              <a:buFont typeface="Arial"/>
              <a:buNone/>
            </a:pPr>
            <a:r>
              <a:rPr sz="1000" b="1" i="0" u="none" cap="none">
                <a:solidFill>
                  <a:srgbClr val="B8B8B8"/>
                </a:solidFill>
                <a:latin typeface="Arial"/>
                <a:ea typeface="Arial"/>
                <a:cs typeface="Arial"/>
              </a:rPr>
              <a:t>STARLAB</a:t>
            </a:r>
          </a:p>
        </p:txBody>
      </p:sp>
      <p:sp>
        <p:nvSpPr>
          <p:cNvPr id="34" name="Google Shape;34;p4">
            <a:extLst xmlns:a="http://schemas.openxmlformats.org/drawingml/2006/main">
              <a:ext uri="{FF2B5EF4-FFF2-40B4-BE49-F238E27FC236}">
                <a16:creationId xmlns:a16="http://schemas.microsoft.com/office/drawing/2014/main" id="{3AEE1766-074E-4EED-A461-F9063E8607C6}"/>
              </a:ext>
            </a:extLst>
          </p:cNvPr>
          <p:cNvSpPr>
            <a:spLocks xmlns:a="http://schemas.openxmlformats.org/drawingml/2006/main" noGrp="1"/>
          </p:cNvSpPr>
          <p:nvPr/>
        </p:nvSpPr>
        <p:spPr>
          <a:xfrm xmlns:a="http://schemas.openxmlformats.org/drawingml/2006/main">
            <a:off x="10195560" y="384048"/>
            <a:ext cx="1325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E22B27"/>
              </a:buClr>
              <a:buSzPts val="1100"/>
              <a:buFont typeface="Arial"/>
              <a:buNone/>
            </a:pPr>
            <a:r>
              <a:rPr sz="1100" b="1" i="0" u="none" cap="none">
                <a:solidFill>
                  <a:srgbClr val="E22B27"/>
                </a:solidFill>
                <a:latin typeface="Arial"/>
                <a:ea typeface="Arial"/>
                <a:cs typeface="Arial"/>
              </a:rPr>
              <a:t>DECK 14</a:t>
            </a:r>
          </a:p>
        </p:txBody>
      </p:sp>
      <p:sp>
        <p:nvSpPr>
          <p:cNvPr id="35" name="Google Shape;35;p4">
            <a:extLst xmlns:a="http://schemas.openxmlformats.org/drawingml/2006/main">
              <a:ext uri="{FF2B5EF4-FFF2-40B4-BE49-F238E27FC236}">
                <a16:creationId xmlns:a16="http://schemas.microsoft.com/office/drawing/2014/main" id="{F83B5141-D358-485A-BB49-7FD3BB0DE010}"/>
              </a:ext>
            </a:extLst>
          </p:cNvPr>
          <p:cNvSpPr>
            <a:spLocks xmlns:a="http://schemas.openxmlformats.org/drawingml/2006/main" noGrp="1"/>
          </p:cNvSpPr>
          <p:nvPr/>
        </p:nvSpPr>
        <p:spPr>
          <a:xfrm xmlns:a="http://schemas.openxmlformats.org/drawingml/2006/main">
            <a:off x="685800" y="694944"/>
            <a:ext cx="9829800" cy="49377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700"/>
              <a:buFont typeface="Play"/>
              <a:buNone/>
            </a:pPr>
            <a:r>
              <a:rPr sz="2700" b="1" i="0" u="none" cap="none">
                <a:solidFill>
                  <a:srgbClr val="FFFFFF"/>
                </a:solidFill>
                <a:latin typeface="Play"/>
                <a:ea typeface="Play"/>
                <a:cs typeface="Play"/>
              </a:rPr>
              <a:t>Today’s Target</a:t>
            </a:r>
          </a:p>
        </p:txBody>
      </p:sp>
      <p:sp>
        <p:nvSpPr>
          <p:cNvPr id="36" name="Google Shape;36;p4">
            <a:extLst xmlns:a="http://schemas.openxmlformats.org/drawingml/2006/main">
              <a:ext uri="{FF2B5EF4-FFF2-40B4-BE49-F238E27FC236}">
                <a16:creationId xmlns:a16="http://schemas.microsoft.com/office/drawing/2014/main" id="{CB987BCB-71C2-4272-A202-B8EFC64BB6C0}"/>
              </a:ext>
            </a:extLst>
          </p:cNvPr>
          <p:cNvSpPr>
            <a:spLocks xmlns:a="http://schemas.openxmlformats.org/drawingml/2006/main" noGrp="1"/>
          </p:cNvSpPr>
          <p:nvPr/>
        </p:nvSpPr>
        <p:spPr>
          <a:xfrm xmlns:a="http://schemas.openxmlformats.org/drawingml/2006/main">
            <a:off x="694944" y="1271016"/>
            <a:ext cx="9875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200"/>
              <a:buFont typeface="Arial"/>
              <a:buNone/>
            </a:pPr>
            <a:r>
              <a:rPr sz="1200" b="0" i="0" u="none" cap="none">
                <a:solidFill>
                  <a:srgbClr val="B8B8B8"/>
                </a:solidFill>
                <a:latin typeface="Arial"/>
                <a:ea typeface="Arial"/>
                <a:cs typeface="Arial"/>
              </a:rPr>
              <a:t>Use evidence to build a cautious scientific argument.</a:t>
            </a:r>
          </a:p>
        </p:txBody>
      </p:sp>
      <p:cxnSp>
        <p:nvCxnSpPr>
          <p:cNvPr id="56" name="Google Shape;37;p4"/>
          <p:cNvCxnSpPr/>
          <p:nvPr/>
        </p:nvCxnSpPr>
        <p:spPr>
          <a:xfrm xmlns:a="http://schemas.openxmlformats.org/drawingml/2006/main">
            <a:off x="685800" y="1591056"/>
            <a:ext cx="10789920" cy="0"/>
          </a:xfrm>
          <a:prstGeom xmlns:a="http://schemas.openxmlformats.org/drawingml/2006/main" prst="straightConnector1">
            <a:avLst/>
          </a:prstGeom>
          <a:ln xmlns:a="http://schemas.openxmlformats.org/drawingml/2006/main" w="16500" cap="flat">
            <a:solidFill>
              <a:srgbClr val="E22B27"/>
            </a:solidFill>
            <a:prstDash val="solid"/>
            <a:round/>
            <a:headEnd type="none" w="sm" len="sm"/>
            <a:tailEnd type="none" w="sm" len="sm"/>
          </a:ln>
        </p:spPr>
      </p:cxnSp>
      <p:sp>
        <p:nvSpPr>
          <p:cNvPr id="38" name="Google Shape;38;p4">
            <a:extLst xmlns:a="http://schemas.openxmlformats.org/drawingml/2006/main">
              <a:ext uri="{FF2B5EF4-FFF2-40B4-BE49-F238E27FC236}">
                <a16:creationId xmlns:a16="http://schemas.microsoft.com/office/drawing/2014/main" id="{48C8CC4C-A8A1-4775-A617-3DA68450A781}"/>
              </a:ext>
            </a:extLst>
          </p:cNvPr>
          <p:cNvSpPr>
            <a:spLocks xmlns:a="http://schemas.openxmlformats.org/drawingml/2006/main" noGrp="1"/>
          </p:cNvSpPr>
          <p:nvPr/>
        </p:nvSpPr>
        <p:spPr>
          <a:xfrm xmlns:a="http://schemas.openxmlformats.org/drawingml/2006/main">
            <a:off x="868680" y="1783080"/>
            <a:ext cx="3246120" cy="1965960"/>
          </a:xfrm>
          <a:prstGeom xmlns:a="http://schemas.openxmlformats.org/drawingml/2006/main" prst="roundRect">
            <a:avLst>
              <a:gd name="adj" fmla="val 2791"/>
            </a:avLst>
          </a:prstGeom>
          <a:solidFill xmlns:a="http://schemas.openxmlformats.org/drawingml/2006/main">
            <a:srgbClr val="101010"/>
          </a:solidFill>
          <a:ln xmlns:a="http://schemas.openxmlformats.org/drawingml/2006/main" w="12700" cmpd="sng">
            <a:solidFill>
              <a:srgbClr val="44444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9" name="Google Shape;39;p4">
            <a:extLst xmlns:a="http://schemas.openxmlformats.org/drawingml/2006/main">
              <a:ext uri="{FF2B5EF4-FFF2-40B4-BE49-F238E27FC236}">
                <a16:creationId xmlns:a16="http://schemas.microsoft.com/office/drawing/2014/main" id="{BA2932C9-594F-4939-842F-9AC2963FDE09}"/>
              </a:ext>
            </a:extLst>
          </p:cNvPr>
          <p:cNvSpPr>
            <a:spLocks xmlns:a="http://schemas.openxmlformats.org/drawingml/2006/main" noGrp="1"/>
          </p:cNvSpPr>
          <p:nvPr/>
        </p:nvSpPr>
        <p:spPr>
          <a:xfrm xmlns:a="http://schemas.openxmlformats.org/drawingml/2006/main">
            <a:off x="1033272" y="1920240"/>
            <a:ext cx="2916936"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200"/>
              <a:buFont typeface="Arial"/>
              <a:buNone/>
            </a:pPr>
            <a:r>
              <a:rPr sz="1200" b="1" i="0" u="none" cap="none">
                <a:solidFill>
                  <a:srgbClr val="E22B27"/>
                </a:solidFill>
                <a:latin typeface="Arial"/>
                <a:ea typeface="Arial"/>
                <a:cs typeface="Arial"/>
              </a:rPr>
              <a:t>1. NAME THE CLAIM</a:t>
            </a:r>
          </a:p>
        </p:txBody>
      </p:sp>
      <p:sp>
        <p:nvSpPr>
          <p:cNvPr id="40" name="Google Shape;40;p4">
            <a:extLst xmlns:a="http://schemas.openxmlformats.org/drawingml/2006/main">
              <a:ext uri="{FF2B5EF4-FFF2-40B4-BE49-F238E27FC236}">
                <a16:creationId xmlns:a16="http://schemas.microsoft.com/office/drawing/2014/main" id="{F6B62CE7-6047-436F-B89A-EF549B0D2B0A}"/>
              </a:ext>
            </a:extLst>
          </p:cNvPr>
          <p:cNvSpPr>
            <a:spLocks xmlns:a="http://schemas.openxmlformats.org/drawingml/2006/main" noGrp="1"/>
          </p:cNvSpPr>
          <p:nvPr/>
        </p:nvSpPr>
        <p:spPr>
          <a:xfrm xmlns:a="http://schemas.openxmlformats.org/drawingml/2006/main">
            <a:off x="1033272" y="2286000"/>
            <a:ext cx="2916936" cy="1307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1800"/>
              <a:buFont typeface="Arial"/>
              <a:buNone/>
            </a:pPr>
            <a:r>
              <a:rPr sz="1800" b="0" i="0" u="none" cap="none">
                <a:solidFill>
                  <a:srgbClr val="FFFFFF"/>
                </a:solidFill>
                <a:latin typeface="Arial"/>
                <a:ea typeface="Arial"/>
                <a:cs typeface="Arial"/>
              </a:rPr>
              <a:t>State what the data suggest without overclaiming.</a:t>
            </a:r>
          </a:p>
        </p:txBody>
      </p:sp>
      <p:sp>
        <p:nvSpPr>
          <p:cNvPr id="41" name="Google Shape;41;p4">
            <a:extLst xmlns:a="http://schemas.openxmlformats.org/drawingml/2006/main">
              <a:ext uri="{FF2B5EF4-FFF2-40B4-BE49-F238E27FC236}">
                <a16:creationId xmlns:a16="http://schemas.microsoft.com/office/drawing/2014/main" id="{093E6C88-CDF5-40FE-9570-3C8B3CFCA3CB}"/>
              </a:ext>
            </a:extLst>
          </p:cNvPr>
          <p:cNvSpPr>
            <a:spLocks xmlns:a="http://schemas.openxmlformats.org/drawingml/2006/main" noGrp="1"/>
          </p:cNvSpPr>
          <p:nvPr/>
        </p:nvSpPr>
        <p:spPr>
          <a:xfrm xmlns:a="http://schemas.openxmlformats.org/drawingml/2006/main">
            <a:off x="4480560" y="1783080"/>
            <a:ext cx="3246120" cy="1965960"/>
          </a:xfrm>
          <a:prstGeom xmlns:a="http://schemas.openxmlformats.org/drawingml/2006/main" prst="roundRect">
            <a:avLst>
              <a:gd name="adj" fmla="val 2791"/>
            </a:avLst>
          </a:prstGeom>
          <a:solidFill xmlns:a="http://schemas.openxmlformats.org/drawingml/2006/main">
            <a:srgbClr val="101010"/>
          </a:solidFill>
          <a:ln xmlns:a="http://schemas.openxmlformats.org/drawingml/2006/main" w="12700" cmpd="sng">
            <a:solidFill>
              <a:srgbClr val="44444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42" name="Google Shape;42;p4">
            <a:extLst xmlns:a="http://schemas.openxmlformats.org/drawingml/2006/main">
              <a:ext uri="{FF2B5EF4-FFF2-40B4-BE49-F238E27FC236}">
                <a16:creationId xmlns:a16="http://schemas.microsoft.com/office/drawing/2014/main" id="{8364C59B-E05F-4633-B13C-C312D2432760}"/>
              </a:ext>
            </a:extLst>
          </p:cNvPr>
          <p:cNvSpPr>
            <a:spLocks xmlns:a="http://schemas.openxmlformats.org/drawingml/2006/main" noGrp="1"/>
          </p:cNvSpPr>
          <p:nvPr/>
        </p:nvSpPr>
        <p:spPr>
          <a:xfrm xmlns:a="http://schemas.openxmlformats.org/drawingml/2006/main">
            <a:off x="4645152" y="1920240"/>
            <a:ext cx="2916936"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200"/>
              <a:buFont typeface="Arial"/>
              <a:buNone/>
            </a:pPr>
            <a:r>
              <a:rPr sz="1200" b="1" i="0" u="none" cap="none">
                <a:solidFill>
                  <a:srgbClr val="E22B27"/>
                </a:solidFill>
                <a:latin typeface="Arial"/>
                <a:ea typeface="Arial"/>
                <a:cs typeface="Arial"/>
              </a:rPr>
              <a:t>2. ANCHOR IN EVIDENCE</a:t>
            </a:r>
          </a:p>
        </p:txBody>
      </p:sp>
      <p:sp>
        <p:nvSpPr>
          <p:cNvPr id="43" name="Google Shape;43;p4">
            <a:extLst xmlns:a="http://schemas.openxmlformats.org/drawingml/2006/main">
              <a:ext uri="{FF2B5EF4-FFF2-40B4-BE49-F238E27FC236}">
                <a16:creationId xmlns:a16="http://schemas.microsoft.com/office/drawing/2014/main" id="{E4F320E0-6B2B-4EE9-99A9-5C6F39DB09F8}"/>
              </a:ext>
            </a:extLst>
          </p:cNvPr>
          <p:cNvSpPr>
            <a:spLocks xmlns:a="http://schemas.openxmlformats.org/drawingml/2006/main" noGrp="1"/>
          </p:cNvSpPr>
          <p:nvPr/>
        </p:nvSpPr>
        <p:spPr>
          <a:xfrm xmlns:a="http://schemas.openxmlformats.org/drawingml/2006/main">
            <a:off x="4645152" y="2286000"/>
            <a:ext cx="2916936" cy="1307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1800"/>
              <a:buFont typeface="Arial"/>
              <a:buNone/>
            </a:pPr>
            <a:r>
              <a:rPr sz="1800" b="0" i="0" u="none" cap="none">
                <a:solidFill>
                  <a:srgbClr val="FFFFFF"/>
                </a:solidFill>
                <a:latin typeface="Arial"/>
                <a:ea typeface="Arial"/>
                <a:cs typeface="Arial"/>
              </a:rPr>
              <a:t>Use specific numbers, graphs, observations, or design results.</a:t>
            </a:r>
          </a:p>
        </p:txBody>
      </p:sp>
      <p:sp>
        <p:nvSpPr>
          <p:cNvPr id="44" name="Google Shape;44;p4">
            <a:extLst xmlns:a="http://schemas.openxmlformats.org/drawingml/2006/main">
              <a:ext uri="{FF2B5EF4-FFF2-40B4-BE49-F238E27FC236}">
                <a16:creationId xmlns:a16="http://schemas.microsoft.com/office/drawing/2014/main" id="{CD6B5AD3-0F61-4EFB-AE22-C9B96512E2F5}"/>
              </a:ext>
            </a:extLst>
          </p:cNvPr>
          <p:cNvSpPr>
            <a:spLocks xmlns:a="http://schemas.openxmlformats.org/drawingml/2006/main" noGrp="1"/>
          </p:cNvSpPr>
          <p:nvPr/>
        </p:nvSpPr>
        <p:spPr>
          <a:xfrm xmlns:a="http://schemas.openxmlformats.org/drawingml/2006/main">
            <a:off x="8092440" y="1783080"/>
            <a:ext cx="3246120" cy="1965960"/>
          </a:xfrm>
          <a:prstGeom xmlns:a="http://schemas.openxmlformats.org/drawingml/2006/main" prst="roundRect">
            <a:avLst>
              <a:gd name="adj" fmla="val 2791"/>
            </a:avLst>
          </a:prstGeom>
          <a:solidFill xmlns:a="http://schemas.openxmlformats.org/drawingml/2006/main">
            <a:srgbClr val="101010"/>
          </a:solidFill>
          <a:ln xmlns:a="http://schemas.openxmlformats.org/drawingml/2006/main" w="12700" cmpd="sng">
            <a:solidFill>
              <a:srgbClr val="44444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45" name="Google Shape;45;p4">
            <a:extLst xmlns:a="http://schemas.openxmlformats.org/drawingml/2006/main">
              <a:ext uri="{FF2B5EF4-FFF2-40B4-BE49-F238E27FC236}">
                <a16:creationId xmlns:a16="http://schemas.microsoft.com/office/drawing/2014/main" id="{8AD679D8-53DD-4091-A8F9-4CBC4F98A41A}"/>
              </a:ext>
            </a:extLst>
          </p:cNvPr>
          <p:cNvSpPr>
            <a:spLocks xmlns:a="http://schemas.openxmlformats.org/drawingml/2006/main" noGrp="1"/>
          </p:cNvSpPr>
          <p:nvPr/>
        </p:nvSpPr>
        <p:spPr>
          <a:xfrm xmlns:a="http://schemas.openxmlformats.org/drawingml/2006/main">
            <a:off x="8257032" y="1920240"/>
            <a:ext cx="2916936"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200"/>
              <a:buFont typeface="Arial"/>
              <a:buNone/>
            </a:pPr>
            <a:r>
              <a:rPr sz="1200" b="1" i="0" u="none" cap="none">
                <a:solidFill>
                  <a:srgbClr val="E22B27"/>
                </a:solidFill>
                <a:latin typeface="Arial"/>
                <a:ea typeface="Arial"/>
                <a:cs typeface="Arial"/>
              </a:rPr>
              <a:t>3. EXPLAIN REASONING</a:t>
            </a:r>
          </a:p>
        </p:txBody>
      </p:sp>
      <p:sp>
        <p:nvSpPr>
          <p:cNvPr id="46" name="Google Shape;46;p4">
            <a:extLst xmlns:a="http://schemas.openxmlformats.org/drawingml/2006/main">
              <a:ext uri="{FF2B5EF4-FFF2-40B4-BE49-F238E27FC236}">
                <a16:creationId xmlns:a16="http://schemas.microsoft.com/office/drawing/2014/main" id="{A0B8C99C-52AC-484F-8DA3-C64A8B37E958}"/>
              </a:ext>
            </a:extLst>
          </p:cNvPr>
          <p:cNvSpPr>
            <a:spLocks xmlns:a="http://schemas.openxmlformats.org/drawingml/2006/main" noGrp="1"/>
          </p:cNvSpPr>
          <p:nvPr/>
        </p:nvSpPr>
        <p:spPr>
          <a:xfrm xmlns:a="http://schemas.openxmlformats.org/drawingml/2006/main">
            <a:off x="8257032" y="2286000"/>
            <a:ext cx="2916936" cy="1307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1800"/>
              <a:buFont typeface="Arial"/>
              <a:buNone/>
            </a:pPr>
            <a:r>
              <a:rPr sz="1800" b="0" i="0" u="none" cap="none">
                <a:solidFill>
                  <a:srgbClr val="FFFFFF"/>
                </a:solidFill>
                <a:latin typeface="Arial"/>
                <a:ea typeface="Arial"/>
                <a:cs typeface="Arial"/>
              </a:rPr>
              <a:t>Connect the evidence to the research question, limitations, and future work.</a:t>
            </a:r>
          </a:p>
        </p:txBody>
      </p:sp>
      <p:sp>
        <p:nvSpPr>
          <p:cNvPr id="47" name="Google Shape;47;p4">
            <a:extLst xmlns:a="http://schemas.openxmlformats.org/drawingml/2006/main">
              <a:ext uri="{FF2B5EF4-FFF2-40B4-BE49-F238E27FC236}">
                <a16:creationId xmlns:a16="http://schemas.microsoft.com/office/drawing/2014/main" id="{34ADD6FE-40CA-4B33-92C1-8196BB029076}"/>
              </a:ext>
            </a:extLst>
          </p:cNvPr>
          <p:cNvSpPr>
            <a:spLocks xmlns:a="http://schemas.openxmlformats.org/drawingml/2006/main" noGrp="1"/>
          </p:cNvSpPr>
          <p:nvPr/>
        </p:nvSpPr>
        <p:spPr>
          <a:xfrm xmlns:a="http://schemas.openxmlformats.org/drawingml/2006/main">
            <a:off x="914400" y="4389120"/>
            <a:ext cx="103327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spcBef>
                <a:spcPts val="0"/>
              </a:spcBef>
              <a:spcAft>
                <a:spcPts val="0"/>
              </a:spcAft>
              <a:buClr>
                <a:srgbClr val="FFFFFF"/>
              </a:buClr>
              <a:buSzPts val="2400"/>
              <a:buFont typeface="Play"/>
              <a:buNone/>
            </a:pPr>
            <a:r>
              <a:rPr sz="2400" b="1" i="0" u="none" cap="none">
                <a:solidFill>
                  <a:srgbClr val="FFFFFF"/>
                </a:solidFill>
                <a:latin typeface="Play"/>
                <a:ea typeface="Play"/>
                <a:cs typeface="Play"/>
              </a:rPr>
              <a:t>By the end, every student should have the core of a discussion section drafted.</a:t>
            </a:r>
          </a:p>
        </p:txBody>
      </p:sp>
    </p:spTree>
    <p:extLst>
      <p:ext uri="{BB962C8B-B14F-4D97-AF65-F5344CB8AC3E}">
        <p14:creationId xmlns:p14="http://schemas.microsoft.com/office/powerpoint/2010/main" val="2001174681"/>
      </p:ext>
    </p:extLst>
  </p:cSld>
</p:sld>
</file>

<file path=ppt/slides/slide3.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53" name="Google Shape;53;p5">
            <a:extLst xmlns:a="http://schemas.openxmlformats.org/drawingml/2006/main">
              <a:ext uri="{FF2B5EF4-FFF2-40B4-BE49-F238E27FC236}">
                <a16:creationId xmlns:a16="http://schemas.microsoft.com/office/drawing/2014/main" id="{95D17767-4033-4A9A-9626-38BD026A0709}"/>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54" name="Google Shape;54;p5">
            <a:extLst xmlns:a="http://schemas.openxmlformats.org/drawingml/2006/main">
              <a:ext uri="{FF2B5EF4-FFF2-40B4-BE49-F238E27FC236}">
                <a16:creationId xmlns:a16="http://schemas.microsoft.com/office/drawing/2014/main" id="{898F1073-C76D-469A-8AA5-42491C1030D6}"/>
              </a:ext>
            </a:extLst>
          </p:cNvPr>
          <p:cNvSpPr>
            <a:spLocks xmlns:a="http://schemas.openxmlformats.org/drawingml/2006/main" noGrp="1"/>
          </p:cNvSpPr>
          <p:nvPr/>
        </p:nvSpPr>
        <p:spPr>
          <a:xfrm xmlns:a="http://schemas.openxmlformats.org/drawingml/2006/main">
            <a:off x="0" y="164592"/>
            <a:ext cx="12191695" cy="7315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55" name="Google Shape;55;p5">
            <a:extLst xmlns:a="http://schemas.openxmlformats.org/drawingml/2006/main">
              <a:ext uri="{FF2B5EF4-FFF2-40B4-BE49-F238E27FC236}">
                <a16:creationId xmlns:a16="http://schemas.microsoft.com/office/drawing/2014/main" id="{73315C1E-8BBE-43A2-AD9B-A1DDBA4634C0}"/>
              </a:ext>
            </a:extLst>
          </p:cNvPr>
          <p:cNvSpPr>
            <a:spLocks xmlns:a="http://schemas.openxmlformats.org/drawingml/2006/main" noGrp="1"/>
          </p:cNvSpPr>
          <p:nvPr/>
        </p:nvSpPr>
        <p:spPr>
          <a:xfrm xmlns:a="http://schemas.openxmlformats.org/drawingml/2006/main">
            <a:off x="0" y="6729984"/>
            <a:ext cx="12191695" cy="54864"/>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56" name="Google Shape;56;p5">
            <a:extLst xmlns:a="http://schemas.openxmlformats.org/drawingml/2006/main">
              <a:ext uri="{FF2B5EF4-FFF2-40B4-BE49-F238E27FC236}">
                <a16:creationId xmlns:a16="http://schemas.microsoft.com/office/drawing/2014/main" id="{ECF8EA24-A799-42B9-B9E1-25C0DBB39063}"/>
              </a:ext>
            </a:extLst>
          </p:cNvPr>
          <p:cNvSpPr>
            <a:spLocks xmlns:a="http://schemas.openxmlformats.org/drawingml/2006/main" noGrp="1"/>
          </p:cNvSpPr>
          <p:nvPr/>
        </p:nvSpPr>
        <p:spPr>
          <a:xfrm xmlns:a="http://schemas.openxmlformats.org/drawingml/2006/main">
            <a:off x="411480" y="6236208"/>
            <a:ext cx="420624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000"/>
              <a:buFont typeface="Arial"/>
              <a:buNone/>
            </a:pPr>
            <a:r>
              <a:rPr sz="1000" b="1" i="0" u="none" cap="none">
                <a:solidFill>
                  <a:srgbClr val="B8B8B8"/>
                </a:solidFill>
                <a:latin typeface="Arial"/>
                <a:ea typeface="Arial"/>
                <a:cs typeface="Arial"/>
              </a:rPr>
              <a:t>SCIENTIFIC REPORTING</a:t>
            </a:r>
          </a:p>
        </p:txBody>
      </p:sp>
      <p:sp>
        <p:nvSpPr>
          <p:cNvPr id="57" name="Google Shape;57;p5">
            <a:extLst xmlns:a="http://schemas.openxmlformats.org/drawingml/2006/main">
              <a:ext uri="{FF2B5EF4-FFF2-40B4-BE49-F238E27FC236}">
                <a16:creationId xmlns:a16="http://schemas.microsoft.com/office/drawing/2014/main" id="{E8FE28FA-ABED-43B9-B03F-B2770802995F}"/>
              </a:ext>
            </a:extLst>
          </p:cNvPr>
          <p:cNvSpPr>
            <a:spLocks xmlns:a="http://schemas.openxmlformats.org/drawingml/2006/main" noGrp="1"/>
          </p:cNvSpPr>
          <p:nvPr/>
        </p:nvSpPr>
        <p:spPr>
          <a:xfrm xmlns:a="http://schemas.openxmlformats.org/drawingml/2006/main">
            <a:off x="10515600" y="6236208"/>
            <a:ext cx="123444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B8B8B8"/>
              </a:buClr>
              <a:buSzPts val="1000"/>
              <a:buFont typeface="Arial"/>
              <a:buNone/>
            </a:pPr>
            <a:r>
              <a:rPr sz="1000" b="1" i="0" u="none" cap="none">
                <a:solidFill>
                  <a:srgbClr val="B8B8B8"/>
                </a:solidFill>
                <a:latin typeface="Arial"/>
                <a:ea typeface="Arial"/>
                <a:cs typeface="Arial"/>
              </a:rPr>
              <a:t>STARLAB</a:t>
            </a:r>
          </a:p>
        </p:txBody>
      </p:sp>
      <p:sp>
        <p:nvSpPr>
          <p:cNvPr id="58" name="Google Shape;58;p5">
            <a:extLst xmlns:a="http://schemas.openxmlformats.org/drawingml/2006/main">
              <a:ext uri="{FF2B5EF4-FFF2-40B4-BE49-F238E27FC236}">
                <a16:creationId xmlns:a16="http://schemas.microsoft.com/office/drawing/2014/main" id="{78112B86-2647-4A73-A98B-18060D5E6863}"/>
              </a:ext>
            </a:extLst>
          </p:cNvPr>
          <p:cNvSpPr>
            <a:spLocks xmlns:a="http://schemas.openxmlformats.org/drawingml/2006/main" noGrp="1"/>
          </p:cNvSpPr>
          <p:nvPr/>
        </p:nvSpPr>
        <p:spPr>
          <a:xfrm xmlns:a="http://schemas.openxmlformats.org/drawingml/2006/main">
            <a:off x="10195560" y="384048"/>
            <a:ext cx="1325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E22B27"/>
              </a:buClr>
              <a:buSzPts val="1100"/>
              <a:buFont typeface="Arial"/>
              <a:buNone/>
            </a:pPr>
            <a:r>
              <a:rPr sz="1100" b="1" i="0" u="none" cap="none">
                <a:solidFill>
                  <a:srgbClr val="E22B27"/>
                </a:solidFill>
                <a:latin typeface="Arial"/>
                <a:ea typeface="Arial"/>
                <a:cs typeface="Arial"/>
              </a:rPr>
              <a:t>DECK 14</a:t>
            </a:r>
          </a:p>
        </p:txBody>
      </p:sp>
      <p:sp>
        <p:nvSpPr>
          <p:cNvPr id="59" name="Google Shape;59;p5">
            <a:extLst xmlns:a="http://schemas.openxmlformats.org/drawingml/2006/main">
              <a:ext uri="{FF2B5EF4-FFF2-40B4-BE49-F238E27FC236}">
                <a16:creationId xmlns:a16="http://schemas.microsoft.com/office/drawing/2014/main" id="{C955BB4A-C12C-4048-9E58-1A25041E5B5C}"/>
              </a:ext>
            </a:extLst>
          </p:cNvPr>
          <p:cNvSpPr>
            <a:spLocks xmlns:a="http://schemas.openxmlformats.org/drawingml/2006/main" noGrp="1"/>
          </p:cNvSpPr>
          <p:nvPr/>
        </p:nvSpPr>
        <p:spPr>
          <a:xfrm xmlns:a="http://schemas.openxmlformats.org/drawingml/2006/main">
            <a:off x="685800" y="694944"/>
            <a:ext cx="9829800" cy="49377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700"/>
              <a:buFont typeface="Play"/>
              <a:buNone/>
            </a:pPr>
            <a:r>
              <a:rPr sz="2700" b="1" i="0" u="none" cap="none">
                <a:solidFill>
                  <a:srgbClr val="FFFFFF"/>
                </a:solidFill>
                <a:latin typeface="Play"/>
                <a:ea typeface="Play"/>
                <a:cs typeface="Play"/>
              </a:rPr>
              <a:t>What the Discussion Section Does</a:t>
            </a:r>
          </a:p>
        </p:txBody>
      </p:sp>
      <p:sp>
        <p:nvSpPr>
          <p:cNvPr id="60" name="Google Shape;60;p5">
            <a:extLst xmlns:a="http://schemas.openxmlformats.org/drawingml/2006/main">
              <a:ext uri="{FF2B5EF4-FFF2-40B4-BE49-F238E27FC236}">
                <a16:creationId xmlns:a16="http://schemas.microsoft.com/office/drawing/2014/main" id="{3AC68709-EFC6-4407-A13F-59D3F2D47591}"/>
              </a:ext>
            </a:extLst>
          </p:cNvPr>
          <p:cNvSpPr>
            <a:spLocks xmlns:a="http://schemas.openxmlformats.org/drawingml/2006/main" noGrp="1"/>
          </p:cNvSpPr>
          <p:nvPr/>
        </p:nvSpPr>
        <p:spPr>
          <a:xfrm xmlns:a="http://schemas.openxmlformats.org/drawingml/2006/main">
            <a:off x="694944" y="1271016"/>
            <a:ext cx="9875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200"/>
              <a:buFont typeface="Arial"/>
              <a:buNone/>
            </a:pPr>
            <a:r>
              <a:rPr sz="1200" b="0" i="0" u="none" cap="none">
                <a:solidFill>
                  <a:srgbClr val="B8B8B8"/>
                </a:solidFill>
                <a:latin typeface="Arial"/>
                <a:ea typeface="Arial"/>
                <a:cs typeface="Arial"/>
              </a:rPr>
              <a:t>It turns results into meaning.</a:t>
            </a:r>
          </a:p>
        </p:txBody>
      </p:sp>
      <p:cxnSp>
        <p:nvCxnSpPr>
          <p:cNvPr id="73" name="Google Shape;61;p5"/>
          <p:cNvCxnSpPr/>
          <p:nvPr/>
        </p:nvCxnSpPr>
        <p:spPr>
          <a:xfrm xmlns:a="http://schemas.openxmlformats.org/drawingml/2006/main">
            <a:off x="685800" y="1591056"/>
            <a:ext cx="10789920" cy="0"/>
          </a:xfrm>
          <a:prstGeom xmlns:a="http://schemas.openxmlformats.org/drawingml/2006/main" prst="straightConnector1">
            <a:avLst/>
          </a:prstGeom>
          <a:ln xmlns:a="http://schemas.openxmlformats.org/drawingml/2006/main" w="16500" cap="flat">
            <a:solidFill>
              <a:srgbClr val="E22B27"/>
            </a:solidFill>
            <a:prstDash val="solid"/>
            <a:round/>
            <a:headEnd type="none" w="sm" len="sm"/>
            <a:tailEnd type="none" w="sm" len="sm"/>
          </a:ln>
        </p:spPr>
      </p:cxnSp>
      <p:sp>
        <p:nvSpPr>
          <p:cNvPr id="62" name="Google Shape;62;p5">
            <a:extLst xmlns:a="http://schemas.openxmlformats.org/drawingml/2006/main">
              <a:ext uri="{FF2B5EF4-FFF2-40B4-BE49-F238E27FC236}">
                <a16:creationId xmlns:a16="http://schemas.microsoft.com/office/drawing/2014/main" id="{A9B37DB1-1F34-4965-B61B-C5A9BEB116F7}"/>
              </a:ext>
            </a:extLst>
          </p:cNvPr>
          <p:cNvSpPr>
            <a:spLocks xmlns:a="http://schemas.openxmlformats.org/drawingml/2006/main" noGrp="1"/>
          </p:cNvSpPr>
          <p:nvPr/>
        </p:nvSpPr>
        <p:spPr>
          <a:xfrm xmlns:a="http://schemas.openxmlformats.org/drawingml/2006/main">
            <a:off x="914400" y="1828800"/>
            <a:ext cx="73152" cy="1097280"/>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63" name="Google Shape;63;p5">
            <a:extLst xmlns:a="http://schemas.openxmlformats.org/drawingml/2006/main">
              <a:ext uri="{FF2B5EF4-FFF2-40B4-BE49-F238E27FC236}">
                <a16:creationId xmlns:a16="http://schemas.microsoft.com/office/drawing/2014/main" id="{01817AF8-0ED7-48BF-88EE-47C47DEE07C9}"/>
              </a:ext>
            </a:extLst>
          </p:cNvPr>
          <p:cNvSpPr>
            <a:spLocks xmlns:a="http://schemas.openxmlformats.org/drawingml/2006/main" noGrp="1"/>
          </p:cNvSpPr>
          <p:nvPr/>
        </p:nvSpPr>
        <p:spPr>
          <a:xfrm xmlns:a="http://schemas.openxmlformats.org/drawingml/2006/main">
            <a:off x="1143000" y="1865376"/>
            <a:ext cx="9875520" cy="10058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500"/>
              <a:buFont typeface="Play"/>
              <a:buNone/>
            </a:pPr>
            <a:r>
              <a:rPr sz="2500" b="1" i="0" u="none" cap="none">
                <a:solidFill>
                  <a:srgbClr val="FFFFFF"/>
                </a:solidFill>
                <a:latin typeface="Play"/>
                <a:ea typeface="Play"/>
                <a:cs typeface="Play"/>
              </a:rPr>
              <a:t>The discussion answers: what does the evidence allow me to claim?</a:t>
            </a:r>
          </a:p>
        </p:txBody>
      </p:sp>
      <p:sp>
        <p:nvSpPr>
          <p:cNvPr id="64" name="Google Shape;64;p5">
            <a:extLst xmlns:a="http://schemas.openxmlformats.org/drawingml/2006/main">
              <a:ext uri="{FF2B5EF4-FFF2-40B4-BE49-F238E27FC236}">
                <a16:creationId xmlns:a16="http://schemas.microsoft.com/office/drawing/2014/main" id="{BC484E5F-FD5C-4A7C-A721-0A8F6088034C}"/>
              </a:ext>
            </a:extLst>
          </p:cNvPr>
          <p:cNvSpPr>
            <a:spLocks xmlns:a="http://schemas.openxmlformats.org/drawingml/2006/main" noGrp="1"/>
          </p:cNvSpPr>
          <p:nvPr/>
        </p:nvSpPr>
        <p:spPr>
          <a:xfrm xmlns:a="http://schemas.openxmlformats.org/drawingml/2006/main">
            <a:off x="960120" y="3246120"/>
            <a:ext cx="10149840" cy="2286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1000" tIns="1000" rIns="1000" bIns="1000" anchor="ctr">
            <a:noAutofit/>
          </a:bodyPr>
          <a:lstStyle xmlns:a="http://schemas.openxmlformats.org/drawingml/2006/main"/>
          <a:p xmlns:a="http://schemas.openxmlformats.org/drawingml/2006/main">
            <a:pPr marL="0" marR="0" indent="0" algn="l">
              <a:spcBef>
                <a:spcPts val="0"/>
              </a:spcBef>
              <a:spcAft>
                <a:spcPts val="0"/>
              </a:spcAft>
              <a:buNone/>
            </a:pPr>
            <a:r>
              <a:rPr sz="1900" b="0" i="0" u="none" cap="none">
                <a:solidFill>
                  <a:srgbClr val="FFFFFF"/>
                </a:solidFill>
                <a:latin typeface="Arial"/>
                <a:ea typeface="Arial"/>
                <a:cs typeface="Arial"/>
              </a:rPr>
              <a:t>Connects results back to the research question or engineering goal.</a:t>
            </a:r>
          </a:p>
          <a:p xmlns:a="http://schemas.openxmlformats.org/drawingml/2006/main">
            <a:pPr marL="0" marR="0" indent="0" algn="l">
              <a:spcBef>
                <a:spcPts val="0"/>
              </a:spcBef>
              <a:spcAft>
                <a:spcPts val="0"/>
              </a:spcAft>
              <a:buNone/>
            </a:pPr>
            <a:r>
              <a:rPr sz="1900">
                <a:solidFill>
                  <a:srgbClr val="FFFFFF"/>
                </a:solidFill>
                <a:latin typeface="Arial"/>
                <a:ea typeface="Arial"/>
                <a:cs typeface="Arial"/>
              </a:rPr>
              <a:t>Explains whether the hypothesis was supported or the design criteria were met.</a:t>
            </a:r>
          </a:p>
          <a:p xmlns:a="http://schemas.openxmlformats.org/drawingml/2006/main">
            <a:pPr marL="0" marR="0" indent="0" algn="l">
              <a:spcBef>
                <a:spcPts val="0"/>
              </a:spcBef>
              <a:spcAft>
                <a:spcPts val="0"/>
              </a:spcAft>
              <a:buNone/>
            </a:pPr>
            <a:r>
              <a:rPr sz="1900">
                <a:solidFill>
                  <a:srgbClr val="FFFFFF"/>
                </a:solidFill>
                <a:latin typeface="Arial"/>
                <a:ea typeface="Arial"/>
                <a:cs typeface="Arial"/>
              </a:rPr>
              <a:t>Interprets patterns, tradeoffs, unexpected results, and failures.</a:t>
            </a:r>
          </a:p>
          <a:p xmlns:a="http://schemas.openxmlformats.org/drawingml/2006/main">
            <a:pPr marL="0" marR="0" indent="0" algn="l">
              <a:spcBef>
                <a:spcPts val="0"/>
              </a:spcBef>
              <a:spcAft>
                <a:spcPts val="0"/>
              </a:spcAft>
              <a:buNone/>
            </a:pPr>
            <a:r>
              <a:rPr sz="1900">
                <a:solidFill>
                  <a:srgbClr val="FFFFFF"/>
                </a:solidFill>
                <a:latin typeface="Arial"/>
                <a:ea typeface="Arial"/>
                <a:cs typeface="Arial"/>
              </a:rPr>
              <a:t>Acknowledges limitations and sources of uncertainty.</a:t>
            </a:r>
          </a:p>
          <a:p xmlns:a="http://schemas.openxmlformats.org/drawingml/2006/main">
            <a:pPr marL="0" marR="0" indent="0" algn="l">
              <a:spcBef>
                <a:spcPts val="0"/>
              </a:spcBef>
              <a:spcAft>
                <a:spcPts val="0"/>
              </a:spcAft>
              <a:buNone/>
            </a:pPr>
            <a:r>
              <a:rPr sz="1900">
                <a:solidFill>
                  <a:srgbClr val="FFFFFF"/>
                </a:solidFill>
                <a:latin typeface="Arial"/>
                <a:ea typeface="Arial"/>
                <a:cs typeface="Arial"/>
              </a:rPr>
              <a:t>Identifies future work that follows from the evidence.</a:t>
            </a:r>
          </a:p>
        </p:txBody>
      </p:sp>
    </p:spTree>
    <p:extLst>
      <p:ext uri="{BB962C8B-B14F-4D97-AF65-F5344CB8AC3E}">
        <p14:creationId xmlns:p14="http://schemas.microsoft.com/office/powerpoint/2010/main" val="1919879375"/>
      </p:ext>
    </p:extLst>
  </p:cSld>
</p:sld>
</file>

<file path=ppt/slides/slide4.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70" name="Google Shape;70;p6">
            <a:extLst xmlns:a="http://schemas.openxmlformats.org/drawingml/2006/main">
              <a:ext uri="{FF2B5EF4-FFF2-40B4-BE49-F238E27FC236}">
                <a16:creationId xmlns:a16="http://schemas.microsoft.com/office/drawing/2014/main" id="{1F0E1FAF-E9A1-4633-87C6-57C483CCBC2E}"/>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71" name="Google Shape;71;p6">
            <a:extLst xmlns:a="http://schemas.openxmlformats.org/drawingml/2006/main">
              <a:ext uri="{FF2B5EF4-FFF2-40B4-BE49-F238E27FC236}">
                <a16:creationId xmlns:a16="http://schemas.microsoft.com/office/drawing/2014/main" id="{0DACEE56-C732-4995-80B1-3FE936B16504}"/>
              </a:ext>
            </a:extLst>
          </p:cNvPr>
          <p:cNvSpPr>
            <a:spLocks xmlns:a="http://schemas.openxmlformats.org/drawingml/2006/main" noGrp="1"/>
          </p:cNvSpPr>
          <p:nvPr/>
        </p:nvSpPr>
        <p:spPr>
          <a:xfrm xmlns:a="http://schemas.openxmlformats.org/drawingml/2006/main">
            <a:off x="0" y="164592"/>
            <a:ext cx="12191695" cy="7315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72" name="Google Shape;72;p6">
            <a:extLst xmlns:a="http://schemas.openxmlformats.org/drawingml/2006/main">
              <a:ext uri="{FF2B5EF4-FFF2-40B4-BE49-F238E27FC236}">
                <a16:creationId xmlns:a16="http://schemas.microsoft.com/office/drawing/2014/main" id="{6ED15164-B498-4BFD-9142-96BBC971B848}"/>
              </a:ext>
            </a:extLst>
          </p:cNvPr>
          <p:cNvSpPr>
            <a:spLocks xmlns:a="http://schemas.openxmlformats.org/drawingml/2006/main" noGrp="1"/>
          </p:cNvSpPr>
          <p:nvPr/>
        </p:nvSpPr>
        <p:spPr>
          <a:xfrm xmlns:a="http://schemas.openxmlformats.org/drawingml/2006/main">
            <a:off x="0" y="6729984"/>
            <a:ext cx="12191695" cy="54864"/>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73" name="Google Shape;73;p6">
            <a:extLst xmlns:a="http://schemas.openxmlformats.org/drawingml/2006/main">
              <a:ext uri="{FF2B5EF4-FFF2-40B4-BE49-F238E27FC236}">
                <a16:creationId xmlns:a16="http://schemas.microsoft.com/office/drawing/2014/main" id="{2260DF00-3A62-47C6-9042-F7829A18B3D2}"/>
              </a:ext>
            </a:extLst>
          </p:cNvPr>
          <p:cNvSpPr>
            <a:spLocks xmlns:a="http://schemas.openxmlformats.org/drawingml/2006/main" noGrp="1"/>
          </p:cNvSpPr>
          <p:nvPr/>
        </p:nvSpPr>
        <p:spPr>
          <a:xfrm xmlns:a="http://schemas.openxmlformats.org/drawingml/2006/main">
            <a:off x="411480" y="6236208"/>
            <a:ext cx="420624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000"/>
              <a:buFont typeface="Arial"/>
              <a:buNone/>
            </a:pPr>
            <a:r>
              <a:rPr sz="1000" b="1">
                <a:solidFill>
                  <a:srgbClr val="B8B8B8"/>
                </a:solidFill>
                <a:latin typeface="Arial"/>
                <a:ea typeface="Arial"/>
                <a:cs typeface="Arial"/>
              </a:rPr>
              <a:t>SCIENTIFIC REPORTING</a:t>
            </a:r>
          </a:p>
        </p:txBody>
      </p:sp>
      <p:sp>
        <p:nvSpPr>
          <p:cNvPr id="74" name="Google Shape;74;p6">
            <a:extLst xmlns:a="http://schemas.openxmlformats.org/drawingml/2006/main">
              <a:ext uri="{FF2B5EF4-FFF2-40B4-BE49-F238E27FC236}">
                <a16:creationId xmlns:a16="http://schemas.microsoft.com/office/drawing/2014/main" id="{1E6685CA-9942-4A90-B77B-8A80919EEBD6}"/>
              </a:ext>
            </a:extLst>
          </p:cNvPr>
          <p:cNvSpPr>
            <a:spLocks xmlns:a="http://schemas.openxmlformats.org/drawingml/2006/main" noGrp="1"/>
          </p:cNvSpPr>
          <p:nvPr/>
        </p:nvSpPr>
        <p:spPr>
          <a:xfrm xmlns:a="http://schemas.openxmlformats.org/drawingml/2006/main">
            <a:off x="10515600" y="6236208"/>
            <a:ext cx="123444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B8B8B8"/>
              </a:buClr>
              <a:buSzPts val="1000"/>
              <a:buFont typeface="Arial"/>
              <a:buNone/>
            </a:pPr>
            <a:r>
              <a:rPr sz="1000" b="1">
                <a:solidFill>
                  <a:srgbClr val="B8B8B8"/>
                </a:solidFill>
                <a:latin typeface="Arial"/>
                <a:ea typeface="Arial"/>
                <a:cs typeface="Arial"/>
              </a:rPr>
              <a:t>STARLAB</a:t>
            </a:r>
          </a:p>
        </p:txBody>
      </p:sp>
      <p:sp>
        <p:nvSpPr>
          <p:cNvPr id="75" name="Google Shape;75;p6">
            <a:extLst xmlns:a="http://schemas.openxmlformats.org/drawingml/2006/main">
              <a:ext uri="{FF2B5EF4-FFF2-40B4-BE49-F238E27FC236}">
                <a16:creationId xmlns:a16="http://schemas.microsoft.com/office/drawing/2014/main" id="{1188AF90-532E-4859-A8F0-ABCD690E6FEC}"/>
              </a:ext>
            </a:extLst>
          </p:cNvPr>
          <p:cNvSpPr>
            <a:spLocks xmlns:a="http://schemas.openxmlformats.org/drawingml/2006/main" noGrp="1"/>
          </p:cNvSpPr>
          <p:nvPr/>
        </p:nvSpPr>
        <p:spPr>
          <a:xfrm xmlns:a="http://schemas.openxmlformats.org/drawingml/2006/main">
            <a:off x="10195560" y="384048"/>
            <a:ext cx="1325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E22B27"/>
              </a:buClr>
              <a:buSzPts val="1100"/>
              <a:buFont typeface="Arial"/>
              <a:buNone/>
            </a:pPr>
            <a:r>
              <a:rPr sz="1100" b="1">
                <a:solidFill>
                  <a:srgbClr val="E22B27"/>
                </a:solidFill>
                <a:latin typeface="Arial"/>
                <a:ea typeface="Arial"/>
                <a:cs typeface="Arial"/>
              </a:rPr>
              <a:t>DECK 14</a:t>
            </a:r>
          </a:p>
        </p:txBody>
      </p:sp>
      <p:sp>
        <p:nvSpPr>
          <p:cNvPr id="76" name="Google Shape;76;p6">
            <a:extLst xmlns:a="http://schemas.openxmlformats.org/drawingml/2006/main">
              <a:ext uri="{FF2B5EF4-FFF2-40B4-BE49-F238E27FC236}">
                <a16:creationId xmlns:a16="http://schemas.microsoft.com/office/drawing/2014/main" id="{09D90DC9-FB59-40D0-BBB4-2CD88DF5F195}"/>
              </a:ext>
            </a:extLst>
          </p:cNvPr>
          <p:cNvSpPr>
            <a:spLocks xmlns:a="http://schemas.openxmlformats.org/drawingml/2006/main" noGrp="1"/>
          </p:cNvSpPr>
          <p:nvPr/>
        </p:nvSpPr>
        <p:spPr>
          <a:xfrm xmlns:a="http://schemas.openxmlformats.org/drawingml/2006/main">
            <a:off x="685800" y="694944"/>
            <a:ext cx="9829800" cy="49377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700"/>
              <a:buFont typeface="Play"/>
              <a:buNone/>
            </a:pPr>
            <a:r>
              <a:rPr sz="2700" b="1">
                <a:solidFill>
                  <a:srgbClr val="FFFFFF"/>
                </a:solidFill>
                <a:latin typeface="Play"/>
                <a:ea typeface="Play"/>
                <a:cs typeface="Play"/>
              </a:rPr>
              <a:t>Results vs. Discussion</a:t>
            </a:r>
          </a:p>
        </p:txBody>
      </p:sp>
      <p:sp>
        <p:nvSpPr>
          <p:cNvPr id="77" name="Google Shape;77;p6">
            <a:extLst xmlns:a="http://schemas.openxmlformats.org/drawingml/2006/main">
              <a:ext uri="{FF2B5EF4-FFF2-40B4-BE49-F238E27FC236}">
                <a16:creationId xmlns:a16="http://schemas.microsoft.com/office/drawing/2014/main" id="{46F7D5C8-F485-411E-AC0D-129704CC8077}"/>
              </a:ext>
            </a:extLst>
          </p:cNvPr>
          <p:cNvSpPr>
            <a:spLocks xmlns:a="http://schemas.openxmlformats.org/drawingml/2006/main" noGrp="1"/>
          </p:cNvSpPr>
          <p:nvPr/>
        </p:nvSpPr>
        <p:spPr>
          <a:xfrm xmlns:a="http://schemas.openxmlformats.org/drawingml/2006/main">
            <a:off x="694944" y="1271016"/>
            <a:ext cx="9875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200"/>
              <a:buFont typeface="Arial"/>
              <a:buNone/>
            </a:pPr>
            <a:r>
              <a:rPr sz="1200">
                <a:solidFill>
                  <a:srgbClr val="B8B8B8"/>
                </a:solidFill>
                <a:latin typeface="Arial"/>
                <a:ea typeface="Arial"/>
                <a:cs typeface="Arial"/>
              </a:rPr>
              <a:t>Show first. Explain second.</a:t>
            </a:r>
          </a:p>
        </p:txBody>
      </p:sp>
      <p:cxnSp>
        <p:nvCxnSpPr>
          <p:cNvPr id="93" name="Google Shape;78;p6"/>
          <p:cNvCxnSpPr/>
          <p:nvPr/>
        </p:nvCxnSpPr>
        <p:spPr>
          <a:xfrm xmlns:a="http://schemas.openxmlformats.org/drawingml/2006/main">
            <a:off x="685800" y="1591056"/>
            <a:ext cx="10789920" cy="0"/>
          </a:xfrm>
          <a:prstGeom xmlns:a="http://schemas.openxmlformats.org/drawingml/2006/main" prst="straightConnector1">
            <a:avLst/>
          </a:prstGeom>
          <a:ln xmlns:a="http://schemas.openxmlformats.org/drawingml/2006/main" w="16500" cap="flat">
            <a:solidFill>
              <a:srgbClr val="E22B27"/>
            </a:solidFill>
            <a:prstDash val="solid"/>
            <a:round/>
            <a:headEnd type="none" w="sm" len="sm"/>
            <a:tailEnd type="none" w="sm" len="sm"/>
          </a:ln>
        </p:spPr>
      </p:cxnSp>
      <p:sp>
        <p:nvSpPr>
          <p:cNvPr id="79" name="Google Shape;79;p6">
            <a:extLst xmlns:a="http://schemas.openxmlformats.org/drawingml/2006/main">
              <a:ext uri="{FF2B5EF4-FFF2-40B4-BE49-F238E27FC236}">
                <a16:creationId xmlns:a16="http://schemas.microsoft.com/office/drawing/2014/main" id="{3EC16ED1-C6D6-4CB7-B7CB-E87E561B575B}"/>
              </a:ext>
            </a:extLst>
          </p:cNvPr>
          <p:cNvSpPr>
            <a:spLocks xmlns:a="http://schemas.openxmlformats.org/drawingml/2006/main" noGrp="1"/>
          </p:cNvSpPr>
          <p:nvPr/>
        </p:nvSpPr>
        <p:spPr>
          <a:xfrm xmlns:a="http://schemas.openxmlformats.org/drawingml/2006/main">
            <a:off x="914400" y="1828800"/>
            <a:ext cx="4892040" cy="3429000"/>
          </a:xfrm>
          <a:prstGeom xmlns:a="http://schemas.openxmlformats.org/drawingml/2006/main" prst="roundRect">
            <a:avLst>
              <a:gd name="adj" fmla="val 1600"/>
            </a:avLst>
          </a:prstGeom>
          <a:solidFill xmlns:a="http://schemas.openxmlformats.org/drawingml/2006/main">
            <a:srgbClr val="101010"/>
          </a:solidFill>
          <a:ln xmlns:a="http://schemas.openxmlformats.org/drawingml/2006/main" w="12700" cmpd="sng">
            <a:solidFill>
              <a:srgbClr val="44444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80" name="Google Shape;80;p6">
            <a:extLst xmlns:a="http://schemas.openxmlformats.org/drawingml/2006/main">
              <a:ext uri="{FF2B5EF4-FFF2-40B4-BE49-F238E27FC236}">
                <a16:creationId xmlns:a16="http://schemas.microsoft.com/office/drawing/2014/main" id="{ECFFFFD2-BCB2-462F-AF90-D2BE9DC9B153}"/>
              </a:ext>
            </a:extLst>
          </p:cNvPr>
          <p:cNvSpPr>
            <a:spLocks xmlns:a="http://schemas.openxmlformats.org/drawingml/2006/main" noGrp="1"/>
          </p:cNvSpPr>
          <p:nvPr/>
        </p:nvSpPr>
        <p:spPr>
          <a:xfrm xmlns:a="http://schemas.openxmlformats.org/drawingml/2006/main">
            <a:off x="1078992" y="1965960"/>
            <a:ext cx="4562856"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200"/>
              <a:buFont typeface="Arial"/>
              <a:buNone/>
            </a:pPr>
            <a:r>
              <a:rPr sz="1200" b="1">
                <a:solidFill>
                  <a:srgbClr val="E22B27"/>
                </a:solidFill>
                <a:latin typeface="Arial"/>
                <a:ea typeface="Arial"/>
                <a:cs typeface="Arial"/>
              </a:rPr>
              <a:t>RESULTS</a:t>
            </a:r>
          </a:p>
        </p:txBody>
      </p:sp>
      <p:sp>
        <p:nvSpPr>
          <p:cNvPr id="81" name="Google Shape;81;p6">
            <a:extLst xmlns:a="http://schemas.openxmlformats.org/drawingml/2006/main">
              <a:ext uri="{FF2B5EF4-FFF2-40B4-BE49-F238E27FC236}">
                <a16:creationId xmlns:a16="http://schemas.microsoft.com/office/drawing/2014/main" id="{7FEE3B24-B906-4064-A599-6861A2CE8B6E}"/>
              </a:ext>
            </a:extLst>
          </p:cNvPr>
          <p:cNvSpPr>
            <a:spLocks xmlns:a="http://schemas.openxmlformats.org/drawingml/2006/main" noGrp="1"/>
          </p:cNvSpPr>
          <p:nvPr/>
        </p:nvSpPr>
        <p:spPr>
          <a:xfrm xmlns:a="http://schemas.openxmlformats.org/drawingml/2006/main">
            <a:off x="1078992" y="2331720"/>
            <a:ext cx="4562856" cy="27706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1900"/>
              <a:buFont typeface="Arial"/>
              <a:buNone/>
            </a:pPr>
            <a:r>
              <a:rPr sz="1900">
                <a:solidFill>
                  <a:srgbClr val="FFFFFF"/>
                </a:solidFill>
                <a:latin typeface="Arial"/>
                <a:ea typeface="Arial"/>
                <a:cs typeface="Arial"/>
              </a:rPr>
              <a:t>What the data showed.</a:t>
            </a:r>
          </a:p>
          <a:p xmlns:a="http://schemas.openxmlformats.org/drawingml/2006/main">
            <a:pPr marL="0" marR="0" indent="0" algn="l">
              <a:spcBef>
                <a:spcPts val="0"/>
              </a:spcBef>
              <a:spcAft>
                <a:spcPts val="0"/>
              </a:spcAft>
              <a:buClr>
                <a:schemeClr val="dk1"/>
              </a:buClr>
              <a:buSzPts val="1900"/>
              <a:buFont typeface="Arial"/>
              <a:buNone/>
            </a:pPr>
            <a:r>
              <a:t/>
            </a:r>
          </a:p>
          <a:p xmlns:a="http://schemas.openxmlformats.org/drawingml/2006/main">
            <a:pPr marL="0" marR="0" indent="0" algn="l">
              <a:spcBef>
                <a:spcPts val="0"/>
              </a:spcBef>
              <a:spcAft>
                <a:spcPts val="0"/>
              </a:spcAft>
              <a:buClr>
                <a:srgbClr val="FFFFFF"/>
              </a:buClr>
              <a:buSzPts val="1900"/>
              <a:buFont typeface="Arial"/>
              <a:buNone/>
            </a:pPr>
            <a:r>
              <a:rPr sz="1900">
                <a:solidFill>
                  <a:srgbClr val="FFFFFF"/>
                </a:solidFill>
                <a:latin typeface="Arial"/>
                <a:ea typeface="Arial"/>
                <a:cs typeface="Arial"/>
              </a:rPr>
              <a:t>“The triangular truss supported an average of 48 N before failure.”</a:t>
            </a:r>
          </a:p>
          <a:p xmlns:a="http://schemas.openxmlformats.org/drawingml/2006/main">
            <a:pPr marL="0" marR="0" indent="0" algn="l">
              <a:spcBef>
                <a:spcPts val="0"/>
              </a:spcBef>
              <a:spcAft>
                <a:spcPts val="0"/>
              </a:spcAft>
              <a:buClr>
                <a:schemeClr val="dk1"/>
              </a:buClr>
              <a:buSzPts val="1900"/>
              <a:buFont typeface="Arial"/>
              <a:buNone/>
            </a:pPr>
            <a:r>
              <a:t/>
            </a:r>
          </a:p>
          <a:p xmlns:a="http://schemas.openxmlformats.org/drawingml/2006/main">
            <a:pPr marL="0" marR="0" indent="0" algn="l">
              <a:spcBef>
                <a:spcPts val="0"/>
              </a:spcBef>
              <a:spcAft>
                <a:spcPts val="0"/>
              </a:spcAft>
              <a:buClr>
                <a:srgbClr val="FFFFFF"/>
              </a:buClr>
              <a:buSzPts val="1900"/>
              <a:buFont typeface="Arial"/>
              <a:buNone/>
            </a:pPr>
            <a:r>
              <a:rPr sz="1900">
                <a:solidFill>
                  <a:srgbClr val="FFFFFF"/>
                </a:solidFill>
                <a:latin typeface="Arial"/>
                <a:ea typeface="Arial"/>
                <a:cs typeface="Arial"/>
              </a:rPr>
              <a:t>“The 45-degree blade produced the highest average voltage.”</a:t>
            </a:r>
          </a:p>
        </p:txBody>
      </p:sp>
      <p:sp>
        <p:nvSpPr>
          <p:cNvPr id="82" name="Google Shape;82;p6">
            <a:extLst xmlns:a="http://schemas.openxmlformats.org/drawingml/2006/main">
              <a:ext uri="{FF2B5EF4-FFF2-40B4-BE49-F238E27FC236}">
                <a16:creationId xmlns:a16="http://schemas.microsoft.com/office/drawing/2014/main" id="{E94689EE-1033-418F-B783-DB8CCB621B71}"/>
              </a:ext>
            </a:extLst>
          </p:cNvPr>
          <p:cNvSpPr>
            <a:spLocks xmlns:a="http://schemas.openxmlformats.org/drawingml/2006/main" noGrp="1"/>
          </p:cNvSpPr>
          <p:nvPr/>
        </p:nvSpPr>
        <p:spPr>
          <a:xfrm xmlns:a="http://schemas.openxmlformats.org/drawingml/2006/main">
            <a:off x="6355080" y="1828800"/>
            <a:ext cx="4892040" cy="3429000"/>
          </a:xfrm>
          <a:prstGeom xmlns:a="http://schemas.openxmlformats.org/drawingml/2006/main" prst="roundRect">
            <a:avLst>
              <a:gd name="adj" fmla="val 1600"/>
            </a:avLst>
          </a:prstGeom>
          <a:solidFill xmlns:a="http://schemas.openxmlformats.org/drawingml/2006/main">
            <a:srgbClr val="101010"/>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83" name="Google Shape;83;p6">
            <a:extLst xmlns:a="http://schemas.openxmlformats.org/drawingml/2006/main">
              <a:ext uri="{FF2B5EF4-FFF2-40B4-BE49-F238E27FC236}">
                <a16:creationId xmlns:a16="http://schemas.microsoft.com/office/drawing/2014/main" id="{3385E3E7-C011-4F07-AC7C-1CC189FF890B}"/>
              </a:ext>
            </a:extLst>
          </p:cNvPr>
          <p:cNvSpPr>
            <a:spLocks xmlns:a="http://schemas.openxmlformats.org/drawingml/2006/main" noGrp="1"/>
          </p:cNvSpPr>
          <p:nvPr/>
        </p:nvSpPr>
        <p:spPr>
          <a:xfrm xmlns:a="http://schemas.openxmlformats.org/drawingml/2006/main">
            <a:off x="6519672" y="1965960"/>
            <a:ext cx="4562856"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200"/>
              <a:buFont typeface="Arial"/>
              <a:buNone/>
            </a:pPr>
            <a:r>
              <a:rPr sz="1200" b="1">
                <a:solidFill>
                  <a:srgbClr val="E22B27"/>
                </a:solidFill>
                <a:latin typeface="Arial"/>
                <a:ea typeface="Arial"/>
                <a:cs typeface="Arial"/>
              </a:rPr>
              <a:t>DISCUSSION</a:t>
            </a:r>
          </a:p>
        </p:txBody>
      </p:sp>
      <p:sp>
        <p:nvSpPr>
          <p:cNvPr id="84" name="Google Shape;84;p6">
            <a:extLst xmlns:a="http://schemas.openxmlformats.org/drawingml/2006/main">
              <a:ext uri="{FF2B5EF4-FFF2-40B4-BE49-F238E27FC236}">
                <a16:creationId xmlns:a16="http://schemas.microsoft.com/office/drawing/2014/main" id="{396F164D-297D-476A-BC3E-5423F678E4BF}"/>
              </a:ext>
            </a:extLst>
          </p:cNvPr>
          <p:cNvSpPr>
            <a:spLocks xmlns:a="http://schemas.openxmlformats.org/drawingml/2006/main" noGrp="1"/>
          </p:cNvSpPr>
          <p:nvPr/>
        </p:nvSpPr>
        <p:spPr>
          <a:xfrm xmlns:a="http://schemas.openxmlformats.org/drawingml/2006/main">
            <a:off x="6519672" y="2331720"/>
            <a:ext cx="4562856" cy="27706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1900"/>
              <a:buFont typeface="Arial"/>
              <a:buNone/>
            </a:pPr>
            <a:r>
              <a:rPr sz="1900">
                <a:solidFill>
                  <a:srgbClr val="FFFFFF"/>
                </a:solidFill>
                <a:latin typeface="Arial"/>
                <a:ea typeface="Arial"/>
                <a:cs typeface="Arial"/>
              </a:rPr>
              <a:t>What the data may mean.</a:t>
            </a:r>
          </a:p>
          <a:p xmlns:a="http://schemas.openxmlformats.org/drawingml/2006/main">
            <a:pPr marL="0" marR="0" indent="0" algn="l">
              <a:spcBef>
                <a:spcPts val="0"/>
              </a:spcBef>
              <a:spcAft>
                <a:spcPts val="0"/>
              </a:spcAft>
              <a:buClr>
                <a:schemeClr val="dk1"/>
              </a:buClr>
              <a:buSzPts val="1900"/>
              <a:buFont typeface="Arial"/>
              <a:buNone/>
            </a:pPr>
            <a:r>
              <a:t/>
            </a:r>
          </a:p>
          <a:p xmlns:a="http://schemas.openxmlformats.org/drawingml/2006/main">
            <a:pPr marL="0" marR="0" indent="0" algn="l">
              <a:spcBef>
                <a:spcPts val="0"/>
              </a:spcBef>
              <a:spcAft>
                <a:spcPts val="0"/>
              </a:spcAft>
              <a:buClr>
                <a:srgbClr val="FFFFFF"/>
              </a:buClr>
              <a:buSzPts val="1900"/>
              <a:buFont typeface="Arial"/>
              <a:buNone/>
            </a:pPr>
            <a:r>
              <a:rPr sz="1900">
                <a:solidFill>
                  <a:srgbClr val="FFFFFF"/>
                </a:solidFill>
                <a:latin typeface="Arial"/>
                <a:ea typeface="Arial"/>
                <a:cs typeface="Arial"/>
              </a:rPr>
              <a:t>“This suggests that the triangular truss had a stronger strength-to-mass tradeoff under the tested conditions.”</a:t>
            </a:r>
          </a:p>
          <a:p xmlns:a="http://schemas.openxmlformats.org/drawingml/2006/main">
            <a:pPr marL="0" marR="0" indent="0" algn="l">
              <a:spcBef>
                <a:spcPts val="0"/>
              </a:spcBef>
              <a:spcAft>
                <a:spcPts val="0"/>
              </a:spcAft>
              <a:buClr>
                <a:schemeClr val="dk1"/>
              </a:buClr>
              <a:buSzPts val="1900"/>
              <a:buFont typeface="Arial"/>
              <a:buNone/>
            </a:pPr>
            <a:r>
              <a:t/>
            </a:r>
          </a:p>
          <a:p xmlns:a="http://schemas.openxmlformats.org/drawingml/2006/main">
            <a:pPr marL="0" marR="0" indent="0" algn="l">
              <a:spcBef>
                <a:spcPts val="0"/>
              </a:spcBef>
              <a:spcAft>
                <a:spcPts val="0"/>
              </a:spcAft>
              <a:buClr>
                <a:srgbClr val="FFFFFF"/>
              </a:buClr>
              <a:buSzPts val="1900"/>
              <a:buFont typeface="Arial"/>
              <a:buNone/>
            </a:pPr>
            <a:r>
              <a:rPr sz="1900">
                <a:solidFill>
                  <a:srgbClr val="FFFFFF"/>
                </a:solidFill>
                <a:latin typeface="Arial"/>
                <a:ea typeface="Arial"/>
                <a:cs typeface="Arial"/>
              </a:rPr>
              <a:t>“The 45-degree blade may have balanced lift and drag more effectively.”</a:t>
            </a:r>
          </a:p>
        </p:txBody>
      </p:sp>
    </p:spTree>
    <p:extLst>
      <p:ext uri="{BB962C8B-B14F-4D97-AF65-F5344CB8AC3E}">
        <p14:creationId xmlns:p14="http://schemas.microsoft.com/office/powerpoint/2010/main" val="1740005060"/>
      </p:ext>
    </p:extLst>
  </p:cSld>
</p:sld>
</file>

<file path=ppt/slides/slide5.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90" name="Google Shape;90;p7">
            <a:extLst xmlns:a="http://schemas.openxmlformats.org/drawingml/2006/main">
              <a:ext uri="{FF2B5EF4-FFF2-40B4-BE49-F238E27FC236}">
                <a16:creationId xmlns:a16="http://schemas.microsoft.com/office/drawing/2014/main" id="{9239E29F-554F-4E80-9C67-11A05C691D8E}"/>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91" name="Google Shape;91;p7">
            <a:extLst xmlns:a="http://schemas.openxmlformats.org/drawingml/2006/main">
              <a:ext uri="{FF2B5EF4-FFF2-40B4-BE49-F238E27FC236}">
                <a16:creationId xmlns:a16="http://schemas.microsoft.com/office/drawing/2014/main" id="{42CB8BBF-281E-4BDC-866C-277ADA27BCAE}"/>
              </a:ext>
            </a:extLst>
          </p:cNvPr>
          <p:cNvSpPr>
            <a:spLocks xmlns:a="http://schemas.openxmlformats.org/drawingml/2006/main" noGrp="1"/>
          </p:cNvSpPr>
          <p:nvPr/>
        </p:nvSpPr>
        <p:spPr>
          <a:xfrm xmlns:a="http://schemas.openxmlformats.org/drawingml/2006/main">
            <a:off x="0" y="164592"/>
            <a:ext cx="12191695" cy="7315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92" name="Google Shape;92;p7">
            <a:extLst xmlns:a="http://schemas.openxmlformats.org/drawingml/2006/main">
              <a:ext uri="{FF2B5EF4-FFF2-40B4-BE49-F238E27FC236}">
                <a16:creationId xmlns:a16="http://schemas.microsoft.com/office/drawing/2014/main" id="{F3EFB361-2135-4ECE-B393-207D2A23618D}"/>
              </a:ext>
            </a:extLst>
          </p:cNvPr>
          <p:cNvSpPr>
            <a:spLocks xmlns:a="http://schemas.openxmlformats.org/drawingml/2006/main" noGrp="1"/>
          </p:cNvSpPr>
          <p:nvPr/>
        </p:nvSpPr>
        <p:spPr>
          <a:xfrm xmlns:a="http://schemas.openxmlformats.org/drawingml/2006/main">
            <a:off x="0" y="6729984"/>
            <a:ext cx="12191695" cy="54864"/>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93" name="Google Shape;93;p7">
            <a:extLst xmlns:a="http://schemas.openxmlformats.org/drawingml/2006/main">
              <a:ext uri="{FF2B5EF4-FFF2-40B4-BE49-F238E27FC236}">
                <a16:creationId xmlns:a16="http://schemas.microsoft.com/office/drawing/2014/main" id="{C8B57E9B-D442-48D5-BFD8-C595F7181D90}"/>
              </a:ext>
            </a:extLst>
          </p:cNvPr>
          <p:cNvSpPr>
            <a:spLocks xmlns:a="http://schemas.openxmlformats.org/drawingml/2006/main" noGrp="1"/>
          </p:cNvSpPr>
          <p:nvPr/>
        </p:nvSpPr>
        <p:spPr>
          <a:xfrm xmlns:a="http://schemas.openxmlformats.org/drawingml/2006/main">
            <a:off x="411480" y="6236208"/>
            <a:ext cx="420624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000"/>
              <a:buFont typeface="Arial"/>
              <a:buNone/>
            </a:pPr>
            <a:r>
              <a:rPr sz="1000" b="1">
                <a:solidFill>
                  <a:srgbClr val="B8B8B8"/>
                </a:solidFill>
                <a:latin typeface="Arial"/>
                <a:ea typeface="Arial"/>
                <a:cs typeface="Arial"/>
              </a:rPr>
              <a:t>SCIENTIFIC REPORTING</a:t>
            </a:r>
          </a:p>
        </p:txBody>
      </p:sp>
      <p:sp>
        <p:nvSpPr>
          <p:cNvPr id="94" name="Google Shape;94;p7">
            <a:extLst xmlns:a="http://schemas.openxmlformats.org/drawingml/2006/main">
              <a:ext uri="{FF2B5EF4-FFF2-40B4-BE49-F238E27FC236}">
                <a16:creationId xmlns:a16="http://schemas.microsoft.com/office/drawing/2014/main" id="{101173DF-7FBB-436D-81F4-15036D805FE2}"/>
              </a:ext>
            </a:extLst>
          </p:cNvPr>
          <p:cNvSpPr>
            <a:spLocks xmlns:a="http://schemas.openxmlformats.org/drawingml/2006/main" noGrp="1"/>
          </p:cNvSpPr>
          <p:nvPr/>
        </p:nvSpPr>
        <p:spPr>
          <a:xfrm xmlns:a="http://schemas.openxmlformats.org/drawingml/2006/main">
            <a:off x="10515600" y="6236208"/>
            <a:ext cx="123444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B8B8B8"/>
              </a:buClr>
              <a:buSzPts val="1000"/>
              <a:buFont typeface="Arial"/>
              <a:buNone/>
            </a:pPr>
            <a:r>
              <a:rPr sz="1000" b="1">
                <a:solidFill>
                  <a:srgbClr val="B8B8B8"/>
                </a:solidFill>
                <a:latin typeface="Arial"/>
                <a:ea typeface="Arial"/>
                <a:cs typeface="Arial"/>
              </a:rPr>
              <a:t>STARLAB</a:t>
            </a:r>
          </a:p>
        </p:txBody>
      </p:sp>
      <p:sp>
        <p:nvSpPr>
          <p:cNvPr id="95" name="Google Shape;95;p7">
            <a:extLst xmlns:a="http://schemas.openxmlformats.org/drawingml/2006/main">
              <a:ext uri="{FF2B5EF4-FFF2-40B4-BE49-F238E27FC236}">
                <a16:creationId xmlns:a16="http://schemas.microsoft.com/office/drawing/2014/main" id="{60D800F5-CC09-460E-9DAA-F1AC078EB4CC}"/>
              </a:ext>
            </a:extLst>
          </p:cNvPr>
          <p:cNvSpPr>
            <a:spLocks xmlns:a="http://schemas.openxmlformats.org/drawingml/2006/main" noGrp="1"/>
          </p:cNvSpPr>
          <p:nvPr/>
        </p:nvSpPr>
        <p:spPr>
          <a:xfrm xmlns:a="http://schemas.openxmlformats.org/drawingml/2006/main">
            <a:off x="10195560" y="384048"/>
            <a:ext cx="1325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E22B27"/>
              </a:buClr>
              <a:buSzPts val="1100"/>
              <a:buFont typeface="Arial"/>
              <a:buNone/>
            </a:pPr>
            <a:r>
              <a:rPr sz="1100" b="1">
                <a:solidFill>
                  <a:srgbClr val="E22B27"/>
                </a:solidFill>
                <a:latin typeface="Arial"/>
                <a:ea typeface="Arial"/>
                <a:cs typeface="Arial"/>
              </a:rPr>
              <a:t>DECK 14</a:t>
            </a:r>
          </a:p>
        </p:txBody>
      </p:sp>
      <p:sp>
        <p:nvSpPr>
          <p:cNvPr id="96" name="Google Shape;96;p7">
            <a:extLst xmlns:a="http://schemas.openxmlformats.org/drawingml/2006/main">
              <a:ext uri="{FF2B5EF4-FFF2-40B4-BE49-F238E27FC236}">
                <a16:creationId xmlns:a16="http://schemas.microsoft.com/office/drawing/2014/main" id="{1BCD1A4C-9DD9-4F30-839F-51014162069C}"/>
              </a:ext>
            </a:extLst>
          </p:cNvPr>
          <p:cNvSpPr>
            <a:spLocks xmlns:a="http://schemas.openxmlformats.org/drawingml/2006/main" noGrp="1"/>
          </p:cNvSpPr>
          <p:nvPr/>
        </p:nvSpPr>
        <p:spPr>
          <a:xfrm xmlns:a="http://schemas.openxmlformats.org/drawingml/2006/main">
            <a:off x="685800" y="694944"/>
            <a:ext cx="9829800" cy="49377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700"/>
              <a:buFont typeface="Play"/>
              <a:buNone/>
            </a:pPr>
            <a:r>
              <a:rPr sz="2700" b="1">
                <a:solidFill>
                  <a:srgbClr val="FFFFFF"/>
                </a:solidFill>
                <a:latin typeface="Play"/>
                <a:ea typeface="Play"/>
                <a:cs typeface="Play"/>
              </a:rPr>
              <a:t>The CER Engine</a:t>
            </a:r>
          </a:p>
        </p:txBody>
      </p:sp>
      <p:sp>
        <p:nvSpPr>
          <p:cNvPr id="97" name="Google Shape;97;p7">
            <a:extLst xmlns:a="http://schemas.openxmlformats.org/drawingml/2006/main">
              <a:ext uri="{FF2B5EF4-FFF2-40B4-BE49-F238E27FC236}">
                <a16:creationId xmlns:a16="http://schemas.microsoft.com/office/drawing/2014/main" id="{DAD83DB3-5B91-43D7-A275-F57F0A29FD23}"/>
              </a:ext>
            </a:extLst>
          </p:cNvPr>
          <p:cNvSpPr>
            <a:spLocks xmlns:a="http://schemas.openxmlformats.org/drawingml/2006/main" noGrp="1"/>
          </p:cNvSpPr>
          <p:nvPr/>
        </p:nvSpPr>
        <p:spPr>
          <a:xfrm xmlns:a="http://schemas.openxmlformats.org/drawingml/2006/main">
            <a:off x="694944" y="1271016"/>
            <a:ext cx="9875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200"/>
              <a:buFont typeface="Arial"/>
              <a:buNone/>
            </a:pPr>
            <a:r>
              <a:rPr sz="1200">
                <a:solidFill>
                  <a:srgbClr val="B8B8B8"/>
                </a:solidFill>
                <a:latin typeface="Arial"/>
                <a:ea typeface="Arial"/>
                <a:cs typeface="Arial"/>
              </a:rPr>
              <a:t>Claim • Evidence • Reasoning is the heart of the discussion.</a:t>
            </a:r>
          </a:p>
        </p:txBody>
      </p:sp>
      <p:cxnSp>
        <p:nvCxnSpPr>
          <p:cNvPr id="117" name="Google Shape;98;p7"/>
          <p:cNvCxnSpPr/>
          <p:nvPr/>
        </p:nvCxnSpPr>
        <p:spPr>
          <a:xfrm xmlns:a="http://schemas.openxmlformats.org/drawingml/2006/main">
            <a:off x="685800" y="1591056"/>
            <a:ext cx="10789920" cy="0"/>
          </a:xfrm>
          <a:prstGeom xmlns:a="http://schemas.openxmlformats.org/drawingml/2006/main" prst="straightConnector1">
            <a:avLst/>
          </a:prstGeom>
          <a:ln xmlns:a="http://schemas.openxmlformats.org/drawingml/2006/main" w="16500" cap="flat">
            <a:solidFill>
              <a:srgbClr val="E22B27"/>
            </a:solidFill>
            <a:prstDash val="solid"/>
            <a:round/>
            <a:headEnd type="none" w="sm" len="sm"/>
            <a:tailEnd type="none" w="sm" len="sm"/>
          </a:ln>
        </p:spPr>
      </p:cxnSp>
      <p:sp>
        <p:nvSpPr>
          <p:cNvPr id="99" name="Google Shape;99;p7">
            <a:extLst xmlns:a="http://schemas.openxmlformats.org/drawingml/2006/main">
              <a:ext uri="{FF2B5EF4-FFF2-40B4-BE49-F238E27FC236}">
                <a16:creationId xmlns:a16="http://schemas.microsoft.com/office/drawing/2014/main" id="{0E6497D7-ECDB-4F68-854A-7F8519861E6F}"/>
              </a:ext>
            </a:extLst>
          </p:cNvPr>
          <p:cNvSpPr>
            <a:spLocks xmlns:a="http://schemas.openxmlformats.org/drawingml/2006/main" noGrp="1"/>
          </p:cNvSpPr>
          <p:nvPr/>
        </p:nvSpPr>
        <p:spPr>
          <a:xfrm xmlns:a="http://schemas.openxmlformats.org/drawingml/2006/main">
            <a:off x="914400" y="1828800"/>
            <a:ext cx="3154680" cy="3017520"/>
          </a:xfrm>
          <a:prstGeom xmlns:a="http://schemas.openxmlformats.org/drawingml/2006/main" prst="roundRect">
            <a:avLst>
              <a:gd name="adj" fmla="val 1818"/>
            </a:avLst>
          </a:prstGeom>
          <a:solidFill xmlns:a="http://schemas.openxmlformats.org/drawingml/2006/main">
            <a:srgbClr val="101010"/>
          </a:solidFill>
          <a:ln xmlns:a="http://schemas.openxmlformats.org/drawingml/2006/main" w="12700" cmpd="sng">
            <a:solidFill>
              <a:srgbClr val="44444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00" name="Google Shape;100;p7">
            <a:extLst xmlns:a="http://schemas.openxmlformats.org/drawingml/2006/main">
              <a:ext uri="{FF2B5EF4-FFF2-40B4-BE49-F238E27FC236}">
                <a16:creationId xmlns:a16="http://schemas.microsoft.com/office/drawing/2014/main" id="{9D718751-726D-429A-9E44-24D2B5F5E9C0}"/>
              </a:ext>
            </a:extLst>
          </p:cNvPr>
          <p:cNvSpPr>
            <a:spLocks xmlns:a="http://schemas.openxmlformats.org/drawingml/2006/main" noGrp="1"/>
          </p:cNvSpPr>
          <p:nvPr/>
        </p:nvSpPr>
        <p:spPr>
          <a:xfrm xmlns:a="http://schemas.openxmlformats.org/drawingml/2006/main">
            <a:off x="1078992" y="1965960"/>
            <a:ext cx="2825496"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200"/>
              <a:buFont typeface="Arial"/>
              <a:buNone/>
            </a:pPr>
            <a:r>
              <a:rPr sz="1200" b="1">
                <a:solidFill>
                  <a:srgbClr val="E22B27"/>
                </a:solidFill>
                <a:latin typeface="Arial"/>
                <a:ea typeface="Arial"/>
                <a:cs typeface="Arial"/>
              </a:rPr>
              <a:t>CLAIM</a:t>
            </a:r>
          </a:p>
        </p:txBody>
      </p:sp>
      <p:sp>
        <p:nvSpPr>
          <p:cNvPr id="101" name="Google Shape;101;p7">
            <a:extLst xmlns:a="http://schemas.openxmlformats.org/drawingml/2006/main">
              <a:ext uri="{FF2B5EF4-FFF2-40B4-BE49-F238E27FC236}">
                <a16:creationId xmlns:a16="http://schemas.microsoft.com/office/drawing/2014/main" id="{40D3DEAD-AFB1-457A-B444-7EE109F55659}"/>
              </a:ext>
            </a:extLst>
          </p:cNvPr>
          <p:cNvSpPr>
            <a:spLocks xmlns:a="http://schemas.openxmlformats.org/drawingml/2006/main" noGrp="1"/>
          </p:cNvSpPr>
          <p:nvPr/>
        </p:nvSpPr>
        <p:spPr>
          <a:xfrm xmlns:a="http://schemas.openxmlformats.org/drawingml/2006/main">
            <a:off x="1078992" y="2331720"/>
            <a:ext cx="2825496" cy="235915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1900"/>
              <a:buFont typeface="Arial"/>
              <a:buNone/>
            </a:pPr>
            <a:r>
              <a:rPr sz="1900">
                <a:solidFill>
                  <a:srgbClr val="FFFFFF"/>
                </a:solidFill>
                <a:latin typeface="Arial"/>
                <a:ea typeface="Arial"/>
                <a:cs typeface="Arial"/>
              </a:rPr>
              <a:t>What does the evidence suggest?</a:t>
            </a:r>
          </a:p>
          <a:p xmlns:a="http://schemas.openxmlformats.org/drawingml/2006/main">
            <a:pPr marL="0" marR="0" indent="0" algn="l">
              <a:spcBef>
                <a:spcPts val="0"/>
              </a:spcBef>
              <a:spcAft>
                <a:spcPts val="0"/>
              </a:spcAft>
              <a:buClr>
                <a:schemeClr val="dk1"/>
              </a:buClr>
              <a:buSzPts val="1900"/>
              <a:buFont typeface="Arial"/>
              <a:buNone/>
            </a:pPr>
            <a:r>
              <a:t/>
            </a:r>
          </a:p>
          <a:p xmlns:a="http://schemas.openxmlformats.org/drawingml/2006/main">
            <a:pPr marL="0" marR="0" indent="0" algn="l">
              <a:spcBef>
                <a:spcPts val="0"/>
              </a:spcBef>
              <a:spcAft>
                <a:spcPts val="0"/>
              </a:spcAft>
              <a:buClr>
                <a:srgbClr val="FFFFFF"/>
              </a:buClr>
              <a:buSzPts val="1900"/>
              <a:buFont typeface="Arial"/>
              <a:buNone/>
            </a:pPr>
            <a:r>
              <a:rPr sz="1900">
                <a:solidFill>
                  <a:srgbClr val="FFFFFF"/>
                </a:solidFill>
                <a:latin typeface="Arial"/>
                <a:ea typeface="Arial"/>
                <a:cs typeface="Arial"/>
              </a:rPr>
              <a:t>A claim should answer the research question or evaluate the design goal.</a:t>
            </a:r>
          </a:p>
        </p:txBody>
      </p:sp>
      <p:sp>
        <p:nvSpPr>
          <p:cNvPr id="102" name="Google Shape;102;p7">
            <a:extLst xmlns:a="http://schemas.openxmlformats.org/drawingml/2006/main">
              <a:ext uri="{FF2B5EF4-FFF2-40B4-BE49-F238E27FC236}">
                <a16:creationId xmlns:a16="http://schemas.microsoft.com/office/drawing/2014/main" id="{8E48FAC1-6A81-4214-BB43-E16F6A07847A}"/>
              </a:ext>
            </a:extLst>
          </p:cNvPr>
          <p:cNvSpPr>
            <a:spLocks xmlns:a="http://schemas.openxmlformats.org/drawingml/2006/main" noGrp="1"/>
          </p:cNvSpPr>
          <p:nvPr/>
        </p:nvSpPr>
        <p:spPr>
          <a:xfrm xmlns:a="http://schemas.openxmlformats.org/drawingml/2006/main">
            <a:off x="4526280" y="1828800"/>
            <a:ext cx="3154680" cy="3017520"/>
          </a:xfrm>
          <a:prstGeom xmlns:a="http://schemas.openxmlformats.org/drawingml/2006/main" prst="roundRect">
            <a:avLst>
              <a:gd name="adj" fmla="val 1818"/>
            </a:avLst>
          </a:prstGeom>
          <a:solidFill xmlns:a="http://schemas.openxmlformats.org/drawingml/2006/main">
            <a:srgbClr val="101010"/>
          </a:solidFill>
          <a:ln xmlns:a="http://schemas.openxmlformats.org/drawingml/2006/main" w="12700" cmpd="sng">
            <a:solidFill>
              <a:srgbClr val="44444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03" name="Google Shape;103;p7">
            <a:extLst xmlns:a="http://schemas.openxmlformats.org/drawingml/2006/main">
              <a:ext uri="{FF2B5EF4-FFF2-40B4-BE49-F238E27FC236}">
                <a16:creationId xmlns:a16="http://schemas.microsoft.com/office/drawing/2014/main" id="{C1583C5D-FE9D-4978-8BB0-926CFE5C1699}"/>
              </a:ext>
            </a:extLst>
          </p:cNvPr>
          <p:cNvSpPr>
            <a:spLocks xmlns:a="http://schemas.openxmlformats.org/drawingml/2006/main" noGrp="1"/>
          </p:cNvSpPr>
          <p:nvPr/>
        </p:nvSpPr>
        <p:spPr>
          <a:xfrm xmlns:a="http://schemas.openxmlformats.org/drawingml/2006/main">
            <a:off x="4690872" y="1965960"/>
            <a:ext cx="2825496"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200"/>
              <a:buFont typeface="Arial"/>
              <a:buNone/>
            </a:pPr>
            <a:r>
              <a:rPr sz="1200" b="1">
                <a:solidFill>
                  <a:srgbClr val="E22B27"/>
                </a:solidFill>
                <a:latin typeface="Arial"/>
                <a:ea typeface="Arial"/>
                <a:cs typeface="Arial"/>
              </a:rPr>
              <a:t>EVIDENCE</a:t>
            </a:r>
          </a:p>
        </p:txBody>
      </p:sp>
      <p:sp>
        <p:nvSpPr>
          <p:cNvPr id="104" name="Google Shape;104;p7">
            <a:extLst xmlns:a="http://schemas.openxmlformats.org/drawingml/2006/main">
              <a:ext uri="{FF2B5EF4-FFF2-40B4-BE49-F238E27FC236}">
                <a16:creationId xmlns:a16="http://schemas.microsoft.com/office/drawing/2014/main" id="{B95C994F-F614-480F-8850-B4D52A53B76C}"/>
              </a:ext>
            </a:extLst>
          </p:cNvPr>
          <p:cNvSpPr>
            <a:spLocks xmlns:a="http://schemas.openxmlformats.org/drawingml/2006/main" noGrp="1"/>
          </p:cNvSpPr>
          <p:nvPr/>
        </p:nvSpPr>
        <p:spPr>
          <a:xfrm xmlns:a="http://schemas.openxmlformats.org/drawingml/2006/main">
            <a:off x="4690872" y="2331720"/>
            <a:ext cx="2825496" cy="235915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1900"/>
              <a:buFont typeface="Arial"/>
              <a:buNone/>
            </a:pPr>
            <a:r>
              <a:rPr sz="1900">
                <a:solidFill>
                  <a:srgbClr val="FFFFFF"/>
                </a:solidFill>
                <a:latin typeface="Arial"/>
                <a:ea typeface="Arial"/>
                <a:cs typeface="Arial"/>
              </a:rPr>
              <a:t>What specific data supports the claim?</a:t>
            </a:r>
          </a:p>
          <a:p xmlns:a="http://schemas.openxmlformats.org/drawingml/2006/main">
            <a:pPr marL="0" marR="0" indent="0" algn="l">
              <a:spcBef>
                <a:spcPts val="0"/>
              </a:spcBef>
              <a:spcAft>
                <a:spcPts val="0"/>
              </a:spcAft>
              <a:buClr>
                <a:schemeClr val="dk1"/>
              </a:buClr>
              <a:buSzPts val="1900"/>
              <a:buFont typeface="Arial"/>
              <a:buNone/>
            </a:pPr>
            <a:r>
              <a:t/>
            </a:r>
          </a:p>
          <a:p xmlns:a="http://schemas.openxmlformats.org/drawingml/2006/main">
            <a:pPr marL="0" marR="0" indent="0" algn="l">
              <a:spcBef>
                <a:spcPts val="0"/>
              </a:spcBef>
              <a:spcAft>
                <a:spcPts val="0"/>
              </a:spcAft>
              <a:buClr>
                <a:srgbClr val="FFFFFF"/>
              </a:buClr>
              <a:buSzPts val="1900"/>
              <a:buFont typeface="Arial"/>
              <a:buNone/>
            </a:pPr>
            <a:r>
              <a:rPr sz="1900">
                <a:solidFill>
                  <a:srgbClr val="FFFFFF"/>
                </a:solidFill>
                <a:latin typeface="Arial"/>
                <a:ea typeface="Arial"/>
                <a:cs typeface="Arial"/>
              </a:rPr>
              <a:t>Use numbers, comparisons, graphs, observations, images, or performance metrics.</a:t>
            </a:r>
          </a:p>
        </p:txBody>
      </p:sp>
      <p:sp>
        <p:nvSpPr>
          <p:cNvPr id="105" name="Google Shape;105;p7">
            <a:extLst xmlns:a="http://schemas.openxmlformats.org/drawingml/2006/main">
              <a:ext uri="{FF2B5EF4-FFF2-40B4-BE49-F238E27FC236}">
                <a16:creationId xmlns:a16="http://schemas.microsoft.com/office/drawing/2014/main" id="{33C135B1-8BBB-4FD0-8608-9CE8728A9905}"/>
              </a:ext>
            </a:extLst>
          </p:cNvPr>
          <p:cNvSpPr>
            <a:spLocks xmlns:a="http://schemas.openxmlformats.org/drawingml/2006/main" noGrp="1"/>
          </p:cNvSpPr>
          <p:nvPr/>
        </p:nvSpPr>
        <p:spPr>
          <a:xfrm xmlns:a="http://schemas.openxmlformats.org/drawingml/2006/main">
            <a:off x="8138160" y="1828800"/>
            <a:ext cx="3154680" cy="3017520"/>
          </a:xfrm>
          <a:prstGeom xmlns:a="http://schemas.openxmlformats.org/drawingml/2006/main" prst="roundRect">
            <a:avLst>
              <a:gd name="adj" fmla="val 1818"/>
            </a:avLst>
          </a:prstGeom>
          <a:solidFill xmlns:a="http://schemas.openxmlformats.org/drawingml/2006/main">
            <a:srgbClr val="101010"/>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06" name="Google Shape;106;p7">
            <a:extLst xmlns:a="http://schemas.openxmlformats.org/drawingml/2006/main">
              <a:ext uri="{FF2B5EF4-FFF2-40B4-BE49-F238E27FC236}">
                <a16:creationId xmlns:a16="http://schemas.microsoft.com/office/drawing/2014/main" id="{CAE22D7B-C2BA-4255-B97D-BBBBB7722959}"/>
              </a:ext>
            </a:extLst>
          </p:cNvPr>
          <p:cNvSpPr>
            <a:spLocks xmlns:a="http://schemas.openxmlformats.org/drawingml/2006/main" noGrp="1"/>
          </p:cNvSpPr>
          <p:nvPr/>
        </p:nvSpPr>
        <p:spPr>
          <a:xfrm xmlns:a="http://schemas.openxmlformats.org/drawingml/2006/main">
            <a:off x="8302752" y="1965960"/>
            <a:ext cx="2825496"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200"/>
              <a:buFont typeface="Arial"/>
              <a:buNone/>
            </a:pPr>
            <a:r>
              <a:rPr sz="1200" b="1">
                <a:solidFill>
                  <a:srgbClr val="E22B27"/>
                </a:solidFill>
                <a:latin typeface="Arial"/>
                <a:ea typeface="Arial"/>
                <a:cs typeface="Arial"/>
              </a:rPr>
              <a:t>REASONING</a:t>
            </a:r>
          </a:p>
        </p:txBody>
      </p:sp>
      <p:sp>
        <p:nvSpPr>
          <p:cNvPr id="107" name="Google Shape;107;p7">
            <a:extLst xmlns:a="http://schemas.openxmlformats.org/drawingml/2006/main">
              <a:ext uri="{FF2B5EF4-FFF2-40B4-BE49-F238E27FC236}">
                <a16:creationId xmlns:a16="http://schemas.microsoft.com/office/drawing/2014/main" id="{2DC3BBBF-8D22-4A57-AF75-2FB59498B9E9}"/>
              </a:ext>
            </a:extLst>
          </p:cNvPr>
          <p:cNvSpPr>
            <a:spLocks xmlns:a="http://schemas.openxmlformats.org/drawingml/2006/main" noGrp="1"/>
          </p:cNvSpPr>
          <p:nvPr/>
        </p:nvSpPr>
        <p:spPr>
          <a:xfrm xmlns:a="http://schemas.openxmlformats.org/drawingml/2006/main">
            <a:off x="8302752" y="2331720"/>
            <a:ext cx="2825496" cy="235915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1900"/>
              <a:buFont typeface="Arial"/>
              <a:buNone/>
            </a:pPr>
            <a:r>
              <a:rPr sz="1900">
                <a:solidFill>
                  <a:srgbClr val="FFFFFF"/>
                </a:solidFill>
                <a:latin typeface="Arial"/>
                <a:ea typeface="Arial"/>
                <a:cs typeface="Arial"/>
              </a:rPr>
              <a:t>Why does the evidence support the claim?</a:t>
            </a:r>
          </a:p>
          <a:p xmlns:a="http://schemas.openxmlformats.org/drawingml/2006/main">
            <a:pPr marL="0" marR="0" indent="0" algn="l">
              <a:spcBef>
                <a:spcPts val="0"/>
              </a:spcBef>
              <a:spcAft>
                <a:spcPts val="0"/>
              </a:spcAft>
              <a:buClr>
                <a:schemeClr val="dk1"/>
              </a:buClr>
              <a:buSzPts val="1900"/>
              <a:buFont typeface="Arial"/>
              <a:buNone/>
            </a:pPr>
            <a:r>
              <a:t/>
            </a:r>
          </a:p>
          <a:p xmlns:a="http://schemas.openxmlformats.org/drawingml/2006/main">
            <a:pPr marL="0" marR="0" indent="0" algn="l">
              <a:spcBef>
                <a:spcPts val="0"/>
              </a:spcBef>
              <a:spcAft>
                <a:spcPts val="0"/>
              </a:spcAft>
              <a:buClr>
                <a:srgbClr val="FFFFFF"/>
              </a:buClr>
              <a:buSzPts val="1900"/>
              <a:buFont typeface="Arial"/>
              <a:buNone/>
            </a:pPr>
            <a:r>
              <a:rPr sz="1900">
                <a:solidFill>
                  <a:srgbClr val="FFFFFF"/>
                </a:solidFill>
                <a:latin typeface="Arial"/>
                <a:ea typeface="Arial"/>
                <a:cs typeface="Arial"/>
              </a:rPr>
              <a:t>Explain the scientific logic, design tradeoff, limitation, or mechanism.</a:t>
            </a:r>
          </a:p>
        </p:txBody>
      </p:sp>
      <p:sp>
        <p:nvSpPr>
          <p:cNvPr id="108" name="Google Shape;108;p7">
            <a:extLst xmlns:a="http://schemas.openxmlformats.org/drawingml/2006/main">
              <a:ext uri="{FF2B5EF4-FFF2-40B4-BE49-F238E27FC236}">
                <a16:creationId xmlns:a16="http://schemas.microsoft.com/office/drawing/2014/main" id="{8149D87F-AD41-4C11-932F-7394DF91E778}"/>
              </a:ext>
            </a:extLst>
          </p:cNvPr>
          <p:cNvSpPr>
            <a:spLocks xmlns:a="http://schemas.openxmlformats.org/drawingml/2006/main" noGrp="1"/>
          </p:cNvSpPr>
          <p:nvPr/>
        </p:nvSpPr>
        <p:spPr>
          <a:xfrm xmlns:a="http://schemas.openxmlformats.org/drawingml/2006/main">
            <a:off x="914400" y="5532120"/>
            <a:ext cx="10332720" cy="411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spcBef>
                <a:spcPts val="0"/>
              </a:spcBef>
              <a:spcAft>
                <a:spcPts val="0"/>
              </a:spcAft>
              <a:buClr>
                <a:srgbClr val="FFFFFF"/>
              </a:buClr>
              <a:buSzPts val="2200"/>
              <a:buFont typeface="Play"/>
              <a:buNone/>
            </a:pPr>
            <a:r>
              <a:rPr sz="2200" b="1">
                <a:solidFill>
                  <a:srgbClr val="FFFFFF"/>
                </a:solidFill>
                <a:latin typeface="Play"/>
                <a:ea typeface="Play"/>
                <a:cs typeface="Play"/>
              </a:rPr>
              <a:t>A discussion paragraph is weak when any one of these three parts is missing.</a:t>
            </a:r>
          </a:p>
        </p:txBody>
      </p:sp>
    </p:spTree>
    <p:extLst>
      <p:ext uri="{BB962C8B-B14F-4D97-AF65-F5344CB8AC3E}">
        <p14:creationId xmlns:p14="http://schemas.microsoft.com/office/powerpoint/2010/main" val="2127215061"/>
      </p:ext>
    </p:extLst>
  </p:cSld>
</p:sld>
</file>

<file path=ppt/slides/slide6.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114" name="Google Shape;114;p8">
            <a:extLst xmlns:a="http://schemas.openxmlformats.org/drawingml/2006/main">
              <a:ext uri="{FF2B5EF4-FFF2-40B4-BE49-F238E27FC236}">
                <a16:creationId xmlns:a16="http://schemas.microsoft.com/office/drawing/2014/main" id="{7BC5DCD4-4129-457F-A741-53778EEAF813}"/>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15" name="Google Shape;115;p8">
            <a:extLst xmlns:a="http://schemas.openxmlformats.org/drawingml/2006/main">
              <a:ext uri="{FF2B5EF4-FFF2-40B4-BE49-F238E27FC236}">
                <a16:creationId xmlns:a16="http://schemas.microsoft.com/office/drawing/2014/main" id="{1B4FB381-4A4A-4918-9681-99F61AE322E2}"/>
              </a:ext>
            </a:extLst>
          </p:cNvPr>
          <p:cNvSpPr>
            <a:spLocks xmlns:a="http://schemas.openxmlformats.org/drawingml/2006/main" noGrp="1"/>
          </p:cNvSpPr>
          <p:nvPr/>
        </p:nvSpPr>
        <p:spPr>
          <a:xfrm xmlns:a="http://schemas.openxmlformats.org/drawingml/2006/main">
            <a:off x="0" y="164592"/>
            <a:ext cx="12191695" cy="7315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16" name="Google Shape;116;p8">
            <a:extLst xmlns:a="http://schemas.openxmlformats.org/drawingml/2006/main">
              <a:ext uri="{FF2B5EF4-FFF2-40B4-BE49-F238E27FC236}">
                <a16:creationId xmlns:a16="http://schemas.microsoft.com/office/drawing/2014/main" id="{26D1AFD0-20C6-4091-9A18-A1A7FF4D59C8}"/>
              </a:ext>
            </a:extLst>
          </p:cNvPr>
          <p:cNvSpPr>
            <a:spLocks xmlns:a="http://schemas.openxmlformats.org/drawingml/2006/main" noGrp="1"/>
          </p:cNvSpPr>
          <p:nvPr/>
        </p:nvSpPr>
        <p:spPr>
          <a:xfrm xmlns:a="http://schemas.openxmlformats.org/drawingml/2006/main">
            <a:off x="0" y="6729984"/>
            <a:ext cx="12191695" cy="54864"/>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17" name="Google Shape;117;p8">
            <a:extLst xmlns:a="http://schemas.openxmlformats.org/drawingml/2006/main">
              <a:ext uri="{FF2B5EF4-FFF2-40B4-BE49-F238E27FC236}">
                <a16:creationId xmlns:a16="http://schemas.microsoft.com/office/drawing/2014/main" id="{1552F5C3-607F-4D42-8FD9-5E5678DDC354}"/>
              </a:ext>
            </a:extLst>
          </p:cNvPr>
          <p:cNvSpPr>
            <a:spLocks xmlns:a="http://schemas.openxmlformats.org/drawingml/2006/main" noGrp="1"/>
          </p:cNvSpPr>
          <p:nvPr/>
        </p:nvSpPr>
        <p:spPr>
          <a:xfrm xmlns:a="http://schemas.openxmlformats.org/drawingml/2006/main">
            <a:off x="411480" y="6236208"/>
            <a:ext cx="420624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000"/>
              <a:buFont typeface="Arial"/>
              <a:buNone/>
            </a:pPr>
            <a:r>
              <a:rPr sz="1000" b="1">
                <a:solidFill>
                  <a:srgbClr val="B8B8B8"/>
                </a:solidFill>
                <a:latin typeface="Arial"/>
                <a:ea typeface="Arial"/>
                <a:cs typeface="Arial"/>
              </a:rPr>
              <a:t>SCIENTIFIC REPORTING</a:t>
            </a:r>
          </a:p>
        </p:txBody>
      </p:sp>
      <p:sp>
        <p:nvSpPr>
          <p:cNvPr id="118" name="Google Shape;118;p8">
            <a:extLst xmlns:a="http://schemas.openxmlformats.org/drawingml/2006/main">
              <a:ext uri="{FF2B5EF4-FFF2-40B4-BE49-F238E27FC236}">
                <a16:creationId xmlns:a16="http://schemas.microsoft.com/office/drawing/2014/main" id="{8F1A2336-0BC5-49E2-8E93-1ED88D953532}"/>
              </a:ext>
            </a:extLst>
          </p:cNvPr>
          <p:cNvSpPr>
            <a:spLocks xmlns:a="http://schemas.openxmlformats.org/drawingml/2006/main" noGrp="1"/>
          </p:cNvSpPr>
          <p:nvPr/>
        </p:nvSpPr>
        <p:spPr>
          <a:xfrm xmlns:a="http://schemas.openxmlformats.org/drawingml/2006/main">
            <a:off x="10515600" y="6236208"/>
            <a:ext cx="123444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B8B8B8"/>
              </a:buClr>
              <a:buSzPts val="1000"/>
              <a:buFont typeface="Arial"/>
              <a:buNone/>
            </a:pPr>
            <a:r>
              <a:rPr sz="1000" b="1">
                <a:solidFill>
                  <a:srgbClr val="B8B8B8"/>
                </a:solidFill>
                <a:latin typeface="Arial"/>
                <a:ea typeface="Arial"/>
                <a:cs typeface="Arial"/>
              </a:rPr>
              <a:t>STARLAB</a:t>
            </a:r>
          </a:p>
        </p:txBody>
      </p:sp>
      <p:sp>
        <p:nvSpPr>
          <p:cNvPr id="119" name="Google Shape;119;p8">
            <a:extLst xmlns:a="http://schemas.openxmlformats.org/drawingml/2006/main">
              <a:ext uri="{FF2B5EF4-FFF2-40B4-BE49-F238E27FC236}">
                <a16:creationId xmlns:a16="http://schemas.microsoft.com/office/drawing/2014/main" id="{8A0F1CB2-C988-434C-ACD1-67FF2FDD1DDB}"/>
              </a:ext>
            </a:extLst>
          </p:cNvPr>
          <p:cNvSpPr>
            <a:spLocks xmlns:a="http://schemas.openxmlformats.org/drawingml/2006/main" noGrp="1"/>
          </p:cNvSpPr>
          <p:nvPr/>
        </p:nvSpPr>
        <p:spPr>
          <a:xfrm xmlns:a="http://schemas.openxmlformats.org/drawingml/2006/main">
            <a:off x="10195560" y="384048"/>
            <a:ext cx="1325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E22B27"/>
              </a:buClr>
              <a:buSzPts val="1100"/>
              <a:buFont typeface="Arial"/>
              <a:buNone/>
            </a:pPr>
            <a:r>
              <a:rPr sz="1100" b="1">
                <a:solidFill>
                  <a:srgbClr val="E22B27"/>
                </a:solidFill>
                <a:latin typeface="Arial"/>
                <a:ea typeface="Arial"/>
                <a:cs typeface="Arial"/>
              </a:rPr>
              <a:t>DECK 14</a:t>
            </a:r>
          </a:p>
        </p:txBody>
      </p:sp>
      <p:sp>
        <p:nvSpPr>
          <p:cNvPr id="120" name="Google Shape;120;p8">
            <a:extLst xmlns:a="http://schemas.openxmlformats.org/drawingml/2006/main">
              <a:ext uri="{FF2B5EF4-FFF2-40B4-BE49-F238E27FC236}">
                <a16:creationId xmlns:a16="http://schemas.microsoft.com/office/drawing/2014/main" id="{4933629A-0C4E-4F25-B392-013F24800E89}"/>
              </a:ext>
            </a:extLst>
          </p:cNvPr>
          <p:cNvSpPr>
            <a:spLocks xmlns:a="http://schemas.openxmlformats.org/drawingml/2006/main" noGrp="1"/>
          </p:cNvSpPr>
          <p:nvPr/>
        </p:nvSpPr>
        <p:spPr>
          <a:xfrm xmlns:a="http://schemas.openxmlformats.org/drawingml/2006/main">
            <a:off x="685800" y="694944"/>
            <a:ext cx="9829800" cy="49377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700"/>
              <a:buFont typeface="Play"/>
              <a:buNone/>
            </a:pPr>
            <a:r>
              <a:rPr sz="2700" b="1">
                <a:solidFill>
                  <a:srgbClr val="FFFFFF"/>
                </a:solidFill>
                <a:latin typeface="Play"/>
                <a:ea typeface="Play"/>
                <a:cs typeface="Play"/>
              </a:rPr>
              <a:t>Start With a Defensible Claim</a:t>
            </a:r>
          </a:p>
        </p:txBody>
      </p:sp>
      <p:sp>
        <p:nvSpPr>
          <p:cNvPr id="121" name="Google Shape;121;p8">
            <a:extLst xmlns:a="http://schemas.openxmlformats.org/drawingml/2006/main">
              <a:ext uri="{FF2B5EF4-FFF2-40B4-BE49-F238E27FC236}">
                <a16:creationId xmlns:a16="http://schemas.microsoft.com/office/drawing/2014/main" id="{D65191EA-023A-4509-A0A6-B62DCB5BA3E3}"/>
              </a:ext>
            </a:extLst>
          </p:cNvPr>
          <p:cNvSpPr>
            <a:spLocks xmlns:a="http://schemas.openxmlformats.org/drawingml/2006/main" noGrp="1"/>
          </p:cNvSpPr>
          <p:nvPr/>
        </p:nvSpPr>
        <p:spPr>
          <a:xfrm xmlns:a="http://schemas.openxmlformats.org/drawingml/2006/main">
            <a:off x="694944" y="1271016"/>
            <a:ext cx="9875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200"/>
              <a:buFont typeface="Arial"/>
              <a:buNone/>
            </a:pPr>
            <a:r>
              <a:rPr sz="1200">
                <a:solidFill>
                  <a:srgbClr val="B8B8B8"/>
                </a:solidFill>
                <a:latin typeface="Arial"/>
                <a:ea typeface="Arial"/>
                <a:cs typeface="Arial"/>
              </a:rPr>
              <a:t>The claim must fit the strength of the evidence.</a:t>
            </a:r>
          </a:p>
        </p:txBody>
      </p:sp>
      <p:cxnSp>
        <p:nvCxnSpPr>
          <p:cNvPr id="133" name="Google Shape;122;p8"/>
          <p:cNvCxnSpPr/>
          <p:nvPr/>
        </p:nvCxnSpPr>
        <p:spPr>
          <a:xfrm xmlns:a="http://schemas.openxmlformats.org/drawingml/2006/main">
            <a:off x="685800" y="1591056"/>
            <a:ext cx="10789920" cy="0"/>
          </a:xfrm>
          <a:prstGeom xmlns:a="http://schemas.openxmlformats.org/drawingml/2006/main" prst="straightConnector1">
            <a:avLst/>
          </a:prstGeom>
          <a:ln xmlns:a="http://schemas.openxmlformats.org/drawingml/2006/main" w="16500" cap="flat">
            <a:solidFill>
              <a:srgbClr val="E22B27"/>
            </a:solidFill>
            <a:prstDash val="solid"/>
            <a:round/>
            <a:headEnd type="none" w="sm" len="sm"/>
            <a:tailEnd type="none" w="sm" len="sm"/>
          </a:ln>
        </p:spPr>
      </p:cxnSp>
      <p:sp>
        <p:nvSpPr>
          <p:cNvPr id="123" name="Google Shape;123;p8">
            <a:extLst xmlns:a="http://schemas.openxmlformats.org/drawingml/2006/main">
              <a:ext uri="{FF2B5EF4-FFF2-40B4-BE49-F238E27FC236}">
                <a16:creationId xmlns:a16="http://schemas.microsoft.com/office/drawing/2014/main" id="{A3848F10-5D81-4419-B2C9-E5608CD25635}"/>
              </a:ext>
            </a:extLst>
          </p:cNvPr>
          <p:cNvSpPr>
            <a:spLocks xmlns:a="http://schemas.openxmlformats.org/drawingml/2006/main" noGrp="1"/>
          </p:cNvSpPr>
          <p:nvPr/>
        </p:nvSpPr>
        <p:spPr>
          <a:xfrm xmlns:a="http://schemas.openxmlformats.org/drawingml/2006/main">
            <a:off x="1005840" y="1828800"/>
            <a:ext cx="10058400" cy="32918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1000" tIns="1000" rIns="1000" bIns="1000" anchor="ctr">
            <a:noAutofit/>
          </a:bodyPr>
          <a:lstStyle xmlns:a="http://schemas.openxmlformats.org/drawingml/2006/main"/>
          <a:p xmlns:a="http://schemas.openxmlformats.org/drawingml/2006/main">
            <a:pPr marL="0" marR="0" indent="0" algn="l">
              <a:spcBef>
                <a:spcPts val="0"/>
              </a:spcBef>
              <a:spcAft>
                <a:spcPts val="0"/>
              </a:spcAft>
              <a:buNone/>
            </a:pPr>
            <a:r>
              <a:rPr sz="2000">
                <a:solidFill>
                  <a:srgbClr val="FFFFFF"/>
                </a:solidFill>
                <a:latin typeface="Arial"/>
                <a:ea typeface="Arial"/>
                <a:cs typeface="Arial"/>
              </a:rPr>
              <a:t>Weak claim: “My design is the best bridge.”</a:t>
            </a:r>
          </a:p>
          <a:p xmlns:a="http://schemas.openxmlformats.org/drawingml/2006/main">
            <a:pPr marL="0" marR="0" indent="0" algn="l">
              <a:spcBef>
                <a:spcPts val="0"/>
              </a:spcBef>
              <a:spcAft>
                <a:spcPts val="0"/>
              </a:spcAft>
              <a:buNone/>
            </a:pPr>
            <a:r>
              <a:rPr sz="2000">
                <a:solidFill>
                  <a:srgbClr val="FFFFFF"/>
                </a:solidFill>
                <a:latin typeface="Arial"/>
                <a:ea typeface="Arial"/>
                <a:cs typeface="Arial"/>
              </a:rPr>
              <a:t>Better claim: “Among the three tested designs, the triangular truss supported the greatest load per gram.”</a:t>
            </a:r>
          </a:p>
          <a:p xmlns:a="http://schemas.openxmlformats.org/drawingml/2006/main">
            <a:pPr marL="0" marR="0" indent="0" algn="l">
              <a:spcBef>
                <a:spcPts val="0"/>
              </a:spcBef>
              <a:spcAft>
                <a:spcPts val="0"/>
              </a:spcAft>
              <a:buNone/>
            </a:pPr>
            <a:r>
              <a:rPr sz="2000">
                <a:solidFill>
                  <a:srgbClr val="FFFFFF"/>
                </a:solidFill>
                <a:latin typeface="Arial"/>
                <a:ea typeface="Arial"/>
                <a:cs typeface="Arial"/>
              </a:rPr>
              <a:t>Weak claim: “Fertilizer makes plants grow faster.”</a:t>
            </a:r>
          </a:p>
          <a:p xmlns:a="http://schemas.openxmlformats.org/drawingml/2006/main">
            <a:pPr marL="0" marR="0" indent="0" algn="l">
              <a:spcBef>
                <a:spcPts val="0"/>
              </a:spcBef>
              <a:spcAft>
                <a:spcPts val="0"/>
              </a:spcAft>
              <a:buNone/>
            </a:pPr>
            <a:r>
              <a:rPr sz="2000">
                <a:solidFill>
                  <a:srgbClr val="FFFFFF"/>
                </a:solidFill>
                <a:latin typeface="Arial"/>
                <a:ea typeface="Arial"/>
                <a:cs typeface="Arial"/>
              </a:rPr>
              <a:t>Better claim: “Under the tested conditions, the 10% fertilizer group had the highest average height after four weeks.”</a:t>
            </a:r>
          </a:p>
        </p:txBody>
      </p:sp>
      <p:sp>
        <p:nvSpPr>
          <p:cNvPr id="124" name="Google Shape;124;p8">
            <a:extLst xmlns:a="http://schemas.openxmlformats.org/drawingml/2006/main">
              <a:ext uri="{FF2B5EF4-FFF2-40B4-BE49-F238E27FC236}">
                <a16:creationId xmlns:a16="http://schemas.microsoft.com/office/drawing/2014/main" id="{F8FAF674-7740-4F22-8CF4-FB8B6E14AC0A}"/>
              </a:ext>
            </a:extLst>
          </p:cNvPr>
          <p:cNvSpPr>
            <a:spLocks xmlns:a="http://schemas.openxmlformats.org/drawingml/2006/main" noGrp="1"/>
          </p:cNvSpPr>
          <p:nvPr/>
        </p:nvSpPr>
        <p:spPr>
          <a:xfrm xmlns:a="http://schemas.openxmlformats.org/drawingml/2006/main">
            <a:off x="914400" y="5440680"/>
            <a:ext cx="1033272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spcBef>
                <a:spcPts val="0"/>
              </a:spcBef>
              <a:spcAft>
                <a:spcPts val="0"/>
              </a:spcAft>
              <a:buClr>
                <a:srgbClr val="E22B27"/>
              </a:buClr>
              <a:buSzPts val="2500"/>
              <a:buFont typeface="Play"/>
              <a:buNone/>
            </a:pPr>
            <a:r>
              <a:rPr sz="2500" b="1">
                <a:solidFill>
                  <a:srgbClr val="E22B27"/>
                </a:solidFill>
                <a:latin typeface="Play"/>
                <a:ea typeface="Play"/>
                <a:cs typeface="Play"/>
              </a:rPr>
              <a:t>Precision makes a claim stronger, not weaker.</a:t>
            </a:r>
          </a:p>
        </p:txBody>
      </p:sp>
    </p:spTree>
    <p:extLst>
      <p:ext uri="{BB962C8B-B14F-4D97-AF65-F5344CB8AC3E}">
        <p14:creationId xmlns:p14="http://schemas.microsoft.com/office/powerpoint/2010/main" val="509813006"/>
      </p:ext>
    </p:extLst>
  </p:cSld>
</p:sld>
</file>

<file path=ppt/slides/slide7.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130" name="Google Shape;130;p9">
            <a:extLst xmlns:a="http://schemas.openxmlformats.org/drawingml/2006/main">
              <a:ext uri="{FF2B5EF4-FFF2-40B4-BE49-F238E27FC236}">
                <a16:creationId xmlns:a16="http://schemas.microsoft.com/office/drawing/2014/main" id="{5E84DB46-755B-4DA6-A0F9-075BBA00DD70}"/>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31" name="Google Shape;131;p9">
            <a:extLst xmlns:a="http://schemas.openxmlformats.org/drawingml/2006/main">
              <a:ext uri="{FF2B5EF4-FFF2-40B4-BE49-F238E27FC236}">
                <a16:creationId xmlns:a16="http://schemas.microsoft.com/office/drawing/2014/main" id="{88DEEFBF-DF39-4ABF-B7E3-666182F2260E}"/>
              </a:ext>
            </a:extLst>
          </p:cNvPr>
          <p:cNvSpPr>
            <a:spLocks xmlns:a="http://schemas.openxmlformats.org/drawingml/2006/main" noGrp="1"/>
          </p:cNvSpPr>
          <p:nvPr/>
        </p:nvSpPr>
        <p:spPr>
          <a:xfrm xmlns:a="http://schemas.openxmlformats.org/drawingml/2006/main">
            <a:off x="0" y="164592"/>
            <a:ext cx="12191695" cy="7315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32" name="Google Shape;132;p9">
            <a:extLst xmlns:a="http://schemas.openxmlformats.org/drawingml/2006/main">
              <a:ext uri="{FF2B5EF4-FFF2-40B4-BE49-F238E27FC236}">
                <a16:creationId xmlns:a16="http://schemas.microsoft.com/office/drawing/2014/main" id="{02959204-34D8-4CD2-848C-DB79DD280971}"/>
              </a:ext>
            </a:extLst>
          </p:cNvPr>
          <p:cNvSpPr>
            <a:spLocks xmlns:a="http://schemas.openxmlformats.org/drawingml/2006/main" noGrp="1"/>
          </p:cNvSpPr>
          <p:nvPr/>
        </p:nvSpPr>
        <p:spPr>
          <a:xfrm xmlns:a="http://schemas.openxmlformats.org/drawingml/2006/main">
            <a:off x="0" y="6729984"/>
            <a:ext cx="12191695" cy="54864"/>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33" name="Google Shape;133;p9">
            <a:extLst xmlns:a="http://schemas.openxmlformats.org/drawingml/2006/main">
              <a:ext uri="{FF2B5EF4-FFF2-40B4-BE49-F238E27FC236}">
                <a16:creationId xmlns:a16="http://schemas.microsoft.com/office/drawing/2014/main" id="{AD90386D-9055-46C0-B83A-411246A60EBD}"/>
              </a:ext>
            </a:extLst>
          </p:cNvPr>
          <p:cNvSpPr>
            <a:spLocks xmlns:a="http://schemas.openxmlformats.org/drawingml/2006/main" noGrp="1"/>
          </p:cNvSpPr>
          <p:nvPr/>
        </p:nvSpPr>
        <p:spPr>
          <a:xfrm xmlns:a="http://schemas.openxmlformats.org/drawingml/2006/main">
            <a:off x="411480" y="6236208"/>
            <a:ext cx="420624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000"/>
              <a:buFont typeface="Arial"/>
              <a:buNone/>
            </a:pPr>
            <a:r>
              <a:rPr sz="1000" b="1">
                <a:solidFill>
                  <a:srgbClr val="B8B8B8"/>
                </a:solidFill>
                <a:latin typeface="Arial"/>
                <a:ea typeface="Arial"/>
                <a:cs typeface="Arial"/>
              </a:rPr>
              <a:t>SCIENTIFIC REPORTING</a:t>
            </a:r>
          </a:p>
        </p:txBody>
      </p:sp>
      <p:sp>
        <p:nvSpPr>
          <p:cNvPr id="134" name="Google Shape;134;p9">
            <a:extLst xmlns:a="http://schemas.openxmlformats.org/drawingml/2006/main">
              <a:ext uri="{FF2B5EF4-FFF2-40B4-BE49-F238E27FC236}">
                <a16:creationId xmlns:a16="http://schemas.microsoft.com/office/drawing/2014/main" id="{0040C211-F52E-4E7C-8A05-516A4FE1872D}"/>
              </a:ext>
            </a:extLst>
          </p:cNvPr>
          <p:cNvSpPr>
            <a:spLocks xmlns:a="http://schemas.openxmlformats.org/drawingml/2006/main" noGrp="1"/>
          </p:cNvSpPr>
          <p:nvPr/>
        </p:nvSpPr>
        <p:spPr>
          <a:xfrm xmlns:a="http://schemas.openxmlformats.org/drawingml/2006/main">
            <a:off x="10515600" y="6236208"/>
            <a:ext cx="123444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B8B8B8"/>
              </a:buClr>
              <a:buSzPts val="1000"/>
              <a:buFont typeface="Arial"/>
              <a:buNone/>
            </a:pPr>
            <a:r>
              <a:rPr sz="1000" b="1">
                <a:solidFill>
                  <a:srgbClr val="B8B8B8"/>
                </a:solidFill>
                <a:latin typeface="Arial"/>
                <a:ea typeface="Arial"/>
                <a:cs typeface="Arial"/>
              </a:rPr>
              <a:t>STARLAB</a:t>
            </a:r>
          </a:p>
        </p:txBody>
      </p:sp>
      <p:sp>
        <p:nvSpPr>
          <p:cNvPr id="135" name="Google Shape;135;p9">
            <a:extLst xmlns:a="http://schemas.openxmlformats.org/drawingml/2006/main">
              <a:ext uri="{FF2B5EF4-FFF2-40B4-BE49-F238E27FC236}">
                <a16:creationId xmlns:a16="http://schemas.microsoft.com/office/drawing/2014/main" id="{BBF7CC7F-EB7A-4FA6-B2A1-3946D524EB22}"/>
              </a:ext>
            </a:extLst>
          </p:cNvPr>
          <p:cNvSpPr>
            <a:spLocks xmlns:a="http://schemas.openxmlformats.org/drawingml/2006/main" noGrp="1"/>
          </p:cNvSpPr>
          <p:nvPr/>
        </p:nvSpPr>
        <p:spPr>
          <a:xfrm xmlns:a="http://schemas.openxmlformats.org/drawingml/2006/main">
            <a:off x="10195560" y="384048"/>
            <a:ext cx="1325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E22B27"/>
              </a:buClr>
              <a:buSzPts val="1100"/>
              <a:buFont typeface="Arial"/>
              <a:buNone/>
            </a:pPr>
            <a:r>
              <a:rPr sz="1100" b="1">
                <a:solidFill>
                  <a:srgbClr val="E22B27"/>
                </a:solidFill>
                <a:latin typeface="Arial"/>
                <a:ea typeface="Arial"/>
                <a:cs typeface="Arial"/>
              </a:rPr>
              <a:t>DECK 14</a:t>
            </a:r>
          </a:p>
        </p:txBody>
      </p:sp>
      <p:sp>
        <p:nvSpPr>
          <p:cNvPr id="136" name="Google Shape;136;p9">
            <a:extLst xmlns:a="http://schemas.openxmlformats.org/drawingml/2006/main">
              <a:ext uri="{FF2B5EF4-FFF2-40B4-BE49-F238E27FC236}">
                <a16:creationId xmlns:a16="http://schemas.microsoft.com/office/drawing/2014/main" id="{8B870F56-F734-498E-91FB-6F45F5589BFD}"/>
              </a:ext>
            </a:extLst>
          </p:cNvPr>
          <p:cNvSpPr>
            <a:spLocks xmlns:a="http://schemas.openxmlformats.org/drawingml/2006/main" noGrp="1"/>
          </p:cNvSpPr>
          <p:nvPr/>
        </p:nvSpPr>
        <p:spPr>
          <a:xfrm xmlns:a="http://schemas.openxmlformats.org/drawingml/2006/main">
            <a:off x="685800" y="694944"/>
            <a:ext cx="9829800" cy="49377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700"/>
              <a:buFont typeface="Play"/>
              <a:buNone/>
            </a:pPr>
            <a:r>
              <a:rPr sz="2700" b="1">
                <a:solidFill>
                  <a:srgbClr val="FFFFFF"/>
                </a:solidFill>
                <a:latin typeface="Play"/>
                <a:ea typeface="Play"/>
                <a:cs typeface="Play"/>
              </a:rPr>
              <a:t>Evidence Must Be Specific</a:t>
            </a:r>
          </a:p>
        </p:txBody>
      </p:sp>
      <p:sp>
        <p:nvSpPr>
          <p:cNvPr id="137" name="Google Shape;137;p9">
            <a:extLst xmlns:a="http://schemas.openxmlformats.org/drawingml/2006/main">
              <a:ext uri="{FF2B5EF4-FFF2-40B4-BE49-F238E27FC236}">
                <a16:creationId xmlns:a16="http://schemas.microsoft.com/office/drawing/2014/main" id="{CB929457-8716-4977-9E0F-951FE357C3D9}"/>
              </a:ext>
            </a:extLst>
          </p:cNvPr>
          <p:cNvSpPr>
            <a:spLocks xmlns:a="http://schemas.openxmlformats.org/drawingml/2006/main" noGrp="1"/>
          </p:cNvSpPr>
          <p:nvPr/>
        </p:nvSpPr>
        <p:spPr>
          <a:xfrm xmlns:a="http://schemas.openxmlformats.org/drawingml/2006/main">
            <a:off x="694944" y="1271016"/>
            <a:ext cx="9875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200"/>
              <a:buFont typeface="Arial"/>
              <a:buNone/>
            </a:pPr>
            <a:r>
              <a:rPr sz="1200">
                <a:solidFill>
                  <a:srgbClr val="B8B8B8"/>
                </a:solidFill>
                <a:latin typeface="Arial"/>
                <a:ea typeface="Arial"/>
                <a:cs typeface="Arial"/>
              </a:rPr>
              <a:t>Do not point vaguely at “the data.”</a:t>
            </a:r>
          </a:p>
        </p:txBody>
      </p:sp>
      <p:cxnSp>
        <p:nvCxnSpPr>
          <p:cNvPr id="153" name="Google Shape;138;p9"/>
          <p:cNvCxnSpPr/>
          <p:nvPr/>
        </p:nvCxnSpPr>
        <p:spPr>
          <a:xfrm xmlns:a="http://schemas.openxmlformats.org/drawingml/2006/main">
            <a:off x="685800" y="1591056"/>
            <a:ext cx="10789920" cy="0"/>
          </a:xfrm>
          <a:prstGeom xmlns:a="http://schemas.openxmlformats.org/drawingml/2006/main" prst="straightConnector1">
            <a:avLst/>
          </a:prstGeom>
          <a:ln xmlns:a="http://schemas.openxmlformats.org/drawingml/2006/main" w="16500" cap="flat">
            <a:solidFill>
              <a:srgbClr val="E22B27"/>
            </a:solidFill>
            <a:prstDash val="solid"/>
            <a:round/>
            <a:headEnd type="none" w="sm" len="sm"/>
            <a:tailEnd type="none" w="sm" len="sm"/>
          </a:ln>
        </p:spPr>
      </p:cxnSp>
      <p:sp>
        <p:nvSpPr>
          <p:cNvPr id="139" name="Google Shape;139;p9">
            <a:extLst xmlns:a="http://schemas.openxmlformats.org/drawingml/2006/main">
              <a:ext uri="{FF2B5EF4-FFF2-40B4-BE49-F238E27FC236}">
                <a16:creationId xmlns:a16="http://schemas.microsoft.com/office/drawing/2014/main" id="{CB382569-758F-44A8-AE03-674333A5053D}"/>
              </a:ext>
            </a:extLst>
          </p:cNvPr>
          <p:cNvSpPr>
            <a:spLocks xmlns:a="http://schemas.openxmlformats.org/drawingml/2006/main" noGrp="1"/>
          </p:cNvSpPr>
          <p:nvPr/>
        </p:nvSpPr>
        <p:spPr>
          <a:xfrm xmlns:a="http://schemas.openxmlformats.org/drawingml/2006/main">
            <a:off x="914400" y="1828800"/>
            <a:ext cx="4892040" cy="3200400"/>
          </a:xfrm>
          <a:prstGeom xmlns:a="http://schemas.openxmlformats.org/drawingml/2006/main" prst="roundRect">
            <a:avLst>
              <a:gd name="adj" fmla="val 1714"/>
            </a:avLst>
          </a:prstGeom>
          <a:solidFill xmlns:a="http://schemas.openxmlformats.org/drawingml/2006/main">
            <a:srgbClr val="101010"/>
          </a:solidFill>
          <a:ln xmlns:a="http://schemas.openxmlformats.org/drawingml/2006/main" w="12700" cmpd="sng">
            <a:solidFill>
              <a:srgbClr val="44444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40" name="Google Shape;140;p9">
            <a:extLst xmlns:a="http://schemas.openxmlformats.org/drawingml/2006/main">
              <a:ext uri="{FF2B5EF4-FFF2-40B4-BE49-F238E27FC236}">
                <a16:creationId xmlns:a16="http://schemas.microsoft.com/office/drawing/2014/main" id="{6B5BBD5F-59D5-451B-8C68-C5652B42D91C}"/>
              </a:ext>
            </a:extLst>
          </p:cNvPr>
          <p:cNvSpPr>
            <a:spLocks xmlns:a="http://schemas.openxmlformats.org/drawingml/2006/main" noGrp="1"/>
          </p:cNvSpPr>
          <p:nvPr/>
        </p:nvSpPr>
        <p:spPr>
          <a:xfrm xmlns:a="http://schemas.openxmlformats.org/drawingml/2006/main">
            <a:off x="1078992" y="1965960"/>
            <a:ext cx="4562856"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200"/>
              <a:buFont typeface="Arial"/>
              <a:buNone/>
            </a:pPr>
            <a:r>
              <a:rPr sz="1200" b="1">
                <a:solidFill>
                  <a:srgbClr val="E22B27"/>
                </a:solidFill>
                <a:latin typeface="Arial"/>
                <a:ea typeface="Arial"/>
                <a:cs typeface="Arial"/>
              </a:rPr>
              <a:t>TOO VAGUE</a:t>
            </a:r>
          </a:p>
        </p:txBody>
      </p:sp>
      <p:sp>
        <p:nvSpPr>
          <p:cNvPr id="141" name="Google Shape;141;p9">
            <a:extLst xmlns:a="http://schemas.openxmlformats.org/drawingml/2006/main">
              <a:ext uri="{FF2B5EF4-FFF2-40B4-BE49-F238E27FC236}">
                <a16:creationId xmlns:a16="http://schemas.microsoft.com/office/drawing/2014/main" id="{905CA431-17EF-4503-B2D4-67D58025D239}"/>
              </a:ext>
            </a:extLst>
          </p:cNvPr>
          <p:cNvSpPr>
            <a:spLocks xmlns:a="http://schemas.openxmlformats.org/drawingml/2006/main" noGrp="1"/>
          </p:cNvSpPr>
          <p:nvPr/>
        </p:nvSpPr>
        <p:spPr>
          <a:xfrm xmlns:a="http://schemas.openxmlformats.org/drawingml/2006/main">
            <a:off x="1078992" y="2331720"/>
            <a:ext cx="4562856" cy="2542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000"/>
              <a:buFont typeface="Arial"/>
              <a:buNone/>
            </a:pPr>
            <a:r>
              <a:rPr sz="2000">
                <a:solidFill>
                  <a:srgbClr val="FFFFFF"/>
                </a:solidFill>
                <a:latin typeface="Arial"/>
                <a:ea typeface="Arial"/>
                <a:cs typeface="Arial"/>
              </a:rPr>
              <a:t>“The graph shows that the prototype worked better.”</a:t>
            </a:r>
          </a:p>
          <a:p xmlns:a="http://schemas.openxmlformats.org/drawingml/2006/main">
            <a:pPr marL="0" marR="0" indent="0" algn="l">
              <a:spcBef>
                <a:spcPts val="0"/>
              </a:spcBef>
              <a:spcAft>
                <a:spcPts val="0"/>
              </a:spcAft>
              <a:buClr>
                <a:schemeClr val="dk1"/>
              </a:buClr>
              <a:buSzPts val="2000"/>
              <a:buFont typeface="Arial"/>
              <a:buNone/>
            </a:pPr>
            <a:r>
              <a:t/>
            </a:r>
          </a:p>
          <a:p xmlns:a="http://schemas.openxmlformats.org/drawingml/2006/main">
            <a:pPr marL="0" marR="0" indent="0" algn="l">
              <a:spcBef>
                <a:spcPts val="0"/>
              </a:spcBef>
              <a:spcAft>
                <a:spcPts val="0"/>
              </a:spcAft>
              <a:buClr>
                <a:srgbClr val="FFFFFF"/>
              </a:buClr>
              <a:buSzPts val="2000"/>
              <a:buFont typeface="Arial"/>
              <a:buNone/>
            </a:pPr>
            <a:r>
              <a:rPr sz="2000">
                <a:solidFill>
                  <a:srgbClr val="FFFFFF"/>
                </a:solidFill>
                <a:latin typeface="Arial"/>
                <a:ea typeface="Arial"/>
                <a:cs typeface="Arial"/>
              </a:rPr>
              <a:t>“The results supported my hypothesis.”</a:t>
            </a:r>
          </a:p>
          <a:p xmlns:a="http://schemas.openxmlformats.org/drawingml/2006/main">
            <a:pPr marL="0" marR="0" indent="0" algn="l">
              <a:spcBef>
                <a:spcPts val="0"/>
              </a:spcBef>
              <a:spcAft>
                <a:spcPts val="0"/>
              </a:spcAft>
              <a:buClr>
                <a:schemeClr val="dk1"/>
              </a:buClr>
              <a:buSzPts val="2000"/>
              <a:buFont typeface="Arial"/>
              <a:buNone/>
            </a:pPr>
            <a:r>
              <a:t/>
            </a:r>
          </a:p>
          <a:p xmlns:a="http://schemas.openxmlformats.org/drawingml/2006/main">
            <a:pPr marL="0" marR="0" indent="0" algn="l">
              <a:spcBef>
                <a:spcPts val="0"/>
              </a:spcBef>
              <a:spcAft>
                <a:spcPts val="0"/>
              </a:spcAft>
              <a:buClr>
                <a:srgbClr val="FFFFFF"/>
              </a:buClr>
              <a:buSzPts val="2000"/>
              <a:buFont typeface="Arial"/>
              <a:buNone/>
            </a:pPr>
            <a:r>
              <a:rPr sz="2000">
                <a:solidFill>
                  <a:srgbClr val="FFFFFF"/>
                </a:solidFill>
                <a:latin typeface="Arial"/>
                <a:ea typeface="Arial"/>
                <a:cs typeface="Arial"/>
              </a:rPr>
              <a:t>“My data were pretty consistent.”</a:t>
            </a:r>
          </a:p>
        </p:txBody>
      </p:sp>
      <p:sp>
        <p:nvSpPr>
          <p:cNvPr id="142" name="Google Shape;142;p9">
            <a:extLst xmlns:a="http://schemas.openxmlformats.org/drawingml/2006/main">
              <a:ext uri="{FF2B5EF4-FFF2-40B4-BE49-F238E27FC236}">
                <a16:creationId xmlns:a16="http://schemas.microsoft.com/office/drawing/2014/main" id="{8366F9C1-3294-49C4-A77C-3FEBF46E60CD}"/>
              </a:ext>
            </a:extLst>
          </p:cNvPr>
          <p:cNvSpPr>
            <a:spLocks xmlns:a="http://schemas.openxmlformats.org/drawingml/2006/main" noGrp="1"/>
          </p:cNvSpPr>
          <p:nvPr/>
        </p:nvSpPr>
        <p:spPr>
          <a:xfrm xmlns:a="http://schemas.openxmlformats.org/drawingml/2006/main">
            <a:off x="6355080" y="1828800"/>
            <a:ext cx="4892040" cy="3200400"/>
          </a:xfrm>
          <a:prstGeom xmlns:a="http://schemas.openxmlformats.org/drawingml/2006/main" prst="roundRect">
            <a:avLst>
              <a:gd name="adj" fmla="val 1714"/>
            </a:avLst>
          </a:prstGeom>
          <a:solidFill xmlns:a="http://schemas.openxmlformats.org/drawingml/2006/main">
            <a:srgbClr val="101010"/>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43" name="Google Shape;143;p9">
            <a:extLst xmlns:a="http://schemas.openxmlformats.org/drawingml/2006/main">
              <a:ext uri="{FF2B5EF4-FFF2-40B4-BE49-F238E27FC236}">
                <a16:creationId xmlns:a16="http://schemas.microsoft.com/office/drawing/2014/main" id="{71A236C9-86E0-4E80-9381-3DAD3241D873}"/>
              </a:ext>
            </a:extLst>
          </p:cNvPr>
          <p:cNvSpPr>
            <a:spLocks xmlns:a="http://schemas.openxmlformats.org/drawingml/2006/main" noGrp="1"/>
          </p:cNvSpPr>
          <p:nvPr/>
        </p:nvSpPr>
        <p:spPr>
          <a:xfrm xmlns:a="http://schemas.openxmlformats.org/drawingml/2006/main">
            <a:off x="6519672" y="1965960"/>
            <a:ext cx="4562856"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200"/>
              <a:buFont typeface="Arial"/>
              <a:buNone/>
            </a:pPr>
            <a:r>
              <a:rPr sz="1200" b="1">
                <a:solidFill>
                  <a:srgbClr val="E22B27"/>
                </a:solidFill>
                <a:latin typeface="Arial"/>
                <a:ea typeface="Arial"/>
                <a:cs typeface="Arial"/>
              </a:rPr>
              <a:t>MORE USEFUL</a:t>
            </a:r>
          </a:p>
        </p:txBody>
      </p:sp>
      <p:sp>
        <p:nvSpPr>
          <p:cNvPr id="144" name="Google Shape;144;p9">
            <a:extLst xmlns:a="http://schemas.openxmlformats.org/drawingml/2006/main">
              <a:ext uri="{FF2B5EF4-FFF2-40B4-BE49-F238E27FC236}">
                <a16:creationId xmlns:a16="http://schemas.microsoft.com/office/drawing/2014/main" id="{62596E94-E1DB-478D-9057-ACAE003C8A12}"/>
              </a:ext>
            </a:extLst>
          </p:cNvPr>
          <p:cNvSpPr>
            <a:spLocks xmlns:a="http://schemas.openxmlformats.org/drawingml/2006/main" noGrp="1"/>
          </p:cNvSpPr>
          <p:nvPr/>
        </p:nvSpPr>
        <p:spPr>
          <a:xfrm xmlns:a="http://schemas.openxmlformats.org/drawingml/2006/main">
            <a:off x="6519672" y="2331720"/>
            <a:ext cx="4562856" cy="2542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000"/>
              <a:buFont typeface="Arial"/>
              <a:buNone/>
            </a:pPr>
            <a:r>
              <a:rPr sz="2000">
                <a:solidFill>
                  <a:srgbClr val="FFFFFF"/>
                </a:solidFill>
                <a:latin typeface="Arial"/>
                <a:ea typeface="Arial"/>
                <a:cs typeface="Arial"/>
              </a:rPr>
              <a:t>“Prototype B completed 8 of 10 target landings, compared with 4 of 10 for Prototype A.”</a:t>
            </a:r>
          </a:p>
          <a:p xmlns:a="http://schemas.openxmlformats.org/drawingml/2006/main">
            <a:pPr marL="0" marR="0" indent="0" algn="l">
              <a:spcBef>
                <a:spcPts val="0"/>
              </a:spcBef>
              <a:spcAft>
                <a:spcPts val="0"/>
              </a:spcAft>
              <a:buClr>
                <a:schemeClr val="dk1"/>
              </a:buClr>
              <a:buSzPts val="2000"/>
              <a:buFont typeface="Arial"/>
              <a:buNone/>
            </a:pPr>
            <a:r>
              <a:t/>
            </a:r>
          </a:p>
          <a:p xmlns:a="http://schemas.openxmlformats.org/drawingml/2006/main">
            <a:pPr marL="0" marR="0" indent="0" algn="l">
              <a:spcBef>
                <a:spcPts val="0"/>
              </a:spcBef>
              <a:spcAft>
                <a:spcPts val="0"/>
              </a:spcAft>
              <a:buClr>
                <a:srgbClr val="FFFFFF"/>
              </a:buClr>
              <a:buSzPts val="2000"/>
              <a:buFont typeface="Arial"/>
              <a:buNone/>
            </a:pPr>
            <a:r>
              <a:rPr sz="2000">
                <a:solidFill>
                  <a:srgbClr val="FFFFFF"/>
                </a:solidFill>
                <a:latin typeface="Arial"/>
                <a:ea typeface="Arial"/>
                <a:cs typeface="Arial"/>
              </a:rPr>
              <a:t>“The treatment group averaged 2.1 cm/week, compared with 1.2 cm/week in the control group.”</a:t>
            </a:r>
          </a:p>
        </p:txBody>
      </p:sp>
    </p:spTree>
    <p:extLst>
      <p:ext uri="{BB962C8B-B14F-4D97-AF65-F5344CB8AC3E}">
        <p14:creationId xmlns:p14="http://schemas.microsoft.com/office/powerpoint/2010/main" val="442810869"/>
      </p:ext>
    </p:extLst>
  </p:cSld>
</p:sld>
</file>

<file path=ppt/slides/slide8.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150" name="Google Shape;150;p10">
            <a:extLst xmlns:a="http://schemas.openxmlformats.org/drawingml/2006/main">
              <a:ext uri="{FF2B5EF4-FFF2-40B4-BE49-F238E27FC236}">
                <a16:creationId xmlns:a16="http://schemas.microsoft.com/office/drawing/2014/main" id="{9B9B980C-C381-4034-979D-B6CBB2FE4407}"/>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51" name="Google Shape;151;p10">
            <a:extLst xmlns:a="http://schemas.openxmlformats.org/drawingml/2006/main">
              <a:ext uri="{FF2B5EF4-FFF2-40B4-BE49-F238E27FC236}">
                <a16:creationId xmlns:a16="http://schemas.microsoft.com/office/drawing/2014/main" id="{E056E519-3FB5-4F9B-82B4-0E4E054027D3}"/>
              </a:ext>
            </a:extLst>
          </p:cNvPr>
          <p:cNvSpPr>
            <a:spLocks xmlns:a="http://schemas.openxmlformats.org/drawingml/2006/main" noGrp="1"/>
          </p:cNvSpPr>
          <p:nvPr/>
        </p:nvSpPr>
        <p:spPr>
          <a:xfrm xmlns:a="http://schemas.openxmlformats.org/drawingml/2006/main">
            <a:off x="0" y="164592"/>
            <a:ext cx="12191695" cy="7315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52" name="Google Shape;152;p10">
            <a:extLst xmlns:a="http://schemas.openxmlformats.org/drawingml/2006/main">
              <a:ext uri="{FF2B5EF4-FFF2-40B4-BE49-F238E27FC236}">
                <a16:creationId xmlns:a16="http://schemas.microsoft.com/office/drawing/2014/main" id="{5B45E790-B965-4F26-BC17-30DDC62375C3}"/>
              </a:ext>
            </a:extLst>
          </p:cNvPr>
          <p:cNvSpPr>
            <a:spLocks xmlns:a="http://schemas.openxmlformats.org/drawingml/2006/main" noGrp="1"/>
          </p:cNvSpPr>
          <p:nvPr/>
        </p:nvSpPr>
        <p:spPr>
          <a:xfrm xmlns:a="http://schemas.openxmlformats.org/drawingml/2006/main">
            <a:off x="0" y="6729984"/>
            <a:ext cx="12191695" cy="54864"/>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53" name="Google Shape;153;p10">
            <a:extLst xmlns:a="http://schemas.openxmlformats.org/drawingml/2006/main">
              <a:ext uri="{FF2B5EF4-FFF2-40B4-BE49-F238E27FC236}">
                <a16:creationId xmlns:a16="http://schemas.microsoft.com/office/drawing/2014/main" id="{A488DCA2-9E0A-4891-991B-B81F0EE55730}"/>
              </a:ext>
            </a:extLst>
          </p:cNvPr>
          <p:cNvSpPr>
            <a:spLocks xmlns:a="http://schemas.openxmlformats.org/drawingml/2006/main" noGrp="1"/>
          </p:cNvSpPr>
          <p:nvPr/>
        </p:nvSpPr>
        <p:spPr>
          <a:xfrm xmlns:a="http://schemas.openxmlformats.org/drawingml/2006/main">
            <a:off x="411480" y="6236208"/>
            <a:ext cx="420624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000"/>
              <a:buFont typeface="Arial"/>
              <a:buNone/>
            </a:pPr>
            <a:r>
              <a:rPr sz="1000" b="1">
                <a:solidFill>
                  <a:srgbClr val="B8B8B8"/>
                </a:solidFill>
                <a:latin typeface="Arial"/>
                <a:ea typeface="Arial"/>
                <a:cs typeface="Arial"/>
              </a:rPr>
              <a:t>SCIENTIFIC REPORTING</a:t>
            </a:r>
          </a:p>
        </p:txBody>
      </p:sp>
      <p:sp>
        <p:nvSpPr>
          <p:cNvPr id="154" name="Google Shape;154;p10">
            <a:extLst xmlns:a="http://schemas.openxmlformats.org/drawingml/2006/main">
              <a:ext uri="{FF2B5EF4-FFF2-40B4-BE49-F238E27FC236}">
                <a16:creationId xmlns:a16="http://schemas.microsoft.com/office/drawing/2014/main" id="{E27B0D10-458E-4F10-9750-F8FF9107E4B5}"/>
              </a:ext>
            </a:extLst>
          </p:cNvPr>
          <p:cNvSpPr>
            <a:spLocks xmlns:a="http://schemas.openxmlformats.org/drawingml/2006/main" noGrp="1"/>
          </p:cNvSpPr>
          <p:nvPr/>
        </p:nvSpPr>
        <p:spPr>
          <a:xfrm xmlns:a="http://schemas.openxmlformats.org/drawingml/2006/main">
            <a:off x="10515600" y="6236208"/>
            <a:ext cx="123444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B8B8B8"/>
              </a:buClr>
              <a:buSzPts val="1000"/>
              <a:buFont typeface="Arial"/>
              <a:buNone/>
            </a:pPr>
            <a:r>
              <a:rPr sz="1000" b="1">
                <a:solidFill>
                  <a:srgbClr val="B8B8B8"/>
                </a:solidFill>
                <a:latin typeface="Arial"/>
                <a:ea typeface="Arial"/>
                <a:cs typeface="Arial"/>
              </a:rPr>
              <a:t>STARLAB</a:t>
            </a:r>
          </a:p>
        </p:txBody>
      </p:sp>
      <p:sp>
        <p:nvSpPr>
          <p:cNvPr id="155" name="Google Shape;155;p10">
            <a:extLst xmlns:a="http://schemas.openxmlformats.org/drawingml/2006/main">
              <a:ext uri="{FF2B5EF4-FFF2-40B4-BE49-F238E27FC236}">
                <a16:creationId xmlns:a16="http://schemas.microsoft.com/office/drawing/2014/main" id="{F80F5D94-4A39-45E3-9FC9-75B3A2D3C64F}"/>
              </a:ext>
            </a:extLst>
          </p:cNvPr>
          <p:cNvSpPr>
            <a:spLocks xmlns:a="http://schemas.openxmlformats.org/drawingml/2006/main" noGrp="1"/>
          </p:cNvSpPr>
          <p:nvPr/>
        </p:nvSpPr>
        <p:spPr>
          <a:xfrm xmlns:a="http://schemas.openxmlformats.org/drawingml/2006/main">
            <a:off x="10195560" y="384048"/>
            <a:ext cx="1325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E22B27"/>
              </a:buClr>
              <a:buSzPts val="1100"/>
              <a:buFont typeface="Arial"/>
              <a:buNone/>
            </a:pPr>
            <a:r>
              <a:rPr sz="1100" b="1">
                <a:solidFill>
                  <a:srgbClr val="E22B27"/>
                </a:solidFill>
                <a:latin typeface="Arial"/>
                <a:ea typeface="Arial"/>
                <a:cs typeface="Arial"/>
              </a:rPr>
              <a:t>DECK 14</a:t>
            </a:r>
          </a:p>
        </p:txBody>
      </p:sp>
      <p:sp>
        <p:nvSpPr>
          <p:cNvPr id="156" name="Google Shape;156;p10">
            <a:extLst xmlns:a="http://schemas.openxmlformats.org/drawingml/2006/main">
              <a:ext uri="{FF2B5EF4-FFF2-40B4-BE49-F238E27FC236}">
                <a16:creationId xmlns:a16="http://schemas.microsoft.com/office/drawing/2014/main" id="{AE27AAD4-83F5-4F4C-BC73-394E3D3A0F02}"/>
              </a:ext>
            </a:extLst>
          </p:cNvPr>
          <p:cNvSpPr>
            <a:spLocks xmlns:a="http://schemas.openxmlformats.org/drawingml/2006/main" noGrp="1"/>
          </p:cNvSpPr>
          <p:nvPr/>
        </p:nvSpPr>
        <p:spPr>
          <a:xfrm xmlns:a="http://schemas.openxmlformats.org/drawingml/2006/main">
            <a:off x="685800" y="694944"/>
            <a:ext cx="9829800" cy="49377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700"/>
              <a:buFont typeface="Play"/>
              <a:buNone/>
            </a:pPr>
            <a:r>
              <a:rPr sz="2700" b="1">
                <a:solidFill>
                  <a:srgbClr val="FFFFFF"/>
                </a:solidFill>
                <a:latin typeface="Play"/>
                <a:ea typeface="Play"/>
                <a:cs typeface="Play"/>
              </a:rPr>
              <a:t>Reasoning Connects the Dots</a:t>
            </a:r>
          </a:p>
        </p:txBody>
      </p:sp>
      <p:sp>
        <p:nvSpPr>
          <p:cNvPr id="157" name="Google Shape;157;p10">
            <a:extLst xmlns:a="http://schemas.openxmlformats.org/drawingml/2006/main">
              <a:ext uri="{FF2B5EF4-FFF2-40B4-BE49-F238E27FC236}">
                <a16:creationId xmlns:a16="http://schemas.microsoft.com/office/drawing/2014/main" id="{0D2A422F-FE27-4D1E-B78F-57DB1DB127AB}"/>
              </a:ext>
            </a:extLst>
          </p:cNvPr>
          <p:cNvSpPr>
            <a:spLocks xmlns:a="http://schemas.openxmlformats.org/drawingml/2006/main" noGrp="1"/>
          </p:cNvSpPr>
          <p:nvPr/>
        </p:nvSpPr>
        <p:spPr>
          <a:xfrm xmlns:a="http://schemas.openxmlformats.org/drawingml/2006/main">
            <a:off x="694944" y="1271016"/>
            <a:ext cx="9875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200"/>
              <a:buFont typeface="Arial"/>
              <a:buNone/>
            </a:pPr>
            <a:r>
              <a:rPr sz="1200">
                <a:solidFill>
                  <a:srgbClr val="B8B8B8"/>
                </a:solidFill>
                <a:latin typeface="Arial"/>
                <a:ea typeface="Arial"/>
                <a:cs typeface="Arial"/>
              </a:rPr>
              <a:t>Evidence does not explain itself.</a:t>
            </a:r>
          </a:p>
        </p:txBody>
      </p:sp>
      <p:cxnSp>
        <p:nvCxnSpPr>
          <p:cNvPr id="178" name="Google Shape;158;p10"/>
          <p:cNvCxnSpPr/>
          <p:nvPr/>
        </p:nvCxnSpPr>
        <p:spPr>
          <a:xfrm xmlns:a="http://schemas.openxmlformats.org/drawingml/2006/main">
            <a:off x="685800" y="1591056"/>
            <a:ext cx="10789920" cy="0"/>
          </a:xfrm>
          <a:prstGeom xmlns:a="http://schemas.openxmlformats.org/drawingml/2006/main" prst="straightConnector1">
            <a:avLst/>
          </a:prstGeom>
          <a:ln xmlns:a="http://schemas.openxmlformats.org/drawingml/2006/main" w="16500" cap="flat">
            <a:solidFill>
              <a:srgbClr val="E22B27"/>
            </a:solidFill>
            <a:prstDash val="solid"/>
            <a:round/>
            <a:headEnd type="none" w="sm" len="sm"/>
            <a:tailEnd type="none" w="sm" len="sm"/>
          </a:ln>
        </p:spPr>
      </p:cxnSp>
      <p:sp>
        <p:nvSpPr>
          <p:cNvPr id="159" name="Google Shape;159;p10">
            <a:extLst xmlns:a="http://schemas.openxmlformats.org/drawingml/2006/main">
              <a:ext uri="{FF2B5EF4-FFF2-40B4-BE49-F238E27FC236}">
                <a16:creationId xmlns:a16="http://schemas.microsoft.com/office/drawing/2014/main" id="{C7AE2788-0925-401C-9184-2ABBB79797D5}"/>
              </a:ext>
            </a:extLst>
          </p:cNvPr>
          <p:cNvSpPr>
            <a:spLocks xmlns:a="http://schemas.openxmlformats.org/drawingml/2006/main" noGrp="1"/>
          </p:cNvSpPr>
          <p:nvPr/>
        </p:nvSpPr>
        <p:spPr>
          <a:xfrm xmlns:a="http://schemas.openxmlformats.org/drawingml/2006/main">
            <a:off x="914400" y="1828800"/>
            <a:ext cx="73152" cy="1097280"/>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60" name="Google Shape;160;p10">
            <a:extLst xmlns:a="http://schemas.openxmlformats.org/drawingml/2006/main">
              <a:ext uri="{FF2B5EF4-FFF2-40B4-BE49-F238E27FC236}">
                <a16:creationId xmlns:a16="http://schemas.microsoft.com/office/drawing/2014/main" id="{F7023BE7-F5F5-412B-A606-46232EA8788B}"/>
              </a:ext>
            </a:extLst>
          </p:cNvPr>
          <p:cNvSpPr>
            <a:spLocks xmlns:a="http://schemas.openxmlformats.org/drawingml/2006/main" noGrp="1"/>
          </p:cNvSpPr>
          <p:nvPr/>
        </p:nvSpPr>
        <p:spPr>
          <a:xfrm xmlns:a="http://schemas.openxmlformats.org/drawingml/2006/main">
            <a:off x="1143000" y="1865376"/>
            <a:ext cx="9875520" cy="10058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500"/>
              <a:buFont typeface="Play"/>
              <a:buNone/>
            </a:pPr>
            <a:r>
              <a:rPr sz="2500" b="1">
                <a:solidFill>
                  <a:srgbClr val="FFFFFF"/>
                </a:solidFill>
                <a:latin typeface="Play"/>
                <a:ea typeface="Play"/>
                <a:cs typeface="Play"/>
              </a:rPr>
              <a:t>Reasoning explains why the evidence matters.</a:t>
            </a:r>
          </a:p>
        </p:txBody>
      </p:sp>
      <p:sp>
        <p:nvSpPr>
          <p:cNvPr id="161" name="Google Shape;161;p10">
            <a:extLst xmlns:a="http://schemas.openxmlformats.org/drawingml/2006/main">
              <a:ext uri="{FF2B5EF4-FFF2-40B4-BE49-F238E27FC236}">
                <a16:creationId xmlns:a16="http://schemas.microsoft.com/office/drawing/2014/main" id="{8604FB55-F1A3-411C-91D3-70D107BE9F48}"/>
              </a:ext>
            </a:extLst>
          </p:cNvPr>
          <p:cNvSpPr>
            <a:spLocks xmlns:a="http://schemas.openxmlformats.org/drawingml/2006/main" noGrp="1"/>
          </p:cNvSpPr>
          <p:nvPr/>
        </p:nvSpPr>
        <p:spPr>
          <a:xfrm xmlns:a="http://schemas.openxmlformats.org/drawingml/2006/main">
            <a:off x="914400" y="3200400"/>
            <a:ext cx="3154680" cy="1920240"/>
          </a:xfrm>
          <a:prstGeom xmlns:a="http://schemas.openxmlformats.org/drawingml/2006/main" prst="roundRect">
            <a:avLst>
              <a:gd name="adj" fmla="val 2857"/>
            </a:avLst>
          </a:prstGeom>
          <a:solidFill xmlns:a="http://schemas.openxmlformats.org/drawingml/2006/main">
            <a:srgbClr val="101010"/>
          </a:solidFill>
          <a:ln xmlns:a="http://schemas.openxmlformats.org/drawingml/2006/main" w="12700" cmpd="sng">
            <a:solidFill>
              <a:srgbClr val="44444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62" name="Google Shape;162;p10">
            <a:extLst xmlns:a="http://schemas.openxmlformats.org/drawingml/2006/main">
              <a:ext uri="{FF2B5EF4-FFF2-40B4-BE49-F238E27FC236}">
                <a16:creationId xmlns:a16="http://schemas.microsoft.com/office/drawing/2014/main" id="{D397BF2A-583E-4016-9601-98AD655E3781}"/>
              </a:ext>
            </a:extLst>
          </p:cNvPr>
          <p:cNvSpPr>
            <a:spLocks xmlns:a="http://schemas.openxmlformats.org/drawingml/2006/main" noGrp="1"/>
          </p:cNvSpPr>
          <p:nvPr/>
        </p:nvSpPr>
        <p:spPr>
          <a:xfrm xmlns:a="http://schemas.openxmlformats.org/drawingml/2006/main">
            <a:off x="1078992" y="3337560"/>
            <a:ext cx="2825496"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200"/>
              <a:buFont typeface="Arial"/>
              <a:buNone/>
            </a:pPr>
            <a:r>
              <a:rPr sz="1200" b="1">
                <a:solidFill>
                  <a:srgbClr val="E22B27"/>
                </a:solidFill>
                <a:latin typeface="Arial"/>
                <a:ea typeface="Arial"/>
                <a:cs typeface="Arial"/>
              </a:rPr>
              <a:t>SCIENCE PROJECT</a:t>
            </a:r>
          </a:p>
        </p:txBody>
      </p:sp>
      <p:sp>
        <p:nvSpPr>
          <p:cNvPr id="163" name="Google Shape;163;p10">
            <a:extLst xmlns:a="http://schemas.openxmlformats.org/drawingml/2006/main">
              <a:ext uri="{FF2B5EF4-FFF2-40B4-BE49-F238E27FC236}">
                <a16:creationId xmlns:a16="http://schemas.microsoft.com/office/drawing/2014/main" id="{6A604050-DCBA-413A-9E88-8C58458F4189}"/>
              </a:ext>
            </a:extLst>
          </p:cNvPr>
          <p:cNvSpPr>
            <a:spLocks xmlns:a="http://schemas.openxmlformats.org/drawingml/2006/main" noGrp="1"/>
          </p:cNvSpPr>
          <p:nvPr/>
        </p:nvSpPr>
        <p:spPr>
          <a:xfrm xmlns:a="http://schemas.openxmlformats.org/drawingml/2006/main">
            <a:off x="1078992" y="3703320"/>
            <a:ext cx="2825496" cy="126187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1800"/>
              <a:buFont typeface="Arial"/>
              <a:buNone/>
            </a:pPr>
            <a:r>
              <a:rPr sz="1800">
                <a:solidFill>
                  <a:srgbClr val="FFFFFF"/>
                </a:solidFill>
                <a:latin typeface="Arial"/>
                <a:ea typeface="Arial"/>
                <a:cs typeface="Arial"/>
              </a:rPr>
              <a:t>Connect the result to a mechanism, variable, relationship, or scientific principle.</a:t>
            </a:r>
          </a:p>
        </p:txBody>
      </p:sp>
      <p:sp>
        <p:nvSpPr>
          <p:cNvPr id="164" name="Google Shape;164;p10">
            <a:extLst xmlns:a="http://schemas.openxmlformats.org/drawingml/2006/main">
              <a:ext uri="{FF2B5EF4-FFF2-40B4-BE49-F238E27FC236}">
                <a16:creationId xmlns:a16="http://schemas.microsoft.com/office/drawing/2014/main" id="{05939E03-CC59-44E5-A9FD-6FBC97C08F27}"/>
              </a:ext>
            </a:extLst>
          </p:cNvPr>
          <p:cNvSpPr>
            <a:spLocks xmlns:a="http://schemas.openxmlformats.org/drawingml/2006/main" noGrp="1"/>
          </p:cNvSpPr>
          <p:nvPr/>
        </p:nvSpPr>
        <p:spPr>
          <a:xfrm xmlns:a="http://schemas.openxmlformats.org/drawingml/2006/main">
            <a:off x="4526280" y="3200400"/>
            <a:ext cx="3154680" cy="1920240"/>
          </a:xfrm>
          <a:prstGeom xmlns:a="http://schemas.openxmlformats.org/drawingml/2006/main" prst="roundRect">
            <a:avLst>
              <a:gd name="adj" fmla="val 2857"/>
            </a:avLst>
          </a:prstGeom>
          <a:solidFill xmlns:a="http://schemas.openxmlformats.org/drawingml/2006/main">
            <a:srgbClr val="101010"/>
          </a:solidFill>
          <a:ln xmlns:a="http://schemas.openxmlformats.org/drawingml/2006/main" w="12700" cmpd="sng">
            <a:solidFill>
              <a:srgbClr val="44444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65" name="Google Shape;165;p10">
            <a:extLst xmlns:a="http://schemas.openxmlformats.org/drawingml/2006/main">
              <a:ext uri="{FF2B5EF4-FFF2-40B4-BE49-F238E27FC236}">
                <a16:creationId xmlns:a16="http://schemas.microsoft.com/office/drawing/2014/main" id="{4CE0FCF8-8B3B-48E6-BD34-F05BB02803E6}"/>
              </a:ext>
            </a:extLst>
          </p:cNvPr>
          <p:cNvSpPr>
            <a:spLocks xmlns:a="http://schemas.openxmlformats.org/drawingml/2006/main" noGrp="1"/>
          </p:cNvSpPr>
          <p:nvPr/>
        </p:nvSpPr>
        <p:spPr>
          <a:xfrm xmlns:a="http://schemas.openxmlformats.org/drawingml/2006/main">
            <a:off x="4690872" y="3337560"/>
            <a:ext cx="2825496"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200"/>
              <a:buFont typeface="Arial"/>
              <a:buNone/>
            </a:pPr>
            <a:r>
              <a:rPr sz="1200" b="1">
                <a:solidFill>
                  <a:srgbClr val="E22B27"/>
                </a:solidFill>
                <a:latin typeface="Arial"/>
                <a:ea typeface="Arial"/>
                <a:cs typeface="Arial"/>
              </a:rPr>
              <a:t>ENGINEERING PROJECT</a:t>
            </a:r>
          </a:p>
        </p:txBody>
      </p:sp>
      <p:sp>
        <p:nvSpPr>
          <p:cNvPr id="166" name="Google Shape;166;p10">
            <a:extLst xmlns:a="http://schemas.openxmlformats.org/drawingml/2006/main">
              <a:ext uri="{FF2B5EF4-FFF2-40B4-BE49-F238E27FC236}">
                <a16:creationId xmlns:a16="http://schemas.microsoft.com/office/drawing/2014/main" id="{0A5E3C3B-CA04-440C-BADA-0D6E5852ADF3}"/>
              </a:ext>
            </a:extLst>
          </p:cNvPr>
          <p:cNvSpPr>
            <a:spLocks xmlns:a="http://schemas.openxmlformats.org/drawingml/2006/main" noGrp="1"/>
          </p:cNvSpPr>
          <p:nvPr/>
        </p:nvSpPr>
        <p:spPr>
          <a:xfrm xmlns:a="http://schemas.openxmlformats.org/drawingml/2006/main">
            <a:off x="4690872" y="3703320"/>
            <a:ext cx="2825496" cy="126187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1800"/>
              <a:buFont typeface="Arial"/>
              <a:buNone/>
            </a:pPr>
            <a:r>
              <a:rPr sz="1800">
                <a:solidFill>
                  <a:srgbClr val="FFFFFF"/>
                </a:solidFill>
                <a:latin typeface="Arial"/>
                <a:ea typeface="Arial"/>
                <a:cs typeface="Arial"/>
              </a:rPr>
              <a:t>Connect the result to criteria, constraints, performance metrics, tradeoffs, or failure modes.</a:t>
            </a:r>
          </a:p>
        </p:txBody>
      </p:sp>
      <p:sp>
        <p:nvSpPr>
          <p:cNvPr id="167" name="Google Shape;167;p10">
            <a:extLst xmlns:a="http://schemas.openxmlformats.org/drawingml/2006/main">
              <a:ext uri="{FF2B5EF4-FFF2-40B4-BE49-F238E27FC236}">
                <a16:creationId xmlns:a16="http://schemas.microsoft.com/office/drawing/2014/main" id="{F3C3D0BF-EEC5-4AF9-AB33-DB384C9D4218}"/>
              </a:ext>
            </a:extLst>
          </p:cNvPr>
          <p:cNvSpPr>
            <a:spLocks xmlns:a="http://schemas.openxmlformats.org/drawingml/2006/main" noGrp="1"/>
          </p:cNvSpPr>
          <p:nvPr/>
        </p:nvSpPr>
        <p:spPr>
          <a:xfrm xmlns:a="http://schemas.openxmlformats.org/drawingml/2006/main">
            <a:off x="8138160" y="3200400"/>
            <a:ext cx="3154680" cy="1920240"/>
          </a:xfrm>
          <a:prstGeom xmlns:a="http://schemas.openxmlformats.org/drawingml/2006/main" prst="roundRect">
            <a:avLst>
              <a:gd name="adj" fmla="val 2857"/>
            </a:avLst>
          </a:prstGeom>
          <a:solidFill xmlns:a="http://schemas.openxmlformats.org/drawingml/2006/main">
            <a:srgbClr val="101010"/>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68" name="Google Shape;168;p10">
            <a:extLst xmlns:a="http://schemas.openxmlformats.org/drawingml/2006/main">
              <a:ext uri="{FF2B5EF4-FFF2-40B4-BE49-F238E27FC236}">
                <a16:creationId xmlns:a16="http://schemas.microsoft.com/office/drawing/2014/main" id="{1411D749-EE75-4918-A656-06394E4462BE}"/>
              </a:ext>
            </a:extLst>
          </p:cNvPr>
          <p:cNvSpPr>
            <a:spLocks xmlns:a="http://schemas.openxmlformats.org/drawingml/2006/main" noGrp="1"/>
          </p:cNvSpPr>
          <p:nvPr/>
        </p:nvSpPr>
        <p:spPr>
          <a:xfrm xmlns:a="http://schemas.openxmlformats.org/drawingml/2006/main">
            <a:off x="8302752" y="3337560"/>
            <a:ext cx="2825496"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200"/>
              <a:buFont typeface="Arial"/>
              <a:buNone/>
            </a:pPr>
            <a:r>
              <a:rPr sz="1200" b="1">
                <a:solidFill>
                  <a:srgbClr val="E22B27"/>
                </a:solidFill>
                <a:latin typeface="Arial"/>
                <a:ea typeface="Arial"/>
                <a:cs typeface="Arial"/>
              </a:rPr>
              <a:t>DATA PROJECT</a:t>
            </a:r>
          </a:p>
        </p:txBody>
      </p:sp>
      <p:sp>
        <p:nvSpPr>
          <p:cNvPr id="169" name="Google Shape;169;p10">
            <a:extLst xmlns:a="http://schemas.openxmlformats.org/drawingml/2006/main">
              <a:ext uri="{FF2B5EF4-FFF2-40B4-BE49-F238E27FC236}">
                <a16:creationId xmlns:a16="http://schemas.microsoft.com/office/drawing/2014/main" id="{40226BB3-1F8B-4DDD-9F8B-C8F83BD7EDD7}"/>
              </a:ext>
            </a:extLst>
          </p:cNvPr>
          <p:cNvSpPr>
            <a:spLocks xmlns:a="http://schemas.openxmlformats.org/drawingml/2006/main" noGrp="1"/>
          </p:cNvSpPr>
          <p:nvPr/>
        </p:nvSpPr>
        <p:spPr>
          <a:xfrm xmlns:a="http://schemas.openxmlformats.org/drawingml/2006/main">
            <a:off x="8302752" y="3703320"/>
            <a:ext cx="2825496" cy="126187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1800"/>
              <a:buFont typeface="Arial"/>
              <a:buNone/>
            </a:pPr>
            <a:r>
              <a:rPr sz="1800">
                <a:solidFill>
                  <a:srgbClr val="FFFFFF"/>
                </a:solidFill>
                <a:latin typeface="Arial"/>
                <a:ea typeface="Arial"/>
                <a:cs typeface="Arial"/>
              </a:rPr>
              <a:t>Connect the result to patterns, correlations, categories, model accuracy, or dataset limitations.</a:t>
            </a:r>
          </a:p>
        </p:txBody>
      </p:sp>
    </p:spTree>
    <p:extLst>
      <p:ext uri="{BB962C8B-B14F-4D97-AF65-F5344CB8AC3E}">
        <p14:creationId xmlns:p14="http://schemas.microsoft.com/office/powerpoint/2010/main" val="1552910000"/>
      </p:ext>
    </p:extLst>
  </p:cSld>
</p:sld>
</file>

<file path=ppt/slides/slide9.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175" name="Google Shape;175;p11">
            <a:extLst xmlns:a="http://schemas.openxmlformats.org/drawingml/2006/main">
              <a:ext uri="{FF2B5EF4-FFF2-40B4-BE49-F238E27FC236}">
                <a16:creationId xmlns:a16="http://schemas.microsoft.com/office/drawing/2014/main" id="{08C85FCF-B82E-4B07-9B35-B9F1FBF64137}"/>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76" name="Google Shape;176;p11">
            <a:extLst xmlns:a="http://schemas.openxmlformats.org/drawingml/2006/main">
              <a:ext uri="{FF2B5EF4-FFF2-40B4-BE49-F238E27FC236}">
                <a16:creationId xmlns:a16="http://schemas.microsoft.com/office/drawing/2014/main" id="{C14FA356-555B-4FFF-9833-AB598B738EEB}"/>
              </a:ext>
            </a:extLst>
          </p:cNvPr>
          <p:cNvSpPr>
            <a:spLocks xmlns:a="http://schemas.openxmlformats.org/drawingml/2006/main" noGrp="1"/>
          </p:cNvSpPr>
          <p:nvPr/>
        </p:nvSpPr>
        <p:spPr>
          <a:xfrm xmlns:a="http://schemas.openxmlformats.org/drawingml/2006/main">
            <a:off x="0" y="164592"/>
            <a:ext cx="12191695" cy="7315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77" name="Google Shape;177;p11">
            <a:extLst xmlns:a="http://schemas.openxmlformats.org/drawingml/2006/main">
              <a:ext uri="{FF2B5EF4-FFF2-40B4-BE49-F238E27FC236}">
                <a16:creationId xmlns:a16="http://schemas.microsoft.com/office/drawing/2014/main" id="{C03DFCEB-FC82-4B3B-9723-BDC9292C2710}"/>
              </a:ext>
            </a:extLst>
          </p:cNvPr>
          <p:cNvSpPr>
            <a:spLocks xmlns:a="http://schemas.openxmlformats.org/drawingml/2006/main" noGrp="1"/>
          </p:cNvSpPr>
          <p:nvPr/>
        </p:nvSpPr>
        <p:spPr>
          <a:xfrm xmlns:a="http://schemas.openxmlformats.org/drawingml/2006/main">
            <a:off x="0" y="6729984"/>
            <a:ext cx="12191695" cy="54864"/>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78" name="Google Shape;178;p11">
            <a:extLst xmlns:a="http://schemas.openxmlformats.org/drawingml/2006/main">
              <a:ext uri="{FF2B5EF4-FFF2-40B4-BE49-F238E27FC236}">
                <a16:creationId xmlns:a16="http://schemas.microsoft.com/office/drawing/2014/main" id="{24DD1E16-60E7-4B99-A926-B12FE73FF1BE}"/>
              </a:ext>
            </a:extLst>
          </p:cNvPr>
          <p:cNvSpPr>
            <a:spLocks xmlns:a="http://schemas.openxmlformats.org/drawingml/2006/main" noGrp="1"/>
          </p:cNvSpPr>
          <p:nvPr/>
        </p:nvSpPr>
        <p:spPr>
          <a:xfrm xmlns:a="http://schemas.openxmlformats.org/drawingml/2006/main">
            <a:off x="411480" y="6236208"/>
            <a:ext cx="420624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000"/>
              <a:buFont typeface="Arial"/>
              <a:buNone/>
            </a:pPr>
            <a:r>
              <a:rPr sz="1000" b="1">
                <a:solidFill>
                  <a:srgbClr val="B8B8B8"/>
                </a:solidFill>
                <a:latin typeface="Arial"/>
                <a:ea typeface="Arial"/>
                <a:cs typeface="Arial"/>
              </a:rPr>
              <a:t>SCIENTIFIC REPORTING</a:t>
            </a:r>
          </a:p>
        </p:txBody>
      </p:sp>
      <p:sp>
        <p:nvSpPr>
          <p:cNvPr id="179" name="Google Shape;179;p11">
            <a:extLst xmlns:a="http://schemas.openxmlformats.org/drawingml/2006/main">
              <a:ext uri="{FF2B5EF4-FFF2-40B4-BE49-F238E27FC236}">
                <a16:creationId xmlns:a16="http://schemas.microsoft.com/office/drawing/2014/main" id="{D45A5D73-A260-43B5-891C-EA323C08CA77}"/>
              </a:ext>
            </a:extLst>
          </p:cNvPr>
          <p:cNvSpPr>
            <a:spLocks xmlns:a="http://schemas.openxmlformats.org/drawingml/2006/main" noGrp="1"/>
          </p:cNvSpPr>
          <p:nvPr/>
        </p:nvSpPr>
        <p:spPr>
          <a:xfrm xmlns:a="http://schemas.openxmlformats.org/drawingml/2006/main">
            <a:off x="10515600" y="6236208"/>
            <a:ext cx="123444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B8B8B8"/>
              </a:buClr>
              <a:buSzPts val="1000"/>
              <a:buFont typeface="Arial"/>
              <a:buNone/>
            </a:pPr>
            <a:r>
              <a:rPr sz="1000" b="1">
                <a:solidFill>
                  <a:srgbClr val="B8B8B8"/>
                </a:solidFill>
                <a:latin typeface="Arial"/>
                <a:ea typeface="Arial"/>
                <a:cs typeface="Arial"/>
              </a:rPr>
              <a:t>STARLAB</a:t>
            </a:r>
          </a:p>
        </p:txBody>
      </p:sp>
      <p:sp>
        <p:nvSpPr>
          <p:cNvPr id="180" name="Google Shape;180;p11">
            <a:extLst xmlns:a="http://schemas.openxmlformats.org/drawingml/2006/main">
              <a:ext uri="{FF2B5EF4-FFF2-40B4-BE49-F238E27FC236}">
                <a16:creationId xmlns:a16="http://schemas.microsoft.com/office/drawing/2014/main" id="{20FAAD24-1077-42C0-9E7E-FACEECC66F26}"/>
              </a:ext>
            </a:extLst>
          </p:cNvPr>
          <p:cNvSpPr>
            <a:spLocks xmlns:a="http://schemas.openxmlformats.org/drawingml/2006/main" noGrp="1"/>
          </p:cNvSpPr>
          <p:nvPr/>
        </p:nvSpPr>
        <p:spPr>
          <a:xfrm xmlns:a="http://schemas.openxmlformats.org/drawingml/2006/main">
            <a:off x="10195560" y="384048"/>
            <a:ext cx="1325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E22B27"/>
              </a:buClr>
              <a:buSzPts val="1100"/>
              <a:buFont typeface="Arial"/>
              <a:buNone/>
            </a:pPr>
            <a:r>
              <a:rPr sz="1100" b="1">
                <a:solidFill>
                  <a:srgbClr val="E22B27"/>
                </a:solidFill>
                <a:latin typeface="Arial"/>
                <a:ea typeface="Arial"/>
                <a:cs typeface="Arial"/>
              </a:rPr>
              <a:t>DECK 14</a:t>
            </a:r>
          </a:p>
        </p:txBody>
      </p:sp>
      <p:sp>
        <p:nvSpPr>
          <p:cNvPr id="181" name="Google Shape;181;p11">
            <a:extLst xmlns:a="http://schemas.openxmlformats.org/drawingml/2006/main">
              <a:ext uri="{FF2B5EF4-FFF2-40B4-BE49-F238E27FC236}">
                <a16:creationId xmlns:a16="http://schemas.microsoft.com/office/drawing/2014/main" id="{ECD9B223-C6CF-4129-A9FE-B60F782B2985}"/>
              </a:ext>
            </a:extLst>
          </p:cNvPr>
          <p:cNvSpPr>
            <a:spLocks xmlns:a="http://schemas.openxmlformats.org/drawingml/2006/main" noGrp="1"/>
          </p:cNvSpPr>
          <p:nvPr/>
        </p:nvSpPr>
        <p:spPr>
          <a:xfrm xmlns:a="http://schemas.openxmlformats.org/drawingml/2006/main">
            <a:off x="685800" y="694944"/>
            <a:ext cx="9829800" cy="49377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700"/>
              <a:buFont typeface="Play"/>
              <a:buNone/>
            </a:pPr>
            <a:r>
              <a:rPr sz="2700" b="1">
                <a:solidFill>
                  <a:srgbClr val="FFFFFF"/>
                </a:solidFill>
                <a:latin typeface="Play"/>
                <a:ea typeface="Play"/>
                <a:cs typeface="Play"/>
              </a:rPr>
              <a:t>Discuss the Hypothesis or Design Criteria</a:t>
            </a:r>
          </a:p>
        </p:txBody>
      </p:sp>
      <p:sp>
        <p:nvSpPr>
          <p:cNvPr id="182" name="Google Shape;182;p11">
            <a:extLst xmlns:a="http://schemas.openxmlformats.org/drawingml/2006/main">
              <a:ext uri="{FF2B5EF4-FFF2-40B4-BE49-F238E27FC236}">
                <a16:creationId xmlns:a16="http://schemas.microsoft.com/office/drawing/2014/main" id="{9BCAE195-5224-427A-B116-2F12F4D285BF}"/>
              </a:ext>
            </a:extLst>
          </p:cNvPr>
          <p:cNvSpPr>
            <a:spLocks xmlns:a="http://schemas.openxmlformats.org/drawingml/2006/main" noGrp="1"/>
          </p:cNvSpPr>
          <p:nvPr/>
        </p:nvSpPr>
        <p:spPr>
          <a:xfrm xmlns:a="http://schemas.openxmlformats.org/drawingml/2006/main">
            <a:off x="694944" y="1271016"/>
            <a:ext cx="9875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200"/>
              <a:buFont typeface="Arial"/>
              <a:buNone/>
            </a:pPr>
            <a:r>
              <a:rPr sz="1200">
                <a:solidFill>
                  <a:srgbClr val="B8B8B8"/>
                </a:solidFill>
                <a:latin typeface="Arial"/>
                <a:ea typeface="Arial"/>
                <a:cs typeface="Arial"/>
              </a:rPr>
              <a:t>The discussion must return to the original purpose.</a:t>
            </a:r>
          </a:p>
        </p:txBody>
      </p:sp>
      <p:cxnSp>
        <p:nvCxnSpPr>
          <p:cNvPr id="201" name="Google Shape;183;p11"/>
          <p:cNvCxnSpPr/>
          <p:nvPr/>
        </p:nvCxnSpPr>
        <p:spPr>
          <a:xfrm xmlns:a="http://schemas.openxmlformats.org/drawingml/2006/main">
            <a:off x="685800" y="1591056"/>
            <a:ext cx="10789920" cy="0"/>
          </a:xfrm>
          <a:prstGeom xmlns:a="http://schemas.openxmlformats.org/drawingml/2006/main" prst="straightConnector1">
            <a:avLst/>
          </a:prstGeom>
          <a:ln xmlns:a="http://schemas.openxmlformats.org/drawingml/2006/main" w="16500" cap="flat">
            <a:solidFill>
              <a:srgbClr val="E22B27"/>
            </a:solidFill>
            <a:prstDash val="solid"/>
            <a:round/>
            <a:headEnd type="none" w="sm" len="sm"/>
            <a:tailEnd type="none" w="sm" len="sm"/>
          </a:ln>
        </p:spPr>
      </p:cxnSp>
      <p:sp>
        <p:nvSpPr>
          <p:cNvPr id="184" name="Google Shape;184;p11">
            <a:extLst xmlns:a="http://schemas.openxmlformats.org/drawingml/2006/main">
              <a:ext uri="{FF2B5EF4-FFF2-40B4-BE49-F238E27FC236}">
                <a16:creationId xmlns:a16="http://schemas.microsoft.com/office/drawing/2014/main" id="{D1C65A76-08C8-48E9-A1DE-4713839A9A38}"/>
              </a:ext>
            </a:extLst>
          </p:cNvPr>
          <p:cNvSpPr>
            <a:spLocks xmlns:a="http://schemas.openxmlformats.org/drawingml/2006/main" noGrp="1"/>
          </p:cNvSpPr>
          <p:nvPr/>
        </p:nvSpPr>
        <p:spPr>
          <a:xfrm xmlns:a="http://schemas.openxmlformats.org/drawingml/2006/main">
            <a:off x="914400" y="1828800"/>
            <a:ext cx="3246120" cy="3108960"/>
          </a:xfrm>
          <a:prstGeom xmlns:a="http://schemas.openxmlformats.org/drawingml/2006/main" prst="roundRect">
            <a:avLst>
              <a:gd name="adj" fmla="val 1765"/>
            </a:avLst>
          </a:prstGeom>
          <a:solidFill xmlns:a="http://schemas.openxmlformats.org/drawingml/2006/main">
            <a:srgbClr val="101010"/>
          </a:solidFill>
          <a:ln xmlns:a="http://schemas.openxmlformats.org/drawingml/2006/main" w="12700" cmpd="sng">
            <a:solidFill>
              <a:srgbClr val="44444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85" name="Google Shape;185;p11">
            <a:extLst xmlns:a="http://schemas.openxmlformats.org/drawingml/2006/main">
              <a:ext uri="{FF2B5EF4-FFF2-40B4-BE49-F238E27FC236}">
                <a16:creationId xmlns:a16="http://schemas.microsoft.com/office/drawing/2014/main" id="{3F449DAB-B9CC-4CFD-BF04-A4A74CF3131E}"/>
              </a:ext>
            </a:extLst>
          </p:cNvPr>
          <p:cNvSpPr>
            <a:spLocks xmlns:a="http://schemas.openxmlformats.org/drawingml/2006/main" noGrp="1"/>
          </p:cNvSpPr>
          <p:nvPr/>
        </p:nvSpPr>
        <p:spPr>
          <a:xfrm xmlns:a="http://schemas.openxmlformats.org/drawingml/2006/main">
            <a:off x="1078992" y="1965960"/>
            <a:ext cx="2916936"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200"/>
              <a:buFont typeface="Arial"/>
              <a:buNone/>
            </a:pPr>
            <a:r>
              <a:rPr sz="1200" b="1">
                <a:solidFill>
                  <a:srgbClr val="E22B27"/>
                </a:solidFill>
                <a:latin typeface="Arial"/>
                <a:ea typeface="Arial"/>
                <a:cs typeface="Arial"/>
              </a:rPr>
              <a:t>EXPERIMENT</a:t>
            </a:r>
          </a:p>
        </p:txBody>
      </p:sp>
      <p:sp>
        <p:nvSpPr>
          <p:cNvPr id="186" name="Google Shape;186;p11">
            <a:extLst xmlns:a="http://schemas.openxmlformats.org/drawingml/2006/main">
              <a:ext uri="{FF2B5EF4-FFF2-40B4-BE49-F238E27FC236}">
                <a16:creationId xmlns:a16="http://schemas.microsoft.com/office/drawing/2014/main" id="{F206F876-925C-4C9E-A524-B5C8F6821C6C}"/>
              </a:ext>
            </a:extLst>
          </p:cNvPr>
          <p:cNvSpPr>
            <a:spLocks xmlns:a="http://schemas.openxmlformats.org/drawingml/2006/main" noGrp="1"/>
          </p:cNvSpPr>
          <p:nvPr/>
        </p:nvSpPr>
        <p:spPr>
          <a:xfrm xmlns:a="http://schemas.openxmlformats.org/drawingml/2006/main">
            <a:off x="1078992" y="2331720"/>
            <a:ext cx="2916936" cy="2450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1900"/>
              <a:buFont typeface="Arial"/>
              <a:buNone/>
            </a:pPr>
            <a:r>
              <a:rPr sz="1900">
                <a:solidFill>
                  <a:srgbClr val="FFFFFF"/>
                </a:solidFill>
                <a:latin typeface="Arial"/>
                <a:ea typeface="Arial"/>
                <a:cs typeface="Arial"/>
              </a:rPr>
              <a:t>Was the hypothesis supported, partially supported, or not supported? What evidence supports that judgment?</a:t>
            </a:r>
          </a:p>
        </p:txBody>
      </p:sp>
      <p:sp>
        <p:nvSpPr>
          <p:cNvPr id="187" name="Google Shape;187;p11">
            <a:extLst xmlns:a="http://schemas.openxmlformats.org/drawingml/2006/main">
              <a:ext uri="{FF2B5EF4-FFF2-40B4-BE49-F238E27FC236}">
                <a16:creationId xmlns:a16="http://schemas.microsoft.com/office/drawing/2014/main" id="{6E30AAF6-E90D-4659-9E4F-A14DBBB34A96}"/>
              </a:ext>
            </a:extLst>
          </p:cNvPr>
          <p:cNvSpPr>
            <a:spLocks xmlns:a="http://schemas.openxmlformats.org/drawingml/2006/main" noGrp="1"/>
          </p:cNvSpPr>
          <p:nvPr/>
        </p:nvSpPr>
        <p:spPr>
          <a:xfrm xmlns:a="http://schemas.openxmlformats.org/drawingml/2006/main">
            <a:off x="4480560" y="1828800"/>
            <a:ext cx="3246120" cy="3108960"/>
          </a:xfrm>
          <a:prstGeom xmlns:a="http://schemas.openxmlformats.org/drawingml/2006/main" prst="roundRect">
            <a:avLst>
              <a:gd name="adj" fmla="val 1765"/>
            </a:avLst>
          </a:prstGeom>
          <a:solidFill xmlns:a="http://schemas.openxmlformats.org/drawingml/2006/main">
            <a:srgbClr val="101010"/>
          </a:solidFill>
          <a:ln xmlns:a="http://schemas.openxmlformats.org/drawingml/2006/main" w="12700" cmpd="sng">
            <a:solidFill>
              <a:srgbClr val="44444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88" name="Google Shape;188;p11">
            <a:extLst xmlns:a="http://schemas.openxmlformats.org/drawingml/2006/main">
              <a:ext uri="{FF2B5EF4-FFF2-40B4-BE49-F238E27FC236}">
                <a16:creationId xmlns:a16="http://schemas.microsoft.com/office/drawing/2014/main" id="{A1131AF2-3738-40C1-B852-D089255EFF80}"/>
              </a:ext>
            </a:extLst>
          </p:cNvPr>
          <p:cNvSpPr>
            <a:spLocks xmlns:a="http://schemas.openxmlformats.org/drawingml/2006/main" noGrp="1"/>
          </p:cNvSpPr>
          <p:nvPr/>
        </p:nvSpPr>
        <p:spPr>
          <a:xfrm xmlns:a="http://schemas.openxmlformats.org/drawingml/2006/main">
            <a:off x="4645152" y="1965960"/>
            <a:ext cx="2916936"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200"/>
              <a:buFont typeface="Arial"/>
              <a:buNone/>
            </a:pPr>
            <a:r>
              <a:rPr sz="1200" b="1">
                <a:solidFill>
                  <a:srgbClr val="E22B27"/>
                </a:solidFill>
                <a:latin typeface="Arial"/>
                <a:ea typeface="Arial"/>
                <a:cs typeface="Arial"/>
              </a:rPr>
              <a:t>ENGINEERING</a:t>
            </a:r>
          </a:p>
        </p:txBody>
      </p:sp>
      <p:sp>
        <p:nvSpPr>
          <p:cNvPr id="189" name="Google Shape;189;p11">
            <a:extLst xmlns:a="http://schemas.openxmlformats.org/drawingml/2006/main">
              <a:ext uri="{FF2B5EF4-FFF2-40B4-BE49-F238E27FC236}">
                <a16:creationId xmlns:a16="http://schemas.microsoft.com/office/drawing/2014/main" id="{1643CA25-65E3-4988-A368-AD3F666BD636}"/>
              </a:ext>
            </a:extLst>
          </p:cNvPr>
          <p:cNvSpPr>
            <a:spLocks xmlns:a="http://schemas.openxmlformats.org/drawingml/2006/main" noGrp="1"/>
          </p:cNvSpPr>
          <p:nvPr/>
        </p:nvSpPr>
        <p:spPr>
          <a:xfrm xmlns:a="http://schemas.openxmlformats.org/drawingml/2006/main">
            <a:off x="4645152" y="2331720"/>
            <a:ext cx="2916936" cy="2450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1900"/>
              <a:buFont typeface="Arial"/>
              <a:buNone/>
            </a:pPr>
            <a:r>
              <a:rPr sz="1900">
                <a:solidFill>
                  <a:srgbClr val="FFFFFF"/>
                </a:solidFill>
                <a:latin typeface="Arial"/>
                <a:ea typeface="Arial"/>
                <a:cs typeface="Arial"/>
              </a:rPr>
              <a:t>Were the design criteria met? Which prototype performed best? What tradeoffs appeared?</a:t>
            </a:r>
          </a:p>
        </p:txBody>
      </p:sp>
      <p:sp>
        <p:nvSpPr>
          <p:cNvPr id="190" name="Google Shape;190;p11">
            <a:extLst xmlns:a="http://schemas.openxmlformats.org/drawingml/2006/main">
              <a:ext uri="{FF2B5EF4-FFF2-40B4-BE49-F238E27FC236}">
                <a16:creationId xmlns:a16="http://schemas.microsoft.com/office/drawing/2014/main" id="{5D4C1EE3-9453-4A5A-97DC-0660FCA2CADC}"/>
              </a:ext>
            </a:extLst>
          </p:cNvPr>
          <p:cNvSpPr>
            <a:spLocks xmlns:a="http://schemas.openxmlformats.org/drawingml/2006/main" noGrp="1"/>
          </p:cNvSpPr>
          <p:nvPr/>
        </p:nvSpPr>
        <p:spPr>
          <a:xfrm xmlns:a="http://schemas.openxmlformats.org/drawingml/2006/main">
            <a:off x="8046720" y="1828800"/>
            <a:ext cx="3246120" cy="3108960"/>
          </a:xfrm>
          <a:prstGeom xmlns:a="http://schemas.openxmlformats.org/drawingml/2006/main" prst="roundRect">
            <a:avLst>
              <a:gd name="adj" fmla="val 1765"/>
            </a:avLst>
          </a:prstGeom>
          <a:solidFill xmlns:a="http://schemas.openxmlformats.org/drawingml/2006/main">
            <a:srgbClr val="101010"/>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91" name="Google Shape;191;p11">
            <a:extLst xmlns:a="http://schemas.openxmlformats.org/drawingml/2006/main">
              <a:ext uri="{FF2B5EF4-FFF2-40B4-BE49-F238E27FC236}">
                <a16:creationId xmlns:a16="http://schemas.microsoft.com/office/drawing/2014/main" id="{E34101D2-332D-447D-8257-A3A004FF7BD0}"/>
              </a:ext>
            </a:extLst>
          </p:cNvPr>
          <p:cNvSpPr>
            <a:spLocks xmlns:a="http://schemas.openxmlformats.org/drawingml/2006/main" noGrp="1"/>
          </p:cNvSpPr>
          <p:nvPr/>
        </p:nvSpPr>
        <p:spPr>
          <a:xfrm xmlns:a="http://schemas.openxmlformats.org/drawingml/2006/main">
            <a:off x="8211312" y="1965960"/>
            <a:ext cx="2916936"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200"/>
              <a:buFont typeface="Arial"/>
              <a:buNone/>
            </a:pPr>
            <a:r>
              <a:rPr sz="1200" b="1">
                <a:solidFill>
                  <a:srgbClr val="E22B27"/>
                </a:solidFill>
                <a:latin typeface="Arial"/>
                <a:ea typeface="Arial"/>
                <a:cs typeface="Arial"/>
              </a:rPr>
              <a:t>DATA / OBSERVATION</a:t>
            </a:r>
          </a:p>
        </p:txBody>
      </p:sp>
      <p:sp>
        <p:nvSpPr>
          <p:cNvPr id="192" name="Google Shape;192;p11">
            <a:extLst xmlns:a="http://schemas.openxmlformats.org/drawingml/2006/main">
              <a:ext uri="{FF2B5EF4-FFF2-40B4-BE49-F238E27FC236}">
                <a16:creationId xmlns:a16="http://schemas.microsoft.com/office/drawing/2014/main" id="{69F1F14C-99E4-48C5-853A-2604E4D47F93}"/>
              </a:ext>
            </a:extLst>
          </p:cNvPr>
          <p:cNvSpPr>
            <a:spLocks xmlns:a="http://schemas.openxmlformats.org/drawingml/2006/main" noGrp="1"/>
          </p:cNvSpPr>
          <p:nvPr/>
        </p:nvSpPr>
        <p:spPr>
          <a:xfrm xmlns:a="http://schemas.openxmlformats.org/drawingml/2006/main">
            <a:off x="8211312" y="2331720"/>
            <a:ext cx="2916936" cy="2450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1900"/>
              <a:buFont typeface="Arial"/>
              <a:buNone/>
            </a:pPr>
            <a:r>
              <a:rPr sz="1900">
                <a:solidFill>
                  <a:srgbClr val="FFFFFF"/>
                </a:solidFill>
                <a:latin typeface="Arial"/>
                <a:ea typeface="Arial"/>
                <a:cs typeface="Arial"/>
              </a:rPr>
              <a:t>What pattern, relationship, or comparison appeared? How strong is the evidence?</a:t>
            </a:r>
          </a:p>
        </p:txBody>
      </p:sp>
    </p:spTree>
    <p:extLst>
      <p:ext uri="{BB962C8B-B14F-4D97-AF65-F5344CB8AC3E}">
        <p14:creationId xmlns:p14="http://schemas.microsoft.com/office/powerpoint/2010/main" val="1694724167"/>
      </p:ext>
    </p:extLst>
  </p:cSld>
</p:sld>
</file>

<file path=ppt/slides/slide10.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198" name="Google Shape;198;p12">
            <a:extLst xmlns:a="http://schemas.openxmlformats.org/drawingml/2006/main">
              <a:ext uri="{FF2B5EF4-FFF2-40B4-BE49-F238E27FC236}">
                <a16:creationId xmlns:a16="http://schemas.microsoft.com/office/drawing/2014/main" id="{E088C848-3A9D-4737-8DD1-37100B1CC179}"/>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99" name="Google Shape;199;p12">
            <a:extLst xmlns:a="http://schemas.openxmlformats.org/drawingml/2006/main">
              <a:ext uri="{FF2B5EF4-FFF2-40B4-BE49-F238E27FC236}">
                <a16:creationId xmlns:a16="http://schemas.microsoft.com/office/drawing/2014/main" id="{A18EDB25-1872-44DF-A636-7D1F87B98A03}"/>
              </a:ext>
            </a:extLst>
          </p:cNvPr>
          <p:cNvSpPr>
            <a:spLocks xmlns:a="http://schemas.openxmlformats.org/drawingml/2006/main" noGrp="1"/>
          </p:cNvSpPr>
          <p:nvPr/>
        </p:nvSpPr>
        <p:spPr>
          <a:xfrm xmlns:a="http://schemas.openxmlformats.org/drawingml/2006/main">
            <a:off x="0" y="164592"/>
            <a:ext cx="12191695" cy="7315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00" name="Google Shape;200;p12">
            <a:extLst xmlns:a="http://schemas.openxmlformats.org/drawingml/2006/main">
              <a:ext uri="{FF2B5EF4-FFF2-40B4-BE49-F238E27FC236}">
                <a16:creationId xmlns:a16="http://schemas.microsoft.com/office/drawing/2014/main" id="{19F29C3D-8B44-46D8-B9D7-F4633876A29F}"/>
              </a:ext>
            </a:extLst>
          </p:cNvPr>
          <p:cNvSpPr>
            <a:spLocks xmlns:a="http://schemas.openxmlformats.org/drawingml/2006/main" noGrp="1"/>
          </p:cNvSpPr>
          <p:nvPr/>
        </p:nvSpPr>
        <p:spPr>
          <a:xfrm xmlns:a="http://schemas.openxmlformats.org/drawingml/2006/main">
            <a:off x="0" y="6729984"/>
            <a:ext cx="12191695" cy="54864"/>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01" name="Google Shape;201;p12">
            <a:extLst xmlns:a="http://schemas.openxmlformats.org/drawingml/2006/main">
              <a:ext uri="{FF2B5EF4-FFF2-40B4-BE49-F238E27FC236}">
                <a16:creationId xmlns:a16="http://schemas.microsoft.com/office/drawing/2014/main" id="{647AC5C9-C1F3-4306-BE16-F7031CD1126F}"/>
              </a:ext>
            </a:extLst>
          </p:cNvPr>
          <p:cNvSpPr>
            <a:spLocks xmlns:a="http://schemas.openxmlformats.org/drawingml/2006/main" noGrp="1"/>
          </p:cNvSpPr>
          <p:nvPr/>
        </p:nvSpPr>
        <p:spPr>
          <a:xfrm xmlns:a="http://schemas.openxmlformats.org/drawingml/2006/main">
            <a:off x="411480" y="6236208"/>
            <a:ext cx="420624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000"/>
              <a:buFont typeface="Arial"/>
              <a:buNone/>
            </a:pPr>
            <a:r>
              <a:rPr sz="1000" b="1">
                <a:solidFill>
                  <a:srgbClr val="B8B8B8"/>
                </a:solidFill>
                <a:latin typeface="Arial"/>
                <a:ea typeface="Arial"/>
                <a:cs typeface="Arial"/>
              </a:rPr>
              <a:t>SCIENTIFIC REPORTING</a:t>
            </a:r>
          </a:p>
        </p:txBody>
      </p:sp>
      <p:sp>
        <p:nvSpPr>
          <p:cNvPr id="202" name="Google Shape;202;p12">
            <a:extLst xmlns:a="http://schemas.openxmlformats.org/drawingml/2006/main">
              <a:ext uri="{FF2B5EF4-FFF2-40B4-BE49-F238E27FC236}">
                <a16:creationId xmlns:a16="http://schemas.microsoft.com/office/drawing/2014/main" id="{0685E41D-0BD6-4EB7-B8F4-4DD89958FA46}"/>
              </a:ext>
            </a:extLst>
          </p:cNvPr>
          <p:cNvSpPr>
            <a:spLocks xmlns:a="http://schemas.openxmlformats.org/drawingml/2006/main" noGrp="1"/>
          </p:cNvSpPr>
          <p:nvPr/>
        </p:nvSpPr>
        <p:spPr>
          <a:xfrm xmlns:a="http://schemas.openxmlformats.org/drawingml/2006/main">
            <a:off x="10515600" y="6236208"/>
            <a:ext cx="123444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B8B8B8"/>
              </a:buClr>
              <a:buSzPts val="1000"/>
              <a:buFont typeface="Arial"/>
              <a:buNone/>
            </a:pPr>
            <a:r>
              <a:rPr sz="1000" b="1">
                <a:solidFill>
                  <a:srgbClr val="B8B8B8"/>
                </a:solidFill>
                <a:latin typeface="Arial"/>
                <a:ea typeface="Arial"/>
                <a:cs typeface="Arial"/>
              </a:rPr>
              <a:t>STARLAB</a:t>
            </a:r>
          </a:p>
        </p:txBody>
      </p:sp>
      <p:sp>
        <p:nvSpPr>
          <p:cNvPr id="203" name="Google Shape;203;p12">
            <a:extLst xmlns:a="http://schemas.openxmlformats.org/drawingml/2006/main">
              <a:ext uri="{FF2B5EF4-FFF2-40B4-BE49-F238E27FC236}">
                <a16:creationId xmlns:a16="http://schemas.microsoft.com/office/drawing/2014/main" id="{7F71E010-CF2F-4386-8F9F-ED74BFC6BC23}"/>
              </a:ext>
            </a:extLst>
          </p:cNvPr>
          <p:cNvSpPr>
            <a:spLocks xmlns:a="http://schemas.openxmlformats.org/drawingml/2006/main" noGrp="1"/>
          </p:cNvSpPr>
          <p:nvPr/>
        </p:nvSpPr>
        <p:spPr>
          <a:xfrm xmlns:a="http://schemas.openxmlformats.org/drawingml/2006/main">
            <a:off x="10195560" y="384048"/>
            <a:ext cx="1325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E22B27"/>
              </a:buClr>
              <a:buSzPts val="1100"/>
              <a:buFont typeface="Arial"/>
              <a:buNone/>
            </a:pPr>
            <a:r>
              <a:rPr sz="1100" b="1">
                <a:solidFill>
                  <a:srgbClr val="E22B27"/>
                </a:solidFill>
                <a:latin typeface="Arial"/>
                <a:ea typeface="Arial"/>
                <a:cs typeface="Arial"/>
              </a:rPr>
              <a:t>DECK 14</a:t>
            </a:r>
          </a:p>
        </p:txBody>
      </p:sp>
      <p:sp>
        <p:nvSpPr>
          <p:cNvPr id="204" name="Google Shape;204;p12">
            <a:extLst xmlns:a="http://schemas.openxmlformats.org/drawingml/2006/main">
              <a:ext uri="{FF2B5EF4-FFF2-40B4-BE49-F238E27FC236}">
                <a16:creationId xmlns:a16="http://schemas.microsoft.com/office/drawing/2014/main" id="{B352E109-222D-4584-8D3E-FB9F433DDB6D}"/>
              </a:ext>
            </a:extLst>
          </p:cNvPr>
          <p:cNvSpPr>
            <a:spLocks xmlns:a="http://schemas.openxmlformats.org/drawingml/2006/main" noGrp="1"/>
          </p:cNvSpPr>
          <p:nvPr/>
        </p:nvSpPr>
        <p:spPr>
          <a:xfrm xmlns:a="http://schemas.openxmlformats.org/drawingml/2006/main">
            <a:off x="685800" y="694944"/>
            <a:ext cx="9829800" cy="49377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700"/>
              <a:buFont typeface="Play"/>
              <a:buNone/>
            </a:pPr>
            <a:r>
              <a:rPr sz="2700" b="1">
                <a:solidFill>
                  <a:srgbClr val="FFFFFF"/>
                </a:solidFill>
                <a:latin typeface="Play"/>
                <a:ea typeface="Play"/>
                <a:cs typeface="Play"/>
              </a:rPr>
              <a:t>Limitations Strengthen the Discussion</a:t>
            </a:r>
          </a:p>
        </p:txBody>
      </p:sp>
      <p:sp>
        <p:nvSpPr>
          <p:cNvPr id="205" name="Google Shape;205;p12">
            <a:extLst xmlns:a="http://schemas.openxmlformats.org/drawingml/2006/main">
              <a:ext uri="{FF2B5EF4-FFF2-40B4-BE49-F238E27FC236}">
                <a16:creationId xmlns:a16="http://schemas.microsoft.com/office/drawing/2014/main" id="{6311FDF5-2F2B-4E87-A121-1F9D331CA4E8}"/>
              </a:ext>
            </a:extLst>
          </p:cNvPr>
          <p:cNvSpPr>
            <a:spLocks xmlns:a="http://schemas.openxmlformats.org/drawingml/2006/main" noGrp="1"/>
          </p:cNvSpPr>
          <p:nvPr/>
        </p:nvSpPr>
        <p:spPr>
          <a:xfrm xmlns:a="http://schemas.openxmlformats.org/drawingml/2006/main">
            <a:off x="694944" y="1271016"/>
            <a:ext cx="9875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200"/>
              <a:buFont typeface="Arial"/>
              <a:buNone/>
            </a:pPr>
            <a:r>
              <a:rPr sz="1200">
                <a:solidFill>
                  <a:srgbClr val="B8B8B8"/>
                </a:solidFill>
                <a:latin typeface="Arial"/>
                <a:ea typeface="Arial"/>
                <a:cs typeface="Arial"/>
              </a:rPr>
              <a:t>Honest uncertainty makes the claim more credible.</a:t>
            </a:r>
          </a:p>
        </p:txBody>
      </p:sp>
      <p:cxnSp>
        <p:nvCxnSpPr>
          <p:cNvPr id="217" name="Google Shape;206;p12"/>
          <p:cNvCxnSpPr/>
          <p:nvPr/>
        </p:nvCxnSpPr>
        <p:spPr>
          <a:xfrm xmlns:a="http://schemas.openxmlformats.org/drawingml/2006/main">
            <a:off x="685800" y="1591056"/>
            <a:ext cx="10789920" cy="0"/>
          </a:xfrm>
          <a:prstGeom xmlns:a="http://schemas.openxmlformats.org/drawingml/2006/main" prst="straightConnector1">
            <a:avLst/>
          </a:prstGeom>
          <a:ln xmlns:a="http://schemas.openxmlformats.org/drawingml/2006/main" w="16500" cap="flat">
            <a:solidFill>
              <a:srgbClr val="E22B27"/>
            </a:solidFill>
            <a:prstDash val="solid"/>
            <a:round/>
            <a:headEnd type="none" w="sm" len="sm"/>
            <a:tailEnd type="none" w="sm" len="sm"/>
          </a:ln>
        </p:spPr>
      </p:cxnSp>
      <p:sp>
        <p:nvSpPr>
          <p:cNvPr id="207" name="Google Shape;207;p12">
            <a:extLst xmlns:a="http://schemas.openxmlformats.org/drawingml/2006/main">
              <a:ext uri="{FF2B5EF4-FFF2-40B4-BE49-F238E27FC236}">
                <a16:creationId xmlns:a16="http://schemas.microsoft.com/office/drawing/2014/main" id="{DEFE4F26-9521-4302-9806-4A8BC9F0A416}"/>
              </a:ext>
            </a:extLst>
          </p:cNvPr>
          <p:cNvSpPr>
            <a:spLocks xmlns:a="http://schemas.openxmlformats.org/drawingml/2006/main" noGrp="1"/>
          </p:cNvSpPr>
          <p:nvPr/>
        </p:nvSpPr>
        <p:spPr>
          <a:xfrm xmlns:a="http://schemas.openxmlformats.org/drawingml/2006/main">
            <a:off x="914400" y="1828800"/>
            <a:ext cx="10332720" cy="34747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1000" tIns="1000" rIns="1000" bIns="1000" anchor="ctr">
            <a:noAutofit/>
          </a:bodyPr>
          <a:lstStyle xmlns:a="http://schemas.openxmlformats.org/drawingml/2006/main"/>
          <a:p xmlns:a="http://schemas.openxmlformats.org/drawingml/2006/main">
            <a:pPr marL="0" marR="0" indent="0" algn="l">
              <a:spcBef>
                <a:spcPts val="0"/>
              </a:spcBef>
              <a:spcAft>
                <a:spcPts val="0"/>
              </a:spcAft>
              <a:buNone/>
            </a:pPr>
            <a:r>
              <a:rPr sz="2000">
                <a:solidFill>
                  <a:srgbClr val="FFFFFF"/>
                </a:solidFill>
                <a:latin typeface="Arial"/>
                <a:ea typeface="Arial"/>
                <a:cs typeface="Arial"/>
              </a:rPr>
              <a:t>A limitation is not an apology or a confession of failure.</a:t>
            </a:r>
          </a:p>
          <a:p xmlns:a="http://schemas.openxmlformats.org/drawingml/2006/main">
            <a:pPr marL="0" marR="0" indent="0" algn="l">
              <a:spcBef>
                <a:spcPts val="0"/>
              </a:spcBef>
              <a:spcAft>
                <a:spcPts val="0"/>
              </a:spcAft>
              <a:buNone/>
            </a:pPr>
            <a:r>
              <a:rPr sz="2000">
                <a:solidFill>
                  <a:srgbClr val="FFFFFF"/>
                </a:solidFill>
                <a:latin typeface="Arial"/>
                <a:ea typeface="Arial"/>
                <a:cs typeface="Arial"/>
              </a:rPr>
              <a:t>A limitation tells the reader how far the evidence can reasonably go.</a:t>
            </a:r>
          </a:p>
          <a:p xmlns:a="http://schemas.openxmlformats.org/drawingml/2006/main">
            <a:pPr marL="0" marR="0" indent="0" algn="l">
              <a:spcBef>
                <a:spcPts val="0"/>
              </a:spcBef>
              <a:spcAft>
                <a:spcPts val="0"/>
              </a:spcAft>
              <a:buNone/>
            </a:pPr>
            <a:r>
              <a:rPr sz="2000">
                <a:solidFill>
                  <a:srgbClr val="FFFFFF"/>
                </a:solidFill>
                <a:latin typeface="Arial"/>
                <a:ea typeface="Arial"/>
                <a:cs typeface="Arial"/>
              </a:rPr>
              <a:t>Useful limitations are specific: small sample size, measurement precision, uncontrolled variables, prototype inconsistency, missing data, time constraints.</a:t>
            </a:r>
          </a:p>
          <a:p xmlns:a="http://schemas.openxmlformats.org/drawingml/2006/main">
            <a:pPr marL="0" marR="0" indent="0" algn="l">
              <a:spcBef>
                <a:spcPts val="0"/>
              </a:spcBef>
              <a:spcAft>
                <a:spcPts val="0"/>
              </a:spcAft>
              <a:buNone/>
            </a:pPr>
            <a:r>
              <a:rPr sz="2000">
                <a:solidFill>
                  <a:srgbClr val="FFFFFF"/>
                </a:solidFill>
                <a:latin typeface="Arial"/>
                <a:ea typeface="Arial"/>
                <a:cs typeface="Arial"/>
              </a:rPr>
              <a:t>Avoid vague “human error” unless you explain the actual action and effect.</a:t>
            </a:r>
          </a:p>
        </p:txBody>
      </p:sp>
      <p:sp>
        <p:nvSpPr>
          <p:cNvPr id="208" name="Google Shape;208;p12">
            <a:extLst xmlns:a="http://schemas.openxmlformats.org/drawingml/2006/main">
              <a:ext uri="{FF2B5EF4-FFF2-40B4-BE49-F238E27FC236}">
                <a16:creationId xmlns:a16="http://schemas.microsoft.com/office/drawing/2014/main" id="{7A5BE5B4-D71E-4A34-A096-E253C1E4B10C}"/>
              </a:ext>
            </a:extLst>
          </p:cNvPr>
          <p:cNvSpPr>
            <a:spLocks xmlns:a="http://schemas.openxmlformats.org/drawingml/2006/main" noGrp="1"/>
          </p:cNvSpPr>
          <p:nvPr/>
        </p:nvSpPr>
        <p:spPr>
          <a:xfrm xmlns:a="http://schemas.openxmlformats.org/drawingml/2006/main">
            <a:off x="914400" y="5623560"/>
            <a:ext cx="1033272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spcBef>
                <a:spcPts val="0"/>
              </a:spcBef>
              <a:spcAft>
                <a:spcPts val="0"/>
              </a:spcAft>
              <a:buClr>
                <a:srgbClr val="E22B27"/>
              </a:buClr>
              <a:buSzPts val="2200"/>
              <a:buFont typeface="Play"/>
              <a:buNone/>
            </a:pPr>
            <a:r>
              <a:rPr sz="2200" b="1">
                <a:solidFill>
                  <a:srgbClr val="E22B27"/>
                </a:solidFill>
                <a:latin typeface="Play"/>
                <a:ea typeface="Play"/>
                <a:cs typeface="Play"/>
              </a:rPr>
              <a:t>Strong researchers explain both what the evidence shows and what it cannot show yet.</a:t>
            </a:r>
          </a:p>
        </p:txBody>
      </p:sp>
    </p:spTree>
    <p:extLst>
      <p:ext uri="{BB962C8B-B14F-4D97-AF65-F5344CB8AC3E}">
        <p14:creationId xmlns:p14="http://schemas.microsoft.com/office/powerpoint/2010/main" val="10845810"/>
      </p:ext>
    </p:extLst>
  </p:cSld>
</p:sld>
</file>

<file path=ppt/slides/slide11.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214" name="Google Shape;214;p13">
            <a:extLst xmlns:a="http://schemas.openxmlformats.org/drawingml/2006/main">
              <a:ext uri="{FF2B5EF4-FFF2-40B4-BE49-F238E27FC236}">
                <a16:creationId xmlns:a16="http://schemas.microsoft.com/office/drawing/2014/main" id="{F5C2D3CB-6C77-4B63-A8C0-BA8BD588E746}"/>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15" name="Google Shape;215;p13">
            <a:extLst xmlns:a="http://schemas.openxmlformats.org/drawingml/2006/main">
              <a:ext uri="{FF2B5EF4-FFF2-40B4-BE49-F238E27FC236}">
                <a16:creationId xmlns:a16="http://schemas.microsoft.com/office/drawing/2014/main" id="{16D28935-D94E-4A29-9E3B-3698B459F799}"/>
              </a:ext>
            </a:extLst>
          </p:cNvPr>
          <p:cNvSpPr>
            <a:spLocks xmlns:a="http://schemas.openxmlformats.org/drawingml/2006/main" noGrp="1"/>
          </p:cNvSpPr>
          <p:nvPr/>
        </p:nvSpPr>
        <p:spPr>
          <a:xfrm xmlns:a="http://schemas.openxmlformats.org/drawingml/2006/main">
            <a:off x="0" y="164592"/>
            <a:ext cx="12191695" cy="7315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16" name="Google Shape;216;p13">
            <a:extLst xmlns:a="http://schemas.openxmlformats.org/drawingml/2006/main">
              <a:ext uri="{FF2B5EF4-FFF2-40B4-BE49-F238E27FC236}">
                <a16:creationId xmlns:a16="http://schemas.microsoft.com/office/drawing/2014/main" id="{7C7EC2C2-A84E-4A6C-9B90-DF9677672DD0}"/>
              </a:ext>
            </a:extLst>
          </p:cNvPr>
          <p:cNvSpPr>
            <a:spLocks xmlns:a="http://schemas.openxmlformats.org/drawingml/2006/main" noGrp="1"/>
          </p:cNvSpPr>
          <p:nvPr/>
        </p:nvSpPr>
        <p:spPr>
          <a:xfrm xmlns:a="http://schemas.openxmlformats.org/drawingml/2006/main">
            <a:off x="0" y="6729984"/>
            <a:ext cx="12191695" cy="54864"/>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17" name="Google Shape;217;p13">
            <a:extLst xmlns:a="http://schemas.openxmlformats.org/drawingml/2006/main">
              <a:ext uri="{FF2B5EF4-FFF2-40B4-BE49-F238E27FC236}">
                <a16:creationId xmlns:a16="http://schemas.microsoft.com/office/drawing/2014/main" id="{DBB93C79-46E4-41D1-82A7-B210C374195E}"/>
              </a:ext>
            </a:extLst>
          </p:cNvPr>
          <p:cNvSpPr>
            <a:spLocks xmlns:a="http://schemas.openxmlformats.org/drawingml/2006/main" noGrp="1"/>
          </p:cNvSpPr>
          <p:nvPr/>
        </p:nvSpPr>
        <p:spPr>
          <a:xfrm xmlns:a="http://schemas.openxmlformats.org/drawingml/2006/main">
            <a:off x="411480" y="6236208"/>
            <a:ext cx="420624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000"/>
              <a:buFont typeface="Arial"/>
              <a:buNone/>
            </a:pPr>
            <a:r>
              <a:rPr sz="1000" b="1">
                <a:solidFill>
                  <a:srgbClr val="B8B8B8"/>
                </a:solidFill>
                <a:latin typeface="Arial"/>
                <a:ea typeface="Arial"/>
                <a:cs typeface="Arial"/>
              </a:rPr>
              <a:t>SCIENTIFIC REPORTING</a:t>
            </a:r>
          </a:p>
        </p:txBody>
      </p:sp>
      <p:sp>
        <p:nvSpPr>
          <p:cNvPr id="218" name="Google Shape;218;p13">
            <a:extLst xmlns:a="http://schemas.openxmlformats.org/drawingml/2006/main">
              <a:ext uri="{FF2B5EF4-FFF2-40B4-BE49-F238E27FC236}">
                <a16:creationId xmlns:a16="http://schemas.microsoft.com/office/drawing/2014/main" id="{838D2518-C1BE-470A-B0AA-0A63FD072974}"/>
              </a:ext>
            </a:extLst>
          </p:cNvPr>
          <p:cNvSpPr>
            <a:spLocks xmlns:a="http://schemas.openxmlformats.org/drawingml/2006/main" noGrp="1"/>
          </p:cNvSpPr>
          <p:nvPr/>
        </p:nvSpPr>
        <p:spPr>
          <a:xfrm xmlns:a="http://schemas.openxmlformats.org/drawingml/2006/main">
            <a:off x="10515600" y="6236208"/>
            <a:ext cx="123444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B8B8B8"/>
              </a:buClr>
              <a:buSzPts val="1000"/>
              <a:buFont typeface="Arial"/>
              <a:buNone/>
            </a:pPr>
            <a:r>
              <a:rPr sz="1000" b="1">
                <a:solidFill>
                  <a:srgbClr val="B8B8B8"/>
                </a:solidFill>
                <a:latin typeface="Arial"/>
                <a:ea typeface="Arial"/>
                <a:cs typeface="Arial"/>
              </a:rPr>
              <a:t>STARLAB</a:t>
            </a:r>
          </a:p>
        </p:txBody>
      </p:sp>
      <p:sp>
        <p:nvSpPr>
          <p:cNvPr id="219" name="Google Shape;219;p13">
            <a:extLst xmlns:a="http://schemas.openxmlformats.org/drawingml/2006/main">
              <a:ext uri="{FF2B5EF4-FFF2-40B4-BE49-F238E27FC236}">
                <a16:creationId xmlns:a16="http://schemas.microsoft.com/office/drawing/2014/main" id="{182BBAC9-7721-4E0A-B923-9D7B5EEDA599}"/>
              </a:ext>
            </a:extLst>
          </p:cNvPr>
          <p:cNvSpPr>
            <a:spLocks xmlns:a="http://schemas.openxmlformats.org/drawingml/2006/main" noGrp="1"/>
          </p:cNvSpPr>
          <p:nvPr/>
        </p:nvSpPr>
        <p:spPr>
          <a:xfrm xmlns:a="http://schemas.openxmlformats.org/drawingml/2006/main">
            <a:off x="10195560" y="384048"/>
            <a:ext cx="1325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E22B27"/>
              </a:buClr>
              <a:buSzPts val="1100"/>
              <a:buFont typeface="Arial"/>
              <a:buNone/>
            </a:pPr>
            <a:r>
              <a:rPr sz="1100" b="1">
                <a:solidFill>
                  <a:srgbClr val="E22B27"/>
                </a:solidFill>
                <a:latin typeface="Arial"/>
                <a:ea typeface="Arial"/>
                <a:cs typeface="Arial"/>
              </a:rPr>
              <a:t>DECK 14</a:t>
            </a:r>
          </a:p>
        </p:txBody>
      </p:sp>
      <p:sp>
        <p:nvSpPr>
          <p:cNvPr id="220" name="Google Shape;220;p13">
            <a:extLst xmlns:a="http://schemas.openxmlformats.org/drawingml/2006/main">
              <a:ext uri="{FF2B5EF4-FFF2-40B4-BE49-F238E27FC236}">
                <a16:creationId xmlns:a16="http://schemas.microsoft.com/office/drawing/2014/main" id="{7132B91B-D4A3-4334-AE9A-E790B5C9DED0}"/>
              </a:ext>
            </a:extLst>
          </p:cNvPr>
          <p:cNvSpPr>
            <a:spLocks xmlns:a="http://schemas.openxmlformats.org/drawingml/2006/main" noGrp="1"/>
          </p:cNvSpPr>
          <p:nvPr/>
        </p:nvSpPr>
        <p:spPr>
          <a:xfrm xmlns:a="http://schemas.openxmlformats.org/drawingml/2006/main">
            <a:off x="685800" y="694944"/>
            <a:ext cx="9829800" cy="49377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700"/>
              <a:buFont typeface="Play"/>
              <a:buNone/>
            </a:pPr>
            <a:r>
              <a:rPr sz="2700" b="1">
                <a:solidFill>
                  <a:srgbClr val="FFFFFF"/>
                </a:solidFill>
                <a:latin typeface="Play"/>
                <a:ea typeface="Play"/>
                <a:cs typeface="Play"/>
              </a:rPr>
              <a:t>Specific Limitation Language</a:t>
            </a:r>
          </a:p>
        </p:txBody>
      </p:sp>
      <p:sp>
        <p:nvSpPr>
          <p:cNvPr id="221" name="Google Shape;221;p13">
            <a:extLst xmlns:a="http://schemas.openxmlformats.org/drawingml/2006/main">
              <a:ext uri="{FF2B5EF4-FFF2-40B4-BE49-F238E27FC236}">
                <a16:creationId xmlns:a16="http://schemas.microsoft.com/office/drawing/2014/main" id="{CD4A64C2-EE16-4BE8-A0E5-C0599B17E6C7}"/>
              </a:ext>
            </a:extLst>
          </p:cNvPr>
          <p:cNvSpPr>
            <a:spLocks xmlns:a="http://schemas.openxmlformats.org/drawingml/2006/main" noGrp="1"/>
          </p:cNvSpPr>
          <p:nvPr/>
        </p:nvSpPr>
        <p:spPr>
          <a:xfrm xmlns:a="http://schemas.openxmlformats.org/drawingml/2006/main">
            <a:off x="694944" y="1271016"/>
            <a:ext cx="9875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200"/>
              <a:buFont typeface="Arial"/>
              <a:buNone/>
            </a:pPr>
            <a:r>
              <a:rPr sz="1200">
                <a:solidFill>
                  <a:srgbClr val="B8B8B8"/>
                </a:solidFill>
                <a:latin typeface="Arial"/>
                <a:ea typeface="Arial"/>
                <a:cs typeface="Arial"/>
              </a:rPr>
              <a:t>Name the limitation and explain the effect.</a:t>
            </a:r>
          </a:p>
        </p:txBody>
      </p:sp>
      <p:cxnSp>
        <p:nvCxnSpPr>
          <p:cNvPr id="237" name="Google Shape;222;p13"/>
          <p:cNvCxnSpPr/>
          <p:nvPr/>
        </p:nvCxnSpPr>
        <p:spPr>
          <a:xfrm xmlns:a="http://schemas.openxmlformats.org/drawingml/2006/main">
            <a:off x="685800" y="1591056"/>
            <a:ext cx="10789920" cy="0"/>
          </a:xfrm>
          <a:prstGeom xmlns:a="http://schemas.openxmlformats.org/drawingml/2006/main" prst="straightConnector1">
            <a:avLst/>
          </a:prstGeom>
          <a:ln xmlns:a="http://schemas.openxmlformats.org/drawingml/2006/main" w="16500" cap="flat">
            <a:solidFill>
              <a:srgbClr val="E22B27"/>
            </a:solidFill>
            <a:prstDash val="solid"/>
            <a:round/>
            <a:headEnd type="none" w="sm" len="sm"/>
            <a:tailEnd type="none" w="sm" len="sm"/>
          </a:ln>
        </p:spPr>
      </p:cxnSp>
      <p:sp>
        <p:nvSpPr>
          <p:cNvPr id="223" name="Google Shape;223;p13">
            <a:extLst xmlns:a="http://schemas.openxmlformats.org/drawingml/2006/main">
              <a:ext uri="{FF2B5EF4-FFF2-40B4-BE49-F238E27FC236}">
                <a16:creationId xmlns:a16="http://schemas.microsoft.com/office/drawing/2014/main" id="{7C8B93FF-1712-4842-975F-5C8D3D715187}"/>
              </a:ext>
            </a:extLst>
          </p:cNvPr>
          <p:cNvSpPr>
            <a:spLocks xmlns:a="http://schemas.openxmlformats.org/drawingml/2006/main" noGrp="1"/>
          </p:cNvSpPr>
          <p:nvPr/>
        </p:nvSpPr>
        <p:spPr>
          <a:xfrm xmlns:a="http://schemas.openxmlformats.org/drawingml/2006/main">
            <a:off x="914400" y="1828800"/>
            <a:ext cx="4892040" cy="3291840"/>
          </a:xfrm>
          <a:prstGeom xmlns:a="http://schemas.openxmlformats.org/drawingml/2006/main" prst="roundRect">
            <a:avLst>
              <a:gd name="adj" fmla="val 1667"/>
            </a:avLst>
          </a:prstGeom>
          <a:solidFill xmlns:a="http://schemas.openxmlformats.org/drawingml/2006/main">
            <a:srgbClr val="101010"/>
          </a:solidFill>
          <a:ln xmlns:a="http://schemas.openxmlformats.org/drawingml/2006/main" w="12700" cmpd="sng">
            <a:solidFill>
              <a:srgbClr val="44444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24" name="Google Shape;224;p13">
            <a:extLst xmlns:a="http://schemas.openxmlformats.org/drawingml/2006/main">
              <a:ext uri="{FF2B5EF4-FFF2-40B4-BE49-F238E27FC236}">
                <a16:creationId xmlns:a16="http://schemas.microsoft.com/office/drawing/2014/main" id="{12B49E1B-338C-4AD3-BC13-35D334E401EF}"/>
              </a:ext>
            </a:extLst>
          </p:cNvPr>
          <p:cNvSpPr>
            <a:spLocks xmlns:a="http://schemas.openxmlformats.org/drawingml/2006/main" noGrp="1"/>
          </p:cNvSpPr>
          <p:nvPr/>
        </p:nvSpPr>
        <p:spPr>
          <a:xfrm xmlns:a="http://schemas.openxmlformats.org/drawingml/2006/main">
            <a:off x="1078992" y="1965960"/>
            <a:ext cx="4562856"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200"/>
              <a:buFont typeface="Arial"/>
              <a:buNone/>
            </a:pPr>
            <a:r>
              <a:rPr sz="1200" b="1">
                <a:solidFill>
                  <a:srgbClr val="E22B27"/>
                </a:solidFill>
                <a:latin typeface="Arial"/>
                <a:ea typeface="Arial"/>
                <a:cs typeface="Arial"/>
              </a:rPr>
              <a:t>WEAK</a:t>
            </a:r>
          </a:p>
        </p:txBody>
      </p:sp>
      <p:sp>
        <p:nvSpPr>
          <p:cNvPr id="225" name="Google Shape;225;p13">
            <a:extLst xmlns:a="http://schemas.openxmlformats.org/drawingml/2006/main">
              <a:ext uri="{FF2B5EF4-FFF2-40B4-BE49-F238E27FC236}">
                <a16:creationId xmlns:a16="http://schemas.microsoft.com/office/drawing/2014/main" id="{6C8511E2-CECA-42B7-AE9E-56878B303378}"/>
              </a:ext>
            </a:extLst>
          </p:cNvPr>
          <p:cNvSpPr>
            <a:spLocks xmlns:a="http://schemas.openxmlformats.org/drawingml/2006/main" noGrp="1"/>
          </p:cNvSpPr>
          <p:nvPr/>
        </p:nvSpPr>
        <p:spPr>
          <a:xfrm xmlns:a="http://schemas.openxmlformats.org/drawingml/2006/main">
            <a:off x="1078992" y="2331720"/>
            <a:ext cx="4562856" cy="263347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200"/>
              <a:buFont typeface="Arial"/>
              <a:buNone/>
            </a:pPr>
            <a:r>
              <a:rPr sz="2200">
                <a:solidFill>
                  <a:srgbClr val="FFFFFF"/>
                </a:solidFill>
                <a:latin typeface="Arial"/>
                <a:ea typeface="Arial"/>
                <a:cs typeface="Arial"/>
              </a:rPr>
              <a:t>“There was human error.”</a:t>
            </a:r>
          </a:p>
          <a:p xmlns:a="http://schemas.openxmlformats.org/drawingml/2006/main">
            <a:pPr marL="0" marR="0" indent="0" algn="l">
              <a:spcBef>
                <a:spcPts val="0"/>
              </a:spcBef>
              <a:spcAft>
                <a:spcPts val="0"/>
              </a:spcAft>
              <a:buClr>
                <a:schemeClr val="dk1"/>
              </a:buClr>
              <a:buSzPts val="2200"/>
              <a:buFont typeface="Arial"/>
              <a:buNone/>
            </a:pPr>
            <a:r>
              <a:t/>
            </a:r>
          </a:p>
          <a:p xmlns:a="http://schemas.openxmlformats.org/drawingml/2006/main">
            <a:pPr marL="0" marR="0" indent="0" algn="l">
              <a:spcBef>
                <a:spcPts val="0"/>
              </a:spcBef>
              <a:spcAft>
                <a:spcPts val="0"/>
              </a:spcAft>
              <a:buClr>
                <a:srgbClr val="FFFFFF"/>
              </a:buClr>
              <a:buSzPts val="2200"/>
              <a:buFont typeface="Arial"/>
              <a:buNone/>
            </a:pPr>
            <a:r>
              <a:rPr sz="2200">
                <a:solidFill>
                  <a:srgbClr val="FFFFFF"/>
                </a:solidFill>
                <a:latin typeface="Arial"/>
                <a:ea typeface="Arial"/>
                <a:cs typeface="Arial"/>
              </a:rPr>
              <a:t>“There were some problems.”</a:t>
            </a:r>
          </a:p>
          <a:p xmlns:a="http://schemas.openxmlformats.org/drawingml/2006/main">
            <a:pPr marL="0" marR="0" indent="0" algn="l">
              <a:spcBef>
                <a:spcPts val="0"/>
              </a:spcBef>
              <a:spcAft>
                <a:spcPts val="0"/>
              </a:spcAft>
              <a:buClr>
                <a:schemeClr val="dk1"/>
              </a:buClr>
              <a:buSzPts val="2200"/>
              <a:buFont typeface="Arial"/>
              <a:buNone/>
            </a:pPr>
            <a:r>
              <a:t/>
            </a:r>
          </a:p>
          <a:p xmlns:a="http://schemas.openxmlformats.org/drawingml/2006/main">
            <a:pPr marL="0" marR="0" indent="0" algn="l">
              <a:spcBef>
                <a:spcPts val="0"/>
              </a:spcBef>
              <a:spcAft>
                <a:spcPts val="0"/>
              </a:spcAft>
              <a:buClr>
                <a:srgbClr val="FFFFFF"/>
              </a:buClr>
              <a:buSzPts val="2200"/>
              <a:buFont typeface="Arial"/>
              <a:buNone/>
            </a:pPr>
            <a:r>
              <a:rPr sz="2200">
                <a:solidFill>
                  <a:srgbClr val="FFFFFF"/>
                </a:solidFill>
                <a:latin typeface="Arial"/>
                <a:ea typeface="Arial"/>
                <a:cs typeface="Arial"/>
              </a:rPr>
              <a:t>“My data might be wrong.”</a:t>
            </a:r>
          </a:p>
        </p:txBody>
      </p:sp>
      <p:sp>
        <p:nvSpPr>
          <p:cNvPr id="226" name="Google Shape;226;p13">
            <a:extLst xmlns:a="http://schemas.openxmlformats.org/drawingml/2006/main">
              <a:ext uri="{FF2B5EF4-FFF2-40B4-BE49-F238E27FC236}">
                <a16:creationId xmlns:a16="http://schemas.microsoft.com/office/drawing/2014/main" id="{005B359A-2B54-4526-83CC-E900C1E50D66}"/>
              </a:ext>
            </a:extLst>
          </p:cNvPr>
          <p:cNvSpPr>
            <a:spLocks xmlns:a="http://schemas.openxmlformats.org/drawingml/2006/main" noGrp="1"/>
          </p:cNvSpPr>
          <p:nvPr/>
        </p:nvSpPr>
        <p:spPr>
          <a:xfrm xmlns:a="http://schemas.openxmlformats.org/drawingml/2006/main">
            <a:off x="6355080" y="1828800"/>
            <a:ext cx="4892040" cy="3291840"/>
          </a:xfrm>
          <a:prstGeom xmlns:a="http://schemas.openxmlformats.org/drawingml/2006/main" prst="roundRect">
            <a:avLst>
              <a:gd name="adj" fmla="val 1667"/>
            </a:avLst>
          </a:prstGeom>
          <a:solidFill xmlns:a="http://schemas.openxmlformats.org/drawingml/2006/main">
            <a:srgbClr val="101010"/>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27" name="Google Shape;227;p13">
            <a:extLst xmlns:a="http://schemas.openxmlformats.org/drawingml/2006/main">
              <a:ext uri="{FF2B5EF4-FFF2-40B4-BE49-F238E27FC236}">
                <a16:creationId xmlns:a16="http://schemas.microsoft.com/office/drawing/2014/main" id="{86EF088C-11AE-4467-828F-11AE6F06F777}"/>
              </a:ext>
            </a:extLst>
          </p:cNvPr>
          <p:cNvSpPr>
            <a:spLocks xmlns:a="http://schemas.openxmlformats.org/drawingml/2006/main" noGrp="1"/>
          </p:cNvSpPr>
          <p:nvPr/>
        </p:nvSpPr>
        <p:spPr>
          <a:xfrm xmlns:a="http://schemas.openxmlformats.org/drawingml/2006/main">
            <a:off x="6519672" y="1965960"/>
            <a:ext cx="4562856"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200"/>
              <a:buFont typeface="Arial"/>
              <a:buNone/>
            </a:pPr>
            <a:r>
              <a:rPr sz="1200" b="1">
                <a:solidFill>
                  <a:srgbClr val="E22B27"/>
                </a:solidFill>
                <a:latin typeface="Arial"/>
                <a:ea typeface="Arial"/>
                <a:cs typeface="Arial"/>
              </a:rPr>
              <a:t>STRONGER</a:t>
            </a:r>
          </a:p>
        </p:txBody>
      </p:sp>
      <p:sp>
        <p:nvSpPr>
          <p:cNvPr id="228" name="Google Shape;228;p13">
            <a:extLst xmlns:a="http://schemas.openxmlformats.org/drawingml/2006/main">
              <a:ext uri="{FF2B5EF4-FFF2-40B4-BE49-F238E27FC236}">
                <a16:creationId xmlns:a16="http://schemas.microsoft.com/office/drawing/2014/main" id="{B6ADAD46-189D-4171-9E69-A8DF983B3054}"/>
              </a:ext>
            </a:extLst>
          </p:cNvPr>
          <p:cNvSpPr>
            <a:spLocks xmlns:a="http://schemas.openxmlformats.org/drawingml/2006/main" noGrp="1"/>
          </p:cNvSpPr>
          <p:nvPr/>
        </p:nvSpPr>
        <p:spPr>
          <a:xfrm xmlns:a="http://schemas.openxmlformats.org/drawingml/2006/main">
            <a:off x="6519672" y="2331720"/>
            <a:ext cx="4562856" cy="263347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000"/>
              <a:buFont typeface="Arial"/>
              <a:buNone/>
            </a:pPr>
            <a:r>
              <a:rPr sz="2000">
                <a:solidFill>
                  <a:srgbClr val="FFFFFF"/>
                </a:solidFill>
                <a:latin typeface="Arial"/>
                <a:ea typeface="Arial"/>
                <a:cs typeface="Arial"/>
              </a:rPr>
              <a:t>“Only three trials were completed for each design, so the comparison should be interpreted cautiously.”</a:t>
            </a:r>
          </a:p>
          <a:p xmlns:a="http://schemas.openxmlformats.org/drawingml/2006/main">
            <a:pPr marL="0" marR="0" indent="0" algn="l">
              <a:spcBef>
                <a:spcPts val="0"/>
              </a:spcBef>
              <a:spcAft>
                <a:spcPts val="0"/>
              </a:spcAft>
              <a:buClr>
                <a:schemeClr val="dk1"/>
              </a:buClr>
              <a:buSzPts val="2000"/>
              <a:buFont typeface="Arial"/>
              <a:buNone/>
            </a:pPr>
            <a:r>
              <a:t/>
            </a:r>
          </a:p>
          <a:p xmlns:a="http://schemas.openxmlformats.org/drawingml/2006/main">
            <a:pPr marL="0" marR="0" indent="0" algn="l">
              <a:spcBef>
                <a:spcPts val="0"/>
              </a:spcBef>
              <a:spcAft>
                <a:spcPts val="0"/>
              </a:spcAft>
              <a:buClr>
                <a:srgbClr val="FFFFFF"/>
              </a:buClr>
              <a:buSzPts val="2000"/>
              <a:buFont typeface="Arial"/>
              <a:buNone/>
            </a:pPr>
            <a:r>
              <a:rPr sz="2000">
                <a:solidFill>
                  <a:srgbClr val="FFFFFF"/>
                </a:solidFill>
                <a:latin typeface="Arial"/>
                <a:ea typeface="Arial"/>
                <a:cs typeface="Arial"/>
              </a:rPr>
              <a:t>“The force sensor drifted during longer tests, which may have increased uncertainty in the final readings.”</a:t>
            </a:r>
          </a:p>
        </p:txBody>
      </p:sp>
    </p:spTree>
    <p:extLst>
      <p:ext uri="{BB962C8B-B14F-4D97-AF65-F5344CB8AC3E}">
        <p14:creationId xmlns:p14="http://schemas.microsoft.com/office/powerpoint/2010/main" val="980052671"/>
      </p:ext>
    </p:extLst>
  </p:cSld>
</p:sld>
</file>

<file path=ppt/slides/slide12.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234" name="Google Shape;234;p14">
            <a:extLst xmlns:a="http://schemas.openxmlformats.org/drawingml/2006/main">
              <a:ext uri="{FF2B5EF4-FFF2-40B4-BE49-F238E27FC236}">
                <a16:creationId xmlns:a16="http://schemas.microsoft.com/office/drawing/2014/main" id="{9D65418F-D4AA-46D6-9E48-F0904A91AC55}"/>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35" name="Google Shape;235;p14">
            <a:extLst xmlns:a="http://schemas.openxmlformats.org/drawingml/2006/main">
              <a:ext uri="{FF2B5EF4-FFF2-40B4-BE49-F238E27FC236}">
                <a16:creationId xmlns:a16="http://schemas.microsoft.com/office/drawing/2014/main" id="{373204A0-9CF2-4DD0-9E5C-029FC44F2FB0}"/>
              </a:ext>
            </a:extLst>
          </p:cNvPr>
          <p:cNvSpPr>
            <a:spLocks xmlns:a="http://schemas.openxmlformats.org/drawingml/2006/main" noGrp="1"/>
          </p:cNvSpPr>
          <p:nvPr/>
        </p:nvSpPr>
        <p:spPr>
          <a:xfrm xmlns:a="http://schemas.openxmlformats.org/drawingml/2006/main">
            <a:off x="0" y="164592"/>
            <a:ext cx="12191695" cy="7315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36" name="Google Shape;236;p14">
            <a:extLst xmlns:a="http://schemas.openxmlformats.org/drawingml/2006/main">
              <a:ext uri="{FF2B5EF4-FFF2-40B4-BE49-F238E27FC236}">
                <a16:creationId xmlns:a16="http://schemas.microsoft.com/office/drawing/2014/main" id="{BBF73658-9CF2-494A-942F-197A85E49916}"/>
              </a:ext>
            </a:extLst>
          </p:cNvPr>
          <p:cNvSpPr>
            <a:spLocks xmlns:a="http://schemas.openxmlformats.org/drawingml/2006/main" noGrp="1"/>
          </p:cNvSpPr>
          <p:nvPr/>
        </p:nvSpPr>
        <p:spPr>
          <a:xfrm xmlns:a="http://schemas.openxmlformats.org/drawingml/2006/main">
            <a:off x="0" y="6729984"/>
            <a:ext cx="12191695" cy="54864"/>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37" name="Google Shape;237;p14">
            <a:extLst xmlns:a="http://schemas.openxmlformats.org/drawingml/2006/main">
              <a:ext uri="{FF2B5EF4-FFF2-40B4-BE49-F238E27FC236}">
                <a16:creationId xmlns:a16="http://schemas.microsoft.com/office/drawing/2014/main" id="{A700E193-DBAD-40C1-900F-0425DC547330}"/>
              </a:ext>
            </a:extLst>
          </p:cNvPr>
          <p:cNvSpPr>
            <a:spLocks xmlns:a="http://schemas.openxmlformats.org/drawingml/2006/main" noGrp="1"/>
          </p:cNvSpPr>
          <p:nvPr/>
        </p:nvSpPr>
        <p:spPr>
          <a:xfrm xmlns:a="http://schemas.openxmlformats.org/drawingml/2006/main">
            <a:off x="411480" y="6236208"/>
            <a:ext cx="420624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000"/>
              <a:buFont typeface="Arial"/>
              <a:buNone/>
            </a:pPr>
            <a:r>
              <a:rPr sz="1000" b="1">
                <a:solidFill>
                  <a:srgbClr val="B8B8B8"/>
                </a:solidFill>
                <a:latin typeface="Arial"/>
                <a:ea typeface="Arial"/>
                <a:cs typeface="Arial"/>
              </a:rPr>
              <a:t>SCIENTIFIC REPORTING</a:t>
            </a:r>
          </a:p>
        </p:txBody>
      </p:sp>
      <p:sp>
        <p:nvSpPr>
          <p:cNvPr id="238" name="Google Shape;238;p14">
            <a:extLst xmlns:a="http://schemas.openxmlformats.org/drawingml/2006/main">
              <a:ext uri="{FF2B5EF4-FFF2-40B4-BE49-F238E27FC236}">
                <a16:creationId xmlns:a16="http://schemas.microsoft.com/office/drawing/2014/main" id="{28446476-3178-4C23-A855-0771E2C7F4E5}"/>
              </a:ext>
            </a:extLst>
          </p:cNvPr>
          <p:cNvSpPr>
            <a:spLocks xmlns:a="http://schemas.openxmlformats.org/drawingml/2006/main" noGrp="1"/>
          </p:cNvSpPr>
          <p:nvPr/>
        </p:nvSpPr>
        <p:spPr>
          <a:xfrm xmlns:a="http://schemas.openxmlformats.org/drawingml/2006/main">
            <a:off x="10515600" y="6236208"/>
            <a:ext cx="123444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B8B8B8"/>
              </a:buClr>
              <a:buSzPts val="1000"/>
              <a:buFont typeface="Arial"/>
              <a:buNone/>
            </a:pPr>
            <a:r>
              <a:rPr sz="1000" b="1">
                <a:solidFill>
                  <a:srgbClr val="B8B8B8"/>
                </a:solidFill>
                <a:latin typeface="Arial"/>
                <a:ea typeface="Arial"/>
                <a:cs typeface="Arial"/>
              </a:rPr>
              <a:t>STARLAB</a:t>
            </a:r>
          </a:p>
        </p:txBody>
      </p:sp>
      <p:sp>
        <p:nvSpPr>
          <p:cNvPr id="239" name="Google Shape;239;p14">
            <a:extLst xmlns:a="http://schemas.openxmlformats.org/drawingml/2006/main">
              <a:ext uri="{FF2B5EF4-FFF2-40B4-BE49-F238E27FC236}">
                <a16:creationId xmlns:a16="http://schemas.microsoft.com/office/drawing/2014/main" id="{45816BA0-6AF6-4110-8C91-71E954AAB05A}"/>
              </a:ext>
            </a:extLst>
          </p:cNvPr>
          <p:cNvSpPr>
            <a:spLocks xmlns:a="http://schemas.openxmlformats.org/drawingml/2006/main" noGrp="1"/>
          </p:cNvSpPr>
          <p:nvPr/>
        </p:nvSpPr>
        <p:spPr>
          <a:xfrm xmlns:a="http://schemas.openxmlformats.org/drawingml/2006/main">
            <a:off x="10195560" y="384048"/>
            <a:ext cx="1325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E22B27"/>
              </a:buClr>
              <a:buSzPts val="1100"/>
              <a:buFont typeface="Arial"/>
              <a:buNone/>
            </a:pPr>
            <a:r>
              <a:rPr sz="1100" b="1">
                <a:solidFill>
                  <a:srgbClr val="E22B27"/>
                </a:solidFill>
                <a:latin typeface="Arial"/>
                <a:ea typeface="Arial"/>
                <a:cs typeface="Arial"/>
              </a:rPr>
              <a:t>DECK 14</a:t>
            </a:r>
          </a:p>
        </p:txBody>
      </p:sp>
      <p:sp>
        <p:nvSpPr>
          <p:cNvPr id="240" name="Google Shape;240;p14">
            <a:extLst xmlns:a="http://schemas.openxmlformats.org/drawingml/2006/main">
              <a:ext uri="{FF2B5EF4-FFF2-40B4-BE49-F238E27FC236}">
                <a16:creationId xmlns:a16="http://schemas.microsoft.com/office/drawing/2014/main" id="{B65A6DB3-D350-4050-AED9-93BF4D11F278}"/>
              </a:ext>
            </a:extLst>
          </p:cNvPr>
          <p:cNvSpPr>
            <a:spLocks xmlns:a="http://schemas.openxmlformats.org/drawingml/2006/main" noGrp="1"/>
          </p:cNvSpPr>
          <p:nvPr/>
        </p:nvSpPr>
        <p:spPr>
          <a:xfrm xmlns:a="http://schemas.openxmlformats.org/drawingml/2006/main">
            <a:off x="685800" y="694944"/>
            <a:ext cx="9829800" cy="49377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700"/>
              <a:buFont typeface="Play"/>
              <a:buNone/>
            </a:pPr>
            <a:r>
              <a:rPr sz="2700" b="1">
                <a:solidFill>
                  <a:srgbClr val="FFFFFF"/>
                </a:solidFill>
                <a:latin typeface="Play"/>
                <a:ea typeface="Play"/>
                <a:cs typeface="Play"/>
              </a:rPr>
              <a:t>Unexpected Results Are Still Results</a:t>
            </a:r>
          </a:p>
        </p:txBody>
      </p:sp>
      <p:sp>
        <p:nvSpPr>
          <p:cNvPr id="241" name="Google Shape;241;p14">
            <a:extLst xmlns:a="http://schemas.openxmlformats.org/drawingml/2006/main">
              <a:ext uri="{FF2B5EF4-FFF2-40B4-BE49-F238E27FC236}">
                <a16:creationId xmlns:a16="http://schemas.microsoft.com/office/drawing/2014/main" id="{6CE46EB1-8B73-4AD2-8336-FFF40E1ACB5A}"/>
              </a:ext>
            </a:extLst>
          </p:cNvPr>
          <p:cNvSpPr>
            <a:spLocks xmlns:a="http://schemas.openxmlformats.org/drawingml/2006/main" noGrp="1"/>
          </p:cNvSpPr>
          <p:nvPr/>
        </p:nvSpPr>
        <p:spPr>
          <a:xfrm xmlns:a="http://schemas.openxmlformats.org/drawingml/2006/main">
            <a:off x="694944" y="1271016"/>
            <a:ext cx="9875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200"/>
              <a:buFont typeface="Arial"/>
              <a:buNone/>
            </a:pPr>
            <a:r>
              <a:rPr sz="1200">
                <a:solidFill>
                  <a:srgbClr val="B8B8B8"/>
                </a:solidFill>
                <a:latin typeface="Arial"/>
                <a:ea typeface="Arial"/>
                <a:cs typeface="Arial"/>
              </a:rPr>
              <a:t>A result does not need to match the hypothesis to be useful.</a:t>
            </a:r>
          </a:p>
        </p:txBody>
      </p:sp>
      <p:cxnSp>
        <p:nvCxnSpPr>
          <p:cNvPr id="253" name="Google Shape;242;p14"/>
          <p:cNvCxnSpPr/>
          <p:nvPr/>
        </p:nvCxnSpPr>
        <p:spPr>
          <a:xfrm xmlns:a="http://schemas.openxmlformats.org/drawingml/2006/main">
            <a:off x="685800" y="1591056"/>
            <a:ext cx="10789920" cy="0"/>
          </a:xfrm>
          <a:prstGeom xmlns:a="http://schemas.openxmlformats.org/drawingml/2006/main" prst="straightConnector1">
            <a:avLst/>
          </a:prstGeom>
          <a:ln xmlns:a="http://schemas.openxmlformats.org/drawingml/2006/main" w="16500" cap="flat">
            <a:solidFill>
              <a:srgbClr val="E22B27"/>
            </a:solidFill>
            <a:prstDash val="solid"/>
            <a:round/>
            <a:headEnd type="none" w="sm" len="sm"/>
            <a:tailEnd type="none" w="sm" len="sm"/>
          </a:ln>
        </p:spPr>
      </p:cxnSp>
      <p:sp>
        <p:nvSpPr>
          <p:cNvPr id="243" name="Google Shape;243;p14">
            <a:extLst xmlns:a="http://schemas.openxmlformats.org/drawingml/2006/main">
              <a:ext uri="{FF2B5EF4-FFF2-40B4-BE49-F238E27FC236}">
                <a16:creationId xmlns:a16="http://schemas.microsoft.com/office/drawing/2014/main" id="{5A1FBE03-2B8F-4344-93FA-F4C9C7F8F112}"/>
              </a:ext>
            </a:extLst>
          </p:cNvPr>
          <p:cNvSpPr>
            <a:spLocks xmlns:a="http://schemas.openxmlformats.org/drawingml/2006/main" noGrp="1"/>
          </p:cNvSpPr>
          <p:nvPr/>
        </p:nvSpPr>
        <p:spPr>
          <a:xfrm xmlns:a="http://schemas.openxmlformats.org/drawingml/2006/main">
            <a:off x="960120" y="1828800"/>
            <a:ext cx="10241280" cy="333756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1000" tIns="1000" rIns="1000" bIns="1000" anchor="ctr">
            <a:noAutofit/>
          </a:bodyPr>
          <a:lstStyle xmlns:a="http://schemas.openxmlformats.org/drawingml/2006/main"/>
          <a:p xmlns:a="http://schemas.openxmlformats.org/drawingml/2006/main">
            <a:pPr marL="0" marR="0" indent="0" algn="l">
              <a:spcBef>
                <a:spcPts val="0"/>
              </a:spcBef>
              <a:spcAft>
                <a:spcPts val="0"/>
              </a:spcAft>
              <a:buNone/>
            </a:pPr>
            <a:r>
              <a:rPr sz="2100">
                <a:solidFill>
                  <a:srgbClr val="FFFFFF"/>
                </a:solidFill>
                <a:latin typeface="Arial"/>
                <a:ea typeface="Arial"/>
                <a:cs typeface="Arial"/>
              </a:rPr>
              <a:t>If the hypothesis was not supported, explain what the evidence showed instead.</a:t>
            </a:r>
          </a:p>
          <a:p xmlns:a="http://schemas.openxmlformats.org/drawingml/2006/main">
            <a:pPr marL="0" marR="0" indent="0" algn="l">
              <a:spcBef>
                <a:spcPts val="0"/>
              </a:spcBef>
              <a:spcAft>
                <a:spcPts val="0"/>
              </a:spcAft>
              <a:buNone/>
            </a:pPr>
            <a:r>
              <a:rPr sz="2100">
                <a:solidFill>
                  <a:srgbClr val="FFFFFF"/>
                </a:solidFill>
                <a:latin typeface="Arial"/>
                <a:ea typeface="Arial"/>
                <a:cs typeface="Arial"/>
              </a:rPr>
              <a:t>If a prototype failed, explain the failure mode and what it revealed.</a:t>
            </a:r>
          </a:p>
          <a:p xmlns:a="http://schemas.openxmlformats.org/drawingml/2006/main">
            <a:pPr marL="0" marR="0" indent="0" algn="l">
              <a:spcBef>
                <a:spcPts val="0"/>
              </a:spcBef>
              <a:spcAft>
                <a:spcPts val="0"/>
              </a:spcAft>
              <a:buNone/>
            </a:pPr>
            <a:r>
              <a:rPr sz="2100">
                <a:solidFill>
                  <a:srgbClr val="FFFFFF"/>
                </a:solidFill>
                <a:latin typeface="Arial"/>
                <a:ea typeface="Arial"/>
                <a:cs typeface="Arial"/>
              </a:rPr>
              <a:t>If the data were inconclusive, explain what limits confidence.</a:t>
            </a:r>
          </a:p>
          <a:p xmlns:a="http://schemas.openxmlformats.org/drawingml/2006/main">
            <a:pPr marL="0" marR="0" indent="0" algn="l">
              <a:spcBef>
                <a:spcPts val="0"/>
              </a:spcBef>
              <a:spcAft>
                <a:spcPts val="0"/>
              </a:spcAft>
              <a:buNone/>
            </a:pPr>
            <a:r>
              <a:rPr sz="2100">
                <a:solidFill>
                  <a:srgbClr val="FFFFFF"/>
                </a:solidFill>
                <a:latin typeface="Arial"/>
                <a:ea typeface="Arial"/>
                <a:cs typeface="Arial"/>
              </a:rPr>
              <a:t>If the method did not work, explain what future testing would need to fix.</a:t>
            </a:r>
          </a:p>
        </p:txBody>
      </p:sp>
      <p:sp>
        <p:nvSpPr>
          <p:cNvPr id="244" name="Google Shape;244;p14">
            <a:extLst xmlns:a="http://schemas.openxmlformats.org/drawingml/2006/main">
              <a:ext uri="{FF2B5EF4-FFF2-40B4-BE49-F238E27FC236}">
                <a16:creationId xmlns:a16="http://schemas.microsoft.com/office/drawing/2014/main" id="{6EE5BAF2-A87E-45B1-A805-7FD262FBAAF0}"/>
              </a:ext>
            </a:extLst>
          </p:cNvPr>
          <p:cNvSpPr>
            <a:spLocks xmlns:a="http://schemas.openxmlformats.org/drawingml/2006/main" noGrp="1"/>
          </p:cNvSpPr>
          <p:nvPr/>
        </p:nvSpPr>
        <p:spPr>
          <a:xfrm xmlns:a="http://schemas.openxmlformats.org/drawingml/2006/main">
            <a:off x="914400" y="5532120"/>
            <a:ext cx="1033272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spcBef>
                <a:spcPts val="0"/>
              </a:spcBef>
              <a:spcAft>
                <a:spcPts val="0"/>
              </a:spcAft>
              <a:buClr>
                <a:srgbClr val="E22B27"/>
              </a:buClr>
              <a:buSzPts val="2400"/>
              <a:buFont typeface="Play"/>
              <a:buNone/>
            </a:pPr>
            <a:r>
              <a:rPr sz="2400" b="1">
                <a:solidFill>
                  <a:srgbClr val="E22B27"/>
                </a:solidFill>
                <a:latin typeface="Play"/>
                <a:ea typeface="Play"/>
                <a:cs typeface="Play"/>
              </a:rPr>
              <a:t>The discussion should tell the honest research story, not the perfect story.</a:t>
            </a:r>
          </a:p>
        </p:txBody>
      </p:sp>
    </p:spTree>
    <p:extLst>
      <p:ext uri="{BB962C8B-B14F-4D97-AF65-F5344CB8AC3E}">
        <p14:creationId xmlns:p14="http://schemas.microsoft.com/office/powerpoint/2010/main" val="1486925764"/>
      </p:ext>
    </p:extLst>
  </p:cSld>
</p:sld>
</file>

<file path=ppt/slides/slide13.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250" name="Google Shape;250;p15">
            <a:extLst xmlns:a="http://schemas.openxmlformats.org/drawingml/2006/main">
              <a:ext uri="{FF2B5EF4-FFF2-40B4-BE49-F238E27FC236}">
                <a16:creationId xmlns:a16="http://schemas.microsoft.com/office/drawing/2014/main" id="{56D68313-CFAB-4069-A534-818A99B104CE}"/>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51" name="Google Shape;251;p15">
            <a:extLst xmlns:a="http://schemas.openxmlformats.org/drawingml/2006/main">
              <a:ext uri="{FF2B5EF4-FFF2-40B4-BE49-F238E27FC236}">
                <a16:creationId xmlns:a16="http://schemas.microsoft.com/office/drawing/2014/main" id="{229B7BFB-794F-473C-AC07-412E9728B754}"/>
              </a:ext>
            </a:extLst>
          </p:cNvPr>
          <p:cNvSpPr>
            <a:spLocks xmlns:a="http://schemas.openxmlformats.org/drawingml/2006/main" noGrp="1"/>
          </p:cNvSpPr>
          <p:nvPr/>
        </p:nvSpPr>
        <p:spPr>
          <a:xfrm xmlns:a="http://schemas.openxmlformats.org/drawingml/2006/main">
            <a:off x="0" y="164592"/>
            <a:ext cx="12191695" cy="7315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52" name="Google Shape;252;p15">
            <a:extLst xmlns:a="http://schemas.openxmlformats.org/drawingml/2006/main">
              <a:ext uri="{FF2B5EF4-FFF2-40B4-BE49-F238E27FC236}">
                <a16:creationId xmlns:a16="http://schemas.microsoft.com/office/drawing/2014/main" id="{B076A801-6CC4-4206-AF14-FF1A49816E7A}"/>
              </a:ext>
            </a:extLst>
          </p:cNvPr>
          <p:cNvSpPr>
            <a:spLocks xmlns:a="http://schemas.openxmlformats.org/drawingml/2006/main" noGrp="1"/>
          </p:cNvSpPr>
          <p:nvPr/>
        </p:nvSpPr>
        <p:spPr>
          <a:xfrm xmlns:a="http://schemas.openxmlformats.org/drawingml/2006/main">
            <a:off x="0" y="6729984"/>
            <a:ext cx="12191695" cy="54864"/>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53" name="Google Shape;253;p15">
            <a:extLst xmlns:a="http://schemas.openxmlformats.org/drawingml/2006/main">
              <a:ext uri="{FF2B5EF4-FFF2-40B4-BE49-F238E27FC236}">
                <a16:creationId xmlns:a16="http://schemas.microsoft.com/office/drawing/2014/main" id="{07C740E6-053D-4043-A60F-A20721A5BE00}"/>
              </a:ext>
            </a:extLst>
          </p:cNvPr>
          <p:cNvSpPr>
            <a:spLocks xmlns:a="http://schemas.openxmlformats.org/drawingml/2006/main" noGrp="1"/>
          </p:cNvSpPr>
          <p:nvPr/>
        </p:nvSpPr>
        <p:spPr>
          <a:xfrm xmlns:a="http://schemas.openxmlformats.org/drawingml/2006/main">
            <a:off x="411480" y="6236208"/>
            <a:ext cx="420624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000"/>
              <a:buFont typeface="Arial"/>
              <a:buNone/>
            </a:pPr>
            <a:r>
              <a:rPr sz="1000" b="1">
                <a:solidFill>
                  <a:srgbClr val="B8B8B8"/>
                </a:solidFill>
                <a:latin typeface="Arial"/>
                <a:ea typeface="Arial"/>
                <a:cs typeface="Arial"/>
              </a:rPr>
              <a:t>SCIENTIFIC REPORTING</a:t>
            </a:r>
          </a:p>
        </p:txBody>
      </p:sp>
      <p:sp>
        <p:nvSpPr>
          <p:cNvPr id="254" name="Google Shape;254;p15">
            <a:extLst xmlns:a="http://schemas.openxmlformats.org/drawingml/2006/main">
              <a:ext uri="{FF2B5EF4-FFF2-40B4-BE49-F238E27FC236}">
                <a16:creationId xmlns:a16="http://schemas.microsoft.com/office/drawing/2014/main" id="{DBB4FA98-6661-499E-88D3-C4FCE34FAE75}"/>
              </a:ext>
            </a:extLst>
          </p:cNvPr>
          <p:cNvSpPr>
            <a:spLocks xmlns:a="http://schemas.openxmlformats.org/drawingml/2006/main" noGrp="1"/>
          </p:cNvSpPr>
          <p:nvPr/>
        </p:nvSpPr>
        <p:spPr>
          <a:xfrm xmlns:a="http://schemas.openxmlformats.org/drawingml/2006/main">
            <a:off x="10515600" y="6236208"/>
            <a:ext cx="123444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B8B8B8"/>
              </a:buClr>
              <a:buSzPts val="1000"/>
              <a:buFont typeface="Arial"/>
              <a:buNone/>
            </a:pPr>
            <a:r>
              <a:rPr sz="1000" b="1">
                <a:solidFill>
                  <a:srgbClr val="B8B8B8"/>
                </a:solidFill>
                <a:latin typeface="Arial"/>
                <a:ea typeface="Arial"/>
                <a:cs typeface="Arial"/>
              </a:rPr>
              <a:t>STARLAB</a:t>
            </a:r>
          </a:p>
        </p:txBody>
      </p:sp>
      <p:sp>
        <p:nvSpPr>
          <p:cNvPr id="255" name="Google Shape;255;p15">
            <a:extLst xmlns:a="http://schemas.openxmlformats.org/drawingml/2006/main">
              <a:ext uri="{FF2B5EF4-FFF2-40B4-BE49-F238E27FC236}">
                <a16:creationId xmlns:a16="http://schemas.microsoft.com/office/drawing/2014/main" id="{7D9E373E-E776-4B7F-B21C-FB2C193EAA43}"/>
              </a:ext>
            </a:extLst>
          </p:cNvPr>
          <p:cNvSpPr>
            <a:spLocks xmlns:a="http://schemas.openxmlformats.org/drawingml/2006/main" noGrp="1"/>
          </p:cNvSpPr>
          <p:nvPr/>
        </p:nvSpPr>
        <p:spPr>
          <a:xfrm xmlns:a="http://schemas.openxmlformats.org/drawingml/2006/main">
            <a:off x="10195560" y="384048"/>
            <a:ext cx="1325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E22B27"/>
              </a:buClr>
              <a:buSzPts val="1100"/>
              <a:buFont typeface="Arial"/>
              <a:buNone/>
            </a:pPr>
            <a:r>
              <a:rPr sz="1100" b="1">
                <a:solidFill>
                  <a:srgbClr val="E22B27"/>
                </a:solidFill>
                <a:latin typeface="Arial"/>
                <a:ea typeface="Arial"/>
                <a:cs typeface="Arial"/>
              </a:rPr>
              <a:t>DECK 14</a:t>
            </a:r>
          </a:p>
        </p:txBody>
      </p:sp>
      <p:sp>
        <p:nvSpPr>
          <p:cNvPr id="256" name="Google Shape;256;p15">
            <a:extLst xmlns:a="http://schemas.openxmlformats.org/drawingml/2006/main">
              <a:ext uri="{FF2B5EF4-FFF2-40B4-BE49-F238E27FC236}">
                <a16:creationId xmlns:a16="http://schemas.microsoft.com/office/drawing/2014/main" id="{6F041CA8-9A6F-410B-A214-7B0F2BF9B887}"/>
              </a:ext>
            </a:extLst>
          </p:cNvPr>
          <p:cNvSpPr>
            <a:spLocks xmlns:a="http://schemas.openxmlformats.org/drawingml/2006/main" noGrp="1"/>
          </p:cNvSpPr>
          <p:nvPr/>
        </p:nvSpPr>
        <p:spPr>
          <a:xfrm xmlns:a="http://schemas.openxmlformats.org/drawingml/2006/main">
            <a:off x="685800" y="694944"/>
            <a:ext cx="9829800" cy="49377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700"/>
              <a:buFont typeface="Play"/>
              <a:buNone/>
            </a:pPr>
            <a:r>
              <a:rPr sz="2700" b="1">
                <a:solidFill>
                  <a:srgbClr val="FFFFFF"/>
                </a:solidFill>
                <a:latin typeface="Play"/>
                <a:ea typeface="Play"/>
                <a:cs typeface="Play"/>
              </a:rPr>
              <a:t>Future Work Must Follow From Evidence</a:t>
            </a:r>
          </a:p>
        </p:txBody>
      </p:sp>
      <p:sp>
        <p:nvSpPr>
          <p:cNvPr id="257" name="Google Shape;257;p15">
            <a:extLst xmlns:a="http://schemas.openxmlformats.org/drawingml/2006/main">
              <a:ext uri="{FF2B5EF4-FFF2-40B4-BE49-F238E27FC236}">
                <a16:creationId xmlns:a16="http://schemas.microsoft.com/office/drawing/2014/main" id="{7492ED58-22EB-4EB1-A432-CE308AADCCB4}"/>
              </a:ext>
            </a:extLst>
          </p:cNvPr>
          <p:cNvSpPr>
            <a:spLocks xmlns:a="http://schemas.openxmlformats.org/drawingml/2006/main" noGrp="1"/>
          </p:cNvSpPr>
          <p:nvPr/>
        </p:nvSpPr>
        <p:spPr>
          <a:xfrm xmlns:a="http://schemas.openxmlformats.org/drawingml/2006/main">
            <a:off x="694944" y="1271016"/>
            <a:ext cx="9875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200"/>
              <a:buFont typeface="Arial"/>
              <a:buNone/>
            </a:pPr>
            <a:r>
              <a:rPr sz="1200">
                <a:solidFill>
                  <a:srgbClr val="B8B8B8"/>
                </a:solidFill>
                <a:latin typeface="Arial"/>
                <a:ea typeface="Arial"/>
                <a:cs typeface="Arial"/>
              </a:rPr>
              <a:t>Do not end with “I would do more research.”</a:t>
            </a:r>
          </a:p>
        </p:txBody>
      </p:sp>
      <p:cxnSp>
        <p:nvCxnSpPr>
          <p:cNvPr id="273" name="Google Shape;258;p15"/>
          <p:cNvCxnSpPr/>
          <p:nvPr/>
        </p:nvCxnSpPr>
        <p:spPr>
          <a:xfrm xmlns:a="http://schemas.openxmlformats.org/drawingml/2006/main">
            <a:off x="685800" y="1591056"/>
            <a:ext cx="10789920" cy="0"/>
          </a:xfrm>
          <a:prstGeom xmlns:a="http://schemas.openxmlformats.org/drawingml/2006/main" prst="straightConnector1">
            <a:avLst/>
          </a:prstGeom>
          <a:ln xmlns:a="http://schemas.openxmlformats.org/drawingml/2006/main" w="16500" cap="flat">
            <a:solidFill>
              <a:srgbClr val="E22B27"/>
            </a:solidFill>
            <a:prstDash val="solid"/>
            <a:round/>
            <a:headEnd type="none" w="sm" len="sm"/>
            <a:tailEnd type="none" w="sm" len="sm"/>
          </a:ln>
        </p:spPr>
      </p:cxnSp>
      <p:sp>
        <p:nvSpPr>
          <p:cNvPr id="259" name="Google Shape;259;p15">
            <a:extLst xmlns:a="http://schemas.openxmlformats.org/drawingml/2006/main">
              <a:ext uri="{FF2B5EF4-FFF2-40B4-BE49-F238E27FC236}">
                <a16:creationId xmlns:a16="http://schemas.microsoft.com/office/drawing/2014/main" id="{7997AE58-77B9-4BAF-85AA-977682075D57}"/>
              </a:ext>
            </a:extLst>
          </p:cNvPr>
          <p:cNvSpPr>
            <a:spLocks xmlns:a="http://schemas.openxmlformats.org/drawingml/2006/main" noGrp="1"/>
          </p:cNvSpPr>
          <p:nvPr/>
        </p:nvSpPr>
        <p:spPr>
          <a:xfrm xmlns:a="http://schemas.openxmlformats.org/drawingml/2006/main">
            <a:off x="914400" y="1828800"/>
            <a:ext cx="4892040" cy="3200400"/>
          </a:xfrm>
          <a:prstGeom xmlns:a="http://schemas.openxmlformats.org/drawingml/2006/main" prst="roundRect">
            <a:avLst>
              <a:gd name="adj" fmla="val 1714"/>
            </a:avLst>
          </a:prstGeom>
          <a:solidFill xmlns:a="http://schemas.openxmlformats.org/drawingml/2006/main">
            <a:srgbClr val="101010"/>
          </a:solidFill>
          <a:ln xmlns:a="http://schemas.openxmlformats.org/drawingml/2006/main" w="12700" cmpd="sng">
            <a:solidFill>
              <a:srgbClr val="44444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60" name="Google Shape;260;p15">
            <a:extLst xmlns:a="http://schemas.openxmlformats.org/drawingml/2006/main">
              <a:ext uri="{FF2B5EF4-FFF2-40B4-BE49-F238E27FC236}">
                <a16:creationId xmlns:a16="http://schemas.microsoft.com/office/drawing/2014/main" id="{9C0F4DAE-1D74-49D8-84F9-3A02788A4DDA}"/>
              </a:ext>
            </a:extLst>
          </p:cNvPr>
          <p:cNvSpPr>
            <a:spLocks xmlns:a="http://schemas.openxmlformats.org/drawingml/2006/main" noGrp="1"/>
          </p:cNvSpPr>
          <p:nvPr/>
        </p:nvSpPr>
        <p:spPr>
          <a:xfrm xmlns:a="http://schemas.openxmlformats.org/drawingml/2006/main">
            <a:off x="1078992" y="1965960"/>
            <a:ext cx="4562856"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200"/>
              <a:buFont typeface="Arial"/>
              <a:buNone/>
            </a:pPr>
            <a:r>
              <a:rPr sz="1200" b="1">
                <a:solidFill>
                  <a:srgbClr val="E22B27"/>
                </a:solidFill>
                <a:latin typeface="Arial"/>
                <a:ea typeface="Arial"/>
                <a:cs typeface="Arial"/>
              </a:rPr>
              <a:t>WEAK FUTURE WORK</a:t>
            </a:r>
          </a:p>
        </p:txBody>
      </p:sp>
      <p:sp>
        <p:nvSpPr>
          <p:cNvPr id="261" name="Google Shape;261;p15">
            <a:extLst xmlns:a="http://schemas.openxmlformats.org/drawingml/2006/main">
              <a:ext uri="{FF2B5EF4-FFF2-40B4-BE49-F238E27FC236}">
                <a16:creationId xmlns:a16="http://schemas.microsoft.com/office/drawing/2014/main" id="{5AA2D045-82CC-4BFF-B756-58076377370A}"/>
              </a:ext>
            </a:extLst>
          </p:cNvPr>
          <p:cNvSpPr>
            <a:spLocks xmlns:a="http://schemas.openxmlformats.org/drawingml/2006/main" noGrp="1"/>
          </p:cNvSpPr>
          <p:nvPr/>
        </p:nvSpPr>
        <p:spPr>
          <a:xfrm xmlns:a="http://schemas.openxmlformats.org/drawingml/2006/main">
            <a:off x="1078992" y="2331720"/>
            <a:ext cx="4562856" cy="2542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100"/>
              <a:buFont typeface="Arial"/>
              <a:buNone/>
            </a:pPr>
            <a:r>
              <a:rPr sz="2100">
                <a:solidFill>
                  <a:srgbClr val="FFFFFF"/>
                </a:solidFill>
                <a:latin typeface="Arial"/>
                <a:ea typeface="Arial"/>
                <a:cs typeface="Arial"/>
              </a:rPr>
              <a:t>“In the future, I would do more trials.”</a:t>
            </a:r>
          </a:p>
          <a:p xmlns:a="http://schemas.openxmlformats.org/drawingml/2006/main">
            <a:pPr marL="0" marR="0" indent="0" algn="l">
              <a:spcBef>
                <a:spcPts val="0"/>
              </a:spcBef>
              <a:spcAft>
                <a:spcPts val="0"/>
              </a:spcAft>
              <a:buClr>
                <a:schemeClr val="dk1"/>
              </a:buClr>
              <a:buSzPts val="2100"/>
              <a:buFont typeface="Arial"/>
              <a:buNone/>
            </a:pPr>
            <a:r>
              <a:t/>
            </a:r>
          </a:p>
          <a:p xmlns:a="http://schemas.openxmlformats.org/drawingml/2006/main">
            <a:pPr marL="0" marR="0" indent="0" algn="l">
              <a:spcBef>
                <a:spcPts val="0"/>
              </a:spcBef>
              <a:spcAft>
                <a:spcPts val="0"/>
              </a:spcAft>
              <a:buClr>
                <a:srgbClr val="FFFFFF"/>
              </a:buClr>
              <a:buSzPts val="2100"/>
              <a:buFont typeface="Arial"/>
              <a:buNone/>
            </a:pPr>
            <a:r>
              <a:rPr sz="2100">
                <a:solidFill>
                  <a:srgbClr val="FFFFFF"/>
                </a:solidFill>
                <a:latin typeface="Arial"/>
                <a:ea typeface="Arial"/>
                <a:cs typeface="Arial"/>
              </a:rPr>
              <a:t>“I would make it better.”</a:t>
            </a:r>
          </a:p>
          <a:p xmlns:a="http://schemas.openxmlformats.org/drawingml/2006/main">
            <a:pPr marL="0" marR="0" indent="0" algn="l">
              <a:spcBef>
                <a:spcPts val="0"/>
              </a:spcBef>
              <a:spcAft>
                <a:spcPts val="0"/>
              </a:spcAft>
              <a:buClr>
                <a:schemeClr val="dk1"/>
              </a:buClr>
              <a:buSzPts val="2100"/>
              <a:buFont typeface="Arial"/>
              <a:buNone/>
            </a:pPr>
            <a:r>
              <a:t/>
            </a:r>
          </a:p>
          <a:p xmlns:a="http://schemas.openxmlformats.org/drawingml/2006/main">
            <a:pPr marL="0" marR="0" indent="0" algn="l">
              <a:spcBef>
                <a:spcPts val="0"/>
              </a:spcBef>
              <a:spcAft>
                <a:spcPts val="0"/>
              </a:spcAft>
              <a:buClr>
                <a:srgbClr val="FFFFFF"/>
              </a:buClr>
              <a:buSzPts val="2100"/>
              <a:buFont typeface="Arial"/>
              <a:buNone/>
            </a:pPr>
            <a:r>
              <a:rPr sz="2100">
                <a:solidFill>
                  <a:srgbClr val="FFFFFF"/>
                </a:solidFill>
                <a:latin typeface="Arial"/>
                <a:ea typeface="Arial"/>
                <a:cs typeface="Arial"/>
              </a:rPr>
              <a:t>“I would research this more.”</a:t>
            </a:r>
          </a:p>
        </p:txBody>
      </p:sp>
      <p:sp>
        <p:nvSpPr>
          <p:cNvPr id="262" name="Google Shape;262;p15">
            <a:extLst xmlns:a="http://schemas.openxmlformats.org/drawingml/2006/main">
              <a:ext uri="{FF2B5EF4-FFF2-40B4-BE49-F238E27FC236}">
                <a16:creationId xmlns:a16="http://schemas.microsoft.com/office/drawing/2014/main" id="{F146F331-B781-4A3E-B3CA-25753378F93C}"/>
              </a:ext>
            </a:extLst>
          </p:cNvPr>
          <p:cNvSpPr>
            <a:spLocks xmlns:a="http://schemas.openxmlformats.org/drawingml/2006/main" noGrp="1"/>
          </p:cNvSpPr>
          <p:nvPr/>
        </p:nvSpPr>
        <p:spPr>
          <a:xfrm xmlns:a="http://schemas.openxmlformats.org/drawingml/2006/main">
            <a:off x="6355080" y="1828800"/>
            <a:ext cx="4892040" cy="3200400"/>
          </a:xfrm>
          <a:prstGeom xmlns:a="http://schemas.openxmlformats.org/drawingml/2006/main" prst="roundRect">
            <a:avLst>
              <a:gd name="adj" fmla="val 1714"/>
            </a:avLst>
          </a:prstGeom>
          <a:solidFill xmlns:a="http://schemas.openxmlformats.org/drawingml/2006/main">
            <a:srgbClr val="101010"/>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63" name="Google Shape;263;p15">
            <a:extLst xmlns:a="http://schemas.openxmlformats.org/drawingml/2006/main">
              <a:ext uri="{FF2B5EF4-FFF2-40B4-BE49-F238E27FC236}">
                <a16:creationId xmlns:a16="http://schemas.microsoft.com/office/drawing/2014/main" id="{B25C3068-B26C-4275-AB61-6272C5814DCF}"/>
              </a:ext>
            </a:extLst>
          </p:cNvPr>
          <p:cNvSpPr>
            <a:spLocks xmlns:a="http://schemas.openxmlformats.org/drawingml/2006/main" noGrp="1"/>
          </p:cNvSpPr>
          <p:nvPr/>
        </p:nvSpPr>
        <p:spPr>
          <a:xfrm xmlns:a="http://schemas.openxmlformats.org/drawingml/2006/main">
            <a:off x="6519672" y="1965960"/>
            <a:ext cx="4562856"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200"/>
              <a:buFont typeface="Arial"/>
              <a:buNone/>
            </a:pPr>
            <a:r>
              <a:rPr sz="1200" b="1">
                <a:solidFill>
                  <a:srgbClr val="E22B27"/>
                </a:solidFill>
                <a:latin typeface="Arial"/>
                <a:ea typeface="Arial"/>
                <a:cs typeface="Arial"/>
              </a:rPr>
              <a:t>STRONGER FUTURE WORK</a:t>
            </a:r>
          </a:p>
        </p:txBody>
      </p:sp>
      <p:sp>
        <p:nvSpPr>
          <p:cNvPr id="264" name="Google Shape;264;p15">
            <a:extLst xmlns:a="http://schemas.openxmlformats.org/drawingml/2006/main">
              <a:ext uri="{FF2B5EF4-FFF2-40B4-BE49-F238E27FC236}">
                <a16:creationId xmlns:a16="http://schemas.microsoft.com/office/drawing/2014/main" id="{F14A0A8C-8357-43D2-814D-11AD2FBC4F73}"/>
              </a:ext>
            </a:extLst>
          </p:cNvPr>
          <p:cNvSpPr>
            <a:spLocks xmlns:a="http://schemas.openxmlformats.org/drawingml/2006/main" noGrp="1"/>
          </p:cNvSpPr>
          <p:nvPr/>
        </p:nvSpPr>
        <p:spPr>
          <a:xfrm xmlns:a="http://schemas.openxmlformats.org/drawingml/2006/main">
            <a:off x="6519672" y="2331720"/>
            <a:ext cx="4562856" cy="2542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1900"/>
              <a:buFont typeface="Arial"/>
              <a:buNone/>
            </a:pPr>
            <a:r>
              <a:rPr sz="1900">
                <a:solidFill>
                  <a:srgbClr val="FFFFFF"/>
                </a:solidFill>
                <a:latin typeface="Arial"/>
                <a:ea typeface="Arial"/>
                <a:cs typeface="Arial"/>
              </a:rPr>
              <a:t>“Future testing should increase trials from 3 to 10 per design and test intermediate blade angles between 30° and 45°.”</a:t>
            </a:r>
          </a:p>
          <a:p xmlns:a="http://schemas.openxmlformats.org/drawingml/2006/main">
            <a:pPr marL="0" marR="0" indent="0" algn="l">
              <a:spcBef>
                <a:spcPts val="0"/>
              </a:spcBef>
              <a:spcAft>
                <a:spcPts val="0"/>
              </a:spcAft>
              <a:buClr>
                <a:schemeClr val="dk1"/>
              </a:buClr>
              <a:buSzPts val="1900"/>
              <a:buFont typeface="Arial"/>
              <a:buNone/>
            </a:pPr>
            <a:r>
              <a:t/>
            </a:r>
          </a:p>
          <a:p xmlns:a="http://schemas.openxmlformats.org/drawingml/2006/main">
            <a:pPr marL="0" marR="0" indent="0" algn="l">
              <a:spcBef>
                <a:spcPts val="0"/>
              </a:spcBef>
              <a:spcAft>
                <a:spcPts val="0"/>
              </a:spcAft>
              <a:buClr>
                <a:srgbClr val="FFFFFF"/>
              </a:buClr>
              <a:buSzPts val="1900"/>
              <a:buFont typeface="Arial"/>
              <a:buNone/>
            </a:pPr>
            <a:r>
              <a:rPr sz="1900">
                <a:solidFill>
                  <a:srgbClr val="FFFFFF"/>
                </a:solidFill>
                <a:latin typeface="Arial"/>
                <a:ea typeface="Arial"/>
                <a:cs typeface="Arial"/>
              </a:rPr>
              <a:t>“A revised prototype should reinforce the left joint where all failures began.”</a:t>
            </a:r>
          </a:p>
        </p:txBody>
      </p:sp>
    </p:spTree>
    <p:extLst>
      <p:ext uri="{BB962C8B-B14F-4D97-AF65-F5344CB8AC3E}">
        <p14:creationId xmlns:p14="http://schemas.microsoft.com/office/powerpoint/2010/main" val="78058444"/>
      </p:ext>
    </p:extLst>
  </p:cSld>
</p:sld>
</file>

<file path=ppt/slides/slide14.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270" name="Google Shape;270;p16">
            <a:extLst xmlns:a="http://schemas.openxmlformats.org/drawingml/2006/main">
              <a:ext uri="{FF2B5EF4-FFF2-40B4-BE49-F238E27FC236}">
                <a16:creationId xmlns:a16="http://schemas.microsoft.com/office/drawing/2014/main" id="{F649AF67-914A-46C6-8CD0-322BE66E912A}"/>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71" name="Google Shape;271;p16">
            <a:extLst xmlns:a="http://schemas.openxmlformats.org/drawingml/2006/main">
              <a:ext uri="{FF2B5EF4-FFF2-40B4-BE49-F238E27FC236}">
                <a16:creationId xmlns:a16="http://schemas.microsoft.com/office/drawing/2014/main" id="{91AB667F-DA08-4F19-9AA9-9CA9CB203DC9}"/>
              </a:ext>
            </a:extLst>
          </p:cNvPr>
          <p:cNvSpPr>
            <a:spLocks xmlns:a="http://schemas.openxmlformats.org/drawingml/2006/main" noGrp="1"/>
          </p:cNvSpPr>
          <p:nvPr/>
        </p:nvSpPr>
        <p:spPr>
          <a:xfrm xmlns:a="http://schemas.openxmlformats.org/drawingml/2006/main">
            <a:off x="0" y="164592"/>
            <a:ext cx="12191695" cy="7315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72" name="Google Shape;272;p16">
            <a:extLst xmlns:a="http://schemas.openxmlformats.org/drawingml/2006/main">
              <a:ext uri="{FF2B5EF4-FFF2-40B4-BE49-F238E27FC236}">
                <a16:creationId xmlns:a16="http://schemas.microsoft.com/office/drawing/2014/main" id="{4D1FF03D-A6F7-499E-8CF9-E60568EEBBC0}"/>
              </a:ext>
            </a:extLst>
          </p:cNvPr>
          <p:cNvSpPr>
            <a:spLocks xmlns:a="http://schemas.openxmlformats.org/drawingml/2006/main" noGrp="1"/>
          </p:cNvSpPr>
          <p:nvPr/>
        </p:nvSpPr>
        <p:spPr>
          <a:xfrm xmlns:a="http://schemas.openxmlformats.org/drawingml/2006/main">
            <a:off x="0" y="6729984"/>
            <a:ext cx="12191695" cy="54864"/>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73" name="Google Shape;273;p16">
            <a:extLst xmlns:a="http://schemas.openxmlformats.org/drawingml/2006/main">
              <a:ext uri="{FF2B5EF4-FFF2-40B4-BE49-F238E27FC236}">
                <a16:creationId xmlns:a16="http://schemas.microsoft.com/office/drawing/2014/main" id="{8C1E90A4-E0EA-410E-89ED-5A0846D52227}"/>
              </a:ext>
            </a:extLst>
          </p:cNvPr>
          <p:cNvSpPr>
            <a:spLocks xmlns:a="http://schemas.openxmlformats.org/drawingml/2006/main" noGrp="1"/>
          </p:cNvSpPr>
          <p:nvPr/>
        </p:nvSpPr>
        <p:spPr>
          <a:xfrm xmlns:a="http://schemas.openxmlformats.org/drawingml/2006/main">
            <a:off x="411480" y="6236208"/>
            <a:ext cx="420624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000"/>
              <a:buFont typeface="Arial"/>
              <a:buNone/>
            </a:pPr>
            <a:r>
              <a:rPr sz="1000" b="1">
                <a:solidFill>
                  <a:srgbClr val="B8B8B8"/>
                </a:solidFill>
                <a:latin typeface="Arial"/>
                <a:ea typeface="Arial"/>
                <a:cs typeface="Arial"/>
              </a:rPr>
              <a:t>SCIENTIFIC REPORTING</a:t>
            </a:r>
          </a:p>
        </p:txBody>
      </p:sp>
      <p:sp>
        <p:nvSpPr>
          <p:cNvPr id="274" name="Google Shape;274;p16">
            <a:extLst xmlns:a="http://schemas.openxmlformats.org/drawingml/2006/main">
              <a:ext uri="{FF2B5EF4-FFF2-40B4-BE49-F238E27FC236}">
                <a16:creationId xmlns:a16="http://schemas.microsoft.com/office/drawing/2014/main" id="{0DB306C8-83A7-4F15-A2F8-1FAAA47C6416}"/>
              </a:ext>
            </a:extLst>
          </p:cNvPr>
          <p:cNvSpPr>
            <a:spLocks xmlns:a="http://schemas.openxmlformats.org/drawingml/2006/main" noGrp="1"/>
          </p:cNvSpPr>
          <p:nvPr/>
        </p:nvSpPr>
        <p:spPr>
          <a:xfrm xmlns:a="http://schemas.openxmlformats.org/drawingml/2006/main">
            <a:off x="10515600" y="6236208"/>
            <a:ext cx="123444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B8B8B8"/>
              </a:buClr>
              <a:buSzPts val="1000"/>
              <a:buFont typeface="Arial"/>
              <a:buNone/>
            </a:pPr>
            <a:r>
              <a:rPr sz="1000" b="1">
                <a:solidFill>
                  <a:srgbClr val="B8B8B8"/>
                </a:solidFill>
                <a:latin typeface="Arial"/>
                <a:ea typeface="Arial"/>
                <a:cs typeface="Arial"/>
              </a:rPr>
              <a:t>STARLAB</a:t>
            </a:r>
          </a:p>
        </p:txBody>
      </p:sp>
      <p:sp>
        <p:nvSpPr>
          <p:cNvPr id="275" name="Google Shape;275;p16">
            <a:extLst xmlns:a="http://schemas.openxmlformats.org/drawingml/2006/main">
              <a:ext uri="{FF2B5EF4-FFF2-40B4-BE49-F238E27FC236}">
                <a16:creationId xmlns:a16="http://schemas.microsoft.com/office/drawing/2014/main" id="{1F49DD86-7A06-40D9-9818-947A4E88C08E}"/>
              </a:ext>
            </a:extLst>
          </p:cNvPr>
          <p:cNvSpPr>
            <a:spLocks xmlns:a="http://schemas.openxmlformats.org/drawingml/2006/main" noGrp="1"/>
          </p:cNvSpPr>
          <p:nvPr/>
        </p:nvSpPr>
        <p:spPr>
          <a:xfrm xmlns:a="http://schemas.openxmlformats.org/drawingml/2006/main">
            <a:off x="10195560" y="384048"/>
            <a:ext cx="1325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E22B27"/>
              </a:buClr>
              <a:buSzPts val="1100"/>
              <a:buFont typeface="Arial"/>
              <a:buNone/>
            </a:pPr>
            <a:r>
              <a:rPr sz="1100" b="1">
                <a:solidFill>
                  <a:srgbClr val="E22B27"/>
                </a:solidFill>
                <a:latin typeface="Arial"/>
                <a:ea typeface="Arial"/>
                <a:cs typeface="Arial"/>
              </a:rPr>
              <a:t>DECK 14</a:t>
            </a:r>
          </a:p>
        </p:txBody>
      </p:sp>
      <p:sp>
        <p:nvSpPr>
          <p:cNvPr id="276" name="Google Shape;276;p16">
            <a:extLst xmlns:a="http://schemas.openxmlformats.org/drawingml/2006/main">
              <a:ext uri="{FF2B5EF4-FFF2-40B4-BE49-F238E27FC236}">
                <a16:creationId xmlns:a16="http://schemas.microsoft.com/office/drawing/2014/main" id="{0C4F0803-CE64-4B5B-9CFE-A7EFFF322A72}"/>
              </a:ext>
            </a:extLst>
          </p:cNvPr>
          <p:cNvSpPr>
            <a:spLocks xmlns:a="http://schemas.openxmlformats.org/drawingml/2006/main" noGrp="1"/>
          </p:cNvSpPr>
          <p:nvPr/>
        </p:nvSpPr>
        <p:spPr>
          <a:xfrm xmlns:a="http://schemas.openxmlformats.org/drawingml/2006/main">
            <a:off x="685800" y="694944"/>
            <a:ext cx="9829800" cy="49377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700"/>
              <a:buFont typeface="Play"/>
              <a:buNone/>
            </a:pPr>
            <a:r>
              <a:rPr sz="2700" b="1">
                <a:solidFill>
                  <a:srgbClr val="FFFFFF"/>
                </a:solidFill>
                <a:latin typeface="Play"/>
                <a:ea typeface="Play"/>
                <a:cs typeface="Play"/>
              </a:rPr>
              <a:t>Scientific Caution: Stronger Than “Proof”</a:t>
            </a:r>
          </a:p>
        </p:txBody>
      </p:sp>
      <p:sp>
        <p:nvSpPr>
          <p:cNvPr id="277" name="Google Shape;277;p16">
            <a:extLst xmlns:a="http://schemas.openxmlformats.org/drawingml/2006/main">
              <a:ext uri="{FF2B5EF4-FFF2-40B4-BE49-F238E27FC236}">
                <a16:creationId xmlns:a16="http://schemas.microsoft.com/office/drawing/2014/main" id="{95940AEF-B32A-428E-BD97-C512BAB4E9E7}"/>
              </a:ext>
            </a:extLst>
          </p:cNvPr>
          <p:cNvSpPr>
            <a:spLocks xmlns:a="http://schemas.openxmlformats.org/drawingml/2006/main" noGrp="1"/>
          </p:cNvSpPr>
          <p:nvPr/>
        </p:nvSpPr>
        <p:spPr>
          <a:xfrm xmlns:a="http://schemas.openxmlformats.org/drawingml/2006/main">
            <a:off x="694944" y="1271016"/>
            <a:ext cx="9875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200"/>
              <a:buFont typeface="Arial"/>
              <a:buNone/>
            </a:pPr>
            <a:r>
              <a:rPr sz="1200">
                <a:solidFill>
                  <a:srgbClr val="B8B8B8"/>
                </a:solidFill>
                <a:latin typeface="Arial"/>
                <a:ea typeface="Arial"/>
                <a:cs typeface="Arial"/>
              </a:rPr>
              <a:t>Avoid claims the data cannot support.</a:t>
            </a:r>
          </a:p>
        </p:txBody>
      </p:sp>
      <p:cxnSp>
        <p:nvCxnSpPr>
          <p:cNvPr id="293" name="Google Shape;278;p16"/>
          <p:cNvCxnSpPr/>
          <p:nvPr/>
        </p:nvCxnSpPr>
        <p:spPr>
          <a:xfrm xmlns:a="http://schemas.openxmlformats.org/drawingml/2006/main">
            <a:off x="685800" y="1591056"/>
            <a:ext cx="10789920" cy="0"/>
          </a:xfrm>
          <a:prstGeom xmlns:a="http://schemas.openxmlformats.org/drawingml/2006/main" prst="straightConnector1">
            <a:avLst/>
          </a:prstGeom>
          <a:ln xmlns:a="http://schemas.openxmlformats.org/drawingml/2006/main" w="16500" cap="flat">
            <a:solidFill>
              <a:srgbClr val="E22B27"/>
            </a:solidFill>
            <a:prstDash val="solid"/>
            <a:round/>
            <a:headEnd type="none" w="sm" len="sm"/>
            <a:tailEnd type="none" w="sm" len="sm"/>
          </a:ln>
        </p:spPr>
      </p:cxnSp>
      <p:sp>
        <p:nvSpPr>
          <p:cNvPr id="279" name="Google Shape;279;p16">
            <a:extLst xmlns:a="http://schemas.openxmlformats.org/drawingml/2006/main">
              <a:ext uri="{FF2B5EF4-FFF2-40B4-BE49-F238E27FC236}">
                <a16:creationId xmlns:a16="http://schemas.microsoft.com/office/drawing/2014/main" id="{251B4362-D9C8-4CEB-BF97-599A154CBC4B}"/>
              </a:ext>
            </a:extLst>
          </p:cNvPr>
          <p:cNvSpPr>
            <a:spLocks xmlns:a="http://schemas.openxmlformats.org/drawingml/2006/main" noGrp="1"/>
          </p:cNvSpPr>
          <p:nvPr/>
        </p:nvSpPr>
        <p:spPr>
          <a:xfrm xmlns:a="http://schemas.openxmlformats.org/drawingml/2006/main">
            <a:off x="914400" y="1783080"/>
            <a:ext cx="4892040" cy="3749040"/>
          </a:xfrm>
          <a:prstGeom xmlns:a="http://schemas.openxmlformats.org/drawingml/2006/main" prst="roundRect">
            <a:avLst>
              <a:gd name="adj" fmla="val 1463"/>
            </a:avLst>
          </a:prstGeom>
          <a:solidFill xmlns:a="http://schemas.openxmlformats.org/drawingml/2006/main">
            <a:srgbClr val="101010"/>
          </a:solidFill>
          <a:ln xmlns:a="http://schemas.openxmlformats.org/drawingml/2006/main" w="12700" cmpd="sng">
            <a:solidFill>
              <a:srgbClr val="44444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80" name="Google Shape;280;p16">
            <a:extLst xmlns:a="http://schemas.openxmlformats.org/drawingml/2006/main">
              <a:ext uri="{FF2B5EF4-FFF2-40B4-BE49-F238E27FC236}">
                <a16:creationId xmlns:a16="http://schemas.microsoft.com/office/drawing/2014/main" id="{E8A8BFFC-0689-4471-AF85-2499C6ACEDBA}"/>
              </a:ext>
            </a:extLst>
          </p:cNvPr>
          <p:cNvSpPr>
            <a:spLocks xmlns:a="http://schemas.openxmlformats.org/drawingml/2006/main" noGrp="1"/>
          </p:cNvSpPr>
          <p:nvPr/>
        </p:nvSpPr>
        <p:spPr>
          <a:xfrm xmlns:a="http://schemas.openxmlformats.org/drawingml/2006/main">
            <a:off x="1078992" y="1920240"/>
            <a:ext cx="4562856"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200"/>
              <a:buFont typeface="Arial"/>
              <a:buNone/>
            </a:pPr>
            <a:r>
              <a:rPr sz="1200" b="1">
                <a:solidFill>
                  <a:srgbClr val="E22B27"/>
                </a:solidFill>
                <a:latin typeface="Arial"/>
                <a:ea typeface="Arial"/>
                <a:cs typeface="Arial"/>
              </a:rPr>
              <a:t>AVOID</a:t>
            </a:r>
          </a:p>
        </p:txBody>
      </p:sp>
      <p:sp>
        <p:nvSpPr>
          <p:cNvPr id="281" name="Google Shape;281;p16">
            <a:extLst xmlns:a="http://schemas.openxmlformats.org/drawingml/2006/main">
              <a:ext uri="{FF2B5EF4-FFF2-40B4-BE49-F238E27FC236}">
                <a16:creationId xmlns:a16="http://schemas.microsoft.com/office/drawing/2014/main" id="{6732A3E3-373D-4D73-8386-28D1798E0D52}"/>
              </a:ext>
            </a:extLst>
          </p:cNvPr>
          <p:cNvSpPr>
            <a:spLocks xmlns:a="http://schemas.openxmlformats.org/drawingml/2006/main" noGrp="1"/>
          </p:cNvSpPr>
          <p:nvPr/>
        </p:nvSpPr>
        <p:spPr>
          <a:xfrm xmlns:a="http://schemas.openxmlformats.org/drawingml/2006/main">
            <a:off x="1078992" y="2286000"/>
            <a:ext cx="4562856" cy="309067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300"/>
              <a:buFont typeface="Arial"/>
              <a:buNone/>
            </a:pPr>
            <a:r>
              <a:rPr sz="2300">
                <a:solidFill>
                  <a:srgbClr val="FFFFFF"/>
                </a:solidFill>
                <a:latin typeface="Arial"/>
                <a:ea typeface="Arial"/>
                <a:cs typeface="Arial"/>
              </a:rPr>
              <a:t>This proves...</a:t>
            </a:r>
          </a:p>
          <a:p xmlns:a="http://schemas.openxmlformats.org/drawingml/2006/main">
            <a:pPr marL="0" marR="0" indent="0" algn="l">
              <a:spcBef>
                <a:spcPts val="0"/>
              </a:spcBef>
              <a:spcAft>
                <a:spcPts val="0"/>
              </a:spcAft>
              <a:buClr>
                <a:srgbClr val="FFFFFF"/>
              </a:buClr>
              <a:buSzPts val="2300"/>
              <a:buFont typeface="Arial"/>
              <a:buNone/>
            </a:pPr>
            <a:r>
              <a:rPr sz="2300">
                <a:solidFill>
                  <a:srgbClr val="FFFFFF"/>
                </a:solidFill>
                <a:latin typeface="Arial"/>
                <a:ea typeface="Arial"/>
                <a:cs typeface="Arial"/>
              </a:rPr>
              <a:t>This always shows...</a:t>
            </a:r>
          </a:p>
          <a:p xmlns:a="http://schemas.openxmlformats.org/drawingml/2006/main">
            <a:pPr marL="0" marR="0" indent="0" algn="l">
              <a:spcBef>
                <a:spcPts val="0"/>
              </a:spcBef>
              <a:spcAft>
                <a:spcPts val="0"/>
              </a:spcAft>
              <a:buClr>
                <a:srgbClr val="FFFFFF"/>
              </a:buClr>
              <a:buSzPts val="2300"/>
              <a:buFont typeface="Arial"/>
              <a:buNone/>
            </a:pPr>
            <a:r>
              <a:rPr sz="2300">
                <a:solidFill>
                  <a:srgbClr val="FFFFFF"/>
                </a:solidFill>
                <a:latin typeface="Arial"/>
                <a:ea typeface="Arial"/>
                <a:cs typeface="Arial"/>
              </a:rPr>
              <a:t>This is the best...</a:t>
            </a:r>
          </a:p>
          <a:p xmlns:a="http://schemas.openxmlformats.org/drawingml/2006/main">
            <a:pPr marL="0" marR="0" indent="0" algn="l">
              <a:spcBef>
                <a:spcPts val="0"/>
              </a:spcBef>
              <a:spcAft>
                <a:spcPts val="0"/>
              </a:spcAft>
              <a:buClr>
                <a:srgbClr val="FFFFFF"/>
              </a:buClr>
              <a:buSzPts val="2300"/>
              <a:buFont typeface="Arial"/>
              <a:buNone/>
            </a:pPr>
            <a:r>
              <a:rPr sz="2300">
                <a:solidFill>
                  <a:srgbClr val="FFFFFF"/>
                </a:solidFill>
                <a:latin typeface="Arial"/>
                <a:ea typeface="Arial"/>
                <a:cs typeface="Arial"/>
              </a:rPr>
              <a:t>There was no error...</a:t>
            </a:r>
          </a:p>
          <a:p xmlns:a="http://schemas.openxmlformats.org/drawingml/2006/main">
            <a:pPr marL="0" marR="0" indent="0" algn="l">
              <a:spcBef>
                <a:spcPts val="0"/>
              </a:spcBef>
              <a:spcAft>
                <a:spcPts val="0"/>
              </a:spcAft>
              <a:buClr>
                <a:srgbClr val="FFFFFF"/>
              </a:buClr>
              <a:buSzPts val="2300"/>
              <a:buFont typeface="Arial"/>
              <a:buNone/>
            </a:pPr>
            <a:r>
              <a:rPr sz="2300">
                <a:solidFill>
                  <a:srgbClr val="FFFFFF"/>
                </a:solidFill>
                <a:latin typeface="Arial"/>
                <a:ea typeface="Arial"/>
                <a:cs typeface="Arial"/>
              </a:rPr>
              <a:t>My data are perfect...</a:t>
            </a:r>
          </a:p>
          <a:p xmlns:a="http://schemas.openxmlformats.org/drawingml/2006/main">
            <a:pPr marL="0" marR="0" indent="0" algn="l">
              <a:spcBef>
                <a:spcPts val="0"/>
              </a:spcBef>
              <a:spcAft>
                <a:spcPts val="0"/>
              </a:spcAft>
              <a:buClr>
                <a:srgbClr val="FFFFFF"/>
              </a:buClr>
              <a:buSzPts val="2300"/>
              <a:buFont typeface="Arial"/>
              <a:buNone/>
            </a:pPr>
            <a:r>
              <a:rPr sz="2300">
                <a:solidFill>
                  <a:srgbClr val="FFFFFF"/>
                </a:solidFill>
                <a:latin typeface="Arial"/>
                <a:ea typeface="Arial"/>
                <a:cs typeface="Arial"/>
              </a:rPr>
              <a:t>This will definitely solve...</a:t>
            </a:r>
          </a:p>
        </p:txBody>
      </p:sp>
      <p:sp>
        <p:nvSpPr>
          <p:cNvPr id="282" name="Google Shape;282;p16">
            <a:extLst xmlns:a="http://schemas.openxmlformats.org/drawingml/2006/main">
              <a:ext uri="{FF2B5EF4-FFF2-40B4-BE49-F238E27FC236}">
                <a16:creationId xmlns:a16="http://schemas.microsoft.com/office/drawing/2014/main" id="{39A74217-2E08-47C7-A64A-EB59E8A8A81F}"/>
              </a:ext>
            </a:extLst>
          </p:cNvPr>
          <p:cNvSpPr>
            <a:spLocks xmlns:a="http://schemas.openxmlformats.org/drawingml/2006/main" noGrp="1"/>
          </p:cNvSpPr>
          <p:nvPr/>
        </p:nvSpPr>
        <p:spPr>
          <a:xfrm xmlns:a="http://schemas.openxmlformats.org/drawingml/2006/main">
            <a:off x="6355080" y="1783080"/>
            <a:ext cx="4892040" cy="3749040"/>
          </a:xfrm>
          <a:prstGeom xmlns:a="http://schemas.openxmlformats.org/drawingml/2006/main" prst="roundRect">
            <a:avLst>
              <a:gd name="adj" fmla="val 1463"/>
            </a:avLst>
          </a:prstGeom>
          <a:solidFill xmlns:a="http://schemas.openxmlformats.org/drawingml/2006/main">
            <a:srgbClr val="101010"/>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83" name="Google Shape;283;p16">
            <a:extLst xmlns:a="http://schemas.openxmlformats.org/drawingml/2006/main">
              <a:ext uri="{FF2B5EF4-FFF2-40B4-BE49-F238E27FC236}">
                <a16:creationId xmlns:a16="http://schemas.microsoft.com/office/drawing/2014/main" id="{A12A9F36-A0D8-4096-A989-47AB72DA6B2F}"/>
              </a:ext>
            </a:extLst>
          </p:cNvPr>
          <p:cNvSpPr>
            <a:spLocks xmlns:a="http://schemas.openxmlformats.org/drawingml/2006/main" noGrp="1"/>
          </p:cNvSpPr>
          <p:nvPr/>
        </p:nvSpPr>
        <p:spPr>
          <a:xfrm xmlns:a="http://schemas.openxmlformats.org/drawingml/2006/main">
            <a:off x="6519672" y="1920240"/>
            <a:ext cx="4562856"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200"/>
              <a:buFont typeface="Arial"/>
              <a:buNone/>
            </a:pPr>
            <a:r>
              <a:rPr sz="1200" b="1">
                <a:solidFill>
                  <a:srgbClr val="E22B27"/>
                </a:solidFill>
                <a:latin typeface="Arial"/>
                <a:ea typeface="Arial"/>
                <a:cs typeface="Arial"/>
              </a:rPr>
              <a:t>USE</a:t>
            </a:r>
          </a:p>
        </p:txBody>
      </p:sp>
      <p:sp>
        <p:nvSpPr>
          <p:cNvPr id="284" name="Google Shape;284;p16">
            <a:extLst xmlns:a="http://schemas.openxmlformats.org/drawingml/2006/main">
              <a:ext uri="{FF2B5EF4-FFF2-40B4-BE49-F238E27FC236}">
                <a16:creationId xmlns:a16="http://schemas.microsoft.com/office/drawing/2014/main" id="{B80E0209-45A0-491F-96AD-0F54062DC233}"/>
              </a:ext>
            </a:extLst>
          </p:cNvPr>
          <p:cNvSpPr>
            <a:spLocks xmlns:a="http://schemas.openxmlformats.org/drawingml/2006/main" noGrp="1"/>
          </p:cNvSpPr>
          <p:nvPr/>
        </p:nvSpPr>
        <p:spPr>
          <a:xfrm xmlns:a="http://schemas.openxmlformats.org/drawingml/2006/main">
            <a:off x="6519672" y="2286000"/>
            <a:ext cx="4562856" cy="309067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300"/>
              <a:buFont typeface="Arial"/>
              <a:buNone/>
            </a:pPr>
            <a:r>
              <a:rPr sz="2300">
                <a:solidFill>
                  <a:srgbClr val="FFFFFF"/>
                </a:solidFill>
                <a:latin typeface="Arial"/>
                <a:ea typeface="Arial"/>
                <a:cs typeface="Arial"/>
              </a:rPr>
              <a:t>The data suggest...</a:t>
            </a:r>
          </a:p>
          <a:p xmlns:a="http://schemas.openxmlformats.org/drawingml/2006/main">
            <a:pPr marL="0" marR="0" indent="0" algn="l">
              <a:spcBef>
                <a:spcPts val="0"/>
              </a:spcBef>
              <a:spcAft>
                <a:spcPts val="0"/>
              </a:spcAft>
              <a:buClr>
                <a:srgbClr val="FFFFFF"/>
              </a:buClr>
              <a:buSzPts val="2300"/>
              <a:buFont typeface="Arial"/>
              <a:buNone/>
            </a:pPr>
            <a:r>
              <a:rPr sz="2300">
                <a:solidFill>
                  <a:srgbClr val="FFFFFF"/>
                </a:solidFill>
                <a:latin typeface="Arial"/>
                <a:ea typeface="Arial"/>
                <a:cs typeface="Arial"/>
              </a:rPr>
              <a:t>The results support...</a:t>
            </a:r>
          </a:p>
          <a:p xmlns:a="http://schemas.openxmlformats.org/drawingml/2006/main">
            <a:pPr marL="0" marR="0" indent="0" algn="l">
              <a:spcBef>
                <a:spcPts val="0"/>
              </a:spcBef>
              <a:spcAft>
                <a:spcPts val="0"/>
              </a:spcAft>
              <a:buClr>
                <a:srgbClr val="FFFFFF"/>
              </a:buClr>
              <a:buSzPts val="2300"/>
              <a:buFont typeface="Arial"/>
              <a:buNone/>
            </a:pPr>
            <a:r>
              <a:rPr sz="2300">
                <a:solidFill>
                  <a:srgbClr val="FFFFFF"/>
                </a:solidFill>
                <a:latin typeface="Arial"/>
                <a:ea typeface="Arial"/>
                <a:cs typeface="Arial"/>
              </a:rPr>
              <a:t>Under the tested conditions...</a:t>
            </a:r>
          </a:p>
          <a:p xmlns:a="http://schemas.openxmlformats.org/drawingml/2006/main">
            <a:pPr marL="0" marR="0" indent="0" algn="l">
              <a:spcBef>
                <a:spcPts val="0"/>
              </a:spcBef>
              <a:spcAft>
                <a:spcPts val="0"/>
              </a:spcAft>
              <a:buClr>
                <a:srgbClr val="FFFFFF"/>
              </a:buClr>
              <a:buSzPts val="2300"/>
              <a:buFont typeface="Arial"/>
              <a:buNone/>
            </a:pPr>
            <a:r>
              <a:rPr sz="2300">
                <a:solidFill>
                  <a:srgbClr val="FFFFFF"/>
                </a:solidFill>
                <a:latin typeface="Arial"/>
                <a:ea typeface="Arial"/>
                <a:cs typeface="Arial"/>
              </a:rPr>
              <a:t>This may indicate...</a:t>
            </a:r>
          </a:p>
          <a:p xmlns:a="http://schemas.openxmlformats.org/drawingml/2006/main">
            <a:pPr marL="0" marR="0" indent="0" algn="l">
              <a:spcBef>
                <a:spcPts val="0"/>
              </a:spcBef>
              <a:spcAft>
                <a:spcPts val="0"/>
              </a:spcAft>
              <a:buClr>
                <a:srgbClr val="FFFFFF"/>
              </a:buClr>
              <a:buSzPts val="2300"/>
              <a:buFont typeface="Arial"/>
              <a:buNone/>
            </a:pPr>
            <a:r>
              <a:rPr sz="2300">
                <a:solidFill>
                  <a:srgbClr val="FFFFFF"/>
                </a:solidFill>
                <a:latin typeface="Arial"/>
                <a:ea typeface="Arial"/>
                <a:cs typeface="Arial"/>
              </a:rPr>
              <a:t>One limitation is...</a:t>
            </a:r>
          </a:p>
          <a:p xmlns:a="http://schemas.openxmlformats.org/drawingml/2006/main">
            <a:pPr marL="0" marR="0" indent="0" algn="l">
              <a:spcBef>
                <a:spcPts val="0"/>
              </a:spcBef>
              <a:spcAft>
                <a:spcPts val="0"/>
              </a:spcAft>
              <a:buClr>
                <a:srgbClr val="FFFFFF"/>
              </a:buClr>
              <a:buSzPts val="2300"/>
              <a:buFont typeface="Arial"/>
              <a:buNone/>
            </a:pPr>
            <a:r>
              <a:rPr sz="2300">
                <a:solidFill>
                  <a:srgbClr val="FFFFFF"/>
                </a:solidFill>
                <a:latin typeface="Arial"/>
                <a:ea typeface="Arial"/>
                <a:cs typeface="Arial"/>
              </a:rPr>
              <a:t>More data would be needed to...</a:t>
            </a:r>
          </a:p>
        </p:txBody>
      </p:sp>
    </p:spTree>
    <p:extLst>
      <p:ext uri="{BB962C8B-B14F-4D97-AF65-F5344CB8AC3E}">
        <p14:creationId xmlns:p14="http://schemas.microsoft.com/office/powerpoint/2010/main" val="1800541037"/>
      </p:ext>
    </p:extLst>
  </p:cSld>
</p:sld>
</file>

<file path=ppt/slides/slide15.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290" name="Google Shape;290;p17">
            <a:extLst xmlns:a="http://schemas.openxmlformats.org/drawingml/2006/main">
              <a:ext uri="{FF2B5EF4-FFF2-40B4-BE49-F238E27FC236}">
                <a16:creationId xmlns:a16="http://schemas.microsoft.com/office/drawing/2014/main" id="{885467F8-DDD7-4DDC-8485-BBE0F684F894}"/>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91" name="Google Shape;291;p17">
            <a:extLst xmlns:a="http://schemas.openxmlformats.org/drawingml/2006/main">
              <a:ext uri="{FF2B5EF4-FFF2-40B4-BE49-F238E27FC236}">
                <a16:creationId xmlns:a16="http://schemas.microsoft.com/office/drawing/2014/main" id="{FDCC944B-6B7B-4FFB-AD60-67E5660E888A}"/>
              </a:ext>
            </a:extLst>
          </p:cNvPr>
          <p:cNvSpPr>
            <a:spLocks xmlns:a="http://schemas.openxmlformats.org/drawingml/2006/main" noGrp="1"/>
          </p:cNvSpPr>
          <p:nvPr/>
        </p:nvSpPr>
        <p:spPr>
          <a:xfrm xmlns:a="http://schemas.openxmlformats.org/drawingml/2006/main">
            <a:off x="0" y="164592"/>
            <a:ext cx="12191695" cy="7315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92" name="Google Shape;292;p17">
            <a:extLst xmlns:a="http://schemas.openxmlformats.org/drawingml/2006/main">
              <a:ext uri="{FF2B5EF4-FFF2-40B4-BE49-F238E27FC236}">
                <a16:creationId xmlns:a16="http://schemas.microsoft.com/office/drawing/2014/main" id="{E88A69EC-7AD6-4181-ADD8-69EFB8296623}"/>
              </a:ext>
            </a:extLst>
          </p:cNvPr>
          <p:cNvSpPr>
            <a:spLocks xmlns:a="http://schemas.openxmlformats.org/drawingml/2006/main" noGrp="1"/>
          </p:cNvSpPr>
          <p:nvPr/>
        </p:nvSpPr>
        <p:spPr>
          <a:xfrm xmlns:a="http://schemas.openxmlformats.org/drawingml/2006/main">
            <a:off x="0" y="6729984"/>
            <a:ext cx="12191695" cy="54864"/>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93" name="Google Shape;293;p17">
            <a:extLst xmlns:a="http://schemas.openxmlformats.org/drawingml/2006/main">
              <a:ext uri="{FF2B5EF4-FFF2-40B4-BE49-F238E27FC236}">
                <a16:creationId xmlns:a16="http://schemas.microsoft.com/office/drawing/2014/main" id="{4424A299-4461-4851-838E-9F7E6A9C4F7B}"/>
              </a:ext>
            </a:extLst>
          </p:cNvPr>
          <p:cNvSpPr>
            <a:spLocks xmlns:a="http://schemas.openxmlformats.org/drawingml/2006/main" noGrp="1"/>
          </p:cNvSpPr>
          <p:nvPr/>
        </p:nvSpPr>
        <p:spPr>
          <a:xfrm xmlns:a="http://schemas.openxmlformats.org/drawingml/2006/main">
            <a:off x="411480" y="6236208"/>
            <a:ext cx="420624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000"/>
              <a:buFont typeface="Arial"/>
              <a:buNone/>
            </a:pPr>
            <a:r>
              <a:rPr sz="1000" b="1">
                <a:solidFill>
                  <a:srgbClr val="B8B8B8"/>
                </a:solidFill>
                <a:latin typeface="Arial"/>
                <a:ea typeface="Arial"/>
                <a:cs typeface="Arial"/>
              </a:rPr>
              <a:t>STUDENT ACTIVITY</a:t>
            </a:r>
          </a:p>
        </p:txBody>
      </p:sp>
      <p:sp>
        <p:nvSpPr>
          <p:cNvPr id="294" name="Google Shape;294;p17">
            <a:extLst xmlns:a="http://schemas.openxmlformats.org/drawingml/2006/main">
              <a:ext uri="{FF2B5EF4-FFF2-40B4-BE49-F238E27FC236}">
                <a16:creationId xmlns:a16="http://schemas.microsoft.com/office/drawing/2014/main" id="{6781C1BF-4262-4403-9964-67294F879417}"/>
              </a:ext>
            </a:extLst>
          </p:cNvPr>
          <p:cNvSpPr>
            <a:spLocks xmlns:a="http://schemas.openxmlformats.org/drawingml/2006/main" noGrp="1"/>
          </p:cNvSpPr>
          <p:nvPr/>
        </p:nvSpPr>
        <p:spPr>
          <a:xfrm xmlns:a="http://schemas.openxmlformats.org/drawingml/2006/main">
            <a:off x="10515600" y="6236208"/>
            <a:ext cx="123444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B8B8B8"/>
              </a:buClr>
              <a:buSzPts val="1000"/>
              <a:buFont typeface="Arial"/>
              <a:buNone/>
            </a:pPr>
            <a:r>
              <a:rPr sz="1000" b="1">
                <a:solidFill>
                  <a:srgbClr val="B8B8B8"/>
                </a:solidFill>
                <a:latin typeface="Arial"/>
                <a:ea typeface="Arial"/>
                <a:cs typeface="Arial"/>
              </a:rPr>
              <a:t>STARLAB</a:t>
            </a:r>
          </a:p>
        </p:txBody>
      </p:sp>
      <p:sp>
        <p:nvSpPr>
          <p:cNvPr id="295" name="Google Shape;295;p17">
            <a:extLst xmlns:a="http://schemas.openxmlformats.org/drawingml/2006/main">
              <a:ext uri="{FF2B5EF4-FFF2-40B4-BE49-F238E27FC236}">
                <a16:creationId xmlns:a16="http://schemas.microsoft.com/office/drawing/2014/main" id="{E0F35412-1DFA-4B2C-9304-A2A247202DE7}"/>
              </a:ext>
            </a:extLst>
          </p:cNvPr>
          <p:cNvSpPr>
            <a:spLocks xmlns:a="http://schemas.openxmlformats.org/drawingml/2006/main" noGrp="1"/>
          </p:cNvSpPr>
          <p:nvPr/>
        </p:nvSpPr>
        <p:spPr>
          <a:xfrm xmlns:a="http://schemas.openxmlformats.org/drawingml/2006/main">
            <a:off x="10195560" y="384048"/>
            <a:ext cx="1325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E22B27"/>
              </a:buClr>
              <a:buSzPts val="1100"/>
              <a:buFont typeface="Arial"/>
              <a:buNone/>
            </a:pPr>
            <a:r>
              <a:rPr sz="1100" b="1">
                <a:solidFill>
                  <a:srgbClr val="E22B27"/>
                </a:solidFill>
                <a:latin typeface="Arial"/>
                <a:ea typeface="Arial"/>
                <a:cs typeface="Arial"/>
              </a:rPr>
              <a:t>DECK 14</a:t>
            </a:r>
          </a:p>
        </p:txBody>
      </p:sp>
      <p:sp>
        <p:nvSpPr>
          <p:cNvPr id="296" name="Google Shape;296;p17">
            <a:extLst xmlns:a="http://schemas.openxmlformats.org/drawingml/2006/main">
              <a:ext uri="{FF2B5EF4-FFF2-40B4-BE49-F238E27FC236}">
                <a16:creationId xmlns:a16="http://schemas.microsoft.com/office/drawing/2014/main" id="{67256A49-48F6-4CC0-B190-78A203558269}"/>
              </a:ext>
            </a:extLst>
          </p:cNvPr>
          <p:cNvSpPr>
            <a:spLocks xmlns:a="http://schemas.openxmlformats.org/drawingml/2006/main" noGrp="1"/>
          </p:cNvSpPr>
          <p:nvPr/>
        </p:nvSpPr>
        <p:spPr>
          <a:xfrm xmlns:a="http://schemas.openxmlformats.org/drawingml/2006/main">
            <a:off x="685800" y="694944"/>
            <a:ext cx="9829800" cy="49377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700"/>
              <a:buFont typeface="Play"/>
              <a:buNone/>
            </a:pPr>
            <a:r>
              <a:rPr sz="2700" b="1">
                <a:solidFill>
                  <a:srgbClr val="FFFFFF"/>
                </a:solidFill>
                <a:latin typeface="Play"/>
                <a:ea typeface="Play"/>
                <a:cs typeface="Play"/>
              </a:rPr>
              <a:t>Activity 1: Build One CER Paragraph</a:t>
            </a:r>
          </a:p>
        </p:txBody>
      </p:sp>
      <p:sp>
        <p:nvSpPr>
          <p:cNvPr id="297" name="Google Shape;297;p17">
            <a:extLst xmlns:a="http://schemas.openxmlformats.org/drawingml/2006/main">
              <a:ext uri="{FF2B5EF4-FFF2-40B4-BE49-F238E27FC236}">
                <a16:creationId xmlns:a16="http://schemas.microsoft.com/office/drawing/2014/main" id="{F287821B-13F9-4003-A429-1A006128593C}"/>
              </a:ext>
            </a:extLst>
          </p:cNvPr>
          <p:cNvSpPr>
            <a:spLocks xmlns:a="http://schemas.openxmlformats.org/drawingml/2006/main" noGrp="1"/>
          </p:cNvSpPr>
          <p:nvPr/>
        </p:nvSpPr>
        <p:spPr>
          <a:xfrm xmlns:a="http://schemas.openxmlformats.org/drawingml/2006/main">
            <a:off x="694944" y="1271016"/>
            <a:ext cx="9875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200"/>
              <a:buFont typeface="Arial"/>
              <a:buNone/>
            </a:pPr>
            <a:r>
              <a:rPr sz="1200">
                <a:solidFill>
                  <a:srgbClr val="B8B8B8"/>
                </a:solidFill>
                <a:latin typeface="Arial"/>
                <a:ea typeface="Arial"/>
                <a:cs typeface="Arial"/>
              </a:rPr>
              <a:t>12 minutes • Unit 5 Week 25</a:t>
            </a:r>
          </a:p>
        </p:txBody>
      </p:sp>
      <p:cxnSp>
        <p:nvCxnSpPr>
          <p:cNvPr id="310" name="Google Shape;298;p17"/>
          <p:cNvCxnSpPr/>
          <p:nvPr/>
        </p:nvCxnSpPr>
        <p:spPr>
          <a:xfrm xmlns:a="http://schemas.openxmlformats.org/drawingml/2006/main">
            <a:off x="685800" y="1591056"/>
            <a:ext cx="10789920" cy="0"/>
          </a:xfrm>
          <a:prstGeom xmlns:a="http://schemas.openxmlformats.org/drawingml/2006/main" prst="straightConnector1">
            <a:avLst/>
          </a:prstGeom>
          <a:ln xmlns:a="http://schemas.openxmlformats.org/drawingml/2006/main" w="16500" cap="flat">
            <a:solidFill>
              <a:srgbClr val="E22B27"/>
            </a:solidFill>
            <a:prstDash val="solid"/>
            <a:round/>
            <a:headEnd type="none" w="sm" len="sm"/>
            <a:tailEnd type="none" w="sm" len="sm"/>
          </a:ln>
        </p:spPr>
      </p:cxnSp>
      <p:sp>
        <p:nvSpPr>
          <p:cNvPr id="299" name="Google Shape;299;p17">
            <a:extLst xmlns:a="http://schemas.openxmlformats.org/drawingml/2006/main">
              <a:ext uri="{FF2B5EF4-FFF2-40B4-BE49-F238E27FC236}">
                <a16:creationId xmlns:a16="http://schemas.microsoft.com/office/drawing/2014/main" id="{CF0FD71C-35F0-403E-8775-46924F8D5AD3}"/>
              </a:ext>
            </a:extLst>
          </p:cNvPr>
          <p:cNvSpPr>
            <a:spLocks xmlns:a="http://schemas.openxmlformats.org/drawingml/2006/main" noGrp="1"/>
          </p:cNvSpPr>
          <p:nvPr/>
        </p:nvSpPr>
        <p:spPr>
          <a:xfrm xmlns:a="http://schemas.openxmlformats.org/drawingml/2006/main">
            <a:off x="777240" y="1783080"/>
            <a:ext cx="1874520" cy="34747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00" name="Google Shape;300;p17">
            <a:extLst xmlns:a="http://schemas.openxmlformats.org/drawingml/2006/main">
              <a:ext uri="{FF2B5EF4-FFF2-40B4-BE49-F238E27FC236}">
                <a16:creationId xmlns:a16="http://schemas.microsoft.com/office/drawing/2014/main" id="{7923C855-A1E3-4AB0-97C0-3FF569BD72C5}"/>
              </a:ext>
            </a:extLst>
          </p:cNvPr>
          <p:cNvSpPr>
            <a:spLocks xmlns:a="http://schemas.openxmlformats.org/drawingml/2006/main" noGrp="1"/>
          </p:cNvSpPr>
          <p:nvPr/>
        </p:nvSpPr>
        <p:spPr>
          <a:xfrm xmlns:a="http://schemas.openxmlformats.org/drawingml/2006/main">
            <a:off x="868680" y="1865376"/>
            <a:ext cx="169164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spcBef>
                <a:spcPts val="0"/>
              </a:spcBef>
              <a:spcAft>
                <a:spcPts val="0"/>
              </a:spcAft>
              <a:buClr>
                <a:srgbClr val="FFFFFF"/>
              </a:buClr>
              <a:buSzPts val="1000"/>
              <a:buFont typeface="Arial"/>
              <a:buNone/>
            </a:pPr>
            <a:r>
              <a:rPr sz="1000" b="1">
                <a:solidFill>
                  <a:srgbClr val="FFFFFF"/>
                </a:solidFill>
                <a:latin typeface="Arial"/>
                <a:ea typeface="Arial"/>
                <a:cs typeface="Arial"/>
              </a:rPr>
              <a:t>STUDENT ACTIVITY</a:t>
            </a:r>
          </a:p>
        </p:txBody>
      </p:sp>
      <p:sp>
        <p:nvSpPr>
          <p:cNvPr id="301" name="Google Shape;301;p17">
            <a:extLst xmlns:a="http://schemas.openxmlformats.org/drawingml/2006/main">
              <a:ext uri="{FF2B5EF4-FFF2-40B4-BE49-F238E27FC236}">
                <a16:creationId xmlns:a16="http://schemas.microsoft.com/office/drawing/2014/main" id="{BCD15B12-8126-44AB-9FD9-1227027242D1}"/>
              </a:ext>
            </a:extLst>
          </p:cNvPr>
          <p:cNvSpPr>
            <a:spLocks xmlns:a="http://schemas.openxmlformats.org/drawingml/2006/main" noGrp="1"/>
          </p:cNvSpPr>
          <p:nvPr/>
        </p:nvSpPr>
        <p:spPr>
          <a:xfrm xmlns:a="http://schemas.openxmlformats.org/drawingml/2006/main">
            <a:off x="868680" y="2331720"/>
            <a:ext cx="10332720" cy="34747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1000" tIns="1000" rIns="1000" bIns="1000" anchor="ctr">
            <a:noAutofit/>
          </a:bodyPr>
          <a:lstStyle xmlns:a="http://schemas.openxmlformats.org/drawingml/2006/main"/>
          <a:p xmlns:a="http://schemas.openxmlformats.org/drawingml/2006/main">
            <a:pPr marL="0" marR="0" indent="0" algn="l">
              <a:spcBef>
                <a:spcPts val="0"/>
              </a:spcBef>
              <a:spcAft>
                <a:spcPts val="0"/>
              </a:spcAft>
              <a:buNone/>
            </a:pPr>
            <a:r>
              <a:rPr sz="2000">
                <a:solidFill>
                  <a:srgbClr val="FFFFFF"/>
                </a:solidFill>
                <a:latin typeface="Arial"/>
                <a:ea typeface="Arial"/>
                <a:cs typeface="Arial"/>
              </a:rPr>
              <a:t>Choose your strongest graph, table, image, or result.</a:t>
            </a:r>
          </a:p>
          <a:p xmlns:a="http://schemas.openxmlformats.org/drawingml/2006/main">
            <a:pPr marL="0" marR="0" indent="0" algn="l">
              <a:spcBef>
                <a:spcPts val="0"/>
              </a:spcBef>
              <a:spcAft>
                <a:spcPts val="0"/>
              </a:spcAft>
              <a:buNone/>
            </a:pPr>
            <a:r>
              <a:rPr sz="2000">
                <a:solidFill>
                  <a:srgbClr val="FFFFFF"/>
                </a:solidFill>
                <a:latin typeface="Arial"/>
                <a:ea typeface="Arial"/>
                <a:cs typeface="Arial"/>
              </a:rPr>
              <a:t>Write one claim that answers your research question or design goal.</a:t>
            </a:r>
          </a:p>
          <a:p xmlns:a="http://schemas.openxmlformats.org/drawingml/2006/main">
            <a:pPr marL="0" marR="0" indent="0" algn="l">
              <a:spcBef>
                <a:spcPts val="0"/>
              </a:spcBef>
              <a:spcAft>
                <a:spcPts val="0"/>
              </a:spcAft>
              <a:buNone/>
            </a:pPr>
            <a:r>
              <a:rPr sz="2000">
                <a:solidFill>
                  <a:srgbClr val="FFFFFF"/>
                </a:solidFill>
                <a:latin typeface="Arial"/>
                <a:ea typeface="Arial"/>
                <a:cs typeface="Arial"/>
              </a:rPr>
              <a:t>Add one specific piece of evidence: number, comparison, figure, observation, or metric.</a:t>
            </a:r>
          </a:p>
          <a:p xmlns:a="http://schemas.openxmlformats.org/drawingml/2006/main">
            <a:pPr marL="0" marR="0" indent="0" algn="l">
              <a:spcBef>
                <a:spcPts val="0"/>
              </a:spcBef>
              <a:spcAft>
                <a:spcPts val="0"/>
              </a:spcAft>
              <a:buNone/>
            </a:pPr>
            <a:r>
              <a:rPr sz="2000">
                <a:solidFill>
                  <a:srgbClr val="FFFFFF"/>
                </a:solidFill>
                <a:latin typeface="Arial"/>
                <a:ea typeface="Arial"/>
                <a:cs typeface="Arial"/>
              </a:rPr>
              <a:t>Write reasoning that explains why the evidence supports the claim.</a:t>
            </a:r>
          </a:p>
          <a:p xmlns:a="http://schemas.openxmlformats.org/drawingml/2006/main">
            <a:pPr marL="0" marR="0" indent="0" algn="l">
              <a:spcBef>
                <a:spcPts val="0"/>
              </a:spcBef>
              <a:spcAft>
                <a:spcPts val="0"/>
              </a:spcAft>
              <a:buNone/>
            </a:pPr>
            <a:r>
              <a:rPr sz="2000">
                <a:solidFill>
                  <a:srgbClr val="FFFFFF"/>
                </a:solidFill>
                <a:latin typeface="Arial"/>
                <a:ea typeface="Arial"/>
                <a:cs typeface="Arial"/>
              </a:rPr>
              <a:t>Add one limitation or caution sentence.</a:t>
            </a:r>
          </a:p>
        </p:txBody>
      </p:sp>
    </p:spTree>
    <p:extLst>
      <p:ext uri="{BB962C8B-B14F-4D97-AF65-F5344CB8AC3E}">
        <p14:creationId xmlns:p14="http://schemas.microsoft.com/office/powerpoint/2010/main" val="1874707199"/>
      </p:ext>
    </p:extLst>
  </p:cSld>
</p:sld>
</file>

<file path=ppt/slides/slide16.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307" name="Google Shape;307;p18">
            <a:extLst xmlns:a="http://schemas.openxmlformats.org/drawingml/2006/main">
              <a:ext uri="{FF2B5EF4-FFF2-40B4-BE49-F238E27FC236}">
                <a16:creationId xmlns:a16="http://schemas.microsoft.com/office/drawing/2014/main" id="{0BCF80E5-8497-4773-B609-E148E48A06FC}"/>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08" name="Google Shape;308;p18">
            <a:extLst xmlns:a="http://schemas.openxmlformats.org/drawingml/2006/main">
              <a:ext uri="{FF2B5EF4-FFF2-40B4-BE49-F238E27FC236}">
                <a16:creationId xmlns:a16="http://schemas.microsoft.com/office/drawing/2014/main" id="{79EB2EDD-883A-4ED2-B654-FAD72AE7061C}"/>
              </a:ext>
            </a:extLst>
          </p:cNvPr>
          <p:cNvSpPr>
            <a:spLocks xmlns:a="http://schemas.openxmlformats.org/drawingml/2006/main" noGrp="1"/>
          </p:cNvSpPr>
          <p:nvPr/>
        </p:nvSpPr>
        <p:spPr>
          <a:xfrm xmlns:a="http://schemas.openxmlformats.org/drawingml/2006/main">
            <a:off x="0" y="164592"/>
            <a:ext cx="12191695" cy="7315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09" name="Google Shape;309;p18">
            <a:extLst xmlns:a="http://schemas.openxmlformats.org/drawingml/2006/main">
              <a:ext uri="{FF2B5EF4-FFF2-40B4-BE49-F238E27FC236}">
                <a16:creationId xmlns:a16="http://schemas.microsoft.com/office/drawing/2014/main" id="{569CEDCE-3603-4BA0-B061-600DE9C110D7}"/>
              </a:ext>
            </a:extLst>
          </p:cNvPr>
          <p:cNvSpPr>
            <a:spLocks xmlns:a="http://schemas.openxmlformats.org/drawingml/2006/main" noGrp="1"/>
          </p:cNvSpPr>
          <p:nvPr/>
        </p:nvSpPr>
        <p:spPr>
          <a:xfrm xmlns:a="http://schemas.openxmlformats.org/drawingml/2006/main">
            <a:off x="0" y="6729984"/>
            <a:ext cx="12191695" cy="54864"/>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10" name="Google Shape;310;p18">
            <a:extLst xmlns:a="http://schemas.openxmlformats.org/drawingml/2006/main">
              <a:ext uri="{FF2B5EF4-FFF2-40B4-BE49-F238E27FC236}">
                <a16:creationId xmlns:a16="http://schemas.microsoft.com/office/drawing/2014/main" id="{E2AEC282-3787-46E0-B322-7CCBF5E56BF4}"/>
              </a:ext>
            </a:extLst>
          </p:cNvPr>
          <p:cNvSpPr>
            <a:spLocks xmlns:a="http://schemas.openxmlformats.org/drawingml/2006/main" noGrp="1"/>
          </p:cNvSpPr>
          <p:nvPr/>
        </p:nvSpPr>
        <p:spPr>
          <a:xfrm xmlns:a="http://schemas.openxmlformats.org/drawingml/2006/main">
            <a:off x="411480" y="6236208"/>
            <a:ext cx="420624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000"/>
              <a:buFont typeface="Arial"/>
              <a:buNone/>
            </a:pPr>
            <a:r>
              <a:rPr sz="1000" b="1">
                <a:solidFill>
                  <a:srgbClr val="B8B8B8"/>
                </a:solidFill>
                <a:latin typeface="Arial"/>
                <a:ea typeface="Arial"/>
                <a:cs typeface="Arial"/>
              </a:rPr>
              <a:t>STUDENT ACTIVITY</a:t>
            </a:r>
          </a:p>
        </p:txBody>
      </p:sp>
      <p:sp>
        <p:nvSpPr>
          <p:cNvPr id="311" name="Google Shape;311;p18">
            <a:extLst xmlns:a="http://schemas.openxmlformats.org/drawingml/2006/main">
              <a:ext uri="{FF2B5EF4-FFF2-40B4-BE49-F238E27FC236}">
                <a16:creationId xmlns:a16="http://schemas.microsoft.com/office/drawing/2014/main" id="{5993043B-A290-49C5-90C5-6AC8584F4C28}"/>
              </a:ext>
            </a:extLst>
          </p:cNvPr>
          <p:cNvSpPr>
            <a:spLocks xmlns:a="http://schemas.openxmlformats.org/drawingml/2006/main" noGrp="1"/>
          </p:cNvSpPr>
          <p:nvPr/>
        </p:nvSpPr>
        <p:spPr>
          <a:xfrm xmlns:a="http://schemas.openxmlformats.org/drawingml/2006/main">
            <a:off x="10515600" y="6236208"/>
            <a:ext cx="123444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B8B8B8"/>
              </a:buClr>
              <a:buSzPts val="1000"/>
              <a:buFont typeface="Arial"/>
              <a:buNone/>
            </a:pPr>
            <a:r>
              <a:rPr sz="1000" b="1">
                <a:solidFill>
                  <a:srgbClr val="B8B8B8"/>
                </a:solidFill>
                <a:latin typeface="Arial"/>
                <a:ea typeface="Arial"/>
                <a:cs typeface="Arial"/>
              </a:rPr>
              <a:t>STARLAB</a:t>
            </a:r>
          </a:p>
        </p:txBody>
      </p:sp>
      <p:sp>
        <p:nvSpPr>
          <p:cNvPr id="312" name="Google Shape;312;p18">
            <a:extLst xmlns:a="http://schemas.openxmlformats.org/drawingml/2006/main">
              <a:ext uri="{FF2B5EF4-FFF2-40B4-BE49-F238E27FC236}">
                <a16:creationId xmlns:a16="http://schemas.microsoft.com/office/drawing/2014/main" id="{4C156660-609A-47C2-A51B-CF1C8B1666CC}"/>
              </a:ext>
            </a:extLst>
          </p:cNvPr>
          <p:cNvSpPr>
            <a:spLocks xmlns:a="http://schemas.openxmlformats.org/drawingml/2006/main" noGrp="1"/>
          </p:cNvSpPr>
          <p:nvPr/>
        </p:nvSpPr>
        <p:spPr>
          <a:xfrm xmlns:a="http://schemas.openxmlformats.org/drawingml/2006/main">
            <a:off x="10195560" y="384048"/>
            <a:ext cx="1325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E22B27"/>
              </a:buClr>
              <a:buSzPts val="1100"/>
              <a:buFont typeface="Arial"/>
              <a:buNone/>
            </a:pPr>
            <a:r>
              <a:rPr sz="1100" b="1">
                <a:solidFill>
                  <a:srgbClr val="E22B27"/>
                </a:solidFill>
                <a:latin typeface="Arial"/>
                <a:ea typeface="Arial"/>
                <a:cs typeface="Arial"/>
              </a:rPr>
              <a:t>DECK 14</a:t>
            </a:r>
          </a:p>
        </p:txBody>
      </p:sp>
      <p:sp>
        <p:nvSpPr>
          <p:cNvPr id="313" name="Google Shape;313;p18">
            <a:extLst xmlns:a="http://schemas.openxmlformats.org/drawingml/2006/main">
              <a:ext uri="{FF2B5EF4-FFF2-40B4-BE49-F238E27FC236}">
                <a16:creationId xmlns:a16="http://schemas.microsoft.com/office/drawing/2014/main" id="{01F1B723-6F04-45A1-BE9F-43C73AEA2F09}"/>
              </a:ext>
            </a:extLst>
          </p:cNvPr>
          <p:cNvSpPr>
            <a:spLocks xmlns:a="http://schemas.openxmlformats.org/drawingml/2006/main" noGrp="1"/>
          </p:cNvSpPr>
          <p:nvPr/>
        </p:nvSpPr>
        <p:spPr>
          <a:xfrm xmlns:a="http://schemas.openxmlformats.org/drawingml/2006/main">
            <a:off x="685800" y="694944"/>
            <a:ext cx="9829800" cy="49377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700"/>
              <a:buFont typeface="Play"/>
              <a:buNone/>
            </a:pPr>
            <a:r>
              <a:rPr sz="2700" b="1">
                <a:solidFill>
                  <a:srgbClr val="FFFFFF"/>
                </a:solidFill>
                <a:latin typeface="Play"/>
                <a:ea typeface="Play"/>
                <a:cs typeface="Play"/>
              </a:rPr>
              <a:t>Activity 2: Strengthen the Claim</a:t>
            </a:r>
          </a:p>
        </p:txBody>
      </p:sp>
      <p:sp>
        <p:nvSpPr>
          <p:cNvPr id="314" name="Google Shape;314;p18">
            <a:extLst xmlns:a="http://schemas.openxmlformats.org/drawingml/2006/main">
              <a:ext uri="{FF2B5EF4-FFF2-40B4-BE49-F238E27FC236}">
                <a16:creationId xmlns:a16="http://schemas.microsoft.com/office/drawing/2014/main" id="{DC709014-96CB-451D-8C05-F0D97AFDFA27}"/>
              </a:ext>
            </a:extLst>
          </p:cNvPr>
          <p:cNvSpPr>
            <a:spLocks xmlns:a="http://schemas.openxmlformats.org/drawingml/2006/main" noGrp="1"/>
          </p:cNvSpPr>
          <p:nvPr/>
        </p:nvSpPr>
        <p:spPr>
          <a:xfrm xmlns:a="http://schemas.openxmlformats.org/drawingml/2006/main">
            <a:off x="694944" y="1271016"/>
            <a:ext cx="9875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200"/>
              <a:buFont typeface="Arial"/>
              <a:buNone/>
            </a:pPr>
            <a:r>
              <a:rPr sz="1200">
                <a:solidFill>
                  <a:srgbClr val="B8B8B8"/>
                </a:solidFill>
                <a:latin typeface="Arial"/>
                <a:ea typeface="Arial"/>
                <a:cs typeface="Arial"/>
              </a:rPr>
              <a:t>8 minutes • Unit 5 Week 25</a:t>
            </a:r>
          </a:p>
        </p:txBody>
      </p:sp>
      <p:cxnSp>
        <p:nvCxnSpPr>
          <p:cNvPr id="327" name="Google Shape;315;p18"/>
          <p:cNvCxnSpPr/>
          <p:nvPr/>
        </p:nvCxnSpPr>
        <p:spPr>
          <a:xfrm xmlns:a="http://schemas.openxmlformats.org/drawingml/2006/main">
            <a:off x="685800" y="1591056"/>
            <a:ext cx="10789920" cy="0"/>
          </a:xfrm>
          <a:prstGeom xmlns:a="http://schemas.openxmlformats.org/drawingml/2006/main" prst="straightConnector1">
            <a:avLst/>
          </a:prstGeom>
          <a:ln xmlns:a="http://schemas.openxmlformats.org/drawingml/2006/main" w="16500" cap="flat">
            <a:solidFill>
              <a:srgbClr val="E22B27"/>
            </a:solidFill>
            <a:prstDash val="solid"/>
            <a:round/>
            <a:headEnd type="none" w="sm" len="sm"/>
            <a:tailEnd type="none" w="sm" len="sm"/>
          </a:ln>
        </p:spPr>
      </p:cxnSp>
      <p:sp>
        <p:nvSpPr>
          <p:cNvPr id="316" name="Google Shape;316;p18">
            <a:extLst xmlns:a="http://schemas.openxmlformats.org/drawingml/2006/main">
              <a:ext uri="{FF2B5EF4-FFF2-40B4-BE49-F238E27FC236}">
                <a16:creationId xmlns:a16="http://schemas.microsoft.com/office/drawing/2014/main" id="{E0053B9D-9921-45B9-97BD-42C45A6C20E1}"/>
              </a:ext>
            </a:extLst>
          </p:cNvPr>
          <p:cNvSpPr>
            <a:spLocks xmlns:a="http://schemas.openxmlformats.org/drawingml/2006/main" noGrp="1"/>
          </p:cNvSpPr>
          <p:nvPr/>
        </p:nvSpPr>
        <p:spPr>
          <a:xfrm xmlns:a="http://schemas.openxmlformats.org/drawingml/2006/main">
            <a:off x="777240" y="1783080"/>
            <a:ext cx="1874520" cy="34747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17" name="Google Shape;317;p18">
            <a:extLst xmlns:a="http://schemas.openxmlformats.org/drawingml/2006/main">
              <a:ext uri="{FF2B5EF4-FFF2-40B4-BE49-F238E27FC236}">
                <a16:creationId xmlns:a16="http://schemas.microsoft.com/office/drawing/2014/main" id="{CEC33C74-8014-414C-8FA1-8E27AD19D828}"/>
              </a:ext>
            </a:extLst>
          </p:cNvPr>
          <p:cNvSpPr>
            <a:spLocks xmlns:a="http://schemas.openxmlformats.org/drawingml/2006/main" noGrp="1"/>
          </p:cNvSpPr>
          <p:nvPr/>
        </p:nvSpPr>
        <p:spPr>
          <a:xfrm xmlns:a="http://schemas.openxmlformats.org/drawingml/2006/main">
            <a:off x="868680" y="1865376"/>
            <a:ext cx="169164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spcBef>
                <a:spcPts val="0"/>
              </a:spcBef>
              <a:spcAft>
                <a:spcPts val="0"/>
              </a:spcAft>
              <a:buClr>
                <a:srgbClr val="FFFFFF"/>
              </a:buClr>
              <a:buSzPts val="1000"/>
              <a:buFont typeface="Arial"/>
              <a:buNone/>
            </a:pPr>
            <a:r>
              <a:rPr sz="1000" b="1">
                <a:solidFill>
                  <a:srgbClr val="FFFFFF"/>
                </a:solidFill>
                <a:latin typeface="Arial"/>
                <a:ea typeface="Arial"/>
                <a:cs typeface="Arial"/>
              </a:rPr>
              <a:t>STUDENT ACTIVITY</a:t>
            </a:r>
          </a:p>
        </p:txBody>
      </p:sp>
      <p:sp>
        <p:nvSpPr>
          <p:cNvPr id="318" name="Google Shape;318;p18">
            <a:extLst xmlns:a="http://schemas.openxmlformats.org/drawingml/2006/main">
              <a:ext uri="{FF2B5EF4-FFF2-40B4-BE49-F238E27FC236}">
                <a16:creationId xmlns:a16="http://schemas.microsoft.com/office/drawing/2014/main" id="{D9E4EA86-2351-48E3-B873-B8463FCB9559}"/>
              </a:ext>
            </a:extLst>
          </p:cNvPr>
          <p:cNvSpPr>
            <a:spLocks xmlns:a="http://schemas.openxmlformats.org/drawingml/2006/main" noGrp="1"/>
          </p:cNvSpPr>
          <p:nvPr/>
        </p:nvSpPr>
        <p:spPr>
          <a:xfrm xmlns:a="http://schemas.openxmlformats.org/drawingml/2006/main">
            <a:off x="868680" y="2331720"/>
            <a:ext cx="10332720" cy="34747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1000" tIns="1000" rIns="1000" bIns="1000" anchor="ctr">
            <a:noAutofit/>
          </a:bodyPr>
          <a:lstStyle xmlns:a="http://schemas.openxmlformats.org/drawingml/2006/main"/>
          <a:p xmlns:a="http://schemas.openxmlformats.org/drawingml/2006/main">
            <a:pPr marL="0" marR="0" indent="0" algn="l">
              <a:spcBef>
                <a:spcPts val="0"/>
              </a:spcBef>
              <a:spcAft>
                <a:spcPts val="0"/>
              </a:spcAft>
              <a:buNone/>
            </a:pPr>
            <a:r>
              <a:rPr sz="2000">
                <a:solidFill>
                  <a:srgbClr val="FFFFFF"/>
                </a:solidFill>
                <a:latin typeface="Arial"/>
                <a:ea typeface="Arial"/>
                <a:cs typeface="Arial"/>
              </a:rPr>
              <a:t>Exchange your CER paragraph with a partner.</a:t>
            </a:r>
          </a:p>
          <a:p xmlns:a="http://schemas.openxmlformats.org/drawingml/2006/main">
            <a:pPr marL="0" marR="0" indent="0" algn="l">
              <a:spcBef>
                <a:spcPts val="0"/>
              </a:spcBef>
              <a:spcAft>
                <a:spcPts val="0"/>
              </a:spcAft>
              <a:buNone/>
            </a:pPr>
            <a:r>
              <a:rPr sz="2000">
                <a:solidFill>
                  <a:srgbClr val="FFFFFF"/>
                </a:solidFill>
                <a:latin typeface="Arial"/>
                <a:ea typeface="Arial"/>
                <a:cs typeface="Arial"/>
              </a:rPr>
              <a:t>Underline the claim.</a:t>
            </a:r>
          </a:p>
          <a:p xmlns:a="http://schemas.openxmlformats.org/drawingml/2006/main">
            <a:pPr marL="0" marR="0" indent="0" algn="l">
              <a:spcBef>
                <a:spcPts val="0"/>
              </a:spcBef>
              <a:spcAft>
                <a:spcPts val="0"/>
              </a:spcAft>
              <a:buNone/>
            </a:pPr>
            <a:r>
              <a:rPr sz="2000">
                <a:solidFill>
                  <a:srgbClr val="FFFFFF"/>
                </a:solidFill>
                <a:latin typeface="Arial"/>
                <a:ea typeface="Arial"/>
                <a:cs typeface="Arial"/>
              </a:rPr>
              <a:t>Box the specific evidence.</a:t>
            </a:r>
          </a:p>
          <a:p xmlns:a="http://schemas.openxmlformats.org/drawingml/2006/main">
            <a:pPr marL="0" marR="0" indent="0" algn="l">
              <a:spcBef>
                <a:spcPts val="0"/>
              </a:spcBef>
              <a:spcAft>
                <a:spcPts val="0"/>
              </a:spcAft>
              <a:buNone/>
            </a:pPr>
            <a:r>
              <a:rPr sz="2000">
                <a:solidFill>
                  <a:srgbClr val="FFFFFF"/>
                </a:solidFill>
                <a:latin typeface="Arial"/>
                <a:ea typeface="Arial"/>
                <a:cs typeface="Arial"/>
              </a:rPr>
              <a:t>Star the reasoning sentence.</a:t>
            </a:r>
          </a:p>
          <a:p xmlns:a="http://schemas.openxmlformats.org/drawingml/2006/main">
            <a:pPr marL="0" marR="0" indent="0" algn="l">
              <a:spcBef>
                <a:spcPts val="0"/>
              </a:spcBef>
              <a:spcAft>
                <a:spcPts val="0"/>
              </a:spcAft>
              <a:buNone/>
            </a:pPr>
            <a:r>
              <a:rPr sz="2000">
                <a:solidFill>
                  <a:srgbClr val="FFFFFF"/>
                </a:solidFill>
                <a:latin typeface="Arial"/>
                <a:ea typeface="Arial"/>
                <a:cs typeface="Arial"/>
              </a:rPr>
              <a:t>Circle any overclaiming or vague limitation language.</a:t>
            </a:r>
          </a:p>
          <a:p xmlns:a="http://schemas.openxmlformats.org/drawingml/2006/main">
            <a:pPr marL="0" marR="0" indent="0" algn="l">
              <a:spcBef>
                <a:spcPts val="0"/>
              </a:spcBef>
              <a:spcAft>
                <a:spcPts val="0"/>
              </a:spcAft>
              <a:buNone/>
            </a:pPr>
            <a:r>
              <a:rPr sz="2000">
                <a:solidFill>
                  <a:srgbClr val="FFFFFF"/>
                </a:solidFill>
                <a:latin typeface="Arial"/>
                <a:ea typeface="Arial"/>
                <a:cs typeface="Arial"/>
              </a:rPr>
              <a:t>Revise one sentence to make the paragraph more precise.</a:t>
            </a:r>
          </a:p>
        </p:txBody>
      </p:sp>
    </p:spTree>
    <p:extLst>
      <p:ext uri="{BB962C8B-B14F-4D97-AF65-F5344CB8AC3E}">
        <p14:creationId xmlns:p14="http://schemas.microsoft.com/office/powerpoint/2010/main" val="1629183947"/>
      </p:ext>
    </p:extLst>
  </p:cSld>
</p:sld>
</file>

<file path=ppt/slides/slide17.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324" name="Google Shape;324;p19">
            <a:extLst xmlns:a="http://schemas.openxmlformats.org/drawingml/2006/main">
              <a:ext uri="{FF2B5EF4-FFF2-40B4-BE49-F238E27FC236}">
                <a16:creationId xmlns:a16="http://schemas.microsoft.com/office/drawing/2014/main" id="{787B08D3-0E39-4912-BF3A-13BB437DC97F}"/>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25" name="Google Shape;325;p19">
            <a:extLst xmlns:a="http://schemas.openxmlformats.org/drawingml/2006/main">
              <a:ext uri="{FF2B5EF4-FFF2-40B4-BE49-F238E27FC236}">
                <a16:creationId xmlns:a16="http://schemas.microsoft.com/office/drawing/2014/main" id="{76FF221B-212A-4D15-8585-8C7FF832D679}"/>
              </a:ext>
            </a:extLst>
          </p:cNvPr>
          <p:cNvSpPr>
            <a:spLocks xmlns:a="http://schemas.openxmlformats.org/drawingml/2006/main" noGrp="1"/>
          </p:cNvSpPr>
          <p:nvPr/>
        </p:nvSpPr>
        <p:spPr>
          <a:xfrm xmlns:a="http://schemas.openxmlformats.org/drawingml/2006/main">
            <a:off x="0" y="164592"/>
            <a:ext cx="12191695" cy="7315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26" name="Google Shape;326;p19">
            <a:extLst xmlns:a="http://schemas.openxmlformats.org/drawingml/2006/main">
              <a:ext uri="{FF2B5EF4-FFF2-40B4-BE49-F238E27FC236}">
                <a16:creationId xmlns:a16="http://schemas.microsoft.com/office/drawing/2014/main" id="{42624AB3-3DF3-47D3-AC90-55F51B3A7A30}"/>
              </a:ext>
            </a:extLst>
          </p:cNvPr>
          <p:cNvSpPr>
            <a:spLocks xmlns:a="http://schemas.openxmlformats.org/drawingml/2006/main" noGrp="1"/>
          </p:cNvSpPr>
          <p:nvPr/>
        </p:nvSpPr>
        <p:spPr>
          <a:xfrm xmlns:a="http://schemas.openxmlformats.org/drawingml/2006/main">
            <a:off x="0" y="6729984"/>
            <a:ext cx="12191695" cy="54864"/>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27" name="Google Shape;327;p19">
            <a:extLst xmlns:a="http://schemas.openxmlformats.org/drawingml/2006/main">
              <a:ext uri="{FF2B5EF4-FFF2-40B4-BE49-F238E27FC236}">
                <a16:creationId xmlns:a16="http://schemas.microsoft.com/office/drawing/2014/main" id="{B8F7BBA9-1B62-4D91-A2FC-CB0CDC67D808}"/>
              </a:ext>
            </a:extLst>
          </p:cNvPr>
          <p:cNvSpPr>
            <a:spLocks xmlns:a="http://schemas.openxmlformats.org/drawingml/2006/main" noGrp="1"/>
          </p:cNvSpPr>
          <p:nvPr/>
        </p:nvSpPr>
        <p:spPr>
          <a:xfrm xmlns:a="http://schemas.openxmlformats.org/drawingml/2006/main">
            <a:off x="411480" y="6236208"/>
            <a:ext cx="420624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000"/>
              <a:buFont typeface="Arial"/>
              <a:buNone/>
            </a:pPr>
            <a:r>
              <a:rPr sz="1000" b="1">
                <a:solidFill>
                  <a:srgbClr val="B8B8B8"/>
                </a:solidFill>
                <a:latin typeface="Arial"/>
                <a:ea typeface="Arial"/>
                <a:cs typeface="Arial"/>
              </a:rPr>
              <a:t>SCIENTIFIC REPORTING</a:t>
            </a:r>
          </a:p>
        </p:txBody>
      </p:sp>
      <p:sp>
        <p:nvSpPr>
          <p:cNvPr id="328" name="Google Shape;328;p19">
            <a:extLst xmlns:a="http://schemas.openxmlformats.org/drawingml/2006/main">
              <a:ext uri="{FF2B5EF4-FFF2-40B4-BE49-F238E27FC236}">
                <a16:creationId xmlns:a16="http://schemas.microsoft.com/office/drawing/2014/main" id="{750EF164-4006-47A8-84DB-B534CB151660}"/>
              </a:ext>
            </a:extLst>
          </p:cNvPr>
          <p:cNvSpPr>
            <a:spLocks xmlns:a="http://schemas.openxmlformats.org/drawingml/2006/main" noGrp="1"/>
          </p:cNvSpPr>
          <p:nvPr/>
        </p:nvSpPr>
        <p:spPr>
          <a:xfrm xmlns:a="http://schemas.openxmlformats.org/drawingml/2006/main">
            <a:off x="10515600" y="6236208"/>
            <a:ext cx="123444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B8B8B8"/>
              </a:buClr>
              <a:buSzPts val="1000"/>
              <a:buFont typeface="Arial"/>
              <a:buNone/>
            </a:pPr>
            <a:r>
              <a:rPr sz="1000" b="1">
                <a:solidFill>
                  <a:srgbClr val="B8B8B8"/>
                </a:solidFill>
                <a:latin typeface="Arial"/>
                <a:ea typeface="Arial"/>
                <a:cs typeface="Arial"/>
              </a:rPr>
              <a:t>STARLAB</a:t>
            </a:r>
          </a:p>
        </p:txBody>
      </p:sp>
      <p:sp>
        <p:nvSpPr>
          <p:cNvPr id="329" name="Google Shape;329;p19">
            <a:extLst xmlns:a="http://schemas.openxmlformats.org/drawingml/2006/main">
              <a:ext uri="{FF2B5EF4-FFF2-40B4-BE49-F238E27FC236}">
                <a16:creationId xmlns:a16="http://schemas.microsoft.com/office/drawing/2014/main" id="{2A84D0CD-5F48-48C3-BA2C-5182328788B1}"/>
              </a:ext>
            </a:extLst>
          </p:cNvPr>
          <p:cNvSpPr>
            <a:spLocks xmlns:a="http://schemas.openxmlformats.org/drawingml/2006/main" noGrp="1"/>
          </p:cNvSpPr>
          <p:nvPr/>
        </p:nvSpPr>
        <p:spPr>
          <a:xfrm xmlns:a="http://schemas.openxmlformats.org/drawingml/2006/main">
            <a:off x="10195560" y="384048"/>
            <a:ext cx="1325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E22B27"/>
              </a:buClr>
              <a:buSzPts val="1100"/>
              <a:buFont typeface="Arial"/>
              <a:buNone/>
            </a:pPr>
            <a:r>
              <a:rPr sz="1100" b="1">
                <a:solidFill>
                  <a:srgbClr val="E22B27"/>
                </a:solidFill>
                <a:latin typeface="Arial"/>
                <a:ea typeface="Arial"/>
                <a:cs typeface="Arial"/>
              </a:rPr>
              <a:t>DECK 14</a:t>
            </a:r>
          </a:p>
        </p:txBody>
      </p:sp>
      <p:sp>
        <p:nvSpPr>
          <p:cNvPr id="330" name="Google Shape;330;p19">
            <a:extLst xmlns:a="http://schemas.openxmlformats.org/drawingml/2006/main">
              <a:ext uri="{FF2B5EF4-FFF2-40B4-BE49-F238E27FC236}">
                <a16:creationId xmlns:a16="http://schemas.microsoft.com/office/drawing/2014/main" id="{A1F4CD88-53A9-4CF9-81AF-D10E0EFCC81C}"/>
              </a:ext>
            </a:extLst>
          </p:cNvPr>
          <p:cNvSpPr>
            <a:spLocks xmlns:a="http://schemas.openxmlformats.org/drawingml/2006/main" noGrp="1"/>
          </p:cNvSpPr>
          <p:nvPr/>
        </p:nvSpPr>
        <p:spPr>
          <a:xfrm xmlns:a="http://schemas.openxmlformats.org/drawingml/2006/main">
            <a:off x="685800" y="694944"/>
            <a:ext cx="9829800" cy="49377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700"/>
              <a:buFont typeface="Play"/>
              <a:buNone/>
            </a:pPr>
            <a:r>
              <a:rPr sz="2700" b="1">
                <a:solidFill>
                  <a:srgbClr val="FFFFFF"/>
                </a:solidFill>
                <a:latin typeface="Play"/>
                <a:ea typeface="Play"/>
                <a:cs typeface="Play"/>
              </a:rPr>
              <a:t>Discussion Section Shape</a:t>
            </a:r>
          </a:p>
        </p:txBody>
      </p:sp>
      <p:sp>
        <p:nvSpPr>
          <p:cNvPr id="331" name="Google Shape;331;p19">
            <a:extLst xmlns:a="http://schemas.openxmlformats.org/drawingml/2006/main">
              <a:ext uri="{FF2B5EF4-FFF2-40B4-BE49-F238E27FC236}">
                <a16:creationId xmlns:a16="http://schemas.microsoft.com/office/drawing/2014/main" id="{A5BD6FC6-1945-4D90-A611-0D83B640B77D}"/>
              </a:ext>
            </a:extLst>
          </p:cNvPr>
          <p:cNvSpPr>
            <a:spLocks xmlns:a="http://schemas.openxmlformats.org/drawingml/2006/main" noGrp="1"/>
          </p:cNvSpPr>
          <p:nvPr/>
        </p:nvSpPr>
        <p:spPr>
          <a:xfrm xmlns:a="http://schemas.openxmlformats.org/drawingml/2006/main">
            <a:off x="694944" y="1271016"/>
            <a:ext cx="9875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200"/>
              <a:buFont typeface="Arial"/>
              <a:buNone/>
            </a:pPr>
            <a:r>
              <a:rPr sz="1200">
                <a:solidFill>
                  <a:srgbClr val="B8B8B8"/>
                </a:solidFill>
                <a:latin typeface="Arial"/>
                <a:ea typeface="Arial"/>
                <a:cs typeface="Arial"/>
              </a:rPr>
              <a:t>A full discussion can be built from connected CER moves.</a:t>
            </a:r>
          </a:p>
        </p:txBody>
      </p:sp>
      <p:cxnSp>
        <p:nvCxnSpPr>
          <p:cNvPr id="361" name="Google Shape;332;p19"/>
          <p:cNvCxnSpPr/>
          <p:nvPr/>
        </p:nvCxnSpPr>
        <p:spPr>
          <a:xfrm xmlns:a="http://schemas.openxmlformats.org/drawingml/2006/main">
            <a:off x="685800" y="1591056"/>
            <a:ext cx="10789920" cy="0"/>
          </a:xfrm>
          <a:prstGeom xmlns:a="http://schemas.openxmlformats.org/drawingml/2006/main" prst="straightConnector1">
            <a:avLst/>
          </a:prstGeom>
          <a:ln xmlns:a="http://schemas.openxmlformats.org/drawingml/2006/main" w="16500" cap="flat">
            <a:solidFill>
              <a:srgbClr val="E22B27"/>
            </a:solidFill>
            <a:prstDash val="solid"/>
            <a:round/>
            <a:headEnd type="none" w="sm" len="sm"/>
            <a:tailEnd type="none" w="sm" len="sm"/>
          </a:ln>
        </p:spPr>
      </p:cxnSp>
      <p:sp>
        <p:nvSpPr>
          <p:cNvPr id="333" name="Google Shape;333;p19">
            <a:extLst xmlns:a="http://schemas.openxmlformats.org/drawingml/2006/main">
              <a:ext uri="{FF2B5EF4-FFF2-40B4-BE49-F238E27FC236}">
                <a16:creationId xmlns:a16="http://schemas.microsoft.com/office/drawing/2014/main" id="{59815DA4-B4B8-4529-B5C7-1799580100C7}"/>
              </a:ext>
            </a:extLst>
          </p:cNvPr>
          <p:cNvSpPr>
            <a:spLocks xmlns:a="http://schemas.openxmlformats.org/drawingml/2006/main" noGrp="1"/>
          </p:cNvSpPr>
          <p:nvPr/>
        </p:nvSpPr>
        <p:spPr>
          <a:xfrm xmlns:a="http://schemas.openxmlformats.org/drawingml/2006/main">
            <a:off x="868680" y="1691640"/>
            <a:ext cx="502920" cy="411480"/>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34" name="Google Shape;334;p19">
            <a:extLst xmlns:a="http://schemas.openxmlformats.org/drawingml/2006/main">
              <a:ext uri="{FF2B5EF4-FFF2-40B4-BE49-F238E27FC236}">
                <a16:creationId xmlns:a16="http://schemas.microsoft.com/office/drawing/2014/main" id="{28B6F8CC-97FC-4D09-90C6-C10182A09514}"/>
              </a:ext>
            </a:extLst>
          </p:cNvPr>
          <p:cNvSpPr>
            <a:spLocks xmlns:a="http://schemas.openxmlformats.org/drawingml/2006/main" noGrp="1"/>
          </p:cNvSpPr>
          <p:nvPr/>
        </p:nvSpPr>
        <p:spPr>
          <a:xfrm xmlns:a="http://schemas.openxmlformats.org/drawingml/2006/main">
            <a:off x="868680" y="1783080"/>
            <a:ext cx="502920" cy="1828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spcBef>
                <a:spcPts val="0"/>
              </a:spcBef>
              <a:spcAft>
                <a:spcPts val="0"/>
              </a:spcAft>
              <a:buClr>
                <a:srgbClr val="FFFFFF"/>
              </a:buClr>
              <a:buSzPts val="1400"/>
              <a:buFont typeface="Play"/>
              <a:buNone/>
            </a:pPr>
            <a:r>
              <a:rPr sz="1400" b="1">
                <a:solidFill>
                  <a:srgbClr val="FFFFFF"/>
                </a:solidFill>
                <a:latin typeface="Play"/>
                <a:ea typeface="Play"/>
                <a:cs typeface="Play"/>
              </a:rPr>
              <a:t>1</a:t>
            </a:r>
          </a:p>
        </p:txBody>
      </p:sp>
      <p:sp>
        <p:nvSpPr>
          <p:cNvPr id="335" name="Google Shape;335;p19">
            <a:extLst xmlns:a="http://schemas.openxmlformats.org/drawingml/2006/main">
              <a:ext uri="{FF2B5EF4-FFF2-40B4-BE49-F238E27FC236}">
                <a16:creationId xmlns:a16="http://schemas.microsoft.com/office/drawing/2014/main" id="{AC5F88D2-DBC0-4491-AF09-F25F15468D45}"/>
              </a:ext>
            </a:extLst>
          </p:cNvPr>
          <p:cNvSpPr>
            <a:spLocks xmlns:a="http://schemas.openxmlformats.org/drawingml/2006/main" noGrp="1"/>
          </p:cNvSpPr>
          <p:nvPr/>
        </p:nvSpPr>
        <p:spPr>
          <a:xfrm xmlns:a="http://schemas.openxmlformats.org/drawingml/2006/main">
            <a:off x="1600200" y="1737360"/>
            <a:ext cx="283464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1800"/>
              <a:buFont typeface="Play"/>
              <a:buNone/>
            </a:pPr>
            <a:r>
              <a:rPr sz="1800" b="1">
                <a:solidFill>
                  <a:srgbClr val="FFFFFF"/>
                </a:solidFill>
                <a:latin typeface="Play"/>
                <a:ea typeface="Play"/>
                <a:cs typeface="Play"/>
              </a:rPr>
              <a:t>Main claim</a:t>
            </a:r>
          </a:p>
        </p:txBody>
      </p:sp>
      <p:sp>
        <p:nvSpPr>
          <p:cNvPr id="336" name="Google Shape;336;p19">
            <a:extLst xmlns:a="http://schemas.openxmlformats.org/drawingml/2006/main">
              <a:ext uri="{FF2B5EF4-FFF2-40B4-BE49-F238E27FC236}">
                <a16:creationId xmlns:a16="http://schemas.microsoft.com/office/drawing/2014/main" id="{4CC91C71-C771-4823-8219-9517D97A5206}"/>
              </a:ext>
            </a:extLst>
          </p:cNvPr>
          <p:cNvSpPr>
            <a:spLocks xmlns:a="http://schemas.openxmlformats.org/drawingml/2006/main" noGrp="1"/>
          </p:cNvSpPr>
          <p:nvPr/>
        </p:nvSpPr>
        <p:spPr>
          <a:xfrm xmlns:a="http://schemas.openxmlformats.org/drawingml/2006/main">
            <a:off x="4480560" y="1737360"/>
            <a:ext cx="66751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500"/>
              <a:buFont typeface="Arial"/>
              <a:buNone/>
            </a:pPr>
            <a:r>
              <a:rPr sz="1500">
                <a:solidFill>
                  <a:srgbClr val="B8B8B8"/>
                </a:solidFill>
                <a:latin typeface="Arial"/>
                <a:ea typeface="Arial"/>
                <a:cs typeface="Arial"/>
              </a:rPr>
              <a:t>What does the evidence suggest overall?</a:t>
            </a:r>
          </a:p>
        </p:txBody>
      </p:sp>
      <p:sp>
        <p:nvSpPr>
          <p:cNvPr id="337" name="Google Shape;337;p19">
            <a:extLst xmlns:a="http://schemas.openxmlformats.org/drawingml/2006/main">
              <a:ext uri="{FF2B5EF4-FFF2-40B4-BE49-F238E27FC236}">
                <a16:creationId xmlns:a16="http://schemas.microsoft.com/office/drawing/2014/main" id="{3682B652-8C5F-4BB0-9ADF-1C9DB8032A27}"/>
              </a:ext>
            </a:extLst>
          </p:cNvPr>
          <p:cNvSpPr>
            <a:spLocks xmlns:a="http://schemas.openxmlformats.org/drawingml/2006/main" noGrp="1"/>
          </p:cNvSpPr>
          <p:nvPr/>
        </p:nvSpPr>
        <p:spPr>
          <a:xfrm xmlns:a="http://schemas.openxmlformats.org/drawingml/2006/main">
            <a:off x="868680" y="2514600"/>
            <a:ext cx="502920" cy="411480"/>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38" name="Google Shape;338;p19">
            <a:extLst xmlns:a="http://schemas.openxmlformats.org/drawingml/2006/main">
              <a:ext uri="{FF2B5EF4-FFF2-40B4-BE49-F238E27FC236}">
                <a16:creationId xmlns:a16="http://schemas.microsoft.com/office/drawing/2014/main" id="{7F556D8D-C797-4D1C-97FB-4F659DDB747E}"/>
              </a:ext>
            </a:extLst>
          </p:cNvPr>
          <p:cNvSpPr>
            <a:spLocks xmlns:a="http://schemas.openxmlformats.org/drawingml/2006/main" noGrp="1"/>
          </p:cNvSpPr>
          <p:nvPr/>
        </p:nvSpPr>
        <p:spPr>
          <a:xfrm xmlns:a="http://schemas.openxmlformats.org/drawingml/2006/main">
            <a:off x="868680" y="2606040"/>
            <a:ext cx="502920" cy="1828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spcBef>
                <a:spcPts val="0"/>
              </a:spcBef>
              <a:spcAft>
                <a:spcPts val="0"/>
              </a:spcAft>
              <a:buClr>
                <a:srgbClr val="FFFFFF"/>
              </a:buClr>
              <a:buSzPts val="1400"/>
              <a:buFont typeface="Play"/>
              <a:buNone/>
            </a:pPr>
            <a:r>
              <a:rPr sz="1400" b="1">
                <a:solidFill>
                  <a:srgbClr val="FFFFFF"/>
                </a:solidFill>
                <a:latin typeface="Play"/>
                <a:ea typeface="Play"/>
                <a:cs typeface="Play"/>
              </a:rPr>
              <a:t>2</a:t>
            </a:r>
          </a:p>
        </p:txBody>
      </p:sp>
      <p:sp>
        <p:nvSpPr>
          <p:cNvPr id="339" name="Google Shape;339;p19">
            <a:extLst xmlns:a="http://schemas.openxmlformats.org/drawingml/2006/main">
              <a:ext uri="{FF2B5EF4-FFF2-40B4-BE49-F238E27FC236}">
                <a16:creationId xmlns:a16="http://schemas.microsoft.com/office/drawing/2014/main" id="{6CDAEFDF-BAE0-46FC-A094-4DD9F3265A23}"/>
              </a:ext>
            </a:extLst>
          </p:cNvPr>
          <p:cNvSpPr>
            <a:spLocks xmlns:a="http://schemas.openxmlformats.org/drawingml/2006/main" noGrp="1"/>
          </p:cNvSpPr>
          <p:nvPr/>
        </p:nvSpPr>
        <p:spPr>
          <a:xfrm xmlns:a="http://schemas.openxmlformats.org/drawingml/2006/main">
            <a:off x="1600200" y="2560320"/>
            <a:ext cx="283464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1800"/>
              <a:buFont typeface="Play"/>
              <a:buNone/>
            </a:pPr>
            <a:r>
              <a:rPr sz="1800" b="1">
                <a:solidFill>
                  <a:srgbClr val="FFFFFF"/>
                </a:solidFill>
                <a:latin typeface="Play"/>
                <a:ea typeface="Play"/>
                <a:cs typeface="Play"/>
              </a:rPr>
              <a:t>Evidence and reasoning</a:t>
            </a:r>
          </a:p>
        </p:txBody>
      </p:sp>
      <p:sp>
        <p:nvSpPr>
          <p:cNvPr id="340" name="Google Shape;340;p19">
            <a:extLst xmlns:a="http://schemas.openxmlformats.org/drawingml/2006/main">
              <a:ext uri="{FF2B5EF4-FFF2-40B4-BE49-F238E27FC236}">
                <a16:creationId xmlns:a16="http://schemas.microsoft.com/office/drawing/2014/main" id="{6FFB3FDE-CAA6-430D-8A75-F935483B5E16}"/>
              </a:ext>
            </a:extLst>
          </p:cNvPr>
          <p:cNvSpPr>
            <a:spLocks xmlns:a="http://schemas.openxmlformats.org/drawingml/2006/main" noGrp="1"/>
          </p:cNvSpPr>
          <p:nvPr/>
        </p:nvSpPr>
        <p:spPr>
          <a:xfrm xmlns:a="http://schemas.openxmlformats.org/drawingml/2006/main">
            <a:off x="4480560" y="2560320"/>
            <a:ext cx="66751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500"/>
              <a:buFont typeface="Arial"/>
              <a:buNone/>
            </a:pPr>
            <a:r>
              <a:rPr sz="1500">
                <a:solidFill>
                  <a:srgbClr val="B8B8B8"/>
                </a:solidFill>
                <a:latin typeface="Arial"/>
                <a:ea typeface="Arial"/>
                <a:cs typeface="Arial"/>
              </a:rPr>
              <a:t>What specific data support the claim, and why?</a:t>
            </a:r>
          </a:p>
        </p:txBody>
      </p:sp>
      <p:sp>
        <p:nvSpPr>
          <p:cNvPr id="341" name="Google Shape;341;p19">
            <a:extLst xmlns:a="http://schemas.openxmlformats.org/drawingml/2006/main">
              <a:ext uri="{FF2B5EF4-FFF2-40B4-BE49-F238E27FC236}">
                <a16:creationId xmlns:a16="http://schemas.microsoft.com/office/drawing/2014/main" id="{7C64FC62-EBB7-4D6C-B66C-17C1425CCD01}"/>
              </a:ext>
            </a:extLst>
          </p:cNvPr>
          <p:cNvSpPr>
            <a:spLocks xmlns:a="http://schemas.openxmlformats.org/drawingml/2006/main" noGrp="1"/>
          </p:cNvSpPr>
          <p:nvPr/>
        </p:nvSpPr>
        <p:spPr>
          <a:xfrm xmlns:a="http://schemas.openxmlformats.org/drawingml/2006/main">
            <a:off x="868680" y="3337560"/>
            <a:ext cx="502920" cy="411480"/>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42" name="Google Shape;342;p19">
            <a:extLst xmlns:a="http://schemas.openxmlformats.org/drawingml/2006/main">
              <a:ext uri="{FF2B5EF4-FFF2-40B4-BE49-F238E27FC236}">
                <a16:creationId xmlns:a16="http://schemas.microsoft.com/office/drawing/2014/main" id="{F37C33DE-8E87-4CAE-83D9-452F8F478DB9}"/>
              </a:ext>
            </a:extLst>
          </p:cNvPr>
          <p:cNvSpPr>
            <a:spLocks xmlns:a="http://schemas.openxmlformats.org/drawingml/2006/main" noGrp="1"/>
          </p:cNvSpPr>
          <p:nvPr/>
        </p:nvSpPr>
        <p:spPr>
          <a:xfrm xmlns:a="http://schemas.openxmlformats.org/drawingml/2006/main">
            <a:off x="868680" y="3429000"/>
            <a:ext cx="502920" cy="1828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spcBef>
                <a:spcPts val="0"/>
              </a:spcBef>
              <a:spcAft>
                <a:spcPts val="0"/>
              </a:spcAft>
              <a:buClr>
                <a:srgbClr val="FFFFFF"/>
              </a:buClr>
              <a:buSzPts val="1400"/>
              <a:buFont typeface="Play"/>
              <a:buNone/>
            </a:pPr>
            <a:r>
              <a:rPr sz="1400" b="1">
                <a:solidFill>
                  <a:srgbClr val="FFFFFF"/>
                </a:solidFill>
                <a:latin typeface="Play"/>
                <a:ea typeface="Play"/>
                <a:cs typeface="Play"/>
              </a:rPr>
              <a:t>3</a:t>
            </a:r>
          </a:p>
        </p:txBody>
      </p:sp>
      <p:sp>
        <p:nvSpPr>
          <p:cNvPr id="343" name="Google Shape;343;p19">
            <a:extLst xmlns:a="http://schemas.openxmlformats.org/drawingml/2006/main">
              <a:ext uri="{FF2B5EF4-FFF2-40B4-BE49-F238E27FC236}">
                <a16:creationId xmlns:a16="http://schemas.microsoft.com/office/drawing/2014/main" id="{EF40195E-5199-4E60-AC09-3350DA97FDB0}"/>
              </a:ext>
            </a:extLst>
          </p:cNvPr>
          <p:cNvSpPr>
            <a:spLocks xmlns:a="http://schemas.openxmlformats.org/drawingml/2006/main" noGrp="1"/>
          </p:cNvSpPr>
          <p:nvPr/>
        </p:nvSpPr>
        <p:spPr>
          <a:xfrm xmlns:a="http://schemas.openxmlformats.org/drawingml/2006/main">
            <a:off x="1600200" y="3383280"/>
            <a:ext cx="283464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1800"/>
              <a:buFont typeface="Play"/>
              <a:buNone/>
            </a:pPr>
            <a:r>
              <a:rPr sz="1800" b="1">
                <a:solidFill>
                  <a:srgbClr val="FFFFFF"/>
                </a:solidFill>
                <a:latin typeface="Play"/>
                <a:ea typeface="Play"/>
                <a:cs typeface="Play"/>
              </a:rPr>
              <a:t>Hypothesis or criteria</a:t>
            </a:r>
          </a:p>
        </p:txBody>
      </p:sp>
      <p:sp>
        <p:nvSpPr>
          <p:cNvPr id="344" name="Google Shape;344;p19">
            <a:extLst xmlns:a="http://schemas.openxmlformats.org/drawingml/2006/main">
              <a:ext uri="{FF2B5EF4-FFF2-40B4-BE49-F238E27FC236}">
                <a16:creationId xmlns:a16="http://schemas.microsoft.com/office/drawing/2014/main" id="{DC385DDD-99AA-40E8-88EE-4347FBF7A553}"/>
              </a:ext>
            </a:extLst>
          </p:cNvPr>
          <p:cNvSpPr>
            <a:spLocks xmlns:a="http://schemas.openxmlformats.org/drawingml/2006/main" noGrp="1"/>
          </p:cNvSpPr>
          <p:nvPr/>
        </p:nvSpPr>
        <p:spPr>
          <a:xfrm xmlns:a="http://schemas.openxmlformats.org/drawingml/2006/main">
            <a:off x="4480560" y="3383280"/>
            <a:ext cx="66751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500"/>
              <a:buFont typeface="Arial"/>
              <a:buNone/>
            </a:pPr>
            <a:r>
              <a:rPr sz="1500">
                <a:solidFill>
                  <a:srgbClr val="B8B8B8"/>
                </a:solidFill>
                <a:latin typeface="Arial"/>
                <a:ea typeface="Arial"/>
                <a:cs typeface="Arial"/>
              </a:rPr>
              <a:t>Was the prediction supported or were criteria met?</a:t>
            </a:r>
          </a:p>
        </p:txBody>
      </p:sp>
      <p:sp>
        <p:nvSpPr>
          <p:cNvPr id="345" name="Google Shape;345;p19">
            <a:extLst xmlns:a="http://schemas.openxmlformats.org/drawingml/2006/main">
              <a:ext uri="{FF2B5EF4-FFF2-40B4-BE49-F238E27FC236}">
                <a16:creationId xmlns:a16="http://schemas.microsoft.com/office/drawing/2014/main" id="{05293A90-4617-4F0B-A68D-05B2B0D03B1E}"/>
              </a:ext>
            </a:extLst>
          </p:cNvPr>
          <p:cNvSpPr>
            <a:spLocks xmlns:a="http://schemas.openxmlformats.org/drawingml/2006/main" noGrp="1"/>
          </p:cNvSpPr>
          <p:nvPr/>
        </p:nvSpPr>
        <p:spPr>
          <a:xfrm xmlns:a="http://schemas.openxmlformats.org/drawingml/2006/main">
            <a:off x="868680" y="4160520"/>
            <a:ext cx="502920" cy="411480"/>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46" name="Google Shape;346;p19">
            <a:extLst xmlns:a="http://schemas.openxmlformats.org/drawingml/2006/main">
              <a:ext uri="{FF2B5EF4-FFF2-40B4-BE49-F238E27FC236}">
                <a16:creationId xmlns:a16="http://schemas.microsoft.com/office/drawing/2014/main" id="{7C9ED36C-F4C4-42BC-AFF0-7DC61149D4E9}"/>
              </a:ext>
            </a:extLst>
          </p:cNvPr>
          <p:cNvSpPr>
            <a:spLocks xmlns:a="http://schemas.openxmlformats.org/drawingml/2006/main" noGrp="1"/>
          </p:cNvSpPr>
          <p:nvPr/>
        </p:nvSpPr>
        <p:spPr>
          <a:xfrm xmlns:a="http://schemas.openxmlformats.org/drawingml/2006/main">
            <a:off x="868680" y="4251960"/>
            <a:ext cx="502920" cy="1828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spcBef>
                <a:spcPts val="0"/>
              </a:spcBef>
              <a:spcAft>
                <a:spcPts val="0"/>
              </a:spcAft>
              <a:buClr>
                <a:srgbClr val="FFFFFF"/>
              </a:buClr>
              <a:buSzPts val="1400"/>
              <a:buFont typeface="Play"/>
              <a:buNone/>
            </a:pPr>
            <a:r>
              <a:rPr sz="1400" b="1">
                <a:solidFill>
                  <a:srgbClr val="FFFFFF"/>
                </a:solidFill>
                <a:latin typeface="Play"/>
                <a:ea typeface="Play"/>
                <a:cs typeface="Play"/>
              </a:rPr>
              <a:t>4</a:t>
            </a:r>
          </a:p>
        </p:txBody>
      </p:sp>
      <p:sp>
        <p:nvSpPr>
          <p:cNvPr id="347" name="Google Shape;347;p19">
            <a:extLst xmlns:a="http://schemas.openxmlformats.org/drawingml/2006/main">
              <a:ext uri="{FF2B5EF4-FFF2-40B4-BE49-F238E27FC236}">
                <a16:creationId xmlns:a16="http://schemas.microsoft.com/office/drawing/2014/main" id="{0E12FE12-8A57-41AB-B620-796AAF496DAD}"/>
              </a:ext>
            </a:extLst>
          </p:cNvPr>
          <p:cNvSpPr>
            <a:spLocks xmlns:a="http://schemas.openxmlformats.org/drawingml/2006/main" noGrp="1"/>
          </p:cNvSpPr>
          <p:nvPr/>
        </p:nvSpPr>
        <p:spPr>
          <a:xfrm xmlns:a="http://schemas.openxmlformats.org/drawingml/2006/main">
            <a:off x="1600200" y="4206240"/>
            <a:ext cx="283464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1800"/>
              <a:buFont typeface="Play"/>
              <a:buNone/>
            </a:pPr>
            <a:r>
              <a:rPr sz="1800" b="1">
                <a:solidFill>
                  <a:srgbClr val="FFFFFF"/>
                </a:solidFill>
                <a:latin typeface="Play"/>
                <a:ea typeface="Play"/>
                <a:cs typeface="Play"/>
              </a:rPr>
              <a:t>Limitations</a:t>
            </a:r>
          </a:p>
        </p:txBody>
      </p:sp>
      <p:sp>
        <p:nvSpPr>
          <p:cNvPr id="348" name="Google Shape;348;p19">
            <a:extLst xmlns:a="http://schemas.openxmlformats.org/drawingml/2006/main">
              <a:ext uri="{FF2B5EF4-FFF2-40B4-BE49-F238E27FC236}">
                <a16:creationId xmlns:a16="http://schemas.microsoft.com/office/drawing/2014/main" id="{A397015D-8805-4F85-8116-18559A366B91}"/>
              </a:ext>
            </a:extLst>
          </p:cNvPr>
          <p:cNvSpPr>
            <a:spLocks xmlns:a="http://schemas.openxmlformats.org/drawingml/2006/main" noGrp="1"/>
          </p:cNvSpPr>
          <p:nvPr/>
        </p:nvSpPr>
        <p:spPr>
          <a:xfrm xmlns:a="http://schemas.openxmlformats.org/drawingml/2006/main">
            <a:off x="4480560" y="4206240"/>
            <a:ext cx="66751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500"/>
              <a:buFont typeface="Arial"/>
              <a:buNone/>
            </a:pPr>
            <a:r>
              <a:rPr sz="1500">
                <a:solidFill>
                  <a:srgbClr val="B8B8B8"/>
                </a:solidFill>
                <a:latin typeface="Arial"/>
                <a:ea typeface="Arial"/>
                <a:cs typeface="Arial"/>
              </a:rPr>
              <a:t>What affects confidence in the result?</a:t>
            </a:r>
          </a:p>
        </p:txBody>
      </p:sp>
      <p:sp>
        <p:nvSpPr>
          <p:cNvPr id="349" name="Google Shape;349;p19">
            <a:extLst xmlns:a="http://schemas.openxmlformats.org/drawingml/2006/main">
              <a:ext uri="{FF2B5EF4-FFF2-40B4-BE49-F238E27FC236}">
                <a16:creationId xmlns:a16="http://schemas.microsoft.com/office/drawing/2014/main" id="{3F575DC4-ADDB-47AC-A895-45E134021179}"/>
              </a:ext>
            </a:extLst>
          </p:cNvPr>
          <p:cNvSpPr>
            <a:spLocks xmlns:a="http://schemas.openxmlformats.org/drawingml/2006/main" noGrp="1"/>
          </p:cNvSpPr>
          <p:nvPr/>
        </p:nvSpPr>
        <p:spPr>
          <a:xfrm xmlns:a="http://schemas.openxmlformats.org/drawingml/2006/main">
            <a:off x="868680" y="4983480"/>
            <a:ext cx="502920" cy="411480"/>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50" name="Google Shape;350;p19">
            <a:extLst xmlns:a="http://schemas.openxmlformats.org/drawingml/2006/main">
              <a:ext uri="{FF2B5EF4-FFF2-40B4-BE49-F238E27FC236}">
                <a16:creationId xmlns:a16="http://schemas.microsoft.com/office/drawing/2014/main" id="{17C2A082-660E-480F-97E8-16037E6CAA65}"/>
              </a:ext>
            </a:extLst>
          </p:cNvPr>
          <p:cNvSpPr>
            <a:spLocks xmlns:a="http://schemas.openxmlformats.org/drawingml/2006/main" noGrp="1"/>
          </p:cNvSpPr>
          <p:nvPr/>
        </p:nvSpPr>
        <p:spPr>
          <a:xfrm xmlns:a="http://schemas.openxmlformats.org/drawingml/2006/main">
            <a:off x="868680" y="5074920"/>
            <a:ext cx="502920" cy="1828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spcBef>
                <a:spcPts val="0"/>
              </a:spcBef>
              <a:spcAft>
                <a:spcPts val="0"/>
              </a:spcAft>
              <a:buClr>
                <a:srgbClr val="FFFFFF"/>
              </a:buClr>
              <a:buSzPts val="1400"/>
              <a:buFont typeface="Play"/>
              <a:buNone/>
            </a:pPr>
            <a:r>
              <a:rPr sz="1400" b="1">
                <a:solidFill>
                  <a:srgbClr val="FFFFFF"/>
                </a:solidFill>
                <a:latin typeface="Play"/>
                <a:ea typeface="Play"/>
                <a:cs typeface="Play"/>
              </a:rPr>
              <a:t>5</a:t>
            </a:r>
          </a:p>
        </p:txBody>
      </p:sp>
      <p:sp>
        <p:nvSpPr>
          <p:cNvPr id="351" name="Google Shape;351;p19">
            <a:extLst xmlns:a="http://schemas.openxmlformats.org/drawingml/2006/main">
              <a:ext uri="{FF2B5EF4-FFF2-40B4-BE49-F238E27FC236}">
                <a16:creationId xmlns:a16="http://schemas.microsoft.com/office/drawing/2014/main" id="{99708C78-50B0-4631-AC4D-4BCF6DC0BAC4}"/>
              </a:ext>
            </a:extLst>
          </p:cNvPr>
          <p:cNvSpPr>
            <a:spLocks xmlns:a="http://schemas.openxmlformats.org/drawingml/2006/main" noGrp="1"/>
          </p:cNvSpPr>
          <p:nvPr/>
        </p:nvSpPr>
        <p:spPr>
          <a:xfrm xmlns:a="http://schemas.openxmlformats.org/drawingml/2006/main">
            <a:off x="1600200" y="5029200"/>
            <a:ext cx="283464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1800"/>
              <a:buFont typeface="Play"/>
              <a:buNone/>
            </a:pPr>
            <a:r>
              <a:rPr sz="1800" b="1">
                <a:solidFill>
                  <a:srgbClr val="FFFFFF"/>
                </a:solidFill>
                <a:latin typeface="Play"/>
                <a:ea typeface="Play"/>
                <a:cs typeface="Play"/>
              </a:rPr>
              <a:t>Future work</a:t>
            </a:r>
          </a:p>
        </p:txBody>
      </p:sp>
      <p:sp>
        <p:nvSpPr>
          <p:cNvPr id="352" name="Google Shape;352;p19">
            <a:extLst xmlns:a="http://schemas.openxmlformats.org/drawingml/2006/main">
              <a:ext uri="{FF2B5EF4-FFF2-40B4-BE49-F238E27FC236}">
                <a16:creationId xmlns:a16="http://schemas.microsoft.com/office/drawing/2014/main" id="{CB46FA9A-5656-4950-BD4C-1AD8F5282ED3}"/>
              </a:ext>
            </a:extLst>
          </p:cNvPr>
          <p:cNvSpPr>
            <a:spLocks xmlns:a="http://schemas.openxmlformats.org/drawingml/2006/main" noGrp="1"/>
          </p:cNvSpPr>
          <p:nvPr/>
        </p:nvSpPr>
        <p:spPr>
          <a:xfrm xmlns:a="http://schemas.openxmlformats.org/drawingml/2006/main">
            <a:off x="4480560" y="5029200"/>
            <a:ext cx="66751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500"/>
              <a:buFont typeface="Arial"/>
              <a:buNone/>
            </a:pPr>
            <a:r>
              <a:rPr sz="1500">
                <a:solidFill>
                  <a:srgbClr val="B8B8B8"/>
                </a:solidFill>
                <a:latin typeface="Arial"/>
                <a:ea typeface="Arial"/>
                <a:cs typeface="Arial"/>
              </a:rPr>
              <a:t>What should happen next based on the evidence?</a:t>
            </a:r>
          </a:p>
        </p:txBody>
      </p:sp>
    </p:spTree>
    <p:extLst>
      <p:ext uri="{BB962C8B-B14F-4D97-AF65-F5344CB8AC3E}">
        <p14:creationId xmlns:p14="http://schemas.microsoft.com/office/powerpoint/2010/main" val="2044766701"/>
      </p:ext>
    </p:extLst>
  </p:cSld>
</p:sld>
</file>

<file path=ppt/slides/slide18.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358" name="Google Shape;358;p20">
            <a:extLst xmlns:a="http://schemas.openxmlformats.org/drawingml/2006/main">
              <a:ext uri="{FF2B5EF4-FFF2-40B4-BE49-F238E27FC236}">
                <a16:creationId xmlns:a16="http://schemas.microsoft.com/office/drawing/2014/main" id="{DBD0B272-EA92-4011-A0FF-DEA19FC74FB6}"/>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59" name="Google Shape;359;p20">
            <a:extLst xmlns:a="http://schemas.openxmlformats.org/drawingml/2006/main">
              <a:ext uri="{FF2B5EF4-FFF2-40B4-BE49-F238E27FC236}">
                <a16:creationId xmlns:a16="http://schemas.microsoft.com/office/drawing/2014/main" id="{2EDF40CB-C823-4A7D-BBFB-68E9507EFDD3}"/>
              </a:ext>
            </a:extLst>
          </p:cNvPr>
          <p:cNvSpPr>
            <a:spLocks xmlns:a="http://schemas.openxmlformats.org/drawingml/2006/main" noGrp="1"/>
          </p:cNvSpPr>
          <p:nvPr/>
        </p:nvSpPr>
        <p:spPr>
          <a:xfrm xmlns:a="http://schemas.openxmlformats.org/drawingml/2006/main">
            <a:off x="0" y="164592"/>
            <a:ext cx="12191695" cy="7315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60" name="Google Shape;360;p20">
            <a:extLst xmlns:a="http://schemas.openxmlformats.org/drawingml/2006/main">
              <a:ext uri="{FF2B5EF4-FFF2-40B4-BE49-F238E27FC236}">
                <a16:creationId xmlns:a16="http://schemas.microsoft.com/office/drawing/2014/main" id="{D7926D3D-C975-4245-8321-9568175C2850}"/>
              </a:ext>
            </a:extLst>
          </p:cNvPr>
          <p:cNvSpPr>
            <a:spLocks xmlns:a="http://schemas.openxmlformats.org/drawingml/2006/main" noGrp="1"/>
          </p:cNvSpPr>
          <p:nvPr/>
        </p:nvSpPr>
        <p:spPr>
          <a:xfrm xmlns:a="http://schemas.openxmlformats.org/drawingml/2006/main">
            <a:off x="0" y="6729984"/>
            <a:ext cx="12191695" cy="54864"/>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61" name="Google Shape;361;p20">
            <a:extLst xmlns:a="http://schemas.openxmlformats.org/drawingml/2006/main">
              <a:ext uri="{FF2B5EF4-FFF2-40B4-BE49-F238E27FC236}">
                <a16:creationId xmlns:a16="http://schemas.microsoft.com/office/drawing/2014/main" id="{075FAE64-6F53-4130-B279-BFB388D6F56C}"/>
              </a:ext>
            </a:extLst>
          </p:cNvPr>
          <p:cNvSpPr>
            <a:spLocks xmlns:a="http://schemas.openxmlformats.org/drawingml/2006/main" noGrp="1"/>
          </p:cNvSpPr>
          <p:nvPr/>
        </p:nvSpPr>
        <p:spPr>
          <a:xfrm xmlns:a="http://schemas.openxmlformats.org/drawingml/2006/main">
            <a:off x="411480" y="6236208"/>
            <a:ext cx="420624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000"/>
              <a:buFont typeface="Arial"/>
              <a:buNone/>
            </a:pPr>
            <a:r>
              <a:rPr sz="1000" b="1">
                <a:solidFill>
                  <a:srgbClr val="B8B8B8"/>
                </a:solidFill>
                <a:latin typeface="Arial"/>
                <a:ea typeface="Arial"/>
                <a:cs typeface="Arial"/>
              </a:rPr>
              <a:t>SCIENTIFIC REPORTING</a:t>
            </a:r>
          </a:p>
        </p:txBody>
      </p:sp>
      <p:sp>
        <p:nvSpPr>
          <p:cNvPr id="362" name="Google Shape;362;p20">
            <a:extLst xmlns:a="http://schemas.openxmlformats.org/drawingml/2006/main">
              <a:ext uri="{FF2B5EF4-FFF2-40B4-BE49-F238E27FC236}">
                <a16:creationId xmlns:a16="http://schemas.microsoft.com/office/drawing/2014/main" id="{62576ED4-7369-466A-8773-D504A788D691}"/>
              </a:ext>
            </a:extLst>
          </p:cNvPr>
          <p:cNvSpPr>
            <a:spLocks xmlns:a="http://schemas.openxmlformats.org/drawingml/2006/main" noGrp="1"/>
          </p:cNvSpPr>
          <p:nvPr/>
        </p:nvSpPr>
        <p:spPr>
          <a:xfrm xmlns:a="http://schemas.openxmlformats.org/drawingml/2006/main">
            <a:off x="10515600" y="6236208"/>
            <a:ext cx="123444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B8B8B8"/>
              </a:buClr>
              <a:buSzPts val="1000"/>
              <a:buFont typeface="Arial"/>
              <a:buNone/>
            </a:pPr>
            <a:r>
              <a:rPr sz="1000" b="1">
                <a:solidFill>
                  <a:srgbClr val="B8B8B8"/>
                </a:solidFill>
                <a:latin typeface="Arial"/>
                <a:ea typeface="Arial"/>
                <a:cs typeface="Arial"/>
              </a:rPr>
              <a:t>STARLAB</a:t>
            </a:r>
          </a:p>
        </p:txBody>
      </p:sp>
      <p:sp>
        <p:nvSpPr>
          <p:cNvPr id="363" name="Google Shape;363;p20">
            <a:extLst xmlns:a="http://schemas.openxmlformats.org/drawingml/2006/main">
              <a:ext uri="{FF2B5EF4-FFF2-40B4-BE49-F238E27FC236}">
                <a16:creationId xmlns:a16="http://schemas.microsoft.com/office/drawing/2014/main" id="{190D36C3-BFF6-4888-A393-E2FE95071BD0}"/>
              </a:ext>
            </a:extLst>
          </p:cNvPr>
          <p:cNvSpPr>
            <a:spLocks xmlns:a="http://schemas.openxmlformats.org/drawingml/2006/main" noGrp="1"/>
          </p:cNvSpPr>
          <p:nvPr/>
        </p:nvSpPr>
        <p:spPr>
          <a:xfrm xmlns:a="http://schemas.openxmlformats.org/drawingml/2006/main">
            <a:off x="10195560" y="384048"/>
            <a:ext cx="1325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E22B27"/>
              </a:buClr>
              <a:buSzPts val="1100"/>
              <a:buFont typeface="Arial"/>
              <a:buNone/>
            </a:pPr>
            <a:r>
              <a:rPr sz="1100" b="1">
                <a:solidFill>
                  <a:srgbClr val="E22B27"/>
                </a:solidFill>
                <a:latin typeface="Arial"/>
                <a:ea typeface="Arial"/>
                <a:cs typeface="Arial"/>
              </a:rPr>
              <a:t>DECK 14</a:t>
            </a:r>
          </a:p>
        </p:txBody>
      </p:sp>
      <p:sp>
        <p:nvSpPr>
          <p:cNvPr id="364" name="Google Shape;364;p20">
            <a:extLst xmlns:a="http://schemas.openxmlformats.org/drawingml/2006/main">
              <a:ext uri="{FF2B5EF4-FFF2-40B4-BE49-F238E27FC236}">
                <a16:creationId xmlns:a16="http://schemas.microsoft.com/office/drawing/2014/main" id="{85C71EA8-C3FB-4259-B78F-C9CEAB9162D1}"/>
              </a:ext>
            </a:extLst>
          </p:cNvPr>
          <p:cNvSpPr>
            <a:spLocks xmlns:a="http://schemas.openxmlformats.org/drawingml/2006/main" noGrp="1"/>
          </p:cNvSpPr>
          <p:nvPr/>
        </p:nvSpPr>
        <p:spPr>
          <a:xfrm xmlns:a="http://schemas.openxmlformats.org/drawingml/2006/main">
            <a:off x="685800" y="694944"/>
            <a:ext cx="9829800" cy="49377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700"/>
              <a:buFont typeface="Play"/>
              <a:buNone/>
            </a:pPr>
            <a:r>
              <a:rPr sz="2700" b="1">
                <a:solidFill>
                  <a:srgbClr val="FFFFFF"/>
                </a:solidFill>
                <a:latin typeface="Play"/>
                <a:ea typeface="Play"/>
                <a:cs typeface="Play"/>
              </a:rPr>
              <a:t>Discussion Draft Checkpoint</a:t>
            </a:r>
          </a:p>
        </p:txBody>
      </p:sp>
      <p:sp>
        <p:nvSpPr>
          <p:cNvPr id="365" name="Google Shape;365;p20">
            <a:extLst xmlns:a="http://schemas.openxmlformats.org/drawingml/2006/main">
              <a:ext uri="{FF2B5EF4-FFF2-40B4-BE49-F238E27FC236}">
                <a16:creationId xmlns:a16="http://schemas.microsoft.com/office/drawing/2014/main" id="{5FA4F14E-22E2-4CF8-BFE6-C12299D1788A}"/>
              </a:ext>
            </a:extLst>
          </p:cNvPr>
          <p:cNvSpPr>
            <a:spLocks xmlns:a="http://schemas.openxmlformats.org/drawingml/2006/main" noGrp="1"/>
          </p:cNvSpPr>
          <p:nvPr/>
        </p:nvSpPr>
        <p:spPr>
          <a:xfrm xmlns:a="http://schemas.openxmlformats.org/drawingml/2006/main">
            <a:off x="694944" y="1271016"/>
            <a:ext cx="9875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200"/>
              <a:buFont typeface="Arial"/>
              <a:buNone/>
            </a:pPr>
            <a:r>
              <a:rPr sz="1200">
                <a:solidFill>
                  <a:srgbClr val="B8B8B8"/>
                </a:solidFill>
                <a:latin typeface="Arial"/>
                <a:ea typeface="Arial"/>
                <a:cs typeface="Arial"/>
              </a:rPr>
              <a:t>Before moving on, every discussion needs these pieces.</a:t>
            </a:r>
          </a:p>
        </p:txBody>
      </p:sp>
      <p:cxnSp>
        <p:nvCxnSpPr>
          <p:cNvPr id="376" name="Google Shape;366;p20"/>
          <p:cNvCxnSpPr/>
          <p:nvPr/>
        </p:nvCxnSpPr>
        <p:spPr>
          <a:xfrm xmlns:a="http://schemas.openxmlformats.org/drawingml/2006/main">
            <a:off x="685800" y="1591056"/>
            <a:ext cx="10789920" cy="0"/>
          </a:xfrm>
          <a:prstGeom xmlns:a="http://schemas.openxmlformats.org/drawingml/2006/main" prst="straightConnector1">
            <a:avLst/>
          </a:prstGeom>
          <a:ln xmlns:a="http://schemas.openxmlformats.org/drawingml/2006/main" w="16500" cap="flat">
            <a:solidFill>
              <a:srgbClr val="E22B27"/>
            </a:solidFill>
            <a:prstDash val="solid"/>
            <a:round/>
            <a:headEnd type="none" w="sm" len="sm"/>
            <a:tailEnd type="none" w="sm" len="sm"/>
          </a:ln>
        </p:spPr>
      </p:cxnSp>
      <p:sp>
        <p:nvSpPr>
          <p:cNvPr id="367" name="Google Shape;367;p20">
            <a:extLst xmlns:a="http://schemas.openxmlformats.org/drawingml/2006/main">
              <a:ext uri="{FF2B5EF4-FFF2-40B4-BE49-F238E27FC236}">
                <a16:creationId xmlns:a16="http://schemas.microsoft.com/office/drawing/2014/main" id="{E1000DF4-74C6-4EC7-B6D9-14D66B6C83DD}"/>
              </a:ext>
            </a:extLst>
          </p:cNvPr>
          <p:cNvSpPr>
            <a:spLocks xmlns:a="http://schemas.openxmlformats.org/drawingml/2006/main" noGrp="1"/>
          </p:cNvSpPr>
          <p:nvPr/>
        </p:nvSpPr>
        <p:spPr>
          <a:xfrm xmlns:a="http://schemas.openxmlformats.org/drawingml/2006/main">
            <a:off x="960120" y="1737360"/>
            <a:ext cx="10241280" cy="402336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1000" tIns="1000" rIns="1000" bIns="1000" anchor="ctr">
            <a:noAutofit/>
          </a:bodyPr>
          <a:lstStyle xmlns:a="http://schemas.openxmlformats.org/drawingml/2006/main"/>
          <a:p xmlns:a="http://schemas.openxmlformats.org/drawingml/2006/main">
            <a:pPr marL="0" marR="0" indent="0" algn="l">
              <a:spcBef>
                <a:spcPts val="0"/>
              </a:spcBef>
              <a:spcAft>
                <a:spcPts val="0"/>
              </a:spcAft>
              <a:buNone/>
            </a:pPr>
            <a:r>
              <a:rPr sz="2000">
                <a:solidFill>
                  <a:srgbClr val="FFFFFF"/>
                </a:solidFill>
                <a:latin typeface="Arial"/>
                <a:ea typeface="Arial"/>
                <a:cs typeface="Arial"/>
              </a:rPr>
              <a:t>A clear main claim that fits the evidence.</a:t>
            </a:r>
          </a:p>
          <a:p xmlns:a="http://schemas.openxmlformats.org/drawingml/2006/main">
            <a:pPr marL="0" marR="0" indent="0" algn="l">
              <a:spcBef>
                <a:spcPts val="0"/>
              </a:spcBef>
              <a:spcAft>
                <a:spcPts val="0"/>
              </a:spcAft>
              <a:buNone/>
            </a:pPr>
            <a:r>
              <a:rPr sz="2000">
                <a:solidFill>
                  <a:srgbClr val="FFFFFF"/>
                </a:solidFill>
                <a:latin typeface="Arial"/>
                <a:ea typeface="Arial"/>
                <a:cs typeface="Arial"/>
              </a:rPr>
              <a:t>Specific evidence from the project, not vague references to “the data.”</a:t>
            </a:r>
          </a:p>
          <a:p xmlns:a="http://schemas.openxmlformats.org/drawingml/2006/main">
            <a:pPr marL="0" marR="0" indent="0" algn="l">
              <a:spcBef>
                <a:spcPts val="0"/>
              </a:spcBef>
              <a:spcAft>
                <a:spcPts val="0"/>
              </a:spcAft>
              <a:buNone/>
            </a:pPr>
            <a:r>
              <a:rPr sz="2000">
                <a:solidFill>
                  <a:srgbClr val="FFFFFF"/>
                </a:solidFill>
                <a:latin typeface="Arial"/>
                <a:ea typeface="Arial"/>
                <a:cs typeface="Arial"/>
              </a:rPr>
              <a:t>Reasoning that explains why the evidence matters.</a:t>
            </a:r>
          </a:p>
          <a:p xmlns:a="http://schemas.openxmlformats.org/drawingml/2006/main">
            <a:pPr marL="0" marR="0" indent="0" algn="l">
              <a:spcBef>
                <a:spcPts val="0"/>
              </a:spcBef>
              <a:spcAft>
                <a:spcPts val="0"/>
              </a:spcAft>
              <a:buNone/>
            </a:pPr>
            <a:r>
              <a:rPr sz="2000">
                <a:solidFill>
                  <a:srgbClr val="FFFFFF"/>
                </a:solidFill>
                <a:latin typeface="Arial"/>
                <a:ea typeface="Arial"/>
                <a:cs typeface="Arial"/>
              </a:rPr>
              <a:t>Connection to the hypothesis, research question, engineering goal, or design criteria.</a:t>
            </a:r>
          </a:p>
          <a:p xmlns:a="http://schemas.openxmlformats.org/drawingml/2006/main">
            <a:pPr marL="0" marR="0" indent="0" algn="l">
              <a:spcBef>
                <a:spcPts val="0"/>
              </a:spcBef>
              <a:spcAft>
                <a:spcPts val="0"/>
              </a:spcAft>
              <a:buNone/>
            </a:pPr>
            <a:r>
              <a:rPr sz="2000">
                <a:solidFill>
                  <a:srgbClr val="FFFFFF"/>
                </a:solidFill>
                <a:latin typeface="Arial"/>
                <a:ea typeface="Arial"/>
                <a:cs typeface="Arial"/>
              </a:rPr>
              <a:t>Specific limitations or sources of error.</a:t>
            </a:r>
          </a:p>
          <a:p xmlns:a="http://schemas.openxmlformats.org/drawingml/2006/main">
            <a:pPr marL="0" marR="0" indent="0" algn="l">
              <a:spcBef>
                <a:spcPts val="0"/>
              </a:spcBef>
              <a:spcAft>
                <a:spcPts val="0"/>
              </a:spcAft>
              <a:buNone/>
            </a:pPr>
            <a:r>
              <a:rPr sz="2000">
                <a:solidFill>
                  <a:srgbClr val="FFFFFF"/>
                </a:solidFill>
                <a:latin typeface="Arial"/>
                <a:ea typeface="Arial"/>
                <a:cs typeface="Arial"/>
              </a:rPr>
              <a:t>Future work that follows from the evidence.</a:t>
            </a:r>
          </a:p>
        </p:txBody>
      </p:sp>
    </p:spTree>
    <p:extLst>
      <p:ext uri="{BB962C8B-B14F-4D97-AF65-F5344CB8AC3E}">
        <p14:creationId xmlns:p14="http://schemas.microsoft.com/office/powerpoint/2010/main" val="720945507"/>
      </p:ext>
    </p:extLst>
  </p:cSld>
</p:sld>
</file>

<file path=ppt/slides/slide19.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373" name="Google Shape;373;p21">
            <a:extLst xmlns:a="http://schemas.openxmlformats.org/drawingml/2006/main">
              <a:ext uri="{FF2B5EF4-FFF2-40B4-BE49-F238E27FC236}">
                <a16:creationId xmlns:a16="http://schemas.microsoft.com/office/drawing/2014/main" id="{FE2807D4-C7B8-4B15-96FC-966B53911101}"/>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74" name="Google Shape;374;p21">
            <a:extLst xmlns:a="http://schemas.openxmlformats.org/drawingml/2006/main">
              <a:ext uri="{FF2B5EF4-FFF2-40B4-BE49-F238E27FC236}">
                <a16:creationId xmlns:a16="http://schemas.microsoft.com/office/drawing/2014/main" id="{0EF45631-6051-4A5A-9240-FFF19C668BD6}"/>
              </a:ext>
            </a:extLst>
          </p:cNvPr>
          <p:cNvSpPr>
            <a:spLocks xmlns:a="http://schemas.openxmlformats.org/drawingml/2006/main" noGrp="1"/>
          </p:cNvSpPr>
          <p:nvPr/>
        </p:nvSpPr>
        <p:spPr>
          <a:xfrm xmlns:a="http://schemas.openxmlformats.org/drawingml/2006/main">
            <a:off x="0" y="164592"/>
            <a:ext cx="12191695" cy="7315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75" name="Google Shape;375;p21">
            <a:extLst xmlns:a="http://schemas.openxmlformats.org/drawingml/2006/main">
              <a:ext uri="{FF2B5EF4-FFF2-40B4-BE49-F238E27FC236}">
                <a16:creationId xmlns:a16="http://schemas.microsoft.com/office/drawing/2014/main" id="{3E492DB9-02D6-46F4-8D8E-B560559AB3CA}"/>
              </a:ext>
            </a:extLst>
          </p:cNvPr>
          <p:cNvSpPr>
            <a:spLocks xmlns:a="http://schemas.openxmlformats.org/drawingml/2006/main" noGrp="1"/>
          </p:cNvSpPr>
          <p:nvPr/>
        </p:nvSpPr>
        <p:spPr>
          <a:xfrm xmlns:a="http://schemas.openxmlformats.org/drawingml/2006/main">
            <a:off x="0" y="6729984"/>
            <a:ext cx="12191695" cy="54864"/>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76" name="Google Shape;376;p21">
            <a:extLst xmlns:a="http://schemas.openxmlformats.org/drawingml/2006/main">
              <a:ext uri="{FF2B5EF4-FFF2-40B4-BE49-F238E27FC236}">
                <a16:creationId xmlns:a16="http://schemas.microsoft.com/office/drawing/2014/main" id="{52B790AC-822B-492D-935F-303E8B447305}"/>
              </a:ext>
            </a:extLst>
          </p:cNvPr>
          <p:cNvSpPr>
            <a:spLocks xmlns:a="http://schemas.openxmlformats.org/drawingml/2006/main" noGrp="1"/>
          </p:cNvSpPr>
          <p:nvPr/>
        </p:nvSpPr>
        <p:spPr>
          <a:xfrm xmlns:a="http://schemas.openxmlformats.org/drawingml/2006/main">
            <a:off x="411480" y="6236208"/>
            <a:ext cx="420624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000"/>
              <a:buFont typeface="Arial"/>
              <a:buNone/>
            </a:pPr>
            <a:r>
              <a:rPr sz="1000" b="1">
                <a:solidFill>
                  <a:srgbClr val="B8B8B8"/>
                </a:solidFill>
                <a:latin typeface="Arial"/>
                <a:ea typeface="Arial"/>
                <a:cs typeface="Arial"/>
              </a:rPr>
              <a:t>NEXT DECK</a:t>
            </a:r>
          </a:p>
        </p:txBody>
      </p:sp>
      <p:sp>
        <p:nvSpPr>
          <p:cNvPr id="377" name="Google Shape;377;p21">
            <a:extLst xmlns:a="http://schemas.openxmlformats.org/drawingml/2006/main">
              <a:ext uri="{FF2B5EF4-FFF2-40B4-BE49-F238E27FC236}">
                <a16:creationId xmlns:a16="http://schemas.microsoft.com/office/drawing/2014/main" id="{8CE29273-67FB-4D60-8BD3-4B6C30C08252}"/>
              </a:ext>
            </a:extLst>
          </p:cNvPr>
          <p:cNvSpPr>
            <a:spLocks xmlns:a="http://schemas.openxmlformats.org/drawingml/2006/main" noGrp="1"/>
          </p:cNvSpPr>
          <p:nvPr/>
        </p:nvSpPr>
        <p:spPr>
          <a:xfrm xmlns:a="http://schemas.openxmlformats.org/drawingml/2006/main">
            <a:off x="10515600" y="6236208"/>
            <a:ext cx="123444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B8B8B8"/>
              </a:buClr>
              <a:buSzPts val="1000"/>
              <a:buFont typeface="Arial"/>
              <a:buNone/>
            </a:pPr>
            <a:r>
              <a:rPr sz="1000" b="1">
                <a:solidFill>
                  <a:srgbClr val="B8B8B8"/>
                </a:solidFill>
                <a:latin typeface="Arial"/>
                <a:ea typeface="Arial"/>
                <a:cs typeface="Arial"/>
              </a:rPr>
              <a:t>STARLAB</a:t>
            </a:r>
          </a:p>
        </p:txBody>
      </p:sp>
      <p:sp>
        <p:nvSpPr>
          <p:cNvPr id="378" name="Google Shape;378;p21">
            <a:extLst xmlns:a="http://schemas.openxmlformats.org/drawingml/2006/main">
              <a:ext uri="{FF2B5EF4-FFF2-40B4-BE49-F238E27FC236}">
                <a16:creationId xmlns:a16="http://schemas.microsoft.com/office/drawing/2014/main" id="{B34907D7-FA61-48E2-9845-069DEF2EE6F0}"/>
              </a:ext>
            </a:extLst>
          </p:cNvPr>
          <p:cNvSpPr>
            <a:spLocks xmlns:a="http://schemas.openxmlformats.org/drawingml/2006/main" noGrp="1"/>
          </p:cNvSpPr>
          <p:nvPr/>
        </p:nvSpPr>
        <p:spPr>
          <a:xfrm xmlns:a="http://schemas.openxmlformats.org/drawingml/2006/main">
            <a:off x="10195560" y="384048"/>
            <a:ext cx="1325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E22B27"/>
              </a:buClr>
              <a:buSzPts val="1100"/>
              <a:buFont typeface="Arial"/>
              <a:buNone/>
            </a:pPr>
            <a:r>
              <a:rPr sz="1100" b="1">
                <a:solidFill>
                  <a:srgbClr val="E22B27"/>
                </a:solidFill>
                <a:latin typeface="Arial"/>
                <a:ea typeface="Arial"/>
                <a:cs typeface="Arial"/>
              </a:rPr>
              <a:t>DECK 15</a:t>
            </a:r>
          </a:p>
        </p:txBody>
      </p:sp>
      <p:sp>
        <p:nvSpPr>
          <p:cNvPr id="379" name="Google Shape;379;p21">
            <a:extLst xmlns:a="http://schemas.openxmlformats.org/drawingml/2006/main">
              <a:ext uri="{FF2B5EF4-FFF2-40B4-BE49-F238E27FC236}">
                <a16:creationId xmlns:a16="http://schemas.microsoft.com/office/drawing/2014/main" id="{2A6C2E59-E10B-486D-BF57-2F0272866DF6}"/>
              </a:ext>
            </a:extLst>
          </p:cNvPr>
          <p:cNvSpPr>
            <a:spLocks xmlns:a="http://schemas.openxmlformats.org/drawingml/2006/main" noGrp="1"/>
          </p:cNvSpPr>
          <p:nvPr/>
        </p:nvSpPr>
        <p:spPr>
          <a:xfrm xmlns:a="http://schemas.openxmlformats.org/drawingml/2006/main">
            <a:off x="685800" y="694944"/>
            <a:ext cx="9829800" cy="49377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700"/>
              <a:buFont typeface="Play"/>
              <a:buNone/>
            </a:pPr>
            <a:r>
              <a:rPr sz="2700" b="1">
                <a:solidFill>
                  <a:srgbClr val="FFFFFF"/>
                </a:solidFill>
                <a:latin typeface="Play"/>
                <a:ea typeface="Play"/>
                <a:cs typeface="Play"/>
              </a:rPr>
              <a:t>Next Deck</a:t>
            </a:r>
          </a:p>
        </p:txBody>
      </p:sp>
      <p:sp>
        <p:nvSpPr>
          <p:cNvPr id="380" name="Google Shape;380;p21">
            <a:extLst xmlns:a="http://schemas.openxmlformats.org/drawingml/2006/main">
              <a:ext uri="{FF2B5EF4-FFF2-40B4-BE49-F238E27FC236}">
                <a16:creationId xmlns:a16="http://schemas.microsoft.com/office/drawing/2014/main" id="{13250364-8C20-48DF-8F50-E93E7C34E0D3}"/>
              </a:ext>
            </a:extLst>
          </p:cNvPr>
          <p:cNvSpPr>
            <a:spLocks xmlns:a="http://schemas.openxmlformats.org/drawingml/2006/main" noGrp="1"/>
          </p:cNvSpPr>
          <p:nvPr/>
        </p:nvSpPr>
        <p:spPr>
          <a:xfrm xmlns:a="http://schemas.openxmlformats.org/drawingml/2006/main">
            <a:off x="694944" y="1271016"/>
            <a:ext cx="9875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200"/>
              <a:buFont typeface="Arial"/>
              <a:buNone/>
            </a:pPr>
            <a:r>
              <a:rPr sz="1200">
                <a:solidFill>
                  <a:srgbClr val="B8B8B8"/>
                </a:solidFill>
                <a:latin typeface="Arial"/>
                <a:ea typeface="Arial"/>
                <a:cs typeface="Arial"/>
              </a:rPr>
              <a:t>Peer Review and Scientific Revision</a:t>
            </a:r>
          </a:p>
        </p:txBody>
      </p:sp>
      <p:cxnSp>
        <p:nvCxnSpPr>
          <p:cNvPr id="393" name="Google Shape;381;p21"/>
          <p:cNvCxnSpPr/>
          <p:nvPr/>
        </p:nvCxnSpPr>
        <p:spPr>
          <a:xfrm xmlns:a="http://schemas.openxmlformats.org/drawingml/2006/main">
            <a:off x="685800" y="1591056"/>
            <a:ext cx="10789920" cy="0"/>
          </a:xfrm>
          <a:prstGeom xmlns:a="http://schemas.openxmlformats.org/drawingml/2006/main" prst="straightConnector1">
            <a:avLst/>
          </a:prstGeom>
          <a:ln xmlns:a="http://schemas.openxmlformats.org/drawingml/2006/main" w="16500" cap="flat">
            <a:solidFill>
              <a:srgbClr val="E22B27"/>
            </a:solidFill>
            <a:prstDash val="solid"/>
            <a:round/>
            <a:headEnd type="none" w="sm" len="sm"/>
            <a:tailEnd type="none" w="sm" len="sm"/>
          </a:ln>
        </p:spPr>
      </p:cxnSp>
      <p:sp>
        <p:nvSpPr>
          <p:cNvPr id="382" name="Google Shape;382;p21">
            <a:extLst xmlns:a="http://schemas.openxmlformats.org/drawingml/2006/main">
              <a:ext uri="{FF2B5EF4-FFF2-40B4-BE49-F238E27FC236}">
                <a16:creationId xmlns:a16="http://schemas.microsoft.com/office/drawing/2014/main" id="{27FABAB3-0D37-4BBB-AFEA-D15C8F5F7789}"/>
              </a:ext>
            </a:extLst>
          </p:cNvPr>
          <p:cNvSpPr>
            <a:spLocks xmlns:a="http://schemas.openxmlformats.org/drawingml/2006/main" noGrp="1"/>
          </p:cNvSpPr>
          <p:nvPr/>
        </p:nvSpPr>
        <p:spPr>
          <a:xfrm xmlns:a="http://schemas.openxmlformats.org/drawingml/2006/main">
            <a:off x="1005840" y="1965960"/>
            <a:ext cx="10149840" cy="10058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spcBef>
                <a:spcPts val="0"/>
              </a:spcBef>
              <a:spcAft>
                <a:spcPts val="0"/>
              </a:spcAft>
              <a:buClr>
                <a:srgbClr val="FFFFFF"/>
              </a:buClr>
              <a:buSzPts val="3000"/>
              <a:buFont typeface="Play"/>
              <a:buNone/>
            </a:pPr>
            <a:r>
              <a:rPr sz="3000" b="1">
                <a:solidFill>
                  <a:srgbClr val="FFFFFF"/>
                </a:solidFill>
                <a:latin typeface="Play"/>
                <a:ea typeface="Play"/>
                <a:cs typeface="Play"/>
              </a:rPr>
              <a:t>A strong discussion becomes stronger when another reader challenges the clarity, evidence, and reasoning.</a:t>
            </a:r>
          </a:p>
        </p:txBody>
      </p:sp>
      <p:cxnSp>
        <p:nvCxnSpPr>
          <p:cNvPr id="395" name="Google Shape;383;p21"/>
          <p:cNvCxnSpPr/>
          <p:nvPr/>
        </p:nvCxnSpPr>
        <p:spPr>
          <a:xfrm xmlns:a="http://schemas.openxmlformats.org/drawingml/2006/main">
            <a:off x="1828800" y="3657600"/>
            <a:ext cx="8503920" cy="0"/>
          </a:xfrm>
          <a:prstGeom xmlns:a="http://schemas.openxmlformats.org/drawingml/2006/main" prst="straightConnector1">
            <a:avLst/>
          </a:prstGeom>
          <a:ln xmlns:a="http://schemas.openxmlformats.org/drawingml/2006/main" w="19050" cap="flat">
            <a:solidFill>
              <a:srgbClr val="E22B27"/>
            </a:solidFill>
            <a:prstDash val="solid"/>
            <a:round/>
            <a:headEnd type="none" w="sm" len="sm"/>
            <a:tailEnd type="none" w="sm" len="sm"/>
          </a:ln>
        </p:spPr>
      </p:cxnSp>
      <p:sp>
        <p:nvSpPr>
          <p:cNvPr id="384" name="Google Shape;384;p21">
            <a:extLst xmlns:a="http://schemas.openxmlformats.org/drawingml/2006/main">
              <a:ext uri="{FF2B5EF4-FFF2-40B4-BE49-F238E27FC236}">
                <a16:creationId xmlns:a16="http://schemas.microsoft.com/office/drawing/2014/main" id="{1A8DC745-1E0A-46AE-9C24-1A5D4D63433D}"/>
              </a:ext>
            </a:extLst>
          </p:cNvPr>
          <p:cNvSpPr>
            <a:spLocks xmlns:a="http://schemas.openxmlformats.org/drawingml/2006/main" noGrp="1"/>
          </p:cNvSpPr>
          <p:nvPr/>
        </p:nvSpPr>
        <p:spPr>
          <a:xfrm xmlns:a="http://schemas.openxmlformats.org/drawingml/2006/main">
            <a:off x="1280160" y="4160520"/>
            <a:ext cx="969264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spcBef>
                <a:spcPts val="0"/>
              </a:spcBef>
              <a:spcAft>
                <a:spcPts val="0"/>
              </a:spcAft>
              <a:buClr>
                <a:srgbClr val="B8B8B8"/>
              </a:buClr>
              <a:buSzPts val="2200"/>
              <a:buFont typeface="Arial"/>
              <a:buNone/>
            </a:pPr>
            <a:r>
              <a:rPr sz="2200">
                <a:solidFill>
                  <a:srgbClr val="B8B8B8"/>
                </a:solidFill>
                <a:latin typeface="Arial"/>
                <a:ea typeface="Arial"/>
                <a:cs typeface="Arial"/>
              </a:rPr>
              <a:t>Next: learn how to give and use specific scientific feedback.</a:t>
            </a:r>
          </a:p>
        </p:txBody>
      </p:sp>
    </p:spTree>
    <p:extLst>
      <p:ext uri="{BB962C8B-B14F-4D97-AF65-F5344CB8AC3E}">
        <p14:creationId xmlns:p14="http://schemas.microsoft.com/office/powerpoint/2010/main" val="1741304680"/>
      </p:ext>
    </p:extLst>
  </p:cSld>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2026-07-16T15:42:08.8690000Z</dcterms:created>
  <dcterms:modified xsi:type="dcterms:W3CDTF">2026-07-16T15:42:08.8690000Z</dcterms:modified>
</coreProperties>
</file>