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y="6858000" cx="12192000"/>
  <p:notesSz cx="6858000" cy="12192000"/>
  <p:embeddedFontLst>
    <p:embeddedFont>
      <p:font typeface="Play"/>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font" Target="fonts/Play-bold.fntdata"/><Relationship Id="rId27" Type="http://schemas.openxmlformats.org/officeDocument/2006/relationships/font" Target="fonts/Play-regular.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title slide as students enter. This deck moves students from “interesting idea” to an approved plan for safe, feasible research. Frame the research plan as the launch checklist that makes authentic research possible.</a:t>
            </a:r>
            <a:br>
              <a:rPr lang="en-US"/>
            </a:br>
            <a:br>
              <a:rPr lang="en-US"/>
            </a:br>
            <a:r>
              <a:rPr lang="en-US"/>
              <a:t>Resource alignment:</a:t>
            </a:r>
            <a:br>
              <a:rPr lang="en-US"/>
            </a:br>
            <a:r>
              <a:rPr lang="en-US"/>
              <a:t>Required print materials for this deck:</a:t>
            </a:r>
            <a:br>
              <a:rPr lang="en-US"/>
            </a:br>
            <a:r>
              <a:rPr lang="en-US"/>
              <a:t>• Unit 2 Student Handout 1: Project Refinement Workshop</a:t>
            </a:r>
            <a:br>
              <a:rPr lang="en-US"/>
            </a:br>
            <a:r>
              <a:rPr lang="en-US"/>
              <a:t>• Unit 2 Student Handout 2: Background Research Notes</a:t>
            </a:r>
            <a:br>
              <a:rPr lang="en-US"/>
            </a:br>
            <a:r>
              <a:rPr lang="en-US"/>
              <a:t>• Unit 2 Student Handout 3: Hypothesis and Design Criteria Builder</a:t>
            </a:r>
            <a:br>
              <a:rPr lang="en-US"/>
            </a:br>
            <a:r>
              <a:rPr lang="en-US"/>
              <a:t>• Unit 2 Student Handout 4: Variables, Controls, Criteria, and Constraints Organizer</a:t>
            </a:r>
            <a:br>
              <a:rPr lang="en-US"/>
            </a:br>
            <a:r>
              <a:rPr lang="en-US"/>
              <a:t>• Unit 2 Student Handout 5: Evidence Planning Tool</a:t>
            </a:r>
            <a:br>
              <a:rPr lang="en-US"/>
            </a:br>
            <a:r>
              <a:rPr lang="en-US"/>
              <a:t>• Unit 2 Student Handout 6: Materials and Equipment Planner</a:t>
            </a:r>
            <a:br>
              <a:rPr lang="en-US"/>
            </a:br>
            <a:r>
              <a:rPr lang="en-US"/>
              <a:t>• Unit 2 Student Handout 7: Procedure and Testing Protocol Builder</a:t>
            </a:r>
            <a:br>
              <a:rPr lang="en-US"/>
            </a:br>
            <a:r>
              <a:rPr lang="en-US"/>
              <a:t>• Unit 2 Student Handout 8: Data Collection Plan</a:t>
            </a:r>
            <a:br>
              <a:rPr lang="en-US"/>
            </a:br>
            <a:r>
              <a:rPr lang="en-US"/>
              <a:t>• Unit 2 Student Handout 9: Safety and Risk Assessment</a:t>
            </a:r>
            <a:br>
              <a:rPr lang="en-US"/>
            </a:br>
            <a:r>
              <a:rPr lang="en-US"/>
              <a:t>• Unit 2 Student Handout 10: Ethics and Approval Screening</a:t>
            </a:r>
            <a:br>
              <a:rPr lang="en-US"/>
            </a:br>
            <a:r>
              <a:rPr lang="en-US"/>
              <a:t>• Unit 2 Student Handout 11: Project Timeline Planner</a:t>
            </a:r>
            <a:br>
              <a:rPr lang="en-US"/>
            </a:br>
            <a:r>
              <a:rPr lang="en-US"/>
              <a:t>• Unit 2 Student Handout 12: Formal Research Plan Template</a:t>
            </a:r>
            <a:br>
              <a:rPr lang="en-US"/>
            </a:br>
            <a:r>
              <a:rPr lang="en-US"/>
              <a:t>• Unit 2 Student Handout 13: Research Plan Conference Form</a:t>
            </a:r>
            <a:br>
              <a:rPr lang="en-US"/>
            </a:br>
            <a:r>
              <a:rPr lang="en-US"/>
              <a:t>• Unit 2 Appendix H: Project Approval Checklist</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to frame the research plan as a protective tool for the student, not a bureaucratic form. Students should understand that a plan helps prevent unsafe testing, unusable data, unrealistic timelines, and unclear methods.</a:t>
            </a:r>
            <a:br>
              <a:rPr lang="en-US"/>
            </a:br>
            <a:br>
              <a:rPr lang="en-US"/>
            </a:br>
            <a:r>
              <a:rPr lang="en-US"/>
              <a:t>Resource alignment:</a:t>
            </a:r>
            <a:br>
              <a:rPr lang="en-US"/>
            </a:br>
            <a:r>
              <a:rPr lang="en-US"/>
              <a:t>Use with Unit 2 Student Handout 12: Formal Research Plan Template. This slide introduces the purpose of the full research plan students will assemble later in the deck.</a:t>
            </a:r>
            <a:endParaRPr/>
          </a:p>
        </p:txBody>
      </p:sp>
      <p:sp>
        <p:nvSpPr>
          <p:cNvPr id="27" name="Google Shape;2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may feel pressure to guarantee results. Clarify that a research plan does not promise a conclusion. It promises a responsible process. The plan answers: What are you doing? How will you do it? What evidence will you collect? What risks must be controlled?</a:t>
            </a:r>
            <a:br>
              <a:rPr lang="en-US"/>
            </a:br>
            <a:br>
              <a:rPr lang="en-US"/>
            </a:br>
            <a:r>
              <a:rPr lang="en-US"/>
              <a:t>Resource alignment:</a:t>
            </a:r>
            <a:br>
              <a:rPr lang="en-US"/>
            </a:br>
            <a:r>
              <a:rPr lang="en-US"/>
              <a:t>Use as a conceptual bridge into Unit 2 Student Handout 12: Formal Research Plan Template.</a:t>
            </a:r>
            <a:endParaRPr/>
          </a:p>
        </p:txBody>
      </p:sp>
      <p:sp>
        <p:nvSpPr>
          <p:cNvPr id="57" name="Google Shape;5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is the overview. Do not overteach every section yet; students will see each part individually. Ask students which section they currently feel least confident about.</a:t>
            </a:r>
            <a:br>
              <a:rPr lang="en-US"/>
            </a:br>
            <a:br>
              <a:rPr lang="en-US"/>
            </a:br>
            <a:r>
              <a:rPr lang="en-US"/>
              <a:t>Resource alignment:</a:t>
            </a:r>
            <a:br>
              <a:rPr lang="en-US"/>
            </a:br>
            <a:r>
              <a:rPr lang="en-US"/>
              <a:t>Use with Unit 2 Student Handout 12: Formal Research Plan Template. This slide previews all major sections students will complete: focus, background, hypothesis/design criteria, methods, data plan, safety/ethics, and timeline.</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 name="Google Shape;12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Do not approve “topic statements” as project focus. A topic is not a plan. Students need a research question, engineering problem, or data analysis question that can lead to evidence.</a:t>
            </a:r>
            <a:br>
              <a:rPr lang="en-US"/>
            </a:br>
            <a:br>
              <a:rPr lang="en-US"/>
            </a:br>
            <a:r>
              <a:rPr lang="en-US"/>
              <a:t>Resource alignment:</a:t>
            </a:r>
            <a:br>
              <a:rPr lang="en-US"/>
            </a:br>
            <a:r>
              <a:rPr lang="en-US"/>
              <a:t>Use with Unit 2 Student Handout 1: Project Refinement Workshop. Students should use this handout to clarify what they are investigating, measuring, designing, improving, or analyzing.</a:t>
            </a:r>
            <a:endParaRPr/>
          </a:p>
        </p:txBody>
      </p:sp>
      <p:sp>
        <p:nvSpPr>
          <p:cNvPr id="130" name="Google Shape;13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Push students beyond “I found facts.” Ask how each source affects the project design, method, measurements, risk, or context. Background research should shape the plan, not merely decorate the final report.</a:t>
            </a:r>
            <a:br>
              <a:rPr lang="en-US"/>
            </a:br>
            <a:br>
              <a:rPr lang="en-US"/>
            </a:br>
            <a:r>
              <a:rPr lang="en-US"/>
              <a:t>Resource alignment:</a:t>
            </a:r>
            <a:br>
              <a:rPr lang="en-US"/>
            </a:br>
            <a:r>
              <a:rPr lang="en-US"/>
              <a:t>Use with Unit 2 Student Handout 2: Background Research Notes. Students should identify how each source informs the science background, method, measurement approach, safety concerns, or design constraints.</a:t>
            </a:r>
            <a:endParaRPr/>
          </a:p>
        </p:txBody>
      </p:sp>
      <p:sp>
        <p:nvSpPr>
          <p:cNvPr id="161" name="Google Shape;16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a useful diagnostic. If students cannot write a hypothesis or design criteria statement, they may not yet understand what they are testing or how success will be judged.</a:t>
            </a:r>
            <a:br>
              <a:rPr lang="en-US"/>
            </a:br>
            <a:br>
              <a:rPr lang="en-US"/>
            </a:br>
            <a:r>
              <a:rPr lang="en-US"/>
              <a:t>Resource alignment:</a:t>
            </a:r>
            <a:br>
              <a:rPr lang="en-US"/>
            </a:br>
            <a:r>
              <a:rPr lang="en-US"/>
              <a:t>Use with Unit 2 Student Handout 3: Hypothesis and Design Criteria Builder. Experimental projects should draft a hypothesis. Engineering projects should define criteria and constraints. Data projects should identify prediction or analytical goal.</a:t>
            </a:r>
            <a:endParaRPr/>
          </a:p>
        </p:txBody>
      </p:sp>
      <p:sp>
        <p:nvSpPr>
          <p:cNvPr id="194" name="Google Shape;19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Keep multiple project pathways valid. Students should not be forced into experimental vocabulary when they are doing engineering, data analysis, or observational work. The point is to identify what changes, what is measured, what is controlled, and what counts as meaningful evidence.</a:t>
            </a:r>
            <a:br>
              <a:rPr lang="en-US"/>
            </a:br>
            <a:br>
              <a:rPr lang="en-US"/>
            </a:br>
            <a:r>
              <a:rPr lang="en-US"/>
              <a:t>Resource alignment:</a:t>
            </a:r>
            <a:br>
              <a:rPr lang="en-US"/>
            </a:br>
            <a:r>
              <a:rPr lang="en-US"/>
              <a:t>Use with Unit 2 Student Handout 4: Variables, Controls, Criteria, and Constraints Organizer.</a:t>
            </a:r>
            <a:endParaRPr/>
          </a:p>
        </p:txBody>
      </p:sp>
      <p:sp>
        <p:nvSpPr>
          <p:cNvPr id="221" name="Google Shape;22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Many student projects fail because of missing small materials, not because of the main equipment. Push students to think through setup, storage, cleanup, replacement materials, PPE, data storage, and backup supplies.</a:t>
            </a:r>
            <a:br>
              <a:rPr lang="en-US"/>
            </a:br>
            <a:br>
              <a:rPr lang="en-US"/>
            </a:br>
            <a:r>
              <a:rPr lang="en-US"/>
              <a:t>Resource alignment:</a:t>
            </a:r>
            <a:br>
              <a:rPr lang="en-US"/>
            </a:br>
            <a:r>
              <a:rPr lang="en-US"/>
              <a:t>Use with Unit 2 Student Handout 6: Materials and Equipment Planner.</a:t>
            </a:r>
            <a:endParaRPr/>
          </a:p>
        </p:txBody>
      </p:sp>
      <p:sp>
        <p:nvSpPr>
          <p:cNvPr id="256" name="Google Shape;25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The procedure does not need to be perfect before pilot testing, but it must be safe, specific, and reviewable. Ask students: Could another person evaluate this method before testing begins? Could someone identify where measurements will happen?</a:t>
            </a:r>
            <a:br>
              <a:rPr lang="en-US"/>
            </a:br>
            <a:br>
              <a:rPr lang="en-US"/>
            </a:br>
            <a:r>
              <a:rPr lang="en-US"/>
              <a:t>Resource alignment:</a:t>
            </a:r>
            <a:br>
              <a:rPr lang="en-US"/>
            </a:br>
            <a:r>
              <a:rPr lang="en-US"/>
              <a:t>Use with Unit 2 Student Handout 7: Procedure and Testing Protocol Builder.</a:t>
            </a:r>
            <a:endParaRPr/>
          </a:p>
        </p:txBody>
      </p:sp>
      <p:sp>
        <p:nvSpPr>
          <p:cNvPr id="279" name="Google Shape;27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2" name="Google Shape;31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one of the strongest readiness tests. If students cannot create data columns, they probably do not know what evidence they need. A blank data table is often the clearest proof that the project is ready to move toward pilot testing.</a:t>
            </a:r>
            <a:br>
              <a:rPr lang="en-US"/>
            </a:br>
            <a:br>
              <a:rPr lang="en-US"/>
            </a:br>
            <a:r>
              <a:rPr lang="en-US"/>
              <a:t>Resource alignment:</a:t>
            </a:r>
            <a:br>
              <a:rPr lang="en-US"/>
            </a:br>
            <a:r>
              <a:rPr lang="en-US"/>
              <a:t>Use with Unit 2 Student Handout 8: Data Collection Plan. Students should define raw data, units, frequency, storage, backup, and possible calculated values.</a:t>
            </a:r>
            <a:endParaRPr/>
          </a:p>
        </p:txBody>
      </p:sp>
      <p:sp>
        <p:nvSpPr>
          <p:cNvPr id="313" name="Google Shape;31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8" name="Google Shape;34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a planning preview of Unit 4. Students are not analyzing now; they are checking whether their planned data collection will support future analysis. Encourage students to plan backward from the graph or table they may eventually need.</a:t>
            </a:r>
            <a:br>
              <a:rPr lang="en-US"/>
            </a:br>
            <a:br>
              <a:rPr lang="en-US"/>
            </a:br>
            <a:r>
              <a:rPr lang="en-US"/>
              <a:t>Resource alignment:</a:t>
            </a:r>
            <a:br>
              <a:rPr lang="en-US"/>
            </a:br>
            <a:r>
              <a:rPr lang="en-US"/>
              <a:t>Use with Unit 2 Student Handout 5: Evidence Planning Tool. This also previews later work in Unit 4: Data Analysis and Interpretation.</a:t>
            </a:r>
            <a:endParaRPr/>
          </a:p>
        </p:txBody>
      </p:sp>
      <p:sp>
        <p:nvSpPr>
          <p:cNvPr id="349" name="Google Shape;34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2" name="Google Shape;38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Keep the tone serious but not fear-based. The goal is to make safe research possible. Students should identify hazards, estimate risk, and describe controls before they test anything.</a:t>
            </a:r>
            <a:br>
              <a:rPr lang="en-US"/>
            </a:br>
            <a:br>
              <a:rPr lang="en-US"/>
            </a:br>
            <a:r>
              <a:rPr lang="en-US"/>
              <a:t>Resource alignment:</a:t>
            </a:r>
            <a:br>
              <a:rPr lang="en-US"/>
            </a:br>
            <a:r>
              <a:rPr lang="en-US"/>
              <a:t>Use with Unit 2 Student Handout 9: Safety and Risk Assessment. Also reference Unit 2 Appendix E: Risk Assessment Matrix when discussing severity and likelihood.</a:t>
            </a:r>
            <a:endParaRPr/>
          </a:p>
        </p:txBody>
      </p:sp>
      <p:sp>
        <p:nvSpPr>
          <p:cNvPr id="383" name="Google Shape;38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intentionally keeps ethics broad because local approval processes vary. The key message is that students must know when to pause and ask for review. If people, animals, private data, biological materials, or environmental impact are involved, the project needs extra attention.</a:t>
            </a:r>
            <a:br>
              <a:rPr lang="en-US"/>
            </a:br>
            <a:br>
              <a:rPr lang="en-US"/>
            </a:br>
            <a:r>
              <a:rPr lang="en-US"/>
              <a:t>Resource alignment:</a:t>
            </a:r>
            <a:br>
              <a:rPr lang="en-US"/>
            </a:br>
            <a:r>
              <a:rPr lang="en-US"/>
              <a:t>Use with Unit 2 Student Handout 10: Ethics and Approval Screening. Also reference Unit 2 Appendix F: Safety and Ethics Red Flags.</a:t>
            </a:r>
            <a:endParaRPr/>
          </a:p>
        </p:txBody>
      </p:sp>
      <p:sp>
        <p:nvSpPr>
          <p:cNvPr id="410" name="Google Shape;41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4" name="Google Shape;44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A timeline without decision points is fantasy. Ask students to identify when they would know the project needs a smaller scope, another pilot test, a mentor consult, or a backup method.</a:t>
            </a:r>
            <a:br>
              <a:rPr lang="en-US"/>
            </a:br>
            <a:br>
              <a:rPr lang="en-US"/>
            </a:br>
            <a:r>
              <a:rPr lang="en-US"/>
              <a:t>Resource alignment:</a:t>
            </a:r>
            <a:br>
              <a:rPr lang="en-US"/>
            </a:br>
            <a:r>
              <a:rPr lang="en-US"/>
              <a:t>Use with Unit 2 Student Handout 11: Project Timeline Planner.</a:t>
            </a:r>
            <a:endParaRPr/>
          </a:p>
        </p:txBody>
      </p:sp>
      <p:sp>
        <p:nvSpPr>
          <p:cNvPr id="445" name="Google Shape;44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Normalize “needs revision.” It is not a punishment; it is part of the research approval process. Approval may mean proceed, proceed with edits, revise, seek special review, or stop in the current form.</a:t>
            </a:r>
            <a:br>
              <a:rPr lang="en-US"/>
            </a:br>
            <a:br>
              <a:rPr lang="en-US"/>
            </a:br>
            <a:r>
              <a:rPr lang="en-US"/>
              <a:t>Resource alignment:</a:t>
            </a:r>
            <a:br>
              <a:rPr lang="en-US"/>
            </a:br>
            <a:r>
              <a:rPr lang="en-US"/>
              <a:t>Use with Unit 2 Student Handout 13: Research Plan Conference Form. Also aligns with Unit 2 Appendix H: Project Approval Checklist.</a:t>
            </a:r>
            <a:endParaRPr/>
          </a:p>
        </p:txBody>
      </p:sp>
      <p:sp>
        <p:nvSpPr>
          <p:cNvPr id="490" name="Google Shape;49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Some students will write a lot without saying much. Assess alignment: question → method → data → safety → timeline. A strong plan is not necessarily long. It is coherent.</a:t>
            </a:r>
            <a:br>
              <a:rPr lang="en-US"/>
            </a:br>
            <a:br>
              <a:rPr lang="en-US"/>
            </a:br>
            <a:r>
              <a:rPr lang="en-US"/>
              <a:t>Resource alignment:</a:t>
            </a:r>
            <a:br>
              <a:rPr lang="en-US"/>
            </a:br>
            <a:r>
              <a:rPr lang="en-US"/>
              <a:t>Use as a review before students assemble Unit 2 Student Handout 12: Formal Research Plan Template.</a:t>
            </a:r>
            <a:endParaRPr/>
          </a:p>
        </p:txBody>
      </p:sp>
      <p:sp>
        <p:nvSpPr>
          <p:cNvPr id="523" name="Google Shape;52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 name="Google Shape;55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main work-session slide. Keep it visible while students assemble their formal research plan. Students should use the handouts they have already completed to build one coherent plan.</a:t>
            </a:r>
            <a:br>
              <a:rPr lang="en-US"/>
            </a:br>
            <a:br>
              <a:rPr lang="en-US"/>
            </a:br>
            <a:r>
              <a:rPr lang="en-US"/>
              <a:t>Resource alignment:</a:t>
            </a:r>
            <a:br>
              <a:rPr lang="en-US"/>
            </a:br>
            <a:r>
              <a:rPr lang="en-US"/>
              <a:t>Primary: Unit 2 Student Handout 12: Formal Research Plan Template. Supporting handouts: Unit 2 Student Handout 1: Project Refinement Workshop; Unit 2 Student Handout 2: Background Research Notes; Unit 2 Student Handout 3: Hypothesis and Design Criteria Builder; Unit 2 Student Handout 4: Variables, Controls, Criteria, and Constraints Organizer; Unit 2 Student Handout 5: Evidence Planning Tool; Unit 2 Student Handout 6: Materials and Equipment Planner; Unit 2 Student Handout 7: Procedure and Testing Protocol Builder; Unit 2 Student Handout 8: Data Collection Plan; Unit 2 Student Handout 9: Safety and Risk Assessment; Unit 2 Student Handout 10: Ethics and Approval Screening; Unit 2 Student Handout 11: Project Timeline Planner.</a:t>
            </a:r>
            <a:endParaRPr/>
          </a:p>
        </p:txBody>
      </p:sp>
      <p:sp>
        <p:nvSpPr>
          <p:cNvPr id="560" name="Google Shape;56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7" name="Google Shape;57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to show how “specific” does not have to mean overly long. It means reviewable. Students should be able to identify the comparison, constants, measurement, and metric in the stronger example.</a:t>
            </a:r>
            <a:br>
              <a:rPr lang="en-US"/>
            </a:br>
            <a:br>
              <a:rPr lang="en-US"/>
            </a:br>
            <a:r>
              <a:rPr lang="en-US"/>
              <a:t>Resource alignment:</a:t>
            </a:r>
            <a:br>
              <a:rPr lang="en-US"/>
            </a:br>
            <a:r>
              <a:rPr lang="en-US"/>
              <a:t>Use with Unit 2 Student Handout 12: Formal Research Plan Template, especially the procedure, variables/criteria, and data collection sections.</a:t>
            </a:r>
            <a:endParaRPr/>
          </a:p>
        </p:txBody>
      </p:sp>
      <p:sp>
        <p:nvSpPr>
          <p:cNvPr id="578" name="Google Shape;57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during conferences. Ask students to identify which pitfall their plan is closest to. The goal is not embarrassment; the goal is early repair before Unit 3.</a:t>
            </a:r>
            <a:br>
              <a:rPr lang="en-US"/>
            </a:br>
            <a:br>
              <a:rPr lang="en-US"/>
            </a:br>
            <a:r>
              <a:rPr lang="en-US"/>
              <a:t>Resource alignment:</a:t>
            </a:r>
            <a:br>
              <a:rPr lang="en-US"/>
            </a:br>
            <a:r>
              <a:rPr lang="en-US"/>
              <a:t>Use with Unit 2 Appendix H: Project Approval Checklist. Also connects to Unit 2 Student Handout 13: Research Plan Conference Form.</a:t>
            </a:r>
            <a:endParaRPr/>
          </a:p>
        </p:txBody>
      </p:sp>
      <p:sp>
        <p:nvSpPr>
          <p:cNvPr id="605" name="Google Shape;60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1" name="Google Shape;64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gatekeeping slide. Use it to reinforce that Unit 3 pilot testing begins only after the plan is safe, ethical, feasible, and clear enough to pilot. “No approval, no testing” should be firm and consistent.</a:t>
            </a:r>
            <a:br>
              <a:rPr lang="en-US"/>
            </a:br>
            <a:br>
              <a:rPr lang="en-US"/>
            </a:br>
            <a:r>
              <a:rPr lang="en-US"/>
              <a:t>Resource alignment:</a:t>
            </a:r>
            <a:br>
              <a:rPr lang="en-US"/>
            </a:br>
            <a:r>
              <a:rPr lang="en-US"/>
              <a:t>Use with Unit 2 Appendix H: Project Approval Checklist. Students should also bring Unit 2 Student Handout 13: Research Plan Conference Form to document approval status and required revisions.</a:t>
            </a:r>
            <a:endParaRPr/>
          </a:p>
        </p:txBody>
      </p:sp>
      <p:sp>
        <p:nvSpPr>
          <p:cNvPr id="642" name="Google Shape;64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Collect this to plan conferences. Students who say “I’m ready” but cannot name a specific next action need a conference. Use responses to sort students into approval-ready, minor revision, major revision, safety/ethics review, or additional support groups.</a:t>
            </a:r>
            <a:br>
              <a:rPr lang="en-US"/>
            </a:br>
            <a:br>
              <a:rPr lang="en-US"/>
            </a:br>
            <a:r>
              <a:rPr lang="en-US"/>
              <a:t>Resource alignment:</a:t>
            </a:r>
            <a:br>
              <a:rPr lang="en-US"/>
            </a:br>
            <a:r>
              <a:rPr lang="en-US"/>
              <a:t>Use after students have worked with Unit 2 Student Handout 12: Formal Research Plan Template and before the research plan approval conference. Next deck connection: Deck 6: Pilot Testing — Test Small First.</a:t>
            </a:r>
            <a:endParaRPr/>
          </a:p>
        </p:txBody>
      </p:sp>
      <p:sp>
        <p:nvSpPr>
          <p:cNvPr id="665" name="Google Shape;66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0" y="420624"/>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deck4_extract_tmp/ppt/media/image-1-1.png" id="19" name="Google Shape;19;p3"/>
          <p:cNvPicPr preferRelativeResize="0"/>
          <p:nvPr/>
        </p:nvPicPr>
        <p:blipFill rotWithShape="1">
          <a:blip r:embed="rId3">
            <a:alphaModFix/>
          </a:blip>
          <a:srcRect b="0" l="0" r="0" t="0"/>
          <a:stretch/>
        </p:blipFill>
        <p:spPr>
          <a:xfrm>
            <a:off x="1965960" y="685800"/>
            <a:ext cx="8321040" cy="3657600"/>
          </a:xfrm>
          <a:prstGeom prst="rect">
            <a:avLst/>
          </a:prstGeom>
          <a:noFill/>
          <a:ln>
            <a:noFill/>
          </a:ln>
        </p:spPr>
      </p:pic>
      <p:sp>
        <p:nvSpPr>
          <p:cNvPr id="20" name="Google Shape;20;p3"/>
          <p:cNvSpPr/>
          <p:nvPr/>
        </p:nvSpPr>
        <p:spPr>
          <a:xfrm>
            <a:off x="868680" y="4828032"/>
            <a:ext cx="10469880" cy="969264"/>
          </a:xfrm>
          <a:prstGeom prst="rect">
            <a:avLst/>
          </a:prstGeom>
          <a:solidFill>
            <a:srgbClr val="000000"/>
          </a:solidFill>
          <a:ln cap="flat" cmpd="sng" w="13950">
            <a:solidFill>
              <a:srgbClr val="B8B8B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1005840" y="4937760"/>
            <a:ext cx="100126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BUILDING A FORMAL</a:t>
            </a:r>
            <a:endParaRPr b="0" i="0" sz="30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RESEARCH PLAN</a:t>
            </a:r>
            <a:endParaRPr b="0" i="0" sz="3000" u="none" cap="none" strike="noStrike">
              <a:solidFill>
                <a:schemeClr val="dk1"/>
              </a:solidFill>
              <a:latin typeface="Arial"/>
              <a:ea typeface="Arial"/>
              <a:cs typeface="Arial"/>
              <a:sym typeface="Arial"/>
            </a:endParaRPr>
          </a:p>
        </p:txBody>
      </p:sp>
      <p:sp>
        <p:nvSpPr>
          <p:cNvPr id="22" name="Google Shape;22;p3"/>
          <p:cNvSpPr/>
          <p:nvPr/>
        </p:nvSpPr>
        <p:spPr>
          <a:xfrm>
            <a:off x="1005840" y="5833872"/>
            <a:ext cx="74980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STARLAB Deck 05  •  Unit 2 Core Instruction</a:t>
            </a:r>
            <a:endParaRPr b="0" i="0" sz="1200" u="none" cap="none" strike="noStrike">
              <a:solidFill>
                <a:schemeClr val="dk1"/>
              </a:solidFill>
              <a:latin typeface="Arial"/>
              <a:ea typeface="Arial"/>
              <a:cs typeface="Arial"/>
              <a:sym typeface="Arial"/>
            </a:endParaRPr>
          </a:p>
        </p:txBody>
      </p:sp>
      <p:sp>
        <p:nvSpPr>
          <p:cNvPr id="23" name="Google Shape;23;p3"/>
          <p:cNvSpPr/>
          <p:nvPr/>
        </p:nvSpPr>
        <p:spPr>
          <a:xfrm>
            <a:off x="1005840" y="6053328"/>
            <a:ext cx="82296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50"/>
              <a:buFont typeface="Arial"/>
              <a:buNone/>
            </a:pPr>
            <a:r>
              <a:t/>
            </a:r>
            <a:endParaRPr b="0" i="0" sz="95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8" name="Shape 28"/>
        <p:cNvGrpSpPr/>
        <p:nvPr/>
      </p:nvGrpSpPr>
      <p:grpSpPr>
        <a:xfrm>
          <a:off x="0" y="0"/>
          <a:ext cx="0" cy="0"/>
          <a:chOff x="0" y="0"/>
          <a:chExt cx="0" cy="0"/>
        </a:xfrm>
      </p:grpSpPr>
      <p:sp>
        <p:nvSpPr>
          <p:cNvPr id="29" name="Google Shape;29;p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OVERVIEW</a:t>
            </a:r>
            <a:endParaRPr b="0" i="0" sz="900" u="none" cap="none" strike="noStrike">
              <a:solidFill>
                <a:schemeClr val="dk1"/>
              </a:solidFill>
              <a:latin typeface="Arial"/>
              <a:ea typeface="Arial"/>
              <a:cs typeface="Arial"/>
              <a:sym typeface="Arial"/>
            </a:endParaRPr>
          </a:p>
        </p:txBody>
      </p:sp>
      <p:sp>
        <p:nvSpPr>
          <p:cNvPr id="33" name="Google Shape;33;p4"/>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34" name="Google Shape;34;p4"/>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TODAY’S TARGETS</a:t>
            </a:r>
            <a:endParaRPr b="0" i="0" sz="3000" u="none" cap="none" strike="noStrike">
              <a:solidFill>
                <a:schemeClr val="dk1"/>
              </a:solidFill>
              <a:latin typeface="Arial"/>
              <a:ea typeface="Arial"/>
              <a:cs typeface="Arial"/>
              <a:sym typeface="Arial"/>
            </a:endParaRPr>
          </a:p>
        </p:txBody>
      </p:sp>
      <p:cxnSp>
        <p:nvCxnSpPr>
          <p:cNvPr id="35" name="Google Shape;35;p4"/>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36" name="Google Shape;36;p4"/>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Students should leave with a clear model for a complete research plan.</a:t>
            </a:r>
            <a:endParaRPr b="0" i="0" sz="1050" u="none" cap="none" strike="noStrike">
              <a:solidFill>
                <a:schemeClr val="dk1"/>
              </a:solidFill>
              <a:latin typeface="Arial"/>
              <a:ea typeface="Arial"/>
              <a:cs typeface="Arial"/>
              <a:sym typeface="Arial"/>
            </a:endParaRPr>
          </a:p>
        </p:txBody>
      </p:sp>
      <p:sp>
        <p:nvSpPr>
          <p:cNvPr id="37" name="Google Shape;37;p4"/>
          <p:cNvSpPr/>
          <p:nvPr/>
        </p:nvSpPr>
        <p:spPr>
          <a:xfrm>
            <a:off x="713232" y="1417320"/>
            <a:ext cx="3383280" cy="18288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713232" y="1417320"/>
            <a:ext cx="54864" cy="18288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877824" y="1563624"/>
            <a:ext cx="3063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1. EXPLAIN THE PLAN</a:t>
            </a:r>
            <a:endParaRPr b="0" i="0" sz="1200" u="none" cap="none" strike="noStrike">
              <a:solidFill>
                <a:schemeClr val="dk1"/>
              </a:solidFill>
              <a:latin typeface="Arial"/>
              <a:ea typeface="Arial"/>
              <a:cs typeface="Arial"/>
              <a:sym typeface="Arial"/>
            </a:endParaRPr>
          </a:p>
        </p:txBody>
      </p:sp>
      <p:sp>
        <p:nvSpPr>
          <p:cNvPr id="40" name="Google Shape;40;p4"/>
          <p:cNvSpPr/>
          <p:nvPr/>
        </p:nvSpPr>
        <p:spPr>
          <a:xfrm>
            <a:off x="877824" y="1856232"/>
            <a:ext cx="3063240" cy="13258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Name what each section of a formal research plan is for.</a:t>
            </a:r>
            <a:endParaRPr b="0" i="0" sz="1350" u="none" cap="none" strike="noStrike">
              <a:solidFill>
                <a:schemeClr val="dk1"/>
              </a:solidFill>
              <a:latin typeface="Arial"/>
              <a:ea typeface="Arial"/>
              <a:cs typeface="Arial"/>
              <a:sym typeface="Arial"/>
            </a:endParaRPr>
          </a:p>
        </p:txBody>
      </p:sp>
      <p:sp>
        <p:nvSpPr>
          <p:cNvPr id="41" name="Google Shape;41;p4"/>
          <p:cNvSpPr/>
          <p:nvPr/>
        </p:nvSpPr>
        <p:spPr>
          <a:xfrm>
            <a:off x="4407408" y="1417320"/>
            <a:ext cx="3383280" cy="18288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4407408" y="1417320"/>
            <a:ext cx="54864" cy="18288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4572000" y="1563624"/>
            <a:ext cx="3063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2. CONNECT SECTIONS</a:t>
            </a:r>
            <a:endParaRPr b="0" i="0" sz="1200" u="none" cap="none" strike="noStrike">
              <a:solidFill>
                <a:schemeClr val="dk1"/>
              </a:solidFill>
              <a:latin typeface="Arial"/>
              <a:ea typeface="Arial"/>
              <a:cs typeface="Arial"/>
              <a:sym typeface="Arial"/>
            </a:endParaRPr>
          </a:p>
        </p:txBody>
      </p:sp>
      <p:sp>
        <p:nvSpPr>
          <p:cNvPr id="44" name="Google Shape;44;p4"/>
          <p:cNvSpPr/>
          <p:nvPr/>
        </p:nvSpPr>
        <p:spPr>
          <a:xfrm>
            <a:off x="4572000" y="1856232"/>
            <a:ext cx="3063240" cy="13258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Show how question, method, data, safety, and timeline fit together.</a:t>
            </a:r>
            <a:endParaRPr b="0" i="0" sz="1350" u="none" cap="none" strike="noStrike">
              <a:solidFill>
                <a:schemeClr val="dk1"/>
              </a:solidFill>
              <a:latin typeface="Arial"/>
              <a:ea typeface="Arial"/>
              <a:cs typeface="Arial"/>
              <a:sym typeface="Arial"/>
            </a:endParaRPr>
          </a:p>
        </p:txBody>
      </p:sp>
      <p:sp>
        <p:nvSpPr>
          <p:cNvPr id="45" name="Google Shape;45;p4"/>
          <p:cNvSpPr/>
          <p:nvPr/>
        </p:nvSpPr>
        <p:spPr>
          <a:xfrm>
            <a:off x="8101584" y="1417320"/>
            <a:ext cx="3383280" cy="18288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8101584" y="1417320"/>
            <a:ext cx="54864" cy="18288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8266176" y="1563624"/>
            <a:ext cx="3063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3. PREPARE FOR APPROVAL</a:t>
            </a:r>
            <a:endParaRPr b="0" i="0" sz="1200" u="none" cap="none" strike="noStrike">
              <a:solidFill>
                <a:schemeClr val="dk1"/>
              </a:solidFill>
              <a:latin typeface="Arial"/>
              <a:ea typeface="Arial"/>
              <a:cs typeface="Arial"/>
              <a:sym typeface="Arial"/>
            </a:endParaRPr>
          </a:p>
        </p:txBody>
      </p:sp>
      <p:sp>
        <p:nvSpPr>
          <p:cNvPr id="48" name="Google Shape;48;p4"/>
          <p:cNvSpPr/>
          <p:nvPr/>
        </p:nvSpPr>
        <p:spPr>
          <a:xfrm>
            <a:off x="8266176" y="1856232"/>
            <a:ext cx="3063240" cy="13258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Identify what must be revised before pilot testing begins.</a:t>
            </a:r>
            <a:endParaRPr b="0" i="0" sz="1350" u="none" cap="none" strike="noStrike">
              <a:solidFill>
                <a:schemeClr val="dk1"/>
              </a:solidFill>
              <a:latin typeface="Arial"/>
              <a:ea typeface="Arial"/>
              <a:cs typeface="Arial"/>
              <a:sym typeface="Arial"/>
            </a:endParaRPr>
          </a:p>
        </p:txBody>
      </p:sp>
      <p:sp>
        <p:nvSpPr>
          <p:cNvPr id="49" name="Google Shape;49;p4"/>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i="0" lang="en-US" sz="780" u="none" cap="none" strike="noStrike">
                <a:solidFill>
                  <a:srgbClr val="F2F2F2"/>
                </a:solidFill>
                <a:latin typeface="Arial"/>
                <a:ea typeface="Arial"/>
                <a:cs typeface="Arial"/>
                <a:sym typeface="Arial"/>
              </a:rPr>
              <a:t>STUDENT ACTIVITY</a:t>
            </a:r>
            <a:endParaRPr b="0" i="0" sz="780" u="none" cap="none" strike="noStrike">
              <a:solidFill>
                <a:schemeClr val="dk1"/>
              </a:solidFill>
              <a:latin typeface="Arial"/>
              <a:ea typeface="Arial"/>
              <a:cs typeface="Arial"/>
              <a:sym typeface="Arial"/>
            </a:endParaRPr>
          </a:p>
        </p:txBody>
      </p:sp>
      <p:sp>
        <p:nvSpPr>
          <p:cNvPr id="52" name="Google Shape;52;p4"/>
          <p:cNvSpPr/>
          <p:nvPr/>
        </p:nvSpPr>
        <p:spPr>
          <a:xfrm>
            <a:off x="868675" y="5422411"/>
            <a:ext cx="35205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i="0" lang="en-US" sz="1250" u="none" cap="none" strike="noStrike">
                <a:solidFill>
                  <a:srgbClr val="F2F2F2"/>
                </a:solidFill>
                <a:latin typeface="Arial"/>
                <a:ea typeface="Arial"/>
                <a:cs typeface="Arial"/>
                <a:sym typeface="Arial"/>
              </a:rPr>
              <a:t>Quick check: What could go wrong without a plan?</a:t>
            </a:r>
            <a:endParaRPr b="0" i="0" sz="1250" u="none" cap="none" strike="noStrike">
              <a:solidFill>
                <a:schemeClr val="dk1"/>
              </a:solidFill>
              <a:latin typeface="Arial"/>
              <a:ea typeface="Arial"/>
              <a:cs typeface="Arial"/>
              <a:sym typeface="Arial"/>
            </a:endParaRPr>
          </a:p>
        </p:txBody>
      </p:sp>
      <p:sp>
        <p:nvSpPr>
          <p:cNvPr id="53" name="Google Shape;53;p4"/>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Students list 3 risks of beginning testing too early. Sort answers into method, safety, data, or timeline risks.</a:t>
            </a:r>
            <a:endParaRPr b="0" i="0" sz="11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58" name="Shape 58"/>
        <p:cNvGrpSpPr/>
        <p:nvPr/>
      </p:nvGrpSpPr>
      <p:grpSpPr>
        <a:xfrm>
          <a:off x="0" y="0"/>
          <a:ext cx="0" cy="0"/>
          <a:chOff x="0" y="0"/>
          <a:chExt cx="0" cy="0"/>
        </a:xfrm>
      </p:grpSpPr>
      <p:sp>
        <p:nvSpPr>
          <p:cNvPr id="59" name="Google Shape;59;p5"/>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5"/>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WHY PLAN</a:t>
            </a:r>
            <a:endParaRPr b="0" i="0" sz="900" u="none" cap="none" strike="noStrike">
              <a:solidFill>
                <a:schemeClr val="dk1"/>
              </a:solidFill>
              <a:latin typeface="Arial"/>
              <a:ea typeface="Arial"/>
              <a:cs typeface="Arial"/>
              <a:sym typeface="Arial"/>
            </a:endParaRPr>
          </a:p>
        </p:txBody>
      </p:sp>
      <p:sp>
        <p:nvSpPr>
          <p:cNvPr id="63" name="Google Shape;63;p5"/>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64" name="Google Shape;64;p5"/>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A RESEARCH PLAN IS A LAUNCH CHECKLIST</a:t>
            </a:r>
            <a:endParaRPr b="0" i="0" sz="3000" u="none" cap="none" strike="noStrike">
              <a:solidFill>
                <a:schemeClr val="dk1"/>
              </a:solidFill>
              <a:latin typeface="Arial"/>
              <a:ea typeface="Arial"/>
              <a:cs typeface="Arial"/>
              <a:sym typeface="Arial"/>
            </a:endParaRPr>
          </a:p>
        </p:txBody>
      </p:sp>
      <p:cxnSp>
        <p:nvCxnSpPr>
          <p:cNvPr id="65" name="Google Shape;65;p5"/>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66" name="Google Shape;66;p5"/>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It proves the project is clear enough, safe enough, and measurable enough to begin.</a:t>
            </a:r>
            <a:endParaRPr b="0" i="0" sz="1050" u="none" cap="none" strike="noStrike">
              <a:solidFill>
                <a:schemeClr val="dk1"/>
              </a:solidFill>
              <a:latin typeface="Arial"/>
              <a:ea typeface="Arial"/>
              <a:cs typeface="Arial"/>
              <a:sym typeface="Arial"/>
            </a:endParaRPr>
          </a:p>
        </p:txBody>
      </p:sp>
      <p:sp>
        <p:nvSpPr>
          <p:cNvPr id="67" name="Google Shape;67;p5"/>
          <p:cNvSpPr/>
          <p:nvPr/>
        </p:nvSpPr>
        <p:spPr>
          <a:xfrm>
            <a:off x="777240" y="1508760"/>
            <a:ext cx="507492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p:cNvSpPr/>
          <p:nvPr/>
        </p:nvSpPr>
        <p:spPr>
          <a:xfrm>
            <a:off x="777240" y="150876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p:cNvSpPr/>
          <p:nvPr/>
        </p:nvSpPr>
        <p:spPr>
          <a:xfrm>
            <a:off x="941832" y="165506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WHAT?</a:t>
            </a:r>
            <a:endParaRPr b="0" i="0" sz="1200" u="none" cap="none" strike="noStrike">
              <a:solidFill>
                <a:schemeClr val="dk1"/>
              </a:solidFill>
              <a:latin typeface="Arial"/>
              <a:ea typeface="Arial"/>
              <a:cs typeface="Arial"/>
              <a:sym typeface="Arial"/>
            </a:endParaRPr>
          </a:p>
        </p:txBody>
      </p:sp>
      <p:sp>
        <p:nvSpPr>
          <p:cNvPr id="70" name="Google Shape;70;p5"/>
          <p:cNvSpPr/>
          <p:nvPr/>
        </p:nvSpPr>
        <p:spPr>
          <a:xfrm>
            <a:off x="941832" y="1947672"/>
            <a:ext cx="475488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exactly is being investigated, built, compared, or analyzed?</a:t>
            </a:r>
            <a:endParaRPr b="0" i="0" sz="1350" u="none" cap="none" strike="noStrike">
              <a:solidFill>
                <a:schemeClr val="dk1"/>
              </a:solidFill>
              <a:latin typeface="Arial"/>
              <a:ea typeface="Arial"/>
              <a:cs typeface="Arial"/>
              <a:sym typeface="Arial"/>
            </a:endParaRPr>
          </a:p>
        </p:txBody>
      </p:sp>
      <p:sp>
        <p:nvSpPr>
          <p:cNvPr id="71" name="Google Shape;71;p5"/>
          <p:cNvSpPr/>
          <p:nvPr/>
        </p:nvSpPr>
        <p:spPr>
          <a:xfrm>
            <a:off x="6263640" y="1508760"/>
            <a:ext cx="507492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a:off x="6263640" y="150876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5"/>
          <p:cNvSpPr/>
          <p:nvPr/>
        </p:nvSpPr>
        <p:spPr>
          <a:xfrm>
            <a:off x="6428232" y="165506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HOW?</a:t>
            </a:r>
            <a:endParaRPr b="0" i="0" sz="1200" u="none" cap="none" strike="noStrike">
              <a:solidFill>
                <a:schemeClr val="dk1"/>
              </a:solidFill>
              <a:latin typeface="Arial"/>
              <a:ea typeface="Arial"/>
              <a:cs typeface="Arial"/>
              <a:sym typeface="Arial"/>
            </a:endParaRPr>
          </a:p>
        </p:txBody>
      </p:sp>
      <p:sp>
        <p:nvSpPr>
          <p:cNvPr id="74" name="Google Shape;74;p5"/>
          <p:cNvSpPr/>
          <p:nvPr/>
        </p:nvSpPr>
        <p:spPr>
          <a:xfrm>
            <a:off x="6428232" y="1947672"/>
            <a:ext cx="475488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procedure, protocol, or design process will produce evidence?</a:t>
            </a:r>
            <a:endParaRPr b="0" i="0" sz="1350" u="none" cap="none" strike="noStrike">
              <a:solidFill>
                <a:schemeClr val="dk1"/>
              </a:solidFill>
              <a:latin typeface="Arial"/>
              <a:ea typeface="Arial"/>
              <a:cs typeface="Arial"/>
              <a:sym typeface="Arial"/>
            </a:endParaRPr>
          </a:p>
        </p:txBody>
      </p:sp>
      <p:sp>
        <p:nvSpPr>
          <p:cNvPr id="75" name="Google Shape;75;p5"/>
          <p:cNvSpPr/>
          <p:nvPr/>
        </p:nvSpPr>
        <p:spPr>
          <a:xfrm>
            <a:off x="777240" y="2926080"/>
            <a:ext cx="507492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5"/>
          <p:cNvSpPr/>
          <p:nvPr/>
        </p:nvSpPr>
        <p:spPr>
          <a:xfrm>
            <a:off x="777240" y="292608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5"/>
          <p:cNvSpPr/>
          <p:nvPr/>
        </p:nvSpPr>
        <p:spPr>
          <a:xfrm>
            <a:off x="941832" y="30723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EVIDENCE?</a:t>
            </a:r>
            <a:endParaRPr b="0" i="0" sz="1200" u="none" cap="none" strike="noStrike">
              <a:solidFill>
                <a:schemeClr val="dk1"/>
              </a:solidFill>
              <a:latin typeface="Arial"/>
              <a:ea typeface="Arial"/>
              <a:cs typeface="Arial"/>
              <a:sym typeface="Arial"/>
            </a:endParaRPr>
          </a:p>
        </p:txBody>
      </p:sp>
      <p:sp>
        <p:nvSpPr>
          <p:cNvPr id="78" name="Google Shape;78;p5"/>
          <p:cNvSpPr/>
          <p:nvPr/>
        </p:nvSpPr>
        <p:spPr>
          <a:xfrm>
            <a:off x="941832" y="3364992"/>
            <a:ext cx="475488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data will answer the question or evaluate the design?</a:t>
            </a:r>
            <a:endParaRPr b="0" i="0" sz="1350" u="none" cap="none" strike="noStrike">
              <a:solidFill>
                <a:schemeClr val="dk1"/>
              </a:solidFill>
              <a:latin typeface="Arial"/>
              <a:ea typeface="Arial"/>
              <a:cs typeface="Arial"/>
              <a:sym typeface="Arial"/>
            </a:endParaRPr>
          </a:p>
        </p:txBody>
      </p:sp>
      <p:sp>
        <p:nvSpPr>
          <p:cNvPr id="79" name="Google Shape;79;p5"/>
          <p:cNvSpPr/>
          <p:nvPr/>
        </p:nvSpPr>
        <p:spPr>
          <a:xfrm>
            <a:off x="6263640" y="2926080"/>
            <a:ext cx="507492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6263640" y="292608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5"/>
          <p:cNvSpPr/>
          <p:nvPr/>
        </p:nvSpPr>
        <p:spPr>
          <a:xfrm>
            <a:off x="6428232" y="30723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RISKS?</a:t>
            </a:r>
            <a:endParaRPr b="0" i="0" sz="1200" u="none" cap="none" strike="noStrike">
              <a:solidFill>
                <a:schemeClr val="dk1"/>
              </a:solidFill>
              <a:latin typeface="Arial"/>
              <a:ea typeface="Arial"/>
              <a:cs typeface="Arial"/>
              <a:sym typeface="Arial"/>
            </a:endParaRPr>
          </a:p>
        </p:txBody>
      </p:sp>
      <p:sp>
        <p:nvSpPr>
          <p:cNvPr id="82" name="Google Shape;82;p5"/>
          <p:cNvSpPr/>
          <p:nvPr/>
        </p:nvSpPr>
        <p:spPr>
          <a:xfrm>
            <a:off x="6428232" y="3364992"/>
            <a:ext cx="475488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safety, ethics, material, or timeline issues must be controlled?</a:t>
            </a:r>
            <a:endParaRPr b="0" i="0" sz="1350" u="none" cap="none" strike="noStrike">
              <a:solidFill>
                <a:schemeClr val="dk1"/>
              </a:solidFill>
              <a:latin typeface="Arial"/>
              <a:ea typeface="Arial"/>
              <a:cs typeface="Arial"/>
              <a:sym typeface="Arial"/>
            </a:endParaRPr>
          </a:p>
        </p:txBody>
      </p:sp>
      <p:sp>
        <p:nvSpPr>
          <p:cNvPr id="83" name="Google Shape;83;p5"/>
          <p:cNvSpPr/>
          <p:nvPr/>
        </p:nvSpPr>
        <p:spPr>
          <a:xfrm>
            <a:off x="960120" y="4709160"/>
            <a:ext cx="10287000" cy="804672"/>
          </a:xfrm>
          <a:prstGeom prst="rect">
            <a:avLst/>
          </a:prstGeom>
          <a:solidFill>
            <a:srgbClr val="0A0A0A"/>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5"/>
          <p:cNvSpPr/>
          <p:nvPr/>
        </p:nvSpPr>
        <p:spPr>
          <a:xfrm>
            <a:off x="1143000" y="4846320"/>
            <a:ext cx="20116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900"/>
              <a:buFont typeface="Arial"/>
              <a:buNone/>
            </a:pPr>
            <a:r>
              <a:rPr b="1" i="0" lang="en-US" sz="900" u="none" cap="none" strike="noStrike">
                <a:solidFill>
                  <a:srgbClr val="E22B27"/>
                </a:solidFill>
                <a:latin typeface="Arial"/>
                <a:ea typeface="Arial"/>
                <a:cs typeface="Arial"/>
                <a:sym typeface="Arial"/>
              </a:rPr>
              <a:t>TEACHER EMPHASIS</a:t>
            </a:r>
            <a:endParaRPr b="0" i="0" sz="900" u="none" cap="none" strike="noStrike">
              <a:solidFill>
                <a:schemeClr val="dk1"/>
              </a:solidFill>
              <a:latin typeface="Arial"/>
              <a:ea typeface="Arial"/>
              <a:cs typeface="Arial"/>
              <a:sym typeface="Arial"/>
            </a:endParaRPr>
          </a:p>
        </p:txBody>
      </p:sp>
      <p:sp>
        <p:nvSpPr>
          <p:cNvPr id="85" name="Google Shape;85;p5"/>
          <p:cNvSpPr/>
          <p:nvPr/>
        </p:nvSpPr>
        <p:spPr>
          <a:xfrm>
            <a:off x="3246120" y="4791456"/>
            <a:ext cx="7635240" cy="36576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2F2F2"/>
              </a:buClr>
              <a:buSzPts val="1400"/>
              <a:buFont typeface="Arial"/>
              <a:buNone/>
            </a:pPr>
            <a:r>
              <a:rPr b="0" i="0" lang="en-US" sz="1400" u="none" cap="none" strike="noStrike">
                <a:solidFill>
                  <a:srgbClr val="F2F2F2"/>
                </a:solidFill>
                <a:latin typeface="Arial"/>
                <a:ea typeface="Arial"/>
                <a:cs typeface="Arial"/>
                <a:sym typeface="Arial"/>
              </a:rPr>
              <a:t>Students are not being asked to know the ending. They are being asked to prove they know how to begin responsibly.</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90" name="Shape 90"/>
        <p:cNvGrpSpPr/>
        <p:nvPr/>
      </p:nvGrpSpPr>
      <p:grpSpPr>
        <a:xfrm>
          <a:off x="0" y="0"/>
          <a:ext cx="0" cy="0"/>
          <a:chOff x="0" y="0"/>
          <a:chExt cx="0" cy="0"/>
        </a:xfrm>
      </p:grpSpPr>
      <p:sp>
        <p:nvSpPr>
          <p:cNvPr id="91" name="Google Shape;91;p6"/>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6"/>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6"/>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PLAN ANATOMY</a:t>
            </a:r>
            <a:endParaRPr b="0" i="0" sz="900" u="none" cap="none" strike="noStrike">
              <a:solidFill>
                <a:schemeClr val="dk1"/>
              </a:solidFill>
              <a:latin typeface="Arial"/>
              <a:ea typeface="Arial"/>
              <a:cs typeface="Arial"/>
              <a:sym typeface="Arial"/>
            </a:endParaRPr>
          </a:p>
        </p:txBody>
      </p:sp>
      <p:sp>
        <p:nvSpPr>
          <p:cNvPr id="95" name="Google Shape;95;p6"/>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96" name="Google Shape;96;p6"/>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THE FORMAL RESEARCH PLAN: CORE SECTIONS</a:t>
            </a:r>
            <a:endParaRPr b="0" i="0" sz="3000" u="none" cap="none" strike="noStrike">
              <a:solidFill>
                <a:schemeClr val="dk1"/>
              </a:solidFill>
              <a:latin typeface="Arial"/>
              <a:ea typeface="Arial"/>
              <a:cs typeface="Arial"/>
              <a:sym typeface="Arial"/>
            </a:endParaRPr>
          </a:p>
        </p:txBody>
      </p:sp>
      <p:cxnSp>
        <p:nvCxnSpPr>
          <p:cNvPr id="97" name="Google Shape;97;p6"/>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98" name="Google Shape;98;p6"/>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Every section should help a reviewer answer “Is this ready to test?”</a:t>
            </a:r>
            <a:endParaRPr b="0" i="0" sz="1050" u="none" cap="none" strike="noStrike">
              <a:solidFill>
                <a:schemeClr val="dk1"/>
              </a:solidFill>
              <a:latin typeface="Arial"/>
              <a:ea typeface="Arial"/>
              <a:cs typeface="Arial"/>
              <a:sym typeface="Arial"/>
            </a:endParaRPr>
          </a:p>
        </p:txBody>
      </p:sp>
      <p:sp>
        <p:nvSpPr>
          <p:cNvPr id="99" name="Google Shape;99;p6"/>
          <p:cNvSpPr/>
          <p:nvPr/>
        </p:nvSpPr>
        <p:spPr>
          <a:xfrm>
            <a:off x="868680" y="141732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6"/>
          <p:cNvSpPr/>
          <p:nvPr/>
        </p:nvSpPr>
        <p:spPr>
          <a:xfrm>
            <a:off x="868680" y="141732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1033272" y="156362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PROJECT FOCUS</a:t>
            </a:r>
            <a:endParaRPr b="0" i="0" sz="1200" u="none" cap="none" strike="noStrike">
              <a:solidFill>
                <a:schemeClr val="dk1"/>
              </a:solidFill>
              <a:latin typeface="Arial"/>
              <a:ea typeface="Arial"/>
              <a:cs typeface="Arial"/>
              <a:sym typeface="Arial"/>
            </a:endParaRPr>
          </a:p>
        </p:txBody>
      </p:sp>
      <p:sp>
        <p:nvSpPr>
          <p:cNvPr id="102" name="Google Shape;102;p6"/>
          <p:cNvSpPr/>
          <p:nvPr/>
        </p:nvSpPr>
        <p:spPr>
          <a:xfrm>
            <a:off x="1033272" y="185623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Question, problem, or goal</a:t>
            </a:r>
            <a:endParaRPr b="0" i="0" sz="1150" u="none" cap="none" strike="noStrike">
              <a:solidFill>
                <a:schemeClr val="dk1"/>
              </a:solidFill>
              <a:latin typeface="Arial"/>
              <a:ea typeface="Arial"/>
              <a:cs typeface="Arial"/>
              <a:sym typeface="Arial"/>
            </a:endParaRPr>
          </a:p>
        </p:txBody>
      </p:sp>
      <p:sp>
        <p:nvSpPr>
          <p:cNvPr id="103" name="Google Shape;103;p6"/>
          <p:cNvSpPr/>
          <p:nvPr/>
        </p:nvSpPr>
        <p:spPr>
          <a:xfrm>
            <a:off x="6309360" y="141732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6"/>
          <p:cNvSpPr/>
          <p:nvPr/>
        </p:nvSpPr>
        <p:spPr>
          <a:xfrm>
            <a:off x="6309360" y="141732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6473952" y="156362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BACKGROUND</a:t>
            </a:r>
            <a:endParaRPr b="0" i="0" sz="1200" u="none" cap="none" strike="noStrike">
              <a:solidFill>
                <a:schemeClr val="dk1"/>
              </a:solidFill>
              <a:latin typeface="Arial"/>
              <a:ea typeface="Arial"/>
              <a:cs typeface="Arial"/>
              <a:sym typeface="Arial"/>
            </a:endParaRPr>
          </a:p>
        </p:txBody>
      </p:sp>
      <p:sp>
        <p:nvSpPr>
          <p:cNvPr id="106" name="Google Shape;106;p6"/>
          <p:cNvSpPr/>
          <p:nvPr/>
        </p:nvSpPr>
        <p:spPr>
          <a:xfrm>
            <a:off x="6473952" y="185623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Why the work matters + what is already known</a:t>
            </a:r>
            <a:endParaRPr b="0" i="0" sz="1150" u="none" cap="none" strike="noStrike">
              <a:solidFill>
                <a:schemeClr val="dk1"/>
              </a:solidFill>
              <a:latin typeface="Arial"/>
              <a:ea typeface="Arial"/>
              <a:cs typeface="Arial"/>
              <a:sym typeface="Arial"/>
            </a:endParaRPr>
          </a:p>
        </p:txBody>
      </p:sp>
      <p:sp>
        <p:nvSpPr>
          <p:cNvPr id="107" name="Google Shape;107;p6"/>
          <p:cNvSpPr/>
          <p:nvPr/>
        </p:nvSpPr>
        <p:spPr>
          <a:xfrm>
            <a:off x="868680" y="237744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6"/>
          <p:cNvSpPr/>
          <p:nvPr/>
        </p:nvSpPr>
        <p:spPr>
          <a:xfrm>
            <a:off x="868680" y="237744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6"/>
          <p:cNvSpPr/>
          <p:nvPr/>
        </p:nvSpPr>
        <p:spPr>
          <a:xfrm>
            <a:off x="1033272" y="252374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HYPOTHESIS / CRITERIA</a:t>
            </a:r>
            <a:endParaRPr b="0" i="0" sz="1200" u="none" cap="none" strike="noStrike">
              <a:solidFill>
                <a:schemeClr val="dk1"/>
              </a:solidFill>
              <a:latin typeface="Arial"/>
              <a:ea typeface="Arial"/>
              <a:cs typeface="Arial"/>
              <a:sym typeface="Arial"/>
            </a:endParaRPr>
          </a:p>
        </p:txBody>
      </p:sp>
      <p:sp>
        <p:nvSpPr>
          <p:cNvPr id="110" name="Google Shape;110;p6"/>
          <p:cNvSpPr/>
          <p:nvPr/>
        </p:nvSpPr>
        <p:spPr>
          <a:xfrm>
            <a:off x="1033272" y="281635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What is predicted or what counts as success</a:t>
            </a:r>
            <a:endParaRPr b="0" i="0" sz="1150" u="none" cap="none" strike="noStrike">
              <a:solidFill>
                <a:schemeClr val="dk1"/>
              </a:solidFill>
              <a:latin typeface="Arial"/>
              <a:ea typeface="Arial"/>
              <a:cs typeface="Arial"/>
              <a:sym typeface="Arial"/>
            </a:endParaRPr>
          </a:p>
        </p:txBody>
      </p:sp>
      <p:sp>
        <p:nvSpPr>
          <p:cNvPr id="111" name="Google Shape;111;p6"/>
          <p:cNvSpPr/>
          <p:nvPr/>
        </p:nvSpPr>
        <p:spPr>
          <a:xfrm>
            <a:off x="6309360" y="237744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6309360" y="237744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6"/>
          <p:cNvSpPr/>
          <p:nvPr/>
        </p:nvSpPr>
        <p:spPr>
          <a:xfrm>
            <a:off x="6473952" y="252374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METHODS</a:t>
            </a:r>
            <a:endParaRPr b="0" i="0" sz="1200" u="none" cap="none" strike="noStrike">
              <a:solidFill>
                <a:schemeClr val="dk1"/>
              </a:solidFill>
              <a:latin typeface="Arial"/>
              <a:ea typeface="Arial"/>
              <a:cs typeface="Arial"/>
              <a:sym typeface="Arial"/>
            </a:endParaRPr>
          </a:p>
        </p:txBody>
      </p:sp>
      <p:sp>
        <p:nvSpPr>
          <p:cNvPr id="114" name="Google Shape;114;p6"/>
          <p:cNvSpPr/>
          <p:nvPr/>
        </p:nvSpPr>
        <p:spPr>
          <a:xfrm>
            <a:off x="6473952" y="281635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Materials, procedure, protocol, variables, conditions</a:t>
            </a:r>
            <a:endParaRPr b="0" i="0" sz="1150" u="none" cap="none" strike="noStrike">
              <a:solidFill>
                <a:schemeClr val="dk1"/>
              </a:solidFill>
              <a:latin typeface="Arial"/>
              <a:ea typeface="Arial"/>
              <a:cs typeface="Arial"/>
              <a:sym typeface="Arial"/>
            </a:endParaRPr>
          </a:p>
        </p:txBody>
      </p:sp>
      <p:sp>
        <p:nvSpPr>
          <p:cNvPr id="115" name="Google Shape;115;p6"/>
          <p:cNvSpPr/>
          <p:nvPr/>
        </p:nvSpPr>
        <p:spPr>
          <a:xfrm>
            <a:off x="868680" y="333756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6"/>
          <p:cNvSpPr/>
          <p:nvPr/>
        </p:nvSpPr>
        <p:spPr>
          <a:xfrm>
            <a:off x="868680" y="333756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1033272" y="348386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DATA PLAN</a:t>
            </a:r>
            <a:endParaRPr b="0" i="0" sz="1200" u="none" cap="none" strike="noStrike">
              <a:solidFill>
                <a:schemeClr val="dk1"/>
              </a:solidFill>
              <a:latin typeface="Arial"/>
              <a:ea typeface="Arial"/>
              <a:cs typeface="Arial"/>
              <a:sym typeface="Arial"/>
            </a:endParaRPr>
          </a:p>
        </p:txBody>
      </p:sp>
      <p:sp>
        <p:nvSpPr>
          <p:cNvPr id="118" name="Google Shape;118;p6"/>
          <p:cNvSpPr/>
          <p:nvPr/>
        </p:nvSpPr>
        <p:spPr>
          <a:xfrm>
            <a:off x="1033272" y="377647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What will be recorded, how, and where</a:t>
            </a:r>
            <a:endParaRPr b="0" i="0" sz="1150" u="none" cap="none" strike="noStrike">
              <a:solidFill>
                <a:schemeClr val="dk1"/>
              </a:solidFill>
              <a:latin typeface="Arial"/>
              <a:ea typeface="Arial"/>
              <a:cs typeface="Arial"/>
              <a:sym typeface="Arial"/>
            </a:endParaRPr>
          </a:p>
        </p:txBody>
      </p:sp>
      <p:sp>
        <p:nvSpPr>
          <p:cNvPr id="119" name="Google Shape;119;p6"/>
          <p:cNvSpPr/>
          <p:nvPr/>
        </p:nvSpPr>
        <p:spPr>
          <a:xfrm>
            <a:off x="6309360" y="333756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6"/>
          <p:cNvSpPr/>
          <p:nvPr/>
        </p:nvSpPr>
        <p:spPr>
          <a:xfrm>
            <a:off x="6309360" y="333756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6"/>
          <p:cNvSpPr/>
          <p:nvPr/>
        </p:nvSpPr>
        <p:spPr>
          <a:xfrm>
            <a:off x="6473952" y="348386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SAFETY + ETHICS</a:t>
            </a:r>
            <a:endParaRPr b="0" i="0" sz="1200" u="none" cap="none" strike="noStrike">
              <a:solidFill>
                <a:schemeClr val="dk1"/>
              </a:solidFill>
              <a:latin typeface="Arial"/>
              <a:ea typeface="Arial"/>
              <a:cs typeface="Arial"/>
              <a:sym typeface="Arial"/>
            </a:endParaRPr>
          </a:p>
        </p:txBody>
      </p:sp>
      <p:sp>
        <p:nvSpPr>
          <p:cNvPr id="122" name="Google Shape;122;p6"/>
          <p:cNvSpPr/>
          <p:nvPr/>
        </p:nvSpPr>
        <p:spPr>
          <a:xfrm>
            <a:off x="6473952" y="377647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Risks, permissions, approvals, PPE, privacy</a:t>
            </a:r>
            <a:endParaRPr b="0" i="0" sz="1150" u="none" cap="none" strike="noStrike">
              <a:solidFill>
                <a:schemeClr val="dk1"/>
              </a:solidFill>
              <a:latin typeface="Arial"/>
              <a:ea typeface="Arial"/>
              <a:cs typeface="Arial"/>
              <a:sym typeface="Arial"/>
            </a:endParaRPr>
          </a:p>
        </p:txBody>
      </p:sp>
      <p:sp>
        <p:nvSpPr>
          <p:cNvPr id="123" name="Google Shape;123;p6"/>
          <p:cNvSpPr/>
          <p:nvPr/>
        </p:nvSpPr>
        <p:spPr>
          <a:xfrm>
            <a:off x="868680" y="4297680"/>
            <a:ext cx="5074920" cy="7315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868680" y="4297680"/>
            <a:ext cx="54864" cy="7315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6"/>
          <p:cNvSpPr/>
          <p:nvPr/>
        </p:nvSpPr>
        <p:spPr>
          <a:xfrm>
            <a:off x="1033272" y="44439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TIMELINE</a:t>
            </a:r>
            <a:endParaRPr b="0" i="0" sz="1200" u="none" cap="none" strike="noStrike">
              <a:solidFill>
                <a:schemeClr val="dk1"/>
              </a:solidFill>
              <a:latin typeface="Arial"/>
              <a:ea typeface="Arial"/>
              <a:cs typeface="Arial"/>
              <a:sym typeface="Arial"/>
            </a:endParaRPr>
          </a:p>
        </p:txBody>
      </p:sp>
      <p:sp>
        <p:nvSpPr>
          <p:cNvPr id="126" name="Google Shape;126;p6"/>
          <p:cNvSpPr/>
          <p:nvPr/>
        </p:nvSpPr>
        <p:spPr>
          <a:xfrm>
            <a:off x="1033272" y="4736592"/>
            <a:ext cx="4754880" cy="2286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b="0" i="0" lang="en-US" sz="1150" u="none" cap="none" strike="noStrike">
                <a:solidFill>
                  <a:srgbClr val="F2F2F2"/>
                </a:solidFill>
                <a:latin typeface="Arial"/>
                <a:ea typeface="Arial"/>
                <a:cs typeface="Arial"/>
                <a:sym typeface="Arial"/>
              </a:rPr>
              <a:t>Milestones, deadlines, backup points</a:t>
            </a:r>
            <a:endParaRPr b="0" i="0" sz="115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31" name="Shape 131"/>
        <p:cNvGrpSpPr/>
        <p:nvPr/>
      </p:nvGrpSpPr>
      <p:grpSpPr>
        <a:xfrm>
          <a:off x="0" y="0"/>
          <a:ext cx="0" cy="0"/>
          <a:chOff x="0" y="0"/>
          <a:chExt cx="0" cy="0"/>
        </a:xfrm>
      </p:grpSpPr>
      <p:sp>
        <p:nvSpPr>
          <p:cNvPr id="132" name="Google Shape;132;p7"/>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7"/>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7"/>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SECTION 1</a:t>
            </a:r>
            <a:endParaRPr b="0" i="0" sz="900" u="none" cap="none" strike="noStrike">
              <a:solidFill>
                <a:schemeClr val="dk1"/>
              </a:solidFill>
              <a:latin typeface="Arial"/>
              <a:ea typeface="Arial"/>
              <a:cs typeface="Arial"/>
              <a:sym typeface="Arial"/>
            </a:endParaRPr>
          </a:p>
        </p:txBody>
      </p:sp>
      <p:sp>
        <p:nvSpPr>
          <p:cNvPr id="136" name="Google Shape;136;p7"/>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137" name="Google Shape;137;p7"/>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SECTION 1: PROJECT FOCUS</a:t>
            </a:r>
            <a:endParaRPr b="0" i="0" sz="3000" u="none" cap="none" strike="noStrike">
              <a:solidFill>
                <a:schemeClr val="dk1"/>
              </a:solidFill>
              <a:latin typeface="Arial"/>
              <a:ea typeface="Arial"/>
              <a:cs typeface="Arial"/>
              <a:sym typeface="Arial"/>
            </a:endParaRPr>
          </a:p>
        </p:txBody>
      </p:sp>
      <p:cxnSp>
        <p:nvCxnSpPr>
          <p:cNvPr id="138" name="Google Shape;138;p7"/>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139" name="Google Shape;139;p7"/>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The plan begins with a question, problem, or goal that can produce evidence.</a:t>
            </a:r>
            <a:endParaRPr b="0" i="0" sz="1050" u="none" cap="none" strike="noStrike">
              <a:solidFill>
                <a:schemeClr val="dk1"/>
              </a:solidFill>
              <a:latin typeface="Arial"/>
              <a:ea typeface="Arial"/>
              <a:cs typeface="Arial"/>
              <a:sym typeface="Arial"/>
            </a:endParaRPr>
          </a:p>
        </p:txBody>
      </p:sp>
      <p:sp>
        <p:nvSpPr>
          <p:cNvPr id="140" name="Google Shape;140;p7"/>
          <p:cNvSpPr/>
          <p:nvPr/>
        </p:nvSpPr>
        <p:spPr>
          <a:xfrm>
            <a:off x="822960" y="1417320"/>
            <a:ext cx="3474720" cy="2057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7"/>
          <p:cNvSpPr/>
          <p:nvPr/>
        </p:nvSpPr>
        <p:spPr>
          <a:xfrm>
            <a:off x="822960" y="1417320"/>
            <a:ext cx="54864" cy="2057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987552" y="1563624"/>
            <a:ext cx="31546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EXPERIMENTAL QUESTION</a:t>
            </a:r>
            <a:endParaRPr b="0" i="0" sz="1200" u="none" cap="none" strike="noStrike">
              <a:solidFill>
                <a:schemeClr val="dk1"/>
              </a:solidFill>
              <a:latin typeface="Arial"/>
              <a:ea typeface="Arial"/>
              <a:cs typeface="Arial"/>
              <a:sym typeface="Arial"/>
            </a:endParaRPr>
          </a:p>
        </p:txBody>
      </p:sp>
      <p:sp>
        <p:nvSpPr>
          <p:cNvPr id="143" name="Google Shape;143;p7"/>
          <p:cNvSpPr/>
          <p:nvPr/>
        </p:nvSpPr>
        <p:spPr>
          <a:xfrm>
            <a:off x="987552" y="1856232"/>
            <a:ext cx="3154680" cy="1554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How does [independent variable] affect [dependent variable] under controlled conditions?</a:t>
            </a:r>
            <a:endParaRPr b="0" i="0" sz="1350" u="none" cap="none" strike="noStrike">
              <a:solidFill>
                <a:schemeClr val="dk1"/>
              </a:solidFill>
              <a:latin typeface="Arial"/>
              <a:ea typeface="Arial"/>
              <a:cs typeface="Arial"/>
              <a:sym typeface="Arial"/>
            </a:endParaRPr>
          </a:p>
        </p:txBody>
      </p:sp>
      <p:sp>
        <p:nvSpPr>
          <p:cNvPr id="144" name="Google Shape;144;p7"/>
          <p:cNvSpPr/>
          <p:nvPr/>
        </p:nvSpPr>
        <p:spPr>
          <a:xfrm>
            <a:off x="4434840" y="1417320"/>
            <a:ext cx="3474720" cy="2057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4434840" y="1417320"/>
            <a:ext cx="54864" cy="2057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7"/>
          <p:cNvSpPr/>
          <p:nvPr/>
        </p:nvSpPr>
        <p:spPr>
          <a:xfrm>
            <a:off x="4599432" y="1563624"/>
            <a:ext cx="31546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ENGINEERING PROBLEM</a:t>
            </a:r>
            <a:endParaRPr b="0" i="0" sz="1200" u="none" cap="none" strike="noStrike">
              <a:solidFill>
                <a:schemeClr val="dk1"/>
              </a:solidFill>
              <a:latin typeface="Arial"/>
              <a:ea typeface="Arial"/>
              <a:cs typeface="Arial"/>
              <a:sym typeface="Arial"/>
            </a:endParaRPr>
          </a:p>
        </p:txBody>
      </p:sp>
      <p:sp>
        <p:nvSpPr>
          <p:cNvPr id="147" name="Google Shape;147;p7"/>
          <p:cNvSpPr/>
          <p:nvPr/>
        </p:nvSpPr>
        <p:spPr>
          <a:xfrm>
            <a:off x="4599432" y="1856232"/>
            <a:ext cx="3154680" cy="1554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Design or improve [solution] to meet [criteria] within [constraints].</a:t>
            </a:r>
            <a:endParaRPr b="0" i="0" sz="1350" u="none" cap="none" strike="noStrike">
              <a:solidFill>
                <a:schemeClr val="dk1"/>
              </a:solidFill>
              <a:latin typeface="Arial"/>
              <a:ea typeface="Arial"/>
              <a:cs typeface="Arial"/>
              <a:sym typeface="Arial"/>
            </a:endParaRPr>
          </a:p>
        </p:txBody>
      </p:sp>
      <p:sp>
        <p:nvSpPr>
          <p:cNvPr id="148" name="Google Shape;148;p7"/>
          <p:cNvSpPr/>
          <p:nvPr/>
        </p:nvSpPr>
        <p:spPr>
          <a:xfrm>
            <a:off x="8046720" y="1417320"/>
            <a:ext cx="3474720" cy="2057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7"/>
          <p:cNvSpPr/>
          <p:nvPr/>
        </p:nvSpPr>
        <p:spPr>
          <a:xfrm>
            <a:off x="8046720" y="1417320"/>
            <a:ext cx="54864" cy="2057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7"/>
          <p:cNvSpPr/>
          <p:nvPr/>
        </p:nvSpPr>
        <p:spPr>
          <a:xfrm>
            <a:off x="8211312" y="1563624"/>
            <a:ext cx="31546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DATA ANALYSIS QUESTION</a:t>
            </a:r>
            <a:endParaRPr b="0" i="0" sz="1200" u="none" cap="none" strike="noStrike">
              <a:solidFill>
                <a:schemeClr val="dk1"/>
              </a:solidFill>
              <a:latin typeface="Arial"/>
              <a:ea typeface="Arial"/>
              <a:cs typeface="Arial"/>
              <a:sym typeface="Arial"/>
            </a:endParaRPr>
          </a:p>
        </p:txBody>
      </p:sp>
      <p:sp>
        <p:nvSpPr>
          <p:cNvPr id="151" name="Google Shape;151;p7"/>
          <p:cNvSpPr/>
          <p:nvPr/>
        </p:nvSpPr>
        <p:spPr>
          <a:xfrm>
            <a:off x="8211312" y="1856232"/>
            <a:ext cx="3154680" cy="1554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How does [variable/pattern] relate to [outcome] in [data source]?</a:t>
            </a:r>
            <a:endParaRPr b="0" i="0" sz="1350" u="none" cap="none" strike="noStrike">
              <a:solidFill>
                <a:schemeClr val="dk1"/>
              </a:solidFill>
              <a:latin typeface="Arial"/>
              <a:ea typeface="Arial"/>
              <a:cs typeface="Arial"/>
              <a:sym typeface="Arial"/>
            </a:endParaRPr>
          </a:p>
        </p:txBody>
      </p:sp>
      <p:sp>
        <p:nvSpPr>
          <p:cNvPr id="152" name="Google Shape;152;p7"/>
          <p:cNvSpPr/>
          <p:nvPr/>
        </p:nvSpPr>
        <p:spPr>
          <a:xfrm>
            <a:off x="1005840" y="3968496"/>
            <a:ext cx="100584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2000"/>
              <a:buFont typeface="Play"/>
              <a:buNone/>
            </a:pPr>
            <a:r>
              <a:rPr b="1" i="0" lang="en-US" sz="2000" u="none" cap="none" strike="noStrike">
                <a:solidFill>
                  <a:srgbClr val="F2F2F2"/>
                </a:solidFill>
                <a:latin typeface="Play"/>
                <a:ea typeface="Play"/>
                <a:cs typeface="Play"/>
                <a:sym typeface="Play"/>
              </a:rPr>
              <a:t>If the focus is fuzzy, every later section gets weaker.</a:t>
            </a:r>
            <a:endParaRPr b="0" i="0" sz="2000" u="none" cap="none" strike="noStrike">
              <a:solidFill>
                <a:schemeClr val="dk1"/>
              </a:solidFill>
              <a:latin typeface="Arial"/>
              <a:ea typeface="Arial"/>
              <a:cs typeface="Arial"/>
              <a:sym typeface="Arial"/>
            </a:endParaRPr>
          </a:p>
        </p:txBody>
      </p:sp>
      <p:sp>
        <p:nvSpPr>
          <p:cNvPr id="153" name="Google Shape;153;p7"/>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7"/>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7"/>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i="0" lang="en-US" sz="780" u="none" cap="none" strike="noStrike">
                <a:solidFill>
                  <a:srgbClr val="F2F2F2"/>
                </a:solidFill>
                <a:latin typeface="Arial"/>
                <a:ea typeface="Arial"/>
                <a:cs typeface="Arial"/>
                <a:sym typeface="Arial"/>
              </a:rPr>
              <a:t>STUDENT ACTIVITY</a:t>
            </a:r>
            <a:endParaRPr b="0" i="0" sz="780" u="none" cap="none" strike="noStrike">
              <a:solidFill>
                <a:schemeClr val="dk1"/>
              </a:solidFill>
              <a:latin typeface="Arial"/>
              <a:ea typeface="Arial"/>
              <a:cs typeface="Arial"/>
              <a:sym typeface="Arial"/>
            </a:endParaRPr>
          </a:p>
        </p:txBody>
      </p:sp>
      <p:sp>
        <p:nvSpPr>
          <p:cNvPr id="156" name="Google Shape;156;p7"/>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i="0" lang="en-US" sz="1250" u="none" cap="none" strike="noStrike">
                <a:solidFill>
                  <a:srgbClr val="F2F2F2"/>
                </a:solidFill>
                <a:latin typeface="Arial"/>
                <a:ea typeface="Arial"/>
                <a:cs typeface="Arial"/>
                <a:sym typeface="Arial"/>
              </a:rPr>
              <a:t>Focus statement check.</a:t>
            </a:r>
            <a:endParaRPr b="0" i="0" sz="1250" u="none" cap="none" strike="noStrike">
              <a:solidFill>
                <a:schemeClr val="dk1"/>
              </a:solidFill>
              <a:latin typeface="Arial"/>
              <a:ea typeface="Arial"/>
              <a:cs typeface="Arial"/>
              <a:sym typeface="Arial"/>
            </a:endParaRPr>
          </a:p>
        </p:txBody>
      </p:sp>
      <p:sp>
        <p:nvSpPr>
          <p:cNvPr id="157" name="Google Shape;157;p7"/>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Write your current focus in one sentence. Label it experimental, engineering, data analysis, or hybrid.</a:t>
            </a:r>
            <a:endParaRPr b="0" i="0" sz="11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62" name="Shape 162"/>
        <p:cNvGrpSpPr/>
        <p:nvPr/>
      </p:nvGrpSpPr>
      <p:grpSpPr>
        <a:xfrm>
          <a:off x="0" y="0"/>
          <a:ext cx="0" cy="0"/>
          <a:chOff x="0" y="0"/>
          <a:chExt cx="0" cy="0"/>
        </a:xfrm>
      </p:grpSpPr>
      <p:sp>
        <p:nvSpPr>
          <p:cNvPr id="163" name="Google Shape;163;p8"/>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8"/>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SECTION 2</a:t>
            </a:r>
            <a:endParaRPr b="0" i="0" sz="900" u="none" cap="none" strike="noStrike">
              <a:solidFill>
                <a:schemeClr val="dk1"/>
              </a:solidFill>
              <a:latin typeface="Arial"/>
              <a:ea typeface="Arial"/>
              <a:cs typeface="Arial"/>
              <a:sym typeface="Arial"/>
            </a:endParaRPr>
          </a:p>
        </p:txBody>
      </p:sp>
      <p:sp>
        <p:nvSpPr>
          <p:cNvPr id="167" name="Google Shape;167;p8"/>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168" name="Google Shape;168;p8"/>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SECTION 2: BACKGROUND AND RATIONALE</a:t>
            </a:r>
            <a:endParaRPr b="0" i="0" sz="3000" u="none" cap="none" strike="noStrike">
              <a:solidFill>
                <a:schemeClr val="dk1"/>
              </a:solidFill>
              <a:latin typeface="Arial"/>
              <a:ea typeface="Arial"/>
              <a:cs typeface="Arial"/>
              <a:sym typeface="Arial"/>
            </a:endParaRPr>
          </a:p>
        </p:txBody>
      </p:sp>
      <p:cxnSp>
        <p:nvCxnSpPr>
          <p:cNvPr id="169" name="Google Shape;169;p8"/>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170" name="Google Shape;170;p8"/>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Background research should shape the plan, not just decorate the report.</a:t>
            </a:r>
            <a:endParaRPr b="0" i="0" sz="1050" u="none" cap="none" strike="noStrike">
              <a:solidFill>
                <a:schemeClr val="dk1"/>
              </a:solidFill>
              <a:latin typeface="Arial"/>
              <a:ea typeface="Arial"/>
              <a:cs typeface="Arial"/>
              <a:sym typeface="Arial"/>
            </a:endParaRPr>
          </a:p>
        </p:txBody>
      </p:sp>
      <p:sp>
        <p:nvSpPr>
          <p:cNvPr id="171" name="Google Shape;171;p8"/>
          <p:cNvSpPr/>
          <p:nvPr/>
        </p:nvSpPr>
        <p:spPr>
          <a:xfrm>
            <a:off x="914400" y="1417320"/>
            <a:ext cx="3154680" cy="16002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914400" y="1417320"/>
            <a:ext cx="54864" cy="16002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8"/>
          <p:cNvSpPr/>
          <p:nvPr/>
        </p:nvSpPr>
        <p:spPr>
          <a:xfrm>
            <a:off x="1078992" y="1563624"/>
            <a:ext cx="2834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CONCEPTS</a:t>
            </a:r>
            <a:endParaRPr b="0" i="0" sz="1200" u="none" cap="none" strike="noStrike">
              <a:solidFill>
                <a:schemeClr val="dk1"/>
              </a:solidFill>
              <a:latin typeface="Arial"/>
              <a:ea typeface="Arial"/>
              <a:cs typeface="Arial"/>
              <a:sym typeface="Arial"/>
            </a:endParaRPr>
          </a:p>
        </p:txBody>
      </p:sp>
      <p:sp>
        <p:nvSpPr>
          <p:cNvPr id="174" name="Google Shape;174;p8"/>
          <p:cNvSpPr/>
          <p:nvPr/>
        </p:nvSpPr>
        <p:spPr>
          <a:xfrm>
            <a:off x="1078992" y="1856232"/>
            <a:ext cx="2834640" cy="10972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science or engineering ideas must be understood?</a:t>
            </a:r>
            <a:endParaRPr b="0" i="0" sz="1350" u="none" cap="none" strike="noStrike">
              <a:solidFill>
                <a:schemeClr val="dk1"/>
              </a:solidFill>
              <a:latin typeface="Arial"/>
              <a:ea typeface="Arial"/>
              <a:cs typeface="Arial"/>
              <a:sym typeface="Arial"/>
            </a:endParaRPr>
          </a:p>
        </p:txBody>
      </p:sp>
      <p:sp>
        <p:nvSpPr>
          <p:cNvPr id="175" name="Google Shape;175;p8"/>
          <p:cNvSpPr/>
          <p:nvPr/>
        </p:nvSpPr>
        <p:spPr>
          <a:xfrm>
            <a:off x="4526280" y="1417320"/>
            <a:ext cx="3154680" cy="16002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526280" y="1417320"/>
            <a:ext cx="54864" cy="16002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8"/>
          <p:cNvSpPr/>
          <p:nvPr/>
        </p:nvSpPr>
        <p:spPr>
          <a:xfrm>
            <a:off x="4690872" y="1563624"/>
            <a:ext cx="2834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METHODS</a:t>
            </a:r>
            <a:endParaRPr b="0" i="0" sz="1200" u="none" cap="none" strike="noStrike">
              <a:solidFill>
                <a:schemeClr val="dk1"/>
              </a:solidFill>
              <a:latin typeface="Arial"/>
              <a:ea typeface="Arial"/>
              <a:cs typeface="Arial"/>
              <a:sym typeface="Arial"/>
            </a:endParaRPr>
          </a:p>
        </p:txBody>
      </p:sp>
      <p:sp>
        <p:nvSpPr>
          <p:cNvPr id="178" name="Google Shape;178;p8"/>
          <p:cNvSpPr/>
          <p:nvPr/>
        </p:nvSpPr>
        <p:spPr>
          <a:xfrm>
            <a:off x="4690872" y="1856232"/>
            <a:ext cx="2834640" cy="10972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tools, techniques, or procedures have others used?</a:t>
            </a:r>
            <a:endParaRPr b="0" i="0" sz="1350" u="none" cap="none" strike="noStrike">
              <a:solidFill>
                <a:schemeClr val="dk1"/>
              </a:solidFill>
              <a:latin typeface="Arial"/>
              <a:ea typeface="Arial"/>
              <a:cs typeface="Arial"/>
              <a:sym typeface="Arial"/>
            </a:endParaRPr>
          </a:p>
        </p:txBody>
      </p:sp>
      <p:sp>
        <p:nvSpPr>
          <p:cNvPr id="179" name="Google Shape;179;p8"/>
          <p:cNvSpPr/>
          <p:nvPr/>
        </p:nvSpPr>
        <p:spPr>
          <a:xfrm>
            <a:off x="8138160" y="1417320"/>
            <a:ext cx="3154680" cy="16002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8138160" y="1417320"/>
            <a:ext cx="54864" cy="16002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8302752" y="1563624"/>
            <a:ext cx="2834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RISKS</a:t>
            </a:r>
            <a:endParaRPr b="0" i="0" sz="1200" u="none" cap="none" strike="noStrike">
              <a:solidFill>
                <a:schemeClr val="dk1"/>
              </a:solidFill>
              <a:latin typeface="Arial"/>
              <a:ea typeface="Arial"/>
              <a:cs typeface="Arial"/>
              <a:sym typeface="Arial"/>
            </a:endParaRPr>
          </a:p>
        </p:txBody>
      </p:sp>
      <p:sp>
        <p:nvSpPr>
          <p:cNvPr id="182" name="Google Shape;182;p8"/>
          <p:cNvSpPr/>
          <p:nvPr/>
        </p:nvSpPr>
        <p:spPr>
          <a:xfrm>
            <a:off x="8302752" y="1856232"/>
            <a:ext cx="2834640" cy="10972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What safety, ethics, or practical issues are known?</a:t>
            </a:r>
            <a:endParaRPr b="0" i="0" sz="1350" u="none" cap="none" strike="noStrike">
              <a:solidFill>
                <a:schemeClr val="dk1"/>
              </a:solidFill>
              <a:latin typeface="Arial"/>
              <a:ea typeface="Arial"/>
              <a:cs typeface="Arial"/>
              <a:sym typeface="Arial"/>
            </a:endParaRPr>
          </a:p>
        </p:txBody>
      </p:sp>
      <p:sp>
        <p:nvSpPr>
          <p:cNvPr id="183" name="Google Shape;183;p8"/>
          <p:cNvSpPr/>
          <p:nvPr/>
        </p:nvSpPr>
        <p:spPr>
          <a:xfrm>
            <a:off x="960120" y="3429000"/>
            <a:ext cx="10241280" cy="621792"/>
          </a:xfrm>
          <a:prstGeom prst="rect">
            <a:avLst/>
          </a:prstGeom>
          <a:solidFill>
            <a:srgbClr val="0A0A0A"/>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8"/>
          <p:cNvSpPr/>
          <p:nvPr/>
        </p:nvSpPr>
        <p:spPr>
          <a:xfrm>
            <a:off x="1143000" y="3584448"/>
            <a:ext cx="246888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000"/>
              <a:buFont typeface="Arial"/>
              <a:buNone/>
            </a:pPr>
            <a:r>
              <a:rPr b="1" i="0" lang="en-US" sz="1000" u="none" cap="none" strike="noStrike">
                <a:solidFill>
                  <a:srgbClr val="E22B27"/>
                </a:solidFill>
                <a:latin typeface="Arial"/>
                <a:ea typeface="Arial"/>
                <a:cs typeface="Arial"/>
                <a:sym typeface="Arial"/>
              </a:rPr>
              <a:t>Minimum planning-stage sources:</a:t>
            </a:r>
            <a:endParaRPr b="0" i="0" sz="1000" u="none" cap="none" strike="noStrike">
              <a:solidFill>
                <a:schemeClr val="dk1"/>
              </a:solidFill>
              <a:latin typeface="Arial"/>
              <a:ea typeface="Arial"/>
              <a:cs typeface="Arial"/>
              <a:sym typeface="Arial"/>
            </a:endParaRPr>
          </a:p>
        </p:txBody>
      </p:sp>
      <p:sp>
        <p:nvSpPr>
          <p:cNvPr id="185" name="Google Shape;185;p8"/>
          <p:cNvSpPr/>
          <p:nvPr/>
        </p:nvSpPr>
        <p:spPr>
          <a:xfrm>
            <a:off x="3703320" y="3547872"/>
            <a:ext cx="7132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120"/>
              <a:buFont typeface="Arial"/>
              <a:buNone/>
            </a:pPr>
            <a:r>
              <a:rPr b="0" i="0" lang="en-US" sz="1120" u="none" cap="none" strike="noStrike">
                <a:solidFill>
                  <a:srgbClr val="F2F2F2"/>
                </a:solidFill>
                <a:latin typeface="Arial"/>
                <a:ea typeface="Arial"/>
                <a:cs typeface="Arial"/>
                <a:sym typeface="Arial"/>
              </a:rPr>
              <a:t>1 source for science background  •  1 source for method/design/measurement  •  1 source that helps define risk, context, or prior work</a:t>
            </a:r>
            <a:endParaRPr b="0" i="0" sz="1120" u="none" cap="none" strike="noStrike">
              <a:solidFill>
                <a:schemeClr val="dk1"/>
              </a:solidFill>
              <a:latin typeface="Arial"/>
              <a:ea typeface="Arial"/>
              <a:cs typeface="Arial"/>
              <a:sym typeface="Arial"/>
            </a:endParaRPr>
          </a:p>
        </p:txBody>
      </p:sp>
      <p:sp>
        <p:nvSpPr>
          <p:cNvPr id="186" name="Google Shape;186;p8"/>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8"/>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8"/>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i="0" lang="en-US" sz="780" u="none" cap="none" strike="noStrike">
                <a:solidFill>
                  <a:srgbClr val="F2F2F2"/>
                </a:solidFill>
                <a:latin typeface="Arial"/>
                <a:ea typeface="Arial"/>
                <a:cs typeface="Arial"/>
                <a:sym typeface="Arial"/>
              </a:rPr>
              <a:t>STUDENT ACTIVITY</a:t>
            </a:r>
            <a:endParaRPr b="0" i="0" sz="780" u="none" cap="none" strike="noStrike">
              <a:solidFill>
                <a:schemeClr val="dk1"/>
              </a:solidFill>
              <a:latin typeface="Arial"/>
              <a:ea typeface="Arial"/>
              <a:cs typeface="Arial"/>
              <a:sym typeface="Arial"/>
            </a:endParaRPr>
          </a:p>
        </p:txBody>
      </p:sp>
      <p:sp>
        <p:nvSpPr>
          <p:cNvPr id="189" name="Google Shape;189;p8"/>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i="0" lang="en-US" sz="1250" u="none" cap="none" strike="noStrike">
                <a:solidFill>
                  <a:srgbClr val="F2F2F2"/>
                </a:solidFill>
                <a:latin typeface="Arial"/>
                <a:ea typeface="Arial"/>
                <a:cs typeface="Arial"/>
                <a:sym typeface="Arial"/>
              </a:rPr>
              <a:t>Source-purpose check.</a:t>
            </a:r>
            <a:endParaRPr b="0" i="0" sz="1250" u="none" cap="none" strike="noStrike">
              <a:solidFill>
                <a:schemeClr val="dk1"/>
              </a:solidFill>
              <a:latin typeface="Arial"/>
              <a:ea typeface="Arial"/>
              <a:cs typeface="Arial"/>
              <a:sym typeface="Arial"/>
            </a:endParaRPr>
          </a:p>
        </p:txBody>
      </p:sp>
      <p:sp>
        <p:nvSpPr>
          <p:cNvPr id="190" name="Google Shape;190;p8"/>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For one source you found, write: “This source changes my plan because…”</a:t>
            </a:r>
            <a:endParaRPr b="0" i="0" sz="11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95" name="Shape 195"/>
        <p:cNvGrpSpPr/>
        <p:nvPr/>
      </p:nvGrpSpPr>
      <p:grpSpPr>
        <a:xfrm>
          <a:off x="0" y="0"/>
          <a:ext cx="0" cy="0"/>
          <a:chOff x="0" y="0"/>
          <a:chExt cx="0" cy="0"/>
        </a:xfrm>
      </p:grpSpPr>
      <p:sp>
        <p:nvSpPr>
          <p:cNvPr id="196" name="Google Shape;196;p9"/>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9"/>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9"/>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9"/>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SECTION 3</a:t>
            </a:r>
            <a:endParaRPr b="0" i="0" sz="900" u="none" cap="none" strike="noStrike">
              <a:solidFill>
                <a:schemeClr val="dk1"/>
              </a:solidFill>
              <a:latin typeface="Arial"/>
              <a:ea typeface="Arial"/>
              <a:cs typeface="Arial"/>
              <a:sym typeface="Arial"/>
            </a:endParaRPr>
          </a:p>
        </p:txBody>
      </p:sp>
      <p:sp>
        <p:nvSpPr>
          <p:cNvPr id="200" name="Google Shape;200;p9"/>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201" name="Google Shape;201;p9"/>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SECTION 3: HYPOTHESIS OR DESIGN CRITERIA</a:t>
            </a:r>
            <a:endParaRPr b="0" i="0" sz="3000" u="none" cap="none" strike="noStrike">
              <a:solidFill>
                <a:schemeClr val="dk1"/>
              </a:solidFill>
              <a:latin typeface="Arial"/>
              <a:ea typeface="Arial"/>
              <a:cs typeface="Arial"/>
              <a:sym typeface="Arial"/>
            </a:endParaRPr>
          </a:p>
        </p:txBody>
      </p:sp>
      <p:cxnSp>
        <p:nvCxnSpPr>
          <p:cNvPr id="202" name="Google Shape;202;p9"/>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203" name="Google Shape;203;p9"/>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This section defines what the project expects or what success means.</a:t>
            </a:r>
            <a:endParaRPr b="0" i="0" sz="1050" u="none" cap="none" strike="noStrike">
              <a:solidFill>
                <a:schemeClr val="dk1"/>
              </a:solidFill>
              <a:latin typeface="Arial"/>
              <a:ea typeface="Arial"/>
              <a:cs typeface="Arial"/>
              <a:sym typeface="Arial"/>
            </a:endParaRPr>
          </a:p>
        </p:txBody>
      </p:sp>
      <p:sp>
        <p:nvSpPr>
          <p:cNvPr id="204" name="Google Shape;204;p9"/>
          <p:cNvSpPr/>
          <p:nvPr/>
        </p:nvSpPr>
        <p:spPr>
          <a:xfrm>
            <a:off x="914400" y="1417320"/>
            <a:ext cx="4892040" cy="201168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9"/>
          <p:cNvSpPr/>
          <p:nvPr/>
        </p:nvSpPr>
        <p:spPr>
          <a:xfrm>
            <a:off x="914400" y="1417320"/>
            <a:ext cx="54864" cy="201168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9"/>
          <p:cNvSpPr/>
          <p:nvPr/>
        </p:nvSpPr>
        <p:spPr>
          <a:xfrm>
            <a:off x="1078992" y="1563624"/>
            <a:ext cx="45720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EXPERIMENTAL HYPOTHESIS</a:t>
            </a:r>
            <a:endParaRPr b="0" i="0" sz="1200" u="none" cap="none" strike="noStrike">
              <a:solidFill>
                <a:schemeClr val="dk1"/>
              </a:solidFill>
              <a:latin typeface="Arial"/>
              <a:ea typeface="Arial"/>
              <a:cs typeface="Arial"/>
              <a:sym typeface="Arial"/>
            </a:endParaRPr>
          </a:p>
        </p:txBody>
      </p:sp>
      <p:sp>
        <p:nvSpPr>
          <p:cNvPr id="207" name="Google Shape;207;p9"/>
          <p:cNvSpPr/>
          <p:nvPr/>
        </p:nvSpPr>
        <p:spPr>
          <a:xfrm>
            <a:off x="1078992" y="1856232"/>
            <a:ext cx="4572000" cy="150876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If [independent variable] changes, then [dependent variable] will change in this way because [scientific reasoning].</a:t>
            </a:r>
            <a:endParaRPr b="0" i="0" sz="1350" u="none" cap="none" strike="noStrike">
              <a:solidFill>
                <a:schemeClr val="dk1"/>
              </a:solidFill>
              <a:latin typeface="Arial"/>
              <a:ea typeface="Arial"/>
              <a:cs typeface="Arial"/>
              <a:sym typeface="Arial"/>
            </a:endParaRPr>
          </a:p>
        </p:txBody>
      </p:sp>
      <p:sp>
        <p:nvSpPr>
          <p:cNvPr id="208" name="Google Shape;208;p9"/>
          <p:cNvSpPr/>
          <p:nvPr/>
        </p:nvSpPr>
        <p:spPr>
          <a:xfrm>
            <a:off x="6400800" y="1417320"/>
            <a:ext cx="4892040" cy="201168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9"/>
          <p:cNvSpPr/>
          <p:nvPr/>
        </p:nvSpPr>
        <p:spPr>
          <a:xfrm>
            <a:off x="6400800" y="1417320"/>
            <a:ext cx="54864" cy="201168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9"/>
          <p:cNvSpPr/>
          <p:nvPr/>
        </p:nvSpPr>
        <p:spPr>
          <a:xfrm>
            <a:off x="6565392" y="1563624"/>
            <a:ext cx="45720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ENGINEERING CRITERIA</a:t>
            </a:r>
            <a:endParaRPr b="0" i="0" sz="1200" u="none" cap="none" strike="noStrike">
              <a:solidFill>
                <a:schemeClr val="dk1"/>
              </a:solidFill>
              <a:latin typeface="Arial"/>
              <a:ea typeface="Arial"/>
              <a:cs typeface="Arial"/>
              <a:sym typeface="Arial"/>
            </a:endParaRPr>
          </a:p>
        </p:txBody>
      </p:sp>
      <p:sp>
        <p:nvSpPr>
          <p:cNvPr id="211" name="Google Shape;211;p9"/>
          <p:cNvSpPr/>
          <p:nvPr/>
        </p:nvSpPr>
        <p:spPr>
          <a:xfrm>
            <a:off x="6565392" y="1856232"/>
            <a:ext cx="4572000" cy="150876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b="0" i="0" lang="en-US" sz="1350" u="none" cap="none" strike="noStrike">
                <a:solidFill>
                  <a:srgbClr val="F2F2F2"/>
                </a:solidFill>
                <a:latin typeface="Arial"/>
                <a:ea typeface="Arial"/>
                <a:cs typeface="Arial"/>
                <a:sym typeface="Arial"/>
              </a:rPr>
              <a:t>The design will be considered successful if it [measurable performance goal] while staying within [constraints].</a:t>
            </a:r>
            <a:endParaRPr b="0" i="0" sz="1350" u="none" cap="none" strike="noStrike">
              <a:solidFill>
                <a:schemeClr val="dk1"/>
              </a:solidFill>
              <a:latin typeface="Arial"/>
              <a:ea typeface="Arial"/>
              <a:cs typeface="Arial"/>
              <a:sym typeface="Arial"/>
            </a:endParaRPr>
          </a:p>
        </p:txBody>
      </p:sp>
      <p:sp>
        <p:nvSpPr>
          <p:cNvPr id="212" name="Google Shape;212;p9"/>
          <p:cNvSpPr/>
          <p:nvPr/>
        </p:nvSpPr>
        <p:spPr>
          <a:xfrm>
            <a:off x="1005840" y="3886200"/>
            <a:ext cx="100584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2200"/>
              <a:buFont typeface="Play"/>
              <a:buNone/>
            </a:pPr>
            <a:r>
              <a:rPr b="1" i="0" lang="en-US" sz="2200" u="none" cap="none" strike="noStrike">
                <a:solidFill>
                  <a:srgbClr val="F2F2F2"/>
                </a:solidFill>
                <a:latin typeface="Play"/>
                <a:ea typeface="Play"/>
                <a:cs typeface="Play"/>
                <a:sym typeface="Play"/>
              </a:rPr>
              <a:t>A useful prediction is specific enough to be wrong.</a:t>
            </a:r>
            <a:endParaRPr b="0" i="0" sz="2200" u="none" cap="none" strike="noStrike">
              <a:solidFill>
                <a:schemeClr val="dk1"/>
              </a:solidFill>
              <a:latin typeface="Arial"/>
              <a:ea typeface="Arial"/>
              <a:cs typeface="Arial"/>
              <a:sym typeface="Arial"/>
            </a:endParaRPr>
          </a:p>
        </p:txBody>
      </p:sp>
      <p:sp>
        <p:nvSpPr>
          <p:cNvPr id="213" name="Google Shape;213;p9"/>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9"/>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9"/>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i="0" lang="en-US" sz="780" u="none" cap="none" strike="noStrike">
                <a:solidFill>
                  <a:srgbClr val="F2F2F2"/>
                </a:solidFill>
                <a:latin typeface="Arial"/>
                <a:ea typeface="Arial"/>
                <a:cs typeface="Arial"/>
                <a:sym typeface="Arial"/>
              </a:rPr>
              <a:t>STUDENT ACTIVITY</a:t>
            </a:r>
            <a:endParaRPr b="0" i="0" sz="780" u="none" cap="none" strike="noStrike">
              <a:solidFill>
                <a:schemeClr val="dk1"/>
              </a:solidFill>
              <a:latin typeface="Arial"/>
              <a:ea typeface="Arial"/>
              <a:cs typeface="Arial"/>
              <a:sym typeface="Arial"/>
            </a:endParaRPr>
          </a:p>
        </p:txBody>
      </p:sp>
      <p:sp>
        <p:nvSpPr>
          <p:cNvPr id="216" name="Google Shape;216;p9"/>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i="0" lang="en-US" sz="1250" u="none" cap="none" strike="noStrike">
                <a:solidFill>
                  <a:srgbClr val="F2F2F2"/>
                </a:solidFill>
                <a:latin typeface="Arial"/>
                <a:ea typeface="Arial"/>
                <a:cs typeface="Arial"/>
                <a:sym typeface="Arial"/>
              </a:rPr>
              <a:t>Write the guiding statement.</a:t>
            </a:r>
            <a:endParaRPr b="0" i="0" sz="1250" u="none" cap="none" strike="noStrike">
              <a:solidFill>
                <a:schemeClr val="dk1"/>
              </a:solidFill>
              <a:latin typeface="Arial"/>
              <a:ea typeface="Arial"/>
              <a:cs typeface="Arial"/>
              <a:sym typeface="Arial"/>
            </a:endParaRPr>
          </a:p>
        </p:txBody>
      </p:sp>
      <p:sp>
        <p:nvSpPr>
          <p:cNvPr id="217" name="Google Shape;217;p9"/>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Choose the frame that fits your project and draft either a hypothesis or design criteria statement.</a:t>
            </a:r>
            <a:endParaRPr b="0" i="0" sz="11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22" name="Shape 222"/>
        <p:cNvGrpSpPr/>
        <p:nvPr/>
      </p:nvGrpSpPr>
      <p:grpSpPr>
        <a:xfrm>
          <a:off x="0" y="0"/>
          <a:ext cx="0" cy="0"/>
          <a:chOff x="0" y="0"/>
          <a:chExt cx="0" cy="0"/>
        </a:xfrm>
      </p:grpSpPr>
      <p:sp>
        <p:nvSpPr>
          <p:cNvPr id="223" name="Google Shape;223;p10"/>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0"/>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0"/>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SECTION 4</a:t>
            </a:r>
            <a:endParaRPr b="0" i="0" sz="900" u="none" cap="none" strike="noStrike">
              <a:solidFill>
                <a:schemeClr val="dk1"/>
              </a:solidFill>
              <a:latin typeface="Arial"/>
              <a:ea typeface="Arial"/>
              <a:cs typeface="Arial"/>
              <a:sym typeface="Arial"/>
            </a:endParaRPr>
          </a:p>
        </p:txBody>
      </p:sp>
      <p:sp>
        <p:nvSpPr>
          <p:cNvPr id="227" name="Google Shape;227;p10"/>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228" name="Google Shape;228;p10"/>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SECTION 4: VARIABLES, CRITERIA, AND CONSTRAINTS</a:t>
            </a:r>
            <a:endParaRPr b="0" i="0" sz="3000" u="none" cap="none" strike="noStrike">
              <a:solidFill>
                <a:schemeClr val="dk1"/>
              </a:solidFill>
              <a:latin typeface="Arial"/>
              <a:ea typeface="Arial"/>
              <a:cs typeface="Arial"/>
              <a:sym typeface="Arial"/>
            </a:endParaRPr>
          </a:p>
        </p:txBody>
      </p:sp>
      <p:cxnSp>
        <p:nvCxnSpPr>
          <p:cNvPr id="229" name="Google Shape;229;p10"/>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230" name="Google Shape;230;p10"/>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The reviewer needs to know what changes, what is measured, and what is controlled.</a:t>
            </a:r>
            <a:endParaRPr b="0" i="0" sz="1050" u="none" cap="none" strike="noStrike">
              <a:solidFill>
                <a:schemeClr val="dk1"/>
              </a:solidFill>
              <a:latin typeface="Arial"/>
              <a:ea typeface="Arial"/>
              <a:cs typeface="Arial"/>
              <a:sym typeface="Arial"/>
            </a:endParaRPr>
          </a:p>
        </p:txBody>
      </p:sp>
      <p:sp>
        <p:nvSpPr>
          <p:cNvPr id="231" name="Google Shape;231;p10"/>
          <p:cNvSpPr/>
          <p:nvPr/>
        </p:nvSpPr>
        <p:spPr>
          <a:xfrm>
            <a:off x="822960" y="1353312"/>
            <a:ext cx="5074920" cy="102412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0"/>
          <p:cNvSpPr/>
          <p:nvPr/>
        </p:nvSpPr>
        <p:spPr>
          <a:xfrm>
            <a:off x="822960" y="1353312"/>
            <a:ext cx="54864" cy="102412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0"/>
          <p:cNvSpPr/>
          <p:nvPr/>
        </p:nvSpPr>
        <p:spPr>
          <a:xfrm>
            <a:off x="987552" y="1499616"/>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EXPERIMENTAL</a:t>
            </a:r>
            <a:endParaRPr b="0" i="0" sz="1200" u="none" cap="none" strike="noStrike">
              <a:solidFill>
                <a:schemeClr val="dk1"/>
              </a:solidFill>
              <a:latin typeface="Arial"/>
              <a:ea typeface="Arial"/>
              <a:cs typeface="Arial"/>
              <a:sym typeface="Arial"/>
            </a:endParaRPr>
          </a:p>
        </p:txBody>
      </p:sp>
      <p:sp>
        <p:nvSpPr>
          <p:cNvPr id="234" name="Google Shape;234;p10"/>
          <p:cNvSpPr/>
          <p:nvPr/>
        </p:nvSpPr>
        <p:spPr>
          <a:xfrm>
            <a:off x="987552" y="1792224"/>
            <a:ext cx="4754880" cy="52120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20"/>
              <a:buFont typeface="Arial"/>
              <a:buNone/>
            </a:pPr>
            <a:r>
              <a:rPr b="0" i="0" lang="en-US" sz="1120" u="none" cap="none" strike="noStrike">
                <a:solidFill>
                  <a:srgbClr val="F2F2F2"/>
                </a:solidFill>
                <a:latin typeface="Arial"/>
                <a:ea typeface="Arial"/>
                <a:cs typeface="Arial"/>
                <a:sym typeface="Arial"/>
              </a:rPr>
              <a:t>Independent variable, dependent variable, controlled variables, control/comparison group, trials</a:t>
            </a:r>
            <a:endParaRPr b="0" i="0" sz="1120" u="none" cap="none" strike="noStrike">
              <a:solidFill>
                <a:schemeClr val="dk1"/>
              </a:solidFill>
              <a:latin typeface="Arial"/>
              <a:ea typeface="Arial"/>
              <a:cs typeface="Arial"/>
              <a:sym typeface="Arial"/>
            </a:endParaRPr>
          </a:p>
        </p:txBody>
      </p:sp>
      <p:sp>
        <p:nvSpPr>
          <p:cNvPr id="235" name="Google Shape;235;p10"/>
          <p:cNvSpPr/>
          <p:nvPr/>
        </p:nvSpPr>
        <p:spPr>
          <a:xfrm>
            <a:off x="6263640" y="1353312"/>
            <a:ext cx="5074920" cy="102412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0"/>
          <p:cNvSpPr/>
          <p:nvPr/>
        </p:nvSpPr>
        <p:spPr>
          <a:xfrm>
            <a:off x="6263640" y="1353312"/>
            <a:ext cx="54864" cy="102412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0"/>
          <p:cNvSpPr/>
          <p:nvPr/>
        </p:nvSpPr>
        <p:spPr>
          <a:xfrm>
            <a:off x="6428232" y="1499616"/>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ENGINEERING</a:t>
            </a:r>
            <a:endParaRPr b="0" i="0" sz="1200" u="none" cap="none" strike="noStrike">
              <a:solidFill>
                <a:schemeClr val="dk1"/>
              </a:solidFill>
              <a:latin typeface="Arial"/>
              <a:ea typeface="Arial"/>
              <a:cs typeface="Arial"/>
              <a:sym typeface="Arial"/>
            </a:endParaRPr>
          </a:p>
        </p:txBody>
      </p:sp>
      <p:sp>
        <p:nvSpPr>
          <p:cNvPr id="238" name="Google Shape;238;p10"/>
          <p:cNvSpPr/>
          <p:nvPr/>
        </p:nvSpPr>
        <p:spPr>
          <a:xfrm>
            <a:off x="6428232" y="1792224"/>
            <a:ext cx="4754880" cy="52120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20"/>
              <a:buFont typeface="Arial"/>
              <a:buNone/>
            </a:pPr>
            <a:r>
              <a:rPr b="0" i="0" lang="en-US" sz="1120" u="none" cap="none" strike="noStrike">
                <a:solidFill>
                  <a:srgbClr val="F2F2F2"/>
                </a:solidFill>
                <a:latin typeface="Arial"/>
                <a:ea typeface="Arial"/>
                <a:cs typeface="Arial"/>
                <a:sym typeface="Arial"/>
              </a:rPr>
              <a:t>Problem, design criteria, constraints, prototype variables, performance metrics, test conditions</a:t>
            </a:r>
            <a:endParaRPr b="0" i="0" sz="1120" u="none" cap="none" strike="noStrike">
              <a:solidFill>
                <a:schemeClr val="dk1"/>
              </a:solidFill>
              <a:latin typeface="Arial"/>
              <a:ea typeface="Arial"/>
              <a:cs typeface="Arial"/>
              <a:sym typeface="Arial"/>
            </a:endParaRPr>
          </a:p>
        </p:txBody>
      </p:sp>
      <p:sp>
        <p:nvSpPr>
          <p:cNvPr id="239" name="Google Shape;239;p10"/>
          <p:cNvSpPr/>
          <p:nvPr/>
        </p:nvSpPr>
        <p:spPr>
          <a:xfrm>
            <a:off x="822960" y="2679192"/>
            <a:ext cx="5074920" cy="102412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0"/>
          <p:cNvSpPr/>
          <p:nvPr/>
        </p:nvSpPr>
        <p:spPr>
          <a:xfrm>
            <a:off x="822960" y="2679192"/>
            <a:ext cx="54864" cy="102412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0"/>
          <p:cNvSpPr/>
          <p:nvPr/>
        </p:nvSpPr>
        <p:spPr>
          <a:xfrm>
            <a:off x="987552" y="2825496"/>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DATA ANALYSIS</a:t>
            </a:r>
            <a:endParaRPr b="0" i="0" sz="1200" u="none" cap="none" strike="noStrike">
              <a:solidFill>
                <a:schemeClr val="dk1"/>
              </a:solidFill>
              <a:latin typeface="Arial"/>
              <a:ea typeface="Arial"/>
              <a:cs typeface="Arial"/>
              <a:sym typeface="Arial"/>
            </a:endParaRPr>
          </a:p>
        </p:txBody>
      </p:sp>
      <p:sp>
        <p:nvSpPr>
          <p:cNvPr id="242" name="Google Shape;242;p10"/>
          <p:cNvSpPr/>
          <p:nvPr/>
        </p:nvSpPr>
        <p:spPr>
          <a:xfrm>
            <a:off x="987552" y="3118104"/>
            <a:ext cx="4754880" cy="52120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20"/>
              <a:buFont typeface="Arial"/>
              <a:buNone/>
            </a:pPr>
            <a:r>
              <a:rPr b="0" i="0" lang="en-US" sz="1120" u="none" cap="none" strike="noStrike">
                <a:solidFill>
                  <a:srgbClr val="F2F2F2"/>
                </a:solidFill>
                <a:latin typeface="Arial"/>
                <a:ea typeface="Arial"/>
                <a:cs typeface="Arial"/>
                <a:sym typeface="Arial"/>
              </a:rPr>
              <a:t>Data source, variables/features, outcome measure, filtering criteria, analysis method</a:t>
            </a:r>
            <a:endParaRPr b="0" i="0" sz="1120" u="none" cap="none" strike="noStrike">
              <a:solidFill>
                <a:schemeClr val="dk1"/>
              </a:solidFill>
              <a:latin typeface="Arial"/>
              <a:ea typeface="Arial"/>
              <a:cs typeface="Arial"/>
              <a:sym typeface="Arial"/>
            </a:endParaRPr>
          </a:p>
        </p:txBody>
      </p:sp>
      <p:sp>
        <p:nvSpPr>
          <p:cNvPr id="243" name="Google Shape;243;p10"/>
          <p:cNvSpPr/>
          <p:nvPr/>
        </p:nvSpPr>
        <p:spPr>
          <a:xfrm>
            <a:off x="6263640" y="2679192"/>
            <a:ext cx="5074920" cy="102412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0"/>
          <p:cNvSpPr/>
          <p:nvPr/>
        </p:nvSpPr>
        <p:spPr>
          <a:xfrm>
            <a:off x="6263640" y="2679192"/>
            <a:ext cx="54864" cy="102412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0"/>
          <p:cNvSpPr/>
          <p:nvPr/>
        </p:nvSpPr>
        <p:spPr>
          <a:xfrm>
            <a:off x="6428232" y="2825496"/>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OBSERVATIONAL</a:t>
            </a:r>
            <a:endParaRPr b="0" i="0" sz="1200" u="none" cap="none" strike="noStrike">
              <a:solidFill>
                <a:schemeClr val="dk1"/>
              </a:solidFill>
              <a:latin typeface="Arial"/>
              <a:ea typeface="Arial"/>
              <a:cs typeface="Arial"/>
              <a:sym typeface="Arial"/>
            </a:endParaRPr>
          </a:p>
        </p:txBody>
      </p:sp>
      <p:sp>
        <p:nvSpPr>
          <p:cNvPr id="246" name="Google Shape;246;p10"/>
          <p:cNvSpPr/>
          <p:nvPr/>
        </p:nvSpPr>
        <p:spPr>
          <a:xfrm>
            <a:off x="6428232" y="3118104"/>
            <a:ext cx="4754880" cy="52120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20"/>
              <a:buFont typeface="Arial"/>
              <a:buNone/>
            </a:pPr>
            <a:r>
              <a:rPr b="0" i="0" lang="en-US" sz="1120" u="none" cap="none" strike="noStrike">
                <a:solidFill>
                  <a:srgbClr val="F2F2F2"/>
                </a:solidFill>
                <a:latin typeface="Arial"/>
                <a:ea typeface="Arial"/>
                <a:cs typeface="Arial"/>
                <a:sym typeface="Arial"/>
              </a:rPr>
              <a:t>Observation categories, sampling method, time/place, recording method, reliability concerns</a:t>
            </a:r>
            <a:endParaRPr b="0" i="0" sz="1120" u="none" cap="none" strike="noStrike">
              <a:solidFill>
                <a:schemeClr val="dk1"/>
              </a:solidFill>
              <a:latin typeface="Arial"/>
              <a:ea typeface="Arial"/>
              <a:cs typeface="Arial"/>
              <a:sym typeface="Arial"/>
            </a:endParaRPr>
          </a:p>
        </p:txBody>
      </p:sp>
      <p:sp>
        <p:nvSpPr>
          <p:cNvPr id="247" name="Google Shape;247;p10"/>
          <p:cNvSpPr/>
          <p:nvPr/>
        </p:nvSpPr>
        <p:spPr>
          <a:xfrm>
            <a:off x="1005840" y="4160520"/>
            <a:ext cx="1005840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1800"/>
              <a:buFont typeface="Play"/>
              <a:buNone/>
            </a:pPr>
            <a:r>
              <a:rPr b="1" i="0" lang="en-US" sz="1800" u="none" cap="none" strike="noStrike">
                <a:solidFill>
                  <a:srgbClr val="F2F2F2"/>
                </a:solidFill>
                <a:latin typeface="Play"/>
                <a:ea typeface="Play"/>
                <a:cs typeface="Play"/>
                <a:sym typeface="Play"/>
              </a:rPr>
              <a:t>This section prevents the “I’ll just see what happens” problem.</a:t>
            </a:r>
            <a:endParaRPr b="0" i="0" sz="1800" u="none" cap="none" strike="noStrike">
              <a:solidFill>
                <a:schemeClr val="dk1"/>
              </a:solidFill>
              <a:latin typeface="Arial"/>
              <a:ea typeface="Arial"/>
              <a:cs typeface="Arial"/>
              <a:sym typeface="Arial"/>
            </a:endParaRPr>
          </a:p>
        </p:txBody>
      </p:sp>
      <p:sp>
        <p:nvSpPr>
          <p:cNvPr id="248" name="Google Shape;248;p10"/>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0"/>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0"/>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i="0" lang="en-US" sz="780" u="none" cap="none" strike="noStrike">
                <a:solidFill>
                  <a:srgbClr val="F2F2F2"/>
                </a:solidFill>
                <a:latin typeface="Arial"/>
                <a:ea typeface="Arial"/>
                <a:cs typeface="Arial"/>
                <a:sym typeface="Arial"/>
              </a:rPr>
              <a:t>STUDENT ACTIVITY</a:t>
            </a:r>
            <a:endParaRPr b="0" i="0" sz="780" u="none" cap="none" strike="noStrike">
              <a:solidFill>
                <a:schemeClr val="dk1"/>
              </a:solidFill>
              <a:latin typeface="Arial"/>
              <a:ea typeface="Arial"/>
              <a:cs typeface="Arial"/>
              <a:sym typeface="Arial"/>
            </a:endParaRPr>
          </a:p>
        </p:txBody>
      </p:sp>
      <p:sp>
        <p:nvSpPr>
          <p:cNvPr id="251" name="Google Shape;251;p10"/>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i="0" lang="en-US" sz="1250" u="none" cap="none" strike="noStrike">
                <a:solidFill>
                  <a:srgbClr val="F2F2F2"/>
                </a:solidFill>
                <a:latin typeface="Arial"/>
                <a:ea typeface="Arial"/>
                <a:cs typeface="Arial"/>
                <a:sym typeface="Arial"/>
              </a:rPr>
              <a:t>Plan vocabulary audit.</a:t>
            </a:r>
            <a:endParaRPr b="0" i="0" sz="1250" u="none" cap="none" strike="noStrike">
              <a:solidFill>
                <a:schemeClr val="dk1"/>
              </a:solidFill>
              <a:latin typeface="Arial"/>
              <a:ea typeface="Arial"/>
              <a:cs typeface="Arial"/>
              <a:sym typeface="Arial"/>
            </a:endParaRPr>
          </a:p>
        </p:txBody>
      </p:sp>
      <p:sp>
        <p:nvSpPr>
          <p:cNvPr id="252" name="Google Shape;252;p10"/>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b="0" i="0" lang="en-US" sz="1100" u="none" cap="none" strike="noStrike">
                <a:solidFill>
                  <a:srgbClr val="B8B8B8"/>
                </a:solidFill>
                <a:latin typeface="Arial"/>
                <a:ea typeface="Arial"/>
                <a:cs typeface="Arial"/>
                <a:sym typeface="Arial"/>
              </a:rPr>
              <a:t>Complete the matching row for your project type. Leave blanks only where you truly need teacher help.</a:t>
            </a:r>
            <a:endParaRPr b="0" i="0" sz="11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57" name="Shape 257"/>
        <p:cNvGrpSpPr/>
        <p:nvPr/>
      </p:nvGrpSpPr>
      <p:grpSpPr>
        <a:xfrm>
          <a:off x="0" y="0"/>
          <a:ext cx="0" cy="0"/>
          <a:chOff x="0" y="0"/>
          <a:chExt cx="0" cy="0"/>
        </a:xfrm>
      </p:grpSpPr>
      <p:sp>
        <p:nvSpPr>
          <p:cNvPr id="258" name="Google Shape;258;p11"/>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1"/>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SECTION 5</a:t>
            </a:r>
            <a:endParaRPr b="0" i="0" sz="900" u="none" cap="none" strike="noStrike">
              <a:solidFill>
                <a:schemeClr val="dk1"/>
              </a:solidFill>
              <a:latin typeface="Arial"/>
              <a:ea typeface="Arial"/>
              <a:cs typeface="Arial"/>
              <a:sym typeface="Arial"/>
            </a:endParaRPr>
          </a:p>
        </p:txBody>
      </p:sp>
      <p:sp>
        <p:nvSpPr>
          <p:cNvPr id="262" name="Google Shape;262;p11"/>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i="0" lang="en-US" sz="900" u="none" cap="none" strike="noStrike">
                <a:solidFill>
                  <a:srgbClr val="B8B8B8"/>
                </a:solidFill>
                <a:latin typeface="Arial"/>
                <a:ea typeface="Arial"/>
                <a:cs typeface="Arial"/>
                <a:sym typeface="Arial"/>
              </a:rPr>
              <a:t>STARLAB</a:t>
            </a:r>
            <a:endParaRPr b="0" i="0" sz="900" u="none" cap="none" strike="noStrike">
              <a:solidFill>
                <a:schemeClr val="dk1"/>
              </a:solidFill>
              <a:latin typeface="Arial"/>
              <a:ea typeface="Arial"/>
              <a:cs typeface="Arial"/>
              <a:sym typeface="Arial"/>
            </a:endParaRPr>
          </a:p>
        </p:txBody>
      </p:sp>
      <p:sp>
        <p:nvSpPr>
          <p:cNvPr id="263" name="Google Shape;263;p11"/>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i="0" lang="en-US" sz="3000" u="none" cap="none" strike="noStrike">
                <a:solidFill>
                  <a:srgbClr val="F2F2F2"/>
                </a:solidFill>
                <a:latin typeface="Play"/>
                <a:ea typeface="Play"/>
                <a:cs typeface="Play"/>
                <a:sym typeface="Play"/>
              </a:rPr>
              <a:t>SECTION 5: MATERIALS AND EQUIPMENT</a:t>
            </a:r>
            <a:endParaRPr b="0" i="0" sz="3000" u="none" cap="none" strike="noStrike">
              <a:solidFill>
                <a:schemeClr val="dk1"/>
              </a:solidFill>
              <a:latin typeface="Arial"/>
              <a:ea typeface="Arial"/>
              <a:cs typeface="Arial"/>
              <a:sym typeface="Arial"/>
            </a:endParaRPr>
          </a:p>
        </p:txBody>
      </p:sp>
      <p:cxnSp>
        <p:nvCxnSpPr>
          <p:cNvPr id="264" name="Google Shape;264;p11"/>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265" name="Google Shape;265;p11"/>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b="0" i="0" lang="en-US" sz="1050" u="none" cap="none" strike="noStrike">
                <a:solidFill>
                  <a:srgbClr val="B8B8B8"/>
                </a:solidFill>
                <a:latin typeface="Arial"/>
                <a:ea typeface="Arial"/>
                <a:cs typeface="Arial"/>
                <a:sym typeface="Arial"/>
              </a:rPr>
              <a:t>A materials list is also a feasibility and safety check.</a:t>
            </a:r>
            <a:endParaRPr b="0" i="0" sz="1050" u="none" cap="none" strike="noStrike">
              <a:solidFill>
                <a:schemeClr val="dk1"/>
              </a:solidFill>
              <a:latin typeface="Arial"/>
              <a:ea typeface="Arial"/>
              <a:cs typeface="Arial"/>
              <a:sym typeface="Arial"/>
            </a:endParaRPr>
          </a:p>
        </p:txBody>
      </p:sp>
      <p:sp>
        <p:nvSpPr>
          <p:cNvPr id="266" name="Google Shape;266;p11"/>
          <p:cNvSpPr/>
          <p:nvPr/>
        </p:nvSpPr>
        <p:spPr>
          <a:xfrm>
            <a:off x="1005840" y="1417320"/>
            <a:ext cx="4754880" cy="219456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None/>
            </a:pPr>
            <a:r>
              <a:rPr b="0" i="0" lang="en-US" sz="1700" u="none" cap="none" strike="noStrike">
                <a:solidFill>
                  <a:srgbClr val="F2F2F2"/>
                </a:solidFill>
                <a:latin typeface="Arial"/>
                <a:ea typeface="Arial"/>
                <a:cs typeface="Arial"/>
                <a:sym typeface="Arial"/>
              </a:rPr>
              <a:t>What do I already have?</a:t>
            </a:r>
            <a:endParaRPr sz="1700">
              <a:solidFill>
                <a:schemeClr val="dk1"/>
              </a:solidFill>
              <a:latin typeface="Arial"/>
              <a:ea typeface="Arial"/>
              <a:cs typeface="Arial"/>
              <a:sym typeface="Arial"/>
            </a:endParaRPr>
          </a:p>
          <a:p>
            <a:pPr indent="0" lvl="0" marL="0" marR="0" rtl="0" algn="l">
              <a:spcBef>
                <a:spcPts val="0"/>
              </a:spcBef>
              <a:spcAft>
                <a:spcPts val="0"/>
              </a:spcAft>
              <a:buNone/>
            </a:pPr>
            <a:r>
              <a:rPr lang="en-US" sz="1700">
                <a:solidFill>
                  <a:srgbClr val="F2F2F2"/>
                </a:solidFill>
                <a:latin typeface="Arial"/>
                <a:ea typeface="Arial"/>
                <a:cs typeface="Arial"/>
                <a:sym typeface="Arial"/>
              </a:rPr>
              <a:t>What must be purchased or borrowed?</a:t>
            </a:r>
            <a:endParaRPr sz="1700">
              <a:solidFill>
                <a:schemeClr val="dk1"/>
              </a:solidFill>
              <a:latin typeface="Arial"/>
              <a:ea typeface="Arial"/>
              <a:cs typeface="Arial"/>
              <a:sym typeface="Arial"/>
            </a:endParaRPr>
          </a:p>
          <a:p>
            <a:pPr indent="0" lvl="0" marL="0" marR="0" rtl="0" algn="l">
              <a:spcBef>
                <a:spcPts val="0"/>
              </a:spcBef>
              <a:spcAft>
                <a:spcPts val="0"/>
              </a:spcAft>
              <a:buNone/>
            </a:pPr>
            <a:r>
              <a:rPr lang="en-US" sz="1700">
                <a:solidFill>
                  <a:srgbClr val="F2F2F2"/>
                </a:solidFill>
                <a:latin typeface="Arial"/>
                <a:ea typeface="Arial"/>
                <a:cs typeface="Arial"/>
                <a:sym typeface="Arial"/>
              </a:rPr>
              <a:t>What requires training?</a:t>
            </a:r>
            <a:endParaRPr sz="1700">
              <a:solidFill>
                <a:schemeClr val="dk1"/>
              </a:solidFill>
              <a:latin typeface="Arial"/>
              <a:ea typeface="Arial"/>
              <a:cs typeface="Arial"/>
              <a:sym typeface="Arial"/>
            </a:endParaRPr>
          </a:p>
          <a:p>
            <a:pPr indent="0" lvl="0" marL="0" marR="0" rtl="0" algn="l">
              <a:spcBef>
                <a:spcPts val="0"/>
              </a:spcBef>
              <a:spcAft>
                <a:spcPts val="0"/>
              </a:spcAft>
              <a:buNone/>
            </a:pPr>
            <a:r>
              <a:rPr lang="en-US" sz="1700">
                <a:solidFill>
                  <a:srgbClr val="F2F2F2"/>
                </a:solidFill>
                <a:latin typeface="Arial"/>
                <a:ea typeface="Arial"/>
                <a:cs typeface="Arial"/>
                <a:sym typeface="Arial"/>
              </a:rPr>
              <a:t>What requires supervision?</a:t>
            </a:r>
            <a:endParaRPr sz="1700">
              <a:solidFill>
                <a:schemeClr val="dk1"/>
              </a:solidFill>
              <a:latin typeface="Arial"/>
              <a:ea typeface="Arial"/>
              <a:cs typeface="Arial"/>
              <a:sym typeface="Arial"/>
            </a:endParaRPr>
          </a:p>
          <a:p>
            <a:pPr indent="0" lvl="0" marL="0" marR="0" rtl="0" algn="l">
              <a:spcBef>
                <a:spcPts val="0"/>
              </a:spcBef>
              <a:spcAft>
                <a:spcPts val="0"/>
              </a:spcAft>
              <a:buNone/>
            </a:pPr>
            <a:r>
              <a:rPr lang="en-US" sz="1700">
                <a:solidFill>
                  <a:srgbClr val="F2F2F2"/>
                </a:solidFill>
                <a:latin typeface="Arial"/>
                <a:ea typeface="Arial"/>
                <a:cs typeface="Arial"/>
                <a:sym typeface="Arial"/>
              </a:rPr>
              <a:t>What must be stored or disposed of safely?</a:t>
            </a:r>
            <a:endParaRPr sz="1700">
              <a:solidFill>
                <a:schemeClr val="dk1"/>
              </a:solidFill>
              <a:latin typeface="Arial"/>
              <a:ea typeface="Arial"/>
              <a:cs typeface="Arial"/>
              <a:sym typeface="Arial"/>
            </a:endParaRPr>
          </a:p>
        </p:txBody>
      </p:sp>
      <p:sp>
        <p:nvSpPr>
          <p:cNvPr id="267" name="Google Shape;267;p11"/>
          <p:cNvSpPr/>
          <p:nvPr/>
        </p:nvSpPr>
        <p:spPr>
          <a:xfrm>
            <a:off x="6126480" y="1417320"/>
            <a:ext cx="4937760" cy="246888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1"/>
          <p:cNvSpPr/>
          <p:nvPr/>
        </p:nvSpPr>
        <p:spPr>
          <a:xfrm>
            <a:off x="6126480" y="1417320"/>
            <a:ext cx="54864" cy="246888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1"/>
          <p:cNvSpPr/>
          <p:nvPr/>
        </p:nvSpPr>
        <p:spPr>
          <a:xfrm>
            <a:off x="6291072" y="1563624"/>
            <a:ext cx="46177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HIDDEN NEEDS MATTER.</a:t>
            </a:r>
            <a:endParaRPr sz="1200">
              <a:solidFill>
                <a:schemeClr val="dk1"/>
              </a:solidFill>
              <a:latin typeface="Arial"/>
              <a:ea typeface="Arial"/>
              <a:cs typeface="Arial"/>
              <a:sym typeface="Arial"/>
            </a:endParaRPr>
          </a:p>
        </p:txBody>
      </p:sp>
      <p:sp>
        <p:nvSpPr>
          <p:cNvPr id="270" name="Google Shape;270;p11"/>
          <p:cNvSpPr/>
          <p:nvPr/>
        </p:nvSpPr>
        <p:spPr>
          <a:xfrm>
            <a:off x="6291072" y="1856232"/>
            <a:ext cx="4617720" cy="196596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400"/>
              <a:buFont typeface="Arial"/>
              <a:buNone/>
            </a:pPr>
            <a:r>
              <a:rPr lang="en-US" sz="1400">
                <a:solidFill>
                  <a:srgbClr val="F2F2F2"/>
                </a:solidFill>
                <a:latin typeface="Arial"/>
                <a:ea typeface="Arial"/>
                <a:cs typeface="Arial"/>
                <a:sym typeface="Arial"/>
              </a:rPr>
              <a:t>Labels, containers, batteries, calibration tools, cleaning supplies, backup materials, PPE, data storage, waste disposal.</a:t>
            </a:r>
            <a:endParaRPr sz="1400">
              <a:solidFill>
                <a:schemeClr val="dk1"/>
              </a:solidFill>
              <a:latin typeface="Arial"/>
              <a:ea typeface="Arial"/>
              <a:cs typeface="Arial"/>
              <a:sym typeface="Arial"/>
            </a:endParaRPr>
          </a:p>
        </p:txBody>
      </p:sp>
      <p:sp>
        <p:nvSpPr>
          <p:cNvPr id="271" name="Google Shape;271;p11"/>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1"/>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1"/>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274" name="Google Shape;274;p11"/>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Materials reality check.</a:t>
            </a:r>
            <a:endParaRPr sz="1250">
              <a:solidFill>
                <a:schemeClr val="dk1"/>
              </a:solidFill>
              <a:latin typeface="Arial"/>
              <a:ea typeface="Arial"/>
              <a:cs typeface="Arial"/>
              <a:sym typeface="Arial"/>
            </a:endParaRPr>
          </a:p>
        </p:txBody>
      </p:sp>
      <p:sp>
        <p:nvSpPr>
          <p:cNvPr id="275" name="Google Shape;275;p11"/>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Circle the one material/equipment item most likely to delay your project. Write a backup plan.</a:t>
            </a:r>
            <a:endParaRPr sz="1100">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80" name="Shape 280"/>
        <p:cNvGrpSpPr/>
        <p:nvPr/>
      </p:nvGrpSpPr>
      <p:grpSpPr>
        <a:xfrm>
          <a:off x="0" y="0"/>
          <a:ext cx="0" cy="0"/>
          <a:chOff x="0" y="0"/>
          <a:chExt cx="0" cy="0"/>
        </a:xfrm>
      </p:grpSpPr>
      <p:sp>
        <p:nvSpPr>
          <p:cNvPr id="281" name="Google Shape;281;p12"/>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2"/>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SECTION 6</a:t>
            </a:r>
            <a:endParaRPr sz="900">
              <a:solidFill>
                <a:schemeClr val="dk1"/>
              </a:solidFill>
              <a:latin typeface="Arial"/>
              <a:ea typeface="Arial"/>
              <a:cs typeface="Arial"/>
              <a:sym typeface="Arial"/>
            </a:endParaRPr>
          </a:p>
        </p:txBody>
      </p:sp>
      <p:sp>
        <p:nvSpPr>
          <p:cNvPr id="285" name="Google Shape;285;p12"/>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286" name="Google Shape;286;p12"/>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SECTION 6: PROCEDURE OR TESTING PROTOCOL</a:t>
            </a:r>
            <a:endParaRPr sz="3000">
              <a:solidFill>
                <a:schemeClr val="dk1"/>
              </a:solidFill>
              <a:latin typeface="Arial"/>
              <a:ea typeface="Arial"/>
              <a:cs typeface="Arial"/>
              <a:sym typeface="Arial"/>
            </a:endParaRPr>
          </a:p>
        </p:txBody>
      </p:sp>
      <p:cxnSp>
        <p:nvCxnSpPr>
          <p:cNvPr id="287" name="Google Shape;287;p12"/>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288" name="Google Shape;288;p12"/>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The procedure should be clear enough to evaluate before it is clear enough to publish.</a:t>
            </a:r>
            <a:endParaRPr sz="1050">
              <a:solidFill>
                <a:schemeClr val="dk1"/>
              </a:solidFill>
              <a:latin typeface="Arial"/>
              <a:ea typeface="Arial"/>
              <a:cs typeface="Arial"/>
              <a:sym typeface="Arial"/>
            </a:endParaRPr>
          </a:p>
        </p:txBody>
      </p:sp>
      <p:sp>
        <p:nvSpPr>
          <p:cNvPr id="289" name="Google Shape;289;p12"/>
          <p:cNvSpPr/>
          <p:nvPr/>
        </p:nvSpPr>
        <p:spPr>
          <a:xfrm>
            <a:off x="822960" y="1417320"/>
            <a:ext cx="3383280" cy="1645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822960" y="1417320"/>
            <a:ext cx="54864" cy="16459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987552" y="1563624"/>
            <a:ext cx="3063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SETUP</a:t>
            </a:r>
            <a:endParaRPr sz="1200">
              <a:solidFill>
                <a:schemeClr val="dk1"/>
              </a:solidFill>
              <a:latin typeface="Arial"/>
              <a:ea typeface="Arial"/>
              <a:cs typeface="Arial"/>
              <a:sym typeface="Arial"/>
            </a:endParaRPr>
          </a:p>
        </p:txBody>
      </p:sp>
      <p:sp>
        <p:nvSpPr>
          <p:cNvPr id="292" name="Google Shape;292;p12"/>
          <p:cNvSpPr/>
          <p:nvPr/>
        </p:nvSpPr>
        <p:spPr>
          <a:xfrm>
            <a:off x="987552" y="1856232"/>
            <a:ext cx="3063240" cy="11430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How will materials, equipment, samples, software, or prototypes be prepared?</a:t>
            </a:r>
            <a:endParaRPr sz="1350">
              <a:solidFill>
                <a:schemeClr val="dk1"/>
              </a:solidFill>
              <a:latin typeface="Arial"/>
              <a:ea typeface="Arial"/>
              <a:cs typeface="Arial"/>
              <a:sym typeface="Arial"/>
            </a:endParaRPr>
          </a:p>
        </p:txBody>
      </p:sp>
      <p:sp>
        <p:nvSpPr>
          <p:cNvPr id="293" name="Google Shape;293;p12"/>
          <p:cNvSpPr/>
          <p:nvPr/>
        </p:nvSpPr>
        <p:spPr>
          <a:xfrm>
            <a:off x="4407408" y="1417320"/>
            <a:ext cx="3383280" cy="1645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2"/>
          <p:cNvSpPr/>
          <p:nvPr/>
        </p:nvSpPr>
        <p:spPr>
          <a:xfrm>
            <a:off x="4407408" y="1417320"/>
            <a:ext cx="54864" cy="16459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2"/>
          <p:cNvSpPr/>
          <p:nvPr/>
        </p:nvSpPr>
        <p:spPr>
          <a:xfrm>
            <a:off x="4572000" y="1563624"/>
            <a:ext cx="3063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ACTION STEPS</a:t>
            </a:r>
            <a:endParaRPr sz="1200">
              <a:solidFill>
                <a:schemeClr val="dk1"/>
              </a:solidFill>
              <a:latin typeface="Arial"/>
              <a:ea typeface="Arial"/>
              <a:cs typeface="Arial"/>
              <a:sym typeface="Arial"/>
            </a:endParaRPr>
          </a:p>
        </p:txBody>
      </p:sp>
      <p:sp>
        <p:nvSpPr>
          <p:cNvPr id="296" name="Google Shape;296;p12"/>
          <p:cNvSpPr/>
          <p:nvPr/>
        </p:nvSpPr>
        <p:spPr>
          <a:xfrm>
            <a:off x="4572000" y="1856232"/>
            <a:ext cx="3063240" cy="11430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What exactly will be done, in order, and under what conditions?</a:t>
            </a:r>
            <a:endParaRPr sz="1350">
              <a:solidFill>
                <a:schemeClr val="dk1"/>
              </a:solidFill>
              <a:latin typeface="Arial"/>
              <a:ea typeface="Arial"/>
              <a:cs typeface="Arial"/>
              <a:sym typeface="Arial"/>
            </a:endParaRPr>
          </a:p>
        </p:txBody>
      </p:sp>
      <p:sp>
        <p:nvSpPr>
          <p:cNvPr id="297" name="Google Shape;297;p12"/>
          <p:cNvSpPr/>
          <p:nvPr/>
        </p:nvSpPr>
        <p:spPr>
          <a:xfrm>
            <a:off x="8001000" y="1417320"/>
            <a:ext cx="3383280" cy="1645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2"/>
          <p:cNvSpPr/>
          <p:nvPr/>
        </p:nvSpPr>
        <p:spPr>
          <a:xfrm>
            <a:off x="8001000" y="1417320"/>
            <a:ext cx="54864" cy="16459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2"/>
          <p:cNvSpPr/>
          <p:nvPr/>
        </p:nvSpPr>
        <p:spPr>
          <a:xfrm>
            <a:off x="8165592" y="1563624"/>
            <a:ext cx="3063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RECORDING</a:t>
            </a:r>
            <a:endParaRPr sz="1200">
              <a:solidFill>
                <a:schemeClr val="dk1"/>
              </a:solidFill>
              <a:latin typeface="Arial"/>
              <a:ea typeface="Arial"/>
              <a:cs typeface="Arial"/>
              <a:sym typeface="Arial"/>
            </a:endParaRPr>
          </a:p>
        </p:txBody>
      </p:sp>
      <p:sp>
        <p:nvSpPr>
          <p:cNvPr id="300" name="Google Shape;300;p12"/>
          <p:cNvSpPr/>
          <p:nvPr/>
        </p:nvSpPr>
        <p:spPr>
          <a:xfrm>
            <a:off x="8165592" y="1856232"/>
            <a:ext cx="3063240" cy="11430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When and how will measurements or observations be captured?</a:t>
            </a:r>
            <a:endParaRPr sz="1350">
              <a:solidFill>
                <a:schemeClr val="dk1"/>
              </a:solidFill>
              <a:latin typeface="Arial"/>
              <a:ea typeface="Arial"/>
              <a:cs typeface="Arial"/>
              <a:sym typeface="Arial"/>
            </a:endParaRPr>
          </a:p>
        </p:txBody>
      </p:sp>
      <p:sp>
        <p:nvSpPr>
          <p:cNvPr id="301" name="Google Shape;301;p12"/>
          <p:cNvSpPr/>
          <p:nvPr/>
        </p:nvSpPr>
        <p:spPr>
          <a:xfrm>
            <a:off x="1005840" y="3520440"/>
            <a:ext cx="10149840" cy="86868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2"/>
          <p:cNvSpPr/>
          <p:nvPr/>
        </p:nvSpPr>
        <p:spPr>
          <a:xfrm>
            <a:off x="1005840" y="3520440"/>
            <a:ext cx="54864" cy="86868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2"/>
          <p:cNvSpPr/>
          <p:nvPr/>
        </p:nvSpPr>
        <p:spPr>
          <a:xfrm>
            <a:off x="1170432" y="3666744"/>
            <a:ext cx="9829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EVERY PROCEDURE NEEDS A RESET PLAN.</a:t>
            </a:r>
            <a:endParaRPr sz="1200">
              <a:solidFill>
                <a:schemeClr val="dk1"/>
              </a:solidFill>
              <a:latin typeface="Arial"/>
              <a:ea typeface="Arial"/>
              <a:cs typeface="Arial"/>
              <a:sym typeface="Arial"/>
            </a:endParaRPr>
          </a:p>
        </p:txBody>
      </p:sp>
      <p:sp>
        <p:nvSpPr>
          <p:cNvPr id="304" name="Google Shape;304;p12"/>
          <p:cNvSpPr/>
          <p:nvPr/>
        </p:nvSpPr>
        <p:spPr>
          <a:xfrm>
            <a:off x="1170432" y="3959352"/>
            <a:ext cx="9829800" cy="36576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00"/>
              <a:buFont typeface="Arial"/>
              <a:buNone/>
            </a:pPr>
            <a:r>
              <a:rPr lang="en-US" sz="1200">
                <a:solidFill>
                  <a:srgbClr val="F2F2F2"/>
                </a:solidFill>
                <a:latin typeface="Arial"/>
                <a:ea typeface="Arial"/>
                <a:cs typeface="Arial"/>
                <a:sym typeface="Arial"/>
              </a:rPr>
              <a:t>After each trial: what gets cleaned, reset, recalibrated, replaced, relabeled, or checked before the next trial?</a:t>
            </a:r>
            <a:endParaRPr sz="1200">
              <a:solidFill>
                <a:schemeClr val="dk1"/>
              </a:solidFill>
              <a:latin typeface="Arial"/>
              <a:ea typeface="Arial"/>
              <a:cs typeface="Arial"/>
              <a:sym typeface="Arial"/>
            </a:endParaRPr>
          </a:p>
        </p:txBody>
      </p:sp>
      <p:sp>
        <p:nvSpPr>
          <p:cNvPr id="305" name="Google Shape;305;p12"/>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2"/>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2"/>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308" name="Google Shape;308;p12"/>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Procedure stress test.</a:t>
            </a:r>
            <a:endParaRPr sz="1250">
              <a:solidFill>
                <a:schemeClr val="dk1"/>
              </a:solidFill>
              <a:latin typeface="Arial"/>
              <a:ea typeface="Arial"/>
              <a:cs typeface="Arial"/>
              <a:sym typeface="Arial"/>
            </a:endParaRPr>
          </a:p>
        </p:txBody>
      </p:sp>
      <p:sp>
        <p:nvSpPr>
          <p:cNvPr id="309" name="Google Shape;309;p12"/>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Pick one step from your procedure and ask: What could someone misunderstand?</a:t>
            </a:r>
            <a:endParaRPr sz="110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14" name="Shape 314"/>
        <p:cNvGrpSpPr/>
        <p:nvPr/>
      </p:nvGrpSpPr>
      <p:grpSpPr>
        <a:xfrm>
          <a:off x="0" y="0"/>
          <a:ext cx="0" cy="0"/>
          <a:chOff x="0" y="0"/>
          <a:chExt cx="0" cy="0"/>
        </a:xfrm>
      </p:grpSpPr>
      <p:sp>
        <p:nvSpPr>
          <p:cNvPr id="315" name="Google Shape;315;p1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3"/>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3"/>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3"/>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SECTION 7</a:t>
            </a:r>
            <a:endParaRPr sz="900">
              <a:solidFill>
                <a:schemeClr val="dk1"/>
              </a:solidFill>
              <a:latin typeface="Arial"/>
              <a:ea typeface="Arial"/>
              <a:cs typeface="Arial"/>
              <a:sym typeface="Arial"/>
            </a:endParaRPr>
          </a:p>
        </p:txBody>
      </p:sp>
      <p:sp>
        <p:nvSpPr>
          <p:cNvPr id="319" name="Google Shape;319;p13"/>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320" name="Google Shape;320;p13"/>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SECTION 7: DATA COLLECTION PLAN</a:t>
            </a:r>
            <a:endParaRPr sz="3000">
              <a:solidFill>
                <a:schemeClr val="dk1"/>
              </a:solidFill>
              <a:latin typeface="Arial"/>
              <a:ea typeface="Arial"/>
              <a:cs typeface="Arial"/>
              <a:sym typeface="Arial"/>
            </a:endParaRPr>
          </a:p>
        </p:txBody>
      </p:sp>
      <p:cxnSp>
        <p:nvCxnSpPr>
          <p:cNvPr id="321" name="Google Shape;321;p13"/>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322" name="Google Shape;322;p13"/>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If students cannot build a blank data table, they are not ready to collect data.</a:t>
            </a:r>
            <a:endParaRPr sz="1050">
              <a:solidFill>
                <a:schemeClr val="dk1"/>
              </a:solidFill>
              <a:latin typeface="Arial"/>
              <a:ea typeface="Arial"/>
              <a:cs typeface="Arial"/>
              <a:sym typeface="Arial"/>
            </a:endParaRPr>
          </a:p>
        </p:txBody>
      </p:sp>
      <p:sp>
        <p:nvSpPr>
          <p:cNvPr id="323" name="Google Shape;323;p13"/>
          <p:cNvSpPr/>
          <p:nvPr/>
        </p:nvSpPr>
        <p:spPr>
          <a:xfrm>
            <a:off x="868680" y="1371600"/>
            <a:ext cx="5074920" cy="10058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3"/>
          <p:cNvSpPr/>
          <p:nvPr/>
        </p:nvSpPr>
        <p:spPr>
          <a:xfrm>
            <a:off x="868680" y="1371600"/>
            <a:ext cx="54864" cy="10058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3"/>
          <p:cNvSpPr/>
          <p:nvPr/>
        </p:nvSpPr>
        <p:spPr>
          <a:xfrm>
            <a:off x="1033272" y="151790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RAW DATA</a:t>
            </a:r>
            <a:endParaRPr sz="1200">
              <a:solidFill>
                <a:schemeClr val="dk1"/>
              </a:solidFill>
              <a:latin typeface="Arial"/>
              <a:ea typeface="Arial"/>
              <a:cs typeface="Arial"/>
              <a:sym typeface="Arial"/>
            </a:endParaRPr>
          </a:p>
        </p:txBody>
      </p:sp>
      <p:sp>
        <p:nvSpPr>
          <p:cNvPr id="326" name="Google Shape;326;p13"/>
          <p:cNvSpPr/>
          <p:nvPr/>
        </p:nvSpPr>
        <p:spPr>
          <a:xfrm>
            <a:off x="1033272" y="1810512"/>
            <a:ext cx="4754880" cy="5029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50"/>
              <a:buFont typeface="Arial"/>
              <a:buNone/>
            </a:pPr>
            <a:r>
              <a:rPr lang="en-US" sz="1250">
                <a:solidFill>
                  <a:srgbClr val="F2F2F2"/>
                </a:solidFill>
                <a:latin typeface="Arial"/>
                <a:ea typeface="Arial"/>
                <a:cs typeface="Arial"/>
                <a:sym typeface="Arial"/>
              </a:rPr>
              <a:t>What will be directly measured or recorded?</a:t>
            </a:r>
            <a:endParaRPr sz="1250">
              <a:solidFill>
                <a:schemeClr val="dk1"/>
              </a:solidFill>
              <a:latin typeface="Arial"/>
              <a:ea typeface="Arial"/>
              <a:cs typeface="Arial"/>
              <a:sym typeface="Arial"/>
            </a:endParaRPr>
          </a:p>
        </p:txBody>
      </p:sp>
      <p:sp>
        <p:nvSpPr>
          <p:cNvPr id="327" name="Google Shape;327;p13"/>
          <p:cNvSpPr/>
          <p:nvPr/>
        </p:nvSpPr>
        <p:spPr>
          <a:xfrm>
            <a:off x="6309360" y="1371600"/>
            <a:ext cx="5074920" cy="10058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3"/>
          <p:cNvSpPr/>
          <p:nvPr/>
        </p:nvSpPr>
        <p:spPr>
          <a:xfrm>
            <a:off x="6309360" y="1371600"/>
            <a:ext cx="54864" cy="10058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3"/>
          <p:cNvSpPr/>
          <p:nvPr/>
        </p:nvSpPr>
        <p:spPr>
          <a:xfrm>
            <a:off x="6473952" y="151790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UNITS</a:t>
            </a:r>
            <a:endParaRPr sz="1200">
              <a:solidFill>
                <a:schemeClr val="dk1"/>
              </a:solidFill>
              <a:latin typeface="Arial"/>
              <a:ea typeface="Arial"/>
              <a:cs typeface="Arial"/>
              <a:sym typeface="Arial"/>
            </a:endParaRPr>
          </a:p>
        </p:txBody>
      </p:sp>
      <p:sp>
        <p:nvSpPr>
          <p:cNvPr id="330" name="Google Shape;330;p13"/>
          <p:cNvSpPr/>
          <p:nvPr/>
        </p:nvSpPr>
        <p:spPr>
          <a:xfrm>
            <a:off x="6473952" y="1810512"/>
            <a:ext cx="4754880" cy="5029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50"/>
              <a:buFont typeface="Arial"/>
              <a:buNone/>
            </a:pPr>
            <a:r>
              <a:rPr lang="en-US" sz="1250">
                <a:solidFill>
                  <a:srgbClr val="F2F2F2"/>
                </a:solidFill>
                <a:latin typeface="Arial"/>
                <a:ea typeface="Arial"/>
                <a:cs typeface="Arial"/>
                <a:sym typeface="Arial"/>
              </a:rPr>
              <a:t>What units or categories will be used?</a:t>
            </a:r>
            <a:endParaRPr sz="1250">
              <a:solidFill>
                <a:schemeClr val="dk1"/>
              </a:solidFill>
              <a:latin typeface="Arial"/>
              <a:ea typeface="Arial"/>
              <a:cs typeface="Arial"/>
              <a:sym typeface="Arial"/>
            </a:endParaRPr>
          </a:p>
        </p:txBody>
      </p:sp>
      <p:sp>
        <p:nvSpPr>
          <p:cNvPr id="331" name="Google Shape;331;p13"/>
          <p:cNvSpPr/>
          <p:nvPr/>
        </p:nvSpPr>
        <p:spPr>
          <a:xfrm>
            <a:off x="868680" y="2697480"/>
            <a:ext cx="5074920" cy="10058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3"/>
          <p:cNvSpPr/>
          <p:nvPr/>
        </p:nvSpPr>
        <p:spPr>
          <a:xfrm>
            <a:off x="868680" y="2697480"/>
            <a:ext cx="54864" cy="10058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3"/>
          <p:cNvSpPr/>
          <p:nvPr/>
        </p:nvSpPr>
        <p:spPr>
          <a:xfrm>
            <a:off x="1033272" y="28437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FREQUENCY</a:t>
            </a:r>
            <a:endParaRPr sz="1200">
              <a:solidFill>
                <a:schemeClr val="dk1"/>
              </a:solidFill>
              <a:latin typeface="Arial"/>
              <a:ea typeface="Arial"/>
              <a:cs typeface="Arial"/>
              <a:sym typeface="Arial"/>
            </a:endParaRPr>
          </a:p>
        </p:txBody>
      </p:sp>
      <p:sp>
        <p:nvSpPr>
          <p:cNvPr id="334" name="Google Shape;334;p13"/>
          <p:cNvSpPr/>
          <p:nvPr/>
        </p:nvSpPr>
        <p:spPr>
          <a:xfrm>
            <a:off x="1033272" y="3136392"/>
            <a:ext cx="4754880" cy="5029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50"/>
              <a:buFont typeface="Arial"/>
              <a:buNone/>
            </a:pPr>
            <a:r>
              <a:rPr lang="en-US" sz="1250">
                <a:solidFill>
                  <a:srgbClr val="F2F2F2"/>
                </a:solidFill>
                <a:latin typeface="Arial"/>
                <a:ea typeface="Arial"/>
                <a:cs typeface="Arial"/>
                <a:sym typeface="Arial"/>
              </a:rPr>
              <a:t>How often or how many times?</a:t>
            </a:r>
            <a:endParaRPr sz="1250">
              <a:solidFill>
                <a:schemeClr val="dk1"/>
              </a:solidFill>
              <a:latin typeface="Arial"/>
              <a:ea typeface="Arial"/>
              <a:cs typeface="Arial"/>
              <a:sym typeface="Arial"/>
            </a:endParaRPr>
          </a:p>
        </p:txBody>
      </p:sp>
      <p:sp>
        <p:nvSpPr>
          <p:cNvPr id="335" name="Google Shape;335;p13"/>
          <p:cNvSpPr/>
          <p:nvPr/>
        </p:nvSpPr>
        <p:spPr>
          <a:xfrm>
            <a:off x="6309360" y="2697480"/>
            <a:ext cx="5074920" cy="10058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3"/>
          <p:cNvSpPr/>
          <p:nvPr/>
        </p:nvSpPr>
        <p:spPr>
          <a:xfrm>
            <a:off x="6309360" y="2697480"/>
            <a:ext cx="54864" cy="10058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3"/>
          <p:cNvSpPr/>
          <p:nvPr/>
        </p:nvSpPr>
        <p:spPr>
          <a:xfrm>
            <a:off x="6473952" y="28437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STORAGE</a:t>
            </a:r>
            <a:endParaRPr sz="1200">
              <a:solidFill>
                <a:schemeClr val="dk1"/>
              </a:solidFill>
              <a:latin typeface="Arial"/>
              <a:ea typeface="Arial"/>
              <a:cs typeface="Arial"/>
              <a:sym typeface="Arial"/>
            </a:endParaRPr>
          </a:p>
        </p:txBody>
      </p:sp>
      <p:sp>
        <p:nvSpPr>
          <p:cNvPr id="338" name="Google Shape;338;p13"/>
          <p:cNvSpPr/>
          <p:nvPr/>
        </p:nvSpPr>
        <p:spPr>
          <a:xfrm>
            <a:off x="6473952" y="3136392"/>
            <a:ext cx="4754880" cy="5029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50"/>
              <a:buFont typeface="Arial"/>
              <a:buNone/>
            </a:pPr>
            <a:r>
              <a:rPr lang="en-US" sz="1250">
                <a:solidFill>
                  <a:srgbClr val="F2F2F2"/>
                </a:solidFill>
                <a:latin typeface="Arial"/>
                <a:ea typeface="Arial"/>
                <a:cs typeface="Arial"/>
                <a:sym typeface="Arial"/>
              </a:rPr>
              <a:t>Where will data live and be backed up?</a:t>
            </a:r>
            <a:endParaRPr sz="1250">
              <a:solidFill>
                <a:schemeClr val="dk1"/>
              </a:solidFill>
              <a:latin typeface="Arial"/>
              <a:ea typeface="Arial"/>
              <a:cs typeface="Arial"/>
              <a:sym typeface="Arial"/>
            </a:endParaRPr>
          </a:p>
        </p:txBody>
      </p:sp>
      <p:sp>
        <p:nvSpPr>
          <p:cNvPr id="339" name="Google Shape;339;p13"/>
          <p:cNvSpPr/>
          <p:nvPr/>
        </p:nvSpPr>
        <p:spPr>
          <a:xfrm>
            <a:off x="1005840" y="4069080"/>
            <a:ext cx="10149840" cy="411480"/>
          </a:xfrm>
          <a:prstGeom prst="rect">
            <a:avLst/>
          </a:prstGeom>
          <a:solidFill>
            <a:srgbClr val="0A0A0A"/>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3"/>
          <p:cNvSpPr/>
          <p:nvPr/>
        </p:nvSpPr>
        <p:spPr>
          <a:xfrm>
            <a:off x="1143000" y="4187952"/>
            <a:ext cx="9875520" cy="1463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Blank table test: Trial | Condition | Measurement | Units | Notes | Questionable?</a:t>
            </a:r>
            <a:endParaRPr sz="1250">
              <a:solidFill>
                <a:schemeClr val="dk1"/>
              </a:solidFill>
              <a:latin typeface="Arial"/>
              <a:ea typeface="Arial"/>
              <a:cs typeface="Arial"/>
              <a:sym typeface="Arial"/>
            </a:endParaRPr>
          </a:p>
        </p:txBody>
      </p:sp>
      <p:sp>
        <p:nvSpPr>
          <p:cNvPr id="341" name="Google Shape;341;p13"/>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3"/>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344" name="Google Shape;344;p13"/>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Build the first data table.</a:t>
            </a:r>
            <a:endParaRPr sz="1250">
              <a:solidFill>
                <a:schemeClr val="dk1"/>
              </a:solidFill>
              <a:latin typeface="Arial"/>
              <a:ea typeface="Arial"/>
              <a:cs typeface="Arial"/>
              <a:sym typeface="Arial"/>
            </a:endParaRPr>
          </a:p>
        </p:txBody>
      </p:sp>
      <p:sp>
        <p:nvSpPr>
          <p:cNvPr id="345" name="Google Shape;345;p13"/>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Sketch the column headers you will use before any testing begins.</a:t>
            </a:r>
            <a:endParaRPr sz="1100">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50" name="Shape 350"/>
        <p:cNvGrpSpPr/>
        <p:nvPr/>
      </p:nvGrpSpPr>
      <p:grpSpPr>
        <a:xfrm>
          <a:off x="0" y="0"/>
          <a:ext cx="0" cy="0"/>
          <a:chOff x="0" y="0"/>
          <a:chExt cx="0" cy="0"/>
        </a:xfrm>
      </p:grpSpPr>
      <p:sp>
        <p:nvSpPr>
          <p:cNvPr id="351" name="Google Shape;351;p1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4"/>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4"/>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SECTION 8</a:t>
            </a:r>
            <a:endParaRPr sz="900">
              <a:solidFill>
                <a:schemeClr val="dk1"/>
              </a:solidFill>
              <a:latin typeface="Arial"/>
              <a:ea typeface="Arial"/>
              <a:cs typeface="Arial"/>
              <a:sym typeface="Arial"/>
            </a:endParaRPr>
          </a:p>
        </p:txBody>
      </p:sp>
      <p:sp>
        <p:nvSpPr>
          <p:cNvPr id="355" name="Google Shape;355;p14"/>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356" name="Google Shape;356;p14"/>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SECTION 8: ANALYSIS PREVIEW</a:t>
            </a:r>
            <a:endParaRPr sz="3000">
              <a:solidFill>
                <a:schemeClr val="dk1"/>
              </a:solidFill>
              <a:latin typeface="Arial"/>
              <a:ea typeface="Arial"/>
              <a:cs typeface="Arial"/>
              <a:sym typeface="Arial"/>
            </a:endParaRPr>
          </a:p>
        </p:txBody>
      </p:sp>
      <p:cxnSp>
        <p:nvCxnSpPr>
          <p:cNvPr id="357" name="Google Shape;357;p14"/>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358" name="Google Shape;358;p14"/>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Students do not need full analysis yet, but they should know what the data will become.</a:t>
            </a:r>
            <a:endParaRPr sz="1050">
              <a:solidFill>
                <a:schemeClr val="dk1"/>
              </a:solidFill>
              <a:latin typeface="Arial"/>
              <a:ea typeface="Arial"/>
              <a:cs typeface="Arial"/>
              <a:sym typeface="Arial"/>
            </a:endParaRPr>
          </a:p>
        </p:txBody>
      </p:sp>
      <p:sp>
        <p:nvSpPr>
          <p:cNvPr id="359" name="Google Shape;359;p14"/>
          <p:cNvSpPr/>
          <p:nvPr/>
        </p:nvSpPr>
        <p:spPr>
          <a:xfrm>
            <a:off x="822960" y="1325880"/>
            <a:ext cx="3429000" cy="173736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4"/>
          <p:cNvSpPr/>
          <p:nvPr/>
        </p:nvSpPr>
        <p:spPr>
          <a:xfrm>
            <a:off x="822960" y="1325880"/>
            <a:ext cx="54864" cy="173736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987552" y="1472184"/>
            <a:ext cx="31089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CALCULATIONS</a:t>
            </a:r>
            <a:endParaRPr sz="1200">
              <a:solidFill>
                <a:schemeClr val="dk1"/>
              </a:solidFill>
              <a:latin typeface="Arial"/>
              <a:ea typeface="Arial"/>
              <a:cs typeface="Arial"/>
              <a:sym typeface="Arial"/>
            </a:endParaRPr>
          </a:p>
        </p:txBody>
      </p:sp>
      <p:sp>
        <p:nvSpPr>
          <p:cNvPr id="362" name="Google Shape;362;p14"/>
          <p:cNvSpPr/>
          <p:nvPr/>
        </p:nvSpPr>
        <p:spPr>
          <a:xfrm>
            <a:off x="987552" y="1764792"/>
            <a:ext cx="3108960" cy="123444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Mean, percent change, rate, ratio, efficiency, error rate, or other project-specific measures.</a:t>
            </a:r>
            <a:endParaRPr sz="1350">
              <a:solidFill>
                <a:schemeClr val="dk1"/>
              </a:solidFill>
              <a:latin typeface="Arial"/>
              <a:ea typeface="Arial"/>
              <a:cs typeface="Arial"/>
              <a:sym typeface="Arial"/>
            </a:endParaRPr>
          </a:p>
        </p:txBody>
      </p:sp>
      <p:sp>
        <p:nvSpPr>
          <p:cNvPr id="363" name="Google Shape;363;p14"/>
          <p:cNvSpPr/>
          <p:nvPr/>
        </p:nvSpPr>
        <p:spPr>
          <a:xfrm>
            <a:off x="4389120" y="1325880"/>
            <a:ext cx="3429000" cy="173736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4"/>
          <p:cNvSpPr/>
          <p:nvPr/>
        </p:nvSpPr>
        <p:spPr>
          <a:xfrm>
            <a:off x="4389120" y="1325880"/>
            <a:ext cx="54864" cy="173736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553712" y="1472184"/>
            <a:ext cx="31089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VISUALS</a:t>
            </a:r>
            <a:endParaRPr sz="1200">
              <a:solidFill>
                <a:schemeClr val="dk1"/>
              </a:solidFill>
              <a:latin typeface="Arial"/>
              <a:ea typeface="Arial"/>
              <a:cs typeface="Arial"/>
              <a:sym typeface="Arial"/>
            </a:endParaRPr>
          </a:p>
        </p:txBody>
      </p:sp>
      <p:sp>
        <p:nvSpPr>
          <p:cNvPr id="366" name="Google Shape;366;p14"/>
          <p:cNvSpPr/>
          <p:nvPr/>
        </p:nvSpPr>
        <p:spPr>
          <a:xfrm>
            <a:off x="4553712" y="1764792"/>
            <a:ext cx="3108960" cy="123444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Bar graph, line graph, scatter plot, table, image comparison, prototype matrix.</a:t>
            </a:r>
            <a:endParaRPr sz="1350">
              <a:solidFill>
                <a:schemeClr val="dk1"/>
              </a:solidFill>
              <a:latin typeface="Arial"/>
              <a:ea typeface="Arial"/>
              <a:cs typeface="Arial"/>
              <a:sym typeface="Arial"/>
            </a:endParaRPr>
          </a:p>
        </p:txBody>
      </p:sp>
      <p:sp>
        <p:nvSpPr>
          <p:cNvPr id="367" name="Google Shape;367;p14"/>
          <p:cNvSpPr/>
          <p:nvPr/>
        </p:nvSpPr>
        <p:spPr>
          <a:xfrm>
            <a:off x="7955280" y="1325880"/>
            <a:ext cx="3429000" cy="173736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4"/>
          <p:cNvSpPr/>
          <p:nvPr/>
        </p:nvSpPr>
        <p:spPr>
          <a:xfrm>
            <a:off x="7955280" y="1325880"/>
            <a:ext cx="54864" cy="173736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4"/>
          <p:cNvSpPr/>
          <p:nvPr/>
        </p:nvSpPr>
        <p:spPr>
          <a:xfrm>
            <a:off x="8119872" y="1472184"/>
            <a:ext cx="31089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INTERPRETATION</a:t>
            </a:r>
            <a:endParaRPr sz="1200">
              <a:solidFill>
                <a:schemeClr val="dk1"/>
              </a:solidFill>
              <a:latin typeface="Arial"/>
              <a:ea typeface="Arial"/>
              <a:cs typeface="Arial"/>
              <a:sym typeface="Arial"/>
            </a:endParaRPr>
          </a:p>
        </p:txBody>
      </p:sp>
      <p:sp>
        <p:nvSpPr>
          <p:cNvPr id="370" name="Google Shape;370;p14"/>
          <p:cNvSpPr/>
          <p:nvPr/>
        </p:nvSpPr>
        <p:spPr>
          <a:xfrm>
            <a:off x="8119872" y="1764792"/>
            <a:ext cx="3108960" cy="123444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What evidence would support, challenge, or complicate the hypothesis/design criteria.</a:t>
            </a:r>
            <a:endParaRPr sz="1350">
              <a:solidFill>
                <a:schemeClr val="dk1"/>
              </a:solidFill>
              <a:latin typeface="Arial"/>
              <a:ea typeface="Arial"/>
              <a:cs typeface="Arial"/>
              <a:sym typeface="Arial"/>
            </a:endParaRPr>
          </a:p>
        </p:txBody>
      </p:sp>
      <p:sp>
        <p:nvSpPr>
          <p:cNvPr id="371" name="Google Shape;371;p14"/>
          <p:cNvSpPr/>
          <p:nvPr/>
        </p:nvSpPr>
        <p:spPr>
          <a:xfrm>
            <a:off x="1005840" y="3474720"/>
            <a:ext cx="10149840" cy="82296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4"/>
          <p:cNvSpPr/>
          <p:nvPr/>
        </p:nvSpPr>
        <p:spPr>
          <a:xfrm>
            <a:off x="1005840" y="3474720"/>
            <a:ext cx="54864" cy="82296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4"/>
          <p:cNvSpPr/>
          <p:nvPr/>
        </p:nvSpPr>
        <p:spPr>
          <a:xfrm>
            <a:off x="1170432" y="3621024"/>
            <a:ext cx="9829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PLAN BACKWARD FROM THE GRAPH.</a:t>
            </a:r>
            <a:endParaRPr sz="1200">
              <a:solidFill>
                <a:schemeClr val="dk1"/>
              </a:solidFill>
              <a:latin typeface="Arial"/>
              <a:ea typeface="Arial"/>
              <a:cs typeface="Arial"/>
              <a:sym typeface="Arial"/>
            </a:endParaRPr>
          </a:p>
        </p:txBody>
      </p:sp>
      <p:sp>
        <p:nvSpPr>
          <p:cNvPr id="374" name="Google Shape;374;p14"/>
          <p:cNvSpPr/>
          <p:nvPr/>
        </p:nvSpPr>
        <p:spPr>
          <a:xfrm>
            <a:off x="1170432" y="3913632"/>
            <a:ext cx="9829800" cy="32004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400"/>
              <a:buFont typeface="Arial"/>
              <a:buNone/>
            </a:pPr>
            <a:r>
              <a:rPr lang="en-US" sz="1400">
                <a:solidFill>
                  <a:srgbClr val="F2F2F2"/>
                </a:solidFill>
                <a:latin typeface="Arial"/>
                <a:ea typeface="Arial"/>
                <a:cs typeface="Arial"/>
                <a:sym typeface="Arial"/>
              </a:rPr>
              <a:t>If you know the graph you need, you usually know the data you must collect.</a:t>
            </a:r>
            <a:endParaRPr sz="1400">
              <a:solidFill>
                <a:schemeClr val="dk1"/>
              </a:solidFill>
              <a:latin typeface="Arial"/>
              <a:ea typeface="Arial"/>
              <a:cs typeface="Arial"/>
              <a:sym typeface="Arial"/>
            </a:endParaRPr>
          </a:p>
        </p:txBody>
      </p:sp>
      <p:sp>
        <p:nvSpPr>
          <p:cNvPr id="375" name="Google Shape;375;p14"/>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4"/>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4"/>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378" name="Google Shape;378;p14"/>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Future graph sketch.</a:t>
            </a:r>
            <a:endParaRPr sz="1250">
              <a:solidFill>
                <a:schemeClr val="dk1"/>
              </a:solidFill>
              <a:latin typeface="Arial"/>
              <a:ea typeface="Arial"/>
              <a:cs typeface="Arial"/>
              <a:sym typeface="Arial"/>
            </a:endParaRPr>
          </a:p>
        </p:txBody>
      </p:sp>
      <p:sp>
        <p:nvSpPr>
          <p:cNvPr id="379" name="Google Shape;379;p14"/>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Draw a rough version of the graph/table that might eventually answer your question.</a:t>
            </a:r>
            <a:endParaRPr sz="1100">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84" name="Shape 384"/>
        <p:cNvGrpSpPr/>
        <p:nvPr/>
      </p:nvGrpSpPr>
      <p:grpSpPr>
        <a:xfrm>
          <a:off x="0" y="0"/>
          <a:ext cx="0" cy="0"/>
          <a:chOff x="0" y="0"/>
          <a:chExt cx="0" cy="0"/>
        </a:xfrm>
      </p:grpSpPr>
      <p:sp>
        <p:nvSpPr>
          <p:cNvPr id="385" name="Google Shape;385;p15"/>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5"/>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5"/>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SECTION 9</a:t>
            </a:r>
            <a:endParaRPr sz="900">
              <a:solidFill>
                <a:schemeClr val="dk1"/>
              </a:solidFill>
              <a:latin typeface="Arial"/>
              <a:ea typeface="Arial"/>
              <a:cs typeface="Arial"/>
              <a:sym typeface="Arial"/>
            </a:endParaRPr>
          </a:p>
        </p:txBody>
      </p:sp>
      <p:sp>
        <p:nvSpPr>
          <p:cNvPr id="389" name="Google Shape;389;p15"/>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390" name="Google Shape;390;p15"/>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SECTION 9: SAFETY AND RISK ASSESSMENT</a:t>
            </a:r>
            <a:endParaRPr sz="3000">
              <a:solidFill>
                <a:schemeClr val="dk1"/>
              </a:solidFill>
              <a:latin typeface="Arial"/>
              <a:ea typeface="Arial"/>
              <a:cs typeface="Arial"/>
              <a:sym typeface="Arial"/>
            </a:endParaRPr>
          </a:p>
        </p:txBody>
      </p:sp>
      <p:cxnSp>
        <p:nvCxnSpPr>
          <p:cNvPr id="391" name="Google Shape;391;p15"/>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392" name="Google Shape;392;p15"/>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Safety is not a paragraph at the end. It is a design requirement.</a:t>
            </a:r>
            <a:endParaRPr sz="1050">
              <a:solidFill>
                <a:schemeClr val="dk1"/>
              </a:solidFill>
              <a:latin typeface="Arial"/>
              <a:ea typeface="Arial"/>
              <a:cs typeface="Arial"/>
              <a:sym typeface="Arial"/>
            </a:endParaRPr>
          </a:p>
        </p:txBody>
      </p:sp>
      <p:sp>
        <p:nvSpPr>
          <p:cNvPr id="393" name="Google Shape;393;p15"/>
          <p:cNvSpPr/>
          <p:nvPr/>
        </p:nvSpPr>
        <p:spPr>
          <a:xfrm>
            <a:off x="868680" y="1417320"/>
            <a:ext cx="4846320" cy="214884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None/>
            </a:pPr>
            <a:r>
              <a:rPr lang="en-US" sz="1450">
                <a:solidFill>
                  <a:srgbClr val="F2F2F2"/>
                </a:solidFill>
                <a:latin typeface="Arial"/>
                <a:ea typeface="Arial"/>
                <a:cs typeface="Arial"/>
                <a:sym typeface="Arial"/>
              </a:rPr>
              <a:t>Chemicals / biological materials</a:t>
            </a:r>
            <a:endParaRPr sz="1450">
              <a:solidFill>
                <a:schemeClr val="dk1"/>
              </a:solidFill>
              <a:latin typeface="Arial"/>
              <a:ea typeface="Arial"/>
              <a:cs typeface="Arial"/>
              <a:sym typeface="Arial"/>
            </a:endParaRPr>
          </a:p>
          <a:p>
            <a:pPr indent="0" lvl="0" marL="0" marR="0" rtl="0" algn="l">
              <a:spcBef>
                <a:spcPts val="0"/>
              </a:spcBef>
              <a:spcAft>
                <a:spcPts val="0"/>
              </a:spcAft>
              <a:buNone/>
            </a:pPr>
            <a:r>
              <a:rPr lang="en-US" sz="1450">
                <a:solidFill>
                  <a:srgbClr val="F2F2F2"/>
                </a:solidFill>
                <a:latin typeface="Arial"/>
                <a:ea typeface="Arial"/>
                <a:cs typeface="Arial"/>
                <a:sym typeface="Arial"/>
              </a:rPr>
              <a:t>Heat / electricity / pressure</a:t>
            </a:r>
            <a:endParaRPr sz="1450">
              <a:solidFill>
                <a:schemeClr val="dk1"/>
              </a:solidFill>
              <a:latin typeface="Arial"/>
              <a:ea typeface="Arial"/>
              <a:cs typeface="Arial"/>
              <a:sym typeface="Arial"/>
            </a:endParaRPr>
          </a:p>
          <a:p>
            <a:pPr indent="0" lvl="0" marL="0" marR="0" rtl="0" algn="l">
              <a:spcBef>
                <a:spcPts val="0"/>
              </a:spcBef>
              <a:spcAft>
                <a:spcPts val="0"/>
              </a:spcAft>
              <a:buNone/>
            </a:pPr>
            <a:r>
              <a:rPr lang="en-US" sz="1450">
                <a:solidFill>
                  <a:srgbClr val="F2F2F2"/>
                </a:solidFill>
                <a:latin typeface="Arial"/>
                <a:ea typeface="Arial"/>
                <a:cs typeface="Arial"/>
                <a:sym typeface="Arial"/>
              </a:rPr>
              <a:t>Tools / fabrication / moving parts</a:t>
            </a:r>
            <a:endParaRPr sz="1450">
              <a:solidFill>
                <a:schemeClr val="dk1"/>
              </a:solidFill>
              <a:latin typeface="Arial"/>
              <a:ea typeface="Arial"/>
              <a:cs typeface="Arial"/>
              <a:sym typeface="Arial"/>
            </a:endParaRPr>
          </a:p>
          <a:p>
            <a:pPr indent="0" lvl="0" marL="0" marR="0" rtl="0" algn="l">
              <a:spcBef>
                <a:spcPts val="0"/>
              </a:spcBef>
              <a:spcAft>
                <a:spcPts val="0"/>
              </a:spcAft>
              <a:buNone/>
            </a:pPr>
            <a:r>
              <a:rPr lang="en-US" sz="1450">
                <a:solidFill>
                  <a:srgbClr val="F2F2F2"/>
                </a:solidFill>
                <a:latin typeface="Arial"/>
                <a:ea typeface="Arial"/>
                <a:cs typeface="Arial"/>
                <a:sym typeface="Arial"/>
              </a:rPr>
              <a:t>Human participants / private data</a:t>
            </a:r>
            <a:endParaRPr sz="1450">
              <a:solidFill>
                <a:schemeClr val="dk1"/>
              </a:solidFill>
              <a:latin typeface="Arial"/>
              <a:ea typeface="Arial"/>
              <a:cs typeface="Arial"/>
              <a:sym typeface="Arial"/>
            </a:endParaRPr>
          </a:p>
          <a:p>
            <a:pPr indent="0" lvl="0" marL="0" marR="0" rtl="0" algn="l">
              <a:spcBef>
                <a:spcPts val="0"/>
              </a:spcBef>
              <a:spcAft>
                <a:spcPts val="0"/>
              </a:spcAft>
              <a:buNone/>
            </a:pPr>
            <a:r>
              <a:rPr lang="en-US" sz="1450">
                <a:solidFill>
                  <a:srgbClr val="F2F2F2"/>
                </a:solidFill>
                <a:latin typeface="Arial"/>
                <a:ea typeface="Arial"/>
                <a:cs typeface="Arial"/>
                <a:sym typeface="Arial"/>
              </a:rPr>
              <a:t>Environmental sampling / disposal</a:t>
            </a:r>
            <a:endParaRPr sz="1450">
              <a:solidFill>
                <a:schemeClr val="dk1"/>
              </a:solidFill>
              <a:latin typeface="Arial"/>
              <a:ea typeface="Arial"/>
              <a:cs typeface="Arial"/>
              <a:sym typeface="Arial"/>
            </a:endParaRPr>
          </a:p>
        </p:txBody>
      </p:sp>
      <p:sp>
        <p:nvSpPr>
          <p:cNvPr id="394" name="Google Shape;394;p15"/>
          <p:cNvSpPr/>
          <p:nvPr/>
        </p:nvSpPr>
        <p:spPr>
          <a:xfrm>
            <a:off x="5989320" y="1371600"/>
            <a:ext cx="5212080" cy="12344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5"/>
          <p:cNvSpPr/>
          <p:nvPr/>
        </p:nvSpPr>
        <p:spPr>
          <a:xfrm>
            <a:off x="5989320" y="1371600"/>
            <a:ext cx="54864" cy="12344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5"/>
          <p:cNvSpPr/>
          <p:nvPr/>
        </p:nvSpPr>
        <p:spPr>
          <a:xfrm>
            <a:off x="6153912" y="1517904"/>
            <a:ext cx="48920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RISK = SEVERITY × LIKELIHOOD</a:t>
            </a:r>
            <a:endParaRPr sz="1200">
              <a:solidFill>
                <a:schemeClr val="dk1"/>
              </a:solidFill>
              <a:latin typeface="Arial"/>
              <a:ea typeface="Arial"/>
              <a:cs typeface="Arial"/>
              <a:sym typeface="Arial"/>
            </a:endParaRPr>
          </a:p>
        </p:txBody>
      </p:sp>
      <p:sp>
        <p:nvSpPr>
          <p:cNvPr id="397" name="Google Shape;397;p15"/>
          <p:cNvSpPr/>
          <p:nvPr/>
        </p:nvSpPr>
        <p:spPr>
          <a:xfrm>
            <a:off x="6153912" y="1810512"/>
            <a:ext cx="4892040" cy="7315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50"/>
              <a:buFont typeface="Arial"/>
              <a:buNone/>
            </a:pPr>
            <a:r>
              <a:rPr lang="en-US" sz="1250">
                <a:solidFill>
                  <a:srgbClr val="F2F2F2"/>
                </a:solidFill>
                <a:latin typeface="Arial"/>
                <a:ea typeface="Arial"/>
                <a:cs typeface="Arial"/>
                <a:sym typeface="Arial"/>
              </a:rPr>
              <a:t>How bad could the harm be? How likely is it to happen without controls?</a:t>
            </a:r>
            <a:endParaRPr sz="1250">
              <a:solidFill>
                <a:schemeClr val="dk1"/>
              </a:solidFill>
              <a:latin typeface="Arial"/>
              <a:ea typeface="Arial"/>
              <a:cs typeface="Arial"/>
              <a:sym typeface="Arial"/>
            </a:endParaRPr>
          </a:p>
        </p:txBody>
      </p:sp>
      <p:sp>
        <p:nvSpPr>
          <p:cNvPr id="398" name="Google Shape;398;p15"/>
          <p:cNvSpPr/>
          <p:nvPr/>
        </p:nvSpPr>
        <p:spPr>
          <a:xfrm>
            <a:off x="5989320" y="2880360"/>
            <a:ext cx="5212080" cy="12344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5"/>
          <p:cNvSpPr/>
          <p:nvPr/>
        </p:nvSpPr>
        <p:spPr>
          <a:xfrm>
            <a:off x="5989320" y="2880360"/>
            <a:ext cx="54864" cy="12344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5"/>
          <p:cNvSpPr/>
          <p:nvPr/>
        </p:nvSpPr>
        <p:spPr>
          <a:xfrm>
            <a:off x="6153912" y="3026664"/>
            <a:ext cx="48920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RISK CONTROLS</a:t>
            </a:r>
            <a:endParaRPr sz="1200">
              <a:solidFill>
                <a:schemeClr val="dk1"/>
              </a:solidFill>
              <a:latin typeface="Arial"/>
              <a:ea typeface="Arial"/>
              <a:cs typeface="Arial"/>
              <a:sym typeface="Arial"/>
            </a:endParaRPr>
          </a:p>
        </p:txBody>
      </p:sp>
      <p:sp>
        <p:nvSpPr>
          <p:cNvPr id="401" name="Google Shape;401;p15"/>
          <p:cNvSpPr/>
          <p:nvPr/>
        </p:nvSpPr>
        <p:spPr>
          <a:xfrm>
            <a:off x="6153912" y="3319272"/>
            <a:ext cx="4892040" cy="7315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80"/>
              <a:buFont typeface="Arial"/>
              <a:buNone/>
            </a:pPr>
            <a:r>
              <a:rPr lang="en-US" sz="1180">
                <a:solidFill>
                  <a:srgbClr val="F2F2F2"/>
                </a:solidFill>
                <a:latin typeface="Arial"/>
                <a:ea typeface="Arial"/>
                <a:cs typeface="Arial"/>
                <a:sym typeface="Arial"/>
              </a:rPr>
              <a:t>Substitute safer materials, reduce scale, add PPE, require supervision, change location, or revise the method.</a:t>
            </a:r>
            <a:endParaRPr sz="1180">
              <a:solidFill>
                <a:schemeClr val="dk1"/>
              </a:solidFill>
              <a:latin typeface="Arial"/>
              <a:ea typeface="Arial"/>
              <a:cs typeface="Arial"/>
              <a:sym typeface="Arial"/>
            </a:endParaRPr>
          </a:p>
        </p:txBody>
      </p:sp>
      <p:sp>
        <p:nvSpPr>
          <p:cNvPr id="402" name="Google Shape;402;p15"/>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5"/>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5"/>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405" name="Google Shape;405;p15"/>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Risk scan.</a:t>
            </a:r>
            <a:endParaRPr sz="1250">
              <a:solidFill>
                <a:schemeClr val="dk1"/>
              </a:solidFill>
              <a:latin typeface="Arial"/>
              <a:ea typeface="Arial"/>
              <a:cs typeface="Arial"/>
              <a:sym typeface="Arial"/>
            </a:endParaRPr>
          </a:p>
        </p:txBody>
      </p:sp>
      <p:sp>
        <p:nvSpPr>
          <p:cNvPr id="406" name="Google Shape;406;p15"/>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Mark every risk category that touches your project. Write one precaution for the highest-risk category.</a:t>
            </a:r>
            <a:endParaRPr sz="1100">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411" name="Shape 411"/>
        <p:cNvGrpSpPr/>
        <p:nvPr/>
      </p:nvGrpSpPr>
      <p:grpSpPr>
        <a:xfrm>
          <a:off x="0" y="0"/>
          <a:ext cx="0" cy="0"/>
          <a:chOff x="0" y="0"/>
          <a:chExt cx="0" cy="0"/>
        </a:xfrm>
      </p:grpSpPr>
      <p:sp>
        <p:nvSpPr>
          <p:cNvPr id="412" name="Google Shape;412;p16"/>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6"/>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6"/>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6"/>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SECTION 10</a:t>
            </a:r>
            <a:endParaRPr sz="900">
              <a:solidFill>
                <a:schemeClr val="dk1"/>
              </a:solidFill>
              <a:latin typeface="Arial"/>
              <a:ea typeface="Arial"/>
              <a:cs typeface="Arial"/>
              <a:sym typeface="Arial"/>
            </a:endParaRPr>
          </a:p>
        </p:txBody>
      </p:sp>
      <p:sp>
        <p:nvSpPr>
          <p:cNvPr id="416" name="Google Shape;416;p16"/>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417" name="Google Shape;417;p16"/>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SECTION 10: ETHICS AND APPROVAL SCREENING</a:t>
            </a:r>
            <a:endParaRPr sz="3000">
              <a:solidFill>
                <a:schemeClr val="dk1"/>
              </a:solidFill>
              <a:latin typeface="Arial"/>
              <a:ea typeface="Arial"/>
              <a:cs typeface="Arial"/>
              <a:sym typeface="Arial"/>
            </a:endParaRPr>
          </a:p>
        </p:txBody>
      </p:sp>
      <p:cxnSp>
        <p:nvCxnSpPr>
          <p:cNvPr id="418" name="Google Shape;418;p16"/>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419" name="Google Shape;419;p16"/>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Some projects require permission before curiosity can become testing.</a:t>
            </a:r>
            <a:endParaRPr sz="1050">
              <a:solidFill>
                <a:schemeClr val="dk1"/>
              </a:solidFill>
              <a:latin typeface="Arial"/>
              <a:ea typeface="Arial"/>
              <a:cs typeface="Arial"/>
              <a:sym typeface="Arial"/>
            </a:endParaRPr>
          </a:p>
        </p:txBody>
      </p:sp>
      <p:sp>
        <p:nvSpPr>
          <p:cNvPr id="420" name="Google Shape;420;p16"/>
          <p:cNvSpPr/>
          <p:nvPr/>
        </p:nvSpPr>
        <p:spPr>
          <a:xfrm>
            <a:off x="822960" y="1371600"/>
            <a:ext cx="5074920" cy="914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6"/>
          <p:cNvSpPr/>
          <p:nvPr/>
        </p:nvSpPr>
        <p:spPr>
          <a:xfrm>
            <a:off x="822960" y="1371600"/>
            <a:ext cx="54864" cy="914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6"/>
          <p:cNvSpPr/>
          <p:nvPr/>
        </p:nvSpPr>
        <p:spPr>
          <a:xfrm>
            <a:off x="987552" y="151790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PEOPLE</a:t>
            </a:r>
            <a:endParaRPr sz="1200">
              <a:solidFill>
                <a:schemeClr val="dk1"/>
              </a:solidFill>
              <a:latin typeface="Arial"/>
              <a:ea typeface="Arial"/>
              <a:cs typeface="Arial"/>
              <a:sym typeface="Arial"/>
            </a:endParaRPr>
          </a:p>
        </p:txBody>
      </p:sp>
      <p:sp>
        <p:nvSpPr>
          <p:cNvPr id="423" name="Google Shape;423;p16"/>
          <p:cNvSpPr/>
          <p:nvPr/>
        </p:nvSpPr>
        <p:spPr>
          <a:xfrm>
            <a:off x="987552" y="1810512"/>
            <a:ext cx="4754880" cy="411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Surveys, interviews, behavior, performance, health, private information.</a:t>
            </a:r>
            <a:endParaRPr sz="1150">
              <a:solidFill>
                <a:schemeClr val="dk1"/>
              </a:solidFill>
              <a:latin typeface="Arial"/>
              <a:ea typeface="Arial"/>
              <a:cs typeface="Arial"/>
              <a:sym typeface="Arial"/>
            </a:endParaRPr>
          </a:p>
        </p:txBody>
      </p:sp>
      <p:sp>
        <p:nvSpPr>
          <p:cNvPr id="424" name="Google Shape;424;p16"/>
          <p:cNvSpPr/>
          <p:nvPr/>
        </p:nvSpPr>
        <p:spPr>
          <a:xfrm>
            <a:off x="6263640" y="1371600"/>
            <a:ext cx="5074920" cy="914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6"/>
          <p:cNvSpPr/>
          <p:nvPr/>
        </p:nvSpPr>
        <p:spPr>
          <a:xfrm>
            <a:off x="6263640" y="1371600"/>
            <a:ext cx="54864" cy="914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6"/>
          <p:cNvSpPr/>
          <p:nvPr/>
        </p:nvSpPr>
        <p:spPr>
          <a:xfrm>
            <a:off x="6428232" y="151790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ANIMALS</a:t>
            </a:r>
            <a:endParaRPr sz="1200">
              <a:solidFill>
                <a:schemeClr val="dk1"/>
              </a:solidFill>
              <a:latin typeface="Arial"/>
              <a:ea typeface="Arial"/>
              <a:cs typeface="Arial"/>
              <a:sym typeface="Arial"/>
            </a:endParaRPr>
          </a:p>
        </p:txBody>
      </p:sp>
      <p:sp>
        <p:nvSpPr>
          <p:cNvPr id="427" name="Google Shape;427;p16"/>
          <p:cNvSpPr/>
          <p:nvPr/>
        </p:nvSpPr>
        <p:spPr>
          <a:xfrm>
            <a:off x="6428232" y="1810512"/>
            <a:ext cx="4754880" cy="411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Vertebrates, behavior, habitats, welfare, disturbance.</a:t>
            </a:r>
            <a:endParaRPr sz="1150">
              <a:solidFill>
                <a:schemeClr val="dk1"/>
              </a:solidFill>
              <a:latin typeface="Arial"/>
              <a:ea typeface="Arial"/>
              <a:cs typeface="Arial"/>
              <a:sym typeface="Arial"/>
            </a:endParaRPr>
          </a:p>
        </p:txBody>
      </p:sp>
      <p:sp>
        <p:nvSpPr>
          <p:cNvPr id="428" name="Google Shape;428;p16"/>
          <p:cNvSpPr/>
          <p:nvPr/>
        </p:nvSpPr>
        <p:spPr>
          <a:xfrm>
            <a:off x="822960" y="2578608"/>
            <a:ext cx="5074920" cy="914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6"/>
          <p:cNvSpPr/>
          <p:nvPr/>
        </p:nvSpPr>
        <p:spPr>
          <a:xfrm>
            <a:off x="822960" y="2578608"/>
            <a:ext cx="54864" cy="914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6"/>
          <p:cNvSpPr/>
          <p:nvPr/>
        </p:nvSpPr>
        <p:spPr>
          <a:xfrm>
            <a:off x="987552" y="2724912"/>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BIO / ENVIRONMENT</a:t>
            </a:r>
            <a:endParaRPr sz="1200">
              <a:solidFill>
                <a:schemeClr val="dk1"/>
              </a:solidFill>
              <a:latin typeface="Arial"/>
              <a:ea typeface="Arial"/>
              <a:cs typeface="Arial"/>
              <a:sym typeface="Arial"/>
            </a:endParaRPr>
          </a:p>
        </p:txBody>
      </p:sp>
      <p:sp>
        <p:nvSpPr>
          <p:cNvPr id="431" name="Google Shape;431;p16"/>
          <p:cNvSpPr/>
          <p:nvPr/>
        </p:nvSpPr>
        <p:spPr>
          <a:xfrm>
            <a:off x="987552" y="3017520"/>
            <a:ext cx="4754880" cy="411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Culturing, microbes, soil/water samples, waste, fieldwork.</a:t>
            </a:r>
            <a:endParaRPr sz="1150">
              <a:solidFill>
                <a:schemeClr val="dk1"/>
              </a:solidFill>
              <a:latin typeface="Arial"/>
              <a:ea typeface="Arial"/>
              <a:cs typeface="Arial"/>
              <a:sym typeface="Arial"/>
            </a:endParaRPr>
          </a:p>
        </p:txBody>
      </p:sp>
      <p:sp>
        <p:nvSpPr>
          <p:cNvPr id="432" name="Google Shape;432;p16"/>
          <p:cNvSpPr/>
          <p:nvPr/>
        </p:nvSpPr>
        <p:spPr>
          <a:xfrm>
            <a:off x="6263640" y="2578608"/>
            <a:ext cx="5074920" cy="914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6"/>
          <p:cNvSpPr/>
          <p:nvPr/>
        </p:nvSpPr>
        <p:spPr>
          <a:xfrm>
            <a:off x="6263640" y="2578608"/>
            <a:ext cx="54864" cy="914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6"/>
          <p:cNvSpPr/>
          <p:nvPr/>
        </p:nvSpPr>
        <p:spPr>
          <a:xfrm>
            <a:off x="6428232" y="2724912"/>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DATA / CREDIT</a:t>
            </a:r>
            <a:endParaRPr sz="1200">
              <a:solidFill>
                <a:schemeClr val="dk1"/>
              </a:solidFill>
              <a:latin typeface="Arial"/>
              <a:ea typeface="Arial"/>
              <a:cs typeface="Arial"/>
              <a:sym typeface="Arial"/>
            </a:endParaRPr>
          </a:p>
        </p:txBody>
      </p:sp>
      <p:sp>
        <p:nvSpPr>
          <p:cNvPr id="435" name="Google Shape;435;p16"/>
          <p:cNvSpPr/>
          <p:nvPr/>
        </p:nvSpPr>
        <p:spPr>
          <a:xfrm>
            <a:off x="6428232" y="3017520"/>
            <a:ext cx="4754880" cy="411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Privacy, code, images, sources, mentor contributions.</a:t>
            </a:r>
            <a:endParaRPr sz="1150">
              <a:solidFill>
                <a:schemeClr val="dk1"/>
              </a:solidFill>
              <a:latin typeface="Arial"/>
              <a:ea typeface="Arial"/>
              <a:cs typeface="Arial"/>
              <a:sym typeface="Arial"/>
            </a:endParaRPr>
          </a:p>
        </p:txBody>
      </p:sp>
      <p:sp>
        <p:nvSpPr>
          <p:cNvPr id="436" name="Google Shape;436;p16"/>
          <p:cNvSpPr/>
          <p:nvPr/>
        </p:nvSpPr>
        <p:spPr>
          <a:xfrm>
            <a:off x="960120" y="3977640"/>
            <a:ext cx="1024128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1800"/>
              <a:buFont typeface="Play"/>
              <a:buNone/>
            </a:pPr>
            <a:r>
              <a:rPr b="1" lang="en-US" sz="1800">
                <a:solidFill>
                  <a:srgbClr val="F2F2F2"/>
                </a:solidFill>
                <a:latin typeface="Play"/>
                <a:ea typeface="Play"/>
                <a:cs typeface="Play"/>
                <a:sym typeface="Play"/>
              </a:rPr>
              <a:t>Ethics question: Who or what could be affected by this project?</a:t>
            </a:r>
            <a:endParaRPr sz="1800">
              <a:solidFill>
                <a:schemeClr val="dk1"/>
              </a:solidFill>
              <a:latin typeface="Arial"/>
              <a:ea typeface="Arial"/>
              <a:cs typeface="Arial"/>
              <a:sym typeface="Arial"/>
            </a:endParaRPr>
          </a:p>
        </p:txBody>
      </p:sp>
      <p:sp>
        <p:nvSpPr>
          <p:cNvPr id="437" name="Google Shape;437;p16"/>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6"/>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6"/>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440" name="Google Shape;440;p16"/>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Approval forecast.</a:t>
            </a:r>
            <a:endParaRPr sz="1250">
              <a:solidFill>
                <a:schemeClr val="dk1"/>
              </a:solidFill>
              <a:latin typeface="Arial"/>
              <a:ea typeface="Arial"/>
              <a:cs typeface="Arial"/>
              <a:sym typeface="Arial"/>
            </a:endParaRPr>
          </a:p>
        </p:txBody>
      </p:sp>
      <p:sp>
        <p:nvSpPr>
          <p:cNvPr id="441" name="Google Shape;441;p16"/>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Write whether your project likely needs normal teacher approval, special review, mentor review, or a major revision.</a:t>
            </a:r>
            <a:endParaRPr sz="1100">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446" name="Shape 446"/>
        <p:cNvGrpSpPr/>
        <p:nvPr/>
      </p:nvGrpSpPr>
      <p:grpSpPr>
        <a:xfrm>
          <a:off x="0" y="0"/>
          <a:ext cx="0" cy="0"/>
          <a:chOff x="0" y="0"/>
          <a:chExt cx="0" cy="0"/>
        </a:xfrm>
      </p:grpSpPr>
      <p:sp>
        <p:nvSpPr>
          <p:cNvPr id="447" name="Google Shape;447;p17"/>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7"/>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7"/>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7"/>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SECTION 11</a:t>
            </a:r>
            <a:endParaRPr sz="900">
              <a:solidFill>
                <a:schemeClr val="dk1"/>
              </a:solidFill>
              <a:latin typeface="Arial"/>
              <a:ea typeface="Arial"/>
              <a:cs typeface="Arial"/>
              <a:sym typeface="Arial"/>
            </a:endParaRPr>
          </a:p>
        </p:txBody>
      </p:sp>
      <p:sp>
        <p:nvSpPr>
          <p:cNvPr id="451" name="Google Shape;451;p17"/>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452" name="Google Shape;452;p17"/>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SECTION 11: PROJECT TIMELINE</a:t>
            </a:r>
            <a:endParaRPr sz="3000">
              <a:solidFill>
                <a:schemeClr val="dk1"/>
              </a:solidFill>
              <a:latin typeface="Arial"/>
              <a:ea typeface="Arial"/>
              <a:cs typeface="Arial"/>
              <a:sym typeface="Arial"/>
            </a:endParaRPr>
          </a:p>
        </p:txBody>
      </p:sp>
      <p:cxnSp>
        <p:nvCxnSpPr>
          <p:cNvPr id="453" name="Google Shape;453;p17"/>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454" name="Google Shape;454;p17"/>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A timeline is a research tool, not a wish list.</a:t>
            </a:r>
            <a:endParaRPr sz="1050">
              <a:solidFill>
                <a:schemeClr val="dk1"/>
              </a:solidFill>
              <a:latin typeface="Arial"/>
              <a:ea typeface="Arial"/>
              <a:cs typeface="Arial"/>
              <a:sym typeface="Arial"/>
            </a:endParaRPr>
          </a:p>
        </p:txBody>
      </p:sp>
      <p:sp>
        <p:nvSpPr>
          <p:cNvPr id="455" name="Google Shape;455;p17"/>
          <p:cNvSpPr/>
          <p:nvPr/>
        </p:nvSpPr>
        <p:spPr>
          <a:xfrm>
            <a:off x="50292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7"/>
          <p:cNvSpPr/>
          <p:nvPr/>
        </p:nvSpPr>
        <p:spPr>
          <a:xfrm>
            <a:off x="54864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Approval</a:t>
            </a:r>
            <a:endParaRPr sz="900">
              <a:solidFill>
                <a:schemeClr val="dk1"/>
              </a:solidFill>
              <a:latin typeface="Arial"/>
              <a:ea typeface="Arial"/>
              <a:cs typeface="Arial"/>
              <a:sym typeface="Arial"/>
            </a:endParaRPr>
          </a:p>
        </p:txBody>
      </p:sp>
      <p:cxnSp>
        <p:nvCxnSpPr>
          <p:cNvPr id="457" name="Google Shape;457;p17"/>
          <p:cNvCxnSpPr/>
          <p:nvPr/>
        </p:nvCxnSpPr>
        <p:spPr>
          <a:xfrm>
            <a:off x="173736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58" name="Google Shape;458;p17"/>
          <p:cNvSpPr/>
          <p:nvPr/>
        </p:nvSpPr>
        <p:spPr>
          <a:xfrm>
            <a:off x="192024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7"/>
          <p:cNvSpPr/>
          <p:nvPr/>
        </p:nvSpPr>
        <p:spPr>
          <a:xfrm>
            <a:off x="196596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Materials</a:t>
            </a:r>
            <a:endParaRPr sz="900">
              <a:solidFill>
                <a:schemeClr val="dk1"/>
              </a:solidFill>
              <a:latin typeface="Arial"/>
              <a:ea typeface="Arial"/>
              <a:cs typeface="Arial"/>
              <a:sym typeface="Arial"/>
            </a:endParaRPr>
          </a:p>
        </p:txBody>
      </p:sp>
      <p:cxnSp>
        <p:nvCxnSpPr>
          <p:cNvPr id="460" name="Google Shape;460;p17"/>
          <p:cNvCxnSpPr/>
          <p:nvPr/>
        </p:nvCxnSpPr>
        <p:spPr>
          <a:xfrm>
            <a:off x="315468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61" name="Google Shape;461;p17"/>
          <p:cNvSpPr/>
          <p:nvPr/>
        </p:nvSpPr>
        <p:spPr>
          <a:xfrm>
            <a:off x="333756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7"/>
          <p:cNvSpPr/>
          <p:nvPr/>
        </p:nvSpPr>
        <p:spPr>
          <a:xfrm>
            <a:off x="338328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Pilot test</a:t>
            </a:r>
            <a:endParaRPr sz="900">
              <a:solidFill>
                <a:schemeClr val="dk1"/>
              </a:solidFill>
              <a:latin typeface="Arial"/>
              <a:ea typeface="Arial"/>
              <a:cs typeface="Arial"/>
              <a:sym typeface="Arial"/>
            </a:endParaRPr>
          </a:p>
        </p:txBody>
      </p:sp>
      <p:cxnSp>
        <p:nvCxnSpPr>
          <p:cNvPr id="463" name="Google Shape;463;p17"/>
          <p:cNvCxnSpPr/>
          <p:nvPr/>
        </p:nvCxnSpPr>
        <p:spPr>
          <a:xfrm>
            <a:off x="457200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64" name="Google Shape;464;p17"/>
          <p:cNvSpPr/>
          <p:nvPr/>
        </p:nvSpPr>
        <p:spPr>
          <a:xfrm>
            <a:off x="475488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7"/>
          <p:cNvSpPr/>
          <p:nvPr/>
        </p:nvSpPr>
        <p:spPr>
          <a:xfrm>
            <a:off x="480060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Revise method</a:t>
            </a:r>
            <a:endParaRPr sz="900">
              <a:solidFill>
                <a:schemeClr val="dk1"/>
              </a:solidFill>
              <a:latin typeface="Arial"/>
              <a:ea typeface="Arial"/>
              <a:cs typeface="Arial"/>
              <a:sym typeface="Arial"/>
            </a:endParaRPr>
          </a:p>
        </p:txBody>
      </p:sp>
      <p:cxnSp>
        <p:nvCxnSpPr>
          <p:cNvPr id="466" name="Google Shape;466;p17"/>
          <p:cNvCxnSpPr/>
          <p:nvPr/>
        </p:nvCxnSpPr>
        <p:spPr>
          <a:xfrm>
            <a:off x="598932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67" name="Google Shape;467;p17"/>
          <p:cNvSpPr/>
          <p:nvPr/>
        </p:nvSpPr>
        <p:spPr>
          <a:xfrm>
            <a:off x="617220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7"/>
          <p:cNvSpPr/>
          <p:nvPr/>
        </p:nvSpPr>
        <p:spPr>
          <a:xfrm>
            <a:off x="621792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Collect data</a:t>
            </a:r>
            <a:endParaRPr sz="900">
              <a:solidFill>
                <a:schemeClr val="dk1"/>
              </a:solidFill>
              <a:latin typeface="Arial"/>
              <a:ea typeface="Arial"/>
              <a:cs typeface="Arial"/>
              <a:sym typeface="Arial"/>
            </a:endParaRPr>
          </a:p>
        </p:txBody>
      </p:sp>
      <p:cxnSp>
        <p:nvCxnSpPr>
          <p:cNvPr id="469" name="Google Shape;469;p17"/>
          <p:cNvCxnSpPr/>
          <p:nvPr/>
        </p:nvCxnSpPr>
        <p:spPr>
          <a:xfrm>
            <a:off x="740664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70" name="Google Shape;470;p17"/>
          <p:cNvSpPr/>
          <p:nvPr/>
        </p:nvSpPr>
        <p:spPr>
          <a:xfrm>
            <a:off x="758952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7"/>
          <p:cNvSpPr/>
          <p:nvPr/>
        </p:nvSpPr>
        <p:spPr>
          <a:xfrm>
            <a:off x="763524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Analyze</a:t>
            </a:r>
            <a:endParaRPr sz="900">
              <a:solidFill>
                <a:schemeClr val="dk1"/>
              </a:solidFill>
              <a:latin typeface="Arial"/>
              <a:ea typeface="Arial"/>
              <a:cs typeface="Arial"/>
              <a:sym typeface="Arial"/>
            </a:endParaRPr>
          </a:p>
        </p:txBody>
      </p:sp>
      <p:cxnSp>
        <p:nvCxnSpPr>
          <p:cNvPr id="472" name="Google Shape;472;p17"/>
          <p:cNvCxnSpPr/>
          <p:nvPr/>
        </p:nvCxnSpPr>
        <p:spPr>
          <a:xfrm>
            <a:off x="882396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73" name="Google Shape;473;p17"/>
          <p:cNvSpPr/>
          <p:nvPr/>
        </p:nvSpPr>
        <p:spPr>
          <a:xfrm>
            <a:off x="900684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7"/>
          <p:cNvSpPr/>
          <p:nvPr/>
        </p:nvSpPr>
        <p:spPr>
          <a:xfrm>
            <a:off x="905256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Report</a:t>
            </a:r>
            <a:endParaRPr sz="900">
              <a:solidFill>
                <a:schemeClr val="dk1"/>
              </a:solidFill>
              <a:latin typeface="Arial"/>
              <a:ea typeface="Arial"/>
              <a:cs typeface="Arial"/>
              <a:sym typeface="Arial"/>
            </a:endParaRPr>
          </a:p>
        </p:txBody>
      </p:sp>
      <p:cxnSp>
        <p:nvCxnSpPr>
          <p:cNvPr id="475" name="Google Shape;475;p17"/>
          <p:cNvCxnSpPr/>
          <p:nvPr/>
        </p:nvCxnSpPr>
        <p:spPr>
          <a:xfrm>
            <a:off x="10241280" y="1943100"/>
            <a:ext cx="182880" cy="0"/>
          </a:xfrm>
          <a:prstGeom prst="straightConnector1">
            <a:avLst/>
          </a:prstGeom>
          <a:noFill/>
          <a:ln cap="flat" cmpd="sng" w="15225">
            <a:solidFill>
              <a:srgbClr val="E22B27"/>
            </a:solidFill>
            <a:prstDash val="solid"/>
            <a:round/>
            <a:headEnd len="sm" w="sm" type="none"/>
            <a:tailEnd len="med" w="med" type="triangle"/>
          </a:ln>
        </p:spPr>
      </p:cxnSp>
      <p:sp>
        <p:nvSpPr>
          <p:cNvPr id="476" name="Google Shape;476;p17"/>
          <p:cNvSpPr/>
          <p:nvPr/>
        </p:nvSpPr>
        <p:spPr>
          <a:xfrm>
            <a:off x="10424160" y="1691640"/>
            <a:ext cx="1234440" cy="5029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7"/>
          <p:cNvSpPr/>
          <p:nvPr/>
        </p:nvSpPr>
        <p:spPr>
          <a:xfrm>
            <a:off x="10469880" y="1847088"/>
            <a:ext cx="1143000" cy="1097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900"/>
              <a:buFont typeface="Arial"/>
              <a:buNone/>
            </a:pPr>
            <a:r>
              <a:rPr b="1" lang="en-US" sz="900">
                <a:solidFill>
                  <a:srgbClr val="F2F2F2"/>
                </a:solidFill>
                <a:latin typeface="Arial"/>
                <a:ea typeface="Arial"/>
                <a:cs typeface="Arial"/>
                <a:sym typeface="Arial"/>
              </a:rPr>
              <a:t>Present</a:t>
            </a:r>
            <a:endParaRPr sz="900">
              <a:solidFill>
                <a:schemeClr val="dk1"/>
              </a:solidFill>
              <a:latin typeface="Arial"/>
              <a:ea typeface="Arial"/>
              <a:cs typeface="Arial"/>
              <a:sym typeface="Arial"/>
            </a:endParaRPr>
          </a:p>
        </p:txBody>
      </p:sp>
      <p:sp>
        <p:nvSpPr>
          <p:cNvPr id="478" name="Google Shape;478;p17"/>
          <p:cNvSpPr/>
          <p:nvPr/>
        </p:nvSpPr>
        <p:spPr>
          <a:xfrm>
            <a:off x="960120" y="2926080"/>
            <a:ext cx="10287000" cy="109728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960120" y="2926080"/>
            <a:ext cx="54864" cy="109728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7"/>
          <p:cNvSpPr/>
          <p:nvPr/>
        </p:nvSpPr>
        <p:spPr>
          <a:xfrm>
            <a:off x="1124712" y="3072384"/>
            <a:ext cx="99669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BUILD IN DECISION POINTS:</a:t>
            </a:r>
            <a:endParaRPr sz="1200">
              <a:solidFill>
                <a:schemeClr val="dk1"/>
              </a:solidFill>
              <a:latin typeface="Arial"/>
              <a:ea typeface="Arial"/>
              <a:cs typeface="Arial"/>
              <a:sym typeface="Arial"/>
            </a:endParaRPr>
          </a:p>
        </p:txBody>
      </p:sp>
      <p:sp>
        <p:nvSpPr>
          <p:cNvPr id="481" name="Google Shape;481;p17"/>
          <p:cNvSpPr/>
          <p:nvPr/>
        </p:nvSpPr>
        <p:spPr>
          <a:xfrm>
            <a:off x="1124712" y="3364992"/>
            <a:ext cx="9966960" cy="59436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50"/>
              <a:buFont typeface="Arial"/>
              <a:buNone/>
            </a:pPr>
            <a:r>
              <a:rPr lang="en-US" sz="1350">
                <a:solidFill>
                  <a:srgbClr val="F2F2F2"/>
                </a:solidFill>
                <a:latin typeface="Arial"/>
                <a:ea typeface="Arial"/>
                <a:cs typeface="Arial"/>
                <a:sym typeface="Arial"/>
              </a:rPr>
              <a:t>When will you know the project needs a smaller scope, another pilot test, a mentor consult, or a backup method?</a:t>
            </a:r>
            <a:endParaRPr sz="1350">
              <a:solidFill>
                <a:schemeClr val="dk1"/>
              </a:solidFill>
              <a:latin typeface="Arial"/>
              <a:ea typeface="Arial"/>
              <a:cs typeface="Arial"/>
              <a:sym typeface="Arial"/>
            </a:endParaRPr>
          </a:p>
        </p:txBody>
      </p:sp>
      <p:sp>
        <p:nvSpPr>
          <p:cNvPr id="482" name="Google Shape;482;p17"/>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7"/>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485" name="Google Shape;485;p17"/>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Timeline pressure test.</a:t>
            </a:r>
            <a:endParaRPr sz="1250">
              <a:solidFill>
                <a:schemeClr val="dk1"/>
              </a:solidFill>
              <a:latin typeface="Arial"/>
              <a:ea typeface="Arial"/>
              <a:cs typeface="Arial"/>
              <a:sym typeface="Arial"/>
            </a:endParaRPr>
          </a:p>
        </p:txBody>
      </p:sp>
      <p:sp>
        <p:nvSpPr>
          <p:cNvPr id="486" name="Google Shape;486;p17"/>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Name the one task most likely to fall behind and the first backup move you would make.</a:t>
            </a:r>
            <a:endParaRPr sz="1100">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491" name="Shape 491"/>
        <p:cNvGrpSpPr/>
        <p:nvPr/>
      </p:nvGrpSpPr>
      <p:grpSpPr>
        <a:xfrm>
          <a:off x="0" y="0"/>
          <a:ext cx="0" cy="0"/>
          <a:chOff x="0" y="0"/>
          <a:chExt cx="0" cy="0"/>
        </a:xfrm>
      </p:grpSpPr>
      <p:sp>
        <p:nvSpPr>
          <p:cNvPr id="492" name="Google Shape;492;p18"/>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8"/>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18"/>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18"/>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APPROVAL</a:t>
            </a:r>
            <a:endParaRPr sz="900">
              <a:solidFill>
                <a:schemeClr val="dk1"/>
              </a:solidFill>
              <a:latin typeface="Arial"/>
              <a:ea typeface="Arial"/>
              <a:cs typeface="Arial"/>
              <a:sym typeface="Arial"/>
            </a:endParaRPr>
          </a:p>
        </p:txBody>
      </p:sp>
      <p:sp>
        <p:nvSpPr>
          <p:cNvPr id="496" name="Google Shape;496;p18"/>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497" name="Google Shape;497;p18"/>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APPROVAL IS NOT ONE DOOR</a:t>
            </a:r>
            <a:endParaRPr sz="3000">
              <a:solidFill>
                <a:schemeClr val="dk1"/>
              </a:solidFill>
              <a:latin typeface="Arial"/>
              <a:ea typeface="Arial"/>
              <a:cs typeface="Arial"/>
              <a:sym typeface="Arial"/>
            </a:endParaRPr>
          </a:p>
        </p:txBody>
      </p:sp>
      <p:cxnSp>
        <p:nvCxnSpPr>
          <p:cNvPr id="498" name="Google Shape;498;p18"/>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499" name="Google Shape;499;p18"/>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Different plans need different next steps.</a:t>
            </a:r>
            <a:endParaRPr sz="1050">
              <a:solidFill>
                <a:schemeClr val="dk1"/>
              </a:solidFill>
              <a:latin typeface="Arial"/>
              <a:ea typeface="Arial"/>
              <a:cs typeface="Arial"/>
              <a:sym typeface="Arial"/>
            </a:endParaRPr>
          </a:p>
        </p:txBody>
      </p:sp>
      <p:sp>
        <p:nvSpPr>
          <p:cNvPr id="500" name="Google Shape;500;p18"/>
          <p:cNvSpPr/>
          <p:nvPr/>
        </p:nvSpPr>
        <p:spPr>
          <a:xfrm>
            <a:off x="868680" y="1325880"/>
            <a:ext cx="5074920" cy="84124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8"/>
          <p:cNvSpPr/>
          <p:nvPr/>
        </p:nvSpPr>
        <p:spPr>
          <a:xfrm>
            <a:off x="868680" y="1325880"/>
            <a:ext cx="54864" cy="84124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18"/>
          <p:cNvSpPr/>
          <p:nvPr/>
        </p:nvSpPr>
        <p:spPr>
          <a:xfrm>
            <a:off x="1033272" y="14721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APPROVED</a:t>
            </a:r>
            <a:endParaRPr sz="1200">
              <a:solidFill>
                <a:schemeClr val="dk1"/>
              </a:solidFill>
              <a:latin typeface="Arial"/>
              <a:ea typeface="Arial"/>
              <a:cs typeface="Arial"/>
              <a:sym typeface="Arial"/>
            </a:endParaRPr>
          </a:p>
        </p:txBody>
      </p:sp>
      <p:sp>
        <p:nvSpPr>
          <p:cNvPr id="503" name="Google Shape;503;p18"/>
          <p:cNvSpPr/>
          <p:nvPr/>
        </p:nvSpPr>
        <p:spPr>
          <a:xfrm>
            <a:off x="1033272" y="1764792"/>
            <a:ext cx="4754880" cy="33832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Ready to begin pilot testing under stated conditions.</a:t>
            </a:r>
            <a:endParaRPr sz="1150">
              <a:solidFill>
                <a:schemeClr val="dk1"/>
              </a:solidFill>
              <a:latin typeface="Arial"/>
              <a:ea typeface="Arial"/>
              <a:cs typeface="Arial"/>
              <a:sym typeface="Arial"/>
            </a:endParaRPr>
          </a:p>
        </p:txBody>
      </p:sp>
      <p:sp>
        <p:nvSpPr>
          <p:cNvPr id="504" name="Google Shape;504;p18"/>
          <p:cNvSpPr/>
          <p:nvPr/>
        </p:nvSpPr>
        <p:spPr>
          <a:xfrm>
            <a:off x="6309360" y="1325880"/>
            <a:ext cx="5074920" cy="84124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8"/>
          <p:cNvSpPr/>
          <p:nvPr/>
        </p:nvSpPr>
        <p:spPr>
          <a:xfrm>
            <a:off x="6309360" y="1325880"/>
            <a:ext cx="54864" cy="84124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8"/>
          <p:cNvSpPr/>
          <p:nvPr/>
        </p:nvSpPr>
        <p:spPr>
          <a:xfrm>
            <a:off x="6473952" y="14721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APPROVED WITH EDITS</a:t>
            </a:r>
            <a:endParaRPr sz="1200">
              <a:solidFill>
                <a:schemeClr val="dk1"/>
              </a:solidFill>
              <a:latin typeface="Arial"/>
              <a:ea typeface="Arial"/>
              <a:cs typeface="Arial"/>
              <a:sym typeface="Arial"/>
            </a:endParaRPr>
          </a:p>
        </p:txBody>
      </p:sp>
      <p:sp>
        <p:nvSpPr>
          <p:cNvPr id="507" name="Google Shape;507;p18"/>
          <p:cNvSpPr/>
          <p:nvPr/>
        </p:nvSpPr>
        <p:spPr>
          <a:xfrm>
            <a:off x="6473952" y="1764792"/>
            <a:ext cx="4754880" cy="33832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Minor changes required before testing starts.</a:t>
            </a:r>
            <a:endParaRPr sz="1150">
              <a:solidFill>
                <a:schemeClr val="dk1"/>
              </a:solidFill>
              <a:latin typeface="Arial"/>
              <a:ea typeface="Arial"/>
              <a:cs typeface="Arial"/>
              <a:sym typeface="Arial"/>
            </a:endParaRPr>
          </a:p>
        </p:txBody>
      </p:sp>
      <p:sp>
        <p:nvSpPr>
          <p:cNvPr id="508" name="Google Shape;508;p18"/>
          <p:cNvSpPr/>
          <p:nvPr/>
        </p:nvSpPr>
        <p:spPr>
          <a:xfrm>
            <a:off x="868680" y="2468880"/>
            <a:ext cx="5074920" cy="84124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8"/>
          <p:cNvSpPr/>
          <p:nvPr/>
        </p:nvSpPr>
        <p:spPr>
          <a:xfrm>
            <a:off x="868680" y="2468880"/>
            <a:ext cx="54864" cy="84124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8"/>
          <p:cNvSpPr/>
          <p:nvPr/>
        </p:nvSpPr>
        <p:spPr>
          <a:xfrm>
            <a:off x="1033272" y="26151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NEEDS REVISION</a:t>
            </a:r>
            <a:endParaRPr sz="1200">
              <a:solidFill>
                <a:schemeClr val="dk1"/>
              </a:solidFill>
              <a:latin typeface="Arial"/>
              <a:ea typeface="Arial"/>
              <a:cs typeface="Arial"/>
              <a:sym typeface="Arial"/>
            </a:endParaRPr>
          </a:p>
        </p:txBody>
      </p:sp>
      <p:sp>
        <p:nvSpPr>
          <p:cNvPr id="511" name="Google Shape;511;p18"/>
          <p:cNvSpPr/>
          <p:nvPr/>
        </p:nvSpPr>
        <p:spPr>
          <a:xfrm>
            <a:off x="1033272" y="2907792"/>
            <a:ext cx="4754880" cy="33832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Question, method, data plan, safety, or feasibility is not ready.</a:t>
            </a:r>
            <a:endParaRPr sz="1150">
              <a:solidFill>
                <a:schemeClr val="dk1"/>
              </a:solidFill>
              <a:latin typeface="Arial"/>
              <a:ea typeface="Arial"/>
              <a:cs typeface="Arial"/>
              <a:sym typeface="Arial"/>
            </a:endParaRPr>
          </a:p>
        </p:txBody>
      </p:sp>
      <p:sp>
        <p:nvSpPr>
          <p:cNvPr id="512" name="Google Shape;512;p18"/>
          <p:cNvSpPr/>
          <p:nvPr/>
        </p:nvSpPr>
        <p:spPr>
          <a:xfrm>
            <a:off x="6309360" y="2468880"/>
            <a:ext cx="5074920" cy="84124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6309360" y="2468880"/>
            <a:ext cx="54864" cy="84124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8"/>
          <p:cNvSpPr/>
          <p:nvPr/>
        </p:nvSpPr>
        <p:spPr>
          <a:xfrm>
            <a:off x="6473952" y="26151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NEEDS SPECIAL REVIEW</a:t>
            </a:r>
            <a:endParaRPr sz="1200">
              <a:solidFill>
                <a:schemeClr val="dk1"/>
              </a:solidFill>
              <a:latin typeface="Arial"/>
              <a:ea typeface="Arial"/>
              <a:cs typeface="Arial"/>
              <a:sym typeface="Arial"/>
            </a:endParaRPr>
          </a:p>
        </p:txBody>
      </p:sp>
      <p:sp>
        <p:nvSpPr>
          <p:cNvPr id="515" name="Google Shape;515;p18"/>
          <p:cNvSpPr/>
          <p:nvPr/>
        </p:nvSpPr>
        <p:spPr>
          <a:xfrm>
            <a:off x="6473952" y="2907792"/>
            <a:ext cx="4754880" cy="33832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Human subjects, animals, biohazards, tools, chemicals, or privacy concerns require more oversight.</a:t>
            </a:r>
            <a:endParaRPr sz="1150">
              <a:solidFill>
                <a:schemeClr val="dk1"/>
              </a:solidFill>
              <a:latin typeface="Arial"/>
              <a:ea typeface="Arial"/>
              <a:cs typeface="Arial"/>
              <a:sym typeface="Arial"/>
            </a:endParaRPr>
          </a:p>
        </p:txBody>
      </p:sp>
      <p:sp>
        <p:nvSpPr>
          <p:cNvPr id="516" name="Google Shape;516;p18"/>
          <p:cNvSpPr/>
          <p:nvPr/>
        </p:nvSpPr>
        <p:spPr>
          <a:xfrm>
            <a:off x="868680" y="3611880"/>
            <a:ext cx="5074920" cy="841248"/>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8"/>
          <p:cNvSpPr/>
          <p:nvPr/>
        </p:nvSpPr>
        <p:spPr>
          <a:xfrm>
            <a:off x="868680" y="3611880"/>
            <a:ext cx="54864" cy="841248"/>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1033272" y="3758184"/>
            <a:ext cx="4754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NOT APPROVED</a:t>
            </a:r>
            <a:endParaRPr sz="1200">
              <a:solidFill>
                <a:schemeClr val="dk1"/>
              </a:solidFill>
              <a:latin typeface="Arial"/>
              <a:ea typeface="Arial"/>
              <a:cs typeface="Arial"/>
              <a:sym typeface="Arial"/>
            </a:endParaRPr>
          </a:p>
        </p:txBody>
      </p:sp>
      <p:sp>
        <p:nvSpPr>
          <p:cNvPr id="519" name="Google Shape;519;p18"/>
          <p:cNvSpPr/>
          <p:nvPr/>
        </p:nvSpPr>
        <p:spPr>
          <a:xfrm>
            <a:off x="1033272" y="4050792"/>
            <a:ext cx="4754880" cy="338328"/>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50"/>
              <a:buFont typeface="Arial"/>
              <a:buNone/>
            </a:pPr>
            <a:r>
              <a:rPr lang="en-US" sz="1150">
                <a:solidFill>
                  <a:srgbClr val="F2F2F2"/>
                </a:solidFill>
                <a:latin typeface="Arial"/>
                <a:ea typeface="Arial"/>
                <a:cs typeface="Arial"/>
                <a:sym typeface="Arial"/>
              </a:rPr>
              <a:t>Current version is unsafe, unethical, not feasible, or not measurable.</a:t>
            </a:r>
            <a:endParaRPr sz="1150">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524" name="Shape 524"/>
        <p:cNvGrpSpPr/>
        <p:nvPr/>
      </p:nvGrpSpPr>
      <p:grpSpPr>
        <a:xfrm>
          <a:off x="0" y="0"/>
          <a:ext cx="0" cy="0"/>
          <a:chOff x="0" y="0"/>
          <a:chExt cx="0" cy="0"/>
        </a:xfrm>
      </p:grpSpPr>
      <p:sp>
        <p:nvSpPr>
          <p:cNvPr id="525" name="Google Shape;525;p19"/>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9"/>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9"/>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9"/>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QUALITY CHECK</a:t>
            </a:r>
            <a:endParaRPr sz="900">
              <a:solidFill>
                <a:schemeClr val="dk1"/>
              </a:solidFill>
              <a:latin typeface="Arial"/>
              <a:ea typeface="Arial"/>
              <a:cs typeface="Arial"/>
              <a:sym typeface="Arial"/>
            </a:endParaRPr>
          </a:p>
        </p:txBody>
      </p:sp>
      <p:sp>
        <p:nvSpPr>
          <p:cNvPr id="529" name="Google Shape;529;p19"/>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530" name="Google Shape;530;p19"/>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WHAT STRONG PLANS HAVE IN COMMON</a:t>
            </a:r>
            <a:endParaRPr sz="3000">
              <a:solidFill>
                <a:schemeClr val="dk1"/>
              </a:solidFill>
              <a:latin typeface="Arial"/>
              <a:ea typeface="Arial"/>
              <a:cs typeface="Arial"/>
              <a:sym typeface="Arial"/>
            </a:endParaRPr>
          </a:p>
        </p:txBody>
      </p:sp>
      <p:cxnSp>
        <p:nvCxnSpPr>
          <p:cNvPr id="531" name="Google Shape;531;p19"/>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532" name="Google Shape;532;p19"/>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A plan is strong when the pieces reinforce each other.</a:t>
            </a:r>
            <a:endParaRPr sz="1050">
              <a:solidFill>
                <a:schemeClr val="dk1"/>
              </a:solidFill>
              <a:latin typeface="Arial"/>
              <a:ea typeface="Arial"/>
              <a:cs typeface="Arial"/>
              <a:sym typeface="Arial"/>
            </a:endParaRPr>
          </a:p>
        </p:txBody>
      </p:sp>
      <p:sp>
        <p:nvSpPr>
          <p:cNvPr id="533" name="Google Shape;533;p19"/>
          <p:cNvSpPr/>
          <p:nvPr/>
        </p:nvSpPr>
        <p:spPr>
          <a:xfrm>
            <a:off x="685800" y="1508760"/>
            <a:ext cx="1965960" cy="14173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9"/>
          <p:cNvSpPr/>
          <p:nvPr/>
        </p:nvSpPr>
        <p:spPr>
          <a:xfrm>
            <a:off x="685800" y="1508760"/>
            <a:ext cx="54864" cy="14173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19"/>
          <p:cNvSpPr/>
          <p:nvPr/>
        </p:nvSpPr>
        <p:spPr>
          <a:xfrm>
            <a:off x="850392" y="1655064"/>
            <a:ext cx="1645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QUESTION</a:t>
            </a:r>
            <a:endParaRPr sz="1200">
              <a:solidFill>
                <a:schemeClr val="dk1"/>
              </a:solidFill>
              <a:latin typeface="Arial"/>
              <a:ea typeface="Arial"/>
              <a:cs typeface="Arial"/>
              <a:sym typeface="Arial"/>
            </a:endParaRPr>
          </a:p>
        </p:txBody>
      </p:sp>
      <p:sp>
        <p:nvSpPr>
          <p:cNvPr id="536" name="Google Shape;536;p19"/>
          <p:cNvSpPr/>
          <p:nvPr/>
        </p:nvSpPr>
        <p:spPr>
          <a:xfrm>
            <a:off x="850392" y="1947672"/>
            <a:ext cx="1645920" cy="9144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080"/>
              <a:buFont typeface="Arial"/>
              <a:buNone/>
            </a:pPr>
            <a:r>
              <a:rPr lang="en-US" sz="1080">
                <a:solidFill>
                  <a:srgbClr val="F2F2F2"/>
                </a:solidFill>
                <a:latin typeface="Arial"/>
                <a:ea typeface="Arial"/>
                <a:cs typeface="Arial"/>
                <a:sym typeface="Arial"/>
              </a:rPr>
              <a:t>Clear enough to guide method</a:t>
            </a:r>
            <a:endParaRPr sz="1080">
              <a:solidFill>
                <a:schemeClr val="dk1"/>
              </a:solidFill>
              <a:latin typeface="Arial"/>
              <a:ea typeface="Arial"/>
              <a:cs typeface="Arial"/>
              <a:sym typeface="Arial"/>
            </a:endParaRPr>
          </a:p>
        </p:txBody>
      </p:sp>
      <p:sp>
        <p:nvSpPr>
          <p:cNvPr id="537" name="Google Shape;537;p19"/>
          <p:cNvSpPr/>
          <p:nvPr/>
        </p:nvSpPr>
        <p:spPr>
          <a:xfrm>
            <a:off x="2953512" y="1508760"/>
            <a:ext cx="1965960" cy="14173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9"/>
          <p:cNvSpPr/>
          <p:nvPr/>
        </p:nvSpPr>
        <p:spPr>
          <a:xfrm>
            <a:off x="2953512" y="1508760"/>
            <a:ext cx="54864" cy="14173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9"/>
          <p:cNvSpPr/>
          <p:nvPr/>
        </p:nvSpPr>
        <p:spPr>
          <a:xfrm>
            <a:off x="3118104" y="1655064"/>
            <a:ext cx="1645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METHOD</a:t>
            </a:r>
            <a:endParaRPr sz="1200">
              <a:solidFill>
                <a:schemeClr val="dk1"/>
              </a:solidFill>
              <a:latin typeface="Arial"/>
              <a:ea typeface="Arial"/>
              <a:cs typeface="Arial"/>
              <a:sym typeface="Arial"/>
            </a:endParaRPr>
          </a:p>
        </p:txBody>
      </p:sp>
      <p:sp>
        <p:nvSpPr>
          <p:cNvPr id="540" name="Google Shape;540;p19"/>
          <p:cNvSpPr/>
          <p:nvPr/>
        </p:nvSpPr>
        <p:spPr>
          <a:xfrm>
            <a:off x="3118104" y="1947672"/>
            <a:ext cx="1645920" cy="9144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080"/>
              <a:buFont typeface="Arial"/>
              <a:buNone/>
            </a:pPr>
            <a:r>
              <a:rPr lang="en-US" sz="1080">
                <a:solidFill>
                  <a:srgbClr val="F2F2F2"/>
                </a:solidFill>
                <a:latin typeface="Arial"/>
                <a:ea typeface="Arial"/>
                <a:cs typeface="Arial"/>
                <a:sym typeface="Arial"/>
              </a:rPr>
              <a:t>Specific enough to review</a:t>
            </a:r>
            <a:endParaRPr sz="1080">
              <a:solidFill>
                <a:schemeClr val="dk1"/>
              </a:solidFill>
              <a:latin typeface="Arial"/>
              <a:ea typeface="Arial"/>
              <a:cs typeface="Arial"/>
              <a:sym typeface="Arial"/>
            </a:endParaRPr>
          </a:p>
        </p:txBody>
      </p:sp>
      <p:sp>
        <p:nvSpPr>
          <p:cNvPr id="541" name="Google Shape;541;p19"/>
          <p:cNvSpPr/>
          <p:nvPr/>
        </p:nvSpPr>
        <p:spPr>
          <a:xfrm>
            <a:off x="5221224" y="1508760"/>
            <a:ext cx="1965960" cy="14173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19"/>
          <p:cNvSpPr/>
          <p:nvPr/>
        </p:nvSpPr>
        <p:spPr>
          <a:xfrm>
            <a:off x="5221224" y="1508760"/>
            <a:ext cx="54864" cy="14173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19"/>
          <p:cNvSpPr/>
          <p:nvPr/>
        </p:nvSpPr>
        <p:spPr>
          <a:xfrm>
            <a:off x="5385816" y="1655064"/>
            <a:ext cx="1645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DATA</a:t>
            </a:r>
            <a:endParaRPr sz="1200">
              <a:solidFill>
                <a:schemeClr val="dk1"/>
              </a:solidFill>
              <a:latin typeface="Arial"/>
              <a:ea typeface="Arial"/>
              <a:cs typeface="Arial"/>
              <a:sym typeface="Arial"/>
            </a:endParaRPr>
          </a:p>
        </p:txBody>
      </p:sp>
      <p:sp>
        <p:nvSpPr>
          <p:cNvPr id="544" name="Google Shape;544;p19"/>
          <p:cNvSpPr/>
          <p:nvPr/>
        </p:nvSpPr>
        <p:spPr>
          <a:xfrm>
            <a:off x="5385816" y="1947672"/>
            <a:ext cx="1645920" cy="9144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080"/>
              <a:buFont typeface="Arial"/>
              <a:buNone/>
            </a:pPr>
            <a:r>
              <a:rPr lang="en-US" sz="1080">
                <a:solidFill>
                  <a:srgbClr val="F2F2F2"/>
                </a:solidFill>
                <a:latin typeface="Arial"/>
                <a:ea typeface="Arial"/>
                <a:cs typeface="Arial"/>
                <a:sym typeface="Arial"/>
              </a:rPr>
              <a:t>Aligned to the question</a:t>
            </a:r>
            <a:endParaRPr sz="1080">
              <a:solidFill>
                <a:schemeClr val="dk1"/>
              </a:solidFill>
              <a:latin typeface="Arial"/>
              <a:ea typeface="Arial"/>
              <a:cs typeface="Arial"/>
              <a:sym typeface="Arial"/>
            </a:endParaRPr>
          </a:p>
        </p:txBody>
      </p:sp>
      <p:sp>
        <p:nvSpPr>
          <p:cNvPr id="545" name="Google Shape;545;p19"/>
          <p:cNvSpPr/>
          <p:nvPr/>
        </p:nvSpPr>
        <p:spPr>
          <a:xfrm>
            <a:off x="7488936" y="1508760"/>
            <a:ext cx="1965960" cy="14173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7488936" y="1508760"/>
            <a:ext cx="54864" cy="14173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19"/>
          <p:cNvSpPr/>
          <p:nvPr/>
        </p:nvSpPr>
        <p:spPr>
          <a:xfrm>
            <a:off x="7653528" y="1655064"/>
            <a:ext cx="1645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SAFETY</a:t>
            </a:r>
            <a:endParaRPr sz="1200">
              <a:solidFill>
                <a:schemeClr val="dk1"/>
              </a:solidFill>
              <a:latin typeface="Arial"/>
              <a:ea typeface="Arial"/>
              <a:cs typeface="Arial"/>
              <a:sym typeface="Arial"/>
            </a:endParaRPr>
          </a:p>
        </p:txBody>
      </p:sp>
      <p:sp>
        <p:nvSpPr>
          <p:cNvPr id="548" name="Google Shape;548;p19"/>
          <p:cNvSpPr/>
          <p:nvPr/>
        </p:nvSpPr>
        <p:spPr>
          <a:xfrm>
            <a:off x="7653528" y="1947672"/>
            <a:ext cx="1645920" cy="9144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080"/>
              <a:buFont typeface="Arial"/>
              <a:buNone/>
            </a:pPr>
            <a:r>
              <a:rPr lang="en-US" sz="1080">
                <a:solidFill>
                  <a:srgbClr val="F2F2F2"/>
                </a:solidFill>
                <a:latin typeface="Arial"/>
                <a:ea typeface="Arial"/>
                <a:cs typeface="Arial"/>
                <a:sym typeface="Arial"/>
              </a:rPr>
              <a:t>Risks named and reduced</a:t>
            </a:r>
            <a:endParaRPr sz="1080">
              <a:solidFill>
                <a:schemeClr val="dk1"/>
              </a:solidFill>
              <a:latin typeface="Arial"/>
              <a:ea typeface="Arial"/>
              <a:cs typeface="Arial"/>
              <a:sym typeface="Arial"/>
            </a:endParaRPr>
          </a:p>
        </p:txBody>
      </p:sp>
      <p:sp>
        <p:nvSpPr>
          <p:cNvPr id="549" name="Google Shape;549;p19"/>
          <p:cNvSpPr/>
          <p:nvPr/>
        </p:nvSpPr>
        <p:spPr>
          <a:xfrm>
            <a:off x="9756648" y="1508760"/>
            <a:ext cx="1965960" cy="141732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9"/>
          <p:cNvSpPr/>
          <p:nvPr/>
        </p:nvSpPr>
        <p:spPr>
          <a:xfrm>
            <a:off x="9756648" y="1508760"/>
            <a:ext cx="54864" cy="141732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9"/>
          <p:cNvSpPr/>
          <p:nvPr/>
        </p:nvSpPr>
        <p:spPr>
          <a:xfrm>
            <a:off x="9921240" y="1655064"/>
            <a:ext cx="16459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TIMELINE</a:t>
            </a:r>
            <a:endParaRPr sz="1200">
              <a:solidFill>
                <a:schemeClr val="dk1"/>
              </a:solidFill>
              <a:latin typeface="Arial"/>
              <a:ea typeface="Arial"/>
              <a:cs typeface="Arial"/>
              <a:sym typeface="Arial"/>
            </a:endParaRPr>
          </a:p>
        </p:txBody>
      </p:sp>
      <p:sp>
        <p:nvSpPr>
          <p:cNvPr id="552" name="Google Shape;552;p19"/>
          <p:cNvSpPr/>
          <p:nvPr/>
        </p:nvSpPr>
        <p:spPr>
          <a:xfrm>
            <a:off x="9921240" y="1947672"/>
            <a:ext cx="1645920" cy="91440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080"/>
              <a:buFont typeface="Arial"/>
              <a:buNone/>
            </a:pPr>
            <a:r>
              <a:rPr lang="en-US" sz="1080">
                <a:solidFill>
                  <a:srgbClr val="F2F2F2"/>
                </a:solidFill>
                <a:latin typeface="Arial"/>
                <a:ea typeface="Arial"/>
                <a:cs typeface="Arial"/>
                <a:sym typeface="Arial"/>
              </a:rPr>
              <a:t>Realistic with backup points</a:t>
            </a:r>
            <a:endParaRPr sz="1080">
              <a:solidFill>
                <a:schemeClr val="dk1"/>
              </a:solidFill>
              <a:latin typeface="Arial"/>
              <a:ea typeface="Arial"/>
              <a:cs typeface="Arial"/>
              <a:sym typeface="Arial"/>
            </a:endParaRPr>
          </a:p>
        </p:txBody>
      </p:sp>
      <p:sp>
        <p:nvSpPr>
          <p:cNvPr id="553" name="Google Shape;553;p19"/>
          <p:cNvSpPr/>
          <p:nvPr/>
        </p:nvSpPr>
        <p:spPr>
          <a:xfrm>
            <a:off x="1005840" y="3794760"/>
            <a:ext cx="10149840" cy="914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9"/>
          <p:cNvSpPr/>
          <p:nvPr/>
        </p:nvSpPr>
        <p:spPr>
          <a:xfrm>
            <a:off x="1005840" y="3794760"/>
            <a:ext cx="54864" cy="914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1170432" y="3941064"/>
            <a:ext cx="9829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ALIGNMENT BEATS LENGTH.</a:t>
            </a:r>
            <a:endParaRPr sz="1200">
              <a:solidFill>
                <a:schemeClr val="dk1"/>
              </a:solidFill>
              <a:latin typeface="Arial"/>
              <a:ea typeface="Arial"/>
              <a:cs typeface="Arial"/>
              <a:sym typeface="Arial"/>
            </a:endParaRPr>
          </a:p>
        </p:txBody>
      </p:sp>
      <p:sp>
        <p:nvSpPr>
          <p:cNvPr id="556" name="Google Shape;556;p19"/>
          <p:cNvSpPr/>
          <p:nvPr/>
        </p:nvSpPr>
        <p:spPr>
          <a:xfrm>
            <a:off x="1170432" y="4233672"/>
            <a:ext cx="9829800" cy="411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380"/>
              <a:buFont typeface="Arial"/>
              <a:buNone/>
            </a:pPr>
            <a:r>
              <a:rPr lang="en-US" sz="1380">
                <a:solidFill>
                  <a:srgbClr val="F2F2F2"/>
                </a:solidFill>
                <a:latin typeface="Arial"/>
                <a:ea typeface="Arial"/>
                <a:cs typeface="Arial"/>
                <a:sym typeface="Arial"/>
              </a:rPr>
              <a:t>A long plan with disconnected pieces is weaker than a concise plan where every section supports the same project.</a:t>
            </a:r>
            <a:endParaRPr sz="1380">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561" name="Shape 561"/>
        <p:cNvGrpSpPr/>
        <p:nvPr/>
      </p:nvGrpSpPr>
      <p:grpSpPr>
        <a:xfrm>
          <a:off x="0" y="0"/>
          <a:ext cx="0" cy="0"/>
          <a:chOff x="0" y="0"/>
          <a:chExt cx="0" cy="0"/>
        </a:xfrm>
      </p:grpSpPr>
      <p:sp>
        <p:nvSpPr>
          <p:cNvPr id="562" name="Google Shape;562;p20"/>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0"/>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0"/>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0"/>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STUDENT ACTIVITY</a:t>
            </a:r>
            <a:endParaRPr sz="900">
              <a:solidFill>
                <a:schemeClr val="dk1"/>
              </a:solidFill>
              <a:latin typeface="Arial"/>
              <a:ea typeface="Arial"/>
              <a:cs typeface="Arial"/>
              <a:sym typeface="Arial"/>
            </a:endParaRPr>
          </a:p>
        </p:txBody>
      </p:sp>
      <p:sp>
        <p:nvSpPr>
          <p:cNvPr id="566" name="Google Shape;566;p20"/>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567" name="Google Shape;567;p20"/>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ACTIVITY: RESEARCH PLAN ASSEMBLY SPRINT</a:t>
            </a:r>
            <a:endParaRPr sz="3000">
              <a:solidFill>
                <a:schemeClr val="dk1"/>
              </a:solidFill>
              <a:latin typeface="Arial"/>
              <a:ea typeface="Arial"/>
              <a:cs typeface="Arial"/>
              <a:sym typeface="Arial"/>
            </a:endParaRPr>
          </a:p>
        </p:txBody>
      </p:sp>
      <p:cxnSp>
        <p:nvCxnSpPr>
          <p:cNvPr id="568" name="Google Shape;568;p20"/>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569" name="Google Shape;569;p20"/>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Students move from scattered handouts to one coherent plan.</a:t>
            </a:r>
            <a:endParaRPr sz="1050">
              <a:solidFill>
                <a:schemeClr val="dk1"/>
              </a:solidFill>
              <a:latin typeface="Arial"/>
              <a:ea typeface="Arial"/>
              <a:cs typeface="Arial"/>
              <a:sym typeface="Arial"/>
            </a:endParaRPr>
          </a:p>
        </p:txBody>
      </p:sp>
      <p:sp>
        <p:nvSpPr>
          <p:cNvPr id="570" name="Google Shape;570;p20"/>
          <p:cNvSpPr/>
          <p:nvPr/>
        </p:nvSpPr>
        <p:spPr>
          <a:xfrm>
            <a:off x="914400" y="1417320"/>
            <a:ext cx="5074920" cy="292608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None/>
            </a:pPr>
            <a:r>
              <a:rPr lang="en-US" sz="1400">
                <a:solidFill>
                  <a:srgbClr val="F2F2F2"/>
                </a:solidFill>
                <a:latin typeface="Arial"/>
                <a:ea typeface="Arial"/>
                <a:cs typeface="Arial"/>
                <a:sym typeface="Arial"/>
              </a:rPr>
              <a:t>Focus statement</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Background rationale</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Hypothesis or design criteria</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Variables / criteria / constraints</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Materials + procedure</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Data collection plan</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Safety + ethics screening</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Timeline</a:t>
            </a:r>
            <a:endParaRPr sz="1400">
              <a:solidFill>
                <a:schemeClr val="dk1"/>
              </a:solidFill>
              <a:latin typeface="Arial"/>
              <a:ea typeface="Arial"/>
              <a:cs typeface="Arial"/>
              <a:sym typeface="Arial"/>
            </a:endParaRPr>
          </a:p>
        </p:txBody>
      </p:sp>
      <p:sp>
        <p:nvSpPr>
          <p:cNvPr id="571" name="Google Shape;571;p20"/>
          <p:cNvSpPr/>
          <p:nvPr/>
        </p:nvSpPr>
        <p:spPr>
          <a:xfrm>
            <a:off x="6355080" y="1508760"/>
            <a:ext cx="4800600" cy="237744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20"/>
          <p:cNvSpPr/>
          <p:nvPr/>
        </p:nvSpPr>
        <p:spPr>
          <a:xfrm>
            <a:off x="6355080" y="1508760"/>
            <a:ext cx="54864" cy="237744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0"/>
          <p:cNvSpPr/>
          <p:nvPr/>
        </p:nvSpPr>
        <p:spPr>
          <a:xfrm>
            <a:off x="6519672" y="1655064"/>
            <a:ext cx="44805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ASSEMBLY SPRINT</a:t>
            </a:r>
            <a:endParaRPr sz="1200">
              <a:solidFill>
                <a:schemeClr val="dk1"/>
              </a:solidFill>
              <a:latin typeface="Arial"/>
              <a:ea typeface="Arial"/>
              <a:cs typeface="Arial"/>
              <a:sym typeface="Arial"/>
            </a:endParaRPr>
          </a:p>
        </p:txBody>
      </p:sp>
      <p:sp>
        <p:nvSpPr>
          <p:cNvPr id="574" name="Google Shape;574;p20"/>
          <p:cNvSpPr/>
          <p:nvPr/>
        </p:nvSpPr>
        <p:spPr>
          <a:xfrm>
            <a:off x="6519672" y="1947672"/>
            <a:ext cx="4480560" cy="187452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400"/>
              <a:buFont typeface="Arial"/>
              <a:buNone/>
            </a:pPr>
            <a:r>
              <a:rPr lang="en-US" sz="1400">
                <a:solidFill>
                  <a:srgbClr val="F2F2F2"/>
                </a:solidFill>
                <a:latin typeface="Arial"/>
                <a:ea typeface="Arial"/>
                <a:cs typeface="Arial"/>
                <a:sym typeface="Arial"/>
              </a:rPr>
              <a:t>20 minutes: assemble the draft.</a:t>
            </a:r>
            <a:endParaRPr sz="1400">
              <a:solidFill>
                <a:schemeClr val="dk1"/>
              </a:solidFill>
              <a:latin typeface="Arial"/>
              <a:ea typeface="Arial"/>
              <a:cs typeface="Arial"/>
              <a:sym typeface="Arial"/>
            </a:endParaRPr>
          </a:p>
          <a:p>
            <a:pPr indent="0" lvl="0" marL="0" marR="0" rtl="0" algn="l">
              <a:spcBef>
                <a:spcPts val="0"/>
              </a:spcBef>
              <a:spcAft>
                <a:spcPts val="0"/>
              </a:spcAft>
              <a:buClr>
                <a:srgbClr val="F2F2F2"/>
              </a:buClr>
              <a:buSzPts val="1400"/>
              <a:buFont typeface="Arial"/>
              <a:buNone/>
            </a:pPr>
            <a:r>
              <a:rPr lang="en-US" sz="1400">
                <a:solidFill>
                  <a:srgbClr val="F2F2F2"/>
                </a:solidFill>
                <a:latin typeface="Arial"/>
                <a:ea typeface="Arial"/>
                <a:cs typeface="Arial"/>
                <a:sym typeface="Arial"/>
              </a:rPr>
              <a:t>10 minutes: partner reviews for missing or misaligned sections.</a:t>
            </a:r>
            <a:endParaRPr sz="1400">
              <a:solidFill>
                <a:schemeClr val="dk1"/>
              </a:solidFill>
              <a:latin typeface="Arial"/>
              <a:ea typeface="Arial"/>
              <a:cs typeface="Arial"/>
              <a:sym typeface="Arial"/>
            </a:endParaRPr>
          </a:p>
          <a:p>
            <a:pPr indent="0" lvl="0" marL="0" marR="0" rtl="0" algn="l">
              <a:spcBef>
                <a:spcPts val="0"/>
              </a:spcBef>
              <a:spcAft>
                <a:spcPts val="0"/>
              </a:spcAft>
              <a:buClr>
                <a:srgbClr val="F2F2F2"/>
              </a:buClr>
              <a:buSzPts val="1400"/>
              <a:buFont typeface="Arial"/>
              <a:buNone/>
            </a:pPr>
            <a:r>
              <a:rPr lang="en-US" sz="1400">
                <a:solidFill>
                  <a:srgbClr val="F2F2F2"/>
                </a:solidFill>
                <a:latin typeface="Arial"/>
                <a:ea typeface="Arial"/>
                <a:cs typeface="Arial"/>
                <a:sym typeface="Arial"/>
              </a:rPr>
              <a:t>5 minutes: write your top revision priority.</a:t>
            </a:r>
            <a:endParaRPr sz="1400">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579" name="Shape 579"/>
        <p:cNvGrpSpPr/>
        <p:nvPr/>
      </p:nvGrpSpPr>
      <p:grpSpPr>
        <a:xfrm>
          <a:off x="0" y="0"/>
          <a:ext cx="0" cy="0"/>
          <a:chOff x="0" y="0"/>
          <a:chExt cx="0" cy="0"/>
        </a:xfrm>
      </p:grpSpPr>
      <p:sp>
        <p:nvSpPr>
          <p:cNvPr id="580" name="Google Shape;580;p21"/>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1"/>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1"/>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1"/>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MODEL</a:t>
            </a:r>
            <a:endParaRPr sz="900">
              <a:solidFill>
                <a:schemeClr val="dk1"/>
              </a:solidFill>
              <a:latin typeface="Arial"/>
              <a:ea typeface="Arial"/>
              <a:cs typeface="Arial"/>
              <a:sym typeface="Arial"/>
            </a:endParaRPr>
          </a:p>
        </p:txBody>
      </p:sp>
      <p:sp>
        <p:nvSpPr>
          <p:cNvPr id="584" name="Google Shape;584;p21"/>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585" name="Google Shape;585;p21"/>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MODEL EXCERPT: STRONG PLANNING LANGUAGE</a:t>
            </a:r>
            <a:endParaRPr sz="3000">
              <a:solidFill>
                <a:schemeClr val="dk1"/>
              </a:solidFill>
              <a:latin typeface="Arial"/>
              <a:ea typeface="Arial"/>
              <a:cs typeface="Arial"/>
              <a:sym typeface="Arial"/>
            </a:endParaRPr>
          </a:p>
        </p:txBody>
      </p:sp>
      <p:cxnSp>
        <p:nvCxnSpPr>
          <p:cNvPr id="586" name="Google Shape;586;p21"/>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587" name="Google Shape;587;p21"/>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Good planning is specific, measurable, and cautious.</a:t>
            </a:r>
            <a:endParaRPr sz="1050">
              <a:solidFill>
                <a:schemeClr val="dk1"/>
              </a:solidFill>
              <a:latin typeface="Arial"/>
              <a:ea typeface="Arial"/>
              <a:cs typeface="Arial"/>
              <a:sym typeface="Arial"/>
            </a:endParaRPr>
          </a:p>
        </p:txBody>
      </p:sp>
      <p:sp>
        <p:nvSpPr>
          <p:cNvPr id="588" name="Google Shape;588;p21"/>
          <p:cNvSpPr/>
          <p:nvPr/>
        </p:nvSpPr>
        <p:spPr>
          <a:xfrm>
            <a:off x="914400" y="1417320"/>
            <a:ext cx="4754880" cy="2057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21"/>
          <p:cNvSpPr/>
          <p:nvPr/>
        </p:nvSpPr>
        <p:spPr>
          <a:xfrm>
            <a:off x="914400" y="1417320"/>
            <a:ext cx="54864" cy="2057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1"/>
          <p:cNvSpPr/>
          <p:nvPr/>
        </p:nvSpPr>
        <p:spPr>
          <a:xfrm>
            <a:off x="1078992" y="1563624"/>
            <a:ext cx="44348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WEAK</a:t>
            </a:r>
            <a:endParaRPr sz="1200">
              <a:solidFill>
                <a:schemeClr val="dk1"/>
              </a:solidFill>
              <a:latin typeface="Arial"/>
              <a:ea typeface="Arial"/>
              <a:cs typeface="Arial"/>
              <a:sym typeface="Arial"/>
            </a:endParaRPr>
          </a:p>
        </p:txBody>
      </p:sp>
      <p:sp>
        <p:nvSpPr>
          <p:cNvPr id="591" name="Google Shape;591;p21"/>
          <p:cNvSpPr/>
          <p:nvPr/>
        </p:nvSpPr>
        <p:spPr>
          <a:xfrm>
            <a:off x="1078992" y="1856232"/>
            <a:ext cx="4434840" cy="1554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800"/>
              <a:buFont typeface="Arial"/>
              <a:buNone/>
            </a:pPr>
            <a:r>
              <a:rPr lang="en-US" sz="1800">
                <a:solidFill>
                  <a:srgbClr val="F2F2F2"/>
                </a:solidFill>
                <a:latin typeface="Arial"/>
                <a:ea typeface="Arial"/>
                <a:cs typeface="Arial"/>
                <a:sym typeface="Arial"/>
              </a:rPr>
              <a:t>I will test different bridge designs and see which one is best.</a:t>
            </a:r>
            <a:endParaRPr sz="1800">
              <a:solidFill>
                <a:schemeClr val="dk1"/>
              </a:solidFill>
              <a:latin typeface="Arial"/>
              <a:ea typeface="Arial"/>
              <a:cs typeface="Arial"/>
              <a:sym typeface="Arial"/>
            </a:endParaRPr>
          </a:p>
        </p:txBody>
      </p:sp>
      <p:sp>
        <p:nvSpPr>
          <p:cNvPr id="592" name="Google Shape;592;p21"/>
          <p:cNvSpPr/>
          <p:nvPr/>
        </p:nvSpPr>
        <p:spPr>
          <a:xfrm>
            <a:off x="6492240" y="1417320"/>
            <a:ext cx="4754880" cy="20574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21"/>
          <p:cNvSpPr/>
          <p:nvPr/>
        </p:nvSpPr>
        <p:spPr>
          <a:xfrm>
            <a:off x="6492240" y="1417320"/>
            <a:ext cx="54864" cy="20574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21"/>
          <p:cNvSpPr/>
          <p:nvPr/>
        </p:nvSpPr>
        <p:spPr>
          <a:xfrm>
            <a:off x="6656832" y="1563624"/>
            <a:ext cx="44348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STRONGER</a:t>
            </a:r>
            <a:endParaRPr sz="1200">
              <a:solidFill>
                <a:schemeClr val="dk1"/>
              </a:solidFill>
              <a:latin typeface="Arial"/>
              <a:ea typeface="Arial"/>
              <a:cs typeface="Arial"/>
              <a:sym typeface="Arial"/>
            </a:endParaRPr>
          </a:p>
        </p:txBody>
      </p:sp>
      <p:sp>
        <p:nvSpPr>
          <p:cNvPr id="595" name="Google Shape;595;p21"/>
          <p:cNvSpPr/>
          <p:nvPr/>
        </p:nvSpPr>
        <p:spPr>
          <a:xfrm>
            <a:off x="6656832" y="1856232"/>
            <a:ext cx="4434840" cy="15544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250"/>
              <a:buFont typeface="Arial"/>
              <a:buNone/>
            </a:pPr>
            <a:r>
              <a:rPr lang="en-US" sz="1250">
                <a:solidFill>
                  <a:srgbClr val="F2F2F2"/>
                </a:solidFill>
                <a:latin typeface="Arial"/>
                <a:ea typeface="Arial"/>
                <a:cs typeface="Arial"/>
                <a:sym typeface="Arial"/>
              </a:rPr>
              <a:t>I will compare three 3D-printed truss designs using the same external dimensions and filament type. Each bridge will be tested for maximum supported load, then evaluated using load supported per gram of material.</a:t>
            </a:r>
            <a:endParaRPr sz="1250">
              <a:solidFill>
                <a:schemeClr val="dk1"/>
              </a:solidFill>
              <a:latin typeface="Arial"/>
              <a:ea typeface="Arial"/>
              <a:cs typeface="Arial"/>
              <a:sym typeface="Arial"/>
            </a:endParaRPr>
          </a:p>
        </p:txBody>
      </p:sp>
      <p:sp>
        <p:nvSpPr>
          <p:cNvPr id="596" name="Google Shape;596;p21"/>
          <p:cNvSpPr/>
          <p:nvPr/>
        </p:nvSpPr>
        <p:spPr>
          <a:xfrm>
            <a:off x="1005840" y="3867912"/>
            <a:ext cx="101498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1800"/>
              <a:buFont typeface="Play"/>
              <a:buNone/>
            </a:pPr>
            <a:r>
              <a:rPr b="1" lang="en-US" sz="1800">
                <a:solidFill>
                  <a:srgbClr val="F2F2F2"/>
                </a:solidFill>
                <a:latin typeface="Play"/>
                <a:ea typeface="Play"/>
                <a:cs typeface="Play"/>
                <a:sym typeface="Play"/>
              </a:rPr>
              <a:t>The stronger version defines comparison, constants, measurement, and metric.</a:t>
            </a:r>
            <a:endParaRPr sz="1800">
              <a:solidFill>
                <a:schemeClr val="dk1"/>
              </a:solidFill>
              <a:latin typeface="Arial"/>
              <a:ea typeface="Arial"/>
              <a:cs typeface="Arial"/>
              <a:sym typeface="Arial"/>
            </a:endParaRPr>
          </a:p>
        </p:txBody>
      </p:sp>
      <p:sp>
        <p:nvSpPr>
          <p:cNvPr id="597" name="Google Shape;597;p21"/>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21"/>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600" name="Google Shape;600;p21"/>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Upgrade one sentence.</a:t>
            </a:r>
            <a:endParaRPr sz="1250">
              <a:solidFill>
                <a:schemeClr val="dk1"/>
              </a:solidFill>
              <a:latin typeface="Arial"/>
              <a:ea typeface="Arial"/>
              <a:cs typeface="Arial"/>
              <a:sym typeface="Arial"/>
            </a:endParaRPr>
          </a:p>
        </p:txBody>
      </p:sp>
      <p:sp>
        <p:nvSpPr>
          <p:cNvPr id="601" name="Google Shape;601;p21"/>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Choose one vague sentence in your plan and rewrite it with specific evidence language.</a:t>
            </a:r>
            <a:endParaRPr sz="1100">
              <a:solidFill>
                <a:schemeClr val="dk1"/>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606" name="Shape 606"/>
        <p:cNvGrpSpPr/>
        <p:nvPr/>
      </p:nvGrpSpPr>
      <p:grpSpPr>
        <a:xfrm>
          <a:off x="0" y="0"/>
          <a:ext cx="0" cy="0"/>
          <a:chOff x="0" y="0"/>
          <a:chExt cx="0" cy="0"/>
        </a:xfrm>
      </p:grpSpPr>
      <p:sp>
        <p:nvSpPr>
          <p:cNvPr id="607" name="Google Shape;607;p22"/>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22"/>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2"/>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2"/>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COMMON PITFALLS</a:t>
            </a:r>
            <a:endParaRPr sz="900">
              <a:solidFill>
                <a:schemeClr val="dk1"/>
              </a:solidFill>
              <a:latin typeface="Arial"/>
              <a:ea typeface="Arial"/>
              <a:cs typeface="Arial"/>
              <a:sym typeface="Arial"/>
            </a:endParaRPr>
          </a:p>
        </p:txBody>
      </p:sp>
      <p:sp>
        <p:nvSpPr>
          <p:cNvPr id="611" name="Google Shape;611;p22"/>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612" name="Google Shape;612;p22"/>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COMMON RESEARCH PLAN PROBLEMS</a:t>
            </a:r>
            <a:endParaRPr sz="3000">
              <a:solidFill>
                <a:schemeClr val="dk1"/>
              </a:solidFill>
              <a:latin typeface="Arial"/>
              <a:ea typeface="Arial"/>
              <a:cs typeface="Arial"/>
              <a:sym typeface="Arial"/>
            </a:endParaRPr>
          </a:p>
        </p:txBody>
      </p:sp>
      <p:cxnSp>
        <p:nvCxnSpPr>
          <p:cNvPr id="613" name="Google Shape;613;p22"/>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614" name="Google Shape;614;p22"/>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Catch these before they become Unit 3 disasters.</a:t>
            </a:r>
            <a:endParaRPr sz="1050">
              <a:solidFill>
                <a:schemeClr val="dk1"/>
              </a:solidFill>
              <a:latin typeface="Arial"/>
              <a:ea typeface="Arial"/>
              <a:cs typeface="Arial"/>
              <a:sym typeface="Arial"/>
            </a:endParaRPr>
          </a:p>
        </p:txBody>
      </p:sp>
      <p:sp>
        <p:nvSpPr>
          <p:cNvPr id="615" name="Google Shape;615;p22"/>
          <p:cNvSpPr/>
          <p:nvPr/>
        </p:nvSpPr>
        <p:spPr>
          <a:xfrm>
            <a:off x="822960" y="1325880"/>
            <a:ext cx="333756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2"/>
          <p:cNvSpPr/>
          <p:nvPr/>
        </p:nvSpPr>
        <p:spPr>
          <a:xfrm>
            <a:off x="822960" y="132588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987552" y="1472184"/>
            <a:ext cx="30175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TOPIC, NOT QUESTION</a:t>
            </a:r>
            <a:endParaRPr sz="1200">
              <a:solidFill>
                <a:schemeClr val="dk1"/>
              </a:solidFill>
              <a:latin typeface="Arial"/>
              <a:ea typeface="Arial"/>
              <a:cs typeface="Arial"/>
              <a:sym typeface="Arial"/>
            </a:endParaRPr>
          </a:p>
        </p:txBody>
      </p:sp>
      <p:sp>
        <p:nvSpPr>
          <p:cNvPr id="618" name="Google Shape;618;p22"/>
          <p:cNvSpPr/>
          <p:nvPr/>
        </p:nvSpPr>
        <p:spPr>
          <a:xfrm>
            <a:off x="987552" y="1764792"/>
            <a:ext cx="301752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40"/>
              <a:buFont typeface="Arial"/>
              <a:buNone/>
            </a:pPr>
            <a:r>
              <a:rPr lang="en-US" sz="1140">
                <a:solidFill>
                  <a:srgbClr val="F2F2F2"/>
                </a:solidFill>
                <a:latin typeface="Arial"/>
                <a:ea typeface="Arial"/>
                <a:cs typeface="Arial"/>
                <a:sym typeface="Arial"/>
              </a:rPr>
              <a:t>“I want to study pollution.”</a:t>
            </a:r>
            <a:endParaRPr sz="1140">
              <a:solidFill>
                <a:schemeClr val="dk1"/>
              </a:solidFill>
              <a:latin typeface="Arial"/>
              <a:ea typeface="Arial"/>
              <a:cs typeface="Arial"/>
              <a:sym typeface="Arial"/>
            </a:endParaRPr>
          </a:p>
        </p:txBody>
      </p:sp>
      <p:sp>
        <p:nvSpPr>
          <p:cNvPr id="619" name="Google Shape;619;p22"/>
          <p:cNvSpPr/>
          <p:nvPr/>
        </p:nvSpPr>
        <p:spPr>
          <a:xfrm>
            <a:off x="4526280" y="1325880"/>
            <a:ext cx="333756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4526280" y="132588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22"/>
          <p:cNvSpPr/>
          <p:nvPr/>
        </p:nvSpPr>
        <p:spPr>
          <a:xfrm>
            <a:off x="4690872" y="1472184"/>
            <a:ext cx="30175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NO MEASURABLE OUTCOME</a:t>
            </a:r>
            <a:endParaRPr sz="1200">
              <a:solidFill>
                <a:schemeClr val="dk1"/>
              </a:solidFill>
              <a:latin typeface="Arial"/>
              <a:ea typeface="Arial"/>
              <a:cs typeface="Arial"/>
              <a:sym typeface="Arial"/>
            </a:endParaRPr>
          </a:p>
        </p:txBody>
      </p:sp>
      <p:sp>
        <p:nvSpPr>
          <p:cNvPr id="622" name="Google Shape;622;p22"/>
          <p:cNvSpPr/>
          <p:nvPr/>
        </p:nvSpPr>
        <p:spPr>
          <a:xfrm>
            <a:off x="4690872" y="1764792"/>
            <a:ext cx="301752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40"/>
              <a:buFont typeface="Arial"/>
              <a:buNone/>
            </a:pPr>
            <a:r>
              <a:rPr lang="en-US" sz="1140">
                <a:solidFill>
                  <a:srgbClr val="F2F2F2"/>
                </a:solidFill>
                <a:latin typeface="Arial"/>
                <a:ea typeface="Arial"/>
                <a:cs typeface="Arial"/>
                <a:sym typeface="Arial"/>
              </a:rPr>
              <a:t>“I will see if it works.”</a:t>
            </a:r>
            <a:endParaRPr sz="1140">
              <a:solidFill>
                <a:schemeClr val="dk1"/>
              </a:solidFill>
              <a:latin typeface="Arial"/>
              <a:ea typeface="Arial"/>
              <a:cs typeface="Arial"/>
              <a:sym typeface="Arial"/>
            </a:endParaRPr>
          </a:p>
        </p:txBody>
      </p:sp>
      <p:sp>
        <p:nvSpPr>
          <p:cNvPr id="623" name="Google Shape;623;p22"/>
          <p:cNvSpPr/>
          <p:nvPr/>
        </p:nvSpPr>
        <p:spPr>
          <a:xfrm>
            <a:off x="8229600" y="1325880"/>
            <a:ext cx="333756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2"/>
          <p:cNvSpPr/>
          <p:nvPr/>
        </p:nvSpPr>
        <p:spPr>
          <a:xfrm>
            <a:off x="8229600" y="132588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8394192" y="1472184"/>
            <a:ext cx="30175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UNSAFE METHOD</a:t>
            </a:r>
            <a:endParaRPr sz="1200">
              <a:solidFill>
                <a:schemeClr val="dk1"/>
              </a:solidFill>
              <a:latin typeface="Arial"/>
              <a:ea typeface="Arial"/>
              <a:cs typeface="Arial"/>
              <a:sym typeface="Arial"/>
            </a:endParaRPr>
          </a:p>
        </p:txBody>
      </p:sp>
      <p:sp>
        <p:nvSpPr>
          <p:cNvPr id="626" name="Google Shape;626;p22"/>
          <p:cNvSpPr/>
          <p:nvPr/>
        </p:nvSpPr>
        <p:spPr>
          <a:xfrm>
            <a:off x="8394192" y="1764792"/>
            <a:ext cx="301752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40"/>
              <a:buFont typeface="Arial"/>
              <a:buNone/>
            </a:pPr>
            <a:r>
              <a:rPr lang="en-US" sz="1140">
                <a:solidFill>
                  <a:srgbClr val="F2F2F2"/>
                </a:solidFill>
                <a:latin typeface="Arial"/>
                <a:ea typeface="Arial"/>
                <a:cs typeface="Arial"/>
                <a:sym typeface="Arial"/>
              </a:rPr>
              <a:t>Testing begins before risks are controlled.</a:t>
            </a:r>
            <a:endParaRPr sz="1140">
              <a:solidFill>
                <a:schemeClr val="dk1"/>
              </a:solidFill>
              <a:latin typeface="Arial"/>
              <a:ea typeface="Arial"/>
              <a:cs typeface="Arial"/>
              <a:sym typeface="Arial"/>
            </a:endParaRPr>
          </a:p>
        </p:txBody>
      </p:sp>
      <p:sp>
        <p:nvSpPr>
          <p:cNvPr id="627" name="Google Shape;627;p22"/>
          <p:cNvSpPr/>
          <p:nvPr/>
        </p:nvSpPr>
        <p:spPr>
          <a:xfrm>
            <a:off x="822960" y="2834640"/>
            <a:ext cx="333756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22"/>
          <p:cNvSpPr/>
          <p:nvPr/>
        </p:nvSpPr>
        <p:spPr>
          <a:xfrm>
            <a:off x="822960" y="283464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2"/>
          <p:cNvSpPr/>
          <p:nvPr/>
        </p:nvSpPr>
        <p:spPr>
          <a:xfrm>
            <a:off x="987552" y="2980944"/>
            <a:ext cx="30175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MYSTERY DATA</a:t>
            </a:r>
            <a:endParaRPr sz="1200">
              <a:solidFill>
                <a:schemeClr val="dk1"/>
              </a:solidFill>
              <a:latin typeface="Arial"/>
              <a:ea typeface="Arial"/>
              <a:cs typeface="Arial"/>
              <a:sym typeface="Arial"/>
            </a:endParaRPr>
          </a:p>
        </p:txBody>
      </p:sp>
      <p:sp>
        <p:nvSpPr>
          <p:cNvPr id="630" name="Google Shape;630;p22"/>
          <p:cNvSpPr/>
          <p:nvPr/>
        </p:nvSpPr>
        <p:spPr>
          <a:xfrm>
            <a:off x="987552" y="3273552"/>
            <a:ext cx="301752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40"/>
              <a:buFont typeface="Arial"/>
              <a:buNone/>
            </a:pPr>
            <a:r>
              <a:rPr lang="en-US" sz="1140">
                <a:solidFill>
                  <a:srgbClr val="F2F2F2"/>
                </a:solidFill>
                <a:latin typeface="Arial"/>
                <a:ea typeface="Arial"/>
                <a:cs typeface="Arial"/>
                <a:sym typeface="Arial"/>
              </a:rPr>
              <a:t>No units, no trial plan, no storage system.</a:t>
            </a:r>
            <a:endParaRPr sz="1140">
              <a:solidFill>
                <a:schemeClr val="dk1"/>
              </a:solidFill>
              <a:latin typeface="Arial"/>
              <a:ea typeface="Arial"/>
              <a:cs typeface="Arial"/>
              <a:sym typeface="Arial"/>
            </a:endParaRPr>
          </a:p>
        </p:txBody>
      </p:sp>
      <p:sp>
        <p:nvSpPr>
          <p:cNvPr id="631" name="Google Shape;631;p22"/>
          <p:cNvSpPr/>
          <p:nvPr/>
        </p:nvSpPr>
        <p:spPr>
          <a:xfrm>
            <a:off x="4526280" y="2834640"/>
            <a:ext cx="333756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2"/>
          <p:cNvSpPr/>
          <p:nvPr/>
        </p:nvSpPr>
        <p:spPr>
          <a:xfrm>
            <a:off x="4526280" y="283464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22"/>
          <p:cNvSpPr/>
          <p:nvPr/>
        </p:nvSpPr>
        <p:spPr>
          <a:xfrm>
            <a:off x="4690872" y="2980944"/>
            <a:ext cx="30175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TIMELINE FANTASY</a:t>
            </a:r>
            <a:endParaRPr sz="1200">
              <a:solidFill>
                <a:schemeClr val="dk1"/>
              </a:solidFill>
              <a:latin typeface="Arial"/>
              <a:ea typeface="Arial"/>
              <a:cs typeface="Arial"/>
              <a:sym typeface="Arial"/>
            </a:endParaRPr>
          </a:p>
        </p:txBody>
      </p:sp>
      <p:sp>
        <p:nvSpPr>
          <p:cNvPr id="634" name="Google Shape;634;p22"/>
          <p:cNvSpPr/>
          <p:nvPr/>
        </p:nvSpPr>
        <p:spPr>
          <a:xfrm>
            <a:off x="4690872" y="3273552"/>
            <a:ext cx="301752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40"/>
              <a:buFont typeface="Arial"/>
              <a:buNone/>
            </a:pPr>
            <a:r>
              <a:rPr lang="en-US" sz="1140">
                <a:solidFill>
                  <a:srgbClr val="F2F2F2"/>
                </a:solidFill>
                <a:latin typeface="Arial"/>
                <a:ea typeface="Arial"/>
                <a:cs typeface="Arial"/>
                <a:sym typeface="Arial"/>
              </a:rPr>
              <a:t>Everything depends on perfect access and no failures.</a:t>
            </a:r>
            <a:endParaRPr sz="1140">
              <a:solidFill>
                <a:schemeClr val="dk1"/>
              </a:solidFill>
              <a:latin typeface="Arial"/>
              <a:ea typeface="Arial"/>
              <a:cs typeface="Arial"/>
              <a:sym typeface="Arial"/>
            </a:endParaRPr>
          </a:p>
        </p:txBody>
      </p:sp>
      <p:sp>
        <p:nvSpPr>
          <p:cNvPr id="635" name="Google Shape;635;p22"/>
          <p:cNvSpPr/>
          <p:nvPr/>
        </p:nvSpPr>
        <p:spPr>
          <a:xfrm>
            <a:off x="8229600" y="2834640"/>
            <a:ext cx="3337560" cy="114300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22"/>
          <p:cNvSpPr/>
          <p:nvPr/>
        </p:nvSpPr>
        <p:spPr>
          <a:xfrm>
            <a:off x="8229600" y="2834640"/>
            <a:ext cx="54864" cy="11430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22"/>
          <p:cNvSpPr/>
          <p:nvPr/>
        </p:nvSpPr>
        <p:spPr>
          <a:xfrm>
            <a:off x="8394192" y="2980944"/>
            <a:ext cx="30175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COPIED PROJECT</a:t>
            </a:r>
            <a:endParaRPr sz="1200">
              <a:solidFill>
                <a:schemeClr val="dk1"/>
              </a:solidFill>
              <a:latin typeface="Arial"/>
              <a:ea typeface="Arial"/>
              <a:cs typeface="Arial"/>
              <a:sym typeface="Arial"/>
            </a:endParaRPr>
          </a:p>
        </p:txBody>
      </p:sp>
      <p:sp>
        <p:nvSpPr>
          <p:cNvPr id="638" name="Google Shape;638;p22"/>
          <p:cNvSpPr/>
          <p:nvPr/>
        </p:nvSpPr>
        <p:spPr>
          <a:xfrm>
            <a:off x="8394192" y="3273552"/>
            <a:ext cx="3017520" cy="64008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140"/>
              <a:buFont typeface="Arial"/>
              <a:buNone/>
            </a:pPr>
            <a:r>
              <a:rPr lang="en-US" sz="1140">
                <a:solidFill>
                  <a:srgbClr val="F2F2F2"/>
                </a:solidFill>
                <a:latin typeface="Arial"/>
                <a:ea typeface="Arial"/>
                <a:cs typeface="Arial"/>
                <a:sym typeface="Arial"/>
              </a:rPr>
              <a:t>No original variable, context, design, or purpose.</a:t>
            </a:r>
            <a:endParaRPr sz="1140">
              <a:solidFill>
                <a:schemeClr val="dk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643" name="Shape 643"/>
        <p:cNvGrpSpPr/>
        <p:nvPr/>
      </p:nvGrpSpPr>
      <p:grpSpPr>
        <a:xfrm>
          <a:off x="0" y="0"/>
          <a:ext cx="0" cy="0"/>
          <a:chOff x="0" y="0"/>
          <a:chExt cx="0" cy="0"/>
        </a:xfrm>
      </p:grpSpPr>
      <p:sp>
        <p:nvSpPr>
          <p:cNvPr id="644" name="Google Shape;644;p2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23"/>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3"/>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READINESS</a:t>
            </a:r>
            <a:endParaRPr sz="900">
              <a:solidFill>
                <a:schemeClr val="dk1"/>
              </a:solidFill>
              <a:latin typeface="Arial"/>
              <a:ea typeface="Arial"/>
              <a:cs typeface="Arial"/>
              <a:sym typeface="Arial"/>
            </a:endParaRPr>
          </a:p>
        </p:txBody>
      </p:sp>
      <p:sp>
        <p:nvSpPr>
          <p:cNvPr id="648" name="Google Shape;648;p23"/>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649" name="Google Shape;649;p23"/>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BEFORE PILOT TESTING BEGINS</a:t>
            </a:r>
            <a:endParaRPr sz="3000">
              <a:solidFill>
                <a:schemeClr val="dk1"/>
              </a:solidFill>
              <a:latin typeface="Arial"/>
              <a:ea typeface="Arial"/>
              <a:cs typeface="Arial"/>
              <a:sym typeface="Arial"/>
            </a:endParaRPr>
          </a:p>
        </p:txBody>
      </p:sp>
      <p:cxnSp>
        <p:nvCxnSpPr>
          <p:cNvPr id="650" name="Google Shape;650;p23"/>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651" name="Google Shape;651;p23"/>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The plan must pass the readiness check.</a:t>
            </a:r>
            <a:endParaRPr sz="1050">
              <a:solidFill>
                <a:schemeClr val="dk1"/>
              </a:solidFill>
              <a:latin typeface="Arial"/>
              <a:ea typeface="Arial"/>
              <a:cs typeface="Arial"/>
              <a:sym typeface="Arial"/>
            </a:endParaRPr>
          </a:p>
        </p:txBody>
      </p:sp>
      <p:sp>
        <p:nvSpPr>
          <p:cNvPr id="652" name="Google Shape;652;p23"/>
          <p:cNvSpPr/>
          <p:nvPr/>
        </p:nvSpPr>
        <p:spPr>
          <a:xfrm>
            <a:off x="960120" y="1371600"/>
            <a:ext cx="5303520" cy="333756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None/>
            </a:pPr>
            <a:r>
              <a:rPr lang="en-US" sz="1400">
                <a:solidFill>
                  <a:srgbClr val="F2F2F2"/>
                </a:solidFill>
                <a:latin typeface="Arial"/>
                <a:ea typeface="Arial"/>
                <a:cs typeface="Arial"/>
                <a:sym typeface="Arial"/>
              </a:rPr>
              <a:t>Question/problem is clear</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Evidence is defined</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Procedure is specific enough to review</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Materials and tools are realistic</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Safety/ethics are screened</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Timeline has decision points</a:t>
            </a:r>
            <a:endParaRPr sz="1400">
              <a:solidFill>
                <a:schemeClr val="dk1"/>
              </a:solidFill>
              <a:latin typeface="Arial"/>
              <a:ea typeface="Arial"/>
              <a:cs typeface="Arial"/>
              <a:sym typeface="Arial"/>
            </a:endParaRPr>
          </a:p>
          <a:p>
            <a:pPr indent="0" lvl="0" marL="0" marR="0" rtl="0" algn="l">
              <a:spcBef>
                <a:spcPts val="0"/>
              </a:spcBef>
              <a:spcAft>
                <a:spcPts val="0"/>
              </a:spcAft>
              <a:buNone/>
            </a:pPr>
            <a:r>
              <a:rPr lang="en-US" sz="1400">
                <a:solidFill>
                  <a:srgbClr val="F2F2F2"/>
                </a:solidFill>
                <a:latin typeface="Arial"/>
                <a:ea typeface="Arial"/>
                <a:cs typeface="Arial"/>
                <a:sym typeface="Arial"/>
              </a:rPr>
              <a:t>Teacher approval is documented</a:t>
            </a:r>
            <a:endParaRPr sz="1400">
              <a:solidFill>
                <a:schemeClr val="dk1"/>
              </a:solidFill>
              <a:latin typeface="Arial"/>
              <a:ea typeface="Arial"/>
              <a:cs typeface="Arial"/>
              <a:sym typeface="Arial"/>
            </a:endParaRPr>
          </a:p>
        </p:txBody>
      </p:sp>
      <p:sp>
        <p:nvSpPr>
          <p:cNvPr id="653" name="Google Shape;653;p23"/>
          <p:cNvSpPr/>
          <p:nvPr/>
        </p:nvSpPr>
        <p:spPr>
          <a:xfrm>
            <a:off x="6400800" y="1600200"/>
            <a:ext cx="4800600" cy="1280160"/>
          </a:xfrm>
          <a:prstGeom prst="rect">
            <a:avLst/>
          </a:prstGeom>
          <a:solidFill>
            <a:srgbClr val="111111"/>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23"/>
          <p:cNvSpPr/>
          <p:nvPr/>
        </p:nvSpPr>
        <p:spPr>
          <a:xfrm>
            <a:off x="6400800" y="1600200"/>
            <a:ext cx="54864" cy="128016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3"/>
          <p:cNvSpPr/>
          <p:nvPr/>
        </p:nvSpPr>
        <p:spPr>
          <a:xfrm>
            <a:off x="6565392" y="1746504"/>
            <a:ext cx="44805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NO APPROVAL, NO TESTING.</a:t>
            </a:r>
            <a:endParaRPr sz="1200">
              <a:solidFill>
                <a:schemeClr val="dk1"/>
              </a:solidFill>
              <a:latin typeface="Arial"/>
              <a:ea typeface="Arial"/>
              <a:cs typeface="Arial"/>
              <a:sym typeface="Arial"/>
            </a:endParaRPr>
          </a:p>
        </p:txBody>
      </p:sp>
      <p:sp>
        <p:nvSpPr>
          <p:cNvPr id="656" name="Google Shape;656;p23"/>
          <p:cNvSpPr/>
          <p:nvPr/>
        </p:nvSpPr>
        <p:spPr>
          <a:xfrm>
            <a:off x="6565392" y="2039112"/>
            <a:ext cx="4480560" cy="777240"/>
          </a:xfrm>
          <a:prstGeom prst="rect">
            <a:avLst/>
          </a:prstGeom>
          <a:noFill/>
          <a:ln>
            <a:noFill/>
          </a:ln>
        </p:spPr>
        <p:txBody>
          <a:bodyPr anchorCtr="0" anchor="t" bIns="375" lIns="375" spcFirstLastPara="1" rIns="375" wrap="square" tIns="375">
            <a:noAutofit/>
          </a:bodyPr>
          <a:lstStyle/>
          <a:p>
            <a:pPr indent="0" lvl="0" marL="0" marR="0" rtl="0" algn="l">
              <a:spcBef>
                <a:spcPts val="0"/>
              </a:spcBef>
              <a:spcAft>
                <a:spcPts val="0"/>
              </a:spcAft>
              <a:buClr>
                <a:srgbClr val="F2F2F2"/>
              </a:buClr>
              <a:buSzPts val="1500"/>
              <a:buFont typeface="Arial"/>
              <a:buNone/>
            </a:pPr>
            <a:r>
              <a:rPr lang="en-US" sz="1500">
                <a:solidFill>
                  <a:srgbClr val="F2F2F2"/>
                </a:solidFill>
                <a:latin typeface="Arial"/>
                <a:ea typeface="Arial"/>
                <a:cs typeface="Arial"/>
                <a:sym typeface="Arial"/>
              </a:rPr>
              <a:t>Testing starts only after the plan is safe, ethical, feasible, and clear enough to pilot.</a:t>
            </a:r>
            <a:endParaRPr sz="1500">
              <a:solidFill>
                <a:schemeClr val="dk1"/>
              </a:solidFill>
              <a:latin typeface="Arial"/>
              <a:ea typeface="Arial"/>
              <a:cs typeface="Arial"/>
              <a:sym typeface="Arial"/>
            </a:endParaRPr>
          </a:p>
        </p:txBody>
      </p:sp>
      <p:sp>
        <p:nvSpPr>
          <p:cNvPr id="657" name="Google Shape;657;p23"/>
          <p:cNvSpPr/>
          <p:nvPr/>
        </p:nvSpPr>
        <p:spPr>
          <a:xfrm>
            <a:off x="658368" y="5074920"/>
            <a:ext cx="10881360" cy="868680"/>
          </a:xfrm>
          <a:prstGeom prst="rect">
            <a:avLst/>
          </a:prstGeom>
          <a:solidFill>
            <a:srgbClr val="0A0A0A"/>
          </a:solidFill>
          <a:ln cap="flat" cmpd="sng" w="1395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3"/>
          <p:cNvSpPr/>
          <p:nvPr/>
        </p:nvSpPr>
        <p:spPr>
          <a:xfrm>
            <a:off x="658368" y="5074920"/>
            <a:ext cx="1783080" cy="25603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3"/>
          <p:cNvSpPr/>
          <p:nvPr/>
        </p:nvSpPr>
        <p:spPr>
          <a:xfrm>
            <a:off x="786384" y="5138928"/>
            <a:ext cx="1554480" cy="1188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780"/>
              <a:buFont typeface="Arial"/>
              <a:buNone/>
            </a:pPr>
            <a:r>
              <a:rPr b="1" lang="en-US" sz="780">
                <a:solidFill>
                  <a:srgbClr val="F2F2F2"/>
                </a:solidFill>
                <a:latin typeface="Arial"/>
                <a:ea typeface="Arial"/>
                <a:cs typeface="Arial"/>
                <a:sym typeface="Arial"/>
              </a:rPr>
              <a:t>STUDENT ACTIVITY</a:t>
            </a:r>
            <a:endParaRPr sz="780">
              <a:solidFill>
                <a:schemeClr val="dk1"/>
              </a:solidFill>
              <a:latin typeface="Arial"/>
              <a:ea typeface="Arial"/>
              <a:cs typeface="Arial"/>
              <a:sym typeface="Arial"/>
            </a:endParaRPr>
          </a:p>
        </p:txBody>
      </p:sp>
      <p:sp>
        <p:nvSpPr>
          <p:cNvPr id="660" name="Google Shape;660;p23"/>
          <p:cNvSpPr/>
          <p:nvPr/>
        </p:nvSpPr>
        <p:spPr>
          <a:xfrm>
            <a:off x="868680" y="5422392"/>
            <a:ext cx="35204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1250"/>
              <a:buFont typeface="Arial"/>
              <a:buNone/>
            </a:pPr>
            <a:r>
              <a:rPr b="1" lang="en-US" sz="1250">
                <a:solidFill>
                  <a:srgbClr val="F2F2F2"/>
                </a:solidFill>
                <a:latin typeface="Arial"/>
                <a:ea typeface="Arial"/>
                <a:cs typeface="Arial"/>
                <a:sym typeface="Arial"/>
              </a:rPr>
              <a:t>Self-rating.</a:t>
            </a:r>
            <a:endParaRPr sz="1250">
              <a:solidFill>
                <a:schemeClr val="dk1"/>
              </a:solidFill>
              <a:latin typeface="Arial"/>
              <a:ea typeface="Arial"/>
              <a:cs typeface="Arial"/>
              <a:sym typeface="Arial"/>
            </a:endParaRPr>
          </a:p>
        </p:txBody>
      </p:sp>
      <p:sp>
        <p:nvSpPr>
          <p:cNvPr id="661" name="Google Shape;661;p23"/>
          <p:cNvSpPr/>
          <p:nvPr/>
        </p:nvSpPr>
        <p:spPr>
          <a:xfrm>
            <a:off x="4983480" y="5367528"/>
            <a:ext cx="5806440" cy="512064"/>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B8B8B8"/>
              </a:buClr>
              <a:buSzPts val="1100"/>
              <a:buFont typeface="Arial"/>
              <a:buNone/>
            </a:pPr>
            <a:r>
              <a:rPr lang="en-US" sz="1100">
                <a:solidFill>
                  <a:srgbClr val="B8B8B8"/>
                </a:solidFill>
                <a:latin typeface="Arial"/>
                <a:ea typeface="Arial"/>
                <a:cs typeface="Arial"/>
                <a:sym typeface="Arial"/>
              </a:rPr>
              <a:t>Mark each readiness item green, yellow, or red. Your lowest item becomes your first revision task.</a:t>
            </a:r>
            <a:endParaRPr sz="1100">
              <a:solidFill>
                <a:schemeClr val="dk1"/>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666" name="Shape 666"/>
        <p:cNvGrpSpPr/>
        <p:nvPr/>
      </p:nvGrpSpPr>
      <p:grpSpPr>
        <a:xfrm>
          <a:off x="0" y="0"/>
          <a:ext cx="0" cy="0"/>
          <a:chOff x="0" y="0"/>
          <a:chExt cx="0" cy="0"/>
        </a:xfrm>
      </p:grpSpPr>
      <p:sp>
        <p:nvSpPr>
          <p:cNvPr id="667" name="Google Shape;667;p2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24"/>
          <p:cNvSpPr/>
          <p:nvPr/>
        </p:nvSpPr>
        <p:spPr>
          <a:xfrm>
            <a:off x="0" y="38404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24"/>
          <p:cNvSpPr/>
          <p:nvPr/>
        </p:nvSpPr>
        <p:spPr>
          <a:xfrm>
            <a:off x="0" y="6419088"/>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24"/>
          <p:cNvSpPr/>
          <p:nvPr/>
        </p:nvSpPr>
        <p:spPr>
          <a:xfrm>
            <a:off x="411480" y="6537960"/>
            <a:ext cx="310896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EXIT TICKET</a:t>
            </a:r>
            <a:endParaRPr sz="900">
              <a:solidFill>
                <a:schemeClr val="dk1"/>
              </a:solidFill>
              <a:latin typeface="Arial"/>
              <a:ea typeface="Arial"/>
              <a:cs typeface="Arial"/>
              <a:sym typeface="Arial"/>
            </a:endParaRPr>
          </a:p>
        </p:txBody>
      </p:sp>
      <p:sp>
        <p:nvSpPr>
          <p:cNvPr id="671" name="Google Shape;671;p24"/>
          <p:cNvSpPr/>
          <p:nvPr/>
        </p:nvSpPr>
        <p:spPr>
          <a:xfrm>
            <a:off x="10469880" y="6537960"/>
            <a:ext cx="1280160" cy="20116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900"/>
              <a:buFont typeface="Arial"/>
              <a:buNone/>
            </a:pPr>
            <a:r>
              <a:rPr b="1" lang="en-US" sz="900">
                <a:solidFill>
                  <a:srgbClr val="B8B8B8"/>
                </a:solidFill>
                <a:latin typeface="Arial"/>
                <a:ea typeface="Arial"/>
                <a:cs typeface="Arial"/>
                <a:sym typeface="Arial"/>
              </a:rPr>
              <a:t>STARLAB</a:t>
            </a:r>
            <a:endParaRPr sz="900">
              <a:solidFill>
                <a:schemeClr val="dk1"/>
              </a:solidFill>
              <a:latin typeface="Arial"/>
              <a:ea typeface="Arial"/>
              <a:cs typeface="Arial"/>
              <a:sym typeface="Arial"/>
            </a:endParaRPr>
          </a:p>
        </p:txBody>
      </p:sp>
      <p:sp>
        <p:nvSpPr>
          <p:cNvPr id="672" name="Google Shape;672;p24"/>
          <p:cNvSpPr/>
          <p:nvPr/>
        </p:nvSpPr>
        <p:spPr>
          <a:xfrm>
            <a:off x="658368" y="548640"/>
            <a:ext cx="108813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F2F2"/>
              </a:buClr>
              <a:buSzPts val="3000"/>
              <a:buFont typeface="Play"/>
              <a:buNone/>
            </a:pPr>
            <a:r>
              <a:rPr b="1" lang="en-US" sz="3000">
                <a:solidFill>
                  <a:srgbClr val="F2F2F2"/>
                </a:solidFill>
                <a:latin typeface="Play"/>
                <a:ea typeface="Play"/>
                <a:cs typeface="Play"/>
                <a:sym typeface="Play"/>
              </a:rPr>
              <a:t>EXIT TICKET</a:t>
            </a:r>
            <a:endParaRPr sz="3000">
              <a:solidFill>
                <a:schemeClr val="dk1"/>
              </a:solidFill>
              <a:latin typeface="Arial"/>
              <a:ea typeface="Arial"/>
              <a:cs typeface="Arial"/>
              <a:sym typeface="Arial"/>
            </a:endParaRPr>
          </a:p>
        </p:txBody>
      </p:sp>
      <p:cxnSp>
        <p:nvCxnSpPr>
          <p:cNvPr id="673" name="Google Shape;673;p24"/>
          <p:cNvCxnSpPr/>
          <p:nvPr/>
        </p:nvCxnSpPr>
        <p:spPr>
          <a:xfrm>
            <a:off x="658368" y="1124712"/>
            <a:ext cx="1143000" cy="0"/>
          </a:xfrm>
          <a:prstGeom prst="straightConnector1">
            <a:avLst/>
          </a:prstGeom>
          <a:noFill/>
          <a:ln cap="flat" cmpd="sng" w="25400">
            <a:solidFill>
              <a:srgbClr val="E22B27"/>
            </a:solidFill>
            <a:prstDash val="solid"/>
            <a:round/>
            <a:headEnd len="sm" w="sm" type="none"/>
            <a:tailEnd len="sm" w="sm" type="none"/>
          </a:ln>
        </p:spPr>
      </p:cxnSp>
      <p:sp>
        <p:nvSpPr>
          <p:cNvPr id="674" name="Google Shape;674;p24"/>
          <p:cNvSpPr/>
          <p:nvPr/>
        </p:nvSpPr>
        <p:spPr>
          <a:xfrm>
            <a:off x="1920240" y="1005840"/>
            <a:ext cx="877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50"/>
              <a:buFont typeface="Arial"/>
              <a:buNone/>
            </a:pPr>
            <a:r>
              <a:rPr lang="en-US" sz="1050">
                <a:solidFill>
                  <a:srgbClr val="B8B8B8"/>
                </a:solidFill>
                <a:latin typeface="Arial"/>
                <a:ea typeface="Arial"/>
                <a:cs typeface="Arial"/>
                <a:sym typeface="Arial"/>
              </a:rPr>
              <a:t>One plan, one gap, one next step.</a:t>
            </a:r>
            <a:endParaRPr sz="1050">
              <a:solidFill>
                <a:schemeClr val="dk1"/>
              </a:solidFill>
              <a:latin typeface="Arial"/>
              <a:ea typeface="Arial"/>
              <a:cs typeface="Arial"/>
              <a:sym typeface="Arial"/>
            </a:endParaRPr>
          </a:p>
        </p:txBody>
      </p:sp>
      <p:sp>
        <p:nvSpPr>
          <p:cNvPr id="675" name="Google Shape;675;p24"/>
          <p:cNvSpPr/>
          <p:nvPr/>
        </p:nvSpPr>
        <p:spPr>
          <a:xfrm>
            <a:off x="960120" y="1417320"/>
            <a:ext cx="1014984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None/>
            </a:pPr>
            <a:r>
              <a:rPr lang="en-US" sz="1800">
                <a:solidFill>
                  <a:srgbClr val="F2F2F2"/>
                </a:solidFill>
                <a:latin typeface="Arial"/>
                <a:ea typeface="Arial"/>
                <a:cs typeface="Arial"/>
                <a:sym typeface="Arial"/>
              </a:rPr>
              <a:t>My research plan is strongest in the section about…</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en-US" sz="1800">
                <a:solidFill>
                  <a:srgbClr val="F2F2F2"/>
                </a:solidFill>
                <a:latin typeface="Arial"/>
                <a:ea typeface="Arial"/>
                <a:cs typeface="Arial"/>
                <a:sym typeface="Arial"/>
              </a:rPr>
              <a:t>The section that needs the most revision is…</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en-US" sz="1800">
                <a:solidFill>
                  <a:srgbClr val="F2F2F2"/>
                </a:solidFill>
                <a:latin typeface="Arial"/>
                <a:ea typeface="Arial"/>
                <a:cs typeface="Arial"/>
                <a:sym typeface="Arial"/>
              </a:rPr>
              <a:t>Before I can be approved for pilot testing, I need to…</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en-US" sz="1800">
                <a:solidFill>
                  <a:srgbClr val="F2F2F2"/>
                </a:solidFill>
                <a:latin typeface="Arial"/>
                <a:ea typeface="Arial"/>
                <a:cs typeface="Arial"/>
                <a:sym typeface="Arial"/>
              </a:rPr>
              <a:t>My next specific action is…</a:t>
            </a:r>
            <a:endParaRPr sz="1800">
              <a:solidFill>
                <a:schemeClr val="dk1"/>
              </a:solidFill>
              <a:latin typeface="Arial"/>
              <a:ea typeface="Arial"/>
              <a:cs typeface="Arial"/>
              <a:sym typeface="Arial"/>
            </a:endParaRPr>
          </a:p>
        </p:txBody>
      </p:sp>
      <p:sp>
        <p:nvSpPr>
          <p:cNvPr id="676" name="Google Shape;676;p24"/>
          <p:cNvSpPr/>
          <p:nvPr/>
        </p:nvSpPr>
        <p:spPr>
          <a:xfrm>
            <a:off x="914400" y="4892040"/>
            <a:ext cx="10332720" cy="685800"/>
          </a:xfrm>
          <a:prstGeom prst="rect">
            <a:avLst/>
          </a:prstGeom>
          <a:solidFill>
            <a:srgbClr val="0A0A0A"/>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4"/>
          <p:cNvSpPr/>
          <p:nvPr/>
        </p:nvSpPr>
        <p:spPr>
          <a:xfrm>
            <a:off x="1188720" y="5120640"/>
            <a:ext cx="978408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F2F2"/>
              </a:buClr>
              <a:buSzPts val="1800"/>
              <a:buFont typeface="Play"/>
              <a:buNone/>
            </a:pPr>
            <a:r>
              <a:rPr b="1" lang="en-US" sz="1800">
                <a:solidFill>
                  <a:srgbClr val="F2F2F2"/>
                </a:solidFill>
                <a:latin typeface="Play"/>
                <a:ea typeface="Play"/>
                <a:cs typeface="Play"/>
                <a:sym typeface="Play"/>
              </a:rPr>
              <a:t>Next deck: Pilot Testing and Scientific Documentation</a:t>
            </a:r>
            <a:endParaRPr sz="18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