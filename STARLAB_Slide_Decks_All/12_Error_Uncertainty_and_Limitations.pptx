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fc8810b711b46f7" /><Relationship Type="http://schemas.openxmlformats.org/officeDocument/2006/relationships/extended-properties" Target="/docProps/app.xml" Id="Raceba97a9a3043ee" /><Relationship Type="http://schemas.openxmlformats.org/officeDocument/2006/relationships/officeDocument" Target="/ppt/presentation.xml" Id="R3cabfaa3c46d4863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7d22c15ab0de42b8"/>
  </p:sldMasterIdLst>
  <p:notesMasterIdLst>
    <p:notesMasterId xmlns:r="http://schemas.openxmlformats.org/officeDocument/2006/relationships" r:id="R94c87c2633144eee"/>
  </p:notesMasterIdLst>
  <p:sldIdLst>
    <p:sldId xmlns:r="http://schemas.openxmlformats.org/officeDocument/2006/relationships" id="256" r:id="R8064bba4221f4289"/>
    <p:sldId xmlns:r="http://schemas.openxmlformats.org/officeDocument/2006/relationships" id="257" r:id="R8f109bd33197424d"/>
    <p:sldId xmlns:r="http://schemas.openxmlformats.org/officeDocument/2006/relationships" id="258" r:id="Ref640b584b024900"/>
    <p:sldId xmlns:r="http://schemas.openxmlformats.org/officeDocument/2006/relationships" id="259" r:id="Rc9e1b64bd7f6487b"/>
    <p:sldId xmlns:r="http://schemas.openxmlformats.org/officeDocument/2006/relationships" id="260" r:id="Refd8c1eeb9064df5"/>
    <p:sldId xmlns:r="http://schemas.openxmlformats.org/officeDocument/2006/relationships" id="261" r:id="Re6ce968eda1240b3"/>
    <p:sldId xmlns:r="http://schemas.openxmlformats.org/officeDocument/2006/relationships" id="262" r:id="R28feda4141aa4046"/>
    <p:sldId xmlns:r="http://schemas.openxmlformats.org/officeDocument/2006/relationships" id="263" r:id="Reef1460f02864803"/>
    <p:sldId xmlns:r="http://schemas.openxmlformats.org/officeDocument/2006/relationships" id="264" r:id="R2d38d53aa6294f98"/>
    <p:sldId xmlns:r="http://schemas.openxmlformats.org/officeDocument/2006/relationships" id="265" r:id="Rb9b303cdfe6a49a6"/>
    <p:sldId xmlns:r="http://schemas.openxmlformats.org/officeDocument/2006/relationships" id="266" r:id="R0189b92fefda40c4"/>
    <p:sldId xmlns:r="http://schemas.openxmlformats.org/officeDocument/2006/relationships" id="267" r:id="R4c6f2e25249d4c83"/>
    <p:sldId xmlns:r="http://schemas.openxmlformats.org/officeDocument/2006/relationships" id="268" r:id="R0df400e901e741e6"/>
    <p:sldId xmlns:r="http://schemas.openxmlformats.org/officeDocument/2006/relationships" id="269" r:id="Rbfd8070790714627"/>
    <p:sldId xmlns:r="http://schemas.openxmlformats.org/officeDocument/2006/relationships" id="270" r:id="R39dd26785849425f"/>
    <p:sldId xmlns:r="http://schemas.openxmlformats.org/officeDocument/2006/relationships" id="271" r:id="R766e218c5e644329"/>
    <p:sldId xmlns:r="http://schemas.openxmlformats.org/officeDocument/2006/relationships" id="272" r:id="Ra311020c258443e8"/>
    <p:sldId xmlns:r="http://schemas.openxmlformats.org/officeDocument/2006/relationships" id="273" r:id="R60b907c857384853"/>
    <p:sldId xmlns:r="http://schemas.openxmlformats.org/officeDocument/2006/relationships" id="274" r:id="R17810be5cc344125"/>
  </p:sldIdLst>
  <p:sldSz cx="12191675" cy="6858000"/>
  <p:notesSz cx="6858000" cy="9144000"/>
  <p:embeddedFontLst>
    <p:embeddedFont>
      <p:font typeface="Play"/>
      <p:regular xmlns:r="http://schemas.openxmlformats.org/officeDocument/2006/relationships" r:id="R04fa0d31aba84589"/>
      <p:bold xmlns:r="http://schemas.openxmlformats.org/officeDocument/2006/relationships" r:id="Rd5cad24ca55247b1"/>
    </p:embeddedFont>
  </p:embeddedFontLst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190065341cc4e7d" /><Relationship Type="http://schemas.openxmlformats.org/officeDocument/2006/relationships/slideMaster" Target="/ppt/slideMasters/slideMaster1.xml" Id="R7d22c15ab0de42b8" /><Relationship Type="http://schemas.openxmlformats.org/officeDocument/2006/relationships/notesMaster" Target="/ppt/notesMasters/notesMaster1.xml" Id="R94c87c2633144eee" /><Relationship Type="http://schemas.openxmlformats.org/officeDocument/2006/relationships/presProps" Target="/ppt/presProps.xml" Id="R8d6436c71ab84622" /><Relationship Type="http://schemas.openxmlformats.org/officeDocument/2006/relationships/tableStyles" Target="/ppt/tableStyles.xml" Id="R203d26e4ecc149d9" /><Relationship Type="http://schemas.openxmlformats.org/officeDocument/2006/relationships/font" Target="/ppt/fonts/font.dat" Id="R04fa0d31aba84589" /><Relationship Type="http://schemas.openxmlformats.org/officeDocument/2006/relationships/font" Target="/ppt/fonts/font2.dat" Id="Rd5cad24ca55247b1" /><Relationship Type="http://schemas.openxmlformats.org/officeDocument/2006/relationships/slide" Target="/ppt/slides/slide1.xml" Id="R8064bba4221f4289" /><Relationship Type="http://schemas.openxmlformats.org/officeDocument/2006/relationships/slide" Target="/ppt/slides/slide2.xml" Id="R8f109bd33197424d" /><Relationship Type="http://schemas.openxmlformats.org/officeDocument/2006/relationships/slide" Target="/ppt/slides/slide3.xml" Id="Ref640b584b024900" /><Relationship Type="http://schemas.openxmlformats.org/officeDocument/2006/relationships/slide" Target="/ppt/slides/slide4.xml" Id="Rc9e1b64bd7f6487b" /><Relationship Type="http://schemas.openxmlformats.org/officeDocument/2006/relationships/slide" Target="/ppt/slides/slide5.xml" Id="Refd8c1eeb9064df5" /><Relationship Type="http://schemas.openxmlformats.org/officeDocument/2006/relationships/slide" Target="/ppt/slides/slide6.xml" Id="Re6ce968eda1240b3" /><Relationship Type="http://schemas.openxmlformats.org/officeDocument/2006/relationships/slide" Target="/ppt/slides/slide7.xml" Id="R28feda4141aa4046" /><Relationship Type="http://schemas.openxmlformats.org/officeDocument/2006/relationships/slide" Target="/ppt/slides/slide8.xml" Id="Reef1460f02864803" /><Relationship Type="http://schemas.openxmlformats.org/officeDocument/2006/relationships/slide" Target="/ppt/slides/slide9.xml" Id="R2d38d53aa6294f98" /><Relationship Type="http://schemas.openxmlformats.org/officeDocument/2006/relationships/slide" Target="/ppt/slides/slide10.xml" Id="Rb9b303cdfe6a49a6" /><Relationship Type="http://schemas.openxmlformats.org/officeDocument/2006/relationships/slide" Target="/ppt/slides/slide11.xml" Id="R0189b92fefda40c4" /><Relationship Type="http://schemas.openxmlformats.org/officeDocument/2006/relationships/slide" Target="/ppt/slides/slide12.xml" Id="R4c6f2e25249d4c83" /><Relationship Type="http://schemas.openxmlformats.org/officeDocument/2006/relationships/slide" Target="/ppt/slides/slide13.xml" Id="R0df400e901e741e6" /><Relationship Type="http://schemas.openxmlformats.org/officeDocument/2006/relationships/slide" Target="/ppt/slides/slide14.xml" Id="Rbfd8070790714627" /><Relationship Type="http://schemas.openxmlformats.org/officeDocument/2006/relationships/slide" Target="/ppt/slides/slide15.xml" Id="R39dd26785849425f" /><Relationship Type="http://schemas.openxmlformats.org/officeDocument/2006/relationships/slide" Target="/ppt/slides/slide16.xml" Id="R766e218c5e644329" /><Relationship Type="http://schemas.openxmlformats.org/officeDocument/2006/relationships/slide" Target="/ppt/slides/slide17.xml" Id="Ra311020c258443e8" /><Relationship Type="http://schemas.openxmlformats.org/officeDocument/2006/relationships/slide" Target="/ppt/slides/slide18.xml" Id="R60b907c857384853" /><Relationship Type="http://schemas.openxmlformats.org/officeDocument/2006/relationships/slide" Target="/ppt/slides/slide19.xml" Id="R17810be5cc34412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d5cb2570fc64bc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4bed6b118ea4a56" /><Relationship Type="http://schemas.openxmlformats.org/officeDocument/2006/relationships/notesMaster" Target="/ppt/notesMasters/notesMaster1.xml" Id="R5f8a25f1a8e4423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defecbe32334380" /><Relationship Type="http://schemas.openxmlformats.org/officeDocument/2006/relationships/notesMaster" Target="/ppt/notesMasters/notesMaster1.xml" Id="R18c9b84db1d2450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2dbd9c122844a01" /><Relationship Type="http://schemas.openxmlformats.org/officeDocument/2006/relationships/notesMaster" Target="/ppt/notesMasters/notesMaster1.xml" Id="R0269b4d297004ff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8831104bdf448e9" /><Relationship Type="http://schemas.openxmlformats.org/officeDocument/2006/relationships/notesMaster" Target="/ppt/notesMasters/notesMaster1.xml" Id="R1d6cd56cb43b41f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a4155e4ffa54246" /><Relationship Type="http://schemas.openxmlformats.org/officeDocument/2006/relationships/notesMaster" Target="/ppt/notesMasters/notesMaster1.xml" Id="R39fbd78a8ede4a1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8825843b3d14eab" /><Relationship Type="http://schemas.openxmlformats.org/officeDocument/2006/relationships/notesMaster" Target="/ppt/notesMasters/notesMaster1.xml" Id="R9a5a339df04d4b7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0c55b9966f44940" /><Relationship Type="http://schemas.openxmlformats.org/officeDocument/2006/relationships/notesMaster" Target="/ppt/notesMasters/notesMaster1.xml" Id="R7b53a05c960145f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9a8c274f8c74352" /><Relationship Type="http://schemas.openxmlformats.org/officeDocument/2006/relationships/notesMaster" Target="/ppt/notesMasters/notesMaster1.xml" Id="R08220dac57cf44f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8ad45f5d0944967" /><Relationship Type="http://schemas.openxmlformats.org/officeDocument/2006/relationships/notesMaster" Target="/ppt/notesMasters/notesMaster1.xml" Id="Raeca108ba87a4bf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9934d809b9d4858" /><Relationship Type="http://schemas.openxmlformats.org/officeDocument/2006/relationships/notesMaster" Target="/ppt/notesMasters/notesMaster1.xml" Id="Rf2edb8e3fb854ef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3ae1c85851c4144" /><Relationship Type="http://schemas.openxmlformats.org/officeDocument/2006/relationships/notesMaster" Target="/ppt/notesMasters/notesMaster1.xml" Id="R4dc09162916d463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6a9023067914255" /><Relationship Type="http://schemas.openxmlformats.org/officeDocument/2006/relationships/notesMaster" Target="/ppt/notesMasters/notesMaster1.xml" Id="R1e623bd8c9f0421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2740135a5174322" /><Relationship Type="http://schemas.openxmlformats.org/officeDocument/2006/relationships/notesMaster" Target="/ppt/notesMasters/notesMaster1.xml" Id="R6017116614864a4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1193cb73f76415f" /><Relationship Type="http://schemas.openxmlformats.org/officeDocument/2006/relationships/notesMaster" Target="/ppt/notesMasters/notesMaster1.xml" Id="Rb41730dca335457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cc0fe0795bc49d0" /><Relationship Type="http://schemas.openxmlformats.org/officeDocument/2006/relationships/notesMaster" Target="/ppt/notesMasters/notesMaster1.xml" Id="R6df7aa5f9dbc449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f3fc2d9fbc94b98" /><Relationship Type="http://schemas.openxmlformats.org/officeDocument/2006/relationships/notesMaster" Target="/ppt/notesMasters/notesMaster1.xml" Id="R4fb265a1932a424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87b0c8d3b804d5e" /><Relationship Type="http://schemas.openxmlformats.org/officeDocument/2006/relationships/notesMaster" Target="/ppt/notesMasters/notesMaster1.xml" Id="Rb2b1572381394d2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af4030d0fb14a4b" /><Relationship Type="http://schemas.openxmlformats.org/officeDocument/2006/relationships/notesMaster" Target="/ppt/notesMasters/notesMaster1.xml" Id="R5fc41b2046c2449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e031f69e363411c" /><Relationship Type="http://schemas.openxmlformats.org/officeDocument/2006/relationships/notesMaster" Target="/ppt/notesMasters/notesMaster1.xml" Id="R191853645747451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PRIMARY TEACHING MOMENT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Unit 4, Week 19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REVISIT / REFERENCE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Unit 4, Week 20 during interpretation and claims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REQUIRED WEEK 19 MATERIALS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Unit 4 Student Handouts 9-12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Unit 4 Appendices H-K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REQUIRED WEEK 20 MATERIALS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Unit 4 Student Handouts 13-17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Unit 4 Appendix N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OPTIONAL / TEACHER REFERENCE FOR WEEK 20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Unit 4 Appendices L-M and O-Q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RESOURCE ALIGNMENT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 uncertainty and limitations with graphing in Week 19, then revisit the relevant ideas before students finalize interpretations in Week 20.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notes:</a:t>
            </a:r>
            <a:br/>
            <a:r>
              <a:t>Frame this lesson as an upgrade from “my project had human error” to a more precise explanation of confidence and limitations. Students should understand that uncertainty does not ruin research; ignoring uncertainty does.</a:t>
            </a:r>
            <a:br/>
            <a:br/>
            <a:r>
              <a:t>Resource alignment:</a:t>
            </a:r>
            <a:br/>
            <a:r>
              <a:t>Use with Unit 4 Student Handout 11: Error, Uncertainty, and Limitations Review. Students can use the opening prompt to begin Part D on limitations. Next deck connection: Deck 13: Scientific Report Structure.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notes:</a:t>
            </a:r>
            <a:br/>
            <a:r>
              <a:t>Many students collapse everything into “error.” Slow down and define the difference. Ask students which term best fits their project’s biggest issue right now.</a:t>
            </a:r>
            <a:br/>
            <a:br/>
            <a:r>
              <a:t>Resource alignment:</a:t>
            </a:r>
            <a:br/>
            <a:r>
              <a:t>Use with Unit 4 Student Handout 11: Error, Uncertainty, and Limitations Review. Students can classify their concerns under measurement uncertainty, variability, sources of error, and limitations. Next deck connection: Deck 13: Scientific Report Structure.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notes:</a:t>
            </a:r>
            <a:br/>
            <a:r>
              <a:t>This is one of the most important language corrections in the deck. Require students to name the specific mechanism of uncertainty rather than using “human error” as a catchall.</a:t>
            </a:r>
            <a:br/>
            <a:br/>
            <a:r>
              <a:t>Resource alignment:</a:t>
            </a:r>
            <a:br/>
            <a:r>
              <a:t>Use with Unit 5 Appendix I: Limitations and Error Analysis Guide. Also use Unit 4 Student Handout 11, Part C: Sources of Error. Next deck connection: Deck 13: Scientific Report Structure.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notes:</a:t>
            </a:r>
            <a:br/>
            <a:r>
              <a:t>Use project examples from the room. Ask students to hold up or name a measurement tool from their project and identify its precision or likely weak point.</a:t>
            </a:r>
            <a:br/>
            <a:br/>
            <a:r>
              <a:t>Resource alignment:</a:t>
            </a:r>
            <a:br/>
            <a:r>
              <a:t>Use with Unit 4 Student Handout 11, Part A: Measurement Uncertainty. Reference Unit 4 Appendix J: Error Bars and Uncertainty Basics when students have repeated measurements. Next deck connection: Deck 13: Scientific Report Structure.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notes:</a:t>
            </a:r>
            <a:br/>
            <a:r>
              <a:t>Keep this conceptual. Students do not need advanced statistics, but they should understand that “more trials” does not fix every problem. A biased instrument can remain biased across many trials.</a:t>
            </a:r>
            <a:br/>
            <a:br/>
            <a:r>
              <a:t>Resource alignment:</a:t>
            </a:r>
            <a:br/>
            <a:r>
              <a:t>Use with Unit 4 Student Handout 11, Part C: Sources of Error. This also supports later discussion writing in Unit 5 Student Handout 6: Discussion Builder. Next deck connection: Deck 13: Scientific Report Structure.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notes:</a:t>
            </a:r>
            <a:br/>
            <a:r>
              <a:t>Explain that variability is not automatically bad. It can reveal instability, sensitivity, inconsistent method, or natural variation. Students should describe spread before interpreting causes.</a:t>
            </a:r>
            <a:br/>
            <a:br/>
            <a:r>
              <a:t>Resource alignment:</a:t>
            </a:r>
            <a:br/>
            <a:r>
              <a:t>Use with Unit 4 Student Handout 11, Part B: Variability. Reference Unit 4 Appendix J: Error Bars and Uncertainty Basics if students have repeated measurements. Next deck connection: Deck 13: Scientific Report Structure.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notes:</a:t>
            </a:r>
            <a:br/>
            <a:r>
              <a:t>Keep the explanation concrete. Do not require error bars for every project, but require students to know what an error bar represents if they use one.</a:t>
            </a:r>
            <a:br/>
            <a:br/>
            <a:r>
              <a:t>Resource alignment:</a:t>
            </a:r>
            <a:br/>
            <a:r>
              <a:t>Use with Unit 4 Appendix J: Error Bars and Uncertainty Basics. Also supports Unit 4 Student Handout 11, Parts B and C. Next deck connection: Deck 13: Scientific Report Structure.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notes:</a:t>
            </a:r>
            <a:br/>
            <a:r>
              <a:t>Students may think limitations lower their grade. Explain that precise limitations strengthen credibility because they show the researcher knows the boundaries of the evidence.</a:t>
            </a:r>
            <a:br/>
            <a:br/>
            <a:r>
              <a:t>Resource alignment:</a:t>
            </a:r>
            <a:br/>
            <a:r>
              <a:t>Use with Unit 5 Appendix I: Limitations and Error Analysis Guide and Unit 5 Student Handout 6: Discussion Builder. This prepares students for Unit 5 discussion writing. Next deck connection: Deck 13: Scientific Report Structure.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notes:</a:t>
            </a:r>
            <a:br/>
            <a:r>
              <a:t>Use this as a menu, not a checklist. Students should choose limitations that truly affect their project rather than listing every possible problem.</a:t>
            </a:r>
            <a:br/>
            <a:br/>
            <a:r>
              <a:t>Resource alignment:</a:t>
            </a:r>
            <a:br/>
            <a:r>
              <a:t>Use with Unit 4 Student Handout 11, Part D: Limitations. Also reference Unit 5 Appendix I: Limitations and Error Analysis Guide. Next deck connection: Deck 13: Scientific Report Structure.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notes:</a:t>
            </a:r>
            <a:br/>
            <a:r>
              <a:t>Model the tone of scientific caution. The goal is not to weaken every claim, but to match the conclusion to the evidence and limitations.</a:t>
            </a:r>
            <a:br/>
            <a:br/>
            <a:r>
              <a:t>Resource alignment:</a:t>
            </a:r>
            <a:br/>
            <a:r>
              <a:t>Use with Unit 4 Appendix M: Avoiding Overclaiming and Unit 4 Appendix L: Scientific Interpretation Sentence Frames. Also supports Unit 5 Student Handout 6: Discussion Builder. Next deck connection: Deck 13: Scientific Report Structure.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notes:</a:t>
            </a:r>
            <a:br/>
            <a:r>
              <a:t>Use this to help students select appropriate language. A project can still be successful with preliminary evidence as long as the interpretation is honest.</a:t>
            </a:r>
            <a:br/>
            <a:br/>
            <a:r>
              <a:t>Resource alignment:</a:t>
            </a:r>
            <a:br/>
            <a:r>
              <a:t>Use with Unit 4 Appendix L: Scientific Interpretation Sentence Frames and Unit 4 Appendix M: Avoiding Overclaiming. Next deck connection: Deck 13: Scientific Report Structure.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notes:</a:t>
            </a:r>
            <a:br/>
            <a:r>
              <a:t>This slide prevents engineering students from feeling that the lesson only applies to experiments. Engineering limitations can be about test conditions, criteria, constraints, or iteration count.</a:t>
            </a:r>
            <a:br/>
            <a:br/>
            <a:r>
              <a:t>Resource alignment:</a:t>
            </a:r>
            <a:br/>
            <a:r>
              <a:t>Use with Unit 4 Student Handout 8: Engineering Performance Analysis if students have it available, plus Unit 4 Student Handout 11: Error, Uncertainty, and Limitations Review. Next deck connection: Deck 13: Scientific Report Structure.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notes:</a:t>
            </a:r>
            <a:br/>
            <a:r>
              <a:t>Students with incomplete data often panic. Give them acceptable scientific frames: preliminary results, pilot study, feasibility test, or method-development project.</a:t>
            </a:r>
            <a:br/>
            <a:br/>
            <a:r>
              <a:t>Resource alignment:</a:t>
            </a:r>
            <a:br/>
            <a:r>
              <a:t>Use with Unit 4 Student Handout 16: Unit 4 Analysis Summary if available, and Unit 5 Student Handout 6: Discussion Builder. Also connects to Unit 3 Appendix P: Recovery Plan Options. Next deck connection: Deck 13: Scientific Report Structure.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notes:</a:t>
            </a:r>
            <a:br/>
            <a:r>
              <a:t>Give students quiet writing time first, then peer exchange. The partner’s job is to ask whether the limitation is specific and whether the effect on interpretation is clear.</a:t>
            </a:r>
            <a:br/>
            <a:br/>
            <a:r>
              <a:t>Resource alignment:</a:t>
            </a:r>
            <a:br/>
            <a:r>
              <a:t>Use with Unit 4 Student Handout 11: Error, Uncertainty, and Limitations Review and Unit 5 Appendix I: Limitations and Error Analysis Guide. Next deck connection: Deck 13: Scientific Report Structure.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notes:</a:t>
            </a:r>
            <a:br/>
            <a:r>
              <a:t>Make future work more than “do more research.” It should name a concrete next test, measurement, sample, design change, or analysis improvement.</a:t>
            </a:r>
            <a:br/>
            <a:br/>
            <a:r>
              <a:t>Resource alignment:</a:t>
            </a:r>
            <a:br/>
            <a:r>
              <a:t>Use with Unit 5 Student Handout 6: Discussion Builder, Part F: Future Work. Also supports Unit 5 Appendix I: Limitations and Error Analysis Guide. Next deck connection: Deck 13: Scientific Report Structure.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notes:</a:t>
            </a:r>
            <a:br/>
            <a:r>
              <a:t>Use this as the bridge to report writing. Students should see that limitations are not a separate apology paragraph; they are woven into discussion, conclusion, and future work.</a:t>
            </a:r>
            <a:br/>
            <a:br/>
            <a:r>
              <a:t>Resource alignment:</a:t>
            </a:r>
            <a:br/>
            <a:r>
              <a:t>Use with Unit 5 Student Handout 6: Discussion Builder and Unit 5 Appendix H: Claim-Evidence-Reasoning Guide. Next deck connection: Deck 13: Scientific Report Structure.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notes:</a:t>
            </a:r>
            <a:br/>
            <a:r>
              <a:t>Collect this as a quick readiness check for Unit 5 writing. Students who cannot complete sentence 2 or 3 need help identifying a specific limitation before writing the discussion.</a:t>
            </a:r>
            <a:br/>
            <a:br/>
            <a:r>
              <a:t>Resource alignment:</a:t>
            </a:r>
            <a:br/>
            <a:r>
              <a:t>Use with Unit 4 Student Handout 11 and Unit 5 Student Handout 6: Discussion Builder. This exit ticket becomes a bridge into Deck 13: Scientific Report Structure.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notes:</a:t>
            </a:r>
            <a:br/>
            <a:r>
              <a:t>Close by previewing the shift from analysis to communication. Students should see that today’s careful claims become the backbone of the report.</a:t>
            </a:r>
            <a:br/>
            <a:br/>
            <a:r>
              <a:t>Resource alignment:</a:t>
            </a:r>
            <a:br/>
            <a:r>
              <a:t>Next deck connection: Deck 13: Scientific Report Structure. Students should bring their Unit 4 Analysis Summary, graphs, captions, and limitation notes into Unit 5 report writing.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6e4e1926a84d7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1f64794ca64633" /></Relationships>
</file>

<file path=ppt/slideLayouts/slideLayout1.xml><?xml version="1.0" encoding="utf-8"?>
<p:sldLayout xmlns:p="http://schemas.openxmlformats.org/presentationml/2006/main" matchingName="BLACK">
  <p:cSld name="BLACK"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matchingName="DEFAULT">
  <p:cSld name="DEFAULT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41b5ea3e6ac45a6" /><Relationship Type="http://schemas.openxmlformats.org/officeDocument/2006/relationships/slideLayout" Target="/ppt/slideLayouts/slideLayout1.xml" Id="Rfd6b25a6a75f4298" /><Relationship Type="http://schemas.openxmlformats.org/officeDocument/2006/relationships/slideLayout" Target="/ppt/slideLayouts/slideLayout2.xml" Id="R47254327302d4bb7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d6b25a6a75f4298"/>
    <p:sldLayoutId xmlns:r="http://schemas.openxmlformats.org/officeDocument/2006/relationships" id="2147483650" r:id="R47254327302d4bb7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a0ff4746ca4b4c" /><Relationship Type="http://schemas.openxmlformats.org/officeDocument/2006/relationships/image" Target="/ppt/media/image.png" Id="Rddd28497e73245b2" /><Relationship Type="http://schemas.openxmlformats.org/officeDocument/2006/relationships/notesSlide" Target="/ppt/notesSlides/notesSlide1.xml" Id="Rf97b1292aa064d9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a3d36189864460" /><Relationship Type="http://schemas.openxmlformats.org/officeDocument/2006/relationships/notesSlide" Target="/ppt/notesSlides/notesSlide2.xml" Id="R04c7f7746c9d4cf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862be0bfd24e9a" /><Relationship Type="http://schemas.openxmlformats.org/officeDocument/2006/relationships/notesSlide" Target="/ppt/notesSlides/notesSlide3.xml" Id="Rff8afbb9f83744e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53b618a3034c82" /><Relationship Type="http://schemas.openxmlformats.org/officeDocument/2006/relationships/notesSlide" Target="/ppt/notesSlides/notesSlide4.xml" Id="R878d41a9a0b9451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a35d9f09644086" /><Relationship Type="http://schemas.openxmlformats.org/officeDocument/2006/relationships/notesSlide" Target="/ppt/notesSlides/notesSlide5.xml" Id="R8f3e7c063aed420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de839afd0e4f5f" /><Relationship Type="http://schemas.openxmlformats.org/officeDocument/2006/relationships/notesSlide" Target="/ppt/notesSlides/notesSlide6.xml" Id="Rba146341a50745d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c45353df004ff1" /><Relationship Type="http://schemas.openxmlformats.org/officeDocument/2006/relationships/notesSlide" Target="/ppt/notesSlides/notesSlide7.xml" Id="R1c5d0be6fe30416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f082f10b414375" /><Relationship Type="http://schemas.openxmlformats.org/officeDocument/2006/relationships/notesSlide" Target="/ppt/notesSlides/notesSlide8.xml" Id="Rcbdfe4cd8ee147f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871777a9e14b43" /><Relationship Type="http://schemas.openxmlformats.org/officeDocument/2006/relationships/notesSlide" Target="/ppt/notesSlides/notesSlide9.xml" Id="Rec0843187599448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90d9f886634117" /><Relationship Type="http://schemas.openxmlformats.org/officeDocument/2006/relationships/notesSlide" Target="/ppt/notesSlides/notesSlide10.xml" Id="R93e9c82d50d64f3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280dc00538468f" /><Relationship Type="http://schemas.openxmlformats.org/officeDocument/2006/relationships/notesSlide" Target="/ppt/notesSlides/notesSlide11.xml" Id="R7d80ed3917e8480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2d5a867a1c40bc" /><Relationship Type="http://schemas.openxmlformats.org/officeDocument/2006/relationships/notesSlide" Target="/ppt/notesSlides/notesSlide12.xml" Id="Reda401b609e7429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86854afc5846cf" /><Relationship Type="http://schemas.openxmlformats.org/officeDocument/2006/relationships/notesSlide" Target="/ppt/notesSlides/notesSlide13.xml" Id="R9c563848bcc546f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3cae40bc734e5d" /><Relationship Type="http://schemas.openxmlformats.org/officeDocument/2006/relationships/notesSlide" Target="/ppt/notesSlides/notesSlide14.xml" Id="Rae006d2463294bf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7be9cf8af04e1e" /><Relationship Type="http://schemas.openxmlformats.org/officeDocument/2006/relationships/notesSlide" Target="/ppt/notesSlides/notesSlide15.xml" Id="R6d1a7c825f264e2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e5fd5fe3564f92" /><Relationship Type="http://schemas.openxmlformats.org/officeDocument/2006/relationships/notesSlide" Target="/ppt/notesSlides/notesSlide16.xml" Id="R2875b2e070d745b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8ec2830bbd4ae6" /><Relationship Type="http://schemas.openxmlformats.org/officeDocument/2006/relationships/notesSlide" Target="/ppt/notesSlides/notesSlide17.xml" Id="Rdc44a7f9a0e4409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1a96b124094d36" /><Relationship Type="http://schemas.openxmlformats.org/officeDocument/2006/relationships/notesSlide" Target="/ppt/notesSlides/notesSlide18.xml" Id="R52760d77f1d94b8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d4b9073c254374" /><Relationship Type="http://schemas.openxmlformats.org/officeDocument/2006/relationships/notesSlide" Target="/ppt/notesSlides/notesSlide19.xml" Id="Re7a4b4e7a24b44c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oogle Shape;17;p4">
            <a:extLst xmlns:a="http://schemas.openxmlformats.org/drawingml/2006/main">
              <a:ext uri="{FF2B5EF4-FFF2-40B4-BE49-F238E27FC236}">
                <a16:creationId xmlns:a16="http://schemas.microsoft.com/office/drawing/2014/main" id="{5460E1B3-97BD-4543-877D-66AAD89BA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2700" cmpd="sng">
            <a:solidFill>
              <a:srgbClr val="050505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8" name="Google Shape;18;p4">
            <a:extLst xmlns:a="http://schemas.openxmlformats.org/drawingml/2006/main">
              <a:ext uri="{FF2B5EF4-FFF2-40B4-BE49-F238E27FC236}">
                <a16:creationId xmlns:a16="http://schemas.microsoft.com/office/drawing/2014/main" id="{C186E621-1364-45DD-8D71-692CCB8E4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4592"/>
            <a:ext cx="12191695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2622"/>
          </a:solidFill>
          <a:ln xmlns:a="http://schemas.openxmlformats.org/drawingml/2006/main" w="12700" cmpd="sng">
            <a:solidFill>
              <a:srgbClr val="E2262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9" name="Google Shape;19;p4">
            <a:extLst xmlns:a="http://schemas.openxmlformats.org/drawingml/2006/main">
              <a:ext uri="{FF2B5EF4-FFF2-40B4-BE49-F238E27FC236}">
                <a16:creationId xmlns:a16="http://schemas.microsoft.com/office/drawing/2014/main" id="{76E60512-A060-474C-94B7-81E15498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01968"/>
            <a:ext cx="12191695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2622"/>
          </a:solidFill>
          <a:ln xmlns:a="http://schemas.openxmlformats.org/drawingml/2006/main" w="12700" cmpd="sng">
            <a:solidFill>
              <a:srgbClr val="E2262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30" name="Google Shape;20;p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dd28497e73245b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645920" y="438912"/>
            <a:ext cx="9006840" cy="361188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1" name="Google Shape;21;p4">
            <a:extLst xmlns:a="http://schemas.openxmlformats.org/drawingml/2006/main">
              <a:ext uri="{FF2B5EF4-FFF2-40B4-BE49-F238E27FC236}">
                <a16:creationId xmlns:a16="http://schemas.microsoft.com/office/drawing/2014/main" id="{6EFE2D97-561B-4DE5-B7A3-3C20D7189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4617720"/>
            <a:ext cx="1046988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>
              <a:alpha val="90196"/>
            </a:srgbClr>
          </a:solidFill>
          <a:ln xmlns:a="http://schemas.openxmlformats.org/drawingml/2006/main" w="12700" cmpd="sng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2" name="Google Shape;22;p4">
            <a:extLst xmlns:a="http://schemas.openxmlformats.org/drawingml/2006/main">
              <a:ext uri="{FF2B5EF4-FFF2-40B4-BE49-F238E27FC236}">
                <a16:creationId xmlns:a16="http://schemas.microsoft.com/office/drawing/2014/main" id="{8A843FA0-214C-4E79-B590-6E06846E3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4681728"/>
            <a:ext cx="10012680" cy="7132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Play"/>
              <a:buNone/>
            </a:pPr>
            <a:r>
              <a:rPr sz="2800" b="1" i="0" u="none" cap="none">
                <a:solidFill>
                  <a:srgbClr val="FFFFFF"/>
                </a:solidFill>
                <a:latin typeface="Play"/>
                <a:ea typeface="Play"/>
                <a:cs typeface="Play"/>
              </a:rPr>
              <a:t>ERROR, UNCERTAINTY,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Play"/>
              <a:buNone/>
            </a:pPr>
            <a:r>
              <a:rPr sz="2800" b="1" i="0" u="none" cap="none">
                <a:solidFill>
                  <a:srgbClr val="FFFFFF"/>
                </a:solidFill>
                <a:latin typeface="Play"/>
                <a:ea typeface="Play"/>
                <a:cs typeface="Play"/>
              </a:rPr>
              <a:t>&amp; LIMITATIONS</a:t>
            </a:r>
          </a:p>
        </p:txBody>
      </p:sp>
      <p:sp>
        <p:nvSpPr>
          <p:cNvPr id="23" name="Google Shape;23;p4">
            <a:extLst xmlns:a="http://schemas.openxmlformats.org/drawingml/2006/main">
              <a:ext uri="{FF2B5EF4-FFF2-40B4-BE49-F238E27FC236}">
                <a16:creationId xmlns:a16="http://schemas.microsoft.com/office/drawing/2014/main" id="{A032FCB5-1FF8-41B8-9D85-772BDD70B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5522976"/>
            <a:ext cx="731520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300"/>
              <a:buFont typeface="Arial"/>
              <a:buNone/>
            </a:pPr>
            <a:r>
              <a:rPr sz="1300" b="0" i="0" u="non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STARLAB Deck 12  •  Unit 4–5 Core Instruction</a:t>
            </a:r>
          </a:p>
        </p:txBody>
      </p:sp>
      <p:sp>
        <p:nvSpPr>
          <p:cNvPr id="24" name="Google Shape;24;p4">
            <a:extLst xmlns:a="http://schemas.openxmlformats.org/drawingml/2006/main">
              <a:ext uri="{FF2B5EF4-FFF2-40B4-BE49-F238E27FC236}">
                <a16:creationId xmlns:a16="http://schemas.microsoft.com/office/drawing/2014/main" id="{C8689541-F8EB-4E70-A416-DA83AD0C8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419088"/>
            <a:ext cx="292608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000"/>
              <a:buFont typeface="Arial"/>
              <a:buNone/>
            </a:pPr>
            <a:r>
              <a:rPr sz="1000" b="1" i="0" u="non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UNIT 4–5 CORE INSTRUCTION</a:t>
            </a:r>
          </a:p>
        </p:txBody>
      </p:sp>
      <p:sp>
        <p:nvSpPr>
          <p:cNvPr id="25" name="Google Shape;25;p4">
            <a:extLst xmlns:a="http://schemas.openxmlformats.org/drawingml/2006/main">
              <a:ext uri="{FF2B5EF4-FFF2-40B4-BE49-F238E27FC236}">
                <a16:creationId xmlns:a16="http://schemas.microsoft.com/office/drawing/2014/main" id="{790FE757-9281-488A-B112-F496CD9BF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19088"/>
            <a:ext cx="146304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000"/>
              <a:buFont typeface="Arial"/>
              <a:buNone/>
            </a:pPr>
            <a:r>
              <a:rPr sz="1000" b="1" i="0" u="non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STARLAB</a:t>
            </a:r>
          </a:p>
        </p:txBody>
      </p:sp>
    </p:spTree>
    <p:extLst>
      <p:ext uri="{BB962C8B-B14F-4D97-AF65-F5344CB8AC3E}">
        <p14:creationId xmlns:p14="http://schemas.microsoft.com/office/powerpoint/2010/main" val="20760447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Google Shape;31;p5">
            <a:extLst xmlns:a="http://schemas.openxmlformats.org/drawingml/2006/main">
              <a:ext uri="{FF2B5EF4-FFF2-40B4-BE49-F238E27FC236}">
                <a16:creationId xmlns:a16="http://schemas.microsoft.com/office/drawing/2014/main" id="{2CD8E08D-8A95-44B0-8FBA-1F84C5B5B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2700" cmpd="sng">
            <a:solidFill>
              <a:srgbClr val="050505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2" name="Google Shape;32;p5">
            <a:extLst xmlns:a="http://schemas.openxmlformats.org/drawingml/2006/main">
              <a:ext uri="{FF2B5EF4-FFF2-40B4-BE49-F238E27FC236}">
                <a16:creationId xmlns:a16="http://schemas.microsoft.com/office/drawing/2014/main" id="{A0A43A9B-0DCE-4375-86FB-0B75A1ED6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4592"/>
            <a:ext cx="12191695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2622"/>
          </a:solidFill>
          <a:ln xmlns:a="http://schemas.openxmlformats.org/drawingml/2006/main" w="12700" cmpd="sng">
            <a:solidFill>
              <a:srgbClr val="E2262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3" name="Google Shape;33;p5">
            <a:extLst xmlns:a="http://schemas.openxmlformats.org/drawingml/2006/main">
              <a:ext uri="{FF2B5EF4-FFF2-40B4-BE49-F238E27FC236}">
                <a16:creationId xmlns:a16="http://schemas.microsoft.com/office/drawing/2014/main" id="{F6FDB800-6B0E-479B-8A0C-A93FE39F8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01968"/>
            <a:ext cx="12191695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2622"/>
          </a:solidFill>
          <a:ln xmlns:a="http://schemas.openxmlformats.org/drawingml/2006/main" w="12700" cmpd="sng">
            <a:solidFill>
              <a:srgbClr val="E2262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4" name="Google Shape;34;p5">
            <a:extLst xmlns:a="http://schemas.openxmlformats.org/drawingml/2006/main">
              <a:ext uri="{FF2B5EF4-FFF2-40B4-BE49-F238E27FC236}">
                <a16:creationId xmlns:a16="http://schemas.microsoft.com/office/drawing/2014/main" id="{8097C845-3BB6-4FAE-98B5-C9D77B76B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502920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sz="900" b="1" i="0" u="non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ERROR • UNCERTAINTY • LIMITATIONS</a:t>
            </a:r>
          </a:p>
        </p:txBody>
      </p:sp>
      <p:sp>
        <p:nvSpPr>
          <p:cNvPr id="35" name="Google Shape;35;p5">
            <a:extLst xmlns:a="http://schemas.openxmlformats.org/drawingml/2006/main">
              <a:ext uri="{FF2B5EF4-FFF2-40B4-BE49-F238E27FC236}">
                <a16:creationId xmlns:a16="http://schemas.microsoft.com/office/drawing/2014/main" id="{6E9640EC-C470-46EA-895D-6B0127FF6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0" y="384048"/>
            <a:ext cx="214884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sz="900" b="1" i="0" u="non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STARLAB Deck 12</a:t>
            </a:r>
          </a:p>
        </p:txBody>
      </p:sp>
      <p:sp>
        <p:nvSpPr>
          <p:cNvPr id="36" name="Google Shape;36;p5">
            <a:extLst xmlns:a="http://schemas.openxmlformats.org/drawingml/2006/main">
              <a:ext uri="{FF2B5EF4-FFF2-40B4-BE49-F238E27FC236}">
                <a16:creationId xmlns:a16="http://schemas.microsoft.com/office/drawing/2014/main" id="{3C7D17A6-7572-4B88-A07F-3FE106642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749808"/>
            <a:ext cx="1088136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Play"/>
              <a:buNone/>
            </a:pPr>
            <a:r>
              <a:rPr sz="3000" b="1" i="0" u="none" cap="none">
                <a:solidFill>
                  <a:srgbClr val="FFFFFF"/>
                </a:solidFill>
                <a:latin typeface="Play"/>
                <a:ea typeface="Play"/>
                <a:cs typeface="Play"/>
              </a:rPr>
              <a:t>Today’s target: honest interpretation</a:t>
            </a:r>
          </a:p>
        </p:txBody>
      </p:sp>
      <p:sp>
        <p:nvSpPr>
          <p:cNvPr id="37" name="Google Shape;37;p5">
            <a:extLst xmlns:a="http://schemas.openxmlformats.org/drawingml/2006/main">
              <a:ext uri="{FF2B5EF4-FFF2-40B4-BE49-F238E27FC236}">
                <a16:creationId xmlns:a16="http://schemas.microsoft.com/office/drawing/2014/main" id="{497D2241-5075-41DC-992F-1905690EE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89888"/>
            <a:ext cx="105156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2622"/>
          </a:solidFill>
          <a:ln xmlns:a="http://schemas.openxmlformats.org/drawingml/2006/main" w="12700" cmpd="sng">
            <a:solidFill>
              <a:srgbClr val="E2262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8" name="Google Shape;38;p5">
            <a:extLst xmlns:a="http://schemas.openxmlformats.org/drawingml/2006/main">
              <a:ext uri="{FF2B5EF4-FFF2-40B4-BE49-F238E27FC236}">
                <a16:creationId xmlns:a16="http://schemas.microsoft.com/office/drawing/2014/main" id="{D2B493DC-ECE0-4F4D-A322-AB4F450B7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419088"/>
            <a:ext cx="292608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000"/>
              <a:buFont typeface="Arial"/>
              <a:buNone/>
            </a:pPr>
            <a:r>
              <a:rPr sz="1000" b="1" i="0" u="non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UNIT 4</a:t>
            </a:r>
          </a:p>
        </p:txBody>
      </p:sp>
      <p:sp>
        <p:nvSpPr>
          <p:cNvPr id="39" name="Google Shape;39;p5">
            <a:extLst xmlns:a="http://schemas.openxmlformats.org/drawingml/2006/main">
              <a:ext uri="{FF2B5EF4-FFF2-40B4-BE49-F238E27FC236}">
                <a16:creationId xmlns:a16="http://schemas.microsoft.com/office/drawing/2014/main" id="{C1CD9B50-32A0-451D-A4AF-82CF19236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19088"/>
            <a:ext cx="146304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000"/>
              <a:buFont typeface="Arial"/>
              <a:buNone/>
            </a:pPr>
            <a:r>
              <a:rPr sz="1000" b="1" i="0" u="non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STARLAB</a:t>
            </a:r>
          </a:p>
        </p:txBody>
      </p:sp>
      <p:sp>
        <p:nvSpPr>
          <p:cNvPr id="40" name="Google Shape;40;p5">
            <a:extLst xmlns:a="http://schemas.openxmlformats.org/drawingml/2006/main">
              <a:ext uri="{FF2B5EF4-FFF2-40B4-BE49-F238E27FC236}">
                <a16:creationId xmlns:a16="http://schemas.microsoft.com/office/drawing/2014/main" id="{47883B87-1716-4217-A693-BA0D27DE9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627632"/>
            <a:ext cx="1069848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25" tIns="625" rIns="625" bIns="625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sz="210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By the end, students should be able to explain how uncertainty, error, variability, and limitations affect what their data can responsibly claim.</a:t>
            </a:r>
          </a:p>
        </p:txBody>
      </p:sp>
      <p:sp>
        <p:nvSpPr>
          <p:cNvPr id="41" name="Google Shape;41;p5">
            <a:extLst xmlns:a="http://schemas.openxmlformats.org/drawingml/2006/main">
              <a:ext uri="{FF2B5EF4-FFF2-40B4-BE49-F238E27FC236}">
                <a16:creationId xmlns:a16="http://schemas.microsoft.com/office/drawing/2014/main" id="{74144085-0F1C-43A9-BF08-FC6871182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423160"/>
            <a:ext cx="3429000" cy="196596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0B0B0B"/>
          </a:solidFill>
          <a:ln xmlns:a="http://schemas.openxmlformats.org/drawingml/2006/main" w="12700" cmpd="sng">
            <a:solidFill>
              <a:srgbClr val="555555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2" name="Google Shape;42;p5">
            <a:extLst xmlns:a="http://schemas.openxmlformats.org/drawingml/2006/main">
              <a:ext uri="{FF2B5EF4-FFF2-40B4-BE49-F238E27FC236}">
                <a16:creationId xmlns:a16="http://schemas.microsoft.com/office/drawing/2014/main" id="{114CFD05-CC92-49A6-B94B-2153D71A1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423160"/>
            <a:ext cx="73152" cy="1965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2622"/>
          </a:solidFill>
          <a:ln xmlns:a="http://schemas.openxmlformats.org/drawingml/2006/main" w="12700" cmpd="sng">
            <a:solidFill>
              <a:srgbClr val="E2262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3" name="Google Shape;43;p5">
            <a:extLst xmlns:a="http://schemas.openxmlformats.org/drawingml/2006/main">
              <a:ext uri="{FF2B5EF4-FFF2-40B4-BE49-F238E27FC236}">
                <a16:creationId xmlns:a16="http://schemas.microsoft.com/office/drawing/2014/main" id="{C3E68B3E-3F9B-430F-BE86-2F8EC5F65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587752"/>
            <a:ext cx="301752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22622"/>
              </a:buClr>
              <a:buSzPts val="1400"/>
              <a:buFont typeface="Arial"/>
              <a:buNone/>
            </a:pPr>
            <a:r>
              <a:rPr sz="1400" b="1" i="0" u="none" cap="none">
                <a:solidFill>
                  <a:srgbClr val="E22622"/>
                </a:solidFill>
                <a:latin typeface="Arial"/>
                <a:ea typeface="Arial"/>
                <a:cs typeface="Arial"/>
              </a:rPr>
              <a:t>1. NAME IT</a:t>
            </a:r>
          </a:p>
        </p:txBody>
      </p:sp>
      <p:sp>
        <p:nvSpPr>
          <p:cNvPr id="44" name="Google Shape;44;p5">
            <a:extLst xmlns:a="http://schemas.openxmlformats.org/drawingml/2006/main">
              <a:ext uri="{FF2B5EF4-FFF2-40B4-BE49-F238E27FC236}">
                <a16:creationId xmlns:a16="http://schemas.microsoft.com/office/drawing/2014/main" id="{14067B5A-4C9F-4BB2-8FBA-52971E931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898648"/>
            <a:ext cx="3017520" cy="1399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sz="17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Identify the kind of uncertainty or limitation affecting the project.</a:t>
            </a:r>
          </a:p>
        </p:txBody>
      </p:sp>
      <p:sp>
        <p:nvSpPr>
          <p:cNvPr id="45" name="Google Shape;45;p5">
            <a:extLst xmlns:a="http://schemas.openxmlformats.org/drawingml/2006/main">
              <a:ext uri="{FF2B5EF4-FFF2-40B4-BE49-F238E27FC236}">
                <a16:creationId xmlns:a16="http://schemas.microsoft.com/office/drawing/2014/main" id="{B9861621-AE5B-4CAD-8611-95312AA7D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2423160"/>
            <a:ext cx="3429000" cy="196596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0B0B0B"/>
          </a:solidFill>
          <a:ln xmlns:a="http://schemas.openxmlformats.org/drawingml/2006/main" w="12700" cmpd="sng">
            <a:solidFill>
              <a:srgbClr val="555555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6" name="Google Shape;46;p5">
            <a:extLst xmlns:a="http://schemas.openxmlformats.org/drawingml/2006/main">
              <a:ext uri="{FF2B5EF4-FFF2-40B4-BE49-F238E27FC236}">
                <a16:creationId xmlns:a16="http://schemas.microsoft.com/office/drawing/2014/main" id="{4463DDA7-C3A9-4F30-A4E6-C103FA1FA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2423160"/>
            <a:ext cx="73152" cy="1965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2622"/>
          </a:solidFill>
          <a:ln xmlns:a="http://schemas.openxmlformats.org/drawingml/2006/main" w="12700" cmpd="sng">
            <a:solidFill>
              <a:srgbClr val="E2262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7" name="Google Shape;47;p5">
            <a:extLst xmlns:a="http://schemas.openxmlformats.org/drawingml/2006/main">
              <a:ext uri="{FF2B5EF4-FFF2-40B4-BE49-F238E27FC236}">
                <a16:creationId xmlns:a16="http://schemas.microsoft.com/office/drawing/2014/main" id="{6FAC208C-A7E5-40F8-84BB-499436250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587752"/>
            <a:ext cx="301752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22622"/>
              </a:buClr>
              <a:buSzPts val="1400"/>
              <a:buFont typeface="Arial"/>
              <a:buNone/>
            </a:pPr>
            <a:r>
              <a:rPr sz="1400" b="1" i="0" u="none" cap="none">
                <a:solidFill>
                  <a:srgbClr val="E22622"/>
                </a:solidFill>
                <a:latin typeface="Arial"/>
                <a:ea typeface="Arial"/>
                <a:cs typeface="Arial"/>
              </a:rPr>
              <a:t>2. EXPLAIN IT</a:t>
            </a:r>
          </a:p>
        </p:txBody>
      </p:sp>
      <p:sp>
        <p:nvSpPr>
          <p:cNvPr id="48" name="Google Shape;48;p5">
            <a:extLst xmlns:a="http://schemas.openxmlformats.org/drawingml/2006/main">
              <a:ext uri="{FF2B5EF4-FFF2-40B4-BE49-F238E27FC236}">
                <a16:creationId xmlns:a16="http://schemas.microsoft.com/office/drawing/2014/main" id="{A6DB7F31-6AF3-4896-9996-997741B3A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898648"/>
            <a:ext cx="3017520" cy="1399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sz="17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Describe how it may have affected the data or confidence.</a:t>
            </a:r>
          </a:p>
        </p:txBody>
      </p:sp>
      <p:sp>
        <p:nvSpPr>
          <p:cNvPr id="49" name="Google Shape;49;p5">
            <a:extLst xmlns:a="http://schemas.openxmlformats.org/drawingml/2006/main">
              <a:ext uri="{FF2B5EF4-FFF2-40B4-BE49-F238E27FC236}">
                <a16:creationId xmlns:a16="http://schemas.microsoft.com/office/drawing/2014/main" id="{07E56CDA-72CF-4944-BC7C-AAAA44B42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23160"/>
            <a:ext cx="3429000" cy="196596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0B0B0B"/>
          </a:solidFill>
          <a:ln xmlns:a="http://schemas.openxmlformats.org/drawingml/2006/main" w="12700" cmpd="sng">
            <a:solidFill>
              <a:srgbClr val="555555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0" name="Google Shape;50;p5">
            <a:extLst xmlns:a="http://schemas.openxmlformats.org/drawingml/2006/main">
              <a:ext uri="{FF2B5EF4-FFF2-40B4-BE49-F238E27FC236}">
                <a16:creationId xmlns:a16="http://schemas.microsoft.com/office/drawing/2014/main" id="{8920C43A-2617-4736-8827-BB7CC4240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23160"/>
            <a:ext cx="73152" cy="1965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2622"/>
          </a:solidFill>
          <a:ln xmlns:a="http://schemas.openxmlformats.org/drawingml/2006/main" w="12700" cmpd="sng">
            <a:solidFill>
              <a:srgbClr val="E2262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1" name="Google Shape;51;p5">
            <a:extLst xmlns:a="http://schemas.openxmlformats.org/drawingml/2006/main">
              <a:ext uri="{FF2B5EF4-FFF2-40B4-BE49-F238E27FC236}">
                <a16:creationId xmlns:a16="http://schemas.microsoft.com/office/drawing/2014/main" id="{5DDB5E7E-90A5-4E59-A555-BB07129B2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87752"/>
            <a:ext cx="301752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22622"/>
              </a:buClr>
              <a:buSzPts val="1400"/>
              <a:buFont typeface="Arial"/>
              <a:buNone/>
            </a:pPr>
            <a:r>
              <a:rPr sz="1400" b="1" i="0" u="none" cap="none">
                <a:solidFill>
                  <a:srgbClr val="E22622"/>
                </a:solidFill>
                <a:latin typeface="Arial"/>
                <a:ea typeface="Arial"/>
                <a:cs typeface="Arial"/>
              </a:rPr>
              <a:t>3. LIMIT CLAIMS</a:t>
            </a:r>
          </a:p>
        </p:txBody>
      </p:sp>
      <p:sp>
        <p:nvSpPr>
          <p:cNvPr id="52" name="Google Shape;52;p5">
            <a:extLst xmlns:a="http://schemas.openxmlformats.org/drawingml/2006/main">
              <a:ext uri="{FF2B5EF4-FFF2-40B4-BE49-F238E27FC236}">
                <a16:creationId xmlns:a16="http://schemas.microsoft.com/office/drawing/2014/main" id="{E56292B0-90E1-4AD3-879B-163EED430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98648"/>
            <a:ext cx="3017520" cy="1399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sz="17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Use careful language so conclusions match the evidence.</a:t>
            </a:r>
          </a:p>
        </p:txBody>
      </p:sp>
      <p:sp>
        <p:nvSpPr>
          <p:cNvPr id="53" name="Google Shape;53;p5">
            <a:extLst xmlns:a="http://schemas.openxmlformats.org/drawingml/2006/main">
              <a:ext uri="{FF2B5EF4-FFF2-40B4-BE49-F238E27FC236}">
                <a16:creationId xmlns:a16="http://schemas.microsoft.com/office/drawing/2014/main" id="{693D76C2-2016-484E-87C3-365B7D969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892040"/>
            <a:ext cx="10652760" cy="77724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101010"/>
          </a:solidFill>
          <a:ln xmlns:a="http://schemas.openxmlformats.org/drawingml/2006/main" w="19050" cmpd="sng">
            <a:solidFill>
              <a:srgbClr val="E2262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4" name="Google Shape;54;p5">
            <a:extLst xmlns:a="http://schemas.openxmlformats.org/drawingml/2006/main">
              <a:ext uri="{FF2B5EF4-FFF2-40B4-BE49-F238E27FC236}">
                <a16:creationId xmlns:a16="http://schemas.microsoft.com/office/drawing/2014/main" id="{9BC6D912-B688-4DDE-9924-FC70A1385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892040"/>
            <a:ext cx="1417320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2622"/>
          </a:solidFill>
          <a:ln xmlns:a="http://schemas.openxmlformats.org/drawingml/2006/main" w="12700" cmpd="sng">
            <a:solidFill>
              <a:srgbClr val="E2262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5" name="Google Shape;55;p5">
            <a:extLst xmlns:a="http://schemas.openxmlformats.org/drawingml/2006/main">
              <a:ext uri="{FF2B5EF4-FFF2-40B4-BE49-F238E27FC236}">
                <a16:creationId xmlns:a16="http://schemas.microsoft.com/office/drawing/2014/main" id="{D6805AC7-F4C8-47CB-A978-8CBBCD433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4983480"/>
            <a:ext cx="118872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sz="80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STUDENT ACTIVITY</a:t>
            </a:r>
          </a:p>
        </p:txBody>
      </p:sp>
      <p:sp>
        <p:nvSpPr>
          <p:cNvPr id="56" name="Google Shape;56;p5">
            <a:extLst xmlns:a="http://schemas.openxmlformats.org/drawingml/2006/main">
              <a:ext uri="{FF2B5EF4-FFF2-40B4-BE49-F238E27FC236}">
                <a16:creationId xmlns:a16="http://schemas.microsoft.com/office/drawing/2014/main" id="{00259C03-B0A8-4C24-8BFF-178783677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257816"/>
            <a:ext cx="10195500" cy="29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sz="180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Opening prompt</a:t>
            </a:r>
          </a:p>
        </p:txBody>
      </p:sp>
      <p:sp>
        <p:nvSpPr>
          <p:cNvPr id="57" name="Google Shape;57;p5">
            <a:extLst xmlns:a="http://schemas.openxmlformats.org/drawingml/2006/main">
              <a:ext uri="{FF2B5EF4-FFF2-40B4-BE49-F238E27FC236}">
                <a16:creationId xmlns:a16="http://schemas.microsoft.com/office/drawing/2014/main" id="{F641C9E9-89DE-48C6-9B2E-37A7DAB5F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3310125" y="5289813"/>
            <a:ext cx="741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420"/>
              <a:buFont typeface="Arial"/>
              <a:buNone/>
            </a:pPr>
            <a:r>
              <a:rPr sz="1420" b="0" i="0" u="non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Write: “What could make a result less trustworthy even if the data were recorded honestly?”</a:t>
            </a:r>
          </a:p>
        </p:txBody>
      </p:sp>
    </p:spTree>
    <p:extLst>
      <p:ext uri="{BB962C8B-B14F-4D97-AF65-F5344CB8AC3E}">
        <p14:creationId xmlns:p14="http://schemas.microsoft.com/office/powerpoint/2010/main" val="3711230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Google Shape;63;p6">
            <a:extLst xmlns:a="http://schemas.openxmlformats.org/drawingml/2006/main">
              <a:ext uri="{FF2B5EF4-FFF2-40B4-BE49-F238E27FC236}">
                <a16:creationId xmlns:a16="http://schemas.microsoft.com/office/drawing/2014/main" id="{8FA2FD4E-4B29-4FD4-A4BB-31FCD4F1C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2700" cmpd="sng">
            <a:solidFill>
              <a:srgbClr val="050505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64" name="Google Shape;64;p6">
            <a:extLst xmlns:a="http://schemas.openxmlformats.org/drawingml/2006/main">
              <a:ext uri="{FF2B5EF4-FFF2-40B4-BE49-F238E27FC236}">
                <a16:creationId xmlns:a16="http://schemas.microsoft.com/office/drawing/2014/main" id="{5638EF04-F27D-4893-8AB7-75449CE70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4592"/>
            <a:ext cx="12191695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2622"/>
          </a:solidFill>
          <a:ln xmlns:a="http://schemas.openxmlformats.org/drawingml/2006/main" w="12700" cmpd="sng">
            <a:solidFill>
              <a:srgbClr val="E2262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65" name="Google Shape;65;p6">
            <a:extLst xmlns:a="http://schemas.openxmlformats.org/drawingml/2006/main">
              <a:ext uri="{FF2B5EF4-FFF2-40B4-BE49-F238E27FC236}">
                <a16:creationId xmlns:a16="http://schemas.microsoft.com/office/drawing/2014/main" id="{F3EF6996-1885-4C72-B548-C12547CBA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01968"/>
            <a:ext cx="12191695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2622"/>
          </a:solidFill>
          <a:ln xmlns:a="http://schemas.openxmlformats.org/drawingml/2006/main" w="12700" cmpd="sng">
            <a:solidFill>
              <a:srgbClr val="E2262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66" name="Google Shape;66;p6">
            <a:extLst xmlns:a="http://schemas.openxmlformats.org/drawingml/2006/main">
              <a:ext uri="{FF2B5EF4-FFF2-40B4-BE49-F238E27FC236}">
                <a16:creationId xmlns:a16="http://schemas.microsoft.com/office/drawing/2014/main" id="{10DFA37A-2E01-47F0-A60A-4A5A6A1B1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502920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sz="900" b="1" i="0" u="non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ERROR • UNCERTAINTY • LIMITATIONS</a:t>
            </a:r>
          </a:p>
        </p:txBody>
      </p:sp>
      <p:sp>
        <p:nvSpPr>
          <p:cNvPr id="67" name="Google Shape;67;p6">
            <a:extLst xmlns:a="http://schemas.openxmlformats.org/drawingml/2006/main">
              <a:ext uri="{FF2B5EF4-FFF2-40B4-BE49-F238E27FC236}">
                <a16:creationId xmlns:a16="http://schemas.microsoft.com/office/drawing/2014/main" id="{CD862139-E336-4B3E-BBB0-CD40CC8CC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0" y="384048"/>
            <a:ext cx="214884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sz="900" b="1" i="0" u="non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STARLAB Deck 12</a:t>
            </a:r>
          </a:p>
        </p:txBody>
      </p:sp>
      <p:sp>
        <p:nvSpPr>
          <p:cNvPr id="68" name="Google Shape;68;p6">
            <a:extLst xmlns:a="http://schemas.openxmlformats.org/drawingml/2006/main">
              <a:ext uri="{FF2B5EF4-FFF2-40B4-BE49-F238E27FC236}">
                <a16:creationId xmlns:a16="http://schemas.microsoft.com/office/drawing/2014/main" id="{A0ED07C7-6D79-4323-9C74-92F41AC45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749808"/>
            <a:ext cx="1088136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Play"/>
              <a:buNone/>
            </a:pPr>
            <a:r>
              <a:rPr sz="3000" b="1" i="0" u="none" cap="none">
                <a:solidFill>
                  <a:srgbClr val="FFFFFF"/>
                </a:solidFill>
                <a:latin typeface="Play"/>
                <a:ea typeface="Play"/>
                <a:cs typeface="Play"/>
              </a:rPr>
              <a:t>Four terms students must separate</a:t>
            </a:r>
          </a:p>
        </p:txBody>
      </p:sp>
      <p:sp>
        <p:nvSpPr>
          <p:cNvPr id="69" name="Google Shape;69;p6">
            <a:extLst xmlns:a="http://schemas.openxmlformats.org/drawingml/2006/main">
              <a:ext uri="{FF2B5EF4-FFF2-40B4-BE49-F238E27FC236}">
                <a16:creationId xmlns:a16="http://schemas.microsoft.com/office/drawing/2014/main" id="{9CE787A5-A51C-4DE5-90B2-1E212A925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89888"/>
            <a:ext cx="105156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2622"/>
          </a:solidFill>
          <a:ln xmlns:a="http://schemas.openxmlformats.org/drawingml/2006/main" w="12700" cmpd="sng">
            <a:solidFill>
              <a:srgbClr val="E2262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70" name="Google Shape;70;p6">
            <a:extLst xmlns:a="http://schemas.openxmlformats.org/drawingml/2006/main">
              <a:ext uri="{FF2B5EF4-FFF2-40B4-BE49-F238E27FC236}">
                <a16:creationId xmlns:a16="http://schemas.microsoft.com/office/drawing/2014/main" id="{FCDC4FD7-59AB-4DEA-933F-A0E0B35A4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419088"/>
            <a:ext cx="292608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000"/>
              <a:buFont typeface="Arial"/>
              <a:buNone/>
            </a:pPr>
            <a:r>
              <a:rPr sz="1000" b="1" i="0" u="non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UNIT 4</a:t>
            </a:r>
          </a:p>
        </p:txBody>
      </p:sp>
      <p:sp>
        <p:nvSpPr>
          <p:cNvPr id="71" name="Google Shape;71;p6">
            <a:extLst xmlns:a="http://schemas.openxmlformats.org/drawingml/2006/main">
              <a:ext uri="{FF2B5EF4-FFF2-40B4-BE49-F238E27FC236}">
                <a16:creationId xmlns:a16="http://schemas.microsoft.com/office/drawing/2014/main" id="{65858E26-24B9-4980-B8F9-E49E209FF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19088"/>
            <a:ext cx="146304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000"/>
              <a:buFont typeface="Arial"/>
              <a:buNone/>
            </a:pPr>
            <a:r>
              <a:rPr sz="1000" b="1" i="0" u="non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STARLAB</a:t>
            </a:r>
          </a:p>
        </p:txBody>
      </p:sp>
      <p:sp>
        <p:nvSpPr>
          <p:cNvPr id="72" name="Google Shape;72;p6">
            <a:extLst xmlns:a="http://schemas.openxmlformats.org/drawingml/2006/main">
              <a:ext uri="{FF2B5EF4-FFF2-40B4-BE49-F238E27FC236}">
                <a16:creationId xmlns:a16="http://schemas.microsoft.com/office/drawing/2014/main" id="{0BE9C001-97F9-4A10-9784-CD7222671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00200"/>
            <a:ext cx="2697480" cy="3063240"/>
          </a:xfrm>
          <a:prstGeom xmlns:a="http://schemas.openxmlformats.org/drawingml/2006/main" prst="roundRect">
            <a:avLst>
              <a:gd name="adj" fmla="val 2712"/>
            </a:avLst>
          </a:prstGeom>
          <a:solidFill xmlns:a="http://schemas.openxmlformats.org/drawingml/2006/main">
            <a:srgbClr val="0B0B0B"/>
          </a:solidFill>
          <a:ln xmlns:a="http://schemas.openxmlformats.org/drawingml/2006/main" w="12700" cmpd="sng">
            <a:solidFill>
              <a:srgbClr val="555555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73" name="Google Shape;73;p6">
            <a:extLst xmlns:a="http://schemas.openxmlformats.org/drawingml/2006/main">
              <a:ext uri="{FF2B5EF4-FFF2-40B4-BE49-F238E27FC236}">
                <a16:creationId xmlns:a16="http://schemas.microsoft.com/office/drawing/2014/main" id="{41901B13-EB32-4E11-AD21-16671E54F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00200"/>
            <a:ext cx="73152" cy="3063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2622"/>
          </a:solidFill>
          <a:ln xmlns:a="http://schemas.openxmlformats.org/drawingml/2006/main" w="12700" cmpd="sng">
            <a:solidFill>
              <a:srgbClr val="E2262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74" name="Google Shape;74;p6">
            <a:extLst xmlns:a="http://schemas.openxmlformats.org/drawingml/2006/main">
              <a:ext uri="{FF2B5EF4-FFF2-40B4-BE49-F238E27FC236}">
                <a16:creationId xmlns:a16="http://schemas.microsoft.com/office/drawing/2014/main" id="{C33A37F0-D86C-4533-8287-7360583E6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764792"/>
            <a:ext cx="22860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22622"/>
              </a:buClr>
              <a:buSzPts val="1400"/>
              <a:buFont typeface="Arial"/>
              <a:buNone/>
            </a:pPr>
            <a:r>
              <a:rPr sz="1400" b="1" i="0" u="none" cap="none">
                <a:solidFill>
                  <a:srgbClr val="E22622"/>
                </a:solidFill>
                <a:latin typeface="Arial"/>
                <a:ea typeface="Arial"/>
                <a:cs typeface="Arial"/>
              </a:rPr>
              <a:t>ERROR</a:t>
            </a:r>
          </a:p>
        </p:txBody>
      </p:sp>
      <p:sp>
        <p:nvSpPr>
          <p:cNvPr id="75" name="Google Shape;75;p6">
            <a:extLst xmlns:a="http://schemas.openxmlformats.org/drawingml/2006/main">
              <a:ext uri="{FF2B5EF4-FFF2-40B4-BE49-F238E27FC236}">
                <a16:creationId xmlns:a16="http://schemas.microsoft.com/office/drawing/2014/main" id="{C8A24235-0EA1-4D86-8BC8-76FEA1157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075688"/>
            <a:ext cx="2286000" cy="2496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Arial"/>
              <a:buNone/>
            </a:pPr>
            <a:r>
              <a:rPr sz="155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Something that affects measurement or results. It may be random, systematic, or procedural.</a:t>
            </a:r>
          </a:p>
        </p:txBody>
      </p:sp>
      <p:sp>
        <p:nvSpPr>
          <p:cNvPr id="76" name="Google Shape;76;p6">
            <a:extLst xmlns:a="http://schemas.openxmlformats.org/drawingml/2006/main">
              <a:ext uri="{FF2B5EF4-FFF2-40B4-BE49-F238E27FC236}">
                <a16:creationId xmlns:a16="http://schemas.microsoft.com/office/drawing/2014/main" id="{CA1A0517-1E9C-430A-AC68-96DA2E6B8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1600200"/>
            <a:ext cx="2697480" cy="3063240"/>
          </a:xfrm>
          <a:prstGeom xmlns:a="http://schemas.openxmlformats.org/drawingml/2006/main" prst="roundRect">
            <a:avLst>
              <a:gd name="adj" fmla="val 2712"/>
            </a:avLst>
          </a:prstGeom>
          <a:solidFill xmlns:a="http://schemas.openxmlformats.org/drawingml/2006/main">
            <a:srgbClr val="0B0B0B"/>
          </a:solidFill>
          <a:ln xmlns:a="http://schemas.openxmlformats.org/drawingml/2006/main" w="12700" cmpd="sng">
            <a:solidFill>
              <a:srgbClr val="555555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77" name="Google Shape;77;p6">
            <a:extLst xmlns:a="http://schemas.openxmlformats.org/drawingml/2006/main">
              <a:ext uri="{FF2B5EF4-FFF2-40B4-BE49-F238E27FC236}">
                <a16:creationId xmlns:a16="http://schemas.microsoft.com/office/drawing/2014/main" id="{B0FB9D66-DA07-4B32-AFC8-00BBD20C8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1600200"/>
            <a:ext cx="73152" cy="3063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2622"/>
          </a:solidFill>
          <a:ln xmlns:a="http://schemas.openxmlformats.org/drawingml/2006/main" w="12700" cmpd="sng">
            <a:solidFill>
              <a:srgbClr val="E2262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78" name="Google Shape;78;p6">
            <a:extLst xmlns:a="http://schemas.openxmlformats.org/drawingml/2006/main">
              <a:ext uri="{FF2B5EF4-FFF2-40B4-BE49-F238E27FC236}">
                <a16:creationId xmlns:a16="http://schemas.microsoft.com/office/drawing/2014/main" id="{FD7F753C-3DE3-4F28-8D2A-B492C4D18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1764792"/>
            <a:ext cx="22860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22622"/>
              </a:buClr>
              <a:buSzPts val="1400"/>
              <a:buFont typeface="Arial"/>
              <a:buNone/>
            </a:pPr>
            <a:r>
              <a:rPr sz="1400" b="1" i="0" u="none" cap="none">
                <a:solidFill>
                  <a:srgbClr val="E22622"/>
                </a:solidFill>
                <a:latin typeface="Arial"/>
                <a:ea typeface="Arial"/>
                <a:cs typeface="Arial"/>
              </a:rPr>
              <a:t>UNCERTAINTY</a:t>
            </a:r>
          </a:p>
        </p:txBody>
      </p:sp>
      <p:sp>
        <p:nvSpPr>
          <p:cNvPr id="79" name="Google Shape;79;p6">
            <a:extLst xmlns:a="http://schemas.openxmlformats.org/drawingml/2006/main">
              <a:ext uri="{FF2B5EF4-FFF2-40B4-BE49-F238E27FC236}">
                <a16:creationId xmlns:a16="http://schemas.microsoft.com/office/drawing/2014/main" id="{B165D0BC-C9B5-4EFA-A591-6010B2123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2075688"/>
            <a:ext cx="2286000" cy="2496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Arial"/>
              <a:buNone/>
            </a:pPr>
            <a:r>
              <a:rPr sz="155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honest range of doubt around measurements, patterns, or conclusions.</a:t>
            </a:r>
          </a:p>
        </p:txBody>
      </p:sp>
      <p:sp>
        <p:nvSpPr>
          <p:cNvPr id="80" name="Google Shape;80;p6">
            <a:extLst xmlns:a="http://schemas.openxmlformats.org/drawingml/2006/main">
              <a:ext uri="{FF2B5EF4-FFF2-40B4-BE49-F238E27FC236}">
                <a16:creationId xmlns:a16="http://schemas.microsoft.com/office/drawing/2014/main" id="{B5DD2EE8-2B60-4F53-B99A-0D6A27E14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600200"/>
            <a:ext cx="2697480" cy="3063240"/>
          </a:xfrm>
          <a:prstGeom xmlns:a="http://schemas.openxmlformats.org/drawingml/2006/main" prst="roundRect">
            <a:avLst>
              <a:gd name="adj" fmla="val 2712"/>
            </a:avLst>
          </a:prstGeom>
          <a:solidFill xmlns:a="http://schemas.openxmlformats.org/drawingml/2006/main">
            <a:srgbClr val="0B0B0B"/>
          </a:solidFill>
          <a:ln xmlns:a="http://schemas.openxmlformats.org/drawingml/2006/main" w="12700" cmpd="sng">
            <a:solidFill>
              <a:srgbClr val="555555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81" name="Google Shape;81;p6">
            <a:extLst xmlns:a="http://schemas.openxmlformats.org/drawingml/2006/main">
              <a:ext uri="{FF2B5EF4-FFF2-40B4-BE49-F238E27FC236}">
                <a16:creationId xmlns:a16="http://schemas.microsoft.com/office/drawing/2014/main" id="{159A1C9D-E01C-4C8E-AC64-17EA97568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600200"/>
            <a:ext cx="73152" cy="3063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2622"/>
          </a:solidFill>
          <a:ln xmlns:a="http://schemas.openxmlformats.org/drawingml/2006/main" w="12700" cmpd="sng">
            <a:solidFill>
              <a:srgbClr val="E2262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82" name="Google Shape;82;p6">
            <a:extLst xmlns:a="http://schemas.openxmlformats.org/drawingml/2006/main">
              <a:ext uri="{FF2B5EF4-FFF2-40B4-BE49-F238E27FC236}">
                <a16:creationId xmlns:a16="http://schemas.microsoft.com/office/drawing/2014/main" id="{446FBB4A-E144-4B50-89FB-E203CD222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1764792"/>
            <a:ext cx="22860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22622"/>
              </a:buClr>
              <a:buSzPts val="1400"/>
              <a:buFont typeface="Arial"/>
              <a:buNone/>
            </a:pPr>
            <a:r>
              <a:rPr sz="1400" b="1" i="0" u="none" cap="none">
                <a:solidFill>
                  <a:srgbClr val="E22622"/>
                </a:solidFill>
                <a:latin typeface="Arial"/>
                <a:ea typeface="Arial"/>
                <a:cs typeface="Arial"/>
              </a:rPr>
              <a:t>VARIABILITY</a:t>
            </a:r>
          </a:p>
        </p:txBody>
      </p:sp>
      <p:sp>
        <p:nvSpPr>
          <p:cNvPr id="83" name="Google Shape;83;p6">
            <a:extLst xmlns:a="http://schemas.openxmlformats.org/drawingml/2006/main">
              <a:ext uri="{FF2B5EF4-FFF2-40B4-BE49-F238E27FC236}">
                <a16:creationId xmlns:a16="http://schemas.microsoft.com/office/drawing/2014/main" id="{EF1E56FC-79AD-4BB4-9855-8B59E79DF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2075688"/>
            <a:ext cx="2286000" cy="2496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Arial"/>
              <a:buNone/>
            </a:pPr>
            <a:r>
              <a:rPr sz="155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How much repeated measurements or trials differ from each other.</a:t>
            </a:r>
          </a:p>
        </p:txBody>
      </p:sp>
      <p:sp>
        <p:nvSpPr>
          <p:cNvPr id="84" name="Google Shape;84;p6">
            <a:extLst xmlns:a="http://schemas.openxmlformats.org/drawingml/2006/main">
              <a:ext uri="{FF2B5EF4-FFF2-40B4-BE49-F238E27FC236}">
                <a16:creationId xmlns:a16="http://schemas.microsoft.com/office/drawing/2014/main" id="{932E43E1-692E-4859-9F18-BCE5548D2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600200"/>
            <a:ext cx="2148840" cy="3063240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0B0B0B"/>
          </a:solidFill>
          <a:ln xmlns:a="http://schemas.openxmlformats.org/drawingml/2006/main" w="12700" cmpd="sng">
            <a:solidFill>
              <a:srgbClr val="555555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85" name="Google Shape;85;p6">
            <a:extLst xmlns:a="http://schemas.openxmlformats.org/drawingml/2006/main">
              <a:ext uri="{FF2B5EF4-FFF2-40B4-BE49-F238E27FC236}">
                <a16:creationId xmlns:a16="http://schemas.microsoft.com/office/drawing/2014/main" id="{501E22D5-DAA2-414A-8EE6-D30522542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600200"/>
            <a:ext cx="73152" cy="3063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2622"/>
          </a:solidFill>
          <a:ln xmlns:a="http://schemas.openxmlformats.org/drawingml/2006/main" w="12700" cmpd="sng">
            <a:solidFill>
              <a:srgbClr val="E2262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86" name="Google Shape;86;p6">
            <a:extLst xmlns:a="http://schemas.openxmlformats.org/drawingml/2006/main">
              <a:ext uri="{FF2B5EF4-FFF2-40B4-BE49-F238E27FC236}">
                <a16:creationId xmlns:a16="http://schemas.microsoft.com/office/drawing/2014/main" id="{28698FDA-F8B8-4326-9E1A-01A48ECB1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764792"/>
            <a:ext cx="173736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22622"/>
              </a:buClr>
              <a:buSzPts val="1400"/>
              <a:buFont typeface="Arial"/>
              <a:buNone/>
            </a:pPr>
            <a:r>
              <a:rPr sz="1400" b="1" i="0" u="none" cap="none">
                <a:solidFill>
                  <a:srgbClr val="E22622"/>
                </a:solidFill>
                <a:latin typeface="Arial"/>
                <a:ea typeface="Arial"/>
                <a:cs typeface="Arial"/>
              </a:rPr>
              <a:t>LIMITATION</a:t>
            </a:r>
          </a:p>
        </p:txBody>
      </p:sp>
      <p:sp>
        <p:nvSpPr>
          <p:cNvPr id="87" name="Google Shape;87;p6">
            <a:extLst xmlns:a="http://schemas.openxmlformats.org/drawingml/2006/main">
              <a:ext uri="{FF2B5EF4-FFF2-40B4-BE49-F238E27FC236}">
                <a16:creationId xmlns:a16="http://schemas.microsoft.com/office/drawing/2014/main" id="{ADA25703-84B4-44D5-8F9D-0E4EF2FA4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075688"/>
            <a:ext cx="1737360" cy="2496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Arial"/>
              <a:buNone/>
            </a:pPr>
            <a:r>
              <a:rPr sz="155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A boundary on what your study can confidently claim.</a:t>
            </a:r>
          </a:p>
        </p:txBody>
      </p:sp>
      <p:sp>
        <p:nvSpPr>
          <p:cNvPr id="88" name="Google Shape;88;p6">
            <a:extLst xmlns:a="http://schemas.openxmlformats.org/drawingml/2006/main">
              <a:ext uri="{FF2B5EF4-FFF2-40B4-BE49-F238E27FC236}">
                <a16:creationId xmlns:a16="http://schemas.microsoft.com/office/drawing/2014/main" id="{7B06395F-BC61-4E6E-9E96-C618F1D22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074920"/>
            <a:ext cx="1033272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25" tIns="625" rIns="625" bIns="625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900"/>
              <a:buFont typeface="Arial"/>
              <a:buNone/>
            </a:pPr>
            <a:r>
              <a:rPr sz="1900" b="0" i="0" u="non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These are related, but not interchangeable. Precise language leads to stronger discussion writing.</a:t>
            </a:r>
          </a:p>
        </p:txBody>
      </p:sp>
    </p:spTree>
    <p:extLst>
      <p:ext uri="{BB962C8B-B14F-4D97-AF65-F5344CB8AC3E}">
        <p14:creationId xmlns:p14="http://schemas.microsoft.com/office/powerpoint/2010/main" val="10810164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4" name="Google Shape;94;p7">
            <a:extLst xmlns:a="http://schemas.openxmlformats.org/drawingml/2006/main">
              <a:ext uri="{FF2B5EF4-FFF2-40B4-BE49-F238E27FC236}">
                <a16:creationId xmlns:a16="http://schemas.microsoft.com/office/drawing/2014/main" id="{6205B198-93A8-4D46-B29D-775B4938B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2700" cmpd="sng">
            <a:solidFill>
              <a:srgbClr val="050505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95" name="Google Shape;95;p7">
            <a:extLst xmlns:a="http://schemas.openxmlformats.org/drawingml/2006/main">
              <a:ext uri="{FF2B5EF4-FFF2-40B4-BE49-F238E27FC236}">
                <a16:creationId xmlns:a16="http://schemas.microsoft.com/office/drawing/2014/main" id="{64004743-2AE6-46D1-86CF-AEDF0A91C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4592"/>
            <a:ext cx="12191695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2622"/>
          </a:solidFill>
          <a:ln xmlns:a="http://schemas.openxmlformats.org/drawingml/2006/main" w="12700" cmpd="sng">
            <a:solidFill>
              <a:srgbClr val="E2262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96" name="Google Shape;96;p7">
            <a:extLst xmlns:a="http://schemas.openxmlformats.org/drawingml/2006/main">
              <a:ext uri="{FF2B5EF4-FFF2-40B4-BE49-F238E27FC236}">
                <a16:creationId xmlns:a16="http://schemas.microsoft.com/office/drawing/2014/main" id="{1E07FFD9-24C8-46B2-86A5-02DACCB24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01968"/>
            <a:ext cx="12191695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2622"/>
          </a:solidFill>
          <a:ln xmlns:a="http://schemas.openxmlformats.org/drawingml/2006/main" w="12700" cmpd="sng">
            <a:solidFill>
              <a:srgbClr val="E2262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97" name="Google Shape;97;p7">
            <a:extLst xmlns:a="http://schemas.openxmlformats.org/drawingml/2006/main">
              <a:ext uri="{FF2B5EF4-FFF2-40B4-BE49-F238E27FC236}">
                <a16:creationId xmlns:a16="http://schemas.microsoft.com/office/drawing/2014/main" id="{59470D12-E3B1-4FAF-B242-00BA6677F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502920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sz="900" b="1" i="0" u="non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ERROR • UNCERTAINTY • LIMITATIONS</a:t>
            </a:r>
          </a:p>
        </p:txBody>
      </p:sp>
      <p:sp>
        <p:nvSpPr>
          <p:cNvPr id="98" name="Google Shape;98;p7">
            <a:extLst xmlns:a="http://schemas.openxmlformats.org/drawingml/2006/main">
              <a:ext uri="{FF2B5EF4-FFF2-40B4-BE49-F238E27FC236}">
                <a16:creationId xmlns:a16="http://schemas.microsoft.com/office/drawing/2014/main" id="{5F749B95-D81F-4393-B3DE-71507C411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0" y="384048"/>
            <a:ext cx="214884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sz="900" b="1" i="0" u="non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STARLAB Deck 12</a:t>
            </a:r>
          </a:p>
        </p:txBody>
      </p:sp>
      <p:sp>
        <p:nvSpPr>
          <p:cNvPr id="99" name="Google Shape;99;p7">
            <a:extLst xmlns:a="http://schemas.openxmlformats.org/drawingml/2006/main">
              <a:ext uri="{FF2B5EF4-FFF2-40B4-BE49-F238E27FC236}">
                <a16:creationId xmlns:a16="http://schemas.microsoft.com/office/drawing/2014/main" id="{06DAC6EF-AC23-4D0B-AD8E-5185D53B4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749808"/>
            <a:ext cx="1088136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Play"/>
              <a:buNone/>
            </a:pPr>
            <a:r>
              <a:rPr sz="3000" b="1" i="0" u="none" cap="none">
                <a:solidFill>
                  <a:srgbClr val="FFFFFF"/>
                </a:solidFill>
                <a:latin typeface="Play"/>
                <a:ea typeface="Play"/>
                <a:cs typeface="Play"/>
              </a:rPr>
              <a:t>“Human error” is not enough</a:t>
            </a:r>
          </a:p>
        </p:txBody>
      </p:sp>
      <p:sp>
        <p:nvSpPr>
          <p:cNvPr id="100" name="Google Shape;100;p7">
            <a:extLst xmlns:a="http://schemas.openxmlformats.org/drawingml/2006/main">
              <a:ext uri="{FF2B5EF4-FFF2-40B4-BE49-F238E27FC236}">
                <a16:creationId xmlns:a16="http://schemas.microsoft.com/office/drawing/2014/main" id="{33723378-7827-42FF-B6BB-5B1426C6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89888"/>
            <a:ext cx="105156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2622"/>
          </a:solidFill>
          <a:ln xmlns:a="http://schemas.openxmlformats.org/drawingml/2006/main" w="12700" cmpd="sng">
            <a:solidFill>
              <a:srgbClr val="E2262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01" name="Google Shape;101;p7">
            <a:extLst xmlns:a="http://schemas.openxmlformats.org/drawingml/2006/main">
              <a:ext uri="{FF2B5EF4-FFF2-40B4-BE49-F238E27FC236}">
                <a16:creationId xmlns:a16="http://schemas.microsoft.com/office/drawing/2014/main" id="{AA63EF06-DCA0-4BF4-9374-419B1B8A4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419088"/>
            <a:ext cx="292608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000"/>
              <a:buFont typeface="Arial"/>
              <a:buNone/>
            </a:pPr>
            <a:r>
              <a:rPr sz="1000" b="1" i="0" u="non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UNIT 4</a:t>
            </a:r>
          </a:p>
        </p:txBody>
      </p:sp>
      <p:sp>
        <p:nvSpPr>
          <p:cNvPr id="102" name="Google Shape;102;p7">
            <a:extLst xmlns:a="http://schemas.openxmlformats.org/drawingml/2006/main">
              <a:ext uri="{FF2B5EF4-FFF2-40B4-BE49-F238E27FC236}">
                <a16:creationId xmlns:a16="http://schemas.microsoft.com/office/drawing/2014/main" id="{2CF2EA9C-5976-4016-9909-09D5C7875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19088"/>
            <a:ext cx="146304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000"/>
              <a:buFont typeface="Arial"/>
              <a:buNone/>
            </a:pPr>
            <a:r>
              <a:rPr sz="1000" b="1" i="0" u="non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STARLAB</a:t>
            </a:r>
          </a:p>
        </p:txBody>
      </p:sp>
      <p:sp>
        <p:nvSpPr>
          <p:cNvPr id="103" name="Google Shape;103;p7">
            <a:extLst xmlns:a="http://schemas.openxmlformats.org/drawingml/2006/main">
              <a:ext uri="{FF2B5EF4-FFF2-40B4-BE49-F238E27FC236}">
                <a16:creationId xmlns:a16="http://schemas.microsoft.com/office/drawing/2014/main" id="{33C0A3CD-B001-409A-BB07-591A50ECC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600200"/>
            <a:ext cx="4937760" cy="320040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0B0B0B"/>
          </a:solidFill>
          <a:ln xmlns:a="http://schemas.openxmlformats.org/drawingml/2006/main" w="12700" cmpd="sng">
            <a:solidFill>
              <a:srgbClr val="555555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04" name="Google Shape;104;p7">
            <a:extLst xmlns:a="http://schemas.openxmlformats.org/drawingml/2006/main">
              <a:ext uri="{FF2B5EF4-FFF2-40B4-BE49-F238E27FC236}">
                <a16:creationId xmlns:a16="http://schemas.microsoft.com/office/drawing/2014/main" id="{8E5524A3-33EE-406A-BECF-70F74E522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600200"/>
            <a:ext cx="73152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12700" cmpd="sng">
            <a:solidFill>
              <a:srgbClr val="555555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05" name="Google Shape;105;p7">
            <a:extLst xmlns:a="http://schemas.openxmlformats.org/drawingml/2006/main">
              <a:ext uri="{FF2B5EF4-FFF2-40B4-BE49-F238E27FC236}">
                <a16:creationId xmlns:a16="http://schemas.microsoft.com/office/drawing/2014/main" id="{3C018522-FA8F-4A85-8E9F-A9F0DEFA7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764792"/>
            <a:ext cx="452628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400"/>
              <a:buFont typeface="Arial"/>
              <a:buNone/>
            </a:pPr>
            <a:r>
              <a:rPr sz="1400" b="1" i="0" u="non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WEAK</a:t>
            </a:r>
          </a:p>
        </p:txBody>
      </p:sp>
      <p:sp>
        <p:nvSpPr>
          <p:cNvPr id="106" name="Google Shape;106;p7">
            <a:extLst xmlns:a="http://schemas.openxmlformats.org/drawingml/2006/main">
              <a:ext uri="{FF2B5EF4-FFF2-40B4-BE49-F238E27FC236}">
                <a16:creationId xmlns:a16="http://schemas.microsoft.com/office/drawing/2014/main" id="{FD667723-15B0-45EE-9395-AF9373375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075688"/>
            <a:ext cx="4526280" cy="2633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sz="22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“There was human error.”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sz="22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Problem: vague, unhelpful, and impossible to fix.</a:t>
            </a:r>
          </a:p>
        </p:txBody>
      </p:sp>
      <p:sp>
        <p:nvSpPr>
          <p:cNvPr id="107" name="Google Shape;107;p7">
            <a:extLst xmlns:a="http://schemas.openxmlformats.org/drawingml/2006/main">
              <a:ext uri="{FF2B5EF4-FFF2-40B4-BE49-F238E27FC236}">
                <a16:creationId xmlns:a16="http://schemas.microsoft.com/office/drawing/2014/main" id="{13AE81CC-4590-4956-93A7-6CC574478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00200"/>
            <a:ext cx="4937760" cy="320040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0B0B0B"/>
          </a:solidFill>
          <a:ln xmlns:a="http://schemas.openxmlformats.org/drawingml/2006/main" w="12700" cmpd="sng">
            <a:solidFill>
              <a:srgbClr val="555555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08" name="Google Shape;108;p7">
            <a:extLst xmlns:a="http://schemas.openxmlformats.org/drawingml/2006/main">
              <a:ext uri="{FF2B5EF4-FFF2-40B4-BE49-F238E27FC236}">
                <a16:creationId xmlns:a16="http://schemas.microsoft.com/office/drawing/2014/main" id="{9E3B970B-2ED0-4329-ABE9-C35B08E69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00200"/>
            <a:ext cx="73152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2622"/>
          </a:solidFill>
          <a:ln xmlns:a="http://schemas.openxmlformats.org/drawingml/2006/main" w="12700" cmpd="sng">
            <a:solidFill>
              <a:srgbClr val="E2262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09" name="Google Shape;109;p7">
            <a:extLst xmlns:a="http://schemas.openxmlformats.org/drawingml/2006/main">
              <a:ext uri="{FF2B5EF4-FFF2-40B4-BE49-F238E27FC236}">
                <a16:creationId xmlns:a16="http://schemas.microsoft.com/office/drawing/2014/main" id="{90CCD6E3-DD23-4108-9D4B-7C7264921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764792"/>
            <a:ext cx="452628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22622"/>
              </a:buClr>
              <a:buSzPts val="1400"/>
              <a:buFont typeface="Arial"/>
              <a:buNone/>
            </a:pPr>
            <a:r>
              <a:rPr sz="1400" b="1" i="0" u="none" cap="none">
                <a:solidFill>
                  <a:srgbClr val="E22622"/>
                </a:solidFill>
                <a:latin typeface="Arial"/>
                <a:ea typeface="Arial"/>
                <a:cs typeface="Arial"/>
              </a:rPr>
              <a:t>STRONGER</a:t>
            </a:r>
          </a:p>
        </p:txBody>
      </p:sp>
      <p:sp>
        <p:nvSpPr>
          <p:cNvPr id="110" name="Google Shape;110;p7">
            <a:extLst xmlns:a="http://schemas.openxmlformats.org/drawingml/2006/main">
              <a:ext uri="{FF2B5EF4-FFF2-40B4-BE49-F238E27FC236}">
                <a16:creationId xmlns:a16="http://schemas.microsoft.com/office/drawing/2014/main" id="{82FA88DF-0B69-4374-B911-0204EEA4B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075688"/>
            <a:ext cx="4526280" cy="2633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Arial"/>
              <a:buNone/>
            </a:pPr>
            <a:r>
              <a:rPr sz="165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“Reaction time may have affected stopwatch measurements because the start and stop points were judged manually.”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Font typeface="Arial"/>
              <a:buNone/>
            </a:pPr>
            <a:r>
              <a:t/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Arial"/>
              <a:buNone/>
            </a:pPr>
            <a:r>
              <a:rPr sz="165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This names the source and how it affected the data.</a:t>
            </a:r>
          </a:p>
        </p:txBody>
      </p:sp>
      <p:sp>
        <p:nvSpPr>
          <p:cNvPr id="111" name="Google Shape;111;p7">
            <a:extLst xmlns:a="http://schemas.openxmlformats.org/drawingml/2006/main">
              <a:ext uri="{FF2B5EF4-FFF2-40B4-BE49-F238E27FC236}">
                <a16:creationId xmlns:a16="http://schemas.microsoft.com/office/drawing/2014/main" id="{28778561-C1BC-4A92-A1EE-BD8B11F20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5166360"/>
            <a:ext cx="9601200" cy="77724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101010"/>
          </a:solidFill>
          <a:ln xmlns:a="http://schemas.openxmlformats.org/drawingml/2006/main" w="19050" cmpd="sng">
            <a:solidFill>
              <a:srgbClr val="E2262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12" name="Google Shape;112;p7">
            <a:extLst xmlns:a="http://schemas.openxmlformats.org/drawingml/2006/main">
              <a:ext uri="{FF2B5EF4-FFF2-40B4-BE49-F238E27FC236}">
                <a16:creationId xmlns:a16="http://schemas.microsoft.com/office/drawing/2014/main" id="{F227711F-8B96-41BD-A2E3-D7460A4C0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5166360"/>
            <a:ext cx="1417320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2622"/>
          </a:solidFill>
          <a:ln xmlns:a="http://schemas.openxmlformats.org/drawingml/2006/main" w="12700" cmpd="sng">
            <a:solidFill>
              <a:srgbClr val="E2262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13" name="Google Shape;113;p7">
            <a:extLst xmlns:a="http://schemas.openxmlformats.org/drawingml/2006/main">
              <a:ext uri="{FF2B5EF4-FFF2-40B4-BE49-F238E27FC236}">
                <a16:creationId xmlns:a16="http://schemas.microsoft.com/office/drawing/2014/main" id="{035D5AA6-BA2B-4DFC-8C5A-5049FA65E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888" y="5257800"/>
            <a:ext cx="118872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sz="80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STUDENT ACTIVITY</a:t>
            </a:r>
          </a:p>
        </p:txBody>
      </p:sp>
      <p:sp>
        <p:nvSpPr>
          <p:cNvPr id="114" name="Google Shape;114;p7">
            <a:extLst xmlns:a="http://schemas.openxmlformats.org/drawingml/2006/main">
              <a:ext uri="{FF2B5EF4-FFF2-40B4-BE49-F238E27FC236}">
                <a16:creationId xmlns:a16="http://schemas.microsoft.com/office/drawing/2014/main" id="{1C155E75-0826-418D-B6E0-42FDDC0CA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9560" y="5193848"/>
            <a:ext cx="9144000" cy="29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sz="180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Revision move</a:t>
            </a:r>
          </a:p>
        </p:txBody>
      </p:sp>
      <p:sp>
        <p:nvSpPr>
          <p:cNvPr id="115" name="Google Shape;115;p7">
            <a:extLst xmlns:a="http://schemas.openxmlformats.org/drawingml/2006/main">
              <a:ext uri="{FF2B5EF4-FFF2-40B4-BE49-F238E27FC236}">
                <a16:creationId xmlns:a16="http://schemas.microsoft.com/office/drawing/2014/main" id="{E2A9D210-6C02-48E0-8B2B-F9D00FD04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527060" y="558699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420"/>
              <a:buFont typeface="Arial"/>
              <a:buNone/>
            </a:pPr>
            <a:r>
              <a:rPr sz="1420" b="0" i="0" u="non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Replace “human error” with the specific action, tool, timing, judgment, or condition that introduced uncertainty.</a:t>
            </a:r>
          </a:p>
        </p:txBody>
      </p:sp>
    </p:spTree>
    <p:extLst>
      <p:ext uri="{BB962C8B-B14F-4D97-AF65-F5344CB8AC3E}">
        <p14:creationId xmlns:p14="http://schemas.microsoft.com/office/powerpoint/2010/main" val="8387007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1" name="Google Shape;121;p8">
            <a:extLst xmlns:a="http://schemas.openxmlformats.org/drawingml/2006/main">
              <a:ext uri="{FF2B5EF4-FFF2-40B4-BE49-F238E27FC236}">
                <a16:creationId xmlns:a16="http://schemas.microsoft.com/office/drawing/2014/main" id="{46AE70E0-7102-4D90-A58D-30756929F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362"/>
            <a:ext cx="12191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2700" cmpd="sng">
            <a:solidFill>
              <a:srgbClr val="050505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22" name="Google Shape;122;p8">
            <a:extLst xmlns:a="http://schemas.openxmlformats.org/drawingml/2006/main">
              <a:ext uri="{FF2B5EF4-FFF2-40B4-BE49-F238E27FC236}">
                <a16:creationId xmlns:a16="http://schemas.microsoft.com/office/drawing/2014/main" id="{292806C4-5FF7-4666-A3F5-68D795776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4592"/>
            <a:ext cx="12191695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2622"/>
          </a:solidFill>
          <a:ln xmlns:a="http://schemas.openxmlformats.org/drawingml/2006/main" w="12700" cmpd="sng">
            <a:solidFill>
              <a:srgbClr val="E2262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23" name="Google Shape;123;p8">
            <a:extLst xmlns:a="http://schemas.openxmlformats.org/drawingml/2006/main">
              <a:ext uri="{FF2B5EF4-FFF2-40B4-BE49-F238E27FC236}">
                <a16:creationId xmlns:a16="http://schemas.microsoft.com/office/drawing/2014/main" id="{660E3E8D-3D56-49C5-A3CA-AD31815AC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01968"/>
            <a:ext cx="12191695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2622"/>
          </a:solidFill>
          <a:ln xmlns:a="http://schemas.openxmlformats.org/drawingml/2006/main" w="12700" cmpd="sng">
            <a:solidFill>
              <a:srgbClr val="E2262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24" name="Google Shape;124;p8">
            <a:extLst xmlns:a="http://schemas.openxmlformats.org/drawingml/2006/main">
              <a:ext uri="{FF2B5EF4-FFF2-40B4-BE49-F238E27FC236}">
                <a16:creationId xmlns:a16="http://schemas.microsoft.com/office/drawing/2014/main" id="{169F7AEE-8C24-4810-ADFB-6585D171E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502920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sz="900" b="1" i="0" u="non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ERROR • UNCERTAINTY • LIMITATIONS</a:t>
            </a:r>
          </a:p>
        </p:txBody>
      </p:sp>
      <p:sp>
        <p:nvSpPr>
          <p:cNvPr id="125" name="Google Shape;125;p8">
            <a:extLst xmlns:a="http://schemas.openxmlformats.org/drawingml/2006/main">
              <a:ext uri="{FF2B5EF4-FFF2-40B4-BE49-F238E27FC236}">
                <a16:creationId xmlns:a16="http://schemas.microsoft.com/office/drawing/2014/main" id="{E9A91F6F-77DF-485E-8DE8-5B6634B8F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0" y="384048"/>
            <a:ext cx="214884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sz="900" b="1" i="0" u="non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STARLAB Deck 12</a:t>
            </a:r>
          </a:p>
        </p:txBody>
      </p:sp>
      <p:sp>
        <p:nvSpPr>
          <p:cNvPr id="126" name="Google Shape;126;p8">
            <a:extLst xmlns:a="http://schemas.openxmlformats.org/drawingml/2006/main">
              <a:ext uri="{FF2B5EF4-FFF2-40B4-BE49-F238E27FC236}">
                <a16:creationId xmlns:a16="http://schemas.microsoft.com/office/drawing/2014/main" id="{BC0E3000-459C-4B3D-815C-900C136CE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749808"/>
            <a:ext cx="1088136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Play"/>
              <a:buNone/>
            </a:pPr>
            <a:r>
              <a:rPr sz="3000" b="1" i="0" u="none" cap="none">
                <a:solidFill>
                  <a:srgbClr val="FFFFFF"/>
                </a:solidFill>
                <a:latin typeface="Play"/>
                <a:ea typeface="Play"/>
                <a:cs typeface="Play"/>
              </a:rPr>
              <a:t>Measurement uncertainty</a:t>
            </a:r>
          </a:p>
        </p:txBody>
      </p:sp>
      <p:sp>
        <p:nvSpPr>
          <p:cNvPr id="127" name="Google Shape;127;p8">
            <a:extLst xmlns:a="http://schemas.openxmlformats.org/drawingml/2006/main">
              <a:ext uri="{FF2B5EF4-FFF2-40B4-BE49-F238E27FC236}">
                <a16:creationId xmlns:a16="http://schemas.microsoft.com/office/drawing/2014/main" id="{91C5B821-8326-4D04-BE8A-E921CCE3E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89888"/>
            <a:ext cx="105156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2622"/>
          </a:solidFill>
          <a:ln xmlns:a="http://schemas.openxmlformats.org/drawingml/2006/main" w="12700" cmpd="sng">
            <a:solidFill>
              <a:srgbClr val="E2262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28" name="Google Shape;128;p8">
            <a:extLst xmlns:a="http://schemas.openxmlformats.org/drawingml/2006/main">
              <a:ext uri="{FF2B5EF4-FFF2-40B4-BE49-F238E27FC236}">
                <a16:creationId xmlns:a16="http://schemas.microsoft.com/office/drawing/2014/main" id="{AE1D87FD-90C6-42EB-93E0-D1F4470BA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419088"/>
            <a:ext cx="292608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000"/>
              <a:buFont typeface="Arial"/>
              <a:buNone/>
            </a:pPr>
            <a:r>
              <a:rPr sz="1000" b="1" i="0" u="non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UNIT 4</a:t>
            </a:r>
          </a:p>
        </p:txBody>
      </p:sp>
      <p:sp>
        <p:nvSpPr>
          <p:cNvPr id="129" name="Google Shape;129;p8">
            <a:extLst xmlns:a="http://schemas.openxmlformats.org/drawingml/2006/main">
              <a:ext uri="{FF2B5EF4-FFF2-40B4-BE49-F238E27FC236}">
                <a16:creationId xmlns:a16="http://schemas.microsoft.com/office/drawing/2014/main" id="{274335DE-A3B5-4D90-9560-9361C5353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19088"/>
            <a:ext cx="146304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000"/>
              <a:buFont typeface="Arial"/>
              <a:buNone/>
            </a:pPr>
            <a:r>
              <a:rPr sz="1000" b="1" i="0" u="non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STARLAB</a:t>
            </a:r>
          </a:p>
        </p:txBody>
      </p:sp>
      <p:sp>
        <p:nvSpPr>
          <p:cNvPr id="130" name="Google Shape;130;p8">
            <a:extLst xmlns:a="http://schemas.openxmlformats.org/drawingml/2006/main">
              <a:ext uri="{FF2B5EF4-FFF2-40B4-BE49-F238E27FC236}">
                <a16:creationId xmlns:a16="http://schemas.microsoft.com/office/drawing/2014/main" id="{2B8FA1FE-2C6F-4583-9CED-0BED44F7D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627632"/>
            <a:ext cx="1060704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25" tIns="625" rIns="625" bIns="625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sz="220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Every measurement depends on the tool, the method, and the observer.</a:t>
            </a:r>
          </a:p>
        </p:txBody>
      </p:sp>
      <p:sp>
        <p:nvSpPr>
          <p:cNvPr id="131" name="Google Shape;131;p8">
            <a:extLst xmlns:a="http://schemas.openxmlformats.org/drawingml/2006/main">
              <a:ext uri="{FF2B5EF4-FFF2-40B4-BE49-F238E27FC236}">
                <a16:creationId xmlns:a16="http://schemas.microsoft.com/office/drawing/2014/main" id="{8313D667-CB38-480A-A2D9-B5CD81768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331720"/>
            <a:ext cx="3291840" cy="201168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B0B0B"/>
          </a:solidFill>
          <a:ln xmlns:a="http://schemas.openxmlformats.org/drawingml/2006/main" w="12700" cmpd="sng">
            <a:solidFill>
              <a:srgbClr val="555555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32" name="Google Shape;132;p8">
            <a:extLst xmlns:a="http://schemas.openxmlformats.org/drawingml/2006/main">
              <a:ext uri="{FF2B5EF4-FFF2-40B4-BE49-F238E27FC236}">
                <a16:creationId xmlns:a16="http://schemas.microsoft.com/office/drawing/2014/main" id="{C76EE155-16EA-420B-9023-EC8EDEFBC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331720"/>
            <a:ext cx="73152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2622"/>
          </a:solidFill>
          <a:ln xmlns:a="http://schemas.openxmlformats.org/drawingml/2006/main" w="12700" cmpd="sng">
            <a:solidFill>
              <a:srgbClr val="E2262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33" name="Google Shape;133;p8">
            <a:extLst xmlns:a="http://schemas.openxmlformats.org/drawingml/2006/main">
              <a:ext uri="{FF2B5EF4-FFF2-40B4-BE49-F238E27FC236}">
                <a16:creationId xmlns:a16="http://schemas.microsoft.com/office/drawing/2014/main" id="{5AD37A0B-8FE1-42CC-AA1D-28B68106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496312"/>
            <a:ext cx="288036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22622"/>
              </a:buClr>
              <a:buSzPts val="1400"/>
              <a:buFont typeface="Arial"/>
              <a:buNone/>
            </a:pPr>
            <a:r>
              <a:rPr sz="1400" b="1" i="0" u="none" cap="none">
                <a:solidFill>
                  <a:srgbClr val="E22622"/>
                </a:solidFill>
                <a:latin typeface="Arial"/>
                <a:ea typeface="Arial"/>
                <a:cs typeface="Arial"/>
              </a:rPr>
              <a:t>TOOL LIMIT</a:t>
            </a:r>
          </a:p>
        </p:txBody>
      </p:sp>
      <p:sp>
        <p:nvSpPr>
          <p:cNvPr id="134" name="Google Shape;134;p8">
            <a:extLst xmlns:a="http://schemas.openxmlformats.org/drawingml/2006/main">
              <a:ext uri="{FF2B5EF4-FFF2-40B4-BE49-F238E27FC236}">
                <a16:creationId xmlns:a16="http://schemas.microsoft.com/office/drawing/2014/main" id="{35DA1042-50C8-44FF-9AC4-C638F94FF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807208"/>
            <a:ext cx="2880360" cy="14447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Arial"/>
              <a:buNone/>
            </a:pPr>
            <a:r>
              <a:rPr sz="155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A ruler marked in millimeters cannot honestly report more precision than it can measure.</a:t>
            </a:r>
          </a:p>
        </p:txBody>
      </p:sp>
      <p:sp>
        <p:nvSpPr>
          <p:cNvPr id="135" name="Google Shape;135;p8">
            <a:extLst xmlns:a="http://schemas.openxmlformats.org/drawingml/2006/main">
              <a:ext uri="{FF2B5EF4-FFF2-40B4-BE49-F238E27FC236}">
                <a16:creationId xmlns:a16="http://schemas.microsoft.com/office/drawing/2014/main" id="{DC3CFC8F-716D-4286-B578-8A07347FE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2331720"/>
            <a:ext cx="3291840" cy="201168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B0B0B"/>
          </a:solidFill>
          <a:ln xmlns:a="http://schemas.openxmlformats.org/drawingml/2006/main" w="12700" cmpd="sng">
            <a:solidFill>
              <a:srgbClr val="555555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36" name="Google Shape;136;p8">
            <a:extLst xmlns:a="http://schemas.openxmlformats.org/drawingml/2006/main">
              <a:ext uri="{FF2B5EF4-FFF2-40B4-BE49-F238E27FC236}">
                <a16:creationId xmlns:a16="http://schemas.microsoft.com/office/drawing/2014/main" id="{B15B5EDC-E6AD-4E1B-8F29-942516452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2331720"/>
            <a:ext cx="73152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2622"/>
          </a:solidFill>
          <a:ln xmlns:a="http://schemas.openxmlformats.org/drawingml/2006/main" w="12700" cmpd="sng">
            <a:solidFill>
              <a:srgbClr val="E2262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37" name="Google Shape;137;p8">
            <a:extLst xmlns:a="http://schemas.openxmlformats.org/drawingml/2006/main">
              <a:ext uri="{FF2B5EF4-FFF2-40B4-BE49-F238E27FC236}">
                <a16:creationId xmlns:a16="http://schemas.microsoft.com/office/drawing/2014/main" id="{EFDF4F3C-733D-4A0B-9817-00367A887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496312"/>
            <a:ext cx="288036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22622"/>
              </a:buClr>
              <a:buSzPts val="1400"/>
              <a:buFont typeface="Arial"/>
              <a:buNone/>
            </a:pPr>
            <a:r>
              <a:rPr sz="1400" b="1" i="0" u="none" cap="none">
                <a:solidFill>
                  <a:srgbClr val="E22622"/>
                </a:solidFill>
                <a:latin typeface="Arial"/>
                <a:ea typeface="Arial"/>
                <a:cs typeface="Arial"/>
              </a:rPr>
              <a:t>METHOD LIMIT</a:t>
            </a:r>
          </a:p>
        </p:txBody>
      </p:sp>
      <p:sp>
        <p:nvSpPr>
          <p:cNvPr id="138" name="Google Shape;138;p8">
            <a:extLst xmlns:a="http://schemas.openxmlformats.org/drawingml/2006/main">
              <a:ext uri="{FF2B5EF4-FFF2-40B4-BE49-F238E27FC236}">
                <a16:creationId xmlns:a16="http://schemas.microsoft.com/office/drawing/2014/main" id="{C529CDB9-9D47-48CB-AB82-7E3D01DCE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807208"/>
            <a:ext cx="2880360" cy="14447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Arial"/>
              <a:buNone/>
            </a:pPr>
            <a:r>
              <a:rPr sz="155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A sensor may drift, lag, saturate, or require calibration.</a:t>
            </a:r>
          </a:p>
        </p:txBody>
      </p:sp>
      <p:sp>
        <p:nvSpPr>
          <p:cNvPr id="139" name="Google Shape;139;p8">
            <a:extLst xmlns:a="http://schemas.openxmlformats.org/drawingml/2006/main">
              <a:ext uri="{FF2B5EF4-FFF2-40B4-BE49-F238E27FC236}">
                <a16:creationId xmlns:a16="http://schemas.microsoft.com/office/drawing/2014/main" id="{5373E179-B813-4AA6-AFA7-47A15D624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2331720"/>
            <a:ext cx="3291840" cy="201168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B0B0B"/>
          </a:solidFill>
          <a:ln xmlns:a="http://schemas.openxmlformats.org/drawingml/2006/main" w="12700" cmpd="sng">
            <a:solidFill>
              <a:srgbClr val="555555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40" name="Google Shape;140;p8">
            <a:extLst xmlns:a="http://schemas.openxmlformats.org/drawingml/2006/main">
              <a:ext uri="{FF2B5EF4-FFF2-40B4-BE49-F238E27FC236}">
                <a16:creationId xmlns:a16="http://schemas.microsoft.com/office/drawing/2014/main" id="{9808A4F6-A928-494B-9DA2-ABE36F61D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2331720"/>
            <a:ext cx="73152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2622"/>
          </a:solidFill>
          <a:ln xmlns:a="http://schemas.openxmlformats.org/drawingml/2006/main" w="12700" cmpd="sng">
            <a:solidFill>
              <a:srgbClr val="E2262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41" name="Google Shape;141;p8">
            <a:extLst xmlns:a="http://schemas.openxmlformats.org/drawingml/2006/main">
              <a:ext uri="{FF2B5EF4-FFF2-40B4-BE49-F238E27FC236}">
                <a16:creationId xmlns:a16="http://schemas.microsoft.com/office/drawing/2014/main" id="{EE2111C9-8121-4043-80C7-BD4AC5DE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2496312"/>
            <a:ext cx="288036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22622"/>
              </a:buClr>
              <a:buSzPts val="1400"/>
              <a:buFont typeface="Arial"/>
              <a:buNone/>
            </a:pPr>
            <a:r>
              <a:rPr sz="1400" b="1" i="0" u="none" cap="none">
                <a:solidFill>
                  <a:srgbClr val="E22622"/>
                </a:solidFill>
                <a:latin typeface="Arial"/>
                <a:ea typeface="Arial"/>
                <a:cs typeface="Arial"/>
              </a:rPr>
              <a:t>OBSERVER LIMIT</a:t>
            </a:r>
          </a:p>
        </p:txBody>
      </p:sp>
      <p:sp>
        <p:nvSpPr>
          <p:cNvPr id="142" name="Google Shape;142;p8">
            <a:extLst xmlns:a="http://schemas.openxmlformats.org/drawingml/2006/main">
              <a:ext uri="{FF2B5EF4-FFF2-40B4-BE49-F238E27FC236}">
                <a16:creationId xmlns:a16="http://schemas.microsoft.com/office/drawing/2014/main" id="{847CBCE8-DAE4-4FE1-813C-458934B9C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2807208"/>
            <a:ext cx="2880360" cy="14447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Arial"/>
              <a:buNone/>
            </a:pPr>
            <a:r>
              <a:rPr sz="155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Human timing, judgment, or reading position can affect measurements.</a:t>
            </a:r>
          </a:p>
        </p:txBody>
      </p:sp>
      <p:sp>
        <p:nvSpPr>
          <p:cNvPr id="143" name="Google Shape;143;p8">
            <a:extLst xmlns:a="http://schemas.openxmlformats.org/drawingml/2006/main">
              <a:ext uri="{FF2B5EF4-FFF2-40B4-BE49-F238E27FC236}">
                <a16:creationId xmlns:a16="http://schemas.microsoft.com/office/drawing/2014/main" id="{A1786860-0516-4D5F-82C9-0C721DDB2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892040"/>
            <a:ext cx="10287000" cy="804672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01010"/>
          </a:solidFill>
          <a:ln xmlns:a="http://schemas.openxmlformats.org/drawingml/2006/main" w="19050" cmpd="sng">
            <a:solidFill>
              <a:srgbClr val="E2262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44" name="Google Shape;144;p8">
            <a:extLst xmlns:a="http://schemas.openxmlformats.org/drawingml/2006/main">
              <a:ext uri="{FF2B5EF4-FFF2-40B4-BE49-F238E27FC236}">
                <a16:creationId xmlns:a16="http://schemas.microsoft.com/office/drawing/2014/main" id="{FD3766D1-DE2E-4FF3-9746-B41DDC0C2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892040"/>
            <a:ext cx="1417320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2622"/>
          </a:solidFill>
          <a:ln xmlns:a="http://schemas.openxmlformats.org/drawingml/2006/main" w="12700" cmpd="sng">
            <a:solidFill>
              <a:srgbClr val="E2262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45" name="Google Shape;145;p8">
            <a:extLst xmlns:a="http://schemas.openxmlformats.org/drawingml/2006/main">
              <a:ext uri="{FF2B5EF4-FFF2-40B4-BE49-F238E27FC236}">
                <a16:creationId xmlns:a16="http://schemas.microsoft.com/office/drawing/2014/main" id="{C1E59175-17E8-4013-8FAF-D774B9902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4983480"/>
            <a:ext cx="118872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sz="80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STUDENT ACTIVITY</a:t>
            </a:r>
          </a:p>
        </p:txBody>
      </p:sp>
      <p:sp>
        <p:nvSpPr>
          <p:cNvPr id="146" name="Google Shape;146;p8">
            <a:extLst xmlns:a="http://schemas.openxmlformats.org/drawingml/2006/main">
              <a:ext uri="{FF2B5EF4-FFF2-40B4-BE49-F238E27FC236}">
                <a16:creationId xmlns:a16="http://schemas.microsoft.com/office/drawing/2014/main" id="{6A39CD2C-6563-4DC0-BE3A-644E5F854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367528"/>
            <a:ext cx="982980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sz="180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 your method</a:t>
            </a:r>
          </a:p>
        </p:txBody>
      </p:sp>
      <p:sp>
        <p:nvSpPr>
          <p:cNvPr id="147" name="Google Shape;147;p8">
            <a:extLst xmlns:a="http://schemas.openxmlformats.org/drawingml/2006/main">
              <a:ext uri="{FF2B5EF4-FFF2-40B4-BE49-F238E27FC236}">
                <a16:creationId xmlns:a16="http://schemas.microsoft.com/office/drawing/2014/main" id="{CD919979-3C18-48B5-B0FE-2A0AE67A1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3509370" y="5413177"/>
            <a:ext cx="9829800" cy="20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420"/>
              <a:buFont typeface="Arial"/>
              <a:buNone/>
            </a:pPr>
            <a:r>
              <a:rPr sz="1420" b="0" i="0" u="non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Name the tool you used and one way its precision or use may limit confidence.</a:t>
            </a:r>
          </a:p>
        </p:txBody>
      </p:sp>
    </p:spTree>
    <p:extLst>
      <p:ext uri="{BB962C8B-B14F-4D97-AF65-F5344CB8AC3E}">
        <p14:creationId xmlns:p14="http://schemas.microsoft.com/office/powerpoint/2010/main" val="194441549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3" name="Google Shape;153;p9">
            <a:extLst xmlns:a="http://schemas.openxmlformats.org/drawingml/2006/main">
              <a:ext uri="{FF2B5EF4-FFF2-40B4-BE49-F238E27FC236}">
                <a16:creationId xmlns:a16="http://schemas.microsoft.com/office/drawing/2014/main" id="{125B82D2-9356-4A6A-882F-113A540A9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2700" cmpd="sng">
            <a:solidFill>
              <a:srgbClr val="050505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54" name="Google Shape;154;p9">
            <a:extLst xmlns:a="http://schemas.openxmlformats.org/drawingml/2006/main">
              <a:ext uri="{FF2B5EF4-FFF2-40B4-BE49-F238E27FC236}">
                <a16:creationId xmlns:a16="http://schemas.microsoft.com/office/drawing/2014/main" id="{0532EA4F-1FB7-4415-B1B5-79014C9EE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4592"/>
            <a:ext cx="12191695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2622"/>
          </a:solidFill>
          <a:ln xmlns:a="http://schemas.openxmlformats.org/drawingml/2006/main" w="12700" cmpd="sng">
            <a:solidFill>
              <a:srgbClr val="E2262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55" name="Google Shape;155;p9">
            <a:extLst xmlns:a="http://schemas.openxmlformats.org/drawingml/2006/main">
              <a:ext uri="{FF2B5EF4-FFF2-40B4-BE49-F238E27FC236}">
                <a16:creationId xmlns:a16="http://schemas.microsoft.com/office/drawing/2014/main" id="{0C4154DD-387E-413F-8DCF-B02500A48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01968"/>
            <a:ext cx="12191695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2622"/>
          </a:solidFill>
          <a:ln xmlns:a="http://schemas.openxmlformats.org/drawingml/2006/main" w="12700" cmpd="sng">
            <a:solidFill>
              <a:srgbClr val="E2262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56" name="Google Shape;156;p9">
            <a:extLst xmlns:a="http://schemas.openxmlformats.org/drawingml/2006/main">
              <a:ext uri="{FF2B5EF4-FFF2-40B4-BE49-F238E27FC236}">
                <a16:creationId xmlns:a16="http://schemas.microsoft.com/office/drawing/2014/main" id="{8F13D28B-7DA7-4C26-86D3-9E35C73D8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502920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sz="900" b="1" i="0" u="non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ERROR • UNCERTAINTY • LIMITATIONS</a:t>
            </a:r>
          </a:p>
        </p:txBody>
      </p:sp>
      <p:sp>
        <p:nvSpPr>
          <p:cNvPr id="157" name="Google Shape;157;p9">
            <a:extLst xmlns:a="http://schemas.openxmlformats.org/drawingml/2006/main">
              <a:ext uri="{FF2B5EF4-FFF2-40B4-BE49-F238E27FC236}">
                <a16:creationId xmlns:a16="http://schemas.microsoft.com/office/drawing/2014/main" id="{3CE9A3BF-314B-47EB-98BD-DEDB0DB9B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0" y="384048"/>
            <a:ext cx="214884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sz="900" b="1" i="0" u="non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STARLAB Deck 12</a:t>
            </a:r>
          </a:p>
        </p:txBody>
      </p:sp>
      <p:sp>
        <p:nvSpPr>
          <p:cNvPr id="158" name="Google Shape;158;p9">
            <a:extLst xmlns:a="http://schemas.openxmlformats.org/drawingml/2006/main">
              <a:ext uri="{FF2B5EF4-FFF2-40B4-BE49-F238E27FC236}">
                <a16:creationId xmlns:a16="http://schemas.microsoft.com/office/drawing/2014/main" id="{57816715-40C0-4D92-92A6-79377BDED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749808"/>
            <a:ext cx="1088136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Play"/>
              <a:buNone/>
            </a:pPr>
            <a:r>
              <a:rPr sz="3000" b="1" i="0" u="none" cap="none">
                <a:solidFill>
                  <a:srgbClr val="FFFFFF"/>
                </a:solidFill>
                <a:latin typeface="Play"/>
                <a:ea typeface="Play"/>
                <a:cs typeface="Play"/>
              </a:rPr>
              <a:t>Random error vs. systematic error</a:t>
            </a:r>
          </a:p>
        </p:txBody>
      </p:sp>
      <p:sp>
        <p:nvSpPr>
          <p:cNvPr id="159" name="Google Shape;159;p9">
            <a:extLst xmlns:a="http://schemas.openxmlformats.org/drawingml/2006/main">
              <a:ext uri="{FF2B5EF4-FFF2-40B4-BE49-F238E27FC236}">
                <a16:creationId xmlns:a16="http://schemas.microsoft.com/office/drawing/2014/main" id="{C97193C1-7814-4B39-9885-EBA240FA9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89888"/>
            <a:ext cx="105156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2622"/>
          </a:solidFill>
          <a:ln xmlns:a="http://schemas.openxmlformats.org/drawingml/2006/main" w="12700" cmpd="sng">
            <a:solidFill>
              <a:srgbClr val="E2262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60" name="Google Shape;160;p9">
            <a:extLst xmlns:a="http://schemas.openxmlformats.org/drawingml/2006/main">
              <a:ext uri="{FF2B5EF4-FFF2-40B4-BE49-F238E27FC236}">
                <a16:creationId xmlns:a16="http://schemas.microsoft.com/office/drawing/2014/main" id="{AB7E889F-1C0C-4DF7-881D-34E29191F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419088"/>
            <a:ext cx="292608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000"/>
              <a:buFont typeface="Arial"/>
              <a:buNone/>
            </a:pPr>
            <a:r>
              <a:rPr sz="1000" b="1" i="0" u="non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UNIT 4</a:t>
            </a:r>
          </a:p>
        </p:txBody>
      </p:sp>
      <p:sp>
        <p:nvSpPr>
          <p:cNvPr id="161" name="Google Shape;161;p9">
            <a:extLst xmlns:a="http://schemas.openxmlformats.org/drawingml/2006/main">
              <a:ext uri="{FF2B5EF4-FFF2-40B4-BE49-F238E27FC236}">
                <a16:creationId xmlns:a16="http://schemas.microsoft.com/office/drawing/2014/main" id="{673C2CF4-84DF-4F12-923A-E1514B3C2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19088"/>
            <a:ext cx="146304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000"/>
              <a:buFont typeface="Arial"/>
              <a:buNone/>
            </a:pPr>
            <a:r>
              <a:rPr sz="1000" b="1" i="0" u="non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STARLAB</a:t>
            </a:r>
          </a:p>
        </p:txBody>
      </p:sp>
      <p:sp>
        <p:nvSpPr>
          <p:cNvPr id="162" name="Google Shape;162;p9">
            <a:extLst xmlns:a="http://schemas.openxmlformats.org/drawingml/2006/main">
              <a:ext uri="{FF2B5EF4-FFF2-40B4-BE49-F238E27FC236}">
                <a16:creationId xmlns:a16="http://schemas.microsoft.com/office/drawing/2014/main" id="{E224B58C-139F-4525-A5E8-BE1ED2E7C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64208"/>
            <a:ext cx="4754880" cy="2971800"/>
          </a:xfrm>
          <a:prstGeom xmlns:a="http://schemas.openxmlformats.org/drawingml/2006/main" prst="roundRect">
            <a:avLst>
              <a:gd name="adj" fmla="val 2462"/>
            </a:avLst>
          </a:prstGeom>
          <a:solidFill xmlns:a="http://schemas.openxmlformats.org/drawingml/2006/main">
            <a:srgbClr val="0B0B0B"/>
          </a:solidFill>
          <a:ln xmlns:a="http://schemas.openxmlformats.org/drawingml/2006/main" w="12700" cmpd="sng">
            <a:solidFill>
              <a:srgbClr val="555555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63" name="Google Shape;163;p9">
            <a:extLst xmlns:a="http://schemas.openxmlformats.org/drawingml/2006/main">
              <a:ext uri="{FF2B5EF4-FFF2-40B4-BE49-F238E27FC236}">
                <a16:creationId xmlns:a16="http://schemas.microsoft.com/office/drawing/2014/main" id="{453354C4-73BF-478A-902F-7A9A5EFC9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64208"/>
            <a:ext cx="7315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2622"/>
          </a:solidFill>
          <a:ln xmlns:a="http://schemas.openxmlformats.org/drawingml/2006/main" w="12700" cmpd="sng">
            <a:solidFill>
              <a:srgbClr val="E2262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64" name="Google Shape;164;p9">
            <a:extLst xmlns:a="http://schemas.openxmlformats.org/drawingml/2006/main">
              <a:ext uri="{FF2B5EF4-FFF2-40B4-BE49-F238E27FC236}">
                <a16:creationId xmlns:a16="http://schemas.microsoft.com/office/drawing/2014/main" id="{6C19FBF9-EC1A-41A6-939C-A5664699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28800"/>
            <a:ext cx="43434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22622"/>
              </a:buClr>
              <a:buSzPts val="1400"/>
              <a:buFont typeface="Arial"/>
              <a:buNone/>
            </a:pPr>
            <a:r>
              <a:rPr sz="1400" b="1" i="0" u="none" cap="none">
                <a:solidFill>
                  <a:srgbClr val="E22622"/>
                </a:solidFill>
                <a:latin typeface="Arial"/>
                <a:ea typeface="Arial"/>
                <a:cs typeface="Arial"/>
              </a:rPr>
              <a:t>RANDOM ERROR</a:t>
            </a:r>
          </a:p>
        </p:txBody>
      </p:sp>
      <p:sp>
        <p:nvSpPr>
          <p:cNvPr id="165" name="Google Shape;165;p9">
            <a:extLst xmlns:a="http://schemas.openxmlformats.org/drawingml/2006/main">
              <a:ext uri="{FF2B5EF4-FFF2-40B4-BE49-F238E27FC236}">
                <a16:creationId xmlns:a16="http://schemas.microsoft.com/office/drawing/2014/main" id="{4EC15EC4-9401-402A-8C7D-3766590E2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39696"/>
            <a:ext cx="4343400" cy="240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Variation that changes unpredictably from trial to trial.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Example: small differences in reaction time when stopping a timer.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Often shows up as spread or variability.</a:t>
            </a:r>
          </a:p>
        </p:txBody>
      </p:sp>
      <p:sp>
        <p:nvSpPr>
          <p:cNvPr id="166" name="Google Shape;166;p9">
            <a:extLst xmlns:a="http://schemas.openxmlformats.org/drawingml/2006/main">
              <a:ext uri="{FF2B5EF4-FFF2-40B4-BE49-F238E27FC236}">
                <a16:creationId xmlns:a16="http://schemas.microsoft.com/office/drawing/2014/main" id="{E482AAD9-EF70-4B0C-80E2-171CB0D7E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664208"/>
            <a:ext cx="4754880" cy="2971800"/>
          </a:xfrm>
          <a:prstGeom xmlns:a="http://schemas.openxmlformats.org/drawingml/2006/main" prst="roundRect">
            <a:avLst>
              <a:gd name="adj" fmla="val 2462"/>
            </a:avLst>
          </a:prstGeom>
          <a:solidFill xmlns:a="http://schemas.openxmlformats.org/drawingml/2006/main">
            <a:srgbClr val="0B0B0B"/>
          </a:solidFill>
          <a:ln xmlns:a="http://schemas.openxmlformats.org/drawingml/2006/main" w="12700" cmpd="sng">
            <a:solidFill>
              <a:srgbClr val="555555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67" name="Google Shape;167;p9">
            <a:extLst xmlns:a="http://schemas.openxmlformats.org/drawingml/2006/main">
              <a:ext uri="{FF2B5EF4-FFF2-40B4-BE49-F238E27FC236}">
                <a16:creationId xmlns:a16="http://schemas.microsoft.com/office/drawing/2014/main" id="{A0033F09-BE46-4F11-B0DA-3030CFBC5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664208"/>
            <a:ext cx="7315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2622"/>
          </a:solidFill>
          <a:ln xmlns:a="http://schemas.openxmlformats.org/drawingml/2006/main" w="12700" cmpd="sng">
            <a:solidFill>
              <a:srgbClr val="E2262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68" name="Google Shape;168;p9">
            <a:extLst xmlns:a="http://schemas.openxmlformats.org/drawingml/2006/main">
              <a:ext uri="{FF2B5EF4-FFF2-40B4-BE49-F238E27FC236}">
                <a16:creationId xmlns:a16="http://schemas.microsoft.com/office/drawing/2014/main" id="{4CB54A5F-DB24-4C74-ABB5-8F500CE38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1828800"/>
            <a:ext cx="43434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22622"/>
              </a:buClr>
              <a:buSzPts val="1400"/>
              <a:buFont typeface="Arial"/>
              <a:buNone/>
            </a:pPr>
            <a:r>
              <a:rPr sz="1400" b="1" i="0" u="none" cap="none">
                <a:solidFill>
                  <a:srgbClr val="E22622"/>
                </a:solidFill>
                <a:latin typeface="Arial"/>
                <a:ea typeface="Arial"/>
                <a:cs typeface="Arial"/>
              </a:rPr>
              <a:t>SYSTEMATIC ERROR</a:t>
            </a:r>
          </a:p>
        </p:txBody>
      </p:sp>
      <p:sp>
        <p:nvSpPr>
          <p:cNvPr id="169" name="Google Shape;169;p9">
            <a:extLst xmlns:a="http://schemas.openxmlformats.org/drawingml/2006/main">
              <a:ext uri="{FF2B5EF4-FFF2-40B4-BE49-F238E27FC236}">
                <a16:creationId xmlns:a16="http://schemas.microsoft.com/office/drawing/2014/main" id="{8EAEF886-B822-431C-B5B4-376E8D70E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2139696"/>
            <a:ext cx="4343400" cy="240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A consistent bias in the same direction.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Example: a scale that reads 0.4 g too high every time.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Can shift all results away from the true value.</a:t>
            </a:r>
          </a:p>
        </p:txBody>
      </p:sp>
      <p:sp>
        <p:nvSpPr>
          <p:cNvPr id="170" name="Google Shape;170;p9">
            <a:extLst xmlns:a="http://schemas.openxmlformats.org/drawingml/2006/main">
              <a:ext uri="{FF2B5EF4-FFF2-40B4-BE49-F238E27FC236}">
                <a16:creationId xmlns:a16="http://schemas.microsoft.com/office/drawing/2014/main" id="{D47469C5-2B8C-40BD-943C-25EDF2B52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120640"/>
            <a:ext cx="1024128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25" tIns="625" rIns="625" bIns="625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800"/>
              <a:buFont typeface="Arial"/>
              <a:buNone/>
            </a:pPr>
            <a:r>
              <a:rPr sz="1800" b="0" i="0" u="non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Different errors require different responses: repeat trials may reveal random error, but calibration may be needed for systematic error.</a:t>
            </a:r>
          </a:p>
        </p:txBody>
      </p:sp>
    </p:spTree>
    <p:extLst>
      <p:ext uri="{BB962C8B-B14F-4D97-AF65-F5344CB8AC3E}">
        <p14:creationId xmlns:p14="http://schemas.microsoft.com/office/powerpoint/2010/main" val="6801993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6" name="Google Shape;176;p10">
            <a:extLst xmlns:a="http://schemas.openxmlformats.org/drawingml/2006/main">
              <a:ext uri="{FF2B5EF4-FFF2-40B4-BE49-F238E27FC236}">
                <a16:creationId xmlns:a16="http://schemas.microsoft.com/office/drawing/2014/main" id="{6E461EE4-10E3-483D-B5DE-751084A8A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2700" cmpd="sng">
            <a:solidFill>
              <a:srgbClr val="050505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77" name="Google Shape;177;p10">
            <a:extLst xmlns:a="http://schemas.openxmlformats.org/drawingml/2006/main">
              <a:ext uri="{FF2B5EF4-FFF2-40B4-BE49-F238E27FC236}">
                <a16:creationId xmlns:a16="http://schemas.microsoft.com/office/drawing/2014/main" id="{D1C29EF8-57B3-4975-A51A-518A342F2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4592"/>
            <a:ext cx="12191695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2622"/>
          </a:solidFill>
          <a:ln xmlns:a="http://schemas.openxmlformats.org/drawingml/2006/main" w="12700" cmpd="sng">
            <a:solidFill>
              <a:srgbClr val="E2262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78" name="Google Shape;178;p10">
            <a:extLst xmlns:a="http://schemas.openxmlformats.org/drawingml/2006/main">
              <a:ext uri="{FF2B5EF4-FFF2-40B4-BE49-F238E27FC236}">
                <a16:creationId xmlns:a16="http://schemas.microsoft.com/office/drawing/2014/main" id="{080585EF-CAB8-46B2-9275-E39707524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01968"/>
            <a:ext cx="12191695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2622"/>
          </a:solidFill>
          <a:ln xmlns:a="http://schemas.openxmlformats.org/drawingml/2006/main" w="12700" cmpd="sng">
            <a:solidFill>
              <a:srgbClr val="E2262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79" name="Google Shape;179;p10">
            <a:extLst xmlns:a="http://schemas.openxmlformats.org/drawingml/2006/main">
              <a:ext uri="{FF2B5EF4-FFF2-40B4-BE49-F238E27FC236}">
                <a16:creationId xmlns:a16="http://schemas.microsoft.com/office/drawing/2014/main" id="{4680C498-25AF-415E-B8C9-79850475A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502920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sz="900" b="1" i="0" u="non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ERROR • UNCERTAINTY • LIMITATIONS</a:t>
            </a:r>
          </a:p>
        </p:txBody>
      </p:sp>
      <p:sp>
        <p:nvSpPr>
          <p:cNvPr id="180" name="Google Shape;180;p10">
            <a:extLst xmlns:a="http://schemas.openxmlformats.org/drawingml/2006/main">
              <a:ext uri="{FF2B5EF4-FFF2-40B4-BE49-F238E27FC236}">
                <a16:creationId xmlns:a16="http://schemas.microsoft.com/office/drawing/2014/main" id="{AB40A971-F20E-49FD-B65C-AD0C71268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0" y="384048"/>
            <a:ext cx="214884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sz="900" b="1" i="0" u="non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STARLAB Deck 12</a:t>
            </a:r>
          </a:p>
        </p:txBody>
      </p:sp>
      <p:sp>
        <p:nvSpPr>
          <p:cNvPr id="181" name="Google Shape;181;p10">
            <a:extLst xmlns:a="http://schemas.openxmlformats.org/drawingml/2006/main">
              <a:ext uri="{FF2B5EF4-FFF2-40B4-BE49-F238E27FC236}">
                <a16:creationId xmlns:a16="http://schemas.microsoft.com/office/drawing/2014/main" id="{D9BC565F-0F3F-4E6B-8BCF-421D16E0E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749808"/>
            <a:ext cx="1088136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Play"/>
              <a:buNone/>
            </a:pPr>
            <a:r>
              <a:rPr sz="3000" b="1" i="0" u="none" cap="none">
                <a:solidFill>
                  <a:srgbClr val="FFFFFF"/>
                </a:solidFill>
                <a:latin typeface="Play"/>
                <a:ea typeface="Play"/>
                <a:cs typeface="Play"/>
              </a:rPr>
              <a:t>Variability is information</a:t>
            </a:r>
          </a:p>
        </p:txBody>
      </p:sp>
      <p:sp>
        <p:nvSpPr>
          <p:cNvPr id="182" name="Google Shape;182;p10">
            <a:extLst xmlns:a="http://schemas.openxmlformats.org/drawingml/2006/main">
              <a:ext uri="{FF2B5EF4-FFF2-40B4-BE49-F238E27FC236}">
                <a16:creationId xmlns:a16="http://schemas.microsoft.com/office/drawing/2014/main" id="{B57A31CE-8994-4BAC-B585-51B086FCB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89888"/>
            <a:ext cx="105156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2622"/>
          </a:solidFill>
          <a:ln xmlns:a="http://schemas.openxmlformats.org/drawingml/2006/main" w="12700" cmpd="sng">
            <a:solidFill>
              <a:srgbClr val="E2262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83" name="Google Shape;183;p10">
            <a:extLst xmlns:a="http://schemas.openxmlformats.org/drawingml/2006/main">
              <a:ext uri="{FF2B5EF4-FFF2-40B4-BE49-F238E27FC236}">
                <a16:creationId xmlns:a16="http://schemas.microsoft.com/office/drawing/2014/main" id="{4E8BAD79-F020-4B4F-84A8-750C1941B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419088"/>
            <a:ext cx="292608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000"/>
              <a:buFont typeface="Arial"/>
              <a:buNone/>
            </a:pPr>
            <a:r>
              <a:rPr sz="1000" b="1" i="0" u="non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UNIT 4</a:t>
            </a:r>
          </a:p>
        </p:txBody>
      </p:sp>
      <p:sp>
        <p:nvSpPr>
          <p:cNvPr id="184" name="Google Shape;184;p10">
            <a:extLst xmlns:a="http://schemas.openxmlformats.org/drawingml/2006/main">
              <a:ext uri="{FF2B5EF4-FFF2-40B4-BE49-F238E27FC236}">
                <a16:creationId xmlns:a16="http://schemas.microsoft.com/office/drawing/2014/main" id="{7FF2EC1E-35F4-4E81-8B70-321D51E6F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19088"/>
            <a:ext cx="146304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000"/>
              <a:buFont typeface="Arial"/>
              <a:buNone/>
            </a:pPr>
            <a:r>
              <a:rPr sz="1000" b="1" i="0" u="non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STARLAB</a:t>
            </a:r>
          </a:p>
        </p:txBody>
      </p:sp>
      <p:sp>
        <p:nvSpPr>
          <p:cNvPr id="185" name="Google Shape;185;p10">
            <a:extLst xmlns:a="http://schemas.openxmlformats.org/drawingml/2006/main">
              <a:ext uri="{FF2B5EF4-FFF2-40B4-BE49-F238E27FC236}">
                <a16:creationId xmlns:a16="http://schemas.microsoft.com/office/drawing/2014/main" id="{AFEC574E-9E4E-438D-A02B-014D50E4C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645920"/>
            <a:ext cx="1033272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25" tIns="625" rIns="625" bIns="625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sz="220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When repeated trials differ, ask what the spread reveals.</a:t>
            </a:r>
          </a:p>
        </p:txBody>
      </p:sp>
      <p:sp>
        <p:nvSpPr>
          <p:cNvPr id="186" name="Google Shape;186;p10">
            <a:extLst xmlns:a="http://schemas.openxmlformats.org/drawingml/2006/main">
              <a:ext uri="{FF2B5EF4-FFF2-40B4-BE49-F238E27FC236}">
                <a16:creationId xmlns:a16="http://schemas.microsoft.com/office/drawing/2014/main" id="{D955420E-58BA-4BE7-8213-9641315C3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148840"/>
            <a:ext cx="201168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25" tIns="625" rIns="625" bIns="625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500"/>
              <a:buFont typeface="Arial"/>
              <a:buNone/>
            </a:pPr>
            <a:r>
              <a:rPr sz="1500" b="1" i="0" u="non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Low variability</a:t>
            </a:r>
          </a:p>
        </p:txBody>
      </p:sp>
      <p:cxnSp>
        <p:nvCxnSpPr>
          <p:cNvPr id="220" name="Google Shape;187;p10"/>
          <p:cNvCxnSpPr/>
          <p:nvPr/>
        </p:nvCxnSpPr>
        <p:spPr>
          <a:xfrm xmlns:a="http://schemas.openxmlformats.org/drawingml/2006/main">
            <a:off x="1097280" y="2743200"/>
            <a:ext cx="4023360" cy="0"/>
          </a:xfrm>
          <a:prstGeom xmlns:a="http://schemas.openxmlformats.org/drawingml/2006/main" prst="straightConnector1">
            <a:avLst/>
          </a:prstGeom>
          <a:ln xmlns:a="http://schemas.openxmlformats.org/drawingml/2006/main" w="16500" cap="flat">
            <a:solidFill>
              <a:srgbClr val="A6A6A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8" name="Google Shape;188;p10">
            <a:extLst xmlns:a="http://schemas.openxmlformats.org/drawingml/2006/main">
              <a:ext uri="{FF2B5EF4-FFF2-40B4-BE49-F238E27FC236}">
                <a16:creationId xmlns:a16="http://schemas.microsoft.com/office/drawing/2014/main" id="{DDD88053-05FE-4B17-9965-EAAADB456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" y="2679192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2622"/>
          </a:solidFill>
          <a:ln xmlns:a="http://schemas.openxmlformats.org/drawingml/2006/main" w="12700" cmpd="sng">
            <a:solidFill>
              <a:srgbClr val="E2262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89" name="Google Shape;189;p10">
            <a:extLst xmlns:a="http://schemas.openxmlformats.org/drawingml/2006/main">
              <a:ext uri="{FF2B5EF4-FFF2-40B4-BE49-F238E27FC236}">
                <a16:creationId xmlns:a16="http://schemas.microsoft.com/office/drawing/2014/main" id="{9360B2F5-CAEA-40A1-BE92-802E17F77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2679192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2622"/>
          </a:solidFill>
          <a:ln xmlns:a="http://schemas.openxmlformats.org/drawingml/2006/main" w="12700" cmpd="sng">
            <a:solidFill>
              <a:srgbClr val="E2262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90" name="Google Shape;190;p10">
            <a:extLst xmlns:a="http://schemas.openxmlformats.org/drawingml/2006/main">
              <a:ext uri="{FF2B5EF4-FFF2-40B4-BE49-F238E27FC236}">
                <a16:creationId xmlns:a16="http://schemas.microsoft.com/office/drawing/2014/main" id="{61AD614B-D41B-4E02-92E8-FD8CE39BD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679192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2622"/>
          </a:solidFill>
          <a:ln xmlns:a="http://schemas.openxmlformats.org/drawingml/2006/main" w="12700" cmpd="sng">
            <a:solidFill>
              <a:srgbClr val="E2262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91" name="Google Shape;191;p10">
            <a:extLst xmlns:a="http://schemas.openxmlformats.org/drawingml/2006/main">
              <a:ext uri="{FF2B5EF4-FFF2-40B4-BE49-F238E27FC236}">
                <a16:creationId xmlns:a16="http://schemas.microsoft.com/office/drawing/2014/main" id="{346D1E38-2035-48C0-8D60-B1506E97B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2848" y="2679192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2622"/>
          </a:solidFill>
          <a:ln xmlns:a="http://schemas.openxmlformats.org/drawingml/2006/main" w="12700" cmpd="sng">
            <a:solidFill>
              <a:srgbClr val="E2262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92" name="Google Shape;192;p10">
            <a:extLst xmlns:a="http://schemas.openxmlformats.org/drawingml/2006/main">
              <a:ext uri="{FF2B5EF4-FFF2-40B4-BE49-F238E27FC236}">
                <a16:creationId xmlns:a16="http://schemas.microsoft.com/office/drawing/2014/main" id="{427D701D-95D3-4BE6-BEFA-34EE61960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2679192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2622"/>
          </a:solidFill>
          <a:ln xmlns:a="http://schemas.openxmlformats.org/drawingml/2006/main" w="12700" cmpd="sng">
            <a:solidFill>
              <a:srgbClr val="E2262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93" name="Google Shape;193;p10">
            <a:extLst xmlns:a="http://schemas.openxmlformats.org/drawingml/2006/main">
              <a:ext uri="{FF2B5EF4-FFF2-40B4-BE49-F238E27FC236}">
                <a16:creationId xmlns:a16="http://schemas.microsoft.com/office/drawing/2014/main" id="{7CC397AB-ED17-4550-8DB9-70092A894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383280"/>
            <a:ext cx="201168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25" tIns="625" rIns="625" bIns="625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500"/>
              <a:buFont typeface="Arial"/>
              <a:buNone/>
            </a:pPr>
            <a:r>
              <a:rPr sz="1500" b="1" i="0" u="non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High variability</a:t>
            </a:r>
          </a:p>
        </p:txBody>
      </p:sp>
      <p:cxnSp>
        <p:nvCxnSpPr>
          <p:cNvPr id="227" name="Google Shape;194;p10"/>
          <p:cNvCxnSpPr/>
          <p:nvPr/>
        </p:nvCxnSpPr>
        <p:spPr>
          <a:xfrm xmlns:a="http://schemas.openxmlformats.org/drawingml/2006/main">
            <a:off x="1097280" y="3977640"/>
            <a:ext cx="4023360" cy="0"/>
          </a:xfrm>
          <a:prstGeom xmlns:a="http://schemas.openxmlformats.org/drawingml/2006/main" prst="straightConnector1">
            <a:avLst/>
          </a:prstGeom>
          <a:ln xmlns:a="http://schemas.openxmlformats.org/drawingml/2006/main" w="16500" cap="flat">
            <a:solidFill>
              <a:srgbClr val="A6A6A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5" name="Google Shape;195;p10">
            <a:extLst xmlns:a="http://schemas.openxmlformats.org/drawingml/2006/main">
              <a:ext uri="{FF2B5EF4-FFF2-40B4-BE49-F238E27FC236}">
                <a16:creationId xmlns:a16="http://schemas.microsoft.com/office/drawing/2014/main" id="{6694B2ED-D2CA-4B53-B92A-18767C584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3913632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2622"/>
          </a:solidFill>
          <a:ln xmlns:a="http://schemas.openxmlformats.org/drawingml/2006/main" w="12700" cmpd="sng">
            <a:solidFill>
              <a:srgbClr val="E2262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96" name="Google Shape;196;p10">
            <a:extLst xmlns:a="http://schemas.openxmlformats.org/drawingml/2006/main">
              <a:ext uri="{FF2B5EF4-FFF2-40B4-BE49-F238E27FC236}">
                <a16:creationId xmlns:a16="http://schemas.microsoft.com/office/drawing/2014/main" id="{4055FA9F-1418-4C9A-99E8-E6A27ED98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3913632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2622"/>
          </a:solidFill>
          <a:ln xmlns:a="http://schemas.openxmlformats.org/drawingml/2006/main" w="12700" cmpd="sng">
            <a:solidFill>
              <a:srgbClr val="E2262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97" name="Google Shape;197;p10">
            <a:extLst xmlns:a="http://schemas.openxmlformats.org/drawingml/2006/main">
              <a:ext uri="{FF2B5EF4-FFF2-40B4-BE49-F238E27FC236}">
                <a16:creationId xmlns:a16="http://schemas.microsoft.com/office/drawing/2014/main" id="{7806EFB0-A01A-42B5-8CFD-0975C4EA4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20" y="3913632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2622"/>
          </a:solidFill>
          <a:ln xmlns:a="http://schemas.openxmlformats.org/drawingml/2006/main" w="12700" cmpd="sng">
            <a:solidFill>
              <a:srgbClr val="E2262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98" name="Google Shape;198;p10">
            <a:extLst xmlns:a="http://schemas.openxmlformats.org/drawingml/2006/main">
              <a:ext uri="{FF2B5EF4-FFF2-40B4-BE49-F238E27FC236}">
                <a16:creationId xmlns:a16="http://schemas.microsoft.com/office/drawing/2014/main" id="{0FC38A5F-AD44-49F8-B058-C0AAA8652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3913632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2622"/>
          </a:solidFill>
          <a:ln xmlns:a="http://schemas.openxmlformats.org/drawingml/2006/main" w="12700" cmpd="sng">
            <a:solidFill>
              <a:srgbClr val="E2262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99" name="Google Shape;199;p10">
            <a:extLst xmlns:a="http://schemas.openxmlformats.org/drawingml/2006/main">
              <a:ext uri="{FF2B5EF4-FFF2-40B4-BE49-F238E27FC236}">
                <a16:creationId xmlns:a16="http://schemas.microsoft.com/office/drawing/2014/main" id="{F3A51274-E572-4CA6-9419-318C807D4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40" y="3913632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2622"/>
          </a:solidFill>
          <a:ln xmlns:a="http://schemas.openxmlformats.org/drawingml/2006/main" w="12700" cmpd="sng">
            <a:solidFill>
              <a:srgbClr val="E2262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00" name="Google Shape;200;p10">
            <a:extLst xmlns:a="http://schemas.openxmlformats.org/drawingml/2006/main">
              <a:ext uri="{FF2B5EF4-FFF2-40B4-BE49-F238E27FC236}">
                <a16:creationId xmlns:a16="http://schemas.microsoft.com/office/drawing/2014/main" id="{340490E9-C78F-43E3-B479-B3B97862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1965960"/>
            <a:ext cx="5349240" cy="256032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0B0B0B"/>
          </a:solidFill>
          <a:ln xmlns:a="http://schemas.openxmlformats.org/drawingml/2006/main" w="12700" cmpd="sng">
            <a:solidFill>
              <a:srgbClr val="555555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01" name="Google Shape;201;p10">
            <a:extLst xmlns:a="http://schemas.openxmlformats.org/drawingml/2006/main">
              <a:ext uri="{FF2B5EF4-FFF2-40B4-BE49-F238E27FC236}">
                <a16:creationId xmlns:a16="http://schemas.microsoft.com/office/drawing/2014/main" id="{6E8FC04D-567B-43DC-9E23-05807ADD6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1965960"/>
            <a:ext cx="73152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2622"/>
          </a:solidFill>
          <a:ln xmlns:a="http://schemas.openxmlformats.org/drawingml/2006/main" w="12700" cmpd="sng">
            <a:solidFill>
              <a:srgbClr val="E2262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02" name="Google Shape;202;p10">
            <a:extLst xmlns:a="http://schemas.openxmlformats.org/drawingml/2006/main">
              <a:ext uri="{FF2B5EF4-FFF2-40B4-BE49-F238E27FC236}">
                <a16:creationId xmlns:a16="http://schemas.microsoft.com/office/drawing/2014/main" id="{2CB1FA86-F434-4C87-8F21-B494EC0FD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0" y="2130552"/>
            <a:ext cx="493776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22622"/>
              </a:buClr>
              <a:buSzPts val="1400"/>
              <a:buFont typeface="Arial"/>
              <a:buNone/>
            </a:pPr>
            <a:r>
              <a:rPr sz="1400" b="1" i="0" u="none" cap="none">
                <a:solidFill>
                  <a:srgbClr val="E22622"/>
                </a:solidFill>
                <a:latin typeface="Arial"/>
                <a:ea typeface="Arial"/>
                <a:cs typeface="Arial"/>
              </a:rPr>
              <a:t>ASK</a:t>
            </a:r>
          </a:p>
        </p:txBody>
      </p:sp>
      <p:sp>
        <p:nvSpPr>
          <p:cNvPr id="203" name="Google Shape;203;p10">
            <a:extLst xmlns:a="http://schemas.openxmlformats.org/drawingml/2006/main">
              <a:ext uri="{FF2B5EF4-FFF2-40B4-BE49-F238E27FC236}">
                <a16:creationId xmlns:a16="http://schemas.microsoft.com/office/drawing/2014/main" id="{C70C912C-C67F-4DF5-9BC4-4015E706C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0" y="2441448"/>
            <a:ext cx="4937760" cy="19933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sz="17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• Are trials consistent?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sz="17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• Is the method stable?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sz="17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• Are there hidden variables?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sz="17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• Does the conclusion need caution?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sz="17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• Would more trials help?</a:t>
            </a:r>
          </a:p>
        </p:txBody>
      </p:sp>
      <p:sp>
        <p:nvSpPr>
          <p:cNvPr id="204" name="Google Shape;204;p10">
            <a:extLst xmlns:a="http://schemas.openxmlformats.org/drawingml/2006/main">
              <a:ext uri="{FF2B5EF4-FFF2-40B4-BE49-F238E27FC236}">
                <a16:creationId xmlns:a16="http://schemas.microsoft.com/office/drawing/2014/main" id="{069B6C97-B982-4FD1-A982-E4C7D3C6A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66360"/>
            <a:ext cx="10332720" cy="68580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101010"/>
          </a:solidFill>
          <a:ln xmlns:a="http://schemas.openxmlformats.org/drawingml/2006/main" w="19050" cmpd="sng">
            <a:solidFill>
              <a:srgbClr val="E2262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05" name="Google Shape;205;p10">
            <a:extLst xmlns:a="http://schemas.openxmlformats.org/drawingml/2006/main">
              <a:ext uri="{FF2B5EF4-FFF2-40B4-BE49-F238E27FC236}">
                <a16:creationId xmlns:a16="http://schemas.microsoft.com/office/drawing/2014/main" id="{209BCB83-999F-4857-B1A4-7530F376F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66360"/>
            <a:ext cx="1417320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2622"/>
          </a:solidFill>
          <a:ln xmlns:a="http://schemas.openxmlformats.org/drawingml/2006/main" w="12700" cmpd="sng">
            <a:solidFill>
              <a:srgbClr val="E2262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06" name="Google Shape;206;p10">
            <a:extLst xmlns:a="http://schemas.openxmlformats.org/drawingml/2006/main">
              <a:ext uri="{FF2B5EF4-FFF2-40B4-BE49-F238E27FC236}">
                <a16:creationId xmlns:a16="http://schemas.microsoft.com/office/drawing/2014/main" id="{BE8F8D88-1401-4A41-AF91-5093F9A7F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257800"/>
            <a:ext cx="118872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sz="80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STUDENT ACTIVITY</a:t>
            </a:r>
          </a:p>
        </p:txBody>
      </p:sp>
      <p:sp>
        <p:nvSpPr>
          <p:cNvPr id="207" name="Google Shape;207;p10">
            <a:extLst xmlns:a="http://schemas.openxmlformats.org/drawingml/2006/main">
              <a:ext uri="{FF2B5EF4-FFF2-40B4-BE49-F238E27FC236}">
                <a16:creationId xmlns:a16="http://schemas.microsoft.com/office/drawing/2014/main" id="{C3359504-6D5B-409E-BC88-CEC4C814E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63" y="5550398"/>
            <a:ext cx="9875400" cy="29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sz="180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Student move</a:t>
            </a:r>
          </a:p>
        </p:txBody>
      </p:sp>
      <p:sp>
        <p:nvSpPr>
          <p:cNvPr id="208" name="Google Shape;208;p10">
            <a:extLst xmlns:a="http://schemas.openxmlformats.org/drawingml/2006/main">
              <a:ext uri="{FF2B5EF4-FFF2-40B4-BE49-F238E27FC236}">
                <a16:creationId xmlns:a16="http://schemas.microsoft.com/office/drawing/2014/main" id="{D45804F4-3A42-4721-808D-8A410860D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3191250" y="5513815"/>
            <a:ext cx="9875400" cy="32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420"/>
              <a:buFont typeface="Arial"/>
              <a:buNone/>
            </a:pPr>
            <a:r>
              <a:rPr sz="1420" b="0" i="0" u="non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Look at repeated trials. Do they cluster tightly, spread widely, or show one unusual value?</a:t>
            </a:r>
          </a:p>
        </p:txBody>
      </p:sp>
    </p:spTree>
    <p:extLst>
      <p:ext uri="{BB962C8B-B14F-4D97-AF65-F5344CB8AC3E}">
        <p14:creationId xmlns:p14="http://schemas.microsoft.com/office/powerpoint/2010/main" val="3481360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4" name="Google Shape;214;p11">
            <a:extLst xmlns:a="http://schemas.openxmlformats.org/drawingml/2006/main">
              <a:ext uri="{FF2B5EF4-FFF2-40B4-BE49-F238E27FC236}">
                <a16:creationId xmlns:a16="http://schemas.microsoft.com/office/drawing/2014/main" id="{4875468E-F015-4A76-A6D6-6750DDFCF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2700" cmpd="sng">
            <a:solidFill>
              <a:srgbClr val="050505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15" name="Google Shape;215;p11">
            <a:extLst xmlns:a="http://schemas.openxmlformats.org/drawingml/2006/main">
              <a:ext uri="{FF2B5EF4-FFF2-40B4-BE49-F238E27FC236}">
                <a16:creationId xmlns:a16="http://schemas.microsoft.com/office/drawing/2014/main" id="{61490CC9-A001-4BCA-886D-69D9C08B0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4592"/>
            <a:ext cx="12191695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2622"/>
          </a:solidFill>
          <a:ln xmlns:a="http://schemas.openxmlformats.org/drawingml/2006/main" w="12700" cmpd="sng">
            <a:solidFill>
              <a:srgbClr val="E2262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16" name="Google Shape;216;p11">
            <a:extLst xmlns:a="http://schemas.openxmlformats.org/drawingml/2006/main">
              <a:ext uri="{FF2B5EF4-FFF2-40B4-BE49-F238E27FC236}">
                <a16:creationId xmlns:a16="http://schemas.microsoft.com/office/drawing/2014/main" id="{BB6974E6-5090-4180-A597-38EB97664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01968"/>
            <a:ext cx="12191695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2622"/>
          </a:solidFill>
          <a:ln xmlns:a="http://schemas.openxmlformats.org/drawingml/2006/main" w="12700" cmpd="sng">
            <a:solidFill>
              <a:srgbClr val="E2262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17" name="Google Shape;217;p11">
            <a:extLst xmlns:a="http://schemas.openxmlformats.org/drawingml/2006/main">
              <a:ext uri="{FF2B5EF4-FFF2-40B4-BE49-F238E27FC236}">
                <a16:creationId xmlns:a16="http://schemas.microsoft.com/office/drawing/2014/main" id="{C572D367-9587-4416-A803-55A92D356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502920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sz="900" b="1" i="0" u="non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ERROR • UNCERTAINTY • LIMITATIONS</a:t>
            </a:r>
          </a:p>
        </p:txBody>
      </p:sp>
      <p:sp>
        <p:nvSpPr>
          <p:cNvPr id="218" name="Google Shape;218;p11">
            <a:extLst xmlns:a="http://schemas.openxmlformats.org/drawingml/2006/main">
              <a:ext uri="{FF2B5EF4-FFF2-40B4-BE49-F238E27FC236}">
                <a16:creationId xmlns:a16="http://schemas.microsoft.com/office/drawing/2014/main" id="{546AD163-74CF-4CA4-96E0-E1EC61193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0" y="384048"/>
            <a:ext cx="214884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sz="900" b="1" i="0" u="non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STARLAB Deck 12</a:t>
            </a:r>
          </a:p>
        </p:txBody>
      </p:sp>
      <p:sp>
        <p:nvSpPr>
          <p:cNvPr id="219" name="Google Shape;219;p11">
            <a:extLst xmlns:a="http://schemas.openxmlformats.org/drawingml/2006/main">
              <a:ext uri="{FF2B5EF4-FFF2-40B4-BE49-F238E27FC236}">
                <a16:creationId xmlns:a16="http://schemas.microsoft.com/office/drawing/2014/main" id="{AADB58BE-594E-42D5-9E13-99A5D1E80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749808"/>
            <a:ext cx="1088136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Play"/>
              <a:buNone/>
            </a:pPr>
            <a:r>
              <a:rPr sz="3000" b="1" i="0" u="none" cap="none">
                <a:solidFill>
                  <a:srgbClr val="FFFFFF"/>
                </a:solidFill>
                <a:latin typeface="Play"/>
                <a:ea typeface="Play"/>
                <a:cs typeface="Play"/>
              </a:rPr>
              <a:t>Error bars: what they can show</a:t>
            </a:r>
          </a:p>
        </p:txBody>
      </p:sp>
      <p:sp>
        <p:nvSpPr>
          <p:cNvPr id="220" name="Google Shape;220;p11">
            <a:extLst xmlns:a="http://schemas.openxmlformats.org/drawingml/2006/main">
              <a:ext uri="{FF2B5EF4-FFF2-40B4-BE49-F238E27FC236}">
                <a16:creationId xmlns:a16="http://schemas.microsoft.com/office/drawing/2014/main" id="{476355A0-FF65-4943-883A-4B7F73D4E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89888"/>
            <a:ext cx="105156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2622"/>
          </a:solidFill>
          <a:ln xmlns:a="http://schemas.openxmlformats.org/drawingml/2006/main" w="12700" cmpd="sng">
            <a:solidFill>
              <a:srgbClr val="E2262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21" name="Google Shape;221;p11">
            <a:extLst xmlns:a="http://schemas.openxmlformats.org/drawingml/2006/main">
              <a:ext uri="{FF2B5EF4-FFF2-40B4-BE49-F238E27FC236}">
                <a16:creationId xmlns:a16="http://schemas.microsoft.com/office/drawing/2014/main" id="{DEE51C79-58B1-401D-BB82-90C94661E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419088"/>
            <a:ext cx="292608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000"/>
              <a:buFont typeface="Arial"/>
              <a:buNone/>
            </a:pPr>
            <a:r>
              <a:rPr sz="1000" b="1" i="0" u="non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UNIT 4</a:t>
            </a:r>
          </a:p>
        </p:txBody>
      </p:sp>
      <p:sp>
        <p:nvSpPr>
          <p:cNvPr id="222" name="Google Shape;222;p11">
            <a:extLst xmlns:a="http://schemas.openxmlformats.org/drawingml/2006/main">
              <a:ext uri="{FF2B5EF4-FFF2-40B4-BE49-F238E27FC236}">
                <a16:creationId xmlns:a16="http://schemas.microsoft.com/office/drawing/2014/main" id="{F53126C7-253B-4A1D-87D3-5AB5D3ED6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19088"/>
            <a:ext cx="146304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000"/>
              <a:buFont typeface="Arial"/>
              <a:buNone/>
            </a:pPr>
            <a:r>
              <a:rPr sz="1000" b="1" i="0" u="non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STARLAB</a:t>
            </a:r>
          </a:p>
        </p:txBody>
      </p:sp>
      <p:sp>
        <p:nvSpPr>
          <p:cNvPr id="223" name="Google Shape;223;p11">
            <a:extLst xmlns:a="http://schemas.openxmlformats.org/drawingml/2006/main">
              <a:ext uri="{FF2B5EF4-FFF2-40B4-BE49-F238E27FC236}">
                <a16:creationId xmlns:a16="http://schemas.microsoft.com/office/drawing/2014/main" id="{A0106B89-5BE4-40D0-B030-0C13C1973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627632"/>
            <a:ext cx="1051560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25" tIns="625" rIns="625" bIns="625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sz="220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Error bars are visual cues about spread or uncertainty — not decorative antennas.</a:t>
            </a:r>
          </a:p>
        </p:txBody>
      </p:sp>
      <p:cxnSp>
        <p:nvCxnSpPr>
          <p:cNvPr id="256" name="Google Shape;224;p11"/>
          <p:cNvCxnSpPr/>
          <p:nvPr/>
        </p:nvCxnSpPr>
        <p:spPr>
          <a:xfrm xmlns:a="http://schemas.openxmlformats.org/drawingml/2006/main">
            <a:off x="1188720" y="4663440"/>
            <a:ext cx="4023360" cy="0"/>
          </a:xfrm>
          <a:prstGeom xmlns:a="http://schemas.openxmlformats.org/drawingml/2006/main" prst="straightConnector1">
            <a:avLst/>
          </a:prstGeom>
          <a:ln xmlns:a="http://schemas.openxmlformats.org/drawingml/2006/main" w="15225" cap="flat">
            <a:solidFill>
              <a:srgbClr val="A6A6A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57" name="Google Shape;225;p11"/>
          <p:cNvCxnSpPr/>
          <p:nvPr/>
        </p:nvCxnSpPr>
        <p:spPr>
          <a:xfrm xmlns:a="http://schemas.openxmlformats.org/drawingml/2006/main">
            <a:off x="1188720" y="1920240"/>
            <a:ext cx="0" cy="2743200"/>
          </a:xfrm>
          <a:prstGeom xmlns:a="http://schemas.openxmlformats.org/drawingml/2006/main" prst="straightConnector1">
            <a:avLst/>
          </a:prstGeom>
          <a:ln xmlns:a="http://schemas.openxmlformats.org/drawingml/2006/main" w="15225" cap="flat">
            <a:solidFill>
              <a:srgbClr val="A6A6A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6" name="Google Shape;226;p11">
            <a:extLst xmlns:a="http://schemas.openxmlformats.org/drawingml/2006/main">
              <a:ext uri="{FF2B5EF4-FFF2-40B4-BE49-F238E27FC236}">
                <a16:creationId xmlns:a16="http://schemas.microsoft.com/office/drawing/2014/main" id="{61B57CD0-0582-4EB1-933B-C601F4442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566160"/>
            <a:ext cx="502920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2622"/>
          </a:solidFill>
          <a:ln xmlns:a="http://schemas.openxmlformats.org/drawingml/2006/main" w="12700" cmpd="sng">
            <a:solidFill>
              <a:srgbClr val="E2262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cxnSp>
        <p:nvCxnSpPr>
          <p:cNvPr id="259" name="Google Shape;227;p11"/>
          <p:cNvCxnSpPr/>
          <p:nvPr/>
        </p:nvCxnSpPr>
        <p:spPr>
          <a:xfrm xmlns:a="http://schemas.openxmlformats.org/drawingml/2006/main">
            <a:off x="2080260" y="3310128"/>
            <a:ext cx="0" cy="512064"/>
          </a:xfrm>
          <a:prstGeom xmlns:a="http://schemas.openxmlformats.org/drawingml/2006/main" prst="straightConnector1">
            <a:avLst/>
          </a:prstGeom>
          <a:ln xmlns:a="http://schemas.openxmlformats.org/drawingml/2006/main" w="15225" cap="flat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60" name="Google Shape;228;p11"/>
          <p:cNvCxnSpPr/>
          <p:nvPr/>
        </p:nvCxnSpPr>
        <p:spPr>
          <a:xfrm xmlns:a="http://schemas.openxmlformats.org/drawingml/2006/main">
            <a:off x="1947672" y="3310128"/>
            <a:ext cx="265176" cy="0"/>
          </a:xfrm>
          <a:prstGeom xmlns:a="http://schemas.openxmlformats.org/drawingml/2006/main" prst="straightConnector1">
            <a:avLst/>
          </a:prstGeom>
          <a:ln xmlns:a="http://schemas.openxmlformats.org/drawingml/2006/main" w="15225" cap="flat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61" name="Google Shape;229;p11"/>
          <p:cNvCxnSpPr/>
          <p:nvPr/>
        </p:nvCxnSpPr>
        <p:spPr>
          <a:xfrm xmlns:a="http://schemas.openxmlformats.org/drawingml/2006/main">
            <a:off x="1947672" y="3822192"/>
            <a:ext cx="265176" cy="0"/>
          </a:xfrm>
          <a:prstGeom xmlns:a="http://schemas.openxmlformats.org/drawingml/2006/main" prst="straightConnector1">
            <a:avLst/>
          </a:prstGeom>
          <a:ln xmlns:a="http://schemas.openxmlformats.org/drawingml/2006/main" w="15225" cap="flat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30" name="Google Shape;230;p11">
            <a:extLst xmlns:a="http://schemas.openxmlformats.org/drawingml/2006/main">
              <a:ext uri="{FF2B5EF4-FFF2-40B4-BE49-F238E27FC236}">
                <a16:creationId xmlns:a16="http://schemas.microsoft.com/office/drawing/2014/main" id="{3743FE20-5640-4B3D-A52F-A823FF578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4782312"/>
            <a:ext cx="22860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25" tIns="625" rIns="625" bIns="625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200"/>
              <a:buFont typeface="Arial"/>
              <a:buNone/>
            </a:pPr>
            <a:r>
              <a:rPr sz="1200" b="0" i="0" u="non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31" name="Google Shape;231;p11">
            <a:extLst xmlns:a="http://schemas.openxmlformats.org/drawingml/2006/main">
              <a:ext uri="{FF2B5EF4-FFF2-40B4-BE49-F238E27FC236}">
                <a16:creationId xmlns:a16="http://schemas.microsoft.com/office/drawing/2014/main" id="{3B18561B-3545-4E19-891D-6A7FA5A7B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834640"/>
            <a:ext cx="50292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2622"/>
          </a:solidFill>
          <a:ln xmlns:a="http://schemas.openxmlformats.org/drawingml/2006/main" w="12700" cmpd="sng">
            <a:solidFill>
              <a:srgbClr val="E2262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cxnSp>
        <p:nvCxnSpPr>
          <p:cNvPr id="264" name="Google Shape;232;p11"/>
          <p:cNvCxnSpPr/>
          <p:nvPr/>
        </p:nvCxnSpPr>
        <p:spPr>
          <a:xfrm xmlns:a="http://schemas.openxmlformats.org/drawingml/2006/main">
            <a:off x="3268980" y="2331720"/>
            <a:ext cx="0" cy="1005840"/>
          </a:xfrm>
          <a:prstGeom xmlns:a="http://schemas.openxmlformats.org/drawingml/2006/main" prst="straightConnector1">
            <a:avLst/>
          </a:prstGeom>
          <a:ln xmlns:a="http://schemas.openxmlformats.org/drawingml/2006/main" w="15225" cap="flat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65" name="Google Shape;233;p11"/>
          <p:cNvCxnSpPr/>
          <p:nvPr/>
        </p:nvCxnSpPr>
        <p:spPr>
          <a:xfrm xmlns:a="http://schemas.openxmlformats.org/drawingml/2006/main">
            <a:off x="3136392" y="2331720"/>
            <a:ext cx="265176" cy="0"/>
          </a:xfrm>
          <a:prstGeom xmlns:a="http://schemas.openxmlformats.org/drawingml/2006/main" prst="straightConnector1">
            <a:avLst/>
          </a:prstGeom>
          <a:ln xmlns:a="http://schemas.openxmlformats.org/drawingml/2006/main" w="15225" cap="flat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66" name="Google Shape;234;p11"/>
          <p:cNvCxnSpPr/>
          <p:nvPr/>
        </p:nvCxnSpPr>
        <p:spPr>
          <a:xfrm xmlns:a="http://schemas.openxmlformats.org/drawingml/2006/main">
            <a:off x="3136392" y="3337560"/>
            <a:ext cx="265176" cy="0"/>
          </a:xfrm>
          <a:prstGeom xmlns:a="http://schemas.openxmlformats.org/drawingml/2006/main" prst="straightConnector1">
            <a:avLst/>
          </a:prstGeom>
          <a:ln xmlns:a="http://schemas.openxmlformats.org/drawingml/2006/main" w="15225" cap="flat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35" name="Google Shape;235;p11">
            <a:extLst xmlns:a="http://schemas.openxmlformats.org/drawingml/2006/main">
              <a:ext uri="{FF2B5EF4-FFF2-40B4-BE49-F238E27FC236}">
                <a16:creationId xmlns:a16="http://schemas.microsoft.com/office/drawing/2014/main" id="{A2CF2C66-0208-41C2-9F62-DF8AC29B2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4782312"/>
            <a:ext cx="22860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25" tIns="625" rIns="625" bIns="625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200"/>
              <a:buFont typeface="Arial"/>
              <a:buNone/>
            </a:pPr>
            <a:r>
              <a:rPr sz="1200" b="0" i="0" u="non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236" name="Google Shape;236;p11">
            <a:extLst xmlns:a="http://schemas.openxmlformats.org/drawingml/2006/main">
              <a:ext uri="{FF2B5EF4-FFF2-40B4-BE49-F238E27FC236}">
                <a16:creationId xmlns:a16="http://schemas.microsoft.com/office/drawing/2014/main" id="{2670612C-97A8-4846-8457-1BA58FD40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3154680"/>
            <a:ext cx="502920" cy="1508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2622"/>
          </a:solidFill>
          <a:ln xmlns:a="http://schemas.openxmlformats.org/drawingml/2006/main" w="12700" cmpd="sng">
            <a:solidFill>
              <a:srgbClr val="E2262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cxnSp>
        <p:nvCxnSpPr>
          <p:cNvPr id="269" name="Google Shape;237;p11"/>
          <p:cNvCxnSpPr/>
          <p:nvPr/>
        </p:nvCxnSpPr>
        <p:spPr>
          <a:xfrm xmlns:a="http://schemas.openxmlformats.org/drawingml/2006/main">
            <a:off x="4457700" y="2862072"/>
            <a:ext cx="0" cy="585216"/>
          </a:xfrm>
          <a:prstGeom xmlns:a="http://schemas.openxmlformats.org/drawingml/2006/main" prst="straightConnector1">
            <a:avLst/>
          </a:prstGeom>
          <a:ln xmlns:a="http://schemas.openxmlformats.org/drawingml/2006/main" w="15225" cap="flat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0" name="Google Shape;238;p11"/>
          <p:cNvCxnSpPr/>
          <p:nvPr/>
        </p:nvCxnSpPr>
        <p:spPr>
          <a:xfrm xmlns:a="http://schemas.openxmlformats.org/drawingml/2006/main">
            <a:off x="4325112" y="2862072"/>
            <a:ext cx="265176" cy="0"/>
          </a:xfrm>
          <a:prstGeom xmlns:a="http://schemas.openxmlformats.org/drawingml/2006/main" prst="straightConnector1">
            <a:avLst/>
          </a:prstGeom>
          <a:ln xmlns:a="http://schemas.openxmlformats.org/drawingml/2006/main" w="15225" cap="flat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1" name="Google Shape;239;p11"/>
          <p:cNvCxnSpPr/>
          <p:nvPr/>
        </p:nvCxnSpPr>
        <p:spPr>
          <a:xfrm xmlns:a="http://schemas.openxmlformats.org/drawingml/2006/main">
            <a:off x="4325112" y="3447288"/>
            <a:ext cx="265176" cy="0"/>
          </a:xfrm>
          <a:prstGeom xmlns:a="http://schemas.openxmlformats.org/drawingml/2006/main" prst="straightConnector1">
            <a:avLst/>
          </a:prstGeom>
          <a:ln xmlns:a="http://schemas.openxmlformats.org/drawingml/2006/main" w="15225" cap="flat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0" name="Google Shape;240;p11">
            <a:extLst xmlns:a="http://schemas.openxmlformats.org/drawingml/2006/main">
              <a:ext uri="{FF2B5EF4-FFF2-40B4-BE49-F238E27FC236}">
                <a16:creationId xmlns:a16="http://schemas.microsoft.com/office/drawing/2014/main" id="{AAEDACDF-42CD-4E1B-AD4E-E8BBEAB58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782312"/>
            <a:ext cx="22860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25" tIns="625" rIns="625" bIns="625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200"/>
              <a:buFont typeface="Arial"/>
              <a:buNone/>
            </a:pPr>
            <a:r>
              <a:rPr sz="1200" b="0" i="0" u="non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41" name="Google Shape;241;p11">
            <a:extLst xmlns:a="http://schemas.openxmlformats.org/drawingml/2006/main">
              <a:ext uri="{FF2B5EF4-FFF2-40B4-BE49-F238E27FC236}">
                <a16:creationId xmlns:a16="http://schemas.microsoft.com/office/drawing/2014/main" id="{C2CBF853-0CC1-4467-8FF1-B74404DDD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890" y="2244860"/>
            <a:ext cx="4755000" cy="2697600"/>
          </a:xfrm>
          <a:prstGeom xmlns:a="http://schemas.openxmlformats.org/drawingml/2006/main" prst="roundRect">
            <a:avLst>
              <a:gd name="adj" fmla="val 2712"/>
            </a:avLst>
          </a:prstGeom>
          <a:solidFill xmlns:a="http://schemas.openxmlformats.org/drawingml/2006/main">
            <a:srgbClr val="0B0B0B"/>
          </a:solidFill>
          <a:ln xmlns:a="http://schemas.openxmlformats.org/drawingml/2006/main" w="12700" cmpd="sng">
            <a:solidFill>
              <a:srgbClr val="555555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42" name="Google Shape;242;p11">
            <a:extLst xmlns:a="http://schemas.openxmlformats.org/drawingml/2006/main">
              <a:ext uri="{FF2B5EF4-FFF2-40B4-BE49-F238E27FC236}">
                <a16:creationId xmlns:a16="http://schemas.microsoft.com/office/drawing/2014/main" id="{A0645714-4EF6-4D7D-8343-31C806F9A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4165" y="2244910"/>
            <a:ext cx="73200" cy="269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2622"/>
          </a:solidFill>
          <a:ln xmlns:a="http://schemas.openxmlformats.org/drawingml/2006/main" w="12700" cmpd="sng">
            <a:solidFill>
              <a:srgbClr val="E2262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43" name="Google Shape;243;p11">
            <a:extLst xmlns:a="http://schemas.openxmlformats.org/drawingml/2006/main">
              <a:ext uri="{FF2B5EF4-FFF2-40B4-BE49-F238E27FC236}">
                <a16:creationId xmlns:a16="http://schemas.microsoft.com/office/drawing/2014/main" id="{5B6D9041-C372-4C6A-93ED-7BA2BAC47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490" y="2409452"/>
            <a:ext cx="4343400" cy="25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22622"/>
              </a:buClr>
              <a:buSzPts val="1400"/>
              <a:buFont typeface="Arial"/>
              <a:buNone/>
            </a:pPr>
            <a:r>
              <a:rPr sz="1400" b="1" i="0" u="none" cap="none">
                <a:solidFill>
                  <a:srgbClr val="E22622"/>
                </a:solidFill>
                <a:latin typeface="Arial"/>
                <a:ea typeface="Arial"/>
                <a:cs typeface="Arial"/>
              </a:rPr>
              <a:t>BEFORE USING ERROR BARS</a:t>
            </a:r>
          </a:p>
        </p:txBody>
      </p:sp>
      <p:sp>
        <p:nvSpPr>
          <p:cNvPr id="244" name="Google Shape;244;p11">
            <a:extLst xmlns:a="http://schemas.openxmlformats.org/drawingml/2006/main">
              <a:ext uri="{FF2B5EF4-FFF2-40B4-BE49-F238E27FC236}">
                <a16:creationId xmlns:a16="http://schemas.microsoft.com/office/drawing/2014/main" id="{D2B8A0FF-1D4B-45A8-B5DB-65AD5CB4B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490" y="2720348"/>
            <a:ext cx="4343400" cy="213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• Do you have repeated measurements?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• Do you know what the bars represent?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• Are they standard deviation, range, or uncertainty?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• Can you explain them aloud?</a:t>
            </a:r>
          </a:p>
        </p:txBody>
      </p:sp>
      <p:sp>
        <p:nvSpPr>
          <p:cNvPr id="245" name="Google Shape;245;p11">
            <a:extLst xmlns:a="http://schemas.openxmlformats.org/drawingml/2006/main">
              <a:ext uri="{FF2B5EF4-FFF2-40B4-BE49-F238E27FC236}">
                <a16:creationId xmlns:a16="http://schemas.microsoft.com/office/drawing/2014/main" id="{1D817EF0-5EB5-4327-86C9-D92FA8C76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119577"/>
            <a:ext cx="4526400" cy="38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25" tIns="625" rIns="625" bIns="625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sz="170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Do not add error bars just because they look scientific.</a:t>
            </a:r>
          </a:p>
        </p:txBody>
      </p:sp>
    </p:spTree>
    <p:extLst>
      <p:ext uri="{BB962C8B-B14F-4D97-AF65-F5344CB8AC3E}">
        <p14:creationId xmlns:p14="http://schemas.microsoft.com/office/powerpoint/2010/main" val="810369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1" name="Google Shape;251;p12">
            <a:extLst xmlns:a="http://schemas.openxmlformats.org/drawingml/2006/main">
              <a:ext uri="{FF2B5EF4-FFF2-40B4-BE49-F238E27FC236}">
                <a16:creationId xmlns:a16="http://schemas.microsoft.com/office/drawing/2014/main" id="{B5D68117-8DC3-4D6B-9616-325211B18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2700" cmpd="sng">
            <a:solidFill>
              <a:srgbClr val="050505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52" name="Google Shape;252;p12">
            <a:extLst xmlns:a="http://schemas.openxmlformats.org/drawingml/2006/main">
              <a:ext uri="{FF2B5EF4-FFF2-40B4-BE49-F238E27FC236}">
                <a16:creationId xmlns:a16="http://schemas.microsoft.com/office/drawing/2014/main" id="{30C3CFEA-787C-44E7-8F5E-73CE888F8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4592"/>
            <a:ext cx="12191695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2622"/>
          </a:solidFill>
          <a:ln xmlns:a="http://schemas.openxmlformats.org/drawingml/2006/main" w="12700" cmpd="sng">
            <a:solidFill>
              <a:srgbClr val="E2262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53" name="Google Shape;253;p12">
            <a:extLst xmlns:a="http://schemas.openxmlformats.org/drawingml/2006/main">
              <a:ext uri="{FF2B5EF4-FFF2-40B4-BE49-F238E27FC236}">
                <a16:creationId xmlns:a16="http://schemas.microsoft.com/office/drawing/2014/main" id="{64ED3901-45BF-4C15-8D1F-2C41A5CBA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01968"/>
            <a:ext cx="12191695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2622"/>
          </a:solidFill>
          <a:ln xmlns:a="http://schemas.openxmlformats.org/drawingml/2006/main" w="12700" cmpd="sng">
            <a:solidFill>
              <a:srgbClr val="E2262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54" name="Google Shape;254;p12">
            <a:extLst xmlns:a="http://schemas.openxmlformats.org/drawingml/2006/main">
              <a:ext uri="{FF2B5EF4-FFF2-40B4-BE49-F238E27FC236}">
                <a16:creationId xmlns:a16="http://schemas.microsoft.com/office/drawing/2014/main" id="{2AEAAB01-25AC-4A90-A611-A805F01C5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502920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sz="900" b="1" i="0" u="non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ERROR • UNCERTAINTY • LIMITATIONS</a:t>
            </a:r>
          </a:p>
        </p:txBody>
      </p:sp>
      <p:sp>
        <p:nvSpPr>
          <p:cNvPr id="255" name="Google Shape;255;p12">
            <a:extLst xmlns:a="http://schemas.openxmlformats.org/drawingml/2006/main">
              <a:ext uri="{FF2B5EF4-FFF2-40B4-BE49-F238E27FC236}">
                <a16:creationId xmlns:a16="http://schemas.microsoft.com/office/drawing/2014/main" id="{66F41E1D-BEA9-4C08-AFDD-E45BE8324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0" y="384048"/>
            <a:ext cx="214884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sz="900" b="1" i="0" u="non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STARLAB Deck 12</a:t>
            </a:r>
          </a:p>
        </p:txBody>
      </p:sp>
      <p:sp>
        <p:nvSpPr>
          <p:cNvPr id="256" name="Google Shape;256;p12">
            <a:extLst xmlns:a="http://schemas.openxmlformats.org/drawingml/2006/main">
              <a:ext uri="{FF2B5EF4-FFF2-40B4-BE49-F238E27FC236}">
                <a16:creationId xmlns:a16="http://schemas.microsoft.com/office/drawing/2014/main" id="{0CDD353C-B5D4-49A2-B8A0-00E18EE56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749808"/>
            <a:ext cx="1088136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Play"/>
              <a:buNone/>
            </a:pPr>
            <a:r>
              <a:rPr sz="3000" b="1" i="0" u="none" cap="none">
                <a:solidFill>
                  <a:srgbClr val="FFFFFF"/>
                </a:solidFill>
                <a:latin typeface="Play"/>
                <a:ea typeface="Play"/>
                <a:cs typeface="Play"/>
              </a:rPr>
              <a:t>Limitations are not excuses</a:t>
            </a:r>
          </a:p>
        </p:txBody>
      </p:sp>
      <p:sp>
        <p:nvSpPr>
          <p:cNvPr id="257" name="Google Shape;257;p12">
            <a:extLst xmlns:a="http://schemas.openxmlformats.org/drawingml/2006/main">
              <a:ext uri="{FF2B5EF4-FFF2-40B4-BE49-F238E27FC236}">
                <a16:creationId xmlns:a16="http://schemas.microsoft.com/office/drawing/2014/main" id="{9D10BD25-0077-4CD2-9B09-28EF30364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89888"/>
            <a:ext cx="105156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2622"/>
          </a:solidFill>
          <a:ln xmlns:a="http://schemas.openxmlformats.org/drawingml/2006/main" w="12700" cmpd="sng">
            <a:solidFill>
              <a:srgbClr val="E2262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58" name="Google Shape;258;p12">
            <a:extLst xmlns:a="http://schemas.openxmlformats.org/drawingml/2006/main">
              <a:ext uri="{FF2B5EF4-FFF2-40B4-BE49-F238E27FC236}">
                <a16:creationId xmlns:a16="http://schemas.microsoft.com/office/drawing/2014/main" id="{A3D22628-B246-496D-AAC9-EE8A5F75C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419088"/>
            <a:ext cx="292608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000"/>
              <a:buFont typeface="Arial"/>
              <a:buNone/>
            </a:pPr>
            <a:r>
              <a:rPr sz="1000" b="1" i="0" u="non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UNIT 4</a:t>
            </a:r>
          </a:p>
        </p:txBody>
      </p:sp>
      <p:sp>
        <p:nvSpPr>
          <p:cNvPr id="259" name="Google Shape;259;p12">
            <a:extLst xmlns:a="http://schemas.openxmlformats.org/drawingml/2006/main">
              <a:ext uri="{FF2B5EF4-FFF2-40B4-BE49-F238E27FC236}">
                <a16:creationId xmlns:a16="http://schemas.microsoft.com/office/drawing/2014/main" id="{3F78319A-35D4-4598-BBA5-52CCF628C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19088"/>
            <a:ext cx="146304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000"/>
              <a:buFont typeface="Arial"/>
              <a:buNone/>
            </a:pPr>
            <a:r>
              <a:rPr sz="1000" b="1" i="0" u="non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STARLAB</a:t>
            </a:r>
          </a:p>
        </p:txBody>
      </p:sp>
      <p:sp>
        <p:nvSpPr>
          <p:cNvPr id="260" name="Google Shape;260;p12">
            <a:extLst xmlns:a="http://schemas.openxmlformats.org/drawingml/2006/main">
              <a:ext uri="{FF2B5EF4-FFF2-40B4-BE49-F238E27FC236}">
                <a16:creationId xmlns:a16="http://schemas.microsoft.com/office/drawing/2014/main" id="{5C2DC5A6-A5D6-40D9-B9BE-0856B0AC2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627632"/>
            <a:ext cx="10241280" cy="438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25" tIns="625" rIns="625" bIns="625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sz="220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A limitation is a boundary on interpretation, not a confession that the project failed.</a:t>
            </a:r>
          </a:p>
        </p:txBody>
      </p:sp>
      <p:sp>
        <p:nvSpPr>
          <p:cNvPr id="261" name="Google Shape;261;p12">
            <a:extLst xmlns:a="http://schemas.openxmlformats.org/drawingml/2006/main">
              <a:ext uri="{FF2B5EF4-FFF2-40B4-BE49-F238E27FC236}">
                <a16:creationId xmlns:a16="http://schemas.microsoft.com/office/drawing/2014/main" id="{FED5554C-70C8-414D-AB03-7C72B48A2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77440"/>
            <a:ext cx="3291840" cy="22860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0B0B0B"/>
          </a:solidFill>
          <a:ln xmlns:a="http://schemas.openxmlformats.org/drawingml/2006/main" w="12700" cmpd="sng">
            <a:solidFill>
              <a:srgbClr val="555555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62" name="Google Shape;262;p12">
            <a:extLst xmlns:a="http://schemas.openxmlformats.org/drawingml/2006/main">
              <a:ext uri="{FF2B5EF4-FFF2-40B4-BE49-F238E27FC236}">
                <a16:creationId xmlns:a16="http://schemas.microsoft.com/office/drawing/2014/main" id="{D6E84560-833A-4412-87E2-064CF5096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77440"/>
            <a:ext cx="73152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12700" cmpd="sng">
            <a:solidFill>
              <a:srgbClr val="555555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63" name="Google Shape;263;p12">
            <a:extLst xmlns:a="http://schemas.openxmlformats.org/drawingml/2006/main">
              <a:ext uri="{FF2B5EF4-FFF2-40B4-BE49-F238E27FC236}">
                <a16:creationId xmlns:a16="http://schemas.microsoft.com/office/drawing/2014/main" id="{CDC97D4F-1A32-4845-9DDB-4083B5AFB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42032"/>
            <a:ext cx="288036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400"/>
              <a:buFont typeface="Arial"/>
              <a:buNone/>
            </a:pPr>
            <a:r>
              <a:rPr sz="1400" b="1" i="0" u="non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NOT HELPFUL</a:t>
            </a:r>
          </a:p>
        </p:txBody>
      </p:sp>
      <p:sp>
        <p:nvSpPr>
          <p:cNvPr id="264" name="Google Shape;264;p12">
            <a:extLst xmlns:a="http://schemas.openxmlformats.org/drawingml/2006/main">
              <a:ext uri="{FF2B5EF4-FFF2-40B4-BE49-F238E27FC236}">
                <a16:creationId xmlns:a16="http://schemas.microsoft.com/office/drawing/2014/main" id="{B6EC6CE7-44C3-4408-AA8E-AFDE174AF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2928"/>
            <a:ext cx="2880360" cy="17190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sz="17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“My project had limitations.”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t/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sz="17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This names nothing and explains nothing.</a:t>
            </a:r>
          </a:p>
        </p:txBody>
      </p:sp>
      <p:sp>
        <p:nvSpPr>
          <p:cNvPr id="265" name="Google Shape;265;p12">
            <a:extLst xmlns:a="http://schemas.openxmlformats.org/drawingml/2006/main">
              <a:ext uri="{FF2B5EF4-FFF2-40B4-BE49-F238E27FC236}">
                <a16:creationId xmlns:a16="http://schemas.microsoft.com/office/drawing/2014/main" id="{5676C72D-06D7-4DAF-81B4-726FCF298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377440"/>
            <a:ext cx="3291840" cy="22860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0B0B0B"/>
          </a:solidFill>
          <a:ln xmlns:a="http://schemas.openxmlformats.org/drawingml/2006/main" w="12700" cmpd="sng">
            <a:solidFill>
              <a:srgbClr val="555555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66" name="Google Shape;266;p12">
            <a:extLst xmlns:a="http://schemas.openxmlformats.org/drawingml/2006/main">
              <a:ext uri="{FF2B5EF4-FFF2-40B4-BE49-F238E27FC236}">
                <a16:creationId xmlns:a16="http://schemas.microsoft.com/office/drawing/2014/main" id="{CC6E2BB6-6655-4175-9ED8-67205D6B3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377440"/>
            <a:ext cx="73152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2622"/>
          </a:solidFill>
          <a:ln xmlns:a="http://schemas.openxmlformats.org/drawingml/2006/main" w="12700" cmpd="sng">
            <a:solidFill>
              <a:srgbClr val="E2262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67" name="Google Shape;267;p12">
            <a:extLst xmlns:a="http://schemas.openxmlformats.org/drawingml/2006/main">
              <a:ext uri="{FF2B5EF4-FFF2-40B4-BE49-F238E27FC236}">
                <a16:creationId xmlns:a16="http://schemas.microsoft.com/office/drawing/2014/main" id="{CB58BEC6-B9AE-46DC-929B-0EB59FDEE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2542032"/>
            <a:ext cx="288036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22622"/>
              </a:buClr>
              <a:buSzPts val="1400"/>
              <a:buFont typeface="Arial"/>
              <a:buNone/>
            </a:pPr>
            <a:r>
              <a:rPr sz="1400" b="1" i="0" u="none" cap="none">
                <a:solidFill>
                  <a:srgbClr val="E22622"/>
                </a:solidFill>
                <a:latin typeface="Arial"/>
                <a:ea typeface="Arial"/>
                <a:cs typeface="Arial"/>
              </a:rPr>
              <a:t>BETTER</a:t>
            </a:r>
          </a:p>
        </p:txBody>
      </p:sp>
      <p:sp>
        <p:nvSpPr>
          <p:cNvPr id="268" name="Google Shape;268;p12">
            <a:extLst xmlns:a="http://schemas.openxmlformats.org/drawingml/2006/main">
              <a:ext uri="{FF2B5EF4-FFF2-40B4-BE49-F238E27FC236}">
                <a16:creationId xmlns:a16="http://schemas.microsoft.com/office/drawing/2014/main" id="{0A0FD9C9-D4C6-4332-9E12-D77940E9C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2852928"/>
            <a:ext cx="2880360" cy="17190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sz="17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“Only three trials were completed per condition, so small differences between groups should be interpreted cautiously.”</a:t>
            </a:r>
          </a:p>
        </p:txBody>
      </p:sp>
      <p:sp>
        <p:nvSpPr>
          <p:cNvPr id="269" name="Google Shape;269;p12">
            <a:extLst xmlns:a="http://schemas.openxmlformats.org/drawingml/2006/main">
              <a:ext uri="{FF2B5EF4-FFF2-40B4-BE49-F238E27FC236}">
                <a16:creationId xmlns:a16="http://schemas.microsoft.com/office/drawing/2014/main" id="{100AB6D4-3C71-455D-A60B-F5CE6EE8D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2377440"/>
            <a:ext cx="2926080" cy="22860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0B0B0B"/>
          </a:solidFill>
          <a:ln xmlns:a="http://schemas.openxmlformats.org/drawingml/2006/main" w="12700" cmpd="sng">
            <a:solidFill>
              <a:srgbClr val="555555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70" name="Google Shape;270;p12">
            <a:extLst xmlns:a="http://schemas.openxmlformats.org/drawingml/2006/main">
              <a:ext uri="{FF2B5EF4-FFF2-40B4-BE49-F238E27FC236}">
                <a16:creationId xmlns:a16="http://schemas.microsoft.com/office/drawing/2014/main" id="{E8DD1074-F089-4649-9C4F-43BF36B11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2377440"/>
            <a:ext cx="73152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2622"/>
          </a:solidFill>
          <a:ln xmlns:a="http://schemas.openxmlformats.org/drawingml/2006/main" w="12700" cmpd="sng">
            <a:solidFill>
              <a:srgbClr val="E2262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71" name="Google Shape;271;p12">
            <a:extLst xmlns:a="http://schemas.openxmlformats.org/drawingml/2006/main">
              <a:ext uri="{FF2B5EF4-FFF2-40B4-BE49-F238E27FC236}">
                <a16:creationId xmlns:a16="http://schemas.microsoft.com/office/drawing/2014/main" id="{3B49371F-326A-45C1-A468-BB553A90D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2542032"/>
            <a:ext cx="25146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22622"/>
              </a:buClr>
              <a:buSzPts val="1400"/>
              <a:buFont typeface="Arial"/>
              <a:buNone/>
            </a:pPr>
            <a:r>
              <a:rPr sz="1400" b="1" i="0" u="none" cap="none">
                <a:solidFill>
                  <a:srgbClr val="E22622"/>
                </a:solidFill>
                <a:latin typeface="Arial"/>
                <a:ea typeface="Arial"/>
                <a:cs typeface="Arial"/>
              </a:rPr>
              <a:t>BEST MOVE</a:t>
            </a:r>
          </a:p>
        </p:txBody>
      </p:sp>
      <p:sp>
        <p:nvSpPr>
          <p:cNvPr id="272" name="Google Shape;272;p12">
            <a:extLst xmlns:a="http://schemas.openxmlformats.org/drawingml/2006/main">
              <a:ext uri="{FF2B5EF4-FFF2-40B4-BE49-F238E27FC236}">
                <a16:creationId xmlns:a16="http://schemas.microsoft.com/office/drawing/2014/main" id="{16E05ADB-E580-45C5-A64E-A69DD7983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2852928"/>
            <a:ext cx="2514600" cy="17190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Arial"/>
              <a:buNone/>
            </a:pPr>
            <a:r>
              <a:rPr sz="165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Name the limitation + explain how it affects confidence + suggest a future fix.</a:t>
            </a:r>
          </a:p>
        </p:txBody>
      </p:sp>
      <p:sp>
        <p:nvSpPr>
          <p:cNvPr id="273" name="Google Shape;273;p12">
            <a:extLst xmlns:a="http://schemas.openxmlformats.org/drawingml/2006/main">
              <a:ext uri="{FF2B5EF4-FFF2-40B4-BE49-F238E27FC236}">
                <a16:creationId xmlns:a16="http://schemas.microsoft.com/office/drawing/2014/main" id="{3E290C3E-A7E2-4FA0-8E92-5807B9907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20640"/>
            <a:ext cx="10058400" cy="68580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101010"/>
          </a:solidFill>
          <a:ln xmlns:a="http://schemas.openxmlformats.org/drawingml/2006/main" w="19050" cmpd="sng">
            <a:solidFill>
              <a:srgbClr val="E2262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74" name="Google Shape;274;p12">
            <a:extLst xmlns:a="http://schemas.openxmlformats.org/drawingml/2006/main">
              <a:ext uri="{FF2B5EF4-FFF2-40B4-BE49-F238E27FC236}">
                <a16:creationId xmlns:a16="http://schemas.microsoft.com/office/drawing/2014/main" id="{5B77A81C-6A96-430A-8739-25D8B8A2B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20640"/>
            <a:ext cx="1417320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2622"/>
          </a:solidFill>
          <a:ln xmlns:a="http://schemas.openxmlformats.org/drawingml/2006/main" w="12700" cmpd="sng">
            <a:solidFill>
              <a:srgbClr val="E2262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75" name="Google Shape;275;p12">
            <a:extLst xmlns:a="http://schemas.openxmlformats.org/drawingml/2006/main">
              <a:ext uri="{FF2B5EF4-FFF2-40B4-BE49-F238E27FC236}">
                <a16:creationId xmlns:a16="http://schemas.microsoft.com/office/drawing/2014/main" id="{85D21FFE-5F6C-4144-8437-90A28E407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212080"/>
            <a:ext cx="118872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sz="80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STUDENT ACTIVITY</a:t>
            </a:r>
          </a:p>
        </p:txBody>
      </p:sp>
      <p:sp>
        <p:nvSpPr>
          <p:cNvPr id="276" name="Google Shape;276;p12">
            <a:extLst xmlns:a="http://schemas.openxmlformats.org/drawingml/2006/main">
              <a:ext uri="{FF2B5EF4-FFF2-40B4-BE49-F238E27FC236}">
                <a16:creationId xmlns:a16="http://schemas.microsoft.com/office/drawing/2014/main" id="{172FDD8A-6F08-4338-BFBF-339F0C1B8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86416"/>
            <a:ext cx="9601200" cy="29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sz="180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Student move</a:t>
            </a:r>
          </a:p>
        </p:txBody>
      </p:sp>
      <p:sp>
        <p:nvSpPr>
          <p:cNvPr id="277" name="Google Shape;277;p12">
            <a:extLst xmlns:a="http://schemas.openxmlformats.org/drawingml/2006/main">
              <a:ext uri="{FF2B5EF4-FFF2-40B4-BE49-F238E27FC236}">
                <a16:creationId xmlns:a16="http://schemas.microsoft.com/office/drawing/2014/main" id="{0E6A73AB-A45B-49B1-B597-75AB64C4D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3175000" y="5472668"/>
            <a:ext cx="9601200" cy="32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420"/>
              <a:buFont typeface="Arial"/>
              <a:buNone/>
            </a:pPr>
            <a:r>
              <a:rPr sz="1420" b="0" i="0" u="non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Write one limitation as a boundary on what your data can claim.</a:t>
            </a:r>
          </a:p>
        </p:txBody>
      </p:sp>
    </p:spTree>
    <p:extLst>
      <p:ext uri="{BB962C8B-B14F-4D97-AF65-F5344CB8AC3E}">
        <p14:creationId xmlns:p14="http://schemas.microsoft.com/office/powerpoint/2010/main" val="136980006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3" name="Google Shape;283;p13">
            <a:extLst xmlns:a="http://schemas.openxmlformats.org/drawingml/2006/main">
              <a:ext uri="{FF2B5EF4-FFF2-40B4-BE49-F238E27FC236}">
                <a16:creationId xmlns:a16="http://schemas.microsoft.com/office/drawing/2014/main" id="{C4441824-1330-4DBA-B33E-CE44AFA15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2700" cmpd="sng">
            <a:solidFill>
              <a:srgbClr val="050505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84" name="Google Shape;284;p13">
            <a:extLst xmlns:a="http://schemas.openxmlformats.org/drawingml/2006/main">
              <a:ext uri="{FF2B5EF4-FFF2-40B4-BE49-F238E27FC236}">
                <a16:creationId xmlns:a16="http://schemas.microsoft.com/office/drawing/2014/main" id="{A3096378-DA84-42BF-9908-3C6D38316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4592"/>
            <a:ext cx="12191695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2622"/>
          </a:solidFill>
          <a:ln xmlns:a="http://schemas.openxmlformats.org/drawingml/2006/main" w="12700" cmpd="sng">
            <a:solidFill>
              <a:srgbClr val="E2262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85" name="Google Shape;285;p13">
            <a:extLst xmlns:a="http://schemas.openxmlformats.org/drawingml/2006/main">
              <a:ext uri="{FF2B5EF4-FFF2-40B4-BE49-F238E27FC236}">
                <a16:creationId xmlns:a16="http://schemas.microsoft.com/office/drawing/2014/main" id="{B466063F-E7B3-460C-80EE-F92DE0810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01968"/>
            <a:ext cx="12191695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2622"/>
          </a:solidFill>
          <a:ln xmlns:a="http://schemas.openxmlformats.org/drawingml/2006/main" w="12700" cmpd="sng">
            <a:solidFill>
              <a:srgbClr val="E2262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86" name="Google Shape;286;p13">
            <a:extLst xmlns:a="http://schemas.openxmlformats.org/drawingml/2006/main">
              <a:ext uri="{FF2B5EF4-FFF2-40B4-BE49-F238E27FC236}">
                <a16:creationId xmlns:a16="http://schemas.microsoft.com/office/drawing/2014/main" id="{22076AB7-D32C-4C77-A80B-FA05DF28E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502920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sz="900" b="1" i="0" u="non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ERROR • UNCERTAINTY • LIMITATIONS</a:t>
            </a:r>
          </a:p>
        </p:txBody>
      </p:sp>
      <p:sp>
        <p:nvSpPr>
          <p:cNvPr id="287" name="Google Shape;287;p13">
            <a:extLst xmlns:a="http://schemas.openxmlformats.org/drawingml/2006/main">
              <a:ext uri="{FF2B5EF4-FFF2-40B4-BE49-F238E27FC236}">
                <a16:creationId xmlns:a16="http://schemas.microsoft.com/office/drawing/2014/main" id="{AA3974A2-ABC2-4FED-9B59-36531B4CA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0" y="384048"/>
            <a:ext cx="214884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sz="900" b="1" i="0" u="non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STARLAB Deck 12</a:t>
            </a:r>
          </a:p>
        </p:txBody>
      </p:sp>
      <p:sp>
        <p:nvSpPr>
          <p:cNvPr id="288" name="Google Shape;288;p13">
            <a:extLst xmlns:a="http://schemas.openxmlformats.org/drawingml/2006/main">
              <a:ext uri="{FF2B5EF4-FFF2-40B4-BE49-F238E27FC236}">
                <a16:creationId xmlns:a16="http://schemas.microsoft.com/office/drawing/2014/main" id="{428DFD87-E1C7-47C3-848C-B5935B33B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749808"/>
            <a:ext cx="1088136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Play"/>
              <a:buNone/>
            </a:pPr>
            <a:r>
              <a:rPr sz="3000" b="1" i="0" u="none" cap="none">
                <a:solidFill>
                  <a:srgbClr val="FFFFFF"/>
                </a:solidFill>
                <a:latin typeface="Play"/>
                <a:ea typeface="Play"/>
                <a:cs typeface="Play"/>
              </a:rPr>
              <a:t>Common STARLAB limitations</a:t>
            </a:r>
          </a:p>
        </p:txBody>
      </p:sp>
      <p:sp>
        <p:nvSpPr>
          <p:cNvPr id="289" name="Google Shape;289;p13">
            <a:extLst xmlns:a="http://schemas.openxmlformats.org/drawingml/2006/main">
              <a:ext uri="{FF2B5EF4-FFF2-40B4-BE49-F238E27FC236}">
                <a16:creationId xmlns:a16="http://schemas.microsoft.com/office/drawing/2014/main" id="{E75CA84C-EBA1-4880-B9A5-D46D77361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89888"/>
            <a:ext cx="105156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2622"/>
          </a:solidFill>
          <a:ln xmlns:a="http://schemas.openxmlformats.org/drawingml/2006/main" w="12700" cmpd="sng">
            <a:solidFill>
              <a:srgbClr val="E2262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90" name="Google Shape;290;p13">
            <a:extLst xmlns:a="http://schemas.openxmlformats.org/drawingml/2006/main">
              <a:ext uri="{FF2B5EF4-FFF2-40B4-BE49-F238E27FC236}">
                <a16:creationId xmlns:a16="http://schemas.microsoft.com/office/drawing/2014/main" id="{FE240DC4-5E9B-46A8-818A-B39AE1A7C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419088"/>
            <a:ext cx="292608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000"/>
              <a:buFont typeface="Arial"/>
              <a:buNone/>
            </a:pPr>
            <a:r>
              <a:rPr sz="1000" b="1" i="0" u="non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UNIT 4</a:t>
            </a:r>
          </a:p>
        </p:txBody>
      </p:sp>
      <p:sp>
        <p:nvSpPr>
          <p:cNvPr id="291" name="Google Shape;291;p13">
            <a:extLst xmlns:a="http://schemas.openxmlformats.org/drawingml/2006/main">
              <a:ext uri="{FF2B5EF4-FFF2-40B4-BE49-F238E27FC236}">
                <a16:creationId xmlns:a16="http://schemas.microsoft.com/office/drawing/2014/main" id="{4974E11F-A040-43AE-A91F-87D55DA7F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19088"/>
            <a:ext cx="146304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000"/>
              <a:buFont typeface="Arial"/>
              <a:buNone/>
            </a:pPr>
            <a:r>
              <a:rPr sz="1000" b="1" i="0" u="non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STARLAB</a:t>
            </a:r>
          </a:p>
        </p:txBody>
      </p:sp>
      <p:sp>
        <p:nvSpPr>
          <p:cNvPr id="292" name="Google Shape;292;p13">
            <a:extLst xmlns:a="http://schemas.openxmlformats.org/drawingml/2006/main">
              <a:ext uri="{FF2B5EF4-FFF2-40B4-BE49-F238E27FC236}">
                <a16:creationId xmlns:a16="http://schemas.microsoft.com/office/drawing/2014/main" id="{C2464F0D-5E5E-41F9-980F-7967C2FDB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627632"/>
            <a:ext cx="507492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0B0B0B"/>
          </a:solidFill>
          <a:ln xmlns:a="http://schemas.openxmlformats.org/drawingml/2006/main" w="12700" cmpd="sng">
            <a:solidFill>
              <a:srgbClr val="555555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93" name="Google Shape;293;p13">
            <a:extLst xmlns:a="http://schemas.openxmlformats.org/drawingml/2006/main">
              <a:ext uri="{FF2B5EF4-FFF2-40B4-BE49-F238E27FC236}">
                <a16:creationId xmlns:a16="http://schemas.microsoft.com/office/drawing/2014/main" id="{899EE49C-4CDA-4335-BAE5-99276527A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627632"/>
            <a:ext cx="73152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2622"/>
          </a:solidFill>
          <a:ln xmlns:a="http://schemas.openxmlformats.org/drawingml/2006/main" w="12700" cmpd="sng">
            <a:solidFill>
              <a:srgbClr val="E2262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94" name="Google Shape;294;p13">
            <a:extLst xmlns:a="http://schemas.openxmlformats.org/drawingml/2006/main">
              <a:ext uri="{FF2B5EF4-FFF2-40B4-BE49-F238E27FC236}">
                <a16:creationId xmlns:a16="http://schemas.microsoft.com/office/drawing/2014/main" id="{77D66F88-594E-4194-9909-815180739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792224"/>
            <a:ext cx="466344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22622"/>
              </a:buClr>
              <a:buSzPts val="1400"/>
              <a:buFont typeface="Arial"/>
              <a:buNone/>
            </a:pPr>
            <a:r>
              <a:rPr sz="1400" b="1" i="0" u="none" cap="none">
                <a:solidFill>
                  <a:srgbClr val="E22622"/>
                </a:solidFill>
                <a:latin typeface="Arial"/>
                <a:ea typeface="Arial"/>
                <a:cs typeface="Arial"/>
              </a:rPr>
              <a:t>Small sample size</a:t>
            </a:r>
          </a:p>
        </p:txBody>
      </p:sp>
      <p:sp>
        <p:nvSpPr>
          <p:cNvPr id="295" name="Google Shape;295;p13">
            <a:extLst xmlns:a="http://schemas.openxmlformats.org/drawingml/2006/main">
              <a:ext uri="{FF2B5EF4-FFF2-40B4-BE49-F238E27FC236}">
                <a16:creationId xmlns:a16="http://schemas.microsoft.com/office/drawing/2014/main" id="{AFD2B5AA-6986-4995-9CDC-45AB2CC82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103120"/>
            <a:ext cx="466344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sz="15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few trials, samples, or observations</a:t>
            </a:r>
          </a:p>
        </p:txBody>
      </p:sp>
      <p:sp>
        <p:nvSpPr>
          <p:cNvPr id="296" name="Google Shape;296;p13">
            <a:extLst xmlns:a="http://schemas.openxmlformats.org/drawingml/2006/main">
              <a:ext uri="{FF2B5EF4-FFF2-40B4-BE49-F238E27FC236}">
                <a16:creationId xmlns:a16="http://schemas.microsoft.com/office/drawing/2014/main" id="{9AC9E7B6-3205-430B-BB65-8FC958906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627632"/>
            <a:ext cx="507492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0B0B0B"/>
          </a:solidFill>
          <a:ln xmlns:a="http://schemas.openxmlformats.org/drawingml/2006/main" w="12700" cmpd="sng">
            <a:solidFill>
              <a:srgbClr val="555555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97" name="Google Shape;297;p13">
            <a:extLst xmlns:a="http://schemas.openxmlformats.org/drawingml/2006/main">
              <a:ext uri="{FF2B5EF4-FFF2-40B4-BE49-F238E27FC236}">
                <a16:creationId xmlns:a16="http://schemas.microsoft.com/office/drawing/2014/main" id="{1F5F8957-ED6B-4240-A934-E9C31C846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627632"/>
            <a:ext cx="73152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2622"/>
          </a:solidFill>
          <a:ln xmlns:a="http://schemas.openxmlformats.org/drawingml/2006/main" w="12700" cmpd="sng">
            <a:solidFill>
              <a:srgbClr val="E2262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98" name="Google Shape;298;p13">
            <a:extLst xmlns:a="http://schemas.openxmlformats.org/drawingml/2006/main">
              <a:ext uri="{FF2B5EF4-FFF2-40B4-BE49-F238E27FC236}">
                <a16:creationId xmlns:a16="http://schemas.microsoft.com/office/drawing/2014/main" id="{F3F076DE-76E1-46F9-81FC-45282FD6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792224"/>
            <a:ext cx="466344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22622"/>
              </a:buClr>
              <a:buSzPts val="1400"/>
              <a:buFont typeface="Arial"/>
              <a:buNone/>
            </a:pPr>
            <a:r>
              <a:rPr sz="1400" b="1" i="0" u="none" cap="none">
                <a:solidFill>
                  <a:srgbClr val="E22622"/>
                </a:solidFill>
                <a:latin typeface="Arial"/>
                <a:ea typeface="Arial"/>
                <a:cs typeface="Arial"/>
              </a:rPr>
              <a:t>Equipment limits</a:t>
            </a:r>
          </a:p>
        </p:txBody>
      </p:sp>
      <p:sp>
        <p:nvSpPr>
          <p:cNvPr id="299" name="Google Shape;299;p13">
            <a:extLst xmlns:a="http://schemas.openxmlformats.org/drawingml/2006/main">
              <a:ext uri="{FF2B5EF4-FFF2-40B4-BE49-F238E27FC236}">
                <a16:creationId xmlns:a16="http://schemas.microsoft.com/office/drawing/2014/main" id="{CB1381D4-DF08-4A39-86B2-FABBBC788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103120"/>
            <a:ext cx="466344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sz="15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tool precision, calibration, sensor drift</a:t>
            </a:r>
          </a:p>
        </p:txBody>
      </p:sp>
      <p:sp>
        <p:nvSpPr>
          <p:cNvPr id="300" name="Google Shape;300;p13">
            <a:extLst xmlns:a="http://schemas.openxmlformats.org/drawingml/2006/main">
              <a:ext uri="{FF2B5EF4-FFF2-40B4-BE49-F238E27FC236}">
                <a16:creationId xmlns:a16="http://schemas.microsoft.com/office/drawing/2014/main" id="{7385AD87-B363-482D-A513-E09F7D204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926080"/>
            <a:ext cx="507492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0B0B0B"/>
          </a:solidFill>
          <a:ln xmlns:a="http://schemas.openxmlformats.org/drawingml/2006/main" w="12700" cmpd="sng">
            <a:solidFill>
              <a:srgbClr val="555555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01" name="Google Shape;301;p13">
            <a:extLst xmlns:a="http://schemas.openxmlformats.org/drawingml/2006/main">
              <a:ext uri="{FF2B5EF4-FFF2-40B4-BE49-F238E27FC236}">
                <a16:creationId xmlns:a16="http://schemas.microsoft.com/office/drawing/2014/main" id="{6F396BB1-E14A-47C0-8A22-75982E940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926080"/>
            <a:ext cx="73152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2622"/>
          </a:solidFill>
          <a:ln xmlns:a="http://schemas.openxmlformats.org/drawingml/2006/main" w="12700" cmpd="sng">
            <a:solidFill>
              <a:srgbClr val="E2262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02" name="Google Shape;302;p13">
            <a:extLst xmlns:a="http://schemas.openxmlformats.org/drawingml/2006/main">
              <a:ext uri="{FF2B5EF4-FFF2-40B4-BE49-F238E27FC236}">
                <a16:creationId xmlns:a16="http://schemas.microsoft.com/office/drawing/2014/main" id="{37F6154E-1A30-4EE4-A931-141C6551A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090672"/>
            <a:ext cx="466344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22622"/>
              </a:buClr>
              <a:buSzPts val="1400"/>
              <a:buFont typeface="Arial"/>
              <a:buNone/>
            </a:pPr>
            <a:r>
              <a:rPr sz="1400" b="1" i="0" u="none" cap="none">
                <a:solidFill>
                  <a:srgbClr val="E22622"/>
                </a:solidFill>
                <a:latin typeface="Arial"/>
                <a:ea typeface="Arial"/>
                <a:cs typeface="Arial"/>
              </a:rPr>
              <a:t>Uncontrolled variables</a:t>
            </a:r>
          </a:p>
        </p:txBody>
      </p:sp>
      <p:sp>
        <p:nvSpPr>
          <p:cNvPr id="303" name="Google Shape;303;p13">
            <a:extLst xmlns:a="http://schemas.openxmlformats.org/drawingml/2006/main">
              <a:ext uri="{FF2B5EF4-FFF2-40B4-BE49-F238E27FC236}">
                <a16:creationId xmlns:a16="http://schemas.microsoft.com/office/drawing/2014/main" id="{33BEBDF6-01C5-4B4A-863B-19B91D252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401568"/>
            <a:ext cx="466344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sz="15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conditions that changed between trials</a:t>
            </a:r>
          </a:p>
        </p:txBody>
      </p:sp>
      <p:sp>
        <p:nvSpPr>
          <p:cNvPr id="304" name="Google Shape;304;p13">
            <a:extLst xmlns:a="http://schemas.openxmlformats.org/drawingml/2006/main">
              <a:ext uri="{FF2B5EF4-FFF2-40B4-BE49-F238E27FC236}">
                <a16:creationId xmlns:a16="http://schemas.microsoft.com/office/drawing/2014/main" id="{BECA71C3-D840-4AD9-8952-E35DAACCD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926080"/>
            <a:ext cx="507492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0B0B0B"/>
          </a:solidFill>
          <a:ln xmlns:a="http://schemas.openxmlformats.org/drawingml/2006/main" w="12700" cmpd="sng">
            <a:solidFill>
              <a:srgbClr val="555555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05" name="Google Shape;305;p13">
            <a:extLst xmlns:a="http://schemas.openxmlformats.org/drawingml/2006/main">
              <a:ext uri="{FF2B5EF4-FFF2-40B4-BE49-F238E27FC236}">
                <a16:creationId xmlns:a16="http://schemas.microsoft.com/office/drawing/2014/main" id="{D1F240BC-9FBE-4A8C-AA5C-236BED9FA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926080"/>
            <a:ext cx="73152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2622"/>
          </a:solidFill>
          <a:ln xmlns:a="http://schemas.openxmlformats.org/drawingml/2006/main" w="12700" cmpd="sng">
            <a:solidFill>
              <a:srgbClr val="E2262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06" name="Google Shape;306;p13">
            <a:extLst xmlns:a="http://schemas.openxmlformats.org/drawingml/2006/main">
              <a:ext uri="{FF2B5EF4-FFF2-40B4-BE49-F238E27FC236}">
                <a16:creationId xmlns:a16="http://schemas.microsoft.com/office/drawing/2014/main" id="{944E0DFF-A355-468C-AA8A-A1F776EA5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090672"/>
            <a:ext cx="466344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22622"/>
              </a:buClr>
              <a:buSzPts val="1400"/>
              <a:buFont typeface="Arial"/>
              <a:buNone/>
            </a:pPr>
            <a:r>
              <a:rPr sz="1400" b="1" i="0" u="none" cap="none">
                <a:solidFill>
                  <a:srgbClr val="E22622"/>
                </a:solidFill>
                <a:latin typeface="Arial"/>
                <a:ea typeface="Arial"/>
                <a:cs typeface="Arial"/>
              </a:rPr>
              <a:t>Time limits</a:t>
            </a:r>
          </a:p>
        </p:txBody>
      </p:sp>
      <p:sp>
        <p:nvSpPr>
          <p:cNvPr id="307" name="Google Shape;307;p13">
            <a:extLst xmlns:a="http://schemas.openxmlformats.org/drawingml/2006/main">
              <a:ext uri="{FF2B5EF4-FFF2-40B4-BE49-F238E27FC236}">
                <a16:creationId xmlns:a16="http://schemas.microsoft.com/office/drawing/2014/main" id="{EA31374A-55E0-45DB-B834-84E988F92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401568"/>
            <a:ext cx="466344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sz="15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growth periods, testing windows, incomplete iterations</a:t>
            </a:r>
          </a:p>
        </p:txBody>
      </p:sp>
      <p:sp>
        <p:nvSpPr>
          <p:cNvPr id="308" name="Google Shape;308;p13">
            <a:extLst xmlns:a="http://schemas.openxmlformats.org/drawingml/2006/main">
              <a:ext uri="{FF2B5EF4-FFF2-40B4-BE49-F238E27FC236}">
                <a16:creationId xmlns:a16="http://schemas.microsoft.com/office/drawing/2014/main" id="{B67F33FE-F969-4803-8036-4BE58C7AE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224528"/>
            <a:ext cx="507492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0B0B0B"/>
          </a:solidFill>
          <a:ln xmlns:a="http://schemas.openxmlformats.org/drawingml/2006/main" w="12700" cmpd="sng">
            <a:solidFill>
              <a:srgbClr val="555555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09" name="Google Shape;309;p13">
            <a:extLst xmlns:a="http://schemas.openxmlformats.org/drawingml/2006/main">
              <a:ext uri="{FF2B5EF4-FFF2-40B4-BE49-F238E27FC236}">
                <a16:creationId xmlns:a16="http://schemas.microsoft.com/office/drawing/2014/main" id="{590198AE-95A0-4681-9300-51E156B41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224528"/>
            <a:ext cx="73152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2622"/>
          </a:solidFill>
          <a:ln xmlns:a="http://schemas.openxmlformats.org/drawingml/2006/main" w="12700" cmpd="sng">
            <a:solidFill>
              <a:srgbClr val="E2262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10" name="Google Shape;310;p13">
            <a:extLst xmlns:a="http://schemas.openxmlformats.org/drawingml/2006/main">
              <a:ext uri="{FF2B5EF4-FFF2-40B4-BE49-F238E27FC236}">
                <a16:creationId xmlns:a16="http://schemas.microsoft.com/office/drawing/2014/main" id="{FCEA2C41-F867-40F9-A918-B7959601C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389120"/>
            <a:ext cx="466344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22622"/>
              </a:buClr>
              <a:buSzPts val="1400"/>
              <a:buFont typeface="Arial"/>
              <a:buNone/>
            </a:pPr>
            <a:r>
              <a:rPr sz="1400" b="1" i="0" u="none" cap="none">
                <a:solidFill>
                  <a:srgbClr val="E22622"/>
                </a:solidFill>
                <a:latin typeface="Arial"/>
                <a:ea typeface="Arial"/>
                <a:cs typeface="Arial"/>
              </a:rPr>
              <a:t>Prototype inconsistency</a:t>
            </a:r>
          </a:p>
        </p:txBody>
      </p:sp>
      <p:sp>
        <p:nvSpPr>
          <p:cNvPr id="311" name="Google Shape;311;p13">
            <a:extLst xmlns:a="http://schemas.openxmlformats.org/drawingml/2006/main">
              <a:ext uri="{FF2B5EF4-FFF2-40B4-BE49-F238E27FC236}">
                <a16:creationId xmlns:a16="http://schemas.microsoft.com/office/drawing/2014/main" id="{609AF1CB-BB58-4C2E-AE94-EBE735D2E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700016"/>
            <a:ext cx="466344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sz="15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versions differ in more than one way</a:t>
            </a:r>
          </a:p>
        </p:txBody>
      </p:sp>
      <p:sp>
        <p:nvSpPr>
          <p:cNvPr id="312" name="Google Shape;312;p13">
            <a:extLst xmlns:a="http://schemas.openxmlformats.org/drawingml/2006/main">
              <a:ext uri="{FF2B5EF4-FFF2-40B4-BE49-F238E27FC236}">
                <a16:creationId xmlns:a16="http://schemas.microsoft.com/office/drawing/2014/main" id="{29C0241D-F86B-47C0-B971-634531317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4224528"/>
            <a:ext cx="507492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0B0B0B"/>
          </a:solidFill>
          <a:ln xmlns:a="http://schemas.openxmlformats.org/drawingml/2006/main" w="12700" cmpd="sng">
            <a:solidFill>
              <a:srgbClr val="555555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13" name="Google Shape;313;p13">
            <a:extLst xmlns:a="http://schemas.openxmlformats.org/drawingml/2006/main">
              <a:ext uri="{FF2B5EF4-FFF2-40B4-BE49-F238E27FC236}">
                <a16:creationId xmlns:a16="http://schemas.microsoft.com/office/drawing/2014/main" id="{B2E6D2CF-4043-44FA-9CC0-8D2EBBBF1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4224528"/>
            <a:ext cx="73152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2622"/>
          </a:solidFill>
          <a:ln xmlns:a="http://schemas.openxmlformats.org/drawingml/2006/main" w="12700" cmpd="sng">
            <a:solidFill>
              <a:srgbClr val="E2262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14" name="Google Shape;314;p13">
            <a:extLst xmlns:a="http://schemas.openxmlformats.org/drawingml/2006/main">
              <a:ext uri="{FF2B5EF4-FFF2-40B4-BE49-F238E27FC236}">
                <a16:creationId xmlns:a16="http://schemas.microsoft.com/office/drawing/2014/main" id="{BB85A718-2B0D-4E1E-BDA2-18579E125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389120"/>
            <a:ext cx="466344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22622"/>
              </a:buClr>
              <a:buSzPts val="1400"/>
              <a:buFont typeface="Arial"/>
              <a:buNone/>
            </a:pPr>
            <a:r>
              <a:rPr sz="1400" b="1" i="0" u="none" cap="none">
                <a:solidFill>
                  <a:srgbClr val="E22622"/>
                </a:solidFill>
                <a:latin typeface="Arial"/>
                <a:ea typeface="Arial"/>
                <a:cs typeface="Arial"/>
              </a:rPr>
              <a:t>Dataset limits</a:t>
            </a:r>
          </a:p>
        </p:txBody>
      </p:sp>
      <p:sp>
        <p:nvSpPr>
          <p:cNvPr id="315" name="Google Shape;315;p13">
            <a:extLst xmlns:a="http://schemas.openxmlformats.org/drawingml/2006/main">
              <a:ext uri="{FF2B5EF4-FFF2-40B4-BE49-F238E27FC236}">
                <a16:creationId xmlns:a16="http://schemas.microsoft.com/office/drawing/2014/main" id="{51B5AA6D-BC60-4072-8298-D11753B8B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700016"/>
            <a:ext cx="466344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sz="15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missing fields, filtering choices, bias</a:t>
            </a:r>
          </a:p>
        </p:txBody>
      </p:sp>
      <p:sp>
        <p:nvSpPr>
          <p:cNvPr id="316" name="Google Shape;316;p13">
            <a:extLst xmlns:a="http://schemas.openxmlformats.org/drawingml/2006/main">
              <a:ext uri="{FF2B5EF4-FFF2-40B4-BE49-F238E27FC236}">
                <a16:creationId xmlns:a16="http://schemas.microsoft.com/office/drawing/2014/main" id="{DCFDC57F-0C38-4693-9F19-0262ED87D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577840"/>
            <a:ext cx="101498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25" tIns="625" rIns="625" bIns="625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800"/>
              <a:buFont typeface="Arial"/>
              <a:buNone/>
            </a:pPr>
            <a:r>
              <a:rPr sz="1800" b="0" i="0" u="non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Avoid “everything went wrong.” Be specific: what limitation matters most for your conclusion?</a:t>
            </a:r>
          </a:p>
        </p:txBody>
      </p:sp>
    </p:spTree>
    <p:extLst>
      <p:ext uri="{BB962C8B-B14F-4D97-AF65-F5344CB8AC3E}">
        <p14:creationId xmlns:p14="http://schemas.microsoft.com/office/powerpoint/2010/main" val="119596803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2" name="Google Shape;322;p14">
            <a:extLst xmlns:a="http://schemas.openxmlformats.org/drawingml/2006/main">
              <a:ext uri="{FF2B5EF4-FFF2-40B4-BE49-F238E27FC236}">
                <a16:creationId xmlns:a16="http://schemas.microsoft.com/office/drawing/2014/main" id="{31D54E0E-AE69-4D8A-A548-04F3DC638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2700" cmpd="sng">
            <a:solidFill>
              <a:srgbClr val="050505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23" name="Google Shape;323;p14">
            <a:extLst xmlns:a="http://schemas.openxmlformats.org/drawingml/2006/main">
              <a:ext uri="{FF2B5EF4-FFF2-40B4-BE49-F238E27FC236}">
                <a16:creationId xmlns:a16="http://schemas.microsoft.com/office/drawing/2014/main" id="{BB6D8468-A6D7-4845-9260-240B87C5C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4592"/>
            <a:ext cx="12191695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2622"/>
          </a:solidFill>
          <a:ln xmlns:a="http://schemas.openxmlformats.org/drawingml/2006/main" w="12700" cmpd="sng">
            <a:solidFill>
              <a:srgbClr val="E2262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24" name="Google Shape;324;p14">
            <a:extLst xmlns:a="http://schemas.openxmlformats.org/drawingml/2006/main">
              <a:ext uri="{FF2B5EF4-FFF2-40B4-BE49-F238E27FC236}">
                <a16:creationId xmlns:a16="http://schemas.microsoft.com/office/drawing/2014/main" id="{D08DFE78-5FF5-4F60-82CC-7960B2976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01968"/>
            <a:ext cx="12191695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2622"/>
          </a:solidFill>
          <a:ln xmlns:a="http://schemas.openxmlformats.org/drawingml/2006/main" w="12700" cmpd="sng">
            <a:solidFill>
              <a:srgbClr val="E2262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25" name="Google Shape;325;p14">
            <a:extLst xmlns:a="http://schemas.openxmlformats.org/drawingml/2006/main">
              <a:ext uri="{FF2B5EF4-FFF2-40B4-BE49-F238E27FC236}">
                <a16:creationId xmlns:a16="http://schemas.microsoft.com/office/drawing/2014/main" id="{1F0B6C15-672F-4C6B-AE31-8092AA907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502920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sz="900" b="1" i="0" u="non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ERROR • UNCERTAINTY • LIMITATIONS</a:t>
            </a:r>
          </a:p>
        </p:txBody>
      </p:sp>
      <p:sp>
        <p:nvSpPr>
          <p:cNvPr id="326" name="Google Shape;326;p14">
            <a:extLst xmlns:a="http://schemas.openxmlformats.org/drawingml/2006/main">
              <a:ext uri="{FF2B5EF4-FFF2-40B4-BE49-F238E27FC236}">
                <a16:creationId xmlns:a16="http://schemas.microsoft.com/office/drawing/2014/main" id="{0F604462-F950-449F-9B84-527A91519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0" y="384048"/>
            <a:ext cx="214884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sz="900" b="1" i="0" u="non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STARLAB Deck 12</a:t>
            </a:r>
          </a:p>
        </p:txBody>
      </p:sp>
      <p:sp>
        <p:nvSpPr>
          <p:cNvPr id="327" name="Google Shape;327;p14">
            <a:extLst xmlns:a="http://schemas.openxmlformats.org/drawingml/2006/main">
              <a:ext uri="{FF2B5EF4-FFF2-40B4-BE49-F238E27FC236}">
                <a16:creationId xmlns:a16="http://schemas.microsoft.com/office/drawing/2014/main" id="{E4C0716A-996F-4A01-9BAF-921C63636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749808"/>
            <a:ext cx="1088136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Play"/>
              <a:buNone/>
            </a:pPr>
            <a:r>
              <a:rPr sz="3000" b="1" i="0" u="none" cap="none">
                <a:solidFill>
                  <a:srgbClr val="FFFFFF"/>
                </a:solidFill>
                <a:latin typeface="Play"/>
                <a:ea typeface="Play"/>
                <a:cs typeface="Play"/>
              </a:rPr>
              <a:t>How limitations affect claims</a:t>
            </a:r>
          </a:p>
        </p:txBody>
      </p:sp>
      <p:sp>
        <p:nvSpPr>
          <p:cNvPr id="328" name="Google Shape;328;p14">
            <a:extLst xmlns:a="http://schemas.openxmlformats.org/drawingml/2006/main">
              <a:ext uri="{FF2B5EF4-FFF2-40B4-BE49-F238E27FC236}">
                <a16:creationId xmlns:a16="http://schemas.microsoft.com/office/drawing/2014/main" id="{005F0B71-8D63-42A6-A397-43B1619A9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89888"/>
            <a:ext cx="105156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2622"/>
          </a:solidFill>
          <a:ln xmlns:a="http://schemas.openxmlformats.org/drawingml/2006/main" w="12700" cmpd="sng">
            <a:solidFill>
              <a:srgbClr val="E2262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29" name="Google Shape;329;p14">
            <a:extLst xmlns:a="http://schemas.openxmlformats.org/drawingml/2006/main">
              <a:ext uri="{FF2B5EF4-FFF2-40B4-BE49-F238E27FC236}">
                <a16:creationId xmlns:a16="http://schemas.microsoft.com/office/drawing/2014/main" id="{FBF8201A-5482-4DED-951B-D401A4075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419088"/>
            <a:ext cx="292608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000"/>
              <a:buFont typeface="Arial"/>
              <a:buNone/>
            </a:pPr>
            <a:r>
              <a:rPr sz="1000" b="1" i="0" u="non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UNIT 4</a:t>
            </a:r>
          </a:p>
        </p:txBody>
      </p:sp>
      <p:sp>
        <p:nvSpPr>
          <p:cNvPr id="330" name="Google Shape;330;p14">
            <a:extLst xmlns:a="http://schemas.openxmlformats.org/drawingml/2006/main">
              <a:ext uri="{FF2B5EF4-FFF2-40B4-BE49-F238E27FC236}">
                <a16:creationId xmlns:a16="http://schemas.microsoft.com/office/drawing/2014/main" id="{38DEF992-3A45-4009-B46B-7EEA72C54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19088"/>
            <a:ext cx="146304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000"/>
              <a:buFont typeface="Arial"/>
              <a:buNone/>
            </a:pPr>
            <a:r>
              <a:rPr sz="1000" b="1" i="0" u="non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STARLAB</a:t>
            </a:r>
          </a:p>
        </p:txBody>
      </p:sp>
      <p:sp>
        <p:nvSpPr>
          <p:cNvPr id="331" name="Google Shape;331;p14">
            <a:extLst xmlns:a="http://schemas.openxmlformats.org/drawingml/2006/main">
              <a:ext uri="{FF2B5EF4-FFF2-40B4-BE49-F238E27FC236}">
                <a16:creationId xmlns:a16="http://schemas.microsoft.com/office/drawing/2014/main" id="{173AA4F6-1186-4B1A-83D3-34F3908C6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627632"/>
            <a:ext cx="10424160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25" tIns="625" rIns="625" bIns="625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sz="210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same data can support different strength claims depending on limitations.</a:t>
            </a:r>
          </a:p>
        </p:txBody>
      </p:sp>
      <p:sp>
        <p:nvSpPr>
          <p:cNvPr id="332" name="Google Shape;332;p14">
            <a:extLst xmlns:a="http://schemas.openxmlformats.org/drawingml/2006/main">
              <a:ext uri="{FF2B5EF4-FFF2-40B4-BE49-F238E27FC236}">
                <a16:creationId xmlns:a16="http://schemas.microsoft.com/office/drawing/2014/main" id="{89D99358-CF24-47D2-9961-2D6209C89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31720"/>
            <a:ext cx="3154680" cy="256032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0B0B0B"/>
          </a:solidFill>
          <a:ln xmlns:a="http://schemas.openxmlformats.org/drawingml/2006/main" w="12700" cmpd="sng">
            <a:solidFill>
              <a:srgbClr val="555555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33" name="Google Shape;333;p14">
            <a:extLst xmlns:a="http://schemas.openxmlformats.org/drawingml/2006/main">
              <a:ext uri="{FF2B5EF4-FFF2-40B4-BE49-F238E27FC236}">
                <a16:creationId xmlns:a16="http://schemas.microsoft.com/office/drawing/2014/main" id="{EFE903D8-337B-4E75-91A1-F827DA7D5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31720"/>
            <a:ext cx="73152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12700" cmpd="sng">
            <a:solidFill>
              <a:srgbClr val="555555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34" name="Google Shape;334;p14">
            <a:extLst xmlns:a="http://schemas.openxmlformats.org/drawingml/2006/main">
              <a:ext uri="{FF2B5EF4-FFF2-40B4-BE49-F238E27FC236}">
                <a16:creationId xmlns:a16="http://schemas.microsoft.com/office/drawing/2014/main" id="{5B65CB39-E1E7-4CE9-9EF1-05E308173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96312"/>
            <a:ext cx="27432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400"/>
              <a:buFont typeface="Arial"/>
              <a:buNone/>
            </a:pPr>
            <a:r>
              <a:rPr sz="1400" b="1" i="0" u="non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TOO STRONG</a:t>
            </a:r>
          </a:p>
        </p:txBody>
      </p:sp>
      <p:sp>
        <p:nvSpPr>
          <p:cNvPr id="335" name="Google Shape;335;p14">
            <a:extLst xmlns:a="http://schemas.openxmlformats.org/drawingml/2006/main">
              <a:ext uri="{FF2B5EF4-FFF2-40B4-BE49-F238E27FC236}">
                <a16:creationId xmlns:a16="http://schemas.microsoft.com/office/drawing/2014/main" id="{8A99B487-9B19-452F-AC55-6356017BD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07208"/>
            <a:ext cx="2743200" cy="19933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sz="17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“The treatment improves growth.”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t/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sz="17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This sounds universal and overconfident.</a:t>
            </a:r>
          </a:p>
        </p:txBody>
      </p:sp>
      <p:sp>
        <p:nvSpPr>
          <p:cNvPr id="336" name="Google Shape;336;p14">
            <a:extLst xmlns:a="http://schemas.openxmlformats.org/drawingml/2006/main">
              <a:ext uri="{FF2B5EF4-FFF2-40B4-BE49-F238E27FC236}">
                <a16:creationId xmlns:a16="http://schemas.microsoft.com/office/drawing/2014/main" id="{B9853DF1-0F0B-43B8-BC44-4C6A86A8E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331720"/>
            <a:ext cx="3154680" cy="256032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0B0B0B"/>
          </a:solidFill>
          <a:ln xmlns:a="http://schemas.openxmlformats.org/drawingml/2006/main" w="12700" cmpd="sng">
            <a:solidFill>
              <a:srgbClr val="555555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37" name="Google Shape;337;p14">
            <a:extLst xmlns:a="http://schemas.openxmlformats.org/drawingml/2006/main">
              <a:ext uri="{FF2B5EF4-FFF2-40B4-BE49-F238E27FC236}">
                <a16:creationId xmlns:a16="http://schemas.microsoft.com/office/drawing/2014/main" id="{925C45B3-3E89-47C9-A16F-39ADFBD3B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331720"/>
            <a:ext cx="73152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2622"/>
          </a:solidFill>
          <a:ln xmlns:a="http://schemas.openxmlformats.org/drawingml/2006/main" w="12700" cmpd="sng">
            <a:solidFill>
              <a:srgbClr val="E2262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38" name="Google Shape;338;p14">
            <a:extLst xmlns:a="http://schemas.openxmlformats.org/drawingml/2006/main">
              <a:ext uri="{FF2B5EF4-FFF2-40B4-BE49-F238E27FC236}">
                <a16:creationId xmlns:a16="http://schemas.microsoft.com/office/drawing/2014/main" id="{6B76B498-5D73-4866-B515-AEBCDA507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2496312"/>
            <a:ext cx="27432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22622"/>
              </a:buClr>
              <a:buSzPts val="1400"/>
              <a:buFont typeface="Arial"/>
              <a:buNone/>
            </a:pPr>
            <a:r>
              <a:rPr sz="1400" b="1" i="0" u="none" cap="none">
                <a:solidFill>
                  <a:srgbClr val="E22622"/>
                </a:solidFill>
                <a:latin typeface="Arial"/>
                <a:ea typeface="Arial"/>
                <a:cs typeface="Arial"/>
              </a:rPr>
              <a:t>CAREFUL</a:t>
            </a:r>
          </a:p>
        </p:txBody>
      </p:sp>
      <p:sp>
        <p:nvSpPr>
          <p:cNvPr id="339" name="Google Shape;339;p14">
            <a:extLst xmlns:a="http://schemas.openxmlformats.org/drawingml/2006/main">
              <a:ext uri="{FF2B5EF4-FFF2-40B4-BE49-F238E27FC236}">
                <a16:creationId xmlns:a16="http://schemas.microsoft.com/office/drawing/2014/main" id="{58D901CC-1E83-42A6-9BD4-F1433B4E3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2807208"/>
            <a:ext cx="2743200" cy="19933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sz="17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“The treatment group showed greater average growth than the control under the tested conditions.”</a:t>
            </a:r>
          </a:p>
        </p:txBody>
      </p:sp>
      <p:sp>
        <p:nvSpPr>
          <p:cNvPr id="340" name="Google Shape;340;p14">
            <a:extLst xmlns:a="http://schemas.openxmlformats.org/drawingml/2006/main">
              <a:ext uri="{FF2B5EF4-FFF2-40B4-BE49-F238E27FC236}">
                <a16:creationId xmlns:a16="http://schemas.microsoft.com/office/drawing/2014/main" id="{B5CE15B6-BE51-45E0-A629-7CF6239D5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2331720"/>
            <a:ext cx="3154680" cy="256032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0B0B0B"/>
          </a:solidFill>
          <a:ln xmlns:a="http://schemas.openxmlformats.org/drawingml/2006/main" w="12700" cmpd="sng">
            <a:solidFill>
              <a:srgbClr val="555555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41" name="Google Shape;341;p14">
            <a:extLst xmlns:a="http://schemas.openxmlformats.org/drawingml/2006/main">
              <a:ext uri="{FF2B5EF4-FFF2-40B4-BE49-F238E27FC236}">
                <a16:creationId xmlns:a16="http://schemas.microsoft.com/office/drawing/2014/main" id="{2C0123F7-75F9-4473-A6EA-5BCF9FF8D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2331720"/>
            <a:ext cx="73152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2622"/>
          </a:solidFill>
          <a:ln xmlns:a="http://schemas.openxmlformats.org/drawingml/2006/main" w="12700" cmpd="sng">
            <a:solidFill>
              <a:srgbClr val="E2262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42" name="Google Shape;342;p14">
            <a:extLst xmlns:a="http://schemas.openxmlformats.org/drawingml/2006/main">
              <a:ext uri="{FF2B5EF4-FFF2-40B4-BE49-F238E27FC236}">
                <a16:creationId xmlns:a16="http://schemas.microsoft.com/office/drawing/2014/main" id="{41F15E76-88BD-4571-8D55-3534BE65C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2496312"/>
            <a:ext cx="27432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22622"/>
              </a:buClr>
              <a:buSzPts val="1400"/>
              <a:buFont typeface="Arial"/>
              <a:buNone/>
            </a:pPr>
            <a:r>
              <a:rPr sz="1400" b="1" i="0" u="none" cap="none">
                <a:solidFill>
                  <a:srgbClr val="E22622"/>
                </a:solidFill>
                <a:latin typeface="Arial"/>
                <a:ea typeface="Arial"/>
                <a:cs typeface="Arial"/>
              </a:rPr>
              <a:t>STRONGEST</a:t>
            </a:r>
          </a:p>
        </p:txBody>
      </p:sp>
      <p:sp>
        <p:nvSpPr>
          <p:cNvPr id="343" name="Google Shape;343;p14">
            <a:extLst xmlns:a="http://schemas.openxmlformats.org/drawingml/2006/main">
              <a:ext uri="{FF2B5EF4-FFF2-40B4-BE49-F238E27FC236}">
                <a16:creationId xmlns:a16="http://schemas.microsoft.com/office/drawing/2014/main" id="{CC2878AC-97F5-4297-8064-2DB91281D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2807208"/>
            <a:ext cx="2743200" cy="19933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sz="17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“The result supports further testing with more trials and tighter control of light and water conditions.”</a:t>
            </a:r>
          </a:p>
        </p:txBody>
      </p:sp>
      <p:sp>
        <p:nvSpPr>
          <p:cNvPr id="344" name="Google Shape;344;p14">
            <a:extLst xmlns:a="http://schemas.openxmlformats.org/drawingml/2006/main">
              <a:ext uri="{FF2B5EF4-FFF2-40B4-BE49-F238E27FC236}">
                <a16:creationId xmlns:a16="http://schemas.microsoft.com/office/drawing/2014/main" id="{39342B3B-771A-4755-BC14-8CCD802EC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57800"/>
            <a:ext cx="10149840" cy="59436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101010"/>
          </a:solidFill>
          <a:ln xmlns:a="http://schemas.openxmlformats.org/drawingml/2006/main" w="19050" cmpd="sng">
            <a:solidFill>
              <a:srgbClr val="E2262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45" name="Google Shape;345;p14">
            <a:extLst xmlns:a="http://schemas.openxmlformats.org/drawingml/2006/main">
              <a:ext uri="{FF2B5EF4-FFF2-40B4-BE49-F238E27FC236}">
                <a16:creationId xmlns:a16="http://schemas.microsoft.com/office/drawing/2014/main" id="{22BAE15D-3692-48BA-BCA7-B87C83EA3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57800"/>
            <a:ext cx="1417320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2622"/>
          </a:solidFill>
          <a:ln xmlns:a="http://schemas.openxmlformats.org/drawingml/2006/main" w="12700" cmpd="sng">
            <a:solidFill>
              <a:srgbClr val="E2262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46" name="Google Shape;346;p14">
            <a:extLst xmlns:a="http://schemas.openxmlformats.org/drawingml/2006/main">
              <a:ext uri="{FF2B5EF4-FFF2-40B4-BE49-F238E27FC236}">
                <a16:creationId xmlns:a16="http://schemas.microsoft.com/office/drawing/2014/main" id="{668BC0FE-D66E-460D-B6CD-D091B1D43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349240"/>
            <a:ext cx="118872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sz="80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STUDENT ACTIVITY</a:t>
            </a:r>
          </a:p>
        </p:txBody>
      </p:sp>
      <p:sp>
        <p:nvSpPr>
          <p:cNvPr id="347" name="Google Shape;347;p14">
            <a:extLst xmlns:a="http://schemas.openxmlformats.org/drawingml/2006/main">
              <a:ext uri="{FF2B5EF4-FFF2-40B4-BE49-F238E27FC236}">
                <a16:creationId xmlns:a16="http://schemas.microsoft.com/office/drawing/2014/main" id="{798152D6-2294-4DB3-A8C4-C85D910E4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9050" y="5285226"/>
            <a:ext cx="9692700" cy="29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sz="180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Revision practice</a:t>
            </a:r>
          </a:p>
        </p:txBody>
      </p:sp>
      <p:sp>
        <p:nvSpPr>
          <p:cNvPr id="348" name="Google Shape;348;p14">
            <a:extLst xmlns:a="http://schemas.openxmlformats.org/drawingml/2006/main">
              <a:ext uri="{FF2B5EF4-FFF2-40B4-BE49-F238E27FC236}">
                <a16:creationId xmlns:a16="http://schemas.microsoft.com/office/drawing/2014/main" id="{1FE64A48-6702-4C4C-9F60-4DC5BEA88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2057350" y="5541205"/>
            <a:ext cx="9692700" cy="41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420"/>
              <a:buFont typeface="Arial"/>
              <a:buNone/>
            </a:pPr>
            <a:r>
              <a:rPr sz="1420" b="0" i="0" u="non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Revise one conclusion so it includes “under the tested conditions,” “in this sample,” or “based on available data.”</a:t>
            </a:r>
          </a:p>
        </p:txBody>
      </p:sp>
    </p:spTree>
    <p:extLst>
      <p:ext uri="{BB962C8B-B14F-4D97-AF65-F5344CB8AC3E}">
        <p14:creationId xmlns:p14="http://schemas.microsoft.com/office/powerpoint/2010/main" val="9575786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4" name="Google Shape;354;p15">
            <a:extLst xmlns:a="http://schemas.openxmlformats.org/drawingml/2006/main">
              <a:ext uri="{FF2B5EF4-FFF2-40B4-BE49-F238E27FC236}">
                <a16:creationId xmlns:a16="http://schemas.microsoft.com/office/drawing/2014/main" id="{48D4D9BC-92D3-48B0-A3F4-87D5DA0BB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2700" cmpd="sng">
            <a:solidFill>
              <a:srgbClr val="050505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55" name="Google Shape;355;p15">
            <a:extLst xmlns:a="http://schemas.openxmlformats.org/drawingml/2006/main">
              <a:ext uri="{FF2B5EF4-FFF2-40B4-BE49-F238E27FC236}">
                <a16:creationId xmlns:a16="http://schemas.microsoft.com/office/drawing/2014/main" id="{B50F3378-D610-4267-93A7-78B4A6A19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4592"/>
            <a:ext cx="12191695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2622"/>
          </a:solidFill>
          <a:ln xmlns:a="http://schemas.openxmlformats.org/drawingml/2006/main" w="12700" cmpd="sng">
            <a:solidFill>
              <a:srgbClr val="E2262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56" name="Google Shape;356;p15">
            <a:extLst xmlns:a="http://schemas.openxmlformats.org/drawingml/2006/main">
              <a:ext uri="{FF2B5EF4-FFF2-40B4-BE49-F238E27FC236}">
                <a16:creationId xmlns:a16="http://schemas.microsoft.com/office/drawing/2014/main" id="{C1111F2C-94C4-4655-AFBE-0ABCF36E5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01968"/>
            <a:ext cx="12191695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2622"/>
          </a:solidFill>
          <a:ln xmlns:a="http://schemas.openxmlformats.org/drawingml/2006/main" w="12700" cmpd="sng">
            <a:solidFill>
              <a:srgbClr val="E2262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57" name="Google Shape;357;p15">
            <a:extLst xmlns:a="http://schemas.openxmlformats.org/drawingml/2006/main">
              <a:ext uri="{FF2B5EF4-FFF2-40B4-BE49-F238E27FC236}">
                <a16:creationId xmlns:a16="http://schemas.microsoft.com/office/drawing/2014/main" id="{76D0FF36-E0C9-4C1C-9955-B45EB0F96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502920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sz="900" b="1" i="0" u="non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ERROR • UNCERTAINTY • LIMITATIONS</a:t>
            </a:r>
          </a:p>
        </p:txBody>
      </p:sp>
      <p:sp>
        <p:nvSpPr>
          <p:cNvPr id="358" name="Google Shape;358;p15">
            <a:extLst xmlns:a="http://schemas.openxmlformats.org/drawingml/2006/main">
              <a:ext uri="{FF2B5EF4-FFF2-40B4-BE49-F238E27FC236}">
                <a16:creationId xmlns:a16="http://schemas.microsoft.com/office/drawing/2014/main" id="{DFD918F9-CC8A-4E04-8055-D2EAB0B87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0" y="384048"/>
            <a:ext cx="214884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sz="900" b="1" i="0" u="non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STARLAB Deck 12</a:t>
            </a:r>
          </a:p>
        </p:txBody>
      </p:sp>
      <p:sp>
        <p:nvSpPr>
          <p:cNvPr id="359" name="Google Shape;359;p15">
            <a:extLst xmlns:a="http://schemas.openxmlformats.org/drawingml/2006/main">
              <a:ext uri="{FF2B5EF4-FFF2-40B4-BE49-F238E27FC236}">
                <a16:creationId xmlns:a16="http://schemas.microsoft.com/office/drawing/2014/main" id="{0C4424E8-D7E3-4DC7-B740-67DF718E6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749808"/>
            <a:ext cx="1088136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Play"/>
              <a:buNone/>
            </a:pPr>
            <a:r>
              <a:rPr sz="3000" b="1" i="0" u="none" cap="none">
                <a:solidFill>
                  <a:srgbClr val="FFFFFF"/>
                </a:solidFill>
                <a:latin typeface="Play"/>
                <a:ea typeface="Play"/>
                <a:cs typeface="Play"/>
              </a:rPr>
              <a:t>Evidence strength: a quick scale</a:t>
            </a:r>
          </a:p>
        </p:txBody>
      </p:sp>
      <p:sp>
        <p:nvSpPr>
          <p:cNvPr id="360" name="Google Shape;360;p15">
            <a:extLst xmlns:a="http://schemas.openxmlformats.org/drawingml/2006/main">
              <a:ext uri="{FF2B5EF4-FFF2-40B4-BE49-F238E27FC236}">
                <a16:creationId xmlns:a16="http://schemas.microsoft.com/office/drawing/2014/main" id="{16F3EB5C-4665-4F8A-BA30-97F4947BC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89888"/>
            <a:ext cx="105156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2622"/>
          </a:solidFill>
          <a:ln xmlns:a="http://schemas.openxmlformats.org/drawingml/2006/main" w="12700" cmpd="sng">
            <a:solidFill>
              <a:srgbClr val="E2262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61" name="Google Shape;361;p15">
            <a:extLst xmlns:a="http://schemas.openxmlformats.org/drawingml/2006/main">
              <a:ext uri="{FF2B5EF4-FFF2-40B4-BE49-F238E27FC236}">
                <a16:creationId xmlns:a16="http://schemas.microsoft.com/office/drawing/2014/main" id="{CC214538-E173-40EE-87C1-2D7BB855F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419088"/>
            <a:ext cx="292608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000"/>
              <a:buFont typeface="Arial"/>
              <a:buNone/>
            </a:pPr>
            <a:r>
              <a:rPr sz="1000" b="1" i="0" u="non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UNIT 4</a:t>
            </a:r>
          </a:p>
        </p:txBody>
      </p:sp>
      <p:sp>
        <p:nvSpPr>
          <p:cNvPr id="362" name="Google Shape;362;p15">
            <a:extLst xmlns:a="http://schemas.openxmlformats.org/drawingml/2006/main">
              <a:ext uri="{FF2B5EF4-FFF2-40B4-BE49-F238E27FC236}">
                <a16:creationId xmlns:a16="http://schemas.microsoft.com/office/drawing/2014/main" id="{D0586394-3C4F-44F6-BACB-E075B8847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19088"/>
            <a:ext cx="146304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000"/>
              <a:buFont typeface="Arial"/>
              <a:buNone/>
            </a:pPr>
            <a:r>
              <a:rPr sz="1000" b="1" i="0" u="non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STARLAB</a:t>
            </a:r>
          </a:p>
        </p:txBody>
      </p:sp>
      <p:sp>
        <p:nvSpPr>
          <p:cNvPr id="363" name="Google Shape;363;p15">
            <a:extLst xmlns:a="http://schemas.openxmlformats.org/drawingml/2006/main">
              <a:ext uri="{FF2B5EF4-FFF2-40B4-BE49-F238E27FC236}">
                <a16:creationId xmlns:a16="http://schemas.microsoft.com/office/drawing/2014/main" id="{F55ADDA0-D707-4B58-91B3-FBA1A11FD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627632"/>
            <a:ext cx="10515600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25" tIns="625" rIns="625" bIns="625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sz="220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Not all evidence supports the same level of confidence.</a:t>
            </a:r>
          </a:p>
        </p:txBody>
      </p:sp>
      <p:sp>
        <p:nvSpPr>
          <p:cNvPr id="364" name="Google Shape;364;p15">
            <a:extLst xmlns:a="http://schemas.openxmlformats.org/drawingml/2006/main">
              <a:ext uri="{FF2B5EF4-FFF2-40B4-BE49-F238E27FC236}">
                <a16:creationId xmlns:a16="http://schemas.microsoft.com/office/drawing/2014/main" id="{DAEA6F83-55AE-4081-84BE-352517957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37744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12700" cmpd="sng">
            <a:solidFill>
              <a:srgbClr val="555555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65" name="Google Shape;365;p15">
            <a:extLst xmlns:a="http://schemas.openxmlformats.org/drawingml/2006/main">
              <a:ext uri="{FF2B5EF4-FFF2-40B4-BE49-F238E27FC236}">
                <a16:creationId xmlns:a16="http://schemas.microsoft.com/office/drawing/2014/main" id="{36CC4A73-D2DE-4FAE-B5B2-009E97DEB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852928"/>
            <a:ext cx="210312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25" tIns="625" rIns="625" bIns="625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sz="100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WEAK</a:t>
            </a:r>
          </a:p>
        </p:txBody>
      </p:sp>
      <p:sp>
        <p:nvSpPr>
          <p:cNvPr id="366" name="Google Shape;366;p15">
            <a:extLst xmlns:a="http://schemas.openxmlformats.org/drawingml/2006/main">
              <a:ext uri="{FF2B5EF4-FFF2-40B4-BE49-F238E27FC236}">
                <a16:creationId xmlns:a16="http://schemas.microsoft.com/office/drawing/2014/main" id="{3D8F7C32-A8BB-45DA-8E45-CFC540B09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7560"/>
            <a:ext cx="2377440" cy="86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25" tIns="625" rIns="625" bIns="625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350"/>
              <a:buFont typeface="Arial"/>
              <a:buNone/>
            </a:pPr>
            <a:r>
              <a:rPr sz="1350" b="0" i="0" u="non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few trials, unclear method</a:t>
            </a:r>
          </a:p>
        </p:txBody>
      </p:sp>
      <p:sp>
        <p:nvSpPr>
          <p:cNvPr id="367" name="Google Shape;367;p15">
            <a:extLst xmlns:a="http://schemas.openxmlformats.org/drawingml/2006/main">
              <a:ext uri="{FF2B5EF4-FFF2-40B4-BE49-F238E27FC236}">
                <a16:creationId xmlns:a16="http://schemas.microsoft.com/office/drawing/2014/main" id="{66310BDF-D2D5-4B13-9FB1-5F3C168DB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2743200"/>
            <a:ext cx="237744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12700" cmpd="sng">
            <a:solidFill>
              <a:srgbClr val="555555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68" name="Google Shape;368;p15">
            <a:extLst xmlns:a="http://schemas.openxmlformats.org/drawingml/2006/main">
              <a:ext uri="{FF2B5EF4-FFF2-40B4-BE49-F238E27FC236}">
                <a16:creationId xmlns:a16="http://schemas.microsoft.com/office/drawing/2014/main" id="{3A5B3696-40AA-46D5-8DA6-4054040CD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2852928"/>
            <a:ext cx="210312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25" tIns="625" rIns="625" bIns="625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sz="100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69" name="Google Shape;369;p15">
            <a:extLst xmlns:a="http://schemas.openxmlformats.org/drawingml/2006/main">
              <a:ext uri="{FF2B5EF4-FFF2-40B4-BE49-F238E27FC236}">
                <a16:creationId xmlns:a16="http://schemas.microsoft.com/office/drawing/2014/main" id="{77C12290-AB49-41CB-8DE1-5AC690904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3337560"/>
            <a:ext cx="2377440" cy="86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25" tIns="625" rIns="625" bIns="625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350"/>
              <a:buFont typeface="Arial"/>
              <a:buNone/>
            </a:pPr>
            <a:r>
              <a:rPr sz="1350" b="0" i="0" u="non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pilot data or limited sample</a:t>
            </a:r>
          </a:p>
        </p:txBody>
      </p:sp>
      <p:sp>
        <p:nvSpPr>
          <p:cNvPr id="370" name="Google Shape;370;p15">
            <a:extLst xmlns:a="http://schemas.openxmlformats.org/drawingml/2006/main">
              <a:ext uri="{FF2B5EF4-FFF2-40B4-BE49-F238E27FC236}">
                <a16:creationId xmlns:a16="http://schemas.microsoft.com/office/drawing/2014/main" id="{127C4615-DF6E-4807-A222-A77DF63AE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743200"/>
            <a:ext cx="237744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2622"/>
          </a:solidFill>
          <a:ln xmlns:a="http://schemas.openxmlformats.org/drawingml/2006/main" w="12700" cmpd="sng">
            <a:solidFill>
              <a:srgbClr val="E2262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71" name="Google Shape;371;p15">
            <a:extLst xmlns:a="http://schemas.openxmlformats.org/drawingml/2006/main">
              <a:ext uri="{FF2B5EF4-FFF2-40B4-BE49-F238E27FC236}">
                <a16:creationId xmlns:a16="http://schemas.microsoft.com/office/drawing/2014/main" id="{0C9AFDA8-93B0-4172-9314-96E908768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852928"/>
            <a:ext cx="210312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25" tIns="625" rIns="625" bIns="625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sz="100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MODERATE</a:t>
            </a:r>
          </a:p>
        </p:txBody>
      </p:sp>
      <p:sp>
        <p:nvSpPr>
          <p:cNvPr id="372" name="Google Shape;372;p15">
            <a:extLst xmlns:a="http://schemas.openxmlformats.org/drawingml/2006/main">
              <a:ext uri="{FF2B5EF4-FFF2-40B4-BE49-F238E27FC236}">
                <a16:creationId xmlns:a16="http://schemas.microsoft.com/office/drawing/2014/main" id="{548320C5-7A59-429C-932C-D15BF6501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337560"/>
            <a:ext cx="2377440" cy="86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25" tIns="625" rIns="625" bIns="625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350"/>
              <a:buFont typeface="Arial"/>
              <a:buNone/>
            </a:pPr>
            <a:r>
              <a:rPr sz="1350" b="0" i="0" u="non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consistent pattern with known limits</a:t>
            </a:r>
          </a:p>
        </p:txBody>
      </p:sp>
      <p:sp>
        <p:nvSpPr>
          <p:cNvPr id="373" name="Google Shape;373;p15">
            <a:extLst xmlns:a="http://schemas.openxmlformats.org/drawingml/2006/main">
              <a:ext uri="{FF2B5EF4-FFF2-40B4-BE49-F238E27FC236}">
                <a16:creationId xmlns:a16="http://schemas.microsoft.com/office/drawing/2014/main" id="{2FB645B4-EB6A-423A-A654-3A39E4154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2743200"/>
            <a:ext cx="237744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2622"/>
          </a:solidFill>
          <a:ln xmlns:a="http://schemas.openxmlformats.org/drawingml/2006/main" w="12700" cmpd="sng">
            <a:solidFill>
              <a:srgbClr val="E2262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74" name="Google Shape;374;p15">
            <a:extLst xmlns:a="http://schemas.openxmlformats.org/drawingml/2006/main">
              <a:ext uri="{FF2B5EF4-FFF2-40B4-BE49-F238E27FC236}">
                <a16:creationId xmlns:a16="http://schemas.microsoft.com/office/drawing/2014/main" id="{DFF60E86-59B3-4E02-A067-15BDA486D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2852928"/>
            <a:ext cx="210312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25" tIns="625" rIns="625" bIns="625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sz="100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STRONG</a:t>
            </a:r>
          </a:p>
        </p:txBody>
      </p:sp>
      <p:sp>
        <p:nvSpPr>
          <p:cNvPr id="375" name="Google Shape;375;p15">
            <a:extLst xmlns:a="http://schemas.openxmlformats.org/drawingml/2006/main">
              <a:ext uri="{FF2B5EF4-FFF2-40B4-BE49-F238E27FC236}">
                <a16:creationId xmlns:a16="http://schemas.microsoft.com/office/drawing/2014/main" id="{795B8566-8566-40D0-89F7-3CB8A22F7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3337560"/>
            <a:ext cx="2377440" cy="86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25" tIns="625" rIns="625" bIns="625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350"/>
              <a:buFont typeface="Arial"/>
              <a:buNone/>
            </a:pPr>
            <a:r>
              <a:rPr sz="1350" b="0" i="0" u="non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repeated, controlled, well-documented</a:t>
            </a:r>
          </a:p>
        </p:txBody>
      </p:sp>
      <p:sp>
        <p:nvSpPr>
          <p:cNvPr id="376" name="Google Shape;376;p15">
            <a:extLst xmlns:a="http://schemas.openxmlformats.org/drawingml/2006/main">
              <a:ext uri="{FF2B5EF4-FFF2-40B4-BE49-F238E27FC236}">
                <a16:creationId xmlns:a16="http://schemas.microsoft.com/office/drawing/2014/main" id="{775C7968-4140-4F3C-B4D6-59FAB576F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2040"/>
            <a:ext cx="1014984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25" tIns="625" rIns="625" bIns="625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sz="200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Your conclusion language should move with your evidence strength.</a:t>
            </a:r>
          </a:p>
        </p:txBody>
      </p:sp>
      <p:sp>
        <p:nvSpPr>
          <p:cNvPr id="377" name="Google Shape;377;p15">
            <a:extLst xmlns:a="http://schemas.openxmlformats.org/drawingml/2006/main">
              <a:ext uri="{FF2B5EF4-FFF2-40B4-BE49-F238E27FC236}">
                <a16:creationId xmlns:a16="http://schemas.microsoft.com/office/drawing/2014/main" id="{5948B5D3-02BC-43E8-84EE-9806293AA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94960"/>
            <a:ext cx="101498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25" tIns="625" rIns="625" bIns="625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700"/>
              <a:buFont typeface="Arial"/>
              <a:buNone/>
            </a:pPr>
            <a:r>
              <a:rPr sz="1700" b="0" i="0" u="non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“suggests”  →  “supports”  →  “strongly supports” only when the data deserve it.</a:t>
            </a:r>
          </a:p>
        </p:txBody>
      </p:sp>
    </p:spTree>
    <p:extLst>
      <p:ext uri="{BB962C8B-B14F-4D97-AF65-F5344CB8AC3E}">
        <p14:creationId xmlns:p14="http://schemas.microsoft.com/office/powerpoint/2010/main" val="171008698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3" name="Google Shape;383;p16">
            <a:extLst xmlns:a="http://schemas.openxmlformats.org/drawingml/2006/main">
              <a:ext uri="{FF2B5EF4-FFF2-40B4-BE49-F238E27FC236}">
                <a16:creationId xmlns:a16="http://schemas.microsoft.com/office/drawing/2014/main" id="{8B69DDD7-8AA3-411F-B9CB-E17BC7A26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2700" cmpd="sng">
            <a:solidFill>
              <a:srgbClr val="050505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84" name="Google Shape;384;p16">
            <a:extLst xmlns:a="http://schemas.openxmlformats.org/drawingml/2006/main">
              <a:ext uri="{FF2B5EF4-FFF2-40B4-BE49-F238E27FC236}">
                <a16:creationId xmlns:a16="http://schemas.microsoft.com/office/drawing/2014/main" id="{CB81F58A-A062-46BD-9A55-40EB6E8F5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4592"/>
            <a:ext cx="12191695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2622"/>
          </a:solidFill>
          <a:ln xmlns:a="http://schemas.openxmlformats.org/drawingml/2006/main" w="12700" cmpd="sng">
            <a:solidFill>
              <a:srgbClr val="E2262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85" name="Google Shape;385;p16">
            <a:extLst xmlns:a="http://schemas.openxmlformats.org/drawingml/2006/main">
              <a:ext uri="{FF2B5EF4-FFF2-40B4-BE49-F238E27FC236}">
                <a16:creationId xmlns:a16="http://schemas.microsoft.com/office/drawing/2014/main" id="{F6F5D91E-BE92-4661-9B37-9CFB433D2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01968"/>
            <a:ext cx="12191695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2622"/>
          </a:solidFill>
          <a:ln xmlns:a="http://schemas.openxmlformats.org/drawingml/2006/main" w="12700" cmpd="sng">
            <a:solidFill>
              <a:srgbClr val="E2262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86" name="Google Shape;386;p16">
            <a:extLst xmlns:a="http://schemas.openxmlformats.org/drawingml/2006/main">
              <a:ext uri="{FF2B5EF4-FFF2-40B4-BE49-F238E27FC236}">
                <a16:creationId xmlns:a16="http://schemas.microsoft.com/office/drawing/2014/main" id="{AF321493-210A-47F3-9176-902A169F3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502920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sz="900" b="1" i="0" u="non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ERROR • UNCERTAINTY • LIMITATIONS</a:t>
            </a:r>
          </a:p>
        </p:txBody>
      </p:sp>
      <p:sp>
        <p:nvSpPr>
          <p:cNvPr id="387" name="Google Shape;387;p16">
            <a:extLst xmlns:a="http://schemas.openxmlformats.org/drawingml/2006/main">
              <a:ext uri="{FF2B5EF4-FFF2-40B4-BE49-F238E27FC236}">
                <a16:creationId xmlns:a16="http://schemas.microsoft.com/office/drawing/2014/main" id="{ED892B20-0CB9-4ECF-94BE-B5681D630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0" y="384048"/>
            <a:ext cx="214884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sz="900" b="1" i="0" u="non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STARLAB Deck 12</a:t>
            </a:r>
          </a:p>
        </p:txBody>
      </p:sp>
      <p:sp>
        <p:nvSpPr>
          <p:cNvPr id="388" name="Google Shape;388;p16">
            <a:extLst xmlns:a="http://schemas.openxmlformats.org/drawingml/2006/main">
              <a:ext uri="{FF2B5EF4-FFF2-40B4-BE49-F238E27FC236}">
                <a16:creationId xmlns:a16="http://schemas.microsoft.com/office/drawing/2014/main" id="{17B620C3-7C21-439F-AF8F-87B970817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749808"/>
            <a:ext cx="1088136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Play"/>
              <a:buNone/>
            </a:pPr>
            <a:r>
              <a:rPr sz="3000" b="1" i="0" u="none" cap="none">
                <a:solidFill>
                  <a:srgbClr val="FFFFFF"/>
                </a:solidFill>
                <a:latin typeface="Play"/>
                <a:ea typeface="Play"/>
                <a:cs typeface="Play"/>
              </a:rPr>
              <a:t>Engineering projects have limitations too</a:t>
            </a:r>
          </a:p>
        </p:txBody>
      </p:sp>
      <p:sp>
        <p:nvSpPr>
          <p:cNvPr id="389" name="Google Shape;389;p16">
            <a:extLst xmlns:a="http://schemas.openxmlformats.org/drawingml/2006/main">
              <a:ext uri="{FF2B5EF4-FFF2-40B4-BE49-F238E27FC236}">
                <a16:creationId xmlns:a16="http://schemas.microsoft.com/office/drawing/2014/main" id="{140422FB-9201-4A81-AFE3-E498931BF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89888"/>
            <a:ext cx="105156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2622"/>
          </a:solidFill>
          <a:ln xmlns:a="http://schemas.openxmlformats.org/drawingml/2006/main" w="12700" cmpd="sng">
            <a:solidFill>
              <a:srgbClr val="E2262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90" name="Google Shape;390;p16">
            <a:extLst xmlns:a="http://schemas.openxmlformats.org/drawingml/2006/main">
              <a:ext uri="{FF2B5EF4-FFF2-40B4-BE49-F238E27FC236}">
                <a16:creationId xmlns:a16="http://schemas.microsoft.com/office/drawing/2014/main" id="{3FA400BE-0E98-4D1F-B69E-1819243F8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419088"/>
            <a:ext cx="292608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000"/>
              <a:buFont typeface="Arial"/>
              <a:buNone/>
            </a:pPr>
            <a:r>
              <a:rPr sz="1000" b="1" i="0" u="non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UNIT 4</a:t>
            </a:r>
          </a:p>
        </p:txBody>
      </p:sp>
      <p:sp>
        <p:nvSpPr>
          <p:cNvPr id="391" name="Google Shape;391;p16">
            <a:extLst xmlns:a="http://schemas.openxmlformats.org/drawingml/2006/main">
              <a:ext uri="{FF2B5EF4-FFF2-40B4-BE49-F238E27FC236}">
                <a16:creationId xmlns:a16="http://schemas.microsoft.com/office/drawing/2014/main" id="{C35EED1A-2740-43B1-88A3-73A49D4C8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19088"/>
            <a:ext cx="146304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000"/>
              <a:buFont typeface="Arial"/>
              <a:buNone/>
            </a:pPr>
            <a:r>
              <a:rPr sz="1000" b="1" i="0" u="non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STARLAB</a:t>
            </a:r>
          </a:p>
        </p:txBody>
      </p:sp>
      <p:sp>
        <p:nvSpPr>
          <p:cNvPr id="392" name="Google Shape;392;p16">
            <a:extLst xmlns:a="http://schemas.openxmlformats.org/drawingml/2006/main">
              <a:ext uri="{FF2B5EF4-FFF2-40B4-BE49-F238E27FC236}">
                <a16:creationId xmlns:a16="http://schemas.microsoft.com/office/drawing/2014/main" id="{D532E546-A622-4516-8DD4-22AEC616C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627632"/>
            <a:ext cx="1069848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25" tIns="625" rIns="625" bIns="625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sz="210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For design projects, uncertainty often appears as testing limits, prototype inconsistency, or tradeoffs.</a:t>
            </a:r>
          </a:p>
        </p:txBody>
      </p:sp>
      <p:sp>
        <p:nvSpPr>
          <p:cNvPr id="393" name="Google Shape;393;p16">
            <a:extLst xmlns:a="http://schemas.openxmlformats.org/drawingml/2006/main">
              <a:ext uri="{FF2B5EF4-FFF2-40B4-BE49-F238E27FC236}">
                <a16:creationId xmlns:a16="http://schemas.microsoft.com/office/drawing/2014/main" id="{9384823E-7E1A-4B82-8B08-6AADF1324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331720"/>
            <a:ext cx="3291840" cy="201168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B0B0B"/>
          </a:solidFill>
          <a:ln xmlns:a="http://schemas.openxmlformats.org/drawingml/2006/main" w="12700" cmpd="sng">
            <a:solidFill>
              <a:srgbClr val="555555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94" name="Google Shape;394;p16">
            <a:extLst xmlns:a="http://schemas.openxmlformats.org/drawingml/2006/main">
              <a:ext uri="{FF2B5EF4-FFF2-40B4-BE49-F238E27FC236}">
                <a16:creationId xmlns:a16="http://schemas.microsoft.com/office/drawing/2014/main" id="{4D5888FD-77C6-43BD-883F-7B754D4DB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331720"/>
            <a:ext cx="73152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2622"/>
          </a:solidFill>
          <a:ln xmlns:a="http://schemas.openxmlformats.org/drawingml/2006/main" w="12700" cmpd="sng">
            <a:solidFill>
              <a:srgbClr val="E2262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95" name="Google Shape;395;p16">
            <a:extLst xmlns:a="http://schemas.openxmlformats.org/drawingml/2006/main">
              <a:ext uri="{FF2B5EF4-FFF2-40B4-BE49-F238E27FC236}">
                <a16:creationId xmlns:a16="http://schemas.microsoft.com/office/drawing/2014/main" id="{7ECE918D-445F-4494-A949-9D1DAC87F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496312"/>
            <a:ext cx="288036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22622"/>
              </a:buClr>
              <a:buSzPts val="1400"/>
              <a:buFont typeface="Arial"/>
              <a:buNone/>
            </a:pPr>
            <a:r>
              <a:rPr sz="1400" b="1" i="0" u="none" cap="none">
                <a:solidFill>
                  <a:srgbClr val="E22622"/>
                </a:solidFill>
                <a:latin typeface="Arial"/>
                <a:ea typeface="Arial"/>
                <a:cs typeface="Arial"/>
              </a:rPr>
              <a:t>TESTING LIMIT</a:t>
            </a:r>
          </a:p>
        </p:txBody>
      </p:sp>
      <p:sp>
        <p:nvSpPr>
          <p:cNvPr id="396" name="Google Shape;396;p16">
            <a:extLst xmlns:a="http://schemas.openxmlformats.org/drawingml/2006/main">
              <a:ext uri="{FF2B5EF4-FFF2-40B4-BE49-F238E27FC236}">
                <a16:creationId xmlns:a16="http://schemas.microsoft.com/office/drawing/2014/main" id="{DDDD24F6-F25F-4E68-AE2C-F5643DBDB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807208"/>
            <a:ext cx="2880360" cy="14447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test fixture failed before the design feature was truly measured.</a:t>
            </a:r>
          </a:p>
        </p:txBody>
      </p:sp>
      <p:sp>
        <p:nvSpPr>
          <p:cNvPr id="397" name="Google Shape;397;p16">
            <a:extLst xmlns:a="http://schemas.openxmlformats.org/drawingml/2006/main">
              <a:ext uri="{FF2B5EF4-FFF2-40B4-BE49-F238E27FC236}">
                <a16:creationId xmlns:a16="http://schemas.microsoft.com/office/drawing/2014/main" id="{76F0B7A9-6AD6-46D9-ABB1-3B7DE1DF6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2331720"/>
            <a:ext cx="3291840" cy="201168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B0B0B"/>
          </a:solidFill>
          <a:ln xmlns:a="http://schemas.openxmlformats.org/drawingml/2006/main" w="12700" cmpd="sng">
            <a:solidFill>
              <a:srgbClr val="555555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98" name="Google Shape;398;p16">
            <a:extLst xmlns:a="http://schemas.openxmlformats.org/drawingml/2006/main">
              <a:ext uri="{FF2B5EF4-FFF2-40B4-BE49-F238E27FC236}">
                <a16:creationId xmlns:a16="http://schemas.microsoft.com/office/drawing/2014/main" id="{886F9F88-B0E1-47DF-9B53-AC83065AF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2331720"/>
            <a:ext cx="73152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2622"/>
          </a:solidFill>
          <a:ln xmlns:a="http://schemas.openxmlformats.org/drawingml/2006/main" w="12700" cmpd="sng">
            <a:solidFill>
              <a:srgbClr val="E2262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99" name="Google Shape;399;p16">
            <a:extLst xmlns:a="http://schemas.openxmlformats.org/drawingml/2006/main">
              <a:ext uri="{FF2B5EF4-FFF2-40B4-BE49-F238E27FC236}">
                <a16:creationId xmlns:a16="http://schemas.microsoft.com/office/drawing/2014/main" id="{6230F9B8-7BDA-4730-9E98-49EAFD460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496312"/>
            <a:ext cx="288036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22622"/>
              </a:buClr>
              <a:buSzPts val="1400"/>
              <a:buFont typeface="Arial"/>
              <a:buNone/>
            </a:pPr>
            <a:r>
              <a:rPr sz="1400" b="1" i="0" u="none" cap="none">
                <a:solidFill>
                  <a:srgbClr val="E22622"/>
                </a:solidFill>
                <a:latin typeface="Arial"/>
                <a:ea typeface="Arial"/>
                <a:cs typeface="Arial"/>
              </a:rPr>
              <a:t>PROTOTYPE LIMIT</a:t>
            </a:r>
          </a:p>
        </p:txBody>
      </p:sp>
      <p:sp>
        <p:nvSpPr>
          <p:cNvPr id="400" name="Google Shape;400;p16">
            <a:extLst xmlns:a="http://schemas.openxmlformats.org/drawingml/2006/main">
              <a:ext uri="{FF2B5EF4-FFF2-40B4-BE49-F238E27FC236}">
                <a16:creationId xmlns:a16="http://schemas.microsoft.com/office/drawing/2014/main" id="{EC1A97BE-D172-4CD1-A68F-D593C48F3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807208"/>
            <a:ext cx="2880360" cy="14447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Print quality, assembly variation, or material inconsistencies affected performance.</a:t>
            </a:r>
          </a:p>
        </p:txBody>
      </p:sp>
      <p:sp>
        <p:nvSpPr>
          <p:cNvPr id="401" name="Google Shape;401;p16">
            <a:extLst xmlns:a="http://schemas.openxmlformats.org/drawingml/2006/main">
              <a:ext uri="{FF2B5EF4-FFF2-40B4-BE49-F238E27FC236}">
                <a16:creationId xmlns:a16="http://schemas.microsoft.com/office/drawing/2014/main" id="{35B77236-0E07-4009-B929-A1930F551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2331720"/>
            <a:ext cx="3291840" cy="201168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B0B0B"/>
          </a:solidFill>
          <a:ln xmlns:a="http://schemas.openxmlformats.org/drawingml/2006/main" w="12700" cmpd="sng">
            <a:solidFill>
              <a:srgbClr val="555555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02" name="Google Shape;402;p16">
            <a:extLst xmlns:a="http://schemas.openxmlformats.org/drawingml/2006/main">
              <a:ext uri="{FF2B5EF4-FFF2-40B4-BE49-F238E27FC236}">
                <a16:creationId xmlns:a16="http://schemas.microsoft.com/office/drawing/2014/main" id="{CC61A57C-1ECA-4F29-92D3-BD7CF5125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2331720"/>
            <a:ext cx="73152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2622"/>
          </a:solidFill>
          <a:ln xmlns:a="http://schemas.openxmlformats.org/drawingml/2006/main" w="12700" cmpd="sng">
            <a:solidFill>
              <a:srgbClr val="E2262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03" name="Google Shape;403;p16">
            <a:extLst xmlns:a="http://schemas.openxmlformats.org/drawingml/2006/main">
              <a:ext uri="{FF2B5EF4-FFF2-40B4-BE49-F238E27FC236}">
                <a16:creationId xmlns:a16="http://schemas.microsoft.com/office/drawing/2014/main" id="{0DDB5956-F12C-4F55-B319-06120FC40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2496312"/>
            <a:ext cx="288036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22622"/>
              </a:buClr>
              <a:buSzPts val="1400"/>
              <a:buFont typeface="Arial"/>
              <a:buNone/>
            </a:pPr>
            <a:r>
              <a:rPr sz="1400" b="1" i="0" u="none" cap="none">
                <a:solidFill>
                  <a:srgbClr val="E22622"/>
                </a:solidFill>
                <a:latin typeface="Arial"/>
                <a:ea typeface="Arial"/>
                <a:cs typeface="Arial"/>
              </a:rPr>
              <a:t>TRADEOFF LIMIT</a:t>
            </a:r>
          </a:p>
        </p:txBody>
      </p:sp>
      <p:sp>
        <p:nvSpPr>
          <p:cNvPr id="404" name="Google Shape;404;p16">
            <a:extLst xmlns:a="http://schemas.openxmlformats.org/drawingml/2006/main">
              <a:ext uri="{FF2B5EF4-FFF2-40B4-BE49-F238E27FC236}">
                <a16:creationId xmlns:a16="http://schemas.microsoft.com/office/drawing/2014/main" id="{FBCD2DD3-D240-4682-9A98-C160157D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2807208"/>
            <a:ext cx="2880360" cy="14447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A design improved one criterion while weakening another.</a:t>
            </a:r>
          </a:p>
        </p:txBody>
      </p:sp>
      <p:sp>
        <p:nvSpPr>
          <p:cNvPr id="405" name="Google Shape;405;p16">
            <a:extLst xmlns:a="http://schemas.openxmlformats.org/drawingml/2006/main">
              <a:ext uri="{FF2B5EF4-FFF2-40B4-BE49-F238E27FC236}">
                <a16:creationId xmlns:a16="http://schemas.microsoft.com/office/drawing/2014/main" id="{F6847F6B-FED8-47A7-9869-805D9D355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892040"/>
            <a:ext cx="10287000" cy="749808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01010"/>
          </a:solidFill>
          <a:ln xmlns:a="http://schemas.openxmlformats.org/drawingml/2006/main" w="19050" cmpd="sng">
            <a:solidFill>
              <a:srgbClr val="E2262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06" name="Google Shape;406;p16">
            <a:extLst xmlns:a="http://schemas.openxmlformats.org/drawingml/2006/main">
              <a:ext uri="{FF2B5EF4-FFF2-40B4-BE49-F238E27FC236}">
                <a16:creationId xmlns:a16="http://schemas.microsoft.com/office/drawing/2014/main" id="{FE783895-750A-48AD-9631-B30D537D6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892040"/>
            <a:ext cx="1417320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2622"/>
          </a:solidFill>
          <a:ln xmlns:a="http://schemas.openxmlformats.org/drawingml/2006/main" w="12700" cmpd="sng">
            <a:solidFill>
              <a:srgbClr val="E2262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07" name="Google Shape;407;p16">
            <a:extLst xmlns:a="http://schemas.openxmlformats.org/drawingml/2006/main">
              <a:ext uri="{FF2B5EF4-FFF2-40B4-BE49-F238E27FC236}">
                <a16:creationId xmlns:a16="http://schemas.microsoft.com/office/drawing/2014/main" id="{606FCF6E-BD93-4047-8435-DE5312733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4983480"/>
            <a:ext cx="118872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sz="80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STUDENT ACTIVITY</a:t>
            </a:r>
          </a:p>
        </p:txBody>
      </p:sp>
      <p:sp>
        <p:nvSpPr>
          <p:cNvPr id="408" name="Google Shape;408;p16">
            <a:extLst xmlns:a="http://schemas.openxmlformats.org/drawingml/2006/main">
              <a:ext uri="{FF2B5EF4-FFF2-40B4-BE49-F238E27FC236}">
                <a16:creationId xmlns:a16="http://schemas.microsoft.com/office/drawing/2014/main" id="{2F91D2A6-7F0C-4206-AB9F-42CE748B3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2" y="5234953"/>
            <a:ext cx="9829800" cy="29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sz="180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Engineering move</a:t>
            </a:r>
          </a:p>
        </p:txBody>
      </p:sp>
      <p:sp>
        <p:nvSpPr>
          <p:cNvPr id="409" name="Google Shape;409;p16">
            <a:extLst xmlns:a="http://schemas.openxmlformats.org/drawingml/2006/main">
              <a:ext uri="{FF2B5EF4-FFF2-40B4-BE49-F238E27FC236}">
                <a16:creationId xmlns:a16="http://schemas.microsoft.com/office/drawing/2014/main" id="{3AF634EE-E98F-4F7F-BEB9-108ADA1EA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3682520" y="5253288"/>
            <a:ext cx="9829800" cy="25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420"/>
              <a:buFont typeface="Arial"/>
              <a:buNone/>
            </a:pPr>
            <a:r>
              <a:rPr sz="1420" b="0" i="0" u="non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Write: “The design met ___ criteria but was limited by ___.”</a:t>
            </a:r>
          </a:p>
        </p:txBody>
      </p:sp>
    </p:spTree>
    <p:extLst>
      <p:ext uri="{BB962C8B-B14F-4D97-AF65-F5344CB8AC3E}">
        <p14:creationId xmlns:p14="http://schemas.microsoft.com/office/powerpoint/2010/main" val="55412672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5" name="Google Shape;415;p17">
            <a:extLst xmlns:a="http://schemas.openxmlformats.org/drawingml/2006/main">
              <a:ext uri="{FF2B5EF4-FFF2-40B4-BE49-F238E27FC236}">
                <a16:creationId xmlns:a16="http://schemas.microsoft.com/office/drawing/2014/main" id="{1FD6C196-17DE-4EED-80EC-AD8FC76A3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2700" cmpd="sng">
            <a:solidFill>
              <a:srgbClr val="050505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16" name="Google Shape;416;p17">
            <a:extLst xmlns:a="http://schemas.openxmlformats.org/drawingml/2006/main">
              <a:ext uri="{FF2B5EF4-FFF2-40B4-BE49-F238E27FC236}">
                <a16:creationId xmlns:a16="http://schemas.microsoft.com/office/drawing/2014/main" id="{ACCED004-300F-4023-813E-CA71EABBB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4592"/>
            <a:ext cx="12191695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2622"/>
          </a:solidFill>
          <a:ln xmlns:a="http://schemas.openxmlformats.org/drawingml/2006/main" w="12700" cmpd="sng">
            <a:solidFill>
              <a:srgbClr val="E2262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17" name="Google Shape;417;p17">
            <a:extLst xmlns:a="http://schemas.openxmlformats.org/drawingml/2006/main">
              <a:ext uri="{FF2B5EF4-FFF2-40B4-BE49-F238E27FC236}">
                <a16:creationId xmlns:a16="http://schemas.microsoft.com/office/drawing/2014/main" id="{E2DE5027-AD74-454F-8EF5-34B5EFED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01968"/>
            <a:ext cx="12191695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2622"/>
          </a:solidFill>
          <a:ln xmlns:a="http://schemas.openxmlformats.org/drawingml/2006/main" w="12700" cmpd="sng">
            <a:solidFill>
              <a:srgbClr val="E2262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18" name="Google Shape;418;p17">
            <a:extLst xmlns:a="http://schemas.openxmlformats.org/drawingml/2006/main">
              <a:ext uri="{FF2B5EF4-FFF2-40B4-BE49-F238E27FC236}">
                <a16:creationId xmlns:a16="http://schemas.microsoft.com/office/drawing/2014/main" id="{4B1273BD-0235-4398-AA8D-0322C580F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502920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sz="900" b="1" i="0" u="non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ERROR • UNCERTAINTY • LIMITATIONS</a:t>
            </a:r>
          </a:p>
        </p:txBody>
      </p:sp>
      <p:sp>
        <p:nvSpPr>
          <p:cNvPr id="419" name="Google Shape;419;p17">
            <a:extLst xmlns:a="http://schemas.openxmlformats.org/drawingml/2006/main">
              <a:ext uri="{FF2B5EF4-FFF2-40B4-BE49-F238E27FC236}">
                <a16:creationId xmlns:a16="http://schemas.microsoft.com/office/drawing/2014/main" id="{67DC190C-7327-4BA8-ACAB-A5499B457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0" y="384048"/>
            <a:ext cx="214884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sz="900" b="1" i="0" u="non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STARLAB Deck 12</a:t>
            </a:r>
          </a:p>
        </p:txBody>
      </p:sp>
      <p:sp>
        <p:nvSpPr>
          <p:cNvPr id="420" name="Google Shape;420;p17">
            <a:extLst xmlns:a="http://schemas.openxmlformats.org/drawingml/2006/main">
              <a:ext uri="{FF2B5EF4-FFF2-40B4-BE49-F238E27FC236}">
                <a16:creationId xmlns:a16="http://schemas.microsoft.com/office/drawing/2014/main" id="{BD854125-F85B-4C4F-B23A-35C42B7BF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749808"/>
            <a:ext cx="1088136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Play"/>
              <a:buNone/>
            </a:pPr>
            <a:r>
              <a:rPr sz="3000" b="1" i="0" u="none" cap="none">
                <a:solidFill>
                  <a:srgbClr val="FFFFFF"/>
                </a:solidFill>
                <a:latin typeface="Play"/>
                <a:ea typeface="Play"/>
                <a:cs typeface="Play"/>
              </a:rPr>
              <a:t>When data are incomplete</a:t>
            </a:r>
          </a:p>
        </p:txBody>
      </p:sp>
      <p:sp>
        <p:nvSpPr>
          <p:cNvPr id="421" name="Google Shape;421;p17">
            <a:extLst xmlns:a="http://schemas.openxmlformats.org/drawingml/2006/main">
              <a:ext uri="{FF2B5EF4-FFF2-40B4-BE49-F238E27FC236}">
                <a16:creationId xmlns:a16="http://schemas.microsoft.com/office/drawing/2014/main" id="{089E0748-7FE3-48DB-A590-C0F1739AF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89888"/>
            <a:ext cx="105156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2622"/>
          </a:solidFill>
          <a:ln xmlns:a="http://schemas.openxmlformats.org/drawingml/2006/main" w="12700" cmpd="sng">
            <a:solidFill>
              <a:srgbClr val="E2262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22" name="Google Shape;422;p17">
            <a:extLst xmlns:a="http://schemas.openxmlformats.org/drawingml/2006/main">
              <a:ext uri="{FF2B5EF4-FFF2-40B4-BE49-F238E27FC236}">
                <a16:creationId xmlns:a16="http://schemas.microsoft.com/office/drawing/2014/main" id="{C51372D7-2288-448A-AED6-AE32FE7F3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419088"/>
            <a:ext cx="292608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000"/>
              <a:buFont typeface="Arial"/>
              <a:buNone/>
            </a:pPr>
            <a:r>
              <a:rPr sz="1000" b="1" i="0" u="non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UNIT 4</a:t>
            </a:r>
          </a:p>
        </p:txBody>
      </p:sp>
      <p:sp>
        <p:nvSpPr>
          <p:cNvPr id="423" name="Google Shape;423;p17">
            <a:extLst xmlns:a="http://schemas.openxmlformats.org/drawingml/2006/main">
              <a:ext uri="{FF2B5EF4-FFF2-40B4-BE49-F238E27FC236}">
                <a16:creationId xmlns:a16="http://schemas.microsoft.com/office/drawing/2014/main" id="{12A3A309-F1DF-483D-91E2-4F4DDB4E2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19088"/>
            <a:ext cx="146304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000"/>
              <a:buFont typeface="Arial"/>
              <a:buNone/>
            </a:pPr>
            <a:r>
              <a:rPr sz="1000" b="1" i="0" u="non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STARLAB</a:t>
            </a:r>
          </a:p>
        </p:txBody>
      </p:sp>
      <p:sp>
        <p:nvSpPr>
          <p:cNvPr id="424" name="Google Shape;424;p17">
            <a:extLst xmlns:a="http://schemas.openxmlformats.org/drawingml/2006/main">
              <a:ext uri="{FF2B5EF4-FFF2-40B4-BE49-F238E27FC236}">
                <a16:creationId xmlns:a16="http://schemas.microsoft.com/office/drawing/2014/main" id="{CE065B21-D48E-41CD-ACC7-D019BEC17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627632"/>
            <a:ext cx="10424160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25" tIns="625" rIns="625" bIns="625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None/>
            </a:pPr>
            <a:r>
              <a:rPr sz="230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Incomplete data should change the claim, not the honesty.</a:t>
            </a:r>
          </a:p>
        </p:txBody>
      </p:sp>
      <p:sp>
        <p:nvSpPr>
          <p:cNvPr id="425" name="Google Shape;425;p17">
            <a:extLst xmlns:a="http://schemas.openxmlformats.org/drawingml/2006/main">
              <a:ext uri="{FF2B5EF4-FFF2-40B4-BE49-F238E27FC236}">
                <a16:creationId xmlns:a16="http://schemas.microsoft.com/office/drawing/2014/main" id="{00CF16B0-479F-45F9-80AA-914526FD0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331720"/>
            <a:ext cx="3291840" cy="2240280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0B0B0B"/>
          </a:solidFill>
          <a:ln xmlns:a="http://schemas.openxmlformats.org/drawingml/2006/main" w="12700" cmpd="sng">
            <a:solidFill>
              <a:srgbClr val="555555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26" name="Google Shape;426;p17">
            <a:extLst xmlns:a="http://schemas.openxmlformats.org/drawingml/2006/main">
              <a:ext uri="{FF2B5EF4-FFF2-40B4-BE49-F238E27FC236}">
                <a16:creationId xmlns:a16="http://schemas.microsoft.com/office/drawing/2014/main" id="{866E626B-E8F9-4460-BCDD-8FE92D8FB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331720"/>
            <a:ext cx="73152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12700" cmpd="sng">
            <a:solidFill>
              <a:srgbClr val="555555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27" name="Google Shape;427;p17">
            <a:extLst xmlns:a="http://schemas.openxmlformats.org/drawingml/2006/main">
              <a:ext uri="{FF2B5EF4-FFF2-40B4-BE49-F238E27FC236}">
                <a16:creationId xmlns:a16="http://schemas.microsoft.com/office/drawing/2014/main" id="{A9167EA4-319F-47CE-A9C6-82114BD2D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496312"/>
            <a:ext cx="288036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400"/>
              <a:buFont typeface="Arial"/>
              <a:buNone/>
            </a:pPr>
            <a:r>
              <a:rPr sz="1400" b="1" i="0" u="non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DO NOT</a:t>
            </a:r>
          </a:p>
        </p:txBody>
      </p:sp>
      <p:sp>
        <p:nvSpPr>
          <p:cNvPr id="428" name="Google Shape;428;p17">
            <a:extLst xmlns:a="http://schemas.openxmlformats.org/drawingml/2006/main">
              <a:ext uri="{FF2B5EF4-FFF2-40B4-BE49-F238E27FC236}">
                <a16:creationId xmlns:a16="http://schemas.microsoft.com/office/drawing/2014/main" id="{9B419A09-30C2-4EE6-8CFB-081F1CA4F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807208"/>
            <a:ext cx="2880360" cy="1673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• Fill gaps from memory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• Pretend all trials happened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• Delete the condition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• Ignore the issue</a:t>
            </a:r>
          </a:p>
        </p:txBody>
      </p:sp>
      <p:sp>
        <p:nvSpPr>
          <p:cNvPr id="429" name="Google Shape;429;p17">
            <a:extLst xmlns:a="http://schemas.openxmlformats.org/drawingml/2006/main">
              <a:ext uri="{FF2B5EF4-FFF2-40B4-BE49-F238E27FC236}">
                <a16:creationId xmlns:a16="http://schemas.microsoft.com/office/drawing/2014/main" id="{03CBB679-5404-451F-A5CC-C94268593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2331720"/>
            <a:ext cx="3291840" cy="2240280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0B0B0B"/>
          </a:solidFill>
          <a:ln xmlns:a="http://schemas.openxmlformats.org/drawingml/2006/main" w="12700" cmpd="sng">
            <a:solidFill>
              <a:srgbClr val="555555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30" name="Google Shape;430;p17">
            <a:extLst xmlns:a="http://schemas.openxmlformats.org/drawingml/2006/main">
              <a:ext uri="{FF2B5EF4-FFF2-40B4-BE49-F238E27FC236}">
                <a16:creationId xmlns:a16="http://schemas.microsoft.com/office/drawing/2014/main" id="{0E4D7B7D-24FD-4673-AECA-6510D93FA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2331720"/>
            <a:ext cx="73152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2622"/>
          </a:solidFill>
          <a:ln xmlns:a="http://schemas.openxmlformats.org/drawingml/2006/main" w="12700" cmpd="sng">
            <a:solidFill>
              <a:srgbClr val="E2262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31" name="Google Shape;431;p17">
            <a:extLst xmlns:a="http://schemas.openxmlformats.org/drawingml/2006/main">
              <a:ext uri="{FF2B5EF4-FFF2-40B4-BE49-F238E27FC236}">
                <a16:creationId xmlns:a16="http://schemas.microsoft.com/office/drawing/2014/main" id="{CE845992-2E34-41E9-95EB-DB76C52A6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496312"/>
            <a:ext cx="288036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22622"/>
              </a:buClr>
              <a:buSzPts val="1400"/>
              <a:buFont typeface="Arial"/>
              <a:buNone/>
            </a:pPr>
            <a:r>
              <a:rPr sz="1400" b="1" i="0" u="none" cap="none">
                <a:solidFill>
                  <a:srgbClr val="E22622"/>
                </a:solidFill>
                <a:latin typeface="Arial"/>
                <a:ea typeface="Arial"/>
                <a:cs typeface="Arial"/>
              </a:rPr>
              <a:t>DO</a:t>
            </a:r>
          </a:p>
        </p:txBody>
      </p:sp>
      <p:sp>
        <p:nvSpPr>
          <p:cNvPr id="432" name="Google Shape;432;p17">
            <a:extLst xmlns:a="http://schemas.openxmlformats.org/drawingml/2006/main">
              <a:ext uri="{FF2B5EF4-FFF2-40B4-BE49-F238E27FC236}">
                <a16:creationId xmlns:a16="http://schemas.microsoft.com/office/drawing/2014/main" id="{0445187E-A838-474B-B1E7-5DD1B6DE3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807208"/>
            <a:ext cx="2880360" cy="1673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• Identify missing data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• Explain why it is missing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• Narrow the claim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• Describe next steps</a:t>
            </a:r>
          </a:p>
        </p:txBody>
      </p:sp>
      <p:sp>
        <p:nvSpPr>
          <p:cNvPr id="433" name="Google Shape;433;p17">
            <a:extLst xmlns:a="http://schemas.openxmlformats.org/drawingml/2006/main">
              <a:ext uri="{FF2B5EF4-FFF2-40B4-BE49-F238E27FC236}">
                <a16:creationId xmlns:a16="http://schemas.microsoft.com/office/drawing/2014/main" id="{9B012F34-24C0-4344-9F88-9126DF64E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2331720"/>
            <a:ext cx="3291840" cy="2240280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0B0B0B"/>
          </a:solidFill>
          <a:ln xmlns:a="http://schemas.openxmlformats.org/drawingml/2006/main" w="12700" cmpd="sng">
            <a:solidFill>
              <a:srgbClr val="555555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34" name="Google Shape;434;p17">
            <a:extLst xmlns:a="http://schemas.openxmlformats.org/drawingml/2006/main">
              <a:ext uri="{FF2B5EF4-FFF2-40B4-BE49-F238E27FC236}">
                <a16:creationId xmlns:a16="http://schemas.microsoft.com/office/drawing/2014/main" id="{F39BDAAA-CD8E-477C-B326-9DCAB898D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2331720"/>
            <a:ext cx="73152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2622"/>
          </a:solidFill>
          <a:ln xmlns:a="http://schemas.openxmlformats.org/drawingml/2006/main" w="12700" cmpd="sng">
            <a:solidFill>
              <a:srgbClr val="E2262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35" name="Google Shape;435;p17">
            <a:extLst xmlns:a="http://schemas.openxmlformats.org/drawingml/2006/main">
              <a:ext uri="{FF2B5EF4-FFF2-40B4-BE49-F238E27FC236}">
                <a16:creationId xmlns:a16="http://schemas.microsoft.com/office/drawing/2014/main" id="{E1463119-CA97-4279-9356-5640E3E6D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2496312"/>
            <a:ext cx="288036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22622"/>
              </a:buClr>
              <a:buSzPts val="1400"/>
              <a:buFont typeface="Arial"/>
              <a:buNone/>
            </a:pPr>
            <a:r>
              <a:rPr sz="1400" b="1" i="0" u="none" cap="none">
                <a:solidFill>
                  <a:srgbClr val="E22622"/>
                </a:solidFill>
                <a:latin typeface="Arial"/>
                <a:ea typeface="Arial"/>
                <a:cs typeface="Arial"/>
              </a:rPr>
              <a:t>FRAME AS</a:t>
            </a:r>
          </a:p>
        </p:txBody>
      </p:sp>
      <p:sp>
        <p:nvSpPr>
          <p:cNvPr id="436" name="Google Shape;436;p17">
            <a:extLst xmlns:a="http://schemas.openxmlformats.org/drawingml/2006/main">
              <a:ext uri="{FF2B5EF4-FFF2-40B4-BE49-F238E27FC236}">
                <a16:creationId xmlns:a16="http://schemas.microsoft.com/office/drawing/2014/main" id="{30F18BAA-D21B-4A3B-AFF7-17B406032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2807208"/>
            <a:ext cx="2880360" cy="1673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• Pilot study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• Preliminary data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• Feasibility test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• Method development</a:t>
            </a:r>
          </a:p>
        </p:txBody>
      </p:sp>
      <p:sp>
        <p:nvSpPr>
          <p:cNvPr id="437" name="Google Shape;437;p17">
            <a:extLst xmlns:a="http://schemas.openxmlformats.org/drawingml/2006/main">
              <a:ext uri="{FF2B5EF4-FFF2-40B4-BE49-F238E27FC236}">
                <a16:creationId xmlns:a16="http://schemas.microsoft.com/office/drawing/2014/main" id="{69A5B443-B8C4-48D8-961A-4B4269D07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74920"/>
            <a:ext cx="1024128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25" tIns="625" rIns="625" bIns="625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sz="210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A smaller honest conclusion is stronger than a broad unsupported one.</a:t>
            </a:r>
          </a:p>
        </p:txBody>
      </p:sp>
    </p:spTree>
    <p:extLst>
      <p:ext uri="{BB962C8B-B14F-4D97-AF65-F5344CB8AC3E}">
        <p14:creationId xmlns:p14="http://schemas.microsoft.com/office/powerpoint/2010/main" val="4576346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3" name="Google Shape;443;p18">
            <a:extLst xmlns:a="http://schemas.openxmlformats.org/drawingml/2006/main">
              <a:ext uri="{FF2B5EF4-FFF2-40B4-BE49-F238E27FC236}">
                <a16:creationId xmlns:a16="http://schemas.microsoft.com/office/drawing/2014/main" id="{3AE2C705-C4E0-459C-84C2-C0FC1917B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2700" cmpd="sng">
            <a:solidFill>
              <a:srgbClr val="050505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44" name="Google Shape;444;p18">
            <a:extLst xmlns:a="http://schemas.openxmlformats.org/drawingml/2006/main">
              <a:ext uri="{FF2B5EF4-FFF2-40B4-BE49-F238E27FC236}">
                <a16:creationId xmlns:a16="http://schemas.microsoft.com/office/drawing/2014/main" id="{97788AB7-D604-40BE-B946-7E52BFAAB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4592"/>
            <a:ext cx="12191695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2622"/>
          </a:solidFill>
          <a:ln xmlns:a="http://schemas.openxmlformats.org/drawingml/2006/main" w="12700" cmpd="sng">
            <a:solidFill>
              <a:srgbClr val="E2262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45" name="Google Shape;445;p18">
            <a:extLst xmlns:a="http://schemas.openxmlformats.org/drawingml/2006/main">
              <a:ext uri="{FF2B5EF4-FFF2-40B4-BE49-F238E27FC236}">
                <a16:creationId xmlns:a16="http://schemas.microsoft.com/office/drawing/2014/main" id="{88A50641-2E6E-494C-84FE-F5ADE0839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01968"/>
            <a:ext cx="12191695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2622"/>
          </a:solidFill>
          <a:ln xmlns:a="http://schemas.openxmlformats.org/drawingml/2006/main" w="12700" cmpd="sng">
            <a:solidFill>
              <a:srgbClr val="E2262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46" name="Google Shape;446;p18">
            <a:extLst xmlns:a="http://schemas.openxmlformats.org/drawingml/2006/main">
              <a:ext uri="{FF2B5EF4-FFF2-40B4-BE49-F238E27FC236}">
                <a16:creationId xmlns:a16="http://schemas.microsoft.com/office/drawing/2014/main" id="{32791F01-D4D1-4654-A584-DAEA4DFB5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502920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sz="900" b="1" i="0" u="non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ERROR • UNCERTAINTY • LIMITATIONS</a:t>
            </a:r>
          </a:p>
        </p:txBody>
      </p:sp>
      <p:sp>
        <p:nvSpPr>
          <p:cNvPr id="447" name="Google Shape;447;p18">
            <a:extLst xmlns:a="http://schemas.openxmlformats.org/drawingml/2006/main">
              <a:ext uri="{FF2B5EF4-FFF2-40B4-BE49-F238E27FC236}">
                <a16:creationId xmlns:a16="http://schemas.microsoft.com/office/drawing/2014/main" id="{B06F0618-774F-4316-9478-B10E2B98A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0" y="384048"/>
            <a:ext cx="214884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sz="900" b="1" i="0" u="non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STARLAB Deck 12</a:t>
            </a:r>
          </a:p>
        </p:txBody>
      </p:sp>
      <p:sp>
        <p:nvSpPr>
          <p:cNvPr id="448" name="Google Shape;448;p18">
            <a:extLst xmlns:a="http://schemas.openxmlformats.org/drawingml/2006/main">
              <a:ext uri="{FF2B5EF4-FFF2-40B4-BE49-F238E27FC236}">
                <a16:creationId xmlns:a16="http://schemas.microsoft.com/office/drawing/2014/main" id="{369C2200-CC8B-47E6-8847-36B6914A1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749808"/>
            <a:ext cx="1088136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Play"/>
              <a:buNone/>
            </a:pPr>
            <a:r>
              <a:rPr sz="3000" b="1" i="0" u="none" cap="none">
                <a:solidFill>
                  <a:srgbClr val="FFFFFF"/>
                </a:solidFill>
                <a:latin typeface="Play"/>
                <a:ea typeface="Play"/>
                <a:cs typeface="Play"/>
              </a:rPr>
              <a:t>Activity: limitation upgrade</a:t>
            </a:r>
          </a:p>
        </p:txBody>
      </p:sp>
      <p:sp>
        <p:nvSpPr>
          <p:cNvPr id="449" name="Google Shape;449;p18">
            <a:extLst xmlns:a="http://schemas.openxmlformats.org/drawingml/2006/main">
              <a:ext uri="{FF2B5EF4-FFF2-40B4-BE49-F238E27FC236}">
                <a16:creationId xmlns:a16="http://schemas.microsoft.com/office/drawing/2014/main" id="{DA655B7D-DFE4-42AE-8BBB-BA2C41202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89888"/>
            <a:ext cx="105156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2622"/>
          </a:solidFill>
          <a:ln xmlns:a="http://schemas.openxmlformats.org/drawingml/2006/main" w="12700" cmpd="sng">
            <a:solidFill>
              <a:srgbClr val="E2262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50" name="Google Shape;450;p18">
            <a:extLst xmlns:a="http://schemas.openxmlformats.org/drawingml/2006/main">
              <a:ext uri="{FF2B5EF4-FFF2-40B4-BE49-F238E27FC236}">
                <a16:creationId xmlns:a16="http://schemas.microsoft.com/office/drawing/2014/main" id="{6CA89CB2-0A44-4A28-8DCB-BDE2BFA14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419088"/>
            <a:ext cx="292608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000"/>
              <a:buFont typeface="Arial"/>
              <a:buNone/>
            </a:pPr>
            <a:r>
              <a:rPr sz="1000" b="1" i="0" u="non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UNIT 4</a:t>
            </a:r>
          </a:p>
        </p:txBody>
      </p:sp>
      <p:sp>
        <p:nvSpPr>
          <p:cNvPr id="451" name="Google Shape;451;p18">
            <a:extLst xmlns:a="http://schemas.openxmlformats.org/drawingml/2006/main">
              <a:ext uri="{FF2B5EF4-FFF2-40B4-BE49-F238E27FC236}">
                <a16:creationId xmlns:a16="http://schemas.microsoft.com/office/drawing/2014/main" id="{B1841063-2CA3-4E2C-A0E8-2ED069EB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19088"/>
            <a:ext cx="146304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000"/>
              <a:buFont typeface="Arial"/>
              <a:buNone/>
            </a:pPr>
            <a:r>
              <a:rPr sz="1000" b="1" i="0" u="non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STARLAB</a:t>
            </a:r>
          </a:p>
        </p:txBody>
      </p:sp>
      <p:sp>
        <p:nvSpPr>
          <p:cNvPr id="452" name="Google Shape;452;p18">
            <a:extLst xmlns:a="http://schemas.openxmlformats.org/drawingml/2006/main">
              <a:ext uri="{FF2B5EF4-FFF2-40B4-BE49-F238E27FC236}">
                <a16:creationId xmlns:a16="http://schemas.microsoft.com/office/drawing/2014/main" id="{EEF7366F-DD06-41E4-B48F-1A85BD3E5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627632"/>
            <a:ext cx="10561320" cy="3886200"/>
          </a:xfrm>
          <a:prstGeom xmlns:a="http://schemas.openxmlformats.org/drawingml/2006/main" prst="roundRect">
            <a:avLst>
              <a:gd name="adj" fmla="val 1882"/>
            </a:avLst>
          </a:prstGeom>
          <a:solidFill xmlns:a="http://schemas.openxmlformats.org/drawingml/2006/main">
            <a:srgbClr val="101010"/>
          </a:solidFill>
          <a:ln xmlns:a="http://schemas.openxmlformats.org/drawingml/2006/main" w="19050" cmpd="sng">
            <a:solidFill>
              <a:srgbClr val="E2262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53" name="Google Shape;453;p18">
            <a:extLst xmlns:a="http://schemas.openxmlformats.org/drawingml/2006/main">
              <a:ext uri="{FF2B5EF4-FFF2-40B4-BE49-F238E27FC236}">
                <a16:creationId xmlns:a16="http://schemas.microsoft.com/office/drawing/2014/main" id="{BE52FD66-1136-4FE3-A475-3AE899EB4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627632"/>
            <a:ext cx="1417320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2622"/>
          </a:solidFill>
          <a:ln xmlns:a="http://schemas.openxmlformats.org/drawingml/2006/main" w="12700" cmpd="sng">
            <a:solidFill>
              <a:srgbClr val="E2262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54" name="Google Shape;454;p18">
            <a:extLst xmlns:a="http://schemas.openxmlformats.org/drawingml/2006/main">
              <a:ext uri="{FF2B5EF4-FFF2-40B4-BE49-F238E27FC236}">
                <a16:creationId xmlns:a16="http://schemas.microsoft.com/office/drawing/2014/main" id="{6B5E2A4A-E9B5-463E-B17E-EDDEE8877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1719072"/>
            <a:ext cx="118872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sz="80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STUDENT ACTIVITY</a:t>
            </a:r>
          </a:p>
        </p:txBody>
      </p:sp>
      <p:sp>
        <p:nvSpPr>
          <p:cNvPr id="455" name="Google Shape;455;p18">
            <a:extLst xmlns:a="http://schemas.openxmlformats.org/drawingml/2006/main">
              <a:ext uri="{FF2B5EF4-FFF2-40B4-BE49-F238E27FC236}">
                <a16:creationId xmlns:a16="http://schemas.microsoft.com/office/drawing/2014/main" id="{CF0CB149-CAE2-45D7-ABBD-0488F2D46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103120"/>
            <a:ext cx="1010412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sz="180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Student Activity: Upgrade your limitation</a:t>
            </a:r>
          </a:p>
        </p:txBody>
      </p:sp>
      <p:sp>
        <p:nvSpPr>
          <p:cNvPr id="456" name="Google Shape;456;p18">
            <a:extLst xmlns:a="http://schemas.openxmlformats.org/drawingml/2006/main">
              <a:ext uri="{FF2B5EF4-FFF2-40B4-BE49-F238E27FC236}">
                <a16:creationId xmlns:a16="http://schemas.microsoft.com/office/drawing/2014/main" id="{CE85382C-481F-4DBE-850C-50E61117E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496312"/>
            <a:ext cx="10104120" cy="2880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420"/>
              <a:buFont typeface="Arial"/>
              <a:buNone/>
            </a:pPr>
            <a:r>
              <a:rPr sz="1420" b="0" i="0" u="non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Start with a weak limitation statement from your project.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20"/>
              <a:buFont typeface="Arial"/>
              <a:buNone/>
            </a:pPr>
            <a:r>
              <a:t/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420"/>
              <a:buFont typeface="Arial"/>
              <a:buNone/>
            </a:pPr>
            <a:r>
              <a:rPr sz="1420" b="0" i="0" u="non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1. Name the specific limitation.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420"/>
              <a:buFont typeface="Arial"/>
              <a:buNone/>
            </a:pPr>
            <a:r>
              <a:rPr sz="1420" b="0" i="0" u="non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2. Explain how it may have affected the data or confidence.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420"/>
              <a:buFont typeface="Arial"/>
              <a:buNone/>
            </a:pPr>
            <a:r>
              <a:rPr sz="1420" b="0" i="0" u="non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3. Write how future work could reduce it.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420"/>
              <a:buFont typeface="Arial"/>
              <a:buNone/>
            </a:pPr>
            <a:r>
              <a:rPr sz="1420" b="0" i="0" u="non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4. Share with a partner: does the revised version make the project more credible?</a:t>
            </a:r>
          </a:p>
        </p:txBody>
      </p:sp>
      <p:sp>
        <p:nvSpPr>
          <p:cNvPr id="457" name="Google Shape;457;p18">
            <a:extLst xmlns:a="http://schemas.openxmlformats.org/drawingml/2006/main">
              <a:ext uri="{FF2B5EF4-FFF2-40B4-BE49-F238E27FC236}">
                <a16:creationId xmlns:a16="http://schemas.microsoft.com/office/drawing/2014/main" id="{14D8C8F0-2202-4426-A166-EA74F7A71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5715000"/>
            <a:ext cx="1001268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25" tIns="625" rIns="625" bIns="625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Weak: “There was error.”</a:t>
            </a:r>
          </a:p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Strong: “Because the sensor drifted after repeated use, later voltage readings may be less reliable. Future testing should recalibrate between trials.”</a:t>
            </a:r>
          </a:p>
        </p:txBody>
      </p:sp>
    </p:spTree>
    <p:extLst>
      <p:ext uri="{BB962C8B-B14F-4D97-AF65-F5344CB8AC3E}">
        <p14:creationId xmlns:p14="http://schemas.microsoft.com/office/powerpoint/2010/main" val="8499745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3" name="Google Shape;463;p19">
            <a:extLst xmlns:a="http://schemas.openxmlformats.org/drawingml/2006/main">
              <a:ext uri="{FF2B5EF4-FFF2-40B4-BE49-F238E27FC236}">
                <a16:creationId xmlns:a16="http://schemas.microsoft.com/office/drawing/2014/main" id="{0172BDE5-EDD5-4CBF-8111-C4E54482A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2700" cmpd="sng">
            <a:solidFill>
              <a:srgbClr val="050505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64" name="Google Shape;464;p19">
            <a:extLst xmlns:a="http://schemas.openxmlformats.org/drawingml/2006/main">
              <a:ext uri="{FF2B5EF4-FFF2-40B4-BE49-F238E27FC236}">
                <a16:creationId xmlns:a16="http://schemas.microsoft.com/office/drawing/2014/main" id="{CEE431D9-29E5-4289-960D-53217AE9C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4592"/>
            <a:ext cx="12191695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2622"/>
          </a:solidFill>
          <a:ln xmlns:a="http://schemas.openxmlformats.org/drawingml/2006/main" w="12700" cmpd="sng">
            <a:solidFill>
              <a:srgbClr val="E2262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65" name="Google Shape;465;p19">
            <a:extLst xmlns:a="http://schemas.openxmlformats.org/drawingml/2006/main">
              <a:ext uri="{FF2B5EF4-FFF2-40B4-BE49-F238E27FC236}">
                <a16:creationId xmlns:a16="http://schemas.microsoft.com/office/drawing/2014/main" id="{7D2BC217-D8EE-4440-ABD1-4B81CC3AD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01968"/>
            <a:ext cx="12191695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2622"/>
          </a:solidFill>
          <a:ln xmlns:a="http://schemas.openxmlformats.org/drawingml/2006/main" w="12700" cmpd="sng">
            <a:solidFill>
              <a:srgbClr val="E2262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66" name="Google Shape;466;p19">
            <a:extLst xmlns:a="http://schemas.openxmlformats.org/drawingml/2006/main">
              <a:ext uri="{FF2B5EF4-FFF2-40B4-BE49-F238E27FC236}">
                <a16:creationId xmlns:a16="http://schemas.microsoft.com/office/drawing/2014/main" id="{6F39E597-CFD3-41BE-8248-1C5A5F31D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502920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sz="900" b="1" i="0" u="non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ERROR • UNCERTAINTY • LIMITATIONS</a:t>
            </a:r>
          </a:p>
        </p:txBody>
      </p:sp>
      <p:sp>
        <p:nvSpPr>
          <p:cNvPr id="467" name="Google Shape;467;p19">
            <a:extLst xmlns:a="http://schemas.openxmlformats.org/drawingml/2006/main">
              <a:ext uri="{FF2B5EF4-FFF2-40B4-BE49-F238E27FC236}">
                <a16:creationId xmlns:a16="http://schemas.microsoft.com/office/drawing/2014/main" id="{ED983873-5EFD-42FB-9EEC-D90DA1287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0" y="384048"/>
            <a:ext cx="214884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sz="900" b="1" i="0" u="non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STARLAB Deck 12</a:t>
            </a:r>
          </a:p>
        </p:txBody>
      </p:sp>
      <p:sp>
        <p:nvSpPr>
          <p:cNvPr id="468" name="Google Shape;468;p19">
            <a:extLst xmlns:a="http://schemas.openxmlformats.org/drawingml/2006/main">
              <a:ext uri="{FF2B5EF4-FFF2-40B4-BE49-F238E27FC236}">
                <a16:creationId xmlns:a16="http://schemas.microsoft.com/office/drawing/2014/main" id="{7C564E12-D750-4013-9483-F5A2DA6AA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749808"/>
            <a:ext cx="1088136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Play"/>
              <a:buNone/>
            </a:pPr>
            <a:r>
              <a:rPr sz="3000" b="1" i="0" u="none" cap="none">
                <a:solidFill>
                  <a:srgbClr val="FFFFFF"/>
                </a:solidFill>
                <a:latin typeface="Play"/>
                <a:ea typeface="Play"/>
                <a:cs typeface="Play"/>
              </a:rPr>
              <a:t>From limitation to future work</a:t>
            </a:r>
          </a:p>
        </p:txBody>
      </p:sp>
      <p:sp>
        <p:nvSpPr>
          <p:cNvPr id="469" name="Google Shape;469;p19">
            <a:extLst xmlns:a="http://schemas.openxmlformats.org/drawingml/2006/main">
              <a:ext uri="{FF2B5EF4-FFF2-40B4-BE49-F238E27FC236}">
                <a16:creationId xmlns:a16="http://schemas.microsoft.com/office/drawing/2014/main" id="{6C303488-BA32-4002-9E43-1A402E277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89888"/>
            <a:ext cx="105156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2622"/>
          </a:solidFill>
          <a:ln xmlns:a="http://schemas.openxmlformats.org/drawingml/2006/main" w="12700" cmpd="sng">
            <a:solidFill>
              <a:srgbClr val="E2262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70" name="Google Shape;470;p19">
            <a:extLst xmlns:a="http://schemas.openxmlformats.org/drawingml/2006/main">
              <a:ext uri="{FF2B5EF4-FFF2-40B4-BE49-F238E27FC236}">
                <a16:creationId xmlns:a16="http://schemas.microsoft.com/office/drawing/2014/main" id="{FC015B26-746E-457C-8DB6-27EB426FD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419088"/>
            <a:ext cx="292608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000"/>
              <a:buFont typeface="Arial"/>
              <a:buNone/>
            </a:pPr>
            <a:r>
              <a:rPr sz="1000" b="1" i="0" u="non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UNIT 4</a:t>
            </a:r>
          </a:p>
        </p:txBody>
      </p:sp>
      <p:sp>
        <p:nvSpPr>
          <p:cNvPr id="471" name="Google Shape;471;p19">
            <a:extLst xmlns:a="http://schemas.openxmlformats.org/drawingml/2006/main">
              <a:ext uri="{FF2B5EF4-FFF2-40B4-BE49-F238E27FC236}">
                <a16:creationId xmlns:a16="http://schemas.microsoft.com/office/drawing/2014/main" id="{AF053DFF-D971-40D1-9FBC-40299D1A5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19088"/>
            <a:ext cx="146304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000"/>
              <a:buFont typeface="Arial"/>
              <a:buNone/>
            </a:pPr>
            <a:r>
              <a:rPr sz="1000" b="1" i="0" u="non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STARLAB</a:t>
            </a:r>
          </a:p>
        </p:txBody>
      </p:sp>
      <p:sp>
        <p:nvSpPr>
          <p:cNvPr id="472" name="Google Shape;472;p19">
            <a:extLst xmlns:a="http://schemas.openxmlformats.org/drawingml/2006/main">
              <a:ext uri="{FF2B5EF4-FFF2-40B4-BE49-F238E27FC236}">
                <a16:creationId xmlns:a16="http://schemas.microsoft.com/office/drawing/2014/main" id="{52A10AD0-215E-4EF4-996A-090E8E2BD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627632"/>
            <a:ext cx="10424160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25" tIns="625" rIns="625" bIns="625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None/>
            </a:pPr>
            <a:r>
              <a:rPr sz="230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Strong future work responds directly to a limitation.</a:t>
            </a:r>
          </a:p>
        </p:txBody>
      </p:sp>
      <p:sp>
        <p:nvSpPr>
          <p:cNvPr id="473" name="Google Shape;473;p19">
            <a:extLst xmlns:a="http://schemas.openxmlformats.org/drawingml/2006/main">
              <a:ext uri="{FF2B5EF4-FFF2-40B4-BE49-F238E27FC236}">
                <a16:creationId xmlns:a16="http://schemas.microsoft.com/office/drawing/2014/main" id="{0909EE50-AEDE-47D3-9C48-FEABC8153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331720"/>
            <a:ext cx="3291840" cy="246888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0B0B0B"/>
          </a:solidFill>
          <a:ln xmlns:a="http://schemas.openxmlformats.org/drawingml/2006/main" w="12700" cmpd="sng">
            <a:solidFill>
              <a:srgbClr val="555555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74" name="Google Shape;474;p19">
            <a:extLst xmlns:a="http://schemas.openxmlformats.org/drawingml/2006/main">
              <a:ext uri="{FF2B5EF4-FFF2-40B4-BE49-F238E27FC236}">
                <a16:creationId xmlns:a16="http://schemas.microsoft.com/office/drawing/2014/main" id="{93D891FC-937C-46AF-B0FE-78B8317FD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331720"/>
            <a:ext cx="73152" cy="2468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2622"/>
          </a:solidFill>
          <a:ln xmlns:a="http://schemas.openxmlformats.org/drawingml/2006/main" w="12700" cmpd="sng">
            <a:solidFill>
              <a:srgbClr val="E2262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75" name="Google Shape;475;p19">
            <a:extLst xmlns:a="http://schemas.openxmlformats.org/drawingml/2006/main">
              <a:ext uri="{FF2B5EF4-FFF2-40B4-BE49-F238E27FC236}">
                <a16:creationId xmlns:a16="http://schemas.microsoft.com/office/drawing/2014/main" id="{0B4396CE-0355-421B-8B9E-021B4DA17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496312"/>
            <a:ext cx="288036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22622"/>
              </a:buClr>
              <a:buSzPts val="1400"/>
              <a:buFont typeface="Arial"/>
              <a:buNone/>
            </a:pPr>
            <a:r>
              <a:rPr sz="1400" b="1" i="0" u="none" cap="none">
                <a:solidFill>
                  <a:srgbClr val="E22622"/>
                </a:solidFill>
                <a:latin typeface="Arial"/>
                <a:ea typeface="Arial"/>
                <a:cs typeface="Arial"/>
              </a:rPr>
              <a:t>LIMITATION</a:t>
            </a:r>
          </a:p>
        </p:txBody>
      </p:sp>
      <p:sp>
        <p:nvSpPr>
          <p:cNvPr id="476" name="Google Shape;476;p19">
            <a:extLst xmlns:a="http://schemas.openxmlformats.org/drawingml/2006/main">
              <a:ext uri="{FF2B5EF4-FFF2-40B4-BE49-F238E27FC236}">
                <a16:creationId xmlns:a16="http://schemas.microsoft.com/office/drawing/2014/main" id="{ED55A965-522C-4118-A85D-CB12F10DC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807208"/>
            <a:ext cx="2880360" cy="1901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sz="18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Only three trials were completed for each blade design.</a:t>
            </a:r>
          </a:p>
        </p:txBody>
      </p:sp>
      <p:sp>
        <p:nvSpPr>
          <p:cNvPr id="477" name="Google Shape;477;p19">
            <a:extLst xmlns:a="http://schemas.openxmlformats.org/drawingml/2006/main">
              <a:ext uri="{FF2B5EF4-FFF2-40B4-BE49-F238E27FC236}">
                <a16:creationId xmlns:a16="http://schemas.microsoft.com/office/drawing/2014/main" id="{C565F4E7-068A-49E2-9B47-615DCD5F7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2331720"/>
            <a:ext cx="3291840" cy="246888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0B0B0B"/>
          </a:solidFill>
          <a:ln xmlns:a="http://schemas.openxmlformats.org/drawingml/2006/main" w="12700" cmpd="sng">
            <a:solidFill>
              <a:srgbClr val="555555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78" name="Google Shape;478;p19">
            <a:extLst xmlns:a="http://schemas.openxmlformats.org/drawingml/2006/main">
              <a:ext uri="{FF2B5EF4-FFF2-40B4-BE49-F238E27FC236}">
                <a16:creationId xmlns:a16="http://schemas.microsoft.com/office/drawing/2014/main" id="{C34438A3-A97A-41E3-98BE-364D00EB6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2331720"/>
            <a:ext cx="73152" cy="2468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2622"/>
          </a:solidFill>
          <a:ln xmlns:a="http://schemas.openxmlformats.org/drawingml/2006/main" w="12700" cmpd="sng">
            <a:solidFill>
              <a:srgbClr val="E2262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79" name="Google Shape;479;p19">
            <a:extLst xmlns:a="http://schemas.openxmlformats.org/drawingml/2006/main">
              <a:ext uri="{FF2B5EF4-FFF2-40B4-BE49-F238E27FC236}">
                <a16:creationId xmlns:a16="http://schemas.microsoft.com/office/drawing/2014/main" id="{92E9528A-0C77-4278-88E3-E47F072C1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496312"/>
            <a:ext cx="288036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22622"/>
              </a:buClr>
              <a:buSzPts val="1400"/>
              <a:buFont typeface="Arial"/>
              <a:buNone/>
            </a:pPr>
            <a:r>
              <a:rPr sz="1400" b="1" i="0" u="none" cap="none">
                <a:solidFill>
                  <a:srgbClr val="E22622"/>
                </a:solidFill>
                <a:latin typeface="Arial"/>
                <a:ea typeface="Arial"/>
                <a:cs typeface="Arial"/>
              </a:rPr>
              <a:t>EFFECT</a:t>
            </a:r>
          </a:p>
        </p:txBody>
      </p:sp>
      <p:sp>
        <p:nvSpPr>
          <p:cNvPr id="480" name="Google Shape;480;p19">
            <a:extLst xmlns:a="http://schemas.openxmlformats.org/drawingml/2006/main">
              <a:ext uri="{FF2B5EF4-FFF2-40B4-BE49-F238E27FC236}">
                <a16:creationId xmlns:a16="http://schemas.microsoft.com/office/drawing/2014/main" id="{3F5654B7-2AC4-41D9-A9AF-C2BF2A946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807208"/>
            <a:ext cx="2880360" cy="1901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sz="17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difference between designs may be less reliable if trial-to-trial variation is high.</a:t>
            </a:r>
          </a:p>
        </p:txBody>
      </p:sp>
      <p:sp>
        <p:nvSpPr>
          <p:cNvPr id="481" name="Google Shape;481;p19">
            <a:extLst xmlns:a="http://schemas.openxmlformats.org/drawingml/2006/main">
              <a:ext uri="{FF2B5EF4-FFF2-40B4-BE49-F238E27FC236}">
                <a16:creationId xmlns:a16="http://schemas.microsoft.com/office/drawing/2014/main" id="{3C76A5D3-0C8B-440D-A6D7-26A9FB257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2331720"/>
            <a:ext cx="3291840" cy="246888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0B0B0B"/>
          </a:solidFill>
          <a:ln xmlns:a="http://schemas.openxmlformats.org/drawingml/2006/main" w="12700" cmpd="sng">
            <a:solidFill>
              <a:srgbClr val="555555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82" name="Google Shape;482;p19">
            <a:extLst xmlns:a="http://schemas.openxmlformats.org/drawingml/2006/main">
              <a:ext uri="{FF2B5EF4-FFF2-40B4-BE49-F238E27FC236}">
                <a16:creationId xmlns:a16="http://schemas.microsoft.com/office/drawing/2014/main" id="{FE76FA11-E91D-4FF0-A49D-E0730DFCA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2331720"/>
            <a:ext cx="73152" cy="2468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2622"/>
          </a:solidFill>
          <a:ln xmlns:a="http://schemas.openxmlformats.org/drawingml/2006/main" w="12700" cmpd="sng">
            <a:solidFill>
              <a:srgbClr val="E2262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83" name="Google Shape;483;p19">
            <a:extLst xmlns:a="http://schemas.openxmlformats.org/drawingml/2006/main">
              <a:ext uri="{FF2B5EF4-FFF2-40B4-BE49-F238E27FC236}">
                <a16:creationId xmlns:a16="http://schemas.microsoft.com/office/drawing/2014/main" id="{0F82EA5B-348C-429A-A54F-359605AD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2496312"/>
            <a:ext cx="288036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22622"/>
              </a:buClr>
              <a:buSzPts val="1400"/>
              <a:buFont typeface="Arial"/>
              <a:buNone/>
            </a:pPr>
            <a:r>
              <a:rPr sz="1400" b="1" i="0" u="none" cap="none">
                <a:solidFill>
                  <a:srgbClr val="E22622"/>
                </a:solidFill>
                <a:latin typeface="Arial"/>
                <a:ea typeface="Arial"/>
                <a:cs typeface="Arial"/>
              </a:rPr>
              <a:t>FUTURE WORK</a:t>
            </a:r>
          </a:p>
        </p:txBody>
      </p:sp>
      <p:sp>
        <p:nvSpPr>
          <p:cNvPr id="484" name="Google Shape;484;p19">
            <a:extLst xmlns:a="http://schemas.openxmlformats.org/drawingml/2006/main">
              <a:ext uri="{FF2B5EF4-FFF2-40B4-BE49-F238E27FC236}">
                <a16:creationId xmlns:a16="http://schemas.microsoft.com/office/drawing/2014/main" id="{ECDD970C-0BA8-4DCA-AF22-7C0CEF8E2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2807208"/>
            <a:ext cx="2880360" cy="1901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sz="17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Repeat each design for at least ten trials and include error bars showing variability.</a:t>
            </a:r>
          </a:p>
        </p:txBody>
      </p:sp>
      <p:sp>
        <p:nvSpPr>
          <p:cNvPr id="485" name="Google Shape;485;p19">
            <a:extLst xmlns:a="http://schemas.openxmlformats.org/drawingml/2006/main">
              <a:ext uri="{FF2B5EF4-FFF2-40B4-BE49-F238E27FC236}">
                <a16:creationId xmlns:a16="http://schemas.microsoft.com/office/drawing/2014/main" id="{BD443D71-26AA-48A2-8CE6-5A49F24FB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57800"/>
            <a:ext cx="10241280" cy="59436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101010"/>
          </a:solidFill>
          <a:ln xmlns:a="http://schemas.openxmlformats.org/drawingml/2006/main" w="19050" cmpd="sng">
            <a:solidFill>
              <a:srgbClr val="E2262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86" name="Google Shape;486;p19">
            <a:extLst xmlns:a="http://schemas.openxmlformats.org/drawingml/2006/main">
              <a:ext uri="{FF2B5EF4-FFF2-40B4-BE49-F238E27FC236}">
                <a16:creationId xmlns:a16="http://schemas.microsoft.com/office/drawing/2014/main" id="{8179B693-B769-4BA2-936D-DA9652B68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57800"/>
            <a:ext cx="1417320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2622"/>
          </a:solidFill>
          <a:ln xmlns:a="http://schemas.openxmlformats.org/drawingml/2006/main" w="12700" cmpd="sng">
            <a:solidFill>
              <a:srgbClr val="E2262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87" name="Google Shape;487;p19">
            <a:extLst xmlns:a="http://schemas.openxmlformats.org/drawingml/2006/main">
              <a:ext uri="{FF2B5EF4-FFF2-40B4-BE49-F238E27FC236}">
                <a16:creationId xmlns:a16="http://schemas.microsoft.com/office/drawing/2014/main" id="{51A88085-238F-4484-8260-1E954DA12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349240"/>
            <a:ext cx="118872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sz="80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STUDENT ACTIVITY</a:t>
            </a:r>
          </a:p>
        </p:txBody>
      </p:sp>
      <p:sp>
        <p:nvSpPr>
          <p:cNvPr id="488" name="Google Shape;488;p19">
            <a:extLst xmlns:a="http://schemas.openxmlformats.org/drawingml/2006/main">
              <a:ext uri="{FF2B5EF4-FFF2-40B4-BE49-F238E27FC236}">
                <a16:creationId xmlns:a16="http://schemas.microsoft.com/office/drawing/2014/main" id="{13DD28DA-23EE-4C6D-BE98-49FBDB754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7625" y="5463538"/>
            <a:ext cx="9784200" cy="29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sz="180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Student move</a:t>
            </a:r>
          </a:p>
        </p:txBody>
      </p:sp>
      <p:sp>
        <p:nvSpPr>
          <p:cNvPr id="489" name="Google Shape;489;p19">
            <a:extLst xmlns:a="http://schemas.openxmlformats.org/drawingml/2006/main">
              <a:ext uri="{FF2B5EF4-FFF2-40B4-BE49-F238E27FC236}">
                <a16:creationId xmlns:a16="http://schemas.microsoft.com/office/drawing/2014/main" id="{47600D76-9D73-4B9D-91AD-A37D9385F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4114805" y="5404050"/>
            <a:ext cx="9784200" cy="41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420"/>
              <a:buFont typeface="Arial"/>
              <a:buNone/>
            </a:pPr>
            <a:r>
              <a:rPr sz="1420" b="0" i="0" u="non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Convert one limitation into a specific future-work recommendation.</a:t>
            </a:r>
          </a:p>
        </p:txBody>
      </p:sp>
    </p:spTree>
    <p:extLst>
      <p:ext uri="{BB962C8B-B14F-4D97-AF65-F5344CB8AC3E}">
        <p14:creationId xmlns:p14="http://schemas.microsoft.com/office/powerpoint/2010/main" val="90161853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5" name="Google Shape;495;p20">
            <a:extLst xmlns:a="http://schemas.openxmlformats.org/drawingml/2006/main">
              <a:ext uri="{FF2B5EF4-FFF2-40B4-BE49-F238E27FC236}">
                <a16:creationId xmlns:a16="http://schemas.microsoft.com/office/drawing/2014/main" id="{40E2B321-43AE-49C0-9B45-5B6DD1ABA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2700" cmpd="sng">
            <a:solidFill>
              <a:srgbClr val="050505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96" name="Google Shape;496;p20">
            <a:extLst xmlns:a="http://schemas.openxmlformats.org/drawingml/2006/main">
              <a:ext uri="{FF2B5EF4-FFF2-40B4-BE49-F238E27FC236}">
                <a16:creationId xmlns:a16="http://schemas.microsoft.com/office/drawing/2014/main" id="{D7D1E288-1200-4086-9083-4090096AB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4592"/>
            <a:ext cx="12191695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2622"/>
          </a:solidFill>
          <a:ln xmlns:a="http://schemas.openxmlformats.org/drawingml/2006/main" w="12700" cmpd="sng">
            <a:solidFill>
              <a:srgbClr val="E2262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97" name="Google Shape;497;p20">
            <a:extLst xmlns:a="http://schemas.openxmlformats.org/drawingml/2006/main">
              <a:ext uri="{FF2B5EF4-FFF2-40B4-BE49-F238E27FC236}">
                <a16:creationId xmlns:a16="http://schemas.microsoft.com/office/drawing/2014/main" id="{C116E843-E6A8-452C-9F4F-2F6FB74F8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01968"/>
            <a:ext cx="12191695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2622"/>
          </a:solidFill>
          <a:ln xmlns:a="http://schemas.openxmlformats.org/drawingml/2006/main" w="12700" cmpd="sng">
            <a:solidFill>
              <a:srgbClr val="E2262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98" name="Google Shape;498;p20">
            <a:extLst xmlns:a="http://schemas.openxmlformats.org/drawingml/2006/main">
              <a:ext uri="{FF2B5EF4-FFF2-40B4-BE49-F238E27FC236}">
                <a16:creationId xmlns:a16="http://schemas.microsoft.com/office/drawing/2014/main" id="{B6012975-D876-4939-9C81-FF7DEABCE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502920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sz="900" b="1" i="0" u="non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ERROR • UNCERTAINTY • LIMITATIONS</a:t>
            </a:r>
          </a:p>
        </p:txBody>
      </p:sp>
      <p:sp>
        <p:nvSpPr>
          <p:cNvPr id="499" name="Google Shape;499;p20">
            <a:extLst xmlns:a="http://schemas.openxmlformats.org/drawingml/2006/main">
              <a:ext uri="{FF2B5EF4-FFF2-40B4-BE49-F238E27FC236}">
                <a16:creationId xmlns:a16="http://schemas.microsoft.com/office/drawing/2014/main" id="{0E970D1C-40B0-4488-8D99-B39889F11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0" y="384048"/>
            <a:ext cx="214884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sz="900" b="1" i="0" u="non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STARLAB Deck 12</a:t>
            </a:r>
          </a:p>
        </p:txBody>
      </p:sp>
      <p:sp>
        <p:nvSpPr>
          <p:cNvPr id="500" name="Google Shape;500;p20">
            <a:extLst xmlns:a="http://schemas.openxmlformats.org/drawingml/2006/main">
              <a:ext uri="{FF2B5EF4-FFF2-40B4-BE49-F238E27FC236}">
                <a16:creationId xmlns:a16="http://schemas.microsoft.com/office/drawing/2014/main" id="{B0345F95-2EA0-4D9E-BDDD-A9155A224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749808"/>
            <a:ext cx="1088136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Play"/>
              <a:buNone/>
            </a:pPr>
            <a:r>
              <a:rPr sz="3000" b="1" i="0" u="none" cap="none">
                <a:solidFill>
                  <a:srgbClr val="FFFFFF"/>
                </a:solidFill>
                <a:latin typeface="Play"/>
                <a:ea typeface="Play"/>
                <a:cs typeface="Play"/>
              </a:rPr>
              <a:t>Where this appears in the report</a:t>
            </a:r>
          </a:p>
        </p:txBody>
      </p:sp>
      <p:sp>
        <p:nvSpPr>
          <p:cNvPr id="501" name="Google Shape;501;p20">
            <a:extLst xmlns:a="http://schemas.openxmlformats.org/drawingml/2006/main">
              <a:ext uri="{FF2B5EF4-FFF2-40B4-BE49-F238E27FC236}">
                <a16:creationId xmlns:a16="http://schemas.microsoft.com/office/drawing/2014/main" id="{C3060ADD-09D0-4507-BF61-0351C94BB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89888"/>
            <a:ext cx="105156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2622"/>
          </a:solidFill>
          <a:ln xmlns:a="http://schemas.openxmlformats.org/drawingml/2006/main" w="12700" cmpd="sng">
            <a:solidFill>
              <a:srgbClr val="E2262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02" name="Google Shape;502;p20">
            <a:extLst xmlns:a="http://schemas.openxmlformats.org/drawingml/2006/main">
              <a:ext uri="{FF2B5EF4-FFF2-40B4-BE49-F238E27FC236}">
                <a16:creationId xmlns:a16="http://schemas.microsoft.com/office/drawing/2014/main" id="{02B3AA96-7908-4795-924E-275974F51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419088"/>
            <a:ext cx="292608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000"/>
              <a:buFont typeface="Arial"/>
              <a:buNone/>
            </a:pPr>
            <a:r>
              <a:rPr sz="1000" b="1" i="0" u="non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UNIT 4</a:t>
            </a:r>
          </a:p>
        </p:txBody>
      </p:sp>
      <p:sp>
        <p:nvSpPr>
          <p:cNvPr id="503" name="Google Shape;503;p20">
            <a:extLst xmlns:a="http://schemas.openxmlformats.org/drawingml/2006/main">
              <a:ext uri="{FF2B5EF4-FFF2-40B4-BE49-F238E27FC236}">
                <a16:creationId xmlns:a16="http://schemas.microsoft.com/office/drawing/2014/main" id="{6CC5FB18-F071-409B-A902-C3B3FE945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19088"/>
            <a:ext cx="146304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000"/>
              <a:buFont typeface="Arial"/>
              <a:buNone/>
            </a:pPr>
            <a:r>
              <a:rPr sz="1000" b="1" i="0" u="non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STARLAB</a:t>
            </a:r>
          </a:p>
        </p:txBody>
      </p:sp>
      <p:sp>
        <p:nvSpPr>
          <p:cNvPr id="504" name="Google Shape;504;p20">
            <a:extLst xmlns:a="http://schemas.openxmlformats.org/drawingml/2006/main">
              <a:ext uri="{FF2B5EF4-FFF2-40B4-BE49-F238E27FC236}">
                <a16:creationId xmlns:a16="http://schemas.microsoft.com/office/drawing/2014/main" id="{D8F85D50-7E99-407C-8BF4-BE7E0FACD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572768"/>
            <a:ext cx="2743200" cy="329184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0B0B0B"/>
          </a:solidFill>
          <a:ln xmlns:a="http://schemas.openxmlformats.org/drawingml/2006/main" w="12700" cmpd="sng">
            <a:solidFill>
              <a:srgbClr val="555555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05" name="Google Shape;505;p20">
            <a:extLst xmlns:a="http://schemas.openxmlformats.org/drawingml/2006/main">
              <a:ext uri="{FF2B5EF4-FFF2-40B4-BE49-F238E27FC236}">
                <a16:creationId xmlns:a16="http://schemas.microsoft.com/office/drawing/2014/main" id="{3571DF22-D3CD-4860-B29A-C8646F9BF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572768"/>
            <a:ext cx="73152" cy="3291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2622"/>
          </a:solidFill>
          <a:ln xmlns:a="http://schemas.openxmlformats.org/drawingml/2006/main" w="12700" cmpd="sng">
            <a:solidFill>
              <a:srgbClr val="E2262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06" name="Google Shape;506;p20">
            <a:extLst xmlns:a="http://schemas.openxmlformats.org/drawingml/2006/main">
              <a:ext uri="{FF2B5EF4-FFF2-40B4-BE49-F238E27FC236}">
                <a16:creationId xmlns:a16="http://schemas.microsoft.com/office/drawing/2014/main" id="{3AEC95D8-C3C7-4EAC-8E46-F5ECDBE5F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737360"/>
            <a:ext cx="233172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22622"/>
              </a:buClr>
              <a:buSzPts val="1400"/>
              <a:buFont typeface="Arial"/>
              <a:buNone/>
            </a:pPr>
            <a:r>
              <a:rPr sz="1400" b="1" i="0" u="none" cap="none">
                <a:solidFill>
                  <a:srgbClr val="E22622"/>
                </a:solidFill>
                <a:latin typeface="Arial"/>
                <a:ea typeface="Arial"/>
                <a:cs typeface="Arial"/>
              </a:rPr>
              <a:t>RESULTS</a:t>
            </a:r>
          </a:p>
        </p:txBody>
      </p:sp>
      <p:sp>
        <p:nvSpPr>
          <p:cNvPr id="507" name="Google Shape;507;p20">
            <a:extLst xmlns:a="http://schemas.openxmlformats.org/drawingml/2006/main">
              <a:ext uri="{FF2B5EF4-FFF2-40B4-BE49-F238E27FC236}">
                <a16:creationId xmlns:a16="http://schemas.microsoft.com/office/drawing/2014/main" id="{1CF1EFE6-9422-423F-9C88-A934ACA98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048256"/>
            <a:ext cx="2331720" cy="2724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Arial"/>
              <a:buNone/>
            </a:pPr>
            <a:r>
              <a:rPr sz="155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Describe patterns and variation without overexplaining.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Arial"/>
              <a:buNone/>
            </a:pPr>
            <a:r>
              <a:t/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Arial"/>
              <a:buNone/>
            </a:pPr>
            <a:r>
              <a:rPr sz="155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Example: averages, ranges, error bars, outliers.</a:t>
            </a:r>
          </a:p>
        </p:txBody>
      </p:sp>
      <p:sp>
        <p:nvSpPr>
          <p:cNvPr id="508" name="Google Shape;508;p20">
            <a:extLst xmlns:a="http://schemas.openxmlformats.org/drawingml/2006/main">
              <a:ext uri="{FF2B5EF4-FFF2-40B4-BE49-F238E27FC236}">
                <a16:creationId xmlns:a16="http://schemas.microsoft.com/office/drawing/2014/main" id="{EF247955-D0AC-40CD-8C37-35647BAC6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572768"/>
            <a:ext cx="2743200" cy="329184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0B0B0B"/>
          </a:solidFill>
          <a:ln xmlns:a="http://schemas.openxmlformats.org/drawingml/2006/main" w="12700" cmpd="sng">
            <a:solidFill>
              <a:srgbClr val="555555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09" name="Google Shape;509;p20">
            <a:extLst xmlns:a="http://schemas.openxmlformats.org/drawingml/2006/main">
              <a:ext uri="{FF2B5EF4-FFF2-40B4-BE49-F238E27FC236}">
                <a16:creationId xmlns:a16="http://schemas.microsoft.com/office/drawing/2014/main" id="{33F21C5E-94E7-46E7-B78C-2F523F4AF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572768"/>
            <a:ext cx="73152" cy="3291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2622"/>
          </a:solidFill>
          <a:ln xmlns:a="http://schemas.openxmlformats.org/drawingml/2006/main" w="12700" cmpd="sng">
            <a:solidFill>
              <a:srgbClr val="E2262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10" name="Google Shape;510;p20">
            <a:extLst xmlns:a="http://schemas.openxmlformats.org/drawingml/2006/main">
              <a:ext uri="{FF2B5EF4-FFF2-40B4-BE49-F238E27FC236}">
                <a16:creationId xmlns:a16="http://schemas.microsoft.com/office/drawing/2014/main" id="{D20C3612-4976-494E-A1BD-3F04D3883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737360"/>
            <a:ext cx="233172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22622"/>
              </a:buClr>
              <a:buSzPts val="1400"/>
              <a:buFont typeface="Arial"/>
              <a:buNone/>
            </a:pPr>
            <a:r>
              <a:rPr sz="1400" b="1" i="0" u="none" cap="none">
                <a:solidFill>
                  <a:srgbClr val="E22622"/>
                </a:solidFill>
                <a:latin typeface="Arial"/>
                <a:ea typeface="Arial"/>
                <a:cs typeface="Arial"/>
              </a:rPr>
              <a:t>DISCUSSION</a:t>
            </a:r>
          </a:p>
        </p:txBody>
      </p:sp>
      <p:sp>
        <p:nvSpPr>
          <p:cNvPr id="511" name="Google Shape;511;p20">
            <a:extLst xmlns:a="http://schemas.openxmlformats.org/drawingml/2006/main">
              <a:ext uri="{FF2B5EF4-FFF2-40B4-BE49-F238E27FC236}">
                <a16:creationId xmlns:a16="http://schemas.microsoft.com/office/drawing/2014/main" id="{2E8CB4E2-D1D5-48AB-851C-D145C1308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048256"/>
            <a:ext cx="2331720" cy="2724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Arial"/>
              <a:buNone/>
            </a:pPr>
            <a:r>
              <a:rPr sz="155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Explain what the uncertainty means for your claim.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Arial"/>
              <a:buNone/>
            </a:pPr>
            <a:r>
              <a:t/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Arial"/>
              <a:buNone/>
            </a:pPr>
            <a:r>
              <a:rPr sz="155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This is where limitations are interpreted.</a:t>
            </a:r>
          </a:p>
        </p:txBody>
      </p:sp>
      <p:sp>
        <p:nvSpPr>
          <p:cNvPr id="512" name="Google Shape;512;p20">
            <a:extLst xmlns:a="http://schemas.openxmlformats.org/drawingml/2006/main">
              <a:ext uri="{FF2B5EF4-FFF2-40B4-BE49-F238E27FC236}">
                <a16:creationId xmlns:a16="http://schemas.microsoft.com/office/drawing/2014/main" id="{41A5BB51-765C-4851-8CEC-EC422E8D0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572768"/>
            <a:ext cx="2514600" cy="3291840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0B0B0B"/>
          </a:solidFill>
          <a:ln xmlns:a="http://schemas.openxmlformats.org/drawingml/2006/main" w="12700" cmpd="sng">
            <a:solidFill>
              <a:srgbClr val="555555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13" name="Google Shape;513;p20">
            <a:extLst xmlns:a="http://schemas.openxmlformats.org/drawingml/2006/main">
              <a:ext uri="{FF2B5EF4-FFF2-40B4-BE49-F238E27FC236}">
                <a16:creationId xmlns:a16="http://schemas.microsoft.com/office/drawing/2014/main" id="{4ECF7A2C-9B6E-417A-9CA5-A7BAA1454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572768"/>
            <a:ext cx="73152" cy="3291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2622"/>
          </a:solidFill>
          <a:ln xmlns:a="http://schemas.openxmlformats.org/drawingml/2006/main" w="12700" cmpd="sng">
            <a:solidFill>
              <a:srgbClr val="E2262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14" name="Google Shape;514;p20">
            <a:extLst xmlns:a="http://schemas.openxmlformats.org/drawingml/2006/main">
              <a:ext uri="{FF2B5EF4-FFF2-40B4-BE49-F238E27FC236}">
                <a16:creationId xmlns:a16="http://schemas.microsoft.com/office/drawing/2014/main" id="{E5D071C7-FE9B-4FE3-96BF-C475DADE1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1737360"/>
            <a:ext cx="210312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22622"/>
              </a:buClr>
              <a:buSzPts val="1400"/>
              <a:buFont typeface="Arial"/>
              <a:buNone/>
            </a:pPr>
            <a:r>
              <a:rPr sz="1400" b="1" i="0" u="none" cap="none">
                <a:solidFill>
                  <a:srgbClr val="E22622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515" name="Google Shape;515;p20">
            <a:extLst xmlns:a="http://schemas.openxmlformats.org/drawingml/2006/main">
              <a:ext uri="{FF2B5EF4-FFF2-40B4-BE49-F238E27FC236}">
                <a16:creationId xmlns:a16="http://schemas.microsoft.com/office/drawing/2014/main" id="{64F98336-D9D1-4669-94B2-41765DAE5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2048256"/>
            <a:ext cx="2103120" cy="2724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Arial"/>
              <a:buNone/>
            </a:pPr>
            <a:r>
              <a:rPr sz="155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State a careful takeaway that matches the evidence.</a:t>
            </a:r>
          </a:p>
        </p:txBody>
      </p:sp>
      <p:sp>
        <p:nvSpPr>
          <p:cNvPr id="516" name="Google Shape;516;p20">
            <a:extLst xmlns:a="http://schemas.openxmlformats.org/drawingml/2006/main">
              <a:ext uri="{FF2B5EF4-FFF2-40B4-BE49-F238E27FC236}">
                <a16:creationId xmlns:a16="http://schemas.microsoft.com/office/drawing/2014/main" id="{81864044-904E-4DCA-AEEC-92BD79371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1572768"/>
            <a:ext cx="2240280" cy="3291840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0B0B0B"/>
          </a:solidFill>
          <a:ln xmlns:a="http://schemas.openxmlformats.org/drawingml/2006/main" w="12700" cmpd="sng">
            <a:solidFill>
              <a:srgbClr val="555555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17" name="Google Shape;517;p20">
            <a:extLst xmlns:a="http://schemas.openxmlformats.org/drawingml/2006/main">
              <a:ext uri="{FF2B5EF4-FFF2-40B4-BE49-F238E27FC236}">
                <a16:creationId xmlns:a16="http://schemas.microsoft.com/office/drawing/2014/main" id="{81FF849D-13BB-4EC6-B980-53A4BA5C1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1572768"/>
            <a:ext cx="73152" cy="3291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2622"/>
          </a:solidFill>
          <a:ln xmlns:a="http://schemas.openxmlformats.org/drawingml/2006/main" w="12700" cmpd="sng">
            <a:solidFill>
              <a:srgbClr val="E2262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18" name="Google Shape;518;p20">
            <a:extLst xmlns:a="http://schemas.openxmlformats.org/drawingml/2006/main">
              <a:ext uri="{FF2B5EF4-FFF2-40B4-BE49-F238E27FC236}">
                <a16:creationId xmlns:a16="http://schemas.microsoft.com/office/drawing/2014/main" id="{AFE3B458-E1EB-4462-86FF-C0D3CF1E6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0" y="1737360"/>
            <a:ext cx="18288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22622"/>
              </a:buClr>
              <a:buSzPts val="1400"/>
              <a:buFont typeface="Arial"/>
              <a:buNone/>
            </a:pPr>
            <a:r>
              <a:rPr sz="1400" b="1" i="0" u="none" cap="none">
                <a:solidFill>
                  <a:srgbClr val="E22622"/>
                </a:solidFill>
                <a:latin typeface="Arial"/>
                <a:ea typeface="Arial"/>
                <a:cs typeface="Arial"/>
              </a:rPr>
              <a:t>FUTURE WORK</a:t>
            </a:r>
          </a:p>
        </p:txBody>
      </p:sp>
      <p:sp>
        <p:nvSpPr>
          <p:cNvPr id="519" name="Google Shape;519;p20">
            <a:extLst xmlns:a="http://schemas.openxmlformats.org/drawingml/2006/main">
              <a:ext uri="{FF2B5EF4-FFF2-40B4-BE49-F238E27FC236}">
                <a16:creationId xmlns:a16="http://schemas.microsoft.com/office/drawing/2014/main" id="{EA9698DA-72A5-4563-AC59-AD7E08136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0" y="2048256"/>
            <a:ext cx="1828800" cy="2724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sz="15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Propose the next test or revision based on limitations.</a:t>
            </a:r>
          </a:p>
        </p:txBody>
      </p:sp>
      <p:sp>
        <p:nvSpPr>
          <p:cNvPr id="520" name="Google Shape;520;p20">
            <a:extLst xmlns:a="http://schemas.openxmlformats.org/drawingml/2006/main">
              <a:ext uri="{FF2B5EF4-FFF2-40B4-BE49-F238E27FC236}">
                <a16:creationId xmlns:a16="http://schemas.microsoft.com/office/drawing/2014/main" id="{043843D7-81C7-4918-8670-8F6255937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303520"/>
            <a:ext cx="1060704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25" tIns="625" rIns="625" bIns="625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sz="210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Unit 5 will turn today’s analysis language into report sections.</a:t>
            </a:r>
          </a:p>
        </p:txBody>
      </p:sp>
    </p:spTree>
    <p:extLst>
      <p:ext uri="{BB962C8B-B14F-4D97-AF65-F5344CB8AC3E}">
        <p14:creationId xmlns:p14="http://schemas.microsoft.com/office/powerpoint/2010/main" val="50036668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6" name="Google Shape;526;p21">
            <a:extLst xmlns:a="http://schemas.openxmlformats.org/drawingml/2006/main">
              <a:ext uri="{FF2B5EF4-FFF2-40B4-BE49-F238E27FC236}">
                <a16:creationId xmlns:a16="http://schemas.microsoft.com/office/drawing/2014/main" id="{C25443DF-E4A8-456E-ACFB-AC68815B0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2700" cmpd="sng">
            <a:solidFill>
              <a:srgbClr val="050505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27" name="Google Shape;527;p21">
            <a:extLst xmlns:a="http://schemas.openxmlformats.org/drawingml/2006/main">
              <a:ext uri="{FF2B5EF4-FFF2-40B4-BE49-F238E27FC236}">
                <a16:creationId xmlns:a16="http://schemas.microsoft.com/office/drawing/2014/main" id="{8491877E-6B09-4FAC-884F-E1EF1FDC6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4592"/>
            <a:ext cx="12191695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2622"/>
          </a:solidFill>
          <a:ln xmlns:a="http://schemas.openxmlformats.org/drawingml/2006/main" w="12700" cmpd="sng">
            <a:solidFill>
              <a:srgbClr val="E2262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28" name="Google Shape;528;p21">
            <a:extLst xmlns:a="http://schemas.openxmlformats.org/drawingml/2006/main">
              <a:ext uri="{FF2B5EF4-FFF2-40B4-BE49-F238E27FC236}">
                <a16:creationId xmlns:a16="http://schemas.microsoft.com/office/drawing/2014/main" id="{0EE7418E-1F85-4D96-B33E-F2748FC76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01968"/>
            <a:ext cx="12191695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2622"/>
          </a:solidFill>
          <a:ln xmlns:a="http://schemas.openxmlformats.org/drawingml/2006/main" w="12700" cmpd="sng">
            <a:solidFill>
              <a:srgbClr val="E2262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29" name="Google Shape;529;p21">
            <a:extLst xmlns:a="http://schemas.openxmlformats.org/drawingml/2006/main">
              <a:ext uri="{FF2B5EF4-FFF2-40B4-BE49-F238E27FC236}">
                <a16:creationId xmlns:a16="http://schemas.microsoft.com/office/drawing/2014/main" id="{9AC5F414-7932-4C91-9FA5-77A776F5F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502920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sz="900" b="1" i="0" u="non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ERROR • UNCERTAINTY • LIMITATIONS</a:t>
            </a:r>
          </a:p>
        </p:txBody>
      </p:sp>
      <p:sp>
        <p:nvSpPr>
          <p:cNvPr id="530" name="Google Shape;530;p21">
            <a:extLst xmlns:a="http://schemas.openxmlformats.org/drawingml/2006/main">
              <a:ext uri="{FF2B5EF4-FFF2-40B4-BE49-F238E27FC236}">
                <a16:creationId xmlns:a16="http://schemas.microsoft.com/office/drawing/2014/main" id="{ABA5A69C-CD39-431F-B32B-F4186A34E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0" y="384048"/>
            <a:ext cx="214884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sz="900" b="1" i="0" u="non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STARLAB Deck 12</a:t>
            </a:r>
          </a:p>
        </p:txBody>
      </p:sp>
      <p:sp>
        <p:nvSpPr>
          <p:cNvPr id="531" name="Google Shape;531;p21">
            <a:extLst xmlns:a="http://schemas.openxmlformats.org/drawingml/2006/main">
              <a:ext uri="{FF2B5EF4-FFF2-40B4-BE49-F238E27FC236}">
                <a16:creationId xmlns:a16="http://schemas.microsoft.com/office/drawing/2014/main" id="{E5BD110A-2F33-4D6F-9F56-5FAA39676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749808"/>
            <a:ext cx="1088136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Play"/>
              <a:buNone/>
            </a:pPr>
            <a:r>
              <a:rPr sz="3000" b="1" i="0" u="none" cap="none">
                <a:solidFill>
                  <a:srgbClr val="FFFFFF"/>
                </a:solidFill>
                <a:latin typeface="Play"/>
                <a:ea typeface="Play"/>
                <a:cs typeface="Play"/>
              </a:rPr>
              <a:t>Exit ticket: claim with caution</a:t>
            </a:r>
          </a:p>
        </p:txBody>
      </p:sp>
      <p:sp>
        <p:nvSpPr>
          <p:cNvPr id="532" name="Google Shape;532;p21">
            <a:extLst xmlns:a="http://schemas.openxmlformats.org/drawingml/2006/main">
              <a:ext uri="{FF2B5EF4-FFF2-40B4-BE49-F238E27FC236}">
                <a16:creationId xmlns:a16="http://schemas.microsoft.com/office/drawing/2014/main" id="{7385107F-240D-465B-9D45-1D1D1D70F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89888"/>
            <a:ext cx="105156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2622"/>
          </a:solidFill>
          <a:ln xmlns:a="http://schemas.openxmlformats.org/drawingml/2006/main" w="12700" cmpd="sng">
            <a:solidFill>
              <a:srgbClr val="E2262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33" name="Google Shape;533;p21">
            <a:extLst xmlns:a="http://schemas.openxmlformats.org/drawingml/2006/main">
              <a:ext uri="{FF2B5EF4-FFF2-40B4-BE49-F238E27FC236}">
                <a16:creationId xmlns:a16="http://schemas.microsoft.com/office/drawing/2014/main" id="{808E2FF7-C768-4CC0-BF85-6170F608A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419088"/>
            <a:ext cx="292608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000"/>
              <a:buFont typeface="Arial"/>
              <a:buNone/>
            </a:pPr>
            <a:r>
              <a:rPr sz="1000" b="1" i="0" u="non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UNIT 4</a:t>
            </a:r>
          </a:p>
        </p:txBody>
      </p:sp>
      <p:sp>
        <p:nvSpPr>
          <p:cNvPr id="534" name="Google Shape;534;p21">
            <a:extLst xmlns:a="http://schemas.openxmlformats.org/drawingml/2006/main">
              <a:ext uri="{FF2B5EF4-FFF2-40B4-BE49-F238E27FC236}">
                <a16:creationId xmlns:a16="http://schemas.microsoft.com/office/drawing/2014/main" id="{AB774959-CC41-469D-A387-CF58CC22B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19088"/>
            <a:ext cx="146304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000"/>
              <a:buFont typeface="Arial"/>
              <a:buNone/>
            </a:pPr>
            <a:r>
              <a:rPr sz="1000" b="1" i="0" u="non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STARLAB</a:t>
            </a:r>
          </a:p>
        </p:txBody>
      </p:sp>
      <p:sp>
        <p:nvSpPr>
          <p:cNvPr id="535" name="Google Shape;535;p21">
            <a:extLst xmlns:a="http://schemas.openxmlformats.org/drawingml/2006/main">
              <a:ext uri="{FF2B5EF4-FFF2-40B4-BE49-F238E27FC236}">
                <a16:creationId xmlns:a16="http://schemas.microsoft.com/office/drawing/2014/main" id="{3463039A-B925-41F7-BB4B-2DFC2C4A5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645920"/>
            <a:ext cx="10561320" cy="4114800"/>
          </a:xfrm>
          <a:prstGeom xmlns:a="http://schemas.openxmlformats.org/drawingml/2006/main" prst="roundRect">
            <a:avLst>
              <a:gd name="adj" fmla="val 1778"/>
            </a:avLst>
          </a:prstGeom>
          <a:solidFill xmlns:a="http://schemas.openxmlformats.org/drawingml/2006/main">
            <a:srgbClr val="101010"/>
          </a:solidFill>
          <a:ln xmlns:a="http://schemas.openxmlformats.org/drawingml/2006/main" w="19050" cmpd="sng">
            <a:solidFill>
              <a:srgbClr val="E2262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36" name="Google Shape;536;p21">
            <a:extLst xmlns:a="http://schemas.openxmlformats.org/drawingml/2006/main">
              <a:ext uri="{FF2B5EF4-FFF2-40B4-BE49-F238E27FC236}">
                <a16:creationId xmlns:a16="http://schemas.microsoft.com/office/drawing/2014/main" id="{FC0CD7FD-8484-42A1-8D1F-B6BBD7F1D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645920"/>
            <a:ext cx="1417320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2622"/>
          </a:solidFill>
          <a:ln xmlns:a="http://schemas.openxmlformats.org/drawingml/2006/main" w="12700" cmpd="sng">
            <a:solidFill>
              <a:srgbClr val="E2262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37" name="Google Shape;537;p21">
            <a:extLst xmlns:a="http://schemas.openxmlformats.org/drawingml/2006/main">
              <a:ext uri="{FF2B5EF4-FFF2-40B4-BE49-F238E27FC236}">
                <a16:creationId xmlns:a16="http://schemas.microsoft.com/office/drawing/2014/main" id="{6AEE867E-63C7-4101-86D0-5A0AC4EC4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1737360"/>
            <a:ext cx="118872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sz="80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STUDENT ACTIVITY</a:t>
            </a:r>
          </a:p>
        </p:txBody>
      </p:sp>
      <p:sp>
        <p:nvSpPr>
          <p:cNvPr id="538" name="Google Shape;538;p21">
            <a:extLst xmlns:a="http://schemas.openxmlformats.org/drawingml/2006/main">
              <a:ext uri="{FF2B5EF4-FFF2-40B4-BE49-F238E27FC236}">
                <a16:creationId xmlns:a16="http://schemas.microsoft.com/office/drawing/2014/main" id="{7735E7E1-55F4-49CE-8C54-AC61EC883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121408"/>
            <a:ext cx="1010412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sz="180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539" name="Google Shape;539;p21">
            <a:extLst xmlns:a="http://schemas.openxmlformats.org/drawingml/2006/main">
              <a:ext uri="{FF2B5EF4-FFF2-40B4-BE49-F238E27FC236}">
                <a16:creationId xmlns:a16="http://schemas.microsoft.com/office/drawing/2014/main" id="{906F0DD0-08FB-4843-A872-1261BFA3C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514600"/>
            <a:ext cx="10104120" cy="3108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420"/>
              <a:buFont typeface="Arial"/>
              <a:buNone/>
            </a:pPr>
            <a:r>
              <a:rPr sz="1420" b="0" i="0" u="non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Write four sentences: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20"/>
              <a:buFont typeface="Arial"/>
              <a:buNone/>
            </a:pPr>
            <a:r>
              <a:t/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420"/>
              <a:buFont typeface="Arial"/>
              <a:buNone/>
            </a:pPr>
            <a:r>
              <a:rPr sz="1420" b="0" i="0" u="non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1. My strongest evidence suggests ___ .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420"/>
              <a:buFont typeface="Arial"/>
              <a:buNone/>
            </a:pPr>
            <a:r>
              <a:rPr sz="1420" b="0" i="0" u="non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2. One limitation is ___ .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420"/>
              <a:buFont typeface="Arial"/>
              <a:buNone/>
            </a:pPr>
            <a:r>
              <a:rPr sz="1420" b="0" i="0" u="non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3. This affects my confidence because ___ .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420"/>
              <a:buFont typeface="Arial"/>
              <a:buNone/>
            </a:pPr>
            <a:r>
              <a:rPr sz="1420" b="0" i="0" u="non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4. A careful claim I can make is ___ .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20"/>
              <a:buFont typeface="Arial"/>
              <a:buNone/>
            </a:pPr>
            <a:r>
              <a:t/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420"/>
              <a:buFont typeface="Arial"/>
              <a:buNone/>
            </a:pPr>
            <a:r>
              <a:rPr sz="1420" b="0" i="0" u="non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Submit or save this as the first draft of your discussion interpretation.</a:t>
            </a:r>
          </a:p>
        </p:txBody>
      </p:sp>
      <p:sp>
        <p:nvSpPr>
          <p:cNvPr id="540" name="Google Shape;540;p21">
            <a:extLst xmlns:a="http://schemas.openxmlformats.org/drawingml/2006/main">
              <a:ext uri="{FF2B5EF4-FFF2-40B4-BE49-F238E27FC236}">
                <a16:creationId xmlns:a16="http://schemas.microsoft.com/office/drawing/2014/main" id="{EED0D395-1B7A-44E0-B0F8-38BB44686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852160"/>
            <a:ext cx="101498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25" tIns="625" rIns="625" bIns="625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800"/>
              <a:buFont typeface="Arial"/>
              <a:buNone/>
            </a:pPr>
            <a:r>
              <a:rPr sz="1800" b="0" i="0" u="non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Do not leave with “my data proved.” Leave with “my evidence supports, with these limits.”</a:t>
            </a:r>
          </a:p>
        </p:txBody>
      </p:sp>
    </p:spTree>
    <p:extLst>
      <p:ext uri="{BB962C8B-B14F-4D97-AF65-F5344CB8AC3E}">
        <p14:creationId xmlns:p14="http://schemas.microsoft.com/office/powerpoint/2010/main" val="36245593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6" name="Google Shape;546;p22">
            <a:extLst xmlns:a="http://schemas.openxmlformats.org/drawingml/2006/main">
              <a:ext uri="{FF2B5EF4-FFF2-40B4-BE49-F238E27FC236}">
                <a16:creationId xmlns:a16="http://schemas.microsoft.com/office/drawing/2014/main" id="{40064C17-AC53-4594-BAC4-41457ABC6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2700" cmpd="sng">
            <a:solidFill>
              <a:srgbClr val="050505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47" name="Google Shape;547;p22">
            <a:extLst xmlns:a="http://schemas.openxmlformats.org/drawingml/2006/main">
              <a:ext uri="{FF2B5EF4-FFF2-40B4-BE49-F238E27FC236}">
                <a16:creationId xmlns:a16="http://schemas.microsoft.com/office/drawing/2014/main" id="{581BB4F4-83E8-4A92-B6D0-2923D8D60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4592"/>
            <a:ext cx="12191695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2622"/>
          </a:solidFill>
          <a:ln xmlns:a="http://schemas.openxmlformats.org/drawingml/2006/main" w="12700" cmpd="sng">
            <a:solidFill>
              <a:srgbClr val="E2262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48" name="Google Shape;548;p22">
            <a:extLst xmlns:a="http://schemas.openxmlformats.org/drawingml/2006/main">
              <a:ext uri="{FF2B5EF4-FFF2-40B4-BE49-F238E27FC236}">
                <a16:creationId xmlns:a16="http://schemas.microsoft.com/office/drawing/2014/main" id="{3F5B0230-2E05-4975-93A4-C35E02DE8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01968"/>
            <a:ext cx="12191695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2622"/>
          </a:solidFill>
          <a:ln xmlns:a="http://schemas.openxmlformats.org/drawingml/2006/main" w="12700" cmpd="sng">
            <a:solidFill>
              <a:srgbClr val="E2262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49" name="Google Shape;549;p22">
            <a:extLst xmlns:a="http://schemas.openxmlformats.org/drawingml/2006/main">
              <a:ext uri="{FF2B5EF4-FFF2-40B4-BE49-F238E27FC236}">
                <a16:creationId xmlns:a16="http://schemas.microsoft.com/office/drawing/2014/main" id="{C57ADFB7-702C-4ECC-B3B3-EA771BDA7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502920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sz="900" b="1" i="0" u="non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ERROR • UNCERTAINTY • LIMITATIONS</a:t>
            </a:r>
          </a:p>
        </p:txBody>
      </p:sp>
      <p:sp>
        <p:nvSpPr>
          <p:cNvPr id="550" name="Google Shape;550;p22">
            <a:extLst xmlns:a="http://schemas.openxmlformats.org/drawingml/2006/main">
              <a:ext uri="{FF2B5EF4-FFF2-40B4-BE49-F238E27FC236}">
                <a16:creationId xmlns:a16="http://schemas.microsoft.com/office/drawing/2014/main" id="{5304F4CB-E25F-4EC7-97E0-72A6B80F6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0" y="384048"/>
            <a:ext cx="214884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Arial"/>
              <a:buNone/>
            </a:pPr>
            <a:r>
              <a:rPr sz="900" b="1" i="0" u="non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STARLAB Deck 12</a:t>
            </a:r>
          </a:p>
        </p:txBody>
      </p:sp>
      <p:sp>
        <p:nvSpPr>
          <p:cNvPr id="551" name="Google Shape;551;p22">
            <a:extLst xmlns:a="http://schemas.openxmlformats.org/drawingml/2006/main">
              <a:ext uri="{FF2B5EF4-FFF2-40B4-BE49-F238E27FC236}">
                <a16:creationId xmlns:a16="http://schemas.microsoft.com/office/drawing/2014/main" id="{D81EB3BD-F062-475C-9C0A-831118295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749808"/>
            <a:ext cx="1088136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Play"/>
              <a:buNone/>
            </a:pPr>
            <a:r>
              <a:rPr sz="3000" b="1" i="0" u="none" cap="none">
                <a:solidFill>
                  <a:srgbClr val="FFFFFF"/>
                </a:solidFill>
                <a:latin typeface="Play"/>
                <a:ea typeface="Play"/>
                <a:cs typeface="Play"/>
              </a:rPr>
              <a:t>Next deck</a:t>
            </a:r>
          </a:p>
        </p:txBody>
      </p:sp>
      <p:sp>
        <p:nvSpPr>
          <p:cNvPr id="552" name="Google Shape;552;p22">
            <a:extLst xmlns:a="http://schemas.openxmlformats.org/drawingml/2006/main">
              <a:ext uri="{FF2B5EF4-FFF2-40B4-BE49-F238E27FC236}">
                <a16:creationId xmlns:a16="http://schemas.microsoft.com/office/drawing/2014/main" id="{F59D5722-6ED8-431F-9AAC-29CA1E74D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89888"/>
            <a:ext cx="105156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2622"/>
          </a:solidFill>
          <a:ln xmlns:a="http://schemas.openxmlformats.org/drawingml/2006/main" w="12700" cmpd="sng">
            <a:solidFill>
              <a:srgbClr val="E2262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53" name="Google Shape;553;p22">
            <a:extLst xmlns:a="http://schemas.openxmlformats.org/drawingml/2006/main">
              <a:ext uri="{FF2B5EF4-FFF2-40B4-BE49-F238E27FC236}">
                <a16:creationId xmlns:a16="http://schemas.microsoft.com/office/drawing/2014/main" id="{0B633457-7DA6-4D3E-9E96-B19F35FA0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419088"/>
            <a:ext cx="292608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000"/>
              <a:buFont typeface="Arial"/>
              <a:buNone/>
            </a:pPr>
            <a:r>
              <a:rPr sz="1000" b="1" i="0" u="non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UNIT 4</a:t>
            </a:r>
          </a:p>
        </p:txBody>
      </p:sp>
      <p:sp>
        <p:nvSpPr>
          <p:cNvPr id="554" name="Google Shape;554;p22">
            <a:extLst xmlns:a="http://schemas.openxmlformats.org/drawingml/2006/main">
              <a:ext uri="{FF2B5EF4-FFF2-40B4-BE49-F238E27FC236}">
                <a16:creationId xmlns:a16="http://schemas.microsoft.com/office/drawing/2014/main" id="{3FFACD0D-16F0-4178-993F-992F72B03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19088"/>
            <a:ext cx="146304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000"/>
              <a:buFont typeface="Arial"/>
              <a:buNone/>
            </a:pPr>
            <a:r>
              <a:rPr sz="1000" b="1" i="0" u="non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STARLAB</a:t>
            </a:r>
          </a:p>
        </p:txBody>
      </p:sp>
      <p:sp>
        <p:nvSpPr>
          <p:cNvPr id="555" name="Google Shape;555;p22">
            <a:extLst xmlns:a="http://schemas.openxmlformats.org/drawingml/2006/main">
              <a:ext uri="{FF2B5EF4-FFF2-40B4-BE49-F238E27FC236}">
                <a16:creationId xmlns:a16="http://schemas.microsoft.com/office/drawing/2014/main" id="{E7B5DA79-A3C4-412D-946E-982762143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645920"/>
            <a:ext cx="105156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25" tIns="625" rIns="625" bIns="625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E22622"/>
              </a:buClr>
              <a:buSzPts val="1800"/>
              <a:buFont typeface="Arial"/>
              <a:buNone/>
            </a:pPr>
            <a:r>
              <a:rPr sz="1800" b="1" i="0" u="none" cap="none">
                <a:solidFill>
                  <a:srgbClr val="E22622"/>
                </a:solidFill>
                <a:latin typeface="Arial"/>
                <a:ea typeface="Arial"/>
                <a:cs typeface="Arial"/>
              </a:rPr>
              <a:t>NEXT DECK</a:t>
            </a:r>
          </a:p>
        </p:txBody>
      </p:sp>
      <p:sp>
        <p:nvSpPr>
          <p:cNvPr id="556" name="Google Shape;556;p22">
            <a:extLst xmlns:a="http://schemas.openxmlformats.org/drawingml/2006/main">
              <a:ext uri="{FF2B5EF4-FFF2-40B4-BE49-F238E27FC236}">
                <a16:creationId xmlns:a16="http://schemas.microsoft.com/office/drawing/2014/main" id="{A0FEEB7E-D79E-4C73-8A0C-FABC8B30E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40280"/>
            <a:ext cx="10515600" cy="658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25" tIns="625" rIns="625" bIns="625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Play"/>
              <a:buNone/>
            </a:pPr>
            <a:r>
              <a:rPr sz="3400" b="1" i="0" u="none" cap="none">
                <a:solidFill>
                  <a:srgbClr val="FFFFFF"/>
                </a:solidFill>
                <a:latin typeface="Play"/>
                <a:ea typeface="Play"/>
                <a:cs typeface="Play"/>
              </a:rPr>
              <a:t>SCIENTIFIC REPORT STRUCTURE</a:t>
            </a:r>
          </a:p>
        </p:txBody>
      </p:sp>
      <p:sp>
        <p:nvSpPr>
          <p:cNvPr id="557" name="Google Shape;557;p22">
            <a:extLst xmlns:a="http://schemas.openxmlformats.org/drawingml/2006/main">
              <a:ext uri="{FF2B5EF4-FFF2-40B4-BE49-F238E27FC236}">
                <a16:creationId xmlns:a16="http://schemas.microsoft.com/office/drawing/2014/main" id="{39E09888-C9C7-4D11-A795-E36080213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246120"/>
            <a:ext cx="941832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25" tIns="625" rIns="625" bIns="625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2100"/>
              <a:buFont typeface="Arial"/>
              <a:buNone/>
            </a:pPr>
            <a:r>
              <a:rPr sz="2100" b="0" i="0" u="non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Now that your analysis has limits and meaning, the next step is organizing your research into a formal scientific report.</a:t>
            </a:r>
          </a:p>
        </p:txBody>
      </p:sp>
      <p:cxnSp>
        <p:nvCxnSpPr>
          <p:cNvPr id="572" name="Google Shape;558;p22"/>
          <p:cNvCxnSpPr/>
          <p:nvPr/>
        </p:nvCxnSpPr>
        <p:spPr>
          <a:xfrm xmlns:a="http://schemas.openxmlformats.org/drawingml/2006/main">
            <a:off x="2926080" y="4892040"/>
            <a:ext cx="6309360" cy="0"/>
          </a:xfrm>
          <a:prstGeom xmlns:a="http://schemas.openxmlformats.org/drawingml/2006/main" prst="straightConnector1">
            <a:avLst/>
          </a:prstGeom>
          <a:ln xmlns:a="http://schemas.openxmlformats.org/drawingml/2006/main" w="16500" cap="flat">
            <a:solidFill>
              <a:srgbClr val="A6A6A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59" name="Google Shape;559;p22">
            <a:extLst xmlns:a="http://schemas.openxmlformats.org/drawingml/2006/main">
              <a:ext uri="{FF2B5EF4-FFF2-40B4-BE49-F238E27FC236}">
                <a16:creationId xmlns:a16="http://schemas.microsoft.com/office/drawing/2014/main" id="{A4CF3F4A-CFAC-46BF-AA94-B4C54B0FA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5257800"/>
            <a:ext cx="92354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25" tIns="625" rIns="625" bIns="625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sz="18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Results  •  Discussion  •  Conclusion  •  Future Work</a:t>
            </a:r>
          </a:p>
        </p:txBody>
      </p:sp>
    </p:spTree>
    <p:extLst>
      <p:ext uri="{BB962C8B-B14F-4D97-AF65-F5344CB8AC3E}">
        <p14:creationId xmlns:p14="http://schemas.microsoft.com/office/powerpoint/2010/main" val="451818533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2026-07-16T15:42:07.2870000Z</dcterms:created>
  <dcterms:modified xsi:type="dcterms:W3CDTF">2026-07-16T15:42:07.2870000Z</dcterms:modified>
</coreProperties>
</file>