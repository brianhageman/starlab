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c6ef61f8794971" /><Relationship Type="http://schemas.openxmlformats.org/officeDocument/2006/relationships/extended-properties" Target="/docProps/app.xml" Id="R8bc95fa4c6784d92" /><Relationship Type="http://schemas.openxmlformats.org/officeDocument/2006/relationships/officeDocument" Target="/ppt/presentation.xml" Id="R7e09d28af989439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5bb5949d7a24791"/>
  </p:sldMasterIdLst>
  <p:notesMasterIdLst>
    <p:notesMasterId xmlns:r="http://schemas.openxmlformats.org/officeDocument/2006/relationships" r:id="R7eaa7ce5fdb74f95"/>
  </p:notesMasterIdLst>
  <p:sldIdLst>
    <p:sldId xmlns:r="http://schemas.openxmlformats.org/officeDocument/2006/relationships" id="256" r:id="Raf074e4865db49e3"/>
    <p:sldId xmlns:r="http://schemas.openxmlformats.org/officeDocument/2006/relationships" id="257" r:id="R8d567fa0be5a4c68"/>
    <p:sldId xmlns:r="http://schemas.openxmlformats.org/officeDocument/2006/relationships" id="258" r:id="R2e39d831b43b4e22"/>
    <p:sldId xmlns:r="http://schemas.openxmlformats.org/officeDocument/2006/relationships" id="259" r:id="Rdb496c4efed7459b"/>
    <p:sldId xmlns:r="http://schemas.openxmlformats.org/officeDocument/2006/relationships" id="260" r:id="R6268582b9a3b423a"/>
    <p:sldId xmlns:r="http://schemas.openxmlformats.org/officeDocument/2006/relationships" id="261" r:id="R7b114b701411470d"/>
    <p:sldId xmlns:r="http://schemas.openxmlformats.org/officeDocument/2006/relationships" id="262" r:id="R8ee234f91dcf43dc"/>
    <p:sldId xmlns:r="http://schemas.openxmlformats.org/officeDocument/2006/relationships" id="263" r:id="R16586cdb65b84ca5"/>
    <p:sldId xmlns:r="http://schemas.openxmlformats.org/officeDocument/2006/relationships" id="264" r:id="R4ccda3cd8b4e461f"/>
    <p:sldId xmlns:r="http://schemas.openxmlformats.org/officeDocument/2006/relationships" id="265" r:id="Ra35520b4a1154720"/>
    <p:sldId xmlns:r="http://schemas.openxmlformats.org/officeDocument/2006/relationships" id="266" r:id="R2e6ce3ee6f6049e5"/>
    <p:sldId xmlns:r="http://schemas.openxmlformats.org/officeDocument/2006/relationships" id="267" r:id="Ra433b3325d2d4ab7"/>
    <p:sldId xmlns:r="http://schemas.openxmlformats.org/officeDocument/2006/relationships" id="268" r:id="R86af1066e3ff40f9"/>
    <p:sldId xmlns:r="http://schemas.openxmlformats.org/officeDocument/2006/relationships" id="269" r:id="R03a93f1b9cba408c"/>
    <p:sldId xmlns:r="http://schemas.openxmlformats.org/officeDocument/2006/relationships" id="270" r:id="Rf8dbbafcd0af4162"/>
    <p:sldId xmlns:r="http://schemas.openxmlformats.org/officeDocument/2006/relationships" id="271" r:id="R4d14d1952d8f4902"/>
    <p:sldId xmlns:r="http://schemas.openxmlformats.org/officeDocument/2006/relationships" id="272" r:id="Rddc383e695bf43ac"/>
    <p:sldId xmlns:r="http://schemas.openxmlformats.org/officeDocument/2006/relationships" id="273" r:id="R6722cca3d9a84fce"/>
  </p:sldIdLst>
  <p:sldSz cx="12191675" cy="6858000"/>
  <p:notesSz cx="6858000" cy="9144000"/>
  <p:embeddedFontLst>
    <p:embeddedFont>
      <p:font typeface="Play"/>
      <p:regular xmlns:r="http://schemas.openxmlformats.org/officeDocument/2006/relationships" r:id="R492fb23c28ea46c1"/>
      <p:bold xmlns:r="http://schemas.openxmlformats.org/officeDocument/2006/relationships" r:id="Rc4085fb099cb40ea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60762cac24499b" /><Relationship Type="http://schemas.openxmlformats.org/officeDocument/2006/relationships/slideMaster" Target="/ppt/slideMasters/slideMaster1.xml" Id="Re5bb5949d7a24791" /><Relationship Type="http://schemas.openxmlformats.org/officeDocument/2006/relationships/notesMaster" Target="/ppt/notesMasters/notesMaster1.xml" Id="R7eaa7ce5fdb74f95" /><Relationship Type="http://schemas.openxmlformats.org/officeDocument/2006/relationships/presProps" Target="/ppt/presProps.xml" Id="R22562d3f74fc49db" /><Relationship Type="http://schemas.openxmlformats.org/officeDocument/2006/relationships/tableStyles" Target="/ppt/tableStyles.xml" Id="R97c1ba757a45472b" /><Relationship Type="http://schemas.openxmlformats.org/officeDocument/2006/relationships/font" Target="/ppt/fonts/font.dat" Id="R492fb23c28ea46c1" /><Relationship Type="http://schemas.openxmlformats.org/officeDocument/2006/relationships/font" Target="/ppt/fonts/font2.dat" Id="Rc4085fb099cb40ea" /><Relationship Type="http://schemas.openxmlformats.org/officeDocument/2006/relationships/slide" Target="/ppt/slides/slide1.xml" Id="Raf074e4865db49e3" /><Relationship Type="http://schemas.openxmlformats.org/officeDocument/2006/relationships/slide" Target="/ppt/slides/slide2.xml" Id="R8d567fa0be5a4c68" /><Relationship Type="http://schemas.openxmlformats.org/officeDocument/2006/relationships/slide" Target="/ppt/slides/slide3.xml" Id="R2e39d831b43b4e22" /><Relationship Type="http://schemas.openxmlformats.org/officeDocument/2006/relationships/slide" Target="/ppt/slides/slide4.xml" Id="Rdb496c4efed7459b" /><Relationship Type="http://schemas.openxmlformats.org/officeDocument/2006/relationships/slide" Target="/ppt/slides/slide5.xml" Id="R6268582b9a3b423a" /><Relationship Type="http://schemas.openxmlformats.org/officeDocument/2006/relationships/slide" Target="/ppt/slides/slide6.xml" Id="R7b114b701411470d" /><Relationship Type="http://schemas.openxmlformats.org/officeDocument/2006/relationships/slide" Target="/ppt/slides/slide7.xml" Id="R8ee234f91dcf43dc" /><Relationship Type="http://schemas.openxmlformats.org/officeDocument/2006/relationships/slide" Target="/ppt/slides/slide8.xml" Id="R16586cdb65b84ca5" /><Relationship Type="http://schemas.openxmlformats.org/officeDocument/2006/relationships/slide" Target="/ppt/slides/slide9.xml" Id="R4ccda3cd8b4e461f" /><Relationship Type="http://schemas.openxmlformats.org/officeDocument/2006/relationships/slide" Target="/ppt/slides/slide10.xml" Id="Ra35520b4a1154720" /><Relationship Type="http://schemas.openxmlformats.org/officeDocument/2006/relationships/slide" Target="/ppt/slides/slide11.xml" Id="R2e6ce3ee6f6049e5" /><Relationship Type="http://schemas.openxmlformats.org/officeDocument/2006/relationships/slide" Target="/ppt/slides/slide12.xml" Id="Ra433b3325d2d4ab7" /><Relationship Type="http://schemas.openxmlformats.org/officeDocument/2006/relationships/slide" Target="/ppt/slides/slide13.xml" Id="R86af1066e3ff40f9" /><Relationship Type="http://schemas.openxmlformats.org/officeDocument/2006/relationships/slide" Target="/ppt/slides/slide14.xml" Id="R03a93f1b9cba408c" /><Relationship Type="http://schemas.openxmlformats.org/officeDocument/2006/relationships/slide" Target="/ppt/slides/slide15.xml" Id="Rf8dbbafcd0af4162" /><Relationship Type="http://schemas.openxmlformats.org/officeDocument/2006/relationships/slide" Target="/ppt/slides/slide16.xml" Id="R4d14d1952d8f4902" /><Relationship Type="http://schemas.openxmlformats.org/officeDocument/2006/relationships/slide" Target="/ppt/slides/slide17.xml" Id="Rddc383e695bf43ac" /><Relationship Type="http://schemas.openxmlformats.org/officeDocument/2006/relationships/slide" Target="/ppt/slides/slide18.xml" Id="R6722cca3d9a84f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68dee8505640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a0f92b31354d84" /><Relationship Type="http://schemas.openxmlformats.org/officeDocument/2006/relationships/notesMaster" Target="/ppt/notesMasters/notesMaster1.xml" Id="R085f298e34e942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9778f4337549ec" /><Relationship Type="http://schemas.openxmlformats.org/officeDocument/2006/relationships/notesMaster" Target="/ppt/notesMasters/notesMaster1.xml" Id="Rf4b149f83e9a4e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29bbf4e02a4939" /><Relationship Type="http://schemas.openxmlformats.org/officeDocument/2006/relationships/notesMaster" Target="/ppt/notesMasters/notesMaster1.xml" Id="R621015e4a7024b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578678fa2343f5" /><Relationship Type="http://schemas.openxmlformats.org/officeDocument/2006/relationships/notesMaster" Target="/ppt/notesMasters/notesMaster1.xml" Id="R4a45d5f854664a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9b16a483254050" /><Relationship Type="http://schemas.openxmlformats.org/officeDocument/2006/relationships/notesMaster" Target="/ppt/notesMasters/notesMaster1.xml" Id="R39a8a25f509c42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2b752155d24ee5" /><Relationship Type="http://schemas.openxmlformats.org/officeDocument/2006/relationships/notesMaster" Target="/ppt/notesMasters/notesMaster1.xml" Id="R7b6da78462024f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3cdb618f964b83" /><Relationship Type="http://schemas.openxmlformats.org/officeDocument/2006/relationships/notesMaster" Target="/ppt/notesMasters/notesMaster1.xml" Id="Rd31dbe8f51484b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2f27f6fe0f49ae" /><Relationship Type="http://schemas.openxmlformats.org/officeDocument/2006/relationships/notesMaster" Target="/ppt/notesMasters/notesMaster1.xml" Id="R727ae418e30047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b2d78bef544d76" /><Relationship Type="http://schemas.openxmlformats.org/officeDocument/2006/relationships/notesMaster" Target="/ppt/notesMasters/notesMaster1.xml" Id="Rf4bf2e51a18a4c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6cdd79a68ce49a9" /><Relationship Type="http://schemas.openxmlformats.org/officeDocument/2006/relationships/notesMaster" Target="/ppt/notesMasters/notesMaster1.xml" Id="R5676fd7d28964e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29377b8036415a" /><Relationship Type="http://schemas.openxmlformats.org/officeDocument/2006/relationships/notesMaster" Target="/ppt/notesMasters/notesMaster1.xml" Id="R35f4d8a7a4e14a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bb065cd2ba45c6" /><Relationship Type="http://schemas.openxmlformats.org/officeDocument/2006/relationships/notesMaster" Target="/ppt/notesMasters/notesMaster1.xml" Id="R985df3c3e4cf46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920e90b55f4c8d" /><Relationship Type="http://schemas.openxmlformats.org/officeDocument/2006/relationships/notesMaster" Target="/ppt/notesMasters/notesMaster1.xml" Id="R27474a518dd24cc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071a1625e04255" /><Relationship Type="http://schemas.openxmlformats.org/officeDocument/2006/relationships/notesMaster" Target="/ppt/notesMasters/notesMaster1.xml" Id="R39f743f7448d44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038996d05e24589" /><Relationship Type="http://schemas.openxmlformats.org/officeDocument/2006/relationships/notesMaster" Target="/ppt/notesMasters/notesMaster1.xml" Id="R5dbec9cc54604a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bb28cc1f7c4673" /><Relationship Type="http://schemas.openxmlformats.org/officeDocument/2006/relationships/notesMaster" Target="/ppt/notesMasters/notesMaster1.xml" Id="Rb01e1be634f248f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ee930903b46428d" /><Relationship Type="http://schemas.openxmlformats.org/officeDocument/2006/relationships/notesMaster" Target="/ppt/notesMasters/notesMaster1.xml" Id="R4ad37cafb07a41d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9c39a470984c57" /><Relationship Type="http://schemas.openxmlformats.org/officeDocument/2006/relationships/notesMaster" Target="/ppt/notesMasters/notesMaster1.xml" Id="Rb1fe6a4d3c334f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PRIMARY TEACHING MOMENT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1, Week 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REVISIT / SECONDARY USE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2, Week 3 during project refinement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2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Shared weekly packet with Deck 2: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1 Student Handouts 5-8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1 Appendices D-H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OPTIONAL / TEACHER REFERENCE FOR WEEK 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1 Appendix I: Optional Project Card Sorting Activity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3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Shared weekly packet with Deck 5: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2 Student Handouts 1-5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2 Appendices A-D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RESOURCE ALIGNMENT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this deck first as the Week 2 experimental-design foundation, then revisit its variables, controls, criteria, and constraints language during Week 3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not a memorization lesson. It is a vocabulary and thinking framework students will reuse all year. The quick write helps you surface prior understanding before adding STARLAB-specific language.</a:t>
            </a:r>
            <a:br/>
            <a:br/>
            <a:r>
              <a:t>Resource alignment:</a:t>
            </a:r>
            <a:br/>
            <a:r>
              <a:t>Primary alignment: Unit 1 Student Handout 5: Experimental Design Practice.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Hybrid projects are common. The key is for students to know what kind of evidence will count as success. Prompt students: Are you primarily trying to explain a relationship, or evaluate a design?</a:t>
            </a:r>
            <a:br/>
            <a:br/>
            <a:r>
              <a:t>Resource alignment:</a:t>
            </a:r>
            <a:br/>
            <a:r>
              <a:t>Primary alignment: Unit 1 Appendix G: Engineering Design Problem Guide and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confuse the variable they change with the thing they measure. Keep asking: “What do you control?” and “What do you measure?”</a:t>
            </a:r>
            <a:br/>
            <a:br/>
            <a:r>
              <a:t>Resource alignment:</a:t>
            </a:r>
            <a:br/>
            <a:r>
              <a:t>Primary alignment: Unit 1 Appendix D: Experimental Design Vocabulary and Unit 2 Student Handout 4, experimental science project section.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a deliberately simple example so the structure is obvious. The goal is transfer to student projects. Ask: What would make this test unfair? What would make the evidence stronger?</a:t>
            </a:r>
            <a:br/>
            <a:br/>
            <a:r>
              <a:t>Resource alignment:</a:t>
            </a:r>
            <a:br/>
            <a:r>
              <a:t>Primary alignment: Unit 1 Student Handout 5: Experimental Design Practice and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In high school contexts, controlled variables and constants are often used interchangeably. Focus on the reasoning: what must stay the same for the comparison to mean anything?</a:t>
            </a:r>
            <a:br/>
            <a:br/>
            <a:r>
              <a:t>Resource alignment:</a:t>
            </a:r>
            <a:br/>
            <a:r>
              <a:t>Primary alignment: Unit 1 Appendix D: Experimental Design Vocabulary.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Avoid universal rules like “always do three trials.” Three is often a minimum, not a magic number. The purpose is reliability and comparison.</a:t>
            </a:r>
            <a:br/>
            <a:br/>
            <a:r>
              <a:t>Resource alignment:</a:t>
            </a:r>
            <a:br/>
            <a:r>
              <a:t>Primary alignment: Unit 1 Student Handout 5: Experimental Design Practice. Supporting alignment: Unit 2 Student Handout 5: Evidence Planning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as the verbal checklist students should apply every time they pitch an experimental project. If students cannot answer these questions, the project is not ready for Unit 2 planning.</a:t>
            </a:r>
            <a:br/>
            <a:br/>
            <a:r>
              <a:t>Resource alignment:</a:t>
            </a:r>
            <a:br/>
            <a:r>
              <a:t>Primary alignment: Unit 1 Student Handout 5: Experimental Design Practice.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Strong engineering projects are not “I built a thing.” They test how well a design solves a defined problem under constraints.</a:t>
            </a:r>
            <a:br/>
            <a:br/>
            <a:r>
              <a:t>Resource alignment:</a:t>
            </a:r>
            <a:br/>
            <a:r>
              <a:t>Primary alignment: Unit 1 Appendix G: Engineering Design Problem Guide. Supporting alignment: Unit 2 Student Handout 3: Hypothesis and Design Criteria Builder.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The arrow back to redesign is the heart of engineering. Students should not treat the first prototype as the final product.</a:t>
            </a:r>
            <a:br/>
            <a:br/>
            <a:r>
              <a:t>Resource alignment:</a:t>
            </a:r>
            <a:br/>
            <a:r>
              <a:t>Primary alignment: Unit 1 Appendix G: Engineering Design Problem Guide and Unit 2 Student Handout 3: Hypothesis and Design Criteria Builder.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is crucial for engineering projects. “Best” can mean strongest, lightest, cheapest, fastest, most accurate, most durable, or safest.</a:t>
            </a:r>
            <a:br/>
            <a:br/>
            <a:r>
              <a:t>Resource alignment:</a:t>
            </a:r>
            <a:br/>
            <a:r>
              <a:t>Primary alignment: Unit 1 Appendix G: Engineering Design Problem Guide. Supporting alignment: Unit 2 Student Handout 5: Evidence Planning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blend frames. That is okay if they can say what the main claim will be: relationship or optimized design.</a:t>
            </a:r>
            <a:br/>
            <a:br/>
            <a:r>
              <a:t>Resource alignment:</a:t>
            </a:r>
            <a:br/>
            <a:r>
              <a:t>Primary alignment: Unit 1 Appendix G: Engineering Design Problem Guide and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as a quick verbal review. Ask students to point to one term pair they still confuse.</a:t>
            </a:r>
            <a:br/>
            <a:br/>
            <a:r>
              <a:t>Resource alignment:</a:t>
            </a:r>
            <a:br/>
            <a:r>
              <a:t>Primary alignment: Unit 1 Appendix D: Experimental Design Vocabulary.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the project cards from Unit 1 Appendix I or make local cards based on likely student interests. Require students to justify categories using evidence, not just labels.</a:t>
            </a:r>
            <a:br/>
            <a:br/>
            <a:r>
              <a:t>Resource alignment:</a:t>
            </a:r>
            <a:br/>
            <a:r>
              <a:t>Primary alignment: Unit 1 Appendix I: Optional Project Card Sorting Activity. Supporting alignment: Unit 1 Appendix D and Unit 1 Appendix 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case connects directly to maker and 3D printing projects. Emphasize performance per gram to avoid “heavier is stronger” being the only story.</a:t>
            </a:r>
            <a:br/>
            <a:br/>
            <a:r>
              <a:t>Resource alignment:</a:t>
            </a:r>
            <a:br/>
            <a:r>
              <a:t>Primary alignment: Unit 1 Appendix G: Engineering Design Problem Guide. Supporting alignment: Unit 2 Student Handout 5: Evidence Planning Tool.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the most important student-facing activity in the deck. Students are preparing for Unit 2 planning. If students cannot fill this in, they likely need to narrow or reframe the project idea.</a:t>
            </a:r>
            <a:br/>
            <a:br/>
            <a:r>
              <a:t>Resource alignment:</a:t>
            </a:r>
            <a:br/>
            <a:r>
              <a:t>Primary alignment: Unit 2 Student Handout 5: Evidence Planning Tool. Supporting alignment: Unit 2 Student Handout 4: Variables, Controls, Criteria, and Constraints Organizer.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slide as the bridge into Unit 2. The result of today should be a project idea that can be planned, not launched immediately.</a:t>
            </a:r>
            <a:br/>
            <a:br/>
            <a:r>
              <a:t>Resource alignment:</a:t>
            </a:r>
            <a:br/>
            <a:r>
              <a:t>Primary alignment: Unit 2 Student Handout 5: Evidence Planning Tool and Unit 2 Student Handout 4: Variables, Controls, Criteria, and Constraints Organizer. Next deck connection: Deck 5: Building a Formal Research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Collect these or use them to group students for Unit 2 project planning conferences. The exit ticket is also a quick diagnostic: students who cannot answer line 3 need intervention before moving into formal planning.</a:t>
            </a:r>
            <a:br/>
            <a:br/>
            <a:r>
              <a:t>Resource alignment:</a:t>
            </a:r>
            <a:br/>
            <a:r>
              <a:t>Primary alignment: Unit 2 Student Handout 5: Evidence Planning Tool. Supporting alignment: Unit 2 Student Handout 4: Variables, Controls, Criteria, and Constraints Organizer. Next deck connection: Deck 5: Building a Formal Research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f9f137cb4b43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af53cca5cf43e9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STARLAB_BLACK">
  <p:cSld name="STARLAB_BLACK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Google Shape;12;p3"/>
          <p:cNvCxnSpPr/>
          <p:nvPr/>
        </p:nvCxnSpPr>
        <p:spPr>
          <a:xfrm xmlns:a="http://schemas.openxmlformats.org/drawingml/2006/main">
            <a:off x="0" y="292608"/>
            <a:ext cx="12191695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rgbClr val="ED1C2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" name="Google Shape;13;p3"/>
          <p:cNvCxnSpPr/>
          <p:nvPr/>
        </p:nvCxnSpPr>
        <p:spPr>
          <a:xfrm xmlns:a="http://schemas.openxmlformats.org/drawingml/2006/main">
            <a:off x="0" y="6547104"/>
            <a:ext cx="12191695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rgbClr val="ED1C2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Google Shape;14;p3"/>
          <p:cNvCxnSpPr/>
          <p:nvPr/>
        </p:nvCxnSpPr>
        <p:spPr>
          <a:xfrm xmlns:a="http://schemas.openxmlformats.org/drawingml/2006/main">
            <a:off x="320040" y="6336792"/>
            <a:ext cx="24688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5;p3"/>
          <p:cNvCxnSpPr/>
          <p:nvPr/>
        </p:nvCxnSpPr>
        <p:spPr>
          <a:xfrm xmlns:a="http://schemas.openxmlformats.org/drawingml/2006/main">
            <a:off x="9738360" y="6336792"/>
            <a:ext cx="2130552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b926e38a9e4667" /><Relationship Type="http://schemas.openxmlformats.org/officeDocument/2006/relationships/slideLayout" Target="/ppt/slideLayouts/slideLayout1.xml" Id="Raa07d3bef1d843bb" /><Relationship Type="http://schemas.openxmlformats.org/officeDocument/2006/relationships/slideLayout" Target="/ppt/slideLayouts/slideLayout2.xml" Id="Rf1db0fc98bc2425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07d3bef1d843bb"/>
    <p:sldLayoutId xmlns:r="http://schemas.openxmlformats.org/officeDocument/2006/relationships" id="2147483650" r:id="Rf1db0fc98bc2425f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620b00e7f4a8b" /><Relationship Type="http://schemas.openxmlformats.org/officeDocument/2006/relationships/image" Target="/ppt/media/image.png" Id="R19092b28f0904dd3" /><Relationship Type="http://schemas.openxmlformats.org/officeDocument/2006/relationships/notesSlide" Target="/ppt/notesSlides/notesSlide1.xml" Id="R7e56171b2f8241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e95a327224663" /><Relationship Type="http://schemas.openxmlformats.org/officeDocument/2006/relationships/notesSlide" Target="/ppt/notesSlides/notesSlide2.xml" Id="Rd24976f52a254f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84fd3490d4bac" /><Relationship Type="http://schemas.openxmlformats.org/officeDocument/2006/relationships/notesSlide" Target="/ppt/notesSlides/notesSlide3.xml" Id="R7dacc2f0b6c14c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f8a97c28e435f" /><Relationship Type="http://schemas.openxmlformats.org/officeDocument/2006/relationships/notesSlide" Target="/ppt/notesSlides/notesSlide4.xml" Id="R30a6eb7ff3a24f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e3b847bb14a40" /><Relationship Type="http://schemas.openxmlformats.org/officeDocument/2006/relationships/notesSlide" Target="/ppt/notesSlides/notesSlide5.xml" Id="Re56a9bdf0fd0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96e65b47147cc" /><Relationship Type="http://schemas.openxmlformats.org/officeDocument/2006/relationships/notesSlide" Target="/ppt/notesSlides/notesSlide6.xml" Id="R3c4f83891eb54d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6ddefd5a844dd" /><Relationship Type="http://schemas.openxmlformats.org/officeDocument/2006/relationships/notesSlide" Target="/ppt/notesSlides/notesSlide7.xml" Id="R5acaf4be57814b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641c4a9f341e2" /><Relationship Type="http://schemas.openxmlformats.org/officeDocument/2006/relationships/notesSlide" Target="/ppt/notesSlides/notesSlide8.xml" Id="Rd28395ab1f034b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cfa6c8f8a4d91" /><Relationship Type="http://schemas.openxmlformats.org/officeDocument/2006/relationships/notesSlide" Target="/ppt/notesSlides/notesSlide9.xml" Id="R59e89317ae8e4f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79a8282f14027" /><Relationship Type="http://schemas.openxmlformats.org/officeDocument/2006/relationships/notesSlide" Target="/ppt/notesSlides/notesSlide10.xml" Id="R7e9039976dff4e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ecb18293d469f" /><Relationship Type="http://schemas.openxmlformats.org/officeDocument/2006/relationships/notesSlide" Target="/ppt/notesSlides/notesSlide11.xml" Id="R790792e2648e40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ead3c0ca24cca" /><Relationship Type="http://schemas.openxmlformats.org/officeDocument/2006/relationships/notesSlide" Target="/ppt/notesSlides/notesSlide12.xml" Id="Rfb4fdcdafaf44e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32f3356ae401d" /><Relationship Type="http://schemas.openxmlformats.org/officeDocument/2006/relationships/notesSlide" Target="/ppt/notesSlides/notesSlide13.xml" Id="Raaac26d1592f4db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43e589d2c4fba" /><Relationship Type="http://schemas.openxmlformats.org/officeDocument/2006/relationships/notesSlide" Target="/ppt/notesSlides/notesSlide14.xml" Id="Red77228a1bd54ab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103f2f7b14347" /><Relationship Type="http://schemas.openxmlformats.org/officeDocument/2006/relationships/notesSlide" Target="/ppt/notesSlides/notesSlide15.xml" Id="Rfbc9bbd3978d4b1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f9beea154431a" /><Relationship Type="http://schemas.openxmlformats.org/officeDocument/2006/relationships/notesSlide" Target="/ppt/notesSlides/notesSlide16.xml" Id="R736b1b1b13954f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278dcdc4a48a9" /><Relationship Type="http://schemas.openxmlformats.org/officeDocument/2006/relationships/notesSlide" Target="/ppt/notesSlides/notesSlide17.xml" Id="R167342ced89a44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a7d3d35d74ae7" /><Relationship Type="http://schemas.openxmlformats.org/officeDocument/2006/relationships/notesSlide" Target="/ppt/notesSlides/notesSlide18.xml" Id="Rf91d4ec1cb1442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4">
            <a:extLst xmlns:a="http://schemas.openxmlformats.org/drawingml/2006/main">
              <a:ext uri="{FF2B5EF4-FFF2-40B4-BE49-F238E27FC236}">
                <a16:creationId xmlns:a16="http://schemas.microsoft.com/office/drawing/2014/main" id="{129FC20D-C9E8-4940-84BE-1F6B7452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F956107C-86F8-437F-BB2A-D3836038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0" name="Google Shape;23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092b28f0904dd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536192" y="530352"/>
            <a:ext cx="9098280" cy="43159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0BF67693-0E0D-4C44-BB45-6F466BA9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001768"/>
            <a:ext cx="106984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0150" cmpd="sng">
            <a:solidFill>
              <a:srgbClr val="9A9A9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1CDD6D51-33C2-41AD-B035-8F31AF44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093208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75" tIns="375" rIns="375" bIns="375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600"/>
              <a:buFont typeface="Play"/>
              <a:buNone/>
            </a:pPr>
            <a:r>
              <a:rPr sz="26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EXPERIMENTAL DESIGN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600"/>
              <a:buFont typeface="Play"/>
              <a:buNone/>
            </a:pPr>
            <a:r>
              <a:rPr sz="26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&amp; ENGINEERING DESIGN</a:t>
            </a:r>
          </a:p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A5957336-1F10-40AB-8411-66198DD9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980176"/>
            <a:ext cx="57607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 Deck 04  •  Unit 1–2 Core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762210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4EC0EDD4-BF5A-4B30-8AD1-02FD6108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545C0A23-C8EA-4833-8196-9291D58C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2B0A2D75-27F8-4BF2-A600-FED59F1A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FOUNDATIONS</a:t>
            </a:r>
          </a:p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E7C7015A-1CE2-408D-B5BF-0E34005F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64" name="Google Shape;36;p5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5" name="Google Shape;37;p5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A3E941C4-D544-45AD-825D-05B384EC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Today’s Targets</a:t>
            </a:r>
          </a:p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2C3560D9-32D3-4187-A862-1F8375E4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" name="Google Shape;40;p5">
            <a:extLst xmlns:a="http://schemas.openxmlformats.org/drawingml/2006/main">
              <a:ext uri="{FF2B5EF4-FFF2-40B4-BE49-F238E27FC236}">
                <a16:creationId xmlns:a16="http://schemas.microsoft.com/office/drawing/2014/main" id="{371DC424-8F95-4026-8A68-43890D0E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should leave with language for both science and engineering projects.</a:t>
            </a:r>
          </a:p>
        </p:txBody>
      </p:sp>
      <p:sp>
        <p:nvSpPr>
          <p:cNvPr id="41" name="Google Shape;41;p5">
            <a:extLst xmlns:a="http://schemas.openxmlformats.org/drawingml/2006/main">
              <a:ext uri="{FF2B5EF4-FFF2-40B4-BE49-F238E27FC236}">
                <a16:creationId xmlns:a16="http://schemas.microsoft.com/office/drawing/2014/main" id="{7E642DBC-4979-41FC-8813-A1275DDB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00200"/>
            <a:ext cx="324612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" name="Google Shape;42;p5">
            <a:extLst xmlns:a="http://schemas.openxmlformats.org/drawingml/2006/main">
              <a:ext uri="{FF2B5EF4-FFF2-40B4-BE49-F238E27FC236}">
                <a16:creationId xmlns:a16="http://schemas.microsoft.com/office/drawing/2014/main" id="{5E6E1FD2-38C4-4C33-A6D4-80536415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5">
            <a:extLst xmlns:a="http://schemas.openxmlformats.org/drawingml/2006/main">
              <a:ext uri="{FF2B5EF4-FFF2-40B4-BE49-F238E27FC236}">
                <a16:creationId xmlns:a16="http://schemas.microsoft.com/office/drawing/2014/main" id="{288B0E9B-06FF-44CB-9427-C1583417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1907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1. Name the pathway</a:t>
            </a:r>
          </a:p>
        </p:txBody>
      </p:sp>
      <p:sp>
        <p:nvSpPr>
          <p:cNvPr id="44" name="Google Shape;44;p5">
            <a:extLst xmlns:a="http://schemas.openxmlformats.org/drawingml/2006/main">
              <a:ext uri="{FF2B5EF4-FFF2-40B4-BE49-F238E27FC236}">
                <a16:creationId xmlns:a16="http://schemas.microsoft.com/office/drawing/2014/main" id="{A0D06B02-170D-4FAD-81EE-DB521BD8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75688"/>
            <a:ext cx="297180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Decide whether a project is best framed as an experiment, an engineering design, a data analysis project, or another research pathway.</a:t>
            </a:r>
          </a:p>
        </p:txBody>
      </p:sp>
      <p:sp>
        <p:nvSpPr>
          <p:cNvPr id="45" name="Google Shape;45;p5">
            <a:extLst xmlns:a="http://schemas.openxmlformats.org/drawingml/2006/main">
              <a:ext uri="{FF2B5EF4-FFF2-40B4-BE49-F238E27FC236}">
                <a16:creationId xmlns:a16="http://schemas.microsoft.com/office/drawing/2014/main" id="{402EE8DA-19D7-4CEF-BA65-E1BC628D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1600200"/>
            <a:ext cx="324612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" name="Google Shape;46;p5">
            <a:extLst xmlns:a="http://schemas.openxmlformats.org/drawingml/2006/main">
              <a:ext uri="{FF2B5EF4-FFF2-40B4-BE49-F238E27FC236}">
                <a16:creationId xmlns:a16="http://schemas.microsoft.com/office/drawing/2014/main" id="{EA676A89-F0D9-4EC7-B6FA-EDA6EBB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" name="Google Shape;47;p5">
            <a:extLst xmlns:a="http://schemas.openxmlformats.org/drawingml/2006/main">
              <a:ext uri="{FF2B5EF4-FFF2-40B4-BE49-F238E27FC236}">
                <a16:creationId xmlns:a16="http://schemas.microsoft.com/office/drawing/2014/main" id="{3735C8C7-46A4-4F3A-827A-BED6902E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71907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2. Identify the evidence</a:t>
            </a:r>
          </a:p>
        </p:txBody>
      </p:sp>
      <p:sp>
        <p:nvSpPr>
          <p:cNvPr id="48" name="Google Shape;48;p5">
            <a:extLst xmlns:a="http://schemas.openxmlformats.org/drawingml/2006/main">
              <a:ext uri="{FF2B5EF4-FFF2-40B4-BE49-F238E27FC236}">
                <a16:creationId xmlns:a16="http://schemas.microsoft.com/office/drawing/2014/main" id="{2821AC14-6634-45A8-9D75-6D159C73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075688"/>
            <a:ext cx="297180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Define what will be changed, measured, compared, tested, or optimized.</a:t>
            </a:r>
          </a:p>
        </p:txBody>
      </p:sp>
      <p:sp>
        <p:nvSpPr>
          <p:cNvPr id="49" name="Google Shape;49;p5">
            <a:extLst xmlns:a="http://schemas.openxmlformats.org/drawingml/2006/main">
              <a:ext uri="{FF2B5EF4-FFF2-40B4-BE49-F238E27FC236}">
                <a16:creationId xmlns:a16="http://schemas.microsoft.com/office/drawing/2014/main" id="{130A2E4C-36C1-447B-9DDC-DFEE9CF5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600200"/>
            <a:ext cx="324612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" name="Google Shape;50;p5">
            <a:extLst xmlns:a="http://schemas.openxmlformats.org/drawingml/2006/main">
              <a:ext uri="{FF2B5EF4-FFF2-40B4-BE49-F238E27FC236}">
                <a16:creationId xmlns:a16="http://schemas.microsoft.com/office/drawing/2014/main" id="{F85949B3-0CAA-4F7E-9D6E-F8C26651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" name="Google Shape;51;p5">
            <a:extLst xmlns:a="http://schemas.openxmlformats.org/drawingml/2006/main">
              <a:ext uri="{FF2B5EF4-FFF2-40B4-BE49-F238E27FC236}">
                <a16:creationId xmlns:a16="http://schemas.microsoft.com/office/drawing/2014/main" id="{BDF7DB51-63AE-448A-B8EF-4128AEDF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71907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3. Build a fair test</a:t>
            </a:r>
          </a:p>
        </p:txBody>
      </p:sp>
      <p:sp>
        <p:nvSpPr>
          <p:cNvPr id="52" name="Google Shape;52;p5">
            <a:extLst xmlns:a="http://schemas.openxmlformats.org/drawingml/2006/main">
              <a:ext uri="{FF2B5EF4-FFF2-40B4-BE49-F238E27FC236}">
                <a16:creationId xmlns:a16="http://schemas.microsoft.com/office/drawing/2014/main" id="{ACFBDBD7-01D5-4356-B7B9-AF7B9894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075688"/>
            <a:ext cx="297180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Use variables, controls, criteria, constraints, trials, and performance metrics correctly.</a:t>
            </a:r>
          </a:p>
        </p:txBody>
      </p:sp>
      <p:sp>
        <p:nvSpPr>
          <p:cNvPr id="53" name="Google Shape;53;p5">
            <a:extLst xmlns:a="http://schemas.openxmlformats.org/drawingml/2006/main">
              <a:ext uri="{FF2B5EF4-FFF2-40B4-BE49-F238E27FC236}">
                <a16:creationId xmlns:a16="http://schemas.microsoft.com/office/drawing/2014/main" id="{42F291D3-C195-485D-8F62-6B8C788F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25DD3E7D-E64A-44B5-8401-09B2E39A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753A6ACF-8B65-492E-9789-8BF18C5D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6C7DDDA5-9AEB-43BA-A7A4-11619DE0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Quick write: What makes a test fair?</a:t>
            </a: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C0AB40D5-5ADF-4604-B7BF-A0B07E2C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773168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2 minutes</a:t>
            </a: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9C5C3A88-8D1C-49D7-88FA-CD1130FF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Students write for 2 minutes, then pair-share. Collect 3–4 answers and save them for the Fair Test Test slide.</a:t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E0817B1A-9C77-4120-9690-6CD33920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380129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Google Shape;65;p6">
            <a:extLst xmlns:a="http://schemas.openxmlformats.org/drawingml/2006/main">
              <a:ext uri="{FF2B5EF4-FFF2-40B4-BE49-F238E27FC236}">
                <a16:creationId xmlns:a16="http://schemas.microsoft.com/office/drawing/2014/main" id="{398C1D91-5381-41B6-82DF-0C1D8B40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6" name="Google Shape;66;p6">
            <a:extLst xmlns:a="http://schemas.openxmlformats.org/drawingml/2006/main">
              <a:ext uri="{FF2B5EF4-FFF2-40B4-BE49-F238E27FC236}">
                <a16:creationId xmlns:a16="http://schemas.microsoft.com/office/drawing/2014/main" id="{77C1E407-D781-47E4-8342-142D4C09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03761937-830C-4F81-B819-B7A1E744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FOUNDATIONS</a:t>
            </a: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C8DDEA07-7DB5-49E9-B91B-8AEEA896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118" name="Google Shape;69;p6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9" name="Google Shape;70;p6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EB9FD888-2755-46B0-9687-46754EDE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Two Strong STARLAB Pathways</a:t>
            </a: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4E16FF9D-A5A6-4060-8864-0054572D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FAAE3618-D00E-4B71-871F-B418D39E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 project can investigate a question or solve a design problem.</a:t>
            </a: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E01B161F-3A6F-42C8-AC12-CB42FB4F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00200"/>
            <a:ext cx="39319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Experimental Science</a:t>
            </a:r>
          </a:p>
        </p:txBody>
      </p:sp>
      <p:sp>
        <p:nvSpPr>
          <p:cNvPr id="75" name="Google Shape;75;p6">
            <a:extLst xmlns:a="http://schemas.openxmlformats.org/drawingml/2006/main">
              <a:ext uri="{FF2B5EF4-FFF2-40B4-BE49-F238E27FC236}">
                <a16:creationId xmlns:a16="http://schemas.microsoft.com/office/drawing/2014/main" id="{C68B1200-E534-4231-BF4C-DDE24220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600200"/>
            <a:ext cx="39319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C35C0D52-14EB-432C-A581-DBEDA599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8" y="2103125"/>
            <a:ext cx="10515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C8747837-7B83-4A5F-8294-2BDECE6E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03120"/>
            <a:ext cx="54864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6F3922BB-1AC0-4E8E-962F-EB116986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0" y="2222000"/>
            <a:ext cx="8229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Question</a:t>
            </a: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AEED8D75-2457-4275-88B2-9FFFAFFC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0355" y="2103125"/>
            <a:ext cx="12822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CEF6A378-396C-437A-9E90-8CD7FE2F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923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0375C28D-0CE3-412E-9B1C-DD62468F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5776" y="2222000"/>
            <a:ext cx="10515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Hypothesis</a:t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2AE2251B-2ECB-42AD-9719-31C7E67F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65" y="2103120"/>
            <a:ext cx="877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53C1BA9D-B8CF-4F49-B853-68013949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65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10C61315-9094-4463-B9F3-A11993D2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413" y="2221992"/>
            <a:ext cx="6036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Fair test</a:t>
            </a:r>
          </a:p>
        </p:txBody>
      </p:sp>
      <p:sp>
        <p:nvSpPr>
          <p:cNvPr id="85" name="Google Shape;85;p6">
            <a:extLst xmlns:a="http://schemas.openxmlformats.org/drawingml/2006/main">
              <a:ext uri="{FF2B5EF4-FFF2-40B4-BE49-F238E27FC236}">
                <a16:creationId xmlns:a16="http://schemas.microsoft.com/office/drawing/2014/main" id="{513CFC1B-8E4A-4636-A375-207764D8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126" y="2103120"/>
            <a:ext cx="877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6" name="Google Shape;86;p6">
            <a:extLst xmlns:a="http://schemas.openxmlformats.org/drawingml/2006/main">
              <a:ext uri="{FF2B5EF4-FFF2-40B4-BE49-F238E27FC236}">
                <a16:creationId xmlns:a16="http://schemas.microsoft.com/office/drawing/2014/main" id="{CE7B3D4B-0529-46E9-B5C3-F6F394D3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126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7" name="Google Shape;87;p6">
            <a:extLst xmlns:a="http://schemas.openxmlformats.org/drawingml/2006/main">
              <a:ext uri="{FF2B5EF4-FFF2-40B4-BE49-F238E27FC236}">
                <a16:creationId xmlns:a16="http://schemas.microsoft.com/office/drawing/2014/main" id="{51DEABAE-0332-4432-9731-7D86E760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4574" y="2221992"/>
            <a:ext cx="6036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Data</a:t>
            </a:r>
          </a:p>
        </p:txBody>
      </p:sp>
      <p:sp>
        <p:nvSpPr>
          <p:cNvPr id="88" name="Google Shape;88;p6">
            <a:extLst xmlns:a="http://schemas.openxmlformats.org/drawingml/2006/main">
              <a:ext uri="{FF2B5EF4-FFF2-40B4-BE49-F238E27FC236}">
                <a16:creationId xmlns:a16="http://schemas.microsoft.com/office/drawing/2014/main" id="{A2034F5E-DE78-4FAD-9515-560DA6B6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444" y="2103125"/>
            <a:ext cx="1204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9" name="Google Shape;89;p6">
            <a:extLst xmlns:a="http://schemas.openxmlformats.org/drawingml/2006/main">
              <a:ext uri="{FF2B5EF4-FFF2-40B4-BE49-F238E27FC236}">
                <a16:creationId xmlns:a16="http://schemas.microsoft.com/office/drawing/2014/main" id="{B0F30F0D-4A42-4752-A662-4068E11F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872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0" name="Google Shape;90;p6">
            <a:extLst xmlns:a="http://schemas.openxmlformats.org/drawingml/2006/main">
              <a:ext uri="{FF2B5EF4-FFF2-40B4-BE49-F238E27FC236}">
                <a16:creationId xmlns:a16="http://schemas.microsoft.com/office/drawing/2014/main" id="{721007AC-4E3B-45E4-A75D-0C7C856E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314" y="2222000"/>
            <a:ext cx="10515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Conclusion</a:t>
            </a:r>
          </a:p>
        </p:txBody>
      </p:sp>
      <p:sp>
        <p:nvSpPr>
          <p:cNvPr id="91" name="Google Shape;91;p6">
            <a:extLst xmlns:a="http://schemas.openxmlformats.org/drawingml/2006/main">
              <a:ext uri="{FF2B5EF4-FFF2-40B4-BE49-F238E27FC236}">
                <a16:creationId xmlns:a16="http://schemas.microsoft.com/office/drawing/2014/main" id="{2E65C949-7404-40E7-BECD-80A3812B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784" y="2103125"/>
            <a:ext cx="10515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6">
            <a:extLst xmlns:a="http://schemas.openxmlformats.org/drawingml/2006/main">
              <a:ext uri="{FF2B5EF4-FFF2-40B4-BE49-F238E27FC236}">
                <a16:creationId xmlns:a16="http://schemas.microsoft.com/office/drawing/2014/main" id="{EABFAB28-E3AA-4E43-9479-A855C4E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5884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6">
            <a:extLst xmlns:a="http://schemas.openxmlformats.org/drawingml/2006/main">
              <a:ext uri="{FF2B5EF4-FFF2-40B4-BE49-F238E27FC236}">
                <a16:creationId xmlns:a16="http://schemas.microsoft.com/office/drawing/2014/main" id="{871BDBF5-E690-4533-ACD9-D354D585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521" y="2222000"/>
            <a:ext cx="8229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</a:t>
            </a:r>
          </a:p>
        </p:txBody>
      </p:sp>
      <p:sp>
        <p:nvSpPr>
          <p:cNvPr id="94" name="Google Shape;94;p6">
            <a:extLst xmlns:a="http://schemas.openxmlformats.org/drawingml/2006/main">
              <a:ext uri="{FF2B5EF4-FFF2-40B4-BE49-F238E27FC236}">
                <a16:creationId xmlns:a16="http://schemas.microsoft.com/office/drawing/2014/main" id="{E94385E6-2985-45EB-8F6F-7C212A5C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861" y="2103125"/>
            <a:ext cx="9783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5" name="Google Shape;95;p6">
            <a:extLst xmlns:a="http://schemas.openxmlformats.org/drawingml/2006/main">
              <a:ext uri="{FF2B5EF4-FFF2-40B4-BE49-F238E27FC236}">
                <a16:creationId xmlns:a16="http://schemas.microsoft.com/office/drawing/2014/main" id="{62D4282C-4EEB-44EE-A947-2CFE1C36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870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6" name="Google Shape;96;p6">
            <a:extLst xmlns:a="http://schemas.openxmlformats.org/drawingml/2006/main">
              <a:ext uri="{FF2B5EF4-FFF2-40B4-BE49-F238E27FC236}">
                <a16:creationId xmlns:a16="http://schemas.microsoft.com/office/drawing/2014/main" id="{B7ACFC98-3FE8-48C5-8A35-F0AB3E7D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8311" y="2222000"/>
            <a:ext cx="7224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sp>
        <p:nvSpPr>
          <p:cNvPr id="97" name="Google Shape;97;p6">
            <a:extLst xmlns:a="http://schemas.openxmlformats.org/drawingml/2006/main">
              <a:ext uri="{FF2B5EF4-FFF2-40B4-BE49-F238E27FC236}">
                <a16:creationId xmlns:a16="http://schemas.microsoft.com/office/drawing/2014/main" id="{DA8EE746-9354-4E7E-99CF-A37434D2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368" y="2103125"/>
            <a:ext cx="1204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8" name="Google Shape;98;p6">
            <a:extLst xmlns:a="http://schemas.openxmlformats.org/drawingml/2006/main">
              <a:ext uri="{FF2B5EF4-FFF2-40B4-BE49-F238E27FC236}">
                <a16:creationId xmlns:a16="http://schemas.microsoft.com/office/drawing/2014/main" id="{778A3F97-5285-4D45-84BC-FCA55A43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8355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9" name="Google Shape;99;p6">
            <a:extLst xmlns:a="http://schemas.openxmlformats.org/drawingml/2006/main">
              <a:ext uri="{FF2B5EF4-FFF2-40B4-BE49-F238E27FC236}">
                <a16:creationId xmlns:a16="http://schemas.microsoft.com/office/drawing/2014/main" id="{F9D68A4A-F480-42B5-8347-490D8F58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3814" y="2222000"/>
            <a:ext cx="9783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Prototype</a:t>
            </a:r>
          </a:p>
        </p:txBody>
      </p:sp>
      <p:sp>
        <p:nvSpPr>
          <p:cNvPr id="100" name="Google Shape;100;p6">
            <a:extLst xmlns:a="http://schemas.openxmlformats.org/drawingml/2006/main">
              <a:ext uri="{FF2B5EF4-FFF2-40B4-BE49-F238E27FC236}">
                <a16:creationId xmlns:a16="http://schemas.microsoft.com/office/drawing/2014/main" id="{2FEF8F4B-13B5-408A-87F1-4972B4D7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735" y="2103120"/>
            <a:ext cx="8778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1" name="Google Shape;101;p6">
            <a:extLst xmlns:a="http://schemas.openxmlformats.org/drawingml/2006/main">
              <a:ext uri="{FF2B5EF4-FFF2-40B4-BE49-F238E27FC236}">
                <a16:creationId xmlns:a16="http://schemas.microsoft.com/office/drawing/2014/main" id="{02CDE691-52F4-4F86-A7DB-364669C1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735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2" name="Google Shape;102;p6">
            <a:extLst xmlns:a="http://schemas.openxmlformats.org/drawingml/2006/main">
              <a:ext uri="{FF2B5EF4-FFF2-40B4-BE49-F238E27FC236}">
                <a16:creationId xmlns:a16="http://schemas.microsoft.com/office/drawing/2014/main" id="{B7969BAE-BBCB-4663-A561-77307ED3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83" y="2221992"/>
            <a:ext cx="6036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Test</a:t>
            </a:r>
          </a:p>
        </p:txBody>
      </p:sp>
      <p:sp>
        <p:nvSpPr>
          <p:cNvPr id="103" name="Google Shape;103;p6">
            <a:extLst xmlns:a="http://schemas.openxmlformats.org/drawingml/2006/main">
              <a:ext uri="{FF2B5EF4-FFF2-40B4-BE49-F238E27FC236}">
                <a16:creationId xmlns:a16="http://schemas.microsoft.com/office/drawing/2014/main" id="{764D4457-FD72-4739-86CC-50E0ABCD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134" y="2103125"/>
            <a:ext cx="11613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4" name="Google Shape;104;p6">
            <a:extLst xmlns:a="http://schemas.openxmlformats.org/drawingml/2006/main">
              <a:ext uri="{FF2B5EF4-FFF2-40B4-BE49-F238E27FC236}">
                <a16:creationId xmlns:a16="http://schemas.microsoft.com/office/drawing/2014/main" id="{E80F9A70-BE08-4E9F-A98E-AC02C030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143" y="2103120"/>
            <a:ext cx="54900" cy="59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5" name="Google Shape;105;p6">
            <a:extLst xmlns:a="http://schemas.openxmlformats.org/drawingml/2006/main">
              <a:ext uri="{FF2B5EF4-FFF2-40B4-BE49-F238E27FC236}">
                <a16:creationId xmlns:a16="http://schemas.microsoft.com/office/drawing/2014/main" id="{49689A88-6ACE-4237-AFD3-562E0AE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2584" y="2222000"/>
            <a:ext cx="877800" cy="25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Redesign</a:t>
            </a:r>
          </a:p>
        </p:txBody>
      </p:sp>
      <p:sp>
        <p:nvSpPr>
          <p:cNvPr id="106" name="Google Shape;106;p6">
            <a:extLst xmlns:a="http://schemas.openxmlformats.org/drawingml/2006/main">
              <a:ext uri="{FF2B5EF4-FFF2-40B4-BE49-F238E27FC236}">
                <a16:creationId xmlns:a16="http://schemas.microsoft.com/office/drawing/2014/main" id="{FB199057-17C3-4877-A9E2-D6106484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90672"/>
            <a:ext cx="44805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Best when the goal is to understand how one factor affects another.</a:t>
            </a:r>
          </a:p>
        </p:txBody>
      </p:sp>
      <p:sp>
        <p:nvSpPr>
          <p:cNvPr id="107" name="Google Shape;107;p6">
            <a:extLst xmlns:a="http://schemas.openxmlformats.org/drawingml/2006/main">
              <a:ext uri="{FF2B5EF4-FFF2-40B4-BE49-F238E27FC236}">
                <a16:creationId xmlns:a16="http://schemas.microsoft.com/office/drawing/2014/main" id="{36797D45-A30A-43CD-B7FE-D56A5623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090672"/>
            <a:ext cx="44805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Best when the goal is to build, improve, optimize, or evaluate a solution.</a:t>
            </a:r>
          </a:p>
        </p:txBody>
      </p:sp>
      <p:sp>
        <p:nvSpPr>
          <p:cNvPr id="108" name="Google Shape;108;p6">
            <a:extLst xmlns:a="http://schemas.openxmlformats.org/drawingml/2006/main">
              <a:ext uri="{FF2B5EF4-FFF2-40B4-BE49-F238E27FC236}">
                <a16:creationId xmlns:a16="http://schemas.microsoft.com/office/drawing/2014/main" id="{829105C9-5F8F-408B-911D-87F42AA3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9" name="Google Shape;109;p6">
            <a:extLst xmlns:a="http://schemas.openxmlformats.org/drawingml/2006/main">
              <a:ext uri="{FF2B5EF4-FFF2-40B4-BE49-F238E27FC236}">
                <a16:creationId xmlns:a16="http://schemas.microsoft.com/office/drawing/2014/main" id="{FF0CAFB3-63E1-408C-80EC-1DF4570D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0" name="Google Shape;110;p6">
            <a:extLst xmlns:a="http://schemas.openxmlformats.org/drawingml/2006/main">
              <a:ext uri="{FF2B5EF4-FFF2-40B4-BE49-F238E27FC236}">
                <a16:creationId xmlns:a16="http://schemas.microsoft.com/office/drawing/2014/main" id="{0000DF6F-9CE8-454B-87FC-49EB6376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11" name="Google Shape;111;p6">
            <a:extLst xmlns:a="http://schemas.openxmlformats.org/drawingml/2006/main">
              <a:ext uri="{FF2B5EF4-FFF2-40B4-BE49-F238E27FC236}">
                <a16:creationId xmlns:a16="http://schemas.microsoft.com/office/drawing/2014/main" id="{A1D3E8E2-ED41-45C8-8FA6-22E17BD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72" y="5138925"/>
            <a:ext cx="6161100" cy="32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Sort your idea: science, engineering, or hybrid?</a:t>
            </a:r>
          </a:p>
        </p:txBody>
      </p:sp>
      <p:sp>
        <p:nvSpPr>
          <p:cNvPr id="112" name="Google Shape;112;p6">
            <a:extLst xmlns:a="http://schemas.openxmlformats.org/drawingml/2006/main">
              <a:ext uri="{FF2B5EF4-FFF2-40B4-BE49-F238E27FC236}">
                <a16:creationId xmlns:a16="http://schemas.microsoft.com/office/drawing/2014/main" id="{9BD48431-1790-4DB1-B959-C8C2C8FE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130" y="5289750"/>
            <a:ext cx="9399900" cy="5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Students label their current project idea. If hybrid, they must choose the main product: explanation or solution.</a:t>
            </a:r>
          </a:p>
        </p:txBody>
      </p:sp>
      <p:sp>
        <p:nvSpPr>
          <p:cNvPr id="113" name="Google Shape;113;p6">
            <a:extLst xmlns:a="http://schemas.openxmlformats.org/drawingml/2006/main">
              <a:ext uri="{FF2B5EF4-FFF2-40B4-BE49-F238E27FC236}">
                <a16:creationId xmlns:a16="http://schemas.microsoft.com/office/drawing/2014/main" id="{9C1BCFEC-EC08-42E9-BB31-9D8C1F32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21391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7">
            <a:extLst xmlns:a="http://schemas.openxmlformats.org/drawingml/2006/main">
              <a:ext uri="{FF2B5EF4-FFF2-40B4-BE49-F238E27FC236}">
                <a16:creationId xmlns:a16="http://schemas.microsoft.com/office/drawing/2014/main" id="{3D4C1590-016F-460D-AC5A-E9DC8322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0" name="Google Shape;120;p7">
            <a:extLst xmlns:a="http://schemas.openxmlformats.org/drawingml/2006/main">
              <a:ext uri="{FF2B5EF4-FFF2-40B4-BE49-F238E27FC236}">
                <a16:creationId xmlns:a16="http://schemas.microsoft.com/office/drawing/2014/main" id="{F79562F8-653F-45A6-AD80-7664586D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1" name="Google Shape;121;p7">
            <a:extLst xmlns:a="http://schemas.openxmlformats.org/drawingml/2006/main">
              <a:ext uri="{FF2B5EF4-FFF2-40B4-BE49-F238E27FC236}">
                <a16:creationId xmlns:a16="http://schemas.microsoft.com/office/drawing/2014/main" id="{79F047BA-9EA7-48DA-A705-C605EBA8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122" name="Google Shape;122;p7">
            <a:extLst xmlns:a="http://schemas.openxmlformats.org/drawingml/2006/main">
              <a:ext uri="{FF2B5EF4-FFF2-40B4-BE49-F238E27FC236}">
                <a16:creationId xmlns:a16="http://schemas.microsoft.com/office/drawing/2014/main" id="{0A37261D-CCD5-4A4C-B3D5-6F0F6A38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152" name="Google Shape;123;p7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" name="Google Shape;124;p7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5" name="Google Shape;125;p7">
            <a:extLst xmlns:a="http://schemas.openxmlformats.org/drawingml/2006/main">
              <a:ext uri="{FF2B5EF4-FFF2-40B4-BE49-F238E27FC236}">
                <a16:creationId xmlns:a16="http://schemas.microsoft.com/office/drawing/2014/main" id="{A8B7A332-0B70-4B37-9034-F0C91F13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What Makes an Experiment an Experiment?</a:t>
            </a:r>
          </a:p>
        </p:txBody>
      </p:sp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4259CD71-D698-4E39-846D-52CC053B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7">
            <a:extLst xmlns:a="http://schemas.openxmlformats.org/drawingml/2006/main">
              <a:ext uri="{FF2B5EF4-FFF2-40B4-BE49-F238E27FC236}">
                <a16:creationId xmlns:a16="http://schemas.microsoft.com/office/drawing/2014/main" id="{674E1892-1960-4D06-9924-3EDB8C5B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An experiment tests how a change affects an outcome.</a:t>
            </a:r>
          </a:p>
        </p:txBody>
      </p:sp>
      <p:sp>
        <p:nvSpPr>
          <p:cNvPr id="128" name="Google Shape;128;p7">
            <a:extLst xmlns:a="http://schemas.openxmlformats.org/drawingml/2006/main">
              <a:ext uri="{FF2B5EF4-FFF2-40B4-BE49-F238E27FC236}">
                <a16:creationId xmlns:a16="http://schemas.microsoft.com/office/drawing/2014/main" id="{C0FA11A0-A811-4B8A-BFED-224F2120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32461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9" name="Google Shape;129;p7">
            <a:extLst xmlns:a="http://schemas.openxmlformats.org/drawingml/2006/main">
              <a:ext uri="{FF2B5EF4-FFF2-40B4-BE49-F238E27FC236}">
                <a16:creationId xmlns:a16="http://schemas.microsoft.com/office/drawing/2014/main" id="{1E1E4820-E7CF-44E8-8F05-00CDFBC3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0" name="Google Shape;130;p7">
            <a:extLst xmlns:a="http://schemas.openxmlformats.org/drawingml/2006/main">
              <a:ext uri="{FF2B5EF4-FFF2-40B4-BE49-F238E27FC236}">
                <a16:creationId xmlns:a16="http://schemas.microsoft.com/office/drawing/2014/main" id="{CAA6CA3B-B7E2-4C0B-921C-F94F0A0B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67335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Independent Variable</a:t>
            </a:r>
          </a:p>
        </p:txBody>
      </p:sp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884E0E22-CC26-42C9-8A04-9F011631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9968"/>
            <a:ext cx="297180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The factor deliberately changed or compared by the researcher.</a:t>
            </a: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6C5A3B9E-40A6-4406-90DE-3D787E99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54480"/>
            <a:ext cx="32461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3" name="Google Shape;133;p7">
            <a:extLst xmlns:a="http://schemas.openxmlformats.org/drawingml/2006/main">
              <a:ext uri="{FF2B5EF4-FFF2-40B4-BE49-F238E27FC236}">
                <a16:creationId xmlns:a16="http://schemas.microsoft.com/office/drawing/2014/main" id="{5E47BEC0-6800-48B4-A4C4-7B6A5261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5448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4" name="Google Shape;134;p7">
            <a:extLst xmlns:a="http://schemas.openxmlformats.org/drawingml/2006/main">
              <a:ext uri="{FF2B5EF4-FFF2-40B4-BE49-F238E27FC236}">
                <a16:creationId xmlns:a16="http://schemas.microsoft.com/office/drawing/2014/main" id="{C6BB480C-BA3C-46CA-927F-EC1C1F91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67335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Dependent Variable</a:t>
            </a:r>
          </a:p>
        </p:txBody>
      </p:sp>
      <p:sp>
        <p:nvSpPr>
          <p:cNvPr id="135" name="Google Shape;135;p7">
            <a:extLst xmlns:a="http://schemas.openxmlformats.org/drawingml/2006/main">
              <a:ext uri="{FF2B5EF4-FFF2-40B4-BE49-F238E27FC236}">
                <a16:creationId xmlns:a16="http://schemas.microsoft.com/office/drawing/2014/main" id="{B82B6447-9B7A-4CDD-A0D6-C43B4EAC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029968"/>
            <a:ext cx="297180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The outcome that is measured, counted, observed, or calculated.</a:t>
            </a:r>
          </a:p>
        </p:txBody>
      </p:sp>
      <p:sp>
        <p:nvSpPr>
          <p:cNvPr id="136" name="Google Shape;136;p7">
            <a:extLst xmlns:a="http://schemas.openxmlformats.org/drawingml/2006/main">
              <a:ext uri="{FF2B5EF4-FFF2-40B4-BE49-F238E27FC236}">
                <a16:creationId xmlns:a16="http://schemas.microsoft.com/office/drawing/2014/main" id="{73BDBCDF-08AE-4A04-9972-400A6601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32461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7" name="Google Shape;137;p7">
            <a:extLst xmlns:a="http://schemas.openxmlformats.org/drawingml/2006/main">
              <a:ext uri="{FF2B5EF4-FFF2-40B4-BE49-F238E27FC236}">
                <a16:creationId xmlns:a16="http://schemas.microsoft.com/office/drawing/2014/main" id="{0C3C7D32-9230-448A-AC1E-E834C0F2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8" name="Google Shape;138;p7">
            <a:extLst xmlns:a="http://schemas.openxmlformats.org/drawingml/2006/main">
              <a:ext uri="{FF2B5EF4-FFF2-40B4-BE49-F238E27FC236}">
                <a16:creationId xmlns:a16="http://schemas.microsoft.com/office/drawing/2014/main" id="{615101EC-0969-4FEC-B4FD-3BAE266E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673352"/>
            <a:ext cx="29718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Controlled Variables</a:t>
            </a:r>
          </a:p>
        </p:txBody>
      </p:sp>
      <p:sp>
        <p:nvSpPr>
          <p:cNvPr id="139" name="Google Shape;139;p7">
            <a:extLst xmlns:a="http://schemas.openxmlformats.org/drawingml/2006/main">
              <a:ext uri="{FF2B5EF4-FFF2-40B4-BE49-F238E27FC236}">
                <a16:creationId xmlns:a16="http://schemas.microsoft.com/office/drawing/2014/main" id="{91F14F37-8AEC-4FA4-816F-F5A8398A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029968"/>
            <a:ext cx="297180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Factors kept the same so the comparison is meaningful.</a:t>
            </a:r>
          </a:p>
        </p:txBody>
      </p:sp>
      <p:sp>
        <p:nvSpPr>
          <p:cNvPr id="140" name="Google Shape;140;p7">
            <a:extLst xmlns:a="http://schemas.openxmlformats.org/drawingml/2006/main">
              <a:ext uri="{FF2B5EF4-FFF2-40B4-BE49-F238E27FC236}">
                <a16:creationId xmlns:a16="http://schemas.microsoft.com/office/drawing/2014/main" id="{ACD93AC3-DF17-4101-8063-42C90824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57600"/>
            <a:ext cx="274320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Basic experiment sentence:</a:t>
            </a:r>
          </a:p>
        </p:txBody>
      </p:sp>
      <p:sp>
        <p:nvSpPr>
          <p:cNvPr id="141" name="Google Shape;141;p7">
            <a:extLst xmlns:a="http://schemas.openxmlformats.org/drawingml/2006/main">
              <a:ext uri="{FF2B5EF4-FFF2-40B4-BE49-F238E27FC236}">
                <a16:creationId xmlns:a16="http://schemas.microsoft.com/office/drawing/2014/main" id="{70757E8C-8B1B-40A8-BE57-5BD32356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50208"/>
            <a:ext cx="102412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does [independent variable] affect [dependent variable] under controlled conditions?</a:t>
            </a:r>
          </a:p>
        </p:txBody>
      </p:sp>
      <p:sp>
        <p:nvSpPr>
          <p:cNvPr id="142" name="Google Shape;142;p7">
            <a:extLst xmlns:a="http://schemas.openxmlformats.org/drawingml/2006/main">
              <a:ext uri="{FF2B5EF4-FFF2-40B4-BE49-F238E27FC236}">
                <a16:creationId xmlns:a16="http://schemas.microsoft.com/office/drawing/2014/main" id="{3AE47282-A47B-43FE-BC38-C00C494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3" name="Google Shape;143;p7">
            <a:extLst xmlns:a="http://schemas.openxmlformats.org/drawingml/2006/main">
              <a:ext uri="{FF2B5EF4-FFF2-40B4-BE49-F238E27FC236}">
                <a16:creationId xmlns:a16="http://schemas.microsoft.com/office/drawing/2014/main" id="{CD1A6F26-46F4-465D-8E64-EAE86BD5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4" name="Google Shape;144;p7">
            <a:extLst xmlns:a="http://schemas.openxmlformats.org/drawingml/2006/main">
              <a:ext uri="{FF2B5EF4-FFF2-40B4-BE49-F238E27FC236}">
                <a16:creationId xmlns:a16="http://schemas.microsoft.com/office/drawing/2014/main" id="{5F823EDA-30E5-4D58-A1A3-0E6F5275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45" name="Google Shape;145;p7">
            <a:extLst xmlns:a="http://schemas.openxmlformats.org/drawingml/2006/main">
              <a:ext uri="{FF2B5EF4-FFF2-40B4-BE49-F238E27FC236}">
                <a16:creationId xmlns:a16="http://schemas.microsoft.com/office/drawing/2014/main" id="{29D641E0-E5D0-4DF8-9752-2F5CA976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Rewrite one vague idea as a testable experiment.</a:t>
            </a:r>
          </a:p>
        </p:txBody>
      </p:sp>
      <p:sp>
        <p:nvSpPr>
          <p:cNvPr id="146" name="Google Shape;146;p7">
            <a:extLst xmlns:a="http://schemas.openxmlformats.org/drawingml/2006/main">
              <a:ext uri="{FF2B5EF4-FFF2-40B4-BE49-F238E27FC236}">
                <a16:creationId xmlns:a16="http://schemas.microsoft.com/office/drawing/2014/main" id="{6886BD13-A06E-4254-AE80-241CAB61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Use the sentence frame above. Circle the IV and underline the DV.</a:t>
            </a:r>
          </a:p>
        </p:txBody>
      </p:sp>
      <p:sp>
        <p:nvSpPr>
          <p:cNvPr id="147" name="Google Shape;147;p7">
            <a:extLst xmlns:a="http://schemas.openxmlformats.org/drawingml/2006/main">
              <a:ext uri="{FF2B5EF4-FFF2-40B4-BE49-F238E27FC236}">
                <a16:creationId xmlns:a16="http://schemas.microsoft.com/office/drawing/2014/main" id="{38A7E54B-9100-445F-8327-05F1DF77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95993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8">
            <a:extLst xmlns:a="http://schemas.openxmlformats.org/drawingml/2006/main">
              <a:ext uri="{FF2B5EF4-FFF2-40B4-BE49-F238E27FC236}">
                <a16:creationId xmlns:a16="http://schemas.microsoft.com/office/drawing/2014/main" id="{71DD4287-6E1D-43F5-A8BC-A8720F68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4" name="Google Shape;154;p8">
            <a:extLst xmlns:a="http://schemas.openxmlformats.org/drawingml/2006/main">
              <a:ext uri="{FF2B5EF4-FFF2-40B4-BE49-F238E27FC236}">
                <a16:creationId xmlns:a16="http://schemas.microsoft.com/office/drawing/2014/main" id="{8A488B34-88BC-4852-B700-1E7D47CD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5" name="Google Shape;155;p8">
            <a:extLst xmlns:a="http://schemas.openxmlformats.org/drawingml/2006/main">
              <a:ext uri="{FF2B5EF4-FFF2-40B4-BE49-F238E27FC236}">
                <a16:creationId xmlns:a16="http://schemas.microsoft.com/office/drawing/2014/main" id="{4A4FD413-0ADC-41C0-8F9C-443A78C1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156" name="Google Shape;156;p8">
            <a:extLst xmlns:a="http://schemas.openxmlformats.org/drawingml/2006/main">
              <a:ext uri="{FF2B5EF4-FFF2-40B4-BE49-F238E27FC236}">
                <a16:creationId xmlns:a16="http://schemas.microsoft.com/office/drawing/2014/main" id="{0679AC91-4203-4E87-A62B-C3C6F69B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191" name="Google Shape;157;p8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2" name="Google Shape;158;p8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9" name="Google Shape;159;p8">
            <a:extLst xmlns:a="http://schemas.openxmlformats.org/drawingml/2006/main">
              <a:ext uri="{FF2B5EF4-FFF2-40B4-BE49-F238E27FC236}">
                <a16:creationId xmlns:a16="http://schemas.microsoft.com/office/drawing/2014/main" id="{7A1D9997-ABFB-4AD2-BCB7-B796F81C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Example: From Topic to Experiment</a:t>
            </a:r>
          </a:p>
        </p:txBody>
      </p:sp>
      <p:sp>
        <p:nvSpPr>
          <p:cNvPr id="160" name="Google Shape;160;p8">
            <a:extLst xmlns:a="http://schemas.openxmlformats.org/drawingml/2006/main">
              <a:ext uri="{FF2B5EF4-FFF2-40B4-BE49-F238E27FC236}">
                <a16:creationId xmlns:a16="http://schemas.microsoft.com/office/drawing/2014/main" id="{8B8C55AA-0249-496B-9292-3914137F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1" name="Google Shape;161;p8">
            <a:extLst xmlns:a="http://schemas.openxmlformats.org/drawingml/2006/main">
              <a:ext uri="{FF2B5EF4-FFF2-40B4-BE49-F238E27FC236}">
                <a16:creationId xmlns:a16="http://schemas.microsoft.com/office/drawing/2014/main" id="{5815F4CF-F88E-41F2-B312-3BFF7BDC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The vocabulary becomes useful when attached to a real project.</a:t>
            </a:r>
          </a:p>
        </p:txBody>
      </p:sp>
      <p:sp>
        <p:nvSpPr>
          <p:cNvPr id="162" name="Google Shape;162;p8">
            <a:extLst xmlns:a="http://schemas.openxmlformats.org/drawingml/2006/main">
              <a:ext uri="{FF2B5EF4-FFF2-40B4-BE49-F238E27FC236}">
                <a16:creationId xmlns:a16="http://schemas.microsoft.com/office/drawing/2014/main" id="{A53220F8-3242-48D8-BA96-D80515C0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2763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Topic: Plant growth</a:t>
            </a:r>
          </a:p>
        </p:txBody>
      </p:sp>
      <p:sp>
        <p:nvSpPr>
          <p:cNvPr id="163" name="Google Shape;163;p8">
            <a:extLst xmlns:a="http://schemas.openxmlformats.org/drawingml/2006/main">
              <a:ext uri="{FF2B5EF4-FFF2-40B4-BE49-F238E27FC236}">
                <a16:creationId xmlns:a16="http://schemas.microsoft.com/office/drawing/2014/main" id="{040FF5C6-744C-4A92-9334-4524C1EC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8483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164" name="Google Shape;164;p8">
            <a:extLst xmlns:a="http://schemas.openxmlformats.org/drawingml/2006/main">
              <a:ext uri="{FF2B5EF4-FFF2-40B4-BE49-F238E27FC236}">
                <a16:creationId xmlns:a16="http://schemas.microsoft.com/office/drawing/2014/main" id="{DC59D4B6-B721-405A-A290-B0691545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024128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does fertilizer concentration affect average bean plant height over four weeks?</a:t>
            </a:r>
          </a:p>
        </p:txBody>
      </p:sp>
      <p:sp>
        <p:nvSpPr>
          <p:cNvPr id="165" name="Google Shape;165;p8">
            <a:extLst xmlns:a="http://schemas.openxmlformats.org/drawingml/2006/main">
              <a:ext uri="{FF2B5EF4-FFF2-40B4-BE49-F238E27FC236}">
                <a16:creationId xmlns:a16="http://schemas.microsoft.com/office/drawing/2014/main" id="{840D4F8C-B6E8-487E-B70D-96A60D78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6" name="Google Shape;166;p8">
            <a:extLst xmlns:a="http://schemas.openxmlformats.org/drawingml/2006/main">
              <a:ext uri="{FF2B5EF4-FFF2-40B4-BE49-F238E27FC236}">
                <a16:creationId xmlns:a16="http://schemas.microsoft.com/office/drawing/2014/main" id="{C54A498C-C9C3-4333-8A0D-7853D38A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7" name="Google Shape;167;p8">
            <a:extLst xmlns:a="http://schemas.openxmlformats.org/drawingml/2006/main">
              <a:ext uri="{FF2B5EF4-FFF2-40B4-BE49-F238E27FC236}">
                <a16:creationId xmlns:a16="http://schemas.microsoft.com/office/drawing/2014/main" id="{9A824B4B-BD2D-482C-9563-F58945AF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IV</a:t>
            </a:r>
          </a:p>
        </p:txBody>
      </p:sp>
      <p:sp>
        <p:nvSpPr>
          <p:cNvPr id="168" name="Google Shape;168;p8">
            <a:extLst xmlns:a="http://schemas.openxmlformats.org/drawingml/2006/main">
              <a:ext uri="{FF2B5EF4-FFF2-40B4-BE49-F238E27FC236}">
                <a16:creationId xmlns:a16="http://schemas.microsoft.com/office/drawing/2014/main" id="{9B5C2D79-8016-4D5E-8E70-EDF9C77F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Fertilizer concentration</a:t>
            </a:r>
          </a:p>
        </p:txBody>
      </p:sp>
      <p:sp>
        <p:nvSpPr>
          <p:cNvPr id="169" name="Google Shape;169;p8">
            <a:extLst xmlns:a="http://schemas.openxmlformats.org/drawingml/2006/main">
              <a:ext uri="{FF2B5EF4-FFF2-40B4-BE49-F238E27FC236}">
                <a16:creationId xmlns:a16="http://schemas.microsoft.com/office/drawing/2014/main" id="{0A613618-FBE2-405D-8086-52AFBFFA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728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0" name="Google Shape;170;p8">
            <a:extLst xmlns:a="http://schemas.openxmlformats.org/drawingml/2006/main">
              <a:ext uri="{FF2B5EF4-FFF2-40B4-BE49-F238E27FC236}">
                <a16:creationId xmlns:a16="http://schemas.microsoft.com/office/drawing/2014/main" id="{D10BCD7F-3CBC-4D03-8CA1-A19405D7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728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1" name="Google Shape;171;p8">
            <a:extLst xmlns:a="http://schemas.openxmlformats.org/drawingml/2006/main">
              <a:ext uri="{FF2B5EF4-FFF2-40B4-BE49-F238E27FC236}">
                <a16:creationId xmlns:a16="http://schemas.microsoft.com/office/drawing/2014/main" id="{1FBFA069-DD1D-47E3-B131-3B5BCD42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DV</a:t>
            </a:r>
          </a:p>
        </p:txBody>
      </p:sp>
      <p:sp>
        <p:nvSpPr>
          <p:cNvPr id="172" name="Google Shape;172;p8">
            <a:extLst xmlns:a="http://schemas.openxmlformats.org/drawingml/2006/main">
              <a:ext uri="{FF2B5EF4-FFF2-40B4-BE49-F238E27FC236}">
                <a16:creationId xmlns:a16="http://schemas.microsoft.com/office/drawing/2014/main" id="{0427D737-7A49-47F2-BF3E-EB4076FF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Average plant height</a:t>
            </a:r>
          </a:p>
        </p:txBody>
      </p:sp>
      <p:sp>
        <p:nvSpPr>
          <p:cNvPr id="173" name="Google Shape;173;p8">
            <a:extLst xmlns:a="http://schemas.openxmlformats.org/drawingml/2006/main">
              <a:ext uri="{FF2B5EF4-FFF2-40B4-BE49-F238E27FC236}">
                <a16:creationId xmlns:a16="http://schemas.microsoft.com/office/drawing/2014/main" id="{0D273D9D-15AD-4DF2-88C1-8E47BEDF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4" name="Google Shape;174;p8">
            <a:extLst xmlns:a="http://schemas.openxmlformats.org/drawingml/2006/main">
              <a:ext uri="{FF2B5EF4-FFF2-40B4-BE49-F238E27FC236}">
                <a16:creationId xmlns:a16="http://schemas.microsoft.com/office/drawing/2014/main" id="{082B881D-6748-4614-A23E-6F4DD7B7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5" name="Google Shape;175;p8">
            <a:extLst xmlns:a="http://schemas.openxmlformats.org/drawingml/2006/main">
              <a:ext uri="{FF2B5EF4-FFF2-40B4-BE49-F238E27FC236}">
                <a16:creationId xmlns:a16="http://schemas.microsoft.com/office/drawing/2014/main" id="{D50AB944-8ACB-4AC1-A90A-F85BC6E3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Controls</a:t>
            </a:r>
          </a:p>
        </p:txBody>
      </p:sp>
      <p:sp>
        <p:nvSpPr>
          <p:cNvPr id="176" name="Google Shape;176;p8">
            <a:extLst xmlns:a="http://schemas.openxmlformats.org/drawingml/2006/main">
              <a:ext uri="{FF2B5EF4-FFF2-40B4-BE49-F238E27FC236}">
                <a16:creationId xmlns:a16="http://schemas.microsoft.com/office/drawing/2014/main" id="{4EF1B9DD-C605-4196-9646-796C8A9A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Light, soil, water, container size</a:t>
            </a:r>
          </a:p>
        </p:txBody>
      </p:sp>
      <p:sp>
        <p:nvSpPr>
          <p:cNvPr id="177" name="Google Shape;177;p8">
            <a:extLst xmlns:a="http://schemas.openxmlformats.org/drawingml/2006/main">
              <a:ext uri="{FF2B5EF4-FFF2-40B4-BE49-F238E27FC236}">
                <a16:creationId xmlns:a16="http://schemas.microsoft.com/office/drawing/2014/main" id="{2469E1E9-D052-4F80-9444-A6CE5D8A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824" y="3063240"/>
            <a:ext cx="23774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8" name="Google Shape;178;p8">
            <a:extLst xmlns:a="http://schemas.openxmlformats.org/drawingml/2006/main">
              <a:ext uri="{FF2B5EF4-FFF2-40B4-BE49-F238E27FC236}">
                <a16:creationId xmlns:a16="http://schemas.microsoft.com/office/drawing/2014/main" id="{CA181A33-A61E-427E-B7CC-39F6FD58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824" y="3063240"/>
            <a:ext cx="54864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9" name="Google Shape;179;p8">
            <a:extLst xmlns:a="http://schemas.openxmlformats.org/drawingml/2006/main">
              <a:ext uri="{FF2B5EF4-FFF2-40B4-BE49-F238E27FC236}">
                <a16:creationId xmlns:a16="http://schemas.microsoft.com/office/drawing/2014/main" id="{6447FFE2-61A6-4467-BE66-4E23D8EF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18211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Trials</a:t>
            </a:r>
          </a:p>
        </p:txBody>
      </p:sp>
      <p:sp>
        <p:nvSpPr>
          <p:cNvPr id="180" name="Google Shape;180;p8">
            <a:extLst xmlns:a="http://schemas.openxmlformats.org/drawingml/2006/main">
              <a:ext uri="{FF2B5EF4-FFF2-40B4-BE49-F238E27FC236}">
                <a16:creationId xmlns:a16="http://schemas.microsoft.com/office/drawing/2014/main" id="{2F8D5784-132D-4D1B-A311-28FC6396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538728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Multiple plants per group</a:t>
            </a:r>
          </a:p>
        </p:txBody>
      </p:sp>
      <p:sp>
        <p:nvSpPr>
          <p:cNvPr id="181" name="Google Shape;181;p8">
            <a:extLst xmlns:a="http://schemas.openxmlformats.org/drawingml/2006/main">
              <a:ext uri="{FF2B5EF4-FFF2-40B4-BE49-F238E27FC236}">
                <a16:creationId xmlns:a16="http://schemas.microsoft.com/office/drawing/2014/main" id="{DEE72742-1DB6-49AE-925D-D9D91B85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2" name="Google Shape;182;p8">
            <a:extLst xmlns:a="http://schemas.openxmlformats.org/drawingml/2006/main">
              <a:ext uri="{FF2B5EF4-FFF2-40B4-BE49-F238E27FC236}">
                <a16:creationId xmlns:a16="http://schemas.microsoft.com/office/drawing/2014/main" id="{0D525E0E-384A-45BF-B3C4-AE1755E9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3" name="Google Shape;183;p8">
            <a:extLst xmlns:a="http://schemas.openxmlformats.org/drawingml/2006/main">
              <a:ext uri="{FF2B5EF4-FFF2-40B4-BE49-F238E27FC236}">
                <a16:creationId xmlns:a16="http://schemas.microsoft.com/office/drawing/2014/main" id="{66E7D92D-AE92-43D2-B230-C443FB37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184" name="Google Shape;184;p8">
            <a:extLst xmlns:a="http://schemas.openxmlformats.org/drawingml/2006/main">
              <a:ext uri="{FF2B5EF4-FFF2-40B4-BE49-F238E27FC236}">
                <a16:creationId xmlns:a16="http://schemas.microsoft.com/office/drawing/2014/main" id="{906897B2-983D-415C-8937-5B025453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Mark the design parts.</a:t>
            </a:r>
          </a:p>
        </p:txBody>
      </p:sp>
      <p:sp>
        <p:nvSpPr>
          <p:cNvPr id="185" name="Google Shape;185;p8">
            <a:extLst xmlns:a="http://schemas.openxmlformats.org/drawingml/2006/main">
              <a:ext uri="{FF2B5EF4-FFF2-40B4-BE49-F238E27FC236}">
                <a16:creationId xmlns:a16="http://schemas.microsoft.com/office/drawing/2014/main" id="{2DF6950D-EE62-4453-A10E-001F9790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In your notes, identify IV, DV, controls, and trials for your own developing project idea.</a:t>
            </a:r>
          </a:p>
        </p:txBody>
      </p:sp>
      <p:sp>
        <p:nvSpPr>
          <p:cNvPr id="186" name="Google Shape;186;p8">
            <a:extLst xmlns:a="http://schemas.openxmlformats.org/drawingml/2006/main">
              <a:ext uri="{FF2B5EF4-FFF2-40B4-BE49-F238E27FC236}">
                <a16:creationId xmlns:a16="http://schemas.microsoft.com/office/drawing/2014/main" id="{4063C1BC-364A-4E7D-B5A7-31C4E7B3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089432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Google Shape;192;p9">
            <a:extLst xmlns:a="http://schemas.openxmlformats.org/drawingml/2006/main">
              <a:ext uri="{FF2B5EF4-FFF2-40B4-BE49-F238E27FC236}">
                <a16:creationId xmlns:a16="http://schemas.microsoft.com/office/drawing/2014/main" id="{ACC62281-7007-49C4-BC7D-A37BF6FA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3" name="Google Shape;193;p9">
            <a:extLst xmlns:a="http://schemas.openxmlformats.org/drawingml/2006/main">
              <a:ext uri="{FF2B5EF4-FFF2-40B4-BE49-F238E27FC236}">
                <a16:creationId xmlns:a16="http://schemas.microsoft.com/office/drawing/2014/main" id="{E6F04664-3664-49EB-B6A3-3EDC043C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4" name="Google Shape;194;p9">
            <a:extLst xmlns:a="http://schemas.openxmlformats.org/drawingml/2006/main">
              <a:ext uri="{FF2B5EF4-FFF2-40B4-BE49-F238E27FC236}">
                <a16:creationId xmlns:a16="http://schemas.microsoft.com/office/drawing/2014/main" id="{47A43565-15F9-46BA-8149-5FC5B44C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195" name="Google Shape;195;p9">
            <a:extLst xmlns:a="http://schemas.openxmlformats.org/drawingml/2006/main">
              <a:ext uri="{FF2B5EF4-FFF2-40B4-BE49-F238E27FC236}">
                <a16:creationId xmlns:a16="http://schemas.microsoft.com/office/drawing/2014/main" id="{3F6A42BA-9F14-47D6-99BF-2D7B212E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225" name="Google Shape;196;p9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6" name="Google Shape;197;p9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8" name="Google Shape;198;p9">
            <a:extLst xmlns:a="http://schemas.openxmlformats.org/drawingml/2006/main">
              <a:ext uri="{FF2B5EF4-FFF2-40B4-BE49-F238E27FC236}">
                <a16:creationId xmlns:a16="http://schemas.microsoft.com/office/drawing/2014/main" id="{1B9CE83D-55F9-4079-A70E-AF812D7D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Controls, Constants, and Comparison Groups</a:t>
            </a:r>
          </a:p>
        </p:txBody>
      </p:sp>
      <p:sp>
        <p:nvSpPr>
          <p:cNvPr id="199" name="Google Shape;199;p9">
            <a:extLst xmlns:a="http://schemas.openxmlformats.org/drawingml/2006/main">
              <a:ext uri="{FF2B5EF4-FFF2-40B4-BE49-F238E27FC236}">
                <a16:creationId xmlns:a16="http://schemas.microsoft.com/office/drawing/2014/main" id="{2414E553-B140-4A45-A2E7-D18BD405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0" name="Google Shape;200;p9">
            <a:extLst xmlns:a="http://schemas.openxmlformats.org/drawingml/2006/main">
              <a:ext uri="{FF2B5EF4-FFF2-40B4-BE49-F238E27FC236}">
                <a16:creationId xmlns:a16="http://schemas.microsoft.com/office/drawing/2014/main" id="{520366DD-8705-48B9-BDFA-637206EE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often mix these up; the distinction matters.</a:t>
            </a:r>
          </a:p>
        </p:txBody>
      </p:sp>
      <p:sp>
        <p:nvSpPr>
          <p:cNvPr id="201" name="Google Shape;201;p9">
            <a:extLst xmlns:a="http://schemas.openxmlformats.org/drawingml/2006/main">
              <a:ext uri="{FF2B5EF4-FFF2-40B4-BE49-F238E27FC236}">
                <a16:creationId xmlns:a16="http://schemas.microsoft.com/office/drawing/2014/main" id="{C3F7F9B0-CB47-4185-BA22-E8C6EB21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333756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2" name="Google Shape;202;p9">
            <a:extLst xmlns:a="http://schemas.openxmlformats.org/drawingml/2006/main">
              <a:ext uri="{FF2B5EF4-FFF2-40B4-BE49-F238E27FC236}">
                <a16:creationId xmlns:a16="http://schemas.microsoft.com/office/drawing/2014/main" id="{817AC9B5-4392-4690-B067-6392C8C5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3" name="Google Shape;203;p9">
            <a:extLst xmlns:a="http://schemas.openxmlformats.org/drawingml/2006/main">
              <a:ext uri="{FF2B5EF4-FFF2-40B4-BE49-F238E27FC236}">
                <a16:creationId xmlns:a16="http://schemas.microsoft.com/office/drawing/2014/main" id="{7C077709-7ACF-4303-B276-D4F31AD4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Controlled Variables</a:t>
            </a:r>
          </a:p>
        </p:txBody>
      </p:sp>
      <p:sp>
        <p:nvSpPr>
          <p:cNvPr id="204" name="Google Shape;204;p9">
            <a:extLst xmlns:a="http://schemas.openxmlformats.org/drawingml/2006/main">
              <a:ext uri="{FF2B5EF4-FFF2-40B4-BE49-F238E27FC236}">
                <a16:creationId xmlns:a16="http://schemas.microsoft.com/office/drawing/2014/main" id="{3C36EB1F-BA5C-4C49-84F9-46C051FE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75688"/>
            <a:ext cx="306324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Conditions kept the same across all groups or trials. Example: same plant species, light, and container size.</a:t>
            </a:r>
          </a:p>
        </p:txBody>
      </p:sp>
      <p:sp>
        <p:nvSpPr>
          <p:cNvPr id="205" name="Google Shape;205;p9">
            <a:extLst xmlns:a="http://schemas.openxmlformats.org/drawingml/2006/main">
              <a:ext uri="{FF2B5EF4-FFF2-40B4-BE49-F238E27FC236}">
                <a16:creationId xmlns:a16="http://schemas.microsoft.com/office/drawing/2014/main" id="{F265C18C-52BC-428D-813B-AEC512D2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333756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6" name="Google Shape;206;p9">
            <a:extLst xmlns:a="http://schemas.openxmlformats.org/drawingml/2006/main">
              <a:ext uri="{FF2B5EF4-FFF2-40B4-BE49-F238E27FC236}">
                <a16:creationId xmlns:a16="http://schemas.microsoft.com/office/drawing/2014/main" id="{750E0B10-163F-4743-99EF-19BCF202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7" name="Google Shape;207;p9">
            <a:extLst xmlns:a="http://schemas.openxmlformats.org/drawingml/2006/main">
              <a:ext uri="{FF2B5EF4-FFF2-40B4-BE49-F238E27FC236}">
                <a16:creationId xmlns:a16="http://schemas.microsoft.com/office/drawing/2014/main" id="{7786CF64-CD98-48CC-BC9C-D9271AB9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 Group</a:t>
            </a:r>
          </a:p>
        </p:txBody>
      </p:sp>
      <p:sp>
        <p:nvSpPr>
          <p:cNvPr id="208" name="Google Shape;208;p9">
            <a:extLst xmlns:a="http://schemas.openxmlformats.org/drawingml/2006/main">
              <a:ext uri="{FF2B5EF4-FFF2-40B4-BE49-F238E27FC236}">
                <a16:creationId xmlns:a16="http://schemas.microsoft.com/office/drawing/2014/main" id="{F1DA7C8B-B55B-4DD1-8BC1-4C658DEB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075688"/>
            <a:ext cx="306324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 baseline group used for comparison. Example: plants receiving no fertilizer.</a:t>
            </a:r>
          </a:p>
        </p:txBody>
      </p:sp>
      <p:sp>
        <p:nvSpPr>
          <p:cNvPr id="209" name="Google Shape;209;p9">
            <a:extLst xmlns:a="http://schemas.openxmlformats.org/drawingml/2006/main">
              <a:ext uri="{FF2B5EF4-FFF2-40B4-BE49-F238E27FC236}">
                <a16:creationId xmlns:a16="http://schemas.microsoft.com/office/drawing/2014/main" id="{7E65BFC1-DC2A-48DF-8BE3-96E3211A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33756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0" name="Google Shape;210;p9">
            <a:extLst xmlns:a="http://schemas.openxmlformats.org/drawingml/2006/main">
              <a:ext uri="{FF2B5EF4-FFF2-40B4-BE49-F238E27FC236}">
                <a16:creationId xmlns:a16="http://schemas.microsoft.com/office/drawing/2014/main" id="{E1C5B946-2EE9-409D-92E0-4A163AFC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54864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1" name="Google Shape;211;p9">
            <a:extLst xmlns:a="http://schemas.openxmlformats.org/drawingml/2006/main">
              <a:ext uri="{FF2B5EF4-FFF2-40B4-BE49-F238E27FC236}">
                <a16:creationId xmlns:a16="http://schemas.microsoft.com/office/drawing/2014/main" id="{12A0720D-3EB0-4549-81FC-FAC46582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Constants</a:t>
            </a:r>
          </a:p>
        </p:txBody>
      </p:sp>
      <p:sp>
        <p:nvSpPr>
          <p:cNvPr id="212" name="Google Shape;212;p9">
            <a:extLst xmlns:a="http://schemas.openxmlformats.org/drawingml/2006/main">
              <a:ext uri="{FF2B5EF4-FFF2-40B4-BE49-F238E27FC236}">
                <a16:creationId xmlns:a16="http://schemas.microsoft.com/office/drawing/2014/main" id="{C7A218F9-EEF9-4E34-BA80-D2B52F00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75688"/>
            <a:ext cx="3063240" cy="1490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Values or conditions that remain fixed in the setup. Often overlap with controlled variables in student language.</a:t>
            </a:r>
          </a:p>
        </p:txBody>
      </p:sp>
      <p:sp>
        <p:nvSpPr>
          <p:cNvPr id="213" name="Google Shape;213;p9">
            <a:extLst xmlns:a="http://schemas.openxmlformats.org/drawingml/2006/main">
              <a:ext uri="{FF2B5EF4-FFF2-40B4-BE49-F238E27FC236}">
                <a16:creationId xmlns:a16="http://schemas.microsoft.com/office/drawing/2014/main" id="{53C35E80-D88E-45B6-94B1-C132A566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1363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The question to keep asking:</a:t>
            </a:r>
          </a:p>
        </p:txBody>
      </p:sp>
      <p:sp>
        <p:nvSpPr>
          <p:cNvPr id="214" name="Google Shape;214;p9">
            <a:extLst xmlns:a="http://schemas.openxmlformats.org/drawingml/2006/main">
              <a:ext uri="{FF2B5EF4-FFF2-40B4-BE49-F238E27FC236}">
                <a16:creationId xmlns:a16="http://schemas.microsoft.com/office/drawing/2014/main" id="{91C455A1-5673-4814-848D-8B5AB995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24528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200"/>
              <a:buFont typeface="Arial"/>
              <a:buNone/>
            </a:pPr>
            <a:r>
              <a:rPr sz="22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comparison makes the result meaningful?</a:t>
            </a:r>
          </a:p>
        </p:txBody>
      </p:sp>
      <p:sp>
        <p:nvSpPr>
          <p:cNvPr id="215" name="Google Shape;215;p9">
            <a:extLst xmlns:a="http://schemas.openxmlformats.org/drawingml/2006/main">
              <a:ext uri="{FF2B5EF4-FFF2-40B4-BE49-F238E27FC236}">
                <a16:creationId xmlns:a16="http://schemas.microsoft.com/office/drawing/2014/main" id="{2437B647-7D5C-4EAE-A6A9-890DC883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6" name="Google Shape;216;p9">
            <a:extLst xmlns:a="http://schemas.openxmlformats.org/drawingml/2006/main">
              <a:ext uri="{FF2B5EF4-FFF2-40B4-BE49-F238E27FC236}">
                <a16:creationId xmlns:a16="http://schemas.microsoft.com/office/drawing/2014/main" id="{2063FFD9-2511-4F2F-BB73-A7ECF9FF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7" name="Google Shape;217;p9">
            <a:extLst xmlns:a="http://schemas.openxmlformats.org/drawingml/2006/main">
              <a:ext uri="{FF2B5EF4-FFF2-40B4-BE49-F238E27FC236}">
                <a16:creationId xmlns:a16="http://schemas.microsoft.com/office/drawing/2014/main" id="{04593743-AC44-4EED-8F2B-FB77A283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18" name="Google Shape;218;p9">
            <a:extLst xmlns:a="http://schemas.openxmlformats.org/drawingml/2006/main">
              <a:ext uri="{FF2B5EF4-FFF2-40B4-BE49-F238E27FC236}">
                <a16:creationId xmlns:a16="http://schemas.microsoft.com/office/drawing/2014/main" id="{334A4A92-83E6-46E3-9637-274B535C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Fair-test check.</a:t>
            </a:r>
          </a:p>
        </p:txBody>
      </p:sp>
      <p:sp>
        <p:nvSpPr>
          <p:cNvPr id="219" name="Google Shape;219;p9">
            <a:extLst xmlns:a="http://schemas.openxmlformats.org/drawingml/2006/main">
              <a:ext uri="{FF2B5EF4-FFF2-40B4-BE49-F238E27FC236}">
                <a16:creationId xmlns:a16="http://schemas.microsoft.com/office/drawing/2014/main" id="{3DDF8B49-E1A2-4828-987F-36EFEF8C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Write one thing your project must keep the same, and one comparison group or condition that makes your evidence meaningful.</a:t>
            </a:r>
          </a:p>
        </p:txBody>
      </p:sp>
      <p:sp>
        <p:nvSpPr>
          <p:cNvPr id="220" name="Google Shape;220;p9">
            <a:extLst xmlns:a="http://schemas.openxmlformats.org/drawingml/2006/main">
              <a:ext uri="{FF2B5EF4-FFF2-40B4-BE49-F238E27FC236}">
                <a16:creationId xmlns:a16="http://schemas.microsoft.com/office/drawing/2014/main" id="{C83E06BC-5B7C-4449-8830-E0A2AFF0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81966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6" name="Google Shape;226;p10">
            <a:extLst xmlns:a="http://schemas.openxmlformats.org/drawingml/2006/main">
              <a:ext uri="{FF2B5EF4-FFF2-40B4-BE49-F238E27FC236}">
                <a16:creationId xmlns:a16="http://schemas.microsoft.com/office/drawing/2014/main" id="{D5935D15-269D-4920-B224-ADAF380B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7" name="Google Shape;227;p10">
            <a:extLst xmlns:a="http://schemas.openxmlformats.org/drawingml/2006/main">
              <a:ext uri="{FF2B5EF4-FFF2-40B4-BE49-F238E27FC236}">
                <a16:creationId xmlns:a16="http://schemas.microsoft.com/office/drawing/2014/main" id="{DBF3E882-F46C-4139-8A29-7AA38272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10">
            <a:extLst xmlns:a="http://schemas.openxmlformats.org/drawingml/2006/main">
              <a:ext uri="{FF2B5EF4-FFF2-40B4-BE49-F238E27FC236}">
                <a16:creationId xmlns:a16="http://schemas.microsoft.com/office/drawing/2014/main" id="{DE235776-2F88-40F6-958E-4D9B0513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229" name="Google Shape;229;p10">
            <a:extLst xmlns:a="http://schemas.openxmlformats.org/drawingml/2006/main">
              <a:ext uri="{FF2B5EF4-FFF2-40B4-BE49-F238E27FC236}">
                <a16:creationId xmlns:a16="http://schemas.microsoft.com/office/drawing/2014/main" id="{89BEB374-E2AC-4C68-AA7C-467F2330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260" name="Google Shape;230;p10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1" name="Google Shape;231;p10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" name="Google Shape;232;p10">
            <a:extLst xmlns:a="http://schemas.openxmlformats.org/drawingml/2006/main">
              <a:ext uri="{FF2B5EF4-FFF2-40B4-BE49-F238E27FC236}">
                <a16:creationId xmlns:a16="http://schemas.microsoft.com/office/drawing/2014/main" id="{A9DCFABA-4B93-46F5-9998-77923A0F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Trials, Samples, and Reliability</a:t>
            </a:r>
          </a:p>
        </p:txBody>
      </p:sp>
      <p:sp>
        <p:nvSpPr>
          <p:cNvPr id="233" name="Google Shape;233;p10">
            <a:extLst xmlns:a="http://schemas.openxmlformats.org/drawingml/2006/main">
              <a:ext uri="{FF2B5EF4-FFF2-40B4-BE49-F238E27FC236}">
                <a16:creationId xmlns:a16="http://schemas.microsoft.com/office/drawing/2014/main" id="{4ACC318B-1D6D-4D23-82DC-35781076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4" name="Google Shape;234;p10">
            <a:extLst xmlns:a="http://schemas.openxmlformats.org/drawingml/2006/main">
              <a:ext uri="{FF2B5EF4-FFF2-40B4-BE49-F238E27FC236}">
                <a16:creationId xmlns:a16="http://schemas.microsoft.com/office/drawing/2014/main" id="{560208D9-8E82-4A31-BEEA-EF4E42F5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One measurement rarely tells the whole story. More evidence helps when it is collected consistently.</a:t>
            </a:r>
          </a:p>
        </p:txBody>
      </p:sp>
      <p:sp>
        <p:nvSpPr>
          <p:cNvPr id="235" name="Google Shape;235;p10">
            <a:extLst xmlns:a="http://schemas.openxmlformats.org/drawingml/2006/main">
              <a:ext uri="{FF2B5EF4-FFF2-40B4-BE49-F238E27FC236}">
                <a16:creationId xmlns:a16="http://schemas.microsoft.com/office/drawing/2014/main" id="{055A0A7F-32D3-4B67-A5E7-2F3F7FC9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9072"/>
            <a:ext cx="297180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10">
            <a:extLst xmlns:a="http://schemas.openxmlformats.org/drawingml/2006/main">
              <a:ext uri="{FF2B5EF4-FFF2-40B4-BE49-F238E27FC236}">
                <a16:creationId xmlns:a16="http://schemas.microsoft.com/office/drawing/2014/main" id="{F4D8B9A9-5263-451C-AE23-97EE168D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9072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7" name="Google Shape;237;p10">
            <a:extLst xmlns:a="http://schemas.openxmlformats.org/drawingml/2006/main">
              <a:ext uri="{FF2B5EF4-FFF2-40B4-BE49-F238E27FC236}">
                <a16:creationId xmlns:a16="http://schemas.microsoft.com/office/drawing/2014/main" id="{C43D1EEF-D2D4-4AE4-9A0C-4039F286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1837944"/>
            <a:ext cx="26974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</a:t>
            </a:r>
          </a:p>
        </p:txBody>
      </p:sp>
      <p:sp>
        <p:nvSpPr>
          <p:cNvPr id="238" name="Google Shape;238;p10">
            <a:extLst xmlns:a="http://schemas.openxmlformats.org/drawingml/2006/main">
              <a:ext uri="{FF2B5EF4-FFF2-40B4-BE49-F238E27FC236}">
                <a16:creationId xmlns:a16="http://schemas.microsoft.com/office/drawing/2014/main" id="{BADF71FC-1514-41A3-A8D5-5E4182D3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2194560"/>
            <a:ext cx="269748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One repeated test or measurement.</a:t>
            </a:r>
          </a:p>
        </p:txBody>
      </p:sp>
      <p:sp>
        <p:nvSpPr>
          <p:cNvPr id="239" name="Google Shape;239;p10">
            <a:extLst xmlns:a="http://schemas.openxmlformats.org/drawingml/2006/main">
              <a:ext uri="{FF2B5EF4-FFF2-40B4-BE49-F238E27FC236}">
                <a16:creationId xmlns:a16="http://schemas.microsoft.com/office/drawing/2014/main" id="{DF9CD05D-9385-4935-8833-0EC132C3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719072"/>
            <a:ext cx="297180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0" name="Google Shape;240;p10">
            <a:extLst xmlns:a="http://schemas.openxmlformats.org/drawingml/2006/main">
              <a:ext uri="{FF2B5EF4-FFF2-40B4-BE49-F238E27FC236}">
                <a16:creationId xmlns:a16="http://schemas.microsoft.com/office/drawing/2014/main" id="{26833B9E-C63C-4609-9BD1-F735ADEF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719072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1" name="Google Shape;241;p10">
            <a:extLst xmlns:a="http://schemas.openxmlformats.org/drawingml/2006/main">
              <a:ext uri="{FF2B5EF4-FFF2-40B4-BE49-F238E27FC236}">
                <a16:creationId xmlns:a16="http://schemas.microsoft.com/office/drawing/2014/main" id="{21F062B1-A6A8-49C8-9128-2B16D74A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1837944"/>
            <a:ext cx="26974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Sample Size</a:t>
            </a:r>
          </a:p>
        </p:txBody>
      </p:sp>
      <p:sp>
        <p:nvSpPr>
          <p:cNvPr id="242" name="Google Shape;242;p10">
            <a:extLst xmlns:a="http://schemas.openxmlformats.org/drawingml/2006/main">
              <a:ext uri="{FF2B5EF4-FFF2-40B4-BE49-F238E27FC236}">
                <a16:creationId xmlns:a16="http://schemas.microsoft.com/office/drawing/2014/main" id="{92F3EC35-0FFE-4B3E-91EE-43ACA235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2194560"/>
            <a:ext cx="269748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many plants, bridges, sensors, responses, or data points you have.</a:t>
            </a:r>
          </a:p>
        </p:txBody>
      </p:sp>
      <p:sp>
        <p:nvSpPr>
          <p:cNvPr id="243" name="Google Shape;243;p10">
            <a:extLst xmlns:a="http://schemas.openxmlformats.org/drawingml/2006/main">
              <a:ext uri="{FF2B5EF4-FFF2-40B4-BE49-F238E27FC236}">
                <a16:creationId xmlns:a16="http://schemas.microsoft.com/office/drawing/2014/main" id="{DB6E9EB2-B15A-4E87-A03B-E3CDECBE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19072"/>
            <a:ext cx="297180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4" name="Google Shape;244;p10">
            <a:extLst xmlns:a="http://schemas.openxmlformats.org/drawingml/2006/main">
              <a:ext uri="{FF2B5EF4-FFF2-40B4-BE49-F238E27FC236}">
                <a16:creationId xmlns:a16="http://schemas.microsoft.com/office/drawing/2014/main" id="{26819381-88CF-4592-9DD6-2D06ECAA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719072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10">
            <a:extLst xmlns:a="http://schemas.openxmlformats.org/drawingml/2006/main">
              <a:ext uri="{FF2B5EF4-FFF2-40B4-BE49-F238E27FC236}">
                <a16:creationId xmlns:a16="http://schemas.microsoft.com/office/drawing/2014/main" id="{C0C3022E-BA42-4CF3-A485-3EEF0F1B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37944"/>
            <a:ext cx="26974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Reliability</a:t>
            </a:r>
          </a:p>
        </p:txBody>
      </p:sp>
      <p:sp>
        <p:nvSpPr>
          <p:cNvPr id="246" name="Google Shape;246;p10">
            <a:extLst xmlns:a="http://schemas.openxmlformats.org/drawingml/2006/main">
              <a:ext uri="{FF2B5EF4-FFF2-40B4-BE49-F238E27FC236}">
                <a16:creationId xmlns:a16="http://schemas.microsoft.com/office/drawing/2014/main" id="{7D16505B-DCA2-4438-AF96-B0232EC1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94560"/>
            <a:ext cx="269748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consistent the results are across repeated trials.</a:t>
            </a:r>
          </a:p>
        </p:txBody>
      </p:sp>
      <p:sp>
        <p:nvSpPr>
          <p:cNvPr id="247" name="Google Shape;247;p10">
            <a:extLst xmlns:a="http://schemas.openxmlformats.org/drawingml/2006/main">
              <a:ext uri="{FF2B5EF4-FFF2-40B4-BE49-F238E27FC236}">
                <a16:creationId xmlns:a16="http://schemas.microsoft.com/office/drawing/2014/main" id="{937F952F-6A16-4B4D-AFAC-ADAD2755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100584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10">
            <a:extLst xmlns:a="http://schemas.openxmlformats.org/drawingml/2006/main">
              <a:ext uri="{FF2B5EF4-FFF2-40B4-BE49-F238E27FC236}">
                <a16:creationId xmlns:a16="http://schemas.microsoft.com/office/drawing/2014/main" id="{2618C381-E8A9-4112-A0F4-C276B15D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639312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Better question than “How many trials do I need?”</a:t>
            </a:r>
          </a:p>
        </p:txBody>
      </p:sp>
      <p:sp>
        <p:nvSpPr>
          <p:cNvPr id="249" name="Google Shape;249;p10">
            <a:extLst xmlns:a="http://schemas.openxmlformats.org/drawingml/2006/main">
              <a:ext uri="{FF2B5EF4-FFF2-40B4-BE49-F238E27FC236}">
                <a16:creationId xmlns:a16="http://schemas.microsoft.com/office/drawing/2014/main" id="{A13E381E-8C66-413B-8C56-C144477A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93192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“Do I have enough consistent evidence to support a reasonable claim?”</a:t>
            </a:r>
          </a:p>
        </p:txBody>
      </p:sp>
      <p:sp>
        <p:nvSpPr>
          <p:cNvPr id="250" name="Google Shape;250;p10">
            <a:extLst xmlns:a="http://schemas.openxmlformats.org/drawingml/2006/main">
              <a:ext uri="{FF2B5EF4-FFF2-40B4-BE49-F238E27FC236}">
                <a16:creationId xmlns:a16="http://schemas.microsoft.com/office/drawing/2014/main" id="{6915AD56-6453-4636-A18E-B66CF56F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10">
            <a:extLst xmlns:a="http://schemas.openxmlformats.org/drawingml/2006/main">
              <a:ext uri="{FF2B5EF4-FFF2-40B4-BE49-F238E27FC236}">
                <a16:creationId xmlns:a16="http://schemas.microsoft.com/office/drawing/2014/main" id="{43AC192F-2773-4BA7-9EDD-6389035B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2" name="Google Shape;252;p10">
            <a:extLst xmlns:a="http://schemas.openxmlformats.org/drawingml/2006/main">
              <a:ext uri="{FF2B5EF4-FFF2-40B4-BE49-F238E27FC236}">
                <a16:creationId xmlns:a16="http://schemas.microsoft.com/office/drawing/2014/main" id="{B9B8C3E3-3C7E-4FE4-B349-5FAC6EDE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53" name="Google Shape;253;p10">
            <a:extLst xmlns:a="http://schemas.openxmlformats.org/drawingml/2006/main">
              <a:ext uri="{FF2B5EF4-FFF2-40B4-BE49-F238E27FC236}">
                <a16:creationId xmlns:a16="http://schemas.microsoft.com/office/drawing/2014/main" id="{C54970E4-5681-476C-8F95-389B43D4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 plan sketch.</a:t>
            </a:r>
          </a:p>
        </p:txBody>
      </p:sp>
      <p:sp>
        <p:nvSpPr>
          <p:cNvPr id="254" name="Google Shape;254;p10">
            <a:extLst xmlns:a="http://schemas.openxmlformats.org/drawingml/2006/main">
              <a:ext uri="{FF2B5EF4-FFF2-40B4-BE49-F238E27FC236}">
                <a16:creationId xmlns:a16="http://schemas.microsoft.com/office/drawing/2014/main" id="{657F23F6-9E05-4B2E-9AAB-9CC0424E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Draft a realistic number of trials or samples for your project and explain why it is reasonable.</a:t>
            </a:r>
          </a:p>
        </p:txBody>
      </p:sp>
      <p:sp>
        <p:nvSpPr>
          <p:cNvPr id="255" name="Google Shape;255;p10">
            <a:extLst xmlns:a="http://schemas.openxmlformats.org/drawingml/2006/main">
              <a:ext uri="{FF2B5EF4-FFF2-40B4-BE49-F238E27FC236}">
                <a16:creationId xmlns:a16="http://schemas.microsoft.com/office/drawing/2014/main" id="{50CF240A-3F55-4519-90B8-79FC9E1B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340920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1" name="Google Shape;261;p11">
            <a:extLst xmlns:a="http://schemas.openxmlformats.org/drawingml/2006/main">
              <a:ext uri="{FF2B5EF4-FFF2-40B4-BE49-F238E27FC236}">
                <a16:creationId xmlns:a16="http://schemas.microsoft.com/office/drawing/2014/main" id="{A198F38F-89B7-489E-A824-4D6B8637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2" name="Google Shape;262;p11">
            <a:extLst xmlns:a="http://schemas.openxmlformats.org/drawingml/2006/main">
              <a:ext uri="{FF2B5EF4-FFF2-40B4-BE49-F238E27FC236}">
                <a16:creationId xmlns:a16="http://schemas.microsoft.com/office/drawing/2014/main" id="{3E3609F8-9F5A-45C2-9571-31D6A426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3" name="Google Shape;263;p11">
            <a:extLst xmlns:a="http://schemas.openxmlformats.org/drawingml/2006/main">
              <a:ext uri="{FF2B5EF4-FFF2-40B4-BE49-F238E27FC236}">
                <a16:creationId xmlns:a16="http://schemas.microsoft.com/office/drawing/2014/main" id="{3CE6616A-AE29-4055-8692-A70C40AC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EXPERIMENTAL DESIGN</a:t>
            </a:r>
          </a:p>
        </p:txBody>
      </p:sp>
      <p:sp>
        <p:nvSpPr>
          <p:cNvPr id="264" name="Google Shape;264;p11">
            <a:extLst xmlns:a="http://schemas.openxmlformats.org/drawingml/2006/main">
              <a:ext uri="{FF2B5EF4-FFF2-40B4-BE49-F238E27FC236}">
                <a16:creationId xmlns:a16="http://schemas.microsoft.com/office/drawing/2014/main" id="{896A940E-D6A8-41B0-897E-0E802B90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295" name="Google Shape;265;p11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6" name="Google Shape;266;p11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" name="Google Shape;267;p11">
            <a:extLst xmlns:a="http://schemas.openxmlformats.org/drawingml/2006/main">
              <a:ext uri="{FF2B5EF4-FFF2-40B4-BE49-F238E27FC236}">
                <a16:creationId xmlns:a16="http://schemas.microsoft.com/office/drawing/2014/main" id="{6A4152EF-580A-4EDF-B286-93810E6F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The Fair Test Test</a:t>
            </a:r>
          </a:p>
        </p:txBody>
      </p:sp>
      <p:sp>
        <p:nvSpPr>
          <p:cNvPr id="268" name="Google Shape;268;p11">
            <a:extLst xmlns:a="http://schemas.openxmlformats.org/drawingml/2006/main">
              <a:ext uri="{FF2B5EF4-FFF2-40B4-BE49-F238E27FC236}">
                <a16:creationId xmlns:a16="http://schemas.microsoft.com/office/drawing/2014/main" id="{A809C67D-0297-49C1-B2E3-82787892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9" name="Google Shape;269;p11">
            <a:extLst xmlns:a="http://schemas.openxmlformats.org/drawingml/2006/main">
              <a:ext uri="{FF2B5EF4-FFF2-40B4-BE49-F238E27FC236}">
                <a16:creationId xmlns:a16="http://schemas.microsoft.com/office/drawing/2014/main" id="{949F3074-0898-4390-9ACE-5DEB35EB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 fair test isolates the factor you care about.</a:t>
            </a:r>
          </a:p>
        </p:txBody>
      </p:sp>
      <p:sp>
        <p:nvSpPr>
          <p:cNvPr id="270" name="Google Shape;270;p11">
            <a:extLst xmlns:a="http://schemas.openxmlformats.org/drawingml/2006/main">
              <a:ext uri="{FF2B5EF4-FFF2-40B4-BE49-F238E27FC236}">
                <a16:creationId xmlns:a16="http://schemas.microsoft.com/office/drawing/2014/main" id="{F03D463C-9851-404C-9E7F-8E2AA8A8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00200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1" name="Google Shape;271;p11">
            <a:extLst xmlns:a="http://schemas.openxmlformats.org/drawingml/2006/main">
              <a:ext uri="{FF2B5EF4-FFF2-40B4-BE49-F238E27FC236}">
                <a16:creationId xmlns:a16="http://schemas.microsoft.com/office/drawing/2014/main" id="{9CF61AB3-BD7D-43B3-8A86-D56E73F6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700784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1. What changes?</a:t>
            </a:r>
          </a:p>
        </p:txBody>
      </p:sp>
      <p:sp>
        <p:nvSpPr>
          <p:cNvPr id="272" name="Google Shape;272;p11">
            <a:extLst xmlns:a="http://schemas.openxmlformats.org/drawingml/2006/main">
              <a:ext uri="{FF2B5EF4-FFF2-40B4-BE49-F238E27FC236}">
                <a16:creationId xmlns:a16="http://schemas.microsoft.com/office/drawing/2014/main" id="{A2A8C083-026E-49BF-8E53-2D448B19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00784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Independent variable</a:t>
            </a:r>
          </a:p>
        </p:txBody>
      </p:sp>
      <p:sp>
        <p:nvSpPr>
          <p:cNvPr id="273" name="Google Shape;273;p11">
            <a:extLst xmlns:a="http://schemas.openxmlformats.org/drawingml/2006/main">
              <a:ext uri="{FF2B5EF4-FFF2-40B4-BE49-F238E27FC236}">
                <a16:creationId xmlns:a16="http://schemas.microsoft.com/office/drawing/2014/main" id="{867AF6C0-D2E4-40FA-8B4C-4A28B3E8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67128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B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4" name="Google Shape;274;p11">
            <a:extLst xmlns:a="http://schemas.openxmlformats.org/drawingml/2006/main">
              <a:ext uri="{FF2B5EF4-FFF2-40B4-BE49-F238E27FC236}">
                <a16:creationId xmlns:a16="http://schemas.microsoft.com/office/drawing/2014/main" id="{091BE25C-BCFE-40D9-B87C-2CD917FF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267712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2. What is measured?</a:t>
            </a:r>
          </a:p>
        </p:txBody>
      </p:sp>
      <p:sp>
        <p:nvSpPr>
          <p:cNvPr id="275" name="Google Shape;275;p11">
            <a:extLst xmlns:a="http://schemas.openxmlformats.org/drawingml/2006/main">
              <a:ext uri="{FF2B5EF4-FFF2-40B4-BE49-F238E27FC236}">
                <a16:creationId xmlns:a16="http://schemas.microsoft.com/office/drawing/2014/main" id="{20CCD4DA-A27E-4B3F-A656-892EBB0C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267712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Dependent variable</a:t>
            </a:r>
          </a:p>
        </p:txBody>
      </p:sp>
      <p:sp>
        <p:nvSpPr>
          <p:cNvPr id="276" name="Google Shape;276;p11">
            <a:extLst xmlns:a="http://schemas.openxmlformats.org/drawingml/2006/main">
              <a:ext uri="{FF2B5EF4-FFF2-40B4-BE49-F238E27FC236}">
                <a16:creationId xmlns:a16="http://schemas.microsoft.com/office/drawing/2014/main" id="{71E53B13-9E90-4737-B412-A616D692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34056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7" name="Google Shape;277;p11">
            <a:extLst xmlns:a="http://schemas.openxmlformats.org/drawingml/2006/main">
              <a:ext uri="{FF2B5EF4-FFF2-40B4-BE49-F238E27FC236}">
                <a16:creationId xmlns:a16="http://schemas.microsoft.com/office/drawing/2014/main" id="{D707AA39-0CB8-4E7C-99B4-0A0144CB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834640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3. What stays the same?</a:t>
            </a:r>
          </a:p>
        </p:txBody>
      </p:sp>
      <p:sp>
        <p:nvSpPr>
          <p:cNvPr id="278" name="Google Shape;278;p11">
            <a:extLst xmlns:a="http://schemas.openxmlformats.org/drawingml/2006/main">
              <a:ext uri="{FF2B5EF4-FFF2-40B4-BE49-F238E27FC236}">
                <a16:creationId xmlns:a16="http://schemas.microsoft.com/office/drawing/2014/main" id="{3F2C442C-BAB1-4EC1-9275-91FC45F5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834640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Controlled variables</a:t>
            </a:r>
          </a:p>
        </p:txBody>
      </p:sp>
      <p:sp>
        <p:nvSpPr>
          <p:cNvPr id="279" name="Google Shape;279;p11">
            <a:extLst xmlns:a="http://schemas.openxmlformats.org/drawingml/2006/main">
              <a:ext uri="{FF2B5EF4-FFF2-40B4-BE49-F238E27FC236}">
                <a16:creationId xmlns:a16="http://schemas.microsoft.com/office/drawing/2014/main" id="{0D120A6F-68AF-4E61-ACFC-0BABF79A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00984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B0B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0" name="Google Shape;280;p11">
            <a:extLst xmlns:a="http://schemas.openxmlformats.org/drawingml/2006/main">
              <a:ext uri="{FF2B5EF4-FFF2-40B4-BE49-F238E27FC236}">
                <a16:creationId xmlns:a16="http://schemas.microsoft.com/office/drawing/2014/main" id="{D047659E-20F7-4D91-8C47-FDA6FA5C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401568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4. What is compared?</a:t>
            </a:r>
          </a:p>
        </p:txBody>
      </p:sp>
      <p:sp>
        <p:nvSpPr>
          <p:cNvPr id="281" name="Google Shape;281;p11">
            <a:extLst xmlns:a="http://schemas.openxmlformats.org/drawingml/2006/main">
              <a:ext uri="{FF2B5EF4-FFF2-40B4-BE49-F238E27FC236}">
                <a16:creationId xmlns:a16="http://schemas.microsoft.com/office/drawing/2014/main" id="{CA123894-12D7-4C8E-B0AD-68976DE2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401568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Control or comparison group</a:t>
            </a:r>
          </a:p>
        </p:txBody>
      </p:sp>
      <p:sp>
        <p:nvSpPr>
          <p:cNvPr id="282" name="Google Shape;282;p11">
            <a:extLst xmlns:a="http://schemas.openxmlformats.org/drawingml/2006/main">
              <a:ext uri="{FF2B5EF4-FFF2-40B4-BE49-F238E27FC236}">
                <a16:creationId xmlns:a16="http://schemas.microsoft.com/office/drawing/2014/main" id="{C1059FA1-678A-4CA9-992C-82C009C3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867912"/>
            <a:ext cx="996696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2424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3" name="Google Shape;283;p11">
            <a:extLst xmlns:a="http://schemas.openxmlformats.org/drawingml/2006/main">
              <a:ext uri="{FF2B5EF4-FFF2-40B4-BE49-F238E27FC236}">
                <a16:creationId xmlns:a16="http://schemas.microsoft.com/office/drawing/2014/main" id="{4E6856DD-5BE6-4B93-8114-E867E5D6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968496"/>
            <a:ext cx="384048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5. What could bias the result?</a:t>
            </a:r>
          </a:p>
        </p:txBody>
      </p:sp>
      <p:sp>
        <p:nvSpPr>
          <p:cNvPr id="284" name="Google Shape;284;p11">
            <a:extLst xmlns:a="http://schemas.openxmlformats.org/drawingml/2006/main">
              <a:ext uri="{FF2B5EF4-FFF2-40B4-BE49-F238E27FC236}">
                <a16:creationId xmlns:a16="http://schemas.microsoft.com/office/drawing/2014/main" id="{478C38DF-73B1-49A9-83C9-AA0D9709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968496"/>
            <a:ext cx="43891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Possible confounds</a:t>
            </a:r>
          </a:p>
        </p:txBody>
      </p:sp>
      <p:sp>
        <p:nvSpPr>
          <p:cNvPr id="285" name="Google Shape;285;p11">
            <a:extLst xmlns:a="http://schemas.openxmlformats.org/drawingml/2006/main">
              <a:ext uri="{FF2B5EF4-FFF2-40B4-BE49-F238E27FC236}">
                <a16:creationId xmlns:a16="http://schemas.microsoft.com/office/drawing/2014/main" id="{18219DB6-C53C-4B85-953B-62440218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6" name="Google Shape;286;p11">
            <a:extLst xmlns:a="http://schemas.openxmlformats.org/drawingml/2006/main">
              <a:ext uri="{FF2B5EF4-FFF2-40B4-BE49-F238E27FC236}">
                <a16:creationId xmlns:a16="http://schemas.microsoft.com/office/drawing/2014/main" id="{93292D18-A14A-46D1-8EBE-8267D0A5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7" name="Google Shape;287;p11">
            <a:extLst xmlns:a="http://schemas.openxmlformats.org/drawingml/2006/main">
              <a:ext uri="{FF2B5EF4-FFF2-40B4-BE49-F238E27FC236}">
                <a16:creationId xmlns:a16="http://schemas.microsoft.com/office/drawing/2014/main" id="{BBC5EE46-4C89-4DBF-8232-E3E1CB13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88" name="Google Shape;288;p11">
            <a:extLst xmlns:a="http://schemas.openxmlformats.org/drawingml/2006/main">
              <a:ext uri="{FF2B5EF4-FFF2-40B4-BE49-F238E27FC236}">
                <a16:creationId xmlns:a16="http://schemas.microsoft.com/office/drawing/2014/main" id="{BECCAFC6-10DF-4B6A-9FB4-E6AC212A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Fair-test audit.</a:t>
            </a:r>
          </a:p>
        </p:txBody>
      </p:sp>
      <p:sp>
        <p:nvSpPr>
          <p:cNvPr id="289" name="Google Shape;289;p11">
            <a:extLst xmlns:a="http://schemas.openxmlformats.org/drawingml/2006/main">
              <a:ext uri="{FF2B5EF4-FFF2-40B4-BE49-F238E27FC236}">
                <a16:creationId xmlns:a16="http://schemas.microsoft.com/office/drawing/2014/main" id="{6D42A4B5-DA6D-4066-8677-4E954EA6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Return to your quick-write answer from Slide 2. Add one missing feature of a fair test.</a:t>
            </a:r>
          </a:p>
        </p:txBody>
      </p:sp>
      <p:sp>
        <p:nvSpPr>
          <p:cNvPr id="290" name="Google Shape;290;p11">
            <a:extLst xmlns:a="http://schemas.openxmlformats.org/drawingml/2006/main">
              <a:ext uri="{FF2B5EF4-FFF2-40B4-BE49-F238E27FC236}">
                <a16:creationId xmlns:a16="http://schemas.microsoft.com/office/drawing/2014/main" id="{03CC490D-A45C-4EBF-9625-F1D2A8C3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724623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6" name="Google Shape;296;p12">
            <a:extLst xmlns:a="http://schemas.openxmlformats.org/drawingml/2006/main">
              <a:ext uri="{FF2B5EF4-FFF2-40B4-BE49-F238E27FC236}">
                <a16:creationId xmlns:a16="http://schemas.microsoft.com/office/drawing/2014/main" id="{3CF225B9-F63E-4997-A6FD-41F35FE9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7" name="Google Shape;297;p12">
            <a:extLst xmlns:a="http://schemas.openxmlformats.org/drawingml/2006/main">
              <a:ext uri="{FF2B5EF4-FFF2-40B4-BE49-F238E27FC236}">
                <a16:creationId xmlns:a16="http://schemas.microsoft.com/office/drawing/2014/main" id="{C2D52315-8F70-4E50-BBCC-787DBA07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8" name="Google Shape;298;p12">
            <a:extLst xmlns:a="http://schemas.openxmlformats.org/drawingml/2006/main">
              <a:ext uri="{FF2B5EF4-FFF2-40B4-BE49-F238E27FC236}">
                <a16:creationId xmlns:a16="http://schemas.microsoft.com/office/drawing/2014/main" id="{9BAC0B14-8F12-4BF8-95E8-D021F9B9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299" name="Google Shape;299;p12">
            <a:extLst xmlns:a="http://schemas.openxmlformats.org/drawingml/2006/main">
              <a:ext uri="{FF2B5EF4-FFF2-40B4-BE49-F238E27FC236}">
                <a16:creationId xmlns:a16="http://schemas.microsoft.com/office/drawing/2014/main" id="{5193C0BD-3CB4-4CB8-B48F-19A8C45A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329" name="Google Shape;300;p12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30" name="Google Shape;301;p12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2" name="Google Shape;302;p12">
            <a:extLst xmlns:a="http://schemas.openxmlformats.org/drawingml/2006/main">
              <a:ext uri="{FF2B5EF4-FFF2-40B4-BE49-F238E27FC236}">
                <a16:creationId xmlns:a16="http://schemas.microsoft.com/office/drawing/2014/main" id="{A7DC6E53-431C-49E4-9788-6A4B5E9C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Engineering Design Starts With a Problem</a:t>
            </a:r>
          </a:p>
        </p:txBody>
      </p:sp>
      <p:sp>
        <p:nvSpPr>
          <p:cNvPr id="303" name="Google Shape;303;p12">
            <a:extLst xmlns:a="http://schemas.openxmlformats.org/drawingml/2006/main">
              <a:ext uri="{FF2B5EF4-FFF2-40B4-BE49-F238E27FC236}">
                <a16:creationId xmlns:a16="http://schemas.microsoft.com/office/drawing/2014/main" id="{0A6F8CE6-679F-4D2B-A0E4-FFABD743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4" name="Google Shape;304;p12">
            <a:extLst xmlns:a="http://schemas.openxmlformats.org/drawingml/2006/main">
              <a:ext uri="{FF2B5EF4-FFF2-40B4-BE49-F238E27FC236}">
                <a16:creationId xmlns:a16="http://schemas.microsoft.com/office/drawing/2014/main" id="{B2FE4DCF-7133-45E5-965D-7DBD0135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projects are judged by performance, criteria, and constraints.</a:t>
            </a:r>
          </a:p>
        </p:txBody>
      </p:sp>
      <p:sp>
        <p:nvSpPr>
          <p:cNvPr id="305" name="Google Shape;305;p12">
            <a:extLst xmlns:a="http://schemas.openxmlformats.org/drawingml/2006/main">
              <a:ext uri="{FF2B5EF4-FFF2-40B4-BE49-F238E27FC236}">
                <a16:creationId xmlns:a16="http://schemas.microsoft.com/office/drawing/2014/main" id="{8418AF27-BCE4-4B8F-A893-E1AF0CC3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33375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6" name="Google Shape;306;p12">
            <a:extLst xmlns:a="http://schemas.openxmlformats.org/drawingml/2006/main">
              <a:ext uri="{FF2B5EF4-FFF2-40B4-BE49-F238E27FC236}">
                <a16:creationId xmlns:a16="http://schemas.microsoft.com/office/drawing/2014/main" id="{4EE52AFE-89AF-4751-A06C-6826F0A9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7" name="Google Shape;307;p12">
            <a:extLst xmlns:a="http://schemas.openxmlformats.org/drawingml/2006/main">
              <a:ext uri="{FF2B5EF4-FFF2-40B4-BE49-F238E27FC236}">
                <a16:creationId xmlns:a16="http://schemas.microsoft.com/office/drawing/2014/main" id="{A3C2C826-5C19-4CCE-A57C-F976CE7F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 or Need</a:t>
            </a:r>
          </a:p>
        </p:txBody>
      </p:sp>
      <p:sp>
        <p:nvSpPr>
          <p:cNvPr id="308" name="Google Shape;308;p12">
            <a:extLst xmlns:a="http://schemas.openxmlformats.org/drawingml/2006/main">
              <a:ext uri="{FF2B5EF4-FFF2-40B4-BE49-F238E27FC236}">
                <a16:creationId xmlns:a16="http://schemas.microsoft.com/office/drawing/2014/main" id="{37207B97-DE8D-4771-A108-A3E981A8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75688"/>
            <a:ext cx="306324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situation needs a better solution? Who or what benefits?</a:t>
            </a:r>
          </a:p>
        </p:txBody>
      </p:sp>
      <p:sp>
        <p:nvSpPr>
          <p:cNvPr id="309" name="Google Shape;309;p12">
            <a:extLst xmlns:a="http://schemas.openxmlformats.org/drawingml/2006/main">
              <a:ext uri="{FF2B5EF4-FFF2-40B4-BE49-F238E27FC236}">
                <a16:creationId xmlns:a16="http://schemas.microsoft.com/office/drawing/2014/main" id="{24CB617A-AF24-4B4D-8FCC-7FE45DBA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33375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0" name="Google Shape;310;p12">
            <a:extLst xmlns:a="http://schemas.openxmlformats.org/drawingml/2006/main">
              <a:ext uri="{FF2B5EF4-FFF2-40B4-BE49-F238E27FC236}">
                <a16:creationId xmlns:a16="http://schemas.microsoft.com/office/drawing/2014/main" id="{5CFC1ED5-EBA7-407E-A629-9F703A7F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0020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1" name="Google Shape;311;p12">
            <a:extLst xmlns:a="http://schemas.openxmlformats.org/drawingml/2006/main">
              <a:ext uri="{FF2B5EF4-FFF2-40B4-BE49-F238E27FC236}">
                <a16:creationId xmlns:a16="http://schemas.microsoft.com/office/drawing/2014/main" id="{FC41645C-08CE-4505-A656-A456E32E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sp>
        <p:nvSpPr>
          <p:cNvPr id="312" name="Google Shape;312;p12">
            <a:extLst xmlns:a="http://schemas.openxmlformats.org/drawingml/2006/main">
              <a:ext uri="{FF2B5EF4-FFF2-40B4-BE49-F238E27FC236}">
                <a16:creationId xmlns:a16="http://schemas.microsoft.com/office/drawing/2014/main" id="{88211648-1554-4F47-B1E9-AE549846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075688"/>
            <a:ext cx="306324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must the design do to count as successful?</a:t>
            </a:r>
          </a:p>
        </p:txBody>
      </p:sp>
      <p:sp>
        <p:nvSpPr>
          <p:cNvPr id="313" name="Google Shape;313;p12">
            <a:extLst xmlns:a="http://schemas.openxmlformats.org/drawingml/2006/main">
              <a:ext uri="{FF2B5EF4-FFF2-40B4-BE49-F238E27FC236}">
                <a16:creationId xmlns:a16="http://schemas.microsoft.com/office/drawing/2014/main" id="{C38DE0BA-3FD6-4340-8DB8-23460A20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33756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4" name="Google Shape;314;p12">
            <a:extLst xmlns:a="http://schemas.openxmlformats.org/drawingml/2006/main">
              <a:ext uri="{FF2B5EF4-FFF2-40B4-BE49-F238E27FC236}">
                <a16:creationId xmlns:a16="http://schemas.microsoft.com/office/drawing/2014/main" id="{D16C39B4-C4C4-403E-B70A-74A0AFAF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54864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5" name="Google Shape;315;p12">
            <a:extLst xmlns:a="http://schemas.openxmlformats.org/drawingml/2006/main">
              <a:ext uri="{FF2B5EF4-FFF2-40B4-BE49-F238E27FC236}">
                <a16:creationId xmlns:a16="http://schemas.microsoft.com/office/drawing/2014/main" id="{E6B0A0AA-1178-4132-BFE1-311F83CE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Constraints</a:t>
            </a:r>
          </a:p>
        </p:txBody>
      </p:sp>
      <p:sp>
        <p:nvSpPr>
          <p:cNvPr id="316" name="Google Shape;316;p12">
            <a:extLst xmlns:a="http://schemas.openxmlformats.org/drawingml/2006/main">
              <a:ext uri="{FF2B5EF4-FFF2-40B4-BE49-F238E27FC236}">
                <a16:creationId xmlns:a16="http://schemas.microsoft.com/office/drawing/2014/main" id="{9ED99BCA-7F9B-44B3-9C57-25AFE61D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75688"/>
            <a:ext cx="3063240" cy="12618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limits the design? Time, cost, size, safety, materials, tools.</a:t>
            </a:r>
          </a:p>
        </p:txBody>
      </p:sp>
      <p:sp>
        <p:nvSpPr>
          <p:cNvPr id="317" name="Google Shape;317;p12">
            <a:extLst xmlns:a="http://schemas.openxmlformats.org/drawingml/2006/main">
              <a:ext uri="{FF2B5EF4-FFF2-40B4-BE49-F238E27FC236}">
                <a16:creationId xmlns:a16="http://schemas.microsoft.com/office/drawing/2014/main" id="{D865577D-5C85-485B-91B6-26D15734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8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300"/>
              <a:buFont typeface="Arial"/>
              <a:buNone/>
            </a:pPr>
            <a:r>
              <a:rPr sz="13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 sentence:</a:t>
            </a:r>
          </a:p>
        </p:txBody>
      </p:sp>
      <p:sp>
        <p:nvSpPr>
          <p:cNvPr id="318" name="Google Shape;318;p12">
            <a:extLst xmlns:a="http://schemas.openxmlformats.org/drawingml/2006/main">
              <a:ext uri="{FF2B5EF4-FFF2-40B4-BE49-F238E27FC236}">
                <a16:creationId xmlns:a16="http://schemas.microsoft.com/office/drawing/2014/main" id="{92318425-FCA1-45CE-BC64-BF040D41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7764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900"/>
              <a:buFont typeface="Arial"/>
              <a:buNone/>
            </a:pPr>
            <a:r>
              <a:rPr sz="19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Design a solution that [does X] while meeting [criteria] within [constraints].</a:t>
            </a:r>
          </a:p>
        </p:txBody>
      </p:sp>
      <p:sp>
        <p:nvSpPr>
          <p:cNvPr id="319" name="Google Shape;319;p12">
            <a:extLst xmlns:a="http://schemas.openxmlformats.org/drawingml/2006/main">
              <a:ext uri="{FF2B5EF4-FFF2-40B4-BE49-F238E27FC236}">
                <a16:creationId xmlns:a16="http://schemas.microsoft.com/office/drawing/2014/main" id="{2F415061-52B2-47A7-A463-6EDF4E5F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0" name="Google Shape;320;p12">
            <a:extLst xmlns:a="http://schemas.openxmlformats.org/drawingml/2006/main">
              <a:ext uri="{FF2B5EF4-FFF2-40B4-BE49-F238E27FC236}">
                <a16:creationId xmlns:a16="http://schemas.microsoft.com/office/drawing/2014/main" id="{FC10F0CA-1DF3-4C1B-A98D-CB86C04C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1" name="Google Shape;321;p12">
            <a:extLst xmlns:a="http://schemas.openxmlformats.org/drawingml/2006/main">
              <a:ext uri="{FF2B5EF4-FFF2-40B4-BE49-F238E27FC236}">
                <a16:creationId xmlns:a16="http://schemas.microsoft.com/office/drawing/2014/main" id="{083331B6-7F1C-4AD2-BEA2-BA978782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22" name="Google Shape;322;p12">
            <a:extLst xmlns:a="http://schemas.openxmlformats.org/drawingml/2006/main">
              <a:ext uri="{FF2B5EF4-FFF2-40B4-BE49-F238E27FC236}">
                <a16:creationId xmlns:a16="http://schemas.microsoft.com/office/drawing/2014/main" id="{C5E6EAF8-0C5A-46FE-A592-29C7E8AC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Frame an engineering problem.</a:t>
            </a:r>
          </a:p>
        </p:txBody>
      </p:sp>
      <p:sp>
        <p:nvSpPr>
          <p:cNvPr id="323" name="Google Shape;323;p12">
            <a:extLst xmlns:a="http://schemas.openxmlformats.org/drawingml/2006/main">
              <a:ext uri="{FF2B5EF4-FFF2-40B4-BE49-F238E27FC236}">
                <a16:creationId xmlns:a16="http://schemas.microsoft.com/office/drawing/2014/main" id="{01E7499C-52CE-40AA-A102-84D1F291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If your project builds or improves something, write the problem, criteria, and constraints in one sentence.</a:t>
            </a:r>
          </a:p>
        </p:txBody>
      </p:sp>
      <p:sp>
        <p:nvSpPr>
          <p:cNvPr id="324" name="Google Shape;324;p12">
            <a:extLst xmlns:a="http://schemas.openxmlformats.org/drawingml/2006/main">
              <a:ext uri="{FF2B5EF4-FFF2-40B4-BE49-F238E27FC236}">
                <a16:creationId xmlns:a16="http://schemas.microsoft.com/office/drawing/2014/main" id="{7DC284C9-73F6-4DCD-BA3C-51A28364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518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0" name="Google Shape;330;p13">
            <a:extLst xmlns:a="http://schemas.openxmlformats.org/drawingml/2006/main">
              <a:ext uri="{FF2B5EF4-FFF2-40B4-BE49-F238E27FC236}">
                <a16:creationId xmlns:a16="http://schemas.microsoft.com/office/drawing/2014/main" id="{ED935714-51DE-4B01-B40E-B9133103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1" name="Google Shape;331;p13">
            <a:extLst xmlns:a="http://schemas.openxmlformats.org/drawingml/2006/main">
              <a:ext uri="{FF2B5EF4-FFF2-40B4-BE49-F238E27FC236}">
                <a16:creationId xmlns:a16="http://schemas.microsoft.com/office/drawing/2014/main" id="{A6957D70-47F9-48A6-A563-4E197A84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2" name="Google Shape;332;p13">
            <a:extLst xmlns:a="http://schemas.openxmlformats.org/drawingml/2006/main">
              <a:ext uri="{FF2B5EF4-FFF2-40B4-BE49-F238E27FC236}">
                <a16:creationId xmlns:a16="http://schemas.microsoft.com/office/drawing/2014/main" id="{32A51E27-0F2D-4EF9-9BC9-830ECA6C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333" name="Google Shape;333;p13">
            <a:extLst xmlns:a="http://schemas.openxmlformats.org/drawingml/2006/main">
              <a:ext uri="{FF2B5EF4-FFF2-40B4-BE49-F238E27FC236}">
                <a16:creationId xmlns:a16="http://schemas.microsoft.com/office/drawing/2014/main" id="{C1CABB96-E8BD-4A99-9D15-7F84100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374" name="Google Shape;334;p13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5" name="Google Shape;335;p13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6" name="Google Shape;336;p13">
            <a:extLst xmlns:a="http://schemas.openxmlformats.org/drawingml/2006/main">
              <a:ext uri="{FF2B5EF4-FFF2-40B4-BE49-F238E27FC236}">
                <a16:creationId xmlns:a16="http://schemas.microsoft.com/office/drawing/2014/main" id="{7C384A7B-CA77-43F3-9A58-A2F81993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The Design Cycle Is Evidence-Based</a:t>
            </a:r>
          </a:p>
        </p:txBody>
      </p:sp>
      <p:sp>
        <p:nvSpPr>
          <p:cNvPr id="337" name="Google Shape;337;p13">
            <a:extLst xmlns:a="http://schemas.openxmlformats.org/drawingml/2006/main">
              <a:ext uri="{FF2B5EF4-FFF2-40B4-BE49-F238E27FC236}">
                <a16:creationId xmlns:a16="http://schemas.microsoft.com/office/drawing/2014/main" id="{87F314A6-E73C-46EF-B950-703CEAA5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8" name="Google Shape;338;p13">
            <a:extLst xmlns:a="http://schemas.openxmlformats.org/drawingml/2006/main">
              <a:ext uri="{FF2B5EF4-FFF2-40B4-BE49-F238E27FC236}">
                <a16:creationId xmlns:a16="http://schemas.microsoft.com/office/drawing/2014/main" id="{47C9566A-37E8-46AB-A0A8-D0961F5D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Redesign should be based on test results, not vibes.</a:t>
            </a:r>
          </a:p>
        </p:txBody>
      </p:sp>
      <p:sp>
        <p:nvSpPr>
          <p:cNvPr id="339" name="Google Shape;339;p13">
            <a:extLst xmlns:a="http://schemas.openxmlformats.org/drawingml/2006/main">
              <a:ext uri="{FF2B5EF4-FFF2-40B4-BE49-F238E27FC236}">
                <a16:creationId xmlns:a16="http://schemas.microsoft.com/office/drawing/2014/main" id="{C659034C-162C-4BDB-9ABC-8CE54433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0" name="Google Shape;340;p13">
            <a:extLst xmlns:a="http://schemas.openxmlformats.org/drawingml/2006/main">
              <a:ext uri="{FF2B5EF4-FFF2-40B4-BE49-F238E27FC236}">
                <a16:creationId xmlns:a16="http://schemas.microsoft.com/office/drawing/2014/main" id="{2D6D15E7-0A69-4944-B07E-6D705876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1" name="Google Shape;341;p13">
            <a:extLst xmlns:a="http://schemas.openxmlformats.org/drawingml/2006/main">
              <a:ext uri="{FF2B5EF4-FFF2-40B4-BE49-F238E27FC236}">
                <a16:creationId xmlns:a16="http://schemas.microsoft.com/office/drawing/2014/main" id="{62CE8366-373F-40B7-844D-A19721CA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</a:t>
            </a:r>
          </a:p>
        </p:txBody>
      </p:sp>
      <p:cxnSp>
        <p:nvCxnSpPr>
          <p:cNvPr id="382" name="Google Shape;342;p13"/>
          <p:cNvCxnSpPr/>
          <p:nvPr/>
        </p:nvCxnSpPr>
        <p:spPr>
          <a:xfrm xmlns:a="http://schemas.openxmlformats.org/drawingml/2006/main">
            <a:off x="241401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43" name="Google Shape;343;p13">
            <a:extLst xmlns:a="http://schemas.openxmlformats.org/drawingml/2006/main">
              <a:ext uri="{FF2B5EF4-FFF2-40B4-BE49-F238E27FC236}">
                <a16:creationId xmlns:a16="http://schemas.microsoft.com/office/drawing/2014/main" id="{180C7991-58CB-4787-A0F1-4376F3ED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4" name="Google Shape;344;p13">
            <a:extLst xmlns:a="http://schemas.openxmlformats.org/drawingml/2006/main">
              <a:ext uri="{FF2B5EF4-FFF2-40B4-BE49-F238E27FC236}">
                <a16:creationId xmlns:a16="http://schemas.microsoft.com/office/drawing/2014/main" id="{5F67BE60-6072-4A38-B84F-58293755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5" name="Google Shape;345;p13">
            <a:extLst xmlns:a="http://schemas.openxmlformats.org/drawingml/2006/main">
              <a:ext uri="{FF2B5EF4-FFF2-40B4-BE49-F238E27FC236}">
                <a16:creationId xmlns:a16="http://schemas.microsoft.com/office/drawing/2014/main" id="{F71136A7-570C-495A-8C6F-F83700C6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64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cxnSp>
        <p:nvCxnSpPr>
          <p:cNvPr id="386" name="Google Shape;346;p13"/>
          <p:cNvCxnSpPr/>
          <p:nvPr/>
        </p:nvCxnSpPr>
        <p:spPr>
          <a:xfrm xmlns:a="http://schemas.openxmlformats.org/drawingml/2006/main">
            <a:off x="419709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47" name="Google Shape;347;p13">
            <a:extLst xmlns:a="http://schemas.openxmlformats.org/drawingml/2006/main">
              <a:ext uri="{FF2B5EF4-FFF2-40B4-BE49-F238E27FC236}">
                <a16:creationId xmlns:a16="http://schemas.microsoft.com/office/drawing/2014/main" id="{7C22F828-6502-46E3-9FF6-68793DCF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8" name="Google Shape;348;p13">
            <a:extLst xmlns:a="http://schemas.openxmlformats.org/drawingml/2006/main">
              <a:ext uri="{FF2B5EF4-FFF2-40B4-BE49-F238E27FC236}">
                <a16:creationId xmlns:a16="http://schemas.microsoft.com/office/drawing/2014/main" id="{892AB558-CE84-4CBA-B9B9-ED95853E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9" name="Google Shape;349;p13">
            <a:extLst xmlns:a="http://schemas.openxmlformats.org/drawingml/2006/main">
              <a:ext uri="{FF2B5EF4-FFF2-40B4-BE49-F238E27FC236}">
                <a16:creationId xmlns:a16="http://schemas.microsoft.com/office/drawing/2014/main" id="{093A68BA-C5CC-4C85-880A-41A6DA8F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Prototype</a:t>
            </a:r>
          </a:p>
        </p:txBody>
      </p:sp>
      <p:cxnSp>
        <p:nvCxnSpPr>
          <p:cNvPr id="390" name="Google Shape;350;p13"/>
          <p:cNvCxnSpPr/>
          <p:nvPr/>
        </p:nvCxnSpPr>
        <p:spPr>
          <a:xfrm xmlns:a="http://schemas.openxmlformats.org/drawingml/2006/main">
            <a:off x="598017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51" name="Google Shape;351;p13">
            <a:extLst xmlns:a="http://schemas.openxmlformats.org/drawingml/2006/main">
              <a:ext uri="{FF2B5EF4-FFF2-40B4-BE49-F238E27FC236}">
                <a16:creationId xmlns:a16="http://schemas.microsoft.com/office/drawing/2014/main" id="{411565C0-BA44-4F33-9760-BECA23D1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2" name="Google Shape;352;p13">
            <a:extLst xmlns:a="http://schemas.openxmlformats.org/drawingml/2006/main">
              <a:ext uri="{FF2B5EF4-FFF2-40B4-BE49-F238E27FC236}">
                <a16:creationId xmlns:a16="http://schemas.microsoft.com/office/drawing/2014/main" id="{F5387E33-CC16-4351-8119-C6AB5E3B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3" name="Google Shape;353;p13">
            <a:extLst xmlns:a="http://schemas.openxmlformats.org/drawingml/2006/main">
              <a:ext uri="{FF2B5EF4-FFF2-40B4-BE49-F238E27FC236}">
                <a16:creationId xmlns:a16="http://schemas.microsoft.com/office/drawing/2014/main" id="{6337A9CA-3B01-40FB-B419-D72E2F26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Test</a:t>
            </a:r>
          </a:p>
        </p:txBody>
      </p:sp>
      <p:cxnSp>
        <p:nvCxnSpPr>
          <p:cNvPr id="394" name="Google Shape;354;p13"/>
          <p:cNvCxnSpPr/>
          <p:nvPr/>
        </p:nvCxnSpPr>
        <p:spPr>
          <a:xfrm xmlns:a="http://schemas.openxmlformats.org/drawingml/2006/main">
            <a:off x="776325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55" name="Google Shape;355;p13">
            <a:extLst xmlns:a="http://schemas.openxmlformats.org/drawingml/2006/main">
              <a:ext uri="{FF2B5EF4-FFF2-40B4-BE49-F238E27FC236}">
                <a16:creationId xmlns:a16="http://schemas.microsoft.com/office/drawing/2014/main" id="{E59C2F57-7ADF-40BA-A334-B6BDA2D0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6" name="Google Shape;356;p13">
            <a:extLst xmlns:a="http://schemas.openxmlformats.org/drawingml/2006/main">
              <a:ext uri="{FF2B5EF4-FFF2-40B4-BE49-F238E27FC236}">
                <a16:creationId xmlns:a16="http://schemas.microsoft.com/office/drawing/2014/main" id="{777D21CD-3F37-41D2-98A7-D8F31DDD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7" name="Google Shape;357;p13">
            <a:extLst xmlns:a="http://schemas.openxmlformats.org/drawingml/2006/main">
              <a:ext uri="{FF2B5EF4-FFF2-40B4-BE49-F238E27FC236}">
                <a16:creationId xmlns:a16="http://schemas.microsoft.com/office/drawing/2014/main" id="{F63F7889-4459-46EB-9C44-EB96B2C9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Analyze</a:t>
            </a:r>
          </a:p>
        </p:txBody>
      </p:sp>
      <p:cxnSp>
        <p:nvCxnSpPr>
          <p:cNvPr id="398" name="Google Shape;358;p13"/>
          <p:cNvCxnSpPr/>
          <p:nvPr/>
        </p:nvCxnSpPr>
        <p:spPr>
          <a:xfrm xmlns:a="http://schemas.openxmlformats.org/drawingml/2006/main">
            <a:off x="9546336" y="2359152"/>
            <a:ext cx="32004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ED1C24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59" name="Google Shape;359;p13">
            <a:extLst xmlns:a="http://schemas.openxmlformats.org/drawingml/2006/main">
              <a:ext uri="{FF2B5EF4-FFF2-40B4-BE49-F238E27FC236}">
                <a16:creationId xmlns:a16="http://schemas.microsoft.com/office/drawing/2014/main" id="{C35A7B41-C1F0-4DE6-8788-1E931159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011680"/>
            <a:ext cx="141732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0" name="Google Shape;360;p13">
            <a:extLst xmlns:a="http://schemas.openxmlformats.org/drawingml/2006/main">
              <a:ext uri="{FF2B5EF4-FFF2-40B4-BE49-F238E27FC236}">
                <a16:creationId xmlns:a16="http://schemas.microsoft.com/office/drawing/2014/main" id="{5EDA3357-4B18-4DD9-AE4C-C7140E6D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011680"/>
            <a:ext cx="54864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1" name="Google Shape;361;p13">
            <a:extLst xmlns:a="http://schemas.openxmlformats.org/drawingml/2006/main">
              <a:ext uri="{FF2B5EF4-FFF2-40B4-BE49-F238E27FC236}">
                <a16:creationId xmlns:a16="http://schemas.microsoft.com/office/drawing/2014/main" id="{DE384697-F69E-4A18-8BE7-5525A0A0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968" y="2130552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Redesign</a:t>
            </a:r>
          </a:p>
        </p:txBody>
      </p:sp>
      <p:sp>
        <p:nvSpPr>
          <p:cNvPr id="362" name="Google Shape;362;p13">
            <a:extLst xmlns:a="http://schemas.openxmlformats.org/drawingml/2006/main">
              <a:ext uri="{FF2B5EF4-FFF2-40B4-BE49-F238E27FC236}">
                <a16:creationId xmlns:a16="http://schemas.microsoft.com/office/drawing/2014/main" id="{119EC669-DC2F-46BF-B32C-CE347B85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19272"/>
            <a:ext cx="10058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3" name="Google Shape;363;p13">
            <a:extLst xmlns:a="http://schemas.openxmlformats.org/drawingml/2006/main">
              <a:ext uri="{FF2B5EF4-FFF2-40B4-BE49-F238E27FC236}">
                <a16:creationId xmlns:a16="http://schemas.microsoft.com/office/drawing/2014/main" id="{832CBB66-ABB1-43B2-B089-92C00CA0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566160"/>
            <a:ext cx="960120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Prototype testing generates evidence. Evidence tells you what to redesign.</a:t>
            </a:r>
          </a:p>
        </p:txBody>
      </p:sp>
      <p:sp>
        <p:nvSpPr>
          <p:cNvPr id="364" name="Google Shape;364;p13">
            <a:extLst xmlns:a="http://schemas.openxmlformats.org/drawingml/2006/main">
              <a:ext uri="{FF2B5EF4-FFF2-40B4-BE49-F238E27FC236}">
                <a16:creationId xmlns:a16="http://schemas.microsoft.com/office/drawing/2014/main" id="{46A297CE-1D1C-4383-924D-3321917C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5" name="Google Shape;365;p13">
            <a:extLst xmlns:a="http://schemas.openxmlformats.org/drawingml/2006/main">
              <a:ext uri="{FF2B5EF4-FFF2-40B4-BE49-F238E27FC236}">
                <a16:creationId xmlns:a16="http://schemas.microsoft.com/office/drawing/2014/main" id="{5402BA30-86ED-40A9-9915-26956B8E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6" name="Google Shape;366;p13">
            <a:extLst xmlns:a="http://schemas.openxmlformats.org/drawingml/2006/main">
              <a:ext uri="{FF2B5EF4-FFF2-40B4-BE49-F238E27FC236}">
                <a16:creationId xmlns:a16="http://schemas.microsoft.com/office/drawing/2014/main" id="{9D8D6110-3480-417A-A622-6131B189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367" name="Google Shape;367;p13">
            <a:extLst xmlns:a="http://schemas.openxmlformats.org/drawingml/2006/main">
              <a:ext uri="{FF2B5EF4-FFF2-40B4-BE49-F238E27FC236}">
                <a16:creationId xmlns:a16="http://schemas.microsoft.com/office/drawing/2014/main" id="{6687321A-AC27-416A-BB7D-91C3896B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Design-cycle checkpoint.</a:t>
            </a:r>
          </a:p>
        </p:txBody>
      </p:sp>
      <p:sp>
        <p:nvSpPr>
          <p:cNvPr id="368" name="Google Shape;368;p13">
            <a:extLst xmlns:a="http://schemas.openxmlformats.org/drawingml/2006/main">
              <a:ext uri="{FF2B5EF4-FFF2-40B4-BE49-F238E27FC236}">
                <a16:creationId xmlns:a16="http://schemas.microsoft.com/office/drawing/2014/main" id="{F26C47EB-F63B-4AE1-A660-9B4E2C85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For your project idea, name one possible test result that would force a redesign.</a:t>
            </a:r>
          </a:p>
        </p:txBody>
      </p:sp>
      <p:sp>
        <p:nvSpPr>
          <p:cNvPr id="369" name="Google Shape;369;p13">
            <a:extLst xmlns:a="http://schemas.openxmlformats.org/drawingml/2006/main">
              <a:ext uri="{FF2B5EF4-FFF2-40B4-BE49-F238E27FC236}">
                <a16:creationId xmlns:a16="http://schemas.microsoft.com/office/drawing/2014/main" id="{BC4CC089-A5BF-4FA6-B1CB-A3DCB89B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63122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5" name="Google Shape;375;p14">
            <a:extLst xmlns:a="http://schemas.openxmlformats.org/drawingml/2006/main">
              <a:ext uri="{FF2B5EF4-FFF2-40B4-BE49-F238E27FC236}">
                <a16:creationId xmlns:a16="http://schemas.microsoft.com/office/drawing/2014/main" id="{3E399023-E141-464B-B4A3-B0FE8C95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6" name="Google Shape;376;p14">
            <a:extLst xmlns:a="http://schemas.openxmlformats.org/drawingml/2006/main">
              <a:ext uri="{FF2B5EF4-FFF2-40B4-BE49-F238E27FC236}">
                <a16:creationId xmlns:a16="http://schemas.microsoft.com/office/drawing/2014/main" id="{78010D13-6C78-4D19-86C0-971467B8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7" name="Google Shape;377;p14">
            <a:extLst xmlns:a="http://schemas.openxmlformats.org/drawingml/2006/main">
              <a:ext uri="{FF2B5EF4-FFF2-40B4-BE49-F238E27FC236}">
                <a16:creationId xmlns:a16="http://schemas.microsoft.com/office/drawing/2014/main" id="{F565105E-FDE0-40DB-863A-79B903E1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ENGINEERING DESIGN</a:t>
            </a:r>
          </a:p>
        </p:txBody>
      </p:sp>
      <p:sp>
        <p:nvSpPr>
          <p:cNvPr id="378" name="Google Shape;378;p14">
            <a:extLst xmlns:a="http://schemas.openxmlformats.org/drawingml/2006/main">
              <a:ext uri="{FF2B5EF4-FFF2-40B4-BE49-F238E27FC236}">
                <a16:creationId xmlns:a16="http://schemas.microsoft.com/office/drawing/2014/main" id="{94478CFC-B8B4-4328-B475-6ED55203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18" name="Google Shape;379;p14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9" name="Google Shape;380;p14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1" name="Google Shape;381;p14">
            <a:extLst xmlns:a="http://schemas.openxmlformats.org/drawingml/2006/main">
              <a:ext uri="{FF2B5EF4-FFF2-40B4-BE49-F238E27FC236}">
                <a16:creationId xmlns:a16="http://schemas.microsoft.com/office/drawing/2014/main" id="{A1D2C645-5AA9-4033-989B-7AD0C48B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Performance Metrics Make “Better” Measurable</a:t>
            </a:r>
          </a:p>
        </p:txBody>
      </p:sp>
      <p:sp>
        <p:nvSpPr>
          <p:cNvPr id="382" name="Google Shape;382;p14">
            <a:extLst xmlns:a="http://schemas.openxmlformats.org/drawingml/2006/main">
              <a:ext uri="{FF2B5EF4-FFF2-40B4-BE49-F238E27FC236}">
                <a16:creationId xmlns:a16="http://schemas.microsoft.com/office/drawing/2014/main" id="{ACBEEF00-05EC-4CDE-8FDC-1B42A3B4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3" name="Google Shape;383;p14">
            <a:extLst xmlns:a="http://schemas.openxmlformats.org/drawingml/2006/main">
              <a:ext uri="{FF2B5EF4-FFF2-40B4-BE49-F238E27FC236}">
                <a16:creationId xmlns:a16="http://schemas.microsoft.com/office/drawing/2014/main" id="{C80B9415-05FB-427F-8C40-2C858775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Never accept “better” unless the student defines better.</a:t>
            </a:r>
          </a:p>
        </p:txBody>
      </p:sp>
      <p:sp>
        <p:nvSpPr>
          <p:cNvPr id="384" name="Google Shape;384;p14">
            <a:extLst xmlns:a="http://schemas.openxmlformats.org/drawingml/2006/main">
              <a:ext uri="{FF2B5EF4-FFF2-40B4-BE49-F238E27FC236}">
                <a16:creationId xmlns:a16="http://schemas.microsoft.com/office/drawing/2014/main" id="{02F14C7D-0A6F-40BB-B48F-7E4689EE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5" name="Google Shape;385;p14">
            <a:extLst xmlns:a="http://schemas.openxmlformats.org/drawingml/2006/main">
              <a:ext uri="{FF2B5EF4-FFF2-40B4-BE49-F238E27FC236}">
                <a16:creationId xmlns:a16="http://schemas.microsoft.com/office/drawing/2014/main" id="{BA6969AA-AD2F-4AE3-997C-D9348077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6" name="Google Shape;386;p14">
            <a:extLst xmlns:a="http://schemas.openxmlformats.org/drawingml/2006/main">
              <a:ext uri="{FF2B5EF4-FFF2-40B4-BE49-F238E27FC236}">
                <a16:creationId xmlns:a16="http://schemas.microsoft.com/office/drawing/2014/main" id="{C99AE0B3-75BF-4E91-989F-1D3D5D5B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17190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Bridge design</a:t>
            </a:r>
          </a:p>
        </p:txBody>
      </p:sp>
      <p:sp>
        <p:nvSpPr>
          <p:cNvPr id="387" name="Google Shape;387;p14">
            <a:extLst xmlns:a="http://schemas.openxmlformats.org/drawingml/2006/main">
              <a:ext uri="{FF2B5EF4-FFF2-40B4-BE49-F238E27FC236}">
                <a16:creationId xmlns:a16="http://schemas.microsoft.com/office/drawing/2014/main" id="{FFD9154F-B0B3-45E5-951B-AD254266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1069848" y="2039112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Load supported per gram of material</a:t>
            </a:r>
          </a:p>
        </p:txBody>
      </p:sp>
      <p:sp>
        <p:nvSpPr>
          <p:cNvPr id="388" name="Google Shape;388;p14">
            <a:extLst xmlns:a="http://schemas.openxmlformats.org/drawingml/2006/main">
              <a:ext uri="{FF2B5EF4-FFF2-40B4-BE49-F238E27FC236}">
                <a16:creationId xmlns:a16="http://schemas.microsoft.com/office/drawing/2014/main" id="{086445A2-87B1-4293-8CC8-859A9B14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9" name="Google Shape;389;p14">
            <a:extLst xmlns:a="http://schemas.openxmlformats.org/drawingml/2006/main">
              <a:ext uri="{FF2B5EF4-FFF2-40B4-BE49-F238E27FC236}">
                <a16:creationId xmlns:a16="http://schemas.microsoft.com/office/drawing/2014/main" id="{4AED4E2D-7F18-4B79-B59A-31097B6F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0" name="Google Shape;390;p14">
            <a:extLst xmlns:a="http://schemas.openxmlformats.org/drawingml/2006/main">
              <a:ext uri="{FF2B5EF4-FFF2-40B4-BE49-F238E27FC236}">
                <a16:creationId xmlns:a16="http://schemas.microsoft.com/office/drawing/2014/main" id="{5B5A515F-8B08-4170-9747-02309D74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71907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Drone landing</a:t>
            </a:r>
          </a:p>
        </p:txBody>
      </p:sp>
      <p:sp>
        <p:nvSpPr>
          <p:cNvPr id="391" name="Google Shape;391;p14">
            <a:extLst xmlns:a="http://schemas.openxmlformats.org/drawingml/2006/main">
              <a:ext uri="{FF2B5EF4-FFF2-40B4-BE49-F238E27FC236}">
                <a16:creationId xmlns:a16="http://schemas.microsoft.com/office/drawing/2014/main" id="{372C5D4D-539D-4F47-9B34-68D3F285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373368" y="2039112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Percent of accurate target landings</a:t>
            </a:r>
          </a:p>
        </p:txBody>
      </p:sp>
      <p:sp>
        <p:nvSpPr>
          <p:cNvPr id="392" name="Google Shape;392;p14">
            <a:extLst xmlns:a="http://schemas.openxmlformats.org/drawingml/2006/main">
              <a:ext uri="{FF2B5EF4-FFF2-40B4-BE49-F238E27FC236}">
                <a16:creationId xmlns:a16="http://schemas.microsoft.com/office/drawing/2014/main" id="{CB65C215-C822-4213-A676-B3E3B496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3432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3" name="Google Shape;393;p14">
            <a:extLst xmlns:a="http://schemas.openxmlformats.org/drawingml/2006/main">
              <a:ext uri="{FF2B5EF4-FFF2-40B4-BE49-F238E27FC236}">
                <a16:creationId xmlns:a16="http://schemas.microsoft.com/office/drawing/2014/main" id="{F3D026C6-D3AC-42ED-AABA-BD3ADDB5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343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4" name="Google Shape;394;p14">
            <a:extLst xmlns:a="http://schemas.openxmlformats.org/drawingml/2006/main">
              <a:ext uri="{FF2B5EF4-FFF2-40B4-BE49-F238E27FC236}">
                <a16:creationId xmlns:a16="http://schemas.microsoft.com/office/drawing/2014/main" id="{25B77E2D-CABF-4102-9202-796FFC8A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2432304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Filter prototype</a:t>
            </a:r>
          </a:p>
        </p:txBody>
      </p:sp>
      <p:sp>
        <p:nvSpPr>
          <p:cNvPr id="395" name="Google Shape;395;p14">
            <a:extLst xmlns:a="http://schemas.openxmlformats.org/drawingml/2006/main">
              <a:ext uri="{FF2B5EF4-FFF2-40B4-BE49-F238E27FC236}">
                <a16:creationId xmlns:a16="http://schemas.microsoft.com/office/drawing/2014/main" id="{D23EF0E3-5A7D-4BEA-AA78-6C34931A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1069848" y="2752344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Turbidity reduction per dollar</a:t>
            </a:r>
          </a:p>
        </p:txBody>
      </p:sp>
      <p:sp>
        <p:nvSpPr>
          <p:cNvPr id="396" name="Google Shape;396;p14">
            <a:extLst xmlns:a="http://schemas.openxmlformats.org/drawingml/2006/main">
              <a:ext uri="{FF2B5EF4-FFF2-40B4-BE49-F238E27FC236}">
                <a16:creationId xmlns:a16="http://schemas.microsoft.com/office/drawing/2014/main" id="{0053157B-027F-4893-8502-DA3C3C86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13432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7" name="Google Shape;397;p14">
            <a:extLst xmlns:a="http://schemas.openxmlformats.org/drawingml/2006/main">
              <a:ext uri="{FF2B5EF4-FFF2-40B4-BE49-F238E27FC236}">
                <a16:creationId xmlns:a16="http://schemas.microsoft.com/office/drawing/2014/main" id="{2ED58F2A-F88D-418C-8EA6-02AEEA7A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1343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8" name="Google Shape;398;p14">
            <a:extLst xmlns:a="http://schemas.openxmlformats.org/drawingml/2006/main">
              <a:ext uri="{FF2B5EF4-FFF2-40B4-BE49-F238E27FC236}">
                <a16:creationId xmlns:a16="http://schemas.microsoft.com/office/drawing/2014/main" id="{C7AE92A4-86D9-400F-A3A8-D80D60A4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432304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Wind turbine</a:t>
            </a:r>
          </a:p>
        </p:txBody>
      </p:sp>
      <p:sp>
        <p:nvSpPr>
          <p:cNvPr id="399" name="Google Shape;399;p14">
            <a:extLst xmlns:a="http://schemas.openxmlformats.org/drawingml/2006/main">
              <a:ext uri="{FF2B5EF4-FFF2-40B4-BE49-F238E27FC236}">
                <a16:creationId xmlns:a16="http://schemas.microsoft.com/office/drawing/2014/main" id="{058B7E7A-882E-444F-A7FD-BF3E4E42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373368" y="2752344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Average voltage at fixed fan speed</a:t>
            </a:r>
          </a:p>
        </p:txBody>
      </p:sp>
      <p:sp>
        <p:nvSpPr>
          <p:cNvPr id="400" name="Google Shape;400;p14">
            <a:extLst xmlns:a="http://schemas.openxmlformats.org/drawingml/2006/main">
              <a:ext uri="{FF2B5EF4-FFF2-40B4-BE49-F238E27FC236}">
                <a16:creationId xmlns:a16="http://schemas.microsoft.com/office/drawing/2014/main" id="{D83AC04A-8232-467C-A336-15097096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6664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1" name="Google Shape;401;p14">
            <a:extLst xmlns:a="http://schemas.openxmlformats.org/drawingml/2006/main">
              <a:ext uri="{FF2B5EF4-FFF2-40B4-BE49-F238E27FC236}">
                <a16:creationId xmlns:a16="http://schemas.microsoft.com/office/drawing/2014/main" id="{607E4030-CD84-4A8B-BAB0-6CE2D336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666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2" name="Google Shape;402;p14">
            <a:extLst xmlns:a="http://schemas.openxmlformats.org/drawingml/2006/main">
              <a:ext uri="{FF2B5EF4-FFF2-40B4-BE49-F238E27FC236}">
                <a16:creationId xmlns:a16="http://schemas.microsoft.com/office/drawing/2014/main" id="{2F3B968B-B395-4E54-A697-B43D35E7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145536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App or model</a:t>
            </a:r>
          </a:p>
        </p:txBody>
      </p:sp>
      <p:sp>
        <p:nvSpPr>
          <p:cNvPr id="403" name="Google Shape;403;p14">
            <a:extLst xmlns:a="http://schemas.openxmlformats.org/drawingml/2006/main">
              <a:ext uri="{FF2B5EF4-FFF2-40B4-BE49-F238E27FC236}">
                <a16:creationId xmlns:a16="http://schemas.microsoft.com/office/drawing/2014/main" id="{E6177530-6332-42A3-A7F4-A209B7AF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1069848" y="3465576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Accuracy, error rate, or task completion time</a:t>
            </a:r>
          </a:p>
        </p:txBody>
      </p:sp>
      <p:sp>
        <p:nvSpPr>
          <p:cNvPr id="404" name="Google Shape;404;p14">
            <a:extLst xmlns:a="http://schemas.openxmlformats.org/drawingml/2006/main">
              <a:ext uri="{FF2B5EF4-FFF2-40B4-BE49-F238E27FC236}">
                <a16:creationId xmlns:a16="http://schemas.microsoft.com/office/drawing/2014/main" id="{069DD20B-FCB9-44F8-990D-2C7644F2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026664"/>
            <a:ext cx="46634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5" name="Google Shape;405;p14">
            <a:extLst xmlns:a="http://schemas.openxmlformats.org/drawingml/2006/main">
              <a:ext uri="{FF2B5EF4-FFF2-40B4-BE49-F238E27FC236}">
                <a16:creationId xmlns:a16="http://schemas.microsoft.com/office/drawing/2014/main" id="{1903E0CA-2AF8-4BDF-A455-868A61F4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02666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6" name="Google Shape;406;p14">
            <a:extLst xmlns:a="http://schemas.openxmlformats.org/drawingml/2006/main">
              <a:ext uri="{FF2B5EF4-FFF2-40B4-BE49-F238E27FC236}">
                <a16:creationId xmlns:a16="http://schemas.microsoft.com/office/drawing/2014/main" id="{9BB13B82-88A9-4D06-81B6-67B0B0E1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145536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Material test</a:t>
            </a:r>
          </a:p>
        </p:txBody>
      </p:sp>
      <p:sp>
        <p:nvSpPr>
          <p:cNvPr id="407" name="Google Shape;407;p14">
            <a:extLst xmlns:a="http://schemas.openxmlformats.org/drawingml/2006/main">
              <a:ext uri="{FF2B5EF4-FFF2-40B4-BE49-F238E27FC236}">
                <a16:creationId xmlns:a16="http://schemas.microsoft.com/office/drawing/2014/main" id="{7A03C37F-859F-4CFD-A49F-008A2F48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6373368" y="3465576"/>
            <a:ext cx="4389120" cy="36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Strength, deformation, failure point</a:t>
            </a:r>
          </a:p>
        </p:txBody>
      </p:sp>
      <p:sp>
        <p:nvSpPr>
          <p:cNvPr id="408" name="Google Shape;408;p14">
            <a:extLst xmlns:a="http://schemas.openxmlformats.org/drawingml/2006/main">
              <a:ext uri="{FF2B5EF4-FFF2-40B4-BE49-F238E27FC236}">
                <a16:creationId xmlns:a16="http://schemas.microsoft.com/office/drawing/2014/main" id="{8BB6F32A-514D-4B7B-B178-52D2E953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9" name="Google Shape;409;p14">
            <a:extLst xmlns:a="http://schemas.openxmlformats.org/drawingml/2006/main">
              <a:ext uri="{FF2B5EF4-FFF2-40B4-BE49-F238E27FC236}">
                <a16:creationId xmlns:a16="http://schemas.microsoft.com/office/drawing/2014/main" id="{6A131169-74BD-4F09-8F85-0DF9F694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0" name="Google Shape;410;p14">
            <a:extLst xmlns:a="http://schemas.openxmlformats.org/drawingml/2006/main">
              <a:ext uri="{FF2B5EF4-FFF2-40B4-BE49-F238E27FC236}">
                <a16:creationId xmlns:a16="http://schemas.microsoft.com/office/drawing/2014/main" id="{E968B12C-EC8C-400F-B02A-3D13533D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11" name="Google Shape;411;p14">
            <a:extLst xmlns:a="http://schemas.openxmlformats.org/drawingml/2006/main">
              <a:ext uri="{FF2B5EF4-FFF2-40B4-BE49-F238E27FC236}">
                <a16:creationId xmlns:a16="http://schemas.microsoft.com/office/drawing/2014/main" id="{54EAD8E6-A9C7-4C2E-BEBF-477D9849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Define “better.”</a:t>
            </a:r>
          </a:p>
        </p:txBody>
      </p:sp>
      <p:sp>
        <p:nvSpPr>
          <p:cNvPr id="412" name="Google Shape;412;p14">
            <a:extLst xmlns:a="http://schemas.openxmlformats.org/drawingml/2006/main">
              <a:ext uri="{FF2B5EF4-FFF2-40B4-BE49-F238E27FC236}">
                <a16:creationId xmlns:a16="http://schemas.microsoft.com/office/drawing/2014/main" id="{CC69585C-8236-4695-96BF-E3D246A7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Replace one vague word in your project idea with a measurable performance metric.</a:t>
            </a:r>
          </a:p>
        </p:txBody>
      </p:sp>
      <p:sp>
        <p:nvSpPr>
          <p:cNvPr id="413" name="Google Shape;413;p14">
            <a:extLst xmlns:a="http://schemas.openxmlformats.org/drawingml/2006/main">
              <a:ext uri="{FF2B5EF4-FFF2-40B4-BE49-F238E27FC236}">
                <a16:creationId xmlns:a16="http://schemas.microsoft.com/office/drawing/2014/main" id="{9EDAD1F6-5DB7-4109-ADA3-4D095730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855868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9" name="Google Shape;419;p15">
            <a:extLst xmlns:a="http://schemas.openxmlformats.org/drawingml/2006/main">
              <a:ext uri="{FF2B5EF4-FFF2-40B4-BE49-F238E27FC236}">
                <a16:creationId xmlns:a16="http://schemas.microsoft.com/office/drawing/2014/main" id="{ECAEE78E-FDF5-4248-8110-F1B40BBC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0" name="Google Shape;420;p15">
            <a:extLst xmlns:a="http://schemas.openxmlformats.org/drawingml/2006/main">
              <a:ext uri="{FF2B5EF4-FFF2-40B4-BE49-F238E27FC236}">
                <a16:creationId xmlns:a16="http://schemas.microsoft.com/office/drawing/2014/main" id="{A7231432-CD0E-4515-B403-A1134814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1" name="Google Shape;421;p15">
            <a:extLst xmlns:a="http://schemas.openxmlformats.org/drawingml/2006/main">
              <a:ext uri="{FF2B5EF4-FFF2-40B4-BE49-F238E27FC236}">
                <a16:creationId xmlns:a16="http://schemas.microsoft.com/office/drawing/2014/main" id="{09BBBCD4-337F-4B8E-AA90-7CB76EEC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BRIDGE</a:t>
            </a:r>
          </a:p>
        </p:txBody>
      </p:sp>
      <p:sp>
        <p:nvSpPr>
          <p:cNvPr id="422" name="Google Shape;422;p15">
            <a:extLst xmlns:a="http://schemas.openxmlformats.org/drawingml/2006/main">
              <a:ext uri="{FF2B5EF4-FFF2-40B4-BE49-F238E27FC236}">
                <a16:creationId xmlns:a16="http://schemas.microsoft.com/office/drawing/2014/main" id="{35A83309-1CB8-4274-A7C1-1F31C377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47" name="Google Shape;423;p15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48" name="Google Shape;424;p15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5" name="Google Shape;425;p15">
            <a:extLst xmlns:a="http://schemas.openxmlformats.org/drawingml/2006/main">
              <a:ext uri="{FF2B5EF4-FFF2-40B4-BE49-F238E27FC236}">
                <a16:creationId xmlns:a16="http://schemas.microsoft.com/office/drawing/2014/main" id="{89D36CDC-3AEA-4303-AB6D-3F512926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Same Curiosity, Different Frames</a:t>
            </a:r>
          </a:p>
        </p:txBody>
      </p:sp>
      <p:sp>
        <p:nvSpPr>
          <p:cNvPr id="426" name="Google Shape;426;p15">
            <a:extLst xmlns:a="http://schemas.openxmlformats.org/drawingml/2006/main">
              <a:ext uri="{FF2B5EF4-FFF2-40B4-BE49-F238E27FC236}">
                <a16:creationId xmlns:a16="http://schemas.microsoft.com/office/drawing/2014/main" id="{7F9D9D0B-17ED-404C-AF76-6E1E415B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7" name="Google Shape;427;p15">
            <a:extLst xmlns:a="http://schemas.openxmlformats.org/drawingml/2006/main">
              <a:ext uri="{FF2B5EF4-FFF2-40B4-BE49-F238E27FC236}">
                <a16:creationId xmlns:a16="http://schemas.microsoft.com/office/drawing/2014/main" id="{0FF524C2-7879-4D9C-98B9-7A977C47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 topic can become either a science question or an engineering challenge.</a:t>
            </a:r>
          </a:p>
        </p:txBody>
      </p:sp>
      <p:sp>
        <p:nvSpPr>
          <p:cNvPr id="428" name="Google Shape;428;p15">
            <a:extLst xmlns:a="http://schemas.openxmlformats.org/drawingml/2006/main">
              <a:ext uri="{FF2B5EF4-FFF2-40B4-BE49-F238E27FC236}">
                <a16:creationId xmlns:a16="http://schemas.microsoft.com/office/drawing/2014/main" id="{728CC91F-B433-47B3-A8B9-4D6A1A4A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48006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9" name="Google Shape;429;p15">
            <a:extLst xmlns:a="http://schemas.openxmlformats.org/drawingml/2006/main">
              <a:ext uri="{FF2B5EF4-FFF2-40B4-BE49-F238E27FC236}">
                <a16:creationId xmlns:a16="http://schemas.microsoft.com/office/drawing/2014/main" id="{69033D65-286C-45F6-AF07-DFBF1571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0" name="Google Shape;430;p15">
            <a:extLst xmlns:a="http://schemas.openxmlformats.org/drawingml/2006/main">
              <a:ext uri="{FF2B5EF4-FFF2-40B4-BE49-F238E27FC236}">
                <a16:creationId xmlns:a16="http://schemas.microsoft.com/office/drawing/2014/main" id="{41BACF5A-2C36-49A4-A2F9-4B276169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810512"/>
            <a:ext cx="4526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Experimental Frame</a:t>
            </a:r>
          </a:p>
        </p:txBody>
      </p:sp>
      <p:sp>
        <p:nvSpPr>
          <p:cNvPr id="431" name="Google Shape;431;p15">
            <a:extLst xmlns:a="http://schemas.openxmlformats.org/drawingml/2006/main">
              <a:ext uri="{FF2B5EF4-FFF2-40B4-BE49-F238E27FC236}">
                <a16:creationId xmlns:a16="http://schemas.microsoft.com/office/drawing/2014/main" id="{5A1AFF66-EA26-4D3D-8F29-830A104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167128"/>
            <a:ext cx="4526280" cy="1444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How does blade angle affect voltage output in a model wind turbine?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Focus: relationship between angle and voltage.</a:t>
            </a:r>
          </a:p>
        </p:txBody>
      </p:sp>
      <p:sp>
        <p:nvSpPr>
          <p:cNvPr id="432" name="Google Shape;432;p15">
            <a:extLst xmlns:a="http://schemas.openxmlformats.org/drawingml/2006/main">
              <a:ext uri="{FF2B5EF4-FFF2-40B4-BE49-F238E27FC236}">
                <a16:creationId xmlns:a16="http://schemas.microsoft.com/office/drawing/2014/main" id="{758B49E9-5A53-40FF-A776-63D4209F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91640"/>
            <a:ext cx="48006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3" name="Google Shape;433;p15">
            <a:extLst xmlns:a="http://schemas.openxmlformats.org/drawingml/2006/main">
              <a:ext uri="{FF2B5EF4-FFF2-40B4-BE49-F238E27FC236}">
                <a16:creationId xmlns:a16="http://schemas.microsoft.com/office/drawing/2014/main" id="{59758538-C6E4-41AB-91D0-AFF08C4B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9164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4" name="Google Shape;434;p15">
            <a:extLst xmlns:a="http://schemas.openxmlformats.org/drawingml/2006/main">
              <a:ext uri="{FF2B5EF4-FFF2-40B4-BE49-F238E27FC236}">
                <a16:creationId xmlns:a16="http://schemas.microsoft.com/office/drawing/2014/main" id="{792D732F-B5BB-4047-9929-B61CC2C3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1810512"/>
            <a:ext cx="45262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Engineering Frame</a:t>
            </a:r>
          </a:p>
        </p:txBody>
      </p:sp>
      <p:sp>
        <p:nvSpPr>
          <p:cNvPr id="435" name="Google Shape;435;p15">
            <a:extLst xmlns:a="http://schemas.openxmlformats.org/drawingml/2006/main">
              <a:ext uri="{FF2B5EF4-FFF2-40B4-BE49-F238E27FC236}">
                <a16:creationId xmlns:a16="http://schemas.microsoft.com/office/drawing/2014/main" id="{51B29B96-12F7-43BD-9BCE-2139ABDE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2167128"/>
            <a:ext cx="4526280" cy="1444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Which blade design maximizes voltage output while using less than 20 g of material?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Focus: optimized design under constraints.</a:t>
            </a:r>
          </a:p>
        </p:txBody>
      </p:sp>
      <p:sp>
        <p:nvSpPr>
          <p:cNvPr id="436" name="Google Shape;436;p15">
            <a:extLst xmlns:a="http://schemas.openxmlformats.org/drawingml/2006/main">
              <a:ext uri="{FF2B5EF4-FFF2-40B4-BE49-F238E27FC236}">
                <a16:creationId xmlns:a16="http://schemas.microsoft.com/office/drawing/2014/main" id="{70E63A14-267F-4B1F-AEBB-3CC30718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05072"/>
            <a:ext cx="1005840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Both are valid. They just need different evidence.</a:t>
            </a:r>
          </a:p>
        </p:txBody>
      </p:sp>
      <p:sp>
        <p:nvSpPr>
          <p:cNvPr id="437" name="Google Shape;437;p15">
            <a:extLst xmlns:a="http://schemas.openxmlformats.org/drawingml/2006/main">
              <a:ext uri="{FF2B5EF4-FFF2-40B4-BE49-F238E27FC236}">
                <a16:creationId xmlns:a16="http://schemas.microsoft.com/office/drawing/2014/main" id="{43ECE694-D406-4022-9E3E-618ECFF9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8" name="Google Shape;438;p15">
            <a:extLst xmlns:a="http://schemas.openxmlformats.org/drawingml/2006/main">
              <a:ext uri="{FF2B5EF4-FFF2-40B4-BE49-F238E27FC236}">
                <a16:creationId xmlns:a16="http://schemas.microsoft.com/office/drawing/2014/main" id="{861DCB08-3717-4820-8147-4293F52B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9" name="Google Shape;439;p15">
            <a:extLst xmlns:a="http://schemas.openxmlformats.org/drawingml/2006/main">
              <a:ext uri="{FF2B5EF4-FFF2-40B4-BE49-F238E27FC236}">
                <a16:creationId xmlns:a16="http://schemas.microsoft.com/office/drawing/2014/main" id="{340638F9-6D56-4E2A-A2E1-D8AE6D96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40" name="Google Shape;440;p15">
            <a:extLst xmlns:a="http://schemas.openxmlformats.org/drawingml/2006/main">
              <a:ext uri="{FF2B5EF4-FFF2-40B4-BE49-F238E27FC236}">
                <a16:creationId xmlns:a16="http://schemas.microsoft.com/office/drawing/2014/main" id="{9FF92BB2-3825-429B-A516-5FF2A098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Choose your frame.</a:t>
            </a:r>
          </a:p>
        </p:txBody>
      </p:sp>
      <p:sp>
        <p:nvSpPr>
          <p:cNvPr id="441" name="Google Shape;441;p15">
            <a:extLst xmlns:a="http://schemas.openxmlformats.org/drawingml/2006/main">
              <a:ext uri="{FF2B5EF4-FFF2-40B4-BE49-F238E27FC236}">
                <a16:creationId xmlns:a16="http://schemas.microsoft.com/office/drawing/2014/main" id="{6590FA5C-C567-42A1-86E7-B724BFA8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Circle which frame best fits your current idea. Write one sentence explaining why.</a:t>
            </a:r>
          </a:p>
        </p:txBody>
      </p:sp>
      <p:sp>
        <p:nvSpPr>
          <p:cNvPr id="442" name="Google Shape;442;p15">
            <a:extLst xmlns:a="http://schemas.openxmlformats.org/drawingml/2006/main">
              <a:ext uri="{FF2B5EF4-FFF2-40B4-BE49-F238E27FC236}">
                <a16:creationId xmlns:a16="http://schemas.microsoft.com/office/drawing/2014/main" id="{3BAE7554-1C71-4491-B0D1-A37A8A53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506790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8" name="Google Shape;448;p16">
            <a:extLst xmlns:a="http://schemas.openxmlformats.org/drawingml/2006/main">
              <a:ext uri="{FF2B5EF4-FFF2-40B4-BE49-F238E27FC236}">
                <a16:creationId xmlns:a16="http://schemas.microsoft.com/office/drawing/2014/main" id="{0E6DE4DD-03EA-4082-8D5F-DC451548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49" name="Google Shape;449;p16">
            <a:extLst xmlns:a="http://schemas.openxmlformats.org/drawingml/2006/main">
              <a:ext uri="{FF2B5EF4-FFF2-40B4-BE49-F238E27FC236}">
                <a16:creationId xmlns:a16="http://schemas.microsoft.com/office/drawing/2014/main" id="{8DDACA8D-4732-4397-BBF0-AC6C1D54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0" name="Google Shape;450;p16">
            <a:extLst xmlns:a="http://schemas.openxmlformats.org/drawingml/2006/main">
              <a:ext uri="{FF2B5EF4-FFF2-40B4-BE49-F238E27FC236}">
                <a16:creationId xmlns:a16="http://schemas.microsoft.com/office/drawing/2014/main" id="{853130DA-A7ED-45EC-84E2-444435AC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CHECKPOINT</a:t>
            </a:r>
          </a:p>
        </p:txBody>
      </p:sp>
      <p:sp>
        <p:nvSpPr>
          <p:cNvPr id="451" name="Google Shape;451;p16">
            <a:extLst xmlns:a="http://schemas.openxmlformats.org/drawingml/2006/main">
              <a:ext uri="{FF2B5EF4-FFF2-40B4-BE49-F238E27FC236}">
                <a16:creationId xmlns:a16="http://schemas.microsoft.com/office/drawing/2014/main" id="{67BE2E87-7C6A-4F47-B95B-895754B7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486" name="Google Shape;452;p16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87" name="Google Shape;453;p16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4" name="Google Shape;454;p16">
            <a:extLst xmlns:a="http://schemas.openxmlformats.org/drawingml/2006/main">
              <a:ext uri="{FF2B5EF4-FFF2-40B4-BE49-F238E27FC236}">
                <a16:creationId xmlns:a16="http://schemas.microsoft.com/office/drawing/2014/main" id="{7B18E7C1-44C2-482E-977C-7EC25B81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Common Mix-Ups to Catch Early</a:t>
            </a:r>
          </a:p>
        </p:txBody>
      </p:sp>
      <p:sp>
        <p:nvSpPr>
          <p:cNvPr id="455" name="Google Shape;455;p16">
            <a:extLst xmlns:a="http://schemas.openxmlformats.org/drawingml/2006/main">
              <a:ext uri="{FF2B5EF4-FFF2-40B4-BE49-F238E27FC236}">
                <a16:creationId xmlns:a16="http://schemas.microsoft.com/office/drawing/2014/main" id="{4400A0C4-1D4E-4487-B830-ED1585C9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6" name="Google Shape;456;p16">
            <a:extLst xmlns:a="http://schemas.openxmlformats.org/drawingml/2006/main">
              <a:ext uri="{FF2B5EF4-FFF2-40B4-BE49-F238E27FC236}">
                <a16:creationId xmlns:a16="http://schemas.microsoft.com/office/drawing/2014/main" id="{B3231D39-553D-4F9B-A8E8-E45D7646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Most weak project plans fail because a key term is fuzzy.</a:t>
            </a:r>
          </a:p>
        </p:txBody>
      </p:sp>
      <p:sp>
        <p:nvSpPr>
          <p:cNvPr id="457" name="Google Shape;457;p16">
            <a:extLst xmlns:a="http://schemas.openxmlformats.org/drawingml/2006/main">
              <a:ext uri="{FF2B5EF4-FFF2-40B4-BE49-F238E27FC236}">
                <a16:creationId xmlns:a16="http://schemas.microsoft.com/office/drawing/2014/main" id="{1F696457-54F2-4E68-B1AD-FE361BA4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8" name="Google Shape;458;p16">
            <a:extLst xmlns:a="http://schemas.openxmlformats.org/drawingml/2006/main">
              <a:ext uri="{FF2B5EF4-FFF2-40B4-BE49-F238E27FC236}">
                <a16:creationId xmlns:a16="http://schemas.microsoft.com/office/drawing/2014/main" id="{04BF8343-27A3-405C-820D-6EF1D8B1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9" name="Google Shape;459;p16">
            <a:extLst xmlns:a="http://schemas.openxmlformats.org/drawingml/2006/main">
              <a:ext uri="{FF2B5EF4-FFF2-40B4-BE49-F238E27FC236}">
                <a16:creationId xmlns:a16="http://schemas.microsoft.com/office/drawing/2014/main" id="{9ED243BD-9043-4E08-A2C3-B27725E8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8308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Variable vs. value</a:t>
            </a:r>
          </a:p>
        </p:txBody>
      </p:sp>
      <p:sp>
        <p:nvSpPr>
          <p:cNvPr id="460" name="Google Shape;460;p16">
            <a:extLst xmlns:a="http://schemas.openxmlformats.org/drawingml/2006/main">
              <a:ext uri="{FF2B5EF4-FFF2-40B4-BE49-F238E27FC236}">
                <a16:creationId xmlns:a16="http://schemas.microsoft.com/office/drawing/2014/main" id="{52037645-57FA-4BC1-8DCD-B97DCC8F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3969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Variable: fertilizer concentration. Values: 0%, 5%, 10%.</a:t>
            </a:r>
          </a:p>
        </p:txBody>
      </p:sp>
      <p:sp>
        <p:nvSpPr>
          <p:cNvPr id="461" name="Google Shape;461;p16">
            <a:extLst xmlns:a="http://schemas.openxmlformats.org/drawingml/2006/main">
              <a:ext uri="{FF2B5EF4-FFF2-40B4-BE49-F238E27FC236}">
                <a16:creationId xmlns:a16="http://schemas.microsoft.com/office/drawing/2014/main" id="{D0D5AE1C-56C5-4F3B-8C4A-256A4B80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66420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2" name="Google Shape;462;p16">
            <a:extLst xmlns:a="http://schemas.openxmlformats.org/drawingml/2006/main">
              <a:ext uri="{FF2B5EF4-FFF2-40B4-BE49-F238E27FC236}">
                <a16:creationId xmlns:a16="http://schemas.microsoft.com/office/drawing/2014/main" id="{B881A842-13A3-4CC2-AFFB-DD089281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66420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3" name="Google Shape;463;p16">
            <a:extLst xmlns:a="http://schemas.openxmlformats.org/drawingml/2006/main">
              <a:ext uri="{FF2B5EF4-FFF2-40B4-BE49-F238E27FC236}">
                <a16:creationId xmlns:a16="http://schemas.microsoft.com/office/drawing/2014/main" id="{E023ECE9-1FB1-4632-AE2C-963346EF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78308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 vs. constraint</a:t>
            </a:r>
          </a:p>
        </p:txBody>
      </p:sp>
      <p:sp>
        <p:nvSpPr>
          <p:cNvPr id="464" name="Google Shape;464;p16">
            <a:extLst xmlns:a="http://schemas.openxmlformats.org/drawingml/2006/main">
              <a:ext uri="{FF2B5EF4-FFF2-40B4-BE49-F238E27FC236}">
                <a16:creationId xmlns:a16="http://schemas.microsoft.com/office/drawing/2014/main" id="{2ABE0C4D-A295-40F2-A82B-F754C6D2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13969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Criteria define success. Constraints define limits.</a:t>
            </a:r>
          </a:p>
        </p:txBody>
      </p:sp>
      <p:sp>
        <p:nvSpPr>
          <p:cNvPr id="465" name="Google Shape;465;p16">
            <a:extLst xmlns:a="http://schemas.openxmlformats.org/drawingml/2006/main">
              <a:ext uri="{FF2B5EF4-FFF2-40B4-BE49-F238E27FC236}">
                <a16:creationId xmlns:a16="http://schemas.microsoft.com/office/drawing/2014/main" id="{DD3DAAFC-71E1-4789-8429-503C182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166420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6" name="Google Shape;466;p16">
            <a:extLst xmlns:a="http://schemas.openxmlformats.org/drawingml/2006/main">
              <a:ext uri="{FF2B5EF4-FFF2-40B4-BE49-F238E27FC236}">
                <a16:creationId xmlns:a16="http://schemas.microsoft.com/office/drawing/2014/main" id="{A60913B1-C939-4350-8220-0B6FA6AC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166420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67" name="Google Shape;467;p16">
            <a:extLst xmlns:a="http://schemas.openxmlformats.org/drawingml/2006/main">
              <a:ext uri="{FF2B5EF4-FFF2-40B4-BE49-F238E27FC236}">
                <a16:creationId xmlns:a16="http://schemas.microsoft.com/office/drawing/2014/main" id="{72564753-6762-4C6D-94F2-A76F846F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178308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Data vs. conclusion</a:t>
            </a:r>
          </a:p>
        </p:txBody>
      </p:sp>
      <p:sp>
        <p:nvSpPr>
          <p:cNvPr id="468" name="Google Shape;468;p16">
            <a:extLst xmlns:a="http://schemas.openxmlformats.org/drawingml/2006/main">
              <a:ext uri="{FF2B5EF4-FFF2-40B4-BE49-F238E27FC236}">
                <a16:creationId xmlns:a16="http://schemas.microsoft.com/office/drawing/2014/main" id="{A497BF36-1A03-4697-BC06-792728D4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213969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Data are measured results. Conclusions explain what they suggest.</a:t>
            </a:r>
          </a:p>
        </p:txBody>
      </p:sp>
      <p:sp>
        <p:nvSpPr>
          <p:cNvPr id="469" name="Google Shape;469;p16">
            <a:extLst xmlns:a="http://schemas.openxmlformats.org/drawingml/2006/main">
              <a:ext uri="{FF2B5EF4-FFF2-40B4-BE49-F238E27FC236}">
                <a16:creationId xmlns:a16="http://schemas.microsoft.com/office/drawing/2014/main" id="{1AA0EE19-221F-4B31-AC07-B2F51247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8152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0" name="Google Shape;470;p16">
            <a:extLst xmlns:a="http://schemas.openxmlformats.org/drawingml/2006/main">
              <a:ext uri="{FF2B5EF4-FFF2-40B4-BE49-F238E27FC236}">
                <a16:creationId xmlns:a16="http://schemas.microsoft.com/office/drawing/2014/main" id="{D0090181-D9BD-493B-B001-6788A016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8152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1" name="Google Shape;471;p16">
            <a:extLst xmlns:a="http://schemas.openxmlformats.org/drawingml/2006/main">
              <a:ext uri="{FF2B5EF4-FFF2-40B4-BE49-F238E27FC236}">
                <a16:creationId xmlns:a16="http://schemas.microsoft.com/office/drawing/2014/main" id="{182AA259-2947-4A21-9C79-3B1FC9AC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20040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Control vs. controlled</a:t>
            </a:r>
          </a:p>
        </p:txBody>
      </p:sp>
      <p:sp>
        <p:nvSpPr>
          <p:cNvPr id="472" name="Google Shape;472;p16">
            <a:extLst xmlns:a="http://schemas.openxmlformats.org/drawingml/2006/main">
              <a:ext uri="{FF2B5EF4-FFF2-40B4-BE49-F238E27FC236}">
                <a16:creationId xmlns:a16="http://schemas.microsoft.com/office/drawing/2014/main" id="{830A17F7-1037-4E0B-B143-CF4EC2D2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5701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 control group is a comparison. Controlled variables are kept the same.</a:t>
            </a:r>
          </a:p>
        </p:txBody>
      </p:sp>
      <p:sp>
        <p:nvSpPr>
          <p:cNvPr id="473" name="Google Shape;473;p16">
            <a:extLst xmlns:a="http://schemas.openxmlformats.org/drawingml/2006/main">
              <a:ext uri="{FF2B5EF4-FFF2-40B4-BE49-F238E27FC236}">
                <a16:creationId xmlns:a16="http://schemas.microsoft.com/office/drawing/2014/main" id="{1293F089-12F3-4E1F-9993-A112B1FE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08152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4" name="Google Shape;474;p16">
            <a:extLst xmlns:a="http://schemas.openxmlformats.org/drawingml/2006/main">
              <a:ext uri="{FF2B5EF4-FFF2-40B4-BE49-F238E27FC236}">
                <a16:creationId xmlns:a16="http://schemas.microsoft.com/office/drawing/2014/main" id="{78881933-D578-472C-BF2B-F74C7DFD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08152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5" name="Google Shape;475;p16">
            <a:extLst xmlns:a="http://schemas.openxmlformats.org/drawingml/2006/main">
              <a:ext uri="{FF2B5EF4-FFF2-40B4-BE49-F238E27FC236}">
                <a16:creationId xmlns:a16="http://schemas.microsoft.com/office/drawing/2014/main" id="{24DFD53C-A49D-41F4-89EA-0D28071A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20040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Trial vs. sample</a:t>
            </a:r>
          </a:p>
        </p:txBody>
      </p:sp>
      <p:sp>
        <p:nvSpPr>
          <p:cNvPr id="476" name="Google Shape;476;p16">
            <a:extLst xmlns:a="http://schemas.openxmlformats.org/drawingml/2006/main">
              <a:ext uri="{FF2B5EF4-FFF2-40B4-BE49-F238E27FC236}">
                <a16:creationId xmlns:a16="http://schemas.microsoft.com/office/drawing/2014/main" id="{648ADBAD-D411-493E-BEF0-4D393F10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55701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A trial is a repeated test. A sample is what or who is being tested.</a:t>
            </a:r>
          </a:p>
        </p:txBody>
      </p:sp>
      <p:sp>
        <p:nvSpPr>
          <p:cNvPr id="477" name="Google Shape;477;p16">
            <a:extLst xmlns:a="http://schemas.openxmlformats.org/drawingml/2006/main">
              <a:ext uri="{FF2B5EF4-FFF2-40B4-BE49-F238E27FC236}">
                <a16:creationId xmlns:a16="http://schemas.microsoft.com/office/drawing/2014/main" id="{7D24E7D0-86DE-41F9-B3ED-622A6D96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3081528"/>
            <a:ext cx="3154680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8" name="Google Shape;478;p16">
            <a:extLst xmlns:a="http://schemas.openxmlformats.org/drawingml/2006/main">
              <a:ext uri="{FF2B5EF4-FFF2-40B4-BE49-F238E27FC236}">
                <a16:creationId xmlns:a16="http://schemas.microsoft.com/office/drawing/2014/main" id="{755B1869-2590-497F-87CA-05CD5E89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3081528"/>
            <a:ext cx="54864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79" name="Google Shape;479;p16">
            <a:extLst xmlns:a="http://schemas.openxmlformats.org/drawingml/2006/main">
              <a:ext uri="{FF2B5EF4-FFF2-40B4-BE49-F238E27FC236}">
                <a16:creationId xmlns:a16="http://schemas.microsoft.com/office/drawing/2014/main" id="{77A5C871-B992-41CB-9FDF-5D31E26A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3200400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Error vs. failure</a:t>
            </a:r>
          </a:p>
        </p:txBody>
      </p:sp>
      <p:sp>
        <p:nvSpPr>
          <p:cNvPr id="480" name="Google Shape;480;p16">
            <a:extLst xmlns:a="http://schemas.openxmlformats.org/drawingml/2006/main">
              <a:ext uri="{FF2B5EF4-FFF2-40B4-BE49-F238E27FC236}">
                <a16:creationId xmlns:a16="http://schemas.microsoft.com/office/drawing/2014/main" id="{089831B8-E486-478D-A149-EBA223C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3557016"/>
            <a:ext cx="28803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Error affects measurement. Failure can be useful evidence.</a:t>
            </a:r>
          </a:p>
        </p:txBody>
      </p:sp>
      <p:sp>
        <p:nvSpPr>
          <p:cNvPr id="481" name="Google Shape;481;p16">
            <a:extLst xmlns:a="http://schemas.openxmlformats.org/drawingml/2006/main">
              <a:ext uri="{FF2B5EF4-FFF2-40B4-BE49-F238E27FC236}">
                <a16:creationId xmlns:a16="http://schemas.microsoft.com/office/drawing/2014/main" id="{7355FBE3-852F-4786-AD5C-0B671153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416932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7" name="Google Shape;487;p17">
            <a:extLst xmlns:a="http://schemas.openxmlformats.org/drawingml/2006/main">
              <a:ext uri="{FF2B5EF4-FFF2-40B4-BE49-F238E27FC236}">
                <a16:creationId xmlns:a16="http://schemas.microsoft.com/office/drawing/2014/main" id="{75BFDF2B-44C5-46B9-8250-456B303C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88" name="Google Shape;488;p17">
            <a:extLst xmlns:a="http://schemas.openxmlformats.org/drawingml/2006/main">
              <a:ext uri="{FF2B5EF4-FFF2-40B4-BE49-F238E27FC236}">
                <a16:creationId xmlns:a16="http://schemas.microsoft.com/office/drawing/2014/main" id="{CDFDD226-B934-4558-A016-2EB73CAB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89" name="Google Shape;489;p17">
            <a:extLst xmlns:a="http://schemas.openxmlformats.org/drawingml/2006/main">
              <a:ext uri="{FF2B5EF4-FFF2-40B4-BE49-F238E27FC236}">
                <a16:creationId xmlns:a16="http://schemas.microsoft.com/office/drawing/2014/main" id="{520F5F6B-2FBC-423D-9A98-CD87640B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490" name="Google Shape;490;p17">
            <a:extLst xmlns:a="http://schemas.openxmlformats.org/drawingml/2006/main">
              <a:ext uri="{FF2B5EF4-FFF2-40B4-BE49-F238E27FC236}">
                <a16:creationId xmlns:a16="http://schemas.microsoft.com/office/drawing/2014/main" id="{D49FDD05-D83A-426F-A5A3-67B49BEA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518" name="Google Shape;491;p17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9" name="Google Shape;492;p17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3" name="Google Shape;493;p17">
            <a:extLst xmlns:a="http://schemas.openxmlformats.org/drawingml/2006/main">
              <a:ext uri="{FF2B5EF4-FFF2-40B4-BE49-F238E27FC236}">
                <a16:creationId xmlns:a16="http://schemas.microsoft.com/office/drawing/2014/main" id="{2F8BD842-BB13-465A-9EDC-588CC4F7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Activity: Project Card Sort</a:t>
            </a:r>
          </a:p>
        </p:txBody>
      </p:sp>
      <p:sp>
        <p:nvSpPr>
          <p:cNvPr id="494" name="Google Shape;494;p17">
            <a:extLst xmlns:a="http://schemas.openxmlformats.org/drawingml/2006/main">
              <a:ext uri="{FF2B5EF4-FFF2-40B4-BE49-F238E27FC236}">
                <a16:creationId xmlns:a16="http://schemas.microsoft.com/office/drawing/2014/main" id="{13D13686-F500-48F4-98B6-43743A03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5" name="Google Shape;495;p17">
            <a:extLst xmlns:a="http://schemas.openxmlformats.org/drawingml/2006/main">
              <a:ext uri="{FF2B5EF4-FFF2-40B4-BE49-F238E27FC236}">
                <a16:creationId xmlns:a16="http://schemas.microsoft.com/office/drawing/2014/main" id="{75E93246-9BD9-4764-BC32-A9AF56B8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Classify each idea by the kind of evidence it needs.</a:t>
            </a:r>
          </a:p>
        </p:txBody>
      </p:sp>
      <p:sp>
        <p:nvSpPr>
          <p:cNvPr id="496" name="Google Shape;496;p17">
            <a:extLst xmlns:a="http://schemas.openxmlformats.org/drawingml/2006/main">
              <a:ext uri="{FF2B5EF4-FFF2-40B4-BE49-F238E27FC236}">
                <a16:creationId xmlns:a16="http://schemas.microsoft.com/office/drawing/2014/main" id="{A22FB70D-7C47-4441-993F-BB9D53F9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7" name="Google Shape;497;p17">
            <a:extLst xmlns:a="http://schemas.openxmlformats.org/drawingml/2006/main">
              <a:ext uri="{FF2B5EF4-FFF2-40B4-BE49-F238E27FC236}">
                <a16:creationId xmlns:a16="http://schemas.microsoft.com/office/drawing/2014/main" id="{B1DF8266-28C6-4D0A-8D6E-AC1C03CF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98" name="Google Shape;498;p17">
            <a:extLst xmlns:a="http://schemas.openxmlformats.org/drawingml/2006/main">
              <a:ext uri="{FF2B5EF4-FFF2-40B4-BE49-F238E27FC236}">
                <a16:creationId xmlns:a16="http://schemas.microsoft.com/office/drawing/2014/main" id="{F25649FD-934C-4717-B720-AB694ECA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Experiment</a:t>
            </a:r>
          </a:p>
        </p:txBody>
      </p:sp>
      <p:sp>
        <p:nvSpPr>
          <p:cNvPr id="499" name="Google Shape;499;p17">
            <a:extLst xmlns:a="http://schemas.openxmlformats.org/drawingml/2006/main">
              <a:ext uri="{FF2B5EF4-FFF2-40B4-BE49-F238E27FC236}">
                <a16:creationId xmlns:a16="http://schemas.microsoft.com/office/drawing/2014/main" id="{2EBDC37A-8CB1-4961-AFFE-9C23051C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Tests a relationship between variables.</a:t>
            </a:r>
          </a:p>
        </p:txBody>
      </p:sp>
      <p:sp>
        <p:nvSpPr>
          <p:cNvPr id="500" name="Google Shape;500;p17">
            <a:extLst xmlns:a="http://schemas.openxmlformats.org/drawingml/2006/main">
              <a:ext uri="{FF2B5EF4-FFF2-40B4-BE49-F238E27FC236}">
                <a16:creationId xmlns:a16="http://schemas.microsoft.com/office/drawing/2014/main" id="{F8C85EC7-652B-4044-9B16-BF70943A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1" name="Google Shape;501;p17">
            <a:extLst xmlns:a="http://schemas.openxmlformats.org/drawingml/2006/main">
              <a:ext uri="{FF2B5EF4-FFF2-40B4-BE49-F238E27FC236}">
                <a16:creationId xmlns:a16="http://schemas.microsoft.com/office/drawing/2014/main" id="{1B170DDE-C489-4AD3-AABB-8B32889B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2" name="Google Shape;502;p17">
            <a:extLst xmlns:a="http://schemas.openxmlformats.org/drawingml/2006/main">
              <a:ext uri="{FF2B5EF4-FFF2-40B4-BE49-F238E27FC236}">
                <a16:creationId xmlns:a16="http://schemas.microsoft.com/office/drawing/2014/main" id="{E9EB6A19-26A9-472C-8F74-931B8EDF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Engineering</a:t>
            </a:r>
          </a:p>
        </p:txBody>
      </p:sp>
      <p:sp>
        <p:nvSpPr>
          <p:cNvPr id="503" name="Google Shape;503;p17">
            <a:extLst xmlns:a="http://schemas.openxmlformats.org/drawingml/2006/main">
              <a:ext uri="{FF2B5EF4-FFF2-40B4-BE49-F238E27FC236}">
                <a16:creationId xmlns:a16="http://schemas.microsoft.com/office/drawing/2014/main" id="{6809C237-A1F7-470C-BA12-F6365069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Tests a solution against criteria.</a:t>
            </a:r>
          </a:p>
        </p:txBody>
      </p:sp>
      <p:sp>
        <p:nvSpPr>
          <p:cNvPr id="504" name="Google Shape;504;p17">
            <a:extLst xmlns:a="http://schemas.openxmlformats.org/drawingml/2006/main">
              <a:ext uri="{FF2B5EF4-FFF2-40B4-BE49-F238E27FC236}">
                <a16:creationId xmlns:a16="http://schemas.microsoft.com/office/drawing/2014/main" id="{49C6A259-75C8-4088-B734-4EE76491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5" name="Google Shape;505;p17">
            <a:extLst xmlns:a="http://schemas.openxmlformats.org/drawingml/2006/main">
              <a:ext uri="{FF2B5EF4-FFF2-40B4-BE49-F238E27FC236}">
                <a16:creationId xmlns:a16="http://schemas.microsoft.com/office/drawing/2014/main" id="{92BD5517-4982-41E2-AEB1-5AE4CEAD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6" name="Google Shape;506;p17">
            <a:extLst xmlns:a="http://schemas.openxmlformats.org/drawingml/2006/main">
              <a:ext uri="{FF2B5EF4-FFF2-40B4-BE49-F238E27FC236}">
                <a16:creationId xmlns:a16="http://schemas.microsoft.com/office/drawing/2014/main" id="{2412AE7C-2B21-46C2-A30F-7F90E695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Data Analysis</a:t>
            </a:r>
          </a:p>
        </p:txBody>
      </p:sp>
      <p:sp>
        <p:nvSpPr>
          <p:cNvPr id="507" name="Google Shape;507;p17">
            <a:extLst xmlns:a="http://schemas.openxmlformats.org/drawingml/2006/main">
              <a:ext uri="{FF2B5EF4-FFF2-40B4-BE49-F238E27FC236}">
                <a16:creationId xmlns:a16="http://schemas.microsoft.com/office/drawing/2014/main" id="{DC8D43B7-CCDD-4AE0-8B9B-01723EA2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Uses existing data to find patterns.</a:t>
            </a:r>
          </a:p>
        </p:txBody>
      </p:sp>
      <p:sp>
        <p:nvSpPr>
          <p:cNvPr id="508" name="Google Shape;508;p17">
            <a:extLst xmlns:a="http://schemas.openxmlformats.org/drawingml/2006/main">
              <a:ext uri="{FF2B5EF4-FFF2-40B4-BE49-F238E27FC236}">
                <a16:creationId xmlns:a16="http://schemas.microsoft.com/office/drawing/2014/main" id="{64D20F49-2817-43FF-BAE3-6F5B16B8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1700784"/>
            <a:ext cx="2423160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09" name="Google Shape;509;p17">
            <a:extLst xmlns:a="http://schemas.openxmlformats.org/drawingml/2006/main">
              <a:ext uri="{FF2B5EF4-FFF2-40B4-BE49-F238E27FC236}">
                <a16:creationId xmlns:a16="http://schemas.microsoft.com/office/drawing/2014/main" id="{CB63582B-3A86-412E-B365-901FE537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1700784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10" name="Google Shape;510;p17">
            <a:extLst xmlns:a="http://schemas.openxmlformats.org/drawingml/2006/main">
              <a:ext uri="{FF2B5EF4-FFF2-40B4-BE49-F238E27FC236}">
                <a16:creationId xmlns:a16="http://schemas.microsoft.com/office/drawing/2014/main" id="{52794F5E-09D9-43F9-AB0C-4E261384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819656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Not Ready</a:t>
            </a:r>
          </a:p>
        </p:txBody>
      </p:sp>
      <p:sp>
        <p:nvSpPr>
          <p:cNvPr id="511" name="Google Shape;511;p17">
            <a:extLst xmlns:a="http://schemas.openxmlformats.org/drawingml/2006/main">
              <a:ext uri="{FF2B5EF4-FFF2-40B4-BE49-F238E27FC236}">
                <a16:creationId xmlns:a16="http://schemas.microsoft.com/office/drawing/2014/main" id="{8B24F615-1DDD-41C1-BDF0-7929B79B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2176272"/>
            <a:ext cx="214884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Too broad, unsafe, vague, or unmeasurable.</a:t>
            </a:r>
          </a:p>
        </p:txBody>
      </p:sp>
      <p:sp>
        <p:nvSpPr>
          <p:cNvPr id="512" name="Google Shape;512;p17">
            <a:extLst xmlns:a="http://schemas.openxmlformats.org/drawingml/2006/main">
              <a:ext uri="{FF2B5EF4-FFF2-40B4-BE49-F238E27FC236}">
                <a16:creationId xmlns:a16="http://schemas.microsoft.com/office/drawing/2014/main" id="{8EE237A4-66BF-49CA-B266-CACB0D09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29000"/>
            <a:ext cx="1024128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Then revise one “Not Ready” idea into a stronger STARLAB project.</a:t>
            </a:r>
          </a:p>
        </p:txBody>
      </p:sp>
      <p:sp>
        <p:nvSpPr>
          <p:cNvPr id="513" name="Google Shape;513;p17">
            <a:extLst xmlns:a="http://schemas.openxmlformats.org/drawingml/2006/main">
              <a:ext uri="{FF2B5EF4-FFF2-40B4-BE49-F238E27FC236}">
                <a16:creationId xmlns:a16="http://schemas.microsoft.com/office/drawing/2014/main" id="{A178F2FC-F6CA-4874-86A0-71FFEF1E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010027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9" name="Google Shape;519;p18">
            <a:extLst xmlns:a="http://schemas.openxmlformats.org/drawingml/2006/main">
              <a:ext uri="{FF2B5EF4-FFF2-40B4-BE49-F238E27FC236}">
                <a16:creationId xmlns:a16="http://schemas.microsoft.com/office/drawing/2014/main" id="{B967A98D-A143-42E3-95E0-3BA04D01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0" name="Google Shape;520;p18">
            <a:extLst xmlns:a="http://schemas.openxmlformats.org/drawingml/2006/main">
              <a:ext uri="{FF2B5EF4-FFF2-40B4-BE49-F238E27FC236}">
                <a16:creationId xmlns:a16="http://schemas.microsoft.com/office/drawing/2014/main" id="{9EA5B796-B1E3-48F7-A058-60BE3E37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1" name="Google Shape;521;p18">
            <a:extLst xmlns:a="http://schemas.openxmlformats.org/drawingml/2006/main">
              <a:ext uri="{FF2B5EF4-FFF2-40B4-BE49-F238E27FC236}">
                <a16:creationId xmlns:a16="http://schemas.microsoft.com/office/drawing/2014/main" id="{E5A62B0F-544E-40C4-B808-9A139570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CASE STUDY</a:t>
            </a:r>
          </a:p>
        </p:txBody>
      </p:sp>
      <p:sp>
        <p:nvSpPr>
          <p:cNvPr id="522" name="Google Shape;522;p18">
            <a:extLst xmlns:a="http://schemas.openxmlformats.org/drawingml/2006/main">
              <a:ext uri="{FF2B5EF4-FFF2-40B4-BE49-F238E27FC236}">
                <a16:creationId xmlns:a16="http://schemas.microsoft.com/office/drawing/2014/main" id="{C8E9744F-4E17-42FE-BE55-5493DD8A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552" name="Google Shape;523;p18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53" name="Google Shape;524;p18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5" name="Google Shape;525;p18">
            <a:extLst xmlns:a="http://schemas.openxmlformats.org/drawingml/2006/main">
              <a:ext uri="{FF2B5EF4-FFF2-40B4-BE49-F238E27FC236}">
                <a16:creationId xmlns:a16="http://schemas.microsoft.com/office/drawing/2014/main" id="{D2F7BF57-F7F0-46FC-8F90-F136F5A4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Case Study: The 3D-Printed Bridge</a:t>
            </a:r>
          </a:p>
        </p:txBody>
      </p:sp>
      <p:sp>
        <p:nvSpPr>
          <p:cNvPr id="526" name="Google Shape;526;p18">
            <a:extLst xmlns:a="http://schemas.openxmlformats.org/drawingml/2006/main">
              <a:ext uri="{FF2B5EF4-FFF2-40B4-BE49-F238E27FC236}">
                <a16:creationId xmlns:a16="http://schemas.microsoft.com/office/drawing/2014/main" id="{810A5B73-AE04-483B-9FFE-D871DFA3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7" name="Google Shape;527;p18">
            <a:extLst xmlns:a="http://schemas.openxmlformats.org/drawingml/2006/main">
              <a:ext uri="{FF2B5EF4-FFF2-40B4-BE49-F238E27FC236}">
                <a16:creationId xmlns:a16="http://schemas.microsoft.com/office/drawing/2014/main" id="{7B672821-F82C-42E0-A3CE-81D42C7C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One project can generate both design and data thinking.</a:t>
            </a:r>
          </a:p>
        </p:txBody>
      </p:sp>
      <p:sp>
        <p:nvSpPr>
          <p:cNvPr id="528" name="Google Shape;528;p18">
            <a:extLst xmlns:a="http://schemas.openxmlformats.org/drawingml/2006/main">
              <a:ext uri="{FF2B5EF4-FFF2-40B4-BE49-F238E27FC236}">
                <a16:creationId xmlns:a16="http://schemas.microsoft.com/office/drawing/2014/main" id="{EBAD8942-44FC-43CC-B238-18A7B0FB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00200"/>
            <a:ext cx="3200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29" name="Google Shape;529;p18">
            <a:extLst xmlns:a="http://schemas.openxmlformats.org/drawingml/2006/main">
              <a:ext uri="{FF2B5EF4-FFF2-40B4-BE49-F238E27FC236}">
                <a16:creationId xmlns:a16="http://schemas.microsoft.com/office/drawing/2014/main" id="{B0B1E004-4D2C-4DB8-99E3-7C57EAE6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002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0" name="Google Shape;530;p18">
            <a:extLst xmlns:a="http://schemas.openxmlformats.org/drawingml/2006/main">
              <a:ext uri="{FF2B5EF4-FFF2-40B4-BE49-F238E27FC236}">
                <a16:creationId xmlns:a16="http://schemas.microsoft.com/office/drawing/2014/main" id="{978A7100-3002-4332-A044-5AAE014E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Problem</a:t>
            </a:r>
          </a:p>
        </p:txBody>
      </p:sp>
      <p:sp>
        <p:nvSpPr>
          <p:cNvPr id="531" name="Google Shape;531;p18">
            <a:extLst xmlns:a="http://schemas.openxmlformats.org/drawingml/2006/main">
              <a:ext uri="{FF2B5EF4-FFF2-40B4-BE49-F238E27FC236}">
                <a16:creationId xmlns:a16="http://schemas.microsoft.com/office/drawing/2014/main" id="{4B5065F5-0B92-4CA3-8EC8-28ACC6DC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075688"/>
            <a:ext cx="29260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Design a lightweight bridge that supports a large load.</a:t>
            </a:r>
          </a:p>
        </p:txBody>
      </p:sp>
      <p:sp>
        <p:nvSpPr>
          <p:cNvPr id="532" name="Google Shape;532;p18">
            <a:extLst xmlns:a="http://schemas.openxmlformats.org/drawingml/2006/main">
              <a:ext uri="{FF2B5EF4-FFF2-40B4-BE49-F238E27FC236}">
                <a16:creationId xmlns:a16="http://schemas.microsoft.com/office/drawing/2014/main" id="{A0308B35-3EFC-4733-8BF7-8E974BB8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00200"/>
            <a:ext cx="3200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3" name="Google Shape;533;p18">
            <a:extLst xmlns:a="http://schemas.openxmlformats.org/drawingml/2006/main">
              <a:ext uri="{FF2B5EF4-FFF2-40B4-BE49-F238E27FC236}">
                <a16:creationId xmlns:a16="http://schemas.microsoft.com/office/drawing/2014/main" id="{D62815B5-D6F9-4D48-B8DE-0813A1CB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002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4" name="Google Shape;534;p18">
            <a:extLst xmlns:a="http://schemas.openxmlformats.org/drawingml/2006/main">
              <a:ext uri="{FF2B5EF4-FFF2-40B4-BE49-F238E27FC236}">
                <a16:creationId xmlns:a16="http://schemas.microsoft.com/office/drawing/2014/main" id="{D95648CD-28AF-4B6D-AD8B-0D004F3A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Criteria</a:t>
            </a:r>
          </a:p>
        </p:txBody>
      </p:sp>
      <p:sp>
        <p:nvSpPr>
          <p:cNvPr id="535" name="Google Shape;535;p18">
            <a:extLst xmlns:a="http://schemas.openxmlformats.org/drawingml/2006/main">
              <a:ext uri="{FF2B5EF4-FFF2-40B4-BE49-F238E27FC236}">
                <a16:creationId xmlns:a16="http://schemas.microsoft.com/office/drawing/2014/main" id="{B47E7340-1F0A-45EF-86E2-8B70B151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075688"/>
            <a:ext cx="29260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Maximize load supported per gram of printed material.</a:t>
            </a:r>
          </a:p>
        </p:txBody>
      </p:sp>
      <p:sp>
        <p:nvSpPr>
          <p:cNvPr id="536" name="Google Shape;536;p18">
            <a:extLst xmlns:a="http://schemas.openxmlformats.org/drawingml/2006/main">
              <a:ext uri="{FF2B5EF4-FFF2-40B4-BE49-F238E27FC236}">
                <a16:creationId xmlns:a16="http://schemas.microsoft.com/office/drawing/2014/main" id="{C1DDD752-B6B8-4879-A3A3-66FA93ED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3200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F0F"/>
          </a:solidFill>
          <a:ln xmlns:a="http://schemas.openxmlformats.org/drawingml/2006/main" w="10150" cmpd="sng">
            <a:solidFill>
              <a:srgbClr val="555555">
                <a:alpha val="85098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7" name="Google Shape;537;p18">
            <a:extLst xmlns:a="http://schemas.openxmlformats.org/drawingml/2006/main">
              <a:ext uri="{FF2B5EF4-FFF2-40B4-BE49-F238E27FC236}">
                <a16:creationId xmlns:a16="http://schemas.microsoft.com/office/drawing/2014/main" id="{8B00D801-A883-4570-AF45-46565878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002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38" name="Google Shape;538;p18">
            <a:extLst xmlns:a="http://schemas.openxmlformats.org/drawingml/2006/main">
              <a:ext uri="{FF2B5EF4-FFF2-40B4-BE49-F238E27FC236}">
                <a16:creationId xmlns:a16="http://schemas.microsoft.com/office/drawing/2014/main" id="{1E140386-F3DF-4F45-BE71-C8F40AA9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19072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Play"/>
              <a:buNone/>
            </a:pPr>
            <a:r>
              <a:rPr sz="15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Constraints</a:t>
            </a:r>
          </a:p>
        </p:txBody>
      </p:sp>
      <p:sp>
        <p:nvSpPr>
          <p:cNvPr id="539" name="Google Shape;539;p18">
            <a:extLst xmlns:a="http://schemas.openxmlformats.org/drawingml/2006/main">
              <a:ext uri="{FF2B5EF4-FFF2-40B4-BE49-F238E27FC236}">
                <a16:creationId xmlns:a16="http://schemas.microsoft.com/office/drawing/2014/main" id="{E1FE9737-A3F5-42B3-AB70-A1A5B681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75688"/>
            <a:ext cx="29260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t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Same filament, same dimensions, print time under 2 hours.</a:t>
            </a:r>
          </a:p>
        </p:txBody>
      </p:sp>
      <p:sp>
        <p:nvSpPr>
          <p:cNvPr id="540" name="Google Shape;540;p18">
            <a:extLst xmlns:a="http://schemas.openxmlformats.org/drawingml/2006/main">
              <a:ext uri="{FF2B5EF4-FFF2-40B4-BE49-F238E27FC236}">
                <a16:creationId xmlns:a16="http://schemas.microsoft.com/office/drawing/2014/main" id="{5A02E517-198E-4CB4-BFD3-F0AB6DBD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37560"/>
            <a:ext cx="219456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400"/>
              <a:buFont typeface="Arial"/>
              <a:buNone/>
            </a:pPr>
            <a:r>
              <a:rPr sz="14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Data table columns:</a:t>
            </a:r>
          </a:p>
        </p:txBody>
      </p:sp>
      <p:sp>
        <p:nvSpPr>
          <p:cNvPr id="541" name="Google Shape;541;p18">
            <a:extLst xmlns:a="http://schemas.openxmlformats.org/drawingml/2006/main">
              <a:ext uri="{FF2B5EF4-FFF2-40B4-BE49-F238E27FC236}">
                <a16:creationId xmlns:a16="http://schemas.microsoft.com/office/drawing/2014/main" id="{6EB3710A-9F61-4DA6-A21A-FE77CB84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37560"/>
            <a:ext cx="85039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500"/>
              <a:buFont typeface="Arial"/>
              <a:buNone/>
            </a:pPr>
            <a:r>
              <a:rPr sz="150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Prototype  |  Mass (g)  |  Max load  |  Load/g  |  Failure point  |  Notes</a:t>
            </a:r>
          </a:p>
        </p:txBody>
      </p:sp>
      <p:sp>
        <p:nvSpPr>
          <p:cNvPr id="542" name="Google Shape;542;p18">
            <a:extLst xmlns:a="http://schemas.openxmlformats.org/drawingml/2006/main">
              <a:ext uri="{FF2B5EF4-FFF2-40B4-BE49-F238E27FC236}">
                <a16:creationId xmlns:a16="http://schemas.microsoft.com/office/drawing/2014/main" id="{E0B62D05-5223-4B79-A8C3-F54E714B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3" name="Google Shape;543;p18">
            <a:extLst xmlns:a="http://schemas.openxmlformats.org/drawingml/2006/main">
              <a:ext uri="{FF2B5EF4-FFF2-40B4-BE49-F238E27FC236}">
                <a16:creationId xmlns:a16="http://schemas.microsoft.com/office/drawing/2014/main" id="{3997C78F-FF06-4287-A2F7-0F6F1D8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4" name="Google Shape;544;p18">
            <a:extLst xmlns:a="http://schemas.openxmlformats.org/drawingml/2006/main">
              <a:ext uri="{FF2B5EF4-FFF2-40B4-BE49-F238E27FC236}">
                <a16:creationId xmlns:a16="http://schemas.microsoft.com/office/drawing/2014/main" id="{60348517-92FD-477E-8279-835E6466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45" name="Google Shape;545;p18">
            <a:extLst xmlns:a="http://schemas.openxmlformats.org/drawingml/2006/main">
              <a:ext uri="{FF2B5EF4-FFF2-40B4-BE49-F238E27FC236}">
                <a16:creationId xmlns:a16="http://schemas.microsoft.com/office/drawing/2014/main" id="{19974CFB-8823-4AE7-9AE1-300A9862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Apply the case.</a:t>
            </a:r>
          </a:p>
        </p:txBody>
      </p:sp>
      <p:sp>
        <p:nvSpPr>
          <p:cNvPr id="546" name="Google Shape;546;p18">
            <a:extLst xmlns:a="http://schemas.openxmlformats.org/drawingml/2006/main">
              <a:ext uri="{FF2B5EF4-FFF2-40B4-BE49-F238E27FC236}">
                <a16:creationId xmlns:a16="http://schemas.microsoft.com/office/drawing/2014/main" id="{BE14D541-0813-4764-9FC3-753071DF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would count as a fair comparison between bridge designs? What must stay the same?</a:t>
            </a:r>
          </a:p>
        </p:txBody>
      </p:sp>
      <p:sp>
        <p:nvSpPr>
          <p:cNvPr id="547" name="Google Shape;547;p18">
            <a:extLst xmlns:a="http://schemas.openxmlformats.org/drawingml/2006/main">
              <a:ext uri="{FF2B5EF4-FFF2-40B4-BE49-F238E27FC236}">
                <a16:creationId xmlns:a16="http://schemas.microsoft.com/office/drawing/2014/main" id="{2229C375-D77D-4802-9B49-DC3C5AF5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417163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3" name="Google Shape;553;p19">
            <a:extLst xmlns:a="http://schemas.openxmlformats.org/drawingml/2006/main">
              <a:ext uri="{FF2B5EF4-FFF2-40B4-BE49-F238E27FC236}">
                <a16:creationId xmlns:a16="http://schemas.microsoft.com/office/drawing/2014/main" id="{117041F3-43A0-4B2F-9373-7019F145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4" name="Google Shape;554;p19">
            <a:extLst xmlns:a="http://schemas.openxmlformats.org/drawingml/2006/main">
              <a:ext uri="{FF2B5EF4-FFF2-40B4-BE49-F238E27FC236}">
                <a16:creationId xmlns:a16="http://schemas.microsoft.com/office/drawing/2014/main" id="{EA3988BA-8491-4F1B-9C72-E2BE85D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5" name="Google Shape;555;p19">
            <a:extLst xmlns:a="http://schemas.openxmlformats.org/drawingml/2006/main">
              <a:ext uri="{FF2B5EF4-FFF2-40B4-BE49-F238E27FC236}">
                <a16:creationId xmlns:a16="http://schemas.microsoft.com/office/drawing/2014/main" id="{667951C6-3DE6-4196-9A86-D362F1B2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56" name="Google Shape;556;p19">
            <a:extLst xmlns:a="http://schemas.openxmlformats.org/drawingml/2006/main">
              <a:ext uri="{FF2B5EF4-FFF2-40B4-BE49-F238E27FC236}">
                <a16:creationId xmlns:a16="http://schemas.microsoft.com/office/drawing/2014/main" id="{927AE257-387A-4356-A9C7-EAA10217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593" name="Google Shape;557;p19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94" name="Google Shape;558;p19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9" name="Google Shape;559;p19">
            <a:extLst xmlns:a="http://schemas.openxmlformats.org/drawingml/2006/main">
              <a:ext uri="{FF2B5EF4-FFF2-40B4-BE49-F238E27FC236}">
                <a16:creationId xmlns:a16="http://schemas.microsoft.com/office/drawing/2014/main" id="{25ABB206-3C25-4178-85BE-DDE392D7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Activity: Design Your Evidence Plan</a:t>
            </a:r>
          </a:p>
        </p:txBody>
      </p:sp>
      <p:sp>
        <p:nvSpPr>
          <p:cNvPr id="560" name="Google Shape;560;p19">
            <a:extLst xmlns:a="http://schemas.openxmlformats.org/drawingml/2006/main">
              <a:ext uri="{FF2B5EF4-FFF2-40B4-BE49-F238E27FC236}">
                <a16:creationId xmlns:a16="http://schemas.microsoft.com/office/drawing/2014/main" id="{EB1EC919-A212-4F99-830C-60932C25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1" name="Google Shape;561;p19">
            <a:extLst xmlns:a="http://schemas.openxmlformats.org/drawingml/2006/main">
              <a:ext uri="{FF2B5EF4-FFF2-40B4-BE49-F238E27FC236}">
                <a16:creationId xmlns:a16="http://schemas.microsoft.com/office/drawing/2014/main" id="{F1431C7F-D547-4737-99D8-3E08F2E5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Before methods, students must know what evidence they need.</a:t>
            </a:r>
          </a:p>
        </p:txBody>
      </p:sp>
      <p:sp>
        <p:nvSpPr>
          <p:cNvPr id="562" name="Google Shape;562;p19">
            <a:extLst xmlns:a="http://schemas.openxmlformats.org/drawingml/2006/main">
              <a:ext uri="{FF2B5EF4-FFF2-40B4-BE49-F238E27FC236}">
                <a16:creationId xmlns:a16="http://schemas.microsoft.com/office/drawing/2014/main" id="{E4D83ED2-51EA-4DF7-B4A7-2FD6F472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3" name="Google Shape;563;p19">
            <a:extLst xmlns:a="http://schemas.openxmlformats.org/drawingml/2006/main">
              <a:ext uri="{FF2B5EF4-FFF2-40B4-BE49-F238E27FC236}">
                <a16:creationId xmlns:a16="http://schemas.microsoft.com/office/drawing/2014/main" id="{EE92792C-32C5-4BEE-9DE3-127DB141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55448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4" name="Google Shape;564;p19">
            <a:extLst xmlns:a="http://schemas.openxmlformats.org/drawingml/2006/main">
              <a:ext uri="{FF2B5EF4-FFF2-40B4-BE49-F238E27FC236}">
                <a16:creationId xmlns:a16="http://schemas.microsoft.com/office/drawing/2014/main" id="{CCDCF318-A9C4-44B7-BC93-3C47E98C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65506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Project frame</a:t>
            </a:r>
          </a:p>
        </p:txBody>
      </p:sp>
      <p:sp>
        <p:nvSpPr>
          <p:cNvPr id="565" name="Google Shape;565;p19">
            <a:extLst xmlns:a="http://schemas.openxmlformats.org/drawingml/2006/main">
              <a:ext uri="{FF2B5EF4-FFF2-40B4-BE49-F238E27FC236}">
                <a16:creationId xmlns:a16="http://schemas.microsoft.com/office/drawing/2014/main" id="{59EC5093-943C-4E23-A50E-97FC00A3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65506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Experiment / Engineering / Data analysis / Hybrid</a:t>
            </a:r>
          </a:p>
        </p:txBody>
      </p:sp>
      <p:sp>
        <p:nvSpPr>
          <p:cNvPr id="566" name="Google Shape;566;p19">
            <a:extLst xmlns:a="http://schemas.openxmlformats.org/drawingml/2006/main">
              <a:ext uri="{FF2B5EF4-FFF2-40B4-BE49-F238E27FC236}">
                <a16:creationId xmlns:a16="http://schemas.microsoft.com/office/drawing/2014/main" id="{EB1C0CD7-6E69-46F9-8325-F9E14158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5740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7" name="Google Shape;567;p19">
            <a:extLst xmlns:a="http://schemas.openxmlformats.org/drawingml/2006/main">
              <a:ext uri="{FF2B5EF4-FFF2-40B4-BE49-F238E27FC236}">
                <a16:creationId xmlns:a16="http://schemas.microsoft.com/office/drawing/2014/main" id="{1D96681A-62D9-4AD4-B88E-408BE3E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05740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8" name="Google Shape;568;p19">
            <a:extLst xmlns:a="http://schemas.openxmlformats.org/drawingml/2006/main">
              <a:ext uri="{FF2B5EF4-FFF2-40B4-BE49-F238E27FC236}">
                <a16:creationId xmlns:a16="http://schemas.microsoft.com/office/drawing/2014/main" id="{9E2CF51B-B54C-4943-9293-4F3321E1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98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changes?</a:t>
            </a:r>
          </a:p>
        </p:txBody>
      </p:sp>
      <p:sp>
        <p:nvSpPr>
          <p:cNvPr id="569" name="Google Shape;569;p19">
            <a:extLst xmlns:a="http://schemas.openxmlformats.org/drawingml/2006/main">
              <a:ext uri="{FF2B5EF4-FFF2-40B4-BE49-F238E27FC236}">
                <a16:creationId xmlns:a16="http://schemas.microsoft.com/office/drawing/2014/main" id="{8EC95EFA-439F-4B66-98D1-88EED780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15798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Variable, prototype feature, group, condition, or dataset filter</a:t>
            </a:r>
          </a:p>
        </p:txBody>
      </p:sp>
      <p:sp>
        <p:nvSpPr>
          <p:cNvPr id="570" name="Google Shape;570;p19">
            <a:extLst xmlns:a="http://schemas.openxmlformats.org/drawingml/2006/main">
              <a:ext uri="{FF2B5EF4-FFF2-40B4-BE49-F238E27FC236}">
                <a16:creationId xmlns:a16="http://schemas.microsoft.com/office/drawing/2014/main" id="{B5F08994-1DEB-4B4B-AA2E-C934AB24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6032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1" name="Google Shape;571;p19">
            <a:extLst xmlns:a="http://schemas.openxmlformats.org/drawingml/2006/main">
              <a:ext uri="{FF2B5EF4-FFF2-40B4-BE49-F238E27FC236}">
                <a16:creationId xmlns:a16="http://schemas.microsoft.com/office/drawing/2014/main" id="{60CD0562-18E2-4086-8BEA-97411765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56032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2" name="Google Shape;572;p19">
            <a:extLst xmlns:a="http://schemas.openxmlformats.org/drawingml/2006/main">
              <a:ext uri="{FF2B5EF4-FFF2-40B4-BE49-F238E27FC236}">
                <a16:creationId xmlns:a16="http://schemas.microsoft.com/office/drawing/2014/main" id="{EC973724-0316-438D-8A8C-56F0FB9B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6090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is measured?</a:t>
            </a:r>
          </a:p>
        </p:txBody>
      </p:sp>
      <p:sp>
        <p:nvSpPr>
          <p:cNvPr id="573" name="Google Shape;573;p19">
            <a:extLst xmlns:a="http://schemas.openxmlformats.org/drawingml/2006/main">
              <a:ext uri="{FF2B5EF4-FFF2-40B4-BE49-F238E27FC236}">
                <a16:creationId xmlns:a16="http://schemas.microsoft.com/office/drawing/2014/main" id="{D1765A61-3117-494A-A2C9-7D75FD84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66090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Outcome, performance metric, score, observation, or calculated value</a:t>
            </a:r>
          </a:p>
        </p:txBody>
      </p:sp>
      <p:sp>
        <p:nvSpPr>
          <p:cNvPr id="574" name="Google Shape;574;p19">
            <a:extLst xmlns:a="http://schemas.openxmlformats.org/drawingml/2006/main">
              <a:ext uri="{FF2B5EF4-FFF2-40B4-BE49-F238E27FC236}">
                <a16:creationId xmlns:a16="http://schemas.microsoft.com/office/drawing/2014/main" id="{206A3907-83D8-40C3-97F1-2F60C639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6324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5" name="Google Shape;575;p19">
            <a:extLst xmlns:a="http://schemas.openxmlformats.org/drawingml/2006/main">
              <a:ext uri="{FF2B5EF4-FFF2-40B4-BE49-F238E27FC236}">
                <a16:creationId xmlns:a16="http://schemas.microsoft.com/office/drawing/2014/main" id="{2070E923-18A6-4859-8A39-967BA735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06324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6" name="Google Shape;576;p19">
            <a:extLst xmlns:a="http://schemas.openxmlformats.org/drawingml/2006/main">
              <a:ext uri="{FF2B5EF4-FFF2-40B4-BE49-F238E27FC236}">
                <a16:creationId xmlns:a16="http://schemas.microsoft.com/office/drawing/2014/main" id="{B5A7A2A5-0E70-4BFC-8E1E-309A4F7B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6382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stays the same?</a:t>
            </a:r>
          </a:p>
        </p:txBody>
      </p:sp>
      <p:sp>
        <p:nvSpPr>
          <p:cNvPr id="577" name="Google Shape;577;p19">
            <a:extLst xmlns:a="http://schemas.openxmlformats.org/drawingml/2006/main">
              <a:ext uri="{FF2B5EF4-FFF2-40B4-BE49-F238E27FC236}">
                <a16:creationId xmlns:a16="http://schemas.microsoft.com/office/drawing/2014/main" id="{C3A839B6-4B3F-422A-A5F4-84EDF1A0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316382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Controls, constraints, or consistent conditions</a:t>
            </a:r>
          </a:p>
        </p:txBody>
      </p:sp>
      <p:sp>
        <p:nvSpPr>
          <p:cNvPr id="578" name="Google Shape;578;p19">
            <a:extLst xmlns:a="http://schemas.openxmlformats.org/drawingml/2006/main">
              <a:ext uri="{FF2B5EF4-FFF2-40B4-BE49-F238E27FC236}">
                <a16:creationId xmlns:a16="http://schemas.microsoft.com/office/drawing/2014/main" id="{000D2568-DC8E-4F71-9434-A6B32EA1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66160"/>
            <a:ext cx="27432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79" name="Google Shape;579;p19">
            <a:extLst xmlns:a="http://schemas.openxmlformats.org/drawingml/2006/main">
              <a:ext uri="{FF2B5EF4-FFF2-40B4-BE49-F238E27FC236}">
                <a16:creationId xmlns:a16="http://schemas.microsoft.com/office/drawing/2014/main" id="{8FF65E8C-04F3-48BF-919B-F1582AA0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566160"/>
            <a:ext cx="76809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0" name="Google Shape;580;p19">
            <a:extLst xmlns:a="http://schemas.openxmlformats.org/drawingml/2006/main">
              <a:ext uri="{FF2B5EF4-FFF2-40B4-BE49-F238E27FC236}">
                <a16:creationId xmlns:a16="http://schemas.microsoft.com/office/drawing/2014/main" id="{B066043A-9B8B-45D2-BA88-2093AD30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66744"/>
            <a:ext cx="242316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What counts as success?</a:t>
            </a:r>
          </a:p>
        </p:txBody>
      </p:sp>
      <p:sp>
        <p:nvSpPr>
          <p:cNvPr id="581" name="Google Shape;581;p19">
            <a:extLst xmlns:a="http://schemas.openxmlformats.org/drawingml/2006/main">
              <a:ext uri="{FF2B5EF4-FFF2-40B4-BE49-F238E27FC236}">
                <a16:creationId xmlns:a16="http://schemas.microsoft.com/office/drawing/2014/main" id="{11B86526-C936-4368-AA27-45416874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3666744"/>
            <a:ext cx="7315200" cy="13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Evidence that supports hypothesis or meets design criteria</a:t>
            </a:r>
          </a:p>
        </p:txBody>
      </p:sp>
      <p:sp>
        <p:nvSpPr>
          <p:cNvPr id="582" name="Google Shape;582;p19">
            <a:extLst xmlns:a="http://schemas.openxmlformats.org/drawingml/2006/main">
              <a:ext uri="{FF2B5EF4-FFF2-40B4-BE49-F238E27FC236}">
                <a16:creationId xmlns:a16="http://schemas.microsoft.com/office/drawing/2014/main" id="{E78E8E69-307F-4963-A203-6FCEC781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074420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3" name="Google Shape;583;p19">
            <a:extLst xmlns:a="http://schemas.openxmlformats.org/drawingml/2006/main">
              <a:ext uri="{FF2B5EF4-FFF2-40B4-BE49-F238E27FC236}">
                <a16:creationId xmlns:a16="http://schemas.microsoft.com/office/drawing/2014/main" id="{0A39D9CD-422A-4618-8B54-FF74BDAF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1828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84" name="Google Shape;584;p19">
            <a:extLst xmlns:a="http://schemas.openxmlformats.org/drawingml/2006/main">
              <a:ext uri="{FF2B5EF4-FFF2-40B4-BE49-F238E27FC236}">
                <a16:creationId xmlns:a16="http://schemas.microsoft.com/office/drawing/2014/main" id="{EE65D616-21FE-4139-8D23-B9F3F01B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64024"/>
            <a:ext cx="155448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750"/>
              <a:buFont typeface="Arial"/>
              <a:buNone/>
            </a:pPr>
            <a:r>
              <a:rPr sz="75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585" name="Google Shape;585;p19">
            <a:extLst xmlns:a="http://schemas.openxmlformats.org/drawingml/2006/main">
              <a:ext uri="{FF2B5EF4-FFF2-40B4-BE49-F238E27FC236}">
                <a16:creationId xmlns:a16="http://schemas.microsoft.com/office/drawing/2014/main" id="{B46DD9CE-C309-4328-88C3-1DE9ED06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38928"/>
            <a:ext cx="393192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Evidence plan sprint.</a:t>
            </a:r>
          </a:p>
        </p:txBody>
      </p:sp>
      <p:sp>
        <p:nvSpPr>
          <p:cNvPr id="586" name="Google Shape;586;p19">
            <a:extLst xmlns:a="http://schemas.openxmlformats.org/drawingml/2006/main">
              <a:ext uri="{FF2B5EF4-FFF2-40B4-BE49-F238E27FC236}">
                <a16:creationId xmlns:a16="http://schemas.microsoft.com/office/drawing/2014/main" id="{AEEC4967-E597-4E83-8F70-AB9CA8F1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773168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6 minutes</a:t>
            </a:r>
          </a:p>
        </p:txBody>
      </p:sp>
      <p:sp>
        <p:nvSpPr>
          <p:cNvPr id="587" name="Google Shape;587;p19">
            <a:extLst xmlns:a="http://schemas.openxmlformats.org/drawingml/2006/main">
              <a:ext uri="{FF2B5EF4-FFF2-40B4-BE49-F238E27FC236}">
                <a16:creationId xmlns:a16="http://schemas.microsoft.com/office/drawing/2014/main" id="{F38BA618-D706-4EC2-B2CD-504087E9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056632"/>
            <a:ext cx="608076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20"/>
              <a:buFont typeface="Arial"/>
              <a:buNone/>
            </a:pPr>
            <a:r>
              <a:rPr sz="132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Work independently for 6 minutes, then trade with a partner for one critique question.</a:t>
            </a:r>
          </a:p>
        </p:txBody>
      </p:sp>
      <p:sp>
        <p:nvSpPr>
          <p:cNvPr id="588" name="Google Shape;588;p19">
            <a:extLst xmlns:a="http://schemas.openxmlformats.org/drawingml/2006/main">
              <a:ext uri="{FF2B5EF4-FFF2-40B4-BE49-F238E27FC236}">
                <a16:creationId xmlns:a16="http://schemas.microsoft.com/office/drawing/2014/main" id="{5E767749-E420-4B85-8BE1-46A992A2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13139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4" name="Google Shape;594;p20">
            <a:extLst xmlns:a="http://schemas.openxmlformats.org/drawingml/2006/main">
              <a:ext uri="{FF2B5EF4-FFF2-40B4-BE49-F238E27FC236}">
                <a16:creationId xmlns:a16="http://schemas.microsoft.com/office/drawing/2014/main" id="{E36D6804-57BD-42F8-BC42-EAAA2139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95" name="Google Shape;595;p20">
            <a:extLst xmlns:a="http://schemas.openxmlformats.org/drawingml/2006/main">
              <a:ext uri="{FF2B5EF4-FFF2-40B4-BE49-F238E27FC236}">
                <a16:creationId xmlns:a16="http://schemas.microsoft.com/office/drawing/2014/main" id="{28F4EA47-FFBF-4417-A784-BE540190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96" name="Google Shape;596;p20">
            <a:extLst xmlns:a="http://schemas.openxmlformats.org/drawingml/2006/main">
              <a:ext uri="{FF2B5EF4-FFF2-40B4-BE49-F238E27FC236}">
                <a16:creationId xmlns:a16="http://schemas.microsoft.com/office/drawing/2014/main" id="{B2B0BC67-A656-448B-A1D5-BDFD8A7B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READINESS</a:t>
            </a:r>
          </a:p>
        </p:txBody>
      </p:sp>
      <p:sp>
        <p:nvSpPr>
          <p:cNvPr id="597" name="Google Shape;597;p20">
            <a:extLst xmlns:a="http://schemas.openxmlformats.org/drawingml/2006/main">
              <a:ext uri="{FF2B5EF4-FFF2-40B4-BE49-F238E27FC236}">
                <a16:creationId xmlns:a16="http://schemas.microsoft.com/office/drawing/2014/main" id="{AAB08CB0-4DCB-4922-B224-32548392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622" name="Google Shape;598;p20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3" name="Google Shape;599;p20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0" name="Google Shape;600;p20">
            <a:extLst xmlns:a="http://schemas.openxmlformats.org/drawingml/2006/main">
              <a:ext uri="{FF2B5EF4-FFF2-40B4-BE49-F238E27FC236}">
                <a16:creationId xmlns:a16="http://schemas.microsoft.com/office/drawing/2014/main" id="{B71ADE33-0E5A-4472-9B9E-D7C029CF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Before a Project Moves Forward</a:t>
            </a:r>
          </a:p>
        </p:txBody>
      </p:sp>
      <p:sp>
        <p:nvSpPr>
          <p:cNvPr id="601" name="Google Shape;601;p20">
            <a:extLst xmlns:a="http://schemas.openxmlformats.org/drawingml/2006/main">
              <a:ext uri="{FF2B5EF4-FFF2-40B4-BE49-F238E27FC236}">
                <a16:creationId xmlns:a16="http://schemas.microsoft.com/office/drawing/2014/main" id="{1A37DF95-9CF8-4BEE-AC36-DCA78B84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2" name="Google Shape;602;p20">
            <a:extLst xmlns:a="http://schemas.openxmlformats.org/drawingml/2006/main">
              <a:ext uri="{FF2B5EF4-FFF2-40B4-BE49-F238E27FC236}">
                <a16:creationId xmlns:a16="http://schemas.microsoft.com/office/drawing/2014/main" id="{E7B69E63-888E-4ABF-BA88-A274A32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do not need perfection. They need enough clarity to plan safely.</a:t>
            </a:r>
          </a:p>
        </p:txBody>
      </p:sp>
      <p:sp>
        <p:nvSpPr>
          <p:cNvPr id="603" name="Google Shape;603;p20">
            <a:extLst xmlns:a="http://schemas.openxmlformats.org/drawingml/2006/main">
              <a:ext uri="{FF2B5EF4-FFF2-40B4-BE49-F238E27FC236}">
                <a16:creationId xmlns:a16="http://schemas.microsoft.com/office/drawing/2014/main" id="{45AB7EEA-96B2-4CD0-AEBD-7651B1F1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91640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4" name="Google Shape;604;p20">
            <a:extLst xmlns:a="http://schemas.openxmlformats.org/drawingml/2006/main">
              <a:ext uri="{FF2B5EF4-FFF2-40B4-BE49-F238E27FC236}">
                <a16:creationId xmlns:a16="http://schemas.microsoft.com/office/drawing/2014/main" id="{02B7F247-E4EC-4622-A61B-2CBFCABF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792224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Clear question or problem</a:t>
            </a:r>
          </a:p>
        </p:txBody>
      </p:sp>
      <p:sp>
        <p:nvSpPr>
          <p:cNvPr id="605" name="Google Shape;605;p20">
            <a:extLst xmlns:a="http://schemas.openxmlformats.org/drawingml/2006/main">
              <a:ext uri="{FF2B5EF4-FFF2-40B4-BE49-F238E27FC236}">
                <a16:creationId xmlns:a16="http://schemas.microsoft.com/office/drawing/2014/main" id="{FDBC3F94-1430-490B-8605-C0D83C1C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258568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6" name="Google Shape;606;p20">
            <a:extLst xmlns:a="http://schemas.openxmlformats.org/drawingml/2006/main">
              <a:ext uri="{FF2B5EF4-FFF2-40B4-BE49-F238E27FC236}">
                <a16:creationId xmlns:a16="http://schemas.microsoft.com/office/drawing/2014/main" id="{7A242BFF-3457-4DDB-AD77-06AFAD9E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59152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Measurable outcome or metric</a:t>
            </a:r>
          </a:p>
        </p:txBody>
      </p:sp>
      <p:sp>
        <p:nvSpPr>
          <p:cNvPr id="607" name="Google Shape;607;p20">
            <a:extLst xmlns:a="http://schemas.openxmlformats.org/drawingml/2006/main">
              <a:ext uri="{FF2B5EF4-FFF2-40B4-BE49-F238E27FC236}">
                <a16:creationId xmlns:a16="http://schemas.microsoft.com/office/drawing/2014/main" id="{96EBACE9-CC01-48C1-B78F-C93B98C6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825496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08" name="Google Shape;608;p20">
            <a:extLst xmlns:a="http://schemas.openxmlformats.org/drawingml/2006/main">
              <a:ext uri="{FF2B5EF4-FFF2-40B4-BE49-F238E27FC236}">
                <a16:creationId xmlns:a16="http://schemas.microsoft.com/office/drawing/2014/main" id="{B907275B-09B0-4FCD-823F-45535732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926080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Fair comparison or criteria</a:t>
            </a:r>
          </a:p>
        </p:txBody>
      </p:sp>
      <p:sp>
        <p:nvSpPr>
          <p:cNvPr id="609" name="Google Shape;609;p20">
            <a:extLst xmlns:a="http://schemas.openxmlformats.org/drawingml/2006/main">
              <a:ext uri="{FF2B5EF4-FFF2-40B4-BE49-F238E27FC236}">
                <a16:creationId xmlns:a16="http://schemas.microsoft.com/office/drawing/2014/main" id="{09FA545C-5C73-4F27-A0BD-A9C9AE58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92424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0" name="Google Shape;610;p20">
            <a:extLst xmlns:a="http://schemas.openxmlformats.org/drawingml/2006/main">
              <a:ext uri="{FF2B5EF4-FFF2-40B4-BE49-F238E27FC236}">
                <a16:creationId xmlns:a16="http://schemas.microsoft.com/office/drawing/2014/main" id="{E5C44897-9484-4BAF-9138-B1C9C565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493008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Feasible materials and timeline</a:t>
            </a:r>
          </a:p>
        </p:txBody>
      </p:sp>
      <p:sp>
        <p:nvSpPr>
          <p:cNvPr id="611" name="Google Shape;611;p20">
            <a:extLst xmlns:a="http://schemas.openxmlformats.org/drawingml/2006/main">
              <a:ext uri="{FF2B5EF4-FFF2-40B4-BE49-F238E27FC236}">
                <a16:creationId xmlns:a16="http://schemas.microsoft.com/office/drawing/2014/main" id="{AF57E820-B8AC-4CD8-A055-460469D0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959352"/>
            <a:ext cx="49377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2" name="Google Shape;612;p20">
            <a:extLst xmlns:a="http://schemas.openxmlformats.org/drawingml/2006/main">
              <a:ext uri="{FF2B5EF4-FFF2-40B4-BE49-F238E27FC236}">
                <a16:creationId xmlns:a16="http://schemas.microsoft.com/office/drawing/2014/main" id="{6EC3D9B9-EDF9-4728-817C-D1050418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59936"/>
            <a:ext cx="4572000" cy="155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✓ Safety and ethics screened</a:t>
            </a:r>
          </a:p>
        </p:txBody>
      </p:sp>
      <p:sp>
        <p:nvSpPr>
          <p:cNvPr id="613" name="Google Shape;613;p20">
            <a:extLst xmlns:a="http://schemas.openxmlformats.org/drawingml/2006/main">
              <a:ext uri="{FF2B5EF4-FFF2-40B4-BE49-F238E27FC236}">
                <a16:creationId xmlns:a16="http://schemas.microsoft.com/office/drawing/2014/main" id="{6D1060D2-98D8-44FE-886C-4E9D1753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4343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10150" cmpd="sng">
            <a:solidFill>
              <a:srgbClr val="55555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14" name="Google Shape;614;p20">
            <a:extLst xmlns:a="http://schemas.openxmlformats.org/drawingml/2006/main">
              <a:ext uri="{FF2B5EF4-FFF2-40B4-BE49-F238E27FC236}">
                <a16:creationId xmlns:a16="http://schemas.microsoft.com/office/drawing/2014/main" id="{452213EB-A556-4621-BCDE-E755E44B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12848"/>
            <a:ext cx="388620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800"/>
              <a:buFont typeface="Arial"/>
              <a:buNone/>
            </a:pPr>
            <a:r>
              <a:rPr sz="18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If one of these is missing, the next step is revision — not testing.</a:t>
            </a:r>
          </a:p>
        </p:txBody>
      </p:sp>
      <p:cxnSp>
        <p:nvCxnSpPr>
          <p:cNvPr id="639" name="Google Shape;615;p20"/>
          <p:cNvCxnSpPr/>
          <p:nvPr/>
        </p:nvCxnSpPr>
        <p:spPr>
          <a:xfrm xmlns:a="http://schemas.openxmlformats.org/drawingml/2006/main">
            <a:off x="6400800" y="3429000"/>
            <a:ext cx="43434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ED1C2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16" name="Google Shape;616;p20">
            <a:extLst xmlns:a="http://schemas.openxmlformats.org/drawingml/2006/main">
              <a:ext uri="{FF2B5EF4-FFF2-40B4-BE49-F238E27FC236}">
                <a16:creationId xmlns:a16="http://schemas.microsoft.com/office/drawing/2014/main" id="{A37F63A9-DF3D-4C67-80A3-D1668E23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30752"/>
            <a:ext cx="43434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500"/>
              <a:buFont typeface="Arial"/>
              <a:buNone/>
            </a:pPr>
            <a:r>
              <a:rPr sz="15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This connects directly to the Unit 2 research plan approval checkpoint.</a:t>
            </a:r>
          </a:p>
        </p:txBody>
      </p:sp>
      <p:sp>
        <p:nvSpPr>
          <p:cNvPr id="617" name="Google Shape;617;p20">
            <a:extLst xmlns:a="http://schemas.openxmlformats.org/drawingml/2006/main">
              <a:ext uri="{FF2B5EF4-FFF2-40B4-BE49-F238E27FC236}">
                <a16:creationId xmlns:a16="http://schemas.microsoft.com/office/drawing/2014/main" id="{ECA1D6DC-CE35-4E23-ABAD-CC833F0A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865584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3" name="Google Shape;623;p21">
            <a:extLst xmlns:a="http://schemas.openxmlformats.org/drawingml/2006/main">
              <a:ext uri="{FF2B5EF4-FFF2-40B4-BE49-F238E27FC236}">
                <a16:creationId xmlns:a16="http://schemas.microsoft.com/office/drawing/2014/main" id="{A30E30C7-CC0A-47B1-AF75-F7375D03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608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24" name="Google Shape;624;p21">
            <a:extLst xmlns:a="http://schemas.openxmlformats.org/drawingml/2006/main">
              <a:ext uri="{FF2B5EF4-FFF2-40B4-BE49-F238E27FC236}">
                <a16:creationId xmlns:a16="http://schemas.microsoft.com/office/drawing/2014/main" id="{CE205710-0584-44F0-A567-3A428E62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8816"/>
            <a:ext cx="12191695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25" name="Google Shape;625;p21">
            <a:extLst xmlns:a="http://schemas.openxmlformats.org/drawingml/2006/main">
              <a:ext uri="{FF2B5EF4-FFF2-40B4-BE49-F238E27FC236}">
                <a16:creationId xmlns:a16="http://schemas.microsoft.com/office/drawing/2014/main" id="{7F4FDADA-8F0C-4AB5-9C1C-337F01E4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62727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EXIT TICKET</a:t>
            </a:r>
          </a:p>
        </p:txBody>
      </p:sp>
      <p:sp>
        <p:nvSpPr>
          <p:cNvPr id="626" name="Google Shape;626;p21">
            <a:extLst xmlns:a="http://schemas.openxmlformats.org/drawingml/2006/main">
              <a:ext uri="{FF2B5EF4-FFF2-40B4-BE49-F238E27FC236}">
                <a16:creationId xmlns:a16="http://schemas.microsoft.com/office/drawing/2014/main" id="{D4D5D4AB-5011-4F32-8EED-63AEC772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62727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50"/>
              <a:buFont typeface="Arial"/>
              <a:buNone/>
            </a:pPr>
            <a:r>
              <a:rPr sz="85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cxnSp>
        <p:nvCxnSpPr>
          <p:cNvPr id="647" name="Google Shape;627;p21"/>
          <p:cNvCxnSpPr/>
          <p:nvPr/>
        </p:nvCxnSpPr>
        <p:spPr>
          <a:xfrm xmlns:a="http://schemas.openxmlformats.org/drawingml/2006/main">
            <a:off x="438912" y="6163056"/>
            <a:ext cx="20116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48" name="Google Shape;628;p21"/>
          <p:cNvCxnSpPr/>
          <p:nvPr/>
        </p:nvCxnSpPr>
        <p:spPr>
          <a:xfrm xmlns:a="http://schemas.openxmlformats.org/drawingml/2006/main">
            <a:off x="10012680" y="6163056"/>
            <a:ext cx="164592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55555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9" name="Google Shape;629;p21">
            <a:extLst xmlns:a="http://schemas.openxmlformats.org/drawingml/2006/main">
              <a:ext uri="{FF2B5EF4-FFF2-40B4-BE49-F238E27FC236}">
                <a16:creationId xmlns:a16="http://schemas.microsoft.com/office/drawing/2014/main" id="{DFB1A306-21A1-48E8-9CE4-657A2D1C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3F3F3"/>
                </a:solidFill>
                <a:latin typeface="Play"/>
                <a:ea typeface="Play"/>
                <a:cs typeface="Play"/>
              </a:rPr>
              <a:t>Exit Ticket</a:t>
            </a:r>
          </a:p>
        </p:txBody>
      </p:sp>
      <p:sp>
        <p:nvSpPr>
          <p:cNvPr id="630" name="Google Shape;630;p21">
            <a:extLst xmlns:a="http://schemas.openxmlformats.org/drawingml/2006/main">
              <a:ext uri="{FF2B5EF4-FFF2-40B4-BE49-F238E27FC236}">
                <a16:creationId xmlns:a16="http://schemas.microsoft.com/office/drawing/2014/main" id="{A589673E-CFE7-49C8-8A9B-038F91BF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78992"/>
            <a:ext cx="10515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1C24"/>
          </a:solidFill>
          <a:ln xmlns:a="http://schemas.openxmlformats.org/drawingml/2006/main" w="12700" cmpd="sng">
            <a:solidFill>
              <a:srgbClr val="ED1C2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1" name="Google Shape;631;p21">
            <a:extLst xmlns:a="http://schemas.openxmlformats.org/drawingml/2006/main">
              <a:ext uri="{FF2B5EF4-FFF2-40B4-BE49-F238E27FC236}">
                <a16:creationId xmlns:a16="http://schemas.microsoft.com/office/drawing/2014/main" id="{C20BF719-5AFF-4E05-B950-72E6D8C3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108813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Students leave with one sharper project frame.</a:t>
            </a:r>
          </a:p>
        </p:txBody>
      </p:sp>
      <p:sp>
        <p:nvSpPr>
          <p:cNvPr id="632" name="Google Shape;632;p21">
            <a:extLst xmlns:a="http://schemas.openxmlformats.org/drawingml/2006/main">
              <a:ext uri="{FF2B5EF4-FFF2-40B4-BE49-F238E27FC236}">
                <a16:creationId xmlns:a16="http://schemas.microsoft.com/office/drawing/2014/main" id="{3AA14DFF-9684-4662-B6D6-89B6FAF7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4592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Answer in 4 lines:</a:t>
            </a:r>
          </a:p>
        </p:txBody>
      </p:sp>
      <p:sp>
        <p:nvSpPr>
          <p:cNvPr id="633" name="Google Shape;633;p21">
            <a:extLst xmlns:a="http://schemas.openxmlformats.org/drawingml/2006/main">
              <a:ext uri="{FF2B5EF4-FFF2-40B4-BE49-F238E27FC236}">
                <a16:creationId xmlns:a16="http://schemas.microsoft.com/office/drawing/2014/main" id="{02688F7C-FCFD-4682-A0A0-BD1603C7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93392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4" name="Google Shape;634;p21">
            <a:extLst xmlns:a="http://schemas.openxmlformats.org/drawingml/2006/main">
              <a:ext uri="{FF2B5EF4-FFF2-40B4-BE49-F238E27FC236}">
                <a16:creationId xmlns:a16="http://schemas.microsoft.com/office/drawing/2014/main" id="{417D32AF-8D81-48BA-B623-F560CA7D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103120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1. My project is mainly an experiment / engineering design / data analysis project because…</a:t>
            </a:r>
          </a:p>
        </p:txBody>
      </p:sp>
      <p:sp>
        <p:nvSpPr>
          <p:cNvPr id="635" name="Google Shape;635;p21">
            <a:extLst xmlns:a="http://schemas.openxmlformats.org/drawingml/2006/main">
              <a:ext uri="{FF2B5EF4-FFF2-40B4-BE49-F238E27FC236}">
                <a16:creationId xmlns:a16="http://schemas.microsoft.com/office/drawing/2014/main" id="{DC708D36-613A-4340-8BF8-054CD25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6896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6" name="Google Shape;636;p21">
            <a:extLst xmlns:a="http://schemas.openxmlformats.org/drawingml/2006/main">
              <a:ext uri="{FF2B5EF4-FFF2-40B4-BE49-F238E27FC236}">
                <a16:creationId xmlns:a16="http://schemas.microsoft.com/office/drawing/2014/main" id="{2A3CB771-7226-4A5F-B3F6-E5FA101D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706624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2. The main thing I will change, compare, build, or analyze is…</a:t>
            </a:r>
          </a:p>
        </p:txBody>
      </p:sp>
      <p:sp>
        <p:nvSpPr>
          <p:cNvPr id="637" name="Google Shape;637;p21">
            <a:extLst xmlns:a="http://schemas.openxmlformats.org/drawingml/2006/main">
              <a:ext uri="{FF2B5EF4-FFF2-40B4-BE49-F238E27FC236}">
                <a16:creationId xmlns:a16="http://schemas.microsoft.com/office/drawing/2014/main" id="{A6E4493B-25AD-40CB-9FA0-809B1CF7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8" name="Google Shape;638;p21">
            <a:extLst xmlns:a="http://schemas.openxmlformats.org/drawingml/2006/main">
              <a:ext uri="{FF2B5EF4-FFF2-40B4-BE49-F238E27FC236}">
                <a16:creationId xmlns:a16="http://schemas.microsoft.com/office/drawing/2014/main" id="{E2E8E98B-79D2-45B5-A2F1-924995FD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310128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3. The main thing I will measure or evaluate is…</a:t>
            </a:r>
          </a:p>
        </p:txBody>
      </p:sp>
      <p:sp>
        <p:nvSpPr>
          <p:cNvPr id="639" name="Google Shape;639;p21">
            <a:extLst xmlns:a="http://schemas.openxmlformats.org/drawingml/2006/main">
              <a:ext uri="{FF2B5EF4-FFF2-40B4-BE49-F238E27FC236}">
                <a16:creationId xmlns:a16="http://schemas.microsoft.com/office/drawing/2014/main" id="{3761898C-0F3E-4419-A28D-CF7264C6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03904"/>
            <a:ext cx="10241280" cy="4206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808"/>
          </a:solidFill>
          <a:ln xmlns:a="http://schemas.openxmlformats.org/drawingml/2006/main" w="9525" cmpd="sng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40" name="Google Shape;640;p21">
            <a:extLst xmlns:a="http://schemas.openxmlformats.org/drawingml/2006/main">
              <a:ext uri="{FF2B5EF4-FFF2-40B4-BE49-F238E27FC236}">
                <a16:creationId xmlns:a16="http://schemas.microsoft.com/office/drawing/2014/main" id="{976E6646-30D6-4A37-85D6-3CF0C540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913632"/>
            <a:ext cx="98755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350"/>
              <a:buFont typeface="Arial"/>
              <a:buNone/>
            </a:pPr>
            <a:r>
              <a:rPr sz="1350" b="0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4. One thing I must control, constrain, or keep consistent is…</a:t>
            </a:r>
          </a:p>
        </p:txBody>
      </p:sp>
      <p:sp>
        <p:nvSpPr>
          <p:cNvPr id="641" name="Google Shape;641;p21">
            <a:extLst xmlns:a="http://schemas.openxmlformats.org/drawingml/2006/main">
              <a:ext uri="{FF2B5EF4-FFF2-40B4-BE49-F238E27FC236}">
                <a16:creationId xmlns:a16="http://schemas.microsoft.com/office/drawing/2014/main" id="{2DDCE20E-55C7-4D88-9587-8E8F4E84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10424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F3F3F3"/>
                </a:solidFill>
                <a:latin typeface="Arial"/>
                <a:ea typeface="Arial"/>
                <a:cs typeface="Arial"/>
              </a:rPr>
              <a:t>Next deck: Building a Formal Research Plan</a:t>
            </a:r>
          </a:p>
        </p:txBody>
      </p:sp>
      <p:sp>
        <p:nvSpPr>
          <p:cNvPr id="642" name="Google Shape;642;p21">
            <a:extLst xmlns:a="http://schemas.openxmlformats.org/drawingml/2006/main">
              <a:ext uri="{FF2B5EF4-FFF2-40B4-BE49-F238E27FC236}">
                <a16:creationId xmlns:a16="http://schemas.microsoft.com/office/drawing/2014/main" id="{8AFE0B47-6009-46F1-82BB-95734AD9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742432"/>
            <a:ext cx="411480" cy="21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A6A6A6"/>
              </a:buClr>
              <a:buSzPts val="800"/>
              <a:buFont typeface="Arial"/>
              <a:buNone/>
            </a:pPr>
            <a:r>
              <a:rPr sz="800" b="0" i="0" u="none" cap="none">
                <a:solidFill>
                  <a:srgbClr val="A6A6A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5029305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2026-07-16T15:08:41.1440000Z</dcterms:created>
  <dcterms:modified xsi:type="dcterms:W3CDTF">2026-07-16T15:08:41.1440000Z</dcterms:modified>
</coreProperties>
</file>