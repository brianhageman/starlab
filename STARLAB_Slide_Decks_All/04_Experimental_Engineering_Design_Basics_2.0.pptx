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1675"/>
  <p:notesSz cx="6858000" cy="12191675"/>
  <p:embeddedFontLst>
    <p:embeddedFont>
      <p:font typeface="Play"/>
      <p:regular r:id="rId23"/>
      <p:bold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24" Type="http://schemas.openxmlformats.org/officeDocument/2006/relationships/font" Target="fonts/Play-bold.fntdata"/><Relationship Id="rId12" Type="http://schemas.openxmlformats.org/officeDocument/2006/relationships/slide" Target="slides/slide8.xml"/><Relationship Id="rId23" Type="http://schemas.openxmlformats.org/officeDocument/2006/relationships/font" Target="fonts/Play-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Purpose: Establish the shared design vocabulary students will use throughout STARLAB. Use this deck after students have begun brainstorming possible projects, before they finalize questions or plans. Keep emphasizing that both experimental and engineering projects are valid STARLAB pathways.</a:t>
            </a:r>
            <a:br>
              <a:rPr lang="en-US"/>
            </a:br>
            <a:br>
              <a:rPr lang="en-US"/>
            </a:br>
            <a:r>
              <a:rPr lang="en-US"/>
              <a:t>Resource alignment:</a:t>
            </a:r>
            <a:br>
              <a:rPr lang="en-US"/>
            </a:br>
            <a:r>
              <a:rPr lang="en-US"/>
              <a:t>Required print materials for this deck:</a:t>
            </a:r>
            <a:br>
              <a:rPr lang="en-US"/>
            </a:br>
            <a:r>
              <a:rPr lang="en-US"/>
              <a:t>• Unit 1 Student Handout 5: Experimental Design Practice</a:t>
            </a:r>
            <a:br>
              <a:rPr lang="en-US"/>
            </a:br>
            <a:r>
              <a:rPr lang="en-US"/>
              <a:t>• Unit 1 Appendix D: Experimental Design Vocabulary</a:t>
            </a:r>
            <a:br>
              <a:rPr lang="en-US"/>
            </a:br>
            <a:r>
              <a:rPr lang="en-US"/>
              <a:t>• Unit 1 Appendix G: Engineering Design Problem Guide</a:t>
            </a:r>
            <a:br>
              <a:rPr lang="en-US"/>
            </a:br>
            <a:r>
              <a:rPr lang="en-US"/>
              <a:t>• Unit 1 Appendix I: Optional Project Card Sorting Activity</a:t>
            </a:r>
            <a:br>
              <a:rPr lang="en-US"/>
            </a:br>
            <a:r>
              <a:rPr lang="en-US"/>
              <a:t>• Unit 2 Student Handout 3: Hypothesis and Design Criteria Builder</a:t>
            </a:r>
            <a:br>
              <a:rPr lang="en-US"/>
            </a:br>
            <a:r>
              <a:rPr lang="en-US"/>
              <a:t>• Unit 2 Student Handout 4: Variables, Controls, Criteria, and Constraints Organizer</a:t>
            </a:r>
            <a:br>
              <a:rPr lang="en-US"/>
            </a:br>
            <a:r>
              <a:rPr lang="en-US"/>
              <a:t>• Unit 2 Student Handout 5: Evidence Planning Tool</a:t>
            </a:r>
            <a:br>
              <a:rPr lang="en-US"/>
            </a:br>
            <a:br>
              <a:rPr lang="en-US"/>
            </a:br>
            <a:r>
              <a:rPr lang="en-US"/>
              <a:t>Deck connection: Use after Deck 2: From Topic to Research Question and Deck 3: Research Ethics, Safety, and Integrity.</a:t>
            </a:r>
            <a:endParaRPr/>
          </a:p>
        </p:txBody>
      </p:sp>
      <p:sp>
        <p:nvSpPr>
          <p:cNvPr id="19" name="Google Shape;1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This is not a memorization lesson. It is a vocabulary and thinking framework students will reuse all year. The quick write helps you surface prior understanding before adding STARLAB-specific language.</a:t>
            </a:r>
            <a:br>
              <a:rPr lang="en-US"/>
            </a:br>
            <a:br>
              <a:rPr lang="en-US"/>
            </a:br>
            <a:r>
              <a:rPr lang="en-US"/>
              <a:t>Resource alignment:</a:t>
            </a:r>
            <a:br>
              <a:rPr lang="en-US"/>
            </a:br>
            <a:r>
              <a:rPr lang="en-US"/>
              <a:t>Primary alignment: Unit 1 Student Handout 5: Experimental Design Practice. Supporting alignment: Unit 2 Student Handout 4: Variables, Controls, Criteria, and Constraints Organizer.</a:t>
            </a:r>
            <a:endParaRPr/>
          </a:p>
        </p:txBody>
      </p:sp>
      <p:sp>
        <p:nvSpPr>
          <p:cNvPr id="30" name="Google Shape;3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Hybrid projects are common. The key is for students to know what kind of evidence will count as success. Prompt students: Are you primarily trying to explain a relationship, or evaluate a design?</a:t>
            </a:r>
            <a:br>
              <a:rPr lang="en-US"/>
            </a:br>
            <a:br>
              <a:rPr lang="en-US"/>
            </a:br>
            <a:r>
              <a:rPr lang="en-US"/>
              <a:t>Resource alignment:</a:t>
            </a:r>
            <a:br>
              <a:rPr lang="en-US"/>
            </a:br>
            <a:r>
              <a:rPr lang="en-US"/>
              <a:t>Primary alignment: Unit 1 Appendix G: Engineering Design Problem Guide and Unit 2 Student Handout 4: Variables, Controls, Criteria, and Constraints Organizer.</a:t>
            </a:r>
            <a:endParaRPr/>
          </a:p>
        </p:txBody>
      </p:sp>
      <p:sp>
        <p:nvSpPr>
          <p:cNvPr id="63" name="Google Shape;6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Students often confuse the variable they change with the thing they measure. Keep asking: “What do you control?” and “What do you measure?”</a:t>
            </a:r>
            <a:br>
              <a:rPr lang="en-US"/>
            </a:br>
            <a:br>
              <a:rPr lang="en-US"/>
            </a:br>
            <a:r>
              <a:rPr lang="en-US"/>
              <a:t>Resource alignment:</a:t>
            </a:r>
            <a:br>
              <a:rPr lang="en-US"/>
            </a:br>
            <a:r>
              <a:rPr lang="en-US"/>
              <a:t>Primary alignment: Unit 1 Appendix D: Experimental Design Vocabulary and Unit 2 Student Handout 4, experimental science project section.</a:t>
            </a:r>
            <a:endParaRPr/>
          </a:p>
        </p:txBody>
      </p:sp>
      <p:sp>
        <p:nvSpPr>
          <p:cNvPr id="117" name="Google Shape;11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Use a deliberately simple example so the structure is obvious. The goal is transfer to student projects. Ask: What would make this test unfair? What would make the evidence stronger?</a:t>
            </a:r>
            <a:br>
              <a:rPr lang="en-US"/>
            </a:br>
            <a:br>
              <a:rPr lang="en-US"/>
            </a:br>
            <a:r>
              <a:rPr lang="en-US"/>
              <a:t>Resource alignment:</a:t>
            </a:r>
            <a:br>
              <a:rPr lang="en-US"/>
            </a:br>
            <a:r>
              <a:rPr lang="en-US"/>
              <a:t>Primary alignment: Unit 1 Student Handout 5: Experimental Design Practice and Unit 2 Student Handout 4: Variables, Controls, Criteria, and Constraints Organizer.</a:t>
            </a:r>
            <a:endParaRPr/>
          </a:p>
        </p:txBody>
      </p:sp>
      <p:sp>
        <p:nvSpPr>
          <p:cNvPr id="151" name="Google Shape;15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In high school contexts, controlled variables and constants are often used interchangeably. Focus on the reasoning: what must stay the same for the comparison to mean anything?</a:t>
            </a:r>
            <a:br>
              <a:rPr lang="en-US"/>
            </a:br>
            <a:br>
              <a:rPr lang="en-US"/>
            </a:br>
            <a:r>
              <a:rPr lang="en-US"/>
              <a:t>Resource alignment:</a:t>
            </a:r>
            <a:br>
              <a:rPr lang="en-US"/>
            </a:br>
            <a:r>
              <a:rPr lang="en-US"/>
              <a:t>Primary alignment: Unit 1 Appendix D: Experimental Design Vocabulary. Supporting alignment: Unit 2 Student Handout 4: Variables, Controls, Criteria, and Constraints Organizer.</a:t>
            </a:r>
            <a:endParaRPr/>
          </a:p>
        </p:txBody>
      </p:sp>
      <p:sp>
        <p:nvSpPr>
          <p:cNvPr id="190" name="Google Shape;19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Avoid universal rules like “always do three trials.” Three is often a minimum, not a magic number. The purpose is reliability and comparison.</a:t>
            </a:r>
            <a:br>
              <a:rPr lang="en-US"/>
            </a:br>
            <a:br>
              <a:rPr lang="en-US"/>
            </a:br>
            <a:r>
              <a:rPr lang="en-US"/>
              <a:t>Resource alignment:</a:t>
            </a:r>
            <a:br>
              <a:rPr lang="en-US"/>
            </a:br>
            <a:r>
              <a:rPr lang="en-US"/>
              <a:t>Primary alignment: Unit 1 Student Handout 5: Experimental Design Practice. Supporting alignment: Unit 2 Student Handout 5: Evidence Planning Tool.</a:t>
            </a:r>
            <a:endParaRPr/>
          </a:p>
        </p:txBody>
      </p:sp>
      <p:sp>
        <p:nvSpPr>
          <p:cNvPr id="224" name="Google Shape;22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Use this as the verbal checklist students should apply every time they pitch an experimental project. If students cannot answer these questions, the project is not ready for Unit 2 planning.</a:t>
            </a:r>
            <a:br>
              <a:rPr lang="en-US"/>
            </a:br>
            <a:br>
              <a:rPr lang="en-US"/>
            </a:br>
            <a:r>
              <a:rPr lang="en-US"/>
              <a:t>Resource alignment:</a:t>
            </a:r>
            <a:br>
              <a:rPr lang="en-US"/>
            </a:br>
            <a:r>
              <a:rPr lang="en-US"/>
              <a:t>Primary alignment: Unit 1 Student Handout 5: Experimental Design Practice. Supporting alignment: Unit 2 Student Handout 4: Variables, Controls, Criteria, and Constraints Organizer.</a:t>
            </a:r>
            <a:endParaRPr/>
          </a:p>
        </p:txBody>
      </p:sp>
      <p:sp>
        <p:nvSpPr>
          <p:cNvPr id="259" name="Google Shape;25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Strong engineering projects are not “I built a thing.” They test how well a design solves a defined problem under constraints.</a:t>
            </a:r>
            <a:br>
              <a:rPr lang="en-US"/>
            </a:br>
            <a:br>
              <a:rPr lang="en-US"/>
            </a:br>
            <a:r>
              <a:rPr lang="en-US"/>
              <a:t>Resource alignment:</a:t>
            </a:r>
            <a:br>
              <a:rPr lang="en-US"/>
            </a:br>
            <a:r>
              <a:rPr lang="en-US"/>
              <a:t>Primary alignment: Unit 1 Appendix G: Engineering Design Problem Guide. Supporting alignment: Unit 2 Student Handout 3: Hypothesis and Design Criteria Builder.</a:t>
            </a:r>
            <a:endParaRPr/>
          </a:p>
        </p:txBody>
      </p:sp>
      <p:sp>
        <p:nvSpPr>
          <p:cNvPr id="294" name="Google Shape;29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The arrow back to redesign is the heart of engineering. Students should not treat the first prototype as the final product.</a:t>
            </a:r>
            <a:br>
              <a:rPr lang="en-US"/>
            </a:br>
            <a:br>
              <a:rPr lang="en-US"/>
            </a:br>
            <a:r>
              <a:rPr lang="en-US"/>
              <a:t>Resource alignment:</a:t>
            </a:r>
            <a:br>
              <a:rPr lang="en-US"/>
            </a:br>
            <a:r>
              <a:rPr lang="en-US"/>
              <a:t>Primary alignment: Unit 1 Appendix G: Engineering Design Problem Guide and Unit 2 Student Handout 3: Hypothesis and Design Criteria Builder.</a:t>
            </a:r>
            <a:endParaRPr/>
          </a:p>
        </p:txBody>
      </p:sp>
      <p:sp>
        <p:nvSpPr>
          <p:cNvPr id="328" name="Google Shape;32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This slide is crucial for engineering projects. “Best” can mean strongest, lightest, cheapest, fastest, most accurate, most durable, or safest.</a:t>
            </a:r>
            <a:br>
              <a:rPr lang="en-US"/>
            </a:br>
            <a:br>
              <a:rPr lang="en-US"/>
            </a:br>
            <a:r>
              <a:rPr lang="en-US"/>
              <a:t>Resource alignment:</a:t>
            </a:r>
            <a:br>
              <a:rPr lang="en-US"/>
            </a:br>
            <a:r>
              <a:rPr lang="en-US"/>
              <a:t>Primary alignment: Unit 1 Appendix G: Engineering Design Problem Guide. Supporting alignment: Unit 2 Student Handout 5: Evidence Planning Tool.</a:t>
            </a:r>
            <a:endParaRPr/>
          </a:p>
        </p:txBody>
      </p:sp>
      <p:sp>
        <p:nvSpPr>
          <p:cNvPr id="373" name="Google Shape;37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Students often blend frames. That is okay if they can say what the main claim will be: relationship or optimized design.</a:t>
            </a:r>
            <a:br>
              <a:rPr lang="en-US"/>
            </a:br>
            <a:br>
              <a:rPr lang="en-US"/>
            </a:br>
            <a:r>
              <a:rPr lang="en-US"/>
              <a:t>Resource alignment:</a:t>
            </a:r>
            <a:br>
              <a:rPr lang="en-US"/>
            </a:br>
            <a:r>
              <a:rPr lang="en-US"/>
              <a:t>Primary alignment: Unit 1 Appendix G: Engineering Design Problem Guide and Unit 2 Student Handout 4: Variables, Controls, Criteria, and Constraints Organizer.</a:t>
            </a:r>
            <a:endParaRPr/>
          </a:p>
        </p:txBody>
      </p:sp>
      <p:sp>
        <p:nvSpPr>
          <p:cNvPr id="417" name="Google Shape;41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Use this as a quick verbal review. Ask students to point to one term pair they still confuse.</a:t>
            </a:r>
            <a:br>
              <a:rPr lang="en-US"/>
            </a:br>
            <a:br>
              <a:rPr lang="en-US"/>
            </a:br>
            <a:r>
              <a:rPr lang="en-US"/>
              <a:t>Resource alignment:</a:t>
            </a:r>
            <a:br>
              <a:rPr lang="en-US"/>
            </a:br>
            <a:r>
              <a:rPr lang="en-US"/>
              <a:t>Primary alignment: Unit 1 Appendix D: Experimental Design Vocabulary. Supporting alignment: Unit 2 Student Handout 4: Variables, Controls, Criteria, and Constraints Organizer.</a:t>
            </a:r>
            <a:endParaRPr/>
          </a:p>
        </p:txBody>
      </p:sp>
      <p:sp>
        <p:nvSpPr>
          <p:cNvPr id="446" name="Google Shape;44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Use the project cards from Unit 1 Appendix I or make local cards based on likely student interests. Require students to justify categories using evidence, not just labels.</a:t>
            </a:r>
            <a:br>
              <a:rPr lang="en-US"/>
            </a:br>
            <a:br>
              <a:rPr lang="en-US"/>
            </a:br>
            <a:r>
              <a:rPr lang="en-US"/>
              <a:t>Resource alignment:</a:t>
            </a:r>
            <a:br>
              <a:rPr lang="en-US"/>
            </a:br>
            <a:r>
              <a:rPr lang="en-US"/>
              <a:t>Primary alignment: Unit 1 Appendix I: Optional Project Card Sorting Activity. Supporting alignment: Unit 1 Appendix D and Unit 1 Appendix G.</a:t>
            </a:r>
            <a:endParaRPr/>
          </a:p>
        </p:txBody>
      </p:sp>
      <p:sp>
        <p:nvSpPr>
          <p:cNvPr id="485" name="Google Shape;48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 name="Google Shape;51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This case connects directly to maker and 3D printing projects. Emphasize performance per gram to avoid “heavier is stronger” being the only story.</a:t>
            </a:r>
            <a:br>
              <a:rPr lang="en-US"/>
            </a:br>
            <a:br>
              <a:rPr lang="en-US"/>
            </a:br>
            <a:r>
              <a:rPr lang="en-US"/>
              <a:t>Resource alignment:</a:t>
            </a:r>
            <a:br>
              <a:rPr lang="en-US"/>
            </a:br>
            <a:r>
              <a:rPr lang="en-US"/>
              <a:t>Primary alignment: Unit 1 Appendix G: Engineering Design Problem Guide. Supporting alignment: Unit 2 Student Handout 5: Evidence Planning Tool.</a:t>
            </a:r>
            <a:endParaRPr/>
          </a:p>
        </p:txBody>
      </p:sp>
      <p:sp>
        <p:nvSpPr>
          <p:cNvPr id="517" name="Google Shape;51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0" name="Google Shape;55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This is the most important student-facing activity in the deck. Students are preparing for Unit 2 planning. If students cannot fill this in, they likely need to narrow or reframe the project idea.</a:t>
            </a:r>
            <a:br>
              <a:rPr lang="en-US"/>
            </a:br>
            <a:br>
              <a:rPr lang="en-US"/>
            </a:br>
            <a:r>
              <a:rPr lang="en-US"/>
              <a:t>Resource alignment:</a:t>
            </a:r>
            <a:br>
              <a:rPr lang="en-US"/>
            </a:br>
            <a:r>
              <a:rPr lang="en-US"/>
              <a:t>Primary alignment: Unit 2 Student Handout 5: Evidence Planning Tool. Supporting alignment: Unit 2 Student Handout 4: Variables, Controls, Criteria, and Constraints Organizer.</a:t>
            </a:r>
            <a:endParaRPr/>
          </a:p>
        </p:txBody>
      </p:sp>
      <p:sp>
        <p:nvSpPr>
          <p:cNvPr id="551" name="Google Shape;55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Use this slide as the bridge into Unit 2. The result of today should be a project idea that can be planned, not launched immediately.</a:t>
            </a:r>
            <a:br>
              <a:rPr lang="en-US"/>
            </a:br>
            <a:br>
              <a:rPr lang="en-US"/>
            </a:br>
            <a:r>
              <a:rPr lang="en-US"/>
              <a:t>Resource alignment:</a:t>
            </a:r>
            <a:br>
              <a:rPr lang="en-US"/>
            </a:br>
            <a:r>
              <a:rPr lang="en-US"/>
              <a:t>Primary alignment: Unit 2 Student Handout 5: Evidence Planning Tool and Unit 2 Student Handout 4: Variables, Controls, Criteria, and Constraints Organizer. Next deck connection: Deck 5: Building a Formal Research Plan.</a:t>
            </a:r>
            <a:endParaRPr/>
          </a:p>
        </p:txBody>
      </p:sp>
      <p:sp>
        <p:nvSpPr>
          <p:cNvPr id="592" name="Google Shape;59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0" name="Google Shape;62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Collect these or use them to group students for Unit 2 project planning conferences. The exit ticket is also a quick diagnostic: students who cannot answer line 3 need intervention before moving into formal planning.</a:t>
            </a:r>
            <a:br>
              <a:rPr lang="en-US"/>
            </a:br>
            <a:br>
              <a:rPr lang="en-US"/>
            </a:br>
            <a:r>
              <a:rPr lang="en-US"/>
              <a:t>Resource alignment:</a:t>
            </a:r>
            <a:br>
              <a:rPr lang="en-US"/>
            </a:br>
            <a:r>
              <a:rPr lang="en-US"/>
              <a:t>Primary alignment: Unit 2 Student Handout 5: Evidence Planning Tool. Supporting alignment: Unit 2 Student Handout 4: Variables, Controls, Criteria, and Constraints Organizer. Next deck connection: Deck 5: Building a Formal Research Plan.</a:t>
            </a:r>
            <a:endParaRPr/>
          </a:p>
        </p:txBody>
      </p:sp>
      <p:sp>
        <p:nvSpPr>
          <p:cNvPr id="621" name="Google Shape;62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RLAB_BLACK">
  <p:cSld name="STARLAB_BLACK">
    <p:bg>
      <p:bgPr>
        <a:solidFill>
          <a:srgbClr val="050505"/>
        </a:solidFill>
      </p:bgPr>
    </p:bg>
    <p:spTree>
      <p:nvGrpSpPr>
        <p:cNvPr id="11" name="Shape 11"/>
        <p:cNvGrpSpPr/>
        <p:nvPr/>
      </p:nvGrpSpPr>
      <p:grpSpPr>
        <a:xfrm>
          <a:off x="0" y="0"/>
          <a:ext cx="0" cy="0"/>
          <a:chOff x="0" y="0"/>
          <a:chExt cx="0" cy="0"/>
        </a:xfrm>
      </p:grpSpPr>
      <p:cxnSp>
        <p:nvCxnSpPr>
          <p:cNvPr id="12" name="Google Shape;12;p3"/>
          <p:cNvCxnSpPr/>
          <p:nvPr/>
        </p:nvCxnSpPr>
        <p:spPr>
          <a:xfrm>
            <a:off x="0" y="292608"/>
            <a:ext cx="12191695" cy="0"/>
          </a:xfrm>
          <a:prstGeom prst="straightConnector1">
            <a:avLst/>
          </a:prstGeom>
          <a:noFill/>
          <a:ln cap="flat" cmpd="sng" w="25400">
            <a:solidFill>
              <a:srgbClr val="ED1C24"/>
            </a:solidFill>
            <a:prstDash val="solid"/>
            <a:round/>
            <a:headEnd len="sm" w="sm" type="none"/>
            <a:tailEnd len="sm" w="sm" type="none"/>
          </a:ln>
        </p:spPr>
      </p:cxnSp>
      <p:cxnSp>
        <p:nvCxnSpPr>
          <p:cNvPr id="13" name="Google Shape;13;p3"/>
          <p:cNvCxnSpPr/>
          <p:nvPr/>
        </p:nvCxnSpPr>
        <p:spPr>
          <a:xfrm>
            <a:off x="0" y="6547104"/>
            <a:ext cx="12191695" cy="0"/>
          </a:xfrm>
          <a:prstGeom prst="straightConnector1">
            <a:avLst/>
          </a:prstGeom>
          <a:noFill/>
          <a:ln cap="flat" cmpd="sng" w="25400">
            <a:solidFill>
              <a:srgbClr val="ED1C24"/>
            </a:solidFill>
            <a:prstDash val="solid"/>
            <a:round/>
            <a:headEnd len="sm" w="sm" type="none"/>
            <a:tailEnd len="sm" w="sm" type="none"/>
          </a:ln>
        </p:spPr>
      </p:cxnSp>
      <p:cxnSp>
        <p:nvCxnSpPr>
          <p:cNvPr id="14" name="Google Shape;14;p3"/>
          <p:cNvCxnSpPr/>
          <p:nvPr/>
        </p:nvCxnSpPr>
        <p:spPr>
          <a:xfrm>
            <a:off x="320040" y="6336792"/>
            <a:ext cx="2468880" cy="0"/>
          </a:xfrm>
          <a:prstGeom prst="straightConnector1">
            <a:avLst/>
          </a:prstGeom>
          <a:noFill/>
          <a:ln cap="flat" cmpd="sng" w="9525">
            <a:solidFill>
              <a:srgbClr val="666666"/>
            </a:solidFill>
            <a:prstDash val="solid"/>
            <a:round/>
            <a:headEnd len="sm" w="sm" type="none"/>
            <a:tailEnd len="sm" w="sm" type="none"/>
          </a:ln>
        </p:spPr>
      </p:cxnSp>
      <p:cxnSp>
        <p:nvCxnSpPr>
          <p:cNvPr id="15" name="Google Shape;15;p3"/>
          <p:cNvCxnSpPr/>
          <p:nvPr/>
        </p:nvCxnSpPr>
        <p:spPr>
          <a:xfrm>
            <a:off x="9738360" y="6336792"/>
            <a:ext cx="2130552" cy="0"/>
          </a:xfrm>
          <a:prstGeom prst="straightConnector1">
            <a:avLst/>
          </a:prstGeom>
          <a:noFill/>
          <a:ln cap="flat" cmpd="sng" w="9525">
            <a:solidFill>
              <a:srgbClr val="666666"/>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20" name="Shape 20"/>
        <p:cNvGrpSpPr/>
        <p:nvPr/>
      </p:nvGrpSpPr>
      <p:grpSpPr>
        <a:xfrm>
          <a:off x="0" y="0"/>
          <a:ext cx="0" cy="0"/>
          <a:chOff x="0" y="0"/>
          <a:chExt cx="0" cy="0"/>
        </a:xfrm>
      </p:grpSpPr>
      <p:sp>
        <p:nvSpPr>
          <p:cNvPr id="21" name="Google Shape;21;p4"/>
          <p:cNvSpPr/>
          <p:nvPr/>
        </p:nvSpPr>
        <p:spPr>
          <a:xfrm>
            <a:off x="0" y="292608"/>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p:nvPr/>
        </p:nvSpPr>
        <p:spPr>
          <a:xfrm>
            <a:off x="0" y="6528816"/>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deck4_extract/image-1-1.png" id="23" name="Google Shape;23;p4"/>
          <p:cNvPicPr preferRelativeResize="0"/>
          <p:nvPr/>
        </p:nvPicPr>
        <p:blipFill rotWithShape="1">
          <a:blip r:embed="rId3">
            <a:alphaModFix/>
          </a:blip>
          <a:srcRect b="0" l="0" r="0" t="0"/>
          <a:stretch/>
        </p:blipFill>
        <p:spPr>
          <a:xfrm>
            <a:off x="1536192" y="530352"/>
            <a:ext cx="9098280" cy="4315968"/>
          </a:xfrm>
          <a:prstGeom prst="rect">
            <a:avLst/>
          </a:prstGeom>
          <a:noFill/>
          <a:ln>
            <a:noFill/>
          </a:ln>
        </p:spPr>
      </p:pic>
      <p:sp>
        <p:nvSpPr>
          <p:cNvPr id="24" name="Google Shape;24;p4"/>
          <p:cNvSpPr/>
          <p:nvPr/>
        </p:nvSpPr>
        <p:spPr>
          <a:xfrm>
            <a:off x="758952" y="5001768"/>
            <a:ext cx="10698480" cy="877824"/>
          </a:xfrm>
          <a:prstGeom prst="rect">
            <a:avLst/>
          </a:prstGeom>
          <a:solidFill>
            <a:srgbClr val="050505"/>
          </a:solidFill>
          <a:ln cap="flat" cmpd="sng" w="10150">
            <a:solidFill>
              <a:srgbClr val="9A9A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4"/>
          <p:cNvSpPr/>
          <p:nvPr/>
        </p:nvSpPr>
        <p:spPr>
          <a:xfrm>
            <a:off x="868680" y="5093208"/>
            <a:ext cx="10378440" cy="594360"/>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F3F3F3"/>
              </a:buClr>
              <a:buSzPts val="2600"/>
              <a:buFont typeface="Play"/>
              <a:buNone/>
            </a:pPr>
            <a:r>
              <a:rPr b="1" i="0" lang="en-US" sz="2600" u="none" cap="none" strike="noStrike">
                <a:solidFill>
                  <a:srgbClr val="F3F3F3"/>
                </a:solidFill>
                <a:latin typeface="Play"/>
                <a:ea typeface="Play"/>
                <a:cs typeface="Play"/>
                <a:sym typeface="Play"/>
              </a:rPr>
              <a:t>EXPERIMENTAL DESIGN</a:t>
            </a:r>
            <a:endParaRPr b="0" i="0" sz="26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3F3"/>
              </a:buClr>
              <a:buSzPts val="2600"/>
              <a:buFont typeface="Play"/>
              <a:buNone/>
            </a:pPr>
            <a:r>
              <a:rPr b="1" i="0" lang="en-US" sz="2600" u="none" cap="none" strike="noStrike">
                <a:solidFill>
                  <a:srgbClr val="F3F3F3"/>
                </a:solidFill>
                <a:latin typeface="Play"/>
                <a:ea typeface="Play"/>
                <a:cs typeface="Play"/>
                <a:sym typeface="Play"/>
              </a:rPr>
              <a:t>&amp; ENGINEERING DESIGN</a:t>
            </a:r>
            <a:endParaRPr b="0" i="0" sz="2600" u="none" cap="none" strike="noStrike">
              <a:solidFill>
                <a:schemeClr val="dk1"/>
              </a:solidFill>
              <a:latin typeface="Arial"/>
              <a:ea typeface="Arial"/>
              <a:cs typeface="Arial"/>
              <a:sym typeface="Arial"/>
            </a:endParaRPr>
          </a:p>
        </p:txBody>
      </p:sp>
      <p:sp>
        <p:nvSpPr>
          <p:cNvPr id="26" name="Google Shape;26;p4"/>
          <p:cNvSpPr/>
          <p:nvPr/>
        </p:nvSpPr>
        <p:spPr>
          <a:xfrm>
            <a:off x="868680" y="5980176"/>
            <a:ext cx="5760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300"/>
              <a:buFont typeface="Arial"/>
              <a:buNone/>
            </a:pPr>
            <a:r>
              <a:rPr b="0" i="0" lang="en-US" sz="1300" u="none" cap="none" strike="noStrike">
                <a:solidFill>
                  <a:srgbClr val="A6A6A6"/>
                </a:solidFill>
                <a:latin typeface="Arial"/>
                <a:ea typeface="Arial"/>
                <a:cs typeface="Arial"/>
                <a:sym typeface="Arial"/>
              </a:rPr>
              <a:t>STARLAB Deck 04  •  Unit 1–2 Core Instruction</a:t>
            </a:r>
            <a:endParaRPr b="0" i="0" sz="13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31" name="Shape 31"/>
        <p:cNvGrpSpPr/>
        <p:nvPr/>
      </p:nvGrpSpPr>
      <p:grpSpPr>
        <a:xfrm>
          <a:off x="0" y="0"/>
          <a:ext cx="0" cy="0"/>
          <a:chOff x="0" y="0"/>
          <a:chExt cx="0" cy="0"/>
        </a:xfrm>
      </p:grpSpPr>
      <p:sp>
        <p:nvSpPr>
          <p:cNvPr id="32" name="Google Shape;32;p5"/>
          <p:cNvSpPr/>
          <p:nvPr/>
        </p:nvSpPr>
        <p:spPr>
          <a:xfrm>
            <a:off x="0" y="292608"/>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5"/>
          <p:cNvSpPr/>
          <p:nvPr/>
        </p:nvSpPr>
        <p:spPr>
          <a:xfrm>
            <a:off x="0" y="6528816"/>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5"/>
          <p:cNvSpPr/>
          <p:nvPr/>
        </p:nvSpPr>
        <p:spPr>
          <a:xfrm>
            <a:off x="438912" y="6272784"/>
            <a:ext cx="29260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FOUNDATIONS</a:t>
            </a:r>
            <a:endParaRPr b="0" i="0" sz="850" u="none" cap="none" strike="noStrike">
              <a:solidFill>
                <a:schemeClr val="dk1"/>
              </a:solidFill>
              <a:latin typeface="Arial"/>
              <a:ea typeface="Arial"/>
              <a:cs typeface="Arial"/>
              <a:sym typeface="Arial"/>
            </a:endParaRPr>
          </a:p>
        </p:txBody>
      </p:sp>
      <p:sp>
        <p:nvSpPr>
          <p:cNvPr id="35" name="Google Shape;35;p5"/>
          <p:cNvSpPr/>
          <p:nvPr/>
        </p:nvSpPr>
        <p:spPr>
          <a:xfrm>
            <a:off x="10195560" y="6272784"/>
            <a:ext cx="141732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STARLAB</a:t>
            </a:r>
            <a:endParaRPr b="0" i="0" sz="850" u="none" cap="none" strike="noStrike">
              <a:solidFill>
                <a:schemeClr val="dk1"/>
              </a:solidFill>
              <a:latin typeface="Arial"/>
              <a:ea typeface="Arial"/>
              <a:cs typeface="Arial"/>
              <a:sym typeface="Arial"/>
            </a:endParaRPr>
          </a:p>
        </p:txBody>
      </p:sp>
      <p:cxnSp>
        <p:nvCxnSpPr>
          <p:cNvPr id="36" name="Google Shape;36;p5"/>
          <p:cNvCxnSpPr/>
          <p:nvPr/>
        </p:nvCxnSpPr>
        <p:spPr>
          <a:xfrm>
            <a:off x="438912" y="6163056"/>
            <a:ext cx="2011680" cy="0"/>
          </a:xfrm>
          <a:prstGeom prst="straightConnector1">
            <a:avLst/>
          </a:prstGeom>
          <a:noFill/>
          <a:ln cap="flat" cmpd="sng" w="9525">
            <a:solidFill>
              <a:srgbClr val="555555"/>
            </a:solidFill>
            <a:prstDash val="solid"/>
            <a:round/>
            <a:headEnd len="sm" w="sm" type="none"/>
            <a:tailEnd len="sm" w="sm" type="none"/>
          </a:ln>
        </p:spPr>
      </p:cxnSp>
      <p:cxnSp>
        <p:nvCxnSpPr>
          <p:cNvPr id="37" name="Google Shape;37;p5"/>
          <p:cNvCxnSpPr/>
          <p:nvPr/>
        </p:nvCxnSpPr>
        <p:spPr>
          <a:xfrm>
            <a:off x="10012680" y="6163056"/>
            <a:ext cx="1645920" cy="0"/>
          </a:xfrm>
          <a:prstGeom prst="straightConnector1">
            <a:avLst/>
          </a:prstGeom>
          <a:noFill/>
          <a:ln cap="flat" cmpd="sng" w="9525">
            <a:solidFill>
              <a:srgbClr val="555555"/>
            </a:solidFill>
            <a:prstDash val="solid"/>
            <a:round/>
            <a:headEnd len="sm" w="sm" type="none"/>
            <a:tailEnd len="sm" w="sm" type="none"/>
          </a:ln>
        </p:spPr>
      </p:cxnSp>
      <p:sp>
        <p:nvSpPr>
          <p:cNvPr id="38" name="Google Shape;38;p5"/>
          <p:cNvSpPr/>
          <p:nvPr/>
        </p:nvSpPr>
        <p:spPr>
          <a:xfrm>
            <a:off x="640080" y="566928"/>
            <a:ext cx="109728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2700"/>
              <a:buFont typeface="Play"/>
              <a:buNone/>
            </a:pPr>
            <a:r>
              <a:rPr b="1" i="0" lang="en-US" sz="2700" u="none" cap="none" strike="noStrike">
                <a:solidFill>
                  <a:srgbClr val="F3F3F3"/>
                </a:solidFill>
                <a:latin typeface="Play"/>
                <a:ea typeface="Play"/>
                <a:cs typeface="Play"/>
                <a:sym typeface="Play"/>
              </a:rPr>
              <a:t>Today’s Targets</a:t>
            </a:r>
            <a:endParaRPr b="0" i="0" sz="2700" u="none" cap="none" strike="noStrike">
              <a:solidFill>
                <a:schemeClr val="dk1"/>
              </a:solidFill>
              <a:latin typeface="Arial"/>
              <a:ea typeface="Arial"/>
              <a:cs typeface="Arial"/>
              <a:sym typeface="Arial"/>
            </a:endParaRPr>
          </a:p>
        </p:txBody>
      </p:sp>
      <p:sp>
        <p:nvSpPr>
          <p:cNvPr id="39" name="Google Shape;39;p5"/>
          <p:cNvSpPr/>
          <p:nvPr/>
        </p:nvSpPr>
        <p:spPr>
          <a:xfrm>
            <a:off x="640080" y="1078992"/>
            <a:ext cx="1051560"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5"/>
          <p:cNvSpPr/>
          <p:nvPr/>
        </p:nvSpPr>
        <p:spPr>
          <a:xfrm>
            <a:off x="658368" y="1188720"/>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600"/>
              <a:buFont typeface="Arial"/>
              <a:buNone/>
            </a:pPr>
            <a:r>
              <a:rPr b="0" i="0" lang="en-US" sz="1600" u="none" cap="none" strike="noStrike">
                <a:solidFill>
                  <a:srgbClr val="A6A6A6"/>
                </a:solidFill>
                <a:latin typeface="Arial"/>
                <a:ea typeface="Arial"/>
                <a:cs typeface="Arial"/>
                <a:sym typeface="Arial"/>
              </a:rPr>
              <a:t>Students should leave with language for both science and engineering projects.</a:t>
            </a:r>
            <a:endParaRPr b="0" i="0" sz="1600" u="none" cap="none" strike="noStrike">
              <a:solidFill>
                <a:schemeClr val="dk1"/>
              </a:solidFill>
              <a:latin typeface="Arial"/>
              <a:ea typeface="Arial"/>
              <a:cs typeface="Arial"/>
              <a:sym typeface="Arial"/>
            </a:endParaRPr>
          </a:p>
        </p:txBody>
      </p:sp>
      <p:sp>
        <p:nvSpPr>
          <p:cNvPr id="41" name="Google Shape;41;p5"/>
          <p:cNvSpPr/>
          <p:nvPr/>
        </p:nvSpPr>
        <p:spPr>
          <a:xfrm>
            <a:off x="713232" y="1600200"/>
            <a:ext cx="3246120" cy="205740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5"/>
          <p:cNvSpPr/>
          <p:nvPr/>
        </p:nvSpPr>
        <p:spPr>
          <a:xfrm>
            <a:off x="713232" y="1600200"/>
            <a:ext cx="54864" cy="205740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5"/>
          <p:cNvSpPr/>
          <p:nvPr/>
        </p:nvSpPr>
        <p:spPr>
          <a:xfrm>
            <a:off x="868680" y="1719072"/>
            <a:ext cx="2971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1. Name the pathway</a:t>
            </a:r>
            <a:endParaRPr b="0" i="0" sz="1500" u="none" cap="none" strike="noStrike">
              <a:solidFill>
                <a:schemeClr val="dk1"/>
              </a:solidFill>
              <a:latin typeface="Arial"/>
              <a:ea typeface="Arial"/>
              <a:cs typeface="Arial"/>
              <a:sym typeface="Arial"/>
            </a:endParaRPr>
          </a:p>
        </p:txBody>
      </p:sp>
      <p:sp>
        <p:nvSpPr>
          <p:cNvPr id="44" name="Google Shape;44;p5"/>
          <p:cNvSpPr/>
          <p:nvPr/>
        </p:nvSpPr>
        <p:spPr>
          <a:xfrm>
            <a:off x="868680" y="2075688"/>
            <a:ext cx="2971800" cy="1490472"/>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Decide whether a project is best framed as an experiment, an engineering design, a data analysis project, or another research pathway.</a:t>
            </a:r>
            <a:endParaRPr b="0" i="0" sz="1350" u="none" cap="none" strike="noStrike">
              <a:solidFill>
                <a:schemeClr val="dk1"/>
              </a:solidFill>
              <a:latin typeface="Arial"/>
              <a:ea typeface="Arial"/>
              <a:cs typeface="Arial"/>
              <a:sym typeface="Arial"/>
            </a:endParaRPr>
          </a:p>
        </p:txBody>
      </p:sp>
      <p:sp>
        <p:nvSpPr>
          <p:cNvPr id="45" name="Google Shape;45;p5"/>
          <p:cNvSpPr/>
          <p:nvPr/>
        </p:nvSpPr>
        <p:spPr>
          <a:xfrm>
            <a:off x="4443984" y="1600200"/>
            <a:ext cx="3246120" cy="205740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5"/>
          <p:cNvSpPr/>
          <p:nvPr/>
        </p:nvSpPr>
        <p:spPr>
          <a:xfrm>
            <a:off x="4443984" y="1600200"/>
            <a:ext cx="54864" cy="205740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5"/>
          <p:cNvSpPr/>
          <p:nvPr/>
        </p:nvSpPr>
        <p:spPr>
          <a:xfrm>
            <a:off x="4599432" y="1719072"/>
            <a:ext cx="2971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2. Identify the evidence</a:t>
            </a:r>
            <a:endParaRPr b="0" i="0" sz="1500" u="none" cap="none" strike="noStrike">
              <a:solidFill>
                <a:schemeClr val="dk1"/>
              </a:solidFill>
              <a:latin typeface="Arial"/>
              <a:ea typeface="Arial"/>
              <a:cs typeface="Arial"/>
              <a:sym typeface="Arial"/>
            </a:endParaRPr>
          </a:p>
        </p:txBody>
      </p:sp>
      <p:sp>
        <p:nvSpPr>
          <p:cNvPr id="48" name="Google Shape;48;p5"/>
          <p:cNvSpPr/>
          <p:nvPr/>
        </p:nvSpPr>
        <p:spPr>
          <a:xfrm>
            <a:off x="4599432" y="2075688"/>
            <a:ext cx="2971800" cy="1490472"/>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Define what will be changed, measured, compared, tested, or optimized.</a:t>
            </a:r>
            <a:endParaRPr b="0" i="0" sz="1350" u="none" cap="none" strike="noStrike">
              <a:solidFill>
                <a:schemeClr val="dk1"/>
              </a:solidFill>
              <a:latin typeface="Arial"/>
              <a:ea typeface="Arial"/>
              <a:cs typeface="Arial"/>
              <a:sym typeface="Arial"/>
            </a:endParaRPr>
          </a:p>
        </p:txBody>
      </p:sp>
      <p:sp>
        <p:nvSpPr>
          <p:cNvPr id="49" name="Google Shape;49;p5"/>
          <p:cNvSpPr/>
          <p:nvPr/>
        </p:nvSpPr>
        <p:spPr>
          <a:xfrm>
            <a:off x="8174736" y="1600200"/>
            <a:ext cx="3246120" cy="205740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5"/>
          <p:cNvSpPr/>
          <p:nvPr/>
        </p:nvSpPr>
        <p:spPr>
          <a:xfrm>
            <a:off x="8174736" y="1600200"/>
            <a:ext cx="54864" cy="205740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a:off x="8330184" y="1719072"/>
            <a:ext cx="2971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3. Build a fair test</a:t>
            </a:r>
            <a:endParaRPr b="0" i="0" sz="1500" u="none" cap="none" strike="noStrike">
              <a:solidFill>
                <a:schemeClr val="dk1"/>
              </a:solidFill>
              <a:latin typeface="Arial"/>
              <a:ea typeface="Arial"/>
              <a:cs typeface="Arial"/>
              <a:sym typeface="Arial"/>
            </a:endParaRPr>
          </a:p>
        </p:txBody>
      </p:sp>
      <p:sp>
        <p:nvSpPr>
          <p:cNvPr id="52" name="Google Shape;52;p5"/>
          <p:cNvSpPr/>
          <p:nvPr/>
        </p:nvSpPr>
        <p:spPr>
          <a:xfrm>
            <a:off x="8330184" y="2075688"/>
            <a:ext cx="2971800" cy="1490472"/>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Use variables, controls, criteria, constraints, trials, and performance metrics correctly.</a:t>
            </a:r>
            <a:endParaRPr b="0" i="0" sz="1350" u="none" cap="none" strike="noStrike">
              <a:solidFill>
                <a:schemeClr val="dk1"/>
              </a:solidFill>
              <a:latin typeface="Arial"/>
              <a:ea typeface="Arial"/>
              <a:cs typeface="Arial"/>
              <a:sym typeface="Arial"/>
            </a:endParaRPr>
          </a:p>
        </p:txBody>
      </p:sp>
      <p:sp>
        <p:nvSpPr>
          <p:cNvPr id="53" name="Google Shape;53;p5"/>
          <p:cNvSpPr/>
          <p:nvPr/>
        </p:nvSpPr>
        <p:spPr>
          <a:xfrm>
            <a:off x="731520" y="4709160"/>
            <a:ext cx="10744200" cy="1097280"/>
          </a:xfrm>
          <a:prstGeom prst="rect">
            <a:avLst/>
          </a:prstGeom>
          <a:solidFill>
            <a:srgbClr val="080808"/>
          </a:solidFill>
          <a:ln cap="flat" cmpd="sng" w="10150">
            <a:solidFill>
              <a:srgbClr val="5555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5"/>
          <p:cNvSpPr/>
          <p:nvPr/>
        </p:nvSpPr>
        <p:spPr>
          <a:xfrm>
            <a:off x="731520" y="4709160"/>
            <a:ext cx="1828800" cy="2743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
          <p:cNvSpPr/>
          <p:nvPr/>
        </p:nvSpPr>
        <p:spPr>
          <a:xfrm>
            <a:off x="868680" y="4764024"/>
            <a:ext cx="155448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F3F3"/>
              </a:buClr>
              <a:buSzPts val="750"/>
              <a:buFont typeface="Arial"/>
              <a:buNone/>
            </a:pPr>
            <a:r>
              <a:rPr b="1" i="0" lang="en-US" sz="750" u="none" cap="none" strike="noStrike">
                <a:solidFill>
                  <a:srgbClr val="F3F3F3"/>
                </a:solidFill>
                <a:latin typeface="Arial"/>
                <a:ea typeface="Arial"/>
                <a:cs typeface="Arial"/>
                <a:sym typeface="Arial"/>
              </a:rPr>
              <a:t>STUDENT ACTIVITY</a:t>
            </a:r>
            <a:endParaRPr b="0" i="0" sz="750" u="none" cap="none" strike="noStrike">
              <a:solidFill>
                <a:schemeClr val="dk1"/>
              </a:solidFill>
              <a:latin typeface="Arial"/>
              <a:ea typeface="Arial"/>
              <a:cs typeface="Arial"/>
              <a:sym typeface="Arial"/>
            </a:endParaRPr>
          </a:p>
        </p:txBody>
      </p:sp>
      <p:sp>
        <p:nvSpPr>
          <p:cNvPr id="56" name="Google Shape;56;p5"/>
          <p:cNvSpPr/>
          <p:nvPr/>
        </p:nvSpPr>
        <p:spPr>
          <a:xfrm>
            <a:off x="868680" y="5138928"/>
            <a:ext cx="39319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700"/>
              <a:buFont typeface="Play"/>
              <a:buNone/>
            </a:pPr>
            <a:r>
              <a:rPr b="1" i="0" lang="en-US" sz="1700" u="none" cap="none" strike="noStrike">
                <a:solidFill>
                  <a:srgbClr val="F3F3F3"/>
                </a:solidFill>
                <a:latin typeface="Play"/>
                <a:ea typeface="Play"/>
                <a:cs typeface="Play"/>
                <a:sym typeface="Play"/>
              </a:rPr>
              <a:t>Quick write: What makes a test fair?</a:t>
            </a:r>
            <a:endParaRPr b="0" i="0" sz="1700" u="none" cap="none" strike="noStrike">
              <a:solidFill>
                <a:schemeClr val="dk1"/>
              </a:solidFill>
              <a:latin typeface="Arial"/>
              <a:ea typeface="Arial"/>
              <a:cs typeface="Arial"/>
              <a:sym typeface="Arial"/>
            </a:endParaRPr>
          </a:p>
        </p:txBody>
      </p:sp>
      <p:sp>
        <p:nvSpPr>
          <p:cNvPr id="57" name="Google Shape;57;p5"/>
          <p:cNvSpPr/>
          <p:nvPr/>
        </p:nvSpPr>
        <p:spPr>
          <a:xfrm>
            <a:off x="9875520" y="4773168"/>
            <a:ext cx="118872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6A6A6"/>
              </a:buClr>
              <a:buSzPts val="800"/>
              <a:buFont typeface="Arial"/>
              <a:buNone/>
            </a:pPr>
            <a:r>
              <a:rPr b="0" i="0" lang="en-US" sz="800" u="none" cap="none" strike="noStrike">
                <a:solidFill>
                  <a:srgbClr val="A6A6A6"/>
                </a:solidFill>
                <a:latin typeface="Arial"/>
                <a:ea typeface="Arial"/>
                <a:cs typeface="Arial"/>
                <a:sym typeface="Arial"/>
              </a:rPr>
              <a:t>2 minutes</a:t>
            </a:r>
            <a:endParaRPr b="0" i="0" sz="800" u="none" cap="none" strike="noStrike">
              <a:solidFill>
                <a:schemeClr val="dk1"/>
              </a:solidFill>
              <a:latin typeface="Arial"/>
              <a:ea typeface="Arial"/>
              <a:cs typeface="Arial"/>
              <a:sym typeface="Arial"/>
            </a:endParaRPr>
          </a:p>
        </p:txBody>
      </p:sp>
      <p:sp>
        <p:nvSpPr>
          <p:cNvPr id="58" name="Google Shape;58;p5"/>
          <p:cNvSpPr/>
          <p:nvPr/>
        </p:nvSpPr>
        <p:spPr>
          <a:xfrm>
            <a:off x="4892040" y="5056632"/>
            <a:ext cx="60807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320"/>
              <a:buFont typeface="Arial"/>
              <a:buNone/>
            </a:pPr>
            <a:r>
              <a:rPr b="0" i="0" lang="en-US" sz="1320" u="none" cap="none" strike="noStrike">
                <a:solidFill>
                  <a:srgbClr val="F3F3F3"/>
                </a:solidFill>
                <a:latin typeface="Arial"/>
                <a:ea typeface="Arial"/>
                <a:cs typeface="Arial"/>
                <a:sym typeface="Arial"/>
              </a:rPr>
              <a:t>Students write for 2 minutes, then pair-share. Collect 3–4 answers and save them for the Fair Test Test slide.</a:t>
            </a:r>
            <a:endParaRPr b="0" i="0" sz="1320" u="none" cap="none" strike="noStrike">
              <a:solidFill>
                <a:schemeClr val="dk1"/>
              </a:solidFill>
              <a:latin typeface="Arial"/>
              <a:ea typeface="Arial"/>
              <a:cs typeface="Arial"/>
              <a:sym typeface="Arial"/>
            </a:endParaRPr>
          </a:p>
        </p:txBody>
      </p:sp>
      <p:sp>
        <p:nvSpPr>
          <p:cNvPr id="59" name="Google Shape;59;p5"/>
          <p:cNvSpPr/>
          <p:nvPr/>
        </p:nvSpPr>
        <p:spPr>
          <a:xfrm>
            <a:off x="11201400" y="5742432"/>
            <a:ext cx="411480" cy="2103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6A6A6"/>
              </a:buClr>
              <a:buSzPts val="800"/>
              <a:buFont typeface="Arial"/>
              <a:buNone/>
            </a:pPr>
            <a:r>
              <a:rPr b="0" i="0" lang="en-US" sz="800" u="none" cap="none" strike="noStrike">
                <a:solidFill>
                  <a:srgbClr val="A6A6A6"/>
                </a:solidFill>
                <a:latin typeface="Arial"/>
                <a:ea typeface="Arial"/>
                <a:cs typeface="Arial"/>
                <a:sym typeface="Arial"/>
              </a:rPr>
              <a:t>02</a:t>
            </a:r>
            <a:endParaRPr b="0" i="0" sz="8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64" name="Shape 64"/>
        <p:cNvGrpSpPr/>
        <p:nvPr/>
      </p:nvGrpSpPr>
      <p:grpSpPr>
        <a:xfrm>
          <a:off x="0" y="0"/>
          <a:ext cx="0" cy="0"/>
          <a:chOff x="0" y="0"/>
          <a:chExt cx="0" cy="0"/>
        </a:xfrm>
      </p:grpSpPr>
      <p:sp>
        <p:nvSpPr>
          <p:cNvPr id="65" name="Google Shape;65;p6"/>
          <p:cNvSpPr/>
          <p:nvPr/>
        </p:nvSpPr>
        <p:spPr>
          <a:xfrm>
            <a:off x="0" y="292608"/>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0" y="6528816"/>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438912" y="6272784"/>
            <a:ext cx="29260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FOUNDATIONS</a:t>
            </a:r>
            <a:endParaRPr b="0" i="0" sz="850" u="none" cap="none" strike="noStrike">
              <a:solidFill>
                <a:schemeClr val="dk1"/>
              </a:solidFill>
              <a:latin typeface="Arial"/>
              <a:ea typeface="Arial"/>
              <a:cs typeface="Arial"/>
              <a:sym typeface="Arial"/>
            </a:endParaRPr>
          </a:p>
        </p:txBody>
      </p:sp>
      <p:sp>
        <p:nvSpPr>
          <p:cNvPr id="68" name="Google Shape;68;p6"/>
          <p:cNvSpPr/>
          <p:nvPr/>
        </p:nvSpPr>
        <p:spPr>
          <a:xfrm>
            <a:off x="10195560" y="6272784"/>
            <a:ext cx="141732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STARLAB</a:t>
            </a:r>
            <a:endParaRPr b="0" i="0" sz="850" u="none" cap="none" strike="noStrike">
              <a:solidFill>
                <a:schemeClr val="dk1"/>
              </a:solidFill>
              <a:latin typeface="Arial"/>
              <a:ea typeface="Arial"/>
              <a:cs typeface="Arial"/>
              <a:sym typeface="Arial"/>
            </a:endParaRPr>
          </a:p>
        </p:txBody>
      </p:sp>
      <p:cxnSp>
        <p:nvCxnSpPr>
          <p:cNvPr id="69" name="Google Shape;69;p6"/>
          <p:cNvCxnSpPr/>
          <p:nvPr/>
        </p:nvCxnSpPr>
        <p:spPr>
          <a:xfrm>
            <a:off x="438912" y="6163056"/>
            <a:ext cx="2011680" cy="0"/>
          </a:xfrm>
          <a:prstGeom prst="straightConnector1">
            <a:avLst/>
          </a:prstGeom>
          <a:noFill/>
          <a:ln cap="flat" cmpd="sng" w="9525">
            <a:solidFill>
              <a:srgbClr val="555555"/>
            </a:solidFill>
            <a:prstDash val="solid"/>
            <a:round/>
            <a:headEnd len="sm" w="sm" type="none"/>
            <a:tailEnd len="sm" w="sm" type="none"/>
          </a:ln>
        </p:spPr>
      </p:cxnSp>
      <p:cxnSp>
        <p:nvCxnSpPr>
          <p:cNvPr id="70" name="Google Shape;70;p6"/>
          <p:cNvCxnSpPr/>
          <p:nvPr/>
        </p:nvCxnSpPr>
        <p:spPr>
          <a:xfrm>
            <a:off x="10012680" y="6163056"/>
            <a:ext cx="1645920" cy="0"/>
          </a:xfrm>
          <a:prstGeom prst="straightConnector1">
            <a:avLst/>
          </a:prstGeom>
          <a:noFill/>
          <a:ln cap="flat" cmpd="sng" w="9525">
            <a:solidFill>
              <a:srgbClr val="555555"/>
            </a:solidFill>
            <a:prstDash val="solid"/>
            <a:round/>
            <a:headEnd len="sm" w="sm" type="none"/>
            <a:tailEnd len="sm" w="sm" type="none"/>
          </a:ln>
        </p:spPr>
      </p:cxnSp>
      <p:sp>
        <p:nvSpPr>
          <p:cNvPr id="71" name="Google Shape;71;p6"/>
          <p:cNvSpPr/>
          <p:nvPr/>
        </p:nvSpPr>
        <p:spPr>
          <a:xfrm>
            <a:off x="640080" y="566928"/>
            <a:ext cx="109728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2700"/>
              <a:buFont typeface="Play"/>
              <a:buNone/>
            </a:pPr>
            <a:r>
              <a:rPr b="1" i="0" lang="en-US" sz="2700" u="none" cap="none" strike="noStrike">
                <a:solidFill>
                  <a:srgbClr val="F3F3F3"/>
                </a:solidFill>
                <a:latin typeface="Play"/>
                <a:ea typeface="Play"/>
                <a:cs typeface="Play"/>
                <a:sym typeface="Play"/>
              </a:rPr>
              <a:t>Two Strong STARLAB Pathways</a:t>
            </a:r>
            <a:endParaRPr b="0" i="0" sz="2700" u="none" cap="none" strike="noStrike">
              <a:solidFill>
                <a:schemeClr val="dk1"/>
              </a:solidFill>
              <a:latin typeface="Arial"/>
              <a:ea typeface="Arial"/>
              <a:cs typeface="Arial"/>
              <a:sym typeface="Arial"/>
            </a:endParaRPr>
          </a:p>
        </p:txBody>
      </p:sp>
      <p:sp>
        <p:nvSpPr>
          <p:cNvPr id="72" name="Google Shape;72;p6"/>
          <p:cNvSpPr/>
          <p:nvPr/>
        </p:nvSpPr>
        <p:spPr>
          <a:xfrm>
            <a:off x="640080" y="1078992"/>
            <a:ext cx="1051560"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6"/>
          <p:cNvSpPr/>
          <p:nvPr/>
        </p:nvSpPr>
        <p:spPr>
          <a:xfrm>
            <a:off x="658368" y="1188720"/>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600"/>
              <a:buFont typeface="Arial"/>
              <a:buNone/>
            </a:pPr>
            <a:r>
              <a:rPr b="0" i="0" lang="en-US" sz="1600" u="none" cap="none" strike="noStrike">
                <a:solidFill>
                  <a:srgbClr val="A6A6A6"/>
                </a:solidFill>
                <a:latin typeface="Arial"/>
                <a:ea typeface="Arial"/>
                <a:cs typeface="Arial"/>
                <a:sym typeface="Arial"/>
              </a:rPr>
              <a:t>A project can investigate a question or solve a design problem.</a:t>
            </a:r>
            <a:endParaRPr b="0" i="0" sz="1600" u="none" cap="none" strike="noStrike">
              <a:solidFill>
                <a:schemeClr val="dk1"/>
              </a:solidFill>
              <a:latin typeface="Arial"/>
              <a:ea typeface="Arial"/>
              <a:cs typeface="Arial"/>
              <a:sym typeface="Arial"/>
            </a:endParaRPr>
          </a:p>
        </p:txBody>
      </p:sp>
      <p:sp>
        <p:nvSpPr>
          <p:cNvPr id="74" name="Google Shape;74;p6"/>
          <p:cNvSpPr/>
          <p:nvPr/>
        </p:nvSpPr>
        <p:spPr>
          <a:xfrm>
            <a:off x="960120" y="1600200"/>
            <a:ext cx="39319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F3F3"/>
              </a:buClr>
              <a:buSzPts val="1800"/>
              <a:buFont typeface="Arial"/>
              <a:buNone/>
            </a:pPr>
            <a:r>
              <a:rPr b="1" i="0" lang="en-US" sz="1800" u="none" cap="none" strike="noStrike">
                <a:solidFill>
                  <a:srgbClr val="F3F3F3"/>
                </a:solidFill>
                <a:latin typeface="Arial"/>
                <a:ea typeface="Arial"/>
                <a:cs typeface="Arial"/>
                <a:sym typeface="Arial"/>
              </a:rPr>
              <a:t>Experimental Science</a:t>
            </a:r>
            <a:endParaRPr b="0" i="0" sz="1800" u="none" cap="none" strike="noStrike">
              <a:solidFill>
                <a:schemeClr val="dk1"/>
              </a:solidFill>
              <a:latin typeface="Arial"/>
              <a:ea typeface="Arial"/>
              <a:cs typeface="Arial"/>
              <a:sym typeface="Arial"/>
            </a:endParaRPr>
          </a:p>
        </p:txBody>
      </p:sp>
      <p:sp>
        <p:nvSpPr>
          <p:cNvPr id="75" name="Google Shape;75;p6"/>
          <p:cNvSpPr/>
          <p:nvPr/>
        </p:nvSpPr>
        <p:spPr>
          <a:xfrm>
            <a:off x="7269480" y="1600200"/>
            <a:ext cx="39319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F3F3"/>
              </a:buClr>
              <a:buSzPts val="1800"/>
              <a:buFont typeface="Arial"/>
              <a:buNone/>
            </a:pPr>
            <a:r>
              <a:rPr b="1" i="0" lang="en-US" sz="1800" u="none" cap="none" strike="noStrike">
                <a:solidFill>
                  <a:srgbClr val="F3F3F3"/>
                </a:solidFill>
                <a:latin typeface="Arial"/>
                <a:ea typeface="Arial"/>
                <a:cs typeface="Arial"/>
                <a:sym typeface="Arial"/>
              </a:rPr>
              <a:t>Engineering Design</a:t>
            </a:r>
            <a:endParaRPr b="0" i="0" sz="1800" u="none" cap="none" strike="noStrike">
              <a:solidFill>
                <a:schemeClr val="dk1"/>
              </a:solidFill>
              <a:latin typeface="Arial"/>
              <a:ea typeface="Arial"/>
              <a:cs typeface="Arial"/>
              <a:sym typeface="Arial"/>
            </a:endParaRPr>
          </a:p>
        </p:txBody>
      </p:sp>
      <p:sp>
        <p:nvSpPr>
          <p:cNvPr id="76" name="Google Shape;76;p6"/>
          <p:cNvSpPr/>
          <p:nvPr/>
        </p:nvSpPr>
        <p:spPr>
          <a:xfrm>
            <a:off x="594348" y="2103125"/>
            <a:ext cx="1051500" cy="59430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6"/>
          <p:cNvSpPr/>
          <p:nvPr/>
        </p:nvSpPr>
        <p:spPr>
          <a:xfrm>
            <a:off x="594360" y="2103120"/>
            <a:ext cx="54864" cy="59436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6"/>
          <p:cNvSpPr/>
          <p:nvPr/>
        </p:nvSpPr>
        <p:spPr>
          <a:xfrm>
            <a:off x="749800" y="2222000"/>
            <a:ext cx="8229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Question</a:t>
            </a:r>
            <a:endParaRPr b="0" i="0" sz="1500" u="none" cap="none" strike="noStrike">
              <a:solidFill>
                <a:schemeClr val="dk1"/>
              </a:solidFill>
              <a:latin typeface="Arial"/>
              <a:ea typeface="Arial"/>
              <a:cs typeface="Arial"/>
              <a:sym typeface="Arial"/>
            </a:endParaRPr>
          </a:p>
        </p:txBody>
      </p:sp>
      <p:sp>
        <p:nvSpPr>
          <p:cNvPr id="79" name="Google Shape;79;p6"/>
          <p:cNvSpPr/>
          <p:nvPr/>
        </p:nvSpPr>
        <p:spPr>
          <a:xfrm>
            <a:off x="1720355" y="2103125"/>
            <a:ext cx="1282200" cy="59430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6"/>
          <p:cNvSpPr/>
          <p:nvPr/>
        </p:nvSpPr>
        <p:spPr>
          <a:xfrm>
            <a:off x="1706923" y="2103120"/>
            <a:ext cx="54900" cy="59430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6"/>
          <p:cNvSpPr/>
          <p:nvPr/>
        </p:nvSpPr>
        <p:spPr>
          <a:xfrm>
            <a:off x="1875776" y="2222000"/>
            <a:ext cx="10515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Hypothesis</a:t>
            </a:r>
            <a:endParaRPr b="0" i="0" sz="1500" u="none" cap="none" strike="noStrike">
              <a:solidFill>
                <a:schemeClr val="dk1"/>
              </a:solidFill>
              <a:latin typeface="Arial"/>
              <a:ea typeface="Arial"/>
              <a:cs typeface="Arial"/>
              <a:sym typeface="Arial"/>
            </a:endParaRPr>
          </a:p>
        </p:txBody>
      </p:sp>
      <p:sp>
        <p:nvSpPr>
          <p:cNvPr id="82" name="Google Shape;82;p6"/>
          <p:cNvSpPr/>
          <p:nvPr/>
        </p:nvSpPr>
        <p:spPr>
          <a:xfrm>
            <a:off x="3060965" y="2103120"/>
            <a:ext cx="877800" cy="59430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6"/>
          <p:cNvSpPr/>
          <p:nvPr/>
        </p:nvSpPr>
        <p:spPr>
          <a:xfrm>
            <a:off x="3060965" y="2103120"/>
            <a:ext cx="54900" cy="59430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6"/>
          <p:cNvSpPr/>
          <p:nvPr/>
        </p:nvSpPr>
        <p:spPr>
          <a:xfrm>
            <a:off x="3216413" y="2221992"/>
            <a:ext cx="603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Fair test</a:t>
            </a:r>
            <a:endParaRPr b="0" i="0" sz="1500" u="none" cap="none" strike="noStrike">
              <a:solidFill>
                <a:schemeClr val="dk1"/>
              </a:solidFill>
              <a:latin typeface="Arial"/>
              <a:ea typeface="Arial"/>
              <a:cs typeface="Arial"/>
              <a:sym typeface="Arial"/>
            </a:endParaRPr>
          </a:p>
        </p:txBody>
      </p:sp>
      <p:sp>
        <p:nvSpPr>
          <p:cNvPr id="85" name="Google Shape;85;p6"/>
          <p:cNvSpPr/>
          <p:nvPr/>
        </p:nvSpPr>
        <p:spPr>
          <a:xfrm>
            <a:off x="3999126" y="2103120"/>
            <a:ext cx="877800" cy="59430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p:nvPr/>
        </p:nvSpPr>
        <p:spPr>
          <a:xfrm>
            <a:off x="3999126" y="2103120"/>
            <a:ext cx="54900" cy="59430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6"/>
          <p:cNvSpPr/>
          <p:nvPr/>
        </p:nvSpPr>
        <p:spPr>
          <a:xfrm>
            <a:off x="4154574" y="2221992"/>
            <a:ext cx="603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Data</a:t>
            </a:r>
            <a:endParaRPr b="0" i="0" sz="1500" u="none" cap="none" strike="noStrike">
              <a:solidFill>
                <a:schemeClr val="dk1"/>
              </a:solidFill>
              <a:latin typeface="Arial"/>
              <a:ea typeface="Arial"/>
              <a:cs typeface="Arial"/>
              <a:sym typeface="Arial"/>
            </a:endParaRPr>
          </a:p>
        </p:txBody>
      </p:sp>
      <p:sp>
        <p:nvSpPr>
          <p:cNvPr id="88" name="Google Shape;88;p6"/>
          <p:cNvSpPr/>
          <p:nvPr/>
        </p:nvSpPr>
        <p:spPr>
          <a:xfrm>
            <a:off x="4910444" y="2103125"/>
            <a:ext cx="1204800" cy="59430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6"/>
          <p:cNvSpPr/>
          <p:nvPr/>
        </p:nvSpPr>
        <p:spPr>
          <a:xfrm>
            <a:off x="4923872" y="2103120"/>
            <a:ext cx="54900" cy="59430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p:nvPr/>
        </p:nvSpPr>
        <p:spPr>
          <a:xfrm>
            <a:off x="5079314" y="2222000"/>
            <a:ext cx="10515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Conclusion</a:t>
            </a:r>
            <a:endParaRPr b="0" i="0" sz="1500" u="none" cap="none" strike="noStrike">
              <a:solidFill>
                <a:schemeClr val="dk1"/>
              </a:solidFill>
              <a:latin typeface="Arial"/>
              <a:ea typeface="Arial"/>
              <a:cs typeface="Arial"/>
              <a:sym typeface="Arial"/>
            </a:endParaRPr>
          </a:p>
        </p:txBody>
      </p:sp>
      <p:sp>
        <p:nvSpPr>
          <p:cNvPr id="91" name="Google Shape;91;p6"/>
          <p:cNvSpPr/>
          <p:nvPr/>
        </p:nvSpPr>
        <p:spPr>
          <a:xfrm>
            <a:off x="6326784" y="2103125"/>
            <a:ext cx="1051500" cy="59430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6"/>
          <p:cNvSpPr/>
          <p:nvPr/>
        </p:nvSpPr>
        <p:spPr>
          <a:xfrm>
            <a:off x="6335884" y="2103120"/>
            <a:ext cx="54900" cy="59430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6"/>
          <p:cNvSpPr/>
          <p:nvPr/>
        </p:nvSpPr>
        <p:spPr>
          <a:xfrm>
            <a:off x="6500521" y="2222000"/>
            <a:ext cx="8229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Problem</a:t>
            </a:r>
            <a:endParaRPr b="0" i="0" sz="1500" u="none" cap="none" strike="noStrike">
              <a:solidFill>
                <a:schemeClr val="dk1"/>
              </a:solidFill>
              <a:latin typeface="Arial"/>
              <a:ea typeface="Arial"/>
              <a:cs typeface="Arial"/>
              <a:sym typeface="Arial"/>
            </a:endParaRPr>
          </a:p>
        </p:txBody>
      </p:sp>
      <p:sp>
        <p:nvSpPr>
          <p:cNvPr id="94" name="Google Shape;94;p6"/>
          <p:cNvSpPr/>
          <p:nvPr/>
        </p:nvSpPr>
        <p:spPr>
          <a:xfrm>
            <a:off x="7432861" y="2103125"/>
            <a:ext cx="978300" cy="59430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6"/>
          <p:cNvSpPr/>
          <p:nvPr/>
        </p:nvSpPr>
        <p:spPr>
          <a:xfrm>
            <a:off x="7432870" y="2103120"/>
            <a:ext cx="54900" cy="59430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p:nvPr/>
        </p:nvSpPr>
        <p:spPr>
          <a:xfrm>
            <a:off x="7588311" y="2222000"/>
            <a:ext cx="7224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Criteria</a:t>
            </a:r>
            <a:endParaRPr b="0" i="0" sz="1500" u="none" cap="none" strike="noStrike">
              <a:solidFill>
                <a:schemeClr val="dk1"/>
              </a:solidFill>
              <a:latin typeface="Arial"/>
              <a:ea typeface="Arial"/>
              <a:cs typeface="Arial"/>
              <a:sym typeface="Arial"/>
            </a:endParaRPr>
          </a:p>
        </p:txBody>
      </p:sp>
      <p:sp>
        <p:nvSpPr>
          <p:cNvPr id="97" name="Google Shape;97;p6"/>
          <p:cNvSpPr/>
          <p:nvPr/>
        </p:nvSpPr>
        <p:spPr>
          <a:xfrm>
            <a:off x="8478368" y="2103125"/>
            <a:ext cx="1204800" cy="59430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p:nvPr/>
        </p:nvSpPr>
        <p:spPr>
          <a:xfrm>
            <a:off x="8478355" y="2103120"/>
            <a:ext cx="54900" cy="59430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6"/>
          <p:cNvSpPr/>
          <p:nvPr/>
        </p:nvSpPr>
        <p:spPr>
          <a:xfrm>
            <a:off x="8633814" y="2222000"/>
            <a:ext cx="978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Prototype</a:t>
            </a:r>
            <a:endParaRPr b="0" i="0" sz="1500" u="none" cap="none" strike="noStrike">
              <a:solidFill>
                <a:schemeClr val="dk1"/>
              </a:solidFill>
              <a:latin typeface="Arial"/>
              <a:ea typeface="Arial"/>
              <a:cs typeface="Arial"/>
              <a:sym typeface="Arial"/>
            </a:endParaRPr>
          </a:p>
        </p:txBody>
      </p:sp>
      <p:sp>
        <p:nvSpPr>
          <p:cNvPr id="100" name="Google Shape;100;p6"/>
          <p:cNvSpPr/>
          <p:nvPr/>
        </p:nvSpPr>
        <p:spPr>
          <a:xfrm>
            <a:off x="9778735" y="2103120"/>
            <a:ext cx="877800" cy="59430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
          <p:cNvSpPr/>
          <p:nvPr/>
        </p:nvSpPr>
        <p:spPr>
          <a:xfrm>
            <a:off x="9778735" y="2103120"/>
            <a:ext cx="54900" cy="59430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a:off x="9934183" y="2221992"/>
            <a:ext cx="603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Test</a:t>
            </a:r>
            <a:endParaRPr b="0" i="0" sz="1500" u="none" cap="none" strike="noStrike">
              <a:solidFill>
                <a:schemeClr val="dk1"/>
              </a:solidFill>
              <a:latin typeface="Arial"/>
              <a:ea typeface="Arial"/>
              <a:cs typeface="Arial"/>
              <a:sym typeface="Arial"/>
            </a:endParaRPr>
          </a:p>
        </p:txBody>
      </p:sp>
      <p:sp>
        <p:nvSpPr>
          <p:cNvPr id="103" name="Google Shape;103;p6"/>
          <p:cNvSpPr/>
          <p:nvPr/>
        </p:nvSpPr>
        <p:spPr>
          <a:xfrm>
            <a:off x="10757134" y="2103125"/>
            <a:ext cx="1161300" cy="59430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6"/>
          <p:cNvSpPr/>
          <p:nvPr/>
        </p:nvSpPr>
        <p:spPr>
          <a:xfrm>
            <a:off x="10757143" y="2103120"/>
            <a:ext cx="54900" cy="59430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6"/>
          <p:cNvSpPr/>
          <p:nvPr/>
        </p:nvSpPr>
        <p:spPr>
          <a:xfrm>
            <a:off x="10912584" y="2222000"/>
            <a:ext cx="8778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Redesign</a:t>
            </a:r>
            <a:endParaRPr b="0" i="0" sz="1500" u="none" cap="none" strike="noStrike">
              <a:solidFill>
                <a:schemeClr val="dk1"/>
              </a:solidFill>
              <a:latin typeface="Arial"/>
              <a:ea typeface="Arial"/>
              <a:cs typeface="Arial"/>
              <a:sym typeface="Arial"/>
            </a:endParaRPr>
          </a:p>
        </p:txBody>
      </p:sp>
      <p:sp>
        <p:nvSpPr>
          <p:cNvPr id="106" name="Google Shape;106;p6"/>
          <p:cNvSpPr/>
          <p:nvPr/>
        </p:nvSpPr>
        <p:spPr>
          <a:xfrm>
            <a:off x="841248" y="3090672"/>
            <a:ext cx="4480560" cy="50292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3F3F3"/>
              </a:buClr>
              <a:buSzPts val="1400"/>
              <a:buFont typeface="Arial"/>
              <a:buNone/>
            </a:pPr>
            <a:r>
              <a:rPr b="0" i="0" lang="en-US" sz="1400" u="none" cap="none" strike="noStrike">
                <a:solidFill>
                  <a:srgbClr val="F3F3F3"/>
                </a:solidFill>
                <a:latin typeface="Arial"/>
                <a:ea typeface="Arial"/>
                <a:cs typeface="Arial"/>
                <a:sym typeface="Arial"/>
              </a:rPr>
              <a:t>Best when the goal is to understand how one factor affects another.</a:t>
            </a:r>
            <a:endParaRPr b="0" i="0" sz="1400" u="none" cap="none" strike="noStrike">
              <a:solidFill>
                <a:schemeClr val="dk1"/>
              </a:solidFill>
              <a:latin typeface="Arial"/>
              <a:ea typeface="Arial"/>
              <a:cs typeface="Arial"/>
              <a:sym typeface="Arial"/>
            </a:endParaRPr>
          </a:p>
        </p:txBody>
      </p:sp>
      <p:sp>
        <p:nvSpPr>
          <p:cNvPr id="107" name="Google Shape;107;p6"/>
          <p:cNvSpPr/>
          <p:nvPr/>
        </p:nvSpPr>
        <p:spPr>
          <a:xfrm>
            <a:off x="6601968" y="3090672"/>
            <a:ext cx="4480560" cy="50292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3F3F3"/>
              </a:buClr>
              <a:buSzPts val="1400"/>
              <a:buFont typeface="Arial"/>
              <a:buNone/>
            </a:pPr>
            <a:r>
              <a:rPr b="0" i="0" lang="en-US" sz="1400" u="none" cap="none" strike="noStrike">
                <a:solidFill>
                  <a:srgbClr val="F3F3F3"/>
                </a:solidFill>
                <a:latin typeface="Arial"/>
                <a:ea typeface="Arial"/>
                <a:cs typeface="Arial"/>
                <a:sym typeface="Arial"/>
              </a:rPr>
              <a:t>Best when the goal is to build, improve, optimize, or evaluate a solution.</a:t>
            </a:r>
            <a:endParaRPr b="0" i="0" sz="1400" u="none" cap="none" strike="noStrike">
              <a:solidFill>
                <a:schemeClr val="dk1"/>
              </a:solidFill>
              <a:latin typeface="Arial"/>
              <a:ea typeface="Arial"/>
              <a:cs typeface="Arial"/>
              <a:sym typeface="Arial"/>
            </a:endParaRPr>
          </a:p>
        </p:txBody>
      </p:sp>
      <p:sp>
        <p:nvSpPr>
          <p:cNvPr id="108" name="Google Shape;108;p6"/>
          <p:cNvSpPr/>
          <p:nvPr/>
        </p:nvSpPr>
        <p:spPr>
          <a:xfrm>
            <a:off x="731520" y="4709160"/>
            <a:ext cx="10744200" cy="1097280"/>
          </a:xfrm>
          <a:prstGeom prst="rect">
            <a:avLst/>
          </a:prstGeom>
          <a:solidFill>
            <a:srgbClr val="080808"/>
          </a:solidFill>
          <a:ln cap="flat" cmpd="sng" w="10150">
            <a:solidFill>
              <a:srgbClr val="5555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
          <p:cNvSpPr/>
          <p:nvPr/>
        </p:nvSpPr>
        <p:spPr>
          <a:xfrm>
            <a:off x="731520" y="4709160"/>
            <a:ext cx="1828800" cy="2743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6"/>
          <p:cNvSpPr/>
          <p:nvPr/>
        </p:nvSpPr>
        <p:spPr>
          <a:xfrm>
            <a:off x="868680" y="4764024"/>
            <a:ext cx="155448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F3F3"/>
              </a:buClr>
              <a:buSzPts val="750"/>
              <a:buFont typeface="Arial"/>
              <a:buNone/>
            </a:pPr>
            <a:r>
              <a:rPr b="1" i="0" lang="en-US" sz="750" u="none" cap="none" strike="noStrike">
                <a:solidFill>
                  <a:srgbClr val="F3F3F3"/>
                </a:solidFill>
                <a:latin typeface="Arial"/>
                <a:ea typeface="Arial"/>
                <a:cs typeface="Arial"/>
                <a:sym typeface="Arial"/>
              </a:rPr>
              <a:t>STUDENT ACTIVITY</a:t>
            </a:r>
            <a:endParaRPr b="0" i="0" sz="750" u="none" cap="none" strike="noStrike">
              <a:solidFill>
                <a:schemeClr val="dk1"/>
              </a:solidFill>
              <a:latin typeface="Arial"/>
              <a:ea typeface="Arial"/>
              <a:cs typeface="Arial"/>
              <a:sym typeface="Arial"/>
            </a:endParaRPr>
          </a:p>
        </p:txBody>
      </p:sp>
      <p:sp>
        <p:nvSpPr>
          <p:cNvPr id="111" name="Google Shape;111;p6"/>
          <p:cNvSpPr/>
          <p:nvPr/>
        </p:nvSpPr>
        <p:spPr>
          <a:xfrm>
            <a:off x="868672" y="5138925"/>
            <a:ext cx="61611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700"/>
              <a:buFont typeface="Play"/>
              <a:buNone/>
            </a:pPr>
            <a:r>
              <a:rPr b="1" i="0" lang="en-US" sz="1700" u="none" cap="none" strike="noStrike">
                <a:solidFill>
                  <a:srgbClr val="F3F3F3"/>
                </a:solidFill>
                <a:latin typeface="Play"/>
                <a:ea typeface="Play"/>
                <a:cs typeface="Play"/>
                <a:sym typeface="Play"/>
              </a:rPr>
              <a:t>Sort your idea: science, engineering, or hybrid?</a:t>
            </a:r>
            <a:endParaRPr b="0" i="0" sz="1700" u="none" cap="none" strike="noStrike">
              <a:solidFill>
                <a:schemeClr val="dk1"/>
              </a:solidFill>
              <a:latin typeface="Arial"/>
              <a:ea typeface="Arial"/>
              <a:cs typeface="Arial"/>
              <a:sym typeface="Arial"/>
            </a:endParaRPr>
          </a:p>
        </p:txBody>
      </p:sp>
      <p:sp>
        <p:nvSpPr>
          <p:cNvPr id="112" name="Google Shape;112;p6"/>
          <p:cNvSpPr/>
          <p:nvPr/>
        </p:nvSpPr>
        <p:spPr>
          <a:xfrm>
            <a:off x="905130" y="5289750"/>
            <a:ext cx="93999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320"/>
              <a:buFont typeface="Arial"/>
              <a:buNone/>
            </a:pPr>
            <a:r>
              <a:rPr b="0" i="0" lang="en-US" sz="1320" u="none" cap="none" strike="noStrike">
                <a:solidFill>
                  <a:srgbClr val="F3F3F3"/>
                </a:solidFill>
                <a:latin typeface="Arial"/>
                <a:ea typeface="Arial"/>
                <a:cs typeface="Arial"/>
                <a:sym typeface="Arial"/>
              </a:rPr>
              <a:t>Students label their current project idea. If hybrid, they must choose the main product: explanation or solution.</a:t>
            </a:r>
            <a:endParaRPr b="0" i="0" sz="1320" u="none" cap="none" strike="noStrike">
              <a:solidFill>
                <a:schemeClr val="dk1"/>
              </a:solidFill>
              <a:latin typeface="Arial"/>
              <a:ea typeface="Arial"/>
              <a:cs typeface="Arial"/>
              <a:sym typeface="Arial"/>
            </a:endParaRPr>
          </a:p>
        </p:txBody>
      </p:sp>
      <p:sp>
        <p:nvSpPr>
          <p:cNvPr id="113" name="Google Shape;113;p6"/>
          <p:cNvSpPr/>
          <p:nvPr/>
        </p:nvSpPr>
        <p:spPr>
          <a:xfrm>
            <a:off x="11201400" y="5742432"/>
            <a:ext cx="411480" cy="2103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6A6A6"/>
              </a:buClr>
              <a:buSzPts val="800"/>
              <a:buFont typeface="Arial"/>
              <a:buNone/>
            </a:pPr>
            <a:r>
              <a:rPr b="0" i="0" lang="en-US" sz="800" u="none" cap="none" strike="noStrike">
                <a:solidFill>
                  <a:srgbClr val="A6A6A6"/>
                </a:solidFill>
                <a:latin typeface="Arial"/>
                <a:ea typeface="Arial"/>
                <a:cs typeface="Arial"/>
                <a:sym typeface="Arial"/>
              </a:rPr>
              <a:t>03</a:t>
            </a:r>
            <a:endParaRPr b="0" i="0" sz="8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118" name="Shape 118"/>
        <p:cNvGrpSpPr/>
        <p:nvPr/>
      </p:nvGrpSpPr>
      <p:grpSpPr>
        <a:xfrm>
          <a:off x="0" y="0"/>
          <a:ext cx="0" cy="0"/>
          <a:chOff x="0" y="0"/>
          <a:chExt cx="0" cy="0"/>
        </a:xfrm>
      </p:grpSpPr>
      <p:sp>
        <p:nvSpPr>
          <p:cNvPr id="119" name="Google Shape;119;p7"/>
          <p:cNvSpPr/>
          <p:nvPr/>
        </p:nvSpPr>
        <p:spPr>
          <a:xfrm>
            <a:off x="0" y="292608"/>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
          <p:cNvSpPr/>
          <p:nvPr/>
        </p:nvSpPr>
        <p:spPr>
          <a:xfrm>
            <a:off x="0" y="6528816"/>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
          <p:cNvSpPr/>
          <p:nvPr/>
        </p:nvSpPr>
        <p:spPr>
          <a:xfrm>
            <a:off x="438912" y="6272784"/>
            <a:ext cx="29260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EXPERIMENTAL DESIGN</a:t>
            </a:r>
            <a:endParaRPr b="0" i="0" sz="850" u="none" cap="none" strike="noStrike">
              <a:solidFill>
                <a:schemeClr val="dk1"/>
              </a:solidFill>
              <a:latin typeface="Arial"/>
              <a:ea typeface="Arial"/>
              <a:cs typeface="Arial"/>
              <a:sym typeface="Arial"/>
            </a:endParaRPr>
          </a:p>
        </p:txBody>
      </p:sp>
      <p:sp>
        <p:nvSpPr>
          <p:cNvPr id="122" name="Google Shape;122;p7"/>
          <p:cNvSpPr/>
          <p:nvPr/>
        </p:nvSpPr>
        <p:spPr>
          <a:xfrm>
            <a:off x="10195560" y="6272784"/>
            <a:ext cx="141732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STARLAB</a:t>
            </a:r>
            <a:endParaRPr b="0" i="0" sz="850" u="none" cap="none" strike="noStrike">
              <a:solidFill>
                <a:schemeClr val="dk1"/>
              </a:solidFill>
              <a:latin typeface="Arial"/>
              <a:ea typeface="Arial"/>
              <a:cs typeface="Arial"/>
              <a:sym typeface="Arial"/>
            </a:endParaRPr>
          </a:p>
        </p:txBody>
      </p:sp>
      <p:cxnSp>
        <p:nvCxnSpPr>
          <p:cNvPr id="123" name="Google Shape;123;p7"/>
          <p:cNvCxnSpPr/>
          <p:nvPr/>
        </p:nvCxnSpPr>
        <p:spPr>
          <a:xfrm>
            <a:off x="438912" y="6163056"/>
            <a:ext cx="2011680" cy="0"/>
          </a:xfrm>
          <a:prstGeom prst="straightConnector1">
            <a:avLst/>
          </a:prstGeom>
          <a:noFill/>
          <a:ln cap="flat" cmpd="sng" w="9525">
            <a:solidFill>
              <a:srgbClr val="555555"/>
            </a:solidFill>
            <a:prstDash val="solid"/>
            <a:round/>
            <a:headEnd len="sm" w="sm" type="none"/>
            <a:tailEnd len="sm" w="sm" type="none"/>
          </a:ln>
        </p:spPr>
      </p:cxnSp>
      <p:cxnSp>
        <p:nvCxnSpPr>
          <p:cNvPr id="124" name="Google Shape;124;p7"/>
          <p:cNvCxnSpPr/>
          <p:nvPr/>
        </p:nvCxnSpPr>
        <p:spPr>
          <a:xfrm>
            <a:off x="10012680" y="6163056"/>
            <a:ext cx="1645920" cy="0"/>
          </a:xfrm>
          <a:prstGeom prst="straightConnector1">
            <a:avLst/>
          </a:prstGeom>
          <a:noFill/>
          <a:ln cap="flat" cmpd="sng" w="9525">
            <a:solidFill>
              <a:srgbClr val="555555"/>
            </a:solidFill>
            <a:prstDash val="solid"/>
            <a:round/>
            <a:headEnd len="sm" w="sm" type="none"/>
            <a:tailEnd len="sm" w="sm" type="none"/>
          </a:ln>
        </p:spPr>
      </p:cxnSp>
      <p:sp>
        <p:nvSpPr>
          <p:cNvPr id="125" name="Google Shape;125;p7"/>
          <p:cNvSpPr/>
          <p:nvPr/>
        </p:nvSpPr>
        <p:spPr>
          <a:xfrm>
            <a:off x="640080" y="566928"/>
            <a:ext cx="109728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2700"/>
              <a:buFont typeface="Play"/>
              <a:buNone/>
            </a:pPr>
            <a:r>
              <a:rPr b="1" i="0" lang="en-US" sz="2700" u="none" cap="none" strike="noStrike">
                <a:solidFill>
                  <a:srgbClr val="F3F3F3"/>
                </a:solidFill>
                <a:latin typeface="Play"/>
                <a:ea typeface="Play"/>
                <a:cs typeface="Play"/>
                <a:sym typeface="Play"/>
              </a:rPr>
              <a:t>What Makes an Experiment an Experiment?</a:t>
            </a:r>
            <a:endParaRPr b="0" i="0" sz="2700" u="none" cap="none" strike="noStrike">
              <a:solidFill>
                <a:schemeClr val="dk1"/>
              </a:solidFill>
              <a:latin typeface="Arial"/>
              <a:ea typeface="Arial"/>
              <a:cs typeface="Arial"/>
              <a:sym typeface="Arial"/>
            </a:endParaRPr>
          </a:p>
        </p:txBody>
      </p:sp>
      <p:sp>
        <p:nvSpPr>
          <p:cNvPr id="126" name="Google Shape;126;p7"/>
          <p:cNvSpPr/>
          <p:nvPr/>
        </p:nvSpPr>
        <p:spPr>
          <a:xfrm>
            <a:off x="640080" y="1078992"/>
            <a:ext cx="1051560"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
          <p:cNvSpPr/>
          <p:nvPr/>
        </p:nvSpPr>
        <p:spPr>
          <a:xfrm>
            <a:off x="658368" y="1188720"/>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600"/>
              <a:buFont typeface="Arial"/>
              <a:buNone/>
            </a:pPr>
            <a:r>
              <a:rPr b="0" i="0" lang="en-US" sz="1600" u="none" cap="none" strike="noStrike">
                <a:solidFill>
                  <a:srgbClr val="A6A6A6"/>
                </a:solidFill>
                <a:latin typeface="Arial"/>
                <a:ea typeface="Arial"/>
                <a:cs typeface="Arial"/>
                <a:sym typeface="Arial"/>
              </a:rPr>
              <a:t>An experiment tests how a change affects an outcome.</a:t>
            </a:r>
            <a:endParaRPr b="0" i="0" sz="1600" u="none" cap="none" strike="noStrike">
              <a:solidFill>
                <a:schemeClr val="dk1"/>
              </a:solidFill>
              <a:latin typeface="Arial"/>
              <a:ea typeface="Arial"/>
              <a:cs typeface="Arial"/>
              <a:sym typeface="Arial"/>
            </a:endParaRPr>
          </a:p>
        </p:txBody>
      </p:sp>
      <p:sp>
        <p:nvSpPr>
          <p:cNvPr id="128" name="Google Shape;128;p7"/>
          <p:cNvSpPr/>
          <p:nvPr/>
        </p:nvSpPr>
        <p:spPr>
          <a:xfrm>
            <a:off x="777240" y="1554480"/>
            <a:ext cx="3246120" cy="182880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7"/>
          <p:cNvSpPr/>
          <p:nvPr/>
        </p:nvSpPr>
        <p:spPr>
          <a:xfrm>
            <a:off x="777240" y="1554480"/>
            <a:ext cx="54864" cy="182880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7"/>
          <p:cNvSpPr/>
          <p:nvPr/>
        </p:nvSpPr>
        <p:spPr>
          <a:xfrm>
            <a:off x="932688" y="1673352"/>
            <a:ext cx="2971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Independent Variable</a:t>
            </a:r>
            <a:endParaRPr b="0" i="0" sz="1500" u="none" cap="none" strike="noStrike">
              <a:solidFill>
                <a:schemeClr val="dk1"/>
              </a:solidFill>
              <a:latin typeface="Arial"/>
              <a:ea typeface="Arial"/>
              <a:cs typeface="Arial"/>
              <a:sym typeface="Arial"/>
            </a:endParaRPr>
          </a:p>
        </p:txBody>
      </p:sp>
      <p:sp>
        <p:nvSpPr>
          <p:cNvPr id="131" name="Google Shape;131;p7"/>
          <p:cNvSpPr/>
          <p:nvPr/>
        </p:nvSpPr>
        <p:spPr>
          <a:xfrm>
            <a:off x="932688" y="2029968"/>
            <a:ext cx="2971800" cy="1261872"/>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The factor deliberately changed or compared by the researcher.</a:t>
            </a:r>
            <a:endParaRPr b="0" i="0" sz="1350" u="none" cap="none" strike="noStrike">
              <a:solidFill>
                <a:schemeClr val="dk1"/>
              </a:solidFill>
              <a:latin typeface="Arial"/>
              <a:ea typeface="Arial"/>
              <a:cs typeface="Arial"/>
              <a:sym typeface="Arial"/>
            </a:endParaRPr>
          </a:p>
        </p:txBody>
      </p:sp>
      <p:sp>
        <p:nvSpPr>
          <p:cNvPr id="132" name="Google Shape;132;p7"/>
          <p:cNvSpPr/>
          <p:nvPr/>
        </p:nvSpPr>
        <p:spPr>
          <a:xfrm>
            <a:off x="4480560" y="1554480"/>
            <a:ext cx="3246120" cy="182880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7"/>
          <p:cNvSpPr/>
          <p:nvPr/>
        </p:nvSpPr>
        <p:spPr>
          <a:xfrm>
            <a:off x="4480560" y="1554480"/>
            <a:ext cx="54864" cy="182880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7"/>
          <p:cNvSpPr/>
          <p:nvPr/>
        </p:nvSpPr>
        <p:spPr>
          <a:xfrm>
            <a:off x="4636008" y="1673352"/>
            <a:ext cx="2971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Dependent Variable</a:t>
            </a:r>
            <a:endParaRPr b="0" i="0" sz="1500" u="none" cap="none" strike="noStrike">
              <a:solidFill>
                <a:schemeClr val="dk1"/>
              </a:solidFill>
              <a:latin typeface="Arial"/>
              <a:ea typeface="Arial"/>
              <a:cs typeface="Arial"/>
              <a:sym typeface="Arial"/>
            </a:endParaRPr>
          </a:p>
        </p:txBody>
      </p:sp>
      <p:sp>
        <p:nvSpPr>
          <p:cNvPr id="135" name="Google Shape;135;p7"/>
          <p:cNvSpPr/>
          <p:nvPr/>
        </p:nvSpPr>
        <p:spPr>
          <a:xfrm>
            <a:off x="4636008" y="2029968"/>
            <a:ext cx="2971800" cy="1261872"/>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The outcome that is measured, counted, observed, or calculated.</a:t>
            </a:r>
            <a:endParaRPr b="0" i="0" sz="1350" u="none" cap="none" strike="noStrike">
              <a:solidFill>
                <a:schemeClr val="dk1"/>
              </a:solidFill>
              <a:latin typeface="Arial"/>
              <a:ea typeface="Arial"/>
              <a:cs typeface="Arial"/>
              <a:sym typeface="Arial"/>
            </a:endParaRPr>
          </a:p>
        </p:txBody>
      </p:sp>
      <p:sp>
        <p:nvSpPr>
          <p:cNvPr id="136" name="Google Shape;136;p7"/>
          <p:cNvSpPr/>
          <p:nvPr/>
        </p:nvSpPr>
        <p:spPr>
          <a:xfrm>
            <a:off x="8183880" y="1554480"/>
            <a:ext cx="3246120" cy="182880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7"/>
          <p:cNvSpPr/>
          <p:nvPr/>
        </p:nvSpPr>
        <p:spPr>
          <a:xfrm>
            <a:off x="8183880" y="1554480"/>
            <a:ext cx="54864" cy="182880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7"/>
          <p:cNvSpPr/>
          <p:nvPr/>
        </p:nvSpPr>
        <p:spPr>
          <a:xfrm>
            <a:off x="8339328" y="1673352"/>
            <a:ext cx="2971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Controlled Variables</a:t>
            </a:r>
            <a:endParaRPr b="0" i="0" sz="1500" u="none" cap="none" strike="noStrike">
              <a:solidFill>
                <a:schemeClr val="dk1"/>
              </a:solidFill>
              <a:latin typeface="Arial"/>
              <a:ea typeface="Arial"/>
              <a:cs typeface="Arial"/>
              <a:sym typeface="Arial"/>
            </a:endParaRPr>
          </a:p>
        </p:txBody>
      </p:sp>
      <p:sp>
        <p:nvSpPr>
          <p:cNvPr id="139" name="Google Shape;139;p7"/>
          <p:cNvSpPr/>
          <p:nvPr/>
        </p:nvSpPr>
        <p:spPr>
          <a:xfrm>
            <a:off x="8339328" y="2029968"/>
            <a:ext cx="2971800" cy="1261872"/>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Factors kept the same so the comparison is meaningful.</a:t>
            </a:r>
            <a:endParaRPr b="0" i="0" sz="1350" u="none" cap="none" strike="noStrike">
              <a:solidFill>
                <a:schemeClr val="dk1"/>
              </a:solidFill>
              <a:latin typeface="Arial"/>
              <a:ea typeface="Arial"/>
              <a:cs typeface="Arial"/>
              <a:sym typeface="Arial"/>
            </a:endParaRPr>
          </a:p>
        </p:txBody>
      </p:sp>
      <p:sp>
        <p:nvSpPr>
          <p:cNvPr id="140" name="Google Shape;140;p7"/>
          <p:cNvSpPr/>
          <p:nvPr/>
        </p:nvSpPr>
        <p:spPr>
          <a:xfrm>
            <a:off x="960120" y="3657600"/>
            <a:ext cx="2743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300"/>
              <a:buFont typeface="Arial"/>
              <a:buNone/>
            </a:pPr>
            <a:r>
              <a:rPr b="1" i="0" lang="en-US" sz="1300" u="none" cap="none" strike="noStrike">
                <a:solidFill>
                  <a:srgbClr val="A6A6A6"/>
                </a:solidFill>
                <a:latin typeface="Arial"/>
                <a:ea typeface="Arial"/>
                <a:cs typeface="Arial"/>
                <a:sym typeface="Arial"/>
              </a:rPr>
              <a:t>Basic experiment sentence:</a:t>
            </a:r>
            <a:endParaRPr b="0" i="0" sz="1300" u="none" cap="none" strike="noStrike">
              <a:solidFill>
                <a:schemeClr val="dk1"/>
              </a:solidFill>
              <a:latin typeface="Arial"/>
              <a:ea typeface="Arial"/>
              <a:cs typeface="Arial"/>
              <a:sym typeface="Arial"/>
            </a:endParaRPr>
          </a:p>
        </p:txBody>
      </p:sp>
      <p:sp>
        <p:nvSpPr>
          <p:cNvPr id="141" name="Google Shape;141;p7"/>
          <p:cNvSpPr/>
          <p:nvPr/>
        </p:nvSpPr>
        <p:spPr>
          <a:xfrm>
            <a:off x="960120" y="3950208"/>
            <a:ext cx="10241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2000"/>
              <a:buFont typeface="Arial"/>
              <a:buNone/>
            </a:pPr>
            <a:r>
              <a:rPr b="1" i="0" lang="en-US" sz="2000" u="none" cap="none" strike="noStrike">
                <a:solidFill>
                  <a:srgbClr val="F3F3F3"/>
                </a:solidFill>
                <a:latin typeface="Arial"/>
                <a:ea typeface="Arial"/>
                <a:cs typeface="Arial"/>
                <a:sym typeface="Arial"/>
              </a:rPr>
              <a:t>How does [independent variable] affect [dependent variable] under controlled conditions?</a:t>
            </a:r>
            <a:endParaRPr b="0" i="0" sz="2000" u="none" cap="none" strike="noStrike">
              <a:solidFill>
                <a:schemeClr val="dk1"/>
              </a:solidFill>
              <a:latin typeface="Arial"/>
              <a:ea typeface="Arial"/>
              <a:cs typeface="Arial"/>
              <a:sym typeface="Arial"/>
            </a:endParaRPr>
          </a:p>
        </p:txBody>
      </p:sp>
      <p:sp>
        <p:nvSpPr>
          <p:cNvPr id="142" name="Google Shape;142;p7"/>
          <p:cNvSpPr/>
          <p:nvPr/>
        </p:nvSpPr>
        <p:spPr>
          <a:xfrm>
            <a:off x="731520" y="4709160"/>
            <a:ext cx="10744200" cy="1097280"/>
          </a:xfrm>
          <a:prstGeom prst="rect">
            <a:avLst/>
          </a:prstGeom>
          <a:solidFill>
            <a:srgbClr val="080808"/>
          </a:solidFill>
          <a:ln cap="flat" cmpd="sng" w="10150">
            <a:solidFill>
              <a:srgbClr val="5555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7"/>
          <p:cNvSpPr/>
          <p:nvPr/>
        </p:nvSpPr>
        <p:spPr>
          <a:xfrm>
            <a:off x="731520" y="4709160"/>
            <a:ext cx="1828800" cy="2743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7"/>
          <p:cNvSpPr/>
          <p:nvPr/>
        </p:nvSpPr>
        <p:spPr>
          <a:xfrm>
            <a:off x="868680" y="4764024"/>
            <a:ext cx="155448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F3F3"/>
              </a:buClr>
              <a:buSzPts val="750"/>
              <a:buFont typeface="Arial"/>
              <a:buNone/>
            </a:pPr>
            <a:r>
              <a:rPr b="1" i="0" lang="en-US" sz="750" u="none" cap="none" strike="noStrike">
                <a:solidFill>
                  <a:srgbClr val="F3F3F3"/>
                </a:solidFill>
                <a:latin typeface="Arial"/>
                <a:ea typeface="Arial"/>
                <a:cs typeface="Arial"/>
                <a:sym typeface="Arial"/>
              </a:rPr>
              <a:t>STUDENT ACTIVITY</a:t>
            </a:r>
            <a:endParaRPr b="0" i="0" sz="750" u="none" cap="none" strike="noStrike">
              <a:solidFill>
                <a:schemeClr val="dk1"/>
              </a:solidFill>
              <a:latin typeface="Arial"/>
              <a:ea typeface="Arial"/>
              <a:cs typeface="Arial"/>
              <a:sym typeface="Arial"/>
            </a:endParaRPr>
          </a:p>
        </p:txBody>
      </p:sp>
      <p:sp>
        <p:nvSpPr>
          <p:cNvPr id="145" name="Google Shape;145;p7"/>
          <p:cNvSpPr/>
          <p:nvPr/>
        </p:nvSpPr>
        <p:spPr>
          <a:xfrm>
            <a:off x="868680" y="5138928"/>
            <a:ext cx="39319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700"/>
              <a:buFont typeface="Play"/>
              <a:buNone/>
            </a:pPr>
            <a:r>
              <a:rPr b="1" i="0" lang="en-US" sz="1700" u="none" cap="none" strike="noStrike">
                <a:solidFill>
                  <a:srgbClr val="F3F3F3"/>
                </a:solidFill>
                <a:latin typeface="Play"/>
                <a:ea typeface="Play"/>
                <a:cs typeface="Play"/>
                <a:sym typeface="Play"/>
              </a:rPr>
              <a:t>Rewrite one vague idea as a testable experiment.</a:t>
            </a:r>
            <a:endParaRPr b="0" i="0" sz="1700" u="none" cap="none" strike="noStrike">
              <a:solidFill>
                <a:schemeClr val="dk1"/>
              </a:solidFill>
              <a:latin typeface="Arial"/>
              <a:ea typeface="Arial"/>
              <a:cs typeface="Arial"/>
              <a:sym typeface="Arial"/>
            </a:endParaRPr>
          </a:p>
        </p:txBody>
      </p:sp>
      <p:sp>
        <p:nvSpPr>
          <p:cNvPr id="146" name="Google Shape;146;p7"/>
          <p:cNvSpPr/>
          <p:nvPr/>
        </p:nvSpPr>
        <p:spPr>
          <a:xfrm>
            <a:off x="4892040" y="5056632"/>
            <a:ext cx="60807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320"/>
              <a:buFont typeface="Arial"/>
              <a:buNone/>
            </a:pPr>
            <a:r>
              <a:rPr b="0" i="0" lang="en-US" sz="1320" u="none" cap="none" strike="noStrike">
                <a:solidFill>
                  <a:srgbClr val="F3F3F3"/>
                </a:solidFill>
                <a:latin typeface="Arial"/>
                <a:ea typeface="Arial"/>
                <a:cs typeface="Arial"/>
                <a:sym typeface="Arial"/>
              </a:rPr>
              <a:t>Use the sentence frame above. Circle the IV and underline the DV.</a:t>
            </a:r>
            <a:endParaRPr b="0" i="0" sz="1320" u="none" cap="none" strike="noStrike">
              <a:solidFill>
                <a:schemeClr val="dk1"/>
              </a:solidFill>
              <a:latin typeface="Arial"/>
              <a:ea typeface="Arial"/>
              <a:cs typeface="Arial"/>
              <a:sym typeface="Arial"/>
            </a:endParaRPr>
          </a:p>
        </p:txBody>
      </p:sp>
      <p:sp>
        <p:nvSpPr>
          <p:cNvPr id="147" name="Google Shape;147;p7"/>
          <p:cNvSpPr/>
          <p:nvPr/>
        </p:nvSpPr>
        <p:spPr>
          <a:xfrm>
            <a:off x="11201400" y="5742432"/>
            <a:ext cx="411480" cy="2103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6A6A6"/>
              </a:buClr>
              <a:buSzPts val="800"/>
              <a:buFont typeface="Arial"/>
              <a:buNone/>
            </a:pPr>
            <a:r>
              <a:rPr b="0" i="0" lang="en-US" sz="800" u="none" cap="none" strike="noStrike">
                <a:solidFill>
                  <a:srgbClr val="A6A6A6"/>
                </a:solidFill>
                <a:latin typeface="Arial"/>
                <a:ea typeface="Arial"/>
                <a:cs typeface="Arial"/>
                <a:sym typeface="Arial"/>
              </a:rPr>
              <a:t>04</a:t>
            </a:r>
            <a:endParaRPr b="0" i="0" sz="8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152" name="Shape 152"/>
        <p:cNvGrpSpPr/>
        <p:nvPr/>
      </p:nvGrpSpPr>
      <p:grpSpPr>
        <a:xfrm>
          <a:off x="0" y="0"/>
          <a:ext cx="0" cy="0"/>
          <a:chOff x="0" y="0"/>
          <a:chExt cx="0" cy="0"/>
        </a:xfrm>
      </p:grpSpPr>
      <p:sp>
        <p:nvSpPr>
          <p:cNvPr id="153" name="Google Shape;153;p8"/>
          <p:cNvSpPr/>
          <p:nvPr/>
        </p:nvSpPr>
        <p:spPr>
          <a:xfrm>
            <a:off x="0" y="292608"/>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8"/>
          <p:cNvSpPr/>
          <p:nvPr/>
        </p:nvSpPr>
        <p:spPr>
          <a:xfrm>
            <a:off x="0" y="6528816"/>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8"/>
          <p:cNvSpPr/>
          <p:nvPr/>
        </p:nvSpPr>
        <p:spPr>
          <a:xfrm>
            <a:off x="438912" y="6272784"/>
            <a:ext cx="29260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EXPERIMENTAL DESIGN</a:t>
            </a:r>
            <a:endParaRPr b="0" i="0" sz="850" u="none" cap="none" strike="noStrike">
              <a:solidFill>
                <a:schemeClr val="dk1"/>
              </a:solidFill>
              <a:latin typeface="Arial"/>
              <a:ea typeface="Arial"/>
              <a:cs typeface="Arial"/>
              <a:sym typeface="Arial"/>
            </a:endParaRPr>
          </a:p>
        </p:txBody>
      </p:sp>
      <p:sp>
        <p:nvSpPr>
          <p:cNvPr id="156" name="Google Shape;156;p8"/>
          <p:cNvSpPr/>
          <p:nvPr/>
        </p:nvSpPr>
        <p:spPr>
          <a:xfrm>
            <a:off x="10195560" y="6272784"/>
            <a:ext cx="141732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STARLAB</a:t>
            </a:r>
            <a:endParaRPr b="0" i="0" sz="850" u="none" cap="none" strike="noStrike">
              <a:solidFill>
                <a:schemeClr val="dk1"/>
              </a:solidFill>
              <a:latin typeface="Arial"/>
              <a:ea typeface="Arial"/>
              <a:cs typeface="Arial"/>
              <a:sym typeface="Arial"/>
            </a:endParaRPr>
          </a:p>
        </p:txBody>
      </p:sp>
      <p:cxnSp>
        <p:nvCxnSpPr>
          <p:cNvPr id="157" name="Google Shape;157;p8"/>
          <p:cNvCxnSpPr/>
          <p:nvPr/>
        </p:nvCxnSpPr>
        <p:spPr>
          <a:xfrm>
            <a:off x="438912" y="6163056"/>
            <a:ext cx="2011680" cy="0"/>
          </a:xfrm>
          <a:prstGeom prst="straightConnector1">
            <a:avLst/>
          </a:prstGeom>
          <a:noFill/>
          <a:ln cap="flat" cmpd="sng" w="9525">
            <a:solidFill>
              <a:srgbClr val="555555"/>
            </a:solidFill>
            <a:prstDash val="solid"/>
            <a:round/>
            <a:headEnd len="sm" w="sm" type="none"/>
            <a:tailEnd len="sm" w="sm" type="none"/>
          </a:ln>
        </p:spPr>
      </p:cxnSp>
      <p:cxnSp>
        <p:nvCxnSpPr>
          <p:cNvPr id="158" name="Google Shape;158;p8"/>
          <p:cNvCxnSpPr/>
          <p:nvPr/>
        </p:nvCxnSpPr>
        <p:spPr>
          <a:xfrm>
            <a:off x="10012680" y="6163056"/>
            <a:ext cx="1645920" cy="0"/>
          </a:xfrm>
          <a:prstGeom prst="straightConnector1">
            <a:avLst/>
          </a:prstGeom>
          <a:noFill/>
          <a:ln cap="flat" cmpd="sng" w="9525">
            <a:solidFill>
              <a:srgbClr val="555555"/>
            </a:solidFill>
            <a:prstDash val="solid"/>
            <a:round/>
            <a:headEnd len="sm" w="sm" type="none"/>
            <a:tailEnd len="sm" w="sm" type="none"/>
          </a:ln>
        </p:spPr>
      </p:cxnSp>
      <p:sp>
        <p:nvSpPr>
          <p:cNvPr id="159" name="Google Shape;159;p8"/>
          <p:cNvSpPr/>
          <p:nvPr/>
        </p:nvSpPr>
        <p:spPr>
          <a:xfrm>
            <a:off x="640080" y="566928"/>
            <a:ext cx="109728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2700"/>
              <a:buFont typeface="Play"/>
              <a:buNone/>
            </a:pPr>
            <a:r>
              <a:rPr b="1" i="0" lang="en-US" sz="2700" u="none" cap="none" strike="noStrike">
                <a:solidFill>
                  <a:srgbClr val="F3F3F3"/>
                </a:solidFill>
                <a:latin typeface="Play"/>
                <a:ea typeface="Play"/>
                <a:cs typeface="Play"/>
                <a:sym typeface="Play"/>
              </a:rPr>
              <a:t>Example: From Topic to Experiment</a:t>
            </a:r>
            <a:endParaRPr b="0" i="0" sz="2700" u="none" cap="none" strike="noStrike">
              <a:solidFill>
                <a:schemeClr val="dk1"/>
              </a:solidFill>
              <a:latin typeface="Arial"/>
              <a:ea typeface="Arial"/>
              <a:cs typeface="Arial"/>
              <a:sym typeface="Arial"/>
            </a:endParaRPr>
          </a:p>
        </p:txBody>
      </p:sp>
      <p:sp>
        <p:nvSpPr>
          <p:cNvPr id="160" name="Google Shape;160;p8"/>
          <p:cNvSpPr/>
          <p:nvPr/>
        </p:nvSpPr>
        <p:spPr>
          <a:xfrm>
            <a:off x="640080" y="1078992"/>
            <a:ext cx="1051560"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8"/>
          <p:cNvSpPr/>
          <p:nvPr/>
        </p:nvSpPr>
        <p:spPr>
          <a:xfrm>
            <a:off x="658368" y="1188720"/>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600"/>
              <a:buFont typeface="Arial"/>
              <a:buNone/>
            </a:pPr>
            <a:r>
              <a:rPr b="0" i="0" lang="en-US" sz="1600" u="none" cap="none" strike="noStrike">
                <a:solidFill>
                  <a:srgbClr val="A6A6A6"/>
                </a:solidFill>
                <a:latin typeface="Arial"/>
                <a:ea typeface="Arial"/>
                <a:cs typeface="Arial"/>
                <a:sym typeface="Arial"/>
              </a:rPr>
              <a:t>The vocabulary becomes useful when attached to a real project.</a:t>
            </a:r>
            <a:endParaRPr b="0" i="0" sz="1600" u="none" cap="none" strike="noStrike">
              <a:solidFill>
                <a:schemeClr val="dk1"/>
              </a:solidFill>
              <a:latin typeface="Arial"/>
              <a:ea typeface="Arial"/>
              <a:cs typeface="Arial"/>
              <a:sym typeface="Arial"/>
            </a:endParaRPr>
          </a:p>
        </p:txBody>
      </p:sp>
      <p:sp>
        <p:nvSpPr>
          <p:cNvPr id="162" name="Google Shape;162;p8"/>
          <p:cNvSpPr/>
          <p:nvPr/>
        </p:nvSpPr>
        <p:spPr>
          <a:xfrm>
            <a:off x="868680" y="1627632"/>
            <a:ext cx="2743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500"/>
              <a:buFont typeface="Arial"/>
              <a:buNone/>
            </a:pPr>
            <a:r>
              <a:rPr b="1" i="0" lang="en-US" sz="1500" u="none" cap="none" strike="noStrike">
                <a:solidFill>
                  <a:srgbClr val="A6A6A6"/>
                </a:solidFill>
                <a:latin typeface="Arial"/>
                <a:ea typeface="Arial"/>
                <a:cs typeface="Arial"/>
                <a:sym typeface="Arial"/>
              </a:rPr>
              <a:t>Topic: Plant growth</a:t>
            </a:r>
            <a:endParaRPr b="0" i="0" sz="1500" u="none" cap="none" strike="noStrike">
              <a:solidFill>
                <a:schemeClr val="dk1"/>
              </a:solidFill>
              <a:latin typeface="Arial"/>
              <a:ea typeface="Arial"/>
              <a:cs typeface="Arial"/>
              <a:sym typeface="Arial"/>
            </a:endParaRPr>
          </a:p>
        </p:txBody>
      </p:sp>
      <p:sp>
        <p:nvSpPr>
          <p:cNvPr id="163" name="Google Shape;163;p8"/>
          <p:cNvSpPr/>
          <p:nvPr/>
        </p:nvSpPr>
        <p:spPr>
          <a:xfrm>
            <a:off x="868680" y="2084832"/>
            <a:ext cx="2743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Arial"/>
              <a:buNone/>
            </a:pPr>
            <a:r>
              <a:rPr b="1" i="0" lang="en-US" sz="1500" u="none" cap="none" strike="noStrike">
                <a:solidFill>
                  <a:srgbClr val="F3F3F3"/>
                </a:solidFill>
                <a:latin typeface="Arial"/>
                <a:ea typeface="Arial"/>
                <a:cs typeface="Arial"/>
                <a:sym typeface="Arial"/>
              </a:rPr>
              <a:t>Research Question</a:t>
            </a:r>
            <a:endParaRPr b="0" i="0" sz="1500" u="none" cap="none" strike="noStrike">
              <a:solidFill>
                <a:schemeClr val="dk1"/>
              </a:solidFill>
              <a:latin typeface="Arial"/>
              <a:ea typeface="Arial"/>
              <a:cs typeface="Arial"/>
              <a:sym typeface="Arial"/>
            </a:endParaRPr>
          </a:p>
        </p:txBody>
      </p:sp>
      <p:sp>
        <p:nvSpPr>
          <p:cNvPr id="164" name="Google Shape;164;p8"/>
          <p:cNvSpPr/>
          <p:nvPr/>
        </p:nvSpPr>
        <p:spPr>
          <a:xfrm>
            <a:off x="868680" y="2423160"/>
            <a:ext cx="102412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2000"/>
              <a:buFont typeface="Arial"/>
              <a:buNone/>
            </a:pPr>
            <a:r>
              <a:rPr b="1" i="0" lang="en-US" sz="2000" u="none" cap="none" strike="noStrike">
                <a:solidFill>
                  <a:srgbClr val="F3F3F3"/>
                </a:solidFill>
                <a:latin typeface="Arial"/>
                <a:ea typeface="Arial"/>
                <a:cs typeface="Arial"/>
                <a:sym typeface="Arial"/>
              </a:rPr>
              <a:t>How does fertilizer concentration affect average bean plant height over four weeks?</a:t>
            </a:r>
            <a:endParaRPr b="0" i="0" sz="2000" u="none" cap="none" strike="noStrike">
              <a:solidFill>
                <a:schemeClr val="dk1"/>
              </a:solidFill>
              <a:latin typeface="Arial"/>
              <a:ea typeface="Arial"/>
              <a:cs typeface="Arial"/>
              <a:sym typeface="Arial"/>
            </a:endParaRPr>
          </a:p>
        </p:txBody>
      </p:sp>
      <p:sp>
        <p:nvSpPr>
          <p:cNvPr id="165" name="Google Shape;165;p8"/>
          <p:cNvSpPr/>
          <p:nvPr/>
        </p:nvSpPr>
        <p:spPr>
          <a:xfrm>
            <a:off x="868680" y="3063240"/>
            <a:ext cx="2377440" cy="96012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8"/>
          <p:cNvSpPr/>
          <p:nvPr/>
        </p:nvSpPr>
        <p:spPr>
          <a:xfrm>
            <a:off x="868680" y="3063240"/>
            <a:ext cx="54864" cy="9601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8"/>
          <p:cNvSpPr/>
          <p:nvPr/>
        </p:nvSpPr>
        <p:spPr>
          <a:xfrm>
            <a:off x="1024128" y="3182112"/>
            <a:ext cx="21031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IV</a:t>
            </a:r>
            <a:endParaRPr b="0" i="0" sz="1500" u="none" cap="none" strike="noStrike">
              <a:solidFill>
                <a:schemeClr val="dk1"/>
              </a:solidFill>
              <a:latin typeface="Arial"/>
              <a:ea typeface="Arial"/>
              <a:cs typeface="Arial"/>
              <a:sym typeface="Arial"/>
            </a:endParaRPr>
          </a:p>
        </p:txBody>
      </p:sp>
      <p:sp>
        <p:nvSpPr>
          <p:cNvPr id="168" name="Google Shape;168;p8"/>
          <p:cNvSpPr/>
          <p:nvPr/>
        </p:nvSpPr>
        <p:spPr>
          <a:xfrm>
            <a:off x="1024128" y="3538728"/>
            <a:ext cx="2103120" cy="393192"/>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Fertilizer concentration</a:t>
            </a:r>
            <a:endParaRPr b="0" i="0" sz="1350" u="none" cap="none" strike="noStrike">
              <a:solidFill>
                <a:schemeClr val="dk1"/>
              </a:solidFill>
              <a:latin typeface="Arial"/>
              <a:ea typeface="Arial"/>
              <a:cs typeface="Arial"/>
              <a:sym typeface="Arial"/>
            </a:endParaRPr>
          </a:p>
        </p:txBody>
      </p:sp>
      <p:sp>
        <p:nvSpPr>
          <p:cNvPr id="169" name="Google Shape;169;p8"/>
          <p:cNvSpPr/>
          <p:nvPr/>
        </p:nvSpPr>
        <p:spPr>
          <a:xfrm>
            <a:off x="3538728" y="3063240"/>
            <a:ext cx="2377440" cy="96012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8"/>
          <p:cNvSpPr/>
          <p:nvPr/>
        </p:nvSpPr>
        <p:spPr>
          <a:xfrm>
            <a:off x="3538728" y="3063240"/>
            <a:ext cx="54864" cy="9601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8"/>
          <p:cNvSpPr/>
          <p:nvPr/>
        </p:nvSpPr>
        <p:spPr>
          <a:xfrm>
            <a:off x="3694176" y="3182112"/>
            <a:ext cx="21031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DV</a:t>
            </a:r>
            <a:endParaRPr b="0" i="0" sz="1500" u="none" cap="none" strike="noStrike">
              <a:solidFill>
                <a:schemeClr val="dk1"/>
              </a:solidFill>
              <a:latin typeface="Arial"/>
              <a:ea typeface="Arial"/>
              <a:cs typeface="Arial"/>
              <a:sym typeface="Arial"/>
            </a:endParaRPr>
          </a:p>
        </p:txBody>
      </p:sp>
      <p:sp>
        <p:nvSpPr>
          <p:cNvPr id="172" name="Google Shape;172;p8"/>
          <p:cNvSpPr/>
          <p:nvPr/>
        </p:nvSpPr>
        <p:spPr>
          <a:xfrm>
            <a:off x="3694176" y="3538728"/>
            <a:ext cx="2103120" cy="393192"/>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Average plant height</a:t>
            </a:r>
            <a:endParaRPr b="0" i="0" sz="1350" u="none" cap="none" strike="noStrike">
              <a:solidFill>
                <a:schemeClr val="dk1"/>
              </a:solidFill>
              <a:latin typeface="Arial"/>
              <a:ea typeface="Arial"/>
              <a:cs typeface="Arial"/>
              <a:sym typeface="Arial"/>
            </a:endParaRPr>
          </a:p>
        </p:txBody>
      </p:sp>
      <p:sp>
        <p:nvSpPr>
          <p:cNvPr id="173" name="Google Shape;173;p8"/>
          <p:cNvSpPr/>
          <p:nvPr/>
        </p:nvSpPr>
        <p:spPr>
          <a:xfrm>
            <a:off x="6208776" y="3063240"/>
            <a:ext cx="2377440" cy="96012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8"/>
          <p:cNvSpPr/>
          <p:nvPr/>
        </p:nvSpPr>
        <p:spPr>
          <a:xfrm>
            <a:off x="6208776" y="3063240"/>
            <a:ext cx="54864" cy="9601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8"/>
          <p:cNvSpPr/>
          <p:nvPr/>
        </p:nvSpPr>
        <p:spPr>
          <a:xfrm>
            <a:off x="6364224" y="3182112"/>
            <a:ext cx="21031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Controls</a:t>
            </a:r>
            <a:endParaRPr b="0" i="0" sz="1500" u="none" cap="none" strike="noStrike">
              <a:solidFill>
                <a:schemeClr val="dk1"/>
              </a:solidFill>
              <a:latin typeface="Arial"/>
              <a:ea typeface="Arial"/>
              <a:cs typeface="Arial"/>
              <a:sym typeface="Arial"/>
            </a:endParaRPr>
          </a:p>
        </p:txBody>
      </p:sp>
      <p:sp>
        <p:nvSpPr>
          <p:cNvPr id="176" name="Google Shape;176;p8"/>
          <p:cNvSpPr/>
          <p:nvPr/>
        </p:nvSpPr>
        <p:spPr>
          <a:xfrm>
            <a:off x="6364224" y="3538728"/>
            <a:ext cx="2103120" cy="393192"/>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Light, soil, water, container size</a:t>
            </a:r>
            <a:endParaRPr b="0" i="0" sz="1350" u="none" cap="none" strike="noStrike">
              <a:solidFill>
                <a:schemeClr val="dk1"/>
              </a:solidFill>
              <a:latin typeface="Arial"/>
              <a:ea typeface="Arial"/>
              <a:cs typeface="Arial"/>
              <a:sym typeface="Arial"/>
            </a:endParaRPr>
          </a:p>
        </p:txBody>
      </p:sp>
      <p:sp>
        <p:nvSpPr>
          <p:cNvPr id="177" name="Google Shape;177;p8"/>
          <p:cNvSpPr/>
          <p:nvPr/>
        </p:nvSpPr>
        <p:spPr>
          <a:xfrm>
            <a:off x="8878824" y="3063240"/>
            <a:ext cx="2377440" cy="96012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8"/>
          <p:cNvSpPr/>
          <p:nvPr/>
        </p:nvSpPr>
        <p:spPr>
          <a:xfrm>
            <a:off x="8878824" y="3063240"/>
            <a:ext cx="54864" cy="9601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8"/>
          <p:cNvSpPr/>
          <p:nvPr/>
        </p:nvSpPr>
        <p:spPr>
          <a:xfrm>
            <a:off x="9034272" y="3182112"/>
            <a:ext cx="21031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Trials</a:t>
            </a:r>
            <a:endParaRPr b="0" i="0" sz="1500" u="none" cap="none" strike="noStrike">
              <a:solidFill>
                <a:schemeClr val="dk1"/>
              </a:solidFill>
              <a:latin typeface="Arial"/>
              <a:ea typeface="Arial"/>
              <a:cs typeface="Arial"/>
              <a:sym typeface="Arial"/>
            </a:endParaRPr>
          </a:p>
        </p:txBody>
      </p:sp>
      <p:sp>
        <p:nvSpPr>
          <p:cNvPr id="180" name="Google Shape;180;p8"/>
          <p:cNvSpPr/>
          <p:nvPr/>
        </p:nvSpPr>
        <p:spPr>
          <a:xfrm>
            <a:off x="9034272" y="3538728"/>
            <a:ext cx="2103120" cy="393192"/>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Multiple plants per group</a:t>
            </a:r>
            <a:endParaRPr b="0" i="0" sz="1350" u="none" cap="none" strike="noStrike">
              <a:solidFill>
                <a:schemeClr val="dk1"/>
              </a:solidFill>
              <a:latin typeface="Arial"/>
              <a:ea typeface="Arial"/>
              <a:cs typeface="Arial"/>
              <a:sym typeface="Arial"/>
            </a:endParaRPr>
          </a:p>
        </p:txBody>
      </p:sp>
      <p:sp>
        <p:nvSpPr>
          <p:cNvPr id="181" name="Google Shape;181;p8"/>
          <p:cNvSpPr/>
          <p:nvPr/>
        </p:nvSpPr>
        <p:spPr>
          <a:xfrm>
            <a:off x="731520" y="4709160"/>
            <a:ext cx="10744200" cy="1097280"/>
          </a:xfrm>
          <a:prstGeom prst="rect">
            <a:avLst/>
          </a:prstGeom>
          <a:solidFill>
            <a:srgbClr val="080808"/>
          </a:solidFill>
          <a:ln cap="flat" cmpd="sng" w="10150">
            <a:solidFill>
              <a:srgbClr val="5555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8"/>
          <p:cNvSpPr/>
          <p:nvPr/>
        </p:nvSpPr>
        <p:spPr>
          <a:xfrm>
            <a:off x="731520" y="4709160"/>
            <a:ext cx="1828800" cy="2743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8"/>
          <p:cNvSpPr/>
          <p:nvPr/>
        </p:nvSpPr>
        <p:spPr>
          <a:xfrm>
            <a:off x="868680" y="4764024"/>
            <a:ext cx="155448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F3F3"/>
              </a:buClr>
              <a:buSzPts val="750"/>
              <a:buFont typeface="Arial"/>
              <a:buNone/>
            </a:pPr>
            <a:r>
              <a:rPr b="1" i="0" lang="en-US" sz="750" u="none" cap="none" strike="noStrike">
                <a:solidFill>
                  <a:srgbClr val="F3F3F3"/>
                </a:solidFill>
                <a:latin typeface="Arial"/>
                <a:ea typeface="Arial"/>
                <a:cs typeface="Arial"/>
                <a:sym typeface="Arial"/>
              </a:rPr>
              <a:t>STUDENT ACTIVITY</a:t>
            </a:r>
            <a:endParaRPr b="0" i="0" sz="750" u="none" cap="none" strike="noStrike">
              <a:solidFill>
                <a:schemeClr val="dk1"/>
              </a:solidFill>
              <a:latin typeface="Arial"/>
              <a:ea typeface="Arial"/>
              <a:cs typeface="Arial"/>
              <a:sym typeface="Arial"/>
            </a:endParaRPr>
          </a:p>
        </p:txBody>
      </p:sp>
      <p:sp>
        <p:nvSpPr>
          <p:cNvPr id="184" name="Google Shape;184;p8"/>
          <p:cNvSpPr/>
          <p:nvPr/>
        </p:nvSpPr>
        <p:spPr>
          <a:xfrm>
            <a:off x="868680" y="5138928"/>
            <a:ext cx="39319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700"/>
              <a:buFont typeface="Play"/>
              <a:buNone/>
            </a:pPr>
            <a:r>
              <a:rPr b="1" i="0" lang="en-US" sz="1700" u="none" cap="none" strike="noStrike">
                <a:solidFill>
                  <a:srgbClr val="F3F3F3"/>
                </a:solidFill>
                <a:latin typeface="Play"/>
                <a:ea typeface="Play"/>
                <a:cs typeface="Play"/>
                <a:sym typeface="Play"/>
              </a:rPr>
              <a:t>Mark the design parts.</a:t>
            </a:r>
            <a:endParaRPr b="0" i="0" sz="1700" u="none" cap="none" strike="noStrike">
              <a:solidFill>
                <a:schemeClr val="dk1"/>
              </a:solidFill>
              <a:latin typeface="Arial"/>
              <a:ea typeface="Arial"/>
              <a:cs typeface="Arial"/>
              <a:sym typeface="Arial"/>
            </a:endParaRPr>
          </a:p>
        </p:txBody>
      </p:sp>
      <p:sp>
        <p:nvSpPr>
          <p:cNvPr id="185" name="Google Shape;185;p8"/>
          <p:cNvSpPr/>
          <p:nvPr/>
        </p:nvSpPr>
        <p:spPr>
          <a:xfrm>
            <a:off x="4892040" y="5056632"/>
            <a:ext cx="60807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320"/>
              <a:buFont typeface="Arial"/>
              <a:buNone/>
            </a:pPr>
            <a:r>
              <a:rPr b="0" i="0" lang="en-US" sz="1320" u="none" cap="none" strike="noStrike">
                <a:solidFill>
                  <a:srgbClr val="F3F3F3"/>
                </a:solidFill>
                <a:latin typeface="Arial"/>
                <a:ea typeface="Arial"/>
                <a:cs typeface="Arial"/>
                <a:sym typeface="Arial"/>
              </a:rPr>
              <a:t>In your notes, identify IV, DV, controls, and trials for your own developing project idea.</a:t>
            </a:r>
            <a:endParaRPr b="0" i="0" sz="1320" u="none" cap="none" strike="noStrike">
              <a:solidFill>
                <a:schemeClr val="dk1"/>
              </a:solidFill>
              <a:latin typeface="Arial"/>
              <a:ea typeface="Arial"/>
              <a:cs typeface="Arial"/>
              <a:sym typeface="Arial"/>
            </a:endParaRPr>
          </a:p>
        </p:txBody>
      </p:sp>
      <p:sp>
        <p:nvSpPr>
          <p:cNvPr id="186" name="Google Shape;186;p8"/>
          <p:cNvSpPr/>
          <p:nvPr/>
        </p:nvSpPr>
        <p:spPr>
          <a:xfrm>
            <a:off x="11201400" y="5742432"/>
            <a:ext cx="411480" cy="2103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6A6A6"/>
              </a:buClr>
              <a:buSzPts val="800"/>
              <a:buFont typeface="Arial"/>
              <a:buNone/>
            </a:pPr>
            <a:r>
              <a:rPr b="0" i="0" lang="en-US" sz="800" u="none" cap="none" strike="noStrike">
                <a:solidFill>
                  <a:srgbClr val="A6A6A6"/>
                </a:solidFill>
                <a:latin typeface="Arial"/>
                <a:ea typeface="Arial"/>
                <a:cs typeface="Arial"/>
                <a:sym typeface="Arial"/>
              </a:rPr>
              <a:t>05</a:t>
            </a:r>
            <a:endParaRPr b="0" i="0" sz="8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191" name="Shape 191"/>
        <p:cNvGrpSpPr/>
        <p:nvPr/>
      </p:nvGrpSpPr>
      <p:grpSpPr>
        <a:xfrm>
          <a:off x="0" y="0"/>
          <a:ext cx="0" cy="0"/>
          <a:chOff x="0" y="0"/>
          <a:chExt cx="0" cy="0"/>
        </a:xfrm>
      </p:grpSpPr>
      <p:sp>
        <p:nvSpPr>
          <p:cNvPr id="192" name="Google Shape;192;p9"/>
          <p:cNvSpPr/>
          <p:nvPr/>
        </p:nvSpPr>
        <p:spPr>
          <a:xfrm>
            <a:off x="0" y="292608"/>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9"/>
          <p:cNvSpPr/>
          <p:nvPr/>
        </p:nvSpPr>
        <p:spPr>
          <a:xfrm>
            <a:off x="0" y="6528816"/>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9"/>
          <p:cNvSpPr/>
          <p:nvPr/>
        </p:nvSpPr>
        <p:spPr>
          <a:xfrm>
            <a:off x="438912" y="6272784"/>
            <a:ext cx="29260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EXPERIMENTAL DESIGN</a:t>
            </a:r>
            <a:endParaRPr b="0" i="0" sz="850" u="none" cap="none" strike="noStrike">
              <a:solidFill>
                <a:schemeClr val="dk1"/>
              </a:solidFill>
              <a:latin typeface="Arial"/>
              <a:ea typeface="Arial"/>
              <a:cs typeface="Arial"/>
              <a:sym typeface="Arial"/>
            </a:endParaRPr>
          </a:p>
        </p:txBody>
      </p:sp>
      <p:sp>
        <p:nvSpPr>
          <p:cNvPr id="195" name="Google Shape;195;p9"/>
          <p:cNvSpPr/>
          <p:nvPr/>
        </p:nvSpPr>
        <p:spPr>
          <a:xfrm>
            <a:off x="10195560" y="6272784"/>
            <a:ext cx="141732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STARLAB</a:t>
            </a:r>
            <a:endParaRPr b="0" i="0" sz="850" u="none" cap="none" strike="noStrike">
              <a:solidFill>
                <a:schemeClr val="dk1"/>
              </a:solidFill>
              <a:latin typeface="Arial"/>
              <a:ea typeface="Arial"/>
              <a:cs typeface="Arial"/>
              <a:sym typeface="Arial"/>
            </a:endParaRPr>
          </a:p>
        </p:txBody>
      </p:sp>
      <p:cxnSp>
        <p:nvCxnSpPr>
          <p:cNvPr id="196" name="Google Shape;196;p9"/>
          <p:cNvCxnSpPr/>
          <p:nvPr/>
        </p:nvCxnSpPr>
        <p:spPr>
          <a:xfrm>
            <a:off x="438912" y="6163056"/>
            <a:ext cx="2011680" cy="0"/>
          </a:xfrm>
          <a:prstGeom prst="straightConnector1">
            <a:avLst/>
          </a:prstGeom>
          <a:noFill/>
          <a:ln cap="flat" cmpd="sng" w="9525">
            <a:solidFill>
              <a:srgbClr val="555555"/>
            </a:solidFill>
            <a:prstDash val="solid"/>
            <a:round/>
            <a:headEnd len="sm" w="sm" type="none"/>
            <a:tailEnd len="sm" w="sm" type="none"/>
          </a:ln>
        </p:spPr>
      </p:cxnSp>
      <p:cxnSp>
        <p:nvCxnSpPr>
          <p:cNvPr id="197" name="Google Shape;197;p9"/>
          <p:cNvCxnSpPr/>
          <p:nvPr/>
        </p:nvCxnSpPr>
        <p:spPr>
          <a:xfrm>
            <a:off x="10012680" y="6163056"/>
            <a:ext cx="1645920" cy="0"/>
          </a:xfrm>
          <a:prstGeom prst="straightConnector1">
            <a:avLst/>
          </a:prstGeom>
          <a:noFill/>
          <a:ln cap="flat" cmpd="sng" w="9525">
            <a:solidFill>
              <a:srgbClr val="555555"/>
            </a:solidFill>
            <a:prstDash val="solid"/>
            <a:round/>
            <a:headEnd len="sm" w="sm" type="none"/>
            <a:tailEnd len="sm" w="sm" type="none"/>
          </a:ln>
        </p:spPr>
      </p:cxnSp>
      <p:sp>
        <p:nvSpPr>
          <p:cNvPr id="198" name="Google Shape;198;p9"/>
          <p:cNvSpPr/>
          <p:nvPr/>
        </p:nvSpPr>
        <p:spPr>
          <a:xfrm>
            <a:off x="640080" y="566928"/>
            <a:ext cx="109728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2700"/>
              <a:buFont typeface="Play"/>
              <a:buNone/>
            </a:pPr>
            <a:r>
              <a:rPr b="1" i="0" lang="en-US" sz="2700" u="none" cap="none" strike="noStrike">
                <a:solidFill>
                  <a:srgbClr val="F3F3F3"/>
                </a:solidFill>
                <a:latin typeface="Play"/>
                <a:ea typeface="Play"/>
                <a:cs typeface="Play"/>
                <a:sym typeface="Play"/>
              </a:rPr>
              <a:t>Controls, Constants, and Comparison Groups</a:t>
            </a:r>
            <a:endParaRPr b="0" i="0" sz="2700" u="none" cap="none" strike="noStrike">
              <a:solidFill>
                <a:schemeClr val="dk1"/>
              </a:solidFill>
              <a:latin typeface="Arial"/>
              <a:ea typeface="Arial"/>
              <a:cs typeface="Arial"/>
              <a:sym typeface="Arial"/>
            </a:endParaRPr>
          </a:p>
        </p:txBody>
      </p:sp>
      <p:sp>
        <p:nvSpPr>
          <p:cNvPr id="199" name="Google Shape;199;p9"/>
          <p:cNvSpPr/>
          <p:nvPr/>
        </p:nvSpPr>
        <p:spPr>
          <a:xfrm>
            <a:off x="640080" y="1078992"/>
            <a:ext cx="1051560"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9"/>
          <p:cNvSpPr/>
          <p:nvPr/>
        </p:nvSpPr>
        <p:spPr>
          <a:xfrm>
            <a:off x="658368" y="1188720"/>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600"/>
              <a:buFont typeface="Arial"/>
              <a:buNone/>
            </a:pPr>
            <a:r>
              <a:rPr b="0" i="0" lang="en-US" sz="1600" u="none" cap="none" strike="noStrike">
                <a:solidFill>
                  <a:srgbClr val="A6A6A6"/>
                </a:solidFill>
                <a:latin typeface="Arial"/>
                <a:ea typeface="Arial"/>
                <a:cs typeface="Arial"/>
                <a:sym typeface="Arial"/>
              </a:rPr>
              <a:t>Students often mix these up; the distinction matters.</a:t>
            </a:r>
            <a:endParaRPr b="0" i="0" sz="1600" u="none" cap="none" strike="noStrike">
              <a:solidFill>
                <a:schemeClr val="dk1"/>
              </a:solidFill>
              <a:latin typeface="Arial"/>
              <a:ea typeface="Arial"/>
              <a:cs typeface="Arial"/>
              <a:sym typeface="Arial"/>
            </a:endParaRPr>
          </a:p>
        </p:txBody>
      </p:sp>
      <p:sp>
        <p:nvSpPr>
          <p:cNvPr id="201" name="Google Shape;201;p9"/>
          <p:cNvSpPr/>
          <p:nvPr/>
        </p:nvSpPr>
        <p:spPr>
          <a:xfrm>
            <a:off x="777240" y="1600200"/>
            <a:ext cx="3337560" cy="205740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9"/>
          <p:cNvSpPr/>
          <p:nvPr/>
        </p:nvSpPr>
        <p:spPr>
          <a:xfrm>
            <a:off x="777240" y="1600200"/>
            <a:ext cx="54864" cy="205740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9"/>
          <p:cNvSpPr/>
          <p:nvPr/>
        </p:nvSpPr>
        <p:spPr>
          <a:xfrm>
            <a:off x="932688" y="1719072"/>
            <a:ext cx="3063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Controlled Variables</a:t>
            </a:r>
            <a:endParaRPr b="0" i="0" sz="1500" u="none" cap="none" strike="noStrike">
              <a:solidFill>
                <a:schemeClr val="dk1"/>
              </a:solidFill>
              <a:latin typeface="Arial"/>
              <a:ea typeface="Arial"/>
              <a:cs typeface="Arial"/>
              <a:sym typeface="Arial"/>
            </a:endParaRPr>
          </a:p>
        </p:txBody>
      </p:sp>
      <p:sp>
        <p:nvSpPr>
          <p:cNvPr id="204" name="Google Shape;204;p9"/>
          <p:cNvSpPr/>
          <p:nvPr/>
        </p:nvSpPr>
        <p:spPr>
          <a:xfrm>
            <a:off x="932688" y="2075688"/>
            <a:ext cx="3063240" cy="1490472"/>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Conditions kept the same across all groups or trials. Example: same plant species, light, and container size.</a:t>
            </a:r>
            <a:endParaRPr b="0" i="0" sz="1350" u="none" cap="none" strike="noStrike">
              <a:solidFill>
                <a:schemeClr val="dk1"/>
              </a:solidFill>
              <a:latin typeface="Arial"/>
              <a:ea typeface="Arial"/>
              <a:cs typeface="Arial"/>
              <a:sym typeface="Arial"/>
            </a:endParaRPr>
          </a:p>
        </p:txBody>
      </p:sp>
      <p:sp>
        <p:nvSpPr>
          <p:cNvPr id="205" name="Google Shape;205;p9"/>
          <p:cNvSpPr/>
          <p:nvPr/>
        </p:nvSpPr>
        <p:spPr>
          <a:xfrm>
            <a:off x="4434840" y="1600200"/>
            <a:ext cx="3337560" cy="205740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9"/>
          <p:cNvSpPr/>
          <p:nvPr/>
        </p:nvSpPr>
        <p:spPr>
          <a:xfrm>
            <a:off x="4434840" y="1600200"/>
            <a:ext cx="54864" cy="205740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9"/>
          <p:cNvSpPr/>
          <p:nvPr/>
        </p:nvSpPr>
        <p:spPr>
          <a:xfrm>
            <a:off x="4590288" y="1719072"/>
            <a:ext cx="3063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Control Group</a:t>
            </a:r>
            <a:endParaRPr b="0" i="0" sz="1500" u="none" cap="none" strike="noStrike">
              <a:solidFill>
                <a:schemeClr val="dk1"/>
              </a:solidFill>
              <a:latin typeface="Arial"/>
              <a:ea typeface="Arial"/>
              <a:cs typeface="Arial"/>
              <a:sym typeface="Arial"/>
            </a:endParaRPr>
          </a:p>
        </p:txBody>
      </p:sp>
      <p:sp>
        <p:nvSpPr>
          <p:cNvPr id="208" name="Google Shape;208;p9"/>
          <p:cNvSpPr/>
          <p:nvPr/>
        </p:nvSpPr>
        <p:spPr>
          <a:xfrm>
            <a:off x="4590288" y="2075688"/>
            <a:ext cx="3063240" cy="1490472"/>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A baseline group used for comparison. Example: plants receiving no fertilizer.</a:t>
            </a:r>
            <a:endParaRPr b="0" i="0" sz="1350" u="none" cap="none" strike="noStrike">
              <a:solidFill>
                <a:schemeClr val="dk1"/>
              </a:solidFill>
              <a:latin typeface="Arial"/>
              <a:ea typeface="Arial"/>
              <a:cs typeface="Arial"/>
              <a:sym typeface="Arial"/>
            </a:endParaRPr>
          </a:p>
        </p:txBody>
      </p:sp>
      <p:sp>
        <p:nvSpPr>
          <p:cNvPr id="209" name="Google Shape;209;p9"/>
          <p:cNvSpPr/>
          <p:nvPr/>
        </p:nvSpPr>
        <p:spPr>
          <a:xfrm>
            <a:off x="8092440" y="1600200"/>
            <a:ext cx="3337560" cy="205740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9"/>
          <p:cNvSpPr/>
          <p:nvPr/>
        </p:nvSpPr>
        <p:spPr>
          <a:xfrm>
            <a:off x="8092440" y="1600200"/>
            <a:ext cx="54864" cy="205740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9"/>
          <p:cNvSpPr/>
          <p:nvPr/>
        </p:nvSpPr>
        <p:spPr>
          <a:xfrm>
            <a:off x="8247888" y="1719072"/>
            <a:ext cx="3063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Constants</a:t>
            </a:r>
            <a:endParaRPr b="0" i="0" sz="1500" u="none" cap="none" strike="noStrike">
              <a:solidFill>
                <a:schemeClr val="dk1"/>
              </a:solidFill>
              <a:latin typeface="Arial"/>
              <a:ea typeface="Arial"/>
              <a:cs typeface="Arial"/>
              <a:sym typeface="Arial"/>
            </a:endParaRPr>
          </a:p>
        </p:txBody>
      </p:sp>
      <p:sp>
        <p:nvSpPr>
          <p:cNvPr id="212" name="Google Shape;212;p9"/>
          <p:cNvSpPr/>
          <p:nvPr/>
        </p:nvSpPr>
        <p:spPr>
          <a:xfrm>
            <a:off x="8247888" y="2075688"/>
            <a:ext cx="3063240" cy="1490472"/>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Values or conditions that remain fixed in the setup. Often overlap with controlled variables in student language.</a:t>
            </a:r>
            <a:endParaRPr b="0" i="0" sz="1350" u="none" cap="none" strike="noStrike">
              <a:solidFill>
                <a:schemeClr val="dk1"/>
              </a:solidFill>
              <a:latin typeface="Arial"/>
              <a:ea typeface="Arial"/>
              <a:cs typeface="Arial"/>
              <a:sym typeface="Arial"/>
            </a:endParaRPr>
          </a:p>
        </p:txBody>
      </p:sp>
      <p:sp>
        <p:nvSpPr>
          <p:cNvPr id="213" name="Google Shape;213;p9"/>
          <p:cNvSpPr/>
          <p:nvPr/>
        </p:nvSpPr>
        <p:spPr>
          <a:xfrm>
            <a:off x="960120" y="3913632"/>
            <a:ext cx="29260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300"/>
              <a:buFont typeface="Arial"/>
              <a:buNone/>
            </a:pPr>
            <a:r>
              <a:rPr b="1" i="0" lang="en-US" sz="1300" u="none" cap="none" strike="noStrike">
                <a:solidFill>
                  <a:srgbClr val="A6A6A6"/>
                </a:solidFill>
                <a:latin typeface="Arial"/>
                <a:ea typeface="Arial"/>
                <a:cs typeface="Arial"/>
                <a:sym typeface="Arial"/>
              </a:rPr>
              <a:t>The question to keep asking:</a:t>
            </a:r>
            <a:endParaRPr b="0" i="0" sz="1300" u="none" cap="none" strike="noStrike">
              <a:solidFill>
                <a:schemeClr val="dk1"/>
              </a:solidFill>
              <a:latin typeface="Arial"/>
              <a:ea typeface="Arial"/>
              <a:cs typeface="Arial"/>
              <a:sym typeface="Arial"/>
            </a:endParaRPr>
          </a:p>
        </p:txBody>
      </p:sp>
      <p:sp>
        <p:nvSpPr>
          <p:cNvPr id="214" name="Google Shape;214;p9"/>
          <p:cNvSpPr/>
          <p:nvPr/>
        </p:nvSpPr>
        <p:spPr>
          <a:xfrm>
            <a:off x="960120" y="4224528"/>
            <a:ext cx="102412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2200"/>
              <a:buFont typeface="Arial"/>
              <a:buNone/>
            </a:pPr>
            <a:r>
              <a:rPr b="1" i="0" lang="en-US" sz="2200" u="none" cap="none" strike="noStrike">
                <a:solidFill>
                  <a:srgbClr val="F3F3F3"/>
                </a:solidFill>
                <a:latin typeface="Arial"/>
                <a:ea typeface="Arial"/>
                <a:cs typeface="Arial"/>
                <a:sym typeface="Arial"/>
              </a:rPr>
              <a:t>What comparison makes the result meaningful?</a:t>
            </a:r>
            <a:endParaRPr b="0" i="0" sz="2200" u="none" cap="none" strike="noStrike">
              <a:solidFill>
                <a:schemeClr val="dk1"/>
              </a:solidFill>
              <a:latin typeface="Arial"/>
              <a:ea typeface="Arial"/>
              <a:cs typeface="Arial"/>
              <a:sym typeface="Arial"/>
            </a:endParaRPr>
          </a:p>
        </p:txBody>
      </p:sp>
      <p:sp>
        <p:nvSpPr>
          <p:cNvPr id="215" name="Google Shape;215;p9"/>
          <p:cNvSpPr/>
          <p:nvPr/>
        </p:nvSpPr>
        <p:spPr>
          <a:xfrm>
            <a:off x="731520" y="4709160"/>
            <a:ext cx="10744200" cy="1097280"/>
          </a:xfrm>
          <a:prstGeom prst="rect">
            <a:avLst/>
          </a:prstGeom>
          <a:solidFill>
            <a:srgbClr val="080808"/>
          </a:solidFill>
          <a:ln cap="flat" cmpd="sng" w="10150">
            <a:solidFill>
              <a:srgbClr val="5555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9"/>
          <p:cNvSpPr/>
          <p:nvPr/>
        </p:nvSpPr>
        <p:spPr>
          <a:xfrm>
            <a:off x="731520" y="4709160"/>
            <a:ext cx="1828800" cy="2743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9"/>
          <p:cNvSpPr/>
          <p:nvPr/>
        </p:nvSpPr>
        <p:spPr>
          <a:xfrm>
            <a:off x="868680" y="4764024"/>
            <a:ext cx="155448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F3F3"/>
              </a:buClr>
              <a:buSzPts val="750"/>
              <a:buFont typeface="Arial"/>
              <a:buNone/>
            </a:pPr>
            <a:r>
              <a:rPr b="1" i="0" lang="en-US" sz="750" u="none" cap="none" strike="noStrike">
                <a:solidFill>
                  <a:srgbClr val="F3F3F3"/>
                </a:solidFill>
                <a:latin typeface="Arial"/>
                <a:ea typeface="Arial"/>
                <a:cs typeface="Arial"/>
                <a:sym typeface="Arial"/>
              </a:rPr>
              <a:t>STUDENT ACTIVITY</a:t>
            </a:r>
            <a:endParaRPr b="0" i="0" sz="750" u="none" cap="none" strike="noStrike">
              <a:solidFill>
                <a:schemeClr val="dk1"/>
              </a:solidFill>
              <a:latin typeface="Arial"/>
              <a:ea typeface="Arial"/>
              <a:cs typeface="Arial"/>
              <a:sym typeface="Arial"/>
            </a:endParaRPr>
          </a:p>
        </p:txBody>
      </p:sp>
      <p:sp>
        <p:nvSpPr>
          <p:cNvPr id="218" name="Google Shape;218;p9"/>
          <p:cNvSpPr/>
          <p:nvPr/>
        </p:nvSpPr>
        <p:spPr>
          <a:xfrm>
            <a:off x="868680" y="5138928"/>
            <a:ext cx="39319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700"/>
              <a:buFont typeface="Play"/>
              <a:buNone/>
            </a:pPr>
            <a:r>
              <a:rPr b="1" i="0" lang="en-US" sz="1700" u="none" cap="none" strike="noStrike">
                <a:solidFill>
                  <a:srgbClr val="F3F3F3"/>
                </a:solidFill>
                <a:latin typeface="Play"/>
                <a:ea typeface="Play"/>
                <a:cs typeface="Play"/>
                <a:sym typeface="Play"/>
              </a:rPr>
              <a:t>Fair-test check.</a:t>
            </a:r>
            <a:endParaRPr b="0" i="0" sz="1700" u="none" cap="none" strike="noStrike">
              <a:solidFill>
                <a:schemeClr val="dk1"/>
              </a:solidFill>
              <a:latin typeface="Arial"/>
              <a:ea typeface="Arial"/>
              <a:cs typeface="Arial"/>
              <a:sym typeface="Arial"/>
            </a:endParaRPr>
          </a:p>
        </p:txBody>
      </p:sp>
      <p:sp>
        <p:nvSpPr>
          <p:cNvPr id="219" name="Google Shape;219;p9"/>
          <p:cNvSpPr/>
          <p:nvPr/>
        </p:nvSpPr>
        <p:spPr>
          <a:xfrm>
            <a:off x="4892040" y="5056632"/>
            <a:ext cx="60807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320"/>
              <a:buFont typeface="Arial"/>
              <a:buNone/>
            </a:pPr>
            <a:r>
              <a:rPr b="0" i="0" lang="en-US" sz="1320" u="none" cap="none" strike="noStrike">
                <a:solidFill>
                  <a:srgbClr val="F3F3F3"/>
                </a:solidFill>
                <a:latin typeface="Arial"/>
                <a:ea typeface="Arial"/>
                <a:cs typeface="Arial"/>
                <a:sym typeface="Arial"/>
              </a:rPr>
              <a:t>Write one thing your project must keep the same, and one comparison group or condition that makes your evidence meaningful.</a:t>
            </a:r>
            <a:endParaRPr b="0" i="0" sz="1320" u="none" cap="none" strike="noStrike">
              <a:solidFill>
                <a:schemeClr val="dk1"/>
              </a:solidFill>
              <a:latin typeface="Arial"/>
              <a:ea typeface="Arial"/>
              <a:cs typeface="Arial"/>
              <a:sym typeface="Arial"/>
            </a:endParaRPr>
          </a:p>
        </p:txBody>
      </p:sp>
      <p:sp>
        <p:nvSpPr>
          <p:cNvPr id="220" name="Google Shape;220;p9"/>
          <p:cNvSpPr/>
          <p:nvPr/>
        </p:nvSpPr>
        <p:spPr>
          <a:xfrm>
            <a:off x="11201400" y="5742432"/>
            <a:ext cx="411480" cy="2103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6A6A6"/>
              </a:buClr>
              <a:buSzPts val="800"/>
              <a:buFont typeface="Arial"/>
              <a:buNone/>
            </a:pPr>
            <a:r>
              <a:rPr b="0" i="0" lang="en-US" sz="800" u="none" cap="none" strike="noStrike">
                <a:solidFill>
                  <a:srgbClr val="A6A6A6"/>
                </a:solidFill>
                <a:latin typeface="Arial"/>
                <a:ea typeface="Arial"/>
                <a:cs typeface="Arial"/>
                <a:sym typeface="Arial"/>
              </a:rPr>
              <a:t>06</a:t>
            </a:r>
            <a:endParaRPr b="0" i="0" sz="8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225" name="Shape 225"/>
        <p:cNvGrpSpPr/>
        <p:nvPr/>
      </p:nvGrpSpPr>
      <p:grpSpPr>
        <a:xfrm>
          <a:off x="0" y="0"/>
          <a:ext cx="0" cy="0"/>
          <a:chOff x="0" y="0"/>
          <a:chExt cx="0" cy="0"/>
        </a:xfrm>
      </p:grpSpPr>
      <p:sp>
        <p:nvSpPr>
          <p:cNvPr id="226" name="Google Shape;226;p10"/>
          <p:cNvSpPr/>
          <p:nvPr/>
        </p:nvSpPr>
        <p:spPr>
          <a:xfrm>
            <a:off x="0" y="292608"/>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0"/>
          <p:cNvSpPr/>
          <p:nvPr/>
        </p:nvSpPr>
        <p:spPr>
          <a:xfrm>
            <a:off x="0" y="6528816"/>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0"/>
          <p:cNvSpPr/>
          <p:nvPr/>
        </p:nvSpPr>
        <p:spPr>
          <a:xfrm>
            <a:off x="438912" y="6272784"/>
            <a:ext cx="29260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EXPERIMENTAL DESIGN</a:t>
            </a:r>
            <a:endParaRPr b="0" i="0" sz="850" u="none" cap="none" strike="noStrike">
              <a:solidFill>
                <a:schemeClr val="dk1"/>
              </a:solidFill>
              <a:latin typeface="Arial"/>
              <a:ea typeface="Arial"/>
              <a:cs typeface="Arial"/>
              <a:sym typeface="Arial"/>
            </a:endParaRPr>
          </a:p>
        </p:txBody>
      </p:sp>
      <p:sp>
        <p:nvSpPr>
          <p:cNvPr id="229" name="Google Shape;229;p10"/>
          <p:cNvSpPr/>
          <p:nvPr/>
        </p:nvSpPr>
        <p:spPr>
          <a:xfrm>
            <a:off x="10195560" y="6272784"/>
            <a:ext cx="141732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STARLAB</a:t>
            </a:r>
            <a:endParaRPr b="0" i="0" sz="850" u="none" cap="none" strike="noStrike">
              <a:solidFill>
                <a:schemeClr val="dk1"/>
              </a:solidFill>
              <a:latin typeface="Arial"/>
              <a:ea typeface="Arial"/>
              <a:cs typeface="Arial"/>
              <a:sym typeface="Arial"/>
            </a:endParaRPr>
          </a:p>
        </p:txBody>
      </p:sp>
      <p:cxnSp>
        <p:nvCxnSpPr>
          <p:cNvPr id="230" name="Google Shape;230;p10"/>
          <p:cNvCxnSpPr/>
          <p:nvPr/>
        </p:nvCxnSpPr>
        <p:spPr>
          <a:xfrm>
            <a:off x="438912" y="6163056"/>
            <a:ext cx="2011680" cy="0"/>
          </a:xfrm>
          <a:prstGeom prst="straightConnector1">
            <a:avLst/>
          </a:prstGeom>
          <a:noFill/>
          <a:ln cap="flat" cmpd="sng" w="9525">
            <a:solidFill>
              <a:srgbClr val="555555"/>
            </a:solidFill>
            <a:prstDash val="solid"/>
            <a:round/>
            <a:headEnd len="sm" w="sm" type="none"/>
            <a:tailEnd len="sm" w="sm" type="none"/>
          </a:ln>
        </p:spPr>
      </p:cxnSp>
      <p:cxnSp>
        <p:nvCxnSpPr>
          <p:cNvPr id="231" name="Google Shape;231;p10"/>
          <p:cNvCxnSpPr/>
          <p:nvPr/>
        </p:nvCxnSpPr>
        <p:spPr>
          <a:xfrm>
            <a:off x="10012680" y="6163056"/>
            <a:ext cx="1645920" cy="0"/>
          </a:xfrm>
          <a:prstGeom prst="straightConnector1">
            <a:avLst/>
          </a:prstGeom>
          <a:noFill/>
          <a:ln cap="flat" cmpd="sng" w="9525">
            <a:solidFill>
              <a:srgbClr val="555555"/>
            </a:solidFill>
            <a:prstDash val="solid"/>
            <a:round/>
            <a:headEnd len="sm" w="sm" type="none"/>
            <a:tailEnd len="sm" w="sm" type="none"/>
          </a:ln>
        </p:spPr>
      </p:cxnSp>
      <p:sp>
        <p:nvSpPr>
          <p:cNvPr id="232" name="Google Shape;232;p10"/>
          <p:cNvSpPr/>
          <p:nvPr/>
        </p:nvSpPr>
        <p:spPr>
          <a:xfrm>
            <a:off x="640080" y="566928"/>
            <a:ext cx="109728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2700"/>
              <a:buFont typeface="Play"/>
              <a:buNone/>
            </a:pPr>
            <a:r>
              <a:rPr b="1" i="0" lang="en-US" sz="2700" u="none" cap="none" strike="noStrike">
                <a:solidFill>
                  <a:srgbClr val="F3F3F3"/>
                </a:solidFill>
                <a:latin typeface="Play"/>
                <a:ea typeface="Play"/>
                <a:cs typeface="Play"/>
                <a:sym typeface="Play"/>
              </a:rPr>
              <a:t>Trials, Samples, and Reliability</a:t>
            </a:r>
            <a:endParaRPr b="0" i="0" sz="2700" u="none" cap="none" strike="noStrike">
              <a:solidFill>
                <a:schemeClr val="dk1"/>
              </a:solidFill>
              <a:latin typeface="Arial"/>
              <a:ea typeface="Arial"/>
              <a:cs typeface="Arial"/>
              <a:sym typeface="Arial"/>
            </a:endParaRPr>
          </a:p>
        </p:txBody>
      </p:sp>
      <p:sp>
        <p:nvSpPr>
          <p:cNvPr id="233" name="Google Shape;233;p10"/>
          <p:cNvSpPr/>
          <p:nvPr/>
        </p:nvSpPr>
        <p:spPr>
          <a:xfrm>
            <a:off x="640080" y="1078992"/>
            <a:ext cx="1051560"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0"/>
          <p:cNvSpPr/>
          <p:nvPr/>
        </p:nvSpPr>
        <p:spPr>
          <a:xfrm>
            <a:off x="658368" y="1188720"/>
            <a:ext cx="108813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600"/>
              <a:buFont typeface="Arial"/>
              <a:buNone/>
            </a:pPr>
            <a:r>
              <a:rPr b="0" i="0" lang="en-US" sz="1600" u="none" cap="none" strike="noStrike">
                <a:solidFill>
                  <a:srgbClr val="A6A6A6"/>
                </a:solidFill>
                <a:latin typeface="Arial"/>
                <a:ea typeface="Arial"/>
                <a:cs typeface="Arial"/>
                <a:sym typeface="Arial"/>
              </a:rPr>
              <a:t>One measurement rarely tells the whole story. More evidence helps when it is collected consistently.</a:t>
            </a:r>
            <a:endParaRPr b="0" i="0" sz="1600" u="none" cap="none" strike="noStrike">
              <a:solidFill>
                <a:schemeClr val="dk1"/>
              </a:solidFill>
              <a:latin typeface="Arial"/>
              <a:ea typeface="Arial"/>
              <a:cs typeface="Arial"/>
              <a:sym typeface="Arial"/>
            </a:endParaRPr>
          </a:p>
        </p:txBody>
      </p:sp>
      <p:sp>
        <p:nvSpPr>
          <p:cNvPr id="235" name="Google Shape;235;p10"/>
          <p:cNvSpPr/>
          <p:nvPr/>
        </p:nvSpPr>
        <p:spPr>
          <a:xfrm>
            <a:off x="914400" y="1719072"/>
            <a:ext cx="2971800" cy="132588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0"/>
          <p:cNvSpPr/>
          <p:nvPr/>
        </p:nvSpPr>
        <p:spPr>
          <a:xfrm>
            <a:off x="914400" y="1719072"/>
            <a:ext cx="54864" cy="132588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0"/>
          <p:cNvSpPr/>
          <p:nvPr/>
        </p:nvSpPr>
        <p:spPr>
          <a:xfrm>
            <a:off x="1069848" y="1837944"/>
            <a:ext cx="2697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Trial</a:t>
            </a:r>
            <a:endParaRPr b="0" i="0" sz="1500" u="none" cap="none" strike="noStrike">
              <a:solidFill>
                <a:schemeClr val="dk1"/>
              </a:solidFill>
              <a:latin typeface="Arial"/>
              <a:ea typeface="Arial"/>
              <a:cs typeface="Arial"/>
              <a:sym typeface="Arial"/>
            </a:endParaRPr>
          </a:p>
        </p:txBody>
      </p:sp>
      <p:sp>
        <p:nvSpPr>
          <p:cNvPr id="238" name="Google Shape;238;p10"/>
          <p:cNvSpPr/>
          <p:nvPr/>
        </p:nvSpPr>
        <p:spPr>
          <a:xfrm>
            <a:off x="1069848" y="2194560"/>
            <a:ext cx="2697480" cy="758952"/>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One repeated test or measurement.</a:t>
            </a:r>
            <a:endParaRPr b="0" i="0" sz="1350" u="none" cap="none" strike="noStrike">
              <a:solidFill>
                <a:schemeClr val="dk1"/>
              </a:solidFill>
              <a:latin typeface="Arial"/>
              <a:ea typeface="Arial"/>
              <a:cs typeface="Arial"/>
              <a:sym typeface="Arial"/>
            </a:endParaRPr>
          </a:p>
        </p:txBody>
      </p:sp>
      <p:sp>
        <p:nvSpPr>
          <p:cNvPr id="239" name="Google Shape;239;p10"/>
          <p:cNvSpPr/>
          <p:nvPr/>
        </p:nvSpPr>
        <p:spPr>
          <a:xfrm>
            <a:off x="4608576" y="1719072"/>
            <a:ext cx="2971800" cy="132588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0"/>
          <p:cNvSpPr/>
          <p:nvPr/>
        </p:nvSpPr>
        <p:spPr>
          <a:xfrm>
            <a:off x="4608576" y="1719072"/>
            <a:ext cx="54864" cy="132588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0"/>
          <p:cNvSpPr/>
          <p:nvPr/>
        </p:nvSpPr>
        <p:spPr>
          <a:xfrm>
            <a:off x="4764024" y="1837944"/>
            <a:ext cx="2697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Sample Size</a:t>
            </a:r>
            <a:endParaRPr b="0" i="0" sz="1500" u="none" cap="none" strike="noStrike">
              <a:solidFill>
                <a:schemeClr val="dk1"/>
              </a:solidFill>
              <a:latin typeface="Arial"/>
              <a:ea typeface="Arial"/>
              <a:cs typeface="Arial"/>
              <a:sym typeface="Arial"/>
            </a:endParaRPr>
          </a:p>
        </p:txBody>
      </p:sp>
      <p:sp>
        <p:nvSpPr>
          <p:cNvPr id="242" name="Google Shape;242;p10"/>
          <p:cNvSpPr/>
          <p:nvPr/>
        </p:nvSpPr>
        <p:spPr>
          <a:xfrm>
            <a:off x="4764024" y="2194560"/>
            <a:ext cx="2697480" cy="758952"/>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How many plants, bridges, sensors, responses, or data points you have.</a:t>
            </a:r>
            <a:endParaRPr b="0" i="0" sz="1350" u="none" cap="none" strike="noStrike">
              <a:solidFill>
                <a:schemeClr val="dk1"/>
              </a:solidFill>
              <a:latin typeface="Arial"/>
              <a:ea typeface="Arial"/>
              <a:cs typeface="Arial"/>
              <a:sym typeface="Arial"/>
            </a:endParaRPr>
          </a:p>
        </p:txBody>
      </p:sp>
      <p:sp>
        <p:nvSpPr>
          <p:cNvPr id="243" name="Google Shape;243;p10"/>
          <p:cNvSpPr/>
          <p:nvPr/>
        </p:nvSpPr>
        <p:spPr>
          <a:xfrm>
            <a:off x="8302752" y="1719072"/>
            <a:ext cx="2971800" cy="132588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0"/>
          <p:cNvSpPr/>
          <p:nvPr/>
        </p:nvSpPr>
        <p:spPr>
          <a:xfrm>
            <a:off x="8302752" y="1719072"/>
            <a:ext cx="54864" cy="132588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0"/>
          <p:cNvSpPr/>
          <p:nvPr/>
        </p:nvSpPr>
        <p:spPr>
          <a:xfrm>
            <a:off x="8458200" y="1837944"/>
            <a:ext cx="2697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Reliability</a:t>
            </a:r>
            <a:endParaRPr b="0" i="0" sz="1500" u="none" cap="none" strike="noStrike">
              <a:solidFill>
                <a:schemeClr val="dk1"/>
              </a:solidFill>
              <a:latin typeface="Arial"/>
              <a:ea typeface="Arial"/>
              <a:cs typeface="Arial"/>
              <a:sym typeface="Arial"/>
            </a:endParaRPr>
          </a:p>
        </p:txBody>
      </p:sp>
      <p:sp>
        <p:nvSpPr>
          <p:cNvPr id="246" name="Google Shape;246;p10"/>
          <p:cNvSpPr/>
          <p:nvPr/>
        </p:nvSpPr>
        <p:spPr>
          <a:xfrm>
            <a:off x="8458200" y="2194560"/>
            <a:ext cx="2697480" cy="758952"/>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How consistent the results are across repeated trials.</a:t>
            </a:r>
            <a:endParaRPr b="0" i="0" sz="1350" u="none" cap="none" strike="noStrike">
              <a:solidFill>
                <a:schemeClr val="dk1"/>
              </a:solidFill>
              <a:latin typeface="Arial"/>
              <a:ea typeface="Arial"/>
              <a:cs typeface="Arial"/>
              <a:sym typeface="Arial"/>
            </a:endParaRPr>
          </a:p>
        </p:txBody>
      </p:sp>
      <p:sp>
        <p:nvSpPr>
          <p:cNvPr id="247" name="Google Shape;247;p10"/>
          <p:cNvSpPr/>
          <p:nvPr/>
        </p:nvSpPr>
        <p:spPr>
          <a:xfrm>
            <a:off x="1005840" y="3493008"/>
            <a:ext cx="10058400" cy="822960"/>
          </a:xfrm>
          <a:prstGeom prst="rect">
            <a:avLst/>
          </a:prstGeom>
          <a:solidFill>
            <a:srgbClr val="080808"/>
          </a:solidFill>
          <a:ln cap="flat" cmpd="sng" w="10150">
            <a:solidFill>
              <a:srgbClr val="5555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0"/>
          <p:cNvSpPr/>
          <p:nvPr/>
        </p:nvSpPr>
        <p:spPr>
          <a:xfrm>
            <a:off x="1234440" y="3639312"/>
            <a:ext cx="4572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300"/>
              <a:buFont typeface="Arial"/>
              <a:buNone/>
            </a:pPr>
            <a:r>
              <a:rPr b="1" i="0" lang="en-US" sz="1300" u="none" cap="none" strike="noStrike">
                <a:solidFill>
                  <a:srgbClr val="A6A6A6"/>
                </a:solidFill>
                <a:latin typeface="Arial"/>
                <a:ea typeface="Arial"/>
                <a:cs typeface="Arial"/>
                <a:sym typeface="Arial"/>
              </a:rPr>
              <a:t>Better question than “How many trials do I need?”</a:t>
            </a:r>
            <a:endParaRPr b="0" i="0" sz="1300" u="none" cap="none" strike="noStrike">
              <a:solidFill>
                <a:schemeClr val="dk1"/>
              </a:solidFill>
              <a:latin typeface="Arial"/>
              <a:ea typeface="Arial"/>
              <a:cs typeface="Arial"/>
              <a:sym typeface="Arial"/>
            </a:endParaRPr>
          </a:p>
        </p:txBody>
      </p:sp>
      <p:sp>
        <p:nvSpPr>
          <p:cNvPr id="249" name="Google Shape;249;p10"/>
          <p:cNvSpPr/>
          <p:nvPr/>
        </p:nvSpPr>
        <p:spPr>
          <a:xfrm>
            <a:off x="1234440" y="3931920"/>
            <a:ext cx="9601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800"/>
              <a:buFont typeface="Arial"/>
              <a:buNone/>
            </a:pPr>
            <a:r>
              <a:rPr b="1" i="0" lang="en-US" sz="1800" u="none" cap="none" strike="noStrike">
                <a:solidFill>
                  <a:srgbClr val="F3F3F3"/>
                </a:solidFill>
                <a:latin typeface="Arial"/>
                <a:ea typeface="Arial"/>
                <a:cs typeface="Arial"/>
                <a:sym typeface="Arial"/>
              </a:rPr>
              <a:t>“Do I have enough consistent evidence to support a reasonable claim?”</a:t>
            </a:r>
            <a:endParaRPr b="0" i="0" sz="1800" u="none" cap="none" strike="noStrike">
              <a:solidFill>
                <a:schemeClr val="dk1"/>
              </a:solidFill>
              <a:latin typeface="Arial"/>
              <a:ea typeface="Arial"/>
              <a:cs typeface="Arial"/>
              <a:sym typeface="Arial"/>
            </a:endParaRPr>
          </a:p>
        </p:txBody>
      </p:sp>
      <p:sp>
        <p:nvSpPr>
          <p:cNvPr id="250" name="Google Shape;250;p10"/>
          <p:cNvSpPr/>
          <p:nvPr/>
        </p:nvSpPr>
        <p:spPr>
          <a:xfrm>
            <a:off x="731520" y="4709160"/>
            <a:ext cx="10744200" cy="1097280"/>
          </a:xfrm>
          <a:prstGeom prst="rect">
            <a:avLst/>
          </a:prstGeom>
          <a:solidFill>
            <a:srgbClr val="080808"/>
          </a:solidFill>
          <a:ln cap="flat" cmpd="sng" w="10150">
            <a:solidFill>
              <a:srgbClr val="5555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0"/>
          <p:cNvSpPr/>
          <p:nvPr/>
        </p:nvSpPr>
        <p:spPr>
          <a:xfrm>
            <a:off x="731520" y="4709160"/>
            <a:ext cx="1828800" cy="2743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0"/>
          <p:cNvSpPr/>
          <p:nvPr/>
        </p:nvSpPr>
        <p:spPr>
          <a:xfrm>
            <a:off x="868680" y="4764024"/>
            <a:ext cx="155448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F3F3"/>
              </a:buClr>
              <a:buSzPts val="750"/>
              <a:buFont typeface="Arial"/>
              <a:buNone/>
            </a:pPr>
            <a:r>
              <a:rPr b="1" i="0" lang="en-US" sz="750" u="none" cap="none" strike="noStrike">
                <a:solidFill>
                  <a:srgbClr val="F3F3F3"/>
                </a:solidFill>
                <a:latin typeface="Arial"/>
                <a:ea typeface="Arial"/>
                <a:cs typeface="Arial"/>
                <a:sym typeface="Arial"/>
              </a:rPr>
              <a:t>STUDENT ACTIVITY</a:t>
            </a:r>
            <a:endParaRPr b="0" i="0" sz="750" u="none" cap="none" strike="noStrike">
              <a:solidFill>
                <a:schemeClr val="dk1"/>
              </a:solidFill>
              <a:latin typeface="Arial"/>
              <a:ea typeface="Arial"/>
              <a:cs typeface="Arial"/>
              <a:sym typeface="Arial"/>
            </a:endParaRPr>
          </a:p>
        </p:txBody>
      </p:sp>
      <p:sp>
        <p:nvSpPr>
          <p:cNvPr id="253" name="Google Shape;253;p10"/>
          <p:cNvSpPr/>
          <p:nvPr/>
        </p:nvSpPr>
        <p:spPr>
          <a:xfrm>
            <a:off x="868680" y="5138928"/>
            <a:ext cx="39319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700"/>
              <a:buFont typeface="Play"/>
              <a:buNone/>
            </a:pPr>
            <a:r>
              <a:rPr b="1" i="0" lang="en-US" sz="1700" u="none" cap="none" strike="noStrike">
                <a:solidFill>
                  <a:srgbClr val="F3F3F3"/>
                </a:solidFill>
                <a:latin typeface="Play"/>
                <a:ea typeface="Play"/>
                <a:cs typeface="Play"/>
                <a:sym typeface="Play"/>
              </a:rPr>
              <a:t>Trial plan sketch.</a:t>
            </a:r>
            <a:endParaRPr b="0" i="0" sz="1700" u="none" cap="none" strike="noStrike">
              <a:solidFill>
                <a:schemeClr val="dk1"/>
              </a:solidFill>
              <a:latin typeface="Arial"/>
              <a:ea typeface="Arial"/>
              <a:cs typeface="Arial"/>
              <a:sym typeface="Arial"/>
            </a:endParaRPr>
          </a:p>
        </p:txBody>
      </p:sp>
      <p:sp>
        <p:nvSpPr>
          <p:cNvPr id="254" name="Google Shape;254;p10"/>
          <p:cNvSpPr/>
          <p:nvPr/>
        </p:nvSpPr>
        <p:spPr>
          <a:xfrm>
            <a:off x="4892040" y="5056632"/>
            <a:ext cx="60807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320"/>
              <a:buFont typeface="Arial"/>
              <a:buNone/>
            </a:pPr>
            <a:r>
              <a:rPr b="0" i="0" lang="en-US" sz="1320" u="none" cap="none" strike="noStrike">
                <a:solidFill>
                  <a:srgbClr val="F3F3F3"/>
                </a:solidFill>
                <a:latin typeface="Arial"/>
                <a:ea typeface="Arial"/>
                <a:cs typeface="Arial"/>
                <a:sym typeface="Arial"/>
              </a:rPr>
              <a:t>Draft a realistic number of trials or samples for your project and explain why it is reasonable.</a:t>
            </a:r>
            <a:endParaRPr b="0" i="0" sz="1320" u="none" cap="none" strike="noStrike">
              <a:solidFill>
                <a:schemeClr val="dk1"/>
              </a:solidFill>
              <a:latin typeface="Arial"/>
              <a:ea typeface="Arial"/>
              <a:cs typeface="Arial"/>
              <a:sym typeface="Arial"/>
            </a:endParaRPr>
          </a:p>
        </p:txBody>
      </p:sp>
      <p:sp>
        <p:nvSpPr>
          <p:cNvPr id="255" name="Google Shape;255;p10"/>
          <p:cNvSpPr/>
          <p:nvPr/>
        </p:nvSpPr>
        <p:spPr>
          <a:xfrm>
            <a:off x="11201400" y="5742432"/>
            <a:ext cx="411480" cy="2103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6A6A6"/>
              </a:buClr>
              <a:buSzPts val="800"/>
              <a:buFont typeface="Arial"/>
              <a:buNone/>
            </a:pPr>
            <a:r>
              <a:rPr b="0" i="0" lang="en-US" sz="800" u="none" cap="none" strike="noStrike">
                <a:solidFill>
                  <a:srgbClr val="A6A6A6"/>
                </a:solidFill>
                <a:latin typeface="Arial"/>
                <a:ea typeface="Arial"/>
                <a:cs typeface="Arial"/>
                <a:sym typeface="Arial"/>
              </a:rPr>
              <a:t>07</a:t>
            </a:r>
            <a:endParaRPr b="0" i="0" sz="8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260" name="Shape 260"/>
        <p:cNvGrpSpPr/>
        <p:nvPr/>
      </p:nvGrpSpPr>
      <p:grpSpPr>
        <a:xfrm>
          <a:off x="0" y="0"/>
          <a:ext cx="0" cy="0"/>
          <a:chOff x="0" y="0"/>
          <a:chExt cx="0" cy="0"/>
        </a:xfrm>
      </p:grpSpPr>
      <p:sp>
        <p:nvSpPr>
          <p:cNvPr id="261" name="Google Shape;261;p11"/>
          <p:cNvSpPr/>
          <p:nvPr/>
        </p:nvSpPr>
        <p:spPr>
          <a:xfrm>
            <a:off x="0" y="292608"/>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a:off x="0" y="6528816"/>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1"/>
          <p:cNvSpPr/>
          <p:nvPr/>
        </p:nvSpPr>
        <p:spPr>
          <a:xfrm>
            <a:off x="438912" y="6272784"/>
            <a:ext cx="29260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EXPERIMENTAL DESIGN</a:t>
            </a:r>
            <a:endParaRPr b="0" i="0" sz="850" u="none" cap="none" strike="noStrike">
              <a:solidFill>
                <a:schemeClr val="dk1"/>
              </a:solidFill>
              <a:latin typeface="Arial"/>
              <a:ea typeface="Arial"/>
              <a:cs typeface="Arial"/>
              <a:sym typeface="Arial"/>
            </a:endParaRPr>
          </a:p>
        </p:txBody>
      </p:sp>
      <p:sp>
        <p:nvSpPr>
          <p:cNvPr id="264" name="Google Shape;264;p11"/>
          <p:cNvSpPr/>
          <p:nvPr/>
        </p:nvSpPr>
        <p:spPr>
          <a:xfrm>
            <a:off x="10195560" y="6272784"/>
            <a:ext cx="141732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STARLAB</a:t>
            </a:r>
            <a:endParaRPr b="0" i="0" sz="850" u="none" cap="none" strike="noStrike">
              <a:solidFill>
                <a:schemeClr val="dk1"/>
              </a:solidFill>
              <a:latin typeface="Arial"/>
              <a:ea typeface="Arial"/>
              <a:cs typeface="Arial"/>
              <a:sym typeface="Arial"/>
            </a:endParaRPr>
          </a:p>
        </p:txBody>
      </p:sp>
      <p:cxnSp>
        <p:nvCxnSpPr>
          <p:cNvPr id="265" name="Google Shape;265;p11"/>
          <p:cNvCxnSpPr/>
          <p:nvPr/>
        </p:nvCxnSpPr>
        <p:spPr>
          <a:xfrm>
            <a:off x="438912" y="6163056"/>
            <a:ext cx="2011680" cy="0"/>
          </a:xfrm>
          <a:prstGeom prst="straightConnector1">
            <a:avLst/>
          </a:prstGeom>
          <a:noFill/>
          <a:ln cap="flat" cmpd="sng" w="9525">
            <a:solidFill>
              <a:srgbClr val="555555"/>
            </a:solidFill>
            <a:prstDash val="solid"/>
            <a:round/>
            <a:headEnd len="sm" w="sm" type="none"/>
            <a:tailEnd len="sm" w="sm" type="none"/>
          </a:ln>
        </p:spPr>
      </p:cxnSp>
      <p:cxnSp>
        <p:nvCxnSpPr>
          <p:cNvPr id="266" name="Google Shape;266;p11"/>
          <p:cNvCxnSpPr/>
          <p:nvPr/>
        </p:nvCxnSpPr>
        <p:spPr>
          <a:xfrm>
            <a:off x="10012680" y="6163056"/>
            <a:ext cx="1645920" cy="0"/>
          </a:xfrm>
          <a:prstGeom prst="straightConnector1">
            <a:avLst/>
          </a:prstGeom>
          <a:noFill/>
          <a:ln cap="flat" cmpd="sng" w="9525">
            <a:solidFill>
              <a:srgbClr val="555555"/>
            </a:solidFill>
            <a:prstDash val="solid"/>
            <a:round/>
            <a:headEnd len="sm" w="sm" type="none"/>
            <a:tailEnd len="sm" w="sm" type="none"/>
          </a:ln>
        </p:spPr>
      </p:cxnSp>
      <p:sp>
        <p:nvSpPr>
          <p:cNvPr id="267" name="Google Shape;267;p11"/>
          <p:cNvSpPr/>
          <p:nvPr/>
        </p:nvSpPr>
        <p:spPr>
          <a:xfrm>
            <a:off x="640080" y="566928"/>
            <a:ext cx="109728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2700"/>
              <a:buFont typeface="Play"/>
              <a:buNone/>
            </a:pPr>
            <a:r>
              <a:rPr b="1" i="0" lang="en-US" sz="2700" u="none" cap="none" strike="noStrike">
                <a:solidFill>
                  <a:srgbClr val="F3F3F3"/>
                </a:solidFill>
                <a:latin typeface="Play"/>
                <a:ea typeface="Play"/>
                <a:cs typeface="Play"/>
                <a:sym typeface="Play"/>
              </a:rPr>
              <a:t>The Fair Test Test</a:t>
            </a:r>
            <a:endParaRPr b="0" i="0" sz="2700" u="none" cap="none" strike="noStrike">
              <a:solidFill>
                <a:schemeClr val="dk1"/>
              </a:solidFill>
              <a:latin typeface="Arial"/>
              <a:ea typeface="Arial"/>
              <a:cs typeface="Arial"/>
              <a:sym typeface="Arial"/>
            </a:endParaRPr>
          </a:p>
        </p:txBody>
      </p:sp>
      <p:sp>
        <p:nvSpPr>
          <p:cNvPr id="268" name="Google Shape;268;p11"/>
          <p:cNvSpPr/>
          <p:nvPr/>
        </p:nvSpPr>
        <p:spPr>
          <a:xfrm>
            <a:off x="640080" y="1078992"/>
            <a:ext cx="1051560"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1"/>
          <p:cNvSpPr/>
          <p:nvPr/>
        </p:nvSpPr>
        <p:spPr>
          <a:xfrm>
            <a:off x="658368" y="1188720"/>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600"/>
              <a:buFont typeface="Arial"/>
              <a:buNone/>
            </a:pPr>
            <a:r>
              <a:rPr b="0" i="0" lang="en-US" sz="1600" u="none" cap="none" strike="noStrike">
                <a:solidFill>
                  <a:srgbClr val="A6A6A6"/>
                </a:solidFill>
                <a:latin typeface="Arial"/>
                <a:ea typeface="Arial"/>
                <a:cs typeface="Arial"/>
                <a:sym typeface="Arial"/>
              </a:rPr>
              <a:t>A fair test isolates the factor you care about.</a:t>
            </a:r>
            <a:endParaRPr b="0" i="0" sz="1600" u="none" cap="none" strike="noStrike">
              <a:solidFill>
                <a:schemeClr val="dk1"/>
              </a:solidFill>
              <a:latin typeface="Arial"/>
              <a:ea typeface="Arial"/>
              <a:cs typeface="Arial"/>
              <a:sym typeface="Arial"/>
            </a:endParaRPr>
          </a:p>
        </p:txBody>
      </p:sp>
      <p:sp>
        <p:nvSpPr>
          <p:cNvPr id="270" name="Google Shape;270;p11"/>
          <p:cNvSpPr/>
          <p:nvPr/>
        </p:nvSpPr>
        <p:spPr>
          <a:xfrm>
            <a:off x="1051560" y="1600200"/>
            <a:ext cx="9966960" cy="420624"/>
          </a:xfrm>
          <a:prstGeom prst="rect">
            <a:avLst/>
          </a:prstGeom>
          <a:solidFill>
            <a:srgbClr val="111111"/>
          </a:solidFill>
          <a:ln cap="flat" cmpd="sng" w="9525">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1"/>
          <p:cNvSpPr/>
          <p:nvPr/>
        </p:nvSpPr>
        <p:spPr>
          <a:xfrm>
            <a:off x="1261872" y="1700784"/>
            <a:ext cx="38404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350"/>
              <a:buFont typeface="Arial"/>
              <a:buNone/>
            </a:pPr>
            <a:r>
              <a:rPr b="1" i="0" lang="en-US" sz="1350" u="none" cap="none" strike="noStrike">
                <a:solidFill>
                  <a:srgbClr val="F3F3F3"/>
                </a:solidFill>
                <a:latin typeface="Arial"/>
                <a:ea typeface="Arial"/>
                <a:cs typeface="Arial"/>
                <a:sym typeface="Arial"/>
              </a:rPr>
              <a:t>1. What changes?</a:t>
            </a:r>
            <a:endParaRPr b="0" i="0" sz="1350" u="none" cap="none" strike="noStrike">
              <a:solidFill>
                <a:schemeClr val="dk1"/>
              </a:solidFill>
              <a:latin typeface="Arial"/>
              <a:ea typeface="Arial"/>
              <a:cs typeface="Arial"/>
              <a:sym typeface="Arial"/>
            </a:endParaRPr>
          </a:p>
        </p:txBody>
      </p:sp>
      <p:sp>
        <p:nvSpPr>
          <p:cNvPr id="272" name="Google Shape;272;p11"/>
          <p:cNvSpPr/>
          <p:nvPr/>
        </p:nvSpPr>
        <p:spPr>
          <a:xfrm>
            <a:off x="5760720" y="1700784"/>
            <a:ext cx="43891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350"/>
              <a:buFont typeface="Arial"/>
              <a:buNone/>
            </a:pPr>
            <a:r>
              <a:rPr b="0" i="0" lang="en-US" sz="1350" u="none" cap="none" strike="noStrike">
                <a:solidFill>
                  <a:srgbClr val="A6A6A6"/>
                </a:solidFill>
                <a:latin typeface="Arial"/>
                <a:ea typeface="Arial"/>
                <a:cs typeface="Arial"/>
                <a:sym typeface="Arial"/>
              </a:rPr>
              <a:t>Independent variable</a:t>
            </a:r>
            <a:endParaRPr b="0" i="0" sz="1350" u="none" cap="none" strike="noStrike">
              <a:solidFill>
                <a:schemeClr val="dk1"/>
              </a:solidFill>
              <a:latin typeface="Arial"/>
              <a:ea typeface="Arial"/>
              <a:cs typeface="Arial"/>
              <a:sym typeface="Arial"/>
            </a:endParaRPr>
          </a:p>
        </p:txBody>
      </p:sp>
      <p:sp>
        <p:nvSpPr>
          <p:cNvPr id="273" name="Google Shape;273;p11"/>
          <p:cNvSpPr/>
          <p:nvPr/>
        </p:nvSpPr>
        <p:spPr>
          <a:xfrm>
            <a:off x="1051560" y="2167128"/>
            <a:ext cx="9966960" cy="420624"/>
          </a:xfrm>
          <a:prstGeom prst="rect">
            <a:avLst/>
          </a:prstGeom>
          <a:solidFill>
            <a:srgbClr val="0B0B0B"/>
          </a:solidFill>
          <a:ln cap="flat" cmpd="sng" w="9525">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1"/>
          <p:cNvSpPr/>
          <p:nvPr/>
        </p:nvSpPr>
        <p:spPr>
          <a:xfrm>
            <a:off x="1261872" y="2267712"/>
            <a:ext cx="38404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350"/>
              <a:buFont typeface="Arial"/>
              <a:buNone/>
            </a:pPr>
            <a:r>
              <a:rPr b="1" i="0" lang="en-US" sz="1350" u="none" cap="none" strike="noStrike">
                <a:solidFill>
                  <a:srgbClr val="F3F3F3"/>
                </a:solidFill>
                <a:latin typeface="Arial"/>
                <a:ea typeface="Arial"/>
                <a:cs typeface="Arial"/>
                <a:sym typeface="Arial"/>
              </a:rPr>
              <a:t>2. What is measured?</a:t>
            </a:r>
            <a:endParaRPr b="0" i="0" sz="1350" u="none" cap="none" strike="noStrike">
              <a:solidFill>
                <a:schemeClr val="dk1"/>
              </a:solidFill>
              <a:latin typeface="Arial"/>
              <a:ea typeface="Arial"/>
              <a:cs typeface="Arial"/>
              <a:sym typeface="Arial"/>
            </a:endParaRPr>
          </a:p>
        </p:txBody>
      </p:sp>
      <p:sp>
        <p:nvSpPr>
          <p:cNvPr id="275" name="Google Shape;275;p11"/>
          <p:cNvSpPr/>
          <p:nvPr/>
        </p:nvSpPr>
        <p:spPr>
          <a:xfrm>
            <a:off x="5760720" y="2267712"/>
            <a:ext cx="43891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350"/>
              <a:buFont typeface="Arial"/>
              <a:buNone/>
            </a:pPr>
            <a:r>
              <a:rPr b="0" i="0" lang="en-US" sz="1350" u="none" cap="none" strike="noStrike">
                <a:solidFill>
                  <a:srgbClr val="A6A6A6"/>
                </a:solidFill>
                <a:latin typeface="Arial"/>
                <a:ea typeface="Arial"/>
                <a:cs typeface="Arial"/>
                <a:sym typeface="Arial"/>
              </a:rPr>
              <a:t>Dependent variable</a:t>
            </a:r>
            <a:endParaRPr b="0" i="0" sz="1350" u="none" cap="none" strike="noStrike">
              <a:solidFill>
                <a:schemeClr val="dk1"/>
              </a:solidFill>
              <a:latin typeface="Arial"/>
              <a:ea typeface="Arial"/>
              <a:cs typeface="Arial"/>
              <a:sym typeface="Arial"/>
            </a:endParaRPr>
          </a:p>
        </p:txBody>
      </p:sp>
      <p:sp>
        <p:nvSpPr>
          <p:cNvPr id="276" name="Google Shape;276;p11"/>
          <p:cNvSpPr/>
          <p:nvPr/>
        </p:nvSpPr>
        <p:spPr>
          <a:xfrm>
            <a:off x="1051560" y="2734056"/>
            <a:ext cx="9966960" cy="420624"/>
          </a:xfrm>
          <a:prstGeom prst="rect">
            <a:avLst/>
          </a:prstGeom>
          <a:solidFill>
            <a:srgbClr val="111111"/>
          </a:solidFill>
          <a:ln cap="flat" cmpd="sng" w="9525">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1"/>
          <p:cNvSpPr/>
          <p:nvPr/>
        </p:nvSpPr>
        <p:spPr>
          <a:xfrm>
            <a:off x="1261872" y="2834640"/>
            <a:ext cx="38404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350"/>
              <a:buFont typeface="Arial"/>
              <a:buNone/>
            </a:pPr>
            <a:r>
              <a:rPr b="1" i="0" lang="en-US" sz="1350" u="none" cap="none" strike="noStrike">
                <a:solidFill>
                  <a:srgbClr val="F3F3F3"/>
                </a:solidFill>
                <a:latin typeface="Arial"/>
                <a:ea typeface="Arial"/>
                <a:cs typeface="Arial"/>
                <a:sym typeface="Arial"/>
              </a:rPr>
              <a:t>3. What stays the same?</a:t>
            </a:r>
            <a:endParaRPr b="0" i="0" sz="1350" u="none" cap="none" strike="noStrike">
              <a:solidFill>
                <a:schemeClr val="dk1"/>
              </a:solidFill>
              <a:latin typeface="Arial"/>
              <a:ea typeface="Arial"/>
              <a:cs typeface="Arial"/>
              <a:sym typeface="Arial"/>
            </a:endParaRPr>
          </a:p>
        </p:txBody>
      </p:sp>
      <p:sp>
        <p:nvSpPr>
          <p:cNvPr id="278" name="Google Shape;278;p11"/>
          <p:cNvSpPr/>
          <p:nvPr/>
        </p:nvSpPr>
        <p:spPr>
          <a:xfrm>
            <a:off x="5760720" y="2834640"/>
            <a:ext cx="43891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350"/>
              <a:buFont typeface="Arial"/>
              <a:buNone/>
            </a:pPr>
            <a:r>
              <a:rPr b="0" i="0" lang="en-US" sz="1350" u="none" cap="none" strike="noStrike">
                <a:solidFill>
                  <a:srgbClr val="A6A6A6"/>
                </a:solidFill>
                <a:latin typeface="Arial"/>
                <a:ea typeface="Arial"/>
                <a:cs typeface="Arial"/>
                <a:sym typeface="Arial"/>
              </a:rPr>
              <a:t>Controlled variables</a:t>
            </a:r>
            <a:endParaRPr b="0" i="0" sz="1350" u="none" cap="none" strike="noStrike">
              <a:solidFill>
                <a:schemeClr val="dk1"/>
              </a:solidFill>
              <a:latin typeface="Arial"/>
              <a:ea typeface="Arial"/>
              <a:cs typeface="Arial"/>
              <a:sym typeface="Arial"/>
            </a:endParaRPr>
          </a:p>
        </p:txBody>
      </p:sp>
      <p:sp>
        <p:nvSpPr>
          <p:cNvPr id="279" name="Google Shape;279;p11"/>
          <p:cNvSpPr/>
          <p:nvPr/>
        </p:nvSpPr>
        <p:spPr>
          <a:xfrm>
            <a:off x="1051560" y="3300984"/>
            <a:ext cx="9966960" cy="420624"/>
          </a:xfrm>
          <a:prstGeom prst="rect">
            <a:avLst/>
          </a:prstGeom>
          <a:solidFill>
            <a:srgbClr val="0B0B0B"/>
          </a:solidFill>
          <a:ln cap="flat" cmpd="sng" w="9525">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1"/>
          <p:cNvSpPr/>
          <p:nvPr/>
        </p:nvSpPr>
        <p:spPr>
          <a:xfrm>
            <a:off x="1261872" y="3401568"/>
            <a:ext cx="38404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350"/>
              <a:buFont typeface="Arial"/>
              <a:buNone/>
            </a:pPr>
            <a:r>
              <a:rPr b="1" i="0" lang="en-US" sz="1350" u="none" cap="none" strike="noStrike">
                <a:solidFill>
                  <a:srgbClr val="F3F3F3"/>
                </a:solidFill>
                <a:latin typeface="Arial"/>
                <a:ea typeface="Arial"/>
                <a:cs typeface="Arial"/>
                <a:sym typeface="Arial"/>
              </a:rPr>
              <a:t>4. What is compared?</a:t>
            </a:r>
            <a:endParaRPr b="0" i="0" sz="1350" u="none" cap="none" strike="noStrike">
              <a:solidFill>
                <a:schemeClr val="dk1"/>
              </a:solidFill>
              <a:latin typeface="Arial"/>
              <a:ea typeface="Arial"/>
              <a:cs typeface="Arial"/>
              <a:sym typeface="Arial"/>
            </a:endParaRPr>
          </a:p>
        </p:txBody>
      </p:sp>
      <p:sp>
        <p:nvSpPr>
          <p:cNvPr id="281" name="Google Shape;281;p11"/>
          <p:cNvSpPr/>
          <p:nvPr/>
        </p:nvSpPr>
        <p:spPr>
          <a:xfrm>
            <a:off x="5760720" y="3401568"/>
            <a:ext cx="43891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350"/>
              <a:buFont typeface="Arial"/>
              <a:buNone/>
            </a:pPr>
            <a:r>
              <a:rPr b="0" i="0" lang="en-US" sz="1350" u="none" cap="none" strike="noStrike">
                <a:solidFill>
                  <a:srgbClr val="A6A6A6"/>
                </a:solidFill>
                <a:latin typeface="Arial"/>
                <a:ea typeface="Arial"/>
                <a:cs typeface="Arial"/>
                <a:sym typeface="Arial"/>
              </a:rPr>
              <a:t>Control or comparison group</a:t>
            </a:r>
            <a:endParaRPr b="0" i="0" sz="1350" u="none" cap="none" strike="noStrike">
              <a:solidFill>
                <a:schemeClr val="dk1"/>
              </a:solidFill>
              <a:latin typeface="Arial"/>
              <a:ea typeface="Arial"/>
              <a:cs typeface="Arial"/>
              <a:sym typeface="Arial"/>
            </a:endParaRPr>
          </a:p>
        </p:txBody>
      </p:sp>
      <p:sp>
        <p:nvSpPr>
          <p:cNvPr id="282" name="Google Shape;282;p11"/>
          <p:cNvSpPr/>
          <p:nvPr/>
        </p:nvSpPr>
        <p:spPr>
          <a:xfrm>
            <a:off x="1051560" y="3867912"/>
            <a:ext cx="9966960" cy="420624"/>
          </a:xfrm>
          <a:prstGeom prst="rect">
            <a:avLst/>
          </a:prstGeom>
          <a:solidFill>
            <a:srgbClr val="111111"/>
          </a:solidFill>
          <a:ln cap="flat" cmpd="sng" w="9525">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1"/>
          <p:cNvSpPr/>
          <p:nvPr/>
        </p:nvSpPr>
        <p:spPr>
          <a:xfrm>
            <a:off x="1261872" y="3968496"/>
            <a:ext cx="38404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350"/>
              <a:buFont typeface="Arial"/>
              <a:buNone/>
            </a:pPr>
            <a:r>
              <a:rPr b="1" i="0" lang="en-US" sz="1350" u="none" cap="none" strike="noStrike">
                <a:solidFill>
                  <a:srgbClr val="F3F3F3"/>
                </a:solidFill>
                <a:latin typeface="Arial"/>
                <a:ea typeface="Arial"/>
                <a:cs typeface="Arial"/>
                <a:sym typeface="Arial"/>
              </a:rPr>
              <a:t>5. What could bias the result?</a:t>
            </a:r>
            <a:endParaRPr b="0" i="0" sz="1350" u="none" cap="none" strike="noStrike">
              <a:solidFill>
                <a:schemeClr val="dk1"/>
              </a:solidFill>
              <a:latin typeface="Arial"/>
              <a:ea typeface="Arial"/>
              <a:cs typeface="Arial"/>
              <a:sym typeface="Arial"/>
            </a:endParaRPr>
          </a:p>
        </p:txBody>
      </p:sp>
      <p:sp>
        <p:nvSpPr>
          <p:cNvPr id="284" name="Google Shape;284;p11"/>
          <p:cNvSpPr/>
          <p:nvPr/>
        </p:nvSpPr>
        <p:spPr>
          <a:xfrm>
            <a:off x="5760720" y="3968496"/>
            <a:ext cx="43891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350"/>
              <a:buFont typeface="Arial"/>
              <a:buNone/>
            </a:pPr>
            <a:r>
              <a:rPr b="0" i="0" lang="en-US" sz="1350" u="none" cap="none" strike="noStrike">
                <a:solidFill>
                  <a:srgbClr val="A6A6A6"/>
                </a:solidFill>
                <a:latin typeface="Arial"/>
                <a:ea typeface="Arial"/>
                <a:cs typeface="Arial"/>
                <a:sym typeface="Arial"/>
              </a:rPr>
              <a:t>Possible confounds</a:t>
            </a:r>
            <a:endParaRPr b="0" i="0" sz="1350" u="none" cap="none" strike="noStrike">
              <a:solidFill>
                <a:schemeClr val="dk1"/>
              </a:solidFill>
              <a:latin typeface="Arial"/>
              <a:ea typeface="Arial"/>
              <a:cs typeface="Arial"/>
              <a:sym typeface="Arial"/>
            </a:endParaRPr>
          </a:p>
        </p:txBody>
      </p:sp>
      <p:sp>
        <p:nvSpPr>
          <p:cNvPr id="285" name="Google Shape;285;p11"/>
          <p:cNvSpPr/>
          <p:nvPr/>
        </p:nvSpPr>
        <p:spPr>
          <a:xfrm>
            <a:off x="731520" y="4709160"/>
            <a:ext cx="10744200" cy="1097280"/>
          </a:xfrm>
          <a:prstGeom prst="rect">
            <a:avLst/>
          </a:prstGeom>
          <a:solidFill>
            <a:srgbClr val="080808"/>
          </a:solidFill>
          <a:ln cap="flat" cmpd="sng" w="10150">
            <a:solidFill>
              <a:srgbClr val="5555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1"/>
          <p:cNvSpPr/>
          <p:nvPr/>
        </p:nvSpPr>
        <p:spPr>
          <a:xfrm>
            <a:off x="731520" y="4709160"/>
            <a:ext cx="1828800" cy="2743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1"/>
          <p:cNvSpPr/>
          <p:nvPr/>
        </p:nvSpPr>
        <p:spPr>
          <a:xfrm>
            <a:off x="868680" y="4764024"/>
            <a:ext cx="155448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F3F3"/>
              </a:buClr>
              <a:buSzPts val="750"/>
              <a:buFont typeface="Arial"/>
              <a:buNone/>
            </a:pPr>
            <a:r>
              <a:rPr b="1" i="0" lang="en-US" sz="750" u="none" cap="none" strike="noStrike">
                <a:solidFill>
                  <a:srgbClr val="F3F3F3"/>
                </a:solidFill>
                <a:latin typeface="Arial"/>
                <a:ea typeface="Arial"/>
                <a:cs typeface="Arial"/>
                <a:sym typeface="Arial"/>
              </a:rPr>
              <a:t>STUDENT ACTIVITY</a:t>
            </a:r>
            <a:endParaRPr b="0" i="0" sz="750" u="none" cap="none" strike="noStrike">
              <a:solidFill>
                <a:schemeClr val="dk1"/>
              </a:solidFill>
              <a:latin typeface="Arial"/>
              <a:ea typeface="Arial"/>
              <a:cs typeface="Arial"/>
              <a:sym typeface="Arial"/>
            </a:endParaRPr>
          </a:p>
        </p:txBody>
      </p:sp>
      <p:sp>
        <p:nvSpPr>
          <p:cNvPr id="288" name="Google Shape;288;p11"/>
          <p:cNvSpPr/>
          <p:nvPr/>
        </p:nvSpPr>
        <p:spPr>
          <a:xfrm>
            <a:off x="868680" y="5138928"/>
            <a:ext cx="39319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700"/>
              <a:buFont typeface="Play"/>
              <a:buNone/>
            </a:pPr>
            <a:r>
              <a:rPr b="1" i="0" lang="en-US" sz="1700" u="none" cap="none" strike="noStrike">
                <a:solidFill>
                  <a:srgbClr val="F3F3F3"/>
                </a:solidFill>
                <a:latin typeface="Play"/>
                <a:ea typeface="Play"/>
                <a:cs typeface="Play"/>
                <a:sym typeface="Play"/>
              </a:rPr>
              <a:t>Fair-test audit.</a:t>
            </a:r>
            <a:endParaRPr b="0" i="0" sz="1700" u="none" cap="none" strike="noStrike">
              <a:solidFill>
                <a:schemeClr val="dk1"/>
              </a:solidFill>
              <a:latin typeface="Arial"/>
              <a:ea typeface="Arial"/>
              <a:cs typeface="Arial"/>
              <a:sym typeface="Arial"/>
            </a:endParaRPr>
          </a:p>
        </p:txBody>
      </p:sp>
      <p:sp>
        <p:nvSpPr>
          <p:cNvPr id="289" name="Google Shape;289;p11"/>
          <p:cNvSpPr/>
          <p:nvPr/>
        </p:nvSpPr>
        <p:spPr>
          <a:xfrm>
            <a:off x="4892040" y="5056632"/>
            <a:ext cx="60807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320"/>
              <a:buFont typeface="Arial"/>
              <a:buNone/>
            </a:pPr>
            <a:r>
              <a:rPr b="0" i="0" lang="en-US" sz="1320" u="none" cap="none" strike="noStrike">
                <a:solidFill>
                  <a:srgbClr val="F3F3F3"/>
                </a:solidFill>
                <a:latin typeface="Arial"/>
                <a:ea typeface="Arial"/>
                <a:cs typeface="Arial"/>
                <a:sym typeface="Arial"/>
              </a:rPr>
              <a:t>Return to your quick-write answer from Slide 2. Add one missing feature of a fair test.</a:t>
            </a:r>
            <a:endParaRPr b="0" i="0" sz="1320" u="none" cap="none" strike="noStrike">
              <a:solidFill>
                <a:schemeClr val="dk1"/>
              </a:solidFill>
              <a:latin typeface="Arial"/>
              <a:ea typeface="Arial"/>
              <a:cs typeface="Arial"/>
              <a:sym typeface="Arial"/>
            </a:endParaRPr>
          </a:p>
        </p:txBody>
      </p:sp>
      <p:sp>
        <p:nvSpPr>
          <p:cNvPr id="290" name="Google Shape;290;p11"/>
          <p:cNvSpPr/>
          <p:nvPr/>
        </p:nvSpPr>
        <p:spPr>
          <a:xfrm>
            <a:off x="11201400" y="5742432"/>
            <a:ext cx="411480" cy="2103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6A6A6"/>
              </a:buClr>
              <a:buSzPts val="800"/>
              <a:buFont typeface="Arial"/>
              <a:buNone/>
            </a:pPr>
            <a:r>
              <a:rPr b="0" i="0" lang="en-US" sz="800" u="none" cap="none" strike="noStrike">
                <a:solidFill>
                  <a:srgbClr val="A6A6A6"/>
                </a:solidFill>
                <a:latin typeface="Arial"/>
                <a:ea typeface="Arial"/>
                <a:cs typeface="Arial"/>
                <a:sym typeface="Arial"/>
              </a:rPr>
              <a:t>08</a:t>
            </a:r>
            <a:endParaRPr b="0" i="0" sz="8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295" name="Shape 295"/>
        <p:cNvGrpSpPr/>
        <p:nvPr/>
      </p:nvGrpSpPr>
      <p:grpSpPr>
        <a:xfrm>
          <a:off x="0" y="0"/>
          <a:ext cx="0" cy="0"/>
          <a:chOff x="0" y="0"/>
          <a:chExt cx="0" cy="0"/>
        </a:xfrm>
      </p:grpSpPr>
      <p:sp>
        <p:nvSpPr>
          <p:cNvPr id="296" name="Google Shape;296;p12"/>
          <p:cNvSpPr/>
          <p:nvPr/>
        </p:nvSpPr>
        <p:spPr>
          <a:xfrm>
            <a:off x="0" y="292608"/>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2"/>
          <p:cNvSpPr/>
          <p:nvPr/>
        </p:nvSpPr>
        <p:spPr>
          <a:xfrm>
            <a:off x="0" y="6528816"/>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2"/>
          <p:cNvSpPr/>
          <p:nvPr/>
        </p:nvSpPr>
        <p:spPr>
          <a:xfrm>
            <a:off x="438912" y="6272784"/>
            <a:ext cx="29260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ENGINEERING DESIGN</a:t>
            </a:r>
            <a:endParaRPr b="0" i="0" sz="850" u="none" cap="none" strike="noStrike">
              <a:solidFill>
                <a:schemeClr val="dk1"/>
              </a:solidFill>
              <a:latin typeface="Arial"/>
              <a:ea typeface="Arial"/>
              <a:cs typeface="Arial"/>
              <a:sym typeface="Arial"/>
            </a:endParaRPr>
          </a:p>
        </p:txBody>
      </p:sp>
      <p:sp>
        <p:nvSpPr>
          <p:cNvPr id="299" name="Google Shape;299;p12"/>
          <p:cNvSpPr/>
          <p:nvPr/>
        </p:nvSpPr>
        <p:spPr>
          <a:xfrm>
            <a:off x="10195560" y="6272784"/>
            <a:ext cx="141732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STARLAB</a:t>
            </a:r>
            <a:endParaRPr b="0" i="0" sz="850" u="none" cap="none" strike="noStrike">
              <a:solidFill>
                <a:schemeClr val="dk1"/>
              </a:solidFill>
              <a:latin typeface="Arial"/>
              <a:ea typeface="Arial"/>
              <a:cs typeface="Arial"/>
              <a:sym typeface="Arial"/>
            </a:endParaRPr>
          </a:p>
        </p:txBody>
      </p:sp>
      <p:cxnSp>
        <p:nvCxnSpPr>
          <p:cNvPr id="300" name="Google Shape;300;p12"/>
          <p:cNvCxnSpPr/>
          <p:nvPr/>
        </p:nvCxnSpPr>
        <p:spPr>
          <a:xfrm>
            <a:off x="438912" y="6163056"/>
            <a:ext cx="2011680" cy="0"/>
          </a:xfrm>
          <a:prstGeom prst="straightConnector1">
            <a:avLst/>
          </a:prstGeom>
          <a:noFill/>
          <a:ln cap="flat" cmpd="sng" w="9525">
            <a:solidFill>
              <a:srgbClr val="555555"/>
            </a:solidFill>
            <a:prstDash val="solid"/>
            <a:round/>
            <a:headEnd len="sm" w="sm" type="none"/>
            <a:tailEnd len="sm" w="sm" type="none"/>
          </a:ln>
        </p:spPr>
      </p:cxnSp>
      <p:cxnSp>
        <p:nvCxnSpPr>
          <p:cNvPr id="301" name="Google Shape;301;p12"/>
          <p:cNvCxnSpPr/>
          <p:nvPr/>
        </p:nvCxnSpPr>
        <p:spPr>
          <a:xfrm>
            <a:off x="10012680" y="6163056"/>
            <a:ext cx="1645920" cy="0"/>
          </a:xfrm>
          <a:prstGeom prst="straightConnector1">
            <a:avLst/>
          </a:prstGeom>
          <a:noFill/>
          <a:ln cap="flat" cmpd="sng" w="9525">
            <a:solidFill>
              <a:srgbClr val="555555"/>
            </a:solidFill>
            <a:prstDash val="solid"/>
            <a:round/>
            <a:headEnd len="sm" w="sm" type="none"/>
            <a:tailEnd len="sm" w="sm" type="none"/>
          </a:ln>
        </p:spPr>
      </p:cxnSp>
      <p:sp>
        <p:nvSpPr>
          <p:cNvPr id="302" name="Google Shape;302;p12"/>
          <p:cNvSpPr/>
          <p:nvPr/>
        </p:nvSpPr>
        <p:spPr>
          <a:xfrm>
            <a:off x="640080" y="566928"/>
            <a:ext cx="109728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2700"/>
              <a:buFont typeface="Play"/>
              <a:buNone/>
            </a:pPr>
            <a:r>
              <a:rPr b="1" i="0" lang="en-US" sz="2700" u="none" cap="none" strike="noStrike">
                <a:solidFill>
                  <a:srgbClr val="F3F3F3"/>
                </a:solidFill>
                <a:latin typeface="Play"/>
                <a:ea typeface="Play"/>
                <a:cs typeface="Play"/>
                <a:sym typeface="Play"/>
              </a:rPr>
              <a:t>Engineering Design Starts With a Problem</a:t>
            </a:r>
            <a:endParaRPr b="0" i="0" sz="2700" u="none" cap="none" strike="noStrike">
              <a:solidFill>
                <a:schemeClr val="dk1"/>
              </a:solidFill>
              <a:latin typeface="Arial"/>
              <a:ea typeface="Arial"/>
              <a:cs typeface="Arial"/>
              <a:sym typeface="Arial"/>
            </a:endParaRPr>
          </a:p>
        </p:txBody>
      </p:sp>
      <p:sp>
        <p:nvSpPr>
          <p:cNvPr id="303" name="Google Shape;303;p12"/>
          <p:cNvSpPr/>
          <p:nvPr/>
        </p:nvSpPr>
        <p:spPr>
          <a:xfrm>
            <a:off x="640080" y="1078992"/>
            <a:ext cx="1051560"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2"/>
          <p:cNvSpPr/>
          <p:nvPr/>
        </p:nvSpPr>
        <p:spPr>
          <a:xfrm>
            <a:off x="658368" y="1188720"/>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600"/>
              <a:buFont typeface="Arial"/>
              <a:buNone/>
            </a:pPr>
            <a:r>
              <a:rPr b="0" i="0" lang="en-US" sz="1600" u="none" cap="none" strike="noStrike">
                <a:solidFill>
                  <a:srgbClr val="A6A6A6"/>
                </a:solidFill>
                <a:latin typeface="Arial"/>
                <a:ea typeface="Arial"/>
                <a:cs typeface="Arial"/>
                <a:sym typeface="Arial"/>
              </a:rPr>
              <a:t>Engineering projects are judged by performance, criteria, and constraints.</a:t>
            </a:r>
            <a:endParaRPr b="0" i="0" sz="1600" u="none" cap="none" strike="noStrike">
              <a:solidFill>
                <a:schemeClr val="dk1"/>
              </a:solidFill>
              <a:latin typeface="Arial"/>
              <a:ea typeface="Arial"/>
              <a:cs typeface="Arial"/>
              <a:sym typeface="Arial"/>
            </a:endParaRPr>
          </a:p>
        </p:txBody>
      </p:sp>
      <p:sp>
        <p:nvSpPr>
          <p:cNvPr id="305" name="Google Shape;305;p12"/>
          <p:cNvSpPr/>
          <p:nvPr/>
        </p:nvSpPr>
        <p:spPr>
          <a:xfrm>
            <a:off x="777240" y="1600200"/>
            <a:ext cx="3337560" cy="182880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2"/>
          <p:cNvSpPr/>
          <p:nvPr/>
        </p:nvSpPr>
        <p:spPr>
          <a:xfrm>
            <a:off x="777240" y="1600200"/>
            <a:ext cx="54864" cy="182880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2"/>
          <p:cNvSpPr/>
          <p:nvPr/>
        </p:nvSpPr>
        <p:spPr>
          <a:xfrm>
            <a:off x="932688" y="1719072"/>
            <a:ext cx="3063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Problem or Need</a:t>
            </a:r>
            <a:endParaRPr b="0" i="0" sz="1500" u="none" cap="none" strike="noStrike">
              <a:solidFill>
                <a:schemeClr val="dk1"/>
              </a:solidFill>
              <a:latin typeface="Arial"/>
              <a:ea typeface="Arial"/>
              <a:cs typeface="Arial"/>
              <a:sym typeface="Arial"/>
            </a:endParaRPr>
          </a:p>
        </p:txBody>
      </p:sp>
      <p:sp>
        <p:nvSpPr>
          <p:cNvPr id="308" name="Google Shape;308;p12"/>
          <p:cNvSpPr/>
          <p:nvPr/>
        </p:nvSpPr>
        <p:spPr>
          <a:xfrm>
            <a:off x="932688" y="2075688"/>
            <a:ext cx="3063240" cy="1261872"/>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What situation needs a better solution? Who or what benefits?</a:t>
            </a:r>
            <a:endParaRPr b="0" i="0" sz="1350" u="none" cap="none" strike="noStrike">
              <a:solidFill>
                <a:schemeClr val="dk1"/>
              </a:solidFill>
              <a:latin typeface="Arial"/>
              <a:ea typeface="Arial"/>
              <a:cs typeface="Arial"/>
              <a:sym typeface="Arial"/>
            </a:endParaRPr>
          </a:p>
        </p:txBody>
      </p:sp>
      <p:sp>
        <p:nvSpPr>
          <p:cNvPr id="309" name="Google Shape;309;p12"/>
          <p:cNvSpPr/>
          <p:nvPr/>
        </p:nvSpPr>
        <p:spPr>
          <a:xfrm>
            <a:off x="4434840" y="1600200"/>
            <a:ext cx="3337560" cy="182880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2"/>
          <p:cNvSpPr/>
          <p:nvPr/>
        </p:nvSpPr>
        <p:spPr>
          <a:xfrm>
            <a:off x="4434840" y="1600200"/>
            <a:ext cx="54864" cy="182880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2"/>
          <p:cNvSpPr/>
          <p:nvPr/>
        </p:nvSpPr>
        <p:spPr>
          <a:xfrm>
            <a:off x="4590288" y="1719072"/>
            <a:ext cx="3063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Criteria</a:t>
            </a:r>
            <a:endParaRPr b="0" i="0" sz="1500" u="none" cap="none" strike="noStrike">
              <a:solidFill>
                <a:schemeClr val="dk1"/>
              </a:solidFill>
              <a:latin typeface="Arial"/>
              <a:ea typeface="Arial"/>
              <a:cs typeface="Arial"/>
              <a:sym typeface="Arial"/>
            </a:endParaRPr>
          </a:p>
        </p:txBody>
      </p:sp>
      <p:sp>
        <p:nvSpPr>
          <p:cNvPr id="312" name="Google Shape;312;p12"/>
          <p:cNvSpPr/>
          <p:nvPr/>
        </p:nvSpPr>
        <p:spPr>
          <a:xfrm>
            <a:off x="4590288" y="2075688"/>
            <a:ext cx="3063240" cy="1261872"/>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What must the design do to count as successful?</a:t>
            </a:r>
            <a:endParaRPr b="0" i="0" sz="1350" u="none" cap="none" strike="noStrike">
              <a:solidFill>
                <a:schemeClr val="dk1"/>
              </a:solidFill>
              <a:latin typeface="Arial"/>
              <a:ea typeface="Arial"/>
              <a:cs typeface="Arial"/>
              <a:sym typeface="Arial"/>
            </a:endParaRPr>
          </a:p>
        </p:txBody>
      </p:sp>
      <p:sp>
        <p:nvSpPr>
          <p:cNvPr id="313" name="Google Shape;313;p12"/>
          <p:cNvSpPr/>
          <p:nvPr/>
        </p:nvSpPr>
        <p:spPr>
          <a:xfrm>
            <a:off x="8092440" y="1600200"/>
            <a:ext cx="3337560" cy="182880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2"/>
          <p:cNvSpPr/>
          <p:nvPr/>
        </p:nvSpPr>
        <p:spPr>
          <a:xfrm>
            <a:off x="8092440" y="1600200"/>
            <a:ext cx="54864" cy="182880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2"/>
          <p:cNvSpPr/>
          <p:nvPr/>
        </p:nvSpPr>
        <p:spPr>
          <a:xfrm>
            <a:off x="8247888" y="1719072"/>
            <a:ext cx="3063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Constraints</a:t>
            </a:r>
            <a:endParaRPr b="0" i="0" sz="1500" u="none" cap="none" strike="noStrike">
              <a:solidFill>
                <a:schemeClr val="dk1"/>
              </a:solidFill>
              <a:latin typeface="Arial"/>
              <a:ea typeface="Arial"/>
              <a:cs typeface="Arial"/>
              <a:sym typeface="Arial"/>
            </a:endParaRPr>
          </a:p>
        </p:txBody>
      </p:sp>
      <p:sp>
        <p:nvSpPr>
          <p:cNvPr id="316" name="Google Shape;316;p12"/>
          <p:cNvSpPr/>
          <p:nvPr/>
        </p:nvSpPr>
        <p:spPr>
          <a:xfrm>
            <a:off x="8247888" y="2075688"/>
            <a:ext cx="3063240" cy="1261872"/>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What limits the design? Time, cost, size, safety, materials, tools.</a:t>
            </a:r>
            <a:endParaRPr b="0" i="0" sz="1350" u="none" cap="none" strike="noStrike">
              <a:solidFill>
                <a:schemeClr val="dk1"/>
              </a:solidFill>
              <a:latin typeface="Arial"/>
              <a:ea typeface="Arial"/>
              <a:cs typeface="Arial"/>
              <a:sym typeface="Arial"/>
            </a:endParaRPr>
          </a:p>
        </p:txBody>
      </p:sp>
      <p:sp>
        <p:nvSpPr>
          <p:cNvPr id="317" name="Google Shape;317;p12"/>
          <p:cNvSpPr/>
          <p:nvPr/>
        </p:nvSpPr>
        <p:spPr>
          <a:xfrm>
            <a:off x="960120" y="3675888"/>
            <a:ext cx="3200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300"/>
              <a:buFont typeface="Arial"/>
              <a:buNone/>
            </a:pPr>
            <a:r>
              <a:rPr b="1" i="0" lang="en-US" sz="1300" u="none" cap="none" strike="noStrike">
                <a:solidFill>
                  <a:srgbClr val="A6A6A6"/>
                </a:solidFill>
                <a:latin typeface="Arial"/>
                <a:ea typeface="Arial"/>
                <a:cs typeface="Arial"/>
                <a:sym typeface="Arial"/>
              </a:rPr>
              <a:t>Engineering design sentence:</a:t>
            </a:r>
            <a:endParaRPr b="0" i="0" sz="1300" u="none" cap="none" strike="noStrike">
              <a:solidFill>
                <a:schemeClr val="dk1"/>
              </a:solidFill>
              <a:latin typeface="Arial"/>
              <a:ea typeface="Arial"/>
              <a:cs typeface="Arial"/>
              <a:sym typeface="Arial"/>
            </a:endParaRPr>
          </a:p>
        </p:txBody>
      </p:sp>
      <p:sp>
        <p:nvSpPr>
          <p:cNvPr id="318" name="Google Shape;318;p12"/>
          <p:cNvSpPr/>
          <p:nvPr/>
        </p:nvSpPr>
        <p:spPr>
          <a:xfrm>
            <a:off x="960120" y="3977640"/>
            <a:ext cx="101498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900"/>
              <a:buFont typeface="Arial"/>
              <a:buNone/>
            </a:pPr>
            <a:r>
              <a:rPr b="1" i="0" lang="en-US" sz="1900" u="none" cap="none" strike="noStrike">
                <a:solidFill>
                  <a:srgbClr val="F3F3F3"/>
                </a:solidFill>
                <a:latin typeface="Arial"/>
                <a:ea typeface="Arial"/>
                <a:cs typeface="Arial"/>
                <a:sym typeface="Arial"/>
              </a:rPr>
              <a:t>Design a solution that [does X] while meeting [criteria] within [constraints].</a:t>
            </a:r>
            <a:endParaRPr b="0" i="0" sz="1900" u="none" cap="none" strike="noStrike">
              <a:solidFill>
                <a:schemeClr val="dk1"/>
              </a:solidFill>
              <a:latin typeface="Arial"/>
              <a:ea typeface="Arial"/>
              <a:cs typeface="Arial"/>
              <a:sym typeface="Arial"/>
            </a:endParaRPr>
          </a:p>
        </p:txBody>
      </p:sp>
      <p:sp>
        <p:nvSpPr>
          <p:cNvPr id="319" name="Google Shape;319;p12"/>
          <p:cNvSpPr/>
          <p:nvPr/>
        </p:nvSpPr>
        <p:spPr>
          <a:xfrm>
            <a:off x="731520" y="4709160"/>
            <a:ext cx="10744200" cy="1097280"/>
          </a:xfrm>
          <a:prstGeom prst="rect">
            <a:avLst/>
          </a:prstGeom>
          <a:solidFill>
            <a:srgbClr val="080808"/>
          </a:solidFill>
          <a:ln cap="flat" cmpd="sng" w="10150">
            <a:solidFill>
              <a:srgbClr val="5555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2"/>
          <p:cNvSpPr/>
          <p:nvPr/>
        </p:nvSpPr>
        <p:spPr>
          <a:xfrm>
            <a:off x="731520" y="4709160"/>
            <a:ext cx="1828800" cy="2743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2"/>
          <p:cNvSpPr/>
          <p:nvPr/>
        </p:nvSpPr>
        <p:spPr>
          <a:xfrm>
            <a:off x="868680" y="4764024"/>
            <a:ext cx="155448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F3F3"/>
              </a:buClr>
              <a:buSzPts val="750"/>
              <a:buFont typeface="Arial"/>
              <a:buNone/>
            </a:pPr>
            <a:r>
              <a:rPr b="1" i="0" lang="en-US" sz="750" u="none" cap="none" strike="noStrike">
                <a:solidFill>
                  <a:srgbClr val="F3F3F3"/>
                </a:solidFill>
                <a:latin typeface="Arial"/>
                <a:ea typeface="Arial"/>
                <a:cs typeface="Arial"/>
                <a:sym typeface="Arial"/>
              </a:rPr>
              <a:t>STUDENT ACTIVITY</a:t>
            </a:r>
            <a:endParaRPr b="0" i="0" sz="750" u="none" cap="none" strike="noStrike">
              <a:solidFill>
                <a:schemeClr val="dk1"/>
              </a:solidFill>
              <a:latin typeface="Arial"/>
              <a:ea typeface="Arial"/>
              <a:cs typeface="Arial"/>
              <a:sym typeface="Arial"/>
            </a:endParaRPr>
          </a:p>
        </p:txBody>
      </p:sp>
      <p:sp>
        <p:nvSpPr>
          <p:cNvPr id="322" name="Google Shape;322;p12"/>
          <p:cNvSpPr/>
          <p:nvPr/>
        </p:nvSpPr>
        <p:spPr>
          <a:xfrm>
            <a:off x="868680" y="5138928"/>
            <a:ext cx="39319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700"/>
              <a:buFont typeface="Play"/>
              <a:buNone/>
            </a:pPr>
            <a:r>
              <a:rPr b="1" i="0" lang="en-US" sz="1700" u="none" cap="none" strike="noStrike">
                <a:solidFill>
                  <a:srgbClr val="F3F3F3"/>
                </a:solidFill>
                <a:latin typeface="Play"/>
                <a:ea typeface="Play"/>
                <a:cs typeface="Play"/>
                <a:sym typeface="Play"/>
              </a:rPr>
              <a:t>Frame an engineering problem.</a:t>
            </a:r>
            <a:endParaRPr b="0" i="0" sz="1700" u="none" cap="none" strike="noStrike">
              <a:solidFill>
                <a:schemeClr val="dk1"/>
              </a:solidFill>
              <a:latin typeface="Arial"/>
              <a:ea typeface="Arial"/>
              <a:cs typeface="Arial"/>
              <a:sym typeface="Arial"/>
            </a:endParaRPr>
          </a:p>
        </p:txBody>
      </p:sp>
      <p:sp>
        <p:nvSpPr>
          <p:cNvPr id="323" name="Google Shape;323;p12"/>
          <p:cNvSpPr/>
          <p:nvPr/>
        </p:nvSpPr>
        <p:spPr>
          <a:xfrm>
            <a:off x="4892040" y="5056632"/>
            <a:ext cx="60807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320"/>
              <a:buFont typeface="Arial"/>
              <a:buNone/>
            </a:pPr>
            <a:r>
              <a:rPr b="0" i="0" lang="en-US" sz="1320" u="none" cap="none" strike="noStrike">
                <a:solidFill>
                  <a:srgbClr val="F3F3F3"/>
                </a:solidFill>
                <a:latin typeface="Arial"/>
                <a:ea typeface="Arial"/>
                <a:cs typeface="Arial"/>
                <a:sym typeface="Arial"/>
              </a:rPr>
              <a:t>If your project builds or improves something, write the problem, criteria, and constraints in one sentence.</a:t>
            </a:r>
            <a:endParaRPr b="0" i="0" sz="1320" u="none" cap="none" strike="noStrike">
              <a:solidFill>
                <a:schemeClr val="dk1"/>
              </a:solidFill>
              <a:latin typeface="Arial"/>
              <a:ea typeface="Arial"/>
              <a:cs typeface="Arial"/>
              <a:sym typeface="Arial"/>
            </a:endParaRPr>
          </a:p>
        </p:txBody>
      </p:sp>
      <p:sp>
        <p:nvSpPr>
          <p:cNvPr id="324" name="Google Shape;324;p12"/>
          <p:cNvSpPr/>
          <p:nvPr/>
        </p:nvSpPr>
        <p:spPr>
          <a:xfrm>
            <a:off x="11201400" y="5742432"/>
            <a:ext cx="411480" cy="2103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6A6A6"/>
              </a:buClr>
              <a:buSzPts val="800"/>
              <a:buFont typeface="Arial"/>
              <a:buNone/>
            </a:pPr>
            <a:r>
              <a:rPr b="0" i="0" lang="en-US" sz="800" u="none" cap="none" strike="noStrike">
                <a:solidFill>
                  <a:srgbClr val="A6A6A6"/>
                </a:solidFill>
                <a:latin typeface="Arial"/>
                <a:ea typeface="Arial"/>
                <a:cs typeface="Arial"/>
                <a:sym typeface="Arial"/>
              </a:rPr>
              <a:t>09</a:t>
            </a:r>
            <a:endParaRPr b="0" i="0" sz="8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329" name="Shape 329"/>
        <p:cNvGrpSpPr/>
        <p:nvPr/>
      </p:nvGrpSpPr>
      <p:grpSpPr>
        <a:xfrm>
          <a:off x="0" y="0"/>
          <a:ext cx="0" cy="0"/>
          <a:chOff x="0" y="0"/>
          <a:chExt cx="0" cy="0"/>
        </a:xfrm>
      </p:grpSpPr>
      <p:sp>
        <p:nvSpPr>
          <p:cNvPr id="330" name="Google Shape;330;p13"/>
          <p:cNvSpPr/>
          <p:nvPr/>
        </p:nvSpPr>
        <p:spPr>
          <a:xfrm>
            <a:off x="0" y="292608"/>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3"/>
          <p:cNvSpPr/>
          <p:nvPr/>
        </p:nvSpPr>
        <p:spPr>
          <a:xfrm>
            <a:off x="0" y="6528816"/>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3"/>
          <p:cNvSpPr/>
          <p:nvPr/>
        </p:nvSpPr>
        <p:spPr>
          <a:xfrm>
            <a:off x="438912" y="6272784"/>
            <a:ext cx="29260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ENGINEERING DESIGN</a:t>
            </a:r>
            <a:endParaRPr b="0" i="0" sz="850" u="none" cap="none" strike="noStrike">
              <a:solidFill>
                <a:schemeClr val="dk1"/>
              </a:solidFill>
              <a:latin typeface="Arial"/>
              <a:ea typeface="Arial"/>
              <a:cs typeface="Arial"/>
              <a:sym typeface="Arial"/>
            </a:endParaRPr>
          </a:p>
        </p:txBody>
      </p:sp>
      <p:sp>
        <p:nvSpPr>
          <p:cNvPr id="333" name="Google Shape;333;p13"/>
          <p:cNvSpPr/>
          <p:nvPr/>
        </p:nvSpPr>
        <p:spPr>
          <a:xfrm>
            <a:off x="10195560" y="6272784"/>
            <a:ext cx="141732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STARLAB</a:t>
            </a:r>
            <a:endParaRPr b="0" i="0" sz="850" u="none" cap="none" strike="noStrike">
              <a:solidFill>
                <a:schemeClr val="dk1"/>
              </a:solidFill>
              <a:latin typeface="Arial"/>
              <a:ea typeface="Arial"/>
              <a:cs typeface="Arial"/>
              <a:sym typeface="Arial"/>
            </a:endParaRPr>
          </a:p>
        </p:txBody>
      </p:sp>
      <p:cxnSp>
        <p:nvCxnSpPr>
          <p:cNvPr id="334" name="Google Shape;334;p13"/>
          <p:cNvCxnSpPr/>
          <p:nvPr/>
        </p:nvCxnSpPr>
        <p:spPr>
          <a:xfrm>
            <a:off x="438912" y="6163056"/>
            <a:ext cx="2011680" cy="0"/>
          </a:xfrm>
          <a:prstGeom prst="straightConnector1">
            <a:avLst/>
          </a:prstGeom>
          <a:noFill/>
          <a:ln cap="flat" cmpd="sng" w="9525">
            <a:solidFill>
              <a:srgbClr val="555555"/>
            </a:solidFill>
            <a:prstDash val="solid"/>
            <a:round/>
            <a:headEnd len="sm" w="sm" type="none"/>
            <a:tailEnd len="sm" w="sm" type="none"/>
          </a:ln>
        </p:spPr>
      </p:cxnSp>
      <p:cxnSp>
        <p:nvCxnSpPr>
          <p:cNvPr id="335" name="Google Shape;335;p13"/>
          <p:cNvCxnSpPr/>
          <p:nvPr/>
        </p:nvCxnSpPr>
        <p:spPr>
          <a:xfrm>
            <a:off x="10012680" y="6163056"/>
            <a:ext cx="1645920" cy="0"/>
          </a:xfrm>
          <a:prstGeom prst="straightConnector1">
            <a:avLst/>
          </a:prstGeom>
          <a:noFill/>
          <a:ln cap="flat" cmpd="sng" w="9525">
            <a:solidFill>
              <a:srgbClr val="555555"/>
            </a:solidFill>
            <a:prstDash val="solid"/>
            <a:round/>
            <a:headEnd len="sm" w="sm" type="none"/>
            <a:tailEnd len="sm" w="sm" type="none"/>
          </a:ln>
        </p:spPr>
      </p:cxnSp>
      <p:sp>
        <p:nvSpPr>
          <p:cNvPr id="336" name="Google Shape;336;p13"/>
          <p:cNvSpPr/>
          <p:nvPr/>
        </p:nvSpPr>
        <p:spPr>
          <a:xfrm>
            <a:off x="640080" y="566928"/>
            <a:ext cx="109728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2700"/>
              <a:buFont typeface="Play"/>
              <a:buNone/>
            </a:pPr>
            <a:r>
              <a:rPr b="1" i="0" lang="en-US" sz="2700" u="none" cap="none" strike="noStrike">
                <a:solidFill>
                  <a:srgbClr val="F3F3F3"/>
                </a:solidFill>
                <a:latin typeface="Play"/>
                <a:ea typeface="Play"/>
                <a:cs typeface="Play"/>
                <a:sym typeface="Play"/>
              </a:rPr>
              <a:t>The Design Cycle Is Evidence-Based</a:t>
            </a:r>
            <a:endParaRPr b="0" i="0" sz="2700" u="none" cap="none" strike="noStrike">
              <a:solidFill>
                <a:schemeClr val="dk1"/>
              </a:solidFill>
              <a:latin typeface="Arial"/>
              <a:ea typeface="Arial"/>
              <a:cs typeface="Arial"/>
              <a:sym typeface="Arial"/>
            </a:endParaRPr>
          </a:p>
        </p:txBody>
      </p:sp>
      <p:sp>
        <p:nvSpPr>
          <p:cNvPr id="337" name="Google Shape;337;p13"/>
          <p:cNvSpPr/>
          <p:nvPr/>
        </p:nvSpPr>
        <p:spPr>
          <a:xfrm>
            <a:off x="640080" y="1078992"/>
            <a:ext cx="1051560"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3"/>
          <p:cNvSpPr/>
          <p:nvPr/>
        </p:nvSpPr>
        <p:spPr>
          <a:xfrm>
            <a:off x="658368" y="1188720"/>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600"/>
              <a:buFont typeface="Arial"/>
              <a:buNone/>
            </a:pPr>
            <a:r>
              <a:rPr b="0" i="0" lang="en-US" sz="1600" u="none" cap="none" strike="noStrike">
                <a:solidFill>
                  <a:srgbClr val="A6A6A6"/>
                </a:solidFill>
                <a:latin typeface="Arial"/>
                <a:ea typeface="Arial"/>
                <a:cs typeface="Arial"/>
                <a:sym typeface="Arial"/>
              </a:rPr>
              <a:t>Redesign should be based on test results, not vibes.</a:t>
            </a:r>
            <a:endParaRPr b="0" i="0" sz="1600" u="none" cap="none" strike="noStrike">
              <a:solidFill>
                <a:schemeClr val="dk1"/>
              </a:solidFill>
              <a:latin typeface="Arial"/>
              <a:ea typeface="Arial"/>
              <a:cs typeface="Arial"/>
              <a:sym typeface="Arial"/>
            </a:endParaRPr>
          </a:p>
        </p:txBody>
      </p:sp>
      <p:sp>
        <p:nvSpPr>
          <p:cNvPr id="339" name="Google Shape;339;p13"/>
          <p:cNvSpPr/>
          <p:nvPr/>
        </p:nvSpPr>
        <p:spPr>
          <a:xfrm>
            <a:off x="960120" y="2011680"/>
            <a:ext cx="1417320" cy="68580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3"/>
          <p:cNvSpPr/>
          <p:nvPr/>
        </p:nvSpPr>
        <p:spPr>
          <a:xfrm>
            <a:off x="960120" y="2011680"/>
            <a:ext cx="54864" cy="68580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3"/>
          <p:cNvSpPr/>
          <p:nvPr/>
        </p:nvSpPr>
        <p:spPr>
          <a:xfrm>
            <a:off x="1115568" y="2130552"/>
            <a:ext cx="1143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Problem</a:t>
            </a:r>
            <a:endParaRPr b="0" i="0" sz="1500" u="none" cap="none" strike="noStrike">
              <a:solidFill>
                <a:schemeClr val="dk1"/>
              </a:solidFill>
              <a:latin typeface="Arial"/>
              <a:ea typeface="Arial"/>
              <a:cs typeface="Arial"/>
              <a:sym typeface="Arial"/>
            </a:endParaRPr>
          </a:p>
        </p:txBody>
      </p:sp>
      <p:cxnSp>
        <p:nvCxnSpPr>
          <p:cNvPr id="342" name="Google Shape;342;p13"/>
          <p:cNvCxnSpPr/>
          <p:nvPr/>
        </p:nvCxnSpPr>
        <p:spPr>
          <a:xfrm>
            <a:off x="2414016" y="2359152"/>
            <a:ext cx="320040" cy="0"/>
          </a:xfrm>
          <a:prstGeom prst="straightConnector1">
            <a:avLst/>
          </a:prstGeom>
          <a:noFill/>
          <a:ln cap="flat" cmpd="sng" w="19050">
            <a:solidFill>
              <a:srgbClr val="ED1C24"/>
            </a:solidFill>
            <a:prstDash val="solid"/>
            <a:round/>
            <a:headEnd len="sm" w="sm" type="none"/>
            <a:tailEnd len="med" w="med" type="triangle"/>
          </a:ln>
        </p:spPr>
      </p:cxnSp>
      <p:sp>
        <p:nvSpPr>
          <p:cNvPr id="343" name="Google Shape;343;p13"/>
          <p:cNvSpPr/>
          <p:nvPr/>
        </p:nvSpPr>
        <p:spPr>
          <a:xfrm>
            <a:off x="2743200" y="2011680"/>
            <a:ext cx="1417320" cy="68580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3"/>
          <p:cNvSpPr/>
          <p:nvPr/>
        </p:nvSpPr>
        <p:spPr>
          <a:xfrm>
            <a:off x="2743200" y="2011680"/>
            <a:ext cx="54864" cy="68580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3"/>
          <p:cNvSpPr/>
          <p:nvPr/>
        </p:nvSpPr>
        <p:spPr>
          <a:xfrm>
            <a:off x="2898648" y="2130552"/>
            <a:ext cx="1143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Criteria</a:t>
            </a:r>
            <a:endParaRPr b="0" i="0" sz="1500" u="none" cap="none" strike="noStrike">
              <a:solidFill>
                <a:schemeClr val="dk1"/>
              </a:solidFill>
              <a:latin typeface="Arial"/>
              <a:ea typeface="Arial"/>
              <a:cs typeface="Arial"/>
              <a:sym typeface="Arial"/>
            </a:endParaRPr>
          </a:p>
        </p:txBody>
      </p:sp>
      <p:cxnSp>
        <p:nvCxnSpPr>
          <p:cNvPr id="346" name="Google Shape;346;p13"/>
          <p:cNvCxnSpPr/>
          <p:nvPr/>
        </p:nvCxnSpPr>
        <p:spPr>
          <a:xfrm>
            <a:off x="4197096" y="2359152"/>
            <a:ext cx="320040" cy="0"/>
          </a:xfrm>
          <a:prstGeom prst="straightConnector1">
            <a:avLst/>
          </a:prstGeom>
          <a:noFill/>
          <a:ln cap="flat" cmpd="sng" w="19050">
            <a:solidFill>
              <a:srgbClr val="ED1C24"/>
            </a:solidFill>
            <a:prstDash val="solid"/>
            <a:round/>
            <a:headEnd len="sm" w="sm" type="none"/>
            <a:tailEnd len="med" w="med" type="triangle"/>
          </a:ln>
        </p:spPr>
      </p:cxnSp>
      <p:sp>
        <p:nvSpPr>
          <p:cNvPr id="347" name="Google Shape;347;p13"/>
          <p:cNvSpPr/>
          <p:nvPr/>
        </p:nvSpPr>
        <p:spPr>
          <a:xfrm>
            <a:off x="4526280" y="2011680"/>
            <a:ext cx="1417320" cy="68580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3"/>
          <p:cNvSpPr/>
          <p:nvPr/>
        </p:nvSpPr>
        <p:spPr>
          <a:xfrm>
            <a:off x="4526280" y="2011680"/>
            <a:ext cx="54864" cy="68580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3"/>
          <p:cNvSpPr/>
          <p:nvPr/>
        </p:nvSpPr>
        <p:spPr>
          <a:xfrm>
            <a:off x="4681728" y="2130552"/>
            <a:ext cx="1143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Prototype</a:t>
            </a:r>
            <a:endParaRPr b="0" i="0" sz="1500" u="none" cap="none" strike="noStrike">
              <a:solidFill>
                <a:schemeClr val="dk1"/>
              </a:solidFill>
              <a:latin typeface="Arial"/>
              <a:ea typeface="Arial"/>
              <a:cs typeface="Arial"/>
              <a:sym typeface="Arial"/>
            </a:endParaRPr>
          </a:p>
        </p:txBody>
      </p:sp>
      <p:cxnSp>
        <p:nvCxnSpPr>
          <p:cNvPr id="350" name="Google Shape;350;p13"/>
          <p:cNvCxnSpPr/>
          <p:nvPr/>
        </p:nvCxnSpPr>
        <p:spPr>
          <a:xfrm>
            <a:off x="5980176" y="2359152"/>
            <a:ext cx="320040" cy="0"/>
          </a:xfrm>
          <a:prstGeom prst="straightConnector1">
            <a:avLst/>
          </a:prstGeom>
          <a:noFill/>
          <a:ln cap="flat" cmpd="sng" w="19050">
            <a:solidFill>
              <a:srgbClr val="ED1C24"/>
            </a:solidFill>
            <a:prstDash val="solid"/>
            <a:round/>
            <a:headEnd len="sm" w="sm" type="none"/>
            <a:tailEnd len="med" w="med" type="triangle"/>
          </a:ln>
        </p:spPr>
      </p:cxnSp>
      <p:sp>
        <p:nvSpPr>
          <p:cNvPr id="351" name="Google Shape;351;p13"/>
          <p:cNvSpPr/>
          <p:nvPr/>
        </p:nvSpPr>
        <p:spPr>
          <a:xfrm>
            <a:off x="6309360" y="2011680"/>
            <a:ext cx="1417320" cy="68580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3"/>
          <p:cNvSpPr/>
          <p:nvPr/>
        </p:nvSpPr>
        <p:spPr>
          <a:xfrm>
            <a:off x="6309360" y="2011680"/>
            <a:ext cx="54864" cy="68580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3"/>
          <p:cNvSpPr/>
          <p:nvPr/>
        </p:nvSpPr>
        <p:spPr>
          <a:xfrm>
            <a:off x="6464808" y="2130552"/>
            <a:ext cx="1143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Test</a:t>
            </a:r>
            <a:endParaRPr b="0" i="0" sz="1500" u="none" cap="none" strike="noStrike">
              <a:solidFill>
                <a:schemeClr val="dk1"/>
              </a:solidFill>
              <a:latin typeface="Arial"/>
              <a:ea typeface="Arial"/>
              <a:cs typeface="Arial"/>
              <a:sym typeface="Arial"/>
            </a:endParaRPr>
          </a:p>
        </p:txBody>
      </p:sp>
      <p:cxnSp>
        <p:nvCxnSpPr>
          <p:cNvPr id="354" name="Google Shape;354;p13"/>
          <p:cNvCxnSpPr/>
          <p:nvPr/>
        </p:nvCxnSpPr>
        <p:spPr>
          <a:xfrm>
            <a:off x="7763256" y="2359152"/>
            <a:ext cx="320040" cy="0"/>
          </a:xfrm>
          <a:prstGeom prst="straightConnector1">
            <a:avLst/>
          </a:prstGeom>
          <a:noFill/>
          <a:ln cap="flat" cmpd="sng" w="19050">
            <a:solidFill>
              <a:srgbClr val="ED1C24"/>
            </a:solidFill>
            <a:prstDash val="solid"/>
            <a:round/>
            <a:headEnd len="sm" w="sm" type="none"/>
            <a:tailEnd len="med" w="med" type="triangle"/>
          </a:ln>
        </p:spPr>
      </p:cxnSp>
      <p:sp>
        <p:nvSpPr>
          <p:cNvPr id="355" name="Google Shape;355;p13"/>
          <p:cNvSpPr/>
          <p:nvPr/>
        </p:nvSpPr>
        <p:spPr>
          <a:xfrm>
            <a:off x="8092440" y="2011680"/>
            <a:ext cx="1417320" cy="68580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3"/>
          <p:cNvSpPr/>
          <p:nvPr/>
        </p:nvSpPr>
        <p:spPr>
          <a:xfrm>
            <a:off x="8092440" y="2011680"/>
            <a:ext cx="54864" cy="68580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3"/>
          <p:cNvSpPr/>
          <p:nvPr/>
        </p:nvSpPr>
        <p:spPr>
          <a:xfrm>
            <a:off x="8247888" y="2130552"/>
            <a:ext cx="1143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Analyze</a:t>
            </a:r>
            <a:endParaRPr b="0" i="0" sz="1500" u="none" cap="none" strike="noStrike">
              <a:solidFill>
                <a:schemeClr val="dk1"/>
              </a:solidFill>
              <a:latin typeface="Arial"/>
              <a:ea typeface="Arial"/>
              <a:cs typeface="Arial"/>
              <a:sym typeface="Arial"/>
            </a:endParaRPr>
          </a:p>
        </p:txBody>
      </p:sp>
      <p:cxnSp>
        <p:nvCxnSpPr>
          <p:cNvPr id="358" name="Google Shape;358;p13"/>
          <p:cNvCxnSpPr/>
          <p:nvPr/>
        </p:nvCxnSpPr>
        <p:spPr>
          <a:xfrm>
            <a:off x="9546336" y="2359152"/>
            <a:ext cx="320040" cy="0"/>
          </a:xfrm>
          <a:prstGeom prst="straightConnector1">
            <a:avLst/>
          </a:prstGeom>
          <a:noFill/>
          <a:ln cap="flat" cmpd="sng" w="19050">
            <a:solidFill>
              <a:srgbClr val="ED1C24"/>
            </a:solidFill>
            <a:prstDash val="solid"/>
            <a:round/>
            <a:headEnd len="sm" w="sm" type="none"/>
            <a:tailEnd len="med" w="med" type="triangle"/>
          </a:ln>
        </p:spPr>
      </p:cxnSp>
      <p:sp>
        <p:nvSpPr>
          <p:cNvPr id="359" name="Google Shape;359;p13"/>
          <p:cNvSpPr/>
          <p:nvPr/>
        </p:nvSpPr>
        <p:spPr>
          <a:xfrm>
            <a:off x="9875520" y="2011680"/>
            <a:ext cx="1417320" cy="68580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3"/>
          <p:cNvSpPr/>
          <p:nvPr/>
        </p:nvSpPr>
        <p:spPr>
          <a:xfrm>
            <a:off x="9875520" y="2011680"/>
            <a:ext cx="54864" cy="68580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3"/>
          <p:cNvSpPr/>
          <p:nvPr/>
        </p:nvSpPr>
        <p:spPr>
          <a:xfrm>
            <a:off x="10030968" y="2130552"/>
            <a:ext cx="1143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Redesign</a:t>
            </a:r>
            <a:endParaRPr b="0" i="0" sz="1500" u="none" cap="none" strike="noStrike">
              <a:solidFill>
                <a:schemeClr val="dk1"/>
              </a:solidFill>
              <a:latin typeface="Arial"/>
              <a:ea typeface="Arial"/>
              <a:cs typeface="Arial"/>
              <a:sym typeface="Arial"/>
            </a:endParaRPr>
          </a:p>
        </p:txBody>
      </p:sp>
      <p:sp>
        <p:nvSpPr>
          <p:cNvPr id="362" name="Google Shape;362;p13"/>
          <p:cNvSpPr/>
          <p:nvPr/>
        </p:nvSpPr>
        <p:spPr>
          <a:xfrm>
            <a:off x="1005840" y="3319272"/>
            <a:ext cx="10058400" cy="777240"/>
          </a:xfrm>
          <a:prstGeom prst="rect">
            <a:avLst/>
          </a:prstGeom>
          <a:solidFill>
            <a:srgbClr val="080808"/>
          </a:solidFill>
          <a:ln cap="flat" cmpd="sng" w="10150">
            <a:solidFill>
              <a:srgbClr val="5555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3"/>
          <p:cNvSpPr/>
          <p:nvPr/>
        </p:nvSpPr>
        <p:spPr>
          <a:xfrm>
            <a:off x="1234440" y="3566160"/>
            <a:ext cx="9601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800"/>
              <a:buFont typeface="Arial"/>
              <a:buNone/>
            </a:pPr>
            <a:r>
              <a:rPr b="1" i="0" lang="en-US" sz="1800" u="none" cap="none" strike="noStrike">
                <a:solidFill>
                  <a:srgbClr val="F3F3F3"/>
                </a:solidFill>
                <a:latin typeface="Arial"/>
                <a:ea typeface="Arial"/>
                <a:cs typeface="Arial"/>
                <a:sym typeface="Arial"/>
              </a:rPr>
              <a:t>Prototype testing generates evidence. Evidence tells you what to redesign.</a:t>
            </a:r>
            <a:endParaRPr b="0" i="0" sz="1800" u="none" cap="none" strike="noStrike">
              <a:solidFill>
                <a:schemeClr val="dk1"/>
              </a:solidFill>
              <a:latin typeface="Arial"/>
              <a:ea typeface="Arial"/>
              <a:cs typeface="Arial"/>
              <a:sym typeface="Arial"/>
            </a:endParaRPr>
          </a:p>
        </p:txBody>
      </p:sp>
      <p:sp>
        <p:nvSpPr>
          <p:cNvPr id="364" name="Google Shape;364;p13"/>
          <p:cNvSpPr/>
          <p:nvPr/>
        </p:nvSpPr>
        <p:spPr>
          <a:xfrm>
            <a:off x="731520" y="4709160"/>
            <a:ext cx="10744200" cy="1097280"/>
          </a:xfrm>
          <a:prstGeom prst="rect">
            <a:avLst/>
          </a:prstGeom>
          <a:solidFill>
            <a:srgbClr val="080808"/>
          </a:solidFill>
          <a:ln cap="flat" cmpd="sng" w="10150">
            <a:solidFill>
              <a:srgbClr val="5555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3"/>
          <p:cNvSpPr/>
          <p:nvPr/>
        </p:nvSpPr>
        <p:spPr>
          <a:xfrm>
            <a:off x="731520" y="4709160"/>
            <a:ext cx="1828800" cy="2743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3"/>
          <p:cNvSpPr/>
          <p:nvPr/>
        </p:nvSpPr>
        <p:spPr>
          <a:xfrm>
            <a:off x="868680" y="4764024"/>
            <a:ext cx="155448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F3F3"/>
              </a:buClr>
              <a:buSzPts val="750"/>
              <a:buFont typeface="Arial"/>
              <a:buNone/>
            </a:pPr>
            <a:r>
              <a:rPr b="1" i="0" lang="en-US" sz="750" u="none" cap="none" strike="noStrike">
                <a:solidFill>
                  <a:srgbClr val="F3F3F3"/>
                </a:solidFill>
                <a:latin typeface="Arial"/>
                <a:ea typeface="Arial"/>
                <a:cs typeface="Arial"/>
                <a:sym typeface="Arial"/>
              </a:rPr>
              <a:t>STUDENT ACTIVITY</a:t>
            </a:r>
            <a:endParaRPr b="0" i="0" sz="750" u="none" cap="none" strike="noStrike">
              <a:solidFill>
                <a:schemeClr val="dk1"/>
              </a:solidFill>
              <a:latin typeface="Arial"/>
              <a:ea typeface="Arial"/>
              <a:cs typeface="Arial"/>
              <a:sym typeface="Arial"/>
            </a:endParaRPr>
          </a:p>
        </p:txBody>
      </p:sp>
      <p:sp>
        <p:nvSpPr>
          <p:cNvPr id="367" name="Google Shape;367;p13"/>
          <p:cNvSpPr/>
          <p:nvPr/>
        </p:nvSpPr>
        <p:spPr>
          <a:xfrm>
            <a:off x="868680" y="5138928"/>
            <a:ext cx="39319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700"/>
              <a:buFont typeface="Play"/>
              <a:buNone/>
            </a:pPr>
            <a:r>
              <a:rPr b="1" i="0" lang="en-US" sz="1700" u="none" cap="none" strike="noStrike">
                <a:solidFill>
                  <a:srgbClr val="F3F3F3"/>
                </a:solidFill>
                <a:latin typeface="Play"/>
                <a:ea typeface="Play"/>
                <a:cs typeface="Play"/>
                <a:sym typeface="Play"/>
              </a:rPr>
              <a:t>Design-cycle checkpoint.</a:t>
            </a:r>
            <a:endParaRPr b="0" i="0" sz="1700" u="none" cap="none" strike="noStrike">
              <a:solidFill>
                <a:schemeClr val="dk1"/>
              </a:solidFill>
              <a:latin typeface="Arial"/>
              <a:ea typeface="Arial"/>
              <a:cs typeface="Arial"/>
              <a:sym typeface="Arial"/>
            </a:endParaRPr>
          </a:p>
        </p:txBody>
      </p:sp>
      <p:sp>
        <p:nvSpPr>
          <p:cNvPr id="368" name="Google Shape;368;p13"/>
          <p:cNvSpPr/>
          <p:nvPr/>
        </p:nvSpPr>
        <p:spPr>
          <a:xfrm>
            <a:off x="4892040" y="5056632"/>
            <a:ext cx="60807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320"/>
              <a:buFont typeface="Arial"/>
              <a:buNone/>
            </a:pPr>
            <a:r>
              <a:rPr b="0" i="0" lang="en-US" sz="1320" u="none" cap="none" strike="noStrike">
                <a:solidFill>
                  <a:srgbClr val="F3F3F3"/>
                </a:solidFill>
                <a:latin typeface="Arial"/>
                <a:ea typeface="Arial"/>
                <a:cs typeface="Arial"/>
                <a:sym typeface="Arial"/>
              </a:rPr>
              <a:t>For your project idea, name one possible test result that would force a redesign.</a:t>
            </a:r>
            <a:endParaRPr b="0" i="0" sz="1320" u="none" cap="none" strike="noStrike">
              <a:solidFill>
                <a:schemeClr val="dk1"/>
              </a:solidFill>
              <a:latin typeface="Arial"/>
              <a:ea typeface="Arial"/>
              <a:cs typeface="Arial"/>
              <a:sym typeface="Arial"/>
            </a:endParaRPr>
          </a:p>
        </p:txBody>
      </p:sp>
      <p:sp>
        <p:nvSpPr>
          <p:cNvPr id="369" name="Google Shape;369;p13"/>
          <p:cNvSpPr/>
          <p:nvPr/>
        </p:nvSpPr>
        <p:spPr>
          <a:xfrm>
            <a:off x="11201400" y="5742432"/>
            <a:ext cx="411480" cy="2103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6A6A6"/>
              </a:buClr>
              <a:buSzPts val="800"/>
              <a:buFont typeface="Arial"/>
              <a:buNone/>
            </a:pPr>
            <a:r>
              <a:rPr b="0" i="0" lang="en-US" sz="800" u="none" cap="none" strike="noStrike">
                <a:solidFill>
                  <a:srgbClr val="A6A6A6"/>
                </a:solidFill>
                <a:latin typeface="Arial"/>
                <a:ea typeface="Arial"/>
                <a:cs typeface="Arial"/>
                <a:sym typeface="Arial"/>
              </a:rPr>
              <a:t>10</a:t>
            </a:r>
            <a:endParaRPr b="0" i="0" sz="8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374" name="Shape 374"/>
        <p:cNvGrpSpPr/>
        <p:nvPr/>
      </p:nvGrpSpPr>
      <p:grpSpPr>
        <a:xfrm>
          <a:off x="0" y="0"/>
          <a:ext cx="0" cy="0"/>
          <a:chOff x="0" y="0"/>
          <a:chExt cx="0" cy="0"/>
        </a:xfrm>
      </p:grpSpPr>
      <p:sp>
        <p:nvSpPr>
          <p:cNvPr id="375" name="Google Shape;375;p14"/>
          <p:cNvSpPr/>
          <p:nvPr/>
        </p:nvSpPr>
        <p:spPr>
          <a:xfrm>
            <a:off x="0" y="292608"/>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4"/>
          <p:cNvSpPr/>
          <p:nvPr/>
        </p:nvSpPr>
        <p:spPr>
          <a:xfrm>
            <a:off x="0" y="6528816"/>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4"/>
          <p:cNvSpPr/>
          <p:nvPr/>
        </p:nvSpPr>
        <p:spPr>
          <a:xfrm>
            <a:off x="438912" y="6272784"/>
            <a:ext cx="29260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ENGINEERING DESIGN</a:t>
            </a:r>
            <a:endParaRPr b="0" i="0" sz="850" u="none" cap="none" strike="noStrike">
              <a:solidFill>
                <a:schemeClr val="dk1"/>
              </a:solidFill>
              <a:latin typeface="Arial"/>
              <a:ea typeface="Arial"/>
              <a:cs typeface="Arial"/>
              <a:sym typeface="Arial"/>
            </a:endParaRPr>
          </a:p>
        </p:txBody>
      </p:sp>
      <p:sp>
        <p:nvSpPr>
          <p:cNvPr id="378" name="Google Shape;378;p14"/>
          <p:cNvSpPr/>
          <p:nvPr/>
        </p:nvSpPr>
        <p:spPr>
          <a:xfrm>
            <a:off x="10195560" y="6272784"/>
            <a:ext cx="141732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STARLAB</a:t>
            </a:r>
            <a:endParaRPr b="0" i="0" sz="850" u="none" cap="none" strike="noStrike">
              <a:solidFill>
                <a:schemeClr val="dk1"/>
              </a:solidFill>
              <a:latin typeface="Arial"/>
              <a:ea typeface="Arial"/>
              <a:cs typeface="Arial"/>
              <a:sym typeface="Arial"/>
            </a:endParaRPr>
          </a:p>
        </p:txBody>
      </p:sp>
      <p:cxnSp>
        <p:nvCxnSpPr>
          <p:cNvPr id="379" name="Google Shape;379;p14"/>
          <p:cNvCxnSpPr/>
          <p:nvPr/>
        </p:nvCxnSpPr>
        <p:spPr>
          <a:xfrm>
            <a:off x="438912" y="6163056"/>
            <a:ext cx="2011680" cy="0"/>
          </a:xfrm>
          <a:prstGeom prst="straightConnector1">
            <a:avLst/>
          </a:prstGeom>
          <a:noFill/>
          <a:ln cap="flat" cmpd="sng" w="9525">
            <a:solidFill>
              <a:srgbClr val="555555"/>
            </a:solidFill>
            <a:prstDash val="solid"/>
            <a:round/>
            <a:headEnd len="sm" w="sm" type="none"/>
            <a:tailEnd len="sm" w="sm" type="none"/>
          </a:ln>
        </p:spPr>
      </p:cxnSp>
      <p:cxnSp>
        <p:nvCxnSpPr>
          <p:cNvPr id="380" name="Google Shape;380;p14"/>
          <p:cNvCxnSpPr/>
          <p:nvPr/>
        </p:nvCxnSpPr>
        <p:spPr>
          <a:xfrm>
            <a:off x="10012680" y="6163056"/>
            <a:ext cx="1645920" cy="0"/>
          </a:xfrm>
          <a:prstGeom prst="straightConnector1">
            <a:avLst/>
          </a:prstGeom>
          <a:noFill/>
          <a:ln cap="flat" cmpd="sng" w="9525">
            <a:solidFill>
              <a:srgbClr val="555555"/>
            </a:solidFill>
            <a:prstDash val="solid"/>
            <a:round/>
            <a:headEnd len="sm" w="sm" type="none"/>
            <a:tailEnd len="sm" w="sm" type="none"/>
          </a:ln>
        </p:spPr>
      </p:cxnSp>
      <p:sp>
        <p:nvSpPr>
          <p:cNvPr id="381" name="Google Shape;381;p14"/>
          <p:cNvSpPr/>
          <p:nvPr/>
        </p:nvSpPr>
        <p:spPr>
          <a:xfrm>
            <a:off x="640080" y="566928"/>
            <a:ext cx="109728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2700"/>
              <a:buFont typeface="Play"/>
              <a:buNone/>
            </a:pPr>
            <a:r>
              <a:rPr b="1" i="0" lang="en-US" sz="2700" u="none" cap="none" strike="noStrike">
                <a:solidFill>
                  <a:srgbClr val="F3F3F3"/>
                </a:solidFill>
                <a:latin typeface="Play"/>
                <a:ea typeface="Play"/>
                <a:cs typeface="Play"/>
                <a:sym typeface="Play"/>
              </a:rPr>
              <a:t>Performance Metrics Make “Better” Measurable</a:t>
            </a:r>
            <a:endParaRPr b="0" i="0" sz="2700" u="none" cap="none" strike="noStrike">
              <a:solidFill>
                <a:schemeClr val="dk1"/>
              </a:solidFill>
              <a:latin typeface="Arial"/>
              <a:ea typeface="Arial"/>
              <a:cs typeface="Arial"/>
              <a:sym typeface="Arial"/>
            </a:endParaRPr>
          </a:p>
        </p:txBody>
      </p:sp>
      <p:sp>
        <p:nvSpPr>
          <p:cNvPr id="382" name="Google Shape;382;p14"/>
          <p:cNvSpPr/>
          <p:nvPr/>
        </p:nvSpPr>
        <p:spPr>
          <a:xfrm>
            <a:off x="640080" y="1078992"/>
            <a:ext cx="1051560"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4"/>
          <p:cNvSpPr/>
          <p:nvPr/>
        </p:nvSpPr>
        <p:spPr>
          <a:xfrm>
            <a:off x="658368" y="1188720"/>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600"/>
              <a:buFont typeface="Arial"/>
              <a:buNone/>
            </a:pPr>
            <a:r>
              <a:rPr b="0" i="0" lang="en-US" sz="1600" u="none" cap="none" strike="noStrike">
                <a:solidFill>
                  <a:srgbClr val="A6A6A6"/>
                </a:solidFill>
                <a:latin typeface="Arial"/>
                <a:ea typeface="Arial"/>
                <a:cs typeface="Arial"/>
                <a:sym typeface="Arial"/>
              </a:rPr>
              <a:t>Never accept “better” unless the student defines better.</a:t>
            </a:r>
            <a:endParaRPr b="0" i="0" sz="1600" u="none" cap="none" strike="noStrike">
              <a:solidFill>
                <a:schemeClr val="dk1"/>
              </a:solidFill>
              <a:latin typeface="Arial"/>
              <a:ea typeface="Arial"/>
              <a:cs typeface="Arial"/>
              <a:sym typeface="Arial"/>
            </a:endParaRPr>
          </a:p>
        </p:txBody>
      </p:sp>
      <p:sp>
        <p:nvSpPr>
          <p:cNvPr id="384" name="Google Shape;384;p14"/>
          <p:cNvSpPr/>
          <p:nvPr/>
        </p:nvSpPr>
        <p:spPr>
          <a:xfrm>
            <a:off x="914400" y="1600200"/>
            <a:ext cx="4663440" cy="530352"/>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4"/>
          <p:cNvSpPr/>
          <p:nvPr/>
        </p:nvSpPr>
        <p:spPr>
          <a:xfrm>
            <a:off x="914400" y="1600200"/>
            <a:ext cx="54864" cy="530352"/>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4"/>
          <p:cNvSpPr/>
          <p:nvPr/>
        </p:nvSpPr>
        <p:spPr>
          <a:xfrm>
            <a:off x="1069848" y="1719072"/>
            <a:ext cx="43891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Bridge design</a:t>
            </a:r>
            <a:endParaRPr b="0" i="0" sz="1500" u="none" cap="none" strike="noStrike">
              <a:solidFill>
                <a:schemeClr val="dk1"/>
              </a:solidFill>
              <a:latin typeface="Arial"/>
              <a:ea typeface="Arial"/>
              <a:cs typeface="Arial"/>
              <a:sym typeface="Arial"/>
            </a:endParaRPr>
          </a:p>
        </p:txBody>
      </p:sp>
      <p:sp>
        <p:nvSpPr>
          <p:cNvPr id="387" name="Google Shape;387;p14"/>
          <p:cNvSpPr/>
          <p:nvPr/>
        </p:nvSpPr>
        <p:spPr>
          <a:xfrm flipH="1" rot="10800000">
            <a:off x="1069848" y="2039112"/>
            <a:ext cx="4389120" cy="36576"/>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Load supported per gram of material</a:t>
            </a:r>
            <a:endParaRPr b="0" i="0" sz="1350" u="none" cap="none" strike="noStrike">
              <a:solidFill>
                <a:schemeClr val="dk1"/>
              </a:solidFill>
              <a:latin typeface="Arial"/>
              <a:ea typeface="Arial"/>
              <a:cs typeface="Arial"/>
              <a:sym typeface="Arial"/>
            </a:endParaRPr>
          </a:p>
        </p:txBody>
      </p:sp>
      <p:sp>
        <p:nvSpPr>
          <p:cNvPr id="388" name="Google Shape;388;p14"/>
          <p:cNvSpPr/>
          <p:nvPr/>
        </p:nvSpPr>
        <p:spPr>
          <a:xfrm>
            <a:off x="6217920" y="1600200"/>
            <a:ext cx="4663440" cy="530352"/>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4"/>
          <p:cNvSpPr/>
          <p:nvPr/>
        </p:nvSpPr>
        <p:spPr>
          <a:xfrm>
            <a:off x="6217920" y="1600200"/>
            <a:ext cx="54864" cy="530352"/>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4"/>
          <p:cNvSpPr/>
          <p:nvPr/>
        </p:nvSpPr>
        <p:spPr>
          <a:xfrm>
            <a:off x="6373368" y="1719072"/>
            <a:ext cx="43891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Drone landing</a:t>
            </a:r>
            <a:endParaRPr b="0" i="0" sz="1500" u="none" cap="none" strike="noStrike">
              <a:solidFill>
                <a:schemeClr val="dk1"/>
              </a:solidFill>
              <a:latin typeface="Arial"/>
              <a:ea typeface="Arial"/>
              <a:cs typeface="Arial"/>
              <a:sym typeface="Arial"/>
            </a:endParaRPr>
          </a:p>
        </p:txBody>
      </p:sp>
      <p:sp>
        <p:nvSpPr>
          <p:cNvPr id="391" name="Google Shape;391;p14"/>
          <p:cNvSpPr/>
          <p:nvPr/>
        </p:nvSpPr>
        <p:spPr>
          <a:xfrm flipH="1" rot="10800000">
            <a:off x="6373368" y="2039112"/>
            <a:ext cx="4389120" cy="36576"/>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Percent of accurate target landings</a:t>
            </a:r>
            <a:endParaRPr b="0" i="0" sz="1350" u="none" cap="none" strike="noStrike">
              <a:solidFill>
                <a:schemeClr val="dk1"/>
              </a:solidFill>
              <a:latin typeface="Arial"/>
              <a:ea typeface="Arial"/>
              <a:cs typeface="Arial"/>
              <a:sym typeface="Arial"/>
            </a:endParaRPr>
          </a:p>
        </p:txBody>
      </p:sp>
      <p:sp>
        <p:nvSpPr>
          <p:cNvPr id="392" name="Google Shape;392;p14"/>
          <p:cNvSpPr/>
          <p:nvPr/>
        </p:nvSpPr>
        <p:spPr>
          <a:xfrm>
            <a:off x="914400" y="2313432"/>
            <a:ext cx="4663440" cy="530352"/>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4"/>
          <p:cNvSpPr/>
          <p:nvPr/>
        </p:nvSpPr>
        <p:spPr>
          <a:xfrm>
            <a:off x="914400" y="2313432"/>
            <a:ext cx="54864" cy="530352"/>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4"/>
          <p:cNvSpPr/>
          <p:nvPr/>
        </p:nvSpPr>
        <p:spPr>
          <a:xfrm>
            <a:off x="1069848" y="2432304"/>
            <a:ext cx="43891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Filter prototype</a:t>
            </a:r>
            <a:endParaRPr b="0" i="0" sz="1500" u="none" cap="none" strike="noStrike">
              <a:solidFill>
                <a:schemeClr val="dk1"/>
              </a:solidFill>
              <a:latin typeface="Arial"/>
              <a:ea typeface="Arial"/>
              <a:cs typeface="Arial"/>
              <a:sym typeface="Arial"/>
            </a:endParaRPr>
          </a:p>
        </p:txBody>
      </p:sp>
      <p:sp>
        <p:nvSpPr>
          <p:cNvPr id="395" name="Google Shape;395;p14"/>
          <p:cNvSpPr/>
          <p:nvPr/>
        </p:nvSpPr>
        <p:spPr>
          <a:xfrm flipH="1" rot="10800000">
            <a:off x="1069848" y="2752344"/>
            <a:ext cx="4389120" cy="36576"/>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Turbidity reduction per dollar</a:t>
            </a:r>
            <a:endParaRPr b="0" i="0" sz="1350" u="none" cap="none" strike="noStrike">
              <a:solidFill>
                <a:schemeClr val="dk1"/>
              </a:solidFill>
              <a:latin typeface="Arial"/>
              <a:ea typeface="Arial"/>
              <a:cs typeface="Arial"/>
              <a:sym typeface="Arial"/>
            </a:endParaRPr>
          </a:p>
        </p:txBody>
      </p:sp>
      <p:sp>
        <p:nvSpPr>
          <p:cNvPr id="396" name="Google Shape;396;p14"/>
          <p:cNvSpPr/>
          <p:nvPr/>
        </p:nvSpPr>
        <p:spPr>
          <a:xfrm>
            <a:off x="6217920" y="2313432"/>
            <a:ext cx="4663440" cy="530352"/>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4"/>
          <p:cNvSpPr/>
          <p:nvPr/>
        </p:nvSpPr>
        <p:spPr>
          <a:xfrm>
            <a:off x="6217920" y="2313432"/>
            <a:ext cx="54864" cy="530352"/>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4"/>
          <p:cNvSpPr/>
          <p:nvPr/>
        </p:nvSpPr>
        <p:spPr>
          <a:xfrm>
            <a:off x="6373368" y="2432304"/>
            <a:ext cx="43891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Wind turbine</a:t>
            </a:r>
            <a:endParaRPr b="0" i="0" sz="1500" u="none" cap="none" strike="noStrike">
              <a:solidFill>
                <a:schemeClr val="dk1"/>
              </a:solidFill>
              <a:latin typeface="Arial"/>
              <a:ea typeface="Arial"/>
              <a:cs typeface="Arial"/>
              <a:sym typeface="Arial"/>
            </a:endParaRPr>
          </a:p>
        </p:txBody>
      </p:sp>
      <p:sp>
        <p:nvSpPr>
          <p:cNvPr id="399" name="Google Shape;399;p14"/>
          <p:cNvSpPr/>
          <p:nvPr/>
        </p:nvSpPr>
        <p:spPr>
          <a:xfrm flipH="1" rot="10800000">
            <a:off x="6373368" y="2752344"/>
            <a:ext cx="4389120" cy="36576"/>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Average voltage at fixed fan speed</a:t>
            </a:r>
            <a:endParaRPr b="0" i="0" sz="1350" u="none" cap="none" strike="noStrike">
              <a:solidFill>
                <a:schemeClr val="dk1"/>
              </a:solidFill>
              <a:latin typeface="Arial"/>
              <a:ea typeface="Arial"/>
              <a:cs typeface="Arial"/>
              <a:sym typeface="Arial"/>
            </a:endParaRPr>
          </a:p>
        </p:txBody>
      </p:sp>
      <p:sp>
        <p:nvSpPr>
          <p:cNvPr id="400" name="Google Shape;400;p14"/>
          <p:cNvSpPr/>
          <p:nvPr/>
        </p:nvSpPr>
        <p:spPr>
          <a:xfrm>
            <a:off x="914400" y="3026664"/>
            <a:ext cx="4663440" cy="530352"/>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4"/>
          <p:cNvSpPr/>
          <p:nvPr/>
        </p:nvSpPr>
        <p:spPr>
          <a:xfrm>
            <a:off x="914400" y="3026664"/>
            <a:ext cx="54864" cy="530352"/>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4"/>
          <p:cNvSpPr/>
          <p:nvPr/>
        </p:nvSpPr>
        <p:spPr>
          <a:xfrm>
            <a:off x="1069848" y="3145536"/>
            <a:ext cx="43891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App or model</a:t>
            </a:r>
            <a:endParaRPr b="0" i="0" sz="1500" u="none" cap="none" strike="noStrike">
              <a:solidFill>
                <a:schemeClr val="dk1"/>
              </a:solidFill>
              <a:latin typeface="Arial"/>
              <a:ea typeface="Arial"/>
              <a:cs typeface="Arial"/>
              <a:sym typeface="Arial"/>
            </a:endParaRPr>
          </a:p>
        </p:txBody>
      </p:sp>
      <p:sp>
        <p:nvSpPr>
          <p:cNvPr id="403" name="Google Shape;403;p14"/>
          <p:cNvSpPr/>
          <p:nvPr/>
        </p:nvSpPr>
        <p:spPr>
          <a:xfrm flipH="1" rot="10800000">
            <a:off x="1069848" y="3465576"/>
            <a:ext cx="4389120" cy="36576"/>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Accuracy, error rate, or task completion time</a:t>
            </a:r>
            <a:endParaRPr b="0" i="0" sz="1350" u="none" cap="none" strike="noStrike">
              <a:solidFill>
                <a:schemeClr val="dk1"/>
              </a:solidFill>
              <a:latin typeface="Arial"/>
              <a:ea typeface="Arial"/>
              <a:cs typeface="Arial"/>
              <a:sym typeface="Arial"/>
            </a:endParaRPr>
          </a:p>
        </p:txBody>
      </p:sp>
      <p:sp>
        <p:nvSpPr>
          <p:cNvPr id="404" name="Google Shape;404;p14"/>
          <p:cNvSpPr/>
          <p:nvPr/>
        </p:nvSpPr>
        <p:spPr>
          <a:xfrm>
            <a:off x="6217920" y="3026664"/>
            <a:ext cx="4663440" cy="530352"/>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4"/>
          <p:cNvSpPr/>
          <p:nvPr/>
        </p:nvSpPr>
        <p:spPr>
          <a:xfrm>
            <a:off x="6217920" y="3026664"/>
            <a:ext cx="54864" cy="530352"/>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4"/>
          <p:cNvSpPr/>
          <p:nvPr/>
        </p:nvSpPr>
        <p:spPr>
          <a:xfrm>
            <a:off x="6373368" y="3145536"/>
            <a:ext cx="43891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Material test</a:t>
            </a:r>
            <a:endParaRPr b="0" i="0" sz="1500" u="none" cap="none" strike="noStrike">
              <a:solidFill>
                <a:schemeClr val="dk1"/>
              </a:solidFill>
              <a:latin typeface="Arial"/>
              <a:ea typeface="Arial"/>
              <a:cs typeface="Arial"/>
              <a:sym typeface="Arial"/>
            </a:endParaRPr>
          </a:p>
        </p:txBody>
      </p:sp>
      <p:sp>
        <p:nvSpPr>
          <p:cNvPr id="407" name="Google Shape;407;p14"/>
          <p:cNvSpPr/>
          <p:nvPr/>
        </p:nvSpPr>
        <p:spPr>
          <a:xfrm flipH="1" rot="10800000">
            <a:off x="6373368" y="3465576"/>
            <a:ext cx="4389120" cy="36576"/>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Strength, deformation, failure point</a:t>
            </a:r>
            <a:endParaRPr b="0" i="0" sz="1350" u="none" cap="none" strike="noStrike">
              <a:solidFill>
                <a:schemeClr val="dk1"/>
              </a:solidFill>
              <a:latin typeface="Arial"/>
              <a:ea typeface="Arial"/>
              <a:cs typeface="Arial"/>
              <a:sym typeface="Arial"/>
            </a:endParaRPr>
          </a:p>
        </p:txBody>
      </p:sp>
      <p:sp>
        <p:nvSpPr>
          <p:cNvPr id="408" name="Google Shape;408;p14"/>
          <p:cNvSpPr/>
          <p:nvPr/>
        </p:nvSpPr>
        <p:spPr>
          <a:xfrm>
            <a:off x="731520" y="4709160"/>
            <a:ext cx="10744200" cy="1097280"/>
          </a:xfrm>
          <a:prstGeom prst="rect">
            <a:avLst/>
          </a:prstGeom>
          <a:solidFill>
            <a:srgbClr val="080808"/>
          </a:solidFill>
          <a:ln cap="flat" cmpd="sng" w="10150">
            <a:solidFill>
              <a:srgbClr val="5555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4"/>
          <p:cNvSpPr/>
          <p:nvPr/>
        </p:nvSpPr>
        <p:spPr>
          <a:xfrm>
            <a:off x="731520" y="4709160"/>
            <a:ext cx="1828800" cy="2743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4"/>
          <p:cNvSpPr/>
          <p:nvPr/>
        </p:nvSpPr>
        <p:spPr>
          <a:xfrm>
            <a:off x="868680" y="4764024"/>
            <a:ext cx="155448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F3F3"/>
              </a:buClr>
              <a:buSzPts val="750"/>
              <a:buFont typeface="Arial"/>
              <a:buNone/>
            </a:pPr>
            <a:r>
              <a:rPr b="1" i="0" lang="en-US" sz="750" u="none" cap="none" strike="noStrike">
                <a:solidFill>
                  <a:srgbClr val="F3F3F3"/>
                </a:solidFill>
                <a:latin typeface="Arial"/>
                <a:ea typeface="Arial"/>
                <a:cs typeface="Arial"/>
                <a:sym typeface="Arial"/>
              </a:rPr>
              <a:t>STUDENT ACTIVITY</a:t>
            </a:r>
            <a:endParaRPr b="0" i="0" sz="750" u="none" cap="none" strike="noStrike">
              <a:solidFill>
                <a:schemeClr val="dk1"/>
              </a:solidFill>
              <a:latin typeface="Arial"/>
              <a:ea typeface="Arial"/>
              <a:cs typeface="Arial"/>
              <a:sym typeface="Arial"/>
            </a:endParaRPr>
          </a:p>
        </p:txBody>
      </p:sp>
      <p:sp>
        <p:nvSpPr>
          <p:cNvPr id="411" name="Google Shape;411;p14"/>
          <p:cNvSpPr/>
          <p:nvPr/>
        </p:nvSpPr>
        <p:spPr>
          <a:xfrm>
            <a:off x="868680" y="5138928"/>
            <a:ext cx="39319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700"/>
              <a:buFont typeface="Play"/>
              <a:buNone/>
            </a:pPr>
            <a:r>
              <a:rPr b="1" i="0" lang="en-US" sz="1700" u="none" cap="none" strike="noStrike">
                <a:solidFill>
                  <a:srgbClr val="F3F3F3"/>
                </a:solidFill>
                <a:latin typeface="Play"/>
                <a:ea typeface="Play"/>
                <a:cs typeface="Play"/>
                <a:sym typeface="Play"/>
              </a:rPr>
              <a:t>Define “better.”</a:t>
            </a:r>
            <a:endParaRPr b="0" i="0" sz="1700" u="none" cap="none" strike="noStrike">
              <a:solidFill>
                <a:schemeClr val="dk1"/>
              </a:solidFill>
              <a:latin typeface="Arial"/>
              <a:ea typeface="Arial"/>
              <a:cs typeface="Arial"/>
              <a:sym typeface="Arial"/>
            </a:endParaRPr>
          </a:p>
        </p:txBody>
      </p:sp>
      <p:sp>
        <p:nvSpPr>
          <p:cNvPr id="412" name="Google Shape;412;p14"/>
          <p:cNvSpPr/>
          <p:nvPr/>
        </p:nvSpPr>
        <p:spPr>
          <a:xfrm>
            <a:off x="4892040" y="5056632"/>
            <a:ext cx="60807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320"/>
              <a:buFont typeface="Arial"/>
              <a:buNone/>
            </a:pPr>
            <a:r>
              <a:rPr b="0" i="0" lang="en-US" sz="1320" u="none" cap="none" strike="noStrike">
                <a:solidFill>
                  <a:srgbClr val="F3F3F3"/>
                </a:solidFill>
                <a:latin typeface="Arial"/>
                <a:ea typeface="Arial"/>
                <a:cs typeface="Arial"/>
                <a:sym typeface="Arial"/>
              </a:rPr>
              <a:t>Replace one vague word in your project idea with a measurable performance metric.</a:t>
            </a:r>
            <a:endParaRPr b="0" i="0" sz="1320" u="none" cap="none" strike="noStrike">
              <a:solidFill>
                <a:schemeClr val="dk1"/>
              </a:solidFill>
              <a:latin typeface="Arial"/>
              <a:ea typeface="Arial"/>
              <a:cs typeface="Arial"/>
              <a:sym typeface="Arial"/>
            </a:endParaRPr>
          </a:p>
        </p:txBody>
      </p:sp>
      <p:sp>
        <p:nvSpPr>
          <p:cNvPr id="413" name="Google Shape;413;p14"/>
          <p:cNvSpPr/>
          <p:nvPr/>
        </p:nvSpPr>
        <p:spPr>
          <a:xfrm>
            <a:off x="11201400" y="5742432"/>
            <a:ext cx="411480" cy="2103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6A6A6"/>
              </a:buClr>
              <a:buSzPts val="800"/>
              <a:buFont typeface="Arial"/>
              <a:buNone/>
            </a:pPr>
            <a:r>
              <a:rPr b="0" i="0" lang="en-US" sz="800" u="none" cap="none" strike="noStrike">
                <a:solidFill>
                  <a:srgbClr val="A6A6A6"/>
                </a:solidFill>
                <a:latin typeface="Arial"/>
                <a:ea typeface="Arial"/>
                <a:cs typeface="Arial"/>
                <a:sym typeface="Arial"/>
              </a:rPr>
              <a:t>11</a:t>
            </a:r>
            <a:endParaRPr b="0" i="0" sz="8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418" name="Shape 418"/>
        <p:cNvGrpSpPr/>
        <p:nvPr/>
      </p:nvGrpSpPr>
      <p:grpSpPr>
        <a:xfrm>
          <a:off x="0" y="0"/>
          <a:ext cx="0" cy="0"/>
          <a:chOff x="0" y="0"/>
          <a:chExt cx="0" cy="0"/>
        </a:xfrm>
      </p:grpSpPr>
      <p:sp>
        <p:nvSpPr>
          <p:cNvPr id="419" name="Google Shape;419;p15"/>
          <p:cNvSpPr/>
          <p:nvPr/>
        </p:nvSpPr>
        <p:spPr>
          <a:xfrm>
            <a:off x="0" y="292608"/>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5"/>
          <p:cNvSpPr/>
          <p:nvPr/>
        </p:nvSpPr>
        <p:spPr>
          <a:xfrm>
            <a:off x="0" y="6528816"/>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5"/>
          <p:cNvSpPr/>
          <p:nvPr/>
        </p:nvSpPr>
        <p:spPr>
          <a:xfrm>
            <a:off x="438912" y="6272784"/>
            <a:ext cx="29260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BRIDGE</a:t>
            </a:r>
            <a:endParaRPr b="0" i="0" sz="850" u="none" cap="none" strike="noStrike">
              <a:solidFill>
                <a:schemeClr val="dk1"/>
              </a:solidFill>
              <a:latin typeface="Arial"/>
              <a:ea typeface="Arial"/>
              <a:cs typeface="Arial"/>
              <a:sym typeface="Arial"/>
            </a:endParaRPr>
          </a:p>
        </p:txBody>
      </p:sp>
      <p:sp>
        <p:nvSpPr>
          <p:cNvPr id="422" name="Google Shape;422;p15"/>
          <p:cNvSpPr/>
          <p:nvPr/>
        </p:nvSpPr>
        <p:spPr>
          <a:xfrm>
            <a:off x="10195560" y="6272784"/>
            <a:ext cx="141732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STARLAB</a:t>
            </a:r>
            <a:endParaRPr b="0" i="0" sz="850" u="none" cap="none" strike="noStrike">
              <a:solidFill>
                <a:schemeClr val="dk1"/>
              </a:solidFill>
              <a:latin typeface="Arial"/>
              <a:ea typeface="Arial"/>
              <a:cs typeface="Arial"/>
              <a:sym typeface="Arial"/>
            </a:endParaRPr>
          </a:p>
        </p:txBody>
      </p:sp>
      <p:cxnSp>
        <p:nvCxnSpPr>
          <p:cNvPr id="423" name="Google Shape;423;p15"/>
          <p:cNvCxnSpPr/>
          <p:nvPr/>
        </p:nvCxnSpPr>
        <p:spPr>
          <a:xfrm>
            <a:off x="438912" y="6163056"/>
            <a:ext cx="2011680" cy="0"/>
          </a:xfrm>
          <a:prstGeom prst="straightConnector1">
            <a:avLst/>
          </a:prstGeom>
          <a:noFill/>
          <a:ln cap="flat" cmpd="sng" w="9525">
            <a:solidFill>
              <a:srgbClr val="555555"/>
            </a:solidFill>
            <a:prstDash val="solid"/>
            <a:round/>
            <a:headEnd len="sm" w="sm" type="none"/>
            <a:tailEnd len="sm" w="sm" type="none"/>
          </a:ln>
        </p:spPr>
      </p:cxnSp>
      <p:cxnSp>
        <p:nvCxnSpPr>
          <p:cNvPr id="424" name="Google Shape;424;p15"/>
          <p:cNvCxnSpPr/>
          <p:nvPr/>
        </p:nvCxnSpPr>
        <p:spPr>
          <a:xfrm>
            <a:off x="10012680" y="6163056"/>
            <a:ext cx="1645920" cy="0"/>
          </a:xfrm>
          <a:prstGeom prst="straightConnector1">
            <a:avLst/>
          </a:prstGeom>
          <a:noFill/>
          <a:ln cap="flat" cmpd="sng" w="9525">
            <a:solidFill>
              <a:srgbClr val="555555"/>
            </a:solidFill>
            <a:prstDash val="solid"/>
            <a:round/>
            <a:headEnd len="sm" w="sm" type="none"/>
            <a:tailEnd len="sm" w="sm" type="none"/>
          </a:ln>
        </p:spPr>
      </p:cxnSp>
      <p:sp>
        <p:nvSpPr>
          <p:cNvPr id="425" name="Google Shape;425;p15"/>
          <p:cNvSpPr/>
          <p:nvPr/>
        </p:nvSpPr>
        <p:spPr>
          <a:xfrm>
            <a:off x="640080" y="566928"/>
            <a:ext cx="109728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2700"/>
              <a:buFont typeface="Play"/>
              <a:buNone/>
            </a:pPr>
            <a:r>
              <a:rPr b="1" i="0" lang="en-US" sz="2700" u="none" cap="none" strike="noStrike">
                <a:solidFill>
                  <a:srgbClr val="F3F3F3"/>
                </a:solidFill>
                <a:latin typeface="Play"/>
                <a:ea typeface="Play"/>
                <a:cs typeface="Play"/>
                <a:sym typeface="Play"/>
              </a:rPr>
              <a:t>Same Curiosity, Different Frames</a:t>
            </a:r>
            <a:endParaRPr b="0" i="0" sz="2700" u="none" cap="none" strike="noStrike">
              <a:solidFill>
                <a:schemeClr val="dk1"/>
              </a:solidFill>
              <a:latin typeface="Arial"/>
              <a:ea typeface="Arial"/>
              <a:cs typeface="Arial"/>
              <a:sym typeface="Arial"/>
            </a:endParaRPr>
          </a:p>
        </p:txBody>
      </p:sp>
      <p:sp>
        <p:nvSpPr>
          <p:cNvPr id="426" name="Google Shape;426;p15"/>
          <p:cNvSpPr/>
          <p:nvPr/>
        </p:nvSpPr>
        <p:spPr>
          <a:xfrm>
            <a:off x="640080" y="1078992"/>
            <a:ext cx="1051560"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5"/>
          <p:cNvSpPr/>
          <p:nvPr/>
        </p:nvSpPr>
        <p:spPr>
          <a:xfrm>
            <a:off x="658368" y="1188720"/>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600"/>
              <a:buFont typeface="Arial"/>
              <a:buNone/>
            </a:pPr>
            <a:r>
              <a:rPr b="0" i="0" lang="en-US" sz="1600" u="none" cap="none" strike="noStrike">
                <a:solidFill>
                  <a:srgbClr val="A6A6A6"/>
                </a:solidFill>
                <a:latin typeface="Arial"/>
                <a:ea typeface="Arial"/>
                <a:cs typeface="Arial"/>
                <a:sym typeface="Arial"/>
              </a:rPr>
              <a:t>A topic can become either a science question or an engineering challenge.</a:t>
            </a:r>
            <a:endParaRPr b="0" i="0" sz="1600" u="none" cap="none" strike="noStrike">
              <a:solidFill>
                <a:schemeClr val="dk1"/>
              </a:solidFill>
              <a:latin typeface="Arial"/>
              <a:ea typeface="Arial"/>
              <a:cs typeface="Arial"/>
              <a:sym typeface="Arial"/>
            </a:endParaRPr>
          </a:p>
        </p:txBody>
      </p:sp>
      <p:sp>
        <p:nvSpPr>
          <p:cNvPr id="428" name="Google Shape;428;p15"/>
          <p:cNvSpPr/>
          <p:nvPr/>
        </p:nvSpPr>
        <p:spPr>
          <a:xfrm>
            <a:off x="868680" y="1691640"/>
            <a:ext cx="4800600" cy="201168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5"/>
          <p:cNvSpPr/>
          <p:nvPr/>
        </p:nvSpPr>
        <p:spPr>
          <a:xfrm>
            <a:off x="868680" y="1691640"/>
            <a:ext cx="54864" cy="201168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5"/>
          <p:cNvSpPr/>
          <p:nvPr/>
        </p:nvSpPr>
        <p:spPr>
          <a:xfrm>
            <a:off x="1024128" y="1810512"/>
            <a:ext cx="45262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Experimental Frame</a:t>
            </a:r>
            <a:endParaRPr b="0" i="0" sz="1500" u="none" cap="none" strike="noStrike">
              <a:solidFill>
                <a:schemeClr val="dk1"/>
              </a:solidFill>
              <a:latin typeface="Arial"/>
              <a:ea typeface="Arial"/>
              <a:cs typeface="Arial"/>
              <a:sym typeface="Arial"/>
            </a:endParaRPr>
          </a:p>
        </p:txBody>
      </p:sp>
      <p:sp>
        <p:nvSpPr>
          <p:cNvPr id="431" name="Google Shape;431;p15"/>
          <p:cNvSpPr/>
          <p:nvPr/>
        </p:nvSpPr>
        <p:spPr>
          <a:xfrm>
            <a:off x="1024128" y="2167128"/>
            <a:ext cx="4526280" cy="1444752"/>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How does blade angle affect voltage output in a model wind turbine?</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350"/>
              <a:buFont typeface="Arial"/>
              <a:buNone/>
            </a:pPr>
            <a:r>
              <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Focus: relationship between angle and voltage.</a:t>
            </a:r>
            <a:endParaRPr b="0" i="0" sz="1350" u="none" cap="none" strike="noStrike">
              <a:solidFill>
                <a:schemeClr val="dk1"/>
              </a:solidFill>
              <a:latin typeface="Arial"/>
              <a:ea typeface="Arial"/>
              <a:cs typeface="Arial"/>
              <a:sym typeface="Arial"/>
            </a:endParaRPr>
          </a:p>
        </p:txBody>
      </p:sp>
      <p:sp>
        <p:nvSpPr>
          <p:cNvPr id="432" name="Google Shape;432;p15"/>
          <p:cNvSpPr/>
          <p:nvPr/>
        </p:nvSpPr>
        <p:spPr>
          <a:xfrm>
            <a:off x="6492240" y="1691640"/>
            <a:ext cx="4800600" cy="201168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5"/>
          <p:cNvSpPr/>
          <p:nvPr/>
        </p:nvSpPr>
        <p:spPr>
          <a:xfrm>
            <a:off x="6492240" y="1691640"/>
            <a:ext cx="54864" cy="201168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5"/>
          <p:cNvSpPr/>
          <p:nvPr/>
        </p:nvSpPr>
        <p:spPr>
          <a:xfrm>
            <a:off x="6647688" y="1810512"/>
            <a:ext cx="45262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Engineering Frame</a:t>
            </a:r>
            <a:endParaRPr b="0" i="0" sz="1500" u="none" cap="none" strike="noStrike">
              <a:solidFill>
                <a:schemeClr val="dk1"/>
              </a:solidFill>
              <a:latin typeface="Arial"/>
              <a:ea typeface="Arial"/>
              <a:cs typeface="Arial"/>
              <a:sym typeface="Arial"/>
            </a:endParaRPr>
          </a:p>
        </p:txBody>
      </p:sp>
      <p:sp>
        <p:nvSpPr>
          <p:cNvPr id="435" name="Google Shape;435;p15"/>
          <p:cNvSpPr/>
          <p:nvPr/>
        </p:nvSpPr>
        <p:spPr>
          <a:xfrm>
            <a:off x="6647688" y="2167128"/>
            <a:ext cx="4526280" cy="1444752"/>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Which blade design maximizes voltage output while using less than 20 g of material?</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350"/>
              <a:buFont typeface="Arial"/>
              <a:buNone/>
            </a:pPr>
            <a:r>
              <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Focus: optimized design under constraints.</a:t>
            </a:r>
            <a:endParaRPr b="0" i="0" sz="1350" u="none" cap="none" strike="noStrike">
              <a:solidFill>
                <a:schemeClr val="dk1"/>
              </a:solidFill>
              <a:latin typeface="Arial"/>
              <a:ea typeface="Arial"/>
              <a:cs typeface="Arial"/>
              <a:sym typeface="Arial"/>
            </a:endParaRPr>
          </a:p>
        </p:txBody>
      </p:sp>
      <p:sp>
        <p:nvSpPr>
          <p:cNvPr id="436" name="Google Shape;436;p15"/>
          <p:cNvSpPr/>
          <p:nvPr/>
        </p:nvSpPr>
        <p:spPr>
          <a:xfrm>
            <a:off x="1051560" y="4005072"/>
            <a:ext cx="1005840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F3F3"/>
              </a:buClr>
              <a:buSzPts val="2000"/>
              <a:buFont typeface="Arial"/>
              <a:buNone/>
            </a:pPr>
            <a:r>
              <a:rPr b="1" i="0" lang="en-US" sz="2000" u="none" cap="none" strike="noStrike">
                <a:solidFill>
                  <a:srgbClr val="F3F3F3"/>
                </a:solidFill>
                <a:latin typeface="Arial"/>
                <a:ea typeface="Arial"/>
                <a:cs typeface="Arial"/>
                <a:sym typeface="Arial"/>
              </a:rPr>
              <a:t>Both are valid. They just need different evidence.</a:t>
            </a:r>
            <a:endParaRPr b="0" i="0" sz="2000" u="none" cap="none" strike="noStrike">
              <a:solidFill>
                <a:schemeClr val="dk1"/>
              </a:solidFill>
              <a:latin typeface="Arial"/>
              <a:ea typeface="Arial"/>
              <a:cs typeface="Arial"/>
              <a:sym typeface="Arial"/>
            </a:endParaRPr>
          </a:p>
        </p:txBody>
      </p:sp>
      <p:sp>
        <p:nvSpPr>
          <p:cNvPr id="437" name="Google Shape;437;p15"/>
          <p:cNvSpPr/>
          <p:nvPr/>
        </p:nvSpPr>
        <p:spPr>
          <a:xfrm>
            <a:off x="731520" y="4709160"/>
            <a:ext cx="10744200" cy="1097280"/>
          </a:xfrm>
          <a:prstGeom prst="rect">
            <a:avLst/>
          </a:prstGeom>
          <a:solidFill>
            <a:srgbClr val="080808"/>
          </a:solidFill>
          <a:ln cap="flat" cmpd="sng" w="10150">
            <a:solidFill>
              <a:srgbClr val="5555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5"/>
          <p:cNvSpPr/>
          <p:nvPr/>
        </p:nvSpPr>
        <p:spPr>
          <a:xfrm>
            <a:off x="731520" y="4709160"/>
            <a:ext cx="1828800" cy="2743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5"/>
          <p:cNvSpPr/>
          <p:nvPr/>
        </p:nvSpPr>
        <p:spPr>
          <a:xfrm>
            <a:off x="868680" y="4764024"/>
            <a:ext cx="155448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F3F3"/>
              </a:buClr>
              <a:buSzPts val="750"/>
              <a:buFont typeface="Arial"/>
              <a:buNone/>
            </a:pPr>
            <a:r>
              <a:rPr b="1" i="0" lang="en-US" sz="750" u="none" cap="none" strike="noStrike">
                <a:solidFill>
                  <a:srgbClr val="F3F3F3"/>
                </a:solidFill>
                <a:latin typeface="Arial"/>
                <a:ea typeface="Arial"/>
                <a:cs typeface="Arial"/>
                <a:sym typeface="Arial"/>
              </a:rPr>
              <a:t>STUDENT ACTIVITY</a:t>
            </a:r>
            <a:endParaRPr b="0" i="0" sz="750" u="none" cap="none" strike="noStrike">
              <a:solidFill>
                <a:schemeClr val="dk1"/>
              </a:solidFill>
              <a:latin typeface="Arial"/>
              <a:ea typeface="Arial"/>
              <a:cs typeface="Arial"/>
              <a:sym typeface="Arial"/>
            </a:endParaRPr>
          </a:p>
        </p:txBody>
      </p:sp>
      <p:sp>
        <p:nvSpPr>
          <p:cNvPr id="440" name="Google Shape;440;p15"/>
          <p:cNvSpPr/>
          <p:nvPr/>
        </p:nvSpPr>
        <p:spPr>
          <a:xfrm>
            <a:off x="868680" y="5138928"/>
            <a:ext cx="39319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700"/>
              <a:buFont typeface="Play"/>
              <a:buNone/>
            </a:pPr>
            <a:r>
              <a:rPr b="1" i="0" lang="en-US" sz="1700" u="none" cap="none" strike="noStrike">
                <a:solidFill>
                  <a:srgbClr val="F3F3F3"/>
                </a:solidFill>
                <a:latin typeface="Play"/>
                <a:ea typeface="Play"/>
                <a:cs typeface="Play"/>
                <a:sym typeface="Play"/>
              </a:rPr>
              <a:t>Choose your frame.</a:t>
            </a:r>
            <a:endParaRPr b="0" i="0" sz="1700" u="none" cap="none" strike="noStrike">
              <a:solidFill>
                <a:schemeClr val="dk1"/>
              </a:solidFill>
              <a:latin typeface="Arial"/>
              <a:ea typeface="Arial"/>
              <a:cs typeface="Arial"/>
              <a:sym typeface="Arial"/>
            </a:endParaRPr>
          </a:p>
        </p:txBody>
      </p:sp>
      <p:sp>
        <p:nvSpPr>
          <p:cNvPr id="441" name="Google Shape;441;p15"/>
          <p:cNvSpPr/>
          <p:nvPr/>
        </p:nvSpPr>
        <p:spPr>
          <a:xfrm>
            <a:off x="4892040" y="5056632"/>
            <a:ext cx="60807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320"/>
              <a:buFont typeface="Arial"/>
              <a:buNone/>
            </a:pPr>
            <a:r>
              <a:rPr b="0" i="0" lang="en-US" sz="1320" u="none" cap="none" strike="noStrike">
                <a:solidFill>
                  <a:srgbClr val="F3F3F3"/>
                </a:solidFill>
                <a:latin typeface="Arial"/>
                <a:ea typeface="Arial"/>
                <a:cs typeface="Arial"/>
                <a:sym typeface="Arial"/>
              </a:rPr>
              <a:t>Circle which frame best fits your current idea. Write one sentence explaining why.</a:t>
            </a:r>
            <a:endParaRPr b="0" i="0" sz="1320" u="none" cap="none" strike="noStrike">
              <a:solidFill>
                <a:schemeClr val="dk1"/>
              </a:solidFill>
              <a:latin typeface="Arial"/>
              <a:ea typeface="Arial"/>
              <a:cs typeface="Arial"/>
              <a:sym typeface="Arial"/>
            </a:endParaRPr>
          </a:p>
        </p:txBody>
      </p:sp>
      <p:sp>
        <p:nvSpPr>
          <p:cNvPr id="442" name="Google Shape;442;p15"/>
          <p:cNvSpPr/>
          <p:nvPr/>
        </p:nvSpPr>
        <p:spPr>
          <a:xfrm>
            <a:off x="11201400" y="5742432"/>
            <a:ext cx="411480" cy="2103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6A6A6"/>
              </a:buClr>
              <a:buSzPts val="800"/>
              <a:buFont typeface="Arial"/>
              <a:buNone/>
            </a:pPr>
            <a:r>
              <a:rPr b="0" i="0" lang="en-US" sz="800" u="none" cap="none" strike="noStrike">
                <a:solidFill>
                  <a:srgbClr val="A6A6A6"/>
                </a:solidFill>
                <a:latin typeface="Arial"/>
                <a:ea typeface="Arial"/>
                <a:cs typeface="Arial"/>
                <a:sym typeface="Arial"/>
              </a:rPr>
              <a:t>12</a:t>
            </a:r>
            <a:endParaRPr b="0" i="0" sz="8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447" name="Shape 447"/>
        <p:cNvGrpSpPr/>
        <p:nvPr/>
      </p:nvGrpSpPr>
      <p:grpSpPr>
        <a:xfrm>
          <a:off x="0" y="0"/>
          <a:ext cx="0" cy="0"/>
          <a:chOff x="0" y="0"/>
          <a:chExt cx="0" cy="0"/>
        </a:xfrm>
      </p:grpSpPr>
      <p:sp>
        <p:nvSpPr>
          <p:cNvPr id="448" name="Google Shape;448;p16"/>
          <p:cNvSpPr/>
          <p:nvPr/>
        </p:nvSpPr>
        <p:spPr>
          <a:xfrm>
            <a:off x="0" y="292608"/>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6"/>
          <p:cNvSpPr/>
          <p:nvPr/>
        </p:nvSpPr>
        <p:spPr>
          <a:xfrm>
            <a:off x="0" y="6528816"/>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6"/>
          <p:cNvSpPr/>
          <p:nvPr/>
        </p:nvSpPr>
        <p:spPr>
          <a:xfrm>
            <a:off x="438912" y="6272784"/>
            <a:ext cx="29260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CHECKPOINT</a:t>
            </a:r>
            <a:endParaRPr b="0" i="0" sz="850" u="none" cap="none" strike="noStrike">
              <a:solidFill>
                <a:schemeClr val="dk1"/>
              </a:solidFill>
              <a:latin typeface="Arial"/>
              <a:ea typeface="Arial"/>
              <a:cs typeface="Arial"/>
              <a:sym typeface="Arial"/>
            </a:endParaRPr>
          </a:p>
        </p:txBody>
      </p:sp>
      <p:sp>
        <p:nvSpPr>
          <p:cNvPr id="451" name="Google Shape;451;p16"/>
          <p:cNvSpPr/>
          <p:nvPr/>
        </p:nvSpPr>
        <p:spPr>
          <a:xfrm>
            <a:off x="10195560" y="6272784"/>
            <a:ext cx="141732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STARLAB</a:t>
            </a:r>
            <a:endParaRPr b="0" i="0" sz="850" u="none" cap="none" strike="noStrike">
              <a:solidFill>
                <a:schemeClr val="dk1"/>
              </a:solidFill>
              <a:latin typeface="Arial"/>
              <a:ea typeface="Arial"/>
              <a:cs typeface="Arial"/>
              <a:sym typeface="Arial"/>
            </a:endParaRPr>
          </a:p>
        </p:txBody>
      </p:sp>
      <p:cxnSp>
        <p:nvCxnSpPr>
          <p:cNvPr id="452" name="Google Shape;452;p16"/>
          <p:cNvCxnSpPr/>
          <p:nvPr/>
        </p:nvCxnSpPr>
        <p:spPr>
          <a:xfrm>
            <a:off x="438912" y="6163056"/>
            <a:ext cx="2011680" cy="0"/>
          </a:xfrm>
          <a:prstGeom prst="straightConnector1">
            <a:avLst/>
          </a:prstGeom>
          <a:noFill/>
          <a:ln cap="flat" cmpd="sng" w="9525">
            <a:solidFill>
              <a:srgbClr val="555555"/>
            </a:solidFill>
            <a:prstDash val="solid"/>
            <a:round/>
            <a:headEnd len="sm" w="sm" type="none"/>
            <a:tailEnd len="sm" w="sm" type="none"/>
          </a:ln>
        </p:spPr>
      </p:cxnSp>
      <p:cxnSp>
        <p:nvCxnSpPr>
          <p:cNvPr id="453" name="Google Shape;453;p16"/>
          <p:cNvCxnSpPr/>
          <p:nvPr/>
        </p:nvCxnSpPr>
        <p:spPr>
          <a:xfrm>
            <a:off x="10012680" y="6163056"/>
            <a:ext cx="1645920" cy="0"/>
          </a:xfrm>
          <a:prstGeom prst="straightConnector1">
            <a:avLst/>
          </a:prstGeom>
          <a:noFill/>
          <a:ln cap="flat" cmpd="sng" w="9525">
            <a:solidFill>
              <a:srgbClr val="555555"/>
            </a:solidFill>
            <a:prstDash val="solid"/>
            <a:round/>
            <a:headEnd len="sm" w="sm" type="none"/>
            <a:tailEnd len="sm" w="sm" type="none"/>
          </a:ln>
        </p:spPr>
      </p:cxnSp>
      <p:sp>
        <p:nvSpPr>
          <p:cNvPr id="454" name="Google Shape;454;p16"/>
          <p:cNvSpPr/>
          <p:nvPr/>
        </p:nvSpPr>
        <p:spPr>
          <a:xfrm>
            <a:off x="640080" y="566928"/>
            <a:ext cx="109728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2700"/>
              <a:buFont typeface="Play"/>
              <a:buNone/>
            </a:pPr>
            <a:r>
              <a:rPr b="1" i="0" lang="en-US" sz="2700" u="none" cap="none" strike="noStrike">
                <a:solidFill>
                  <a:srgbClr val="F3F3F3"/>
                </a:solidFill>
                <a:latin typeface="Play"/>
                <a:ea typeface="Play"/>
                <a:cs typeface="Play"/>
                <a:sym typeface="Play"/>
              </a:rPr>
              <a:t>Common Mix-Ups to Catch Early</a:t>
            </a:r>
            <a:endParaRPr b="0" i="0" sz="2700" u="none" cap="none" strike="noStrike">
              <a:solidFill>
                <a:schemeClr val="dk1"/>
              </a:solidFill>
              <a:latin typeface="Arial"/>
              <a:ea typeface="Arial"/>
              <a:cs typeface="Arial"/>
              <a:sym typeface="Arial"/>
            </a:endParaRPr>
          </a:p>
        </p:txBody>
      </p:sp>
      <p:sp>
        <p:nvSpPr>
          <p:cNvPr id="455" name="Google Shape;455;p16"/>
          <p:cNvSpPr/>
          <p:nvPr/>
        </p:nvSpPr>
        <p:spPr>
          <a:xfrm>
            <a:off x="640080" y="1078992"/>
            <a:ext cx="1051560"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6"/>
          <p:cNvSpPr/>
          <p:nvPr/>
        </p:nvSpPr>
        <p:spPr>
          <a:xfrm>
            <a:off x="658368" y="1188720"/>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600"/>
              <a:buFont typeface="Arial"/>
              <a:buNone/>
            </a:pPr>
            <a:r>
              <a:rPr b="0" i="0" lang="en-US" sz="1600" u="none" cap="none" strike="noStrike">
                <a:solidFill>
                  <a:srgbClr val="A6A6A6"/>
                </a:solidFill>
                <a:latin typeface="Arial"/>
                <a:ea typeface="Arial"/>
                <a:cs typeface="Arial"/>
                <a:sym typeface="Arial"/>
              </a:rPr>
              <a:t>Most weak project plans fail because a key term is fuzzy.</a:t>
            </a:r>
            <a:endParaRPr b="0" i="0" sz="1600" u="none" cap="none" strike="noStrike">
              <a:solidFill>
                <a:schemeClr val="dk1"/>
              </a:solidFill>
              <a:latin typeface="Arial"/>
              <a:ea typeface="Arial"/>
              <a:cs typeface="Arial"/>
              <a:sym typeface="Arial"/>
            </a:endParaRPr>
          </a:p>
        </p:txBody>
      </p:sp>
      <p:sp>
        <p:nvSpPr>
          <p:cNvPr id="457" name="Google Shape;457;p16"/>
          <p:cNvSpPr/>
          <p:nvPr/>
        </p:nvSpPr>
        <p:spPr>
          <a:xfrm>
            <a:off x="777240" y="1664208"/>
            <a:ext cx="3154680" cy="1024128"/>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6"/>
          <p:cNvSpPr/>
          <p:nvPr/>
        </p:nvSpPr>
        <p:spPr>
          <a:xfrm>
            <a:off x="777240" y="1664208"/>
            <a:ext cx="54864" cy="1024128"/>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6"/>
          <p:cNvSpPr/>
          <p:nvPr/>
        </p:nvSpPr>
        <p:spPr>
          <a:xfrm>
            <a:off x="932688" y="1783080"/>
            <a:ext cx="2880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Variable vs. value</a:t>
            </a:r>
            <a:endParaRPr b="0" i="0" sz="1500" u="none" cap="none" strike="noStrike">
              <a:solidFill>
                <a:schemeClr val="dk1"/>
              </a:solidFill>
              <a:latin typeface="Arial"/>
              <a:ea typeface="Arial"/>
              <a:cs typeface="Arial"/>
              <a:sym typeface="Arial"/>
            </a:endParaRPr>
          </a:p>
        </p:txBody>
      </p:sp>
      <p:sp>
        <p:nvSpPr>
          <p:cNvPr id="460" name="Google Shape;460;p16"/>
          <p:cNvSpPr/>
          <p:nvPr/>
        </p:nvSpPr>
        <p:spPr>
          <a:xfrm>
            <a:off x="932688" y="2139696"/>
            <a:ext cx="2880360" cy="457200"/>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Variable: fertilizer concentration. Values: 0%, 5%, 10%.</a:t>
            </a:r>
            <a:endParaRPr b="0" i="0" sz="1350" u="none" cap="none" strike="noStrike">
              <a:solidFill>
                <a:schemeClr val="dk1"/>
              </a:solidFill>
              <a:latin typeface="Arial"/>
              <a:ea typeface="Arial"/>
              <a:cs typeface="Arial"/>
              <a:sym typeface="Arial"/>
            </a:endParaRPr>
          </a:p>
        </p:txBody>
      </p:sp>
      <p:sp>
        <p:nvSpPr>
          <p:cNvPr id="461" name="Google Shape;461;p16"/>
          <p:cNvSpPr/>
          <p:nvPr/>
        </p:nvSpPr>
        <p:spPr>
          <a:xfrm>
            <a:off x="4279392" y="1664208"/>
            <a:ext cx="3154680" cy="1024128"/>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6"/>
          <p:cNvSpPr/>
          <p:nvPr/>
        </p:nvSpPr>
        <p:spPr>
          <a:xfrm>
            <a:off x="4279392" y="1664208"/>
            <a:ext cx="54864" cy="1024128"/>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6"/>
          <p:cNvSpPr/>
          <p:nvPr/>
        </p:nvSpPr>
        <p:spPr>
          <a:xfrm>
            <a:off x="4434840" y="1783080"/>
            <a:ext cx="2880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Criteria vs. constraint</a:t>
            </a:r>
            <a:endParaRPr b="0" i="0" sz="1500" u="none" cap="none" strike="noStrike">
              <a:solidFill>
                <a:schemeClr val="dk1"/>
              </a:solidFill>
              <a:latin typeface="Arial"/>
              <a:ea typeface="Arial"/>
              <a:cs typeface="Arial"/>
              <a:sym typeface="Arial"/>
            </a:endParaRPr>
          </a:p>
        </p:txBody>
      </p:sp>
      <p:sp>
        <p:nvSpPr>
          <p:cNvPr id="464" name="Google Shape;464;p16"/>
          <p:cNvSpPr/>
          <p:nvPr/>
        </p:nvSpPr>
        <p:spPr>
          <a:xfrm>
            <a:off x="4434840" y="2139696"/>
            <a:ext cx="2880360" cy="457200"/>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Criteria define success. Constraints define limits.</a:t>
            </a:r>
            <a:endParaRPr b="0" i="0" sz="1350" u="none" cap="none" strike="noStrike">
              <a:solidFill>
                <a:schemeClr val="dk1"/>
              </a:solidFill>
              <a:latin typeface="Arial"/>
              <a:ea typeface="Arial"/>
              <a:cs typeface="Arial"/>
              <a:sym typeface="Arial"/>
            </a:endParaRPr>
          </a:p>
        </p:txBody>
      </p:sp>
      <p:sp>
        <p:nvSpPr>
          <p:cNvPr id="465" name="Google Shape;465;p16"/>
          <p:cNvSpPr/>
          <p:nvPr/>
        </p:nvSpPr>
        <p:spPr>
          <a:xfrm>
            <a:off x="7781544" y="1664208"/>
            <a:ext cx="3154680" cy="1024128"/>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6"/>
          <p:cNvSpPr/>
          <p:nvPr/>
        </p:nvSpPr>
        <p:spPr>
          <a:xfrm>
            <a:off x="7781544" y="1664208"/>
            <a:ext cx="54864" cy="1024128"/>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6"/>
          <p:cNvSpPr/>
          <p:nvPr/>
        </p:nvSpPr>
        <p:spPr>
          <a:xfrm>
            <a:off x="7936992" y="1783080"/>
            <a:ext cx="2880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Data vs. conclusion</a:t>
            </a:r>
            <a:endParaRPr b="0" i="0" sz="1500" u="none" cap="none" strike="noStrike">
              <a:solidFill>
                <a:schemeClr val="dk1"/>
              </a:solidFill>
              <a:latin typeface="Arial"/>
              <a:ea typeface="Arial"/>
              <a:cs typeface="Arial"/>
              <a:sym typeface="Arial"/>
            </a:endParaRPr>
          </a:p>
        </p:txBody>
      </p:sp>
      <p:sp>
        <p:nvSpPr>
          <p:cNvPr id="468" name="Google Shape;468;p16"/>
          <p:cNvSpPr/>
          <p:nvPr/>
        </p:nvSpPr>
        <p:spPr>
          <a:xfrm>
            <a:off x="7936992" y="2139696"/>
            <a:ext cx="2880360" cy="457200"/>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Data are measured results. Conclusions explain what they suggest.</a:t>
            </a:r>
            <a:endParaRPr b="0" i="0" sz="1350" u="none" cap="none" strike="noStrike">
              <a:solidFill>
                <a:schemeClr val="dk1"/>
              </a:solidFill>
              <a:latin typeface="Arial"/>
              <a:ea typeface="Arial"/>
              <a:cs typeface="Arial"/>
              <a:sym typeface="Arial"/>
            </a:endParaRPr>
          </a:p>
        </p:txBody>
      </p:sp>
      <p:sp>
        <p:nvSpPr>
          <p:cNvPr id="469" name="Google Shape;469;p16"/>
          <p:cNvSpPr/>
          <p:nvPr/>
        </p:nvSpPr>
        <p:spPr>
          <a:xfrm>
            <a:off x="777240" y="3081528"/>
            <a:ext cx="3154680" cy="1024128"/>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6"/>
          <p:cNvSpPr/>
          <p:nvPr/>
        </p:nvSpPr>
        <p:spPr>
          <a:xfrm>
            <a:off x="777240" y="3081528"/>
            <a:ext cx="54864" cy="1024128"/>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6"/>
          <p:cNvSpPr/>
          <p:nvPr/>
        </p:nvSpPr>
        <p:spPr>
          <a:xfrm>
            <a:off x="932688" y="3200400"/>
            <a:ext cx="2880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Control vs. controlled</a:t>
            </a:r>
            <a:endParaRPr b="0" i="0" sz="1500" u="none" cap="none" strike="noStrike">
              <a:solidFill>
                <a:schemeClr val="dk1"/>
              </a:solidFill>
              <a:latin typeface="Arial"/>
              <a:ea typeface="Arial"/>
              <a:cs typeface="Arial"/>
              <a:sym typeface="Arial"/>
            </a:endParaRPr>
          </a:p>
        </p:txBody>
      </p:sp>
      <p:sp>
        <p:nvSpPr>
          <p:cNvPr id="472" name="Google Shape;472;p16"/>
          <p:cNvSpPr/>
          <p:nvPr/>
        </p:nvSpPr>
        <p:spPr>
          <a:xfrm>
            <a:off x="932688" y="3557016"/>
            <a:ext cx="2880360" cy="457200"/>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A control group is a comparison. Controlled variables are kept the same.</a:t>
            </a:r>
            <a:endParaRPr b="0" i="0" sz="1350" u="none" cap="none" strike="noStrike">
              <a:solidFill>
                <a:schemeClr val="dk1"/>
              </a:solidFill>
              <a:latin typeface="Arial"/>
              <a:ea typeface="Arial"/>
              <a:cs typeface="Arial"/>
              <a:sym typeface="Arial"/>
            </a:endParaRPr>
          </a:p>
        </p:txBody>
      </p:sp>
      <p:sp>
        <p:nvSpPr>
          <p:cNvPr id="473" name="Google Shape;473;p16"/>
          <p:cNvSpPr/>
          <p:nvPr/>
        </p:nvSpPr>
        <p:spPr>
          <a:xfrm>
            <a:off x="4279392" y="3081528"/>
            <a:ext cx="3154680" cy="1024128"/>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6"/>
          <p:cNvSpPr/>
          <p:nvPr/>
        </p:nvSpPr>
        <p:spPr>
          <a:xfrm>
            <a:off x="4279392" y="3081528"/>
            <a:ext cx="54864" cy="1024128"/>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6"/>
          <p:cNvSpPr/>
          <p:nvPr/>
        </p:nvSpPr>
        <p:spPr>
          <a:xfrm>
            <a:off x="4434840" y="3200400"/>
            <a:ext cx="2880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Trial vs. sample</a:t>
            </a:r>
            <a:endParaRPr b="0" i="0" sz="1500" u="none" cap="none" strike="noStrike">
              <a:solidFill>
                <a:schemeClr val="dk1"/>
              </a:solidFill>
              <a:latin typeface="Arial"/>
              <a:ea typeface="Arial"/>
              <a:cs typeface="Arial"/>
              <a:sym typeface="Arial"/>
            </a:endParaRPr>
          </a:p>
        </p:txBody>
      </p:sp>
      <p:sp>
        <p:nvSpPr>
          <p:cNvPr id="476" name="Google Shape;476;p16"/>
          <p:cNvSpPr/>
          <p:nvPr/>
        </p:nvSpPr>
        <p:spPr>
          <a:xfrm>
            <a:off x="4434840" y="3557016"/>
            <a:ext cx="2880360" cy="457200"/>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A trial is a repeated test. A sample is what or who is being tested.</a:t>
            </a:r>
            <a:endParaRPr b="0" i="0" sz="1350" u="none" cap="none" strike="noStrike">
              <a:solidFill>
                <a:schemeClr val="dk1"/>
              </a:solidFill>
              <a:latin typeface="Arial"/>
              <a:ea typeface="Arial"/>
              <a:cs typeface="Arial"/>
              <a:sym typeface="Arial"/>
            </a:endParaRPr>
          </a:p>
        </p:txBody>
      </p:sp>
      <p:sp>
        <p:nvSpPr>
          <p:cNvPr id="477" name="Google Shape;477;p16"/>
          <p:cNvSpPr/>
          <p:nvPr/>
        </p:nvSpPr>
        <p:spPr>
          <a:xfrm>
            <a:off x="7781544" y="3081528"/>
            <a:ext cx="3154680" cy="1024128"/>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6"/>
          <p:cNvSpPr/>
          <p:nvPr/>
        </p:nvSpPr>
        <p:spPr>
          <a:xfrm>
            <a:off x="7781544" y="3081528"/>
            <a:ext cx="54864" cy="1024128"/>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6"/>
          <p:cNvSpPr/>
          <p:nvPr/>
        </p:nvSpPr>
        <p:spPr>
          <a:xfrm>
            <a:off x="7936992" y="3200400"/>
            <a:ext cx="2880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Error vs. failure</a:t>
            </a:r>
            <a:endParaRPr b="0" i="0" sz="1500" u="none" cap="none" strike="noStrike">
              <a:solidFill>
                <a:schemeClr val="dk1"/>
              </a:solidFill>
              <a:latin typeface="Arial"/>
              <a:ea typeface="Arial"/>
              <a:cs typeface="Arial"/>
              <a:sym typeface="Arial"/>
            </a:endParaRPr>
          </a:p>
        </p:txBody>
      </p:sp>
      <p:sp>
        <p:nvSpPr>
          <p:cNvPr id="480" name="Google Shape;480;p16"/>
          <p:cNvSpPr/>
          <p:nvPr/>
        </p:nvSpPr>
        <p:spPr>
          <a:xfrm>
            <a:off x="7936992" y="3557016"/>
            <a:ext cx="2880360" cy="457200"/>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Error affects measurement. Failure can be useful evidence.</a:t>
            </a:r>
            <a:endParaRPr b="0" i="0" sz="1350" u="none" cap="none" strike="noStrike">
              <a:solidFill>
                <a:schemeClr val="dk1"/>
              </a:solidFill>
              <a:latin typeface="Arial"/>
              <a:ea typeface="Arial"/>
              <a:cs typeface="Arial"/>
              <a:sym typeface="Arial"/>
            </a:endParaRPr>
          </a:p>
        </p:txBody>
      </p:sp>
      <p:sp>
        <p:nvSpPr>
          <p:cNvPr id="481" name="Google Shape;481;p16"/>
          <p:cNvSpPr/>
          <p:nvPr/>
        </p:nvSpPr>
        <p:spPr>
          <a:xfrm>
            <a:off x="11201400" y="5742432"/>
            <a:ext cx="411480" cy="2103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6A6A6"/>
              </a:buClr>
              <a:buSzPts val="800"/>
              <a:buFont typeface="Arial"/>
              <a:buNone/>
            </a:pPr>
            <a:r>
              <a:rPr b="0" i="0" lang="en-US" sz="800" u="none" cap="none" strike="noStrike">
                <a:solidFill>
                  <a:srgbClr val="A6A6A6"/>
                </a:solidFill>
                <a:latin typeface="Arial"/>
                <a:ea typeface="Arial"/>
                <a:cs typeface="Arial"/>
                <a:sym typeface="Arial"/>
              </a:rPr>
              <a:t>13</a:t>
            </a:r>
            <a:endParaRPr b="0" i="0" sz="8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486" name="Shape 486"/>
        <p:cNvGrpSpPr/>
        <p:nvPr/>
      </p:nvGrpSpPr>
      <p:grpSpPr>
        <a:xfrm>
          <a:off x="0" y="0"/>
          <a:ext cx="0" cy="0"/>
          <a:chOff x="0" y="0"/>
          <a:chExt cx="0" cy="0"/>
        </a:xfrm>
      </p:grpSpPr>
      <p:sp>
        <p:nvSpPr>
          <p:cNvPr id="487" name="Google Shape;487;p17"/>
          <p:cNvSpPr/>
          <p:nvPr/>
        </p:nvSpPr>
        <p:spPr>
          <a:xfrm>
            <a:off x="0" y="292608"/>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7"/>
          <p:cNvSpPr/>
          <p:nvPr/>
        </p:nvSpPr>
        <p:spPr>
          <a:xfrm>
            <a:off x="0" y="6528816"/>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7"/>
          <p:cNvSpPr/>
          <p:nvPr/>
        </p:nvSpPr>
        <p:spPr>
          <a:xfrm>
            <a:off x="438912" y="6272784"/>
            <a:ext cx="29260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STUDENT ACTIVITY</a:t>
            </a:r>
            <a:endParaRPr b="0" i="0" sz="850" u="none" cap="none" strike="noStrike">
              <a:solidFill>
                <a:schemeClr val="dk1"/>
              </a:solidFill>
              <a:latin typeface="Arial"/>
              <a:ea typeface="Arial"/>
              <a:cs typeface="Arial"/>
              <a:sym typeface="Arial"/>
            </a:endParaRPr>
          </a:p>
        </p:txBody>
      </p:sp>
      <p:sp>
        <p:nvSpPr>
          <p:cNvPr id="490" name="Google Shape;490;p17"/>
          <p:cNvSpPr/>
          <p:nvPr/>
        </p:nvSpPr>
        <p:spPr>
          <a:xfrm>
            <a:off x="10195560" y="6272784"/>
            <a:ext cx="141732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STARLAB</a:t>
            </a:r>
            <a:endParaRPr b="0" i="0" sz="850" u="none" cap="none" strike="noStrike">
              <a:solidFill>
                <a:schemeClr val="dk1"/>
              </a:solidFill>
              <a:latin typeface="Arial"/>
              <a:ea typeface="Arial"/>
              <a:cs typeface="Arial"/>
              <a:sym typeface="Arial"/>
            </a:endParaRPr>
          </a:p>
        </p:txBody>
      </p:sp>
      <p:cxnSp>
        <p:nvCxnSpPr>
          <p:cNvPr id="491" name="Google Shape;491;p17"/>
          <p:cNvCxnSpPr/>
          <p:nvPr/>
        </p:nvCxnSpPr>
        <p:spPr>
          <a:xfrm>
            <a:off x="438912" y="6163056"/>
            <a:ext cx="2011680" cy="0"/>
          </a:xfrm>
          <a:prstGeom prst="straightConnector1">
            <a:avLst/>
          </a:prstGeom>
          <a:noFill/>
          <a:ln cap="flat" cmpd="sng" w="9525">
            <a:solidFill>
              <a:srgbClr val="555555"/>
            </a:solidFill>
            <a:prstDash val="solid"/>
            <a:round/>
            <a:headEnd len="sm" w="sm" type="none"/>
            <a:tailEnd len="sm" w="sm" type="none"/>
          </a:ln>
        </p:spPr>
      </p:cxnSp>
      <p:cxnSp>
        <p:nvCxnSpPr>
          <p:cNvPr id="492" name="Google Shape;492;p17"/>
          <p:cNvCxnSpPr/>
          <p:nvPr/>
        </p:nvCxnSpPr>
        <p:spPr>
          <a:xfrm>
            <a:off x="10012680" y="6163056"/>
            <a:ext cx="1645920" cy="0"/>
          </a:xfrm>
          <a:prstGeom prst="straightConnector1">
            <a:avLst/>
          </a:prstGeom>
          <a:noFill/>
          <a:ln cap="flat" cmpd="sng" w="9525">
            <a:solidFill>
              <a:srgbClr val="555555"/>
            </a:solidFill>
            <a:prstDash val="solid"/>
            <a:round/>
            <a:headEnd len="sm" w="sm" type="none"/>
            <a:tailEnd len="sm" w="sm" type="none"/>
          </a:ln>
        </p:spPr>
      </p:cxnSp>
      <p:sp>
        <p:nvSpPr>
          <p:cNvPr id="493" name="Google Shape;493;p17"/>
          <p:cNvSpPr/>
          <p:nvPr/>
        </p:nvSpPr>
        <p:spPr>
          <a:xfrm>
            <a:off x="640080" y="566928"/>
            <a:ext cx="109728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2700"/>
              <a:buFont typeface="Play"/>
              <a:buNone/>
            </a:pPr>
            <a:r>
              <a:rPr b="1" i="0" lang="en-US" sz="2700" u="none" cap="none" strike="noStrike">
                <a:solidFill>
                  <a:srgbClr val="F3F3F3"/>
                </a:solidFill>
                <a:latin typeface="Play"/>
                <a:ea typeface="Play"/>
                <a:cs typeface="Play"/>
                <a:sym typeface="Play"/>
              </a:rPr>
              <a:t>Activity: Project Card Sort</a:t>
            </a:r>
            <a:endParaRPr b="0" i="0" sz="2700" u="none" cap="none" strike="noStrike">
              <a:solidFill>
                <a:schemeClr val="dk1"/>
              </a:solidFill>
              <a:latin typeface="Arial"/>
              <a:ea typeface="Arial"/>
              <a:cs typeface="Arial"/>
              <a:sym typeface="Arial"/>
            </a:endParaRPr>
          </a:p>
        </p:txBody>
      </p:sp>
      <p:sp>
        <p:nvSpPr>
          <p:cNvPr id="494" name="Google Shape;494;p17"/>
          <p:cNvSpPr/>
          <p:nvPr/>
        </p:nvSpPr>
        <p:spPr>
          <a:xfrm>
            <a:off x="640080" y="1078992"/>
            <a:ext cx="1051560"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7"/>
          <p:cNvSpPr/>
          <p:nvPr/>
        </p:nvSpPr>
        <p:spPr>
          <a:xfrm>
            <a:off x="658368" y="1188720"/>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600"/>
              <a:buFont typeface="Arial"/>
              <a:buNone/>
            </a:pPr>
            <a:r>
              <a:rPr b="0" i="0" lang="en-US" sz="1600" u="none" cap="none" strike="noStrike">
                <a:solidFill>
                  <a:srgbClr val="A6A6A6"/>
                </a:solidFill>
                <a:latin typeface="Arial"/>
                <a:ea typeface="Arial"/>
                <a:cs typeface="Arial"/>
                <a:sym typeface="Arial"/>
              </a:rPr>
              <a:t>Classify each idea by the kind of evidence it needs.</a:t>
            </a:r>
            <a:endParaRPr b="0" i="0" sz="1600" u="none" cap="none" strike="noStrike">
              <a:solidFill>
                <a:schemeClr val="dk1"/>
              </a:solidFill>
              <a:latin typeface="Arial"/>
              <a:ea typeface="Arial"/>
              <a:cs typeface="Arial"/>
              <a:sym typeface="Arial"/>
            </a:endParaRPr>
          </a:p>
        </p:txBody>
      </p:sp>
      <p:sp>
        <p:nvSpPr>
          <p:cNvPr id="496" name="Google Shape;496;p17"/>
          <p:cNvSpPr/>
          <p:nvPr/>
        </p:nvSpPr>
        <p:spPr>
          <a:xfrm>
            <a:off x="777240" y="1700784"/>
            <a:ext cx="2423160" cy="132588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7"/>
          <p:cNvSpPr/>
          <p:nvPr/>
        </p:nvSpPr>
        <p:spPr>
          <a:xfrm>
            <a:off x="777240" y="1700784"/>
            <a:ext cx="54864" cy="132588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7"/>
          <p:cNvSpPr/>
          <p:nvPr/>
        </p:nvSpPr>
        <p:spPr>
          <a:xfrm>
            <a:off x="932688" y="1819656"/>
            <a:ext cx="21488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Experiment</a:t>
            </a:r>
            <a:endParaRPr b="0" i="0" sz="1500" u="none" cap="none" strike="noStrike">
              <a:solidFill>
                <a:schemeClr val="dk1"/>
              </a:solidFill>
              <a:latin typeface="Arial"/>
              <a:ea typeface="Arial"/>
              <a:cs typeface="Arial"/>
              <a:sym typeface="Arial"/>
            </a:endParaRPr>
          </a:p>
        </p:txBody>
      </p:sp>
      <p:sp>
        <p:nvSpPr>
          <p:cNvPr id="499" name="Google Shape;499;p17"/>
          <p:cNvSpPr/>
          <p:nvPr/>
        </p:nvSpPr>
        <p:spPr>
          <a:xfrm>
            <a:off x="932688" y="2176272"/>
            <a:ext cx="2148840" cy="758952"/>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Tests a relationship between variables.</a:t>
            </a:r>
            <a:endParaRPr b="0" i="0" sz="1350" u="none" cap="none" strike="noStrike">
              <a:solidFill>
                <a:schemeClr val="dk1"/>
              </a:solidFill>
              <a:latin typeface="Arial"/>
              <a:ea typeface="Arial"/>
              <a:cs typeface="Arial"/>
              <a:sym typeface="Arial"/>
            </a:endParaRPr>
          </a:p>
        </p:txBody>
      </p:sp>
      <p:sp>
        <p:nvSpPr>
          <p:cNvPr id="500" name="Google Shape;500;p17"/>
          <p:cNvSpPr/>
          <p:nvPr/>
        </p:nvSpPr>
        <p:spPr>
          <a:xfrm>
            <a:off x="3593592" y="1700784"/>
            <a:ext cx="2423160" cy="132588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7"/>
          <p:cNvSpPr/>
          <p:nvPr/>
        </p:nvSpPr>
        <p:spPr>
          <a:xfrm>
            <a:off x="3593592" y="1700784"/>
            <a:ext cx="54864" cy="132588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7"/>
          <p:cNvSpPr/>
          <p:nvPr/>
        </p:nvSpPr>
        <p:spPr>
          <a:xfrm>
            <a:off x="3749040" y="1819656"/>
            <a:ext cx="21488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Engineering</a:t>
            </a:r>
            <a:endParaRPr b="0" i="0" sz="1500" u="none" cap="none" strike="noStrike">
              <a:solidFill>
                <a:schemeClr val="dk1"/>
              </a:solidFill>
              <a:latin typeface="Arial"/>
              <a:ea typeface="Arial"/>
              <a:cs typeface="Arial"/>
              <a:sym typeface="Arial"/>
            </a:endParaRPr>
          </a:p>
        </p:txBody>
      </p:sp>
      <p:sp>
        <p:nvSpPr>
          <p:cNvPr id="503" name="Google Shape;503;p17"/>
          <p:cNvSpPr/>
          <p:nvPr/>
        </p:nvSpPr>
        <p:spPr>
          <a:xfrm>
            <a:off x="3749040" y="2176272"/>
            <a:ext cx="2148840" cy="758952"/>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Tests a solution against criteria.</a:t>
            </a:r>
            <a:endParaRPr b="0" i="0" sz="1350" u="none" cap="none" strike="noStrike">
              <a:solidFill>
                <a:schemeClr val="dk1"/>
              </a:solidFill>
              <a:latin typeface="Arial"/>
              <a:ea typeface="Arial"/>
              <a:cs typeface="Arial"/>
              <a:sym typeface="Arial"/>
            </a:endParaRPr>
          </a:p>
        </p:txBody>
      </p:sp>
      <p:sp>
        <p:nvSpPr>
          <p:cNvPr id="504" name="Google Shape;504;p17"/>
          <p:cNvSpPr/>
          <p:nvPr/>
        </p:nvSpPr>
        <p:spPr>
          <a:xfrm>
            <a:off x="6409944" y="1700784"/>
            <a:ext cx="2423160" cy="132588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7"/>
          <p:cNvSpPr/>
          <p:nvPr/>
        </p:nvSpPr>
        <p:spPr>
          <a:xfrm>
            <a:off x="6409944" y="1700784"/>
            <a:ext cx="54864" cy="132588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7"/>
          <p:cNvSpPr/>
          <p:nvPr/>
        </p:nvSpPr>
        <p:spPr>
          <a:xfrm>
            <a:off x="6565392" y="1819656"/>
            <a:ext cx="21488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Data Analysis</a:t>
            </a:r>
            <a:endParaRPr b="0" i="0" sz="1500" u="none" cap="none" strike="noStrike">
              <a:solidFill>
                <a:schemeClr val="dk1"/>
              </a:solidFill>
              <a:latin typeface="Arial"/>
              <a:ea typeface="Arial"/>
              <a:cs typeface="Arial"/>
              <a:sym typeface="Arial"/>
            </a:endParaRPr>
          </a:p>
        </p:txBody>
      </p:sp>
      <p:sp>
        <p:nvSpPr>
          <p:cNvPr id="507" name="Google Shape;507;p17"/>
          <p:cNvSpPr/>
          <p:nvPr/>
        </p:nvSpPr>
        <p:spPr>
          <a:xfrm>
            <a:off x="6565392" y="2176272"/>
            <a:ext cx="2148840" cy="758952"/>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Uses existing data to find patterns.</a:t>
            </a:r>
            <a:endParaRPr b="0" i="0" sz="1350" u="none" cap="none" strike="noStrike">
              <a:solidFill>
                <a:schemeClr val="dk1"/>
              </a:solidFill>
              <a:latin typeface="Arial"/>
              <a:ea typeface="Arial"/>
              <a:cs typeface="Arial"/>
              <a:sym typeface="Arial"/>
            </a:endParaRPr>
          </a:p>
        </p:txBody>
      </p:sp>
      <p:sp>
        <p:nvSpPr>
          <p:cNvPr id="508" name="Google Shape;508;p17"/>
          <p:cNvSpPr/>
          <p:nvPr/>
        </p:nvSpPr>
        <p:spPr>
          <a:xfrm>
            <a:off x="9226296" y="1700784"/>
            <a:ext cx="2423160" cy="132588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7"/>
          <p:cNvSpPr/>
          <p:nvPr/>
        </p:nvSpPr>
        <p:spPr>
          <a:xfrm>
            <a:off x="9226296" y="1700784"/>
            <a:ext cx="54864" cy="132588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7"/>
          <p:cNvSpPr/>
          <p:nvPr/>
        </p:nvSpPr>
        <p:spPr>
          <a:xfrm>
            <a:off x="9381744" y="1819656"/>
            <a:ext cx="21488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Not Ready</a:t>
            </a:r>
            <a:endParaRPr b="0" i="0" sz="1500" u="none" cap="none" strike="noStrike">
              <a:solidFill>
                <a:schemeClr val="dk1"/>
              </a:solidFill>
              <a:latin typeface="Arial"/>
              <a:ea typeface="Arial"/>
              <a:cs typeface="Arial"/>
              <a:sym typeface="Arial"/>
            </a:endParaRPr>
          </a:p>
        </p:txBody>
      </p:sp>
      <p:sp>
        <p:nvSpPr>
          <p:cNvPr id="511" name="Google Shape;511;p17"/>
          <p:cNvSpPr/>
          <p:nvPr/>
        </p:nvSpPr>
        <p:spPr>
          <a:xfrm>
            <a:off x="9381744" y="2176272"/>
            <a:ext cx="2148840" cy="758952"/>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Too broad, unsafe, vague, or unmeasurable.</a:t>
            </a:r>
            <a:endParaRPr b="0" i="0" sz="1350" u="none" cap="none" strike="noStrike">
              <a:solidFill>
                <a:schemeClr val="dk1"/>
              </a:solidFill>
              <a:latin typeface="Arial"/>
              <a:ea typeface="Arial"/>
              <a:cs typeface="Arial"/>
              <a:sym typeface="Arial"/>
            </a:endParaRPr>
          </a:p>
        </p:txBody>
      </p:sp>
      <p:sp>
        <p:nvSpPr>
          <p:cNvPr id="512" name="Google Shape;512;p17"/>
          <p:cNvSpPr/>
          <p:nvPr/>
        </p:nvSpPr>
        <p:spPr>
          <a:xfrm>
            <a:off x="960120" y="3429000"/>
            <a:ext cx="1024128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F3F3"/>
              </a:buClr>
              <a:buSzPts val="2000"/>
              <a:buFont typeface="Arial"/>
              <a:buNone/>
            </a:pPr>
            <a:r>
              <a:rPr b="1" i="0" lang="en-US" sz="2000" u="none" cap="none" strike="noStrike">
                <a:solidFill>
                  <a:srgbClr val="F3F3F3"/>
                </a:solidFill>
                <a:latin typeface="Arial"/>
                <a:ea typeface="Arial"/>
                <a:cs typeface="Arial"/>
                <a:sym typeface="Arial"/>
              </a:rPr>
              <a:t>Then revise one “Not Ready” idea into a stronger STARLAB project.</a:t>
            </a:r>
            <a:endParaRPr b="0" i="0" sz="2000" u="none" cap="none" strike="noStrike">
              <a:solidFill>
                <a:schemeClr val="dk1"/>
              </a:solidFill>
              <a:latin typeface="Arial"/>
              <a:ea typeface="Arial"/>
              <a:cs typeface="Arial"/>
              <a:sym typeface="Arial"/>
            </a:endParaRPr>
          </a:p>
        </p:txBody>
      </p:sp>
      <p:sp>
        <p:nvSpPr>
          <p:cNvPr id="513" name="Google Shape;513;p17"/>
          <p:cNvSpPr/>
          <p:nvPr/>
        </p:nvSpPr>
        <p:spPr>
          <a:xfrm>
            <a:off x="11201400" y="5742432"/>
            <a:ext cx="411480" cy="2103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6A6A6"/>
              </a:buClr>
              <a:buSzPts val="800"/>
              <a:buFont typeface="Arial"/>
              <a:buNone/>
            </a:pPr>
            <a:r>
              <a:rPr b="0" i="0" lang="en-US" sz="800" u="none" cap="none" strike="noStrike">
                <a:solidFill>
                  <a:srgbClr val="A6A6A6"/>
                </a:solidFill>
                <a:latin typeface="Arial"/>
                <a:ea typeface="Arial"/>
                <a:cs typeface="Arial"/>
                <a:sym typeface="Arial"/>
              </a:rPr>
              <a:t>14</a:t>
            </a:r>
            <a:endParaRPr b="0" i="0" sz="8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518" name="Shape 518"/>
        <p:cNvGrpSpPr/>
        <p:nvPr/>
      </p:nvGrpSpPr>
      <p:grpSpPr>
        <a:xfrm>
          <a:off x="0" y="0"/>
          <a:ext cx="0" cy="0"/>
          <a:chOff x="0" y="0"/>
          <a:chExt cx="0" cy="0"/>
        </a:xfrm>
      </p:grpSpPr>
      <p:sp>
        <p:nvSpPr>
          <p:cNvPr id="519" name="Google Shape;519;p18"/>
          <p:cNvSpPr/>
          <p:nvPr/>
        </p:nvSpPr>
        <p:spPr>
          <a:xfrm>
            <a:off x="0" y="292608"/>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8"/>
          <p:cNvSpPr/>
          <p:nvPr/>
        </p:nvSpPr>
        <p:spPr>
          <a:xfrm>
            <a:off x="0" y="6528816"/>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8"/>
          <p:cNvSpPr/>
          <p:nvPr/>
        </p:nvSpPr>
        <p:spPr>
          <a:xfrm>
            <a:off x="438912" y="6272784"/>
            <a:ext cx="29260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CASE STUDY</a:t>
            </a:r>
            <a:endParaRPr b="0" i="0" sz="850" u="none" cap="none" strike="noStrike">
              <a:solidFill>
                <a:schemeClr val="dk1"/>
              </a:solidFill>
              <a:latin typeface="Arial"/>
              <a:ea typeface="Arial"/>
              <a:cs typeface="Arial"/>
              <a:sym typeface="Arial"/>
            </a:endParaRPr>
          </a:p>
        </p:txBody>
      </p:sp>
      <p:sp>
        <p:nvSpPr>
          <p:cNvPr id="522" name="Google Shape;522;p18"/>
          <p:cNvSpPr/>
          <p:nvPr/>
        </p:nvSpPr>
        <p:spPr>
          <a:xfrm>
            <a:off x="10195560" y="6272784"/>
            <a:ext cx="141732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STARLAB</a:t>
            </a:r>
            <a:endParaRPr b="0" i="0" sz="850" u="none" cap="none" strike="noStrike">
              <a:solidFill>
                <a:schemeClr val="dk1"/>
              </a:solidFill>
              <a:latin typeface="Arial"/>
              <a:ea typeface="Arial"/>
              <a:cs typeface="Arial"/>
              <a:sym typeface="Arial"/>
            </a:endParaRPr>
          </a:p>
        </p:txBody>
      </p:sp>
      <p:cxnSp>
        <p:nvCxnSpPr>
          <p:cNvPr id="523" name="Google Shape;523;p18"/>
          <p:cNvCxnSpPr/>
          <p:nvPr/>
        </p:nvCxnSpPr>
        <p:spPr>
          <a:xfrm>
            <a:off x="438912" y="6163056"/>
            <a:ext cx="2011680" cy="0"/>
          </a:xfrm>
          <a:prstGeom prst="straightConnector1">
            <a:avLst/>
          </a:prstGeom>
          <a:noFill/>
          <a:ln cap="flat" cmpd="sng" w="9525">
            <a:solidFill>
              <a:srgbClr val="555555"/>
            </a:solidFill>
            <a:prstDash val="solid"/>
            <a:round/>
            <a:headEnd len="sm" w="sm" type="none"/>
            <a:tailEnd len="sm" w="sm" type="none"/>
          </a:ln>
        </p:spPr>
      </p:cxnSp>
      <p:cxnSp>
        <p:nvCxnSpPr>
          <p:cNvPr id="524" name="Google Shape;524;p18"/>
          <p:cNvCxnSpPr/>
          <p:nvPr/>
        </p:nvCxnSpPr>
        <p:spPr>
          <a:xfrm>
            <a:off x="10012680" y="6163056"/>
            <a:ext cx="1645920" cy="0"/>
          </a:xfrm>
          <a:prstGeom prst="straightConnector1">
            <a:avLst/>
          </a:prstGeom>
          <a:noFill/>
          <a:ln cap="flat" cmpd="sng" w="9525">
            <a:solidFill>
              <a:srgbClr val="555555"/>
            </a:solidFill>
            <a:prstDash val="solid"/>
            <a:round/>
            <a:headEnd len="sm" w="sm" type="none"/>
            <a:tailEnd len="sm" w="sm" type="none"/>
          </a:ln>
        </p:spPr>
      </p:cxnSp>
      <p:sp>
        <p:nvSpPr>
          <p:cNvPr id="525" name="Google Shape;525;p18"/>
          <p:cNvSpPr/>
          <p:nvPr/>
        </p:nvSpPr>
        <p:spPr>
          <a:xfrm>
            <a:off x="640080" y="566928"/>
            <a:ext cx="109728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2700"/>
              <a:buFont typeface="Play"/>
              <a:buNone/>
            </a:pPr>
            <a:r>
              <a:rPr b="1" i="0" lang="en-US" sz="2700" u="none" cap="none" strike="noStrike">
                <a:solidFill>
                  <a:srgbClr val="F3F3F3"/>
                </a:solidFill>
                <a:latin typeface="Play"/>
                <a:ea typeface="Play"/>
                <a:cs typeface="Play"/>
                <a:sym typeface="Play"/>
              </a:rPr>
              <a:t>Case Study: The 3D-Printed Bridge</a:t>
            </a:r>
            <a:endParaRPr b="0" i="0" sz="2700" u="none" cap="none" strike="noStrike">
              <a:solidFill>
                <a:schemeClr val="dk1"/>
              </a:solidFill>
              <a:latin typeface="Arial"/>
              <a:ea typeface="Arial"/>
              <a:cs typeface="Arial"/>
              <a:sym typeface="Arial"/>
            </a:endParaRPr>
          </a:p>
        </p:txBody>
      </p:sp>
      <p:sp>
        <p:nvSpPr>
          <p:cNvPr id="526" name="Google Shape;526;p18"/>
          <p:cNvSpPr/>
          <p:nvPr/>
        </p:nvSpPr>
        <p:spPr>
          <a:xfrm>
            <a:off x="640080" y="1078992"/>
            <a:ext cx="1051560"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8"/>
          <p:cNvSpPr/>
          <p:nvPr/>
        </p:nvSpPr>
        <p:spPr>
          <a:xfrm>
            <a:off x="658368" y="1188720"/>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600"/>
              <a:buFont typeface="Arial"/>
              <a:buNone/>
            </a:pPr>
            <a:r>
              <a:rPr b="0" i="0" lang="en-US" sz="1600" u="none" cap="none" strike="noStrike">
                <a:solidFill>
                  <a:srgbClr val="A6A6A6"/>
                </a:solidFill>
                <a:latin typeface="Arial"/>
                <a:ea typeface="Arial"/>
                <a:cs typeface="Arial"/>
                <a:sym typeface="Arial"/>
              </a:rPr>
              <a:t>One project can generate both design and data thinking.</a:t>
            </a:r>
            <a:endParaRPr b="0" i="0" sz="1600" u="none" cap="none" strike="noStrike">
              <a:solidFill>
                <a:schemeClr val="dk1"/>
              </a:solidFill>
              <a:latin typeface="Arial"/>
              <a:ea typeface="Arial"/>
              <a:cs typeface="Arial"/>
              <a:sym typeface="Arial"/>
            </a:endParaRPr>
          </a:p>
        </p:txBody>
      </p:sp>
      <p:sp>
        <p:nvSpPr>
          <p:cNvPr id="528" name="Google Shape;528;p18"/>
          <p:cNvSpPr/>
          <p:nvPr/>
        </p:nvSpPr>
        <p:spPr>
          <a:xfrm>
            <a:off x="868680" y="1600200"/>
            <a:ext cx="3200400" cy="118872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8"/>
          <p:cNvSpPr/>
          <p:nvPr/>
        </p:nvSpPr>
        <p:spPr>
          <a:xfrm>
            <a:off x="868680" y="1600200"/>
            <a:ext cx="54864" cy="1188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8"/>
          <p:cNvSpPr/>
          <p:nvPr/>
        </p:nvSpPr>
        <p:spPr>
          <a:xfrm>
            <a:off x="1024128" y="1719072"/>
            <a:ext cx="2926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Problem</a:t>
            </a:r>
            <a:endParaRPr b="0" i="0" sz="1500" u="none" cap="none" strike="noStrike">
              <a:solidFill>
                <a:schemeClr val="dk1"/>
              </a:solidFill>
              <a:latin typeface="Arial"/>
              <a:ea typeface="Arial"/>
              <a:cs typeface="Arial"/>
              <a:sym typeface="Arial"/>
            </a:endParaRPr>
          </a:p>
        </p:txBody>
      </p:sp>
      <p:sp>
        <p:nvSpPr>
          <p:cNvPr id="531" name="Google Shape;531;p18"/>
          <p:cNvSpPr/>
          <p:nvPr/>
        </p:nvSpPr>
        <p:spPr>
          <a:xfrm>
            <a:off x="1024128" y="2075688"/>
            <a:ext cx="2926080" cy="621792"/>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Design a lightweight bridge that supports a large load.</a:t>
            </a:r>
            <a:endParaRPr b="0" i="0" sz="1350" u="none" cap="none" strike="noStrike">
              <a:solidFill>
                <a:schemeClr val="dk1"/>
              </a:solidFill>
              <a:latin typeface="Arial"/>
              <a:ea typeface="Arial"/>
              <a:cs typeface="Arial"/>
              <a:sym typeface="Arial"/>
            </a:endParaRPr>
          </a:p>
        </p:txBody>
      </p:sp>
      <p:sp>
        <p:nvSpPr>
          <p:cNvPr id="532" name="Google Shape;532;p18"/>
          <p:cNvSpPr/>
          <p:nvPr/>
        </p:nvSpPr>
        <p:spPr>
          <a:xfrm>
            <a:off x="4480560" y="1600200"/>
            <a:ext cx="3200400" cy="118872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8"/>
          <p:cNvSpPr/>
          <p:nvPr/>
        </p:nvSpPr>
        <p:spPr>
          <a:xfrm>
            <a:off x="4480560" y="1600200"/>
            <a:ext cx="54864" cy="1188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8"/>
          <p:cNvSpPr/>
          <p:nvPr/>
        </p:nvSpPr>
        <p:spPr>
          <a:xfrm>
            <a:off x="4636008" y="1719072"/>
            <a:ext cx="2926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Criteria</a:t>
            </a:r>
            <a:endParaRPr b="0" i="0" sz="1500" u="none" cap="none" strike="noStrike">
              <a:solidFill>
                <a:schemeClr val="dk1"/>
              </a:solidFill>
              <a:latin typeface="Arial"/>
              <a:ea typeface="Arial"/>
              <a:cs typeface="Arial"/>
              <a:sym typeface="Arial"/>
            </a:endParaRPr>
          </a:p>
        </p:txBody>
      </p:sp>
      <p:sp>
        <p:nvSpPr>
          <p:cNvPr id="535" name="Google Shape;535;p18"/>
          <p:cNvSpPr/>
          <p:nvPr/>
        </p:nvSpPr>
        <p:spPr>
          <a:xfrm>
            <a:off x="4636008" y="2075688"/>
            <a:ext cx="2926080" cy="621792"/>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Maximize load supported per gram of printed material.</a:t>
            </a:r>
            <a:endParaRPr b="0" i="0" sz="1350" u="none" cap="none" strike="noStrike">
              <a:solidFill>
                <a:schemeClr val="dk1"/>
              </a:solidFill>
              <a:latin typeface="Arial"/>
              <a:ea typeface="Arial"/>
              <a:cs typeface="Arial"/>
              <a:sym typeface="Arial"/>
            </a:endParaRPr>
          </a:p>
        </p:txBody>
      </p:sp>
      <p:sp>
        <p:nvSpPr>
          <p:cNvPr id="536" name="Google Shape;536;p18"/>
          <p:cNvSpPr/>
          <p:nvPr/>
        </p:nvSpPr>
        <p:spPr>
          <a:xfrm>
            <a:off x="8092440" y="1600200"/>
            <a:ext cx="3200400" cy="1188720"/>
          </a:xfrm>
          <a:prstGeom prst="rect">
            <a:avLst/>
          </a:prstGeom>
          <a:solidFill>
            <a:srgbClr val="0F0F0F"/>
          </a:solidFill>
          <a:ln cap="flat" cmpd="sng" w="10150">
            <a:solidFill>
              <a:srgbClr val="555555">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8"/>
          <p:cNvSpPr/>
          <p:nvPr/>
        </p:nvSpPr>
        <p:spPr>
          <a:xfrm>
            <a:off x="8092440" y="1600200"/>
            <a:ext cx="54864" cy="1188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8"/>
          <p:cNvSpPr/>
          <p:nvPr/>
        </p:nvSpPr>
        <p:spPr>
          <a:xfrm>
            <a:off x="8247888" y="1719072"/>
            <a:ext cx="2926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Play"/>
              <a:buNone/>
            </a:pPr>
            <a:r>
              <a:rPr b="1" i="0" lang="en-US" sz="1500" u="none" cap="none" strike="noStrike">
                <a:solidFill>
                  <a:srgbClr val="F3F3F3"/>
                </a:solidFill>
                <a:latin typeface="Play"/>
                <a:ea typeface="Play"/>
                <a:cs typeface="Play"/>
                <a:sym typeface="Play"/>
              </a:rPr>
              <a:t>Constraints</a:t>
            </a:r>
            <a:endParaRPr b="0" i="0" sz="1500" u="none" cap="none" strike="noStrike">
              <a:solidFill>
                <a:schemeClr val="dk1"/>
              </a:solidFill>
              <a:latin typeface="Arial"/>
              <a:ea typeface="Arial"/>
              <a:cs typeface="Arial"/>
              <a:sym typeface="Arial"/>
            </a:endParaRPr>
          </a:p>
        </p:txBody>
      </p:sp>
      <p:sp>
        <p:nvSpPr>
          <p:cNvPr id="539" name="Google Shape;539;p18"/>
          <p:cNvSpPr/>
          <p:nvPr/>
        </p:nvSpPr>
        <p:spPr>
          <a:xfrm>
            <a:off x="8247888" y="2075688"/>
            <a:ext cx="2926080" cy="621792"/>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Same filament, same dimensions, print time under 2 hours.</a:t>
            </a:r>
            <a:endParaRPr b="0" i="0" sz="1350" u="none" cap="none" strike="noStrike">
              <a:solidFill>
                <a:schemeClr val="dk1"/>
              </a:solidFill>
              <a:latin typeface="Arial"/>
              <a:ea typeface="Arial"/>
              <a:cs typeface="Arial"/>
              <a:sym typeface="Arial"/>
            </a:endParaRPr>
          </a:p>
        </p:txBody>
      </p:sp>
      <p:sp>
        <p:nvSpPr>
          <p:cNvPr id="540" name="Google Shape;540;p18"/>
          <p:cNvSpPr/>
          <p:nvPr/>
        </p:nvSpPr>
        <p:spPr>
          <a:xfrm>
            <a:off x="960120" y="3337560"/>
            <a:ext cx="21945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400"/>
              <a:buFont typeface="Arial"/>
              <a:buNone/>
            </a:pPr>
            <a:r>
              <a:rPr b="1" i="0" lang="en-US" sz="1400" u="none" cap="none" strike="noStrike">
                <a:solidFill>
                  <a:srgbClr val="A6A6A6"/>
                </a:solidFill>
                <a:latin typeface="Arial"/>
                <a:ea typeface="Arial"/>
                <a:cs typeface="Arial"/>
                <a:sym typeface="Arial"/>
              </a:rPr>
              <a:t>Data table columns:</a:t>
            </a:r>
            <a:endParaRPr b="0" i="0" sz="1400" u="none" cap="none" strike="noStrike">
              <a:solidFill>
                <a:schemeClr val="dk1"/>
              </a:solidFill>
              <a:latin typeface="Arial"/>
              <a:ea typeface="Arial"/>
              <a:cs typeface="Arial"/>
              <a:sym typeface="Arial"/>
            </a:endParaRPr>
          </a:p>
        </p:txBody>
      </p:sp>
      <p:sp>
        <p:nvSpPr>
          <p:cNvPr id="541" name="Google Shape;541;p18"/>
          <p:cNvSpPr/>
          <p:nvPr/>
        </p:nvSpPr>
        <p:spPr>
          <a:xfrm>
            <a:off x="2743200" y="3337560"/>
            <a:ext cx="8503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500"/>
              <a:buFont typeface="Arial"/>
              <a:buNone/>
            </a:pPr>
            <a:r>
              <a:rPr b="0" i="0" lang="en-US" sz="1500" u="none" cap="none" strike="noStrike">
                <a:solidFill>
                  <a:srgbClr val="F3F3F3"/>
                </a:solidFill>
                <a:latin typeface="Arial"/>
                <a:ea typeface="Arial"/>
                <a:cs typeface="Arial"/>
                <a:sym typeface="Arial"/>
              </a:rPr>
              <a:t>Prototype  |  Mass (g)  |  Max load  |  Load/g  |  Failure point  |  Notes</a:t>
            </a:r>
            <a:endParaRPr b="0" i="0" sz="1500" u="none" cap="none" strike="noStrike">
              <a:solidFill>
                <a:schemeClr val="dk1"/>
              </a:solidFill>
              <a:latin typeface="Arial"/>
              <a:ea typeface="Arial"/>
              <a:cs typeface="Arial"/>
              <a:sym typeface="Arial"/>
            </a:endParaRPr>
          </a:p>
        </p:txBody>
      </p:sp>
      <p:sp>
        <p:nvSpPr>
          <p:cNvPr id="542" name="Google Shape;542;p18"/>
          <p:cNvSpPr/>
          <p:nvPr/>
        </p:nvSpPr>
        <p:spPr>
          <a:xfrm>
            <a:off x="731520" y="4709160"/>
            <a:ext cx="10744200" cy="1097280"/>
          </a:xfrm>
          <a:prstGeom prst="rect">
            <a:avLst/>
          </a:prstGeom>
          <a:solidFill>
            <a:srgbClr val="080808"/>
          </a:solidFill>
          <a:ln cap="flat" cmpd="sng" w="10150">
            <a:solidFill>
              <a:srgbClr val="5555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8"/>
          <p:cNvSpPr/>
          <p:nvPr/>
        </p:nvSpPr>
        <p:spPr>
          <a:xfrm>
            <a:off x="731520" y="4709160"/>
            <a:ext cx="1828800" cy="2743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8"/>
          <p:cNvSpPr/>
          <p:nvPr/>
        </p:nvSpPr>
        <p:spPr>
          <a:xfrm>
            <a:off x="868680" y="4764024"/>
            <a:ext cx="155448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F3F3"/>
              </a:buClr>
              <a:buSzPts val="750"/>
              <a:buFont typeface="Arial"/>
              <a:buNone/>
            </a:pPr>
            <a:r>
              <a:rPr b="1" i="0" lang="en-US" sz="750" u="none" cap="none" strike="noStrike">
                <a:solidFill>
                  <a:srgbClr val="F3F3F3"/>
                </a:solidFill>
                <a:latin typeface="Arial"/>
                <a:ea typeface="Arial"/>
                <a:cs typeface="Arial"/>
                <a:sym typeface="Arial"/>
              </a:rPr>
              <a:t>STUDENT ACTIVITY</a:t>
            </a:r>
            <a:endParaRPr b="0" i="0" sz="750" u="none" cap="none" strike="noStrike">
              <a:solidFill>
                <a:schemeClr val="dk1"/>
              </a:solidFill>
              <a:latin typeface="Arial"/>
              <a:ea typeface="Arial"/>
              <a:cs typeface="Arial"/>
              <a:sym typeface="Arial"/>
            </a:endParaRPr>
          </a:p>
        </p:txBody>
      </p:sp>
      <p:sp>
        <p:nvSpPr>
          <p:cNvPr id="545" name="Google Shape;545;p18"/>
          <p:cNvSpPr/>
          <p:nvPr/>
        </p:nvSpPr>
        <p:spPr>
          <a:xfrm>
            <a:off x="868680" y="5138928"/>
            <a:ext cx="39319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700"/>
              <a:buFont typeface="Play"/>
              <a:buNone/>
            </a:pPr>
            <a:r>
              <a:rPr b="1" i="0" lang="en-US" sz="1700" u="none" cap="none" strike="noStrike">
                <a:solidFill>
                  <a:srgbClr val="F3F3F3"/>
                </a:solidFill>
                <a:latin typeface="Play"/>
                <a:ea typeface="Play"/>
                <a:cs typeface="Play"/>
                <a:sym typeface="Play"/>
              </a:rPr>
              <a:t>Apply the case.</a:t>
            </a:r>
            <a:endParaRPr b="0" i="0" sz="1700" u="none" cap="none" strike="noStrike">
              <a:solidFill>
                <a:schemeClr val="dk1"/>
              </a:solidFill>
              <a:latin typeface="Arial"/>
              <a:ea typeface="Arial"/>
              <a:cs typeface="Arial"/>
              <a:sym typeface="Arial"/>
            </a:endParaRPr>
          </a:p>
        </p:txBody>
      </p:sp>
      <p:sp>
        <p:nvSpPr>
          <p:cNvPr id="546" name="Google Shape;546;p18"/>
          <p:cNvSpPr/>
          <p:nvPr/>
        </p:nvSpPr>
        <p:spPr>
          <a:xfrm>
            <a:off x="4892040" y="5056632"/>
            <a:ext cx="60807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320"/>
              <a:buFont typeface="Arial"/>
              <a:buNone/>
            </a:pPr>
            <a:r>
              <a:rPr b="0" i="0" lang="en-US" sz="1320" u="none" cap="none" strike="noStrike">
                <a:solidFill>
                  <a:srgbClr val="F3F3F3"/>
                </a:solidFill>
                <a:latin typeface="Arial"/>
                <a:ea typeface="Arial"/>
                <a:cs typeface="Arial"/>
                <a:sym typeface="Arial"/>
              </a:rPr>
              <a:t>What would count as a fair comparison between bridge designs? What must stay the same?</a:t>
            </a:r>
            <a:endParaRPr b="0" i="0" sz="1320" u="none" cap="none" strike="noStrike">
              <a:solidFill>
                <a:schemeClr val="dk1"/>
              </a:solidFill>
              <a:latin typeface="Arial"/>
              <a:ea typeface="Arial"/>
              <a:cs typeface="Arial"/>
              <a:sym typeface="Arial"/>
            </a:endParaRPr>
          </a:p>
        </p:txBody>
      </p:sp>
      <p:sp>
        <p:nvSpPr>
          <p:cNvPr id="547" name="Google Shape;547;p18"/>
          <p:cNvSpPr/>
          <p:nvPr/>
        </p:nvSpPr>
        <p:spPr>
          <a:xfrm>
            <a:off x="11201400" y="5742432"/>
            <a:ext cx="411480" cy="2103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6A6A6"/>
              </a:buClr>
              <a:buSzPts val="800"/>
              <a:buFont typeface="Arial"/>
              <a:buNone/>
            </a:pPr>
            <a:r>
              <a:rPr b="0" i="0" lang="en-US" sz="800" u="none" cap="none" strike="noStrike">
                <a:solidFill>
                  <a:srgbClr val="A6A6A6"/>
                </a:solidFill>
                <a:latin typeface="Arial"/>
                <a:ea typeface="Arial"/>
                <a:cs typeface="Arial"/>
                <a:sym typeface="Arial"/>
              </a:rPr>
              <a:t>15</a:t>
            </a:r>
            <a:endParaRPr b="0" i="0" sz="8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552" name="Shape 552"/>
        <p:cNvGrpSpPr/>
        <p:nvPr/>
      </p:nvGrpSpPr>
      <p:grpSpPr>
        <a:xfrm>
          <a:off x="0" y="0"/>
          <a:ext cx="0" cy="0"/>
          <a:chOff x="0" y="0"/>
          <a:chExt cx="0" cy="0"/>
        </a:xfrm>
      </p:grpSpPr>
      <p:sp>
        <p:nvSpPr>
          <p:cNvPr id="553" name="Google Shape;553;p19"/>
          <p:cNvSpPr/>
          <p:nvPr/>
        </p:nvSpPr>
        <p:spPr>
          <a:xfrm>
            <a:off x="0" y="292608"/>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9"/>
          <p:cNvSpPr/>
          <p:nvPr/>
        </p:nvSpPr>
        <p:spPr>
          <a:xfrm>
            <a:off x="0" y="6528816"/>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9"/>
          <p:cNvSpPr/>
          <p:nvPr/>
        </p:nvSpPr>
        <p:spPr>
          <a:xfrm>
            <a:off x="438912" y="6272784"/>
            <a:ext cx="29260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STUDENT ACTIVITY</a:t>
            </a:r>
            <a:endParaRPr b="0" i="0" sz="850" u="none" cap="none" strike="noStrike">
              <a:solidFill>
                <a:schemeClr val="dk1"/>
              </a:solidFill>
              <a:latin typeface="Arial"/>
              <a:ea typeface="Arial"/>
              <a:cs typeface="Arial"/>
              <a:sym typeface="Arial"/>
            </a:endParaRPr>
          </a:p>
        </p:txBody>
      </p:sp>
      <p:sp>
        <p:nvSpPr>
          <p:cNvPr id="556" name="Google Shape;556;p19"/>
          <p:cNvSpPr/>
          <p:nvPr/>
        </p:nvSpPr>
        <p:spPr>
          <a:xfrm>
            <a:off x="10195560" y="6272784"/>
            <a:ext cx="141732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STARLAB</a:t>
            </a:r>
            <a:endParaRPr b="0" i="0" sz="850" u="none" cap="none" strike="noStrike">
              <a:solidFill>
                <a:schemeClr val="dk1"/>
              </a:solidFill>
              <a:latin typeface="Arial"/>
              <a:ea typeface="Arial"/>
              <a:cs typeface="Arial"/>
              <a:sym typeface="Arial"/>
            </a:endParaRPr>
          </a:p>
        </p:txBody>
      </p:sp>
      <p:cxnSp>
        <p:nvCxnSpPr>
          <p:cNvPr id="557" name="Google Shape;557;p19"/>
          <p:cNvCxnSpPr/>
          <p:nvPr/>
        </p:nvCxnSpPr>
        <p:spPr>
          <a:xfrm>
            <a:off x="438912" y="6163056"/>
            <a:ext cx="2011680" cy="0"/>
          </a:xfrm>
          <a:prstGeom prst="straightConnector1">
            <a:avLst/>
          </a:prstGeom>
          <a:noFill/>
          <a:ln cap="flat" cmpd="sng" w="9525">
            <a:solidFill>
              <a:srgbClr val="555555"/>
            </a:solidFill>
            <a:prstDash val="solid"/>
            <a:round/>
            <a:headEnd len="sm" w="sm" type="none"/>
            <a:tailEnd len="sm" w="sm" type="none"/>
          </a:ln>
        </p:spPr>
      </p:cxnSp>
      <p:cxnSp>
        <p:nvCxnSpPr>
          <p:cNvPr id="558" name="Google Shape;558;p19"/>
          <p:cNvCxnSpPr/>
          <p:nvPr/>
        </p:nvCxnSpPr>
        <p:spPr>
          <a:xfrm>
            <a:off x="10012680" y="6163056"/>
            <a:ext cx="1645920" cy="0"/>
          </a:xfrm>
          <a:prstGeom prst="straightConnector1">
            <a:avLst/>
          </a:prstGeom>
          <a:noFill/>
          <a:ln cap="flat" cmpd="sng" w="9525">
            <a:solidFill>
              <a:srgbClr val="555555"/>
            </a:solidFill>
            <a:prstDash val="solid"/>
            <a:round/>
            <a:headEnd len="sm" w="sm" type="none"/>
            <a:tailEnd len="sm" w="sm" type="none"/>
          </a:ln>
        </p:spPr>
      </p:cxnSp>
      <p:sp>
        <p:nvSpPr>
          <p:cNvPr id="559" name="Google Shape;559;p19"/>
          <p:cNvSpPr/>
          <p:nvPr/>
        </p:nvSpPr>
        <p:spPr>
          <a:xfrm>
            <a:off x="640080" y="566928"/>
            <a:ext cx="109728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2700"/>
              <a:buFont typeface="Play"/>
              <a:buNone/>
            </a:pPr>
            <a:r>
              <a:rPr b="1" i="0" lang="en-US" sz="2700" u="none" cap="none" strike="noStrike">
                <a:solidFill>
                  <a:srgbClr val="F3F3F3"/>
                </a:solidFill>
                <a:latin typeface="Play"/>
                <a:ea typeface="Play"/>
                <a:cs typeface="Play"/>
                <a:sym typeface="Play"/>
              </a:rPr>
              <a:t>Activity: Design Your Evidence Plan</a:t>
            </a:r>
            <a:endParaRPr b="0" i="0" sz="2700" u="none" cap="none" strike="noStrike">
              <a:solidFill>
                <a:schemeClr val="dk1"/>
              </a:solidFill>
              <a:latin typeface="Arial"/>
              <a:ea typeface="Arial"/>
              <a:cs typeface="Arial"/>
              <a:sym typeface="Arial"/>
            </a:endParaRPr>
          </a:p>
        </p:txBody>
      </p:sp>
      <p:sp>
        <p:nvSpPr>
          <p:cNvPr id="560" name="Google Shape;560;p19"/>
          <p:cNvSpPr/>
          <p:nvPr/>
        </p:nvSpPr>
        <p:spPr>
          <a:xfrm>
            <a:off x="640080" y="1078992"/>
            <a:ext cx="1051560"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9"/>
          <p:cNvSpPr/>
          <p:nvPr/>
        </p:nvSpPr>
        <p:spPr>
          <a:xfrm>
            <a:off x="658368" y="1188720"/>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600"/>
              <a:buFont typeface="Arial"/>
              <a:buNone/>
            </a:pPr>
            <a:r>
              <a:rPr b="0" i="0" lang="en-US" sz="1600" u="none" cap="none" strike="noStrike">
                <a:solidFill>
                  <a:srgbClr val="A6A6A6"/>
                </a:solidFill>
                <a:latin typeface="Arial"/>
                <a:ea typeface="Arial"/>
                <a:cs typeface="Arial"/>
                <a:sym typeface="Arial"/>
              </a:rPr>
              <a:t>Before methods, students must know what evidence they need.</a:t>
            </a:r>
            <a:endParaRPr b="0" i="0" sz="1600" u="none" cap="none" strike="noStrike">
              <a:solidFill>
                <a:schemeClr val="dk1"/>
              </a:solidFill>
              <a:latin typeface="Arial"/>
              <a:ea typeface="Arial"/>
              <a:cs typeface="Arial"/>
              <a:sym typeface="Arial"/>
            </a:endParaRPr>
          </a:p>
        </p:txBody>
      </p:sp>
      <p:sp>
        <p:nvSpPr>
          <p:cNvPr id="562" name="Google Shape;562;p19"/>
          <p:cNvSpPr/>
          <p:nvPr/>
        </p:nvSpPr>
        <p:spPr>
          <a:xfrm>
            <a:off x="868680" y="1554480"/>
            <a:ext cx="2743200" cy="384048"/>
          </a:xfrm>
          <a:prstGeom prst="rect">
            <a:avLst/>
          </a:prstGeom>
          <a:solidFill>
            <a:srgbClr val="111111"/>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9"/>
          <p:cNvSpPr/>
          <p:nvPr/>
        </p:nvSpPr>
        <p:spPr>
          <a:xfrm>
            <a:off x="3611880" y="1554480"/>
            <a:ext cx="7680960" cy="384048"/>
          </a:xfrm>
          <a:prstGeom prst="rect">
            <a:avLst/>
          </a:prstGeom>
          <a:solidFill>
            <a:srgbClr val="080808"/>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9"/>
          <p:cNvSpPr/>
          <p:nvPr/>
        </p:nvSpPr>
        <p:spPr>
          <a:xfrm>
            <a:off x="1005840" y="1655064"/>
            <a:ext cx="242316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100"/>
              <a:buFont typeface="Arial"/>
              <a:buNone/>
            </a:pPr>
            <a:r>
              <a:rPr b="1" i="0" lang="en-US" sz="1100" u="none" cap="none" strike="noStrike">
                <a:solidFill>
                  <a:srgbClr val="F3F3F3"/>
                </a:solidFill>
                <a:latin typeface="Arial"/>
                <a:ea typeface="Arial"/>
                <a:cs typeface="Arial"/>
                <a:sym typeface="Arial"/>
              </a:rPr>
              <a:t>Project frame</a:t>
            </a:r>
            <a:endParaRPr b="0" i="0" sz="1100" u="none" cap="none" strike="noStrike">
              <a:solidFill>
                <a:schemeClr val="dk1"/>
              </a:solidFill>
              <a:latin typeface="Arial"/>
              <a:ea typeface="Arial"/>
              <a:cs typeface="Arial"/>
              <a:sym typeface="Arial"/>
            </a:endParaRPr>
          </a:p>
        </p:txBody>
      </p:sp>
      <p:sp>
        <p:nvSpPr>
          <p:cNvPr id="565" name="Google Shape;565;p19"/>
          <p:cNvSpPr/>
          <p:nvPr/>
        </p:nvSpPr>
        <p:spPr>
          <a:xfrm>
            <a:off x="3767328" y="1655064"/>
            <a:ext cx="73152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100"/>
              <a:buFont typeface="Arial"/>
              <a:buNone/>
            </a:pPr>
            <a:r>
              <a:rPr b="0" i="0" lang="en-US" sz="1100" u="none" cap="none" strike="noStrike">
                <a:solidFill>
                  <a:srgbClr val="A6A6A6"/>
                </a:solidFill>
                <a:latin typeface="Arial"/>
                <a:ea typeface="Arial"/>
                <a:cs typeface="Arial"/>
                <a:sym typeface="Arial"/>
              </a:rPr>
              <a:t>Experiment / Engineering / Data analysis / Hybrid</a:t>
            </a:r>
            <a:endParaRPr b="0" i="0" sz="1100" u="none" cap="none" strike="noStrike">
              <a:solidFill>
                <a:schemeClr val="dk1"/>
              </a:solidFill>
              <a:latin typeface="Arial"/>
              <a:ea typeface="Arial"/>
              <a:cs typeface="Arial"/>
              <a:sym typeface="Arial"/>
            </a:endParaRPr>
          </a:p>
        </p:txBody>
      </p:sp>
      <p:sp>
        <p:nvSpPr>
          <p:cNvPr id="566" name="Google Shape;566;p19"/>
          <p:cNvSpPr/>
          <p:nvPr/>
        </p:nvSpPr>
        <p:spPr>
          <a:xfrm>
            <a:off x="868680" y="2057400"/>
            <a:ext cx="2743200" cy="384048"/>
          </a:xfrm>
          <a:prstGeom prst="rect">
            <a:avLst/>
          </a:prstGeom>
          <a:solidFill>
            <a:srgbClr val="111111"/>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9"/>
          <p:cNvSpPr/>
          <p:nvPr/>
        </p:nvSpPr>
        <p:spPr>
          <a:xfrm>
            <a:off x="3611880" y="2057400"/>
            <a:ext cx="7680960" cy="384048"/>
          </a:xfrm>
          <a:prstGeom prst="rect">
            <a:avLst/>
          </a:prstGeom>
          <a:solidFill>
            <a:srgbClr val="080808"/>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9"/>
          <p:cNvSpPr/>
          <p:nvPr/>
        </p:nvSpPr>
        <p:spPr>
          <a:xfrm>
            <a:off x="1005840" y="2157984"/>
            <a:ext cx="242316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100"/>
              <a:buFont typeface="Arial"/>
              <a:buNone/>
            </a:pPr>
            <a:r>
              <a:rPr b="1" i="0" lang="en-US" sz="1100" u="none" cap="none" strike="noStrike">
                <a:solidFill>
                  <a:srgbClr val="F3F3F3"/>
                </a:solidFill>
                <a:latin typeface="Arial"/>
                <a:ea typeface="Arial"/>
                <a:cs typeface="Arial"/>
                <a:sym typeface="Arial"/>
              </a:rPr>
              <a:t>What changes?</a:t>
            </a:r>
            <a:endParaRPr b="0" i="0" sz="1100" u="none" cap="none" strike="noStrike">
              <a:solidFill>
                <a:schemeClr val="dk1"/>
              </a:solidFill>
              <a:latin typeface="Arial"/>
              <a:ea typeface="Arial"/>
              <a:cs typeface="Arial"/>
              <a:sym typeface="Arial"/>
            </a:endParaRPr>
          </a:p>
        </p:txBody>
      </p:sp>
      <p:sp>
        <p:nvSpPr>
          <p:cNvPr id="569" name="Google Shape;569;p19"/>
          <p:cNvSpPr/>
          <p:nvPr/>
        </p:nvSpPr>
        <p:spPr>
          <a:xfrm>
            <a:off x="3767328" y="2157984"/>
            <a:ext cx="73152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100"/>
              <a:buFont typeface="Arial"/>
              <a:buNone/>
            </a:pPr>
            <a:r>
              <a:rPr b="0" i="0" lang="en-US" sz="1100" u="none" cap="none" strike="noStrike">
                <a:solidFill>
                  <a:srgbClr val="A6A6A6"/>
                </a:solidFill>
                <a:latin typeface="Arial"/>
                <a:ea typeface="Arial"/>
                <a:cs typeface="Arial"/>
                <a:sym typeface="Arial"/>
              </a:rPr>
              <a:t>Variable, prototype feature, group, condition, or dataset filter</a:t>
            </a:r>
            <a:endParaRPr b="0" i="0" sz="1100" u="none" cap="none" strike="noStrike">
              <a:solidFill>
                <a:schemeClr val="dk1"/>
              </a:solidFill>
              <a:latin typeface="Arial"/>
              <a:ea typeface="Arial"/>
              <a:cs typeface="Arial"/>
              <a:sym typeface="Arial"/>
            </a:endParaRPr>
          </a:p>
        </p:txBody>
      </p:sp>
      <p:sp>
        <p:nvSpPr>
          <p:cNvPr id="570" name="Google Shape;570;p19"/>
          <p:cNvSpPr/>
          <p:nvPr/>
        </p:nvSpPr>
        <p:spPr>
          <a:xfrm>
            <a:off x="868680" y="2560320"/>
            <a:ext cx="2743200" cy="384048"/>
          </a:xfrm>
          <a:prstGeom prst="rect">
            <a:avLst/>
          </a:prstGeom>
          <a:solidFill>
            <a:srgbClr val="111111"/>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9"/>
          <p:cNvSpPr/>
          <p:nvPr/>
        </p:nvSpPr>
        <p:spPr>
          <a:xfrm>
            <a:off x="3611880" y="2560320"/>
            <a:ext cx="7680960" cy="384048"/>
          </a:xfrm>
          <a:prstGeom prst="rect">
            <a:avLst/>
          </a:prstGeom>
          <a:solidFill>
            <a:srgbClr val="080808"/>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9"/>
          <p:cNvSpPr/>
          <p:nvPr/>
        </p:nvSpPr>
        <p:spPr>
          <a:xfrm>
            <a:off x="1005840" y="2660904"/>
            <a:ext cx="242316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100"/>
              <a:buFont typeface="Arial"/>
              <a:buNone/>
            </a:pPr>
            <a:r>
              <a:rPr b="1" i="0" lang="en-US" sz="1100" u="none" cap="none" strike="noStrike">
                <a:solidFill>
                  <a:srgbClr val="F3F3F3"/>
                </a:solidFill>
                <a:latin typeface="Arial"/>
                <a:ea typeface="Arial"/>
                <a:cs typeface="Arial"/>
                <a:sym typeface="Arial"/>
              </a:rPr>
              <a:t>What is measured?</a:t>
            </a:r>
            <a:endParaRPr b="0" i="0" sz="1100" u="none" cap="none" strike="noStrike">
              <a:solidFill>
                <a:schemeClr val="dk1"/>
              </a:solidFill>
              <a:latin typeface="Arial"/>
              <a:ea typeface="Arial"/>
              <a:cs typeface="Arial"/>
              <a:sym typeface="Arial"/>
            </a:endParaRPr>
          </a:p>
        </p:txBody>
      </p:sp>
      <p:sp>
        <p:nvSpPr>
          <p:cNvPr id="573" name="Google Shape;573;p19"/>
          <p:cNvSpPr/>
          <p:nvPr/>
        </p:nvSpPr>
        <p:spPr>
          <a:xfrm>
            <a:off x="3767328" y="2660904"/>
            <a:ext cx="73152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100"/>
              <a:buFont typeface="Arial"/>
              <a:buNone/>
            </a:pPr>
            <a:r>
              <a:rPr b="0" i="0" lang="en-US" sz="1100" u="none" cap="none" strike="noStrike">
                <a:solidFill>
                  <a:srgbClr val="A6A6A6"/>
                </a:solidFill>
                <a:latin typeface="Arial"/>
                <a:ea typeface="Arial"/>
                <a:cs typeface="Arial"/>
                <a:sym typeface="Arial"/>
              </a:rPr>
              <a:t>Outcome, performance metric, score, observation, or calculated value</a:t>
            </a:r>
            <a:endParaRPr b="0" i="0" sz="1100" u="none" cap="none" strike="noStrike">
              <a:solidFill>
                <a:schemeClr val="dk1"/>
              </a:solidFill>
              <a:latin typeface="Arial"/>
              <a:ea typeface="Arial"/>
              <a:cs typeface="Arial"/>
              <a:sym typeface="Arial"/>
            </a:endParaRPr>
          </a:p>
        </p:txBody>
      </p:sp>
      <p:sp>
        <p:nvSpPr>
          <p:cNvPr id="574" name="Google Shape;574;p19"/>
          <p:cNvSpPr/>
          <p:nvPr/>
        </p:nvSpPr>
        <p:spPr>
          <a:xfrm>
            <a:off x="868680" y="3063240"/>
            <a:ext cx="2743200" cy="384048"/>
          </a:xfrm>
          <a:prstGeom prst="rect">
            <a:avLst/>
          </a:prstGeom>
          <a:solidFill>
            <a:srgbClr val="111111"/>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9"/>
          <p:cNvSpPr/>
          <p:nvPr/>
        </p:nvSpPr>
        <p:spPr>
          <a:xfrm>
            <a:off x="3611880" y="3063240"/>
            <a:ext cx="7680960" cy="384048"/>
          </a:xfrm>
          <a:prstGeom prst="rect">
            <a:avLst/>
          </a:prstGeom>
          <a:solidFill>
            <a:srgbClr val="080808"/>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9"/>
          <p:cNvSpPr/>
          <p:nvPr/>
        </p:nvSpPr>
        <p:spPr>
          <a:xfrm>
            <a:off x="1005840" y="3163824"/>
            <a:ext cx="242316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100"/>
              <a:buFont typeface="Arial"/>
              <a:buNone/>
            </a:pPr>
            <a:r>
              <a:rPr b="1" i="0" lang="en-US" sz="1100" u="none" cap="none" strike="noStrike">
                <a:solidFill>
                  <a:srgbClr val="F3F3F3"/>
                </a:solidFill>
                <a:latin typeface="Arial"/>
                <a:ea typeface="Arial"/>
                <a:cs typeface="Arial"/>
                <a:sym typeface="Arial"/>
              </a:rPr>
              <a:t>What stays the same?</a:t>
            </a:r>
            <a:endParaRPr b="0" i="0" sz="1100" u="none" cap="none" strike="noStrike">
              <a:solidFill>
                <a:schemeClr val="dk1"/>
              </a:solidFill>
              <a:latin typeface="Arial"/>
              <a:ea typeface="Arial"/>
              <a:cs typeface="Arial"/>
              <a:sym typeface="Arial"/>
            </a:endParaRPr>
          </a:p>
        </p:txBody>
      </p:sp>
      <p:sp>
        <p:nvSpPr>
          <p:cNvPr id="577" name="Google Shape;577;p19"/>
          <p:cNvSpPr/>
          <p:nvPr/>
        </p:nvSpPr>
        <p:spPr>
          <a:xfrm>
            <a:off x="3767328" y="3163824"/>
            <a:ext cx="73152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100"/>
              <a:buFont typeface="Arial"/>
              <a:buNone/>
            </a:pPr>
            <a:r>
              <a:rPr b="0" i="0" lang="en-US" sz="1100" u="none" cap="none" strike="noStrike">
                <a:solidFill>
                  <a:srgbClr val="A6A6A6"/>
                </a:solidFill>
                <a:latin typeface="Arial"/>
                <a:ea typeface="Arial"/>
                <a:cs typeface="Arial"/>
                <a:sym typeface="Arial"/>
              </a:rPr>
              <a:t>Controls, constraints, or consistent conditions</a:t>
            </a:r>
            <a:endParaRPr b="0" i="0" sz="1100" u="none" cap="none" strike="noStrike">
              <a:solidFill>
                <a:schemeClr val="dk1"/>
              </a:solidFill>
              <a:latin typeface="Arial"/>
              <a:ea typeface="Arial"/>
              <a:cs typeface="Arial"/>
              <a:sym typeface="Arial"/>
            </a:endParaRPr>
          </a:p>
        </p:txBody>
      </p:sp>
      <p:sp>
        <p:nvSpPr>
          <p:cNvPr id="578" name="Google Shape;578;p19"/>
          <p:cNvSpPr/>
          <p:nvPr/>
        </p:nvSpPr>
        <p:spPr>
          <a:xfrm>
            <a:off x="868680" y="3566160"/>
            <a:ext cx="2743200" cy="384048"/>
          </a:xfrm>
          <a:prstGeom prst="rect">
            <a:avLst/>
          </a:prstGeom>
          <a:solidFill>
            <a:srgbClr val="111111"/>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9"/>
          <p:cNvSpPr/>
          <p:nvPr/>
        </p:nvSpPr>
        <p:spPr>
          <a:xfrm>
            <a:off x="3611880" y="3566160"/>
            <a:ext cx="7680960" cy="384048"/>
          </a:xfrm>
          <a:prstGeom prst="rect">
            <a:avLst/>
          </a:prstGeom>
          <a:solidFill>
            <a:srgbClr val="080808"/>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9"/>
          <p:cNvSpPr/>
          <p:nvPr/>
        </p:nvSpPr>
        <p:spPr>
          <a:xfrm>
            <a:off x="1005840" y="3666744"/>
            <a:ext cx="242316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100"/>
              <a:buFont typeface="Arial"/>
              <a:buNone/>
            </a:pPr>
            <a:r>
              <a:rPr b="1" i="0" lang="en-US" sz="1100" u="none" cap="none" strike="noStrike">
                <a:solidFill>
                  <a:srgbClr val="F3F3F3"/>
                </a:solidFill>
                <a:latin typeface="Arial"/>
                <a:ea typeface="Arial"/>
                <a:cs typeface="Arial"/>
                <a:sym typeface="Arial"/>
              </a:rPr>
              <a:t>What counts as success?</a:t>
            </a:r>
            <a:endParaRPr b="0" i="0" sz="1100" u="none" cap="none" strike="noStrike">
              <a:solidFill>
                <a:schemeClr val="dk1"/>
              </a:solidFill>
              <a:latin typeface="Arial"/>
              <a:ea typeface="Arial"/>
              <a:cs typeface="Arial"/>
              <a:sym typeface="Arial"/>
            </a:endParaRPr>
          </a:p>
        </p:txBody>
      </p:sp>
      <p:sp>
        <p:nvSpPr>
          <p:cNvPr id="581" name="Google Shape;581;p19"/>
          <p:cNvSpPr/>
          <p:nvPr/>
        </p:nvSpPr>
        <p:spPr>
          <a:xfrm>
            <a:off x="3767328" y="3666744"/>
            <a:ext cx="73152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100"/>
              <a:buFont typeface="Arial"/>
              <a:buNone/>
            </a:pPr>
            <a:r>
              <a:rPr b="0" i="0" lang="en-US" sz="1100" u="none" cap="none" strike="noStrike">
                <a:solidFill>
                  <a:srgbClr val="A6A6A6"/>
                </a:solidFill>
                <a:latin typeface="Arial"/>
                <a:ea typeface="Arial"/>
                <a:cs typeface="Arial"/>
                <a:sym typeface="Arial"/>
              </a:rPr>
              <a:t>Evidence that supports hypothesis or meets design criteria</a:t>
            </a:r>
            <a:endParaRPr b="0" i="0" sz="1100" u="none" cap="none" strike="noStrike">
              <a:solidFill>
                <a:schemeClr val="dk1"/>
              </a:solidFill>
              <a:latin typeface="Arial"/>
              <a:ea typeface="Arial"/>
              <a:cs typeface="Arial"/>
              <a:sym typeface="Arial"/>
            </a:endParaRPr>
          </a:p>
        </p:txBody>
      </p:sp>
      <p:sp>
        <p:nvSpPr>
          <p:cNvPr id="582" name="Google Shape;582;p19"/>
          <p:cNvSpPr/>
          <p:nvPr/>
        </p:nvSpPr>
        <p:spPr>
          <a:xfrm>
            <a:off x="731520" y="4709160"/>
            <a:ext cx="10744200" cy="1097280"/>
          </a:xfrm>
          <a:prstGeom prst="rect">
            <a:avLst/>
          </a:prstGeom>
          <a:solidFill>
            <a:srgbClr val="080808"/>
          </a:solidFill>
          <a:ln cap="flat" cmpd="sng" w="10150">
            <a:solidFill>
              <a:srgbClr val="5555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9"/>
          <p:cNvSpPr/>
          <p:nvPr/>
        </p:nvSpPr>
        <p:spPr>
          <a:xfrm>
            <a:off x="731520" y="4709160"/>
            <a:ext cx="1828800" cy="2743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9"/>
          <p:cNvSpPr/>
          <p:nvPr/>
        </p:nvSpPr>
        <p:spPr>
          <a:xfrm>
            <a:off x="868680" y="4764024"/>
            <a:ext cx="155448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F3F3"/>
              </a:buClr>
              <a:buSzPts val="750"/>
              <a:buFont typeface="Arial"/>
              <a:buNone/>
            </a:pPr>
            <a:r>
              <a:rPr b="1" i="0" lang="en-US" sz="750" u="none" cap="none" strike="noStrike">
                <a:solidFill>
                  <a:srgbClr val="F3F3F3"/>
                </a:solidFill>
                <a:latin typeface="Arial"/>
                <a:ea typeface="Arial"/>
                <a:cs typeface="Arial"/>
                <a:sym typeface="Arial"/>
              </a:rPr>
              <a:t>STUDENT ACTIVITY</a:t>
            </a:r>
            <a:endParaRPr b="0" i="0" sz="750" u="none" cap="none" strike="noStrike">
              <a:solidFill>
                <a:schemeClr val="dk1"/>
              </a:solidFill>
              <a:latin typeface="Arial"/>
              <a:ea typeface="Arial"/>
              <a:cs typeface="Arial"/>
              <a:sym typeface="Arial"/>
            </a:endParaRPr>
          </a:p>
        </p:txBody>
      </p:sp>
      <p:sp>
        <p:nvSpPr>
          <p:cNvPr id="585" name="Google Shape;585;p19"/>
          <p:cNvSpPr/>
          <p:nvPr/>
        </p:nvSpPr>
        <p:spPr>
          <a:xfrm>
            <a:off x="868680" y="5138928"/>
            <a:ext cx="39319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700"/>
              <a:buFont typeface="Play"/>
              <a:buNone/>
            </a:pPr>
            <a:r>
              <a:rPr b="1" i="0" lang="en-US" sz="1700" u="none" cap="none" strike="noStrike">
                <a:solidFill>
                  <a:srgbClr val="F3F3F3"/>
                </a:solidFill>
                <a:latin typeface="Play"/>
                <a:ea typeface="Play"/>
                <a:cs typeface="Play"/>
                <a:sym typeface="Play"/>
              </a:rPr>
              <a:t>Evidence plan sprint.</a:t>
            </a:r>
            <a:endParaRPr b="0" i="0" sz="1700" u="none" cap="none" strike="noStrike">
              <a:solidFill>
                <a:schemeClr val="dk1"/>
              </a:solidFill>
              <a:latin typeface="Arial"/>
              <a:ea typeface="Arial"/>
              <a:cs typeface="Arial"/>
              <a:sym typeface="Arial"/>
            </a:endParaRPr>
          </a:p>
        </p:txBody>
      </p:sp>
      <p:sp>
        <p:nvSpPr>
          <p:cNvPr id="586" name="Google Shape;586;p19"/>
          <p:cNvSpPr/>
          <p:nvPr/>
        </p:nvSpPr>
        <p:spPr>
          <a:xfrm>
            <a:off x="9875520" y="4773168"/>
            <a:ext cx="118872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6A6A6"/>
              </a:buClr>
              <a:buSzPts val="800"/>
              <a:buFont typeface="Arial"/>
              <a:buNone/>
            </a:pPr>
            <a:r>
              <a:rPr b="0" i="0" lang="en-US" sz="800" u="none" cap="none" strike="noStrike">
                <a:solidFill>
                  <a:srgbClr val="A6A6A6"/>
                </a:solidFill>
                <a:latin typeface="Arial"/>
                <a:ea typeface="Arial"/>
                <a:cs typeface="Arial"/>
                <a:sym typeface="Arial"/>
              </a:rPr>
              <a:t>6 minutes</a:t>
            </a:r>
            <a:endParaRPr b="0" i="0" sz="800" u="none" cap="none" strike="noStrike">
              <a:solidFill>
                <a:schemeClr val="dk1"/>
              </a:solidFill>
              <a:latin typeface="Arial"/>
              <a:ea typeface="Arial"/>
              <a:cs typeface="Arial"/>
              <a:sym typeface="Arial"/>
            </a:endParaRPr>
          </a:p>
        </p:txBody>
      </p:sp>
      <p:sp>
        <p:nvSpPr>
          <p:cNvPr id="587" name="Google Shape;587;p19"/>
          <p:cNvSpPr/>
          <p:nvPr/>
        </p:nvSpPr>
        <p:spPr>
          <a:xfrm>
            <a:off x="4892040" y="5056632"/>
            <a:ext cx="60807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320"/>
              <a:buFont typeface="Arial"/>
              <a:buNone/>
            </a:pPr>
            <a:r>
              <a:rPr b="0" i="0" lang="en-US" sz="1320" u="none" cap="none" strike="noStrike">
                <a:solidFill>
                  <a:srgbClr val="F3F3F3"/>
                </a:solidFill>
                <a:latin typeface="Arial"/>
                <a:ea typeface="Arial"/>
                <a:cs typeface="Arial"/>
                <a:sym typeface="Arial"/>
              </a:rPr>
              <a:t>Work independently for 6 minutes, then trade with a partner for one critique question.</a:t>
            </a:r>
            <a:endParaRPr b="0" i="0" sz="1320" u="none" cap="none" strike="noStrike">
              <a:solidFill>
                <a:schemeClr val="dk1"/>
              </a:solidFill>
              <a:latin typeface="Arial"/>
              <a:ea typeface="Arial"/>
              <a:cs typeface="Arial"/>
              <a:sym typeface="Arial"/>
            </a:endParaRPr>
          </a:p>
        </p:txBody>
      </p:sp>
      <p:sp>
        <p:nvSpPr>
          <p:cNvPr id="588" name="Google Shape;588;p19"/>
          <p:cNvSpPr/>
          <p:nvPr/>
        </p:nvSpPr>
        <p:spPr>
          <a:xfrm>
            <a:off x="11201400" y="5742432"/>
            <a:ext cx="411480" cy="2103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6A6A6"/>
              </a:buClr>
              <a:buSzPts val="800"/>
              <a:buFont typeface="Arial"/>
              <a:buNone/>
            </a:pPr>
            <a:r>
              <a:rPr b="0" i="0" lang="en-US" sz="800" u="none" cap="none" strike="noStrike">
                <a:solidFill>
                  <a:srgbClr val="A6A6A6"/>
                </a:solidFill>
                <a:latin typeface="Arial"/>
                <a:ea typeface="Arial"/>
                <a:cs typeface="Arial"/>
                <a:sym typeface="Arial"/>
              </a:rPr>
              <a:t>16</a:t>
            </a:r>
            <a:endParaRPr b="0" i="0" sz="80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593" name="Shape 593"/>
        <p:cNvGrpSpPr/>
        <p:nvPr/>
      </p:nvGrpSpPr>
      <p:grpSpPr>
        <a:xfrm>
          <a:off x="0" y="0"/>
          <a:ext cx="0" cy="0"/>
          <a:chOff x="0" y="0"/>
          <a:chExt cx="0" cy="0"/>
        </a:xfrm>
      </p:grpSpPr>
      <p:sp>
        <p:nvSpPr>
          <p:cNvPr id="594" name="Google Shape;594;p20"/>
          <p:cNvSpPr/>
          <p:nvPr/>
        </p:nvSpPr>
        <p:spPr>
          <a:xfrm>
            <a:off x="0" y="292608"/>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0"/>
          <p:cNvSpPr/>
          <p:nvPr/>
        </p:nvSpPr>
        <p:spPr>
          <a:xfrm>
            <a:off x="0" y="6528816"/>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0"/>
          <p:cNvSpPr/>
          <p:nvPr/>
        </p:nvSpPr>
        <p:spPr>
          <a:xfrm>
            <a:off x="438912" y="6272784"/>
            <a:ext cx="29260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READINESS</a:t>
            </a:r>
            <a:endParaRPr b="0" i="0" sz="850" u="none" cap="none" strike="noStrike">
              <a:solidFill>
                <a:schemeClr val="dk1"/>
              </a:solidFill>
              <a:latin typeface="Arial"/>
              <a:ea typeface="Arial"/>
              <a:cs typeface="Arial"/>
              <a:sym typeface="Arial"/>
            </a:endParaRPr>
          </a:p>
        </p:txBody>
      </p:sp>
      <p:sp>
        <p:nvSpPr>
          <p:cNvPr id="597" name="Google Shape;597;p20"/>
          <p:cNvSpPr/>
          <p:nvPr/>
        </p:nvSpPr>
        <p:spPr>
          <a:xfrm>
            <a:off x="10195560" y="6272784"/>
            <a:ext cx="141732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STARLAB</a:t>
            </a:r>
            <a:endParaRPr b="0" i="0" sz="850" u="none" cap="none" strike="noStrike">
              <a:solidFill>
                <a:schemeClr val="dk1"/>
              </a:solidFill>
              <a:latin typeface="Arial"/>
              <a:ea typeface="Arial"/>
              <a:cs typeface="Arial"/>
              <a:sym typeface="Arial"/>
            </a:endParaRPr>
          </a:p>
        </p:txBody>
      </p:sp>
      <p:cxnSp>
        <p:nvCxnSpPr>
          <p:cNvPr id="598" name="Google Shape;598;p20"/>
          <p:cNvCxnSpPr/>
          <p:nvPr/>
        </p:nvCxnSpPr>
        <p:spPr>
          <a:xfrm>
            <a:off x="438912" y="6163056"/>
            <a:ext cx="2011680" cy="0"/>
          </a:xfrm>
          <a:prstGeom prst="straightConnector1">
            <a:avLst/>
          </a:prstGeom>
          <a:noFill/>
          <a:ln cap="flat" cmpd="sng" w="9525">
            <a:solidFill>
              <a:srgbClr val="555555"/>
            </a:solidFill>
            <a:prstDash val="solid"/>
            <a:round/>
            <a:headEnd len="sm" w="sm" type="none"/>
            <a:tailEnd len="sm" w="sm" type="none"/>
          </a:ln>
        </p:spPr>
      </p:cxnSp>
      <p:cxnSp>
        <p:nvCxnSpPr>
          <p:cNvPr id="599" name="Google Shape;599;p20"/>
          <p:cNvCxnSpPr/>
          <p:nvPr/>
        </p:nvCxnSpPr>
        <p:spPr>
          <a:xfrm>
            <a:off x="10012680" y="6163056"/>
            <a:ext cx="1645920" cy="0"/>
          </a:xfrm>
          <a:prstGeom prst="straightConnector1">
            <a:avLst/>
          </a:prstGeom>
          <a:noFill/>
          <a:ln cap="flat" cmpd="sng" w="9525">
            <a:solidFill>
              <a:srgbClr val="555555"/>
            </a:solidFill>
            <a:prstDash val="solid"/>
            <a:round/>
            <a:headEnd len="sm" w="sm" type="none"/>
            <a:tailEnd len="sm" w="sm" type="none"/>
          </a:ln>
        </p:spPr>
      </p:cxnSp>
      <p:sp>
        <p:nvSpPr>
          <p:cNvPr id="600" name="Google Shape;600;p20"/>
          <p:cNvSpPr/>
          <p:nvPr/>
        </p:nvSpPr>
        <p:spPr>
          <a:xfrm>
            <a:off x="640080" y="566928"/>
            <a:ext cx="109728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2700"/>
              <a:buFont typeface="Play"/>
              <a:buNone/>
            </a:pPr>
            <a:r>
              <a:rPr b="1" i="0" lang="en-US" sz="2700" u="none" cap="none" strike="noStrike">
                <a:solidFill>
                  <a:srgbClr val="F3F3F3"/>
                </a:solidFill>
                <a:latin typeface="Play"/>
                <a:ea typeface="Play"/>
                <a:cs typeface="Play"/>
                <a:sym typeface="Play"/>
              </a:rPr>
              <a:t>Before a Project Moves Forward</a:t>
            </a:r>
            <a:endParaRPr b="0" i="0" sz="2700" u="none" cap="none" strike="noStrike">
              <a:solidFill>
                <a:schemeClr val="dk1"/>
              </a:solidFill>
              <a:latin typeface="Arial"/>
              <a:ea typeface="Arial"/>
              <a:cs typeface="Arial"/>
              <a:sym typeface="Arial"/>
            </a:endParaRPr>
          </a:p>
        </p:txBody>
      </p:sp>
      <p:sp>
        <p:nvSpPr>
          <p:cNvPr id="601" name="Google Shape;601;p20"/>
          <p:cNvSpPr/>
          <p:nvPr/>
        </p:nvSpPr>
        <p:spPr>
          <a:xfrm>
            <a:off x="640080" y="1078992"/>
            <a:ext cx="1051560"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0"/>
          <p:cNvSpPr/>
          <p:nvPr/>
        </p:nvSpPr>
        <p:spPr>
          <a:xfrm>
            <a:off x="658368" y="1188720"/>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600"/>
              <a:buFont typeface="Arial"/>
              <a:buNone/>
            </a:pPr>
            <a:r>
              <a:rPr b="0" i="0" lang="en-US" sz="1600" u="none" cap="none" strike="noStrike">
                <a:solidFill>
                  <a:srgbClr val="A6A6A6"/>
                </a:solidFill>
                <a:latin typeface="Arial"/>
                <a:ea typeface="Arial"/>
                <a:cs typeface="Arial"/>
                <a:sym typeface="Arial"/>
              </a:rPr>
              <a:t>Students do not need perfection. They need enough clarity to plan safely.</a:t>
            </a:r>
            <a:endParaRPr b="0" i="0" sz="1600" u="none" cap="none" strike="noStrike">
              <a:solidFill>
                <a:schemeClr val="dk1"/>
              </a:solidFill>
              <a:latin typeface="Arial"/>
              <a:ea typeface="Arial"/>
              <a:cs typeface="Arial"/>
              <a:sym typeface="Arial"/>
            </a:endParaRPr>
          </a:p>
        </p:txBody>
      </p:sp>
      <p:sp>
        <p:nvSpPr>
          <p:cNvPr id="603" name="Google Shape;603;p20"/>
          <p:cNvSpPr/>
          <p:nvPr/>
        </p:nvSpPr>
        <p:spPr>
          <a:xfrm>
            <a:off x="1051560" y="1691640"/>
            <a:ext cx="4937760" cy="393192"/>
          </a:xfrm>
          <a:prstGeom prst="rect">
            <a:avLst/>
          </a:prstGeom>
          <a:solidFill>
            <a:srgbClr val="111111"/>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0"/>
          <p:cNvSpPr/>
          <p:nvPr/>
        </p:nvSpPr>
        <p:spPr>
          <a:xfrm>
            <a:off x="1234440" y="1792224"/>
            <a:ext cx="4572000" cy="1554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 Clear question or problem</a:t>
            </a:r>
            <a:endParaRPr b="0" i="0" sz="1350" u="none" cap="none" strike="noStrike">
              <a:solidFill>
                <a:schemeClr val="dk1"/>
              </a:solidFill>
              <a:latin typeface="Arial"/>
              <a:ea typeface="Arial"/>
              <a:cs typeface="Arial"/>
              <a:sym typeface="Arial"/>
            </a:endParaRPr>
          </a:p>
        </p:txBody>
      </p:sp>
      <p:sp>
        <p:nvSpPr>
          <p:cNvPr id="605" name="Google Shape;605;p20"/>
          <p:cNvSpPr/>
          <p:nvPr/>
        </p:nvSpPr>
        <p:spPr>
          <a:xfrm>
            <a:off x="1051560" y="2258568"/>
            <a:ext cx="4937760" cy="393192"/>
          </a:xfrm>
          <a:prstGeom prst="rect">
            <a:avLst/>
          </a:prstGeom>
          <a:solidFill>
            <a:srgbClr val="111111"/>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0"/>
          <p:cNvSpPr/>
          <p:nvPr/>
        </p:nvSpPr>
        <p:spPr>
          <a:xfrm>
            <a:off x="1234440" y="2359152"/>
            <a:ext cx="4572000" cy="1554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 Measurable outcome or metric</a:t>
            </a:r>
            <a:endParaRPr b="0" i="0" sz="1350" u="none" cap="none" strike="noStrike">
              <a:solidFill>
                <a:schemeClr val="dk1"/>
              </a:solidFill>
              <a:latin typeface="Arial"/>
              <a:ea typeface="Arial"/>
              <a:cs typeface="Arial"/>
              <a:sym typeface="Arial"/>
            </a:endParaRPr>
          </a:p>
        </p:txBody>
      </p:sp>
      <p:sp>
        <p:nvSpPr>
          <p:cNvPr id="607" name="Google Shape;607;p20"/>
          <p:cNvSpPr/>
          <p:nvPr/>
        </p:nvSpPr>
        <p:spPr>
          <a:xfrm>
            <a:off x="1051560" y="2825496"/>
            <a:ext cx="4937760" cy="393192"/>
          </a:xfrm>
          <a:prstGeom prst="rect">
            <a:avLst/>
          </a:prstGeom>
          <a:solidFill>
            <a:srgbClr val="111111"/>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0"/>
          <p:cNvSpPr/>
          <p:nvPr/>
        </p:nvSpPr>
        <p:spPr>
          <a:xfrm>
            <a:off x="1234440" y="2926080"/>
            <a:ext cx="4572000" cy="1554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 Fair comparison or criteria</a:t>
            </a:r>
            <a:endParaRPr b="0" i="0" sz="1350" u="none" cap="none" strike="noStrike">
              <a:solidFill>
                <a:schemeClr val="dk1"/>
              </a:solidFill>
              <a:latin typeface="Arial"/>
              <a:ea typeface="Arial"/>
              <a:cs typeface="Arial"/>
              <a:sym typeface="Arial"/>
            </a:endParaRPr>
          </a:p>
        </p:txBody>
      </p:sp>
      <p:sp>
        <p:nvSpPr>
          <p:cNvPr id="609" name="Google Shape;609;p20"/>
          <p:cNvSpPr/>
          <p:nvPr/>
        </p:nvSpPr>
        <p:spPr>
          <a:xfrm>
            <a:off x="1051560" y="3392424"/>
            <a:ext cx="4937760" cy="393192"/>
          </a:xfrm>
          <a:prstGeom prst="rect">
            <a:avLst/>
          </a:prstGeom>
          <a:solidFill>
            <a:srgbClr val="111111"/>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0"/>
          <p:cNvSpPr/>
          <p:nvPr/>
        </p:nvSpPr>
        <p:spPr>
          <a:xfrm>
            <a:off x="1234440" y="3493008"/>
            <a:ext cx="4572000" cy="1554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 Feasible materials and timeline</a:t>
            </a:r>
            <a:endParaRPr b="0" i="0" sz="1350" u="none" cap="none" strike="noStrike">
              <a:solidFill>
                <a:schemeClr val="dk1"/>
              </a:solidFill>
              <a:latin typeface="Arial"/>
              <a:ea typeface="Arial"/>
              <a:cs typeface="Arial"/>
              <a:sym typeface="Arial"/>
            </a:endParaRPr>
          </a:p>
        </p:txBody>
      </p:sp>
      <p:sp>
        <p:nvSpPr>
          <p:cNvPr id="611" name="Google Shape;611;p20"/>
          <p:cNvSpPr/>
          <p:nvPr/>
        </p:nvSpPr>
        <p:spPr>
          <a:xfrm>
            <a:off x="1051560" y="3959352"/>
            <a:ext cx="4937760" cy="393192"/>
          </a:xfrm>
          <a:prstGeom prst="rect">
            <a:avLst/>
          </a:prstGeom>
          <a:solidFill>
            <a:srgbClr val="111111"/>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0"/>
          <p:cNvSpPr/>
          <p:nvPr/>
        </p:nvSpPr>
        <p:spPr>
          <a:xfrm>
            <a:off x="1234440" y="4059936"/>
            <a:ext cx="4572000" cy="1554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 Safety and ethics screened</a:t>
            </a:r>
            <a:endParaRPr b="0" i="0" sz="1350" u="none" cap="none" strike="noStrike">
              <a:solidFill>
                <a:schemeClr val="dk1"/>
              </a:solidFill>
              <a:latin typeface="Arial"/>
              <a:ea typeface="Arial"/>
              <a:cs typeface="Arial"/>
              <a:sym typeface="Arial"/>
            </a:endParaRPr>
          </a:p>
        </p:txBody>
      </p:sp>
      <p:sp>
        <p:nvSpPr>
          <p:cNvPr id="613" name="Google Shape;613;p20"/>
          <p:cNvSpPr/>
          <p:nvPr/>
        </p:nvSpPr>
        <p:spPr>
          <a:xfrm>
            <a:off x="6400800" y="1965960"/>
            <a:ext cx="4343400" cy="914400"/>
          </a:xfrm>
          <a:prstGeom prst="rect">
            <a:avLst/>
          </a:prstGeom>
          <a:solidFill>
            <a:srgbClr val="080808"/>
          </a:solidFill>
          <a:ln cap="flat" cmpd="sng" w="10150">
            <a:solidFill>
              <a:srgbClr val="5555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0"/>
          <p:cNvSpPr/>
          <p:nvPr/>
        </p:nvSpPr>
        <p:spPr>
          <a:xfrm>
            <a:off x="6629400" y="2212848"/>
            <a:ext cx="38862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800"/>
              <a:buFont typeface="Arial"/>
              <a:buNone/>
            </a:pPr>
            <a:r>
              <a:rPr b="1" i="0" lang="en-US" sz="1800" u="none" cap="none" strike="noStrike">
                <a:solidFill>
                  <a:srgbClr val="F3F3F3"/>
                </a:solidFill>
                <a:latin typeface="Arial"/>
                <a:ea typeface="Arial"/>
                <a:cs typeface="Arial"/>
                <a:sym typeface="Arial"/>
              </a:rPr>
              <a:t>If one of these is missing, the next step is revision — not testing.</a:t>
            </a:r>
            <a:endParaRPr b="0" i="0" sz="1800" u="none" cap="none" strike="noStrike">
              <a:solidFill>
                <a:schemeClr val="dk1"/>
              </a:solidFill>
              <a:latin typeface="Arial"/>
              <a:ea typeface="Arial"/>
              <a:cs typeface="Arial"/>
              <a:sym typeface="Arial"/>
            </a:endParaRPr>
          </a:p>
        </p:txBody>
      </p:sp>
      <p:cxnSp>
        <p:nvCxnSpPr>
          <p:cNvPr id="615" name="Google Shape;615;p20"/>
          <p:cNvCxnSpPr/>
          <p:nvPr/>
        </p:nvCxnSpPr>
        <p:spPr>
          <a:xfrm>
            <a:off x="6400800" y="3429000"/>
            <a:ext cx="4343400" cy="0"/>
          </a:xfrm>
          <a:prstGeom prst="straightConnector1">
            <a:avLst/>
          </a:prstGeom>
          <a:noFill/>
          <a:ln cap="flat" cmpd="sng" w="12700">
            <a:solidFill>
              <a:srgbClr val="ED1C24"/>
            </a:solidFill>
            <a:prstDash val="solid"/>
            <a:round/>
            <a:headEnd len="sm" w="sm" type="none"/>
            <a:tailEnd len="sm" w="sm" type="none"/>
          </a:ln>
        </p:spPr>
      </p:cxnSp>
      <p:sp>
        <p:nvSpPr>
          <p:cNvPr id="616" name="Google Shape;616;p20"/>
          <p:cNvSpPr/>
          <p:nvPr/>
        </p:nvSpPr>
        <p:spPr>
          <a:xfrm>
            <a:off x="6400800" y="3730752"/>
            <a:ext cx="4343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500"/>
              <a:buFont typeface="Arial"/>
              <a:buNone/>
            </a:pPr>
            <a:r>
              <a:rPr b="0" i="0" lang="en-US" sz="1500" u="none" cap="none" strike="noStrike">
                <a:solidFill>
                  <a:srgbClr val="A6A6A6"/>
                </a:solidFill>
                <a:latin typeface="Arial"/>
                <a:ea typeface="Arial"/>
                <a:cs typeface="Arial"/>
                <a:sym typeface="Arial"/>
              </a:rPr>
              <a:t>This connects directly to the Unit 2 research plan approval checkpoint.</a:t>
            </a:r>
            <a:endParaRPr b="0" i="0" sz="1500" u="none" cap="none" strike="noStrike">
              <a:solidFill>
                <a:schemeClr val="dk1"/>
              </a:solidFill>
              <a:latin typeface="Arial"/>
              <a:ea typeface="Arial"/>
              <a:cs typeface="Arial"/>
              <a:sym typeface="Arial"/>
            </a:endParaRPr>
          </a:p>
        </p:txBody>
      </p:sp>
      <p:sp>
        <p:nvSpPr>
          <p:cNvPr id="617" name="Google Shape;617;p20"/>
          <p:cNvSpPr/>
          <p:nvPr/>
        </p:nvSpPr>
        <p:spPr>
          <a:xfrm>
            <a:off x="11201400" y="5742432"/>
            <a:ext cx="411480" cy="2103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6A6A6"/>
              </a:buClr>
              <a:buSzPts val="800"/>
              <a:buFont typeface="Arial"/>
              <a:buNone/>
            </a:pPr>
            <a:r>
              <a:rPr b="0" i="0" lang="en-US" sz="800" u="none" cap="none" strike="noStrike">
                <a:solidFill>
                  <a:srgbClr val="A6A6A6"/>
                </a:solidFill>
                <a:latin typeface="Arial"/>
                <a:ea typeface="Arial"/>
                <a:cs typeface="Arial"/>
                <a:sym typeface="Arial"/>
              </a:rPr>
              <a:t>17</a:t>
            </a:r>
            <a:endParaRPr b="0" i="0" sz="8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622" name="Shape 622"/>
        <p:cNvGrpSpPr/>
        <p:nvPr/>
      </p:nvGrpSpPr>
      <p:grpSpPr>
        <a:xfrm>
          <a:off x="0" y="0"/>
          <a:ext cx="0" cy="0"/>
          <a:chOff x="0" y="0"/>
          <a:chExt cx="0" cy="0"/>
        </a:xfrm>
      </p:grpSpPr>
      <p:sp>
        <p:nvSpPr>
          <p:cNvPr id="623" name="Google Shape;623;p21"/>
          <p:cNvSpPr/>
          <p:nvPr/>
        </p:nvSpPr>
        <p:spPr>
          <a:xfrm>
            <a:off x="0" y="292608"/>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1"/>
          <p:cNvSpPr/>
          <p:nvPr/>
        </p:nvSpPr>
        <p:spPr>
          <a:xfrm>
            <a:off x="0" y="6528816"/>
            <a:ext cx="12191695"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1"/>
          <p:cNvSpPr/>
          <p:nvPr/>
        </p:nvSpPr>
        <p:spPr>
          <a:xfrm>
            <a:off x="438912" y="6272784"/>
            <a:ext cx="29260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EXIT TICKET</a:t>
            </a:r>
            <a:endParaRPr b="0" i="0" sz="850" u="none" cap="none" strike="noStrike">
              <a:solidFill>
                <a:schemeClr val="dk1"/>
              </a:solidFill>
              <a:latin typeface="Arial"/>
              <a:ea typeface="Arial"/>
              <a:cs typeface="Arial"/>
              <a:sym typeface="Arial"/>
            </a:endParaRPr>
          </a:p>
        </p:txBody>
      </p:sp>
      <p:sp>
        <p:nvSpPr>
          <p:cNvPr id="626" name="Google Shape;626;p21"/>
          <p:cNvSpPr/>
          <p:nvPr/>
        </p:nvSpPr>
        <p:spPr>
          <a:xfrm>
            <a:off x="10195560" y="6272784"/>
            <a:ext cx="141732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6A6A6"/>
              </a:buClr>
              <a:buSzPts val="850"/>
              <a:buFont typeface="Arial"/>
              <a:buNone/>
            </a:pPr>
            <a:r>
              <a:rPr b="1" i="0" lang="en-US" sz="850" u="none" cap="none" strike="noStrike">
                <a:solidFill>
                  <a:srgbClr val="A6A6A6"/>
                </a:solidFill>
                <a:latin typeface="Arial"/>
                <a:ea typeface="Arial"/>
                <a:cs typeface="Arial"/>
                <a:sym typeface="Arial"/>
              </a:rPr>
              <a:t>STARLAB</a:t>
            </a:r>
            <a:endParaRPr b="0" i="0" sz="850" u="none" cap="none" strike="noStrike">
              <a:solidFill>
                <a:schemeClr val="dk1"/>
              </a:solidFill>
              <a:latin typeface="Arial"/>
              <a:ea typeface="Arial"/>
              <a:cs typeface="Arial"/>
              <a:sym typeface="Arial"/>
            </a:endParaRPr>
          </a:p>
        </p:txBody>
      </p:sp>
      <p:cxnSp>
        <p:nvCxnSpPr>
          <p:cNvPr id="627" name="Google Shape;627;p21"/>
          <p:cNvCxnSpPr/>
          <p:nvPr/>
        </p:nvCxnSpPr>
        <p:spPr>
          <a:xfrm>
            <a:off x="438912" y="6163056"/>
            <a:ext cx="2011680" cy="0"/>
          </a:xfrm>
          <a:prstGeom prst="straightConnector1">
            <a:avLst/>
          </a:prstGeom>
          <a:noFill/>
          <a:ln cap="flat" cmpd="sng" w="9525">
            <a:solidFill>
              <a:srgbClr val="555555"/>
            </a:solidFill>
            <a:prstDash val="solid"/>
            <a:round/>
            <a:headEnd len="sm" w="sm" type="none"/>
            <a:tailEnd len="sm" w="sm" type="none"/>
          </a:ln>
        </p:spPr>
      </p:cxnSp>
      <p:cxnSp>
        <p:nvCxnSpPr>
          <p:cNvPr id="628" name="Google Shape;628;p21"/>
          <p:cNvCxnSpPr/>
          <p:nvPr/>
        </p:nvCxnSpPr>
        <p:spPr>
          <a:xfrm>
            <a:off x="10012680" y="6163056"/>
            <a:ext cx="1645920" cy="0"/>
          </a:xfrm>
          <a:prstGeom prst="straightConnector1">
            <a:avLst/>
          </a:prstGeom>
          <a:noFill/>
          <a:ln cap="flat" cmpd="sng" w="9525">
            <a:solidFill>
              <a:srgbClr val="555555"/>
            </a:solidFill>
            <a:prstDash val="solid"/>
            <a:round/>
            <a:headEnd len="sm" w="sm" type="none"/>
            <a:tailEnd len="sm" w="sm" type="none"/>
          </a:ln>
        </p:spPr>
      </p:cxnSp>
      <p:sp>
        <p:nvSpPr>
          <p:cNvPr id="629" name="Google Shape;629;p21"/>
          <p:cNvSpPr/>
          <p:nvPr/>
        </p:nvSpPr>
        <p:spPr>
          <a:xfrm>
            <a:off x="640080" y="566928"/>
            <a:ext cx="109728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2700"/>
              <a:buFont typeface="Play"/>
              <a:buNone/>
            </a:pPr>
            <a:r>
              <a:rPr b="1" i="0" lang="en-US" sz="2700" u="none" cap="none" strike="noStrike">
                <a:solidFill>
                  <a:srgbClr val="F3F3F3"/>
                </a:solidFill>
                <a:latin typeface="Play"/>
                <a:ea typeface="Play"/>
                <a:cs typeface="Play"/>
                <a:sym typeface="Play"/>
              </a:rPr>
              <a:t>Exit Ticket</a:t>
            </a:r>
            <a:endParaRPr b="0" i="0" sz="2700" u="none" cap="none" strike="noStrike">
              <a:solidFill>
                <a:schemeClr val="dk1"/>
              </a:solidFill>
              <a:latin typeface="Arial"/>
              <a:ea typeface="Arial"/>
              <a:cs typeface="Arial"/>
              <a:sym typeface="Arial"/>
            </a:endParaRPr>
          </a:p>
        </p:txBody>
      </p:sp>
      <p:sp>
        <p:nvSpPr>
          <p:cNvPr id="630" name="Google Shape;630;p21"/>
          <p:cNvSpPr/>
          <p:nvPr/>
        </p:nvSpPr>
        <p:spPr>
          <a:xfrm>
            <a:off x="640080" y="1078992"/>
            <a:ext cx="1051560" cy="45720"/>
          </a:xfrm>
          <a:prstGeom prst="rect">
            <a:avLst/>
          </a:prstGeom>
          <a:solidFill>
            <a:srgbClr val="ED1C24"/>
          </a:solidFill>
          <a:ln cap="flat" cmpd="sng" w="12700">
            <a:solidFill>
              <a:srgbClr val="ED1C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1"/>
          <p:cNvSpPr/>
          <p:nvPr/>
        </p:nvSpPr>
        <p:spPr>
          <a:xfrm>
            <a:off x="658368" y="1188720"/>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600"/>
              <a:buFont typeface="Arial"/>
              <a:buNone/>
            </a:pPr>
            <a:r>
              <a:rPr b="0" i="0" lang="en-US" sz="1600" u="none" cap="none" strike="noStrike">
                <a:solidFill>
                  <a:srgbClr val="A6A6A6"/>
                </a:solidFill>
                <a:latin typeface="Arial"/>
                <a:ea typeface="Arial"/>
                <a:cs typeface="Arial"/>
                <a:sym typeface="Arial"/>
              </a:rPr>
              <a:t>Students leave with one sharper project frame.</a:t>
            </a:r>
            <a:endParaRPr b="0" i="0" sz="1600" u="none" cap="none" strike="noStrike">
              <a:solidFill>
                <a:schemeClr val="dk1"/>
              </a:solidFill>
              <a:latin typeface="Arial"/>
              <a:ea typeface="Arial"/>
              <a:cs typeface="Arial"/>
              <a:sym typeface="Arial"/>
            </a:endParaRPr>
          </a:p>
        </p:txBody>
      </p:sp>
      <p:sp>
        <p:nvSpPr>
          <p:cNvPr id="632" name="Google Shape;632;p21"/>
          <p:cNvSpPr/>
          <p:nvPr/>
        </p:nvSpPr>
        <p:spPr>
          <a:xfrm>
            <a:off x="868680" y="1645920"/>
            <a:ext cx="2743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A6A6"/>
              </a:buClr>
              <a:buSzPts val="1500"/>
              <a:buFont typeface="Arial"/>
              <a:buNone/>
            </a:pPr>
            <a:r>
              <a:rPr b="1" i="0" lang="en-US" sz="1500" u="none" cap="none" strike="noStrike">
                <a:solidFill>
                  <a:srgbClr val="A6A6A6"/>
                </a:solidFill>
                <a:latin typeface="Arial"/>
                <a:ea typeface="Arial"/>
                <a:cs typeface="Arial"/>
                <a:sym typeface="Arial"/>
              </a:rPr>
              <a:t>Answer in 4 lines:</a:t>
            </a:r>
            <a:endParaRPr b="0" i="0" sz="1500" u="none" cap="none" strike="noStrike">
              <a:solidFill>
                <a:schemeClr val="dk1"/>
              </a:solidFill>
              <a:latin typeface="Arial"/>
              <a:ea typeface="Arial"/>
              <a:cs typeface="Arial"/>
              <a:sym typeface="Arial"/>
            </a:endParaRPr>
          </a:p>
        </p:txBody>
      </p:sp>
      <p:sp>
        <p:nvSpPr>
          <p:cNvPr id="633" name="Google Shape;633;p21"/>
          <p:cNvSpPr/>
          <p:nvPr/>
        </p:nvSpPr>
        <p:spPr>
          <a:xfrm>
            <a:off x="914400" y="1993392"/>
            <a:ext cx="10241280" cy="420624"/>
          </a:xfrm>
          <a:prstGeom prst="rect">
            <a:avLst/>
          </a:prstGeom>
          <a:solidFill>
            <a:srgbClr val="111111"/>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1"/>
          <p:cNvSpPr/>
          <p:nvPr/>
        </p:nvSpPr>
        <p:spPr>
          <a:xfrm>
            <a:off x="1115568" y="2103120"/>
            <a:ext cx="98755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1. My project is mainly an experiment / engineering design / data analysis project because…</a:t>
            </a:r>
            <a:endParaRPr b="0" i="0" sz="1350" u="none" cap="none" strike="noStrike">
              <a:solidFill>
                <a:schemeClr val="dk1"/>
              </a:solidFill>
              <a:latin typeface="Arial"/>
              <a:ea typeface="Arial"/>
              <a:cs typeface="Arial"/>
              <a:sym typeface="Arial"/>
            </a:endParaRPr>
          </a:p>
        </p:txBody>
      </p:sp>
      <p:sp>
        <p:nvSpPr>
          <p:cNvPr id="635" name="Google Shape;635;p21"/>
          <p:cNvSpPr/>
          <p:nvPr/>
        </p:nvSpPr>
        <p:spPr>
          <a:xfrm>
            <a:off x="914400" y="2596896"/>
            <a:ext cx="10241280" cy="420624"/>
          </a:xfrm>
          <a:prstGeom prst="rect">
            <a:avLst/>
          </a:prstGeom>
          <a:solidFill>
            <a:srgbClr val="080808"/>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1"/>
          <p:cNvSpPr/>
          <p:nvPr/>
        </p:nvSpPr>
        <p:spPr>
          <a:xfrm>
            <a:off x="1115568" y="2706624"/>
            <a:ext cx="98755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2. The main thing I will change, compare, build, or analyze is…</a:t>
            </a:r>
            <a:endParaRPr b="0" i="0" sz="1350" u="none" cap="none" strike="noStrike">
              <a:solidFill>
                <a:schemeClr val="dk1"/>
              </a:solidFill>
              <a:latin typeface="Arial"/>
              <a:ea typeface="Arial"/>
              <a:cs typeface="Arial"/>
              <a:sym typeface="Arial"/>
            </a:endParaRPr>
          </a:p>
        </p:txBody>
      </p:sp>
      <p:sp>
        <p:nvSpPr>
          <p:cNvPr id="637" name="Google Shape;637;p21"/>
          <p:cNvSpPr/>
          <p:nvPr/>
        </p:nvSpPr>
        <p:spPr>
          <a:xfrm>
            <a:off x="914400" y="3200400"/>
            <a:ext cx="10241280" cy="420624"/>
          </a:xfrm>
          <a:prstGeom prst="rect">
            <a:avLst/>
          </a:prstGeom>
          <a:solidFill>
            <a:srgbClr val="111111"/>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1"/>
          <p:cNvSpPr/>
          <p:nvPr/>
        </p:nvSpPr>
        <p:spPr>
          <a:xfrm>
            <a:off x="1115568" y="3310128"/>
            <a:ext cx="98755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3. The main thing I will measure or evaluate is…</a:t>
            </a:r>
            <a:endParaRPr b="0" i="0" sz="1350" u="none" cap="none" strike="noStrike">
              <a:solidFill>
                <a:schemeClr val="dk1"/>
              </a:solidFill>
              <a:latin typeface="Arial"/>
              <a:ea typeface="Arial"/>
              <a:cs typeface="Arial"/>
              <a:sym typeface="Arial"/>
            </a:endParaRPr>
          </a:p>
        </p:txBody>
      </p:sp>
      <p:sp>
        <p:nvSpPr>
          <p:cNvPr id="639" name="Google Shape;639;p21"/>
          <p:cNvSpPr/>
          <p:nvPr/>
        </p:nvSpPr>
        <p:spPr>
          <a:xfrm>
            <a:off x="914400" y="3803904"/>
            <a:ext cx="10241280" cy="420624"/>
          </a:xfrm>
          <a:prstGeom prst="rect">
            <a:avLst/>
          </a:prstGeom>
          <a:solidFill>
            <a:srgbClr val="080808"/>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1"/>
          <p:cNvSpPr/>
          <p:nvPr/>
        </p:nvSpPr>
        <p:spPr>
          <a:xfrm>
            <a:off x="1115568" y="3913632"/>
            <a:ext cx="98755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3F3"/>
              </a:buClr>
              <a:buSzPts val="1350"/>
              <a:buFont typeface="Arial"/>
              <a:buNone/>
            </a:pPr>
            <a:r>
              <a:rPr b="0" i="0" lang="en-US" sz="1350" u="none" cap="none" strike="noStrike">
                <a:solidFill>
                  <a:srgbClr val="F3F3F3"/>
                </a:solidFill>
                <a:latin typeface="Arial"/>
                <a:ea typeface="Arial"/>
                <a:cs typeface="Arial"/>
                <a:sym typeface="Arial"/>
              </a:rPr>
              <a:t>4. One thing I must control, constrain, or keep consistent is…</a:t>
            </a:r>
            <a:endParaRPr b="0" i="0" sz="1350" u="none" cap="none" strike="noStrike">
              <a:solidFill>
                <a:schemeClr val="dk1"/>
              </a:solidFill>
              <a:latin typeface="Arial"/>
              <a:ea typeface="Arial"/>
              <a:cs typeface="Arial"/>
              <a:sym typeface="Arial"/>
            </a:endParaRPr>
          </a:p>
        </p:txBody>
      </p:sp>
      <p:sp>
        <p:nvSpPr>
          <p:cNvPr id="641" name="Google Shape;641;p21"/>
          <p:cNvSpPr/>
          <p:nvPr/>
        </p:nvSpPr>
        <p:spPr>
          <a:xfrm>
            <a:off x="868680" y="5257800"/>
            <a:ext cx="104241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F3F3"/>
              </a:buClr>
              <a:buSzPts val="2000"/>
              <a:buFont typeface="Arial"/>
              <a:buNone/>
            </a:pPr>
            <a:r>
              <a:rPr b="1" i="0" lang="en-US" sz="2000" u="none" cap="none" strike="noStrike">
                <a:solidFill>
                  <a:srgbClr val="F3F3F3"/>
                </a:solidFill>
                <a:latin typeface="Arial"/>
                <a:ea typeface="Arial"/>
                <a:cs typeface="Arial"/>
                <a:sym typeface="Arial"/>
              </a:rPr>
              <a:t>Next deck: Building a Formal Research Plan</a:t>
            </a:r>
            <a:endParaRPr b="0" i="0" sz="2000" u="none" cap="none" strike="noStrike">
              <a:solidFill>
                <a:schemeClr val="dk1"/>
              </a:solidFill>
              <a:latin typeface="Arial"/>
              <a:ea typeface="Arial"/>
              <a:cs typeface="Arial"/>
              <a:sym typeface="Arial"/>
            </a:endParaRPr>
          </a:p>
        </p:txBody>
      </p:sp>
      <p:sp>
        <p:nvSpPr>
          <p:cNvPr id="642" name="Google Shape;642;p21"/>
          <p:cNvSpPr/>
          <p:nvPr/>
        </p:nvSpPr>
        <p:spPr>
          <a:xfrm>
            <a:off x="11201400" y="5742432"/>
            <a:ext cx="411480" cy="2103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6A6A6"/>
              </a:buClr>
              <a:buSzPts val="800"/>
              <a:buFont typeface="Arial"/>
              <a:buNone/>
            </a:pPr>
            <a:r>
              <a:rPr b="0" i="0" lang="en-US" sz="800" u="none" cap="none" strike="noStrike">
                <a:solidFill>
                  <a:srgbClr val="A6A6A6"/>
                </a:solidFill>
                <a:latin typeface="Arial"/>
                <a:ea typeface="Arial"/>
                <a:cs typeface="Arial"/>
                <a:sym typeface="Arial"/>
              </a:rPr>
              <a:t>18</a:t>
            </a:r>
            <a:endParaRPr b="0" i="0" sz="8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