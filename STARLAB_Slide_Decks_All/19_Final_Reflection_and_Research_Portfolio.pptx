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Lst>
  <p:sldSz cy="6858000" cx="12192000"/>
  <p:notesSz cx="6858000" cy="12192000"/>
  <p:embeddedFontLst>
    <p:embeddedFont>
      <p:font typeface="Play"/>
      <p:regular r:id="rId24"/>
      <p:bold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font" Target="fonts/Play-regular.fntdata"/><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5" Type="http://schemas.openxmlformats.org/officeDocument/2006/relationships/font" Target="fonts/Play-bold.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title slide as students enter after final presentations or showcase events. Frame this lesson as the moment when students turn the year into evidence of growth. The goal is not just to celebrate the final product, but to help students recognize how their research process changed them.</a:t>
            </a:r>
            <a:br>
              <a:rPr lang="en-US"/>
            </a:br>
            <a:br>
              <a:rPr lang="en-US"/>
            </a:br>
            <a:r>
              <a:rPr lang="en-US"/>
              <a:t>Resource alignment:</a:t>
            </a:r>
            <a:br>
              <a:rPr lang="en-US"/>
            </a:br>
            <a:r>
              <a:rPr lang="en-US"/>
              <a:t>Required print materials for this deck:</a:t>
            </a:r>
            <a:br>
              <a:rPr lang="en-US"/>
            </a:br>
            <a:r>
              <a:rPr lang="en-US"/>
              <a:t>• Unit 6 Student Handout 15: Final Research Process Reflection</a:t>
            </a:r>
            <a:br>
              <a:rPr lang="en-US"/>
            </a:br>
            <a:r>
              <a:rPr lang="en-US"/>
              <a:t>• Unit 6 Student Handout 16: STARLAB Portfolio Checklist</a:t>
            </a:r>
            <a:br>
              <a:rPr lang="en-US"/>
            </a:br>
            <a:r>
              <a:rPr lang="en-US"/>
              <a:t>• Unit 6 Student Handout 17: Optional Next-Step Plan</a:t>
            </a:r>
            <a:br>
              <a:rPr lang="en-US"/>
            </a:br>
            <a:r>
              <a:rPr lang="en-US"/>
              <a:t>• Unit 6 Student Handout 18: Course Feedback and Legacy Reflection</a:t>
            </a:r>
            <a:br>
              <a:rPr lang="en-US"/>
            </a:br>
            <a:r>
              <a:rPr lang="en-US"/>
              <a:t>• Unit 6 Appendix O: Portfolio Artifact Guide</a:t>
            </a:r>
            <a:br>
              <a:rPr lang="en-US"/>
            </a:br>
            <a:r>
              <a:rPr lang="en-US"/>
              <a:t>• Unit 6 Appendix P: Competition, Fair, and Publication Pathways</a:t>
            </a:r>
            <a:br>
              <a:rPr lang="en-US"/>
            </a:br>
            <a:r>
              <a:rPr lang="en-US"/>
              <a:t>• Unit 6 Appendix Q: Student Legacy Options</a:t>
            </a:r>
            <a:br>
              <a:rPr lang="en-US"/>
            </a:br>
            <a:r>
              <a:rPr lang="en-US"/>
              <a:t>• Unit 6 Appendix R: Unit 6 Teacher Checklist</a:t>
            </a:r>
            <a:br>
              <a:rPr lang="en-US"/>
            </a:br>
            <a:r>
              <a:rPr lang="en-US"/>
              <a:t>Optional: Unit 6 Appendix S: Differentiation and Implementation Notes</a:t>
            </a:r>
            <a:br>
              <a:rPr lang="en-US"/>
            </a:br>
            <a:r>
              <a:rPr lang="en-US"/>
              <a:t>Next deck connection: None. This is the final deck in the STARLAB core sequence.</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slide to make clear that reflection is part of research, not an optional wrap-up. Students should leave with a portfolio and a more accurate understanding of their growth.</a:t>
            </a:r>
            <a:br>
              <a:rPr lang="en-US"/>
            </a:br>
            <a:br>
              <a:rPr lang="en-US"/>
            </a:br>
            <a:r>
              <a:rPr lang="en-US"/>
              <a:t>Resource alignment:</a:t>
            </a:r>
            <a:br>
              <a:rPr lang="en-US"/>
            </a:br>
            <a:r>
              <a:rPr lang="en-US"/>
              <a:t>Use with Unit 6 Student Handout 15: Final Research Process Reflection and Student Handout 16: STARLAB Portfolio Checklist. This deck supports Unit 6 Week 34.</a:t>
            </a:r>
            <a:endParaRPr/>
          </a:p>
        </p:txBody>
      </p:sp>
      <p:sp>
        <p:nvSpPr>
          <p:cNvPr id="26" name="Google Shape;2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often judge the year by the final product only. Invite them to recognize the invisible research work behind the final presentation.</a:t>
            </a:r>
            <a:br>
              <a:rPr lang="en-US"/>
            </a:br>
            <a:br>
              <a:rPr lang="en-US"/>
            </a:br>
            <a:r>
              <a:rPr lang="en-US"/>
              <a:t>Resource alignment:</a:t>
            </a:r>
            <a:br>
              <a:rPr lang="en-US"/>
            </a:br>
            <a:r>
              <a:rPr lang="en-US"/>
              <a:t>Use with Unit 6 Student Handout 15: Final Research Process Reflection. Resource connection: Unit 6 Appendix O: Portfolio Artifact Guide.</a:t>
            </a:r>
            <a:endParaRPr/>
          </a:p>
        </p:txBody>
      </p:sp>
      <p:sp>
        <p:nvSpPr>
          <p:cNvPr id="56" name="Google Shape;5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Discourage vague reflection. Strong reflection works like scientific writing: claim, evidence, and reasoning about growth.</a:t>
            </a:r>
            <a:br>
              <a:rPr lang="en-US"/>
            </a:br>
            <a:br>
              <a:rPr lang="en-US"/>
            </a:br>
            <a:r>
              <a:rPr lang="en-US"/>
              <a:t>Resource alignment:</a:t>
            </a:r>
            <a:br>
              <a:rPr lang="en-US"/>
            </a:br>
            <a:r>
              <a:rPr lang="en-US"/>
              <a:t>Use with Unit 6 Student Handout 15: Final Research Process Reflection.</a:t>
            </a:r>
            <a:endParaRPr/>
          </a:p>
        </p:txBody>
      </p:sp>
      <p:sp>
        <p:nvSpPr>
          <p:cNvPr id="77" name="Google Shape;7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the timeline to help students remember moments from each unit. Give them one minute to jot down one artifact or memory from each stage.</a:t>
            </a:r>
            <a:br>
              <a:rPr lang="en-US"/>
            </a:br>
            <a:br>
              <a:rPr lang="en-US"/>
            </a:br>
            <a:r>
              <a:rPr lang="en-US"/>
              <a:t>Resource alignment:</a:t>
            </a:r>
            <a:br>
              <a:rPr lang="en-US"/>
            </a:br>
            <a:r>
              <a:rPr lang="en-US"/>
              <a:t>Use with Unit 6 Student Handout 15: Final Research Process Reflection and Unit 6 Appendix O: Portfolio Artifact Guide.</a:t>
            </a:r>
            <a:endParaRPr/>
          </a:p>
        </p:txBody>
      </p:sp>
      <p:sp>
        <p:nvSpPr>
          <p:cNvPr id="106" name="Google Shape;10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should identify real turning points, not just calendar events. Push them to explain why each moment mattered.</a:t>
            </a:r>
            <a:br>
              <a:rPr lang="en-US"/>
            </a:br>
            <a:br>
              <a:rPr lang="en-US"/>
            </a:br>
            <a:r>
              <a:rPr lang="en-US"/>
              <a:t>Resource alignment:</a:t>
            </a:r>
            <a:br>
              <a:rPr lang="en-US"/>
            </a:br>
            <a:r>
              <a:rPr lang="en-US"/>
              <a:t>Use with Unit 6 Student Handout 15: Final Research Process Reflection. Resource connection: Unit 6 Appendix O: Portfolio Artifact Guide.</a:t>
            </a:r>
            <a:endParaRPr/>
          </a:p>
        </p:txBody>
      </p:sp>
      <p:sp>
        <p:nvSpPr>
          <p:cNvPr id="152" name="Google Shape;15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 name="Google Shape;16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reinforces the STARLAB culture: failure is data. Students should explain failure as evidence that drove a decision.</a:t>
            </a:r>
            <a:br>
              <a:rPr lang="en-US"/>
            </a:br>
            <a:br>
              <a:rPr lang="en-US"/>
            </a:br>
            <a:r>
              <a:rPr lang="en-US"/>
              <a:t>Resource alignment:</a:t>
            </a:r>
            <a:br>
              <a:rPr lang="en-US"/>
            </a:br>
            <a:r>
              <a:rPr lang="en-US"/>
              <a:t>Use with Unit 6 Student Handout 15: Final Research Process Reflection. This also connects back to Unit 3 troubleshooting and research journal work.</a:t>
            </a:r>
            <a:endParaRPr/>
          </a:p>
        </p:txBody>
      </p:sp>
      <p:sp>
        <p:nvSpPr>
          <p:cNvPr id="170" name="Google Shape;17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 name="Google Shape;19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Explain that a portfolio should not be a random file dump. It should intentionally show the research story.</a:t>
            </a:r>
            <a:br>
              <a:rPr lang="en-US"/>
            </a:br>
            <a:br>
              <a:rPr lang="en-US"/>
            </a:br>
            <a:r>
              <a:rPr lang="en-US"/>
              <a:t>Resource alignment:</a:t>
            </a:r>
            <a:br>
              <a:rPr lang="en-US"/>
            </a:br>
            <a:r>
              <a:rPr lang="en-US"/>
              <a:t>Use with Unit 6 Student Handout 16: STARLAB Portfolio Checklist and Unit 6 Appendix O: Portfolio Artifact Guide.</a:t>
            </a:r>
            <a:endParaRPr/>
          </a:p>
        </p:txBody>
      </p:sp>
      <p:sp>
        <p:nvSpPr>
          <p:cNvPr id="191" name="Google Shape;19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Have students choose artifacts intentionally. If a file does not show process, evidence, or growth, it may not belong in the curated portfolio.</a:t>
            </a:r>
            <a:br>
              <a:rPr lang="en-US"/>
            </a:br>
            <a:br>
              <a:rPr lang="en-US"/>
            </a:br>
            <a:r>
              <a:rPr lang="en-US"/>
              <a:t>Resource alignment:</a:t>
            </a:r>
            <a:br>
              <a:rPr lang="en-US"/>
            </a:br>
            <a:r>
              <a:rPr lang="en-US"/>
              <a:t>Use with Unit 6 Student Handout 16: STARLAB Portfolio Checklist and Unit 6 Appendix O: Portfolio Artifact Guide.</a:t>
            </a:r>
            <a:endParaRPr/>
          </a:p>
        </p:txBody>
      </p:sp>
      <p:sp>
        <p:nvSpPr>
          <p:cNvPr id="220" name="Google Shape;22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 name="Google Shape;25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can be a digital file organization work session. Require students to name files clearly and identify one artifact that represents growth.</a:t>
            </a:r>
            <a:br>
              <a:rPr lang="en-US"/>
            </a:br>
            <a:br>
              <a:rPr lang="en-US"/>
            </a:br>
            <a:r>
              <a:rPr lang="en-US"/>
              <a:t>Resource alignment:</a:t>
            </a:r>
            <a:br>
              <a:rPr lang="en-US"/>
            </a:br>
            <a:r>
              <a:rPr lang="en-US"/>
              <a:t>Use with Unit 6 Student Handout 16: STARLAB Portfolio Checklist and Unit 6 Appendix O: Portfolio Artifact Guide.</a:t>
            </a:r>
            <a:endParaRPr/>
          </a:p>
        </p:txBody>
      </p:sp>
      <p:sp>
        <p:nvSpPr>
          <p:cNvPr id="257" name="Google Shape;25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often think uploading files is enough. Emphasize curation: a future teacher, mentor, or scholarship reviewer should understand what each artifact shows.</a:t>
            </a:r>
            <a:br>
              <a:rPr lang="en-US"/>
            </a:br>
            <a:br>
              <a:rPr lang="en-US"/>
            </a:br>
            <a:r>
              <a:rPr lang="en-US"/>
              <a:t>Resource alignment:</a:t>
            </a:r>
            <a:br>
              <a:rPr lang="en-US"/>
            </a:br>
            <a:r>
              <a:rPr lang="en-US"/>
              <a:t>Use with Unit 6 Student Handout 16: STARLAB Portfolio Checklist and Unit 6 Appendix O: Portfolio Artifact Guide.</a:t>
            </a:r>
            <a:endParaRPr/>
          </a:p>
        </p:txBody>
      </p:sp>
      <p:sp>
        <p:nvSpPr>
          <p:cNvPr id="275" name="Google Shape;27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 name="Google Shape;295;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these as oral prompts before students write. The aim is to help students describe scientific habits, not simply content knowledge.</a:t>
            </a:r>
            <a:br>
              <a:rPr lang="en-US"/>
            </a:br>
            <a:br>
              <a:rPr lang="en-US"/>
            </a:br>
            <a:r>
              <a:rPr lang="en-US"/>
              <a:t>Resource alignment:</a:t>
            </a:r>
            <a:br>
              <a:rPr lang="en-US"/>
            </a:br>
            <a:r>
              <a:rPr lang="en-US"/>
              <a:t>Use with Unit 6 Student Handout 15: Final Research Process Reflection and Student Handout 18: Course Feedback and Legacy Reflection.</a:t>
            </a:r>
            <a:endParaRPr/>
          </a:p>
        </p:txBody>
      </p:sp>
      <p:sp>
        <p:nvSpPr>
          <p:cNvPr id="296" name="Google Shape;296;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 name="Google Shape;32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activity makes reflection concrete. Students should cite specific project artifacts or moments, not general feelings.</a:t>
            </a:r>
            <a:br>
              <a:rPr lang="en-US"/>
            </a:br>
            <a:br>
              <a:rPr lang="en-US"/>
            </a:br>
            <a:r>
              <a:rPr lang="en-US"/>
              <a:t>Resource alignment:</a:t>
            </a:r>
            <a:br>
              <a:rPr lang="en-US"/>
            </a:br>
            <a:r>
              <a:rPr lang="en-US"/>
              <a:t>Use with Unit 6 Student Handout 15: Final Research Process Reflection. Resource connection: Unit 6 Appendix O: Portfolio Artifact Guide.</a:t>
            </a:r>
            <a:endParaRPr/>
          </a:p>
        </p:txBody>
      </p:sp>
      <p:sp>
        <p:nvSpPr>
          <p:cNvPr id="325" name="Google Shape;32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Avoid implying that every student must continue. A well-ended project is acceptable. The point is to make an intentional decision.</a:t>
            </a:r>
            <a:br>
              <a:rPr lang="en-US"/>
            </a:br>
            <a:br>
              <a:rPr lang="en-US"/>
            </a:br>
            <a:r>
              <a:rPr lang="en-US"/>
              <a:t>Resource alignment:</a:t>
            </a:r>
            <a:br>
              <a:rPr lang="en-US"/>
            </a:br>
            <a:r>
              <a:rPr lang="en-US"/>
              <a:t>Use with Unit 6 Student Handout 17: Optional Next-Step Plan and Unit 6 Appendix P: Competition, Fair, and Publication Pathways.</a:t>
            </a:r>
            <a:endParaRPr/>
          </a:p>
        </p:txBody>
      </p:sp>
      <p:sp>
        <p:nvSpPr>
          <p:cNvPr id="343" name="Google Shape;343;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prevents vague continuation plans. Students should identify immediate and realistic steps, not simply say “I will keep working on it.”</a:t>
            </a:r>
            <a:br>
              <a:rPr lang="en-US"/>
            </a:br>
            <a:br>
              <a:rPr lang="en-US"/>
            </a:br>
            <a:r>
              <a:rPr lang="en-US"/>
              <a:t>Resource alignment:</a:t>
            </a:r>
            <a:br>
              <a:rPr lang="en-US"/>
            </a:br>
            <a:r>
              <a:rPr lang="en-US"/>
              <a:t>Use with Unit 6 Student Handout 17: Optional Next-Step Plan and Unit 6 Appendix P: Competition, Fair, and Publication Pathways.</a:t>
            </a:r>
            <a:endParaRPr/>
          </a:p>
        </p:txBody>
      </p:sp>
      <p:sp>
        <p:nvSpPr>
          <p:cNvPr id="372" name="Google Shape;37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often give valuable implementation feedback at the end. Collect this carefully; it can improve next year and support future STARLAB chapters.</a:t>
            </a:r>
            <a:br>
              <a:rPr lang="en-US"/>
            </a:br>
            <a:br>
              <a:rPr lang="en-US"/>
            </a:br>
            <a:r>
              <a:rPr lang="en-US"/>
              <a:t>Resource alignment:</a:t>
            </a:r>
            <a:br>
              <a:rPr lang="en-US"/>
            </a:br>
            <a:r>
              <a:rPr lang="en-US"/>
              <a:t>Use with Unit 6 Student Handout 18: Course Feedback and Legacy Reflection and Unit 6 Appendix Q: Student Legacy Options.</a:t>
            </a:r>
            <a:endParaRPr/>
          </a:p>
        </p:txBody>
      </p:sp>
      <p:sp>
        <p:nvSpPr>
          <p:cNvPr id="388" name="Google Shape;388;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5" name="Google Shape;405;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as a teacher-facing checkpoint. It can remain visible to students so expectations are transparent.</a:t>
            </a:r>
            <a:br>
              <a:rPr lang="en-US"/>
            </a:br>
            <a:br>
              <a:rPr lang="en-US"/>
            </a:br>
            <a:r>
              <a:rPr lang="en-US"/>
              <a:t>Resource alignment:</a:t>
            </a:r>
            <a:br>
              <a:rPr lang="en-US"/>
            </a:br>
            <a:r>
              <a:rPr lang="en-US"/>
              <a:t>Use with Unit 6 Appendix R: Unit 6 Teacher Checklist. Supporting materials: Unit 6 Student Handouts 14–18 as applicable.</a:t>
            </a:r>
            <a:endParaRPr/>
          </a:p>
        </p:txBody>
      </p:sp>
      <p:sp>
        <p:nvSpPr>
          <p:cNvPr id="406" name="Google Shape;406;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 name="Google Shape;438;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short prompt can serve as the closing written response before celebration or portfolio submission. It returns students to the identity shift from Deck 1.</a:t>
            </a:r>
            <a:br>
              <a:rPr lang="en-US"/>
            </a:br>
            <a:br>
              <a:rPr lang="en-US"/>
            </a:br>
            <a:r>
              <a:rPr lang="en-US"/>
              <a:t>Resource alignment:</a:t>
            </a:r>
            <a:br>
              <a:rPr lang="en-US"/>
            </a:br>
            <a:r>
              <a:rPr lang="en-US"/>
              <a:t>Use with Unit 6 Student Handout 15: Final Research Process Reflection and Student Handout 18: Course Feedback and Legacy Reflection.</a:t>
            </a:r>
            <a:endParaRPr/>
          </a:p>
        </p:txBody>
      </p:sp>
      <p:sp>
        <p:nvSpPr>
          <p:cNvPr id="439" name="Google Shape;439;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Close the course with a sense of accomplishment and continuity. This is the final deck in the STARLAB sequence. Encourage students to preserve their portfolio before files scatter or disappear.</a:t>
            </a:r>
            <a:br>
              <a:rPr lang="en-US"/>
            </a:br>
            <a:br>
              <a:rPr lang="en-US"/>
            </a:br>
            <a:r>
              <a:rPr lang="en-US"/>
              <a:t>Resource alignment:</a:t>
            </a:r>
            <a:br>
              <a:rPr lang="en-US"/>
            </a:br>
            <a:r>
              <a:rPr lang="en-US"/>
              <a:t>Next deck connection: None. This is the final slide deck in the 19-deck STARLAB sequence. Use after Unit 6 Week 34 portfolio and reflection work.</a:t>
            </a:r>
            <a:endParaRPr/>
          </a:p>
        </p:txBody>
      </p:sp>
      <p:sp>
        <p:nvSpPr>
          <p:cNvPr id="457" name="Google Shape;457;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15" name="Shape 15"/>
        <p:cNvGrpSpPr/>
        <p:nvPr/>
      </p:nvGrpSpPr>
      <p:grpSpPr>
        <a:xfrm>
          <a:off x="0" y="0"/>
          <a:ext cx="0" cy="0"/>
          <a:chOff x="0" y="0"/>
          <a:chExt cx="0" cy="0"/>
        </a:xfrm>
      </p:grpSpPr>
      <p:sp>
        <p:nvSpPr>
          <p:cNvPr id="16" name="Google Shape;16;p3"/>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0" y="128016"/>
            <a:ext cx="12191695" cy="73152"/>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0" y="6629400"/>
            <a:ext cx="12191695" cy="73152"/>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mnt/data/starlab_assets/starlab_logo.png" id="19" name="Google Shape;19;p3"/>
          <p:cNvPicPr preferRelativeResize="0"/>
          <p:nvPr/>
        </p:nvPicPr>
        <p:blipFill rotWithShape="1">
          <a:blip r:embed="rId3">
            <a:alphaModFix/>
          </a:blip>
          <a:srcRect b="0" l="0" r="0" t="0"/>
          <a:stretch/>
        </p:blipFill>
        <p:spPr>
          <a:xfrm>
            <a:off x="2057400" y="502920"/>
            <a:ext cx="8138160" cy="4069080"/>
          </a:xfrm>
          <a:prstGeom prst="rect">
            <a:avLst/>
          </a:prstGeom>
          <a:noFill/>
          <a:ln>
            <a:noFill/>
          </a:ln>
        </p:spPr>
      </p:pic>
      <p:sp>
        <p:nvSpPr>
          <p:cNvPr id="20" name="Google Shape;20;p3"/>
          <p:cNvSpPr/>
          <p:nvPr/>
        </p:nvSpPr>
        <p:spPr>
          <a:xfrm>
            <a:off x="868680" y="4892040"/>
            <a:ext cx="10469880" cy="841248"/>
          </a:xfrm>
          <a:prstGeom prst="rect">
            <a:avLst/>
          </a:prstGeom>
          <a:solidFill>
            <a:srgbClr val="0B0B0D">
              <a:alpha val="0"/>
            </a:srgbClr>
          </a:solidFill>
          <a:ln cap="flat" cmpd="sng" w="12700">
            <a:solidFill>
              <a:srgbClr val="A8A8A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960120" y="4983480"/>
            <a:ext cx="10287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FINAL REFLECTION</a:t>
            </a:r>
            <a:endParaRPr b="0" i="0" sz="30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&amp; RESEARCH PORTFOLIO</a:t>
            </a:r>
            <a:endParaRPr b="0" i="0" sz="3000" u="none" cap="none" strike="noStrike">
              <a:solidFill>
                <a:schemeClr val="dk1"/>
              </a:solidFill>
              <a:latin typeface="Arial"/>
              <a:ea typeface="Arial"/>
              <a:cs typeface="Arial"/>
              <a:sym typeface="Arial"/>
            </a:endParaRPr>
          </a:p>
        </p:txBody>
      </p:sp>
      <p:sp>
        <p:nvSpPr>
          <p:cNvPr id="22" name="Google Shape;22;p3"/>
          <p:cNvSpPr/>
          <p:nvPr/>
        </p:nvSpPr>
        <p:spPr>
          <a:xfrm>
            <a:off x="960120" y="5806440"/>
            <a:ext cx="65836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250"/>
              <a:buFont typeface="Arial"/>
              <a:buNone/>
            </a:pPr>
            <a:r>
              <a:rPr b="0" i="0" lang="en-US" sz="1250" u="none" cap="none" strike="noStrike">
                <a:solidFill>
                  <a:srgbClr val="A8A8A8"/>
                </a:solidFill>
                <a:latin typeface="Arial"/>
                <a:ea typeface="Arial"/>
                <a:cs typeface="Arial"/>
                <a:sym typeface="Arial"/>
              </a:rPr>
              <a:t>STARLAB Deck 19  •  Unit 6 Course Closure</a:t>
            </a:r>
            <a:endParaRPr b="0" i="0" sz="125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27" name="Shape 27"/>
        <p:cNvGrpSpPr/>
        <p:nvPr/>
      </p:nvGrpSpPr>
      <p:grpSpPr>
        <a:xfrm>
          <a:off x="0" y="0"/>
          <a:ext cx="0" cy="0"/>
          <a:chOff x="0" y="0"/>
          <a:chExt cx="0" cy="0"/>
        </a:xfrm>
      </p:grpSpPr>
      <p:sp>
        <p:nvSpPr>
          <p:cNvPr id="28" name="Google Shape;28;p4"/>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4"/>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COURSE CLOSURE</a:t>
            </a:r>
            <a:endParaRPr b="0" i="0" sz="950" u="none" cap="none" strike="noStrike">
              <a:solidFill>
                <a:schemeClr val="dk1"/>
              </a:solidFill>
              <a:latin typeface="Arial"/>
              <a:ea typeface="Arial"/>
              <a:cs typeface="Arial"/>
              <a:sym typeface="Arial"/>
            </a:endParaRPr>
          </a:p>
        </p:txBody>
      </p:sp>
      <p:sp>
        <p:nvSpPr>
          <p:cNvPr id="32" name="Google Shape;32;p4"/>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33" name="Google Shape;33;p4"/>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Today’s Target</a:t>
            </a:r>
            <a:endParaRPr b="0" i="0" sz="3000" u="none" cap="none" strike="noStrike">
              <a:solidFill>
                <a:schemeClr val="dk1"/>
              </a:solidFill>
              <a:latin typeface="Arial"/>
              <a:ea typeface="Arial"/>
              <a:cs typeface="Arial"/>
              <a:sym typeface="Arial"/>
            </a:endParaRPr>
          </a:p>
        </p:txBody>
      </p:sp>
      <p:sp>
        <p:nvSpPr>
          <p:cNvPr id="34" name="Google Shape;34;p4"/>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Students turn the research year into a record of growth.</a:t>
            </a:r>
            <a:endParaRPr b="0" i="0" sz="1300" u="none" cap="none" strike="noStrike">
              <a:solidFill>
                <a:schemeClr val="dk1"/>
              </a:solidFill>
              <a:latin typeface="Arial"/>
              <a:ea typeface="Arial"/>
              <a:cs typeface="Arial"/>
              <a:sym typeface="Arial"/>
            </a:endParaRPr>
          </a:p>
        </p:txBody>
      </p:sp>
      <p:sp>
        <p:nvSpPr>
          <p:cNvPr id="36" name="Google Shape;36;p4"/>
          <p:cNvSpPr/>
          <p:nvPr/>
        </p:nvSpPr>
        <p:spPr>
          <a:xfrm>
            <a:off x="685800" y="1645920"/>
            <a:ext cx="5120640" cy="32004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A8A8A8"/>
              </a:buClr>
              <a:buSzPts val="1800"/>
              <a:buFont typeface="Arial"/>
              <a:buNone/>
            </a:pPr>
            <a:r>
              <a:rPr b="1" i="0" lang="en-US" sz="1800" u="none" cap="none" strike="noStrike">
                <a:solidFill>
                  <a:srgbClr val="A8A8A8"/>
                </a:solidFill>
                <a:latin typeface="Arial"/>
                <a:ea typeface="Arial"/>
                <a:cs typeface="Arial"/>
                <a:sym typeface="Arial"/>
              </a:rPr>
              <a:t>By the end, students should be able to:</a:t>
            </a:r>
            <a:endParaRPr b="0" i="0" sz="1800" u="none" cap="none" strike="noStrike">
              <a:solidFill>
                <a:schemeClr val="dk1"/>
              </a:solidFill>
              <a:latin typeface="Arial"/>
              <a:ea typeface="Arial"/>
              <a:cs typeface="Arial"/>
              <a:sym typeface="Arial"/>
            </a:endParaRPr>
          </a:p>
        </p:txBody>
      </p:sp>
      <p:sp>
        <p:nvSpPr>
          <p:cNvPr id="37" name="Google Shape;37;p4"/>
          <p:cNvSpPr/>
          <p:nvPr/>
        </p:nvSpPr>
        <p:spPr>
          <a:xfrm>
            <a:off x="7772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7772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4"/>
          <p:cNvSpPr/>
          <p:nvPr/>
        </p:nvSpPr>
        <p:spPr>
          <a:xfrm>
            <a:off x="9784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REFLECT</a:t>
            </a:r>
            <a:endParaRPr b="0" i="0" sz="1100" u="none" cap="none" strike="noStrike">
              <a:solidFill>
                <a:schemeClr val="dk1"/>
              </a:solidFill>
              <a:latin typeface="Arial"/>
              <a:ea typeface="Arial"/>
              <a:cs typeface="Arial"/>
              <a:sym typeface="Arial"/>
            </a:endParaRPr>
          </a:p>
        </p:txBody>
      </p:sp>
      <p:sp>
        <p:nvSpPr>
          <p:cNvPr id="40" name="Google Shape;40;p4"/>
          <p:cNvSpPr/>
          <p:nvPr/>
        </p:nvSpPr>
        <p:spPr>
          <a:xfrm>
            <a:off x="9784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Explain how the project changed from initial idea to final presentation.</a:t>
            </a:r>
            <a:endParaRPr b="0" i="0" sz="1600" u="none" cap="none" strike="noStrike">
              <a:solidFill>
                <a:schemeClr val="dk1"/>
              </a:solidFill>
              <a:latin typeface="Arial"/>
              <a:ea typeface="Arial"/>
              <a:cs typeface="Arial"/>
              <a:sym typeface="Arial"/>
            </a:endParaRPr>
          </a:p>
        </p:txBody>
      </p:sp>
      <p:sp>
        <p:nvSpPr>
          <p:cNvPr id="41" name="Google Shape;41;p4"/>
          <p:cNvSpPr/>
          <p:nvPr/>
        </p:nvSpPr>
        <p:spPr>
          <a:xfrm>
            <a:off x="62636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62636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64648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DOCUMENT GROWTH</a:t>
            </a:r>
            <a:endParaRPr b="0" i="0" sz="1100" u="none" cap="none" strike="noStrike">
              <a:solidFill>
                <a:schemeClr val="dk1"/>
              </a:solidFill>
              <a:latin typeface="Arial"/>
              <a:ea typeface="Arial"/>
              <a:cs typeface="Arial"/>
              <a:sym typeface="Arial"/>
            </a:endParaRPr>
          </a:p>
        </p:txBody>
      </p:sp>
      <p:sp>
        <p:nvSpPr>
          <p:cNvPr id="44" name="Google Shape;44;p4"/>
          <p:cNvSpPr/>
          <p:nvPr/>
        </p:nvSpPr>
        <p:spPr>
          <a:xfrm>
            <a:off x="64648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Identify research habits, skills, and mindsets that improved.</a:t>
            </a:r>
            <a:endParaRPr b="0" i="0" sz="1600" u="none" cap="none" strike="noStrike">
              <a:solidFill>
                <a:schemeClr val="dk1"/>
              </a:solidFill>
              <a:latin typeface="Arial"/>
              <a:ea typeface="Arial"/>
              <a:cs typeface="Arial"/>
              <a:sym typeface="Arial"/>
            </a:endParaRPr>
          </a:p>
        </p:txBody>
      </p:sp>
      <p:sp>
        <p:nvSpPr>
          <p:cNvPr id="45" name="Google Shape;45;p4"/>
          <p:cNvSpPr/>
          <p:nvPr/>
        </p:nvSpPr>
        <p:spPr>
          <a:xfrm>
            <a:off x="7772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7772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9784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ASSEMBLE PORTFOLIO</a:t>
            </a:r>
            <a:endParaRPr b="0" i="0" sz="1100" u="none" cap="none" strike="noStrike">
              <a:solidFill>
                <a:schemeClr val="dk1"/>
              </a:solidFill>
              <a:latin typeface="Arial"/>
              <a:ea typeface="Arial"/>
              <a:cs typeface="Arial"/>
              <a:sym typeface="Arial"/>
            </a:endParaRPr>
          </a:p>
        </p:txBody>
      </p:sp>
      <p:sp>
        <p:nvSpPr>
          <p:cNvPr id="48" name="Google Shape;48;p4"/>
          <p:cNvSpPr/>
          <p:nvPr/>
        </p:nvSpPr>
        <p:spPr>
          <a:xfrm>
            <a:off x="9784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Collect artifacts that show both process and final product.</a:t>
            </a:r>
            <a:endParaRPr b="0" i="0" sz="1600" u="none" cap="none" strike="noStrike">
              <a:solidFill>
                <a:schemeClr val="dk1"/>
              </a:solidFill>
              <a:latin typeface="Arial"/>
              <a:ea typeface="Arial"/>
              <a:cs typeface="Arial"/>
              <a:sym typeface="Arial"/>
            </a:endParaRPr>
          </a:p>
        </p:txBody>
      </p:sp>
      <p:sp>
        <p:nvSpPr>
          <p:cNvPr id="49" name="Google Shape;49;p4"/>
          <p:cNvSpPr/>
          <p:nvPr/>
        </p:nvSpPr>
        <p:spPr>
          <a:xfrm>
            <a:off x="62636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62636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64648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PLAN FORWARD</a:t>
            </a:r>
            <a:endParaRPr b="0" i="0" sz="1100" u="none" cap="none" strike="noStrike">
              <a:solidFill>
                <a:schemeClr val="dk1"/>
              </a:solidFill>
              <a:latin typeface="Arial"/>
              <a:ea typeface="Arial"/>
              <a:cs typeface="Arial"/>
              <a:sym typeface="Arial"/>
            </a:endParaRPr>
          </a:p>
        </p:txBody>
      </p:sp>
      <p:sp>
        <p:nvSpPr>
          <p:cNvPr id="52" name="Google Shape;52;p4"/>
          <p:cNvSpPr/>
          <p:nvPr/>
        </p:nvSpPr>
        <p:spPr>
          <a:xfrm>
            <a:off x="64648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Decide whether the project ends here or continues beyond STARLAB.</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57" name="Shape 57"/>
        <p:cNvGrpSpPr/>
        <p:nvPr/>
      </p:nvGrpSpPr>
      <p:grpSpPr>
        <a:xfrm>
          <a:off x="0" y="0"/>
          <a:ext cx="0" cy="0"/>
          <a:chOff x="0" y="0"/>
          <a:chExt cx="0" cy="0"/>
        </a:xfrm>
      </p:grpSpPr>
      <p:sp>
        <p:nvSpPr>
          <p:cNvPr id="58" name="Google Shape;58;p5"/>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5"/>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5"/>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5"/>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REFLECTION</a:t>
            </a:r>
            <a:endParaRPr b="0" i="0" sz="950" u="none" cap="none" strike="noStrike">
              <a:solidFill>
                <a:schemeClr val="dk1"/>
              </a:solidFill>
              <a:latin typeface="Arial"/>
              <a:ea typeface="Arial"/>
              <a:cs typeface="Arial"/>
              <a:sym typeface="Arial"/>
            </a:endParaRPr>
          </a:p>
        </p:txBody>
      </p:sp>
      <p:sp>
        <p:nvSpPr>
          <p:cNvPr id="62" name="Google Shape;62;p5"/>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63" name="Google Shape;63;p5"/>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The Final Product Is Not the Whole Story</a:t>
            </a:r>
            <a:endParaRPr b="0" i="0" sz="3000" u="none" cap="none" strike="noStrike">
              <a:solidFill>
                <a:schemeClr val="dk1"/>
              </a:solidFill>
              <a:latin typeface="Arial"/>
              <a:ea typeface="Arial"/>
              <a:cs typeface="Arial"/>
              <a:sym typeface="Arial"/>
            </a:endParaRPr>
          </a:p>
        </p:txBody>
      </p:sp>
      <p:sp>
        <p:nvSpPr>
          <p:cNvPr id="64" name="Google Shape;64;p5"/>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5"/>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STARLAB is built around process, evidence, and growth.</a:t>
            </a:r>
            <a:endParaRPr b="0" i="0" sz="1300" u="none" cap="none" strike="noStrike">
              <a:solidFill>
                <a:schemeClr val="dk1"/>
              </a:solidFill>
              <a:latin typeface="Arial"/>
              <a:ea typeface="Arial"/>
              <a:cs typeface="Arial"/>
              <a:sym typeface="Arial"/>
            </a:endParaRPr>
          </a:p>
        </p:txBody>
      </p:sp>
      <p:sp>
        <p:nvSpPr>
          <p:cNvPr id="66" name="Google Shape;66;p5"/>
          <p:cNvSpPr/>
          <p:nvPr/>
        </p:nvSpPr>
        <p:spPr>
          <a:xfrm>
            <a:off x="685800" y="1600200"/>
            <a:ext cx="5166360" cy="384048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5"/>
          <p:cNvSpPr/>
          <p:nvPr/>
        </p:nvSpPr>
        <p:spPr>
          <a:xfrm>
            <a:off x="685800" y="1600200"/>
            <a:ext cx="64008" cy="384048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5"/>
          <p:cNvSpPr/>
          <p:nvPr/>
        </p:nvSpPr>
        <p:spPr>
          <a:xfrm>
            <a:off x="88696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WHAT PEOPLE SEE</a:t>
            </a:r>
            <a:endParaRPr b="0" i="0" sz="1100" u="none" cap="none" strike="noStrike">
              <a:solidFill>
                <a:schemeClr val="dk1"/>
              </a:solidFill>
              <a:latin typeface="Arial"/>
              <a:ea typeface="Arial"/>
              <a:cs typeface="Arial"/>
              <a:sym typeface="Arial"/>
            </a:endParaRPr>
          </a:p>
        </p:txBody>
      </p:sp>
      <p:sp>
        <p:nvSpPr>
          <p:cNvPr id="69" name="Google Shape;69;p5"/>
          <p:cNvSpPr/>
          <p:nvPr/>
        </p:nvSpPr>
        <p:spPr>
          <a:xfrm>
            <a:off x="886968" y="2057400"/>
            <a:ext cx="4846320" cy="32735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Final report</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Poster, board, or slides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Graphs and visuals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Oral presentation</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Showcase product</a:t>
            </a:r>
            <a:endParaRPr b="0" i="0" sz="1600" u="none" cap="none" strike="noStrike">
              <a:solidFill>
                <a:schemeClr val="dk1"/>
              </a:solidFill>
              <a:latin typeface="Arial"/>
              <a:ea typeface="Arial"/>
              <a:cs typeface="Arial"/>
              <a:sym typeface="Arial"/>
            </a:endParaRPr>
          </a:p>
        </p:txBody>
      </p:sp>
      <p:sp>
        <p:nvSpPr>
          <p:cNvPr id="70" name="Google Shape;70;p5"/>
          <p:cNvSpPr/>
          <p:nvPr/>
        </p:nvSpPr>
        <p:spPr>
          <a:xfrm>
            <a:off x="6355080" y="1600200"/>
            <a:ext cx="5166360" cy="384048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5"/>
          <p:cNvSpPr/>
          <p:nvPr/>
        </p:nvSpPr>
        <p:spPr>
          <a:xfrm>
            <a:off x="6355080" y="1600200"/>
            <a:ext cx="64008" cy="384048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5"/>
          <p:cNvSpPr/>
          <p:nvPr/>
        </p:nvSpPr>
        <p:spPr>
          <a:xfrm>
            <a:off x="655624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WHAT RESEARCHERS KNOW</a:t>
            </a:r>
            <a:endParaRPr b="0" i="0" sz="1100" u="none" cap="none" strike="noStrike">
              <a:solidFill>
                <a:schemeClr val="dk1"/>
              </a:solidFill>
              <a:latin typeface="Arial"/>
              <a:ea typeface="Arial"/>
              <a:cs typeface="Arial"/>
              <a:sym typeface="Arial"/>
            </a:endParaRPr>
          </a:p>
        </p:txBody>
      </p:sp>
      <p:sp>
        <p:nvSpPr>
          <p:cNvPr id="73" name="Google Shape;73;p5"/>
          <p:cNvSpPr/>
          <p:nvPr/>
        </p:nvSpPr>
        <p:spPr>
          <a:xfrm>
            <a:off x="6556248" y="2057400"/>
            <a:ext cx="4846320" cy="32735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Early confusion</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Failed pilots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Method revisions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Data problems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Feedback, pivots, and persistence</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78" name="Shape 78"/>
        <p:cNvGrpSpPr/>
        <p:nvPr/>
      </p:nvGrpSpPr>
      <p:grpSpPr>
        <a:xfrm>
          <a:off x="0" y="0"/>
          <a:ext cx="0" cy="0"/>
          <a:chOff x="0" y="0"/>
          <a:chExt cx="0" cy="0"/>
        </a:xfrm>
      </p:grpSpPr>
      <p:sp>
        <p:nvSpPr>
          <p:cNvPr id="79" name="Google Shape;79;p6"/>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6"/>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6"/>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6"/>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REFLECTION</a:t>
            </a:r>
            <a:endParaRPr b="0" i="0" sz="950" u="none" cap="none" strike="noStrike">
              <a:solidFill>
                <a:schemeClr val="dk1"/>
              </a:solidFill>
              <a:latin typeface="Arial"/>
              <a:ea typeface="Arial"/>
              <a:cs typeface="Arial"/>
              <a:sym typeface="Arial"/>
            </a:endParaRPr>
          </a:p>
        </p:txBody>
      </p:sp>
      <p:sp>
        <p:nvSpPr>
          <p:cNvPr id="83" name="Google Shape;83;p6"/>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84" name="Google Shape;84;p6"/>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Reflection Is Evidence of Learning</a:t>
            </a:r>
            <a:endParaRPr b="0" i="0" sz="3000" u="none" cap="none" strike="noStrike">
              <a:solidFill>
                <a:schemeClr val="dk1"/>
              </a:solidFill>
              <a:latin typeface="Arial"/>
              <a:ea typeface="Arial"/>
              <a:cs typeface="Arial"/>
              <a:sym typeface="Arial"/>
            </a:endParaRPr>
          </a:p>
        </p:txBody>
      </p:sp>
      <p:sp>
        <p:nvSpPr>
          <p:cNvPr id="85" name="Google Shape;85;p6"/>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6"/>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The goal is not to say “I learned a lot.” The goal is to prove it.</a:t>
            </a:r>
            <a:endParaRPr b="0" i="0" sz="1300" u="none" cap="none" strike="noStrike">
              <a:solidFill>
                <a:schemeClr val="dk1"/>
              </a:solidFill>
              <a:latin typeface="Arial"/>
              <a:ea typeface="Arial"/>
              <a:cs typeface="Arial"/>
              <a:sym typeface="Arial"/>
            </a:endParaRPr>
          </a:p>
        </p:txBody>
      </p:sp>
      <p:sp>
        <p:nvSpPr>
          <p:cNvPr id="87" name="Google Shape;87;p6"/>
          <p:cNvSpPr/>
          <p:nvPr/>
        </p:nvSpPr>
        <p:spPr>
          <a:xfrm>
            <a:off x="7772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6"/>
          <p:cNvSpPr/>
          <p:nvPr/>
        </p:nvSpPr>
        <p:spPr>
          <a:xfrm>
            <a:off x="7772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6"/>
          <p:cNvSpPr/>
          <p:nvPr/>
        </p:nvSpPr>
        <p:spPr>
          <a:xfrm>
            <a:off x="9784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SPECIFIC</a:t>
            </a:r>
            <a:endParaRPr b="0" i="0" sz="1100" u="none" cap="none" strike="noStrike">
              <a:solidFill>
                <a:schemeClr val="dk1"/>
              </a:solidFill>
              <a:latin typeface="Arial"/>
              <a:ea typeface="Arial"/>
              <a:cs typeface="Arial"/>
              <a:sym typeface="Arial"/>
            </a:endParaRPr>
          </a:p>
        </p:txBody>
      </p:sp>
      <p:sp>
        <p:nvSpPr>
          <p:cNvPr id="90" name="Google Shape;90;p6"/>
          <p:cNvSpPr/>
          <p:nvPr/>
        </p:nvSpPr>
        <p:spPr>
          <a:xfrm>
            <a:off x="9784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Name a real decision, failure, revision, or breakthrough.</a:t>
            </a:r>
            <a:endParaRPr b="0" i="0" sz="1600" u="none" cap="none" strike="noStrike">
              <a:solidFill>
                <a:schemeClr val="dk1"/>
              </a:solidFill>
              <a:latin typeface="Arial"/>
              <a:ea typeface="Arial"/>
              <a:cs typeface="Arial"/>
              <a:sym typeface="Arial"/>
            </a:endParaRPr>
          </a:p>
        </p:txBody>
      </p:sp>
      <p:sp>
        <p:nvSpPr>
          <p:cNvPr id="91" name="Google Shape;91;p6"/>
          <p:cNvSpPr/>
          <p:nvPr/>
        </p:nvSpPr>
        <p:spPr>
          <a:xfrm>
            <a:off x="62636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6"/>
          <p:cNvSpPr/>
          <p:nvPr/>
        </p:nvSpPr>
        <p:spPr>
          <a:xfrm>
            <a:off x="62636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6"/>
          <p:cNvSpPr/>
          <p:nvPr/>
        </p:nvSpPr>
        <p:spPr>
          <a:xfrm>
            <a:off x="64648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EVIDENCE-BASED</a:t>
            </a:r>
            <a:endParaRPr b="0" i="0" sz="1100" u="none" cap="none" strike="noStrike">
              <a:solidFill>
                <a:schemeClr val="dk1"/>
              </a:solidFill>
              <a:latin typeface="Arial"/>
              <a:ea typeface="Arial"/>
              <a:cs typeface="Arial"/>
              <a:sym typeface="Arial"/>
            </a:endParaRPr>
          </a:p>
        </p:txBody>
      </p:sp>
      <p:sp>
        <p:nvSpPr>
          <p:cNvPr id="94" name="Google Shape;94;p6"/>
          <p:cNvSpPr/>
          <p:nvPr/>
        </p:nvSpPr>
        <p:spPr>
          <a:xfrm>
            <a:off x="64648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Point to an artifact: data table, journal entry, draft, photo, feedback, or graph.</a:t>
            </a:r>
            <a:endParaRPr b="0" i="0" sz="1600" u="none" cap="none" strike="noStrike">
              <a:solidFill>
                <a:schemeClr val="dk1"/>
              </a:solidFill>
              <a:latin typeface="Arial"/>
              <a:ea typeface="Arial"/>
              <a:cs typeface="Arial"/>
              <a:sym typeface="Arial"/>
            </a:endParaRPr>
          </a:p>
        </p:txBody>
      </p:sp>
      <p:sp>
        <p:nvSpPr>
          <p:cNvPr id="95" name="Google Shape;95;p6"/>
          <p:cNvSpPr/>
          <p:nvPr/>
        </p:nvSpPr>
        <p:spPr>
          <a:xfrm>
            <a:off x="7772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6"/>
          <p:cNvSpPr/>
          <p:nvPr/>
        </p:nvSpPr>
        <p:spPr>
          <a:xfrm>
            <a:off x="7772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6"/>
          <p:cNvSpPr/>
          <p:nvPr/>
        </p:nvSpPr>
        <p:spPr>
          <a:xfrm>
            <a:off x="9784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HONEST</a:t>
            </a:r>
            <a:endParaRPr b="0" i="0" sz="1100" u="none" cap="none" strike="noStrike">
              <a:solidFill>
                <a:schemeClr val="dk1"/>
              </a:solidFill>
              <a:latin typeface="Arial"/>
              <a:ea typeface="Arial"/>
              <a:cs typeface="Arial"/>
              <a:sym typeface="Arial"/>
            </a:endParaRPr>
          </a:p>
        </p:txBody>
      </p:sp>
      <p:sp>
        <p:nvSpPr>
          <p:cNvPr id="98" name="Google Shape;98;p6"/>
          <p:cNvSpPr/>
          <p:nvPr/>
        </p:nvSpPr>
        <p:spPr>
          <a:xfrm>
            <a:off x="9784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Include what did not work and what remained unresolved.</a:t>
            </a:r>
            <a:endParaRPr b="0" i="0" sz="1600" u="none" cap="none" strike="noStrike">
              <a:solidFill>
                <a:schemeClr val="dk1"/>
              </a:solidFill>
              <a:latin typeface="Arial"/>
              <a:ea typeface="Arial"/>
              <a:cs typeface="Arial"/>
              <a:sym typeface="Arial"/>
            </a:endParaRPr>
          </a:p>
        </p:txBody>
      </p:sp>
      <p:sp>
        <p:nvSpPr>
          <p:cNvPr id="99" name="Google Shape;99;p6"/>
          <p:cNvSpPr/>
          <p:nvPr/>
        </p:nvSpPr>
        <p:spPr>
          <a:xfrm>
            <a:off x="62636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6"/>
          <p:cNvSpPr/>
          <p:nvPr/>
        </p:nvSpPr>
        <p:spPr>
          <a:xfrm>
            <a:off x="62636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6"/>
          <p:cNvSpPr/>
          <p:nvPr/>
        </p:nvSpPr>
        <p:spPr>
          <a:xfrm>
            <a:off x="64648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FORWARD-LOOKING</a:t>
            </a:r>
            <a:endParaRPr b="0" i="0" sz="1100" u="none" cap="none" strike="noStrike">
              <a:solidFill>
                <a:schemeClr val="dk1"/>
              </a:solidFill>
              <a:latin typeface="Arial"/>
              <a:ea typeface="Arial"/>
              <a:cs typeface="Arial"/>
              <a:sym typeface="Arial"/>
            </a:endParaRPr>
          </a:p>
        </p:txBody>
      </p:sp>
      <p:sp>
        <p:nvSpPr>
          <p:cNvPr id="102" name="Google Shape;102;p6"/>
          <p:cNvSpPr/>
          <p:nvPr/>
        </p:nvSpPr>
        <p:spPr>
          <a:xfrm>
            <a:off x="64648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Explain what you would do differently or continue next.</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107" name="Shape 107"/>
        <p:cNvGrpSpPr/>
        <p:nvPr/>
      </p:nvGrpSpPr>
      <p:grpSpPr>
        <a:xfrm>
          <a:off x="0" y="0"/>
          <a:ext cx="0" cy="0"/>
          <a:chOff x="0" y="0"/>
          <a:chExt cx="0" cy="0"/>
        </a:xfrm>
      </p:grpSpPr>
      <p:sp>
        <p:nvSpPr>
          <p:cNvPr id="108" name="Google Shape;108;p7"/>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7"/>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7"/>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7"/>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RESEARCH ARC</a:t>
            </a:r>
            <a:endParaRPr b="0" i="0" sz="950" u="none" cap="none" strike="noStrike">
              <a:solidFill>
                <a:schemeClr val="dk1"/>
              </a:solidFill>
              <a:latin typeface="Arial"/>
              <a:ea typeface="Arial"/>
              <a:cs typeface="Arial"/>
              <a:sym typeface="Arial"/>
            </a:endParaRPr>
          </a:p>
        </p:txBody>
      </p:sp>
      <p:sp>
        <p:nvSpPr>
          <p:cNvPr id="112" name="Google Shape;112;p7"/>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113" name="Google Shape;113;p7"/>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Look Back Across the Whole Arc</a:t>
            </a:r>
            <a:endParaRPr b="0" i="0" sz="3000" u="none" cap="none" strike="noStrike">
              <a:solidFill>
                <a:schemeClr val="dk1"/>
              </a:solidFill>
              <a:latin typeface="Arial"/>
              <a:ea typeface="Arial"/>
              <a:cs typeface="Arial"/>
              <a:sym typeface="Arial"/>
            </a:endParaRPr>
          </a:p>
        </p:txBody>
      </p:sp>
      <p:sp>
        <p:nvSpPr>
          <p:cNvPr id="114" name="Google Shape;114;p7"/>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7"/>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Students should see the year as a sequence of decisions, not a single assignment.</a:t>
            </a:r>
            <a:endParaRPr b="0" i="0" sz="1300" u="none" cap="none" strike="noStrike">
              <a:solidFill>
                <a:schemeClr val="dk1"/>
              </a:solidFill>
              <a:latin typeface="Arial"/>
              <a:ea typeface="Arial"/>
              <a:cs typeface="Arial"/>
              <a:sym typeface="Arial"/>
            </a:endParaRPr>
          </a:p>
        </p:txBody>
      </p:sp>
      <p:sp>
        <p:nvSpPr>
          <p:cNvPr id="116" name="Google Shape;116;p7"/>
          <p:cNvSpPr/>
          <p:nvPr/>
        </p:nvSpPr>
        <p:spPr>
          <a:xfrm>
            <a:off x="777240" y="1645920"/>
            <a:ext cx="10607040" cy="32004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A8A8A8"/>
              </a:buClr>
              <a:buSzPts val="2000"/>
              <a:buFont typeface="Arial"/>
              <a:buNone/>
            </a:pPr>
            <a:r>
              <a:rPr b="1" i="0" lang="en-US" sz="2000" u="none" cap="none" strike="noStrike">
                <a:solidFill>
                  <a:srgbClr val="A8A8A8"/>
                </a:solidFill>
                <a:latin typeface="Arial"/>
                <a:ea typeface="Arial"/>
                <a:cs typeface="Arial"/>
                <a:sym typeface="Arial"/>
              </a:rPr>
              <a:t>STARLAB moved through a full research cycle:</a:t>
            </a:r>
            <a:endParaRPr b="0" i="0" sz="2000" u="none" cap="none" strike="noStrike">
              <a:solidFill>
                <a:schemeClr val="dk1"/>
              </a:solidFill>
              <a:latin typeface="Arial"/>
              <a:ea typeface="Arial"/>
              <a:cs typeface="Arial"/>
              <a:sym typeface="Arial"/>
            </a:endParaRPr>
          </a:p>
        </p:txBody>
      </p:sp>
      <p:sp>
        <p:nvSpPr>
          <p:cNvPr id="117" name="Google Shape;117;p7"/>
          <p:cNvSpPr/>
          <p:nvPr/>
        </p:nvSpPr>
        <p:spPr>
          <a:xfrm>
            <a:off x="868680" y="3246120"/>
            <a:ext cx="566928" cy="566928"/>
          </a:xfrm>
          <a:prstGeom prst="ellipse">
            <a:avLst/>
          </a:prstGeom>
          <a:solidFill>
            <a:srgbClr val="111113"/>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7"/>
          <p:cNvSpPr/>
          <p:nvPr/>
        </p:nvSpPr>
        <p:spPr>
          <a:xfrm>
            <a:off x="868680" y="3374136"/>
            <a:ext cx="566928"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1</a:t>
            </a:r>
            <a:endParaRPr b="0" i="0" sz="1300" u="none" cap="none" strike="noStrike">
              <a:solidFill>
                <a:schemeClr val="dk1"/>
              </a:solidFill>
              <a:latin typeface="Arial"/>
              <a:ea typeface="Arial"/>
              <a:cs typeface="Arial"/>
              <a:sym typeface="Arial"/>
            </a:endParaRPr>
          </a:p>
        </p:txBody>
      </p:sp>
      <p:sp>
        <p:nvSpPr>
          <p:cNvPr id="119" name="Google Shape;119;p7"/>
          <p:cNvSpPr/>
          <p:nvPr/>
        </p:nvSpPr>
        <p:spPr>
          <a:xfrm>
            <a:off x="521208" y="3995928"/>
            <a:ext cx="126187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8A8A8"/>
              </a:buClr>
              <a:buSzPts val="1050"/>
              <a:buFont typeface="Arial"/>
              <a:buNone/>
            </a:pPr>
            <a:r>
              <a:rPr b="0" i="0" lang="en-US" sz="1050" u="none" cap="none" strike="noStrike">
                <a:solidFill>
                  <a:srgbClr val="A8A8A8"/>
                </a:solidFill>
                <a:latin typeface="Arial"/>
                <a:ea typeface="Arial"/>
                <a:cs typeface="Arial"/>
                <a:sym typeface="Arial"/>
              </a:rPr>
              <a:t>Question</a:t>
            </a:r>
            <a:endParaRPr b="0" i="0" sz="1050" u="none" cap="none" strike="noStrike">
              <a:solidFill>
                <a:schemeClr val="dk1"/>
              </a:solidFill>
              <a:latin typeface="Arial"/>
              <a:ea typeface="Arial"/>
              <a:cs typeface="Arial"/>
              <a:sym typeface="Arial"/>
            </a:endParaRPr>
          </a:p>
        </p:txBody>
      </p:sp>
      <p:cxnSp>
        <p:nvCxnSpPr>
          <p:cNvPr id="120" name="Google Shape;120;p7"/>
          <p:cNvCxnSpPr/>
          <p:nvPr/>
        </p:nvCxnSpPr>
        <p:spPr>
          <a:xfrm>
            <a:off x="1435608" y="3529584"/>
            <a:ext cx="850392" cy="0"/>
          </a:xfrm>
          <a:prstGeom prst="straightConnector1">
            <a:avLst/>
          </a:prstGeom>
          <a:noFill/>
          <a:ln cap="flat" cmpd="sng" w="12700">
            <a:solidFill>
              <a:srgbClr val="5A5A5A"/>
            </a:solidFill>
            <a:prstDash val="solid"/>
            <a:round/>
            <a:headEnd len="sm" w="sm" type="none"/>
            <a:tailEnd len="sm" w="sm" type="none"/>
          </a:ln>
        </p:spPr>
      </p:cxnSp>
      <p:sp>
        <p:nvSpPr>
          <p:cNvPr id="121" name="Google Shape;121;p7"/>
          <p:cNvSpPr/>
          <p:nvPr/>
        </p:nvSpPr>
        <p:spPr>
          <a:xfrm>
            <a:off x="2286000" y="3246120"/>
            <a:ext cx="566928" cy="566928"/>
          </a:xfrm>
          <a:prstGeom prst="ellipse">
            <a:avLst/>
          </a:prstGeom>
          <a:solidFill>
            <a:srgbClr val="111113"/>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7"/>
          <p:cNvSpPr/>
          <p:nvPr/>
        </p:nvSpPr>
        <p:spPr>
          <a:xfrm>
            <a:off x="2286000" y="3374136"/>
            <a:ext cx="566928"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2</a:t>
            </a:r>
            <a:endParaRPr b="0" i="0" sz="1300" u="none" cap="none" strike="noStrike">
              <a:solidFill>
                <a:schemeClr val="dk1"/>
              </a:solidFill>
              <a:latin typeface="Arial"/>
              <a:ea typeface="Arial"/>
              <a:cs typeface="Arial"/>
              <a:sym typeface="Arial"/>
            </a:endParaRPr>
          </a:p>
        </p:txBody>
      </p:sp>
      <p:sp>
        <p:nvSpPr>
          <p:cNvPr id="123" name="Google Shape;123;p7"/>
          <p:cNvSpPr/>
          <p:nvPr/>
        </p:nvSpPr>
        <p:spPr>
          <a:xfrm>
            <a:off x="1938528" y="3995928"/>
            <a:ext cx="126187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8A8A8"/>
              </a:buClr>
              <a:buSzPts val="1050"/>
              <a:buFont typeface="Arial"/>
              <a:buNone/>
            </a:pPr>
            <a:r>
              <a:rPr b="0" i="0" lang="en-US" sz="1050" u="none" cap="none" strike="noStrike">
                <a:solidFill>
                  <a:srgbClr val="A8A8A8"/>
                </a:solidFill>
                <a:latin typeface="Arial"/>
                <a:ea typeface="Arial"/>
                <a:cs typeface="Arial"/>
                <a:sym typeface="Arial"/>
              </a:rPr>
              <a:t>Plan</a:t>
            </a:r>
            <a:endParaRPr b="0" i="0" sz="1050" u="none" cap="none" strike="noStrike">
              <a:solidFill>
                <a:schemeClr val="dk1"/>
              </a:solidFill>
              <a:latin typeface="Arial"/>
              <a:ea typeface="Arial"/>
              <a:cs typeface="Arial"/>
              <a:sym typeface="Arial"/>
            </a:endParaRPr>
          </a:p>
        </p:txBody>
      </p:sp>
      <p:cxnSp>
        <p:nvCxnSpPr>
          <p:cNvPr id="124" name="Google Shape;124;p7"/>
          <p:cNvCxnSpPr/>
          <p:nvPr/>
        </p:nvCxnSpPr>
        <p:spPr>
          <a:xfrm>
            <a:off x="2852928" y="3529584"/>
            <a:ext cx="850392" cy="0"/>
          </a:xfrm>
          <a:prstGeom prst="straightConnector1">
            <a:avLst/>
          </a:prstGeom>
          <a:noFill/>
          <a:ln cap="flat" cmpd="sng" w="12700">
            <a:solidFill>
              <a:srgbClr val="5A5A5A"/>
            </a:solidFill>
            <a:prstDash val="solid"/>
            <a:round/>
            <a:headEnd len="sm" w="sm" type="none"/>
            <a:tailEnd len="sm" w="sm" type="none"/>
          </a:ln>
        </p:spPr>
      </p:cxnSp>
      <p:sp>
        <p:nvSpPr>
          <p:cNvPr id="125" name="Google Shape;125;p7"/>
          <p:cNvSpPr/>
          <p:nvPr/>
        </p:nvSpPr>
        <p:spPr>
          <a:xfrm>
            <a:off x="3703320" y="3246120"/>
            <a:ext cx="566928" cy="566928"/>
          </a:xfrm>
          <a:prstGeom prst="ellipse">
            <a:avLst/>
          </a:prstGeom>
          <a:solidFill>
            <a:srgbClr val="111113"/>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7"/>
          <p:cNvSpPr/>
          <p:nvPr/>
        </p:nvSpPr>
        <p:spPr>
          <a:xfrm>
            <a:off x="3703320" y="3374136"/>
            <a:ext cx="566928"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3</a:t>
            </a:r>
            <a:endParaRPr b="0" i="0" sz="1300" u="none" cap="none" strike="noStrike">
              <a:solidFill>
                <a:schemeClr val="dk1"/>
              </a:solidFill>
              <a:latin typeface="Arial"/>
              <a:ea typeface="Arial"/>
              <a:cs typeface="Arial"/>
              <a:sym typeface="Arial"/>
            </a:endParaRPr>
          </a:p>
        </p:txBody>
      </p:sp>
      <p:sp>
        <p:nvSpPr>
          <p:cNvPr id="127" name="Google Shape;127;p7"/>
          <p:cNvSpPr/>
          <p:nvPr/>
        </p:nvSpPr>
        <p:spPr>
          <a:xfrm>
            <a:off x="3355848" y="3995928"/>
            <a:ext cx="126187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8A8A8"/>
              </a:buClr>
              <a:buSzPts val="1050"/>
              <a:buFont typeface="Arial"/>
              <a:buNone/>
            </a:pPr>
            <a:r>
              <a:rPr b="0" i="0" lang="en-US" sz="1050" u="none" cap="none" strike="noStrike">
                <a:solidFill>
                  <a:srgbClr val="A8A8A8"/>
                </a:solidFill>
                <a:latin typeface="Arial"/>
                <a:ea typeface="Arial"/>
                <a:cs typeface="Arial"/>
                <a:sym typeface="Arial"/>
              </a:rPr>
              <a:t>Pilot</a:t>
            </a:r>
            <a:endParaRPr b="0" i="0" sz="1050" u="none" cap="none" strike="noStrike">
              <a:solidFill>
                <a:schemeClr val="dk1"/>
              </a:solidFill>
              <a:latin typeface="Arial"/>
              <a:ea typeface="Arial"/>
              <a:cs typeface="Arial"/>
              <a:sym typeface="Arial"/>
            </a:endParaRPr>
          </a:p>
        </p:txBody>
      </p:sp>
      <p:cxnSp>
        <p:nvCxnSpPr>
          <p:cNvPr id="128" name="Google Shape;128;p7"/>
          <p:cNvCxnSpPr/>
          <p:nvPr/>
        </p:nvCxnSpPr>
        <p:spPr>
          <a:xfrm>
            <a:off x="4270248" y="3529584"/>
            <a:ext cx="850392" cy="0"/>
          </a:xfrm>
          <a:prstGeom prst="straightConnector1">
            <a:avLst/>
          </a:prstGeom>
          <a:noFill/>
          <a:ln cap="flat" cmpd="sng" w="12700">
            <a:solidFill>
              <a:srgbClr val="5A5A5A"/>
            </a:solidFill>
            <a:prstDash val="solid"/>
            <a:round/>
            <a:headEnd len="sm" w="sm" type="none"/>
            <a:tailEnd len="sm" w="sm" type="none"/>
          </a:ln>
        </p:spPr>
      </p:cxnSp>
      <p:sp>
        <p:nvSpPr>
          <p:cNvPr id="129" name="Google Shape;129;p7"/>
          <p:cNvSpPr/>
          <p:nvPr/>
        </p:nvSpPr>
        <p:spPr>
          <a:xfrm>
            <a:off x="5120640" y="3246120"/>
            <a:ext cx="566928" cy="566928"/>
          </a:xfrm>
          <a:prstGeom prst="ellipse">
            <a:avLst/>
          </a:prstGeom>
          <a:solidFill>
            <a:srgbClr val="111113"/>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7"/>
          <p:cNvSpPr/>
          <p:nvPr/>
        </p:nvSpPr>
        <p:spPr>
          <a:xfrm>
            <a:off x="5120640" y="3374136"/>
            <a:ext cx="566928"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4</a:t>
            </a:r>
            <a:endParaRPr b="0" i="0" sz="1300" u="none" cap="none" strike="noStrike">
              <a:solidFill>
                <a:schemeClr val="dk1"/>
              </a:solidFill>
              <a:latin typeface="Arial"/>
              <a:ea typeface="Arial"/>
              <a:cs typeface="Arial"/>
              <a:sym typeface="Arial"/>
            </a:endParaRPr>
          </a:p>
        </p:txBody>
      </p:sp>
      <p:sp>
        <p:nvSpPr>
          <p:cNvPr id="131" name="Google Shape;131;p7"/>
          <p:cNvSpPr/>
          <p:nvPr/>
        </p:nvSpPr>
        <p:spPr>
          <a:xfrm>
            <a:off x="4773168" y="3995928"/>
            <a:ext cx="126187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8A8A8"/>
              </a:buClr>
              <a:buSzPts val="1050"/>
              <a:buFont typeface="Arial"/>
              <a:buNone/>
            </a:pPr>
            <a:r>
              <a:rPr b="0" i="0" lang="en-US" sz="1050" u="none" cap="none" strike="noStrike">
                <a:solidFill>
                  <a:srgbClr val="A8A8A8"/>
                </a:solidFill>
                <a:latin typeface="Arial"/>
                <a:ea typeface="Arial"/>
                <a:cs typeface="Arial"/>
                <a:sym typeface="Arial"/>
              </a:rPr>
              <a:t>Collect</a:t>
            </a:r>
            <a:endParaRPr b="0" i="0" sz="1050" u="none" cap="none" strike="noStrike">
              <a:solidFill>
                <a:schemeClr val="dk1"/>
              </a:solidFill>
              <a:latin typeface="Arial"/>
              <a:ea typeface="Arial"/>
              <a:cs typeface="Arial"/>
              <a:sym typeface="Arial"/>
            </a:endParaRPr>
          </a:p>
        </p:txBody>
      </p:sp>
      <p:cxnSp>
        <p:nvCxnSpPr>
          <p:cNvPr id="132" name="Google Shape;132;p7"/>
          <p:cNvCxnSpPr/>
          <p:nvPr/>
        </p:nvCxnSpPr>
        <p:spPr>
          <a:xfrm>
            <a:off x="5687568" y="3529584"/>
            <a:ext cx="850392" cy="0"/>
          </a:xfrm>
          <a:prstGeom prst="straightConnector1">
            <a:avLst/>
          </a:prstGeom>
          <a:noFill/>
          <a:ln cap="flat" cmpd="sng" w="12700">
            <a:solidFill>
              <a:srgbClr val="5A5A5A"/>
            </a:solidFill>
            <a:prstDash val="solid"/>
            <a:round/>
            <a:headEnd len="sm" w="sm" type="none"/>
            <a:tailEnd len="sm" w="sm" type="none"/>
          </a:ln>
        </p:spPr>
      </p:cxnSp>
      <p:sp>
        <p:nvSpPr>
          <p:cNvPr id="133" name="Google Shape;133;p7"/>
          <p:cNvSpPr/>
          <p:nvPr/>
        </p:nvSpPr>
        <p:spPr>
          <a:xfrm>
            <a:off x="6537960" y="3246120"/>
            <a:ext cx="566928" cy="566928"/>
          </a:xfrm>
          <a:prstGeom prst="ellipse">
            <a:avLst/>
          </a:prstGeom>
          <a:solidFill>
            <a:srgbClr val="111113"/>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7"/>
          <p:cNvSpPr/>
          <p:nvPr/>
        </p:nvSpPr>
        <p:spPr>
          <a:xfrm>
            <a:off x="6537960" y="3374136"/>
            <a:ext cx="566928"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5</a:t>
            </a:r>
            <a:endParaRPr b="0" i="0" sz="1300" u="none" cap="none" strike="noStrike">
              <a:solidFill>
                <a:schemeClr val="dk1"/>
              </a:solidFill>
              <a:latin typeface="Arial"/>
              <a:ea typeface="Arial"/>
              <a:cs typeface="Arial"/>
              <a:sym typeface="Arial"/>
            </a:endParaRPr>
          </a:p>
        </p:txBody>
      </p:sp>
      <p:sp>
        <p:nvSpPr>
          <p:cNvPr id="135" name="Google Shape;135;p7"/>
          <p:cNvSpPr/>
          <p:nvPr/>
        </p:nvSpPr>
        <p:spPr>
          <a:xfrm>
            <a:off x="6190488" y="3995928"/>
            <a:ext cx="126187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8A8A8"/>
              </a:buClr>
              <a:buSzPts val="1050"/>
              <a:buFont typeface="Arial"/>
              <a:buNone/>
            </a:pPr>
            <a:r>
              <a:rPr b="0" i="0" lang="en-US" sz="1050" u="none" cap="none" strike="noStrike">
                <a:solidFill>
                  <a:srgbClr val="A8A8A8"/>
                </a:solidFill>
                <a:latin typeface="Arial"/>
                <a:ea typeface="Arial"/>
                <a:cs typeface="Arial"/>
                <a:sym typeface="Arial"/>
              </a:rPr>
              <a:t>Analyze</a:t>
            </a:r>
            <a:endParaRPr b="0" i="0" sz="1050" u="none" cap="none" strike="noStrike">
              <a:solidFill>
                <a:schemeClr val="dk1"/>
              </a:solidFill>
              <a:latin typeface="Arial"/>
              <a:ea typeface="Arial"/>
              <a:cs typeface="Arial"/>
              <a:sym typeface="Arial"/>
            </a:endParaRPr>
          </a:p>
        </p:txBody>
      </p:sp>
      <p:cxnSp>
        <p:nvCxnSpPr>
          <p:cNvPr id="136" name="Google Shape;136;p7"/>
          <p:cNvCxnSpPr/>
          <p:nvPr/>
        </p:nvCxnSpPr>
        <p:spPr>
          <a:xfrm>
            <a:off x="7104888" y="3529584"/>
            <a:ext cx="850392" cy="0"/>
          </a:xfrm>
          <a:prstGeom prst="straightConnector1">
            <a:avLst/>
          </a:prstGeom>
          <a:noFill/>
          <a:ln cap="flat" cmpd="sng" w="12700">
            <a:solidFill>
              <a:srgbClr val="5A5A5A"/>
            </a:solidFill>
            <a:prstDash val="solid"/>
            <a:round/>
            <a:headEnd len="sm" w="sm" type="none"/>
            <a:tailEnd len="sm" w="sm" type="none"/>
          </a:ln>
        </p:spPr>
      </p:cxnSp>
      <p:sp>
        <p:nvSpPr>
          <p:cNvPr id="137" name="Google Shape;137;p7"/>
          <p:cNvSpPr/>
          <p:nvPr/>
        </p:nvSpPr>
        <p:spPr>
          <a:xfrm>
            <a:off x="7955280" y="3246120"/>
            <a:ext cx="566928" cy="566928"/>
          </a:xfrm>
          <a:prstGeom prst="ellipse">
            <a:avLst/>
          </a:prstGeom>
          <a:solidFill>
            <a:srgbClr val="111113"/>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7"/>
          <p:cNvSpPr/>
          <p:nvPr/>
        </p:nvSpPr>
        <p:spPr>
          <a:xfrm>
            <a:off x="7955280" y="3374136"/>
            <a:ext cx="566928"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6</a:t>
            </a:r>
            <a:endParaRPr b="0" i="0" sz="1300" u="none" cap="none" strike="noStrike">
              <a:solidFill>
                <a:schemeClr val="dk1"/>
              </a:solidFill>
              <a:latin typeface="Arial"/>
              <a:ea typeface="Arial"/>
              <a:cs typeface="Arial"/>
              <a:sym typeface="Arial"/>
            </a:endParaRPr>
          </a:p>
        </p:txBody>
      </p:sp>
      <p:sp>
        <p:nvSpPr>
          <p:cNvPr id="139" name="Google Shape;139;p7"/>
          <p:cNvSpPr/>
          <p:nvPr/>
        </p:nvSpPr>
        <p:spPr>
          <a:xfrm>
            <a:off x="7607808" y="3995928"/>
            <a:ext cx="126187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8A8A8"/>
              </a:buClr>
              <a:buSzPts val="1050"/>
              <a:buFont typeface="Arial"/>
              <a:buNone/>
            </a:pPr>
            <a:r>
              <a:rPr b="0" i="0" lang="en-US" sz="1050" u="none" cap="none" strike="noStrike">
                <a:solidFill>
                  <a:srgbClr val="A8A8A8"/>
                </a:solidFill>
                <a:latin typeface="Arial"/>
                <a:ea typeface="Arial"/>
                <a:cs typeface="Arial"/>
                <a:sym typeface="Arial"/>
              </a:rPr>
              <a:t>Report</a:t>
            </a:r>
            <a:endParaRPr b="0" i="0" sz="1050" u="none" cap="none" strike="noStrike">
              <a:solidFill>
                <a:schemeClr val="dk1"/>
              </a:solidFill>
              <a:latin typeface="Arial"/>
              <a:ea typeface="Arial"/>
              <a:cs typeface="Arial"/>
              <a:sym typeface="Arial"/>
            </a:endParaRPr>
          </a:p>
        </p:txBody>
      </p:sp>
      <p:cxnSp>
        <p:nvCxnSpPr>
          <p:cNvPr id="140" name="Google Shape;140;p7"/>
          <p:cNvCxnSpPr/>
          <p:nvPr/>
        </p:nvCxnSpPr>
        <p:spPr>
          <a:xfrm>
            <a:off x="8522208" y="3529584"/>
            <a:ext cx="850392" cy="0"/>
          </a:xfrm>
          <a:prstGeom prst="straightConnector1">
            <a:avLst/>
          </a:prstGeom>
          <a:noFill/>
          <a:ln cap="flat" cmpd="sng" w="12700">
            <a:solidFill>
              <a:srgbClr val="5A5A5A"/>
            </a:solidFill>
            <a:prstDash val="solid"/>
            <a:round/>
            <a:headEnd len="sm" w="sm" type="none"/>
            <a:tailEnd len="sm" w="sm" type="none"/>
          </a:ln>
        </p:spPr>
      </p:cxnSp>
      <p:sp>
        <p:nvSpPr>
          <p:cNvPr id="141" name="Google Shape;141;p7"/>
          <p:cNvSpPr/>
          <p:nvPr/>
        </p:nvSpPr>
        <p:spPr>
          <a:xfrm>
            <a:off x="9372600" y="3246120"/>
            <a:ext cx="566928" cy="566928"/>
          </a:xfrm>
          <a:prstGeom prst="ellipse">
            <a:avLst/>
          </a:prstGeom>
          <a:solidFill>
            <a:srgbClr val="111113"/>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9372600" y="3374136"/>
            <a:ext cx="566928"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7</a:t>
            </a:r>
            <a:endParaRPr b="0" i="0" sz="1300" u="none" cap="none" strike="noStrike">
              <a:solidFill>
                <a:schemeClr val="dk1"/>
              </a:solidFill>
              <a:latin typeface="Arial"/>
              <a:ea typeface="Arial"/>
              <a:cs typeface="Arial"/>
              <a:sym typeface="Arial"/>
            </a:endParaRPr>
          </a:p>
        </p:txBody>
      </p:sp>
      <p:sp>
        <p:nvSpPr>
          <p:cNvPr id="143" name="Google Shape;143;p7"/>
          <p:cNvSpPr/>
          <p:nvPr/>
        </p:nvSpPr>
        <p:spPr>
          <a:xfrm>
            <a:off x="9025128" y="3995928"/>
            <a:ext cx="126187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8A8A8"/>
              </a:buClr>
              <a:buSzPts val="1050"/>
              <a:buFont typeface="Arial"/>
              <a:buNone/>
            </a:pPr>
            <a:r>
              <a:rPr b="0" i="0" lang="en-US" sz="1050" u="none" cap="none" strike="noStrike">
                <a:solidFill>
                  <a:srgbClr val="A8A8A8"/>
                </a:solidFill>
                <a:latin typeface="Arial"/>
                <a:ea typeface="Arial"/>
                <a:cs typeface="Arial"/>
                <a:sym typeface="Arial"/>
              </a:rPr>
              <a:t>Present</a:t>
            </a:r>
            <a:endParaRPr b="0" i="0" sz="1050" u="none" cap="none" strike="noStrike">
              <a:solidFill>
                <a:schemeClr val="dk1"/>
              </a:solidFill>
              <a:latin typeface="Arial"/>
              <a:ea typeface="Arial"/>
              <a:cs typeface="Arial"/>
              <a:sym typeface="Arial"/>
            </a:endParaRPr>
          </a:p>
        </p:txBody>
      </p:sp>
      <p:cxnSp>
        <p:nvCxnSpPr>
          <p:cNvPr id="144" name="Google Shape;144;p7"/>
          <p:cNvCxnSpPr/>
          <p:nvPr/>
        </p:nvCxnSpPr>
        <p:spPr>
          <a:xfrm>
            <a:off x="9939528" y="3529584"/>
            <a:ext cx="850392" cy="0"/>
          </a:xfrm>
          <a:prstGeom prst="straightConnector1">
            <a:avLst/>
          </a:prstGeom>
          <a:noFill/>
          <a:ln cap="flat" cmpd="sng" w="12700">
            <a:solidFill>
              <a:srgbClr val="5A5A5A"/>
            </a:solidFill>
            <a:prstDash val="solid"/>
            <a:round/>
            <a:headEnd len="sm" w="sm" type="none"/>
            <a:tailEnd len="sm" w="sm" type="none"/>
          </a:ln>
        </p:spPr>
      </p:cxnSp>
      <p:sp>
        <p:nvSpPr>
          <p:cNvPr id="145" name="Google Shape;145;p7"/>
          <p:cNvSpPr/>
          <p:nvPr/>
        </p:nvSpPr>
        <p:spPr>
          <a:xfrm>
            <a:off x="10789920" y="3246120"/>
            <a:ext cx="566928" cy="566928"/>
          </a:xfrm>
          <a:prstGeom prst="ellipse">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7"/>
          <p:cNvSpPr/>
          <p:nvPr/>
        </p:nvSpPr>
        <p:spPr>
          <a:xfrm>
            <a:off x="10789920" y="3374136"/>
            <a:ext cx="566928"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4F4F4"/>
              </a:buClr>
              <a:buSzPts val="1300"/>
              <a:buFont typeface="Arial"/>
              <a:buNone/>
            </a:pPr>
            <a:r>
              <a:rPr b="1" i="0" lang="en-US" sz="1300" u="none" cap="none" strike="noStrike">
                <a:solidFill>
                  <a:srgbClr val="F4F4F4"/>
                </a:solidFill>
                <a:latin typeface="Arial"/>
                <a:ea typeface="Arial"/>
                <a:cs typeface="Arial"/>
                <a:sym typeface="Arial"/>
              </a:rPr>
              <a:t>8</a:t>
            </a:r>
            <a:endParaRPr b="0" i="0" sz="1300" u="none" cap="none" strike="noStrike">
              <a:solidFill>
                <a:schemeClr val="dk1"/>
              </a:solidFill>
              <a:latin typeface="Arial"/>
              <a:ea typeface="Arial"/>
              <a:cs typeface="Arial"/>
              <a:sym typeface="Arial"/>
            </a:endParaRPr>
          </a:p>
        </p:txBody>
      </p:sp>
      <p:sp>
        <p:nvSpPr>
          <p:cNvPr id="147" name="Google Shape;147;p7"/>
          <p:cNvSpPr/>
          <p:nvPr/>
        </p:nvSpPr>
        <p:spPr>
          <a:xfrm>
            <a:off x="10442448" y="3995928"/>
            <a:ext cx="1261872"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8A8A8"/>
              </a:buClr>
              <a:buSzPts val="1050"/>
              <a:buFont typeface="Arial"/>
              <a:buNone/>
            </a:pPr>
            <a:r>
              <a:rPr b="0" i="0" lang="en-US" sz="1050" u="none" cap="none" strike="noStrike">
                <a:solidFill>
                  <a:srgbClr val="A8A8A8"/>
                </a:solidFill>
                <a:latin typeface="Arial"/>
                <a:ea typeface="Arial"/>
                <a:cs typeface="Arial"/>
                <a:sym typeface="Arial"/>
              </a:rPr>
              <a:t>Reflect</a:t>
            </a:r>
            <a:endParaRPr b="0" i="0" sz="1050" u="none" cap="none" strike="noStrike">
              <a:solidFill>
                <a:schemeClr val="dk1"/>
              </a:solidFill>
              <a:latin typeface="Arial"/>
              <a:ea typeface="Arial"/>
              <a:cs typeface="Arial"/>
              <a:sym typeface="Arial"/>
            </a:endParaRPr>
          </a:p>
        </p:txBody>
      </p:sp>
      <p:sp>
        <p:nvSpPr>
          <p:cNvPr id="148" name="Google Shape;148;p7"/>
          <p:cNvSpPr/>
          <p:nvPr/>
        </p:nvSpPr>
        <p:spPr>
          <a:xfrm>
            <a:off x="868680" y="5166360"/>
            <a:ext cx="10515600" cy="45720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F4F4F4"/>
              </a:buClr>
              <a:buSzPts val="2200"/>
              <a:buFont typeface="Arial"/>
              <a:buNone/>
            </a:pPr>
            <a:r>
              <a:rPr b="1" i="0" lang="en-US" sz="2200" u="none" cap="none" strike="noStrike">
                <a:solidFill>
                  <a:srgbClr val="F4F4F4"/>
                </a:solidFill>
                <a:latin typeface="Arial"/>
                <a:ea typeface="Arial"/>
                <a:cs typeface="Arial"/>
                <a:sym typeface="Arial"/>
              </a:rPr>
              <a:t>Reflection asks: Where did the project change, and what did those changes teach you?</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153" name="Shape 153"/>
        <p:cNvGrpSpPr/>
        <p:nvPr/>
      </p:nvGrpSpPr>
      <p:grpSpPr>
        <a:xfrm>
          <a:off x="0" y="0"/>
          <a:ext cx="0" cy="0"/>
          <a:chOff x="0" y="0"/>
          <a:chExt cx="0" cy="0"/>
        </a:xfrm>
      </p:grpSpPr>
      <p:sp>
        <p:nvSpPr>
          <p:cNvPr id="154" name="Google Shape;154;p8"/>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8"/>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8"/>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STUDENT ACTIVITY</a:t>
            </a:r>
            <a:endParaRPr b="0" i="0" sz="950" u="none" cap="none" strike="noStrike">
              <a:solidFill>
                <a:schemeClr val="dk1"/>
              </a:solidFill>
              <a:latin typeface="Arial"/>
              <a:ea typeface="Arial"/>
              <a:cs typeface="Arial"/>
              <a:sym typeface="Arial"/>
            </a:endParaRPr>
          </a:p>
        </p:txBody>
      </p:sp>
      <p:sp>
        <p:nvSpPr>
          <p:cNvPr id="158" name="Google Shape;158;p8"/>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159" name="Google Shape;159;p8"/>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Activity: Research Timeline Reconstruction</a:t>
            </a:r>
            <a:endParaRPr b="0" i="0" sz="3000" u="none" cap="none" strike="noStrike">
              <a:solidFill>
                <a:schemeClr val="dk1"/>
              </a:solidFill>
              <a:latin typeface="Arial"/>
              <a:ea typeface="Arial"/>
              <a:cs typeface="Arial"/>
              <a:sym typeface="Arial"/>
            </a:endParaRPr>
          </a:p>
        </p:txBody>
      </p:sp>
      <p:sp>
        <p:nvSpPr>
          <p:cNvPr id="160" name="Google Shape;160;p8"/>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Students rebuild the story of how their project changed.</a:t>
            </a:r>
            <a:endParaRPr b="0" i="0" sz="1300" u="none" cap="none" strike="noStrike">
              <a:solidFill>
                <a:schemeClr val="dk1"/>
              </a:solidFill>
              <a:latin typeface="Arial"/>
              <a:ea typeface="Arial"/>
              <a:cs typeface="Arial"/>
              <a:sym typeface="Arial"/>
            </a:endParaRPr>
          </a:p>
        </p:txBody>
      </p:sp>
      <p:sp>
        <p:nvSpPr>
          <p:cNvPr id="162" name="Google Shape;162;p8"/>
          <p:cNvSpPr/>
          <p:nvPr/>
        </p:nvSpPr>
        <p:spPr>
          <a:xfrm>
            <a:off x="640080" y="1755648"/>
            <a:ext cx="2148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200"/>
              <a:buFont typeface="Arial"/>
              <a:buNone/>
            </a:pPr>
            <a:r>
              <a:rPr b="1" i="0" lang="en-US" sz="1200" u="none" cap="none" strike="noStrike">
                <a:solidFill>
                  <a:srgbClr val="E3342F"/>
                </a:solidFill>
                <a:latin typeface="Arial"/>
                <a:ea typeface="Arial"/>
                <a:cs typeface="Arial"/>
                <a:sym typeface="Arial"/>
              </a:rPr>
              <a:t>STUDENT ACTIVITY</a:t>
            </a:r>
            <a:endParaRPr b="0" i="0" sz="1200" u="none" cap="none" strike="noStrike">
              <a:solidFill>
                <a:schemeClr val="dk1"/>
              </a:solidFill>
              <a:latin typeface="Arial"/>
              <a:ea typeface="Arial"/>
              <a:cs typeface="Arial"/>
              <a:sym typeface="Arial"/>
            </a:endParaRPr>
          </a:p>
        </p:txBody>
      </p:sp>
      <p:sp>
        <p:nvSpPr>
          <p:cNvPr id="163" name="Google Shape;163;p8"/>
          <p:cNvSpPr/>
          <p:nvPr/>
        </p:nvSpPr>
        <p:spPr>
          <a:xfrm>
            <a:off x="640080" y="2057400"/>
            <a:ext cx="7040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2600"/>
              <a:buFont typeface="Arial"/>
              <a:buNone/>
            </a:pPr>
            <a:r>
              <a:rPr b="1" i="0" lang="en-US" sz="2600" u="none" cap="none" strike="noStrike">
                <a:solidFill>
                  <a:srgbClr val="F4F4F4"/>
                </a:solidFill>
                <a:latin typeface="Arial"/>
                <a:ea typeface="Arial"/>
                <a:cs typeface="Arial"/>
                <a:sym typeface="Arial"/>
              </a:rPr>
              <a:t>From First Idea to Final Claim</a:t>
            </a:r>
            <a:endParaRPr b="0" i="0" sz="2600" u="none" cap="none" strike="noStrike">
              <a:solidFill>
                <a:schemeClr val="dk1"/>
              </a:solidFill>
              <a:latin typeface="Arial"/>
              <a:ea typeface="Arial"/>
              <a:cs typeface="Arial"/>
              <a:sym typeface="Arial"/>
            </a:endParaRPr>
          </a:p>
        </p:txBody>
      </p:sp>
      <p:sp>
        <p:nvSpPr>
          <p:cNvPr id="164" name="Google Shape;164;p8"/>
          <p:cNvSpPr/>
          <p:nvPr/>
        </p:nvSpPr>
        <p:spPr>
          <a:xfrm>
            <a:off x="9509760" y="2084832"/>
            <a:ext cx="18288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3342F"/>
              </a:buClr>
              <a:buSzPts val="1600"/>
              <a:buFont typeface="Arial"/>
              <a:buNone/>
            </a:pPr>
            <a:r>
              <a:rPr b="1" i="0" lang="en-US" sz="1600" u="none" cap="none" strike="noStrike">
                <a:solidFill>
                  <a:srgbClr val="E3342F"/>
                </a:solidFill>
                <a:latin typeface="Arial"/>
                <a:ea typeface="Arial"/>
                <a:cs typeface="Arial"/>
                <a:sym typeface="Arial"/>
              </a:rPr>
              <a:t>12 MINUTES</a:t>
            </a:r>
            <a:endParaRPr b="0" i="0" sz="1600" u="none" cap="none" strike="noStrike">
              <a:solidFill>
                <a:schemeClr val="dk1"/>
              </a:solidFill>
              <a:latin typeface="Arial"/>
              <a:ea typeface="Arial"/>
              <a:cs typeface="Arial"/>
              <a:sym typeface="Arial"/>
            </a:endParaRPr>
          </a:p>
        </p:txBody>
      </p:sp>
      <p:cxnSp>
        <p:nvCxnSpPr>
          <p:cNvPr id="165" name="Google Shape;165;p8"/>
          <p:cNvCxnSpPr/>
          <p:nvPr/>
        </p:nvCxnSpPr>
        <p:spPr>
          <a:xfrm>
            <a:off x="640080" y="2706624"/>
            <a:ext cx="10881360" cy="0"/>
          </a:xfrm>
          <a:prstGeom prst="straightConnector1">
            <a:avLst/>
          </a:prstGeom>
          <a:noFill/>
          <a:ln cap="flat" cmpd="sng" w="12700">
            <a:solidFill>
              <a:srgbClr val="5A5A5A"/>
            </a:solidFill>
            <a:prstDash val="solid"/>
            <a:round/>
            <a:headEnd len="sm" w="sm" type="none"/>
            <a:tailEnd len="sm" w="sm" type="none"/>
          </a:ln>
        </p:spPr>
      </p:cxnSp>
      <p:sp>
        <p:nvSpPr>
          <p:cNvPr id="166" name="Google Shape;166;p8"/>
          <p:cNvSpPr/>
          <p:nvPr/>
        </p:nvSpPr>
        <p:spPr>
          <a:xfrm>
            <a:off x="822960" y="2990088"/>
            <a:ext cx="10515600" cy="256032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In your reflection handout, list five turning points from your project:</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original idea</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major revision</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failed test or obstacle</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important feedback</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final claim, product, or presentation</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For each one, write what changed and why.</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171" name="Shape 171"/>
        <p:cNvGrpSpPr/>
        <p:nvPr/>
      </p:nvGrpSpPr>
      <p:grpSpPr>
        <a:xfrm>
          <a:off x="0" y="0"/>
          <a:ext cx="0" cy="0"/>
          <a:chOff x="0" y="0"/>
          <a:chExt cx="0" cy="0"/>
        </a:xfrm>
      </p:grpSpPr>
      <p:sp>
        <p:nvSpPr>
          <p:cNvPr id="172" name="Google Shape;172;p9"/>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9"/>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9"/>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9"/>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REFLECTION</a:t>
            </a:r>
            <a:endParaRPr b="0" i="0" sz="950" u="none" cap="none" strike="noStrike">
              <a:solidFill>
                <a:schemeClr val="dk1"/>
              </a:solidFill>
              <a:latin typeface="Arial"/>
              <a:ea typeface="Arial"/>
              <a:cs typeface="Arial"/>
              <a:sym typeface="Arial"/>
            </a:endParaRPr>
          </a:p>
        </p:txBody>
      </p:sp>
      <p:sp>
        <p:nvSpPr>
          <p:cNvPr id="176" name="Google Shape;176;p9"/>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177" name="Google Shape;177;p9"/>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Failure Belongs in the Final Story</a:t>
            </a:r>
            <a:endParaRPr b="0" i="0" sz="3000" u="none" cap="none" strike="noStrike">
              <a:solidFill>
                <a:schemeClr val="dk1"/>
              </a:solidFill>
              <a:latin typeface="Arial"/>
              <a:ea typeface="Arial"/>
              <a:cs typeface="Arial"/>
              <a:sym typeface="Arial"/>
            </a:endParaRPr>
          </a:p>
        </p:txBody>
      </p:sp>
      <p:sp>
        <p:nvSpPr>
          <p:cNvPr id="178" name="Google Shape;178;p9"/>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9"/>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A project that changed direction may be more authentic, not less.</a:t>
            </a:r>
            <a:endParaRPr b="0" i="0" sz="1300" u="none" cap="none" strike="noStrike">
              <a:solidFill>
                <a:schemeClr val="dk1"/>
              </a:solidFill>
              <a:latin typeface="Arial"/>
              <a:ea typeface="Arial"/>
              <a:cs typeface="Arial"/>
              <a:sym typeface="Arial"/>
            </a:endParaRPr>
          </a:p>
        </p:txBody>
      </p:sp>
      <p:sp>
        <p:nvSpPr>
          <p:cNvPr id="180" name="Google Shape;180;p9"/>
          <p:cNvSpPr/>
          <p:nvPr/>
        </p:nvSpPr>
        <p:spPr>
          <a:xfrm>
            <a:off x="685800" y="1600200"/>
            <a:ext cx="5166360" cy="384048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9"/>
          <p:cNvSpPr/>
          <p:nvPr/>
        </p:nvSpPr>
        <p:spPr>
          <a:xfrm>
            <a:off x="685800" y="1600200"/>
            <a:ext cx="64008" cy="384048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9"/>
          <p:cNvSpPr/>
          <p:nvPr/>
        </p:nvSpPr>
        <p:spPr>
          <a:xfrm>
            <a:off x="88696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WEAK REFLECTION</a:t>
            </a:r>
            <a:endParaRPr b="0" i="0" sz="1100" u="none" cap="none" strike="noStrike">
              <a:solidFill>
                <a:schemeClr val="dk1"/>
              </a:solidFill>
              <a:latin typeface="Arial"/>
              <a:ea typeface="Arial"/>
              <a:cs typeface="Arial"/>
              <a:sym typeface="Arial"/>
            </a:endParaRPr>
          </a:p>
        </p:txBody>
      </p:sp>
      <p:sp>
        <p:nvSpPr>
          <p:cNvPr id="183" name="Google Shape;183;p9"/>
          <p:cNvSpPr/>
          <p:nvPr/>
        </p:nvSpPr>
        <p:spPr>
          <a:xfrm>
            <a:off x="886968" y="2057400"/>
            <a:ext cx="4846320" cy="32735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“My project failed, but I still finished.”</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Problem: It treats failure as an ending and gives no evidence of learning.</a:t>
            </a:r>
            <a:endParaRPr b="0" i="0" sz="1600" u="none" cap="none" strike="noStrike">
              <a:solidFill>
                <a:schemeClr val="dk1"/>
              </a:solidFill>
              <a:latin typeface="Arial"/>
              <a:ea typeface="Arial"/>
              <a:cs typeface="Arial"/>
              <a:sym typeface="Arial"/>
            </a:endParaRPr>
          </a:p>
        </p:txBody>
      </p:sp>
      <p:sp>
        <p:nvSpPr>
          <p:cNvPr id="184" name="Google Shape;184;p9"/>
          <p:cNvSpPr/>
          <p:nvPr/>
        </p:nvSpPr>
        <p:spPr>
          <a:xfrm>
            <a:off x="6355080" y="1600200"/>
            <a:ext cx="5166360" cy="384048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9"/>
          <p:cNvSpPr/>
          <p:nvPr/>
        </p:nvSpPr>
        <p:spPr>
          <a:xfrm>
            <a:off x="6355080" y="1600200"/>
            <a:ext cx="64008" cy="384048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9"/>
          <p:cNvSpPr/>
          <p:nvPr/>
        </p:nvSpPr>
        <p:spPr>
          <a:xfrm>
            <a:off x="655624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STRONGER REFLECTION</a:t>
            </a:r>
            <a:endParaRPr b="0" i="0" sz="1100" u="none" cap="none" strike="noStrike">
              <a:solidFill>
                <a:schemeClr val="dk1"/>
              </a:solidFill>
              <a:latin typeface="Arial"/>
              <a:ea typeface="Arial"/>
              <a:cs typeface="Arial"/>
              <a:sym typeface="Arial"/>
            </a:endParaRPr>
          </a:p>
        </p:txBody>
      </p:sp>
      <p:sp>
        <p:nvSpPr>
          <p:cNvPr id="187" name="Google Shape;187;p9"/>
          <p:cNvSpPr/>
          <p:nvPr/>
        </p:nvSpPr>
        <p:spPr>
          <a:xfrm>
            <a:off x="6556248" y="2057400"/>
            <a:ext cx="4846320" cy="32735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“My first prototype failed at the clamp, which showed the test fixture was measuring clamp weakness instead of bridge strength. Revising the fixture made later trials more meaningful.”</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192" name="Shape 192"/>
        <p:cNvGrpSpPr/>
        <p:nvPr/>
      </p:nvGrpSpPr>
      <p:grpSpPr>
        <a:xfrm>
          <a:off x="0" y="0"/>
          <a:ext cx="0" cy="0"/>
          <a:chOff x="0" y="0"/>
          <a:chExt cx="0" cy="0"/>
        </a:xfrm>
      </p:grpSpPr>
      <p:sp>
        <p:nvSpPr>
          <p:cNvPr id="193" name="Google Shape;193;p10"/>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0"/>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0"/>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0"/>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PORTFOLIO</a:t>
            </a:r>
            <a:endParaRPr b="0" i="0" sz="950" u="none" cap="none" strike="noStrike">
              <a:solidFill>
                <a:schemeClr val="dk1"/>
              </a:solidFill>
              <a:latin typeface="Arial"/>
              <a:ea typeface="Arial"/>
              <a:cs typeface="Arial"/>
              <a:sym typeface="Arial"/>
            </a:endParaRPr>
          </a:p>
        </p:txBody>
      </p:sp>
      <p:sp>
        <p:nvSpPr>
          <p:cNvPr id="197" name="Google Shape;197;p10"/>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198" name="Google Shape;198;p10"/>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 Portfolio Shows Product and Process</a:t>
            </a:r>
            <a:endParaRPr b="0" i="0" sz="3000" u="none" cap="none" strike="noStrike">
              <a:solidFill>
                <a:schemeClr val="dk1"/>
              </a:solidFill>
              <a:latin typeface="Arial"/>
              <a:ea typeface="Arial"/>
              <a:cs typeface="Arial"/>
              <a:sym typeface="Arial"/>
            </a:endParaRPr>
          </a:p>
        </p:txBody>
      </p:sp>
      <p:sp>
        <p:nvSpPr>
          <p:cNvPr id="199" name="Google Shape;199;p10"/>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0"/>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A strong portfolio proves the work happened and shows how thinking developed.</a:t>
            </a:r>
            <a:endParaRPr b="0" i="0" sz="1300" u="none" cap="none" strike="noStrike">
              <a:solidFill>
                <a:schemeClr val="dk1"/>
              </a:solidFill>
              <a:latin typeface="Arial"/>
              <a:ea typeface="Arial"/>
              <a:cs typeface="Arial"/>
              <a:sym typeface="Arial"/>
            </a:endParaRPr>
          </a:p>
        </p:txBody>
      </p:sp>
      <p:sp>
        <p:nvSpPr>
          <p:cNvPr id="201" name="Google Shape;201;p10"/>
          <p:cNvSpPr/>
          <p:nvPr/>
        </p:nvSpPr>
        <p:spPr>
          <a:xfrm>
            <a:off x="7772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0"/>
          <p:cNvSpPr/>
          <p:nvPr/>
        </p:nvSpPr>
        <p:spPr>
          <a:xfrm>
            <a:off x="7772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10"/>
          <p:cNvSpPr/>
          <p:nvPr/>
        </p:nvSpPr>
        <p:spPr>
          <a:xfrm>
            <a:off x="9784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PRODUCT ARTIFACTS</a:t>
            </a:r>
            <a:endParaRPr b="0" i="0" sz="1100" u="none" cap="none" strike="noStrike">
              <a:solidFill>
                <a:schemeClr val="dk1"/>
              </a:solidFill>
              <a:latin typeface="Arial"/>
              <a:ea typeface="Arial"/>
              <a:cs typeface="Arial"/>
              <a:sym typeface="Arial"/>
            </a:endParaRPr>
          </a:p>
        </p:txBody>
      </p:sp>
      <p:sp>
        <p:nvSpPr>
          <p:cNvPr id="204" name="Google Shape;204;p10"/>
          <p:cNvSpPr/>
          <p:nvPr/>
        </p:nvSpPr>
        <p:spPr>
          <a:xfrm>
            <a:off x="9784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Final report, final poster or slides, final graphs, final presentation feedback.</a:t>
            </a:r>
            <a:endParaRPr b="0" i="0" sz="1600" u="none" cap="none" strike="noStrike">
              <a:solidFill>
                <a:schemeClr val="dk1"/>
              </a:solidFill>
              <a:latin typeface="Arial"/>
              <a:ea typeface="Arial"/>
              <a:cs typeface="Arial"/>
              <a:sym typeface="Arial"/>
            </a:endParaRPr>
          </a:p>
        </p:txBody>
      </p:sp>
      <p:sp>
        <p:nvSpPr>
          <p:cNvPr id="205" name="Google Shape;205;p10"/>
          <p:cNvSpPr/>
          <p:nvPr/>
        </p:nvSpPr>
        <p:spPr>
          <a:xfrm>
            <a:off x="62636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0"/>
          <p:cNvSpPr/>
          <p:nvPr/>
        </p:nvSpPr>
        <p:spPr>
          <a:xfrm>
            <a:off x="62636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0"/>
          <p:cNvSpPr/>
          <p:nvPr/>
        </p:nvSpPr>
        <p:spPr>
          <a:xfrm>
            <a:off x="64648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PROCESS ARTIFACTS</a:t>
            </a:r>
            <a:endParaRPr b="0" i="0" sz="1100" u="none" cap="none" strike="noStrike">
              <a:solidFill>
                <a:schemeClr val="dk1"/>
              </a:solidFill>
              <a:latin typeface="Arial"/>
              <a:ea typeface="Arial"/>
              <a:cs typeface="Arial"/>
              <a:sym typeface="Arial"/>
            </a:endParaRPr>
          </a:p>
        </p:txBody>
      </p:sp>
      <p:sp>
        <p:nvSpPr>
          <p:cNvPr id="208" name="Google Shape;208;p10"/>
          <p:cNvSpPr/>
          <p:nvPr/>
        </p:nvSpPr>
        <p:spPr>
          <a:xfrm>
            <a:off x="64648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Original pitch, research plan, pilot notes, journal excerpts, troubleshooting logs.</a:t>
            </a:r>
            <a:endParaRPr b="0" i="0" sz="1600" u="none" cap="none" strike="noStrike">
              <a:solidFill>
                <a:schemeClr val="dk1"/>
              </a:solidFill>
              <a:latin typeface="Arial"/>
              <a:ea typeface="Arial"/>
              <a:cs typeface="Arial"/>
              <a:sym typeface="Arial"/>
            </a:endParaRPr>
          </a:p>
        </p:txBody>
      </p:sp>
      <p:sp>
        <p:nvSpPr>
          <p:cNvPr id="209" name="Google Shape;209;p10"/>
          <p:cNvSpPr/>
          <p:nvPr/>
        </p:nvSpPr>
        <p:spPr>
          <a:xfrm>
            <a:off x="7772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0"/>
          <p:cNvSpPr/>
          <p:nvPr/>
        </p:nvSpPr>
        <p:spPr>
          <a:xfrm>
            <a:off x="7772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9784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DATA ARTIFACTS</a:t>
            </a:r>
            <a:endParaRPr b="0" i="0" sz="1100" u="none" cap="none" strike="noStrike">
              <a:solidFill>
                <a:schemeClr val="dk1"/>
              </a:solidFill>
              <a:latin typeface="Arial"/>
              <a:ea typeface="Arial"/>
              <a:cs typeface="Arial"/>
              <a:sym typeface="Arial"/>
            </a:endParaRPr>
          </a:p>
        </p:txBody>
      </p:sp>
      <p:sp>
        <p:nvSpPr>
          <p:cNvPr id="212" name="Google Shape;212;p10"/>
          <p:cNvSpPr/>
          <p:nvPr/>
        </p:nvSpPr>
        <p:spPr>
          <a:xfrm>
            <a:off x="9784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Raw data sample, clean data set, analysis notes, figures, captions, limitations review.</a:t>
            </a:r>
            <a:endParaRPr b="0" i="0" sz="1600" u="none" cap="none" strike="noStrike">
              <a:solidFill>
                <a:schemeClr val="dk1"/>
              </a:solidFill>
              <a:latin typeface="Arial"/>
              <a:ea typeface="Arial"/>
              <a:cs typeface="Arial"/>
              <a:sym typeface="Arial"/>
            </a:endParaRPr>
          </a:p>
        </p:txBody>
      </p:sp>
      <p:sp>
        <p:nvSpPr>
          <p:cNvPr id="213" name="Google Shape;213;p10"/>
          <p:cNvSpPr/>
          <p:nvPr/>
        </p:nvSpPr>
        <p:spPr>
          <a:xfrm>
            <a:off x="62636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10"/>
          <p:cNvSpPr/>
          <p:nvPr/>
        </p:nvSpPr>
        <p:spPr>
          <a:xfrm>
            <a:off x="62636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64648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REFLECTION ARTIFACTS</a:t>
            </a:r>
            <a:endParaRPr b="0" i="0" sz="1100" u="none" cap="none" strike="noStrike">
              <a:solidFill>
                <a:schemeClr val="dk1"/>
              </a:solidFill>
              <a:latin typeface="Arial"/>
              <a:ea typeface="Arial"/>
              <a:cs typeface="Arial"/>
              <a:sym typeface="Arial"/>
            </a:endParaRPr>
          </a:p>
        </p:txBody>
      </p:sp>
      <p:sp>
        <p:nvSpPr>
          <p:cNvPr id="216" name="Google Shape;216;p10"/>
          <p:cNvSpPr/>
          <p:nvPr/>
        </p:nvSpPr>
        <p:spPr>
          <a:xfrm>
            <a:off x="64648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Post-presentation reflection, final process reflection, next-step plan, advice to future students.</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221" name="Shape 221"/>
        <p:cNvGrpSpPr/>
        <p:nvPr/>
      </p:nvGrpSpPr>
      <p:grpSpPr>
        <a:xfrm>
          <a:off x="0" y="0"/>
          <a:ext cx="0" cy="0"/>
          <a:chOff x="0" y="0"/>
          <a:chExt cx="0" cy="0"/>
        </a:xfrm>
      </p:grpSpPr>
      <p:sp>
        <p:nvSpPr>
          <p:cNvPr id="222" name="Google Shape;222;p11"/>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1"/>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1"/>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1"/>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PORTFOLIO</a:t>
            </a:r>
            <a:endParaRPr b="0" i="0" sz="950" u="none" cap="none" strike="noStrike">
              <a:solidFill>
                <a:schemeClr val="dk1"/>
              </a:solidFill>
              <a:latin typeface="Arial"/>
              <a:ea typeface="Arial"/>
              <a:cs typeface="Arial"/>
              <a:sym typeface="Arial"/>
            </a:endParaRPr>
          </a:p>
        </p:txBody>
      </p:sp>
      <p:sp>
        <p:nvSpPr>
          <p:cNvPr id="226" name="Google Shape;226;p11"/>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227" name="Google Shape;227;p11"/>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Choose Artifacts With Purpose</a:t>
            </a:r>
            <a:endParaRPr b="0" i="0" sz="3000" u="none" cap="none" strike="noStrike">
              <a:solidFill>
                <a:schemeClr val="dk1"/>
              </a:solidFill>
              <a:latin typeface="Arial"/>
              <a:ea typeface="Arial"/>
              <a:cs typeface="Arial"/>
              <a:sym typeface="Arial"/>
            </a:endParaRPr>
          </a:p>
        </p:txBody>
      </p:sp>
      <p:sp>
        <p:nvSpPr>
          <p:cNvPr id="228" name="Google Shape;228;p11"/>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1"/>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Every artifact should answer: What does this prove about my work?</a:t>
            </a:r>
            <a:endParaRPr b="0" i="0" sz="1300" u="none" cap="none" strike="noStrike">
              <a:solidFill>
                <a:schemeClr val="dk1"/>
              </a:solidFill>
              <a:latin typeface="Arial"/>
              <a:ea typeface="Arial"/>
              <a:cs typeface="Arial"/>
              <a:sym typeface="Arial"/>
            </a:endParaRPr>
          </a:p>
        </p:txBody>
      </p:sp>
      <p:sp>
        <p:nvSpPr>
          <p:cNvPr id="230" name="Google Shape;230;p11"/>
          <p:cNvSpPr/>
          <p:nvPr/>
        </p:nvSpPr>
        <p:spPr>
          <a:xfrm>
            <a:off x="685800" y="1600200"/>
            <a:ext cx="3429000" cy="123444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1"/>
          <p:cNvSpPr/>
          <p:nvPr/>
        </p:nvSpPr>
        <p:spPr>
          <a:xfrm>
            <a:off x="685800" y="1600200"/>
            <a:ext cx="64008" cy="123444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1"/>
          <p:cNvSpPr/>
          <p:nvPr/>
        </p:nvSpPr>
        <p:spPr>
          <a:xfrm>
            <a:off x="886968" y="1737360"/>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ORIGINAL PROJECT PITCH</a:t>
            </a:r>
            <a:endParaRPr b="0" i="0" sz="1100" u="none" cap="none" strike="noStrike">
              <a:solidFill>
                <a:schemeClr val="dk1"/>
              </a:solidFill>
              <a:latin typeface="Arial"/>
              <a:ea typeface="Arial"/>
              <a:cs typeface="Arial"/>
              <a:sym typeface="Arial"/>
            </a:endParaRPr>
          </a:p>
        </p:txBody>
      </p:sp>
      <p:sp>
        <p:nvSpPr>
          <p:cNvPr id="233" name="Google Shape;233;p11"/>
          <p:cNvSpPr/>
          <p:nvPr/>
        </p:nvSpPr>
        <p:spPr>
          <a:xfrm>
            <a:off x="886968" y="2057400"/>
            <a:ext cx="3108960" cy="6675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Shows where the research began and what early assumptions existed.</a:t>
            </a:r>
            <a:endParaRPr b="0" i="0" sz="1600" u="none" cap="none" strike="noStrike">
              <a:solidFill>
                <a:schemeClr val="dk1"/>
              </a:solidFill>
              <a:latin typeface="Arial"/>
              <a:ea typeface="Arial"/>
              <a:cs typeface="Arial"/>
              <a:sym typeface="Arial"/>
            </a:endParaRPr>
          </a:p>
        </p:txBody>
      </p:sp>
      <p:sp>
        <p:nvSpPr>
          <p:cNvPr id="234" name="Google Shape;234;p11"/>
          <p:cNvSpPr/>
          <p:nvPr/>
        </p:nvSpPr>
        <p:spPr>
          <a:xfrm>
            <a:off x="4389120" y="1600200"/>
            <a:ext cx="3429000" cy="123444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1"/>
          <p:cNvSpPr/>
          <p:nvPr/>
        </p:nvSpPr>
        <p:spPr>
          <a:xfrm>
            <a:off x="4389120" y="1600200"/>
            <a:ext cx="64008" cy="123444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4590288" y="1737360"/>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RESEARCH PLAN</a:t>
            </a:r>
            <a:endParaRPr b="0" i="0" sz="1100" u="none" cap="none" strike="noStrike">
              <a:solidFill>
                <a:schemeClr val="dk1"/>
              </a:solidFill>
              <a:latin typeface="Arial"/>
              <a:ea typeface="Arial"/>
              <a:cs typeface="Arial"/>
              <a:sym typeface="Arial"/>
            </a:endParaRPr>
          </a:p>
        </p:txBody>
      </p:sp>
      <p:sp>
        <p:nvSpPr>
          <p:cNvPr id="237" name="Google Shape;237;p11"/>
          <p:cNvSpPr/>
          <p:nvPr/>
        </p:nvSpPr>
        <p:spPr>
          <a:xfrm>
            <a:off x="4590288" y="2057400"/>
            <a:ext cx="3108960" cy="6675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Shows how the idea became a structured method or design plan.</a:t>
            </a:r>
            <a:endParaRPr b="0" i="0" sz="1600" u="none" cap="none" strike="noStrike">
              <a:solidFill>
                <a:schemeClr val="dk1"/>
              </a:solidFill>
              <a:latin typeface="Arial"/>
              <a:ea typeface="Arial"/>
              <a:cs typeface="Arial"/>
              <a:sym typeface="Arial"/>
            </a:endParaRPr>
          </a:p>
        </p:txBody>
      </p:sp>
      <p:sp>
        <p:nvSpPr>
          <p:cNvPr id="238" name="Google Shape;238;p11"/>
          <p:cNvSpPr/>
          <p:nvPr/>
        </p:nvSpPr>
        <p:spPr>
          <a:xfrm>
            <a:off x="8092440" y="1600200"/>
            <a:ext cx="3429000" cy="123444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8092440" y="1600200"/>
            <a:ext cx="64008" cy="123444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1"/>
          <p:cNvSpPr/>
          <p:nvPr/>
        </p:nvSpPr>
        <p:spPr>
          <a:xfrm>
            <a:off x="8293608" y="1737360"/>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JOURNAL EXCERPTS</a:t>
            </a:r>
            <a:endParaRPr b="0" i="0" sz="1100" u="none" cap="none" strike="noStrike">
              <a:solidFill>
                <a:schemeClr val="dk1"/>
              </a:solidFill>
              <a:latin typeface="Arial"/>
              <a:ea typeface="Arial"/>
              <a:cs typeface="Arial"/>
              <a:sym typeface="Arial"/>
            </a:endParaRPr>
          </a:p>
        </p:txBody>
      </p:sp>
      <p:sp>
        <p:nvSpPr>
          <p:cNvPr id="241" name="Google Shape;241;p11"/>
          <p:cNvSpPr/>
          <p:nvPr/>
        </p:nvSpPr>
        <p:spPr>
          <a:xfrm>
            <a:off x="8293608" y="2057400"/>
            <a:ext cx="3108960" cy="6675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Show what happened during work sessions, including revisions and problems.</a:t>
            </a:r>
            <a:endParaRPr b="0" i="0" sz="1600" u="none" cap="none" strike="noStrike">
              <a:solidFill>
                <a:schemeClr val="dk1"/>
              </a:solidFill>
              <a:latin typeface="Arial"/>
              <a:ea typeface="Arial"/>
              <a:cs typeface="Arial"/>
              <a:sym typeface="Arial"/>
            </a:endParaRPr>
          </a:p>
        </p:txBody>
      </p:sp>
      <p:sp>
        <p:nvSpPr>
          <p:cNvPr id="242" name="Google Shape;242;p11"/>
          <p:cNvSpPr/>
          <p:nvPr/>
        </p:nvSpPr>
        <p:spPr>
          <a:xfrm>
            <a:off x="685800" y="3657600"/>
            <a:ext cx="3429000" cy="123444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685800" y="3657600"/>
            <a:ext cx="64008" cy="123444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11"/>
          <p:cNvSpPr/>
          <p:nvPr/>
        </p:nvSpPr>
        <p:spPr>
          <a:xfrm>
            <a:off x="886968" y="3794760"/>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DATA + VISUALS</a:t>
            </a:r>
            <a:endParaRPr b="0" i="0" sz="1100" u="none" cap="none" strike="noStrike">
              <a:solidFill>
                <a:schemeClr val="dk1"/>
              </a:solidFill>
              <a:latin typeface="Arial"/>
              <a:ea typeface="Arial"/>
              <a:cs typeface="Arial"/>
              <a:sym typeface="Arial"/>
            </a:endParaRPr>
          </a:p>
        </p:txBody>
      </p:sp>
      <p:sp>
        <p:nvSpPr>
          <p:cNvPr id="245" name="Google Shape;245;p11"/>
          <p:cNvSpPr/>
          <p:nvPr/>
        </p:nvSpPr>
        <p:spPr>
          <a:xfrm>
            <a:off x="886968" y="4114800"/>
            <a:ext cx="3108960" cy="6675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Show the evidence used to support claims or design decisions.</a:t>
            </a:r>
            <a:endParaRPr b="0" i="0" sz="1600" u="none" cap="none" strike="noStrike">
              <a:solidFill>
                <a:schemeClr val="dk1"/>
              </a:solidFill>
              <a:latin typeface="Arial"/>
              <a:ea typeface="Arial"/>
              <a:cs typeface="Arial"/>
              <a:sym typeface="Arial"/>
            </a:endParaRPr>
          </a:p>
        </p:txBody>
      </p:sp>
      <p:sp>
        <p:nvSpPr>
          <p:cNvPr id="246" name="Google Shape;246;p11"/>
          <p:cNvSpPr/>
          <p:nvPr/>
        </p:nvSpPr>
        <p:spPr>
          <a:xfrm>
            <a:off x="4389120" y="3657600"/>
            <a:ext cx="3429000" cy="123444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1"/>
          <p:cNvSpPr/>
          <p:nvPr/>
        </p:nvSpPr>
        <p:spPr>
          <a:xfrm>
            <a:off x="4389120" y="3657600"/>
            <a:ext cx="64008" cy="123444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1"/>
          <p:cNvSpPr/>
          <p:nvPr/>
        </p:nvSpPr>
        <p:spPr>
          <a:xfrm>
            <a:off x="4590288" y="3794760"/>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FEEDBACK FORMS</a:t>
            </a:r>
            <a:endParaRPr b="0" i="0" sz="1100" u="none" cap="none" strike="noStrike">
              <a:solidFill>
                <a:schemeClr val="dk1"/>
              </a:solidFill>
              <a:latin typeface="Arial"/>
              <a:ea typeface="Arial"/>
              <a:cs typeface="Arial"/>
              <a:sym typeface="Arial"/>
            </a:endParaRPr>
          </a:p>
        </p:txBody>
      </p:sp>
      <p:sp>
        <p:nvSpPr>
          <p:cNvPr id="249" name="Google Shape;249;p11"/>
          <p:cNvSpPr/>
          <p:nvPr/>
        </p:nvSpPr>
        <p:spPr>
          <a:xfrm>
            <a:off x="4590288" y="4114800"/>
            <a:ext cx="3108960" cy="6675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Show how peer, teacher, mentor, or audience input shaped the project.</a:t>
            </a:r>
            <a:endParaRPr b="0" i="0" sz="1600" u="none" cap="none" strike="noStrike">
              <a:solidFill>
                <a:schemeClr val="dk1"/>
              </a:solidFill>
              <a:latin typeface="Arial"/>
              <a:ea typeface="Arial"/>
              <a:cs typeface="Arial"/>
              <a:sym typeface="Arial"/>
            </a:endParaRPr>
          </a:p>
        </p:txBody>
      </p:sp>
      <p:sp>
        <p:nvSpPr>
          <p:cNvPr id="250" name="Google Shape;250;p11"/>
          <p:cNvSpPr/>
          <p:nvPr/>
        </p:nvSpPr>
        <p:spPr>
          <a:xfrm>
            <a:off x="8092440" y="3657600"/>
            <a:ext cx="3429000" cy="123444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8092440" y="3657600"/>
            <a:ext cx="64008" cy="123444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1"/>
          <p:cNvSpPr/>
          <p:nvPr/>
        </p:nvSpPr>
        <p:spPr>
          <a:xfrm>
            <a:off x="8293608" y="3794760"/>
            <a:ext cx="31089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FINAL REFLECTION</a:t>
            </a:r>
            <a:endParaRPr b="0" i="0" sz="1100" u="none" cap="none" strike="noStrike">
              <a:solidFill>
                <a:schemeClr val="dk1"/>
              </a:solidFill>
              <a:latin typeface="Arial"/>
              <a:ea typeface="Arial"/>
              <a:cs typeface="Arial"/>
              <a:sym typeface="Arial"/>
            </a:endParaRPr>
          </a:p>
        </p:txBody>
      </p:sp>
      <p:sp>
        <p:nvSpPr>
          <p:cNvPr id="253" name="Google Shape;253;p11"/>
          <p:cNvSpPr/>
          <p:nvPr/>
        </p:nvSpPr>
        <p:spPr>
          <a:xfrm>
            <a:off x="8293608" y="4114800"/>
            <a:ext cx="3108960" cy="6675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Shows what the student understands now that they did not understand at the start.</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258" name="Shape 258"/>
        <p:cNvGrpSpPr/>
        <p:nvPr/>
      </p:nvGrpSpPr>
      <p:grpSpPr>
        <a:xfrm>
          <a:off x="0" y="0"/>
          <a:ext cx="0" cy="0"/>
          <a:chOff x="0" y="0"/>
          <a:chExt cx="0" cy="0"/>
        </a:xfrm>
      </p:grpSpPr>
      <p:sp>
        <p:nvSpPr>
          <p:cNvPr id="259" name="Google Shape;259;p12"/>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12"/>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2"/>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2"/>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STUDENT ACTIVITY</a:t>
            </a:r>
            <a:endParaRPr b="0" i="0" sz="950" u="none" cap="none" strike="noStrike">
              <a:solidFill>
                <a:schemeClr val="dk1"/>
              </a:solidFill>
              <a:latin typeface="Arial"/>
              <a:ea typeface="Arial"/>
              <a:cs typeface="Arial"/>
              <a:sym typeface="Arial"/>
            </a:endParaRPr>
          </a:p>
        </p:txBody>
      </p:sp>
      <p:sp>
        <p:nvSpPr>
          <p:cNvPr id="263" name="Google Shape;263;p12"/>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264" name="Google Shape;264;p12"/>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Activity: Portfolio Artifact Audit</a:t>
            </a:r>
            <a:endParaRPr b="0" i="0" sz="3000" u="none" cap="none" strike="noStrike">
              <a:solidFill>
                <a:schemeClr val="dk1"/>
              </a:solidFill>
              <a:latin typeface="Arial"/>
              <a:ea typeface="Arial"/>
              <a:cs typeface="Arial"/>
              <a:sym typeface="Arial"/>
            </a:endParaRPr>
          </a:p>
        </p:txBody>
      </p:sp>
      <p:sp>
        <p:nvSpPr>
          <p:cNvPr id="265" name="Google Shape;265;p12"/>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2"/>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Students identify what they have and what is missing.</a:t>
            </a:r>
            <a:endParaRPr b="0" i="0" sz="1300" u="none" cap="none" strike="noStrike">
              <a:solidFill>
                <a:schemeClr val="dk1"/>
              </a:solidFill>
              <a:latin typeface="Arial"/>
              <a:ea typeface="Arial"/>
              <a:cs typeface="Arial"/>
              <a:sym typeface="Arial"/>
            </a:endParaRPr>
          </a:p>
        </p:txBody>
      </p:sp>
      <p:sp>
        <p:nvSpPr>
          <p:cNvPr id="267" name="Google Shape;267;p12"/>
          <p:cNvSpPr/>
          <p:nvPr/>
        </p:nvSpPr>
        <p:spPr>
          <a:xfrm>
            <a:off x="640080" y="1755648"/>
            <a:ext cx="2148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200"/>
              <a:buFont typeface="Arial"/>
              <a:buNone/>
            </a:pPr>
            <a:r>
              <a:rPr b="1" i="0" lang="en-US" sz="1200" u="none" cap="none" strike="noStrike">
                <a:solidFill>
                  <a:srgbClr val="E3342F"/>
                </a:solidFill>
                <a:latin typeface="Arial"/>
                <a:ea typeface="Arial"/>
                <a:cs typeface="Arial"/>
                <a:sym typeface="Arial"/>
              </a:rPr>
              <a:t>STUDENT ACTIVITY</a:t>
            </a:r>
            <a:endParaRPr b="0" i="0" sz="1200" u="none" cap="none" strike="noStrike">
              <a:solidFill>
                <a:schemeClr val="dk1"/>
              </a:solidFill>
              <a:latin typeface="Arial"/>
              <a:ea typeface="Arial"/>
              <a:cs typeface="Arial"/>
              <a:sym typeface="Arial"/>
            </a:endParaRPr>
          </a:p>
        </p:txBody>
      </p:sp>
      <p:sp>
        <p:nvSpPr>
          <p:cNvPr id="268" name="Google Shape;268;p12"/>
          <p:cNvSpPr/>
          <p:nvPr/>
        </p:nvSpPr>
        <p:spPr>
          <a:xfrm>
            <a:off x="640080" y="2057400"/>
            <a:ext cx="7040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2600"/>
              <a:buFont typeface="Arial"/>
              <a:buNone/>
            </a:pPr>
            <a:r>
              <a:rPr b="1" i="0" lang="en-US" sz="2600" u="none" cap="none" strike="noStrike">
                <a:solidFill>
                  <a:srgbClr val="F4F4F4"/>
                </a:solidFill>
                <a:latin typeface="Arial"/>
                <a:ea typeface="Arial"/>
                <a:cs typeface="Arial"/>
                <a:sym typeface="Arial"/>
              </a:rPr>
              <a:t>Build the Portfolio Checklist</a:t>
            </a:r>
            <a:endParaRPr b="0" i="0" sz="2600" u="none" cap="none" strike="noStrike">
              <a:solidFill>
                <a:schemeClr val="dk1"/>
              </a:solidFill>
              <a:latin typeface="Arial"/>
              <a:ea typeface="Arial"/>
              <a:cs typeface="Arial"/>
              <a:sym typeface="Arial"/>
            </a:endParaRPr>
          </a:p>
        </p:txBody>
      </p:sp>
      <p:sp>
        <p:nvSpPr>
          <p:cNvPr id="269" name="Google Shape;269;p12"/>
          <p:cNvSpPr/>
          <p:nvPr/>
        </p:nvSpPr>
        <p:spPr>
          <a:xfrm>
            <a:off x="9509760" y="2084832"/>
            <a:ext cx="18288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3342F"/>
              </a:buClr>
              <a:buSzPts val="1600"/>
              <a:buFont typeface="Arial"/>
              <a:buNone/>
            </a:pPr>
            <a:r>
              <a:rPr b="1" i="0" lang="en-US" sz="1600" u="none" cap="none" strike="noStrike">
                <a:solidFill>
                  <a:srgbClr val="E3342F"/>
                </a:solidFill>
                <a:latin typeface="Arial"/>
                <a:ea typeface="Arial"/>
                <a:cs typeface="Arial"/>
                <a:sym typeface="Arial"/>
              </a:rPr>
              <a:t>15 MINUTES</a:t>
            </a:r>
            <a:endParaRPr b="0" i="0" sz="1600" u="none" cap="none" strike="noStrike">
              <a:solidFill>
                <a:schemeClr val="dk1"/>
              </a:solidFill>
              <a:latin typeface="Arial"/>
              <a:ea typeface="Arial"/>
              <a:cs typeface="Arial"/>
              <a:sym typeface="Arial"/>
            </a:endParaRPr>
          </a:p>
        </p:txBody>
      </p:sp>
      <p:cxnSp>
        <p:nvCxnSpPr>
          <p:cNvPr id="270" name="Google Shape;270;p12"/>
          <p:cNvCxnSpPr/>
          <p:nvPr/>
        </p:nvCxnSpPr>
        <p:spPr>
          <a:xfrm>
            <a:off x="640080" y="2706624"/>
            <a:ext cx="10881360" cy="0"/>
          </a:xfrm>
          <a:prstGeom prst="straightConnector1">
            <a:avLst/>
          </a:prstGeom>
          <a:noFill/>
          <a:ln cap="flat" cmpd="sng" w="12700">
            <a:solidFill>
              <a:srgbClr val="5A5A5A"/>
            </a:solidFill>
            <a:prstDash val="solid"/>
            <a:round/>
            <a:headEnd len="sm" w="sm" type="none"/>
            <a:tailEnd len="sm" w="sm" type="none"/>
          </a:ln>
        </p:spPr>
      </p:cxnSp>
      <p:sp>
        <p:nvSpPr>
          <p:cNvPr id="271" name="Google Shape;271;p12"/>
          <p:cNvSpPr/>
          <p:nvPr/>
        </p:nvSpPr>
        <p:spPr>
          <a:xfrm>
            <a:off x="822960" y="2990088"/>
            <a:ext cx="10515600" cy="256032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Open your portfolio folder or planning document. Use the checklist to mark:</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included artifacts</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missing artifacts</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artifacts that need clearer names</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artifacts that need short explanations</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Star the artifact that best represents your growth as a researcher.</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276" name="Shape 276"/>
        <p:cNvGrpSpPr/>
        <p:nvPr/>
      </p:nvGrpSpPr>
      <p:grpSpPr>
        <a:xfrm>
          <a:off x="0" y="0"/>
          <a:ext cx="0" cy="0"/>
          <a:chOff x="0" y="0"/>
          <a:chExt cx="0" cy="0"/>
        </a:xfrm>
      </p:grpSpPr>
      <p:sp>
        <p:nvSpPr>
          <p:cNvPr id="277" name="Google Shape;277;p13"/>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3"/>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3"/>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3"/>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PORTFOLIO</a:t>
            </a:r>
            <a:endParaRPr b="0" i="0" sz="950" u="none" cap="none" strike="noStrike">
              <a:solidFill>
                <a:schemeClr val="dk1"/>
              </a:solidFill>
              <a:latin typeface="Arial"/>
              <a:ea typeface="Arial"/>
              <a:cs typeface="Arial"/>
              <a:sym typeface="Arial"/>
            </a:endParaRPr>
          </a:p>
        </p:txBody>
      </p:sp>
      <p:sp>
        <p:nvSpPr>
          <p:cNvPr id="281" name="Google Shape;281;p13"/>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282" name="Google Shape;282;p13"/>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 Portfolio Needs Context</a:t>
            </a:r>
            <a:endParaRPr b="0" i="0" sz="3000" u="none" cap="none" strike="noStrike">
              <a:solidFill>
                <a:schemeClr val="dk1"/>
              </a:solidFill>
              <a:latin typeface="Arial"/>
              <a:ea typeface="Arial"/>
              <a:cs typeface="Arial"/>
              <a:sym typeface="Arial"/>
            </a:endParaRPr>
          </a:p>
        </p:txBody>
      </p:sp>
      <p:sp>
        <p:nvSpPr>
          <p:cNvPr id="283" name="Google Shape;283;p13"/>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3"/>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Do not make the reader guess why each artifact matters.</a:t>
            </a:r>
            <a:endParaRPr b="0" i="0" sz="1300" u="none" cap="none" strike="noStrike">
              <a:solidFill>
                <a:schemeClr val="dk1"/>
              </a:solidFill>
              <a:latin typeface="Arial"/>
              <a:ea typeface="Arial"/>
              <a:cs typeface="Arial"/>
              <a:sym typeface="Arial"/>
            </a:endParaRPr>
          </a:p>
        </p:txBody>
      </p:sp>
      <p:sp>
        <p:nvSpPr>
          <p:cNvPr id="285" name="Google Shape;285;p13"/>
          <p:cNvSpPr/>
          <p:nvPr/>
        </p:nvSpPr>
        <p:spPr>
          <a:xfrm>
            <a:off x="685800" y="1600200"/>
            <a:ext cx="5166360" cy="384048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3"/>
          <p:cNvSpPr/>
          <p:nvPr/>
        </p:nvSpPr>
        <p:spPr>
          <a:xfrm>
            <a:off x="685800" y="1600200"/>
            <a:ext cx="64008" cy="384048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3"/>
          <p:cNvSpPr/>
          <p:nvPr/>
        </p:nvSpPr>
        <p:spPr>
          <a:xfrm>
            <a:off x="88696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FILE DUMP</a:t>
            </a:r>
            <a:endParaRPr b="0" i="0" sz="1100" u="none" cap="none" strike="noStrike">
              <a:solidFill>
                <a:schemeClr val="dk1"/>
              </a:solidFill>
              <a:latin typeface="Arial"/>
              <a:ea typeface="Arial"/>
              <a:cs typeface="Arial"/>
              <a:sym typeface="Arial"/>
            </a:endParaRPr>
          </a:p>
        </p:txBody>
      </p:sp>
      <p:sp>
        <p:nvSpPr>
          <p:cNvPr id="288" name="Google Shape;288;p13"/>
          <p:cNvSpPr/>
          <p:nvPr/>
        </p:nvSpPr>
        <p:spPr>
          <a:xfrm>
            <a:off x="886968" y="2057400"/>
            <a:ext cx="4846320" cy="32735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Random screenshots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Untitled graphs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Old drafts with no explanation</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Photos without dates or captions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Feedback forms not connected to revisions</a:t>
            </a:r>
            <a:endParaRPr b="0" i="0" sz="1600" u="none" cap="none" strike="noStrike">
              <a:solidFill>
                <a:schemeClr val="dk1"/>
              </a:solidFill>
              <a:latin typeface="Arial"/>
              <a:ea typeface="Arial"/>
              <a:cs typeface="Arial"/>
              <a:sym typeface="Arial"/>
            </a:endParaRPr>
          </a:p>
        </p:txBody>
      </p:sp>
      <p:sp>
        <p:nvSpPr>
          <p:cNvPr id="289" name="Google Shape;289;p13"/>
          <p:cNvSpPr/>
          <p:nvPr/>
        </p:nvSpPr>
        <p:spPr>
          <a:xfrm>
            <a:off x="6355080" y="1600200"/>
            <a:ext cx="5166360" cy="384048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3"/>
          <p:cNvSpPr/>
          <p:nvPr/>
        </p:nvSpPr>
        <p:spPr>
          <a:xfrm>
            <a:off x="6355080" y="1600200"/>
            <a:ext cx="64008" cy="384048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3"/>
          <p:cNvSpPr/>
          <p:nvPr/>
        </p:nvSpPr>
        <p:spPr>
          <a:xfrm>
            <a:off x="655624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CURATED PORTFOLIO</a:t>
            </a:r>
            <a:endParaRPr b="0" i="0" sz="1100" u="none" cap="none" strike="noStrike">
              <a:solidFill>
                <a:schemeClr val="dk1"/>
              </a:solidFill>
              <a:latin typeface="Arial"/>
              <a:ea typeface="Arial"/>
              <a:cs typeface="Arial"/>
              <a:sym typeface="Arial"/>
            </a:endParaRPr>
          </a:p>
        </p:txBody>
      </p:sp>
      <p:sp>
        <p:nvSpPr>
          <p:cNvPr id="292" name="Google Shape;292;p13"/>
          <p:cNvSpPr/>
          <p:nvPr/>
        </p:nvSpPr>
        <p:spPr>
          <a:xfrm>
            <a:off x="6556248" y="2057400"/>
            <a:ext cx="4846320" cy="32735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Clear folders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Descriptive file names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Short artifact captions</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Process and product represented</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 Reflection connects artifacts to growth</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297" name="Shape 297"/>
        <p:cNvGrpSpPr/>
        <p:nvPr/>
      </p:nvGrpSpPr>
      <p:grpSpPr>
        <a:xfrm>
          <a:off x="0" y="0"/>
          <a:ext cx="0" cy="0"/>
          <a:chOff x="0" y="0"/>
          <a:chExt cx="0" cy="0"/>
        </a:xfrm>
      </p:grpSpPr>
      <p:sp>
        <p:nvSpPr>
          <p:cNvPr id="298" name="Google Shape;298;p14"/>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4"/>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4"/>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4"/>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REFLECTION</a:t>
            </a:r>
            <a:endParaRPr b="0" i="0" sz="950" u="none" cap="none" strike="noStrike">
              <a:solidFill>
                <a:schemeClr val="dk1"/>
              </a:solidFill>
              <a:latin typeface="Arial"/>
              <a:ea typeface="Arial"/>
              <a:cs typeface="Arial"/>
              <a:sym typeface="Arial"/>
            </a:endParaRPr>
          </a:p>
        </p:txBody>
      </p:sp>
      <p:sp>
        <p:nvSpPr>
          <p:cNvPr id="302" name="Google Shape;302;p14"/>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303" name="Google Shape;303;p14"/>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What Did You Learn About Research?</a:t>
            </a:r>
            <a:endParaRPr b="0" i="0" sz="3000" u="none" cap="none" strike="noStrike">
              <a:solidFill>
                <a:schemeClr val="dk1"/>
              </a:solidFill>
              <a:latin typeface="Arial"/>
              <a:ea typeface="Arial"/>
              <a:cs typeface="Arial"/>
              <a:sym typeface="Arial"/>
            </a:endParaRPr>
          </a:p>
        </p:txBody>
      </p:sp>
      <p:sp>
        <p:nvSpPr>
          <p:cNvPr id="304" name="Google Shape;304;p14"/>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4"/>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Push beyond “I learned science.”</a:t>
            </a:r>
            <a:endParaRPr b="0" i="0" sz="1300" u="none" cap="none" strike="noStrike">
              <a:solidFill>
                <a:schemeClr val="dk1"/>
              </a:solidFill>
              <a:latin typeface="Arial"/>
              <a:ea typeface="Arial"/>
              <a:cs typeface="Arial"/>
              <a:sym typeface="Arial"/>
            </a:endParaRPr>
          </a:p>
        </p:txBody>
      </p:sp>
      <p:sp>
        <p:nvSpPr>
          <p:cNvPr id="306" name="Google Shape;306;p14"/>
          <p:cNvSpPr/>
          <p:nvPr/>
        </p:nvSpPr>
        <p:spPr>
          <a:xfrm>
            <a:off x="7772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4"/>
          <p:cNvSpPr/>
          <p:nvPr/>
        </p:nvSpPr>
        <p:spPr>
          <a:xfrm>
            <a:off x="7772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4"/>
          <p:cNvSpPr/>
          <p:nvPr/>
        </p:nvSpPr>
        <p:spPr>
          <a:xfrm>
            <a:off x="9784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UNCERTAINTY</a:t>
            </a:r>
            <a:endParaRPr b="0" i="0" sz="1100" u="none" cap="none" strike="noStrike">
              <a:solidFill>
                <a:schemeClr val="dk1"/>
              </a:solidFill>
              <a:latin typeface="Arial"/>
              <a:ea typeface="Arial"/>
              <a:cs typeface="Arial"/>
              <a:sym typeface="Arial"/>
            </a:endParaRPr>
          </a:p>
        </p:txBody>
      </p:sp>
      <p:sp>
        <p:nvSpPr>
          <p:cNvPr id="309" name="Google Shape;309;p14"/>
          <p:cNvSpPr/>
          <p:nvPr/>
        </p:nvSpPr>
        <p:spPr>
          <a:xfrm>
            <a:off x="9784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How did you respond when the answer was not obvious?</a:t>
            </a:r>
            <a:endParaRPr b="0" i="0" sz="1600" u="none" cap="none" strike="noStrike">
              <a:solidFill>
                <a:schemeClr val="dk1"/>
              </a:solidFill>
              <a:latin typeface="Arial"/>
              <a:ea typeface="Arial"/>
              <a:cs typeface="Arial"/>
              <a:sym typeface="Arial"/>
            </a:endParaRPr>
          </a:p>
        </p:txBody>
      </p:sp>
      <p:sp>
        <p:nvSpPr>
          <p:cNvPr id="310" name="Google Shape;310;p14"/>
          <p:cNvSpPr/>
          <p:nvPr/>
        </p:nvSpPr>
        <p:spPr>
          <a:xfrm>
            <a:off x="62636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4"/>
          <p:cNvSpPr/>
          <p:nvPr/>
        </p:nvSpPr>
        <p:spPr>
          <a:xfrm>
            <a:off x="62636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4"/>
          <p:cNvSpPr/>
          <p:nvPr/>
        </p:nvSpPr>
        <p:spPr>
          <a:xfrm>
            <a:off x="64648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EVIDENCE</a:t>
            </a:r>
            <a:endParaRPr b="0" i="0" sz="1100" u="none" cap="none" strike="noStrike">
              <a:solidFill>
                <a:schemeClr val="dk1"/>
              </a:solidFill>
              <a:latin typeface="Arial"/>
              <a:ea typeface="Arial"/>
              <a:cs typeface="Arial"/>
              <a:sym typeface="Arial"/>
            </a:endParaRPr>
          </a:p>
        </p:txBody>
      </p:sp>
      <p:sp>
        <p:nvSpPr>
          <p:cNvPr id="313" name="Google Shape;313;p14"/>
          <p:cNvSpPr/>
          <p:nvPr/>
        </p:nvSpPr>
        <p:spPr>
          <a:xfrm>
            <a:off x="64648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How did your data change what you thought?</a:t>
            </a:r>
            <a:endParaRPr b="0" i="0" sz="1600" u="none" cap="none" strike="noStrike">
              <a:solidFill>
                <a:schemeClr val="dk1"/>
              </a:solidFill>
              <a:latin typeface="Arial"/>
              <a:ea typeface="Arial"/>
              <a:cs typeface="Arial"/>
              <a:sym typeface="Arial"/>
            </a:endParaRPr>
          </a:p>
        </p:txBody>
      </p:sp>
      <p:sp>
        <p:nvSpPr>
          <p:cNvPr id="314" name="Google Shape;314;p14"/>
          <p:cNvSpPr/>
          <p:nvPr/>
        </p:nvSpPr>
        <p:spPr>
          <a:xfrm>
            <a:off x="7772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4"/>
          <p:cNvSpPr/>
          <p:nvPr/>
        </p:nvSpPr>
        <p:spPr>
          <a:xfrm>
            <a:off x="7772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9784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REVISION</a:t>
            </a:r>
            <a:endParaRPr b="0" i="0" sz="1100" u="none" cap="none" strike="noStrike">
              <a:solidFill>
                <a:schemeClr val="dk1"/>
              </a:solidFill>
              <a:latin typeface="Arial"/>
              <a:ea typeface="Arial"/>
              <a:cs typeface="Arial"/>
              <a:sym typeface="Arial"/>
            </a:endParaRPr>
          </a:p>
        </p:txBody>
      </p:sp>
      <p:sp>
        <p:nvSpPr>
          <p:cNvPr id="317" name="Google Shape;317;p14"/>
          <p:cNvSpPr/>
          <p:nvPr/>
        </p:nvSpPr>
        <p:spPr>
          <a:xfrm>
            <a:off x="9784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What did feedback, failure, or pilot testing force you to improve?</a:t>
            </a:r>
            <a:endParaRPr b="0" i="0" sz="1600" u="none" cap="none" strike="noStrike">
              <a:solidFill>
                <a:schemeClr val="dk1"/>
              </a:solidFill>
              <a:latin typeface="Arial"/>
              <a:ea typeface="Arial"/>
              <a:cs typeface="Arial"/>
              <a:sym typeface="Arial"/>
            </a:endParaRPr>
          </a:p>
        </p:txBody>
      </p:sp>
      <p:sp>
        <p:nvSpPr>
          <p:cNvPr id="318" name="Google Shape;318;p14"/>
          <p:cNvSpPr/>
          <p:nvPr/>
        </p:nvSpPr>
        <p:spPr>
          <a:xfrm>
            <a:off x="62636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62636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4"/>
          <p:cNvSpPr/>
          <p:nvPr/>
        </p:nvSpPr>
        <p:spPr>
          <a:xfrm>
            <a:off x="64648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COMMUNICATION</a:t>
            </a:r>
            <a:endParaRPr b="0" i="0" sz="1100" u="none" cap="none" strike="noStrike">
              <a:solidFill>
                <a:schemeClr val="dk1"/>
              </a:solidFill>
              <a:latin typeface="Arial"/>
              <a:ea typeface="Arial"/>
              <a:cs typeface="Arial"/>
              <a:sym typeface="Arial"/>
            </a:endParaRPr>
          </a:p>
        </p:txBody>
      </p:sp>
      <p:sp>
        <p:nvSpPr>
          <p:cNvPr id="321" name="Google Shape;321;p14"/>
          <p:cNvSpPr/>
          <p:nvPr/>
        </p:nvSpPr>
        <p:spPr>
          <a:xfrm>
            <a:off x="64648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How did explaining the project change your understanding?</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326" name="Shape 326"/>
        <p:cNvGrpSpPr/>
        <p:nvPr/>
      </p:nvGrpSpPr>
      <p:grpSpPr>
        <a:xfrm>
          <a:off x="0" y="0"/>
          <a:ext cx="0" cy="0"/>
          <a:chOff x="0" y="0"/>
          <a:chExt cx="0" cy="0"/>
        </a:xfrm>
      </p:grpSpPr>
      <p:sp>
        <p:nvSpPr>
          <p:cNvPr id="327" name="Google Shape;327;p15"/>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5"/>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5"/>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5"/>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STUDENT ACTIVITY</a:t>
            </a:r>
            <a:endParaRPr b="0" i="0" sz="950" u="none" cap="none" strike="noStrike">
              <a:solidFill>
                <a:schemeClr val="dk1"/>
              </a:solidFill>
              <a:latin typeface="Arial"/>
              <a:ea typeface="Arial"/>
              <a:cs typeface="Arial"/>
              <a:sym typeface="Arial"/>
            </a:endParaRPr>
          </a:p>
        </p:txBody>
      </p:sp>
      <p:sp>
        <p:nvSpPr>
          <p:cNvPr id="331" name="Google Shape;331;p15"/>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332" name="Google Shape;332;p15"/>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Activity: Growth Claim + Evidence</a:t>
            </a:r>
            <a:endParaRPr b="0" i="0" sz="3000" u="none" cap="none" strike="noStrike">
              <a:solidFill>
                <a:schemeClr val="dk1"/>
              </a:solidFill>
              <a:latin typeface="Arial"/>
              <a:ea typeface="Arial"/>
              <a:cs typeface="Arial"/>
              <a:sym typeface="Arial"/>
            </a:endParaRPr>
          </a:p>
        </p:txBody>
      </p:sp>
      <p:sp>
        <p:nvSpPr>
          <p:cNvPr id="333" name="Google Shape;333;p15"/>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5"/>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Students make a claim about their own development.</a:t>
            </a:r>
            <a:endParaRPr b="0" i="0" sz="1300" u="none" cap="none" strike="noStrike">
              <a:solidFill>
                <a:schemeClr val="dk1"/>
              </a:solidFill>
              <a:latin typeface="Arial"/>
              <a:ea typeface="Arial"/>
              <a:cs typeface="Arial"/>
              <a:sym typeface="Arial"/>
            </a:endParaRPr>
          </a:p>
        </p:txBody>
      </p:sp>
      <p:sp>
        <p:nvSpPr>
          <p:cNvPr id="335" name="Google Shape;335;p15"/>
          <p:cNvSpPr/>
          <p:nvPr/>
        </p:nvSpPr>
        <p:spPr>
          <a:xfrm>
            <a:off x="640080" y="1755648"/>
            <a:ext cx="2148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200"/>
              <a:buFont typeface="Arial"/>
              <a:buNone/>
            </a:pPr>
            <a:r>
              <a:rPr b="1" i="0" lang="en-US" sz="1200" u="none" cap="none" strike="noStrike">
                <a:solidFill>
                  <a:srgbClr val="E3342F"/>
                </a:solidFill>
                <a:latin typeface="Arial"/>
                <a:ea typeface="Arial"/>
                <a:cs typeface="Arial"/>
                <a:sym typeface="Arial"/>
              </a:rPr>
              <a:t>STUDENT ACTIVITY</a:t>
            </a:r>
            <a:endParaRPr b="0" i="0" sz="1200" u="none" cap="none" strike="noStrike">
              <a:solidFill>
                <a:schemeClr val="dk1"/>
              </a:solidFill>
              <a:latin typeface="Arial"/>
              <a:ea typeface="Arial"/>
              <a:cs typeface="Arial"/>
              <a:sym typeface="Arial"/>
            </a:endParaRPr>
          </a:p>
        </p:txBody>
      </p:sp>
      <p:sp>
        <p:nvSpPr>
          <p:cNvPr id="336" name="Google Shape;336;p15"/>
          <p:cNvSpPr/>
          <p:nvPr/>
        </p:nvSpPr>
        <p:spPr>
          <a:xfrm>
            <a:off x="640080" y="2057400"/>
            <a:ext cx="7040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2600"/>
              <a:buFont typeface="Arial"/>
              <a:buNone/>
            </a:pPr>
            <a:r>
              <a:rPr b="1" i="0" lang="en-US" sz="2600" u="none" cap="none" strike="noStrike">
                <a:solidFill>
                  <a:srgbClr val="F4F4F4"/>
                </a:solidFill>
                <a:latin typeface="Arial"/>
                <a:ea typeface="Arial"/>
                <a:cs typeface="Arial"/>
                <a:sym typeface="Arial"/>
              </a:rPr>
              <a:t>Prove Your Growth</a:t>
            </a:r>
            <a:endParaRPr b="0" i="0" sz="2600" u="none" cap="none" strike="noStrike">
              <a:solidFill>
                <a:schemeClr val="dk1"/>
              </a:solidFill>
              <a:latin typeface="Arial"/>
              <a:ea typeface="Arial"/>
              <a:cs typeface="Arial"/>
              <a:sym typeface="Arial"/>
            </a:endParaRPr>
          </a:p>
        </p:txBody>
      </p:sp>
      <p:sp>
        <p:nvSpPr>
          <p:cNvPr id="337" name="Google Shape;337;p15"/>
          <p:cNvSpPr/>
          <p:nvPr/>
        </p:nvSpPr>
        <p:spPr>
          <a:xfrm>
            <a:off x="9509760" y="2084832"/>
            <a:ext cx="18288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3342F"/>
              </a:buClr>
              <a:buSzPts val="1600"/>
              <a:buFont typeface="Arial"/>
              <a:buNone/>
            </a:pPr>
            <a:r>
              <a:rPr b="1" i="0" lang="en-US" sz="1600" u="none" cap="none" strike="noStrike">
                <a:solidFill>
                  <a:srgbClr val="E3342F"/>
                </a:solidFill>
                <a:latin typeface="Arial"/>
                <a:ea typeface="Arial"/>
                <a:cs typeface="Arial"/>
                <a:sym typeface="Arial"/>
              </a:rPr>
              <a:t>10 MINUTES</a:t>
            </a:r>
            <a:endParaRPr b="0" i="0" sz="1600" u="none" cap="none" strike="noStrike">
              <a:solidFill>
                <a:schemeClr val="dk1"/>
              </a:solidFill>
              <a:latin typeface="Arial"/>
              <a:ea typeface="Arial"/>
              <a:cs typeface="Arial"/>
              <a:sym typeface="Arial"/>
            </a:endParaRPr>
          </a:p>
        </p:txBody>
      </p:sp>
      <p:cxnSp>
        <p:nvCxnSpPr>
          <p:cNvPr id="338" name="Google Shape;338;p15"/>
          <p:cNvCxnSpPr/>
          <p:nvPr/>
        </p:nvCxnSpPr>
        <p:spPr>
          <a:xfrm>
            <a:off x="640080" y="2706624"/>
            <a:ext cx="10881360" cy="0"/>
          </a:xfrm>
          <a:prstGeom prst="straightConnector1">
            <a:avLst/>
          </a:prstGeom>
          <a:noFill/>
          <a:ln cap="flat" cmpd="sng" w="12700">
            <a:solidFill>
              <a:srgbClr val="5A5A5A"/>
            </a:solidFill>
            <a:prstDash val="solid"/>
            <a:round/>
            <a:headEnd len="sm" w="sm" type="none"/>
            <a:tailEnd len="sm" w="sm" type="none"/>
          </a:ln>
        </p:spPr>
      </p:cxnSp>
      <p:sp>
        <p:nvSpPr>
          <p:cNvPr id="339" name="Google Shape;339;p15"/>
          <p:cNvSpPr/>
          <p:nvPr/>
        </p:nvSpPr>
        <p:spPr>
          <a:xfrm>
            <a:off x="822960" y="2990088"/>
            <a:ext cx="10515600" cy="256032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Write one claim about how you changed as a researcher.</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Then support it with evidence:</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one artifact from your portfolio</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one specific moment from the project</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one skill or habit you improved</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Example: “I became better at troubleshooting because...”</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344" name="Shape 344"/>
        <p:cNvGrpSpPr/>
        <p:nvPr/>
      </p:nvGrpSpPr>
      <p:grpSpPr>
        <a:xfrm>
          <a:off x="0" y="0"/>
          <a:ext cx="0" cy="0"/>
          <a:chOff x="0" y="0"/>
          <a:chExt cx="0" cy="0"/>
        </a:xfrm>
      </p:grpSpPr>
      <p:sp>
        <p:nvSpPr>
          <p:cNvPr id="345" name="Google Shape;345;p16"/>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6"/>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6"/>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6"/>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NEXT STEPS</a:t>
            </a:r>
            <a:endParaRPr b="0" i="0" sz="950" u="none" cap="none" strike="noStrike">
              <a:solidFill>
                <a:schemeClr val="dk1"/>
              </a:solidFill>
              <a:latin typeface="Arial"/>
              <a:ea typeface="Arial"/>
              <a:cs typeface="Arial"/>
              <a:sym typeface="Arial"/>
            </a:endParaRPr>
          </a:p>
        </p:txBody>
      </p:sp>
      <p:sp>
        <p:nvSpPr>
          <p:cNvPr id="349" name="Google Shape;349;p16"/>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350" name="Google Shape;350;p16"/>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Does the Project Continue?</a:t>
            </a:r>
            <a:endParaRPr b="0" i="0" sz="3000" u="none" cap="none" strike="noStrike">
              <a:solidFill>
                <a:schemeClr val="dk1"/>
              </a:solidFill>
              <a:latin typeface="Arial"/>
              <a:ea typeface="Arial"/>
              <a:cs typeface="Arial"/>
              <a:sym typeface="Arial"/>
            </a:endParaRPr>
          </a:p>
        </p:txBody>
      </p:sp>
      <p:sp>
        <p:nvSpPr>
          <p:cNvPr id="351" name="Google Shape;351;p16"/>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16"/>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Some projects end here. Some become the first version of something larger.</a:t>
            </a:r>
            <a:endParaRPr b="0" i="0" sz="1300" u="none" cap="none" strike="noStrike">
              <a:solidFill>
                <a:schemeClr val="dk1"/>
              </a:solidFill>
              <a:latin typeface="Arial"/>
              <a:ea typeface="Arial"/>
              <a:cs typeface="Arial"/>
              <a:sym typeface="Arial"/>
            </a:endParaRPr>
          </a:p>
        </p:txBody>
      </p:sp>
      <p:sp>
        <p:nvSpPr>
          <p:cNvPr id="353" name="Google Shape;353;p16"/>
          <p:cNvSpPr/>
          <p:nvPr/>
        </p:nvSpPr>
        <p:spPr>
          <a:xfrm>
            <a:off x="7772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6"/>
          <p:cNvSpPr/>
          <p:nvPr/>
        </p:nvSpPr>
        <p:spPr>
          <a:xfrm>
            <a:off x="7772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6"/>
          <p:cNvSpPr/>
          <p:nvPr/>
        </p:nvSpPr>
        <p:spPr>
          <a:xfrm>
            <a:off x="9784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END WELL</a:t>
            </a:r>
            <a:endParaRPr b="0" i="0" sz="1100" u="none" cap="none" strike="noStrike">
              <a:solidFill>
                <a:schemeClr val="dk1"/>
              </a:solidFill>
              <a:latin typeface="Arial"/>
              <a:ea typeface="Arial"/>
              <a:cs typeface="Arial"/>
              <a:sym typeface="Arial"/>
            </a:endParaRPr>
          </a:p>
        </p:txBody>
      </p:sp>
      <p:sp>
        <p:nvSpPr>
          <p:cNvPr id="356" name="Google Shape;356;p16"/>
          <p:cNvSpPr/>
          <p:nvPr/>
        </p:nvSpPr>
        <p:spPr>
          <a:xfrm>
            <a:off x="9784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Archive the portfolio, reflect honestly, and identify what was learned.</a:t>
            </a:r>
            <a:endParaRPr b="0" i="0" sz="1600" u="none" cap="none" strike="noStrike">
              <a:solidFill>
                <a:schemeClr val="dk1"/>
              </a:solidFill>
              <a:latin typeface="Arial"/>
              <a:ea typeface="Arial"/>
              <a:cs typeface="Arial"/>
              <a:sym typeface="Arial"/>
            </a:endParaRPr>
          </a:p>
        </p:txBody>
      </p:sp>
      <p:sp>
        <p:nvSpPr>
          <p:cNvPr id="357" name="Google Shape;357;p16"/>
          <p:cNvSpPr/>
          <p:nvPr/>
        </p:nvSpPr>
        <p:spPr>
          <a:xfrm>
            <a:off x="6263640" y="205740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6"/>
          <p:cNvSpPr/>
          <p:nvPr/>
        </p:nvSpPr>
        <p:spPr>
          <a:xfrm>
            <a:off x="6263640" y="205740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6"/>
          <p:cNvSpPr/>
          <p:nvPr/>
        </p:nvSpPr>
        <p:spPr>
          <a:xfrm>
            <a:off x="6464808" y="219456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CONTINUE RESEARCH</a:t>
            </a:r>
            <a:endParaRPr b="0" i="0" sz="1100" u="none" cap="none" strike="noStrike">
              <a:solidFill>
                <a:schemeClr val="dk1"/>
              </a:solidFill>
              <a:latin typeface="Arial"/>
              <a:ea typeface="Arial"/>
              <a:cs typeface="Arial"/>
              <a:sym typeface="Arial"/>
            </a:endParaRPr>
          </a:p>
        </p:txBody>
      </p:sp>
      <p:sp>
        <p:nvSpPr>
          <p:cNvPr id="360" name="Google Shape;360;p16"/>
          <p:cNvSpPr/>
          <p:nvPr/>
        </p:nvSpPr>
        <p:spPr>
          <a:xfrm>
            <a:off x="6464808" y="251460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Collect more data, improve methods, redesign a prototype, or work with a mentor.</a:t>
            </a:r>
            <a:endParaRPr b="0" i="0" sz="1600" u="none" cap="none" strike="noStrike">
              <a:solidFill>
                <a:schemeClr val="dk1"/>
              </a:solidFill>
              <a:latin typeface="Arial"/>
              <a:ea typeface="Arial"/>
              <a:cs typeface="Arial"/>
              <a:sym typeface="Arial"/>
            </a:endParaRPr>
          </a:p>
        </p:txBody>
      </p:sp>
      <p:sp>
        <p:nvSpPr>
          <p:cNvPr id="361" name="Google Shape;361;p16"/>
          <p:cNvSpPr/>
          <p:nvPr/>
        </p:nvSpPr>
        <p:spPr>
          <a:xfrm>
            <a:off x="7772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6"/>
          <p:cNvSpPr/>
          <p:nvPr/>
        </p:nvSpPr>
        <p:spPr>
          <a:xfrm>
            <a:off x="7772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6"/>
          <p:cNvSpPr/>
          <p:nvPr/>
        </p:nvSpPr>
        <p:spPr>
          <a:xfrm>
            <a:off x="9784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SHARE WIDER</a:t>
            </a:r>
            <a:endParaRPr b="0" i="0" sz="1100" u="none" cap="none" strike="noStrike">
              <a:solidFill>
                <a:schemeClr val="dk1"/>
              </a:solidFill>
              <a:latin typeface="Arial"/>
              <a:ea typeface="Arial"/>
              <a:cs typeface="Arial"/>
              <a:sym typeface="Arial"/>
            </a:endParaRPr>
          </a:p>
        </p:txBody>
      </p:sp>
      <p:sp>
        <p:nvSpPr>
          <p:cNvPr id="364" name="Google Shape;364;p16"/>
          <p:cNvSpPr/>
          <p:nvPr/>
        </p:nvSpPr>
        <p:spPr>
          <a:xfrm>
            <a:off x="9784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Present to a board, community group, mentor panel, or younger students.</a:t>
            </a:r>
            <a:endParaRPr b="0" i="0" sz="1600" u="none" cap="none" strike="noStrike">
              <a:solidFill>
                <a:schemeClr val="dk1"/>
              </a:solidFill>
              <a:latin typeface="Arial"/>
              <a:ea typeface="Arial"/>
              <a:cs typeface="Arial"/>
              <a:sym typeface="Arial"/>
            </a:endParaRPr>
          </a:p>
        </p:txBody>
      </p:sp>
      <p:sp>
        <p:nvSpPr>
          <p:cNvPr id="365" name="Google Shape;365;p16"/>
          <p:cNvSpPr/>
          <p:nvPr/>
        </p:nvSpPr>
        <p:spPr>
          <a:xfrm>
            <a:off x="6263640" y="3977640"/>
            <a:ext cx="5120640" cy="14173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16"/>
          <p:cNvSpPr/>
          <p:nvPr/>
        </p:nvSpPr>
        <p:spPr>
          <a:xfrm>
            <a:off x="6263640" y="3977640"/>
            <a:ext cx="64008" cy="14173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6"/>
          <p:cNvSpPr/>
          <p:nvPr/>
        </p:nvSpPr>
        <p:spPr>
          <a:xfrm>
            <a:off x="6464808" y="4114800"/>
            <a:ext cx="48006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SUBMIT</a:t>
            </a:r>
            <a:endParaRPr b="0" i="0" sz="1100" u="none" cap="none" strike="noStrike">
              <a:solidFill>
                <a:schemeClr val="dk1"/>
              </a:solidFill>
              <a:latin typeface="Arial"/>
              <a:ea typeface="Arial"/>
              <a:cs typeface="Arial"/>
              <a:sym typeface="Arial"/>
            </a:endParaRPr>
          </a:p>
        </p:txBody>
      </p:sp>
      <p:sp>
        <p:nvSpPr>
          <p:cNvPr id="368" name="Google Shape;368;p16"/>
          <p:cNvSpPr/>
          <p:nvPr/>
        </p:nvSpPr>
        <p:spPr>
          <a:xfrm>
            <a:off x="6464808" y="4434840"/>
            <a:ext cx="4800600" cy="8503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Consider science fairs, research showcases, student journals, or summer programs.</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373" name="Shape 373"/>
        <p:cNvGrpSpPr/>
        <p:nvPr/>
      </p:nvGrpSpPr>
      <p:grpSpPr>
        <a:xfrm>
          <a:off x="0" y="0"/>
          <a:ext cx="0" cy="0"/>
          <a:chOff x="0" y="0"/>
          <a:chExt cx="0" cy="0"/>
        </a:xfrm>
      </p:grpSpPr>
      <p:sp>
        <p:nvSpPr>
          <p:cNvPr id="374" name="Google Shape;374;p17"/>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7"/>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7"/>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7"/>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NEXT STEPS</a:t>
            </a:r>
            <a:endParaRPr b="0" i="0" sz="950" u="none" cap="none" strike="noStrike">
              <a:solidFill>
                <a:schemeClr val="dk1"/>
              </a:solidFill>
              <a:latin typeface="Arial"/>
              <a:ea typeface="Arial"/>
              <a:cs typeface="Arial"/>
              <a:sym typeface="Arial"/>
            </a:endParaRPr>
          </a:p>
        </p:txBody>
      </p:sp>
      <p:sp>
        <p:nvSpPr>
          <p:cNvPr id="378" name="Google Shape;378;p17"/>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379" name="Google Shape;379;p17"/>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Before Sharing More Widely</a:t>
            </a:r>
            <a:endParaRPr b="0" i="0" sz="3000" u="none" cap="none" strike="noStrike">
              <a:solidFill>
                <a:schemeClr val="dk1"/>
              </a:solidFill>
              <a:latin typeface="Arial"/>
              <a:ea typeface="Arial"/>
              <a:cs typeface="Arial"/>
              <a:sym typeface="Arial"/>
            </a:endParaRPr>
          </a:p>
        </p:txBody>
      </p:sp>
      <p:sp>
        <p:nvSpPr>
          <p:cNvPr id="380" name="Google Shape;380;p17"/>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7"/>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A continuation plan should be realistic and honest.</a:t>
            </a:r>
            <a:endParaRPr b="0" i="0" sz="1300" u="none" cap="none" strike="noStrike">
              <a:solidFill>
                <a:schemeClr val="dk1"/>
              </a:solidFill>
              <a:latin typeface="Arial"/>
              <a:ea typeface="Arial"/>
              <a:cs typeface="Arial"/>
              <a:sym typeface="Arial"/>
            </a:endParaRPr>
          </a:p>
        </p:txBody>
      </p:sp>
      <p:sp>
        <p:nvSpPr>
          <p:cNvPr id="382" name="Google Shape;382;p17"/>
          <p:cNvSpPr/>
          <p:nvPr/>
        </p:nvSpPr>
        <p:spPr>
          <a:xfrm>
            <a:off x="777240" y="1600200"/>
            <a:ext cx="10058400" cy="27432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A8A8A8"/>
              </a:buClr>
              <a:buSzPts val="2000"/>
              <a:buFont typeface="Arial"/>
              <a:buNone/>
            </a:pPr>
            <a:r>
              <a:rPr b="1" i="0" lang="en-US" sz="2000" u="none" cap="none" strike="noStrike">
                <a:solidFill>
                  <a:srgbClr val="A8A8A8"/>
                </a:solidFill>
                <a:latin typeface="Arial"/>
                <a:ea typeface="Arial"/>
                <a:cs typeface="Arial"/>
                <a:sym typeface="Arial"/>
              </a:rPr>
              <a:t>Students should ask:</a:t>
            </a:r>
            <a:endParaRPr b="0" i="0" sz="2000" u="none" cap="none" strike="noStrike">
              <a:solidFill>
                <a:schemeClr val="dk1"/>
              </a:solidFill>
              <a:latin typeface="Arial"/>
              <a:ea typeface="Arial"/>
              <a:cs typeface="Arial"/>
              <a:sym typeface="Arial"/>
            </a:endParaRPr>
          </a:p>
        </p:txBody>
      </p:sp>
      <p:sp>
        <p:nvSpPr>
          <p:cNvPr id="383" name="Google Shape;383;p17"/>
          <p:cNvSpPr/>
          <p:nvPr/>
        </p:nvSpPr>
        <p:spPr>
          <a:xfrm>
            <a:off x="868680" y="2057400"/>
            <a:ext cx="10607040" cy="2834640"/>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F4F4F4"/>
              </a:buClr>
              <a:buSzPts val="2300"/>
              <a:buFont typeface="Arial"/>
              <a:buNone/>
            </a:pPr>
            <a:r>
              <a:rPr b="0" i="0" lang="en-US" sz="2300" u="none" cap="none" strike="noStrike">
                <a:solidFill>
                  <a:srgbClr val="F4F4F4"/>
                </a:solidFill>
                <a:latin typeface="Arial"/>
                <a:ea typeface="Arial"/>
                <a:cs typeface="Arial"/>
                <a:sym typeface="Arial"/>
              </a:rPr>
              <a:t>1. What part of the project is strongest right now?</a:t>
            </a:r>
            <a:endParaRPr b="0" i="0" sz="23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300"/>
              <a:buFont typeface="Arial"/>
              <a:buNone/>
            </a:pPr>
            <a:r>
              <a:rPr b="0" i="0" lang="en-US" sz="2300" u="none" cap="none" strike="noStrike">
                <a:solidFill>
                  <a:srgbClr val="F4F4F4"/>
                </a:solidFill>
                <a:latin typeface="Arial"/>
                <a:ea typeface="Arial"/>
                <a:cs typeface="Arial"/>
                <a:sym typeface="Arial"/>
              </a:rPr>
              <a:t>2. What must be improved before competition, publication, or public sharing?</a:t>
            </a:r>
            <a:endParaRPr b="0" i="0" sz="23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300"/>
              <a:buFont typeface="Arial"/>
              <a:buNone/>
            </a:pPr>
            <a:r>
              <a:rPr b="0" i="0" lang="en-US" sz="2300" u="none" cap="none" strike="noStrike">
                <a:solidFill>
                  <a:srgbClr val="F4F4F4"/>
                </a:solidFill>
                <a:latin typeface="Arial"/>
                <a:ea typeface="Arial"/>
                <a:cs typeface="Arial"/>
                <a:sym typeface="Arial"/>
              </a:rPr>
              <a:t>3. What approval, mentor support, or additional data would be required?</a:t>
            </a:r>
            <a:endParaRPr b="0" i="0" sz="23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300"/>
              <a:buFont typeface="Arial"/>
              <a:buNone/>
            </a:pPr>
            <a:r>
              <a:rPr b="0" i="0" lang="en-US" sz="2300" u="none" cap="none" strike="noStrike">
                <a:solidFill>
                  <a:srgbClr val="F4F4F4"/>
                </a:solidFill>
                <a:latin typeface="Arial"/>
                <a:ea typeface="Arial"/>
                <a:cs typeface="Arial"/>
                <a:sym typeface="Arial"/>
              </a:rPr>
              <a:t>4. What is the next action that can realistically happen within two weeks?</a:t>
            </a:r>
            <a:endParaRPr b="0" i="0" sz="23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300"/>
              <a:buFont typeface="Arial"/>
              <a:buNone/>
            </a:pPr>
            <a:r>
              <a:rPr b="0" i="0" lang="en-US" sz="2300" u="none" cap="none" strike="noStrike">
                <a:solidFill>
                  <a:srgbClr val="F4F4F4"/>
                </a:solidFill>
                <a:latin typeface="Arial"/>
                <a:ea typeface="Arial"/>
                <a:cs typeface="Arial"/>
                <a:sym typeface="Arial"/>
              </a:rPr>
              <a:t>5. What should be preserved so the project can be restarted later?</a:t>
            </a:r>
            <a:endParaRPr b="0" i="0" sz="2300" u="none" cap="none" strike="noStrike">
              <a:solidFill>
                <a:schemeClr val="dk1"/>
              </a:solidFill>
              <a:latin typeface="Arial"/>
              <a:ea typeface="Arial"/>
              <a:cs typeface="Arial"/>
              <a:sym typeface="Arial"/>
            </a:endParaRPr>
          </a:p>
        </p:txBody>
      </p:sp>
      <p:sp>
        <p:nvSpPr>
          <p:cNvPr id="384" name="Google Shape;384;p17"/>
          <p:cNvSpPr/>
          <p:nvPr/>
        </p:nvSpPr>
        <p:spPr>
          <a:xfrm>
            <a:off x="868680" y="5349240"/>
            <a:ext cx="10515600" cy="384048"/>
          </a:xfrm>
          <a:prstGeom prst="rect">
            <a:avLst/>
          </a:prstGeom>
          <a:noFill/>
          <a:ln>
            <a:noFill/>
          </a:ln>
        </p:spPr>
        <p:txBody>
          <a:bodyPr anchorCtr="0" anchor="t" bIns="500" lIns="500" spcFirstLastPara="1" rIns="500" wrap="square" tIns="500">
            <a:noAutofit/>
          </a:bodyPr>
          <a:lstStyle/>
          <a:p>
            <a:pPr indent="0" lvl="0" marL="0" marR="0" rtl="0" algn="l">
              <a:spcBef>
                <a:spcPts val="0"/>
              </a:spcBef>
              <a:spcAft>
                <a:spcPts val="0"/>
              </a:spcAft>
              <a:buClr>
                <a:srgbClr val="E3342F"/>
              </a:buClr>
              <a:buSzPts val="2200"/>
              <a:buFont typeface="Arial"/>
              <a:buNone/>
            </a:pPr>
            <a:r>
              <a:rPr b="1" i="0" lang="en-US" sz="2200" u="none" cap="none" strike="noStrike">
                <a:solidFill>
                  <a:srgbClr val="E3342F"/>
                </a:solidFill>
                <a:latin typeface="Arial"/>
                <a:ea typeface="Arial"/>
                <a:cs typeface="Arial"/>
                <a:sym typeface="Arial"/>
              </a:rPr>
              <a:t>A next step is only useful if it is specific enough to begin.</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389" name="Shape 389"/>
        <p:cNvGrpSpPr/>
        <p:nvPr/>
      </p:nvGrpSpPr>
      <p:grpSpPr>
        <a:xfrm>
          <a:off x="0" y="0"/>
          <a:ext cx="0" cy="0"/>
          <a:chOff x="0" y="0"/>
          <a:chExt cx="0" cy="0"/>
        </a:xfrm>
      </p:grpSpPr>
      <p:sp>
        <p:nvSpPr>
          <p:cNvPr id="390" name="Google Shape;390;p18"/>
          <p:cNvSpPr/>
          <p:nvPr/>
        </p:nvSpPr>
        <p:spPr>
          <a:xfrm>
            <a:off x="0" y="14876"/>
            <a:ext cx="12191700"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8"/>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8"/>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8"/>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STUDENT ACTIVITY</a:t>
            </a:r>
            <a:endParaRPr b="0" i="0" sz="950" u="none" cap="none" strike="noStrike">
              <a:solidFill>
                <a:schemeClr val="dk1"/>
              </a:solidFill>
              <a:latin typeface="Arial"/>
              <a:ea typeface="Arial"/>
              <a:cs typeface="Arial"/>
              <a:sym typeface="Arial"/>
            </a:endParaRPr>
          </a:p>
        </p:txBody>
      </p:sp>
      <p:sp>
        <p:nvSpPr>
          <p:cNvPr id="394" name="Google Shape;394;p18"/>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395" name="Google Shape;395;p18"/>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Activity: Course Feedback and Legacy</a:t>
            </a:r>
            <a:endParaRPr b="0" i="0" sz="3000" u="none" cap="none" strike="noStrike">
              <a:solidFill>
                <a:schemeClr val="dk1"/>
              </a:solidFill>
              <a:latin typeface="Arial"/>
              <a:ea typeface="Arial"/>
              <a:cs typeface="Arial"/>
              <a:sym typeface="Arial"/>
            </a:endParaRPr>
          </a:p>
        </p:txBody>
      </p:sp>
      <p:sp>
        <p:nvSpPr>
          <p:cNvPr id="396" name="Google Shape;396;p18"/>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18"/>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Students help improve STARLAB for the next chapter.</a:t>
            </a:r>
            <a:endParaRPr b="0" i="0" sz="1300" u="none" cap="none" strike="noStrike">
              <a:solidFill>
                <a:schemeClr val="dk1"/>
              </a:solidFill>
              <a:latin typeface="Arial"/>
              <a:ea typeface="Arial"/>
              <a:cs typeface="Arial"/>
              <a:sym typeface="Arial"/>
            </a:endParaRPr>
          </a:p>
        </p:txBody>
      </p:sp>
      <p:sp>
        <p:nvSpPr>
          <p:cNvPr id="398" name="Google Shape;398;p18"/>
          <p:cNvSpPr/>
          <p:nvPr/>
        </p:nvSpPr>
        <p:spPr>
          <a:xfrm>
            <a:off x="640080" y="1755648"/>
            <a:ext cx="2148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200"/>
              <a:buFont typeface="Arial"/>
              <a:buNone/>
            </a:pPr>
            <a:r>
              <a:rPr b="1" i="0" lang="en-US" sz="1200" u="none" cap="none" strike="noStrike">
                <a:solidFill>
                  <a:srgbClr val="E3342F"/>
                </a:solidFill>
                <a:latin typeface="Arial"/>
                <a:ea typeface="Arial"/>
                <a:cs typeface="Arial"/>
                <a:sym typeface="Arial"/>
              </a:rPr>
              <a:t>STUDENT ACTIVITY</a:t>
            </a:r>
            <a:endParaRPr b="0" i="0" sz="1200" u="none" cap="none" strike="noStrike">
              <a:solidFill>
                <a:schemeClr val="dk1"/>
              </a:solidFill>
              <a:latin typeface="Arial"/>
              <a:ea typeface="Arial"/>
              <a:cs typeface="Arial"/>
              <a:sym typeface="Arial"/>
            </a:endParaRPr>
          </a:p>
        </p:txBody>
      </p:sp>
      <p:sp>
        <p:nvSpPr>
          <p:cNvPr id="399" name="Google Shape;399;p18"/>
          <p:cNvSpPr/>
          <p:nvPr/>
        </p:nvSpPr>
        <p:spPr>
          <a:xfrm>
            <a:off x="640080" y="2057400"/>
            <a:ext cx="7040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2600"/>
              <a:buFont typeface="Arial"/>
              <a:buNone/>
            </a:pPr>
            <a:r>
              <a:rPr b="1" i="0" lang="en-US" sz="2600" u="none" cap="none" strike="noStrike">
                <a:solidFill>
                  <a:srgbClr val="F4F4F4"/>
                </a:solidFill>
                <a:latin typeface="Arial"/>
                <a:ea typeface="Arial"/>
                <a:cs typeface="Arial"/>
                <a:sym typeface="Arial"/>
              </a:rPr>
              <a:t>Leave Something Useful</a:t>
            </a:r>
            <a:endParaRPr b="0" i="0" sz="2600" u="none" cap="none" strike="noStrike">
              <a:solidFill>
                <a:schemeClr val="dk1"/>
              </a:solidFill>
              <a:latin typeface="Arial"/>
              <a:ea typeface="Arial"/>
              <a:cs typeface="Arial"/>
              <a:sym typeface="Arial"/>
            </a:endParaRPr>
          </a:p>
        </p:txBody>
      </p:sp>
      <p:sp>
        <p:nvSpPr>
          <p:cNvPr id="400" name="Google Shape;400;p18"/>
          <p:cNvSpPr/>
          <p:nvPr/>
        </p:nvSpPr>
        <p:spPr>
          <a:xfrm>
            <a:off x="9509760" y="2084832"/>
            <a:ext cx="18288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3342F"/>
              </a:buClr>
              <a:buSzPts val="1600"/>
              <a:buFont typeface="Arial"/>
              <a:buNone/>
            </a:pPr>
            <a:r>
              <a:rPr b="1" i="0" lang="en-US" sz="1600" u="none" cap="none" strike="noStrike">
                <a:solidFill>
                  <a:srgbClr val="E3342F"/>
                </a:solidFill>
                <a:latin typeface="Arial"/>
                <a:ea typeface="Arial"/>
                <a:cs typeface="Arial"/>
                <a:sym typeface="Arial"/>
              </a:rPr>
              <a:t>12–15 MINUTES</a:t>
            </a:r>
            <a:endParaRPr b="0" i="0" sz="1600" u="none" cap="none" strike="noStrike">
              <a:solidFill>
                <a:schemeClr val="dk1"/>
              </a:solidFill>
              <a:latin typeface="Arial"/>
              <a:ea typeface="Arial"/>
              <a:cs typeface="Arial"/>
              <a:sym typeface="Arial"/>
            </a:endParaRPr>
          </a:p>
        </p:txBody>
      </p:sp>
      <p:cxnSp>
        <p:nvCxnSpPr>
          <p:cNvPr id="401" name="Google Shape;401;p18"/>
          <p:cNvCxnSpPr/>
          <p:nvPr/>
        </p:nvCxnSpPr>
        <p:spPr>
          <a:xfrm>
            <a:off x="640068" y="2602474"/>
            <a:ext cx="10881300" cy="0"/>
          </a:xfrm>
          <a:prstGeom prst="straightConnector1">
            <a:avLst/>
          </a:prstGeom>
          <a:noFill/>
          <a:ln cap="flat" cmpd="sng" w="12700">
            <a:solidFill>
              <a:srgbClr val="5A5A5A"/>
            </a:solidFill>
            <a:prstDash val="solid"/>
            <a:round/>
            <a:headEnd len="sm" w="sm" type="none"/>
            <a:tailEnd len="sm" w="sm" type="none"/>
          </a:ln>
        </p:spPr>
      </p:cxnSp>
      <p:sp>
        <p:nvSpPr>
          <p:cNvPr id="402" name="Google Shape;402;p18"/>
          <p:cNvSpPr/>
          <p:nvPr/>
        </p:nvSpPr>
        <p:spPr>
          <a:xfrm>
            <a:off x="822960" y="2990088"/>
            <a:ext cx="10515600" cy="256032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Complete the Course Feedback and Legacy Reflection.</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Choose one legacy option:</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advice letter to future students</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equipment or technique tip</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troubleshooting guide</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project example summary</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 “what I wish I knew” reflection</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Make it honest, specific, and useful.</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407" name="Shape 407"/>
        <p:cNvGrpSpPr/>
        <p:nvPr/>
      </p:nvGrpSpPr>
      <p:grpSpPr>
        <a:xfrm>
          <a:off x="0" y="0"/>
          <a:ext cx="0" cy="0"/>
          <a:chOff x="0" y="0"/>
          <a:chExt cx="0" cy="0"/>
        </a:xfrm>
      </p:grpSpPr>
      <p:sp>
        <p:nvSpPr>
          <p:cNvPr id="408" name="Google Shape;408;p19"/>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9"/>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9"/>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9"/>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TEACHER CHECKPOINT</a:t>
            </a:r>
            <a:endParaRPr b="0" i="0" sz="950" u="none" cap="none" strike="noStrike">
              <a:solidFill>
                <a:schemeClr val="dk1"/>
              </a:solidFill>
              <a:latin typeface="Arial"/>
              <a:ea typeface="Arial"/>
              <a:cs typeface="Arial"/>
              <a:sym typeface="Arial"/>
            </a:endParaRPr>
          </a:p>
        </p:txBody>
      </p:sp>
      <p:sp>
        <p:nvSpPr>
          <p:cNvPr id="412" name="Google Shape;412;p19"/>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413" name="Google Shape;413;p19"/>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Final STARLAB Completion Check</a:t>
            </a:r>
            <a:endParaRPr b="0" i="0" sz="3000" u="none" cap="none" strike="noStrike">
              <a:solidFill>
                <a:schemeClr val="dk1"/>
              </a:solidFill>
              <a:latin typeface="Arial"/>
              <a:ea typeface="Arial"/>
              <a:cs typeface="Arial"/>
              <a:sym typeface="Arial"/>
            </a:endParaRPr>
          </a:p>
        </p:txBody>
      </p:sp>
      <p:sp>
        <p:nvSpPr>
          <p:cNvPr id="414" name="Google Shape;414;p19"/>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9"/>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Closure is complete when product, process, and reflection are documented.</a:t>
            </a:r>
            <a:endParaRPr b="0" i="0" sz="1300" u="none" cap="none" strike="noStrike">
              <a:solidFill>
                <a:schemeClr val="dk1"/>
              </a:solidFill>
              <a:latin typeface="Arial"/>
              <a:ea typeface="Arial"/>
              <a:cs typeface="Arial"/>
              <a:sym typeface="Arial"/>
            </a:endParaRPr>
          </a:p>
        </p:txBody>
      </p:sp>
      <p:sp>
        <p:nvSpPr>
          <p:cNvPr id="416" name="Google Shape;416;p19"/>
          <p:cNvSpPr/>
          <p:nvPr/>
        </p:nvSpPr>
        <p:spPr>
          <a:xfrm>
            <a:off x="685800" y="1600200"/>
            <a:ext cx="5166360" cy="9601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9"/>
          <p:cNvSpPr/>
          <p:nvPr/>
        </p:nvSpPr>
        <p:spPr>
          <a:xfrm>
            <a:off x="685800" y="1600200"/>
            <a:ext cx="64008" cy="9601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9"/>
          <p:cNvSpPr/>
          <p:nvPr/>
        </p:nvSpPr>
        <p:spPr>
          <a:xfrm>
            <a:off x="88696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PRESENTATION COMPLETE</a:t>
            </a:r>
            <a:endParaRPr b="0" i="0" sz="1100" u="none" cap="none" strike="noStrike">
              <a:solidFill>
                <a:schemeClr val="dk1"/>
              </a:solidFill>
              <a:latin typeface="Arial"/>
              <a:ea typeface="Arial"/>
              <a:cs typeface="Arial"/>
              <a:sym typeface="Arial"/>
            </a:endParaRPr>
          </a:p>
        </p:txBody>
      </p:sp>
      <p:sp>
        <p:nvSpPr>
          <p:cNvPr id="419" name="Google Shape;419;p19"/>
          <p:cNvSpPr/>
          <p:nvPr/>
        </p:nvSpPr>
        <p:spPr>
          <a:xfrm>
            <a:off x="886968" y="2057400"/>
            <a:ext cx="4846320" cy="3931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Student completed final presentation, showcase, defense, or approved alternative.</a:t>
            </a:r>
            <a:endParaRPr b="0" i="0" sz="1600" u="none" cap="none" strike="noStrike">
              <a:solidFill>
                <a:schemeClr val="dk1"/>
              </a:solidFill>
              <a:latin typeface="Arial"/>
              <a:ea typeface="Arial"/>
              <a:cs typeface="Arial"/>
              <a:sym typeface="Arial"/>
            </a:endParaRPr>
          </a:p>
        </p:txBody>
      </p:sp>
      <p:sp>
        <p:nvSpPr>
          <p:cNvPr id="420" name="Google Shape;420;p19"/>
          <p:cNvSpPr/>
          <p:nvPr/>
        </p:nvSpPr>
        <p:spPr>
          <a:xfrm>
            <a:off x="6355080" y="1600200"/>
            <a:ext cx="5166360" cy="9601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9"/>
          <p:cNvSpPr/>
          <p:nvPr/>
        </p:nvSpPr>
        <p:spPr>
          <a:xfrm>
            <a:off x="6355080" y="1600200"/>
            <a:ext cx="64008" cy="9601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9"/>
          <p:cNvSpPr/>
          <p:nvPr/>
        </p:nvSpPr>
        <p:spPr>
          <a:xfrm>
            <a:off x="6556248" y="173736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REFLECTION COMPLETE</a:t>
            </a:r>
            <a:endParaRPr b="0" i="0" sz="1100" u="none" cap="none" strike="noStrike">
              <a:solidFill>
                <a:schemeClr val="dk1"/>
              </a:solidFill>
              <a:latin typeface="Arial"/>
              <a:ea typeface="Arial"/>
              <a:cs typeface="Arial"/>
              <a:sym typeface="Arial"/>
            </a:endParaRPr>
          </a:p>
        </p:txBody>
      </p:sp>
      <p:sp>
        <p:nvSpPr>
          <p:cNvPr id="423" name="Google Shape;423;p19"/>
          <p:cNvSpPr/>
          <p:nvPr/>
        </p:nvSpPr>
        <p:spPr>
          <a:xfrm>
            <a:off x="6556248" y="2057400"/>
            <a:ext cx="4846320" cy="3931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Student completed post-presentation and final research process reflection.</a:t>
            </a:r>
            <a:endParaRPr b="0" i="0" sz="1600" u="none" cap="none" strike="noStrike">
              <a:solidFill>
                <a:schemeClr val="dk1"/>
              </a:solidFill>
              <a:latin typeface="Arial"/>
              <a:ea typeface="Arial"/>
              <a:cs typeface="Arial"/>
              <a:sym typeface="Arial"/>
            </a:endParaRPr>
          </a:p>
        </p:txBody>
      </p:sp>
      <p:sp>
        <p:nvSpPr>
          <p:cNvPr id="424" name="Google Shape;424;p19"/>
          <p:cNvSpPr/>
          <p:nvPr/>
        </p:nvSpPr>
        <p:spPr>
          <a:xfrm>
            <a:off x="685800" y="3063240"/>
            <a:ext cx="5166360" cy="9601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9"/>
          <p:cNvSpPr/>
          <p:nvPr/>
        </p:nvSpPr>
        <p:spPr>
          <a:xfrm>
            <a:off x="685800" y="3063240"/>
            <a:ext cx="64008" cy="9601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9"/>
          <p:cNvSpPr/>
          <p:nvPr/>
        </p:nvSpPr>
        <p:spPr>
          <a:xfrm>
            <a:off x="886968" y="320040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PORTFOLIO COMPLETE</a:t>
            </a:r>
            <a:endParaRPr b="0" i="0" sz="1100" u="none" cap="none" strike="noStrike">
              <a:solidFill>
                <a:schemeClr val="dk1"/>
              </a:solidFill>
              <a:latin typeface="Arial"/>
              <a:ea typeface="Arial"/>
              <a:cs typeface="Arial"/>
              <a:sym typeface="Arial"/>
            </a:endParaRPr>
          </a:p>
        </p:txBody>
      </p:sp>
      <p:sp>
        <p:nvSpPr>
          <p:cNvPr id="427" name="Google Shape;427;p19"/>
          <p:cNvSpPr/>
          <p:nvPr/>
        </p:nvSpPr>
        <p:spPr>
          <a:xfrm>
            <a:off x="886968" y="3520440"/>
            <a:ext cx="4846320" cy="3931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Student assembled required artifacts showing process and product.</a:t>
            </a:r>
            <a:endParaRPr b="0" i="0" sz="1600" u="none" cap="none" strike="noStrike">
              <a:solidFill>
                <a:schemeClr val="dk1"/>
              </a:solidFill>
              <a:latin typeface="Arial"/>
              <a:ea typeface="Arial"/>
              <a:cs typeface="Arial"/>
              <a:sym typeface="Arial"/>
            </a:endParaRPr>
          </a:p>
        </p:txBody>
      </p:sp>
      <p:sp>
        <p:nvSpPr>
          <p:cNvPr id="428" name="Google Shape;428;p19"/>
          <p:cNvSpPr/>
          <p:nvPr/>
        </p:nvSpPr>
        <p:spPr>
          <a:xfrm>
            <a:off x="6355080" y="3063240"/>
            <a:ext cx="5166360" cy="9601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9"/>
          <p:cNvSpPr/>
          <p:nvPr/>
        </p:nvSpPr>
        <p:spPr>
          <a:xfrm>
            <a:off x="6355080" y="3063240"/>
            <a:ext cx="64008" cy="9601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9"/>
          <p:cNvSpPr/>
          <p:nvPr/>
        </p:nvSpPr>
        <p:spPr>
          <a:xfrm>
            <a:off x="6556248" y="320040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NEXT STEP DECIDED</a:t>
            </a:r>
            <a:endParaRPr b="0" i="0" sz="1100" u="none" cap="none" strike="noStrike">
              <a:solidFill>
                <a:schemeClr val="dk1"/>
              </a:solidFill>
              <a:latin typeface="Arial"/>
              <a:ea typeface="Arial"/>
              <a:cs typeface="Arial"/>
              <a:sym typeface="Arial"/>
            </a:endParaRPr>
          </a:p>
        </p:txBody>
      </p:sp>
      <p:sp>
        <p:nvSpPr>
          <p:cNvPr id="431" name="Google Shape;431;p19"/>
          <p:cNvSpPr/>
          <p:nvPr/>
        </p:nvSpPr>
        <p:spPr>
          <a:xfrm>
            <a:off x="6556248" y="3520440"/>
            <a:ext cx="4846320" cy="3931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Student either closes the project responsibly or identifies a realistic continuation plan.</a:t>
            </a:r>
            <a:endParaRPr b="0" i="0" sz="1600" u="none" cap="none" strike="noStrike">
              <a:solidFill>
                <a:schemeClr val="dk1"/>
              </a:solidFill>
              <a:latin typeface="Arial"/>
              <a:ea typeface="Arial"/>
              <a:cs typeface="Arial"/>
              <a:sym typeface="Arial"/>
            </a:endParaRPr>
          </a:p>
        </p:txBody>
      </p:sp>
      <p:sp>
        <p:nvSpPr>
          <p:cNvPr id="432" name="Google Shape;432;p19"/>
          <p:cNvSpPr/>
          <p:nvPr/>
        </p:nvSpPr>
        <p:spPr>
          <a:xfrm>
            <a:off x="3520440" y="4526280"/>
            <a:ext cx="5166360" cy="960120"/>
          </a:xfrm>
          <a:prstGeom prst="rect">
            <a:avLst/>
          </a:prstGeom>
          <a:solidFill>
            <a:srgbClr val="111113"/>
          </a:solidFill>
          <a:ln cap="flat" cmpd="sng" w="12700">
            <a:solidFill>
              <a:srgbClr val="5A5A5A">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9"/>
          <p:cNvSpPr/>
          <p:nvPr/>
        </p:nvSpPr>
        <p:spPr>
          <a:xfrm>
            <a:off x="3520440" y="4526280"/>
            <a:ext cx="64008" cy="960120"/>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9"/>
          <p:cNvSpPr/>
          <p:nvPr/>
        </p:nvSpPr>
        <p:spPr>
          <a:xfrm>
            <a:off x="3721608" y="4663440"/>
            <a:ext cx="4846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100"/>
              <a:buFont typeface="Arial"/>
              <a:buNone/>
            </a:pPr>
            <a:r>
              <a:rPr b="1" i="0" lang="en-US" sz="1100" u="none" cap="none" strike="noStrike">
                <a:solidFill>
                  <a:srgbClr val="E3342F"/>
                </a:solidFill>
                <a:latin typeface="Arial"/>
                <a:ea typeface="Arial"/>
                <a:cs typeface="Arial"/>
                <a:sym typeface="Arial"/>
              </a:rPr>
              <a:t>LEGACY FEEDBACK COLLECTED</a:t>
            </a:r>
            <a:endParaRPr b="0" i="0" sz="1100" u="none" cap="none" strike="noStrike">
              <a:solidFill>
                <a:schemeClr val="dk1"/>
              </a:solidFill>
              <a:latin typeface="Arial"/>
              <a:ea typeface="Arial"/>
              <a:cs typeface="Arial"/>
              <a:sym typeface="Arial"/>
            </a:endParaRPr>
          </a:p>
        </p:txBody>
      </p:sp>
      <p:sp>
        <p:nvSpPr>
          <p:cNvPr id="435" name="Google Shape;435;p19"/>
          <p:cNvSpPr/>
          <p:nvPr/>
        </p:nvSpPr>
        <p:spPr>
          <a:xfrm>
            <a:off x="3721608" y="4983480"/>
            <a:ext cx="4846320" cy="3931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4F4F4"/>
              </a:buClr>
              <a:buSzPts val="1600"/>
              <a:buFont typeface="Arial"/>
              <a:buNone/>
            </a:pPr>
            <a:r>
              <a:rPr b="0" i="0" lang="en-US" sz="1600" u="none" cap="none" strike="noStrike">
                <a:solidFill>
                  <a:srgbClr val="F4F4F4"/>
                </a:solidFill>
                <a:latin typeface="Arial"/>
                <a:ea typeface="Arial"/>
                <a:cs typeface="Arial"/>
                <a:sym typeface="Arial"/>
              </a:rPr>
              <a:t>Student provides useful feedback or advice for future STARLAB students.</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440" name="Shape 440"/>
        <p:cNvGrpSpPr/>
        <p:nvPr/>
      </p:nvGrpSpPr>
      <p:grpSpPr>
        <a:xfrm>
          <a:off x="0" y="0"/>
          <a:ext cx="0" cy="0"/>
          <a:chOff x="0" y="0"/>
          <a:chExt cx="0" cy="0"/>
        </a:xfrm>
      </p:grpSpPr>
      <p:sp>
        <p:nvSpPr>
          <p:cNvPr id="441" name="Google Shape;441;p20"/>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20"/>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20"/>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0"/>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STUDENT ACTIVITY</a:t>
            </a:r>
            <a:endParaRPr b="0" i="0" sz="950" u="none" cap="none" strike="noStrike">
              <a:solidFill>
                <a:schemeClr val="dk1"/>
              </a:solidFill>
              <a:latin typeface="Arial"/>
              <a:ea typeface="Arial"/>
              <a:cs typeface="Arial"/>
              <a:sym typeface="Arial"/>
            </a:endParaRPr>
          </a:p>
        </p:txBody>
      </p:sp>
      <p:sp>
        <p:nvSpPr>
          <p:cNvPr id="445" name="Google Shape;445;p20"/>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446" name="Google Shape;446;p20"/>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Exit Reflection: The Researcher You Became</a:t>
            </a:r>
            <a:endParaRPr b="0" i="0" sz="3000" u="none" cap="none" strike="noStrike">
              <a:solidFill>
                <a:schemeClr val="dk1"/>
              </a:solidFill>
              <a:latin typeface="Arial"/>
              <a:ea typeface="Arial"/>
              <a:cs typeface="Arial"/>
              <a:sym typeface="Arial"/>
            </a:endParaRPr>
          </a:p>
        </p:txBody>
      </p:sp>
      <p:sp>
        <p:nvSpPr>
          <p:cNvPr id="447" name="Google Shape;447;p20"/>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20"/>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End with identity, not just completion.</a:t>
            </a:r>
            <a:endParaRPr b="0" i="0" sz="1300" u="none" cap="none" strike="noStrike">
              <a:solidFill>
                <a:schemeClr val="dk1"/>
              </a:solidFill>
              <a:latin typeface="Arial"/>
              <a:ea typeface="Arial"/>
              <a:cs typeface="Arial"/>
              <a:sym typeface="Arial"/>
            </a:endParaRPr>
          </a:p>
        </p:txBody>
      </p:sp>
      <p:sp>
        <p:nvSpPr>
          <p:cNvPr id="449" name="Google Shape;449;p20"/>
          <p:cNvSpPr/>
          <p:nvPr/>
        </p:nvSpPr>
        <p:spPr>
          <a:xfrm>
            <a:off x="640080" y="1755648"/>
            <a:ext cx="2148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3342F"/>
              </a:buClr>
              <a:buSzPts val="1200"/>
              <a:buFont typeface="Arial"/>
              <a:buNone/>
            </a:pPr>
            <a:r>
              <a:rPr b="1" i="0" lang="en-US" sz="1200" u="none" cap="none" strike="noStrike">
                <a:solidFill>
                  <a:srgbClr val="E3342F"/>
                </a:solidFill>
                <a:latin typeface="Arial"/>
                <a:ea typeface="Arial"/>
                <a:cs typeface="Arial"/>
                <a:sym typeface="Arial"/>
              </a:rPr>
              <a:t>STUDENT ACTIVITY</a:t>
            </a:r>
            <a:endParaRPr b="0" i="0" sz="1200" u="none" cap="none" strike="noStrike">
              <a:solidFill>
                <a:schemeClr val="dk1"/>
              </a:solidFill>
              <a:latin typeface="Arial"/>
              <a:ea typeface="Arial"/>
              <a:cs typeface="Arial"/>
              <a:sym typeface="Arial"/>
            </a:endParaRPr>
          </a:p>
        </p:txBody>
      </p:sp>
      <p:sp>
        <p:nvSpPr>
          <p:cNvPr id="450" name="Google Shape;450;p20"/>
          <p:cNvSpPr/>
          <p:nvPr/>
        </p:nvSpPr>
        <p:spPr>
          <a:xfrm>
            <a:off x="640080" y="2057400"/>
            <a:ext cx="7040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2600"/>
              <a:buFont typeface="Arial"/>
              <a:buNone/>
            </a:pPr>
            <a:r>
              <a:rPr b="1" i="0" lang="en-US" sz="2600" u="none" cap="none" strike="noStrike">
                <a:solidFill>
                  <a:srgbClr val="F4F4F4"/>
                </a:solidFill>
                <a:latin typeface="Arial"/>
                <a:ea typeface="Arial"/>
                <a:cs typeface="Arial"/>
                <a:sym typeface="Arial"/>
              </a:rPr>
              <a:t>Final Written Response</a:t>
            </a:r>
            <a:endParaRPr b="0" i="0" sz="2600" u="none" cap="none" strike="noStrike">
              <a:solidFill>
                <a:schemeClr val="dk1"/>
              </a:solidFill>
              <a:latin typeface="Arial"/>
              <a:ea typeface="Arial"/>
              <a:cs typeface="Arial"/>
              <a:sym typeface="Arial"/>
            </a:endParaRPr>
          </a:p>
        </p:txBody>
      </p:sp>
      <p:sp>
        <p:nvSpPr>
          <p:cNvPr id="451" name="Google Shape;451;p20"/>
          <p:cNvSpPr/>
          <p:nvPr/>
        </p:nvSpPr>
        <p:spPr>
          <a:xfrm>
            <a:off x="9509760" y="2084832"/>
            <a:ext cx="182880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3342F"/>
              </a:buClr>
              <a:buSzPts val="1600"/>
              <a:buFont typeface="Arial"/>
              <a:buNone/>
            </a:pPr>
            <a:r>
              <a:rPr b="1" i="0" lang="en-US" sz="1600" u="none" cap="none" strike="noStrike">
                <a:solidFill>
                  <a:srgbClr val="E3342F"/>
                </a:solidFill>
                <a:latin typeface="Arial"/>
                <a:ea typeface="Arial"/>
                <a:cs typeface="Arial"/>
                <a:sym typeface="Arial"/>
              </a:rPr>
              <a:t>8 MINUTES</a:t>
            </a:r>
            <a:endParaRPr b="0" i="0" sz="1600" u="none" cap="none" strike="noStrike">
              <a:solidFill>
                <a:schemeClr val="dk1"/>
              </a:solidFill>
              <a:latin typeface="Arial"/>
              <a:ea typeface="Arial"/>
              <a:cs typeface="Arial"/>
              <a:sym typeface="Arial"/>
            </a:endParaRPr>
          </a:p>
        </p:txBody>
      </p:sp>
      <p:cxnSp>
        <p:nvCxnSpPr>
          <p:cNvPr id="452" name="Google Shape;452;p20"/>
          <p:cNvCxnSpPr/>
          <p:nvPr/>
        </p:nvCxnSpPr>
        <p:spPr>
          <a:xfrm>
            <a:off x="640080" y="2706624"/>
            <a:ext cx="10881360" cy="0"/>
          </a:xfrm>
          <a:prstGeom prst="straightConnector1">
            <a:avLst/>
          </a:prstGeom>
          <a:noFill/>
          <a:ln cap="flat" cmpd="sng" w="12700">
            <a:solidFill>
              <a:srgbClr val="5A5A5A"/>
            </a:solidFill>
            <a:prstDash val="solid"/>
            <a:round/>
            <a:headEnd len="sm" w="sm" type="none"/>
            <a:tailEnd len="sm" w="sm" type="none"/>
          </a:ln>
        </p:spPr>
      </p:cxnSp>
      <p:sp>
        <p:nvSpPr>
          <p:cNvPr id="453" name="Google Shape;453;p20"/>
          <p:cNvSpPr/>
          <p:nvPr/>
        </p:nvSpPr>
        <p:spPr>
          <a:xfrm>
            <a:off x="822960" y="2990088"/>
            <a:ext cx="10515600" cy="2560320"/>
          </a:xfrm>
          <a:prstGeom prst="rect">
            <a:avLst/>
          </a:prstGeom>
          <a:noFill/>
          <a:ln>
            <a:noFill/>
          </a:ln>
        </p:spPr>
        <p:txBody>
          <a:bodyPr anchorCtr="0" anchor="ctr" bIns="375" lIns="375" spcFirstLastPara="1" rIns="375" wrap="square" tIns="375">
            <a:noAutofit/>
          </a:bodyPr>
          <a:lstStyle/>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Answer in your final reflection:</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At the start of STARLAB, I thought research was _____.</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Now I understand research as _____.</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The evidence for that change is _____.</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2100"/>
              <a:buFont typeface="Arial"/>
              <a:buNone/>
            </a:pPr>
            <a:r>
              <a:t/>
            </a:r>
            <a:endParaRPr b="0" i="0" sz="21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4F4F4"/>
              </a:buClr>
              <a:buSzPts val="2100"/>
              <a:buFont typeface="Arial"/>
              <a:buNone/>
            </a:pPr>
            <a:r>
              <a:rPr b="0" i="0" lang="en-US" sz="2100" u="none" cap="none" strike="noStrike">
                <a:solidFill>
                  <a:srgbClr val="F4F4F4"/>
                </a:solidFill>
                <a:latin typeface="Arial"/>
                <a:ea typeface="Arial"/>
                <a:cs typeface="Arial"/>
                <a:sym typeface="Arial"/>
              </a:rPr>
              <a:t>Then identify one skill or habit you will carry beyond this course.</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0B0D"/>
        </a:solidFill>
      </p:bgPr>
    </p:bg>
    <p:spTree>
      <p:nvGrpSpPr>
        <p:cNvPr id="458" name="Shape 458"/>
        <p:cNvGrpSpPr/>
        <p:nvPr/>
      </p:nvGrpSpPr>
      <p:grpSpPr>
        <a:xfrm>
          <a:off x="0" y="0"/>
          <a:ext cx="0" cy="0"/>
          <a:chOff x="0" y="0"/>
          <a:chExt cx="0" cy="0"/>
        </a:xfrm>
      </p:grpSpPr>
      <p:sp>
        <p:nvSpPr>
          <p:cNvPr id="459" name="Google Shape;459;p21"/>
          <p:cNvSpPr/>
          <p:nvPr/>
        </p:nvSpPr>
        <p:spPr>
          <a:xfrm>
            <a:off x="0" y="0"/>
            <a:ext cx="12191695" cy="6858000"/>
          </a:xfrm>
          <a:prstGeom prst="rect">
            <a:avLst/>
          </a:prstGeom>
          <a:solidFill>
            <a:srgbClr val="0B0B0D"/>
          </a:solidFill>
          <a:ln cap="flat" cmpd="sng" w="12700">
            <a:solidFill>
              <a:srgbClr val="0B0B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1"/>
          <p:cNvSpPr/>
          <p:nvPr/>
        </p:nvSpPr>
        <p:spPr>
          <a:xfrm>
            <a:off x="0" y="109728"/>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21"/>
          <p:cNvSpPr/>
          <p:nvPr/>
        </p:nvSpPr>
        <p:spPr>
          <a:xfrm>
            <a:off x="0" y="6675120"/>
            <a:ext cx="12191695" cy="64008"/>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21"/>
          <p:cNvSpPr/>
          <p:nvPr/>
        </p:nvSpPr>
        <p:spPr>
          <a:xfrm>
            <a:off x="384048" y="6364224"/>
            <a:ext cx="30175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STARLAB COMPLETE</a:t>
            </a:r>
            <a:endParaRPr b="0" i="0" sz="950" u="none" cap="none" strike="noStrike">
              <a:solidFill>
                <a:schemeClr val="dk1"/>
              </a:solidFill>
              <a:latin typeface="Arial"/>
              <a:ea typeface="Arial"/>
              <a:cs typeface="Arial"/>
              <a:sym typeface="Arial"/>
            </a:endParaRPr>
          </a:p>
        </p:txBody>
      </p:sp>
      <p:sp>
        <p:nvSpPr>
          <p:cNvPr id="463" name="Google Shape;463;p21"/>
          <p:cNvSpPr/>
          <p:nvPr/>
        </p:nvSpPr>
        <p:spPr>
          <a:xfrm>
            <a:off x="10405872" y="6364224"/>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8A8A8"/>
              </a:buClr>
              <a:buSzPts val="950"/>
              <a:buFont typeface="Arial"/>
              <a:buNone/>
            </a:pPr>
            <a:r>
              <a:rPr b="1" i="0" lang="en-US" sz="950" u="none" cap="none" strike="noStrike">
                <a:solidFill>
                  <a:srgbClr val="A8A8A8"/>
                </a:solidFill>
                <a:latin typeface="Arial"/>
                <a:ea typeface="Arial"/>
                <a:cs typeface="Arial"/>
                <a:sym typeface="Arial"/>
              </a:rPr>
              <a:t>DECK 19</a:t>
            </a:r>
            <a:endParaRPr b="0" i="0" sz="950" u="none" cap="none" strike="noStrike">
              <a:solidFill>
                <a:schemeClr val="dk1"/>
              </a:solidFill>
              <a:latin typeface="Arial"/>
              <a:ea typeface="Arial"/>
              <a:cs typeface="Arial"/>
              <a:sym typeface="Arial"/>
            </a:endParaRPr>
          </a:p>
        </p:txBody>
      </p:sp>
      <p:sp>
        <p:nvSpPr>
          <p:cNvPr id="464" name="Google Shape;464;p21"/>
          <p:cNvSpPr/>
          <p:nvPr/>
        </p:nvSpPr>
        <p:spPr>
          <a:xfrm>
            <a:off x="502920" y="502920"/>
            <a:ext cx="110642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4F4F4"/>
              </a:buClr>
              <a:buSzPts val="3000"/>
              <a:buFont typeface="Play"/>
              <a:buNone/>
            </a:pPr>
            <a:r>
              <a:rPr b="1" i="0" lang="en-US" sz="3000" u="none" cap="none" strike="noStrike">
                <a:solidFill>
                  <a:srgbClr val="F4F4F4"/>
                </a:solidFill>
                <a:latin typeface="Play"/>
                <a:ea typeface="Play"/>
                <a:cs typeface="Play"/>
                <a:sym typeface="Play"/>
              </a:rPr>
              <a:t>STARLAB Sequence Complete</a:t>
            </a:r>
            <a:endParaRPr b="0" i="0" sz="3000" u="none" cap="none" strike="noStrike">
              <a:solidFill>
                <a:schemeClr val="dk1"/>
              </a:solidFill>
              <a:latin typeface="Arial"/>
              <a:ea typeface="Arial"/>
              <a:cs typeface="Arial"/>
              <a:sym typeface="Arial"/>
            </a:endParaRPr>
          </a:p>
        </p:txBody>
      </p:sp>
      <p:sp>
        <p:nvSpPr>
          <p:cNvPr id="465" name="Google Shape;465;p21"/>
          <p:cNvSpPr/>
          <p:nvPr/>
        </p:nvSpPr>
        <p:spPr>
          <a:xfrm>
            <a:off x="502920" y="1261872"/>
            <a:ext cx="914400" cy="54864"/>
          </a:xfrm>
          <a:prstGeom prst="rect">
            <a:avLst/>
          </a:prstGeom>
          <a:solidFill>
            <a:srgbClr val="E3342F"/>
          </a:solidFill>
          <a:ln cap="flat" cmpd="sng" w="12700">
            <a:solidFill>
              <a:srgbClr val="E334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1"/>
          <p:cNvSpPr/>
          <p:nvPr/>
        </p:nvSpPr>
        <p:spPr>
          <a:xfrm>
            <a:off x="1600200" y="1280160"/>
            <a:ext cx="9875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A8A8"/>
              </a:buClr>
              <a:buSzPts val="1300"/>
              <a:buFont typeface="Arial"/>
              <a:buNone/>
            </a:pPr>
            <a:r>
              <a:rPr b="0" i="0" lang="en-US" sz="1300" u="none" cap="none" strike="noStrike">
                <a:solidFill>
                  <a:srgbClr val="A8A8A8"/>
                </a:solidFill>
                <a:latin typeface="Arial"/>
                <a:ea typeface="Arial"/>
                <a:cs typeface="Arial"/>
                <a:sym typeface="Arial"/>
              </a:rPr>
              <a:t>Per aspera • sapientiam</a:t>
            </a:r>
            <a:endParaRPr b="0" i="0" sz="1300" u="none" cap="none" strike="noStrike">
              <a:solidFill>
                <a:schemeClr val="dk1"/>
              </a:solidFill>
              <a:latin typeface="Arial"/>
              <a:ea typeface="Arial"/>
              <a:cs typeface="Arial"/>
              <a:sym typeface="Arial"/>
            </a:endParaRPr>
          </a:p>
        </p:txBody>
      </p:sp>
      <p:sp>
        <p:nvSpPr>
          <p:cNvPr id="467" name="Google Shape;467;p21"/>
          <p:cNvSpPr/>
          <p:nvPr/>
        </p:nvSpPr>
        <p:spPr>
          <a:xfrm>
            <a:off x="822960" y="1600200"/>
            <a:ext cx="10515600" cy="457200"/>
          </a:xfrm>
          <a:prstGeom prst="rect">
            <a:avLst/>
          </a:prstGeom>
          <a:noFill/>
          <a:ln>
            <a:noFill/>
          </a:ln>
        </p:spPr>
        <p:txBody>
          <a:bodyPr anchorCtr="0" anchor="t" bIns="500" lIns="500" spcFirstLastPara="1" rIns="500" wrap="square" tIns="500">
            <a:noAutofit/>
          </a:bodyPr>
          <a:lstStyle/>
          <a:p>
            <a:pPr indent="0" lvl="0" marL="0" marR="0" rtl="0" algn="ctr">
              <a:spcBef>
                <a:spcPts val="0"/>
              </a:spcBef>
              <a:spcAft>
                <a:spcPts val="0"/>
              </a:spcAft>
              <a:buClr>
                <a:srgbClr val="F4F4F4"/>
              </a:buClr>
              <a:buSzPts val="3000"/>
              <a:buFont typeface="Arial"/>
              <a:buNone/>
            </a:pPr>
            <a:r>
              <a:rPr b="1" i="0" lang="en-US" sz="3000" u="none" cap="none" strike="noStrike">
                <a:solidFill>
                  <a:srgbClr val="F4F4F4"/>
                </a:solidFill>
                <a:latin typeface="Arial"/>
                <a:ea typeface="Arial"/>
                <a:cs typeface="Arial"/>
                <a:sym typeface="Arial"/>
              </a:rPr>
              <a:t>Through difficulty, toward wisdom.</a:t>
            </a:r>
            <a:endParaRPr b="0" i="0" sz="3000" u="none" cap="none" strike="noStrike">
              <a:solidFill>
                <a:schemeClr val="dk1"/>
              </a:solidFill>
              <a:latin typeface="Arial"/>
              <a:ea typeface="Arial"/>
              <a:cs typeface="Arial"/>
              <a:sym typeface="Arial"/>
            </a:endParaRPr>
          </a:p>
        </p:txBody>
      </p:sp>
      <p:sp>
        <p:nvSpPr>
          <p:cNvPr id="468" name="Google Shape;468;p21"/>
          <p:cNvSpPr/>
          <p:nvPr/>
        </p:nvSpPr>
        <p:spPr>
          <a:xfrm>
            <a:off x="1234440" y="2423160"/>
            <a:ext cx="9692640" cy="2103120"/>
          </a:xfrm>
          <a:prstGeom prst="rect">
            <a:avLst/>
          </a:prstGeom>
          <a:noFill/>
          <a:ln>
            <a:noFill/>
          </a:ln>
        </p:spPr>
        <p:txBody>
          <a:bodyPr anchorCtr="0" anchor="t" bIns="500" lIns="500" spcFirstLastPara="1" rIns="500" wrap="square" tIns="500">
            <a:noAutofit/>
          </a:bodyPr>
          <a:lstStyle/>
          <a:p>
            <a:pPr indent="0" lvl="0" marL="0" marR="0" rtl="0" algn="ctr">
              <a:spcBef>
                <a:spcPts val="0"/>
              </a:spcBef>
              <a:spcAft>
                <a:spcPts val="0"/>
              </a:spcAft>
              <a:buClr>
                <a:srgbClr val="F4F4F4"/>
              </a:buClr>
              <a:buSzPts val="2400"/>
              <a:buFont typeface="Arial"/>
              <a:buNone/>
            </a:pPr>
            <a:r>
              <a:rPr b="0" i="0" lang="en-US" sz="2400" u="none" cap="none" strike="noStrike">
                <a:solidFill>
                  <a:srgbClr val="F4F4F4"/>
                </a:solidFill>
                <a:latin typeface="Arial"/>
                <a:ea typeface="Arial"/>
                <a:cs typeface="Arial"/>
                <a:sym typeface="Arial"/>
              </a:rPr>
              <a:t>You asked a question.</a:t>
            </a:r>
            <a:endParaRPr b="0" i="0" sz="2400" u="none" cap="none" strike="noStrike">
              <a:solidFill>
                <a:schemeClr val="dk1"/>
              </a:solidFill>
              <a:latin typeface="Arial"/>
              <a:ea typeface="Arial"/>
              <a:cs typeface="Arial"/>
              <a:sym typeface="Arial"/>
            </a:endParaRPr>
          </a:p>
          <a:p>
            <a:pPr indent="0" lvl="0" marL="0" marR="0" rtl="0" algn="ctr">
              <a:spcBef>
                <a:spcPts val="0"/>
              </a:spcBef>
              <a:spcAft>
                <a:spcPts val="0"/>
              </a:spcAft>
              <a:buClr>
                <a:srgbClr val="F4F4F4"/>
              </a:buClr>
              <a:buSzPts val="2400"/>
              <a:buFont typeface="Arial"/>
              <a:buNone/>
            </a:pPr>
            <a:r>
              <a:rPr b="0" i="0" lang="en-US" sz="2400" u="none" cap="none" strike="noStrike">
                <a:solidFill>
                  <a:srgbClr val="F4F4F4"/>
                </a:solidFill>
                <a:latin typeface="Arial"/>
                <a:ea typeface="Arial"/>
                <a:cs typeface="Arial"/>
                <a:sym typeface="Arial"/>
              </a:rPr>
              <a:t>You built a plan.</a:t>
            </a:r>
            <a:endParaRPr b="0" i="0" sz="2400" u="none" cap="none" strike="noStrike">
              <a:solidFill>
                <a:schemeClr val="dk1"/>
              </a:solidFill>
              <a:latin typeface="Arial"/>
              <a:ea typeface="Arial"/>
              <a:cs typeface="Arial"/>
              <a:sym typeface="Arial"/>
            </a:endParaRPr>
          </a:p>
          <a:p>
            <a:pPr indent="0" lvl="0" marL="0" marR="0" rtl="0" algn="ctr">
              <a:spcBef>
                <a:spcPts val="0"/>
              </a:spcBef>
              <a:spcAft>
                <a:spcPts val="0"/>
              </a:spcAft>
              <a:buClr>
                <a:srgbClr val="F4F4F4"/>
              </a:buClr>
              <a:buSzPts val="2400"/>
              <a:buFont typeface="Arial"/>
              <a:buNone/>
            </a:pPr>
            <a:r>
              <a:rPr b="0" i="0" lang="en-US" sz="2400" u="none" cap="none" strike="noStrike">
                <a:solidFill>
                  <a:srgbClr val="F4F4F4"/>
                </a:solidFill>
                <a:latin typeface="Arial"/>
                <a:ea typeface="Arial"/>
                <a:cs typeface="Arial"/>
                <a:sym typeface="Arial"/>
              </a:rPr>
              <a:t>You tested it against reality.</a:t>
            </a:r>
            <a:endParaRPr b="0" i="0" sz="2400" u="none" cap="none" strike="noStrike">
              <a:solidFill>
                <a:schemeClr val="dk1"/>
              </a:solidFill>
              <a:latin typeface="Arial"/>
              <a:ea typeface="Arial"/>
              <a:cs typeface="Arial"/>
              <a:sym typeface="Arial"/>
            </a:endParaRPr>
          </a:p>
          <a:p>
            <a:pPr indent="0" lvl="0" marL="0" marR="0" rtl="0" algn="ctr">
              <a:spcBef>
                <a:spcPts val="0"/>
              </a:spcBef>
              <a:spcAft>
                <a:spcPts val="0"/>
              </a:spcAft>
              <a:buClr>
                <a:srgbClr val="F4F4F4"/>
              </a:buClr>
              <a:buSzPts val="2400"/>
              <a:buFont typeface="Arial"/>
              <a:buNone/>
            </a:pPr>
            <a:r>
              <a:rPr b="0" i="0" lang="en-US" sz="2400" u="none" cap="none" strike="noStrike">
                <a:solidFill>
                  <a:srgbClr val="F4F4F4"/>
                </a:solidFill>
                <a:latin typeface="Arial"/>
                <a:ea typeface="Arial"/>
                <a:cs typeface="Arial"/>
                <a:sym typeface="Arial"/>
              </a:rPr>
              <a:t>You revised.</a:t>
            </a:r>
            <a:endParaRPr b="0" i="0" sz="2400" u="none" cap="none" strike="noStrike">
              <a:solidFill>
                <a:schemeClr val="dk1"/>
              </a:solidFill>
              <a:latin typeface="Arial"/>
              <a:ea typeface="Arial"/>
              <a:cs typeface="Arial"/>
              <a:sym typeface="Arial"/>
            </a:endParaRPr>
          </a:p>
          <a:p>
            <a:pPr indent="0" lvl="0" marL="0" marR="0" rtl="0" algn="ctr">
              <a:spcBef>
                <a:spcPts val="0"/>
              </a:spcBef>
              <a:spcAft>
                <a:spcPts val="0"/>
              </a:spcAft>
              <a:buClr>
                <a:srgbClr val="F4F4F4"/>
              </a:buClr>
              <a:buSzPts val="2400"/>
              <a:buFont typeface="Arial"/>
              <a:buNone/>
            </a:pPr>
            <a:r>
              <a:rPr b="0" i="0" lang="en-US" sz="2400" u="none" cap="none" strike="noStrike">
                <a:solidFill>
                  <a:srgbClr val="F4F4F4"/>
                </a:solidFill>
                <a:latin typeface="Arial"/>
                <a:ea typeface="Arial"/>
                <a:cs typeface="Arial"/>
                <a:sym typeface="Arial"/>
              </a:rPr>
              <a:t>You gathered evidence.</a:t>
            </a:r>
            <a:endParaRPr b="0" i="0" sz="2400" u="none" cap="none" strike="noStrike">
              <a:solidFill>
                <a:schemeClr val="dk1"/>
              </a:solidFill>
              <a:latin typeface="Arial"/>
              <a:ea typeface="Arial"/>
              <a:cs typeface="Arial"/>
              <a:sym typeface="Arial"/>
            </a:endParaRPr>
          </a:p>
          <a:p>
            <a:pPr indent="0" lvl="0" marL="0" marR="0" rtl="0" algn="ctr">
              <a:spcBef>
                <a:spcPts val="0"/>
              </a:spcBef>
              <a:spcAft>
                <a:spcPts val="0"/>
              </a:spcAft>
              <a:buClr>
                <a:srgbClr val="F4F4F4"/>
              </a:buClr>
              <a:buSzPts val="2400"/>
              <a:buFont typeface="Arial"/>
              <a:buNone/>
            </a:pPr>
            <a:r>
              <a:rPr b="0" i="0" lang="en-US" sz="2400" u="none" cap="none" strike="noStrike">
                <a:solidFill>
                  <a:srgbClr val="F4F4F4"/>
                </a:solidFill>
                <a:latin typeface="Arial"/>
                <a:ea typeface="Arial"/>
                <a:cs typeface="Arial"/>
                <a:sym typeface="Arial"/>
              </a:rPr>
              <a:t>You explained what it means.</a:t>
            </a:r>
            <a:endParaRPr b="0" i="0" sz="2400" u="none" cap="none" strike="noStrike">
              <a:solidFill>
                <a:schemeClr val="dk1"/>
              </a:solidFill>
              <a:latin typeface="Arial"/>
              <a:ea typeface="Arial"/>
              <a:cs typeface="Arial"/>
              <a:sym typeface="Arial"/>
            </a:endParaRPr>
          </a:p>
        </p:txBody>
      </p:sp>
      <p:sp>
        <p:nvSpPr>
          <p:cNvPr id="469" name="Google Shape;469;p21"/>
          <p:cNvSpPr/>
          <p:nvPr/>
        </p:nvSpPr>
        <p:spPr>
          <a:xfrm>
            <a:off x="914400" y="5074920"/>
            <a:ext cx="10332720" cy="411480"/>
          </a:xfrm>
          <a:prstGeom prst="rect">
            <a:avLst/>
          </a:prstGeom>
          <a:noFill/>
          <a:ln>
            <a:noFill/>
          </a:ln>
        </p:spPr>
        <p:txBody>
          <a:bodyPr anchorCtr="0" anchor="t" bIns="500" lIns="500" spcFirstLastPara="1" rIns="500" wrap="square" tIns="500">
            <a:noAutofit/>
          </a:bodyPr>
          <a:lstStyle/>
          <a:p>
            <a:pPr indent="0" lvl="0" marL="0" marR="0" rtl="0" algn="ctr">
              <a:spcBef>
                <a:spcPts val="0"/>
              </a:spcBef>
              <a:spcAft>
                <a:spcPts val="0"/>
              </a:spcAft>
              <a:buClr>
                <a:srgbClr val="E3342F"/>
              </a:buClr>
              <a:buSzPts val="2200"/>
              <a:buFont typeface="Arial"/>
              <a:buNone/>
            </a:pPr>
            <a:r>
              <a:rPr b="1" i="0" lang="en-US" sz="2200" u="none" cap="none" strike="noStrike">
                <a:solidFill>
                  <a:srgbClr val="E3342F"/>
                </a:solidFill>
                <a:latin typeface="Arial"/>
                <a:ea typeface="Arial"/>
                <a:cs typeface="Arial"/>
                <a:sym typeface="Arial"/>
              </a:rPr>
              <a:t>Final step: preserve the story, then decide what comes next.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