
<file path=[Content_Types].xml><?xml version="1.0" encoding="utf-8"?>
<Types xmlns="http://schemas.openxmlformats.org/package/2006/content-types">
  <Default Extension="xml" ContentType="application/vnd.openxmlformats-package.core-properties+xml"/>
  <Default Extension="dat" ContentType="application/x-fontdata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a1c0f75c24e4ecc" /><Relationship Type="http://schemas.openxmlformats.org/officeDocument/2006/relationships/extended-properties" Target="/docProps/app.xml" Id="R31357f48722d4349" /><Relationship Type="http://schemas.openxmlformats.org/officeDocument/2006/relationships/officeDocument" Target="/ppt/presentation.xml" Id="Rb48803b60b764b81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63d240c375414cbf"/>
  </p:sldMasterIdLst>
  <p:notesMasterIdLst>
    <p:notesMasterId xmlns:r="http://schemas.openxmlformats.org/officeDocument/2006/relationships" r:id="Rc7ed727c53424a6a"/>
  </p:notesMasterIdLst>
  <p:sldIdLst>
    <p:sldId xmlns:r="http://schemas.openxmlformats.org/officeDocument/2006/relationships" id="256" r:id="Re3c9205329d24933"/>
    <p:sldId xmlns:r="http://schemas.openxmlformats.org/officeDocument/2006/relationships" id="257" r:id="R9e26f20244af406b"/>
    <p:sldId xmlns:r="http://schemas.openxmlformats.org/officeDocument/2006/relationships" id="258" r:id="Re9c9a31748dd4fd5"/>
    <p:sldId xmlns:r="http://schemas.openxmlformats.org/officeDocument/2006/relationships" id="259" r:id="Rb383e926736245e8"/>
    <p:sldId xmlns:r="http://schemas.openxmlformats.org/officeDocument/2006/relationships" id="260" r:id="Re71ee77926554676"/>
    <p:sldId xmlns:r="http://schemas.openxmlformats.org/officeDocument/2006/relationships" id="261" r:id="Re32f65f040054d97"/>
    <p:sldId xmlns:r="http://schemas.openxmlformats.org/officeDocument/2006/relationships" id="262" r:id="R6cc01ef1aa1f4620"/>
    <p:sldId xmlns:r="http://schemas.openxmlformats.org/officeDocument/2006/relationships" id="263" r:id="R8e17adcfd597470f"/>
    <p:sldId xmlns:r="http://schemas.openxmlformats.org/officeDocument/2006/relationships" id="264" r:id="R5b97813270b04045"/>
    <p:sldId xmlns:r="http://schemas.openxmlformats.org/officeDocument/2006/relationships" id="265" r:id="Ra8b0e8daba5f463a"/>
    <p:sldId xmlns:r="http://schemas.openxmlformats.org/officeDocument/2006/relationships" id="266" r:id="Rbfbc77fbd214447a"/>
    <p:sldId xmlns:r="http://schemas.openxmlformats.org/officeDocument/2006/relationships" id="267" r:id="R1035236f4d474243"/>
    <p:sldId xmlns:r="http://schemas.openxmlformats.org/officeDocument/2006/relationships" id="268" r:id="R352d5a3635cc4286"/>
    <p:sldId xmlns:r="http://schemas.openxmlformats.org/officeDocument/2006/relationships" id="269" r:id="R24ce85e3e5c7499f"/>
    <p:sldId xmlns:r="http://schemas.openxmlformats.org/officeDocument/2006/relationships" id="270" r:id="Rc78348552e5f4f07"/>
    <p:sldId xmlns:r="http://schemas.openxmlformats.org/officeDocument/2006/relationships" id="271" r:id="R510759f1a5d54931"/>
    <p:sldId xmlns:r="http://schemas.openxmlformats.org/officeDocument/2006/relationships" id="272" r:id="Ra348bb94d81e4d34"/>
    <p:sldId xmlns:r="http://schemas.openxmlformats.org/officeDocument/2006/relationships" id="273" r:id="Rd5a3eac788cc4cbb"/>
    <p:sldId xmlns:r="http://schemas.openxmlformats.org/officeDocument/2006/relationships" id="274" r:id="Rcdd1a6fe1b9b4e02"/>
  </p:sldIdLst>
  <p:sldSz cx="12192000" cy="6858000"/>
  <p:notesSz cx="6858000" cy="9144000"/>
  <p:embeddedFontLst>
    <p:embeddedFont>
      <p:font typeface="Play"/>
      <p:regular xmlns:r="http://schemas.openxmlformats.org/officeDocument/2006/relationships" r:id="R839fd78513a24e4c"/>
      <p:bold xmlns:r="http://schemas.openxmlformats.org/officeDocument/2006/relationships" r:id="R850afb3eb6ae458f"/>
    </p:embeddedFont>
  </p:embeddedFontLst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4c2d8153363449f" /><Relationship Type="http://schemas.openxmlformats.org/officeDocument/2006/relationships/slideMaster" Target="/ppt/slideMasters/slideMaster1.xml" Id="R63d240c375414cbf" /><Relationship Type="http://schemas.openxmlformats.org/officeDocument/2006/relationships/notesMaster" Target="/ppt/notesMasters/notesMaster1.xml" Id="Rc7ed727c53424a6a" /><Relationship Type="http://schemas.openxmlformats.org/officeDocument/2006/relationships/presProps" Target="/ppt/presProps.xml" Id="R263a321d267344d6" /><Relationship Type="http://schemas.openxmlformats.org/officeDocument/2006/relationships/tableStyles" Target="/ppt/tableStyles.xml" Id="R4286ad4fd71c4f12" /><Relationship Type="http://schemas.openxmlformats.org/officeDocument/2006/relationships/font" Target="/ppt/fonts/font.dat" Id="R839fd78513a24e4c" /><Relationship Type="http://schemas.openxmlformats.org/officeDocument/2006/relationships/font" Target="/ppt/fonts/font2.dat" Id="R850afb3eb6ae458f" /><Relationship Type="http://schemas.openxmlformats.org/officeDocument/2006/relationships/slide" Target="/ppt/slides/slide1.xml" Id="Re3c9205329d24933" /><Relationship Type="http://schemas.openxmlformats.org/officeDocument/2006/relationships/slide" Target="/ppt/slides/slide2.xml" Id="R9e26f20244af406b" /><Relationship Type="http://schemas.openxmlformats.org/officeDocument/2006/relationships/slide" Target="/ppt/slides/slide3.xml" Id="Re9c9a31748dd4fd5" /><Relationship Type="http://schemas.openxmlformats.org/officeDocument/2006/relationships/slide" Target="/ppt/slides/slide4.xml" Id="Rb383e926736245e8" /><Relationship Type="http://schemas.openxmlformats.org/officeDocument/2006/relationships/slide" Target="/ppt/slides/slide5.xml" Id="Re71ee77926554676" /><Relationship Type="http://schemas.openxmlformats.org/officeDocument/2006/relationships/slide" Target="/ppt/slides/slide6.xml" Id="Re32f65f040054d97" /><Relationship Type="http://schemas.openxmlformats.org/officeDocument/2006/relationships/slide" Target="/ppt/slides/slide7.xml" Id="R6cc01ef1aa1f4620" /><Relationship Type="http://schemas.openxmlformats.org/officeDocument/2006/relationships/slide" Target="/ppt/slides/slide8.xml" Id="R8e17adcfd597470f" /><Relationship Type="http://schemas.openxmlformats.org/officeDocument/2006/relationships/slide" Target="/ppt/slides/slide9.xml" Id="R5b97813270b04045" /><Relationship Type="http://schemas.openxmlformats.org/officeDocument/2006/relationships/slide" Target="/ppt/slides/slide10.xml" Id="Ra8b0e8daba5f463a" /><Relationship Type="http://schemas.openxmlformats.org/officeDocument/2006/relationships/slide" Target="/ppt/slides/slide11.xml" Id="Rbfbc77fbd214447a" /><Relationship Type="http://schemas.openxmlformats.org/officeDocument/2006/relationships/slide" Target="/ppt/slides/slide12.xml" Id="R1035236f4d474243" /><Relationship Type="http://schemas.openxmlformats.org/officeDocument/2006/relationships/slide" Target="/ppt/slides/slide13.xml" Id="R352d5a3635cc4286" /><Relationship Type="http://schemas.openxmlformats.org/officeDocument/2006/relationships/slide" Target="/ppt/slides/slide14.xml" Id="R24ce85e3e5c7499f" /><Relationship Type="http://schemas.openxmlformats.org/officeDocument/2006/relationships/slide" Target="/ppt/slides/slide15.xml" Id="Rc78348552e5f4f07" /><Relationship Type="http://schemas.openxmlformats.org/officeDocument/2006/relationships/slide" Target="/ppt/slides/slide16.xml" Id="R510759f1a5d54931" /><Relationship Type="http://schemas.openxmlformats.org/officeDocument/2006/relationships/slide" Target="/ppt/slides/slide17.xml" Id="Ra348bb94d81e4d34" /><Relationship Type="http://schemas.openxmlformats.org/officeDocument/2006/relationships/slide" Target="/ppt/slides/slide18.xml" Id="Rd5a3eac788cc4cbb" /><Relationship Type="http://schemas.openxmlformats.org/officeDocument/2006/relationships/slide" Target="/ppt/slides/slide19.xml" Id="Rcdd1a6fe1b9b4e0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05bc941ce12496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314daacb07b47f2" /><Relationship Type="http://schemas.openxmlformats.org/officeDocument/2006/relationships/notesMaster" Target="/ppt/notesMasters/notesMaster1.xml" Id="R5f1f9c5cde4f42a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b8decc0822d481a" /><Relationship Type="http://schemas.openxmlformats.org/officeDocument/2006/relationships/notesMaster" Target="/ppt/notesMasters/notesMaster1.xml" Id="R73130ea24abe468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4a20de7cb8544d1" /><Relationship Type="http://schemas.openxmlformats.org/officeDocument/2006/relationships/notesMaster" Target="/ppt/notesMasters/notesMaster1.xml" Id="Rdb8a50d278c74b3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89c8b66dd474a24" /><Relationship Type="http://schemas.openxmlformats.org/officeDocument/2006/relationships/notesMaster" Target="/ppt/notesMasters/notesMaster1.xml" Id="R3001d6d26864480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b4f6980a7364522" /><Relationship Type="http://schemas.openxmlformats.org/officeDocument/2006/relationships/notesMaster" Target="/ppt/notesMasters/notesMaster1.xml" Id="R7a7a6112f78e4be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80256efb1fa48e6" /><Relationship Type="http://schemas.openxmlformats.org/officeDocument/2006/relationships/notesMaster" Target="/ppt/notesMasters/notesMaster1.xml" Id="R1c02d217c5944bd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ed563e69dc048cf" /><Relationship Type="http://schemas.openxmlformats.org/officeDocument/2006/relationships/notesMaster" Target="/ppt/notesMasters/notesMaster1.xml" Id="R406d9f5e7ac4417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9fd74b9364744cd" /><Relationship Type="http://schemas.openxmlformats.org/officeDocument/2006/relationships/notesMaster" Target="/ppt/notesMasters/notesMaster1.xml" Id="R20579b382215488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2a7cfc9c2524aa1" /><Relationship Type="http://schemas.openxmlformats.org/officeDocument/2006/relationships/notesMaster" Target="/ppt/notesMasters/notesMaster1.xml" Id="R604f7b697837493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e21fc28c6174aac" /><Relationship Type="http://schemas.openxmlformats.org/officeDocument/2006/relationships/notesMaster" Target="/ppt/notesMasters/notesMaster1.xml" Id="Rffa5521e0d35460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c7b28b795c44640" /><Relationship Type="http://schemas.openxmlformats.org/officeDocument/2006/relationships/notesMaster" Target="/ppt/notesMasters/notesMaster1.xml" Id="R89abb59eed33431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6da2c81ef6c46c2" /><Relationship Type="http://schemas.openxmlformats.org/officeDocument/2006/relationships/notesMaster" Target="/ppt/notesMasters/notesMaster1.xml" Id="R7d06bab866cc4ed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7efb0e198414d9d" /><Relationship Type="http://schemas.openxmlformats.org/officeDocument/2006/relationships/notesMaster" Target="/ppt/notesMasters/notesMaster1.xml" Id="R9b987d4fc482434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83303c423d24cde" /><Relationship Type="http://schemas.openxmlformats.org/officeDocument/2006/relationships/notesMaster" Target="/ppt/notesMasters/notesMaster1.xml" Id="R2155df91ea9346d8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e4a1172e2794763" /><Relationship Type="http://schemas.openxmlformats.org/officeDocument/2006/relationships/notesMaster" Target="/ppt/notesMasters/notesMaster1.xml" Id="Rf26f6d91fa484924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c0600048c8de49e7" /><Relationship Type="http://schemas.openxmlformats.org/officeDocument/2006/relationships/notesMaster" Target="/ppt/notesMasters/notesMaster1.xml" Id="R2c1c26ef50114436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75f4540d10394058" /><Relationship Type="http://schemas.openxmlformats.org/officeDocument/2006/relationships/notesMaster" Target="/ppt/notesMasters/notesMaster1.xml" Id="R07a6019c08a74e82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f820c82951774785" /><Relationship Type="http://schemas.openxmlformats.org/officeDocument/2006/relationships/notesMaster" Target="/ppt/notesMasters/notesMaster1.xml" Id="R3ac724b5bcc4473e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f7e13fde078a422a" /><Relationship Type="http://schemas.openxmlformats.org/officeDocument/2006/relationships/notesMaster" Target="/ppt/notesMasters/notesMaster1.xml" Id="R0e537edf4fe04de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PRIMARY TEACHING MOMENT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Unit 6, Week 34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REQUIRED WEEK 34 MATERIALS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Unit 6 Student Handout 15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Unit 6 Student Handout 16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Unit 6 Student Handout 18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OPTIONAL / TEACHER REFERENCE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Unit 6 Student Handout 17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Unit 6 Appendices O-S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RESOURCE ALIGNMENT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Use for final reflection, portfolio curation, course feedback, responsible archiving, and next-step decisions. This is the final deck; no next deck follows.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Teacher notes:</a:t>
            </a:r>
            <a:br/>
            <a:r>
              <a:t>Use this slide to make clear that reflection is part of research, not an optional wrap-up. Students should leave with a portfolio and a more accurate understanding of their growth.</a:t>
            </a:r>
            <a:br/>
            <a:br/>
            <a:r>
              <a:t>Resource alignment:</a:t>
            </a:r>
            <a:br/>
            <a:r>
              <a:t>Use with Unit 6 Student Handout 15: Final Research Process Reflection and Student Handout 16: STARLAB Portfolio Checklist. This deck supports Unit 6 Week 34.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Teacher notes:</a:t>
            </a:r>
            <a:br/>
            <a:r>
              <a:t>Students often judge the year by the final product only. Invite them to recognize the invisible research work behind the final presentation.</a:t>
            </a:r>
            <a:br/>
            <a:br/>
            <a:r>
              <a:t>Resource alignment:</a:t>
            </a:r>
            <a:br/>
            <a:r>
              <a:t>Use with Unit 6 Student Handout 15: Final Research Process Reflection. Resource connection: Unit 6 Appendix O: Portfolio Artifact Guide.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Teacher notes:</a:t>
            </a:r>
            <a:br/>
            <a:r>
              <a:t>Discourage vague reflection. Strong reflection works like scientific writing: claim, evidence, and reasoning about growth.</a:t>
            </a:r>
            <a:br/>
            <a:br/>
            <a:r>
              <a:t>Resource alignment:</a:t>
            </a:r>
            <a:br/>
            <a:r>
              <a:t>Use with Unit 6 Student Handout 15: Final Research Process Reflection.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Teacher notes:</a:t>
            </a:r>
            <a:br/>
            <a:r>
              <a:t>Use the timeline to help students remember moments from each unit. Give them one minute to jot down one artifact or memory from each stage.</a:t>
            </a:r>
            <a:br/>
            <a:br/>
            <a:r>
              <a:t>Resource alignment:</a:t>
            </a:r>
            <a:br/>
            <a:r>
              <a:t>Use with Unit 6 Student Handout 15: Final Research Process Reflection and Unit 6 Appendix O: Portfolio Artifact Guide.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Teacher notes:</a:t>
            </a:r>
            <a:br/>
            <a:r>
              <a:t>Students should identify real turning points, not just calendar events. Push them to explain why each moment mattered.</a:t>
            </a:r>
            <a:br/>
            <a:br/>
            <a:r>
              <a:t>Resource alignment:</a:t>
            </a:r>
            <a:br/>
            <a:r>
              <a:t>Use with Unit 6 Student Handout 15: Final Research Process Reflection. Resource connection: Unit 6 Appendix O: Portfolio Artifact Guide.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Teacher notes:</a:t>
            </a:r>
            <a:br/>
            <a:r>
              <a:t>This slide reinforces the STARLAB culture: failure is data. Students should explain failure as evidence that drove a decision.</a:t>
            </a:r>
            <a:br/>
            <a:br/>
            <a:r>
              <a:t>Resource alignment:</a:t>
            </a:r>
            <a:br/>
            <a:r>
              <a:t>Use with Unit 6 Student Handout 15: Final Research Process Reflection. This also connects back to Unit 3 troubleshooting and research journal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Teacher notes:</a:t>
            </a:r>
            <a:br/>
            <a:r>
              <a:t>Explain that a portfolio should not be a random file dump. It should intentionally show the research story.</a:t>
            </a:r>
            <a:br/>
            <a:br/>
            <a:r>
              <a:t>Resource alignment:</a:t>
            </a:r>
            <a:br/>
            <a:r>
              <a:t>Use with Unit 6 Student Handout 16: STARLAB Portfolio Checklist and Unit 6 Appendix O: Portfolio Artifact Guide.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Teacher notes:</a:t>
            </a:r>
            <a:br/>
            <a:r>
              <a:t>Have students choose artifacts intentionally. If a file does not show process, evidence, or growth, it may not belong in the curated portfolio.</a:t>
            </a:r>
            <a:br/>
            <a:br/>
            <a:r>
              <a:t>Resource alignment:</a:t>
            </a:r>
            <a:br/>
            <a:r>
              <a:t>Use with Unit 6 Student Handout 16: STARLAB Portfolio Checklist and Unit 6 Appendix O: Portfolio Artifact Guide.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Teacher notes:</a:t>
            </a:r>
            <a:br/>
            <a:r>
              <a:t>This can be a digital file organization work session. Require students to name files clearly and identify one artifact that represents growth.</a:t>
            </a:r>
            <a:br/>
            <a:br/>
            <a:r>
              <a:t>Resource alignment:</a:t>
            </a:r>
            <a:br/>
            <a:r>
              <a:t>Use with Unit 6 Student Handout 16: STARLAB Portfolio Checklist and Unit 6 Appendix O: Portfolio Artifact Guide.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Teacher notes:</a:t>
            </a:r>
            <a:br/>
            <a:r>
              <a:t>Students often think uploading files is enough. Emphasize curation: a future teacher, mentor, or scholarship reviewer should understand what each artifact shows.</a:t>
            </a:r>
            <a:br/>
            <a:br/>
            <a:r>
              <a:t>Resource alignment:</a:t>
            </a:r>
            <a:br/>
            <a:r>
              <a:t>Use with Unit 6 Student Handout 16: STARLAB Portfolio Checklist and Unit 6 Appendix O: Portfolio Artifact Guide.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Teacher notes:</a:t>
            </a:r>
            <a:br/>
            <a:r>
              <a:t>Use these as oral prompts before students write. The aim is to help students describe scientific habits, not simply content knowledge.</a:t>
            </a:r>
            <a:br/>
            <a:br/>
            <a:r>
              <a:t>Resource alignment:</a:t>
            </a:r>
            <a:br/>
            <a:r>
              <a:t>Use with Unit 6 Student Handout 15: Final Research Process Reflection and Student Handout 18: Course Feedback and Legacy Reflection.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Teacher notes:</a:t>
            </a:r>
            <a:br/>
            <a:r>
              <a:t>This activity makes reflection concrete. Students should cite specific project artifacts or moments, not general feelings.</a:t>
            </a:r>
            <a:br/>
            <a:br/>
            <a:r>
              <a:t>Resource alignment:</a:t>
            </a:r>
            <a:br/>
            <a:r>
              <a:t>Use with Unit 6 Student Handout 15: Final Research Process Reflection. Resource connection: Unit 6 Appendix O: Portfolio Artifact Guide.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Teacher notes:</a:t>
            </a:r>
            <a:br/>
            <a:r>
              <a:t>Avoid implying that every student must continue. A well-ended project is acceptable. The point is to make an intentional decision.</a:t>
            </a:r>
            <a:br/>
            <a:br/>
            <a:r>
              <a:t>Resource alignment:</a:t>
            </a:r>
            <a:br/>
            <a:r>
              <a:t>Use with Unit 6 Student Handout 17: Optional Next-Step Plan and Unit 6 Appendix P: Competition, Fair, and Publication Pathways.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Teacher notes:</a:t>
            </a:r>
            <a:br/>
            <a:r>
              <a:t>This slide prevents vague continuation plans. Students should identify immediate and realistic steps, not simply say “I will keep working on it.”</a:t>
            </a:r>
            <a:br/>
            <a:br/>
            <a:r>
              <a:t>Resource alignment:</a:t>
            </a:r>
            <a:br/>
            <a:r>
              <a:t>Use with Unit 6 Student Handout 17: Optional Next-Step Plan and Unit 6 Appendix P: Competition, Fair, and Publication Pathways.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Teacher notes:</a:t>
            </a:r>
            <a:br/>
            <a:r>
              <a:t>Students often give valuable implementation feedback at the end. Collect this carefully; it can improve next year and support future STARLAB chapters.</a:t>
            </a:r>
            <a:br/>
            <a:br/>
            <a:r>
              <a:t>Resource alignment:</a:t>
            </a:r>
            <a:br/>
            <a:r>
              <a:t>Use with Unit 6 Student Handout 18: Course Feedback and Legacy Reflection and Unit 6 Appendix Q: Student Legacy Options.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Teacher notes:</a:t>
            </a:r>
            <a:br/>
            <a:r>
              <a:t>Use this as a teacher-facing checkpoint. It can remain visible to students so expectations are transparent.</a:t>
            </a:r>
            <a:br/>
            <a:br/>
            <a:r>
              <a:t>Resource alignment:</a:t>
            </a:r>
            <a:br/>
            <a:r>
              <a:t>Use with Unit 6 Appendix R: Unit 6 Teacher Checklist. Supporting materials: Unit 6 Student Handouts 14–18 as applicable.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Teacher notes:</a:t>
            </a:r>
            <a:br/>
            <a:r>
              <a:t>This short prompt can serve as the closing written response before celebration or portfolio submission. It returns students to the identity shift from Deck 1.</a:t>
            </a:r>
            <a:br/>
            <a:br/>
            <a:r>
              <a:t>Resource alignment:</a:t>
            </a:r>
            <a:br/>
            <a:r>
              <a:t>Use with Unit 6 Student Handout 15: Final Research Process Reflection and Student Handout 18: Course Feedback and Legacy Reflection.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Teacher notes:</a:t>
            </a:r>
            <a:br/>
            <a:r>
              <a:t>Close the course with a sense of accomplishment and continuity. This is the final deck in the STARLAB sequence. Encourage students to preserve their portfolio before files scatter or disappear.</a:t>
            </a:r>
            <a:br/>
            <a:br/>
            <a:r>
              <a:t>Resource alignment:</a:t>
            </a:r>
            <a:br/>
            <a:r>
              <a:t>Next deck connection: None. This is the final slide deck in the 19-deck STARLAB sequence. Use after Unit 6 Week 34 portfolio and reflection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d39db3e86034265" /></Relationships>
</file>

<file path=ppt/slideLayouts/slideLayout1.xml><?xml version="1.0" encoding="utf-8"?>
<p:sldLayout xmlns:p="http://schemas.openxmlformats.org/presentationml/2006/main" matchingName="DEFAULT">
  <p:cSld name="DEFAULT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5159dad3198451f" /><Relationship Type="http://schemas.openxmlformats.org/officeDocument/2006/relationships/slideLayout" Target="/ppt/slideLayouts/slideLayout1.xml" Id="R3bd7ea28b1564fc4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bd7ea28b1564fc4"/>
  </p:sldLayoutIdLst>
  <p:hf sldNum="0"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51b93a53a44eab" /><Relationship Type="http://schemas.openxmlformats.org/officeDocument/2006/relationships/image" Target="/ppt/media/image.png" Id="R79f429d7a0434c92" /><Relationship Type="http://schemas.openxmlformats.org/officeDocument/2006/relationships/notesSlide" Target="/ppt/notesSlides/notesSlide1.xml" Id="R9bf0d6c2b1c34a4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35741918cf42b0" /><Relationship Type="http://schemas.openxmlformats.org/officeDocument/2006/relationships/notesSlide" Target="/ppt/notesSlides/notesSlide2.xml" Id="R6c34eada871b473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26a49bcd5241d6" /><Relationship Type="http://schemas.openxmlformats.org/officeDocument/2006/relationships/notesSlide" Target="/ppt/notesSlides/notesSlide3.xml" Id="R58a11710acfa421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8e14fd84f34cd8" /><Relationship Type="http://schemas.openxmlformats.org/officeDocument/2006/relationships/notesSlide" Target="/ppt/notesSlides/notesSlide4.xml" Id="R002582df5fd84fd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2d6201574a4fa0" /><Relationship Type="http://schemas.openxmlformats.org/officeDocument/2006/relationships/notesSlide" Target="/ppt/notesSlides/notesSlide5.xml" Id="Rae9488f010f94c9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2d20e36a2f4fb9" /><Relationship Type="http://schemas.openxmlformats.org/officeDocument/2006/relationships/notesSlide" Target="/ppt/notesSlides/notesSlide6.xml" Id="Re6009caddb564ac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eff128ab3c4280" /><Relationship Type="http://schemas.openxmlformats.org/officeDocument/2006/relationships/notesSlide" Target="/ppt/notesSlides/notesSlide7.xml" Id="Ra49635df589c4fa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87594bd39041da" /><Relationship Type="http://schemas.openxmlformats.org/officeDocument/2006/relationships/notesSlide" Target="/ppt/notesSlides/notesSlide8.xml" Id="R7854d58c280644c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2f27f4623a47bd" /><Relationship Type="http://schemas.openxmlformats.org/officeDocument/2006/relationships/notesSlide" Target="/ppt/notesSlides/notesSlide9.xml" Id="R56340e7129d343f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7b278a6af34c3f" /><Relationship Type="http://schemas.openxmlformats.org/officeDocument/2006/relationships/notesSlide" Target="/ppt/notesSlides/notesSlide10.xml" Id="R223455b71a864ea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68046e43f54092" /><Relationship Type="http://schemas.openxmlformats.org/officeDocument/2006/relationships/notesSlide" Target="/ppt/notesSlides/notesSlide11.xml" Id="R7ce47ec66f20467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028f7c43a141aa" /><Relationship Type="http://schemas.openxmlformats.org/officeDocument/2006/relationships/notesSlide" Target="/ppt/notesSlides/notesSlide12.xml" Id="R1668cbd6187443e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029c5e15ff4635" /><Relationship Type="http://schemas.openxmlformats.org/officeDocument/2006/relationships/notesSlide" Target="/ppt/notesSlides/notesSlide13.xml" Id="Ra4a6a6a5d8e04ba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b9516ff0b348b9" /><Relationship Type="http://schemas.openxmlformats.org/officeDocument/2006/relationships/notesSlide" Target="/ppt/notesSlides/notesSlide14.xml" Id="Rc0ac96e9586542e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6c3e737c07435f" /><Relationship Type="http://schemas.openxmlformats.org/officeDocument/2006/relationships/notesSlide" Target="/ppt/notesSlides/notesSlide15.xml" Id="Re8d7c424b22b46f0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bb71e8851f473a" /><Relationship Type="http://schemas.openxmlformats.org/officeDocument/2006/relationships/notesSlide" Target="/ppt/notesSlides/notesSlide16.xml" Id="R0005174038fd4fbf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b34b84db84447c" /><Relationship Type="http://schemas.openxmlformats.org/officeDocument/2006/relationships/notesSlide" Target="/ppt/notesSlides/notesSlide17.xml" Id="Ra8d0939320c040a6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13f44a300d4559" /><Relationship Type="http://schemas.openxmlformats.org/officeDocument/2006/relationships/notesSlide" Target="/ppt/notesSlides/notesSlide18.xml" Id="R0fb21164d24546fd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9b9b210e5147e3" /><Relationship Type="http://schemas.openxmlformats.org/officeDocument/2006/relationships/notesSlide" Target="/ppt/notesSlides/notesSlide19.xml" Id="R858f28fca7e74b9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Google Shape;16;p3">
            <a:extLst xmlns:a="http://schemas.openxmlformats.org/drawingml/2006/main">
              <a:ext uri="{FF2B5EF4-FFF2-40B4-BE49-F238E27FC236}">
                <a16:creationId xmlns:a16="http://schemas.microsoft.com/office/drawing/2014/main" id="{3129C099-E222-483F-B09B-BF4903CDC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B0D"/>
          </a:solidFill>
          <a:ln xmlns:a="http://schemas.openxmlformats.org/drawingml/2006/main" w="12700" cmpd="sng">
            <a:solidFill>
              <a:srgbClr val="0B0B0D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7" name="Google Shape;17;p3">
            <a:extLst xmlns:a="http://schemas.openxmlformats.org/drawingml/2006/main">
              <a:ext uri="{FF2B5EF4-FFF2-40B4-BE49-F238E27FC236}">
                <a16:creationId xmlns:a16="http://schemas.microsoft.com/office/drawing/2014/main" id="{C236C1CB-CE86-4C62-9FDF-FA1A4AE15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28016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8" name="Google Shape;18;p3">
            <a:extLst xmlns:a="http://schemas.openxmlformats.org/drawingml/2006/main">
              <a:ext uri="{FF2B5EF4-FFF2-40B4-BE49-F238E27FC236}">
                <a16:creationId xmlns:a16="http://schemas.microsoft.com/office/drawing/2014/main" id="{8F53E693-8A51-4417-AD56-41F0F5C99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pic>
        <p:nvPicPr>
          <p:cNvPr id="27" name="Google Shape;19;p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9f429d7a0434c92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2057400" y="502920"/>
            <a:ext cx="8138160" cy="406908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20" name="Google Shape;20;p3">
            <a:extLst xmlns:a="http://schemas.openxmlformats.org/drawingml/2006/main">
              <a:ext uri="{FF2B5EF4-FFF2-40B4-BE49-F238E27FC236}">
                <a16:creationId xmlns:a16="http://schemas.microsoft.com/office/drawing/2014/main" id="{2BA276EF-F39D-4BEF-A637-6FF62BA3C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892040"/>
            <a:ext cx="10469880" cy="8412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B0D">
              <a:alpha val="0"/>
            </a:srgbClr>
          </a:solidFill>
          <a:ln xmlns:a="http://schemas.openxmlformats.org/drawingml/2006/main" w="12700" cmpd="sng">
            <a:solidFill>
              <a:srgbClr val="A8A8A8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1" name="Google Shape;21;p3">
            <a:extLst xmlns:a="http://schemas.openxmlformats.org/drawingml/2006/main">
              <a:ext uri="{FF2B5EF4-FFF2-40B4-BE49-F238E27FC236}">
                <a16:creationId xmlns:a16="http://schemas.microsoft.com/office/drawing/2014/main" id="{BF7CB087-3B75-4309-8D2D-4E79228BF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983480"/>
            <a:ext cx="102870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3000"/>
              <a:buFont typeface="Play"/>
              <a:buNone/>
            </a:pPr>
            <a:r>
              <a:rPr sz="3000" b="1" i="0" u="none" cap="none">
                <a:solidFill>
                  <a:srgbClr val="F4F4F4"/>
                </a:solidFill>
                <a:latin typeface="Play"/>
                <a:ea typeface="Play"/>
                <a:cs typeface="Play"/>
              </a:rPr>
              <a:t>FINAL REFLECTION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3000"/>
              <a:buFont typeface="Play"/>
              <a:buNone/>
            </a:pPr>
            <a:r>
              <a:rPr sz="3000" b="1" i="0" u="none" cap="none">
                <a:solidFill>
                  <a:srgbClr val="F4F4F4"/>
                </a:solidFill>
                <a:latin typeface="Play"/>
                <a:ea typeface="Play"/>
                <a:cs typeface="Play"/>
              </a:rPr>
              <a:t>&amp; RESEARCH PORTFOLIO</a:t>
            </a:r>
          </a:p>
        </p:txBody>
      </p:sp>
      <p:sp>
        <p:nvSpPr>
          <p:cNvPr id="22" name="Google Shape;22;p3">
            <a:extLst xmlns:a="http://schemas.openxmlformats.org/drawingml/2006/main">
              <a:ext uri="{FF2B5EF4-FFF2-40B4-BE49-F238E27FC236}">
                <a16:creationId xmlns:a16="http://schemas.microsoft.com/office/drawing/2014/main" id="{C8E7E766-1CCC-4FBC-BCC8-181221924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806440"/>
            <a:ext cx="658368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1250"/>
              <a:buFont typeface="Arial"/>
              <a:buNone/>
            </a:pPr>
            <a:r>
              <a:rPr sz="1250" b="0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STARLAB Deck 19  •  Unit 6 Course Closure</a:t>
            </a:r>
          </a:p>
        </p:txBody>
      </p:sp>
    </p:spTree>
    <p:extLst>
      <p:ext uri="{BB962C8B-B14F-4D97-AF65-F5344CB8AC3E}">
        <p14:creationId xmlns:p14="http://schemas.microsoft.com/office/powerpoint/2010/main" val="152156062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B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Google Shape;28;p4">
            <a:extLst xmlns:a="http://schemas.openxmlformats.org/drawingml/2006/main">
              <a:ext uri="{FF2B5EF4-FFF2-40B4-BE49-F238E27FC236}">
                <a16:creationId xmlns:a16="http://schemas.microsoft.com/office/drawing/2014/main" id="{3A5052D4-A1C5-43F1-8AC7-4A9B9F7DC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B0D"/>
          </a:solidFill>
          <a:ln xmlns:a="http://schemas.openxmlformats.org/drawingml/2006/main" w="12700" cmpd="sng">
            <a:solidFill>
              <a:srgbClr val="0B0B0D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9" name="Google Shape;29;p4">
            <a:extLst xmlns:a="http://schemas.openxmlformats.org/drawingml/2006/main">
              <a:ext uri="{FF2B5EF4-FFF2-40B4-BE49-F238E27FC236}">
                <a16:creationId xmlns:a16="http://schemas.microsoft.com/office/drawing/2014/main" id="{75271370-0B70-4D67-8253-B7F3D05A5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9728"/>
            <a:ext cx="12191695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0" name="Google Shape;30;p4">
            <a:extLst xmlns:a="http://schemas.openxmlformats.org/drawingml/2006/main">
              <a:ext uri="{FF2B5EF4-FFF2-40B4-BE49-F238E27FC236}">
                <a16:creationId xmlns:a16="http://schemas.microsoft.com/office/drawing/2014/main" id="{C3C9E91C-0C70-4F92-AA8C-17F19802A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75120"/>
            <a:ext cx="12191695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1" name="Google Shape;31;p4">
            <a:extLst xmlns:a="http://schemas.openxmlformats.org/drawingml/2006/main">
              <a:ext uri="{FF2B5EF4-FFF2-40B4-BE49-F238E27FC236}">
                <a16:creationId xmlns:a16="http://schemas.microsoft.com/office/drawing/2014/main" id="{CE2883CC-B958-4E08-A268-B1C9871E3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364224"/>
            <a:ext cx="301752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sz="950" b="1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COURSE CLOSURE</a:t>
            </a:r>
          </a:p>
        </p:txBody>
      </p:sp>
      <p:sp>
        <p:nvSpPr>
          <p:cNvPr id="32" name="Google Shape;32;p4">
            <a:extLst xmlns:a="http://schemas.openxmlformats.org/drawingml/2006/main">
              <a:ext uri="{FF2B5EF4-FFF2-40B4-BE49-F238E27FC236}">
                <a16:creationId xmlns:a16="http://schemas.microsoft.com/office/drawing/2014/main" id="{2507A4A6-B755-4225-8AD0-FA3ED21EC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5872" y="6364224"/>
            <a:ext cx="132588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sz="950" b="1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DECK 19</a:t>
            </a:r>
          </a:p>
        </p:txBody>
      </p:sp>
      <p:sp>
        <p:nvSpPr>
          <p:cNvPr id="33" name="Google Shape;33;p4">
            <a:extLst xmlns:a="http://schemas.openxmlformats.org/drawingml/2006/main">
              <a:ext uri="{FF2B5EF4-FFF2-40B4-BE49-F238E27FC236}">
                <a16:creationId xmlns:a16="http://schemas.microsoft.com/office/drawing/2014/main" id="{11460006-3583-4C58-A6F0-35861E928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02920"/>
            <a:ext cx="11064240" cy="5303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3000"/>
              <a:buFont typeface="Play"/>
              <a:buNone/>
            </a:pPr>
            <a:r>
              <a:rPr sz="3000" b="1" i="0" u="none" cap="none">
                <a:solidFill>
                  <a:srgbClr val="F4F4F4"/>
                </a:solidFill>
                <a:latin typeface="Play"/>
                <a:ea typeface="Play"/>
                <a:cs typeface="Play"/>
              </a:rPr>
              <a:t>Today’s Target</a:t>
            </a:r>
          </a:p>
        </p:txBody>
      </p:sp>
      <p:sp>
        <p:nvSpPr>
          <p:cNvPr id="34" name="Google Shape;34;p4">
            <a:extLst xmlns:a="http://schemas.openxmlformats.org/drawingml/2006/main">
              <a:ext uri="{FF2B5EF4-FFF2-40B4-BE49-F238E27FC236}">
                <a16:creationId xmlns:a16="http://schemas.microsoft.com/office/drawing/2014/main" id="{F70EAE92-F4CE-44AD-ACCC-EF13B43EC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61872"/>
            <a:ext cx="91440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5" name="Google Shape;35;p4">
            <a:extLst xmlns:a="http://schemas.openxmlformats.org/drawingml/2006/main">
              <a:ext uri="{FF2B5EF4-FFF2-40B4-BE49-F238E27FC236}">
                <a16:creationId xmlns:a16="http://schemas.microsoft.com/office/drawing/2014/main" id="{08ADD6C7-94B4-432A-9DEC-CE3756F20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280160"/>
            <a:ext cx="987552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1300"/>
              <a:buFont typeface="Arial"/>
              <a:buNone/>
            </a:pPr>
            <a:r>
              <a:rPr sz="1300" b="0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Students turn the research year into a record of growth.</a:t>
            </a:r>
          </a:p>
        </p:txBody>
      </p:sp>
      <p:sp>
        <p:nvSpPr>
          <p:cNvPr id="36" name="Google Shape;36;p4">
            <a:extLst xmlns:a="http://schemas.openxmlformats.org/drawingml/2006/main">
              <a:ext uri="{FF2B5EF4-FFF2-40B4-BE49-F238E27FC236}">
                <a16:creationId xmlns:a16="http://schemas.microsoft.com/office/drawing/2014/main" id="{9A8A7572-054E-4440-B856-E99E070FF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45920"/>
            <a:ext cx="512064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1800"/>
              <a:buFont typeface="Arial"/>
              <a:buNone/>
            </a:pPr>
            <a:r>
              <a:rPr sz="1800" b="1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By the end, students should be able to:</a:t>
            </a:r>
          </a:p>
        </p:txBody>
      </p:sp>
      <p:sp>
        <p:nvSpPr>
          <p:cNvPr id="37" name="Google Shape;37;p4">
            <a:extLst xmlns:a="http://schemas.openxmlformats.org/drawingml/2006/main">
              <a:ext uri="{FF2B5EF4-FFF2-40B4-BE49-F238E27FC236}">
                <a16:creationId xmlns:a16="http://schemas.microsoft.com/office/drawing/2014/main" id="{AE158866-4092-42D5-BED0-CA9F2C1DE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057400"/>
            <a:ext cx="5120640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3"/>
          </a:solidFill>
          <a:ln xmlns:a="http://schemas.openxmlformats.org/drawingml/2006/main" w="12700" cmpd="sng">
            <a:solidFill>
              <a:srgbClr val="5A5A5A">
                <a:alpha val="8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8" name="Google Shape;38;p4">
            <a:extLst xmlns:a="http://schemas.openxmlformats.org/drawingml/2006/main">
              <a:ext uri="{FF2B5EF4-FFF2-40B4-BE49-F238E27FC236}">
                <a16:creationId xmlns:a16="http://schemas.microsoft.com/office/drawing/2014/main" id="{75A81DD1-E4AA-4D1A-B6EB-A83402DCA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057400"/>
            <a:ext cx="64008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9" name="Google Shape;39;p4">
            <a:extLst xmlns:a="http://schemas.openxmlformats.org/drawingml/2006/main">
              <a:ext uri="{FF2B5EF4-FFF2-40B4-BE49-F238E27FC236}">
                <a16:creationId xmlns:a16="http://schemas.microsoft.com/office/drawing/2014/main" id="{48FAA19E-E3B7-4EC4-82FD-7C24FDADF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2194560"/>
            <a:ext cx="4800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REFLECT</a:t>
            </a:r>
          </a:p>
        </p:txBody>
      </p:sp>
      <p:sp>
        <p:nvSpPr>
          <p:cNvPr id="40" name="Google Shape;40;p4">
            <a:extLst xmlns:a="http://schemas.openxmlformats.org/drawingml/2006/main">
              <a:ext uri="{FF2B5EF4-FFF2-40B4-BE49-F238E27FC236}">
                <a16:creationId xmlns:a16="http://schemas.microsoft.com/office/drawing/2014/main" id="{A33383BD-709F-4A39-9A1C-541690DFB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2514600"/>
            <a:ext cx="4800600" cy="850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Explain how the project changed from initial idea to final presentation.</a:t>
            </a:r>
          </a:p>
        </p:txBody>
      </p:sp>
      <p:sp>
        <p:nvSpPr>
          <p:cNvPr id="41" name="Google Shape;41;p4">
            <a:extLst xmlns:a="http://schemas.openxmlformats.org/drawingml/2006/main">
              <a:ext uri="{FF2B5EF4-FFF2-40B4-BE49-F238E27FC236}">
                <a16:creationId xmlns:a16="http://schemas.microsoft.com/office/drawing/2014/main" id="{CBCB0081-4AA6-4827-B77A-81FBF9279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2057400"/>
            <a:ext cx="5120640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3"/>
          </a:solidFill>
          <a:ln xmlns:a="http://schemas.openxmlformats.org/drawingml/2006/main" w="12700" cmpd="sng">
            <a:solidFill>
              <a:srgbClr val="5A5A5A">
                <a:alpha val="8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2" name="Google Shape;42;p4">
            <a:extLst xmlns:a="http://schemas.openxmlformats.org/drawingml/2006/main">
              <a:ext uri="{FF2B5EF4-FFF2-40B4-BE49-F238E27FC236}">
                <a16:creationId xmlns:a16="http://schemas.microsoft.com/office/drawing/2014/main" id="{DFCDC8B8-D7B8-494C-9A9A-05AA58E4B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2057400"/>
            <a:ext cx="64008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3" name="Google Shape;43;p4">
            <a:extLst xmlns:a="http://schemas.openxmlformats.org/drawingml/2006/main">
              <a:ext uri="{FF2B5EF4-FFF2-40B4-BE49-F238E27FC236}">
                <a16:creationId xmlns:a16="http://schemas.microsoft.com/office/drawing/2014/main" id="{AD436B41-5696-4E89-AC9A-FE26377EF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4808" y="2194560"/>
            <a:ext cx="4800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DOCUMENT GROWTH</a:t>
            </a:r>
          </a:p>
        </p:txBody>
      </p:sp>
      <p:sp>
        <p:nvSpPr>
          <p:cNvPr id="44" name="Google Shape;44;p4">
            <a:extLst xmlns:a="http://schemas.openxmlformats.org/drawingml/2006/main">
              <a:ext uri="{FF2B5EF4-FFF2-40B4-BE49-F238E27FC236}">
                <a16:creationId xmlns:a16="http://schemas.microsoft.com/office/drawing/2014/main" id="{23195937-2AD9-49CC-9436-7928DFD1A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4808" y="2514600"/>
            <a:ext cx="4800600" cy="850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Identify research habits, skills, and mindsets that improved.</a:t>
            </a:r>
          </a:p>
        </p:txBody>
      </p:sp>
      <p:sp>
        <p:nvSpPr>
          <p:cNvPr id="45" name="Google Shape;45;p4">
            <a:extLst xmlns:a="http://schemas.openxmlformats.org/drawingml/2006/main">
              <a:ext uri="{FF2B5EF4-FFF2-40B4-BE49-F238E27FC236}">
                <a16:creationId xmlns:a16="http://schemas.microsoft.com/office/drawing/2014/main" id="{D9D31A80-4C61-4AE6-97DB-8C614C9E5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977640"/>
            <a:ext cx="5120640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3"/>
          </a:solidFill>
          <a:ln xmlns:a="http://schemas.openxmlformats.org/drawingml/2006/main" w="12700" cmpd="sng">
            <a:solidFill>
              <a:srgbClr val="5A5A5A">
                <a:alpha val="8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6" name="Google Shape;46;p4">
            <a:extLst xmlns:a="http://schemas.openxmlformats.org/drawingml/2006/main">
              <a:ext uri="{FF2B5EF4-FFF2-40B4-BE49-F238E27FC236}">
                <a16:creationId xmlns:a16="http://schemas.microsoft.com/office/drawing/2014/main" id="{34CDFF01-C796-4979-AAED-30B76285D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977640"/>
            <a:ext cx="64008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7" name="Google Shape;47;p4">
            <a:extLst xmlns:a="http://schemas.openxmlformats.org/drawingml/2006/main">
              <a:ext uri="{FF2B5EF4-FFF2-40B4-BE49-F238E27FC236}">
                <a16:creationId xmlns:a16="http://schemas.microsoft.com/office/drawing/2014/main" id="{1DCF47B7-6DA6-4D69-98AC-CD8E0F52E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4114800"/>
            <a:ext cx="4800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ASSEMBLE PORTFOLIO</a:t>
            </a:r>
          </a:p>
        </p:txBody>
      </p:sp>
      <p:sp>
        <p:nvSpPr>
          <p:cNvPr id="48" name="Google Shape;48;p4">
            <a:extLst xmlns:a="http://schemas.openxmlformats.org/drawingml/2006/main">
              <a:ext uri="{FF2B5EF4-FFF2-40B4-BE49-F238E27FC236}">
                <a16:creationId xmlns:a16="http://schemas.microsoft.com/office/drawing/2014/main" id="{DBB7B427-842E-44D8-98BD-1B133759C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4434840"/>
            <a:ext cx="4800600" cy="850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Collect artifacts that show both process and final product.</a:t>
            </a:r>
          </a:p>
        </p:txBody>
      </p:sp>
      <p:sp>
        <p:nvSpPr>
          <p:cNvPr id="49" name="Google Shape;49;p4">
            <a:extLst xmlns:a="http://schemas.openxmlformats.org/drawingml/2006/main">
              <a:ext uri="{FF2B5EF4-FFF2-40B4-BE49-F238E27FC236}">
                <a16:creationId xmlns:a16="http://schemas.microsoft.com/office/drawing/2014/main" id="{23C8A9A4-2992-4A7B-808E-3A6115928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3977640"/>
            <a:ext cx="5120640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3"/>
          </a:solidFill>
          <a:ln xmlns:a="http://schemas.openxmlformats.org/drawingml/2006/main" w="12700" cmpd="sng">
            <a:solidFill>
              <a:srgbClr val="5A5A5A">
                <a:alpha val="8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0" name="Google Shape;50;p4">
            <a:extLst xmlns:a="http://schemas.openxmlformats.org/drawingml/2006/main">
              <a:ext uri="{FF2B5EF4-FFF2-40B4-BE49-F238E27FC236}">
                <a16:creationId xmlns:a16="http://schemas.microsoft.com/office/drawing/2014/main" id="{B036723C-C067-43F6-9E44-029699E9C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3977640"/>
            <a:ext cx="64008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1" name="Google Shape;51;p4">
            <a:extLst xmlns:a="http://schemas.openxmlformats.org/drawingml/2006/main">
              <a:ext uri="{FF2B5EF4-FFF2-40B4-BE49-F238E27FC236}">
                <a16:creationId xmlns:a16="http://schemas.microsoft.com/office/drawing/2014/main" id="{FD33239D-143A-4449-9EA2-9158ED886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4808" y="4114800"/>
            <a:ext cx="4800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PLAN FORWARD</a:t>
            </a:r>
          </a:p>
        </p:txBody>
      </p:sp>
      <p:sp>
        <p:nvSpPr>
          <p:cNvPr id="52" name="Google Shape;52;p4">
            <a:extLst xmlns:a="http://schemas.openxmlformats.org/drawingml/2006/main">
              <a:ext uri="{FF2B5EF4-FFF2-40B4-BE49-F238E27FC236}">
                <a16:creationId xmlns:a16="http://schemas.microsoft.com/office/drawing/2014/main" id="{A34D90F3-7220-42C6-81EC-ECC05F31A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4808" y="4434840"/>
            <a:ext cx="4800600" cy="850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Decide whether the project ends here or continues beyond STARLAB.</a:t>
            </a:r>
          </a:p>
        </p:txBody>
      </p:sp>
    </p:spTree>
    <p:extLst>
      <p:ext uri="{BB962C8B-B14F-4D97-AF65-F5344CB8AC3E}">
        <p14:creationId xmlns:p14="http://schemas.microsoft.com/office/powerpoint/2010/main" val="63698977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8" name="Google Shape;58;p5">
            <a:extLst xmlns:a="http://schemas.openxmlformats.org/drawingml/2006/main">
              <a:ext uri="{FF2B5EF4-FFF2-40B4-BE49-F238E27FC236}">
                <a16:creationId xmlns:a16="http://schemas.microsoft.com/office/drawing/2014/main" id="{A815F6A0-E469-4C49-AB85-064E525A7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B0D"/>
          </a:solidFill>
          <a:ln xmlns:a="http://schemas.openxmlformats.org/drawingml/2006/main" w="12700" cmpd="sng">
            <a:solidFill>
              <a:srgbClr val="0B0B0D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9" name="Google Shape;59;p5">
            <a:extLst xmlns:a="http://schemas.openxmlformats.org/drawingml/2006/main">
              <a:ext uri="{FF2B5EF4-FFF2-40B4-BE49-F238E27FC236}">
                <a16:creationId xmlns:a16="http://schemas.microsoft.com/office/drawing/2014/main" id="{EAA267E5-3EDE-456F-A4FD-8694E6BDD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9728"/>
            <a:ext cx="12191695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60" name="Google Shape;60;p5">
            <a:extLst xmlns:a="http://schemas.openxmlformats.org/drawingml/2006/main">
              <a:ext uri="{FF2B5EF4-FFF2-40B4-BE49-F238E27FC236}">
                <a16:creationId xmlns:a16="http://schemas.microsoft.com/office/drawing/2014/main" id="{F836AA5B-DE86-4B7D-8946-ED535513B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75120"/>
            <a:ext cx="12191695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61" name="Google Shape;61;p5">
            <a:extLst xmlns:a="http://schemas.openxmlformats.org/drawingml/2006/main">
              <a:ext uri="{FF2B5EF4-FFF2-40B4-BE49-F238E27FC236}">
                <a16:creationId xmlns:a16="http://schemas.microsoft.com/office/drawing/2014/main" id="{CF9DDDC8-99D5-4D0E-BA6D-1D2232932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364224"/>
            <a:ext cx="301752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sz="950" b="1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REFLECTION</a:t>
            </a:r>
          </a:p>
        </p:txBody>
      </p:sp>
      <p:sp>
        <p:nvSpPr>
          <p:cNvPr id="62" name="Google Shape;62;p5">
            <a:extLst xmlns:a="http://schemas.openxmlformats.org/drawingml/2006/main">
              <a:ext uri="{FF2B5EF4-FFF2-40B4-BE49-F238E27FC236}">
                <a16:creationId xmlns:a16="http://schemas.microsoft.com/office/drawing/2014/main" id="{4C49C289-E4F3-4A6B-BFE5-06052FFD1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5872" y="6364224"/>
            <a:ext cx="132588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sz="950" b="1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DECK 19</a:t>
            </a:r>
          </a:p>
        </p:txBody>
      </p:sp>
      <p:sp>
        <p:nvSpPr>
          <p:cNvPr id="63" name="Google Shape;63;p5">
            <a:extLst xmlns:a="http://schemas.openxmlformats.org/drawingml/2006/main">
              <a:ext uri="{FF2B5EF4-FFF2-40B4-BE49-F238E27FC236}">
                <a16:creationId xmlns:a16="http://schemas.microsoft.com/office/drawing/2014/main" id="{FAFC3696-3A81-4CE3-9252-BF29C0AC0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02920"/>
            <a:ext cx="11064240" cy="5303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3000"/>
              <a:buFont typeface="Play"/>
              <a:buNone/>
            </a:pPr>
            <a:r>
              <a:rPr sz="3000" b="1" i="0" u="none" cap="none">
                <a:solidFill>
                  <a:srgbClr val="F4F4F4"/>
                </a:solidFill>
                <a:latin typeface="Play"/>
                <a:ea typeface="Play"/>
                <a:cs typeface="Play"/>
              </a:rPr>
              <a:t>The Final Product Is Not the Whole Story</a:t>
            </a:r>
          </a:p>
        </p:txBody>
      </p:sp>
      <p:sp>
        <p:nvSpPr>
          <p:cNvPr id="64" name="Google Shape;64;p5">
            <a:extLst xmlns:a="http://schemas.openxmlformats.org/drawingml/2006/main">
              <a:ext uri="{FF2B5EF4-FFF2-40B4-BE49-F238E27FC236}">
                <a16:creationId xmlns:a16="http://schemas.microsoft.com/office/drawing/2014/main" id="{09E35E6A-968F-41A6-937B-1EC3C0CD2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61872"/>
            <a:ext cx="91440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65" name="Google Shape;65;p5">
            <a:extLst xmlns:a="http://schemas.openxmlformats.org/drawingml/2006/main">
              <a:ext uri="{FF2B5EF4-FFF2-40B4-BE49-F238E27FC236}">
                <a16:creationId xmlns:a16="http://schemas.microsoft.com/office/drawing/2014/main" id="{F16B9077-F038-4C5C-8D19-A9C5F58B4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280160"/>
            <a:ext cx="987552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1300"/>
              <a:buFont typeface="Arial"/>
              <a:buNone/>
            </a:pPr>
            <a:r>
              <a:rPr sz="1300" b="0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STARLAB is built around process, evidence, and growth.</a:t>
            </a:r>
          </a:p>
        </p:txBody>
      </p:sp>
      <p:sp>
        <p:nvSpPr>
          <p:cNvPr id="66" name="Google Shape;66;p5">
            <a:extLst xmlns:a="http://schemas.openxmlformats.org/drawingml/2006/main">
              <a:ext uri="{FF2B5EF4-FFF2-40B4-BE49-F238E27FC236}">
                <a16:creationId xmlns:a16="http://schemas.microsoft.com/office/drawing/2014/main" id="{ACDE918F-4C70-437A-8A2A-EBB6924D4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66360" cy="3840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3"/>
          </a:solidFill>
          <a:ln xmlns:a="http://schemas.openxmlformats.org/drawingml/2006/main" w="12700" cmpd="sng">
            <a:solidFill>
              <a:srgbClr val="5A5A5A">
                <a:alpha val="8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67" name="Google Shape;67;p5">
            <a:extLst xmlns:a="http://schemas.openxmlformats.org/drawingml/2006/main">
              <a:ext uri="{FF2B5EF4-FFF2-40B4-BE49-F238E27FC236}">
                <a16:creationId xmlns:a16="http://schemas.microsoft.com/office/drawing/2014/main" id="{93BEF80A-7026-4336-BAAD-FD872800D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64008" cy="3840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68" name="Google Shape;68;p5">
            <a:extLst xmlns:a="http://schemas.openxmlformats.org/drawingml/2006/main">
              <a:ext uri="{FF2B5EF4-FFF2-40B4-BE49-F238E27FC236}">
                <a16:creationId xmlns:a16="http://schemas.microsoft.com/office/drawing/2014/main" id="{C567FF29-37E4-4D22-85F6-CA9EC6550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" y="1737360"/>
            <a:ext cx="484632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WHAT PEOPLE SEE</a:t>
            </a:r>
          </a:p>
        </p:txBody>
      </p:sp>
      <p:sp>
        <p:nvSpPr>
          <p:cNvPr id="69" name="Google Shape;69;p5">
            <a:extLst xmlns:a="http://schemas.openxmlformats.org/drawingml/2006/main">
              <a:ext uri="{FF2B5EF4-FFF2-40B4-BE49-F238E27FC236}">
                <a16:creationId xmlns:a16="http://schemas.microsoft.com/office/drawing/2014/main" id="{4F5D461A-5240-4EB0-8015-A8AF4B573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" y="2057400"/>
            <a:ext cx="4846320" cy="3273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• Final report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• Poster, board, or slides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• Graphs and visuals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• Oral presentation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• Showcase product</a:t>
            </a:r>
          </a:p>
        </p:txBody>
      </p:sp>
      <p:sp>
        <p:nvSpPr>
          <p:cNvPr id="70" name="Google Shape;70;p5">
            <a:extLst xmlns:a="http://schemas.openxmlformats.org/drawingml/2006/main">
              <a:ext uri="{FF2B5EF4-FFF2-40B4-BE49-F238E27FC236}">
                <a16:creationId xmlns:a16="http://schemas.microsoft.com/office/drawing/2014/main" id="{43ABB1D9-2AE3-4E8B-AAB9-50D410000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600200"/>
            <a:ext cx="5166360" cy="3840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3"/>
          </a:solidFill>
          <a:ln xmlns:a="http://schemas.openxmlformats.org/drawingml/2006/main" w="12700" cmpd="sng">
            <a:solidFill>
              <a:srgbClr val="5A5A5A">
                <a:alpha val="8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71" name="Google Shape;71;p5">
            <a:extLst xmlns:a="http://schemas.openxmlformats.org/drawingml/2006/main">
              <a:ext uri="{FF2B5EF4-FFF2-40B4-BE49-F238E27FC236}">
                <a16:creationId xmlns:a16="http://schemas.microsoft.com/office/drawing/2014/main" id="{022D6D8C-5F00-45DE-93F9-A2514FD39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600200"/>
            <a:ext cx="64008" cy="3840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72" name="Google Shape;72;p5">
            <a:extLst xmlns:a="http://schemas.openxmlformats.org/drawingml/2006/main">
              <a:ext uri="{FF2B5EF4-FFF2-40B4-BE49-F238E27FC236}">
                <a16:creationId xmlns:a16="http://schemas.microsoft.com/office/drawing/2014/main" id="{CBDD0469-2B38-4A02-9EEE-4E79DD646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1737360"/>
            <a:ext cx="484632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WHAT RESEARCHERS KNOW</a:t>
            </a:r>
          </a:p>
        </p:txBody>
      </p:sp>
      <p:sp>
        <p:nvSpPr>
          <p:cNvPr id="73" name="Google Shape;73;p5">
            <a:extLst xmlns:a="http://schemas.openxmlformats.org/drawingml/2006/main">
              <a:ext uri="{FF2B5EF4-FFF2-40B4-BE49-F238E27FC236}">
                <a16:creationId xmlns:a16="http://schemas.microsoft.com/office/drawing/2014/main" id="{0AB08B96-5803-4AD7-8B78-9ED8DA191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2057400"/>
            <a:ext cx="4846320" cy="3273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• Early confusion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• Failed pilots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• Method revisions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• Data problems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• Feedback, pivots, and persistence</a:t>
            </a:r>
          </a:p>
        </p:txBody>
      </p:sp>
    </p:spTree>
    <p:extLst>
      <p:ext uri="{BB962C8B-B14F-4D97-AF65-F5344CB8AC3E}">
        <p14:creationId xmlns:p14="http://schemas.microsoft.com/office/powerpoint/2010/main" val="124982180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B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9" name="Google Shape;79;p6">
            <a:extLst xmlns:a="http://schemas.openxmlformats.org/drawingml/2006/main">
              <a:ext uri="{FF2B5EF4-FFF2-40B4-BE49-F238E27FC236}">
                <a16:creationId xmlns:a16="http://schemas.microsoft.com/office/drawing/2014/main" id="{B41FC4ED-C0AB-4869-B209-AFD2EFB6F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B0D"/>
          </a:solidFill>
          <a:ln xmlns:a="http://schemas.openxmlformats.org/drawingml/2006/main" w="12700" cmpd="sng">
            <a:solidFill>
              <a:srgbClr val="0B0B0D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80" name="Google Shape;80;p6">
            <a:extLst xmlns:a="http://schemas.openxmlformats.org/drawingml/2006/main">
              <a:ext uri="{FF2B5EF4-FFF2-40B4-BE49-F238E27FC236}">
                <a16:creationId xmlns:a16="http://schemas.microsoft.com/office/drawing/2014/main" id="{DFAF3705-01E4-4774-85ED-241F27C2F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9728"/>
            <a:ext cx="12191695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81" name="Google Shape;81;p6">
            <a:extLst xmlns:a="http://schemas.openxmlformats.org/drawingml/2006/main">
              <a:ext uri="{FF2B5EF4-FFF2-40B4-BE49-F238E27FC236}">
                <a16:creationId xmlns:a16="http://schemas.microsoft.com/office/drawing/2014/main" id="{AA606D4B-FFF6-41FF-A912-A222C44BE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75120"/>
            <a:ext cx="12191695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82" name="Google Shape;82;p6">
            <a:extLst xmlns:a="http://schemas.openxmlformats.org/drawingml/2006/main">
              <a:ext uri="{FF2B5EF4-FFF2-40B4-BE49-F238E27FC236}">
                <a16:creationId xmlns:a16="http://schemas.microsoft.com/office/drawing/2014/main" id="{D4F2459C-CE4F-428D-974C-F7D888694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364224"/>
            <a:ext cx="301752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sz="950" b="1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REFLECTION</a:t>
            </a:r>
          </a:p>
        </p:txBody>
      </p:sp>
      <p:sp>
        <p:nvSpPr>
          <p:cNvPr id="83" name="Google Shape;83;p6">
            <a:extLst xmlns:a="http://schemas.openxmlformats.org/drawingml/2006/main">
              <a:ext uri="{FF2B5EF4-FFF2-40B4-BE49-F238E27FC236}">
                <a16:creationId xmlns:a16="http://schemas.microsoft.com/office/drawing/2014/main" id="{BBF1BCE0-38DC-4BE6-8F73-ABE5AC87A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5872" y="6364224"/>
            <a:ext cx="132588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sz="950" b="1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DECK 19</a:t>
            </a:r>
          </a:p>
        </p:txBody>
      </p:sp>
      <p:sp>
        <p:nvSpPr>
          <p:cNvPr id="84" name="Google Shape;84;p6">
            <a:extLst xmlns:a="http://schemas.openxmlformats.org/drawingml/2006/main">
              <a:ext uri="{FF2B5EF4-FFF2-40B4-BE49-F238E27FC236}">
                <a16:creationId xmlns:a16="http://schemas.microsoft.com/office/drawing/2014/main" id="{F5185296-E959-46E7-AA52-FB5B63244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02920"/>
            <a:ext cx="11064240" cy="5303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3000"/>
              <a:buFont typeface="Play"/>
              <a:buNone/>
            </a:pPr>
            <a:r>
              <a:rPr sz="3000" b="1" i="0" u="none" cap="none">
                <a:solidFill>
                  <a:srgbClr val="F4F4F4"/>
                </a:solidFill>
                <a:latin typeface="Play"/>
                <a:ea typeface="Play"/>
                <a:cs typeface="Play"/>
              </a:rPr>
              <a:t>Reflection Is Evidence of Learning</a:t>
            </a:r>
          </a:p>
        </p:txBody>
      </p:sp>
      <p:sp>
        <p:nvSpPr>
          <p:cNvPr id="85" name="Google Shape;85;p6">
            <a:extLst xmlns:a="http://schemas.openxmlformats.org/drawingml/2006/main">
              <a:ext uri="{FF2B5EF4-FFF2-40B4-BE49-F238E27FC236}">
                <a16:creationId xmlns:a16="http://schemas.microsoft.com/office/drawing/2014/main" id="{E432A604-A5C2-438A-8480-A341D9F28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61872"/>
            <a:ext cx="91440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86" name="Google Shape;86;p6">
            <a:extLst xmlns:a="http://schemas.openxmlformats.org/drawingml/2006/main">
              <a:ext uri="{FF2B5EF4-FFF2-40B4-BE49-F238E27FC236}">
                <a16:creationId xmlns:a16="http://schemas.microsoft.com/office/drawing/2014/main" id="{D443148E-7E4D-4AA8-9E06-57D3C654E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280160"/>
            <a:ext cx="987552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1300"/>
              <a:buFont typeface="Arial"/>
              <a:buNone/>
            </a:pPr>
            <a:r>
              <a:rPr sz="1300" b="0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The goal is not to say “I learned a lot.” The goal is to prove it.</a:t>
            </a:r>
          </a:p>
        </p:txBody>
      </p:sp>
      <p:sp>
        <p:nvSpPr>
          <p:cNvPr id="87" name="Google Shape;87;p6">
            <a:extLst xmlns:a="http://schemas.openxmlformats.org/drawingml/2006/main">
              <a:ext uri="{FF2B5EF4-FFF2-40B4-BE49-F238E27FC236}">
                <a16:creationId xmlns:a16="http://schemas.microsoft.com/office/drawing/2014/main" id="{04C01A7A-B8AA-4333-8213-75C687DC6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057400"/>
            <a:ext cx="5120640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3"/>
          </a:solidFill>
          <a:ln xmlns:a="http://schemas.openxmlformats.org/drawingml/2006/main" w="12700" cmpd="sng">
            <a:solidFill>
              <a:srgbClr val="5A5A5A">
                <a:alpha val="8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88" name="Google Shape;88;p6">
            <a:extLst xmlns:a="http://schemas.openxmlformats.org/drawingml/2006/main">
              <a:ext uri="{FF2B5EF4-FFF2-40B4-BE49-F238E27FC236}">
                <a16:creationId xmlns:a16="http://schemas.microsoft.com/office/drawing/2014/main" id="{7EC5150A-DC9B-470F-8AB5-78828AA40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057400"/>
            <a:ext cx="64008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89" name="Google Shape;89;p6">
            <a:extLst xmlns:a="http://schemas.openxmlformats.org/drawingml/2006/main">
              <a:ext uri="{FF2B5EF4-FFF2-40B4-BE49-F238E27FC236}">
                <a16:creationId xmlns:a16="http://schemas.microsoft.com/office/drawing/2014/main" id="{79137833-63E1-4D8F-9F43-1DCD761CB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2194560"/>
            <a:ext cx="4800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SPECIFIC</a:t>
            </a:r>
          </a:p>
        </p:txBody>
      </p:sp>
      <p:sp>
        <p:nvSpPr>
          <p:cNvPr id="90" name="Google Shape;90;p6">
            <a:extLst xmlns:a="http://schemas.openxmlformats.org/drawingml/2006/main">
              <a:ext uri="{FF2B5EF4-FFF2-40B4-BE49-F238E27FC236}">
                <a16:creationId xmlns:a16="http://schemas.microsoft.com/office/drawing/2014/main" id="{B7F0BD1C-80F6-4B59-98BD-F67C77056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2514600"/>
            <a:ext cx="4800600" cy="850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Name a real decision, failure, revision, or breakthrough.</a:t>
            </a:r>
          </a:p>
        </p:txBody>
      </p:sp>
      <p:sp>
        <p:nvSpPr>
          <p:cNvPr id="91" name="Google Shape;91;p6">
            <a:extLst xmlns:a="http://schemas.openxmlformats.org/drawingml/2006/main">
              <a:ext uri="{FF2B5EF4-FFF2-40B4-BE49-F238E27FC236}">
                <a16:creationId xmlns:a16="http://schemas.microsoft.com/office/drawing/2014/main" id="{E2B4E86D-FDD0-499A-A993-2A03AB572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2057400"/>
            <a:ext cx="5120640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3"/>
          </a:solidFill>
          <a:ln xmlns:a="http://schemas.openxmlformats.org/drawingml/2006/main" w="12700" cmpd="sng">
            <a:solidFill>
              <a:srgbClr val="5A5A5A">
                <a:alpha val="8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92" name="Google Shape;92;p6">
            <a:extLst xmlns:a="http://schemas.openxmlformats.org/drawingml/2006/main">
              <a:ext uri="{FF2B5EF4-FFF2-40B4-BE49-F238E27FC236}">
                <a16:creationId xmlns:a16="http://schemas.microsoft.com/office/drawing/2014/main" id="{6D547786-2640-4740-BDA2-AE3ED6617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2057400"/>
            <a:ext cx="64008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93" name="Google Shape;93;p6">
            <a:extLst xmlns:a="http://schemas.openxmlformats.org/drawingml/2006/main">
              <a:ext uri="{FF2B5EF4-FFF2-40B4-BE49-F238E27FC236}">
                <a16:creationId xmlns:a16="http://schemas.microsoft.com/office/drawing/2014/main" id="{9806F1A1-8A98-443C-87AF-04A6CF933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4808" y="2194560"/>
            <a:ext cx="4800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EVIDENCE-BASED</a:t>
            </a:r>
          </a:p>
        </p:txBody>
      </p:sp>
      <p:sp>
        <p:nvSpPr>
          <p:cNvPr id="94" name="Google Shape;94;p6">
            <a:extLst xmlns:a="http://schemas.openxmlformats.org/drawingml/2006/main">
              <a:ext uri="{FF2B5EF4-FFF2-40B4-BE49-F238E27FC236}">
                <a16:creationId xmlns:a16="http://schemas.microsoft.com/office/drawing/2014/main" id="{198EA270-4B32-4AFB-8C49-0F0298DFA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4808" y="2514600"/>
            <a:ext cx="4800600" cy="850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Point to an artifact: data table, journal entry, draft, photo, feedback, or graph.</a:t>
            </a:r>
          </a:p>
        </p:txBody>
      </p:sp>
      <p:sp>
        <p:nvSpPr>
          <p:cNvPr id="95" name="Google Shape;95;p6">
            <a:extLst xmlns:a="http://schemas.openxmlformats.org/drawingml/2006/main">
              <a:ext uri="{FF2B5EF4-FFF2-40B4-BE49-F238E27FC236}">
                <a16:creationId xmlns:a16="http://schemas.microsoft.com/office/drawing/2014/main" id="{0041167E-C421-4451-824D-42D91737B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977640"/>
            <a:ext cx="5120640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3"/>
          </a:solidFill>
          <a:ln xmlns:a="http://schemas.openxmlformats.org/drawingml/2006/main" w="12700" cmpd="sng">
            <a:solidFill>
              <a:srgbClr val="5A5A5A">
                <a:alpha val="8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96" name="Google Shape;96;p6">
            <a:extLst xmlns:a="http://schemas.openxmlformats.org/drawingml/2006/main">
              <a:ext uri="{FF2B5EF4-FFF2-40B4-BE49-F238E27FC236}">
                <a16:creationId xmlns:a16="http://schemas.microsoft.com/office/drawing/2014/main" id="{B9ACD2F0-005D-420B-9F43-C7BD815F0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977640"/>
            <a:ext cx="64008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97" name="Google Shape;97;p6">
            <a:extLst xmlns:a="http://schemas.openxmlformats.org/drawingml/2006/main">
              <a:ext uri="{FF2B5EF4-FFF2-40B4-BE49-F238E27FC236}">
                <a16:creationId xmlns:a16="http://schemas.microsoft.com/office/drawing/2014/main" id="{BF261DBC-FAA3-46DD-9F09-9473FB39F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4114800"/>
            <a:ext cx="4800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HONEST</a:t>
            </a:r>
          </a:p>
        </p:txBody>
      </p:sp>
      <p:sp>
        <p:nvSpPr>
          <p:cNvPr id="98" name="Google Shape;98;p6">
            <a:extLst xmlns:a="http://schemas.openxmlformats.org/drawingml/2006/main">
              <a:ext uri="{FF2B5EF4-FFF2-40B4-BE49-F238E27FC236}">
                <a16:creationId xmlns:a16="http://schemas.microsoft.com/office/drawing/2014/main" id="{1B666894-D9E9-4768-9F18-EAABE8F24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4434840"/>
            <a:ext cx="4800600" cy="850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Include what did not work and what remained unresolved.</a:t>
            </a:r>
          </a:p>
        </p:txBody>
      </p:sp>
      <p:sp>
        <p:nvSpPr>
          <p:cNvPr id="99" name="Google Shape;99;p6">
            <a:extLst xmlns:a="http://schemas.openxmlformats.org/drawingml/2006/main">
              <a:ext uri="{FF2B5EF4-FFF2-40B4-BE49-F238E27FC236}">
                <a16:creationId xmlns:a16="http://schemas.microsoft.com/office/drawing/2014/main" id="{A5B177A9-7A65-4068-82BE-5550A4568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3977640"/>
            <a:ext cx="5120640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3"/>
          </a:solidFill>
          <a:ln xmlns:a="http://schemas.openxmlformats.org/drawingml/2006/main" w="12700" cmpd="sng">
            <a:solidFill>
              <a:srgbClr val="5A5A5A">
                <a:alpha val="8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00" name="Google Shape;100;p6">
            <a:extLst xmlns:a="http://schemas.openxmlformats.org/drawingml/2006/main">
              <a:ext uri="{FF2B5EF4-FFF2-40B4-BE49-F238E27FC236}">
                <a16:creationId xmlns:a16="http://schemas.microsoft.com/office/drawing/2014/main" id="{5B10611C-D650-4162-AD2A-B7BF34523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3977640"/>
            <a:ext cx="64008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01" name="Google Shape;101;p6">
            <a:extLst xmlns:a="http://schemas.openxmlformats.org/drawingml/2006/main">
              <a:ext uri="{FF2B5EF4-FFF2-40B4-BE49-F238E27FC236}">
                <a16:creationId xmlns:a16="http://schemas.microsoft.com/office/drawing/2014/main" id="{8AD99B0F-B04F-4B13-9203-AA70EFDAF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4808" y="4114800"/>
            <a:ext cx="4800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FORWARD-LOOKING</a:t>
            </a:r>
          </a:p>
        </p:txBody>
      </p:sp>
      <p:sp>
        <p:nvSpPr>
          <p:cNvPr id="102" name="Google Shape;102;p6">
            <a:extLst xmlns:a="http://schemas.openxmlformats.org/drawingml/2006/main">
              <a:ext uri="{FF2B5EF4-FFF2-40B4-BE49-F238E27FC236}">
                <a16:creationId xmlns:a16="http://schemas.microsoft.com/office/drawing/2014/main" id="{D52DED86-2CA4-4D0B-B321-57420D616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4808" y="4434840"/>
            <a:ext cx="4800600" cy="850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Explain what you would do differently or continue next.</a:t>
            </a:r>
          </a:p>
        </p:txBody>
      </p:sp>
    </p:spTree>
    <p:extLst>
      <p:ext uri="{BB962C8B-B14F-4D97-AF65-F5344CB8AC3E}">
        <p14:creationId xmlns:p14="http://schemas.microsoft.com/office/powerpoint/2010/main" val="14945991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8" name="Google Shape;108;p7">
            <a:extLst xmlns:a="http://schemas.openxmlformats.org/drawingml/2006/main">
              <a:ext uri="{FF2B5EF4-FFF2-40B4-BE49-F238E27FC236}">
                <a16:creationId xmlns:a16="http://schemas.microsoft.com/office/drawing/2014/main" id="{D793BBB0-6FD8-41D5-AB31-7C239A015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B0D"/>
          </a:solidFill>
          <a:ln xmlns:a="http://schemas.openxmlformats.org/drawingml/2006/main" w="12700" cmpd="sng">
            <a:solidFill>
              <a:srgbClr val="0B0B0D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09" name="Google Shape;109;p7">
            <a:extLst xmlns:a="http://schemas.openxmlformats.org/drawingml/2006/main">
              <a:ext uri="{FF2B5EF4-FFF2-40B4-BE49-F238E27FC236}">
                <a16:creationId xmlns:a16="http://schemas.microsoft.com/office/drawing/2014/main" id="{8E1ED64B-ABA6-49F7-9B92-ACD55E6BD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9728"/>
            <a:ext cx="12191695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10" name="Google Shape;110;p7">
            <a:extLst xmlns:a="http://schemas.openxmlformats.org/drawingml/2006/main">
              <a:ext uri="{FF2B5EF4-FFF2-40B4-BE49-F238E27FC236}">
                <a16:creationId xmlns:a16="http://schemas.microsoft.com/office/drawing/2014/main" id="{59420783-C469-4235-A6CF-605B89935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75120"/>
            <a:ext cx="12191695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11" name="Google Shape;111;p7">
            <a:extLst xmlns:a="http://schemas.openxmlformats.org/drawingml/2006/main">
              <a:ext uri="{FF2B5EF4-FFF2-40B4-BE49-F238E27FC236}">
                <a16:creationId xmlns:a16="http://schemas.microsoft.com/office/drawing/2014/main" id="{102EEEC5-8403-4809-AB00-F67B4E2C3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364224"/>
            <a:ext cx="301752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sz="950" b="1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RESEARCH ARC</a:t>
            </a:r>
          </a:p>
        </p:txBody>
      </p:sp>
      <p:sp>
        <p:nvSpPr>
          <p:cNvPr id="112" name="Google Shape;112;p7">
            <a:extLst xmlns:a="http://schemas.openxmlformats.org/drawingml/2006/main">
              <a:ext uri="{FF2B5EF4-FFF2-40B4-BE49-F238E27FC236}">
                <a16:creationId xmlns:a16="http://schemas.microsoft.com/office/drawing/2014/main" id="{B2CB3AA5-23F6-4C1E-8754-AF56953BD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5872" y="6364224"/>
            <a:ext cx="132588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sz="950" b="1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DECK 19</a:t>
            </a:r>
          </a:p>
        </p:txBody>
      </p:sp>
      <p:sp>
        <p:nvSpPr>
          <p:cNvPr id="113" name="Google Shape;113;p7">
            <a:extLst xmlns:a="http://schemas.openxmlformats.org/drawingml/2006/main">
              <a:ext uri="{FF2B5EF4-FFF2-40B4-BE49-F238E27FC236}">
                <a16:creationId xmlns:a16="http://schemas.microsoft.com/office/drawing/2014/main" id="{B781068A-78E8-4F07-8D27-1FC7001A7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02920"/>
            <a:ext cx="11064240" cy="5303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3000"/>
              <a:buFont typeface="Play"/>
              <a:buNone/>
            </a:pPr>
            <a:r>
              <a:rPr sz="3000" b="1" i="0" u="none" cap="none">
                <a:solidFill>
                  <a:srgbClr val="F4F4F4"/>
                </a:solidFill>
                <a:latin typeface="Play"/>
                <a:ea typeface="Play"/>
                <a:cs typeface="Play"/>
              </a:rPr>
              <a:t>Look Back Across the Whole Arc</a:t>
            </a:r>
          </a:p>
        </p:txBody>
      </p:sp>
      <p:sp>
        <p:nvSpPr>
          <p:cNvPr id="114" name="Google Shape;114;p7">
            <a:extLst xmlns:a="http://schemas.openxmlformats.org/drawingml/2006/main">
              <a:ext uri="{FF2B5EF4-FFF2-40B4-BE49-F238E27FC236}">
                <a16:creationId xmlns:a16="http://schemas.microsoft.com/office/drawing/2014/main" id="{F79A7BA6-8E34-4CD1-9C53-BE7F764D9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61872"/>
            <a:ext cx="91440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15" name="Google Shape;115;p7">
            <a:extLst xmlns:a="http://schemas.openxmlformats.org/drawingml/2006/main">
              <a:ext uri="{FF2B5EF4-FFF2-40B4-BE49-F238E27FC236}">
                <a16:creationId xmlns:a16="http://schemas.microsoft.com/office/drawing/2014/main" id="{377E9D84-A9F5-4ED4-AAC0-489878DA8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280160"/>
            <a:ext cx="987552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1300"/>
              <a:buFont typeface="Arial"/>
              <a:buNone/>
            </a:pPr>
            <a:r>
              <a:rPr sz="1300" b="0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Students should see the year as a sequence of decisions, not a single assignment.</a:t>
            </a:r>
          </a:p>
        </p:txBody>
      </p:sp>
      <p:sp>
        <p:nvSpPr>
          <p:cNvPr id="116" name="Google Shape;116;p7">
            <a:extLst xmlns:a="http://schemas.openxmlformats.org/drawingml/2006/main">
              <a:ext uri="{FF2B5EF4-FFF2-40B4-BE49-F238E27FC236}">
                <a16:creationId xmlns:a16="http://schemas.microsoft.com/office/drawing/2014/main" id="{72E5BEF4-4344-4A59-846B-1A6049BC1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645920"/>
            <a:ext cx="1060704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2000"/>
              <a:buFont typeface="Arial"/>
              <a:buNone/>
            </a:pPr>
            <a:r>
              <a:rPr sz="2000" b="1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STARLAB moved through a full research cycle:</a:t>
            </a:r>
          </a:p>
        </p:txBody>
      </p:sp>
      <p:sp>
        <p:nvSpPr>
          <p:cNvPr id="117" name="Google Shape;117;p7">
            <a:extLst xmlns:a="http://schemas.openxmlformats.org/drawingml/2006/main">
              <a:ext uri="{FF2B5EF4-FFF2-40B4-BE49-F238E27FC236}">
                <a16:creationId xmlns:a16="http://schemas.microsoft.com/office/drawing/2014/main" id="{9DFEFDA8-3D0B-4A2B-94A9-2F7FC3F53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246120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3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18" name="Google Shape;118;p7">
            <a:extLst xmlns:a="http://schemas.openxmlformats.org/drawingml/2006/main">
              <a:ext uri="{FF2B5EF4-FFF2-40B4-BE49-F238E27FC236}">
                <a16:creationId xmlns:a16="http://schemas.microsoft.com/office/drawing/2014/main" id="{E519E865-64DC-4CDB-B3EB-D51176DD0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374136"/>
            <a:ext cx="566928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ctr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300"/>
              <a:buFont typeface="Arial"/>
              <a:buNone/>
            </a:pPr>
            <a:r>
              <a:rPr sz="1300" b="1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19" name="Google Shape;119;p7">
            <a:extLst xmlns:a="http://schemas.openxmlformats.org/drawingml/2006/main">
              <a:ext uri="{FF2B5EF4-FFF2-40B4-BE49-F238E27FC236}">
                <a16:creationId xmlns:a16="http://schemas.microsoft.com/office/drawing/2014/main" id="{FEB7DA49-322B-4F2D-905C-9DC936BC6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" y="3995928"/>
            <a:ext cx="1261872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ctr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1050"/>
              <a:buFont typeface="Arial"/>
              <a:buNone/>
            </a:pPr>
            <a:r>
              <a:rPr sz="1050" b="0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Question</a:t>
            </a:r>
          </a:p>
        </p:txBody>
      </p:sp>
      <p:cxnSp>
        <p:nvCxnSpPr>
          <p:cNvPr id="198" name="Google Shape;120;p7"/>
          <p:cNvCxnSpPr/>
          <p:nvPr/>
        </p:nvCxnSpPr>
        <p:spPr>
          <a:xfrm xmlns:a="http://schemas.openxmlformats.org/drawingml/2006/main">
            <a:off x="1435608" y="3529584"/>
            <a:ext cx="850392" cy="0"/>
          </a:xfrm>
          <a:prstGeom xmlns:a="http://schemas.openxmlformats.org/drawingml/2006/main" prst="straightConnector1">
            <a:avLst/>
          </a:prstGeom>
          <a:ln xmlns:a="http://schemas.openxmlformats.org/drawingml/2006/main" w="12700" cap="flat">
            <a:solidFill>
              <a:srgbClr val="5A5A5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21" name="Google Shape;121;p7">
            <a:extLst xmlns:a="http://schemas.openxmlformats.org/drawingml/2006/main">
              <a:ext uri="{FF2B5EF4-FFF2-40B4-BE49-F238E27FC236}">
                <a16:creationId xmlns:a16="http://schemas.microsoft.com/office/drawing/2014/main" id="{0A1C2C72-53E7-4A1F-8FE4-1300B5DBE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246120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3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22" name="Google Shape;122;p7">
            <a:extLst xmlns:a="http://schemas.openxmlformats.org/drawingml/2006/main">
              <a:ext uri="{FF2B5EF4-FFF2-40B4-BE49-F238E27FC236}">
                <a16:creationId xmlns:a16="http://schemas.microsoft.com/office/drawing/2014/main" id="{1F04000D-6636-4CFC-9BFB-96D8EC2E4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374136"/>
            <a:ext cx="566928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ctr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300"/>
              <a:buFont typeface="Arial"/>
              <a:buNone/>
            </a:pPr>
            <a:r>
              <a:rPr sz="1300" b="1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3" name="Google Shape;123;p7">
            <a:extLst xmlns:a="http://schemas.openxmlformats.org/drawingml/2006/main">
              <a:ext uri="{FF2B5EF4-FFF2-40B4-BE49-F238E27FC236}">
                <a16:creationId xmlns:a16="http://schemas.microsoft.com/office/drawing/2014/main" id="{E0B0552C-6EE5-429D-AEBB-B2FBA563C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3995928"/>
            <a:ext cx="1261872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ctr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1050"/>
              <a:buFont typeface="Arial"/>
              <a:buNone/>
            </a:pPr>
            <a:r>
              <a:rPr sz="1050" b="0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Plan</a:t>
            </a:r>
          </a:p>
        </p:txBody>
      </p:sp>
      <p:cxnSp>
        <p:nvCxnSpPr>
          <p:cNvPr id="202" name="Google Shape;124;p7"/>
          <p:cNvCxnSpPr/>
          <p:nvPr/>
        </p:nvCxnSpPr>
        <p:spPr>
          <a:xfrm xmlns:a="http://schemas.openxmlformats.org/drawingml/2006/main">
            <a:off x="2852928" y="3529584"/>
            <a:ext cx="850392" cy="0"/>
          </a:xfrm>
          <a:prstGeom xmlns:a="http://schemas.openxmlformats.org/drawingml/2006/main" prst="straightConnector1">
            <a:avLst/>
          </a:prstGeom>
          <a:ln xmlns:a="http://schemas.openxmlformats.org/drawingml/2006/main" w="12700" cap="flat">
            <a:solidFill>
              <a:srgbClr val="5A5A5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25" name="Google Shape;125;p7">
            <a:extLst xmlns:a="http://schemas.openxmlformats.org/drawingml/2006/main">
              <a:ext uri="{FF2B5EF4-FFF2-40B4-BE49-F238E27FC236}">
                <a16:creationId xmlns:a16="http://schemas.microsoft.com/office/drawing/2014/main" id="{6F854893-C28E-4131-AD51-843F7A41E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3320" y="3246120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3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26" name="Google Shape;126;p7">
            <a:extLst xmlns:a="http://schemas.openxmlformats.org/drawingml/2006/main">
              <a:ext uri="{FF2B5EF4-FFF2-40B4-BE49-F238E27FC236}">
                <a16:creationId xmlns:a16="http://schemas.microsoft.com/office/drawing/2014/main" id="{0D344370-C3A1-47C1-A0B4-8BB250C69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3320" y="3374136"/>
            <a:ext cx="566928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ctr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300"/>
              <a:buFont typeface="Arial"/>
              <a:buNone/>
            </a:pPr>
            <a:r>
              <a:rPr sz="1300" b="1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27" name="Google Shape;127;p7">
            <a:extLst xmlns:a="http://schemas.openxmlformats.org/drawingml/2006/main">
              <a:ext uri="{FF2B5EF4-FFF2-40B4-BE49-F238E27FC236}">
                <a16:creationId xmlns:a16="http://schemas.microsoft.com/office/drawing/2014/main" id="{2D812F13-D66F-4D8E-8760-F3E0C6834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5848" y="3995928"/>
            <a:ext cx="1261872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ctr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1050"/>
              <a:buFont typeface="Arial"/>
              <a:buNone/>
            </a:pPr>
            <a:r>
              <a:rPr sz="1050" b="0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Pilot</a:t>
            </a:r>
          </a:p>
        </p:txBody>
      </p:sp>
      <p:cxnSp>
        <p:nvCxnSpPr>
          <p:cNvPr id="206" name="Google Shape;128;p7"/>
          <p:cNvCxnSpPr/>
          <p:nvPr/>
        </p:nvCxnSpPr>
        <p:spPr>
          <a:xfrm xmlns:a="http://schemas.openxmlformats.org/drawingml/2006/main">
            <a:off x="4270248" y="3529584"/>
            <a:ext cx="850392" cy="0"/>
          </a:xfrm>
          <a:prstGeom xmlns:a="http://schemas.openxmlformats.org/drawingml/2006/main" prst="straightConnector1">
            <a:avLst/>
          </a:prstGeom>
          <a:ln xmlns:a="http://schemas.openxmlformats.org/drawingml/2006/main" w="12700" cap="flat">
            <a:solidFill>
              <a:srgbClr val="5A5A5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29" name="Google Shape;129;p7">
            <a:extLst xmlns:a="http://schemas.openxmlformats.org/drawingml/2006/main">
              <a:ext uri="{FF2B5EF4-FFF2-40B4-BE49-F238E27FC236}">
                <a16:creationId xmlns:a16="http://schemas.microsoft.com/office/drawing/2014/main" id="{7EBE1234-4A40-441E-816C-211E2CC04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3246120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3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30" name="Google Shape;130;p7">
            <a:extLst xmlns:a="http://schemas.openxmlformats.org/drawingml/2006/main">
              <a:ext uri="{FF2B5EF4-FFF2-40B4-BE49-F238E27FC236}">
                <a16:creationId xmlns:a16="http://schemas.microsoft.com/office/drawing/2014/main" id="{CCDFEAB8-BF7E-4891-9C3E-8F43C151A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3374136"/>
            <a:ext cx="566928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ctr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300"/>
              <a:buFont typeface="Arial"/>
              <a:buNone/>
            </a:pPr>
            <a:r>
              <a:rPr sz="1300" b="1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31" name="Google Shape;131;p7">
            <a:extLst xmlns:a="http://schemas.openxmlformats.org/drawingml/2006/main">
              <a:ext uri="{FF2B5EF4-FFF2-40B4-BE49-F238E27FC236}">
                <a16:creationId xmlns:a16="http://schemas.microsoft.com/office/drawing/2014/main" id="{2D544164-C168-4C1F-87A7-1FF15A563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3168" y="3995928"/>
            <a:ext cx="1261872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ctr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1050"/>
              <a:buFont typeface="Arial"/>
              <a:buNone/>
            </a:pPr>
            <a:r>
              <a:rPr sz="1050" b="0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Collect</a:t>
            </a:r>
          </a:p>
        </p:txBody>
      </p:sp>
      <p:cxnSp>
        <p:nvCxnSpPr>
          <p:cNvPr id="210" name="Google Shape;132;p7"/>
          <p:cNvCxnSpPr/>
          <p:nvPr/>
        </p:nvCxnSpPr>
        <p:spPr>
          <a:xfrm xmlns:a="http://schemas.openxmlformats.org/drawingml/2006/main">
            <a:off x="5687568" y="3529584"/>
            <a:ext cx="850392" cy="0"/>
          </a:xfrm>
          <a:prstGeom xmlns:a="http://schemas.openxmlformats.org/drawingml/2006/main" prst="straightConnector1">
            <a:avLst/>
          </a:prstGeom>
          <a:ln xmlns:a="http://schemas.openxmlformats.org/drawingml/2006/main" w="12700" cap="flat">
            <a:solidFill>
              <a:srgbClr val="5A5A5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33" name="Google Shape;133;p7">
            <a:extLst xmlns:a="http://schemas.openxmlformats.org/drawingml/2006/main">
              <a:ext uri="{FF2B5EF4-FFF2-40B4-BE49-F238E27FC236}">
                <a16:creationId xmlns:a16="http://schemas.microsoft.com/office/drawing/2014/main" id="{ECF0CAA3-EF9F-4983-8602-278B892E9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246120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3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34" name="Google Shape;134;p7">
            <a:extLst xmlns:a="http://schemas.openxmlformats.org/drawingml/2006/main">
              <a:ext uri="{FF2B5EF4-FFF2-40B4-BE49-F238E27FC236}">
                <a16:creationId xmlns:a16="http://schemas.microsoft.com/office/drawing/2014/main" id="{FE54975A-5CC3-4D43-9954-DBC46B079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374136"/>
            <a:ext cx="566928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ctr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300"/>
              <a:buFont typeface="Arial"/>
              <a:buNone/>
            </a:pPr>
            <a:r>
              <a:rPr sz="1300" b="1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35" name="Google Shape;135;p7">
            <a:extLst xmlns:a="http://schemas.openxmlformats.org/drawingml/2006/main">
              <a:ext uri="{FF2B5EF4-FFF2-40B4-BE49-F238E27FC236}">
                <a16:creationId xmlns:a16="http://schemas.microsoft.com/office/drawing/2014/main" id="{8729E52A-6D2F-4386-8826-E0C2E3ECB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0488" y="3995928"/>
            <a:ext cx="1261872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ctr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1050"/>
              <a:buFont typeface="Arial"/>
              <a:buNone/>
            </a:pPr>
            <a:r>
              <a:rPr sz="1050" b="0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Analyze</a:t>
            </a:r>
          </a:p>
        </p:txBody>
      </p:sp>
      <p:cxnSp>
        <p:nvCxnSpPr>
          <p:cNvPr id="214" name="Google Shape;136;p7"/>
          <p:cNvCxnSpPr/>
          <p:nvPr/>
        </p:nvCxnSpPr>
        <p:spPr>
          <a:xfrm xmlns:a="http://schemas.openxmlformats.org/drawingml/2006/main">
            <a:off x="7104888" y="3529584"/>
            <a:ext cx="850392" cy="0"/>
          </a:xfrm>
          <a:prstGeom xmlns:a="http://schemas.openxmlformats.org/drawingml/2006/main" prst="straightConnector1">
            <a:avLst/>
          </a:prstGeom>
          <a:ln xmlns:a="http://schemas.openxmlformats.org/drawingml/2006/main" w="12700" cap="flat">
            <a:solidFill>
              <a:srgbClr val="5A5A5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37" name="Google Shape;137;p7">
            <a:extLst xmlns:a="http://schemas.openxmlformats.org/drawingml/2006/main">
              <a:ext uri="{FF2B5EF4-FFF2-40B4-BE49-F238E27FC236}">
                <a16:creationId xmlns:a16="http://schemas.microsoft.com/office/drawing/2014/main" id="{7E83A668-8359-42E0-BA28-CCE31DD7D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3246120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3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38" name="Google Shape;138;p7">
            <a:extLst xmlns:a="http://schemas.openxmlformats.org/drawingml/2006/main">
              <a:ext uri="{FF2B5EF4-FFF2-40B4-BE49-F238E27FC236}">
                <a16:creationId xmlns:a16="http://schemas.microsoft.com/office/drawing/2014/main" id="{E85649AD-BEDF-4497-8A3C-335AC1BE0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3374136"/>
            <a:ext cx="566928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ctr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300"/>
              <a:buFont typeface="Arial"/>
              <a:buNone/>
            </a:pPr>
            <a:r>
              <a:rPr sz="1300" b="1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39" name="Google Shape;139;p7">
            <a:extLst xmlns:a="http://schemas.openxmlformats.org/drawingml/2006/main">
              <a:ext uri="{FF2B5EF4-FFF2-40B4-BE49-F238E27FC236}">
                <a16:creationId xmlns:a16="http://schemas.microsoft.com/office/drawing/2014/main" id="{AA25204E-89FB-4A7C-9C82-AACA82DE6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7808" y="3995928"/>
            <a:ext cx="1261872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ctr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1050"/>
              <a:buFont typeface="Arial"/>
              <a:buNone/>
            </a:pPr>
            <a:r>
              <a:rPr sz="1050" b="0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Report</a:t>
            </a:r>
          </a:p>
        </p:txBody>
      </p:sp>
      <p:cxnSp>
        <p:nvCxnSpPr>
          <p:cNvPr id="218" name="Google Shape;140;p7"/>
          <p:cNvCxnSpPr/>
          <p:nvPr/>
        </p:nvCxnSpPr>
        <p:spPr>
          <a:xfrm xmlns:a="http://schemas.openxmlformats.org/drawingml/2006/main">
            <a:off x="8522208" y="3529584"/>
            <a:ext cx="850392" cy="0"/>
          </a:xfrm>
          <a:prstGeom xmlns:a="http://schemas.openxmlformats.org/drawingml/2006/main" prst="straightConnector1">
            <a:avLst/>
          </a:prstGeom>
          <a:ln xmlns:a="http://schemas.openxmlformats.org/drawingml/2006/main" w="12700" cap="flat">
            <a:solidFill>
              <a:srgbClr val="5A5A5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41" name="Google Shape;141;p7">
            <a:extLst xmlns:a="http://schemas.openxmlformats.org/drawingml/2006/main">
              <a:ext uri="{FF2B5EF4-FFF2-40B4-BE49-F238E27FC236}">
                <a16:creationId xmlns:a16="http://schemas.microsoft.com/office/drawing/2014/main" id="{57EFC388-3C45-4107-BD47-53BE9174F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246120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3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42" name="Google Shape;142;p7">
            <a:extLst xmlns:a="http://schemas.openxmlformats.org/drawingml/2006/main">
              <a:ext uri="{FF2B5EF4-FFF2-40B4-BE49-F238E27FC236}">
                <a16:creationId xmlns:a16="http://schemas.microsoft.com/office/drawing/2014/main" id="{0A7418B5-8B90-4943-897F-91B686D0C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374136"/>
            <a:ext cx="566928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ctr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300"/>
              <a:buFont typeface="Arial"/>
              <a:buNone/>
            </a:pPr>
            <a:r>
              <a:rPr sz="1300" b="1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143" name="Google Shape;143;p7">
            <a:extLst xmlns:a="http://schemas.openxmlformats.org/drawingml/2006/main">
              <a:ext uri="{FF2B5EF4-FFF2-40B4-BE49-F238E27FC236}">
                <a16:creationId xmlns:a16="http://schemas.microsoft.com/office/drawing/2014/main" id="{94954E31-20AD-49CD-AAE8-5CA2BC807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5128" y="3995928"/>
            <a:ext cx="1261872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ctr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1050"/>
              <a:buFont typeface="Arial"/>
              <a:buNone/>
            </a:pPr>
            <a:r>
              <a:rPr sz="1050" b="0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Present</a:t>
            </a:r>
          </a:p>
        </p:txBody>
      </p:sp>
      <p:cxnSp>
        <p:nvCxnSpPr>
          <p:cNvPr id="222" name="Google Shape;144;p7"/>
          <p:cNvCxnSpPr/>
          <p:nvPr/>
        </p:nvCxnSpPr>
        <p:spPr>
          <a:xfrm xmlns:a="http://schemas.openxmlformats.org/drawingml/2006/main">
            <a:off x="9939528" y="3529584"/>
            <a:ext cx="850392" cy="0"/>
          </a:xfrm>
          <a:prstGeom xmlns:a="http://schemas.openxmlformats.org/drawingml/2006/main" prst="straightConnector1">
            <a:avLst/>
          </a:prstGeom>
          <a:ln xmlns:a="http://schemas.openxmlformats.org/drawingml/2006/main" w="12700" cap="flat">
            <a:solidFill>
              <a:srgbClr val="5A5A5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45" name="Google Shape;145;p7">
            <a:extLst xmlns:a="http://schemas.openxmlformats.org/drawingml/2006/main">
              <a:ext uri="{FF2B5EF4-FFF2-40B4-BE49-F238E27FC236}">
                <a16:creationId xmlns:a16="http://schemas.microsoft.com/office/drawing/2014/main" id="{653D4FE9-7E0F-49C4-AB73-3644FCFEE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0" y="3246120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46" name="Google Shape;146;p7">
            <a:extLst xmlns:a="http://schemas.openxmlformats.org/drawingml/2006/main">
              <a:ext uri="{FF2B5EF4-FFF2-40B4-BE49-F238E27FC236}">
                <a16:creationId xmlns:a16="http://schemas.microsoft.com/office/drawing/2014/main" id="{9BA35BAE-0004-433C-A7D6-73AFFA154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0" y="3374136"/>
            <a:ext cx="566928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ctr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300"/>
              <a:buFont typeface="Arial"/>
              <a:buNone/>
            </a:pPr>
            <a:r>
              <a:rPr sz="1300" b="1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147" name="Google Shape;147;p7">
            <a:extLst xmlns:a="http://schemas.openxmlformats.org/drawingml/2006/main">
              <a:ext uri="{FF2B5EF4-FFF2-40B4-BE49-F238E27FC236}">
                <a16:creationId xmlns:a16="http://schemas.microsoft.com/office/drawing/2014/main" id="{EE3057A9-7F04-437E-8718-DC14BE8F9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2448" y="3995928"/>
            <a:ext cx="1261872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ctr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1050"/>
              <a:buFont typeface="Arial"/>
              <a:buNone/>
            </a:pPr>
            <a:r>
              <a:rPr sz="1050" b="0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Reflect</a:t>
            </a:r>
          </a:p>
        </p:txBody>
      </p:sp>
      <p:sp>
        <p:nvSpPr>
          <p:cNvPr id="148" name="Google Shape;148;p7">
            <a:extLst xmlns:a="http://schemas.openxmlformats.org/drawingml/2006/main">
              <a:ext uri="{FF2B5EF4-FFF2-40B4-BE49-F238E27FC236}">
                <a16:creationId xmlns:a16="http://schemas.microsoft.com/office/drawing/2014/main" id="{776240BC-436F-439D-A646-CBAFAE96C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166360"/>
            <a:ext cx="1051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200"/>
              <a:buFont typeface="Arial"/>
              <a:buNone/>
            </a:pPr>
            <a:r>
              <a:rPr sz="2200" b="1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Reflection asks: Where did the project change, and what did those changes teach you?</a:t>
            </a:r>
          </a:p>
        </p:txBody>
      </p:sp>
    </p:spTree>
    <p:extLst>
      <p:ext uri="{BB962C8B-B14F-4D97-AF65-F5344CB8AC3E}">
        <p14:creationId xmlns:p14="http://schemas.microsoft.com/office/powerpoint/2010/main" val="214203813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B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4" name="Google Shape;154;p8">
            <a:extLst xmlns:a="http://schemas.openxmlformats.org/drawingml/2006/main">
              <a:ext uri="{FF2B5EF4-FFF2-40B4-BE49-F238E27FC236}">
                <a16:creationId xmlns:a16="http://schemas.microsoft.com/office/drawing/2014/main" id="{DED185C6-8CD7-48C0-BB06-FFF5EDCD5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B0D"/>
          </a:solidFill>
          <a:ln xmlns:a="http://schemas.openxmlformats.org/drawingml/2006/main" w="12700" cmpd="sng">
            <a:solidFill>
              <a:srgbClr val="0B0B0D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55" name="Google Shape;155;p8">
            <a:extLst xmlns:a="http://schemas.openxmlformats.org/drawingml/2006/main">
              <a:ext uri="{FF2B5EF4-FFF2-40B4-BE49-F238E27FC236}">
                <a16:creationId xmlns:a16="http://schemas.microsoft.com/office/drawing/2014/main" id="{B4BE2A75-BF3D-44FE-87EF-973D74AA3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9728"/>
            <a:ext cx="12191695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56" name="Google Shape;156;p8">
            <a:extLst xmlns:a="http://schemas.openxmlformats.org/drawingml/2006/main">
              <a:ext uri="{FF2B5EF4-FFF2-40B4-BE49-F238E27FC236}">
                <a16:creationId xmlns:a16="http://schemas.microsoft.com/office/drawing/2014/main" id="{7E2D8269-431B-476F-B7D1-E3339B3D6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75120"/>
            <a:ext cx="12191695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57" name="Google Shape;157;p8">
            <a:extLst xmlns:a="http://schemas.openxmlformats.org/drawingml/2006/main">
              <a:ext uri="{FF2B5EF4-FFF2-40B4-BE49-F238E27FC236}">
                <a16:creationId xmlns:a16="http://schemas.microsoft.com/office/drawing/2014/main" id="{E3711A86-C068-4686-BA4F-B9D4CA604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364224"/>
            <a:ext cx="301752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sz="950" b="1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STUDENT ACTIVITY</a:t>
            </a:r>
          </a:p>
        </p:txBody>
      </p:sp>
      <p:sp>
        <p:nvSpPr>
          <p:cNvPr id="158" name="Google Shape;158;p8">
            <a:extLst xmlns:a="http://schemas.openxmlformats.org/drawingml/2006/main">
              <a:ext uri="{FF2B5EF4-FFF2-40B4-BE49-F238E27FC236}">
                <a16:creationId xmlns:a16="http://schemas.microsoft.com/office/drawing/2014/main" id="{E06A1B09-89CD-46B0-93E1-E2D66B89C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5872" y="6364224"/>
            <a:ext cx="132588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sz="950" b="1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DECK 19</a:t>
            </a:r>
          </a:p>
        </p:txBody>
      </p:sp>
      <p:sp>
        <p:nvSpPr>
          <p:cNvPr id="159" name="Google Shape;159;p8">
            <a:extLst xmlns:a="http://schemas.openxmlformats.org/drawingml/2006/main">
              <a:ext uri="{FF2B5EF4-FFF2-40B4-BE49-F238E27FC236}">
                <a16:creationId xmlns:a16="http://schemas.microsoft.com/office/drawing/2014/main" id="{F7DBDFEE-AF3F-4CBB-90A6-1484EF127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02920"/>
            <a:ext cx="11064240" cy="5303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3000"/>
              <a:buFont typeface="Play"/>
              <a:buNone/>
            </a:pPr>
            <a:r>
              <a:rPr sz="3000" b="1" i="0" u="none" cap="none">
                <a:solidFill>
                  <a:srgbClr val="F4F4F4"/>
                </a:solidFill>
                <a:latin typeface="Play"/>
                <a:ea typeface="Play"/>
                <a:cs typeface="Play"/>
              </a:rPr>
              <a:t>Activity: Research Timeline Reconstruction</a:t>
            </a:r>
          </a:p>
        </p:txBody>
      </p:sp>
      <p:sp>
        <p:nvSpPr>
          <p:cNvPr id="160" name="Google Shape;160;p8">
            <a:extLst xmlns:a="http://schemas.openxmlformats.org/drawingml/2006/main">
              <a:ext uri="{FF2B5EF4-FFF2-40B4-BE49-F238E27FC236}">
                <a16:creationId xmlns:a16="http://schemas.microsoft.com/office/drawing/2014/main" id="{EAB6910A-2E25-4708-87A1-CF9AAA113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61872"/>
            <a:ext cx="91440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61" name="Google Shape;161;p8">
            <a:extLst xmlns:a="http://schemas.openxmlformats.org/drawingml/2006/main">
              <a:ext uri="{FF2B5EF4-FFF2-40B4-BE49-F238E27FC236}">
                <a16:creationId xmlns:a16="http://schemas.microsoft.com/office/drawing/2014/main" id="{839A7CCC-6305-49AC-B4F9-892A09394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280160"/>
            <a:ext cx="987552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1300"/>
              <a:buFont typeface="Arial"/>
              <a:buNone/>
            </a:pPr>
            <a:r>
              <a:rPr sz="1300" b="0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Students rebuild the story of how their project changed.</a:t>
            </a:r>
          </a:p>
        </p:txBody>
      </p:sp>
      <p:sp>
        <p:nvSpPr>
          <p:cNvPr id="162" name="Google Shape;162;p8">
            <a:extLst xmlns:a="http://schemas.openxmlformats.org/drawingml/2006/main">
              <a:ext uri="{FF2B5EF4-FFF2-40B4-BE49-F238E27FC236}">
                <a16:creationId xmlns:a16="http://schemas.microsoft.com/office/drawing/2014/main" id="{C8667640-A0E2-48EE-99F3-C7E83525C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755648"/>
            <a:ext cx="214884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200"/>
              <a:buFont typeface="Arial"/>
              <a:buNone/>
            </a:pPr>
            <a:r>
              <a:rPr sz="12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STUDENT ACTIVITY</a:t>
            </a:r>
          </a:p>
        </p:txBody>
      </p:sp>
      <p:sp>
        <p:nvSpPr>
          <p:cNvPr id="163" name="Google Shape;163;p8">
            <a:extLst xmlns:a="http://schemas.openxmlformats.org/drawingml/2006/main">
              <a:ext uri="{FF2B5EF4-FFF2-40B4-BE49-F238E27FC236}">
                <a16:creationId xmlns:a16="http://schemas.microsoft.com/office/drawing/2014/main" id="{11A932ED-B91F-46D7-9A4B-43CAD572D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057400"/>
            <a:ext cx="704088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600"/>
              <a:buFont typeface="Arial"/>
              <a:buNone/>
            </a:pPr>
            <a:r>
              <a:rPr sz="2600" b="1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From First Idea to Final Claim</a:t>
            </a:r>
          </a:p>
        </p:txBody>
      </p:sp>
      <p:sp>
        <p:nvSpPr>
          <p:cNvPr id="164" name="Google Shape;164;p8">
            <a:extLst xmlns:a="http://schemas.openxmlformats.org/drawingml/2006/main">
              <a:ext uri="{FF2B5EF4-FFF2-40B4-BE49-F238E27FC236}">
                <a16:creationId xmlns:a16="http://schemas.microsoft.com/office/drawing/2014/main" id="{4FA95728-E9B0-447C-A21E-5DFC95266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760" y="2084832"/>
            <a:ext cx="1828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600"/>
              <a:buFont typeface="Arial"/>
              <a:buNone/>
            </a:pPr>
            <a:r>
              <a:rPr sz="16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12 MINUTES</a:t>
            </a:r>
          </a:p>
        </p:txBody>
      </p:sp>
      <p:cxnSp>
        <p:nvCxnSpPr>
          <p:cNvPr id="190" name="Google Shape;165;p8"/>
          <p:cNvCxnSpPr/>
          <p:nvPr/>
        </p:nvCxnSpPr>
        <p:spPr>
          <a:xfrm xmlns:a="http://schemas.openxmlformats.org/drawingml/2006/main">
            <a:off x="640080" y="2706624"/>
            <a:ext cx="10881360" cy="0"/>
          </a:xfrm>
          <a:prstGeom xmlns:a="http://schemas.openxmlformats.org/drawingml/2006/main" prst="straightConnector1">
            <a:avLst/>
          </a:prstGeom>
          <a:ln xmlns:a="http://schemas.openxmlformats.org/drawingml/2006/main" w="12700" cap="flat">
            <a:solidFill>
              <a:srgbClr val="5A5A5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66" name="Google Shape;166;p8">
            <a:extLst xmlns:a="http://schemas.openxmlformats.org/drawingml/2006/main">
              <a:ext uri="{FF2B5EF4-FFF2-40B4-BE49-F238E27FC236}">
                <a16:creationId xmlns:a16="http://schemas.microsoft.com/office/drawing/2014/main" id="{10223C33-9E4B-4AAF-A937-3FD2F5425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990088"/>
            <a:ext cx="10515600" cy="2560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75" tIns="375" rIns="375" bIns="375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100"/>
              <a:buFont typeface="Arial"/>
              <a:buNone/>
            </a:pPr>
            <a:r>
              <a:rPr sz="21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In your reflection handout, list five turning points from your project: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t/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100"/>
              <a:buFont typeface="Arial"/>
              <a:buNone/>
            </a:pPr>
            <a:r>
              <a:rPr sz="21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• original idea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100"/>
              <a:buFont typeface="Arial"/>
              <a:buNone/>
            </a:pPr>
            <a:r>
              <a:rPr sz="21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• major revision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100"/>
              <a:buFont typeface="Arial"/>
              <a:buNone/>
            </a:pPr>
            <a:r>
              <a:rPr sz="21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• failed test or obstacle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100"/>
              <a:buFont typeface="Arial"/>
              <a:buNone/>
            </a:pPr>
            <a:r>
              <a:rPr sz="21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• important feedback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100"/>
              <a:buFont typeface="Arial"/>
              <a:buNone/>
            </a:pPr>
            <a:r>
              <a:rPr sz="21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• final claim, product, or presentation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t/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100"/>
              <a:buFont typeface="Arial"/>
              <a:buNone/>
            </a:pPr>
            <a:r>
              <a:rPr sz="21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For each one, write what changed and why.</a:t>
            </a:r>
          </a:p>
        </p:txBody>
      </p:sp>
    </p:spTree>
    <p:extLst>
      <p:ext uri="{BB962C8B-B14F-4D97-AF65-F5344CB8AC3E}">
        <p14:creationId xmlns:p14="http://schemas.microsoft.com/office/powerpoint/2010/main" val="149527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2" name="Google Shape;172;p9">
            <a:extLst xmlns:a="http://schemas.openxmlformats.org/drawingml/2006/main">
              <a:ext uri="{FF2B5EF4-FFF2-40B4-BE49-F238E27FC236}">
                <a16:creationId xmlns:a16="http://schemas.microsoft.com/office/drawing/2014/main" id="{36FB155E-2783-4713-AF39-B6B5FE0CA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B0D"/>
          </a:solidFill>
          <a:ln xmlns:a="http://schemas.openxmlformats.org/drawingml/2006/main" w="12700" cmpd="sng">
            <a:solidFill>
              <a:srgbClr val="0B0B0D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73" name="Google Shape;173;p9">
            <a:extLst xmlns:a="http://schemas.openxmlformats.org/drawingml/2006/main">
              <a:ext uri="{FF2B5EF4-FFF2-40B4-BE49-F238E27FC236}">
                <a16:creationId xmlns:a16="http://schemas.microsoft.com/office/drawing/2014/main" id="{182C3474-E871-4D0F-94AC-9B031ACB8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9728"/>
            <a:ext cx="12191695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74" name="Google Shape;174;p9">
            <a:extLst xmlns:a="http://schemas.openxmlformats.org/drawingml/2006/main">
              <a:ext uri="{FF2B5EF4-FFF2-40B4-BE49-F238E27FC236}">
                <a16:creationId xmlns:a16="http://schemas.microsoft.com/office/drawing/2014/main" id="{C55EC9F8-5FAE-4888-92BB-5E38679F7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75120"/>
            <a:ext cx="12191695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75" name="Google Shape;175;p9">
            <a:extLst xmlns:a="http://schemas.openxmlformats.org/drawingml/2006/main">
              <a:ext uri="{FF2B5EF4-FFF2-40B4-BE49-F238E27FC236}">
                <a16:creationId xmlns:a16="http://schemas.microsoft.com/office/drawing/2014/main" id="{715C48E7-088A-4C68-A41E-36CE15075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364224"/>
            <a:ext cx="301752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sz="950" b="1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REFLECTION</a:t>
            </a:r>
          </a:p>
        </p:txBody>
      </p:sp>
      <p:sp>
        <p:nvSpPr>
          <p:cNvPr id="176" name="Google Shape;176;p9">
            <a:extLst xmlns:a="http://schemas.openxmlformats.org/drawingml/2006/main">
              <a:ext uri="{FF2B5EF4-FFF2-40B4-BE49-F238E27FC236}">
                <a16:creationId xmlns:a16="http://schemas.microsoft.com/office/drawing/2014/main" id="{3DBFBDBD-20A1-4F1E-A16D-EC570186E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5872" y="6364224"/>
            <a:ext cx="132588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sz="950" b="1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DECK 19</a:t>
            </a:r>
          </a:p>
        </p:txBody>
      </p:sp>
      <p:sp>
        <p:nvSpPr>
          <p:cNvPr id="177" name="Google Shape;177;p9">
            <a:extLst xmlns:a="http://schemas.openxmlformats.org/drawingml/2006/main">
              <a:ext uri="{FF2B5EF4-FFF2-40B4-BE49-F238E27FC236}">
                <a16:creationId xmlns:a16="http://schemas.microsoft.com/office/drawing/2014/main" id="{FAA78341-F4BF-4173-9B42-4BE1C7053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02920"/>
            <a:ext cx="11064240" cy="5303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3000"/>
              <a:buFont typeface="Play"/>
              <a:buNone/>
            </a:pPr>
            <a:r>
              <a:rPr sz="3000" b="1" i="0" u="none" cap="none">
                <a:solidFill>
                  <a:srgbClr val="F4F4F4"/>
                </a:solidFill>
                <a:latin typeface="Play"/>
                <a:ea typeface="Play"/>
                <a:cs typeface="Play"/>
              </a:rPr>
              <a:t>Failure Belongs in the Final Story</a:t>
            </a:r>
          </a:p>
        </p:txBody>
      </p:sp>
      <p:sp>
        <p:nvSpPr>
          <p:cNvPr id="178" name="Google Shape;178;p9">
            <a:extLst xmlns:a="http://schemas.openxmlformats.org/drawingml/2006/main">
              <a:ext uri="{FF2B5EF4-FFF2-40B4-BE49-F238E27FC236}">
                <a16:creationId xmlns:a16="http://schemas.microsoft.com/office/drawing/2014/main" id="{226F7DAE-D805-4FAB-BE5E-B8D79BAEC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61872"/>
            <a:ext cx="91440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79" name="Google Shape;179;p9">
            <a:extLst xmlns:a="http://schemas.openxmlformats.org/drawingml/2006/main">
              <a:ext uri="{FF2B5EF4-FFF2-40B4-BE49-F238E27FC236}">
                <a16:creationId xmlns:a16="http://schemas.microsoft.com/office/drawing/2014/main" id="{AA7C25C7-4536-4C4A-A78D-2BEE2A994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280160"/>
            <a:ext cx="987552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1300"/>
              <a:buFont typeface="Arial"/>
              <a:buNone/>
            </a:pPr>
            <a:r>
              <a:rPr sz="1300" b="0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A project that changed direction may be more authentic, not less.</a:t>
            </a:r>
          </a:p>
        </p:txBody>
      </p:sp>
      <p:sp>
        <p:nvSpPr>
          <p:cNvPr id="180" name="Google Shape;180;p9">
            <a:extLst xmlns:a="http://schemas.openxmlformats.org/drawingml/2006/main">
              <a:ext uri="{FF2B5EF4-FFF2-40B4-BE49-F238E27FC236}">
                <a16:creationId xmlns:a16="http://schemas.microsoft.com/office/drawing/2014/main" id="{8C6E1F30-738D-485C-B829-DE141C016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66360" cy="3840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3"/>
          </a:solidFill>
          <a:ln xmlns:a="http://schemas.openxmlformats.org/drawingml/2006/main" w="12700" cmpd="sng">
            <a:solidFill>
              <a:srgbClr val="5A5A5A">
                <a:alpha val="8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81" name="Google Shape;181;p9">
            <a:extLst xmlns:a="http://schemas.openxmlformats.org/drawingml/2006/main">
              <a:ext uri="{FF2B5EF4-FFF2-40B4-BE49-F238E27FC236}">
                <a16:creationId xmlns:a16="http://schemas.microsoft.com/office/drawing/2014/main" id="{F57EA64D-0CD5-4352-851A-53DD7F2F8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64008" cy="3840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82" name="Google Shape;182;p9">
            <a:extLst xmlns:a="http://schemas.openxmlformats.org/drawingml/2006/main">
              <a:ext uri="{FF2B5EF4-FFF2-40B4-BE49-F238E27FC236}">
                <a16:creationId xmlns:a16="http://schemas.microsoft.com/office/drawing/2014/main" id="{1D390D07-456C-498D-B45D-32204B4F5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" y="1737360"/>
            <a:ext cx="484632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WEAK REFLECTION</a:t>
            </a:r>
          </a:p>
        </p:txBody>
      </p:sp>
      <p:sp>
        <p:nvSpPr>
          <p:cNvPr id="183" name="Google Shape;183;p9">
            <a:extLst xmlns:a="http://schemas.openxmlformats.org/drawingml/2006/main">
              <a:ext uri="{FF2B5EF4-FFF2-40B4-BE49-F238E27FC236}">
                <a16:creationId xmlns:a16="http://schemas.microsoft.com/office/drawing/2014/main" id="{DE667C97-04AD-4EAB-97CA-59574678A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" y="2057400"/>
            <a:ext cx="4846320" cy="3273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“My project failed, but I still finished.”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Problem: It treats failure as an ending and gives no evidence of learning.</a:t>
            </a:r>
          </a:p>
        </p:txBody>
      </p:sp>
      <p:sp>
        <p:nvSpPr>
          <p:cNvPr id="184" name="Google Shape;184;p9">
            <a:extLst xmlns:a="http://schemas.openxmlformats.org/drawingml/2006/main">
              <a:ext uri="{FF2B5EF4-FFF2-40B4-BE49-F238E27FC236}">
                <a16:creationId xmlns:a16="http://schemas.microsoft.com/office/drawing/2014/main" id="{AE2C0275-6C01-4A8D-A33A-926E47DDA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600200"/>
            <a:ext cx="5166360" cy="3840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3"/>
          </a:solidFill>
          <a:ln xmlns:a="http://schemas.openxmlformats.org/drawingml/2006/main" w="12700" cmpd="sng">
            <a:solidFill>
              <a:srgbClr val="5A5A5A">
                <a:alpha val="8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85" name="Google Shape;185;p9">
            <a:extLst xmlns:a="http://schemas.openxmlformats.org/drawingml/2006/main">
              <a:ext uri="{FF2B5EF4-FFF2-40B4-BE49-F238E27FC236}">
                <a16:creationId xmlns:a16="http://schemas.microsoft.com/office/drawing/2014/main" id="{38ADCEBE-A09D-49B9-B645-54C8313D3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600200"/>
            <a:ext cx="64008" cy="3840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86" name="Google Shape;186;p9">
            <a:extLst xmlns:a="http://schemas.openxmlformats.org/drawingml/2006/main">
              <a:ext uri="{FF2B5EF4-FFF2-40B4-BE49-F238E27FC236}">
                <a16:creationId xmlns:a16="http://schemas.microsoft.com/office/drawing/2014/main" id="{6AA276A5-DB78-49DE-A9BA-8F0C40BFE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1737360"/>
            <a:ext cx="484632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STRONGER REFLECTION</a:t>
            </a:r>
          </a:p>
        </p:txBody>
      </p:sp>
      <p:sp>
        <p:nvSpPr>
          <p:cNvPr id="187" name="Google Shape;187;p9">
            <a:extLst xmlns:a="http://schemas.openxmlformats.org/drawingml/2006/main">
              <a:ext uri="{FF2B5EF4-FFF2-40B4-BE49-F238E27FC236}">
                <a16:creationId xmlns:a16="http://schemas.microsoft.com/office/drawing/2014/main" id="{94CE24E3-A54A-4877-B7CF-35177CFED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2057400"/>
            <a:ext cx="4846320" cy="3273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“My first prototype failed at the clamp, which showed the test fixture was measuring clamp weakness instead of bridge strength. Revising the fixture made later trials more meaningful.”</a:t>
            </a:r>
          </a:p>
        </p:txBody>
      </p:sp>
    </p:spTree>
    <p:extLst>
      <p:ext uri="{BB962C8B-B14F-4D97-AF65-F5344CB8AC3E}">
        <p14:creationId xmlns:p14="http://schemas.microsoft.com/office/powerpoint/2010/main" val="146728584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B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3" name="Google Shape;193;p10">
            <a:extLst xmlns:a="http://schemas.openxmlformats.org/drawingml/2006/main">
              <a:ext uri="{FF2B5EF4-FFF2-40B4-BE49-F238E27FC236}">
                <a16:creationId xmlns:a16="http://schemas.microsoft.com/office/drawing/2014/main" id="{8F128D1F-0150-460D-96F6-EC1CD0604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B0D"/>
          </a:solidFill>
          <a:ln xmlns:a="http://schemas.openxmlformats.org/drawingml/2006/main" w="12700" cmpd="sng">
            <a:solidFill>
              <a:srgbClr val="0B0B0D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94" name="Google Shape;194;p10">
            <a:extLst xmlns:a="http://schemas.openxmlformats.org/drawingml/2006/main">
              <a:ext uri="{FF2B5EF4-FFF2-40B4-BE49-F238E27FC236}">
                <a16:creationId xmlns:a16="http://schemas.microsoft.com/office/drawing/2014/main" id="{FEE78339-6B2C-4FA7-B1FC-E7E50997B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9728"/>
            <a:ext cx="12191695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95" name="Google Shape;195;p10">
            <a:extLst xmlns:a="http://schemas.openxmlformats.org/drawingml/2006/main">
              <a:ext uri="{FF2B5EF4-FFF2-40B4-BE49-F238E27FC236}">
                <a16:creationId xmlns:a16="http://schemas.microsoft.com/office/drawing/2014/main" id="{8912122D-E7D7-42B9-B727-3FB6277FE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75120"/>
            <a:ext cx="12191695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96" name="Google Shape;196;p10">
            <a:extLst xmlns:a="http://schemas.openxmlformats.org/drawingml/2006/main">
              <a:ext uri="{FF2B5EF4-FFF2-40B4-BE49-F238E27FC236}">
                <a16:creationId xmlns:a16="http://schemas.microsoft.com/office/drawing/2014/main" id="{AC06ED09-ABFA-4245-9F7D-B6F939ECE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364224"/>
            <a:ext cx="301752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sz="950" b="1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PORTFOLIO</a:t>
            </a:r>
          </a:p>
        </p:txBody>
      </p:sp>
      <p:sp>
        <p:nvSpPr>
          <p:cNvPr id="197" name="Google Shape;197;p10">
            <a:extLst xmlns:a="http://schemas.openxmlformats.org/drawingml/2006/main">
              <a:ext uri="{FF2B5EF4-FFF2-40B4-BE49-F238E27FC236}">
                <a16:creationId xmlns:a16="http://schemas.microsoft.com/office/drawing/2014/main" id="{EC177DA9-1161-45EF-B1CF-025DEF0B6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5872" y="6364224"/>
            <a:ext cx="132588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sz="950" b="1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DECK 19</a:t>
            </a:r>
          </a:p>
        </p:txBody>
      </p:sp>
      <p:sp>
        <p:nvSpPr>
          <p:cNvPr id="198" name="Google Shape;198;p10">
            <a:extLst xmlns:a="http://schemas.openxmlformats.org/drawingml/2006/main">
              <a:ext uri="{FF2B5EF4-FFF2-40B4-BE49-F238E27FC236}">
                <a16:creationId xmlns:a16="http://schemas.microsoft.com/office/drawing/2014/main" id="{F05633F5-0A99-4F8D-964F-02D6F5CEB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02920"/>
            <a:ext cx="11064240" cy="5303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3000"/>
              <a:buFont typeface="Play"/>
              <a:buNone/>
            </a:pPr>
            <a:r>
              <a:rPr sz="3000" b="1" i="0" u="none" cap="none">
                <a:solidFill>
                  <a:srgbClr val="F4F4F4"/>
                </a:solidFill>
                <a:latin typeface="Play"/>
                <a:ea typeface="Play"/>
                <a:cs typeface="Play"/>
              </a:rPr>
              <a:t>A Portfolio Shows Product and Process</a:t>
            </a:r>
          </a:p>
        </p:txBody>
      </p:sp>
      <p:sp>
        <p:nvSpPr>
          <p:cNvPr id="199" name="Google Shape;199;p10">
            <a:extLst xmlns:a="http://schemas.openxmlformats.org/drawingml/2006/main">
              <a:ext uri="{FF2B5EF4-FFF2-40B4-BE49-F238E27FC236}">
                <a16:creationId xmlns:a16="http://schemas.microsoft.com/office/drawing/2014/main" id="{617179EC-382A-4534-8285-569C23B8B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61872"/>
            <a:ext cx="91440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00" name="Google Shape;200;p10">
            <a:extLst xmlns:a="http://schemas.openxmlformats.org/drawingml/2006/main">
              <a:ext uri="{FF2B5EF4-FFF2-40B4-BE49-F238E27FC236}">
                <a16:creationId xmlns:a16="http://schemas.microsoft.com/office/drawing/2014/main" id="{FDB3396C-61C3-4C07-BB37-6A5FA9AFE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280160"/>
            <a:ext cx="987552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1300"/>
              <a:buFont typeface="Arial"/>
              <a:buNone/>
            </a:pPr>
            <a:r>
              <a:rPr sz="1300" b="0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A strong portfolio proves the work happened and shows how thinking developed.</a:t>
            </a:r>
          </a:p>
        </p:txBody>
      </p:sp>
      <p:sp>
        <p:nvSpPr>
          <p:cNvPr id="201" name="Google Shape;201;p10">
            <a:extLst xmlns:a="http://schemas.openxmlformats.org/drawingml/2006/main">
              <a:ext uri="{FF2B5EF4-FFF2-40B4-BE49-F238E27FC236}">
                <a16:creationId xmlns:a16="http://schemas.microsoft.com/office/drawing/2014/main" id="{D8E09DF9-DEC9-45CD-857D-E08164521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057400"/>
            <a:ext cx="5120640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3"/>
          </a:solidFill>
          <a:ln xmlns:a="http://schemas.openxmlformats.org/drawingml/2006/main" w="12700" cmpd="sng">
            <a:solidFill>
              <a:srgbClr val="5A5A5A">
                <a:alpha val="8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02" name="Google Shape;202;p10">
            <a:extLst xmlns:a="http://schemas.openxmlformats.org/drawingml/2006/main">
              <a:ext uri="{FF2B5EF4-FFF2-40B4-BE49-F238E27FC236}">
                <a16:creationId xmlns:a16="http://schemas.microsoft.com/office/drawing/2014/main" id="{9BEFEB1F-7D25-4ADA-B8D3-15457B827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057400"/>
            <a:ext cx="64008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03" name="Google Shape;203;p10">
            <a:extLst xmlns:a="http://schemas.openxmlformats.org/drawingml/2006/main">
              <a:ext uri="{FF2B5EF4-FFF2-40B4-BE49-F238E27FC236}">
                <a16:creationId xmlns:a16="http://schemas.microsoft.com/office/drawing/2014/main" id="{CE7A50E1-FCD2-4DD9-BFA5-EC80E969F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2194560"/>
            <a:ext cx="4800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PRODUCT ARTIFACTS</a:t>
            </a:r>
          </a:p>
        </p:txBody>
      </p:sp>
      <p:sp>
        <p:nvSpPr>
          <p:cNvPr id="204" name="Google Shape;204;p10">
            <a:extLst xmlns:a="http://schemas.openxmlformats.org/drawingml/2006/main">
              <a:ext uri="{FF2B5EF4-FFF2-40B4-BE49-F238E27FC236}">
                <a16:creationId xmlns:a16="http://schemas.microsoft.com/office/drawing/2014/main" id="{407CF80A-5D42-45F4-9E8B-30F4BA9E0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2514600"/>
            <a:ext cx="4800600" cy="850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Final report, final poster or slides, final graphs, final presentation feedback.</a:t>
            </a:r>
          </a:p>
        </p:txBody>
      </p:sp>
      <p:sp>
        <p:nvSpPr>
          <p:cNvPr id="205" name="Google Shape;205;p10">
            <a:extLst xmlns:a="http://schemas.openxmlformats.org/drawingml/2006/main">
              <a:ext uri="{FF2B5EF4-FFF2-40B4-BE49-F238E27FC236}">
                <a16:creationId xmlns:a16="http://schemas.microsoft.com/office/drawing/2014/main" id="{888FE558-B06B-4184-8445-CBBA6009B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2057400"/>
            <a:ext cx="5120640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3"/>
          </a:solidFill>
          <a:ln xmlns:a="http://schemas.openxmlformats.org/drawingml/2006/main" w="12700" cmpd="sng">
            <a:solidFill>
              <a:srgbClr val="5A5A5A">
                <a:alpha val="8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06" name="Google Shape;206;p10">
            <a:extLst xmlns:a="http://schemas.openxmlformats.org/drawingml/2006/main">
              <a:ext uri="{FF2B5EF4-FFF2-40B4-BE49-F238E27FC236}">
                <a16:creationId xmlns:a16="http://schemas.microsoft.com/office/drawing/2014/main" id="{B6C1BFFC-A4EA-42C5-B322-070896431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2057400"/>
            <a:ext cx="64008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07" name="Google Shape;207;p10">
            <a:extLst xmlns:a="http://schemas.openxmlformats.org/drawingml/2006/main">
              <a:ext uri="{FF2B5EF4-FFF2-40B4-BE49-F238E27FC236}">
                <a16:creationId xmlns:a16="http://schemas.microsoft.com/office/drawing/2014/main" id="{5969048A-8BD6-49AC-8EEA-0F1CCCA96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4808" y="2194560"/>
            <a:ext cx="4800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PROCESS ARTIFACTS</a:t>
            </a:r>
          </a:p>
        </p:txBody>
      </p:sp>
      <p:sp>
        <p:nvSpPr>
          <p:cNvPr id="208" name="Google Shape;208;p10">
            <a:extLst xmlns:a="http://schemas.openxmlformats.org/drawingml/2006/main">
              <a:ext uri="{FF2B5EF4-FFF2-40B4-BE49-F238E27FC236}">
                <a16:creationId xmlns:a16="http://schemas.microsoft.com/office/drawing/2014/main" id="{9D1651EC-74B2-4759-8923-5C8183F6C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4808" y="2514600"/>
            <a:ext cx="4800600" cy="850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Original pitch, research plan, pilot notes, journal excerpts, troubleshooting logs.</a:t>
            </a:r>
          </a:p>
        </p:txBody>
      </p:sp>
      <p:sp>
        <p:nvSpPr>
          <p:cNvPr id="209" name="Google Shape;209;p10">
            <a:extLst xmlns:a="http://schemas.openxmlformats.org/drawingml/2006/main">
              <a:ext uri="{FF2B5EF4-FFF2-40B4-BE49-F238E27FC236}">
                <a16:creationId xmlns:a16="http://schemas.microsoft.com/office/drawing/2014/main" id="{E5D6B513-4220-40A2-B3B5-51095E80F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977640"/>
            <a:ext cx="5120640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3"/>
          </a:solidFill>
          <a:ln xmlns:a="http://schemas.openxmlformats.org/drawingml/2006/main" w="12700" cmpd="sng">
            <a:solidFill>
              <a:srgbClr val="5A5A5A">
                <a:alpha val="8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10" name="Google Shape;210;p10">
            <a:extLst xmlns:a="http://schemas.openxmlformats.org/drawingml/2006/main">
              <a:ext uri="{FF2B5EF4-FFF2-40B4-BE49-F238E27FC236}">
                <a16:creationId xmlns:a16="http://schemas.microsoft.com/office/drawing/2014/main" id="{84C13EAE-EE80-4CE1-A1E0-4848C1F11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977640"/>
            <a:ext cx="64008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11" name="Google Shape;211;p10">
            <a:extLst xmlns:a="http://schemas.openxmlformats.org/drawingml/2006/main">
              <a:ext uri="{FF2B5EF4-FFF2-40B4-BE49-F238E27FC236}">
                <a16:creationId xmlns:a16="http://schemas.microsoft.com/office/drawing/2014/main" id="{758C7ADF-BB73-4C4E-8849-9F191AAEA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4114800"/>
            <a:ext cx="4800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DATA ARTIFACTS</a:t>
            </a:r>
          </a:p>
        </p:txBody>
      </p:sp>
      <p:sp>
        <p:nvSpPr>
          <p:cNvPr id="212" name="Google Shape;212;p10">
            <a:extLst xmlns:a="http://schemas.openxmlformats.org/drawingml/2006/main">
              <a:ext uri="{FF2B5EF4-FFF2-40B4-BE49-F238E27FC236}">
                <a16:creationId xmlns:a16="http://schemas.microsoft.com/office/drawing/2014/main" id="{3B1FDE86-D7F0-4D28-B9B3-5E0F7EE3D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4434840"/>
            <a:ext cx="4800600" cy="850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Raw data sample, clean data set, analysis notes, figures, captions, limitations review.</a:t>
            </a:r>
          </a:p>
        </p:txBody>
      </p:sp>
      <p:sp>
        <p:nvSpPr>
          <p:cNvPr id="213" name="Google Shape;213;p10">
            <a:extLst xmlns:a="http://schemas.openxmlformats.org/drawingml/2006/main">
              <a:ext uri="{FF2B5EF4-FFF2-40B4-BE49-F238E27FC236}">
                <a16:creationId xmlns:a16="http://schemas.microsoft.com/office/drawing/2014/main" id="{53A74ED2-70B7-41F4-BBD7-46EFBDE13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3977640"/>
            <a:ext cx="5120640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3"/>
          </a:solidFill>
          <a:ln xmlns:a="http://schemas.openxmlformats.org/drawingml/2006/main" w="12700" cmpd="sng">
            <a:solidFill>
              <a:srgbClr val="5A5A5A">
                <a:alpha val="8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14" name="Google Shape;214;p10">
            <a:extLst xmlns:a="http://schemas.openxmlformats.org/drawingml/2006/main">
              <a:ext uri="{FF2B5EF4-FFF2-40B4-BE49-F238E27FC236}">
                <a16:creationId xmlns:a16="http://schemas.microsoft.com/office/drawing/2014/main" id="{3F24586C-6BCD-401B-AED7-9FA5416BB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3977640"/>
            <a:ext cx="64008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15" name="Google Shape;215;p10">
            <a:extLst xmlns:a="http://schemas.openxmlformats.org/drawingml/2006/main">
              <a:ext uri="{FF2B5EF4-FFF2-40B4-BE49-F238E27FC236}">
                <a16:creationId xmlns:a16="http://schemas.microsoft.com/office/drawing/2014/main" id="{17DC087C-DF4C-4253-B188-58F742892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4808" y="4114800"/>
            <a:ext cx="4800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REFLECTION ARTIFACTS</a:t>
            </a:r>
          </a:p>
        </p:txBody>
      </p:sp>
      <p:sp>
        <p:nvSpPr>
          <p:cNvPr id="216" name="Google Shape;216;p10">
            <a:extLst xmlns:a="http://schemas.openxmlformats.org/drawingml/2006/main">
              <a:ext uri="{FF2B5EF4-FFF2-40B4-BE49-F238E27FC236}">
                <a16:creationId xmlns:a16="http://schemas.microsoft.com/office/drawing/2014/main" id="{06A2C922-D246-4455-8BDD-C8FEC99D8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4808" y="4434840"/>
            <a:ext cx="4800600" cy="850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Post-presentation reflection, final process reflection, next-step plan, advice to future students.</a:t>
            </a:r>
          </a:p>
        </p:txBody>
      </p:sp>
    </p:spTree>
    <p:extLst>
      <p:ext uri="{BB962C8B-B14F-4D97-AF65-F5344CB8AC3E}">
        <p14:creationId xmlns:p14="http://schemas.microsoft.com/office/powerpoint/2010/main" val="139800832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B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2" name="Google Shape;222;p11">
            <a:extLst xmlns:a="http://schemas.openxmlformats.org/drawingml/2006/main">
              <a:ext uri="{FF2B5EF4-FFF2-40B4-BE49-F238E27FC236}">
                <a16:creationId xmlns:a16="http://schemas.microsoft.com/office/drawing/2014/main" id="{851DAC97-BB46-4565-B7EE-AA67275F5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B0D"/>
          </a:solidFill>
          <a:ln xmlns:a="http://schemas.openxmlformats.org/drawingml/2006/main" w="12700" cmpd="sng">
            <a:solidFill>
              <a:srgbClr val="0B0B0D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23" name="Google Shape;223;p11">
            <a:extLst xmlns:a="http://schemas.openxmlformats.org/drawingml/2006/main">
              <a:ext uri="{FF2B5EF4-FFF2-40B4-BE49-F238E27FC236}">
                <a16:creationId xmlns:a16="http://schemas.microsoft.com/office/drawing/2014/main" id="{4B5BC91E-E9A5-4F00-8F87-8ADEF6DE6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9728"/>
            <a:ext cx="12191695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24" name="Google Shape;224;p11">
            <a:extLst xmlns:a="http://schemas.openxmlformats.org/drawingml/2006/main">
              <a:ext uri="{FF2B5EF4-FFF2-40B4-BE49-F238E27FC236}">
                <a16:creationId xmlns:a16="http://schemas.microsoft.com/office/drawing/2014/main" id="{F0D71755-E972-4F4A-AA66-89492E4D2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75120"/>
            <a:ext cx="12191695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25" name="Google Shape;225;p11">
            <a:extLst xmlns:a="http://schemas.openxmlformats.org/drawingml/2006/main">
              <a:ext uri="{FF2B5EF4-FFF2-40B4-BE49-F238E27FC236}">
                <a16:creationId xmlns:a16="http://schemas.microsoft.com/office/drawing/2014/main" id="{A3C50CE0-2F3E-4226-92DA-E43CF5F0E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364224"/>
            <a:ext cx="301752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sz="950" b="1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PORTFOLIO</a:t>
            </a:r>
          </a:p>
        </p:txBody>
      </p:sp>
      <p:sp>
        <p:nvSpPr>
          <p:cNvPr id="226" name="Google Shape;226;p11">
            <a:extLst xmlns:a="http://schemas.openxmlformats.org/drawingml/2006/main">
              <a:ext uri="{FF2B5EF4-FFF2-40B4-BE49-F238E27FC236}">
                <a16:creationId xmlns:a16="http://schemas.microsoft.com/office/drawing/2014/main" id="{F6037D0A-B224-46AB-8C1C-4C3088AF5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5872" y="6364224"/>
            <a:ext cx="132588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sz="950" b="1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DECK 19</a:t>
            </a:r>
          </a:p>
        </p:txBody>
      </p:sp>
      <p:sp>
        <p:nvSpPr>
          <p:cNvPr id="227" name="Google Shape;227;p11">
            <a:extLst xmlns:a="http://schemas.openxmlformats.org/drawingml/2006/main">
              <a:ext uri="{FF2B5EF4-FFF2-40B4-BE49-F238E27FC236}">
                <a16:creationId xmlns:a16="http://schemas.microsoft.com/office/drawing/2014/main" id="{4A0F0697-29CE-4E85-8313-7801D05D3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02920"/>
            <a:ext cx="11064240" cy="5303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3000"/>
              <a:buFont typeface="Play"/>
              <a:buNone/>
            </a:pPr>
            <a:r>
              <a:rPr sz="3000" b="1" i="0" u="none" cap="none">
                <a:solidFill>
                  <a:srgbClr val="F4F4F4"/>
                </a:solidFill>
                <a:latin typeface="Play"/>
                <a:ea typeface="Play"/>
                <a:cs typeface="Play"/>
              </a:rPr>
              <a:t>Choose Artifacts With Purpose</a:t>
            </a:r>
          </a:p>
        </p:txBody>
      </p:sp>
      <p:sp>
        <p:nvSpPr>
          <p:cNvPr id="228" name="Google Shape;228;p11">
            <a:extLst xmlns:a="http://schemas.openxmlformats.org/drawingml/2006/main">
              <a:ext uri="{FF2B5EF4-FFF2-40B4-BE49-F238E27FC236}">
                <a16:creationId xmlns:a16="http://schemas.microsoft.com/office/drawing/2014/main" id="{5FE6E38E-38CD-4D44-BEA0-D2FEDE020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61872"/>
            <a:ext cx="91440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29" name="Google Shape;229;p11">
            <a:extLst xmlns:a="http://schemas.openxmlformats.org/drawingml/2006/main">
              <a:ext uri="{FF2B5EF4-FFF2-40B4-BE49-F238E27FC236}">
                <a16:creationId xmlns:a16="http://schemas.microsoft.com/office/drawing/2014/main" id="{72242873-4B43-4291-9497-72FF94268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280160"/>
            <a:ext cx="987552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1300"/>
              <a:buFont typeface="Arial"/>
              <a:buNone/>
            </a:pPr>
            <a:r>
              <a:rPr sz="1300" b="0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Every artifact should answer: What does this prove about my work?</a:t>
            </a:r>
          </a:p>
        </p:txBody>
      </p:sp>
      <p:sp>
        <p:nvSpPr>
          <p:cNvPr id="230" name="Google Shape;230;p11">
            <a:extLst xmlns:a="http://schemas.openxmlformats.org/drawingml/2006/main">
              <a:ext uri="{FF2B5EF4-FFF2-40B4-BE49-F238E27FC236}">
                <a16:creationId xmlns:a16="http://schemas.microsoft.com/office/drawing/2014/main" id="{7E0AA7FF-8461-4D22-AEB2-18C9FE8D6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3429000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3"/>
          </a:solidFill>
          <a:ln xmlns:a="http://schemas.openxmlformats.org/drawingml/2006/main" w="12700" cmpd="sng">
            <a:solidFill>
              <a:srgbClr val="5A5A5A">
                <a:alpha val="8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1" name="Google Shape;231;p11">
            <a:extLst xmlns:a="http://schemas.openxmlformats.org/drawingml/2006/main">
              <a:ext uri="{FF2B5EF4-FFF2-40B4-BE49-F238E27FC236}">
                <a16:creationId xmlns:a16="http://schemas.microsoft.com/office/drawing/2014/main" id="{76FE1002-0ED6-444D-AD6F-1FACF4A63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64008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2" name="Google Shape;232;p11">
            <a:extLst xmlns:a="http://schemas.openxmlformats.org/drawingml/2006/main">
              <a:ext uri="{FF2B5EF4-FFF2-40B4-BE49-F238E27FC236}">
                <a16:creationId xmlns:a16="http://schemas.microsoft.com/office/drawing/2014/main" id="{DBFC88CE-E438-4353-9066-100962C71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" y="1737360"/>
            <a:ext cx="310896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ORIGINAL PROJECT PITCH</a:t>
            </a:r>
          </a:p>
        </p:txBody>
      </p:sp>
      <p:sp>
        <p:nvSpPr>
          <p:cNvPr id="233" name="Google Shape;233;p11">
            <a:extLst xmlns:a="http://schemas.openxmlformats.org/drawingml/2006/main">
              <a:ext uri="{FF2B5EF4-FFF2-40B4-BE49-F238E27FC236}">
                <a16:creationId xmlns:a16="http://schemas.microsoft.com/office/drawing/2014/main" id="{591D57A0-A43F-401E-8BFA-C3C3769FA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" y="2057400"/>
            <a:ext cx="3108960" cy="6675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Shows where the research began and what early assumptions existed.</a:t>
            </a:r>
          </a:p>
        </p:txBody>
      </p:sp>
      <p:sp>
        <p:nvSpPr>
          <p:cNvPr id="234" name="Google Shape;234;p11">
            <a:extLst xmlns:a="http://schemas.openxmlformats.org/drawingml/2006/main">
              <a:ext uri="{FF2B5EF4-FFF2-40B4-BE49-F238E27FC236}">
                <a16:creationId xmlns:a16="http://schemas.microsoft.com/office/drawing/2014/main" id="{3BA99444-15B7-43CE-AB26-E3878E650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0" y="1600200"/>
            <a:ext cx="3429000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3"/>
          </a:solidFill>
          <a:ln xmlns:a="http://schemas.openxmlformats.org/drawingml/2006/main" w="12700" cmpd="sng">
            <a:solidFill>
              <a:srgbClr val="5A5A5A">
                <a:alpha val="8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5" name="Google Shape;235;p11">
            <a:extLst xmlns:a="http://schemas.openxmlformats.org/drawingml/2006/main">
              <a:ext uri="{FF2B5EF4-FFF2-40B4-BE49-F238E27FC236}">
                <a16:creationId xmlns:a16="http://schemas.microsoft.com/office/drawing/2014/main" id="{F3A4911A-A139-4CE7-AC77-860A2F243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0" y="1600200"/>
            <a:ext cx="64008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6" name="Google Shape;236;p11">
            <a:extLst xmlns:a="http://schemas.openxmlformats.org/drawingml/2006/main">
              <a:ext uri="{FF2B5EF4-FFF2-40B4-BE49-F238E27FC236}">
                <a16:creationId xmlns:a16="http://schemas.microsoft.com/office/drawing/2014/main" id="{12339307-2A25-4148-B1A0-0C6BDC2E5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0288" y="1737360"/>
            <a:ext cx="310896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RESEARCH PLAN</a:t>
            </a:r>
          </a:p>
        </p:txBody>
      </p:sp>
      <p:sp>
        <p:nvSpPr>
          <p:cNvPr id="237" name="Google Shape;237;p11">
            <a:extLst xmlns:a="http://schemas.openxmlformats.org/drawingml/2006/main">
              <a:ext uri="{FF2B5EF4-FFF2-40B4-BE49-F238E27FC236}">
                <a16:creationId xmlns:a16="http://schemas.microsoft.com/office/drawing/2014/main" id="{3E94F2D3-8125-4169-859C-76955140F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0288" y="2057400"/>
            <a:ext cx="3108960" cy="6675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Shows how the idea became a structured method or design plan.</a:t>
            </a:r>
          </a:p>
        </p:txBody>
      </p:sp>
      <p:sp>
        <p:nvSpPr>
          <p:cNvPr id="238" name="Google Shape;238;p11">
            <a:extLst xmlns:a="http://schemas.openxmlformats.org/drawingml/2006/main">
              <a:ext uri="{FF2B5EF4-FFF2-40B4-BE49-F238E27FC236}">
                <a16:creationId xmlns:a16="http://schemas.microsoft.com/office/drawing/2014/main" id="{BA499997-5751-46A1-9B32-23AF337C4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1600200"/>
            <a:ext cx="3429000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3"/>
          </a:solidFill>
          <a:ln xmlns:a="http://schemas.openxmlformats.org/drawingml/2006/main" w="12700" cmpd="sng">
            <a:solidFill>
              <a:srgbClr val="5A5A5A">
                <a:alpha val="8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9" name="Google Shape;239;p11">
            <a:extLst xmlns:a="http://schemas.openxmlformats.org/drawingml/2006/main">
              <a:ext uri="{FF2B5EF4-FFF2-40B4-BE49-F238E27FC236}">
                <a16:creationId xmlns:a16="http://schemas.microsoft.com/office/drawing/2014/main" id="{BB3BB5EA-99E8-4660-B0AA-4317AFB2C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1600200"/>
            <a:ext cx="64008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0" name="Google Shape;240;p11">
            <a:extLst xmlns:a="http://schemas.openxmlformats.org/drawingml/2006/main">
              <a:ext uri="{FF2B5EF4-FFF2-40B4-BE49-F238E27FC236}">
                <a16:creationId xmlns:a16="http://schemas.microsoft.com/office/drawing/2014/main" id="{9D61F196-92AD-4739-A60B-CE38D4F04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608" y="1737360"/>
            <a:ext cx="310896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JOURNAL EXCERPTS</a:t>
            </a:r>
          </a:p>
        </p:txBody>
      </p:sp>
      <p:sp>
        <p:nvSpPr>
          <p:cNvPr id="241" name="Google Shape;241;p11">
            <a:extLst xmlns:a="http://schemas.openxmlformats.org/drawingml/2006/main">
              <a:ext uri="{FF2B5EF4-FFF2-40B4-BE49-F238E27FC236}">
                <a16:creationId xmlns:a16="http://schemas.microsoft.com/office/drawing/2014/main" id="{605E1260-10CE-418F-83F0-D6C170A70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608" y="2057400"/>
            <a:ext cx="3108960" cy="6675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Show what happened during work sessions, including revisions and problems.</a:t>
            </a:r>
          </a:p>
        </p:txBody>
      </p:sp>
      <p:sp>
        <p:nvSpPr>
          <p:cNvPr id="242" name="Google Shape;242;p11">
            <a:extLst xmlns:a="http://schemas.openxmlformats.org/drawingml/2006/main">
              <a:ext uri="{FF2B5EF4-FFF2-40B4-BE49-F238E27FC236}">
                <a16:creationId xmlns:a16="http://schemas.microsoft.com/office/drawing/2014/main" id="{DD94F7B8-144B-45B0-887A-8ABC4C469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57600"/>
            <a:ext cx="3429000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3"/>
          </a:solidFill>
          <a:ln xmlns:a="http://schemas.openxmlformats.org/drawingml/2006/main" w="12700" cmpd="sng">
            <a:solidFill>
              <a:srgbClr val="5A5A5A">
                <a:alpha val="8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3" name="Google Shape;243;p11">
            <a:extLst xmlns:a="http://schemas.openxmlformats.org/drawingml/2006/main">
              <a:ext uri="{FF2B5EF4-FFF2-40B4-BE49-F238E27FC236}">
                <a16:creationId xmlns:a16="http://schemas.microsoft.com/office/drawing/2014/main" id="{86BEB36D-3443-469A-8A48-59C1FE4CD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57600"/>
            <a:ext cx="64008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4" name="Google Shape;244;p11">
            <a:extLst xmlns:a="http://schemas.openxmlformats.org/drawingml/2006/main">
              <a:ext uri="{FF2B5EF4-FFF2-40B4-BE49-F238E27FC236}">
                <a16:creationId xmlns:a16="http://schemas.microsoft.com/office/drawing/2014/main" id="{FD3FC72D-310C-4A99-B230-4652FA2FC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" y="3794760"/>
            <a:ext cx="310896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DATA + VISUALS</a:t>
            </a:r>
          </a:p>
        </p:txBody>
      </p:sp>
      <p:sp>
        <p:nvSpPr>
          <p:cNvPr id="245" name="Google Shape;245;p11">
            <a:extLst xmlns:a="http://schemas.openxmlformats.org/drawingml/2006/main">
              <a:ext uri="{FF2B5EF4-FFF2-40B4-BE49-F238E27FC236}">
                <a16:creationId xmlns:a16="http://schemas.microsoft.com/office/drawing/2014/main" id="{3E0CE7BB-1AF6-476E-8A9D-4BC705DD7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" y="4114800"/>
            <a:ext cx="3108960" cy="6675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Show the evidence used to support claims or design decisions.</a:t>
            </a:r>
          </a:p>
        </p:txBody>
      </p:sp>
      <p:sp>
        <p:nvSpPr>
          <p:cNvPr id="246" name="Google Shape;246;p11">
            <a:extLst xmlns:a="http://schemas.openxmlformats.org/drawingml/2006/main">
              <a:ext uri="{FF2B5EF4-FFF2-40B4-BE49-F238E27FC236}">
                <a16:creationId xmlns:a16="http://schemas.microsoft.com/office/drawing/2014/main" id="{6D6C4C85-26D0-4C31-9499-4F8EE745C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0" y="3657600"/>
            <a:ext cx="3429000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3"/>
          </a:solidFill>
          <a:ln xmlns:a="http://schemas.openxmlformats.org/drawingml/2006/main" w="12700" cmpd="sng">
            <a:solidFill>
              <a:srgbClr val="5A5A5A">
                <a:alpha val="8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7" name="Google Shape;247;p11">
            <a:extLst xmlns:a="http://schemas.openxmlformats.org/drawingml/2006/main">
              <a:ext uri="{FF2B5EF4-FFF2-40B4-BE49-F238E27FC236}">
                <a16:creationId xmlns:a16="http://schemas.microsoft.com/office/drawing/2014/main" id="{876BBFB1-D941-4982-8A72-131E02C46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0" y="3657600"/>
            <a:ext cx="64008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8" name="Google Shape;248;p11">
            <a:extLst xmlns:a="http://schemas.openxmlformats.org/drawingml/2006/main">
              <a:ext uri="{FF2B5EF4-FFF2-40B4-BE49-F238E27FC236}">
                <a16:creationId xmlns:a16="http://schemas.microsoft.com/office/drawing/2014/main" id="{E2B2EE8C-976E-4E1A-9229-BF220424C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0288" y="3794760"/>
            <a:ext cx="310896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FEEDBACK FORMS</a:t>
            </a:r>
          </a:p>
        </p:txBody>
      </p:sp>
      <p:sp>
        <p:nvSpPr>
          <p:cNvPr id="249" name="Google Shape;249;p11">
            <a:extLst xmlns:a="http://schemas.openxmlformats.org/drawingml/2006/main">
              <a:ext uri="{FF2B5EF4-FFF2-40B4-BE49-F238E27FC236}">
                <a16:creationId xmlns:a16="http://schemas.microsoft.com/office/drawing/2014/main" id="{7C838ED0-AEF6-4931-B742-A722DC6F1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0288" y="4114800"/>
            <a:ext cx="3108960" cy="6675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Show how peer, teacher, mentor, or audience input shaped the project.</a:t>
            </a:r>
          </a:p>
        </p:txBody>
      </p:sp>
      <p:sp>
        <p:nvSpPr>
          <p:cNvPr id="250" name="Google Shape;250;p11">
            <a:extLst xmlns:a="http://schemas.openxmlformats.org/drawingml/2006/main">
              <a:ext uri="{FF2B5EF4-FFF2-40B4-BE49-F238E27FC236}">
                <a16:creationId xmlns:a16="http://schemas.microsoft.com/office/drawing/2014/main" id="{D64D6023-E271-411B-99FD-23A5DB08F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3657600"/>
            <a:ext cx="3429000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3"/>
          </a:solidFill>
          <a:ln xmlns:a="http://schemas.openxmlformats.org/drawingml/2006/main" w="12700" cmpd="sng">
            <a:solidFill>
              <a:srgbClr val="5A5A5A">
                <a:alpha val="8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51" name="Google Shape;251;p11">
            <a:extLst xmlns:a="http://schemas.openxmlformats.org/drawingml/2006/main">
              <a:ext uri="{FF2B5EF4-FFF2-40B4-BE49-F238E27FC236}">
                <a16:creationId xmlns:a16="http://schemas.microsoft.com/office/drawing/2014/main" id="{EFDFAF17-0C8E-4A69-9026-486A3E858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3657600"/>
            <a:ext cx="64008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52" name="Google Shape;252;p11">
            <a:extLst xmlns:a="http://schemas.openxmlformats.org/drawingml/2006/main">
              <a:ext uri="{FF2B5EF4-FFF2-40B4-BE49-F238E27FC236}">
                <a16:creationId xmlns:a16="http://schemas.microsoft.com/office/drawing/2014/main" id="{C1AA0247-5BC5-4462-8D62-881FCB8E8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608" y="3794760"/>
            <a:ext cx="310896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FINAL REFLECTION</a:t>
            </a:r>
          </a:p>
        </p:txBody>
      </p:sp>
      <p:sp>
        <p:nvSpPr>
          <p:cNvPr id="253" name="Google Shape;253;p11">
            <a:extLst xmlns:a="http://schemas.openxmlformats.org/drawingml/2006/main">
              <a:ext uri="{FF2B5EF4-FFF2-40B4-BE49-F238E27FC236}">
                <a16:creationId xmlns:a16="http://schemas.microsoft.com/office/drawing/2014/main" id="{8A98A78B-9B09-4759-ACD4-FAFF9EB87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608" y="4114800"/>
            <a:ext cx="3108960" cy="6675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Shows what the student understands now that they did not understand at the start.</a:t>
            </a:r>
          </a:p>
        </p:txBody>
      </p:sp>
    </p:spTree>
    <p:extLst>
      <p:ext uri="{BB962C8B-B14F-4D97-AF65-F5344CB8AC3E}">
        <p14:creationId xmlns:p14="http://schemas.microsoft.com/office/powerpoint/2010/main" val="117187110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B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9" name="Google Shape;259;p12">
            <a:extLst xmlns:a="http://schemas.openxmlformats.org/drawingml/2006/main">
              <a:ext uri="{FF2B5EF4-FFF2-40B4-BE49-F238E27FC236}">
                <a16:creationId xmlns:a16="http://schemas.microsoft.com/office/drawing/2014/main" id="{2EDB39BC-98FA-4E1D-B10C-99BFB9F1E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B0D"/>
          </a:solidFill>
          <a:ln xmlns:a="http://schemas.openxmlformats.org/drawingml/2006/main" w="12700" cmpd="sng">
            <a:solidFill>
              <a:srgbClr val="0B0B0D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60" name="Google Shape;260;p12">
            <a:extLst xmlns:a="http://schemas.openxmlformats.org/drawingml/2006/main">
              <a:ext uri="{FF2B5EF4-FFF2-40B4-BE49-F238E27FC236}">
                <a16:creationId xmlns:a16="http://schemas.microsoft.com/office/drawing/2014/main" id="{5B1A250A-D0D7-4B2C-A78D-DE68F841E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9728"/>
            <a:ext cx="12191695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61" name="Google Shape;261;p12">
            <a:extLst xmlns:a="http://schemas.openxmlformats.org/drawingml/2006/main">
              <a:ext uri="{FF2B5EF4-FFF2-40B4-BE49-F238E27FC236}">
                <a16:creationId xmlns:a16="http://schemas.microsoft.com/office/drawing/2014/main" id="{AC25DC45-9355-403E-BA89-37AAD4375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75120"/>
            <a:ext cx="12191695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62" name="Google Shape;262;p12">
            <a:extLst xmlns:a="http://schemas.openxmlformats.org/drawingml/2006/main">
              <a:ext uri="{FF2B5EF4-FFF2-40B4-BE49-F238E27FC236}">
                <a16:creationId xmlns:a16="http://schemas.microsoft.com/office/drawing/2014/main" id="{A0563E26-5C4F-4230-A0D5-77C2ABCBF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364224"/>
            <a:ext cx="301752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sz="950" b="1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STUDENT ACTIVITY</a:t>
            </a:r>
          </a:p>
        </p:txBody>
      </p:sp>
      <p:sp>
        <p:nvSpPr>
          <p:cNvPr id="263" name="Google Shape;263;p12">
            <a:extLst xmlns:a="http://schemas.openxmlformats.org/drawingml/2006/main">
              <a:ext uri="{FF2B5EF4-FFF2-40B4-BE49-F238E27FC236}">
                <a16:creationId xmlns:a16="http://schemas.microsoft.com/office/drawing/2014/main" id="{0BEF0A49-B7A6-4B3C-AC1B-37AF4179F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5872" y="6364224"/>
            <a:ext cx="132588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sz="950" b="1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DECK 19</a:t>
            </a:r>
          </a:p>
        </p:txBody>
      </p:sp>
      <p:sp>
        <p:nvSpPr>
          <p:cNvPr id="264" name="Google Shape;264;p12">
            <a:extLst xmlns:a="http://schemas.openxmlformats.org/drawingml/2006/main">
              <a:ext uri="{FF2B5EF4-FFF2-40B4-BE49-F238E27FC236}">
                <a16:creationId xmlns:a16="http://schemas.microsoft.com/office/drawing/2014/main" id="{4801950E-8DA7-4BB0-A7D5-B1F0A97D2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02920"/>
            <a:ext cx="11064240" cy="5303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3000"/>
              <a:buFont typeface="Play"/>
              <a:buNone/>
            </a:pPr>
            <a:r>
              <a:rPr sz="3000" b="1" i="0" u="none" cap="none">
                <a:solidFill>
                  <a:srgbClr val="F4F4F4"/>
                </a:solidFill>
                <a:latin typeface="Play"/>
                <a:ea typeface="Play"/>
                <a:cs typeface="Play"/>
              </a:rPr>
              <a:t>Activity: Portfolio Artifact Audit</a:t>
            </a:r>
          </a:p>
        </p:txBody>
      </p:sp>
      <p:sp>
        <p:nvSpPr>
          <p:cNvPr id="265" name="Google Shape;265;p12">
            <a:extLst xmlns:a="http://schemas.openxmlformats.org/drawingml/2006/main">
              <a:ext uri="{FF2B5EF4-FFF2-40B4-BE49-F238E27FC236}">
                <a16:creationId xmlns:a16="http://schemas.microsoft.com/office/drawing/2014/main" id="{E8680814-6C0E-49EC-8EF5-16494C8F8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61872"/>
            <a:ext cx="91440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66" name="Google Shape;266;p12">
            <a:extLst xmlns:a="http://schemas.openxmlformats.org/drawingml/2006/main">
              <a:ext uri="{FF2B5EF4-FFF2-40B4-BE49-F238E27FC236}">
                <a16:creationId xmlns:a16="http://schemas.microsoft.com/office/drawing/2014/main" id="{CC4EAA21-040A-47AB-9CBF-6FF1B915E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280160"/>
            <a:ext cx="987552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1300"/>
              <a:buFont typeface="Arial"/>
              <a:buNone/>
            </a:pPr>
            <a:r>
              <a:rPr sz="1300" b="0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Students identify what they have and what is missing.</a:t>
            </a:r>
          </a:p>
        </p:txBody>
      </p:sp>
      <p:sp>
        <p:nvSpPr>
          <p:cNvPr id="267" name="Google Shape;267;p12">
            <a:extLst xmlns:a="http://schemas.openxmlformats.org/drawingml/2006/main">
              <a:ext uri="{FF2B5EF4-FFF2-40B4-BE49-F238E27FC236}">
                <a16:creationId xmlns:a16="http://schemas.microsoft.com/office/drawing/2014/main" id="{87E41721-1E23-4080-8780-CBC1BDFFA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755648"/>
            <a:ext cx="214884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200"/>
              <a:buFont typeface="Arial"/>
              <a:buNone/>
            </a:pPr>
            <a:r>
              <a:rPr sz="12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STUDENT ACTIVITY</a:t>
            </a:r>
          </a:p>
        </p:txBody>
      </p:sp>
      <p:sp>
        <p:nvSpPr>
          <p:cNvPr id="268" name="Google Shape;268;p12">
            <a:extLst xmlns:a="http://schemas.openxmlformats.org/drawingml/2006/main">
              <a:ext uri="{FF2B5EF4-FFF2-40B4-BE49-F238E27FC236}">
                <a16:creationId xmlns:a16="http://schemas.microsoft.com/office/drawing/2014/main" id="{6E6969ED-5E25-499C-838E-6A0933214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057400"/>
            <a:ext cx="704088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600"/>
              <a:buFont typeface="Arial"/>
              <a:buNone/>
            </a:pPr>
            <a:r>
              <a:rPr sz="2600" b="1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Build the Portfolio Checklist</a:t>
            </a:r>
          </a:p>
        </p:txBody>
      </p:sp>
      <p:sp>
        <p:nvSpPr>
          <p:cNvPr id="269" name="Google Shape;269;p12">
            <a:extLst xmlns:a="http://schemas.openxmlformats.org/drawingml/2006/main">
              <a:ext uri="{FF2B5EF4-FFF2-40B4-BE49-F238E27FC236}">
                <a16:creationId xmlns:a16="http://schemas.microsoft.com/office/drawing/2014/main" id="{4C57F20A-BD7D-49F1-8407-36140A280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760" y="2084832"/>
            <a:ext cx="1828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600"/>
              <a:buFont typeface="Arial"/>
              <a:buNone/>
            </a:pPr>
            <a:r>
              <a:rPr sz="16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15 MINUTES</a:t>
            </a:r>
          </a:p>
        </p:txBody>
      </p:sp>
      <p:cxnSp>
        <p:nvCxnSpPr>
          <p:cNvPr id="295" name="Google Shape;270;p12"/>
          <p:cNvCxnSpPr/>
          <p:nvPr/>
        </p:nvCxnSpPr>
        <p:spPr>
          <a:xfrm xmlns:a="http://schemas.openxmlformats.org/drawingml/2006/main">
            <a:off x="640080" y="2706624"/>
            <a:ext cx="10881360" cy="0"/>
          </a:xfrm>
          <a:prstGeom xmlns:a="http://schemas.openxmlformats.org/drawingml/2006/main" prst="straightConnector1">
            <a:avLst/>
          </a:prstGeom>
          <a:ln xmlns:a="http://schemas.openxmlformats.org/drawingml/2006/main" w="12700" cap="flat">
            <a:solidFill>
              <a:srgbClr val="5A5A5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71" name="Google Shape;271;p12">
            <a:extLst xmlns:a="http://schemas.openxmlformats.org/drawingml/2006/main">
              <a:ext uri="{FF2B5EF4-FFF2-40B4-BE49-F238E27FC236}">
                <a16:creationId xmlns:a16="http://schemas.microsoft.com/office/drawing/2014/main" id="{AAA521EB-B3EA-47F4-A1C2-85B509AFC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990088"/>
            <a:ext cx="10515600" cy="2560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75" tIns="375" rIns="375" bIns="375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100"/>
              <a:buFont typeface="Arial"/>
              <a:buNone/>
            </a:pPr>
            <a:r>
              <a:rPr sz="21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Open your portfolio folder or planning document. Use the checklist to mark: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t/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100"/>
              <a:buFont typeface="Arial"/>
              <a:buNone/>
            </a:pPr>
            <a:r>
              <a:rPr sz="21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• included artifacts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100"/>
              <a:buFont typeface="Arial"/>
              <a:buNone/>
            </a:pPr>
            <a:r>
              <a:rPr sz="21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• missing artifacts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100"/>
              <a:buFont typeface="Arial"/>
              <a:buNone/>
            </a:pPr>
            <a:r>
              <a:rPr sz="21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• artifacts that need clearer names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100"/>
              <a:buFont typeface="Arial"/>
              <a:buNone/>
            </a:pPr>
            <a:r>
              <a:rPr sz="21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• artifacts that need short explanations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t/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100"/>
              <a:buFont typeface="Arial"/>
              <a:buNone/>
            </a:pPr>
            <a:r>
              <a:rPr sz="21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Star the artifact that best represents your growth as a researcher.</a:t>
            </a:r>
          </a:p>
        </p:txBody>
      </p:sp>
    </p:spTree>
    <p:extLst>
      <p:ext uri="{BB962C8B-B14F-4D97-AF65-F5344CB8AC3E}">
        <p14:creationId xmlns:p14="http://schemas.microsoft.com/office/powerpoint/2010/main" val="81249210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B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7" name="Google Shape;277;p13">
            <a:extLst xmlns:a="http://schemas.openxmlformats.org/drawingml/2006/main">
              <a:ext uri="{FF2B5EF4-FFF2-40B4-BE49-F238E27FC236}">
                <a16:creationId xmlns:a16="http://schemas.microsoft.com/office/drawing/2014/main" id="{221EC3BD-25F9-4592-BC06-276E760D6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B0D"/>
          </a:solidFill>
          <a:ln xmlns:a="http://schemas.openxmlformats.org/drawingml/2006/main" w="12700" cmpd="sng">
            <a:solidFill>
              <a:srgbClr val="0B0B0D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78" name="Google Shape;278;p13">
            <a:extLst xmlns:a="http://schemas.openxmlformats.org/drawingml/2006/main">
              <a:ext uri="{FF2B5EF4-FFF2-40B4-BE49-F238E27FC236}">
                <a16:creationId xmlns:a16="http://schemas.microsoft.com/office/drawing/2014/main" id="{F7156BEE-85DE-4AFA-9998-A5A802C4A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9728"/>
            <a:ext cx="12191695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79" name="Google Shape;279;p13">
            <a:extLst xmlns:a="http://schemas.openxmlformats.org/drawingml/2006/main">
              <a:ext uri="{FF2B5EF4-FFF2-40B4-BE49-F238E27FC236}">
                <a16:creationId xmlns:a16="http://schemas.microsoft.com/office/drawing/2014/main" id="{7030F6D0-FBEB-4878-BF24-F982F1799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75120"/>
            <a:ext cx="12191695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80" name="Google Shape;280;p13">
            <a:extLst xmlns:a="http://schemas.openxmlformats.org/drawingml/2006/main">
              <a:ext uri="{FF2B5EF4-FFF2-40B4-BE49-F238E27FC236}">
                <a16:creationId xmlns:a16="http://schemas.microsoft.com/office/drawing/2014/main" id="{9C741C38-2ADF-4678-B5B3-45C9BE699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364224"/>
            <a:ext cx="301752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sz="950" b="1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PORTFOLIO</a:t>
            </a:r>
          </a:p>
        </p:txBody>
      </p:sp>
      <p:sp>
        <p:nvSpPr>
          <p:cNvPr id="281" name="Google Shape;281;p13">
            <a:extLst xmlns:a="http://schemas.openxmlformats.org/drawingml/2006/main">
              <a:ext uri="{FF2B5EF4-FFF2-40B4-BE49-F238E27FC236}">
                <a16:creationId xmlns:a16="http://schemas.microsoft.com/office/drawing/2014/main" id="{468F8AFE-5E0B-4FFF-A5E3-5623EBEC8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5872" y="6364224"/>
            <a:ext cx="132588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sz="950" b="1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DECK 19</a:t>
            </a:r>
          </a:p>
        </p:txBody>
      </p:sp>
      <p:sp>
        <p:nvSpPr>
          <p:cNvPr id="282" name="Google Shape;282;p13">
            <a:extLst xmlns:a="http://schemas.openxmlformats.org/drawingml/2006/main">
              <a:ext uri="{FF2B5EF4-FFF2-40B4-BE49-F238E27FC236}">
                <a16:creationId xmlns:a16="http://schemas.microsoft.com/office/drawing/2014/main" id="{65B046FE-7D52-469C-A1B9-2C309E245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02920"/>
            <a:ext cx="11064240" cy="5303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3000"/>
              <a:buFont typeface="Play"/>
              <a:buNone/>
            </a:pPr>
            <a:r>
              <a:rPr sz="3000" b="1" i="0" u="none" cap="none">
                <a:solidFill>
                  <a:srgbClr val="F4F4F4"/>
                </a:solidFill>
                <a:latin typeface="Play"/>
                <a:ea typeface="Play"/>
                <a:cs typeface="Play"/>
              </a:rPr>
              <a:t>A Portfolio Needs Context</a:t>
            </a:r>
          </a:p>
        </p:txBody>
      </p:sp>
      <p:sp>
        <p:nvSpPr>
          <p:cNvPr id="283" name="Google Shape;283;p13">
            <a:extLst xmlns:a="http://schemas.openxmlformats.org/drawingml/2006/main">
              <a:ext uri="{FF2B5EF4-FFF2-40B4-BE49-F238E27FC236}">
                <a16:creationId xmlns:a16="http://schemas.microsoft.com/office/drawing/2014/main" id="{ED3774EC-B3FB-4D01-ACE0-FC999F978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61872"/>
            <a:ext cx="91440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84" name="Google Shape;284;p13">
            <a:extLst xmlns:a="http://schemas.openxmlformats.org/drawingml/2006/main">
              <a:ext uri="{FF2B5EF4-FFF2-40B4-BE49-F238E27FC236}">
                <a16:creationId xmlns:a16="http://schemas.microsoft.com/office/drawing/2014/main" id="{353B18A8-8BC2-40B6-A1A5-8A5A3608C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280160"/>
            <a:ext cx="987552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1300"/>
              <a:buFont typeface="Arial"/>
              <a:buNone/>
            </a:pPr>
            <a:r>
              <a:rPr sz="1300" b="0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Do not make the reader guess why each artifact matters.</a:t>
            </a:r>
          </a:p>
        </p:txBody>
      </p:sp>
      <p:sp>
        <p:nvSpPr>
          <p:cNvPr id="285" name="Google Shape;285;p13">
            <a:extLst xmlns:a="http://schemas.openxmlformats.org/drawingml/2006/main">
              <a:ext uri="{FF2B5EF4-FFF2-40B4-BE49-F238E27FC236}">
                <a16:creationId xmlns:a16="http://schemas.microsoft.com/office/drawing/2014/main" id="{42A5ACDE-EF9B-4301-AFF7-71BEDD2D7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66360" cy="3840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3"/>
          </a:solidFill>
          <a:ln xmlns:a="http://schemas.openxmlformats.org/drawingml/2006/main" w="12700" cmpd="sng">
            <a:solidFill>
              <a:srgbClr val="5A5A5A">
                <a:alpha val="8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86" name="Google Shape;286;p13">
            <a:extLst xmlns:a="http://schemas.openxmlformats.org/drawingml/2006/main">
              <a:ext uri="{FF2B5EF4-FFF2-40B4-BE49-F238E27FC236}">
                <a16:creationId xmlns:a16="http://schemas.microsoft.com/office/drawing/2014/main" id="{A66902A1-AC23-4365-9AF4-EFD1EA39E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64008" cy="3840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87" name="Google Shape;287;p13">
            <a:extLst xmlns:a="http://schemas.openxmlformats.org/drawingml/2006/main">
              <a:ext uri="{FF2B5EF4-FFF2-40B4-BE49-F238E27FC236}">
                <a16:creationId xmlns:a16="http://schemas.microsoft.com/office/drawing/2014/main" id="{BDCB728D-7967-491F-B2B7-1ABCD1031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" y="1737360"/>
            <a:ext cx="484632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FILE DUMP</a:t>
            </a:r>
          </a:p>
        </p:txBody>
      </p:sp>
      <p:sp>
        <p:nvSpPr>
          <p:cNvPr id="288" name="Google Shape;288;p13">
            <a:extLst xmlns:a="http://schemas.openxmlformats.org/drawingml/2006/main">
              <a:ext uri="{FF2B5EF4-FFF2-40B4-BE49-F238E27FC236}">
                <a16:creationId xmlns:a16="http://schemas.microsoft.com/office/drawing/2014/main" id="{9130C527-1223-4E1E-97A4-D28611DAF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" y="2057400"/>
            <a:ext cx="4846320" cy="3273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• Random screenshots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• Untitled graphs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• Old drafts with no explanation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• Photos without dates or captions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• Feedback forms not connected to revisions</a:t>
            </a:r>
          </a:p>
        </p:txBody>
      </p:sp>
      <p:sp>
        <p:nvSpPr>
          <p:cNvPr id="289" name="Google Shape;289;p13">
            <a:extLst xmlns:a="http://schemas.openxmlformats.org/drawingml/2006/main">
              <a:ext uri="{FF2B5EF4-FFF2-40B4-BE49-F238E27FC236}">
                <a16:creationId xmlns:a16="http://schemas.microsoft.com/office/drawing/2014/main" id="{CF7C1BC5-D388-481C-BA37-4400D2444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600200"/>
            <a:ext cx="5166360" cy="3840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3"/>
          </a:solidFill>
          <a:ln xmlns:a="http://schemas.openxmlformats.org/drawingml/2006/main" w="12700" cmpd="sng">
            <a:solidFill>
              <a:srgbClr val="5A5A5A">
                <a:alpha val="8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90" name="Google Shape;290;p13">
            <a:extLst xmlns:a="http://schemas.openxmlformats.org/drawingml/2006/main">
              <a:ext uri="{FF2B5EF4-FFF2-40B4-BE49-F238E27FC236}">
                <a16:creationId xmlns:a16="http://schemas.microsoft.com/office/drawing/2014/main" id="{CD2DCE8F-EB5E-4667-B515-EB121FE06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600200"/>
            <a:ext cx="64008" cy="3840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91" name="Google Shape;291;p13">
            <a:extLst xmlns:a="http://schemas.openxmlformats.org/drawingml/2006/main">
              <a:ext uri="{FF2B5EF4-FFF2-40B4-BE49-F238E27FC236}">
                <a16:creationId xmlns:a16="http://schemas.microsoft.com/office/drawing/2014/main" id="{18BD7771-03D4-4AE5-86CF-0E511A376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1737360"/>
            <a:ext cx="484632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CURATED PORTFOLIO</a:t>
            </a:r>
          </a:p>
        </p:txBody>
      </p:sp>
      <p:sp>
        <p:nvSpPr>
          <p:cNvPr id="292" name="Google Shape;292;p13">
            <a:extLst xmlns:a="http://schemas.openxmlformats.org/drawingml/2006/main">
              <a:ext uri="{FF2B5EF4-FFF2-40B4-BE49-F238E27FC236}">
                <a16:creationId xmlns:a16="http://schemas.microsoft.com/office/drawing/2014/main" id="{D270C48F-87A3-4528-A6F4-8E28F5E0D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2057400"/>
            <a:ext cx="4846320" cy="3273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• Clear folders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• Descriptive file names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• Short artifact captions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• Process and product represented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• Reflection connects artifacts to growth</a:t>
            </a:r>
          </a:p>
        </p:txBody>
      </p:sp>
    </p:spTree>
    <p:extLst>
      <p:ext uri="{BB962C8B-B14F-4D97-AF65-F5344CB8AC3E}">
        <p14:creationId xmlns:p14="http://schemas.microsoft.com/office/powerpoint/2010/main" val="5494935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B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8" name="Google Shape;298;p14">
            <a:extLst xmlns:a="http://schemas.openxmlformats.org/drawingml/2006/main">
              <a:ext uri="{FF2B5EF4-FFF2-40B4-BE49-F238E27FC236}">
                <a16:creationId xmlns:a16="http://schemas.microsoft.com/office/drawing/2014/main" id="{67AF565C-FC63-440B-A78A-D62C0EE37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B0D"/>
          </a:solidFill>
          <a:ln xmlns:a="http://schemas.openxmlformats.org/drawingml/2006/main" w="12700" cmpd="sng">
            <a:solidFill>
              <a:srgbClr val="0B0B0D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99" name="Google Shape;299;p14">
            <a:extLst xmlns:a="http://schemas.openxmlformats.org/drawingml/2006/main">
              <a:ext uri="{FF2B5EF4-FFF2-40B4-BE49-F238E27FC236}">
                <a16:creationId xmlns:a16="http://schemas.microsoft.com/office/drawing/2014/main" id="{145E4382-AB15-4975-9B47-503094668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9728"/>
            <a:ext cx="12191695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00" name="Google Shape;300;p14">
            <a:extLst xmlns:a="http://schemas.openxmlformats.org/drawingml/2006/main">
              <a:ext uri="{FF2B5EF4-FFF2-40B4-BE49-F238E27FC236}">
                <a16:creationId xmlns:a16="http://schemas.microsoft.com/office/drawing/2014/main" id="{1997AE91-710A-4973-9D8A-A60325E8A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75120"/>
            <a:ext cx="12191695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01" name="Google Shape;301;p14">
            <a:extLst xmlns:a="http://schemas.openxmlformats.org/drawingml/2006/main">
              <a:ext uri="{FF2B5EF4-FFF2-40B4-BE49-F238E27FC236}">
                <a16:creationId xmlns:a16="http://schemas.microsoft.com/office/drawing/2014/main" id="{C626A34A-95B1-4CE8-A01F-6E935209B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364224"/>
            <a:ext cx="301752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sz="950" b="1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REFLECTION</a:t>
            </a:r>
          </a:p>
        </p:txBody>
      </p:sp>
      <p:sp>
        <p:nvSpPr>
          <p:cNvPr id="302" name="Google Shape;302;p14">
            <a:extLst xmlns:a="http://schemas.openxmlformats.org/drawingml/2006/main">
              <a:ext uri="{FF2B5EF4-FFF2-40B4-BE49-F238E27FC236}">
                <a16:creationId xmlns:a16="http://schemas.microsoft.com/office/drawing/2014/main" id="{DC703C72-46E1-4ACE-B69C-66A413211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5872" y="6364224"/>
            <a:ext cx="132588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sz="950" b="1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DECK 19</a:t>
            </a:r>
          </a:p>
        </p:txBody>
      </p:sp>
      <p:sp>
        <p:nvSpPr>
          <p:cNvPr id="303" name="Google Shape;303;p14">
            <a:extLst xmlns:a="http://schemas.openxmlformats.org/drawingml/2006/main">
              <a:ext uri="{FF2B5EF4-FFF2-40B4-BE49-F238E27FC236}">
                <a16:creationId xmlns:a16="http://schemas.microsoft.com/office/drawing/2014/main" id="{426CFA97-7E66-4AB9-A727-EC29352C1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02920"/>
            <a:ext cx="11064240" cy="5303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3000"/>
              <a:buFont typeface="Play"/>
              <a:buNone/>
            </a:pPr>
            <a:r>
              <a:rPr sz="3000" b="1" i="0" u="none" cap="none">
                <a:solidFill>
                  <a:srgbClr val="F4F4F4"/>
                </a:solidFill>
                <a:latin typeface="Play"/>
                <a:ea typeface="Play"/>
                <a:cs typeface="Play"/>
              </a:rPr>
              <a:t>What Did You Learn About Research?</a:t>
            </a:r>
          </a:p>
        </p:txBody>
      </p:sp>
      <p:sp>
        <p:nvSpPr>
          <p:cNvPr id="304" name="Google Shape;304;p14">
            <a:extLst xmlns:a="http://schemas.openxmlformats.org/drawingml/2006/main">
              <a:ext uri="{FF2B5EF4-FFF2-40B4-BE49-F238E27FC236}">
                <a16:creationId xmlns:a16="http://schemas.microsoft.com/office/drawing/2014/main" id="{41F4E027-E1DC-4370-A6ED-BA2309E6C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61872"/>
            <a:ext cx="91440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05" name="Google Shape;305;p14">
            <a:extLst xmlns:a="http://schemas.openxmlformats.org/drawingml/2006/main">
              <a:ext uri="{FF2B5EF4-FFF2-40B4-BE49-F238E27FC236}">
                <a16:creationId xmlns:a16="http://schemas.microsoft.com/office/drawing/2014/main" id="{E5A4423E-54D8-462E-A69D-6ADC3F931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280160"/>
            <a:ext cx="987552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1300"/>
              <a:buFont typeface="Arial"/>
              <a:buNone/>
            </a:pPr>
            <a:r>
              <a:rPr sz="1300" b="0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Push beyond “I learned science.”</a:t>
            </a:r>
          </a:p>
        </p:txBody>
      </p:sp>
      <p:sp>
        <p:nvSpPr>
          <p:cNvPr id="306" name="Google Shape;306;p14">
            <a:extLst xmlns:a="http://schemas.openxmlformats.org/drawingml/2006/main">
              <a:ext uri="{FF2B5EF4-FFF2-40B4-BE49-F238E27FC236}">
                <a16:creationId xmlns:a16="http://schemas.microsoft.com/office/drawing/2014/main" id="{C6E5A401-5B38-4ECD-9FD8-EC7195EA3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057400"/>
            <a:ext cx="5120640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3"/>
          </a:solidFill>
          <a:ln xmlns:a="http://schemas.openxmlformats.org/drawingml/2006/main" w="12700" cmpd="sng">
            <a:solidFill>
              <a:srgbClr val="5A5A5A">
                <a:alpha val="8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07" name="Google Shape;307;p14">
            <a:extLst xmlns:a="http://schemas.openxmlformats.org/drawingml/2006/main">
              <a:ext uri="{FF2B5EF4-FFF2-40B4-BE49-F238E27FC236}">
                <a16:creationId xmlns:a16="http://schemas.microsoft.com/office/drawing/2014/main" id="{2B929078-8B2F-4A4C-B5FE-DE3D5BA49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057400"/>
            <a:ext cx="64008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08" name="Google Shape;308;p14">
            <a:extLst xmlns:a="http://schemas.openxmlformats.org/drawingml/2006/main">
              <a:ext uri="{FF2B5EF4-FFF2-40B4-BE49-F238E27FC236}">
                <a16:creationId xmlns:a16="http://schemas.microsoft.com/office/drawing/2014/main" id="{34D39655-BC26-4F5F-B5B1-873A1393C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2194560"/>
            <a:ext cx="4800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UNCERTAINTY</a:t>
            </a:r>
          </a:p>
        </p:txBody>
      </p:sp>
      <p:sp>
        <p:nvSpPr>
          <p:cNvPr id="309" name="Google Shape;309;p14">
            <a:extLst xmlns:a="http://schemas.openxmlformats.org/drawingml/2006/main">
              <a:ext uri="{FF2B5EF4-FFF2-40B4-BE49-F238E27FC236}">
                <a16:creationId xmlns:a16="http://schemas.microsoft.com/office/drawing/2014/main" id="{9927D561-7CAA-4E15-98C1-899298CFC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2514600"/>
            <a:ext cx="4800600" cy="850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How did you respond when the answer was not obvious?</a:t>
            </a:r>
          </a:p>
        </p:txBody>
      </p:sp>
      <p:sp>
        <p:nvSpPr>
          <p:cNvPr id="310" name="Google Shape;310;p14">
            <a:extLst xmlns:a="http://schemas.openxmlformats.org/drawingml/2006/main">
              <a:ext uri="{FF2B5EF4-FFF2-40B4-BE49-F238E27FC236}">
                <a16:creationId xmlns:a16="http://schemas.microsoft.com/office/drawing/2014/main" id="{1F2D6415-E7AC-4222-BB48-ABE1F1124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2057400"/>
            <a:ext cx="5120640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3"/>
          </a:solidFill>
          <a:ln xmlns:a="http://schemas.openxmlformats.org/drawingml/2006/main" w="12700" cmpd="sng">
            <a:solidFill>
              <a:srgbClr val="5A5A5A">
                <a:alpha val="8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11" name="Google Shape;311;p14">
            <a:extLst xmlns:a="http://schemas.openxmlformats.org/drawingml/2006/main">
              <a:ext uri="{FF2B5EF4-FFF2-40B4-BE49-F238E27FC236}">
                <a16:creationId xmlns:a16="http://schemas.microsoft.com/office/drawing/2014/main" id="{0421D16E-AFB7-4E96-9707-C82F2D0CB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2057400"/>
            <a:ext cx="64008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12" name="Google Shape;312;p14">
            <a:extLst xmlns:a="http://schemas.openxmlformats.org/drawingml/2006/main">
              <a:ext uri="{FF2B5EF4-FFF2-40B4-BE49-F238E27FC236}">
                <a16:creationId xmlns:a16="http://schemas.microsoft.com/office/drawing/2014/main" id="{75944E9A-E5EA-43F1-ABFE-9429F2905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4808" y="2194560"/>
            <a:ext cx="4800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EVIDENCE</a:t>
            </a:r>
          </a:p>
        </p:txBody>
      </p:sp>
      <p:sp>
        <p:nvSpPr>
          <p:cNvPr id="313" name="Google Shape;313;p14">
            <a:extLst xmlns:a="http://schemas.openxmlformats.org/drawingml/2006/main">
              <a:ext uri="{FF2B5EF4-FFF2-40B4-BE49-F238E27FC236}">
                <a16:creationId xmlns:a16="http://schemas.microsoft.com/office/drawing/2014/main" id="{EBF48129-3533-4671-98AE-1FB9AFE32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4808" y="2514600"/>
            <a:ext cx="4800600" cy="850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How did your data change what you thought?</a:t>
            </a:r>
          </a:p>
        </p:txBody>
      </p:sp>
      <p:sp>
        <p:nvSpPr>
          <p:cNvPr id="314" name="Google Shape;314;p14">
            <a:extLst xmlns:a="http://schemas.openxmlformats.org/drawingml/2006/main">
              <a:ext uri="{FF2B5EF4-FFF2-40B4-BE49-F238E27FC236}">
                <a16:creationId xmlns:a16="http://schemas.microsoft.com/office/drawing/2014/main" id="{DAFB884A-20FA-4E57-BA04-D6C5A4603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977640"/>
            <a:ext cx="5120640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3"/>
          </a:solidFill>
          <a:ln xmlns:a="http://schemas.openxmlformats.org/drawingml/2006/main" w="12700" cmpd="sng">
            <a:solidFill>
              <a:srgbClr val="5A5A5A">
                <a:alpha val="8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15" name="Google Shape;315;p14">
            <a:extLst xmlns:a="http://schemas.openxmlformats.org/drawingml/2006/main">
              <a:ext uri="{FF2B5EF4-FFF2-40B4-BE49-F238E27FC236}">
                <a16:creationId xmlns:a16="http://schemas.microsoft.com/office/drawing/2014/main" id="{931AEA69-C0EE-4AF8-871D-ED266AFC1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977640"/>
            <a:ext cx="64008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16" name="Google Shape;316;p14">
            <a:extLst xmlns:a="http://schemas.openxmlformats.org/drawingml/2006/main">
              <a:ext uri="{FF2B5EF4-FFF2-40B4-BE49-F238E27FC236}">
                <a16:creationId xmlns:a16="http://schemas.microsoft.com/office/drawing/2014/main" id="{8A649534-D847-41BD-96E9-58248E2A1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4114800"/>
            <a:ext cx="4800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REVISION</a:t>
            </a:r>
          </a:p>
        </p:txBody>
      </p:sp>
      <p:sp>
        <p:nvSpPr>
          <p:cNvPr id="317" name="Google Shape;317;p14">
            <a:extLst xmlns:a="http://schemas.openxmlformats.org/drawingml/2006/main">
              <a:ext uri="{FF2B5EF4-FFF2-40B4-BE49-F238E27FC236}">
                <a16:creationId xmlns:a16="http://schemas.microsoft.com/office/drawing/2014/main" id="{72AFC6AE-AC4C-46E0-95B5-F4C00D282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4434840"/>
            <a:ext cx="4800600" cy="850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What did feedback, failure, or pilot testing force you to improve?</a:t>
            </a:r>
          </a:p>
        </p:txBody>
      </p:sp>
      <p:sp>
        <p:nvSpPr>
          <p:cNvPr id="318" name="Google Shape;318;p14">
            <a:extLst xmlns:a="http://schemas.openxmlformats.org/drawingml/2006/main">
              <a:ext uri="{FF2B5EF4-FFF2-40B4-BE49-F238E27FC236}">
                <a16:creationId xmlns:a16="http://schemas.microsoft.com/office/drawing/2014/main" id="{F00C057E-DD94-437B-BAB6-D1B0520FD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3977640"/>
            <a:ext cx="5120640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3"/>
          </a:solidFill>
          <a:ln xmlns:a="http://schemas.openxmlformats.org/drawingml/2006/main" w="12700" cmpd="sng">
            <a:solidFill>
              <a:srgbClr val="5A5A5A">
                <a:alpha val="8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19" name="Google Shape;319;p14">
            <a:extLst xmlns:a="http://schemas.openxmlformats.org/drawingml/2006/main">
              <a:ext uri="{FF2B5EF4-FFF2-40B4-BE49-F238E27FC236}">
                <a16:creationId xmlns:a16="http://schemas.microsoft.com/office/drawing/2014/main" id="{1CACF1D0-48C9-463E-8910-4B7A522ED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3977640"/>
            <a:ext cx="64008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20" name="Google Shape;320;p14">
            <a:extLst xmlns:a="http://schemas.openxmlformats.org/drawingml/2006/main">
              <a:ext uri="{FF2B5EF4-FFF2-40B4-BE49-F238E27FC236}">
                <a16:creationId xmlns:a16="http://schemas.microsoft.com/office/drawing/2014/main" id="{34097298-B2E9-4659-AC9E-FC051C8CC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4808" y="4114800"/>
            <a:ext cx="4800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COMMUNICATION</a:t>
            </a:r>
          </a:p>
        </p:txBody>
      </p:sp>
      <p:sp>
        <p:nvSpPr>
          <p:cNvPr id="321" name="Google Shape;321;p14">
            <a:extLst xmlns:a="http://schemas.openxmlformats.org/drawingml/2006/main">
              <a:ext uri="{FF2B5EF4-FFF2-40B4-BE49-F238E27FC236}">
                <a16:creationId xmlns:a16="http://schemas.microsoft.com/office/drawing/2014/main" id="{BF44DC3A-1B0B-478C-B468-D9256BA70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4808" y="4434840"/>
            <a:ext cx="4800600" cy="850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How did explaining the project change your understanding?</a:t>
            </a:r>
          </a:p>
        </p:txBody>
      </p:sp>
    </p:spTree>
    <p:extLst>
      <p:ext uri="{BB962C8B-B14F-4D97-AF65-F5344CB8AC3E}">
        <p14:creationId xmlns:p14="http://schemas.microsoft.com/office/powerpoint/2010/main" val="173396906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B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7" name="Google Shape;327;p15">
            <a:extLst xmlns:a="http://schemas.openxmlformats.org/drawingml/2006/main">
              <a:ext uri="{FF2B5EF4-FFF2-40B4-BE49-F238E27FC236}">
                <a16:creationId xmlns:a16="http://schemas.microsoft.com/office/drawing/2014/main" id="{7900C69B-4EA6-4304-A697-9B455991A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B0D"/>
          </a:solidFill>
          <a:ln xmlns:a="http://schemas.openxmlformats.org/drawingml/2006/main" w="12700" cmpd="sng">
            <a:solidFill>
              <a:srgbClr val="0B0B0D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28" name="Google Shape;328;p15">
            <a:extLst xmlns:a="http://schemas.openxmlformats.org/drawingml/2006/main">
              <a:ext uri="{FF2B5EF4-FFF2-40B4-BE49-F238E27FC236}">
                <a16:creationId xmlns:a16="http://schemas.microsoft.com/office/drawing/2014/main" id="{7EBFCE43-F04A-4B0D-AE7D-B04FF289D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9728"/>
            <a:ext cx="12191695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29" name="Google Shape;329;p15">
            <a:extLst xmlns:a="http://schemas.openxmlformats.org/drawingml/2006/main">
              <a:ext uri="{FF2B5EF4-FFF2-40B4-BE49-F238E27FC236}">
                <a16:creationId xmlns:a16="http://schemas.microsoft.com/office/drawing/2014/main" id="{E29CB94B-0775-455F-A897-BEDA66290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75120"/>
            <a:ext cx="12191695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30" name="Google Shape;330;p15">
            <a:extLst xmlns:a="http://schemas.openxmlformats.org/drawingml/2006/main">
              <a:ext uri="{FF2B5EF4-FFF2-40B4-BE49-F238E27FC236}">
                <a16:creationId xmlns:a16="http://schemas.microsoft.com/office/drawing/2014/main" id="{EDD4CBDC-6FE0-4118-B0B0-F49771128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364224"/>
            <a:ext cx="301752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sz="950" b="1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STUDENT ACTIVITY</a:t>
            </a:r>
          </a:p>
        </p:txBody>
      </p:sp>
      <p:sp>
        <p:nvSpPr>
          <p:cNvPr id="331" name="Google Shape;331;p15">
            <a:extLst xmlns:a="http://schemas.openxmlformats.org/drawingml/2006/main">
              <a:ext uri="{FF2B5EF4-FFF2-40B4-BE49-F238E27FC236}">
                <a16:creationId xmlns:a16="http://schemas.microsoft.com/office/drawing/2014/main" id="{D144AD2A-F4C2-40BC-AA21-2A01CB230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5872" y="6364224"/>
            <a:ext cx="132588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sz="950" b="1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DECK 19</a:t>
            </a:r>
          </a:p>
        </p:txBody>
      </p:sp>
      <p:sp>
        <p:nvSpPr>
          <p:cNvPr id="332" name="Google Shape;332;p15">
            <a:extLst xmlns:a="http://schemas.openxmlformats.org/drawingml/2006/main">
              <a:ext uri="{FF2B5EF4-FFF2-40B4-BE49-F238E27FC236}">
                <a16:creationId xmlns:a16="http://schemas.microsoft.com/office/drawing/2014/main" id="{4271312D-7496-4587-9015-289AB80AA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02920"/>
            <a:ext cx="11064240" cy="5303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3000"/>
              <a:buFont typeface="Play"/>
              <a:buNone/>
            </a:pPr>
            <a:r>
              <a:rPr sz="3000" b="1" i="0" u="none" cap="none">
                <a:solidFill>
                  <a:srgbClr val="F4F4F4"/>
                </a:solidFill>
                <a:latin typeface="Play"/>
                <a:ea typeface="Play"/>
                <a:cs typeface="Play"/>
              </a:rPr>
              <a:t>Activity: Growth Claim + Evidence</a:t>
            </a:r>
          </a:p>
        </p:txBody>
      </p:sp>
      <p:sp>
        <p:nvSpPr>
          <p:cNvPr id="333" name="Google Shape;333;p15">
            <a:extLst xmlns:a="http://schemas.openxmlformats.org/drawingml/2006/main">
              <a:ext uri="{FF2B5EF4-FFF2-40B4-BE49-F238E27FC236}">
                <a16:creationId xmlns:a16="http://schemas.microsoft.com/office/drawing/2014/main" id="{59780CE2-9C42-480E-BED3-BFCC8B19C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61872"/>
            <a:ext cx="91440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34" name="Google Shape;334;p15">
            <a:extLst xmlns:a="http://schemas.openxmlformats.org/drawingml/2006/main">
              <a:ext uri="{FF2B5EF4-FFF2-40B4-BE49-F238E27FC236}">
                <a16:creationId xmlns:a16="http://schemas.microsoft.com/office/drawing/2014/main" id="{94D529D2-F400-47C4-9414-E16FF22FE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280160"/>
            <a:ext cx="987552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1300"/>
              <a:buFont typeface="Arial"/>
              <a:buNone/>
            </a:pPr>
            <a:r>
              <a:rPr sz="1300" b="0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Students make a claim about their own development.</a:t>
            </a:r>
          </a:p>
        </p:txBody>
      </p:sp>
      <p:sp>
        <p:nvSpPr>
          <p:cNvPr id="335" name="Google Shape;335;p15">
            <a:extLst xmlns:a="http://schemas.openxmlformats.org/drawingml/2006/main">
              <a:ext uri="{FF2B5EF4-FFF2-40B4-BE49-F238E27FC236}">
                <a16:creationId xmlns:a16="http://schemas.microsoft.com/office/drawing/2014/main" id="{87ABA9CF-5F74-4EC0-8C18-27CDB397B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755648"/>
            <a:ext cx="214884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200"/>
              <a:buFont typeface="Arial"/>
              <a:buNone/>
            </a:pPr>
            <a:r>
              <a:rPr sz="12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STUDENT ACTIVITY</a:t>
            </a:r>
          </a:p>
        </p:txBody>
      </p:sp>
      <p:sp>
        <p:nvSpPr>
          <p:cNvPr id="336" name="Google Shape;336;p15">
            <a:extLst xmlns:a="http://schemas.openxmlformats.org/drawingml/2006/main">
              <a:ext uri="{FF2B5EF4-FFF2-40B4-BE49-F238E27FC236}">
                <a16:creationId xmlns:a16="http://schemas.microsoft.com/office/drawing/2014/main" id="{BBF94FCC-FC34-484D-BBCF-A2726240D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057400"/>
            <a:ext cx="704088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600"/>
              <a:buFont typeface="Arial"/>
              <a:buNone/>
            </a:pPr>
            <a:r>
              <a:rPr sz="2600" b="1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Prove Your Growth</a:t>
            </a:r>
          </a:p>
        </p:txBody>
      </p:sp>
      <p:sp>
        <p:nvSpPr>
          <p:cNvPr id="337" name="Google Shape;337;p15">
            <a:extLst xmlns:a="http://schemas.openxmlformats.org/drawingml/2006/main">
              <a:ext uri="{FF2B5EF4-FFF2-40B4-BE49-F238E27FC236}">
                <a16:creationId xmlns:a16="http://schemas.microsoft.com/office/drawing/2014/main" id="{C0881B09-ADF8-4FA8-BA89-06C854293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760" y="2084832"/>
            <a:ext cx="1828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600"/>
              <a:buFont typeface="Arial"/>
              <a:buNone/>
            </a:pPr>
            <a:r>
              <a:rPr sz="16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10 MINUTES</a:t>
            </a:r>
          </a:p>
        </p:txBody>
      </p:sp>
      <p:cxnSp>
        <p:nvCxnSpPr>
          <p:cNvPr id="363" name="Google Shape;338;p15"/>
          <p:cNvCxnSpPr/>
          <p:nvPr/>
        </p:nvCxnSpPr>
        <p:spPr>
          <a:xfrm xmlns:a="http://schemas.openxmlformats.org/drawingml/2006/main">
            <a:off x="640080" y="2706624"/>
            <a:ext cx="10881360" cy="0"/>
          </a:xfrm>
          <a:prstGeom xmlns:a="http://schemas.openxmlformats.org/drawingml/2006/main" prst="straightConnector1">
            <a:avLst/>
          </a:prstGeom>
          <a:ln xmlns:a="http://schemas.openxmlformats.org/drawingml/2006/main" w="12700" cap="flat">
            <a:solidFill>
              <a:srgbClr val="5A5A5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39" name="Google Shape;339;p15">
            <a:extLst xmlns:a="http://schemas.openxmlformats.org/drawingml/2006/main">
              <a:ext uri="{FF2B5EF4-FFF2-40B4-BE49-F238E27FC236}">
                <a16:creationId xmlns:a16="http://schemas.microsoft.com/office/drawing/2014/main" id="{874CA3B7-733C-4A93-8C22-3C7DC4F16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990088"/>
            <a:ext cx="10515600" cy="2560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75" tIns="375" rIns="375" bIns="375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100"/>
              <a:buFont typeface="Arial"/>
              <a:buNone/>
            </a:pPr>
            <a:r>
              <a:rPr sz="21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Write one claim about how you changed as a researcher.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t/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100"/>
              <a:buFont typeface="Arial"/>
              <a:buNone/>
            </a:pPr>
            <a:r>
              <a:rPr sz="21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Then support it with evidence: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100"/>
              <a:buFont typeface="Arial"/>
              <a:buNone/>
            </a:pPr>
            <a:r>
              <a:rPr sz="21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• one artifact from your portfolio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100"/>
              <a:buFont typeface="Arial"/>
              <a:buNone/>
            </a:pPr>
            <a:r>
              <a:rPr sz="21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• one specific moment from the project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100"/>
              <a:buFont typeface="Arial"/>
              <a:buNone/>
            </a:pPr>
            <a:r>
              <a:rPr sz="21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• one skill or habit you improved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t/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100"/>
              <a:buFont typeface="Arial"/>
              <a:buNone/>
            </a:pPr>
            <a:r>
              <a:rPr sz="21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Example: “I became better at troubleshooting because...”</a:t>
            </a:r>
          </a:p>
        </p:txBody>
      </p:sp>
    </p:spTree>
    <p:extLst>
      <p:ext uri="{BB962C8B-B14F-4D97-AF65-F5344CB8AC3E}">
        <p14:creationId xmlns:p14="http://schemas.microsoft.com/office/powerpoint/2010/main" val="177802780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B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5" name="Google Shape;345;p16">
            <a:extLst xmlns:a="http://schemas.openxmlformats.org/drawingml/2006/main">
              <a:ext uri="{FF2B5EF4-FFF2-40B4-BE49-F238E27FC236}">
                <a16:creationId xmlns:a16="http://schemas.microsoft.com/office/drawing/2014/main" id="{2FFB0CB5-1C3A-432D-8079-CFC9FB60A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B0D"/>
          </a:solidFill>
          <a:ln xmlns:a="http://schemas.openxmlformats.org/drawingml/2006/main" w="12700" cmpd="sng">
            <a:solidFill>
              <a:srgbClr val="0B0B0D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46" name="Google Shape;346;p16">
            <a:extLst xmlns:a="http://schemas.openxmlformats.org/drawingml/2006/main">
              <a:ext uri="{FF2B5EF4-FFF2-40B4-BE49-F238E27FC236}">
                <a16:creationId xmlns:a16="http://schemas.microsoft.com/office/drawing/2014/main" id="{18905AD2-C2B7-4D5E-AE23-7CD5FAADB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9728"/>
            <a:ext cx="12191695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47" name="Google Shape;347;p16">
            <a:extLst xmlns:a="http://schemas.openxmlformats.org/drawingml/2006/main">
              <a:ext uri="{FF2B5EF4-FFF2-40B4-BE49-F238E27FC236}">
                <a16:creationId xmlns:a16="http://schemas.microsoft.com/office/drawing/2014/main" id="{5266E872-08EA-4666-9EB6-7D4CFE54B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75120"/>
            <a:ext cx="12191695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48" name="Google Shape;348;p16">
            <a:extLst xmlns:a="http://schemas.openxmlformats.org/drawingml/2006/main">
              <a:ext uri="{FF2B5EF4-FFF2-40B4-BE49-F238E27FC236}">
                <a16:creationId xmlns:a16="http://schemas.microsoft.com/office/drawing/2014/main" id="{0841D582-9CC7-4586-BD81-F442F67B4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364224"/>
            <a:ext cx="301752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sz="950" b="1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NEXT STEPS</a:t>
            </a:r>
          </a:p>
        </p:txBody>
      </p:sp>
      <p:sp>
        <p:nvSpPr>
          <p:cNvPr id="349" name="Google Shape;349;p16">
            <a:extLst xmlns:a="http://schemas.openxmlformats.org/drawingml/2006/main">
              <a:ext uri="{FF2B5EF4-FFF2-40B4-BE49-F238E27FC236}">
                <a16:creationId xmlns:a16="http://schemas.microsoft.com/office/drawing/2014/main" id="{AEC0C9A5-ED22-4B55-84A8-6ADF2E6E4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5872" y="6364224"/>
            <a:ext cx="132588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sz="950" b="1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DECK 19</a:t>
            </a:r>
          </a:p>
        </p:txBody>
      </p:sp>
      <p:sp>
        <p:nvSpPr>
          <p:cNvPr id="350" name="Google Shape;350;p16">
            <a:extLst xmlns:a="http://schemas.openxmlformats.org/drawingml/2006/main">
              <a:ext uri="{FF2B5EF4-FFF2-40B4-BE49-F238E27FC236}">
                <a16:creationId xmlns:a16="http://schemas.microsoft.com/office/drawing/2014/main" id="{7A34D4CD-96DB-406C-9B8F-9C86604C4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02920"/>
            <a:ext cx="11064240" cy="5303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3000"/>
              <a:buFont typeface="Play"/>
              <a:buNone/>
            </a:pPr>
            <a:r>
              <a:rPr sz="3000" b="1" i="0" u="none" cap="none">
                <a:solidFill>
                  <a:srgbClr val="F4F4F4"/>
                </a:solidFill>
                <a:latin typeface="Play"/>
                <a:ea typeface="Play"/>
                <a:cs typeface="Play"/>
              </a:rPr>
              <a:t>Does the Project Continue?</a:t>
            </a:r>
          </a:p>
        </p:txBody>
      </p:sp>
      <p:sp>
        <p:nvSpPr>
          <p:cNvPr id="351" name="Google Shape;351;p16">
            <a:extLst xmlns:a="http://schemas.openxmlformats.org/drawingml/2006/main">
              <a:ext uri="{FF2B5EF4-FFF2-40B4-BE49-F238E27FC236}">
                <a16:creationId xmlns:a16="http://schemas.microsoft.com/office/drawing/2014/main" id="{2A13E08E-E3EA-405E-8338-23D6EE4FE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61872"/>
            <a:ext cx="91440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52" name="Google Shape;352;p16">
            <a:extLst xmlns:a="http://schemas.openxmlformats.org/drawingml/2006/main">
              <a:ext uri="{FF2B5EF4-FFF2-40B4-BE49-F238E27FC236}">
                <a16:creationId xmlns:a16="http://schemas.microsoft.com/office/drawing/2014/main" id="{73DC3461-EDBB-44AF-BE44-FD95428AE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280160"/>
            <a:ext cx="987552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1300"/>
              <a:buFont typeface="Arial"/>
              <a:buNone/>
            </a:pPr>
            <a:r>
              <a:rPr sz="1300" b="0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Some projects end here. Some become the first version of something larger.</a:t>
            </a:r>
          </a:p>
        </p:txBody>
      </p:sp>
      <p:sp>
        <p:nvSpPr>
          <p:cNvPr id="353" name="Google Shape;353;p16">
            <a:extLst xmlns:a="http://schemas.openxmlformats.org/drawingml/2006/main">
              <a:ext uri="{FF2B5EF4-FFF2-40B4-BE49-F238E27FC236}">
                <a16:creationId xmlns:a16="http://schemas.microsoft.com/office/drawing/2014/main" id="{39D0955B-C620-4734-9BCC-F40AC04BC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057400"/>
            <a:ext cx="5120640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3"/>
          </a:solidFill>
          <a:ln xmlns:a="http://schemas.openxmlformats.org/drawingml/2006/main" w="12700" cmpd="sng">
            <a:solidFill>
              <a:srgbClr val="5A5A5A">
                <a:alpha val="8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54" name="Google Shape;354;p16">
            <a:extLst xmlns:a="http://schemas.openxmlformats.org/drawingml/2006/main">
              <a:ext uri="{FF2B5EF4-FFF2-40B4-BE49-F238E27FC236}">
                <a16:creationId xmlns:a16="http://schemas.microsoft.com/office/drawing/2014/main" id="{09889395-90F5-4B20-88D8-24AD47C11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057400"/>
            <a:ext cx="64008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55" name="Google Shape;355;p16">
            <a:extLst xmlns:a="http://schemas.openxmlformats.org/drawingml/2006/main">
              <a:ext uri="{FF2B5EF4-FFF2-40B4-BE49-F238E27FC236}">
                <a16:creationId xmlns:a16="http://schemas.microsoft.com/office/drawing/2014/main" id="{E54E9779-AD89-4523-8274-0844F02D4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2194560"/>
            <a:ext cx="4800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END WELL</a:t>
            </a:r>
          </a:p>
        </p:txBody>
      </p:sp>
      <p:sp>
        <p:nvSpPr>
          <p:cNvPr id="356" name="Google Shape;356;p16">
            <a:extLst xmlns:a="http://schemas.openxmlformats.org/drawingml/2006/main">
              <a:ext uri="{FF2B5EF4-FFF2-40B4-BE49-F238E27FC236}">
                <a16:creationId xmlns:a16="http://schemas.microsoft.com/office/drawing/2014/main" id="{2C64ADC6-ACA4-4982-B903-3B839796F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2514600"/>
            <a:ext cx="4800600" cy="850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Archive the portfolio, reflect honestly, and identify what was learned.</a:t>
            </a:r>
          </a:p>
        </p:txBody>
      </p:sp>
      <p:sp>
        <p:nvSpPr>
          <p:cNvPr id="357" name="Google Shape;357;p16">
            <a:extLst xmlns:a="http://schemas.openxmlformats.org/drawingml/2006/main">
              <a:ext uri="{FF2B5EF4-FFF2-40B4-BE49-F238E27FC236}">
                <a16:creationId xmlns:a16="http://schemas.microsoft.com/office/drawing/2014/main" id="{831B3DAD-DE4F-40F1-9E43-45F6A9F03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2057400"/>
            <a:ext cx="5120640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3"/>
          </a:solidFill>
          <a:ln xmlns:a="http://schemas.openxmlformats.org/drawingml/2006/main" w="12700" cmpd="sng">
            <a:solidFill>
              <a:srgbClr val="5A5A5A">
                <a:alpha val="8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58" name="Google Shape;358;p16">
            <a:extLst xmlns:a="http://schemas.openxmlformats.org/drawingml/2006/main">
              <a:ext uri="{FF2B5EF4-FFF2-40B4-BE49-F238E27FC236}">
                <a16:creationId xmlns:a16="http://schemas.microsoft.com/office/drawing/2014/main" id="{809113AF-4220-411F-8115-235207019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2057400"/>
            <a:ext cx="64008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59" name="Google Shape;359;p16">
            <a:extLst xmlns:a="http://schemas.openxmlformats.org/drawingml/2006/main">
              <a:ext uri="{FF2B5EF4-FFF2-40B4-BE49-F238E27FC236}">
                <a16:creationId xmlns:a16="http://schemas.microsoft.com/office/drawing/2014/main" id="{04BB1191-4D91-4097-B595-1BAB5D131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4808" y="2194560"/>
            <a:ext cx="4800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CONTINUE RESEARCH</a:t>
            </a:r>
          </a:p>
        </p:txBody>
      </p:sp>
      <p:sp>
        <p:nvSpPr>
          <p:cNvPr id="360" name="Google Shape;360;p16">
            <a:extLst xmlns:a="http://schemas.openxmlformats.org/drawingml/2006/main">
              <a:ext uri="{FF2B5EF4-FFF2-40B4-BE49-F238E27FC236}">
                <a16:creationId xmlns:a16="http://schemas.microsoft.com/office/drawing/2014/main" id="{8E3E5244-B448-408F-8DE5-C8E597CE0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4808" y="2514600"/>
            <a:ext cx="4800600" cy="850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Collect more data, improve methods, redesign a prototype, or work with a mentor.</a:t>
            </a:r>
          </a:p>
        </p:txBody>
      </p:sp>
      <p:sp>
        <p:nvSpPr>
          <p:cNvPr id="361" name="Google Shape;361;p16">
            <a:extLst xmlns:a="http://schemas.openxmlformats.org/drawingml/2006/main">
              <a:ext uri="{FF2B5EF4-FFF2-40B4-BE49-F238E27FC236}">
                <a16:creationId xmlns:a16="http://schemas.microsoft.com/office/drawing/2014/main" id="{A1999C3A-F8BB-460B-866A-D9CE7FD62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977640"/>
            <a:ext cx="5120640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3"/>
          </a:solidFill>
          <a:ln xmlns:a="http://schemas.openxmlformats.org/drawingml/2006/main" w="12700" cmpd="sng">
            <a:solidFill>
              <a:srgbClr val="5A5A5A">
                <a:alpha val="8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62" name="Google Shape;362;p16">
            <a:extLst xmlns:a="http://schemas.openxmlformats.org/drawingml/2006/main">
              <a:ext uri="{FF2B5EF4-FFF2-40B4-BE49-F238E27FC236}">
                <a16:creationId xmlns:a16="http://schemas.microsoft.com/office/drawing/2014/main" id="{693AAA33-B748-4A4D-AE4A-5B10AE1FA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977640"/>
            <a:ext cx="64008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63" name="Google Shape;363;p16">
            <a:extLst xmlns:a="http://schemas.openxmlformats.org/drawingml/2006/main">
              <a:ext uri="{FF2B5EF4-FFF2-40B4-BE49-F238E27FC236}">
                <a16:creationId xmlns:a16="http://schemas.microsoft.com/office/drawing/2014/main" id="{25FE00BE-CBEF-4569-A404-5657D4ED7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4114800"/>
            <a:ext cx="4800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SHARE WIDER</a:t>
            </a:r>
          </a:p>
        </p:txBody>
      </p:sp>
      <p:sp>
        <p:nvSpPr>
          <p:cNvPr id="364" name="Google Shape;364;p16">
            <a:extLst xmlns:a="http://schemas.openxmlformats.org/drawingml/2006/main">
              <a:ext uri="{FF2B5EF4-FFF2-40B4-BE49-F238E27FC236}">
                <a16:creationId xmlns:a16="http://schemas.microsoft.com/office/drawing/2014/main" id="{4ED64E06-C4B7-4A5F-A04A-A5DE84246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4434840"/>
            <a:ext cx="4800600" cy="850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Present to a board, community group, mentor panel, or younger students.</a:t>
            </a:r>
          </a:p>
        </p:txBody>
      </p:sp>
      <p:sp>
        <p:nvSpPr>
          <p:cNvPr id="365" name="Google Shape;365;p16">
            <a:extLst xmlns:a="http://schemas.openxmlformats.org/drawingml/2006/main">
              <a:ext uri="{FF2B5EF4-FFF2-40B4-BE49-F238E27FC236}">
                <a16:creationId xmlns:a16="http://schemas.microsoft.com/office/drawing/2014/main" id="{93DAA713-D1CB-4CA5-ACBB-1E94ECB00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3977640"/>
            <a:ext cx="5120640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3"/>
          </a:solidFill>
          <a:ln xmlns:a="http://schemas.openxmlformats.org/drawingml/2006/main" w="12700" cmpd="sng">
            <a:solidFill>
              <a:srgbClr val="5A5A5A">
                <a:alpha val="8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66" name="Google Shape;366;p16">
            <a:extLst xmlns:a="http://schemas.openxmlformats.org/drawingml/2006/main">
              <a:ext uri="{FF2B5EF4-FFF2-40B4-BE49-F238E27FC236}">
                <a16:creationId xmlns:a16="http://schemas.microsoft.com/office/drawing/2014/main" id="{CDB81E21-A4B5-4C94-B35C-8735C27D5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3977640"/>
            <a:ext cx="64008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67" name="Google Shape;367;p16">
            <a:extLst xmlns:a="http://schemas.openxmlformats.org/drawingml/2006/main">
              <a:ext uri="{FF2B5EF4-FFF2-40B4-BE49-F238E27FC236}">
                <a16:creationId xmlns:a16="http://schemas.microsoft.com/office/drawing/2014/main" id="{FF566E3D-69D0-4662-B1D9-5B0BBA609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4808" y="4114800"/>
            <a:ext cx="4800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SUBMIT</a:t>
            </a:r>
          </a:p>
        </p:txBody>
      </p:sp>
      <p:sp>
        <p:nvSpPr>
          <p:cNvPr id="368" name="Google Shape;368;p16">
            <a:extLst xmlns:a="http://schemas.openxmlformats.org/drawingml/2006/main">
              <a:ext uri="{FF2B5EF4-FFF2-40B4-BE49-F238E27FC236}">
                <a16:creationId xmlns:a16="http://schemas.microsoft.com/office/drawing/2014/main" id="{2423A97F-E784-47A2-B4BE-AA3458E44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4808" y="4434840"/>
            <a:ext cx="4800600" cy="850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Consider science fairs, research showcases, student journals, or summer programs.</a:t>
            </a:r>
          </a:p>
        </p:txBody>
      </p:sp>
    </p:spTree>
    <p:extLst>
      <p:ext uri="{BB962C8B-B14F-4D97-AF65-F5344CB8AC3E}">
        <p14:creationId xmlns:p14="http://schemas.microsoft.com/office/powerpoint/2010/main" val="186308269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B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4" name="Google Shape;374;p17">
            <a:extLst xmlns:a="http://schemas.openxmlformats.org/drawingml/2006/main">
              <a:ext uri="{FF2B5EF4-FFF2-40B4-BE49-F238E27FC236}">
                <a16:creationId xmlns:a16="http://schemas.microsoft.com/office/drawing/2014/main" id="{1B061CD2-2127-4711-8C1B-C63C4830A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B0D"/>
          </a:solidFill>
          <a:ln xmlns:a="http://schemas.openxmlformats.org/drawingml/2006/main" w="12700" cmpd="sng">
            <a:solidFill>
              <a:srgbClr val="0B0B0D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75" name="Google Shape;375;p17">
            <a:extLst xmlns:a="http://schemas.openxmlformats.org/drawingml/2006/main">
              <a:ext uri="{FF2B5EF4-FFF2-40B4-BE49-F238E27FC236}">
                <a16:creationId xmlns:a16="http://schemas.microsoft.com/office/drawing/2014/main" id="{5E2AE35A-3B83-47C7-B632-7306C218D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9728"/>
            <a:ext cx="12191695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76" name="Google Shape;376;p17">
            <a:extLst xmlns:a="http://schemas.openxmlformats.org/drawingml/2006/main">
              <a:ext uri="{FF2B5EF4-FFF2-40B4-BE49-F238E27FC236}">
                <a16:creationId xmlns:a16="http://schemas.microsoft.com/office/drawing/2014/main" id="{0BEC74A5-A017-4A70-9BFC-5C18853F0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75120"/>
            <a:ext cx="12191695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77" name="Google Shape;377;p17">
            <a:extLst xmlns:a="http://schemas.openxmlformats.org/drawingml/2006/main">
              <a:ext uri="{FF2B5EF4-FFF2-40B4-BE49-F238E27FC236}">
                <a16:creationId xmlns:a16="http://schemas.microsoft.com/office/drawing/2014/main" id="{A8FC1900-2BA3-4344-AEDC-BA9B39FE1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364224"/>
            <a:ext cx="301752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sz="950" b="1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NEXT STEPS</a:t>
            </a:r>
          </a:p>
        </p:txBody>
      </p:sp>
      <p:sp>
        <p:nvSpPr>
          <p:cNvPr id="378" name="Google Shape;378;p17">
            <a:extLst xmlns:a="http://schemas.openxmlformats.org/drawingml/2006/main">
              <a:ext uri="{FF2B5EF4-FFF2-40B4-BE49-F238E27FC236}">
                <a16:creationId xmlns:a16="http://schemas.microsoft.com/office/drawing/2014/main" id="{492F9B45-C867-4E54-8DF6-CFDE5E401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5872" y="6364224"/>
            <a:ext cx="132588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sz="950" b="1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DECK 19</a:t>
            </a:r>
          </a:p>
        </p:txBody>
      </p:sp>
      <p:sp>
        <p:nvSpPr>
          <p:cNvPr id="379" name="Google Shape;379;p17">
            <a:extLst xmlns:a="http://schemas.openxmlformats.org/drawingml/2006/main">
              <a:ext uri="{FF2B5EF4-FFF2-40B4-BE49-F238E27FC236}">
                <a16:creationId xmlns:a16="http://schemas.microsoft.com/office/drawing/2014/main" id="{0BFD6CBE-D13B-4713-851A-954D3BA62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02920"/>
            <a:ext cx="11064240" cy="5303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3000"/>
              <a:buFont typeface="Play"/>
              <a:buNone/>
            </a:pPr>
            <a:r>
              <a:rPr sz="3000" b="1" i="0" u="none" cap="none">
                <a:solidFill>
                  <a:srgbClr val="F4F4F4"/>
                </a:solidFill>
                <a:latin typeface="Play"/>
                <a:ea typeface="Play"/>
                <a:cs typeface="Play"/>
              </a:rPr>
              <a:t>Before Sharing More Widely</a:t>
            </a:r>
          </a:p>
        </p:txBody>
      </p:sp>
      <p:sp>
        <p:nvSpPr>
          <p:cNvPr id="380" name="Google Shape;380;p17">
            <a:extLst xmlns:a="http://schemas.openxmlformats.org/drawingml/2006/main">
              <a:ext uri="{FF2B5EF4-FFF2-40B4-BE49-F238E27FC236}">
                <a16:creationId xmlns:a16="http://schemas.microsoft.com/office/drawing/2014/main" id="{3E113723-68AB-4795-BFC4-16AA4EC96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61872"/>
            <a:ext cx="91440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81" name="Google Shape;381;p17">
            <a:extLst xmlns:a="http://schemas.openxmlformats.org/drawingml/2006/main">
              <a:ext uri="{FF2B5EF4-FFF2-40B4-BE49-F238E27FC236}">
                <a16:creationId xmlns:a16="http://schemas.microsoft.com/office/drawing/2014/main" id="{119552E7-3786-4FCA-9423-A773A40DC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280160"/>
            <a:ext cx="987552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1300"/>
              <a:buFont typeface="Arial"/>
              <a:buNone/>
            </a:pPr>
            <a:r>
              <a:rPr sz="1300" b="0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A continuation plan should be realistic and honest.</a:t>
            </a:r>
          </a:p>
        </p:txBody>
      </p:sp>
      <p:sp>
        <p:nvSpPr>
          <p:cNvPr id="382" name="Google Shape;382;p17">
            <a:extLst xmlns:a="http://schemas.openxmlformats.org/drawingml/2006/main">
              <a:ext uri="{FF2B5EF4-FFF2-40B4-BE49-F238E27FC236}">
                <a16:creationId xmlns:a16="http://schemas.microsoft.com/office/drawing/2014/main" id="{BEF22906-86A8-49EB-96B2-9BA41DC92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600200"/>
            <a:ext cx="100584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2000"/>
              <a:buFont typeface="Arial"/>
              <a:buNone/>
            </a:pPr>
            <a:r>
              <a:rPr sz="2000" b="1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Students should ask:</a:t>
            </a:r>
          </a:p>
        </p:txBody>
      </p:sp>
      <p:sp>
        <p:nvSpPr>
          <p:cNvPr id="383" name="Google Shape;383;p17">
            <a:extLst xmlns:a="http://schemas.openxmlformats.org/drawingml/2006/main">
              <a:ext uri="{FF2B5EF4-FFF2-40B4-BE49-F238E27FC236}">
                <a16:creationId xmlns:a16="http://schemas.microsoft.com/office/drawing/2014/main" id="{30A8CC65-5D82-452E-9090-EE25CA59D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057400"/>
            <a:ext cx="10607040" cy="2834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300"/>
              <a:buFont typeface="Arial"/>
              <a:buNone/>
            </a:pPr>
            <a:r>
              <a:rPr sz="23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1. What part of the project is strongest right now?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300"/>
              <a:buFont typeface="Arial"/>
              <a:buNone/>
            </a:pPr>
            <a:r>
              <a:rPr sz="23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2. What must be improved before competition, publication, or public sharing?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300"/>
              <a:buFont typeface="Arial"/>
              <a:buNone/>
            </a:pPr>
            <a:r>
              <a:rPr sz="23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3. What approval, mentor support, or additional data would be required?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300"/>
              <a:buFont typeface="Arial"/>
              <a:buNone/>
            </a:pPr>
            <a:r>
              <a:rPr sz="23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4. What is the next action that can realistically happen within two weeks?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300"/>
              <a:buFont typeface="Arial"/>
              <a:buNone/>
            </a:pPr>
            <a:r>
              <a:rPr sz="23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5. What should be preserved so the project can be restarted later?</a:t>
            </a:r>
          </a:p>
        </p:txBody>
      </p:sp>
      <p:sp>
        <p:nvSpPr>
          <p:cNvPr id="384" name="Google Shape;384;p17">
            <a:extLst xmlns:a="http://schemas.openxmlformats.org/drawingml/2006/main">
              <a:ext uri="{FF2B5EF4-FFF2-40B4-BE49-F238E27FC236}">
                <a16:creationId xmlns:a16="http://schemas.microsoft.com/office/drawing/2014/main" id="{1DAA2F16-F1E0-4B3D-BC0D-47E7B94EB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349240"/>
            <a:ext cx="10515600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2200"/>
              <a:buFont typeface="Arial"/>
              <a:buNone/>
            </a:pPr>
            <a:r>
              <a:rPr sz="22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A next step is only useful if it is specific enough to begin.</a:t>
            </a:r>
          </a:p>
        </p:txBody>
      </p:sp>
    </p:spTree>
    <p:extLst>
      <p:ext uri="{BB962C8B-B14F-4D97-AF65-F5344CB8AC3E}">
        <p14:creationId xmlns:p14="http://schemas.microsoft.com/office/powerpoint/2010/main" val="1263176858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B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0" name="Google Shape;390;p18">
            <a:extLst xmlns:a="http://schemas.openxmlformats.org/drawingml/2006/main">
              <a:ext uri="{FF2B5EF4-FFF2-40B4-BE49-F238E27FC236}">
                <a16:creationId xmlns:a16="http://schemas.microsoft.com/office/drawing/2014/main" id="{C6E9190F-E492-40EC-85DF-0195AB56C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4876"/>
            <a:ext cx="121917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B0D"/>
          </a:solidFill>
          <a:ln xmlns:a="http://schemas.openxmlformats.org/drawingml/2006/main" w="12700" cmpd="sng">
            <a:solidFill>
              <a:srgbClr val="0B0B0D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91" name="Google Shape;391;p18">
            <a:extLst xmlns:a="http://schemas.openxmlformats.org/drawingml/2006/main">
              <a:ext uri="{FF2B5EF4-FFF2-40B4-BE49-F238E27FC236}">
                <a16:creationId xmlns:a16="http://schemas.microsoft.com/office/drawing/2014/main" id="{E1185CA6-B760-4FC2-A195-83F8FC226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9728"/>
            <a:ext cx="12191695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92" name="Google Shape;392;p18">
            <a:extLst xmlns:a="http://schemas.openxmlformats.org/drawingml/2006/main">
              <a:ext uri="{FF2B5EF4-FFF2-40B4-BE49-F238E27FC236}">
                <a16:creationId xmlns:a16="http://schemas.microsoft.com/office/drawing/2014/main" id="{0721DCE7-C34F-47CF-9AF5-639F074C1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75120"/>
            <a:ext cx="12191695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93" name="Google Shape;393;p18">
            <a:extLst xmlns:a="http://schemas.openxmlformats.org/drawingml/2006/main">
              <a:ext uri="{FF2B5EF4-FFF2-40B4-BE49-F238E27FC236}">
                <a16:creationId xmlns:a16="http://schemas.microsoft.com/office/drawing/2014/main" id="{E9DBD4A8-BF59-48B4-9FCA-700C1136D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364224"/>
            <a:ext cx="301752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sz="950" b="1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STUDENT ACTIVITY</a:t>
            </a:r>
          </a:p>
        </p:txBody>
      </p:sp>
      <p:sp>
        <p:nvSpPr>
          <p:cNvPr id="394" name="Google Shape;394;p18">
            <a:extLst xmlns:a="http://schemas.openxmlformats.org/drawingml/2006/main">
              <a:ext uri="{FF2B5EF4-FFF2-40B4-BE49-F238E27FC236}">
                <a16:creationId xmlns:a16="http://schemas.microsoft.com/office/drawing/2014/main" id="{7029FE20-F374-44CA-8FD8-666DE3287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5872" y="6364224"/>
            <a:ext cx="132588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sz="950" b="1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DECK 19</a:t>
            </a:r>
          </a:p>
        </p:txBody>
      </p:sp>
      <p:sp>
        <p:nvSpPr>
          <p:cNvPr id="395" name="Google Shape;395;p18">
            <a:extLst xmlns:a="http://schemas.openxmlformats.org/drawingml/2006/main">
              <a:ext uri="{FF2B5EF4-FFF2-40B4-BE49-F238E27FC236}">
                <a16:creationId xmlns:a16="http://schemas.microsoft.com/office/drawing/2014/main" id="{57EA77F1-E276-4375-82D8-97B08ED2B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02920"/>
            <a:ext cx="11064240" cy="5303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3000"/>
              <a:buFont typeface="Play"/>
              <a:buNone/>
            </a:pPr>
            <a:r>
              <a:rPr sz="3000" b="1" i="0" u="none" cap="none">
                <a:solidFill>
                  <a:srgbClr val="F4F4F4"/>
                </a:solidFill>
                <a:latin typeface="Play"/>
                <a:ea typeface="Play"/>
                <a:cs typeface="Play"/>
              </a:rPr>
              <a:t>Activity: Course Feedback and Legacy</a:t>
            </a:r>
          </a:p>
        </p:txBody>
      </p:sp>
      <p:sp>
        <p:nvSpPr>
          <p:cNvPr id="396" name="Google Shape;396;p18">
            <a:extLst xmlns:a="http://schemas.openxmlformats.org/drawingml/2006/main">
              <a:ext uri="{FF2B5EF4-FFF2-40B4-BE49-F238E27FC236}">
                <a16:creationId xmlns:a16="http://schemas.microsoft.com/office/drawing/2014/main" id="{0C85B20B-5067-4EC1-9E96-4C17FDB68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61872"/>
            <a:ext cx="91440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97" name="Google Shape;397;p18">
            <a:extLst xmlns:a="http://schemas.openxmlformats.org/drawingml/2006/main">
              <a:ext uri="{FF2B5EF4-FFF2-40B4-BE49-F238E27FC236}">
                <a16:creationId xmlns:a16="http://schemas.microsoft.com/office/drawing/2014/main" id="{CE9BF32B-FD37-4B6F-9083-C68BCD33E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280160"/>
            <a:ext cx="987552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1300"/>
              <a:buFont typeface="Arial"/>
              <a:buNone/>
            </a:pPr>
            <a:r>
              <a:rPr sz="1300" b="0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Students help improve STARLAB for the next chapter.</a:t>
            </a:r>
          </a:p>
        </p:txBody>
      </p:sp>
      <p:sp>
        <p:nvSpPr>
          <p:cNvPr id="398" name="Google Shape;398;p18">
            <a:extLst xmlns:a="http://schemas.openxmlformats.org/drawingml/2006/main">
              <a:ext uri="{FF2B5EF4-FFF2-40B4-BE49-F238E27FC236}">
                <a16:creationId xmlns:a16="http://schemas.microsoft.com/office/drawing/2014/main" id="{2C5B54CA-3C7B-4578-BF74-6F9622540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755648"/>
            <a:ext cx="214884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200"/>
              <a:buFont typeface="Arial"/>
              <a:buNone/>
            </a:pPr>
            <a:r>
              <a:rPr sz="12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STUDENT ACTIVITY</a:t>
            </a:r>
          </a:p>
        </p:txBody>
      </p:sp>
      <p:sp>
        <p:nvSpPr>
          <p:cNvPr id="399" name="Google Shape;399;p18">
            <a:extLst xmlns:a="http://schemas.openxmlformats.org/drawingml/2006/main">
              <a:ext uri="{FF2B5EF4-FFF2-40B4-BE49-F238E27FC236}">
                <a16:creationId xmlns:a16="http://schemas.microsoft.com/office/drawing/2014/main" id="{A08A62A9-C1D7-4578-9308-451797641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057400"/>
            <a:ext cx="704088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600"/>
              <a:buFont typeface="Arial"/>
              <a:buNone/>
            </a:pPr>
            <a:r>
              <a:rPr sz="2600" b="1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Leave Something Useful</a:t>
            </a:r>
          </a:p>
        </p:txBody>
      </p:sp>
      <p:sp>
        <p:nvSpPr>
          <p:cNvPr id="400" name="Google Shape;400;p18">
            <a:extLst xmlns:a="http://schemas.openxmlformats.org/drawingml/2006/main">
              <a:ext uri="{FF2B5EF4-FFF2-40B4-BE49-F238E27FC236}">
                <a16:creationId xmlns:a16="http://schemas.microsoft.com/office/drawing/2014/main" id="{B7064834-CAC0-4BCD-9A66-2F1FB6219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760" y="2084832"/>
            <a:ext cx="1828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600"/>
              <a:buFont typeface="Arial"/>
              <a:buNone/>
            </a:pPr>
            <a:r>
              <a:rPr sz="16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12–15 MINUTES</a:t>
            </a:r>
          </a:p>
        </p:txBody>
      </p:sp>
      <p:cxnSp>
        <p:nvCxnSpPr>
          <p:cNvPr id="426" name="Google Shape;401;p18"/>
          <p:cNvCxnSpPr/>
          <p:nvPr/>
        </p:nvCxnSpPr>
        <p:spPr>
          <a:xfrm xmlns:a="http://schemas.openxmlformats.org/drawingml/2006/main">
            <a:off x="640068" y="2602474"/>
            <a:ext cx="10881300" cy="0"/>
          </a:xfrm>
          <a:prstGeom xmlns:a="http://schemas.openxmlformats.org/drawingml/2006/main" prst="straightConnector1">
            <a:avLst/>
          </a:prstGeom>
          <a:ln xmlns:a="http://schemas.openxmlformats.org/drawingml/2006/main" w="12700" cap="flat">
            <a:solidFill>
              <a:srgbClr val="5A5A5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02" name="Google Shape;402;p18">
            <a:extLst xmlns:a="http://schemas.openxmlformats.org/drawingml/2006/main">
              <a:ext uri="{FF2B5EF4-FFF2-40B4-BE49-F238E27FC236}">
                <a16:creationId xmlns:a16="http://schemas.microsoft.com/office/drawing/2014/main" id="{5A51D3DA-DEB9-47F4-B7A2-2FD299E68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990088"/>
            <a:ext cx="10515600" cy="2560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75" tIns="375" rIns="375" bIns="375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100"/>
              <a:buFont typeface="Arial"/>
              <a:buNone/>
            </a:pPr>
            <a:r>
              <a:rPr sz="21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Complete the Course Feedback and Legacy Reflection.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t/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100"/>
              <a:buFont typeface="Arial"/>
              <a:buNone/>
            </a:pPr>
            <a:r>
              <a:rPr sz="21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Choose one legacy option: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100"/>
              <a:buFont typeface="Arial"/>
              <a:buNone/>
            </a:pPr>
            <a:r>
              <a:rPr sz="21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• advice letter to future students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100"/>
              <a:buFont typeface="Arial"/>
              <a:buNone/>
            </a:pPr>
            <a:r>
              <a:rPr sz="21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• equipment or technique tip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100"/>
              <a:buFont typeface="Arial"/>
              <a:buNone/>
            </a:pPr>
            <a:r>
              <a:rPr sz="21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• troubleshooting guide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100"/>
              <a:buFont typeface="Arial"/>
              <a:buNone/>
            </a:pPr>
            <a:r>
              <a:rPr sz="21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• project example summary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100"/>
              <a:buFont typeface="Arial"/>
              <a:buNone/>
            </a:pPr>
            <a:r>
              <a:rPr sz="21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• “what I wish I knew” reflection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t/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100"/>
              <a:buFont typeface="Arial"/>
              <a:buNone/>
            </a:pPr>
            <a:r>
              <a:rPr sz="21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Make it honest, specific, and useful.</a:t>
            </a:r>
          </a:p>
        </p:txBody>
      </p:sp>
    </p:spTree>
    <p:extLst>
      <p:ext uri="{BB962C8B-B14F-4D97-AF65-F5344CB8AC3E}">
        <p14:creationId xmlns:p14="http://schemas.microsoft.com/office/powerpoint/2010/main" val="1678621567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B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8" name="Google Shape;408;p19">
            <a:extLst xmlns:a="http://schemas.openxmlformats.org/drawingml/2006/main">
              <a:ext uri="{FF2B5EF4-FFF2-40B4-BE49-F238E27FC236}">
                <a16:creationId xmlns:a16="http://schemas.microsoft.com/office/drawing/2014/main" id="{1F672A7B-1F04-4247-BE48-9385A39C2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B0D"/>
          </a:solidFill>
          <a:ln xmlns:a="http://schemas.openxmlformats.org/drawingml/2006/main" w="12700" cmpd="sng">
            <a:solidFill>
              <a:srgbClr val="0B0B0D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09" name="Google Shape;409;p19">
            <a:extLst xmlns:a="http://schemas.openxmlformats.org/drawingml/2006/main">
              <a:ext uri="{FF2B5EF4-FFF2-40B4-BE49-F238E27FC236}">
                <a16:creationId xmlns:a16="http://schemas.microsoft.com/office/drawing/2014/main" id="{303A6BA1-1E80-4C87-B2AE-90DEEE9AC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9728"/>
            <a:ext cx="12191695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10" name="Google Shape;410;p19">
            <a:extLst xmlns:a="http://schemas.openxmlformats.org/drawingml/2006/main">
              <a:ext uri="{FF2B5EF4-FFF2-40B4-BE49-F238E27FC236}">
                <a16:creationId xmlns:a16="http://schemas.microsoft.com/office/drawing/2014/main" id="{BAF3577F-0BF3-4345-9E93-DEA1530E1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75120"/>
            <a:ext cx="12191695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11" name="Google Shape;411;p19">
            <a:extLst xmlns:a="http://schemas.openxmlformats.org/drawingml/2006/main">
              <a:ext uri="{FF2B5EF4-FFF2-40B4-BE49-F238E27FC236}">
                <a16:creationId xmlns:a16="http://schemas.microsoft.com/office/drawing/2014/main" id="{9F9A8491-3DC5-4D3A-80B4-5381EE625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364224"/>
            <a:ext cx="301752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sz="950" b="1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TEACHER CHECKPOINT</a:t>
            </a:r>
          </a:p>
        </p:txBody>
      </p:sp>
      <p:sp>
        <p:nvSpPr>
          <p:cNvPr id="412" name="Google Shape;412;p19">
            <a:extLst xmlns:a="http://schemas.openxmlformats.org/drawingml/2006/main">
              <a:ext uri="{FF2B5EF4-FFF2-40B4-BE49-F238E27FC236}">
                <a16:creationId xmlns:a16="http://schemas.microsoft.com/office/drawing/2014/main" id="{FA7E75A7-155E-4D37-94D1-225C435D9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5872" y="6364224"/>
            <a:ext cx="132588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sz="950" b="1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DECK 19</a:t>
            </a:r>
          </a:p>
        </p:txBody>
      </p:sp>
      <p:sp>
        <p:nvSpPr>
          <p:cNvPr id="413" name="Google Shape;413;p19">
            <a:extLst xmlns:a="http://schemas.openxmlformats.org/drawingml/2006/main">
              <a:ext uri="{FF2B5EF4-FFF2-40B4-BE49-F238E27FC236}">
                <a16:creationId xmlns:a16="http://schemas.microsoft.com/office/drawing/2014/main" id="{ED29EDB1-78DB-4D87-B615-E38E7D75F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02920"/>
            <a:ext cx="11064240" cy="5303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3000"/>
              <a:buFont typeface="Play"/>
              <a:buNone/>
            </a:pPr>
            <a:r>
              <a:rPr sz="3000" b="1" i="0" u="none" cap="none">
                <a:solidFill>
                  <a:srgbClr val="F4F4F4"/>
                </a:solidFill>
                <a:latin typeface="Play"/>
                <a:ea typeface="Play"/>
                <a:cs typeface="Play"/>
              </a:rPr>
              <a:t>Final STARLAB Completion Check</a:t>
            </a:r>
          </a:p>
        </p:txBody>
      </p:sp>
      <p:sp>
        <p:nvSpPr>
          <p:cNvPr id="414" name="Google Shape;414;p19">
            <a:extLst xmlns:a="http://schemas.openxmlformats.org/drawingml/2006/main">
              <a:ext uri="{FF2B5EF4-FFF2-40B4-BE49-F238E27FC236}">
                <a16:creationId xmlns:a16="http://schemas.microsoft.com/office/drawing/2014/main" id="{82D71D48-1D2D-4641-8C9F-255435819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61872"/>
            <a:ext cx="91440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15" name="Google Shape;415;p19">
            <a:extLst xmlns:a="http://schemas.openxmlformats.org/drawingml/2006/main">
              <a:ext uri="{FF2B5EF4-FFF2-40B4-BE49-F238E27FC236}">
                <a16:creationId xmlns:a16="http://schemas.microsoft.com/office/drawing/2014/main" id="{E1403881-BE30-4132-BA75-FF6C9FBEA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280160"/>
            <a:ext cx="987552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1300"/>
              <a:buFont typeface="Arial"/>
              <a:buNone/>
            </a:pPr>
            <a:r>
              <a:rPr sz="1300" b="0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Closure is complete when product, process, and reflection are documented.</a:t>
            </a:r>
          </a:p>
        </p:txBody>
      </p:sp>
      <p:sp>
        <p:nvSpPr>
          <p:cNvPr id="416" name="Google Shape;416;p19">
            <a:extLst xmlns:a="http://schemas.openxmlformats.org/drawingml/2006/main">
              <a:ext uri="{FF2B5EF4-FFF2-40B4-BE49-F238E27FC236}">
                <a16:creationId xmlns:a16="http://schemas.microsoft.com/office/drawing/2014/main" id="{74196199-A390-4E17-AEEA-AE6F606B7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66360" cy="960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3"/>
          </a:solidFill>
          <a:ln xmlns:a="http://schemas.openxmlformats.org/drawingml/2006/main" w="12700" cmpd="sng">
            <a:solidFill>
              <a:srgbClr val="5A5A5A">
                <a:alpha val="8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17" name="Google Shape;417;p19">
            <a:extLst xmlns:a="http://schemas.openxmlformats.org/drawingml/2006/main">
              <a:ext uri="{FF2B5EF4-FFF2-40B4-BE49-F238E27FC236}">
                <a16:creationId xmlns:a16="http://schemas.microsoft.com/office/drawing/2014/main" id="{2744F9A0-B4EC-408F-9E09-7B05A159C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64008" cy="960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18" name="Google Shape;418;p19">
            <a:extLst xmlns:a="http://schemas.openxmlformats.org/drawingml/2006/main">
              <a:ext uri="{FF2B5EF4-FFF2-40B4-BE49-F238E27FC236}">
                <a16:creationId xmlns:a16="http://schemas.microsoft.com/office/drawing/2014/main" id="{16608027-71FF-48E0-8EC0-D23A94C07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" y="1737360"/>
            <a:ext cx="484632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PRESENTATION COMPLETE</a:t>
            </a:r>
          </a:p>
        </p:txBody>
      </p:sp>
      <p:sp>
        <p:nvSpPr>
          <p:cNvPr id="419" name="Google Shape;419;p19">
            <a:extLst xmlns:a="http://schemas.openxmlformats.org/drawingml/2006/main">
              <a:ext uri="{FF2B5EF4-FFF2-40B4-BE49-F238E27FC236}">
                <a16:creationId xmlns:a16="http://schemas.microsoft.com/office/drawing/2014/main" id="{4857084A-6195-46F7-981E-00878AF7E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" y="2057400"/>
            <a:ext cx="4846320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Student completed final presentation, showcase, defense, or approved alternative.</a:t>
            </a:r>
          </a:p>
        </p:txBody>
      </p:sp>
      <p:sp>
        <p:nvSpPr>
          <p:cNvPr id="420" name="Google Shape;420;p19">
            <a:extLst xmlns:a="http://schemas.openxmlformats.org/drawingml/2006/main">
              <a:ext uri="{FF2B5EF4-FFF2-40B4-BE49-F238E27FC236}">
                <a16:creationId xmlns:a16="http://schemas.microsoft.com/office/drawing/2014/main" id="{781188E1-A702-4399-8F55-FC21FC1D8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600200"/>
            <a:ext cx="5166360" cy="960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3"/>
          </a:solidFill>
          <a:ln xmlns:a="http://schemas.openxmlformats.org/drawingml/2006/main" w="12700" cmpd="sng">
            <a:solidFill>
              <a:srgbClr val="5A5A5A">
                <a:alpha val="8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21" name="Google Shape;421;p19">
            <a:extLst xmlns:a="http://schemas.openxmlformats.org/drawingml/2006/main">
              <a:ext uri="{FF2B5EF4-FFF2-40B4-BE49-F238E27FC236}">
                <a16:creationId xmlns:a16="http://schemas.microsoft.com/office/drawing/2014/main" id="{B443D738-7701-478E-A877-CBAC54B3B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600200"/>
            <a:ext cx="64008" cy="960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22" name="Google Shape;422;p19">
            <a:extLst xmlns:a="http://schemas.openxmlformats.org/drawingml/2006/main">
              <a:ext uri="{FF2B5EF4-FFF2-40B4-BE49-F238E27FC236}">
                <a16:creationId xmlns:a16="http://schemas.microsoft.com/office/drawing/2014/main" id="{789A65A7-1085-4966-A1A3-FEA47942D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1737360"/>
            <a:ext cx="484632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REFLECTION COMPLETE</a:t>
            </a:r>
          </a:p>
        </p:txBody>
      </p:sp>
      <p:sp>
        <p:nvSpPr>
          <p:cNvPr id="423" name="Google Shape;423;p19">
            <a:extLst xmlns:a="http://schemas.openxmlformats.org/drawingml/2006/main">
              <a:ext uri="{FF2B5EF4-FFF2-40B4-BE49-F238E27FC236}">
                <a16:creationId xmlns:a16="http://schemas.microsoft.com/office/drawing/2014/main" id="{6580EA82-7A1B-4312-BD9F-A7B8788E6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2057400"/>
            <a:ext cx="4846320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Student completed post-presentation and final research process reflection.</a:t>
            </a:r>
          </a:p>
        </p:txBody>
      </p:sp>
      <p:sp>
        <p:nvSpPr>
          <p:cNvPr id="424" name="Google Shape;424;p19">
            <a:extLst xmlns:a="http://schemas.openxmlformats.org/drawingml/2006/main">
              <a:ext uri="{FF2B5EF4-FFF2-40B4-BE49-F238E27FC236}">
                <a16:creationId xmlns:a16="http://schemas.microsoft.com/office/drawing/2014/main" id="{234297DE-CB12-4D17-A8E1-980B3A782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63240"/>
            <a:ext cx="5166360" cy="960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3"/>
          </a:solidFill>
          <a:ln xmlns:a="http://schemas.openxmlformats.org/drawingml/2006/main" w="12700" cmpd="sng">
            <a:solidFill>
              <a:srgbClr val="5A5A5A">
                <a:alpha val="8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25" name="Google Shape;425;p19">
            <a:extLst xmlns:a="http://schemas.openxmlformats.org/drawingml/2006/main">
              <a:ext uri="{FF2B5EF4-FFF2-40B4-BE49-F238E27FC236}">
                <a16:creationId xmlns:a16="http://schemas.microsoft.com/office/drawing/2014/main" id="{CA466CB3-CF83-4E82-9C8F-ABFB8DDDD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63240"/>
            <a:ext cx="64008" cy="960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26" name="Google Shape;426;p19">
            <a:extLst xmlns:a="http://schemas.openxmlformats.org/drawingml/2006/main">
              <a:ext uri="{FF2B5EF4-FFF2-40B4-BE49-F238E27FC236}">
                <a16:creationId xmlns:a16="http://schemas.microsoft.com/office/drawing/2014/main" id="{3E3515A1-CA1B-436D-87FE-83D48E356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" y="3200400"/>
            <a:ext cx="484632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PORTFOLIO COMPLETE</a:t>
            </a:r>
          </a:p>
        </p:txBody>
      </p:sp>
      <p:sp>
        <p:nvSpPr>
          <p:cNvPr id="427" name="Google Shape;427;p19">
            <a:extLst xmlns:a="http://schemas.openxmlformats.org/drawingml/2006/main">
              <a:ext uri="{FF2B5EF4-FFF2-40B4-BE49-F238E27FC236}">
                <a16:creationId xmlns:a16="http://schemas.microsoft.com/office/drawing/2014/main" id="{8D747221-29A6-4C80-9F12-8F089112E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" y="3520440"/>
            <a:ext cx="4846320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Student assembled required artifacts showing process and product.</a:t>
            </a:r>
          </a:p>
        </p:txBody>
      </p:sp>
      <p:sp>
        <p:nvSpPr>
          <p:cNvPr id="428" name="Google Shape;428;p19">
            <a:extLst xmlns:a="http://schemas.openxmlformats.org/drawingml/2006/main">
              <a:ext uri="{FF2B5EF4-FFF2-40B4-BE49-F238E27FC236}">
                <a16:creationId xmlns:a16="http://schemas.microsoft.com/office/drawing/2014/main" id="{D9D52C90-A82F-4B83-A316-DA29079F3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3063240"/>
            <a:ext cx="5166360" cy="960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3"/>
          </a:solidFill>
          <a:ln xmlns:a="http://schemas.openxmlformats.org/drawingml/2006/main" w="12700" cmpd="sng">
            <a:solidFill>
              <a:srgbClr val="5A5A5A">
                <a:alpha val="8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29" name="Google Shape;429;p19">
            <a:extLst xmlns:a="http://schemas.openxmlformats.org/drawingml/2006/main">
              <a:ext uri="{FF2B5EF4-FFF2-40B4-BE49-F238E27FC236}">
                <a16:creationId xmlns:a16="http://schemas.microsoft.com/office/drawing/2014/main" id="{EF8F400F-04C3-402E-8758-AA22D305E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3063240"/>
            <a:ext cx="64008" cy="960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30" name="Google Shape;430;p19">
            <a:extLst xmlns:a="http://schemas.openxmlformats.org/drawingml/2006/main">
              <a:ext uri="{FF2B5EF4-FFF2-40B4-BE49-F238E27FC236}">
                <a16:creationId xmlns:a16="http://schemas.microsoft.com/office/drawing/2014/main" id="{51E7CBD3-2473-4018-A316-392E04A1B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3200400"/>
            <a:ext cx="484632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NEXT STEP DECIDED</a:t>
            </a:r>
          </a:p>
        </p:txBody>
      </p:sp>
      <p:sp>
        <p:nvSpPr>
          <p:cNvPr id="431" name="Google Shape;431;p19">
            <a:extLst xmlns:a="http://schemas.openxmlformats.org/drawingml/2006/main">
              <a:ext uri="{FF2B5EF4-FFF2-40B4-BE49-F238E27FC236}">
                <a16:creationId xmlns:a16="http://schemas.microsoft.com/office/drawing/2014/main" id="{0B206601-F521-44BE-A84F-B99B68B6A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3520440"/>
            <a:ext cx="4846320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Student either closes the project responsibly or identifies a realistic continuation plan.</a:t>
            </a:r>
          </a:p>
        </p:txBody>
      </p:sp>
      <p:sp>
        <p:nvSpPr>
          <p:cNvPr id="432" name="Google Shape;432;p19">
            <a:extLst xmlns:a="http://schemas.openxmlformats.org/drawingml/2006/main">
              <a:ext uri="{FF2B5EF4-FFF2-40B4-BE49-F238E27FC236}">
                <a16:creationId xmlns:a16="http://schemas.microsoft.com/office/drawing/2014/main" id="{658B36E8-6AD3-49AE-BD17-77A5D43B4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0440" y="4526280"/>
            <a:ext cx="5166360" cy="960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3"/>
          </a:solidFill>
          <a:ln xmlns:a="http://schemas.openxmlformats.org/drawingml/2006/main" w="12700" cmpd="sng">
            <a:solidFill>
              <a:srgbClr val="5A5A5A">
                <a:alpha val="8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33" name="Google Shape;433;p19">
            <a:extLst xmlns:a="http://schemas.openxmlformats.org/drawingml/2006/main">
              <a:ext uri="{FF2B5EF4-FFF2-40B4-BE49-F238E27FC236}">
                <a16:creationId xmlns:a16="http://schemas.microsoft.com/office/drawing/2014/main" id="{8685B9A0-6887-46A3-AF74-9E6590F0D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0440" y="4526280"/>
            <a:ext cx="64008" cy="960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34" name="Google Shape;434;p19">
            <a:extLst xmlns:a="http://schemas.openxmlformats.org/drawingml/2006/main">
              <a:ext uri="{FF2B5EF4-FFF2-40B4-BE49-F238E27FC236}">
                <a16:creationId xmlns:a16="http://schemas.microsoft.com/office/drawing/2014/main" id="{6BCA3208-86EE-416D-A438-19172EC1E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1608" y="4663440"/>
            <a:ext cx="484632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LEGACY FEEDBACK COLLECTED</a:t>
            </a:r>
          </a:p>
        </p:txBody>
      </p:sp>
      <p:sp>
        <p:nvSpPr>
          <p:cNvPr id="435" name="Google Shape;435;p19">
            <a:extLst xmlns:a="http://schemas.openxmlformats.org/drawingml/2006/main">
              <a:ext uri="{FF2B5EF4-FFF2-40B4-BE49-F238E27FC236}">
                <a16:creationId xmlns:a16="http://schemas.microsoft.com/office/drawing/2014/main" id="{C9B43B0C-DCA0-46B8-B59B-60FADFBEF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1608" y="4983480"/>
            <a:ext cx="4846320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Student provides useful feedback or advice for future STARLAB students.</a:t>
            </a:r>
          </a:p>
        </p:txBody>
      </p:sp>
    </p:spTree>
    <p:extLst>
      <p:ext uri="{BB962C8B-B14F-4D97-AF65-F5344CB8AC3E}">
        <p14:creationId xmlns:p14="http://schemas.microsoft.com/office/powerpoint/2010/main" val="22649043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B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1" name="Google Shape;441;p20">
            <a:extLst xmlns:a="http://schemas.openxmlformats.org/drawingml/2006/main">
              <a:ext uri="{FF2B5EF4-FFF2-40B4-BE49-F238E27FC236}">
                <a16:creationId xmlns:a16="http://schemas.microsoft.com/office/drawing/2014/main" id="{6321F04E-DB2F-497C-AECD-C08EE6517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B0D"/>
          </a:solidFill>
          <a:ln xmlns:a="http://schemas.openxmlformats.org/drawingml/2006/main" w="12700" cmpd="sng">
            <a:solidFill>
              <a:srgbClr val="0B0B0D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42" name="Google Shape;442;p20">
            <a:extLst xmlns:a="http://schemas.openxmlformats.org/drawingml/2006/main">
              <a:ext uri="{FF2B5EF4-FFF2-40B4-BE49-F238E27FC236}">
                <a16:creationId xmlns:a16="http://schemas.microsoft.com/office/drawing/2014/main" id="{F741B3EA-DFB8-47F4-9030-9C0E6120C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9728"/>
            <a:ext cx="12191695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43" name="Google Shape;443;p20">
            <a:extLst xmlns:a="http://schemas.openxmlformats.org/drawingml/2006/main">
              <a:ext uri="{FF2B5EF4-FFF2-40B4-BE49-F238E27FC236}">
                <a16:creationId xmlns:a16="http://schemas.microsoft.com/office/drawing/2014/main" id="{42A4538B-C65F-4F72-B5FC-71F7E06D5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75120"/>
            <a:ext cx="12191695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44" name="Google Shape;444;p20">
            <a:extLst xmlns:a="http://schemas.openxmlformats.org/drawingml/2006/main">
              <a:ext uri="{FF2B5EF4-FFF2-40B4-BE49-F238E27FC236}">
                <a16:creationId xmlns:a16="http://schemas.microsoft.com/office/drawing/2014/main" id="{8183C6F1-A025-4C6F-8032-1AF2FB260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364224"/>
            <a:ext cx="301752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sz="950" b="1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STUDENT ACTIVITY</a:t>
            </a:r>
          </a:p>
        </p:txBody>
      </p:sp>
      <p:sp>
        <p:nvSpPr>
          <p:cNvPr id="445" name="Google Shape;445;p20">
            <a:extLst xmlns:a="http://schemas.openxmlformats.org/drawingml/2006/main">
              <a:ext uri="{FF2B5EF4-FFF2-40B4-BE49-F238E27FC236}">
                <a16:creationId xmlns:a16="http://schemas.microsoft.com/office/drawing/2014/main" id="{82B0B820-1022-4C25-B26F-AC317586F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5872" y="6364224"/>
            <a:ext cx="132588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sz="950" b="1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DECK 19</a:t>
            </a:r>
          </a:p>
        </p:txBody>
      </p:sp>
      <p:sp>
        <p:nvSpPr>
          <p:cNvPr id="446" name="Google Shape;446;p20">
            <a:extLst xmlns:a="http://schemas.openxmlformats.org/drawingml/2006/main">
              <a:ext uri="{FF2B5EF4-FFF2-40B4-BE49-F238E27FC236}">
                <a16:creationId xmlns:a16="http://schemas.microsoft.com/office/drawing/2014/main" id="{84D12CD0-570E-465F-ABD1-6AF71AADC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02920"/>
            <a:ext cx="11064240" cy="5303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3000"/>
              <a:buFont typeface="Play"/>
              <a:buNone/>
            </a:pPr>
            <a:r>
              <a:rPr sz="3000" b="1" i="0" u="none" cap="none">
                <a:solidFill>
                  <a:srgbClr val="F4F4F4"/>
                </a:solidFill>
                <a:latin typeface="Play"/>
                <a:ea typeface="Play"/>
                <a:cs typeface="Play"/>
              </a:rPr>
              <a:t>Exit Reflection: The Researcher You Became</a:t>
            </a:r>
          </a:p>
        </p:txBody>
      </p:sp>
      <p:sp>
        <p:nvSpPr>
          <p:cNvPr id="447" name="Google Shape;447;p20">
            <a:extLst xmlns:a="http://schemas.openxmlformats.org/drawingml/2006/main">
              <a:ext uri="{FF2B5EF4-FFF2-40B4-BE49-F238E27FC236}">
                <a16:creationId xmlns:a16="http://schemas.microsoft.com/office/drawing/2014/main" id="{5532C290-1396-43CE-A098-8F02EB281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61872"/>
            <a:ext cx="91440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48" name="Google Shape;448;p20">
            <a:extLst xmlns:a="http://schemas.openxmlformats.org/drawingml/2006/main">
              <a:ext uri="{FF2B5EF4-FFF2-40B4-BE49-F238E27FC236}">
                <a16:creationId xmlns:a16="http://schemas.microsoft.com/office/drawing/2014/main" id="{E20204D9-8AC4-41B3-B469-B808B9A93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280160"/>
            <a:ext cx="987552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1300"/>
              <a:buFont typeface="Arial"/>
              <a:buNone/>
            </a:pPr>
            <a:r>
              <a:rPr sz="1300" b="0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End with identity, not just completion.</a:t>
            </a:r>
          </a:p>
        </p:txBody>
      </p:sp>
      <p:sp>
        <p:nvSpPr>
          <p:cNvPr id="449" name="Google Shape;449;p20">
            <a:extLst xmlns:a="http://schemas.openxmlformats.org/drawingml/2006/main">
              <a:ext uri="{FF2B5EF4-FFF2-40B4-BE49-F238E27FC236}">
                <a16:creationId xmlns:a16="http://schemas.microsoft.com/office/drawing/2014/main" id="{BFC94407-78D5-41C9-A4FF-E287903A2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755648"/>
            <a:ext cx="214884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200"/>
              <a:buFont typeface="Arial"/>
              <a:buNone/>
            </a:pPr>
            <a:r>
              <a:rPr sz="12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STUDENT ACTIVITY</a:t>
            </a:r>
          </a:p>
        </p:txBody>
      </p:sp>
      <p:sp>
        <p:nvSpPr>
          <p:cNvPr id="450" name="Google Shape;450;p20">
            <a:extLst xmlns:a="http://schemas.openxmlformats.org/drawingml/2006/main">
              <a:ext uri="{FF2B5EF4-FFF2-40B4-BE49-F238E27FC236}">
                <a16:creationId xmlns:a16="http://schemas.microsoft.com/office/drawing/2014/main" id="{1AA0F53E-E187-4549-914D-CC0738F02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057400"/>
            <a:ext cx="704088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600"/>
              <a:buFont typeface="Arial"/>
              <a:buNone/>
            </a:pPr>
            <a:r>
              <a:rPr sz="2600" b="1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Final Written Response</a:t>
            </a:r>
          </a:p>
        </p:txBody>
      </p:sp>
      <p:sp>
        <p:nvSpPr>
          <p:cNvPr id="451" name="Google Shape;451;p20">
            <a:extLst xmlns:a="http://schemas.openxmlformats.org/drawingml/2006/main">
              <a:ext uri="{FF2B5EF4-FFF2-40B4-BE49-F238E27FC236}">
                <a16:creationId xmlns:a16="http://schemas.microsoft.com/office/drawing/2014/main" id="{7F7A2B81-D63C-4F8C-8983-82EA2CF67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760" y="2084832"/>
            <a:ext cx="1828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600"/>
              <a:buFont typeface="Arial"/>
              <a:buNone/>
            </a:pPr>
            <a:r>
              <a:rPr sz="16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8 MINUTES</a:t>
            </a:r>
          </a:p>
        </p:txBody>
      </p:sp>
      <p:cxnSp>
        <p:nvCxnSpPr>
          <p:cNvPr id="477" name="Google Shape;452;p20"/>
          <p:cNvCxnSpPr/>
          <p:nvPr/>
        </p:nvCxnSpPr>
        <p:spPr>
          <a:xfrm xmlns:a="http://schemas.openxmlformats.org/drawingml/2006/main">
            <a:off x="640080" y="2706624"/>
            <a:ext cx="10881360" cy="0"/>
          </a:xfrm>
          <a:prstGeom xmlns:a="http://schemas.openxmlformats.org/drawingml/2006/main" prst="straightConnector1">
            <a:avLst/>
          </a:prstGeom>
          <a:ln xmlns:a="http://schemas.openxmlformats.org/drawingml/2006/main" w="12700" cap="flat">
            <a:solidFill>
              <a:srgbClr val="5A5A5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53" name="Google Shape;453;p20">
            <a:extLst xmlns:a="http://schemas.openxmlformats.org/drawingml/2006/main">
              <a:ext uri="{FF2B5EF4-FFF2-40B4-BE49-F238E27FC236}">
                <a16:creationId xmlns:a16="http://schemas.microsoft.com/office/drawing/2014/main" id="{CB36291E-0456-4DB8-9055-08FFD5539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990088"/>
            <a:ext cx="10515600" cy="2560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75" tIns="375" rIns="375" bIns="375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100"/>
              <a:buFont typeface="Arial"/>
              <a:buNone/>
            </a:pPr>
            <a:r>
              <a:rPr sz="21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Answer in your final reflection: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t/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100"/>
              <a:buFont typeface="Arial"/>
              <a:buNone/>
            </a:pPr>
            <a:r>
              <a:rPr sz="21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At the start of STARLAB, I thought research was _____.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100"/>
              <a:buFont typeface="Arial"/>
              <a:buNone/>
            </a:pPr>
            <a:r>
              <a:rPr sz="21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Now I understand research as _____.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100"/>
              <a:buFont typeface="Arial"/>
              <a:buNone/>
            </a:pPr>
            <a:r>
              <a:rPr sz="21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The evidence for that change is _____.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t/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100"/>
              <a:buFont typeface="Arial"/>
              <a:buNone/>
            </a:pPr>
            <a:r>
              <a:rPr sz="21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Then identify one skill or habit you will carry beyond this course.</a:t>
            </a:r>
          </a:p>
        </p:txBody>
      </p:sp>
    </p:spTree>
    <p:extLst>
      <p:ext uri="{BB962C8B-B14F-4D97-AF65-F5344CB8AC3E}">
        <p14:creationId xmlns:p14="http://schemas.microsoft.com/office/powerpoint/2010/main" val="68192474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B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9" name="Google Shape;459;p21">
            <a:extLst xmlns:a="http://schemas.openxmlformats.org/drawingml/2006/main">
              <a:ext uri="{FF2B5EF4-FFF2-40B4-BE49-F238E27FC236}">
                <a16:creationId xmlns:a16="http://schemas.microsoft.com/office/drawing/2014/main" id="{046B8798-1306-4982-AF22-7D5B64554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B0D"/>
          </a:solidFill>
          <a:ln xmlns:a="http://schemas.openxmlformats.org/drawingml/2006/main" w="12700" cmpd="sng">
            <a:solidFill>
              <a:srgbClr val="0B0B0D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60" name="Google Shape;460;p21">
            <a:extLst xmlns:a="http://schemas.openxmlformats.org/drawingml/2006/main">
              <a:ext uri="{FF2B5EF4-FFF2-40B4-BE49-F238E27FC236}">
                <a16:creationId xmlns:a16="http://schemas.microsoft.com/office/drawing/2014/main" id="{7F7F51D7-9EE7-41FA-AB8E-3D82BFCA7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9728"/>
            <a:ext cx="12191695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61" name="Google Shape;461;p21">
            <a:extLst xmlns:a="http://schemas.openxmlformats.org/drawingml/2006/main">
              <a:ext uri="{FF2B5EF4-FFF2-40B4-BE49-F238E27FC236}">
                <a16:creationId xmlns:a16="http://schemas.microsoft.com/office/drawing/2014/main" id="{B282D3DA-A970-4CDB-9BA9-E03BCF8DB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75120"/>
            <a:ext cx="12191695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62" name="Google Shape;462;p21">
            <a:extLst xmlns:a="http://schemas.openxmlformats.org/drawingml/2006/main">
              <a:ext uri="{FF2B5EF4-FFF2-40B4-BE49-F238E27FC236}">
                <a16:creationId xmlns:a16="http://schemas.microsoft.com/office/drawing/2014/main" id="{215731C1-408B-4D60-9779-59B0B1C21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364224"/>
            <a:ext cx="301752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sz="950" b="1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STARLAB COMPLETE</a:t>
            </a:r>
          </a:p>
        </p:txBody>
      </p:sp>
      <p:sp>
        <p:nvSpPr>
          <p:cNvPr id="463" name="Google Shape;463;p21">
            <a:extLst xmlns:a="http://schemas.openxmlformats.org/drawingml/2006/main">
              <a:ext uri="{FF2B5EF4-FFF2-40B4-BE49-F238E27FC236}">
                <a16:creationId xmlns:a16="http://schemas.microsoft.com/office/drawing/2014/main" id="{F70B2EEA-07C1-4316-9BC3-307DF553C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5872" y="6364224"/>
            <a:ext cx="132588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sz="950" b="1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DECK 19</a:t>
            </a:r>
          </a:p>
        </p:txBody>
      </p:sp>
      <p:sp>
        <p:nvSpPr>
          <p:cNvPr id="464" name="Google Shape;464;p21">
            <a:extLst xmlns:a="http://schemas.openxmlformats.org/drawingml/2006/main">
              <a:ext uri="{FF2B5EF4-FFF2-40B4-BE49-F238E27FC236}">
                <a16:creationId xmlns:a16="http://schemas.microsoft.com/office/drawing/2014/main" id="{0980B67F-EB9C-4A91-A3EE-9E20F1B07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02920"/>
            <a:ext cx="11064240" cy="5303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3000"/>
              <a:buFont typeface="Play"/>
              <a:buNone/>
            </a:pPr>
            <a:r>
              <a:rPr sz="3000" b="1" i="0" u="none" cap="none">
                <a:solidFill>
                  <a:srgbClr val="F4F4F4"/>
                </a:solidFill>
                <a:latin typeface="Play"/>
                <a:ea typeface="Play"/>
                <a:cs typeface="Play"/>
              </a:rPr>
              <a:t>STARLAB Sequence Complete</a:t>
            </a:r>
          </a:p>
        </p:txBody>
      </p:sp>
      <p:sp>
        <p:nvSpPr>
          <p:cNvPr id="465" name="Google Shape;465;p21">
            <a:extLst xmlns:a="http://schemas.openxmlformats.org/drawingml/2006/main">
              <a:ext uri="{FF2B5EF4-FFF2-40B4-BE49-F238E27FC236}">
                <a16:creationId xmlns:a16="http://schemas.microsoft.com/office/drawing/2014/main" id="{62109004-7104-436B-B289-E8BAB6D2E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61872"/>
            <a:ext cx="91440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66" name="Google Shape;466;p21">
            <a:extLst xmlns:a="http://schemas.openxmlformats.org/drawingml/2006/main">
              <a:ext uri="{FF2B5EF4-FFF2-40B4-BE49-F238E27FC236}">
                <a16:creationId xmlns:a16="http://schemas.microsoft.com/office/drawing/2014/main" id="{2AAB09A8-F599-4E8F-80F3-B5B3E0754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280160"/>
            <a:ext cx="987552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1300"/>
              <a:buFont typeface="Arial"/>
              <a:buNone/>
            </a:pPr>
            <a:r>
              <a:rPr sz="1300" b="0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Per aspera • sapientiam</a:t>
            </a:r>
          </a:p>
        </p:txBody>
      </p:sp>
      <p:sp>
        <p:nvSpPr>
          <p:cNvPr id="467" name="Google Shape;467;p21">
            <a:extLst xmlns:a="http://schemas.openxmlformats.org/drawingml/2006/main">
              <a:ext uri="{FF2B5EF4-FFF2-40B4-BE49-F238E27FC236}">
                <a16:creationId xmlns:a16="http://schemas.microsoft.com/office/drawing/2014/main" id="{9C6B3725-17DC-45A7-A0D1-C6507849C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600200"/>
            <a:ext cx="1051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indent="0" algn="ctr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3000"/>
              <a:buFont typeface="Arial"/>
              <a:buNone/>
            </a:pPr>
            <a:r>
              <a:rPr sz="3000" b="1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Through difficulty, toward wisdom.</a:t>
            </a:r>
          </a:p>
        </p:txBody>
      </p:sp>
      <p:sp>
        <p:nvSpPr>
          <p:cNvPr id="468" name="Google Shape;468;p21">
            <a:extLst xmlns:a="http://schemas.openxmlformats.org/drawingml/2006/main">
              <a:ext uri="{FF2B5EF4-FFF2-40B4-BE49-F238E27FC236}">
                <a16:creationId xmlns:a16="http://schemas.microsoft.com/office/drawing/2014/main" id="{6B7DDE84-EE70-40BD-BD11-19096D5FC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423160"/>
            <a:ext cx="9692640" cy="2103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indent="0" algn="ctr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400"/>
              <a:buFont typeface="Arial"/>
              <a:buNone/>
            </a:pPr>
            <a:r>
              <a:rPr sz="24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You asked a question.</a:t>
            </a:r>
          </a:p>
          <a:p xmlns:a="http://schemas.openxmlformats.org/drawingml/2006/main">
            <a:pPr marL="0" marR="0" indent="0" algn="ctr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400"/>
              <a:buFont typeface="Arial"/>
              <a:buNone/>
            </a:pPr>
            <a:r>
              <a:rPr sz="24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You built a plan.</a:t>
            </a:r>
          </a:p>
          <a:p xmlns:a="http://schemas.openxmlformats.org/drawingml/2006/main">
            <a:pPr marL="0" marR="0" indent="0" algn="ctr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400"/>
              <a:buFont typeface="Arial"/>
              <a:buNone/>
            </a:pPr>
            <a:r>
              <a:rPr sz="24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You tested it against reality.</a:t>
            </a:r>
          </a:p>
          <a:p xmlns:a="http://schemas.openxmlformats.org/drawingml/2006/main">
            <a:pPr marL="0" marR="0" indent="0" algn="ctr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400"/>
              <a:buFont typeface="Arial"/>
              <a:buNone/>
            </a:pPr>
            <a:r>
              <a:rPr sz="24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You revised.</a:t>
            </a:r>
          </a:p>
          <a:p xmlns:a="http://schemas.openxmlformats.org/drawingml/2006/main">
            <a:pPr marL="0" marR="0" indent="0" algn="ctr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400"/>
              <a:buFont typeface="Arial"/>
              <a:buNone/>
            </a:pPr>
            <a:r>
              <a:rPr sz="24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You gathered evidence.</a:t>
            </a:r>
          </a:p>
          <a:p xmlns:a="http://schemas.openxmlformats.org/drawingml/2006/main">
            <a:pPr marL="0" marR="0" indent="0" algn="ctr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400"/>
              <a:buFont typeface="Arial"/>
              <a:buNone/>
            </a:pPr>
            <a:r>
              <a:rPr sz="24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You explained what it means.</a:t>
            </a:r>
          </a:p>
        </p:txBody>
      </p:sp>
      <p:sp>
        <p:nvSpPr>
          <p:cNvPr id="469" name="Google Shape;469;p21">
            <a:extLst xmlns:a="http://schemas.openxmlformats.org/drawingml/2006/main">
              <a:ext uri="{FF2B5EF4-FFF2-40B4-BE49-F238E27FC236}">
                <a16:creationId xmlns:a16="http://schemas.microsoft.com/office/drawing/2014/main" id="{76D48A29-970E-435E-AC11-04027E312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74920"/>
            <a:ext cx="10332720" cy="41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indent="0" algn="ctr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2200"/>
              <a:buFont typeface="Arial"/>
              <a:buNone/>
            </a:pPr>
            <a:r>
              <a:rPr sz="22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Final step: preserve the story, then decide what comes next.</a:t>
            </a:r>
          </a:p>
        </p:txBody>
      </p:sp>
    </p:spTree>
    <p:extLst>
      <p:ext uri="{BB962C8B-B14F-4D97-AF65-F5344CB8AC3E}">
        <p14:creationId xmlns:p14="http://schemas.microsoft.com/office/powerpoint/2010/main" val="824977520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2026-07-16T15:42:12.5680000Z</dcterms:created>
  <dcterms:modified xsi:type="dcterms:W3CDTF">2026-07-16T15:42:12.5680000Z</dcterms:modified>
</coreProperties>
</file>