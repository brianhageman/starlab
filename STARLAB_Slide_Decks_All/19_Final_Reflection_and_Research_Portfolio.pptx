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475cc6c3664839" /><Relationship Type="http://schemas.openxmlformats.org/officeDocument/2006/relationships/extended-properties" Target="/docProps/app.xml" Id="Rdadaa9f3027f4702" /><Relationship Type="http://schemas.openxmlformats.org/officeDocument/2006/relationships/officeDocument" Target="/ppt/presentation.xml" Id="R7217834fc2e3431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012d99fb3ef4d8d"/>
  </p:sldMasterIdLst>
  <p:notesMasterIdLst>
    <p:notesMasterId xmlns:r="http://schemas.openxmlformats.org/officeDocument/2006/relationships" r:id="Rb870e60854ee44b2"/>
  </p:notesMasterIdLst>
  <p:sldIdLst>
    <p:sldId xmlns:r="http://schemas.openxmlformats.org/officeDocument/2006/relationships" id="256" r:id="Rbb21b8bb9308438a"/>
    <p:sldId xmlns:r="http://schemas.openxmlformats.org/officeDocument/2006/relationships" id="257" r:id="Rf1b83fa7bc884094"/>
    <p:sldId xmlns:r="http://schemas.openxmlformats.org/officeDocument/2006/relationships" id="258" r:id="Rf510887efda24218"/>
    <p:sldId xmlns:r="http://schemas.openxmlformats.org/officeDocument/2006/relationships" id="259" r:id="Rb01e21c77d204df3"/>
    <p:sldId xmlns:r="http://schemas.openxmlformats.org/officeDocument/2006/relationships" id="260" r:id="Redb3aad3c77e4683"/>
    <p:sldId xmlns:r="http://schemas.openxmlformats.org/officeDocument/2006/relationships" id="261" r:id="R21f9f24fcca244e9"/>
    <p:sldId xmlns:r="http://schemas.openxmlformats.org/officeDocument/2006/relationships" id="262" r:id="Rae40efa495b14b60"/>
    <p:sldId xmlns:r="http://schemas.openxmlformats.org/officeDocument/2006/relationships" id="263" r:id="R2fe38699a7a94ea5"/>
    <p:sldId xmlns:r="http://schemas.openxmlformats.org/officeDocument/2006/relationships" id="264" r:id="Rdd8cc33526c94517"/>
    <p:sldId xmlns:r="http://schemas.openxmlformats.org/officeDocument/2006/relationships" id="265" r:id="Rf3710f67215945ae"/>
    <p:sldId xmlns:r="http://schemas.openxmlformats.org/officeDocument/2006/relationships" id="266" r:id="R56c1224f298f4ce7"/>
    <p:sldId xmlns:r="http://schemas.openxmlformats.org/officeDocument/2006/relationships" id="267" r:id="Re51dd3efbd204cef"/>
    <p:sldId xmlns:r="http://schemas.openxmlformats.org/officeDocument/2006/relationships" id="268" r:id="Reae2fd84776b4a55"/>
    <p:sldId xmlns:r="http://schemas.openxmlformats.org/officeDocument/2006/relationships" id="269" r:id="R56f2a5096bc54ce1"/>
    <p:sldId xmlns:r="http://schemas.openxmlformats.org/officeDocument/2006/relationships" id="270" r:id="Ra129ae6328d34761"/>
    <p:sldId xmlns:r="http://schemas.openxmlformats.org/officeDocument/2006/relationships" id="271" r:id="R4f1642f0618e48db"/>
    <p:sldId xmlns:r="http://schemas.openxmlformats.org/officeDocument/2006/relationships" id="272" r:id="Rbd947dffbf6744a9"/>
    <p:sldId xmlns:r="http://schemas.openxmlformats.org/officeDocument/2006/relationships" id="273" r:id="R38199d7804fb4536"/>
    <p:sldId xmlns:r="http://schemas.openxmlformats.org/officeDocument/2006/relationships" id="274" r:id="Receefaa369014df6"/>
  </p:sldIdLst>
  <p:sldSz cx="12192000" cy="6858000"/>
  <p:notesSz cx="6858000" cy="9144000"/>
  <p:embeddedFontLst>
    <p:embeddedFont>
      <p:font typeface="Play"/>
      <p:regular xmlns:r="http://schemas.openxmlformats.org/officeDocument/2006/relationships" r:id="Rd331301e38d34769"/>
      <p:bold xmlns:r="http://schemas.openxmlformats.org/officeDocument/2006/relationships" r:id="R5cc43f8bcfd345d0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64ae5283e34c87" /><Relationship Type="http://schemas.openxmlformats.org/officeDocument/2006/relationships/slideMaster" Target="/ppt/slideMasters/slideMaster1.xml" Id="Rc012d99fb3ef4d8d" /><Relationship Type="http://schemas.openxmlformats.org/officeDocument/2006/relationships/notesMaster" Target="/ppt/notesMasters/notesMaster1.xml" Id="Rb870e60854ee44b2" /><Relationship Type="http://schemas.openxmlformats.org/officeDocument/2006/relationships/presProps" Target="/ppt/presProps.xml" Id="R5aac5c3ba1454ec6" /><Relationship Type="http://schemas.openxmlformats.org/officeDocument/2006/relationships/tableStyles" Target="/ppt/tableStyles.xml" Id="Ra3501c24bc474ff9" /><Relationship Type="http://schemas.openxmlformats.org/officeDocument/2006/relationships/font" Target="/ppt/fonts/font.dat" Id="Rd331301e38d34769" /><Relationship Type="http://schemas.openxmlformats.org/officeDocument/2006/relationships/font" Target="/ppt/fonts/font2.dat" Id="R5cc43f8bcfd345d0" /><Relationship Type="http://schemas.openxmlformats.org/officeDocument/2006/relationships/slide" Target="/ppt/slides/slide1.xml" Id="Rbb21b8bb9308438a" /><Relationship Type="http://schemas.openxmlformats.org/officeDocument/2006/relationships/slide" Target="/ppt/slides/slide2.xml" Id="Rf1b83fa7bc884094" /><Relationship Type="http://schemas.openxmlformats.org/officeDocument/2006/relationships/slide" Target="/ppt/slides/slide3.xml" Id="Rf510887efda24218" /><Relationship Type="http://schemas.openxmlformats.org/officeDocument/2006/relationships/slide" Target="/ppt/slides/slide4.xml" Id="Rb01e21c77d204df3" /><Relationship Type="http://schemas.openxmlformats.org/officeDocument/2006/relationships/slide" Target="/ppt/slides/slide5.xml" Id="Redb3aad3c77e4683" /><Relationship Type="http://schemas.openxmlformats.org/officeDocument/2006/relationships/slide" Target="/ppt/slides/slide6.xml" Id="R21f9f24fcca244e9" /><Relationship Type="http://schemas.openxmlformats.org/officeDocument/2006/relationships/slide" Target="/ppt/slides/slide7.xml" Id="Rae40efa495b14b60" /><Relationship Type="http://schemas.openxmlformats.org/officeDocument/2006/relationships/slide" Target="/ppt/slides/slide8.xml" Id="R2fe38699a7a94ea5" /><Relationship Type="http://schemas.openxmlformats.org/officeDocument/2006/relationships/slide" Target="/ppt/slides/slide9.xml" Id="Rdd8cc33526c94517" /><Relationship Type="http://schemas.openxmlformats.org/officeDocument/2006/relationships/slide" Target="/ppt/slides/slide10.xml" Id="Rf3710f67215945ae" /><Relationship Type="http://schemas.openxmlformats.org/officeDocument/2006/relationships/slide" Target="/ppt/slides/slide11.xml" Id="R56c1224f298f4ce7" /><Relationship Type="http://schemas.openxmlformats.org/officeDocument/2006/relationships/slide" Target="/ppt/slides/slide12.xml" Id="Re51dd3efbd204cef" /><Relationship Type="http://schemas.openxmlformats.org/officeDocument/2006/relationships/slide" Target="/ppt/slides/slide13.xml" Id="Reae2fd84776b4a55" /><Relationship Type="http://schemas.openxmlformats.org/officeDocument/2006/relationships/slide" Target="/ppt/slides/slide14.xml" Id="R56f2a5096bc54ce1" /><Relationship Type="http://schemas.openxmlformats.org/officeDocument/2006/relationships/slide" Target="/ppt/slides/slide15.xml" Id="Ra129ae6328d34761" /><Relationship Type="http://schemas.openxmlformats.org/officeDocument/2006/relationships/slide" Target="/ppt/slides/slide16.xml" Id="R4f1642f0618e48db" /><Relationship Type="http://schemas.openxmlformats.org/officeDocument/2006/relationships/slide" Target="/ppt/slides/slide17.xml" Id="Rbd947dffbf6744a9" /><Relationship Type="http://schemas.openxmlformats.org/officeDocument/2006/relationships/slide" Target="/ppt/slides/slide18.xml" Id="R38199d7804fb4536" /><Relationship Type="http://schemas.openxmlformats.org/officeDocument/2006/relationships/slide" Target="/ppt/slides/slide19.xml" Id="Receefaa369014d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0d4b1121db42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b4b4c3f5194d2f" /><Relationship Type="http://schemas.openxmlformats.org/officeDocument/2006/relationships/notesMaster" Target="/ppt/notesMasters/notesMaster1.xml" Id="Rda4300a1d0104a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2f02fa4f014877" /><Relationship Type="http://schemas.openxmlformats.org/officeDocument/2006/relationships/notesMaster" Target="/ppt/notesMasters/notesMaster1.xml" Id="R996d78fb980142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abd5df5b214069" /><Relationship Type="http://schemas.openxmlformats.org/officeDocument/2006/relationships/notesMaster" Target="/ppt/notesMasters/notesMaster1.xml" Id="Rcc2b8fb3f8d745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61244ae04c485c" /><Relationship Type="http://schemas.openxmlformats.org/officeDocument/2006/relationships/notesMaster" Target="/ppt/notesMasters/notesMaster1.xml" Id="Re559fdee854842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a8cd74d7fb4bde" /><Relationship Type="http://schemas.openxmlformats.org/officeDocument/2006/relationships/notesMaster" Target="/ppt/notesMasters/notesMaster1.xml" Id="R67ef876cc6684a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b97f6b38094098" /><Relationship Type="http://schemas.openxmlformats.org/officeDocument/2006/relationships/notesMaster" Target="/ppt/notesMasters/notesMaster1.xml" Id="Rc05486eece614c0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060b11e54f4f67" /><Relationship Type="http://schemas.openxmlformats.org/officeDocument/2006/relationships/notesMaster" Target="/ppt/notesMasters/notesMaster1.xml" Id="Rc409bd45b2864e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51eed806224bef" /><Relationship Type="http://schemas.openxmlformats.org/officeDocument/2006/relationships/notesMaster" Target="/ppt/notesMasters/notesMaster1.xml" Id="R5f3ce8248ae04a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7d8ca66daf4a46" /><Relationship Type="http://schemas.openxmlformats.org/officeDocument/2006/relationships/notesMaster" Target="/ppt/notesMasters/notesMaster1.xml" Id="R93924b6ac3cb4a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ec341621c44b7d" /><Relationship Type="http://schemas.openxmlformats.org/officeDocument/2006/relationships/notesMaster" Target="/ppt/notesMasters/notesMaster1.xml" Id="R6870ea25302543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ced1e81e4e44fb" /><Relationship Type="http://schemas.openxmlformats.org/officeDocument/2006/relationships/notesMaster" Target="/ppt/notesMasters/notesMaster1.xml" Id="Rfc2869e416e54b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2f6d52c19a47e3" /><Relationship Type="http://schemas.openxmlformats.org/officeDocument/2006/relationships/notesMaster" Target="/ppt/notesMasters/notesMaster1.xml" Id="Rdcc0e0a041ff49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e5d4cc9d6c4107" /><Relationship Type="http://schemas.openxmlformats.org/officeDocument/2006/relationships/notesMaster" Target="/ppt/notesMasters/notesMaster1.xml" Id="Re0373b0f70134a2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8b089202e4146d5" /><Relationship Type="http://schemas.openxmlformats.org/officeDocument/2006/relationships/notesMaster" Target="/ppt/notesMasters/notesMaster1.xml" Id="R1060dfdcedf5451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f2d76466c44db1" /><Relationship Type="http://schemas.openxmlformats.org/officeDocument/2006/relationships/notesMaster" Target="/ppt/notesMasters/notesMaster1.xml" Id="R643ddd0f541947e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36a87628ff4445e" /><Relationship Type="http://schemas.openxmlformats.org/officeDocument/2006/relationships/notesMaster" Target="/ppt/notesMasters/notesMaster1.xml" Id="Rbb99b4b5a93445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154f844f20d44be" /><Relationship Type="http://schemas.openxmlformats.org/officeDocument/2006/relationships/notesMaster" Target="/ppt/notesMasters/notesMaster1.xml" Id="Rad689604e52f429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c38ecd4d3014c59" /><Relationship Type="http://schemas.openxmlformats.org/officeDocument/2006/relationships/notesMaster" Target="/ppt/notesMasters/notesMaster1.xml" Id="R198033b36fff492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9a24ec9244b4ea8" /><Relationship Type="http://schemas.openxmlformats.org/officeDocument/2006/relationships/notesMaster" Target="/ppt/notesMasters/notesMaster1.xml" Id="R4f352fd4b97b4f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PRIMARY TEACHING MOMENT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Unit 6, Week 34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REQUIRED WEEK 34 MATERIALS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6 Student Handout 15: Final Research Process Reflection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6 Student Handout 16: STARLAB Portfolio Checklist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6 Student Handout 18: Course Feedback and Legacy Reflection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OPTIONAL / TEACHER REFERENCE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6 Student Handout 17: Optional Next-Step Plan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Unit 6 Appendices O-S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RESOURCE ALIGNMENT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this deck for final reflection, portfolio curation, course feedback, responsible archiving, and next-step decisions. This is the final deck; no next deck follows.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Use this slide to make clear that reflection is part of research, not an optional wrap-up. Students should leave with a portfolio and a more accurate understanding of their growth.</a:t>
            </a:r>
            <a:br/>
            <a:br/>
            <a:r>
              <a:t>Resource alignment:</a:t>
            </a:r>
            <a:br/>
            <a:r>
              <a:t>Use with Unit 6 Student Handout 15: Final Research Process Reflection and Student Handout 16: STARLAB Portfolio Checklist. This deck supports Unit 6 Week 34.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Students often judge the year by the final product only. Invite them to recognize the invisible research work behind the final presentation.</a:t>
            </a:r>
            <a:br/>
            <a:br/>
            <a:r>
              <a:t>Resource alignment:</a:t>
            </a:r>
            <a:br/>
            <a:r>
              <a:t>Use with Unit 6 Student Handout 15: Final Research Process Reflection. Resource connection: Unit 6 Appendix O: Portfolio Artifact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Discourage vague reflection. Strong reflection works like scientific writing: claim, evidence, and reasoning about growth.</a:t>
            </a:r>
            <a:br/>
            <a:br/>
            <a:r>
              <a:t>Resource alignment:</a:t>
            </a:r>
            <a:br/>
            <a:r>
              <a:t>Use with Unit 6 Student Handout 15: Final Research Process Reflection.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Use the timeline to help students remember moments from each unit. Give them one minute to jot down one artifact or memory from each stage.</a:t>
            </a:r>
            <a:br/>
            <a:br/>
            <a:r>
              <a:t>Resource alignment:</a:t>
            </a:r>
            <a:br/>
            <a:r>
              <a:t>Use with Unit 6 Student Handout 15: Final Research Process Reflection and Unit 6 Appendix O: Portfolio Artifact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Students should identify real turning points, not just calendar events. Push them to explain why each moment mattered.</a:t>
            </a:r>
            <a:br/>
            <a:br/>
            <a:r>
              <a:t>Resource alignment:</a:t>
            </a:r>
            <a:br/>
            <a:r>
              <a:t>Use with Unit 6 Student Handout 15: Final Research Process Reflection. Resource connection: Unit 6 Appendix O: Portfolio Artifact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slide reinforces the STARLAB culture: failure is data. Students should explain failure as evidence that drove a decision.</a:t>
            </a:r>
            <a:br/>
            <a:br/>
            <a:r>
              <a:t>Resource alignment:</a:t>
            </a:r>
            <a:br/>
            <a:r>
              <a:t>Use with Unit 6 Student Handout 15: Final Research Process Reflection. This also connects back to Unit 3 troubleshooting and research journal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Explain that a portfolio should not be a random file dump. It should intentionally show the research story.</a:t>
            </a:r>
            <a:br/>
            <a:br/>
            <a:r>
              <a:t>Resource alignment:</a:t>
            </a:r>
            <a:br/>
            <a:r>
              <a:t>Use with Unit 6 Student Handout 16: STARLAB Portfolio Checklist and Unit 6 Appendix O: Portfolio Artifact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Have students choose artifacts intentionally. If a file does not show process, evidence, or growth, it may not belong in the curated portfolio.</a:t>
            </a:r>
            <a:br/>
            <a:br/>
            <a:r>
              <a:t>Resource alignment:</a:t>
            </a:r>
            <a:br/>
            <a:r>
              <a:t>Use with Unit 6 Student Handout 16: STARLAB Portfolio Checklist and Unit 6 Appendix O: Portfolio Artifact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can be a digital file organization work session. Require students to name files clearly and identify one artifact that represents growth.</a:t>
            </a:r>
            <a:br/>
            <a:br/>
            <a:r>
              <a:t>Resource alignment:</a:t>
            </a:r>
            <a:br/>
            <a:r>
              <a:t>Use with Unit 6 Student Handout 16: STARLAB Portfolio Checklist and Unit 6 Appendix O: Portfolio Artifact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Students often think uploading files is enough. Emphasize curation: a future teacher, mentor, or scholarship reviewer should understand what each artifact shows.</a:t>
            </a:r>
            <a:br/>
            <a:br/>
            <a:r>
              <a:t>Resource alignment:</a:t>
            </a:r>
            <a:br/>
            <a:r>
              <a:t>Use with Unit 6 Student Handout 16: STARLAB Portfolio Checklist and Unit 6 Appendix O: Portfolio Artifact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Use these as oral prompts before students write. The aim is to help students describe scientific habits, not simply content knowledge.</a:t>
            </a:r>
            <a:br/>
            <a:br/>
            <a:r>
              <a:t>Resource alignment:</a:t>
            </a:r>
            <a:br/>
            <a:r>
              <a:t>Use with Unit 6 Student Handout 15: Final Research Process Reflection and Student Handout 18: Course Feedback and Legacy Reflection.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activity makes reflection concrete. Students should cite specific project artifacts or moments, not general feelings.</a:t>
            </a:r>
            <a:br/>
            <a:br/>
            <a:r>
              <a:t>Resource alignment:</a:t>
            </a:r>
            <a:br/>
            <a:r>
              <a:t>Use with Unit 6 Student Handout 15: Final Research Process Reflection. Resource connection: Unit 6 Appendix O: Portfolio Artifact Guide.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Avoid implying that every student must continue. A well-ended project is acceptable. The point is to make an intentional decision.</a:t>
            </a:r>
            <a:br/>
            <a:br/>
            <a:r>
              <a:t>Resource alignment:</a:t>
            </a:r>
            <a:br/>
            <a:r>
              <a:t>Use with Unit 6 Student Handout 17: Optional Next-Step Plan and Unit 6 Appendix P: Competition, Fair, and Publication Pathways.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slide prevents vague continuation plans. Students should identify immediate and realistic steps, not simply say “I will keep working on it.”</a:t>
            </a:r>
            <a:br/>
            <a:br/>
            <a:r>
              <a:t>Resource alignment:</a:t>
            </a:r>
            <a:br/>
            <a:r>
              <a:t>Use with Unit 6 Student Handout 17: Optional Next-Step Plan and Unit 6 Appendix P: Competition, Fair, and Publication Pathways.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Students often give valuable implementation feedback at the end. Collect this carefully; it can improve next year and support future STARLAB chapters.</a:t>
            </a:r>
            <a:br/>
            <a:br/>
            <a:r>
              <a:t>Resource alignment:</a:t>
            </a:r>
            <a:br/>
            <a:r>
              <a:t>Use with Unit 6 Student Handout 18: Course Feedback and Legacy Reflection and Unit 6 Appendix Q: Student Legacy Options.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Use this as a teacher-facing checkpoint. It can remain visible to students so expectations are transparent.</a:t>
            </a:r>
            <a:br/>
            <a:br/>
            <a:r>
              <a:t>Resource alignment:</a:t>
            </a:r>
            <a:br/>
            <a:r>
              <a:t>Use with Unit 6 Appendix R: Unit 6 Teacher Checklist. Supporting materials: Unit 6 Student Handouts 14–18 as applicable.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This short prompt can serve as the closing written response before celebration or portfolio submission. It returns students to the identity shift from Deck 1.</a:t>
            </a:r>
            <a:br/>
            <a:br/>
            <a:r>
              <a:t>Resource alignment:</a:t>
            </a:r>
            <a:br/>
            <a:r>
              <a:t>Use with Unit 6 Student Handout 15: Final Research Process Reflection and Student Handout 18: Course Feedback and Legacy Reflection.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Teacher notes:</a:t>
            </a:r>
            <a:br/>
            <a:r>
              <a:t>Close the course with a sense of accomplishment and continuity. This is the final deck in the STARLAB sequence. Encourage students to preserve their portfolio before files scatter or disappear.</a:t>
            </a:r>
            <a:br/>
            <a:br/>
            <a:r>
              <a:t>Resource alignment:</a:t>
            </a:r>
            <a:br/>
            <a:r>
              <a:t>Next deck connection: None. This is the final slide deck in the 19-deck STARLAB sequence. Use after Unit 6 Week 34 portfolio and reflection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d6f6e9f394f9a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cc7df952d44ad3" /><Relationship Type="http://schemas.openxmlformats.org/officeDocument/2006/relationships/slideLayout" Target="/ppt/slideLayouts/slideLayout1.xml" Id="R5f4bb7717b62447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4bb7717b62447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57eba01cb47da" /><Relationship Type="http://schemas.openxmlformats.org/officeDocument/2006/relationships/image" Target="/ppt/media/image.png" Id="Ra51be9e7d66248d4" /><Relationship Type="http://schemas.openxmlformats.org/officeDocument/2006/relationships/notesSlide" Target="/ppt/notesSlides/notesSlide1.xml" Id="R886c2712a4e441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e9219a9e9458a" /><Relationship Type="http://schemas.openxmlformats.org/officeDocument/2006/relationships/notesSlide" Target="/ppt/notesSlides/notesSlide2.xml" Id="R631d5fe8706942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58e6e5a3a4d6c" /><Relationship Type="http://schemas.openxmlformats.org/officeDocument/2006/relationships/notesSlide" Target="/ppt/notesSlides/notesSlide3.xml" Id="R9a5bb94e20be4f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8e4679f044ddc" /><Relationship Type="http://schemas.openxmlformats.org/officeDocument/2006/relationships/notesSlide" Target="/ppt/notesSlides/notesSlide4.xml" Id="Rdc15fc11983e44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6946e31d341d5" /><Relationship Type="http://schemas.openxmlformats.org/officeDocument/2006/relationships/notesSlide" Target="/ppt/notesSlides/notesSlide5.xml" Id="R6d69bf78dba849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6814958474b2b" /><Relationship Type="http://schemas.openxmlformats.org/officeDocument/2006/relationships/notesSlide" Target="/ppt/notesSlides/notesSlide6.xml" Id="R1c76989e235249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64d3c578e4e2d" /><Relationship Type="http://schemas.openxmlformats.org/officeDocument/2006/relationships/notesSlide" Target="/ppt/notesSlides/notesSlide7.xml" Id="Rd890f48046bb41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00ec7abc14122" /><Relationship Type="http://schemas.openxmlformats.org/officeDocument/2006/relationships/notesSlide" Target="/ppt/notesSlides/notesSlide8.xml" Id="R58ed4c5e1dea47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1c356b8744a7c" /><Relationship Type="http://schemas.openxmlformats.org/officeDocument/2006/relationships/notesSlide" Target="/ppt/notesSlides/notesSlide9.xml" Id="Re3b802762dbc43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f39a64a254cfc" /><Relationship Type="http://schemas.openxmlformats.org/officeDocument/2006/relationships/notesSlide" Target="/ppt/notesSlides/notesSlide10.xml" Id="R4f91118fd6cd48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2060fb9204873" /><Relationship Type="http://schemas.openxmlformats.org/officeDocument/2006/relationships/notesSlide" Target="/ppt/notesSlides/notesSlide11.xml" Id="R2c07cd12fb2c44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cf69b2fbb4f44" /><Relationship Type="http://schemas.openxmlformats.org/officeDocument/2006/relationships/notesSlide" Target="/ppt/notesSlides/notesSlide12.xml" Id="R358b2f60da174ab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3b8b302ff4522" /><Relationship Type="http://schemas.openxmlformats.org/officeDocument/2006/relationships/notesSlide" Target="/ppt/notesSlides/notesSlide13.xml" Id="R2fafabf338b74d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1dd42af1149d4" /><Relationship Type="http://schemas.openxmlformats.org/officeDocument/2006/relationships/notesSlide" Target="/ppt/notesSlides/notesSlide14.xml" Id="R87719e698cf7450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e2cf09fa6d41dd" /><Relationship Type="http://schemas.openxmlformats.org/officeDocument/2006/relationships/notesSlide" Target="/ppt/notesSlides/notesSlide15.xml" Id="R014864f50b2948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f3e8abb9a4b90" /><Relationship Type="http://schemas.openxmlformats.org/officeDocument/2006/relationships/notesSlide" Target="/ppt/notesSlides/notesSlide16.xml" Id="Rec98f86644eb459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3200ba0194de8" /><Relationship Type="http://schemas.openxmlformats.org/officeDocument/2006/relationships/notesSlide" Target="/ppt/notesSlides/notesSlide17.xml" Id="R23d1c7c271ea465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89a8e17b74cfa" /><Relationship Type="http://schemas.openxmlformats.org/officeDocument/2006/relationships/notesSlide" Target="/ppt/notesSlides/notesSlide18.xml" Id="Rcf5067681553467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12873c4154781" /><Relationship Type="http://schemas.openxmlformats.org/officeDocument/2006/relationships/notesSlide" Target="/ppt/notesSlides/notesSlide19.xml" Id="R6e493b3de8d94e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3129C099-E222-483F-B09B-BF4903CD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C236C1CB-CE86-4C62-9FDF-FA1A4AE1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8F53E693-8A51-4417-AD56-41F0F5C9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2940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7" name="Google Shape;19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1be9e7d66248d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57400" y="502920"/>
            <a:ext cx="8138160" cy="406908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2BA276EF-F39D-4BEF-A637-6FF62BA3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92040"/>
            <a:ext cx="10469880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>
              <a:alpha val="0"/>
            </a:srgbClr>
          </a:solidFill>
          <a:ln xmlns:a="http://schemas.openxmlformats.org/drawingml/2006/main" w="12700" cmpd="sng">
            <a:solidFill>
              <a:srgbClr val="A8A8A8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BF7CB087-3B75-4309-8D2D-4E79228B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83480"/>
            <a:ext cx="1028700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FINAL REFLECTION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&amp; RESEARCH PORTFOLIO</a:t>
            </a:r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C8E7E766-1CCC-4FBC-BCC8-18122192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806440"/>
            <a:ext cx="65836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250"/>
              <a:buFont typeface="Arial"/>
              <a:buNone/>
            </a:pPr>
            <a:r>
              <a:rPr sz="125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STARLAB Deck 19  •  Unit 6 Course Closure</a:t>
            </a:r>
          </a:p>
        </p:txBody>
      </p:sp>
    </p:spTree>
    <p:extLst>
      <p:ext uri="{BB962C8B-B14F-4D97-AF65-F5344CB8AC3E}">
        <p14:creationId xmlns:p14="http://schemas.microsoft.com/office/powerpoint/2010/main" val="15215606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3A5052D4-A1C5-43F1-8AC7-4A9B9F7D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75271370-0B70-4D67-8253-B7F3D05A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C3C9E91C-0C70-4F92-AA8C-17F19802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CE2883CC-B958-4E08-A268-B1C9871E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COURSE CLOSURE</a:t>
            </a: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2507A4A6-B755-4225-8AD0-FA3ED21E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19</a:t>
            </a: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11460006-3583-4C58-A6F0-35861E92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Today’s Target</a:t>
            </a:r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F70EAE92-F4CE-44AD-ACCC-EF13B43E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61872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08ADD6C7-94B4-432A-9DEC-CE3756F2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80160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Students turn the research year into a record of growth.</a:t>
            </a:r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9A8A7572-054E-4440-B856-E99E070F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5920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800"/>
              <a:buFont typeface="Arial"/>
              <a:buNone/>
            </a:pPr>
            <a:r>
              <a:rPr sz="180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By the end, students should be able to:</a:t>
            </a:r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AE158866-4092-42D5-BED0-CA9F2C1D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75A81DD1-E4AA-4D1A-B6EB-A83402DC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48FAA19E-E3B7-4EC4-82FD-7C24FDAD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REFLECT</a:t>
            </a:r>
          </a:p>
        </p:txBody>
      </p:sp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A33383BD-709F-4A39-9A1C-541690DF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Explain how the project changed from initial idea to final presentation.</a:t>
            </a:r>
          </a:p>
        </p:txBody>
      </p:sp>
      <p:sp>
        <p:nvSpPr>
          <p:cNvPr id="41" name="Google Shape;41;p4">
            <a:extLst xmlns:a="http://schemas.openxmlformats.org/drawingml/2006/main">
              <a:ext uri="{FF2B5EF4-FFF2-40B4-BE49-F238E27FC236}">
                <a16:creationId xmlns:a16="http://schemas.microsoft.com/office/drawing/2014/main" id="{CBCB0081-4AA6-4827-B77A-81FBF927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DFCDC8B8-D7B8-494C-9A9A-05AA58E4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" name="Google Shape;43;p4">
            <a:extLst xmlns:a="http://schemas.openxmlformats.org/drawingml/2006/main">
              <a:ext uri="{FF2B5EF4-FFF2-40B4-BE49-F238E27FC236}">
                <a16:creationId xmlns:a16="http://schemas.microsoft.com/office/drawing/2014/main" id="{AD436B41-5696-4E89-AC9A-FE26377E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DOCUMENT GROWTH</a:t>
            </a:r>
          </a:p>
        </p:txBody>
      </p:sp>
      <p:sp>
        <p:nvSpPr>
          <p:cNvPr id="44" name="Google Shape;44;p4">
            <a:extLst xmlns:a="http://schemas.openxmlformats.org/drawingml/2006/main">
              <a:ext uri="{FF2B5EF4-FFF2-40B4-BE49-F238E27FC236}">
                <a16:creationId xmlns:a16="http://schemas.microsoft.com/office/drawing/2014/main" id="{23195937-2AD9-49CC-9436-7928DFD1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Identify research habits, skills, and mindsets that improved.</a:t>
            </a:r>
          </a:p>
        </p:txBody>
      </p:sp>
      <p:sp>
        <p:nvSpPr>
          <p:cNvPr id="45" name="Google Shape;45;p4">
            <a:extLst xmlns:a="http://schemas.openxmlformats.org/drawingml/2006/main">
              <a:ext uri="{FF2B5EF4-FFF2-40B4-BE49-F238E27FC236}">
                <a16:creationId xmlns:a16="http://schemas.microsoft.com/office/drawing/2014/main" id="{D9D31A80-4C61-4AE6-97DB-8C614C9E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" name="Google Shape;46;p4">
            <a:extLst xmlns:a="http://schemas.openxmlformats.org/drawingml/2006/main">
              <a:ext uri="{FF2B5EF4-FFF2-40B4-BE49-F238E27FC236}">
                <a16:creationId xmlns:a16="http://schemas.microsoft.com/office/drawing/2014/main" id="{34CDFF01-C796-4979-AAED-30B76285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7" name="Google Shape;47;p4">
            <a:extLst xmlns:a="http://schemas.openxmlformats.org/drawingml/2006/main">
              <a:ext uri="{FF2B5EF4-FFF2-40B4-BE49-F238E27FC236}">
                <a16:creationId xmlns:a16="http://schemas.microsoft.com/office/drawing/2014/main" id="{1DCF47B7-6DA6-4D69-98AC-CD8E0F52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ASSEMBLE PORTFOLIO</a:t>
            </a:r>
          </a:p>
        </p:txBody>
      </p:sp>
      <p:sp>
        <p:nvSpPr>
          <p:cNvPr id="48" name="Google Shape;48;p4">
            <a:extLst xmlns:a="http://schemas.openxmlformats.org/drawingml/2006/main">
              <a:ext uri="{FF2B5EF4-FFF2-40B4-BE49-F238E27FC236}">
                <a16:creationId xmlns:a16="http://schemas.microsoft.com/office/drawing/2014/main" id="{DBB7B427-842E-44D8-98BD-1B133759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Collect artifacts that show both process and final product.</a:t>
            </a:r>
          </a:p>
        </p:txBody>
      </p:sp>
      <p:sp>
        <p:nvSpPr>
          <p:cNvPr id="49" name="Google Shape;49;p4">
            <a:extLst xmlns:a="http://schemas.openxmlformats.org/drawingml/2006/main">
              <a:ext uri="{FF2B5EF4-FFF2-40B4-BE49-F238E27FC236}">
                <a16:creationId xmlns:a16="http://schemas.microsoft.com/office/drawing/2014/main" id="{23C8A9A4-2992-4A7B-808E-3A611592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0" name="Google Shape;50;p4">
            <a:extLst xmlns:a="http://schemas.openxmlformats.org/drawingml/2006/main">
              <a:ext uri="{FF2B5EF4-FFF2-40B4-BE49-F238E27FC236}">
                <a16:creationId xmlns:a16="http://schemas.microsoft.com/office/drawing/2014/main" id="{B036723C-C067-43F6-9E44-029699E9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1" name="Google Shape;51;p4">
            <a:extLst xmlns:a="http://schemas.openxmlformats.org/drawingml/2006/main">
              <a:ext uri="{FF2B5EF4-FFF2-40B4-BE49-F238E27FC236}">
                <a16:creationId xmlns:a16="http://schemas.microsoft.com/office/drawing/2014/main" id="{FD33239D-143A-4449-9EA2-9158ED88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PLAN FORWARD</a:t>
            </a:r>
          </a:p>
        </p:txBody>
      </p:sp>
      <p:sp>
        <p:nvSpPr>
          <p:cNvPr id="52" name="Google Shape;52;p4">
            <a:extLst xmlns:a="http://schemas.openxmlformats.org/drawingml/2006/main">
              <a:ext uri="{FF2B5EF4-FFF2-40B4-BE49-F238E27FC236}">
                <a16:creationId xmlns:a16="http://schemas.microsoft.com/office/drawing/2014/main" id="{A34D90F3-7220-42C6-81EC-ECC05F31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Decide whether the project ends here or continues beyond STARLAB.</a:t>
            </a:r>
          </a:p>
        </p:txBody>
      </p:sp>
    </p:spTree>
    <p:extLst>
      <p:ext uri="{BB962C8B-B14F-4D97-AF65-F5344CB8AC3E}">
        <p14:creationId xmlns:p14="http://schemas.microsoft.com/office/powerpoint/2010/main" val="6369897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A815F6A0-E469-4C49-AB85-064E525A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9" name="Google Shape;59;p5">
            <a:extLst xmlns:a="http://schemas.openxmlformats.org/drawingml/2006/main">
              <a:ext uri="{FF2B5EF4-FFF2-40B4-BE49-F238E27FC236}">
                <a16:creationId xmlns:a16="http://schemas.microsoft.com/office/drawing/2014/main" id="{EAA267E5-3EDE-456F-A4FD-8694E6BD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0" name="Google Shape;60;p5">
            <a:extLst xmlns:a="http://schemas.openxmlformats.org/drawingml/2006/main">
              <a:ext uri="{FF2B5EF4-FFF2-40B4-BE49-F238E27FC236}">
                <a16:creationId xmlns:a16="http://schemas.microsoft.com/office/drawing/2014/main" id="{F836AA5B-DE86-4B7D-8946-ED535513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1" name="Google Shape;61;p5">
            <a:extLst xmlns:a="http://schemas.openxmlformats.org/drawingml/2006/main">
              <a:ext uri="{FF2B5EF4-FFF2-40B4-BE49-F238E27FC236}">
                <a16:creationId xmlns:a16="http://schemas.microsoft.com/office/drawing/2014/main" id="{CF9DDDC8-99D5-4D0E-BA6D-1D223293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REFLECTION</a:t>
            </a:r>
          </a:p>
        </p:txBody>
      </p:sp>
      <p:sp>
        <p:nvSpPr>
          <p:cNvPr id="62" name="Google Shape;62;p5">
            <a:extLst xmlns:a="http://schemas.openxmlformats.org/drawingml/2006/main">
              <a:ext uri="{FF2B5EF4-FFF2-40B4-BE49-F238E27FC236}">
                <a16:creationId xmlns:a16="http://schemas.microsoft.com/office/drawing/2014/main" id="{4C49C289-E4F3-4A6B-BFE5-06052FFD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19</a:t>
            </a:r>
          </a:p>
        </p:txBody>
      </p:sp>
      <p:sp>
        <p:nvSpPr>
          <p:cNvPr id="63" name="Google Shape;63;p5">
            <a:extLst xmlns:a="http://schemas.openxmlformats.org/drawingml/2006/main">
              <a:ext uri="{FF2B5EF4-FFF2-40B4-BE49-F238E27FC236}">
                <a16:creationId xmlns:a16="http://schemas.microsoft.com/office/drawing/2014/main" id="{FAFC3696-3A81-4CE3-9252-BF29C0AC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The Final Product Is Not the Whole Story</a:t>
            </a:r>
          </a:p>
        </p:txBody>
      </p:sp>
      <p:sp>
        <p:nvSpPr>
          <p:cNvPr id="64" name="Google Shape;64;p5">
            <a:extLst xmlns:a="http://schemas.openxmlformats.org/drawingml/2006/main">
              <a:ext uri="{FF2B5EF4-FFF2-40B4-BE49-F238E27FC236}">
                <a16:creationId xmlns:a16="http://schemas.microsoft.com/office/drawing/2014/main" id="{09E35E6A-968F-41A6-937B-1EC3C0CD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61872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5" name="Google Shape;65;p5">
            <a:extLst xmlns:a="http://schemas.openxmlformats.org/drawingml/2006/main">
              <a:ext uri="{FF2B5EF4-FFF2-40B4-BE49-F238E27FC236}">
                <a16:creationId xmlns:a16="http://schemas.microsoft.com/office/drawing/2014/main" id="{F16B9077-F038-4C5C-8D19-A9C5F58B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80160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STARLAB is built around process, evidence, and growth.</a:t>
            </a:r>
          </a:p>
        </p:txBody>
      </p:sp>
      <p:sp>
        <p:nvSpPr>
          <p:cNvPr id="66" name="Google Shape;66;p5">
            <a:extLst xmlns:a="http://schemas.openxmlformats.org/drawingml/2006/main">
              <a:ext uri="{FF2B5EF4-FFF2-40B4-BE49-F238E27FC236}">
                <a16:creationId xmlns:a16="http://schemas.microsoft.com/office/drawing/2014/main" id="{ACDE918F-4C70-437A-8A2A-EBB6924D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663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7" name="Google Shape;67;p5">
            <a:extLst xmlns:a="http://schemas.openxmlformats.org/drawingml/2006/main">
              <a:ext uri="{FF2B5EF4-FFF2-40B4-BE49-F238E27FC236}">
                <a16:creationId xmlns:a16="http://schemas.microsoft.com/office/drawing/2014/main" id="{93BEF80A-7026-4336-BAAD-FD872800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4008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8" name="Google Shape;68;p5">
            <a:extLst xmlns:a="http://schemas.openxmlformats.org/drawingml/2006/main">
              <a:ext uri="{FF2B5EF4-FFF2-40B4-BE49-F238E27FC236}">
                <a16:creationId xmlns:a16="http://schemas.microsoft.com/office/drawing/2014/main" id="{C567FF29-37E4-4D22-85F6-CA9EC655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73736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WHAT PEOPLE SEE</a:t>
            </a:r>
          </a:p>
        </p:txBody>
      </p:sp>
      <p:sp>
        <p:nvSpPr>
          <p:cNvPr id="69" name="Google Shape;69;p5">
            <a:extLst xmlns:a="http://schemas.openxmlformats.org/drawingml/2006/main">
              <a:ext uri="{FF2B5EF4-FFF2-40B4-BE49-F238E27FC236}">
                <a16:creationId xmlns:a16="http://schemas.microsoft.com/office/drawing/2014/main" id="{4F5D461A-5240-4EB0-8015-A8AF4B57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057400"/>
            <a:ext cx="4846320" cy="327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Final report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Poster, board, or slides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Graphs and visuals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Oral presentation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Showcase product</a:t>
            </a:r>
          </a:p>
        </p:txBody>
      </p:sp>
      <p:sp>
        <p:nvSpPr>
          <p:cNvPr id="70" name="Google Shape;70;p5">
            <a:extLst xmlns:a="http://schemas.openxmlformats.org/drawingml/2006/main">
              <a:ext uri="{FF2B5EF4-FFF2-40B4-BE49-F238E27FC236}">
                <a16:creationId xmlns:a16="http://schemas.microsoft.com/office/drawing/2014/main" id="{43ABB1D9-2AE3-4E8B-AAB9-50D41000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00200"/>
            <a:ext cx="51663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1" name="Google Shape;71;p5">
            <a:extLst xmlns:a="http://schemas.openxmlformats.org/drawingml/2006/main">
              <a:ext uri="{FF2B5EF4-FFF2-40B4-BE49-F238E27FC236}">
                <a16:creationId xmlns:a16="http://schemas.microsoft.com/office/drawing/2014/main" id="{022D6D8C-5F00-45DE-93F9-A2514FD3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00200"/>
            <a:ext cx="64008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2" name="Google Shape;72;p5">
            <a:extLst xmlns:a="http://schemas.openxmlformats.org/drawingml/2006/main">
              <a:ext uri="{FF2B5EF4-FFF2-40B4-BE49-F238E27FC236}">
                <a16:creationId xmlns:a16="http://schemas.microsoft.com/office/drawing/2014/main" id="{CBDD0469-2B38-4A02-9EEE-4E79DD64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73736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WHAT RESEARCHERS KNOW</a:t>
            </a:r>
          </a:p>
        </p:txBody>
      </p:sp>
      <p:sp>
        <p:nvSpPr>
          <p:cNvPr id="73" name="Google Shape;73;p5">
            <a:extLst xmlns:a="http://schemas.openxmlformats.org/drawingml/2006/main">
              <a:ext uri="{FF2B5EF4-FFF2-40B4-BE49-F238E27FC236}">
                <a16:creationId xmlns:a16="http://schemas.microsoft.com/office/drawing/2014/main" id="{0AB08B96-5803-4AD7-8B78-9ED8DA19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057400"/>
            <a:ext cx="4846320" cy="327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Early confusion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Failed pilots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Method revisions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Data problems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Feedback, pivots, and persistence</a:t>
            </a:r>
          </a:p>
        </p:txBody>
      </p:sp>
    </p:spTree>
    <p:extLst>
      <p:ext uri="{BB962C8B-B14F-4D97-AF65-F5344CB8AC3E}">
        <p14:creationId xmlns:p14="http://schemas.microsoft.com/office/powerpoint/2010/main" val="1249821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B41FC4ED-C0AB-4869-B209-AFD2EFB6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DFAF3705-01E4-4774-85ED-241F27C2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1" name="Google Shape;81;p6">
            <a:extLst xmlns:a="http://schemas.openxmlformats.org/drawingml/2006/main">
              <a:ext uri="{FF2B5EF4-FFF2-40B4-BE49-F238E27FC236}">
                <a16:creationId xmlns:a16="http://schemas.microsoft.com/office/drawing/2014/main" id="{AA606D4B-FFF6-41FF-A912-A222C44B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2" name="Google Shape;82;p6">
            <a:extLst xmlns:a="http://schemas.openxmlformats.org/drawingml/2006/main">
              <a:ext uri="{FF2B5EF4-FFF2-40B4-BE49-F238E27FC236}">
                <a16:creationId xmlns:a16="http://schemas.microsoft.com/office/drawing/2014/main" id="{D4F2459C-CE4F-428D-974C-F7D88869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REFLECTION</a:t>
            </a:r>
          </a:p>
        </p:txBody>
      </p:sp>
      <p:sp>
        <p:nvSpPr>
          <p:cNvPr id="83" name="Google Shape;83;p6">
            <a:extLst xmlns:a="http://schemas.openxmlformats.org/drawingml/2006/main">
              <a:ext uri="{FF2B5EF4-FFF2-40B4-BE49-F238E27FC236}">
                <a16:creationId xmlns:a16="http://schemas.microsoft.com/office/drawing/2014/main" id="{BBF1BCE0-38DC-4BE6-8F73-ABE5AC87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19</a:t>
            </a:r>
          </a:p>
        </p:txBody>
      </p:sp>
      <p:sp>
        <p:nvSpPr>
          <p:cNvPr id="84" name="Google Shape;84;p6">
            <a:extLst xmlns:a="http://schemas.openxmlformats.org/drawingml/2006/main">
              <a:ext uri="{FF2B5EF4-FFF2-40B4-BE49-F238E27FC236}">
                <a16:creationId xmlns:a16="http://schemas.microsoft.com/office/drawing/2014/main" id="{F5185296-E959-46E7-AA52-FB5B6324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Reflection Is Evidence of Learning</a:t>
            </a:r>
          </a:p>
        </p:txBody>
      </p:sp>
      <p:sp>
        <p:nvSpPr>
          <p:cNvPr id="85" name="Google Shape;85;p6">
            <a:extLst xmlns:a="http://schemas.openxmlformats.org/drawingml/2006/main">
              <a:ext uri="{FF2B5EF4-FFF2-40B4-BE49-F238E27FC236}">
                <a16:creationId xmlns:a16="http://schemas.microsoft.com/office/drawing/2014/main" id="{E432A604-A5C2-438A-8480-A341D9F2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61872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6" name="Google Shape;86;p6">
            <a:extLst xmlns:a="http://schemas.openxmlformats.org/drawingml/2006/main">
              <a:ext uri="{FF2B5EF4-FFF2-40B4-BE49-F238E27FC236}">
                <a16:creationId xmlns:a16="http://schemas.microsoft.com/office/drawing/2014/main" id="{D443148E-7E4D-4AA8-9E06-57D3C654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80160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The goal is not to say “I learned a lot.” The goal is to prove it.</a:t>
            </a:r>
          </a:p>
        </p:txBody>
      </p:sp>
      <p:sp>
        <p:nvSpPr>
          <p:cNvPr id="87" name="Google Shape;87;p6">
            <a:extLst xmlns:a="http://schemas.openxmlformats.org/drawingml/2006/main">
              <a:ext uri="{FF2B5EF4-FFF2-40B4-BE49-F238E27FC236}">
                <a16:creationId xmlns:a16="http://schemas.microsoft.com/office/drawing/2014/main" id="{04C01A7A-B8AA-4333-8213-75C687DC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8" name="Google Shape;88;p6">
            <a:extLst xmlns:a="http://schemas.openxmlformats.org/drawingml/2006/main">
              <a:ext uri="{FF2B5EF4-FFF2-40B4-BE49-F238E27FC236}">
                <a16:creationId xmlns:a16="http://schemas.microsoft.com/office/drawing/2014/main" id="{7EC5150A-DC9B-470F-8AB5-78828AA4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9" name="Google Shape;89;p6">
            <a:extLst xmlns:a="http://schemas.openxmlformats.org/drawingml/2006/main">
              <a:ext uri="{FF2B5EF4-FFF2-40B4-BE49-F238E27FC236}">
                <a16:creationId xmlns:a16="http://schemas.microsoft.com/office/drawing/2014/main" id="{79137833-63E1-4D8F-9F43-1DCD761C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SPECIFIC</a:t>
            </a:r>
          </a:p>
        </p:txBody>
      </p:sp>
      <p:sp>
        <p:nvSpPr>
          <p:cNvPr id="90" name="Google Shape;90;p6">
            <a:extLst xmlns:a="http://schemas.openxmlformats.org/drawingml/2006/main">
              <a:ext uri="{FF2B5EF4-FFF2-40B4-BE49-F238E27FC236}">
                <a16:creationId xmlns:a16="http://schemas.microsoft.com/office/drawing/2014/main" id="{B7F0BD1C-80F6-4B59-98BD-F67C7705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Name a real decision, failure, revision, or breakthrough.</a:t>
            </a:r>
          </a:p>
        </p:txBody>
      </p:sp>
      <p:sp>
        <p:nvSpPr>
          <p:cNvPr id="91" name="Google Shape;91;p6">
            <a:extLst xmlns:a="http://schemas.openxmlformats.org/drawingml/2006/main">
              <a:ext uri="{FF2B5EF4-FFF2-40B4-BE49-F238E27FC236}">
                <a16:creationId xmlns:a16="http://schemas.microsoft.com/office/drawing/2014/main" id="{E2B4E86D-FDD0-499A-A993-2A03AB57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2" name="Google Shape;92;p6">
            <a:extLst xmlns:a="http://schemas.openxmlformats.org/drawingml/2006/main">
              <a:ext uri="{FF2B5EF4-FFF2-40B4-BE49-F238E27FC236}">
                <a16:creationId xmlns:a16="http://schemas.microsoft.com/office/drawing/2014/main" id="{6D547786-2640-4740-BDA2-AE3ED661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3" name="Google Shape;93;p6">
            <a:extLst xmlns:a="http://schemas.openxmlformats.org/drawingml/2006/main">
              <a:ext uri="{FF2B5EF4-FFF2-40B4-BE49-F238E27FC236}">
                <a16:creationId xmlns:a16="http://schemas.microsoft.com/office/drawing/2014/main" id="{9806F1A1-8A98-443C-87AF-04A6CF93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EVIDENCE-BASED</a:t>
            </a:r>
          </a:p>
        </p:txBody>
      </p:sp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198EA270-4B32-4AFB-8C49-0F0298DF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Point to an artifact: data table, journal entry, draft, photo, feedback, or graph.</a:t>
            </a:r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0041167E-C421-4451-824D-42D91737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B9ACD2F0-005D-420B-9F43-C7BD815F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BF261DBC-FAA3-46DD-9F09-9473FB39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HONEST</a:t>
            </a:r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1B666894-D9E9-4768-9F18-EAABE8F2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Include what did not work and what remained unresolved.</a:t>
            </a:r>
          </a:p>
        </p:txBody>
      </p:sp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A5B177A9-7A65-4068-82BE-5550A456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5B10611C-D650-4162-AD2A-B7BF3452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8AD99B0F-B04F-4B13-9203-AA70EFDA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FORWARD-LOOKING</a:t>
            </a:r>
          </a:p>
        </p:txBody>
      </p:sp>
      <p:sp>
        <p:nvSpPr>
          <p:cNvPr id="102" name="Google Shape;102;p6">
            <a:extLst xmlns:a="http://schemas.openxmlformats.org/drawingml/2006/main">
              <a:ext uri="{FF2B5EF4-FFF2-40B4-BE49-F238E27FC236}">
                <a16:creationId xmlns:a16="http://schemas.microsoft.com/office/drawing/2014/main" id="{D52DED86-2CA4-4D0B-B321-57420D61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Explain what you would do differently or continue next.</a:t>
            </a:r>
          </a:p>
        </p:txBody>
      </p:sp>
    </p:spTree>
    <p:extLst>
      <p:ext uri="{BB962C8B-B14F-4D97-AF65-F5344CB8AC3E}">
        <p14:creationId xmlns:p14="http://schemas.microsoft.com/office/powerpoint/2010/main" val="149459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Google Shape;108;p7">
            <a:extLst xmlns:a="http://schemas.openxmlformats.org/drawingml/2006/main">
              <a:ext uri="{FF2B5EF4-FFF2-40B4-BE49-F238E27FC236}">
                <a16:creationId xmlns:a16="http://schemas.microsoft.com/office/drawing/2014/main" id="{D793BBB0-6FD8-41D5-AB31-7C239A01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9" name="Google Shape;109;p7">
            <a:extLst xmlns:a="http://schemas.openxmlformats.org/drawingml/2006/main">
              <a:ext uri="{FF2B5EF4-FFF2-40B4-BE49-F238E27FC236}">
                <a16:creationId xmlns:a16="http://schemas.microsoft.com/office/drawing/2014/main" id="{8E1ED64B-ABA6-49F7-9B92-ACD55E6B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0" name="Google Shape;110;p7">
            <a:extLst xmlns:a="http://schemas.openxmlformats.org/drawingml/2006/main">
              <a:ext uri="{FF2B5EF4-FFF2-40B4-BE49-F238E27FC236}">
                <a16:creationId xmlns:a16="http://schemas.microsoft.com/office/drawing/2014/main" id="{59420783-C469-4235-A6CF-605B8993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1" name="Google Shape;111;p7">
            <a:extLst xmlns:a="http://schemas.openxmlformats.org/drawingml/2006/main">
              <a:ext uri="{FF2B5EF4-FFF2-40B4-BE49-F238E27FC236}">
                <a16:creationId xmlns:a16="http://schemas.microsoft.com/office/drawing/2014/main" id="{102EEEC5-8403-4809-AB00-F67B4E2C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RESEARCH ARC</a:t>
            </a:r>
          </a:p>
        </p:txBody>
      </p:sp>
      <p:sp>
        <p:nvSpPr>
          <p:cNvPr id="112" name="Google Shape;112;p7">
            <a:extLst xmlns:a="http://schemas.openxmlformats.org/drawingml/2006/main">
              <a:ext uri="{FF2B5EF4-FFF2-40B4-BE49-F238E27FC236}">
                <a16:creationId xmlns:a16="http://schemas.microsoft.com/office/drawing/2014/main" id="{B2CB3AA5-23F6-4C1E-8754-AF56953B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19</a:t>
            </a:r>
          </a:p>
        </p:txBody>
      </p:sp>
      <p:sp>
        <p:nvSpPr>
          <p:cNvPr id="113" name="Google Shape;113;p7">
            <a:extLst xmlns:a="http://schemas.openxmlformats.org/drawingml/2006/main">
              <a:ext uri="{FF2B5EF4-FFF2-40B4-BE49-F238E27FC236}">
                <a16:creationId xmlns:a16="http://schemas.microsoft.com/office/drawing/2014/main" id="{B781068A-78E8-4F07-8D27-1FC7001A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Look Back Across the Whole Arc</a:t>
            </a:r>
          </a:p>
        </p:txBody>
      </p:sp>
      <p:sp>
        <p:nvSpPr>
          <p:cNvPr id="114" name="Google Shape;114;p7">
            <a:extLst xmlns:a="http://schemas.openxmlformats.org/drawingml/2006/main">
              <a:ext uri="{FF2B5EF4-FFF2-40B4-BE49-F238E27FC236}">
                <a16:creationId xmlns:a16="http://schemas.microsoft.com/office/drawing/2014/main" id="{F79A7BA6-8E34-4CD1-9C53-BE7F764D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61872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5" name="Google Shape;115;p7">
            <a:extLst xmlns:a="http://schemas.openxmlformats.org/drawingml/2006/main">
              <a:ext uri="{FF2B5EF4-FFF2-40B4-BE49-F238E27FC236}">
                <a16:creationId xmlns:a16="http://schemas.microsoft.com/office/drawing/2014/main" id="{377E9D84-A9F5-4ED4-AAC0-489878DA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80160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Students should see the year as a sequence of decisions, not a single assignment.</a:t>
            </a:r>
          </a:p>
        </p:txBody>
      </p:sp>
      <p:sp>
        <p:nvSpPr>
          <p:cNvPr id="116" name="Google Shape;116;p7">
            <a:extLst xmlns:a="http://schemas.openxmlformats.org/drawingml/2006/main">
              <a:ext uri="{FF2B5EF4-FFF2-40B4-BE49-F238E27FC236}">
                <a16:creationId xmlns:a16="http://schemas.microsoft.com/office/drawing/2014/main" id="{72E5BEF4-4344-4A59-846B-1A6049BC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45920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2000"/>
              <a:buFont typeface="Arial"/>
              <a:buNone/>
            </a:pPr>
            <a:r>
              <a:rPr sz="200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STARLAB moved through a full research cycle:</a:t>
            </a:r>
          </a:p>
        </p:txBody>
      </p:sp>
      <p:sp>
        <p:nvSpPr>
          <p:cNvPr id="117" name="Google Shape;117;p7">
            <a:extLst xmlns:a="http://schemas.openxmlformats.org/drawingml/2006/main">
              <a:ext uri="{FF2B5EF4-FFF2-40B4-BE49-F238E27FC236}">
                <a16:creationId xmlns:a16="http://schemas.microsoft.com/office/drawing/2014/main" id="{9DFEFDA8-3D0B-4A2B-94A9-2F7FC3F5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8" name="Google Shape;118;p7">
            <a:extLst xmlns:a="http://schemas.openxmlformats.org/drawingml/2006/main">
              <a:ext uri="{FF2B5EF4-FFF2-40B4-BE49-F238E27FC236}">
                <a16:creationId xmlns:a16="http://schemas.microsoft.com/office/drawing/2014/main" id="{E519E865-64DC-4CDB-B3EB-D51176DD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74136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9" name="Google Shape;119;p7">
            <a:extLst xmlns:a="http://schemas.openxmlformats.org/drawingml/2006/main">
              <a:ext uri="{FF2B5EF4-FFF2-40B4-BE49-F238E27FC236}">
                <a16:creationId xmlns:a16="http://schemas.microsoft.com/office/drawing/2014/main" id="{FEB7DA49-322B-4F2D-905C-9DC936BC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" y="3995928"/>
            <a:ext cx="126187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050"/>
              <a:buFont typeface="Arial"/>
              <a:buNone/>
            </a:pPr>
            <a:r>
              <a:rPr sz="105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cxnSp>
        <p:nvCxnSpPr>
          <p:cNvPr id="161" name="Google Shape;120;p7"/>
          <p:cNvCxnSpPr/>
          <p:nvPr/>
        </p:nvCxnSpPr>
        <p:spPr>
          <a:xfrm xmlns:a="http://schemas.openxmlformats.org/drawingml/2006/main">
            <a:off x="1435608" y="3529584"/>
            <a:ext cx="850392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1" name="Google Shape;121;p7">
            <a:extLst xmlns:a="http://schemas.openxmlformats.org/drawingml/2006/main">
              <a:ext uri="{FF2B5EF4-FFF2-40B4-BE49-F238E27FC236}">
                <a16:creationId xmlns:a16="http://schemas.microsoft.com/office/drawing/2014/main" id="{0A1C2C72-53E7-4A1F-8FE4-1300B5DB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461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2" name="Google Shape;122;p7">
            <a:extLst xmlns:a="http://schemas.openxmlformats.org/drawingml/2006/main">
              <a:ext uri="{FF2B5EF4-FFF2-40B4-BE49-F238E27FC236}">
                <a16:creationId xmlns:a16="http://schemas.microsoft.com/office/drawing/2014/main" id="{1F04000D-6636-4CFC-9BFB-96D8EC2E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74136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3" name="Google Shape;123;p7">
            <a:extLst xmlns:a="http://schemas.openxmlformats.org/drawingml/2006/main">
              <a:ext uri="{FF2B5EF4-FFF2-40B4-BE49-F238E27FC236}">
                <a16:creationId xmlns:a16="http://schemas.microsoft.com/office/drawing/2014/main" id="{E0B0552C-6EE5-429D-AEBB-B2FBA563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995928"/>
            <a:ext cx="126187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050"/>
              <a:buFont typeface="Arial"/>
              <a:buNone/>
            </a:pPr>
            <a:r>
              <a:rPr sz="105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cxnSp>
        <p:nvCxnSpPr>
          <p:cNvPr id="165" name="Google Shape;124;p7"/>
          <p:cNvCxnSpPr/>
          <p:nvPr/>
        </p:nvCxnSpPr>
        <p:spPr>
          <a:xfrm xmlns:a="http://schemas.openxmlformats.org/drawingml/2006/main">
            <a:off x="2852928" y="3529584"/>
            <a:ext cx="850392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5" name="Google Shape;125;p7">
            <a:extLst xmlns:a="http://schemas.openxmlformats.org/drawingml/2006/main">
              <a:ext uri="{FF2B5EF4-FFF2-40B4-BE49-F238E27FC236}">
                <a16:creationId xmlns:a16="http://schemas.microsoft.com/office/drawing/2014/main" id="{6F854893-C28E-4131-AD51-843F7A41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2461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6" name="Google Shape;126;p7">
            <a:extLst xmlns:a="http://schemas.openxmlformats.org/drawingml/2006/main">
              <a:ext uri="{FF2B5EF4-FFF2-40B4-BE49-F238E27FC236}">
                <a16:creationId xmlns:a16="http://schemas.microsoft.com/office/drawing/2014/main" id="{0D344370-C3A1-47C1-A0B4-8BB250C6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3374136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7" name="Google Shape;127;p7">
            <a:extLst xmlns:a="http://schemas.openxmlformats.org/drawingml/2006/main">
              <a:ext uri="{FF2B5EF4-FFF2-40B4-BE49-F238E27FC236}">
                <a16:creationId xmlns:a16="http://schemas.microsoft.com/office/drawing/2014/main" id="{2D812F13-D66F-4D8E-8760-F3E0C683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3995928"/>
            <a:ext cx="126187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050"/>
              <a:buFont typeface="Arial"/>
              <a:buNone/>
            </a:pPr>
            <a:r>
              <a:rPr sz="105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cxnSp>
        <p:nvCxnSpPr>
          <p:cNvPr id="169" name="Google Shape;128;p7"/>
          <p:cNvCxnSpPr/>
          <p:nvPr/>
        </p:nvCxnSpPr>
        <p:spPr>
          <a:xfrm xmlns:a="http://schemas.openxmlformats.org/drawingml/2006/main">
            <a:off x="4270248" y="3529584"/>
            <a:ext cx="850392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" name="Google Shape;129;p7">
            <a:extLst xmlns:a="http://schemas.openxmlformats.org/drawingml/2006/main">
              <a:ext uri="{FF2B5EF4-FFF2-40B4-BE49-F238E27FC236}">
                <a16:creationId xmlns:a16="http://schemas.microsoft.com/office/drawing/2014/main" id="{7EBE1234-4A40-441E-816C-211E2CC0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2461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0" name="Google Shape;130;p7">
            <a:extLst xmlns:a="http://schemas.openxmlformats.org/drawingml/2006/main">
              <a:ext uri="{FF2B5EF4-FFF2-40B4-BE49-F238E27FC236}">
                <a16:creationId xmlns:a16="http://schemas.microsoft.com/office/drawing/2014/main" id="{CCDFEAB8-BF7E-4891-9C3E-8F43C151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374136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1" name="Google Shape;131;p7">
            <a:extLst xmlns:a="http://schemas.openxmlformats.org/drawingml/2006/main">
              <a:ext uri="{FF2B5EF4-FFF2-40B4-BE49-F238E27FC236}">
                <a16:creationId xmlns:a16="http://schemas.microsoft.com/office/drawing/2014/main" id="{2D544164-C168-4C1F-87A7-1FF15A56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995928"/>
            <a:ext cx="126187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050"/>
              <a:buFont typeface="Arial"/>
              <a:buNone/>
            </a:pPr>
            <a:r>
              <a:rPr sz="105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cxnSp>
        <p:nvCxnSpPr>
          <p:cNvPr id="173" name="Google Shape;132;p7"/>
          <p:cNvCxnSpPr/>
          <p:nvPr/>
        </p:nvCxnSpPr>
        <p:spPr>
          <a:xfrm xmlns:a="http://schemas.openxmlformats.org/drawingml/2006/main">
            <a:off x="5687568" y="3529584"/>
            <a:ext cx="850392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" name="Google Shape;133;p7">
            <a:extLst xmlns:a="http://schemas.openxmlformats.org/drawingml/2006/main">
              <a:ext uri="{FF2B5EF4-FFF2-40B4-BE49-F238E27FC236}">
                <a16:creationId xmlns:a16="http://schemas.microsoft.com/office/drawing/2014/main" id="{ECF0CAA3-EF9F-4983-8602-278B892E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461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4" name="Google Shape;134;p7">
            <a:extLst xmlns:a="http://schemas.openxmlformats.org/drawingml/2006/main">
              <a:ext uri="{FF2B5EF4-FFF2-40B4-BE49-F238E27FC236}">
                <a16:creationId xmlns:a16="http://schemas.microsoft.com/office/drawing/2014/main" id="{FE54975A-5CC3-4D43-9954-DBC46B07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74136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35" name="Google Shape;135;p7">
            <a:extLst xmlns:a="http://schemas.openxmlformats.org/drawingml/2006/main">
              <a:ext uri="{FF2B5EF4-FFF2-40B4-BE49-F238E27FC236}">
                <a16:creationId xmlns:a16="http://schemas.microsoft.com/office/drawing/2014/main" id="{8729E52A-6D2F-4386-8826-E0C2E3EC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995928"/>
            <a:ext cx="126187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050"/>
              <a:buFont typeface="Arial"/>
              <a:buNone/>
            </a:pPr>
            <a:r>
              <a:rPr sz="105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Analyze</a:t>
            </a:r>
          </a:p>
        </p:txBody>
      </p:sp>
      <p:cxnSp>
        <p:nvCxnSpPr>
          <p:cNvPr id="177" name="Google Shape;136;p7"/>
          <p:cNvCxnSpPr/>
          <p:nvPr/>
        </p:nvCxnSpPr>
        <p:spPr>
          <a:xfrm xmlns:a="http://schemas.openxmlformats.org/drawingml/2006/main">
            <a:off x="7104888" y="3529584"/>
            <a:ext cx="850392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7" name="Google Shape;137;p7">
            <a:extLst xmlns:a="http://schemas.openxmlformats.org/drawingml/2006/main">
              <a:ext uri="{FF2B5EF4-FFF2-40B4-BE49-F238E27FC236}">
                <a16:creationId xmlns:a16="http://schemas.microsoft.com/office/drawing/2014/main" id="{7E83A668-8359-42E0-BA28-CCE31DD7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2461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8" name="Google Shape;138;p7">
            <a:extLst xmlns:a="http://schemas.openxmlformats.org/drawingml/2006/main">
              <a:ext uri="{FF2B5EF4-FFF2-40B4-BE49-F238E27FC236}">
                <a16:creationId xmlns:a16="http://schemas.microsoft.com/office/drawing/2014/main" id="{E85649AD-BEDF-4497-8A3C-335AC1BE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3374136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39" name="Google Shape;139;p7">
            <a:extLst xmlns:a="http://schemas.openxmlformats.org/drawingml/2006/main">
              <a:ext uri="{FF2B5EF4-FFF2-40B4-BE49-F238E27FC236}">
                <a16:creationId xmlns:a16="http://schemas.microsoft.com/office/drawing/2014/main" id="{AA25204E-89FB-4A7C-9C82-AACA82DE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808" y="3995928"/>
            <a:ext cx="126187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050"/>
              <a:buFont typeface="Arial"/>
              <a:buNone/>
            </a:pPr>
            <a:r>
              <a:rPr sz="105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cxnSp>
        <p:nvCxnSpPr>
          <p:cNvPr id="181" name="Google Shape;140;p7"/>
          <p:cNvCxnSpPr/>
          <p:nvPr/>
        </p:nvCxnSpPr>
        <p:spPr>
          <a:xfrm xmlns:a="http://schemas.openxmlformats.org/drawingml/2006/main">
            <a:off x="8522208" y="3529584"/>
            <a:ext cx="850392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1" name="Google Shape;141;p7">
            <a:extLst xmlns:a="http://schemas.openxmlformats.org/drawingml/2006/main">
              <a:ext uri="{FF2B5EF4-FFF2-40B4-BE49-F238E27FC236}">
                <a16:creationId xmlns:a16="http://schemas.microsoft.com/office/drawing/2014/main" id="{57EFC388-3C45-4107-BD47-53BE9174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461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2" name="Google Shape;142;p7">
            <a:extLst xmlns:a="http://schemas.openxmlformats.org/drawingml/2006/main">
              <a:ext uri="{FF2B5EF4-FFF2-40B4-BE49-F238E27FC236}">
                <a16:creationId xmlns:a16="http://schemas.microsoft.com/office/drawing/2014/main" id="{0A7418B5-8B90-4943-897F-91B686D0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74136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43" name="Google Shape;143;p7">
            <a:extLst xmlns:a="http://schemas.openxmlformats.org/drawingml/2006/main">
              <a:ext uri="{FF2B5EF4-FFF2-40B4-BE49-F238E27FC236}">
                <a16:creationId xmlns:a16="http://schemas.microsoft.com/office/drawing/2014/main" id="{94954E31-20AD-49CD-AAE8-5CA2BC807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3995928"/>
            <a:ext cx="126187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050"/>
              <a:buFont typeface="Arial"/>
              <a:buNone/>
            </a:pPr>
            <a:r>
              <a:rPr sz="105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Present</a:t>
            </a:r>
          </a:p>
        </p:txBody>
      </p:sp>
      <p:cxnSp>
        <p:nvCxnSpPr>
          <p:cNvPr id="185" name="Google Shape;144;p7"/>
          <p:cNvCxnSpPr/>
          <p:nvPr/>
        </p:nvCxnSpPr>
        <p:spPr>
          <a:xfrm xmlns:a="http://schemas.openxmlformats.org/drawingml/2006/main">
            <a:off x="9939528" y="3529584"/>
            <a:ext cx="850392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" name="Google Shape;145;p7">
            <a:extLst xmlns:a="http://schemas.openxmlformats.org/drawingml/2006/main">
              <a:ext uri="{FF2B5EF4-FFF2-40B4-BE49-F238E27FC236}">
                <a16:creationId xmlns:a16="http://schemas.microsoft.com/office/drawing/2014/main" id="{653D4FE9-7E0F-49C4-AB73-3644FCFE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3246120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6" name="Google Shape;146;p7">
            <a:extLst xmlns:a="http://schemas.openxmlformats.org/drawingml/2006/main">
              <a:ext uri="{FF2B5EF4-FFF2-40B4-BE49-F238E27FC236}">
                <a16:creationId xmlns:a16="http://schemas.microsoft.com/office/drawing/2014/main" id="{9BA35BAE-0004-433C-A7D6-73AFFA15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0" y="3374136"/>
            <a:ext cx="56692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300"/>
              <a:buFont typeface="Arial"/>
              <a:buNone/>
            </a:pPr>
            <a:r>
              <a:rPr sz="13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47" name="Google Shape;147;p7">
            <a:extLst xmlns:a="http://schemas.openxmlformats.org/drawingml/2006/main">
              <a:ext uri="{FF2B5EF4-FFF2-40B4-BE49-F238E27FC236}">
                <a16:creationId xmlns:a16="http://schemas.microsoft.com/office/drawing/2014/main" id="{EE3057A9-7F04-437E-8718-DC14BE8F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3995928"/>
            <a:ext cx="1261872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050"/>
              <a:buFont typeface="Arial"/>
              <a:buNone/>
            </a:pPr>
            <a:r>
              <a:rPr sz="105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Reflect</a:t>
            </a:r>
          </a:p>
        </p:txBody>
      </p:sp>
      <p:sp>
        <p:nvSpPr>
          <p:cNvPr id="148" name="Google Shape;148;p7">
            <a:extLst xmlns:a="http://schemas.openxmlformats.org/drawingml/2006/main">
              <a:ext uri="{FF2B5EF4-FFF2-40B4-BE49-F238E27FC236}">
                <a16:creationId xmlns:a16="http://schemas.microsoft.com/office/drawing/2014/main" id="{776240BC-436F-439D-A646-CBAFAE96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16636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Reflection asks: Where did the project change, and what did those changes teach you?</a:t>
            </a:r>
          </a:p>
        </p:txBody>
      </p:sp>
    </p:spTree>
    <p:extLst>
      <p:ext uri="{BB962C8B-B14F-4D97-AF65-F5344CB8AC3E}">
        <p14:creationId xmlns:p14="http://schemas.microsoft.com/office/powerpoint/2010/main" val="21420381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Google Shape;154;p8">
            <a:extLst xmlns:a="http://schemas.openxmlformats.org/drawingml/2006/main">
              <a:ext uri="{FF2B5EF4-FFF2-40B4-BE49-F238E27FC236}">
                <a16:creationId xmlns:a16="http://schemas.microsoft.com/office/drawing/2014/main" id="{DED185C6-8CD7-48C0-BB06-FFF5EDCD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5" name="Google Shape;155;p8">
            <a:extLst xmlns:a="http://schemas.openxmlformats.org/drawingml/2006/main">
              <a:ext uri="{FF2B5EF4-FFF2-40B4-BE49-F238E27FC236}">
                <a16:creationId xmlns:a16="http://schemas.microsoft.com/office/drawing/2014/main" id="{B4BE2A75-BF3D-44FE-87EF-973D74AA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6" name="Google Shape;156;p8">
            <a:extLst xmlns:a="http://schemas.openxmlformats.org/drawingml/2006/main">
              <a:ext uri="{FF2B5EF4-FFF2-40B4-BE49-F238E27FC236}">
                <a16:creationId xmlns:a16="http://schemas.microsoft.com/office/drawing/2014/main" id="{7E2D8269-431B-476F-B7D1-E3339B3D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7" name="Google Shape;157;p8">
            <a:extLst xmlns:a="http://schemas.openxmlformats.org/drawingml/2006/main">
              <a:ext uri="{FF2B5EF4-FFF2-40B4-BE49-F238E27FC236}">
                <a16:creationId xmlns:a16="http://schemas.microsoft.com/office/drawing/2014/main" id="{E3711A86-C068-4686-BA4F-B9D4CA60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158" name="Google Shape;158;p8">
            <a:extLst xmlns:a="http://schemas.openxmlformats.org/drawingml/2006/main">
              <a:ext uri="{FF2B5EF4-FFF2-40B4-BE49-F238E27FC236}">
                <a16:creationId xmlns:a16="http://schemas.microsoft.com/office/drawing/2014/main" id="{E06A1B09-89CD-46B0-93E1-E2D66B89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19</a:t>
            </a:r>
          </a:p>
        </p:txBody>
      </p:sp>
      <p:sp>
        <p:nvSpPr>
          <p:cNvPr id="159" name="Google Shape;159;p8">
            <a:extLst xmlns:a="http://schemas.openxmlformats.org/drawingml/2006/main">
              <a:ext uri="{FF2B5EF4-FFF2-40B4-BE49-F238E27FC236}">
                <a16:creationId xmlns:a16="http://schemas.microsoft.com/office/drawing/2014/main" id="{F7DBDFEE-AF3F-4CBB-90A6-1484EF1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Activity: Research Timeline Reconstruction</a:t>
            </a:r>
          </a:p>
        </p:txBody>
      </p:sp>
      <p:sp>
        <p:nvSpPr>
          <p:cNvPr id="160" name="Google Shape;160;p8">
            <a:extLst xmlns:a="http://schemas.openxmlformats.org/drawingml/2006/main">
              <a:ext uri="{FF2B5EF4-FFF2-40B4-BE49-F238E27FC236}">
                <a16:creationId xmlns:a16="http://schemas.microsoft.com/office/drawing/2014/main" id="{EAB6910A-2E25-4708-87A1-CF9AAA11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61872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1" name="Google Shape;161;p8">
            <a:extLst xmlns:a="http://schemas.openxmlformats.org/drawingml/2006/main">
              <a:ext uri="{FF2B5EF4-FFF2-40B4-BE49-F238E27FC236}">
                <a16:creationId xmlns:a16="http://schemas.microsoft.com/office/drawing/2014/main" id="{839A7CCC-6305-49AC-B4F9-892A0939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80160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Students rebuild the story of how their project changed.</a:t>
            </a:r>
          </a:p>
        </p:txBody>
      </p:sp>
      <p:sp>
        <p:nvSpPr>
          <p:cNvPr id="162" name="Google Shape;162;p8">
            <a:extLst xmlns:a="http://schemas.openxmlformats.org/drawingml/2006/main">
              <a:ext uri="{FF2B5EF4-FFF2-40B4-BE49-F238E27FC236}">
                <a16:creationId xmlns:a16="http://schemas.microsoft.com/office/drawing/2014/main" id="{C8667640-A0E2-48EE-99F3-C7E83525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55648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200"/>
              <a:buFont typeface="Arial"/>
              <a:buNone/>
            </a:pPr>
            <a:r>
              <a:rPr sz="12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163" name="Google Shape;163;p8">
            <a:extLst xmlns:a="http://schemas.openxmlformats.org/drawingml/2006/main">
              <a:ext uri="{FF2B5EF4-FFF2-40B4-BE49-F238E27FC236}">
                <a16:creationId xmlns:a16="http://schemas.microsoft.com/office/drawing/2014/main" id="{11A932ED-B91F-46D7-9A4B-43CAD572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400"/>
            <a:ext cx="704088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600"/>
              <a:buFont typeface="Arial"/>
              <a:buNone/>
            </a:pPr>
            <a:r>
              <a:rPr sz="26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From First Idea to Final Claim</a:t>
            </a:r>
          </a:p>
        </p:txBody>
      </p:sp>
      <p:sp>
        <p:nvSpPr>
          <p:cNvPr id="164" name="Google Shape;164;p8">
            <a:extLst xmlns:a="http://schemas.openxmlformats.org/drawingml/2006/main">
              <a:ext uri="{FF2B5EF4-FFF2-40B4-BE49-F238E27FC236}">
                <a16:creationId xmlns:a16="http://schemas.microsoft.com/office/drawing/2014/main" id="{4FA95728-E9B0-447C-A21E-5DFC9526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084832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12 MINUTES</a:t>
            </a:r>
          </a:p>
        </p:txBody>
      </p:sp>
      <p:cxnSp>
        <p:nvCxnSpPr>
          <p:cNvPr id="178" name="Google Shape;165;p8"/>
          <p:cNvCxnSpPr/>
          <p:nvPr/>
        </p:nvCxnSpPr>
        <p:spPr>
          <a:xfrm xmlns:a="http://schemas.openxmlformats.org/drawingml/2006/main">
            <a:off x="640080" y="2706624"/>
            <a:ext cx="1088136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8">
            <a:extLst xmlns:a="http://schemas.openxmlformats.org/drawingml/2006/main">
              <a:ext uri="{FF2B5EF4-FFF2-40B4-BE49-F238E27FC236}">
                <a16:creationId xmlns:a16="http://schemas.microsoft.com/office/drawing/2014/main" id="{10223C33-9E4B-4AAF-A937-3FD2F542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90088"/>
            <a:ext cx="10515600" cy="256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In your reflection handout, list five turning points from your project: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original idea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major revision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failed test or obstacle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important feedback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final claim, product, or presentation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For each one, write what changed and why.</a:t>
            </a:r>
          </a:p>
        </p:txBody>
      </p:sp>
    </p:spTree>
    <p:extLst>
      <p:ext uri="{BB962C8B-B14F-4D97-AF65-F5344CB8AC3E}">
        <p14:creationId xmlns:p14="http://schemas.microsoft.com/office/powerpoint/2010/main" val="14952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Google Shape;172;p9">
            <a:extLst xmlns:a="http://schemas.openxmlformats.org/drawingml/2006/main">
              <a:ext uri="{FF2B5EF4-FFF2-40B4-BE49-F238E27FC236}">
                <a16:creationId xmlns:a16="http://schemas.microsoft.com/office/drawing/2014/main" id="{36FB155E-2783-4713-AF39-B6B5FE0C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3" name="Google Shape;173;p9">
            <a:extLst xmlns:a="http://schemas.openxmlformats.org/drawingml/2006/main">
              <a:ext uri="{FF2B5EF4-FFF2-40B4-BE49-F238E27FC236}">
                <a16:creationId xmlns:a16="http://schemas.microsoft.com/office/drawing/2014/main" id="{182C3474-E871-4D0F-94AC-9B031ACB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4" name="Google Shape;174;p9">
            <a:extLst xmlns:a="http://schemas.openxmlformats.org/drawingml/2006/main">
              <a:ext uri="{FF2B5EF4-FFF2-40B4-BE49-F238E27FC236}">
                <a16:creationId xmlns:a16="http://schemas.microsoft.com/office/drawing/2014/main" id="{C55EC9F8-5FAE-4888-92BB-5E38679F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5" name="Google Shape;175;p9">
            <a:extLst xmlns:a="http://schemas.openxmlformats.org/drawingml/2006/main">
              <a:ext uri="{FF2B5EF4-FFF2-40B4-BE49-F238E27FC236}">
                <a16:creationId xmlns:a16="http://schemas.microsoft.com/office/drawing/2014/main" id="{715C48E7-088A-4C68-A41E-36CE1507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REFLECTION</a:t>
            </a:r>
          </a:p>
        </p:txBody>
      </p:sp>
      <p:sp>
        <p:nvSpPr>
          <p:cNvPr id="176" name="Google Shape;176;p9">
            <a:extLst xmlns:a="http://schemas.openxmlformats.org/drawingml/2006/main">
              <a:ext uri="{FF2B5EF4-FFF2-40B4-BE49-F238E27FC236}">
                <a16:creationId xmlns:a16="http://schemas.microsoft.com/office/drawing/2014/main" id="{3DBFBDBD-20A1-4F1E-A16D-EC570186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19</a:t>
            </a:r>
          </a:p>
        </p:txBody>
      </p:sp>
      <p:sp>
        <p:nvSpPr>
          <p:cNvPr id="177" name="Google Shape;177;p9">
            <a:extLst xmlns:a="http://schemas.openxmlformats.org/drawingml/2006/main">
              <a:ext uri="{FF2B5EF4-FFF2-40B4-BE49-F238E27FC236}">
                <a16:creationId xmlns:a16="http://schemas.microsoft.com/office/drawing/2014/main" id="{FAA78341-F4BF-4173-9B42-4BE1C705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Failure Belongs in the Final Story</a:t>
            </a:r>
          </a:p>
        </p:txBody>
      </p:sp>
      <p:sp>
        <p:nvSpPr>
          <p:cNvPr id="178" name="Google Shape;178;p9">
            <a:extLst xmlns:a="http://schemas.openxmlformats.org/drawingml/2006/main">
              <a:ext uri="{FF2B5EF4-FFF2-40B4-BE49-F238E27FC236}">
                <a16:creationId xmlns:a16="http://schemas.microsoft.com/office/drawing/2014/main" id="{226F7DAE-D805-4FAB-BE5E-B8D79BAE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61872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9" name="Google Shape;179;p9">
            <a:extLst xmlns:a="http://schemas.openxmlformats.org/drawingml/2006/main">
              <a:ext uri="{FF2B5EF4-FFF2-40B4-BE49-F238E27FC236}">
                <a16:creationId xmlns:a16="http://schemas.microsoft.com/office/drawing/2014/main" id="{AA7C25C7-4536-4C4A-A78D-2BEE2A99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80160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A project that changed direction may be more authentic, not less.</a:t>
            </a:r>
          </a:p>
        </p:txBody>
      </p:sp>
      <p:sp>
        <p:nvSpPr>
          <p:cNvPr id="180" name="Google Shape;180;p9">
            <a:extLst xmlns:a="http://schemas.openxmlformats.org/drawingml/2006/main">
              <a:ext uri="{FF2B5EF4-FFF2-40B4-BE49-F238E27FC236}">
                <a16:creationId xmlns:a16="http://schemas.microsoft.com/office/drawing/2014/main" id="{8C6E1F30-738D-485C-B829-DE141C01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663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1" name="Google Shape;181;p9">
            <a:extLst xmlns:a="http://schemas.openxmlformats.org/drawingml/2006/main">
              <a:ext uri="{FF2B5EF4-FFF2-40B4-BE49-F238E27FC236}">
                <a16:creationId xmlns:a16="http://schemas.microsoft.com/office/drawing/2014/main" id="{F57EA64D-0CD5-4352-851A-53DD7F2F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4008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2" name="Google Shape;182;p9">
            <a:extLst xmlns:a="http://schemas.openxmlformats.org/drawingml/2006/main">
              <a:ext uri="{FF2B5EF4-FFF2-40B4-BE49-F238E27FC236}">
                <a16:creationId xmlns:a16="http://schemas.microsoft.com/office/drawing/2014/main" id="{1D390D07-456C-498D-B45D-32204B4F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73736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WEAK REFLECTION</a:t>
            </a:r>
          </a:p>
        </p:txBody>
      </p:sp>
      <p:sp>
        <p:nvSpPr>
          <p:cNvPr id="183" name="Google Shape;183;p9">
            <a:extLst xmlns:a="http://schemas.openxmlformats.org/drawingml/2006/main">
              <a:ext uri="{FF2B5EF4-FFF2-40B4-BE49-F238E27FC236}">
                <a16:creationId xmlns:a16="http://schemas.microsoft.com/office/drawing/2014/main" id="{DE667C97-04AD-4EAB-97CA-59574678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057400"/>
            <a:ext cx="4846320" cy="327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“My project failed, but I still finished.”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Problem: It treats failure as an ending and gives no evidence of learning.</a:t>
            </a:r>
          </a:p>
        </p:txBody>
      </p:sp>
      <p:sp>
        <p:nvSpPr>
          <p:cNvPr id="184" name="Google Shape;184;p9">
            <a:extLst xmlns:a="http://schemas.openxmlformats.org/drawingml/2006/main">
              <a:ext uri="{FF2B5EF4-FFF2-40B4-BE49-F238E27FC236}">
                <a16:creationId xmlns:a16="http://schemas.microsoft.com/office/drawing/2014/main" id="{AE2C0275-6C01-4A8D-A33A-926E47DD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00200"/>
            <a:ext cx="51663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5" name="Google Shape;185;p9">
            <a:extLst xmlns:a="http://schemas.openxmlformats.org/drawingml/2006/main">
              <a:ext uri="{FF2B5EF4-FFF2-40B4-BE49-F238E27FC236}">
                <a16:creationId xmlns:a16="http://schemas.microsoft.com/office/drawing/2014/main" id="{38ADCEBE-A09D-49B9-B645-54C8313D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00200"/>
            <a:ext cx="64008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6" name="Google Shape;186;p9">
            <a:extLst xmlns:a="http://schemas.openxmlformats.org/drawingml/2006/main">
              <a:ext uri="{FF2B5EF4-FFF2-40B4-BE49-F238E27FC236}">
                <a16:creationId xmlns:a16="http://schemas.microsoft.com/office/drawing/2014/main" id="{6AA276A5-DB78-49DE-A9BA-8F0C40BF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73736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STRONGER REFLECTION</a:t>
            </a:r>
          </a:p>
        </p:txBody>
      </p:sp>
      <p:sp>
        <p:nvSpPr>
          <p:cNvPr id="187" name="Google Shape;187;p9">
            <a:extLst xmlns:a="http://schemas.openxmlformats.org/drawingml/2006/main">
              <a:ext uri="{FF2B5EF4-FFF2-40B4-BE49-F238E27FC236}">
                <a16:creationId xmlns:a16="http://schemas.microsoft.com/office/drawing/2014/main" id="{94CE24E3-A54A-4877-B7CF-35177CFE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057400"/>
            <a:ext cx="4846320" cy="327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“My first prototype failed at the clamp, which showed the test fixture was measuring clamp weakness instead of bridge strength. Revising the fixture made later trials more meaningful.”</a:t>
            </a:r>
          </a:p>
        </p:txBody>
      </p:sp>
    </p:spTree>
    <p:extLst>
      <p:ext uri="{BB962C8B-B14F-4D97-AF65-F5344CB8AC3E}">
        <p14:creationId xmlns:p14="http://schemas.microsoft.com/office/powerpoint/2010/main" val="1467285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3" name="Google Shape;193;p10">
            <a:extLst xmlns:a="http://schemas.openxmlformats.org/drawingml/2006/main">
              <a:ext uri="{FF2B5EF4-FFF2-40B4-BE49-F238E27FC236}">
                <a16:creationId xmlns:a16="http://schemas.microsoft.com/office/drawing/2014/main" id="{8F128D1F-0150-460D-96F6-EC1CD060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4" name="Google Shape;194;p10">
            <a:extLst xmlns:a="http://schemas.openxmlformats.org/drawingml/2006/main">
              <a:ext uri="{FF2B5EF4-FFF2-40B4-BE49-F238E27FC236}">
                <a16:creationId xmlns:a16="http://schemas.microsoft.com/office/drawing/2014/main" id="{FEE78339-6B2C-4FA7-B1FC-E7E50997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5" name="Google Shape;195;p10">
            <a:extLst xmlns:a="http://schemas.openxmlformats.org/drawingml/2006/main">
              <a:ext uri="{FF2B5EF4-FFF2-40B4-BE49-F238E27FC236}">
                <a16:creationId xmlns:a16="http://schemas.microsoft.com/office/drawing/2014/main" id="{8912122D-E7D7-42B9-B727-3FB6277F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6" name="Google Shape;196;p10">
            <a:extLst xmlns:a="http://schemas.openxmlformats.org/drawingml/2006/main">
              <a:ext uri="{FF2B5EF4-FFF2-40B4-BE49-F238E27FC236}">
                <a16:creationId xmlns:a16="http://schemas.microsoft.com/office/drawing/2014/main" id="{AC06ED09-ABFA-4245-9F7D-B6F939EC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PORTFOLIO</a:t>
            </a:r>
          </a:p>
        </p:txBody>
      </p:sp>
      <p:sp>
        <p:nvSpPr>
          <p:cNvPr id="197" name="Google Shape;197;p10">
            <a:extLst xmlns:a="http://schemas.openxmlformats.org/drawingml/2006/main">
              <a:ext uri="{FF2B5EF4-FFF2-40B4-BE49-F238E27FC236}">
                <a16:creationId xmlns:a16="http://schemas.microsoft.com/office/drawing/2014/main" id="{EC177DA9-1161-45EF-B1CF-025DEF0B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19</a:t>
            </a:r>
          </a:p>
        </p:txBody>
      </p:sp>
      <p:sp>
        <p:nvSpPr>
          <p:cNvPr id="198" name="Google Shape;198;p10">
            <a:extLst xmlns:a="http://schemas.openxmlformats.org/drawingml/2006/main">
              <a:ext uri="{FF2B5EF4-FFF2-40B4-BE49-F238E27FC236}">
                <a16:creationId xmlns:a16="http://schemas.microsoft.com/office/drawing/2014/main" id="{F05633F5-0A99-4F8D-964F-02D6F5CE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A Portfolio Shows Product and Process</a:t>
            </a:r>
          </a:p>
        </p:txBody>
      </p:sp>
      <p:sp>
        <p:nvSpPr>
          <p:cNvPr id="199" name="Google Shape;199;p10">
            <a:extLst xmlns:a="http://schemas.openxmlformats.org/drawingml/2006/main">
              <a:ext uri="{FF2B5EF4-FFF2-40B4-BE49-F238E27FC236}">
                <a16:creationId xmlns:a16="http://schemas.microsoft.com/office/drawing/2014/main" id="{617179EC-382A-4534-8285-569C23B8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61872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0" name="Google Shape;200;p10">
            <a:extLst xmlns:a="http://schemas.openxmlformats.org/drawingml/2006/main">
              <a:ext uri="{FF2B5EF4-FFF2-40B4-BE49-F238E27FC236}">
                <a16:creationId xmlns:a16="http://schemas.microsoft.com/office/drawing/2014/main" id="{FDB3396C-61C3-4C07-BB37-6A5FA9AF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80160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A strong portfolio proves the work happened and shows how thinking developed.</a:t>
            </a:r>
          </a:p>
        </p:txBody>
      </p:sp>
      <p:sp>
        <p:nvSpPr>
          <p:cNvPr id="201" name="Google Shape;201;p10">
            <a:extLst xmlns:a="http://schemas.openxmlformats.org/drawingml/2006/main">
              <a:ext uri="{FF2B5EF4-FFF2-40B4-BE49-F238E27FC236}">
                <a16:creationId xmlns:a16="http://schemas.microsoft.com/office/drawing/2014/main" id="{D8E09DF9-DEC9-45CD-857D-E0816452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2" name="Google Shape;202;p10">
            <a:extLst xmlns:a="http://schemas.openxmlformats.org/drawingml/2006/main">
              <a:ext uri="{FF2B5EF4-FFF2-40B4-BE49-F238E27FC236}">
                <a16:creationId xmlns:a16="http://schemas.microsoft.com/office/drawing/2014/main" id="{9BEFEB1F-7D25-4ADA-B8D3-15457B82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3" name="Google Shape;203;p10">
            <a:extLst xmlns:a="http://schemas.openxmlformats.org/drawingml/2006/main">
              <a:ext uri="{FF2B5EF4-FFF2-40B4-BE49-F238E27FC236}">
                <a16:creationId xmlns:a16="http://schemas.microsoft.com/office/drawing/2014/main" id="{CE7A50E1-FCD2-4DD9-BFA5-EC80E969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PRODUCT ARTIFACTS</a:t>
            </a:r>
          </a:p>
        </p:txBody>
      </p:sp>
      <p:sp>
        <p:nvSpPr>
          <p:cNvPr id="204" name="Google Shape;204;p10">
            <a:extLst xmlns:a="http://schemas.openxmlformats.org/drawingml/2006/main">
              <a:ext uri="{FF2B5EF4-FFF2-40B4-BE49-F238E27FC236}">
                <a16:creationId xmlns:a16="http://schemas.microsoft.com/office/drawing/2014/main" id="{407CF80A-5D42-45F4-9E8B-30F4BA9E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Final report, final poster or slides, final graphs, final presentation feedback.</a:t>
            </a:r>
          </a:p>
        </p:txBody>
      </p:sp>
      <p:sp>
        <p:nvSpPr>
          <p:cNvPr id="205" name="Google Shape;205;p10">
            <a:extLst xmlns:a="http://schemas.openxmlformats.org/drawingml/2006/main">
              <a:ext uri="{FF2B5EF4-FFF2-40B4-BE49-F238E27FC236}">
                <a16:creationId xmlns:a16="http://schemas.microsoft.com/office/drawing/2014/main" id="{888FE558-B06B-4184-8445-CBBA6009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6" name="Google Shape;206;p10">
            <a:extLst xmlns:a="http://schemas.openxmlformats.org/drawingml/2006/main">
              <a:ext uri="{FF2B5EF4-FFF2-40B4-BE49-F238E27FC236}">
                <a16:creationId xmlns:a16="http://schemas.microsoft.com/office/drawing/2014/main" id="{B6C1BFFC-A4EA-42C5-B322-07089643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7" name="Google Shape;207;p10">
            <a:extLst xmlns:a="http://schemas.openxmlformats.org/drawingml/2006/main">
              <a:ext uri="{FF2B5EF4-FFF2-40B4-BE49-F238E27FC236}">
                <a16:creationId xmlns:a16="http://schemas.microsoft.com/office/drawing/2014/main" id="{5969048A-8BD6-49AC-8EEA-0F1CCCA9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PROCESS ARTIFACTS</a:t>
            </a:r>
          </a:p>
        </p:txBody>
      </p:sp>
      <p:sp>
        <p:nvSpPr>
          <p:cNvPr id="208" name="Google Shape;208;p10">
            <a:extLst xmlns:a="http://schemas.openxmlformats.org/drawingml/2006/main">
              <a:ext uri="{FF2B5EF4-FFF2-40B4-BE49-F238E27FC236}">
                <a16:creationId xmlns:a16="http://schemas.microsoft.com/office/drawing/2014/main" id="{9D1651EC-74B2-4759-8923-5C8183F6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Original pitch, research plan, pilot notes, journal excerpts, troubleshooting logs.</a:t>
            </a:r>
          </a:p>
        </p:txBody>
      </p:sp>
      <p:sp>
        <p:nvSpPr>
          <p:cNvPr id="209" name="Google Shape;209;p10">
            <a:extLst xmlns:a="http://schemas.openxmlformats.org/drawingml/2006/main">
              <a:ext uri="{FF2B5EF4-FFF2-40B4-BE49-F238E27FC236}">
                <a16:creationId xmlns:a16="http://schemas.microsoft.com/office/drawing/2014/main" id="{E5D6B513-4220-40A2-B3B5-51095E80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0" name="Google Shape;210;p10">
            <a:extLst xmlns:a="http://schemas.openxmlformats.org/drawingml/2006/main">
              <a:ext uri="{FF2B5EF4-FFF2-40B4-BE49-F238E27FC236}">
                <a16:creationId xmlns:a16="http://schemas.microsoft.com/office/drawing/2014/main" id="{84C13EAE-EE80-4CE1-A1E0-4848C1F1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1" name="Google Shape;211;p10">
            <a:extLst xmlns:a="http://schemas.openxmlformats.org/drawingml/2006/main">
              <a:ext uri="{FF2B5EF4-FFF2-40B4-BE49-F238E27FC236}">
                <a16:creationId xmlns:a16="http://schemas.microsoft.com/office/drawing/2014/main" id="{758C7ADF-BB73-4C4E-8849-9F191AAE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DATA ARTIFACTS</a:t>
            </a:r>
          </a:p>
        </p:txBody>
      </p:sp>
      <p:sp>
        <p:nvSpPr>
          <p:cNvPr id="212" name="Google Shape;212;p10">
            <a:extLst xmlns:a="http://schemas.openxmlformats.org/drawingml/2006/main">
              <a:ext uri="{FF2B5EF4-FFF2-40B4-BE49-F238E27FC236}">
                <a16:creationId xmlns:a16="http://schemas.microsoft.com/office/drawing/2014/main" id="{3B1FDE86-D7F0-4D28-B9B3-5E0F7EE3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Raw data sample, clean data set, analysis notes, figures, captions, limitations review.</a:t>
            </a:r>
          </a:p>
        </p:txBody>
      </p:sp>
      <p:sp>
        <p:nvSpPr>
          <p:cNvPr id="213" name="Google Shape;213;p10">
            <a:extLst xmlns:a="http://schemas.openxmlformats.org/drawingml/2006/main">
              <a:ext uri="{FF2B5EF4-FFF2-40B4-BE49-F238E27FC236}">
                <a16:creationId xmlns:a16="http://schemas.microsoft.com/office/drawing/2014/main" id="{53A74ED2-70B7-41F4-BBD7-46EFBDE1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4" name="Google Shape;214;p10">
            <a:extLst xmlns:a="http://schemas.openxmlformats.org/drawingml/2006/main">
              <a:ext uri="{FF2B5EF4-FFF2-40B4-BE49-F238E27FC236}">
                <a16:creationId xmlns:a16="http://schemas.microsoft.com/office/drawing/2014/main" id="{3F24586C-6BCD-401B-AED7-9FA5416B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5" name="Google Shape;215;p10">
            <a:extLst xmlns:a="http://schemas.openxmlformats.org/drawingml/2006/main">
              <a:ext uri="{FF2B5EF4-FFF2-40B4-BE49-F238E27FC236}">
                <a16:creationId xmlns:a16="http://schemas.microsoft.com/office/drawing/2014/main" id="{17DC087C-DF4C-4253-B188-58F74289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REFLECTION ARTIFACTS</a:t>
            </a:r>
          </a:p>
        </p:txBody>
      </p:sp>
      <p:sp>
        <p:nvSpPr>
          <p:cNvPr id="216" name="Google Shape;216;p10">
            <a:extLst xmlns:a="http://schemas.openxmlformats.org/drawingml/2006/main">
              <a:ext uri="{FF2B5EF4-FFF2-40B4-BE49-F238E27FC236}">
                <a16:creationId xmlns:a16="http://schemas.microsoft.com/office/drawing/2014/main" id="{06A2C922-D246-4455-8BDD-C8FEC99D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Post-presentation reflection, final process reflection, next-step plan, advice to future students.</a:t>
            </a:r>
          </a:p>
        </p:txBody>
      </p:sp>
    </p:spTree>
    <p:extLst>
      <p:ext uri="{BB962C8B-B14F-4D97-AF65-F5344CB8AC3E}">
        <p14:creationId xmlns:p14="http://schemas.microsoft.com/office/powerpoint/2010/main" val="13980083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2" name="Google Shape;222;p11">
            <a:extLst xmlns:a="http://schemas.openxmlformats.org/drawingml/2006/main">
              <a:ext uri="{FF2B5EF4-FFF2-40B4-BE49-F238E27FC236}">
                <a16:creationId xmlns:a16="http://schemas.microsoft.com/office/drawing/2014/main" id="{851DAC97-BB46-4565-B7EE-AA67275F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3" name="Google Shape;223;p11">
            <a:extLst xmlns:a="http://schemas.openxmlformats.org/drawingml/2006/main">
              <a:ext uri="{FF2B5EF4-FFF2-40B4-BE49-F238E27FC236}">
                <a16:creationId xmlns:a16="http://schemas.microsoft.com/office/drawing/2014/main" id="{4B5BC91E-E9A5-4F00-8F87-8ADEF6DE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4" name="Google Shape;224;p11">
            <a:extLst xmlns:a="http://schemas.openxmlformats.org/drawingml/2006/main">
              <a:ext uri="{FF2B5EF4-FFF2-40B4-BE49-F238E27FC236}">
                <a16:creationId xmlns:a16="http://schemas.microsoft.com/office/drawing/2014/main" id="{F0D71755-E972-4F4A-AA66-89492E4D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5" name="Google Shape;225;p11">
            <a:extLst xmlns:a="http://schemas.openxmlformats.org/drawingml/2006/main">
              <a:ext uri="{FF2B5EF4-FFF2-40B4-BE49-F238E27FC236}">
                <a16:creationId xmlns:a16="http://schemas.microsoft.com/office/drawing/2014/main" id="{A3C50CE0-2F3E-4226-92DA-E43CF5F0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PORTFOLIO</a:t>
            </a:r>
          </a:p>
        </p:txBody>
      </p:sp>
      <p:sp>
        <p:nvSpPr>
          <p:cNvPr id="226" name="Google Shape;226;p11">
            <a:extLst xmlns:a="http://schemas.openxmlformats.org/drawingml/2006/main">
              <a:ext uri="{FF2B5EF4-FFF2-40B4-BE49-F238E27FC236}">
                <a16:creationId xmlns:a16="http://schemas.microsoft.com/office/drawing/2014/main" id="{F6037D0A-B224-46AB-8C1C-4C3088AF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19</a:t>
            </a:r>
          </a:p>
        </p:txBody>
      </p:sp>
      <p:sp>
        <p:nvSpPr>
          <p:cNvPr id="227" name="Google Shape;227;p11">
            <a:extLst xmlns:a="http://schemas.openxmlformats.org/drawingml/2006/main">
              <a:ext uri="{FF2B5EF4-FFF2-40B4-BE49-F238E27FC236}">
                <a16:creationId xmlns:a16="http://schemas.microsoft.com/office/drawing/2014/main" id="{4A0F0697-29CE-4E85-8313-7801D05D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Choose Artifacts With Purpose</a:t>
            </a:r>
          </a:p>
        </p:txBody>
      </p:sp>
      <p:sp>
        <p:nvSpPr>
          <p:cNvPr id="228" name="Google Shape;228;p11">
            <a:extLst xmlns:a="http://schemas.openxmlformats.org/drawingml/2006/main">
              <a:ext uri="{FF2B5EF4-FFF2-40B4-BE49-F238E27FC236}">
                <a16:creationId xmlns:a16="http://schemas.microsoft.com/office/drawing/2014/main" id="{5FE6E38E-38CD-4D44-BEA0-D2FEDE02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61872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9" name="Google Shape;229;p11">
            <a:extLst xmlns:a="http://schemas.openxmlformats.org/drawingml/2006/main">
              <a:ext uri="{FF2B5EF4-FFF2-40B4-BE49-F238E27FC236}">
                <a16:creationId xmlns:a16="http://schemas.microsoft.com/office/drawing/2014/main" id="{72242873-4B43-4291-9497-72FF9426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80160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Every artifact should answer: What does this prove about my work?</a:t>
            </a:r>
          </a:p>
        </p:txBody>
      </p:sp>
      <p:sp>
        <p:nvSpPr>
          <p:cNvPr id="230" name="Google Shape;230;p11">
            <a:extLst xmlns:a="http://schemas.openxmlformats.org/drawingml/2006/main">
              <a:ext uri="{FF2B5EF4-FFF2-40B4-BE49-F238E27FC236}">
                <a16:creationId xmlns:a16="http://schemas.microsoft.com/office/drawing/2014/main" id="{7E0AA7FF-8461-4D22-AEB2-18C9FE8D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34290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1" name="Google Shape;231;p11">
            <a:extLst xmlns:a="http://schemas.openxmlformats.org/drawingml/2006/main">
              <a:ext uri="{FF2B5EF4-FFF2-40B4-BE49-F238E27FC236}">
                <a16:creationId xmlns:a16="http://schemas.microsoft.com/office/drawing/2014/main" id="{76FE1002-0ED6-444D-AD6F-1FACF4A6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2" name="Google Shape;232;p11">
            <a:extLst xmlns:a="http://schemas.openxmlformats.org/drawingml/2006/main">
              <a:ext uri="{FF2B5EF4-FFF2-40B4-BE49-F238E27FC236}">
                <a16:creationId xmlns:a16="http://schemas.microsoft.com/office/drawing/2014/main" id="{DBFC88CE-E438-4353-9066-100962C7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737360"/>
            <a:ext cx="3108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ORIGINAL PROJECT PITCH</a:t>
            </a:r>
          </a:p>
        </p:txBody>
      </p:sp>
      <p:sp>
        <p:nvSpPr>
          <p:cNvPr id="233" name="Google Shape;233;p11">
            <a:extLst xmlns:a="http://schemas.openxmlformats.org/drawingml/2006/main">
              <a:ext uri="{FF2B5EF4-FFF2-40B4-BE49-F238E27FC236}">
                <a16:creationId xmlns:a16="http://schemas.microsoft.com/office/drawing/2014/main" id="{591D57A0-A43F-401E-8BFA-C3C3769F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057400"/>
            <a:ext cx="310896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Shows where the research began and what early assumptions existed.</a:t>
            </a:r>
          </a:p>
        </p:txBody>
      </p:sp>
      <p:sp>
        <p:nvSpPr>
          <p:cNvPr id="234" name="Google Shape;234;p11">
            <a:extLst xmlns:a="http://schemas.openxmlformats.org/drawingml/2006/main">
              <a:ext uri="{FF2B5EF4-FFF2-40B4-BE49-F238E27FC236}">
                <a16:creationId xmlns:a16="http://schemas.microsoft.com/office/drawing/2014/main" id="{3BA99444-15B7-43CE-AB26-E3878E65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00200"/>
            <a:ext cx="34290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5" name="Google Shape;235;p11">
            <a:extLst xmlns:a="http://schemas.openxmlformats.org/drawingml/2006/main">
              <a:ext uri="{FF2B5EF4-FFF2-40B4-BE49-F238E27FC236}">
                <a16:creationId xmlns:a16="http://schemas.microsoft.com/office/drawing/2014/main" id="{F3A4911A-A139-4CE7-AC77-860A2F24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0020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6" name="Google Shape;236;p11">
            <a:extLst xmlns:a="http://schemas.openxmlformats.org/drawingml/2006/main">
              <a:ext uri="{FF2B5EF4-FFF2-40B4-BE49-F238E27FC236}">
                <a16:creationId xmlns:a16="http://schemas.microsoft.com/office/drawing/2014/main" id="{12339307-2A25-4148-B1A0-0C6BDC2E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1737360"/>
            <a:ext cx="3108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RESEARCH PLAN</a:t>
            </a:r>
          </a:p>
        </p:txBody>
      </p:sp>
      <p:sp>
        <p:nvSpPr>
          <p:cNvPr id="237" name="Google Shape;237;p11">
            <a:extLst xmlns:a="http://schemas.openxmlformats.org/drawingml/2006/main">
              <a:ext uri="{FF2B5EF4-FFF2-40B4-BE49-F238E27FC236}">
                <a16:creationId xmlns:a16="http://schemas.microsoft.com/office/drawing/2014/main" id="{3E94F2D3-8125-4169-859C-76955140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057400"/>
            <a:ext cx="310896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Shows how the idea became a structured method or design plan.</a:t>
            </a:r>
          </a:p>
        </p:txBody>
      </p:sp>
      <p:sp>
        <p:nvSpPr>
          <p:cNvPr id="238" name="Google Shape;238;p11">
            <a:extLst xmlns:a="http://schemas.openxmlformats.org/drawingml/2006/main">
              <a:ext uri="{FF2B5EF4-FFF2-40B4-BE49-F238E27FC236}">
                <a16:creationId xmlns:a16="http://schemas.microsoft.com/office/drawing/2014/main" id="{BA499997-5751-46A1-9B32-23AF337C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600200"/>
            <a:ext cx="34290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9" name="Google Shape;239;p11">
            <a:extLst xmlns:a="http://schemas.openxmlformats.org/drawingml/2006/main">
              <a:ext uri="{FF2B5EF4-FFF2-40B4-BE49-F238E27FC236}">
                <a16:creationId xmlns:a16="http://schemas.microsoft.com/office/drawing/2014/main" id="{BB3BB5EA-99E8-4660-B0AA-4317AFB2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60020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0" name="Google Shape;240;p11">
            <a:extLst xmlns:a="http://schemas.openxmlformats.org/drawingml/2006/main">
              <a:ext uri="{FF2B5EF4-FFF2-40B4-BE49-F238E27FC236}">
                <a16:creationId xmlns:a16="http://schemas.microsoft.com/office/drawing/2014/main" id="{9D61F196-92AD-4739-A60B-CE38D4F0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1737360"/>
            <a:ext cx="3108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JOURNAL EXCERPTS</a:t>
            </a:r>
          </a:p>
        </p:txBody>
      </p:sp>
      <p:sp>
        <p:nvSpPr>
          <p:cNvPr id="241" name="Google Shape;241;p11">
            <a:extLst xmlns:a="http://schemas.openxmlformats.org/drawingml/2006/main">
              <a:ext uri="{FF2B5EF4-FFF2-40B4-BE49-F238E27FC236}">
                <a16:creationId xmlns:a16="http://schemas.microsoft.com/office/drawing/2014/main" id="{605E1260-10CE-418F-83F0-D6C170A7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2057400"/>
            <a:ext cx="310896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Show what happened during work sessions, including revisions and problems.</a:t>
            </a:r>
          </a:p>
        </p:txBody>
      </p:sp>
      <p:sp>
        <p:nvSpPr>
          <p:cNvPr id="242" name="Google Shape;242;p11">
            <a:extLst xmlns:a="http://schemas.openxmlformats.org/drawingml/2006/main">
              <a:ext uri="{FF2B5EF4-FFF2-40B4-BE49-F238E27FC236}">
                <a16:creationId xmlns:a16="http://schemas.microsoft.com/office/drawing/2014/main" id="{DD94F7B8-144B-45B0-887A-8ABC4C46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4290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3" name="Google Shape;243;p11">
            <a:extLst xmlns:a="http://schemas.openxmlformats.org/drawingml/2006/main">
              <a:ext uri="{FF2B5EF4-FFF2-40B4-BE49-F238E27FC236}">
                <a16:creationId xmlns:a16="http://schemas.microsoft.com/office/drawing/2014/main" id="{86BEB36D-3443-469A-8A48-59C1FE4C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4" name="Google Shape;244;p11">
            <a:extLst xmlns:a="http://schemas.openxmlformats.org/drawingml/2006/main">
              <a:ext uri="{FF2B5EF4-FFF2-40B4-BE49-F238E27FC236}">
                <a16:creationId xmlns:a16="http://schemas.microsoft.com/office/drawing/2014/main" id="{FD3FC72D-310C-4A99-B230-4652FA2F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794760"/>
            <a:ext cx="3108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DATA + VISUALS</a:t>
            </a:r>
          </a:p>
        </p:txBody>
      </p:sp>
      <p:sp>
        <p:nvSpPr>
          <p:cNvPr id="245" name="Google Shape;245;p11">
            <a:extLst xmlns:a="http://schemas.openxmlformats.org/drawingml/2006/main">
              <a:ext uri="{FF2B5EF4-FFF2-40B4-BE49-F238E27FC236}">
                <a16:creationId xmlns:a16="http://schemas.microsoft.com/office/drawing/2014/main" id="{3E0CE7BB-1AF6-476E-8A9D-4BC705DD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114800"/>
            <a:ext cx="310896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Show the evidence used to support claims or design decisions.</a:t>
            </a:r>
          </a:p>
        </p:txBody>
      </p:sp>
      <p:sp>
        <p:nvSpPr>
          <p:cNvPr id="246" name="Google Shape;246;p11">
            <a:extLst xmlns:a="http://schemas.openxmlformats.org/drawingml/2006/main">
              <a:ext uri="{FF2B5EF4-FFF2-40B4-BE49-F238E27FC236}">
                <a16:creationId xmlns:a16="http://schemas.microsoft.com/office/drawing/2014/main" id="{6D6C4C85-26D0-4C31-9499-4F8EE745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57600"/>
            <a:ext cx="34290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7" name="Google Shape;247;p11">
            <a:extLst xmlns:a="http://schemas.openxmlformats.org/drawingml/2006/main">
              <a:ext uri="{FF2B5EF4-FFF2-40B4-BE49-F238E27FC236}">
                <a16:creationId xmlns:a16="http://schemas.microsoft.com/office/drawing/2014/main" id="{876BBFB1-D941-4982-8A72-131E02C4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65760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8" name="Google Shape;248;p11">
            <a:extLst xmlns:a="http://schemas.openxmlformats.org/drawingml/2006/main">
              <a:ext uri="{FF2B5EF4-FFF2-40B4-BE49-F238E27FC236}">
                <a16:creationId xmlns:a16="http://schemas.microsoft.com/office/drawing/2014/main" id="{E2B2EE8C-976E-4E1A-9229-BF220424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3794760"/>
            <a:ext cx="3108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FEEDBACK FORMS</a:t>
            </a:r>
          </a:p>
        </p:txBody>
      </p:sp>
      <p:sp>
        <p:nvSpPr>
          <p:cNvPr id="249" name="Google Shape;249;p11">
            <a:extLst xmlns:a="http://schemas.openxmlformats.org/drawingml/2006/main">
              <a:ext uri="{FF2B5EF4-FFF2-40B4-BE49-F238E27FC236}">
                <a16:creationId xmlns:a16="http://schemas.microsoft.com/office/drawing/2014/main" id="{7C838ED0-AEF6-4931-B742-A722DC6F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4114800"/>
            <a:ext cx="310896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Show how peer, teacher, mentor, or audience input shaped the project.</a:t>
            </a:r>
          </a:p>
        </p:txBody>
      </p:sp>
      <p:sp>
        <p:nvSpPr>
          <p:cNvPr id="250" name="Google Shape;250;p11">
            <a:extLst xmlns:a="http://schemas.openxmlformats.org/drawingml/2006/main">
              <a:ext uri="{FF2B5EF4-FFF2-40B4-BE49-F238E27FC236}">
                <a16:creationId xmlns:a16="http://schemas.microsoft.com/office/drawing/2014/main" id="{D64D6023-E271-411B-99FD-23A5DB08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657600"/>
            <a:ext cx="34290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1" name="Google Shape;251;p11">
            <a:extLst xmlns:a="http://schemas.openxmlformats.org/drawingml/2006/main">
              <a:ext uri="{FF2B5EF4-FFF2-40B4-BE49-F238E27FC236}">
                <a16:creationId xmlns:a16="http://schemas.microsoft.com/office/drawing/2014/main" id="{EFDFAF17-0C8E-4A69-9026-486A3E85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3657600"/>
            <a:ext cx="64008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2" name="Google Shape;252;p11">
            <a:extLst xmlns:a="http://schemas.openxmlformats.org/drawingml/2006/main">
              <a:ext uri="{FF2B5EF4-FFF2-40B4-BE49-F238E27FC236}">
                <a16:creationId xmlns:a16="http://schemas.microsoft.com/office/drawing/2014/main" id="{C1AA0247-5BC5-4462-8D62-881FCB8E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3794760"/>
            <a:ext cx="3108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FINAL REFLECTION</a:t>
            </a:r>
          </a:p>
        </p:txBody>
      </p:sp>
      <p:sp>
        <p:nvSpPr>
          <p:cNvPr id="253" name="Google Shape;253;p11">
            <a:extLst xmlns:a="http://schemas.openxmlformats.org/drawingml/2006/main">
              <a:ext uri="{FF2B5EF4-FFF2-40B4-BE49-F238E27FC236}">
                <a16:creationId xmlns:a16="http://schemas.microsoft.com/office/drawing/2014/main" id="{8A98A78B-9B09-4759-ACD4-FAFF9EB8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114800"/>
            <a:ext cx="3108960" cy="667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Shows what the student understands now that they did not understand at the start.</a:t>
            </a:r>
          </a:p>
        </p:txBody>
      </p:sp>
    </p:spTree>
    <p:extLst>
      <p:ext uri="{BB962C8B-B14F-4D97-AF65-F5344CB8AC3E}">
        <p14:creationId xmlns:p14="http://schemas.microsoft.com/office/powerpoint/2010/main" val="11718711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9" name="Google Shape;259;p12">
            <a:extLst xmlns:a="http://schemas.openxmlformats.org/drawingml/2006/main">
              <a:ext uri="{FF2B5EF4-FFF2-40B4-BE49-F238E27FC236}">
                <a16:creationId xmlns:a16="http://schemas.microsoft.com/office/drawing/2014/main" id="{2EDB39BC-98FA-4E1D-B10C-99BFB9F1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0" name="Google Shape;260;p12">
            <a:extLst xmlns:a="http://schemas.openxmlformats.org/drawingml/2006/main">
              <a:ext uri="{FF2B5EF4-FFF2-40B4-BE49-F238E27FC236}">
                <a16:creationId xmlns:a16="http://schemas.microsoft.com/office/drawing/2014/main" id="{5B1A250A-D0D7-4B2C-A78D-DE68F841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1" name="Google Shape;261;p12">
            <a:extLst xmlns:a="http://schemas.openxmlformats.org/drawingml/2006/main">
              <a:ext uri="{FF2B5EF4-FFF2-40B4-BE49-F238E27FC236}">
                <a16:creationId xmlns:a16="http://schemas.microsoft.com/office/drawing/2014/main" id="{AC25DC45-9355-403E-BA89-37AAD437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2" name="Google Shape;262;p12">
            <a:extLst xmlns:a="http://schemas.openxmlformats.org/drawingml/2006/main">
              <a:ext uri="{FF2B5EF4-FFF2-40B4-BE49-F238E27FC236}">
                <a16:creationId xmlns:a16="http://schemas.microsoft.com/office/drawing/2014/main" id="{A0563E26-5C4F-4230-A0D5-77C2ABCB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263" name="Google Shape;263;p12">
            <a:extLst xmlns:a="http://schemas.openxmlformats.org/drawingml/2006/main">
              <a:ext uri="{FF2B5EF4-FFF2-40B4-BE49-F238E27FC236}">
                <a16:creationId xmlns:a16="http://schemas.microsoft.com/office/drawing/2014/main" id="{0BEF0A49-B7A6-4B3C-AC1B-37AF4179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19</a:t>
            </a:r>
          </a:p>
        </p:txBody>
      </p:sp>
      <p:sp>
        <p:nvSpPr>
          <p:cNvPr id="264" name="Google Shape;264;p12">
            <a:extLst xmlns:a="http://schemas.openxmlformats.org/drawingml/2006/main">
              <a:ext uri="{FF2B5EF4-FFF2-40B4-BE49-F238E27FC236}">
                <a16:creationId xmlns:a16="http://schemas.microsoft.com/office/drawing/2014/main" id="{4801950E-8DA7-4BB0-A7D5-B1F0A97D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Activity: Portfolio Artifact Audit</a:t>
            </a:r>
          </a:p>
        </p:txBody>
      </p:sp>
      <p:sp>
        <p:nvSpPr>
          <p:cNvPr id="265" name="Google Shape;265;p12">
            <a:extLst xmlns:a="http://schemas.openxmlformats.org/drawingml/2006/main">
              <a:ext uri="{FF2B5EF4-FFF2-40B4-BE49-F238E27FC236}">
                <a16:creationId xmlns:a16="http://schemas.microsoft.com/office/drawing/2014/main" id="{E8680814-6C0E-49EC-8EF5-16494C8F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61872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6" name="Google Shape;266;p12">
            <a:extLst xmlns:a="http://schemas.openxmlformats.org/drawingml/2006/main">
              <a:ext uri="{FF2B5EF4-FFF2-40B4-BE49-F238E27FC236}">
                <a16:creationId xmlns:a16="http://schemas.microsoft.com/office/drawing/2014/main" id="{CC4EAA21-040A-47AB-9CBF-6FF1B915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80160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Students identify what they have and what is missing.</a:t>
            </a:r>
          </a:p>
        </p:txBody>
      </p:sp>
      <p:sp>
        <p:nvSpPr>
          <p:cNvPr id="267" name="Google Shape;267;p12">
            <a:extLst xmlns:a="http://schemas.openxmlformats.org/drawingml/2006/main">
              <a:ext uri="{FF2B5EF4-FFF2-40B4-BE49-F238E27FC236}">
                <a16:creationId xmlns:a16="http://schemas.microsoft.com/office/drawing/2014/main" id="{87E41721-1E23-4080-8780-CBC1BDFF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55648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200"/>
              <a:buFont typeface="Arial"/>
              <a:buNone/>
            </a:pPr>
            <a:r>
              <a:rPr sz="12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268" name="Google Shape;268;p12">
            <a:extLst xmlns:a="http://schemas.openxmlformats.org/drawingml/2006/main">
              <a:ext uri="{FF2B5EF4-FFF2-40B4-BE49-F238E27FC236}">
                <a16:creationId xmlns:a16="http://schemas.microsoft.com/office/drawing/2014/main" id="{6E6969ED-5E25-499C-838E-6A093321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400"/>
            <a:ext cx="704088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600"/>
              <a:buFont typeface="Arial"/>
              <a:buNone/>
            </a:pPr>
            <a:r>
              <a:rPr sz="26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Build the Portfolio Checklist</a:t>
            </a:r>
          </a:p>
        </p:txBody>
      </p:sp>
      <p:sp>
        <p:nvSpPr>
          <p:cNvPr id="269" name="Google Shape;269;p12">
            <a:extLst xmlns:a="http://schemas.openxmlformats.org/drawingml/2006/main">
              <a:ext uri="{FF2B5EF4-FFF2-40B4-BE49-F238E27FC236}">
                <a16:creationId xmlns:a16="http://schemas.microsoft.com/office/drawing/2014/main" id="{4C57F20A-BD7D-49F1-8407-36140A28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084832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15 MINUTES</a:t>
            </a:r>
          </a:p>
        </p:txBody>
      </p:sp>
      <p:cxnSp>
        <p:nvCxnSpPr>
          <p:cNvPr id="283" name="Google Shape;270;p12"/>
          <p:cNvCxnSpPr/>
          <p:nvPr/>
        </p:nvCxnSpPr>
        <p:spPr>
          <a:xfrm xmlns:a="http://schemas.openxmlformats.org/drawingml/2006/main">
            <a:off x="640080" y="2706624"/>
            <a:ext cx="1088136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1" name="Google Shape;271;p12">
            <a:extLst xmlns:a="http://schemas.openxmlformats.org/drawingml/2006/main">
              <a:ext uri="{FF2B5EF4-FFF2-40B4-BE49-F238E27FC236}">
                <a16:creationId xmlns:a16="http://schemas.microsoft.com/office/drawing/2014/main" id="{AAA521EB-B3EA-47F4-A1C2-85B509AFC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90088"/>
            <a:ext cx="10515600" cy="256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Open your portfolio folder or planning document. Use the checklist to mark: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included artifacts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missing artifacts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artifacts that need clearer names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artifacts that need short explanations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Star the artifact that best represents your growth as a researcher.</a:t>
            </a:r>
          </a:p>
        </p:txBody>
      </p:sp>
    </p:spTree>
    <p:extLst>
      <p:ext uri="{BB962C8B-B14F-4D97-AF65-F5344CB8AC3E}">
        <p14:creationId xmlns:p14="http://schemas.microsoft.com/office/powerpoint/2010/main" val="8124921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7" name="Google Shape;277;p13">
            <a:extLst xmlns:a="http://schemas.openxmlformats.org/drawingml/2006/main">
              <a:ext uri="{FF2B5EF4-FFF2-40B4-BE49-F238E27FC236}">
                <a16:creationId xmlns:a16="http://schemas.microsoft.com/office/drawing/2014/main" id="{221EC3BD-25F9-4592-BC06-276E760D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8" name="Google Shape;278;p13">
            <a:extLst xmlns:a="http://schemas.openxmlformats.org/drawingml/2006/main">
              <a:ext uri="{FF2B5EF4-FFF2-40B4-BE49-F238E27FC236}">
                <a16:creationId xmlns:a16="http://schemas.microsoft.com/office/drawing/2014/main" id="{F7156BEE-85DE-4AFA-9998-A5A802C4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9" name="Google Shape;279;p13">
            <a:extLst xmlns:a="http://schemas.openxmlformats.org/drawingml/2006/main">
              <a:ext uri="{FF2B5EF4-FFF2-40B4-BE49-F238E27FC236}">
                <a16:creationId xmlns:a16="http://schemas.microsoft.com/office/drawing/2014/main" id="{7030F6D0-FBEB-4878-BF24-F982F179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0" name="Google Shape;280;p13">
            <a:extLst xmlns:a="http://schemas.openxmlformats.org/drawingml/2006/main">
              <a:ext uri="{FF2B5EF4-FFF2-40B4-BE49-F238E27FC236}">
                <a16:creationId xmlns:a16="http://schemas.microsoft.com/office/drawing/2014/main" id="{9C741C38-2ADF-4678-B5B3-45C9BE69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PORTFOLIO</a:t>
            </a:r>
          </a:p>
        </p:txBody>
      </p:sp>
      <p:sp>
        <p:nvSpPr>
          <p:cNvPr id="281" name="Google Shape;281;p13">
            <a:extLst xmlns:a="http://schemas.openxmlformats.org/drawingml/2006/main">
              <a:ext uri="{FF2B5EF4-FFF2-40B4-BE49-F238E27FC236}">
                <a16:creationId xmlns:a16="http://schemas.microsoft.com/office/drawing/2014/main" id="{468F8AFE-5E0B-4FFF-A5E3-5623EBEC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19</a:t>
            </a:r>
          </a:p>
        </p:txBody>
      </p:sp>
      <p:sp>
        <p:nvSpPr>
          <p:cNvPr id="282" name="Google Shape;282;p13">
            <a:extLst xmlns:a="http://schemas.openxmlformats.org/drawingml/2006/main">
              <a:ext uri="{FF2B5EF4-FFF2-40B4-BE49-F238E27FC236}">
                <a16:creationId xmlns:a16="http://schemas.microsoft.com/office/drawing/2014/main" id="{65B046FE-7D52-469C-A1B9-2C309E24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A Portfolio Needs Context</a:t>
            </a:r>
          </a:p>
        </p:txBody>
      </p:sp>
      <p:sp>
        <p:nvSpPr>
          <p:cNvPr id="283" name="Google Shape;283;p13">
            <a:extLst xmlns:a="http://schemas.openxmlformats.org/drawingml/2006/main">
              <a:ext uri="{FF2B5EF4-FFF2-40B4-BE49-F238E27FC236}">
                <a16:creationId xmlns:a16="http://schemas.microsoft.com/office/drawing/2014/main" id="{ED3774EC-B3FB-4D01-ACE0-FC999F97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61872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4" name="Google Shape;284;p13">
            <a:extLst xmlns:a="http://schemas.openxmlformats.org/drawingml/2006/main">
              <a:ext uri="{FF2B5EF4-FFF2-40B4-BE49-F238E27FC236}">
                <a16:creationId xmlns:a16="http://schemas.microsoft.com/office/drawing/2014/main" id="{353B18A8-8BC2-40B6-A1A5-8A5A3608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80160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Do not make the reader guess why each artifact matters.</a:t>
            </a:r>
          </a:p>
        </p:txBody>
      </p:sp>
      <p:sp>
        <p:nvSpPr>
          <p:cNvPr id="285" name="Google Shape;285;p13">
            <a:extLst xmlns:a="http://schemas.openxmlformats.org/drawingml/2006/main">
              <a:ext uri="{FF2B5EF4-FFF2-40B4-BE49-F238E27FC236}">
                <a16:creationId xmlns:a16="http://schemas.microsoft.com/office/drawing/2014/main" id="{42A5ACDE-EF9B-4301-AFF7-71BEDD2D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663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6" name="Google Shape;286;p13">
            <a:extLst xmlns:a="http://schemas.openxmlformats.org/drawingml/2006/main">
              <a:ext uri="{FF2B5EF4-FFF2-40B4-BE49-F238E27FC236}">
                <a16:creationId xmlns:a16="http://schemas.microsoft.com/office/drawing/2014/main" id="{A66902A1-AC23-4365-9AF4-EFD1EA39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4008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7" name="Google Shape;287;p13">
            <a:extLst xmlns:a="http://schemas.openxmlformats.org/drawingml/2006/main">
              <a:ext uri="{FF2B5EF4-FFF2-40B4-BE49-F238E27FC236}">
                <a16:creationId xmlns:a16="http://schemas.microsoft.com/office/drawing/2014/main" id="{BDCB728D-7967-491F-B2B7-1ABCD103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73736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FILE DUMP</a:t>
            </a:r>
          </a:p>
        </p:txBody>
      </p:sp>
      <p:sp>
        <p:nvSpPr>
          <p:cNvPr id="288" name="Google Shape;288;p13">
            <a:extLst xmlns:a="http://schemas.openxmlformats.org/drawingml/2006/main">
              <a:ext uri="{FF2B5EF4-FFF2-40B4-BE49-F238E27FC236}">
                <a16:creationId xmlns:a16="http://schemas.microsoft.com/office/drawing/2014/main" id="{9130C527-1223-4E1E-97A4-D28611DA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057400"/>
            <a:ext cx="4846320" cy="327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Random screenshots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Untitled graphs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Old drafts with no explanation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Photos without dates or captions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Feedback forms not connected to revisions</a:t>
            </a:r>
          </a:p>
        </p:txBody>
      </p:sp>
      <p:sp>
        <p:nvSpPr>
          <p:cNvPr id="289" name="Google Shape;289;p13">
            <a:extLst xmlns:a="http://schemas.openxmlformats.org/drawingml/2006/main">
              <a:ext uri="{FF2B5EF4-FFF2-40B4-BE49-F238E27FC236}">
                <a16:creationId xmlns:a16="http://schemas.microsoft.com/office/drawing/2014/main" id="{CF7C1BC5-D388-481C-BA37-4400D244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00200"/>
            <a:ext cx="5166360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0" name="Google Shape;290;p13">
            <a:extLst xmlns:a="http://schemas.openxmlformats.org/drawingml/2006/main">
              <a:ext uri="{FF2B5EF4-FFF2-40B4-BE49-F238E27FC236}">
                <a16:creationId xmlns:a16="http://schemas.microsoft.com/office/drawing/2014/main" id="{CD2DCE8F-EB5E-4667-B515-EB121FE0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00200"/>
            <a:ext cx="64008" cy="3840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1" name="Google Shape;291;p13">
            <a:extLst xmlns:a="http://schemas.openxmlformats.org/drawingml/2006/main">
              <a:ext uri="{FF2B5EF4-FFF2-40B4-BE49-F238E27FC236}">
                <a16:creationId xmlns:a16="http://schemas.microsoft.com/office/drawing/2014/main" id="{18BD7771-03D4-4AE5-86CF-0E511A37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73736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CURATED PORTFOLIO</a:t>
            </a:r>
          </a:p>
        </p:txBody>
      </p:sp>
      <p:sp>
        <p:nvSpPr>
          <p:cNvPr id="292" name="Google Shape;292;p13">
            <a:extLst xmlns:a="http://schemas.openxmlformats.org/drawingml/2006/main">
              <a:ext uri="{FF2B5EF4-FFF2-40B4-BE49-F238E27FC236}">
                <a16:creationId xmlns:a16="http://schemas.microsoft.com/office/drawing/2014/main" id="{D270C48F-87A3-4528-A6F4-8E28F5E0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057400"/>
            <a:ext cx="4846320" cy="3273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Clear folders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Descriptive file names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Short artifact captions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Process and product represented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Reflection connects artifacts to growth</a:t>
            </a:r>
          </a:p>
        </p:txBody>
      </p:sp>
    </p:spTree>
    <p:extLst>
      <p:ext uri="{BB962C8B-B14F-4D97-AF65-F5344CB8AC3E}">
        <p14:creationId xmlns:p14="http://schemas.microsoft.com/office/powerpoint/2010/main" val="549493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8" name="Google Shape;298;p14">
            <a:extLst xmlns:a="http://schemas.openxmlformats.org/drawingml/2006/main">
              <a:ext uri="{FF2B5EF4-FFF2-40B4-BE49-F238E27FC236}">
                <a16:creationId xmlns:a16="http://schemas.microsoft.com/office/drawing/2014/main" id="{67AF565C-FC63-440B-A78A-D62C0EE3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9" name="Google Shape;299;p14">
            <a:extLst xmlns:a="http://schemas.openxmlformats.org/drawingml/2006/main">
              <a:ext uri="{FF2B5EF4-FFF2-40B4-BE49-F238E27FC236}">
                <a16:creationId xmlns:a16="http://schemas.microsoft.com/office/drawing/2014/main" id="{145E4382-AB15-4975-9B47-50309466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0" name="Google Shape;300;p14">
            <a:extLst xmlns:a="http://schemas.openxmlformats.org/drawingml/2006/main">
              <a:ext uri="{FF2B5EF4-FFF2-40B4-BE49-F238E27FC236}">
                <a16:creationId xmlns:a16="http://schemas.microsoft.com/office/drawing/2014/main" id="{1997AE91-710A-4973-9D8A-A60325E8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1" name="Google Shape;301;p14">
            <a:extLst xmlns:a="http://schemas.openxmlformats.org/drawingml/2006/main">
              <a:ext uri="{FF2B5EF4-FFF2-40B4-BE49-F238E27FC236}">
                <a16:creationId xmlns:a16="http://schemas.microsoft.com/office/drawing/2014/main" id="{C626A34A-95B1-4CE8-A01F-6E935209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REFLECTION</a:t>
            </a:r>
          </a:p>
        </p:txBody>
      </p:sp>
      <p:sp>
        <p:nvSpPr>
          <p:cNvPr id="302" name="Google Shape;302;p14">
            <a:extLst xmlns:a="http://schemas.openxmlformats.org/drawingml/2006/main">
              <a:ext uri="{FF2B5EF4-FFF2-40B4-BE49-F238E27FC236}">
                <a16:creationId xmlns:a16="http://schemas.microsoft.com/office/drawing/2014/main" id="{DC703C72-46E1-4ACE-B69C-66A41321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19</a:t>
            </a:r>
          </a:p>
        </p:txBody>
      </p:sp>
      <p:sp>
        <p:nvSpPr>
          <p:cNvPr id="303" name="Google Shape;303;p14">
            <a:extLst xmlns:a="http://schemas.openxmlformats.org/drawingml/2006/main">
              <a:ext uri="{FF2B5EF4-FFF2-40B4-BE49-F238E27FC236}">
                <a16:creationId xmlns:a16="http://schemas.microsoft.com/office/drawing/2014/main" id="{426CFA97-7E66-4AB9-A727-EC29352C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What Did You Learn About Research?</a:t>
            </a:r>
          </a:p>
        </p:txBody>
      </p:sp>
      <p:sp>
        <p:nvSpPr>
          <p:cNvPr id="304" name="Google Shape;304;p14">
            <a:extLst xmlns:a="http://schemas.openxmlformats.org/drawingml/2006/main">
              <a:ext uri="{FF2B5EF4-FFF2-40B4-BE49-F238E27FC236}">
                <a16:creationId xmlns:a16="http://schemas.microsoft.com/office/drawing/2014/main" id="{41F4E027-E1DC-4370-A6ED-BA2309E6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61872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5" name="Google Shape;305;p14">
            <a:extLst xmlns:a="http://schemas.openxmlformats.org/drawingml/2006/main">
              <a:ext uri="{FF2B5EF4-FFF2-40B4-BE49-F238E27FC236}">
                <a16:creationId xmlns:a16="http://schemas.microsoft.com/office/drawing/2014/main" id="{E5A4423E-54D8-462E-A69D-6ADC3F93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80160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Push beyond “I learned science.”</a:t>
            </a:r>
          </a:p>
        </p:txBody>
      </p:sp>
      <p:sp>
        <p:nvSpPr>
          <p:cNvPr id="306" name="Google Shape;306;p14">
            <a:extLst xmlns:a="http://schemas.openxmlformats.org/drawingml/2006/main">
              <a:ext uri="{FF2B5EF4-FFF2-40B4-BE49-F238E27FC236}">
                <a16:creationId xmlns:a16="http://schemas.microsoft.com/office/drawing/2014/main" id="{C6E5A401-5B38-4ECD-9FD8-EC7195EA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7" name="Google Shape;307;p14">
            <a:extLst xmlns:a="http://schemas.openxmlformats.org/drawingml/2006/main">
              <a:ext uri="{FF2B5EF4-FFF2-40B4-BE49-F238E27FC236}">
                <a16:creationId xmlns:a16="http://schemas.microsoft.com/office/drawing/2014/main" id="{2B929078-8B2F-4A4C-B5FE-DE3D5BA4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8" name="Google Shape;308;p14">
            <a:extLst xmlns:a="http://schemas.openxmlformats.org/drawingml/2006/main">
              <a:ext uri="{FF2B5EF4-FFF2-40B4-BE49-F238E27FC236}">
                <a16:creationId xmlns:a16="http://schemas.microsoft.com/office/drawing/2014/main" id="{34D39655-BC26-4F5F-B5B1-873A1393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309" name="Google Shape;309;p14">
            <a:extLst xmlns:a="http://schemas.openxmlformats.org/drawingml/2006/main">
              <a:ext uri="{FF2B5EF4-FFF2-40B4-BE49-F238E27FC236}">
                <a16:creationId xmlns:a16="http://schemas.microsoft.com/office/drawing/2014/main" id="{9927D561-7CAA-4E15-98C1-899298CF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How did you respond when the answer was not obvious?</a:t>
            </a:r>
          </a:p>
        </p:txBody>
      </p:sp>
      <p:sp>
        <p:nvSpPr>
          <p:cNvPr id="310" name="Google Shape;310;p14">
            <a:extLst xmlns:a="http://schemas.openxmlformats.org/drawingml/2006/main">
              <a:ext uri="{FF2B5EF4-FFF2-40B4-BE49-F238E27FC236}">
                <a16:creationId xmlns:a16="http://schemas.microsoft.com/office/drawing/2014/main" id="{1F2D6415-E7AC-4222-BB48-ABE1F112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1" name="Google Shape;311;p14">
            <a:extLst xmlns:a="http://schemas.openxmlformats.org/drawingml/2006/main">
              <a:ext uri="{FF2B5EF4-FFF2-40B4-BE49-F238E27FC236}">
                <a16:creationId xmlns:a16="http://schemas.microsoft.com/office/drawing/2014/main" id="{0421D16E-AFB7-4E96-9707-C82F2D0C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2" name="Google Shape;312;p14">
            <a:extLst xmlns:a="http://schemas.openxmlformats.org/drawingml/2006/main">
              <a:ext uri="{FF2B5EF4-FFF2-40B4-BE49-F238E27FC236}">
                <a16:creationId xmlns:a16="http://schemas.microsoft.com/office/drawing/2014/main" id="{75944E9A-E5EA-43F1-ABFE-9429F290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313" name="Google Shape;313;p14">
            <a:extLst xmlns:a="http://schemas.openxmlformats.org/drawingml/2006/main">
              <a:ext uri="{FF2B5EF4-FFF2-40B4-BE49-F238E27FC236}">
                <a16:creationId xmlns:a16="http://schemas.microsoft.com/office/drawing/2014/main" id="{EBF48129-3533-4671-98AE-1FB9AFE3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How did your data change what you thought?</a:t>
            </a:r>
          </a:p>
        </p:txBody>
      </p:sp>
      <p:sp>
        <p:nvSpPr>
          <p:cNvPr id="314" name="Google Shape;314;p14">
            <a:extLst xmlns:a="http://schemas.openxmlformats.org/drawingml/2006/main">
              <a:ext uri="{FF2B5EF4-FFF2-40B4-BE49-F238E27FC236}">
                <a16:creationId xmlns:a16="http://schemas.microsoft.com/office/drawing/2014/main" id="{DAFB884A-20FA-4E57-BA04-D6C5A460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5" name="Google Shape;315;p14">
            <a:extLst xmlns:a="http://schemas.openxmlformats.org/drawingml/2006/main">
              <a:ext uri="{FF2B5EF4-FFF2-40B4-BE49-F238E27FC236}">
                <a16:creationId xmlns:a16="http://schemas.microsoft.com/office/drawing/2014/main" id="{931AEA69-C0EE-4AF8-871D-ED266AFC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6" name="Google Shape;316;p14">
            <a:extLst xmlns:a="http://schemas.openxmlformats.org/drawingml/2006/main">
              <a:ext uri="{FF2B5EF4-FFF2-40B4-BE49-F238E27FC236}">
                <a16:creationId xmlns:a16="http://schemas.microsoft.com/office/drawing/2014/main" id="{8A649534-D847-41BD-96E9-58248E2A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REVISION</a:t>
            </a:r>
          </a:p>
        </p:txBody>
      </p:sp>
      <p:sp>
        <p:nvSpPr>
          <p:cNvPr id="317" name="Google Shape;317;p14">
            <a:extLst xmlns:a="http://schemas.openxmlformats.org/drawingml/2006/main">
              <a:ext uri="{FF2B5EF4-FFF2-40B4-BE49-F238E27FC236}">
                <a16:creationId xmlns:a16="http://schemas.microsoft.com/office/drawing/2014/main" id="{72AFC6AE-AC4C-46E0-95B5-F4C00D28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What did feedback, failure, or pilot testing force you to improve?</a:t>
            </a:r>
          </a:p>
        </p:txBody>
      </p:sp>
      <p:sp>
        <p:nvSpPr>
          <p:cNvPr id="318" name="Google Shape;318;p14">
            <a:extLst xmlns:a="http://schemas.openxmlformats.org/drawingml/2006/main">
              <a:ext uri="{FF2B5EF4-FFF2-40B4-BE49-F238E27FC236}">
                <a16:creationId xmlns:a16="http://schemas.microsoft.com/office/drawing/2014/main" id="{F00C057E-DD94-437B-BAB6-D1B0520F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9" name="Google Shape;319;p14">
            <a:extLst xmlns:a="http://schemas.openxmlformats.org/drawingml/2006/main">
              <a:ext uri="{FF2B5EF4-FFF2-40B4-BE49-F238E27FC236}">
                <a16:creationId xmlns:a16="http://schemas.microsoft.com/office/drawing/2014/main" id="{1CACF1D0-48C9-463E-8910-4B7A522E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0" name="Google Shape;320;p14">
            <a:extLst xmlns:a="http://schemas.openxmlformats.org/drawingml/2006/main">
              <a:ext uri="{FF2B5EF4-FFF2-40B4-BE49-F238E27FC236}">
                <a16:creationId xmlns:a16="http://schemas.microsoft.com/office/drawing/2014/main" id="{34097298-B2E9-4659-AC9E-FC051C8C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COMMUNICATION</a:t>
            </a:r>
          </a:p>
        </p:txBody>
      </p:sp>
      <p:sp>
        <p:nvSpPr>
          <p:cNvPr id="321" name="Google Shape;321;p14">
            <a:extLst xmlns:a="http://schemas.openxmlformats.org/drawingml/2006/main">
              <a:ext uri="{FF2B5EF4-FFF2-40B4-BE49-F238E27FC236}">
                <a16:creationId xmlns:a16="http://schemas.microsoft.com/office/drawing/2014/main" id="{BF44DC3A-1B0B-478C-B468-D9256BA7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How did explaining the project change your understanding?</a:t>
            </a:r>
          </a:p>
        </p:txBody>
      </p:sp>
    </p:spTree>
    <p:extLst>
      <p:ext uri="{BB962C8B-B14F-4D97-AF65-F5344CB8AC3E}">
        <p14:creationId xmlns:p14="http://schemas.microsoft.com/office/powerpoint/2010/main" val="17339690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7" name="Google Shape;327;p15">
            <a:extLst xmlns:a="http://schemas.openxmlformats.org/drawingml/2006/main">
              <a:ext uri="{FF2B5EF4-FFF2-40B4-BE49-F238E27FC236}">
                <a16:creationId xmlns:a16="http://schemas.microsoft.com/office/drawing/2014/main" id="{7900C69B-4EA6-4304-A697-9B455991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8" name="Google Shape;328;p15">
            <a:extLst xmlns:a="http://schemas.openxmlformats.org/drawingml/2006/main">
              <a:ext uri="{FF2B5EF4-FFF2-40B4-BE49-F238E27FC236}">
                <a16:creationId xmlns:a16="http://schemas.microsoft.com/office/drawing/2014/main" id="{7EBFCE43-F04A-4B0D-AE7D-B04FF289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9" name="Google Shape;329;p15">
            <a:extLst xmlns:a="http://schemas.openxmlformats.org/drawingml/2006/main">
              <a:ext uri="{FF2B5EF4-FFF2-40B4-BE49-F238E27FC236}">
                <a16:creationId xmlns:a16="http://schemas.microsoft.com/office/drawing/2014/main" id="{E29CB94B-0775-455F-A897-BEDA6629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0" name="Google Shape;330;p15">
            <a:extLst xmlns:a="http://schemas.openxmlformats.org/drawingml/2006/main">
              <a:ext uri="{FF2B5EF4-FFF2-40B4-BE49-F238E27FC236}">
                <a16:creationId xmlns:a16="http://schemas.microsoft.com/office/drawing/2014/main" id="{EDD4CBDC-6FE0-4118-B0B0-F4977112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331" name="Google Shape;331;p15">
            <a:extLst xmlns:a="http://schemas.openxmlformats.org/drawingml/2006/main">
              <a:ext uri="{FF2B5EF4-FFF2-40B4-BE49-F238E27FC236}">
                <a16:creationId xmlns:a16="http://schemas.microsoft.com/office/drawing/2014/main" id="{D144AD2A-F4C2-40BC-AA21-2A01CB23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19</a:t>
            </a:r>
          </a:p>
        </p:txBody>
      </p:sp>
      <p:sp>
        <p:nvSpPr>
          <p:cNvPr id="332" name="Google Shape;332;p15">
            <a:extLst xmlns:a="http://schemas.openxmlformats.org/drawingml/2006/main">
              <a:ext uri="{FF2B5EF4-FFF2-40B4-BE49-F238E27FC236}">
                <a16:creationId xmlns:a16="http://schemas.microsoft.com/office/drawing/2014/main" id="{4271312D-7496-4587-9015-289AB80A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Activity: Growth Claim + Evidence</a:t>
            </a:r>
          </a:p>
        </p:txBody>
      </p:sp>
      <p:sp>
        <p:nvSpPr>
          <p:cNvPr id="333" name="Google Shape;333;p15">
            <a:extLst xmlns:a="http://schemas.openxmlformats.org/drawingml/2006/main">
              <a:ext uri="{FF2B5EF4-FFF2-40B4-BE49-F238E27FC236}">
                <a16:creationId xmlns:a16="http://schemas.microsoft.com/office/drawing/2014/main" id="{59780CE2-9C42-480E-BED3-BFCC8B19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61872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4" name="Google Shape;334;p15">
            <a:extLst xmlns:a="http://schemas.openxmlformats.org/drawingml/2006/main">
              <a:ext uri="{FF2B5EF4-FFF2-40B4-BE49-F238E27FC236}">
                <a16:creationId xmlns:a16="http://schemas.microsoft.com/office/drawing/2014/main" id="{94D529D2-F400-47C4-9414-E16FF22F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80160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Students make a claim about their own development.</a:t>
            </a:r>
          </a:p>
        </p:txBody>
      </p:sp>
      <p:sp>
        <p:nvSpPr>
          <p:cNvPr id="335" name="Google Shape;335;p15">
            <a:extLst xmlns:a="http://schemas.openxmlformats.org/drawingml/2006/main">
              <a:ext uri="{FF2B5EF4-FFF2-40B4-BE49-F238E27FC236}">
                <a16:creationId xmlns:a16="http://schemas.microsoft.com/office/drawing/2014/main" id="{87ABA9CF-5F74-4EC0-8C18-27CDB397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55648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200"/>
              <a:buFont typeface="Arial"/>
              <a:buNone/>
            </a:pPr>
            <a:r>
              <a:rPr sz="12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336" name="Google Shape;336;p15">
            <a:extLst xmlns:a="http://schemas.openxmlformats.org/drawingml/2006/main">
              <a:ext uri="{FF2B5EF4-FFF2-40B4-BE49-F238E27FC236}">
                <a16:creationId xmlns:a16="http://schemas.microsoft.com/office/drawing/2014/main" id="{BBF94FCC-FC34-484D-BBCF-A2726240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400"/>
            <a:ext cx="704088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600"/>
              <a:buFont typeface="Arial"/>
              <a:buNone/>
            </a:pPr>
            <a:r>
              <a:rPr sz="26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Prove Your Growth</a:t>
            </a:r>
          </a:p>
        </p:txBody>
      </p:sp>
      <p:sp>
        <p:nvSpPr>
          <p:cNvPr id="337" name="Google Shape;337;p15">
            <a:extLst xmlns:a="http://schemas.openxmlformats.org/drawingml/2006/main">
              <a:ext uri="{FF2B5EF4-FFF2-40B4-BE49-F238E27FC236}">
                <a16:creationId xmlns:a16="http://schemas.microsoft.com/office/drawing/2014/main" id="{C0881B09-ADF8-4FA8-BA89-06C85429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084832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10 MINUTES</a:t>
            </a:r>
          </a:p>
        </p:txBody>
      </p:sp>
      <p:cxnSp>
        <p:nvCxnSpPr>
          <p:cNvPr id="351" name="Google Shape;338;p15"/>
          <p:cNvCxnSpPr/>
          <p:nvPr/>
        </p:nvCxnSpPr>
        <p:spPr>
          <a:xfrm xmlns:a="http://schemas.openxmlformats.org/drawingml/2006/main">
            <a:off x="640080" y="2706624"/>
            <a:ext cx="1088136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9" name="Google Shape;339;p15">
            <a:extLst xmlns:a="http://schemas.openxmlformats.org/drawingml/2006/main">
              <a:ext uri="{FF2B5EF4-FFF2-40B4-BE49-F238E27FC236}">
                <a16:creationId xmlns:a16="http://schemas.microsoft.com/office/drawing/2014/main" id="{874CA3B7-733C-4A93-8C22-3C7DC4F1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90088"/>
            <a:ext cx="10515600" cy="256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Write one claim about how you changed as a researcher.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Then support it with evidence: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one artifact from your portfolio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one specific moment from the project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one skill or habit you improved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Example: “I became better at troubleshooting because...”</a:t>
            </a:r>
          </a:p>
        </p:txBody>
      </p:sp>
    </p:spTree>
    <p:extLst>
      <p:ext uri="{BB962C8B-B14F-4D97-AF65-F5344CB8AC3E}">
        <p14:creationId xmlns:p14="http://schemas.microsoft.com/office/powerpoint/2010/main" val="17780278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5" name="Google Shape;345;p16">
            <a:extLst xmlns:a="http://schemas.openxmlformats.org/drawingml/2006/main">
              <a:ext uri="{FF2B5EF4-FFF2-40B4-BE49-F238E27FC236}">
                <a16:creationId xmlns:a16="http://schemas.microsoft.com/office/drawing/2014/main" id="{2FFB0CB5-1C3A-432D-8079-CFC9FB60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6" name="Google Shape;346;p16">
            <a:extLst xmlns:a="http://schemas.openxmlformats.org/drawingml/2006/main">
              <a:ext uri="{FF2B5EF4-FFF2-40B4-BE49-F238E27FC236}">
                <a16:creationId xmlns:a16="http://schemas.microsoft.com/office/drawing/2014/main" id="{18905AD2-C2B7-4D5E-AE23-7CD5FAAD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7" name="Google Shape;347;p16">
            <a:extLst xmlns:a="http://schemas.openxmlformats.org/drawingml/2006/main">
              <a:ext uri="{FF2B5EF4-FFF2-40B4-BE49-F238E27FC236}">
                <a16:creationId xmlns:a16="http://schemas.microsoft.com/office/drawing/2014/main" id="{5266E872-08EA-4666-9EB6-7D4CFE54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8" name="Google Shape;348;p16">
            <a:extLst xmlns:a="http://schemas.openxmlformats.org/drawingml/2006/main">
              <a:ext uri="{FF2B5EF4-FFF2-40B4-BE49-F238E27FC236}">
                <a16:creationId xmlns:a16="http://schemas.microsoft.com/office/drawing/2014/main" id="{0841D582-9CC7-4586-BD81-F442F67B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349" name="Google Shape;349;p16">
            <a:extLst xmlns:a="http://schemas.openxmlformats.org/drawingml/2006/main">
              <a:ext uri="{FF2B5EF4-FFF2-40B4-BE49-F238E27FC236}">
                <a16:creationId xmlns:a16="http://schemas.microsoft.com/office/drawing/2014/main" id="{AEC0C9A5-ED22-4B55-84A8-6ADF2E6E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19</a:t>
            </a:r>
          </a:p>
        </p:txBody>
      </p:sp>
      <p:sp>
        <p:nvSpPr>
          <p:cNvPr id="350" name="Google Shape;350;p16">
            <a:extLst xmlns:a="http://schemas.openxmlformats.org/drawingml/2006/main">
              <a:ext uri="{FF2B5EF4-FFF2-40B4-BE49-F238E27FC236}">
                <a16:creationId xmlns:a16="http://schemas.microsoft.com/office/drawing/2014/main" id="{7A34D4CD-96DB-406C-9B8F-9C86604C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Does the Project Continue?</a:t>
            </a:r>
          </a:p>
        </p:txBody>
      </p:sp>
      <p:sp>
        <p:nvSpPr>
          <p:cNvPr id="351" name="Google Shape;351;p16">
            <a:extLst xmlns:a="http://schemas.openxmlformats.org/drawingml/2006/main">
              <a:ext uri="{FF2B5EF4-FFF2-40B4-BE49-F238E27FC236}">
                <a16:creationId xmlns:a16="http://schemas.microsoft.com/office/drawing/2014/main" id="{2A13E08E-E3EA-405E-8338-23D6EE4F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61872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2" name="Google Shape;352;p16">
            <a:extLst xmlns:a="http://schemas.openxmlformats.org/drawingml/2006/main">
              <a:ext uri="{FF2B5EF4-FFF2-40B4-BE49-F238E27FC236}">
                <a16:creationId xmlns:a16="http://schemas.microsoft.com/office/drawing/2014/main" id="{73DC3461-EDBB-44AF-BE44-FD95428A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80160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Some projects end here. Some become the first version of something larger.</a:t>
            </a:r>
          </a:p>
        </p:txBody>
      </p:sp>
      <p:sp>
        <p:nvSpPr>
          <p:cNvPr id="353" name="Google Shape;353;p16">
            <a:extLst xmlns:a="http://schemas.openxmlformats.org/drawingml/2006/main">
              <a:ext uri="{FF2B5EF4-FFF2-40B4-BE49-F238E27FC236}">
                <a16:creationId xmlns:a16="http://schemas.microsoft.com/office/drawing/2014/main" id="{39D0955B-C620-4734-9BCC-F40AC04B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4" name="Google Shape;354;p16">
            <a:extLst xmlns:a="http://schemas.openxmlformats.org/drawingml/2006/main">
              <a:ext uri="{FF2B5EF4-FFF2-40B4-BE49-F238E27FC236}">
                <a16:creationId xmlns:a16="http://schemas.microsoft.com/office/drawing/2014/main" id="{09889395-90F5-4B20-88D8-24AD47C1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5" name="Google Shape;355;p16">
            <a:extLst xmlns:a="http://schemas.openxmlformats.org/drawingml/2006/main">
              <a:ext uri="{FF2B5EF4-FFF2-40B4-BE49-F238E27FC236}">
                <a16:creationId xmlns:a16="http://schemas.microsoft.com/office/drawing/2014/main" id="{E54E9779-AD89-4523-8274-0844F02D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END WELL</a:t>
            </a:r>
          </a:p>
        </p:txBody>
      </p:sp>
      <p:sp>
        <p:nvSpPr>
          <p:cNvPr id="356" name="Google Shape;356;p16">
            <a:extLst xmlns:a="http://schemas.openxmlformats.org/drawingml/2006/main">
              <a:ext uri="{FF2B5EF4-FFF2-40B4-BE49-F238E27FC236}">
                <a16:creationId xmlns:a16="http://schemas.microsoft.com/office/drawing/2014/main" id="{2C64ADC6-ACA4-4982-B903-3B839796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Archive the portfolio, reflect honestly, and identify what was learned.</a:t>
            </a:r>
          </a:p>
        </p:txBody>
      </p:sp>
      <p:sp>
        <p:nvSpPr>
          <p:cNvPr id="357" name="Google Shape;357;p16">
            <a:extLst xmlns:a="http://schemas.openxmlformats.org/drawingml/2006/main">
              <a:ext uri="{FF2B5EF4-FFF2-40B4-BE49-F238E27FC236}">
                <a16:creationId xmlns:a16="http://schemas.microsoft.com/office/drawing/2014/main" id="{831B3DAD-DE4F-40F1-9E43-45F6A9F0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8" name="Google Shape;358;p16">
            <a:extLst xmlns:a="http://schemas.openxmlformats.org/drawingml/2006/main">
              <a:ext uri="{FF2B5EF4-FFF2-40B4-BE49-F238E27FC236}">
                <a16:creationId xmlns:a16="http://schemas.microsoft.com/office/drawing/2014/main" id="{809113AF-4220-411F-8115-23520701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5740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9" name="Google Shape;359;p16">
            <a:extLst xmlns:a="http://schemas.openxmlformats.org/drawingml/2006/main">
              <a:ext uri="{FF2B5EF4-FFF2-40B4-BE49-F238E27FC236}">
                <a16:creationId xmlns:a16="http://schemas.microsoft.com/office/drawing/2014/main" id="{04BB1191-4D91-4097-B595-1BAB5D13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19456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CONTINUE RESEARCH</a:t>
            </a:r>
          </a:p>
        </p:txBody>
      </p:sp>
      <p:sp>
        <p:nvSpPr>
          <p:cNvPr id="360" name="Google Shape;360;p16">
            <a:extLst xmlns:a="http://schemas.openxmlformats.org/drawingml/2006/main">
              <a:ext uri="{FF2B5EF4-FFF2-40B4-BE49-F238E27FC236}">
                <a16:creationId xmlns:a16="http://schemas.microsoft.com/office/drawing/2014/main" id="{8E3E5244-B448-408F-8DE5-C8E597CE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251460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Collect more data, improve methods, redesign a prototype, or work with a mentor.</a:t>
            </a:r>
          </a:p>
        </p:txBody>
      </p:sp>
      <p:sp>
        <p:nvSpPr>
          <p:cNvPr id="361" name="Google Shape;361;p16">
            <a:extLst xmlns:a="http://schemas.openxmlformats.org/drawingml/2006/main">
              <a:ext uri="{FF2B5EF4-FFF2-40B4-BE49-F238E27FC236}">
                <a16:creationId xmlns:a16="http://schemas.microsoft.com/office/drawing/2014/main" id="{A1999C3A-F8BB-460B-866A-D9CE7FD6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2" name="Google Shape;362;p16">
            <a:extLst xmlns:a="http://schemas.openxmlformats.org/drawingml/2006/main">
              <a:ext uri="{FF2B5EF4-FFF2-40B4-BE49-F238E27FC236}">
                <a16:creationId xmlns:a16="http://schemas.microsoft.com/office/drawing/2014/main" id="{693AAA33-B748-4A4D-AE4A-5B10AE1F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3" name="Google Shape;363;p16">
            <a:extLst xmlns:a="http://schemas.openxmlformats.org/drawingml/2006/main">
              <a:ext uri="{FF2B5EF4-FFF2-40B4-BE49-F238E27FC236}">
                <a16:creationId xmlns:a16="http://schemas.microsoft.com/office/drawing/2014/main" id="{25FE00BE-CBEF-4569-A404-5657D4ED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SHARE WIDER</a:t>
            </a:r>
          </a:p>
        </p:txBody>
      </p:sp>
      <p:sp>
        <p:nvSpPr>
          <p:cNvPr id="364" name="Google Shape;364;p16">
            <a:extLst xmlns:a="http://schemas.openxmlformats.org/drawingml/2006/main">
              <a:ext uri="{FF2B5EF4-FFF2-40B4-BE49-F238E27FC236}">
                <a16:creationId xmlns:a16="http://schemas.microsoft.com/office/drawing/2014/main" id="{4ED64E06-C4B7-4A5F-A04A-A5DE8424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Present to a board, community group, mentor panel, or younger students.</a:t>
            </a:r>
          </a:p>
        </p:txBody>
      </p:sp>
      <p:sp>
        <p:nvSpPr>
          <p:cNvPr id="365" name="Google Shape;365;p16">
            <a:extLst xmlns:a="http://schemas.openxmlformats.org/drawingml/2006/main">
              <a:ext uri="{FF2B5EF4-FFF2-40B4-BE49-F238E27FC236}">
                <a16:creationId xmlns:a16="http://schemas.microsoft.com/office/drawing/2014/main" id="{93DAA713-D1CB-4CA5-ACBB-1E94ECB0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512064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6" name="Google Shape;366;p16">
            <a:extLst xmlns:a="http://schemas.openxmlformats.org/drawingml/2006/main">
              <a:ext uri="{FF2B5EF4-FFF2-40B4-BE49-F238E27FC236}">
                <a16:creationId xmlns:a16="http://schemas.microsoft.com/office/drawing/2014/main" id="{CDB81E21-A4B5-4C94-B35C-8735C27D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977640"/>
            <a:ext cx="64008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7" name="Google Shape;367;p16">
            <a:extLst xmlns:a="http://schemas.openxmlformats.org/drawingml/2006/main">
              <a:ext uri="{FF2B5EF4-FFF2-40B4-BE49-F238E27FC236}">
                <a16:creationId xmlns:a16="http://schemas.microsoft.com/office/drawing/2014/main" id="{FF566E3D-69D0-4662-B1D9-5B0BBA60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114800"/>
            <a:ext cx="480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SUBMIT</a:t>
            </a:r>
          </a:p>
        </p:txBody>
      </p:sp>
      <p:sp>
        <p:nvSpPr>
          <p:cNvPr id="368" name="Google Shape;368;p16">
            <a:extLst xmlns:a="http://schemas.openxmlformats.org/drawingml/2006/main">
              <a:ext uri="{FF2B5EF4-FFF2-40B4-BE49-F238E27FC236}">
                <a16:creationId xmlns:a16="http://schemas.microsoft.com/office/drawing/2014/main" id="{2423A97F-E784-47A2-B4BE-AA3458E4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434840"/>
            <a:ext cx="4800600" cy="850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Consider science fairs, research showcases, student journals, or summer programs.</a:t>
            </a:r>
          </a:p>
        </p:txBody>
      </p:sp>
    </p:spTree>
    <p:extLst>
      <p:ext uri="{BB962C8B-B14F-4D97-AF65-F5344CB8AC3E}">
        <p14:creationId xmlns:p14="http://schemas.microsoft.com/office/powerpoint/2010/main" val="18630826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4" name="Google Shape;374;p17">
            <a:extLst xmlns:a="http://schemas.openxmlformats.org/drawingml/2006/main">
              <a:ext uri="{FF2B5EF4-FFF2-40B4-BE49-F238E27FC236}">
                <a16:creationId xmlns:a16="http://schemas.microsoft.com/office/drawing/2014/main" id="{1B061CD2-2127-4711-8C1B-C63C4830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5" name="Google Shape;375;p17">
            <a:extLst xmlns:a="http://schemas.openxmlformats.org/drawingml/2006/main">
              <a:ext uri="{FF2B5EF4-FFF2-40B4-BE49-F238E27FC236}">
                <a16:creationId xmlns:a16="http://schemas.microsoft.com/office/drawing/2014/main" id="{5E2AE35A-3B83-47C7-B632-7306C218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6" name="Google Shape;376;p17">
            <a:extLst xmlns:a="http://schemas.openxmlformats.org/drawingml/2006/main">
              <a:ext uri="{FF2B5EF4-FFF2-40B4-BE49-F238E27FC236}">
                <a16:creationId xmlns:a16="http://schemas.microsoft.com/office/drawing/2014/main" id="{0BEC74A5-A017-4A70-9BFC-5C18853F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7" name="Google Shape;377;p17">
            <a:extLst xmlns:a="http://schemas.openxmlformats.org/drawingml/2006/main">
              <a:ext uri="{FF2B5EF4-FFF2-40B4-BE49-F238E27FC236}">
                <a16:creationId xmlns:a16="http://schemas.microsoft.com/office/drawing/2014/main" id="{A8FC1900-2BA3-4344-AEDC-BA9B39FE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NEXT STEPS</a:t>
            </a:r>
          </a:p>
        </p:txBody>
      </p:sp>
      <p:sp>
        <p:nvSpPr>
          <p:cNvPr id="378" name="Google Shape;378;p17">
            <a:extLst xmlns:a="http://schemas.openxmlformats.org/drawingml/2006/main">
              <a:ext uri="{FF2B5EF4-FFF2-40B4-BE49-F238E27FC236}">
                <a16:creationId xmlns:a16="http://schemas.microsoft.com/office/drawing/2014/main" id="{492F9B45-C867-4E54-8DF6-CFDE5E40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19</a:t>
            </a:r>
          </a:p>
        </p:txBody>
      </p:sp>
      <p:sp>
        <p:nvSpPr>
          <p:cNvPr id="379" name="Google Shape;379;p17">
            <a:extLst xmlns:a="http://schemas.openxmlformats.org/drawingml/2006/main">
              <a:ext uri="{FF2B5EF4-FFF2-40B4-BE49-F238E27FC236}">
                <a16:creationId xmlns:a16="http://schemas.microsoft.com/office/drawing/2014/main" id="{0BFD6CBE-D13B-4713-851A-954D3BA6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Before Sharing More Widely</a:t>
            </a:r>
          </a:p>
        </p:txBody>
      </p:sp>
      <p:sp>
        <p:nvSpPr>
          <p:cNvPr id="380" name="Google Shape;380;p17">
            <a:extLst xmlns:a="http://schemas.openxmlformats.org/drawingml/2006/main">
              <a:ext uri="{FF2B5EF4-FFF2-40B4-BE49-F238E27FC236}">
                <a16:creationId xmlns:a16="http://schemas.microsoft.com/office/drawing/2014/main" id="{3E113723-68AB-4795-BFC4-16AA4EC9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61872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1" name="Google Shape;381;p17">
            <a:extLst xmlns:a="http://schemas.openxmlformats.org/drawingml/2006/main">
              <a:ext uri="{FF2B5EF4-FFF2-40B4-BE49-F238E27FC236}">
                <a16:creationId xmlns:a16="http://schemas.microsoft.com/office/drawing/2014/main" id="{119552E7-3786-4FCA-9423-A773A40D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80160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A continuation plan should be realistic and honest.</a:t>
            </a:r>
          </a:p>
        </p:txBody>
      </p:sp>
      <p:sp>
        <p:nvSpPr>
          <p:cNvPr id="382" name="Google Shape;382;p17">
            <a:extLst xmlns:a="http://schemas.openxmlformats.org/drawingml/2006/main">
              <a:ext uri="{FF2B5EF4-FFF2-40B4-BE49-F238E27FC236}">
                <a16:creationId xmlns:a16="http://schemas.microsoft.com/office/drawing/2014/main" id="{BEF22906-86A8-49EB-96B2-9BA41DC9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600200"/>
            <a:ext cx="10058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2000"/>
              <a:buFont typeface="Arial"/>
              <a:buNone/>
            </a:pPr>
            <a:r>
              <a:rPr sz="200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Students should ask:</a:t>
            </a:r>
          </a:p>
        </p:txBody>
      </p:sp>
      <p:sp>
        <p:nvSpPr>
          <p:cNvPr id="383" name="Google Shape;383;p17">
            <a:extLst xmlns:a="http://schemas.openxmlformats.org/drawingml/2006/main">
              <a:ext uri="{FF2B5EF4-FFF2-40B4-BE49-F238E27FC236}">
                <a16:creationId xmlns:a16="http://schemas.microsoft.com/office/drawing/2014/main" id="{30A8CC65-5D82-452E-9090-EE25CA59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57400"/>
            <a:ext cx="10607040" cy="2834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300"/>
              <a:buFont typeface="Arial"/>
              <a:buNone/>
            </a:pPr>
            <a:r>
              <a:rPr sz="23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1. What part of the project is strongest right now?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300"/>
              <a:buFont typeface="Arial"/>
              <a:buNone/>
            </a:pPr>
            <a:r>
              <a:rPr sz="23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2. What must be improved before competition, publication, or public sharing?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300"/>
              <a:buFont typeface="Arial"/>
              <a:buNone/>
            </a:pPr>
            <a:r>
              <a:rPr sz="23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3. What approval, mentor support, or additional data would be required?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300"/>
              <a:buFont typeface="Arial"/>
              <a:buNone/>
            </a:pPr>
            <a:r>
              <a:rPr sz="23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4. What is the next action that can realistically happen within two weeks?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300"/>
              <a:buFont typeface="Arial"/>
              <a:buNone/>
            </a:pPr>
            <a:r>
              <a:rPr sz="23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5. What should be preserved so the project can be restarted later?</a:t>
            </a:r>
          </a:p>
        </p:txBody>
      </p:sp>
      <p:sp>
        <p:nvSpPr>
          <p:cNvPr id="384" name="Google Shape;384;p17">
            <a:extLst xmlns:a="http://schemas.openxmlformats.org/drawingml/2006/main">
              <a:ext uri="{FF2B5EF4-FFF2-40B4-BE49-F238E27FC236}">
                <a16:creationId xmlns:a16="http://schemas.microsoft.com/office/drawing/2014/main" id="{1DAA2F16-F1E0-4B3D-BC0D-47E7B94E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349240"/>
            <a:ext cx="10515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A next step is only useful if it is specific enough to begin.</a:t>
            </a:r>
          </a:p>
        </p:txBody>
      </p:sp>
    </p:spTree>
    <p:extLst>
      <p:ext uri="{BB962C8B-B14F-4D97-AF65-F5344CB8AC3E}">
        <p14:creationId xmlns:p14="http://schemas.microsoft.com/office/powerpoint/2010/main" val="12631768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0" name="Google Shape;390;p18">
            <a:extLst xmlns:a="http://schemas.openxmlformats.org/drawingml/2006/main">
              <a:ext uri="{FF2B5EF4-FFF2-40B4-BE49-F238E27FC236}">
                <a16:creationId xmlns:a16="http://schemas.microsoft.com/office/drawing/2014/main" id="{C6E9190F-E492-40EC-85DF-0195AB56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876"/>
            <a:ext cx="12191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1" name="Google Shape;391;p18">
            <a:extLst xmlns:a="http://schemas.openxmlformats.org/drawingml/2006/main">
              <a:ext uri="{FF2B5EF4-FFF2-40B4-BE49-F238E27FC236}">
                <a16:creationId xmlns:a16="http://schemas.microsoft.com/office/drawing/2014/main" id="{E1185CA6-B760-4FC2-A195-83F8FC22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2" name="Google Shape;392;p18">
            <a:extLst xmlns:a="http://schemas.openxmlformats.org/drawingml/2006/main">
              <a:ext uri="{FF2B5EF4-FFF2-40B4-BE49-F238E27FC236}">
                <a16:creationId xmlns:a16="http://schemas.microsoft.com/office/drawing/2014/main" id="{0721DCE7-C34F-47CF-9AF5-639F074C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3" name="Google Shape;393;p18">
            <a:extLst xmlns:a="http://schemas.openxmlformats.org/drawingml/2006/main">
              <a:ext uri="{FF2B5EF4-FFF2-40B4-BE49-F238E27FC236}">
                <a16:creationId xmlns:a16="http://schemas.microsoft.com/office/drawing/2014/main" id="{E9DBD4A8-BF59-48B4-9FCA-700C1136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394" name="Google Shape;394;p18">
            <a:extLst xmlns:a="http://schemas.openxmlformats.org/drawingml/2006/main">
              <a:ext uri="{FF2B5EF4-FFF2-40B4-BE49-F238E27FC236}">
                <a16:creationId xmlns:a16="http://schemas.microsoft.com/office/drawing/2014/main" id="{7029FE20-F374-44CA-8FD8-666DE328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19</a:t>
            </a:r>
          </a:p>
        </p:txBody>
      </p:sp>
      <p:sp>
        <p:nvSpPr>
          <p:cNvPr id="395" name="Google Shape;395;p18">
            <a:extLst xmlns:a="http://schemas.openxmlformats.org/drawingml/2006/main">
              <a:ext uri="{FF2B5EF4-FFF2-40B4-BE49-F238E27FC236}">
                <a16:creationId xmlns:a16="http://schemas.microsoft.com/office/drawing/2014/main" id="{57EA77F1-E276-4375-82D8-97B08ED2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Activity: Course Feedback and Legacy</a:t>
            </a:r>
          </a:p>
        </p:txBody>
      </p:sp>
      <p:sp>
        <p:nvSpPr>
          <p:cNvPr id="396" name="Google Shape;396;p18">
            <a:extLst xmlns:a="http://schemas.openxmlformats.org/drawingml/2006/main">
              <a:ext uri="{FF2B5EF4-FFF2-40B4-BE49-F238E27FC236}">
                <a16:creationId xmlns:a16="http://schemas.microsoft.com/office/drawing/2014/main" id="{0C85B20B-5067-4EC1-9E96-4C17FDB6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61872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97" name="Google Shape;397;p18">
            <a:extLst xmlns:a="http://schemas.openxmlformats.org/drawingml/2006/main">
              <a:ext uri="{FF2B5EF4-FFF2-40B4-BE49-F238E27FC236}">
                <a16:creationId xmlns:a16="http://schemas.microsoft.com/office/drawing/2014/main" id="{CE9BF32B-FD37-4B6F-9083-C68BCD33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80160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Students help improve STARLAB for the next chapter.</a:t>
            </a:r>
          </a:p>
        </p:txBody>
      </p:sp>
      <p:sp>
        <p:nvSpPr>
          <p:cNvPr id="398" name="Google Shape;398;p18">
            <a:extLst xmlns:a="http://schemas.openxmlformats.org/drawingml/2006/main">
              <a:ext uri="{FF2B5EF4-FFF2-40B4-BE49-F238E27FC236}">
                <a16:creationId xmlns:a16="http://schemas.microsoft.com/office/drawing/2014/main" id="{2C5B54CA-3C7B-4578-BF74-6F962254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55648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200"/>
              <a:buFont typeface="Arial"/>
              <a:buNone/>
            </a:pPr>
            <a:r>
              <a:rPr sz="12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399" name="Google Shape;399;p18">
            <a:extLst xmlns:a="http://schemas.openxmlformats.org/drawingml/2006/main">
              <a:ext uri="{FF2B5EF4-FFF2-40B4-BE49-F238E27FC236}">
                <a16:creationId xmlns:a16="http://schemas.microsoft.com/office/drawing/2014/main" id="{A08A62A9-C1D7-4578-9308-45179764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400"/>
            <a:ext cx="704088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600"/>
              <a:buFont typeface="Arial"/>
              <a:buNone/>
            </a:pPr>
            <a:r>
              <a:rPr sz="26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Leave Something Useful</a:t>
            </a:r>
          </a:p>
        </p:txBody>
      </p:sp>
      <p:sp>
        <p:nvSpPr>
          <p:cNvPr id="400" name="Google Shape;400;p18">
            <a:extLst xmlns:a="http://schemas.openxmlformats.org/drawingml/2006/main">
              <a:ext uri="{FF2B5EF4-FFF2-40B4-BE49-F238E27FC236}">
                <a16:creationId xmlns:a16="http://schemas.microsoft.com/office/drawing/2014/main" id="{B7064834-CAC0-4BCD-9A66-2F1FB621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084832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12–15 MINUTES</a:t>
            </a:r>
          </a:p>
        </p:txBody>
      </p:sp>
      <p:cxnSp>
        <p:nvCxnSpPr>
          <p:cNvPr id="414" name="Google Shape;401;p18"/>
          <p:cNvCxnSpPr/>
          <p:nvPr/>
        </p:nvCxnSpPr>
        <p:spPr>
          <a:xfrm xmlns:a="http://schemas.openxmlformats.org/drawingml/2006/main">
            <a:off x="640068" y="2602474"/>
            <a:ext cx="1088130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2" name="Google Shape;402;p18">
            <a:extLst xmlns:a="http://schemas.openxmlformats.org/drawingml/2006/main">
              <a:ext uri="{FF2B5EF4-FFF2-40B4-BE49-F238E27FC236}">
                <a16:creationId xmlns:a16="http://schemas.microsoft.com/office/drawing/2014/main" id="{5A51D3DA-DEB9-47F4-B7A2-2FD299E6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90088"/>
            <a:ext cx="10515600" cy="256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Complete the Course Feedback and Legacy Reflection.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Choose one legacy option: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advice letter to future students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equipment or technique tip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troubleshooting guide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project example summary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• “what I wish I knew” reflection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Make it honest, specific, and useful.</a:t>
            </a:r>
          </a:p>
        </p:txBody>
      </p:sp>
    </p:spTree>
    <p:extLst>
      <p:ext uri="{BB962C8B-B14F-4D97-AF65-F5344CB8AC3E}">
        <p14:creationId xmlns:p14="http://schemas.microsoft.com/office/powerpoint/2010/main" val="16786215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8" name="Google Shape;408;p19">
            <a:extLst xmlns:a="http://schemas.openxmlformats.org/drawingml/2006/main">
              <a:ext uri="{FF2B5EF4-FFF2-40B4-BE49-F238E27FC236}">
                <a16:creationId xmlns:a16="http://schemas.microsoft.com/office/drawing/2014/main" id="{1F672A7B-1F04-4247-BE48-9385A39C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09" name="Google Shape;409;p19">
            <a:extLst xmlns:a="http://schemas.openxmlformats.org/drawingml/2006/main">
              <a:ext uri="{FF2B5EF4-FFF2-40B4-BE49-F238E27FC236}">
                <a16:creationId xmlns:a16="http://schemas.microsoft.com/office/drawing/2014/main" id="{303A6BA1-1E80-4C87-B2AE-90DEEE9A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0" name="Google Shape;410;p19">
            <a:extLst xmlns:a="http://schemas.openxmlformats.org/drawingml/2006/main">
              <a:ext uri="{FF2B5EF4-FFF2-40B4-BE49-F238E27FC236}">
                <a16:creationId xmlns:a16="http://schemas.microsoft.com/office/drawing/2014/main" id="{BAF3577F-0BF3-4345-9E93-DEA1530E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1" name="Google Shape;411;p19">
            <a:extLst xmlns:a="http://schemas.openxmlformats.org/drawingml/2006/main">
              <a:ext uri="{FF2B5EF4-FFF2-40B4-BE49-F238E27FC236}">
                <a16:creationId xmlns:a16="http://schemas.microsoft.com/office/drawing/2014/main" id="{9F9A8491-3DC5-4D3A-80B4-5381EE62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TEACHER CHECKPOINT</a:t>
            </a:r>
          </a:p>
        </p:txBody>
      </p:sp>
      <p:sp>
        <p:nvSpPr>
          <p:cNvPr id="412" name="Google Shape;412;p19">
            <a:extLst xmlns:a="http://schemas.openxmlformats.org/drawingml/2006/main">
              <a:ext uri="{FF2B5EF4-FFF2-40B4-BE49-F238E27FC236}">
                <a16:creationId xmlns:a16="http://schemas.microsoft.com/office/drawing/2014/main" id="{FA7E75A7-155E-4D37-94D1-225C435D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19</a:t>
            </a:r>
          </a:p>
        </p:txBody>
      </p:sp>
      <p:sp>
        <p:nvSpPr>
          <p:cNvPr id="413" name="Google Shape;413;p19">
            <a:extLst xmlns:a="http://schemas.openxmlformats.org/drawingml/2006/main">
              <a:ext uri="{FF2B5EF4-FFF2-40B4-BE49-F238E27FC236}">
                <a16:creationId xmlns:a16="http://schemas.microsoft.com/office/drawing/2014/main" id="{ED29EDB1-78DB-4D87-B615-E38E7D75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Final STARLAB Completion Check</a:t>
            </a:r>
          </a:p>
        </p:txBody>
      </p:sp>
      <p:sp>
        <p:nvSpPr>
          <p:cNvPr id="414" name="Google Shape;414;p19">
            <a:extLst xmlns:a="http://schemas.openxmlformats.org/drawingml/2006/main">
              <a:ext uri="{FF2B5EF4-FFF2-40B4-BE49-F238E27FC236}">
                <a16:creationId xmlns:a16="http://schemas.microsoft.com/office/drawing/2014/main" id="{82D71D48-1D2D-4641-8C9F-25543581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61872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5" name="Google Shape;415;p19">
            <a:extLst xmlns:a="http://schemas.openxmlformats.org/drawingml/2006/main">
              <a:ext uri="{FF2B5EF4-FFF2-40B4-BE49-F238E27FC236}">
                <a16:creationId xmlns:a16="http://schemas.microsoft.com/office/drawing/2014/main" id="{E1403881-BE30-4132-BA75-FF6C9FBE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80160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Closure is complete when product, process, and reflection are documented.</a:t>
            </a:r>
          </a:p>
        </p:txBody>
      </p:sp>
      <p:sp>
        <p:nvSpPr>
          <p:cNvPr id="416" name="Google Shape;416;p19">
            <a:extLst xmlns:a="http://schemas.openxmlformats.org/drawingml/2006/main">
              <a:ext uri="{FF2B5EF4-FFF2-40B4-BE49-F238E27FC236}">
                <a16:creationId xmlns:a16="http://schemas.microsoft.com/office/drawing/2014/main" id="{74196199-A390-4E17-AEEA-AE6F606B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6636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7" name="Google Shape;417;p19">
            <a:extLst xmlns:a="http://schemas.openxmlformats.org/drawingml/2006/main">
              <a:ext uri="{FF2B5EF4-FFF2-40B4-BE49-F238E27FC236}">
                <a16:creationId xmlns:a16="http://schemas.microsoft.com/office/drawing/2014/main" id="{2744F9A0-B4EC-408F-9E09-7B05A159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4008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18" name="Google Shape;418;p19">
            <a:extLst xmlns:a="http://schemas.openxmlformats.org/drawingml/2006/main">
              <a:ext uri="{FF2B5EF4-FFF2-40B4-BE49-F238E27FC236}">
                <a16:creationId xmlns:a16="http://schemas.microsoft.com/office/drawing/2014/main" id="{16608027-71FF-48E0-8EC0-D23A94C0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173736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PRESENTATION COMPLETE</a:t>
            </a:r>
          </a:p>
        </p:txBody>
      </p:sp>
      <p:sp>
        <p:nvSpPr>
          <p:cNvPr id="419" name="Google Shape;419;p19">
            <a:extLst xmlns:a="http://schemas.openxmlformats.org/drawingml/2006/main">
              <a:ext uri="{FF2B5EF4-FFF2-40B4-BE49-F238E27FC236}">
                <a16:creationId xmlns:a16="http://schemas.microsoft.com/office/drawing/2014/main" id="{4857084A-6195-46F7-981E-00878AF7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057400"/>
            <a:ext cx="484632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Student completed final presentation, showcase, defense, or approved alternative.</a:t>
            </a:r>
          </a:p>
        </p:txBody>
      </p:sp>
      <p:sp>
        <p:nvSpPr>
          <p:cNvPr id="420" name="Google Shape;420;p19">
            <a:extLst xmlns:a="http://schemas.openxmlformats.org/drawingml/2006/main">
              <a:ext uri="{FF2B5EF4-FFF2-40B4-BE49-F238E27FC236}">
                <a16:creationId xmlns:a16="http://schemas.microsoft.com/office/drawing/2014/main" id="{781188E1-A702-4399-8F55-FC21FC1D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00200"/>
            <a:ext cx="516636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1" name="Google Shape;421;p19">
            <a:extLst xmlns:a="http://schemas.openxmlformats.org/drawingml/2006/main">
              <a:ext uri="{FF2B5EF4-FFF2-40B4-BE49-F238E27FC236}">
                <a16:creationId xmlns:a16="http://schemas.microsoft.com/office/drawing/2014/main" id="{B443D738-7701-478E-A877-CBAC54B3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600200"/>
            <a:ext cx="64008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2" name="Google Shape;422;p19">
            <a:extLst xmlns:a="http://schemas.openxmlformats.org/drawingml/2006/main">
              <a:ext uri="{FF2B5EF4-FFF2-40B4-BE49-F238E27FC236}">
                <a16:creationId xmlns:a16="http://schemas.microsoft.com/office/drawing/2014/main" id="{789A65A7-1085-4966-A1A3-FEA47942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73736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REFLECTION COMPLETE</a:t>
            </a:r>
          </a:p>
        </p:txBody>
      </p:sp>
      <p:sp>
        <p:nvSpPr>
          <p:cNvPr id="423" name="Google Shape;423;p19">
            <a:extLst xmlns:a="http://schemas.openxmlformats.org/drawingml/2006/main">
              <a:ext uri="{FF2B5EF4-FFF2-40B4-BE49-F238E27FC236}">
                <a16:creationId xmlns:a16="http://schemas.microsoft.com/office/drawing/2014/main" id="{6580EA82-7A1B-4312-BD9F-A7B8788E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2057400"/>
            <a:ext cx="484632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Student completed post-presentation and final research process reflection.</a:t>
            </a:r>
          </a:p>
        </p:txBody>
      </p:sp>
      <p:sp>
        <p:nvSpPr>
          <p:cNvPr id="424" name="Google Shape;424;p19">
            <a:extLst xmlns:a="http://schemas.openxmlformats.org/drawingml/2006/main">
              <a:ext uri="{FF2B5EF4-FFF2-40B4-BE49-F238E27FC236}">
                <a16:creationId xmlns:a16="http://schemas.microsoft.com/office/drawing/2014/main" id="{234297DE-CB12-4D17-A8E1-980B3A78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516636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5" name="Google Shape;425;p19">
            <a:extLst xmlns:a="http://schemas.openxmlformats.org/drawingml/2006/main">
              <a:ext uri="{FF2B5EF4-FFF2-40B4-BE49-F238E27FC236}">
                <a16:creationId xmlns:a16="http://schemas.microsoft.com/office/drawing/2014/main" id="{CA466CB3-CF83-4E82-9C8F-ABFB8DDD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3240"/>
            <a:ext cx="64008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6" name="Google Shape;426;p19">
            <a:extLst xmlns:a="http://schemas.openxmlformats.org/drawingml/2006/main">
              <a:ext uri="{FF2B5EF4-FFF2-40B4-BE49-F238E27FC236}">
                <a16:creationId xmlns:a16="http://schemas.microsoft.com/office/drawing/2014/main" id="{3E3515A1-CA1B-436D-87FE-83D48E35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20040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PORTFOLIO COMPLETE</a:t>
            </a:r>
          </a:p>
        </p:txBody>
      </p:sp>
      <p:sp>
        <p:nvSpPr>
          <p:cNvPr id="427" name="Google Shape;427;p19">
            <a:extLst xmlns:a="http://schemas.openxmlformats.org/drawingml/2006/main">
              <a:ext uri="{FF2B5EF4-FFF2-40B4-BE49-F238E27FC236}">
                <a16:creationId xmlns:a16="http://schemas.microsoft.com/office/drawing/2014/main" id="{8D747221-29A6-4C80-9F12-8F089112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520440"/>
            <a:ext cx="484632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Student assembled required artifacts showing process and product.</a:t>
            </a:r>
          </a:p>
        </p:txBody>
      </p:sp>
      <p:sp>
        <p:nvSpPr>
          <p:cNvPr id="428" name="Google Shape;428;p19">
            <a:extLst xmlns:a="http://schemas.openxmlformats.org/drawingml/2006/main">
              <a:ext uri="{FF2B5EF4-FFF2-40B4-BE49-F238E27FC236}">
                <a16:creationId xmlns:a16="http://schemas.microsoft.com/office/drawing/2014/main" id="{D9D52C90-A82F-4B83-A316-DA29079F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063240"/>
            <a:ext cx="516636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29" name="Google Shape;429;p19">
            <a:extLst xmlns:a="http://schemas.openxmlformats.org/drawingml/2006/main">
              <a:ext uri="{FF2B5EF4-FFF2-40B4-BE49-F238E27FC236}">
                <a16:creationId xmlns:a16="http://schemas.microsoft.com/office/drawing/2014/main" id="{EF8F400F-04C3-402E-8758-AA22D305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063240"/>
            <a:ext cx="64008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0" name="Google Shape;430;p19">
            <a:extLst xmlns:a="http://schemas.openxmlformats.org/drawingml/2006/main">
              <a:ext uri="{FF2B5EF4-FFF2-40B4-BE49-F238E27FC236}">
                <a16:creationId xmlns:a16="http://schemas.microsoft.com/office/drawing/2014/main" id="{51E7CBD3-2473-4018-A316-392E04A1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20040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NEXT STEP DECIDED</a:t>
            </a:r>
          </a:p>
        </p:txBody>
      </p:sp>
      <p:sp>
        <p:nvSpPr>
          <p:cNvPr id="431" name="Google Shape;431;p19">
            <a:extLst xmlns:a="http://schemas.openxmlformats.org/drawingml/2006/main">
              <a:ext uri="{FF2B5EF4-FFF2-40B4-BE49-F238E27FC236}">
                <a16:creationId xmlns:a16="http://schemas.microsoft.com/office/drawing/2014/main" id="{0B206601-F521-44BE-A84F-B99B68B6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520440"/>
            <a:ext cx="484632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Student either closes the project responsibly or identifies a realistic continuation plan.</a:t>
            </a:r>
          </a:p>
        </p:txBody>
      </p:sp>
      <p:sp>
        <p:nvSpPr>
          <p:cNvPr id="432" name="Google Shape;432;p19">
            <a:extLst xmlns:a="http://schemas.openxmlformats.org/drawingml/2006/main">
              <a:ext uri="{FF2B5EF4-FFF2-40B4-BE49-F238E27FC236}">
                <a16:creationId xmlns:a16="http://schemas.microsoft.com/office/drawing/2014/main" id="{658B36E8-6AD3-49AE-BD17-77A5D43B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526280"/>
            <a:ext cx="516636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3"/>
          </a:solidFill>
          <a:ln xmlns:a="http://schemas.openxmlformats.org/drawingml/2006/main" w="12700" cmpd="sng">
            <a:solidFill>
              <a:srgbClr val="5A5A5A">
                <a:alpha val="8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3" name="Google Shape;433;p19">
            <a:extLst xmlns:a="http://schemas.openxmlformats.org/drawingml/2006/main">
              <a:ext uri="{FF2B5EF4-FFF2-40B4-BE49-F238E27FC236}">
                <a16:creationId xmlns:a16="http://schemas.microsoft.com/office/drawing/2014/main" id="{8685B9A0-6887-46A3-AF74-9E6590F0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526280"/>
            <a:ext cx="64008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34" name="Google Shape;434;p19">
            <a:extLst xmlns:a="http://schemas.openxmlformats.org/drawingml/2006/main">
              <a:ext uri="{FF2B5EF4-FFF2-40B4-BE49-F238E27FC236}">
                <a16:creationId xmlns:a16="http://schemas.microsoft.com/office/drawing/2014/main" id="{6BCA3208-86EE-416D-A438-19172EC1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4663440"/>
            <a:ext cx="48463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100"/>
              <a:buFont typeface="Arial"/>
              <a:buNone/>
            </a:pPr>
            <a:r>
              <a:rPr sz="11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LEGACY FEEDBACK COLLECTED</a:t>
            </a:r>
          </a:p>
        </p:txBody>
      </p:sp>
      <p:sp>
        <p:nvSpPr>
          <p:cNvPr id="435" name="Google Shape;435;p19">
            <a:extLst xmlns:a="http://schemas.openxmlformats.org/drawingml/2006/main">
              <a:ext uri="{FF2B5EF4-FFF2-40B4-BE49-F238E27FC236}">
                <a16:creationId xmlns:a16="http://schemas.microsoft.com/office/drawing/2014/main" id="{C9B43B0C-DCA0-46B8-B59B-60FADFBE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608" y="4983480"/>
            <a:ext cx="4846320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50" tIns="250" rIns="250" bIns="25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1600"/>
              <a:buFont typeface="Arial"/>
              <a:buNone/>
            </a:pPr>
            <a:r>
              <a:rPr sz="16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Student provides useful feedback or advice for future STARLAB students.</a:t>
            </a:r>
          </a:p>
        </p:txBody>
      </p:sp>
    </p:spTree>
    <p:extLst>
      <p:ext uri="{BB962C8B-B14F-4D97-AF65-F5344CB8AC3E}">
        <p14:creationId xmlns:p14="http://schemas.microsoft.com/office/powerpoint/2010/main" val="22649043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1" name="Google Shape;441;p20">
            <a:extLst xmlns:a="http://schemas.openxmlformats.org/drawingml/2006/main">
              <a:ext uri="{FF2B5EF4-FFF2-40B4-BE49-F238E27FC236}">
                <a16:creationId xmlns:a16="http://schemas.microsoft.com/office/drawing/2014/main" id="{6321F04E-DB2F-497C-AECD-C08EE651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2" name="Google Shape;442;p20">
            <a:extLst xmlns:a="http://schemas.openxmlformats.org/drawingml/2006/main">
              <a:ext uri="{FF2B5EF4-FFF2-40B4-BE49-F238E27FC236}">
                <a16:creationId xmlns:a16="http://schemas.microsoft.com/office/drawing/2014/main" id="{F741B3EA-DFB8-47F4-9030-9C0E6120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3" name="Google Shape;443;p20">
            <a:extLst xmlns:a="http://schemas.openxmlformats.org/drawingml/2006/main">
              <a:ext uri="{FF2B5EF4-FFF2-40B4-BE49-F238E27FC236}">
                <a16:creationId xmlns:a16="http://schemas.microsoft.com/office/drawing/2014/main" id="{42A4538B-C65F-4F72-B5FC-71F7E06D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4" name="Google Shape;444;p20">
            <a:extLst xmlns:a="http://schemas.openxmlformats.org/drawingml/2006/main">
              <a:ext uri="{FF2B5EF4-FFF2-40B4-BE49-F238E27FC236}">
                <a16:creationId xmlns:a16="http://schemas.microsoft.com/office/drawing/2014/main" id="{8183C6F1-A025-4C6F-8032-1AF2FB26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445" name="Google Shape;445;p20">
            <a:extLst xmlns:a="http://schemas.openxmlformats.org/drawingml/2006/main">
              <a:ext uri="{FF2B5EF4-FFF2-40B4-BE49-F238E27FC236}">
                <a16:creationId xmlns:a16="http://schemas.microsoft.com/office/drawing/2014/main" id="{82B0B820-1022-4C25-B26F-AC317586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19</a:t>
            </a:r>
          </a:p>
        </p:txBody>
      </p:sp>
      <p:sp>
        <p:nvSpPr>
          <p:cNvPr id="446" name="Google Shape;446;p20">
            <a:extLst xmlns:a="http://schemas.openxmlformats.org/drawingml/2006/main">
              <a:ext uri="{FF2B5EF4-FFF2-40B4-BE49-F238E27FC236}">
                <a16:creationId xmlns:a16="http://schemas.microsoft.com/office/drawing/2014/main" id="{84D12CD0-570E-465F-ABD1-6AF71AAD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Exit Reflection: The Researcher You Became</a:t>
            </a:r>
          </a:p>
        </p:txBody>
      </p:sp>
      <p:sp>
        <p:nvSpPr>
          <p:cNvPr id="447" name="Google Shape;447;p20">
            <a:extLst xmlns:a="http://schemas.openxmlformats.org/drawingml/2006/main">
              <a:ext uri="{FF2B5EF4-FFF2-40B4-BE49-F238E27FC236}">
                <a16:creationId xmlns:a16="http://schemas.microsoft.com/office/drawing/2014/main" id="{5532C290-1396-43CE-A098-8F02EB28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61872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48" name="Google Shape;448;p20">
            <a:extLst xmlns:a="http://schemas.openxmlformats.org/drawingml/2006/main">
              <a:ext uri="{FF2B5EF4-FFF2-40B4-BE49-F238E27FC236}">
                <a16:creationId xmlns:a16="http://schemas.microsoft.com/office/drawing/2014/main" id="{E20204D9-8AC4-41B3-B469-B808B9A9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80160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End with identity, not just completion.</a:t>
            </a:r>
          </a:p>
        </p:txBody>
      </p:sp>
      <p:sp>
        <p:nvSpPr>
          <p:cNvPr id="449" name="Google Shape;449;p20">
            <a:extLst xmlns:a="http://schemas.openxmlformats.org/drawingml/2006/main">
              <a:ext uri="{FF2B5EF4-FFF2-40B4-BE49-F238E27FC236}">
                <a16:creationId xmlns:a16="http://schemas.microsoft.com/office/drawing/2014/main" id="{BFC94407-78D5-41C9-A4FF-E287903A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755648"/>
            <a:ext cx="214884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200"/>
              <a:buFont typeface="Arial"/>
              <a:buNone/>
            </a:pPr>
            <a:r>
              <a:rPr sz="12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STUDENT ACTIVITY</a:t>
            </a:r>
          </a:p>
        </p:txBody>
      </p:sp>
      <p:sp>
        <p:nvSpPr>
          <p:cNvPr id="450" name="Google Shape;450;p20">
            <a:extLst xmlns:a="http://schemas.openxmlformats.org/drawingml/2006/main">
              <a:ext uri="{FF2B5EF4-FFF2-40B4-BE49-F238E27FC236}">
                <a16:creationId xmlns:a16="http://schemas.microsoft.com/office/drawing/2014/main" id="{1AA0F53E-E187-4549-914D-CC0738F0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400"/>
            <a:ext cx="7040880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600"/>
              <a:buFont typeface="Arial"/>
              <a:buNone/>
            </a:pPr>
            <a:r>
              <a:rPr sz="26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Final Written Response</a:t>
            </a:r>
          </a:p>
        </p:txBody>
      </p:sp>
      <p:sp>
        <p:nvSpPr>
          <p:cNvPr id="451" name="Google Shape;451;p20">
            <a:extLst xmlns:a="http://schemas.openxmlformats.org/drawingml/2006/main">
              <a:ext uri="{FF2B5EF4-FFF2-40B4-BE49-F238E27FC236}">
                <a16:creationId xmlns:a16="http://schemas.microsoft.com/office/drawing/2014/main" id="{7F7A2B81-D63C-4F8C-8983-82EA2CF6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084832"/>
            <a:ext cx="18288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1600"/>
              <a:buFont typeface="Arial"/>
              <a:buNone/>
            </a:pPr>
            <a:r>
              <a:rPr sz="16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8 MINUTES</a:t>
            </a:r>
          </a:p>
        </p:txBody>
      </p:sp>
      <p:cxnSp>
        <p:nvCxnSpPr>
          <p:cNvPr id="465" name="Google Shape;452;p20"/>
          <p:cNvCxnSpPr/>
          <p:nvPr/>
        </p:nvCxnSpPr>
        <p:spPr>
          <a:xfrm xmlns:a="http://schemas.openxmlformats.org/drawingml/2006/main">
            <a:off x="640080" y="2706624"/>
            <a:ext cx="10881360" cy="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5A5A5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3" name="Google Shape;453;p20">
            <a:extLst xmlns:a="http://schemas.openxmlformats.org/drawingml/2006/main">
              <a:ext uri="{FF2B5EF4-FFF2-40B4-BE49-F238E27FC236}">
                <a16:creationId xmlns:a16="http://schemas.microsoft.com/office/drawing/2014/main" id="{CB36291E-0456-4DB8-9055-08FFD553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90088"/>
            <a:ext cx="10515600" cy="256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75" tIns="375" rIns="375" bIns="375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Answer in your final reflection: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At the start of STARLAB, I thought research was _____.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Now I understand research as _____.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The evidence for that change is _____.</a:t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</a:p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100"/>
              <a:buFont typeface="Arial"/>
              <a:buNone/>
            </a:pPr>
            <a:r>
              <a:rPr sz="21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Then identify one skill or habit you will carry beyond this course.</a:t>
            </a:r>
          </a:p>
        </p:txBody>
      </p:sp>
    </p:spTree>
    <p:extLst>
      <p:ext uri="{BB962C8B-B14F-4D97-AF65-F5344CB8AC3E}">
        <p14:creationId xmlns:p14="http://schemas.microsoft.com/office/powerpoint/2010/main" val="681924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0B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9" name="Google Shape;459;p21">
            <a:extLst xmlns:a="http://schemas.openxmlformats.org/drawingml/2006/main">
              <a:ext uri="{FF2B5EF4-FFF2-40B4-BE49-F238E27FC236}">
                <a16:creationId xmlns:a16="http://schemas.microsoft.com/office/drawing/2014/main" id="{046B8798-1306-4982-AF22-7D5B6455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D"/>
          </a:solidFill>
          <a:ln xmlns:a="http://schemas.openxmlformats.org/drawingml/2006/main" w="12700" cmpd="sng">
            <a:solidFill>
              <a:srgbClr val="0B0B0D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0" name="Google Shape;460;p21">
            <a:extLst xmlns:a="http://schemas.openxmlformats.org/drawingml/2006/main">
              <a:ext uri="{FF2B5EF4-FFF2-40B4-BE49-F238E27FC236}">
                <a16:creationId xmlns:a16="http://schemas.microsoft.com/office/drawing/2014/main" id="{7F7F51D7-9EE7-41FA-AB8E-3D82BFCA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9728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1" name="Google Shape;461;p21">
            <a:extLst xmlns:a="http://schemas.openxmlformats.org/drawingml/2006/main">
              <a:ext uri="{FF2B5EF4-FFF2-40B4-BE49-F238E27FC236}">
                <a16:creationId xmlns:a16="http://schemas.microsoft.com/office/drawing/2014/main" id="{B282D3DA-A970-4CDB-9BA9-E03BCF8D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7512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2" name="Google Shape;462;p21">
            <a:extLst xmlns:a="http://schemas.openxmlformats.org/drawingml/2006/main">
              <a:ext uri="{FF2B5EF4-FFF2-40B4-BE49-F238E27FC236}">
                <a16:creationId xmlns:a16="http://schemas.microsoft.com/office/drawing/2014/main" id="{215731C1-408B-4D60-9779-59B0B1C2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364224"/>
            <a:ext cx="301752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STARLAB COMPLETE</a:t>
            </a:r>
          </a:p>
        </p:txBody>
      </p:sp>
      <p:sp>
        <p:nvSpPr>
          <p:cNvPr id="463" name="Google Shape;463;p21">
            <a:extLst xmlns:a="http://schemas.openxmlformats.org/drawingml/2006/main">
              <a:ext uri="{FF2B5EF4-FFF2-40B4-BE49-F238E27FC236}">
                <a16:creationId xmlns:a16="http://schemas.microsoft.com/office/drawing/2014/main" id="{F70B2EEA-07C1-4316-9BC3-307DF553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6364224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r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950"/>
              <a:buFont typeface="Arial"/>
              <a:buNone/>
            </a:pPr>
            <a:r>
              <a:rPr sz="950" b="1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DECK 19</a:t>
            </a:r>
          </a:p>
        </p:txBody>
      </p:sp>
      <p:sp>
        <p:nvSpPr>
          <p:cNvPr id="464" name="Google Shape;464;p21">
            <a:extLst xmlns:a="http://schemas.openxmlformats.org/drawingml/2006/main">
              <a:ext uri="{FF2B5EF4-FFF2-40B4-BE49-F238E27FC236}">
                <a16:creationId xmlns:a16="http://schemas.microsoft.com/office/drawing/2014/main" id="{0980B67F-EB9C-4A91-A3EE-9E20F1B0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1106424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Play"/>
              <a:buNone/>
            </a:pPr>
            <a:r>
              <a:rPr sz="3000" b="1" i="0" u="none" cap="none">
                <a:solidFill>
                  <a:srgbClr val="F4F4F4"/>
                </a:solidFill>
                <a:latin typeface="Play"/>
                <a:ea typeface="Play"/>
                <a:cs typeface="Play"/>
              </a:rPr>
              <a:t>STARLAB Sequence Complete</a:t>
            </a:r>
          </a:p>
        </p:txBody>
      </p:sp>
      <p:sp>
        <p:nvSpPr>
          <p:cNvPr id="465" name="Google Shape;465;p21">
            <a:extLst xmlns:a="http://schemas.openxmlformats.org/drawingml/2006/main">
              <a:ext uri="{FF2B5EF4-FFF2-40B4-BE49-F238E27FC236}">
                <a16:creationId xmlns:a16="http://schemas.microsoft.com/office/drawing/2014/main" id="{62109004-7104-436B-B289-E8BAB6D2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61872"/>
            <a:ext cx="9144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342F"/>
          </a:solidFill>
          <a:ln xmlns:a="http://schemas.openxmlformats.org/drawingml/2006/main" w="12700" cmpd="sng">
            <a:solidFill>
              <a:srgbClr val="E3342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66" name="Google Shape;466;p21">
            <a:extLst xmlns:a="http://schemas.openxmlformats.org/drawingml/2006/main">
              <a:ext uri="{FF2B5EF4-FFF2-40B4-BE49-F238E27FC236}">
                <a16:creationId xmlns:a16="http://schemas.microsoft.com/office/drawing/2014/main" id="{2AAB09A8-F599-4E8F-80F3-B5B3E075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80160"/>
            <a:ext cx="98755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indent="0" algn="l">
              <a:spcBef>
                <a:spcPts val="0"/>
              </a:spcBef>
              <a:spcAft>
                <a:spcPts val="0"/>
              </a:spcAft>
              <a:buClr>
                <a:srgbClr val="A8A8A8"/>
              </a:buClr>
              <a:buSzPts val="1300"/>
              <a:buFont typeface="Arial"/>
              <a:buNone/>
            </a:pPr>
            <a:r>
              <a:rPr sz="1300" b="0" i="0" u="none" cap="none">
                <a:solidFill>
                  <a:srgbClr val="A8A8A8"/>
                </a:solidFill>
                <a:latin typeface="Arial"/>
                <a:ea typeface="Arial"/>
                <a:cs typeface="Arial"/>
              </a:rPr>
              <a:t>Per aspera • sapientiam</a:t>
            </a:r>
          </a:p>
        </p:txBody>
      </p:sp>
      <p:sp>
        <p:nvSpPr>
          <p:cNvPr id="467" name="Google Shape;467;p21">
            <a:extLst xmlns:a="http://schemas.openxmlformats.org/drawingml/2006/main">
              <a:ext uri="{FF2B5EF4-FFF2-40B4-BE49-F238E27FC236}">
                <a16:creationId xmlns:a16="http://schemas.microsoft.com/office/drawing/2014/main" id="{9C6B3725-17DC-45A7-A0D1-C6507849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0020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3000"/>
              <a:buFont typeface="Arial"/>
              <a:buNone/>
            </a:pPr>
            <a:r>
              <a:rPr sz="3000" b="1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Through difficulty, toward wisdom.</a:t>
            </a:r>
          </a:p>
        </p:txBody>
      </p:sp>
      <p:sp>
        <p:nvSpPr>
          <p:cNvPr id="468" name="Google Shape;468;p21">
            <a:extLst xmlns:a="http://schemas.openxmlformats.org/drawingml/2006/main">
              <a:ext uri="{FF2B5EF4-FFF2-40B4-BE49-F238E27FC236}">
                <a16:creationId xmlns:a16="http://schemas.microsoft.com/office/drawing/2014/main" id="{6B7DDE84-EE70-40BD-BD11-19096D5F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423160"/>
            <a:ext cx="9692640" cy="2103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400"/>
              <a:buFont typeface="Arial"/>
              <a:buNone/>
            </a:pPr>
            <a:r>
              <a:rPr sz="24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You asked a question.</a:t>
            </a:r>
          </a:p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400"/>
              <a:buFont typeface="Arial"/>
              <a:buNone/>
            </a:pPr>
            <a:r>
              <a:rPr sz="24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You built a plan.</a:t>
            </a:r>
          </a:p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400"/>
              <a:buFont typeface="Arial"/>
              <a:buNone/>
            </a:pPr>
            <a:r>
              <a:rPr sz="24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You tested it against reality.</a:t>
            </a:r>
          </a:p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400"/>
              <a:buFont typeface="Arial"/>
              <a:buNone/>
            </a:pPr>
            <a:r>
              <a:rPr sz="24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You revised.</a:t>
            </a:r>
          </a:p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400"/>
              <a:buFont typeface="Arial"/>
              <a:buNone/>
            </a:pPr>
            <a:r>
              <a:rPr sz="24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You gathered evidence.</a:t>
            </a:r>
          </a:p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F4F4F4"/>
              </a:buClr>
              <a:buSzPts val="2400"/>
              <a:buFont typeface="Arial"/>
              <a:buNone/>
            </a:pPr>
            <a:r>
              <a:rPr sz="2400" b="0" i="0" u="none" cap="none">
                <a:solidFill>
                  <a:srgbClr val="F4F4F4"/>
                </a:solidFill>
                <a:latin typeface="Arial"/>
                <a:ea typeface="Arial"/>
                <a:cs typeface="Arial"/>
              </a:rPr>
              <a:t>You explained what it means.</a:t>
            </a:r>
          </a:p>
        </p:txBody>
      </p:sp>
      <p:sp>
        <p:nvSpPr>
          <p:cNvPr id="469" name="Google Shape;469;p21">
            <a:extLst xmlns:a="http://schemas.openxmlformats.org/drawingml/2006/main">
              <a:ext uri="{FF2B5EF4-FFF2-40B4-BE49-F238E27FC236}">
                <a16:creationId xmlns:a16="http://schemas.microsoft.com/office/drawing/2014/main" id="{76D48A29-970E-435E-AC11-04027E31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74920"/>
            <a:ext cx="103327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0" tIns="500" rIns="500" bIns="500" anchor="t">
            <a:noAutofit/>
          </a:bodyPr>
          <a:lstStyle xmlns:a="http://schemas.openxmlformats.org/drawingml/2006/main"/>
          <a:p xmlns:a="http://schemas.openxmlformats.org/drawingml/2006/main">
            <a:pPr marL="0" marR="0" indent="0" algn="ctr">
              <a:spcBef>
                <a:spcPts val="0"/>
              </a:spcBef>
              <a:spcAft>
                <a:spcPts val="0"/>
              </a:spcAft>
              <a:buClr>
                <a:srgbClr val="E3342F"/>
              </a:buClr>
              <a:buSzPts val="2200"/>
              <a:buFont typeface="Arial"/>
              <a:buNone/>
            </a:pPr>
            <a:r>
              <a:rPr sz="2200" b="1" i="0" u="none" cap="none">
                <a:solidFill>
                  <a:srgbClr val="E3342F"/>
                </a:solidFill>
                <a:latin typeface="Arial"/>
                <a:ea typeface="Arial"/>
                <a:cs typeface="Arial"/>
              </a:rPr>
              <a:t>Final step: preserve the story, then decide what comes next.</a:t>
            </a:r>
          </a:p>
        </p:txBody>
      </p:sp>
    </p:spTree>
    <p:extLst>
      <p:ext uri="{BB962C8B-B14F-4D97-AF65-F5344CB8AC3E}">
        <p14:creationId xmlns:p14="http://schemas.microsoft.com/office/powerpoint/2010/main" val="8249775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2026-07-16T15:08:46.6100000Z</dcterms:created>
  <dcterms:modified xsi:type="dcterms:W3CDTF">2026-07-16T15:08:46.6100000Z</dcterms:modified>
</coreProperties>
</file>