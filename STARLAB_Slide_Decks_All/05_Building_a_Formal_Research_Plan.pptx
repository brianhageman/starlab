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b48ecf4ffd4b65" /><Relationship Type="http://schemas.openxmlformats.org/officeDocument/2006/relationships/extended-properties" Target="/docProps/app.xml" Id="Re305b48bf7f04ffe" /><Relationship Type="http://schemas.openxmlformats.org/officeDocument/2006/relationships/officeDocument" Target="/ppt/presentation.xml" Id="Ra8dbc6b505dc450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efbdf4e4f954997"/>
  </p:sldMasterIdLst>
  <p:notesMasterIdLst>
    <p:notesMasterId xmlns:r="http://schemas.openxmlformats.org/officeDocument/2006/relationships" r:id="Rc8bc9caa3dcd429e"/>
  </p:notesMasterIdLst>
  <p:sldIdLst>
    <p:sldId xmlns:r="http://schemas.openxmlformats.org/officeDocument/2006/relationships" id="256" r:id="R009ee084673f468e"/>
    <p:sldId xmlns:r="http://schemas.openxmlformats.org/officeDocument/2006/relationships" id="257" r:id="R75feb18f1b1d4f65"/>
    <p:sldId xmlns:r="http://schemas.openxmlformats.org/officeDocument/2006/relationships" id="258" r:id="Ra3e606cfd022499b"/>
    <p:sldId xmlns:r="http://schemas.openxmlformats.org/officeDocument/2006/relationships" id="259" r:id="R628d1325f52d40e4"/>
    <p:sldId xmlns:r="http://schemas.openxmlformats.org/officeDocument/2006/relationships" id="260" r:id="Rcf05a7710b754ac3"/>
    <p:sldId xmlns:r="http://schemas.openxmlformats.org/officeDocument/2006/relationships" id="261" r:id="R9fd7a079794145ac"/>
    <p:sldId xmlns:r="http://schemas.openxmlformats.org/officeDocument/2006/relationships" id="262" r:id="R71ba515622ec460a"/>
    <p:sldId xmlns:r="http://schemas.openxmlformats.org/officeDocument/2006/relationships" id="263" r:id="R97ae16cf46ee4506"/>
    <p:sldId xmlns:r="http://schemas.openxmlformats.org/officeDocument/2006/relationships" id="264" r:id="R8ed0f57003734172"/>
    <p:sldId xmlns:r="http://schemas.openxmlformats.org/officeDocument/2006/relationships" id="265" r:id="R03253567460b47a0"/>
    <p:sldId xmlns:r="http://schemas.openxmlformats.org/officeDocument/2006/relationships" id="266" r:id="Rcdff730d6e454def"/>
    <p:sldId xmlns:r="http://schemas.openxmlformats.org/officeDocument/2006/relationships" id="267" r:id="R13e02b89018a4e60"/>
    <p:sldId xmlns:r="http://schemas.openxmlformats.org/officeDocument/2006/relationships" id="268" r:id="R75ca0934e91744e8"/>
    <p:sldId xmlns:r="http://schemas.openxmlformats.org/officeDocument/2006/relationships" id="269" r:id="R1bd3b75a142f47dd"/>
    <p:sldId xmlns:r="http://schemas.openxmlformats.org/officeDocument/2006/relationships" id="270" r:id="Rca915e89a32d43fe"/>
    <p:sldId xmlns:r="http://schemas.openxmlformats.org/officeDocument/2006/relationships" id="271" r:id="Rc073487587ec4bc6"/>
    <p:sldId xmlns:r="http://schemas.openxmlformats.org/officeDocument/2006/relationships" id="272" r:id="Rb74fc7a46bf94f82"/>
    <p:sldId xmlns:r="http://schemas.openxmlformats.org/officeDocument/2006/relationships" id="273" r:id="Rd76fbc9a2b9c4e29"/>
    <p:sldId xmlns:r="http://schemas.openxmlformats.org/officeDocument/2006/relationships" id="274" r:id="R0bcab6b847404b56"/>
    <p:sldId xmlns:r="http://schemas.openxmlformats.org/officeDocument/2006/relationships" id="275" r:id="R927b31cd8bdd4600"/>
    <p:sldId xmlns:r="http://schemas.openxmlformats.org/officeDocument/2006/relationships" id="276" r:id="R9ccd7c880e614893"/>
    <p:sldId xmlns:r="http://schemas.openxmlformats.org/officeDocument/2006/relationships" id="277" r:id="R707973edb99a482d"/>
  </p:sldIdLst>
  <p:sldSz cx="12192000" cy="6858000"/>
  <p:notesSz cx="6858000" cy="9144000"/>
  <p:embeddedFontLst>
    <p:embeddedFont>
      <p:font typeface="Play"/>
      <p:regular xmlns:r="http://schemas.openxmlformats.org/officeDocument/2006/relationships" r:id="R34a5bd0189864a98"/>
      <p:bold xmlns:r="http://schemas.openxmlformats.org/officeDocument/2006/relationships" r:id="R65ed996b27bf40de"/>
    </p:embeddedFont>
  </p:embeddedFontLst>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fe5f5f59084d2b" /><Relationship Type="http://schemas.openxmlformats.org/officeDocument/2006/relationships/slideMaster" Target="/ppt/slideMasters/slideMaster1.xml" Id="R6efbdf4e4f954997" /><Relationship Type="http://schemas.openxmlformats.org/officeDocument/2006/relationships/notesMaster" Target="/ppt/notesMasters/notesMaster1.xml" Id="Rc8bc9caa3dcd429e" /><Relationship Type="http://schemas.openxmlformats.org/officeDocument/2006/relationships/presProps" Target="/ppt/presProps.xml" Id="R28214f8f14f14fbe" /><Relationship Type="http://schemas.openxmlformats.org/officeDocument/2006/relationships/tableStyles" Target="/ppt/tableStyles.xml" Id="R88ee302026d14d56" /><Relationship Type="http://schemas.openxmlformats.org/officeDocument/2006/relationships/font" Target="/ppt/fonts/font.dat" Id="R34a5bd0189864a98" /><Relationship Type="http://schemas.openxmlformats.org/officeDocument/2006/relationships/font" Target="/ppt/fonts/font2.dat" Id="R65ed996b27bf40de" /><Relationship Type="http://schemas.openxmlformats.org/officeDocument/2006/relationships/slide" Target="/ppt/slides/slide1.xml" Id="R009ee084673f468e" /><Relationship Type="http://schemas.openxmlformats.org/officeDocument/2006/relationships/slide" Target="/ppt/slides/slide2.xml" Id="R75feb18f1b1d4f65" /><Relationship Type="http://schemas.openxmlformats.org/officeDocument/2006/relationships/slide" Target="/ppt/slides/slide3.xml" Id="Ra3e606cfd022499b" /><Relationship Type="http://schemas.openxmlformats.org/officeDocument/2006/relationships/slide" Target="/ppt/slides/slide4.xml" Id="R628d1325f52d40e4" /><Relationship Type="http://schemas.openxmlformats.org/officeDocument/2006/relationships/slide" Target="/ppt/slides/slide5.xml" Id="Rcf05a7710b754ac3" /><Relationship Type="http://schemas.openxmlformats.org/officeDocument/2006/relationships/slide" Target="/ppt/slides/slide6.xml" Id="R9fd7a079794145ac" /><Relationship Type="http://schemas.openxmlformats.org/officeDocument/2006/relationships/slide" Target="/ppt/slides/slide7.xml" Id="R71ba515622ec460a" /><Relationship Type="http://schemas.openxmlformats.org/officeDocument/2006/relationships/slide" Target="/ppt/slides/slide8.xml" Id="R97ae16cf46ee4506" /><Relationship Type="http://schemas.openxmlformats.org/officeDocument/2006/relationships/slide" Target="/ppt/slides/slide9.xml" Id="R8ed0f57003734172" /><Relationship Type="http://schemas.openxmlformats.org/officeDocument/2006/relationships/slide" Target="/ppt/slides/slide10.xml" Id="R03253567460b47a0" /><Relationship Type="http://schemas.openxmlformats.org/officeDocument/2006/relationships/slide" Target="/ppt/slides/slide11.xml" Id="Rcdff730d6e454def" /><Relationship Type="http://schemas.openxmlformats.org/officeDocument/2006/relationships/slide" Target="/ppt/slides/slide12.xml" Id="R13e02b89018a4e60" /><Relationship Type="http://schemas.openxmlformats.org/officeDocument/2006/relationships/slide" Target="/ppt/slides/slide13.xml" Id="R75ca0934e91744e8" /><Relationship Type="http://schemas.openxmlformats.org/officeDocument/2006/relationships/slide" Target="/ppt/slides/slide14.xml" Id="R1bd3b75a142f47dd" /><Relationship Type="http://schemas.openxmlformats.org/officeDocument/2006/relationships/slide" Target="/ppt/slides/slide15.xml" Id="Rca915e89a32d43fe" /><Relationship Type="http://schemas.openxmlformats.org/officeDocument/2006/relationships/slide" Target="/ppt/slides/slide16.xml" Id="Rc073487587ec4bc6" /><Relationship Type="http://schemas.openxmlformats.org/officeDocument/2006/relationships/slide" Target="/ppt/slides/slide17.xml" Id="Rb74fc7a46bf94f82" /><Relationship Type="http://schemas.openxmlformats.org/officeDocument/2006/relationships/slide" Target="/ppt/slides/slide18.xml" Id="Rd76fbc9a2b9c4e29" /><Relationship Type="http://schemas.openxmlformats.org/officeDocument/2006/relationships/slide" Target="/ppt/slides/slide19.xml" Id="R0bcab6b847404b56" /><Relationship Type="http://schemas.openxmlformats.org/officeDocument/2006/relationships/slide" Target="/ppt/slides/slide20.xml" Id="R927b31cd8bdd4600" /><Relationship Type="http://schemas.openxmlformats.org/officeDocument/2006/relationships/slide" Target="/ppt/slides/slide21.xml" Id="R9ccd7c880e614893" /><Relationship Type="http://schemas.openxmlformats.org/officeDocument/2006/relationships/slide" Target="/ppt/slides/slide22.xml" Id="R707973edb99a48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ce968f1a6c48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34d69c0cca4853" /><Relationship Type="http://schemas.openxmlformats.org/officeDocument/2006/relationships/notesMaster" Target="/ppt/notesMasters/notesMaster1.xml" Id="Rc29b796302ba41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24f3a07550445b" /><Relationship Type="http://schemas.openxmlformats.org/officeDocument/2006/relationships/notesMaster" Target="/ppt/notesMasters/notesMaster1.xml" Id="Re70e646b916641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0bce415b09461a" /><Relationship Type="http://schemas.openxmlformats.org/officeDocument/2006/relationships/notesMaster" Target="/ppt/notesMasters/notesMaster1.xml" Id="Rade3b662baaf49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16abca57284ed3" /><Relationship Type="http://schemas.openxmlformats.org/officeDocument/2006/relationships/notesMaster" Target="/ppt/notesMasters/notesMaster1.xml" Id="R7a34883e5c414c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0b5c6295ad418a" /><Relationship Type="http://schemas.openxmlformats.org/officeDocument/2006/relationships/notesMaster" Target="/ppt/notesMasters/notesMaster1.xml" Id="R70673b882e1c48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0b447e44f1401b" /><Relationship Type="http://schemas.openxmlformats.org/officeDocument/2006/relationships/notesMaster" Target="/ppt/notesMasters/notesMaster1.xml" Id="Raa82bd72d57347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9b4dc4f5ae4b18" /><Relationship Type="http://schemas.openxmlformats.org/officeDocument/2006/relationships/notesMaster" Target="/ppt/notesMasters/notesMaster1.xml" Id="R304ed73a27c347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d07f6c5b0c474e" /><Relationship Type="http://schemas.openxmlformats.org/officeDocument/2006/relationships/notesMaster" Target="/ppt/notesMasters/notesMaster1.xml" Id="R6132172598b34b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2e73e36d6574e49" /><Relationship Type="http://schemas.openxmlformats.org/officeDocument/2006/relationships/notesMaster" Target="/ppt/notesMasters/notesMaster1.xml" Id="R0da54ff18aeb4f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bb55ce04434930" /><Relationship Type="http://schemas.openxmlformats.org/officeDocument/2006/relationships/notesMaster" Target="/ppt/notesMasters/notesMaster1.xml" Id="R58e62cddd2174bd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69c1197aacd4572" /><Relationship Type="http://schemas.openxmlformats.org/officeDocument/2006/relationships/notesMaster" Target="/ppt/notesMasters/notesMaster1.xml" Id="Rd08e1da6b2fc41c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0da616f93e14856" /><Relationship Type="http://schemas.openxmlformats.org/officeDocument/2006/relationships/notesMaster" Target="/ppt/notesMasters/notesMaster1.xml" Id="R23001cb9071e4b2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4b46b23ca3f4f6a" /><Relationship Type="http://schemas.openxmlformats.org/officeDocument/2006/relationships/notesMaster" Target="/ppt/notesMasters/notesMaster1.xml" Id="Rb6d0d407c45b478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9deff361e5f4313" /><Relationship Type="http://schemas.openxmlformats.org/officeDocument/2006/relationships/notesMaster" Target="/ppt/notesMasters/notesMaster1.xml" Id="Re075796a06a8417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59440685bd943ea" /><Relationship Type="http://schemas.openxmlformats.org/officeDocument/2006/relationships/notesMaster" Target="/ppt/notesMasters/notesMaster1.xml" Id="Rc08aea5e561441d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b5d8d8ce8454c6b" /><Relationship Type="http://schemas.openxmlformats.org/officeDocument/2006/relationships/notesMaster" Target="/ppt/notesMasters/notesMaster1.xml" Id="Rc64ae51657dc446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bba777289b8415b" /><Relationship Type="http://schemas.openxmlformats.org/officeDocument/2006/relationships/notesMaster" Target="/ppt/notesMasters/notesMaster1.xml" Id="R6085cf287a93421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767fb66c8264897" /><Relationship Type="http://schemas.openxmlformats.org/officeDocument/2006/relationships/notesMaster" Target="/ppt/notesMasters/notesMaster1.xml" Id="R43b8d9a78b184bd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6d2ed8606fa414b" /><Relationship Type="http://schemas.openxmlformats.org/officeDocument/2006/relationships/notesMaster" Target="/ppt/notesMasters/notesMaster1.xml" Id="Rf5ba11cd13f24c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d475eaab9ab4383" /><Relationship Type="http://schemas.openxmlformats.org/officeDocument/2006/relationships/notesMaster" Target="/ppt/notesMasters/notesMaster1.xml" Id="Rcba6227a11d64f0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aa3da9accc44bcb" /><Relationship Type="http://schemas.openxmlformats.org/officeDocument/2006/relationships/notesMaster" Target="/ppt/notesMasters/notesMaster1.xml" Id="Re6f5bc05a0a3406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16cf4a62a284fd3" /><Relationship Type="http://schemas.openxmlformats.org/officeDocument/2006/relationships/notesMaster" Target="/ppt/notesMasters/notesMaster1.xml" Id="R9dd35699bbec44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PRIMARY TEACHING MOMENTS</a:t>
            </a:r>
          </a:p>
          <a:p xmlns:a="http://schemas.openxmlformats.org/drawingml/2006/main">
            <a:pPr marL="0" indent="0" algn="l">
              <a:spcBef>
                <a:spcPts val="0"/>
              </a:spcBef>
              <a:spcAft>
                <a:spcPts val="0"/>
              </a:spcAft>
              <a:buNone/>
            </a:pPr>
            <a:r>
              <a:t>Unit 2, Weeks 3-4</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REQUIRED WEEK 3 MATERIALS</a:t>
            </a:r>
          </a:p>
          <a:p xmlns:a="http://schemas.openxmlformats.org/drawingml/2006/main">
            <a:pPr marL="0" indent="0" algn="l">
              <a:spcBef>
                <a:spcPts val="0"/>
              </a:spcBef>
              <a:spcAft>
                <a:spcPts val="0"/>
              </a:spcAft>
              <a:buNone/>
            </a:pPr>
            <a:r>
              <a:t>- Unit 2 Student Handouts 1-5</a:t>
            </a:r>
          </a:p>
          <a:p xmlns:a="http://schemas.openxmlformats.org/drawingml/2006/main">
            <a:pPr marL="0" indent="0" algn="l">
              <a:spcBef>
                <a:spcPts val="0"/>
              </a:spcBef>
              <a:spcAft>
                <a:spcPts val="0"/>
              </a:spcAft>
              <a:buNone/>
            </a:pPr>
            <a:r>
              <a:t>- Unit 2 Appendices A-D</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REQUIRED WEEK 4 MATERIALS</a:t>
            </a:r>
          </a:p>
          <a:p xmlns:a="http://schemas.openxmlformats.org/drawingml/2006/main">
            <a:pPr marL="0" indent="0" algn="l">
              <a:spcBef>
                <a:spcPts val="0"/>
              </a:spcBef>
              <a:spcAft>
                <a:spcPts val="0"/>
              </a:spcAft>
              <a:buNone/>
            </a:pPr>
            <a:r>
              <a:t>- Unit 2 Student Handouts 6-13</a:t>
            </a:r>
          </a:p>
          <a:p xmlns:a="http://schemas.openxmlformats.org/drawingml/2006/main">
            <a:pPr marL="0" indent="0" algn="l">
              <a:spcBef>
                <a:spcPts val="0"/>
              </a:spcBef>
              <a:spcAft>
                <a:spcPts val="0"/>
              </a:spcAft>
              <a:buNone/>
            </a:pPr>
            <a:r>
              <a:t>- Unit 2 Appendices E-H</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OPTIONAL / TEACHER REFERENCE FOR WEEK 4</a:t>
            </a:r>
          </a:p>
          <a:p xmlns:a="http://schemas.openxmlformats.org/drawingml/2006/main">
            <a:pPr marL="0" indent="0" algn="l">
              <a:spcBef>
                <a:spcPts val="0"/>
              </a:spcBef>
              <a:spcAft>
                <a:spcPts val="0"/>
              </a:spcAft>
              <a:buNone/>
            </a:pPr>
            <a:r>
              <a:t>- Unit 2 Appendices I-J</a:t>
            </a:r>
          </a:p>
          <a:p xmlns:a="http://schemas.openxmlformats.org/drawingml/2006/main">
            <a:pPr marL="0" indent="0" algn="l">
              <a:spcBef>
                <a:spcPts val="0"/>
              </a:spcBef>
              <a:spcAft>
                <a:spcPts val="0"/>
              </a:spcAft>
              <a:buNone/>
            </a:pPr>
            <a:r>
              <a:t>- District-supplied approval and safety forms as applicable</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RESOURCE ALIGNMENT</a:t>
            </a:r>
          </a:p>
          <a:p xmlns:a="http://schemas.openxmlformats.org/drawingml/2006/main">
            <a:pPr marL="0" indent="0" algn="l">
              <a:spcBef>
                <a:spcPts val="0"/>
              </a:spcBef>
              <a:spcAft>
                <a:spcPts val="0"/>
              </a:spcAft>
              <a:buNone/>
            </a:pPr>
            <a:r>
              <a:t>Keep the Week 3 refinement packet separate from the Week 4 formal-plan and approval packet. The Project Approval Tracker is the final authority on whether testing may begin.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Use this slide to frame the research plan as a protective tool for the student, not a bureaucratic form. Students should understand that a plan helps prevent unsafe testing, unusable data, unrealistic timelines, and unclear methods.</a:t>
            </a:r>
            <a:br/>
            <a:br/>
            <a:r>
              <a:t>Resource alignment:</a:t>
            </a:r>
            <a:br/>
            <a:r>
              <a:t>Use with Unit 2 Student Handout 12: Formal Research Plan Template. This slide introduces the purpose of the full research plan students will assemble later in the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Students may feel pressure to guarantee results. Clarify that a research plan does not promise a conclusion. It promises a responsible process. The plan answers: What are you doing? How will you do it? What evidence will you collect? What risks must be controlled?</a:t>
            </a:r>
            <a:br/>
            <a:br/>
            <a:r>
              <a:t>Resource alignment:</a:t>
            </a:r>
            <a:br/>
            <a:r>
              <a:t>Use as a conceptual bridge into Unit 2 Student Handout 12: Formal Research Plan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slide is the overview. Do not overteach every section yet; students will see each part individually. Ask students which section they currently feel least confident about.</a:t>
            </a:r>
            <a:br/>
            <a:br/>
            <a:r>
              <a:t>Resource alignment:</a:t>
            </a:r>
            <a:br/>
            <a:r>
              <a:t>Use with Unit 2 Student Handout 12: Formal Research Plan Template. This slide previews all major sections students will complete: focus, background, hypothesis/design criteria, methods, data plan, safety/ethics, and timeline.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Do not approve “topic statements” as project focus. A topic is not a plan. Students need a research question, engineering problem, or data analysis question that can lead to evidence.</a:t>
            </a:r>
            <a:br/>
            <a:br/>
            <a:r>
              <a:t>Resource alignment:</a:t>
            </a:r>
            <a:br/>
            <a:r>
              <a:t>Use with Unit 2 Student Handout 1: Project Refinement Workshop. Students should use this handout to clarify what they are investigating, measuring, designing, improving, or analyzing.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Push students beyond “I found facts.” Ask how each source affects the project design, method, measurements, risk, or context. Background research should shape the plan, not merely decorate the final report.</a:t>
            </a:r>
            <a:br/>
            <a:br/>
            <a:r>
              <a:t>Resource alignment:</a:t>
            </a:r>
            <a:br/>
            <a:r>
              <a:t>Use with Unit 2 Student Handout 2: Background Research Notes. Students should identify how each source informs the science background, method, measurement approach, safety concerns, or design 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is a useful diagnostic. If students cannot write a hypothesis or design criteria statement, they may not yet understand what they are testing or how success will be judged.</a:t>
            </a:r>
            <a:br/>
            <a:br/>
            <a:r>
              <a:t>Resource alignment:</a:t>
            </a:r>
            <a:br/>
            <a:r>
              <a:t>Use with Unit 2 Student Handout 3: Hypothesis and Design Criteria Builder. Experimental projects should draft a hypothesis. Engineering projects should define criteria and constraints. Data projects should identify prediction or analytical goal.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Keep multiple project pathways valid. Students should not be forced into experimental vocabulary when they are doing engineering, data analysis, or observational work. The point is to identify what changes, what is measured, what is controlled, and what counts as meaningful evidence.</a:t>
            </a:r>
            <a:br/>
            <a:br/>
            <a:r>
              <a:t>Resource alignment:</a:t>
            </a:r>
            <a:br/>
            <a:r>
              <a:t>Use with Unit 2 Student Handout 4: Variables, Controls, Criteria, and Constraints Organizer.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Many student projects fail because of missing small materials, not because of the main equipment. Push students to think through setup, storage, cleanup, replacement materials, PPE, data storage, and backup supplies.</a:t>
            </a:r>
            <a:br/>
            <a:br/>
            <a:r>
              <a:t>Resource alignment:</a:t>
            </a:r>
            <a:br/>
            <a:r>
              <a:t>Use with Unit 2 Student Handout 6: Materials and Equipment Planner.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The procedure does not need to be perfect before pilot testing, but it must be safe, specific, and reviewable. Ask students: Could another person evaluate this method before testing begins? Could someone identify where measurements will happen?</a:t>
            </a:r>
            <a:br/>
            <a:br/>
            <a:r>
              <a:t>Resource alignment:</a:t>
            </a:r>
            <a:br/>
            <a:r>
              <a:t>Use with Unit 2 Student Handout 7: Procedure and Testing Protocol Builder.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is one of the strongest readiness tests. If students cannot create data columns, they probably do not know what evidence they need. A blank data table is often the clearest proof that the project is ready to move toward pilot testing.</a:t>
            </a:r>
            <a:br/>
            <a:br/>
            <a:r>
              <a:t>Resource alignment:</a:t>
            </a:r>
            <a:br/>
            <a:r>
              <a:t>Use with Unit 2 Student Handout 8: Data Collection Plan. Students should define raw data, units, frequency, storage, backup, and possible calculated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is a planning preview of Unit 4. Students are not analyzing now; they are checking whether their planned data collection will support future analysis. Encourage students to plan backward from the graph or table they may eventually need.</a:t>
            </a:r>
            <a:br/>
            <a:br/>
            <a:r>
              <a:t>Resource alignment:</a:t>
            </a:r>
            <a:br/>
            <a:r>
              <a:t>Use with Unit 2 Student Handout 5: Evidence Planning Tool. This also previews later work in Unit 4: Data Analysis and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Keep the tone serious but not fear-based. The goal is to make safe research possible. Students should identify hazards, estimate risk, and describe controls before they test anything.</a:t>
            </a:r>
            <a:br/>
            <a:br/>
            <a:r>
              <a:t>Resource alignment:</a:t>
            </a:r>
            <a:br/>
            <a:r>
              <a:t>Use with Unit 2 Student Handout 9: Safety and Risk Assessment. Also reference Unit 2 Appendix E: Risk Assessment Matrix when discussing severity and likelihood.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slide intentionally keeps ethics broad because local approval processes vary. The key message is that students must know when to pause and ask for review. If people, animals, private data, biological materials, or environmental impact are involved, the project needs extra attention.</a:t>
            </a:r>
            <a:br/>
            <a:br/>
            <a:r>
              <a:t>Resource alignment:</a:t>
            </a:r>
            <a:br/>
            <a:r>
              <a:t>Use with Unit 2 Student Handout 10: Ethics and Approval Screening. Also reference Unit 2 Appendix F: Safety and Ethics Red Flags.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A timeline without decision points is fantasy. Ask students to identify when they would know the project needs a smaller scope, another pilot test, a mentor consult, or a backup method.</a:t>
            </a:r>
            <a:br/>
            <a:br/>
            <a:r>
              <a:t>Resource alignment:</a:t>
            </a:r>
            <a:br/>
            <a:r>
              <a:t>Use with Unit 2 Student Handout 11: Project Timeline Planner.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p>
          <a:p xmlns:a="http://schemas.openxmlformats.org/drawingml/2006/main">
            <a:pPr marL="0" indent="0" algn="l">
              <a:spcBef>
                <a:spcPts val="0"/>
              </a:spcBef>
              <a:spcAft>
                <a:spcPts val="0"/>
              </a:spcAft>
              <a:buNone/>
            </a:pPr>
            <a:r>
              <a:t>Normalize Needs Revision. It is an official tracker status, not a punishment. Record one exact status from the Project Approval Tracker. Only Approved for Pilot Testing authorizes the approved small-scale pilot. Approved With Modifications does not authorize testing; verify the named changes and update the tracker before testing. Needs Revision, Needs Safety Review, Needs Ethics Review, Needs Mentor Review, and Not Approved in Current Form do not authorize testing. After a successful pilot, use Approved for Systematic Data Collection before full data collection.</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Resource alignment:</a:t>
            </a:r>
          </a:p>
          <a:p xmlns:a="http://schemas.openxmlformats.org/drawingml/2006/main">
            <a:pPr marL="0" indent="0" algn="l">
              <a:spcBef>
                <a:spcPts val="0"/>
              </a:spcBef>
              <a:spcAft>
                <a:spcPts val="0"/>
              </a:spcAft>
              <a:buNone/>
            </a:pPr>
            <a:r>
              <a:t>Use with Unit 2 Student Handout 13: Research Plan Conference Form. Also aligns with Unit 2 Appendix H: Project Approval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Some students will write a lot without saying much. Assess alignment: question → method → data → safety → timeline. A strong plan is not necessarily long. It is coherent.</a:t>
            </a:r>
            <a:br/>
            <a:br/>
            <a:r>
              <a:t>Resource alignment:</a:t>
            </a:r>
            <a:br/>
            <a:r>
              <a:t>Use as a review before students assemble Unit 2 Student Handout 12: Formal Research Plan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is the main work-session slide. Keep it visible while students assemble their formal research plan. Students should use the handouts they have already completed to build one coherent plan.</a:t>
            </a:r>
            <a:br/>
            <a:br/>
            <a:r>
              <a:t>Resource alignment:</a:t>
            </a:r>
            <a:br/>
            <a:r>
              <a:t>Primary: Unit 2 Student Handout 12: Formal Research Plan Template. Supporting handouts: Unit 2 Student Handout 1: Project Refinement Workshop; Unit 2 Student Handout 2: Background Research Notes; Unit 2 Student Handout 3: Hypothesis and Design Criteria Builder; Unit 2 Student Handout 4: Variables, Controls, Criteria, and Constraints Organizer; Unit 2 Student Handout 5: Evidence Planning Tool; Unit 2 Student Handout 6: Materials and Equipment Planner; Unit 2 Student Handout 7: Procedure and Testing Protocol Builder; Unit 2 Student Handout 8: Data Collection Plan; Unit 2 Student Handout 9: Safety and Risk Assessment; Unit 2 Student Handout 10: Ethics and Approval Screening; Unit 2 Student Handout 11: Project Timeline Planner.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Use this slide to show how “specific” does not have to mean overly long. It means reviewable. Students should be able to identify the comparison, constants, measurement, and metric in the stronger example.</a:t>
            </a:r>
            <a:br/>
            <a:br/>
            <a:r>
              <a:t>Resource alignment:</a:t>
            </a:r>
            <a:br/>
            <a:r>
              <a:t>Use with Unit 2 Student Handout 12: Formal Research Plan Template, especially the procedure, variables/criteria, and data collection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Use this slide during conferences. Ask students to identify which pitfall their plan is closest to. The goal is not embarrassment; the goal is early repair before Unit 3.</a:t>
            </a:r>
            <a:br/>
            <a:br/>
            <a:r>
              <a:t>Resource alignment:</a:t>
            </a:r>
            <a:br/>
            <a:r>
              <a:t>Use with Unit 2 Appendix H: Project Approval Checklist. Also connects to Unit 2 Student Handout 13: Research Plan Conference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is the gatekeeping slide. Use it to reinforce that Unit 3 pilot testing begins only after the plan is safe, ethical, feasible, and clear enough to pilot. “No approval, no testing” should be firm and consistent.</a:t>
            </a:r>
            <a:br/>
            <a:br/>
            <a:r>
              <a:t>Resource alignment:</a:t>
            </a:r>
            <a:br/>
            <a:r>
              <a:t>Use with Unit 2 Appendix H: Project Approval Checklist. Students should also bring Unit 2 Student Handout 13: Research Plan Conference Form to document approval status and required revisions.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Collect this to plan conferences. Students who say “I’m ready” but cannot name a specific next action need a conference. Use responses to sort students into approval-ready, minor revision, major revision, safety/ethics review, or additional support groups.</a:t>
            </a:r>
            <a:br/>
            <a:br/>
            <a:r>
              <a:t>Resource alignment:</a:t>
            </a:r>
            <a:br/>
            <a:r>
              <a:t>Use after students have worked with Unit 2 Student Handout 12: Formal Research Plan Template and before the research plan approval conference. Next deck connection: Deck 6: Pilot Testing — Test Small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44d062677f47c5"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9bec97664d4e6e" /><Relationship Type="http://schemas.openxmlformats.org/officeDocument/2006/relationships/slideLayout" Target="/ppt/slideLayouts/slideLayout1.xml" Id="R1c630702c978456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c630702c978456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8bfc0845c044e4" /><Relationship Type="http://schemas.openxmlformats.org/officeDocument/2006/relationships/image" Target="/ppt/media/image.png" Id="Rb4ca7db050094dae" /><Relationship Type="http://schemas.openxmlformats.org/officeDocument/2006/relationships/notesSlide" Target="/ppt/notesSlides/notesSlide1.xml" Id="Rc6bb8108c99048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fa957a9005a41fc" /><Relationship Type="http://schemas.openxmlformats.org/officeDocument/2006/relationships/notesSlide" Target="/ppt/notesSlides/notesSlide2.xml" Id="Rd605acae52b841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042e8a39e904702" /><Relationship Type="http://schemas.openxmlformats.org/officeDocument/2006/relationships/notesSlide" Target="/ppt/notesSlides/notesSlide3.xml" Id="R56a1d33f04d845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915d3ef9caa4a41" /><Relationship Type="http://schemas.openxmlformats.org/officeDocument/2006/relationships/notesSlide" Target="/ppt/notesSlides/notesSlide4.xml" Id="R0b4d7f9b3d3a4c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1fa0f5189654084" /><Relationship Type="http://schemas.openxmlformats.org/officeDocument/2006/relationships/notesSlide" Target="/ppt/notesSlides/notesSlide5.xml" Id="R967c42e214e840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5f172e852bb4c0b" /><Relationship Type="http://schemas.openxmlformats.org/officeDocument/2006/relationships/notesSlide" Target="/ppt/notesSlides/notesSlide6.xml" Id="Ra4c4d4b9880449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edbfc4b241441ad" /><Relationship Type="http://schemas.openxmlformats.org/officeDocument/2006/relationships/notesSlide" Target="/ppt/notesSlides/notesSlide7.xml" Id="R3da4c7cb9de145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af4d2bbc5024d13" /><Relationship Type="http://schemas.openxmlformats.org/officeDocument/2006/relationships/notesSlide" Target="/ppt/notesSlides/notesSlide8.xml" Id="R772bc57db5ac408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9dd4cc990f4482b" /><Relationship Type="http://schemas.openxmlformats.org/officeDocument/2006/relationships/notesSlide" Target="/ppt/notesSlides/notesSlide9.xml" Id="R9c4ff8f83ca544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5e3bb72588b4d5d" /><Relationship Type="http://schemas.openxmlformats.org/officeDocument/2006/relationships/notesSlide" Target="/ppt/notesSlides/notesSlide10.xml" Id="R5ff08b713cbf406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ffcfe8c57f74766" /><Relationship Type="http://schemas.openxmlformats.org/officeDocument/2006/relationships/notesSlide" Target="/ppt/notesSlides/notesSlide11.xml" Id="R6d8a0432188642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854b2a2d4094df6" /><Relationship Type="http://schemas.openxmlformats.org/officeDocument/2006/relationships/notesSlide" Target="/ppt/notesSlides/notesSlide12.xml" Id="R458c006fd95c48a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fa5a0922e164909" /><Relationship Type="http://schemas.openxmlformats.org/officeDocument/2006/relationships/notesSlide" Target="/ppt/notesSlides/notesSlide13.xml" Id="R435e58e9d8174b9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20378e785164fe0" /><Relationship Type="http://schemas.openxmlformats.org/officeDocument/2006/relationships/notesSlide" Target="/ppt/notesSlides/notesSlide14.xml" Id="R0133f1be93f24aa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0c8ae6fc841471c" /><Relationship Type="http://schemas.openxmlformats.org/officeDocument/2006/relationships/notesSlide" Target="/ppt/notesSlides/notesSlide15.xml" Id="R52c889c01dce425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cea36f19ee84469" /><Relationship Type="http://schemas.openxmlformats.org/officeDocument/2006/relationships/notesSlide" Target="/ppt/notesSlides/notesSlide16.xml" Id="R8b824dfb24bc459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79625403f744e4b" /><Relationship Type="http://schemas.openxmlformats.org/officeDocument/2006/relationships/notesSlide" Target="/ppt/notesSlides/notesSlide17.xml" Id="Re07ea780a5b74d1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8cbb5df03ce4ad9" /><Relationship Type="http://schemas.openxmlformats.org/officeDocument/2006/relationships/notesSlide" Target="/ppt/notesSlides/notesSlide18.xml" Id="R1e93a2337c894cd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1a3ffc25d764247" /><Relationship Type="http://schemas.openxmlformats.org/officeDocument/2006/relationships/notesSlide" Target="/ppt/notesSlides/notesSlide19.xml" Id="R2317f1f35236456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c2aa4cc5bcf4f24" /><Relationship Type="http://schemas.openxmlformats.org/officeDocument/2006/relationships/notesSlide" Target="/ppt/notesSlides/notesSlide20.xml" Id="R53f37b07b4b044a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1c691db6fa448f6" /><Relationship Type="http://schemas.openxmlformats.org/officeDocument/2006/relationships/notesSlide" Target="/ppt/notesSlides/notesSlide21.xml" Id="Rb459be6af8654eb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2e8b0b95b8f4867" /><Relationship Type="http://schemas.openxmlformats.org/officeDocument/2006/relationships/notesSlide" Target="/ppt/notesSlides/notesSlide22.xml" Id="Rbf9e9407fcb1455e" /></Relationships>
</file>

<file path=ppt/slides/slide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9369ED9F-FE21-49B4-B4E0-9CC7EA531F0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 name="Google Shape;17;p3">
            <a:extLst xmlns:a="http://schemas.openxmlformats.org/drawingml/2006/main">
              <a:ext uri="{FF2B5EF4-FFF2-40B4-BE49-F238E27FC236}">
                <a16:creationId xmlns:a16="http://schemas.microsoft.com/office/drawing/2014/main" id="{45752D7A-022C-416E-B945-4807293DF486}"/>
              </a:ext>
            </a:extLst>
          </p:cNvPr>
          <p:cNvSpPr>
            <a:spLocks xmlns:a="http://schemas.openxmlformats.org/drawingml/2006/main" noGrp="1"/>
          </p:cNvSpPr>
          <p:nvPr/>
        </p:nvSpPr>
        <p:spPr>
          <a:xfrm xmlns:a="http://schemas.openxmlformats.org/drawingml/2006/main">
            <a:off x="0" y="420624"/>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 name="Google Shape;18;p3">
            <a:extLst xmlns:a="http://schemas.openxmlformats.org/drawingml/2006/main">
              <a:ext uri="{FF2B5EF4-FFF2-40B4-BE49-F238E27FC236}">
                <a16:creationId xmlns:a16="http://schemas.microsoft.com/office/drawing/2014/main" id="{2213028D-E056-4BC3-B2F9-58CEE9B7CAE4}"/>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pic>
        <p:nvPicPr>
          <p:cNvPr id="28" name="Google Shape;19;p3"/>
          <p:cNvPicPr>
            <a:picLocks xmlns:a="http://schemas.openxmlformats.org/drawingml/2006/main" noChangeAspect="1"/>
          </p:cNvPicPr>
          <p:nvPr/>
        </p:nvPicPr>
        <p:blipFill rotWithShape="1">
          <a:blip xmlns:r="http://schemas.openxmlformats.org/officeDocument/2006/relationships" xmlns:a="http://schemas.openxmlformats.org/drawingml/2006/main" r:embed="Rb4ca7db050094dae">
            <a:alphaModFix/>
          </a:blip>
          <a:srcRect xmlns:a="http://schemas.openxmlformats.org/drawingml/2006/main" l="0" t="0" r="0" b="0"/>
          <a:stretch xmlns:a="http://schemas.openxmlformats.org/drawingml/2006/main"/>
        </p:blipFill>
        <p:spPr>
          <a:xfrm xmlns:a="http://schemas.openxmlformats.org/drawingml/2006/main">
            <a:off x="1965960" y="685800"/>
            <a:ext cx="8321040" cy="3657600"/>
          </a:xfrm>
          <a:prstGeom xmlns:a="http://schemas.openxmlformats.org/drawingml/2006/main" prst="rect">
            <a:avLst/>
          </a:prstGeom>
          <a:ln xmlns:a="http://schemas.openxmlformats.org/drawingml/2006/main">
            <a:noFill/>
          </a:ln>
        </p:spPr>
      </p:pic>
      <p:sp>
        <p:nvSpPr>
          <p:cNvPr id="20" name="Google Shape;20;p3">
            <a:extLst xmlns:a="http://schemas.openxmlformats.org/drawingml/2006/main">
              <a:ext uri="{FF2B5EF4-FFF2-40B4-BE49-F238E27FC236}">
                <a16:creationId xmlns:a16="http://schemas.microsoft.com/office/drawing/2014/main" id="{2728E245-9C26-4AAE-B56E-4D17ACED4950}"/>
              </a:ext>
            </a:extLst>
          </p:cNvPr>
          <p:cNvSpPr>
            <a:spLocks xmlns:a="http://schemas.openxmlformats.org/drawingml/2006/main" noGrp="1"/>
          </p:cNvSpPr>
          <p:nvPr/>
        </p:nvSpPr>
        <p:spPr>
          <a:xfrm xmlns:a="http://schemas.openxmlformats.org/drawingml/2006/main">
            <a:off x="868680" y="4828032"/>
            <a:ext cx="10469880" cy="969264"/>
          </a:xfrm>
          <a:prstGeom xmlns:a="http://schemas.openxmlformats.org/drawingml/2006/main" prst="rect">
            <a:avLst/>
          </a:prstGeom>
          <a:solidFill xmlns:a="http://schemas.openxmlformats.org/drawingml/2006/main">
            <a:srgbClr val="000000"/>
          </a:solidFill>
          <a:ln xmlns:a="http://schemas.openxmlformats.org/drawingml/2006/main" w="13950" cmpd="sng">
            <a:solidFill>
              <a:srgbClr val="B8B8B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 name="Google Shape;21;p3">
            <a:extLst xmlns:a="http://schemas.openxmlformats.org/drawingml/2006/main">
              <a:ext uri="{FF2B5EF4-FFF2-40B4-BE49-F238E27FC236}">
                <a16:creationId xmlns:a16="http://schemas.microsoft.com/office/drawing/2014/main" id="{493F193E-E5CC-4F8A-A4B7-3E685D22E539}"/>
              </a:ext>
            </a:extLst>
          </p:cNvPr>
          <p:cNvSpPr>
            <a:spLocks xmlns:a="http://schemas.openxmlformats.org/drawingml/2006/main" noGrp="1"/>
          </p:cNvSpPr>
          <p:nvPr/>
        </p:nvSpPr>
        <p:spPr>
          <a:xfrm xmlns:a="http://schemas.openxmlformats.org/drawingml/2006/main">
            <a:off x="1005840" y="4937760"/>
            <a:ext cx="10012680" cy="6583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BUILDING A FORMAL</a:t>
            </a:r>
          </a:p>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RESEARCH PLAN</a:t>
            </a:r>
          </a:p>
        </p:txBody>
      </p:sp>
      <p:sp>
        <p:nvSpPr>
          <p:cNvPr id="22" name="Google Shape;22;p3">
            <a:extLst xmlns:a="http://schemas.openxmlformats.org/drawingml/2006/main">
              <a:ext uri="{FF2B5EF4-FFF2-40B4-BE49-F238E27FC236}">
                <a16:creationId xmlns:a16="http://schemas.microsoft.com/office/drawing/2014/main" id="{A300DC3B-AF47-470C-AD78-B01E4DF6F2BE}"/>
              </a:ext>
            </a:extLst>
          </p:cNvPr>
          <p:cNvSpPr>
            <a:spLocks xmlns:a="http://schemas.openxmlformats.org/drawingml/2006/main" noGrp="1"/>
          </p:cNvSpPr>
          <p:nvPr/>
        </p:nvSpPr>
        <p:spPr>
          <a:xfrm xmlns:a="http://schemas.openxmlformats.org/drawingml/2006/main">
            <a:off x="1005840" y="5833872"/>
            <a:ext cx="7498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b="0" i="0" u="none" cap="none">
                <a:solidFill>
                  <a:srgbClr val="B8B8B8"/>
                </a:solidFill>
                <a:latin typeface="Arial"/>
                <a:ea typeface="Arial"/>
                <a:cs typeface="Arial"/>
              </a:rPr>
              <a:t>STARLAB Deck 05  •  Unit 2 Core Instruction</a:t>
            </a:r>
          </a:p>
        </p:txBody>
      </p:sp>
      <p:sp>
        <p:nvSpPr>
          <p:cNvPr id="23" name="Google Shape;23;p3">
            <a:extLst xmlns:a="http://schemas.openxmlformats.org/drawingml/2006/main">
              <a:ext uri="{FF2B5EF4-FFF2-40B4-BE49-F238E27FC236}">
                <a16:creationId xmlns:a16="http://schemas.microsoft.com/office/drawing/2014/main" id="{6098E7DF-E7D7-40B7-8701-2F1F418B6D20}"/>
              </a:ext>
            </a:extLst>
          </p:cNvPr>
          <p:cNvSpPr>
            <a:spLocks xmlns:a="http://schemas.openxmlformats.org/drawingml/2006/main" noGrp="1"/>
          </p:cNvSpPr>
          <p:nvPr/>
        </p:nvSpPr>
        <p:spPr>
          <a:xfrm xmlns:a="http://schemas.openxmlformats.org/drawingml/2006/main">
            <a:off x="1005840" y="6053328"/>
            <a:ext cx="822960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50"/>
              <a:buFont typeface="Arial"/>
              <a:buNone/>
            </a:pPr>
            <a:r>
              <a:t/>
            </a:r>
          </a:p>
        </p:txBody>
      </p:sp>
    </p:spTree>
    <p:extLst>
      <p:ext uri="{BB962C8B-B14F-4D97-AF65-F5344CB8AC3E}">
        <p14:creationId xmlns:p14="http://schemas.microsoft.com/office/powerpoint/2010/main" val="398719433"/>
      </p:ext>
    </p:extLst>
  </p:cSld>
</p:sld>
</file>

<file path=ppt/slides/slide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9" name="Google Shape;29;p4">
            <a:extLst xmlns:a="http://schemas.openxmlformats.org/drawingml/2006/main">
              <a:ext uri="{FF2B5EF4-FFF2-40B4-BE49-F238E27FC236}">
                <a16:creationId xmlns:a16="http://schemas.microsoft.com/office/drawing/2014/main" id="{D55753C6-EC94-4E98-BFF9-839862316E2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 name="Google Shape;30;p4">
            <a:extLst xmlns:a="http://schemas.openxmlformats.org/drawingml/2006/main">
              <a:ext uri="{FF2B5EF4-FFF2-40B4-BE49-F238E27FC236}">
                <a16:creationId xmlns:a16="http://schemas.microsoft.com/office/drawing/2014/main" id="{9F5719B4-2A0F-455F-8A7E-CDBF5813DC1C}"/>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 name="Google Shape;31;p4">
            <a:extLst xmlns:a="http://schemas.openxmlformats.org/drawingml/2006/main">
              <a:ext uri="{FF2B5EF4-FFF2-40B4-BE49-F238E27FC236}">
                <a16:creationId xmlns:a16="http://schemas.microsoft.com/office/drawing/2014/main" id="{50F24F63-7782-43FC-B1AC-6F9F9957F9ED}"/>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 name="Google Shape;32;p4">
            <a:extLst xmlns:a="http://schemas.openxmlformats.org/drawingml/2006/main">
              <a:ext uri="{FF2B5EF4-FFF2-40B4-BE49-F238E27FC236}">
                <a16:creationId xmlns:a16="http://schemas.microsoft.com/office/drawing/2014/main" id="{9161E3A7-4338-4851-A105-CA021E0E6EC8}"/>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OVERVIEW</a:t>
            </a:r>
          </a:p>
        </p:txBody>
      </p:sp>
      <p:sp>
        <p:nvSpPr>
          <p:cNvPr id="33" name="Google Shape;33;p4">
            <a:extLst xmlns:a="http://schemas.openxmlformats.org/drawingml/2006/main">
              <a:ext uri="{FF2B5EF4-FFF2-40B4-BE49-F238E27FC236}">
                <a16:creationId xmlns:a16="http://schemas.microsoft.com/office/drawing/2014/main" id="{BDC99AB3-17B6-4280-90D3-96CEF0B99862}"/>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STARLAB</a:t>
            </a:r>
          </a:p>
        </p:txBody>
      </p:sp>
      <p:sp>
        <p:nvSpPr>
          <p:cNvPr id="34" name="Google Shape;34;p4">
            <a:extLst xmlns:a="http://schemas.openxmlformats.org/drawingml/2006/main">
              <a:ext uri="{FF2B5EF4-FFF2-40B4-BE49-F238E27FC236}">
                <a16:creationId xmlns:a16="http://schemas.microsoft.com/office/drawing/2014/main" id="{8BCE1E4A-5678-4B01-9DCA-0B8CC5385655}"/>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TODAY’S TARGETS</a:t>
            </a:r>
          </a:p>
        </p:txBody>
      </p:sp>
      <p:cxnSp>
        <p:nvCxnSpPr>
          <p:cNvPr id="74" name="Google Shape;35;p4"/>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36" name="Google Shape;36;p4">
            <a:extLst xmlns:a="http://schemas.openxmlformats.org/drawingml/2006/main">
              <a:ext uri="{FF2B5EF4-FFF2-40B4-BE49-F238E27FC236}">
                <a16:creationId xmlns:a16="http://schemas.microsoft.com/office/drawing/2014/main" id="{ED66FA94-33D7-43D6-991B-E88F2DFBC432}"/>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b="0" i="0" u="none" cap="none">
                <a:solidFill>
                  <a:srgbClr val="B8B8B8"/>
                </a:solidFill>
                <a:latin typeface="Arial"/>
                <a:ea typeface="Arial"/>
                <a:cs typeface="Arial"/>
              </a:rPr>
              <a:t>Students should leave with a clear model for a complete research plan.</a:t>
            </a:r>
          </a:p>
        </p:txBody>
      </p:sp>
      <p:sp>
        <p:nvSpPr>
          <p:cNvPr id="37" name="Google Shape;37;p4">
            <a:extLst xmlns:a="http://schemas.openxmlformats.org/drawingml/2006/main">
              <a:ext uri="{FF2B5EF4-FFF2-40B4-BE49-F238E27FC236}">
                <a16:creationId xmlns:a16="http://schemas.microsoft.com/office/drawing/2014/main" id="{98918E64-EB40-4B84-9A04-23FFC37E23E7}"/>
              </a:ext>
            </a:extLst>
          </p:cNvPr>
          <p:cNvSpPr>
            <a:spLocks xmlns:a="http://schemas.openxmlformats.org/drawingml/2006/main" noGrp="1"/>
          </p:cNvSpPr>
          <p:nvPr/>
        </p:nvSpPr>
        <p:spPr>
          <a:xfrm xmlns:a="http://schemas.openxmlformats.org/drawingml/2006/main">
            <a:off x="713232" y="1417320"/>
            <a:ext cx="3383280" cy="18288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 name="Google Shape;38;p4">
            <a:extLst xmlns:a="http://schemas.openxmlformats.org/drawingml/2006/main">
              <a:ext uri="{FF2B5EF4-FFF2-40B4-BE49-F238E27FC236}">
                <a16:creationId xmlns:a16="http://schemas.microsoft.com/office/drawing/2014/main" id="{C8F61EBE-1D27-471F-A12A-C30367A9C6FF}"/>
              </a:ext>
            </a:extLst>
          </p:cNvPr>
          <p:cNvSpPr>
            <a:spLocks xmlns:a="http://schemas.openxmlformats.org/drawingml/2006/main" noGrp="1"/>
          </p:cNvSpPr>
          <p:nvPr/>
        </p:nvSpPr>
        <p:spPr>
          <a:xfrm xmlns:a="http://schemas.openxmlformats.org/drawingml/2006/main">
            <a:off x="713232" y="1417320"/>
            <a:ext cx="54864" cy="18288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 name="Google Shape;39;p4">
            <a:extLst xmlns:a="http://schemas.openxmlformats.org/drawingml/2006/main">
              <a:ext uri="{FF2B5EF4-FFF2-40B4-BE49-F238E27FC236}">
                <a16:creationId xmlns:a16="http://schemas.microsoft.com/office/drawing/2014/main" id="{B61453F0-E9B4-426F-9AE1-BFD230259D76}"/>
              </a:ext>
            </a:extLst>
          </p:cNvPr>
          <p:cNvSpPr>
            <a:spLocks xmlns:a="http://schemas.openxmlformats.org/drawingml/2006/main" noGrp="1"/>
          </p:cNvSpPr>
          <p:nvPr/>
        </p:nvSpPr>
        <p:spPr>
          <a:xfrm xmlns:a="http://schemas.openxmlformats.org/drawingml/2006/main">
            <a:off x="877824" y="1563624"/>
            <a:ext cx="30632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1. EXPLAIN THE PLAN</a:t>
            </a:r>
          </a:p>
        </p:txBody>
      </p:sp>
      <p:sp>
        <p:nvSpPr>
          <p:cNvPr id="40" name="Google Shape;40;p4">
            <a:extLst xmlns:a="http://schemas.openxmlformats.org/drawingml/2006/main">
              <a:ext uri="{FF2B5EF4-FFF2-40B4-BE49-F238E27FC236}">
                <a16:creationId xmlns:a16="http://schemas.microsoft.com/office/drawing/2014/main" id="{6B002466-D1AD-47D3-A811-D1B005F62AD8}"/>
              </a:ext>
            </a:extLst>
          </p:cNvPr>
          <p:cNvSpPr>
            <a:spLocks xmlns:a="http://schemas.openxmlformats.org/drawingml/2006/main" noGrp="1"/>
          </p:cNvSpPr>
          <p:nvPr/>
        </p:nvSpPr>
        <p:spPr>
          <a:xfrm xmlns:a="http://schemas.openxmlformats.org/drawingml/2006/main">
            <a:off x="877824" y="1856232"/>
            <a:ext cx="3063240" cy="1325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Name what each section of a formal research plan is for.</a:t>
            </a:r>
          </a:p>
        </p:txBody>
      </p:sp>
      <p:sp>
        <p:nvSpPr>
          <p:cNvPr id="41" name="Google Shape;41;p4">
            <a:extLst xmlns:a="http://schemas.openxmlformats.org/drawingml/2006/main">
              <a:ext uri="{FF2B5EF4-FFF2-40B4-BE49-F238E27FC236}">
                <a16:creationId xmlns:a16="http://schemas.microsoft.com/office/drawing/2014/main" id="{0D72B586-5D91-4D25-8587-4A084F24D46B}"/>
              </a:ext>
            </a:extLst>
          </p:cNvPr>
          <p:cNvSpPr>
            <a:spLocks xmlns:a="http://schemas.openxmlformats.org/drawingml/2006/main" noGrp="1"/>
          </p:cNvSpPr>
          <p:nvPr/>
        </p:nvSpPr>
        <p:spPr>
          <a:xfrm xmlns:a="http://schemas.openxmlformats.org/drawingml/2006/main">
            <a:off x="4407408" y="1417320"/>
            <a:ext cx="3383280" cy="18288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 name="Google Shape;42;p4">
            <a:extLst xmlns:a="http://schemas.openxmlformats.org/drawingml/2006/main">
              <a:ext uri="{FF2B5EF4-FFF2-40B4-BE49-F238E27FC236}">
                <a16:creationId xmlns:a16="http://schemas.microsoft.com/office/drawing/2014/main" id="{FCA7A13B-401F-47AD-891D-6B17CA6684F4}"/>
              </a:ext>
            </a:extLst>
          </p:cNvPr>
          <p:cNvSpPr>
            <a:spLocks xmlns:a="http://schemas.openxmlformats.org/drawingml/2006/main" noGrp="1"/>
          </p:cNvSpPr>
          <p:nvPr/>
        </p:nvSpPr>
        <p:spPr>
          <a:xfrm xmlns:a="http://schemas.openxmlformats.org/drawingml/2006/main">
            <a:off x="4407408" y="1417320"/>
            <a:ext cx="54864" cy="18288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 name="Google Shape;43;p4">
            <a:extLst xmlns:a="http://schemas.openxmlformats.org/drawingml/2006/main">
              <a:ext uri="{FF2B5EF4-FFF2-40B4-BE49-F238E27FC236}">
                <a16:creationId xmlns:a16="http://schemas.microsoft.com/office/drawing/2014/main" id="{C8E98F7D-E876-4506-88F0-F8C22F0F33FB}"/>
              </a:ext>
            </a:extLst>
          </p:cNvPr>
          <p:cNvSpPr>
            <a:spLocks xmlns:a="http://schemas.openxmlformats.org/drawingml/2006/main" noGrp="1"/>
          </p:cNvSpPr>
          <p:nvPr/>
        </p:nvSpPr>
        <p:spPr>
          <a:xfrm xmlns:a="http://schemas.openxmlformats.org/drawingml/2006/main">
            <a:off x="4572000" y="1563624"/>
            <a:ext cx="30632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2. CONNECT SECTIONS</a:t>
            </a:r>
          </a:p>
        </p:txBody>
      </p:sp>
      <p:sp>
        <p:nvSpPr>
          <p:cNvPr id="44" name="Google Shape;44;p4">
            <a:extLst xmlns:a="http://schemas.openxmlformats.org/drawingml/2006/main">
              <a:ext uri="{FF2B5EF4-FFF2-40B4-BE49-F238E27FC236}">
                <a16:creationId xmlns:a16="http://schemas.microsoft.com/office/drawing/2014/main" id="{9C790A40-C2A7-47AC-AFFC-9092199DF5DA}"/>
              </a:ext>
            </a:extLst>
          </p:cNvPr>
          <p:cNvSpPr>
            <a:spLocks xmlns:a="http://schemas.openxmlformats.org/drawingml/2006/main" noGrp="1"/>
          </p:cNvSpPr>
          <p:nvPr/>
        </p:nvSpPr>
        <p:spPr>
          <a:xfrm xmlns:a="http://schemas.openxmlformats.org/drawingml/2006/main">
            <a:off x="4572000" y="1856232"/>
            <a:ext cx="3063240" cy="1325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Show how question, method, data, safety, and timeline fit together.</a:t>
            </a:r>
          </a:p>
        </p:txBody>
      </p:sp>
      <p:sp>
        <p:nvSpPr>
          <p:cNvPr id="45" name="Google Shape;45;p4">
            <a:extLst xmlns:a="http://schemas.openxmlformats.org/drawingml/2006/main">
              <a:ext uri="{FF2B5EF4-FFF2-40B4-BE49-F238E27FC236}">
                <a16:creationId xmlns:a16="http://schemas.microsoft.com/office/drawing/2014/main" id="{4ABFFA6C-45B1-4297-95B3-EF8F83FA8448}"/>
              </a:ext>
            </a:extLst>
          </p:cNvPr>
          <p:cNvSpPr>
            <a:spLocks xmlns:a="http://schemas.openxmlformats.org/drawingml/2006/main" noGrp="1"/>
          </p:cNvSpPr>
          <p:nvPr/>
        </p:nvSpPr>
        <p:spPr>
          <a:xfrm xmlns:a="http://schemas.openxmlformats.org/drawingml/2006/main">
            <a:off x="8101584" y="1417320"/>
            <a:ext cx="3383280" cy="18288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6" name="Google Shape;46;p4">
            <a:extLst xmlns:a="http://schemas.openxmlformats.org/drawingml/2006/main">
              <a:ext uri="{FF2B5EF4-FFF2-40B4-BE49-F238E27FC236}">
                <a16:creationId xmlns:a16="http://schemas.microsoft.com/office/drawing/2014/main" id="{DD6AB961-0245-46A6-B5D7-14FB8B8B26AC}"/>
              </a:ext>
            </a:extLst>
          </p:cNvPr>
          <p:cNvSpPr>
            <a:spLocks xmlns:a="http://schemas.openxmlformats.org/drawingml/2006/main" noGrp="1"/>
          </p:cNvSpPr>
          <p:nvPr/>
        </p:nvSpPr>
        <p:spPr>
          <a:xfrm xmlns:a="http://schemas.openxmlformats.org/drawingml/2006/main">
            <a:off x="8101584" y="1417320"/>
            <a:ext cx="54864" cy="18288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7" name="Google Shape;47;p4">
            <a:extLst xmlns:a="http://schemas.openxmlformats.org/drawingml/2006/main">
              <a:ext uri="{FF2B5EF4-FFF2-40B4-BE49-F238E27FC236}">
                <a16:creationId xmlns:a16="http://schemas.microsoft.com/office/drawing/2014/main" id="{5697538F-0BC0-4A32-B8CD-EEE20FFD7532}"/>
              </a:ext>
            </a:extLst>
          </p:cNvPr>
          <p:cNvSpPr>
            <a:spLocks xmlns:a="http://schemas.openxmlformats.org/drawingml/2006/main" noGrp="1"/>
          </p:cNvSpPr>
          <p:nvPr/>
        </p:nvSpPr>
        <p:spPr>
          <a:xfrm xmlns:a="http://schemas.openxmlformats.org/drawingml/2006/main">
            <a:off x="8266176" y="1563624"/>
            <a:ext cx="30632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3. PREPARE FOR APPROVAL</a:t>
            </a:r>
          </a:p>
        </p:txBody>
      </p:sp>
      <p:sp>
        <p:nvSpPr>
          <p:cNvPr id="48" name="Google Shape;48;p4">
            <a:extLst xmlns:a="http://schemas.openxmlformats.org/drawingml/2006/main">
              <a:ext uri="{FF2B5EF4-FFF2-40B4-BE49-F238E27FC236}">
                <a16:creationId xmlns:a16="http://schemas.microsoft.com/office/drawing/2014/main" id="{15D43C6A-4391-4971-9A23-3B2EC11E0431}"/>
              </a:ext>
            </a:extLst>
          </p:cNvPr>
          <p:cNvSpPr>
            <a:spLocks xmlns:a="http://schemas.openxmlformats.org/drawingml/2006/main" noGrp="1"/>
          </p:cNvSpPr>
          <p:nvPr/>
        </p:nvSpPr>
        <p:spPr>
          <a:xfrm xmlns:a="http://schemas.openxmlformats.org/drawingml/2006/main">
            <a:off x="8266176" y="1856232"/>
            <a:ext cx="3063240" cy="1325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Identify what must be revised before pilot testing begins.</a:t>
            </a:r>
          </a:p>
        </p:txBody>
      </p:sp>
      <p:sp>
        <p:nvSpPr>
          <p:cNvPr id="49" name="Google Shape;49;p4">
            <a:extLst xmlns:a="http://schemas.openxmlformats.org/drawingml/2006/main">
              <a:ext uri="{FF2B5EF4-FFF2-40B4-BE49-F238E27FC236}">
                <a16:creationId xmlns:a16="http://schemas.microsoft.com/office/drawing/2014/main" id="{A784C8C4-A929-4033-AFF5-0722578772FC}"/>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0" name="Google Shape;50;p4">
            <a:extLst xmlns:a="http://schemas.openxmlformats.org/drawingml/2006/main">
              <a:ext uri="{FF2B5EF4-FFF2-40B4-BE49-F238E27FC236}">
                <a16:creationId xmlns:a16="http://schemas.microsoft.com/office/drawing/2014/main" id="{7C0BFEC7-ABBF-4D14-9EB7-6DD0D1E7DD2D}"/>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 name="Google Shape;51;p4">
            <a:extLst xmlns:a="http://schemas.openxmlformats.org/drawingml/2006/main">
              <a:ext uri="{FF2B5EF4-FFF2-40B4-BE49-F238E27FC236}">
                <a16:creationId xmlns:a16="http://schemas.microsoft.com/office/drawing/2014/main" id="{1C05734A-4F92-4F58-8514-829863366B00}"/>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i="0" u="none" cap="none">
                <a:solidFill>
                  <a:srgbClr val="F2F2F2"/>
                </a:solidFill>
                <a:latin typeface="Arial"/>
                <a:ea typeface="Arial"/>
                <a:cs typeface="Arial"/>
              </a:rPr>
              <a:t>STUDENT ACTIVITY</a:t>
            </a:r>
          </a:p>
        </p:txBody>
      </p:sp>
      <p:sp>
        <p:nvSpPr>
          <p:cNvPr id="52" name="Google Shape;52;p4">
            <a:extLst xmlns:a="http://schemas.openxmlformats.org/drawingml/2006/main">
              <a:ext uri="{FF2B5EF4-FFF2-40B4-BE49-F238E27FC236}">
                <a16:creationId xmlns:a16="http://schemas.microsoft.com/office/drawing/2014/main" id="{F6B1723A-0E9F-4398-B238-85B249589386}"/>
              </a:ext>
            </a:extLst>
          </p:cNvPr>
          <p:cNvSpPr>
            <a:spLocks xmlns:a="http://schemas.openxmlformats.org/drawingml/2006/main" noGrp="1"/>
          </p:cNvSpPr>
          <p:nvPr/>
        </p:nvSpPr>
        <p:spPr>
          <a:xfrm xmlns:a="http://schemas.openxmlformats.org/drawingml/2006/main">
            <a:off x="868675" y="5422411"/>
            <a:ext cx="3520500" cy="51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i="0" u="none" cap="none">
                <a:solidFill>
                  <a:srgbClr val="F2F2F2"/>
                </a:solidFill>
                <a:latin typeface="Arial"/>
                <a:ea typeface="Arial"/>
                <a:cs typeface="Arial"/>
              </a:rPr>
              <a:t>Quick check: What could go wrong without a plan?</a:t>
            </a:r>
          </a:p>
        </p:txBody>
      </p:sp>
      <p:sp>
        <p:nvSpPr>
          <p:cNvPr id="53" name="Google Shape;53;p4">
            <a:extLst xmlns:a="http://schemas.openxmlformats.org/drawingml/2006/main">
              <a:ext uri="{FF2B5EF4-FFF2-40B4-BE49-F238E27FC236}">
                <a16:creationId xmlns:a16="http://schemas.microsoft.com/office/drawing/2014/main" id="{769763F8-3B27-4392-B181-7CEAF4CBBFA9}"/>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Students list 3 risks of beginning testing too early. Sort answers into method, safety, data, or timeline risks.</a:t>
            </a:r>
          </a:p>
        </p:txBody>
      </p:sp>
    </p:spTree>
    <p:extLst>
      <p:ext uri="{BB962C8B-B14F-4D97-AF65-F5344CB8AC3E}">
        <p14:creationId xmlns:p14="http://schemas.microsoft.com/office/powerpoint/2010/main" val="1789786365"/>
      </p:ext>
    </p:extLst>
  </p:cSld>
</p:sld>
</file>

<file path=ppt/slides/slide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59" name="Google Shape;59;p5">
            <a:extLst xmlns:a="http://schemas.openxmlformats.org/drawingml/2006/main">
              <a:ext uri="{FF2B5EF4-FFF2-40B4-BE49-F238E27FC236}">
                <a16:creationId xmlns:a16="http://schemas.microsoft.com/office/drawing/2014/main" id="{2A3249BE-6D3E-4F56-ACD2-173D5015BE7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0" name="Google Shape;60;p5">
            <a:extLst xmlns:a="http://schemas.openxmlformats.org/drawingml/2006/main">
              <a:ext uri="{FF2B5EF4-FFF2-40B4-BE49-F238E27FC236}">
                <a16:creationId xmlns:a16="http://schemas.microsoft.com/office/drawing/2014/main" id="{E4FDE09F-0BBD-455C-84EE-DE23682D6633}"/>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1" name="Google Shape;61;p5">
            <a:extLst xmlns:a="http://schemas.openxmlformats.org/drawingml/2006/main">
              <a:ext uri="{FF2B5EF4-FFF2-40B4-BE49-F238E27FC236}">
                <a16:creationId xmlns:a16="http://schemas.microsoft.com/office/drawing/2014/main" id="{52D6BBBA-419C-4D3B-9311-7FEC23C6BF8E}"/>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2" name="Google Shape;62;p5">
            <a:extLst xmlns:a="http://schemas.openxmlformats.org/drawingml/2006/main">
              <a:ext uri="{FF2B5EF4-FFF2-40B4-BE49-F238E27FC236}">
                <a16:creationId xmlns:a16="http://schemas.microsoft.com/office/drawing/2014/main" id="{EB05AB43-667F-416F-8B76-13F589BF3213}"/>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WHY PLAN</a:t>
            </a:r>
          </a:p>
        </p:txBody>
      </p:sp>
      <p:sp>
        <p:nvSpPr>
          <p:cNvPr id="63" name="Google Shape;63;p5">
            <a:extLst xmlns:a="http://schemas.openxmlformats.org/drawingml/2006/main">
              <a:ext uri="{FF2B5EF4-FFF2-40B4-BE49-F238E27FC236}">
                <a16:creationId xmlns:a16="http://schemas.microsoft.com/office/drawing/2014/main" id="{F4876672-9C43-4B79-8367-BA6D19E5B5EC}"/>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STARLAB</a:t>
            </a:r>
          </a:p>
        </p:txBody>
      </p:sp>
      <p:sp>
        <p:nvSpPr>
          <p:cNvPr id="64" name="Google Shape;64;p5">
            <a:extLst xmlns:a="http://schemas.openxmlformats.org/drawingml/2006/main">
              <a:ext uri="{FF2B5EF4-FFF2-40B4-BE49-F238E27FC236}">
                <a16:creationId xmlns:a16="http://schemas.microsoft.com/office/drawing/2014/main" id="{E1CB8896-2F1D-4867-A758-68C8EEF827E9}"/>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A RESEARCH PLAN IS A LAUNCH CHECKLIST</a:t>
            </a:r>
          </a:p>
        </p:txBody>
      </p:sp>
      <p:cxnSp>
        <p:nvCxnSpPr>
          <p:cNvPr id="106" name="Google Shape;65;p5"/>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66" name="Google Shape;66;p5">
            <a:extLst xmlns:a="http://schemas.openxmlformats.org/drawingml/2006/main">
              <a:ext uri="{FF2B5EF4-FFF2-40B4-BE49-F238E27FC236}">
                <a16:creationId xmlns:a16="http://schemas.microsoft.com/office/drawing/2014/main" id="{CABF9431-4B23-4A1A-8F24-4C9D832B04BB}"/>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b="0" i="0" u="none" cap="none">
                <a:solidFill>
                  <a:srgbClr val="B8B8B8"/>
                </a:solidFill>
                <a:latin typeface="Arial"/>
                <a:ea typeface="Arial"/>
                <a:cs typeface="Arial"/>
              </a:rPr>
              <a:t>It proves the project is clear enough, safe enough, and measurable enough to begin.</a:t>
            </a:r>
          </a:p>
        </p:txBody>
      </p:sp>
      <p:sp>
        <p:nvSpPr>
          <p:cNvPr id="67" name="Google Shape;67;p5">
            <a:extLst xmlns:a="http://schemas.openxmlformats.org/drawingml/2006/main">
              <a:ext uri="{FF2B5EF4-FFF2-40B4-BE49-F238E27FC236}">
                <a16:creationId xmlns:a16="http://schemas.microsoft.com/office/drawing/2014/main" id="{ECDD8ADA-E26A-45B9-B194-F3937871CEB6}"/>
              </a:ext>
            </a:extLst>
          </p:cNvPr>
          <p:cNvSpPr>
            <a:spLocks xmlns:a="http://schemas.openxmlformats.org/drawingml/2006/main" noGrp="1"/>
          </p:cNvSpPr>
          <p:nvPr/>
        </p:nvSpPr>
        <p:spPr>
          <a:xfrm xmlns:a="http://schemas.openxmlformats.org/drawingml/2006/main">
            <a:off x="777240" y="1508760"/>
            <a:ext cx="507492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8" name="Google Shape;68;p5">
            <a:extLst xmlns:a="http://schemas.openxmlformats.org/drawingml/2006/main">
              <a:ext uri="{FF2B5EF4-FFF2-40B4-BE49-F238E27FC236}">
                <a16:creationId xmlns:a16="http://schemas.microsoft.com/office/drawing/2014/main" id="{62F70BDD-3FC8-41B1-AAD8-DAC56E835B3D}"/>
              </a:ext>
            </a:extLst>
          </p:cNvPr>
          <p:cNvSpPr>
            <a:spLocks xmlns:a="http://schemas.openxmlformats.org/drawingml/2006/main" noGrp="1"/>
          </p:cNvSpPr>
          <p:nvPr/>
        </p:nvSpPr>
        <p:spPr>
          <a:xfrm xmlns:a="http://schemas.openxmlformats.org/drawingml/2006/main">
            <a:off x="777240" y="150876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9" name="Google Shape;69;p5">
            <a:extLst xmlns:a="http://schemas.openxmlformats.org/drawingml/2006/main">
              <a:ext uri="{FF2B5EF4-FFF2-40B4-BE49-F238E27FC236}">
                <a16:creationId xmlns:a16="http://schemas.microsoft.com/office/drawing/2014/main" id="{9063B13B-2E9F-48B3-8482-9711B85847B0}"/>
              </a:ext>
            </a:extLst>
          </p:cNvPr>
          <p:cNvSpPr>
            <a:spLocks xmlns:a="http://schemas.openxmlformats.org/drawingml/2006/main" noGrp="1"/>
          </p:cNvSpPr>
          <p:nvPr/>
        </p:nvSpPr>
        <p:spPr>
          <a:xfrm xmlns:a="http://schemas.openxmlformats.org/drawingml/2006/main">
            <a:off x="941832" y="165506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WHAT?</a:t>
            </a:r>
          </a:p>
        </p:txBody>
      </p:sp>
      <p:sp>
        <p:nvSpPr>
          <p:cNvPr id="70" name="Google Shape;70;p5">
            <a:extLst xmlns:a="http://schemas.openxmlformats.org/drawingml/2006/main">
              <a:ext uri="{FF2B5EF4-FFF2-40B4-BE49-F238E27FC236}">
                <a16:creationId xmlns:a16="http://schemas.microsoft.com/office/drawing/2014/main" id="{A5F6A59F-EEC8-4AC0-9885-B0E794222CA2}"/>
              </a:ext>
            </a:extLst>
          </p:cNvPr>
          <p:cNvSpPr>
            <a:spLocks xmlns:a="http://schemas.openxmlformats.org/drawingml/2006/main" noGrp="1"/>
          </p:cNvSpPr>
          <p:nvPr/>
        </p:nvSpPr>
        <p:spPr>
          <a:xfrm xmlns:a="http://schemas.openxmlformats.org/drawingml/2006/main">
            <a:off x="941832" y="1947672"/>
            <a:ext cx="475488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What exactly is being investigated, built, compared, or analyzed?</a:t>
            </a:r>
          </a:p>
        </p:txBody>
      </p:sp>
      <p:sp>
        <p:nvSpPr>
          <p:cNvPr id="71" name="Google Shape;71;p5">
            <a:extLst xmlns:a="http://schemas.openxmlformats.org/drawingml/2006/main">
              <a:ext uri="{FF2B5EF4-FFF2-40B4-BE49-F238E27FC236}">
                <a16:creationId xmlns:a16="http://schemas.microsoft.com/office/drawing/2014/main" id="{CF6DACE7-AC34-4235-9E97-5D9EC2607858}"/>
              </a:ext>
            </a:extLst>
          </p:cNvPr>
          <p:cNvSpPr>
            <a:spLocks xmlns:a="http://schemas.openxmlformats.org/drawingml/2006/main" noGrp="1"/>
          </p:cNvSpPr>
          <p:nvPr/>
        </p:nvSpPr>
        <p:spPr>
          <a:xfrm xmlns:a="http://schemas.openxmlformats.org/drawingml/2006/main">
            <a:off x="6263640" y="1508760"/>
            <a:ext cx="507492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2" name="Google Shape;72;p5">
            <a:extLst xmlns:a="http://schemas.openxmlformats.org/drawingml/2006/main">
              <a:ext uri="{FF2B5EF4-FFF2-40B4-BE49-F238E27FC236}">
                <a16:creationId xmlns:a16="http://schemas.microsoft.com/office/drawing/2014/main" id="{5EAA6F62-0E52-4E9F-A7BB-8CECDD52F90A}"/>
              </a:ext>
            </a:extLst>
          </p:cNvPr>
          <p:cNvSpPr>
            <a:spLocks xmlns:a="http://schemas.openxmlformats.org/drawingml/2006/main" noGrp="1"/>
          </p:cNvSpPr>
          <p:nvPr/>
        </p:nvSpPr>
        <p:spPr>
          <a:xfrm xmlns:a="http://schemas.openxmlformats.org/drawingml/2006/main">
            <a:off x="6263640" y="150876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3" name="Google Shape;73;p5">
            <a:extLst xmlns:a="http://schemas.openxmlformats.org/drawingml/2006/main">
              <a:ext uri="{FF2B5EF4-FFF2-40B4-BE49-F238E27FC236}">
                <a16:creationId xmlns:a16="http://schemas.microsoft.com/office/drawing/2014/main" id="{02F76642-E8F8-4420-8E13-570BDBA7E842}"/>
              </a:ext>
            </a:extLst>
          </p:cNvPr>
          <p:cNvSpPr>
            <a:spLocks xmlns:a="http://schemas.openxmlformats.org/drawingml/2006/main" noGrp="1"/>
          </p:cNvSpPr>
          <p:nvPr/>
        </p:nvSpPr>
        <p:spPr>
          <a:xfrm xmlns:a="http://schemas.openxmlformats.org/drawingml/2006/main">
            <a:off x="6428232" y="165506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HOW?</a:t>
            </a:r>
          </a:p>
        </p:txBody>
      </p:sp>
      <p:sp>
        <p:nvSpPr>
          <p:cNvPr id="74" name="Google Shape;74;p5">
            <a:extLst xmlns:a="http://schemas.openxmlformats.org/drawingml/2006/main">
              <a:ext uri="{FF2B5EF4-FFF2-40B4-BE49-F238E27FC236}">
                <a16:creationId xmlns:a16="http://schemas.microsoft.com/office/drawing/2014/main" id="{3DADBB56-8F03-4062-9829-1E93D3DD0598}"/>
              </a:ext>
            </a:extLst>
          </p:cNvPr>
          <p:cNvSpPr>
            <a:spLocks xmlns:a="http://schemas.openxmlformats.org/drawingml/2006/main" noGrp="1"/>
          </p:cNvSpPr>
          <p:nvPr/>
        </p:nvSpPr>
        <p:spPr>
          <a:xfrm xmlns:a="http://schemas.openxmlformats.org/drawingml/2006/main">
            <a:off x="6428232" y="1947672"/>
            <a:ext cx="475488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What procedure, protocol, or design process will produce evidence?</a:t>
            </a:r>
          </a:p>
        </p:txBody>
      </p:sp>
      <p:sp>
        <p:nvSpPr>
          <p:cNvPr id="75" name="Google Shape;75;p5">
            <a:extLst xmlns:a="http://schemas.openxmlformats.org/drawingml/2006/main">
              <a:ext uri="{FF2B5EF4-FFF2-40B4-BE49-F238E27FC236}">
                <a16:creationId xmlns:a16="http://schemas.microsoft.com/office/drawing/2014/main" id="{2C766239-E4F2-4553-85E7-BE9A7D5FE2F8}"/>
              </a:ext>
            </a:extLst>
          </p:cNvPr>
          <p:cNvSpPr>
            <a:spLocks xmlns:a="http://schemas.openxmlformats.org/drawingml/2006/main" noGrp="1"/>
          </p:cNvSpPr>
          <p:nvPr/>
        </p:nvSpPr>
        <p:spPr>
          <a:xfrm xmlns:a="http://schemas.openxmlformats.org/drawingml/2006/main">
            <a:off x="777240" y="2926080"/>
            <a:ext cx="507492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6" name="Google Shape;76;p5">
            <a:extLst xmlns:a="http://schemas.openxmlformats.org/drawingml/2006/main">
              <a:ext uri="{FF2B5EF4-FFF2-40B4-BE49-F238E27FC236}">
                <a16:creationId xmlns:a16="http://schemas.microsoft.com/office/drawing/2014/main" id="{742DA5B6-3BC0-4C39-BA1E-252AC70E5298}"/>
              </a:ext>
            </a:extLst>
          </p:cNvPr>
          <p:cNvSpPr>
            <a:spLocks xmlns:a="http://schemas.openxmlformats.org/drawingml/2006/main" noGrp="1"/>
          </p:cNvSpPr>
          <p:nvPr/>
        </p:nvSpPr>
        <p:spPr>
          <a:xfrm xmlns:a="http://schemas.openxmlformats.org/drawingml/2006/main">
            <a:off x="777240" y="292608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7" name="Google Shape;77;p5">
            <a:extLst xmlns:a="http://schemas.openxmlformats.org/drawingml/2006/main">
              <a:ext uri="{FF2B5EF4-FFF2-40B4-BE49-F238E27FC236}">
                <a16:creationId xmlns:a16="http://schemas.microsoft.com/office/drawing/2014/main" id="{24BFFC22-6923-4EBC-AE72-90FD9CA7EE70}"/>
              </a:ext>
            </a:extLst>
          </p:cNvPr>
          <p:cNvSpPr>
            <a:spLocks xmlns:a="http://schemas.openxmlformats.org/drawingml/2006/main" noGrp="1"/>
          </p:cNvSpPr>
          <p:nvPr/>
        </p:nvSpPr>
        <p:spPr>
          <a:xfrm xmlns:a="http://schemas.openxmlformats.org/drawingml/2006/main">
            <a:off x="941832" y="30723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EVIDENCE?</a:t>
            </a:r>
          </a:p>
        </p:txBody>
      </p:sp>
      <p:sp>
        <p:nvSpPr>
          <p:cNvPr id="78" name="Google Shape;78;p5">
            <a:extLst xmlns:a="http://schemas.openxmlformats.org/drawingml/2006/main">
              <a:ext uri="{FF2B5EF4-FFF2-40B4-BE49-F238E27FC236}">
                <a16:creationId xmlns:a16="http://schemas.microsoft.com/office/drawing/2014/main" id="{D7F8D9FE-9026-4ADC-991F-68CF48619463}"/>
              </a:ext>
            </a:extLst>
          </p:cNvPr>
          <p:cNvSpPr>
            <a:spLocks xmlns:a="http://schemas.openxmlformats.org/drawingml/2006/main" noGrp="1"/>
          </p:cNvSpPr>
          <p:nvPr/>
        </p:nvSpPr>
        <p:spPr>
          <a:xfrm xmlns:a="http://schemas.openxmlformats.org/drawingml/2006/main">
            <a:off x="941832" y="3364992"/>
            <a:ext cx="475488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What data will answer the question or evaluate the design?</a:t>
            </a:r>
          </a:p>
        </p:txBody>
      </p:sp>
      <p:sp>
        <p:nvSpPr>
          <p:cNvPr id="79" name="Google Shape;79;p5">
            <a:extLst xmlns:a="http://schemas.openxmlformats.org/drawingml/2006/main">
              <a:ext uri="{FF2B5EF4-FFF2-40B4-BE49-F238E27FC236}">
                <a16:creationId xmlns:a16="http://schemas.microsoft.com/office/drawing/2014/main" id="{5AF0B52E-61AE-496F-AC26-DBED0C2BB56C}"/>
              </a:ext>
            </a:extLst>
          </p:cNvPr>
          <p:cNvSpPr>
            <a:spLocks xmlns:a="http://schemas.openxmlformats.org/drawingml/2006/main" noGrp="1"/>
          </p:cNvSpPr>
          <p:nvPr/>
        </p:nvSpPr>
        <p:spPr>
          <a:xfrm xmlns:a="http://schemas.openxmlformats.org/drawingml/2006/main">
            <a:off x="6263640" y="2926080"/>
            <a:ext cx="507492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0" name="Google Shape;80;p5">
            <a:extLst xmlns:a="http://schemas.openxmlformats.org/drawingml/2006/main">
              <a:ext uri="{FF2B5EF4-FFF2-40B4-BE49-F238E27FC236}">
                <a16:creationId xmlns:a16="http://schemas.microsoft.com/office/drawing/2014/main" id="{AC8358C6-1907-4402-9F76-F14E1136318D}"/>
              </a:ext>
            </a:extLst>
          </p:cNvPr>
          <p:cNvSpPr>
            <a:spLocks xmlns:a="http://schemas.openxmlformats.org/drawingml/2006/main" noGrp="1"/>
          </p:cNvSpPr>
          <p:nvPr/>
        </p:nvSpPr>
        <p:spPr>
          <a:xfrm xmlns:a="http://schemas.openxmlformats.org/drawingml/2006/main">
            <a:off x="6263640" y="292608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1" name="Google Shape;81;p5">
            <a:extLst xmlns:a="http://schemas.openxmlformats.org/drawingml/2006/main">
              <a:ext uri="{FF2B5EF4-FFF2-40B4-BE49-F238E27FC236}">
                <a16:creationId xmlns:a16="http://schemas.microsoft.com/office/drawing/2014/main" id="{06019D9F-69F5-496B-86E3-C8B967D2EB85}"/>
              </a:ext>
            </a:extLst>
          </p:cNvPr>
          <p:cNvSpPr>
            <a:spLocks xmlns:a="http://schemas.openxmlformats.org/drawingml/2006/main" noGrp="1"/>
          </p:cNvSpPr>
          <p:nvPr/>
        </p:nvSpPr>
        <p:spPr>
          <a:xfrm xmlns:a="http://schemas.openxmlformats.org/drawingml/2006/main">
            <a:off x="6428232" y="30723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RISKS?</a:t>
            </a:r>
          </a:p>
        </p:txBody>
      </p:sp>
      <p:sp>
        <p:nvSpPr>
          <p:cNvPr id="82" name="Google Shape;82;p5">
            <a:extLst xmlns:a="http://schemas.openxmlformats.org/drawingml/2006/main">
              <a:ext uri="{FF2B5EF4-FFF2-40B4-BE49-F238E27FC236}">
                <a16:creationId xmlns:a16="http://schemas.microsoft.com/office/drawing/2014/main" id="{0A70C3D7-4BAA-459D-B776-30AD2E76756C}"/>
              </a:ext>
            </a:extLst>
          </p:cNvPr>
          <p:cNvSpPr>
            <a:spLocks xmlns:a="http://schemas.openxmlformats.org/drawingml/2006/main" noGrp="1"/>
          </p:cNvSpPr>
          <p:nvPr/>
        </p:nvSpPr>
        <p:spPr>
          <a:xfrm xmlns:a="http://schemas.openxmlformats.org/drawingml/2006/main">
            <a:off x="6428232" y="3364992"/>
            <a:ext cx="475488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What safety, ethics, material, or timeline issues must be controlled?</a:t>
            </a:r>
          </a:p>
        </p:txBody>
      </p:sp>
      <p:sp>
        <p:nvSpPr>
          <p:cNvPr id="83" name="Google Shape;83;p5">
            <a:extLst xmlns:a="http://schemas.openxmlformats.org/drawingml/2006/main">
              <a:ext uri="{FF2B5EF4-FFF2-40B4-BE49-F238E27FC236}">
                <a16:creationId xmlns:a16="http://schemas.microsoft.com/office/drawing/2014/main" id="{43C3885D-8703-436E-8336-7BB9A6F6ABF4}"/>
              </a:ext>
            </a:extLst>
          </p:cNvPr>
          <p:cNvSpPr>
            <a:spLocks xmlns:a="http://schemas.openxmlformats.org/drawingml/2006/main" noGrp="1"/>
          </p:cNvSpPr>
          <p:nvPr/>
        </p:nvSpPr>
        <p:spPr>
          <a:xfrm xmlns:a="http://schemas.openxmlformats.org/drawingml/2006/main">
            <a:off x="960120" y="4709160"/>
            <a:ext cx="10287000" cy="804672"/>
          </a:xfrm>
          <a:prstGeom xmlns:a="http://schemas.openxmlformats.org/drawingml/2006/main" prst="rect">
            <a:avLst/>
          </a:prstGeom>
          <a:solidFill xmlns:a="http://schemas.openxmlformats.org/drawingml/2006/main">
            <a:srgbClr val="0A0A0A"/>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4" name="Google Shape;84;p5">
            <a:extLst xmlns:a="http://schemas.openxmlformats.org/drawingml/2006/main">
              <a:ext uri="{FF2B5EF4-FFF2-40B4-BE49-F238E27FC236}">
                <a16:creationId xmlns:a16="http://schemas.microsoft.com/office/drawing/2014/main" id="{0E1EF370-CFB7-4263-BC2C-75EE068CEFE4}"/>
              </a:ext>
            </a:extLst>
          </p:cNvPr>
          <p:cNvSpPr>
            <a:spLocks xmlns:a="http://schemas.openxmlformats.org/drawingml/2006/main" noGrp="1"/>
          </p:cNvSpPr>
          <p:nvPr/>
        </p:nvSpPr>
        <p:spPr>
          <a:xfrm xmlns:a="http://schemas.openxmlformats.org/drawingml/2006/main">
            <a:off x="1143000" y="4846320"/>
            <a:ext cx="20116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900"/>
              <a:buFont typeface="Arial"/>
              <a:buNone/>
            </a:pPr>
            <a:r>
              <a:rPr sz="900" b="1" i="0" u="none" cap="none">
                <a:solidFill>
                  <a:srgbClr val="E22B27"/>
                </a:solidFill>
                <a:latin typeface="Arial"/>
                <a:ea typeface="Arial"/>
                <a:cs typeface="Arial"/>
              </a:rPr>
              <a:t>TEACHER EMPHASIS</a:t>
            </a:r>
          </a:p>
        </p:txBody>
      </p:sp>
      <p:sp>
        <p:nvSpPr>
          <p:cNvPr id="85" name="Google Shape;85;p5">
            <a:extLst xmlns:a="http://schemas.openxmlformats.org/drawingml/2006/main">
              <a:ext uri="{FF2B5EF4-FFF2-40B4-BE49-F238E27FC236}">
                <a16:creationId xmlns:a16="http://schemas.microsoft.com/office/drawing/2014/main" id="{F3DE04E9-CE14-45C2-8E89-45C3259E5C8C}"/>
              </a:ext>
            </a:extLst>
          </p:cNvPr>
          <p:cNvSpPr>
            <a:spLocks xmlns:a="http://schemas.openxmlformats.org/drawingml/2006/main" noGrp="1"/>
          </p:cNvSpPr>
          <p:nvPr/>
        </p:nvSpPr>
        <p:spPr>
          <a:xfrm xmlns:a="http://schemas.openxmlformats.org/drawingml/2006/main">
            <a:off x="3246120" y="4791456"/>
            <a:ext cx="7635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400"/>
              <a:buFont typeface="Arial"/>
              <a:buNone/>
            </a:pPr>
            <a:r>
              <a:rPr sz="1400" b="0" i="0" u="none" cap="none">
                <a:solidFill>
                  <a:srgbClr val="F2F2F2"/>
                </a:solidFill>
                <a:latin typeface="Arial"/>
                <a:ea typeface="Arial"/>
                <a:cs typeface="Arial"/>
              </a:rPr>
              <a:t>Students are not being asked to know the ending. They are being asked to prove they know how to begin responsibly.</a:t>
            </a:r>
          </a:p>
        </p:txBody>
      </p:sp>
    </p:spTree>
    <p:extLst>
      <p:ext uri="{BB962C8B-B14F-4D97-AF65-F5344CB8AC3E}">
        <p14:creationId xmlns:p14="http://schemas.microsoft.com/office/powerpoint/2010/main" val="1514653773"/>
      </p:ext>
    </p:extLst>
  </p:cSld>
</p:sld>
</file>

<file path=ppt/slides/slide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91" name="Google Shape;91;p6">
            <a:extLst xmlns:a="http://schemas.openxmlformats.org/drawingml/2006/main">
              <a:ext uri="{FF2B5EF4-FFF2-40B4-BE49-F238E27FC236}">
                <a16:creationId xmlns:a16="http://schemas.microsoft.com/office/drawing/2014/main" id="{A2C80F74-0E65-481C-A50F-511C541C55E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2" name="Google Shape;92;p6">
            <a:extLst xmlns:a="http://schemas.openxmlformats.org/drawingml/2006/main">
              <a:ext uri="{FF2B5EF4-FFF2-40B4-BE49-F238E27FC236}">
                <a16:creationId xmlns:a16="http://schemas.microsoft.com/office/drawing/2014/main" id="{65A29DB6-1B70-4CEF-9F00-334E7F9B6CE3}"/>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3" name="Google Shape;93;p6">
            <a:extLst xmlns:a="http://schemas.openxmlformats.org/drawingml/2006/main">
              <a:ext uri="{FF2B5EF4-FFF2-40B4-BE49-F238E27FC236}">
                <a16:creationId xmlns:a16="http://schemas.microsoft.com/office/drawing/2014/main" id="{2A055325-500A-49B3-9C57-FAE1EAE5F9CA}"/>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4" name="Google Shape;94;p6">
            <a:extLst xmlns:a="http://schemas.openxmlformats.org/drawingml/2006/main">
              <a:ext uri="{FF2B5EF4-FFF2-40B4-BE49-F238E27FC236}">
                <a16:creationId xmlns:a16="http://schemas.microsoft.com/office/drawing/2014/main" id="{50896983-AB92-45B7-87D6-F552155E9961}"/>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PLAN ANATOMY</a:t>
            </a:r>
          </a:p>
        </p:txBody>
      </p:sp>
      <p:sp>
        <p:nvSpPr>
          <p:cNvPr id="95" name="Google Shape;95;p6">
            <a:extLst xmlns:a="http://schemas.openxmlformats.org/drawingml/2006/main">
              <a:ext uri="{FF2B5EF4-FFF2-40B4-BE49-F238E27FC236}">
                <a16:creationId xmlns:a16="http://schemas.microsoft.com/office/drawing/2014/main" id="{956B3234-7266-40B4-8346-AD7D4D6F4E34}"/>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STARLAB</a:t>
            </a:r>
          </a:p>
        </p:txBody>
      </p:sp>
      <p:sp>
        <p:nvSpPr>
          <p:cNvPr id="96" name="Google Shape;96;p6">
            <a:extLst xmlns:a="http://schemas.openxmlformats.org/drawingml/2006/main">
              <a:ext uri="{FF2B5EF4-FFF2-40B4-BE49-F238E27FC236}">
                <a16:creationId xmlns:a16="http://schemas.microsoft.com/office/drawing/2014/main" id="{F6E38F06-65C6-47B3-A411-A9FCDC7FB046}"/>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THE FORMAL RESEARCH PLAN: CORE SECTIONS</a:t>
            </a:r>
          </a:p>
        </p:txBody>
      </p:sp>
      <p:cxnSp>
        <p:nvCxnSpPr>
          <p:cNvPr id="147" name="Google Shape;97;p6"/>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98" name="Google Shape;98;p6">
            <a:extLst xmlns:a="http://schemas.openxmlformats.org/drawingml/2006/main">
              <a:ext uri="{FF2B5EF4-FFF2-40B4-BE49-F238E27FC236}">
                <a16:creationId xmlns:a16="http://schemas.microsoft.com/office/drawing/2014/main" id="{74C8CA69-7CB7-4127-A38D-35755E08AA02}"/>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b="0" i="0" u="none" cap="none">
                <a:solidFill>
                  <a:srgbClr val="B8B8B8"/>
                </a:solidFill>
                <a:latin typeface="Arial"/>
                <a:ea typeface="Arial"/>
                <a:cs typeface="Arial"/>
              </a:rPr>
              <a:t>Every section should help a reviewer answer “Is this ready to test?”</a:t>
            </a:r>
          </a:p>
        </p:txBody>
      </p:sp>
      <p:sp>
        <p:nvSpPr>
          <p:cNvPr id="99" name="Google Shape;99;p6">
            <a:extLst xmlns:a="http://schemas.openxmlformats.org/drawingml/2006/main">
              <a:ext uri="{FF2B5EF4-FFF2-40B4-BE49-F238E27FC236}">
                <a16:creationId xmlns:a16="http://schemas.microsoft.com/office/drawing/2014/main" id="{932042EE-19B8-4071-87ED-9D0ACC0AD9EC}"/>
              </a:ext>
            </a:extLst>
          </p:cNvPr>
          <p:cNvSpPr>
            <a:spLocks xmlns:a="http://schemas.openxmlformats.org/drawingml/2006/main" noGrp="1"/>
          </p:cNvSpPr>
          <p:nvPr/>
        </p:nvSpPr>
        <p:spPr>
          <a:xfrm xmlns:a="http://schemas.openxmlformats.org/drawingml/2006/main">
            <a:off x="868680" y="1417320"/>
            <a:ext cx="5074920" cy="7315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0" name="Google Shape;100;p6">
            <a:extLst xmlns:a="http://schemas.openxmlformats.org/drawingml/2006/main">
              <a:ext uri="{FF2B5EF4-FFF2-40B4-BE49-F238E27FC236}">
                <a16:creationId xmlns:a16="http://schemas.microsoft.com/office/drawing/2014/main" id="{79F94D84-1950-44F6-B66B-F109D845363E}"/>
              </a:ext>
            </a:extLst>
          </p:cNvPr>
          <p:cNvSpPr>
            <a:spLocks xmlns:a="http://schemas.openxmlformats.org/drawingml/2006/main" noGrp="1"/>
          </p:cNvSpPr>
          <p:nvPr/>
        </p:nvSpPr>
        <p:spPr>
          <a:xfrm xmlns:a="http://schemas.openxmlformats.org/drawingml/2006/main">
            <a:off x="868680" y="1417320"/>
            <a:ext cx="54864" cy="7315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1" name="Google Shape;101;p6">
            <a:extLst xmlns:a="http://schemas.openxmlformats.org/drawingml/2006/main">
              <a:ext uri="{FF2B5EF4-FFF2-40B4-BE49-F238E27FC236}">
                <a16:creationId xmlns:a16="http://schemas.microsoft.com/office/drawing/2014/main" id="{EFB1B6E2-9797-4016-A47E-5FAE6FBA5207}"/>
              </a:ext>
            </a:extLst>
          </p:cNvPr>
          <p:cNvSpPr>
            <a:spLocks xmlns:a="http://schemas.openxmlformats.org/drawingml/2006/main" noGrp="1"/>
          </p:cNvSpPr>
          <p:nvPr/>
        </p:nvSpPr>
        <p:spPr>
          <a:xfrm xmlns:a="http://schemas.openxmlformats.org/drawingml/2006/main">
            <a:off x="1033272" y="156362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PROJECT FOCUS</a:t>
            </a:r>
          </a:p>
        </p:txBody>
      </p:sp>
      <p:sp>
        <p:nvSpPr>
          <p:cNvPr id="102" name="Google Shape;102;p6">
            <a:extLst xmlns:a="http://schemas.openxmlformats.org/drawingml/2006/main">
              <a:ext uri="{FF2B5EF4-FFF2-40B4-BE49-F238E27FC236}">
                <a16:creationId xmlns:a16="http://schemas.microsoft.com/office/drawing/2014/main" id="{493298F1-9C77-4E15-8F68-ABB9C84ED004}"/>
              </a:ext>
            </a:extLst>
          </p:cNvPr>
          <p:cNvSpPr>
            <a:spLocks xmlns:a="http://schemas.openxmlformats.org/drawingml/2006/main" noGrp="1"/>
          </p:cNvSpPr>
          <p:nvPr/>
        </p:nvSpPr>
        <p:spPr>
          <a:xfrm xmlns:a="http://schemas.openxmlformats.org/drawingml/2006/main">
            <a:off x="1033272" y="1856232"/>
            <a:ext cx="4754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b="0" i="0" u="none" cap="none">
                <a:solidFill>
                  <a:srgbClr val="F2F2F2"/>
                </a:solidFill>
                <a:latin typeface="Arial"/>
                <a:ea typeface="Arial"/>
                <a:cs typeface="Arial"/>
              </a:rPr>
              <a:t>Question, problem, or goal</a:t>
            </a:r>
          </a:p>
        </p:txBody>
      </p:sp>
      <p:sp>
        <p:nvSpPr>
          <p:cNvPr id="103" name="Google Shape;103;p6">
            <a:extLst xmlns:a="http://schemas.openxmlformats.org/drawingml/2006/main">
              <a:ext uri="{FF2B5EF4-FFF2-40B4-BE49-F238E27FC236}">
                <a16:creationId xmlns:a16="http://schemas.microsoft.com/office/drawing/2014/main" id="{2216F3E0-9F1B-4E0A-AD55-92B519185574}"/>
              </a:ext>
            </a:extLst>
          </p:cNvPr>
          <p:cNvSpPr>
            <a:spLocks xmlns:a="http://schemas.openxmlformats.org/drawingml/2006/main" noGrp="1"/>
          </p:cNvSpPr>
          <p:nvPr/>
        </p:nvSpPr>
        <p:spPr>
          <a:xfrm xmlns:a="http://schemas.openxmlformats.org/drawingml/2006/main">
            <a:off x="6309360" y="1417320"/>
            <a:ext cx="5074920" cy="7315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4" name="Google Shape;104;p6">
            <a:extLst xmlns:a="http://schemas.openxmlformats.org/drawingml/2006/main">
              <a:ext uri="{FF2B5EF4-FFF2-40B4-BE49-F238E27FC236}">
                <a16:creationId xmlns:a16="http://schemas.microsoft.com/office/drawing/2014/main" id="{EF0AE8C0-6488-4818-9FFE-0ADFBEBF8688}"/>
              </a:ext>
            </a:extLst>
          </p:cNvPr>
          <p:cNvSpPr>
            <a:spLocks xmlns:a="http://schemas.openxmlformats.org/drawingml/2006/main" noGrp="1"/>
          </p:cNvSpPr>
          <p:nvPr/>
        </p:nvSpPr>
        <p:spPr>
          <a:xfrm xmlns:a="http://schemas.openxmlformats.org/drawingml/2006/main">
            <a:off x="6309360" y="1417320"/>
            <a:ext cx="54864" cy="7315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5" name="Google Shape;105;p6">
            <a:extLst xmlns:a="http://schemas.openxmlformats.org/drawingml/2006/main">
              <a:ext uri="{FF2B5EF4-FFF2-40B4-BE49-F238E27FC236}">
                <a16:creationId xmlns:a16="http://schemas.microsoft.com/office/drawing/2014/main" id="{16EE10BB-96E0-4538-BE60-C909E3762BE4}"/>
              </a:ext>
            </a:extLst>
          </p:cNvPr>
          <p:cNvSpPr>
            <a:spLocks xmlns:a="http://schemas.openxmlformats.org/drawingml/2006/main" noGrp="1"/>
          </p:cNvSpPr>
          <p:nvPr/>
        </p:nvSpPr>
        <p:spPr>
          <a:xfrm xmlns:a="http://schemas.openxmlformats.org/drawingml/2006/main">
            <a:off x="6473952" y="156362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BACKGROUND</a:t>
            </a:r>
          </a:p>
        </p:txBody>
      </p:sp>
      <p:sp>
        <p:nvSpPr>
          <p:cNvPr id="106" name="Google Shape;106;p6">
            <a:extLst xmlns:a="http://schemas.openxmlformats.org/drawingml/2006/main">
              <a:ext uri="{FF2B5EF4-FFF2-40B4-BE49-F238E27FC236}">
                <a16:creationId xmlns:a16="http://schemas.microsoft.com/office/drawing/2014/main" id="{6EB49C38-9B86-4D6F-A8FC-BEB9414540AE}"/>
              </a:ext>
            </a:extLst>
          </p:cNvPr>
          <p:cNvSpPr>
            <a:spLocks xmlns:a="http://schemas.openxmlformats.org/drawingml/2006/main" noGrp="1"/>
          </p:cNvSpPr>
          <p:nvPr/>
        </p:nvSpPr>
        <p:spPr>
          <a:xfrm xmlns:a="http://schemas.openxmlformats.org/drawingml/2006/main">
            <a:off x="6473952" y="1856232"/>
            <a:ext cx="4754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b="0" i="0" u="none" cap="none">
                <a:solidFill>
                  <a:srgbClr val="F2F2F2"/>
                </a:solidFill>
                <a:latin typeface="Arial"/>
                <a:ea typeface="Arial"/>
                <a:cs typeface="Arial"/>
              </a:rPr>
              <a:t>Why the work matters + what is already known</a:t>
            </a:r>
          </a:p>
        </p:txBody>
      </p:sp>
      <p:sp>
        <p:nvSpPr>
          <p:cNvPr id="107" name="Google Shape;107;p6">
            <a:extLst xmlns:a="http://schemas.openxmlformats.org/drawingml/2006/main">
              <a:ext uri="{FF2B5EF4-FFF2-40B4-BE49-F238E27FC236}">
                <a16:creationId xmlns:a16="http://schemas.microsoft.com/office/drawing/2014/main" id="{4EF4146C-CB2E-4C07-ACE5-326CAF02FF85}"/>
              </a:ext>
            </a:extLst>
          </p:cNvPr>
          <p:cNvSpPr>
            <a:spLocks xmlns:a="http://schemas.openxmlformats.org/drawingml/2006/main" noGrp="1"/>
          </p:cNvSpPr>
          <p:nvPr/>
        </p:nvSpPr>
        <p:spPr>
          <a:xfrm xmlns:a="http://schemas.openxmlformats.org/drawingml/2006/main">
            <a:off x="868680" y="2377440"/>
            <a:ext cx="5074920" cy="7315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8" name="Google Shape;108;p6">
            <a:extLst xmlns:a="http://schemas.openxmlformats.org/drawingml/2006/main">
              <a:ext uri="{FF2B5EF4-FFF2-40B4-BE49-F238E27FC236}">
                <a16:creationId xmlns:a16="http://schemas.microsoft.com/office/drawing/2014/main" id="{8F86360F-8D7C-49F4-9F75-5496CCC743BF}"/>
              </a:ext>
            </a:extLst>
          </p:cNvPr>
          <p:cNvSpPr>
            <a:spLocks xmlns:a="http://schemas.openxmlformats.org/drawingml/2006/main" noGrp="1"/>
          </p:cNvSpPr>
          <p:nvPr/>
        </p:nvSpPr>
        <p:spPr>
          <a:xfrm xmlns:a="http://schemas.openxmlformats.org/drawingml/2006/main">
            <a:off x="868680" y="2377440"/>
            <a:ext cx="54864" cy="7315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9" name="Google Shape;109;p6">
            <a:extLst xmlns:a="http://schemas.openxmlformats.org/drawingml/2006/main">
              <a:ext uri="{FF2B5EF4-FFF2-40B4-BE49-F238E27FC236}">
                <a16:creationId xmlns:a16="http://schemas.microsoft.com/office/drawing/2014/main" id="{EBBDC7B2-2AEC-44C3-8BBF-E6B48E5DBF23}"/>
              </a:ext>
            </a:extLst>
          </p:cNvPr>
          <p:cNvSpPr>
            <a:spLocks xmlns:a="http://schemas.openxmlformats.org/drawingml/2006/main" noGrp="1"/>
          </p:cNvSpPr>
          <p:nvPr/>
        </p:nvSpPr>
        <p:spPr>
          <a:xfrm xmlns:a="http://schemas.openxmlformats.org/drawingml/2006/main">
            <a:off x="1033272" y="252374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HYPOTHESIS / CRITERIA</a:t>
            </a:r>
          </a:p>
        </p:txBody>
      </p:sp>
      <p:sp>
        <p:nvSpPr>
          <p:cNvPr id="110" name="Google Shape;110;p6">
            <a:extLst xmlns:a="http://schemas.openxmlformats.org/drawingml/2006/main">
              <a:ext uri="{FF2B5EF4-FFF2-40B4-BE49-F238E27FC236}">
                <a16:creationId xmlns:a16="http://schemas.microsoft.com/office/drawing/2014/main" id="{AB5330A4-B6F9-47BB-A838-495BDEC0335D}"/>
              </a:ext>
            </a:extLst>
          </p:cNvPr>
          <p:cNvSpPr>
            <a:spLocks xmlns:a="http://schemas.openxmlformats.org/drawingml/2006/main" noGrp="1"/>
          </p:cNvSpPr>
          <p:nvPr/>
        </p:nvSpPr>
        <p:spPr>
          <a:xfrm xmlns:a="http://schemas.openxmlformats.org/drawingml/2006/main">
            <a:off x="1033272" y="2816352"/>
            <a:ext cx="4754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b="0" i="0" u="none" cap="none">
                <a:solidFill>
                  <a:srgbClr val="F2F2F2"/>
                </a:solidFill>
                <a:latin typeface="Arial"/>
                <a:ea typeface="Arial"/>
                <a:cs typeface="Arial"/>
              </a:rPr>
              <a:t>What is predicted or what counts as success</a:t>
            </a:r>
          </a:p>
        </p:txBody>
      </p:sp>
      <p:sp>
        <p:nvSpPr>
          <p:cNvPr id="111" name="Google Shape;111;p6">
            <a:extLst xmlns:a="http://schemas.openxmlformats.org/drawingml/2006/main">
              <a:ext uri="{FF2B5EF4-FFF2-40B4-BE49-F238E27FC236}">
                <a16:creationId xmlns:a16="http://schemas.microsoft.com/office/drawing/2014/main" id="{07B6B796-70BE-41AD-88DA-C8624C397F0B}"/>
              </a:ext>
            </a:extLst>
          </p:cNvPr>
          <p:cNvSpPr>
            <a:spLocks xmlns:a="http://schemas.openxmlformats.org/drawingml/2006/main" noGrp="1"/>
          </p:cNvSpPr>
          <p:nvPr/>
        </p:nvSpPr>
        <p:spPr>
          <a:xfrm xmlns:a="http://schemas.openxmlformats.org/drawingml/2006/main">
            <a:off x="6309360" y="2377440"/>
            <a:ext cx="5074920" cy="7315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2" name="Google Shape;112;p6">
            <a:extLst xmlns:a="http://schemas.openxmlformats.org/drawingml/2006/main">
              <a:ext uri="{FF2B5EF4-FFF2-40B4-BE49-F238E27FC236}">
                <a16:creationId xmlns:a16="http://schemas.microsoft.com/office/drawing/2014/main" id="{7BBEC29A-29B4-48C5-97AE-EDDAF64A009D}"/>
              </a:ext>
            </a:extLst>
          </p:cNvPr>
          <p:cNvSpPr>
            <a:spLocks xmlns:a="http://schemas.openxmlformats.org/drawingml/2006/main" noGrp="1"/>
          </p:cNvSpPr>
          <p:nvPr/>
        </p:nvSpPr>
        <p:spPr>
          <a:xfrm xmlns:a="http://schemas.openxmlformats.org/drawingml/2006/main">
            <a:off x="6309360" y="2377440"/>
            <a:ext cx="54864" cy="7315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3" name="Google Shape;113;p6">
            <a:extLst xmlns:a="http://schemas.openxmlformats.org/drawingml/2006/main">
              <a:ext uri="{FF2B5EF4-FFF2-40B4-BE49-F238E27FC236}">
                <a16:creationId xmlns:a16="http://schemas.microsoft.com/office/drawing/2014/main" id="{B26A6FCF-4EC0-49AB-B3D1-56333F2C1364}"/>
              </a:ext>
            </a:extLst>
          </p:cNvPr>
          <p:cNvSpPr>
            <a:spLocks xmlns:a="http://schemas.openxmlformats.org/drawingml/2006/main" noGrp="1"/>
          </p:cNvSpPr>
          <p:nvPr/>
        </p:nvSpPr>
        <p:spPr>
          <a:xfrm xmlns:a="http://schemas.openxmlformats.org/drawingml/2006/main">
            <a:off x="6473952" y="252374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METHODS</a:t>
            </a:r>
          </a:p>
        </p:txBody>
      </p:sp>
      <p:sp>
        <p:nvSpPr>
          <p:cNvPr id="114" name="Google Shape;114;p6">
            <a:extLst xmlns:a="http://schemas.openxmlformats.org/drawingml/2006/main">
              <a:ext uri="{FF2B5EF4-FFF2-40B4-BE49-F238E27FC236}">
                <a16:creationId xmlns:a16="http://schemas.microsoft.com/office/drawing/2014/main" id="{0A679EA8-E970-48CF-9CDD-43625F59526C}"/>
              </a:ext>
            </a:extLst>
          </p:cNvPr>
          <p:cNvSpPr>
            <a:spLocks xmlns:a="http://schemas.openxmlformats.org/drawingml/2006/main" noGrp="1"/>
          </p:cNvSpPr>
          <p:nvPr/>
        </p:nvSpPr>
        <p:spPr>
          <a:xfrm xmlns:a="http://schemas.openxmlformats.org/drawingml/2006/main">
            <a:off x="6473952" y="2816352"/>
            <a:ext cx="4754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b="0" i="0" u="none" cap="none">
                <a:solidFill>
                  <a:srgbClr val="F2F2F2"/>
                </a:solidFill>
                <a:latin typeface="Arial"/>
                <a:ea typeface="Arial"/>
                <a:cs typeface="Arial"/>
              </a:rPr>
              <a:t>Materials, procedure, protocol, variables, conditions</a:t>
            </a:r>
          </a:p>
        </p:txBody>
      </p:sp>
      <p:sp>
        <p:nvSpPr>
          <p:cNvPr id="115" name="Google Shape;115;p6">
            <a:extLst xmlns:a="http://schemas.openxmlformats.org/drawingml/2006/main">
              <a:ext uri="{FF2B5EF4-FFF2-40B4-BE49-F238E27FC236}">
                <a16:creationId xmlns:a16="http://schemas.microsoft.com/office/drawing/2014/main" id="{BFD987EE-214C-42B6-8661-E543EA23B8C4}"/>
              </a:ext>
            </a:extLst>
          </p:cNvPr>
          <p:cNvSpPr>
            <a:spLocks xmlns:a="http://schemas.openxmlformats.org/drawingml/2006/main" noGrp="1"/>
          </p:cNvSpPr>
          <p:nvPr/>
        </p:nvSpPr>
        <p:spPr>
          <a:xfrm xmlns:a="http://schemas.openxmlformats.org/drawingml/2006/main">
            <a:off x="868680" y="3337560"/>
            <a:ext cx="5074920" cy="7315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6" name="Google Shape;116;p6">
            <a:extLst xmlns:a="http://schemas.openxmlformats.org/drawingml/2006/main">
              <a:ext uri="{FF2B5EF4-FFF2-40B4-BE49-F238E27FC236}">
                <a16:creationId xmlns:a16="http://schemas.microsoft.com/office/drawing/2014/main" id="{4C02D321-67B5-4194-9A00-B544D86BB394}"/>
              </a:ext>
            </a:extLst>
          </p:cNvPr>
          <p:cNvSpPr>
            <a:spLocks xmlns:a="http://schemas.openxmlformats.org/drawingml/2006/main" noGrp="1"/>
          </p:cNvSpPr>
          <p:nvPr/>
        </p:nvSpPr>
        <p:spPr>
          <a:xfrm xmlns:a="http://schemas.openxmlformats.org/drawingml/2006/main">
            <a:off x="868680" y="3337560"/>
            <a:ext cx="54864" cy="7315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7" name="Google Shape;117;p6">
            <a:extLst xmlns:a="http://schemas.openxmlformats.org/drawingml/2006/main">
              <a:ext uri="{FF2B5EF4-FFF2-40B4-BE49-F238E27FC236}">
                <a16:creationId xmlns:a16="http://schemas.microsoft.com/office/drawing/2014/main" id="{FA2DC8BC-9EB7-4C8C-820A-E4C97F3A1316}"/>
              </a:ext>
            </a:extLst>
          </p:cNvPr>
          <p:cNvSpPr>
            <a:spLocks xmlns:a="http://schemas.openxmlformats.org/drawingml/2006/main" noGrp="1"/>
          </p:cNvSpPr>
          <p:nvPr/>
        </p:nvSpPr>
        <p:spPr>
          <a:xfrm xmlns:a="http://schemas.openxmlformats.org/drawingml/2006/main">
            <a:off x="1033272" y="348386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DATA PLAN</a:t>
            </a:r>
          </a:p>
        </p:txBody>
      </p:sp>
      <p:sp>
        <p:nvSpPr>
          <p:cNvPr id="118" name="Google Shape;118;p6">
            <a:extLst xmlns:a="http://schemas.openxmlformats.org/drawingml/2006/main">
              <a:ext uri="{FF2B5EF4-FFF2-40B4-BE49-F238E27FC236}">
                <a16:creationId xmlns:a16="http://schemas.microsoft.com/office/drawing/2014/main" id="{600F4B9F-7182-4B88-84FD-7E21B0F4D7D5}"/>
              </a:ext>
            </a:extLst>
          </p:cNvPr>
          <p:cNvSpPr>
            <a:spLocks xmlns:a="http://schemas.openxmlformats.org/drawingml/2006/main" noGrp="1"/>
          </p:cNvSpPr>
          <p:nvPr/>
        </p:nvSpPr>
        <p:spPr>
          <a:xfrm xmlns:a="http://schemas.openxmlformats.org/drawingml/2006/main">
            <a:off x="1033272" y="3776472"/>
            <a:ext cx="4754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b="0" i="0" u="none" cap="none">
                <a:solidFill>
                  <a:srgbClr val="F2F2F2"/>
                </a:solidFill>
                <a:latin typeface="Arial"/>
                <a:ea typeface="Arial"/>
                <a:cs typeface="Arial"/>
              </a:rPr>
              <a:t>What will be recorded, how, and where</a:t>
            </a:r>
          </a:p>
        </p:txBody>
      </p:sp>
      <p:sp>
        <p:nvSpPr>
          <p:cNvPr id="119" name="Google Shape;119;p6">
            <a:extLst xmlns:a="http://schemas.openxmlformats.org/drawingml/2006/main">
              <a:ext uri="{FF2B5EF4-FFF2-40B4-BE49-F238E27FC236}">
                <a16:creationId xmlns:a16="http://schemas.microsoft.com/office/drawing/2014/main" id="{9E066C9E-0345-421A-9354-A181094C49F6}"/>
              </a:ext>
            </a:extLst>
          </p:cNvPr>
          <p:cNvSpPr>
            <a:spLocks xmlns:a="http://schemas.openxmlformats.org/drawingml/2006/main" noGrp="1"/>
          </p:cNvSpPr>
          <p:nvPr/>
        </p:nvSpPr>
        <p:spPr>
          <a:xfrm xmlns:a="http://schemas.openxmlformats.org/drawingml/2006/main">
            <a:off x="6309360" y="3337560"/>
            <a:ext cx="5074920" cy="7315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0" name="Google Shape;120;p6">
            <a:extLst xmlns:a="http://schemas.openxmlformats.org/drawingml/2006/main">
              <a:ext uri="{FF2B5EF4-FFF2-40B4-BE49-F238E27FC236}">
                <a16:creationId xmlns:a16="http://schemas.microsoft.com/office/drawing/2014/main" id="{29AE0681-712A-45DD-ABA7-0051EFD09297}"/>
              </a:ext>
            </a:extLst>
          </p:cNvPr>
          <p:cNvSpPr>
            <a:spLocks xmlns:a="http://schemas.openxmlformats.org/drawingml/2006/main" noGrp="1"/>
          </p:cNvSpPr>
          <p:nvPr/>
        </p:nvSpPr>
        <p:spPr>
          <a:xfrm xmlns:a="http://schemas.openxmlformats.org/drawingml/2006/main">
            <a:off x="6309360" y="3337560"/>
            <a:ext cx="54864" cy="7315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1" name="Google Shape;121;p6">
            <a:extLst xmlns:a="http://schemas.openxmlformats.org/drawingml/2006/main">
              <a:ext uri="{FF2B5EF4-FFF2-40B4-BE49-F238E27FC236}">
                <a16:creationId xmlns:a16="http://schemas.microsoft.com/office/drawing/2014/main" id="{6879772B-B166-471F-B9E7-218E17042DEB}"/>
              </a:ext>
            </a:extLst>
          </p:cNvPr>
          <p:cNvSpPr>
            <a:spLocks xmlns:a="http://schemas.openxmlformats.org/drawingml/2006/main" noGrp="1"/>
          </p:cNvSpPr>
          <p:nvPr/>
        </p:nvSpPr>
        <p:spPr>
          <a:xfrm xmlns:a="http://schemas.openxmlformats.org/drawingml/2006/main">
            <a:off x="6473952" y="348386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SAFETY + ETHICS</a:t>
            </a:r>
          </a:p>
        </p:txBody>
      </p:sp>
      <p:sp>
        <p:nvSpPr>
          <p:cNvPr id="122" name="Google Shape;122;p6">
            <a:extLst xmlns:a="http://schemas.openxmlformats.org/drawingml/2006/main">
              <a:ext uri="{FF2B5EF4-FFF2-40B4-BE49-F238E27FC236}">
                <a16:creationId xmlns:a16="http://schemas.microsoft.com/office/drawing/2014/main" id="{681CDA0F-ACED-4D95-9B51-DE389E2D3109}"/>
              </a:ext>
            </a:extLst>
          </p:cNvPr>
          <p:cNvSpPr>
            <a:spLocks xmlns:a="http://schemas.openxmlformats.org/drawingml/2006/main" noGrp="1"/>
          </p:cNvSpPr>
          <p:nvPr/>
        </p:nvSpPr>
        <p:spPr>
          <a:xfrm xmlns:a="http://schemas.openxmlformats.org/drawingml/2006/main">
            <a:off x="6473952" y="3776472"/>
            <a:ext cx="4754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b="0" i="0" u="none" cap="none">
                <a:solidFill>
                  <a:srgbClr val="F2F2F2"/>
                </a:solidFill>
                <a:latin typeface="Arial"/>
                <a:ea typeface="Arial"/>
                <a:cs typeface="Arial"/>
              </a:rPr>
              <a:t>Risks, permissions, approvals, PPE, privacy</a:t>
            </a:r>
          </a:p>
        </p:txBody>
      </p:sp>
      <p:sp>
        <p:nvSpPr>
          <p:cNvPr id="123" name="Google Shape;123;p6">
            <a:extLst xmlns:a="http://schemas.openxmlformats.org/drawingml/2006/main">
              <a:ext uri="{FF2B5EF4-FFF2-40B4-BE49-F238E27FC236}">
                <a16:creationId xmlns:a16="http://schemas.microsoft.com/office/drawing/2014/main" id="{FF39AC28-7698-4BAF-BC24-390737863EBA}"/>
              </a:ext>
            </a:extLst>
          </p:cNvPr>
          <p:cNvSpPr>
            <a:spLocks xmlns:a="http://schemas.openxmlformats.org/drawingml/2006/main" noGrp="1"/>
          </p:cNvSpPr>
          <p:nvPr/>
        </p:nvSpPr>
        <p:spPr>
          <a:xfrm xmlns:a="http://schemas.openxmlformats.org/drawingml/2006/main">
            <a:off x="868680" y="4297680"/>
            <a:ext cx="5074920" cy="7315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4" name="Google Shape;124;p6">
            <a:extLst xmlns:a="http://schemas.openxmlformats.org/drawingml/2006/main">
              <a:ext uri="{FF2B5EF4-FFF2-40B4-BE49-F238E27FC236}">
                <a16:creationId xmlns:a16="http://schemas.microsoft.com/office/drawing/2014/main" id="{0DCC3654-3F8C-45DD-B911-DD1DECF4842F}"/>
              </a:ext>
            </a:extLst>
          </p:cNvPr>
          <p:cNvSpPr>
            <a:spLocks xmlns:a="http://schemas.openxmlformats.org/drawingml/2006/main" noGrp="1"/>
          </p:cNvSpPr>
          <p:nvPr/>
        </p:nvSpPr>
        <p:spPr>
          <a:xfrm xmlns:a="http://schemas.openxmlformats.org/drawingml/2006/main">
            <a:off x="868680" y="4297680"/>
            <a:ext cx="54864" cy="7315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5" name="Google Shape;125;p6">
            <a:extLst xmlns:a="http://schemas.openxmlformats.org/drawingml/2006/main">
              <a:ext uri="{FF2B5EF4-FFF2-40B4-BE49-F238E27FC236}">
                <a16:creationId xmlns:a16="http://schemas.microsoft.com/office/drawing/2014/main" id="{A8963439-27A5-4E52-935B-B94375BBA3E2}"/>
              </a:ext>
            </a:extLst>
          </p:cNvPr>
          <p:cNvSpPr>
            <a:spLocks xmlns:a="http://schemas.openxmlformats.org/drawingml/2006/main" noGrp="1"/>
          </p:cNvSpPr>
          <p:nvPr/>
        </p:nvSpPr>
        <p:spPr>
          <a:xfrm xmlns:a="http://schemas.openxmlformats.org/drawingml/2006/main">
            <a:off x="1033272" y="44439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TIMELINE</a:t>
            </a:r>
          </a:p>
        </p:txBody>
      </p:sp>
      <p:sp>
        <p:nvSpPr>
          <p:cNvPr id="126" name="Google Shape;126;p6">
            <a:extLst xmlns:a="http://schemas.openxmlformats.org/drawingml/2006/main">
              <a:ext uri="{FF2B5EF4-FFF2-40B4-BE49-F238E27FC236}">
                <a16:creationId xmlns:a16="http://schemas.microsoft.com/office/drawing/2014/main" id="{EC9BB846-7553-4DDE-BD5D-84DF187515C7}"/>
              </a:ext>
            </a:extLst>
          </p:cNvPr>
          <p:cNvSpPr>
            <a:spLocks xmlns:a="http://schemas.openxmlformats.org/drawingml/2006/main" noGrp="1"/>
          </p:cNvSpPr>
          <p:nvPr/>
        </p:nvSpPr>
        <p:spPr>
          <a:xfrm xmlns:a="http://schemas.openxmlformats.org/drawingml/2006/main">
            <a:off x="1033272" y="4736592"/>
            <a:ext cx="4754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b="0" i="0" u="none" cap="none">
                <a:solidFill>
                  <a:srgbClr val="F2F2F2"/>
                </a:solidFill>
                <a:latin typeface="Arial"/>
                <a:ea typeface="Arial"/>
                <a:cs typeface="Arial"/>
              </a:rPr>
              <a:t>Milestones, deadlines, backup points</a:t>
            </a:r>
          </a:p>
        </p:txBody>
      </p:sp>
    </p:spTree>
    <p:extLst>
      <p:ext uri="{BB962C8B-B14F-4D97-AF65-F5344CB8AC3E}">
        <p14:creationId xmlns:p14="http://schemas.microsoft.com/office/powerpoint/2010/main" val="457407063"/>
      </p:ext>
    </p:extLst>
  </p:cSld>
</p:sld>
</file>

<file path=ppt/slides/slide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32" name="Google Shape;132;p7">
            <a:extLst xmlns:a="http://schemas.openxmlformats.org/drawingml/2006/main">
              <a:ext uri="{FF2B5EF4-FFF2-40B4-BE49-F238E27FC236}">
                <a16:creationId xmlns:a16="http://schemas.microsoft.com/office/drawing/2014/main" id="{BA7B1675-21AC-46C9-81A9-4EAED326FC5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3" name="Google Shape;133;p7">
            <a:extLst xmlns:a="http://schemas.openxmlformats.org/drawingml/2006/main">
              <a:ext uri="{FF2B5EF4-FFF2-40B4-BE49-F238E27FC236}">
                <a16:creationId xmlns:a16="http://schemas.microsoft.com/office/drawing/2014/main" id="{BC0EEC34-C5F4-4A9B-A974-3B64EEF75292}"/>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4" name="Google Shape;134;p7">
            <a:extLst xmlns:a="http://schemas.openxmlformats.org/drawingml/2006/main">
              <a:ext uri="{FF2B5EF4-FFF2-40B4-BE49-F238E27FC236}">
                <a16:creationId xmlns:a16="http://schemas.microsoft.com/office/drawing/2014/main" id="{D690085B-AB79-4FC2-977B-A0628524C6A8}"/>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5" name="Google Shape;135;p7">
            <a:extLst xmlns:a="http://schemas.openxmlformats.org/drawingml/2006/main">
              <a:ext uri="{FF2B5EF4-FFF2-40B4-BE49-F238E27FC236}">
                <a16:creationId xmlns:a16="http://schemas.microsoft.com/office/drawing/2014/main" id="{83014321-D0EE-4A46-B40F-6EA948473661}"/>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SECTION 1</a:t>
            </a:r>
          </a:p>
        </p:txBody>
      </p:sp>
      <p:sp>
        <p:nvSpPr>
          <p:cNvPr id="136" name="Google Shape;136;p7">
            <a:extLst xmlns:a="http://schemas.openxmlformats.org/drawingml/2006/main">
              <a:ext uri="{FF2B5EF4-FFF2-40B4-BE49-F238E27FC236}">
                <a16:creationId xmlns:a16="http://schemas.microsoft.com/office/drawing/2014/main" id="{653456C4-56F5-46BF-B840-25C005BB0DBC}"/>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STARLAB</a:t>
            </a:r>
          </a:p>
        </p:txBody>
      </p:sp>
      <p:sp>
        <p:nvSpPr>
          <p:cNvPr id="137" name="Google Shape;137;p7">
            <a:extLst xmlns:a="http://schemas.openxmlformats.org/drawingml/2006/main">
              <a:ext uri="{FF2B5EF4-FFF2-40B4-BE49-F238E27FC236}">
                <a16:creationId xmlns:a16="http://schemas.microsoft.com/office/drawing/2014/main" id="{B5E1D60F-024A-41A5-86B4-9A64089B4C9A}"/>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SECTION 1: PROJECT FOCUS</a:t>
            </a:r>
          </a:p>
        </p:txBody>
      </p:sp>
      <p:cxnSp>
        <p:nvCxnSpPr>
          <p:cNvPr id="178" name="Google Shape;138;p7"/>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139" name="Google Shape;139;p7">
            <a:extLst xmlns:a="http://schemas.openxmlformats.org/drawingml/2006/main">
              <a:ext uri="{FF2B5EF4-FFF2-40B4-BE49-F238E27FC236}">
                <a16:creationId xmlns:a16="http://schemas.microsoft.com/office/drawing/2014/main" id="{23316D2A-E021-43CE-ACC6-4560F9870330}"/>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b="0" i="0" u="none" cap="none">
                <a:solidFill>
                  <a:srgbClr val="B8B8B8"/>
                </a:solidFill>
                <a:latin typeface="Arial"/>
                <a:ea typeface="Arial"/>
                <a:cs typeface="Arial"/>
              </a:rPr>
              <a:t>The plan begins with a question, problem, or goal that can produce evidence.</a:t>
            </a:r>
          </a:p>
        </p:txBody>
      </p:sp>
      <p:sp>
        <p:nvSpPr>
          <p:cNvPr id="140" name="Google Shape;140;p7">
            <a:extLst xmlns:a="http://schemas.openxmlformats.org/drawingml/2006/main">
              <a:ext uri="{FF2B5EF4-FFF2-40B4-BE49-F238E27FC236}">
                <a16:creationId xmlns:a16="http://schemas.microsoft.com/office/drawing/2014/main" id="{A6A371FD-2F95-40A3-8FEA-1BFDBFE5F484}"/>
              </a:ext>
            </a:extLst>
          </p:cNvPr>
          <p:cNvSpPr>
            <a:spLocks xmlns:a="http://schemas.openxmlformats.org/drawingml/2006/main" noGrp="1"/>
          </p:cNvSpPr>
          <p:nvPr/>
        </p:nvSpPr>
        <p:spPr>
          <a:xfrm xmlns:a="http://schemas.openxmlformats.org/drawingml/2006/main">
            <a:off x="822960" y="1417320"/>
            <a:ext cx="3474720" cy="2057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1" name="Google Shape;141;p7">
            <a:extLst xmlns:a="http://schemas.openxmlformats.org/drawingml/2006/main">
              <a:ext uri="{FF2B5EF4-FFF2-40B4-BE49-F238E27FC236}">
                <a16:creationId xmlns:a16="http://schemas.microsoft.com/office/drawing/2014/main" id="{E347D526-5188-480F-AA4C-D882613CAB6D}"/>
              </a:ext>
            </a:extLst>
          </p:cNvPr>
          <p:cNvSpPr>
            <a:spLocks xmlns:a="http://schemas.openxmlformats.org/drawingml/2006/main" noGrp="1"/>
          </p:cNvSpPr>
          <p:nvPr/>
        </p:nvSpPr>
        <p:spPr>
          <a:xfrm xmlns:a="http://schemas.openxmlformats.org/drawingml/2006/main">
            <a:off x="822960" y="1417320"/>
            <a:ext cx="54864" cy="2057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2" name="Google Shape;142;p7">
            <a:extLst xmlns:a="http://schemas.openxmlformats.org/drawingml/2006/main">
              <a:ext uri="{FF2B5EF4-FFF2-40B4-BE49-F238E27FC236}">
                <a16:creationId xmlns:a16="http://schemas.microsoft.com/office/drawing/2014/main" id="{0B3BAF08-A1A3-4BE6-AF05-1A5826AC5094}"/>
              </a:ext>
            </a:extLst>
          </p:cNvPr>
          <p:cNvSpPr>
            <a:spLocks xmlns:a="http://schemas.openxmlformats.org/drawingml/2006/main" noGrp="1"/>
          </p:cNvSpPr>
          <p:nvPr/>
        </p:nvSpPr>
        <p:spPr>
          <a:xfrm xmlns:a="http://schemas.openxmlformats.org/drawingml/2006/main">
            <a:off x="987552" y="1563624"/>
            <a:ext cx="31546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EXPERIMENTAL QUESTION</a:t>
            </a:r>
          </a:p>
        </p:txBody>
      </p:sp>
      <p:sp>
        <p:nvSpPr>
          <p:cNvPr id="143" name="Google Shape;143;p7">
            <a:extLst xmlns:a="http://schemas.openxmlformats.org/drawingml/2006/main">
              <a:ext uri="{FF2B5EF4-FFF2-40B4-BE49-F238E27FC236}">
                <a16:creationId xmlns:a16="http://schemas.microsoft.com/office/drawing/2014/main" id="{C85EA2D0-B68B-4AF5-A563-6A4B8C0C635E}"/>
              </a:ext>
            </a:extLst>
          </p:cNvPr>
          <p:cNvSpPr>
            <a:spLocks xmlns:a="http://schemas.openxmlformats.org/drawingml/2006/main" noGrp="1"/>
          </p:cNvSpPr>
          <p:nvPr/>
        </p:nvSpPr>
        <p:spPr>
          <a:xfrm xmlns:a="http://schemas.openxmlformats.org/drawingml/2006/main">
            <a:off x="987552" y="1856232"/>
            <a:ext cx="31546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How does [independent variable] affect [dependent variable] under controlled conditions?</a:t>
            </a:r>
          </a:p>
        </p:txBody>
      </p:sp>
      <p:sp>
        <p:nvSpPr>
          <p:cNvPr id="144" name="Google Shape;144;p7">
            <a:extLst xmlns:a="http://schemas.openxmlformats.org/drawingml/2006/main">
              <a:ext uri="{FF2B5EF4-FFF2-40B4-BE49-F238E27FC236}">
                <a16:creationId xmlns:a16="http://schemas.microsoft.com/office/drawing/2014/main" id="{A0CD9DED-360F-420C-8DFC-E0F653F23BD6}"/>
              </a:ext>
            </a:extLst>
          </p:cNvPr>
          <p:cNvSpPr>
            <a:spLocks xmlns:a="http://schemas.openxmlformats.org/drawingml/2006/main" noGrp="1"/>
          </p:cNvSpPr>
          <p:nvPr/>
        </p:nvSpPr>
        <p:spPr>
          <a:xfrm xmlns:a="http://schemas.openxmlformats.org/drawingml/2006/main">
            <a:off x="4434840" y="1417320"/>
            <a:ext cx="3474720" cy="2057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5" name="Google Shape;145;p7">
            <a:extLst xmlns:a="http://schemas.openxmlformats.org/drawingml/2006/main">
              <a:ext uri="{FF2B5EF4-FFF2-40B4-BE49-F238E27FC236}">
                <a16:creationId xmlns:a16="http://schemas.microsoft.com/office/drawing/2014/main" id="{5D854166-BF91-4AC2-97CC-E2E3B517CD4B}"/>
              </a:ext>
            </a:extLst>
          </p:cNvPr>
          <p:cNvSpPr>
            <a:spLocks xmlns:a="http://schemas.openxmlformats.org/drawingml/2006/main" noGrp="1"/>
          </p:cNvSpPr>
          <p:nvPr/>
        </p:nvSpPr>
        <p:spPr>
          <a:xfrm xmlns:a="http://schemas.openxmlformats.org/drawingml/2006/main">
            <a:off x="4434840" y="1417320"/>
            <a:ext cx="54864" cy="2057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6" name="Google Shape;146;p7">
            <a:extLst xmlns:a="http://schemas.openxmlformats.org/drawingml/2006/main">
              <a:ext uri="{FF2B5EF4-FFF2-40B4-BE49-F238E27FC236}">
                <a16:creationId xmlns:a16="http://schemas.microsoft.com/office/drawing/2014/main" id="{CE4E23BC-65A9-47CD-A4BB-52301BF9D147}"/>
              </a:ext>
            </a:extLst>
          </p:cNvPr>
          <p:cNvSpPr>
            <a:spLocks xmlns:a="http://schemas.openxmlformats.org/drawingml/2006/main" noGrp="1"/>
          </p:cNvSpPr>
          <p:nvPr/>
        </p:nvSpPr>
        <p:spPr>
          <a:xfrm xmlns:a="http://schemas.openxmlformats.org/drawingml/2006/main">
            <a:off x="4599432" y="1563624"/>
            <a:ext cx="31546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ENGINEERING PROBLEM</a:t>
            </a:r>
          </a:p>
        </p:txBody>
      </p:sp>
      <p:sp>
        <p:nvSpPr>
          <p:cNvPr id="147" name="Google Shape;147;p7">
            <a:extLst xmlns:a="http://schemas.openxmlformats.org/drawingml/2006/main">
              <a:ext uri="{FF2B5EF4-FFF2-40B4-BE49-F238E27FC236}">
                <a16:creationId xmlns:a16="http://schemas.microsoft.com/office/drawing/2014/main" id="{794867E6-55E4-4B09-9E66-EE203E58A3EB}"/>
              </a:ext>
            </a:extLst>
          </p:cNvPr>
          <p:cNvSpPr>
            <a:spLocks xmlns:a="http://schemas.openxmlformats.org/drawingml/2006/main" noGrp="1"/>
          </p:cNvSpPr>
          <p:nvPr/>
        </p:nvSpPr>
        <p:spPr>
          <a:xfrm xmlns:a="http://schemas.openxmlformats.org/drawingml/2006/main">
            <a:off x="4599432" y="1856232"/>
            <a:ext cx="31546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Design or improve [solution] to meet [criteria] within [constraints].</a:t>
            </a:r>
          </a:p>
        </p:txBody>
      </p:sp>
      <p:sp>
        <p:nvSpPr>
          <p:cNvPr id="148" name="Google Shape;148;p7">
            <a:extLst xmlns:a="http://schemas.openxmlformats.org/drawingml/2006/main">
              <a:ext uri="{FF2B5EF4-FFF2-40B4-BE49-F238E27FC236}">
                <a16:creationId xmlns:a16="http://schemas.microsoft.com/office/drawing/2014/main" id="{6DCDD672-C3BA-4EE9-9201-789A626E9BD0}"/>
              </a:ext>
            </a:extLst>
          </p:cNvPr>
          <p:cNvSpPr>
            <a:spLocks xmlns:a="http://schemas.openxmlformats.org/drawingml/2006/main" noGrp="1"/>
          </p:cNvSpPr>
          <p:nvPr/>
        </p:nvSpPr>
        <p:spPr>
          <a:xfrm xmlns:a="http://schemas.openxmlformats.org/drawingml/2006/main">
            <a:off x="8046720" y="1417320"/>
            <a:ext cx="3474720" cy="2057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9" name="Google Shape;149;p7">
            <a:extLst xmlns:a="http://schemas.openxmlformats.org/drawingml/2006/main">
              <a:ext uri="{FF2B5EF4-FFF2-40B4-BE49-F238E27FC236}">
                <a16:creationId xmlns:a16="http://schemas.microsoft.com/office/drawing/2014/main" id="{73453289-5498-4970-8DEB-B23BF9524859}"/>
              </a:ext>
            </a:extLst>
          </p:cNvPr>
          <p:cNvSpPr>
            <a:spLocks xmlns:a="http://schemas.openxmlformats.org/drawingml/2006/main" noGrp="1"/>
          </p:cNvSpPr>
          <p:nvPr/>
        </p:nvSpPr>
        <p:spPr>
          <a:xfrm xmlns:a="http://schemas.openxmlformats.org/drawingml/2006/main">
            <a:off x="8046720" y="1417320"/>
            <a:ext cx="54864" cy="2057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0" name="Google Shape;150;p7">
            <a:extLst xmlns:a="http://schemas.openxmlformats.org/drawingml/2006/main">
              <a:ext uri="{FF2B5EF4-FFF2-40B4-BE49-F238E27FC236}">
                <a16:creationId xmlns:a16="http://schemas.microsoft.com/office/drawing/2014/main" id="{3DDC00A6-C647-4FEF-BF3D-5C47CDD9D0EC}"/>
              </a:ext>
            </a:extLst>
          </p:cNvPr>
          <p:cNvSpPr>
            <a:spLocks xmlns:a="http://schemas.openxmlformats.org/drawingml/2006/main" noGrp="1"/>
          </p:cNvSpPr>
          <p:nvPr/>
        </p:nvSpPr>
        <p:spPr>
          <a:xfrm xmlns:a="http://schemas.openxmlformats.org/drawingml/2006/main">
            <a:off x="8211312" y="1563624"/>
            <a:ext cx="31546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DATA ANALYSIS QUESTION</a:t>
            </a:r>
          </a:p>
        </p:txBody>
      </p:sp>
      <p:sp>
        <p:nvSpPr>
          <p:cNvPr id="151" name="Google Shape;151;p7">
            <a:extLst xmlns:a="http://schemas.openxmlformats.org/drawingml/2006/main">
              <a:ext uri="{FF2B5EF4-FFF2-40B4-BE49-F238E27FC236}">
                <a16:creationId xmlns:a16="http://schemas.microsoft.com/office/drawing/2014/main" id="{1D5A5436-662D-486B-BBDC-82FC4C851C30}"/>
              </a:ext>
            </a:extLst>
          </p:cNvPr>
          <p:cNvSpPr>
            <a:spLocks xmlns:a="http://schemas.openxmlformats.org/drawingml/2006/main" noGrp="1"/>
          </p:cNvSpPr>
          <p:nvPr/>
        </p:nvSpPr>
        <p:spPr>
          <a:xfrm xmlns:a="http://schemas.openxmlformats.org/drawingml/2006/main">
            <a:off x="8211312" y="1856232"/>
            <a:ext cx="31546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How does [variable/pattern] relate to [outcome] in [data source]?</a:t>
            </a:r>
          </a:p>
        </p:txBody>
      </p:sp>
      <p:sp>
        <p:nvSpPr>
          <p:cNvPr id="152" name="Google Shape;152;p7">
            <a:extLst xmlns:a="http://schemas.openxmlformats.org/drawingml/2006/main">
              <a:ext uri="{FF2B5EF4-FFF2-40B4-BE49-F238E27FC236}">
                <a16:creationId xmlns:a16="http://schemas.microsoft.com/office/drawing/2014/main" id="{17628126-2F6C-41C7-B489-2C9D1976871A}"/>
              </a:ext>
            </a:extLst>
          </p:cNvPr>
          <p:cNvSpPr>
            <a:spLocks xmlns:a="http://schemas.openxmlformats.org/drawingml/2006/main" noGrp="1"/>
          </p:cNvSpPr>
          <p:nvPr/>
        </p:nvSpPr>
        <p:spPr>
          <a:xfrm xmlns:a="http://schemas.openxmlformats.org/drawingml/2006/main">
            <a:off x="1005840" y="3968496"/>
            <a:ext cx="100584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2000"/>
              <a:buFont typeface="Play"/>
              <a:buNone/>
            </a:pPr>
            <a:r>
              <a:rPr sz="2000" b="1" i="0" u="none" cap="none">
                <a:solidFill>
                  <a:srgbClr val="F2F2F2"/>
                </a:solidFill>
                <a:latin typeface="Play"/>
                <a:ea typeface="Play"/>
                <a:cs typeface="Play"/>
              </a:rPr>
              <a:t>If the focus is fuzzy, every later section gets weaker.</a:t>
            </a:r>
          </a:p>
        </p:txBody>
      </p:sp>
      <p:sp>
        <p:nvSpPr>
          <p:cNvPr id="153" name="Google Shape;153;p7">
            <a:extLst xmlns:a="http://schemas.openxmlformats.org/drawingml/2006/main">
              <a:ext uri="{FF2B5EF4-FFF2-40B4-BE49-F238E27FC236}">
                <a16:creationId xmlns:a16="http://schemas.microsoft.com/office/drawing/2014/main" id="{0155DE4E-5A28-427B-BECD-1A1A8BBBA3C7}"/>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4" name="Google Shape;154;p7">
            <a:extLst xmlns:a="http://schemas.openxmlformats.org/drawingml/2006/main">
              <a:ext uri="{FF2B5EF4-FFF2-40B4-BE49-F238E27FC236}">
                <a16:creationId xmlns:a16="http://schemas.microsoft.com/office/drawing/2014/main" id="{B27F2E4F-E077-4A03-90BB-C8CAD4F4C26F}"/>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5" name="Google Shape;155;p7">
            <a:extLst xmlns:a="http://schemas.openxmlformats.org/drawingml/2006/main">
              <a:ext uri="{FF2B5EF4-FFF2-40B4-BE49-F238E27FC236}">
                <a16:creationId xmlns:a16="http://schemas.microsoft.com/office/drawing/2014/main" id="{6A1C84D8-1030-4385-BD34-3E025F350504}"/>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i="0" u="none" cap="none">
                <a:solidFill>
                  <a:srgbClr val="F2F2F2"/>
                </a:solidFill>
                <a:latin typeface="Arial"/>
                <a:ea typeface="Arial"/>
                <a:cs typeface="Arial"/>
              </a:rPr>
              <a:t>STUDENT ACTIVITY</a:t>
            </a:r>
          </a:p>
        </p:txBody>
      </p:sp>
      <p:sp>
        <p:nvSpPr>
          <p:cNvPr id="156" name="Google Shape;156;p7">
            <a:extLst xmlns:a="http://schemas.openxmlformats.org/drawingml/2006/main">
              <a:ext uri="{FF2B5EF4-FFF2-40B4-BE49-F238E27FC236}">
                <a16:creationId xmlns:a16="http://schemas.microsoft.com/office/drawing/2014/main" id="{F5E68335-BFAE-4175-A8B9-CE511B8D8868}"/>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i="0" u="none" cap="none">
                <a:solidFill>
                  <a:srgbClr val="F2F2F2"/>
                </a:solidFill>
                <a:latin typeface="Arial"/>
                <a:ea typeface="Arial"/>
                <a:cs typeface="Arial"/>
              </a:rPr>
              <a:t>Focus statement check.</a:t>
            </a:r>
          </a:p>
        </p:txBody>
      </p:sp>
      <p:sp>
        <p:nvSpPr>
          <p:cNvPr id="157" name="Google Shape;157;p7">
            <a:extLst xmlns:a="http://schemas.openxmlformats.org/drawingml/2006/main">
              <a:ext uri="{FF2B5EF4-FFF2-40B4-BE49-F238E27FC236}">
                <a16:creationId xmlns:a16="http://schemas.microsoft.com/office/drawing/2014/main" id="{F32185E9-A941-46EA-BA45-219A31CAB0BB}"/>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Write your current focus in one sentence. Label it experimental, engineering, data analysis, or hybrid.</a:t>
            </a:r>
          </a:p>
        </p:txBody>
      </p:sp>
    </p:spTree>
    <p:extLst>
      <p:ext uri="{BB962C8B-B14F-4D97-AF65-F5344CB8AC3E}">
        <p14:creationId xmlns:p14="http://schemas.microsoft.com/office/powerpoint/2010/main" val="838393825"/>
      </p:ext>
    </p:extLst>
  </p:cSld>
</p:sld>
</file>

<file path=ppt/slides/slide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63" name="Google Shape;163;p8">
            <a:extLst xmlns:a="http://schemas.openxmlformats.org/drawingml/2006/main">
              <a:ext uri="{FF2B5EF4-FFF2-40B4-BE49-F238E27FC236}">
                <a16:creationId xmlns:a16="http://schemas.microsoft.com/office/drawing/2014/main" id="{6038CA65-1DFD-4AED-99D6-9E79B629C3D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4" name="Google Shape;164;p8">
            <a:extLst xmlns:a="http://schemas.openxmlformats.org/drawingml/2006/main">
              <a:ext uri="{FF2B5EF4-FFF2-40B4-BE49-F238E27FC236}">
                <a16:creationId xmlns:a16="http://schemas.microsoft.com/office/drawing/2014/main" id="{71D2969F-F783-4C6A-BE32-622F68173219}"/>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5" name="Google Shape;165;p8">
            <a:extLst xmlns:a="http://schemas.openxmlformats.org/drawingml/2006/main">
              <a:ext uri="{FF2B5EF4-FFF2-40B4-BE49-F238E27FC236}">
                <a16:creationId xmlns:a16="http://schemas.microsoft.com/office/drawing/2014/main" id="{A616951E-D0F0-4A13-9301-AEE3A3EB98A9}"/>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6" name="Google Shape;166;p8">
            <a:extLst xmlns:a="http://schemas.openxmlformats.org/drawingml/2006/main">
              <a:ext uri="{FF2B5EF4-FFF2-40B4-BE49-F238E27FC236}">
                <a16:creationId xmlns:a16="http://schemas.microsoft.com/office/drawing/2014/main" id="{0258BF85-D061-4536-9CC8-95F108BA860C}"/>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SECTION 2</a:t>
            </a:r>
          </a:p>
        </p:txBody>
      </p:sp>
      <p:sp>
        <p:nvSpPr>
          <p:cNvPr id="167" name="Google Shape;167;p8">
            <a:extLst xmlns:a="http://schemas.openxmlformats.org/drawingml/2006/main">
              <a:ext uri="{FF2B5EF4-FFF2-40B4-BE49-F238E27FC236}">
                <a16:creationId xmlns:a16="http://schemas.microsoft.com/office/drawing/2014/main" id="{13BDFD03-9A4E-4923-9013-A3F335F81F67}"/>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STARLAB</a:t>
            </a:r>
          </a:p>
        </p:txBody>
      </p:sp>
      <p:sp>
        <p:nvSpPr>
          <p:cNvPr id="168" name="Google Shape;168;p8">
            <a:extLst xmlns:a="http://schemas.openxmlformats.org/drawingml/2006/main">
              <a:ext uri="{FF2B5EF4-FFF2-40B4-BE49-F238E27FC236}">
                <a16:creationId xmlns:a16="http://schemas.microsoft.com/office/drawing/2014/main" id="{B77F4675-B844-4758-BE62-EFAAB5B61034}"/>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SECTION 2: BACKGROUND AND RATIONALE</a:t>
            </a:r>
          </a:p>
        </p:txBody>
      </p:sp>
      <p:cxnSp>
        <p:nvCxnSpPr>
          <p:cNvPr id="211" name="Google Shape;169;p8"/>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170" name="Google Shape;170;p8">
            <a:extLst xmlns:a="http://schemas.openxmlformats.org/drawingml/2006/main">
              <a:ext uri="{FF2B5EF4-FFF2-40B4-BE49-F238E27FC236}">
                <a16:creationId xmlns:a16="http://schemas.microsoft.com/office/drawing/2014/main" id="{7190F80D-7E0F-45E8-ACDF-CDE75D97F665}"/>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b="0" i="0" u="none" cap="none">
                <a:solidFill>
                  <a:srgbClr val="B8B8B8"/>
                </a:solidFill>
                <a:latin typeface="Arial"/>
                <a:ea typeface="Arial"/>
                <a:cs typeface="Arial"/>
              </a:rPr>
              <a:t>Background research should shape the plan, not just decorate the report.</a:t>
            </a:r>
          </a:p>
        </p:txBody>
      </p:sp>
      <p:sp>
        <p:nvSpPr>
          <p:cNvPr id="171" name="Google Shape;171;p8">
            <a:extLst xmlns:a="http://schemas.openxmlformats.org/drawingml/2006/main">
              <a:ext uri="{FF2B5EF4-FFF2-40B4-BE49-F238E27FC236}">
                <a16:creationId xmlns:a16="http://schemas.microsoft.com/office/drawing/2014/main" id="{A9999B10-C3E4-4B6B-BDD0-98F04326F6B1}"/>
              </a:ext>
            </a:extLst>
          </p:cNvPr>
          <p:cNvSpPr>
            <a:spLocks xmlns:a="http://schemas.openxmlformats.org/drawingml/2006/main" noGrp="1"/>
          </p:cNvSpPr>
          <p:nvPr/>
        </p:nvSpPr>
        <p:spPr>
          <a:xfrm xmlns:a="http://schemas.openxmlformats.org/drawingml/2006/main">
            <a:off x="914400" y="1417320"/>
            <a:ext cx="3154680" cy="16002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2" name="Google Shape;172;p8">
            <a:extLst xmlns:a="http://schemas.openxmlformats.org/drawingml/2006/main">
              <a:ext uri="{FF2B5EF4-FFF2-40B4-BE49-F238E27FC236}">
                <a16:creationId xmlns:a16="http://schemas.microsoft.com/office/drawing/2014/main" id="{431C3128-7866-41E2-97A2-34A9EE62FE6D}"/>
              </a:ext>
            </a:extLst>
          </p:cNvPr>
          <p:cNvSpPr>
            <a:spLocks xmlns:a="http://schemas.openxmlformats.org/drawingml/2006/main" noGrp="1"/>
          </p:cNvSpPr>
          <p:nvPr/>
        </p:nvSpPr>
        <p:spPr>
          <a:xfrm xmlns:a="http://schemas.openxmlformats.org/drawingml/2006/main">
            <a:off x="914400" y="1417320"/>
            <a:ext cx="54864" cy="16002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3" name="Google Shape;173;p8">
            <a:extLst xmlns:a="http://schemas.openxmlformats.org/drawingml/2006/main">
              <a:ext uri="{FF2B5EF4-FFF2-40B4-BE49-F238E27FC236}">
                <a16:creationId xmlns:a16="http://schemas.microsoft.com/office/drawing/2014/main" id="{CB1D2B2F-1A59-4B48-BF2E-6F63CEB14552}"/>
              </a:ext>
            </a:extLst>
          </p:cNvPr>
          <p:cNvSpPr>
            <a:spLocks xmlns:a="http://schemas.openxmlformats.org/drawingml/2006/main" noGrp="1"/>
          </p:cNvSpPr>
          <p:nvPr/>
        </p:nvSpPr>
        <p:spPr>
          <a:xfrm xmlns:a="http://schemas.openxmlformats.org/drawingml/2006/main">
            <a:off x="1078992" y="1563624"/>
            <a:ext cx="28346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CONCEPTS</a:t>
            </a:r>
          </a:p>
        </p:txBody>
      </p:sp>
      <p:sp>
        <p:nvSpPr>
          <p:cNvPr id="174" name="Google Shape;174;p8">
            <a:extLst xmlns:a="http://schemas.openxmlformats.org/drawingml/2006/main">
              <a:ext uri="{FF2B5EF4-FFF2-40B4-BE49-F238E27FC236}">
                <a16:creationId xmlns:a16="http://schemas.microsoft.com/office/drawing/2014/main" id="{335876BF-C9A1-4ADF-AA49-DA22B8372E26}"/>
              </a:ext>
            </a:extLst>
          </p:cNvPr>
          <p:cNvSpPr>
            <a:spLocks xmlns:a="http://schemas.openxmlformats.org/drawingml/2006/main" noGrp="1"/>
          </p:cNvSpPr>
          <p:nvPr/>
        </p:nvSpPr>
        <p:spPr>
          <a:xfrm xmlns:a="http://schemas.openxmlformats.org/drawingml/2006/main">
            <a:off x="1078992" y="1856232"/>
            <a:ext cx="2834640" cy="1097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What science or engineering ideas must be understood?</a:t>
            </a:r>
          </a:p>
        </p:txBody>
      </p:sp>
      <p:sp>
        <p:nvSpPr>
          <p:cNvPr id="175" name="Google Shape;175;p8">
            <a:extLst xmlns:a="http://schemas.openxmlformats.org/drawingml/2006/main">
              <a:ext uri="{FF2B5EF4-FFF2-40B4-BE49-F238E27FC236}">
                <a16:creationId xmlns:a16="http://schemas.microsoft.com/office/drawing/2014/main" id="{1563097D-2D2F-47FE-9D06-120A422784D2}"/>
              </a:ext>
            </a:extLst>
          </p:cNvPr>
          <p:cNvSpPr>
            <a:spLocks xmlns:a="http://schemas.openxmlformats.org/drawingml/2006/main" noGrp="1"/>
          </p:cNvSpPr>
          <p:nvPr/>
        </p:nvSpPr>
        <p:spPr>
          <a:xfrm xmlns:a="http://schemas.openxmlformats.org/drawingml/2006/main">
            <a:off x="4526280" y="1417320"/>
            <a:ext cx="3154680" cy="16002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6" name="Google Shape;176;p8">
            <a:extLst xmlns:a="http://schemas.openxmlformats.org/drawingml/2006/main">
              <a:ext uri="{FF2B5EF4-FFF2-40B4-BE49-F238E27FC236}">
                <a16:creationId xmlns:a16="http://schemas.microsoft.com/office/drawing/2014/main" id="{07D0B552-DBA2-41C0-B9C2-3239CFDDBB3A}"/>
              </a:ext>
            </a:extLst>
          </p:cNvPr>
          <p:cNvSpPr>
            <a:spLocks xmlns:a="http://schemas.openxmlformats.org/drawingml/2006/main" noGrp="1"/>
          </p:cNvSpPr>
          <p:nvPr/>
        </p:nvSpPr>
        <p:spPr>
          <a:xfrm xmlns:a="http://schemas.openxmlformats.org/drawingml/2006/main">
            <a:off x="4526280" y="1417320"/>
            <a:ext cx="54864" cy="16002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7" name="Google Shape;177;p8">
            <a:extLst xmlns:a="http://schemas.openxmlformats.org/drawingml/2006/main">
              <a:ext uri="{FF2B5EF4-FFF2-40B4-BE49-F238E27FC236}">
                <a16:creationId xmlns:a16="http://schemas.microsoft.com/office/drawing/2014/main" id="{7B420E61-778B-4E4C-9AA0-E0845A12C9C1}"/>
              </a:ext>
            </a:extLst>
          </p:cNvPr>
          <p:cNvSpPr>
            <a:spLocks xmlns:a="http://schemas.openxmlformats.org/drawingml/2006/main" noGrp="1"/>
          </p:cNvSpPr>
          <p:nvPr/>
        </p:nvSpPr>
        <p:spPr>
          <a:xfrm xmlns:a="http://schemas.openxmlformats.org/drawingml/2006/main">
            <a:off x="4690872" y="1563624"/>
            <a:ext cx="28346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METHODS</a:t>
            </a:r>
          </a:p>
        </p:txBody>
      </p:sp>
      <p:sp>
        <p:nvSpPr>
          <p:cNvPr id="178" name="Google Shape;178;p8">
            <a:extLst xmlns:a="http://schemas.openxmlformats.org/drawingml/2006/main">
              <a:ext uri="{FF2B5EF4-FFF2-40B4-BE49-F238E27FC236}">
                <a16:creationId xmlns:a16="http://schemas.microsoft.com/office/drawing/2014/main" id="{E7A9FA84-FE1F-4BD0-96E1-762B0492CDBA}"/>
              </a:ext>
            </a:extLst>
          </p:cNvPr>
          <p:cNvSpPr>
            <a:spLocks xmlns:a="http://schemas.openxmlformats.org/drawingml/2006/main" noGrp="1"/>
          </p:cNvSpPr>
          <p:nvPr/>
        </p:nvSpPr>
        <p:spPr>
          <a:xfrm xmlns:a="http://schemas.openxmlformats.org/drawingml/2006/main">
            <a:off x="4690872" y="1856232"/>
            <a:ext cx="2834640" cy="1097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What tools, techniques, or procedures have others used?</a:t>
            </a:r>
          </a:p>
        </p:txBody>
      </p:sp>
      <p:sp>
        <p:nvSpPr>
          <p:cNvPr id="179" name="Google Shape;179;p8">
            <a:extLst xmlns:a="http://schemas.openxmlformats.org/drawingml/2006/main">
              <a:ext uri="{FF2B5EF4-FFF2-40B4-BE49-F238E27FC236}">
                <a16:creationId xmlns:a16="http://schemas.microsoft.com/office/drawing/2014/main" id="{04DC60C8-4EC5-4F63-9D66-E305B254D036}"/>
              </a:ext>
            </a:extLst>
          </p:cNvPr>
          <p:cNvSpPr>
            <a:spLocks xmlns:a="http://schemas.openxmlformats.org/drawingml/2006/main" noGrp="1"/>
          </p:cNvSpPr>
          <p:nvPr/>
        </p:nvSpPr>
        <p:spPr>
          <a:xfrm xmlns:a="http://schemas.openxmlformats.org/drawingml/2006/main">
            <a:off x="8138160" y="1417320"/>
            <a:ext cx="3154680" cy="16002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0" name="Google Shape;180;p8">
            <a:extLst xmlns:a="http://schemas.openxmlformats.org/drawingml/2006/main">
              <a:ext uri="{FF2B5EF4-FFF2-40B4-BE49-F238E27FC236}">
                <a16:creationId xmlns:a16="http://schemas.microsoft.com/office/drawing/2014/main" id="{A4B68F9E-975A-4925-81C4-276D39AF242F}"/>
              </a:ext>
            </a:extLst>
          </p:cNvPr>
          <p:cNvSpPr>
            <a:spLocks xmlns:a="http://schemas.openxmlformats.org/drawingml/2006/main" noGrp="1"/>
          </p:cNvSpPr>
          <p:nvPr/>
        </p:nvSpPr>
        <p:spPr>
          <a:xfrm xmlns:a="http://schemas.openxmlformats.org/drawingml/2006/main">
            <a:off x="8138160" y="1417320"/>
            <a:ext cx="54864" cy="16002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1" name="Google Shape;181;p8">
            <a:extLst xmlns:a="http://schemas.openxmlformats.org/drawingml/2006/main">
              <a:ext uri="{FF2B5EF4-FFF2-40B4-BE49-F238E27FC236}">
                <a16:creationId xmlns:a16="http://schemas.microsoft.com/office/drawing/2014/main" id="{BB5B6A09-CA8A-4168-AF33-5F411A0FAEC0}"/>
              </a:ext>
            </a:extLst>
          </p:cNvPr>
          <p:cNvSpPr>
            <a:spLocks xmlns:a="http://schemas.openxmlformats.org/drawingml/2006/main" noGrp="1"/>
          </p:cNvSpPr>
          <p:nvPr/>
        </p:nvSpPr>
        <p:spPr>
          <a:xfrm xmlns:a="http://schemas.openxmlformats.org/drawingml/2006/main">
            <a:off x="8302752" y="1563624"/>
            <a:ext cx="28346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RISKS</a:t>
            </a:r>
          </a:p>
        </p:txBody>
      </p:sp>
      <p:sp>
        <p:nvSpPr>
          <p:cNvPr id="182" name="Google Shape;182;p8">
            <a:extLst xmlns:a="http://schemas.openxmlformats.org/drawingml/2006/main">
              <a:ext uri="{FF2B5EF4-FFF2-40B4-BE49-F238E27FC236}">
                <a16:creationId xmlns:a16="http://schemas.microsoft.com/office/drawing/2014/main" id="{97481858-E178-4D66-B460-9363FB8D95DA}"/>
              </a:ext>
            </a:extLst>
          </p:cNvPr>
          <p:cNvSpPr>
            <a:spLocks xmlns:a="http://schemas.openxmlformats.org/drawingml/2006/main" noGrp="1"/>
          </p:cNvSpPr>
          <p:nvPr/>
        </p:nvSpPr>
        <p:spPr>
          <a:xfrm xmlns:a="http://schemas.openxmlformats.org/drawingml/2006/main">
            <a:off x="8302752" y="1856232"/>
            <a:ext cx="2834640" cy="1097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What safety, ethics, or practical issues are known?</a:t>
            </a:r>
          </a:p>
        </p:txBody>
      </p:sp>
      <p:sp>
        <p:nvSpPr>
          <p:cNvPr id="183" name="Google Shape;183;p8">
            <a:extLst xmlns:a="http://schemas.openxmlformats.org/drawingml/2006/main">
              <a:ext uri="{FF2B5EF4-FFF2-40B4-BE49-F238E27FC236}">
                <a16:creationId xmlns:a16="http://schemas.microsoft.com/office/drawing/2014/main" id="{ECEE08AA-33F8-4E05-B2C4-7740AD1D1760}"/>
              </a:ext>
            </a:extLst>
          </p:cNvPr>
          <p:cNvSpPr>
            <a:spLocks xmlns:a="http://schemas.openxmlformats.org/drawingml/2006/main" noGrp="1"/>
          </p:cNvSpPr>
          <p:nvPr/>
        </p:nvSpPr>
        <p:spPr>
          <a:xfrm xmlns:a="http://schemas.openxmlformats.org/drawingml/2006/main">
            <a:off x="960120" y="3429000"/>
            <a:ext cx="10241280" cy="621792"/>
          </a:xfrm>
          <a:prstGeom xmlns:a="http://schemas.openxmlformats.org/drawingml/2006/main" prst="rect">
            <a:avLst/>
          </a:prstGeom>
          <a:solidFill xmlns:a="http://schemas.openxmlformats.org/drawingml/2006/main">
            <a:srgbClr val="0A0A0A"/>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4" name="Google Shape;184;p8">
            <a:extLst xmlns:a="http://schemas.openxmlformats.org/drawingml/2006/main">
              <a:ext uri="{FF2B5EF4-FFF2-40B4-BE49-F238E27FC236}">
                <a16:creationId xmlns:a16="http://schemas.microsoft.com/office/drawing/2014/main" id="{97DA8868-5FEE-4B42-9729-E7C1D1A920F0}"/>
              </a:ext>
            </a:extLst>
          </p:cNvPr>
          <p:cNvSpPr>
            <a:spLocks xmlns:a="http://schemas.openxmlformats.org/drawingml/2006/main" noGrp="1"/>
          </p:cNvSpPr>
          <p:nvPr/>
        </p:nvSpPr>
        <p:spPr>
          <a:xfrm xmlns:a="http://schemas.openxmlformats.org/drawingml/2006/main">
            <a:off x="1143000" y="3584448"/>
            <a:ext cx="246888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000"/>
              <a:buFont typeface="Arial"/>
              <a:buNone/>
            </a:pPr>
            <a:r>
              <a:rPr sz="1000" b="1" i="0" u="none" cap="none">
                <a:solidFill>
                  <a:srgbClr val="E22B27"/>
                </a:solidFill>
                <a:latin typeface="Arial"/>
                <a:ea typeface="Arial"/>
                <a:cs typeface="Arial"/>
              </a:rPr>
              <a:t>Minimum planning-stage sources:</a:t>
            </a:r>
          </a:p>
        </p:txBody>
      </p:sp>
      <p:sp>
        <p:nvSpPr>
          <p:cNvPr id="185" name="Google Shape;185;p8">
            <a:extLst xmlns:a="http://schemas.openxmlformats.org/drawingml/2006/main">
              <a:ext uri="{FF2B5EF4-FFF2-40B4-BE49-F238E27FC236}">
                <a16:creationId xmlns:a16="http://schemas.microsoft.com/office/drawing/2014/main" id="{05070EF3-7752-42E5-9A4A-C556FB62E677}"/>
              </a:ext>
            </a:extLst>
          </p:cNvPr>
          <p:cNvSpPr>
            <a:spLocks xmlns:a="http://schemas.openxmlformats.org/drawingml/2006/main" noGrp="1"/>
          </p:cNvSpPr>
          <p:nvPr/>
        </p:nvSpPr>
        <p:spPr>
          <a:xfrm xmlns:a="http://schemas.openxmlformats.org/drawingml/2006/main">
            <a:off x="3703320" y="3547872"/>
            <a:ext cx="7132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120"/>
              <a:buFont typeface="Arial"/>
              <a:buNone/>
            </a:pPr>
            <a:r>
              <a:rPr sz="1120" b="0" i="0" u="none" cap="none">
                <a:solidFill>
                  <a:srgbClr val="F2F2F2"/>
                </a:solidFill>
                <a:latin typeface="Arial"/>
                <a:ea typeface="Arial"/>
                <a:cs typeface="Arial"/>
              </a:rPr>
              <a:t>1 source for science background  •  1 source for method/design/measurement  •  1 source that helps define risk, context, or prior work</a:t>
            </a:r>
          </a:p>
        </p:txBody>
      </p:sp>
      <p:sp>
        <p:nvSpPr>
          <p:cNvPr id="186" name="Google Shape;186;p8">
            <a:extLst xmlns:a="http://schemas.openxmlformats.org/drawingml/2006/main">
              <a:ext uri="{FF2B5EF4-FFF2-40B4-BE49-F238E27FC236}">
                <a16:creationId xmlns:a16="http://schemas.microsoft.com/office/drawing/2014/main" id="{67896DAD-390A-414C-870F-3228C211A543}"/>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7" name="Google Shape;187;p8">
            <a:extLst xmlns:a="http://schemas.openxmlformats.org/drawingml/2006/main">
              <a:ext uri="{FF2B5EF4-FFF2-40B4-BE49-F238E27FC236}">
                <a16:creationId xmlns:a16="http://schemas.microsoft.com/office/drawing/2014/main" id="{74C9B2EE-41A6-44F2-A074-AAFF8F7A5D55}"/>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8" name="Google Shape;188;p8">
            <a:extLst xmlns:a="http://schemas.openxmlformats.org/drawingml/2006/main">
              <a:ext uri="{FF2B5EF4-FFF2-40B4-BE49-F238E27FC236}">
                <a16:creationId xmlns:a16="http://schemas.microsoft.com/office/drawing/2014/main" id="{1B08CEFA-8D92-4361-B34B-770164DD49F1}"/>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i="0" u="none" cap="none">
                <a:solidFill>
                  <a:srgbClr val="F2F2F2"/>
                </a:solidFill>
                <a:latin typeface="Arial"/>
                <a:ea typeface="Arial"/>
                <a:cs typeface="Arial"/>
              </a:rPr>
              <a:t>STUDENT ACTIVITY</a:t>
            </a:r>
          </a:p>
        </p:txBody>
      </p:sp>
      <p:sp>
        <p:nvSpPr>
          <p:cNvPr id="189" name="Google Shape;189;p8">
            <a:extLst xmlns:a="http://schemas.openxmlformats.org/drawingml/2006/main">
              <a:ext uri="{FF2B5EF4-FFF2-40B4-BE49-F238E27FC236}">
                <a16:creationId xmlns:a16="http://schemas.microsoft.com/office/drawing/2014/main" id="{A370F7EC-CDE2-454C-8216-500B8217C6FC}"/>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i="0" u="none" cap="none">
                <a:solidFill>
                  <a:srgbClr val="F2F2F2"/>
                </a:solidFill>
                <a:latin typeface="Arial"/>
                <a:ea typeface="Arial"/>
                <a:cs typeface="Arial"/>
              </a:rPr>
              <a:t>Source-purpose check.</a:t>
            </a:r>
          </a:p>
        </p:txBody>
      </p:sp>
      <p:sp>
        <p:nvSpPr>
          <p:cNvPr id="190" name="Google Shape;190;p8">
            <a:extLst xmlns:a="http://schemas.openxmlformats.org/drawingml/2006/main">
              <a:ext uri="{FF2B5EF4-FFF2-40B4-BE49-F238E27FC236}">
                <a16:creationId xmlns:a16="http://schemas.microsoft.com/office/drawing/2014/main" id="{5FB00DC8-6586-4C74-8474-363A35CC3593}"/>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For one source you found, write: “This source changes my plan because…”</a:t>
            </a:r>
          </a:p>
        </p:txBody>
      </p:sp>
    </p:spTree>
    <p:extLst>
      <p:ext uri="{BB962C8B-B14F-4D97-AF65-F5344CB8AC3E}">
        <p14:creationId xmlns:p14="http://schemas.microsoft.com/office/powerpoint/2010/main" val="987680032"/>
      </p:ext>
    </p:extLst>
  </p:cSld>
</p:sld>
</file>

<file path=ppt/slides/slide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96" name="Google Shape;196;p9">
            <a:extLst xmlns:a="http://schemas.openxmlformats.org/drawingml/2006/main">
              <a:ext uri="{FF2B5EF4-FFF2-40B4-BE49-F238E27FC236}">
                <a16:creationId xmlns:a16="http://schemas.microsoft.com/office/drawing/2014/main" id="{48C85F83-7F04-4F4E-AE74-001023AB2FC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7" name="Google Shape;197;p9">
            <a:extLst xmlns:a="http://schemas.openxmlformats.org/drawingml/2006/main">
              <a:ext uri="{FF2B5EF4-FFF2-40B4-BE49-F238E27FC236}">
                <a16:creationId xmlns:a16="http://schemas.microsoft.com/office/drawing/2014/main" id="{2F43D186-32A9-46B0-A6C5-63C3884AEC6C}"/>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8" name="Google Shape;198;p9">
            <a:extLst xmlns:a="http://schemas.openxmlformats.org/drawingml/2006/main">
              <a:ext uri="{FF2B5EF4-FFF2-40B4-BE49-F238E27FC236}">
                <a16:creationId xmlns:a16="http://schemas.microsoft.com/office/drawing/2014/main" id="{DCCB0C6F-C99E-4C0E-8D81-951C3D455721}"/>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9" name="Google Shape;199;p9">
            <a:extLst xmlns:a="http://schemas.openxmlformats.org/drawingml/2006/main">
              <a:ext uri="{FF2B5EF4-FFF2-40B4-BE49-F238E27FC236}">
                <a16:creationId xmlns:a16="http://schemas.microsoft.com/office/drawing/2014/main" id="{8DFA5617-2815-4975-A16A-27AEBA7DEA4D}"/>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SECTION 3</a:t>
            </a:r>
          </a:p>
        </p:txBody>
      </p:sp>
      <p:sp>
        <p:nvSpPr>
          <p:cNvPr id="200" name="Google Shape;200;p9">
            <a:extLst xmlns:a="http://schemas.openxmlformats.org/drawingml/2006/main">
              <a:ext uri="{FF2B5EF4-FFF2-40B4-BE49-F238E27FC236}">
                <a16:creationId xmlns:a16="http://schemas.microsoft.com/office/drawing/2014/main" id="{ADAFDB6A-B684-4009-9465-A3F0757D1E00}"/>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STARLAB</a:t>
            </a:r>
          </a:p>
        </p:txBody>
      </p:sp>
      <p:sp>
        <p:nvSpPr>
          <p:cNvPr id="201" name="Google Shape;201;p9">
            <a:extLst xmlns:a="http://schemas.openxmlformats.org/drawingml/2006/main">
              <a:ext uri="{FF2B5EF4-FFF2-40B4-BE49-F238E27FC236}">
                <a16:creationId xmlns:a16="http://schemas.microsoft.com/office/drawing/2014/main" id="{72D3C772-123D-4782-BF43-722BF6ACBF00}"/>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SECTION 3: HYPOTHESIS OR DESIGN CRITERIA</a:t>
            </a:r>
          </a:p>
        </p:txBody>
      </p:sp>
      <p:cxnSp>
        <p:nvCxnSpPr>
          <p:cNvPr id="238" name="Google Shape;202;p9"/>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203" name="Google Shape;203;p9">
            <a:extLst xmlns:a="http://schemas.openxmlformats.org/drawingml/2006/main">
              <a:ext uri="{FF2B5EF4-FFF2-40B4-BE49-F238E27FC236}">
                <a16:creationId xmlns:a16="http://schemas.microsoft.com/office/drawing/2014/main" id="{4E318DAB-968E-4F78-B0F7-BDE5EC318AE4}"/>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b="0" i="0" u="none" cap="none">
                <a:solidFill>
                  <a:srgbClr val="B8B8B8"/>
                </a:solidFill>
                <a:latin typeface="Arial"/>
                <a:ea typeface="Arial"/>
                <a:cs typeface="Arial"/>
              </a:rPr>
              <a:t>This section defines what the project expects or what success means.</a:t>
            </a:r>
          </a:p>
        </p:txBody>
      </p:sp>
      <p:sp>
        <p:nvSpPr>
          <p:cNvPr id="204" name="Google Shape;204;p9">
            <a:extLst xmlns:a="http://schemas.openxmlformats.org/drawingml/2006/main">
              <a:ext uri="{FF2B5EF4-FFF2-40B4-BE49-F238E27FC236}">
                <a16:creationId xmlns:a16="http://schemas.microsoft.com/office/drawing/2014/main" id="{E07FA337-C0BF-491C-A8D8-ECC283D94283}"/>
              </a:ext>
            </a:extLst>
          </p:cNvPr>
          <p:cNvSpPr>
            <a:spLocks xmlns:a="http://schemas.openxmlformats.org/drawingml/2006/main" noGrp="1"/>
          </p:cNvSpPr>
          <p:nvPr/>
        </p:nvSpPr>
        <p:spPr>
          <a:xfrm xmlns:a="http://schemas.openxmlformats.org/drawingml/2006/main">
            <a:off x="914400" y="1417320"/>
            <a:ext cx="4892040" cy="201168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5" name="Google Shape;205;p9">
            <a:extLst xmlns:a="http://schemas.openxmlformats.org/drawingml/2006/main">
              <a:ext uri="{FF2B5EF4-FFF2-40B4-BE49-F238E27FC236}">
                <a16:creationId xmlns:a16="http://schemas.microsoft.com/office/drawing/2014/main" id="{0F18FC33-03CF-4756-A528-F4E086E7F36F}"/>
              </a:ext>
            </a:extLst>
          </p:cNvPr>
          <p:cNvSpPr>
            <a:spLocks xmlns:a="http://schemas.openxmlformats.org/drawingml/2006/main" noGrp="1"/>
          </p:cNvSpPr>
          <p:nvPr/>
        </p:nvSpPr>
        <p:spPr>
          <a:xfrm xmlns:a="http://schemas.openxmlformats.org/drawingml/2006/main">
            <a:off x="914400" y="1417320"/>
            <a:ext cx="54864" cy="201168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6" name="Google Shape;206;p9">
            <a:extLst xmlns:a="http://schemas.openxmlformats.org/drawingml/2006/main">
              <a:ext uri="{FF2B5EF4-FFF2-40B4-BE49-F238E27FC236}">
                <a16:creationId xmlns:a16="http://schemas.microsoft.com/office/drawing/2014/main" id="{DE7D4F76-7838-4B95-9C34-8087018E9393}"/>
              </a:ext>
            </a:extLst>
          </p:cNvPr>
          <p:cNvSpPr>
            <a:spLocks xmlns:a="http://schemas.openxmlformats.org/drawingml/2006/main" noGrp="1"/>
          </p:cNvSpPr>
          <p:nvPr/>
        </p:nvSpPr>
        <p:spPr>
          <a:xfrm xmlns:a="http://schemas.openxmlformats.org/drawingml/2006/main">
            <a:off x="1078992" y="1563624"/>
            <a:ext cx="457200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EXPERIMENTAL HYPOTHESIS</a:t>
            </a:r>
          </a:p>
        </p:txBody>
      </p:sp>
      <p:sp>
        <p:nvSpPr>
          <p:cNvPr id="207" name="Google Shape;207;p9">
            <a:extLst xmlns:a="http://schemas.openxmlformats.org/drawingml/2006/main">
              <a:ext uri="{FF2B5EF4-FFF2-40B4-BE49-F238E27FC236}">
                <a16:creationId xmlns:a16="http://schemas.microsoft.com/office/drawing/2014/main" id="{EAC51D73-9A85-4D22-999E-5A8CB3391FC5}"/>
              </a:ext>
            </a:extLst>
          </p:cNvPr>
          <p:cNvSpPr>
            <a:spLocks xmlns:a="http://schemas.openxmlformats.org/drawingml/2006/main" noGrp="1"/>
          </p:cNvSpPr>
          <p:nvPr/>
        </p:nvSpPr>
        <p:spPr>
          <a:xfrm xmlns:a="http://schemas.openxmlformats.org/drawingml/2006/main">
            <a:off x="1078992" y="1856232"/>
            <a:ext cx="4572000" cy="1508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If [independent variable] changes, then [dependent variable] will change in this way because [scientific reasoning].</a:t>
            </a:r>
          </a:p>
        </p:txBody>
      </p:sp>
      <p:sp>
        <p:nvSpPr>
          <p:cNvPr id="208" name="Google Shape;208;p9">
            <a:extLst xmlns:a="http://schemas.openxmlformats.org/drawingml/2006/main">
              <a:ext uri="{FF2B5EF4-FFF2-40B4-BE49-F238E27FC236}">
                <a16:creationId xmlns:a16="http://schemas.microsoft.com/office/drawing/2014/main" id="{91EF14D5-710E-4DD2-8035-E48393704893}"/>
              </a:ext>
            </a:extLst>
          </p:cNvPr>
          <p:cNvSpPr>
            <a:spLocks xmlns:a="http://schemas.openxmlformats.org/drawingml/2006/main" noGrp="1"/>
          </p:cNvSpPr>
          <p:nvPr/>
        </p:nvSpPr>
        <p:spPr>
          <a:xfrm xmlns:a="http://schemas.openxmlformats.org/drawingml/2006/main">
            <a:off x="6400800" y="1417320"/>
            <a:ext cx="4892040" cy="201168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9" name="Google Shape;209;p9">
            <a:extLst xmlns:a="http://schemas.openxmlformats.org/drawingml/2006/main">
              <a:ext uri="{FF2B5EF4-FFF2-40B4-BE49-F238E27FC236}">
                <a16:creationId xmlns:a16="http://schemas.microsoft.com/office/drawing/2014/main" id="{08CF6464-FA5A-479F-91DB-D7380FEE2DDA}"/>
              </a:ext>
            </a:extLst>
          </p:cNvPr>
          <p:cNvSpPr>
            <a:spLocks xmlns:a="http://schemas.openxmlformats.org/drawingml/2006/main" noGrp="1"/>
          </p:cNvSpPr>
          <p:nvPr/>
        </p:nvSpPr>
        <p:spPr>
          <a:xfrm xmlns:a="http://schemas.openxmlformats.org/drawingml/2006/main">
            <a:off x="6400800" y="1417320"/>
            <a:ext cx="54864" cy="201168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0" name="Google Shape;210;p9">
            <a:extLst xmlns:a="http://schemas.openxmlformats.org/drawingml/2006/main">
              <a:ext uri="{FF2B5EF4-FFF2-40B4-BE49-F238E27FC236}">
                <a16:creationId xmlns:a16="http://schemas.microsoft.com/office/drawing/2014/main" id="{AF97D2A7-E822-40DD-A306-F3FCD64B3120}"/>
              </a:ext>
            </a:extLst>
          </p:cNvPr>
          <p:cNvSpPr>
            <a:spLocks xmlns:a="http://schemas.openxmlformats.org/drawingml/2006/main" noGrp="1"/>
          </p:cNvSpPr>
          <p:nvPr/>
        </p:nvSpPr>
        <p:spPr>
          <a:xfrm xmlns:a="http://schemas.openxmlformats.org/drawingml/2006/main">
            <a:off x="6565392" y="1563624"/>
            <a:ext cx="457200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ENGINEERING CRITERIA</a:t>
            </a:r>
          </a:p>
        </p:txBody>
      </p:sp>
      <p:sp>
        <p:nvSpPr>
          <p:cNvPr id="211" name="Google Shape;211;p9">
            <a:extLst xmlns:a="http://schemas.openxmlformats.org/drawingml/2006/main">
              <a:ext uri="{FF2B5EF4-FFF2-40B4-BE49-F238E27FC236}">
                <a16:creationId xmlns:a16="http://schemas.microsoft.com/office/drawing/2014/main" id="{3202E1CC-A7D2-4ACB-9ACA-83A65F3FC420}"/>
              </a:ext>
            </a:extLst>
          </p:cNvPr>
          <p:cNvSpPr>
            <a:spLocks xmlns:a="http://schemas.openxmlformats.org/drawingml/2006/main" noGrp="1"/>
          </p:cNvSpPr>
          <p:nvPr/>
        </p:nvSpPr>
        <p:spPr>
          <a:xfrm xmlns:a="http://schemas.openxmlformats.org/drawingml/2006/main">
            <a:off x="6565392" y="1856232"/>
            <a:ext cx="4572000" cy="1508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b="0" i="0" u="none" cap="none">
                <a:solidFill>
                  <a:srgbClr val="F2F2F2"/>
                </a:solidFill>
                <a:latin typeface="Arial"/>
                <a:ea typeface="Arial"/>
                <a:cs typeface="Arial"/>
              </a:rPr>
              <a:t>The design will be considered successful if it [measurable performance goal] while staying within [constraints].</a:t>
            </a:r>
          </a:p>
        </p:txBody>
      </p:sp>
      <p:sp>
        <p:nvSpPr>
          <p:cNvPr id="212" name="Google Shape;212;p9">
            <a:extLst xmlns:a="http://schemas.openxmlformats.org/drawingml/2006/main">
              <a:ext uri="{FF2B5EF4-FFF2-40B4-BE49-F238E27FC236}">
                <a16:creationId xmlns:a16="http://schemas.microsoft.com/office/drawing/2014/main" id="{86283039-F820-4309-B74F-D995EBC9C6D6}"/>
              </a:ext>
            </a:extLst>
          </p:cNvPr>
          <p:cNvSpPr>
            <a:spLocks xmlns:a="http://schemas.openxmlformats.org/drawingml/2006/main" noGrp="1"/>
          </p:cNvSpPr>
          <p:nvPr/>
        </p:nvSpPr>
        <p:spPr>
          <a:xfrm xmlns:a="http://schemas.openxmlformats.org/drawingml/2006/main">
            <a:off x="1005840" y="3886200"/>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2200"/>
              <a:buFont typeface="Play"/>
              <a:buNone/>
            </a:pPr>
            <a:r>
              <a:rPr sz="2200" b="1" i="0" u="none" cap="none">
                <a:solidFill>
                  <a:srgbClr val="F2F2F2"/>
                </a:solidFill>
                <a:latin typeface="Play"/>
                <a:ea typeface="Play"/>
                <a:cs typeface="Play"/>
              </a:rPr>
              <a:t>A useful prediction is specific enough to be wrong.</a:t>
            </a:r>
          </a:p>
        </p:txBody>
      </p:sp>
      <p:sp>
        <p:nvSpPr>
          <p:cNvPr id="213" name="Google Shape;213;p9">
            <a:extLst xmlns:a="http://schemas.openxmlformats.org/drawingml/2006/main">
              <a:ext uri="{FF2B5EF4-FFF2-40B4-BE49-F238E27FC236}">
                <a16:creationId xmlns:a16="http://schemas.microsoft.com/office/drawing/2014/main" id="{A0B19317-6A7D-4A12-B4C8-555203FA4CF3}"/>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4" name="Google Shape;214;p9">
            <a:extLst xmlns:a="http://schemas.openxmlformats.org/drawingml/2006/main">
              <a:ext uri="{FF2B5EF4-FFF2-40B4-BE49-F238E27FC236}">
                <a16:creationId xmlns:a16="http://schemas.microsoft.com/office/drawing/2014/main" id="{0C0578E5-C0D9-44F4-B5A0-67DD65DE12C5}"/>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5" name="Google Shape;215;p9">
            <a:extLst xmlns:a="http://schemas.openxmlformats.org/drawingml/2006/main">
              <a:ext uri="{FF2B5EF4-FFF2-40B4-BE49-F238E27FC236}">
                <a16:creationId xmlns:a16="http://schemas.microsoft.com/office/drawing/2014/main" id="{8CCF7013-A4CC-4201-A14A-61359FB25806}"/>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i="0" u="none" cap="none">
                <a:solidFill>
                  <a:srgbClr val="F2F2F2"/>
                </a:solidFill>
                <a:latin typeface="Arial"/>
                <a:ea typeface="Arial"/>
                <a:cs typeface="Arial"/>
              </a:rPr>
              <a:t>STUDENT ACTIVITY</a:t>
            </a:r>
          </a:p>
        </p:txBody>
      </p:sp>
      <p:sp>
        <p:nvSpPr>
          <p:cNvPr id="216" name="Google Shape;216;p9">
            <a:extLst xmlns:a="http://schemas.openxmlformats.org/drawingml/2006/main">
              <a:ext uri="{FF2B5EF4-FFF2-40B4-BE49-F238E27FC236}">
                <a16:creationId xmlns:a16="http://schemas.microsoft.com/office/drawing/2014/main" id="{98305E2F-29DE-4F60-90FD-74A77E68B248}"/>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i="0" u="none" cap="none">
                <a:solidFill>
                  <a:srgbClr val="F2F2F2"/>
                </a:solidFill>
                <a:latin typeface="Arial"/>
                <a:ea typeface="Arial"/>
                <a:cs typeface="Arial"/>
              </a:rPr>
              <a:t>Write the guiding statement.</a:t>
            </a:r>
          </a:p>
        </p:txBody>
      </p:sp>
      <p:sp>
        <p:nvSpPr>
          <p:cNvPr id="217" name="Google Shape;217;p9">
            <a:extLst xmlns:a="http://schemas.openxmlformats.org/drawingml/2006/main">
              <a:ext uri="{FF2B5EF4-FFF2-40B4-BE49-F238E27FC236}">
                <a16:creationId xmlns:a16="http://schemas.microsoft.com/office/drawing/2014/main" id="{F705334E-1B9A-44A3-AFCC-BE23E882DBE6}"/>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Choose the frame that fits your project and draft either a hypothesis or design criteria statement.</a:t>
            </a:r>
          </a:p>
        </p:txBody>
      </p:sp>
    </p:spTree>
    <p:extLst>
      <p:ext uri="{BB962C8B-B14F-4D97-AF65-F5344CB8AC3E}">
        <p14:creationId xmlns:p14="http://schemas.microsoft.com/office/powerpoint/2010/main" val="997288288"/>
      </p:ext>
    </p:extLst>
  </p:cSld>
</p:sld>
</file>

<file path=ppt/slides/slide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23" name="Google Shape;223;p10">
            <a:extLst xmlns:a="http://schemas.openxmlformats.org/drawingml/2006/main">
              <a:ext uri="{FF2B5EF4-FFF2-40B4-BE49-F238E27FC236}">
                <a16:creationId xmlns:a16="http://schemas.microsoft.com/office/drawing/2014/main" id="{83D8E5F8-9A0A-422D-8424-30595FB4BDB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4" name="Google Shape;224;p10">
            <a:extLst xmlns:a="http://schemas.openxmlformats.org/drawingml/2006/main">
              <a:ext uri="{FF2B5EF4-FFF2-40B4-BE49-F238E27FC236}">
                <a16:creationId xmlns:a16="http://schemas.microsoft.com/office/drawing/2014/main" id="{DF5D434B-F19D-4C14-B838-816425D0852F}"/>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5" name="Google Shape;225;p10">
            <a:extLst xmlns:a="http://schemas.openxmlformats.org/drawingml/2006/main">
              <a:ext uri="{FF2B5EF4-FFF2-40B4-BE49-F238E27FC236}">
                <a16:creationId xmlns:a16="http://schemas.microsoft.com/office/drawing/2014/main" id="{8996DA43-DAE4-4105-939D-9828091AEAEE}"/>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6" name="Google Shape;226;p10">
            <a:extLst xmlns:a="http://schemas.openxmlformats.org/drawingml/2006/main">
              <a:ext uri="{FF2B5EF4-FFF2-40B4-BE49-F238E27FC236}">
                <a16:creationId xmlns:a16="http://schemas.microsoft.com/office/drawing/2014/main" id="{BF0E23CD-5B89-477A-B168-A5F87B6AD39B}"/>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SECTION 4</a:t>
            </a:r>
          </a:p>
        </p:txBody>
      </p:sp>
      <p:sp>
        <p:nvSpPr>
          <p:cNvPr id="227" name="Google Shape;227;p10">
            <a:extLst xmlns:a="http://schemas.openxmlformats.org/drawingml/2006/main">
              <a:ext uri="{FF2B5EF4-FFF2-40B4-BE49-F238E27FC236}">
                <a16:creationId xmlns:a16="http://schemas.microsoft.com/office/drawing/2014/main" id="{4554E47B-0576-47A8-B4B6-0BEFC26F782E}"/>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STARLAB</a:t>
            </a:r>
          </a:p>
        </p:txBody>
      </p:sp>
      <p:sp>
        <p:nvSpPr>
          <p:cNvPr id="228" name="Google Shape;228;p10">
            <a:extLst xmlns:a="http://schemas.openxmlformats.org/drawingml/2006/main">
              <a:ext uri="{FF2B5EF4-FFF2-40B4-BE49-F238E27FC236}">
                <a16:creationId xmlns:a16="http://schemas.microsoft.com/office/drawing/2014/main" id="{F89FFDF4-5759-4F70-9D7F-0EFD88E4E653}"/>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SECTION 4: VARIABLES, CRITERIA, AND CONSTRAINTS</a:t>
            </a:r>
          </a:p>
        </p:txBody>
      </p:sp>
      <p:cxnSp>
        <p:nvCxnSpPr>
          <p:cNvPr id="273" name="Google Shape;229;p10"/>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230" name="Google Shape;230;p10">
            <a:extLst xmlns:a="http://schemas.openxmlformats.org/drawingml/2006/main">
              <a:ext uri="{FF2B5EF4-FFF2-40B4-BE49-F238E27FC236}">
                <a16:creationId xmlns:a16="http://schemas.microsoft.com/office/drawing/2014/main" id="{128E7060-8A04-457F-AB1F-3BBFF2C3723D}"/>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b="0" i="0" u="none" cap="none">
                <a:solidFill>
                  <a:srgbClr val="B8B8B8"/>
                </a:solidFill>
                <a:latin typeface="Arial"/>
                <a:ea typeface="Arial"/>
                <a:cs typeface="Arial"/>
              </a:rPr>
              <a:t>The reviewer needs to know what changes, what is measured, and what is controlled.</a:t>
            </a:r>
          </a:p>
        </p:txBody>
      </p:sp>
      <p:sp>
        <p:nvSpPr>
          <p:cNvPr id="231" name="Google Shape;231;p10">
            <a:extLst xmlns:a="http://schemas.openxmlformats.org/drawingml/2006/main">
              <a:ext uri="{FF2B5EF4-FFF2-40B4-BE49-F238E27FC236}">
                <a16:creationId xmlns:a16="http://schemas.microsoft.com/office/drawing/2014/main" id="{E18589CD-5270-4CAC-8BBF-E96C2CB4F862}"/>
              </a:ext>
            </a:extLst>
          </p:cNvPr>
          <p:cNvSpPr>
            <a:spLocks xmlns:a="http://schemas.openxmlformats.org/drawingml/2006/main" noGrp="1"/>
          </p:cNvSpPr>
          <p:nvPr/>
        </p:nvSpPr>
        <p:spPr>
          <a:xfrm xmlns:a="http://schemas.openxmlformats.org/drawingml/2006/main">
            <a:off x="822960" y="1353312"/>
            <a:ext cx="5074920" cy="1024128"/>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2" name="Google Shape;232;p10">
            <a:extLst xmlns:a="http://schemas.openxmlformats.org/drawingml/2006/main">
              <a:ext uri="{FF2B5EF4-FFF2-40B4-BE49-F238E27FC236}">
                <a16:creationId xmlns:a16="http://schemas.microsoft.com/office/drawing/2014/main" id="{FC3FAD55-43A0-4185-8EA2-F70F710B0FD5}"/>
              </a:ext>
            </a:extLst>
          </p:cNvPr>
          <p:cNvSpPr>
            <a:spLocks xmlns:a="http://schemas.openxmlformats.org/drawingml/2006/main" noGrp="1"/>
          </p:cNvSpPr>
          <p:nvPr/>
        </p:nvSpPr>
        <p:spPr>
          <a:xfrm xmlns:a="http://schemas.openxmlformats.org/drawingml/2006/main">
            <a:off x="822960" y="1353312"/>
            <a:ext cx="54864" cy="1024128"/>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3" name="Google Shape;233;p10">
            <a:extLst xmlns:a="http://schemas.openxmlformats.org/drawingml/2006/main">
              <a:ext uri="{FF2B5EF4-FFF2-40B4-BE49-F238E27FC236}">
                <a16:creationId xmlns:a16="http://schemas.microsoft.com/office/drawing/2014/main" id="{D6711FEC-B756-4371-A2FF-A883F5454F46}"/>
              </a:ext>
            </a:extLst>
          </p:cNvPr>
          <p:cNvSpPr>
            <a:spLocks xmlns:a="http://schemas.openxmlformats.org/drawingml/2006/main" noGrp="1"/>
          </p:cNvSpPr>
          <p:nvPr/>
        </p:nvSpPr>
        <p:spPr>
          <a:xfrm xmlns:a="http://schemas.openxmlformats.org/drawingml/2006/main">
            <a:off x="987552" y="1499616"/>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EXPERIMENTAL</a:t>
            </a:r>
          </a:p>
        </p:txBody>
      </p:sp>
      <p:sp>
        <p:nvSpPr>
          <p:cNvPr id="234" name="Google Shape;234;p10">
            <a:extLst xmlns:a="http://schemas.openxmlformats.org/drawingml/2006/main">
              <a:ext uri="{FF2B5EF4-FFF2-40B4-BE49-F238E27FC236}">
                <a16:creationId xmlns:a16="http://schemas.microsoft.com/office/drawing/2014/main" id="{435A6B7C-1671-4A8A-BDD4-7C89D905A2DA}"/>
              </a:ext>
            </a:extLst>
          </p:cNvPr>
          <p:cNvSpPr>
            <a:spLocks xmlns:a="http://schemas.openxmlformats.org/drawingml/2006/main" noGrp="1"/>
          </p:cNvSpPr>
          <p:nvPr/>
        </p:nvSpPr>
        <p:spPr>
          <a:xfrm xmlns:a="http://schemas.openxmlformats.org/drawingml/2006/main">
            <a:off x="987552" y="1792224"/>
            <a:ext cx="4754880" cy="521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20"/>
              <a:buFont typeface="Arial"/>
              <a:buNone/>
            </a:pPr>
            <a:r>
              <a:rPr sz="1120" b="0" i="0" u="none" cap="none">
                <a:solidFill>
                  <a:srgbClr val="F2F2F2"/>
                </a:solidFill>
                <a:latin typeface="Arial"/>
                <a:ea typeface="Arial"/>
                <a:cs typeface="Arial"/>
              </a:rPr>
              <a:t>Independent variable, dependent variable, controlled variables, control/comparison group, trials</a:t>
            </a:r>
          </a:p>
        </p:txBody>
      </p:sp>
      <p:sp>
        <p:nvSpPr>
          <p:cNvPr id="235" name="Google Shape;235;p10">
            <a:extLst xmlns:a="http://schemas.openxmlformats.org/drawingml/2006/main">
              <a:ext uri="{FF2B5EF4-FFF2-40B4-BE49-F238E27FC236}">
                <a16:creationId xmlns:a16="http://schemas.microsoft.com/office/drawing/2014/main" id="{54D9A823-682C-4D43-AD9E-0849A63B611B}"/>
              </a:ext>
            </a:extLst>
          </p:cNvPr>
          <p:cNvSpPr>
            <a:spLocks xmlns:a="http://schemas.openxmlformats.org/drawingml/2006/main" noGrp="1"/>
          </p:cNvSpPr>
          <p:nvPr/>
        </p:nvSpPr>
        <p:spPr>
          <a:xfrm xmlns:a="http://schemas.openxmlformats.org/drawingml/2006/main">
            <a:off x="6263640" y="1353312"/>
            <a:ext cx="5074920" cy="1024128"/>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6" name="Google Shape;236;p10">
            <a:extLst xmlns:a="http://schemas.openxmlformats.org/drawingml/2006/main">
              <a:ext uri="{FF2B5EF4-FFF2-40B4-BE49-F238E27FC236}">
                <a16:creationId xmlns:a16="http://schemas.microsoft.com/office/drawing/2014/main" id="{F97FD700-A09F-40DB-8A9B-E8EFE8514A98}"/>
              </a:ext>
            </a:extLst>
          </p:cNvPr>
          <p:cNvSpPr>
            <a:spLocks xmlns:a="http://schemas.openxmlformats.org/drawingml/2006/main" noGrp="1"/>
          </p:cNvSpPr>
          <p:nvPr/>
        </p:nvSpPr>
        <p:spPr>
          <a:xfrm xmlns:a="http://schemas.openxmlformats.org/drawingml/2006/main">
            <a:off x="6263640" y="1353312"/>
            <a:ext cx="54864" cy="1024128"/>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7" name="Google Shape;237;p10">
            <a:extLst xmlns:a="http://schemas.openxmlformats.org/drawingml/2006/main">
              <a:ext uri="{FF2B5EF4-FFF2-40B4-BE49-F238E27FC236}">
                <a16:creationId xmlns:a16="http://schemas.microsoft.com/office/drawing/2014/main" id="{8FD7062E-8DC9-45E0-A22C-23139249E29D}"/>
              </a:ext>
            </a:extLst>
          </p:cNvPr>
          <p:cNvSpPr>
            <a:spLocks xmlns:a="http://schemas.openxmlformats.org/drawingml/2006/main" noGrp="1"/>
          </p:cNvSpPr>
          <p:nvPr/>
        </p:nvSpPr>
        <p:spPr>
          <a:xfrm xmlns:a="http://schemas.openxmlformats.org/drawingml/2006/main">
            <a:off x="6428232" y="1499616"/>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ENGINEERING</a:t>
            </a:r>
          </a:p>
        </p:txBody>
      </p:sp>
      <p:sp>
        <p:nvSpPr>
          <p:cNvPr id="238" name="Google Shape;238;p10">
            <a:extLst xmlns:a="http://schemas.openxmlformats.org/drawingml/2006/main">
              <a:ext uri="{FF2B5EF4-FFF2-40B4-BE49-F238E27FC236}">
                <a16:creationId xmlns:a16="http://schemas.microsoft.com/office/drawing/2014/main" id="{34AEEE4B-7E06-465F-8B23-A3557A202E46}"/>
              </a:ext>
            </a:extLst>
          </p:cNvPr>
          <p:cNvSpPr>
            <a:spLocks xmlns:a="http://schemas.openxmlformats.org/drawingml/2006/main" noGrp="1"/>
          </p:cNvSpPr>
          <p:nvPr/>
        </p:nvSpPr>
        <p:spPr>
          <a:xfrm xmlns:a="http://schemas.openxmlformats.org/drawingml/2006/main">
            <a:off x="6428232" y="1792224"/>
            <a:ext cx="4754880" cy="521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20"/>
              <a:buFont typeface="Arial"/>
              <a:buNone/>
            </a:pPr>
            <a:r>
              <a:rPr sz="1120" b="0" i="0" u="none" cap="none">
                <a:solidFill>
                  <a:srgbClr val="F2F2F2"/>
                </a:solidFill>
                <a:latin typeface="Arial"/>
                <a:ea typeface="Arial"/>
                <a:cs typeface="Arial"/>
              </a:rPr>
              <a:t>Problem, design criteria, constraints, prototype variables, performance metrics, test conditions</a:t>
            </a:r>
          </a:p>
        </p:txBody>
      </p:sp>
      <p:sp>
        <p:nvSpPr>
          <p:cNvPr id="239" name="Google Shape;239;p10">
            <a:extLst xmlns:a="http://schemas.openxmlformats.org/drawingml/2006/main">
              <a:ext uri="{FF2B5EF4-FFF2-40B4-BE49-F238E27FC236}">
                <a16:creationId xmlns:a16="http://schemas.microsoft.com/office/drawing/2014/main" id="{745CCE03-35E0-40C9-BB98-1EB83269D273}"/>
              </a:ext>
            </a:extLst>
          </p:cNvPr>
          <p:cNvSpPr>
            <a:spLocks xmlns:a="http://schemas.openxmlformats.org/drawingml/2006/main" noGrp="1"/>
          </p:cNvSpPr>
          <p:nvPr/>
        </p:nvSpPr>
        <p:spPr>
          <a:xfrm xmlns:a="http://schemas.openxmlformats.org/drawingml/2006/main">
            <a:off x="822960" y="2679192"/>
            <a:ext cx="5074920" cy="1024128"/>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0" name="Google Shape;240;p10">
            <a:extLst xmlns:a="http://schemas.openxmlformats.org/drawingml/2006/main">
              <a:ext uri="{FF2B5EF4-FFF2-40B4-BE49-F238E27FC236}">
                <a16:creationId xmlns:a16="http://schemas.microsoft.com/office/drawing/2014/main" id="{BF8E70A8-158F-4423-A871-A5EE7F1581E6}"/>
              </a:ext>
            </a:extLst>
          </p:cNvPr>
          <p:cNvSpPr>
            <a:spLocks xmlns:a="http://schemas.openxmlformats.org/drawingml/2006/main" noGrp="1"/>
          </p:cNvSpPr>
          <p:nvPr/>
        </p:nvSpPr>
        <p:spPr>
          <a:xfrm xmlns:a="http://schemas.openxmlformats.org/drawingml/2006/main">
            <a:off x="822960" y="2679192"/>
            <a:ext cx="54864" cy="1024128"/>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1" name="Google Shape;241;p10">
            <a:extLst xmlns:a="http://schemas.openxmlformats.org/drawingml/2006/main">
              <a:ext uri="{FF2B5EF4-FFF2-40B4-BE49-F238E27FC236}">
                <a16:creationId xmlns:a16="http://schemas.microsoft.com/office/drawing/2014/main" id="{41703FE9-F53E-499C-A4BC-68402E533AB9}"/>
              </a:ext>
            </a:extLst>
          </p:cNvPr>
          <p:cNvSpPr>
            <a:spLocks xmlns:a="http://schemas.openxmlformats.org/drawingml/2006/main" noGrp="1"/>
          </p:cNvSpPr>
          <p:nvPr/>
        </p:nvSpPr>
        <p:spPr>
          <a:xfrm xmlns:a="http://schemas.openxmlformats.org/drawingml/2006/main">
            <a:off x="987552" y="2825496"/>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DATA ANALYSIS</a:t>
            </a:r>
          </a:p>
        </p:txBody>
      </p:sp>
      <p:sp>
        <p:nvSpPr>
          <p:cNvPr id="242" name="Google Shape;242;p10">
            <a:extLst xmlns:a="http://schemas.openxmlformats.org/drawingml/2006/main">
              <a:ext uri="{FF2B5EF4-FFF2-40B4-BE49-F238E27FC236}">
                <a16:creationId xmlns:a16="http://schemas.microsoft.com/office/drawing/2014/main" id="{FC423352-8032-4B84-BF8B-9B5701A3B5FF}"/>
              </a:ext>
            </a:extLst>
          </p:cNvPr>
          <p:cNvSpPr>
            <a:spLocks xmlns:a="http://schemas.openxmlformats.org/drawingml/2006/main" noGrp="1"/>
          </p:cNvSpPr>
          <p:nvPr/>
        </p:nvSpPr>
        <p:spPr>
          <a:xfrm xmlns:a="http://schemas.openxmlformats.org/drawingml/2006/main">
            <a:off x="987552" y="3118104"/>
            <a:ext cx="4754880" cy="521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20"/>
              <a:buFont typeface="Arial"/>
              <a:buNone/>
            </a:pPr>
            <a:r>
              <a:rPr sz="1120" b="0" i="0" u="none" cap="none">
                <a:solidFill>
                  <a:srgbClr val="F2F2F2"/>
                </a:solidFill>
                <a:latin typeface="Arial"/>
                <a:ea typeface="Arial"/>
                <a:cs typeface="Arial"/>
              </a:rPr>
              <a:t>Data source, variables/features, outcome measure, filtering criteria, analysis method</a:t>
            </a:r>
          </a:p>
        </p:txBody>
      </p:sp>
      <p:sp>
        <p:nvSpPr>
          <p:cNvPr id="243" name="Google Shape;243;p10">
            <a:extLst xmlns:a="http://schemas.openxmlformats.org/drawingml/2006/main">
              <a:ext uri="{FF2B5EF4-FFF2-40B4-BE49-F238E27FC236}">
                <a16:creationId xmlns:a16="http://schemas.microsoft.com/office/drawing/2014/main" id="{03FF564C-CD58-4D1E-990F-18CE1061FD50}"/>
              </a:ext>
            </a:extLst>
          </p:cNvPr>
          <p:cNvSpPr>
            <a:spLocks xmlns:a="http://schemas.openxmlformats.org/drawingml/2006/main" noGrp="1"/>
          </p:cNvSpPr>
          <p:nvPr/>
        </p:nvSpPr>
        <p:spPr>
          <a:xfrm xmlns:a="http://schemas.openxmlformats.org/drawingml/2006/main">
            <a:off x="6263640" y="2679192"/>
            <a:ext cx="5074920" cy="1024128"/>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4" name="Google Shape;244;p10">
            <a:extLst xmlns:a="http://schemas.openxmlformats.org/drawingml/2006/main">
              <a:ext uri="{FF2B5EF4-FFF2-40B4-BE49-F238E27FC236}">
                <a16:creationId xmlns:a16="http://schemas.microsoft.com/office/drawing/2014/main" id="{931A2CB4-3F58-450A-B804-DE8F2DC7FCD8}"/>
              </a:ext>
            </a:extLst>
          </p:cNvPr>
          <p:cNvSpPr>
            <a:spLocks xmlns:a="http://schemas.openxmlformats.org/drawingml/2006/main" noGrp="1"/>
          </p:cNvSpPr>
          <p:nvPr/>
        </p:nvSpPr>
        <p:spPr>
          <a:xfrm xmlns:a="http://schemas.openxmlformats.org/drawingml/2006/main">
            <a:off x="6263640" y="2679192"/>
            <a:ext cx="54864" cy="1024128"/>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5" name="Google Shape;245;p10">
            <a:extLst xmlns:a="http://schemas.openxmlformats.org/drawingml/2006/main">
              <a:ext uri="{FF2B5EF4-FFF2-40B4-BE49-F238E27FC236}">
                <a16:creationId xmlns:a16="http://schemas.microsoft.com/office/drawing/2014/main" id="{ADDCA60B-7E84-46F1-9240-F9675379E9ED}"/>
              </a:ext>
            </a:extLst>
          </p:cNvPr>
          <p:cNvSpPr>
            <a:spLocks xmlns:a="http://schemas.openxmlformats.org/drawingml/2006/main" noGrp="1"/>
          </p:cNvSpPr>
          <p:nvPr/>
        </p:nvSpPr>
        <p:spPr>
          <a:xfrm xmlns:a="http://schemas.openxmlformats.org/drawingml/2006/main">
            <a:off x="6428232" y="2825496"/>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OBSERVATIONAL</a:t>
            </a:r>
          </a:p>
        </p:txBody>
      </p:sp>
      <p:sp>
        <p:nvSpPr>
          <p:cNvPr id="246" name="Google Shape;246;p10">
            <a:extLst xmlns:a="http://schemas.openxmlformats.org/drawingml/2006/main">
              <a:ext uri="{FF2B5EF4-FFF2-40B4-BE49-F238E27FC236}">
                <a16:creationId xmlns:a16="http://schemas.microsoft.com/office/drawing/2014/main" id="{1B8DA59B-02BA-4172-A7DC-81D2AFF95B77}"/>
              </a:ext>
            </a:extLst>
          </p:cNvPr>
          <p:cNvSpPr>
            <a:spLocks xmlns:a="http://schemas.openxmlformats.org/drawingml/2006/main" noGrp="1"/>
          </p:cNvSpPr>
          <p:nvPr/>
        </p:nvSpPr>
        <p:spPr>
          <a:xfrm xmlns:a="http://schemas.openxmlformats.org/drawingml/2006/main">
            <a:off x="6428232" y="3118104"/>
            <a:ext cx="4754880" cy="521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20"/>
              <a:buFont typeface="Arial"/>
              <a:buNone/>
            </a:pPr>
            <a:r>
              <a:rPr sz="1120" b="0" i="0" u="none" cap="none">
                <a:solidFill>
                  <a:srgbClr val="F2F2F2"/>
                </a:solidFill>
                <a:latin typeface="Arial"/>
                <a:ea typeface="Arial"/>
                <a:cs typeface="Arial"/>
              </a:rPr>
              <a:t>Observation categories, sampling method, time/place, recording method, reliability concerns</a:t>
            </a:r>
          </a:p>
        </p:txBody>
      </p:sp>
      <p:sp>
        <p:nvSpPr>
          <p:cNvPr id="247" name="Google Shape;247;p10">
            <a:extLst xmlns:a="http://schemas.openxmlformats.org/drawingml/2006/main">
              <a:ext uri="{FF2B5EF4-FFF2-40B4-BE49-F238E27FC236}">
                <a16:creationId xmlns:a16="http://schemas.microsoft.com/office/drawing/2014/main" id="{0647EA68-78BE-4396-822F-F0C71B12A0AB}"/>
              </a:ext>
            </a:extLst>
          </p:cNvPr>
          <p:cNvSpPr>
            <a:spLocks xmlns:a="http://schemas.openxmlformats.org/drawingml/2006/main" noGrp="1"/>
          </p:cNvSpPr>
          <p:nvPr/>
        </p:nvSpPr>
        <p:spPr>
          <a:xfrm xmlns:a="http://schemas.openxmlformats.org/drawingml/2006/main">
            <a:off x="1005840" y="4160520"/>
            <a:ext cx="1005840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1800"/>
              <a:buFont typeface="Play"/>
              <a:buNone/>
            </a:pPr>
            <a:r>
              <a:rPr sz="1800" b="1" i="0" u="none" cap="none">
                <a:solidFill>
                  <a:srgbClr val="F2F2F2"/>
                </a:solidFill>
                <a:latin typeface="Play"/>
                <a:ea typeface="Play"/>
                <a:cs typeface="Play"/>
              </a:rPr>
              <a:t>This section prevents the “I’ll just see what happens” problem.</a:t>
            </a:r>
          </a:p>
        </p:txBody>
      </p:sp>
      <p:sp>
        <p:nvSpPr>
          <p:cNvPr id="248" name="Google Shape;248;p10">
            <a:extLst xmlns:a="http://schemas.openxmlformats.org/drawingml/2006/main">
              <a:ext uri="{FF2B5EF4-FFF2-40B4-BE49-F238E27FC236}">
                <a16:creationId xmlns:a16="http://schemas.microsoft.com/office/drawing/2014/main" id="{E1DD7837-33DC-4E5B-AA74-28DADD95D7AC}"/>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9" name="Google Shape;249;p10">
            <a:extLst xmlns:a="http://schemas.openxmlformats.org/drawingml/2006/main">
              <a:ext uri="{FF2B5EF4-FFF2-40B4-BE49-F238E27FC236}">
                <a16:creationId xmlns:a16="http://schemas.microsoft.com/office/drawing/2014/main" id="{FF62BF6D-5E85-490C-BC47-C435D50D9650}"/>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0" name="Google Shape;250;p10">
            <a:extLst xmlns:a="http://schemas.openxmlformats.org/drawingml/2006/main">
              <a:ext uri="{FF2B5EF4-FFF2-40B4-BE49-F238E27FC236}">
                <a16:creationId xmlns:a16="http://schemas.microsoft.com/office/drawing/2014/main" id="{B0D392B4-54BA-430D-B1FC-8BD6DB85F4E4}"/>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i="0" u="none" cap="none">
                <a:solidFill>
                  <a:srgbClr val="F2F2F2"/>
                </a:solidFill>
                <a:latin typeface="Arial"/>
                <a:ea typeface="Arial"/>
                <a:cs typeface="Arial"/>
              </a:rPr>
              <a:t>STUDENT ACTIVITY</a:t>
            </a:r>
          </a:p>
        </p:txBody>
      </p:sp>
      <p:sp>
        <p:nvSpPr>
          <p:cNvPr id="251" name="Google Shape;251;p10">
            <a:extLst xmlns:a="http://schemas.openxmlformats.org/drawingml/2006/main">
              <a:ext uri="{FF2B5EF4-FFF2-40B4-BE49-F238E27FC236}">
                <a16:creationId xmlns:a16="http://schemas.microsoft.com/office/drawing/2014/main" id="{FB134299-2AEA-4178-8C39-EAC235D74A08}"/>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i="0" u="none" cap="none">
                <a:solidFill>
                  <a:srgbClr val="F2F2F2"/>
                </a:solidFill>
                <a:latin typeface="Arial"/>
                <a:ea typeface="Arial"/>
                <a:cs typeface="Arial"/>
              </a:rPr>
              <a:t>Plan vocabulary audit.</a:t>
            </a:r>
          </a:p>
        </p:txBody>
      </p:sp>
      <p:sp>
        <p:nvSpPr>
          <p:cNvPr id="252" name="Google Shape;252;p10">
            <a:extLst xmlns:a="http://schemas.openxmlformats.org/drawingml/2006/main">
              <a:ext uri="{FF2B5EF4-FFF2-40B4-BE49-F238E27FC236}">
                <a16:creationId xmlns:a16="http://schemas.microsoft.com/office/drawing/2014/main" id="{A5D8BF6A-1DDB-4D25-9EFB-959676B3D526}"/>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b="0" i="0" u="none" cap="none">
                <a:solidFill>
                  <a:srgbClr val="B8B8B8"/>
                </a:solidFill>
                <a:latin typeface="Arial"/>
                <a:ea typeface="Arial"/>
                <a:cs typeface="Arial"/>
              </a:rPr>
              <a:t>Complete the matching row for your project type. Leave blanks only where you truly need teacher help.</a:t>
            </a:r>
          </a:p>
        </p:txBody>
      </p:sp>
    </p:spTree>
    <p:extLst>
      <p:ext uri="{BB962C8B-B14F-4D97-AF65-F5344CB8AC3E}">
        <p14:creationId xmlns:p14="http://schemas.microsoft.com/office/powerpoint/2010/main" val="195128340"/>
      </p:ext>
    </p:extLst>
  </p:cSld>
</p:sld>
</file>

<file path=ppt/slides/slide9.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58" name="Google Shape;258;p11">
            <a:extLst xmlns:a="http://schemas.openxmlformats.org/drawingml/2006/main">
              <a:ext uri="{FF2B5EF4-FFF2-40B4-BE49-F238E27FC236}">
                <a16:creationId xmlns:a16="http://schemas.microsoft.com/office/drawing/2014/main" id="{32A13E9D-A361-402E-94F4-78057A0B564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9" name="Google Shape;259;p11">
            <a:extLst xmlns:a="http://schemas.openxmlformats.org/drawingml/2006/main">
              <a:ext uri="{FF2B5EF4-FFF2-40B4-BE49-F238E27FC236}">
                <a16:creationId xmlns:a16="http://schemas.microsoft.com/office/drawing/2014/main" id="{5719FFB6-268C-457A-8D43-C6B1E31D8B42}"/>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0" name="Google Shape;260;p11">
            <a:extLst xmlns:a="http://schemas.openxmlformats.org/drawingml/2006/main">
              <a:ext uri="{FF2B5EF4-FFF2-40B4-BE49-F238E27FC236}">
                <a16:creationId xmlns:a16="http://schemas.microsoft.com/office/drawing/2014/main" id="{E4B1845B-0C65-4E96-AB14-2B7C8F303876}"/>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1" name="Google Shape;261;p11">
            <a:extLst xmlns:a="http://schemas.openxmlformats.org/drawingml/2006/main">
              <a:ext uri="{FF2B5EF4-FFF2-40B4-BE49-F238E27FC236}">
                <a16:creationId xmlns:a16="http://schemas.microsoft.com/office/drawing/2014/main" id="{E810DEB5-43DC-4E16-8835-330B4C68B719}"/>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SECTION 5</a:t>
            </a:r>
          </a:p>
        </p:txBody>
      </p:sp>
      <p:sp>
        <p:nvSpPr>
          <p:cNvPr id="262" name="Google Shape;262;p11">
            <a:extLst xmlns:a="http://schemas.openxmlformats.org/drawingml/2006/main">
              <a:ext uri="{FF2B5EF4-FFF2-40B4-BE49-F238E27FC236}">
                <a16:creationId xmlns:a16="http://schemas.microsoft.com/office/drawing/2014/main" id="{FB8C1DA3-1E40-4A99-A12E-9D0F3EC852AA}"/>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i="0" u="none" cap="none">
                <a:solidFill>
                  <a:srgbClr val="B8B8B8"/>
                </a:solidFill>
                <a:latin typeface="Arial"/>
                <a:ea typeface="Arial"/>
                <a:cs typeface="Arial"/>
              </a:rPr>
              <a:t>STARLAB</a:t>
            </a:r>
          </a:p>
        </p:txBody>
      </p:sp>
      <p:sp>
        <p:nvSpPr>
          <p:cNvPr id="263" name="Google Shape;263;p11">
            <a:extLst xmlns:a="http://schemas.openxmlformats.org/drawingml/2006/main">
              <a:ext uri="{FF2B5EF4-FFF2-40B4-BE49-F238E27FC236}">
                <a16:creationId xmlns:a16="http://schemas.microsoft.com/office/drawing/2014/main" id="{C368C97D-F830-4470-BA4F-474E7D359150}"/>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i="0" u="none" cap="none">
                <a:solidFill>
                  <a:srgbClr val="F2F2F2"/>
                </a:solidFill>
                <a:latin typeface="Play"/>
                <a:ea typeface="Play"/>
                <a:cs typeface="Play"/>
              </a:rPr>
              <a:t>SECTION 5: MATERIALS AND EQUIPMENT</a:t>
            </a:r>
          </a:p>
        </p:txBody>
      </p:sp>
      <p:cxnSp>
        <p:nvCxnSpPr>
          <p:cNvPr id="296" name="Google Shape;264;p11"/>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265" name="Google Shape;265;p11">
            <a:extLst xmlns:a="http://schemas.openxmlformats.org/drawingml/2006/main">
              <a:ext uri="{FF2B5EF4-FFF2-40B4-BE49-F238E27FC236}">
                <a16:creationId xmlns:a16="http://schemas.microsoft.com/office/drawing/2014/main" id="{46E3ED0D-63E3-4330-8ABA-14D6E48F547C}"/>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b="0" i="0" u="none" cap="none">
                <a:solidFill>
                  <a:srgbClr val="B8B8B8"/>
                </a:solidFill>
                <a:latin typeface="Arial"/>
                <a:ea typeface="Arial"/>
                <a:cs typeface="Arial"/>
              </a:rPr>
              <a:t>A materials list is also a feasibility and safety check.</a:t>
            </a:r>
          </a:p>
        </p:txBody>
      </p:sp>
      <p:sp>
        <p:nvSpPr>
          <p:cNvPr id="266" name="Google Shape;266;p11">
            <a:extLst xmlns:a="http://schemas.openxmlformats.org/drawingml/2006/main">
              <a:ext uri="{FF2B5EF4-FFF2-40B4-BE49-F238E27FC236}">
                <a16:creationId xmlns:a16="http://schemas.microsoft.com/office/drawing/2014/main" id="{79279974-F94A-4CF9-8BEA-5FF589FE6A40}"/>
              </a:ext>
            </a:extLst>
          </p:cNvPr>
          <p:cNvSpPr>
            <a:spLocks xmlns:a="http://schemas.openxmlformats.org/drawingml/2006/main" noGrp="1"/>
          </p:cNvSpPr>
          <p:nvPr/>
        </p:nvSpPr>
        <p:spPr>
          <a:xfrm xmlns:a="http://schemas.openxmlformats.org/drawingml/2006/main">
            <a:off x="1005840" y="1417320"/>
            <a:ext cx="4754880" cy="2194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None/>
            </a:pPr>
            <a:r>
              <a:rPr sz="1700" b="0" i="0" u="none" cap="none">
                <a:solidFill>
                  <a:srgbClr val="F2F2F2"/>
                </a:solidFill>
                <a:latin typeface="Arial"/>
                <a:ea typeface="Arial"/>
                <a:cs typeface="Arial"/>
              </a:rPr>
              <a:t>What do I already have?</a:t>
            </a:r>
          </a:p>
          <a:p xmlns:a="http://schemas.openxmlformats.org/drawingml/2006/main">
            <a:pPr marL="0" marR="0" indent="0" algn="l">
              <a:spcBef>
                <a:spcPts val="0"/>
              </a:spcBef>
              <a:spcAft>
                <a:spcPts val="0"/>
              </a:spcAft>
              <a:buNone/>
            </a:pPr>
            <a:r>
              <a:rPr sz="1700">
                <a:solidFill>
                  <a:srgbClr val="F2F2F2"/>
                </a:solidFill>
                <a:latin typeface="Arial"/>
                <a:ea typeface="Arial"/>
                <a:cs typeface="Arial"/>
              </a:rPr>
              <a:t>What must be purchased or borrowed?</a:t>
            </a:r>
          </a:p>
          <a:p xmlns:a="http://schemas.openxmlformats.org/drawingml/2006/main">
            <a:pPr marL="0" marR="0" indent="0" algn="l">
              <a:spcBef>
                <a:spcPts val="0"/>
              </a:spcBef>
              <a:spcAft>
                <a:spcPts val="0"/>
              </a:spcAft>
              <a:buNone/>
            </a:pPr>
            <a:r>
              <a:rPr sz="1700">
                <a:solidFill>
                  <a:srgbClr val="F2F2F2"/>
                </a:solidFill>
                <a:latin typeface="Arial"/>
                <a:ea typeface="Arial"/>
                <a:cs typeface="Arial"/>
              </a:rPr>
              <a:t>What requires training?</a:t>
            </a:r>
          </a:p>
          <a:p xmlns:a="http://schemas.openxmlformats.org/drawingml/2006/main">
            <a:pPr marL="0" marR="0" indent="0" algn="l">
              <a:spcBef>
                <a:spcPts val="0"/>
              </a:spcBef>
              <a:spcAft>
                <a:spcPts val="0"/>
              </a:spcAft>
              <a:buNone/>
            </a:pPr>
            <a:r>
              <a:rPr sz="1700">
                <a:solidFill>
                  <a:srgbClr val="F2F2F2"/>
                </a:solidFill>
                <a:latin typeface="Arial"/>
                <a:ea typeface="Arial"/>
                <a:cs typeface="Arial"/>
              </a:rPr>
              <a:t>What requires supervision?</a:t>
            </a:r>
          </a:p>
          <a:p xmlns:a="http://schemas.openxmlformats.org/drawingml/2006/main">
            <a:pPr marL="0" marR="0" indent="0" algn="l">
              <a:spcBef>
                <a:spcPts val="0"/>
              </a:spcBef>
              <a:spcAft>
                <a:spcPts val="0"/>
              </a:spcAft>
              <a:buNone/>
            </a:pPr>
            <a:r>
              <a:rPr sz="1700">
                <a:solidFill>
                  <a:srgbClr val="F2F2F2"/>
                </a:solidFill>
                <a:latin typeface="Arial"/>
                <a:ea typeface="Arial"/>
                <a:cs typeface="Arial"/>
              </a:rPr>
              <a:t>What must be stored or disposed of safely?</a:t>
            </a:r>
          </a:p>
        </p:txBody>
      </p:sp>
      <p:sp>
        <p:nvSpPr>
          <p:cNvPr id="267" name="Google Shape;267;p11">
            <a:extLst xmlns:a="http://schemas.openxmlformats.org/drawingml/2006/main">
              <a:ext uri="{FF2B5EF4-FFF2-40B4-BE49-F238E27FC236}">
                <a16:creationId xmlns:a16="http://schemas.microsoft.com/office/drawing/2014/main" id="{3A94F4B0-C343-41F5-A027-DC8341562FAF}"/>
              </a:ext>
            </a:extLst>
          </p:cNvPr>
          <p:cNvSpPr>
            <a:spLocks xmlns:a="http://schemas.openxmlformats.org/drawingml/2006/main" noGrp="1"/>
          </p:cNvSpPr>
          <p:nvPr/>
        </p:nvSpPr>
        <p:spPr>
          <a:xfrm xmlns:a="http://schemas.openxmlformats.org/drawingml/2006/main">
            <a:off x="6126480" y="1417320"/>
            <a:ext cx="4937760" cy="246888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8" name="Google Shape;268;p11">
            <a:extLst xmlns:a="http://schemas.openxmlformats.org/drawingml/2006/main">
              <a:ext uri="{FF2B5EF4-FFF2-40B4-BE49-F238E27FC236}">
                <a16:creationId xmlns:a16="http://schemas.microsoft.com/office/drawing/2014/main" id="{5CE61076-CA53-45FF-92D9-DADBF82AEBD1}"/>
              </a:ext>
            </a:extLst>
          </p:cNvPr>
          <p:cNvSpPr>
            <a:spLocks xmlns:a="http://schemas.openxmlformats.org/drawingml/2006/main" noGrp="1"/>
          </p:cNvSpPr>
          <p:nvPr/>
        </p:nvSpPr>
        <p:spPr>
          <a:xfrm xmlns:a="http://schemas.openxmlformats.org/drawingml/2006/main">
            <a:off x="6126480" y="1417320"/>
            <a:ext cx="54864" cy="246888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9" name="Google Shape;269;p11">
            <a:extLst xmlns:a="http://schemas.openxmlformats.org/drawingml/2006/main">
              <a:ext uri="{FF2B5EF4-FFF2-40B4-BE49-F238E27FC236}">
                <a16:creationId xmlns:a16="http://schemas.microsoft.com/office/drawing/2014/main" id="{B934E4CB-9958-42F7-90DC-9DD437F6E405}"/>
              </a:ext>
            </a:extLst>
          </p:cNvPr>
          <p:cNvSpPr>
            <a:spLocks xmlns:a="http://schemas.openxmlformats.org/drawingml/2006/main" noGrp="1"/>
          </p:cNvSpPr>
          <p:nvPr/>
        </p:nvSpPr>
        <p:spPr>
          <a:xfrm xmlns:a="http://schemas.openxmlformats.org/drawingml/2006/main">
            <a:off x="6291072" y="1563624"/>
            <a:ext cx="46177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HIDDEN NEEDS MATTER.</a:t>
            </a:r>
          </a:p>
        </p:txBody>
      </p:sp>
      <p:sp>
        <p:nvSpPr>
          <p:cNvPr id="270" name="Google Shape;270;p11">
            <a:extLst xmlns:a="http://schemas.openxmlformats.org/drawingml/2006/main">
              <a:ext uri="{FF2B5EF4-FFF2-40B4-BE49-F238E27FC236}">
                <a16:creationId xmlns:a16="http://schemas.microsoft.com/office/drawing/2014/main" id="{C4C66B30-3203-4315-B906-1B74AEC76CCC}"/>
              </a:ext>
            </a:extLst>
          </p:cNvPr>
          <p:cNvSpPr>
            <a:spLocks xmlns:a="http://schemas.openxmlformats.org/drawingml/2006/main" noGrp="1"/>
          </p:cNvSpPr>
          <p:nvPr/>
        </p:nvSpPr>
        <p:spPr>
          <a:xfrm xmlns:a="http://schemas.openxmlformats.org/drawingml/2006/main">
            <a:off x="6291072" y="1856232"/>
            <a:ext cx="4617720" cy="1965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400"/>
              <a:buFont typeface="Arial"/>
              <a:buNone/>
            </a:pPr>
            <a:r>
              <a:rPr sz="1400">
                <a:solidFill>
                  <a:srgbClr val="F2F2F2"/>
                </a:solidFill>
                <a:latin typeface="Arial"/>
                <a:ea typeface="Arial"/>
                <a:cs typeface="Arial"/>
              </a:rPr>
              <a:t>Labels, containers, batteries, calibration tools, cleaning supplies, backup materials, PPE, data storage, waste disposal.</a:t>
            </a:r>
          </a:p>
        </p:txBody>
      </p:sp>
      <p:sp>
        <p:nvSpPr>
          <p:cNvPr id="271" name="Google Shape;271;p11">
            <a:extLst xmlns:a="http://schemas.openxmlformats.org/drawingml/2006/main">
              <a:ext uri="{FF2B5EF4-FFF2-40B4-BE49-F238E27FC236}">
                <a16:creationId xmlns:a16="http://schemas.microsoft.com/office/drawing/2014/main" id="{5E74C3E1-DD31-4F51-966D-741F32DA9F54}"/>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2" name="Google Shape;272;p11">
            <a:extLst xmlns:a="http://schemas.openxmlformats.org/drawingml/2006/main">
              <a:ext uri="{FF2B5EF4-FFF2-40B4-BE49-F238E27FC236}">
                <a16:creationId xmlns:a16="http://schemas.microsoft.com/office/drawing/2014/main" id="{0DFE4D67-F2E7-4D6D-BC01-4722552023D6}"/>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3" name="Google Shape;273;p11">
            <a:extLst xmlns:a="http://schemas.openxmlformats.org/drawingml/2006/main">
              <a:ext uri="{FF2B5EF4-FFF2-40B4-BE49-F238E27FC236}">
                <a16:creationId xmlns:a16="http://schemas.microsoft.com/office/drawing/2014/main" id="{BDB15A99-7A58-462B-ABB5-7755AC981BCF}"/>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a:solidFill>
                  <a:srgbClr val="F2F2F2"/>
                </a:solidFill>
                <a:latin typeface="Arial"/>
                <a:ea typeface="Arial"/>
                <a:cs typeface="Arial"/>
              </a:rPr>
              <a:t>STUDENT ACTIVITY</a:t>
            </a:r>
          </a:p>
        </p:txBody>
      </p:sp>
      <p:sp>
        <p:nvSpPr>
          <p:cNvPr id="274" name="Google Shape;274;p11">
            <a:extLst xmlns:a="http://schemas.openxmlformats.org/drawingml/2006/main">
              <a:ext uri="{FF2B5EF4-FFF2-40B4-BE49-F238E27FC236}">
                <a16:creationId xmlns:a16="http://schemas.microsoft.com/office/drawing/2014/main" id="{A8058C81-384D-41A5-B6D1-8F4755E4B8F8}"/>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a:solidFill>
                  <a:srgbClr val="F2F2F2"/>
                </a:solidFill>
                <a:latin typeface="Arial"/>
                <a:ea typeface="Arial"/>
                <a:cs typeface="Arial"/>
              </a:rPr>
              <a:t>Materials reality check.</a:t>
            </a:r>
          </a:p>
        </p:txBody>
      </p:sp>
      <p:sp>
        <p:nvSpPr>
          <p:cNvPr id="275" name="Google Shape;275;p11">
            <a:extLst xmlns:a="http://schemas.openxmlformats.org/drawingml/2006/main">
              <a:ext uri="{FF2B5EF4-FFF2-40B4-BE49-F238E27FC236}">
                <a16:creationId xmlns:a16="http://schemas.microsoft.com/office/drawing/2014/main" id="{93E23B18-6F19-458D-9BED-46EE651704EA}"/>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a:solidFill>
                  <a:srgbClr val="B8B8B8"/>
                </a:solidFill>
                <a:latin typeface="Arial"/>
                <a:ea typeface="Arial"/>
                <a:cs typeface="Arial"/>
              </a:rPr>
              <a:t>Circle the one material/equipment item most likely to delay your project. Write a backup plan.</a:t>
            </a:r>
          </a:p>
        </p:txBody>
      </p:sp>
    </p:spTree>
    <p:extLst>
      <p:ext uri="{BB962C8B-B14F-4D97-AF65-F5344CB8AC3E}">
        <p14:creationId xmlns:p14="http://schemas.microsoft.com/office/powerpoint/2010/main" val="1822925240"/>
      </p:ext>
    </p:extLst>
  </p:cSld>
</p:sld>
</file>

<file path=ppt/slides/slide1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81" name="Google Shape;281;p12">
            <a:extLst xmlns:a="http://schemas.openxmlformats.org/drawingml/2006/main">
              <a:ext uri="{FF2B5EF4-FFF2-40B4-BE49-F238E27FC236}">
                <a16:creationId xmlns:a16="http://schemas.microsoft.com/office/drawing/2014/main" id="{185789CC-7075-4DA6-827C-5AC3BBC6B20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2" name="Google Shape;282;p12">
            <a:extLst xmlns:a="http://schemas.openxmlformats.org/drawingml/2006/main">
              <a:ext uri="{FF2B5EF4-FFF2-40B4-BE49-F238E27FC236}">
                <a16:creationId xmlns:a16="http://schemas.microsoft.com/office/drawing/2014/main" id="{CD066BC5-D2AC-4CF8-9516-D691D3EA125C}"/>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3" name="Google Shape;283;p12">
            <a:extLst xmlns:a="http://schemas.openxmlformats.org/drawingml/2006/main">
              <a:ext uri="{FF2B5EF4-FFF2-40B4-BE49-F238E27FC236}">
                <a16:creationId xmlns:a16="http://schemas.microsoft.com/office/drawing/2014/main" id="{723CFD2A-575D-4D2E-BC53-0B386DE92EC1}"/>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4" name="Google Shape;284;p12">
            <a:extLst xmlns:a="http://schemas.openxmlformats.org/drawingml/2006/main">
              <a:ext uri="{FF2B5EF4-FFF2-40B4-BE49-F238E27FC236}">
                <a16:creationId xmlns:a16="http://schemas.microsoft.com/office/drawing/2014/main" id="{36E483D7-40C9-4878-A9A9-7B52A41EA38B}"/>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SECTION 6</a:t>
            </a:r>
          </a:p>
        </p:txBody>
      </p:sp>
      <p:sp>
        <p:nvSpPr>
          <p:cNvPr id="285" name="Google Shape;285;p12">
            <a:extLst xmlns:a="http://schemas.openxmlformats.org/drawingml/2006/main">
              <a:ext uri="{FF2B5EF4-FFF2-40B4-BE49-F238E27FC236}">
                <a16:creationId xmlns:a16="http://schemas.microsoft.com/office/drawing/2014/main" id="{2D302B9E-92DD-434A-BFB1-2C2FADF6DC37}"/>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286" name="Google Shape;286;p12">
            <a:extLst xmlns:a="http://schemas.openxmlformats.org/drawingml/2006/main">
              <a:ext uri="{FF2B5EF4-FFF2-40B4-BE49-F238E27FC236}">
                <a16:creationId xmlns:a16="http://schemas.microsoft.com/office/drawing/2014/main" id="{2A978BE2-2632-4719-8113-69EDE70F60D3}"/>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SECTION 6: PROCEDURE OR TESTING PROTOCOL</a:t>
            </a:r>
          </a:p>
        </p:txBody>
      </p:sp>
      <p:cxnSp>
        <p:nvCxnSpPr>
          <p:cNvPr id="330" name="Google Shape;287;p12"/>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288" name="Google Shape;288;p12">
            <a:extLst xmlns:a="http://schemas.openxmlformats.org/drawingml/2006/main">
              <a:ext uri="{FF2B5EF4-FFF2-40B4-BE49-F238E27FC236}">
                <a16:creationId xmlns:a16="http://schemas.microsoft.com/office/drawing/2014/main" id="{4A31EE9F-B0BE-4141-9112-DC09B368E35A}"/>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The procedure should be clear enough to evaluate before it is clear enough to publish.</a:t>
            </a:r>
          </a:p>
        </p:txBody>
      </p:sp>
      <p:sp>
        <p:nvSpPr>
          <p:cNvPr id="289" name="Google Shape;289;p12">
            <a:extLst xmlns:a="http://schemas.openxmlformats.org/drawingml/2006/main">
              <a:ext uri="{FF2B5EF4-FFF2-40B4-BE49-F238E27FC236}">
                <a16:creationId xmlns:a16="http://schemas.microsoft.com/office/drawing/2014/main" id="{26A355BB-86A7-4BF9-BEED-A9F7071F1195}"/>
              </a:ext>
            </a:extLst>
          </p:cNvPr>
          <p:cNvSpPr>
            <a:spLocks xmlns:a="http://schemas.openxmlformats.org/drawingml/2006/main" noGrp="1"/>
          </p:cNvSpPr>
          <p:nvPr/>
        </p:nvSpPr>
        <p:spPr>
          <a:xfrm xmlns:a="http://schemas.openxmlformats.org/drawingml/2006/main">
            <a:off x="822960" y="1417320"/>
            <a:ext cx="3383280" cy="1645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0" name="Google Shape;290;p12">
            <a:extLst xmlns:a="http://schemas.openxmlformats.org/drawingml/2006/main">
              <a:ext uri="{FF2B5EF4-FFF2-40B4-BE49-F238E27FC236}">
                <a16:creationId xmlns:a16="http://schemas.microsoft.com/office/drawing/2014/main" id="{CD2DE4C0-0DA5-478E-8E8C-5C2103AC08AB}"/>
              </a:ext>
            </a:extLst>
          </p:cNvPr>
          <p:cNvSpPr>
            <a:spLocks xmlns:a="http://schemas.openxmlformats.org/drawingml/2006/main" noGrp="1"/>
          </p:cNvSpPr>
          <p:nvPr/>
        </p:nvSpPr>
        <p:spPr>
          <a:xfrm xmlns:a="http://schemas.openxmlformats.org/drawingml/2006/main">
            <a:off x="822960" y="1417320"/>
            <a:ext cx="54864" cy="16459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1" name="Google Shape;291;p12">
            <a:extLst xmlns:a="http://schemas.openxmlformats.org/drawingml/2006/main">
              <a:ext uri="{FF2B5EF4-FFF2-40B4-BE49-F238E27FC236}">
                <a16:creationId xmlns:a16="http://schemas.microsoft.com/office/drawing/2014/main" id="{FB6AEEE2-B627-41DD-AD3E-3F5939ADE1D9}"/>
              </a:ext>
            </a:extLst>
          </p:cNvPr>
          <p:cNvSpPr>
            <a:spLocks xmlns:a="http://schemas.openxmlformats.org/drawingml/2006/main" noGrp="1"/>
          </p:cNvSpPr>
          <p:nvPr/>
        </p:nvSpPr>
        <p:spPr>
          <a:xfrm xmlns:a="http://schemas.openxmlformats.org/drawingml/2006/main">
            <a:off x="987552" y="1563624"/>
            <a:ext cx="30632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SETUP</a:t>
            </a:r>
          </a:p>
        </p:txBody>
      </p:sp>
      <p:sp>
        <p:nvSpPr>
          <p:cNvPr id="292" name="Google Shape;292;p12">
            <a:extLst xmlns:a="http://schemas.openxmlformats.org/drawingml/2006/main">
              <a:ext uri="{FF2B5EF4-FFF2-40B4-BE49-F238E27FC236}">
                <a16:creationId xmlns:a16="http://schemas.microsoft.com/office/drawing/2014/main" id="{9C4D4796-746C-4559-9F68-724AAD37AD08}"/>
              </a:ext>
            </a:extLst>
          </p:cNvPr>
          <p:cNvSpPr>
            <a:spLocks xmlns:a="http://schemas.openxmlformats.org/drawingml/2006/main" noGrp="1"/>
          </p:cNvSpPr>
          <p:nvPr/>
        </p:nvSpPr>
        <p:spPr>
          <a:xfrm xmlns:a="http://schemas.openxmlformats.org/drawingml/2006/main">
            <a:off x="987552" y="1856232"/>
            <a:ext cx="306324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a:solidFill>
                  <a:srgbClr val="F2F2F2"/>
                </a:solidFill>
                <a:latin typeface="Arial"/>
                <a:ea typeface="Arial"/>
                <a:cs typeface="Arial"/>
              </a:rPr>
              <a:t>How will materials, equipment, samples, software, or prototypes be prepared?</a:t>
            </a:r>
          </a:p>
        </p:txBody>
      </p:sp>
      <p:sp>
        <p:nvSpPr>
          <p:cNvPr id="293" name="Google Shape;293;p12">
            <a:extLst xmlns:a="http://schemas.openxmlformats.org/drawingml/2006/main">
              <a:ext uri="{FF2B5EF4-FFF2-40B4-BE49-F238E27FC236}">
                <a16:creationId xmlns:a16="http://schemas.microsoft.com/office/drawing/2014/main" id="{CC80FEC5-AEBA-4FFD-9AEF-5625B65BB00E}"/>
              </a:ext>
            </a:extLst>
          </p:cNvPr>
          <p:cNvSpPr>
            <a:spLocks xmlns:a="http://schemas.openxmlformats.org/drawingml/2006/main" noGrp="1"/>
          </p:cNvSpPr>
          <p:nvPr/>
        </p:nvSpPr>
        <p:spPr>
          <a:xfrm xmlns:a="http://schemas.openxmlformats.org/drawingml/2006/main">
            <a:off x="4407408" y="1417320"/>
            <a:ext cx="3383280" cy="1645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4" name="Google Shape;294;p12">
            <a:extLst xmlns:a="http://schemas.openxmlformats.org/drawingml/2006/main">
              <a:ext uri="{FF2B5EF4-FFF2-40B4-BE49-F238E27FC236}">
                <a16:creationId xmlns:a16="http://schemas.microsoft.com/office/drawing/2014/main" id="{3BA087DD-2BE4-4B13-823D-08BB6C5FDFAA}"/>
              </a:ext>
            </a:extLst>
          </p:cNvPr>
          <p:cNvSpPr>
            <a:spLocks xmlns:a="http://schemas.openxmlformats.org/drawingml/2006/main" noGrp="1"/>
          </p:cNvSpPr>
          <p:nvPr/>
        </p:nvSpPr>
        <p:spPr>
          <a:xfrm xmlns:a="http://schemas.openxmlformats.org/drawingml/2006/main">
            <a:off x="4407408" y="1417320"/>
            <a:ext cx="54864" cy="16459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5" name="Google Shape;295;p12">
            <a:extLst xmlns:a="http://schemas.openxmlformats.org/drawingml/2006/main">
              <a:ext uri="{FF2B5EF4-FFF2-40B4-BE49-F238E27FC236}">
                <a16:creationId xmlns:a16="http://schemas.microsoft.com/office/drawing/2014/main" id="{E81A8BF0-B352-4D57-BF7B-09CE62B93E09}"/>
              </a:ext>
            </a:extLst>
          </p:cNvPr>
          <p:cNvSpPr>
            <a:spLocks xmlns:a="http://schemas.openxmlformats.org/drawingml/2006/main" noGrp="1"/>
          </p:cNvSpPr>
          <p:nvPr/>
        </p:nvSpPr>
        <p:spPr>
          <a:xfrm xmlns:a="http://schemas.openxmlformats.org/drawingml/2006/main">
            <a:off x="4572000" y="1563624"/>
            <a:ext cx="30632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ACTION STEPS</a:t>
            </a:r>
          </a:p>
        </p:txBody>
      </p:sp>
      <p:sp>
        <p:nvSpPr>
          <p:cNvPr id="296" name="Google Shape;296;p12">
            <a:extLst xmlns:a="http://schemas.openxmlformats.org/drawingml/2006/main">
              <a:ext uri="{FF2B5EF4-FFF2-40B4-BE49-F238E27FC236}">
                <a16:creationId xmlns:a16="http://schemas.microsoft.com/office/drawing/2014/main" id="{E39A890E-B7CD-4AE9-BF64-15D3E5BF8819}"/>
              </a:ext>
            </a:extLst>
          </p:cNvPr>
          <p:cNvSpPr>
            <a:spLocks xmlns:a="http://schemas.openxmlformats.org/drawingml/2006/main" noGrp="1"/>
          </p:cNvSpPr>
          <p:nvPr/>
        </p:nvSpPr>
        <p:spPr>
          <a:xfrm xmlns:a="http://schemas.openxmlformats.org/drawingml/2006/main">
            <a:off x="4572000" y="1856232"/>
            <a:ext cx="306324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a:solidFill>
                  <a:srgbClr val="F2F2F2"/>
                </a:solidFill>
                <a:latin typeface="Arial"/>
                <a:ea typeface="Arial"/>
                <a:cs typeface="Arial"/>
              </a:rPr>
              <a:t>What exactly will be done, in order, and under what conditions?</a:t>
            </a:r>
          </a:p>
        </p:txBody>
      </p:sp>
      <p:sp>
        <p:nvSpPr>
          <p:cNvPr id="297" name="Google Shape;297;p12">
            <a:extLst xmlns:a="http://schemas.openxmlformats.org/drawingml/2006/main">
              <a:ext uri="{FF2B5EF4-FFF2-40B4-BE49-F238E27FC236}">
                <a16:creationId xmlns:a16="http://schemas.microsoft.com/office/drawing/2014/main" id="{530FC013-11E5-4C5D-AC7E-03837A044949}"/>
              </a:ext>
            </a:extLst>
          </p:cNvPr>
          <p:cNvSpPr>
            <a:spLocks xmlns:a="http://schemas.openxmlformats.org/drawingml/2006/main" noGrp="1"/>
          </p:cNvSpPr>
          <p:nvPr/>
        </p:nvSpPr>
        <p:spPr>
          <a:xfrm xmlns:a="http://schemas.openxmlformats.org/drawingml/2006/main">
            <a:off x="8001000" y="1417320"/>
            <a:ext cx="3383280" cy="1645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8" name="Google Shape;298;p12">
            <a:extLst xmlns:a="http://schemas.openxmlformats.org/drawingml/2006/main">
              <a:ext uri="{FF2B5EF4-FFF2-40B4-BE49-F238E27FC236}">
                <a16:creationId xmlns:a16="http://schemas.microsoft.com/office/drawing/2014/main" id="{7F1167BC-6670-4698-9B2D-E990C50B6CF5}"/>
              </a:ext>
            </a:extLst>
          </p:cNvPr>
          <p:cNvSpPr>
            <a:spLocks xmlns:a="http://schemas.openxmlformats.org/drawingml/2006/main" noGrp="1"/>
          </p:cNvSpPr>
          <p:nvPr/>
        </p:nvSpPr>
        <p:spPr>
          <a:xfrm xmlns:a="http://schemas.openxmlformats.org/drawingml/2006/main">
            <a:off x="8001000" y="1417320"/>
            <a:ext cx="54864" cy="16459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9" name="Google Shape;299;p12">
            <a:extLst xmlns:a="http://schemas.openxmlformats.org/drawingml/2006/main">
              <a:ext uri="{FF2B5EF4-FFF2-40B4-BE49-F238E27FC236}">
                <a16:creationId xmlns:a16="http://schemas.microsoft.com/office/drawing/2014/main" id="{65E953D0-D96C-4AA0-B51C-B97D96280D1E}"/>
              </a:ext>
            </a:extLst>
          </p:cNvPr>
          <p:cNvSpPr>
            <a:spLocks xmlns:a="http://schemas.openxmlformats.org/drawingml/2006/main" noGrp="1"/>
          </p:cNvSpPr>
          <p:nvPr/>
        </p:nvSpPr>
        <p:spPr>
          <a:xfrm xmlns:a="http://schemas.openxmlformats.org/drawingml/2006/main">
            <a:off x="8165592" y="1563624"/>
            <a:ext cx="30632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RECORDING</a:t>
            </a:r>
          </a:p>
        </p:txBody>
      </p:sp>
      <p:sp>
        <p:nvSpPr>
          <p:cNvPr id="300" name="Google Shape;300;p12">
            <a:extLst xmlns:a="http://schemas.openxmlformats.org/drawingml/2006/main">
              <a:ext uri="{FF2B5EF4-FFF2-40B4-BE49-F238E27FC236}">
                <a16:creationId xmlns:a16="http://schemas.microsoft.com/office/drawing/2014/main" id="{F1BD89CD-564F-46A4-861A-66DCF231433D}"/>
              </a:ext>
            </a:extLst>
          </p:cNvPr>
          <p:cNvSpPr>
            <a:spLocks xmlns:a="http://schemas.openxmlformats.org/drawingml/2006/main" noGrp="1"/>
          </p:cNvSpPr>
          <p:nvPr/>
        </p:nvSpPr>
        <p:spPr>
          <a:xfrm xmlns:a="http://schemas.openxmlformats.org/drawingml/2006/main">
            <a:off x="8165592" y="1856232"/>
            <a:ext cx="306324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a:solidFill>
                  <a:srgbClr val="F2F2F2"/>
                </a:solidFill>
                <a:latin typeface="Arial"/>
                <a:ea typeface="Arial"/>
                <a:cs typeface="Arial"/>
              </a:rPr>
              <a:t>When and how will measurements or observations be captured?</a:t>
            </a:r>
          </a:p>
        </p:txBody>
      </p:sp>
      <p:sp>
        <p:nvSpPr>
          <p:cNvPr id="301" name="Google Shape;301;p12">
            <a:extLst xmlns:a="http://schemas.openxmlformats.org/drawingml/2006/main">
              <a:ext uri="{FF2B5EF4-FFF2-40B4-BE49-F238E27FC236}">
                <a16:creationId xmlns:a16="http://schemas.microsoft.com/office/drawing/2014/main" id="{6E409FF4-A556-4BD4-8B7C-EB15879E89B2}"/>
              </a:ext>
            </a:extLst>
          </p:cNvPr>
          <p:cNvSpPr>
            <a:spLocks xmlns:a="http://schemas.openxmlformats.org/drawingml/2006/main" noGrp="1"/>
          </p:cNvSpPr>
          <p:nvPr/>
        </p:nvSpPr>
        <p:spPr>
          <a:xfrm xmlns:a="http://schemas.openxmlformats.org/drawingml/2006/main">
            <a:off x="1005840" y="3520440"/>
            <a:ext cx="10149840" cy="86868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2" name="Google Shape;302;p12">
            <a:extLst xmlns:a="http://schemas.openxmlformats.org/drawingml/2006/main">
              <a:ext uri="{FF2B5EF4-FFF2-40B4-BE49-F238E27FC236}">
                <a16:creationId xmlns:a16="http://schemas.microsoft.com/office/drawing/2014/main" id="{F3BB0F9C-752E-4895-9F7A-F9A37B924219}"/>
              </a:ext>
            </a:extLst>
          </p:cNvPr>
          <p:cNvSpPr>
            <a:spLocks xmlns:a="http://schemas.openxmlformats.org/drawingml/2006/main" noGrp="1"/>
          </p:cNvSpPr>
          <p:nvPr/>
        </p:nvSpPr>
        <p:spPr>
          <a:xfrm xmlns:a="http://schemas.openxmlformats.org/drawingml/2006/main">
            <a:off x="1005840" y="3520440"/>
            <a:ext cx="54864" cy="86868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3" name="Google Shape;303;p12">
            <a:extLst xmlns:a="http://schemas.openxmlformats.org/drawingml/2006/main">
              <a:ext uri="{FF2B5EF4-FFF2-40B4-BE49-F238E27FC236}">
                <a16:creationId xmlns:a16="http://schemas.microsoft.com/office/drawing/2014/main" id="{1E62321D-2B3C-424B-8D8F-C7CF2263FEC1}"/>
              </a:ext>
            </a:extLst>
          </p:cNvPr>
          <p:cNvSpPr>
            <a:spLocks xmlns:a="http://schemas.openxmlformats.org/drawingml/2006/main" noGrp="1"/>
          </p:cNvSpPr>
          <p:nvPr/>
        </p:nvSpPr>
        <p:spPr>
          <a:xfrm xmlns:a="http://schemas.openxmlformats.org/drawingml/2006/main">
            <a:off x="1170432" y="3666744"/>
            <a:ext cx="982980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EVERY PROCEDURE NEEDS A RESET PLAN.</a:t>
            </a:r>
          </a:p>
        </p:txBody>
      </p:sp>
      <p:sp>
        <p:nvSpPr>
          <p:cNvPr id="304" name="Google Shape;304;p12">
            <a:extLst xmlns:a="http://schemas.openxmlformats.org/drawingml/2006/main">
              <a:ext uri="{FF2B5EF4-FFF2-40B4-BE49-F238E27FC236}">
                <a16:creationId xmlns:a16="http://schemas.microsoft.com/office/drawing/2014/main" id="{3A5F90EB-DDE8-4F37-B011-1C72AF002E91}"/>
              </a:ext>
            </a:extLst>
          </p:cNvPr>
          <p:cNvSpPr>
            <a:spLocks xmlns:a="http://schemas.openxmlformats.org/drawingml/2006/main" noGrp="1"/>
          </p:cNvSpPr>
          <p:nvPr/>
        </p:nvSpPr>
        <p:spPr>
          <a:xfrm xmlns:a="http://schemas.openxmlformats.org/drawingml/2006/main">
            <a:off x="1170432" y="3959352"/>
            <a:ext cx="98298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200"/>
              <a:buFont typeface="Arial"/>
              <a:buNone/>
            </a:pPr>
            <a:r>
              <a:rPr sz="1200">
                <a:solidFill>
                  <a:srgbClr val="F2F2F2"/>
                </a:solidFill>
                <a:latin typeface="Arial"/>
                <a:ea typeface="Arial"/>
                <a:cs typeface="Arial"/>
              </a:rPr>
              <a:t>After each trial: what gets cleaned, reset, recalibrated, replaced, relabeled, or checked before the next trial?</a:t>
            </a:r>
          </a:p>
        </p:txBody>
      </p:sp>
      <p:sp>
        <p:nvSpPr>
          <p:cNvPr id="305" name="Google Shape;305;p12">
            <a:extLst xmlns:a="http://schemas.openxmlformats.org/drawingml/2006/main">
              <a:ext uri="{FF2B5EF4-FFF2-40B4-BE49-F238E27FC236}">
                <a16:creationId xmlns:a16="http://schemas.microsoft.com/office/drawing/2014/main" id="{50FE8F0F-B667-4B78-AC73-6FD1B5CA21B1}"/>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6" name="Google Shape;306;p12">
            <a:extLst xmlns:a="http://schemas.openxmlformats.org/drawingml/2006/main">
              <a:ext uri="{FF2B5EF4-FFF2-40B4-BE49-F238E27FC236}">
                <a16:creationId xmlns:a16="http://schemas.microsoft.com/office/drawing/2014/main" id="{8B3A236C-CDC5-4DC4-80AC-8E8987038C21}"/>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7" name="Google Shape;307;p12">
            <a:extLst xmlns:a="http://schemas.openxmlformats.org/drawingml/2006/main">
              <a:ext uri="{FF2B5EF4-FFF2-40B4-BE49-F238E27FC236}">
                <a16:creationId xmlns:a16="http://schemas.microsoft.com/office/drawing/2014/main" id="{B1C43A68-CE79-4DB2-8504-3C04DD700CEA}"/>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a:solidFill>
                  <a:srgbClr val="F2F2F2"/>
                </a:solidFill>
                <a:latin typeface="Arial"/>
                <a:ea typeface="Arial"/>
                <a:cs typeface="Arial"/>
              </a:rPr>
              <a:t>STUDENT ACTIVITY</a:t>
            </a:r>
          </a:p>
        </p:txBody>
      </p:sp>
      <p:sp>
        <p:nvSpPr>
          <p:cNvPr id="308" name="Google Shape;308;p12">
            <a:extLst xmlns:a="http://schemas.openxmlformats.org/drawingml/2006/main">
              <a:ext uri="{FF2B5EF4-FFF2-40B4-BE49-F238E27FC236}">
                <a16:creationId xmlns:a16="http://schemas.microsoft.com/office/drawing/2014/main" id="{CA49825A-A471-4B3C-968F-14184B1BF967}"/>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a:solidFill>
                  <a:srgbClr val="F2F2F2"/>
                </a:solidFill>
                <a:latin typeface="Arial"/>
                <a:ea typeface="Arial"/>
                <a:cs typeface="Arial"/>
              </a:rPr>
              <a:t>Procedure stress test.</a:t>
            </a:r>
          </a:p>
        </p:txBody>
      </p:sp>
      <p:sp>
        <p:nvSpPr>
          <p:cNvPr id="309" name="Google Shape;309;p12">
            <a:extLst xmlns:a="http://schemas.openxmlformats.org/drawingml/2006/main">
              <a:ext uri="{FF2B5EF4-FFF2-40B4-BE49-F238E27FC236}">
                <a16:creationId xmlns:a16="http://schemas.microsoft.com/office/drawing/2014/main" id="{B119D8F3-1AB7-4D86-9E2F-95CF0254BFD4}"/>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a:solidFill>
                  <a:srgbClr val="B8B8B8"/>
                </a:solidFill>
                <a:latin typeface="Arial"/>
                <a:ea typeface="Arial"/>
                <a:cs typeface="Arial"/>
              </a:rPr>
              <a:t>Pick one step from your procedure and ask: What could someone misunderstand?</a:t>
            </a:r>
          </a:p>
        </p:txBody>
      </p:sp>
    </p:spTree>
    <p:extLst>
      <p:ext uri="{BB962C8B-B14F-4D97-AF65-F5344CB8AC3E}">
        <p14:creationId xmlns:p14="http://schemas.microsoft.com/office/powerpoint/2010/main" val="1740632832"/>
      </p:ext>
    </p:extLst>
  </p:cSld>
</p:sld>
</file>

<file path=ppt/slides/slide1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15" name="Google Shape;315;p13">
            <a:extLst xmlns:a="http://schemas.openxmlformats.org/drawingml/2006/main">
              <a:ext uri="{FF2B5EF4-FFF2-40B4-BE49-F238E27FC236}">
                <a16:creationId xmlns:a16="http://schemas.microsoft.com/office/drawing/2014/main" id="{3CE91B49-0E80-488A-9FE0-19E09B6489B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6" name="Google Shape;316;p13">
            <a:extLst xmlns:a="http://schemas.openxmlformats.org/drawingml/2006/main">
              <a:ext uri="{FF2B5EF4-FFF2-40B4-BE49-F238E27FC236}">
                <a16:creationId xmlns:a16="http://schemas.microsoft.com/office/drawing/2014/main" id="{7AF20FEE-5901-4357-A4AD-CB9BC961FBBC}"/>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7" name="Google Shape;317;p13">
            <a:extLst xmlns:a="http://schemas.openxmlformats.org/drawingml/2006/main">
              <a:ext uri="{FF2B5EF4-FFF2-40B4-BE49-F238E27FC236}">
                <a16:creationId xmlns:a16="http://schemas.microsoft.com/office/drawing/2014/main" id="{D390495C-153D-4DBB-8545-5DCFF44B232A}"/>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8" name="Google Shape;318;p13">
            <a:extLst xmlns:a="http://schemas.openxmlformats.org/drawingml/2006/main">
              <a:ext uri="{FF2B5EF4-FFF2-40B4-BE49-F238E27FC236}">
                <a16:creationId xmlns:a16="http://schemas.microsoft.com/office/drawing/2014/main" id="{F4D1CFA9-DE6E-48EF-A8E8-4D7BDC738C7C}"/>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SECTION 7</a:t>
            </a:r>
          </a:p>
        </p:txBody>
      </p:sp>
      <p:sp>
        <p:nvSpPr>
          <p:cNvPr id="319" name="Google Shape;319;p13">
            <a:extLst xmlns:a="http://schemas.openxmlformats.org/drawingml/2006/main">
              <a:ext uri="{FF2B5EF4-FFF2-40B4-BE49-F238E27FC236}">
                <a16:creationId xmlns:a16="http://schemas.microsoft.com/office/drawing/2014/main" id="{1E50C00D-C924-4691-A1AE-7BDA826277B9}"/>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320" name="Google Shape;320;p13">
            <a:extLst xmlns:a="http://schemas.openxmlformats.org/drawingml/2006/main">
              <a:ext uri="{FF2B5EF4-FFF2-40B4-BE49-F238E27FC236}">
                <a16:creationId xmlns:a16="http://schemas.microsoft.com/office/drawing/2014/main" id="{451FDFD3-2E4D-458D-BE42-41EE4A664088}"/>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SECTION 7: DATA COLLECTION PLAN</a:t>
            </a:r>
          </a:p>
        </p:txBody>
      </p:sp>
      <p:cxnSp>
        <p:nvCxnSpPr>
          <p:cNvPr id="366" name="Google Shape;321;p13"/>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322" name="Google Shape;322;p13">
            <a:extLst xmlns:a="http://schemas.openxmlformats.org/drawingml/2006/main">
              <a:ext uri="{FF2B5EF4-FFF2-40B4-BE49-F238E27FC236}">
                <a16:creationId xmlns:a16="http://schemas.microsoft.com/office/drawing/2014/main" id="{C8244B26-4B01-4E00-B137-C22B450FC477}"/>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If students cannot build a blank data table, they are not ready to collect data.</a:t>
            </a:r>
          </a:p>
        </p:txBody>
      </p:sp>
      <p:sp>
        <p:nvSpPr>
          <p:cNvPr id="323" name="Google Shape;323;p13">
            <a:extLst xmlns:a="http://schemas.openxmlformats.org/drawingml/2006/main">
              <a:ext uri="{FF2B5EF4-FFF2-40B4-BE49-F238E27FC236}">
                <a16:creationId xmlns:a16="http://schemas.microsoft.com/office/drawing/2014/main" id="{E4C57272-366B-499C-9DF0-8CA3C0F3AB99}"/>
              </a:ext>
            </a:extLst>
          </p:cNvPr>
          <p:cNvSpPr>
            <a:spLocks xmlns:a="http://schemas.openxmlformats.org/drawingml/2006/main" noGrp="1"/>
          </p:cNvSpPr>
          <p:nvPr/>
        </p:nvSpPr>
        <p:spPr>
          <a:xfrm xmlns:a="http://schemas.openxmlformats.org/drawingml/2006/main">
            <a:off x="868680" y="1371600"/>
            <a:ext cx="5074920" cy="100584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4" name="Google Shape;324;p13">
            <a:extLst xmlns:a="http://schemas.openxmlformats.org/drawingml/2006/main">
              <a:ext uri="{FF2B5EF4-FFF2-40B4-BE49-F238E27FC236}">
                <a16:creationId xmlns:a16="http://schemas.microsoft.com/office/drawing/2014/main" id="{D187A412-4DF8-4C3F-B7F5-2F5537F389B0}"/>
              </a:ext>
            </a:extLst>
          </p:cNvPr>
          <p:cNvSpPr>
            <a:spLocks xmlns:a="http://schemas.openxmlformats.org/drawingml/2006/main" noGrp="1"/>
          </p:cNvSpPr>
          <p:nvPr/>
        </p:nvSpPr>
        <p:spPr>
          <a:xfrm xmlns:a="http://schemas.openxmlformats.org/drawingml/2006/main">
            <a:off x="868680" y="1371600"/>
            <a:ext cx="54864" cy="100584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5" name="Google Shape;325;p13">
            <a:extLst xmlns:a="http://schemas.openxmlformats.org/drawingml/2006/main">
              <a:ext uri="{FF2B5EF4-FFF2-40B4-BE49-F238E27FC236}">
                <a16:creationId xmlns:a16="http://schemas.microsoft.com/office/drawing/2014/main" id="{39B22B18-5C2C-4BF6-9DC8-F01032BBF26E}"/>
              </a:ext>
            </a:extLst>
          </p:cNvPr>
          <p:cNvSpPr>
            <a:spLocks xmlns:a="http://schemas.openxmlformats.org/drawingml/2006/main" noGrp="1"/>
          </p:cNvSpPr>
          <p:nvPr/>
        </p:nvSpPr>
        <p:spPr>
          <a:xfrm xmlns:a="http://schemas.openxmlformats.org/drawingml/2006/main">
            <a:off x="1033272" y="151790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RAW DATA</a:t>
            </a:r>
          </a:p>
        </p:txBody>
      </p:sp>
      <p:sp>
        <p:nvSpPr>
          <p:cNvPr id="326" name="Google Shape;326;p13">
            <a:extLst xmlns:a="http://schemas.openxmlformats.org/drawingml/2006/main">
              <a:ext uri="{FF2B5EF4-FFF2-40B4-BE49-F238E27FC236}">
                <a16:creationId xmlns:a16="http://schemas.microsoft.com/office/drawing/2014/main" id="{6098CBE1-43E9-4587-A6F4-6A8EB8614726}"/>
              </a:ext>
            </a:extLst>
          </p:cNvPr>
          <p:cNvSpPr>
            <a:spLocks xmlns:a="http://schemas.openxmlformats.org/drawingml/2006/main" noGrp="1"/>
          </p:cNvSpPr>
          <p:nvPr/>
        </p:nvSpPr>
        <p:spPr>
          <a:xfrm xmlns:a="http://schemas.openxmlformats.org/drawingml/2006/main">
            <a:off x="1033272" y="1810512"/>
            <a:ext cx="47548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a:solidFill>
                  <a:srgbClr val="F2F2F2"/>
                </a:solidFill>
                <a:latin typeface="Arial"/>
                <a:ea typeface="Arial"/>
                <a:cs typeface="Arial"/>
              </a:rPr>
              <a:t>What will be directly measured or recorded?</a:t>
            </a:r>
          </a:p>
        </p:txBody>
      </p:sp>
      <p:sp>
        <p:nvSpPr>
          <p:cNvPr id="327" name="Google Shape;327;p13">
            <a:extLst xmlns:a="http://schemas.openxmlformats.org/drawingml/2006/main">
              <a:ext uri="{FF2B5EF4-FFF2-40B4-BE49-F238E27FC236}">
                <a16:creationId xmlns:a16="http://schemas.microsoft.com/office/drawing/2014/main" id="{B10CA4C9-BD4F-4791-9378-31D82CB89623}"/>
              </a:ext>
            </a:extLst>
          </p:cNvPr>
          <p:cNvSpPr>
            <a:spLocks xmlns:a="http://schemas.openxmlformats.org/drawingml/2006/main" noGrp="1"/>
          </p:cNvSpPr>
          <p:nvPr/>
        </p:nvSpPr>
        <p:spPr>
          <a:xfrm xmlns:a="http://schemas.openxmlformats.org/drawingml/2006/main">
            <a:off x="6309360" y="1371600"/>
            <a:ext cx="5074920" cy="100584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8" name="Google Shape;328;p13">
            <a:extLst xmlns:a="http://schemas.openxmlformats.org/drawingml/2006/main">
              <a:ext uri="{FF2B5EF4-FFF2-40B4-BE49-F238E27FC236}">
                <a16:creationId xmlns:a16="http://schemas.microsoft.com/office/drawing/2014/main" id="{740FF0E2-6F37-4EBC-9F7D-DE0826B4EB48}"/>
              </a:ext>
            </a:extLst>
          </p:cNvPr>
          <p:cNvSpPr>
            <a:spLocks xmlns:a="http://schemas.openxmlformats.org/drawingml/2006/main" noGrp="1"/>
          </p:cNvSpPr>
          <p:nvPr/>
        </p:nvSpPr>
        <p:spPr>
          <a:xfrm xmlns:a="http://schemas.openxmlformats.org/drawingml/2006/main">
            <a:off x="6309360" y="1371600"/>
            <a:ext cx="54864" cy="100584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9" name="Google Shape;329;p13">
            <a:extLst xmlns:a="http://schemas.openxmlformats.org/drawingml/2006/main">
              <a:ext uri="{FF2B5EF4-FFF2-40B4-BE49-F238E27FC236}">
                <a16:creationId xmlns:a16="http://schemas.microsoft.com/office/drawing/2014/main" id="{4D064EF8-7380-4665-831A-98E6A8E67D98}"/>
              </a:ext>
            </a:extLst>
          </p:cNvPr>
          <p:cNvSpPr>
            <a:spLocks xmlns:a="http://schemas.openxmlformats.org/drawingml/2006/main" noGrp="1"/>
          </p:cNvSpPr>
          <p:nvPr/>
        </p:nvSpPr>
        <p:spPr>
          <a:xfrm xmlns:a="http://schemas.openxmlformats.org/drawingml/2006/main">
            <a:off x="6473952" y="151790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UNITS</a:t>
            </a:r>
          </a:p>
        </p:txBody>
      </p:sp>
      <p:sp>
        <p:nvSpPr>
          <p:cNvPr id="330" name="Google Shape;330;p13">
            <a:extLst xmlns:a="http://schemas.openxmlformats.org/drawingml/2006/main">
              <a:ext uri="{FF2B5EF4-FFF2-40B4-BE49-F238E27FC236}">
                <a16:creationId xmlns:a16="http://schemas.microsoft.com/office/drawing/2014/main" id="{616D411E-EC93-4F74-9905-AF4682A79DE0}"/>
              </a:ext>
            </a:extLst>
          </p:cNvPr>
          <p:cNvSpPr>
            <a:spLocks xmlns:a="http://schemas.openxmlformats.org/drawingml/2006/main" noGrp="1"/>
          </p:cNvSpPr>
          <p:nvPr/>
        </p:nvSpPr>
        <p:spPr>
          <a:xfrm xmlns:a="http://schemas.openxmlformats.org/drawingml/2006/main">
            <a:off x="6473952" y="1810512"/>
            <a:ext cx="47548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a:solidFill>
                  <a:srgbClr val="F2F2F2"/>
                </a:solidFill>
                <a:latin typeface="Arial"/>
                <a:ea typeface="Arial"/>
                <a:cs typeface="Arial"/>
              </a:rPr>
              <a:t>What units or categories will be used?</a:t>
            </a:r>
          </a:p>
        </p:txBody>
      </p:sp>
      <p:sp>
        <p:nvSpPr>
          <p:cNvPr id="331" name="Google Shape;331;p13">
            <a:extLst xmlns:a="http://schemas.openxmlformats.org/drawingml/2006/main">
              <a:ext uri="{FF2B5EF4-FFF2-40B4-BE49-F238E27FC236}">
                <a16:creationId xmlns:a16="http://schemas.microsoft.com/office/drawing/2014/main" id="{2E093EA4-36D3-42D1-BC48-8F0D58234C6F}"/>
              </a:ext>
            </a:extLst>
          </p:cNvPr>
          <p:cNvSpPr>
            <a:spLocks xmlns:a="http://schemas.openxmlformats.org/drawingml/2006/main" noGrp="1"/>
          </p:cNvSpPr>
          <p:nvPr/>
        </p:nvSpPr>
        <p:spPr>
          <a:xfrm xmlns:a="http://schemas.openxmlformats.org/drawingml/2006/main">
            <a:off x="868680" y="2697480"/>
            <a:ext cx="5074920" cy="100584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2" name="Google Shape;332;p13">
            <a:extLst xmlns:a="http://schemas.openxmlformats.org/drawingml/2006/main">
              <a:ext uri="{FF2B5EF4-FFF2-40B4-BE49-F238E27FC236}">
                <a16:creationId xmlns:a16="http://schemas.microsoft.com/office/drawing/2014/main" id="{1C4B1686-D79E-45AF-9519-E9773C6D470D}"/>
              </a:ext>
            </a:extLst>
          </p:cNvPr>
          <p:cNvSpPr>
            <a:spLocks xmlns:a="http://schemas.openxmlformats.org/drawingml/2006/main" noGrp="1"/>
          </p:cNvSpPr>
          <p:nvPr/>
        </p:nvSpPr>
        <p:spPr>
          <a:xfrm xmlns:a="http://schemas.openxmlformats.org/drawingml/2006/main">
            <a:off x="868680" y="2697480"/>
            <a:ext cx="54864" cy="100584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3" name="Google Shape;333;p13">
            <a:extLst xmlns:a="http://schemas.openxmlformats.org/drawingml/2006/main">
              <a:ext uri="{FF2B5EF4-FFF2-40B4-BE49-F238E27FC236}">
                <a16:creationId xmlns:a16="http://schemas.microsoft.com/office/drawing/2014/main" id="{79254377-DA92-46C7-B351-65434425AE05}"/>
              </a:ext>
            </a:extLst>
          </p:cNvPr>
          <p:cNvSpPr>
            <a:spLocks xmlns:a="http://schemas.openxmlformats.org/drawingml/2006/main" noGrp="1"/>
          </p:cNvSpPr>
          <p:nvPr/>
        </p:nvSpPr>
        <p:spPr>
          <a:xfrm xmlns:a="http://schemas.openxmlformats.org/drawingml/2006/main">
            <a:off x="1033272" y="28437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FREQUENCY</a:t>
            </a:r>
          </a:p>
        </p:txBody>
      </p:sp>
      <p:sp>
        <p:nvSpPr>
          <p:cNvPr id="334" name="Google Shape;334;p13">
            <a:extLst xmlns:a="http://schemas.openxmlformats.org/drawingml/2006/main">
              <a:ext uri="{FF2B5EF4-FFF2-40B4-BE49-F238E27FC236}">
                <a16:creationId xmlns:a16="http://schemas.microsoft.com/office/drawing/2014/main" id="{8BAC472D-5EA0-48B3-AB53-9643BF5136B2}"/>
              </a:ext>
            </a:extLst>
          </p:cNvPr>
          <p:cNvSpPr>
            <a:spLocks xmlns:a="http://schemas.openxmlformats.org/drawingml/2006/main" noGrp="1"/>
          </p:cNvSpPr>
          <p:nvPr/>
        </p:nvSpPr>
        <p:spPr>
          <a:xfrm xmlns:a="http://schemas.openxmlformats.org/drawingml/2006/main">
            <a:off x="1033272" y="3136392"/>
            <a:ext cx="47548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a:solidFill>
                  <a:srgbClr val="F2F2F2"/>
                </a:solidFill>
                <a:latin typeface="Arial"/>
                <a:ea typeface="Arial"/>
                <a:cs typeface="Arial"/>
              </a:rPr>
              <a:t>How often or how many times?</a:t>
            </a:r>
          </a:p>
        </p:txBody>
      </p:sp>
      <p:sp>
        <p:nvSpPr>
          <p:cNvPr id="335" name="Google Shape;335;p13">
            <a:extLst xmlns:a="http://schemas.openxmlformats.org/drawingml/2006/main">
              <a:ext uri="{FF2B5EF4-FFF2-40B4-BE49-F238E27FC236}">
                <a16:creationId xmlns:a16="http://schemas.microsoft.com/office/drawing/2014/main" id="{8D9A7EE2-4528-44A1-9601-166E29F9D347}"/>
              </a:ext>
            </a:extLst>
          </p:cNvPr>
          <p:cNvSpPr>
            <a:spLocks xmlns:a="http://schemas.openxmlformats.org/drawingml/2006/main" noGrp="1"/>
          </p:cNvSpPr>
          <p:nvPr/>
        </p:nvSpPr>
        <p:spPr>
          <a:xfrm xmlns:a="http://schemas.openxmlformats.org/drawingml/2006/main">
            <a:off x="6309360" y="2697480"/>
            <a:ext cx="5074920" cy="100584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6" name="Google Shape;336;p13">
            <a:extLst xmlns:a="http://schemas.openxmlformats.org/drawingml/2006/main">
              <a:ext uri="{FF2B5EF4-FFF2-40B4-BE49-F238E27FC236}">
                <a16:creationId xmlns:a16="http://schemas.microsoft.com/office/drawing/2014/main" id="{0D0D6106-093F-4528-B038-1B76D7103F74}"/>
              </a:ext>
            </a:extLst>
          </p:cNvPr>
          <p:cNvSpPr>
            <a:spLocks xmlns:a="http://schemas.openxmlformats.org/drawingml/2006/main" noGrp="1"/>
          </p:cNvSpPr>
          <p:nvPr/>
        </p:nvSpPr>
        <p:spPr>
          <a:xfrm xmlns:a="http://schemas.openxmlformats.org/drawingml/2006/main">
            <a:off x="6309360" y="2697480"/>
            <a:ext cx="54864" cy="100584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7" name="Google Shape;337;p13">
            <a:extLst xmlns:a="http://schemas.openxmlformats.org/drawingml/2006/main">
              <a:ext uri="{FF2B5EF4-FFF2-40B4-BE49-F238E27FC236}">
                <a16:creationId xmlns:a16="http://schemas.microsoft.com/office/drawing/2014/main" id="{EA5CD7BA-589F-42BD-95A8-8C2E1DBA8BFE}"/>
              </a:ext>
            </a:extLst>
          </p:cNvPr>
          <p:cNvSpPr>
            <a:spLocks xmlns:a="http://schemas.openxmlformats.org/drawingml/2006/main" noGrp="1"/>
          </p:cNvSpPr>
          <p:nvPr/>
        </p:nvSpPr>
        <p:spPr>
          <a:xfrm xmlns:a="http://schemas.openxmlformats.org/drawingml/2006/main">
            <a:off x="6473952" y="28437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STORAGE</a:t>
            </a:r>
          </a:p>
        </p:txBody>
      </p:sp>
      <p:sp>
        <p:nvSpPr>
          <p:cNvPr id="338" name="Google Shape;338;p13">
            <a:extLst xmlns:a="http://schemas.openxmlformats.org/drawingml/2006/main">
              <a:ext uri="{FF2B5EF4-FFF2-40B4-BE49-F238E27FC236}">
                <a16:creationId xmlns:a16="http://schemas.microsoft.com/office/drawing/2014/main" id="{E77E26F6-258E-4ACC-8991-2B36457C9C65}"/>
              </a:ext>
            </a:extLst>
          </p:cNvPr>
          <p:cNvSpPr>
            <a:spLocks xmlns:a="http://schemas.openxmlformats.org/drawingml/2006/main" noGrp="1"/>
          </p:cNvSpPr>
          <p:nvPr/>
        </p:nvSpPr>
        <p:spPr>
          <a:xfrm xmlns:a="http://schemas.openxmlformats.org/drawingml/2006/main">
            <a:off x="6473952" y="3136392"/>
            <a:ext cx="475488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a:solidFill>
                  <a:srgbClr val="F2F2F2"/>
                </a:solidFill>
                <a:latin typeface="Arial"/>
                <a:ea typeface="Arial"/>
                <a:cs typeface="Arial"/>
              </a:rPr>
              <a:t>Where will data live and be backed up?</a:t>
            </a:r>
          </a:p>
        </p:txBody>
      </p:sp>
      <p:sp>
        <p:nvSpPr>
          <p:cNvPr id="339" name="Google Shape;339;p13">
            <a:extLst xmlns:a="http://schemas.openxmlformats.org/drawingml/2006/main">
              <a:ext uri="{FF2B5EF4-FFF2-40B4-BE49-F238E27FC236}">
                <a16:creationId xmlns:a16="http://schemas.microsoft.com/office/drawing/2014/main" id="{E421F3A4-261C-4A66-88FC-67EDBB28D281}"/>
              </a:ext>
            </a:extLst>
          </p:cNvPr>
          <p:cNvSpPr>
            <a:spLocks xmlns:a="http://schemas.openxmlformats.org/drawingml/2006/main" noGrp="1"/>
          </p:cNvSpPr>
          <p:nvPr/>
        </p:nvSpPr>
        <p:spPr>
          <a:xfrm xmlns:a="http://schemas.openxmlformats.org/drawingml/2006/main">
            <a:off x="1005840" y="4069080"/>
            <a:ext cx="10149840" cy="411480"/>
          </a:xfrm>
          <a:prstGeom xmlns:a="http://schemas.openxmlformats.org/drawingml/2006/main" prst="rect">
            <a:avLst/>
          </a:prstGeom>
          <a:solidFill xmlns:a="http://schemas.openxmlformats.org/drawingml/2006/main">
            <a:srgbClr val="0A0A0A"/>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0" name="Google Shape;340;p13">
            <a:extLst xmlns:a="http://schemas.openxmlformats.org/drawingml/2006/main">
              <a:ext uri="{FF2B5EF4-FFF2-40B4-BE49-F238E27FC236}">
                <a16:creationId xmlns:a16="http://schemas.microsoft.com/office/drawing/2014/main" id="{5254340E-20F0-4E3A-ADCA-2CFF2B1EF9F9}"/>
              </a:ext>
            </a:extLst>
          </p:cNvPr>
          <p:cNvSpPr>
            <a:spLocks xmlns:a="http://schemas.openxmlformats.org/drawingml/2006/main" noGrp="1"/>
          </p:cNvSpPr>
          <p:nvPr/>
        </p:nvSpPr>
        <p:spPr>
          <a:xfrm xmlns:a="http://schemas.openxmlformats.org/drawingml/2006/main">
            <a:off x="1143000" y="4187952"/>
            <a:ext cx="9875520" cy="1463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1250"/>
              <a:buFont typeface="Arial"/>
              <a:buNone/>
            </a:pPr>
            <a:r>
              <a:rPr sz="1250" b="1">
                <a:solidFill>
                  <a:srgbClr val="F2F2F2"/>
                </a:solidFill>
                <a:latin typeface="Arial"/>
                <a:ea typeface="Arial"/>
                <a:cs typeface="Arial"/>
              </a:rPr>
              <a:t>Blank table test: Trial | Condition | Measurement | Units | Notes | Questionable?</a:t>
            </a:r>
          </a:p>
        </p:txBody>
      </p:sp>
      <p:sp>
        <p:nvSpPr>
          <p:cNvPr id="341" name="Google Shape;341;p13">
            <a:extLst xmlns:a="http://schemas.openxmlformats.org/drawingml/2006/main">
              <a:ext uri="{FF2B5EF4-FFF2-40B4-BE49-F238E27FC236}">
                <a16:creationId xmlns:a16="http://schemas.microsoft.com/office/drawing/2014/main" id="{E029BEFB-AA5E-4F02-9DC4-D90DB60D1CCB}"/>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2" name="Google Shape;342;p13">
            <a:extLst xmlns:a="http://schemas.openxmlformats.org/drawingml/2006/main">
              <a:ext uri="{FF2B5EF4-FFF2-40B4-BE49-F238E27FC236}">
                <a16:creationId xmlns:a16="http://schemas.microsoft.com/office/drawing/2014/main" id="{54E618D4-D29F-46E8-9F5E-DAE493859644}"/>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3" name="Google Shape;343;p13">
            <a:extLst xmlns:a="http://schemas.openxmlformats.org/drawingml/2006/main">
              <a:ext uri="{FF2B5EF4-FFF2-40B4-BE49-F238E27FC236}">
                <a16:creationId xmlns:a16="http://schemas.microsoft.com/office/drawing/2014/main" id="{F68584BB-462C-4068-9CE5-9570647C1894}"/>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a:solidFill>
                  <a:srgbClr val="F2F2F2"/>
                </a:solidFill>
                <a:latin typeface="Arial"/>
                <a:ea typeface="Arial"/>
                <a:cs typeface="Arial"/>
              </a:rPr>
              <a:t>STUDENT ACTIVITY</a:t>
            </a:r>
          </a:p>
        </p:txBody>
      </p:sp>
      <p:sp>
        <p:nvSpPr>
          <p:cNvPr id="344" name="Google Shape;344;p13">
            <a:extLst xmlns:a="http://schemas.openxmlformats.org/drawingml/2006/main">
              <a:ext uri="{FF2B5EF4-FFF2-40B4-BE49-F238E27FC236}">
                <a16:creationId xmlns:a16="http://schemas.microsoft.com/office/drawing/2014/main" id="{79DE857A-5D01-496A-B57D-18474982AD44}"/>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a:solidFill>
                  <a:srgbClr val="F2F2F2"/>
                </a:solidFill>
                <a:latin typeface="Arial"/>
                <a:ea typeface="Arial"/>
                <a:cs typeface="Arial"/>
              </a:rPr>
              <a:t>Build the first data table.</a:t>
            </a:r>
          </a:p>
        </p:txBody>
      </p:sp>
      <p:sp>
        <p:nvSpPr>
          <p:cNvPr id="345" name="Google Shape;345;p13">
            <a:extLst xmlns:a="http://schemas.openxmlformats.org/drawingml/2006/main">
              <a:ext uri="{FF2B5EF4-FFF2-40B4-BE49-F238E27FC236}">
                <a16:creationId xmlns:a16="http://schemas.microsoft.com/office/drawing/2014/main" id="{4382318D-0B01-412C-9490-5CDBD61B38DB}"/>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a:solidFill>
                  <a:srgbClr val="B8B8B8"/>
                </a:solidFill>
                <a:latin typeface="Arial"/>
                <a:ea typeface="Arial"/>
                <a:cs typeface="Arial"/>
              </a:rPr>
              <a:t>Sketch the column headers you will use before any testing begins.</a:t>
            </a:r>
          </a:p>
        </p:txBody>
      </p:sp>
    </p:spTree>
    <p:extLst>
      <p:ext uri="{BB962C8B-B14F-4D97-AF65-F5344CB8AC3E}">
        <p14:creationId xmlns:p14="http://schemas.microsoft.com/office/powerpoint/2010/main" val="1874113480"/>
      </p:ext>
    </p:extLst>
  </p:cSld>
</p:sld>
</file>

<file path=ppt/slides/slide1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51" name="Google Shape;351;p14">
            <a:extLst xmlns:a="http://schemas.openxmlformats.org/drawingml/2006/main">
              <a:ext uri="{FF2B5EF4-FFF2-40B4-BE49-F238E27FC236}">
                <a16:creationId xmlns:a16="http://schemas.microsoft.com/office/drawing/2014/main" id="{DF7877D2-F8DB-4881-BDFB-B3F30A653B8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2" name="Google Shape;352;p14">
            <a:extLst xmlns:a="http://schemas.openxmlformats.org/drawingml/2006/main">
              <a:ext uri="{FF2B5EF4-FFF2-40B4-BE49-F238E27FC236}">
                <a16:creationId xmlns:a16="http://schemas.microsoft.com/office/drawing/2014/main" id="{284CC913-FFD6-410B-BD6C-C01A28D7DD42}"/>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3" name="Google Shape;353;p14">
            <a:extLst xmlns:a="http://schemas.openxmlformats.org/drawingml/2006/main">
              <a:ext uri="{FF2B5EF4-FFF2-40B4-BE49-F238E27FC236}">
                <a16:creationId xmlns:a16="http://schemas.microsoft.com/office/drawing/2014/main" id="{407966E6-A5BE-4C4A-9E4D-FD43D517FA38}"/>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4" name="Google Shape;354;p14">
            <a:extLst xmlns:a="http://schemas.openxmlformats.org/drawingml/2006/main">
              <a:ext uri="{FF2B5EF4-FFF2-40B4-BE49-F238E27FC236}">
                <a16:creationId xmlns:a16="http://schemas.microsoft.com/office/drawing/2014/main" id="{74128266-A642-4B0B-9659-B963CA3D0E18}"/>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SECTION 8</a:t>
            </a:r>
          </a:p>
        </p:txBody>
      </p:sp>
      <p:sp>
        <p:nvSpPr>
          <p:cNvPr id="355" name="Google Shape;355;p14">
            <a:extLst xmlns:a="http://schemas.openxmlformats.org/drawingml/2006/main">
              <a:ext uri="{FF2B5EF4-FFF2-40B4-BE49-F238E27FC236}">
                <a16:creationId xmlns:a16="http://schemas.microsoft.com/office/drawing/2014/main" id="{AC48E5C5-E0D2-4FD2-AC48-2A35D6F32180}"/>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356" name="Google Shape;356;p14">
            <a:extLst xmlns:a="http://schemas.openxmlformats.org/drawingml/2006/main">
              <a:ext uri="{FF2B5EF4-FFF2-40B4-BE49-F238E27FC236}">
                <a16:creationId xmlns:a16="http://schemas.microsoft.com/office/drawing/2014/main" id="{40AD01FB-E2DF-4B67-9C75-3CB9045AF0D8}"/>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SECTION 8: ANALYSIS PREVIEW</a:t>
            </a:r>
          </a:p>
        </p:txBody>
      </p:sp>
      <p:cxnSp>
        <p:nvCxnSpPr>
          <p:cNvPr id="400" name="Google Shape;357;p14"/>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358" name="Google Shape;358;p14">
            <a:extLst xmlns:a="http://schemas.openxmlformats.org/drawingml/2006/main">
              <a:ext uri="{FF2B5EF4-FFF2-40B4-BE49-F238E27FC236}">
                <a16:creationId xmlns:a16="http://schemas.microsoft.com/office/drawing/2014/main" id="{9A3E8ADB-8776-45BE-A1F1-E1535F7EE658}"/>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Students do not need full analysis yet, but they should know what the data will become.</a:t>
            </a:r>
          </a:p>
        </p:txBody>
      </p:sp>
      <p:sp>
        <p:nvSpPr>
          <p:cNvPr id="359" name="Google Shape;359;p14">
            <a:extLst xmlns:a="http://schemas.openxmlformats.org/drawingml/2006/main">
              <a:ext uri="{FF2B5EF4-FFF2-40B4-BE49-F238E27FC236}">
                <a16:creationId xmlns:a16="http://schemas.microsoft.com/office/drawing/2014/main" id="{A41F0148-BE77-42D5-830E-8B48ABBEFAE8}"/>
              </a:ext>
            </a:extLst>
          </p:cNvPr>
          <p:cNvSpPr>
            <a:spLocks xmlns:a="http://schemas.openxmlformats.org/drawingml/2006/main" noGrp="1"/>
          </p:cNvSpPr>
          <p:nvPr/>
        </p:nvSpPr>
        <p:spPr>
          <a:xfrm xmlns:a="http://schemas.openxmlformats.org/drawingml/2006/main">
            <a:off x="822960" y="1325880"/>
            <a:ext cx="3429000" cy="173736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0" name="Google Shape;360;p14">
            <a:extLst xmlns:a="http://schemas.openxmlformats.org/drawingml/2006/main">
              <a:ext uri="{FF2B5EF4-FFF2-40B4-BE49-F238E27FC236}">
                <a16:creationId xmlns:a16="http://schemas.microsoft.com/office/drawing/2014/main" id="{1ED26E0E-1ADD-4188-9732-3AC0469FBC07}"/>
              </a:ext>
            </a:extLst>
          </p:cNvPr>
          <p:cNvSpPr>
            <a:spLocks xmlns:a="http://schemas.openxmlformats.org/drawingml/2006/main" noGrp="1"/>
          </p:cNvSpPr>
          <p:nvPr/>
        </p:nvSpPr>
        <p:spPr>
          <a:xfrm xmlns:a="http://schemas.openxmlformats.org/drawingml/2006/main">
            <a:off x="822960" y="1325880"/>
            <a:ext cx="54864" cy="173736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1" name="Google Shape;361;p14">
            <a:extLst xmlns:a="http://schemas.openxmlformats.org/drawingml/2006/main">
              <a:ext uri="{FF2B5EF4-FFF2-40B4-BE49-F238E27FC236}">
                <a16:creationId xmlns:a16="http://schemas.microsoft.com/office/drawing/2014/main" id="{2401CB25-DC83-492F-9C72-D9875D114B17}"/>
              </a:ext>
            </a:extLst>
          </p:cNvPr>
          <p:cNvSpPr>
            <a:spLocks xmlns:a="http://schemas.openxmlformats.org/drawingml/2006/main" noGrp="1"/>
          </p:cNvSpPr>
          <p:nvPr/>
        </p:nvSpPr>
        <p:spPr>
          <a:xfrm xmlns:a="http://schemas.openxmlformats.org/drawingml/2006/main">
            <a:off x="987552" y="1472184"/>
            <a:ext cx="310896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CALCULATIONS</a:t>
            </a:r>
          </a:p>
        </p:txBody>
      </p:sp>
      <p:sp>
        <p:nvSpPr>
          <p:cNvPr id="362" name="Google Shape;362;p14">
            <a:extLst xmlns:a="http://schemas.openxmlformats.org/drawingml/2006/main">
              <a:ext uri="{FF2B5EF4-FFF2-40B4-BE49-F238E27FC236}">
                <a16:creationId xmlns:a16="http://schemas.microsoft.com/office/drawing/2014/main" id="{F65B4371-6A01-417A-B676-43879C82754D}"/>
              </a:ext>
            </a:extLst>
          </p:cNvPr>
          <p:cNvSpPr>
            <a:spLocks xmlns:a="http://schemas.openxmlformats.org/drawingml/2006/main" noGrp="1"/>
          </p:cNvSpPr>
          <p:nvPr/>
        </p:nvSpPr>
        <p:spPr>
          <a:xfrm xmlns:a="http://schemas.openxmlformats.org/drawingml/2006/main">
            <a:off x="987552" y="1764792"/>
            <a:ext cx="310896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a:solidFill>
                  <a:srgbClr val="F2F2F2"/>
                </a:solidFill>
                <a:latin typeface="Arial"/>
                <a:ea typeface="Arial"/>
                <a:cs typeface="Arial"/>
              </a:rPr>
              <a:t>Mean, percent change, rate, ratio, efficiency, error rate, or other project-specific measures.</a:t>
            </a:r>
          </a:p>
        </p:txBody>
      </p:sp>
      <p:sp>
        <p:nvSpPr>
          <p:cNvPr id="363" name="Google Shape;363;p14">
            <a:extLst xmlns:a="http://schemas.openxmlformats.org/drawingml/2006/main">
              <a:ext uri="{FF2B5EF4-FFF2-40B4-BE49-F238E27FC236}">
                <a16:creationId xmlns:a16="http://schemas.microsoft.com/office/drawing/2014/main" id="{6B3C1290-595D-49C8-B685-8CFF4F6E9725}"/>
              </a:ext>
            </a:extLst>
          </p:cNvPr>
          <p:cNvSpPr>
            <a:spLocks xmlns:a="http://schemas.openxmlformats.org/drawingml/2006/main" noGrp="1"/>
          </p:cNvSpPr>
          <p:nvPr/>
        </p:nvSpPr>
        <p:spPr>
          <a:xfrm xmlns:a="http://schemas.openxmlformats.org/drawingml/2006/main">
            <a:off x="4389120" y="1325880"/>
            <a:ext cx="3429000" cy="173736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4" name="Google Shape;364;p14">
            <a:extLst xmlns:a="http://schemas.openxmlformats.org/drawingml/2006/main">
              <a:ext uri="{FF2B5EF4-FFF2-40B4-BE49-F238E27FC236}">
                <a16:creationId xmlns:a16="http://schemas.microsoft.com/office/drawing/2014/main" id="{F10418F3-AC84-4962-8C61-67216D94697E}"/>
              </a:ext>
            </a:extLst>
          </p:cNvPr>
          <p:cNvSpPr>
            <a:spLocks xmlns:a="http://schemas.openxmlformats.org/drawingml/2006/main" noGrp="1"/>
          </p:cNvSpPr>
          <p:nvPr/>
        </p:nvSpPr>
        <p:spPr>
          <a:xfrm xmlns:a="http://schemas.openxmlformats.org/drawingml/2006/main">
            <a:off x="4389120" y="1325880"/>
            <a:ext cx="54864" cy="173736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5" name="Google Shape;365;p14">
            <a:extLst xmlns:a="http://schemas.openxmlformats.org/drawingml/2006/main">
              <a:ext uri="{FF2B5EF4-FFF2-40B4-BE49-F238E27FC236}">
                <a16:creationId xmlns:a16="http://schemas.microsoft.com/office/drawing/2014/main" id="{A91E758B-B935-4117-89DE-4BA7948B607A}"/>
              </a:ext>
            </a:extLst>
          </p:cNvPr>
          <p:cNvSpPr>
            <a:spLocks xmlns:a="http://schemas.openxmlformats.org/drawingml/2006/main" noGrp="1"/>
          </p:cNvSpPr>
          <p:nvPr/>
        </p:nvSpPr>
        <p:spPr>
          <a:xfrm xmlns:a="http://schemas.openxmlformats.org/drawingml/2006/main">
            <a:off x="4553712" y="1472184"/>
            <a:ext cx="310896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VISUALS</a:t>
            </a:r>
          </a:p>
        </p:txBody>
      </p:sp>
      <p:sp>
        <p:nvSpPr>
          <p:cNvPr id="366" name="Google Shape;366;p14">
            <a:extLst xmlns:a="http://schemas.openxmlformats.org/drawingml/2006/main">
              <a:ext uri="{FF2B5EF4-FFF2-40B4-BE49-F238E27FC236}">
                <a16:creationId xmlns:a16="http://schemas.microsoft.com/office/drawing/2014/main" id="{D3DE686C-4233-4CDC-8150-219E5804C55F}"/>
              </a:ext>
            </a:extLst>
          </p:cNvPr>
          <p:cNvSpPr>
            <a:spLocks xmlns:a="http://schemas.openxmlformats.org/drawingml/2006/main" noGrp="1"/>
          </p:cNvSpPr>
          <p:nvPr/>
        </p:nvSpPr>
        <p:spPr>
          <a:xfrm xmlns:a="http://schemas.openxmlformats.org/drawingml/2006/main">
            <a:off x="4553712" y="1764792"/>
            <a:ext cx="310896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a:solidFill>
                  <a:srgbClr val="F2F2F2"/>
                </a:solidFill>
                <a:latin typeface="Arial"/>
                <a:ea typeface="Arial"/>
                <a:cs typeface="Arial"/>
              </a:rPr>
              <a:t>Bar graph, line graph, scatter plot, table, image comparison, prototype matrix.</a:t>
            </a:r>
          </a:p>
        </p:txBody>
      </p:sp>
      <p:sp>
        <p:nvSpPr>
          <p:cNvPr id="367" name="Google Shape;367;p14">
            <a:extLst xmlns:a="http://schemas.openxmlformats.org/drawingml/2006/main">
              <a:ext uri="{FF2B5EF4-FFF2-40B4-BE49-F238E27FC236}">
                <a16:creationId xmlns:a16="http://schemas.microsoft.com/office/drawing/2014/main" id="{A3087699-69CA-4C1C-994A-4D16D2543ED3}"/>
              </a:ext>
            </a:extLst>
          </p:cNvPr>
          <p:cNvSpPr>
            <a:spLocks xmlns:a="http://schemas.openxmlformats.org/drawingml/2006/main" noGrp="1"/>
          </p:cNvSpPr>
          <p:nvPr/>
        </p:nvSpPr>
        <p:spPr>
          <a:xfrm xmlns:a="http://schemas.openxmlformats.org/drawingml/2006/main">
            <a:off x="7955280" y="1325880"/>
            <a:ext cx="3429000" cy="173736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8" name="Google Shape;368;p14">
            <a:extLst xmlns:a="http://schemas.openxmlformats.org/drawingml/2006/main">
              <a:ext uri="{FF2B5EF4-FFF2-40B4-BE49-F238E27FC236}">
                <a16:creationId xmlns:a16="http://schemas.microsoft.com/office/drawing/2014/main" id="{6212FE24-2007-4ACE-AFE6-7819EFCDB869}"/>
              </a:ext>
            </a:extLst>
          </p:cNvPr>
          <p:cNvSpPr>
            <a:spLocks xmlns:a="http://schemas.openxmlformats.org/drawingml/2006/main" noGrp="1"/>
          </p:cNvSpPr>
          <p:nvPr/>
        </p:nvSpPr>
        <p:spPr>
          <a:xfrm xmlns:a="http://schemas.openxmlformats.org/drawingml/2006/main">
            <a:off x="7955280" y="1325880"/>
            <a:ext cx="54864" cy="173736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69" name="Google Shape;369;p14">
            <a:extLst xmlns:a="http://schemas.openxmlformats.org/drawingml/2006/main">
              <a:ext uri="{FF2B5EF4-FFF2-40B4-BE49-F238E27FC236}">
                <a16:creationId xmlns:a16="http://schemas.microsoft.com/office/drawing/2014/main" id="{1157C331-EEF8-4E52-94D2-566DD594FC4F}"/>
              </a:ext>
            </a:extLst>
          </p:cNvPr>
          <p:cNvSpPr>
            <a:spLocks xmlns:a="http://schemas.openxmlformats.org/drawingml/2006/main" noGrp="1"/>
          </p:cNvSpPr>
          <p:nvPr/>
        </p:nvSpPr>
        <p:spPr>
          <a:xfrm xmlns:a="http://schemas.openxmlformats.org/drawingml/2006/main">
            <a:off x="8119872" y="1472184"/>
            <a:ext cx="310896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INTERPRETATION</a:t>
            </a:r>
          </a:p>
        </p:txBody>
      </p:sp>
      <p:sp>
        <p:nvSpPr>
          <p:cNvPr id="370" name="Google Shape;370;p14">
            <a:extLst xmlns:a="http://schemas.openxmlformats.org/drawingml/2006/main">
              <a:ext uri="{FF2B5EF4-FFF2-40B4-BE49-F238E27FC236}">
                <a16:creationId xmlns:a16="http://schemas.microsoft.com/office/drawing/2014/main" id="{AEE50F2A-62E0-4F60-8DC0-CDDFFF31B08B}"/>
              </a:ext>
            </a:extLst>
          </p:cNvPr>
          <p:cNvSpPr>
            <a:spLocks xmlns:a="http://schemas.openxmlformats.org/drawingml/2006/main" noGrp="1"/>
          </p:cNvSpPr>
          <p:nvPr/>
        </p:nvSpPr>
        <p:spPr>
          <a:xfrm xmlns:a="http://schemas.openxmlformats.org/drawingml/2006/main">
            <a:off x="8119872" y="1764792"/>
            <a:ext cx="310896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a:solidFill>
                  <a:srgbClr val="F2F2F2"/>
                </a:solidFill>
                <a:latin typeface="Arial"/>
                <a:ea typeface="Arial"/>
                <a:cs typeface="Arial"/>
              </a:rPr>
              <a:t>What evidence would support, challenge, or complicate the hypothesis/design criteria.</a:t>
            </a:r>
          </a:p>
        </p:txBody>
      </p:sp>
      <p:sp>
        <p:nvSpPr>
          <p:cNvPr id="371" name="Google Shape;371;p14">
            <a:extLst xmlns:a="http://schemas.openxmlformats.org/drawingml/2006/main">
              <a:ext uri="{FF2B5EF4-FFF2-40B4-BE49-F238E27FC236}">
                <a16:creationId xmlns:a16="http://schemas.microsoft.com/office/drawing/2014/main" id="{FAED9346-BF92-4345-9A0E-84372641FB66}"/>
              </a:ext>
            </a:extLst>
          </p:cNvPr>
          <p:cNvSpPr>
            <a:spLocks xmlns:a="http://schemas.openxmlformats.org/drawingml/2006/main" noGrp="1"/>
          </p:cNvSpPr>
          <p:nvPr/>
        </p:nvSpPr>
        <p:spPr>
          <a:xfrm xmlns:a="http://schemas.openxmlformats.org/drawingml/2006/main">
            <a:off x="1005840" y="3474720"/>
            <a:ext cx="10149840" cy="82296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2" name="Google Shape;372;p14">
            <a:extLst xmlns:a="http://schemas.openxmlformats.org/drawingml/2006/main">
              <a:ext uri="{FF2B5EF4-FFF2-40B4-BE49-F238E27FC236}">
                <a16:creationId xmlns:a16="http://schemas.microsoft.com/office/drawing/2014/main" id="{EFCF7CA8-1CF7-4DF3-AE46-962EF6D5F75C}"/>
              </a:ext>
            </a:extLst>
          </p:cNvPr>
          <p:cNvSpPr>
            <a:spLocks xmlns:a="http://schemas.openxmlformats.org/drawingml/2006/main" noGrp="1"/>
          </p:cNvSpPr>
          <p:nvPr/>
        </p:nvSpPr>
        <p:spPr>
          <a:xfrm xmlns:a="http://schemas.openxmlformats.org/drawingml/2006/main">
            <a:off x="1005840" y="3474720"/>
            <a:ext cx="54864" cy="82296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3" name="Google Shape;373;p14">
            <a:extLst xmlns:a="http://schemas.openxmlformats.org/drawingml/2006/main">
              <a:ext uri="{FF2B5EF4-FFF2-40B4-BE49-F238E27FC236}">
                <a16:creationId xmlns:a16="http://schemas.microsoft.com/office/drawing/2014/main" id="{5EF29DEF-CBB8-475B-94C4-986F84573238}"/>
              </a:ext>
            </a:extLst>
          </p:cNvPr>
          <p:cNvSpPr>
            <a:spLocks xmlns:a="http://schemas.openxmlformats.org/drawingml/2006/main" noGrp="1"/>
          </p:cNvSpPr>
          <p:nvPr/>
        </p:nvSpPr>
        <p:spPr>
          <a:xfrm xmlns:a="http://schemas.openxmlformats.org/drawingml/2006/main">
            <a:off x="1170432" y="3621024"/>
            <a:ext cx="982980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PLAN BACKWARD FROM THE GRAPH.</a:t>
            </a:r>
          </a:p>
        </p:txBody>
      </p:sp>
      <p:sp>
        <p:nvSpPr>
          <p:cNvPr id="374" name="Google Shape;374;p14">
            <a:extLst xmlns:a="http://schemas.openxmlformats.org/drawingml/2006/main">
              <a:ext uri="{FF2B5EF4-FFF2-40B4-BE49-F238E27FC236}">
                <a16:creationId xmlns:a16="http://schemas.microsoft.com/office/drawing/2014/main" id="{9C585538-A7B8-4749-8592-4604B9DBE886}"/>
              </a:ext>
            </a:extLst>
          </p:cNvPr>
          <p:cNvSpPr>
            <a:spLocks xmlns:a="http://schemas.openxmlformats.org/drawingml/2006/main" noGrp="1"/>
          </p:cNvSpPr>
          <p:nvPr/>
        </p:nvSpPr>
        <p:spPr>
          <a:xfrm xmlns:a="http://schemas.openxmlformats.org/drawingml/2006/main">
            <a:off x="1170432" y="3913632"/>
            <a:ext cx="9829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400"/>
              <a:buFont typeface="Arial"/>
              <a:buNone/>
            </a:pPr>
            <a:r>
              <a:rPr sz="1400">
                <a:solidFill>
                  <a:srgbClr val="F2F2F2"/>
                </a:solidFill>
                <a:latin typeface="Arial"/>
                <a:ea typeface="Arial"/>
                <a:cs typeface="Arial"/>
              </a:rPr>
              <a:t>If you know the graph you need, you usually know the data you must collect.</a:t>
            </a:r>
          </a:p>
        </p:txBody>
      </p:sp>
      <p:sp>
        <p:nvSpPr>
          <p:cNvPr id="375" name="Google Shape;375;p14">
            <a:extLst xmlns:a="http://schemas.openxmlformats.org/drawingml/2006/main">
              <a:ext uri="{FF2B5EF4-FFF2-40B4-BE49-F238E27FC236}">
                <a16:creationId xmlns:a16="http://schemas.microsoft.com/office/drawing/2014/main" id="{B8634888-003C-436B-B1EC-F01129FC5C96}"/>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6" name="Google Shape;376;p14">
            <a:extLst xmlns:a="http://schemas.openxmlformats.org/drawingml/2006/main">
              <a:ext uri="{FF2B5EF4-FFF2-40B4-BE49-F238E27FC236}">
                <a16:creationId xmlns:a16="http://schemas.microsoft.com/office/drawing/2014/main" id="{B7E66C09-42B6-4F53-B6D6-0DA307F3FFB2}"/>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7" name="Google Shape;377;p14">
            <a:extLst xmlns:a="http://schemas.openxmlformats.org/drawingml/2006/main">
              <a:ext uri="{FF2B5EF4-FFF2-40B4-BE49-F238E27FC236}">
                <a16:creationId xmlns:a16="http://schemas.microsoft.com/office/drawing/2014/main" id="{BE606CEA-B906-4EDA-BD9C-110E390AC34E}"/>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a:solidFill>
                  <a:srgbClr val="F2F2F2"/>
                </a:solidFill>
                <a:latin typeface="Arial"/>
                <a:ea typeface="Arial"/>
                <a:cs typeface="Arial"/>
              </a:rPr>
              <a:t>STUDENT ACTIVITY</a:t>
            </a:r>
          </a:p>
        </p:txBody>
      </p:sp>
      <p:sp>
        <p:nvSpPr>
          <p:cNvPr id="378" name="Google Shape;378;p14">
            <a:extLst xmlns:a="http://schemas.openxmlformats.org/drawingml/2006/main">
              <a:ext uri="{FF2B5EF4-FFF2-40B4-BE49-F238E27FC236}">
                <a16:creationId xmlns:a16="http://schemas.microsoft.com/office/drawing/2014/main" id="{8D4ED736-69E9-483D-B30E-C6E95EF6D2AA}"/>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a:solidFill>
                  <a:srgbClr val="F2F2F2"/>
                </a:solidFill>
                <a:latin typeface="Arial"/>
                <a:ea typeface="Arial"/>
                <a:cs typeface="Arial"/>
              </a:rPr>
              <a:t>Future graph sketch.</a:t>
            </a:r>
          </a:p>
        </p:txBody>
      </p:sp>
      <p:sp>
        <p:nvSpPr>
          <p:cNvPr id="379" name="Google Shape;379;p14">
            <a:extLst xmlns:a="http://schemas.openxmlformats.org/drawingml/2006/main">
              <a:ext uri="{FF2B5EF4-FFF2-40B4-BE49-F238E27FC236}">
                <a16:creationId xmlns:a16="http://schemas.microsoft.com/office/drawing/2014/main" id="{7E032F44-CC91-4361-96EA-ABF598C3EFB5}"/>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a:solidFill>
                  <a:srgbClr val="B8B8B8"/>
                </a:solidFill>
                <a:latin typeface="Arial"/>
                <a:ea typeface="Arial"/>
                <a:cs typeface="Arial"/>
              </a:rPr>
              <a:t>Draw a rough version of the graph/table that might eventually answer your question.</a:t>
            </a:r>
          </a:p>
        </p:txBody>
      </p:sp>
    </p:spTree>
    <p:extLst>
      <p:ext uri="{BB962C8B-B14F-4D97-AF65-F5344CB8AC3E}">
        <p14:creationId xmlns:p14="http://schemas.microsoft.com/office/powerpoint/2010/main" val="2069196517"/>
      </p:ext>
    </p:extLst>
  </p:cSld>
</p:sld>
</file>

<file path=ppt/slides/slide1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85" name="Google Shape;385;p15">
            <a:extLst xmlns:a="http://schemas.openxmlformats.org/drawingml/2006/main">
              <a:ext uri="{FF2B5EF4-FFF2-40B4-BE49-F238E27FC236}">
                <a16:creationId xmlns:a16="http://schemas.microsoft.com/office/drawing/2014/main" id="{7931B443-763C-4C8B-8F72-38386FF763F8}"/>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6" name="Google Shape;386;p15">
            <a:extLst xmlns:a="http://schemas.openxmlformats.org/drawingml/2006/main">
              <a:ext uri="{FF2B5EF4-FFF2-40B4-BE49-F238E27FC236}">
                <a16:creationId xmlns:a16="http://schemas.microsoft.com/office/drawing/2014/main" id="{9F216FC2-F41E-45AE-BAFD-9844AFC7E282}"/>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7" name="Google Shape;387;p15">
            <a:extLst xmlns:a="http://schemas.openxmlformats.org/drawingml/2006/main">
              <a:ext uri="{FF2B5EF4-FFF2-40B4-BE49-F238E27FC236}">
                <a16:creationId xmlns:a16="http://schemas.microsoft.com/office/drawing/2014/main" id="{F207B5C0-E9FA-415B-8764-3538C64752E1}"/>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8" name="Google Shape;388;p15">
            <a:extLst xmlns:a="http://schemas.openxmlformats.org/drawingml/2006/main">
              <a:ext uri="{FF2B5EF4-FFF2-40B4-BE49-F238E27FC236}">
                <a16:creationId xmlns:a16="http://schemas.microsoft.com/office/drawing/2014/main" id="{F3C1E6BF-061A-42A6-AC8B-3464F940E9D0}"/>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SECTION 9</a:t>
            </a:r>
          </a:p>
        </p:txBody>
      </p:sp>
      <p:sp>
        <p:nvSpPr>
          <p:cNvPr id="389" name="Google Shape;389;p15">
            <a:extLst xmlns:a="http://schemas.openxmlformats.org/drawingml/2006/main">
              <a:ext uri="{FF2B5EF4-FFF2-40B4-BE49-F238E27FC236}">
                <a16:creationId xmlns:a16="http://schemas.microsoft.com/office/drawing/2014/main" id="{CAA5AA2B-7283-4199-BD36-880C46A80F52}"/>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390" name="Google Shape;390;p15">
            <a:extLst xmlns:a="http://schemas.openxmlformats.org/drawingml/2006/main">
              <a:ext uri="{FF2B5EF4-FFF2-40B4-BE49-F238E27FC236}">
                <a16:creationId xmlns:a16="http://schemas.microsoft.com/office/drawing/2014/main" id="{38F6AFFB-64C6-4FF2-9BE4-8E26DC2DEE79}"/>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SECTION 9: SAFETY AND RISK ASSESSMENT</a:t>
            </a:r>
          </a:p>
        </p:txBody>
      </p:sp>
      <p:cxnSp>
        <p:nvCxnSpPr>
          <p:cNvPr id="427" name="Google Shape;391;p15"/>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392" name="Google Shape;392;p15">
            <a:extLst xmlns:a="http://schemas.openxmlformats.org/drawingml/2006/main">
              <a:ext uri="{FF2B5EF4-FFF2-40B4-BE49-F238E27FC236}">
                <a16:creationId xmlns:a16="http://schemas.microsoft.com/office/drawing/2014/main" id="{F1FD6F83-3ED3-40C7-938F-E8DF1FE38B2B}"/>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Safety is not a paragraph at the end. It is a design requirement.</a:t>
            </a:r>
          </a:p>
        </p:txBody>
      </p:sp>
      <p:sp>
        <p:nvSpPr>
          <p:cNvPr id="393" name="Google Shape;393;p15">
            <a:extLst xmlns:a="http://schemas.openxmlformats.org/drawingml/2006/main">
              <a:ext uri="{FF2B5EF4-FFF2-40B4-BE49-F238E27FC236}">
                <a16:creationId xmlns:a16="http://schemas.microsoft.com/office/drawing/2014/main" id="{A91B19A1-DBA0-42D1-A010-33C83309E3FC}"/>
              </a:ext>
            </a:extLst>
          </p:cNvPr>
          <p:cNvSpPr>
            <a:spLocks xmlns:a="http://schemas.openxmlformats.org/drawingml/2006/main" noGrp="1"/>
          </p:cNvSpPr>
          <p:nvPr/>
        </p:nvSpPr>
        <p:spPr>
          <a:xfrm xmlns:a="http://schemas.openxmlformats.org/drawingml/2006/main">
            <a:off x="868680" y="1417320"/>
            <a:ext cx="4846320" cy="2148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None/>
            </a:pPr>
            <a:r>
              <a:rPr sz="1450">
                <a:solidFill>
                  <a:srgbClr val="F2F2F2"/>
                </a:solidFill>
                <a:latin typeface="Arial"/>
                <a:ea typeface="Arial"/>
                <a:cs typeface="Arial"/>
              </a:rPr>
              <a:t>Chemicals / biological materials</a:t>
            </a:r>
          </a:p>
          <a:p xmlns:a="http://schemas.openxmlformats.org/drawingml/2006/main">
            <a:pPr marL="0" marR="0" indent="0" algn="l">
              <a:spcBef>
                <a:spcPts val="0"/>
              </a:spcBef>
              <a:spcAft>
                <a:spcPts val="0"/>
              </a:spcAft>
              <a:buNone/>
            </a:pPr>
            <a:r>
              <a:rPr sz="1450">
                <a:solidFill>
                  <a:srgbClr val="F2F2F2"/>
                </a:solidFill>
                <a:latin typeface="Arial"/>
                <a:ea typeface="Arial"/>
                <a:cs typeface="Arial"/>
              </a:rPr>
              <a:t>Heat / electricity / pressure</a:t>
            </a:r>
          </a:p>
          <a:p xmlns:a="http://schemas.openxmlformats.org/drawingml/2006/main">
            <a:pPr marL="0" marR="0" indent="0" algn="l">
              <a:spcBef>
                <a:spcPts val="0"/>
              </a:spcBef>
              <a:spcAft>
                <a:spcPts val="0"/>
              </a:spcAft>
              <a:buNone/>
            </a:pPr>
            <a:r>
              <a:rPr sz="1450">
                <a:solidFill>
                  <a:srgbClr val="F2F2F2"/>
                </a:solidFill>
                <a:latin typeface="Arial"/>
                <a:ea typeface="Arial"/>
                <a:cs typeface="Arial"/>
              </a:rPr>
              <a:t>Tools / fabrication / moving parts</a:t>
            </a:r>
          </a:p>
          <a:p xmlns:a="http://schemas.openxmlformats.org/drawingml/2006/main">
            <a:pPr marL="0" marR="0" indent="0" algn="l">
              <a:spcBef>
                <a:spcPts val="0"/>
              </a:spcBef>
              <a:spcAft>
                <a:spcPts val="0"/>
              </a:spcAft>
              <a:buNone/>
            </a:pPr>
            <a:r>
              <a:rPr sz="1450">
                <a:solidFill>
                  <a:srgbClr val="F2F2F2"/>
                </a:solidFill>
                <a:latin typeface="Arial"/>
                <a:ea typeface="Arial"/>
                <a:cs typeface="Arial"/>
              </a:rPr>
              <a:t>Human participants / private data</a:t>
            </a:r>
          </a:p>
          <a:p xmlns:a="http://schemas.openxmlformats.org/drawingml/2006/main">
            <a:pPr marL="0" marR="0" indent="0" algn="l">
              <a:spcBef>
                <a:spcPts val="0"/>
              </a:spcBef>
              <a:spcAft>
                <a:spcPts val="0"/>
              </a:spcAft>
              <a:buNone/>
            </a:pPr>
            <a:r>
              <a:rPr sz="1450">
                <a:solidFill>
                  <a:srgbClr val="F2F2F2"/>
                </a:solidFill>
                <a:latin typeface="Arial"/>
                <a:ea typeface="Arial"/>
                <a:cs typeface="Arial"/>
              </a:rPr>
              <a:t>Environmental sampling / disposal</a:t>
            </a:r>
          </a:p>
        </p:txBody>
      </p:sp>
      <p:sp>
        <p:nvSpPr>
          <p:cNvPr id="394" name="Google Shape;394;p15">
            <a:extLst xmlns:a="http://schemas.openxmlformats.org/drawingml/2006/main">
              <a:ext uri="{FF2B5EF4-FFF2-40B4-BE49-F238E27FC236}">
                <a16:creationId xmlns:a16="http://schemas.microsoft.com/office/drawing/2014/main" id="{BC073A63-9F96-428C-BBD9-C602515EADB4}"/>
              </a:ext>
            </a:extLst>
          </p:cNvPr>
          <p:cNvSpPr>
            <a:spLocks xmlns:a="http://schemas.openxmlformats.org/drawingml/2006/main" noGrp="1"/>
          </p:cNvSpPr>
          <p:nvPr/>
        </p:nvSpPr>
        <p:spPr>
          <a:xfrm xmlns:a="http://schemas.openxmlformats.org/drawingml/2006/main">
            <a:off x="5989320" y="1371600"/>
            <a:ext cx="5212080" cy="123444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5" name="Google Shape;395;p15">
            <a:extLst xmlns:a="http://schemas.openxmlformats.org/drawingml/2006/main">
              <a:ext uri="{FF2B5EF4-FFF2-40B4-BE49-F238E27FC236}">
                <a16:creationId xmlns:a16="http://schemas.microsoft.com/office/drawing/2014/main" id="{78D20DE9-B9FA-4306-8DB8-08C3BCE3FB3A}"/>
              </a:ext>
            </a:extLst>
          </p:cNvPr>
          <p:cNvSpPr>
            <a:spLocks xmlns:a="http://schemas.openxmlformats.org/drawingml/2006/main" noGrp="1"/>
          </p:cNvSpPr>
          <p:nvPr/>
        </p:nvSpPr>
        <p:spPr>
          <a:xfrm xmlns:a="http://schemas.openxmlformats.org/drawingml/2006/main">
            <a:off x="5989320" y="1371600"/>
            <a:ext cx="54864" cy="123444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6" name="Google Shape;396;p15">
            <a:extLst xmlns:a="http://schemas.openxmlformats.org/drawingml/2006/main">
              <a:ext uri="{FF2B5EF4-FFF2-40B4-BE49-F238E27FC236}">
                <a16:creationId xmlns:a16="http://schemas.microsoft.com/office/drawing/2014/main" id="{A85DCD0D-7D9D-458E-B80B-EC9793DE5F01}"/>
              </a:ext>
            </a:extLst>
          </p:cNvPr>
          <p:cNvSpPr>
            <a:spLocks xmlns:a="http://schemas.openxmlformats.org/drawingml/2006/main" noGrp="1"/>
          </p:cNvSpPr>
          <p:nvPr/>
        </p:nvSpPr>
        <p:spPr>
          <a:xfrm xmlns:a="http://schemas.openxmlformats.org/drawingml/2006/main">
            <a:off x="6153912" y="1517904"/>
            <a:ext cx="48920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RISK = SEVERITY × LIKELIHOOD</a:t>
            </a:r>
          </a:p>
        </p:txBody>
      </p:sp>
      <p:sp>
        <p:nvSpPr>
          <p:cNvPr id="397" name="Google Shape;397;p15">
            <a:extLst xmlns:a="http://schemas.openxmlformats.org/drawingml/2006/main">
              <a:ext uri="{FF2B5EF4-FFF2-40B4-BE49-F238E27FC236}">
                <a16:creationId xmlns:a16="http://schemas.microsoft.com/office/drawing/2014/main" id="{13D66017-788E-4435-8DA1-12BC28754786}"/>
              </a:ext>
            </a:extLst>
          </p:cNvPr>
          <p:cNvSpPr>
            <a:spLocks xmlns:a="http://schemas.openxmlformats.org/drawingml/2006/main" noGrp="1"/>
          </p:cNvSpPr>
          <p:nvPr/>
        </p:nvSpPr>
        <p:spPr>
          <a:xfrm xmlns:a="http://schemas.openxmlformats.org/drawingml/2006/main">
            <a:off x="6153912" y="1810512"/>
            <a:ext cx="48920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a:solidFill>
                  <a:srgbClr val="F2F2F2"/>
                </a:solidFill>
                <a:latin typeface="Arial"/>
                <a:ea typeface="Arial"/>
                <a:cs typeface="Arial"/>
              </a:rPr>
              <a:t>How bad could the harm be? How likely is it to happen without controls?</a:t>
            </a:r>
          </a:p>
        </p:txBody>
      </p:sp>
      <p:sp>
        <p:nvSpPr>
          <p:cNvPr id="398" name="Google Shape;398;p15">
            <a:extLst xmlns:a="http://schemas.openxmlformats.org/drawingml/2006/main">
              <a:ext uri="{FF2B5EF4-FFF2-40B4-BE49-F238E27FC236}">
                <a16:creationId xmlns:a16="http://schemas.microsoft.com/office/drawing/2014/main" id="{2383D713-4B2F-49B0-B9FD-8117E6F89022}"/>
              </a:ext>
            </a:extLst>
          </p:cNvPr>
          <p:cNvSpPr>
            <a:spLocks xmlns:a="http://schemas.openxmlformats.org/drawingml/2006/main" noGrp="1"/>
          </p:cNvSpPr>
          <p:nvPr/>
        </p:nvSpPr>
        <p:spPr>
          <a:xfrm xmlns:a="http://schemas.openxmlformats.org/drawingml/2006/main">
            <a:off x="5989320" y="2880360"/>
            <a:ext cx="5212080" cy="123444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9" name="Google Shape;399;p15">
            <a:extLst xmlns:a="http://schemas.openxmlformats.org/drawingml/2006/main">
              <a:ext uri="{FF2B5EF4-FFF2-40B4-BE49-F238E27FC236}">
                <a16:creationId xmlns:a16="http://schemas.microsoft.com/office/drawing/2014/main" id="{558901FB-13C2-46A9-BE09-25661318FE69}"/>
              </a:ext>
            </a:extLst>
          </p:cNvPr>
          <p:cNvSpPr>
            <a:spLocks xmlns:a="http://schemas.openxmlformats.org/drawingml/2006/main" noGrp="1"/>
          </p:cNvSpPr>
          <p:nvPr/>
        </p:nvSpPr>
        <p:spPr>
          <a:xfrm xmlns:a="http://schemas.openxmlformats.org/drawingml/2006/main">
            <a:off x="5989320" y="2880360"/>
            <a:ext cx="54864" cy="123444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00" name="Google Shape;400;p15">
            <a:extLst xmlns:a="http://schemas.openxmlformats.org/drawingml/2006/main">
              <a:ext uri="{FF2B5EF4-FFF2-40B4-BE49-F238E27FC236}">
                <a16:creationId xmlns:a16="http://schemas.microsoft.com/office/drawing/2014/main" id="{3B6BC12E-A288-41D3-B1CF-A929D3A2BF4B}"/>
              </a:ext>
            </a:extLst>
          </p:cNvPr>
          <p:cNvSpPr>
            <a:spLocks xmlns:a="http://schemas.openxmlformats.org/drawingml/2006/main" noGrp="1"/>
          </p:cNvSpPr>
          <p:nvPr/>
        </p:nvSpPr>
        <p:spPr>
          <a:xfrm xmlns:a="http://schemas.openxmlformats.org/drawingml/2006/main">
            <a:off x="6153912" y="3026664"/>
            <a:ext cx="48920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RISK CONTROLS</a:t>
            </a:r>
          </a:p>
        </p:txBody>
      </p:sp>
      <p:sp>
        <p:nvSpPr>
          <p:cNvPr id="401" name="Google Shape;401;p15">
            <a:extLst xmlns:a="http://schemas.openxmlformats.org/drawingml/2006/main">
              <a:ext uri="{FF2B5EF4-FFF2-40B4-BE49-F238E27FC236}">
                <a16:creationId xmlns:a16="http://schemas.microsoft.com/office/drawing/2014/main" id="{05E346B1-C5CF-477A-BF54-43897D29E3DA}"/>
              </a:ext>
            </a:extLst>
          </p:cNvPr>
          <p:cNvSpPr>
            <a:spLocks xmlns:a="http://schemas.openxmlformats.org/drawingml/2006/main" noGrp="1"/>
          </p:cNvSpPr>
          <p:nvPr/>
        </p:nvSpPr>
        <p:spPr>
          <a:xfrm xmlns:a="http://schemas.openxmlformats.org/drawingml/2006/main">
            <a:off x="6153912" y="3319272"/>
            <a:ext cx="489204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80"/>
              <a:buFont typeface="Arial"/>
              <a:buNone/>
            </a:pPr>
            <a:r>
              <a:rPr sz="1180">
                <a:solidFill>
                  <a:srgbClr val="F2F2F2"/>
                </a:solidFill>
                <a:latin typeface="Arial"/>
                <a:ea typeface="Arial"/>
                <a:cs typeface="Arial"/>
              </a:rPr>
              <a:t>Substitute safer materials, reduce scale, add PPE, require supervision, change location, or revise the method.</a:t>
            </a:r>
          </a:p>
        </p:txBody>
      </p:sp>
      <p:sp>
        <p:nvSpPr>
          <p:cNvPr id="402" name="Google Shape;402;p15">
            <a:extLst xmlns:a="http://schemas.openxmlformats.org/drawingml/2006/main">
              <a:ext uri="{FF2B5EF4-FFF2-40B4-BE49-F238E27FC236}">
                <a16:creationId xmlns:a16="http://schemas.microsoft.com/office/drawing/2014/main" id="{0173A704-7526-4A85-8E17-A011C6C8877F}"/>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03" name="Google Shape;403;p15">
            <a:extLst xmlns:a="http://schemas.openxmlformats.org/drawingml/2006/main">
              <a:ext uri="{FF2B5EF4-FFF2-40B4-BE49-F238E27FC236}">
                <a16:creationId xmlns:a16="http://schemas.microsoft.com/office/drawing/2014/main" id="{E7A39CF1-F3C4-411B-90BF-4EAE7B924030}"/>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04" name="Google Shape;404;p15">
            <a:extLst xmlns:a="http://schemas.openxmlformats.org/drawingml/2006/main">
              <a:ext uri="{FF2B5EF4-FFF2-40B4-BE49-F238E27FC236}">
                <a16:creationId xmlns:a16="http://schemas.microsoft.com/office/drawing/2014/main" id="{B33E116B-7D82-4685-95FC-D046D78F2389}"/>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a:solidFill>
                  <a:srgbClr val="F2F2F2"/>
                </a:solidFill>
                <a:latin typeface="Arial"/>
                <a:ea typeface="Arial"/>
                <a:cs typeface="Arial"/>
              </a:rPr>
              <a:t>STUDENT ACTIVITY</a:t>
            </a:r>
          </a:p>
        </p:txBody>
      </p:sp>
      <p:sp>
        <p:nvSpPr>
          <p:cNvPr id="405" name="Google Shape;405;p15">
            <a:extLst xmlns:a="http://schemas.openxmlformats.org/drawingml/2006/main">
              <a:ext uri="{FF2B5EF4-FFF2-40B4-BE49-F238E27FC236}">
                <a16:creationId xmlns:a16="http://schemas.microsoft.com/office/drawing/2014/main" id="{F8C036E1-A324-4C13-ACDA-D0006206B5A1}"/>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a:solidFill>
                  <a:srgbClr val="F2F2F2"/>
                </a:solidFill>
                <a:latin typeface="Arial"/>
                <a:ea typeface="Arial"/>
                <a:cs typeface="Arial"/>
              </a:rPr>
              <a:t>Risk scan.</a:t>
            </a:r>
          </a:p>
        </p:txBody>
      </p:sp>
      <p:sp>
        <p:nvSpPr>
          <p:cNvPr id="406" name="Google Shape;406;p15">
            <a:extLst xmlns:a="http://schemas.openxmlformats.org/drawingml/2006/main">
              <a:ext uri="{FF2B5EF4-FFF2-40B4-BE49-F238E27FC236}">
                <a16:creationId xmlns:a16="http://schemas.microsoft.com/office/drawing/2014/main" id="{020F44DA-8AD0-456E-A29E-50C229DB6818}"/>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a:solidFill>
                  <a:srgbClr val="B8B8B8"/>
                </a:solidFill>
                <a:latin typeface="Arial"/>
                <a:ea typeface="Arial"/>
                <a:cs typeface="Arial"/>
              </a:rPr>
              <a:t>Mark every risk category that touches your project. Write one precaution for the highest-risk category.</a:t>
            </a:r>
          </a:p>
        </p:txBody>
      </p:sp>
    </p:spTree>
    <p:extLst>
      <p:ext uri="{BB962C8B-B14F-4D97-AF65-F5344CB8AC3E}">
        <p14:creationId xmlns:p14="http://schemas.microsoft.com/office/powerpoint/2010/main" val="199713853"/>
      </p:ext>
    </p:extLst>
  </p:cSld>
</p:sld>
</file>

<file path=ppt/slides/slide1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412" name="Google Shape;412;p16">
            <a:extLst xmlns:a="http://schemas.openxmlformats.org/drawingml/2006/main">
              <a:ext uri="{FF2B5EF4-FFF2-40B4-BE49-F238E27FC236}">
                <a16:creationId xmlns:a16="http://schemas.microsoft.com/office/drawing/2014/main" id="{997089DB-DF67-404D-AAEA-514F579AE52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13" name="Google Shape;413;p16">
            <a:extLst xmlns:a="http://schemas.openxmlformats.org/drawingml/2006/main">
              <a:ext uri="{FF2B5EF4-FFF2-40B4-BE49-F238E27FC236}">
                <a16:creationId xmlns:a16="http://schemas.microsoft.com/office/drawing/2014/main" id="{AF292142-10AB-42D7-BA5B-8E7CC6E7945E}"/>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14" name="Google Shape;414;p16">
            <a:extLst xmlns:a="http://schemas.openxmlformats.org/drawingml/2006/main">
              <a:ext uri="{FF2B5EF4-FFF2-40B4-BE49-F238E27FC236}">
                <a16:creationId xmlns:a16="http://schemas.microsoft.com/office/drawing/2014/main" id="{E92104BA-609C-4D49-9F93-7FBA607F3046}"/>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15" name="Google Shape;415;p16">
            <a:extLst xmlns:a="http://schemas.openxmlformats.org/drawingml/2006/main">
              <a:ext uri="{FF2B5EF4-FFF2-40B4-BE49-F238E27FC236}">
                <a16:creationId xmlns:a16="http://schemas.microsoft.com/office/drawing/2014/main" id="{5D046E0B-5875-4DF5-8FB5-971415F7D0FB}"/>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SECTION 10</a:t>
            </a:r>
          </a:p>
        </p:txBody>
      </p:sp>
      <p:sp>
        <p:nvSpPr>
          <p:cNvPr id="416" name="Google Shape;416;p16">
            <a:extLst xmlns:a="http://schemas.openxmlformats.org/drawingml/2006/main">
              <a:ext uri="{FF2B5EF4-FFF2-40B4-BE49-F238E27FC236}">
                <a16:creationId xmlns:a16="http://schemas.microsoft.com/office/drawing/2014/main" id="{C8378A54-50A3-4502-BB34-734964499202}"/>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417" name="Google Shape;417;p16">
            <a:extLst xmlns:a="http://schemas.openxmlformats.org/drawingml/2006/main">
              <a:ext uri="{FF2B5EF4-FFF2-40B4-BE49-F238E27FC236}">
                <a16:creationId xmlns:a16="http://schemas.microsoft.com/office/drawing/2014/main" id="{65533FD5-F416-4308-A921-C03F3B23F180}"/>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SECTION 10: ETHICS AND APPROVAL SCREENING</a:t>
            </a:r>
          </a:p>
        </p:txBody>
      </p:sp>
      <p:cxnSp>
        <p:nvCxnSpPr>
          <p:cNvPr id="462" name="Google Shape;418;p16"/>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419" name="Google Shape;419;p16">
            <a:extLst xmlns:a="http://schemas.openxmlformats.org/drawingml/2006/main">
              <a:ext uri="{FF2B5EF4-FFF2-40B4-BE49-F238E27FC236}">
                <a16:creationId xmlns:a16="http://schemas.microsoft.com/office/drawing/2014/main" id="{BB384383-3BE6-4B8E-B75F-9571CAD38EA3}"/>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Some projects require permission before curiosity can become testing.</a:t>
            </a:r>
          </a:p>
        </p:txBody>
      </p:sp>
      <p:sp>
        <p:nvSpPr>
          <p:cNvPr id="420" name="Google Shape;420;p16">
            <a:extLst xmlns:a="http://schemas.openxmlformats.org/drawingml/2006/main">
              <a:ext uri="{FF2B5EF4-FFF2-40B4-BE49-F238E27FC236}">
                <a16:creationId xmlns:a16="http://schemas.microsoft.com/office/drawing/2014/main" id="{FEE9B1B8-16A1-4306-8E28-225B2F753BD3}"/>
              </a:ext>
            </a:extLst>
          </p:cNvPr>
          <p:cNvSpPr>
            <a:spLocks xmlns:a="http://schemas.openxmlformats.org/drawingml/2006/main" noGrp="1"/>
          </p:cNvSpPr>
          <p:nvPr/>
        </p:nvSpPr>
        <p:spPr>
          <a:xfrm xmlns:a="http://schemas.openxmlformats.org/drawingml/2006/main">
            <a:off x="822960" y="1371600"/>
            <a:ext cx="5074920" cy="914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1" name="Google Shape;421;p16">
            <a:extLst xmlns:a="http://schemas.openxmlformats.org/drawingml/2006/main">
              <a:ext uri="{FF2B5EF4-FFF2-40B4-BE49-F238E27FC236}">
                <a16:creationId xmlns:a16="http://schemas.microsoft.com/office/drawing/2014/main" id="{89A04274-ABFE-4521-A930-25F270350893}"/>
              </a:ext>
            </a:extLst>
          </p:cNvPr>
          <p:cNvSpPr>
            <a:spLocks xmlns:a="http://schemas.openxmlformats.org/drawingml/2006/main" noGrp="1"/>
          </p:cNvSpPr>
          <p:nvPr/>
        </p:nvSpPr>
        <p:spPr>
          <a:xfrm xmlns:a="http://schemas.openxmlformats.org/drawingml/2006/main">
            <a:off x="822960" y="1371600"/>
            <a:ext cx="54864" cy="914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2" name="Google Shape;422;p16">
            <a:extLst xmlns:a="http://schemas.openxmlformats.org/drawingml/2006/main">
              <a:ext uri="{FF2B5EF4-FFF2-40B4-BE49-F238E27FC236}">
                <a16:creationId xmlns:a16="http://schemas.microsoft.com/office/drawing/2014/main" id="{53C298FD-1807-4177-928C-97DBC29A9B48}"/>
              </a:ext>
            </a:extLst>
          </p:cNvPr>
          <p:cNvSpPr>
            <a:spLocks xmlns:a="http://schemas.openxmlformats.org/drawingml/2006/main" noGrp="1"/>
          </p:cNvSpPr>
          <p:nvPr/>
        </p:nvSpPr>
        <p:spPr>
          <a:xfrm xmlns:a="http://schemas.openxmlformats.org/drawingml/2006/main">
            <a:off x="987552" y="151790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PEOPLE</a:t>
            </a:r>
          </a:p>
        </p:txBody>
      </p:sp>
      <p:sp>
        <p:nvSpPr>
          <p:cNvPr id="423" name="Google Shape;423;p16">
            <a:extLst xmlns:a="http://schemas.openxmlformats.org/drawingml/2006/main">
              <a:ext uri="{FF2B5EF4-FFF2-40B4-BE49-F238E27FC236}">
                <a16:creationId xmlns:a16="http://schemas.microsoft.com/office/drawing/2014/main" id="{9772EEAD-2E8A-4FDF-AAF0-B0940414D5BB}"/>
              </a:ext>
            </a:extLst>
          </p:cNvPr>
          <p:cNvSpPr>
            <a:spLocks xmlns:a="http://schemas.openxmlformats.org/drawingml/2006/main" noGrp="1"/>
          </p:cNvSpPr>
          <p:nvPr/>
        </p:nvSpPr>
        <p:spPr>
          <a:xfrm xmlns:a="http://schemas.openxmlformats.org/drawingml/2006/main">
            <a:off x="987552" y="1810512"/>
            <a:ext cx="47548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a:solidFill>
                  <a:srgbClr val="F2F2F2"/>
                </a:solidFill>
                <a:latin typeface="Arial"/>
                <a:ea typeface="Arial"/>
                <a:cs typeface="Arial"/>
              </a:rPr>
              <a:t>Surveys, interviews, behavior, performance, health, private information.</a:t>
            </a:r>
          </a:p>
        </p:txBody>
      </p:sp>
      <p:sp>
        <p:nvSpPr>
          <p:cNvPr id="424" name="Google Shape;424;p16">
            <a:extLst xmlns:a="http://schemas.openxmlformats.org/drawingml/2006/main">
              <a:ext uri="{FF2B5EF4-FFF2-40B4-BE49-F238E27FC236}">
                <a16:creationId xmlns:a16="http://schemas.microsoft.com/office/drawing/2014/main" id="{46FB05DC-01D5-4F7E-AFA6-AB985194348E}"/>
              </a:ext>
            </a:extLst>
          </p:cNvPr>
          <p:cNvSpPr>
            <a:spLocks xmlns:a="http://schemas.openxmlformats.org/drawingml/2006/main" noGrp="1"/>
          </p:cNvSpPr>
          <p:nvPr/>
        </p:nvSpPr>
        <p:spPr>
          <a:xfrm xmlns:a="http://schemas.openxmlformats.org/drawingml/2006/main">
            <a:off x="6263640" y="1371600"/>
            <a:ext cx="5074920" cy="914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5" name="Google Shape;425;p16">
            <a:extLst xmlns:a="http://schemas.openxmlformats.org/drawingml/2006/main">
              <a:ext uri="{FF2B5EF4-FFF2-40B4-BE49-F238E27FC236}">
                <a16:creationId xmlns:a16="http://schemas.microsoft.com/office/drawing/2014/main" id="{948407D0-0F97-45F9-9A9E-3C7F7DC35CDB}"/>
              </a:ext>
            </a:extLst>
          </p:cNvPr>
          <p:cNvSpPr>
            <a:spLocks xmlns:a="http://schemas.openxmlformats.org/drawingml/2006/main" noGrp="1"/>
          </p:cNvSpPr>
          <p:nvPr/>
        </p:nvSpPr>
        <p:spPr>
          <a:xfrm xmlns:a="http://schemas.openxmlformats.org/drawingml/2006/main">
            <a:off x="6263640" y="1371600"/>
            <a:ext cx="54864" cy="914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6" name="Google Shape;426;p16">
            <a:extLst xmlns:a="http://schemas.openxmlformats.org/drawingml/2006/main">
              <a:ext uri="{FF2B5EF4-FFF2-40B4-BE49-F238E27FC236}">
                <a16:creationId xmlns:a16="http://schemas.microsoft.com/office/drawing/2014/main" id="{71713C7A-766F-4789-B514-B8D5B5D04FF6}"/>
              </a:ext>
            </a:extLst>
          </p:cNvPr>
          <p:cNvSpPr>
            <a:spLocks xmlns:a="http://schemas.openxmlformats.org/drawingml/2006/main" noGrp="1"/>
          </p:cNvSpPr>
          <p:nvPr/>
        </p:nvSpPr>
        <p:spPr>
          <a:xfrm xmlns:a="http://schemas.openxmlformats.org/drawingml/2006/main">
            <a:off x="6428232" y="151790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ANIMALS</a:t>
            </a:r>
          </a:p>
        </p:txBody>
      </p:sp>
      <p:sp>
        <p:nvSpPr>
          <p:cNvPr id="427" name="Google Shape;427;p16">
            <a:extLst xmlns:a="http://schemas.openxmlformats.org/drawingml/2006/main">
              <a:ext uri="{FF2B5EF4-FFF2-40B4-BE49-F238E27FC236}">
                <a16:creationId xmlns:a16="http://schemas.microsoft.com/office/drawing/2014/main" id="{88953FAC-6BA8-49AF-AF7C-1B2FA9D7FFEA}"/>
              </a:ext>
            </a:extLst>
          </p:cNvPr>
          <p:cNvSpPr>
            <a:spLocks xmlns:a="http://schemas.openxmlformats.org/drawingml/2006/main" noGrp="1"/>
          </p:cNvSpPr>
          <p:nvPr/>
        </p:nvSpPr>
        <p:spPr>
          <a:xfrm xmlns:a="http://schemas.openxmlformats.org/drawingml/2006/main">
            <a:off x="6428232" y="1810512"/>
            <a:ext cx="47548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a:solidFill>
                  <a:srgbClr val="F2F2F2"/>
                </a:solidFill>
                <a:latin typeface="Arial"/>
                <a:ea typeface="Arial"/>
                <a:cs typeface="Arial"/>
              </a:rPr>
              <a:t>Vertebrates, behavior, habitats, welfare, disturbance.</a:t>
            </a:r>
          </a:p>
        </p:txBody>
      </p:sp>
      <p:sp>
        <p:nvSpPr>
          <p:cNvPr id="428" name="Google Shape;428;p16">
            <a:extLst xmlns:a="http://schemas.openxmlformats.org/drawingml/2006/main">
              <a:ext uri="{FF2B5EF4-FFF2-40B4-BE49-F238E27FC236}">
                <a16:creationId xmlns:a16="http://schemas.microsoft.com/office/drawing/2014/main" id="{59DB5715-F071-4021-ADCB-6F5B606FCF26}"/>
              </a:ext>
            </a:extLst>
          </p:cNvPr>
          <p:cNvSpPr>
            <a:spLocks xmlns:a="http://schemas.openxmlformats.org/drawingml/2006/main" noGrp="1"/>
          </p:cNvSpPr>
          <p:nvPr/>
        </p:nvSpPr>
        <p:spPr>
          <a:xfrm xmlns:a="http://schemas.openxmlformats.org/drawingml/2006/main">
            <a:off x="822960" y="2578608"/>
            <a:ext cx="5074920" cy="914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29" name="Google Shape;429;p16">
            <a:extLst xmlns:a="http://schemas.openxmlformats.org/drawingml/2006/main">
              <a:ext uri="{FF2B5EF4-FFF2-40B4-BE49-F238E27FC236}">
                <a16:creationId xmlns:a16="http://schemas.microsoft.com/office/drawing/2014/main" id="{C3486BB4-3B5B-4E44-9A65-552423C15A12}"/>
              </a:ext>
            </a:extLst>
          </p:cNvPr>
          <p:cNvSpPr>
            <a:spLocks xmlns:a="http://schemas.openxmlformats.org/drawingml/2006/main" noGrp="1"/>
          </p:cNvSpPr>
          <p:nvPr/>
        </p:nvSpPr>
        <p:spPr>
          <a:xfrm xmlns:a="http://schemas.openxmlformats.org/drawingml/2006/main">
            <a:off x="822960" y="2578608"/>
            <a:ext cx="54864" cy="914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0" name="Google Shape;430;p16">
            <a:extLst xmlns:a="http://schemas.openxmlformats.org/drawingml/2006/main">
              <a:ext uri="{FF2B5EF4-FFF2-40B4-BE49-F238E27FC236}">
                <a16:creationId xmlns:a16="http://schemas.microsoft.com/office/drawing/2014/main" id="{473A91A1-55D4-46C7-A6D3-250385002374}"/>
              </a:ext>
            </a:extLst>
          </p:cNvPr>
          <p:cNvSpPr>
            <a:spLocks xmlns:a="http://schemas.openxmlformats.org/drawingml/2006/main" noGrp="1"/>
          </p:cNvSpPr>
          <p:nvPr/>
        </p:nvSpPr>
        <p:spPr>
          <a:xfrm xmlns:a="http://schemas.openxmlformats.org/drawingml/2006/main">
            <a:off x="987552" y="2724912"/>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BIO / ENVIRONMENT</a:t>
            </a:r>
          </a:p>
        </p:txBody>
      </p:sp>
      <p:sp>
        <p:nvSpPr>
          <p:cNvPr id="431" name="Google Shape;431;p16">
            <a:extLst xmlns:a="http://schemas.openxmlformats.org/drawingml/2006/main">
              <a:ext uri="{FF2B5EF4-FFF2-40B4-BE49-F238E27FC236}">
                <a16:creationId xmlns:a16="http://schemas.microsoft.com/office/drawing/2014/main" id="{614BB4D5-B88C-48EC-AF32-897F86A57866}"/>
              </a:ext>
            </a:extLst>
          </p:cNvPr>
          <p:cNvSpPr>
            <a:spLocks xmlns:a="http://schemas.openxmlformats.org/drawingml/2006/main" noGrp="1"/>
          </p:cNvSpPr>
          <p:nvPr/>
        </p:nvSpPr>
        <p:spPr>
          <a:xfrm xmlns:a="http://schemas.openxmlformats.org/drawingml/2006/main">
            <a:off x="987552" y="3017520"/>
            <a:ext cx="47548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a:solidFill>
                  <a:srgbClr val="F2F2F2"/>
                </a:solidFill>
                <a:latin typeface="Arial"/>
                <a:ea typeface="Arial"/>
                <a:cs typeface="Arial"/>
              </a:rPr>
              <a:t>Culturing, microbes, soil/water samples, waste, fieldwork.</a:t>
            </a:r>
          </a:p>
        </p:txBody>
      </p:sp>
      <p:sp>
        <p:nvSpPr>
          <p:cNvPr id="432" name="Google Shape;432;p16">
            <a:extLst xmlns:a="http://schemas.openxmlformats.org/drawingml/2006/main">
              <a:ext uri="{FF2B5EF4-FFF2-40B4-BE49-F238E27FC236}">
                <a16:creationId xmlns:a16="http://schemas.microsoft.com/office/drawing/2014/main" id="{CF561CB2-B845-4EEA-AEC6-37D20F5BDF22}"/>
              </a:ext>
            </a:extLst>
          </p:cNvPr>
          <p:cNvSpPr>
            <a:spLocks xmlns:a="http://schemas.openxmlformats.org/drawingml/2006/main" noGrp="1"/>
          </p:cNvSpPr>
          <p:nvPr/>
        </p:nvSpPr>
        <p:spPr>
          <a:xfrm xmlns:a="http://schemas.openxmlformats.org/drawingml/2006/main">
            <a:off x="6263640" y="2578608"/>
            <a:ext cx="5074920" cy="914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3" name="Google Shape;433;p16">
            <a:extLst xmlns:a="http://schemas.openxmlformats.org/drawingml/2006/main">
              <a:ext uri="{FF2B5EF4-FFF2-40B4-BE49-F238E27FC236}">
                <a16:creationId xmlns:a16="http://schemas.microsoft.com/office/drawing/2014/main" id="{38E3793A-89E1-4E0E-A36E-13427118E747}"/>
              </a:ext>
            </a:extLst>
          </p:cNvPr>
          <p:cNvSpPr>
            <a:spLocks xmlns:a="http://schemas.openxmlformats.org/drawingml/2006/main" noGrp="1"/>
          </p:cNvSpPr>
          <p:nvPr/>
        </p:nvSpPr>
        <p:spPr>
          <a:xfrm xmlns:a="http://schemas.openxmlformats.org/drawingml/2006/main">
            <a:off x="6263640" y="2578608"/>
            <a:ext cx="54864" cy="914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4" name="Google Shape;434;p16">
            <a:extLst xmlns:a="http://schemas.openxmlformats.org/drawingml/2006/main">
              <a:ext uri="{FF2B5EF4-FFF2-40B4-BE49-F238E27FC236}">
                <a16:creationId xmlns:a16="http://schemas.microsoft.com/office/drawing/2014/main" id="{085CC095-F345-476A-A5DA-D27CCD15355F}"/>
              </a:ext>
            </a:extLst>
          </p:cNvPr>
          <p:cNvSpPr>
            <a:spLocks xmlns:a="http://schemas.openxmlformats.org/drawingml/2006/main" noGrp="1"/>
          </p:cNvSpPr>
          <p:nvPr/>
        </p:nvSpPr>
        <p:spPr>
          <a:xfrm xmlns:a="http://schemas.openxmlformats.org/drawingml/2006/main">
            <a:off x="6428232" y="2724912"/>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DATA / CREDIT</a:t>
            </a:r>
          </a:p>
        </p:txBody>
      </p:sp>
      <p:sp>
        <p:nvSpPr>
          <p:cNvPr id="435" name="Google Shape;435;p16">
            <a:extLst xmlns:a="http://schemas.openxmlformats.org/drawingml/2006/main">
              <a:ext uri="{FF2B5EF4-FFF2-40B4-BE49-F238E27FC236}">
                <a16:creationId xmlns:a16="http://schemas.microsoft.com/office/drawing/2014/main" id="{0A772853-7743-42D9-A474-A92762ED12AF}"/>
              </a:ext>
            </a:extLst>
          </p:cNvPr>
          <p:cNvSpPr>
            <a:spLocks xmlns:a="http://schemas.openxmlformats.org/drawingml/2006/main" noGrp="1"/>
          </p:cNvSpPr>
          <p:nvPr/>
        </p:nvSpPr>
        <p:spPr>
          <a:xfrm xmlns:a="http://schemas.openxmlformats.org/drawingml/2006/main">
            <a:off x="6428232" y="3017520"/>
            <a:ext cx="47548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a:solidFill>
                  <a:srgbClr val="F2F2F2"/>
                </a:solidFill>
                <a:latin typeface="Arial"/>
                <a:ea typeface="Arial"/>
                <a:cs typeface="Arial"/>
              </a:rPr>
              <a:t>Privacy, code, images, sources, mentor contributions.</a:t>
            </a:r>
          </a:p>
        </p:txBody>
      </p:sp>
      <p:sp>
        <p:nvSpPr>
          <p:cNvPr id="436" name="Google Shape;436;p16">
            <a:extLst xmlns:a="http://schemas.openxmlformats.org/drawingml/2006/main">
              <a:ext uri="{FF2B5EF4-FFF2-40B4-BE49-F238E27FC236}">
                <a16:creationId xmlns:a16="http://schemas.microsoft.com/office/drawing/2014/main" id="{6B8742A5-9778-4E67-A02C-A8D6F8CF1A9E}"/>
              </a:ext>
            </a:extLst>
          </p:cNvPr>
          <p:cNvSpPr>
            <a:spLocks xmlns:a="http://schemas.openxmlformats.org/drawingml/2006/main" noGrp="1"/>
          </p:cNvSpPr>
          <p:nvPr/>
        </p:nvSpPr>
        <p:spPr>
          <a:xfrm xmlns:a="http://schemas.openxmlformats.org/drawingml/2006/main">
            <a:off x="960120" y="3977640"/>
            <a:ext cx="102412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1800"/>
              <a:buFont typeface="Play"/>
              <a:buNone/>
            </a:pPr>
            <a:r>
              <a:rPr sz="1800" b="1">
                <a:solidFill>
                  <a:srgbClr val="F2F2F2"/>
                </a:solidFill>
                <a:latin typeface="Play"/>
                <a:ea typeface="Play"/>
                <a:cs typeface="Play"/>
              </a:rPr>
              <a:t>Ethics question: Who or what could be affected by this project?</a:t>
            </a:r>
          </a:p>
        </p:txBody>
      </p:sp>
      <p:sp>
        <p:nvSpPr>
          <p:cNvPr id="437" name="Google Shape;437;p16">
            <a:extLst xmlns:a="http://schemas.openxmlformats.org/drawingml/2006/main">
              <a:ext uri="{FF2B5EF4-FFF2-40B4-BE49-F238E27FC236}">
                <a16:creationId xmlns:a16="http://schemas.microsoft.com/office/drawing/2014/main" id="{0D4F7377-BEA5-4354-8A7C-C03011D38F08}"/>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8" name="Google Shape;438;p16">
            <a:extLst xmlns:a="http://schemas.openxmlformats.org/drawingml/2006/main">
              <a:ext uri="{FF2B5EF4-FFF2-40B4-BE49-F238E27FC236}">
                <a16:creationId xmlns:a16="http://schemas.microsoft.com/office/drawing/2014/main" id="{66134235-28B0-4295-9466-DFD7E4FE4897}"/>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39" name="Google Shape;439;p16">
            <a:extLst xmlns:a="http://schemas.openxmlformats.org/drawingml/2006/main">
              <a:ext uri="{FF2B5EF4-FFF2-40B4-BE49-F238E27FC236}">
                <a16:creationId xmlns:a16="http://schemas.microsoft.com/office/drawing/2014/main" id="{67A26F6A-A8A9-41C3-94C3-AAB7F27C4C6A}"/>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a:solidFill>
                  <a:srgbClr val="F2F2F2"/>
                </a:solidFill>
                <a:latin typeface="Arial"/>
                <a:ea typeface="Arial"/>
                <a:cs typeface="Arial"/>
              </a:rPr>
              <a:t>STUDENT ACTIVITY</a:t>
            </a:r>
          </a:p>
        </p:txBody>
      </p:sp>
      <p:sp>
        <p:nvSpPr>
          <p:cNvPr id="440" name="Google Shape;440;p16">
            <a:extLst xmlns:a="http://schemas.openxmlformats.org/drawingml/2006/main">
              <a:ext uri="{FF2B5EF4-FFF2-40B4-BE49-F238E27FC236}">
                <a16:creationId xmlns:a16="http://schemas.microsoft.com/office/drawing/2014/main" id="{85428FCA-DCD0-480D-B289-B3F5F84FEBDD}"/>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a:solidFill>
                  <a:srgbClr val="F2F2F2"/>
                </a:solidFill>
                <a:latin typeface="Arial"/>
                <a:ea typeface="Arial"/>
                <a:cs typeface="Arial"/>
              </a:rPr>
              <a:t>Approval forecast.</a:t>
            </a:r>
          </a:p>
        </p:txBody>
      </p:sp>
      <p:sp>
        <p:nvSpPr>
          <p:cNvPr id="441" name="Google Shape;441;p16">
            <a:extLst xmlns:a="http://schemas.openxmlformats.org/drawingml/2006/main">
              <a:ext uri="{FF2B5EF4-FFF2-40B4-BE49-F238E27FC236}">
                <a16:creationId xmlns:a16="http://schemas.microsoft.com/office/drawing/2014/main" id="{E33F5460-2680-4A31-BA94-8B8B9625A762}"/>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a:solidFill>
                  <a:srgbClr val="B8B8B8"/>
                </a:solidFill>
                <a:latin typeface="Arial"/>
                <a:ea typeface="Arial"/>
                <a:cs typeface="Arial"/>
              </a:rPr>
              <a:t>Write whether your project likely needs normal teacher approval, special review, mentor review, or a major revision.</a:t>
            </a:r>
          </a:p>
        </p:txBody>
      </p:sp>
    </p:spTree>
    <p:extLst>
      <p:ext uri="{BB962C8B-B14F-4D97-AF65-F5344CB8AC3E}">
        <p14:creationId xmlns:p14="http://schemas.microsoft.com/office/powerpoint/2010/main" val="1061685151"/>
      </p:ext>
    </p:extLst>
  </p:cSld>
</p:sld>
</file>

<file path=ppt/slides/slide1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447" name="Google Shape;447;p17">
            <a:extLst xmlns:a="http://schemas.openxmlformats.org/drawingml/2006/main">
              <a:ext uri="{FF2B5EF4-FFF2-40B4-BE49-F238E27FC236}">
                <a16:creationId xmlns:a16="http://schemas.microsoft.com/office/drawing/2014/main" id="{3E4021A6-296E-45DE-AAF6-0AC7AE7587A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48" name="Google Shape;448;p17">
            <a:extLst xmlns:a="http://schemas.openxmlformats.org/drawingml/2006/main">
              <a:ext uri="{FF2B5EF4-FFF2-40B4-BE49-F238E27FC236}">
                <a16:creationId xmlns:a16="http://schemas.microsoft.com/office/drawing/2014/main" id="{DA501595-ECBB-423A-B05A-CC7E16A86CD4}"/>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49" name="Google Shape;449;p17">
            <a:extLst xmlns:a="http://schemas.openxmlformats.org/drawingml/2006/main">
              <a:ext uri="{FF2B5EF4-FFF2-40B4-BE49-F238E27FC236}">
                <a16:creationId xmlns:a16="http://schemas.microsoft.com/office/drawing/2014/main" id="{CBD0653A-1263-4577-BCE0-E50DCF575DC5}"/>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50" name="Google Shape;450;p17">
            <a:extLst xmlns:a="http://schemas.openxmlformats.org/drawingml/2006/main">
              <a:ext uri="{FF2B5EF4-FFF2-40B4-BE49-F238E27FC236}">
                <a16:creationId xmlns:a16="http://schemas.microsoft.com/office/drawing/2014/main" id="{BEE24E8A-BE71-4DE0-954B-51D519B55B95}"/>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SECTION 11</a:t>
            </a:r>
          </a:p>
        </p:txBody>
      </p:sp>
      <p:sp>
        <p:nvSpPr>
          <p:cNvPr id="451" name="Google Shape;451;p17">
            <a:extLst xmlns:a="http://schemas.openxmlformats.org/drawingml/2006/main">
              <a:ext uri="{FF2B5EF4-FFF2-40B4-BE49-F238E27FC236}">
                <a16:creationId xmlns:a16="http://schemas.microsoft.com/office/drawing/2014/main" id="{4E74EDBF-7822-464C-A050-82A89C8DC6BA}"/>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452" name="Google Shape;452;p17">
            <a:extLst xmlns:a="http://schemas.openxmlformats.org/drawingml/2006/main">
              <a:ext uri="{FF2B5EF4-FFF2-40B4-BE49-F238E27FC236}">
                <a16:creationId xmlns:a16="http://schemas.microsoft.com/office/drawing/2014/main" id="{6897482E-D2EF-4571-9C0F-CF358E1C1769}"/>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SECTION 11: PROJECT TIMELINE</a:t>
            </a:r>
          </a:p>
        </p:txBody>
      </p:sp>
      <p:cxnSp>
        <p:nvCxnSpPr>
          <p:cNvPr id="551" name="Google Shape;453;p17"/>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454" name="Google Shape;454;p17">
            <a:extLst xmlns:a="http://schemas.openxmlformats.org/drawingml/2006/main">
              <a:ext uri="{FF2B5EF4-FFF2-40B4-BE49-F238E27FC236}">
                <a16:creationId xmlns:a16="http://schemas.microsoft.com/office/drawing/2014/main" id="{ACA6CC7F-6E6F-48EA-9DE5-1F52B4EFD239}"/>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A timeline is a research tool, not a wish list.</a:t>
            </a:r>
          </a:p>
        </p:txBody>
      </p:sp>
      <p:sp>
        <p:nvSpPr>
          <p:cNvPr id="455" name="Google Shape;455;p17">
            <a:extLst xmlns:a="http://schemas.openxmlformats.org/drawingml/2006/main">
              <a:ext uri="{FF2B5EF4-FFF2-40B4-BE49-F238E27FC236}">
                <a16:creationId xmlns:a16="http://schemas.microsoft.com/office/drawing/2014/main" id="{290DB070-9F41-4099-854B-37FB7CAF8B46}"/>
              </a:ext>
            </a:extLst>
          </p:cNvPr>
          <p:cNvSpPr>
            <a:spLocks xmlns:a="http://schemas.openxmlformats.org/drawingml/2006/main" noGrp="1"/>
          </p:cNvSpPr>
          <p:nvPr/>
        </p:nvSpPr>
        <p:spPr>
          <a:xfrm xmlns:a="http://schemas.openxmlformats.org/drawingml/2006/main">
            <a:off x="502920" y="1691640"/>
            <a:ext cx="1234440" cy="502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56" name="Google Shape;456;p17">
            <a:extLst xmlns:a="http://schemas.openxmlformats.org/drawingml/2006/main">
              <a:ext uri="{FF2B5EF4-FFF2-40B4-BE49-F238E27FC236}">
                <a16:creationId xmlns:a16="http://schemas.microsoft.com/office/drawing/2014/main" id="{093D18FB-21C4-4D69-9683-D6FF4644F230}"/>
              </a:ext>
            </a:extLst>
          </p:cNvPr>
          <p:cNvSpPr>
            <a:spLocks xmlns:a="http://schemas.openxmlformats.org/drawingml/2006/main" noGrp="1"/>
          </p:cNvSpPr>
          <p:nvPr/>
        </p:nvSpPr>
        <p:spPr>
          <a:xfrm xmlns:a="http://schemas.openxmlformats.org/drawingml/2006/main">
            <a:off x="548640" y="1847088"/>
            <a:ext cx="1143000" cy="1097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900"/>
              <a:buFont typeface="Arial"/>
              <a:buNone/>
            </a:pPr>
            <a:r>
              <a:rPr sz="900" b="1">
                <a:solidFill>
                  <a:srgbClr val="F2F2F2"/>
                </a:solidFill>
                <a:latin typeface="Arial"/>
                <a:ea typeface="Arial"/>
                <a:cs typeface="Arial"/>
              </a:rPr>
              <a:t>Approval</a:t>
            </a:r>
          </a:p>
        </p:txBody>
      </p:sp>
      <p:cxnSp>
        <p:nvCxnSpPr>
          <p:cNvPr id="555" name="Google Shape;457;p17"/>
          <p:cNvCxnSpPr/>
          <p:nvPr/>
        </p:nvCxnSpPr>
        <p:spPr>
          <a:xfrm xmlns:a="http://schemas.openxmlformats.org/drawingml/2006/main">
            <a:off x="1737360" y="1943100"/>
            <a:ext cx="182880" cy="0"/>
          </a:xfrm>
          <a:prstGeom xmlns:a="http://schemas.openxmlformats.org/drawingml/2006/main" prst="straightConnector1">
            <a:avLst/>
          </a:prstGeom>
          <a:ln xmlns:a="http://schemas.openxmlformats.org/drawingml/2006/main" w="15225" cap="flat">
            <a:solidFill>
              <a:srgbClr val="E22B27"/>
            </a:solidFill>
            <a:prstDash val="solid"/>
            <a:round/>
            <a:headEnd type="none" w="sm" len="sm"/>
            <a:tailEnd type="triangle" w="med" len="med"/>
          </a:ln>
        </p:spPr>
      </p:cxnSp>
      <p:sp>
        <p:nvSpPr>
          <p:cNvPr id="458" name="Google Shape;458;p17">
            <a:extLst xmlns:a="http://schemas.openxmlformats.org/drawingml/2006/main">
              <a:ext uri="{FF2B5EF4-FFF2-40B4-BE49-F238E27FC236}">
                <a16:creationId xmlns:a16="http://schemas.microsoft.com/office/drawing/2014/main" id="{4D54010A-2914-4523-89C4-E1D4F039A642}"/>
              </a:ext>
            </a:extLst>
          </p:cNvPr>
          <p:cNvSpPr>
            <a:spLocks xmlns:a="http://schemas.openxmlformats.org/drawingml/2006/main" noGrp="1"/>
          </p:cNvSpPr>
          <p:nvPr/>
        </p:nvSpPr>
        <p:spPr>
          <a:xfrm xmlns:a="http://schemas.openxmlformats.org/drawingml/2006/main">
            <a:off x="1920240" y="1691640"/>
            <a:ext cx="1234440" cy="502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59" name="Google Shape;459;p17">
            <a:extLst xmlns:a="http://schemas.openxmlformats.org/drawingml/2006/main">
              <a:ext uri="{FF2B5EF4-FFF2-40B4-BE49-F238E27FC236}">
                <a16:creationId xmlns:a16="http://schemas.microsoft.com/office/drawing/2014/main" id="{B977A8FD-229E-4817-A5BE-6E66D7855594}"/>
              </a:ext>
            </a:extLst>
          </p:cNvPr>
          <p:cNvSpPr>
            <a:spLocks xmlns:a="http://schemas.openxmlformats.org/drawingml/2006/main" noGrp="1"/>
          </p:cNvSpPr>
          <p:nvPr/>
        </p:nvSpPr>
        <p:spPr>
          <a:xfrm xmlns:a="http://schemas.openxmlformats.org/drawingml/2006/main">
            <a:off x="1965960" y="1847088"/>
            <a:ext cx="1143000" cy="1097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900"/>
              <a:buFont typeface="Arial"/>
              <a:buNone/>
            </a:pPr>
            <a:r>
              <a:rPr sz="900" b="1">
                <a:solidFill>
                  <a:srgbClr val="F2F2F2"/>
                </a:solidFill>
                <a:latin typeface="Arial"/>
                <a:ea typeface="Arial"/>
                <a:cs typeface="Arial"/>
              </a:rPr>
              <a:t>Materials</a:t>
            </a:r>
          </a:p>
        </p:txBody>
      </p:sp>
      <p:cxnSp>
        <p:nvCxnSpPr>
          <p:cNvPr id="558" name="Google Shape;460;p17"/>
          <p:cNvCxnSpPr/>
          <p:nvPr/>
        </p:nvCxnSpPr>
        <p:spPr>
          <a:xfrm xmlns:a="http://schemas.openxmlformats.org/drawingml/2006/main">
            <a:off x="3154680" y="1943100"/>
            <a:ext cx="182880" cy="0"/>
          </a:xfrm>
          <a:prstGeom xmlns:a="http://schemas.openxmlformats.org/drawingml/2006/main" prst="straightConnector1">
            <a:avLst/>
          </a:prstGeom>
          <a:ln xmlns:a="http://schemas.openxmlformats.org/drawingml/2006/main" w="15225" cap="flat">
            <a:solidFill>
              <a:srgbClr val="E22B27"/>
            </a:solidFill>
            <a:prstDash val="solid"/>
            <a:round/>
            <a:headEnd type="none" w="sm" len="sm"/>
            <a:tailEnd type="triangle" w="med" len="med"/>
          </a:ln>
        </p:spPr>
      </p:cxnSp>
      <p:sp>
        <p:nvSpPr>
          <p:cNvPr id="461" name="Google Shape;461;p17">
            <a:extLst xmlns:a="http://schemas.openxmlformats.org/drawingml/2006/main">
              <a:ext uri="{FF2B5EF4-FFF2-40B4-BE49-F238E27FC236}">
                <a16:creationId xmlns:a16="http://schemas.microsoft.com/office/drawing/2014/main" id="{8EBE4A52-B2C0-4395-84B9-4940A057FAAC}"/>
              </a:ext>
            </a:extLst>
          </p:cNvPr>
          <p:cNvSpPr>
            <a:spLocks xmlns:a="http://schemas.openxmlformats.org/drawingml/2006/main" noGrp="1"/>
          </p:cNvSpPr>
          <p:nvPr/>
        </p:nvSpPr>
        <p:spPr>
          <a:xfrm xmlns:a="http://schemas.openxmlformats.org/drawingml/2006/main">
            <a:off x="3337560" y="1691640"/>
            <a:ext cx="1234440" cy="502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62" name="Google Shape;462;p17">
            <a:extLst xmlns:a="http://schemas.openxmlformats.org/drawingml/2006/main">
              <a:ext uri="{FF2B5EF4-FFF2-40B4-BE49-F238E27FC236}">
                <a16:creationId xmlns:a16="http://schemas.microsoft.com/office/drawing/2014/main" id="{63D951D1-55C4-42DF-AB87-C9D3B4D0782E}"/>
              </a:ext>
            </a:extLst>
          </p:cNvPr>
          <p:cNvSpPr>
            <a:spLocks xmlns:a="http://schemas.openxmlformats.org/drawingml/2006/main" noGrp="1"/>
          </p:cNvSpPr>
          <p:nvPr/>
        </p:nvSpPr>
        <p:spPr>
          <a:xfrm xmlns:a="http://schemas.openxmlformats.org/drawingml/2006/main">
            <a:off x="3383280" y="1847088"/>
            <a:ext cx="1143000" cy="1097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900"/>
              <a:buFont typeface="Arial"/>
              <a:buNone/>
            </a:pPr>
            <a:r>
              <a:rPr sz="900" b="1">
                <a:solidFill>
                  <a:srgbClr val="F2F2F2"/>
                </a:solidFill>
                <a:latin typeface="Arial"/>
                <a:ea typeface="Arial"/>
                <a:cs typeface="Arial"/>
              </a:rPr>
              <a:t>Pilot test</a:t>
            </a:r>
          </a:p>
        </p:txBody>
      </p:sp>
      <p:cxnSp>
        <p:nvCxnSpPr>
          <p:cNvPr id="561" name="Google Shape;463;p17"/>
          <p:cNvCxnSpPr/>
          <p:nvPr/>
        </p:nvCxnSpPr>
        <p:spPr>
          <a:xfrm xmlns:a="http://schemas.openxmlformats.org/drawingml/2006/main">
            <a:off x="4572000" y="1943100"/>
            <a:ext cx="182880" cy="0"/>
          </a:xfrm>
          <a:prstGeom xmlns:a="http://schemas.openxmlformats.org/drawingml/2006/main" prst="straightConnector1">
            <a:avLst/>
          </a:prstGeom>
          <a:ln xmlns:a="http://schemas.openxmlformats.org/drawingml/2006/main" w="15225" cap="flat">
            <a:solidFill>
              <a:srgbClr val="E22B27"/>
            </a:solidFill>
            <a:prstDash val="solid"/>
            <a:round/>
            <a:headEnd type="none" w="sm" len="sm"/>
            <a:tailEnd type="triangle" w="med" len="med"/>
          </a:ln>
        </p:spPr>
      </p:cxnSp>
      <p:sp>
        <p:nvSpPr>
          <p:cNvPr id="464" name="Google Shape;464;p17">
            <a:extLst xmlns:a="http://schemas.openxmlformats.org/drawingml/2006/main">
              <a:ext uri="{FF2B5EF4-FFF2-40B4-BE49-F238E27FC236}">
                <a16:creationId xmlns:a16="http://schemas.microsoft.com/office/drawing/2014/main" id="{CAE3DDBE-A6BA-4DAF-8180-F17A208295FA}"/>
              </a:ext>
            </a:extLst>
          </p:cNvPr>
          <p:cNvSpPr>
            <a:spLocks xmlns:a="http://schemas.openxmlformats.org/drawingml/2006/main" noGrp="1"/>
          </p:cNvSpPr>
          <p:nvPr/>
        </p:nvSpPr>
        <p:spPr>
          <a:xfrm xmlns:a="http://schemas.openxmlformats.org/drawingml/2006/main">
            <a:off x="4754880" y="1691640"/>
            <a:ext cx="1234440" cy="502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65" name="Google Shape;465;p17">
            <a:extLst xmlns:a="http://schemas.openxmlformats.org/drawingml/2006/main">
              <a:ext uri="{FF2B5EF4-FFF2-40B4-BE49-F238E27FC236}">
                <a16:creationId xmlns:a16="http://schemas.microsoft.com/office/drawing/2014/main" id="{00699961-7EFE-4219-8453-9F3FF2AF1B53}"/>
              </a:ext>
            </a:extLst>
          </p:cNvPr>
          <p:cNvSpPr>
            <a:spLocks xmlns:a="http://schemas.openxmlformats.org/drawingml/2006/main" noGrp="1"/>
          </p:cNvSpPr>
          <p:nvPr/>
        </p:nvSpPr>
        <p:spPr>
          <a:xfrm xmlns:a="http://schemas.openxmlformats.org/drawingml/2006/main">
            <a:off x="4800600" y="1847088"/>
            <a:ext cx="1143000" cy="1097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900"/>
              <a:buFont typeface="Arial"/>
              <a:buNone/>
            </a:pPr>
            <a:r>
              <a:rPr sz="900" b="1">
                <a:solidFill>
                  <a:srgbClr val="F2F2F2"/>
                </a:solidFill>
                <a:latin typeface="Arial"/>
                <a:ea typeface="Arial"/>
                <a:cs typeface="Arial"/>
              </a:rPr>
              <a:t>Revise method</a:t>
            </a:r>
          </a:p>
        </p:txBody>
      </p:sp>
      <p:cxnSp>
        <p:nvCxnSpPr>
          <p:cNvPr id="564" name="Google Shape;466;p17"/>
          <p:cNvCxnSpPr/>
          <p:nvPr/>
        </p:nvCxnSpPr>
        <p:spPr>
          <a:xfrm xmlns:a="http://schemas.openxmlformats.org/drawingml/2006/main">
            <a:off x="5989320" y="1943100"/>
            <a:ext cx="182880" cy="0"/>
          </a:xfrm>
          <a:prstGeom xmlns:a="http://schemas.openxmlformats.org/drawingml/2006/main" prst="straightConnector1">
            <a:avLst/>
          </a:prstGeom>
          <a:ln xmlns:a="http://schemas.openxmlformats.org/drawingml/2006/main" w="15225" cap="flat">
            <a:solidFill>
              <a:srgbClr val="E22B27"/>
            </a:solidFill>
            <a:prstDash val="solid"/>
            <a:round/>
            <a:headEnd type="none" w="sm" len="sm"/>
            <a:tailEnd type="triangle" w="med" len="med"/>
          </a:ln>
        </p:spPr>
      </p:cxnSp>
      <p:sp>
        <p:nvSpPr>
          <p:cNvPr id="467" name="Google Shape;467;p17">
            <a:extLst xmlns:a="http://schemas.openxmlformats.org/drawingml/2006/main">
              <a:ext uri="{FF2B5EF4-FFF2-40B4-BE49-F238E27FC236}">
                <a16:creationId xmlns:a16="http://schemas.microsoft.com/office/drawing/2014/main" id="{5A7A803B-3047-4E04-A2EF-CAF7F6DDAA16}"/>
              </a:ext>
            </a:extLst>
          </p:cNvPr>
          <p:cNvSpPr>
            <a:spLocks xmlns:a="http://schemas.openxmlformats.org/drawingml/2006/main" noGrp="1"/>
          </p:cNvSpPr>
          <p:nvPr/>
        </p:nvSpPr>
        <p:spPr>
          <a:xfrm xmlns:a="http://schemas.openxmlformats.org/drawingml/2006/main">
            <a:off x="6172200" y="1691640"/>
            <a:ext cx="1234440" cy="502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68" name="Google Shape;468;p17">
            <a:extLst xmlns:a="http://schemas.openxmlformats.org/drawingml/2006/main">
              <a:ext uri="{FF2B5EF4-FFF2-40B4-BE49-F238E27FC236}">
                <a16:creationId xmlns:a16="http://schemas.microsoft.com/office/drawing/2014/main" id="{C3293307-CC31-40FC-A331-99BB14778883}"/>
              </a:ext>
            </a:extLst>
          </p:cNvPr>
          <p:cNvSpPr>
            <a:spLocks xmlns:a="http://schemas.openxmlformats.org/drawingml/2006/main" noGrp="1"/>
          </p:cNvSpPr>
          <p:nvPr/>
        </p:nvSpPr>
        <p:spPr>
          <a:xfrm xmlns:a="http://schemas.openxmlformats.org/drawingml/2006/main">
            <a:off x="6217920" y="1847088"/>
            <a:ext cx="1143000" cy="1097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900"/>
              <a:buFont typeface="Arial"/>
              <a:buNone/>
            </a:pPr>
            <a:r>
              <a:rPr sz="900" b="1">
                <a:solidFill>
                  <a:srgbClr val="F2F2F2"/>
                </a:solidFill>
                <a:latin typeface="Arial"/>
                <a:ea typeface="Arial"/>
                <a:cs typeface="Arial"/>
              </a:rPr>
              <a:t>Collect data</a:t>
            </a:r>
          </a:p>
        </p:txBody>
      </p:sp>
      <p:cxnSp>
        <p:nvCxnSpPr>
          <p:cNvPr id="567" name="Google Shape;469;p17"/>
          <p:cNvCxnSpPr/>
          <p:nvPr/>
        </p:nvCxnSpPr>
        <p:spPr>
          <a:xfrm xmlns:a="http://schemas.openxmlformats.org/drawingml/2006/main">
            <a:off x="7406640" y="1943100"/>
            <a:ext cx="182880" cy="0"/>
          </a:xfrm>
          <a:prstGeom xmlns:a="http://schemas.openxmlformats.org/drawingml/2006/main" prst="straightConnector1">
            <a:avLst/>
          </a:prstGeom>
          <a:ln xmlns:a="http://schemas.openxmlformats.org/drawingml/2006/main" w="15225" cap="flat">
            <a:solidFill>
              <a:srgbClr val="E22B27"/>
            </a:solidFill>
            <a:prstDash val="solid"/>
            <a:round/>
            <a:headEnd type="none" w="sm" len="sm"/>
            <a:tailEnd type="triangle" w="med" len="med"/>
          </a:ln>
        </p:spPr>
      </p:cxnSp>
      <p:sp>
        <p:nvSpPr>
          <p:cNvPr id="470" name="Google Shape;470;p17">
            <a:extLst xmlns:a="http://schemas.openxmlformats.org/drawingml/2006/main">
              <a:ext uri="{FF2B5EF4-FFF2-40B4-BE49-F238E27FC236}">
                <a16:creationId xmlns:a16="http://schemas.microsoft.com/office/drawing/2014/main" id="{43A85EAE-0C79-4B82-B7FE-493AF51D1043}"/>
              </a:ext>
            </a:extLst>
          </p:cNvPr>
          <p:cNvSpPr>
            <a:spLocks xmlns:a="http://schemas.openxmlformats.org/drawingml/2006/main" noGrp="1"/>
          </p:cNvSpPr>
          <p:nvPr/>
        </p:nvSpPr>
        <p:spPr>
          <a:xfrm xmlns:a="http://schemas.openxmlformats.org/drawingml/2006/main">
            <a:off x="7589520" y="1691640"/>
            <a:ext cx="1234440" cy="502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71" name="Google Shape;471;p17">
            <a:extLst xmlns:a="http://schemas.openxmlformats.org/drawingml/2006/main">
              <a:ext uri="{FF2B5EF4-FFF2-40B4-BE49-F238E27FC236}">
                <a16:creationId xmlns:a16="http://schemas.microsoft.com/office/drawing/2014/main" id="{A858B93D-088E-43F9-9380-0D682784DB80}"/>
              </a:ext>
            </a:extLst>
          </p:cNvPr>
          <p:cNvSpPr>
            <a:spLocks xmlns:a="http://schemas.openxmlformats.org/drawingml/2006/main" noGrp="1"/>
          </p:cNvSpPr>
          <p:nvPr/>
        </p:nvSpPr>
        <p:spPr>
          <a:xfrm xmlns:a="http://schemas.openxmlformats.org/drawingml/2006/main">
            <a:off x="7635240" y="1847088"/>
            <a:ext cx="1143000" cy="1097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900"/>
              <a:buFont typeface="Arial"/>
              <a:buNone/>
            </a:pPr>
            <a:r>
              <a:rPr sz="900" b="1">
                <a:solidFill>
                  <a:srgbClr val="F2F2F2"/>
                </a:solidFill>
                <a:latin typeface="Arial"/>
                <a:ea typeface="Arial"/>
                <a:cs typeface="Arial"/>
              </a:rPr>
              <a:t>Analyze</a:t>
            </a:r>
          </a:p>
        </p:txBody>
      </p:sp>
      <p:cxnSp>
        <p:nvCxnSpPr>
          <p:cNvPr id="570" name="Google Shape;472;p17"/>
          <p:cNvCxnSpPr/>
          <p:nvPr/>
        </p:nvCxnSpPr>
        <p:spPr>
          <a:xfrm xmlns:a="http://schemas.openxmlformats.org/drawingml/2006/main">
            <a:off x="8823960" y="1943100"/>
            <a:ext cx="182880" cy="0"/>
          </a:xfrm>
          <a:prstGeom xmlns:a="http://schemas.openxmlformats.org/drawingml/2006/main" prst="straightConnector1">
            <a:avLst/>
          </a:prstGeom>
          <a:ln xmlns:a="http://schemas.openxmlformats.org/drawingml/2006/main" w="15225" cap="flat">
            <a:solidFill>
              <a:srgbClr val="E22B27"/>
            </a:solidFill>
            <a:prstDash val="solid"/>
            <a:round/>
            <a:headEnd type="none" w="sm" len="sm"/>
            <a:tailEnd type="triangle" w="med" len="med"/>
          </a:ln>
        </p:spPr>
      </p:cxnSp>
      <p:sp>
        <p:nvSpPr>
          <p:cNvPr id="473" name="Google Shape;473;p17">
            <a:extLst xmlns:a="http://schemas.openxmlformats.org/drawingml/2006/main">
              <a:ext uri="{FF2B5EF4-FFF2-40B4-BE49-F238E27FC236}">
                <a16:creationId xmlns:a16="http://schemas.microsoft.com/office/drawing/2014/main" id="{5A27D858-00F9-4D59-89D6-0B8B69073AEE}"/>
              </a:ext>
            </a:extLst>
          </p:cNvPr>
          <p:cNvSpPr>
            <a:spLocks xmlns:a="http://schemas.openxmlformats.org/drawingml/2006/main" noGrp="1"/>
          </p:cNvSpPr>
          <p:nvPr/>
        </p:nvSpPr>
        <p:spPr>
          <a:xfrm xmlns:a="http://schemas.openxmlformats.org/drawingml/2006/main">
            <a:off x="9006840" y="1691640"/>
            <a:ext cx="1234440" cy="502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74" name="Google Shape;474;p17">
            <a:extLst xmlns:a="http://schemas.openxmlformats.org/drawingml/2006/main">
              <a:ext uri="{FF2B5EF4-FFF2-40B4-BE49-F238E27FC236}">
                <a16:creationId xmlns:a16="http://schemas.microsoft.com/office/drawing/2014/main" id="{D37236B1-5B14-4FE4-9FC1-546A139FE60F}"/>
              </a:ext>
            </a:extLst>
          </p:cNvPr>
          <p:cNvSpPr>
            <a:spLocks xmlns:a="http://schemas.openxmlformats.org/drawingml/2006/main" noGrp="1"/>
          </p:cNvSpPr>
          <p:nvPr/>
        </p:nvSpPr>
        <p:spPr>
          <a:xfrm xmlns:a="http://schemas.openxmlformats.org/drawingml/2006/main">
            <a:off x="9052560" y="1847088"/>
            <a:ext cx="1143000" cy="1097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900"/>
              <a:buFont typeface="Arial"/>
              <a:buNone/>
            </a:pPr>
            <a:r>
              <a:rPr sz="900" b="1">
                <a:solidFill>
                  <a:srgbClr val="F2F2F2"/>
                </a:solidFill>
                <a:latin typeface="Arial"/>
                <a:ea typeface="Arial"/>
                <a:cs typeface="Arial"/>
              </a:rPr>
              <a:t>Report</a:t>
            </a:r>
          </a:p>
        </p:txBody>
      </p:sp>
      <p:cxnSp>
        <p:nvCxnSpPr>
          <p:cNvPr id="573" name="Google Shape;475;p17"/>
          <p:cNvCxnSpPr/>
          <p:nvPr/>
        </p:nvCxnSpPr>
        <p:spPr>
          <a:xfrm xmlns:a="http://schemas.openxmlformats.org/drawingml/2006/main">
            <a:off x="10241280" y="1943100"/>
            <a:ext cx="182880" cy="0"/>
          </a:xfrm>
          <a:prstGeom xmlns:a="http://schemas.openxmlformats.org/drawingml/2006/main" prst="straightConnector1">
            <a:avLst/>
          </a:prstGeom>
          <a:ln xmlns:a="http://schemas.openxmlformats.org/drawingml/2006/main" w="15225" cap="flat">
            <a:solidFill>
              <a:srgbClr val="E22B27"/>
            </a:solidFill>
            <a:prstDash val="solid"/>
            <a:round/>
            <a:headEnd type="none" w="sm" len="sm"/>
            <a:tailEnd type="triangle" w="med" len="med"/>
          </a:ln>
        </p:spPr>
      </p:cxnSp>
      <p:sp>
        <p:nvSpPr>
          <p:cNvPr id="476" name="Google Shape;476;p17">
            <a:extLst xmlns:a="http://schemas.openxmlformats.org/drawingml/2006/main">
              <a:ext uri="{FF2B5EF4-FFF2-40B4-BE49-F238E27FC236}">
                <a16:creationId xmlns:a16="http://schemas.microsoft.com/office/drawing/2014/main" id="{6EC9353A-F0DF-4BDD-96A2-6321FC71CBB6}"/>
              </a:ext>
            </a:extLst>
          </p:cNvPr>
          <p:cNvSpPr>
            <a:spLocks xmlns:a="http://schemas.openxmlformats.org/drawingml/2006/main" noGrp="1"/>
          </p:cNvSpPr>
          <p:nvPr/>
        </p:nvSpPr>
        <p:spPr>
          <a:xfrm xmlns:a="http://schemas.openxmlformats.org/drawingml/2006/main">
            <a:off x="10424160" y="1691640"/>
            <a:ext cx="1234440" cy="5029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77" name="Google Shape;477;p17">
            <a:extLst xmlns:a="http://schemas.openxmlformats.org/drawingml/2006/main">
              <a:ext uri="{FF2B5EF4-FFF2-40B4-BE49-F238E27FC236}">
                <a16:creationId xmlns:a16="http://schemas.microsoft.com/office/drawing/2014/main" id="{ACF9A3E1-25E0-4455-88EF-A8EA637B84B3}"/>
              </a:ext>
            </a:extLst>
          </p:cNvPr>
          <p:cNvSpPr>
            <a:spLocks xmlns:a="http://schemas.openxmlformats.org/drawingml/2006/main" noGrp="1"/>
          </p:cNvSpPr>
          <p:nvPr/>
        </p:nvSpPr>
        <p:spPr>
          <a:xfrm xmlns:a="http://schemas.openxmlformats.org/drawingml/2006/main">
            <a:off x="10469880" y="1847088"/>
            <a:ext cx="1143000" cy="1097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900"/>
              <a:buFont typeface="Arial"/>
              <a:buNone/>
            </a:pPr>
            <a:r>
              <a:rPr sz="900" b="1">
                <a:solidFill>
                  <a:srgbClr val="F2F2F2"/>
                </a:solidFill>
                <a:latin typeface="Arial"/>
                <a:ea typeface="Arial"/>
                <a:cs typeface="Arial"/>
              </a:rPr>
              <a:t>Present</a:t>
            </a:r>
          </a:p>
        </p:txBody>
      </p:sp>
      <p:sp>
        <p:nvSpPr>
          <p:cNvPr id="478" name="Google Shape;478;p17">
            <a:extLst xmlns:a="http://schemas.openxmlformats.org/drawingml/2006/main">
              <a:ext uri="{FF2B5EF4-FFF2-40B4-BE49-F238E27FC236}">
                <a16:creationId xmlns:a16="http://schemas.microsoft.com/office/drawing/2014/main" id="{FFECD64F-290E-416F-8CCA-B7BCC2CFC553}"/>
              </a:ext>
            </a:extLst>
          </p:cNvPr>
          <p:cNvSpPr>
            <a:spLocks xmlns:a="http://schemas.openxmlformats.org/drawingml/2006/main" noGrp="1"/>
          </p:cNvSpPr>
          <p:nvPr/>
        </p:nvSpPr>
        <p:spPr>
          <a:xfrm xmlns:a="http://schemas.openxmlformats.org/drawingml/2006/main">
            <a:off x="960120" y="2926080"/>
            <a:ext cx="10287000" cy="109728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79" name="Google Shape;479;p17">
            <a:extLst xmlns:a="http://schemas.openxmlformats.org/drawingml/2006/main">
              <a:ext uri="{FF2B5EF4-FFF2-40B4-BE49-F238E27FC236}">
                <a16:creationId xmlns:a16="http://schemas.microsoft.com/office/drawing/2014/main" id="{778B5EC2-2265-4E1C-AF7E-A95E334012DB}"/>
              </a:ext>
            </a:extLst>
          </p:cNvPr>
          <p:cNvSpPr>
            <a:spLocks xmlns:a="http://schemas.openxmlformats.org/drawingml/2006/main" noGrp="1"/>
          </p:cNvSpPr>
          <p:nvPr/>
        </p:nvSpPr>
        <p:spPr>
          <a:xfrm xmlns:a="http://schemas.openxmlformats.org/drawingml/2006/main">
            <a:off x="960120" y="2926080"/>
            <a:ext cx="54864" cy="109728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80" name="Google Shape;480;p17">
            <a:extLst xmlns:a="http://schemas.openxmlformats.org/drawingml/2006/main">
              <a:ext uri="{FF2B5EF4-FFF2-40B4-BE49-F238E27FC236}">
                <a16:creationId xmlns:a16="http://schemas.microsoft.com/office/drawing/2014/main" id="{C742116A-CC17-4414-BF1F-D5235226CB52}"/>
              </a:ext>
            </a:extLst>
          </p:cNvPr>
          <p:cNvSpPr>
            <a:spLocks xmlns:a="http://schemas.openxmlformats.org/drawingml/2006/main" noGrp="1"/>
          </p:cNvSpPr>
          <p:nvPr/>
        </p:nvSpPr>
        <p:spPr>
          <a:xfrm xmlns:a="http://schemas.openxmlformats.org/drawingml/2006/main">
            <a:off x="1124712" y="3072384"/>
            <a:ext cx="996696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BUILD IN DECISION POINTS:</a:t>
            </a:r>
          </a:p>
        </p:txBody>
      </p:sp>
      <p:sp>
        <p:nvSpPr>
          <p:cNvPr id="481" name="Google Shape;481;p17">
            <a:extLst xmlns:a="http://schemas.openxmlformats.org/drawingml/2006/main">
              <a:ext uri="{FF2B5EF4-FFF2-40B4-BE49-F238E27FC236}">
                <a16:creationId xmlns:a16="http://schemas.microsoft.com/office/drawing/2014/main" id="{C8D54BD2-AC69-496B-BE6E-F53ED9AD08C6}"/>
              </a:ext>
            </a:extLst>
          </p:cNvPr>
          <p:cNvSpPr>
            <a:spLocks xmlns:a="http://schemas.openxmlformats.org/drawingml/2006/main" noGrp="1"/>
          </p:cNvSpPr>
          <p:nvPr/>
        </p:nvSpPr>
        <p:spPr>
          <a:xfrm xmlns:a="http://schemas.openxmlformats.org/drawingml/2006/main">
            <a:off x="1124712" y="3364992"/>
            <a:ext cx="996696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50"/>
              <a:buFont typeface="Arial"/>
              <a:buNone/>
            </a:pPr>
            <a:r>
              <a:rPr sz="1350">
                <a:solidFill>
                  <a:srgbClr val="F2F2F2"/>
                </a:solidFill>
                <a:latin typeface="Arial"/>
                <a:ea typeface="Arial"/>
                <a:cs typeface="Arial"/>
              </a:rPr>
              <a:t>When will you know the project needs a smaller scope, another pilot test, a mentor consult, or a backup method?</a:t>
            </a:r>
          </a:p>
        </p:txBody>
      </p:sp>
      <p:sp>
        <p:nvSpPr>
          <p:cNvPr id="482" name="Google Shape;482;p17">
            <a:extLst xmlns:a="http://schemas.openxmlformats.org/drawingml/2006/main">
              <a:ext uri="{FF2B5EF4-FFF2-40B4-BE49-F238E27FC236}">
                <a16:creationId xmlns:a16="http://schemas.microsoft.com/office/drawing/2014/main" id="{3384C7AA-2492-40C5-9DB8-8774AB4A9C7E}"/>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83" name="Google Shape;483;p17">
            <a:extLst xmlns:a="http://schemas.openxmlformats.org/drawingml/2006/main">
              <a:ext uri="{FF2B5EF4-FFF2-40B4-BE49-F238E27FC236}">
                <a16:creationId xmlns:a16="http://schemas.microsoft.com/office/drawing/2014/main" id="{A6125156-B88B-4288-9C54-8EDEDB90346D}"/>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84" name="Google Shape;484;p17">
            <a:extLst xmlns:a="http://schemas.openxmlformats.org/drawingml/2006/main">
              <a:ext uri="{FF2B5EF4-FFF2-40B4-BE49-F238E27FC236}">
                <a16:creationId xmlns:a16="http://schemas.microsoft.com/office/drawing/2014/main" id="{B7AEBF97-E863-4275-8C3F-BD8E6127C1F3}"/>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a:solidFill>
                  <a:srgbClr val="F2F2F2"/>
                </a:solidFill>
                <a:latin typeface="Arial"/>
                <a:ea typeface="Arial"/>
                <a:cs typeface="Arial"/>
              </a:rPr>
              <a:t>STUDENT ACTIVITY</a:t>
            </a:r>
          </a:p>
        </p:txBody>
      </p:sp>
      <p:sp>
        <p:nvSpPr>
          <p:cNvPr id="485" name="Google Shape;485;p17">
            <a:extLst xmlns:a="http://schemas.openxmlformats.org/drawingml/2006/main">
              <a:ext uri="{FF2B5EF4-FFF2-40B4-BE49-F238E27FC236}">
                <a16:creationId xmlns:a16="http://schemas.microsoft.com/office/drawing/2014/main" id="{897ABAFA-2E5A-4460-BF1C-32ADA9FF3CEC}"/>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a:solidFill>
                  <a:srgbClr val="F2F2F2"/>
                </a:solidFill>
                <a:latin typeface="Arial"/>
                <a:ea typeface="Arial"/>
                <a:cs typeface="Arial"/>
              </a:rPr>
              <a:t>Timeline pressure test.</a:t>
            </a:r>
          </a:p>
        </p:txBody>
      </p:sp>
      <p:sp>
        <p:nvSpPr>
          <p:cNvPr id="486" name="Google Shape;486;p17">
            <a:extLst xmlns:a="http://schemas.openxmlformats.org/drawingml/2006/main">
              <a:ext uri="{FF2B5EF4-FFF2-40B4-BE49-F238E27FC236}">
                <a16:creationId xmlns:a16="http://schemas.microsoft.com/office/drawing/2014/main" id="{4C8D06F7-190A-4FCC-9552-F18DB649897D}"/>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a:solidFill>
                  <a:srgbClr val="B8B8B8"/>
                </a:solidFill>
                <a:latin typeface="Arial"/>
                <a:ea typeface="Arial"/>
                <a:cs typeface="Arial"/>
              </a:rPr>
              <a:t>Name the one task most likely to fall behind and the first backup move you would make.</a:t>
            </a:r>
          </a:p>
        </p:txBody>
      </p:sp>
    </p:spTree>
    <p:extLst>
      <p:ext uri="{BB962C8B-B14F-4D97-AF65-F5344CB8AC3E}">
        <p14:creationId xmlns:p14="http://schemas.microsoft.com/office/powerpoint/2010/main" val="853278988"/>
      </p:ext>
    </p:extLst>
  </p:cSld>
</p:sld>
</file>

<file path=ppt/slides/slide1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492" name="Google Shape;492;p18">
            <a:extLst xmlns:a="http://schemas.openxmlformats.org/drawingml/2006/main">
              <a:ext uri="{FF2B5EF4-FFF2-40B4-BE49-F238E27FC236}">
                <a16:creationId xmlns:a16="http://schemas.microsoft.com/office/drawing/2014/main" id="{B8C24A68-663A-499F-BDFB-88075FEC8E8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93" name="Google Shape;493;p18">
            <a:extLst xmlns:a="http://schemas.openxmlformats.org/drawingml/2006/main">
              <a:ext uri="{FF2B5EF4-FFF2-40B4-BE49-F238E27FC236}">
                <a16:creationId xmlns:a16="http://schemas.microsoft.com/office/drawing/2014/main" id="{F9ED505A-A16A-4423-9630-943FD9434F86}"/>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94" name="Google Shape;494;p18">
            <a:extLst xmlns:a="http://schemas.openxmlformats.org/drawingml/2006/main">
              <a:ext uri="{FF2B5EF4-FFF2-40B4-BE49-F238E27FC236}">
                <a16:creationId xmlns:a16="http://schemas.microsoft.com/office/drawing/2014/main" id="{760C9BF9-8673-4404-B6D9-3C8411E5EAC0}"/>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95" name="Google Shape;495;p18">
            <a:extLst xmlns:a="http://schemas.openxmlformats.org/drawingml/2006/main">
              <a:ext uri="{FF2B5EF4-FFF2-40B4-BE49-F238E27FC236}">
                <a16:creationId xmlns:a16="http://schemas.microsoft.com/office/drawing/2014/main" id="{6FAA090E-4169-4F64-A211-32A2495D46D1}"/>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APPROVAL</a:t>
            </a:r>
          </a:p>
        </p:txBody>
      </p:sp>
      <p:sp>
        <p:nvSpPr>
          <p:cNvPr id="496" name="Google Shape;496;p18">
            <a:extLst xmlns:a="http://schemas.openxmlformats.org/drawingml/2006/main">
              <a:ext uri="{FF2B5EF4-FFF2-40B4-BE49-F238E27FC236}">
                <a16:creationId xmlns:a16="http://schemas.microsoft.com/office/drawing/2014/main" id="{58CB09BE-E14A-4384-B172-F2B64E78AE71}"/>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497" name="Google Shape;497;p18">
            <a:extLst xmlns:a="http://schemas.openxmlformats.org/drawingml/2006/main">
              <a:ext uri="{FF2B5EF4-FFF2-40B4-BE49-F238E27FC236}">
                <a16:creationId xmlns:a16="http://schemas.microsoft.com/office/drawing/2014/main" id="{28B8A52C-AFB6-4756-9CEB-DAF04C77D0E9}"/>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APPROVAL IS NOT ONE DOOR</a:t>
            </a:r>
          </a:p>
        </p:txBody>
      </p:sp>
      <p:cxnSp>
        <p:nvCxnSpPr>
          <p:cNvPr id="540" name="Google Shape;498;p18"/>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499" name="Google Shape;499;p18">
            <a:extLst xmlns:a="http://schemas.openxmlformats.org/drawingml/2006/main">
              <a:ext uri="{FF2B5EF4-FFF2-40B4-BE49-F238E27FC236}">
                <a16:creationId xmlns:a16="http://schemas.microsoft.com/office/drawing/2014/main" id="{EA59D26F-70EC-4D22-9657-040053DF0C62}"/>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Use one exact Project Approval Tracker status.</a:t>
            </a:r>
          </a:p>
        </p:txBody>
      </p:sp>
      <p:sp>
        <p:nvSpPr>
          <p:cNvPr id="500" name="Google Shape;500;p18">
            <a:extLst xmlns:a="http://schemas.openxmlformats.org/drawingml/2006/main">
              <a:ext uri="{FF2B5EF4-FFF2-40B4-BE49-F238E27FC236}">
                <a16:creationId xmlns:a16="http://schemas.microsoft.com/office/drawing/2014/main" id="{3307899E-406F-421F-B6B3-283C1301F37F}"/>
              </a:ext>
            </a:extLst>
          </p:cNvPr>
          <p:cNvSpPr>
            <a:spLocks xmlns:a="http://schemas.openxmlformats.org/drawingml/2006/main" noGrp="1"/>
          </p:cNvSpPr>
          <p:nvPr/>
        </p:nvSpPr>
        <p:spPr>
          <a:xfrm xmlns:a="http://schemas.openxmlformats.org/drawingml/2006/main">
            <a:off x="868680" y="1325880"/>
            <a:ext cx="5074920" cy="841248"/>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01" name="Google Shape;501;p18">
            <a:extLst xmlns:a="http://schemas.openxmlformats.org/drawingml/2006/main">
              <a:ext uri="{FF2B5EF4-FFF2-40B4-BE49-F238E27FC236}">
                <a16:creationId xmlns:a16="http://schemas.microsoft.com/office/drawing/2014/main" id="{0A407799-F0B2-4941-9723-6B4FF8EE3634}"/>
              </a:ext>
            </a:extLst>
          </p:cNvPr>
          <p:cNvSpPr>
            <a:spLocks xmlns:a="http://schemas.openxmlformats.org/drawingml/2006/main" noGrp="1"/>
          </p:cNvSpPr>
          <p:nvPr/>
        </p:nvSpPr>
        <p:spPr>
          <a:xfrm xmlns:a="http://schemas.openxmlformats.org/drawingml/2006/main">
            <a:off x="868680" y="1325880"/>
            <a:ext cx="54864" cy="841248"/>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02" name="Google Shape;502;p18">
            <a:extLst xmlns:a="http://schemas.openxmlformats.org/drawingml/2006/main">
              <a:ext uri="{FF2B5EF4-FFF2-40B4-BE49-F238E27FC236}">
                <a16:creationId xmlns:a16="http://schemas.microsoft.com/office/drawing/2014/main" id="{DECDA40F-B397-4DD6-8CD6-76FAD747AD4E}"/>
              </a:ext>
            </a:extLst>
          </p:cNvPr>
          <p:cNvSpPr>
            <a:spLocks xmlns:a="http://schemas.openxmlformats.org/drawingml/2006/main" noGrp="1"/>
          </p:cNvSpPr>
          <p:nvPr/>
        </p:nvSpPr>
        <p:spPr>
          <a:xfrm xmlns:a="http://schemas.openxmlformats.org/drawingml/2006/main">
            <a:off x="1033272" y="14721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APPROVED FOR PILOT TESTING</a:t>
            </a:r>
          </a:p>
        </p:txBody>
      </p:sp>
      <p:sp>
        <p:nvSpPr>
          <p:cNvPr id="503" name="Google Shape;503;p18">
            <a:extLst xmlns:a="http://schemas.openxmlformats.org/drawingml/2006/main">
              <a:ext uri="{FF2B5EF4-FFF2-40B4-BE49-F238E27FC236}">
                <a16:creationId xmlns:a16="http://schemas.microsoft.com/office/drawing/2014/main" id="{CB4DB19C-CA52-41EA-B129-CFA340237D4F}"/>
              </a:ext>
            </a:extLst>
          </p:cNvPr>
          <p:cNvSpPr>
            <a:spLocks xmlns:a="http://schemas.openxmlformats.org/drawingml/2006/main" noGrp="1"/>
          </p:cNvSpPr>
          <p:nvPr/>
        </p:nvSpPr>
        <p:spPr>
          <a:xfrm xmlns:a="http://schemas.openxmlformats.org/drawingml/2006/main">
            <a:off x="1033272" y="1764792"/>
            <a:ext cx="475488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a:solidFill>
                  <a:srgbClr val="F2F2F2"/>
                </a:solidFill>
                <a:latin typeface="Arial"/>
                <a:ea typeface="Arial"/>
                <a:cs typeface="Arial"/>
              </a:rPr>
              <a:t>Only the approved small-scale pilot may begin.</a:t>
            </a:r>
          </a:p>
        </p:txBody>
      </p:sp>
      <p:sp>
        <p:nvSpPr>
          <p:cNvPr id="504" name="Google Shape;504;p18">
            <a:extLst xmlns:a="http://schemas.openxmlformats.org/drawingml/2006/main">
              <a:ext uri="{FF2B5EF4-FFF2-40B4-BE49-F238E27FC236}">
                <a16:creationId xmlns:a16="http://schemas.microsoft.com/office/drawing/2014/main" id="{7463D4FC-F64C-4B8E-B607-6CEA4367574F}"/>
              </a:ext>
            </a:extLst>
          </p:cNvPr>
          <p:cNvSpPr>
            <a:spLocks xmlns:a="http://schemas.openxmlformats.org/drawingml/2006/main" noGrp="1"/>
          </p:cNvSpPr>
          <p:nvPr/>
        </p:nvSpPr>
        <p:spPr>
          <a:xfrm xmlns:a="http://schemas.openxmlformats.org/drawingml/2006/main">
            <a:off x="6309360" y="1325880"/>
            <a:ext cx="5074920" cy="841248"/>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05" name="Google Shape;505;p18">
            <a:extLst xmlns:a="http://schemas.openxmlformats.org/drawingml/2006/main">
              <a:ext uri="{FF2B5EF4-FFF2-40B4-BE49-F238E27FC236}">
                <a16:creationId xmlns:a16="http://schemas.microsoft.com/office/drawing/2014/main" id="{9E4EC406-71E3-4DDA-A92F-C23942CDF821}"/>
              </a:ext>
            </a:extLst>
          </p:cNvPr>
          <p:cNvSpPr>
            <a:spLocks xmlns:a="http://schemas.openxmlformats.org/drawingml/2006/main" noGrp="1"/>
          </p:cNvSpPr>
          <p:nvPr/>
        </p:nvSpPr>
        <p:spPr>
          <a:xfrm xmlns:a="http://schemas.openxmlformats.org/drawingml/2006/main">
            <a:off x="6309360" y="1325880"/>
            <a:ext cx="54864" cy="841248"/>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06" name="Google Shape;506;p18">
            <a:extLst xmlns:a="http://schemas.openxmlformats.org/drawingml/2006/main">
              <a:ext uri="{FF2B5EF4-FFF2-40B4-BE49-F238E27FC236}">
                <a16:creationId xmlns:a16="http://schemas.microsoft.com/office/drawing/2014/main" id="{A634B132-2CA7-418A-A1A7-5489D6C133B2}"/>
              </a:ext>
            </a:extLst>
          </p:cNvPr>
          <p:cNvSpPr>
            <a:spLocks xmlns:a="http://schemas.openxmlformats.org/drawingml/2006/main" noGrp="1"/>
          </p:cNvSpPr>
          <p:nvPr/>
        </p:nvSpPr>
        <p:spPr>
          <a:xfrm xmlns:a="http://schemas.openxmlformats.org/drawingml/2006/main">
            <a:off x="6473952" y="14721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APPROVED WITH MODIFICATIONS</a:t>
            </a:r>
          </a:p>
        </p:txBody>
      </p:sp>
      <p:sp>
        <p:nvSpPr>
          <p:cNvPr id="507" name="Google Shape;507;p18">
            <a:extLst xmlns:a="http://schemas.openxmlformats.org/drawingml/2006/main">
              <a:ext uri="{FF2B5EF4-FFF2-40B4-BE49-F238E27FC236}">
                <a16:creationId xmlns:a16="http://schemas.microsoft.com/office/drawing/2014/main" id="{29E7863F-2A42-4763-A067-2DE9077D16C3}"/>
              </a:ext>
            </a:extLst>
          </p:cNvPr>
          <p:cNvSpPr>
            <a:spLocks xmlns:a="http://schemas.openxmlformats.org/drawingml/2006/main" noGrp="1"/>
          </p:cNvSpPr>
          <p:nvPr/>
        </p:nvSpPr>
        <p:spPr>
          <a:xfrm xmlns:a="http://schemas.openxmlformats.org/drawingml/2006/main">
            <a:off x="6473952" y="1764792"/>
            <a:ext cx="475488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a:solidFill>
                  <a:srgbClr val="F2F2F2"/>
                </a:solidFill>
                <a:latin typeface="Arial"/>
                <a:ea typeface="Arial"/>
                <a:cs typeface="Arial"/>
              </a:rPr>
              <a:t>Complete and verify named changes; no testing yet.</a:t>
            </a:r>
          </a:p>
        </p:txBody>
      </p:sp>
      <p:sp>
        <p:nvSpPr>
          <p:cNvPr id="508" name="Google Shape;508;p18">
            <a:extLst xmlns:a="http://schemas.openxmlformats.org/drawingml/2006/main">
              <a:ext uri="{FF2B5EF4-FFF2-40B4-BE49-F238E27FC236}">
                <a16:creationId xmlns:a16="http://schemas.microsoft.com/office/drawing/2014/main" id="{5BF93387-83CA-45E6-9246-07B4DB3B52F0}"/>
              </a:ext>
            </a:extLst>
          </p:cNvPr>
          <p:cNvSpPr>
            <a:spLocks xmlns:a="http://schemas.openxmlformats.org/drawingml/2006/main" noGrp="1"/>
          </p:cNvSpPr>
          <p:nvPr/>
        </p:nvSpPr>
        <p:spPr>
          <a:xfrm xmlns:a="http://schemas.openxmlformats.org/drawingml/2006/main">
            <a:off x="868680" y="2468880"/>
            <a:ext cx="5074920" cy="841248"/>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09" name="Google Shape;509;p18">
            <a:extLst xmlns:a="http://schemas.openxmlformats.org/drawingml/2006/main">
              <a:ext uri="{FF2B5EF4-FFF2-40B4-BE49-F238E27FC236}">
                <a16:creationId xmlns:a16="http://schemas.microsoft.com/office/drawing/2014/main" id="{1A34E843-5B98-4694-8950-3651A7C85E80}"/>
              </a:ext>
            </a:extLst>
          </p:cNvPr>
          <p:cNvSpPr>
            <a:spLocks xmlns:a="http://schemas.openxmlformats.org/drawingml/2006/main" noGrp="1"/>
          </p:cNvSpPr>
          <p:nvPr/>
        </p:nvSpPr>
        <p:spPr>
          <a:xfrm xmlns:a="http://schemas.openxmlformats.org/drawingml/2006/main">
            <a:off x="868680" y="2468880"/>
            <a:ext cx="54864" cy="841248"/>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0" name="Google Shape;510;p18">
            <a:extLst xmlns:a="http://schemas.openxmlformats.org/drawingml/2006/main">
              <a:ext uri="{FF2B5EF4-FFF2-40B4-BE49-F238E27FC236}">
                <a16:creationId xmlns:a16="http://schemas.microsoft.com/office/drawing/2014/main" id="{311F9155-3317-4536-BE45-CECB59804B94}"/>
              </a:ext>
            </a:extLst>
          </p:cNvPr>
          <p:cNvSpPr>
            <a:spLocks xmlns:a="http://schemas.openxmlformats.org/drawingml/2006/main" noGrp="1"/>
          </p:cNvSpPr>
          <p:nvPr/>
        </p:nvSpPr>
        <p:spPr>
          <a:xfrm xmlns:a="http://schemas.openxmlformats.org/drawingml/2006/main">
            <a:off x="1033272" y="26151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NEEDS REVISION</a:t>
            </a:r>
          </a:p>
        </p:txBody>
      </p:sp>
      <p:sp>
        <p:nvSpPr>
          <p:cNvPr id="511" name="Google Shape;511;p18">
            <a:extLst xmlns:a="http://schemas.openxmlformats.org/drawingml/2006/main">
              <a:ext uri="{FF2B5EF4-FFF2-40B4-BE49-F238E27FC236}">
                <a16:creationId xmlns:a16="http://schemas.microsoft.com/office/drawing/2014/main" id="{D1E1FC91-857E-409D-AD34-5221DD347A05}"/>
              </a:ext>
            </a:extLst>
          </p:cNvPr>
          <p:cNvSpPr>
            <a:spLocks xmlns:a="http://schemas.openxmlformats.org/drawingml/2006/main" noGrp="1"/>
          </p:cNvSpPr>
          <p:nvPr/>
        </p:nvSpPr>
        <p:spPr>
          <a:xfrm xmlns:a="http://schemas.openxmlformats.org/drawingml/2006/main">
            <a:off x="1033272" y="2907792"/>
            <a:ext cx="475488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a:solidFill>
                  <a:srgbClr val="F2F2F2"/>
                </a:solidFill>
                <a:latin typeface="Arial"/>
                <a:ea typeface="Arial"/>
                <a:cs typeface="Arial"/>
              </a:rPr>
              <a:t>Question, method, data plan, safety, or feasibility is not ready.</a:t>
            </a:r>
          </a:p>
        </p:txBody>
      </p:sp>
      <p:sp>
        <p:nvSpPr>
          <p:cNvPr id="512" name="Google Shape;512;p18">
            <a:extLst xmlns:a="http://schemas.openxmlformats.org/drawingml/2006/main">
              <a:ext uri="{FF2B5EF4-FFF2-40B4-BE49-F238E27FC236}">
                <a16:creationId xmlns:a16="http://schemas.microsoft.com/office/drawing/2014/main" id="{5B89B74B-74CC-488C-9B62-D30BA12A6B52}"/>
              </a:ext>
            </a:extLst>
          </p:cNvPr>
          <p:cNvSpPr>
            <a:spLocks xmlns:a="http://schemas.openxmlformats.org/drawingml/2006/main" noGrp="1"/>
          </p:cNvSpPr>
          <p:nvPr/>
        </p:nvSpPr>
        <p:spPr>
          <a:xfrm xmlns:a="http://schemas.openxmlformats.org/drawingml/2006/main">
            <a:off x="6309360" y="2468880"/>
            <a:ext cx="5074920" cy="841248"/>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3" name="Google Shape;513;p18">
            <a:extLst xmlns:a="http://schemas.openxmlformats.org/drawingml/2006/main">
              <a:ext uri="{FF2B5EF4-FFF2-40B4-BE49-F238E27FC236}">
                <a16:creationId xmlns:a16="http://schemas.microsoft.com/office/drawing/2014/main" id="{13C08E2F-1F62-423F-80B3-DA96B2F40D92}"/>
              </a:ext>
            </a:extLst>
          </p:cNvPr>
          <p:cNvSpPr>
            <a:spLocks xmlns:a="http://schemas.openxmlformats.org/drawingml/2006/main" noGrp="1"/>
          </p:cNvSpPr>
          <p:nvPr/>
        </p:nvSpPr>
        <p:spPr>
          <a:xfrm xmlns:a="http://schemas.openxmlformats.org/drawingml/2006/main">
            <a:off x="6309360" y="2468880"/>
            <a:ext cx="54864" cy="841248"/>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4" name="Google Shape;514;p18">
            <a:extLst xmlns:a="http://schemas.openxmlformats.org/drawingml/2006/main">
              <a:ext uri="{FF2B5EF4-FFF2-40B4-BE49-F238E27FC236}">
                <a16:creationId xmlns:a16="http://schemas.microsoft.com/office/drawing/2014/main" id="{050BA877-E69A-4387-9B77-BACCBF281446}"/>
              </a:ext>
            </a:extLst>
          </p:cNvPr>
          <p:cNvSpPr>
            <a:spLocks xmlns:a="http://schemas.openxmlformats.org/drawingml/2006/main" noGrp="1"/>
          </p:cNvSpPr>
          <p:nvPr/>
        </p:nvSpPr>
        <p:spPr>
          <a:xfrm xmlns:a="http://schemas.openxmlformats.org/drawingml/2006/main">
            <a:off x="6473952" y="26151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NEEDS SAFETY / ETHICS / MENTOR REVIEW</a:t>
            </a:r>
          </a:p>
        </p:txBody>
      </p:sp>
      <p:sp>
        <p:nvSpPr>
          <p:cNvPr id="515" name="Google Shape;515;p18">
            <a:extLst xmlns:a="http://schemas.openxmlformats.org/drawingml/2006/main">
              <a:ext uri="{FF2B5EF4-FFF2-40B4-BE49-F238E27FC236}">
                <a16:creationId xmlns:a16="http://schemas.microsoft.com/office/drawing/2014/main" id="{3E29BE1C-046E-427B-AC50-5BE878D14AD1}"/>
              </a:ext>
            </a:extLst>
          </p:cNvPr>
          <p:cNvSpPr>
            <a:spLocks xmlns:a="http://schemas.openxmlformats.org/drawingml/2006/main" noGrp="1"/>
          </p:cNvSpPr>
          <p:nvPr/>
        </p:nvSpPr>
        <p:spPr>
          <a:xfrm xmlns:a="http://schemas.openxmlformats.org/drawingml/2006/main">
            <a:off x="6473952" y="2907792"/>
            <a:ext cx="475488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a:solidFill>
                  <a:srgbClr val="F2F2F2"/>
                </a:solidFill>
                <a:latin typeface="Arial"/>
                <a:ea typeface="Arial"/>
                <a:cs typeface="Arial"/>
              </a:rPr>
              <a:t>Select the exact review status in the tracker; no testing.</a:t>
            </a:r>
          </a:p>
        </p:txBody>
      </p:sp>
      <p:sp>
        <p:nvSpPr>
          <p:cNvPr id="516" name="Google Shape;516;p18">
            <a:extLst xmlns:a="http://schemas.openxmlformats.org/drawingml/2006/main">
              <a:ext uri="{FF2B5EF4-FFF2-40B4-BE49-F238E27FC236}">
                <a16:creationId xmlns:a16="http://schemas.microsoft.com/office/drawing/2014/main" id="{ECFBC922-2F42-4D2B-B1DB-88DD97BAC29D}"/>
              </a:ext>
            </a:extLst>
          </p:cNvPr>
          <p:cNvSpPr>
            <a:spLocks xmlns:a="http://schemas.openxmlformats.org/drawingml/2006/main" noGrp="1"/>
          </p:cNvSpPr>
          <p:nvPr/>
        </p:nvSpPr>
        <p:spPr>
          <a:xfrm xmlns:a="http://schemas.openxmlformats.org/drawingml/2006/main">
            <a:off x="868680" y="3611880"/>
            <a:ext cx="5074920" cy="841248"/>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7" name="Google Shape;517;p18">
            <a:extLst xmlns:a="http://schemas.openxmlformats.org/drawingml/2006/main">
              <a:ext uri="{FF2B5EF4-FFF2-40B4-BE49-F238E27FC236}">
                <a16:creationId xmlns:a16="http://schemas.microsoft.com/office/drawing/2014/main" id="{5E93AE3C-B20F-4A32-944F-5E563F272C48}"/>
              </a:ext>
            </a:extLst>
          </p:cNvPr>
          <p:cNvSpPr>
            <a:spLocks xmlns:a="http://schemas.openxmlformats.org/drawingml/2006/main" noGrp="1"/>
          </p:cNvSpPr>
          <p:nvPr/>
        </p:nvSpPr>
        <p:spPr>
          <a:xfrm xmlns:a="http://schemas.openxmlformats.org/drawingml/2006/main">
            <a:off x="868680" y="3611880"/>
            <a:ext cx="54864" cy="841248"/>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18" name="Google Shape;518;p18">
            <a:extLst xmlns:a="http://schemas.openxmlformats.org/drawingml/2006/main">
              <a:ext uri="{FF2B5EF4-FFF2-40B4-BE49-F238E27FC236}">
                <a16:creationId xmlns:a16="http://schemas.microsoft.com/office/drawing/2014/main" id="{89E21302-80E4-4AE7-B765-BD570822196E}"/>
              </a:ext>
            </a:extLst>
          </p:cNvPr>
          <p:cNvSpPr>
            <a:spLocks xmlns:a="http://schemas.openxmlformats.org/drawingml/2006/main" noGrp="1"/>
          </p:cNvSpPr>
          <p:nvPr/>
        </p:nvSpPr>
        <p:spPr>
          <a:xfrm xmlns:a="http://schemas.openxmlformats.org/drawingml/2006/main">
            <a:off x="1033272" y="3758184"/>
            <a:ext cx="475488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NOT APPROVED IN CURRENT FORM</a:t>
            </a:r>
          </a:p>
        </p:txBody>
      </p:sp>
      <p:sp>
        <p:nvSpPr>
          <p:cNvPr id="519" name="Google Shape;519;p18">
            <a:extLst xmlns:a="http://schemas.openxmlformats.org/drawingml/2006/main">
              <a:ext uri="{FF2B5EF4-FFF2-40B4-BE49-F238E27FC236}">
                <a16:creationId xmlns:a16="http://schemas.microsoft.com/office/drawing/2014/main" id="{2BDE70AB-8B08-4911-8863-5EAC72632E29}"/>
              </a:ext>
            </a:extLst>
          </p:cNvPr>
          <p:cNvSpPr>
            <a:spLocks xmlns:a="http://schemas.openxmlformats.org/drawingml/2006/main" noGrp="1"/>
          </p:cNvSpPr>
          <p:nvPr/>
        </p:nvSpPr>
        <p:spPr>
          <a:xfrm xmlns:a="http://schemas.openxmlformats.org/drawingml/2006/main">
            <a:off x="1033272" y="4050792"/>
            <a:ext cx="475488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50"/>
              <a:buFont typeface="Arial"/>
              <a:buNone/>
            </a:pPr>
            <a:r>
              <a:rPr sz="1150">
                <a:solidFill>
                  <a:srgbClr val="F2F2F2"/>
                </a:solidFill>
                <a:latin typeface="Arial"/>
                <a:ea typeface="Arial"/>
                <a:cs typeface="Arial"/>
              </a:rPr>
              <a:t>Current version cannot proceed; redirect or redesign.</a:t>
            </a:r>
          </a:p>
        </p:txBody>
      </p:sp>
    </p:spTree>
    <p:extLst>
      <p:ext uri="{BB962C8B-B14F-4D97-AF65-F5344CB8AC3E}">
        <p14:creationId xmlns:p14="http://schemas.microsoft.com/office/powerpoint/2010/main" val="994953377"/>
      </p:ext>
    </p:extLst>
  </p:cSld>
</p:sld>
</file>

<file path=ppt/slides/slide1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525" name="Google Shape;525;p19">
            <a:extLst xmlns:a="http://schemas.openxmlformats.org/drawingml/2006/main">
              <a:ext uri="{FF2B5EF4-FFF2-40B4-BE49-F238E27FC236}">
                <a16:creationId xmlns:a16="http://schemas.microsoft.com/office/drawing/2014/main" id="{75E00656-3C52-4F65-AC4A-DEE8DCF7CCF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26" name="Google Shape;526;p19">
            <a:extLst xmlns:a="http://schemas.openxmlformats.org/drawingml/2006/main">
              <a:ext uri="{FF2B5EF4-FFF2-40B4-BE49-F238E27FC236}">
                <a16:creationId xmlns:a16="http://schemas.microsoft.com/office/drawing/2014/main" id="{850B1AC2-25D0-4F61-BF91-F7AFA9F07201}"/>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27" name="Google Shape;527;p19">
            <a:extLst xmlns:a="http://schemas.openxmlformats.org/drawingml/2006/main">
              <a:ext uri="{FF2B5EF4-FFF2-40B4-BE49-F238E27FC236}">
                <a16:creationId xmlns:a16="http://schemas.microsoft.com/office/drawing/2014/main" id="{0C7BDF57-B698-4A53-928F-1ECDBD6B2329}"/>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28" name="Google Shape;528;p19">
            <a:extLst xmlns:a="http://schemas.openxmlformats.org/drawingml/2006/main">
              <a:ext uri="{FF2B5EF4-FFF2-40B4-BE49-F238E27FC236}">
                <a16:creationId xmlns:a16="http://schemas.microsoft.com/office/drawing/2014/main" id="{E8AA1ECC-70CF-42E3-BED4-361292CE0774}"/>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QUALITY CHECK</a:t>
            </a:r>
          </a:p>
        </p:txBody>
      </p:sp>
      <p:sp>
        <p:nvSpPr>
          <p:cNvPr id="529" name="Google Shape;529;p19">
            <a:extLst xmlns:a="http://schemas.openxmlformats.org/drawingml/2006/main">
              <a:ext uri="{FF2B5EF4-FFF2-40B4-BE49-F238E27FC236}">
                <a16:creationId xmlns:a16="http://schemas.microsoft.com/office/drawing/2014/main" id="{ECD48EB5-30DA-4C44-98BF-AFF622AFC724}"/>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530" name="Google Shape;530;p19">
            <a:extLst xmlns:a="http://schemas.openxmlformats.org/drawingml/2006/main">
              <a:ext uri="{FF2B5EF4-FFF2-40B4-BE49-F238E27FC236}">
                <a16:creationId xmlns:a16="http://schemas.microsoft.com/office/drawing/2014/main" id="{3E400B06-B25C-47E9-8408-7FA71DF09E2F}"/>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WHAT STRONG PLANS HAVE IN COMMON</a:t>
            </a:r>
          </a:p>
        </p:txBody>
      </p:sp>
      <p:cxnSp>
        <p:nvCxnSpPr>
          <p:cNvPr id="577" name="Google Shape;531;p19"/>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532" name="Google Shape;532;p19">
            <a:extLst xmlns:a="http://schemas.openxmlformats.org/drawingml/2006/main">
              <a:ext uri="{FF2B5EF4-FFF2-40B4-BE49-F238E27FC236}">
                <a16:creationId xmlns:a16="http://schemas.microsoft.com/office/drawing/2014/main" id="{5B806C79-FCCC-4779-86D4-0D3619433EE0}"/>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A plan is strong when the pieces reinforce each other.</a:t>
            </a:r>
          </a:p>
        </p:txBody>
      </p:sp>
      <p:sp>
        <p:nvSpPr>
          <p:cNvPr id="533" name="Google Shape;533;p19">
            <a:extLst xmlns:a="http://schemas.openxmlformats.org/drawingml/2006/main">
              <a:ext uri="{FF2B5EF4-FFF2-40B4-BE49-F238E27FC236}">
                <a16:creationId xmlns:a16="http://schemas.microsoft.com/office/drawing/2014/main" id="{1366E2AC-48A4-4D7B-B163-DFE193353D62}"/>
              </a:ext>
            </a:extLst>
          </p:cNvPr>
          <p:cNvSpPr>
            <a:spLocks xmlns:a="http://schemas.openxmlformats.org/drawingml/2006/main" noGrp="1"/>
          </p:cNvSpPr>
          <p:nvPr/>
        </p:nvSpPr>
        <p:spPr>
          <a:xfrm xmlns:a="http://schemas.openxmlformats.org/drawingml/2006/main">
            <a:off x="685800" y="1508760"/>
            <a:ext cx="1965960" cy="14173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34" name="Google Shape;534;p19">
            <a:extLst xmlns:a="http://schemas.openxmlformats.org/drawingml/2006/main">
              <a:ext uri="{FF2B5EF4-FFF2-40B4-BE49-F238E27FC236}">
                <a16:creationId xmlns:a16="http://schemas.microsoft.com/office/drawing/2014/main" id="{72E27725-2265-4E51-B5FA-13CDA0104ED9}"/>
              </a:ext>
            </a:extLst>
          </p:cNvPr>
          <p:cNvSpPr>
            <a:spLocks xmlns:a="http://schemas.openxmlformats.org/drawingml/2006/main" noGrp="1"/>
          </p:cNvSpPr>
          <p:nvPr/>
        </p:nvSpPr>
        <p:spPr>
          <a:xfrm xmlns:a="http://schemas.openxmlformats.org/drawingml/2006/main">
            <a:off x="685800" y="1508760"/>
            <a:ext cx="54864" cy="14173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35" name="Google Shape;535;p19">
            <a:extLst xmlns:a="http://schemas.openxmlformats.org/drawingml/2006/main">
              <a:ext uri="{FF2B5EF4-FFF2-40B4-BE49-F238E27FC236}">
                <a16:creationId xmlns:a16="http://schemas.microsoft.com/office/drawing/2014/main" id="{7C7D2AE8-EE39-41D5-8779-C04DAA6E4993}"/>
              </a:ext>
            </a:extLst>
          </p:cNvPr>
          <p:cNvSpPr>
            <a:spLocks xmlns:a="http://schemas.openxmlformats.org/drawingml/2006/main" noGrp="1"/>
          </p:cNvSpPr>
          <p:nvPr/>
        </p:nvSpPr>
        <p:spPr>
          <a:xfrm xmlns:a="http://schemas.openxmlformats.org/drawingml/2006/main">
            <a:off x="850392" y="1655064"/>
            <a:ext cx="16459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QUESTION</a:t>
            </a:r>
          </a:p>
        </p:txBody>
      </p:sp>
      <p:sp>
        <p:nvSpPr>
          <p:cNvPr id="536" name="Google Shape;536;p19">
            <a:extLst xmlns:a="http://schemas.openxmlformats.org/drawingml/2006/main">
              <a:ext uri="{FF2B5EF4-FFF2-40B4-BE49-F238E27FC236}">
                <a16:creationId xmlns:a16="http://schemas.microsoft.com/office/drawing/2014/main" id="{F3E585FC-FE35-40DE-9053-E8A40E6CE49A}"/>
              </a:ext>
            </a:extLst>
          </p:cNvPr>
          <p:cNvSpPr>
            <a:spLocks xmlns:a="http://schemas.openxmlformats.org/drawingml/2006/main" noGrp="1"/>
          </p:cNvSpPr>
          <p:nvPr/>
        </p:nvSpPr>
        <p:spPr>
          <a:xfrm xmlns:a="http://schemas.openxmlformats.org/drawingml/2006/main">
            <a:off x="850392" y="1947672"/>
            <a:ext cx="164592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080"/>
              <a:buFont typeface="Arial"/>
              <a:buNone/>
            </a:pPr>
            <a:r>
              <a:rPr sz="1080">
                <a:solidFill>
                  <a:srgbClr val="F2F2F2"/>
                </a:solidFill>
                <a:latin typeface="Arial"/>
                <a:ea typeface="Arial"/>
                <a:cs typeface="Arial"/>
              </a:rPr>
              <a:t>Clear enough to guide method</a:t>
            </a:r>
          </a:p>
        </p:txBody>
      </p:sp>
      <p:sp>
        <p:nvSpPr>
          <p:cNvPr id="537" name="Google Shape;537;p19">
            <a:extLst xmlns:a="http://schemas.openxmlformats.org/drawingml/2006/main">
              <a:ext uri="{FF2B5EF4-FFF2-40B4-BE49-F238E27FC236}">
                <a16:creationId xmlns:a16="http://schemas.microsoft.com/office/drawing/2014/main" id="{89CBB7BC-E8E5-4358-9B33-E128BD204284}"/>
              </a:ext>
            </a:extLst>
          </p:cNvPr>
          <p:cNvSpPr>
            <a:spLocks xmlns:a="http://schemas.openxmlformats.org/drawingml/2006/main" noGrp="1"/>
          </p:cNvSpPr>
          <p:nvPr/>
        </p:nvSpPr>
        <p:spPr>
          <a:xfrm xmlns:a="http://schemas.openxmlformats.org/drawingml/2006/main">
            <a:off x="2953512" y="1508760"/>
            <a:ext cx="1965960" cy="14173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38" name="Google Shape;538;p19">
            <a:extLst xmlns:a="http://schemas.openxmlformats.org/drawingml/2006/main">
              <a:ext uri="{FF2B5EF4-FFF2-40B4-BE49-F238E27FC236}">
                <a16:creationId xmlns:a16="http://schemas.microsoft.com/office/drawing/2014/main" id="{46F05136-56F4-4655-A782-1EB2CB1A65A0}"/>
              </a:ext>
            </a:extLst>
          </p:cNvPr>
          <p:cNvSpPr>
            <a:spLocks xmlns:a="http://schemas.openxmlformats.org/drawingml/2006/main" noGrp="1"/>
          </p:cNvSpPr>
          <p:nvPr/>
        </p:nvSpPr>
        <p:spPr>
          <a:xfrm xmlns:a="http://schemas.openxmlformats.org/drawingml/2006/main">
            <a:off x="2953512" y="1508760"/>
            <a:ext cx="54864" cy="14173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39" name="Google Shape;539;p19">
            <a:extLst xmlns:a="http://schemas.openxmlformats.org/drawingml/2006/main">
              <a:ext uri="{FF2B5EF4-FFF2-40B4-BE49-F238E27FC236}">
                <a16:creationId xmlns:a16="http://schemas.microsoft.com/office/drawing/2014/main" id="{847DDDE0-2404-4833-8773-F1C737933E18}"/>
              </a:ext>
            </a:extLst>
          </p:cNvPr>
          <p:cNvSpPr>
            <a:spLocks xmlns:a="http://schemas.openxmlformats.org/drawingml/2006/main" noGrp="1"/>
          </p:cNvSpPr>
          <p:nvPr/>
        </p:nvSpPr>
        <p:spPr>
          <a:xfrm xmlns:a="http://schemas.openxmlformats.org/drawingml/2006/main">
            <a:off x="3118104" y="1655064"/>
            <a:ext cx="16459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METHOD</a:t>
            </a:r>
          </a:p>
        </p:txBody>
      </p:sp>
      <p:sp>
        <p:nvSpPr>
          <p:cNvPr id="540" name="Google Shape;540;p19">
            <a:extLst xmlns:a="http://schemas.openxmlformats.org/drawingml/2006/main">
              <a:ext uri="{FF2B5EF4-FFF2-40B4-BE49-F238E27FC236}">
                <a16:creationId xmlns:a16="http://schemas.microsoft.com/office/drawing/2014/main" id="{B033F4FD-477A-4AB0-B926-DB5BD7AF7598}"/>
              </a:ext>
            </a:extLst>
          </p:cNvPr>
          <p:cNvSpPr>
            <a:spLocks xmlns:a="http://schemas.openxmlformats.org/drawingml/2006/main" noGrp="1"/>
          </p:cNvSpPr>
          <p:nvPr/>
        </p:nvSpPr>
        <p:spPr>
          <a:xfrm xmlns:a="http://schemas.openxmlformats.org/drawingml/2006/main">
            <a:off x="3118104" y="1947672"/>
            <a:ext cx="164592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080"/>
              <a:buFont typeface="Arial"/>
              <a:buNone/>
            </a:pPr>
            <a:r>
              <a:rPr sz="1080">
                <a:solidFill>
                  <a:srgbClr val="F2F2F2"/>
                </a:solidFill>
                <a:latin typeface="Arial"/>
                <a:ea typeface="Arial"/>
                <a:cs typeface="Arial"/>
              </a:rPr>
              <a:t>Specific enough to review</a:t>
            </a:r>
          </a:p>
        </p:txBody>
      </p:sp>
      <p:sp>
        <p:nvSpPr>
          <p:cNvPr id="541" name="Google Shape;541;p19">
            <a:extLst xmlns:a="http://schemas.openxmlformats.org/drawingml/2006/main">
              <a:ext uri="{FF2B5EF4-FFF2-40B4-BE49-F238E27FC236}">
                <a16:creationId xmlns:a16="http://schemas.microsoft.com/office/drawing/2014/main" id="{22614813-DDD1-457F-BCF6-F2D02889F252}"/>
              </a:ext>
            </a:extLst>
          </p:cNvPr>
          <p:cNvSpPr>
            <a:spLocks xmlns:a="http://schemas.openxmlformats.org/drawingml/2006/main" noGrp="1"/>
          </p:cNvSpPr>
          <p:nvPr/>
        </p:nvSpPr>
        <p:spPr>
          <a:xfrm xmlns:a="http://schemas.openxmlformats.org/drawingml/2006/main">
            <a:off x="5221224" y="1508760"/>
            <a:ext cx="1965960" cy="14173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42" name="Google Shape;542;p19">
            <a:extLst xmlns:a="http://schemas.openxmlformats.org/drawingml/2006/main">
              <a:ext uri="{FF2B5EF4-FFF2-40B4-BE49-F238E27FC236}">
                <a16:creationId xmlns:a16="http://schemas.microsoft.com/office/drawing/2014/main" id="{82676999-7C1C-4A24-9C05-85D283E4B8A7}"/>
              </a:ext>
            </a:extLst>
          </p:cNvPr>
          <p:cNvSpPr>
            <a:spLocks xmlns:a="http://schemas.openxmlformats.org/drawingml/2006/main" noGrp="1"/>
          </p:cNvSpPr>
          <p:nvPr/>
        </p:nvSpPr>
        <p:spPr>
          <a:xfrm xmlns:a="http://schemas.openxmlformats.org/drawingml/2006/main">
            <a:off x="5221224" y="1508760"/>
            <a:ext cx="54864" cy="14173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43" name="Google Shape;543;p19">
            <a:extLst xmlns:a="http://schemas.openxmlformats.org/drawingml/2006/main">
              <a:ext uri="{FF2B5EF4-FFF2-40B4-BE49-F238E27FC236}">
                <a16:creationId xmlns:a16="http://schemas.microsoft.com/office/drawing/2014/main" id="{0D8F83F7-C1DE-4DC2-AA79-A7E3A3F44296}"/>
              </a:ext>
            </a:extLst>
          </p:cNvPr>
          <p:cNvSpPr>
            <a:spLocks xmlns:a="http://schemas.openxmlformats.org/drawingml/2006/main" noGrp="1"/>
          </p:cNvSpPr>
          <p:nvPr/>
        </p:nvSpPr>
        <p:spPr>
          <a:xfrm xmlns:a="http://schemas.openxmlformats.org/drawingml/2006/main">
            <a:off x="5385816" y="1655064"/>
            <a:ext cx="16459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DATA</a:t>
            </a:r>
          </a:p>
        </p:txBody>
      </p:sp>
      <p:sp>
        <p:nvSpPr>
          <p:cNvPr id="544" name="Google Shape;544;p19">
            <a:extLst xmlns:a="http://schemas.openxmlformats.org/drawingml/2006/main">
              <a:ext uri="{FF2B5EF4-FFF2-40B4-BE49-F238E27FC236}">
                <a16:creationId xmlns:a16="http://schemas.microsoft.com/office/drawing/2014/main" id="{15FA7DEA-114D-4591-8E44-4030587402E7}"/>
              </a:ext>
            </a:extLst>
          </p:cNvPr>
          <p:cNvSpPr>
            <a:spLocks xmlns:a="http://schemas.openxmlformats.org/drawingml/2006/main" noGrp="1"/>
          </p:cNvSpPr>
          <p:nvPr/>
        </p:nvSpPr>
        <p:spPr>
          <a:xfrm xmlns:a="http://schemas.openxmlformats.org/drawingml/2006/main">
            <a:off x="5385816" y="1947672"/>
            <a:ext cx="164592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080"/>
              <a:buFont typeface="Arial"/>
              <a:buNone/>
            </a:pPr>
            <a:r>
              <a:rPr sz="1080">
                <a:solidFill>
                  <a:srgbClr val="F2F2F2"/>
                </a:solidFill>
                <a:latin typeface="Arial"/>
                <a:ea typeface="Arial"/>
                <a:cs typeface="Arial"/>
              </a:rPr>
              <a:t>Aligned to the question</a:t>
            </a:r>
          </a:p>
        </p:txBody>
      </p:sp>
      <p:sp>
        <p:nvSpPr>
          <p:cNvPr id="545" name="Google Shape;545;p19">
            <a:extLst xmlns:a="http://schemas.openxmlformats.org/drawingml/2006/main">
              <a:ext uri="{FF2B5EF4-FFF2-40B4-BE49-F238E27FC236}">
                <a16:creationId xmlns:a16="http://schemas.microsoft.com/office/drawing/2014/main" id="{69B10A80-0F02-4B93-9956-96555E86562A}"/>
              </a:ext>
            </a:extLst>
          </p:cNvPr>
          <p:cNvSpPr>
            <a:spLocks xmlns:a="http://schemas.openxmlformats.org/drawingml/2006/main" noGrp="1"/>
          </p:cNvSpPr>
          <p:nvPr/>
        </p:nvSpPr>
        <p:spPr>
          <a:xfrm xmlns:a="http://schemas.openxmlformats.org/drawingml/2006/main">
            <a:off x="7488936" y="1508760"/>
            <a:ext cx="1965960" cy="14173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46" name="Google Shape;546;p19">
            <a:extLst xmlns:a="http://schemas.openxmlformats.org/drawingml/2006/main">
              <a:ext uri="{FF2B5EF4-FFF2-40B4-BE49-F238E27FC236}">
                <a16:creationId xmlns:a16="http://schemas.microsoft.com/office/drawing/2014/main" id="{607CBE17-EA15-49F6-BEF1-14558767827E}"/>
              </a:ext>
            </a:extLst>
          </p:cNvPr>
          <p:cNvSpPr>
            <a:spLocks xmlns:a="http://schemas.openxmlformats.org/drawingml/2006/main" noGrp="1"/>
          </p:cNvSpPr>
          <p:nvPr/>
        </p:nvSpPr>
        <p:spPr>
          <a:xfrm xmlns:a="http://schemas.openxmlformats.org/drawingml/2006/main">
            <a:off x="7488936" y="1508760"/>
            <a:ext cx="54864" cy="14173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47" name="Google Shape;547;p19">
            <a:extLst xmlns:a="http://schemas.openxmlformats.org/drawingml/2006/main">
              <a:ext uri="{FF2B5EF4-FFF2-40B4-BE49-F238E27FC236}">
                <a16:creationId xmlns:a16="http://schemas.microsoft.com/office/drawing/2014/main" id="{C617D134-44AF-4EEC-9D95-C4D5D9D7B451}"/>
              </a:ext>
            </a:extLst>
          </p:cNvPr>
          <p:cNvSpPr>
            <a:spLocks xmlns:a="http://schemas.openxmlformats.org/drawingml/2006/main" noGrp="1"/>
          </p:cNvSpPr>
          <p:nvPr/>
        </p:nvSpPr>
        <p:spPr>
          <a:xfrm xmlns:a="http://schemas.openxmlformats.org/drawingml/2006/main">
            <a:off x="7653528" y="1655064"/>
            <a:ext cx="16459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SAFETY</a:t>
            </a:r>
          </a:p>
        </p:txBody>
      </p:sp>
      <p:sp>
        <p:nvSpPr>
          <p:cNvPr id="548" name="Google Shape;548;p19">
            <a:extLst xmlns:a="http://schemas.openxmlformats.org/drawingml/2006/main">
              <a:ext uri="{FF2B5EF4-FFF2-40B4-BE49-F238E27FC236}">
                <a16:creationId xmlns:a16="http://schemas.microsoft.com/office/drawing/2014/main" id="{23E01D0B-5CC9-4D16-A53C-589696D4B0E5}"/>
              </a:ext>
            </a:extLst>
          </p:cNvPr>
          <p:cNvSpPr>
            <a:spLocks xmlns:a="http://schemas.openxmlformats.org/drawingml/2006/main" noGrp="1"/>
          </p:cNvSpPr>
          <p:nvPr/>
        </p:nvSpPr>
        <p:spPr>
          <a:xfrm xmlns:a="http://schemas.openxmlformats.org/drawingml/2006/main">
            <a:off x="7653528" y="1947672"/>
            <a:ext cx="164592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080"/>
              <a:buFont typeface="Arial"/>
              <a:buNone/>
            </a:pPr>
            <a:r>
              <a:rPr sz="1080">
                <a:solidFill>
                  <a:srgbClr val="F2F2F2"/>
                </a:solidFill>
                <a:latin typeface="Arial"/>
                <a:ea typeface="Arial"/>
                <a:cs typeface="Arial"/>
              </a:rPr>
              <a:t>Risks named and reduced</a:t>
            </a:r>
          </a:p>
        </p:txBody>
      </p:sp>
      <p:sp>
        <p:nvSpPr>
          <p:cNvPr id="549" name="Google Shape;549;p19">
            <a:extLst xmlns:a="http://schemas.openxmlformats.org/drawingml/2006/main">
              <a:ext uri="{FF2B5EF4-FFF2-40B4-BE49-F238E27FC236}">
                <a16:creationId xmlns:a16="http://schemas.microsoft.com/office/drawing/2014/main" id="{8993F94C-6154-49CC-9091-072757089FDC}"/>
              </a:ext>
            </a:extLst>
          </p:cNvPr>
          <p:cNvSpPr>
            <a:spLocks xmlns:a="http://schemas.openxmlformats.org/drawingml/2006/main" noGrp="1"/>
          </p:cNvSpPr>
          <p:nvPr/>
        </p:nvSpPr>
        <p:spPr>
          <a:xfrm xmlns:a="http://schemas.openxmlformats.org/drawingml/2006/main">
            <a:off x="9756648" y="1508760"/>
            <a:ext cx="1965960" cy="141732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50" name="Google Shape;550;p19">
            <a:extLst xmlns:a="http://schemas.openxmlformats.org/drawingml/2006/main">
              <a:ext uri="{FF2B5EF4-FFF2-40B4-BE49-F238E27FC236}">
                <a16:creationId xmlns:a16="http://schemas.microsoft.com/office/drawing/2014/main" id="{31FF65CD-AD29-4D73-A85C-C301A07B829E}"/>
              </a:ext>
            </a:extLst>
          </p:cNvPr>
          <p:cNvSpPr>
            <a:spLocks xmlns:a="http://schemas.openxmlformats.org/drawingml/2006/main" noGrp="1"/>
          </p:cNvSpPr>
          <p:nvPr/>
        </p:nvSpPr>
        <p:spPr>
          <a:xfrm xmlns:a="http://schemas.openxmlformats.org/drawingml/2006/main">
            <a:off x="9756648" y="1508760"/>
            <a:ext cx="54864" cy="141732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51" name="Google Shape;551;p19">
            <a:extLst xmlns:a="http://schemas.openxmlformats.org/drawingml/2006/main">
              <a:ext uri="{FF2B5EF4-FFF2-40B4-BE49-F238E27FC236}">
                <a16:creationId xmlns:a16="http://schemas.microsoft.com/office/drawing/2014/main" id="{E46FF7F9-B9D9-4BE5-943D-799A35776CB1}"/>
              </a:ext>
            </a:extLst>
          </p:cNvPr>
          <p:cNvSpPr>
            <a:spLocks xmlns:a="http://schemas.openxmlformats.org/drawingml/2006/main" noGrp="1"/>
          </p:cNvSpPr>
          <p:nvPr/>
        </p:nvSpPr>
        <p:spPr>
          <a:xfrm xmlns:a="http://schemas.openxmlformats.org/drawingml/2006/main">
            <a:off x="9921240" y="1655064"/>
            <a:ext cx="16459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TIMELINE</a:t>
            </a:r>
          </a:p>
        </p:txBody>
      </p:sp>
      <p:sp>
        <p:nvSpPr>
          <p:cNvPr id="552" name="Google Shape;552;p19">
            <a:extLst xmlns:a="http://schemas.openxmlformats.org/drawingml/2006/main">
              <a:ext uri="{FF2B5EF4-FFF2-40B4-BE49-F238E27FC236}">
                <a16:creationId xmlns:a16="http://schemas.microsoft.com/office/drawing/2014/main" id="{13FAEB10-6B37-4D63-BD5A-57D4CB338CF9}"/>
              </a:ext>
            </a:extLst>
          </p:cNvPr>
          <p:cNvSpPr>
            <a:spLocks xmlns:a="http://schemas.openxmlformats.org/drawingml/2006/main" noGrp="1"/>
          </p:cNvSpPr>
          <p:nvPr/>
        </p:nvSpPr>
        <p:spPr>
          <a:xfrm xmlns:a="http://schemas.openxmlformats.org/drawingml/2006/main">
            <a:off x="9921240" y="1947672"/>
            <a:ext cx="164592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080"/>
              <a:buFont typeface="Arial"/>
              <a:buNone/>
            </a:pPr>
            <a:r>
              <a:rPr sz="1080">
                <a:solidFill>
                  <a:srgbClr val="F2F2F2"/>
                </a:solidFill>
                <a:latin typeface="Arial"/>
                <a:ea typeface="Arial"/>
                <a:cs typeface="Arial"/>
              </a:rPr>
              <a:t>Realistic with backup points</a:t>
            </a:r>
          </a:p>
        </p:txBody>
      </p:sp>
      <p:sp>
        <p:nvSpPr>
          <p:cNvPr id="553" name="Google Shape;553;p19">
            <a:extLst xmlns:a="http://schemas.openxmlformats.org/drawingml/2006/main">
              <a:ext uri="{FF2B5EF4-FFF2-40B4-BE49-F238E27FC236}">
                <a16:creationId xmlns:a16="http://schemas.microsoft.com/office/drawing/2014/main" id="{B24DB9CC-9C9F-4FFF-99A1-B662BA1956DE}"/>
              </a:ext>
            </a:extLst>
          </p:cNvPr>
          <p:cNvSpPr>
            <a:spLocks xmlns:a="http://schemas.openxmlformats.org/drawingml/2006/main" noGrp="1"/>
          </p:cNvSpPr>
          <p:nvPr/>
        </p:nvSpPr>
        <p:spPr>
          <a:xfrm xmlns:a="http://schemas.openxmlformats.org/drawingml/2006/main">
            <a:off x="1005840" y="3794760"/>
            <a:ext cx="10149840" cy="914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54" name="Google Shape;554;p19">
            <a:extLst xmlns:a="http://schemas.openxmlformats.org/drawingml/2006/main">
              <a:ext uri="{FF2B5EF4-FFF2-40B4-BE49-F238E27FC236}">
                <a16:creationId xmlns:a16="http://schemas.microsoft.com/office/drawing/2014/main" id="{92EFD3D9-3FDE-4E54-8A9E-27D722D4B235}"/>
              </a:ext>
            </a:extLst>
          </p:cNvPr>
          <p:cNvSpPr>
            <a:spLocks xmlns:a="http://schemas.openxmlformats.org/drawingml/2006/main" noGrp="1"/>
          </p:cNvSpPr>
          <p:nvPr/>
        </p:nvSpPr>
        <p:spPr>
          <a:xfrm xmlns:a="http://schemas.openxmlformats.org/drawingml/2006/main">
            <a:off x="1005840" y="3794760"/>
            <a:ext cx="54864" cy="914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55" name="Google Shape;555;p19">
            <a:extLst xmlns:a="http://schemas.openxmlformats.org/drawingml/2006/main">
              <a:ext uri="{FF2B5EF4-FFF2-40B4-BE49-F238E27FC236}">
                <a16:creationId xmlns:a16="http://schemas.microsoft.com/office/drawing/2014/main" id="{C994ADCB-CB3E-45C3-9832-E64E35DDAE54}"/>
              </a:ext>
            </a:extLst>
          </p:cNvPr>
          <p:cNvSpPr>
            <a:spLocks xmlns:a="http://schemas.openxmlformats.org/drawingml/2006/main" noGrp="1"/>
          </p:cNvSpPr>
          <p:nvPr/>
        </p:nvSpPr>
        <p:spPr>
          <a:xfrm xmlns:a="http://schemas.openxmlformats.org/drawingml/2006/main">
            <a:off x="1170432" y="3941064"/>
            <a:ext cx="982980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ALIGNMENT BEATS LENGTH.</a:t>
            </a:r>
          </a:p>
        </p:txBody>
      </p:sp>
      <p:sp>
        <p:nvSpPr>
          <p:cNvPr id="556" name="Google Shape;556;p19">
            <a:extLst xmlns:a="http://schemas.openxmlformats.org/drawingml/2006/main">
              <a:ext uri="{FF2B5EF4-FFF2-40B4-BE49-F238E27FC236}">
                <a16:creationId xmlns:a16="http://schemas.microsoft.com/office/drawing/2014/main" id="{9913E116-8DB4-44F9-B8C7-6C0151D63B04}"/>
              </a:ext>
            </a:extLst>
          </p:cNvPr>
          <p:cNvSpPr>
            <a:spLocks xmlns:a="http://schemas.openxmlformats.org/drawingml/2006/main" noGrp="1"/>
          </p:cNvSpPr>
          <p:nvPr/>
        </p:nvSpPr>
        <p:spPr>
          <a:xfrm xmlns:a="http://schemas.openxmlformats.org/drawingml/2006/main">
            <a:off x="1170432" y="4233672"/>
            <a:ext cx="98298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380"/>
              <a:buFont typeface="Arial"/>
              <a:buNone/>
            </a:pPr>
            <a:r>
              <a:rPr sz="1380">
                <a:solidFill>
                  <a:srgbClr val="F2F2F2"/>
                </a:solidFill>
                <a:latin typeface="Arial"/>
                <a:ea typeface="Arial"/>
                <a:cs typeface="Arial"/>
              </a:rPr>
              <a:t>A long plan with disconnected pieces is weaker than a concise plan where every section supports the same project.</a:t>
            </a:r>
          </a:p>
        </p:txBody>
      </p:sp>
    </p:spTree>
    <p:extLst>
      <p:ext uri="{BB962C8B-B14F-4D97-AF65-F5344CB8AC3E}">
        <p14:creationId xmlns:p14="http://schemas.microsoft.com/office/powerpoint/2010/main" val="1972404658"/>
      </p:ext>
    </p:extLst>
  </p:cSld>
</p:sld>
</file>

<file path=ppt/slides/slide1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562" name="Google Shape;562;p20">
            <a:extLst xmlns:a="http://schemas.openxmlformats.org/drawingml/2006/main">
              <a:ext uri="{FF2B5EF4-FFF2-40B4-BE49-F238E27FC236}">
                <a16:creationId xmlns:a16="http://schemas.microsoft.com/office/drawing/2014/main" id="{65226AAB-83E6-40A9-B773-EE9E6926545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63" name="Google Shape;563;p20">
            <a:extLst xmlns:a="http://schemas.openxmlformats.org/drawingml/2006/main">
              <a:ext uri="{FF2B5EF4-FFF2-40B4-BE49-F238E27FC236}">
                <a16:creationId xmlns:a16="http://schemas.microsoft.com/office/drawing/2014/main" id="{655ADA26-A0CB-4B89-8BA7-7A29E6C99349}"/>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64" name="Google Shape;564;p20">
            <a:extLst xmlns:a="http://schemas.openxmlformats.org/drawingml/2006/main">
              <a:ext uri="{FF2B5EF4-FFF2-40B4-BE49-F238E27FC236}">
                <a16:creationId xmlns:a16="http://schemas.microsoft.com/office/drawing/2014/main" id="{386E70FB-81AE-4C3A-AC38-11F4517F1290}"/>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65" name="Google Shape;565;p20">
            <a:extLst xmlns:a="http://schemas.openxmlformats.org/drawingml/2006/main">
              <a:ext uri="{FF2B5EF4-FFF2-40B4-BE49-F238E27FC236}">
                <a16:creationId xmlns:a16="http://schemas.microsoft.com/office/drawing/2014/main" id="{B886A19A-C9F4-4752-9FBB-DBE760FCC8CE}"/>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STUDENT ACTIVITY</a:t>
            </a:r>
          </a:p>
        </p:txBody>
      </p:sp>
      <p:sp>
        <p:nvSpPr>
          <p:cNvPr id="566" name="Google Shape;566;p20">
            <a:extLst xmlns:a="http://schemas.openxmlformats.org/drawingml/2006/main">
              <a:ext uri="{FF2B5EF4-FFF2-40B4-BE49-F238E27FC236}">
                <a16:creationId xmlns:a16="http://schemas.microsoft.com/office/drawing/2014/main" id="{A16D5425-4787-4CD7-972A-F3C515F3C644}"/>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567" name="Google Shape;567;p20">
            <a:extLst xmlns:a="http://schemas.openxmlformats.org/drawingml/2006/main">
              <a:ext uri="{FF2B5EF4-FFF2-40B4-BE49-F238E27FC236}">
                <a16:creationId xmlns:a16="http://schemas.microsoft.com/office/drawing/2014/main" id="{C326495F-AA0F-4731-9206-E4DFAEBD83DF}"/>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ACTIVITY: RESEARCH PLAN ASSEMBLY SPRINT</a:t>
            </a:r>
          </a:p>
        </p:txBody>
      </p:sp>
      <p:cxnSp>
        <p:nvCxnSpPr>
          <p:cNvPr id="595" name="Google Shape;568;p20"/>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569" name="Google Shape;569;p20">
            <a:extLst xmlns:a="http://schemas.openxmlformats.org/drawingml/2006/main">
              <a:ext uri="{FF2B5EF4-FFF2-40B4-BE49-F238E27FC236}">
                <a16:creationId xmlns:a16="http://schemas.microsoft.com/office/drawing/2014/main" id="{76261176-679A-4BBD-AD07-B379E2F21095}"/>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Students move from scattered handouts to one coherent plan.</a:t>
            </a:r>
          </a:p>
        </p:txBody>
      </p:sp>
      <p:sp>
        <p:nvSpPr>
          <p:cNvPr id="570" name="Google Shape;570;p20">
            <a:extLst xmlns:a="http://schemas.openxmlformats.org/drawingml/2006/main">
              <a:ext uri="{FF2B5EF4-FFF2-40B4-BE49-F238E27FC236}">
                <a16:creationId xmlns:a16="http://schemas.microsoft.com/office/drawing/2014/main" id="{2B6A67D5-8A4F-4064-A02C-6AF5CE5D361E}"/>
              </a:ext>
            </a:extLst>
          </p:cNvPr>
          <p:cNvSpPr>
            <a:spLocks xmlns:a="http://schemas.openxmlformats.org/drawingml/2006/main" noGrp="1"/>
          </p:cNvSpPr>
          <p:nvPr/>
        </p:nvSpPr>
        <p:spPr>
          <a:xfrm xmlns:a="http://schemas.openxmlformats.org/drawingml/2006/main">
            <a:off x="914400" y="1417320"/>
            <a:ext cx="507492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None/>
            </a:pPr>
            <a:r>
              <a:rPr sz="1400">
                <a:solidFill>
                  <a:srgbClr val="F2F2F2"/>
                </a:solidFill>
                <a:latin typeface="Arial"/>
                <a:ea typeface="Arial"/>
                <a:cs typeface="Arial"/>
              </a:rPr>
              <a:t>Focus statement</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Background rationale</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Hypothesis or design criteria</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Variables / criteria / constraints</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Materials + procedure</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Data collection plan</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Safety + ethics screening</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Timeline</a:t>
            </a:r>
          </a:p>
        </p:txBody>
      </p:sp>
      <p:sp>
        <p:nvSpPr>
          <p:cNvPr id="571" name="Google Shape;571;p20">
            <a:extLst xmlns:a="http://schemas.openxmlformats.org/drawingml/2006/main">
              <a:ext uri="{FF2B5EF4-FFF2-40B4-BE49-F238E27FC236}">
                <a16:creationId xmlns:a16="http://schemas.microsoft.com/office/drawing/2014/main" id="{9C547827-1B47-4B03-8A7E-89CBC0DB7EF9}"/>
              </a:ext>
            </a:extLst>
          </p:cNvPr>
          <p:cNvSpPr>
            <a:spLocks xmlns:a="http://schemas.openxmlformats.org/drawingml/2006/main" noGrp="1"/>
          </p:cNvSpPr>
          <p:nvPr/>
        </p:nvSpPr>
        <p:spPr>
          <a:xfrm xmlns:a="http://schemas.openxmlformats.org/drawingml/2006/main">
            <a:off x="6355080" y="1508760"/>
            <a:ext cx="4800600" cy="237744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72" name="Google Shape;572;p20">
            <a:extLst xmlns:a="http://schemas.openxmlformats.org/drawingml/2006/main">
              <a:ext uri="{FF2B5EF4-FFF2-40B4-BE49-F238E27FC236}">
                <a16:creationId xmlns:a16="http://schemas.microsoft.com/office/drawing/2014/main" id="{59488E4F-2BC8-4C30-988B-77392A8691D8}"/>
              </a:ext>
            </a:extLst>
          </p:cNvPr>
          <p:cNvSpPr>
            <a:spLocks xmlns:a="http://schemas.openxmlformats.org/drawingml/2006/main" noGrp="1"/>
          </p:cNvSpPr>
          <p:nvPr/>
        </p:nvSpPr>
        <p:spPr>
          <a:xfrm xmlns:a="http://schemas.openxmlformats.org/drawingml/2006/main">
            <a:off x="6355080" y="1508760"/>
            <a:ext cx="54864" cy="237744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73" name="Google Shape;573;p20">
            <a:extLst xmlns:a="http://schemas.openxmlformats.org/drawingml/2006/main">
              <a:ext uri="{FF2B5EF4-FFF2-40B4-BE49-F238E27FC236}">
                <a16:creationId xmlns:a16="http://schemas.microsoft.com/office/drawing/2014/main" id="{CCA80177-FA99-4FFB-8CDA-4B197C45CDC9}"/>
              </a:ext>
            </a:extLst>
          </p:cNvPr>
          <p:cNvSpPr>
            <a:spLocks xmlns:a="http://schemas.openxmlformats.org/drawingml/2006/main" noGrp="1"/>
          </p:cNvSpPr>
          <p:nvPr/>
        </p:nvSpPr>
        <p:spPr>
          <a:xfrm xmlns:a="http://schemas.openxmlformats.org/drawingml/2006/main">
            <a:off x="6519672" y="1655064"/>
            <a:ext cx="448056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ASSEMBLY SPRINT</a:t>
            </a:r>
          </a:p>
        </p:txBody>
      </p:sp>
      <p:sp>
        <p:nvSpPr>
          <p:cNvPr id="574" name="Google Shape;574;p20">
            <a:extLst xmlns:a="http://schemas.openxmlformats.org/drawingml/2006/main">
              <a:ext uri="{FF2B5EF4-FFF2-40B4-BE49-F238E27FC236}">
                <a16:creationId xmlns:a16="http://schemas.microsoft.com/office/drawing/2014/main" id="{D6C0FDD3-4450-4D5D-8C62-EB31A743BE2B}"/>
              </a:ext>
            </a:extLst>
          </p:cNvPr>
          <p:cNvSpPr>
            <a:spLocks xmlns:a="http://schemas.openxmlformats.org/drawingml/2006/main" noGrp="1"/>
          </p:cNvSpPr>
          <p:nvPr/>
        </p:nvSpPr>
        <p:spPr>
          <a:xfrm xmlns:a="http://schemas.openxmlformats.org/drawingml/2006/main">
            <a:off x="6519672" y="1947672"/>
            <a:ext cx="4480560" cy="1874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400"/>
              <a:buFont typeface="Arial"/>
              <a:buNone/>
            </a:pPr>
            <a:r>
              <a:rPr sz="1400">
                <a:solidFill>
                  <a:srgbClr val="F2F2F2"/>
                </a:solidFill>
                <a:latin typeface="Arial"/>
                <a:ea typeface="Arial"/>
                <a:cs typeface="Arial"/>
              </a:rPr>
              <a:t>20 minutes: assemble the draft.</a:t>
            </a:r>
          </a:p>
          <a:p xmlns:a="http://schemas.openxmlformats.org/drawingml/2006/main">
            <a:pPr marL="0" marR="0" indent="0" algn="l">
              <a:spcBef>
                <a:spcPts val="0"/>
              </a:spcBef>
              <a:spcAft>
                <a:spcPts val="0"/>
              </a:spcAft>
              <a:buClr>
                <a:srgbClr val="F2F2F2"/>
              </a:buClr>
              <a:buSzPts val="1400"/>
              <a:buFont typeface="Arial"/>
              <a:buNone/>
            </a:pPr>
            <a:r>
              <a:rPr sz="1400">
                <a:solidFill>
                  <a:srgbClr val="F2F2F2"/>
                </a:solidFill>
                <a:latin typeface="Arial"/>
                <a:ea typeface="Arial"/>
                <a:cs typeface="Arial"/>
              </a:rPr>
              <a:t>10 minutes: partner reviews for missing or misaligned sections.</a:t>
            </a:r>
          </a:p>
          <a:p xmlns:a="http://schemas.openxmlformats.org/drawingml/2006/main">
            <a:pPr marL="0" marR="0" indent="0" algn="l">
              <a:spcBef>
                <a:spcPts val="0"/>
              </a:spcBef>
              <a:spcAft>
                <a:spcPts val="0"/>
              </a:spcAft>
              <a:buClr>
                <a:srgbClr val="F2F2F2"/>
              </a:buClr>
              <a:buSzPts val="1400"/>
              <a:buFont typeface="Arial"/>
              <a:buNone/>
            </a:pPr>
            <a:r>
              <a:rPr sz="1400">
                <a:solidFill>
                  <a:srgbClr val="F2F2F2"/>
                </a:solidFill>
                <a:latin typeface="Arial"/>
                <a:ea typeface="Arial"/>
                <a:cs typeface="Arial"/>
              </a:rPr>
              <a:t>5 minutes: write your top revision priority.</a:t>
            </a:r>
          </a:p>
        </p:txBody>
      </p:sp>
    </p:spTree>
    <p:extLst>
      <p:ext uri="{BB962C8B-B14F-4D97-AF65-F5344CB8AC3E}">
        <p14:creationId xmlns:p14="http://schemas.microsoft.com/office/powerpoint/2010/main" val="1593528863"/>
      </p:ext>
    </p:extLst>
  </p:cSld>
</p:sld>
</file>

<file path=ppt/slides/slide19.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580" name="Google Shape;580;p21">
            <a:extLst xmlns:a="http://schemas.openxmlformats.org/drawingml/2006/main">
              <a:ext uri="{FF2B5EF4-FFF2-40B4-BE49-F238E27FC236}">
                <a16:creationId xmlns:a16="http://schemas.microsoft.com/office/drawing/2014/main" id="{EB598AAE-6B40-4939-8640-188B13A575C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81" name="Google Shape;581;p21">
            <a:extLst xmlns:a="http://schemas.openxmlformats.org/drawingml/2006/main">
              <a:ext uri="{FF2B5EF4-FFF2-40B4-BE49-F238E27FC236}">
                <a16:creationId xmlns:a16="http://schemas.microsoft.com/office/drawing/2014/main" id="{83DA8F31-3798-4538-88EF-416D146790B6}"/>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82" name="Google Shape;582;p21">
            <a:extLst xmlns:a="http://schemas.openxmlformats.org/drawingml/2006/main">
              <a:ext uri="{FF2B5EF4-FFF2-40B4-BE49-F238E27FC236}">
                <a16:creationId xmlns:a16="http://schemas.microsoft.com/office/drawing/2014/main" id="{F79D96A4-040A-4931-AEAF-24DD2F16BBC8}"/>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83" name="Google Shape;583;p21">
            <a:extLst xmlns:a="http://schemas.openxmlformats.org/drawingml/2006/main">
              <a:ext uri="{FF2B5EF4-FFF2-40B4-BE49-F238E27FC236}">
                <a16:creationId xmlns:a16="http://schemas.microsoft.com/office/drawing/2014/main" id="{A1DF15AB-0247-4E6D-A53D-ADD36B1E7D5D}"/>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MODEL</a:t>
            </a:r>
          </a:p>
        </p:txBody>
      </p:sp>
      <p:sp>
        <p:nvSpPr>
          <p:cNvPr id="584" name="Google Shape;584;p21">
            <a:extLst xmlns:a="http://schemas.openxmlformats.org/drawingml/2006/main">
              <a:ext uri="{FF2B5EF4-FFF2-40B4-BE49-F238E27FC236}">
                <a16:creationId xmlns:a16="http://schemas.microsoft.com/office/drawing/2014/main" id="{A3DAA333-DB03-41F1-8D59-BAF055951489}"/>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585" name="Google Shape;585;p21">
            <a:extLst xmlns:a="http://schemas.openxmlformats.org/drawingml/2006/main">
              <a:ext uri="{FF2B5EF4-FFF2-40B4-BE49-F238E27FC236}">
                <a16:creationId xmlns:a16="http://schemas.microsoft.com/office/drawing/2014/main" id="{8423A362-3CA7-476A-92BF-DD5F583132AB}"/>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MODEL EXCERPT: STRONG PLANNING LANGUAGE</a:t>
            </a:r>
          </a:p>
        </p:txBody>
      </p:sp>
      <p:cxnSp>
        <p:nvCxnSpPr>
          <p:cNvPr id="622" name="Google Shape;586;p21"/>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587" name="Google Shape;587;p21">
            <a:extLst xmlns:a="http://schemas.openxmlformats.org/drawingml/2006/main">
              <a:ext uri="{FF2B5EF4-FFF2-40B4-BE49-F238E27FC236}">
                <a16:creationId xmlns:a16="http://schemas.microsoft.com/office/drawing/2014/main" id="{1A763EA6-821E-47B2-830F-313DBC60E7AF}"/>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Good planning is specific, measurable, and cautious.</a:t>
            </a:r>
          </a:p>
        </p:txBody>
      </p:sp>
      <p:sp>
        <p:nvSpPr>
          <p:cNvPr id="588" name="Google Shape;588;p21">
            <a:extLst xmlns:a="http://schemas.openxmlformats.org/drawingml/2006/main">
              <a:ext uri="{FF2B5EF4-FFF2-40B4-BE49-F238E27FC236}">
                <a16:creationId xmlns:a16="http://schemas.microsoft.com/office/drawing/2014/main" id="{0F01E59A-9ADA-41F8-AF2C-1C186B7CB493}"/>
              </a:ext>
            </a:extLst>
          </p:cNvPr>
          <p:cNvSpPr>
            <a:spLocks xmlns:a="http://schemas.openxmlformats.org/drawingml/2006/main" noGrp="1"/>
          </p:cNvSpPr>
          <p:nvPr/>
        </p:nvSpPr>
        <p:spPr>
          <a:xfrm xmlns:a="http://schemas.openxmlformats.org/drawingml/2006/main">
            <a:off x="914400" y="1417320"/>
            <a:ext cx="4754880" cy="2057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89" name="Google Shape;589;p21">
            <a:extLst xmlns:a="http://schemas.openxmlformats.org/drawingml/2006/main">
              <a:ext uri="{FF2B5EF4-FFF2-40B4-BE49-F238E27FC236}">
                <a16:creationId xmlns:a16="http://schemas.microsoft.com/office/drawing/2014/main" id="{E3058428-4F14-4074-98E2-A8088BF9A030}"/>
              </a:ext>
            </a:extLst>
          </p:cNvPr>
          <p:cNvSpPr>
            <a:spLocks xmlns:a="http://schemas.openxmlformats.org/drawingml/2006/main" noGrp="1"/>
          </p:cNvSpPr>
          <p:nvPr/>
        </p:nvSpPr>
        <p:spPr>
          <a:xfrm xmlns:a="http://schemas.openxmlformats.org/drawingml/2006/main">
            <a:off x="914400" y="1417320"/>
            <a:ext cx="54864" cy="2057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90" name="Google Shape;590;p21">
            <a:extLst xmlns:a="http://schemas.openxmlformats.org/drawingml/2006/main">
              <a:ext uri="{FF2B5EF4-FFF2-40B4-BE49-F238E27FC236}">
                <a16:creationId xmlns:a16="http://schemas.microsoft.com/office/drawing/2014/main" id="{70E9F75F-3AF9-47F6-B919-4EE0ED9B51A8}"/>
              </a:ext>
            </a:extLst>
          </p:cNvPr>
          <p:cNvSpPr>
            <a:spLocks xmlns:a="http://schemas.openxmlformats.org/drawingml/2006/main" noGrp="1"/>
          </p:cNvSpPr>
          <p:nvPr/>
        </p:nvSpPr>
        <p:spPr>
          <a:xfrm xmlns:a="http://schemas.openxmlformats.org/drawingml/2006/main">
            <a:off x="1078992" y="1563624"/>
            <a:ext cx="44348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WEAK</a:t>
            </a:r>
          </a:p>
        </p:txBody>
      </p:sp>
      <p:sp>
        <p:nvSpPr>
          <p:cNvPr id="591" name="Google Shape;591;p21">
            <a:extLst xmlns:a="http://schemas.openxmlformats.org/drawingml/2006/main">
              <a:ext uri="{FF2B5EF4-FFF2-40B4-BE49-F238E27FC236}">
                <a16:creationId xmlns:a16="http://schemas.microsoft.com/office/drawing/2014/main" id="{E8A6E27D-F89B-4529-BB55-D54F79062BB6}"/>
              </a:ext>
            </a:extLst>
          </p:cNvPr>
          <p:cNvSpPr>
            <a:spLocks xmlns:a="http://schemas.openxmlformats.org/drawingml/2006/main" noGrp="1"/>
          </p:cNvSpPr>
          <p:nvPr/>
        </p:nvSpPr>
        <p:spPr>
          <a:xfrm xmlns:a="http://schemas.openxmlformats.org/drawingml/2006/main">
            <a:off x="1078992" y="1856232"/>
            <a:ext cx="443484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800"/>
              <a:buFont typeface="Arial"/>
              <a:buNone/>
            </a:pPr>
            <a:r>
              <a:rPr sz="1800">
                <a:solidFill>
                  <a:srgbClr val="F2F2F2"/>
                </a:solidFill>
                <a:latin typeface="Arial"/>
                <a:ea typeface="Arial"/>
                <a:cs typeface="Arial"/>
              </a:rPr>
              <a:t>I will test different bridge designs and see which one is best.</a:t>
            </a:r>
          </a:p>
        </p:txBody>
      </p:sp>
      <p:sp>
        <p:nvSpPr>
          <p:cNvPr id="592" name="Google Shape;592;p21">
            <a:extLst xmlns:a="http://schemas.openxmlformats.org/drawingml/2006/main">
              <a:ext uri="{FF2B5EF4-FFF2-40B4-BE49-F238E27FC236}">
                <a16:creationId xmlns:a16="http://schemas.microsoft.com/office/drawing/2014/main" id="{0423EDC8-2AED-4DDB-87F5-4007EF21DDFB}"/>
              </a:ext>
            </a:extLst>
          </p:cNvPr>
          <p:cNvSpPr>
            <a:spLocks xmlns:a="http://schemas.openxmlformats.org/drawingml/2006/main" noGrp="1"/>
          </p:cNvSpPr>
          <p:nvPr/>
        </p:nvSpPr>
        <p:spPr>
          <a:xfrm xmlns:a="http://schemas.openxmlformats.org/drawingml/2006/main">
            <a:off x="6492240" y="1417320"/>
            <a:ext cx="4754880" cy="20574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93" name="Google Shape;593;p21">
            <a:extLst xmlns:a="http://schemas.openxmlformats.org/drawingml/2006/main">
              <a:ext uri="{FF2B5EF4-FFF2-40B4-BE49-F238E27FC236}">
                <a16:creationId xmlns:a16="http://schemas.microsoft.com/office/drawing/2014/main" id="{DCE81F23-7D98-449B-8B43-90E2B48F52B4}"/>
              </a:ext>
            </a:extLst>
          </p:cNvPr>
          <p:cNvSpPr>
            <a:spLocks xmlns:a="http://schemas.openxmlformats.org/drawingml/2006/main" noGrp="1"/>
          </p:cNvSpPr>
          <p:nvPr/>
        </p:nvSpPr>
        <p:spPr>
          <a:xfrm xmlns:a="http://schemas.openxmlformats.org/drawingml/2006/main">
            <a:off x="6492240" y="1417320"/>
            <a:ext cx="54864" cy="20574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94" name="Google Shape;594;p21">
            <a:extLst xmlns:a="http://schemas.openxmlformats.org/drawingml/2006/main">
              <a:ext uri="{FF2B5EF4-FFF2-40B4-BE49-F238E27FC236}">
                <a16:creationId xmlns:a16="http://schemas.microsoft.com/office/drawing/2014/main" id="{8FB61990-C45B-479A-B979-088656711786}"/>
              </a:ext>
            </a:extLst>
          </p:cNvPr>
          <p:cNvSpPr>
            <a:spLocks xmlns:a="http://schemas.openxmlformats.org/drawingml/2006/main" noGrp="1"/>
          </p:cNvSpPr>
          <p:nvPr/>
        </p:nvSpPr>
        <p:spPr>
          <a:xfrm xmlns:a="http://schemas.openxmlformats.org/drawingml/2006/main">
            <a:off x="6656832" y="1563624"/>
            <a:ext cx="443484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STRONGER</a:t>
            </a:r>
          </a:p>
        </p:txBody>
      </p:sp>
      <p:sp>
        <p:nvSpPr>
          <p:cNvPr id="595" name="Google Shape;595;p21">
            <a:extLst xmlns:a="http://schemas.openxmlformats.org/drawingml/2006/main">
              <a:ext uri="{FF2B5EF4-FFF2-40B4-BE49-F238E27FC236}">
                <a16:creationId xmlns:a16="http://schemas.microsoft.com/office/drawing/2014/main" id="{171E07D2-9A23-4BB7-AC82-02BBBA29A345}"/>
              </a:ext>
            </a:extLst>
          </p:cNvPr>
          <p:cNvSpPr>
            <a:spLocks xmlns:a="http://schemas.openxmlformats.org/drawingml/2006/main" noGrp="1"/>
          </p:cNvSpPr>
          <p:nvPr/>
        </p:nvSpPr>
        <p:spPr>
          <a:xfrm xmlns:a="http://schemas.openxmlformats.org/drawingml/2006/main">
            <a:off x="6656832" y="1856232"/>
            <a:ext cx="443484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a:solidFill>
                  <a:srgbClr val="F2F2F2"/>
                </a:solidFill>
                <a:latin typeface="Arial"/>
                <a:ea typeface="Arial"/>
                <a:cs typeface="Arial"/>
              </a:rPr>
              <a:t>I will compare three 3D-printed truss designs using the same external dimensions and filament type. Each bridge will be tested for maximum supported load, then evaluated using load supported per gram of material.</a:t>
            </a:r>
          </a:p>
        </p:txBody>
      </p:sp>
      <p:sp>
        <p:nvSpPr>
          <p:cNvPr id="596" name="Google Shape;596;p21">
            <a:extLst xmlns:a="http://schemas.openxmlformats.org/drawingml/2006/main">
              <a:ext uri="{FF2B5EF4-FFF2-40B4-BE49-F238E27FC236}">
                <a16:creationId xmlns:a16="http://schemas.microsoft.com/office/drawing/2014/main" id="{1A7D42D8-2469-4416-AF2D-A73D637726B9}"/>
              </a:ext>
            </a:extLst>
          </p:cNvPr>
          <p:cNvSpPr>
            <a:spLocks xmlns:a="http://schemas.openxmlformats.org/drawingml/2006/main" noGrp="1"/>
          </p:cNvSpPr>
          <p:nvPr/>
        </p:nvSpPr>
        <p:spPr>
          <a:xfrm xmlns:a="http://schemas.openxmlformats.org/drawingml/2006/main">
            <a:off x="1005840" y="3867912"/>
            <a:ext cx="1014984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1800"/>
              <a:buFont typeface="Play"/>
              <a:buNone/>
            </a:pPr>
            <a:r>
              <a:rPr sz="1800" b="1">
                <a:solidFill>
                  <a:srgbClr val="F2F2F2"/>
                </a:solidFill>
                <a:latin typeface="Play"/>
                <a:ea typeface="Play"/>
                <a:cs typeface="Play"/>
              </a:rPr>
              <a:t>The stronger version defines comparison, constants, measurement, and metric.</a:t>
            </a:r>
          </a:p>
        </p:txBody>
      </p:sp>
      <p:sp>
        <p:nvSpPr>
          <p:cNvPr id="597" name="Google Shape;597;p21">
            <a:extLst xmlns:a="http://schemas.openxmlformats.org/drawingml/2006/main">
              <a:ext uri="{FF2B5EF4-FFF2-40B4-BE49-F238E27FC236}">
                <a16:creationId xmlns:a16="http://schemas.microsoft.com/office/drawing/2014/main" id="{8FB005BB-63C1-44CD-A5F4-14C2F6AC933C}"/>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98" name="Google Shape;598;p21">
            <a:extLst xmlns:a="http://schemas.openxmlformats.org/drawingml/2006/main">
              <a:ext uri="{FF2B5EF4-FFF2-40B4-BE49-F238E27FC236}">
                <a16:creationId xmlns:a16="http://schemas.microsoft.com/office/drawing/2014/main" id="{1A460F8B-6B09-4C50-A1A5-B2F59E1CF0DE}"/>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99" name="Google Shape;599;p21">
            <a:extLst xmlns:a="http://schemas.openxmlformats.org/drawingml/2006/main">
              <a:ext uri="{FF2B5EF4-FFF2-40B4-BE49-F238E27FC236}">
                <a16:creationId xmlns:a16="http://schemas.microsoft.com/office/drawing/2014/main" id="{4E849C6B-53F9-495F-8F88-D4DBF0A612E8}"/>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a:solidFill>
                  <a:srgbClr val="F2F2F2"/>
                </a:solidFill>
                <a:latin typeface="Arial"/>
                <a:ea typeface="Arial"/>
                <a:cs typeface="Arial"/>
              </a:rPr>
              <a:t>STUDENT ACTIVITY</a:t>
            </a:r>
          </a:p>
        </p:txBody>
      </p:sp>
      <p:sp>
        <p:nvSpPr>
          <p:cNvPr id="600" name="Google Shape;600;p21">
            <a:extLst xmlns:a="http://schemas.openxmlformats.org/drawingml/2006/main">
              <a:ext uri="{FF2B5EF4-FFF2-40B4-BE49-F238E27FC236}">
                <a16:creationId xmlns:a16="http://schemas.microsoft.com/office/drawing/2014/main" id="{B1AFBBD1-A667-4B19-B22F-31181D57CFDC}"/>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a:solidFill>
                  <a:srgbClr val="F2F2F2"/>
                </a:solidFill>
                <a:latin typeface="Arial"/>
                <a:ea typeface="Arial"/>
                <a:cs typeface="Arial"/>
              </a:rPr>
              <a:t>Upgrade one sentence.</a:t>
            </a:r>
          </a:p>
        </p:txBody>
      </p:sp>
      <p:sp>
        <p:nvSpPr>
          <p:cNvPr id="601" name="Google Shape;601;p21">
            <a:extLst xmlns:a="http://schemas.openxmlformats.org/drawingml/2006/main">
              <a:ext uri="{FF2B5EF4-FFF2-40B4-BE49-F238E27FC236}">
                <a16:creationId xmlns:a16="http://schemas.microsoft.com/office/drawing/2014/main" id="{FA5628A8-EF74-4E32-8792-F73B8995C3CA}"/>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a:solidFill>
                  <a:srgbClr val="B8B8B8"/>
                </a:solidFill>
                <a:latin typeface="Arial"/>
                <a:ea typeface="Arial"/>
                <a:cs typeface="Arial"/>
              </a:rPr>
              <a:t>Choose one vague sentence in your plan and rewrite it with specific evidence language.</a:t>
            </a:r>
          </a:p>
        </p:txBody>
      </p:sp>
    </p:spTree>
    <p:extLst>
      <p:ext uri="{BB962C8B-B14F-4D97-AF65-F5344CB8AC3E}">
        <p14:creationId xmlns:p14="http://schemas.microsoft.com/office/powerpoint/2010/main" val="565977365"/>
      </p:ext>
    </p:extLst>
  </p:cSld>
</p:sld>
</file>

<file path=ppt/slides/slide2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607" name="Google Shape;607;p22">
            <a:extLst xmlns:a="http://schemas.openxmlformats.org/drawingml/2006/main">
              <a:ext uri="{FF2B5EF4-FFF2-40B4-BE49-F238E27FC236}">
                <a16:creationId xmlns:a16="http://schemas.microsoft.com/office/drawing/2014/main" id="{E766326E-ED07-409E-964A-B3EE675C8F4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08" name="Google Shape;608;p22">
            <a:extLst xmlns:a="http://schemas.openxmlformats.org/drawingml/2006/main">
              <a:ext uri="{FF2B5EF4-FFF2-40B4-BE49-F238E27FC236}">
                <a16:creationId xmlns:a16="http://schemas.microsoft.com/office/drawing/2014/main" id="{A7E8E582-5C0E-4D7B-A1C1-60B3F4D02A48}"/>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09" name="Google Shape;609;p22">
            <a:extLst xmlns:a="http://schemas.openxmlformats.org/drawingml/2006/main">
              <a:ext uri="{FF2B5EF4-FFF2-40B4-BE49-F238E27FC236}">
                <a16:creationId xmlns:a16="http://schemas.microsoft.com/office/drawing/2014/main" id="{966ABC4B-653D-49A7-97CA-4E7E7A24E95E}"/>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10" name="Google Shape;610;p22">
            <a:extLst xmlns:a="http://schemas.openxmlformats.org/drawingml/2006/main">
              <a:ext uri="{FF2B5EF4-FFF2-40B4-BE49-F238E27FC236}">
                <a16:creationId xmlns:a16="http://schemas.microsoft.com/office/drawing/2014/main" id="{02836B1B-24C6-45AF-808A-DC098A00FE67}"/>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COMMON PITFALLS</a:t>
            </a:r>
          </a:p>
        </p:txBody>
      </p:sp>
      <p:sp>
        <p:nvSpPr>
          <p:cNvPr id="611" name="Google Shape;611;p22">
            <a:extLst xmlns:a="http://schemas.openxmlformats.org/drawingml/2006/main">
              <a:ext uri="{FF2B5EF4-FFF2-40B4-BE49-F238E27FC236}">
                <a16:creationId xmlns:a16="http://schemas.microsoft.com/office/drawing/2014/main" id="{12ACF309-CB64-47E6-897B-4C28A22527ED}"/>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612" name="Google Shape;612;p22">
            <a:extLst xmlns:a="http://schemas.openxmlformats.org/drawingml/2006/main">
              <a:ext uri="{FF2B5EF4-FFF2-40B4-BE49-F238E27FC236}">
                <a16:creationId xmlns:a16="http://schemas.microsoft.com/office/drawing/2014/main" id="{043C1CFA-31A0-4607-A455-62C160591A7B}"/>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COMMON RESEARCH PLAN PROBLEMS</a:t>
            </a:r>
          </a:p>
        </p:txBody>
      </p:sp>
      <p:cxnSp>
        <p:nvCxnSpPr>
          <p:cNvPr id="659" name="Google Shape;613;p22"/>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614" name="Google Shape;614;p22">
            <a:extLst xmlns:a="http://schemas.openxmlformats.org/drawingml/2006/main">
              <a:ext uri="{FF2B5EF4-FFF2-40B4-BE49-F238E27FC236}">
                <a16:creationId xmlns:a16="http://schemas.microsoft.com/office/drawing/2014/main" id="{F58FBB01-E794-4E16-83AD-BECE729C59F1}"/>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Catch these before they become Unit 3 disasters.</a:t>
            </a:r>
          </a:p>
        </p:txBody>
      </p:sp>
      <p:sp>
        <p:nvSpPr>
          <p:cNvPr id="615" name="Google Shape;615;p22">
            <a:extLst xmlns:a="http://schemas.openxmlformats.org/drawingml/2006/main">
              <a:ext uri="{FF2B5EF4-FFF2-40B4-BE49-F238E27FC236}">
                <a16:creationId xmlns:a16="http://schemas.microsoft.com/office/drawing/2014/main" id="{E0F60827-2B87-4611-A2F3-1FBB8C27539F}"/>
              </a:ext>
            </a:extLst>
          </p:cNvPr>
          <p:cNvSpPr>
            <a:spLocks xmlns:a="http://schemas.openxmlformats.org/drawingml/2006/main" noGrp="1"/>
          </p:cNvSpPr>
          <p:nvPr/>
        </p:nvSpPr>
        <p:spPr>
          <a:xfrm xmlns:a="http://schemas.openxmlformats.org/drawingml/2006/main">
            <a:off x="822960" y="1325880"/>
            <a:ext cx="333756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16" name="Google Shape;616;p22">
            <a:extLst xmlns:a="http://schemas.openxmlformats.org/drawingml/2006/main">
              <a:ext uri="{FF2B5EF4-FFF2-40B4-BE49-F238E27FC236}">
                <a16:creationId xmlns:a16="http://schemas.microsoft.com/office/drawing/2014/main" id="{2CF26ACC-7C47-403A-8863-6BCA19982DDA}"/>
              </a:ext>
            </a:extLst>
          </p:cNvPr>
          <p:cNvSpPr>
            <a:spLocks xmlns:a="http://schemas.openxmlformats.org/drawingml/2006/main" noGrp="1"/>
          </p:cNvSpPr>
          <p:nvPr/>
        </p:nvSpPr>
        <p:spPr>
          <a:xfrm xmlns:a="http://schemas.openxmlformats.org/drawingml/2006/main">
            <a:off x="822960" y="132588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17" name="Google Shape;617;p22">
            <a:extLst xmlns:a="http://schemas.openxmlformats.org/drawingml/2006/main">
              <a:ext uri="{FF2B5EF4-FFF2-40B4-BE49-F238E27FC236}">
                <a16:creationId xmlns:a16="http://schemas.microsoft.com/office/drawing/2014/main" id="{4C28CE0F-3AC9-495E-857C-0CBD5C2C7631}"/>
              </a:ext>
            </a:extLst>
          </p:cNvPr>
          <p:cNvSpPr>
            <a:spLocks xmlns:a="http://schemas.openxmlformats.org/drawingml/2006/main" noGrp="1"/>
          </p:cNvSpPr>
          <p:nvPr/>
        </p:nvSpPr>
        <p:spPr>
          <a:xfrm xmlns:a="http://schemas.openxmlformats.org/drawingml/2006/main">
            <a:off x="987552" y="1472184"/>
            <a:ext cx="30175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TOPIC, NOT QUESTION</a:t>
            </a:r>
          </a:p>
        </p:txBody>
      </p:sp>
      <p:sp>
        <p:nvSpPr>
          <p:cNvPr id="618" name="Google Shape;618;p22">
            <a:extLst xmlns:a="http://schemas.openxmlformats.org/drawingml/2006/main">
              <a:ext uri="{FF2B5EF4-FFF2-40B4-BE49-F238E27FC236}">
                <a16:creationId xmlns:a16="http://schemas.microsoft.com/office/drawing/2014/main" id="{3F2A6B1A-0A3C-4B96-8394-0D09355E1932}"/>
              </a:ext>
            </a:extLst>
          </p:cNvPr>
          <p:cNvSpPr>
            <a:spLocks xmlns:a="http://schemas.openxmlformats.org/drawingml/2006/main" noGrp="1"/>
          </p:cNvSpPr>
          <p:nvPr/>
        </p:nvSpPr>
        <p:spPr>
          <a:xfrm xmlns:a="http://schemas.openxmlformats.org/drawingml/2006/main">
            <a:off x="987552" y="1764792"/>
            <a:ext cx="301752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40"/>
              <a:buFont typeface="Arial"/>
              <a:buNone/>
            </a:pPr>
            <a:r>
              <a:rPr sz="1140">
                <a:solidFill>
                  <a:srgbClr val="F2F2F2"/>
                </a:solidFill>
                <a:latin typeface="Arial"/>
                <a:ea typeface="Arial"/>
                <a:cs typeface="Arial"/>
              </a:rPr>
              <a:t>“I want to study pollution.”</a:t>
            </a:r>
          </a:p>
        </p:txBody>
      </p:sp>
      <p:sp>
        <p:nvSpPr>
          <p:cNvPr id="619" name="Google Shape;619;p22">
            <a:extLst xmlns:a="http://schemas.openxmlformats.org/drawingml/2006/main">
              <a:ext uri="{FF2B5EF4-FFF2-40B4-BE49-F238E27FC236}">
                <a16:creationId xmlns:a16="http://schemas.microsoft.com/office/drawing/2014/main" id="{5134D635-0B9B-46B9-82D4-934E229DD4B1}"/>
              </a:ext>
            </a:extLst>
          </p:cNvPr>
          <p:cNvSpPr>
            <a:spLocks xmlns:a="http://schemas.openxmlformats.org/drawingml/2006/main" noGrp="1"/>
          </p:cNvSpPr>
          <p:nvPr/>
        </p:nvSpPr>
        <p:spPr>
          <a:xfrm xmlns:a="http://schemas.openxmlformats.org/drawingml/2006/main">
            <a:off x="4526280" y="1325880"/>
            <a:ext cx="333756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20" name="Google Shape;620;p22">
            <a:extLst xmlns:a="http://schemas.openxmlformats.org/drawingml/2006/main">
              <a:ext uri="{FF2B5EF4-FFF2-40B4-BE49-F238E27FC236}">
                <a16:creationId xmlns:a16="http://schemas.microsoft.com/office/drawing/2014/main" id="{42EE25B0-D872-4908-B69B-4FB96FBF06AC}"/>
              </a:ext>
            </a:extLst>
          </p:cNvPr>
          <p:cNvSpPr>
            <a:spLocks xmlns:a="http://schemas.openxmlformats.org/drawingml/2006/main" noGrp="1"/>
          </p:cNvSpPr>
          <p:nvPr/>
        </p:nvSpPr>
        <p:spPr>
          <a:xfrm xmlns:a="http://schemas.openxmlformats.org/drawingml/2006/main">
            <a:off x="4526280" y="132588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21" name="Google Shape;621;p22">
            <a:extLst xmlns:a="http://schemas.openxmlformats.org/drawingml/2006/main">
              <a:ext uri="{FF2B5EF4-FFF2-40B4-BE49-F238E27FC236}">
                <a16:creationId xmlns:a16="http://schemas.microsoft.com/office/drawing/2014/main" id="{72D6DF8A-1317-4A32-9194-2EA24A201BA0}"/>
              </a:ext>
            </a:extLst>
          </p:cNvPr>
          <p:cNvSpPr>
            <a:spLocks xmlns:a="http://schemas.openxmlformats.org/drawingml/2006/main" noGrp="1"/>
          </p:cNvSpPr>
          <p:nvPr/>
        </p:nvSpPr>
        <p:spPr>
          <a:xfrm xmlns:a="http://schemas.openxmlformats.org/drawingml/2006/main">
            <a:off x="4690872" y="1472184"/>
            <a:ext cx="30175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NO MEASURABLE OUTCOME</a:t>
            </a:r>
          </a:p>
        </p:txBody>
      </p:sp>
      <p:sp>
        <p:nvSpPr>
          <p:cNvPr id="622" name="Google Shape;622;p22">
            <a:extLst xmlns:a="http://schemas.openxmlformats.org/drawingml/2006/main">
              <a:ext uri="{FF2B5EF4-FFF2-40B4-BE49-F238E27FC236}">
                <a16:creationId xmlns:a16="http://schemas.microsoft.com/office/drawing/2014/main" id="{416EE1C2-6CF6-4729-A92C-559C9B9F3CA0}"/>
              </a:ext>
            </a:extLst>
          </p:cNvPr>
          <p:cNvSpPr>
            <a:spLocks xmlns:a="http://schemas.openxmlformats.org/drawingml/2006/main" noGrp="1"/>
          </p:cNvSpPr>
          <p:nvPr/>
        </p:nvSpPr>
        <p:spPr>
          <a:xfrm xmlns:a="http://schemas.openxmlformats.org/drawingml/2006/main">
            <a:off x="4690872" y="1764792"/>
            <a:ext cx="301752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40"/>
              <a:buFont typeface="Arial"/>
              <a:buNone/>
            </a:pPr>
            <a:r>
              <a:rPr sz="1140">
                <a:solidFill>
                  <a:srgbClr val="F2F2F2"/>
                </a:solidFill>
                <a:latin typeface="Arial"/>
                <a:ea typeface="Arial"/>
                <a:cs typeface="Arial"/>
              </a:rPr>
              <a:t>“I will see if it works.”</a:t>
            </a:r>
          </a:p>
        </p:txBody>
      </p:sp>
      <p:sp>
        <p:nvSpPr>
          <p:cNvPr id="623" name="Google Shape;623;p22">
            <a:extLst xmlns:a="http://schemas.openxmlformats.org/drawingml/2006/main">
              <a:ext uri="{FF2B5EF4-FFF2-40B4-BE49-F238E27FC236}">
                <a16:creationId xmlns:a16="http://schemas.microsoft.com/office/drawing/2014/main" id="{4C674B40-05F6-41CB-8887-BD63F1565FC1}"/>
              </a:ext>
            </a:extLst>
          </p:cNvPr>
          <p:cNvSpPr>
            <a:spLocks xmlns:a="http://schemas.openxmlformats.org/drawingml/2006/main" noGrp="1"/>
          </p:cNvSpPr>
          <p:nvPr/>
        </p:nvSpPr>
        <p:spPr>
          <a:xfrm xmlns:a="http://schemas.openxmlformats.org/drawingml/2006/main">
            <a:off x="8229600" y="1325880"/>
            <a:ext cx="333756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24" name="Google Shape;624;p22">
            <a:extLst xmlns:a="http://schemas.openxmlformats.org/drawingml/2006/main">
              <a:ext uri="{FF2B5EF4-FFF2-40B4-BE49-F238E27FC236}">
                <a16:creationId xmlns:a16="http://schemas.microsoft.com/office/drawing/2014/main" id="{52DF2F9B-06E2-40F7-B812-4D99AE07507A}"/>
              </a:ext>
            </a:extLst>
          </p:cNvPr>
          <p:cNvSpPr>
            <a:spLocks xmlns:a="http://schemas.openxmlformats.org/drawingml/2006/main" noGrp="1"/>
          </p:cNvSpPr>
          <p:nvPr/>
        </p:nvSpPr>
        <p:spPr>
          <a:xfrm xmlns:a="http://schemas.openxmlformats.org/drawingml/2006/main">
            <a:off x="8229600" y="132588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25" name="Google Shape;625;p22">
            <a:extLst xmlns:a="http://schemas.openxmlformats.org/drawingml/2006/main">
              <a:ext uri="{FF2B5EF4-FFF2-40B4-BE49-F238E27FC236}">
                <a16:creationId xmlns:a16="http://schemas.microsoft.com/office/drawing/2014/main" id="{01961157-482B-4B09-B93B-BB21579419E9}"/>
              </a:ext>
            </a:extLst>
          </p:cNvPr>
          <p:cNvSpPr>
            <a:spLocks xmlns:a="http://schemas.openxmlformats.org/drawingml/2006/main" noGrp="1"/>
          </p:cNvSpPr>
          <p:nvPr/>
        </p:nvSpPr>
        <p:spPr>
          <a:xfrm xmlns:a="http://schemas.openxmlformats.org/drawingml/2006/main">
            <a:off x="8394192" y="1472184"/>
            <a:ext cx="30175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UNSAFE METHOD</a:t>
            </a:r>
          </a:p>
        </p:txBody>
      </p:sp>
      <p:sp>
        <p:nvSpPr>
          <p:cNvPr id="626" name="Google Shape;626;p22">
            <a:extLst xmlns:a="http://schemas.openxmlformats.org/drawingml/2006/main">
              <a:ext uri="{FF2B5EF4-FFF2-40B4-BE49-F238E27FC236}">
                <a16:creationId xmlns:a16="http://schemas.microsoft.com/office/drawing/2014/main" id="{C5C04AC9-D667-4A93-998A-1B7E45501C28}"/>
              </a:ext>
            </a:extLst>
          </p:cNvPr>
          <p:cNvSpPr>
            <a:spLocks xmlns:a="http://schemas.openxmlformats.org/drawingml/2006/main" noGrp="1"/>
          </p:cNvSpPr>
          <p:nvPr/>
        </p:nvSpPr>
        <p:spPr>
          <a:xfrm xmlns:a="http://schemas.openxmlformats.org/drawingml/2006/main">
            <a:off x="8394192" y="1764792"/>
            <a:ext cx="301752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40"/>
              <a:buFont typeface="Arial"/>
              <a:buNone/>
            </a:pPr>
            <a:r>
              <a:rPr sz="1140">
                <a:solidFill>
                  <a:srgbClr val="F2F2F2"/>
                </a:solidFill>
                <a:latin typeface="Arial"/>
                <a:ea typeface="Arial"/>
                <a:cs typeface="Arial"/>
              </a:rPr>
              <a:t>Testing begins before risks are controlled.</a:t>
            </a:r>
          </a:p>
        </p:txBody>
      </p:sp>
      <p:sp>
        <p:nvSpPr>
          <p:cNvPr id="627" name="Google Shape;627;p22">
            <a:extLst xmlns:a="http://schemas.openxmlformats.org/drawingml/2006/main">
              <a:ext uri="{FF2B5EF4-FFF2-40B4-BE49-F238E27FC236}">
                <a16:creationId xmlns:a16="http://schemas.microsoft.com/office/drawing/2014/main" id="{83920B93-8AA2-46EC-AA5C-81223CC91C33}"/>
              </a:ext>
            </a:extLst>
          </p:cNvPr>
          <p:cNvSpPr>
            <a:spLocks xmlns:a="http://schemas.openxmlformats.org/drawingml/2006/main" noGrp="1"/>
          </p:cNvSpPr>
          <p:nvPr/>
        </p:nvSpPr>
        <p:spPr>
          <a:xfrm xmlns:a="http://schemas.openxmlformats.org/drawingml/2006/main">
            <a:off x="822960" y="2834640"/>
            <a:ext cx="333756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28" name="Google Shape;628;p22">
            <a:extLst xmlns:a="http://schemas.openxmlformats.org/drawingml/2006/main">
              <a:ext uri="{FF2B5EF4-FFF2-40B4-BE49-F238E27FC236}">
                <a16:creationId xmlns:a16="http://schemas.microsoft.com/office/drawing/2014/main" id="{776016E2-D17D-4F86-BCEA-719544E2E190}"/>
              </a:ext>
            </a:extLst>
          </p:cNvPr>
          <p:cNvSpPr>
            <a:spLocks xmlns:a="http://schemas.openxmlformats.org/drawingml/2006/main" noGrp="1"/>
          </p:cNvSpPr>
          <p:nvPr/>
        </p:nvSpPr>
        <p:spPr>
          <a:xfrm xmlns:a="http://schemas.openxmlformats.org/drawingml/2006/main">
            <a:off x="822960" y="283464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29" name="Google Shape;629;p22">
            <a:extLst xmlns:a="http://schemas.openxmlformats.org/drawingml/2006/main">
              <a:ext uri="{FF2B5EF4-FFF2-40B4-BE49-F238E27FC236}">
                <a16:creationId xmlns:a16="http://schemas.microsoft.com/office/drawing/2014/main" id="{B87B96BC-59F2-4478-A2C2-5202E42E919D}"/>
              </a:ext>
            </a:extLst>
          </p:cNvPr>
          <p:cNvSpPr>
            <a:spLocks xmlns:a="http://schemas.openxmlformats.org/drawingml/2006/main" noGrp="1"/>
          </p:cNvSpPr>
          <p:nvPr/>
        </p:nvSpPr>
        <p:spPr>
          <a:xfrm xmlns:a="http://schemas.openxmlformats.org/drawingml/2006/main">
            <a:off x="987552" y="2980944"/>
            <a:ext cx="30175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MYSTERY DATA</a:t>
            </a:r>
          </a:p>
        </p:txBody>
      </p:sp>
      <p:sp>
        <p:nvSpPr>
          <p:cNvPr id="630" name="Google Shape;630;p22">
            <a:extLst xmlns:a="http://schemas.openxmlformats.org/drawingml/2006/main">
              <a:ext uri="{FF2B5EF4-FFF2-40B4-BE49-F238E27FC236}">
                <a16:creationId xmlns:a16="http://schemas.microsoft.com/office/drawing/2014/main" id="{C2859FD1-CAD5-49FE-89C8-BFA59F22F12F}"/>
              </a:ext>
            </a:extLst>
          </p:cNvPr>
          <p:cNvSpPr>
            <a:spLocks xmlns:a="http://schemas.openxmlformats.org/drawingml/2006/main" noGrp="1"/>
          </p:cNvSpPr>
          <p:nvPr/>
        </p:nvSpPr>
        <p:spPr>
          <a:xfrm xmlns:a="http://schemas.openxmlformats.org/drawingml/2006/main">
            <a:off x="987552" y="3273552"/>
            <a:ext cx="301752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40"/>
              <a:buFont typeface="Arial"/>
              <a:buNone/>
            </a:pPr>
            <a:r>
              <a:rPr sz="1140">
                <a:solidFill>
                  <a:srgbClr val="F2F2F2"/>
                </a:solidFill>
                <a:latin typeface="Arial"/>
                <a:ea typeface="Arial"/>
                <a:cs typeface="Arial"/>
              </a:rPr>
              <a:t>No units, no trial plan, no storage system.</a:t>
            </a:r>
          </a:p>
        </p:txBody>
      </p:sp>
      <p:sp>
        <p:nvSpPr>
          <p:cNvPr id="631" name="Google Shape;631;p22">
            <a:extLst xmlns:a="http://schemas.openxmlformats.org/drawingml/2006/main">
              <a:ext uri="{FF2B5EF4-FFF2-40B4-BE49-F238E27FC236}">
                <a16:creationId xmlns:a16="http://schemas.microsoft.com/office/drawing/2014/main" id="{4971DDD3-4A32-46DB-8882-F27502448F7A}"/>
              </a:ext>
            </a:extLst>
          </p:cNvPr>
          <p:cNvSpPr>
            <a:spLocks xmlns:a="http://schemas.openxmlformats.org/drawingml/2006/main" noGrp="1"/>
          </p:cNvSpPr>
          <p:nvPr/>
        </p:nvSpPr>
        <p:spPr>
          <a:xfrm xmlns:a="http://schemas.openxmlformats.org/drawingml/2006/main">
            <a:off x="4526280" y="2834640"/>
            <a:ext cx="333756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32" name="Google Shape;632;p22">
            <a:extLst xmlns:a="http://schemas.openxmlformats.org/drawingml/2006/main">
              <a:ext uri="{FF2B5EF4-FFF2-40B4-BE49-F238E27FC236}">
                <a16:creationId xmlns:a16="http://schemas.microsoft.com/office/drawing/2014/main" id="{8B8D2358-EE0C-43B1-A037-DE92CBA0B023}"/>
              </a:ext>
            </a:extLst>
          </p:cNvPr>
          <p:cNvSpPr>
            <a:spLocks xmlns:a="http://schemas.openxmlformats.org/drawingml/2006/main" noGrp="1"/>
          </p:cNvSpPr>
          <p:nvPr/>
        </p:nvSpPr>
        <p:spPr>
          <a:xfrm xmlns:a="http://schemas.openxmlformats.org/drawingml/2006/main">
            <a:off x="4526280" y="283464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33" name="Google Shape;633;p22">
            <a:extLst xmlns:a="http://schemas.openxmlformats.org/drawingml/2006/main">
              <a:ext uri="{FF2B5EF4-FFF2-40B4-BE49-F238E27FC236}">
                <a16:creationId xmlns:a16="http://schemas.microsoft.com/office/drawing/2014/main" id="{70AD42BE-EFC2-4FFF-B14B-E84B57D4CB5A}"/>
              </a:ext>
            </a:extLst>
          </p:cNvPr>
          <p:cNvSpPr>
            <a:spLocks xmlns:a="http://schemas.openxmlformats.org/drawingml/2006/main" noGrp="1"/>
          </p:cNvSpPr>
          <p:nvPr/>
        </p:nvSpPr>
        <p:spPr>
          <a:xfrm xmlns:a="http://schemas.openxmlformats.org/drawingml/2006/main">
            <a:off x="4690872" y="2980944"/>
            <a:ext cx="30175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TIMELINE FANTASY</a:t>
            </a:r>
          </a:p>
        </p:txBody>
      </p:sp>
      <p:sp>
        <p:nvSpPr>
          <p:cNvPr id="634" name="Google Shape;634;p22">
            <a:extLst xmlns:a="http://schemas.openxmlformats.org/drawingml/2006/main">
              <a:ext uri="{FF2B5EF4-FFF2-40B4-BE49-F238E27FC236}">
                <a16:creationId xmlns:a16="http://schemas.microsoft.com/office/drawing/2014/main" id="{80F1732A-18EE-4F10-A688-F64815C0BA83}"/>
              </a:ext>
            </a:extLst>
          </p:cNvPr>
          <p:cNvSpPr>
            <a:spLocks xmlns:a="http://schemas.openxmlformats.org/drawingml/2006/main" noGrp="1"/>
          </p:cNvSpPr>
          <p:nvPr/>
        </p:nvSpPr>
        <p:spPr>
          <a:xfrm xmlns:a="http://schemas.openxmlformats.org/drawingml/2006/main">
            <a:off x="4690872" y="3273552"/>
            <a:ext cx="301752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40"/>
              <a:buFont typeface="Arial"/>
              <a:buNone/>
            </a:pPr>
            <a:r>
              <a:rPr sz="1140">
                <a:solidFill>
                  <a:srgbClr val="F2F2F2"/>
                </a:solidFill>
                <a:latin typeface="Arial"/>
                <a:ea typeface="Arial"/>
                <a:cs typeface="Arial"/>
              </a:rPr>
              <a:t>Everything depends on perfect access and no failures.</a:t>
            </a:r>
          </a:p>
        </p:txBody>
      </p:sp>
      <p:sp>
        <p:nvSpPr>
          <p:cNvPr id="635" name="Google Shape;635;p22">
            <a:extLst xmlns:a="http://schemas.openxmlformats.org/drawingml/2006/main">
              <a:ext uri="{FF2B5EF4-FFF2-40B4-BE49-F238E27FC236}">
                <a16:creationId xmlns:a16="http://schemas.microsoft.com/office/drawing/2014/main" id="{090902C1-BC9F-4BF4-924D-A44AB02D1181}"/>
              </a:ext>
            </a:extLst>
          </p:cNvPr>
          <p:cNvSpPr>
            <a:spLocks xmlns:a="http://schemas.openxmlformats.org/drawingml/2006/main" noGrp="1"/>
          </p:cNvSpPr>
          <p:nvPr/>
        </p:nvSpPr>
        <p:spPr>
          <a:xfrm xmlns:a="http://schemas.openxmlformats.org/drawingml/2006/main">
            <a:off x="8229600" y="2834640"/>
            <a:ext cx="3337560" cy="114300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36" name="Google Shape;636;p22">
            <a:extLst xmlns:a="http://schemas.openxmlformats.org/drawingml/2006/main">
              <a:ext uri="{FF2B5EF4-FFF2-40B4-BE49-F238E27FC236}">
                <a16:creationId xmlns:a16="http://schemas.microsoft.com/office/drawing/2014/main" id="{31B4565A-60F4-46B7-8E40-B8641930528E}"/>
              </a:ext>
            </a:extLst>
          </p:cNvPr>
          <p:cNvSpPr>
            <a:spLocks xmlns:a="http://schemas.openxmlformats.org/drawingml/2006/main" noGrp="1"/>
          </p:cNvSpPr>
          <p:nvPr/>
        </p:nvSpPr>
        <p:spPr>
          <a:xfrm xmlns:a="http://schemas.openxmlformats.org/drawingml/2006/main">
            <a:off x="8229600" y="2834640"/>
            <a:ext cx="54864" cy="11430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37" name="Google Shape;637;p22">
            <a:extLst xmlns:a="http://schemas.openxmlformats.org/drawingml/2006/main">
              <a:ext uri="{FF2B5EF4-FFF2-40B4-BE49-F238E27FC236}">
                <a16:creationId xmlns:a16="http://schemas.microsoft.com/office/drawing/2014/main" id="{481C6563-DADB-46BD-95A3-BCFF8CF74763}"/>
              </a:ext>
            </a:extLst>
          </p:cNvPr>
          <p:cNvSpPr>
            <a:spLocks xmlns:a="http://schemas.openxmlformats.org/drawingml/2006/main" noGrp="1"/>
          </p:cNvSpPr>
          <p:nvPr/>
        </p:nvSpPr>
        <p:spPr>
          <a:xfrm xmlns:a="http://schemas.openxmlformats.org/drawingml/2006/main">
            <a:off x="8394192" y="2980944"/>
            <a:ext cx="30175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COPIED PROJECT</a:t>
            </a:r>
          </a:p>
        </p:txBody>
      </p:sp>
      <p:sp>
        <p:nvSpPr>
          <p:cNvPr id="638" name="Google Shape;638;p22">
            <a:extLst xmlns:a="http://schemas.openxmlformats.org/drawingml/2006/main">
              <a:ext uri="{FF2B5EF4-FFF2-40B4-BE49-F238E27FC236}">
                <a16:creationId xmlns:a16="http://schemas.microsoft.com/office/drawing/2014/main" id="{981C7AAD-FCE6-491F-9B4C-8CFF0D593289}"/>
              </a:ext>
            </a:extLst>
          </p:cNvPr>
          <p:cNvSpPr>
            <a:spLocks xmlns:a="http://schemas.openxmlformats.org/drawingml/2006/main" noGrp="1"/>
          </p:cNvSpPr>
          <p:nvPr/>
        </p:nvSpPr>
        <p:spPr>
          <a:xfrm xmlns:a="http://schemas.openxmlformats.org/drawingml/2006/main">
            <a:off x="8394192" y="3273552"/>
            <a:ext cx="301752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140"/>
              <a:buFont typeface="Arial"/>
              <a:buNone/>
            </a:pPr>
            <a:r>
              <a:rPr sz="1140">
                <a:solidFill>
                  <a:srgbClr val="F2F2F2"/>
                </a:solidFill>
                <a:latin typeface="Arial"/>
                <a:ea typeface="Arial"/>
                <a:cs typeface="Arial"/>
              </a:rPr>
              <a:t>No original variable, context, design, or purpose.</a:t>
            </a:r>
          </a:p>
        </p:txBody>
      </p:sp>
    </p:spTree>
    <p:extLst>
      <p:ext uri="{BB962C8B-B14F-4D97-AF65-F5344CB8AC3E}">
        <p14:creationId xmlns:p14="http://schemas.microsoft.com/office/powerpoint/2010/main" val="1464759375"/>
      </p:ext>
    </p:extLst>
  </p:cSld>
</p:sld>
</file>

<file path=ppt/slides/slide2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644" name="Google Shape;644;p23">
            <a:extLst xmlns:a="http://schemas.openxmlformats.org/drawingml/2006/main">
              <a:ext uri="{FF2B5EF4-FFF2-40B4-BE49-F238E27FC236}">
                <a16:creationId xmlns:a16="http://schemas.microsoft.com/office/drawing/2014/main" id="{2B69D33A-732E-4459-9BED-205CA3A86AF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45" name="Google Shape;645;p23">
            <a:extLst xmlns:a="http://schemas.openxmlformats.org/drawingml/2006/main">
              <a:ext uri="{FF2B5EF4-FFF2-40B4-BE49-F238E27FC236}">
                <a16:creationId xmlns:a16="http://schemas.microsoft.com/office/drawing/2014/main" id="{F177AC72-74E4-40F0-AC7C-DE1DDDB77859}"/>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46" name="Google Shape;646;p23">
            <a:extLst xmlns:a="http://schemas.openxmlformats.org/drawingml/2006/main">
              <a:ext uri="{FF2B5EF4-FFF2-40B4-BE49-F238E27FC236}">
                <a16:creationId xmlns:a16="http://schemas.microsoft.com/office/drawing/2014/main" id="{E2CCB09C-83F2-429B-92C3-4001FA8757A9}"/>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47" name="Google Shape;647;p23">
            <a:extLst xmlns:a="http://schemas.openxmlformats.org/drawingml/2006/main">
              <a:ext uri="{FF2B5EF4-FFF2-40B4-BE49-F238E27FC236}">
                <a16:creationId xmlns:a16="http://schemas.microsoft.com/office/drawing/2014/main" id="{2BD5C1BD-F4AD-4E12-9413-E2929E25C009}"/>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READINESS</a:t>
            </a:r>
          </a:p>
        </p:txBody>
      </p:sp>
      <p:sp>
        <p:nvSpPr>
          <p:cNvPr id="648" name="Google Shape;648;p23">
            <a:extLst xmlns:a="http://schemas.openxmlformats.org/drawingml/2006/main">
              <a:ext uri="{FF2B5EF4-FFF2-40B4-BE49-F238E27FC236}">
                <a16:creationId xmlns:a16="http://schemas.microsoft.com/office/drawing/2014/main" id="{DCFB3F96-2593-4ADD-A8EB-41FAE8A22B0D}"/>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649" name="Google Shape;649;p23">
            <a:extLst xmlns:a="http://schemas.openxmlformats.org/drawingml/2006/main">
              <a:ext uri="{FF2B5EF4-FFF2-40B4-BE49-F238E27FC236}">
                <a16:creationId xmlns:a16="http://schemas.microsoft.com/office/drawing/2014/main" id="{575C7E15-87DC-4280-B921-F5F078247430}"/>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BEFORE PILOT TESTING BEGINS</a:t>
            </a:r>
          </a:p>
        </p:txBody>
      </p:sp>
      <p:cxnSp>
        <p:nvCxnSpPr>
          <p:cNvPr id="682" name="Google Shape;650;p23"/>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651" name="Google Shape;651;p23">
            <a:extLst xmlns:a="http://schemas.openxmlformats.org/drawingml/2006/main">
              <a:ext uri="{FF2B5EF4-FFF2-40B4-BE49-F238E27FC236}">
                <a16:creationId xmlns:a16="http://schemas.microsoft.com/office/drawing/2014/main" id="{90B9B556-9786-4D4E-9F8D-44C24A75D66B}"/>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The plan must pass the readiness check.</a:t>
            </a:r>
          </a:p>
        </p:txBody>
      </p:sp>
      <p:sp>
        <p:nvSpPr>
          <p:cNvPr id="652" name="Google Shape;652;p23">
            <a:extLst xmlns:a="http://schemas.openxmlformats.org/drawingml/2006/main">
              <a:ext uri="{FF2B5EF4-FFF2-40B4-BE49-F238E27FC236}">
                <a16:creationId xmlns:a16="http://schemas.microsoft.com/office/drawing/2014/main" id="{AF741CE0-14C9-45B5-8A68-D6440106C09E}"/>
              </a:ext>
            </a:extLst>
          </p:cNvPr>
          <p:cNvSpPr>
            <a:spLocks xmlns:a="http://schemas.openxmlformats.org/drawingml/2006/main" noGrp="1"/>
          </p:cNvSpPr>
          <p:nvPr/>
        </p:nvSpPr>
        <p:spPr>
          <a:xfrm xmlns:a="http://schemas.openxmlformats.org/drawingml/2006/main">
            <a:off x="960120" y="1371600"/>
            <a:ext cx="5303520" cy="3337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None/>
            </a:pPr>
            <a:r>
              <a:rPr sz="1400">
                <a:solidFill>
                  <a:srgbClr val="F2F2F2"/>
                </a:solidFill>
                <a:latin typeface="Arial"/>
                <a:ea typeface="Arial"/>
                <a:cs typeface="Arial"/>
              </a:rPr>
              <a:t>Question/problem is clear</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Evidence is defined</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Procedure is specific enough to review</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Materials and tools are realistic</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Safety/ethics are screened</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Timeline has decision points</a:t>
            </a:r>
          </a:p>
          <a:p xmlns:a="http://schemas.openxmlformats.org/drawingml/2006/main">
            <a:pPr marL="0" marR="0" indent="0" algn="l">
              <a:spcBef>
                <a:spcPts val="0"/>
              </a:spcBef>
              <a:spcAft>
                <a:spcPts val="0"/>
              </a:spcAft>
              <a:buNone/>
            </a:pPr>
            <a:r>
              <a:rPr sz="1400">
                <a:solidFill>
                  <a:srgbClr val="F2F2F2"/>
                </a:solidFill>
                <a:latin typeface="Arial"/>
                <a:ea typeface="Arial"/>
                <a:cs typeface="Arial"/>
              </a:rPr>
              <a:t>Teacher approval is documented</a:t>
            </a:r>
          </a:p>
        </p:txBody>
      </p:sp>
      <p:sp>
        <p:nvSpPr>
          <p:cNvPr id="653" name="Google Shape;653;p23">
            <a:extLst xmlns:a="http://schemas.openxmlformats.org/drawingml/2006/main">
              <a:ext uri="{FF2B5EF4-FFF2-40B4-BE49-F238E27FC236}">
                <a16:creationId xmlns:a16="http://schemas.microsoft.com/office/drawing/2014/main" id="{38055D16-6494-4C36-965B-B0B1E4E050AF}"/>
              </a:ext>
            </a:extLst>
          </p:cNvPr>
          <p:cNvSpPr>
            <a:spLocks xmlns:a="http://schemas.openxmlformats.org/drawingml/2006/main" noGrp="1"/>
          </p:cNvSpPr>
          <p:nvPr/>
        </p:nvSpPr>
        <p:spPr>
          <a:xfrm xmlns:a="http://schemas.openxmlformats.org/drawingml/2006/main">
            <a:off x="6400800" y="1600200"/>
            <a:ext cx="4800600" cy="1280160"/>
          </a:xfrm>
          <a:prstGeom xmlns:a="http://schemas.openxmlformats.org/drawingml/2006/main" prst="rect">
            <a:avLst/>
          </a:prstGeom>
          <a:solidFill xmlns:a="http://schemas.openxmlformats.org/drawingml/2006/main">
            <a:srgbClr val="111111"/>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54" name="Google Shape;654;p23">
            <a:extLst xmlns:a="http://schemas.openxmlformats.org/drawingml/2006/main">
              <a:ext uri="{FF2B5EF4-FFF2-40B4-BE49-F238E27FC236}">
                <a16:creationId xmlns:a16="http://schemas.microsoft.com/office/drawing/2014/main" id="{5C324409-7604-4728-889C-F282D1A1DFFC}"/>
              </a:ext>
            </a:extLst>
          </p:cNvPr>
          <p:cNvSpPr>
            <a:spLocks xmlns:a="http://schemas.openxmlformats.org/drawingml/2006/main" noGrp="1"/>
          </p:cNvSpPr>
          <p:nvPr/>
        </p:nvSpPr>
        <p:spPr>
          <a:xfrm xmlns:a="http://schemas.openxmlformats.org/drawingml/2006/main">
            <a:off x="6400800" y="1600200"/>
            <a:ext cx="54864" cy="128016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55" name="Google Shape;655;p23">
            <a:extLst xmlns:a="http://schemas.openxmlformats.org/drawingml/2006/main">
              <a:ext uri="{FF2B5EF4-FFF2-40B4-BE49-F238E27FC236}">
                <a16:creationId xmlns:a16="http://schemas.microsoft.com/office/drawing/2014/main" id="{C97695F3-61B7-4BCC-B422-716BAF0AFBEB}"/>
              </a:ext>
            </a:extLst>
          </p:cNvPr>
          <p:cNvSpPr>
            <a:spLocks xmlns:a="http://schemas.openxmlformats.org/drawingml/2006/main" noGrp="1"/>
          </p:cNvSpPr>
          <p:nvPr/>
        </p:nvSpPr>
        <p:spPr>
          <a:xfrm xmlns:a="http://schemas.openxmlformats.org/drawingml/2006/main">
            <a:off x="6565392" y="1746504"/>
            <a:ext cx="448056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NO APPROVAL, NO TESTING.</a:t>
            </a:r>
          </a:p>
        </p:txBody>
      </p:sp>
      <p:sp>
        <p:nvSpPr>
          <p:cNvPr id="656" name="Google Shape;656;p23">
            <a:extLst xmlns:a="http://schemas.openxmlformats.org/drawingml/2006/main">
              <a:ext uri="{FF2B5EF4-FFF2-40B4-BE49-F238E27FC236}">
                <a16:creationId xmlns:a16="http://schemas.microsoft.com/office/drawing/2014/main" id="{6488B6B8-1A70-4135-9EA2-CD1BF22FFCCC}"/>
              </a:ext>
            </a:extLst>
          </p:cNvPr>
          <p:cNvSpPr>
            <a:spLocks xmlns:a="http://schemas.openxmlformats.org/drawingml/2006/main" noGrp="1"/>
          </p:cNvSpPr>
          <p:nvPr/>
        </p:nvSpPr>
        <p:spPr>
          <a:xfrm xmlns:a="http://schemas.openxmlformats.org/drawingml/2006/main">
            <a:off x="6565392" y="2039112"/>
            <a:ext cx="448056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t">
            <a:noAutofit/>
          </a:bodyPr>
          <a:lstStyle xmlns:a="http://schemas.openxmlformats.org/drawingml/2006/main"/>
          <a:p xmlns:a="http://schemas.openxmlformats.org/drawingml/2006/main">
            <a:pPr marL="0" marR="0" indent="0" algn="l">
              <a:spcBef>
                <a:spcPts val="0"/>
              </a:spcBef>
              <a:spcAft>
                <a:spcPts val="0"/>
              </a:spcAft>
              <a:buClr>
                <a:srgbClr val="F2F2F2"/>
              </a:buClr>
              <a:buSzPts val="1500"/>
              <a:buFont typeface="Arial"/>
              <a:buNone/>
            </a:pPr>
            <a:r>
              <a:rPr sz="1500">
                <a:solidFill>
                  <a:srgbClr val="F2F2F2"/>
                </a:solidFill>
                <a:latin typeface="Arial"/>
                <a:ea typeface="Arial"/>
                <a:cs typeface="Arial"/>
              </a:rPr>
              <a:t>Testing starts only after the plan is safe, ethical, feasible, and clear enough to pilot.</a:t>
            </a:r>
          </a:p>
        </p:txBody>
      </p:sp>
      <p:sp>
        <p:nvSpPr>
          <p:cNvPr id="657" name="Google Shape;657;p23">
            <a:extLst xmlns:a="http://schemas.openxmlformats.org/drawingml/2006/main">
              <a:ext uri="{FF2B5EF4-FFF2-40B4-BE49-F238E27FC236}">
                <a16:creationId xmlns:a16="http://schemas.microsoft.com/office/drawing/2014/main" id="{93CB8658-43D6-49EA-89E2-97519D0577C3}"/>
              </a:ext>
            </a:extLst>
          </p:cNvPr>
          <p:cNvSpPr>
            <a:spLocks xmlns:a="http://schemas.openxmlformats.org/drawingml/2006/main" noGrp="1"/>
          </p:cNvSpPr>
          <p:nvPr/>
        </p:nvSpPr>
        <p:spPr>
          <a:xfrm xmlns:a="http://schemas.openxmlformats.org/drawingml/2006/main">
            <a:off x="658368" y="5074920"/>
            <a:ext cx="10881360" cy="868680"/>
          </a:xfrm>
          <a:prstGeom xmlns:a="http://schemas.openxmlformats.org/drawingml/2006/main" prst="rect">
            <a:avLst/>
          </a:prstGeom>
          <a:solidFill xmlns:a="http://schemas.openxmlformats.org/drawingml/2006/main">
            <a:srgbClr val="0A0A0A"/>
          </a:solidFill>
          <a:ln xmlns:a="http://schemas.openxmlformats.org/drawingml/2006/main" w="1395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58" name="Google Shape;658;p23">
            <a:extLst xmlns:a="http://schemas.openxmlformats.org/drawingml/2006/main">
              <a:ext uri="{FF2B5EF4-FFF2-40B4-BE49-F238E27FC236}">
                <a16:creationId xmlns:a16="http://schemas.microsoft.com/office/drawing/2014/main" id="{D560E0EF-F7F1-4A0F-B11D-4A28BEA35BF5}"/>
              </a:ext>
            </a:extLst>
          </p:cNvPr>
          <p:cNvSpPr>
            <a:spLocks xmlns:a="http://schemas.openxmlformats.org/drawingml/2006/main" noGrp="1"/>
          </p:cNvSpPr>
          <p:nvPr/>
        </p:nvSpPr>
        <p:spPr>
          <a:xfrm xmlns:a="http://schemas.openxmlformats.org/drawingml/2006/main">
            <a:off x="658368" y="5074920"/>
            <a:ext cx="1783080" cy="25603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59" name="Google Shape;659;p23">
            <a:extLst xmlns:a="http://schemas.openxmlformats.org/drawingml/2006/main">
              <a:ext uri="{FF2B5EF4-FFF2-40B4-BE49-F238E27FC236}">
                <a16:creationId xmlns:a16="http://schemas.microsoft.com/office/drawing/2014/main" id="{EF9EBA89-6A61-4396-9CC8-570CD765F179}"/>
              </a:ext>
            </a:extLst>
          </p:cNvPr>
          <p:cNvSpPr>
            <a:spLocks xmlns:a="http://schemas.openxmlformats.org/drawingml/2006/main" noGrp="1"/>
          </p:cNvSpPr>
          <p:nvPr/>
        </p:nvSpPr>
        <p:spPr>
          <a:xfrm xmlns:a="http://schemas.openxmlformats.org/drawingml/2006/main">
            <a:off x="786384" y="5138928"/>
            <a:ext cx="1554480" cy="1188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780"/>
              <a:buFont typeface="Arial"/>
              <a:buNone/>
            </a:pPr>
            <a:r>
              <a:rPr sz="780" b="1">
                <a:solidFill>
                  <a:srgbClr val="F2F2F2"/>
                </a:solidFill>
                <a:latin typeface="Arial"/>
                <a:ea typeface="Arial"/>
                <a:cs typeface="Arial"/>
              </a:rPr>
              <a:t>STUDENT ACTIVITY</a:t>
            </a:r>
          </a:p>
        </p:txBody>
      </p:sp>
      <p:sp>
        <p:nvSpPr>
          <p:cNvPr id="660" name="Google Shape;660;p23">
            <a:extLst xmlns:a="http://schemas.openxmlformats.org/drawingml/2006/main">
              <a:ext uri="{FF2B5EF4-FFF2-40B4-BE49-F238E27FC236}">
                <a16:creationId xmlns:a16="http://schemas.microsoft.com/office/drawing/2014/main" id="{AA564F84-BAAB-4A8E-9499-D424AE6D0EF7}"/>
              </a:ext>
            </a:extLst>
          </p:cNvPr>
          <p:cNvSpPr>
            <a:spLocks xmlns:a="http://schemas.openxmlformats.org/drawingml/2006/main" noGrp="1"/>
          </p:cNvSpPr>
          <p:nvPr/>
        </p:nvSpPr>
        <p:spPr>
          <a:xfrm xmlns:a="http://schemas.openxmlformats.org/drawingml/2006/main">
            <a:off x="868680" y="5422392"/>
            <a:ext cx="3520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1250"/>
              <a:buFont typeface="Arial"/>
              <a:buNone/>
            </a:pPr>
            <a:r>
              <a:rPr sz="1250" b="1">
                <a:solidFill>
                  <a:srgbClr val="F2F2F2"/>
                </a:solidFill>
                <a:latin typeface="Arial"/>
                <a:ea typeface="Arial"/>
                <a:cs typeface="Arial"/>
              </a:rPr>
              <a:t>Self-rating.</a:t>
            </a:r>
          </a:p>
        </p:txBody>
      </p:sp>
      <p:sp>
        <p:nvSpPr>
          <p:cNvPr id="661" name="Google Shape;661;p23">
            <a:extLst xmlns:a="http://schemas.openxmlformats.org/drawingml/2006/main">
              <a:ext uri="{FF2B5EF4-FFF2-40B4-BE49-F238E27FC236}">
                <a16:creationId xmlns:a16="http://schemas.microsoft.com/office/drawing/2014/main" id="{CB72DE1A-A8E8-4BDB-91F3-1CDE550A0216}"/>
              </a:ext>
            </a:extLst>
          </p:cNvPr>
          <p:cNvSpPr>
            <a:spLocks xmlns:a="http://schemas.openxmlformats.org/drawingml/2006/main" noGrp="1"/>
          </p:cNvSpPr>
          <p:nvPr/>
        </p:nvSpPr>
        <p:spPr>
          <a:xfrm xmlns:a="http://schemas.openxmlformats.org/drawingml/2006/main">
            <a:off x="4983480" y="5367528"/>
            <a:ext cx="580644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100"/>
              <a:buFont typeface="Arial"/>
              <a:buNone/>
            </a:pPr>
            <a:r>
              <a:rPr sz="1100">
                <a:solidFill>
                  <a:srgbClr val="B8B8B8"/>
                </a:solidFill>
                <a:latin typeface="Arial"/>
                <a:ea typeface="Arial"/>
                <a:cs typeface="Arial"/>
              </a:rPr>
              <a:t>Mark each readiness item green, yellow, or red. Your lowest item becomes your first revision task.</a:t>
            </a:r>
          </a:p>
        </p:txBody>
      </p:sp>
    </p:spTree>
    <p:extLst>
      <p:ext uri="{BB962C8B-B14F-4D97-AF65-F5344CB8AC3E}">
        <p14:creationId xmlns:p14="http://schemas.microsoft.com/office/powerpoint/2010/main" val="2043057437"/>
      </p:ext>
    </p:extLst>
  </p:cSld>
</p:sld>
</file>

<file path=ppt/slides/slide2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667" name="Google Shape;667;p24">
            <a:extLst xmlns:a="http://schemas.openxmlformats.org/drawingml/2006/main">
              <a:ext uri="{FF2B5EF4-FFF2-40B4-BE49-F238E27FC236}">
                <a16:creationId xmlns:a16="http://schemas.microsoft.com/office/drawing/2014/main" id="{DB76CB00-3D20-4CD1-A2B9-0A2B8794C76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68" name="Google Shape;668;p24">
            <a:extLst xmlns:a="http://schemas.openxmlformats.org/drawingml/2006/main">
              <a:ext uri="{FF2B5EF4-FFF2-40B4-BE49-F238E27FC236}">
                <a16:creationId xmlns:a16="http://schemas.microsoft.com/office/drawing/2014/main" id="{048AF76E-D51C-4E87-BDC5-2B4685B0EB9F}"/>
              </a:ext>
            </a:extLst>
          </p:cNvPr>
          <p:cNvSpPr>
            <a:spLocks xmlns:a="http://schemas.openxmlformats.org/drawingml/2006/main" noGrp="1"/>
          </p:cNvSpPr>
          <p:nvPr/>
        </p:nvSpPr>
        <p:spPr>
          <a:xfrm xmlns:a="http://schemas.openxmlformats.org/drawingml/2006/main">
            <a:off x="0" y="38404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69" name="Google Shape;669;p24">
            <a:extLst xmlns:a="http://schemas.openxmlformats.org/drawingml/2006/main">
              <a:ext uri="{FF2B5EF4-FFF2-40B4-BE49-F238E27FC236}">
                <a16:creationId xmlns:a16="http://schemas.microsoft.com/office/drawing/2014/main" id="{BABCC38F-475D-4DD2-9C84-195F2DBBBC29}"/>
              </a:ext>
            </a:extLst>
          </p:cNvPr>
          <p:cNvSpPr>
            <a:spLocks xmlns:a="http://schemas.openxmlformats.org/drawingml/2006/main" noGrp="1"/>
          </p:cNvSpPr>
          <p:nvPr/>
        </p:nvSpPr>
        <p:spPr>
          <a:xfrm xmlns:a="http://schemas.openxmlformats.org/drawingml/2006/main">
            <a:off x="0" y="6419088"/>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70" name="Google Shape;670;p24">
            <a:extLst xmlns:a="http://schemas.openxmlformats.org/drawingml/2006/main">
              <a:ext uri="{FF2B5EF4-FFF2-40B4-BE49-F238E27FC236}">
                <a16:creationId xmlns:a16="http://schemas.microsoft.com/office/drawing/2014/main" id="{4E7CE1B6-4225-4D32-9B69-B96291F772F5}"/>
              </a:ext>
            </a:extLst>
          </p:cNvPr>
          <p:cNvSpPr>
            <a:spLocks xmlns:a="http://schemas.openxmlformats.org/drawingml/2006/main" noGrp="1"/>
          </p:cNvSpPr>
          <p:nvPr/>
        </p:nvSpPr>
        <p:spPr>
          <a:xfrm xmlns:a="http://schemas.openxmlformats.org/drawingml/2006/main">
            <a:off x="411480" y="6537960"/>
            <a:ext cx="31089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900"/>
              <a:buFont typeface="Arial"/>
              <a:buNone/>
            </a:pPr>
            <a:r>
              <a:rPr sz="900" b="1">
                <a:solidFill>
                  <a:srgbClr val="B8B8B8"/>
                </a:solidFill>
                <a:latin typeface="Arial"/>
                <a:ea typeface="Arial"/>
                <a:cs typeface="Arial"/>
              </a:rPr>
              <a:t>EXIT TICKET</a:t>
            </a:r>
          </a:p>
        </p:txBody>
      </p:sp>
      <p:sp>
        <p:nvSpPr>
          <p:cNvPr id="671" name="Google Shape;671;p24">
            <a:extLst xmlns:a="http://schemas.openxmlformats.org/drawingml/2006/main">
              <a:ext uri="{FF2B5EF4-FFF2-40B4-BE49-F238E27FC236}">
                <a16:creationId xmlns:a16="http://schemas.microsoft.com/office/drawing/2014/main" id="{19913A99-AC44-40B2-A976-5779C183B788}"/>
              </a:ext>
            </a:extLst>
          </p:cNvPr>
          <p:cNvSpPr>
            <a:spLocks xmlns:a="http://schemas.openxmlformats.org/drawingml/2006/main" noGrp="1"/>
          </p:cNvSpPr>
          <p:nvPr/>
        </p:nvSpPr>
        <p:spPr>
          <a:xfrm xmlns:a="http://schemas.openxmlformats.org/drawingml/2006/main">
            <a:off x="10469880" y="6537960"/>
            <a:ext cx="12801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900"/>
              <a:buFont typeface="Arial"/>
              <a:buNone/>
            </a:pPr>
            <a:r>
              <a:rPr sz="900" b="1">
                <a:solidFill>
                  <a:srgbClr val="B8B8B8"/>
                </a:solidFill>
                <a:latin typeface="Arial"/>
                <a:ea typeface="Arial"/>
                <a:cs typeface="Arial"/>
              </a:rPr>
              <a:t>STARLAB</a:t>
            </a:r>
          </a:p>
        </p:txBody>
      </p:sp>
      <p:sp>
        <p:nvSpPr>
          <p:cNvPr id="672" name="Google Shape;672;p24">
            <a:extLst xmlns:a="http://schemas.openxmlformats.org/drawingml/2006/main">
              <a:ext uri="{FF2B5EF4-FFF2-40B4-BE49-F238E27FC236}">
                <a16:creationId xmlns:a16="http://schemas.microsoft.com/office/drawing/2014/main" id="{0085606E-1943-4A9C-94ED-56205B5D0E4A}"/>
              </a:ext>
            </a:extLst>
          </p:cNvPr>
          <p:cNvSpPr>
            <a:spLocks xmlns:a="http://schemas.openxmlformats.org/drawingml/2006/main" noGrp="1"/>
          </p:cNvSpPr>
          <p:nvPr/>
        </p:nvSpPr>
        <p:spPr>
          <a:xfrm xmlns:a="http://schemas.openxmlformats.org/drawingml/2006/main">
            <a:off x="658368" y="548640"/>
            <a:ext cx="1088136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2F2F2"/>
              </a:buClr>
              <a:buSzPts val="3000"/>
              <a:buFont typeface="Play"/>
              <a:buNone/>
            </a:pPr>
            <a:r>
              <a:rPr sz="3000" b="1">
                <a:solidFill>
                  <a:srgbClr val="F2F2F2"/>
                </a:solidFill>
                <a:latin typeface="Play"/>
                <a:ea typeface="Play"/>
                <a:cs typeface="Play"/>
              </a:rPr>
              <a:t>EXIT TICKET</a:t>
            </a:r>
          </a:p>
        </p:txBody>
      </p:sp>
      <p:cxnSp>
        <p:nvCxnSpPr>
          <p:cNvPr id="698" name="Google Shape;673;p24"/>
          <p:cNvCxnSpPr/>
          <p:nvPr/>
        </p:nvCxnSpPr>
        <p:spPr>
          <a:xfrm xmlns:a="http://schemas.openxmlformats.org/drawingml/2006/main">
            <a:off x="658368" y="1124712"/>
            <a:ext cx="1143000"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674" name="Google Shape;674;p24">
            <a:extLst xmlns:a="http://schemas.openxmlformats.org/drawingml/2006/main">
              <a:ext uri="{FF2B5EF4-FFF2-40B4-BE49-F238E27FC236}">
                <a16:creationId xmlns:a16="http://schemas.microsoft.com/office/drawing/2014/main" id="{4EF7208C-5F74-442D-9240-1DB68053FA98}"/>
              </a:ext>
            </a:extLst>
          </p:cNvPr>
          <p:cNvSpPr>
            <a:spLocks xmlns:a="http://schemas.openxmlformats.org/drawingml/2006/main" noGrp="1"/>
          </p:cNvSpPr>
          <p:nvPr/>
        </p:nvSpPr>
        <p:spPr>
          <a:xfrm xmlns:a="http://schemas.openxmlformats.org/drawingml/2006/main">
            <a:off x="1920240" y="1005840"/>
            <a:ext cx="8778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50"/>
              <a:buFont typeface="Arial"/>
              <a:buNone/>
            </a:pPr>
            <a:r>
              <a:rPr sz="1050">
                <a:solidFill>
                  <a:srgbClr val="B8B8B8"/>
                </a:solidFill>
                <a:latin typeface="Arial"/>
                <a:ea typeface="Arial"/>
                <a:cs typeface="Arial"/>
              </a:rPr>
              <a:t>One plan, one gap, one next step.</a:t>
            </a:r>
          </a:p>
        </p:txBody>
      </p:sp>
      <p:sp>
        <p:nvSpPr>
          <p:cNvPr id="675" name="Google Shape;675;p24">
            <a:extLst xmlns:a="http://schemas.openxmlformats.org/drawingml/2006/main">
              <a:ext uri="{FF2B5EF4-FFF2-40B4-BE49-F238E27FC236}">
                <a16:creationId xmlns:a16="http://schemas.microsoft.com/office/drawing/2014/main" id="{9F4017DC-316C-44F9-BE2E-5D452DE32EBB}"/>
              </a:ext>
            </a:extLst>
          </p:cNvPr>
          <p:cNvSpPr>
            <a:spLocks xmlns:a="http://schemas.openxmlformats.org/drawingml/2006/main" noGrp="1"/>
          </p:cNvSpPr>
          <p:nvPr/>
        </p:nvSpPr>
        <p:spPr>
          <a:xfrm xmlns:a="http://schemas.openxmlformats.org/drawingml/2006/main">
            <a:off x="960120" y="1417320"/>
            <a:ext cx="10149840" cy="2560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75" tIns="375" rIns="375" bIns="375" anchor="ctr">
            <a:noAutofit/>
          </a:bodyPr>
          <a:lstStyle xmlns:a="http://schemas.openxmlformats.org/drawingml/2006/main"/>
          <a:p xmlns:a="http://schemas.openxmlformats.org/drawingml/2006/main">
            <a:pPr marL="0" marR="0" indent="0" algn="l">
              <a:spcBef>
                <a:spcPts val="0"/>
              </a:spcBef>
              <a:spcAft>
                <a:spcPts val="0"/>
              </a:spcAft>
              <a:buNone/>
            </a:pPr>
            <a:r>
              <a:rPr sz="1800">
                <a:solidFill>
                  <a:srgbClr val="F2F2F2"/>
                </a:solidFill>
                <a:latin typeface="Arial"/>
                <a:ea typeface="Arial"/>
                <a:cs typeface="Arial"/>
              </a:rPr>
              <a:t>My research plan is strongest in the section about…</a:t>
            </a:r>
          </a:p>
          <a:p xmlns:a="http://schemas.openxmlformats.org/drawingml/2006/main">
            <a:pPr marL="0" marR="0" indent="0" algn="l">
              <a:spcBef>
                <a:spcPts val="0"/>
              </a:spcBef>
              <a:spcAft>
                <a:spcPts val="0"/>
              </a:spcAft>
              <a:buNone/>
            </a:pPr>
            <a:r>
              <a:rPr sz="1800">
                <a:solidFill>
                  <a:srgbClr val="F2F2F2"/>
                </a:solidFill>
                <a:latin typeface="Arial"/>
                <a:ea typeface="Arial"/>
                <a:cs typeface="Arial"/>
              </a:rPr>
              <a:t>The section that needs the most revision is…</a:t>
            </a:r>
          </a:p>
          <a:p xmlns:a="http://schemas.openxmlformats.org/drawingml/2006/main">
            <a:pPr marL="0" marR="0" indent="0" algn="l">
              <a:spcBef>
                <a:spcPts val="0"/>
              </a:spcBef>
              <a:spcAft>
                <a:spcPts val="0"/>
              </a:spcAft>
              <a:buNone/>
            </a:pPr>
            <a:r>
              <a:rPr sz="1800">
                <a:solidFill>
                  <a:srgbClr val="F2F2F2"/>
                </a:solidFill>
                <a:latin typeface="Arial"/>
                <a:ea typeface="Arial"/>
                <a:cs typeface="Arial"/>
              </a:rPr>
              <a:t>Before I can be approved for pilot testing, I need to…</a:t>
            </a:r>
          </a:p>
          <a:p xmlns:a="http://schemas.openxmlformats.org/drawingml/2006/main">
            <a:pPr marL="0" marR="0" indent="0" algn="l">
              <a:spcBef>
                <a:spcPts val="0"/>
              </a:spcBef>
              <a:spcAft>
                <a:spcPts val="0"/>
              </a:spcAft>
              <a:buNone/>
            </a:pPr>
            <a:r>
              <a:rPr sz="1800">
                <a:solidFill>
                  <a:srgbClr val="F2F2F2"/>
                </a:solidFill>
                <a:latin typeface="Arial"/>
                <a:ea typeface="Arial"/>
                <a:cs typeface="Arial"/>
              </a:rPr>
              <a:t>My next specific action is…</a:t>
            </a:r>
          </a:p>
        </p:txBody>
      </p:sp>
      <p:sp>
        <p:nvSpPr>
          <p:cNvPr id="676" name="Google Shape;676;p24">
            <a:extLst xmlns:a="http://schemas.openxmlformats.org/drawingml/2006/main">
              <a:ext uri="{FF2B5EF4-FFF2-40B4-BE49-F238E27FC236}">
                <a16:creationId xmlns:a16="http://schemas.microsoft.com/office/drawing/2014/main" id="{9E330A0C-32A6-4892-8772-6CB2636463C1}"/>
              </a:ext>
            </a:extLst>
          </p:cNvPr>
          <p:cNvSpPr>
            <a:spLocks xmlns:a="http://schemas.openxmlformats.org/drawingml/2006/main" noGrp="1"/>
          </p:cNvSpPr>
          <p:nvPr/>
        </p:nvSpPr>
        <p:spPr>
          <a:xfrm xmlns:a="http://schemas.openxmlformats.org/drawingml/2006/main">
            <a:off x="914400" y="4892040"/>
            <a:ext cx="10332720" cy="685800"/>
          </a:xfrm>
          <a:prstGeom xmlns:a="http://schemas.openxmlformats.org/drawingml/2006/main" prst="rect">
            <a:avLst/>
          </a:prstGeom>
          <a:solidFill xmlns:a="http://schemas.openxmlformats.org/drawingml/2006/main">
            <a:srgbClr val="0A0A0A"/>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77" name="Google Shape;677;p24">
            <a:extLst xmlns:a="http://schemas.openxmlformats.org/drawingml/2006/main">
              <a:ext uri="{FF2B5EF4-FFF2-40B4-BE49-F238E27FC236}">
                <a16:creationId xmlns:a16="http://schemas.microsoft.com/office/drawing/2014/main" id="{3A8DA18D-B736-404A-997C-65A4360F7FD7}"/>
              </a:ext>
            </a:extLst>
          </p:cNvPr>
          <p:cNvSpPr>
            <a:spLocks xmlns:a="http://schemas.openxmlformats.org/drawingml/2006/main" noGrp="1"/>
          </p:cNvSpPr>
          <p:nvPr/>
        </p:nvSpPr>
        <p:spPr>
          <a:xfrm xmlns:a="http://schemas.openxmlformats.org/drawingml/2006/main">
            <a:off x="1188720" y="5120640"/>
            <a:ext cx="9784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2F2F2"/>
              </a:buClr>
              <a:buSzPts val="1800"/>
              <a:buFont typeface="Play"/>
              <a:buNone/>
            </a:pPr>
            <a:r>
              <a:rPr sz="1800" b="1">
                <a:solidFill>
                  <a:srgbClr val="F2F2F2"/>
                </a:solidFill>
                <a:latin typeface="Play"/>
                <a:ea typeface="Play"/>
                <a:cs typeface="Play"/>
              </a:rPr>
              <a:t>Next deck: Pilot Testing and Scientific Documentation</a:t>
            </a:r>
          </a:p>
        </p:txBody>
      </p:sp>
    </p:spTree>
    <p:extLst>
      <p:ext uri="{BB962C8B-B14F-4D97-AF65-F5344CB8AC3E}">
        <p14:creationId xmlns:p14="http://schemas.microsoft.com/office/powerpoint/2010/main" val="133677650"/>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2026-07-16T15:42:00.9610000Z</dcterms:created>
  <dcterms:modified xsi:type="dcterms:W3CDTF">2026-07-16T15:42:00.9610000Z</dcterms:modified>
</coreProperties>
</file>