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62f77e9a22342f0" /><Relationship Type="http://schemas.openxmlformats.org/officeDocument/2006/relationships/extended-properties" Target="/docProps/app.xml" Id="R1b3ecb50ce974fb8" /><Relationship Type="http://schemas.openxmlformats.org/officeDocument/2006/relationships/officeDocument" Target="/ppt/presentation.xml" Id="Rfc3e80edac45465d"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2de1c8ffe6ad4088"/>
  </p:sldMasterIdLst>
  <p:notesMasterIdLst>
    <p:notesMasterId xmlns:r="http://schemas.openxmlformats.org/officeDocument/2006/relationships" r:id="Rc6d426d6afc844c0"/>
  </p:notesMasterIdLst>
  <p:sldIdLst>
    <p:sldId xmlns:r="http://schemas.openxmlformats.org/officeDocument/2006/relationships" id="256" r:id="R2e37415b87b9488e"/>
    <p:sldId xmlns:r="http://schemas.openxmlformats.org/officeDocument/2006/relationships" id="257" r:id="R985a30354f6a450e"/>
    <p:sldId xmlns:r="http://schemas.openxmlformats.org/officeDocument/2006/relationships" id="258" r:id="R0923773c58b64116"/>
    <p:sldId xmlns:r="http://schemas.openxmlformats.org/officeDocument/2006/relationships" id="259" r:id="Ra8a7a9e621de4dd1"/>
    <p:sldId xmlns:r="http://schemas.openxmlformats.org/officeDocument/2006/relationships" id="260" r:id="Rf86ea4b39ea34b21"/>
    <p:sldId xmlns:r="http://schemas.openxmlformats.org/officeDocument/2006/relationships" id="261" r:id="R23655dfaf21c4c26"/>
    <p:sldId xmlns:r="http://schemas.openxmlformats.org/officeDocument/2006/relationships" id="262" r:id="R8e1a99517aea43b5"/>
    <p:sldId xmlns:r="http://schemas.openxmlformats.org/officeDocument/2006/relationships" id="263" r:id="Reb248730bc6f4fba"/>
    <p:sldId xmlns:r="http://schemas.openxmlformats.org/officeDocument/2006/relationships" id="264" r:id="R140d7586b3b64533"/>
    <p:sldId xmlns:r="http://schemas.openxmlformats.org/officeDocument/2006/relationships" id="265" r:id="Rbbb6ac8cc2c84398"/>
    <p:sldId xmlns:r="http://schemas.openxmlformats.org/officeDocument/2006/relationships" id="266" r:id="R72d95f12f5e64faf"/>
    <p:sldId xmlns:r="http://schemas.openxmlformats.org/officeDocument/2006/relationships" id="267" r:id="R176cc92194764758"/>
    <p:sldId xmlns:r="http://schemas.openxmlformats.org/officeDocument/2006/relationships" id="268" r:id="R09e24b629216411b"/>
    <p:sldId xmlns:r="http://schemas.openxmlformats.org/officeDocument/2006/relationships" id="269" r:id="R296f7181c70a4d4e"/>
    <p:sldId xmlns:r="http://schemas.openxmlformats.org/officeDocument/2006/relationships" id="270" r:id="R17bc45beabf74556"/>
    <p:sldId xmlns:r="http://schemas.openxmlformats.org/officeDocument/2006/relationships" id="271" r:id="Rc0181f636df5485e"/>
    <p:sldId xmlns:r="http://schemas.openxmlformats.org/officeDocument/2006/relationships" id="272" r:id="R8448a6960baa484b"/>
  </p:sldIdLst>
  <p:sldSz cx="12192000" cy="6858000"/>
  <p:notesSz cx="6858000" cy="9144000"/>
  <p:embeddedFontLst>
    <p:embeddedFont>
      <p:font typeface="Play"/>
      <p:regular xmlns:r="http://schemas.openxmlformats.org/officeDocument/2006/relationships" r:id="Rac800ac6fb8242e8"/>
      <p:bold xmlns:r="http://schemas.openxmlformats.org/officeDocument/2006/relationships" r:id="R72963cd3a636411e"/>
    </p:embeddedFont>
  </p:embeddedFontLst>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31e780b77ae4c72" /><Relationship Type="http://schemas.openxmlformats.org/officeDocument/2006/relationships/slideMaster" Target="/ppt/slideMasters/slideMaster1.xml" Id="R2de1c8ffe6ad4088" /><Relationship Type="http://schemas.openxmlformats.org/officeDocument/2006/relationships/notesMaster" Target="/ppt/notesMasters/notesMaster1.xml" Id="Rc6d426d6afc844c0" /><Relationship Type="http://schemas.openxmlformats.org/officeDocument/2006/relationships/presProps" Target="/ppt/presProps.xml" Id="Re17f2ecc50974e62" /><Relationship Type="http://schemas.openxmlformats.org/officeDocument/2006/relationships/tableStyles" Target="/ppt/tableStyles.xml" Id="Re8bab8f8870f4e0a" /><Relationship Type="http://schemas.openxmlformats.org/officeDocument/2006/relationships/font" Target="/ppt/fonts/font.dat" Id="Rac800ac6fb8242e8" /><Relationship Type="http://schemas.openxmlformats.org/officeDocument/2006/relationships/font" Target="/ppt/fonts/font2.dat" Id="R72963cd3a636411e" /><Relationship Type="http://schemas.openxmlformats.org/officeDocument/2006/relationships/slide" Target="/ppt/slides/slide1.xml" Id="R2e37415b87b9488e" /><Relationship Type="http://schemas.openxmlformats.org/officeDocument/2006/relationships/slide" Target="/ppt/slides/slide2.xml" Id="R985a30354f6a450e" /><Relationship Type="http://schemas.openxmlformats.org/officeDocument/2006/relationships/slide" Target="/ppt/slides/slide3.xml" Id="R0923773c58b64116" /><Relationship Type="http://schemas.openxmlformats.org/officeDocument/2006/relationships/slide" Target="/ppt/slides/slide4.xml" Id="Ra8a7a9e621de4dd1" /><Relationship Type="http://schemas.openxmlformats.org/officeDocument/2006/relationships/slide" Target="/ppt/slides/slide5.xml" Id="Rf86ea4b39ea34b21" /><Relationship Type="http://schemas.openxmlformats.org/officeDocument/2006/relationships/slide" Target="/ppt/slides/slide6.xml" Id="R23655dfaf21c4c26" /><Relationship Type="http://schemas.openxmlformats.org/officeDocument/2006/relationships/slide" Target="/ppt/slides/slide7.xml" Id="R8e1a99517aea43b5" /><Relationship Type="http://schemas.openxmlformats.org/officeDocument/2006/relationships/slide" Target="/ppt/slides/slide8.xml" Id="Reb248730bc6f4fba" /><Relationship Type="http://schemas.openxmlformats.org/officeDocument/2006/relationships/slide" Target="/ppt/slides/slide9.xml" Id="R140d7586b3b64533" /><Relationship Type="http://schemas.openxmlformats.org/officeDocument/2006/relationships/slide" Target="/ppt/slides/slide10.xml" Id="Rbbb6ac8cc2c84398" /><Relationship Type="http://schemas.openxmlformats.org/officeDocument/2006/relationships/slide" Target="/ppt/slides/slide11.xml" Id="R72d95f12f5e64faf" /><Relationship Type="http://schemas.openxmlformats.org/officeDocument/2006/relationships/slide" Target="/ppt/slides/slide12.xml" Id="R176cc92194764758" /><Relationship Type="http://schemas.openxmlformats.org/officeDocument/2006/relationships/slide" Target="/ppt/slides/slide13.xml" Id="R09e24b629216411b" /><Relationship Type="http://schemas.openxmlformats.org/officeDocument/2006/relationships/slide" Target="/ppt/slides/slide14.xml" Id="R296f7181c70a4d4e" /><Relationship Type="http://schemas.openxmlformats.org/officeDocument/2006/relationships/slide" Target="/ppt/slides/slide15.xml" Id="R17bc45beabf74556" /><Relationship Type="http://schemas.openxmlformats.org/officeDocument/2006/relationships/slide" Target="/ppt/slides/slide16.xml" Id="Rc0181f636df5485e" /><Relationship Type="http://schemas.openxmlformats.org/officeDocument/2006/relationships/slide" Target="/ppt/slides/slide17.xml" Id="R8448a6960baa484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ad6a50b6bf4b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f72f81862a5483d" /><Relationship Type="http://schemas.openxmlformats.org/officeDocument/2006/relationships/notesMaster" Target="/ppt/notesMasters/notesMaster1.xml" Id="R7f06990701934ab6" /></Relationships>
</file>

<file path=ppt/notesSlides/_rels/notesSlide2.xml.rels>&#65279;<?xml version="1.0" encoding="utf-8"?><Relationships xmlns="http://schemas.openxmlformats.org/package/2006/relationships"><Relationship Type="http://schemas.openxmlformats.org/officeDocument/2006/relationships/slide" Target="/ppt/slides/slide2.xml" Id="Rf7e2f322d9f847ff" /><Relationship Type="http://schemas.openxmlformats.org/officeDocument/2006/relationships/notesMaster" Target="/ppt/notesMasters/notesMaster1.xml" Id="R46dceb296a26430b" /></Relationships>
</file>

<file path=ppt/notesSlides/_rels/notesSlide3.xml.rels>&#65279;<?xml version="1.0" encoding="utf-8"?><Relationships xmlns="http://schemas.openxmlformats.org/package/2006/relationships"><Relationship Type="http://schemas.openxmlformats.org/officeDocument/2006/relationships/slide" Target="/ppt/slides/slide3.xml" Id="R6beff0af54f1410a" /><Relationship Type="http://schemas.openxmlformats.org/officeDocument/2006/relationships/notesMaster" Target="/ppt/notesMasters/notesMaster1.xml" Id="R688b89fdd1b3497f" /></Relationships>
</file>

<file path=ppt/notesSlides/_rels/notesSlide4.xml.rels>&#65279;<?xml version="1.0" encoding="utf-8"?><Relationships xmlns="http://schemas.openxmlformats.org/package/2006/relationships"><Relationship Type="http://schemas.openxmlformats.org/officeDocument/2006/relationships/slide" Target="/ppt/slides/slide4.xml" Id="Rbcbfc03a2e224854" /><Relationship Type="http://schemas.openxmlformats.org/officeDocument/2006/relationships/notesMaster" Target="/ppt/notesMasters/notesMaster1.xml" Id="Rb49fa8be277b488c" /></Relationships>
</file>

<file path=ppt/notesSlides/_rels/notesSlide5.xml.rels>&#65279;<?xml version="1.0" encoding="utf-8"?><Relationships xmlns="http://schemas.openxmlformats.org/package/2006/relationships"><Relationship Type="http://schemas.openxmlformats.org/officeDocument/2006/relationships/slide" Target="/ppt/slides/slide5.xml" Id="R6806f30d49f04724" /><Relationship Type="http://schemas.openxmlformats.org/officeDocument/2006/relationships/notesMaster" Target="/ppt/notesMasters/notesMaster1.xml" Id="R0424fb93091a4fd7" /></Relationships>
</file>

<file path=ppt/notesSlides/_rels/notesSlide6.xml.rels>&#65279;<?xml version="1.0" encoding="utf-8"?><Relationships xmlns="http://schemas.openxmlformats.org/package/2006/relationships"><Relationship Type="http://schemas.openxmlformats.org/officeDocument/2006/relationships/slide" Target="/ppt/slides/slide6.xml" Id="Rbb2e88b3258c4712" /><Relationship Type="http://schemas.openxmlformats.org/officeDocument/2006/relationships/notesMaster" Target="/ppt/notesMasters/notesMaster1.xml" Id="R8afb651a6d884e45" /></Relationships>
</file>

<file path=ppt/notesSlides/_rels/notesSlide7.xml.rels>&#65279;<?xml version="1.0" encoding="utf-8"?><Relationships xmlns="http://schemas.openxmlformats.org/package/2006/relationships"><Relationship Type="http://schemas.openxmlformats.org/officeDocument/2006/relationships/slide" Target="/ppt/slides/slide7.xml" Id="R6c2ffc036dab442a" /><Relationship Type="http://schemas.openxmlformats.org/officeDocument/2006/relationships/notesMaster" Target="/ppt/notesMasters/notesMaster1.xml" Id="Ra157277f3c6a4f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6e92c9882da4014" /><Relationship Type="http://schemas.openxmlformats.org/officeDocument/2006/relationships/notesMaster" Target="/ppt/notesMasters/notesMaster1.xml" Id="Rffa7bcc364f640b2" /></Relationships>
</file>

<file path=ppt/notesSlides/_rels/notesSlide9.xml.rels>&#65279;<?xml version="1.0" encoding="utf-8"?><Relationships xmlns="http://schemas.openxmlformats.org/package/2006/relationships"><Relationship Type="http://schemas.openxmlformats.org/officeDocument/2006/relationships/slide" Target="/ppt/slides/slide9.xml" Id="R289a5f68dd4a403f" /><Relationship Type="http://schemas.openxmlformats.org/officeDocument/2006/relationships/notesMaster" Target="/ppt/notesMasters/notesMaster1.xml" Id="R8433c7151f0440c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be6ac7824154cd1" /><Relationship Type="http://schemas.openxmlformats.org/officeDocument/2006/relationships/notesMaster" Target="/ppt/notesMasters/notesMaster1.xml" Id="Rf48dc463d3784ab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5f5a9126564320" /><Relationship Type="http://schemas.openxmlformats.org/officeDocument/2006/relationships/notesMaster" Target="/ppt/notesMasters/notesMaster1.xml" Id="Rcf0d61bf33284a5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e860a324a5841d3" /><Relationship Type="http://schemas.openxmlformats.org/officeDocument/2006/relationships/notesMaster" Target="/ppt/notesMasters/notesMaster1.xml" Id="Rcc822a764a9a432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c7d1338366e45f7" /><Relationship Type="http://schemas.openxmlformats.org/officeDocument/2006/relationships/notesMaster" Target="/ppt/notesMasters/notesMaster1.xml" Id="Rc914091c32a5496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62980936b3c48fa" /><Relationship Type="http://schemas.openxmlformats.org/officeDocument/2006/relationships/notesMaster" Target="/ppt/notesMasters/notesMaster1.xml" Id="R9cb1f6951fa6427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bbad1004c8f4735" /><Relationship Type="http://schemas.openxmlformats.org/officeDocument/2006/relationships/notesMaster" Target="/ppt/notesMasters/notesMaster1.xml" Id="R32e9f0df6c604aa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9e910247a35497c" /><Relationship Type="http://schemas.openxmlformats.org/officeDocument/2006/relationships/notesMaster" Target="/ppt/notesMasters/notesMaster1.xml" Id="Rc6cf9ad1241e466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cc2cd200b084bfb" /><Relationship Type="http://schemas.openxmlformats.org/officeDocument/2006/relationships/notesMaster" Target="/ppt/notesMasters/notesMaster1.xml" Id="Ra7227a3681634b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1, Week 1</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PAIRED PRIMARY DECK</a:t>
            </a:r>
          </a:p>
          <a:p xmlns:a="http://schemas.openxmlformats.org/drawingml/2006/main">
            <a:pPr marL="0" indent="0" algn="l">
              <a:spcBef>
                <a:spcPts val="0"/>
              </a:spcBef>
              <a:spcAft>
                <a:spcPts val="0"/>
              </a:spcAft>
              <a:buNone/>
            </a:pPr>
            <a:r>
              <a:t>Deck 3: Research Ethics, Safety, and Integrity</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1 MATERIALS</a:t>
            </a:r>
          </a:p>
          <a:p xmlns:a="http://schemas.openxmlformats.org/drawingml/2006/main">
            <a:pPr marL="0" indent="0" algn="l">
              <a:spcBef>
                <a:spcPts val="0"/>
              </a:spcBef>
              <a:spcAft>
                <a:spcPts val="0"/>
              </a:spcAft>
              <a:buNone/>
            </a:pPr>
            <a:r>
              <a:t>- Unit 1 Student Handouts 1-4</a:t>
            </a:r>
          </a:p>
          <a:p xmlns:a="http://schemas.openxmlformats.org/drawingml/2006/main">
            <a:pPr marL="0" indent="0" algn="l">
              <a:spcBef>
                <a:spcPts val="0"/>
              </a:spcBef>
              <a:spcAft>
                <a:spcPts val="0"/>
              </a:spcAft>
              <a:buNone/>
            </a:pPr>
            <a:r>
              <a:t>- Unit 1 Appendices A-C</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OPTIONAL / TEACHER REFERENCE FOR WEEK 1</a:t>
            </a:r>
          </a:p>
          <a:p xmlns:a="http://schemas.openxmlformats.org/drawingml/2006/main">
            <a:pPr marL="0" indent="0" algn="l">
              <a:spcBef>
                <a:spcPts val="0"/>
              </a:spcBef>
              <a:spcAft>
                <a:spcPts val="0"/>
              </a:spcAft>
              <a:buNone/>
            </a:pPr>
            <a:r>
              <a:t>- Unit 1 Appendix I: Optional Project Card Sorting Activity</a:t>
            </a:r>
          </a:p>
          <a:p xmlns:a="http://schemas.openxmlformats.org/drawingml/2006/main">
            <a:pPr marL="0" indent="0" algn="l">
              <a:spcBef>
                <a:spcPts val="0"/>
              </a:spcBef>
              <a:spcAft>
                <a:spcPts val="0"/>
              </a:spcAft>
              <a:buNone/>
            </a:pPr>
            <a:r>
              <a:t>- Unit 1 Appendix J: Optional Initial Parent or Guardian Communication</a:t>
            </a:r>
          </a:p>
          <a:p xmlns:a="http://schemas.openxmlformats.org/drawingml/2006/main">
            <a:pPr marL="0" indent="0" algn="l">
              <a:spcBef>
                <a:spcPts val="0"/>
              </a:spcBef>
              <a:spcAft>
                <a:spcPts val="0"/>
              </a:spcAft>
              <a:buNone/>
            </a:pPr>
            <a:r>
              <a:t>- Unit 1 Appendix L: Differentiation and Implementation Notes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The implementation calendar is the source of truth for week, deck, and print mappings. This deck has no separately scheduled revisit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Frame this as orientation to a research culture. Ask students to listen for what feels exciting and what feels intimidating.</a:t>
            </a:r>
            <a:br/>
            <a:br/>
            <a:r>
              <a:t>Resource alignment:</a:t>
            </a:r>
            <a:br/>
            <a:r>
              <a:t>Use Unit 1 Student Handout 1: STARLAB Course Launch Reflection, especially Part A: Initial Reactions. Reference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Do not imply that classroom labs are bad. Emphasize that they serve a different purpose. Student activity: ask students to name one lab they have done and identify whether the outcome was already known.</a:t>
            </a:r>
            <a:br/>
            <a:br/>
            <a:r>
              <a:t>Resource alignment:</a:t>
            </a:r>
            <a:br/>
            <a:r>
              <a:t>Reference Unit 1 Appendix A: What Counts as Research? Use this as students compare traditional labs, demonstrations, engineering builds, and authentic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Connect to syllabus units. Stress that revisions are expected and legitimate. Ask students to identify which stage they think will be easiest and hardest, then record it in the launch reflection.</a:t>
            </a:r>
            <a:br/>
            <a:br/>
            <a:r>
              <a:t>Resource alignment:</a:t>
            </a:r>
            <a:br/>
            <a:r>
              <a:t>Use Unit 1 Student Handout 1: STARLAB Course Launch Reflection. Reference Unit 1 Appendix B: STARLAB Classroom Norms, especially uncertainty, documentation, and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a conceptual anchor. Repeat “What does the evidence allow me to claim?” throughout the course. Student-facing prompt: Which of these questions do you usually ask in school? Which will STARLAB require?</a:t>
            </a:r>
            <a:br/>
            <a:br/>
            <a:r>
              <a:t>Resource alignment:</a:t>
            </a:r>
            <a:br/>
            <a:r>
              <a:t>Use with Unit 1 Student Handout 1: STARLAB Course Launch Reflection. Connect to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examples from your own school if available. Avoid suggesting that every student must do a wet lab experiment.</a:t>
            </a:r>
            <a:br/>
            <a:br/>
            <a:r>
              <a:t>Resource alignment:</a:t>
            </a:r>
            <a:br/>
            <a:r>
              <a:t>Use Unit 1 Student Handout 3: Research Interest Inventory, especially Part D: Research Fields. Reference Unit 1 Appendix C: Research Fields and Topic Bank.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These four markers become recurring course language. Ask students to pick the marker that feels most challenging and explain why.</a:t>
            </a:r>
            <a:br/>
            <a:br/>
            <a:r>
              <a:t>Resource alignment:</a:t>
            </a:r>
            <a:br/>
            <a:r>
              <a:t>Reference Unit 1 Appendix A: What Counts as Research? and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Circulate and listen for misconceptions: “research means Googling,” “research means proving my idea,” or “research must be in a lab.”</a:t>
            </a:r>
            <a:br/>
            <a:br/>
            <a:r>
              <a:t>Resource alignment:</a:t>
            </a:r>
            <a:br/>
            <a:r>
              <a:t>Use Unit 1 Student Handout 1: STARLAB Course Launch Reflection, Part A. Reference Unit 1 Appendix A: What Counts as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Adapt example to your local safety constraints. The point is not this exact question; it is the narrowing move. Invite students to identify what became more measurable.</a:t>
            </a:r>
            <a:br/>
            <a:br/>
            <a:r>
              <a:t>Resource alignment:</a:t>
            </a:r>
            <a:br/>
            <a:r>
              <a:t>Reference Unit 1 Appendix A: What Counts as Research? and Unit 1 Appendix C: Research Fields and Topic Bank. This prepares students for Unit 1 Student Handout 3: Research Interest Inventory and Deck 2: From Topic to Research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Normalize failure early. This reduces anxiety later in Unit 3. Student prompt: “What is one type of failure that could actually help a project?”</a:t>
            </a:r>
            <a:br/>
            <a:br/>
            <a:r>
              <a:t>Resource alignment:</a:t>
            </a:r>
            <a:br/>
            <a:r>
              <a:t>Use with Unit 1 Appendix B: STARLAB Classroom Norms. Connects later to Unit 3 pilot testing, troubleshooting, and research journal expectations.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foreshadows Unit 3. Do not teach the full journal system here; simply establish that careful notes are part of the identity of a researcher.</a:t>
            </a:r>
            <a:br/>
            <a:br/>
            <a:r>
              <a:t>Resource alignment:</a:t>
            </a:r>
            <a:br/>
            <a:r>
              <a:t>Use with Unit 1 Appendix B: STARLAB Classroom Norms. Preview Unit 3 Student Handout 2: Research Journal Setup and Unit 3 Student Handout 3: Daily Research Journal Entry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Keep this firm but not fear-based. Full safety and ethics instruction comes later.</a:t>
            </a:r>
            <a:br/>
            <a:br/>
            <a:r>
              <a:t>Resource alignment:</a:t>
            </a:r>
            <a:br/>
            <a:r>
              <a:t>Use Unit 1 Student Handout 4: Research Ethics and Integrity Agreement. This also previews Deck 3: Research Ethics, Safety, and Integrity.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Give pairs 6–10 sample project cards. Debrief by asking which ideas were interesting but unsafe, vague, or unmeasurable.</a:t>
            </a:r>
            <a:br/>
            <a:br/>
            <a:r>
              <a:t>Resource alignment:</a:t>
            </a:r>
            <a:br/>
            <a:r>
              <a:t>Use Unit 1 Appendix I: Optional Project Card Sorting Activity. Also reference Unit 1 Appendix A: What Counts as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Lower the pressure. Students often feel they must choose their final topic immediately. Clarify that Unit 1 expands possibilities before Unit 2 narrows them.</a:t>
            </a:r>
            <a:br/>
            <a:br/>
            <a:r>
              <a:t>Resource alignment:</a:t>
            </a:r>
            <a:br/>
            <a:r>
              <a:t>Use Unit 1 Student Handout 1: STARLAB Course Launch Reflection, Unit 1 Student Handout 2: Science Identity and Skills Inventory, and Unit 1 Student Handout 3: Research Interest Inventory.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Invite students to recognize nontraditional strengths. This helps students who do not identify as “science kids” see a place in STARLAB.</a:t>
            </a:r>
            <a:br/>
            <a:br/>
            <a:r>
              <a:t>Resource alignment:</a:t>
            </a:r>
            <a:br/>
            <a:r>
              <a:t>Use Unit 1 Student Handout 2: Science Identity and Skills Inventory. Reference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Collect as formative data or have students keep it in the packet. Look for whether students understand uncertainty, evidence, revision, and documentation. Close with a clear assignment: complete the Research Interest Inventory and bring top five possible areas to the next class.</a:t>
            </a:r>
            <a:br/>
            <a:br/>
            <a:r>
              <a:t>Resource alignment:</a:t>
            </a:r>
            <a:br/>
            <a:r>
              <a:t>Use Unit 1 Student Handout 1: STARLAB Course Launch Reflection and Unit 1 Student Handout 3: Research Interest Inventory. Next deck connection: Deck 2: From Topic to Research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Close with a clear assignment. Do not ask students to finalize a project yet. The next deck addresses moving from topic to research question.</a:t>
            </a:r>
            <a:br/>
            <a:br/>
            <a:r>
              <a:t>Resource alignment:</a:t>
            </a:r>
            <a:br/>
            <a:r>
              <a:t>Use Unit 1 Student Handout 3: Research Interest Inventory. Next deck connection: Deck 2: From Topic to Research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b889d8011054228"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d142d9618c74db6" /><Relationship Type="http://schemas.openxmlformats.org/officeDocument/2006/relationships/slideLayout" Target="/ppt/slideLayouts/slideLayout1.xml" Id="R31431739b53f4ba7"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31431739b53f4ba7"/>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e2e32a97dec4ac9" /><Relationship Type="http://schemas.openxmlformats.org/officeDocument/2006/relationships/image" Target="/ppt/media/image.png" Id="R8005d5f380e54aa6" /><Relationship Type="http://schemas.openxmlformats.org/officeDocument/2006/relationships/notesSlide" Target="/ppt/notesSlides/notesSlide1.xml" Id="R2b75f86e98f948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ad354082efc4986" /><Relationship Type="http://schemas.openxmlformats.org/officeDocument/2006/relationships/notesSlide" Target="/ppt/notesSlides/notesSlide2.xml" Id="R83717330449a440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85cc53022d040ea" /><Relationship Type="http://schemas.openxmlformats.org/officeDocument/2006/relationships/notesSlide" Target="/ppt/notesSlides/notesSlide3.xml" Id="R46c9d8ea73a3476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180a65109d94939" /><Relationship Type="http://schemas.openxmlformats.org/officeDocument/2006/relationships/notesSlide" Target="/ppt/notesSlides/notesSlide4.xml" Id="R1afe5024bdcd4e3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82b7908b00d4d54" /><Relationship Type="http://schemas.openxmlformats.org/officeDocument/2006/relationships/notesSlide" Target="/ppt/notesSlides/notesSlide5.xml" Id="R5d49394cf54b403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bfd7daa397a46d7" /><Relationship Type="http://schemas.openxmlformats.org/officeDocument/2006/relationships/notesSlide" Target="/ppt/notesSlides/notesSlide6.xml" Id="R847e11b51b96442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c1e375495054b5d" /><Relationship Type="http://schemas.openxmlformats.org/officeDocument/2006/relationships/notesSlide" Target="/ppt/notesSlides/notesSlide7.xml" Id="R33f0ab07cdd24e3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17f19e8387b4e20" /><Relationship Type="http://schemas.openxmlformats.org/officeDocument/2006/relationships/notesSlide" Target="/ppt/notesSlides/notesSlide8.xml" Id="Re43e2845dc2c476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d4387085d4e4a54" /><Relationship Type="http://schemas.openxmlformats.org/officeDocument/2006/relationships/notesSlide" Target="/ppt/notesSlides/notesSlide9.xml" Id="Re353005b67804c3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6094e419aa444c8" /><Relationship Type="http://schemas.openxmlformats.org/officeDocument/2006/relationships/notesSlide" Target="/ppt/notesSlides/notesSlide10.xml" Id="R8a554770108c428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5d6bcc1aabb4141" /><Relationship Type="http://schemas.openxmlformats.org/officeDocument/2006/relationships/notesSlide" Target="/ppt/notesSlides/notesSlide11.xml" Id="R12b205f3851149f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eeb2985db5645df" /><Relationship Type="http://schemas.openxmlformats.org/officeDocument/2006/relationships/notesSlide" Target="/ppt/notesSlides/notesSlide12.xml" Id="Re1441b472ffc436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8c009659b6f4ebf" /><Relationship Type="http://schemas.openxmlformats.org/officeDocument/2006/relationships/notesSlide" Target="/ppt/notesSlides/notesSlide13.xml" Id="Rd86129c11ef345c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eb578b018794906" /><Relationship Type="http://schemas.openxmlformats.org/officeDocument/2006/relationships/notesSlide" Target="/ppt/notesSlides/notesSlide14.xml" Id="R7adb2f6d2f7b465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08782042c9d403c" /><Relationship Type="http://schemas.openxmlformats.org/officeDocument/2006/relationships/notesSlide" Target="/ppt/notesSlides/notesSlide15.xml" Id="R0814d485d3db457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9721a26b3f24908" /><Relationship Type="http://schemas.openxmlformats.org/officeDocument/2006/relationships/notesSlide" Target="/ppt/notesSlides/notesSlide16.xml" Id="R901c2cedf9a74a2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6182144ac9c4ee4" /><Relationship Type="http://schemas.openxmlformats.org/officeDocument/2006/relationships/notesSlide" Target="/ppt/notesSlides/notesSlide17.xml" Id="R314b8cb50d3b44a9"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03024C02-1ED6-4272-B5BC-73FFDDDD4EF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4AF1C69A-EA00-4DAD-AF4E-5FBC9280B5C7}"/>
              </a:ext>
            </a:extLst>
          </p:cNvPr>
          <p:cNvSpPr>
            <a:spLocks xmlns:a="http://schemas.openxmlformats.org/drawingml/2006/main" noGrp="1"/>
          </p:cNvSpPr>
          <p:nvPr/>
        </p:nvSpPr>
        <p:spPr>
          <a:xfrm xmlns:a="http://schemas.openxmlformats.org/drawingml/2006/main">
            <a:off x="0" y="219456"/>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40EE87F8-A13B-4FD6-9EA7-99A1AFAD9E49}"/>
              </a:ext>
            </a:extLst>
          </p:cNvPr>
          <p:cNvSpPr>
            <a:spLocks xmlns:a="http://schemas.openxmlformats.org/drawingml/2006/main" noGrp="1"/>
          </p:cNvSpPr>
          <p:nvPr/>
        </p:nvSpPr>
        <p:spPr>
          <a:xfrm xmlns:a="http://schemas.openxmlformats.org/drawingml/2006/main">
            <a:off x="0" y="6565392"/>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7" name="Google Shape;19;p3"/>
          <p:cNvPicPr>
            <a:picLocks xmlns:a="http://schemas.openxmlformats.org/drawingml/2006/main" noChangeAspect="1"/>
          </p:cNvPicPr>
          <p:nvPr/>
        </p:nvPicPr>
        <p:blipFill rotWithShape="1">
          <a:blip xmlns:r="http://schemas.openxmlformats.org/officeDocument/2006/relationships" xmlns:a="http://schemas.openxmlformats.org/drawingml/2006/main" r:embed="R8005d5f380e54aa6">
            <a:alphaModFix/>
          </a:blip>
          <a:srcRect xmlns:a="http://schemas.openxmlformats.org/drawingml/2006/main" l="0" t="0" r="0" b="0"/>
          <a:stretch xmlns:a="http://schemas.openxmlformats.org/drawingml/2006/main"/>
        </p:blipFill>
        <p:spPr>
          <a:xfrm xmlns:a="http://schemas.openxmlformats.org/drawingml/2006/main">
            <a:off x="1572768" y="512064"/>
            <a:ext cx="9052560" cy="4224528"/>
          </a:xfrm>
          <a:prstGeom xmlns:a="http://schemas.openxmlformats.org/drawingml/2006/main" prst="rect">
            <a:avLst/>
          </a:prstGeom>
          <a:ln xmlns:a="http://schemas.openxmlformats.org/drawingml/2006/main">
            <a:noFill/>
          </a:ln>
        </p:spPr>
      </p:pic>
      <p:sp>
        <p:nvSpPr>
          <p:cNvPr id="20" name="Google Shape;20;p3">
            <a:extLst xmlns:a="http://schemas.openxmlformats.org/drawingml/2006/main">
              <a:ext uri="{FF2B5EF4-FFF2-40B4-BE49-F238E27FC236}">
                <a16:creationId xmlns:a16="http://schemas.microsoft.com/office/drawing/2014/main" id="{CE54F021-F832-430B-BBB1-35A1C565B490}"/>
              </a:ext>
            </a:extLst>
          </p:cNvPr>
          <p:cNvSpPr>
            <a:spLocks xmlns:a="http://schemas.openxmlformats.org/drawingml/2006/main" noGrp="1"/>
          </p:cNvSpPr>
          <p:nvPr/>
        </p:nvSpPr>
        <p:spPr>
          <a:xfrm xmlns:a="http://schemas.openxmlformats.org/drawingml/2006/main">
            <a:off x="960120" y="5074920"/>
            <a:ext cx="10287000" cy="749808"/>
          </a:xfrm>
          <a:prstGeom xmlns:a="http://schemas.openxmlformats.org/drawingml/2006/main" prst="rect">
            <a:avLst/>
          </a:prstGeom>
          <a:solidFill xmlns:a="http://schemas.openxmlformats.org/drawingml/2006/main">
            <a:srgbClr val="050505">
              <a:alpha val="0"/>
            </a:srgbClr>
          </a:solidFill>
          <a:ln xmlns:a="http://schemas.openxmlformats.org/drawingml/2006/main" w="15225" cmpd="sng">
            <a:solidFill>
              <a:srgbClr val="B8B8B8">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2ADAA41D-EEAA-4F4B-945F-05767888A623}"/>
              </a:ext>
            </a:extLst>
          </p:cNvPr>
          <p:cNvSpPr>
            <a:spLocks xmlns:a="http://schemas.openxmlformats.org/drawingml/2006/main" noGrp="1"/>
          </p:cNvSpPr>
          <p:nvPr/>
        </p:nvSpPr>
        <p:spPr>
          <a:xfrm xmlns:a="http://schemas.openxmlformats.org/drawingml/2006/main">
            <a:off x="1024128" y="5212080"/>
            <a:ext cx="1014984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500"/>
              <a:buFont typeface="Play"/>
              <a:buNone/>
            </a:pPr>
            <a:r>
              <a:rPr sz="2500" b="1" i="0" u="none" cap="none">
                <a:solidFill>
                  <a:srgbClr val="FFFFFF"/>
                </a:solidFill>
                <a:latin typeface="Play"/>
                <a:ea typeface="Play"/>
                <a:cs typeface="Play"/>
              </a:rPr>
              <a:t>WHAT IS AUTHENTIC RESEARCH?</a:t>
            </a:r>
          </a:p>
        </p:txBody>
      </p:sp>
      <p:sp>
        <p:nvSpPr>
          <p:cNvPr id="22" name="Google Shape;22;p3">
            <a:extLst xmlns:a="http://schemas.openxmlformats.org/drawingml/2006/main">
              <a:ext uri="{FF2B5EF4-FFF2-40B4-BE49-F238E27FC236}">
                <a16:creationId xmlns:a16="http://schemas.microsoft.com/office/drawing/2014/main" id="{D16099B4-5776-41E7-8C5A-C9800E4C9667}"/>
              </a:ext>
            </a:extLst>
          </p:cNvPr>
          <p:cNvSpPr>
            <a:spLocks xmlns:a="http://schemas.openxmlformats.org/drawingml/2006/main" noGrp="1"/>
          </p:cNvSpPr>
          <p:nvPr/>
        </p:nvSpPr>
        <p:spPr>
          <a:xfrm xmlns:a="http://schemas.openxmlformats.org/drawingml/2006/main">
            <a:off x="1024128" y="5916168"/>
            <a:ext cx="7132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STARLAB Deck 01  •  Unit 1 Course Launch</a:t>
            </a:r>
          </a:p>
        </p:txBody>
      </p:sp>
    </p:spTree>
    <p:extLst>
      <p:ext uri="{BB962C8B-B14F-4D97-AF65-F5344CB8AC3E}">
        <p14:creationId xmlns:p14="http://schemas.microsoft.com/office/powerpoint/2010/main" val="293498086"/>
      </p:ext>
    </p:extLst>
  </p:cSld>
</p:sld>
</file>

<file path=ppt/slides/slide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 name="Google Shape;28;p4">
            <a:extLst xmlns:a="http://schemas.openxmlformats.org/drawingml/2006/main">
              <a:ext uri="{FF2B5EF4-FFF2-40B4-BE49-F238E27FC236}">
                <a16:creationId xmlns:a16="http://schemas.microsoft.com/office/drawing/2014/main" id="{67407387-E056-4BE8-9669-F50D84FA84B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 name="Google Shape;29;p4">
            <a:extLst xmlns:a="http://schemas.openxmlformats.org/drawingml/2006/main">
              <a:ext uri="{FF2B5EF4-FFF2-40B4-BE49-F238E27FC236}">
                <a16:creationId xmlns:a16="http://schemas.microsoft.com/office/drawing/2014/main" id="{E2FD2174-EF69-4998-A79A-14DEA9E259C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 name="Google Shape;30;p4">
            <a:extLst xmlns:a="http://schemas.openxmlformats.org/drawingml/2006/main">
              <a:ext uri="{FF2B5EF4-FFF2-40B4-BE49-F238E27FC236}">
                <a16:creationId xmlns:a16="http://schemas.microsoft.com/office/drawing/2014/main" id="{DE892413-C57B-4208-A3BE-F9BBC6A30A6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4">
            <a:extLst xmlns:a="http://schemas.openxmlformats.org/drawingml/2006/main">
              <a:ext uri="{FF2B5EF4-FFF2-40B4-BE49-F238E27FC236}">
                <a16:creationId xmlns:a16="http://schemas.microsoft.com/office/drawing/2014/main" id="{32B57199-871B-4B9B-8AC0-D1FCA438656D}"/>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COURSE LAUNCH</a:t>
            </a:r>
          </a:p>
        </p:txBody>
      </p:sp>
      <p:sp>
        <p:nvSpPr>
          <p:cNvPr id="32" name="Google Shape;32;p4">
            <a:extLst xmlns:a="http://schemas.openxmlformats.org/drawingml/2006/main">
              <a:ext uri="{FF2B5EF4-FFF2-40B4-BE49-F238E27FC236}">
                <a16:creationId xmlns:a16="http://schemas.microsoft.com/office/drawing/2014/main" id="{E77655EB-B970-4787-AC35-DB61E65B885C}"/>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33" name="Google Shape;33;p4">
            <a:extLst xmlns:a="http://schemas.openxmlformats.org/drawingml/2006/main">
              <a:ext uri="{FF2B5EF4-FFF2-40B4-BE49-F238E27FC236}">
                <a16:creationId xmlns:a16="http://schemas.microsoft.com/office/drawing/2014/main" id="{E474B9CA-E3B6-4EDE-AC73-7305C6464F2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01</a:t>
            </a:r>
          </a:p>
        </p:txBody>
      </p:sp>
      <p:sp>
        <p:nvSpPr>
          <p:cNvPr id="34" name="Google Shape;34;p4">
            <a:extLst xmlns:a="http://schemas.openxmlformats.org/drawingml/2006/main">
              <a:ext uri="{FF2B5EF4-FFF2-40B4-BE49-F238E27FC236}">
                <a16:creationId xmlns:a16="http://schemas.microsoft.com/office/drawing/2014/main" id="{BE7EC919-3B2A-4AF0-A6FA-47B3B8B73EC7}"/>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Today’s Launch Goal</a:t>
            </a:r>
          </a:p>
        </p:txBody>
      </p:sp>
      <p:sp>
        <p:nvSpPr>
          <p:cNvPr id="35" name="Google Shape;35;p4">
            <a:extLst xmlns:a="http://schemas.openxmlformats.org/drawingml/2006/main">
              <a:ext uri="{FF2B5EF4-FFF2-40B4-BE49-F238E27FC236}">
                <a16:creationId xmlns:a16="http://schemas.microsoft.com/office/drawing/2014/main" id="{314FBA95-3133-40DF-8608-20E501196BB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Understand how STARLAB is different from a traditional science class.</a:t>
            </a:r>
          </a:p>
        </p:txBody>
      </p:sp>
      <p:cxnSp>
        <p:nvCxnSpPr>
          <p:cNvPr id="64" name="Google Shape;36;p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7" name="Google Shape;37;p4">
            <a:extLst xmlns:a="http://schemas.openxmlformats.org/drawingml/2006/main">
              <a:ext uri="{FF2B5EF4-FFF2-40B4-BE49-F238E27FC236}">
                <a16:creationId xmlns:a16="http://schemas.microsoft.com/office/drawing/2014/main" id="{A207B695-947B-46BD-A0EB-0495B4DB2FA2}"/>
              </a:ext>
            </a:extLst>
          </p:cNvPr>
          <p:cNvSpPr>
            <a:spLocks xmlns:a="http://schemas.openxmlformats.org/drawingml/2006/main" noGrp="1"/>
          </p:cNvSpPr>
          <p:nvPr/>
        </p:nvSpPr>
        <p:spPr>
          <a:xfrm xmlns:a="http://schemas.openxmlformats.org/drawingml/2006/main">
            <a:off x="1005840" y="1920240"/>
            <a:ext cx="9875520" cy="3200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400" b="0" i="0" u="none" cap="none">
                <a:solidFill>
                  <a:srgbClr val="FFFFFF"/>
                </a:solidFill>
                <a:latin typeface="Arial"/>
                <a:ea typeface="Arial"/>
                <a:cs typeface="Arial"/>
              </a:rPr>
              <a:t>Define authentic research in student-friendly language</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Preview the STARLAB yearlong arc</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Name the habits students will practice all year</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Begin the Course Launch Reflection handout</a:t>
            </a:r>
          </a:p>
        </p:txBody>
      </p:sp>
    </p:spTree>
    <p:extLst>
      <p:ext uri="{BB962C8B-B14F-4D97-AF65-F5344CB8AC3E}">
        <p14:creationId xmlns:p14="http://schemas.microsoft.com/office/powerpoint/2010/main" val="278894871"/>
      </p:ext>
    </p:extLst>
  </p:cSld>
</p:sld>
</file>

<file path=ppt/slides/slide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3" name="Google Shape;43;p5">
            <a:extLst xmlns:a="http://schemas.openxmlformats.org/drawingml/2006/main">
              <a:ext uri="{FF2B5EF4-FFF2-40B4-BE49-F238E27FC236}">
                <a16:creationId xmlns:a16="http://schemas.microsoft.com/office/drawing/2014/main" id="{8E1A91D0-2CF1-4977-B1BE-EF82F29B883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 name="Google Shape;44;p5">
            <a:extLst xmlns:a="http://schemas.openxmlformats.org/drawingml/2006/main">
              <a:ext uri="{FF2B5EF4-FFF2-40B4-BE49-F238E27FC236}">
                <a16:creationId xmlns:a16="http://schemas.microsoft.com/office/drawing/2014/main" id="{B2C4A842-EFFE-4873-BE88-631490102E5F}"/>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5">
            <a:extLst xmlns:a="http://schemas.openxmlformats.org/drawingml/2006/main">
              <a:ext uri="{FF2B5EF4-FFF2-40B4-BE49-F238E27FC236}">
                <a16:creationId xmlns:a16="http://schemas.microsoft.com/office/drawing/2014/main" id="{4465AA15-82B9-4175-A8ED-B10F82583EE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 name="Google Shape;46;p5">
            <a:extLst xmlns:a="http://schemas.openxmlformats.org/drawingml/2006/main">
              <a:ext uri="{FF2B5EF4-FFF2-40B4-BE49-F238E27FC236}">
                <a16:creationId xmlns:a16="http://schemas.microsoft.com/office/drawing/2014/main" id="{CFE5443B-8517-4B25-A8E4-96540454DE2A}"/>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47" name="Google Shape;47;p5">
            <a:extLst xmlns:a="http://schemas.openxmlformats.org/drawingml/2006/main">
              <a:ext uri="{FF2B5EF4-FFF2-40B4-BE49-F238E27FC236}">
                <a16:creationId xmlns:a16="http://schemas.microsoft.com/office/drawing/2014/main" id="{AFE07CA7-B05A-45F1-AA20-0BFF3D5243BF}"/>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48" name="Google Shape;48;p5">
            <a:extLst xmlns:a="http://schemas.openxmlformats.org/drawingml/2006/main">
              <a:ext uri="{FF2B5EF4-FFF2-40B4-BE49-F238E27FC236}">
                <a16:creationId xmlns:a16="http://schemas.microsoft.com/office/drawing/2014/main" id="{B55ACCB0-469F-4614-9AF1-8DFDA6E3A0E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49" name="Google Shape;49;p5">
            <a:extLst xmlns:a="http://schemas.openxmlformats.org/drawingml/2006/main">
              <a:ext uri="{FF2B5EF4-FFF2-40B4-BE49-F238E27FC236}">
                <a16:creationId xmlns:a16="http://schemas.microsoft.com/office/drawing/2014/main" id="{FC00B324-FEEF-45EF-ADCC-1C5214AA5BEA}"/>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STARLAB Is Not a Recipe Lab</a:t>
            </a:r>
          </a:p>
        </p:txBody>
      </p:sp>
      <p:sp>
        <p:nvSpPr>
          <p:cNvPr id="50" name="Google Shape;50;p5">
            <a:extLst xmlns:a="http://schemas.openxmlformats.org/drawingml/2006/main">
              <a:ext uri="{FF2B5EF4-FFF2-40B4-BE49-F238E27FC236}">
                <a16:creationId xmlns:a16="http://schemas.microsoft.com/office/drawing/2014/main" id="{AFE73F9A-BC77-4465-A4EB-6F3885549D6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In authentic research, the answer is not waiting in the teacher’s answer key.</a:t>
            </a:r>
          </a:p>
        </p:txBody>
      </p:sp>
      <p:cxnSp>
        <p:nvCxnSpPr>
          <p:cNvPr id="84" name="Google Shape;51;p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52" name="Google Shape;52;p5">
            <a:extLst xmlns:a="http://schemas.openxmlformats.org/drawingml/2006/main">
              <a:ext uri="{FF2B5EF4-FFF2-40B4-BE49-F238E27FC236}">
                <a16:creationId xmlns:a16="http://schemas.microsoft.com/office/drawing/2014/main" id="{869973A0-649A-417C-AF60-10C1BDD58342}"/>
              </a:ext>
            </a:extLst>
          </p:cNvPr>
          <p:cNvSpPr>
            <a:spLocks xmlns:a="http://schemas.openxmlformats.org/drawingml/2006/main" noGrp="1"/>
          </p:cNvSpPr>
          <p:nvPr/>
        </p:nvSpPr>
        <p:spPr>
          <a:xfrm xmlns:a="http://schemas.openxmlformats.org/drawingml/2006/main">
            <a:off x="914400" y="1874520"/>
            <a:ext cx="4892040" cy="3291840"/>
          </a:xfrm>
          <a:prstGeom xmlns:a="http://schemas.openxmlformats.org/drawingml/2006/main" prst="roundRect">
            <a:avLst>
              <a:gd name="adj" fmla="val 1667"/>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3" name="Google Shape;53;p5">
            <a:extLst xmlns:a="http://schemas.openxmlformats.org/drawingml/2006/main">
              <a:ext uri="{FF2B5EF4-FFF2-40B4-BE49-F238E27FC236}">
                <a16:creationId xmlns:a16="http://schemas.microsoft.com/office/drawing/2014/main" id="{41E4DB76-E7D4-45AD-81E7-679A7C7505DF}"/>
              </a:ext>
            </a:extLst>
          </p:cNvPr>
          <p:cNvSpPr>
            <a:spLocks xmlns:a="http://schemas.openxmlformats.org/drawingml/2006/main" noGrp="1"/>
          </p:cNvSpPr>
          <p:nvPr/>
        </p:nvSpPr>
        <p:spPr>
          <a:xfrm xmlns:a="http://schemas.openxmlformats.org/drawingml/2006/main">
            <a:off x="1078992" y="201168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RECIPE LAB</a:t>
            </a:r>
          </a:p>
        </p:txBody>
      </p:sp>
      <p:sp>
        <p:nvSpPr>
          <p:cNvPr id="54" name="Google Shape;54;p5">
            <a:extLst xmlns:a="http://schemas.openxmlformats.org/drawingml/2006/main">
              <a:ext uri="{FF2B5EF4-FFF2-40B4-BE49-F238E27FC236}">
                <a16:creationId xmlns:a16="http://schemas.microsoft.com/office/drawing/2014/main" id="{3F35988B-6282-42FF-A81D-0D3EADD7348B}"/>
              </a:ext>
            </a:extLst>
          </p:cNvPr>
          <p:cNvSpPr>
            <a:spLocks xmlns:a="http://schemas.openxmlformats.org/drawingml/2006/main" noGrp="1"/>
          </p:cNvSpPr>
          <p:nvPr/>
        </p:nvSpPr>
        <p:spPr>
          <a:xfrm xmlns:a="http://schemas.openxmlformats.org/drawingml/2006/main">
            <a:off x="1078992" y="2377440"/>
            <a:ext cx="4562856" cy="2633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Everyone follows the same steps.</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expected outcome is already known.</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goal is usually to confirm a concept.</a:t>
            </a:r>
          </a:p>
        </p:txBody>
      </p:sp>
      <p:sp>
        <p:nvSpPr>
          <p:cNvPr id="55" name="Google Shape;55;p5">
            <a:extLst xmlns:a="http://schemas.openxmlformats.org/drawingml/2006/main">
              <a:ext uri="{FF2B5EF4-FFF2-40B4-BE49-F238E27FC236}">
                <a16:creationId xmlns:a16="http://schemas.microsoft.com/office/drawing/2014/main" id="{6BAFC348-A881-4611-9763-0F1238F1BFA2}"/>
              </a:ext>
            </a:extLst>
          </p:cNvPr>
          <p:cNvSpPr>
            <a:spLocks xmlns:a="http://schemas.openxmlformats.org/drawingml/2006/main" noGrp="1"/>
          </p:cNvSpPr>
          <p:nvPr/>
        </p:nvSpPr>
        <p:spPr>
          <a:xfrm xmlns:a="http://schemas.openxmlformats.org/drawingml/2006/main">
            <a:off x="6355080" y="1874520"/>
            <a:ext cx="4892040" cy="3291840"/>
          </a:xfrm>
          <a:prstGeom xmlns:a="http://schemas.openxmlformats.org/drawingml/2006/main" prst="roundRect">
            <a:avLst>
              <a:gd name="adj" fmla="val 1667"/>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6" name="Google Shape;56;p5">
            <a:extLst xmlns:a="http://schemas.openxmlformats.org/drawingml/2006/main">
              <a:ext uri="{FF2B5EF4-FFF2-40B4-BE49-F238E27FC236}">
                <a16:creationId xmlns:a16="http://schemas.microsoft.com/office/drawing/2014/main" id="{38B291B1-8817-482E-9D69-A19658A3A197}"/>
              </a:ext>
            </a:extLst>
          </p:cNvPr>
          <p:cNvSpPr>
            <a:spLocks xmlns:a="http://schemas.openxmlformats.org/drawingml/2006/main" noGrp="1"/>
          </p:cNvSpPr>
          <p:nvPr/>
        </p:nvSpPr>
        <p:spPr>
          <a:xfrm xmlns:a="http://schemas.openxmlformats.org/drawingml/2006/main">
            <a:off x="6519672" y="201168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AUTHENTIC RESEARCH</a:t>
            </a:r>
          </a:p>
        </p:txBody>
      </p:sp>
      <p:sp>
        <p:nvSpPr>
          <p:cNvPr id="57" name="Google Shape;57;p5">
            <a:extLst xmlns:a="http://schemas.openxmlformats.org/drawingml/2006/main">
              <a:ext uri="{FF2B5EF4-FFF2-40B4-BE49-F238E27FC236}">
                <a16:creationId xmlns:a16="http://schemas.microsoft.com/office/drawing/2014/main" id="{32661AB2-A1E9-4976-B03A-F0E2F69D4EE8}"/>
              </a:ext>
            </a:extLst>
          </p:cNvPr>
          <p:cNvSpPr>
            <a:spLocks xmlns:a="http://schemas.openxmlformats.org/drawingml/2006/main" noGrp="1"/>
          </p:cNvSpPr>
          <p:nvPr/>
        </p:nvSpPr>
        <p:spPr>
          <a:xfrm xmlns:a="http://schemas.openxmlformats.org/drawingml/2006/main">
            <a:off x="6519672" y="2377440"/>
            <a:ext cx="4562856" cy="2633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develop questions.</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Methods may change.</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goal is to produce evidence and communicate what it means.</a:t>
            </a:r>
          </a:p>
        </p:txBody>
      </p:sp>
    </p:spTree>
    <p:extLst>
      <p:ext uri="{BB962C8B-B14F-4D97-AF65-F5344CB8AC3E}">
        <p14:creationId xmlns:p14="http://schemas.microsoft.com/office/powerpoint/2010/main" val="1252118933"/>
      </p:ext>
    </p:extLst>
  </p:cSld>
</p:sld>
</file>

<file path=ppt/slides/slide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63" name="Google Shape;63;p6">
            <a:extLst xmlns:a="http://schemas.openxmlformats.org/drawingml/2006/main">
              <a:ext uri="{FF2B5EF4-FFF2-40B4-BE49-F238E27FC236}">
                <a16:creationId xmlns:a16="http://schemas.microsoft.com/office/drawing/2014/main" id="{5EACE277-7411-4A5B-B6CC-5B35BB94FBF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4" name="Google Shape;64;p6">
            <a:extLst xmlns:a="http://schemas.openxmlformats.org/drawingml/2006/main">
              <a:ext uri="{FF2B5EF4-FFF2-40B4-BE49-F238E27FC236}">
                <a16:creationId xmlns:a16="http://schemas.microsoft.com/office/drawing/2014/main" id="{56A4D71B-0CCD-4B6B-885D-FACE359C9381}"/>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5" name="Google Shape;65;p6">
            <a:extLst xmlns:a="http://schemas.openxmlformats.org/drawingml/2006/main">
              <a:ext uri="{FF2B5EF4-FFF2-40B4-BE49-F238E27FC236}">
                <a16:creationId xmlns:a16="http://schemas.microsoft.com/office/drawing/2014/main" id="{E580E7FF-1C48-484F-927B-E48D66D1831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6" name="Google Shape;66;p6">
            <a:extLst xmlns:a="http://schemas.openxmlformats.org/drawingml/2006/main">
              <a:ext uri="{FF2B5EF4-FFF2-40B4-BE49-F238E27FC236}">
                <a16:creationId xmlns:a16="http://schemas.microsoft.com/office/drawing/2014/main" id="{1A95DE4C-474D-41CA-9C70-41E218EDBB6F}"/>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67" name="Google Shape;67;p6">
            <a:extLst xmlns:a="http://schemas.openxmlformats.org/drawingml/2006/main">
              <a:ext uri="{FF2B5EF4-FFF2-40B4-BE49-F238E27FC236}">
                <a16:creationId xmlns:a16="http://schemas.microsoft.com/office/drawing/2014/main" id="{EDFD333A-9442-4A47-BFE2-1CB762B0AC2A}"/>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68" name="Google Shape;68;p6">
            <a:extLst xmlns:a="http://schemas.openxmlformats.org/drawingml/2006/main">
              <a:ext uri="{FF2B5EF4-FFF2-40B4-BE49-F238E27FC236}">
                <a16:creationId xmlns:a16="http://schemas.microsoft.com/office/drawing/2014/main" id="{1FDD4952-1861-4C8A-A6D9-70C29449EF35}"/>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69" name="Google Shape;69;p6">
            <a:extLst xmlns:a="http://schemas.openxmlformats.org/drawingml/2006/main">
              <a:ext uri="{FF2B5EF4-FFF2-40B4-BE49-F238E27FC236}">
                <a16:creationId xmlns:a16="http://schemas.microsoft.com/office/drawing/2014/main" id="{7786EF29-58DA-4EC3-BB7A-46D8FA17FB7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STARLAB Research Arc</a:t>
            </a:r>
          </a:p>
        </p:txBody>
      </p:sp>
      <p:sp>
        <p:nvSpPr>
          <p:cNvPr id="70" name="Google Shape;70;p6">
            <a:extLst xmlns:a="http://schemas.openxmlformats.org/drawingml/2006/main">
              <a:ext uri="{FF2B5EF4-FFF2-40B4-BE49-F238E27FC236}">
                <a16:creationId xmlns:a16="http://schemas.microsoft.com/office/drawing/2014/main" id="{AE88B6E2-F826-4E24-8562-838E960A9196}"/>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 yearlong project moves through cycles, not a straight line.</a:t>
            </a:r>
          </a:p>
        </p:txBody>
      </p:sp>
      <p:cxnSp>
        <p:nvCxnSpPr>
          <p:cNvPr id="155" name="Google Shape;71;p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72" name="Google Shape;72;p6">
            <a:extLst xmlns:a="http://schemas.openxmlformats.org/drawingml/2006/main">
              <a:ext uri="{FF2B5EF4-FFF2-40B4-BE49-F238E27FC236}">
                <a16:creationId xmlns:a16="http://schemas.microsoft.com/office/drawing/2014/main" id="{76F8BE27-DDF1-4307-B177-068CAFC3A490}"/>
              </a:ext>
            </a:extLst>
          </p:cNvPr>
          <p:cNvSpPr>
            <a:spLocks xmlns:a="http://schemas.openxmlformats.org/drawingml/2006/main" noGrp="1"/>
          </p:cNvSpPr>
          <p:nvPr/>
        </p:nvSpPr>
        <p:spPr>
          <a:xfrm xmlns:a="http://schemas.openxmlformats.org/drawingml/2006/main">
            <a:off x="685800" y="2057400"/>
            <a:ext cx="1188720" cy="658368"/>
          </a:xfrm>
          <a:prstGeom xmlns:a="http://schemas.openxmlformats.org/drawingml/2006/main" prst="roundRect">
            <a:avLst>
              <a:gd name="adj" fmla="val 6944"/>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6">
            <a:extLst xmlns:a="http://schemas.openxmlformats.org/drawingml/2006/main">
              <a:ext uri="{FF2B5EF4-FFF2-40B4-BE49-F238E27FC236}">
                <a16:creationId xmlns:a16="http://schemas.microsoft.com/office/drawing/2014/main" id="{781DFE35-9B77-467C-9475-C79CDA88CF5F}"/>
              </a:ext>
            </a:extLst>
          </p:cNvPr>
          <p:cNvSpPr>
            <a:spLocks xmlns:a="http://schemas.openxmlformats.org/drawingml/2006/main" noGrp="1"/>
          </p:cNvSpPr>
          <p:nvPr/>
        </p:nvSpPr>
        <p:spPr>
          <a:xfrm xmlns:a="http://schemas.openxmlformats.org/drawingml/2006/main">
            <a:off x="7498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QUESTION</a:t>
            </a:r>
          </a:p>
        </p:txBody>
      </p:sp>
      <p:cxnSp>
        <p:nvCxnSpPr>
          <p:cNvPr id="158" name="Google Shape;74;p6"/>
          <p:cNvCxnSpPr/>
          <p:nvPr/>
        </p:nvCxnSpPr>
        <p:spPr>
          <a:xfrm xmlns:a="http://schemas.openxmlformats.org/drawingml/2006/main">
            <a:off x="18928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75" name="Google Shape;75;p6">
            <a:extLst xmlns:a="http://schemas.openxmlformats.org/drawingml/2006/main">
              <a:ext uri="{FF2B5EF4-FFF2-40B4-BE49-F238E27FC236}">
                <a16:creationId xmlns:a16="http://schemas.microsoft.com/office/drawing/2014/main" id="{1620B88A-F2AC-411C-92B5-4D66B32BB722}"/>
              </a:ext>
            </a:extLst>
          </p:cNvPr>
          <p:cNvSpPr>
            <a:spLocks xmlns:a="http://schemas.openxmlformats.org/drawingml/2006/main" noGrp="1"/>
          </p:cNvSpPr>
          <p:nvPr/>
        </p:nvSpPr>
        <p:spPr>
          <a:xfrm xmlns:a="http://schemas.openxmlformats.org/drawingml/2006/main">
            <a:off x="22860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6" name="Google Shape;76;p6">
            <a:extLst xmlns:a="http://schemas.openxmlformats.org/drawingml/2006/main">
              <a:ext uri="{FF2B5EF4-FFF2-40B4-BE49-F238E27FC236}">
                <a16:creationId xmlns:a16="http://schemas.microsoft.com/office/drawing/2014/main" id="{9EDCD37A-0921-4B2A-A9AB-7B0D7F2C38D2}"/>
              </a:ext>
            </a:extLst>
          </p:cNvPr>
          <p:cNvSpPr>
            <a:spLocks xmlns:a="http://schemas.openxmlformats.org/drawingml/2006/main" noGrp="1"/>
          </p:cNvSpPr>
          <p:nvPr/>
        </p:nvSpPr>
        <p:spPr>
          <a:xfrm xmlns:a="http://schemas.openxmlformats.org/drawingml/2006/main">
            <a:off x="23500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PLAN</a:t>
            </a:r>
          </a:p>
        </p:txBody>
      </p:sp>
      <p:cxnSp>
        <p:nvCxnSpPr>
          <p:cNvPr id="161" name="Google Shape;77;p6"/>
          <p:cNvCxnSpPr/>
          <p:nvPr/>
        </p:nvCxnSpPr>
        <p:spPr>
          <a:xfrm xmlns:a="http://schemas.openxmlformats.org/drawingml/2006/main">
            <a:off x="34930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78" name="Google Shape;78;p6">
            <a:extLst xmlns:a="http://schemas.openxmlformats.org/drawingml/2006/main">
              <a:ext uri="{FF2B5EF4-FFF2-40B4-BE49-F238E27FC236}">
                <a16:creationId xmlns:a16="http://schemas.microsoft.com/office/drawing/2014/main" id="{EF69C806-1702-4029-9A6A-67C968F91812}"/>
              </a:ext>
            </a:extLst>
          </p:cNvPr>
          <p:cNvSpPr>
            <a:spLocks xmlns:a="http://schemas.openxmlformats.org/drawingml/2006/main" noGrp="1"/>
          </p:cNvSpPr>
          <p:nvPr/>
        </p:nvSpPr>
        <p:spPr>
          <a:xfrm xmlns:a="http://schemas.openxmlformats.org/drawingml/2006/main">
            <a:off x="38862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9" name="Google Shape;79;p6">
            <a:extLst xmlns:a="http://schemas.openxmlformats.org/drawingml/2006/main">
              <a:ext uri="{FF2B5EF4-FFF2-40B4-BE49-F238E27FC236}">
                <a16:creationId xmlns:a16="http://schemas.microsoft.com/office/drawing/2014/main" id="{BDBA9D6B-AD56-4E5B-AFEB-4F4F3F3FC277}"/>
              </a:ext>
            </a:extLst>
          </p:cNvPr>
          <p:cNvSpPr>
            <a:spLocks xmlns:a="http://schemas.openxmlformats.org/drawingml/2006/main" noGrp="1"/>
          </p:cNvSpPr>
          <p:nvPr/>
        </p:nvSpPr>
        <p:spPr>
          <a:xfrm xmlns:a="http://schemas.openxmlformats.org/drawingml/2006/main">
            <a:off x="39502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PILOT</a:t>
            </a:r>
          </a:p>
        </p:txBody>
      </p:sp>
      <p:cxnSp>
        <p:nvCxnSpPr>
          <p:cNvPr id="164" name="Google Shape;80;p6"/>
          <p:cNvCxnSpPr/>
          <p:nvPr/>
        </p:nvCxnSpPr>
        <p:spPr>
          <a:xfrm xmlns:a="http://schemas.openxmlformats.org/drawingml/2006/main">
            <a:off x="50932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1" name="Google Shape;81;p6">
            <a:extLst xmlns:a="http://schemas.openxmlformats.org/drawingml/2006/main">
              <a:ext uri="{FF2B5EF4-FFF2-40B4-BE49-F238E27FC236}">
                <a16:creationId xmlns:a16="http://schemas.microsoft.com/office/drawing/2014/main" id="{59626CDF-B81C-4A32-985C-7EA4E65CCCA4}"/>
              </a:ext>
            </a:extLst>
          </p:cNvPr>
          <p:cNvSpPr>
            <a:spLocks xmlns:a="http://schemas.openxmlformats.org/drawingml/2006/main" noGrp="1"/>
          </p:cNvSpPr>
          <p:nvPr/>
        </p:nvSpPr>
        <p:spPr>
          <a:xfrm xmlns:a="http://schemas.openxmlformats.org/drawingml/2006/main">
            <a:off x="54864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2" name="Google Shape;82;p6">
            <a:extLst xmlns:a="http://schemas.openxmlformats.org/drawingml/2006/main">
              <a:ext uri="{FF2B5EF4-FFF2-40B4-BE49-F238E27FC236}">
                <a16:creationId xmlns:a16="http://schemas.microsoft.com/office/drawing/2014/main" id="{1E0D2121-B00C-4125-B49B-1E1851684E69}"/>
              </a:ext>
            </a:extLst>
          </p:cNvPr>
          <p:cNvSpPr>
            <a:spLocks xmlns:a="http://schemas.openxmlformats.org/drawingml/2006/main" noGrp="1"/>
          </p:cNvSpPr>
          <p:nvPr/>
        </p:nvSpPr>
        <p:spPr>
          <a:xfrm xmlns:a="http://schemas.openxmlformats.org/drawingml/2006/main">
            <a:off x="55504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COLLECT</a:t>
            </a:r>
          </a:p>
        </p:txBody>
      </p:sp>
      <p:cxnSp>
        <p:nvCxnSpPr>
          <p:cNvPr id="167" name="Google Shape;83;p6"/>
          <p:cNvCxnSpPr/>
          <p:nvPr/>
        </p:nvCxnSpPr>
        <p:spPr>
          <a:xfrm xmlns:a="http://schemas.openxmlformats.org/drawingml/2006/main">
            <a:off x="66934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4" name="Google Shape;84;p6">
            <a:extLst xmlns:a="http://schemas.openxmlformats.org/drawingml/2006/main">
              <a:ext uri="{FF2B5EF4-FFF2-40B4-BE49-F238E27FC236}">
                <a16:creationId xmlns:a16="http://schemas.microsoft.com/office/drawing/2014/main" id="{7FF55BD4-6C0F-46C8-A795-8DC8C6C207C9}"/>
              </a:ext>
            </a:extLst>
          </p:cNvPr>
          <p:cNvSpPr>
            <a:spLocks xmlns:a="http://schemas.openxmlformats.org/drawingml/2006/main" noGrp="1"/>
          </p:cNvSpPr>
          <p:nvPr/>
        </p:nvSpPr>
        <p:spPr>
          <a:xfrm xmlns:a="http://schemas.openxmlformats.org/drawingml/2006/main">
            <a:off x="70866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5" name="Google Shape;85;p6">
            <a:extLst xmlns:a="http://schemas.openxmlformats.org/drawingml/2006/main">
              <a:ext uri="{FF2B5EF4-FFF2-40B4-BE49-F238E27FC236}">
                <a16:creationId xmlns:a16="http://schemas.microsoft.com/office/drawing/2014/main" id="{E592F88A-4EC9-40D0-AAA0-920F05729985}"/>
              </a:ext>
            </a:extLst>
          </p:cNvPr>
          <p:cNvSpPr>
            <a:spLocks xmlns:a="http://schemas.openxmlformats.org/drawingml/2006/main" noGrp="1"/>
          </p:cNvSpPr>
          <p:nvPr/>
        </p:nvSpPr>
        <p:spPr>
          <a:xfrm xmlns:a="http://schemas.openxmlformats.org/drawingml/2006/main">
            <a:off x="71506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ANALYZE</a:t>
            </a:r>
          </a:p>
        </p:txBody>
      </p:sp>
      <p:cxnSp>
        <p:nvCxnSpPr>
          <p:cNvPr id="170" name="Google Shape;86;p6"/>
          <p:cNvCxnSpPr/>
          <p:nvPr/>
        </p:nvCxnSpPr>
        <p:spPr>
          <a:xfrm xmlns:a="http://schemas.openxmlformats.org/drawingml/2006/main">
            <a:off x="82936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7" name="Google Shape;87;p6">
            <a:extLst xmlns:a="http://schemas.openxmlformats.org/drawingml/2006/main">
              <a:ext uri="{FF2B5EF4-FFF2-40B4-BE49-F238E27FC236}">
                <a16:creationId xmlns:a16="http://schemas.microsoft.com/office/drawing/2014/main" id="{3A384516-7F52-41F2-895B-66235B370ED5}"/>
              </a:ext>
            </a:extLst>
          </p:cNvPr>
          <p:cNvSpPr>
            <a:spLocks xmlns:a="http://schemas.openxmlformats.org/drawingml/2006/main" noGrp="1"/>
          </p:cNvSpPr>
          <p:nvPr/>
        </p:nvSpPr>
        <p:spPr>
          <a:xfrm xmlns:a="http://schemas.openxmlformats.org/drawingml/2006/main">
            <a:off x="86868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8" name="Google Shape;88;p6">
            <a:extLst xmlns:a="http://schemas.openxmlformats.org/drawingml/2006/main">
              <a:ext uri="{FF2B5EF4-FFF2-40B4-BE49-F238E27FC236}">
                <a16:creationId xmlns:a16="http://schemas.microsoft.com/office/drawing/2014/main" id="{70ADD38E-CDF9-4BE5-B886-301DB0F5C6B5}"/>
              </a:ext>
            </a:extLst>
          </p:cNvPr>
          <p:cNvSpPr>
            <a:spLocks xmlns:a="http://schemas.openxmlformats.org/drawingml/2006/main" noGrp="1"/>
          </p:cNvSpPr>
          <p:nvPr/>
        </p:nvSpPr>
        <p:spPr>
          <a:xfrm xmlns:a="http://schemas.openxmlformats.org/drawingml/2006/main">
            <a:off x="87508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REPORT</a:t>
            </a:r>
          </a:p>
        </p:txBody>
      </p:sp>
      <p:cxnSp>
        <p:nvCxnSpPr>
          <p:cNvPr id="173" name="Google Shape;89;p6"/>
          <p:cNvCxnSpPr/>
          <p:nvPr/>
        </p:nvCxnSpPr>
        <p:spPr>
          <a:xfrm xmlns:a="http://schemas.openxmlformats.org/drawingml/2006/main">
            <a:off x="98938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90" name="Google Shape;90;p6">
            <a:extLst xmlns:a="http://schemas.openxmlformats.org/drawingml/2006/main">
              <a:ext uri="{FF2B5EF4-FFF2-40B4-BE49-F238E27FC236}">
                <a16:creationId xmlns:a16="http://schemas.microsoft.com/office/drawing/2014/main" id="{F225DB50-34EC-4B3D-B01C-EBFB0025BAD0}"/>
              </a:ext>
            </a:extLst>
          </p:cNvPr>
          <p:cNvSpPr>
            <a:spLocks xmlns:a="http://schemas.openxmlformats.org/drawingml/2006/main" noGrp="1"/>
          </p:cNvSpPr>
          <p:nvPr/>
        </p:nvSpPr>
        <p:spPr>
          <a:xfrm xmlns:a="http://schemas.openxmlformats.org/drawingml/2006/main">
            <a:off x="102870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1" name="Google Shape;91;p6">
            <a:extLst xmlns:a="http://schemas.openxmlformats.org/drawingml/2006/main">
              <a:ext uri="{FF2B5EF4-FFF2-40B4-BE49-F238E27FC236}">
                <a16:creationId xmlns:a16="http://schemas.microsoft.com/office/drawing/2014/main" id="{1D2620DF-4B3F-4988-A9CA-46E47E362D2E}"/>
              </a:ext>
            </a:extLst>
          </p:cNvPr>
          <p:cNvSpPr>
            <a:spLocks xmlns:a="http://schemas.openxmlformats.org/drawingml/2006/main" noGrp="1"/>
          </p:cNvSpPr>
          <p:nvPr/>
        </p:nvSpPr>
        <p:spPr>
          <a:xfrm xmlns:a="http://schemas.openxmlformats.org/drawingml/2006/main">
            <a:off x="103510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PRESENT</a:t>
            </a:r>
          </a:p>
        </p:txBody>
      </p:sp>
      <p:sp>
        <p:nvSpPr>
          <p:cNvPr id="92" name="Google Shape;92;p6">
            <a:extLst xmlns:a="http://schemas.openxmlformats.org/drawingml/2006/main">
              <a:ext uri="{FF2B5EF4-FFF2-40B4-BE49-F238E27FC236}">
                <a16:creationId xmlns:a16="http://schemas.microsoft.com/office/drawing/2014/main" id="{920D16DC-A6E3-48FF-A803-E0B9939C673E}"/>
              </a:ext>
            </a:extLst>
          </p:cNvPr>
          <p:cNvSpPr>
            <a:spLocks xmlns:a="http://schemas.openxmlformats.org/drawingml/2006/main" noGrp="1"/>
          </p:cNvSpPr>
          <p:nvPr/>
        </p:nvSpPr>
        <p:spPr>
          <a:xfrm xmlns:a="http://schemas.openxmlformats.org/drawingml/2006/main">
            <a:off x="1005840" y="3886200"/>
            <a:ext cx="101498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3000"/>
              <a:buFont typeface="Play"/>
              <a:buNone/>
            </a:pPr>
            <a:r>
              <a:rPr sz="3000" b="1">
                <a:solidFill>
                  <a:srgbClr val="FFFFFF"/>
                </a:solidFill>
                <a:latin typeface="Play"/>
                <a:ea typeface="Play"/>
                <a:cs typeface="Play"/>
              </a:rPr>
              <a:t>You will revisit earlier stages whenever evidence demands it.</a:t>
            </a:r>
          </a:p>
        </p:txBody>
      </p:sp>
    </p:spTree>
    <p:extLst>
      <p:ext uri="{BB962C8B-B14F-4D97-AF65-F5344CB8AC3E}">
        <p14:creationId xmlns:p14="http://schemas.microsoft.com/office/powerpoint/2010/main" val="1556261133"/>
      </p:ext>
    </p:extLst>
  </p:cSld>
</p:sld>
</file>

<file path=ppt/slides/slide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98" name="Google Shape;98;p7">
            <a:extLst xmlns:a="http://schemas.openxmlformats.org/drawingml/2006/main">
              <a:ext uri="{FF2B5EF4-FFF2-40B4-BE49-F238E27FC236}">
                <a16:creationId xmlns:a16="http://schemas.microsoft.com/office/drawing/2014/main" id="{BDD5A58D-6714-4FAD-9004-80F418B62AF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9" name="Google Shape;99;p7">
            <a:extLst xmlns:a="http://schemas.openxmlformats.org/drawingml/2006/main">
              <a:ext uri="{FF2B5EF4-FFF2-40B4-BE49-F238E27FC236}">
                <a16:creationId xmlns:a16="http://schemas.microsoft.com/office/drawing/2014/main" id="{BBB9DE0D-BDEC-40DE-BCB4-73503B7E492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0" name="Google Shape;100;p7">
            <a:extLst xmlns:a="http://schemas.openxmlformats.org/drawingml/2006/main">
              <a:ext uri="{FF2B5EF4-FFF2-40B4-BE49-F238E27FC236}">
                <a16:creationId xmlns:a16="http://schemas.microsoft.com/office/drawing/2014/main" id="{1476F661-A6BD-4FEB-98A5-D0777B6B56BC}"/>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1" name="Google Shape;101;p7">
            <a:extLst xmlns:a="http://schemas.openxmlformats.org/drawingml/2006/main">
              <a:ext uri="{FF2B5EF4-FFF2-40B4-BE49-F238E27FC236}">
                <a16:creationId xmlns:a16="http://schemas.microsoft.com/office/drawing/2014/main" id="{8CAD7DBD-2F30-44F0-867B-1771C45D4CD0}"/>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102" name="Google Shape;102;p7">
            <a:extLst xmlns:a="http://schemas.openxmlformats.org/drawingml/2006/main">
              <a:ext uri="{FF2B5EF4-FFF2-40B4-BE49-F238E27FC236}">
                <a16:creationId xmlns:a16="http://schemas.microsoft.com/office/drawing/2014/main" id="{52C6C4EE-7EF9-472B-88FA-58EC846D005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03" name="Google Shape;103;p7">
            <a:extLst xmlns:a="http://schemas.openxmlformats.org/drawingml/2006/main">
              <a:ext uri="{FF2B5EF4-FFF2-40B4-BE49-F238E27FC236}">
                <a16:creationId xmlns:a16="http://schemas.microsoft.com/office/drawing/2014/main" id="{42909876-CED1-4431-804C-FDDD2A1E1FC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04" name="Google Shape;104;p7">
            <a:extLst xmlns:a="http://schemas.openxmlformats.org/drawingml/2006/main">
              <a:ext uri="{FF2B5EF4-FFF2-40B4-BE49-F238E27FC236}">
                <a16:creationId xmlns:a16="http://schemas.microsoft.com/office/drawing/2014/main" id="{AEB3D6F0-2851-45BE-A277-175A9B85731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Core Shift</a:t>
            </a:r>
          </a:p>
        </p:txBody>
      </p:sp>
      <p:sp>
        <p:nvSpPr>
          <p:cNvPr id="105" name="Google Shape;105;p7">
            <a:extLst xmlns:a="http://schemas.openxmlformats.org/drawingml/2006/main">
              <a:ext uri="{FF2B5EF4-FFF2-40B4-BE49-F238E27FC236}">
                <a16:creationId xmlns:a16="http://schemas.microsoft.com/office/drawing/2014/main" id="{5F74A0B6-64E5-4634-A852-EA04C2587FF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From completing assignments to building evidence.</a:t>
            </a:r>
          </a:p>
        </p:txBody>
      </p:sp>
      <p:cxnSp>
        <p:nvCxnSpPr>
          <p:cNvPr id="142" name="Google Shape;106;p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07" name="Google Shape;107;p7">
            <a:extLst xmlns:a="http://schemas.openxmlformats.org/drawingml/2006/main">
              <a:ext uri="{FF2B5EF4-FFF2-40B4-BE49-F238E27FC236}">
                <a16:creationId xmlns:a16="http://schemas.microsoft.com/office/drawing/2014/main" id="{CB80DE04-B9A8-4855-9C28-61B894FE5986}"/>
              </a:ext>
            </a:extLst>
          </p:cNvPr>
          <p:cNvSpPr>
            <a:spLocks xmlns:a="http://schemas.openxmlformats.org/drawingml/2006/main" noGrp="1"/>
          </p:cNvSpPr>
          <p:nvPr/>
        </p:nvSpPr>
        <p:spPr>
          <a:xfrm xmlns:a="http://schemas.openxmlformats.org/drawingml/2006/main">
            <a:off x="914400" y="1828800"/>
            <a:ext cx="3154680" cy="2926080"/>
          </a:xfrm>
          <a:prstGeom xmlns:a="http://schemas.openxmlformats.org/drawingml/2006/main" prst="roundRect">
            <a:avLst>
              <a:gd name="adj" fmla="val 187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8" name="Google Shape;108;p7">
            <a:extLst xmlns:a="http://schemas.openxmlformats.org/drawingml/2006/main">
              <a:ext uri="{FF2B5EF4-FFF2-40B4-BE49-F238E27FC236}">
                <a16:creationId xmlns:a16="http://schemas.microsoft.com/office/drawing/2014/main" id="{9489895C-6870-4AA5-B91B-66515538844F}"/>
              </a:ext>
            </a:extLst>
          </p:cNvPr>
          <p:cNvSpPr>
            <a:spLocks xmlns:a="http://schemas.openxmlformats.org/drawingml/2006/main" noGrp="1"/>
          </p:cNvSpPr>
          <p:nvPr/>
        </p:nvSpPr>
        <p:spPr>
          <a:xfrm xmlns:a="http://schemas.openxmlformats.org/drawingml/2006/main">
            <a:off x="107899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TRADITIONAL QUESTION</a:t>
            </a:r>
          </a:p>
        </p:txBody>
      </p:sp>
      <p:sp>
        <p:nvSpPr>
          <p:cNvPr id="109" name="Google Shape;109;p7">
            <a:extLst xmlns:a="http://schemas.openxmlformats.org/drawingml/2006/main">
              <a:ext uri="{FF2B5EF4-FFF2-40B4-BE49-F238E27FC236}">
                <a16:creationId xmlns:a16="http://schemas.microsoft.com/office/drawing/2014/main" id="{8C4E222A-F11C-437F-B057-5CABE8AF86C6}"/>
              </a:ext>
            </a:extLst>
          </p:cNvPr>
          <p:cNvSpPr>
            <a:spLocks xmlns:a="http://schemas.openxmlformats.org/drawingml/2006/main" noGrp="1"/>
          </p:cNvSpPr>
          <p:nvPr/>
        </p:nvSpPr>
        <p:spPr>
          <a:xfrm xmlns:a="http://schemas.openxmlformats.org/drawingml/2006/main">
            <a:off x="1078992" y="2331720"/>
            <a:ext cx="282549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What does the teacher want me to write?</a:t>
            </a:r>
          </a:p>
        </p:txBody>
      </p:sp>
      <p:sp>
        <p:nvSpPr>
          <p:cNvPr id="110" name="Google Shape;110;p7">
            <a:extLst xmlns:a="http://schemas.openxmlformats.org/drawingml/2006/main">
              <a:ext uri="{FF2B5EF4-FFF2-40B4-BE49-F238E27FC236}">
                <a16:creationId xmlns:a16="http://schemas.microsoft.com/office/drawing/2014/main" id="{90C424B4-2D4E-4808-B1D7-49D328AD3417}"/>
              </a:ext>
            </a:extLst>
          </p:cNvPr>
          <p:cNvSpPr>
            <a:spLocks xmlns:a="http://schemas.openxmlformats.org/drawingml/2006/main" noGrp="1"/>
          </p:cNvSpPr>
          <p:nvPr/>
        </p:nvSpPr>
        <p:spPr>
          <a:xfrm xmlns:a="http://schemas.openxmlformats.org/drawingml/2006/main">
            <a:off x="4526280" y="1828800"/>
            <a:ext cx="3154680" cy="2926080"/>
          </a:xfrm>
          <a:prstGeom xmlns:a="http://schemas.openxmlformats.org/drawingml/2006/main" prst="roundRect">
            <a:avLst>
              <a:gd name="adj" fmla="val 1875"/>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1" name="Google Shape;111;p7">
            <a:extLst xmlns:a="http://schemas.openxmlformats.org/drawingml/2006/main">
              <a:ext uri="{FF2B5EF4-FFF2-40B4-BE49-F238E27FC236}">
                <a16:creationId xmlns:a16="http://schemas.microsoft.com/office/drawing/2014/main" id="{251B71DE-9871-4D7E-9953-CCAB2D0902A7}"/>
              </a:ext>
            </a:extLst>
          </p:cNvPr>
          <p:cNvSpPr>
            <a:spLocks xmlns:a="http://schemas.openxmlformats.org/drawingml/2006/main" noGrp="1"/>
          </p:cNvSpPr>
          <p:nvPr/>
        </p:nvSpPr>
        <p:spPr>
          <a:xfrm xmlns:a="http://schemas.openxmlformats.org/drawingml/2006/main">
            <a:off x="469087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RESEARCH QUESTION</a:t>
            </a:r>
          </a:p>
        </p:txBody>
      </p:sp>
      <p:sp>
        <p:nvSpPr>
          <p:cNvPr id="112" name="Google Shape;112;p7">
            <a:extLst xmlns:a="http://schemas.openxmlformats.org/drawingml/2006/main">
              <a:ext uri="{FF2B5EF4-FFF2-40B4-BE49-F238E27FC236}">
                <a16:creationId xmlns:a16="http://schemas.microsoft.com/office/drawing/2014/main" id="{38BEE6B9-E9AA-43F8-A908-4116EAAB99D2}"/>
              </a:ext>
            </a:extLst>
          </p:cNvPr>
          <p:cNvSpPr>
            <a:spLocks xmlns:a="http://schemas.openxmlformats.org/drawingml/2006/main" noGrp="1"/>
          </p:cNvSpPr>
          <p:nvPr/>
        </p:nvSpPr>
        <p:spPr>
          <a:xfrm xmlns:a="http://schemas.openxmlformats.org/drawingml/2006/main">
            <a:off x="4690872" y="2331720"/>
            <a:ext cx="282549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What does the evidence allow me to claim?</a:t>
            </a:r>
          </a:p>
        </p:txBody>
      </p:sp>
      <p:sp>
        <p:nvSpPr>
          <p:cNvPr id="113" name="Google Shape;113;p7">
            <a:extLst xmlns:a="http://schemas.openxmlformats.org/drawingml/2006/main">
              <a:ext uri="{FF2B5EF4-FFF2-40B4-BE49-F238E27FC236}">
                <a16:creationId xmlns:a16="http://schemas.microsoft.com/office/drawing/2014/main" id="{DBA9E45C-6873-429A-844F-5E7D7B4F7CA9}"/>
              </a:ext>
            </a:extLst>
          </p:cNvPr>
          <p:cNvSpPr>
            <a:spLocks xmlns:a="http://schemas.openxmlformats.org/drawingml/2006/main" noGrp="1"/>
          </p:cNvSpPr>
          <p:nvPr/>
        </p:nvSpPr>
        <p:spPr>
          <a:xfrm xmlns:a="http://schemas.openxmlformats.org/drawingml/2006/main">
            <a:off x="8138160" y="1828800"/>
            <a:ext cx="3154680" cy="2926080"/>
          </a:xfrm>
          <a:prstGeom xmlns:a="http://schemas.openxmlformats.org/drawingml/2006/main" prst="roundRect">
            <a:avLst>
              <a:gd name="adj" fmla="val 187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4" name="Google Shape;114;p7">
            <a:extLst xmlns:a="http://schemas.openxmlformats.org/drawingml/2006/main">
              <a:ext uri="{FF2B5EF4-FFF2-40B4-BE49-F238E27FC236}">
                <a16:creationId xmlns:a16="http://schemas.microsoft.com/office/drawing/2014/main" id="{D5FBA21A-2754-4289-95DD-D6959B5F721F}"/>
              </a:ext>
            </a:extLst>
          </p:cNvPr>
          <p:cNvSpPr>
            <a:spLocks xmlns:a="http://schemas.openxmlformats.org/drawingml/2006/main" noGrp="1"/>
          </p:cNvSpPr>
          <p:nvPr/>
        </p:nvSpPr>
        <p:spPr>
          <a:xfrm xmlns:a="http://schemas.openxmlformats.org/drawingml/2006/main">
            <a:off x="830275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STARLAB QUESTION</a:t>
            </a:r>
          </a:p>
        </p:txBody>
      </p:sp>
      <p:sp>
        <p:nvSpPr>
          <p:cNvPr id="115" name="Google Shape;115;p7">
            <a:extLst xmlns:a="http://schemas.openxmlformats.org/drawingml/2006/main">
              <a:ext uri="{FF2B5EF4-FFF2-40B4-BE49-F238E27FC236}">
                <a16:creationId xmlns:a16="http://schemas.microsoft.com/office/drawing/2014/main" id="{857BD1FA-79B9-492B-A8F3-F63FB45114B9}"/>
              </a:ext>
            </a:extLst>
          </p:cNvPr>
          <p:cNvSpPr>
            <a:spLocks xmlns:a="http://schemas.openxmlformats.org/drawingml/2006/main" noGrp="1"/>
          </p:cNvSpPr>
          <p:nvPr/>
        </p:nvSpPr>
        <p:spPr>
          <a:xfrm xmlns:a="http://schemas.openxmlformats.org/drawingml/2006/main">
            <a:off x="8302752" y="2331720"/>
            <a:ext cx="282549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What do I need to try, measure, revise, or explain next?</a:t>
            </a:r>
          </a:p>
        </p:txBody>
      </p:sp>
    </p:spTree>
    <p:extLst>
      <p:ext uri="{BB962C8B-B14F-4D97-AF65-F5344CB8AC3E}">
        <p14:creationId xmlns:p14="http://schemas.microsoft.com/office/powerpoint/2010/main" val="1867809265"/>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21" name="Google Shape;121;p8">
            <a:extLst xmlns:a="http://schemas.openxmlformats.org/drawingml/2006/main">
              <a:ext uri="{FF2B5EF4-FFF2-40B4-BE49-F238E27FC236}">
                <a16:creationId xmlns:a16="http://schemas.microsoft.com/office/drawing/2014/main" id="{42CFBEAB-0B56-4D52-96E0-EFA5A2328E1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2" name="Google Shape;122;p8">
            <a:extLst xmlns:a="http://schemas.openxmlformats.org/drawingml/2006/main">
              <a:ext uri="{FF2B5EF4-FFF2-40B4-BE49-F238E27FC236}">
                <a16:creationId xmlns:a16="http://schemas.microsoft.com/office/drawing/2014/main" id="{1FDDD5A5-D957-4EA3-8D8F-29303EA957EB}"/>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3" name="Google Shape;123;p8">
            <a:extLst xmlns:a="http://schemas.openxmlformats.org/drawingml/2006/main">
              <a:ext uri="{FF2B5EF4-FFF2-40B4-BE49-F238E27FC236}">
                <a16:creationId xmlns:a16="http://schemas.microsoft.com/office/drawing/2014/main" id="{3217C9C3-048F-4B70-AFC2-23CB3F21BC0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4" name="Google Shape;124;p8">
            <a:extLst xmlns:a="http://schemas.openxmlformats.org/drawingml/2006/main">
              <a:ext uri="{FF2B5EF4-FFF2-40B4-BE49-F238E27FC236}">
                <a16:creationId xmlns:a16="http://schemas.microsoft.com/office/drawing/2014/main" id="{3189B090-DF19-495C-BCC5-960CB407F72F}"/>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RESEARCH PATHWAYS</a:t>
            </a:r>
          </a:p>
        </p:txBody>
      </p:sp>
      <p:sp>
        <p:nvSpPr>
          <p:cNvPr id="125" name="Google Shape;125;p8">
            <a:extLst xmlns:a="http://schemas.openxmlformats.org/drawingml/2006/main">
              <a:ext uri="{FF2B5EF4-FFF2-40B4-BE49-F238E27FC236}">
                <a16:creationId xmlns:a16="http://schemas.microsoft.com/office/drawing/2014/main" id="{3EE6259F-03CF-47E6-9AFA-EB5BDA268E09}"/>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26" name="Google Shape;126;p8">
            <a:extLst xmlns:a="http://schemas.openxmlformats.org/drawingml/2006/main">
              <a:ext uri="{FF2B5EF4-FFF2-40B4-BE49-F238E27FC236}">
                <a16:creationId xmlns:a16="http://schemas.microsoft.com/office/drawing/2014/main" id="{97EA7597-9BEA-4AFA-9B0C-CB6957E175B2}"/>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27" name="Google Shape;127;p8">
            <a:extLst xmlns:a="http://schemas.openxmlformats.org/drawingml/2006/main">
              <a:ext uri="{FF2B5EF4-FFF2-40B4-BE49-F238E27FC236}">
                <a16:creationId xmlns:a16="http://schemas.microsoft.com/office/drawing/2014/main" id="{F9BC7111-3FB7-46F8-9E7F-2D8D1CDA936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Research Can Look Many Ways</a:t>
            </a:r>
          </a:p>
        </p:txBody>
      </p:sp>
      <p:sp>
        <p:nvSpPr>
          <p:cNvPr id="128" name="Google Shape;128;p8">
            <a:extLst xmlns:a="http://schemas.openxmlformats.org/drawingml/2006/main">
              <a:ext uri="{FF2B5EF4-FFF2-40B4-BE49-F238E27FC236}">
                <a16:creationId xmlns:a16="http://schemas.microsoft.com/office/drawing/2014/main" id="{153F543D-C841-49B7-996D-3BB9E8C9C4D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STARLAB is not limited to one kind of science project.</a:t>
            </a:r>
          </a:p>
        </p:txBody>
      </p:sp>
      <p:cxnSp>
        <p:nvCxnSpPr>
          <p:cNvPr id="172" name="Google Shape;129;p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30" name="Google Shape;130;p8">
            <a:extLst xmlns:a="http://schemas.openxmlformats.org/drawingml/2006/main">
              <a:ext uri="{FF2B5EF4-FFF2-40B4-BE49-F238E27FC236}">
                <a16:creationId xmlns:a16="http://schemas.microsoft.com/office/drawing/2014/main" id="{D7641C69-5E97-4EE6-B652-4E5657817ACE}"/>
              </a:ext>
            </a:extLst>
          </p:cNvPr>
          <p:cNvSpPr>
            <a:spLocks xmlns:a="http://schemas.openxmlformats.org/drawingml/2006/main" noGrp="1"/>
          </p:cNvSpPr>
          <p:nvPr/>
        </p:nvSpPr>
        <p:spPr>
          <a:xfrm xmlns:a="http://schemas.openxmlformats.org/drawingml/2006/main">
            <a:off x="777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1" name="Google Shape;131;p8">
            <a:extLst xmlns:a="http://schemas.openxmlformats.org/drawingml/2006/main">
              <a:ext uri="{FF2B5EF4-FFF2-40B4-BE49-F238E27FC236}">
                <a16:creationId xmlns:a16="http://schemas.microsoft.com/office/drawing/2014/main" id="{F4A7CC36-0504-48EC-91E9-8DB6FA358DDA}"/>
              </a:ext>
            </a:extLst>
          </p:cNvPr>
          <p:cNvSpPr>
            <a:spLocks xmlns:a="http://schemas.openxmlformats.org/drawingml/2006/main" noGrp="1"/>
          </p:cNvSpPr>
          <p:nvPr/>
        </p:nvSpPr>
        <p:spPr>
          <a:xfrm xmlns:a="http://schemas.openxmlformats.org/drawingml/2006/main">
            <a:off x="941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EXPERIMENT</a:t>
            </a:r>
          </a:p>
        </p:txBody>
      </p:sp>
      <p:sp>
        <p:nvSpPr>
          <p:cNvPr id="132" name="Google Shape;132;p8">
            <a:extLst xmlns:a="http://schemas.openxmlformats.org/drawingml/2006/main">
              <a:ext uri="{FF2B5EF4-FFF2-40B4-BE49-F238E27FC236}">
                <a16:creationId xmlns:a16="http://schemas.microsoft.com/office/drawing/2014/main" id="{E08DD92C-747C-43D4-8171-CE1F4E6A30D7}"/>
              </a:ext>
            </a:extLst>
          </p:cNvPr>
          <p:cNvSpPr>
            <a:spLocks xmlns:a="http://schemas.openxmlformats.org/drawingml/2006/main" noGrp="1"/>
          </p:cNvSpPr>
          <p:nvPr/>
        </p:nvSpPr>
        <p:spPr>
          <a:xfrm xmlns:a="http://schemas.openxmlformats.org/drawingml/2006/main">
            <a:off x="941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Change one factor and measure the outcome.</a:t>
            </a:r>
          </a:p>
        </p:txBody>
      </p:sp>
      <p:sp>
        <p:nvSpPr>
          <p:cNvPr id="133" name="Google Shape;133;p8">
            <a:extLst xmlns:a="http://schemas.openxmlformats.org/drawingml/2006/main">
              <a:ext uri="{FF2B5EF4-FFF2-40B4-BE49-F238E27FC236}">
                <a16:creationId xmlns:a16="http://schemas.microsoft.com/office/drawing/2014/main" id="{D7705619-B88B-4C3F-B3A5-207098963E01}"/>
              </a:ext>
            </a:extLst>
          </p:cNvPr>
          <p:cNvSpPr>
            <a:spLocks xmlns:a="http://schemas.openxmlformats.org/drawingml/2006/main" noGrp="1"/>
          </p:cNvSpPr>
          <p:nvPr/>
        </p:nvSpPr>
        <p:spPr>
          <a:xfrm xmlns:a="http://schemas.openxmlformats.org/drawingml/2006/main">
            <a:off x="3063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4" name="Google Shape;134;p8">
            <a:extLst xmlns:a="http://schemas.openxmlformats.org/drawingml/2006/main">
              <a:ext uri="{FF2B5EF4-FFF2-40B4-BE49-F238E27FC236}">
                <a16:creationId xmlns:a16="http://schemas.microsoft.com/office/drawing/2014/main" id="{8BA98055-5A4C-4690-997F-3036B3E1B5EB}"/>
              </a:ext>
            </a:extLst>
          </p:cNvPr>
          <p:cNvSpPr>
            <a:spLocks xmlns:a="http://schemas.openxmlformats.org/drawingml/2006/main" noGrp="1"/>
          </p:cNvSpPr>
          <p:nvPr/>
        </p:nvSpPr>
        <p:spPr>
          <a:xfrm xmlns:a="http://schemas.openxmlformats.org/drawingml/2006/main">
            <a:off x="3227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ENGINEERING</a:t>
            </a:r>
          </a:p>
        </p:txBody>
      </p:sp>
      <p:sp>
        <p:nvSpPr>
          <p:cNvPr id="135" name="Google Shape;135;p8">
            <a:extLst xmlns:a="http://schemas.openxmlformats.org/drawingml/2006/main">
              <a:ext uri="{FF2B5EF4-FFF2-40B4-BE49-F238E27FC236}">
                <a16:creationId xmlns:a16="http://schemas.microsoft.com/office/drawing/2014/main" id="{677F7C8A-CC6A-4BF2-9C56-15C260D32A3E}"/>
              </a:ext>
            </a:extLst>
          </p:cNvPr>
          <p:cNvSpPr>
            <a:spLocks xmlns:a="http://schemas.openxmlformats.org/drawingml/2006/main" noGrp="1"/>
          </p:cNvSpPr>
          <p:nvPr/>
        </p:nvSpPr>
        <p:spPr>
          <a:xfrm xmlns:a="http://schemas.openxmlformats.org/drawingml/2006/main">
            <a:off x="3227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Define a problem, build, test, redesign.</a:t>
            </a:r>
          </a:p>
        </p:txBody>
      </p:sp>
      <p:sp>
        <p:nvSpPr>
          <p:cNvPr id="136" name="Google Shape;136;p8">
            <a:extLst xmlns:a="http://schemas.openxmlformats.org/drawingml/2006/main">
              <a:ext uri="{FF2B5EF4-FFF2-40B4-BE49-F238E27FC236}">
                <a16:creationId xmlns:a16="http://schemas.microsoft.com/office/drawing/2014/main" id="{A1D2008A-AD9E-4981-A27C-0EEA927419DA}"/>
              </a:ext>
            </a:extLst>
          </p:cNvPr>
          <p:cNvSpPr>
            <a:spLocks xmlns:a="http://schemas.openxmlformats.org/drawingml/2006/main" noGrp="1"/>
          </p:cNvSpPr>
          <p:nvPr/>
        </p:nvSpPr>
        <p:spPr>
          <a:xfrm xmlns:a="http://schemas.openxmlformats.org/drawingml/2006/main">
            <a:off x="5349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7" name="Google Shape;137;p8">
            <a:extLst xmlns:a="http://schemas.openxmlformats.org/drawingml/2006/main">
              <a:ext uri="{FF2B5EF4-FFF2-40B4-BE49-F238E27FC236}">
                <a16:creationId xmlns:a16="http://schemas.microsoft.com/office/drawing/2014/main" id="{A1621013-23CC-46B1-8C57-C15D2E6A600F}"/>
              </a:ext>
            </a:extLst>
          </p:cNvPr>
          <p:cNvSpPr>
            <a:spLocks xmlns:a="http://schemas.openxmlformats.org/drawingml/2006/main" noGrp="1"/>
          </p:cNvSpPr>
          <p:nvPr/>
        </p:nvSpPr>
        <p:spPr>
          <a:xfrm xmlns:a="http://schemas.openxmlformats.org/drawingml/2006/main">
            <a:off x="5513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DATA / CODE</a:t>
            </a:r>
          </a:p>
        </p:txBody>
      </p:sp>
      <p:sp>
        <p:nvSpPr>
          <p:cNvPr id="138" name="Google Shape;138;p8">
            <a:extLst xmlns:a="http://schemas.openxmlformats.org/drawingml/2006/main">
              <a:ext uri="{FF2B5EF4-FFF2-40B4-BE49-F238E27FC236}">
                <a16:creationId xmlns:a16="http://schemas.microsoft.com/office/drawing/2014/main" id="{D9C22C66-2131-4575-BD3D-2386CF808C21}"/>
              </a:ext>
            </a:extLst>
          </p:cNvPr>
          <p:cNvSpPr>
            <a:spLocks xmlns:a="http://schemas.openxmlformats.org/drawingml/2006/main" noGrp="1"/>
          </p:cNvSpPr>
          <p:nvPr/>
        </p:nvSpPr>
        <p:spPr>
          <a:xfrm xmlns:a="http://schemas.openxmlformats.org/drawingml/2006/main">
            <a:off x="5513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Analyze existing data, models, or algorithms.</a:t>
            </a:r>
          </a:p>
        </p:txBody>
      </p:sp>
      <p:sp>
        <p:nvSpPr>
          <p:cNvPr id="139" name="Google Shape;139;p8">
            <a:extLst xmlns:a="http://schemas.openxmlformats.org/drawingml/2006/main">
              <a:ext uri="{FF2B5EF4-FFF2-40B4-BE49-F238E27FC236}">
                <a16:creationId xmlns:a16="http://schemas.microsoft.com/office/drawing/2014/main" id="{60695987-2ADC-4C46-903C-5B0FEB88AF44}"/>
              </a:ext>
            </a:extLst>
          </p:cNvPr>
          <p:cNvSpPr>
            <a:spLocks xmlns:a="http://schemas.openxmlformats.org/drawingml/2006/main" noGrp="1"/>
          </p:cNvSpPr>
          <p:nvPr/>
        </p:nvSpPr>
        <p:spPr>
          <a:xfrm xmlns:a="http://schemas.openxmlformats.org/drawingml/2006/main">
            <a:off x="7635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0" name="Google Shape;140;p8">
            <a:extLst xmlns:a="http://schemas.openxmlformats.org/drawingml/2006/main">
              <a:ext uri="{FF2B5EF4-FFF2-40B4-BE49-F238E27FC236}">
                <a16:creationId xmlns:a16="http://schemas.microsoft.com/office/drawing/2014/main" id="{8B633A51-7954-4148-9FCA-89344B35D464}"/>
              </a:ext>
            </a:extLst>
          </p:cNvPr>
          <p:cNvSpPr>
            <a:spLocks xmlns:a="http://schemas.openxmlformats.org/drawingml/2006/main" noGrp="1"/>
          </p:cNvSpPr>
          <p:nvPr/>
        </p:nvSpPr>
        <p:spPr>
          <a:xfrm xmlns:a="http://schemas.openxmlformats.org/drawingml/2006/main">
            <a:off x="7799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FIELD / OBS.</a:t>
            </a:r>
          </a:p>
        </p:txBody>
      </p:sp>
      <p:sp>
        <p:nvSpPr>
          <p:cNvPr id="141" name="Google Shape;141;p8">
            <a:extLst xmlns:a="http://schemas.openxmlformats.org/drawingml/2006/main">
              <a:ext uri="{FF2B5EF4-FFF2-40B4-BE49-F238E27FC236}">
                <a16:creationId xmlns:a16="http://schemas.microsoft.com/office/drawing/2014/main" id="{D12EDC6D-6FD6-4B38-9384-3373121AE0AA}"/>
              </a:ext>
            </a:extLst>
          </p:cNvPr>
          <p:cNvSpPr>
            <a:spLocks xmlns:a="http://schemas.openxmlformats.org/drawingml/2006/main" noGrp="1"/>
          </p:cNvSpPr>
          <p:nvPr/>
        </p:nvSpPr>
        <p:spPr>
          <a:xfrm xmlns:a="http://schemas.openxmlformats.org/drawingml/2006/main">
            <a:off x="7799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Collect evidence from real-world systems.</a:t>
            </a:r>
          </a:p>
        </p:txBody>
      </p:sp>
      <p:sp>
        <p:nvSpPr>
          <p:cNvPr id="142" name="Google Shape;142;p8">
            <a:extLst xmlns:a="http://schemas.openxmlformats.org/drawingml/2006/main">
              <a:ext uri="{FF2B5EF4-FFF2-40B4-BE49-F238E27FC236}">
                <a16:creationId xmlns:a16="http://schemas.microsoft.com/office/drawing/2014/main" id="{980F9007-FA3D-4CCB-BEEA-9DA643C32ED7}"/>
              </a:ext>
            </a:extLst>
          </p:cNvPr>
          <p:cNvSpPr>
            <a:spLocks xmlns:a="http://schemas.openxmlformats.org/drawingml/2006/main" noGrp="1"/>
          </p:cNvSpPr>
          <p:nvPr/>
        </p:nvSpPr>
        <p:spPr>
          <a:xfrm xmlns:a="http://schemas.openxmlformats.org/drawingml/2006/main">
            <a:off x="4983480" y="3657600"/>
            <a:ext cx="2240280" cy="1325880"/>
          </a:xfrm>
          <a:prstGeom xmlns:a="http://schemas.openxmlformats.org/drawingml/2006/main" prst="roundRect">
            <a:avLst>
              <a:gd name="adj" fmla="val 4138"/>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8">
            <a:extLst xmlns:a="http://schemas.openxmlformats.org/drawingml/2006/main">
              <a:ext uri="{FF2B5EF4-FFF2-40B4-BE49-F238E27FC236}">
                <a16:creationId xmlns:a16="http://schemas.microsoft.com/office/drawing/2014/main" id="{F856C707-AE69-47A0-9AFA-6AFC2B7BC172}"/>
              </a:ext>
            </a:extLst>
          </p:cNvPr>
          <p:cNvSpPr>
            <a:spLocks xmlns:a="http://schemas.openxmlformats.org/drawingml/2006/main" noGrp="1"/>
          </p:cNvSpPr>
          <p:nvPr/>
        </p:nvSpPr>
        <p:spPr>
          <a:xfrm xmlns:a="http://schemas.openxmlformats.org/drawingml/2006/main">
            <a:off x="5148072" y="3794760"/>
            <a:ext cx="19110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PROTOTYPE</a:t>
            </a:r>
          </a:p>
        </p:txBody>
      </p:sp>
      <p:sp>
        <p:nvSpPr>
          <p:cNvPr id="144" name="Google Shape;144;p8">
            <a:extLst xmlns:a="http://schemas.openxmlformats.org/drawingml/2006/main">
              <a:ext uri="{FF2B5EF4-FFF2-40B4-BE49-F238E27FC236}">
                <a16:creationId xmlns:a16="http://schemas.microsoft.com/office/drawing/2014/main" id="{517DE70F-36E4-42EB-80A2-A72E0C6282CC}"/>
              </a:ext>
            </a:extLst>
          </p:cNvPr>
          <p:cNvSpPr>
            <a:spLocks xmlns:a="http://schemas.openxmlformats.org/drawingml/2006/main" noGrp="1"/>
          </p:cNvSpPr>
          <p:nvPr/>
        </p:nvSpPr>
        <p:spPr>
          <a:xfrm xmlns:a="http://schemas.openxmlformats.org/drawingml/2006/main">
            <a:off x="5148072" y="4160520"/>
            <a:ext cx="1911096" cy="667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Compare versions using performance metrics.</a:t>
            </a:r>
          </a:p>
        </p:txBody>
      </p:sp>
      <p:sp>
        <p:nvSpPr>
          <p:cNvPr id="145" name="Google Shape;145;p8">
            <a:extLst xmlns:a="http://schemas.openxmlformats.org/drawingml/2006/main">
              <a:ext uri="{FF2B5EF4-FFF2-40B4-BE49-F238E27FC236}">
                <a16:creationId xmlns:a16="http://schemas.microsoft.com/office/drawing/2014/main" id="{6D21036E-6956-4DAD-864C-4E2A08B07C54}"/>
              </a:ext>
            </a:extLst>
          </p:cNvPr>
          <p:cNvSpPr>
            <a:spLocks xmlns:a="http://schemas.openxmlformats.org/drawingml/2006/main" noGrp="1"/>
          </p:cNvSpPr>
          <p:nvPr/>
        </p:nvSpPr>
        <p:spPr>
          <a:xfrm xmlns:a="http://schemas.openxmlformats.org/drawingml/2006/main">
            <a:off x="914400" y="5468112"/>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Play"/>
              <a:buNone/>
            </a:pPr>
            <a:r>
              <a:rPr sz="2200" b="1">
                <a:solidFill>
                  <a:srgbClr val="FFFFFF"/>
                </a:solidFill>
                <a:latin typeface="Play"/>
                <a:ea typeface="Play"/>
                <a:cs typeface="Play"/>
              </a:rPr>
              <a:t>Different paths. Same expectations: evidence, ethics, documentation, communication.</a:t>
            </a:r>
          </a:p>
        </p:txBody>
      </p:sp>
    </p:spTree>
    <p:extLst>
      <p:ext uri="{BB962C8B-B14F-4D97-AF65-F5344CB8AC3E}">
        <p14:creationId xmlns:p14="http://schemas.microsoft.com/office/powerpoint/2010/main" val="923407368"/>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51" name="Google Shape;151;p9">
            <a:extLst xmlns:a="http://schemas.openxmlformats.org/drawingml/2006/main">
              <a:ext uri="{FF2B5EF4-FFF2-40B4-BE49-F238E27FC236}">
                <a16:creationId xmlns:a16="http://schemas.microsoft.com/office/drawing/2014/main" id="{86011B2E-17C9-4221-B864-1BA10109504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2" name="Google Shape;152;p9">
            <a:extLst xmlns:a="http://schemas.openxmlformats.org/drawingml/2006/main">
              <a:ext uri="{FF2B5EF4-FFF2-40B4-BE49-F238E27FC236}">
                <a16:creationId xmlns:a16="http://schemas.microsoft.com/office/drawing/2014/main" id="{BB6E8502-0F7D-4F7C-B10E-EC145FE96738}"/>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3" name="Google Shape;153;p9">
            <a:extLst xmlns:a="http://schemas.openxmlformats.org/drawingml/2006/main">
              <a:ext uri="{FF2B5EF4-FFF2-40B4-BE49-F238E27FC236}">
                <a16:creationId xmlns:a16="http://schemas.microsoft.com/office/drawing/2014/main" id="{C1421F08-3BB4-473A-AAC7-0885E4FC4FF7}"/>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4" name="Google Shape;154;p9">
            <a:extLst xmlns:a="http://schemas.openxmlformats.org/drawingml/2006/main">
              <a:ext uri="{FF2B5EF4-FFF2-40B4-BE49-F238E27FC236}">
                <a16:creationId xmlns:a16="http://schemas.microsoft.com/office/drawing/2014/main" id="{AB47B340-CFB0-4AE2-80AC-EA94875A0458}"/>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155" name="Google Shape;155;p9">
            <a:extLst xmlns:a="http://schemas.openxmlformats.org/drawingml/2006/main">
              <a:ext uri="{FF2B5EF4-FFF2-40B4-BE49-F238E27FC236}">
                <a16:creationId xmlns:a16="http://schemas.microsoft.com/office/drawing/2014/main" id="{A4524FB7-FD7F-4140-85D4-ED0550FA8A9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56" name="Google Shape;156;p9">
            <a:extLst xmlns:a="http://schemas.openxmlformats.org/drawingml/2006/main">
              <a:ext uri="{FF2B5EF4-FFF2-40B4-BE49-F238E27FC236}">
                <a16:creationId xmlns:a16="http://schemas.microsoft.com/office/drawing/2014/main" id="{59BBC8C2-FCF1-4A86-B3B3-711ED09551C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57" name="Google Shape;157;p9">
            <a:extLst xmlns:a="http://schemas.openxmlformats.org/drawingml/2006/main">
              <a:ext uri="{FF2B5EF4-FFF2-40B4-BE49-F238E27FC236}">
                <a16:creationId xmlns:a16="http://schemas.microsoft.com/office/drawing/2014/main" id="{92F508B2-27FC-40D7-93B9-4F65ACB2FF8B}"/>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What Makes It Authentic?</a:t>
            </a:r>
          </a:p>
        </p:txBody>
      </p:sp>
      <p:sp>
        <p:nvSpPr>
          <p:cNvPr id="158" name="Google Shape;158;p9">
            <a:extLst xmlns:a="http://schemas.openxmlformats.org/drawingml/2006/main">
              <a:ext uri="{FF2B5EF4-FFF2-40B4-BE49-F238E27FC236}">
                <a16:creationId xmlns:a16="http://schemas.microsoft.com/office/drawing/2014/main" id="{BFBA4335-E32E-4379-B7E1-9920612CDCDA}"/>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Authentic research includes uncertainty, evidence, revision, and communication.</a:t>
            </a:r>
          </a:p>
        </p:txBody>
      </p:sp>
      <p:cxnSp>
        <p:nvCxnSpPr>
          <p:cNvPr id="198" name="Google Shape;159;p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60" name="Google Shape;160;p9">
            <a:extLst xmlns:a="http://schemas.openxmlformats.org/drawingml/2006/main">
              <a:ext uri="{FF2B5EF4-FFF2-40B4-BE49-F238E27FC236}">
                <a16:creationId xmlns:a16="http://schemas.microsoft.com/office/drawing/2014/main" id="{310BCDFB-DB63-4806-BF85-C69A11029822}"/>
              </a:ext>
            </a:extLst>
          </p:cNvPr>
          <p:cNvSpPr>
            <a:spLocks xmlns:a="http://schemas.openxmlformats.org/drawingml/2006/main" noGrp="1"/>
          </p:cNvSpPr>
          <p:nvPr/>
        </p:nvSpPr>
        <p:spPr>
          <a:xfrm xmlns:a="http://schemas.openxmlformats.org/drawingml/2006/main">
            <a:off x="91440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1" name="Google Shape;161;p9">
            <a:extLst xmlns:a="http://schemas.openxmlformats.org/drawingml/2006/main">
              <a:ext uri="{FF2B5EF4-FFF2-40B4-BE49-F238E27FC236}">
                <a16:creationId xmlns:a16="http://schemas.microsoft.com/office/drawing/2014/main" id="{4CA1C240-197A-4C82-A77D-434C12D8E801}"/>
              </a:ext>
            </a:extLst>
          </p:cNvPr>
          <p:cNvSpPr>
            <a:spLocks xmlns:a="http://schemas.openxmlformats.org/drawingml/2006/main" noGrp="1"/>
          </p:cNvSpPr>
          <p:nvPr/>
        </p:nvSpPr>
        <p:spPr>
          <a:xfrm xmlns:a="http://schemas.openxmlformats.org/drawingml/2006/main">
            <a:off x="107899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UNCERTAINTY</a:t>
            </a:r>
          </a:p>
        </p:txBody>
      </p:sp>
      <p:sp>
        <p:nvSpPr>
          <p:cNvPr id="162" name="Google Shape;162;p9">
            <a:extLst xmlns:a="http://schemas.openxmlformats.org/drawingml/2006/main">
              <a:ext uri="{FF2B5EF4-FFF2-40B4-BE49-F238E27FC236}">
                <a16:creationId xmlns:a16="http://schemas.microsoft.com/office/drawing/2014/main" id="{67A404C0-41A9-4C65-9541-48DA5AD24F7E}"/>
              </a:ext>
            </a:extLst>
          </p:cNvPr>
          <p:cNvSpPr>
            <a:spLocks xmlns:a="http://schemas.openxmlformats.org/drawingml/2006/main" noGrp="1"/>
          </p:cNvSpPr>
          <p:nvPr/>
        </p:nvSpPr>
        <p:spPr>
          <a:xfrm xmlns:a="http://schemas.openxmlformats.org/drawingml/2006/main">
            <a:off x="107899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outcome is not fully known in advance.</a:t>
            </a:r>
          </a:p>
        </p:txBody>
      </p:sp>
      <p:sp>
        <p:nvSpPr>
          <p:cNvPr id="163" name="Google Shape;163;p9">
            <a:extLst xmlns:a="http://schemas.openxmlformats.org/drawingml/2006/main">
              <a:ext uri="{FF2B5EF4-FFF2-40B4-BE49-F238E27FC236}">
                <a16:creationId xmlns:a16="http://schemas.microsoft.com/office/drawing/2014/main" id="{27F161BF-C834-4D36-8124-52B0758D983B}"/>
              </a:ext>
            </a:extLst>
          </p:cNvPr>
          <p:cNvSpPr>
            <a:spLocks xmlns:a="http://schemas.openxmlformats.org/drawingml/2006/main" noGrp="1"/>
          </p:cNvSpPr>
          <p:nvPr/>
        </p:nvSpPr>
        <p:spPr>
          <a:xfrm xmlns:a="http://schemas.openxmlformats.org/drawingml/2006/main">
            <a:off x="356616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4" name="Google Shape;164;p9">
            <a:extLst xmlns:a="http://schemas.openxmlformats.org/drawingml/2006/main">
              <a:ext uri="{FF2B5EF4-FFF2-40B4-BE49-F238E27FC236}">
                <a16:creationId xmlns:a16="http://schemas.microsoft.com/office/drawing/2014/main" id="{58FFF76C-6F0A-4FF6-8BAC-CFFAB8D2A5C7}"/>
              </a:ext>
            </a:extLst>
          </p:cNvPr>
          <p:cNvSpPr>
            <a:spLocks xmlns:a="http://schemas.openxmlformats.org/drawingml/2006/main" noGrp="1"/>
          </p:cNvSpPr>
          <p:nvPr/>
        </p:nvSpPr>
        <p:spPr>
          <a:xfrm xmlns:a="http://schemas.openxmlformats.org/drawingml/2006/main">
            <a:off x="373075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EVIDENCE</a:t>
            </a:r>
          </a:p>
        </p:txBody>
      </p:sp>
      <p:sp>
        <p:nvSpPr>
          <p:cNvPr id="165" name="Google Shape;165;p9">
            <a:extLst xmlns:a="http://schemas.openxmlformats.org/drawingml/2006/main">
              <a:ext uri="{FF2B5EF4-FFF2-40B4-BE49-F238E27FC236}">
                <a16:creationId xmlns:a16="http://schemas.microsoft.com/office/drawing/2014/main" id="{8D0BB11B-FF21-4A78-B6FD-6671FDDA7922}"/>
              </a:ext>
            </a:extLst>
          </p:cNvPr>
          <p:cNvSpPr>
            <a:spLocks xmlns:a="http://schemas.openxmlformats.org/drawingml/2006/main" noGrp="1"/>
          </p:cNvSpPr>
          <p:nvPr/>
        </p:nvSpPr>
        <p:spPr>
          <a:xfrm xmlns:a="http://schemas.openxmlformats.org/drawingml/2006/main">
            <a:off x="373075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Claims must be supported by data, observations, testing, or analysis.</a:t>
            </a:r>
          </a:p>
        </p:txBody>
      </p:sp>
      <p:sp>
        <p:nvSpPr>
          <p:cNvPr id="166" name="Google Shape;166;p9">
            <a:extLst xmlns:a="http://schemas.openxmlformats.org/drawingml/2006/main">
              <a:ext uri="{FF2B5EF4-FFF2-40B4-BE49-F238E27FC236}">
                <a16:creationId xmlns:a16="http://schemas.microsoft.com/office/drawing/2014/main" id="{162B33C2-91E6-43A6-86C4-D617C9E94621}"/>
              </a:ext>
            </a:extLst>
          </p:cNvPr>
          <p:cNvSpPr>
            <a:spLocks xmlns:a="http://schemas.openxmlformats.org/drawingml/2006/main" noGrp="1"/>
          </p:cNvSpPr>
          <p:nvPr/>
        </p:nvSpPr>
        <p:spPr>
          <a:xfrm xmlns:a="http://schemas.openxmlformats.org/drawingml/2006/main">
            <a:off x="621792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7" name="Google Shape;167;p9">
            <a:extLst xmlns:a="http://schemas.openxmlformats.org/drawingml/2006/main">
              <a:ext uri="{FF2B5EF4-FFF2-40B4-BE49-F238E27FC236}">
                <a16:creationId xmlns:a16="http://schemas.microsoft.com/office/drawing/2014/main" id="{823BD5E5-3ABF-40AA-8B98-457005AD6708}"/>
              </a:ext>
            </a:extLst>
          </p:cNvPr>
          <p:cNvSpPr>
            <a:spLocks xmlns:a="http://schemas.openxmlformats.org/drawingml/2006/main" noGrp="1"/>
          </p:cNvSpPr>
          <p:nvPr/>
        </p:nvSpPr>
        <p:spPr>
          <a:xfrm xmlns:a="http://schemas.openxmlformats.org/drawingml/2006/main">
            <a:off x="638251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REVISION</a:t>
            </a:r>
          </a:p>
        </p:txBody>
      </p:sp>
      <p:sp>
        <p:nvSpPr>
          <p:cNvPr id="168" name="Google Shape;168;p9">
            <a:extLst xmlns:a="http://schemas.openxmlformats.org/drawingml/2006/main">
              <a:ext uri="{FF2B5EF4-FFF2-40B4-BE49-F238E27FC236}">
                <a16:creationId xmlns:a16="http://schemas.microsoft.com/office/drawing/2014/main" id="{016BD583-DB5B-40A0-A08D-B701BE10569D}"/>
              </a:ext>
            </a:extLst>
          </p:cNvPr>
          <p:cNvSpPr>
            <a:spLocks xmlns:a="http://schemas.openxmlformats.org/drawingml/2006/main" noGrp="1"/>
          </p:cNvSpPr>
          <p:nvPr/>
        </p:nvSpPr>
        <p:spPr>
          <a:xfrm xmlns:a="http://schemas.openxmlformats.org/drawingml/2006/main">
            <a:off x="638251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Methods and ideas improve when reality pushes back.</a:t>
            </a:r>
          </a:p>
        </p:txBody>
      </p:sp>
      <p:sp>
        <p:nvSpPr>
          <p:cNvPr id="169" name="Google Shape;169;p9">
            <a:extLst xmlns:a="http://schemas.openxmlformats.org/drawingml/2006/main">
              <a:ext uri="{FF2B5EF4-FFF2-40B4-BE49-F238E27FC236}">
                <a16:creationId xmlns:a16="http://schemas.microsoft.com/office/drawing/2014/main" id="{507B947A-97DD-48E2-B19F-DF3B71849E05}"/>
              </a:ext>
            </a:extLst>
          </p:cNvPr>
          <p:cNvSpPr>
            <a:spLocks xmlns:a="http://schemas.openxmlformats.org/drawingml/2006/main" noGrp="1"/>
          </p:cNvSpPr>
          <p:nvPr/>
        </p:nvSpPr>
        <p:spPr>
          <a:xfrm xmlns:a="http://schemas.openxmlformats.org/drawingml/2006/main">
            <a:off x="886968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0" name="Google Shape;170;p9">
            <a:extLst xmlns:a="http://schemas.openxmlformats.org/drawingml/2006/main">
              <a:ext uri="{FF2B5EF4-FFF2-40B4-BE49-F238E27FC236}">
                <a16:creationId xmlns:a16="http://schemas.microsoft.com/office/drawing/2014/main" id="{FDF44B9B-0F45-46D7-9A15-A9F40D9D2967}"/>
              </a:ext>
            </a:extLst>
          </p:cNvPr>
          <p:cNvSpPr>
            <a:spLocks xmlns:a="http://schemas.openxmlformats.org/drawingml/2006/main" noGrp="1"/>
          </p:cNvSpPr>
          <p:nvPr/>
        </p:nvSpPr>
        <p:spPr>
          <a:xfrm xmlns:a="http://schemas.openxmlformats.org/drawingml/2006/main">
            <a:off x="903427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COMMUNICATION</a:t>
            </a:r>
          </a:p>
        </p:txBody>
      </p:sp>
      <p:sp>
        <p:nvSpPr>
          <p:cNvPr id="171" name="Google Shape;171;p9">
            <a:extLst xmlns:a="http://schemas.openxmlformats.org/drawingml/2006/main">
              <a:ext uri="{FF2B5EF4-FFF2-40B4-BE49-F238E27FC236}">
                <a16:creationId xmlns:a16="http://schemas.microsoft.com/office/drawing/2014/main" id="{52214F5D-D0C3-4CC9-902B-DCD71A25F4BC}"/>
              </a:ext>
            </a:extLst>
          </p:cNvPr>
          <p:cNvSpPr>
            <a:spLocks xmlns:a="http://schemas.openxmlformats.org/drawingml/2006/main" noGrp="1"/>
          </p:cNvSpPr>
          <p:nvPr/>
        </p:nvSpPr>
        <p:spPr>
          <a:xfrm xmlns:a="http://schemas.openxmlformats.org/drawingml/2006/main">
            <a:off x="903427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Research is not complete until others can understand it.</a:t>
            </a:r>
          </a:p>
        </p:txBody>
      </p:sp>
    </p:spTree>
    <p:extLst>
      <p:ext uri="{BB962C8B-B14F-4D97-AF65-F5344CB8AC3E}">
        <p14:creationId xmlns:p14="http://schemas.microsoft.com/office/powerpoint/2010/main" val="2045729346"/>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7" name="Google Shape;177;p10">
            <a:extLst xmlns:a="http://schemas.openxmlformats.org/drawingml/2006/main">
              <a:ext uri="{FF2B5EF4-FFF2-40B4-BE49-F238E27FC236}">
                <a16:creationId xmlns:a16="http://schemas.microsoft.com/office/drawing/2014/main" id="{BF80EBF1-CEFA-4330-978D-0111972BE31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8" name="Google Shape;178;p10">
            <a:extLst xmlns:a="http://schemas.openxmlformats.org/drawingml/2006/main">
              <a:ext uri="{FF2B5EF4-FFF2-40B4-BE49-F238E27FC236}">
                <a16:creationId xmlns:a16="http://schemas.microsoft.com/office/drawing/2014/main" id="{6644175F-7041-468C-B50F-39B3FB52B6A2}"/>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9" name="Google Shape;179;p10">
            <a:extLst xmlns:a="http://schemas.openxmlformats.org/drawingml/2006/main">
              <a:ext uri="{FF2B5EF4-FFF2-40B4-BE49-F238E27FC236}">
                <a16:creationId xmlns:a16="http://schemas.microsoft.com/office/drawing/2014/main" id="{D8182F51-2F3C-4D37-93FF-3029AE064D2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0" name="Google Shape;180;p10">
            <a:extLst xmlns:a="http://schemas.openxmlformats.org/drawingml/2006/main">
              <a:ext uri="{FF2B5EF4-FFF2-40B4-BE49-F238E27FC236}">
                <a16:creationId xmlns:a16="http://schemas.microsoft.com/office/drawing/2014/main" id="{2A1C6479-3614-4CB3-A864-205A642E6E47}"/>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181" name="Google Shape;181;p10">
            <a:extLst xmlns:a="http://schemas.openxmlformats.org/drawingml/2006/main">
              <a:ext uri="{FF2B5EF4-FFF2-40B4-BE49-F238E27FC236}">
                <a16:creationId xmlns:a16="http://schemas.microsoft.com/office/drawing/2014/main" id="{9E248B61-3873-4942-8A09-0715F05E3E26}"/>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82" name="Google Shape;182;p10">
            <a:extLst xmlns:a="http://schemas.openxmlformats.org/drawingml/2006/main">
              <a:ext uri="{FF2B5EF4-FFF2-40B4-BE49-F238E27FC236}">
                <a16:creationId xmlns:a16="http://schemas.microsoft.com/office/drawing/2014/main" id="{84DC3652-0325-41FC-A4C6-01CEFAFDF7C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83" name="Google Shape;183;p10">
            <a:extLst xmlns:a="http://schemas.openxmlformats.org/drawingml/2006/main">
              <a:ext uri="{FF2B5EF4-FFF2-40B4-BE49-F238E27FC236}">
                <a16:creationId xmlns:a16="http://schemas.microsoft.com/office/drawing/2014/main" id="{76183816-753E-4CF7-BB55-ECE99A456B72}"/>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Quick Write: What Counts as Research?</a:t>
            </a:r>
          </a:p>
        </p:txBody>
      </p:sp>
      <p:sp>
        <p:nvSpPr>
          <p:cNvPr id="184" name="Google Shape;184;p10">
            <a:extLst xmlns:a="http://schemas.openxmlformats.org/drawingml/2006/main">
              <a:ext uri="{FF2B5EF4-FFF2-40B4-BE49-F238E27FC236}">
                <a16:creationId xmlns:a16="http://schemas.microsoft.com/office/drawing/2014/main" id="{1587CB26-5950-4AA8-BA11-3F3643F38BBF}"/>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4 minutes • Unit 1</a:t>
            </a:r>
          </a:p>
        </p:txBody>
      </p:sp>
      <p:cxnSp>
        <p:nvCxnSpPr>
          <p:cNvPr id="215" name="Google Shape;185;p10"/>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86" name="Google Shape;186;p10">
            <a:extLst xmlns:a="http://schemas.openxmlformats.org/drawingml/2006/main">
              <a:ext uri="{FF2B5EF4-FFF2-40B4-BE49-F238E27FC236}">
                <a16:creationId xmlns:a16="http://schemas.microsoft.com/office/drawing/2014/main" id="{36F54E77-35DA-4F90-BFF6-ED0FC853BB71}"/>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7" name="Google Shape;187;p10">
            <a:extLst xmlns:a="http://schemas.openxmlformats.org/drawingml/2006/main">
              <a:ext uri="{FF2B5EF4-FFF2-40B4-BE49-F238E27FC236}">
                <a16:creationId xmlns:a16="http://schemas.microsoft.com/office/drawing/2014/main" id="{567860DB-263D-4325-AF30-B82A6CC642AB}"/>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188" name="Google Shape;188;p10">
            <a:extLst xmlns:a="http://schemas.openxmlformats.org/drawingml/2006/main">
              <a:ext uri="{FF2B5EF4-FFF2-40B4-BE49-F238E27FC236}">
                <a16:creationId xmlns:a16="http://schemas.microsoft.com/office/drawing/2014/main" id="{3CE94C78-68E3-4BCA-BC6C-9E3DEC47ABB0}"/>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In your packet, answer: “What makes a project real research instead of just an activity or demonstration?”</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Use one example.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Then compare your answer with a partner.</a:t>
            </a:r>
          </a:p>
        </p:txBody>
      </p:sp>
    </p:spTree>
    <p:extLst>
      <p:ext uri="{BB962C8B-B14F-4D97-AF65-F5344CB8AC3E}">
        <p14:creationId xmlns:p14="http://schemas.microsoft.com/office/powerpoint/2010/main" val="1969548662"/>
      </p:ext>
    </p:extLst>
  </p:cSld>
</p:sld>
</file>

<file path=ppt/slides/slide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4" name="Google Shape;194;p11">
            <a:extLst xmlns:a="http://schemas.openxmlformats.org/drawingml/2006/main">
              <a:ext uri="{FF2B5EF4-FFF2-40B4-BE49-F238E27FC236}">
                <a16:creationId xmlns:a16="http://schemas.microsoft.com/office/drawing/2014/main" id="{2AE48179-67FE-4BDE-9FD1-DAB2EA45178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5" name="Google Shape;195;p11">
            <a:extLst xmlns:a="http://schemas.openxmlformats.org/drawingml/2006/main">
              <a:ext uri="{FF2B5EF4-FFF2-40B4-BE49-F238E27FC236}">
                <a16:creationId xmlns:a16="http://schemas.microsoft.com/office/drawing/2014/main" id="{5EC6DF46-7946-4822-9048-28EFAEB22FCD}"/>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6" name="Google Shape;196;p11">
            <a:extLst xmlns:a="http://schemas.openxmlformats.org/drawingml/2006/main">
              <a:ext uri="{FF2B5EF4-FFF2-40B4-BE49-F238E27FC236}">
                <a16:creationId xmlns:a16="http://schemas.microsoft.com/office/drawing/2014/main" id="{3F651A15-2F1C-46CC-A763-FFF695F4D69C}"/>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7" name="Google Shape;197;p11">
            <a:extLst xmlns:a="http://schemas.openxmlformats.org/drawingml/2006/main">
              <a:ext uri="{FF2B5EF4-FFF2-40B4-BE49-F238E27FC236}">
                <a16:creationId xmlns:a16="http://schemas.microsoft.com/office/drawing/2014/main" id="{8BEA8928-04D4-4C36-8E4D-44E2DF72EE17}"/>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198" name="Google Shape;198;p11">
            <a:extLst xmlns:a="http://schemas.openxmlformats.org/drawingml/2006/main">
              <a:ext uri="{FF2B5EF4-FFF2-40B4-BE49-F238E27FC236}">
                <a16:creationId xmlns:a16="http://schemas.microsoft.com/office/drawing/2014/main" id="{9013A202-C483-4675-A389-89AB08B6C40A}"/>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99" name="Google Shape;199;p11">
            <a:extLst xmlns:a="http://schemas.openxmlformats.org/drawingml/2006/main">
              <a:ext uri="{FF2B5EF4-FFF2-40B4-BE49-F238E27FC236}">
                <a16:creationId xmlns:a16="http://schemas.microsoft.com/office/drawing/2014/main" id="{000D758F-D62B-44B6-B55E-4CEAC338979D}"/>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00" name="Google Shape;200;p11">
            <a:extLst xmlns:a="http://schemas.openxmlformats.org/drawingml/2006/main">
              <a:ext uri="{FF2B5EF4-FFF2-40B4-BE49-F238E27FC236}">
                <a16:creationId xmlns:a16="http://schemas.microsoft.com/office/drawing/2014/main" id="{23128B03-BB21-4052-A867-AA7AE280F93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Not Research Yet → Stronger Research</a:t>
            </a:r>
          </a:p>
        </p:txBody>
      </p:sp>
      <p:sp>
        <p:nvSpPr>
          <p:cNvPr id="201" name="Google Shape;201;p11">
            <a:extLst xmlns:a="http://schemas.openxmlformats.org/drawingml/2006/main">
              <a:ext uri="{FF2B5EF4-FFF2-40B4-BE49-F238E27FC236}">
                <a16:creationId xmlns:a16="http://schemas.microsoft.com/office/drawing/2014/main" id="{CA69D4BC-057E-4ECC-9576-6E1029E161E3}"/>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 good idea usually needs narrowing before it becomes investigable.</a:t>
            </a:r>
          </a:p>
        </p:txBody>
      </p:sp>
      <p:cxnSp>
        <p:nvCxnSpPr>
          <p:cNvPr id="239" name="Google Shape;202;p11"/>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03" name="Google Shape;203;p11">
            <a:extLst xmlns:a="http://schemas.openxmlformats.org/drawingml/2006/main">
              <a:ext uri="{FF2B5EF4-FFF2-40B4-BE49-F238E27FC236}">
                <a16:creationId xmlns:a16="http://schemas.microsoft.com/office/drawing/2014/main" id="{9DB0E3B6-A4D3-4841-9501-25AC54303F8D}"/>
              </a:ext>
            </a:extLst>
          </p:cNvPr>
          <p:cNvSpPr>
            <a:spLocks xmlns:a="http://schemas.openxmlformats.org/drawingml/2006/main" noGrp="1"/>
          </p:cNvSpPr>
          <p:nvPr/>
        </p:nvSpPr>
        <p:spPr>
          <a:xfrm xmlns:a="http://schemas.openxmlformats.org/drawingml/2006/main">
            <a:off x="822960" y="1920240"/>
            <a:ext cx="3337560" cy="2468880"/>
          </a:xfrm>
          <a:prstGeom xmlns:a="http://schemas.openxmlformats.org/drawingml/2006/main" prst="roundRect">
            <a:avLst>
              <a:gd name="adj" fmla="val 2222"/>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4" name="Google Shape;204;p11">
            <a:extLst xmlns:a="http://schemas.openxmlformats.org/drawingml/2006/main">
              <a:ext uri="{FF2B5EF4-FFF2-40B4-BE49-F238E27FC236}">
                <a16:creationId xmlns:a16="http://schemas.microsoft.com/office/drawing/2014/main" id="{9B6B931C-8586-4434-B634-9BE555D344B1}"/>
              </a:ext>
            </a:extLst>
          </p:cNvPr>
          <p:cNvSpPr>
            <a:spLocks xmlns:a="http://schemas.openxmlformats.org/drawingml/2006/main" noGrp="1"/>
          </p:cNvSpPr>
          <p:nvPr/>
        </p:nvSpPr>
        <p:spPr>
          <a:xfrm xmlns:a="http://schemas.openxmlformats.org/drawingml/2006/main">
            <a:off x="987552" y="2057400"/>
            <a:ext cx="30083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NOT RESEARCH YET</a:t>
            </a:r>
          </a:p>
        </p:txBody>
      </p:sp>
      <p:sp>
        <p:nvSpPr>
          <p:cNvPr id="205" name="Google Shape;205;p11">
            <a:extLst xmlns:a="http://schemas.openxmlformats.org/drawingml/2006/main">
              <a:ext uri="{FF2B5EF4-FFF2-40B4-BE49-F238E27FC236}">
                <a16:creationId xmlns:a16="http://schemas.microsoft.com/office/drawing/2014/main" id="{07D2443D-7AE0-4745-865A-E76A22D40FE2}"/>
              </a:ext>
            </a:extLst>
          </p:cNvPr>
          <p:cNvSpPr>
            <a:spLocks xmlns:a="http://schemas.openxmlformats.org/drawingml/2006/main" noGrp="1"/>
          </p:cNvSpPr>
          <p:nvPr/>
        </p:nvSpPr>
        <p:spPr>
          <a:xfrm xmlns:a="http://schemas.openxmlformats.org/drawingml/2006/main">
            <a:off x="987552" y="2423160"/>
            <a:ext cx="3008376"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“I want to learn about cancer.”</a:t>
            </a:r>
          </a:p>
        </p:txBody>
      </p:sp>
      <p:sp>
        <p:nvSpPr>
          <p:cNvPr id="206" name="Google Shape;206;p11">
            <a:extLst xmlns:a="http://schemas.openxmlformats.org/drawingml/2006/main">
              <a:ext uri="{FF2B5EF4-FFF2-40B4-BE49-F238E27FC236}">
                <a16:creationId xmlns:a16="http://schemas.microsoft.com/office/drawing/2014/main" id="{1BEE3F06-1F28-4DA6-865E-A83F1B78199F}"/>
              </a:ext>
            </a:extLst>
          </p:cNvPr>
          <p:cNvSpPr>
            <a:spLocks xmlns:a="http://schemas.openxmlformats.org/drawingml/2006/main" noGrp="1"/>
          </p:cNvSpPr>
          <p:nvPr/>
        </p:nvSpPr>
        <p:spPr>
          <a:xfrm xmlns:a="http://schemas.openxmlformats.org/drawingml/2006/main">
            <a:off x="4434840" y="1920240"/>
            <a:ext cx="3337560" cy="2468880"/>
          </a:xfrm>
          <a:prstGeom xmlns:a="http://schemas.openxmlformats.org/drawingml/2006/main" prst="roundRect">
            <a:avLst>
              <a:gd name="adj" fmla="val 2222"/>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7" name="Google Shape;207;p11">
            <a:extLst xmlns:a="http://schemas.openxmlformats.org/drawingml/2006/main">
              <a:ext uri="{FF2B5EF4-FFF2-40B4-BE49-F238E27FC236}">
                <a16:creationId xmlns:a16="http://schemas.microsoft.com/office/drawing/2014/main" id="{E885B390-0374-402C-976E-6DF8A96B3306}"/>
              </a:ext>
            </a:extLst>
          </p:cNvPr>
          <p:cNvSpPr>
            <a:spLocks xmlns:a="http://schemas.openxmlformats.org/drawingml/2006/main" noGrp="1"/>
          </p:cNvSpPr>
          <p:nvPr/>
        </p:nvSpPr>
        <p:spPr>
          <a:xfrm xmlns:a="http://schemas.openxmlformats.org/drawingml/2006/main">
            <a:off x="4599432" y="2057400"/>
            <a:ext cx="30083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POSSIBLE DIRECTION</a:t>
            </a:r>
          </a:p>
        </p:txBody>
      </p:sp>
      <p:sp>
        <p:nvSpPr>
          <p:cNvPr id="208" name="Google Shape;208;p11">
            <a:extLst xmlns:a="http://schemas.openxmlformats.org/drawingml/2006/main">
              <a:ext uri="{FF2B5EF4-FFF2-40B4-BE49-F238E27FC236}">
                <a16:creationId xmlns:a16="http://schemas.microsoft.com/office/drawing/2014/main" id="{ABDC8130-507D-491A-918A-87E7B766FD80}"/>
              </a:ext>
            </a:extLst>
          </p:cNvPr>
          <p:cNvSpPr>
            <a:spLocks xmlns:a="http://schemas.openxmlformats.org/drawingml/2006/main" noGrp="1"/>
          </p:cNvSpPr>
          <p:nvPr/>
        </p:nvSpPr>
        <p:spPr>
          <a:xfrm xmlns:a="http://schemas.openxmlformats.org/drawingml/2006/main">
            <a:off x="4599432" y="2423160"/>
            <a:ext cx="3008376"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“I want to study how cells respond to stress.”</a:t>
            </a:r>
          </a:p>
        </p:txBody>
      </p:sp>
      <p:sp>
        <p:nvSpPr>
          <p:cNvPr id="209" name="Google Shape;209;p11">
            <a:extLst xmlns:a="http://schemas.openxmlformats.org/drawingml/2006/main">
              <a:ext uri="{FF2B5EF4-FFF2-40B4-BE49-F238E27FC236}">
                <a16:creationId xmlns:a16="http://schemas.microsoft.com/office/drawing/2014/main" id="{07A4742F-670B-4138-9940-C7A5050353F9}"/>
              </a:ext>
            </a:extLst>
          </p:cNvPr>
          <p:cNvSpPr>
            <a:spLocks xmlns:a="http://schemas.openxmlformats.org/drawingml/2006/main" noGrp="1"/>
          </p:cNvSpPr>
          <p:nvPr/>
        </p:nvSpPr>
        <p:spPr>
          <a:xfrm xmlns:a="http://schemas.openxmlformats.org/drawingml/2006/main">
            <a:off x="8046720" y="1920240"/>
            <a:ext cx="3337560" cy="2468880"/>
          </a:xfrm>
          <a:prstGeom xmlns:a="http://schemas.openxmlformats.org/drawingml/2006/main" prst="roundRect">
            <a:avLst>
              <a:gd name="adj" fmla="val 2222"/>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0" name="Google Shape;210;p11">
            <a:extLst xmlns:a="http://schemas.openxmlformats.org/drawingml/2006/main">
              <a:ext uri="{FF2B5EF4-FFF2-40B4-BE49-F238E27FC236}">
                <a16:creationId xmlns:a16="http://schemas.microsoft.com/office/drawing/2014/main" id="{E0B89E84-0586-4FAE-82FD-4A3150D99051}"/>
              </a:ext>
            </a:extLst>
          </p:cNvPr>
          <p:cNvSpPr>
            <a:spLocks xmlns:a="http://schemas.openxmlformats.org/drawingml/2006/main" noGrp="1"/>
          </p:cNvSpPr>
          <p:nvPr/>
        </p:nvSpPr>
        <p:spPr>
          <a:xfrm xmlns:a="http://schemas.openxmlformats.org/drawingml/2006/main">
            <a:off x="8211312" y="2057400"/>
            <a:ext cx="30083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STRONGER RESEARCH</a:t>
            </a:r>
          </a:p>
        </p:txBody>
      </p:sp>
      <p:sp>
        <p:nvSpPr>
          <p:cNvPr id="211" name="Google Shape;211;p11">
            <a:extLst xmlns:a="http://schemas.openxmlformats.org/drawingml/2006/main">
              <a:ext uri="{FF2B5EF4-FFF2-40B4-BE49-F238E27FC236}">
                <a16:creationId xmlns:a16="http://schemas.microsoft.com/office/drawing/2014/main" id="{4EE22B00-C322-4094-8888-76C2DEBAF503}"/>
              </a:ext>
            </a:extLst>
          </p:cNvPr>
          <p:cNvSpPr>
            <a:spLocks xmlns:a="http://schemas.openxmlformats.org/drawingml/2006/main" noGrp="1"/>
          </p:cNvSpPr>
          <p:nvPr/>
        </p:nvSpPr>
        <p:spPr>
          <a:xfrm xmlns:a="http://schemas.openxmlformats.org/drawingml/2006/main">
            <a:off x="8211312" y="2423160"/>
            <a:ext cx="3008376"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“How does simulated environmental stress affect a measurable model system under safe classroom conditions?”</a:t>
            </a:r>
          </a:p>
        </p:txBody>
      </p:sp>
      <p:sp>
        <p:nvSpPr>
          <p:cNvPr id="212" name="Google Shape;212;p11">
            <a:extLst xmlns:a="http://schemas.openxmlformats.org/drawingml/2006/main">
              <a:ext uri="{FF2B5EF4-FFF2-40B4-BE49-F238E27FC236}">
                <a16:creationId xmlns:a16="http://schemas.microsoft.com/office/drawing/2014/main" id="{81D8373D-6AF5-406E-8FEA-1FFA92AF76FA}"/>
              </a:ext>
            </a:extLst>
          </p:cNvPr>
          <p:cNvSpPr>
            <a:spLocks xmlns:a="http://schemas.openxmlformats.org/drawingml/2006/main" noGrp="1"/>
          </p:cNvSpPr>
          <p:nvPr/>
        </p:nvSpPr>
        <p:spPr>
          <a:xfrm xmlns:a="http://schemas.openxmlformats.org/drawingml/2006/main">
            <a:off x="914400" y="5257800"/>
            <a:ext cx="1033272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Play"/>
              <a:buNone/>
            </a:pPr>
            <a:r>
              <a:rPr sz="2400" b="1">
                <a:solidFill>
                  <a:srgbClr val="FFFFFF"/>
                </a:solidFill>
                <a:latin typeface="Play"/>
                <a:ea typeface="Play"/>
                <a:cs typeface="Play"/>
              </a:rPr>
              <a:t>Move from topic → focused system → measurable evidence.</a:t>
            </a:r>
          </a:p>
        </p:txBody>
      </p:sp>
    </p:spTree>
    <p:extLst>
      <p:ext uri="{BB962C8B-B14F-4D97-AF65-F5344CB8AC3E}">
        <p14:creationId xmlns:p14="http://schemas.microsoft.com/office/powerpoint/2010/main" val="339578929"/>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18" name="Google Shape;218;p12">
            <a:extLst xmlns:a="http://schemas.openxmlformats.org/drawingml/2006/main">
              <a:ext uri="{FF2B5EF4-FFF2-40B4-BE49-F238E27FC236}">
                <a16:creationId xmlns:a16="http://schemas.microsoft.com/office/drawing/2014/main" id="{B2A656E8-71E1-440F-A259-8951248AAE2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9" name="Google Shape;219;p12">
            <a:extLst xmlns:a="http://schemas.openxmlformats.org/drawingml/2006/main">
              <a:ext uri="{FF2B5EF4-FFF2-40B4-BE49-F238E27FC236}">
                <a16:creationId xmlns:a16="http://schemas.microsoft.com/office/drawing/2014/main" id="{7B5A5D57-ED7E-4F17-A953-F036E02BC0F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0" name="Google Shape;220;p12">
            <a:extLst xmlns:a="http://schemas.openxmlformats.org/drawingml/2006/main">
              <a:ext uri="{FF2B5EF4-FFF2-40B4-BE49-F238E27FC236}">
                <a16:creationId xmlns:a16="http://schemas.microsoft.com/office/drawing/2014/main" id="{FDE742EA-6868-447B-A3D9-18662121E8D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1" name="Google Shape;221;p12">
            <a:extLst xmlns:a="http://schemas.openxmlformats.org/drawingml/2006/main">
              <a:ext uri="{FF2B5EF4-FFF2-40B4-BE49-F238E27FC236}">
                <a16:creationId xmlns:a16="http://schemas.microsoft.com/office/drawing/2014/main" id="{029B3F3C-F732-4C96-ACC5-825333785A22}"/>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222" name="Google Shape;222;p12">
            <a:extLst xmlns:a="http://schemas.openxmlformats.org/drawingml/2006/main">
              <a:ext uri="{FF2B5EF4-FFF2-40B4-BE49-F238E27FC236}">
                <a16:creationId xmlns:a16="http://schemas.microsoft.com/office/drawing/2014/main" id="{9A92D596-8229-44A5-9188-0DF1D23E20AF}"/>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23" name="Google Shape;223;p12">
            <a:extLst xmlns:a="http://schemas.openxmlformats.org/drawingml/2006/main">
              <a:ext uri="{FF2B5EF4-FFF2-40B4-BE49-F238E27FC236}">
                <a16:creationId xmlns:a16="http://schemas.microsoft.com/office/drawing/2014/main" id="{9FDE2991-1BC2-4F5B-8974-2ACAED95A16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24" name="Google Shape;224;p12">
            <a:extLst xmlns:a="http://schemas.openxmlformats.org/drawingml/2006/main">
              <a:ext uri="{FF2B5EF4-FFF2-40B4-BE49-F238E27FC236}">
                <a16:creationId xmlns:a16="http://schemas.microsoft.com/office/drawing/2014/main" id="{534D4AFE-7264-40C1-951E-EAD42C233EB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Failure Is Data</a:t>
            </a:r>
          </a:p>
        </p:txBody>
      </p:sp>
      <p:sp>
        <p:nvSpPr>
          <p:cNvPr id="225" name="Google Shape;225;p12">
            <a:extLst xmlns:a="http://schemas.openxmlformats.org/drawingml/2006/main">
              <a:ext uri="{FF2B5EF4-FFF2-40B4-BE49-F238E27FC236}">
                <a16:creationId xmlns:a16="http://schemas.microsoft.com/office/drawing/2014/main" id="{206D68D8-A192-448B-BA01-F0C373B58DE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When something fails, the question becomes: what did it reveal?</a:t>
            </a:r>
          </a:p>
        </p:txBody>
      </p:sp>
      <p:cxnSp>
        <p:nvCxnSpPr>
          <p:cNvPr id="254" name="Google Shape;226;p12"/>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27" name="Google Shape;227;p12">
            <a:extLst xmlns:a="http://schemas.openxmlformats.org/drawingml/2006/main">
              <a:ext uri="{FF2B5EF4-FFF2-40B4-BE49-F238E27FC236}">
                <a16:creationId xmlns:a16="http://schemas.microsoft.com/office/drawing/2014/main" id="{2740D65D-609C-4879-9DFE-C399CD1AF53F}"/>
              </a:ext>
            </a:extLst>
          </p:cNvPr>
          <p:cNvSpPr>
            <a:spLocks xmlns:a="http://schemas.openxmlformats.org/drawingml/2006/main" noGrp="1"/>
          </p:cNvSpPr>
          <p:nvPr/>
        </p:nvSpPr>
        <p:spPr>
          <a:xfrm xmlns:a="http://schemas.openxmlformats.org/drawingml/2006/main">
            <a:off x="1005840" y="1874520"/>
            <a:ext cx="10058400" cy="3566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600">
                <a:solidFill>
                  <a:srgbClr val="FFFFFF"/>
                </a:solidFill>
                <a:latin typeface="Arial"/>
                <a:ea typeface="Arial"/>
                <a:cs typeface="Arial"/>
              </a:rPr>
              <a:t>A failed setup can reveal a better method</a:t>
            </a:r>
          </a:p>
          <a:p xmlns:a="http://schemas.openxmlformats.org/drawingml/2006/main">
            <a:pPr marL="0" marR="0" indent="0" algn="l">
              <a:spcBef>
                <a:spcPts val="0"/>
              </a:spcBef>
              <a:spcAft>
                <a:spcPts val="0"/>
              </a:spcAft>
              <a:buNone/>
            </a:pPr>
            <a:r>
              <a:rPr sz="2600">
                <a:solidFill>
                  <a:srgbClr val="FFFFFF"/>
                </a:solidFill>
                <a:latin typeface="Arial"/>
                <a:ea typeface="Arial"/>
                <a:cs typeface="Arial"/>
              </a:rPr>
              <a:t>A failed prototype can reveal a design constraint</a:t>
            </a:r>
          </a:p>
          <a:p xmlns:a="http://schemas.openxmlformats.org/drawingml/2006/main">
            <a:pPr marL="0" marR="0" indent="0" algn="l">
              <a:spcBef>
                <a:spcPts val="0"/>
              </a:spcBef>
              <a:spcAft>
                <a:spcPts val="0"/>
              </a:spcAft>
              <a:buNone/>
            </a:pPr>
            <a:r>
              <a:rPr sz="2600">
                <a:solidFill>
                  <a:srgbClr val="FFFFFF"/>
                </a:solidFill>
                <a:latin typeface="Arial"/>
                <a:ea typeface="Arial"/>
                <a:cs typeface="Arial"/>
              </a:rPr>
              <a:t>Unexpected data can reveal a hidden variable</a:t>
            </a:r>
          </a:p>
          <a:p xmlns:a="http://schemas.openxmlformats.org/drawingml/2006/main">
            <a:pPr marL="0" marR="0" indent="0" algn="l">
              <a:spcBef>
                <a:spcPts val="0"/>
              </a:spcBef>
              <a:spcAft>
                <a:spcPts val="0"/>
              </a:spcAft>
              <a:buNone/>
            </a:pPr>
            <a:r>
              <a:rPr sz="2600">
                <a:solidFill>
                  <a:srgbClr val="FFFFFF"/>
                </a:solidFill>
                <a:latin typeface="Arial"/>
                <a:ea typeface="Arial"/>
                <a:cs typeface="Arial"/>
              </a:rPr>
              <a:t>A confusing result can reveal the next question</a:t>
            </a:r>
          </a:p>
        </p:txBody>
      </p:sp>
    </p:spTree>
    <p:extLst>
      <p:ext uri="{BB962C8B-B14F-4D97-AF65-F5344CB8AC3E}">
        <p14:creationId xmlns:p14="http://schemas.microsoft.com/office/powerpoint/2010/main" val="1803198739"/>
      </p:ext>
    </p:extLst>
  </p:cSld>
</p:sld>
</file>

<file path=ppt/slides/slide1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33" name="Google Shape;233;p13">
            <a:extLst xmlns:a="http://schemas.openxmlformats.org/drawingml/2006/main">
              <a:ext uri="{FF2B5EF4-FFF2-40B4-BE49-F238E27FC236}">
                <a16:creationId xmlns:a16="http://schemas.microsoft.com/office/drawing/2014/main" id="{FA07B726-3313-4336-B507-6F737BFEDE9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4" name="Google Shape;234;p13">
            <a:extLst xmlns:a="http://schemas.openxmlformats.org/drawingml/2006/main">
              <a:ext uri="{FF2B5EF4-FFF2-40B4-BE49-F238E27FC236}">
                <a16:creationId xmlns:a16="http://schemas.microsoft.com/office/drawing/2014/main" id="{45772910-E140-4B84-9FAB-AFBF98A52B18}"/>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5" name="Google Shape;235;p13">
            <a:extLst xmlns:a="http://schemas.openxmlformats.org/drawingml/2006/main">
              <a:ext uri="{FF2B5EF4-FFF2-40B4-BE49-F238E27FC236}">
                <a16:creationId xmlns:a16="http://schemas.microsoft.com/office/drawing/2014/main" id="{05787CB6-3102-4963-BB78-2982944DFE3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6" name="Google Shape;236;p13">
            <a:extLst xmlns:a="http://schemas.openxmlformats.org/drawingml/2006/main">
              <a:ext uri="{FF2B5EF4-FFF2-40B4-BE49-F238E27FC236}">
                <a16:creationId xmlns:a16="http://schemas.microsoft.com/office/drawing/2014/main" id="{7CC6547C-777D-4589-ADDB-73A319D00218}"/>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237" name="Google Shape;237;p13">
            <a:extLst xmlns:a="http://schemas.openxmlformats.org/drawingml/2006/main">
              <a:ext uri="{FF2B5EF4-FFF2-40B4-BE49-F238E27FC236}">
                <a16:creationId xmlns:a16="http://schemas.microsoft.com/office/drawing/2014/main" id="{D9DE12A2-889E-467A-8250-9D31E6022A7C}"/>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38" name="Google Shape;238;p13">
            <a:extLst xmlns:a="http://schemas.openxmlformats.org/drawingml/2006/main">
              <a:ext uri="{FF2B5EF4-FFF2-40B4-BE49-F238E27FC236}">
                <a16:creationId xmlns:a16="http://schemas.microsoft.com/office/drawing/2014/main" id="{687F58D6-3D3B-4B4C-B019-DA567AFADED2}"/>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39" name="Google Shape;239;p13">
            <a:extLst xmlns:a="http://schemas.openxmlformats.org/drawingml/2006/main">
              <a:ext uri="{FF2B5EF4-FFF2-40B4-BE49-F238E27FC236}">
                <a16:creationId xmlns:a16="http://schemas.microsoft.com/office/drawing/2014/main" id="{E32185C5-84B7-4805-8A24-D33897E75257}"/>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Documentation Is the Memory of Research</a:t>
            </a:r>
          </a:p>
        </p:txBody>
      </p:sp>
      <p:sp>
        <p:nvSpPr>
          <p:cNvPr id="240" name="Google Shape;240;p13">
            <a:extLst xmlns:a="http://schemas.openxmlformats.org/drawingml/2006/main">
              <a:ext uri="{FF2B5EF4-FFF2-40B4-BE49-F238E27FC236}">
                <a16:creationId xmlns:a16="http://schemas.microsoft.com/office/drawing/2014/main" id="{150FA513-DA26-4EC8-BC94-BBFB417AF002}"/>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If it is not documented, it may not be usable later.</a:t>
            </a:r>
          </a:p>
        </p:txBody>
      </p:sp>
      <p:cxnSp>
        <p:nvCxnSpPr>
          <p:cNvPr id="275" name="Google Shape;241;p13"/>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42" name="Google Shape;242;p13">
            <a:extLst xmlns:a="http://schemas.openxmlformats.org/drawingml/2006/main">
              <a:ext uri="{FF2B5EF4-FFF2-40B4-BE49-F238E27FC236}">
                <a16:creationId xmlns:a16="http://schemas.microsoft.com/office/drawing/2014/main" id="{0C0FB48F-58EF-4578-8463-39A9AA88848D}"/>
              </a:ext>
            </a:extLst>
          </p:cNvPr>
          <p:cNvSpPr>
            <a:spLocks xmlns:a="http://schemas.openxmlformats.org/drawingml/2006/main" noGrp="1"/>
          </p:cNvSpPr>
          <p:nvPr/>
        </p:nvSpPr>
        <p:spPr>
          <a:xfrm xmlns:a="http://schemas.openxmlformats.org/drawingml/2006/main">
            <a:off x="914400" y="1920240"/>
            <a:ext cx="4754880" cy="233172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3" name="Google Shape;243;p13">
            <a:extLst xmlns:a="http://schemas.openxmlformats.org/drawingml/2006/main">
              <a:ext uri="{FF2B5EF4-FFF2-40B4-BE49-F238E27FC236}">
                <a16:creationId xmlns:a16="http://schemas.microsoft.com/office/drawing/2014/main" id="{1AA18A71-F0AC-4FA1-9CCE-C703CD219B5C}"/>
              </a:ext>
            </a:extLst>
          </p:cNvPr>
          <p:cNvSpPr>
            <a:spLocks xmlns:a="http://schemas.openxmlformats.org/drawingml/2006/main" noGrp="1"/>
          </p:cNvSpPr>
          <p:nvPr/>
        </p:nvSpPr>
        <p:spPr>
          <a:xfrm xmlns:a="http://schemas.openxmlformats.org/drawingml/2006/main">
            <a:off x="1078992" y="2057400"/>
            <a:ext cx="44256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WEAK NOTE</a:t>
            </a:r>
          </a:p>
        </p:txBody>
      </p:sp>
      <p:sp>
        <p:nvSpPr>
          <p:cNvPr id="244" name="Google Shape;244;p13">
            <a:extLst xmlns:a="http://schemas.openxmlformats.org/drawingml/2006/main">
              <a:ext uri="{FF2B5EF4-FFF2-40B4-BE49-F238E27FC236}">
                <a16:creationId xmlns:a16="http://schemas.microsoft.com/office/drawing/2014/main" id="{82184718-8271-4B4B-A679-5F2E2401AA33}"/>
              </a:ext>
            </a:extLst>
          </p:cNvPr>
          <p:cNvSpPr>
            <a:spLocks xmlns:a="http://schemas.openxmlformats.org/drawingml/2006/main" noGrp="1"/>
          </p:cNvSpPr>
          <p:nvPr/>
        </p:nvSpPr>
        <p:spPr>
          <a:xfrm xmlns:a="http://schemas.openxmlformats.org/drawingml/2006/main">
            <a:off x="1078992" y="2423160"/>
            <a:ext cx="4425696" cy="1673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600"/>
              <a:buFont typeface="Arial"/>
              <a:buNone/>
            </a:pPr>
            <a:r>
              <a:rPr sz="2600">
                <a:solidFill>
                  <a:srgbClr val="FFFFFF"/>
                </a:solidFill>
                <a:latin typeface="Arial"/>
                <a:ea typeface="Arial"/>
                <a:cs typeface="Arial"/>
              </a:rPr>
              <a:t>“Tested it. Didn’t work.”</a:t>
            </a:r>
          </a:p>
        </p:txBody>
      </p:sp>
      <p:sp>
        <p:nvSpPr>
          <p:cNvPr id="245" name="Google Shape;245;p13">
            <a:extLst xmlns:a="http://schemas.openxmlformats.org/drawingml/2006/main">
              <a:ext uri="{FF2B5EF4-FFF2-40B4-BE49-F238E27FC236}">
                <a16:creationId xmlns:a16="http://schemas.microsoft.com/office/drawing/2014/main" id="{FEFAA88A-7B08-4D3C-86B1-AB45FDE4134D}"/>
              </a:ext>
            </a:extLst>
          </p:cNvPr>
          <p:cNvSpPr>
            <a:spLocks xmlns:a="http://schemas.openxmlformats.org/drawingml/2006/main" noGrp="1"/>
          </p:cNvSpPr>
          <p:nvPr/>
        </p:nvSpPr>
        <p:spPr>
          <a:xfrm xmlns:a="http://schemas.openxmlformats.org/drawingml/2006/main">
            <a:off x="6263640" y="1920240"/>
            <a:ext cx="4754880" cy="233172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6" name="Google Shape;246;p13">
            <a:extLst xmlns:a="http://schemas.openxmlformats.org/drawingml/2006/main">
              <a:ext uri="{FF2B5EF4-FFF2-40B4-BE49-F238E27FC236}">
                <a16:creationId xmlns:a16="http://schemas.microsoft.com/office/drawing/2014/main" id="{C54E9E64-17B4-461D-A6F5-81D56B86E5A9}"/>
              </a:ext>
            </a:extLst>
          </p:cNvPr>
          <p:cNvSpPr>
            <a:spLocks xmlns:a="http://schemas.openxmlformats.org/drawingml/2006/main" noGrp="1"/>
          </p:cNvSpPr>
          <p:nvPr/>
        </p:nvSpPr>
        <p:spPr>
          <a:xfrm xmlns:a="http://schemas.openxmlformats.org/drawingml/2006/main">
            <a:off x="6428232" y="2057400"/>
            <a:ext cx="44256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USABLE NOTE</a:t>
            </a:r>
          </a:p>
        </p:txBody>
      </p:sp>
      <p:sp>
        <p:nvSpPr>
          <p:cNvPr id="247" name="Google Shape;247;p13">
            <a:extLst xmlns:a="http://schemas.openxmlformats.org/drawingml/2006/main">
              <a:ext uri="{FF2B5EF4-FFF2-40B4-BE49-F238E27FC236}">
                <a16:creationId xmlns:a16="http://schemas.microsoft.com/office/drawing/2014/main" id="{8ABE0EBA-C5A3-4DA7-BC4E-DACE0AF0F44C}"/>
              </a:ext>
            </a:extLst>
          </p:cNvPr>
          <p:cNvSpPr>
            <a:spLocks xmlns:a="http://schemas.openxmlformats.org/drawingml/2006/main" noGrp="1"/>
          </p:cNvSpPr>
          <p:nvPr/>
        </p:nvSpPr>
        <p:spPr>
          <a:xfrm xmlns:a="http://schemas.openxmlformats.org/drawingml/2006/main">
            <a:off x="6428232" y="2423160"/>
            <a:ext cx="4425696" cy="1673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“Trial 2 failed because the sensor wire disconnected after 18 seconds. Data stopped at 17.6 s. Retest needed after securing wire.”</a:t>
            </a:r>
          </a:p>
        </p:txBody>
      </p:sp>
      <p:sp>
        <p:nvSpPr>
          <p:cNvPr id="248" name="Google Shape;248;p13">
            <a:extLst xmlns:a="http://schemas.openxmlformats.org/drawingml/2006/main">
              <a:ext uri="{FF2B5EF4-FFF2-40B4-BE49-F238E27FC236}">
                <a16:creationId xmlns:a16="http://schemas.microsoft.com/office/drawing/2014/main" id="{6C1D8A0B-EC67-41C4-9C9E-A0CB603AB38D}"/>
              </a:ext>
            </a:extLst>
          </p:cNvPr>
          <p:cNvSpPr>
            <a:spLocks xmlns:a="http://schemas.openxmlformats.org/drawingml/2006/main" noGrp="1"/>
          </p:cNvSpPr>
          <p:nvPr/>
        </p:nvSpPr>
        <p:spPr>
          <a:xfrm xmlns:a="http://schemas.openxmlformats.org/drawingml/2006/main">
            <a:off x="914400" y="5257800"/>
            <a:ext cx="1033272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600"/>
              <a:buFont typeface="Play"/>
              <a:buNone/>
            </a:pPr>
            <a:r>
              <a:rPr sz="2600" b="1">
                <a:solidFill>
                  <a:srgbClr val="FFFFFF"/>
                </a:solidFill>
                <a:latin typeface="Play"/>
                <a:ea typeface="Play"/>
                <a:cs typeface="Play"/>
              </a:rPr>
              <a:t>Every project needs a research journal.</a:t>
            </a:r>
          </a:p>
        </p:txBody>
      </p:sp>
    </p:spTree>
    <p:extLst>
      <p:ext uri="{BB962C8B-B14F-4D97-AF65-F5344CB8AC3E}">
        <p14:creationId xmlns:p14="http://schemas.microsoft.com/office/powerpoint/2010/main" val="2104750083"/>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4" name="Google Shape;254;p14">
            <a:extLst xmlns:a="http://schemas.openxmlformats.org/drawingml/2006/main">
              <a:ext uri="{FF2B5EF4-FFF2-40B4-BE49-F238E27FC236}">
                <a16:creationId xmlns:a16="http://schemas.microsoft.com/office/drawing/2014/main" id="{EE91FF2C-5690-44EB-B7E2-B05C9A60859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4">
            <a:extLst xmlns:a="http://schemas.openxmlformats.org/drawingml/2006/main">
              <a:ext uri="{FF2B5EF4-FFF2-40B4-BE49-F238E27FC236}">
                <a16:creationId xmlns:a16="http://schemas.microsoft.com/office/drawing/2014/main" id="{DFD09D7C-7D32-4157-A6A4-FF738892D9C7}"/>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6" name="Google Shape;256;p14">
            <a:extLst xmlns:a="http://schemas.openxmlformats.org/drawingml/2006/main">
              <a:ext uri="{FF2B5EF4-FFF2-40B4-BE49-F238E27FC236}">
                <a16:creationId xmlns:a16="http://schemas.microsoft.com/office/drawing/2014/main" id="{98DFE655-BA5F-4AC1-B884-1626ED29C5B9}"/>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7" name="Google Shape;257;p14">
            <a:extLst xmlns:a="http://schemas.openxmlformats.org/drawingml/2006/main">
              <a:ext uri="{FF2B5EF4-FFF2-40B4-BE49-F238E27FC236}">
                <a16:creationId xmlns:a16="http://schemas.microsoft.com/office/drawing/2014/main" id="{71150D97-4FD4-4695-9DDB-E54F50B055CD}"/>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RESEARCH INTEGRITY</a:t>
            </a:r>
          </a:p>
        </p:txBody>
      </p:sp>
      <p:sp>
        <p:nvSpPr>
          <p:cNvPr id="258" name="Google Shape;258;p14">
            <a:extLst xmlns:a="http://schemas.openxmlformats.org/drawingml/2006/main">
              <a:ext uri="{FF2B5EF4-FFF2-40B4-BE49-F238E27FC236}">
                <a16:creationId xmlns:a16="http://schemas.microsoft.com/office/drawing/2014/main" id="{F540EFFE-EF83-4F37-B568-7B135ED81D74}"/>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59" name="Google Shape;259;p14">
            <a:extLst xmlns:a="http://schemas.openxmlformats.org/drawingml/2006/main">
              <a:ext uri="{FF2B5EF4-FFF2-40B4-BE49-F238E27FC236}">
                <a16:creationId xmlns:a16="http://schemas.microsoft.com/office/drawing/2014/main" id="{E2E85DF9-516C-407D-94D2-162578C9CB9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60" name="Google Shape;260;p14">
            <a:extLst xmlns:a="http://schemas.openxmlformats.org/drawingml/2006/main">
              <a:ext uri="{FF2B5EF4-FFF2-40B4-BE49-F238E27FC236}">
                <a16:creationId xmlns:a16="http://schemas.microsoft.com/office/drawing/2014/main" id="{36385F5F-60A1-43F0-AC3D-F3F89CD2B80A}"/>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Ethics and Safety Are Non-Negotiable</a:t>
            </a:r>
          </a:p>
        </p:txBody>
      </p:sp>
      <p:sp>
        <p:nvSpPr>
          <p:cNvPr id="261" name="Google Shape;261;p14">
            <a:extLst xmlns:a="http://schemas.openxmlformats.org/drawingml/2006/main">
              <a:ext uri="{FF2B5EF4-FFF2-40B4-BE49-F238E27FC236}">
                <a16:creationId xmlns:a16="http://schemas.microsoft.com/office/drawing/2014/main" id="{012334AA-7478-4F79-BDD1-7C3E7AD76C80}"/>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Curiosity does not override responsibility.</a:t>
            </a:r>
          </a:p>
        </p:txBody>
      </p:sp>
      <p:cxnSp>
        <p:nvCxnSpPr>
          <p:cNvPr id="290" name="Google Shape;262;p1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63" name="Google Shape;263;p14">
            <a:extLst xmlns:a="http://schemas.openxmlformats.org/drawingml/2006/main">
              <a:ext uri="{FF2B5EF4-FFF2-40B4-BE49-F238E27FC236}">
                <a16:creationId xmlns:a16="http://schemas.microsoft.com/office/drawing/2014/main" id="{B8EE7AAA-0413-44A6-89EB-473267CBC58C}"/>
              </a:ext>
            </a:extLst>
          </p:cNvPr>
          <p:cNvSpPr>
            <a:spLocks xmlns:a="http://schemas.openxmlformats.org/drawingml/2006/main" noGrp="1"/>
          </p:cNvSpPr>
          <p:nvPr/>
        </p:nvSpPr>
        <p:spPr>
          <a:xfrm xmlns:a="http://schemas.openxmlformats.org/drawingml/2006/main">
            <a:off x="1005840" y="1828800"/>
            <a:ext cx="1005840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400">
                <a:solidFill>
                  <a:srgbClr val="FFFFFF"/>
                </a:solidFill>
                <a:latin typeface="Arial"/>
                <a:ea typeface="Arial"/>
                <a:cs typeface="Arial"/>
              </a:rPr>
              <a:t>Do not fabricate, delete, or hide inconvenient data</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Credit sources, code, images, and mentor input</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Do not begin testing without approval</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Protect people, animals, privacy, equipment, and the environment</a:t>
            </a:r>
          </a:p>
        </p:txBody>
      </p:sp>
    </p:spTree>
    <p:extLst>
      <p:ext uri="{BB962C8B-B14F-4D97-AF65-F5344CB8AC3E}">
        <p14:creationId xmlns:p14="http://schemas.microsoft.com/office/powerpoint/2010/main" val="1503057054"/>
      </p:ext>
    </p:extLst>
  </p:cSld>
</p:sld>
</file>

<file path=ppt/slides/slide1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69" name="Google Shape;269;p15">
            <a:extLst xmlns:a="http://schemas.openxmlformats.org/drawingml/2006/main">
              <a:ext uri="{FF2B5EF4-FFF2-40B4-BE49-F238E27FC236}">
                <a16:creationId xmlns:a16="http://schemas.microsoft.com/office/drawing/2014/main" id="{9C92A53E-14BC-47AB-8E3E-CA6EDCCD77D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0" name="Google Shape;270;p15">
            <a:extLst xmlns:a="http://schemas.openxmlformats.org/drawingml/2006/main">
              <a:ext uri="{FF2B5EF4-FFF2-40B4-BE49-F238E27FC236}">
                <a16:creationId xmlns:a16="http://schemas.microsoft.com/office/drawing/2014/main" id="{DE962BDD-828D-4A35-A6CD-F537C5CC7D6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1" name="Google Shape;271;p15">
            <a:extLst xmlns:a="http://schemas.openxmlformats.org/drawingml/2006/main">
              <a:ext uri="{FF2B5EF4-FFF2-40B4-BE49-F238E27FC236}">
                <a16:creationId xmlns:a16="http://schemas.microsoft.com/office/drawing/2014/main" id="{6F557826-D6E7-4989-AB5D-7E5A9013221D}"/>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5">
            <a:extLst xmlns:a="http://schemas.openxmlformats.org/drawingml/2006/main">
              <a:ext uri="{FF2B5EF4-FFF2-40B4-BE49-F238E27FC236}">
                <a16:creationId xmlns:a16="http://schemas.microsoft.com/office/drawing/2014/main" id="{6D59CBF2-2956-4242-9BEA-A821C8551E57}"/>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273" name="Google Shape;273;p15">
            <a:extLst xmlns:a="http://schemas.openxmlformats.org/drawingml/2006/main">
              <a:ext uri="{FF2B5EF4-FFF2-40B4-BE49-F238E27FC236}">
                <a16:creationId xmlns:a16="http://schemas.microsoft.com/office/drawing/2014/main" id="{C9551961-38E4-4867-A416-112ABEA0D834}"/>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74" name="Google Shape;274;p15">
            <a:extLst xmlns:a="http://schemas.openxmlformats.org/drawingml/2006/main">
              <a:ext uri="{FF2B5EF4-FFF2-40B4-BE49-F238E27FC236}">
                <a16:creationId xmlns:a16="http://schemas.microsoft.com/office/drawing/2014/main" id="{B5577E00-ABDF-482C-A2C2-E28FB8D9AB49}"/>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75" name="Google Shape;275;p15">
            <a:extLst xmlns:a="http://schemas.openxmlformats.org/drawingml/2006/main">
              <a:ext uri="{FF2B5EF4-FFF2-40B4-BE49-F238E27FC236}">
                <a16:creationId xmlns:a16="http://schemas.microsoft.com/office/drawing/2014/main" id="{C795066D-8D9E-4878-99E3-AB87DEF7E18B}"/>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Sort the Project Ideas</a:t>
            </a:r>
          </a:p>
        </p:txBody>
      </p:sp>
      <p:sp>
        <p:nvSpPr>
          <p:cNvPr id="276" name="Google Shape;276;p15">
            <a:extLst xmlns:a="http://schemas.openxmlformats.org/drawingml/2006/main">
              <a:ext uri="{FF2B5EF4-FFF2-40B4-BE49-F238E27FC236}">
                <a16:creationId xmlns:a16="http://schemas.microsoft.com/office/drawing/2014/main" id="{36570835-DF5C-4191-A94A-8FCED9F8F99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10 minutes • Unit 1</a:t>
            </a:r>
          </a:p>
        </p:txBody>
      </p:sp>
      <p:cxnSp>
        <p:nvCxnSpPr>
          <p:cNvPr id="307" name="Google Shape;277;p1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78" name="Google Shape;278;p15">
            <a:extLst xmlns:a="http://schemas.openxmlformats.org/drawingml/2006/main">
              <a:ext uri="{FF2B5EF4-FFF2-40B4-BE49-F238E27FC236}">
                <a16:creationId xmlns:a16="http://schemas.microsoft.com/office/drawing/2014/main" id="{7C4192C8-4B76-45F6-86D2-33390DCFE918}"/>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9" name="Google Shape;279;p15">
            <a:extLst xmlns:a="http://schemas.openxmlformats.org/drawingml/2006/main">
              <a:ext uri="{FF2B5EF4-FFF2-40B4-BE49-F238E27FC236}">
                <a16:creationId xmlns:a16="http://schemas.microsoft.com/office/drawing/2014/main" id="{FC3D99D1-F089-4C87-8997-2CB375FACA06}"/>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280" name="Google Shape;280;p15">
            <a:extLst xmlns:a="http://schemas.openxmlformats.org/drawingml/2006/main">
              <a:ext uri="{FF2B5EF4-FFF2-40B4-BE49-F238E27FC236}">
                <a16:creationId xmlns:a16="http://schemas.microsoft.com/office/drawing/2014/main" id="{05705E4F-89D6-476B-88EC-6C7BB2E7C653}"/>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With a partner, decide whether each idea is: not research yet, needs refinement, strong direction, engineering design, or problematic.</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Use evidence, feasibility, safety, and ethics as your sorting criteria.</a:t>
            </a:r>
          </a:p>
        </p:txBody>
      </p:sp>
    </p:spTree>
    <p:extLst>
      <p:ext uri="{BB962C8B-B14F-4D97-AF65-F5344CB8AC3E}">
        <p14:creationId xmlns:p14="http://schemas.microsoft.com/office/powerpoint/2010/main" val="1639588745"/>
      </p:ext>
    </p:extLst>
  </p:cSld>
</p:sld>
</file>

<file path=ppt/slides/slide1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6" name="Google Shape;286;p16">
            <a:extLst xmlns:a="http://schemas.openxmlformats.org/drawingml/2006/main">
              <a:ext uri="{FF2B5EF4-FFF2-40B4-BE49-F238E27FC236}">
                <a16:creationId xmlns:a16="http://schemas.microsoft.com/office/drawing/2014/main" id="{4255E8D0-8FDB-43A0-9190-0CC71428569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7" name="Google Shape;287;p16">
            <a:extLst xmlns:a="http://schemas.openxmlformats.org/drawingml/2006/main">
              <a:ext uri="{FF2B5EF4-FFF2-40B4-BE49-F238E27FC236}">
                <a16:creationId xmlns:a16="http://schemas.microsoft.com/office/drawing/2014/main" id="{6BCD6230-32ED-4447-8667-0051EC74129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8" name="Google Shape;288;p16">
            <a:extLst xmlns:a="http://schemas.openxmlformats.org/drawingml/2006/main">
              <a:ext uri="{FF2B5EF4-FFF2-40B4-BE49-F238E27FC236}">
                <a16:creationId xmlns:a16="http://schemas.microsoft.com/office/drawing/2014/main" id="{6199A03F-FDDF-4D39-86DB-CE415E0546AF}"/>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6">
            <a:extLst xmlns:a="http://schemas.openxmlformats.org/drawingml/2006/main">
              <a:ext uri="{FF2B5EF4-FFF2-40B4-BE49-F238E27FC236}">
                <a16:creationId xmlns:a16="http://schemas.microsoft.com/office/drawing/2014/main" id="{2158C77E-2ED0-4F8B-92E0-65603A01AF26}"/>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290" name="Google Shape;290;p16">
            <a:extLst xmlns:a="http://schemas.openxmlformats.org/drawingml/2006/main">
              <a:ext uri="{FF2B5EF4-FFF2-40B4-BE49-F238E27FC236}">
                <a16:creationId xmlns:a16="http://schemas.microsoft.com/office/drawing/2014/main" id="{E2B359E4-0DD0-47E0-86B4-7B095A6F51F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91" name="Google Shape;291;p16">
            <a:extLst xmlns:a="http://schemas.openxmlformats.org/drawingml/2006/main">
              <a:ext uri="{FF2B5EF4-FFF2-40B4-BE49-F238E27FC236}">
                <a16:creationId xmlns:a16="http://schemas.microsoft.com/office/drawing/2014/main" id="{40C2137A-9C0A-4B66-9BCB-5D5B28A16FF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92" name="Google Shape;292;p16">
            <a:extLst xmlns:a="http://schemas.openxmlformats.org/drawingml/2006/main">
              <a:ext uri="{FF2B5EF4-FFF2-40B4-BE49-F238E27FC236}">
                <a16:creationId xmlns:a16="http://schemas.microsoft.com/office/drawing/2014/main" id="{657C5312-E643-41AD-ACBF-96A6C232726C}"/>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Your First STARLAB Task</a:t>
            </a:r>
          </a:p>
        </p:txBody>
      </p:sp>
      <p:sp>
        <p:nvSpPr>
          <p:cNvPr id="293" name="Google Shape;293;p16">
            <a:extLst xmlns:a="http://schemas.openxmlformats.org/drawingml/2006/main">
              <a:ext uri="{FF2B5EF4-FFF2-40B4-BE49-F238E27FC236}">
                <a16:creationId xmlns:a16="http://schemas.microsoft.com/office/drawing/2014/main" id="{A62E8C75-80A0-40DE-BA77-68B27A4435EA}"/>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Begin with identity, curiosity, and honest self-assessment.</a:t>
            </a:r>
          </a:p>
        </p:txBody>
      </p:sp>
      <p:cxnSp>
        <p:nvCxnSpPr>
          <p:cNvPr id="331" name="Google Shape;294;p1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95" name="Google Shape;295;p16">
            <a:extLst xmlns:a="http://schemas.openxmlformats.org/drawingml/2006/main">
              <a:ext uri="{FF2B5EF4-FFF2-40B4-BE49-F238E27FC236}">
                <a16:creationId xmlns:a16="http://schemas.microsoft.com/office/drawing/2014/main" id="{B2EF7259-75D0-40B7-817D-797910C3224A}"/>
              </a:ext>
            </a:extLst>
          </p:cNvPr>
          <p:cNvSpPr>
            <a:spLocks xmlns:a="http://schemas.openxmlformats.org/drawingml/2006/main" noGrp="1"/>
          </p:cNvSpPr>
          <p:nvPr/>
        </p:nvSpPr>
        <p:spPr>
          <a:xfrm xmlns:a="http://schemas.openxmlformats.org/drawingml/2006/main">
            <a:off x="914400" y="1828800"/>
            <a:ext cx="2971800" cy="2423160"/>
          </a:xfrm>
          <a:prstGeom xmlns:a="http://schemas.openxmlformats.org/drawingml/2006/main" prst="roundRect">
            <a:avLst>
              <a:gd name="adj" fmla="val 226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6" name="Google Shape;296;p16">
            <a:extLst xmlns:a="http://schemas.openxmlformats.org/drawingml/2006/main">
              <a:ext uri="{FF2B5EF4-FFF2-40B4-BE49-F238E27FC236}">
                <a16:creationId xmlns:a16="http://schemas.microsoft.com/office/drawing/2014/main" id="{ACF48705-3B2E-45FA-A0DE-D0CA0DB30C25}"/>
              </a:ext>
            </a:extLst>
          </p:cNvPr>
          <p:cNvSpPr>
            <a:spLocks xmlns:a="http://schemas.openxmlformats.org/drawingml/2006/main" noGrp="1"/>
          </p:cNvSpPr>
          <p:nvPr/>
        </p:nvSpPr>
        <p:spPr>
          <a:xfrm xmlns:a="http://schemas.openxmlformats.org/drawingml/2006/main">
            <a:off x="1078992" y="1965960"/>
            <a:ext cx="2642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HANDOUT 1</a:t>
            </a:r>
          </a:p>
        </p:txBody>
      </p:sp>
      <p:sp>
        <p:nvSpPr>
          <p:cNvPr id="297" name="Google Shape;297;p16">
            <a:extLst xmlns:a="http://schemas.openxmlformats.org/drawingml/2006/main">
              <a:ext uri="{FF2B5EF4-FFF2-40B4-BE49-F238E27FC236}">
                <a16:creationId xmlns:a16="http://schemas.microsoft.com/office/drawing/2014/main" id="{53C8EE91-49D5-4ED7-B2A4-012B26B7E7E3}"/>
              </a:ext>
            </a:extLst>
          </p:cNvPr>
          <p:cNvSpPr>
            <a:spLocks xmlns:a="http://schemas.openxmlformats.org/drawingml/2006/main" noGrp="1"/>
          </p:cNvSpPr>
          <p:nvPr/>
        </p:nvSpPr>
        <p:spPr>
          <a:xfrm xmlns:a="http://schemas.openxmlformats.org/drawingml/2006/main">
            <a:off x="1078992" y="2331720"/>
            <a:ext cx="2642616"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Course Launch Reflection</a:t>
            </a:r>
          </a:p>
        </p:txBody>
      </p:sp>
      <p:sp>
        <p:nvSpPr>
          <p:cNvPr id="298" name="Google Shape;298;p16">
            <a:extLst xmlns:a="http://schemas.openxmlformats.org/drawingml/2006/main">
              <a:ext uri="{FF2B5EF4-FFF2-40B4-BE49-F238E27FC236}">
                <a16:creationId xmlns:a16="http://schemas.microsoft.com/office/drawing/2014/main" id="{0BA2D445-E713-4D4F-9554-61D63F98983C}"/>
              </a:ext>
            </a:extLst>
          </p:cNvPr>
          <p:cNvSpPr>
            <a:spLocks xmlns:a="http://schemas.openxmlformats.org/drawingml/2006/main" noGrp="1"/>
          </p:cNvSpPr>
          <p:nvPr/>
        </p:nvSpPr>
        <p:spPr>
          <a:xfrm xmlns:a="http://schemas.openxmlformats.org/drawingml/2006/main">
            <a:off x="4617720" y="1828800"/>
            <a:ext cx="2971800" cy="2423160"/>
          </a:xfrm>
          <a:prstGeom xmlns:a="http://schemas.openxmlformats.org/drawingml/2006/main" prst="roundRect">
            <a:avLst>
              <a:gd name="adj" fmla="val 2264"/>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9" name="Google Shape;299;p16">
            <a:extLst xmlns:a="http://schemas.openxmlformats.org/drawingml/2006/main">
              <a:ext uri="{FF2B5EF4-FFF2-40B4-BE49-F238E27FC236}">
                <a16:creationId xmlns:a16="http://schemas.microsoft.com/office/drawing/2014/main" id="{1A2F35ED-D839-44DB-8CA6-6A6CFE7B66B3}"/>
              </a:ext>
            </a:extLst>
          </p:cNvPr>
          <p:cNvSpPr>
            <a:spLocks xmlns:a="http://schemas.openxmlformats.org/drawingml/2006/main" noGrp="1"/>
          </p:cNvSpPr>
          <p:nvPr/>
        </p:nvSpPr>
        <p:spPr>
          <a:xfrm xmlns:a="http://schemas.openxmlformats.org/drawingml/2006/main">
            <a:off x="4782312" y="1965960"/>
            <a:ext cx="2642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HANDOUT 2</a:t>
            </a:r>
          </a:p>
        </p:txBody>
      </p:sp>
      <p:sp>
        <p:nvSpPr>
          <p:cNvPr id="300" name="Google Shape;300;p16">
            <a:extLst xmlns:a="http://schemas.openxmlformats.org/drawingml/2006/main">
              <a:ext uri="{FF2B5EF4-FFF2-40B4-BE49-F238E27FC236}">
                <a16:creationId xmlns:a16="http://schemas.microsoft.com/office/drawing/2014/main" id="{F55D21D0-F612-4B4D-8295-900F671B73F8}"/>
              </a:ext>
            </a:extLst>
          </p:cNvPr>
          <p:cNvSpPr>
            <a:spLocks xmlns:a="http://schemas.openxmlformats.org/drawingml/2006/main" noGrp="1"/>
          </p:cNvSpPr>
          <p:nvPr/>
        </p:nvSpPr>
        <p:spPr>
          <a:xfrm xmlns:a="http://schemas.openxmlformats.org/drawingml/2006/main">
            <a:off x="4782312" y="2331720"/>
            <a:ext cx="2642616"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Science Identity and Skills Inventory</a:t>
            </a:r>
          </a:p>
        </p:txBody>
      </p:sp>
      <p:sp>
        <p:nvSpPr>
          <p:cNvPr id="301" name="Google Shape;301;p16">
            <a:extLst xmlns:a="http://schemas.openxmlformats.org/drawingml/2006/main">
              <a:ext uri="{FF2B5EF4-FFF2-40B4-BE49-F238E27FC236}">
                <a16:creationId xmlns:a16="http://schemas.microsoft.com/office/drawing/2014/main" id="{C0B6A910-601D-4069-BE56-7C6821084EEA}"/>
              </a:ext>
            </a:extLst>
          </p:cNvPr>
          <p:cNvSpPr>
            <a:spLocks xmlns:a="http://schemas.openxmlformats.org/drawingml/2006/main" noGrp="1"/>
          </p:cNvSpPr>
          <p:nvPr/>
        </p:nvSpPr>
        <p:spPr>
          <a:xfrm xmlns:a="http://schemas.openxmlformats.org/drawingml/2006/main">
            <a:off x="8321040" y="1828800"/>
            <a:ext cx="2971800" cy="2423160"/>
          </a:xfrm>
          <a:prstGeom xmlns:a="http://schemas.openxmlformats.org/drawingml/2006/main" prst="roundRect">
            <a:avLst>
              <a:gd name="adj" fmla="val 226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6">
            <a:extLst xmlns:a="http://schemas.openxmlformats.org/drawingml/2006/main">
              <a:ext uri="{FF2B5EF4-FFF2-40B4-BE49-F238E27FC236}">
                <a16:creationId xmlns:a16="http://schemas.microsoft.com/office/drawing/2014/main" id="{6E7951B0-2174-4760-A240-9905B77EB3C3}"/>
              </a:ext>
            </a:extLst>
          </p:cNvPr>
          <p:cNvSpPr>
            <a:spLocks xmlns:a="http://schemas.openxmlformats.org/drawingml/2006/main" noGrp="1"/>
          </p:cNvSpPr>
          <p:nvPr/>
        </p:nvSpPr>
        <p:spPr>
          <a:xfrm xmlns:a="http://schemas.openxmlformats.org/drawingml/2006/main">
            <a:off x="8485632" y="1965960"/>
            <a:ext cx="2642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HANDOUT 3</a:t>
            </a:r>
          </a:p>
        </p:txBody>
      </p:sp>
      <p:sp>
        <p:nvSpPr>
          <p:cNvPr id="303" name="Google Shape;303;p16">
            <a:extLst xmlns:a="http://schemas.openxmlformats.org/drawingml/2006/main">
              <a:ext uri="{FF2B5EF4-FFF2-40B4-BE49-F238E27FC236}">
                <a16:creationId xmlns:a16="http://schemas.microsoft.com/office/drawing/2014/main" id="{A7E57A2C-295A-4929-9A69-11422597CE0E}"/>
              </a:ext>
            </a:extLst>
          </p:cNvPr>
          <p:cNvSpPr>
            <a:spLocks xmlns:a="http://schemas.openxmlformats.org/drawingml/2006/main" noGrp="1"/>
          </p:cNvSpPr>
          <p:nvPr/>
        </p:nvSpPr>
        <p:spPr>
          <a:xfrm xmlns:a="http://schemas.openxmlformats.org/drawingml/2006/main">
            <a:off x="8485632" y="2331720"/>
            <a:ext cx="2642616"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Research Interest Inventory</a:t>
            </a:r>
          </a:p>
        </p:txBody>
      </p:sp>
      <p:sp>
        <p:nvSpPr>
          <p:cNvPr id="304" name="Google Shape;304;p16">
            <a:extLst xmlns:a="http://schemas.openxmlformats.org/drawingml/2006/main">
              <a:ext uri="{FF2B5EF4-FFF2-40B4-BE49-F238E27FC236}">
                <a16:creationId xmlns:a16="http://schemas.microsoft.com/office/drawing/2014/main" id="{96CAE403-2BB3-49E9-BC69-E68B28376477}"/>
              </a:ext>
            </a:extLst>
          </p:cNvPr>
          <p:cNvSpPr>
            <a:spLocks xmlns:a="http://schemas.openxmlformats.org/drawingml/2006/main" noGrp="1"/>
          </p:cNvSpPr>
          <p:nvPr/>
        </p:nvSpPr>
        <p:spPr>
          <a:xfrm xmlns:a="http://schemas.openxmlformats.org/drawingml/2006/main">
            <a:off x="914400" y="5257800"/>
            <a:ext cx="1033272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Play"/>
              <a:buNone/>
            </a:pPr>
            <a:r>
              <a:rPr sz="2400" b="1">
                <a:solidFill>
                  <a:srgbClr val="FFFFFF"/>
                </a:solidFill>
                <a:latin typeface="Play"/>
                <a:ea typeface="Play"/>
                <a:cs typeface="Play"/>
              </a:rPr>
              <a:t>You do not need a final project today. You need a starting point.</a:t>
            </a:r>
          </a:p>
        </p:txBody>
      </p:sp>
    </p:spTree>
    <p:extLst>
      <p:ext uri="{BB962C8B-B14F-4D97-AF65-F5344CB8AC3E}">
        <p14:creationId xmlns:p14="http://schemas.microsoft.com/office/powerpoint/2010/main" val="251081325"/>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10" name="Google Shape;310;p17">
            <a:extLst xmlns:a="http://schemas.openxmlformats.org/drawingml/2006/main">
              <a:ext uri="{FF2B5EF4-FFF2-40B4-BE49-F238E27FC236}">
                <a16:creationId xmlns:a16="http://schemas.microsoft.com/office/drawing/2014/main" id="{196D6452-63BF-4929-9420-F1A17AA575D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1" name="Google Shape;311;p17">
            <a:extLst xmlns:a="http://schemas.openxmlformats.org/drawingml/2006/main">
              <a:ext uri="{FF2B5EF4-FFF2-40B4-BE49-F238E27FC236}">
                <a16:creationId xmlns:a16="http://schemas.microsoft.com/office/drawing/2014/main" id="{B7890846-4124-49C2-9AED-1FEECB7BAEC7}"/>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2" name="Google Shape;312;p17">
            <a:extLst xmlns:a="http://schemas.openxmlformats.org/drawingml/2006/main">
              <a:ext uri="{FF2B5EF4-FFF2-40B4-BE49-F238E27FC236}">
                <a16:creationId xmlns:a16="http://schemas.microsoft.com/office/drawing/2014/main" id="{4E04817A-4568-4FB3-8F38-4E7841C9F7A5}"/>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3" name="Google Shape;313;p17">
            <a:extLst xmlns:a="http://schemas.openxmlformats.org/drawingml/2006/main">
              <a:ext uri="{FF2B5EF4-FFF2-40B4-BE49-F238E27FC236}">
                <a16:creationId xmlns:a16="http://schemas.microsoft.com/office/drawing/2014/main" id="{66BBDE86-837F-4B84-A6D8-2703E83C7A69}"/>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314" name="Google Shape;314;p17">
            <a:extLst xmlns:a="http://schemas.openxmlformats.org/drawingml/2006/main">
              <a:ext uri="{FF2B5EF4-FFF2-40B4-BE49-F238E27FC236}">
                <a16:creationId xmlns:a16="http://schemas.microsoft.com/office/drawing/2014/main" id="{99F88E17-92AF-4F3A-A203-62E9D69BA0A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15" name="Google Shape;315;p17">
            <a:extLst xmlns:a="http://schemas.openxmlformats.org/drawingml/2006/main">
              <a:ext uri="{FF2B5EF4-FFF2-40B4-BE49-F238E27FC236}">
                <a16:creationId xmlns:a16="http://schemas.microsoft.com/office/drawing/2014/main" id="{F550F0F1-8A09-4368-AE7D-FD40F89420ED}"/>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316" name="Google Shape;316;p17">
            <a:extLst xmlns:a="http://schemas.openxmlformats.org/drawingml/2006/main">
              <a:ext uri="{FF2B5EF4-FFF2-40B4-BE49-F238E27FC236}">
                <a16:creationId xmlns:a16="http://schemas.microsoft.com/office/drawing/2014/main" id="{CE6C2C1D-0606-4B2F-A87F-B14647F32404}"/>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What Kind of Researcher Will You Be?</a:t>
            </a:r>
          </a:p>
        </p:txBody>
      </p:sp>
      <p:sp>
        <p:nvSpPr>
          <p:cNvPr id="317" name="Google Shape;317;p17">
            <a:extLst xmlns:a="http://schemas.openxmlformats.org/drawingml/2006/main">
              <a:ext uri="{FF2B5EF4-FFF2-40B4-BE49-F238E27FC236}">
                <a16:creationId xmlns:a16="http://schemas.microsoft.com/office/drawing/2014/main" id="{A1A61FF8-7B78-48D8-9760-EE55F08C124B}"/>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STARLAB needs many kinds of thinkers.</a:t>
            </a:r>
          </a:p>
        </p:txBody>
      </p:sp>
      <p:cxnSp>
        <p:nvCxnSpPr>
          <p:cNvPr id="347" name="Google Shape;318;p1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19" name="Google Shape;319;p17">
            <a:extLst xmlns:a="http://schemas.openxmlformats.org/drawingml/2006/main">
              <a:ext uri="{FF2B5EF4-FFF2-40B4-BE49-F238E27FC236}">
                <a16:creationId xmlns:a16="http://schemas.microsoft.com/office/drawing/2014/main" id="{E52833A1-EDCB-4BF7-8C2D-C62BF439CB23}"/>
              </a:ext>
            </a:extLst>
          </p:cNvPr>
          <p:cNvSpPr>
            <a:spLocks xmlns:a="http://schemas.openxmlformats.org/drawingml/2006/main" noGrp="1"/>
          </p:cNvSpPr>
          <p:nvPr/>
        </p:nvSpPr>
        <p:spPr>
          <a:xfrm xmlns:a="http://schemas.openxmlformats.org/drawingml/2006/main">
            <a:off x="914400" y="1737360"/>
            <a:ext cx="4572000" cy="4206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builder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careful observer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coder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troubleshooter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organizer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communicator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question asker</a:t>
            </a:r>
          </a:p>
        </p:txBody>
      </p:sp>
      <p:sp>
        <p:nvSpPr>
          <p:cNvPr id="320" name="Google Shape;320;p17">
            <a:extLst xmlns:a="http://schemas.openxmlformats.org/drawingml/2006/main">
              <a:ext uri="{FF2B5EF4-FFF2-40B4-BE49-F238E27FC236}">
                <a16:creationId xmlns:a16="http://schemas.microsoft.com/office/drawing/2014/main" id="{8D1836B2-18DE-4EE1-9C75-787C21570D33}"/>
              </a:ext>
            </a:extLst>
          </p:cNvPr>
          <p:cNvSpPr>
            <a:spLocks xmlns:a="http://schemas.openxmlformats.org/drawingml/2006/main" noGrp="1"/>
          </p:cNvSpPr>
          <p:nvPr/>
        </p:nvSpPr>
        <p:spPr>
          <a:xfrm xmlns:a="http://schemas.openxmlformats.org/drawingml/2006/main">
            <a:off x="5669280" y="2377440"/>
            <a:ext cx="5212080" cy="1463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800"/>
              <a:buFont typeface="Play"/>
              <a:buNone/>
            </a:pPr>
            <a:r>
              <a:rPr sz="2800" b="1">
                <a:solidFill>
                  <a:srgbClr val="FFFFFF"/>
                </a:solidFill>
                <a:latin typeface="Play"/>
                <a:ea typeface="Play"/>
                <a:cs typeface="Play"/>
              </a:rPr>
              <a:t>Which role feels most like you right now?</a:t>
            </a:r>
          </a:p>
          <a:p xmlns:a="http://schemas.openxmlformats.org/drawingml/2006/main">
            <a:pPr marL="0" marR="0" indent="0" algn="ctr">
              <a:spcBef>
                <a:spcPts val="0"/>
              </a:spcBef>
              <a:spcAft>
                <a:spcPts val="0"/>
              </a:spcAft>
              <a:buClr>
                <a:srgbClr val="FFFFFF"/>
              </a:buClr>
              <a:buSzPts val="2800"/>
              <a:buFont typeface="Play"/>
              <a:buNone/>
            </a:pPr>
            <a:r>
              <a:rPr sz="2800" b="1">
                <a:solidFill>
                  <a:srgbClr val="FFFFFF"/>
                </a:solidFill>
                <a:latin typeface="Play"/>
                <a:ea typeface="Play"/>
                <a:cs typeface="Play"/>
              </a:rPr>
              <a:t>Which role do you want to grow into?</a:t>
            </a:r>
          </a:p>
        </p:txBody>
      </p:sp>
    </p:spTree>
    <p:extLst>
      <p:ext uri="{BB962C8B-B14F-4D97-AF65-F5344CB8AC3E}">
        <p14:creationId xmlns:p14="http://schemas.microsoft.com/office/powerpoint/2010/main" val="771136645"/>
      </p:ext>
    </p:extLst>
  </p:cSld>
</p:sld>
</file>

<file path=ppt/slides/slide1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26" name="Google Shape;326;p18">
            <a:extLst xmlns:a="http://schemas.openxmlformats.org/drawingml/2006/main">
              <a:ext uri="{FF2B5EF4-FFF2-40B4-BE49-F238E27FC236}">
                <a16:creationId xmlns:a16="http://schemas.microsoft.com/office/drawing/2014/main" id="{C1DC52AB-1D68-4E3A-B7A4-8C6BCEAF1F4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7" name="Google Shape;327;p18">
            <a:extLst xmlns:a="http://schemas.openxmlformats.org/drawingml/2006/main">
              <a:ext uri="{FF2B5EF4-FFF2-40B4-BE49-F238E27FC236}">
                <a16:creationId xmlns:a16="http://schemas.microsoft.com/office/drawing/2014/main" id="{02FF6AED-2EED-406C-8FC9-B9630098B285}"/>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8" name="Google Shape;328;p18">
            <a:extLst xmlns:a="http://schemas.openxmlformats.org/drawingml/2006/main">
              <a:ext uri="{FF2B5EF4-FFF2-40B4-BE49-F238E27FC236}">
                <a16:creationId xmlns:a16="http://schemas.microsoft.com/office/drawing/2014/main" id="{6F38B7AA-1F45-4398-8023-1F949C22501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9" name="Google Shape;329;p18">
            <a:extLst xmlns:a="http://schemas.openxmlformats.org/drawingml/2006/main">
              <a:ext uri="{FF2B5EF4-FFF2-40B4-BE49-F238E27FC236}">
                <a16:creationId xmlns:a16="http://schemas.microsoft.com/office/drawing/2014/main" id="{61F81EC6-3876-424B-A739-E943C57CE2AA}"/>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330" name="Google Shape;330;p18">
            <a:extLst xmlns:a="http://schemas.openxmlformats.org/drawingml/2006/main">
              <a:ext uri="{FF2B5EF4-FFF2-40B4-BE49-F238E27FC236}">
                <a16:creationId xmlns:a16="http://schemas.microsoft.com/office/drawing/2014/main" id="{568D99B1-4DAB-4464-B3AC-3F7F86C7D9FD}"/>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31" name="Google Shape;331;p18">
            <a:extLst xmlns:a="http://schemas.openxmlformats.org/drawingml/2006/main">
              <a:ext uri="{FF2B5EF4-FFF2-40B4-BE49-F238E27FC236}">
                <a16:creationId xmlns:a16="http://schemas.microsoft.com/office/drawing/2014/main" id="{EC228DA7-8E63-477C-BD4D-13266D7E39CA}"/>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332" name="Google Shape;332;p18">
            <a:extLst xmlns:a="http://schemas.openxmlformats.org/drawingml/2006/main">
              <a:ext uri="{FF2B5EF4-FFF2-40B4-BE49-F238E27FC236}">
                <a16:creationId xmlns:a16="http://schemas.microsoft.com/office/drawing/2014/main" id="{988350CE-3C36-4A50-BD8E-32023E94BEE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Exit Reflection</a:t>
            </a:r>
          </a:p>
        </p:txBody>
      </p:sp>
      <p:sp>
        <p:nvSpPr>
          <p:cNvPr id="333" name="Google Shape;333;p18">
            <a:extLst xmlns:a="http://schemas.openxmlformats.org/drawingml/2006/main">
              <a:ext uri="{FF2B5EF4-FFF2-40B4-BE49-F238E27FC236}">
                <a16:creationId xmlns:a16="http://schemas.microsoft.com/office/drawing/2014/main" id="{D07247A2-0079-4A59-BB8A-03676FA4D3E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5 minutes • Unit 1</a:t>
            </a:r>
          </a:p>
        </p:txBody>
      </p:sp>
      <p:cxnSp>
        <p:nvCxnSpPr>
          <p:cNvPr id="364" name="Google Shape;334;p1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35" name="Google Shape;335;p18">
            <a:extLst xmlns:a="http://schemas.openxmlformats.org/drawingml/2006/main">
              <a:ext uri="{FF2B5EF4-FFF2-40B4-BE49-F238E27FC236}">
                <a16:creationId xmlns:a16="http://schemas.microsoft.com/office/drawing/2014/main" id="{6498BB76-3A82-4F7B-84AA-84347EABE2FA}"/>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6" name="Google Shape;336;p18">
            <a:extLst xmlns:a="http://schemas.openxmlformats.org/drawingml/2006/main">
              <a:ext uri="{FF2B5EF4-FFF2-40B4-BE49-F238E27FC236}">
                <a16:creationId xmlns:a16="http://schemas.microsoft.com/office/drawing/2014/main" id="{0B03CC81-F750-4E67-8EF3-70F1E64E4F79}"/>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337" name="Google Shape;337;p18">
            <a:extLst xmlns:a="http://schemas.openxmlformats.org/drawingml/2006/main">
              <a:ext uri="{FF2B5EF4-FFF2-40B4-BE49-F238E27FC236}">
                <a16:creationId xmlns:a16="http://schemas.microsoft.com/office/drawing/2014/main" id="{5202A1A9-1337-4468-A98A-FB972C02A59A}"/>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Answer in 2–3 sentences: What makes STARLAB different from a normal science class?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What habit will you need to practice first?</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Save your answer in your packet or research journal.</a:t>
            </a:r>
          </a:p>
        </p:txBody>
      </p:sp>
    </p:spTree>
    <p:extLst>
      <p:ext uri="{BB962C8B-B14F-4D97-AF65-F5344CB8AC3E}">
        <p14:creationId xmlns:p14="http://schemas.microsoft.com/office/powerpoint/2010/main" val="607292341"/>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43" name="Google Shape;343;p19">
            <a:extLst xmlns:a="http://schemas.openxmlformats.org/drawingml/2006/main">
              <a:ext uri="{FF2B5EF4-FFF2-40B4-BE49-F238E27FC236}">
                <a16:creationId xmlns:a16="http://schemas.microsoft.com/office/drawing/2014/main" id="{E47BE2EB-6BFA-4B04-9EF6-B2D44869943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4" name="Google Shape;344;p19">
            <a:extLst xmlns:a="http://schemas.openxmlformats.org/drawingml/2006/main">
              <a:ext uri="{FF2B5EF4-FFF2-40B4-BE49-F238E27FC236}">
                <a16:creationId xmlns:a16="http://schemas.microsoft.com/office/drawing/2014/main" id="{B30EE3A9-214C-47C6-BB6B-00BDFCF1FC4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5" name="Google Shape;345;p19">
            <a:extLst xmlns:a="http://schemas.openxmlformats.org/drawingml/2006/main">
              <a:ext uri="{FF2B5EF4-FFF2-40B4-BE49-F238E27FC236}">
                <a16:creationId xmlns:a16="http://schemas.microsoft.com/office/drawing/2014/main" id="{92D33439-2199-4A08-9DE7-FEF0FCF98F2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6" name="Google Shape;346;p19">
            <a:extLst xmlns:a="http://schemas.openxmlformats.org/drawingml/2006/main">
              <a:ext uri="{FF2B5EF4-FFF2-40B4-BE49-F238E27FC236}">
                <a16:creationId xmlns:a16="http://schemas.microsoft.com/office/drawing/2014/main" id="{11E4F727-8479-4F83-BD11-BEDEB9020242}"/>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NEXT STEP</a:t>
            </a:r>
          </a:p>
        </p:txBody>
      </p:sp>
      <p:sp>
        <p:nvSpPr>
          <p:cNvPr id="347" name="Google Shape;347;p19">
            <a:extLst xmlns:a="http://schemas.openxmlformats.org/drawingml/2006/main">
              <a:ext uri="{FF2B5EF4-FFF2-40B4-BE49-F238E27FC236}">
                <a16:creationId xmlns:a16="http://schemas.microsoft.com/office/drawing/2014/main" id="{91F9F834-4C29-44C8-8653-8795A26FC364}"/>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48" name="Google Shape;348;p19">
            <a:extLst xmlns:a="http://schemas.openxmlformats.org/drawingml/2006/main">
              <a:ext uri="{FF2B5EF4-FFF2-40B4-BE49-F238E27FC236}">
                <a16:creationId xmlns:a16="http://schemas.microsoft.com/office/drawing/2014/main" id="{DDCBA428-E689-48BB-8276-B795D18BAD6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349" name="Google Shape;349;p19">
            <a:extLst xmlns:a="http://schemas.openxmlformats.org/drawingml/2006/main">
              <a:ext uri="{FF2B5EF4-FFF2-40B4-BE49-F238E27FC236}">
                <a16:creationId xmlns:a16="http://schemas.microsoft.com/office/drawing/2014/main" id="{C7F621EC-9272-4D21-8C89-1B4607D448C7}"/>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Move from Curiosity to Possible Research Directions</a:t>
            </a:r>
          </a:p>
        </p:txBody>
      </p:sp>
      <p:sp>
        <p:nvSpPr>
          <p:cNvPr id="350" name="Google Shape;350;p19">
            <a:extLst xmlns:a="http://schemas.openxmlformats.org/drawingml/2006/main">
              <a:ext uri="{FF2B5EF4-FFF2-40B4-BE49-F238E27FC236}">
                <a16:creationId xmlns:a16="http://schemas.microsoft.com/office/drawing/2014/main" id="{6611A535-59DF-45E7-8365-BE658624CCCB}"/>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Complete the Research Interest Inventory and bring your top five possible areas to the next class.</a:t>
            </a:r>
          </a:p>
        </p:txBody>
      </p:sp>
      <p:cxnSp>
        <p:nvCxnSpPr>
          <p:cNvPr id="381" name="Google Shape;351;p1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52" name="Google Shape;352;p19">
            <a:extLst xmlns:a="http://schemas.openxmlformats.org/drawingml/2006/main">
              <a:ext uri="{FF2B5EF4-FFF2-40B4-BE49-F238E27FC236}">
                <a16:creationId xmlns:a16="http://schemas.microsoft.com/office/drawing/2014/main" id="{24E2A442-F305-4785-BCBF-0C051B1EC118}"/>
              </a:ext>
            </a:extLst>
          </p:cNvPr>
          <p:cNvSpPr>
            <a:spLocks xmlns:a="http://schemas.openxmlformats.org/drawingml/2006/main" noGrp="1"/>
          </p:cNvSpPr>
          <p:nvPr/>
        </p:nvSpPr>
        <p:spPr>
          <a:xfrm xmlns:a="http://schemas.openxmlformats.org/drawingml/2006/main">
            <a:off x="914400" y="196596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E22B27"/>
              </a:buClr>
              <a:buSzPts val="1400"/>
              <a:buFont typeface="Arial"/>
              <a:buNone/>
            </a:pPr>
            <a:r>
              <a:rPr sz="1400" b="1">
                <a:solidFill>
                  <a:srgbClr val="E22B27"/>
                </a:solidFill>
                <a:latin typeface="Arial"/>
                <a:ea typeface="Arial"/>
                <a:cs typeface="Arial"/>
              </a:rPr>
              <a:t>NEXT DECK</a:t>
            </a:r>
          </a:p>
        </p:txBody>
      </p:sp>
      <p:sp>
        <p:nvSpPr>
          <p:cNvPr id="353" name="Google Shape;353;p19">
            <a:extLst xmlns:a="http://schemas.openxmlformats.org/drawingml/2006/main">
              <a:ext uri="{FF2B5EF4-FFF2-40B4-BE49-F238E27FC236}">
                <a16:creationId xmlns:a16="http://schemas.microsoft.com/office/drawing/2014/main" id="{6A1C92DD-0A29-476C-A199-78E3A02F7435}"/>
              </a:ext>
            </a:extLst>
          </p:cNvPr>
          <p:cNvSpPr>
            <a:spLocks xmlns:a="http://schemas.openxmlformats.org/drawingml/2006/main" noGrp="1"/>
          </p:cNvSpPr>
          <p:nvPr/>
        </p:nvSpPr>
        <p:spPr>
          <a:xfrm xmlns:a="http://schemas.openxmlformats.org/drawingml/2006/main">
            <a:off x="914400" y="2514600"/>
            <a:ext cx="1033272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3400"/>
              <a:buFont typeface="Play"/>
              <a:buNone/>
            </a:pPr>
            <a:r>
              <a:rPr sz="3400" b="1">
                <a:solidFill>
                  <a:srgbClr val="FFFFFF"/>
                </a:solidFill>
                <a:latin typeface="Play"/>
                <a:ea typeface="Play"/>
                <a:cs typeface="Play"/>
              </a:rPr>
              <a:t>FROM TOPIC TO RESEARCH QUESTION</a:t>
            </a:r>
          </a:p>
        </p:txBody>
      </p:sp>
      <p:sp>
        <p:nvSpPr>
          <p:cNvPr id="354" name="Google Shape;354;p19">
            <a:extLst xmlns:a="http://schemas.openxmlformats.org/drawingml/2006/main">
              <a:ext uri="{FF2B5EF4-FFF2-40B4-BE49-F238E27FC236}">
                <a16:creationId xmlns:a16="http://schemas.microsoft.com/office/drawing/2014/main" id="{D9938156-3A79-48ED-8B8A-C9127FF19E71}"/>
              </a:ext>
            </a:extLst>
          </p:cNvPr>
          <p:cNvSpPr>
            <a:spLocks xmlns:a="http://schemas.openxmlformats.org/drawingml/2006/main" noGrp="1"/>
          </p:cNvSpPr>
          <p:nvPr/>
        </p:nvSpPr>
        <p:spPr>
          <a:xfrm xmlns:a="http://schemas.openxmlformats.org/drawingml/2006/main">
            <a:off x="1828800" y="3657600"/>
            <a:ext cx="850392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B8B8B8"/>
              </a:buClr>
              <a:buSzPts val="2000"/>
              <a:buFont typeface="Arial"/>
              <a:buNone/>
            </a:pPr>
            <a:r>
              <a:rPr sz="2000">
                <a:solidFill>
                  <a:srgbClr val="B8B8B8"/>
                </a:solidFill>
                <a:latin typeface="Arial"/>
                <a:ea typeface="Arial"/>
                <a:cs typeface="Arial"/>
              </a:rPr>
              <a:t>You will learn how to turn broad curiosity into a question, problem, or design challenge that can produce evidence.</a:t>
            </a:r>
          </a:p>
        </p:txBody>
      </p:sp>
    </p:spTree>
    <p:extLst>
      <p:ext uri="{BB962C8B-B14F-4D97-AF65-F5344CB8AC3E}">
        <p14:creationId xmlns:p14="http://schemas.microsoft.com/office/powerpoint/2010/main" val="173555998"/>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2026-07-16T17:12:51.3020000Z</dcterms:created>
  <dcterms:modified xsi:type="dcterms:W3CDTF">2026-07-16T17:12:51.3020000Z</dcterms:modified>
</coreProperties>
</file>