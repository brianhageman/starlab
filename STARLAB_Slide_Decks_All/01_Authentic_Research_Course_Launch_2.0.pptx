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389639111047c8" /><Relationship Type="http://schemas.openxmlformats.org/officeDocument/2006/relationships/extended-properties" Target="/docProps/app.xml" Id="Rb788a61ed6ac42f1" /><Relationship Type="http://schemas.openxmlformats.org/officeDocument/2006/relationships/officeDocument" Target="/ppt/presentation.xml" Id="R66b02a69d27d435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13d87c35e68f4a63"/>
  </p:sldMasterIdLst>
  <p:notesMasterIdLst>
    <p:notesMasterId xmlns:r="http://schemas.openxmlformats.org/officeDocument/2006/relationships" r:id="R096b58a7ebfa42e3"/>
  </p:notesMasterIdLst>
  <p:sldIdLst>
    <p:sldId xmlns:r="http://schemas.openxmlformats.org/officeDocument/2006/relationships" id="256" r:id="R4c933da7dfba4522"/>
    <p:sldId xmlns:r="http://schemas.openxmlformats.org/officeDocument/2006/relationships" id="257" r:id="Re56453b1c028458e"/>
    <p:sldId xmlns:r="http://schemas.openxmlformats.org/officeDocument/2006/relationships" id="258" r:id="R00dc77bcc42a42b4"/>
    <p:sldId xmlns:r="http://schemas.openxmlformats.org/officeDocument/2006/relationships" id="259" r:id="R6b408aa30332433b"/>
    <p:sldId xmlns:r="http://schemas.openxmlformats.org/officeDocument/2006/relationships" id="260" r:id="Re70936bdc8574cd4"/>
    <p:sldId xmlns:r="http://schemas.openxmlformats.org/officeDocument/2006/relationships" id="261" r:id="R4947638a75114e02"/>
    <p:sldId xmlns:r="http://schemas.openxmlformats.org/officeDocument/2006/relationships" id="262" r:id="R470c5b93026e496e"/>
    <p:sldId xmlns:r="http://schemas.openxmlformats.org/officeDocument/2006/relationships" id="263" r:id="Rca2c4d53c1a548d4"/>
    <p:sldId xmlns:r="http://schemas.openxmlformats.org/officeDocument/2006/relationships" id="264" r:id="R80f3b773917147f7"/>
    <p:sldId xmlns:r="http://schemas.openxmlformats.org/officeDocument/2006/relationships" id="265" r:id="R72a9fbdef93443a6"/>
    <p:sldId xmlns:r="http://schemas.openxmlformats.org/officeDocument/2006/relationships" id="266" r:id="Rca7e2d0d8323441b"/>
    <p:sldId xmlns:r="http://schemas.openxmlformats.org/officeDocument/2006/relationships" id="267" r:id="R9f9bf39146dc4dfc"/>
    <p:sldId xmlns:r="http://schemas.openxmlformats.org/officeDocument/2006/relationships" id="268" r:id="R6247760b0b7c457e"/>
    <p:sldId xmlns:r="http://schemas.openxmlformats.org/officeDocument/2006/relationships" id="269" r:id="R93684baa530d472a"/>
    <p:sldId xmlns:r="http://schemas.openxmlformats.org/officeDocument/2006/relationships" id="270" r:id="Rf0fa9cbbdce34b61"/>
    <p:sldId xmlns:r="http://schemas.openxmlformats.org/officeDocument/2006/relationships" id="271" r:id="R014843ccf8024db3"/>
    <p:sldId xmlns:r="http://schemas.openxmlformats.org/officeDocument/2006/relationships" id="272" r:id="R74bc1c8bcaef4add"/>
  </p:sldIdLst>
  <p:sldSz cx="12192000" cy="6858000"/>
  <p:notesSz cx="6858000" cy="9144000"/>
  <p:embeddedFontLst>
    <p:embeddedFont>
      <p:font typeface="Play"/>
      <p:regular xmlns:r="http://schemas.openxmlformats.org/officeDocument/2006/relationships" r:id="R89be70f94fe9437e"/>
      <p:bold xmlns:r="http://schemas.openxmlformats.org/officeDocument/2006/relationships" r:id="Rb3826b5d4fd246ba"/>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e429ab1dd4941f7" /><Relationship Type="http://schemas.openxmlformats.org/officeDocument/2006/relationships/slideMaster" Target="/ppt/slideMasters/slideMaster1.xml" Id="R13d87c35e68f4a63" /><Relationship Type="http://schemas.openxmlformats.org/officeDocument/2006/relationships/notesMaster" Target="/ppt/notesMasters/notesMaster1.xml" Id="R096b58a7ebfa42e3" /><Relationship Type="http://schemas.openxmlformats.org/officeDocument/2006/relationships/presProps" Target="/ppt/presProps.xml" Id="R34122e73f62c4a05" /><Relationship Type="http://schemas.openxmlformats.org/officeDocument/2006/relationships/tableStyles" Target="/ppt/tableStyles.xml" Id="R28c0219fcdc64d8c" /><Relationship Type="http://schemas.openxmlformats.org/officeDocument/2006/relationships/font" Target="/ppt/fonts/font.dat" Id="R89be70f94fe9437e" /><Relationship Type="http://schemas.openxmlformats.org/officeDocument/2006/relationships/font" Target="/ppt/fonts/font2.dat" Id="Rb3826b5d4fd246ba" /><Relationship Type="http://schemas.openxmlformats.org/officeDocument/2006/relationships/slide" Target="/ppt/slides/slide1.xml" Id="R4c933da7dfba4522" /><Relationship Type="http://schemas.openxmlformats.org/officeDocument/2006/relationships/slide" Target="/ppt/slides/slide2.xml" Id="Re56453b1c028458e" /><Relationship Type="http://schemas.openxmlformats.org/officeDocument/2006/relationships/slide" Target="/ppt/slides/slide3.xml" Id="R00dc77bcc42a42b4" /><Relationship Type="http://schemas.openxmlformats.org/officeDocument/2006/relationships/slide" Target="/ppt/slides/slide4.xml" Id="R6b408aa30332433b" /><Relationship Type="http://schemas.openxmlformats.org/officeDocument/2006/relationships/slide" Target="/ppt/slides/slide5.xml" Id="Re70936bdc8574cd4" /><Relationship Type="http://schemas.openxmlformats.org/officeDocument/2006/relationships/slide" Target="/ppt/slides/slide6.xml" Id="R4947638a75114e02" /><Relationship Type="http://schemas.openxmlformats.org/officeDocument/2006/relationships/slide" Target="/ppt/slides/slide7.xml" Id="R470c5b93026e496e" /><Relationship Type="http://schemas.openxmlformats.org/officeDocument/2006/relationships/slide" Target="/ppt/slides/slide8.xml" Id="Rca2c4d53c1a548d4" /><Relationship Type="http://schemas.openxmlformats.org/officeDocument/2006/relationships/slide" Target="/ppt/slides/slide9.xml" Id="R80f3b773917147f7" /><Relationship Type="http://schemas.openxmlformats.org/officeDocument/2006/relationships/slide" Target="/ppt/slides/slide10.xml" Id="R72a9fbdef93443a6" /><Relationship Type="http://schemas.openxmlformats.org/officeDocument/2006/relationships/slide" Target="/ppt/slides/slide11.xml" Id="Rca7e2d0d8323441b" /><Relationship Type="http://schemas.openxmlformats.org/officeDocument/2006/relationships/slide" Target="/ppt/slides/slide12.xml" Id="R9f9bf39146dc4dfc" /><Relationship Type="http://schemas.openxmlformats.org/officeDocument/2006/relationships/slide" Target="/ppt/slides/slide13.xml" Id="R6247760b0b7c457e" /><Relationship Type="http://schemas.openxmlformats.org/officeDocument/2006/relationships/slide" Target="/ppt/slides/slide14.xml" Id="R93684baa530d472a" /><Relationship Type="http://schemas.openxmlformats.org/officeDocument/2006/relationships/slide" Target="/ppt/slides/slide15.xml" Id="Rf0fa9cbbdce34b61" /><Relationship Type="http://schemas.openxmlformats.org/officeDocument/2006/relationships/slide" Target="/ppt/slides/slide16.xml" Id="R014843ccf8024db3" /><Relationship Type="http://schemas.openxmlformats.org/officeDocument/2006/relationships/slide" Target="/ppt/slides/slide17.xml" Id="R74bc1c8bcaef4a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3d2569c6a5a44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eaa68690c84186" /><Relationship Type="http://schemas.openxmlformats.org/officeDocument/2006/relationships/notesMaster" Target="/ppt/notesMasters/notesMaster1.xml" Id="Re5cb39b920954d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0749f0481e4828" /><Relationship Type="http://schemas.openxmlformats.org/officeDocument/2006/relationships/notesMaster" Target="/ppt/notesMasters/notesMaster1.xml" Id="R4386580e337f47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68dca1192f46a2" /><Relationship Type="http://schemas.openxmlformats.org/officeDocument/2006/relationships/notesMaster" Target="/ppt/notesMasters/notesMaster1.xml" Id="R689b4bf3cf474c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288997edcf4fec" /><Relationship Type="http://schemas.openxmlformats.org/officeDocument/2006/relationships/notesMaster" Target="/ppt/notesMasters/notesMaster1.xml" Id="R5fc1d865029041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b7dc1fefed45aa" /><Relationship Type="http://schemas.openxmlformats.org/officeDocument/2006/relationships/notesMaster" Target="/ppt/notesMasters/notesMaster1.xml" Id="Re2f9c072a23143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55fe6589524883" /><Relationship Type="http://schemas.openxmlformats.org/officeDocument/2006/relationships/notesMaster" Target="/ppt/notesMasters/notesMaster1.xml" Id="Rca32d62a4e3d41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17b9c44ae94a32" /><Relationship Type="http://schemas.openxmlformats.org/officeDocument/2006/relationships/notesMaster" Target="/ppt/notesMasters/notesMaster1.xml" Id="R92817865393a45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9bbe34860649af" /><Relationship Type="http://schemas.openxmlformats.org/officeDocument/2006/relationships/notesMaster" Target="/ppt/notesMasters/notesMaster1.xml" Id="Rb829078fb48a43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1255e7fa9b4ecb" /><Relationship Type="http://schemas.openxmlformats.org/officeDocument/2006/relationships/notesMaster" Target="/ppt/notesMasters/notesMaster1.xml" Id="R76de27d2718d41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4c90375f614497" /><Relationship Type="http://schemas.openxmlformats.org/officeDocument/2006/relationships/notesMaster" Target="/ppt/notesMasters/notesMaster1.xml" Id="R9a5edf88a94c44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eca157c81746b4" /><Relationship Type="http://schemas.openxmlformats.org/officeDocument/2006/relationships/notesMaster" Target="/ppt/notesMasters/notesMaster1.xml" Id="R6529538eaf4b45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eb4e375cdd4e62" /><Relationship Type="http://schemas.openxmlformats.org/officeDocument/2006/relationships/notesMaster" Target="/ppt/notesMasters/notesMaster1.xml" Id="R426062aebfc44e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99f4a85b04401b" /><Relationship Type="http://schemas.openxmlformats.org/officeDocument/2006/relationships/notesMaster" Target="/ppt/notesMasters/notesMaster1.xml" Id="Re723430fb05949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d9ccd5125040c2" /><Relationship Type="http://schemas.openxmlformats.org/officeDocument/2006/relationships/notesMaster" Target="/ppt/notesMasters/notesMaster1.xml" Id="R756e3771555840b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47c12aa4679420b" /><Relationship Type="http://schemas.openxmlformats.org/officeDocument/2006/relationships/notesMaster" Target="/ppt/notesMasters/notesMaster1.xml" Id="R55fa929df4c34ba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03d306e80d84f3d" /><Relationship Type="http://schemas.openxmlformats.org/officeDocument/2006/relationships/notesMaster" Target="/ppt/notesMasters/notesMaster1.xml" Id="R18974ccee8b444d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8c137086c4427e" /><Relationship Type="http://schemas.openxmlformats.org/officeDocument/2006/relationships/notesMaster" Target="/ppt/notesMasters/notesMaster1.xml" Id="Rc5d931cfafb645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1</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PRIMARY DECK</a:t>
            </a:r>
          </a:p>
          <a:p xmlns:a="http://schemas.openxmlformats.org/drawingml/2006/main">
            <a:pPr marL="0" indent="0" algn="l">
              <a:spcBef>
                <a:spcPts val="0"/>
              </a:spcBef>
              <a:spcAft>
                <a:spcPts val="0"/>
              </a:spcAft>
              <a:buNone/>
            </a:pPr>
            <a:r>
              <a:t>Deck 3: Research Ethics, Safety, and Integrity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1 MATERIALS</a:t>
            </a:r>
          </a:p>
          <a:p xmlns:a="http://schemas.openxmlformats.org/drawingml/2006/main">
            <a:pPr marL="0" indent="0" algn="l">
              <a:spcBef>
                <a:spcPts val="0"/>
              </a:spcBef>
              <a:spcAft>
                <a:spcPts val="0"/>
              </a:spcAft>
              <a:buNone/>
            </a:pPr>
            <a:r>
              <a:t>- Unit 1 Student Handouts 1-4</a:t>
            </a:r>
          </a:p>
          <a:p xmlns:a="http://schemas.openxmlformats.org/drawingml/2006/main">
            <a:pPr marL="0" indent="0" algn="l">
              <a:spcBef>
                <a:spcPts val="0"/>
              </a:spcBef>
              <a:spcAft>
                <a:spcPts val="0"/>
              </a:spcAft>
              <a:buNone/>
            </a:pPr>
            <a:r>
              <a:t>- Unit 1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The implementation calendar is the source of truth for week, deck, and print mappings. This deck has no separately scheduled revisit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Frame this as orientation to a research culture. Ask students to listen for what feels exciting and what feels intimidating.</a:t>
            </a:r>
            <a:br/>
            <a:br/>
            <a:r>
              <a:t>Resource alignment:</a:t>
            </a:r>
            <a:br/>
            <a:r>
              <a:t>Use Unit 1 Student Handout 1: STARLAB Course Launch Reflection, especially Part A: Initial Reactions.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imply that classroom labs are bad. Emphasize that they serve a different purpose. Student activity: ask students to name one lab they have done and identify whether the outcome was already known.</a:t>
            </a:r>
            <a:br/>
            <a:br/>
            <a:r>
              <a:t>Resource alignment:</a:t>
            </a:r>
            <a:br/>
            <a:r>
              <a:t>Reference Unit 1 Appendix A: What Counts as Research? Use this as students compare traditional labs, demonstrations, engineering builds, and authentic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to syllabus units. Stress that revisions are expected and legitimate. Ask students to identify which stage they think will be easiest and hardest, then record it in the launch reflection.</a:t>
            </a:r>
            <a:br/>
            <a:br/>
            <a:r>
              <a:t>Resource alignment:</a:t>
            </a:r>
            <a:br/>
            <a:r>
              <a:t>Use Unit 1 Student Handout 1: STARLAB Course Launch Reflection. Reference Unit 1 Appendix B: STARLAB Classroom Norms, especially uncertainty, documentation, and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a conceptual anchor. Repeat “What does the evidence allow me to claim?” throughout the course. Student-facing prompt: Which of these questions do you usually ask in school? Which will STARLAB require?</a:t>
            </a:r>
            <a:br/>
            <a:br/>
            <a:r>
              <a:t>Resource alignment:</a:t>
            </a:r>
            <a:br/>
            <a:r>
              <a:t>Use with Unit 1 Student Handout 1: STARLAB Course Launch Reflection. Connect to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examples from your own school if available. Avoid suggesting that every student must do a wet lab experiment.</a:t>
            </a:r>
            <a:br/>
            <a:br/>
            <a:r>
              <a:t>Resource alignment:</a:t>
            </a:r>
            <a:br/>
            <a:r>
              <a:t>Use Unit 1 Student Handout 3: Research Interest Inventory, especially Part D: Research Fields. Reference Unit 1 Appendix C: Research Fields and Topic Bank.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These four markers become recurring course language. Ask students to pick the marker that feels most challenging and explain why.</a:t>
            </a:r>
            <a:br/>
            <a:br/>
            <a:r>
              <a:t>Resource alignment:</a:t>
            </a:r>
            <a:br/>
            <a:r>
              <a:t>Reference Unit 1 Appendix A: What Counts as Research? and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Circulate and listen for misconceptions: “research means Googling,” “research means proving my idea,” or “research must be in a lab.”</a:t>
            </a:r>
            <a:br/>
            <a:br/>
            <a:r>
              <a:t>Resource alignment:</a:t>
            </a:r>
            <a:br/>
            <a:r>
              <a:t>Use Unit 1 Student Handout 1: STARLAB Course Launch Reflection, Part A.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Adapt example to your local safety constraints. The point is not this exact question; it is the narrowing move. Invite students to identify what became more measurable.</a:t>
            </a:r>
            <a:br/>
            <a:br/>
            <a:r>
              <a:t>Resource alignment:</a:t>
            </a:r>
            <a:br/>
            <a:r>
              <a:t>Reference Unit 1 Appendix A: What Counts as Research? and Unit 1 Appendix C: Research Fields and Topic Bank. This prepares students for Unit 1 Student Handout 3: Research Interest Inventory and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Normalize failure early. This reduces anxiety later in Unit 3. Student prompt: “What is one type of failure that could actually help a project?”</a:t>
            </a:r>
            <a:br/>
            <a:br/>
            <a:r>
              <a:t>Resource alignment:</a:t>
            </a:r>
            <a:br/>
            <a:r>
              <a:t>Use with Unit 1 Appendix B: STARLAB Classroom Norms. Connects later to Unit 3 pilot testing, troubleshooting, and research journal expectations.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foreshadows Unit 3. Do not teach the full journal system here; simply establish that careful notes are part of the identity of a researcher.</a:t>
            </a:r>
            <a:br/>
            <a:br/>
            <a:r>
              <a:t>Resource alignment:</a:t>
            </a:r>
            <a:br/>
            <a:r>
              <a:t>Use with Unit 1 Appendix B: STARLAB Classroom Norms. Preview Unit 3 Student Handout 2: Research Journal Setup and Unit 3 Student Handout 3: Daily Research Journal Entry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this firm but not fear-based. Full safety and ethics instruction comes later.</a:t>
            </a:r>
            <a:br/>
            <a:br/>
            <a:r>
              <a:t>Resource alignment:</a:t>
            </a:r>
            <a:br/>
            <a:r>
              <a:t>Use Unit 1 Student Handout 4: Research Ethics and Integrity Agreement. This also previews Deck 3: Research Ethics, Safety, and 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pairs 6–10 sample project cards. Debrief by asking which ideas were interesting but unsafe, vague, or unmeasurable.</a:t>
            </a:r>
            <a:br/>
            <a:br/>
            <a:r>
              <a:t>Resource alignment:</a:t>
            </a:r>
            <a:br/>
            <a:r>
              <a:t>Use Unit 1 Appendix I: Optional Project Card Sorting Activity. Also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Lower the pressure. Students often feel they must choose their final topic immediately. Clarify that Unit 1 expands possibilities before Unit 2 narrows them.</a:t>
            </a:r>
            <a:br/>
            <a:br/>
            <a:r>
              <a:t>Resource alignment:</a:t>
            </a:r>
            <a:br/>
            <a:r>
              <a:t>Use Unit 1 Student Handout 1: STARLAB Course Launch Reflection, Unit 1 Student Handout 2: Science Identity and Skills Inventory, and Unit 1 Student Handout 3: Research Interest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Invite students to recognize nontraditional strengths. This helps students who do not identify as “science kids” see a place in STARLAB.</a:t>
            </a:r>
            <a:br/>
            <a:br/>
            <a:r>
              <a:t>Resource alignment:</a:t>
            </a:r>
            <a:br/>
            <a:r>
              <a:t>Use Unit 1 Student Handout 2: Science Identity and Skills Inventory.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as formative data or have students keep it in the packet. Look for whether students understand uncertainty, evidence, revision, and documentation. Close with a clear assignment: complete the Research Interest Inventory and bring top five possible areas to the next class.</a:t>
            </a:r>
            <a:br/>
            <a:br/>
            <a:r>
              <a:t>Resource alignment:</a:t>
            </a:r>
            <a:br/>
            <a:r>
              <a:t>Use Unit 1 Student Handout 1: STARLAB Course Launch Reflection and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with a clear assignment. Do not ask students to finalize a project yet. The next deck addresses moving from topic to research question.</a:t>
            </a:r>
            <a:br/>
            <a:br/>
            <a:r>
              <a:t>Resource alignment:</a:t>
            </a:r>
            <a:br/>
            <a:r>
              <a:t>Use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477a4d88864bf0"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eaa9547a884356" /><Relationship Type="http://schemas.openxmlformats.org/officeDocument/2006/relationships/slideLayout" Target="/ppt/slideLayouts/slideLayout1.xml" Id="Ra3a62c739cae406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3a62c739cae406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954ea52d20f477c" /><Relationship Type="http://schemas.openxmlformats.org/officeDocument/2006/relationships/image" Target="/ppt/media/image.png" Id="Rbea135eceee54a61" /><Relationship Type="http://schemas.openxmlformats.org/officeDocument/2006/relationships/notesSlide" Target="/ppt/notesSlides/notesSlide1.xml" Id="Rd98f3c3e3b26496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3d542b188541d3" /><Relationship Type="http://schemas.openxmlformats.org/officeDocument/2006/relationships/notesSlide" Target="/ppt/notesSlides/notesSlide2.xml" Id="Rc0eb55f53d8f42a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6dfe425f3244397" /><Relationship Type="http://schemas.openxmlformats.org/officeDocument/2006/relationships/notesSlide" Target="/ppt/notesSlides/notesSlide3.xml" Id="R3492426753c148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14d10797c34614" /><Relationship Type="http://schemas.openxmlformats.org/officeDocument/2006/relationships/notesSlide" Target="/ppt/notesSlides/notesSlide4.xml" Id="Rb8e95cb47b754e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5ef3dfb514d453f" /><Relationship Type="http://schemas.openxmlformats.org/officeDocument/2006/relationships/notesSlide" Target="/ppt/notesSlides/notesSlide5.xml" Id="Ref0ce352d3554c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3f1d2620764cc4" /><Relationship Type="http://schemas.openxmlformats.org/officeDocument/2006/relationships/notesSlide" Target="/ppt/notesSlides/notesSlide6.xml" Id="Rf84e3890205549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4cbfee65f24f5b" /><Relationship Type="http://schemas.openxmlformats.org/officeDocument/2006/relationships/notesSlide" Target="/ppt/notesSlides/notesSlide7.xml" Id="R8f5c491307a44a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57ffc2ec20a4f2b" /><Relationship Type="http://schemas.openxmlformats.org/officeDocument/2006/relationships/notesSlide" Target="/ppt/notesSlides/notesSlide8.xml" Id="R368704b9a2284e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c8706d840a64d5a" /><Relationship Type="http://schemas.openxmlformats.org/officeDocument/2006/relationships/notesSlide" Target="/ppt/notesSlides/notesSlide9.xml" Id="Ref3be5d2acaa4e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273080133754f0c" /><Relationship Type="http://schemas.openxmlformats.org/officeDocument/2006/relationships/notesSlide" Target="/ppt/notesSlides/notesSlide10.xml" Id="R02856c25f5674a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572923388b4c49" /><Relationship Type="http://schemas.openxmlformats.org/officeDocument/2006/relationships/notesSlide" Target="/ppt/notesSlides/notesSlide11.xml" Id="R8c59e26418db48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cecff4e4a894654" /><Relationship Type="http://schemas.openxmlformats.org/officeDocument/2006/relationships/notesSlide" Target="/ppt/notesSlides/notesSlide12.xml" Id="R25edc419b1704d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5ee1033bee04bc6" /><Relationship Type="http://schemas.openxmlformats.org/officeDocument/2006/relationships/notesSlide" Target="/ppt/notesSlides/notesSlide13.xml" Id="Rfdb0aa95c2d0466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a43562e140a4fd6" /><Relationship Type="http://schemas.openxmlformats.org/officeDocument/2006/relationships/notesSlide" Target="/ppt/notesSlides/notesSlide14.xml" Id="R6630be60fbf64b4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7509db1450c4a30" /><Relationship Type="http://schemas.openxmlformats.org/officeDocument/2006/relationships/notesSlide" Target="/ppt/notesSlides/notesSlide15.xml" Id="R8b53055b8d774b6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1617d9d0954477f" /><Relationship Type="http://schemas.openxmlformats.org/officeDocument/2006/relationships/notesSlide" Target="/ppt/notesSlides/notesSlide16.xml" Id="Rbd52aba0b20f4e1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77c1f1a4b884975" /><Relationship Type="http://schemas.openxmlformats.org/officeDocument/2006/relationships/notesSlide" Target="/ppt/notesSlides/notesSlide17.xml" Id="Re3ea59bff1fc47fa"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03024C02-1ED6-4272-B5BC-73FFDDDD4EF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4AF1C69A-EA00-4DAD-AF4E-5FBC9280B5C7}"/>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40EE87F8-A13B-4FD6-9EA7-99A1AFAD9E49}"/>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bea135eceee54a61">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CE54F021-F832-430B-BBB1-35A1C565B490}"/>
              </a:ext>
            </a:extLst>
          </p:cNvPr>
          <p:cNvSpPr>
            <a:spLocks xmlns:a="http://schemas.openxmlformats.org/drawingml/2006/main" noGrp="1"/>
          </p:cNvSpPr>
          <p:nvPr/>
        </p:nvSpPr>
        <p:spPr>
          <a:xfrm xmlns:a="http://schemas.openxmlformats.org/drawingml/2006/main">
            <a:off x="960120" y="5074920"/>
            <a:ext cx="10287000" cy="749808"/>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2ADAA41D-EEAA-4F4B-945F-05767888A623}"/>
              </a:ext>
            </a:extLst>
          </p:cNvPr>
          <p:cNvSpPr>
            <a:spLocks xmlns:a="http://schemas.openxmlformats.org/drawingml/2006/main" noGrp="1"/>
          </p:cNvSpPr>
          <p:nvPr/>
        </p:nvSpPr>
        <p:spPr>
          <a:xfrm xmlns:a="http://schemas.openxmlformats.org/drawingml/2006/main">
            <a:off x="1024128" y="5212080"/>
            <a:ext cx="1014984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WHAT IS AUTHENTIC RESEARCH?</a:t>
            </a:r>
          </a:p>
        </p:txBody>
      </p:sp>
      <p:sp>
        <p:nvSpPr>
          <p:cNvPr id="22" name="Google Shape;22;p3">
            <a:extLst xmlns:a="http://schemas.openxmlformats.org/drawingml/2006/main">
              <a:ext uri="{FF2B5EF4-FFF2-40B4-BE49-F238E27FC236}">
                <a16:creationId xmlns:a16="http://schemas.microsoft.com/office/drawing/2014/main" id="{D16099B4-5776-41E7-8C5A-C9800E4C9667}"/>
              </a:ext>
            </a:extLst>
          </p:cNvPr>
          <p:cNvSpPr>
            <a:spLocks xmlns:a="http://schemas.openxmlformats.org/drawingml/2006/main" noGrp="1"/>
          </p:cNvSpPr>
          <p:nvPr/>
        </p:nvSpPr>
        <p:spPr>
          <a:xfrm xmlns:a="http://schemas.openxmlformats.org/drawingml/2006/main">
            <a:off x="1024128" y="5916168"/>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01  •  Unit 1 Course Launch</a:t>
            </a:r>
          </a:p>
        </p:txBody>
      </p:sp>
    </p:spTree>
    <p:extLst>
      <p:ext uri="{BB962C8B-B14F-4D97-AF65-F5344CB8AC3E}">
        <p14:creationId xmlns:p14="http://schemas.microsoft.com/office/powerpoint/2010/main" val="293498086"/>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67407387-E056-4BE8-9669-F50D84FA84B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E2FD2174-EF69-4998-A79A-14DEA9E259C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DE892413-C57B-4208-A3BE-F9BBC6A30A6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32B57199-871B-4B9B-8AC0-D1FCA438656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COURSE LAUNCH</a:t>
            </a:r>
          </a:p>
        </p:txBody>
      </p:sp>
      <p:sp>
        <p:nvSpPr>
          <p:cNvPr id="32" name="Google Shape;32;p4">
            <a:extLst xmlns:a="http://schemas.openxmlformats.org/drawingml/2006/main">
              <a:ext uri="{FF2B5EF4-FFF2-40B4-BE49-F238E27FC236}">
                <a16:creationId xmlns:a16="http://schemas.microsoft.com/office/drawing/2014/main" id="{E77655EB-B970-4787-AC35-DB61E65B885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E474B9CA-E3B6-4EDE-AC73-7305C6464F2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01</a:t>
            </a:r>
          </a:p>
        </p:txBody>
      </p:sp>
      <p:sp>
        <p:nvSpPr>
          <p:cNvPr id="34" name="Google Shape;34;p4">
            <a:extLst xmlns:a="http://schemas.openxmlformats.org/drawingml/2006/main">
              <a:ext uri="{FF2B5EF4-FFF2-40B4-BE49-F238E27FC236}">
                <a16:creationId xmlns:a16="http://schemas.microsoft.com/office/drawing/2014/main" id="{BE7EC919-3B2A-4AF0-A6FA-47B3B8B73E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Today’s Launch Goal</a:t>
            </a:r>
          </a:p>
        </p:txBody>
      </p:sp>
      <p:sp>
        <p:nvSpPr>
          <p:cNvPr id="35" name="Google Shape;35;p4">
            <a:extLst xmlns:a="http://schemas.openxmlformats.org/drawingml/2006/main">
              <a:ext uri="{FF2B5EF4-FFF2-40B4-BE49-F238E27FC236}">
                <a16:creationId xmlns:a16="http://schemas.microsoft.com/office/drawing/2014/main" id="{314FBA95-3133-40DF-8608-20E501196BB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Understand how STARLAB is different from a traditional science class.</a:t>
            </a:r>
          </a:p>
        </p:txBody>
      </p:sp>
      <p:cxnSp>
        <p:nvCxnSpPr>
          <p:cNvPr id="55"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A207B695-947B-46BD-A0EB-0495B4DB2FA2}"/>
              </a:ext>
            </a:extLst>
          </p:cNvPr>
          <p:cNvSpPr>
            <a:spLocks xmlns:a="http://schemas.openxmlformats.org/drawingml/2006/main" noGrp="1"/>
          </p:cNvSpPr>
          <p:nvPr/>
        </p:nvSpPr>
        <p:spPr>
          <a:xfrm xmlns:a="http://schemas.openxmlformats.org/drawingml/2006/main">
            <a:off x="1005840" y="1920240"/>
            <a:ext cx="9875520" cy="3200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b="0" i="0" u="none" cap="none">
                <a:solidFill>
                  <a:srgbClr val="FFFFFF"/>
                </a:solidFill>
                <a:latin typeface="Arial"/>
                <a:ea typeface="Arial"/>
                <a:cs typeface="Arial"/>
              </a:rPr>
              <a:t>Define authentic research in student-friendly language</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Preview the STARLAB yearlong arc</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Name the habits students will practice all year</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Begin the Course Launch Reflection handout</a:t>
            </a:r>
          </a:p>
        </p:txBody>
      </p:sp>
    </p:spTree>
    <p:extLst>
      <p:ext uri="{BB962C8B-B14F-4D97-AF65-F5344CB8AC3E}">
        <p14:creationId xmlns:p14="http://schemas.microsoft.com/office/powerpoint/2010/main" val="278894871"/>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3" name="Google Shape;43;p5">
            <a:extLst xmlns:a="http://schemas.openxmlformats.org/drawingml/2006/main">
              <a:ext uri="{FF2B5EF4-FFF2-40B4-BE49-F238E27FC236}">
                <a16:creationId xmlns:a16="http://schemas.microsoft.com/office/drawing/2014/main" id="{8E1A91D0-2CF1-4977-B1BE-EF82F29B883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 name="Google Shape;44;p5">
            <a:extLst xmlns:a="http://schemas.openxmlformats.org/drawingml/2006/main">
              <a:ext uri="{FF2B5EF4-FFF2-40B4-BE49-F238E27FC236}">
                <a16:creationId xmlns:a16="http://schemas.microsoft.com/office/drawing/2014/main" id="{B2C4A842-EFFE-4873-BE88-631490102E5F}"/>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5">
            <a:extLst xmlns:a="http://schemas.openxmlformats.org/drawingml/2006/main">
              <a:ext uri="{FF2B5EF4-FFF2-40B4-BE49-F238E27FC236}">
                <a16:creationId xmlns:a16="http://schemas.microsoft.com/office/drawing/2014/main" id="{4465AA15-82B9-4175-A8ED-B10F82583EE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 name="Google Shape;46;p5">
            <a:extLst xmlns:a="http://schemas.openxmlformats.org/drawingml/2006/main">
              <a:ext uri="{FF2B5EF4-FFF2-40B4-BE49-F238E27FC236}">
                <a16:creationId xmlns:a16="http://schemas.microsoft.com/office/drawing/2014/main" id="{CFE5443B-8517-4B25-A8E4-96540454DE2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47" name="Google Shape;47;p5">
            <a:extLst xmlns:a="http://schemas.openxmlformats.org/drawingml/2006/main">
              <a:ext uri="{FF2B5EF4-FFF2-40B4-BE49-F238E27FC236}">
                <a16:creationId xmlns:a16="http://schemas.microsoft.com/office/drawing/2014/main" id="{AFE07CA7-B05A-45F1-AA20-0BFF3D5243B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8" name="Google Shape;48;p5">
            <a:extLst xmlns:a="http://schemas.openxmlformats.org/drawingml/2006/main">
              <a:ext uri="{FF2B5EF4-FFF2-40B4-BE49-F238E27FC236}">
                <a16:creationId xmlns:a16="http://schemas.microsoft.com/office/drawing/2014/main" id="{B55ACCB0-469F-4614-9AF1-8DFDA6E3A0E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49" name="Google Shape;49;p5">
            <a:extLst xmlns:a="http://schemas.openxmlformats.org/drawingml/2006/main">
              <a:ext uri="{FF2B5EF4-FFF2-40B4-BE49-F238E27FC236}">
                <a16:creationId xmlns:a16="http://schemas.microsoft.com/office/drawing/2014/main" id="{FC00B324-FEEF-45EF-ADCC-1C5214AA5BE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STARLAB Is Not a Recipe Lab</a:t>
            </a:r>
          </a:p>
        </p:txBody>
      </p:sp>
      <p:sp>
        <p:nvSpPr>
          <p:cNvPr id="50" name="Google Shape;50;p5">
            <a:extLst xmlns:a="http://schemas.openxmlformats.org/drawingml/2006/main">
              <a:ext uri="{FF2B5EF4-FFF2-40B4-BE49-F238E27FC236}">
                <a16:creationId xmlns:a16="http://schemas.microsoft.com/office/drawing/2014/main" id="{AFE73F9A-BC77-4465-A4EB-6F3885549D6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In authentic research, the answer is not waiting in the teacher’s answer key.</a:t>
            </a:r>
          </a:p>
        </p:txBody>
      </p:sp>
      <p:cxnSp>
        <p:nvCxnSpPr>
          <p:cNvPr id="75" name="Google Shape;51;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2" name="Google Shape;52;p5">
            <a:extLst xmlns:a="http://schemas.openxmlformats.org/drawingml/2006/main">
              <a:ext uri="{FF2B5EF4-FFF2-40B4-BE49-F238E27FC236}">
                <a16:creationId xmlns:a16="http://schemas.microsoft.com/office/drawing/2014/main" id="{869973A0-649A-417C-AF60-10C1BDD58342}"/>
              </a:ext>
            </a:extLst>
          </p:cNvPr>
          <p:cNvSpPr>
            <a:spLocks xmlns:a="http://schemas.openxmlformats.org/drawingml/2006/main" noGrp="1"/>
          </p:cNvSpPr>
          <p:nvPr/>
        </p:nvSpPr>
        <p:spPr>
          <a:xfrm xmlns:a="http://schemas.openxmlformats.org/drawingml/2006/main">
            <a:off x="91440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 name="Google Shape;53;p5">
            <a:extLst xmlns:a="http://schemas.openxmlformats.org/drawingml/2006/main">
              <a:ext uri="{FF2B5EF4-FFF2-40B4-BE49-F238E27FC236}">
                <a16:creationId xmlns:a16="http://schemas.microsoft.com/office/drawing/2014/main" id="{41E4DB76-E7D4-45AD-81E7-679A7C7505DF}"/>
              </a:ext>
            </a:extLst>
          </p:cNvPr>
          <p:cNvSpPr>
            <a:spLocks xmlns:a="http://schemas.openxmlformats.org/drawingml/2006/main" noGrp="1"/>
          </p:cNvSpPr>
          <p:nvPr/>
        </p:nvSpPr>
        <p:spPr>
          <a:xfrm xmlns:a="http://schemas.openxmlformats.org/drawingml/2006/main">
            <a:off x="107899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RECIPE LAB</a:t>
            </a:r>
          </a:p>
        </p:txBody>
      </p:sp>
      <p:sp>
        <p:nvSpPr>
          <p:cNvPr id="54" name="Google Shape;54;p5">
            <a:extLst xmlns:a="http://schemas.openxmlformats.org/drawingml/2006/main">
              <a:ext uri="{FF2B5EF4-FFF2-40B4-BE49-F238E27FC236}">
                <a16:creationId xmlns:a16="http://schemas.microsoft.com/office/drawing/2014/main" id="{3F35988B-6282-42FF-A81D-0D3EADD7348B}"/>
              </a:ext>
            </a:extLst>
          </p:cNvPr>
          <p:cNvSpPr>
            <a:spLocks xmlns:a="http://schemas.openxmlformats.org/drawingml/2006/main" noGrp="1"/>
          </p:cNvSpPr>
          <p:nvPr/>
        </p:nvSpPr>
        <p:spPr>
          <a:xfrm xmlns:a="http://schemas.openxmlformats.org/drawingml/2006/main">
            <a:off x="107899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Everyone follows the same steps.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expected outcome is already known.</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usually to confirm a concept.</a:t>
            </a:r>
          </a:p>
        </p:txBody>
      </p:sp>
      <p:sp>
        <p:nvSpPr>
          <p:cNvPr id="55" name="Google Shape;55;p5">
            <a:extLst xmlns:a="http://schemas.openxmlformats.org/drawingml/2006/main">
              <a:ext uri="{FF2B5EF4-FFF2-40B4-BE49-F238E27FC236}">
                <a16:creationId xmlns:a16="http://schemas.microsoft.com/office/drawing/2014/main" id="{6BAFC348-A881-4611-9763-0F1238F1BFA2}"/>
              </a:ext>
            </a:extLst>
          </p:cNvPr>
          <p:cNvSpPr>
            <a:spLocks xmlns:a="http://schemas.openxmlformats.org/drawingml/2006/main" noGrp="1"/>
          </p:cNvSpPr>
          <p:nvPr/>
        </p:nvSpPr>
        <p:spPr>
          <a:xfrm xmlns:a="http://schemas.openxmlformats.org/drawingml/2006/main">
            <a:off x="635508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38B291B1-8817-482E-9D69-A19658A3A197}"/>
              </a:ext>
            </a:extLst>
          </p:cNvPr>
          <p:cNvSpPr>
            <a:spLocks xmlns:a="http://schemas.openxmlformats.org/drawingml/2006/main" noGrp="1"/>
          </p:cNvSpPr>
          <p:nvPr/>
        </p:nvSpPr>
        <p:spPr>
          <a:xfrm xmlns:a="http://schemas.openxmlformats.org/drawingml/2006/main">
            <a:off x="651967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AUTHENTIC RESEARCH</a:t>
            </a:r>
          </a:p>
        </p:txBody>
      </p:sp>
      <p:sp>
        <p:nvSpPr>
          <p:cNvPr id="57" name="Google Shape;57;p5">
            <a:extLst xmlns:a="http://schemas.openxmlformats.org/drawingml/2006/main">
              <a:ext uri="{FF2B5EF4-FFF2-40B4-BE49-F238E27FC236}">
                <a16:creationId xmlns:a16="http://schemas.microsoft.com/office/drawing/2014/main" id="{32661AB2-A1E9-4976-B03A-F0E2F69D4EE8}"/>
              </a:ext>
            </a:extLst>
          </p:cNvPr>
          <p:cNvSpPr>
            <a:spLocks xmlns:a="http://schemas.openxmlformats.org/drawingml/2006/main" noGrp="1"/>
          </p:cNvSpPr>
          <p:nvPr/>
        </p:nvSpPr>
        <p:spPr>
          <a:xfrm xmlns:a="http://schemas.openxmlformats.org/drawingml/2006/main">
            <a:off x="651967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develop questions.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may change.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to produce evidence and communicate what it means.</a:t>
            </a:r>
          </a:p>
        </p:txBody>
      </p:sp>
    </p:spTree>
    <p:extLst>
      <p:ext uri="{BB962C8B-B14F-4D97-AF65-F5344CB8AC3E}">
        <p14:creationId xmlns:p14="http://schemas.microsoft.com/office/powerpoint/2010/main" val="125211893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3" name="Google Shape;63;p6">
            <a:extLst xmlns:a="http://schemas.openxmlformats.org/drawingml/2006/main">
              <a:ext uri="{FF2B5EF4-FFF2-40B4-BE49-F238E27FC236}">
                <a16:creationId xmlns:a16="http://schemas.microsoft.com/office/drawing/2014/main" id="{5EACE277-7411-4A5B-B6CC-5B35BB94FBF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 name="Google Shape;64;p6">
            <a:extLst xmlns:a="http://schemas.openxmlformats.org/drawingml/2006/main">
              <a:ext uri="{FF2B5EF4-FFF2-40B4-BE49-F238E27FC236}">
                <a16:creationId xmlns:a16="http://schemas.microsoft.com/office/drawing/2014/main" id="{56A4D71B-0CCD-4B6B-885D-FACE359C9381}"/>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 name="Google Shape;65;p6">
            <a:extLst xmlns:a="http://schemas.openxmlformats.org/drawingml/2006/main">
              <a:ext uri="{FF2B5EF4-FFF2-40B4-BE49-F238E27FC236}">
                <a16:creationId xmlns:a16="http://schemas.microsoft.com/office/drawing/2014/main" id="{E580E7FF-1C48-484F-927B-E48D66D183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6" name="Google Shape;66;p6">
            <a:extLst xmlns:a="http://schemas.openxmlformats.org/drawingml/2006/main">
              <a:ext uri="{FF2B5EF4-FFF2-40B4-BE49-F238E27FC236}">
                <a16:creationId xmlns:a16="http://schemas.microsoft.com/office/drawing/2014/main" id="{1A95DE4C-474D-41CA-9C70-41E218EDBB6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67" name="Google Shape;67;p6">
            <a:extLst xmlns:a="http://schemas.openxmlformats.org/drawingml/2006/main">
              <a:ext uri="{FF2B5EF4-FFF2-40B4-BE49-F238E27FC236}">
                <a16:creationId xmlns:a16="http://schemas.microsoft.com/office/drawing/2014/main" id="{EDFD333A-9442-4A47-BFE2-1CB762B0AC2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68" name="Google Shape;68;p6">
            <a:extLst xmlns:a="http://schemas.openxmlformats.org/drawingml/2006/main">
              <a:ext uri="{FF2B5EF4-FFF2-40B4-BE49-F238E27FC236}">
                <a16:creationId xmlns:a16="http://schemas.microsoft.com/office/drawing/2014/main" id="{1FDD4952-1861-4C8A-A6D9-70C29449EF3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69" name="Google Shape;69;p6">
            <a:extLst xmlns:a="http://schemas.openxmlformats.org/drawingml/2006/main">
              <a:ext uri="{FF2B5EF4-FFF2-40B4-BE49-F238E27FC236}">
                <a16:creationId xmlns:a16="http://schemas.microsoft.com/office/drawing/2014/main" id="{7786EF29-58DA-4EC3-BB7A-46D8FA17FB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STARLAB Research Arc</a:t>
            </a:r>
          </a:p>
        </p:txBody>
      </p:sp>
      <p:sp>
        <p:nvSpPr>
          <p:cNvPr id="70" name="Google Shape;70;p6">
            <a:extLst xmlns:a="http://schemas.openxmlformats.org/drawingml/2006/main">
              <a:ext uri="{FF2B5EF4-FFF2-40B4-BE49-F238E27FC236}">
                <a16:creationId xmlns:a16="http://schemas.microsoft.com/office/drawing/2014/main" id="{AE88B6E2-F826-4E24-8562-838E960A9196}"/>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yearlong project moves through cycles, not a straight line.</a:t>
            </a:r>
          </a:p>
        </p:txBody>
      </p:sp>
      <p:cxnSp>
        <p:nvCxnSpPr>
          <p:cNvPr id="128" name="Google Shape;71;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72" name="Google Shape;72;p6">
            <a:extLst xmlns:a="http://schemas.openxmlformats.org/drawingml/2006/main">
              <a:ext uri="{FF2B5EF4-FFF2-40B4-BE49-F238E27FC236}">
                <a16:creationId xmlns:a16="http://schemas.microsoft.com/office/drawing/2014/main" id="{76F8BE27-DDF1-4307-B177-068CAFC3A490}"/>
              </a:ext>
            </a:extLst>
          </p:cNvPr>
          <p:cNvSpPr>
            <a:spLocks xmlns:a="http://schemas.openxmlformats.org/drawingml/2006/main" noGrp="1"/>
          </p:cNvSpPr>
          <p:nvPr/>
        </p:nvSpPr>
        <p:spPr>
          <a:xfrm xmlns:a="http://schemas.openxmlformats.org/drawingml/2006/main">
            <a:off x="685800" y="2057400"/>
            <a:ext cx="1188720" cy="658368"/>
          </a:xfrm>
          <a:prstGeom xmlns:a="http://schemas.openxmlformats.org/drawingml/2006/main" prst="roundRect">
            <a:avLst>
              <a:gd name="adj" fmla="val 6944"/>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781DFE35-9B77-467C-9475-C79CDA88CF5F}"/>
              </a:ext>
            </a:extLst>
          </p:cNvPr>
          <p:cNvSpPr>
            <a:spLocks xmlns:a="http://schemas.openxmlformats.org/drawingml/2006/main" noGrp="1"/>
          </p:cNvSpPr>
          <p:nvPr/>
        </p:nvSpPr>
        <p:spPr>
          <a:xfrm xmlns:a="http://schemas.openxmlformats.org/drawingml/2006/main">
            <a:off x="749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QUESTION</a:t>
            </a:r>
          </a:p>
        </p:txBody>
      </p:sp>
      <p:cxnSp>
        <p:nvCxnSpPr>
          <p:cNvPr id="131" name="Google Shape;74;p6"/>
          <p:cNvCxnSpPr/>
          <p:nvPr/>
        </p:nvCxnSpPr>
        <p:spPr>
          <a:xfrm xmlns:a="http://schemas.openxmlformats.org/drawingml/2006/main">
            <a:off x="1892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5" name="Google Shape;75;p6">
            <a:extLst xmlns:a="http://schemas.openxmlformats.org/drawingml/2006/main">
              <a:ext uri="{FF2B5EF4-FFF2-40B4-BE49-F238E27FC236}">
                <a16:creationId xmlns:a16="http://schemas.microsoft.com/office/drawing/2014/main" id="{1620B88A-F2AC-411C-92B5-4D66B32BB722}"/>
              </a:ext>
            </a:extLst>
          </p:cNvPr>
          <p:cNvSpPr>
            <a:spLocks xmlns:a="http://schemas.openxmlformats.org/drawingml/2006/main" noGrp="1"/>
          </p:cNvSpPr>
          <p:nvPr/>
        </p:nvSpPr>
        <p:spPr>
          <a:xfrm xmlns:a="http://schemas.openxmlformats.org/drawingml/2006/main">
            <a:off x="2286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6">
            <a:extLst xmlns:a="http://schemas.openxmlformats.org/drawingml/2006/main">
              <a:ext uri="{FF2B5EF4-FFF2-40B4-BE49-F238E27FC236}">
                <a16:creationId xmlns:a16="http://schemas.microsoft.com/office/drawing/2014/main" id="{9EDCD37A-0921-4B2A-A9AB-7B0D7F2C38D2}"/>
              </a:ext>
            </a:extLst>
          </p:cNvPr>
          <p:cNvSpPr>
            <a:spLocks xmlns:a="http://schemas.openxmlformats.org/drawingml/2006/main" noGrp="1"/>
          </p:cNvSpPr>
          <p:nvPr/>
        </p:nvSpPr>
        <p:spPr>
          <a:xfrm xmlns:a="http://schemas.openxmlformats.org/drawingml/2006/main">
            <a:off x="2350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PLAN</a:t>
            </a:r>
          </a:p>
        </p:txBody>
      </p:sp>
      <p:cxnSp>
        <p:nvCxnSpPr>
          <p:cNvPr id="134" name="Google Shape;77;p6"/>
          <p:cNvCxnSpPr/>
          <p:nvPr/>
        </p:nvCxnSpPr>
        <p:spPr>
          <a:xfrm xmlns:a="http://schemas.openxmlformats.org/drawingml/2006/main">
            <a:off x="34930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8" name="Google Shape;78;p6">
            <a:extLst xmlns:a="http://schemas.openxmlformats.org/drawingml/2006/main">
              <a:ext uri="{FF2B5EF4-FFF2-40B4-BE49-F238E27FC236}">
                <a16:creationId xmlns:a16="http://schemas.microsoft.com/office/drawing/2014/main" id="{EF69C806-1702-4029-9A6A-67C968F91812}"/>
              </a:ext>
            </a:extLst>
          </p:cNvPr>
          <p:cNvSpPr>
            <a:spLocks xmlns:a="http://schemas.openxmlformats.org/drawingml/2006/main" noGrp="1"/>
          </p:cNvSpPr>
          <p:nvPr/>
        </p:nvSpPr>
        <p:spPr>
          <a:xfrm xmlns:a="http://schemas.openxmlformats.org/drawingml/2006/main">
            <a:off x="38862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9" name="Google Shape;79;p6">
            <a:extLst xmlns:a="http://schemas.openxmlformats.org/drawingml/2006/main">
              <a:ext uri="{FF2B5EF4-FFF2-40B4-BE49-F238E27FC236}">
                <a16:creationId xmlns:a16="http://schemas.microsoft.com/office/drawing/2014/main" id="{BDBA9D6B-AD56-4E5B-AFEB-4F4F3F3FC277}"/>
              </a:ext>
            </a:extLst>
          </p:cNvPr>
          <p:cNvSpPr>
            <a:spLocks xmlns:a="http://schemas.openxmlformats.org/drawingml/2006/main" noGrp="1"/>
          </p:cNvSpPr>
          <p:nvPr/>
        </p:nvSpPr>
        <p:spPr>
          <a:xfrm xmlns:a="http://schemas.openxmlformats.org/drawingml/2006/main">
            <a:off x="39502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PILOT</a:t>
            </a:r>
          </a:p>
        </p:txBody>
      </p:sp>
      <p:cxnSp>
        <p:nvCxnSpPr>
          <p:cNvPr id="137" name="Google Shape;80;p6"/>
          <p:cNvCxnSpPr/>
          <p:nvPr/>
        </p:nvCxnSpPr>
        <p:spPr>
          <a:xfrm xmlns:a="http://schemas.openxmlformats.org/drawingml/2006/main">
            <a:off x="50932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1" name="Google Shape;81;p6">
            <a:extLst xmlns:a="http://schemas.openxmlformats.org/drawingml/2006/main">
              <a:ext uri="{FF2B5EF4-FFF2-40B4-BE49-F238E27FC236}">
                <a16:creationId xmlns:a16="http://schemas.microsoft.com/office/drawing/2014/main" id="{59626CDF-B81C-4A32-985C-7EA4E65CCCA4}"/>
              </a:ext>
            </a:extLst>
          </p:cNvPr>
          <p:cNvSpPr>
            <a:spLocks xmlns:a="http://schemas.openxmlformats.org/drawingml/2006/main" noGrp="1"/>
          </p:cNvSpPr>
          <p:nvPr/>
        </p:nvSpPr>
        <p:spPr>
          <a:xfrm xmlns:a="http://schemas.openxmlformats.org/drawingml/2006/main">
            <a:off x="54864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1E0D2121-B00C-4125-B49B-1E1851684E69}"/>
              </a:ext>
            </a:extLst>
          </p:cNvPr>
          <p:cNvSpPr>
            <a:spLocks xmlns:a="http://schemas.openxmlformats.org/drawingml/2006/main" noGrp="1"/>
          </p:cNvSpPr>
          <p:nvPr/>
        </p:nvSpPr>
        <p:spPr>
          <a:xfrm xmlns:a="http://schemas.openxmlformats.org/drawingml/2006/main">
            <a:off x="55504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COLLECT</a:t>
            </a:r>
          </a:p>
        </p:txBody>
      </p:sp>
      <p:cxnSp>
        <p:nvCxnSpPr>
          <p:cNvPr id="140" name="Google Shape;83;p6"/>
          <p:cNvCxnSpPr/>
          <p:nvPr/>
        </p:nvCxnSpPr>
        <p:spPr>
          <a:xfrm xmlns:a="http://schemas.openxmlformats.org/drawingml/2006/main">
            <a:off x="66934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4" name="Google Shape;84;p6">
            <a:extLst xmlns:a="http://schemas.openxmlformats.org/drawingml/2006/main">
              <a:ext uri="{FF2B5EF4-FFF2-40B4-BE49-F238E27FC236}">
                <a16:creationId xmlns:a16="http://schemas.microsoft.com/office/drawing/2014/main" id="{7FF55BD4-6C0F-46C8-A795-8DC8C6C207C9}"/>
              </a:ext>
            </a:extLst>
          </p:cNvPr>
          <p:cNvSpPr>
            <a:spLocks xmlns:a="http://schemas.openxmlformats.org/drawingml/2006/main" noGrp="1"/>
          </p:cNvSpPr>
          <p:nvPr/>
        </p:nvSpPr>
        <p:spPr>
          <a:xfrm xmlns:a="http://schemas.openxmlformats.org/drawingml/2006/main">
            <a:off x="70866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5" name="Google Shape;85;p6">
            <a:extLst xmlns:a="http://schemas.openxmlformats.org/drawingml/2006/main">
              <a:ext uri="{FF2B5EF4-FFF2-40B4-BE49-F238E27FC236}">
                <a16:creationId xmlns:a16="http://schemas.microsoft.com/office/drawing/2014/main" id="{E592F88A-4EC9-40D0-AAA0-920F05729985}"/>
              </a:ext>
            </a:extLst>
          </p:cNvPr>
          <p:cNvSpPr>
            <a:spLocks xmlns:a="http://schemas.openxmlformats.org/drawingml/2006/main" noGrp="1"/>
          </p:cNvSpPr>
          <p:nvPr/>
        </p:nvSpPr>
        <p:spPr>
          <a:xfrm xmlns:a="http://schemas.openxmlformats.org/drawingml/2006/main">
            <a:off x="71506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ANALYZE</a:t>
            </a:r>
          </a:p>
        </p:txBody>
      </p:sp>
      <p:cxnSp>
        <p:nvCxnSpPr>
          <p:cNvPr id="143" name="Google Shape;86;p6"/>
          <p:cNvCxnSpPr/>
          <p:nvPr/>
        </p:nvCxnSpPr>
        <p:spPr>
          <a:xfrm xmlns:a="http://schemas.openxmlformats.org/drawingml/2006/main">
            <a:off x="82936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7" name="Google Shape;87;p6">
            <a:extLst xmlns:a="http://schemas.openxmlformats.org/drawingml/2006/main">
              <a:ext uri="{FF2B5EF4-FFF2-40B4-BE49-F238E27FC236}">
                <a16:creationId xmlns:a16="http://schemas.microsoft.com/office/drawing/2014/main" id="{3A384516-7F52-41F2-895B-66235B370ED5}"/>
              </a:ext>
            </a:extLst>
          </p:cNvPr>
          <p:cNvSpPr>
            <a:spLocks xmlns:a="http://schemas.openxmlformats.org/drawingml/2006/main" noGrp="1"/>
          </p:cNvSpPr>
          <p:nvPr/>
        </p:nvSpPr>
        <p:spPr>
          <a:xfrm xmlns:a="http://schemas.openxmlformats.org/drawingml/2006/main">
            <a:off x="86868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8" name="Google Shape;88;p6">
            <a:extLst xmlns:a="http://schemas.openxmlformats.org/drawingml/2006/main">
              <a:ext uri="{FF2B5EF4-FFF2-40B4-BE49-F238E27FC236}">
                <a16:creationId xmlns:a16="http://schemas.microsoft.com/office/drawing/2014/main" id="{70ADD38E-CDF9-4BE5-B886-301DB0F5C6B5}"/>
              </a:ext>
            </a:extLst>
          </p:cNvPr>
          <p:cNvSpPr>
            <a:spLocks xmlns:a="http://schemas.openxmlformats.org/drawingml/2006/main" noGrp="1"/>
          </p:cNvSpPr>
          <p:nvPr/>
        </p:nvSpPr>
        <p:spPr>
          <a:xfrm xmlns:a="http://schemas.openxmlformats.org/drawingml/2006/main">
            <a:off x="8750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REPORT</a:t>
            </a:r>
          </a:p>
        </p:txBody>
      </p:sp>
      <p:cxnSp>
        <p:nvCxnSpPr>
          <p:cNvPr id="146" name="Google Shape;89;p6"/>
          <p:cNvCxnSpPr/>
          <p:nvPr/>
        </p:nvCxnSpPr>
        <p:spPr>
          <a:xfrm xmlns:a="http://schemas.openxmlformats.org/drawingml/2006/main">
            <a:off x="9893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90" name="Google Shape;90;p6">
            <a:extLst xmlns:a="http://schemas.openxmlformats.org/drawingml/2006/main">
              <a:ext uri="{FF2B5EF4-FFF2-40B4-BE49-F238E27FC236}">
                <a16:creationId xmlns:a16="http://schemas.microsoft.com/office/drawing/2014/main" id="{F225DB50-34EC-4B3D-B01C-EBFB0025BAD0}"/>
              </a:ext>
            </a:extLst>
          </p:cNvPr>
          <p:cNvSpPr>
            <a:spLocks xmlns:a="http://schemas.openxmlformats.org/drawingml/2006/main" noGrp="1"/>
          </p:cNvSpPr>
          <p:nvPr/>
        </p:nvSpPr>
        <p:spPr>
          <a:xfrm xmlns:a="http://schemas.openxmlformats.org/drawingml/2006/main">
            <a:off x="10287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6">
            <a:extLst xmlns:a="http://schemas.openxmlformats.org/drawingml/2006/main">
              <a:ext uri="{FF2B5EF4-FFF2-40B4-BE49-F238E27FC236}">
                <a16:creationId xmlns:a16="http://schemas.microsoft.com/office/drawing/2014/main" id="{1D2620DF-4B3F-4988-A9CA-46E47E362D2E}"/>
              </a:ext>
            </a:extLst>
          </p:cNvPr>
          <p:cNvSpPr>
            <a:spLocks xmlns:a="http://schemas.openxmlformats.org/drawingml/2006/main" noGrp="1"/>
          </p:cNvSpPr>
          <p:nvPr/>
        </p:nvSpPr>
        <p:spPr>
          <a:xfrm xmlns:a="http://schemas.openxmlformats.org/drawingml/2006/main">
            <a:off x="10351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PRESENT</a:t>
            </a:r>
          </a:p>
        </p:txBody>
      </p:sp>
      <p:sp>
        <p:nvSpPr>
          <p:cNvPr id="92" name="Google Shape;92;p6">
            <a:extLst xmlns:a="http://schemas.openxmlformats.org/drawingml/2006/main">
              <a:ext uri="{FF2B5EF4-FFF2-40B4-BE49-F238E27FC236}">
                <a16:creationId xmlns:a16="http://schemas.microsoft.com/office/drawing/2014/main" id="{920D16DC-A6E3-48FF-A803-E0B9939C673E}"/>
              </a:ext>
            </a:extLst>
          </p:cNvPr>
          <p:cNvSpPr>
            <a:spLocks xmlns:a="http://schemas.openxmlformats.org/drawingml/2006/main" noGrp="1"/>
          </p:cNvSpPr>
          <p:nvPr/>
        </p:nvSpPr>
        <p:spPr>
          <a:xfrm xmlns:a="http://schemas.openxmlformats.org/drawingml/2006/main">
            <a:off x="1005840" y="3886200"/>
            <a:ext cx="101498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000"/>
              <a:buFont typeface="Play"/>
              <a:buNone/>
            </a:pPr>
            <a:r>
              <a:rPr sz="3000" b="1">
                <a:solidFill>
                  <a:srgbClr val="FFFFFF"/>
                </a:solidFill>
                <a:latin typeface="Play"/>
                <a:ea typeface="Play"/>
                <a:cs typeface="Play"/>
              </a:rPr>
              <a:t>You will revisit earlier stages whenever evidence demands it.</a:t>
            </a:r>
          </a:p>
        </p:txBody>
      </p:sp>
    </p:spTree>
    <p:extLst>
      <p:ext uri="{BB962C8B-B14F-4D97-AF65-F5344CB8AC3E}">
        <p14:creationId xmlns:p14="http://schemas.microsoft.com/office/powerpoint/2010/main" val="1556261133"/>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8" name="Google Shape;98;p7">
            <a:extLst xmlns:a="http://schemas.openxmlformats.org/drawingml/2006/main">
              <a:ext uri="{FF2B5EF4-FFF2-40B4-BE49-F238E27FC236}">
                <a16:creationId xmlns:a16="http://schemas.microsoft.com/office/drawing/2014/main" id="{BDD5A58D-6714-4FAD-9004-80F418B62AF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BBB9DE0D-BDEC-40DE-BCB4-73503B7E492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7">
            <a:extLst xmlns:a="http://schemas.openxmlformats.org/drawingml/2006/main">
              <a:ext uri="{FF2B5EF4-FFF2-40B4-BE49-F238E27FC236}">
                <a16:creationId xmlns:a16="http://schemas.microsoft.com/office/drawing/2014/main" id="{1476F661-A6BD-4FEB-98A5-D0777B6B56B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7">
            <a:extLst xmlns:a="http://schemas.openxmlformats.org/drawingml/2006/main">
              <a:ext uri="{FF2B5EF4-FFF2-40B4-BE49-F238E27FC236}">
                <a16:creationId xmlns:a16="http://schemas.microsoft.com/office/drawing/2014/main" id="{8CAD7DBD-2F30-44F0-867B-1771C45D4CD0}"/>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02" name="Google Shape;102;p7">
            <a:extLst xmlns:a="http://schemas.openxmlformats.org/drawingml/2006/main">
              <a:ext uri="{FF2B5EF4-FFF2-40B4-BE49-F238E27FC236}">
                <a16:creationId xmlns:a16="http://schemas.microsoft.com/office/drawing/2014/main" id="{52C6C4EE-7EF9-472B-88FA-58EC846D005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03" name="Google Shape;103;p7">
            <a:extLst xmlns:a="http://schemas.openxmlformats.org/drawingml/2006/main">
              <a:ext uri="{FF2B5EF4-FFF2-40B4-BE49-F238E27FC236}">
                <a16:creationId xmlns:a16="http://schemas.microsoft.com/office/drawing/2014/main" id="{42909876-CED1-4431-804C-FDDD2A1E1FC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04" name="Google Shape;104;p7">
            <a:extLst xmlns:a="http://schemas.openxmlformats.org/drawingml/2006/main">
              <a:ext uri="{FF2B5EF4-FFF2-40B4-BE49-F238E27FC236}">
                <a16:creationId xmlns:a16="http://schemas.microsoft.com/office/drawing/2014/main" id="{AEB3D6F0-2851-45BE-A277-175A9B85731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Core Shift</a:t>
            </a:r>
          </a:p>
        </p:txBody>
      </p:sp>
      <p:sp>
        <p:nvSpPr>
          <p:cNvPr id="105" name="Google Shape;105;p7">
            <a:extLst xmlns:a="http://schemas.openxmlformats.org/drawingml/2006/main">
              <a:ext uri="{FF2B5EF4-FFF2-40B4-BE49-F238E27FC236}">
                <a16:creationId xmlns:a16="http://schemas.microsoft.com/office/drawing/2014/main" id="{5F74A0B6-64E5-4634-A852-EA04C2587FF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From completing assignments to building evidence.</a:t>
            </a:r>
          </a:p>
        </p:txBody>
      </p:sp>
      <p:cxnSp>
        <p:nvCxnSpPr>
          <p:cNvPr id="133" name="Google Shape;106;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07" name="Google Shape;107;p7">
            <a:extLst xmlns:a="http://schemas.openxmlformats.org/drawingml/2006/main">
              <a:ext uri="{FF2B5EF4-FFF2-40B4-BE49-F238E27FC236}">
                <a16:creationId xmlns:a16="http://schemas.microsoft.com/office/drawing/2014/main" id="{CB80DE04-B9A8-4855-9C28-61B894FE5986}"/>
              </a:ext>
            </a:extLst>
          </p:cNvPr>
          <p:cNvSpPr>
            <a:spLocks xmlns:a="http://schemas.openxmlformats.org/drawingml/2006/main" noGrp="1"/>
          </p:cNvSpPr>
          <p:nvPr/>
        </p:nvSpPr>
        <p:spPr>
          <a:xfrm xmlns:a="http://schemas.openxmlformats.org/drawingml/2006/main">
            <a:off x="91440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7">
            <a:extLst xmlns:a="http://schemas.openxmlformats.org/drawingml/2006/main">
              <a:ext uri="{FF2B5EF4-FFF2-40B4-BE49-F238E27FC236}">
                <a16:creationId xmlns:a16="http://schemas.microsoft.com/office/drawing/2014/main" id="{9489895C-6870-4AA5-B91B-66515538844F}"/>
              </a:ext>
            </a:extLst>
          </p:cNvPr>
          <p:cNvSpPr>
            <a:spLocks xmlns:a="http://schemas.openxmlformats.org/drawingml/2006/main" noGrp="1"/>
          </p:cNvSpPr>
          <p:nvPr/>
        </p:nvSpPr>
        <p:spPr>
          <a:xfrm xmlns:a="http://schemas.openxmlformats.org/drawingml/2006/main">
            <a:off x="107899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TRADITIONAL QUESTION</a:t>
            </a:r>
          </a:p>
        </p:txBody>
      </p:sp>
      <p:sp>
        <p:nvSpPr>
          <p:cNvPr id="109" name="Google Shape;109;p7">
            <a:extLst xmlns:a="http://schemas.openxmlformats.org/drawingml/2006/main">
              <a:ext uri="{FF2B5EF4-FFF2-40B4-BE49-F238E27FC236}">
                <a16:creationId xmlns:a16="http://schemas.microsoft.com/office/drawing/2014/main" id="{8C4E222A-F11C-437F-B057-5CABE8AF86C6}"/>
              </a:ext>
            </a:extLst>
          </p:cNvPr>
          <p:cNvSpPr>
            <a:spLocks xmlns:a="http://schemas.openxmlformats.org/drawingml/2006/main" noGrp="1"/>
          </p:cNvSpPr>
          <p:nvPr/>
        </p:nvSpPr>
        <p:spPr>
          <a:xfrm xmlns:a="http://schemas.openxmlformats.org/drawingml/2006/main">
            <a:off x="107899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teacher want me to write?</a:t>
            </a:r>
          </a:p>
        </p:txBody>
      </p:sp>
      <p:sp>
        <p:nvSpPr>
          <p:cNvPr id="110" name="Google Shape;110;p7">
            <a:extLst xmlns:a="http://schemas.openxmlformats.org/drawingml/2006/main">
              <a:ext uri="{FF2B5EF4-FFF2-40B4-BE49-F238E27FC236}">
                <a16:creationId xmlns:a16="http://schemas.microsoft.com/office/drawing/2014/main" id="{90C424B4-2D4E-4808-B1D7-49D328AD3417}"/>
              </a:ext>
            </a:extLst>
          </p:cNvPr>
          <p:cNvSpPr>
            <a:spLocks xmlns:a="http://schemas.openxmlformats.org/drawingml/2006/main" noGrp="1"/>
          </p:cNvSpPr>
          <p:nvPr/>
        </p:nvSpPr>
        <p:spPr>
          <a:xfrm xmlns:a="http://schemas.openxmlformats.org/drawingml/2006/main">
            <a:off x="452628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1" name="Google Shape;111;p7">
            <a:extLst xmlns:a="http://schemas.openxmlformats.org/drawingml/2006/main">
              <a:ext uri="{FF2B5EF4-FFF2-40B4-BE49-F238E27FC236}">
                <a16:creationId xmlns:a16="http://schemas.microsoft.com/office/drawing/2014/main" id="{251B71DE-9871-4D7E-9953-CCAB2D0902A7}"/>
              </a:ext>
            </a:extLst>
          </p:cNvPr>
          <p:cNvSpPr>
            <a:spLocks xmlns:a="http://schemas.openxmlformats.org/drawingml/2006/main" noGrp="1"/>
          </p:cNvSpPr>
          <p:nvPr/>
        </p:nvSpPr>
        <p:spPr>
          <a:xfrm xmlns:a="http://schemas.openxmlformats.org/drawingml/2006/main">
            <a:off x="469087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RESEARCH QUESTION</a:t>
            </a:r>
          </a:p>
        </p:txBody>
      </p:sp>
      <p:sp>
        <p:nvSpPr>
          <p:cNvPr id="112" name="Google Shape;112;p7">
            <a:extLst xmlns:a="http://schemas.openxmlformats.org/drawingml/2006/main">
              <a:ext uri="{FF2B5EF4-FFF2-40B4-BE49-F238E27FC236}">
                <a16:creationId xmlns:a16="http://schemas.microsoft.com/office/drawing/2014/main" id="{38BEE6B9-E9AA-43F8-A908-4116EAAB99D2}"/>
              </a:ext>
            </a:extLst>
          </p:cNvPr>
          <p:cNvSpPr>
            <a:spLocks xmlns:a="http://schemas.openxmlformats.org/drawingml/2006/main" noGrp="1"/>
          </p:cNvSpPr>
          <p:nvPr/>
        </p:nvSpPr>
        <p:spPr>
          <a:xfrm xmlns:a="http://schemas.openxmlformats.org/drawingml/2006/main">
            <a:off x="469087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evidence allow me to claim?</a:t>
            </a:r>
          </a:p>
        </p:txBody>
      </p:sp>
      <p:sp>
        <p:nvSpPr>
          <p:cNvPr id="113" name="Google Shape;113;p7">
            <a:extLst xmlns:a="http://schemas.openxmlformats.org/drawingml/2006/main">
              <a:ext uri="{FF2B5EF4-FFF2-40B4-BE49-F238E27FC236}">
                <a16:creationId xmlns:a16="http://schemas.microsoft.com/office/drawing/2014/main" id="{DBA9E45C-6873-429A-844F-5E7D7B4F7CA9}"/>
              </a:ext>
            </a:extLst>
          </p:cNvPr>
          <p:cNvSpPr>
            <a:spLocks xmlns:a="http://schemas.openxmlformats.org/drawingml/2006/main" noGrp="1"/>
          </p:cNvSpPr>
          <p:nvPr/>
        </p:nvSpPr>
        <p:spPr>
          <a:xfrm xmlns:a="http://schemas.openxmlformats.org/drawingml/2006/main">
            <a:off x="813816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4" name="Google Shape;114;p7">
            <a:extLst xmlns:a="http://schemas.openxmlformats.org/drawingml/2006/main">
              <a:ext uri="{FF2B5EF4-FFF2-40B4-BE49-F238E27FC236}">
                <a16:creationId xmlns:a16="http://schemas.microsoft.com/office/drawing/2014/main" id="{D5FBA21A-2754-4289-95DD-D6959B5F721F}"/>
              </a:ext>
            </a:extLst>
          </p:cNvPr>
          <p:cNvSpPr>
            <a:spLocks xmlns:a="http://schemas.openxmlformats.org/drawingml/2006/main" noGrp="1"/>
          </p:cNvSpPr>
          <p:nvPr/>
        </p:nvSpPr>
        <p:spPr>
          <a:xfrm xmlns:a="http://schemas.openxmlformats.org/drawingml/2006/main">
            <a:off x="830275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STARLAB QUESTION</a:t>
            </a:r>
          </a:p>
        </p:txBody>
      </p:sp>
      <p:sp>
        <p:nvSpPr>
          <p:cNvPr id="115" name="Google Shape;115;p7">
            <a:extLst xmlns:a="http://schemas.openxmlformats.org/drawingml/2006/main">
              <a:ext uri="{FF2B5EF4-FFF2-40B4-BE49-F238E27FC236}">
                <a16:creationId xmlns:a16="http://schemas.microsoft.com/office/drawing/2014/main" id="{857BD1FA-79B9-492B-A8F3-F63FB45114B9}"/>
              </a:ext>
            </a:extLst>
          </p:cNvPr>
          <p:cNvSpPr>
            <a:spLocks xmlns:a="http://schemas.openxmlformats.org/drawingml/2006/main" noGrp="1"/>
          </p:cNvSpPr>
          <p:nvPr/>
        </p:nvSpPr>
        <p:spPr>
          <a:xfrm xmlns:a="http://schemas.openxmlformats.org/drawingml/2006/main">
            <a:off x="830275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What do I need to try, measure, revise, or explain next?</a:t>
            </a:r>
          </a:p>
        </p:txBody>
      </p:sp>
    </p:spTree>
    <p:extLst>
      <p:ext uri="{BB962C8B-B14F-4D97-AF65-F5344CB8AC3E}">
        <p14:creationId xmlns:p14="http://schemas.microsoft.com/office/powerpoint/2010/main" val="186780926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1" name="Google Shape;121;p8">
            <a:extLst xmlns:a="http://schemas.openxmlformats.org/drawingml/2006/main">
              <a:ext uri="{FF2B5EF4-FFF2-40B4-BE49-F238E27FC236}">
                <a16:creationId xmlns:a16="http://schemas.microsoft.com/office/drawing/2014/main" id="{42CFBEAB-0B56-4D52-96E0-EFA5A2328E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2" name="Google Shape;122;p8">
            <a:extLst xmlns:a="http://schemas.openxmlformats.org/drawingml/2006/main">
              <a:ext uri="{FF2B5EF4-FFF2-40B4-BE49-F238E27FC236}">
                <a16:creationId xmlns:a16="http://schemas.microsoft.com/office/drawing/2014/main" id="{1FDDD5A5-D957-4EA3-8D8F-29303EA957E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3" name="Google Shape;123;p8">
            <a:extLst xmlns:a="http://schemas.openxmlformats.org/drawingml/2006/main">
              <a:ext uri="{FF2B5EF4-FFF2-40B4-BE49-F238E27FC236}">
                <a16:creationId xmlns:a16="http://schemas.microsoft.com/office/drawing/2014/main" id="{3217C9C3-048F-4B70-AFC2-23CB3F21BC0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3189B090-DF19-495C-BCC5-960CB407F72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PATHWAYS</a:t>
            </a:r>
          </a:p>
        </p:txBody>
      </p:sp>
      <p:sp>
        <p:nvSpPr>
          <p:cNvPr id="125" name="Google Shape;125;p8">
            <a:extLst xmlns:a="http://schemas.openxmlformats.org/drawingml/2006/main">
              <a:ext uri="{FF2B5EF4-FFF2-40B4-BE49-F238E27FC236}">
                <a16:creationId xmlns:a16="http://schemas.microsoft.com/office/drawing/2014/main" id="{3EE6259F-03CF-47E6-9AFA-EB5BDA268E0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26" name="Google Shape;126;p8">
            <a:extLst xmlns:a="http://schemas.openxmlformats.org/drawingml/2006/main">
              <a:ext uri="{FF2B5EF4-FFF2-40B4-BE49-F238E27FC236}">
                <a16:creationId xmlns:a16="http://schemas.microsoft.com/office/drawing/2014/main" id="{97EA7597-9BEA-4AFA-9B0C-CB6957E175B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27" name="Google Shape;127;p8">
            <a:extLst xmlns:a="http://schemas.openxmlformats.org/drawingml/2006/main">
              <a:ext uri="{FF2B5EF4-FFF2-40B4-BE49-F238E27FC236}">
                <a16:creationId xmlns:a16="http://schemas.microsoft.com/office/drawing/2014/main" id="{F9BC7111-3FB7-46F8-9E7F-2D8D1CDA936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Research Can Look Many Ways</a:t>
            </a:r>
          </a:p>
        </p:txBody>
      </p:sp>
      <p:sp>
        <p:nvSpPr>
          <p:cNvPr id="128" name="Google Shape;128;p8">
            <a:extLst xmlns:a="http://schemas.openxmlformats.org/drawingml/2006/main">
              <a:ext uri="{FF2B5EF4-FFF2-40B4-BE49-F238E27FC236}">
                <a16:creationId xmlns:a16="http://schemas.microsoft.com/office/drawing/2014/main" id="{153F543D-C841-49B7-996D-3BB9E8C9C4D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is not limited to one kind of science project.</a:t>
            </a:r>
          </a:p>
        </p:txBody>
      </p:sp>
      <p:cxnSp>
        <p:nvCxnSpPr>
          <p:cNvPr id="163" name="Google Shape;129;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0" name="Google Shape;130;p8">
            <a:extLst xmlns:a="http://schemas.openxmlformats.org/drawingml/2006/main">
              <a:ext uri="{FF2B5EF4-FFF2-40B4-BE49-F238E27FC236}">
                <a16:creationId xmlns:a16="http://schemas.microsoft.com/office/drawing/2014/main" id="{D7641C69-5E97-4EE6-B652-4E5657817ACE}"/>
              </a:ext>
            </a:extLst>
          </p:cNvPr>
          <p:cNvSpPr>
            <a:spLocks xmlns:a="http://schemas.openxmlformats.org/drawingml/2006/main" noGrp="1"/>
          </p:cNvSpPr>
          <p:nvPr/>
        </p:nvSpPr>
        <p:spPr>
          <a:xfrm xmlns:a="http://schemas.openxmlformats.org/drawingml/2006/main">
            <a:off x="777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1" name="Google Shape;131;p8">
            <a:extLst xmlns:a="http://schemas.openxmlformats.org/drawingml/2006/main">
              <a:ext uri="{FF2B5EF4-FFF2-40B4-BE49-F238E27FC236}">
                <a16:creationId xmlns:a16="http://schemas.microsoft.com/office/drawing/2014/main" id="{F4A7CC36-0504-48EC-91E9-8DB6FA358DDA}"/>
              </a:ext>
            </a:extLst>
          </p:cNvPr>
          <p:cNvSpPr>
            <a:spLocks xmlns:a="http://schemas.openxmlformats.org/drawingml/2006/main" noGrp="1"/>
          </p:cNvSpPr>
          <p:nvPr/>
        </p:nvSpPr>
        <p:spPr>
          <a:xfrm xmlns:a="http://schemas.openxmlformats.org/drawingml/2006/main">
            <a:off x="941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EXPERIMENT</a:t>
            </a:r>
          </a:p>
        </p:txBody>
      </p:sp>
      <p:sp>
        <p:nvSpPr>
          <p:cNvPr id="132" name="Google Shape;132;p8">
            <a:extLst xmlns:a="http://schemas.openxmlformats.org/drawingml/2006/main">
              <a:ext uri="{FF2B5EF4-FFF2-40B4-BE49-F238E27FC236}">
                <a16:creationId xmlns:a16="http://schemas.microsoft.com/office/drawing/2014/main" id="{E08DD92C-747C-43D4-8171-CE1F4E6A30D7}"/>
              </a:ext>
            </a:extLst>
          </p:cNvPr>
          <p:cNvSpPr>
            <a:spLocks xmlns:a="http://schemas.openxmlformats.org/drawingml/2006/main" noGrp="1"/>
          </p:cNvSpPr>
          <p:nvPr/>
        </p:nvSpPr>
        <p:spPr>
          <a:xfrm xmlns:a="http://schemas.openxmlformats.org/drawingml/2006/main">
            <a:off x="941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Change one factor and measure the outcome.</a:t>
            </a:r>
          </a:p>
        </p:txBody>
      </p:sp>
      <p:sp>
        <p:nvSpPr>
          <p:cNvPr id="133" name="Google Shape;133;p8">
            <a:extLst xmlns:a="http://schemas.openxmlformats.org/drawingml/2006/main">
              <a:ext uri="{FF2B5EF4-FFF2-40B4-BE49-F238E27FC236}">
                <a16:creationId xmlns:a16="http://schemas.microsoft.com/office/drawing/2014/main" id="{D7705619-B88B-4C3F-B3A5-207098963E01}"/>
              </a:ext>
            </a:extLst>
          </p:cNvPr>
          <p:cNvSpPr>
            <a:spLocks xmlns:a="http://schemas.openxmlformats.org/drawingml/2006/main" noGrp="1"/>
          </p:cNvSpPr>
          <p:nvPr/>
        </p:nvSpPr>
        <p:spPr>
          <a:xfrm xmlns:a="http://schemas.openxmlformats.org/drawingml/2006/main">
            <a:off x="3063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8">
            <a:extLst xmlns:a="http://schemas.openxmlformats.org/drawingml/2006/main">
              <a:ext uri="{FF2B5EF4-FFF2-40B4-BE49-F238E27FC236}">
                <a16:creationId xmlns:a16="http://schemas.microsoft.com/office/drawing/2014/main" id="{8BA98055-5A4C-4690-997F-3036B3E1B5EB}"/>
              </a:ext>
            </a:extLst>
          </p:cNvPr>
          <p:cNvSpPr>
            <a:spLocks xmlns:a="http://schemas.openxmlformats.org/drawingml/2006/main" noGrp="1"/>
          </p:cNvSpPr>
          <p:nvPr/>
        </p:nvSpPr>
        <p:spPr>
          <a:xfrm xmlns:a="http://schemas.openxmlformats.org/drawingml/2006/main">
            <a:off x="3227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ENGINEERING</a:t>
            </a:r>
          </a:p>
        </p:txBody>
      </p:sp>
      <p:sp>
        <p:nvSpPr>
          <p:cNvPr id="135" name="Google Shape;135;p8">
            <a:extLst xmlns:a="http://schemas.openxmlformats.org/drawingml/2006/main">
              <a:ext uri="{FF2B5EF4-FFF2-40B4-BE49-F238E27FC236}">
                <a16:creationId xmlns:a16="http://schemas.microsoft.com/office/drawing/2014/main" id="{677F7C8A-CC6A-4BF2-9C56-15C260D32A3E}"/>
              </a:ext>
            </a:extLst>
          </p:cNvPr>
          <p:cNvSpPr>
            <a:spLocks xmlns:a="http://schemas.openxmlformats.org/drawingml/2006/main" noGrp="1"/>
          </p:cNvSpPr>
          <p:nvPr/>
        </p:nvSpPr>
        <p:spPr>
          <a:xfrm xmlns:a="http://schemas.openxmlformats.org/drawingml/2006/main">
            <a:off x="3227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Define a problem, build, test, redesign.</a:t>
            </a:r>
          </a:p>
        </p:txBody>
      </p:sp>
      <p:sp>
        <p:nvSpPr>
          <p:cNvPr id="136" name="Google Shape;136;p8">
            <a:extLst xmlns:a="http://schemas.openxmlformats.org/drawingml/2006/main">
              <a:ext uri="{FF2B5EF4-FFF2-40B4-BE49-F238E27FC236}">
                <a16:creationId xmlns:a16="http://schemas.microsoft.com/office/drawing/2014/main" id="{A1D2008A-AD9E-4981-A27C-0EEA927419DA}"/>
              </a:ext>
            </a:extLst>
          </p:cNvPr>
          <p:cNvSpPr>
            <a:spLocks xmlns:a="http://schemas.openxmlformats.org/drawingml/2006/main" noGrp="1"/>
          </p:cNvSpPr>
          <p:nvPr/>
        </p:nvSpPr>
        <p:spPr>
          <a:xfrm xmlns:a="http://schemas.openxmlformats.org/drawingml/2006/main">
            <a:off x="5349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8">
            <a:extLst xmlns:a="http://schemas.openxmlformats.org/drawingml/2006/main">
              <a:ext uri="{FF2B5EF4-FFF2-40B4-BE49-F238E27FC236}">
                <a16:creationId xmlns:a16="http://schemas.microsoft.com/office/drawing/2014/main" id="{A1621013-23CC-46B1-8C57-C15D2E6A600F}"/>
              </a:ext>
            </a:extLst>
          </p:cNvPr>
          <p:cNvSpPr>
            <a:spLocks xmlns:a="http://schemas.openxmlformats.org/drawingml/2006/main" noGrp="1"/>
          </p:cNvSpPr>
          <p:nvPr/>
        </p:nvSpPr>
        <p:spPr>
          <a:xfrm xmlns:a="http://schemas.openxmlformats.org/drawingml/2006/main">
            <a:off x="5513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DATA / CODE</a:t>
            </a:r>
          </a:p>
        </p:txBody>
      </p:sp>
      <p:sp>
        <p:nvSpPr>
          <p:cNvPr id="138" name="Google Shape;138;p8">
            <a:extLst xmlns:a="http://schemas.openxmlformats.org/drawingml/2006/main">
              <a:ext uri="{FF2B5EF4-FFF2-40B4-BE49-F238E27FC236}">
                <a16:creationId xmlns:a16="http://schemas.microsoft.com/office/drawing/2014/main" id="{D9C22C66-2131-4575-BD3D-2386CF808C21}"/>
              </a:ext>
            </a:extLst>
          </p:cNvPr>
          <p:cNvSpPr>
            <a:spLocks xmlns:a="http://schemas.openxmlformats.org/drawingml/2006/main" noGrp="1"/>
          </p:cNvSpPr>
          <p:nvPr/>
        </p:nvSpPr>
        <p:spPr>
          <a:xfrm xmlns:a="http://schemas.openxmlformats.org/drawingml/2006/main">
            <a:off x="5513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Analyze existing data, models, or algorithms.</a:t>
            </a:r>
          </a:p>
        </p:txBody>
      </p:sp>
      <p:sp>
        <p:nvSpPr>
          <p:cNvPr id="139" name="Google Shape;139;p8">
            <a:extLst xmlns:a="http://schemas.openxmlformats.org/drawingml/2006/main">
              <a:ext uri="{FF2B5EF4-FFF2-40B4-BE49-F238E27FC236}">
                <a16:creationId xmlns:a16="http://schemas.microsoft.com/office/drawing/2014/main" id="{60695987-2ADC-4C46-903C-5B0FEB88AF44}"/>
              </a:ext>
            </a:extLst>
          </p:cNvPr>
          <p:cNvSpPr>
            <a:spLocks xmlns:a="http://schemas.openxmlformats.org/drawingml/2006/main" noGrp="1"/>
          </p:cNvSpPr>
          <p:nvPr/>
        </p:nvSpPr>
        <p:spPr>
          <a:xfrm xmlns:a="http://schemas.openxmlformats.org/drawingml/2006/main">
            <a:off x="7635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8">
            <a:extLst xmlns:a="http://schemas.openxmlformats.org/drawingml/2006/main">
              <a:ext uri="{FF2B5EF4-FFF2-40B4-BE49-F238E27FC236}">
                <a16:creationId xmlns:a16="http://schemas.microsoft.com/office/drawing/2014/main" id="{8B633A51-7954-4148-9FCA-89344B35D464}"/>
              </a:ext>
            </a:extLst>
          </p:cNvPr>
          <p:cNvSpPr>
            <a:spLocks xmlns:a="http://schemas.openxmlformats.org/drawingml/2006/main" noGrp="1"/>
          </p:cNvSpPr>
          <p:nvPr/>
        </p:nvSpPr>
        <p:spPr>
          <a:xfrm xmlns:a="http://schemas.openxmlformats.org/drawingml/2006/main">
            <a:off x="7799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FIELD / OBS.</a:t>
            </a:r>
          </a:p>
        </p:txBody>
      </p:sp>
      <p:sp>
        <p:nvSpPr>
          <p:cNvPr id="141" name="Google Shape;141;p8">
            <a:extLst xmlns:a="http://schemas.openxmlformats.org/drawingml/2006/main">
              <a:ext uri="{FF2B5EF4-FFF2-40B4-BE49-F238E27FC236}">
                <a16:creationId xmlns:a16="http://schemas.microsoft.com/office/drawing/2014/main" id="{D12EDC6D-6FD6-4B38-9384-3373121AE0AA}"/>
              </a:ext>
            </a:extLst>
          </p:cNvPr>
          <p:cNvSpPr>
            <a:spLocks xmlns:a="http://schemas.openxmlformats.org/drawingml/2006/main" noGrp="1"/>
          </p:cNvSpPr>
          <p:nvPr/>
        </p:nvSpPr>
        <p:spPr>
          <a:xfrm xmlns:a="http://schemas.openxmlformats.org/drawingml/2006/main">
            <a:off x="7799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Collect evidence from real-world systems.</a:t>
            </a:r>
          </a:p>
        </p:txBody>
      </p:sp>
      <p:sp>
        <p:nvSpPr>
          <p:cNvPr id="142" name="Google Shape;142;p8">
            <a:extLst xmlns:a="http://schemas.openxmlformats.org/drawingml/2006/main">
              <a:ext uri="{FF2B5EF4-FFF2-40B4-BE49-F238E27FC236}">
                <a16:creationId xmlns:a16="http://schemas.microsoft.com/office/drawing/2014/main" id="{980F9007-FA3D-4CCB-BEEA-9DA643C32ED7}"/>
              </a:ext>
            </a:extLst>
          </p:cNvPr>
          <p:cNvSpPr>
            <a:spLocks xmlns:a="http://schemas.openxmlformats.org/drawingml/2006/main" noGrp="1"/>
          </p:cNvSpPr>
          <p:nvPr/>
        </p:nvSpPr>
        <p:spPr>
          <a:xfrm xmlns:a="http://schemas.openxmlformats.org/drawingml/2006/main">
            <a:off x="4983480" y="3657600"/>
            <a:ext cx="2240280" cy="1325880"/>
          </a:xfrm>
          <a:prstGeom xmlns:a="http://schemas.openxmlformats.org/drawingml/2006/main" prst="roundRect">
            <a:avLst>
              <a:gd name="adj" fmla="val 41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8">
            <a:extLst xmlns:a="http://schemas.openxmlformats.org/drawingml/2006/main">
              <a:ext uri="{FF2B5EF4-FFF2-40B4-BE49-F238E27FC236}">
                <a16:creationId xmlns:a16="http://schemas.microsoft.com/office/drawing/2014/main" id="{F856C707-AE69-47A0-9AFA-6AFC2B7BC172}"/>
              </a:ext>
            </a:extLst>
          </p:cNvPr>
          <p:cNvSpPr>
            <a:spLocks xmlns:a="http://schemas.openxmlformats.org/drawingml/2006/main" noGrp="1"/>
          </p:cNvSpPr>
          <p:nvPr/>
        </p:nvSpPr>
        <p:spPr>
          <a:xfrm xmlns:a="http://schemas.openxmlformats.org/drawingml/2006/main">
            <a:off x="5148072" y="3794760"/>
            <a:ext cx="19110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PROTOTYPE</a:t>
            </a:r>
          </a:p>
        </p:txBody>
      </p:sp>
      <p:sp>
        <p:nvSpPr>
          <p:cNvPr id="144" name="Google Shape;144;p8">
            <a:extLst xmlns:a="http://schemas.openxmlformats.org/drawingml/2006/main">
              <a:ext uri="{FF2B5EF4-FFF2-40B4-BE49-F238E27FC236}">
                <a16:creationId xmlns:a16="http://schemas.microsoft.com/office/drawing/2014/main" id="{517DE70F-36E4-42EB-80A2-A72E0C6282CC}"/>
              </a:ext>
            </a:extLst>
          </p:cNvPr>
          <p:cNvSpPr>
            <a:spLocks xmlns:a="http://schemas.openxmlformats.org/drawingml/2006/main" noGrp="1"/>
          </p:cNvSpPr>
          <p:nvPr/>
        </p:nvSpPr>
        <p:spPr>
          <a:xfrm xmlns:a="http://schemas.openxmlformats.org/drawingml/2006/main">
            <a:off x="5148072" y="4160520"/>
            <a:ext cx="1911096" cy="667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Compare versions using performance metrics.</a:t>
            </a:r>
          </a:p>
        </p:txBody>
      </p:sp>
      <p:sp>
        <p:nvSpPr>
          <p:cNvPr id="145" name="Google Shape;145;p8">
            <a:extLst xmlns:a="http://schemas.openxmlformats.org/drawingml/2006/main">
              <a:ext uri="{FF2B5EF4-FFF2-40B4-BE49-F238E27FC236}">
                <a16:creationId xmlns:a16="http://schemas.microsoft.com/office/drawing/2014/main" id="{6D21036E-6956-4DAD-864C-4E2A08B07C54}"/>
              </a:ext>
            </a:extLst>
          </p:cNvPr>
          <p:cNvSpPr>
            <a:spLocks xmlns:a="http://schemas.openxmlformats.org/drawingml/2006/main" noGrp="1"/>
          </p:cNvSpPr>
          <p:nvPr/>
        </p:nvSpPr>
        <p:spPr>
          <a:xfrm xmlns:a="http://schemas.openxmlformats.org/drawingml/2006/main">
            <a:off x="914400" y="5468112"/>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Different paths. Same expectations: evidence, ethics, documentation, communication.</a:t>
            </a:r>
          </a:p>
        </p:txBody>
      </p:sp>
    </p:spTree>
    <p:extLst>
      <p:ext uri="{BB962C8B-B14F-4D97-AF65-F5344CB8AC3E}">
        <p14:creationId xmlns:p14="http://schemas.microsoft.com/office/powerpoint/2010/main" val="923407368"/>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1" name="Google Shape;151;p9">
            <a:extLst xmlns:a="http://schemas.openxmlformats.org/drawingml/2006/main">
              <a:ext uri="{FF2B5EF4-FFF2-40B4-BE49-F238E27FC236}">
                <a16:creationId xmlns:a16="http://schemas.microsoft.com/office/drawing/2014/main" id="{86011B2E-17C9-4221-B864-1BA10109504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9">
            <a:extLst xmlns:a="http://schemas.openxmlformats.org/drawingml/2006/main">
              <a:ext uri="{FF2B5EF4-FFF2-40B4-BE49-F238E27FC236}">
                <a16:creationId xmlns:a16="http://schemas.microsoft.com/office/drawing/2014/main" id="{BB6E8502-0F7D-4F7C-B10E-EC145FE9673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9">
            <a:extLst xmlns:a="http://schemas.openxmlformats.org/drawingml/2006/main">
              <a:ext uri="{FF2B5EF4-FFF2-40B4-BE49-F238E27FC236}">
                <a16:creationId xmlns:a16="http://schemas.microsoft.com/office/drawing/2014/main" id="{C1421F08-3BB4-473A-AAC7-0885E4FC4FF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9">
            <a:extLst xmlns:a="http://schemas.openxmlformats.org/drawingml/2006/main">
              <a:ext uri="{FF2B5EF4-FFF2-40B4-BE49-F238E27FC236}">
                <a16:creationId xmlns:a16="http://schemas.microsoft.com/office/drawing/2014/main" id="{AB47B340-CFB0-4AE2-80AC-EA94875A045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55" name="Google Shape;155;p9">
            <a:extLst xmlns:a="http://schemas.openxmlformats.org/drawingml/2006/main">
              <a:ext uri="{FF2B5EF4-FFF2-40B4-BE49-F238E27FC236}">
                <a16:creationId xmlns:a16="http://schemas.microsoft.com/office/drawing/2014/main" id="{A4524FB7-FD7F-4140-85D4-ED0550FA8A9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56" name="Google Shape;156;p9">
            <a:extLst xmlns:a="http://schemas.openxmlformats.org/drawingml/2006/main">
              <a:ext uri="{FF2B5EF4-FFF2-40B4-BE49-F238E27FC236}">
                <a16:creationId xmlns:a16="http://schemas.microsoft.com/office/drawing/2014/main" id="{59BBC8C2-FCF1-4A86-B3B3-711ED09551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57" name="Google Shape;157;p9">
            <a:extLst xmlns:a="http://schemas.openxmlformats.org/drawingml/2006/main">
              <a:ext uri="{FF2B5EF4-FFF2-40B4-BE49-F238E27FC236}">
                <a16:creationId xmlns:a16="http://schemas.microsoft.com/office/drawing/2014/main" id="{92F508B2-27FC-40D7-93B9-4F65ACB2FF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Makes It Authentic?</a:t>
            </a:r>
          </a:p>
        </p:txBody>
      </p:sp>
      <p:sp>
        <p:nvSpPr>
          <p:cNvPr id="158" name="Google Shape;158;p9">
            <a:extLst xmlns:a="http://schemas.openxmlformats.org/drawingml/2006/main">
              <a:ext uri="{FF2B5EF4-FFF2-40B4-BE49-F238E27FC236}">
                <a16:creationId xmlns:a16="http://schemas.microsoft.com/office/drawing/2014/main" id="{BFBA4335-E32E-4379-B7E1-9920612CDCD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Authentic research includes uncertainty, evidence, revision, and communication.</a:t>
            </a:r>
          </a:p>
        </p:txBody>
      </p:sp>
      <p:cxnSp>
        <p:nvCxnSpPr>
          <p:cNvPr id="189" name="Google Shape;159;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60" name="Google Shape;160;p9">
            <a:extLst xmlns:a="http://schemas.openxmlformats.org/drawingml/2006/main">
              <a:ext uri="{FF2B5EF4-FFF2-40B4-BE49-F238E27FC236}">
                <a16:creationId xmlns:a16="http://schemas.microsoft.com/office/drawing/2014/main" id="{310BCDFB-DB63-4806-BF85-C69A11029822}"/>
              </a:ext>
            </a:extLst>
          </p:cNvPr>
          <p:cNvSpPr>
            <a:spLocks xmlns:a="http://schemas.openxmlformats.org/drawingml/2006/main" noGrp="1"/>
          </p:cNvSpPr>
          <p:nvPr/>
        </p:nvSpPr>
        <p:spPr>
          <a:xfrm xmlns:a="http://schemas.openxmlformats.org/drawingml/2006/main">
            <a:off x="91440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1" name="Google Shape;161;p9">
            <a:extLst xmlns:a="http://schemas.openxmlformats.org/drawingml/2006/main">
              <a:ext uri="{FF2B5EF4-FFF2-40B4-BE49-F238E27FC236}">
                <a16:creationId xmlns:a16="http://schemas.microsoft.com/office/drawing/2014/main" id="{4CA1C240-197A-4C82-A77D-434C12D8E801}"/>
              </a:ext>
            </a:extLst>
          </p:cNvPr>
          <p:cNvSpPr>
            <a:spLocks xmlns:a="http://schemas.openxmlformats.org/drawingml/2006/main" noGrp="1"/>
          </p:cNvSpPr>
          <p:nvPr/>
        </p:nvSpPr>
        <p:spPr>
          <a:xfrm xmlns:a="http://schemas.openxmlformats.org/drawingml/2006/main">
            <a:off x="107899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UNCERTAINTY</a:t>
            </a:r>
          </a:p>
        </p:txBody>
      </p:sp>
      <p:sp>
        <p:nvSpPr>
          <p:cNvPr id="162" name="Google Shape;162;p9">
            <a:extLst xmlns:a="http://schemas.openxmlformats.org/drawingml/2006/main">
              <a:ext uri="{FF2B5EF4-FFF2-40B4-BE49-F238E27FC236}">
                <a16:creationId xmlns:a16="http://schemas.microsoft.com/office/drawing/2014/main" id="{67A404C0-41A9-4C65-9541-48DA5AD24F7E}"/>
              </a:ext>
            </a:extLst>
          </p:cNvPr>
          <p:cNvSpPr>
            <a:spLocks xmlns:a="http://schemas.openxmlformats.org/drawingml/2006/main" noGrp="1"/>
          </p:cNvSpPr>
          <p:nvPr/>
        </p:nvSpPr>
        <p:spPr>
          <a:xfrm xmlns:a="http://schemas.openxmlformats.org/drawingml/2006/main">
            <a:off x="107899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outcome is not fully known in advance.</a:t>
            </a:r>
          </a:p>
        </p:txBody>
      </p:sp>
      <p:sp>
        <p:nvSpPr>
          <p:cNvPr id="163" name="Google Shape;163;p9">
            <a:extLst xmlns:a="http://schemas.openxmlformats.org/drawingml/2006/main">
              <a:ext uri="{FF2B5EF4-FFF2-40B4-BE49-F238E27FC236}">
                <a16:creationId xmlns:a16="http://schemas.microsoft.com/office/drawing/2014/main" id="{27F161BF-C834-4D36-8124-52B0758D983B}"/>
              </a:ext>
            </a:extLst>
          </p:cNvPr>
          <p:cNvSpPr>
            <a:spLocks xmlns:a="http://schemas.openxmlformats.org/drawingml/2006/main" noGrp="1"/>
          </p:cNvSpPr>
          <p:nvPr/>
        </p:nvSpPr>
        <p:spPr>
          <a:xfrm xmlns:a="http://schemas.openxmlformats.org/drawingml/2006/main">
            <a:off x="356616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4" name="Google Shape;164;p9">
            <a:extLst xmlns:a="http://schemas.openxmlformats.org/drawingml/2006/main">
              <a:ext uri="{FF2B5EF4-FFF2-40B4-BE49-F238E27FC236}">
                <a16:creationId xmlns:a16="http://schemas.microsoft.com/office/drawing/2014/main" id="{58FFF76C-6F0A-4FF6-8BAC-CFFAB8D2A5C7}"/>
              </a:ext>
            </a:extLst>
          </p:cNvPr>
          <p:cNvSpPr>
            <a:spLocks xmlns:a="http://schemas.openxmlformats.org/drawingml/2006/main" noGrp="1"/>
          </p:cNvSpPr>
          <p:nvPr/>
        </p:nvSpPr>
        <p:spPr>
          <a:xfrm xmlns:a="http://schemas.openxmlformats.org/drawingml/2006/main">
            <a:off x="373075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EVIDENCE</a:t>
            </a:r>
          </a:p>
        </p:txBody>
      </p:sp>
      <p:sp>
        <p:nvSpPr>
          <p:cNvPr id="165" name="Google Shape;165;p9">
            <a:extLst xmlns:a="http://schemas.openxmlformats.org/drawingml/2006/main">
              <a:ext uri="{FF2B5EF4-FFF2-40B4-BE49-F238E27FC236}">
                <a16:creationId xmlns:a16="http://schemas.microsoft.com/office/drawing/2014/main" id="{8D0BB11B-FF21-4A78-B6FD-6671FDDA7922}"/>
              </a:ext>
            </a:extLst>
          </p:cNvPr>
          <p:cNvSpPr>
            <a:spLocks xmlns:a="http://schemas.openxmlformats.org/drawingml/2006/main" noGrp="1"/>
          </p:cNvSpPr>
          <p:nvPr/>
        </p:nvSpPr>
        <p:spPr>
          <a:xfrm xmlns:a="http://schemas.openxmlformats.org/drawingml/2006/main">
            <a:off x="373075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Claims must be supported by data, observations, testing, or analysis.</a:t>
            </a:r>
          </a:p>
        </p:txBody>
      </p:sp>
      <p:sp>
        <p:nvSpPr>
          <p:cNvPr id="166" name="Google Shape;166;p9">
            <a:extLst xmlns:a="http://schemas.openxmlformats.org/drawingml/2006/main">
              <a:ext uri="{FF2B5EF4-FFF2-40B4-BE49-F238E27FC236}">
                <a16:creationId xmlns:a16="http://schemas.microsoft.com/office/drawing/2014/main" id="{162B33C2-91E6-43A6-86C4-D617C9E94621}"/>
              </a:ext>
            </a:extLst>
          </p:cNvPr>
          <p:cNvSpPr>
            <a:spLocks xmlns:a="http://schemas.openxmlformats.org/drawingml/2006/main" noGrp="1"/>
          </p:cNvSpPr>
          <p:nvPr/>
        </p:nvSpPr>
        <p:spPr>
          <a:xfrm xmlns:a="http://schemas.openxmlformats.org/drawingml/2006/main">
            <a:off x="621792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7" name="Google Shape;167;p9">
            <a:extLst xmlns:a="http://schemas.openxmlformats.org/drawingml/2006/main">
              <a:ext uri="{FF2B5EF4-FFF2-40B4-BE49-F238E27FC236}">
                <a16:creationId xmlns:a16="http://schemas.microsoft.com/office/drawing/2014/main" id="{823BD5E5-3ABF-40AA-8B98-457005AD6708}"/>
              </a:ext>
            </a:extLst>
          </p:cNvPr>
          <p:cNvSpPr>
            <a:spLocks xmlns:a="http://schemas.openxmlformats.org/drawingml/2006/main" noGrp="1"/>
          </p:cNvSpPr>
          <p:nvPr/>
        </p:nvSpPr>
        <p:spPr>
          <a:xfrm xmlns:a="http://schemas.openxmlformats.org/drawingml/2006/main">
            <a:off x="638251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REVISION</a:t>
            </a:r>
          </a:p>
        </p:txBody>
      </p:sp>
      <p:sp>
        <p:nvSpPr>
          <p:cNvPr id="168" name="Google Shape;168;p9">
            <a:extLst xmlns:a="http://schemas.openxmlformats.org/drawingml/2006/main">
              <a:ext uri="{FF2B5EF4-FFF2-40B4-BE49-F238E27FC236}">
                <a16:creationId xmlns:a16="http://schemas.microsoft.com/office/drawing/2014/main" id="{016BD583-DB5B-40A0-A08D-B701BE10569D}"/>
              </a:ext>
            </a:extLst>
          </p:cNvPr>
          <p:cNvSpPr>
            <a:spLocks xmlns:a="http://schemas.openxmlformats.org/drawingml/2006/main" noGrp="1"/>
          </p:cNvSpPr>
          <p:nvPr/>
        </p:nvSpPr>
        <p:spPr>
          <a:xfrm xmlns:a="http://schemas.openxmlformats.org/drawingml/2006/main">
            <a:off x="638251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and ideas improve when reality pushes back.</a:t>
            </a:r>
          </a:p>
        </p:txBody>
      </p:sp>
      <p:sp>
        <p:nvSpPr>
          <p:cNvPr id="169" name="Google Shape;169;p9">
            <a:extLst xmlns:a="http://schemas.openxmlformats.org/drawingml/2006/main">
              <a:ext uri="{FF2B5EF4-FFF2-40B4-BE49-F238E27FC236}">
                <a16:creationId xmlns:a16="http://schemas.microsoft.com/office/drawing/2014/main" id="{507B947A-97DD-48E2-B19F-DF3B71849E05}"/>
              </a:ext>
            </a:extLst>
          </p:cNvPr>
          <p:cNvSpPr>
            <a:spLocks xmlns:a="http://schemas.openxmlformats.org/drawingml/2006/main" noGrp="1"/>
          </p:cNvSpPr>
          <p:nvPr/>
        </p:nvSpPr>
        <p:spPr>
          <a:xfrm xmlns:a="http://schemas.openxmlformats.org/drawingml/2006/main">
            <a:off x="886968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0" name="Google Shape;170;p9">
            <a:extLst xmlns:a="http://schemas.openxmlformats.org/drawingml/2006/main">
              <a:ext uri="{FF2B5EF4-FFF2-40B4-BE49-F238E27FC236}">
                <a16:creationId xmlns:a16="http://schemas.microsoft.com/office/drawing/2014/main" id="{FDF44B9B-0F45-46D7-9A15-A9F40D9D2967}"/>
              </a:ext>
            </a:extLst>
          </p:cNvPr>
          <p:cNvSpPr>
            <a:spLocks xmlns:a="http://schemas.openxmlformats.org/drawingml/2006/main" noGrp="1"/>
          </p:cNvSpPr>
          <p:nvPr/>
        </p:nvSpPr>
        <p:spPr>
          <a:xfrm xmlns:a="http://schemas.openxmlformats.org/drawingml/2006/main">
            <a:off x="903427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COMMUNICATION</a:t>
            </a:r>
          </a:p>
        </p:txBody>
      </p:sp>
      <p:sp>
        <p:nvSpPr>
          <p:cNvPr id="171" name="Google Shape;171;p9">
            <a:extLst xmlns:a="http://schemas.openxmlformats.org/drawingml/2006/main">
              <a:ext uri="{FF2B5EF4-FFF2-40B4-BE49-F238E27FC236}">
                <a16:creationId xmlns:a16="http://schemas.microsoft.com/office/drawing/2014/main" id="{52214F5D-D0C3-4CC9-902B-DCD71A25F4BC}"/>
              </a:ext>
            </a:extLst>
          </p:cNvPr>
          <p:cNvSpPr>
            <a:spLocks xmlns:a="http://schemas.openxmlformats.org/drawingml/2006/main" noGrp="1"/>
          </p:cNvSpPr>
          <p:nvPr/>
        </p:nvSpPr>
        <p:spPr>
          <a:xfrm xmlns:a="http://schemas.openxmlformats.org/drawingml/2006/main">
            <a:off x="903427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Research is not complete until others can understand it.</a:t>
            </a:r>
          </a:p>
        </p:txBody>
      </p:sp>
    </p:spTree>
    <p:extLst>
      <p:ext uri="{BB962C8B-B14F-4D97-AF65-F5344CB8AC3E}">
        <p14:creationId xmlns:p14="http://schemas.microsoft.com/office/powerpoint/2010/main" val="2045729346"/>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7" name="Google Shape;177;p10">
            <a:extLst xmlns:a="http://schemas.openxmlformats.org/drawingml/2006/main">
              <a:ext uri="{FF2B5EF4-FFF2-40B4-BE49-F238E27FC236}">
                <a16:creationId xmlns:a16="http://schemas.microsoft.com/office/drawing/2014/main" id="{BF80EBF1-CEFA-4330-978D-0111972BE3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8" name="Google Shape;178;p10">
            <a:extLst xmlns:a="http://schemas.openxmlformats.org/drawingml/2006/main">
              <a:ext uri="{FF2B5EF4-FFF2-40B4-BE49-F238E27FC236}">
                <a16:creationId xmlns:a16="http://schemas.microsoft.com/office/drawing/2014/main" id="{6644175F-7041-468C-B50F-39B3FB52B6A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9" name="Google Shape;179;p10">
            <a:extLst xmlns:a="http://schemas.openxmlformats.org/drawingml/2006/main">
              <a:ext uri="{FF2B5EF4-FFF2-40B4-BE49-F238E27FC236}">
                <a16:creationId xmlns:a16="http://schemas.microsoft.com/office/drawing/2014/main" id="{D8182F51-2F3C-4D37-93FF-3029AE064D2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0" name="Google Shape;180;p10">
            <a:extLst xmlns:a="http://schemas.openxmlformats.org/drawingml/2006/main">
              <a:ext uri="{FF2B5EF4-FFF2-40B4-BE49-F238E27FC236}">
                <a16:creationId xmlns:a16="http://schemas.microsoft.com/office/drawing/2014/main" id="{2A1C6479-3614-4CB3-A864-205A642E6E4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181" name="Google Shape;181;p10">
            <a:extLst xmlns:a="http://schemas.openxmlformats.org/drawingml/2006/main">
              <a:ext uri="{FF2B5EF4-FFF2-40B4-BE49-F238E27FC236}">
                <a16:creationId xmlns:a16="http://schemas.microsoft.com/office/drawing/2014/main" id="{9E248B61-3873-4942-8A09-0715F05E3E2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82" name="Google Shape;182;p10">
            <a:extLst xmlns:a="http://schemas.openxmlformats.org/drawingml/2006/main">
              <a:ext uri="{FF2B5EF4-FFF2-40B4-BE49-F238E27FC236}">
                <a16:creationId xmlns:a16="http://schemas.microsoft.com/office/drawing/2014/main" id="{84DC3652-0325-41FC-A4C6-01CEFAFDF7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83" name="Google Shape;183;p10">
            <a:extLst xmlns:a="http://schemas.openxmlformats.org/drawingml/2006/main">
              <a:ext uri="{FF2B5EF4-FFF2-40B4-BE49-F238E27FC236}">
                <a16:creationId xmlns:a16="http://schemas.microsoft.com/office/drawing/2014/main" id="{76183816-753E-4CF7-BB55-ECE99A456B72}"/>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Quick Write: What Counts as Research?</a:t>
            </a:r>
          </a:p>
        </p:txBody>
      </p:sp>
      <p:sp>
        <p:nvSpPr>
          <p:cNvPr id="184" name="Google Shape;184;p10">
            <a:extLst xmlns:a="http://schemas.openxmlformats.org/drawingml/2006/main">
              <a:ext uri="{FF2B5EF4-FFF2-40B4-BE49-F238E27FC236}">
                <a16:creationId xmlns:a16="http://schemas.microsoft.com/office/drawing/2014/main" id="{1587CB26-5950-4AA8-BA11-3F3643F38BB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4 minutes • Unit 1</a:t>
            </a:r>
          </a:p>
        </p:txBody>
      </p:sp>
      <p:cxnSp>
        <p:nvCxnSpPr>
          <p:cNvPr id="206" name="Google Shape;185;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6" name="Google Shape;186;p10">
            <a:extLst xmlns:a="http://schemas.openxmlformats.org/drawingml/2006/main">
              <a:ext uri="{FF2B5EF4-FFF2-40B4-BE49-F238E27FC236}">
                <a16:creationId xmlns:a16="http://schemas.microsoft.com/office/drawing/2014/main" id="{36F54E77-35DA-4F90-BFF6-ED0FC853BB71}"/>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0">
            <a:extLst xmlns:a="http://schemas.openxmlformats.org/drawingml/2006/main">
              <a:ext uri="{FF2B5EF4-FFF2-40B4-BE49-F238E27FC236}">
                <a16:creationId xmlns:a16="http://schemas.microsoft.com/office/drawing/2014/main" id="{567860DB-263D-4325-AF30-B82A6CC642AB}"/>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88" name="Google Shape;188;p10">
            <a:extLst xmlns:a="http://schemas.openxmlformats.org/drawingml/2006/main">
              <a:ext uri="{FF2B5EF4-FFF2-40B4-BE49-F238E27FC236}">
                <a16:creationId xmlns:a16="http://schemas.microsoft.com/office/drawing/2014/main" id="{3CE94C78-68E3-4BCA-BC6C-9E3DEC47ABB0}"/>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In your packet, answer: “What makes a project real research instead of just an activity or demonstration?”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one example.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Then compare your answer with a partner.</a:t>
            </a:r>
          </a:p>
        </p:txBody>
      </p:sp>
    </p:spTree>
    <p:extLst>
      <p:ext uri="{BB962C8B-B14F-4D97-AF65-F5344CB8AC3E}">
        <p14:creationId xmlns:p14="http://schemas.microsoft.com/office/powerpoint/2010/main" val="1969548662"/>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4" name="Google Shape;194;p11">
            <a:extLst xmlns:a="http://schemas.openxmlformats.org/drawingml/2006/main">
              <a:ext uri="{FF2B5EF4-FFF2-40B4-BE49-F238E27FC236}">
                <a16:creationId xmlns:a16="http://schemas.microsoft.com/office/drawing/2014/main" id="{2AE48179-67FE-4BDE-9FD1-DAB2EA45178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5" name="Google Shape;195;p11">
            <a:extLst xmlns:a="http://schemas.openxmlformats.org/drawingml/2006/main">
              <a:ext uri="{FF2B5EF4-FFF2-40B4-BE49-F238E27FC236}">
                <a16:creationId xmlns:a16="http://schemas.microsoft.com/office/drawing/2014/main" id="{5EC6DF46-7946-4822-9048-28EFAEB22FC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6" name="Google Shape;196;p11">
            <a:extLst xmlns:a="http://schemas.openxmlformats.org/drawingml/2006/main">
              <a:ext uri="{FF2B5EF4-FFF2-40B4-BE49-F238E27FC236}">
                <a16:creationId xmlns:a16="http://schemas.microsoft.com/office/drawing/2014/main" id="{3F651A15-2F1C-46CC-A763-FFF695F4D69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7" name="Google Shape;197;p11">
            <a:extLst xmlns:a="http://schemas.openxmlformats.org/drawingml/2006/main">
              <a:ext uri="{FF2B5EF4-FFF2-40B4-BE49-F238E27FC236}">
                <a16:creationId xmlns:a16="http://schemas.microsoft.com/office/drawing/2014/main" id="{8BEA8928-04D4-4C36-8E4D-44E2DF72EE1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98" name="Google Shape;198;p11">
            <a:extLst xmlns:a="http://schemas.openxmlformats.org/drawingml/2006/main">
              <a:ext uri="{FF2B5EF4-FFF2-40B4-BE49-F238E27FC236}">
                <a16:creationId xmlns:a16="http://schemas.microsoft.com/office/drawing/2014/main" id="{9013A202-C483-4675-A389-89AB08B6C40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9" name="Google Shape;199;p11">
            <a:extLst xmlns:a="http://schemas.openxmlformats.org/drawingml/2006/main">
              <a:ext uri="{FF2B5EF4-FFF2-40B4-BE49-F238E27FC236}">
                <a16:creationId xmlns:a16="http://schemas.microsoft.com/office/drawing/2014/main" id="{000D758F-D62B-44B6-B55E-4CEAC338979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00" name="Google Shape;200;p11">
            <a:extLst xmlns:a="http://schemas.openxmlformats.org/drawingml/2006/main">
              <a:ext uri="{FF2B5EF4-FFF2-40B4-BE49-F238E27FC236}">
                <a16:creationId xmlns:a16="http://schemas.microsoft.com/office/drawing/2014/main" id="{23128B03-BB21-4052-A867-AA7AE280F93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Not Research Yet → Stronger Research</a:t>
            </a:r>
          </a:p>
        </p:txBody>
      </p:sp>
      <p:sp>
        <p:nvSpPr>
          <p:cNvPr id="201" name="Google Shape;201;p11">
            <a:extLst xmlns:a="http://schemas.openxmlformats.org/drawingml/2006/main">
              <a:ext uri="{FF2B5EF4-FFF2-40B4-BE49-F238E27FC236}">
                <a16:creationId xmlns:a16="http://schemas.microsoft.com/office/drawing/2014/main" id="{CA69D4BC-057E-4ECC-9576-6E1029E161E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good idea usually needs narrowing before it becomes investigable.</a:t>
            </a:r>
          </a:p>
        </p:txBody>
      </p:sp>
      <p:cxnSp>
        <p:nvCxnSpPr>
          <p:cNvPr id="230" name="Google Shape;202;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03" name="Google Shape;203;p11">
            <a:extLst xmlns:a="http://schemas.openxmlformats.org/drawingml/2006/main">
              <a:ext uri="{FF2B5EF4-FFF2-40B4-BE49-F238E27FC236}">
                <a16:creationId xmlns:a16="http://schemas.microsoft.com/office/drawing/2014/main" id="{9DB0E3B6-A4D3-4841-9501-25AC54303F8D}"/>
              </a:ext>
            </a:extLst>
          </p:cNvPr>
          <p:cNvSpPr>
            <a:spLocks xmlns:a="http://schemas.openxmlformats.org/drawingml/2006/main" noGrp="1"/>
          </p:cNvSpPr>
          <p:nvPr/>
        </p:nvSpPr>
        <p:spPr>
          <a:xfrm xmlns:a="http://schemas.openxmlformats.org/drawingml/2006/main">
            <a:off x="82296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4" name="Google Shape;204;p11">
            <a:extLst xmlns:a="http://schemas.openxmlformats.org/drawingml/2006/main">
              <a:ext uri="{FF2B5EF4-FFF2-40B4-BE49-F238E27FC236}">
                <a16:creationId xmlns:a16="http://schemas.microsoft.com/office/drawing/2014/main" id="{9B6B931C-8586-4434-B634-9BE555D344B1}"/>
              </a:ext>
            </a:extLst>
          </p:cNvPr>
          <p:cNvSpPr>
            <a:spLocks xmlns:a="http://schemas.openxmlformats.org/drawingml/2006/main" noGrp="1"/>
          </p:cNvSpPr>
          <p:nvPr/>
        </p:nvSpPr>
        <p:spPr>
          <a:xfrm xmlns:a="http://schemas.openxmlformats.org/drawingml/2006/main">
            <a:off x="98755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NOT RESEARCH YET</a:t>
            </a:r>
          </a:p>
        </p:txBody>
      </p:sp>
      <p:sp>
        <p:nvSpPr>
          <p:cNvPr id="205" name="Google Shape;205;p11">
            <a:extLst xmlns:a="http://schemas.openxmlformats.org/drawingml/2006/main">
              <a:ext uri="{FF2B5EF4-FFF2-40B4-BE49-F238E27FC236}">
                <a16:creationId xmlns:a16="http://schemas.microsoft.com/office/drawing/2014/main" id="{07D2443D-7AE0-4745-865A-E76A22D40FE2}"/>
              </a:ext>
            </a:extLst>
          </p:cNvPr>
          <p:cNvSpPr>
            <a:spLocks xmlns:a="http://schemas.openxmlformats.org/drawingml/2006/main" noGrp="1"/>
          </p:cNvSpPr>
          <p:nvPr/>
        </p:nvSpPr>
        <p:spPr>
          <a:xfrm xmlns:a="http://schemas.openxmlformats.org/drawingml/2006/main">
            <a:off x="98755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“I want to learn about cancer.”</a:t>
            </a:r>
          </a:p>
        </p:txBody>
      </p:sp>
      <p:sp>
        <p:nvSpPr>
          <p:cNvPr id="206" name="Google Shape;206;p11">
            <a:extLst xmlns:a="http://schemas.openxmlformats.org/drawingml/2006/main">
              <a:ext uri="{FF2B5EF4-FFF2-40B4-BE49-F238E27FC236}">
                <a16:creationId xmlns:a16="http://schemas.microsoft.com/office/drawing/2014/main" id="{1BEE3F06-1F28-4DA6-865E-A83F1B78199F}"/>
              </a:ext>
            </a:extLst>
          </p:cNvPr>
          <p:cNvSpPr>
            <a:spLocks xmlns:a="http://schemas.openxmlformats.org/drawingml/2006/main" noGrp="1"/>
          </p:cNvSpPr>
          <p:nvPr/>
        </p:nvSpPr>
        <p:spPr>
          <a:xfrm xmlns:a="http://schemas.openxmlformats.org/drawingml/2006/main">
            <a:off x="443484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1">
            <a:extLst xmlns:a="http://schemas.openxmlformats.org/drawingml/2006/main">
              <a:ext uri="{FF2B5EF4-FFF2-40B4-BE49-F238E27FC236}">
                <a16:creationId xmlns:a16="http://schemas.microsoft.com/office/drawing/2014/main" id="{E885B390-0374-402C-976E-6DF8A96B3306}"/>
              </a:ext>
            </a:extLst>
          </p:cNvPr>
          <p:cNvSpPr>
            <a:spLocks xmlns:a="http://schemas.openxmlformats.org/drawingml/2006/main" noGrp="1"/>
          </p:cNvSpPr>
          <p:nvPr/>
        </p:nvSpPr>
        <p:spPr>
          <a:xfrm xmlns:a="http://schemas.openxmlformats.org/drawingml/2006/main">
            <a:off x="459943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POSSIBLE DIRECTION</a:t>
            </a:r>
          </a:p>
        </p:txBody>
      </p:sp>
      <p:sp>
        <p:nvSpPr>
          <p:cNvPr id="208" name="Google Shape;208;p11">
            <a:extLst xmlns:a="http://schemas.openxmlformats.org/drawingml/2006/main">
              <a:ext uri="{FF2B5EF4-FFF2-40B4-BE49-F238E27FC236}">
                <a16:creationId xmlns:a16="http://schemas.microsoft.com/office/drawing/2014/main" id="{ABDC8130-507D-491A-918A-87E7B766FD80}"/>
              </a:ext>
            </a:extLst>
          </p:cNvPr>
          <p:cNvSpPr>
            <a:spLocks xmlns:a="http://schemas.openxmlformats.org/drawingml/2006/main" noGrp="1"/>
          </p:cNvSpPr>
          <p:nvPr/>
        </p:nvSpPr>
        <p:spPr>
          <a:xfrm xmlns:a="http://schemas.openxmlformats.org/drawingml/2006/main">
            <a:off x="459943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“I want to study how cells respond to stress.”</a:t>
            </a:r>
          </a:p>
        </p:txBody>
      </p:sp>
      <p:sp>
        <p:nvSpPr>
          <p:cNvPr id="209" name="Google Shape;209;p11">
            <a:extLst xmlns:a="http://schemas.openxmlformats.org/drawingml/2006/main">
              <a:ext uri="{FF2B5EF4-FFF2-40B4-BE49-F238E27FC236}">
                <a16:creationId xmlns:a16="http://schemas.microsoft.com/office/drawing/2014/main" id="{07A4742F-670B-4138-9940-C7A5050353F9}"/>
              </a:ext>
            </a:extLst>
          </p:cNvPr>
          <p:cNvSpPr>
            <a:spLocks xmlns:a="http://schemas.openxmlformats.org/drawingml/2006/main" noGrp="1"/>
          </p:cNvSpPr>
          <p:nvPr/>
        </p:nvSpPr>
        <p:spPr>
          <a:xfrm xmlns:a="http://schemas.openxmlformats.org/drawingml/2006/main">
            <a:off x="804672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1">
            <a:extLst xmlns:a="http://schemas.openxmlformats.org/drawingml/2006/main">
              <a:ext uri="{FF2B5EF4-FFF2-40B4-BE49-F238E27FC236}">
                <a16:creationId xmlns:a16="http://schemas.microsoft.com/office/drawing/2014/main" id="{E0B89E84-0586-4FAE-82FD-4A3150D99051}"/>
              </a:ext>
            </a:extLst>
          </p:cNvPr>
          <p:cNvSpPr>
            <a:spLocks xmlns:a="http://schemas.openxmlformats.org/drawingml/2006/main" noGrp="1"/>
          </p:cNvSpPr>
          <p:nvPr/>
        </p:nvSpPr>
        <p:spPr>
          <a:xfrm xmlns:a="http://schemas.openxmlformats.org/drawingml/2006/main">
            <a:off x="821131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STRONGER RESEARCH</a:t>
            </a:r>
          </a:p>
        </p:txBody>
      </p:sp>
      <p:sp>
        <p:nvSpPr>
          <p:cNvPr id="211" name="Google Shape;211;p11">
            <a:extLst xmlns:a="http://schemas.openxmlformats.org/drawingml/2006/main">
              <a:ext uri="{FF2B5EF4-FFF2-40B4-BE49-F238E27FC236}">
                <a16:creationId xmlns:a16="http://schemas.microsoft.com/office/drawing/2014/main" id="{4EE22B00-C322-4094-8888-76C2DEBAF503}"/>
              </a:ext>
            </a:extLst>
          </p:cNvPr>
          <p:cNvSpPr>
            <a:spLocks xmlns:a="http://schemas.openxmlformats.org/drawingml/2006/main" noGrp="1"/>
          </p:cNvSpPr>
          <p:nvPr/>
        </p:nvSpPr>
        <p:spPr>
          <a:xfrm xmlns:a="http://schemas.openxmlformats.org/drawingml/2006/main">
            <a:off x="821131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“How does simulated environmental stress affect a measurable model system under safe classroom conditions?”</a:t>
            </a:r>
          </a:p>
        </p:txBody>
      </p:sp>
      <p:sp>
        <p:nvSpPr>
          <p:cNvPr id="212" name="Google Shape;212;p11">
            <a:extLst xmlns:a="http://schemas.openxmlformats.org/drawingml/2006/main">
              <a:ext uri="{FF2B5EF4-FFF2-40B4-BE49-F238E27FC236}">
                <a16:creationId xmlns:a16="http://schemas.microsoft.com/office/drawing/2014/main" id="{81D8373D-6AF5-406E-8FEA-1FFA92AF76FA}"/>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Move from topic → focused system → measurable evidence.</a:t>
            </a:r>
          </a:p>
        </p:txBody>
      </p:sp>
    </p:spTree>
    <p:extLst>
      <p:ext uri="{BB962C8B-B14F-4D97-AF65-F5344CB8AC3E}">
        <p14:creationId xmlns:p14="http://schemas.microsoft.com/office/powerpoint/2010/main" val="339578929"/>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18" name="Google Shape;218;p12">
            <a:extLst xmlns:a="http://schemas.openxmlformats.org/drawingml/2006/main">
              <a:ext uri="{FF2B5EF4-FFF2-40B4-BE49-F238E27FC236}">
                <a16:creationId xmlns:a16="http://schemas.microsoft.com/office/drawing/2014/main" id="{B2A656E8-71E1-440F-A259-8951248AAE2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9" name="Google Shape;219;p12">
            <a:extLst xmlns:a="http://schemas.openxmlformats.org/drawingml/2006/main">
              <a:ext uri="{FF2B5EF4-FFF2-40B4-BE49-F238E27FC236}">
                <a16:creationId xmlns:a16="http://schemas.microsoft.com/office/drawing/2014/main" id="{7B5A5D57-ED7E-4F17-A953-F036E02BC0F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0" name="Google Shape;220;p12">
            <a:extLst xmlns:a="http://schemas.openxmlformats.org/drawingml/2006/main">
              <a:ext uri="{FF2B5EF4-FFF2-40B4-BE49-F238E27FC236}">
                <a16:creationId xmlns:a16="http://schemas.microsoft.com/office/drawing/2014/main" id="{FDE742EA-6868-447B-A3D9-18662121E8D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1" name="Google Shape;221;p12">
            <a:extLst xmlns:a="http://schemas.openxmlformats.org/drawingml/2006/main">
              <a:ext uri="{FF2B5EF4-FFF2-40B4-BE49-F238E27FC236}">
                <a16:creationId xmlns:a16="http://schemas.microsoft.com/office/drawing/2014/main" id="{029B3F3C-F732-4C96-ACC5-825333785A2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22" name="Google Shape;222;p12">
            <a:extLst xmlns:a="http://schemas.openxmlformats.org/drawingml/2006/main">
              <a:ext uri="{FF2B5EF4-FFF2-40B4-BE49-F238E27FC236}">
                <a16:creationId xmlns:a16="http://schemas.microsoft.com/office/drawing/2014/main" id="{9A92D596-8229-44A5-9188-0DF1D23E20A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23" name="Google Shape;223;p12">
            <a:extLst xmlns:a="http://schemas.openxmlformats.org/drawingml/2006/main">
              <a:ext uri="{FF2B5EF4-FFF2-40B4-BE49-F238E27FC236}">
                <a16:creationId xmlns:a16="http://schemas.microsoft.com/office/drawing/2014/main" id="{9FDE2991-1BC2-4F5B-8974-2ACAED95A1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24" name="Google Shape;224;p12">
            <a:extLst xmlns:a="http://schemas.openxmlformats.org/drawingml/2006/main">
              <a:ext uri="{FF2B5EF4-FFF2-40B4-BE49-F238E27FC236}">
                <a16:creationId xmlns:a16="http://schemas.microsoft.com/office/drawing/2014/main" id="{534D4AFE-7264-40C1-951E-EAD42C233EB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Failure Is Data</a:t>
            </a:r>
          </a:p>
        </p:txBody>
      </p:sp>
      <p:sp>
        <p:nvSpPr>
          <p:cNvPr id="225" name="Google Shape;225;p12">
            <a:extLst xmlns:a="http://schemas.openxmlformats.org/drawingml/2006/main">
              <a:ext uri="{FF2B5EF4-FFF2-40B4-BE49-F238E27FC236}">
                <a16:creationId xmlns:a16="http://schemas.microsoft.com/office/drawing/2014/main" id="{206D68D8-A192-448B-BA01-F0C373B58D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When something fails, the question becomes: what did it reveal?</a:t>
            </a:r>
          </a:p>
        </p:txBody>
      </p:sp>
      <p:cxnSp>
        <p:nvCxnSpPr>
          <p:cNvPr id="245" name="Google Shape;226;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27" name="Google Shape;227;p12">
            <a:extLst xmlns:a="http://schemas.openxmlformats.org/drawingml/2006/main">
              <a:ext uri="{FF2B5EF4-FFF2-40B4-BE49-F238E27FC236}">
                <a16:creationId xmlns:a16="http://schemas.microsoft.com/office/drawing/2014/main" id="{2740D65D-609C-4879-9DFE-C399CD1AF53F}"/>
              </a:ext>
            </a:extLst>
          </p:cNvPr>
          <p:cNvSpPr>
            <a:spLocks xmlns:a="http://schemas.openxmlformats.org/drawingml/2006/main" noGrp="1"/>
          </p:cNvSpPr>
          <p:nvPr/>
        </p:nvSpPr>
        <p:spPr>
          <a:xfrm xmlns:a="http://schemas.openxmlformats.org/drawingml/2006/main">
            <a:off x="1005840" y="1874520"/>
            <a:ext cx="10058400" cy="3566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setup can reveal a better method</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prototype can reveal a design constraint</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Unexpected data can reveal a hidden variable</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confusing result can reveal the next question</a:t>
            </a:r>
          </a:p>
        </p:txBody>
      </p:sp>
    </p:spTree>
    <p:extLst>
      <p:ext uri="{BB962C8B-B14F-4D97-AF65-F5344CB8AC3E}">
        <p14:creationId xmlns:p14="http://schemas.microsoft.com/office/powerpoint/2010/main" val="1803198739"/>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3" name="Google Shape;233;p13">
            <a:extLst xmlns:a="http://schemas.openxmlformats.org/drawingml/2006/main">
              <a:ext uri="{FF2B5EF4-FFF2-40B4-BE49-F238E27FC236}">
                <a16:creationId xmlns:a16="http://schemas.microsoft.com/office/drawing/2014/main" id="{FA07B726-3313-4336-B507-6F737BFEDE9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4" name="Google Shape;234;p13">
            <a:extLst xmlns:a="http://schemas.openxmlformats.org/drawingml/2006/main">
              <a:ext uri="{FF2B5EF4-FFF2-40B4-BE49-F238E27FC236}">
                <a16:creationId xmlns:a16="http://schemas.microsoft.com/office/drawing/2014/main" id="{45772910-E140-4B84-9FAB-AFBF98A52B1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3">
            <a:extLst xmlns:a="http://schemas.openxmlformats.org/drawingml/2006/main">
              <a:ext uri="{FF2B5EF4-FFF2-40B4-BE49-F238E27FC236}">
                <a16:creationId xmlns:a16="http://schemas.microsoft.com/office/drawing/2014/main" id="{05787CB6-3102-4963-BB78-2982944DFE3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3">
            <a:extLst xmlns:a="http://schemas.openxmlformats.org/drawingml/2006/main">
              <a:ext uri="{FF2B5EF4-FFF2-40B4-BE49-F238E27FC236}">
                <a16:creationId xmlns:a16="http://schemas.microsoft.com/office/drawing/2014/main" id="{7CC6547C-777D-4589-ADDB-73A319D0021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37" name="Google Shape;237;p13">
            <a:extLst xmlns:a="http://schemas.openxmlformats.org/drawingml/2006/main">
              <a:ext uri="{FF2B5EF4-FFF2-40B4-BE49-F238E27FC236}">
                <a16:creationId xmlns:a16="http://schemas.microsoft.com/office/drawing/2014/main" id="{D9DE12A2-889E-467A-8250-9D31E6022A7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8" name="Google Shape;238;p13">
            <a:extLst xmlns:a="http://schemas.openxmlformats.org/drawingml/2006/main">
              <a:ext uri="{FF2B5EF4-FFF2-40B4-BE49-F238E27FC236}">
                <a16:creationId xmlns:a16="http://schemas.microsoft.com/office/drawing/2014/main" id="{687F58D6-3D3B-4B4C-B019-DA567AFADED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39" name="Google Shape;239;p13">
            <a:extLst xmlns:a="http://schemas.openxmlformats.org/drawingml/2006/main">
              <a:ext uri="{FF2B5EF4-FFF2-40B4-BE49-F238E27FC236}">
                <a16:creationId xmlns:a16="http://schemas.microsoft.com/office/drawing/2014/main" id="{E32185C5-84B7-4805-8A24-D33897E7525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Documentation Is the Memory of Research</a:t>
            </a:r>
          </a:p>
        </p:txBody>
      </p:sp>
      <p:sp>
        <p:nvSpPr>
          <p:cNvPr id="240" name="Google Shape;240;p13">
            <a:extLst xmlns:a="http://schemas.openxmlformats.org/drawingml/2006/main">
              <a:ext uri="{FF2B5EF4-FFF2-40B4-BE49-F238E27FC236}">
                <a16:creationId xmlns:a16="http://schemas.microsoft.com/office/drawing/2014/main" id="{150FA513-DA26-4EC8-BC94-BBFB417AF00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If it is not documented, it may not be usable later.</a:t>
            </a:r>
          </a:p>
        </p:txBody>
      </p:sp>
      <p:cxnSp>
        <p:nvCxnSpPr>
          <p:cNvPr id="266" name="Google Shape;241;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42" name="Google Shape;242;p13">
            <a:extLst xmlns:a="http://schemas.openxmlformats.org/drawingml/2006/main">
              <a:ext uri="{FF2B5EF4-FFF2-40B4-BE49-F238E27FC236}">
                <a16:creationId xmlns:a16="http://schemas.microsoft.com/office/drawing/2014/main" id="{0C0FB48F-58EF-4578-8463-39A9AA88848D}"/>
              </a:ext>
            </a:extLst>
          </p:cNvPr>
          <p:cNvSpPr>
            <a:spLocks xmlns:a="http://schemas.openxmlformats.org/drawingml/2006/main" noGrp="1"/>
          </p:cNvSpPr>
          <p:nvPr/>
        </p:nvSpPr>
        <p:spPr>
          <a:xfrm xmlns:a="http://schemas.openxmlformats.org/drawingml/2006/main">
            <a:off x="91440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3">
            <a:extLst xmlns:a="http://schemas.openxmlformats.org/drawingml/2006/main">
              <a:ext uri="{FF2B5EF4-FFF2-40B4-BE49-F238E27FC236}">
                <a16:creationId xmlns:a16="http://schemas.microsoft.com/office/drawing/2014/main" id="{1AA18A71-F0AC-4FA1-9CCE-C703CD219B5C}"/>
              </a:ext>
            </a:extLst>
          </p:cNvPr>
          <p:cNvSpPr>
            <a:spLocks xmlns:a="http://schemas.openxmlformats.org/drawingml/2006/main" noGrp="1"/>
          </p:cNvSpPr>
          <p:nvPr/>
        </p:nvSpPr>
        <p:spPr>
          <a:xfrm xmlns:a="http://schemas.openxmlformats.org/drawingml/2006/main">
            <a:off x="107899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WEAK NOTE</a:t>
            </a:r>
          </a:p>
        </p:txBody>
      </p:sp>
      <p:sp>
        <p:nvSpPr>
          <p:cNvPr id="244" name="Google Shape;244;p13">
            <a:extLst xmlns:a="http://schemas.openxmlformats.org/drawingml/2006/main">
              <a:ext uri="{FF2B5EF4-FFF2-40B4-BE49-F238E27FC236}">
                <a16:creationId xmlns:a16="http://schemas.microsoft.com/office/drawing/2014/main" id="{82184718-8271-4B4B-A679-5F2E2401AA33}"/>
              </a:ext>
            </a:extLst>
          </p:cNvPr>
          <p:cNvSpPr>
            <a:spLocks xmlns:a="http://schemas.openxmlformats.org/drawingml/2006/main" noGrp="1"/>
          </p:cNvSpPr>
          <p:nvPr/>
        </p:nvSpPr>
        <p:spPr>
          <a:xfrm xmlns:a="http://schemas.openxmlformats.org/drawingml/2006/main">
            <a:off x="107899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600"/>
              <a:buFont typeface="Arial"/>
              <a:buNone/>
            </a:pPr>
            <a:r>
              <a:rPr sz="2600">
                <a:solidFill>
                  <a:srgbClr val="FFFFFF"/>
                </a:solidFill>
                <a:latin typeface="Arial"/>
                <a:ea typeface="Arial"/>
                <a:cs typeface="Arial"/>
              </a:rPr>
              <a:t>“Tested it. Didn’t work.”</a:t>
            </a:r>
          </a:p>
        </p:txBody>
      </p:sp>
      <p:sp>
        <p:nvSpPr>
          <p:cNvPr id="245" name="Google Shape;245;p13">
            <a:extLst xmlns:a="http://schemas.openxmlformats.org/drawingml/2006/main">
              <a:ext uri="{FF2B5EF4-FFF2-40B4-BE49-F238E27FC236}">
                <a16:creationId xmlns:a16="http://schemas.microsoft.com/office/drawing/2014/main" id="{FEFAA88A-7B08-4D3C-86B1-AB45FDE4134D}"/>
              </a:ext>
            </a:extLst>
          </p:cNvPr>
          <p:cNvSpPr>
            <a:spLocks xmlns:a="http://schemas.openxmlformats.org/drawingml/2006/main" noGrp="1"/>
          </p:cNvSpPr>
          <p:nvPr/>
        </p:nvSpPr>
        <p:spPr>
          <a:xfrm xmlns:a="http://schemas.openxmlformats.org/drawingml/2006/main">
            <a:off x="626364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6" name="Google Shape;246;p13">
            <a:extLst xmlns:a="http://schemas.openxmlformats.org/drawingml/2006/main">
              <a:ext uri="{FF2B5EF4-FFF2-40B4-BE49-F238E27FC236}">
                <a16:creationId xmlns:a16="http://schemas.microsoft.com/office/drawing/2014/main" id="{C54E9E64-17B4-461D-A6F5-81D56B86E5A9}"/>
              </a:ext>
            </a:extLst>
          </p:cNvPr>
          <p:cNvSpPr>
            <a:spLocks xmlns:a="http://schemas.openxmlformats.org/drawingml/2006/main" noGrp="1"/>
          </p:cNvSpPr>
          <p:nvPr/>
        </p:nvSpPr>
        <p:spPr>
          <a:xfrm xmlns:a="http://schemas.openxmlformats.org/drawingml/2006/main">
            <a:off x="642823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USABLE NOTE</a:t>
            </a:r>
          </a:p>
        </p:txBody>
      </p:sp>
      <p:sp>
        <p:nvSpPr>
          <p:cNvPr id="247" name="Google Shape;247;p13">
            <a:extLst xmlns:a="http://schemas.openxmlformats.org/drawingml/2006/main">
              <a:ext uri="{FF2B5EF4-FFF2-40B4-BE49-F238E27FC236}">
                <a16:creationId xmlns:a16="http://schemas.microsoft.com/office/drawing/2014/main" id="{8ABE0EBA-C5A3-4DA7-BC4E-DACE0AF0F44C}"/>
              </a:ext>
            </a:extLst>
          </p:cNvPr>
          <p:cNvSpPr>
            <a:spLocks xmlns:a="http://schemas.openxmlformats.org/drawingml/2006/main" noGrp="1"/>
          </p:cNvSpPr>
          <p:nvPr/>
        </p:nvSpPr>
        <p:spPr>
          <a:xfrm xmlns:a="http://schemas.openxmlformats.org/drawingml/2006/main">
            <a:off x="642823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“Trial 2 failed because the sensor wire disconnected after 18 seconds. Data stopped at 17.6 s. Retest needed after securing wire.”</a:t>
            </a:r>
          </a:p>
        </p:txBody>
      </p:sp>
      <p:sp>
        <p:nvSpPr>
          <p:cNvPr id="248" name="Google Shape;248;p13">
            <a:extLst xmlns:a="http://schemas.openxmlformats.org/drawingml/2006/main">
              <a:ext uri="{FF2B5EF4-FFF2-40B4-BE49-F238E27FC236}">
                <a16:creationId xmlns:a16="http://schemas.microsoft.com/office/drawing/2014/main" id="{6C1D8A0B-EC67-41C4-9C9E-A0CB603AB38D}"/>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600"/>
              <a:buFont typeface="Play"/>
              <a:buNone/>
            </a:pPr>
            <a:r>
              <a:rPr sz="2600" b="1">
                <a:solidFill>
                  <a:srgbClr val="FFFFFF"/>
                </a:solidFill>
                <a:latin typeface="Play"/>
                <a:ea typeface="Play"/>
                <a:cs typeface="Play"/>
              </a:rPr>
              <a:t>Every project needs a research journal.</a:t>
            </a:r>
          </a:p>
        </p:txBody>
      </p:sp>
    </p:spTree>
    <p:extLst>
      <p:ext uri="{BB962C8B-B14F-4D97-AF65-F5344CB8AC3E}">
        <p14:creationId xmlns:p14="http://schemas.microsoft.com/office/powerpoint/2010/main" val="2104750083"/>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4" name="Google Shape;254;p14">
            <a:extLst xmlns:a="http://schemas.openxmlformats.org/drawingml/2006/main">
              <a:ext uri="{FF2B5EF4-FFF2-40B4-BE49-F238E27FC236}">
                <a16:creationId xmlns:a16="http://schemas.microsoft.com/office/drawing/2014/main" id="{EE91FF2C-5690-44EB-B7E2-B05C9A60859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4">
            <a:extLst xmlns:a="http://schemas.openxmlformats.org/drawingml/2006/main">
              <a:ext uri="{FF2B5EF4-FFF2-40B4-BE49-F238E27FC236}">
                <a16:creationId xmlns:a16="http://schemas.microsoft.com/office/drawing/2014/main" id="{DFD09D7C-7D32-4157-A6A4-FF738892D9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4">
            <a:extLst xmlns:a="http://schemas.openxmlformats.org/drawingml/2006/main">
              <a:ext uri="{FF2B5EF4-FFF2-40B4-BE49-F238E27FC236}">
                <a16:creationId xmlns:a16="http://schemas.microsoft.com/office/drawing/2014/main" id="{98DFE655-BA5F-4AC1-B884-1626ED29C5B9}"/>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4">
            <a:extLst xmlns:a="http://schemas.openxmlformats.org/drawingml/2006/main">
              <a:ext uri="{FF2B5EF4-FFF2-40B4-BE49-F238E27FC236}">
                <a16:creationId xmlns:a16="http://schemas.microsoft.com/office/drawing/2014/main" id="{71150D97-4FD4-4695-9DDB-E54F50B055C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258" name="Google Shape;258;p14">
            <a:extLst xmlns:a="http://schemas.openxmlformats.org/drawingml/2006/main">
              <a:ext uri="{FF2B5EF4-FFF2-40B4-BE49-F238E27FC236}">
                <a16:creationId xmlns:a16="http://schemas.microsoft.com/office/drawing/2014/main" id="{F540EFFE-EF83-4F37-B568-7B135ED81D7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59" name="Google Shape;259;p14">
            <a:extLst xmlns:a="http://schemas.openxmlformats.org/drawingml/2006/main">
              <a:ext uri="{FF2B5EF4-FFF2-40B4-BE49-F238E27FC236}">
                <a16:creationId xmlns:a16="http://schemas.microsoft.com/office/drawing/2014/main" id="{E2E85DF9-516C-407D-94D2-162578C9CB9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60" name="Google Shape;260;p14">
            <a:extLst xmlns:a="http://schemas.openxmlformats.org/drawingml/2006/main">
              <a:ext uri="{FF2B5EF4-FFF2-40B4-BE49-F238E27FC236}">
                <a16:creationId xmlns:a16="http://schemas.microsoft.com/office/drawing/2014/main" id="{36385F5F-60A1-43F0-AC3D-F3F89CD2B80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Ethics and Safety Are Non-Negotiable</a:t>
            </a:r>
          </a:p>
        </p:txBody>
      </p:sp>
      <p:sp>
        <p:nvSpPr>
          <p:cNvPr id="261" name="Google Shape;261;p14">
            <a:extLst xmlns:a="http://schemas.openxmlformats.org/drawingml/2006/main">
              <a:ext uri="{FF2B5EF4-FFF2-40B4-BE49-F238E27FC236}">
                <a16:creationId xmlns:a16="http://schemas.microsoft.com/office/drawing/2014/main" id="{012334AA-7478-4F79-BDD1-7C3E7AD76C80}"/>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does not override responsibility.</a:t>
            </a:r>
          </a:p>
        </p:txBody>
      </p:sp>
      <p:cxnSp>
        <p:nvCxnSpPr>
          <p:cNvPr id="281" name="Google Shape;262;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3" name="Google Shape;263;p14">
            <a:extLst xmlns:a="http://schemas.openxmlformats.org/drawingml/2006/main">
              <a:ext uri="{FF2B5EF4-FFF2-40B4-BE49-F238E27FC236}">
                <a16:creationId xmlns:a16="http://schemas.microsoft.com/office/drawing/2014/main" id="{B8EE7AAA-0413-44A6-89EB-473267CBC58C}"/>
              </a:ext>
            </a:extLst>
          </p:cNvPr>
          <p:cNvSpPr>
            <a:spLocks xmlns:a="http://schemas.openxmlformats.org/drawingml/2006/main" noGrp="1"/>
          </p:cNvSpPr>
          <p:nvPr/>
        </p:nvSpPr>
        <p:spPr>
          <a:xfrm xmlns:a="http://schemas.openxmlformats.org/drawingml/2006/main">
            <a:off x="1005840" y="1828800"/>
            <a:ext cx="1005840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fabricate, delete, or hide inconvenient data</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Credit sources, code, images, and mentor input</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begin testing without approval</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Protect people, animals, privacy, equipment, and the environment</a:t>
            </a:r>
          </a:p>
        </p:txBody>
      </p:sp>
    </p:spTree>
    <p:extLst>
      <p:ext uri="{BB962C8B-B14F-4D97-AF65-F5344CB8AC3E}">
        <p14:creationId xmlns:p14="http://schemas.microsoft.com/office/powerpoint/2010/main" val="1503057054"/>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9" name="Google Shape;269;p15">
            <a:extLst xmlns:a="http://schemas.openxmlformats.org/drawingml/2006/main">
              <a:ext uri="{FF2B5EF4-FFF2-40B4-BE49-F238E27FC236}">
                <a16:creationId xmlns:a16="http://schemas.microsoft.com/office/drawing/2014/main" id="{9C92A53E-14BC-47AB-8E3E-CA6EDCCD77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0" name="Google Shape;270;p15">
            <a:extLst xmlns:a="http://schemas.openxmlformats.org/drawingml/2006/main">
              <a:ext uri="{FF2B5EF4-FFF2-40B4-BE49-F238E27FC236}">
                <a16:creationId xmlns:a16="http://schemas.microsoft.com/office/drawing/2014/main" id="{DE962BDD-828D-4A35-A6CD-F537C5CC7D6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5">
            <a:extLst xmlns:a="http://schemas.openxmlformats.org/drawingml/2006/main">
              <a:ext uri="{FF2B5EF4-FFF2-40B4-BE49-F238E27FC236}">
                <a16:creationId xmlns:a16="http://schemas.microsoft.com/office/drawing/2014/main" id="{6F557826-D6E7-4989-AB5D-7E5A9013221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5">
            <a:extLst xmlns:a="http://schemas.openxmlformats.org/drawingml/2006/main">
              <a:ext uri="{FF2B5EF4-FFF2-40B4-BE49-F238E27FC236}">
                <a16:creationId xmlns:a16="http://schemas.microsoft.com/office/drawing/2014/main" id="{6D59CBF2-2956-4242-9BEA-A821C8551E5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73" name="Google Shape;273;p15">
            <a:extLst xmlns:a="http://schemas.openxmlformats.org/drawingml/2006/main">
              <a:ext uri="{FF2B5EF4-FFF2-40B4-BE49-F238E27FC236}">
                <a16:creationId xmlns:a16="http://schemas.microsoft.com/office/drawing/2014/main" id="{C9551961-38E4-4867-A416-112ABEA0D83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74" name="Google Shape;274;p15">
            <a:extLst xmlns:a="http://schemas.openxmlformats.org/drawingml/2006/main">
              <a:ext uri="{FF2B5EF4-FFF2-40B4-BE49-F238E27FC236}">
                <a16:creationId xmlns:a16="http://schemas.microsoft.com/office/drawing/2014/main" id="{B5577E00-ABDF-482C-A2C2-E28FB8D9AB4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75" name="Google Shape;275;p15">
            <a:extLst xmlns:a="http://schemas.openxmlformats.org/drawingml/2006/main">
              <a:ext uri="{FF2B5EF4-FFF2-40B4-BE49-F238E27FC236}">
                <a16:creationId xmlns:a16="http://schemas.microsoft.com/office/drawing/2014/main" id="{C795066D-8D9E-4878-99E3-AB87DEF7E1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Sort the Project Ideas</a:t>
            </a:r>
          </a:p>
        </p:txBody>
      </p:sp>
      <p:sp>
        <p:nvSpPr>
          <p:cNvPr id="276" name="Google Shape;276;p15">
            <a:extLst xmlns:a="http://schemas.openxmlformats.org/drawingml/2006/main">
              <a:ext uri="{FF2B5EF4-FFF2-40B4-BE49-F238E27FC236}">
                <a16:creationId xmlns:a16="http://schemas.microsoft.com/office/drawing/2014/main" id="{36570835-DF5C-4191-A94A-8FCED9F8F99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10 minutes • Unit 1</a:t>
            </a:r>
          </a:p>
        </p:txBody>
      </p:sp>
      <p:cxnSp>
        <p:nvCxnSpPr>
          <p:cNvPr id="298" name="Google Shape;277;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78" name="Google Shape;278;p15">
            <a:extLst xmlns:a="http://schemas.openxmlformats.org/drawingml/2006/main">
              <a:ext uri="{FF2B5EF4-FFF2-40B4-BE49-F238E27FC236}">
                <a16:creationId xmlns:a16="http://schemas.microsoft.com/office/drawing/2014/main" id="{7C4192C8-4B76-45F6-86D2-33390DCFE918}"/>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5">
            <a:extLst xmlns:a="http://schemas.openxmlformats.org/drawingml/2006/main">
              <a:ext uri="{FF2B5EF4-FFF2-40B4-BE49-F238E27FC236}">
                <a16:creationId xmlns:a16="http://schemas.microsoft.com/office/drawing/2014/main" id="{FC3D99D1-F089-4C87-8997-2CB375FACA06}"/>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280" name="Google Shape;280;p15">
            <a:extLst xmlns:a="http://schemas.openxmlformats.org/drawingml/2006/main">
              <a:ext uri="{FF2B5EF4-FFF2-40B4-BE49-F238E27FC236}">
                <a16:creationId xmlns:a16="http://schemas.microsoft.com/office/drawing/2014/main" id="{05705E4F-89D6-476B-88EC-6C7BB2E7C653}"/>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With a partner, decide whether each idea is: not research yet, needs refinement, strong direction, engineering design, or problematic.</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evidence, feasibility, safety, and ethics as your sorting criteria.</a:t>
            </a:r>
          </a:p>
        </p:txBody>
      </p:sp>
    </p:spTree>
    <p:extLst>
      <p:ext uri="{BB962C8B-B14F-4D97-AF65-F5344CB8AC3E}">
        <p14:creationId xmlns:p14="http://schemas.microsoft.com/office/powerpoint/2010/main" val="163958874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6" name="Google Shape;286;p16">
            <a:extLst xmlns:a="http://schemas.openxmlformats.org/drawingml/2006/main">
              <a:ext uri="{FF2B5EF4-FFF2-40B4-BE49-F238E27FC236}">
                <a16:creationId xmlns:a16="http://schemas.microsoft.com/office/drawing/2014/main" id="{4255E8D0-8FDB-43A0-9190-0CC71428569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7" name="Google Shape;287;p16">
            <a:extLst xmlns:a="http://schemas.openxmlformats.org/drawingml/2006/main">
              <a:ext uri="{FF2B5EF4-FFF2-40B4-BE49-F238E27FC236}">
                <a16:creationId xmlns:a16="http://schemas.microsoft.com/office/drawing/2014/main" id="{6BCD6230-32ED-4447-8667-0051EC74129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8" name="Google Shape;288;p16">
            <a:extLst xmlns:a="http://schemas.openxmlformats.org/drawingml/2006/main">
              <a:ext uri="{FF2B5EF4-FFF2-40B4-BE49-F238E27FC236}">
                <a16:creationId xmlns:a16="http://schemas.microsoft.com/office/drawing/2014/main" id="{6199A03F-FDDF-4D39-86DB-CE415E0546A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6">
            <a:extLst xmlns:a="http://schemas.openxmlformats.org/drawingml/2006/main">
              <a:ext uri="{FF2B5EF4-FFF2-40B4-BE49-F238E27FC236}">
                <a16:creationId xmlns:a16="http://schemas.microsoft.com/office/drawing/2014/main" id="{2158C77E-2ED0-4F8B-92E0-65603A01AF26}"/>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90" name="Google Shape;290;p16">
            <a:extLst xmlns:a="http://schemas.openxmlformats.org/drawingml/2006/main">
              <a:ext uri="{FF2B5EF4-FFF2-40B4-BE49-F238E27FC236}">
                <a16:creationId xmlns:a16="http://schemas.microsoft.com/office/drawing/2014/main" id="{E2B359E4-0DD0-47E0-86B4-7B095A6F51F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91" name="Google Shape;291;p16">
            <a:extLst xmlns:a="http://schemas.openxmlformats.org/drawingml/2006/main">
              <a:ext uri="{FF2B5EF4-FFF2-40B4-BE49-F238E27FC236}">
                <a16:creationId xmlns:a16="http://schemas.microsoft.com/office/drawing/2014/main" id="{40C2137A-9C0A-4B66-9BCB-5D5B28A16FF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92" name="Google Shape;292;p16">
            <a:extLst xmlns:a="http://schemas.openxmlformats.org/drawingml/2006/main">
              <a:ext uri="{FF2B5EF4-FFF2-40B4-BE49-F238E27FC236}">
                <a16:creationId xmlns:a16="http://schemas.microsoft.com/office/drawing/2014/main" id="{657C5312-E643-41AD-ACBF-96A6C232726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Your First STARLAB Task</a:t>
            </a:r>
          </a:p>
        </p:txBody>
      </p:sp>
      <p:sp>
        <p:nvSpPr>
          <p:cNvPr id="293" name="Google Shape;293;p16">
            <a:extLst xmlns:a="http://schemas.openxmlformats.org/drawingml/2006/main">
              <a:ext uri="{FF2B5EF4-FFF2-40B4-BE49-F238E27FC236}">
                <a16:creationId xmlns:a16="http://schemas.microsoft.com/office/drawing/2014/main" id="{A62E8C75-80A0-40DE-BA77-68B27A4435E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Begin with identity, curiosity, and honest self-assessment.</a:t>
            </a:r>
          </a:p>
        </p:txBody>
      </p:sp>
      <p:cxnSp>
        <p:nvCxnSpPr>
          <p:cNvPr id="322" name="Google Shape;29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95" name="Google Shape;295;p16">
            <a:extLst xmlns:a="http://schemas.openxmlformats.org/drawingml/2006/main">
              <a:ext uri="{FF2B5EF4-FFF2-40B4-BE49-F238E27FC236}">
                <a16:creationId xmlns:a16="http://schemas.microsoft.com/office/drawing/2014/main" id="{B2EF7259-75D0-40B7-817D-797910C3224A}"/>
              </a:ext>
            </a:extLst>
          </p:cNvPr>
          <p:cNvSpPr>
            <a:spLocks xmlns:a="http://schemas.openxmlformats.org/drawingml/2006/main" noGrp="1"/>
          </p:cNvSpPr>
          <p:nvPr/>
        </p:nvSpPr>
        <p:spPr>
          <a:xfrm xmlns:a="http://schemas.openxmlformats.org/drawingml/2006/main">
            <a:off x="91440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6" name="Google Shape;296;p16">
            <a:extLst xmlns:a="http://schemas.openxmlformats.org/drawingml/2006/main">
              <a:ext uri="{FF2B5EF4-FFF2-40B4-BE49-F238E27FC236}">
                <a16:creationId xmlns:a16="http://schemas.microsoft.com/office/drawing/2014/main" id="{ACF48705-3B2E-45FA-A0DE-D0CA0DB30C25}"/>
              </a:ext>
            </a:extLst>
          </p:cNvPr>
          <p:cNvSpPr>
            <a:spLocks xmlns:a="http://schemas.openxmlformats.org/drawingml/2006/main" noGrp="1"/>
          </p:cNvSpPr>
          <p:nvPr/>
        </p:nvSpPr>
        <p:spPr>
          <a:xfrm xmlns:a="http://schemas.openxmlformats.org/drawingml/2006/main">
            <a:off x="107899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1</a:t>
            </a:r>
          </a:p>
        </p:txBody>
      </p:sp>
      <p:sp>
        <p:nvSpPr>
          <p:cNvPr id="297" name="Google Shape;297;p16">
            <a:extLst xmlns:a="http://schemas.openxmlformats.org/drawingml/2006/main">
              <a:ext uri="{FF2B5EF4-FFF2-40B4-BE49-F238E27FC236}">
                <a16:creationId xmlns:a16="http://schemas.microsoft.com/office/drawing/2014/main" id="{53C8EE91-49D5-4ED7-B2A4-012B26B7E7E3}"/>
              </a:ext>
            </a:extLst>
          </p:cNvPr>
          <p:cNvSpPr>
            <a:spLocks xmlns:a="http://schemas.openxmlformats.org/drawingml/2006/main" noGrp="1"/>
          </p:cNvSpPr>
          <p:nvPr/>
        </p:nvSpPr>
        <p:spPr>
          <a:xfrm xmlns:a="http://schemas.openxmlformats.org/drawingml/2006/main">
            <a:off x="107899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Course Launch Reflection</a:t>
            </a:r>
          </a:p>
        </p:txBody>
      </p:sp>
      <p:sp>
        <p:nvSpPr>
          <p:cNvPr id="298" name="Google Shape;298;p16">
            <a:extLst xmlns:a="http://schemas.openxmlformats.org/drawingml/2006/main">
              <a:ext uri="{FF2B5EF4-FFF2-40B4-BE49-F238E27FC236}">
                <a16:creationId xmlns:a16="http://schemas.microsoft.com/office/drawing/2014/main" id="{0BA2D445-E713-4D4F-9554-61D63F98983C}"/>
              </a:ext>
            </a:extLst>
          </p:cNvPr>
          <p:cNvSpPr>
            <a:spLocks xmlns:a="http://schemas.openxmlformats.org/drawingml/2006/main" noGrp="1"/>
          </p:cNvSpPr>
          <p:nvPr/>
        </p:nvSpPr>
        <p:spPr>
          <a:xfrm xmlns:a="http://schemas.openxmlformats.org/drawingml/2006/main">
            <a:off x="461772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6">
            <a:extLst xmlns:a="http://schemas.openxmlformats.org/drawingml/2006/main">
              <a:ext uri="{FF2B5EF4-FFF2-40B4-BE49-F238E27FC236}">
                <a16:creationId xmlns:a16="http://schemas.microsoft.com/office/drawing/2014/main" id="{1A2F35ED-D839-44DB-8CA6-6A6CFE7B66B3}"/>
              </a:ext>
            </a:extLst>
          </p:cNvPr>
          <p:cNvSpPr>
            <a:spLocks xmlns:a="http://schemas.openxmlformats.org/drawingml/2006/main" noGrp="1"/>
          </p:cNvSpPr>
          <p:nvPr/>
        </p:nvSpPr>
        <p:spPr>
          <a:xfrm xmlns:a="http://schemas.openxmlformats.org/drawingml/2006/main">
            <a:off x="478231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2</a:t>
            </a:r>
          </a:p>
        </p:txBody>
      </p:sp>
      <p:sp>
        <p:nvSpPr>
          <p:cNvPr id="300" name="Google Shape;300;p16">
            <a:extLst xmlns:a="http://schemas.openxmlformats.org/drawingml/2006/main">
              <a:ext uri="{FF2B5EF4-FFF2-40B4-BE49-F238E27FC236}">
                <a16:creationId xmlns:a16="http://schemas.microsoft.com/office/drawing/2014/main" id="{F55D21D0-F612-4B4D-8295-900F671B73F8}"/>
              </a:ext>
            </a:extLst>
          </p:cNvPr>
          <p:cNvSpPr>
            <a:spLocks xmlns:a="http://schemas.openxmlformats.org/drawingml/2006/main" noGrp="1"/>
          </p:cNvSpPr>
          <p:nvPr/>
        </p:nvSpPr>
        <p:spPr>
          <a:xfrm xmlns:a="http://schemas.openxmlformats.org/drawingml/2006/main">
            <a:off x="478231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Science Identity and Skills Inventory</a:t>
            </a:r>
          </a:p>
        </p:txBody>
      </p:sp>
      <p:sp>
        <p:nvSpPr>
          <p:cNvPr id="301" name="Google Shape;301;p16">
            <a:extLst xmlns:a="http://schemas.openxmlformats.org/drawingml/2006/main">
              <a:ext uri="{FF2B5EF4-FFF2-40B4-BE49-F238E27FC236}">
                <a16:creationId xmlns:a16="http://schemas.microsoft.com/office/drawing/2014/main" id="{C0B6A910-601D-4069-BE56-7C6821084EEA}"/>
              </a:ext>
            </a:extLst>
          </p:cNvPr>
          <p:cNvSpPr>
            <a:spLocks xmlns:a="http://schemas.openxmlformats.org/drawingml/2006/main" noGrp="1"/>
          </p:cNvSpPr>
          <p:nvPr/>
        </p:nvSpPr>
        <p:spPr>
          <a:xfrm xmlns:a="http://schemas.openxmlformats.org/drawingml/2006/main">
            <a:off x="832104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6">
            <a:extLst xmlns:a="http://schemas.openxmlformats.org/drawingml/2006/main">
              <a:ext uri="{FF2B5EF4-FFF2-40B4-BE49-F238E27FC236}">
                <a16:creationId xmlns:a16="http://schemas.microsoft.com/office/drawing/2014/main" id="{6E7951B0-2174-4760-A240-9905B77EB3C3}"/>
              </a:ext>
            </a:extLst>
          </p:cNvPr>
          <p:cNvSpPr>
            <a:spLocks xmlns:a="http://schemas.openxmlformats.org/drawingml/2006/main" noGrp="1"/>
          </p:cNvSpPr>
          <p:nvPr/>
        </p:nvSpPr>
        <p:spPr>
          <a:xfrm xmlns:a="http://schemas.openxmlformats.org/drawingml/2006/main">
            <a:off x="848563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3</a:t>
            </a:r>
          </a:p>
        </p:txBody>
      </p:sp>
      <p:sp>
        <p:nvSpPr>
          <p:cNvPr id="303" name="Google Shape;303;p16">
            <a:extLst xmlns:a="http://schemas.openxmlformats.org/drawingml/2006/main">
              <a:ext uri="{FF2B5EF4-FFF2-40B4-BE49-F238E27FC236}">
                <a16:creationId xmlns:a16="http://schemas.microsoft.com/office/drawing/2014/main" id="{A7E57A2C-295A-4929-9A69-11422597CE0E}"/>
              </a:ext>
            </a:extLst>
          </p:cNvPr>
          <p:cNvSpPr>
            <a:spLocks xmlns:a="http://schemas.openxmlformats.org/drawingml/2006/main" noGrp="1"/>
          </p:cNvSpPr>
          <p:nvPr/>
        </p:nvSpPr>
        <p:spPr>
          <a:xfrm xmlns:a="http://schemas.openxmlformats.org/drawingml/2006/main">
            <a:off x="848563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Research Interest Inventory</a:t>
            </a:r>
          </a:p>
        </p:txBody>
      </p:sp>
      <p:sp>
        <p:nvSpPr>
          <p:cNvPr id="304" name="Google Shape;304;p16">
            <a:extLst xmlns:a="http://schemas.openxmlformats.org/drawingml/2006/main">
              <a:ext uri="{FF2B5EF4-FFF2-40B4-BE49-F238E27FC236}">
                <a16:creationId xmlns:a16="http://schemas.microsoft.com/office/drawing/2014/main" id="{96CAE403-2BB3-49E9-BC69-E68B28376477}"/>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You do not need a final project today. You need a starting point.</a:t>
            </a:r>
          </a:p>
        </p:txBody>
      </p:sp>
    </p:spTree>
    <p:extLst>
      <p:ext uri="{BB962C8B-B14F-4D97-AF65-F5344CB8AC3E}">
        <p14:creationId xmlns:p14="http://schemas.microsoft.com/office/powerpoint/2010/main" val="251081325"/>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0" name="Google Shape;310;p17">
            <a:extLst xmlns:a="http://schemas.openxmlformats.org/drawingml/2006/main">
              <a:ext uri="{FF2B5EF4-FFF2-40B4-BE49-F238E27FC236}">
                <a16:creationId xmlns:a16="http://schemas.microsoft.com/office/drawing/2014/main" id="{196D6452-63BF-4929-9420-F1A17AA575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7">
            <a:extLst xmlns:a="http://schemas.openxmlformats.org/drawingml/2006/main">
              <a:ext uri="{FF2B5EF4-FFF2-40B4-BE49-F238E27FC236}">
                <a16:creationId xmlns:a16="http://schemas.microsoft.com/office/drawing/2014/main" id="{B7890846-4124-49C2-9AED-1FEECB7BAE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7">
            <a:extLst xmlns:a="http://schemas.openxmlformats.org/drawingml/2006/main">
              <a:ext uri="{FF2B5EF4-FFF2-40B4-BE49-F238E27FC236}">
                <a16:creationId xmlns:a16="http://schemas.microsoft.com/office/drawing/2014/main" id="{4E04817A-4568-4FB3-8F38-4E7841C9F7A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3" name="Google Shape;313;p17">
            <a:extLst xmlns:a="http://schemas.openxmlformats.org/drawingml/2006/main">
              <a:ext uri="{FF2B5EF4-FFF2-40B4-BE49-F238E27FC236}">
                <a16:creationId xmlns:a16="http://schemas.microsoft.com/office/drawing/2014/main" id="{66BBDE86-837F-4B84-A6D8-2703E83C7A69}"/>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314" name="Google Shape;314;p17">
            <a:extLst xmlns:a="http://schemas.openxmlformats.org/drawingml/2006/main">
              <a:ext uri="{FF2B5EF4-FFF2-40B4-BE49-F238E27FC236}">
                <a16:creationId xmlns:a16="http://schemas.microsoft.com/office/drawing/2014/main" id="{99F88E17-92AF-4F3A-A203-62E9D69BA0A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5" name="Google Shape;315;p17">
            <a:extLst xmlns:a="http://schemas.openxmlformats.org/drawingml/2006/main">
              <a:ext uri="{FF2B5EF4-FFF2-40B4-BE49-F238E27FC236}">
                <a16:creationId xmlns:a16="http://schemas.microsoft.com/office/drawing/2014/main" id="{F550F0F1-8A09-4368-AE7D-FD40F89420E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16" name="Google Shape;316;p17">
            <a:extLst xmlns:a="http://schemas.openxmlformats.org/drawingml/2006/main">
              <a:ext uri="{FF2B5EF4-FFF2-40B4-BE49-F238E27FC236}">
                <a16:creationId xmlns:a16="http://schemas.microsoft.com/office/drawing/2014/main" id="{CE6C2C1D-0606-4B2F-A87F-B14647F3240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Kind of Researcher Will You Be?</a:t>
            </a:r>
          </a:p>
        </p:txBody>
      </p:sp>
      <p:sp>
        <p:nvSpPr>
          <p:cNvPr id="317" name="Google Shape;317;p17">
            <a:extLst xmlns:a="http://schemas.openxmlformats.org/drawingml/2006/main">
              <a:ext uri="{FF2B5EF4-FFF2-40B4-BE49-F238E27FC236}">
                <a16:creationId xmlns:a16="http://schemas.microsoft.com/office/drawing/2014/main" id="{A1A61FF8-7B78-48D8-9760-EE55F08C124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needs many kinds of thinkers.</a:t>
            </a:r>
          </a:p>
        </p:txBody>
      </p:sp>
      <p:cxnSp>
        <p:nvCxnSpPr>
          <p:cNvPr id="338" name="Google Shape;318;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19" name="Google Shape;319;p17">
            <a:extLst xmlns:a="http://schemas.openxmlformats.org/drawingml/2006/main">
              <a:ext uri="{FF2B5EF4-FFF2-40B4-BE49-F238E27FC236}">
                <a16:creationId xmlns:a16="http://schemas.microsoft.com/office/drawing/2014/main" id="{E52833A1-EDCB-4BF7-8C2D-C62BF439CB23}"/>
              </a:ext>
            </a:extLst>
          </p:cNvPr>
          <p:cNvSpPr>
            <a:spLocks xmlns:a="http://schemas.openxmlformats.org/drawingml/2006/main" noGrp="1"/>
          </p:cNvSpPr>
          <p:nvPr/>
        </p:nvSpPr>
        <p:spPr>
          <a:xfrm xmlns:a="http://schemas.openxmlformats.org/drawingml/2006/main">
            <a:off x="914400" y="1737360"/>
            <a:ext cx="4572000" cy="4206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builder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careful observer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troubleshooter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organizer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communicator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question asker</a:t>
            </a:r>
          </a:p>
        </p:txBody>
      </p:sp>
      <p:sp>
        <p:nvSpPr>
          <p:cNvPr id="320" name="Google Shape;320;p17">
            <a:extLst xmlns:a="http://schemas.openxmlformats.org/drawingml/2006/main">
              <a:ext uri="{FF2B5EF4-FFF2-40B4-BE49-F238E27FC236}">
                <a16:creationId xmlns:a16="http://schemas.microsoft.com/office/drawing/2014/main" id="{8D1836B2-18DE-4EE1-9C75-787C21570D33}"/>
              </a:ext>
            </a:extLst>
          </p:cNvPr>
          <p:cNvSpPr>
            <a:spLocks xmlns:a="http://schemas.openxmlformats.org/drawingml/2006/main" noGrp="1"/>
          </p:cNvSpPr>
          <p:nvPr/>
        </p:nvSpPr>
        <p:spPr>
          <a:xfrm xmlns:a="http://schemas.openxmlformats.org/drawingml/2006/main">
            <a:off x="5669280" y="2377440"/>
            <a:ext cx="521208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feels most like you right now?</a:t>
            </a:r>
          </a:p>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do you want to grow into?</a:t>
            </a:r>
          </a:p>
        </p:txBody>
      </p:sp>
    </p:spTree>
    <p:extLst>
      <p:ext uri="{BB962C8B-B14F-4D97-AF65-F5344CB8AC3E}">
        <p14:creationId xmlns:p14="http://schemas.microsoft.com/office/powerpoint/2010/main" val="771136645"/>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26" name="Google Shape;326;p18">
            <a:extLst xmlns:a="http://schemas.openxmlformats.org/drawingml/2006/main">
              <a:ext uri="{FF2B5EF4-FFF2-40B4-BE49-F238E27FC236}">
                <a16:creationId xmlns:a16="http://schemas.microsoft.com/office/drawing/2014/main" id="{C1DC52AB-1D68-4E3A-B7A4-8C6BCEAF1F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8">
            <a:extLst xmlns:a="http://schemas.openxmlformats.org/drawingml/2006/main">
              <a:ext uri="{FF2B5EF4-FFF2-40B4-BE49-F238E27FC236}">
                <a16:creationId xmlns:a16="http://schemas.microsoft.com/office/drawing/2014/main" id="{02FF6AED-2EED-406C-8FC9-B9630098B28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8">
            <a:extLst xmlns:a="http://schemas.openxmlformats.org/drawingml/2006/main">
              <a:ext uri="{FF2B5EF4-FFF2-40B4-BE49-F238E27FC236}">
                <a16:creationId xmlns:a16="http://schemas.microsoft.com/office/drawing/2014/main" id="{6F38B7AA-1F45-4398-8023-1F949C2250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9" name="Google Shape;329;p18">
            <a:extLst xmlns:a="http://schemas.openxmlformats.org/drawingml/2006/main">
              <a:ext uri="{FF2B5EF4-FFF2-40B4-BE49-F238E27FC236}">
                <a16:creationId xmlns:a16="http://schemas.microsoft.com/office/drawing/2014/main" id="{61F81EC6-3876-424B-A739-E943C57CE2A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30" name="Google Shape;330;p18">
            <a:extLst xmlns:a="http://schemas.openxmlformats.org/drawingml/2006/main">
              <a:ext uri="{FF2B5EF4-FFF2-40B4-BE49-F238E27FC236}">
                <a16:creationId xmlns:a16="http://schemas.microsoft.com/office/drawing/2014/main" id="{568D99B1-4DAB-4464-B3AC-3F7F86C7D9F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31" name="Google Shape;331;p18">
            <a:extLst xmlns:a="http://schemas.openxmlformats.org/drawingml/2006/main">
              <a:ext uri="{FF2B5EF4-FFF2-40B4-BE49-F238E27FC236}">
                <a16:creationId xmlns:a16="http://schemas.microsoft.com/office/drawing/2014/main" id="{EC228DA7-8E63-477C-BD4D-13266D7E39C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32" name="Google Shape;332;p18">
            <a:extLst xmlns:a="http://schemas.openxmlformats.org/drawingml/2006/main">
              <a:ext uri="{FF2B5EF4-FFF2-40B4-BE49-F238E27FC236}">
                <a16:creationId xmlns:a16="http://schemas.microsoft.com/office/drawing/2014/main" id="{988350CE-3C36-4A50-BD8E-32023E94BEE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Reflection</a:t>
            </a:r>
          </a:p>
        </p:txBody>
      </p:sp>
      <p:sp>
        <p:nvSpPr>
          <p:cNvPr id="333" name="Google Shape;333;p18">
            <a:extLst xmlns:a="http://schemas.openxmlformats.org/drawingml/2006/main">
              <a:ext uri="{FF2B5EF4-FFF2-40B4-BE49-F238E27FC236}">
                <a16:creationId xmlns:a16="http://schemas.microsoft.com/office/drawing/2014/main" id="{D07247A2-0079-4A59-BB8A-03676FA4D3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5 minutes • Unit 1</a:t>
            </a:r>
          </a:p>
        </p:txBody>
      </p:sp>
      <p:cxnSp>
        <p:nvCxnSpPr>
          <p:cNvPr id="355" name="Google Shape;334;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35" name="Google Shape;335;p18">
            <a:extLst xmlns:a="http://schemas.openxmlformats.org/drawingml/2006/main">
              <a:ext uri="{FF2B5EF4-FFF2-40B4-BE49-F238E27FC236}">
                <a16:creationId xmlns:a16="http://schemas.microsoft.com/office/drawing/2014/main" id="{6498BB76-3A82-4F7B-84AA-84347EABE2FA}"/>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8">
            <a:extLst xmlns:a="http://schemas.openxmlformats.org/drawingml/2006/main">
              <a:ext uri="{FF2B5EF4-FFF2-40B4-BE49-F238E27FC236}">
                <a16:creationId xmlns:a16="http://schemas.microsoft.com/office/drawing/2014/main" id="{0B03CC81-F750-4E67-8EF3-70F1E64E4F79}"/>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37" name="Google Shape;337;p18">
            <a:extLst xmlns:a="http://schemas.openxmlformats.org/drawingml/2006/main">
              <a:ext uri="{FF2B5EF4-FFF2-40B4-BE49-F238E27FC236}">
                <a16:creationId xmlns:a16="http://schemas.microsoft.com/office/drawing/2014/main" id="{5202A1A9-1337-4468-A98A-FB972C02A59A}"/>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Answer in 2–3 sentences: What makes STARLAB different from a normal science class?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habit will you need to practice first?</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Save your answer in your packet or research journal.</a:t>
            </a:r>
          </a:p>
        </p:txBody>
      </p:sp>
    </p:spTree>
    <p:extLst>
      <p:ext uri="{BB962C8B-B14F-4D97-AF65-F5344CB8AC3E}">
        <p14:creationId xmlns:p14="http://schemas.microsoft.com/office/powerpoint/2010/main" val="607292341"/>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43" name="Google Shape;343;p19">
            <a:extLst xmlns:a="http://schemas.openxmlformats.org/drawingml/2006/main">
              <a:ext uri="{FF2B5EF4-FFF2-40B4-BE49-F238E27FC236}">
                <a16:creationId xmlns:a16="http://schemas.microsoft.com/office/drawing/2014/main" id="{E47BE2EB-6BFA-4B04-9EF6-B2D44869943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4" name="Google Shape;344;p19">
            <a:extLst xmlns:a="http://schemas.openxmlformats.org/drawingml/2006/main">
              <a:ext uri="{FF2B5EF4-FFF2-40B4-BE49-F238E27FC236}">
                <a16:creationId xmlns:a16="http://schemas.microsoft.com/office/drawing/2014/main" id="{B30EE3A9-214C-47C6-BB6B-00BDFCF1FC4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9">
            <a:extLst xmlns:a="http://schemas.openxmlformats.org/drawingml/2006/main">
              <a:ext uri="{FF2B5EF4-FFF2-40B4-BE49-F238E27FC236}">
                <a16:creationId xmlns:a16="http://schemas.microsoft.com/office/drawing/2014/main" id="{92D33439-2199-4A08-9DE7-FEF0FCF98F2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9">
            <a:extLst xmlns:a="http://schemas.openxmlformats.org/drawingml/2006/main">
              <a:ext uri="{FF2B5EF4-FFF2-40B4-BE49-F238E27FC236}">
                <a16:creationId xmlns:a16="http://schemas.microsoft.com/office/drawing/2014/main" id="{11E4F727-8479-4F83-BD11-BEDEB902024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347" name="Google Shape;347;p19">
            <a:extLst xmlns:a="http://schemas.openxmlformats.org/drawingml/2006/main">
              <a:ext uri="{FF2B5EF4-FFF2-40B4-BE49-F238E27FC236}">
                <a16:creationId xmlns:a16="http://schemas.microsoft.com/office/drawing/2014/main" id="{91F9F834-4C29-44C8-8653-8795A26FC36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48" name="Google Shape;348;p19">
            <a:extLst xmlns:a="http://schemas.openxmlformats.org/drawingml/2006/main">
              <a:ext uri="{FF2B5EF4-FFF2-40B4-BE49-F238E27FC236}">
                <a16:creationId xmlns:a16="http://schemas.microsoft.com/office/drawing/2014/main" id="{DDCBA428-E689-48BB-8276-B795D18BAD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49" name="Google Shape;349;p19">
            <a:extLst xmlns:a="http://schemas.openxmlformats.org/drawingml/2006/main">
              <a:ext uri="{FF2B5EF4-FFF2-40B4-BE49-F238E27FC236}">
                <a16:creationId xmlns:a16="http://schemas.microsoft.com/office/drawing/2014/main" id="{C7F621EC-9272-4D21-8C89-1B4607D448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Move from Curiosity to Possible Research Directions</a:t>
            </a:r>
          </a:p>
        </p:txBody>
      </p:sp>
      <p:sp>
        <p:nvSpPr>
          <p:cNvPr id="350" name="Google Shape;350;p19">
            <a:extLst xmlns:a="http://schemas.openxmlformats.org/drawingml/2006/main">
              <a:ext uri="{FF2B5EF4-FFF2-40B4-BE49-F238E27FC236}">
                <a16:creationId xmlns:a16="http://schemas.microsoft.com/office/drawing/2014/main" id="{6611A535-59DF-45E7-8365-BE658624CCC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Complete the Research Interest Inventory and bring your top five possible areas to the next class.</a:t>
            </a:r>
          </a:p>
        </p:txBody>
      </p:sp>
      <p:cxnSp>
        <p:nvCxnSpPr>
          <p:cNvPr id="372" name="Google Shape;351;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52" name="Google Shape;352;p19">
            <a:extLst xmlns:a="http://schemas.openxmlformats.org/drawingml/2006/main">
              <a:ext uri="{FF2B5EF4-FFF2-40B4-BE49-F238E27FC236}">
                <a16:creationId xmlns:a16="http://schemas.microsoft.com/office/drawing/2014/main" id="{24E2A442-F305-4785-BCBF-0C051B1EC118}"/>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353" name="Google Shape;353;p19">
            <a:extLst xmlns:a="http://schemas.openxmlformats.org/drawingml/2006/main">
              <a:ext uri="{FF2B5EF4-FFF2-40B4-BE49-F238E27FC236}">
                <a16:creationId xmlns:a16="http://schemas.microsoft.com/office/drawing/2014/main" id="{6A1C92DD-0A29-476C-A199-78E3A02F7435}"/>
              </a:ext>
            </a:extLst>
          </p:cNvPr>
          <p:cNvSpPr>
            <a:spLocks xmlns:a="http://schemas.openxmlformats.org/drawingml/2006/main" noGrp="1"/>
          </p:cNvSpPr>
          <p:nvPr/>
        </p:nvSpPr>
        <p:spPr>
          <a:xfrm xmlns:a="http://schemas.openxmlformats.org/drawingml/2006/main">
            <a:off x="914400" y="2514600"/>
            <a:ext cx="103327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FROM TOPIC TO RESEARCH QUESTION</a:t>
            </a:r>
          </a:p>
        </p:txBody>
      </p:sp>
      <p:sp>
        <p:nvSpPr>
          <p:cNvPr id="354" name="Google Shape;354;p19">
            <a:extLst xmlns:a="http://schemas.openxmlformats.org/drawingml/2006/main">
              <a:ext uri="{FF2B5EF4-FFF2-40B4-BE49-F238E27FC236}">
                <a16:creationId xmlns:a16="http://schemas.microsoft.com/office/drawing/2014/main" id="{D9938156-3A79-48ED-8B8A-C9127FF19E71}"/>
              </a:ext>
            </a:extLst>
          </p:cNvPr>
          <p:cNvSpPr>
            <a:spLocks xmlns:a="http://schemas.openxmlformats.org/drawingml/2006/main" noGrp="1"/>
          </p:cNvSpPr>
          <p:nvPr/>
        </p:nvSpPr>
        <p:spPr>
          <a:xfrm xmlns:a="http://schemas.openxmlformats.org/drawingml/2006/main">
            <a:off x="1828800" y="365760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You will learn how to turn broad curiosity into a question, problem, or design challenge that can produce evidence.</a:t>
            </a:r>
          </a:p>
        </p:txBody>
      </p:sp>
    </p:spTree>
    <p:extLst>
      <p:ext uri="{BB962C8B-B14F-4D97-AF65-F5344CB8AC3E}">
        <p14:creationId xmlns:p14="http://schemas.microsoft.com/office/powerpoint/2010/main" val="17355599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2026-07-16T15:41:57.1950000Z</dcterms:created>
  <dcterms:modified xsi:type="dcterms:W3CDTF">2026-07-16T15:41:57.1950000Z</dcterms:modified>
</coreProperties>
</file>