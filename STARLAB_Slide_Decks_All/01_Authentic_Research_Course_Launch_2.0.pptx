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12192000"/>
  <p:embeddedFontLst>
    <p:embeddedFont>
      <p:font typeface="Play"/>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Play-regular.fnt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Play-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title slide as students enter. Do not start with procedures or grading. Start with the identity shift: this course asks students to become researchers. Suggested opening line: “This year, you will work on questions where I may not already know the answer.”</a:t>
            </a:r>
            <a:br>
              <a:rPr lang="en-US"/>
            </a:br>
            <a:br>
              <a:rPr lang="en-US"/>
            </a:br>
            <a:r>
              <a:rPr lang="en-US"/>
              <a:t>Required print materials for Deck 1:</a:t>
            </a:r>
            <a:br>
              <a:rPr lang="en-US"/>
            </a:br>
            <a:r>
              <a:rPr lang="en-US"/>
              <a:t>• Unit 1 Student Handout 1: STARLAB Course Launch Reflection</a:t>
            </a:r>
            <a:br>
              <a:rPr lang="en-US"/>
            </a:br>
            <a:r>
              <a:rPr lang="en-US"/>
              <a:t>• Unit 1 Student Handout 2: Science Identity and Skills Inventory</a:t>
            </a:r>
            <a:br>
              <a:rPr lang="en-US"/>
            </a:br>
            <a:r>
              <a:rPr lang="en-US"/>
              <a:t>• Unit 1 Student Handout 3: Research Interest Inventory</a:t>
            </a:r>
            <a:br>
              <a:rPr lang="en-US"/>
            </a:br>
            <a:r>
              <a:rPr lang="en-US"/>
              <a:t>• Unit 1 Appendix A: What Counts as Research?</a:t>
            </a:r>
            <a:br>
              <a:rPr lang="en-US"/>
            </a:br>
            <a:r>
              <a:rPr lang="en-US"/>
              <a:t>• Unit 1 Appendix B: STARLAB Classroom Norms</a:t>
            </a:r>
            <a:br>
              <a:rPr lang="en-US"/>
            </a:br>
            <a:r>
              <a:rPr lang="en-US"/>
              <a:t>• Unit 1 Appendix C: Research Fields and Topic Bank</a:t>
            </a:r>
            <a:br>
              <a:rPr lang="en-US"/>
            </a:br>
            <a:br>
              <a:rPr lang="en-US"/>
            </a:br>
            <a:r>
              <a:rPr lang="en-US"/>
              <a:t>Resource alignment:</a:t>
            </a:r>
            <a:br>
              <a:rPr lang="en-US"/>
            </a:br>
            <a:r>
              <a:rPr lang="en-US"/>
              <a:t>Unit 1, Week 1: Course launch, STARLAB culture, scientific inquiry, and student interests. Next deck connection: Deck 2: From Topic to Research Question.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Frame this as orientation to a research culture. Ask students to listen for what feels exciting and what feels intimidating.</a:t>
            </a:r>
            <a:br>
              <a:rPr lang="en-US"/>
            </a:br>
            <a:br>
              <a:rPr lang="en-US"/>
            </a:br>
            <a:r>
              <a:rPr lang="en-US"/>
              <a:t>Resource alignment:</a:t>
            </a:r>
            <a:br>
              <a:rPr lang="en-US"/>
            </a:br>
            <a:r>
              <a:rPr lang="en-US"/>
              <a:t>Use Unit 1 Student Handout 1: STARLAB Course Launch Reflection, especially Part A: Initial Reactions. Reference Unit 1 Appendix B: STARLAB Classroom Norms.</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Do not imply that classroom labs are bad. Emphasize that they serve a different purpose. Student activity: ask students to name one lab they have done and identify whether the outcome was already known.</a:t>
            </a:r>
            <a:br>
              <a:rPr lang="en-US"/>
            </a:br>
            <a:br>
              <a:rPr lang="en-US"/>
            </a:br>
            <a:r>
              <a:rPr lang="en-US"/>
              <a:t>Resource alignment:</a:t>
            </a:r>
            <a:br>
              <a:rPr lang="en-US"/>
            </a:br>
            <a:r>
              <a:rPr lang="en-US"/>
              <a:t>Reference Unit 1 Appendix A: What Counts as Research? Use this as students compare traditional labs, demonstrations, engineering builds, and authentic research.</a:t>
            </a:r>
            <a:endParaRPr/>
          </a:p>
        </p:txBody>
      </p:sp>
      <p:sp>
        <p:nvSpPr>
          <p:cNvPr id="41" name="Google Shape;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Connect to syllabus units. Stress that revisions are expected and legitimate. Ask students to identify which stage they think will be easiest and hardest, then record it in the launch reflection.</a:t>
            </a:r>
            <a:br>
              <a:rPr lang="en-US"/>
            </a:br>
            <a:br>
              <a:rPr lang="en-US"/>
            </a:br>
            <a:r>
              <a:rPr lang="en-US"/>
              <a:t>Resource alignment:</a:t>
            </a:r>
            <a:br>
              <a:rPr lang="en-US"/>
            </a:br>
            <a:r>
              <a:rPr lang="en-US"/>
              <a:t>Use Unit 1 Student Handout 1: STARLAB Course Launch Reflection. Reference Unit 1 Appendix B: STARLAB Classroom Norms, especially uncertainty, documentation, and revision.</a:t>
            </a:r>
            <a:endParaRPr/>
          </a:p>
        </p:txBody>
      </p:sp>
      <p:sp>
        <p:nvSpPr>
          <p:cNvPr id="61" name="Google Shape;6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is a conceptual anchor. Repeat “What does the evidence allow me to claim?” throughout the course. Student-facing prompt: Which of these questions do you usually ask in school? Which will STARLAB require?</a:t>
            </a:r>
            <a:br>
              <a:rPr lang="en-US"/>
            </a:br>
            <a:br>
              <a:rPr lang="en-US"/>
            </a:br>
            <a:r>
              <a:rPr lang="en-US"/>
              <a:t>Resource alignment:</a:t>
            </a:r>
            <a:br>
              <a:rPr lang="en-US"/>
            </a:br>
            <a:r>
              <a:rPr lang="en-US"/>
              <a:t>Use with Unit 1 Student Handout 1: STARLAB Course Launch Reflection. Connect to Unit 1 Appendix B: STARLAB Classroom Norms.</a:t>
            </a:r>
            <a:endParaRPr/>
          </a:p>
        </p:txBody>
      </p:sp>
      <p:sp>
        <p:nvSpPr>
          <p:cNvPr id="96" name="Google Shape;9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examples from your own school if available. Avoid suggesting that every student must do a wet lab experiment.</a:t>
            </a:r>
            <a:br>
              <a:rPr lang="en-US"/>
            </a:br>
            <a:br>
              <a:rPr lang="en-US"/>
            </a:br>
            <a:r>
              <a:rPr lang="en-US"/>
              <a:t>Resource alignment:</a:t>
            </a:r>
            <a:br>
              <a:rPr lang="en-US"/>
            </a:br>
            <a:r>
              <a:rPr lang="en-US"/>
              <a:t>Use Unit 1 Student Handout 3: Research Interest Inventory, especially Part D: Research Fields. Reference Unit 1 Appendix C: Research Fields and Topic Bank.</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These four markers become recurring course language. Ask students to pick the marker that feels most challenging and explain why.</a:t>
            </a:r>
            <a:br>
              <a:rPr lang="en-US"/>
            </a:br>
            <a:br>
              <a:rPr lang="en-US"/>
            </a:br>
            <a:r>
              <a:rPr lang="en-US"/>
              <a:t>Resource alignment:</a:t>
            </a:r>
            <a:br>
              <a:rPr lang="en-US"/>
            </a:br>
            <a:r>
              <a:rPr lang="en-US"/>
              <a:t>Reference Unit 1 Appendix A: What Counts as Research? and Unit 1 Appendix B: STARLAB Classroom Norms.</a:t>
            </a:r>
            <a:endParaRPr/>
          </a:p>
        </p:txBody>
      </p:sp>
      <p:sp>
        <p:nvSpPr>
          <p:cNvPr id="149" name="Google Shape;1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Circulate and listen for misconceptions: “research means Googling,” “research means proving my idea,” or “research must be in a lab.”</a:t>
            </a:r>
            <a:br>
              <a:rPr lang="en-US"/>
            </a:br>
            <a:br>
              <a:rPr lang="en-US"/>
            </a:br>
            <a:r>
              <a:rPr lang="en-US"/>
              <a:t>Resource alignment:</a:t>
            </a:r>
            <a:br>
              <a:rPr lang="en-US"/>
            </a:br>
            <a:r>
              <a:rPr lang="en-US"/>
              <a:t>Use Unit 1 Student Handout 1: STARLAB Course Launch Reflection, Part A. Reference Unit 1 Appendix A: What Counts as Research?</a:t>
            </a:r>
            <a:endParaRPr/>
          </a:p>
        </p:txBody>
      </p:sp>
      <p:sp>
        <p:nvSpPr>
          <p:cNvPr id="175" name="Google Shape;1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Adapt example to your local safety constraints. The point is not this exact question; it is the narrowing move. Invite students to identify what became more measurable.</a:t>
            </a:r>
            <a:br>
              <a:rPr lang="en-US"/>
            </a:br>
            <a:br>
              <a:rPr lang="en-US"/>
            </a:br>
            <a:r>
              <a:rPr lang="en-US"/>
              <a:t>Resource alignment:</a:t>
            </a:r>
            <a:br>
              <a:rPr lang="en-US"/>
            </a:br>
            <a:r>
              <a:rPr lang="en-US"/>
              <a:t>Reference Unit 1 Appendix A: What Counts as Research? and Unit 1 Appendix C: Research Fields and Topic Bank. This prepares students for Unit 1 Student Handout 3: Research Interest Inventory and Deck 2: From Topic to Research Question.</a:t>
            </a:r>
            <a:endParaRPr/>
          </a:p>
        </p:txBody>
      </p:sp>
      <p:sp>
        <p:nvSpPr>
          <p:cNvPr id="192" name="Google Shape;19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Normalize failure early. This reduces anxiety later in Unit 3. Student prompt: “What is one type of failure that could actually help a project?”</a:t>
            </a:r>
            <a:br>
              <a:rPr lang="en-US"/>
            </a:br>
            <a:br>
              <a:rPr lang="en-US"/>
            </a:br>
            <a:r>
              <a:rPr lang="en-US"/>
              <a:t>Resource alignment:</a:t>
            </a:r>
            <a:br>
              <a:rPr lang="en-US"/>
            </a:br>
            <a:r>
              <a:rPr lang="en-US"/>
              <a:t>Use with Unit 1 Appendix B: STARLAB Classroom Norms. Connects later to Unit 3 pilot testing, troubleshooting, and research journal expectations.</a:t>
            </a:r>
            <a:endParaRPr/>
          </a:p>
        </p:txBody>
      </p:sp>
      <p:sp>
        <p:nvSpPr>
          <p:cNvPr id="216" name="Google Shape;21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foreshadows Unit 3. Do not teach the full journal system here; simply establish that careful notes are part of the identity of a researcher.</a:t>
            </a:r>
            <a:br>
              <a:rPr lang="en-US"/>
            </a:br>
            <a:br>
              <a:rPr lang="en-US"/>
            </a:br>
            <a:r>
              <a:rPr lang="en-US"/>
              <a:t>Resource alignment:</a:t>
            </a:r>
            <a:br>
              <a:rPr lang="en-US"/>
            </a:br>
            <a:r>
              <a:rPr lang="en-US"/>
              <a:t>Use with Unit 1 Appendix B: STARLAB Classroom Norms. Preview Unit 3 Student Handout 2: Research Journal Setup and Unit 3 Student Handout 3: Daily Research Journal Entry Template.</a:t>
            </a:r>
            <a:endParaRPr/>
          </a:p>
        </p:txBody>
      </p:sp>
      <p:sp>
        <p:nvSpPr>
          <p:cNvPr id="231" name="Google Shape;23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Keep this firm but not fear-based. Full safety and ethics instruction comes later.</a:t>
            </a:r>
            <a:br>
              <a:rPr lang="en-US"/>
            </a:br>
            <a:br>
              <a:rPr lang="en-US"/>
            </a:br>
            <a:r>
              <a:rPr lang="en-US"/>
              <a:t>Resource alignment:</a:t>
            </a:r>
            <a:br>
              <a:rPr lang="en-US"/>
            </a:br>
            <a:r>
              <a:rPr lang="en-US"/>
              <a:t>Use Unit 1 Student Handout 4: Research Ethics and Integrity Agreement. This also previews Deck 3: Research Ethics, Safety, and Integrity.</a:t>
            </a:r>
            <a:endParaRPr/>
          </a:p>
        </p:txBody>
      </p:sp>
      <p:sp>
        <p:nvSpPr>
          <p:cNvPr id="252" name="Google Shape;25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Give pairs 6–10 sample project cards. Debrief by asking which ideas were interesting but unsafe, vague, or unmeasurable.</a:t>
            </a:r>
            <a:br>
              <a:rPr lang="en-US"/>
            </a:br>
            <a:br>
              <a:rPr lang="en-US"/>
            </a:br>
            <a:r>
              <a:rPr lang="en-US"/>
              <a:t>Resource alignment:</a:t>
            </a:r>
            <a:br>
              <a:rPr lang="en-US"/>
            </a:br>
            <a:r>
              <a:rPr lang="en-US"/>
              <a:t>Use Unit 1 Appendix I: Optional Project Card Sorting Activity. Also reference Unit 1 Appendix A: What Counts as Research?</a:t>
            </a:r>
            <a:endParaRPr/>
          </a:p>
        </p:txBody>
      </p:sp>
      <p:sp>
        <p:nvSpPr>
          <p:cNvPr id="267" name="Google Shape;26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Lower the pressure. Students often feel they must choose their final topic immediately. Clarify that Unit 1 expands possibilities before Unit 2 narrows them.</a:t>
            </a:r>
            <a:br>
              <a:rPr lang="en-US"/>
            </a:br>
            <a:br>
              <a:rPr lang="en-US"/>
            </a:br>
            <a:r>
              <a:rPr lang="en-US"/>
              <a:t>Resource alignment:</a:t>
            </a:r>
            <a:br>
              <a:rPr lang="en-US"/>
            </a:br>
            <a:r>
              <a:rPr lang="en-US"/>
              <a:t>Use Unit 1 Student Handout 1: STARLAB Course Launch Reflection, Unit 1 Student Handout 2: Science Identity and Skills Inventory, and Unit 1 Student Handout 3: Research Interest Inventory.</a:t>
            </a:r>
            <a:endParaRPr/>
          </a:p>
        </p:txBody>
      </p:sp>
      <p:sp>
        <p:nvSpPr>
          <p:cNvPr id="284" name="Google Shape;28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Invite students to recognize nontraditional strengths. This helps students who do not identify as “science kids” see a place in STARLAB.</a:t>
            </a:r>
            <a:br>
              <a:rPr lang="en-US"/>
            </a:br>
            <a:br>
              <a:rPr lang="en-US"/>
            </a:br>
            <a:r>
              <a:rPr lang="en-US"/>
              <a:t>Resource alignment:</a:t>
            </a:r>
            <a:br>
              <a:rPr lang="en-US"/>
            </a:br>
            <a:r>
              <a:rPr lang="en-US"/>
              <a:t>Use Unit 1 Student Handout 2: Science Identity and Skills Inventory. Reference Unit 1 Appendix B: STARLAB Classroom Norms.</a:t>
            </a:r>
            <a:endParaRPr/>
          </a:p>
        </p:txBody>
      </p:sp>
      <p:sp>
        <p:nvSpPr>
          <p:cNvPr id="308" name="Google Shape;30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Collect as formative data or have students keep it in the packet. Look for whether students understand uncertainty, evidence, revision, and documentation. Close with a clear assignment: complete the Research Interest Inventory and bring top five possible areas to the next class.</a:t>
            </a:r>
            <a:br>
              <a:rPr lang="en-US"/>
            </a:br>
            <a:br>
              <a:rPr lang="en-US"/>
            </a:br>
            <a:r>
              <a:rPr lang="en-US"/>
              <a:t>Resource alignment:</a:t>
            </a:r>
            <a:br>
              <a:rPr lang="en-US"/>
            </a:br>
            <a:r>
              <a:rPr lang="en-US"/>
              <a:t>Use Unit 1 Student Handout 1: STARLAB Course Launch Reflection and Unit 1 Student Handout 3: Research Interest Inventory. Next deck connection: Deck 2: From Topic to Research Question.</a:t>
            </a:r>
            <a:endParaRPr/>
          </a:p>
        </p:txBody>
      </p:sp>
      <p:sp>
        <p:nvSpPr>
          <p:cNvPr id="324" name="Google Shape;3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Close with a clear assignment. Do not ask students to finalize a project yet. The next deck addresses moving from topic to research question.</a:t>
            </a:r>
            <a:br>
              <a:rPr lang="en-US"/>
            </a:br>
            <a:br>
              <a:rPr lang="en-US"/>
            </a:br>
            <a:r>
              <a:rPr lang="en-US"/>
              <a:t>Resource alignment:</a:t>
            </a:r>
            <a:br>
              <a:rPr lang="en-US"/>
            </a:br>
            <a:r>
              <a:rPr lang="en-US"/>
              <a:t>Use Unit 1 Student Handout 3: Research Interest Inventory. Next deck connection: Deck 2: From Topic to Research Question.</a:t>
            </a:r>
            <a:endParaRPr/>
          </a:p>
        </p:txBody>
      </p:sp>
      <p:sp>
        <p:nvSpPr>
          <p:cNvPr id="341" name="Google Shape;34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5" name="Shape 15"/>
        <p:cNvGrpSpPr/>
        <p:nvPr/>
      </p:nvGrpSpPr>
      <p:grpSpPr>
        <a:xfrm>
          <a:off x="0" y="0"/>
          <a:ext cx="0" cy="0"/>
          <a:chOff x="0" y="0"/>
          <a:chExt cx="0" cy="0"/>
        </a:xfrm>
      </p:grpSpPr>
      <p:sp>
        <p:nvSpPr>
          <p:cNvPr id="16" name="Google Shape;16;p3"/>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219456"/>
            <a:ext cx="12191695" cy="82296"/>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0" y="6565392"/>
            <a:ext cx="12191695" cy="82296"/>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STARLAB Logo 2026.png" id="19" name="Google Shape;19;p3"/>
          <p:cNvPicPr preferRelativeResize="0"/>
          <p:nvPr/>
        </p:nvPicPr>
        <p:blipFill rotWithShape="1">
          <a:blip r:embed="rId3">
            <a:alphaModFix/>
          </a:blip>
          <a:srcRect b="0" l="0" r="0" t="0"/>
          <a:stretch/>
        </p:blipFill>
        <p:spPr>
          <a:xfrm>
            <a:off x="1572768" y="512064"/>
            <a:ext cx="9052560" cy="4224528"/>
          </a:xfrm>
          <a:prstGeom prst="rect">
            <a:avLst/>
          </a:prstGeom>
          <a:noFill/>
          <a:ln>
            <a:noFill/>
          </a:ln>
        </p:spPr>
      </p:pic>
      <p:sp>
        <p:nvSpPr>
          <p:cNvPr id="20" name="Google Shape;20;p3"/>
          <p:cNvSpPr/>
          <p:nvPr/>
        </p:nvSpPr>
        <p:spPr>
          <a:xfrm>
            <a:off x="960120" y="5074920"/>
            <a:ext cx="10287000" cy="749808"/>
          </a:xfrm>
          <a:prstGeom prst="rect">
            <a:avLst/>
          </a:prstGeom>
          <a:solidFill>
            <a:srgbClr val="050505">
              <a:alpha val="0"/>
            </a:srgbClr>
          </a:solidFill>
          <a:ln cap="flat" cmpd="sng" w="15225">
            <a:solidFill>
              <a:srgbClr val="B8B8B8">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024128" y="5212080"/>
            <a:ext cx="101498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Play"/>
              <a:buNone/>
            </a:pPr>
            <a:r>
              <a:rPr b="1" i="0" lang="en-US" sz="2500" u="none" cap="none" strike="noStrike">
                <a:solidFill>
                  <a:srgbClr val="FFFFFF"/>
                </a:solidFill>
                <a:latin typeface="Play"/>
                <a:ea typeface="Play"/>
                <a:cs typeface="Play"/>
                <a:sym typeface="Play"/>
              </a:rPr>
              <a:t>WHAT IS AUTHENTIC RESEARCH?</a:t>
            </a:r>
            <a:endParaRPr b="0" i="0" sz="2500" u="none" cap="none" strike="noStrike">
              <a:solidFill>
                <a:schemeClr val="dk1"/>
              </a:solidFill>
              <a:latin typeface="Arial"/>
              <a:ea typeface="Arial"/>
              <a:cs typeface="Arial"/>
              <a:sym typeface="Arial"/>
            </a:endParaRPr>
          </a:p>
        </p:txBody>
      </p:sp>
      <p:sp>
        <p:nvSpPr>
          <p:cNvPr id="22" name="Google Shape;22;p3"/>
          <p:cNvSpPr/>
          <p:nvPr/>
        </p:nvSpPr>
        <p:spPr>
          <a:xfrm>
            <a:off x="1024128" y="5916168"/>
            <a:ext cx="7132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STARLAB Deck 01  •  Unit 1 Course Launch</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7" name="Shape 27"/>
        <p:cNvGrpSpPr/>
        <p:nvPr/>
      </p:nvGrpSpPr>
      <p:grpSpPr>
        <a:xfrm>
          <a:off x="0" y="0"/>
          <a:ext cx="0" cy="0"/>
          <a:chOff x="0" y="0"/>
          <a:chExt cx="0" cy="0"/>
        </a:xfrm>
      </p:grpSpPr>
      <p:sp>
        <p:nvSpPr>
          <p:cNvPr id="28" name="Google Shape;28;p4"/>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COURSE LAUNCH</a:t>
            </a:r>
            <a:endParaRPr b="0" i="0" sz="1000" u="none" cap="none" strike="noStrike">
              <a:solidFill>
                <a:schemeClr val="dk1"/>
              </a:solidFill>
              <a:latin typeface="Arial"/>
              <a:ea typeface="Arial"/>
              <a:cs typeface="Arial"/>
              <a:sym typeface="Arial"/>
            </a:endParaRPr>
          </a:p>
        </p:txBody>
      </p:sp>
      <p:sp>
        <p:nvSpPr>
          <p:cNvPr id="32" name="Google Shape;32;p4"/>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STARLAB</a:t>
            </a:r>
            <a:endParaRPr b="0" i="0" sz="1000" u="none" cap="none" strike="noStrike">
              <a:solidFill>
                <a:schemeClr val="dk1"/>
              </a:solidFill>
              <a:latin typeface="Arial"/>
              <a:ea typeface="Arial"/>
              <a:cs typeface="Arial"/>
              <a:sym typeface="Arial"/>
            </a:endParaRPr>
          </a:p>
        </p:txBody>
      </p:sp>
      <p:sp>
        <p:nvSpPr>
          <p:cNvPr id="33" name="Google Shape;33;p4"/>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DECK 01</a:t>
            </a:r>
            <a:endParaRPr b="0" i="0" sz="1100" u="none" cap="none" strike="noStrike">
              <a:solidFill>
                <a:schemeClr val="dk1"/>
              </a:solidFill>
              <a:latin typeface="Arial"/>
              <a:ea typeface="Arial"/>
              <a:cs typeface="Arial"/>
              <a:sym typeface="Arial"/>
            </a:endParaRPr>
          </a:p>
        </p:txBody>
      </p:sp>
      <p:sp>
        <p:nvSpPr>
          <p:cNvPr id="34" name="Google Shape;34;p4"/>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i="0" lang="en-US" sz="2800" u="none" cap="none" strike="noStrike">
                <a:solidFill>
                  <a:srgbClr val="FFFFFF"/>
                </a:solidFill>
                <a:latin typeface="Play"/>
                <a:ea typeface="Play"/>
                <a:cs typeface="Play"/>
                <a:sym typeface="Play"/>
              </a:rPr>
              <a:t>Today’s Launch Goal</a:t>
            </a:r>
            <a:endParaRPr b="0" i="0" sz="2800" u="none" cap="none" strike="noStrike">
              <a:solidFill>
                <a:schemeClr val="dk1"/>
              </a:solidFill>
              <a:latin typeface="Arial"/>
              <a:ea typeface="Arial"/>
              <a:cs typeface="Arial"/>
              <a:sym typeface="Arial"/>
            </a:endParaRPr>
          </a:p>
        </p:txBody>
      </p:sp>
      <p:sp>
        <p:nvSpPr>
          <p:cNvPr id="35" name="Google Shape;35;p4"/>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Understand how STARLAB is different from a traditional science class.</a:t>
            </a:r>
            <a:endParaRPr b="0" i="0" sz="1200" u="none" cap="none" strike="noStrike">
              <a:solidFill>
                <a:schemeClr val="dk1"/>
              </a:solidFill>
              <a:latin typeface="Arial"/>
              <a:ea typeface="Arial"/>
              <a:cs typeface="Arial"/>
              <a:sym typeface="Arial"/>
            </a:endParaRPr>
          </a:p>
        </p:txBody>
      </p:sp>
      <p:cxnSp>
        <p:nvCxnSpPr>
          <p:cNvPr id="36" name="Google Shape;36;p4"/>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7" name="Google Shape;37;p4"/>
          <p:cNvSpPr/>
          <p:nvPr/>
        </p:nvSpPr>
        <p:spPr>
          <a:xfrm>
            <a:off x="1005840" y="1920240"/>
            <a:ext cx="9875520" cy="320040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b="0" i="0" lang="en-US" sz="2400" u="none" cap="none" strike="noStrike">
                <a:solidFill>
                  <a:srgbClr val="FFFFFF"/>
                </a:solidFill>
                <a:latin typeface="Arial"/>
                <a:ea typeface="Arial"/>
                <a:cs typeface="Arial"/>
                <a:sym typeface="Arial"/>
              </a:rPr>
              <a:t>Define authentic research in student-friendly language</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FFFFFF"/>
                </a:solidFill>
                <a:latin typeface="Arial"/>
                <a:ea typeface="Arial"/>
                <a:cs typeface="Arial"/>
                <a:sym typeface="Arial"/>
              </a:rPr>
              <a:t>Preview the STARLAB yearlong arc</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FFFFFF"/>
                </a:solidFill>
                <a:latin typeface="Arial"/>
                <a:ea typeface="Arial"/>
                <a:cs typeface="Arial"/>
                <a:sym typeface="Arial"/>
              </a:rPr>
              <a:t>Name the habits students will practice all year</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FFFFFF"/>
                </a:solidFill>
                <a:latin typeface="Arial"/>
                <a:ea typeface="Arial"/>
                <a:cs typeface="Arial"/>
                <a:sym typeface="Arial"/>
              </a:rPr>
              <a:t>Begin the Course Launch Reflection handout</a:t>
            </a:r>
            <a:endParaRPr sz="24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2" name="Shape 42"/>
        <p:cNvGrpSpPr/>
        <p:nvPr/>
      </p:nvGrpSpPr>
      <p:grpSpPr>
        <a:xfrm>
          <a:off x="0" y="0"/>
          <a:ext cx="0" cy="0"/>
          <a:chOff x="0" y="0"/>
          <a:chExt cx="0" cy="0"/>
        </a:xfrm>
      </p:grpSpPr>
      <p:sp>
        <p:nvSpPr>
          <p:cNvPr id="43" name="Google Shape;43;p5"/>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47" name="Google Shape;47;p5"/>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48" name="Google Shape;48;p5"/>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49" name="Google Shape;49;p5"/>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STARLAB Is Not a Recipe Lab</a:t>
            </a:r>
            <a:endParaRPr sz="2800">
              <a:solidFill>
                <a:schemeClr val="dk1"/>
              </a:solidFill>
              <a:latin typeface="Arial"/>
              <a:ea typeface="Arial"/>
              <a:cs typeface="Arial"/>
              <a:sym typeface="Arial"/>
            </a:endParaRPr>
          </a:p>
        </p:txBody>
      </p:sp>
      <p:sp>
        <p:nvSpPr>
          <p:cNvPr id="50" name="Google Shape;50;p5"/>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In authentic research, the answer is not waiting in the teacher’s answer key.</a:t>
            </a:r>
            <a:endParaRPr sz="1200">
              <a:solidFill>
                <a:schemeClr val="dk1"/>
              </a:solidFill>
              <a:latin typeface="Arial"/>
              <a:ea typeface="Arial"/>
              <a:cs typeface="Arial"/>
              <a:sym typeface="Arial"/>
            </a:endParaRPr>
          </a:p>
        </p:txBody>
      </p:sp>
      <p:cxnSp>
        <p:nvCxnSpPr>
          <p:cNvPr id="51" name="Google Shape;51;p5"/>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52" name="Google Shape;52;p5"/>
          <p:cNvSpPr/>
          <p:nvPr/>
        </p:nvSpPr>
        <p:spPr>
          <a:xfrm>
            <a:off x="914400" y="1874520"/>
            <a:ext cx="4892040" cy="3291840"/>
          </a:xfrm>
          <a:prstGeom prst="roundRect">
            <a:avLst>
              <a:gd fmla="val 1667"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1078992" y="201168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RECIPE LAB</a:t>
            </a:r>
            <a:endParaRPr sz="1100">
              <a:solidFill>
                <a:schemeClr val="dk1"/>
              </a:solidFill>
              <a:latin typeface="Arial"/>
              <a:ea typeface="Arial"/>
              <a:cs typeface="Arial"/>
              <a:sym typeface="Arial"/>
            </a:endParaRPr>
          </a:p>
        </p:txBody>
      </p:sp>
      <p:sp>
        <p:nvSpPr>
          <p:cNvPr id="54" name="Google Shape;54;p5"/>
          <p:cNvSpPr/>
          <p:nvPr/>
        </p:nvSpPr>
        <p:spPr>
          <a:xfrm>
            <a:off x="1078992" y="2377440"/>
            <a:ext cx="4562856" cy="26334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Everyone follows the same steps.</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expected outcome is already known.</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goal is usually to confirm a concept.</a:t>
            </a:r>
            <a:endParaRPr sz="2000">
              <a:solidFill>
                <a:schemeClr val="dk1"/>
              </a:solidFill>
              <a:latin typeface="Arial"/>
              <a:ea typeface="Arial"/>
              <a:cs typeface="Arial"/>
              <a:sym typeface="Arial"/>
            </a:endParaRPr>
          </a:p>
        </p:txBody>
      </p:sp>
      <p:sp>
        <p:nvSpPr>
          <p:cNvPr id="55" name="Google Shape;55;p5"/>
          <p:cNvSpPr/>
          <p:nvPr/>
        </p:nvSpPr>
        <p:spPr>
          <a:xfrm>
            <a:off x="6355080" y="1874520"/>
            <a:ext cx="4892040" cy="3291840"/>
          </a:xfrm>
          <a:prstGeom prst="roundRect">
            <a:avLst>
              <a:gd fmla="val 1667"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6519672" y="201168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AUTHENTIC RESEARCH</a:t>
            </a:r>
            <a:endParaRPr sz="1100">
              <a:solidFill>
                <a:schemeClr val="dk1"/>
              </a:solidFill>
              <a:latin typeface="Arial"/>
              <a:ea typeface="Arial"/>
              <a:cs typeface="Arial"/>
              <a:sym typeface="Arial"/>
            </a:endParaRPr>
          </a:p>
        </p:txBody>
      </p:sp>
      <p:sp>
        <p:nvSpPr>
          <p:cNvPr id="57" name="Google Shape;57;p5"/>
          <p:cNvSpPr/>
          <p:nvPr/>
        </p:nvSpPr>
        <p:spPr>
          <a:xfrm>
            <a:off x="6519672" y="2377440"/>
            <a:ext cx="4562856" cy="26334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Students develop questions.</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Methods may change.</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goal is to produce evidence and communicate what it means.</a:t>
            </a:r>
            <a:endParaRPr sz="20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62" name="Shape 62"/>
        <p:cNvGrpSpPr/>
        <p:nvPr/>
      </p:nvGrpSpPr>
      <p:grpSpPr>
        <a:xfrm>
          <a:off x="0" y="0"/>
          <a:ext cx="0" cy="0"/>
          <a:chOff x="0" y="0"/>
          <a:chExt cx="0" cy="0"/>
        </a:xfrm>
      </p:grpSpPr>
      <p:sp>
        <p:nvSpPr>
          <p:cNvPr id="63" name="Google Shape;63;p6"/>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67" name="Google Shape;67;p6"/>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68" name="Google Shape;68;p6"/>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69" name="Google Shape;69;p6"/>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The STARLAB Research Arc</a:t>
            </a:r>
            <a:endParaRPr sz="2800">
              <a:solidFill>
                <a:schemeClr val="dk1"/>
              </a:solidFill>
              <a:latin typeface="Arial"/>
              <a:ea typeface="Arial"/>
              <a:cs typeface="Arial"/>
              <a:sym typeface="Arial"/>
            </a:endParaRPr>
          </a:p>
        </p:txBody>
      </p:sp>
      <p:sp>
        <p:nvSpPr>
          <p:cNvPr id="70" name="Google Shape;70;p6"/>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A yearlong project moves through cycles, not a straight line.</a:t>
            </a:r>
            <a:endParaRPr sz="1200">
              <a:solidFill>
                <a:schemeClr val="dk1"/>
              </a:solidFill>
              <a:latin typeface="Arial"/>
              <a:ea typeface="Arial"/>
              <a:cs typeface="Arial"/>
              <a:sym typeface="Arial"/>
            </a:endParaRPr>
          </a:p>
        </p:txBody>
      </p:sp>
      <p:cxnSp>
        <p:nvCxnSpPr>
          <p:cNvPr id="71" name="Google Shape;71;p6"/>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72" name="Google Shape;72;p6"/>
          <p:cNvSpPr/>
          <p:nvPr/>
        </p:nvSpPr>
        <p:spPr>
          <a:xfrm>
            <a:off x="685800" y="2057400"/>
            <a:ext cx="1188720" cy="658368"/>
          </a:xfrm>
          <a:prstGeom prst="roundRect">
            <a:avLst>
              <a:gd fmla="val 6944" name="adj"/>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749808" y="2286000"/>
            <a:ext cx="106070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QUESTION</a:t>
            </a:r>
            <a:endParaRPr sz="1000">
              <a:solidFill>
                <a:schemeClr val="dk1"/>
              </a:solidFill>
              <a:latin typeface="Arial"/>
              <a:ea typeface="Arial"/>
              <a:cs typeface="Arial"/>
              <a:sym typeface="Arial"/>
            </a:endParaRPr>
          </a:p>
        </p:txBody>
      </p:sp>
      <p:cxnSp>
        <p:nvCxnSpPr>
          <p:cNvPr id="74" name="Google Shape;74;p6"/>
          <p:cNvCxnSpPr/>
          <p:nvPr/>
        </p:nvCxnSpPr>
        <p:spPr>
          <a:xfrm>
            <a:off x="1892808" y="2386584"/>
            <a:ext cx="384048" cy="0"/>
          </a:xfrm>
          <a:prstGeom prst="straightConnector1">
            <a:avLst/>
          </a:prstGeom>
          <a:noFill/>
          <a:ln cap="flat" cmpd="sng" w="15225">
            <a:solidFill>
              <a:srgbClr val="B8B8B8"/>
            </a:solidFill>
            <a:prstDash val="solid"/>
            <a:round/>
            <a:headEnd len="sm" w="sm" type="none"/>
            <a:tailEnd len="med" w="med" type="triangle"/>
          </a:ln>
        </p:spPr>
      </p:cxnSp>
      <p:sp>
        <p:nvSpPr>
          <p:cNvPr id="75" name="Google Shape;75;p6"/>
          <p:cNvSpPr/>
          <p:nvPr/>
        </p:nvSpPr>
        <p:spPr>
          <a:xfrm>
            <a:off x="2286000" y="2057400"/>
            <a:ext cx="1188720" cy="658368"/>
          </a:xfrm>
          <a:prstGeom prst="roundRect">
            <a:avLst>
              <a:gd fmla="val 69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2350008" y="2286000"/>
            <a:ext cx="106070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PLAN</a:t>
            </a:r>
            <a:endParaRPr sz="1000">
              <a:solidFill>
                <a:schemeClr val="dk1"/>
              </a:solidFill>
              <a:latin typeface="Arial"/>
              <a:ea typeface="Arial"/>
              <a:cs typeface="Arial"/>
              <a:sym typeface="Arial"/>
            </a:endParaRPr>
          </a:p>
        </p:txBody>
      </p:sp>
      <p:cxnSp>
        <p:nvCxnSpPr>
          <p:cNvPr id="77" name="Google Shape;77;p6"/>
          <p:cNvCxnSpPr/>
          <p:nvPr/>
        </p:nvCxnSpPr>
        <p:spPr>
          <a:xfrm>
            <a:off x="3493008" y="2386584"/>
            <a:ext cx="384048" cy="0"/>
          </a:xfrm>
          <a:prstGeom prst="straightConnector1">
            <a:avLst/>
          </a:prstGeom>
          <a:noFill/>
          <a:ln cap="flat" cmpd="sng" w="15225">
            <a:solidFill>
              <a:srgbClr val="B8B8B8"/>
            </a:solidFill>
            <a:prstDash val="solid"/>
            <a:round/>
            <a:headEnd len="sm" w="sm" type="none"/>
            <a:tailEnd len="med" w="med" type="triangle"/>
          </a:ln>
        </p:spPr>
      </p:cxnSp>
      <p:sp>
        <p:nvSpPr>
          <p:cNvPr id="78" name="Google Shape;78;p6"/>
          <p:cNvSpPr/>
          <p:nvPr/>
        </p:nvSpPr>
        <p:spPr>
          <a:xfrm>
            <a:off x="3886200" y="2057400"/>
            <a:ext cx="1188720" cy="658368"/>
          </a:xfrm>
          <a:prstGeom prst="roundRect">
            <a:avLst>
              <a:gd fmla="val 69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3950208" y="2286000"/>
            <a:ext cx="106070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PILOT</a:t>
            </a:r>
            <a:endParaRPr sz="1000">
              <a:solidFill>
                <a:schemeClr val="dk1"/>
              </a:solidFill>
              <a:latin typeface="Arial"/>
              <a:ea typeface="Arial"/>
              <a:cs typeface="Arial"/>
              <a:sym typeface="Arial"/>
            </a:endParaRPr>
          </a:p>
        </p:txBody>
      </p:sp>
      <p:cxnSp>
        <p:nvCxnSpPr>
          <p:cNvPr id="80" name="Google Shape;80;p6"/>
          <p:cNvCxnSpPr/>
          <p:nvPr/>
        </p:nvCxnSpPr>
        <p:spPr>
          <a:xfrm>
            <a:off x="5093208" y="2386584"/>
            <a:ext cx="384048" cy="0"/>
          </a:xfrm>
          <a:prstGeom prst="straightConnector1">
            <a:avLst/>
          </a:prstGeom>
          <a:noFill/>
          <a:ln cap="flat" cmpd="sng" w="15225">
            <a:solidFill>
              <a:srgbClr val="B8B8B8"/>
            </a:solidFill>
            <a:prstDash val="solid"/>
            <a:round/>
            <a:headEnd len="sm" w="sm" type="none"/>
            <a:tailEnd len="med" w="med" type="triangle"/>
          </a:ln>
        </p:spPr>
      </p:cxnSp>
      <p:sp>
        <p:nvSpPr>
          <p:cNvPr id="81" name="Google Shape;81;p6"/>
          <p:cNvSpPr/>
          <p:nvPr/>
        </p:nvSpPr>
        <p:spPr>
          <a:xfrm>
            <a:off x="5486400" y="2057400"/>
            <a:ext cx="1188720" cy="658368"/>
          </a:xfrm>
          <a:prstGeom prst="roundRect">
            <a:avLst>
              <a:gd fmla="val 69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5550408" y="2286000"/>
            <a:ext cx="106070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COLLECT</a:t>
            </a:r>
            <a:endParaRPr sz="1000">
              <a:solidFill>
                <a:schemeClr val="dk1"/>
              </a:solidFill>
              <a:latin typeface="Arial"/>
              <a:ea typeface="Arial"/>
              <a:cs typeface="Arial"/>
              <a:sym typeface="Arial"/>
            </a:endParaRPr>
          </a:p>
        </p:txBody>
      </p:sp>
      <p:cxnSp>
        <p:nvCxnSpPr>
          <p:cNvPr id="83" name="Google Shape;83;p6"/>
          <p:cNvCxnSpPr/>
          <p:nvPr/>
        </p:nvCxnSpPr>
        <p:spPr>
          <a:xfrm>
            <a:off x="6693408" y="2386584"/>
            <a:ext cx="384048" cy="0"/>
          </a:xfrm>
          <a:prstGeom prst="straightConnector1">
            <a:avLst/>
          </a:prstGeom>
          <a:noFill/>
          <a:ln cap="flat" cmpd="sng" w="15225">
            <a:solidFill>
              <a:srgbClr val="B8B8B8"/>
            </a:solidFill>
            <a:prstDash val="solid"/>
            <a:round/>
            <a:headEnd len="sm" w="sm" type="none"/>
            <a:tailEnd len="med" w="med" type="triangle"/>
          </a:ln>
        </p:spPr>
      </p:cxnSp>
      <p:sp>
        <p:nvSpPr>
          <p:cNvPr id="84" name="Google Shape;84;p6"/>
          <p:cNvSpPr/>
          <p:nvPr/>
        </p:nvSpPr>
        <p:spPr>
          <a:xfrm>
            <a:off x="7086600" y="2057400"/>
            <a:ext cx="1188720" cy="658368"/>
          </a:xfrm>
          <a:prstGeom prst="roundRect">
            <a:avLst>
              <a:gd fmla="val 69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7150608" y="2286000"/>
            <a:ext cx="106070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ANALYZE</a:t>
            </a:r>
            <a:endParaRPr sz="1000">
              <a:solidFill>
                <a:schemeClr val="dk1"/>
              </a:solidFill>
              <a:latin typeface="Arial"/>
              <a:ea typeface="Arial"/>
              <a:cs typeface="Arial"/>
              <a:sym typeface="Arial"/>
            </a:endParaRPr>
          </a:p>
        </p:txBody>
      </p:sp>
      <p:cxnSp>
        <p:nvCxnSpPr>
          <p:cNvPr id="86" name="Google Shape;86;p6"/>
          <p:cNvCxnSpPr/>
          <p:nvPr/>
        </p:nvCxnSpPr>
        <p:spPr>
          <a:xfrm>
            <a:off x="8293608" y="2386584"/>
            <a:ext cx="384048" cy="0"/>
          </a:xfrm>
          <a:prstGeom prst="straightConnector1">
            <a:avLst/>
          </a:prstGeom>
          <a:noFill/>
          <a:ln cap="flat" cmpd="sng" w="15225">
            <a:solidFill>
              <a:srgbClr val="B8B8B8"/>
            </a:solidFill>
            <a:prstDash val="solid"/>
            <a:round/>
            <a:headEnd len="sm" w="sm" type="none"/>
            <a:tailEnd len="med" w="med" type="triangle"/>
          </a:ln>
        </p:spPr>
      </p:cxnSp>
      <p:sp>
        <p:nvSpPr>
          <p:cNvPr id="87" name="Google Shape;87;p6"/>
          <p:cNvSpPr/>
          <p:nvPr/>
        </p:nvSpPr>
        <p:spPr>
          <a:xfrm>
            <a:off x="8686800" y="2057400"/>
            <a:ext cx="1188720" cy="658368"/>
          </a:xfrm>
          <a:prstGeom prst="roundRect">
            <a:avLst>
              <a:gd fmla="val 69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8750808" y="2286000"/>
            <a:ext cx="106070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REPORT</a:t>
            </a:r>
            <a:endParaRPr sz="1000">
              <a:solidFill>
                <a:schemeClr val="dk1"/>
              </a:solidFill>
              <a:latin typeface="Arial"/>
              <a:ea typeface="Arial"/>
              <a:cs typeface="Arial"/>
              <a:sym typeface="Arial"/>
            </a:endParaRPr>
          </a:p>
        </p:txBody>
      </p:sp>
      <p:cxnSp>
        <p:nvCxnSpPr>
          <p:cNvPr id="89" name="Google Shape;89;p6"/>
          <p:cNvCxnSpPr/>
          <p:nvPr/>
        </p:nvCxnSpPr>
        <p:spPr>
          <a:xfrm>
            <a:off x="9893808" y="2386584"/>
            <a:ext cx="384048" cy="0"/>
          </a:xfrm>
          <a:prstGeom prst="straightConnector1">
            <a:avLst/>
          </a:prstGeom>
          <a:noFill/>
          <a:ln cap="flat" cmpd="sng" w="15225">
            <a:solidFill>
              <a:srgbClr val="B8B8B8"/>
            </a:solidFill>
            <a:prstDash val="solid"/>
            <a:round/>
            <a:headEnd len="sm" w="sm" type="none"/>
            <a:tailEnd len="med" w="med" type="triangle"/>
          </a:ln>
        </p:spPr>
      </p:cxnSp>
      <p:sp>
        <p:nvSpPr>
          <p:cNvPr id="90" name="Google Shape;90;p6"/>
          <p:cNvSpPr/>
          <p:nvPr/>
        </p:nvSpPr>
        <p:spPr>
          <a:xfrm>
            <a:off x="10287000" y="2057400"/>
            <a:ext cx="1188720" cy="658368"/>
          </a:xfrm>
          <a:prstGeom prst="roundRect">
            <a:avLst>
              <a:gd fmla="val 69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10351008" y="2286000"/>
            <a:ext cx="106070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PRESENT</a:t>
            </a:r>
            <a:endParaRPr sz="1000">
              <a:solidFill>
                <a:schemeClr val="dk1"/>
              </a:solidFill>
              <a:latin typeface="Arial"/>
              <a:ea typeface="Arial"/>
              <a:cs typeface="Arial"/>
              <a:sym typeface="Arial"/>
            </a:endParaRPr>
          </a:p>
        </p:txBody>
      </p:sp>
      <p:sp>
        <p:nvSpPr>
          <p:cNvPr id="92" name="Google Shape;92;p6"/>
          <p:cNvSpPr/>
          <p:nvPr/>
        </p:nvSpPr>
        <p:spPr>
          <a:xfrm>
            <a:off x="1005840" y="3886200"/>
            <a:ext cx="101498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Play"/>
              <a:buNone/>
            </a:pPr>
            <a:r>
              <a:rPr b="1" lang="en-US" sz="3000">
                <a:solidFill>
                  <a:srgbClr val="FFFFFF"/>
                </a:solidFill>
                <a:latin typeface="Play"/>
                <a:ea typeface="Play"/>
                <a:cs typeface="Play"/>
                <a:sym typeface="Play"/>
              </a:rPr>
              <a:t>You will revisit earlier stages whenever evidence demands it.</a:t>
            </a:r>
            <a:endParaRPr sz="30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97" name="Shape 97"/>
        <p:cNvGrpSpPr/>
        <p:nvPr/>
      </p:nvGrpSpPr>
      <p:grpSpPr>
        <a:xfrm>
          <a:off x="0" y="0"/>
          <a:ext cx="0" cy="0"/>
          <a:chOff x="0" y="0"/>
          <a:chExt cx="0" cy="0"/>
        </a:xfrm>
      </p:grpSpPr>
      <p:sp>
        <p:nvSpPr>
          <p:cNvPr id="98" name="Google Shape;98;p7"/>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102" name="Google Shape;102;p7"/>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03" name="Google Shape;103;p7"/>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104" name="Google Shape;104;p7"/>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The Core Shift</a:t>
            </a:r>
            <a:endParaRPr sz="2800">
              <a:solidFill>
                <a:schemeClr val="dk1"/>
              </a:solidFill>
              <a:latin typeface="Arial"/>
              <a:ea typeface="Arial"/>
              <a:cs typeface="Arial"/>
              <a:sym typeface="Arial"/>
            </a:endParaRPr>
          </a:p>
        </p:txBody>
      </p:sp>
      <p:sp>
        <p:nvSpPr>
          <p:cNvPr id="105" name="Google Shape;105;p7"/>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From completing assignments to building evidence.</a:t>
            </a:r>
            <a:endParaRPr sz="1200">
              <a:solidFill>
                <a:schemeClr val="dk1"/>
              </a:solidFill>
              <a:latin typeface="Arial"/>
              <a:ea typeface="Arial"/>
              <a:cs typeface="Arial"/>
              <a:sym typeface="Arial"/>
            </a:endParaRPr>
          </a:p>
        </p:txBody>
      </p:sp>
      <p:cxnSp>
        <p:nvCxnSpPr>
          <p:cNvPr id="106" name="Google Shape;106;p7"/>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07" name="Google Shape;107;p7"/>
          <p:cNvSpPr/>
          <p:nvPr/>
        </p:nvSpPr>
        <p:spPr>
          <a:xfrm>
            <a:off x="914400" y="1828800"/>
            <a:ext cx="3154680" cy="2926080"/>
          </a:xfrm>
          <a:prstGeom prst="roundRect">
            <a:avLst>
              <a:gd fmla="val 187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1078992" y="19659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TRADITIONAL QUESTION</a:t>
            </a:r>
            <a:endParaRPr sz="1100">
              <a:solidFill>
                <a:schemeClr val="dk1"/>
              </a:solidFill>
              <a:latin typeface="Arial"/>
              <a:ea typeface="Arial"/>
              <a:cs typeface="Arial"/>
              <a:sym typeface="Arial"/>
            </a:endParaRPr>
          </a:p>
        </p:txBody>
      </p:sp>
      <p:sp>
        <p:nvSpPr>
          <p:cNvPr id="109" name="Google Shape;109;p7"/>
          <p:cNvSpPr/>
          <p:nvPr/>
        </p:nvSpPr>
        <p:spPr>
          <a:xfrm>
            <a:off x="1078992" y="2331720"/>
            <a:ext cx="2825496" cy="22677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400"/>
              <a:buFont typeface="Arial"/>
              <a:buNone/>
            </a:pPr>
            <a:r>
              <a:rPr lang="en-US" sz="2400">
                <a:solidFill>
                  <a:srgbClr val="FFFFFF"/>
                </a:solidFill>
                <a:latin typeface="Arial"/>
                <a:ea typeface="Arial"/>
                <a:cs typeface="Arial"/>
                <a:sym typeface="Arial"/>
              </a:rPr>
              <a:t>What does the teacher want me to write?</a:t>
            </a:r>
            <a:endParaRPr sz="2400">
              <a:solidFill>
                <a:schemeClr val="dk1"/>
              </a:solidFill>
              <a:latin typeface="Arial"/>
              <a:ea typeface="Arial"/>
              <a:cs typeface="Arial"/>
              <a:sym typeface="Arial"/>
            </a:endParaRPr>
          </a:p>
        </p:txBody>
      </p:sp>
      <p:sp>
        <p:nvSpPr>
          <p:cNvPr id="110" name="Google Shape;110;p7"/>
          <p:cNvSpPr/>
          <p:nvPr/>
        </p:nvSpPr>
        <p:spPr>
          <a:xfrm>
            <a:off x="4526280" y="1828800"/>
            <a:ext cx="3154680" cy="2926080"/>
          </a:xfrm>
          <a:prstGeom prst="roundRect">
            <a:avLst>
              <a:gd fmla="val 1875"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4690872" y="19659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RESEARCH QUESTION</a:t>
            </a:r>
            <a:endParaRPr sz="1100">
              <a:solidFill>
                <a:schemeClr val="dk1"/>
              </a:solidFill>
              <a:latin typeface="Arial"/>
              <a:ea typeface="Arial"/>
              <a:cs typeface="Arial"/>
              <a:sym typeface="Arial"/>
            </a:endParaRPr>
          </a:p>
        </p:txBody>
      </p:sp>
      <p:sp>
        <p:nvSpPr>
          <p:cNvPr id="112" name="Google Shape;112;p7"/>
          <p:cNvSpPr/>
          <p:nvPr/>
        </p:nvSpPr>
        <p:spPr>
          <a:xfrm>
            <a:off x="4690872" y="2331720"/>
            <a:ext cx="2825496" cy="22677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400"/>
              <a:buFont typeface="Arial"/>
              <a:buNone/>
            </a:pPr>
            <a:r>
              <a:rPr lang="en-US" sz="2400">
                <a:solidFill>
                  <a:srgbClr val="FFFFFF"/>
                </a:solidFill>
                <a:latin typeface="Arial"/>
                <a:ea typeface="Arial"/>
                <a:cs typeface="Arial"/>
                <a:sym typeface="Arial"/>
              </a:rPr>
              <a:t>What does the evidence allow me to claim?</a:t>
            </a:r>
            <a:endParaRPr sz="2400">
              <a:solidFill>
                <a:schemeClr val="dk1"/>
              </a:solidFill>
              <a:latin typeface="Arial"/>
              <a:ea typeface="Arial"/>
              <a:cs typeface="Arial"/>
              <a:sym typeface="Arial"/>
            </a:endParaRPr>
          </a:p>
        </p:txBody>
      </p:sp>
      <p:sp>
        <p:nvSpPr>
          <p:cNvPr id="113" name="Google Shape;113;p7"/>
          <p:cNvSpPr/>
          <p:nvPr/>
        </p:nvSpPr>
        <p:spPr>
          <a:xfrm>
            <a:off x="8138160" y="1828800"/>
            <a:ext cx="3154680" cy="2926080"/>
          </a:xfrm>
          <a:prstGeom prst="roundRect">
            <a:avLst>
              <a:gd fmla="val 187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8302752" y="19659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STARLAB QUESTION</a:t>
            </a:r>
            <a:endParaRPr sz="1100">
              <a:solidFill>
                <a:schemeClr val="dk1"/>
              </a:solidFill>
              <a:latin typeface="Arial"/>
              <a:ea typeface="Arial"/>
              <a:cs typeface="Arial"/>
              <a:sym typeface="Arial"/>
            </a:endParaRPr>
          </a:p>
        </p:txBody>
      </p:sp>
      <p:sp>
        <p:nvSpPr>
          <p:cNvPr id="115" name="Google Shape;115;p7"/>
          <p:cNvSpPr/>
          <p:nvPr/>
        </p:nvSpPr>
        <p:spPr>
          <a:xfrm>
            <a:off x="8302752" y="2331720"/>
            <a:ext cx="2825496" cy="22677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What do I need to try, measure, revise, or explain next?</a:t>
            </a:r>
            <a:endParaRPr sz="23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20" name="Shape 120"/>
        <p:cNvGrpSpPr/>
        <p:nvPr/>
      </p:nvGrpSpPr>
      <p:grpSpPr>
        <a:xfrm>
          <a:off x="0" y="0"/>
          <a:ext cx="0" cy="0"/>
          <a:chOff x="0" y="0"/>
          <a:chExt cx="0" cy="0"/>
        </a:xfrm>
      </p:grpSpPr>
      <p:sp>
        <p:nvSpPr>
          <p:cNvPr id="121" name="Google Shape;121;p8"/>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RESEARCH PATHWAYS</a:t>
            </a:r>
            <a:endParaRPr sz="1000">
              <a:solidFill>
                <a:schemeClr val="dk1"/>
              </a:solidFill>
              <a:latin typeface="Arial"/>
              <a:ea typeface="Arial"/>
              <a:cs typeface="Arial"/>
              <a:sym typeface="Arial"/>
            </a:endParaRPr>
          </a:p>
        </p:txBody>
      </p:sp>
      <p:sp>
        <p:nvSpPr>
          <p:cNvPr id="125" name="Google Shape;125;p8"/>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26" name="Google Shape;126;p8"/>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127" name="Google Shape;127;p8"/>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Research Can Look Many Ways</a:t>
            </a:r>
            <a:endParaRPr sz="2800">
              <a:solidFill>
                <a:schemeClr val="dk1"/>
              </a:solidFill>
              <a:latin typeface="Arial"/>
              <a:ea typeface="Arial"/>
              <a:cs typeface="Arial"/>
              <a:sym typeface="Arial"/>
            </a:endParaRPr>
          </a:p>
        </p:txBody>
      </p:sp>
      <p:sp>
        <p:nvSpPr>
          <p:cNvPr id="128" name="Google Shape;128;p8"/>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STARLAB is not limited to one kind of science project.</a:t>
            </a:r>
            <a:endParaRPr sz="1200">
              <a:solidFill>
                <a:schemeClr val="dk1"/>
              </a:solidFill>
              <a:latin typeface="Arial"/>
              <a:ea typeface="Arial"/>
              <a:cs typeface="Arial"/>
              <a:sym typeface="Arial"/>
            </a:endParaRPr>
          </a:p>
        </p:txBody>
      </p:sp>
      <p:cxnSp>
        <p:nvCxnSpPr>
          <p:cNvPr id="129" name="Google Shape;129;p8"/>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30" name="Google Shape;130;p8"/>
          <p:cNvSpPr/>
          <p:nvPr/>
        </p:nvSpPr>
        <p:spPr>
          <a:xfrm>
            <a:off x="777240" y="1783080"/>
            <a:ext cx="2148840" cy="1463040"/>
          </a:xfrm>
          <a:prstGeom prst="roundRect">
            <a:avLst>
              <a:gd fmla="val 375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941832" y="1920240"/>
            <a:ext cx="18196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EXPERIMENT</a:t>
            </a:r>
            <a:endParaRPr sz="1100">
              <a:solidFill>
                <a:schemeClr val="dk1"/>
              </a:solidFill>
              <a:latin typeface="Arial"/>
              <a:ea typeface="Arial"/>
              <a:cs typeface="Arial"/>
              <a:sym typeface="Arial"/>
            </a:endParaRPr>
          </a:p>
        </p:txBody>
      </p:sp>
      <p:sp>
        <p:nvSpPr>
          <p:cNvPr id="132" name="Google Shape;132;p8"/>
          <p:cNvSpPr/>
          <p:nvPr/>
        </p:nvSpPr>
        <p:spPr>
          <a:xfrm>
            <a:off x="941832" y="2286000"/>
            <a:ext cx="1819656" cy="8046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Change one factor and measure the outcome.</a:t>
            </a:r>
            <a:endParaRPr sz="1700">
              <a:solidFill>
                <a:schemeClr val="dk1"/>
              </a:solidFill>
              <a:latin typeface="Arial"/>
              <a:ea typeface="Arial"/>
              <a:cs typeface="Arial"/>
              <a:sym typeface="Arial"/>
            </a:endParaRPr>
          </a:p>
        </p:txBody>
      </p:sp>
      <p:sp>
        <p:nvSpPr>
          <p:cNvPr id="133" name="Google Shape;133;p8"/>
          <p:cNvSpPr/>
          <p:nvPr/>
        </p:nvSpPr>
        <p:spPr>
          <a:xfrm>
            <a:off x="3063240" y="1783080"/>
            <a:ext cx="2148840" cy="1463040"/>
          </a:xfrm>
          <a:prstGeom prst="roundRect">
            <a:avLst>
              <a:gd fmla="val 375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3227832" y="1920240"/>
            <a:ext cx="18196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ENGINEERING</a:t>
            </a:r>
            <a:endParaRPr sz="1100">
              <a:solidFill>
                <a:schemeClr val="dk1"/>
              </a:solidFill>
              <a:latin typeface="Arial"/>
              <a:ea typeface="Arial"/>
              <a:cs typeface="Arial"/>
              <a:sym typeface="Arial"/>
            </a:endParaRPr>
          </a:p>
        </p:txBody>
      </p:sp>
      <p:sp>
        <p:nvSpPr>
          <p:cNvPr id="135" name="Google Shape;135;p8"/>
          <p:cNvSpPr/>
          <p:nvPr/>
        </p:nvSpPr>
        <p:spPr>
          <a:xfrm>
            <a:off x="3227832" y="2286000"/>
            <a:ext cx="1819656" cy="8046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Define a problem, build, test, redesign.</a:t>
            </a:r>
            <a:endParaRPr sz="1700">
              <a:solidFill>
                <a:schemeClr val="dk1"/>
              </a:solidFill>
              <a:latin typeface="Arial"/>
              <a:ea typeface="Arial"/>
              <a:cs typeface="Arial"/>
              <a:sym typeface="Arial"/>
            </a:endParaRPr>
          </a:p>
        </p:txBody>
      </p:sp>
      <p:sp>
        <p:nvSpPr>
          <p:cNvPr id="136" name="Google Shape;136;p8"/>
          <p:cNvSpPr/>
          <p:nvPr/>
        </p:nvSpPr>
        <p:spPr>
          <a:xfrm>
            <a:off x="5349240" y="1783080"/>
            <a:ext cx="2148840" cy="1463040"/>
          </a:xfrm>
          <a:prstGeom prst="roundRect">
            <a:avLst>
              <a:gd fmla="val 375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513832" y="1920240"/>
            <a:ext cx="18196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DATA / CODE</a:t>
            </a:r>
            <a:endParaRPr sz="1100">
              <a:solidFill>
                <a:schemeClr val="dk1"/>
              </a:solidFill>
              <a:latin typeface="Arial"/>
              <a:ea typeface="Arial"/>
              <a:cs typeface="Arial"/>
              <a:sym typeface="Arial"/>
            </a:endParaRPr>
          </a:p>
        </p:txBody>
      </p:sp>
      <p:sp>
        <p:nvSpPr>
          <p:cNvPr id="138" name="Google Shape;138;p8"/>
          <p:cNvSpPr/>
          <p:nvPr/>
        </p:nvSpPr>
        <p:spPr>
          <a:xfrm>
            <a:off x="5513832" y="2286000"/>
            <a:ext cx="1819656" cy="8046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Analyze existing data, models, or algorithms.</a:t>
            </a:r>
            <a:endParaRPr sz="1700">
              <a:solidFill>
                <a:schemeClr val="dk1"/>
              </a:solidFill>
              <a:latin typeface="Arial"/>
              <a:ea typeface="Arial"/>
              <a:cs typeface="Arial"/>
              <a:sym typeface="Arial"/>
            </a:endParaRPr>
          </a:p>
        </p:txBody>
      </p:sp>
      <p:sp>
        <p:nvSpPr>
          <p:cNvPr id="139" name="Google Shape;139;p8"/>
          <p:cNvSpPr/>
          <p:nvPr/>
        </p:nvSpPr>
        <p:spPr>
          <a:xfrm>
            <a:off x="7635240" y="1783080"/>
            <a:ext cx="2148840" cy="1463040"/>
          </a:xfrm>
          <a:prstGeom prst="roundRect">
            <a:avLst>
              <a:gd fmla="val 375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7799832" y="1920240"/>
            <a:ext cx="18196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FIELD / OBS.</a:t>
            </a:r>
            <a:endParaRPr sz="1100">
              <a:solidFill>
                <a:schemeClr val="dk1"/>
              </a:solidFill>
              <a:latin typeface="Arial"/>
              <a:ea typeface="Arial"/>
              <a:cs typeface="Arial"/>
              <a:sym typeface="Arial"/>
            </a:endParaRPr>
          </a:p>
        </p:txBody>
      </p:sp>
      <p:sp>
        <p:nvSpPr>
          <p:cNvPr id="141" name="Google Shape;141;p8"/>
          <p:cNvSpPr/>
          <p:nvPr/>
        </p:nvSpPr>
        <p:spPr>
          <a:xfrm>
            <a:off x="7799832" y="2286000"/>
            <a:ext cx="1819656" cy="8046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Collect evidence from real-world systems.</a:t>
            </a:r>
            <a:endParaRPr sz="1700">
              <a:solidFill>
                <a:schemeClr val="dk1"/>
              </a:solidFill>
              <a:latin typeface="Arial"/>
              <a:ea typeface="Arial"/>
              <a:cs typeface="Arial"/>
              <a:sym typeface="Arial"/>
            </a:endParaRPr>
          </a:p>
        </p:txBody>
      </p:sp>
      <p:sp>
        <p:nvSpPr>
          <p:cNvPr id="142" name="Google Shape;142;p8"/>
          <p:cNvSpPr/>
          <p:nvPr/>
        </p:nvSpPr>
        <p:spPr>
          <a:xfrm>
            <a:off x="4983480" y="3657600"/>
            <a:ext cx="2240280" cy="1325880"/>
          </a:xfrm>
          <a:prstGeom prst="roundRect">
            <a:avLst>
              <a:gd fmla="val 4138"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5148072" y="3794760"/>
            <a:ext cx="19110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PROTOTYPE</a:t>
            </a:r>
            <a:endParaRPr sz="1100">
              <a:solidFill>
                <a:schemeClr val="dk1"/>
              </a:solidFill>
              <a:latin typeface="Arial"/>
              <a:ea typeface="Arial"/>
              <a:cs typeface="Arial"/>
              <a:sym typeface="Arial"/>
            </a:endParaRPr>
          </a:p>
        </p:txBody>
      </p:sp>
      <p:sp>
        <p:nvSpPr>
          <p:cNvPr id="144" name="Google Shape;144;p8"/>
          <p:cNvSpPr/>
          <p:nvPr/>
        </p:nvSpPr>
        <p:spPr>
          <a:xfrm>
            <a:off x="5148072" y="4160520"/>
            <a:ext cx="1911096" cy="6675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Compare versions using performance metrics.</a:t>
            </a:r>
            <a:endParaRPr sz="1700">
              <a:solidFill>
                <a:schemeClr val="dk1"/>
              </a:solidFill>
              <a:latin typeface="Arial"/>
              <a:ea typeface="Arial"/>
              <a:cs typeface="Arial"/>
              <a:sym typeface="Arial"/>
            </a:endParaRPr>
          </a:p>
        </p:txBody>
      </p:sp>
      <p:sp>
        <p:nvSpPr>
          <p:cNvPr id="145" name="Google Shape;145;p8"/>
          <p:cNvSpPr/>
          <p:nvPr/>
        </p:nvSpPr>
        <p:spPr>
          <a:xfrm>
            <a:off x="914400" y="5468112"/>
            <a:ext cx="10332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Play"/>
              <a:buNone/>
            </a:pPr>
            <a:r>
              <a:rPr b="1" lang="en-US" sz="2200">
                <a:solidFill>
                  <a:srgbClr val="FFFFFF"/>
                </a:solidFill>
                <a:latin typeface="Play"/>
                <a:ea typeface="Play"/>
                <a:cs typeface="Play"/>
                <a:sym typeface="Play"/>
              </a:rPr>
              <a:t>Different paths. Same expectations: evidence, ethics, documentation, communication.</a:t>
            </a:r>
            <a:endParaRPr sz="22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50" name="Shape 150"/>
        <p:cNvGrpSpPr/>
        <p:nvPr/>
      </p:nvGrpSpPr>
      <p:grpSpPr>
        <a:xfrm>
          <a:off x="0" y="0"/>
          <a:ext cx="0" cy="0"/>
          <a:chOff x="0" y="0"/>
          <a:chExt cx="0" cy="0"/>
        </a:xfrm>
      </p:grpSpPr>
      <p:sp>
        <p:nvSpPr>
          <p:cNvPr id="151" name="Google Shape;151;p9"/>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155" name="Google Shape;155;p9"/>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56" name="Google Shape;156;p9"/>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157" name="Google Shape;157;p9"/>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What Makes It Authentic?</a:t>
            </a:r>
            <a:endParaRPr sz="2800">
              <a:solidFill>
                <a:schemeClr val="dk1"/>
              </a:solidFill>
              <a:latin typeface="Arial"/>
              <a:ea typeface="Arial"/>
              <a:cs typeface="Arial"/>
              <a:sym typeface="Arial"/>
            </a:endParaRPr>
          </a:p>
        </p:txBody>
      </p:sp>
      <p:sp>
        <p:nvSpPr>
          <p:cNvPr id="158" name="Google Shape;158;p9"/>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Authentic research includes uncertainty, evidence, revision, and communication.</a:t>
            </a:r>
            <a:endParaRPr sz="1200">
              <a:solidFill>
                <a:schemeClr val="dk1"/>
              </a:solidFill>
              <a:latin typeface="Arial"/>
              <a:ea typeface="Arial"/>
              <a:cs typeface="Arial"/>
              <a:sym typeface="Arial"/>
            </a:endParaRPr>
          </a:p>
        </p:txBody>
      </p:sp>
      <p:cxnSp>
        <p:nvCxnSpPr>
          <p:cNvPr id="159" name="Google Shape;159;p9"/>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60" name="Google Shape;160;p9"/>
          <p:cNvSpPr/>
          <p:nvPr/>
        </p:nvSpPr>
        <p:spPr>
          <a:xfrm>
            <a:off x="914400" y="1828800"/>
            <a:ext cx="2331720" cy="2926080"/>
          </a:xfrm>
          <a:prstGeom prst="roundRect">
            <a:avLst>
              <a:gd fmla="val 2353"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1078992" y="1965960"/>
            <a:ext cx="20025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UNCERTAINTY</a:t>
            </a:r>
            <a:endParaRPr sz="1100">
              <a:solidFill>
                <a:schemeClr val="dk1"/>
              </a:solidFill>
              <a:latin typeface="Arial"/>
              <a:ea typeface="Arial"/>
              <a:cs typeface="Arial"/>
              <a:sym typeface="Arial"/>
            </a:endParaRPr>
          </a:p>
        </p:txBody>
      </p:sp>
      <p:sp>
        <p:nvSpPr>
          <p:cNvPr id="162" name="Google Shape;162;p9"/>
          <p:cNvSpPr/>
          <p:nvPr/>
        </p:nvSpPr>
        <p:spPr>
          <a:xfrm>
            <a:off x="1078992" y="2331720"/>
            <a:ext cx="2002536" cy="22677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outcome is not fully known in advance.</a:t>
            </a:r>
            <a:endParaRPr sz="2000">
              <a:solidFill>
                <a:schemeClr val="dk1"/>
              </a:solidFill>
              <a:latin typeface="Arial"/>
              <a:ea typeface="Arial"/>
              <a:cs typeface="Arial"/>
              <a:sym typeface="Arial"/>
            </a:endParaRPr>
          </a:p>
        </p:txBody>
      </p:sp>
      <p:sp>
        <p:nvSpPr>
          <p:cNvPr id="163" name="Google Shape;163;p9"/>
          <p:cNvSpPr/>
          <p:nvPr/>
        </p:nvSpPr>
        <p:spPr>
          <a:xfrm>
            <a:off x="3566160" y="1828800"/>
            <a:ext cx="2331720" cy="2926080"/>
          </a:xfrm>
          <a:prstGeom prst="roundRect">
            <a:avLst>
              <a:gd fmla="val 2353"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3730752" y="1965960"/>
            <a:ext cx="20025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EVIDENCE</a:t>
            </a:r>
            <a:endParaRPr sz="1100">
              <a:solidFill>
                <a:schemeClr val="dk1"/>
              </a:solidFill>
              <a:latin typeface="Arial"/>
              <a:ea typeface="Arial"/>
              <a:cs typeface="Arial"/>
              <a:sym typeface="Arial"/>
            </a:endParaRPr>
          </a:p>
        </p:txBody>
      </p:sp>
      <p:sp>
        <p:nvSpPr>
          <p:cNvPr id="165" name="Google Shape;165;p9"/>
          <p:cNvSpPr/>
          <p:nvPr/>
        </p:nvSpPr>
        <p:spPr>
          <a:xfrm>
            <a:off x="3730752" y="2331720"/>
            <a:ext cx="2002536" cy="22677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Claims must be supported by data, observations, testing, or analysis.</a:t>
            </a:r>
            <a:endParaRPr sz="2000">
              <a:solidFill>
                <a:schemeClr val="dk1"/>
              </a:solidFill>
              <a:latin typeface="Arial"/>
              <a:ea typeface="Arial"/>
              <a:cs typeface="Arial"/>
              <a:sym typeface="Arial"/>
            </a:endParaRPr>
          </a:p>
        </p:txBody>
      </p:sp>
      <p:sp>
        <p:nvSpPr>
          <p:cNvPr id="166" name="Google Shape;166;p9"/>
          <p:cNvSpPr/>
          <p:nvPr/>
        </p:nvSpPr>
        <p:spPr>
          <a:xfrm>
            <a:off x="6217920" y="1828800"/>
            <a:ext cx="2331720" cy="2926080"/>
          </a:xfrm>
          <a:prstGeom prst="roundRect">
            <a:avLst>
              <a:gd fmla="val 2353"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6382512" y="1965960"/>
            <a:ext cx="20025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REVISION</a:t>
            </a:r>
            <a:endParaRPr sz="1100">
              <a:solidFill>
                <a:schemeClr val="dk1"/>
              </a:solidFill>
              <a:latin typeface="Arial"/>
              <a:ea typeface="Arial"/>
              <a:cs typeface="Arial"/>
              <a:sym typeface="Arial"/>
            </a:endParaRPr>
          </a:p>
        </p:txBody>
      </p:sp>
      <p:sp>
        <p:nvSpPr>
          <p:cNvPr id="168" name="Google Shape;168;p9"/>
          <p:cNvSpPr/>
          <p:nvPr/>
        </p:nvSpPr>
        <p:spPr>
          <a:xfrm>
            <a:off x="6382512" y="2331720"/>
            <a:ext cx="2002536" cy="22677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Methods and ideas improve when reality pushes back.</a:t>
            </a:r>
            <a:endParaRPr sz="2000">
              <a:solidFill>
                <a:schemeClr val="dk1"/>
              </a:solidFill>
              <a:latin typeface="Arial"/>
              <a:ea typeface="Arial"/>
              <a:cs typeface="Arial"/>
              <a:sym typeface="Arial"/>
            </a:endParaRPr>
          </a:p>
        </p:txBody>
      </p:sp>
      <p:sp>
        <p:nvSpPr>
          <p:cNvPr id="169" name="Google Shape;169;p9"/>
          <p:cNvSpPr/>
          <p:nvPr/>
        </p:nvSpPr>
        <p:spPr>
          <a:xfrm>
            <a:off x="8869680" y="1828800"/>
            <a:ext cx="2331720" cy="2926080"/>
          </a:xfrm>
          <a:prstGeom prst="roundRect">
            <a:avLst>
              <a:gd fmla="val 2353"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9034272" y="1965960"/>
            <a:ext cx="20025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COMMUNICATION</a:t>
            </a:r>
            <a:endParaRPr sz="1100">
              <a:solidFill>
                <a:schemeClr val="dk1"/>
              </a:solidFill>
              <a:latin typeface="Arial"/>
              <a:ea typeface="Arial"/>
              <a:cs typeface="Arial"/>
              <a:sym typeface="Arial"/>
            </a:endParaRPr>
          </a:p>
        </p:txBody>
      </p:sp>
      <p:sp>
        <p:nvSpPr>
          <p:cNvPr id="171" name="Google Shape;171;p9"/>
          <p:cNvSpPr/>
          <p:nvPr/>
        </p:nvSpPr>
        <p:spPr>
          <a:xfrm>
            <a:off x="9034272" y="2331720"/>
            <a:ext cx="2002536" cy="22677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Research is not complete until others can understand it.</a:t>
            </a:r>
            <a:endParaRPr sz="20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76" name="Shape 176"/>
        <p:cNvGrpSpPr/>
        <p:nvPr/>
      </p:nvGrpSpPr>
      <p:grpSpPr>
        <a:xfrm>
          <a:off x="0" y="0"/>
          <a:ext cx="0" cy="0"/>
          <a:chOff x="0" y="0"/>
          <a:chExt cx="0" cy="0"/>
        </a:xfrm>
      </p:grpSpPr>
      <p:sp>
        <p:nvSpPr>
          <p:cNvPr id="177" name="Google Shape;177;p10"/>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181" name="Google Shape;181;p10"/>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82" name="Google Shape;182;p10"/>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183" name="Google Shape;183;p10"/>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Quick Write: What Counts as Research?</a:t>
            </a:r>
            <a:endParaRPr sz="2800">
              <a:solidFill>
                <a:schemeClr val="dk1"/>
              </a:solidFill>
              <a:latin typeface="Arial"/>
              <a:ea typeface="Arial"/>
              <a:cs typeface="Arial"/>
              <a:sym typeface="Arial"/>
            </a:endParaRPr>
          </a:p>
        </p:txBody>
      </p:sp>
      <p:sp>
        <p:nvSpPr>
          <p:cNvPr id="184" name="Google Shape;184;p10"/>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4 minutes • Unit 1</a:t>
            </a:r>
            <a:endParaRPr sz="1200">
              <a:solidFill>
                <a:schemeClr val="dk1"/>
              </a:solidFill>
              <a:latin typeface="Arial"/>
              <a:ea typeface="Arial"/>
              <a:cs typeface="Arial"/>
              <a:sym typeface="Arial"/>
            </a:endParaRPr>
          </a:p>
        </p:txBody>
      </p:sp>
      <p:cxnSp>
        <p:nvCxnSpPr>
          <p:cNvPr id="185" name="Google Shape;185;p10"/>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86" name="Google Shape;186;p10"/>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188" name="Google Shape;188;p10"/>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100">
                <a:solidFill>
                  <a:srgbClr val="FFFFFF"/>
                </a:solidFill>
                <a:latin typeface="Arial"/>
                <a:ea typeface="Arial"/>
                <a:cs typeface="Arial"/>
                <a:sym typeface="Arial"/>
              </a:rPr>
              <a:t>In your packet, answer: “What makes a project real research instead of just an activity or demonstration?”</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Use one example.</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Then compare your answer with a partner.</a:t>
            </a:r>
            <a:endParaRPr sz="21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93" name="Shape 193"/>
        <p:cNvGrpSpPr/>
        <p:nvPr/>
      </p:nvGrpSpPr>
      <p:grpSpPr>
        <a:xfrm>
          <a:off x="0" y="0"/>
          <a:ext cx="0" cy="0"/>
          <a:chOff x="0" y="0"/>
          <a:chExt cx="0" cy="0"/>
        </a:xfrm>
      </p:grpSpPr>
      <p:sp>
        <p:nvSpPr>
          <p:cNvPr id="194" name="Google Shape;194;p11"/>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198" name="Google Shape;198;p11"/>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99" name="Google Shape;199;p11"/>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200" name="Google Shape;200;p11"/>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Not Research Yet → Stronger Research</a:t>
            </a:r>
            <a:endParaRPr sz="2800">
              <a:solidFill>
                <a:schemeClr val="dk1"/>
              </a:solidFill>
              <a:latin typeface="Arial"/>
              <a:ea typeface="Arial"/>
              <a:cs typeface="Arial"/>
              <a:sym typeface="Arial"/>
            </a:endParaRPr>
          </a:p>
        </p:txBody>
      </p:sp>
      <p:sp>
        <p:nvSpPr>
          <p:cNvPr id="201" name="Google Shape;201;p11"/>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A good idea usually needs narrowing before it becomes investigable.</a:t>
            </a:r>
            <a:endParaRPr sz="1200">
              <a:solidFill>
                <a:schemeClr val="dk1"/>
              </a:solidFill>
              <a:latin typeface="Arial"/>
              <a:ea typeface="Arial"/>
              <a:cs typeface="Arial"/>
              <a:sym typeface="Arial"/>
            </a:endParaRPr>
          </a:p>
        </p:txBody>
      </p:sp>
      <p:cxnSp>
        <p:nvCxnSpPr>
          <p:cNvPr id="202" name="Google Shape;202;p11"/>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03" name="Google Shape;203;p11"/>
          <p:cNvSpPr/>
          <p:nvPr/>
        </p:nvSpPr>
        <p:spPr>
          <a:xfrm>
            <a:off x="822960" y="1920240"/>
            <a:ext cx="3337560" cy="2468880"/>
          </a:xfrm>
          <a:prstGeom prst="roundRect">
            <a:avLst>
              <a:gd fmla="val 2222"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987552" y="2057400"/>
            <a:ext cx="30083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NOT RESEARCH YET</a:t>
            </a:r>
            <a:endParaRPr sz="1100">
              <a:solidFill>
                <a:schemeClr val="dk1"/>
              </a:solidFill>
              <a:latin typeface="Arial"/>
              <a:ea typeface="Arial"/>
              <a:cs typeface="Arial"/>
              <a:sym typeface="Arial"/>
            </a:endParaRPr>
          </a:p>
        </p:txBody>
      </p:sp>
      <p:sp>
        <p:nvSpPr>
          <p:cNvPr id="205" name="Google Shape;205;p11"/>
          <p:cNvSpPr/>
          <p:nvPr/>
        </p:nvSpPr>
        <p:spPr>
          <a:xfrm>
            <a:off x="987552" y="2423160"/>
            <a:ext cx="3008376" cy="18105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400"/>
              <a:buFont typeface="Arial"/>
              <a:buNone/>
            </a:pPr>
            <a:r>
              <a:rPr lang="en-US" sz="2400">
                <a:solidFill>
                  <a:srgbClr val="FFFFFF"/>
                </a:solidFill>
                <a:latin typeface="Arial"/>
                <a:ea typeface="Arial"/>
                <a:cs typeface="Arial"/>
                <a:sym typeface="Arial"/>
              </a:rPr>
              <a:t>“I want to learn about cancer.”</a:t>
            </a:r>
            <a:endParaRPr sz="2400">
              <a:solidFill>
                <a:schemeClr val="dk1"/>
              </a:solidFill>
              <a:latin typeface="Arial"/>
              <a:ea typeface="Arial"/>
              <a:cs typeface="Arial"/>
              <a:sym typeface="Arial"/>
            </a:endParaRPr>
          </a:p>
        </p:txBody>
      </p:sp>
      <p:sp>
        <p:nvSpPr>
          <p:cNvPr id="206" name="Google Shape;206;p11"/>
          <p:cNvSpPr/>
          <p:nvPr/>
        </p:nvSpPr>
        <p:spPr>
          <a:xfrm>
            <a:off x="4434840" y="1920240"/>
            <a:ext cx="3337560" cy="2468880"/>
          </a:xfrm>
          <a:prstGeom prst="roundRect">
            <a:avLst>
              <a:gd fmla="val 2222"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4599432" y="2057400"/>
            <a:ext cx="30083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POSSIBLE DIRECTION</a:t>
            </a:r>
            <a:endParaRPr sz="1100">
              <a:solidFill>
                <a:schemeClr val="dk1"/>
              </a:solidFill>
              <a:latin typeface="Arial"/>
              <a:ea typeface="Arial"/>
              <a:cs typeface="Arial"/>
              <a:sym typeface="Arial"/>
            </a:endParaRPr>
          </a:p>
        </p:txBody>
      </p:sp>
      <p:sp>
        <p:nvSpPr>
          <p:cNvPr id="208" name="Google Shape;208;p11"/>
          <p:cNvSpPr/>
          <p:nvPr/>
        </p:nvSpPr>
        <p:spPr>
          <a:xfrm>
            <a:off x="4599432" y="2423160"/>
            <a:ext cx="3008376" cy="18105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“I want to study how cells respond to stress.”</a:t>
            </a:r>
            <a:endParaRPr sz="2300">
              <a:solidFill>
                <a:schemeClr val="dk1"/>
              </a:solidFill>
              <a:latin typeface="Arial"/>
              <a:ea typeface="Arial"/>
              <a:cs typeface="Arial"/>
              <a:sym typeface="Arial"/>
            </a:endParaRPr>
          </a:p>
        </p:txBody>
      </p:sp>
      <p:sp>
        <p:nvSpPr>
          <p:cNvPr id="209" name="Google Shape;209;p11"/>
          <p:cNvSpPr/>
          <p:nvPr/>
        </p:nvSpPr>
        <p:spPr>
          <a:xfrm>
            <a:off x="8046720" y="1920240"/>
            <a:ext cx="3337560" cy="2468880"/>
          </a:xfrm>
          <a:prstGeom prst="roundRect">
            <a:avLst>
              <a:gd fmla="val 2222"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8211312" y="2057400"/>
            <a:ext cx="30083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STRONGER RESEARCH</a:t>
            </a:r>
            <a:endParaRPr sz="1100">
              <a:solidFill>
                <a:schemeClr val="dk1"/>
              </a:solidFill>
              <a:latin typeface="Arial"/>
              <a:ea typeface="Arial"/>
              <a:cs typeface="Arial"/>
              <a:sym typeface="Arial"/>
            </a:endParaRPr>
          </a:p>
        </p:txBody>
      </p:sp>
      <p:sp>
        <p:nvSpPr>
          <p:cNvPr id="211" name="Google Shape;211;p11"/>
          <p:cNvSpPr/>
          <p:nvPr/>
        </p:nvSpPr>
        <p:spPr>
          <a:xfrm>
            <a:off x="8211312" y="2423160"/>
            <a:ext cx="3008376" cy="18105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“How does simulated environmental stress affect a measurable model system under safe classroom conditions?”</a:t>
            </a:r>
            <a:endParaRPr sz="1900">
              <a:solidFill>
                <a:schemeClr val="dk1"/>
              </a:solidFill>
              <a:latin typeface="Arial"/>
              <a:ea typeface="Arial"/>
              <a:cs typeface="Arial"/>
              <a:sym typeface="Arial"/>
            </a:endParaRPr>
          </a:p>
        </p:txBody>
      </p:sp>
      <p:sp>
        <p:nvSpPr>
          <p:cNvPr id="212" name="Google Shape;212;p11"/>
          <p:cNvSpPr/>
          <p:nvPr/>
        </p:nvSpPr>
        <p:spPr>
          <a:xfrm>
            <a:off x="914400" y="5257800"/>
            <a:ext cx="10332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Play"/>
              <a:buNone/>
            </a:pPr>
            <a:r>
              <a:rPr b="1" lang="en-US" sz="2400">
                <a:solidFill>
                  <a:srgbClr val="FFFFFF"/>
                </a:solidFill>
                <a:latin typeface="Play"/>
                <a:ea typeface="Play"/>
                <a:cs typeface="Play"/>
                <a:sym typeface="Play"/>
              </a:rPr>
              <a:t>Move from topic → focused system → measurable evidence.</a:t>
            </a:r>
            <a:endParaRPr sz="24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17" name="Shape 217"/>
        <p:cNvGrpSpPr/>
        <p:nvPr/>
      </p:nvGrpSpPr>
      <p:grpSpPr>
        <a:xfrm>
          <a:off x="0" y="0"/>
          <a:ext cx="0" cy="0"/>
          <a:chOff x="0" y="0"/>
          <a:chExt cx="0" cy="0"/>
        </a:xfrm>
      </p:grpSpPr>
      <p:sp>
        <p:nvSpPr>
          <p:cNvPr id="218" name="Google Shape;218;p12"/>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222" name="Google Shape;222;p12"/>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23" name="Google Shape;223;p12"/>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224" name="Google Shape;224;p12"/>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Failure Is Data</a:t>
            </a:r>
            <a:endParaRPr sz="2800">
              <a:solidFill>
                <a:schemeClr val="dk1"/>
              </a:solidFill>
              <a:latin typeface="Arial"/>
              <a:ea typeface="Arial"/>
              <a:cs typeface="Arial"/>
              <a:sym typeface="Arial"/>
            </a:endParaRPr>
          </a:p>
        </p:txBody>
      </p:sp>
      <p:sp>
        <p:nvSpPr>
          <p:cNvPr id="225" name="Google Shape;225;p12"/>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When something fails, the question becomes: what did it reveal?</a:t>
            </a:r>
            <a:endParaRPr sz="1200">
              <a:solidFill>
                <a:schemeClr val="dk1"/>
              </a:solidFill>
              <a:latin typeface="Arial"/>
              <a:ea typeface="Arial"/>
              <a:cs typeface="Arial"/>
              <a:sym typeface="Arial"/>
            </a:endParaRPr>
          </a:p>
        </p:txBody>
      </p:sp>
      <p:cxnSp>
        <p:nvCxnSpPr>
          <p:cNvPr id="226" name="Google Shape;226;p12"/>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27" name="Google Shape;227;p12"/>
          <p:cNvSpPr/>
          <p:nvPr/>
        </p:nvSpPr>
        <p:spPr>
          <a:xfrm>
            <a:off x="1005840" y="1874520"/>
            <a:ext cx="10058400" cy="356616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600">
                <a:solidFill>
                  <a:srgbClr val="FFFFFF"/>
                </a:solidFill>
                <a:latin typeface="Arial"/>
                <a:ea typeface="Arial"/>
                <a:cs typeface="Arial"/>
                <a:sym typeface="Arial"/>
              </a:rPr>
              <a:t>A failed setup can reveal a better method</a:t>
            </a:r>
            <a:endParaRPr sz="2600">
              <a:solidFill>
                <a:schemeClr val="dk1"/>
              </a:solidFill>
              <a:latin typeface="Arial"/>
              <a:ea typeface="Arial"/>
              <a:cs typeface="Arial"/>
              <a:sym typeface="Arial"/>
            </a:endParaRPr>
          </a:p>
          <a:p>
            <a:pPr indent="0" lvl="0" marL="0" marR="0" rtl="0" algn="l">
              <a:spcBef>
                <a:spcPts val="0"/>
              </a:spcBef>
              <a:spcAft>
                <a:spcPts val="0"/>
              </a:spcAft>
              <a:buNone/>
            </a:pPr>
            <a:r>
              <a:rPr lang="en-US" sz="2600">
                <a:solidFill>
                  <a:srgbClr val="FFFFFF"/>
                </a:solidFill>
                <a:latin typeface="Arial"/>
                <a:ea typeface="Arial"/>
                <a:cs typeface="Arial"/>
                <a:sym typeface="Arial"/>
              </a:rPr>
              <a:t>A failed prototype can reveal a design constraint</a:t>
            </a:r>
            <a:endParaRPr sz="2600">
              <a:solidFill>
                <a:schemeClr val="dk1"/>
              </a:solidFill>
              <a:latin typeface="Arial"/>
              <a:ea typeface="Arial"/>
              <a:cs typeface="Arial"/>
              <a:sym typeface="Arial"/>
            </a:endParaRPr>
          </a:p>
          <a:p>
            <a:pPr indent="0" lvl="0" marL="0" marR="0" rtl="0" algn="l">
              <a:spcBef>
                <a:spcPts val="0"/>
              </a:spcBef>
              <a:spcAft>
                <a:spcPts val="0"/>
              </a:spcAft>
              <a:buNone/>
            </a:pPr>
            <a:r>
              <a:rPr lang="en-US" sz="2600">
                <a:solidFill>
                  <a:srgbClr val="FFFFFF"/>
                </a:solidFill>
                <a:latin typeface="Arial"/>
                <a:ea typeface="Arial"/>
                <a:cs typeface="Arial"/>
                <a:sym typeface="Arial"/>
              </a:rPr>
              <a:t>Unexpected data can reveal a hidden variable</a:t>
            </a:r>
            <a:endParaRPr sz="2600">
              <a:solidFill>
                <a:schemeClr val="dk1"/>
              </a:solidFill>
              <a:latin typeface="Arial"/>
              <a:ea typeface="Arial"/>
              <a:cs typeface="Arial"/>
              <a:sym typeface="Arial"/>
            </a:endParaRPr>
          </a:p>
          <a:p>
            <a:pPr indent="0" lvl="0" marL="0" marR="0" rtl="0" algn="l">
              <a:spcBef>
                <a:spcPts val="0"/>
              </a:spcBef>
              <a:spcAft>
                <a:spcPts val="0"/>
              </a:spcAft>
              <a:buNone/>
            </a:pPr>
            <a:r>
              <a:rPr lang="en-US" sz="2600">
                <a:solidFill>
                  <a:srgbClr val="FFFFFF"/>
                </a:solidFill>
                <a:latin typeface="Arial"/>
                <a:ea typeface="Arial"/>
                <a:cs typeface="Arial"/>
                <a:sym typeface="Arial"/>
              </a:rPr>
              <a:t>A confusing result can reveal the next question</a:t>
            </a:r>
            <a:endParaRPr sz="26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32" name="Shape 232"/>
        <p:cNvGrpSpPr/>
        <p:nvPr/>
      </p:nvGrpSpPr>
      <p:grpSpPr>
        <a:xfrm>
          <a:off x="0" y="0"/>
          <a:ext cx="0" cy="0"/>
          <a:chOff x="0" y="0"/>
          <a:chExt cx="0" cy="0"/>
        </a:xfrm>
      </p:grpSpPr>
      <p:sp>
        <p:nvSpPr>
          <p:cNvPr id="233" name="Google Shape;233;p13"/>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3"/>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237" name="Google Shape;237;p13"/>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38" name="Google Shape;238;p13"/>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239" name="Google Shape;239;p13"/>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Documentation Is the Memory of Research</a:t>
            </a:r>
            <a:endParaRPr sz="2800">
              <a:solidFill>
                <a:schemeClr val="dk1"/>
              </a:solidFill>
              <a:latin typeface="Arial"/>
              <a:ea typeface="Arial"/>
              <a:cs typeface="Arial"/>
              <a:sym typeface="Arial"/>
            </a:endParaRPr>
          </a:p>
        </p:txBody>
      </p:sp>
      <p:sp>
        <p:nvSpPr>
          <p:cNvPr id="240" name="Google Shape;240;p13"/>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If it is not documented, it may not be usable later.</a:t>
            </a:r>
            <a:endParaRPr sz="1200">
              <a:solidFill>
                <a:schemeClr val="dk1"/>
              </a:solidFill>
              <a:latin typeface="Arial"/>
              <a:ea typeface="Arial"/>
              <a:cs typeface="Arial"/>
              <a:sym typeface="Arial"/>
            </a:endParaRPr>
          </a:p>
        </p:txBody>
      </p:sp>
      <p:cxnSp>
        <p:nvCxnSpPr>
          <p:cNvPr id="241" name="Google Shape;241;p13"/>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42" name="Google Shape;242;p13"/>
          <p:cNvSpPr/>
          <p:nvPr/>
        </p:nvSpPr>
        <p:spPr>
          <a:xfrm>
            <a:off x="914400" y="1920240"/>
            <a:ext cx="4754880" cy="2331720"/>
          </a:xfrm>
          <a:prstGeom prst="roundRect">
            <a:avLst>
              <a:gd fmla="val 2353"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
          <p:cNvSpPr/>
          <p:nvPr/>
        </p:nvSpPr>
        <p:spPr>
          <a:xfrm>
            <a:off x="1078992" y="2057400"/>
            <a:ext cx="44256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WEAK NOTE</a:t>
            </a:r>
            <a:endParaRPr sz="1100">
              <a:solidFill>
                <a:schemeClr val="dk1"/>
              </a:solidFill>
              <a:latin typeface="Arial"/>
              <a:ea typeface="Arial"/>
              <a:cs typeface="Arial"/>
              <a:sym typeface="Arial"/>
            </a:endParaRPr>
          </a:p>
        </p:txBody>
      </p:sp>
      <p:sp>
        <p:nvSpPr>
          <p:cNvPr id="244" name="Google Shape;244;p13"/>
          <p:cNvSpPr/>
          <p:nvPr/>
        </p:nvSpPr>
        <p:spPr>
          <a:xfrm>
            <a:off x="1078992" y="2423160"/>
            <a:ext cx="4425696" cy="16733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600"/>
              <a:buFont typeface="Arial"/>
              <a:buNone/>
            </a:pPr>
            <a:r>
              <a:rPr lang="en-US" sz="2600">
                <a:solidFill>
                  <a:srgbClr val="FFFFFF"/>
                </a:solidFill>
                <a:latin typeface="Arial"/>
                <a:ea typeface="Arial"/>
                <a:cs typeface="Arial"/>
                <a:sym typeface="Arial"/>
              </a:rPr>
              <a:t>“Tested it. Didn’t work.”</a:t>
            </a:r>
            <a:endParaRPr sz="2600">
              <a:solidFill>
                <a:schemeClr val="dk1"/>
              </a:solidFill>
              <a:latin typeface="Arial"/>
              <a:ea typeface="Arial"/>
              <a:cs typeface="Arial"/>
              <a:sym typeface="Arial"/>
            </a:endParaRPr>
          </a:p>
        </p:txBody>
      </p:sp>
      <p:sp>
        <p:nvSpPr>
          <p:cNvPr id="245" name="Google Shape;245;p13"/>
          <p:cNvSpPr/>
          <p:nvPr/>
        </p:nvSpPr>
        <p:spPr>
          <a:xfrm>
            <a:off x="6263640" y="1920240"/>
            <a:ext cx="4754880" cy="2331720"/>
          </a:xfrm>
          <a:prstGeom prst="roundRect">
            <a:avLst>
              <a:gd fmla="val 2353"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
          <p:cNvSpPr/>
          <p:nvPr/>
        </p:nvSpPr>
        <p:spPr>
          <a:xfrm>
            <a:off x="6428232" y="2057400"/>
            <a:ext cx="44256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USABLE NOTE</a:t>
            </a:r>
            <a:endParaRPr sz="1100">
              <a:solidFill>
                <a:schemeClr val="dk1"/>
              </a:solidFill>
              <a:latin typeface="Arial"/>
              <a:ea typeface="Arial"/>
              <a:cs typeface="Arial"/>
              <a:sym typeface="Arial"/>
            </a:endParaRPr>
          </a:p>
        </p:txBody>
      </p:sp>
      <p:sp>
        <p:nvSpPr>
          <p:cNvPr id="247" name="Google Shape;247;p13"/>
          <p:cNvSpPr/>
          <p:nvPr/>
        </p:nvSpPr>
        <p:spPr>
          <a:xfrm>
            <a:off x="6428232" y="2423160"/>
            <a:ext cx="4425696" cy="16733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“Trial 2 failed because the sensor wire disconnected after 18 seconds. Data stopped at 17.6 s. Retest needed after securing wire.”</a:t>
            </a:r>
            <a:endParaRPr sz="1900">
              <a:solidFill>
                <a:schemeClr val="dk1"/>
              </a:solidFill>
              <a:latin typeface="Arial"/>
              <a:ea typeface="Arial"/>
              <a:cs typeface="Arial"/>
              <a:sym typeface="Arial"/>
            </a:endParaRPr>
          </a:p>
        </p:txBody>
      </p:sp>
      <p:sp>
        <p:nvSpPr>
          <p:cNvPr id="248" name="Google Shape;248;p13"/>
          <p:cNvSpPr/>
          <p:nvPr/>
        </p:nvSpPr>
        <p:spPr>
          <a:xfrm>
            <a:off x="914400" y="5257800"/>
            <a:ext cx="10332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Play"/>
              <a:buNone/>
            </a:pPr>
            <a:r>
              <a:rPr b="1" lang="en-US" sz="2600">
                <a:solidFill>
                  <a:srgbClr val="FFFFFF"/>
                </a:solidFill>
                <a:latin typeface="Play"/>
                <a:ea typeface="Play"/>
                <a:cs typeface="Play"/>
                <a:sym typeface="Play"/>
              </a:rPr>
              <a:t>Every project needs a research journal.</a:t>
            </a:r>
            <a:endParaRPr sz="26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53" name="Shape 253"/>
        <p:cNvGrpSpPr/>
        <p:nvPr/>
      </p:nvGrpSpPr>
      <p:grpSpPr>
        <a:xfrm>
          <a:off x="0" y="0"/>
          <a:ext cx="0" cy="0"/>
          <a:chOff x="0" y="0"/>
          <a:chExt cx="0" cy="0"/>
        </a:xfrm>
      </p:grpSpPr>
      <p:sp>
        <p:nvSpPr>
          <p:cNvPr id="254" name="Google Shape;254;p14"/>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RESEARCH INTEGRITY</a:t>
            </a:r>
            <a:endParaRPr sz="1000">
              <a:solidFill>
                <a:schemeClr val="dk1"/>
              </a:solidFill>
              <a:latin typeface="Arial"/>
              <a:ea typeface="Arial"/>
              <a:cs typeface="Arial"/>
              <a:sym typeface="Arial"/>
            </a:endParaRPr>
          </a:p>
        </p:txBody>
      </p:sp>
      <p:sp>
        <p:nvSpPr>
          <p:cNvPr id="258" name="Google Shape;258;p14"/>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59" name="Google Shape;259;p14"/>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260" name="Google Shape;260;p14"/>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Ethics and Safety Are Non-Negotiable</a:t>
            </a:r>
            <a:endParaRPr sz="2800">
              <a:solidFill>
                <a:schemeClr val="dk1"/>
              </a:solidFill>
              <a:latin typeface="Arial"/>
              <a:ea typeface="Arial"/>
              <a:cs typeface="Arial"/>
              <a:sym typeface="Arial"/>
            </a:endParaRPr>
          </a:p>
        </p:txBody>
      </p:sp>
      <p:sp>
        <p:nvSpPr>
          <p:cNvPr id="261" name="Google Shape;261;p14"/>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Curiosity does not override responsibility.</a:t>
            </a:r>
            <a:endParaRPr sz="1200">
              <a:solidFill>
                <a:schemeClr val="dk1"/>
              </a:solidFill>
              <a:latin typeface="Arial"/>
              <a:ea typeface="Arial"/>
              <a:cs typeface="Arial"/>
              <a:sym typeface="Arial"/>
            </a:endParaRPr>
          </a:p>
        </p:txBody>
      </p:sp>
      <p:cxnSp>
        <p:nvCxnSpPr>
          <p:cNvPr id="262" name="Google Shape;262;p14"/>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63" name="Google Shape;263;p14"/>
          <p:cNvSpPr/>
          <p:nvPr/>
        </p:nvSpPr>
        <p:spPr>
          <a:xfrm>
            <a:off x="1005840" y="1828800"/>
            <a:ext cx="1005840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400">
                <a:solidFill>
                  <a:srgbClr val="FFFFFF"/>
                </a:solidFill>
                <a:latin typeface="Arial"/>
                <a:ea typeface="Arial"/>
                <a:cs typeface="Arial"/>
                <a:sym typeface="Arial"/>
              </a:rPr>
              <a:t>Do not fabricate, delete, or hide inconvenient data</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FFFFFF"/>
                </a:solidFill>
                <a:latin typeface="Arial"/>
                <a:ea typeface="Arial"/>
                <a:cs typeface="Arial"/>
                <a:sym typeface="Arial"/>
              </a:rPr>
              <a:t>Credit sources, code, images, and mentor input</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FFFFFF"/>
                </a:solidFill>
                <a:latin typeface="Arial"/>
                <a:ea typeface="Arial"/>
                <a:cs typeface="Arial"/>
                <a:sym typeface="Arial"/>
              </a:rPr>
              <a:t>Do not begin testing without approval</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FFFFFF"/>
                </a:solidFill>
                <a:latin typeface="Arial"/>
                <a:ea typeface="Arial"/>
                <a:cs typeface="Arial"/>
                <a:sym typeface="Arial"/>
              </a:rPr>
              <a:t>Protect people, animals, privacy, equipment, and the environment</a:t>
            </a:r>
            <a:endParaRPr sz="24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68" name="Shape 268"/>
        <p:cNvGrpSpPr/>
        <p:nvPr/>
      </p:nvGrpSpPr>
      <p:grpSpPr>
        <a:xfrm>
          <a:off x="0" y="0"/>
          <a:ext cx="0" cy="0"/>
          <a:chOff x="0" y="0"/>
          <a:chExt cx="0" cy="0"/>
        </a:xfrm>
      </p:grpSpPr>
      <p:sp>
        <p:nvSpPr>
          <p:cNvPr id="269" name="Google Shape;269;p15"/>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273" name="Google Shape;273;p15"/>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74" name="Google Shape;274;p15"/>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275" name="Google Shape;275;p15"/>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Sort the Project Ideas</a:t>
            </a:r>
            <a:endParaRPr sz="2800">
              <a:solidFill>
                <a:schemeClr val="dk1"/>
              </a:solidFill>
              <a:latin typeface="Arial"/>
              <a:ea typeface="Arial"/>
              <a:cs typeface="Arial"/>
              <a:sym typeface="Arial"/>
            </a:endParaRPr>
          </a:p>
        </p:txBody>
      </p:sp>
      <p:sp>
        <p:nvSpPr>
          <p:cNvPr id="276" name="Google Shape;276;p15"/>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10 minutes • Unit 1</a:t>
            </a:r>
            <a:endParaRPr sz="1200">
              <a:solidFill>
                <a:schemeClr val="dk1"/>
              </a:solidFill>
              <a:latin typeface="Arial"/>
              <a:ea typeface="Arial"/>
              <a:cs typeface="Arial"/>
              <a:sym typeface="Arial"/>
            </a:endParaRPr>
          </a:p>
        </p:txBody>
      </p:sp>
      <p:cxnSp>
        <p:nvCxnSpPr>
          <p:cNvPr id="277" name="Google Shape;277;p15"/>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78" name="Google Shape;278;p15"/>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280" name="Google Shape;280;p15"/>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100">
                <a:solidFill>
                  <a:srgbClr val="FFFFFF"/>
                </a:solidFill>
                <a:latin typeface="Arial"/>
                <a:ea typeface="Arial"/>
                <a:cs typeface="Arial"/>
                <a:sym typeface="Arial"/>
              </a:rPr>
              <a:t>With a partner, decide whether each idea is: not research yet, needs refinement, strong direction, engineering design, or problematic.</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Use evidence, feasibility, safety, and ethics as your sorting criteria.</a:t>
            </a:r>
            <a:endParaRPr sz="21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85" name="Shape 285"/>
        <p:cNvGrpSpPr/>
        <p:nvPr/>
      </p:nvGrpSpPr>
      <p:grpSpPr>
        <a:xfrm>
          <a:off x="0" y="0"/>
          <a:ext cx="0" cy="0"/>
          <a:chOff x="0" y="0"/>
          <a:chExt cx="0" cy="0"/>
        </a:xfrm>
      </p:grpSpPr>
      <p:sp>
        <p:nvSpPr>
          <p:cNvPr id="286" name="Google Shape;286;p16"/>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290" name="Google Shape;290;p16"/>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91" name="Google Shape;291;p16"/>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292" name="Google Shape;292;p16"/>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Your First STARLAB Task</a:t>
            </a:r>
            <a:endParaRPr sz="2800">
              <a:solidFill>
                <a:schemeClr val="dk1"/>
              </a:solidFill>
              <a:latin typeface="Arial"/>
              <a:ea typeface="Arial"/>
              <a:cs typeface="Arial"/>
              <a:sym typeface="Arial"/>
            </a:endParaRPr>
          </a:p>
        </p:txBody>
      </p:sp>
      <p:sp>
        <p:nvSpPr>
          <p:cNvPr id="293" name="Google Shape;293;p16"/>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Begin with identity, curiosity, and honest self-assessment.</a:t>
            </a:r>
            <a:endParaRPr sz="1200">
              <a:solidFill>
                <a:schemeClr val="dk1"/>
              </a:solidFill>
              <a:latin typeface="Arial"/>
              <a:ea typeface="Arial"/>
              <a:cs typeface="Arial"/>
              <a:sym typeface="Arial"/>
            </a:endParaRPr>
          </a:p>
        </p:txBody>
      </p:sp>
      <p:cxnSp>
        <p:nvCxnSpPr>
          <p:cNvPr id="294" name="Google Shape;294;p16"/>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95" name="Google Shape;295;p16"/>
          <p:cNvSpPr/>
          <p:nvPr/>
        </p:nvSpPr>
        <p:spPr>
          <a:xfrm>
            <a:off x="914400" y="1828800"/>
            <a:ext cx="2971800" cy="2423160"/>
          </a:xfrm>
          <a:prstGeom prst="roundRect">
            <a:avLst>
              <a:gd fmla="val 226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1078992" y="1965960"/>
            <a:ext cx="2642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HANDOUT 1</a:t>
            </a:r>
            <a:endParaRPr sz="1100">
              <a:solidFill>
                <a:schemeClr val="dk1"/>
              </a:solidFill>
              <a:latin typeface="Arial"/>
              <a:ea typeface="Arial"/>
              <a:cs typeface="Arial"/>
              <a:sym typeface="Arial"/>
            </a:endParaRPr>
          </a:p>
        </p:txBody>
      </p:sp>
      <p:sp>
        <p:nvSpPr>
          <p:cNvPr id="297" name="Google Shape;297;p16"/>
          <p:cNvSpPr/>
          <p:nvPr/>
        </p:nvSpPr>
        <p:spPr>
          <a:xfrm>
            <a:off x="1078992" y="2331720"/>
            <a:ext cx="2642616" cy="17647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400"/>
              <a:buFont typeface="Arial"/>
              <a:buNone/>
            </a:pPr>
            <a:r>
              <a:rPr lang="en-US" sz="2400">
                <a:solidFill>
                  <a:srgbClr val="FFFFFF"/>
                </a:solidFill>
                <a:latin typeface="Arial"/>
                <a:ea typeface="Arial"/>
                <a:cs typeface="Arial"/>
                <a:sym typeface="Arial"/>
              </a:rPr>
              <a:t>Course Launch Reflection</a:t>
            </a:r>
            <a:endParaRPr sz="2400">
              <a:solidFill>
                <a:schemeClr val="dk1"/>
              </a:solidFill>
              <a:latin typeface="Arial"/>
              <a:ea typeface="Arial"/>
              <a:cs typeface="Arial"/>
              <a:sym typeface="Arial"/>
            </a:endParaRPr>
          </a:p>
        </p:txBody>
      </p:sp>
      <p:sp>
        <p:nvSpPr>
          <p:cNvPr id="298" name="Google Shape;298;p16"/>
          <p:cNvSpPr/>
          <p:nvPr/>
        </p:nvSpPr>
        <p:spPr>
          <a:xfrm>
            <a:off x="4617720" y="1828800"/>
            <a:ext cx="2971800" cy="2423160"/>
          </a:xfrm>
          <a:prstGeom prst="roundRect">
            <a:avLst>
              <a:gd fmla="val 2264"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4782312" y="1965960"/>
            <a:ext cx="2642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HANDOUT 2</a:t>
            </a:r>
            <a:endParaRPr sz="1100">
              <a:solidFill>
                <a:schemeClr val="dk1"/>
              </a:solidFill>
              <a:latin typeface="Arial"/>
              <a:ea typeface="Arial"/>
              <a:cs typeface="Arial"/>
              <a:sym typeface="Arial"/>
            </a:endParaRPr>
          </a:p>
        </p:txBody>
      </p:sp>
      <p:sp>
        <p:nvSpPr>
          <p:cNvPr id="300" name="Google Shape;300;p16"/>
          <p:cNvSpPr/>
          <p:nvPr/>
        </p:nvSpPr>
        <p:spPr>
          <a:xfrm>
            <a:off x="4782312" y="2331720"/>
            <a:ext cx="2642616" cy="17647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Science Identity and Skills Inventory</a:t>
            </a:r>
            <a:endParaRPr sz="2300">
              <a:solidFill>
                <a:schemeClr val="dk1"/>
              </a:solidFill>
              <a:latin typeface="Arial"/>
              <a:ea typeface="Arial"/>
              <a:cs typeface="Arial"/>
              <a:sym typeface="Arial"/>
            </a:endParaRPr>
          </a:p>
        </p:txBody>
      </p:sp>
      <p:sp>
        <p:nvSpPr>
          <p:cNvPr id="301" name="Google Shape;301;p16"/>
          <p:cNvSpPr/>
          <p:nvPr/>
        </p:nvSpPr>
        <p:spPr>
          <a:xfrm>
            <a:off x="8321040" y="1828800"/>
            <a:ext cx="2971800" cy="2423160"/>
          </a:xfrm>
          <a:prstGeom prst="roundRect">
            <a:avLst>
              <a:gd fmla="val 226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8485632" y="1965960"/>
            <a:ext cx="2642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HANDOUT 3</a:t>
            </a:r>
            <a:endParaRPr sz="1100">
              <a:solidFill>
                <a:schemeClr val="dk1"/>
              </a:solidFill>
              <a:latin typeface="Arial"/>
              <a:ea typeface="Arial"/>
              <a:cs typeface="Arial"/>
              <a:sym typeface="Arial"/>
            </a:endParaRPr>
          </a:p>
        </p:txBody>
      </p:sp>
      <p:sp>
        <p:nvSpPr>
          <p:cNvPr id="303" name="Google Shape;303;p16"/>
          <p:cNvSpPr/>
          <p:nvPr/>
        </p:nvSpPr>
        <p:spPr>
          <a:xfrm>
            <a:off x="8485632" y="2331720"/>
            <a:ext cx="2642616" cy="17647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Research Interest Inventory</a:t>
            </a:r>
            <a:endParaRPr sz="2300">
              <a:solidFill>
                <a:schemeClr val="dk1"/>
              </a:solidFill>
              <a:latin typeface="Arial"/>
              <a:ea typeface="Arial"/>
              <a:cs typeface="Arial"/>
              <a:sym typeface="Arial"/>
            </a:endParaRPr>
          </a:p>
        </p:txBody>
      </p:sp>
      <p:sp>
        <p:nvSpPr>
          <p:cNvPr id="304" name="Google Shape;304;p16"/>
          <p:cNvSpPr/>
          <p:nvPr/>
        </p:nvSpPr>
        <p:spPr>
          <a:xfrm>
            <a:off x="914400" y="5257800"/>
            <a:ext cx="10332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Play"/>
              <a:buNone/>
            </a:pPr>
            <a:r>
              <a:rPr b="1" lang="en-US" sz="2400">
                <a:solidFill>
                  <a:srgbClr val="FFFFFF"/>
                </a:solidFill>
                <a:latin typeface="Play"/>
                <a:ea typeface="Play"/>
                <a:cs typeface="Play"/>
                <a:sym typeface="Play"/>
              </a:rPr>
              <a:t>You do not need a final project today. You need a starting point.</a:t>
            </a:r>
            <a:endParaRPr sz="24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09" name="Shape 309"/>
        <p:cNvGrpSpPr/>
        <p:nvPr/>
      </p:nvGrpSpPr>
      <p:grpSpPr>
        <a:xfrm>
          <a:off x="0" y="0"/>
          <a:ext cx="0" cy="0"/>
          <a:chOff x="0" y="0"/>
          <a:chExt cx="0" cy="0"/>
        </a:xfrm>
      </p:grpSpPr>
      <p:sp>
        <p:nvSpPr>
          <p:cNvPr id="310" name="Google Shape;310;p17"/>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7"/>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COURSE LAUNCH</a:t>
            </a:r>
            <a:endParaRPr sz="1000">
              <a:solidFill>
                <a:schemeClr val="dk1"/>
              </a:solidFill>
              <a:latin typeface="Arial"/>
              <a:ea typeface="Arial"/>
              <a:cs typeface="Arial"/>
              <a:sym typeface="Arial"/>
            </a:endParaRPr>
          </a:p>
        </p:txBody>
      </p:sp>
      <p:sp>
        <p:nvSpPr>
          <p:cNvPr id="314" name="Google Shape;314;p17"/>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15" name="Google Shape;315;p17"/>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316" name="Google Shape;316;p17"/>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What Kind of Researcher Will You Be?</a:t>
            </a:r>
            <a:endParaRPr sz="2800">
              <a:solidFill>
                <a:schemeClr val="dk1"/>
              </a:solidFill>
              <a:latin typeface="Arial"/>
              <a:ea typeface="Arial"/>
              <a:cs typeface="Arial"/>
              <a:sym typeface="Arial"/>
            </a:endParaRPr>
          </a:p>
        </p:txBody>
      </p:sp>
      <p:sp>
        <p:nvSpPr>
          <p:cNvPr id="317" name="Google Shape;317;p17"/>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STARLAB needs many kinds of thinkers.</a:t>
            </a:r>
            <a:endParaRPr sz="1200">
              <a:solidFill>
                <a:schemeClr val="dk1"/>
              </a:solidFill>
              <a:latin typeface="Arial"/>
              <a:ea typeface="Arial"/>
              <a:cs typeface="Arial"/>
              <a:sym typeface="Arial"/>
            </a:endParaRPr>
          </a:p>
        </p:txBody>
      </p:sp>
      <p:cxnSp>
        <p:nvCxnSpPr>
          <p:cNvPr id="318" name="Google Shape;318;p17"/>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19" name="Google Shape;319;p17"/>
          <p:cNvSpPr/>
          <p:nvPr/>
        </p:nvSpPr>
        <p:spPr>
          <a:xfrm>
            <a:off x="914400" y="1737360"/>
            <a:ext cx="4572000" cy="420624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200">
                <a:solidFill>
                  <a:srgbClr val="FFFFFF"/>
                </a:solidFill>
                <a:latin typeface="Arial"/>
                <a:ea typeface="Arial"/>
                <a:cs typeface="Arial"/>
                <a:sym typeface="Arial"/>
              </a:rPr>
              <a:t>The builder</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The careful observer</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The coder</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The troubleshooter</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The organizer</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The communicator</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The question asker</a:t>
            </a:r>
            <a:endParaRPr sz="2200">
              <a:solidFill>
                <a:schemeClr val="dk1"/>
              </a:solidFill>
              <a:latin typeface="Arial"/>
              <a:ea typeface="Arial"/>
              <a:cs typeface="Arial"/>
              <a:sym typeface="Arial"/>
            </a:endParaRPr>
          </a:p>
        </p:txBody>
      </p:sp>
      <p:sp>
        <p:nvSpPr>
          <p:cNvPr id="320" name="Google Shape;320;p17"/>
          <p:cNvSpPr/>
          <p:nvPr/>
        </p:nvSpPr>
        <p:spPr>
          <a:xfrm>
            <a:off x="5669280" y="2377440"/>
            <a:ext cx="5212080"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Which role feels most like you right now?</a:t>
            </a:r>
            <a:endParaRPr sz="2800">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Which role do you want to grow into?</a:t>
            </a:r>
            <a:endParaRPr sz="28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25" name="Shape 325"/>
        <p:cNvGrpSpPr/>
        <p:nvPr/>
      </p:nvGrpSpPr>
      <p:grpSpPr>
        <a:xfrm>
          <a:off x="0" y="0"/>
          <a:ext cx="0" cy="0"/>
          <a:chOff x="0" y="0"/>
          <a:chExt cx="0" cy="0"/>
        </a:xfrm>
      </p:grpSpPr>
      <p:sp>
        <p:nvSpPr>
          <p:cNvPr id="326" name="Google Shape;326;p18"/>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330" name="Google Shape;330;p18"/>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31" name="Google Shape;331;p18"/>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332" name="Google Shape;332;p18"/>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Exit Reflection</a:t>
            </a:r>
            <a:endParaRPr sz="2800">
              <a:solidFill>
                <a:schemeClr val="dk1"/>
              </a:solidFill>
              <a:latin typeface="Arial"/>
              <a:ea typeface="Arial"/>
              <a:cs typeface="Arial"/>
              <a:sym typeface="Arial"/>
            </a:endParaRPr>
          </a:p>
        </p:txBody>
      </p:sp>
      <p:sp>
        <p:nvSpPr>
          <p:cNvPr id="333" name="Google Shape;333;p18"/>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5 minutes • Unit 1</a:t>
            </a:r>
            <a:endParaRPr sz="1200">
              <a:solidFill>
                <a:schemeClr val="dk1"/>
              </a:solidFill>
              <a:latin typeface="Arial"/>
              <a:ea typeface="Arial"/>
              <a:cs typeface="Arial"/>
              <a:sym typeface="Arial"/>
            </a:endParaRPr>
          </a:p>
        </p:txBody>
      </p:sp>
      <p:cxnSp>
        <p:nvCxnSpPr>
          <p:cNvPr id="334" name="Google Shape;334;p18"/>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35" name="Google Shape;335;p18"/>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337" name="Google Shape;337;p18"/>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100">
                <a:solidFill>
                  <a:srgbClr val="FFFFFF"/>
                </a:solidFill>
                <a:latin typeface="Arial"/>
                <a:ea typeface="Arial"/>
                <a:cs typeface="Arial"/>
                <a:sym typeface="Arial"/>
              </a:rPr>
              <a:t>Answer in 2–3 sentences: What makes STARLAB different from a normal science class?</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What habit will you need to practice first?</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Save your answer in your packet or research journal.</a:t>
            </a:r>
            <a:endParaRPr sz="21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42" name="Shape 342"/>
        <p:cNvGrpSpPr/>
        <p:nvPr/>
      </p:nvGrpSpPr>
      <p:grpSpPr>
        <a:xfrm>
          <a:off x="0" y="0"/>
          <a:ext cx="0" cy="0"/>
          <a:chOff x="0" y="0"/>
          <a:chExt cx="0" cy="0"/>
        </a:xfrm>
      </p:grpSpPr>
      <p:sp>
        <p:nvSpPr>
          <p:cNvPr id="343" name="Google Shape;343;p19"/>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9"/>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a:off x="411480" y="6236208"/>
            <a:ext cx="4023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NEXT STEP</a:t>
            </a:r>
            <a:endParaRPr sz="1000">
              <a:solidFill>
                <a:schemeClr val="dk1"/>
              </a:solidFill>
              <a:latin typeface="Arial"/>
              <a:ea typeface="Arial"/>
              <a:cs typeface="Arial"/>
              <a:sym typeface="Arial"/>
            </a:endParaRPr>
          </a:p>
        </p:txBody>
      </p:sp>
      <p:sp>
        <p:nvSpPr>
          <p:cNvPr id="347" name="Google Shape;347;p19"/>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48" name="Google Shape;348;p19"/>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01</a:t>
            </a:r>
            <a:endParaRPr sz="1100">
              <a:solidFill>
                <a:schemeClr val="dk1"/>
              </a:solidFill>
              <a:latin typeface="Arial"/>
              <a:ea typeface="Arial"/>
              <a:cs typeface="Arial"/>
              <a:sym typeface="Arial"/>
            </a:endParaRPr>
          </a:p>
        </p:txBody>
      </p:sp>
      <p:sp>
        <p:nvSpPr>
          <p:cNvPr id="349" name="Google Shape;349;p19"/>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Move from Curiosity to Possible Research Directions</a:t>
            </a:r>
            <a:endParaRPr sz="2800">
              <a:solidFill>
                <a:schemeClr val="dk1"/>
              </a:solidFill>
              <a:latin typeface="Arial"/>
              <a:ea typeface="Arial"/>
              <a:cs typeface="Arial"/>
              <a:sym typeface="Arial"/>
            </a:endParaRPr>
          </a:p>
        </p:txBody>
      </p:sp>
      <p:sp>
        <p:nvSpPr>
          <p:cNvPr id="350" name="Google Shape;350;p19"/>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Complete the Research Interest Inventory and bring your top five possible areas to the next class.</a:t>
            </a:r>
            <a:endParaRPr sz="1200">
              <a:solidFill>
                <a:schemeClr val="dk1"/>
              </a:solidFill>
              <a:latin typeface="Arial"/>
              <a:ea typeface="Arial"/>
              <a:cs typeface="Arial"/>
              <a:sym typeface="Arial"/>
            </a:endParaRPr>
          </a:p>
        </p:txBody>
      </p:sp>
      <p:cxnSp>
        <p:nvCxnSpPr>
          <p:cNvPr id="351" name="Google Shape;351;p19"/>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52" name="Google Shape;352;p19"/>
          <p:cNvSpPr/>
          <p:nvPr/>
        </p:nvSpPr>
        <p:spPr>
          <a:xfrm>
            <a:off x="914400" y="1965960"/>
            <a:ext cx="10332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2B27"/>
              </a:buClr>
              <a:buSzPts val="1400"/>
              <a:buFont typeface="Arial"/>
              <a:buNone/>
            </a:pPr>
            <a:r>
              <a:rPr b="1" lang="en-US" sz="1400">
                <a:solidFill>
                  <a:srgbClr val="E22B27"/>
                </a:solidFill>
                <a:latin typeface="Arial"/>
                <a:ea typeface="Arial"/>
                <a:cs typeface="Arial"/>
                <a:sym typeface="Arial"/>
              </a:rPr>
              <a:t>NEXT DECK</a:t>
            </a:r>
            <a:endParaRPr sz="1400">
              <a:solidFill>
                <a:schemeClr val="dk1"/>
              </a:solidFill>
              <a:latin typeface="Arial"/>
              <a:ea typeface="Arial"/>
              <a:cs typeface="Arial"/>
              <a:sym typeface="Arial"/>
            </a:endParaRPr>
          </a:p>
        </p:txBody>
      </p:sp>
      <p:sp>
        <p:nvSpPr>
          <p:cNvPr id="353" name="Google Shape;353;p19"/>
          <p:cNvSpPr/>
          <p:nvPr/>
        </p:nvSpPr>
        <p:spPr>
          <a:xfrm>
            <a:off x="914400" y="2514600"/>
            <a:ext cx="103327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Play"/>
              <a:buNone/>
            </a:pPr>
            <a:r>
              <a:rPr b="1" lang="en-US" sz="3400">
                <a:solidFill>
                  <a:srgbClr val="FFFFFF"/>
                </a:solidFill>
                <a:latin typeface="Play"/>
                <a:ea typeface="Play"/>
                <a:cs typeface="Play"/>
                <a:sym typeface="Play"/>
              </a:rPr>
              <a:t>FROM TOPIC TO RESEARCH QUESTION</a:t>
            </a:r>
            <a:endParaRPr sz="3400">
              <a:solidFill>
                <a:schemeClr val="dk1"/>
              </a:solidFill>
              <a:latin typeface="Arial"/>
              <a:ea typeface="Arial"/>
              <a:cs typeface="Arial"/>
              <a:sym typeface="Arial"/>
            </a:endParaRPr>
          </a:p>
        </p:txBody>
      </p:sp>
      <p:sp>
        <p:nvSpPr>
          <p:cNvPr id="354" name="Google Shape;354;p19"/>
          <p:cNvSpPr/>
          <p:nvPr/>
        </p:nvSpPr>
        <p:spPr>
          <a:xfrm>
            <a:off x="1828800" y="3657600"/>
            <a:ext cx="8503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B8B8"/>
              </a:buClr>
              <a:buSzPts val="2000"/>
              <a:buFont typeface="Arial"/>
              <a:buNone/>
            </a:pPr>
            <a:r>
              <a:rPr lang="en-US" sz="2000">
                <a:solidFill>
                  <a:srgbClr val="B8B8B8"/>
                </a:solidFill>
                <a:latin typeface="Arial"/>
                <a:ea typeface="Arial"/>
                <a:cs typeface="Arial"/>
                <a:sym typeface="Arial"/>
              </a:rPr>
              <a:t>You will learn how to turn broad curiosity into a question, problem, or design challenge that can produce evidence.</a:t>
            </a:r>
            <a:endParaRPr sz="20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