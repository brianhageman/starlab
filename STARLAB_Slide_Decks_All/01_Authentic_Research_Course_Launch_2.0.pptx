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0a963360fbf4f2c" /><Relationship Type="http://schemas.openxmlformats.org/officeDocument/2006/relationships/extended-properties" Target="/docProps/app.xml" Id="R74f59b68b99a4ba6" /><Relationship Type="http://schemas.openxmlformats.org/officeDocument/2006/relationships/officeDocument" Target="/ppt/presentation.xml" Id="R07c17f2ba1f44187"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54730afca3ba45fd"/>
  </p:sldMasterIdLst>
  <p:notesMasterIdLst>
    <p:notesMasterId xmlns:r="http://schemas.openxmlformats.org/officeDocument/2006/relationships" r:id="Rf092ef74e71744df"/>
  </p:notesMasterIdLst>
  <p:sldIdLst>
    <p:sldId xmlns:r="http://schemas.openxmlformats.org/officeDocument/2006/relationships" id="256" r:id="Rab9a0bd7e5604bff"/>
    <p:sldId xmlns:r="http://schemas.openxmlformats.org/officeDocument/2006/relationships" id="257" r:id="R5842c8fc804641ff"/>
    <p:sldId xmlns:r="http://schemas.openxmlformats.org/officeDocument/2006/relationships" id="258" r:id="R6c6d669f7668486d"/>
    <p:sldId xmlns:r="http://schemas.openxmlformats.org/officeDocument/2006/relationships" id="259" r:id="Rc89a12652cba4c6e"/>
    <p:sldId xmlns:r="http://schemas.openxmlformats.org/officeDocument/2006/relationships" id="260" r:id="R21ef88f8101749bf"/>
    <p:sldId xmlns:r="http://schemas.openxmlformats.org/officeDocument/2006/relationships" id="261" r:id="Re88ac5868ba047fd"/>
    <p:sldId xmlns:r="http://schemas.openxmlformats.org/officeDocument/2006/relationships" id="262" r:id="R68db974db7ae426c"/>
    <p:sldId xmlns:r="http://schemas.openxmlformats.org/officeDocument/2006/relationships" id="263" r:id="Rc33a6edf03f5429a"/>
    <p:sldId xmlns:r="http://schemas.openxmlformats.org/officeDocument/2006/relationships" id="264" r:id="Rca6fe907d4374b08"/>
    <p:sldId xmlns:r="http://schemas.openxmlformats.org/officeDocument/2006/relationships" id="265" r:id="R0387ac118b394f51"/>
    <p:sldId xmlns:r="http://schemas.openxmlformats.org/officeDocument/2006/relationships" id="266" r:id="Re02332909dac4046"/>
    <p:sldId xmlns:r="http://schemas.openxmlformats.org/officeDocument/2006/relationships" id="267" r:id="Ra9f574d0ba8048fa"/>
    <p:sldId xmlns:r="http://schemas.openxmlformats.org/officeDocument/2006/relationships" id="268" r:id="R5f9becf0574d44b6"/>
    <p:sldId xmlns:r="http://schemas.openxmlformats.org/officeDocument/2006/relationships" id="269" r:id="R36b947b2e0414b5a"/>
    <p:sldId xmlns:r="http://schemas.openxmlformats.org/officeDocument/2006/relationships" id="270" r:id="R8ac875f1f1e04aea"/>
    <p:sldId xmlns:r="http://schemas.openxmlformats.org/officeDocument/2006/relationships" id="271" r:id="Rb7e73ddba9804d19"/>
    <p:sldId xmlns:r="http://schemas.openxmlformats.org/officeDocument/2006/relationships" id="272" r:id="R387f0808bfc64bf6"/>
  </p:sldIdLst>
  <p:sldSz cx="12192000" cy="6858000"/>
  <p:notesSz cx="6858000" cy="9144000"/>
  <p:embeddedFontLst>
    <p:embeddedFont>
      <p:font typeface="Play"/>
      <p:regular xmlns:r="http://schemas.openxmlformats.org/officeDocument/2006/relationships" r:id="Rf29e73e84c8c4f1c"/>
      <p:bold xmlns:r="http://schemas.openxmlformats.org/officeDocument/2006/relationships" r:id="R74656550488f44e6"/>
    </p:embeddedFont>
  </p:embeddedFontLst>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1970e491e1e4360" /><Relationship Type="http://schemas.openxmlformats.org/officeDocument/2006/relationships/slideMaster" Target="/ppt/slideMasters/slideMaster1.xml" Id="R54730afca3ba45fd" /><Relationship Type="http://schemas.openxmlformats.org/officeDocument/2006/relationships/notesMaster" Target="/ppt/notesMasters/notesMaster1.xml" Id="Rf092ef74e71744df" /><Relationship Type="http://schemas.openxmlformats.org/officeDocument/2006/relationships/presProps" Target="/ppt/presProps.xml" Id="R0b5dda588bbe4c39" /><Relationship Type="http://schemas.openxmlformats.org/officeDocument/2006/relationships/tableStyles" Target="/ppt/tableStyles.xml" Id="Rc4c565b792dd4437" /><Relationship Type="http://schemas.openxmlformats.org/officeDocument/2006/relationships/font" Target="/ppt/fonts/font.dat" Id="Rf29e73e84c8c4f1c" /><Relationship Type="http://schemas.openxmlformats.org/officeDocument/2006/relationships/font" Target="/ppt/fonts/font2.dat" Id="R74656550488f44e6" /><Relationship Type="http://schemas.openxmlformats.org/officeDocument/2006/relationships/slide" Target="/ppt/slides/slide1.xml" Id="Rab9a0bd7e5604bff" /><Relationship Type="http://schemas.openxmlformats.org/officeDocument/2006/relationships/slide" Target="/ppt/slides/slide2.xml" Id="R5842c8fc804641ff" /><Relationship Type="http://schemas.openxmlformats.org/officeDocument/2006/relationships/slide" Target="/ppt/slides/slide3.xml" Id="R6c6d669f7668486d" /><Relationship Type="http://schemas.openxmlformats.org/officeDocument/2006/relationships/slide" Target="/ppt/slides/slide4.xml" Id="Rc89a12652cba4c6e" /><Relationship Type="http://schemas.openxmlformats.org/officeDocument/2006/relationships/slide" Target="/ppt/slides/slide5.xml" Id="R21ef88f8101749bf" /><Relationship Type="http://schemas.openxmlformats.org/officeDocument/2006/relationships/slide" Target="/ppt/slides/slide6.xml" Id="Re88ac5868ba047fd" /><Relationship Type="http://schemas.openxmlformats.org/officeDocument/2006/relationships/slide" Target="/ppt/slides/slide7.xml" Id="R68db974db7ae426c" /><Relationship Type="http://schemas.openxmlformats.org/officeDocument/2006/relationships/slide" Target="/ppt/slides/slide8.xml" Id="Rc33a6edf03f5429a" /><Relationship Type="http://schemas.openxmlformats.org/officeDocument/2006/relationships/slide" Target="/ppt/slides/slide9.xml" Id="Rca6fe907d4374b08" /><Relationship Type="http://schemas.openxmlformats.org/officeDocument/2006/relationships/slide" Target="/ppt/slides/slide10.xml" Id="R0387ac118b394f51" /><Relationship Type="http://schemas.openxmlformats.org/officeDocument/2006/relationships/slide" Target="/ppt/slides/slide11.xml" Id="Re02332909dac4046" /><Relationship Type="http://schemas.openxmlformats.org/officeDocument/2006/relationships/slide" Target="/ppt/slides/slide12.xml" Id="Ra9f574d0ba8048fa" /><Relationship Type="http://schemas.openxmlformats.org/officeDocument/2006/relationships/slide" Target="/ppt/slides/slide13.xml" Id="R5f9becf0574d44b6" /><Relationship Type="http://schemas.openxmlformats.org/officeDocument/2006/relationships/slide" Target="/ppt/slides/slide14.xml" Id="R36b947b2e0414b5a" /><Relationship Type="http://schemas.openxmlformats.org/officeDocument/2006/relationships/slide" Target="/ppt/slides/slide15.xml" Id="R8ac875f1f1e04aea" /><Relationship Type="http://schemas.openxmlformats.org/officeDocument/2006/relationships/slide" Target="/ppt/slides/slide16.xml" Id="Rb7e73ddba9804d19" /><Relationship Type="http://schemas.openxmlformats.org/officeDocument/2006/relationships/slide" Target="/ppt/slides/slide17.xml" Id="R387f0808bfc64bf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928e29dbbd0409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9b29beefe714ed0" /><Relationship Type="http://schemas.openxmlformats.org/officeDocument/2006/relationships/notesMaster" Target="/ppt/notesMasters/notesMaster1.xml" Id="R307b14f0f0474836" /></Relationships>
</file>

<file path=ppt/notesSlides/_rels/notesSlide2.xml.rels>&#65279;<?xml version="1.0" encoding="utf-8"?><Relationships xmlns="http://schemas.openxmlformats.org/package/2006/relationships"><Relationship Type="http://schemas.openxmlformats.org/officeDocument/2006/relationships/slide" Target="/ppt/slides/slide2.xml" Id="R9228b021c06b4813" /><Relationship Type="http://schemas.openxmlformats.org/officeDocument/2006/relationships/notesMaster" Target="/ppt/notesMasters/notesMaster1.xml" Id="R5746ab4bb8804155" /></Relationships>
</file>

<file path=ppt/notesSlides/_rels/notesSlide3.xml.rels>&#65279;<?xml version="1.0" encoding="utf-8"?><Relationships xmlns="http://schemas.openxmlformats.org/package/2006/relationships"><Relationship Type="http://schemas.openxmlformats.org/officeDocument/2006/relationships/slide" Target="/ppt/slides/slide3.xml" Id="Rc9d20f02598f43e6" /><Relationship Type="http://schemas.openxmlformats.org/officeDocument/2006/relationships/notesMaster" Target="/ppt/notesMasters/notesMaster1.xml" Id="R7203d220dea6474f" /></Relationships>
</file>

<file path=ppt/notesSlides/_rels/notesSlide4.xml.rels>&#65279;<?xml version="1.0" encoding="utf-8"?><Relationships xmlns="http://schemas.openxmlformats.org/package/2006/relationships"><Relationship Type="http://schemas.openxmlformats.org/officeDocument/2006/relationships/slide" Target="/ppt/slides/slide4.xml" Id="R0f3743ea62a44cfb" /><Relationship Type="http://schemas.openxmlformats.org/officeDocument/2006/relationships/notesMaster" Target="/ppt/notesMasters/notesMaster1.xml" Id="R096f6cc3a0d74266" /></Relationships>
</file>

<file path=ppt/notesSlides/_rels/notesSlide5.xml.rels>&#65279;<?xml version="1.0" encoding="utf-8"?><Relationships xmlns="http://schemas.openxmlformats.org/package/2006/relationships"><Relationship Type="http://schemas.openxmlformats.org/officeDocument/2006/relationships/slide" Target="/ppt/slides/slide5.xml" Id="R6c14d85a20b24c90" /><Relationship Type="http://schemas.openxmlformats.org/officeDocument/2006/relationships/notesMaster" Target="/ppt/notesMasters/notesMaster1.xml" Id="R244af118a0054f15" /></Relationships>
</file>

<file path=ppt/notesSlides/_rels/notesSlide6.xml.rels>&#65279;<?xml version="1.0" encoding="utf-8"?><Relationships xmlns="http://schemas.openxmlformats.org/package/2006/relationships"><Relationship Type="http://schemas.openxmlformats.org/officeDocument/2006/relationships/slide" Target="/ppt/slides/slide6.xml" Id="Re0031d2ecaba4d01" /><Relationship Type="http://schemas.openxmlformats.org/officeDocument/2006/relationships/notesMaster" Target="/ppt/notesMasters/notesMaster1.xml" Id="Rf8bc065b654c4cdc" /></Relationships>
</file>

<file path=ppt/notesSlides/_rels/notesSlide7.xml.rels>&#65279;<?xml version="1.0" encoding="utf-8"?><Relationships xmlns="http://schemas.openxmlformats.org/package/2006/relationships"><Relationship Type="http://schemas.openxmlformats.org/officeDocument/2006/relationships/slide" Target="/ppt/slides/slide7.xml" Id="R0a1846c5f959404c" /><Relationship Type="http://schemas.openxmlformats.org/officeDocument/2006/relationships/notesMaster" Target="/ppt/notesMasters/notesMaster1.xml" Id="R5de8f1682fe14bf8" /></Relationships>
</file>

<file path=ppt/notesSlides/_rels/notesSlide8.xml.rels>&#65279;<?xml version="1.0" encoding="utf-8"?><Relationships xmlns="http://schemas.openxmlformats.org/package/2006/relationships"><Relationship Type="http://schemas.openxmlformats.org/officeDocument/2006/relationships/slide" Target="/ppt/slides/slide8.xml" Id="R7bc519a537f24052" /><Relationship Type="http://schemas.openxmlformats.org/officeDocument/2006/relationships/notesMaster" Target="/ppt/notesMasters/notesMaster1.xml" Id="Reaf971ec738a4f69" /></Relationships>
</file>

<file path=ppt/notesSlides/_rels/notesSlide9.xml.rels>&#65279;<?xml version="1.0" encoding="utf-8"?><Relationships xmlns="http://schemas.openxmlformats.org/package/2006/relationships"><Relationship Type="http://schemas.openxmlformats.org/officeDocument/2006/relationships/slide" Target="/ppt/slides/slide9.xml" Id="R7bd57d9be45b405d" /><Relationship Type="http://schemas.openxmlformats.org/officeDocument/2006/relationships/notesMaster" Target="/ppt/notesMasters/notesMaster1.xml" Id="R3df8b865683a455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dd725b49f23427a" /><Relationship Type="http://schemas.openxmlformats.org/officeDocument/2006/relationships/notesMaster" Target="/ppt/notesMasters/notesMaster1.xml" Id="Rd7d5d354c327459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70603aa21134ebe" /><Relationship Type="http://schemas.openxmlformats.org/officeDocument/2006/relationships/notesMaster" Target="/ppt/notesMasters/notesMaster1.xml" Id="Rf622acb4856c475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2de56262b69428c" /><Relationship Type="http://schemas.openxmlformats.org/officeDocument/2006/relationships/notesMaster" Target="/ppt/notesMasters/notesMaster1.xml" Id="R56d2dbcc0676460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66038408d544d17" /><Relationship Type="http://schemas.openxmlformats.org/officeDocument/2006/relationships/notesMaster" Target="/ppt/notesMasters/notesMaster1.xml" Id="R48dbe363e44948e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e4d46d017dc4a5a" /><Relationship Type="http://schemas.openxmlformats.org/officeDocument/2006/relationships/notesMaster" Target="/ppt/notesMasters/notesMaster1.xml" Id="Rf0333f968e2f4ee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f2600ddd38e4d12" /><Relationship Type="http://schemas.openxmlformats.org/officeDocument/2006/relationships/notesMaster" Target="/ppt/notesMasters/notesMaster1.xml" Id="R82cf517970d24b4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590fa4627664342" /><Relationship Type="http://schemas.openxmlformats.org/officeDocument/2006/relationships/notesMaster" Target="/ppt/notesMasters/notesMaster1.xml" Id="R1b1ba5eb0ccd436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38b5df6fdb54bbe" /><Relationship Type="http://schemas.openxmlformats.org/officeDocument/2006/relationships/notesMaster" Target="/ppt/notesMasters/notesMaster1.xml" Id="R174aaecf981a401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PRIMARY TEACHING MOMENT</a:t>
            </a:r>
          </a:p>
          <a:p xmlns:a="http://schemas.openxmlformats.org/drawingml/2006/main">
            <a:pPr marL="0" indent="0" algn="l">
              <a:spcBef>
                <a:spcPts val="0"/>
              </a:spcBef>
              <a:spcAft>
                <a:spcPts val="0"/>
              </a:spcAft>
              <a:buNone/>
            </a:pPr>
            <a:r>
              <a:t>Unit 1, Week 1</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PAIRED DECK</a:t>
            </a:r>
          </a:p>
          <a:p xmlns:a="http://schemas.openxmlformats.org/drawingml/2006/main">
            <a:pPr marL="0" indent="0" algn="l">
              <a:spcBef>
                <a:spcPts val="0"/>
              </a:spcBef>
              <a:spcAft>
                <a:spcPts val="0"/>
              </a:spcAft>
              <a:buNone/>
            </a:pPr>
            <a:r>
              <a:t>Deck 3: Research Ethics, Safety, and Integrity</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REQUIRED WEEK 1 MATERIALS</a:t>
            </a:r>
          </a:p>
          <a:p xmlns:a="http://schemas.openxmlformats.org/drawingml/2006/main">
            <a:pPr marL="0" indent="0" algn="l">
              <a:spcBef>
                <a:spcPts val="0"/>
              </a:spcBef>
              <a:spcAft>
                <a:spcPts val="0"/>
              </a:spcAft>
              <a:buNone/>
            </a:pPr>
            <a:r>
              <a:t>Shared weekly packet for Decks 1 and 3:</a:t>
            </a:r>
          </a:p>
          <a:p xmlns:a="http://schemas.openxmlformats.org/drawingml/2006/main">
            <a:pPr marL="0" indent="0" algn="l">
              <a:spcBef>
                <a:spcPts val="0"/>
              </a:spcBef>
              <a:spcAft>
                <a:spcPts val="0"/>
              </a:spcAft>
              <a:buNone/>
            </a:pPr>
            <a:r>
              <a:t>- Unit 1 Student Handouts 1-4</a:t>
            </a:r>
          </a:p>
          <a:p xmlns:a="http://schemas.openxmlformats.org/drawingml/2006/main">
            <a:pPr marL="0" indent="0" algn="l">
              <a:spcBef>
                <a:spcPts val="0"/>
              </a:spcBef>
              <a:spcAft>
                <a:spcPts val="0"/>
              </a:spcAft>
              <a:buNone/>
            </a:pPr>
            <a:r>
              <a:t>- Unit 1 Appendices A-C</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OPTIONAL / TEACHER REFERENCE</a:t>
            </a:r>
          </a:p>
          <a:p xmlns:a="http://schemas.openxmlformats.org/drawingml/2006/main">
            <a:pPr marL="0" indent="0" algn="l">
              <a:spcBef>
                <a:spcPts val="0"/>
              </a:spcBef>
              <a:spcAft>
                <a:spcPts val="0"/>
              </a:spcAft>
              <a:buNone/>
            </a:pPr>
            <a:r>
              <a:t>- STARLAB syllabus or course overview</a:t>
            </a:r>
          </a:p>
          <a:p xmlns:a="http://schemas.openxmlformats.org/drawingml/2006/main">
            <a:pPr marL="0" indent="0" algn="l">
              <a:spcBef>
                <a:spcPts val="0"/>
              </a:spcBef>
              <a:spcAft>
                <a:spcPts val="0"/>
              </a:spcAft>
              <a:buNone/>
            </a:pPr>
            <a:r>
              <a:t>- Student onboarding packet, if used locally</a:t>
            </a:r>
          </a:p>
          <a:p xmlns:a="http://schemas.openxmlformats.org/drawingml/2006/main">
            <a:pPr marL="0" indent="0" algn="l">
              <a:spcBef>
                <a:spcPts val="0"/>
              </a:spcBef>
              <a:spcAft>
                <a:spcPts val="0"/>
              </a:spcAft>
              <a:buNone/>
            </a:pPr>
            <a:r>
              <a:t/>
            </a:r>
          </a:p>
          <a:p xmlns:a="http://schemas.openxmlformats.org/drawingml/2006/main">
            <a:pPr marL="0" indent="0" algn="l">
              <a:spcBef>
                <a:spcPts val="0"/>
              </a:spcBef>
              <a:spcAft>
                <a:spcPts val="0"/>
              </a:spcAft>
              <a:buNone/>
            </a:pPr>
            <a:r>
              <a:t>RESOURCE ALIGNMENT</a:t>
            </a:r>
          </a:p>
          <a:p xmlns:a="http://schemas.openxmlformats.org/drawingml/2006/main">
            <a:pPr marL="0" indent="0" algn="l">
              <a:spcBef>
                <a:spcPts val="0"/>
              </a:spcBef>
              <a:spcAft>
                <a:spcPts val="0"/>
              </a:spcAft>
              <a:buNone/>
            </a:pPr>
            <a:r>
              <a:t>The implementation calendar is the source of truth for week, deck, and print mappings. Preview all Week 1 materials before launching the course.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Frame this as orientation to a research culture. Ask students to listen for what feels exciting and what feels intimidating.</a:t>
            </a:r>
            <a:br/>
            <a:br/>
            <a:r>
              <a:t>Resource alignment:</a:t>
            </a:r>
            <a:br/>
            <a:r>
              <a:t>Use Unit 1 Student Handout 1: STARLAB Course Launch Reflection, especially Part A: Initial Reactions. Reference Unit 1 Appendix B: STARLAB Classroom Norms.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Do not imply that classroom labs are bad. Emphasize that they serve a different purpose. Student activity: ask students to name one lab they have done and identify whether the outcome was already known.</a:t>
            </a:r>
            <a:br/>
            <a:br/>
            <a:r>
              <a:t>Resource alignment:</a:t>
            </a:r>
            <a:br/>
            <a:r>
              <a:t>Reference Unit 1 Appendix A: What Counts as Research? Use this as students compare traditional labs, demonstrations, engineering builds, and authentic research.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Connect to syllabus units. Stress that revisions are expected and legitimate. Ask students to identify which stage they think will be easiest and hardest, then record it in the launch reflection.</a:t>
            </a:r>
            <a:br/>
            <a:br/>
            <a:r>
              <a:t>Resource alignment:</a:t>
            </a:r>
            <a:br/>
            <a:r>
              <a:t>Use Unit 1 Student Handout 1: STARLAB Course Launch Reflection. Reference Unit 1 Appendix B: STARLAB Classroom Norms, especially uncertainty, documentation, and 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slide is a conceptual anchor. Repeat “What does the evidence allow me to claim?” throughout the course. Student-facing prompt: Which of these questions do you usually ask in school? Which will STARLAB require?</a:t>
            </a:r>
            <a:br/>
            <a:br/>
            <a:r>
              <a:t>Resource alignment:</a:t>
            </a:r>
            <a:br/>
            <a:r>
              <a:t>Use with Unit 1 Student Handout 1: STARLAB Course Launch Reflection. Connect to Unit 1 Appendix B: STARLAB Classroom Norms.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Use examples from your own school if available. Avoid suggesting that every student must do a wet lab experiment.</a:t>
            </a:r>
            <a:br/>
            <a:br/>
            <a:r>
              <a:t>Resource alignment:</a:t>
            </a:r>
            <a:br/>
            <a:r>
              <a:t>Use Unit 1 Student Handout 3: Research Interest Inventory, especially Part D: Research Fields. Reference Unit 1 Appendix C: Research Fields and Topic Bank.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These four markers become recurring course language. Ask students to pick the marker that feels most challenging and explain why.</a:t>
            </a:r>
            <a:br/>
            <a:br/>
            <a:r>
              <a:t>Resource alignment:</a:t>
            </a:r>
            <a:br/>
            <a:r>
              <a:t>Reference Unit 1 Appendix A: What Counts as Research? and Unit 1 Appendix B: STARLAB Classroom Norms.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Circulate and listen for misconceptions: “research means Googling,” “research means proving my idea,” or “research must be in a lab.”</a:t>
            </a:r>
            <a:br/>
            <a:br/>
            <a:r>
              <a:t>Resource alignment:</a:t>
            </a:r>
            <a:br/>
            <a:r>
              <a:t>Use Unit 1 Student Handout 1: STARLAB Course Launch Reflection, Part A. Reference Unit 1 Appendix A: What Counts as Research?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Adapt example to your local safety constraints. The point is not this exact question; it is the narrowing move. Invite students to identify what became more measurable.</a:t>
            </a:r>
            <a:br/>
            <a:br/>
            <a:r>
              <a:t>Resource alignment:</a:t>
            </a:r>
            <a:br/>
            <a:r>
              <a:t>Reference Unit 1 Appendix A: What Counts as Research? and Unit 1 Appendix C: Research Fields and Topic Bank. This prepares students for Unit 1 Student Handout 3: Research Interest Inventory and Deck 2: From Topic to Research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Normalize failure early. This reduces anxiety later in Unit 3. Student prompt: “What is one type of failure that could actually help a project?”</a:t>
            </a:r>
            <a:br/>
            <a:br/>
            <a:r>
              <a:t>Resource alignment:</a:t>
            </a:r>
            <a:br/>
            <a:r>
              <a:t>Use with Unit 1 Appendix B: STARLAB Classroom Norms. Connects later to Unit 3 pilot testing, troubleshooting, and research journal expectations.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This foreshadows Unit 3. Do not teach the full journal system here; simply establish that careful notes are part of the identity of a researcher.</a:t>
            </a:r>
            <a:br/>
            <a:br/>
            <a:r>
              <a:t>Resource alignment:</a:t>
            </a:r>
            <a:br/>
            <a:r>
              <a:t>Use with Unit 1 Appendix B: STARLAB Classroom Norms. Preview Unit 3 Student Handout 2: Research Journal Setup and Unit 3 Student Handout 3: Daily Research Journal Entry Template.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Keep this firm but not fear-based. Full safety and ethics instruction comes later.</a:t>
            </a:r>
            <a:br/>
            <a:br/>
            <a:r>
              <a:t>Resource alignment:</a:t>
            </a:r>
            <a:br/>
            <a:r>
              <a:t>Use Unit 1 Student Handout 4: Research Ethics and Integrity Agreement. This also previews Deck 3: Research Ethics, Safety, and Integrity.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Give pairs 6–10 sample project cards. Debrief by asking which ideas were interesting but unsafe, vague, or unmeasurable.</a:t>
            </a:r>
            <a:br/>
            <a:br/>
            <a:r>
              <a:t>Resource alignment:</a:t>
            </a:r>
            <a:br/>
            <a:r>
              <a:t>Use Unit 1 Appendix I: Optional Project Card Sorting Activity. Also reference Unit 1 Appendix A: What Counts as Research?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Lower the pressure. Students often feel they must choose their final topic immediately. Clarify that Unit 1 expands possibilities before Unit 2 narrows them.</a:t>
            </a:r>
            <a:br/>
            <a:br/>
            <a:r>
              <a:t>Resource alignment:</a:t>
            </a:r>
            <a:br/>
            <a:r>
              <a:t>Use Unit 1 Student Handout 1: STARLAB Course Launch Reflection, Unit 1 Student Handout 2: Science Identity and Skills Inventory, and Unit 1 Student Handout 3: Research Interest Inventory.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Invite students to recognize nontraditional strengths. This helps students who do not identify as “science kids” see a place in STARLAB.</a:t>
            </a:r>
            <a:br/>
            <a:br/>
            <a:r>
              <a:t>Resource alignment:</a:t>
            </a:r>
            <a:br/>
            <a:r>
              <a:t>Use Unit 1 Student Handout 2: Science Identity and Skills Inventory. Reference Unit 1 Appendix B: STARLAB Classroom Norms.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Collect as formative data or have students keep it in the packet. Look for whether students understand uncertainty, evidence, revision, and documentation. Close with a clear assignment: complete the Research Interest Inventory and bring top five possible areas to the next class.</a:t>
            </a:r>
            <a:br/>
            <a:br/>
            <a:r>
              <a:t>Resource alignment:</a:t>
            </a:r>
            <a:br/>
            <a:r>
              <a:t>Use Unit 1 Student Handout 1: STARLAB Course Launch Reflection and Unit 1 Student Handout 3: Research Interest Inventory. Next deck connection: Deck 2: From Topic to Research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Teacher notes:</a:t>
            </a:r>
            <a:br/>
            <a:r>
              <a:t>Close with a clear assignment. Do not ask students to finalize a project yet. The next deck addresses moving from topic to research question.</a:t>
            </a:r>
            <a:br/>
            <a:br/>
            <a:r>
              <a:t>Resource alignment:</a:t>
            </a:r>
            <a:br/>
            <a:r>
              <a:t>Use Unit 1 Student Handout 3: Research Interest Inventory. Next deck connection: Deck 2: From Topic to Research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920aaf85ad04441"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f66d97858da4af6" /><Relationship Type="http://schemas.openxmlformats.org/officeDocument/2006/relationships/slideLayout" Target="/ppt/slideLayouts/slideLayout1.xml" Id="Ra4a07e177e304fbd"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a4a07e177e304fbd"/>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8af05ba21ba43de" /><Relationship Type="http://schemas.openxmlformats.org/officeDocument/2006/relationships/image" Target="/ppt/media/image.png" Id="Re07cd42d0f8e4d27" /><Relationship Type="http://schemas.openxmlformats.org/officeDocument/2006/relationships/notesSlide" Target="/ppt/notesSlides/notesSlide1.xml" Id="R17cbb195b8494f6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0e55233f3b44d0a" /><Relationship Type="http://schemas.openxmlformats.org/officeDocument/2006/relationships/notesSlide" Target="/ppt/notesSlides/notesSlide2.xml" Id="R1e366cbce3f14fb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e93d405cae44aa1" /><Relationship Type="http://schemas.openxmlformats.org/officeDocument/2006/relationships/notesSlide" Target="/ppt/notesSlides/notesSlide3.xml" Id="R11cda6edb4d4470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022f7bc6c99432a" /><Relationship Type="http://schemas.openxmlformats.org/officeDocument/2006/relationships/notesSlide" Target="/ppt/notesSlides/notesSlide4.xml" Id="Rf28b6c15f36a41e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24fa1d2763a4736" /><Relationship Type="http://schemas.openxmlformats.org/officeDocument/2006/relationships/notesSlide" Target="/ppt/notesSlides/notesSlide5.xml" Id="Rf8aec695f946413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34ffc3fb12f4ff1" /><Relationship Type="http://schemas.openxmlformats.org/officeDocument/2006/relationships/notesSlide" Target="/ppt/notesSlides/notesSlide6.xml" Id="R567290ddc4e94d5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1d0cb2456fa4ff8" /><Relationship Type="http://schemas.openxmlformats.org/officeDocument/2006/relationships/notesSlide" Target="/ppt/notesSlides/notesSlide7.xml" Id="Rfe6b5094ba894c4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3016a90f9dd44fe" /><Relationship Type="http://schemas.openxmlformats.org/officeDocument/2006/relationships/notesSlide" Target="/ppt/notesSlides/notesSlide8.xml" Id="Rfe311264d0fb48b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f27e2cd8e5445f1" /><Relationship Type="http://schemas.openxmlformats.org/officeDocument/2006/relationships/notesSlide" Target="/ppt/notesSlides/notesSlide9.xml" Id="R3c93066f92234e2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103f283c5ee4b9a" /><Relationship Type="http://schemas.openxmlformats.org/officeDocument/2006/relationships/notesSlide" Target="/ppt/notesSlides/notesSlide10.xml" Id="Rae4541da9960445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5ecdff1ee9a48e2" /><Relationship Type="http://schemas.openxmlformats.org/officeDocument/2006/relationships/notesSlide" Target="/ppt/notesSlides/notesSlide11.xml" Id="R1ccb522136c1402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fd09d1832584feb" /><Relationship Type="http://schemas.openxmlformats.org/officeDocument/2006/relationships/notesSlide" Target="/ppt/notesSlides/notesSlide12.xml" Id="R50dd0e2297bc42b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17155d2723f4a21" /><Relationship Type="http://schemas.openxmlformats.org/officeDocument/2006/relationships/notesSlide" Target="/ppt/notesSlides/notesSlide13.xml" Id="R66dda1b84cd2495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0e6ce1ebf76446b" /><Relationship Type="http://schemas.openxmlformats.org/officeDocument/2006/relationships/notesSlide" Target="/ppt/notesSlides/notesSlide14.xml" Id="Refb061a7182e421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9b896b60aa244c9" /><Relationship Type="http://schemas.openxmlformats.org/officeDocument/2006/relationships/notesSlide" Target="/ppt/notesSlides/notesSlide15.xml" Id="R567036d1774e45e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7c436b05e064dee" /><Relationship Type="http://schemas.openxmlformats.org/officeDocument/2006/relationships/notesSlide" Target="/ppt/notesSlides/notesSlide16.xml" Id="R1c21e45d2e204f9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c7badef90f041ef" /><Relationship Type="http://schemas.openxmlformats.org/officeDocument/2006/relationships/notesSlide" Target="/ppt/notesSlides/notesSlide17.xml" Id="Ra1e717b8c2344bee" /></Relationships>
</file>

<file path=ppt/slides/slide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03024C02-1ED6-4272-B5BC-73FFDDDD4EF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 name="Google Shape;17;p3">
            <a:extLst xmlns:a="http://schemas.openxmlformats.org/drawingml/2006/main">
              <a:ext uri="{FF2B5EF4-FFF2-40B4-BE49-F238E27FC236}">
                <a16:creationId xmlns:a16="http://schemas.microsoft.com/office/drawing/2014/main" id="{4AF1C69A-EA00-4DAD-AF4E-5FBC9280B5C7}"/>
              </a:ext>
            </a:extLst>
          </p:cNvPr>
          <p:cNvSpPr>
            <a:spLocks xmlns:a="http://schemas.openxmlformats.org/drawingml/2006/main" noGrp="1"/>
          </p:cNvSpPr>
          <p:nvPr/>
        </p:nvSpPr>
        <p:spPr>
          <a:xfrm xmlns:a="http://schemas.openxmlformats.org/drawingml/2006/main">
            <a:off x="0" y="219456"/>
            <a:ext cx="12191695" cy="82296"/>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 name="Google Shape;18;p3">
            <a:extLst xmlns:a="http://schemas.openxmlformats.org/drawingml/2006/main">
              <a:ext uri="{FF2B5EF4-FFF2-40B4-BE49-F238E27FC236}">
                <a16:creationId xmlns:a16="http://schemas.microsoft.com/office/drawing/2014/main" id="{40EE87F8-A13B-4FD6-9EA7-99A1AFAD9E49}"/>
              </a:ext>
            </a:extLst>
          </p:cNvPr>
          <p:cNvSpPr>
            <a:spLocks xmlns:a="http://schemas.openxmlformats.org/drawingml/2006/main" noGrp="1"/>
          </p:cNvSpPr>
          <p:nvPr/>
        </p:nvSpPr>
        <p:spPr>
          <a:xfrm xmlns:a="http://schemas.openxmlformats.org/drawingml/2006/main">
            <a:off x="0" y="6565392"/>
            <a:ext cx="12191695" cy="82296"/>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pic>
        <p:nvPicPr>
          <p:cNvPr id="27" name="Google Shape;19;p3"/>
          <p:cNvPicPr>
            <a:picLocks xmlns:a="http://schemas.openxmlformats.org/drawingml/2006/main" noChangeAspect="1"/>
          </p:cNvPicPr>
          <p:nvPr/>
        </p:nvPicPr>
        <p:blipFill rotWithShape="1">
          <a:blip xmlns:r="http://schemas.openxmlformats.org/officeDocument/2006/relationships" xmlns:a="http://schemas.openxmlformats.org/drawingml/2006/main" r:embed="Re07cd42d0f8e4d27">
            <a:alphaModFix/>
          </a:blip>
          <a:srcRect xmlns:a="http://schemas.openxmlformats.org/drawingml/2006/main" l="0" t="0" r="0" b="0"/>
          <a:stretch xmlns:a="http://schemas.openxmlformats.org/drawingml/2006/main"/>
        </p:blipFill>
        <p:spPr>
          <a:xfrm xmlns:a="http://schemas.openxmlformats.org/drawingml/2006/main">
            <a:off x="1572768" y="512064"/>
            <a:ext cx="9052560" cy="4224528"/>
          </a:xfrm>
          <a:prstGeom xmlns:a="http://schemas.openxmlformats.org/drawingml/2006/main" prst="rect">
            <a:avLst/>
          </a:prstGeom>
          <a:ln xmlns:a="http://schemas.openxmlformats.org/drawingml/2006/main">
            <a:noFill/>
          </a:ln>
        </p:spPr>
      </p:pic>
      <p:sp>
        <p:nvSpPr>
          <p:cNvPr id="20" name="Google Shape;20;p3">
            <a:extLst xmlns:a="http://schemas.openxmlformats.org/drawingml/2006/main">
              <a:ext uri="{FF2B5EF4-FFF2-40B4-BE49-F238E27FC236}">
                <a16:creationId xmlns:a16="http://schemas.microsoft.com/office/drawing/2014/main" id="{CE54F021-F832-430B-BBB1-35A1C565B490}"/>
              </a:ext>
            </a:extLst>
          </p:cNvPr>
          <p:cNvSpPr>
            <a:spLocks xmlns:a="http://schemas.openxmlformats.org/drawingml/2006/main" noGrp="1"/>
          </p:cNvSpPr>
          <p:nvPr/>
        </p:nvSpPr>
        <p:spPr>
          <a:xfrm xmlns:a="http://schemas.openxmlformats.org/drawingml/2006/main">
            <a:off x="960120" y="5074920"/>
            <a:ext cx="10287000" cy="749808"/>
          </a:xfrm>
          <a:prstGeom xmlns:a="http://schemas.openxmlformats.org/drawingml/2006/main" prst="rect">
            <a:avLst/>
          </a:prstGeom>
          <a:solidFill xmlns:a="http://schemas.openxmlformats.org/drawingml/2006/main">
            <a:srgbClr val="050505">
              <a:alpha val="0"/>
            </a:srgbClr>
          </a:solidFill>
          <a:ln xmlns:a="http://schemas.openxmlformats.org/drawingml/2006/main" w="15225" cmpd="sng">
            <a:solidFill>
              <a:srgbClr val="B8B8B8">
                <a:alpha val="80000"/>
              </a:srgbClr>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 name="Google Shape;21;p3">
            <a:extLst xmlns:a="http://schemas.openxmlformats.org/drawingml/2006/main">
              <a:ext uri="{FF2B5EF4-FFF2-40B4-BE49-F238E27FC236}">
                <a16:creationId xmlns:a16="http://schemas.microsoft.com/office/drawing/2014/main" id="{2ADAA41D-EEAA-4F4B-945F-05767888A623}"/>
              </a:ext>
            </a:extLst>
          </p:cNvPr>
          <p:cNvSpPr>
            <a:spLocks xmlns:a="http://schemas.openxmlformats.org/drawingml/2006/main" noGrp="1"/>
          </p:cNvSpPr>
          <p:nvPr/>
        </p:nvSpPr>
        <p:spPr>
          <a:xfrm xmlns:a="http://schemas.openxmlformats.org/drawingml/2006/main">
            <a:off x="1024128" y="5212080"/>
            <a:ext cx="10149840" cy="347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500"/>
              <a:buFont typeface="Play"/>
              <a:buNone/>
            </a:pPr>
            <a:r>
              <a:rPr sz="2500" b="1" i="0" u="none" cap="none">
                <a:solidFill>
                  <a:srgbClr val="FFFFFF"/>
                </a:solidFill>
                <a:latin typeface="Play"/>
                <a:ea typeface="Play"/>
                <a:cs typeface="Play"/>
              </a:rPr>
              <a:t>WHAT IS AUTHENTIC RESEARCH?</a:t>
            </a:r>
          </a:p>
        </p:txBody>
      </p:sp>
      <p:sp>
        <p:nvSpPr>
          <p:cNvPr id="22" name="Google Shape;22;p3">
            <a:extLst xmlns:a="http://schemas.openxmlformats.org/drawingml/2006/main">
              <a:ext uri="{FF2B5EF4-FFF2-40B4-BE49-F238E27FC236}">
                <a16:creationId xmlns:a16="http://schemas.microsoft.com/office/drawing/2014/main" id="{D16099B4-5776-41E7-8C5A-C9800E4C9667}"/>
              </a:ext>
            </a:extLst>
          </p:cNvPr>
          <p:cNvSpPr>
            <a:spLocks xmlns:a="http://schemas.openxmlformats.org/drawingml/2006/main" noGrp="1"/>
          </p:cNvSpPr>
          <p:nvPr/>
        </p:nvSpPr>
        <p:spPr>
          <a:xfrm xmlns:a="http://schemas.openxmlformats.org/drawingml/2006/main">
            <a:off x="1024128" y="5916168"/>
            <a:ext cx="713232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STARLAB Deck 01  •  Unit 1 Course Launch</a:t>
            </a:r>
          </a:p>
        </p:txBody>
      </p:sp>
    </p:spTree>
    <p:extLst>
      <p:ext uri="{BB962C8B-B14F-4D97-AF65-F5344CB8AC3E}">
        <p14:creationId xmlns:p14="http://schemas.microsoft.com/office/powerpoint/2010/main" val="293498086"/>
      </p:ext>
    </p:extLst>
  </p:cSld>
</p:sld>
</file>

<file path=ppt/slides/slide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8" name="Google Shape;28;p4">
            <a:extLst xmlns:a="http://schemas.openxmlformats.org/drawingml/2006/main">
              <a:ext uri="{FF2B5EF4-FFF2-40B4-BE49-F238E27FC236}">
                <a16:creationId xmlns:a16="http://schemas.microsoft.com/office/drawing/2014/main" id="{67407387-E056-4BE8-9669-F50D84FA84B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 name="Google Shape;29;p4">
            <a:extLst xmlns:a="http://schemas.openxmlformats.org/drawingml/2006/main">
              <a:ext uri="{FF2B5EF4-FFF2-40B4-BE49-F238E27FC236}">
                <a16:creationId xmlns:a16="http://schemas.microsoft.com/office/drawing/2014/main" id="{E2FD2174-EF69-4998-A79A-14DEA9E259C0}"/>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 name="Google Shape;30;p4">
            <a:extLst xmlns:a="http://schemas.openxmlformats.org/drawingml/2006/main">
              <a:ext uri="{FF2B5EF4-FFF2-40B4-BE49-F238E27FC236}">
                <a16:creationId xmlns:a16="http://schemas.microsoft.com/office/drawing/2014/main" id="{DE892413-C57B-4208-A3BE-F9BBC6A30A6A}"/>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 name="Google Shape;31;p4">
            <a:extLst xmlns:a="http://schemas.openxmlformats.org/drawingml/2006/main">
              <a:ext uri="{FF2B5EF4-FFF2-40B4-BE49-F238E27FC236}">
                <a16:creationId xmlns:a16="http://schemas.microsoft.com/office/drawing/2014/main" id="{32B57199-871B-4B9B-8AC0-D1FCA438656D}"/>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COURSE LAUNCH</a:t>
            </a:r>
          </a:p>
        </p:txBody>
      </p:sp>
      <p:sp>
        <p:nvSpPr>
          <p:cNvPr id="32" name="Google Shape;32;p4">
            <a:extLst xmlns:a="http://schemas.openxmlformats.org/drawingml/2006/main">
              <a:ext uri="{FF2B5EF4-FFF2-40B4-BE49-F238E27FC236}">
                <a16:creationId xmlns:a16="http://schemas.microsoft.com/office/drawing/2014/main" id="{E77655EB-B970-4787-AC35-DB61E65B885C}"/>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i="0" u="none" cap="none">
                <a:solidFill>
                  <a:srgbClr val="B8B8B8"/>
                </a:solidFill>
                <a:latin typeface="Arial"/>
                <a:ea typeface="Arial"/>
                <a:cs typeface="Arial"/>
              </a:rPr>
              <a:t>STARLAB</a:t>
            </a:r>
          </a:p>
        </p:txBody>
      </p:sp>
      <p:sp>
        <p:nvSpPr>
          <p:cNvPr id="33" name="Google Shape;33;p4">
            <a:extLst xmlns:a="http://schemas.openxmlformats.org/drawingml/2006/main">
              <a:ext uri="{FF2B5EF4-FFF2-40B4-BE49-F238E27FC236}">
                <a16:creationId xmlns:a16="http://schemas.microsoft.com/office/drawing/2014/main" id="{E474B9CA-E3B6-4EDE-AC73-7305C6464F2F}"/>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i="0" u="none" cap="none">
                <a:solidFill>
                  <a:srgbClr val="E22B27"/>
                </a:solidFill>
                <a:latin typeface="Arial"/>
                <a:ea typeface="Arial"/>
                <a:cs typeface="Arial"/>
              </a:rPr>
              <a:t>DECK 01</a:t>
            </a:r>
          </a:p>
        </p:txBody>
      </p:sp>
      <p:sp>
        <p:nvSpPr>
          <p:cNvPr id="34" name="Google Shape;34;p4">
            <a:extLst xmlns:a="http://schemas.openxmlformats.org/drawingml/2006/main">
              <a:ext uri="{FF2B5EF4-FFF2-40B4-BE49-F238E27FC236}">
                <a16:creationId xmlns:a16="http://schemas.microsoft.com/office/drawing/2014/main" id="{BE7EC919-3B2A-4AF0-A6FA-47B3B8B73EC7}"/>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i="0" u="none" cap="none">
                <a:solidFill>
                  <a:srgbClr val="FFFFFF"/>
                </a:solidFill>
                <a:latin typeface="Play"/>
                <a:ea typeface="Play"/>
                <a:cs typeface="Play"/>
              </a:rPr>
              <a:t>Today’s Launch Goal</a:t>
            </a:r>
          </a:p>
        </p:txBody>
      </p:sp>
      <p:sp>
        <p:nvSpPr>
          <p:cNvPr id="35" name="Google Shape;35;p4">
            <a:extLst xmlns:a="http://schemas.openxmlformats.org/drawingml/2006/main">
              <a:ext uri="{FF2B5EF4-FFF2-40B4-BE49-F238E27FC236}">
                <a16:creationId xmlns:a16="http://schemas.microsoft.com/office/drawing/2014/main" id="{314FBA95-3133-40DF-8608-20E501196BBD}"/>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b="0" i="0" u="none" cap="none">
                <a:solidFill>
                  <a:srgbClr val="B8B8B8"/>
                </a:solidFill>
                <a:latin typeface="Arial"/>
                <a:ea typeface="Arial"/>
                <a:cs typeface="Arial"/>
              </a:rPr>
              <a:t>Understand how STARLAB is different from a traditional science class.</a:t>
            </a:r>
          </a:p>
        </p:txBody>
      </p:sp>
      <p:cxnSp>
        <p:nvCxnSpPr>
          <p:cNvPr id="46" name="Google Shape;36;p4"/>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7" name="Google Shape;37;p4">
            <a:extLst xmlns:a="http://schemas.openxmlformats.org/drawingml/2006/main">
              <a:ext uri="{FF2B5EF4-FFF2-40B4-BE49-F238E27FC236}">
                <a16:creationId xmlns:a16="http://schemas.microsoft.com/office/drawing/2014/main" id="{A207B695-947B-46BD-A0EB-0495B4DB2FA2}"/>
              </a:ext>
            </a:extLst>
          </p:cNvPr>
          <p:cNvSpPr>
            <a:spLocks xmlns:a="http://schemas.openxmlformats.org/drawingml/2006/main" noGrp="1"/>
          </p:cNvSpPr>
          <p:nvPr/>
        </p:nvSpPr>
        <p:spPr>
          <a:xfrm xmlns:a="http://schemas.openxmlformats.org/drawingml/2006/main">
            <a:off x="1005840" y="1920240"/>
            <a:ext cx="9875520" cy="3200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400" b="0" i="0" u="none" cap="none">
                <a:solidFill>
                  <a:srgbClr val="FFFFFF"/>
                </a:solidFill>
                <a:latin typeface="Arial"/>
                <a:ea typeface="Arial"/>
                <a:cs typeface="Arial"/>
              </a:rPr>
              <a:t>Define authentic research in student-friendly language</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Preview the STARLAB yearlong arc</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Name the habits students will practice all year</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Begin the Course Launch Reflection handout</a:t>
            </a:r>
          </a:p>
        </p:txBody>
      </p:sp>
    </p:spTree>
    <p:extLst>
      <p:ext uri="{BB962C8B-B14F-4D97-AF65-F5344CB8AC3E}">
        <p14:creationId xmlns:p14="http://schemas.microsoft.com/office/powerpoint/2010/main" val="278894871"/>
      </p:ext>
    </p:extLst>
  </p:cSld>
</p:sld>
</file>

<file path=ppt/slides/slide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43" name="Google Shape;43;p5">
            <a:extLst xmlns:a="http://schemas.openxmlformats.org/drawingml/2006/main">
              <a:ext uri="{FF2B5EF4-FFF2-40B4-BE49-F238E27FC236}">
                <a16:creationId xmlns:a16="http://schemas.microsoft.com/office/drawing/2014/main" id="{8E1A91D0-2CF1-4977-B1BE-EF82F29B883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4" name="Google Shape;44;p5">
            <a:extLst xmlns:a="http://schemas.openxmlformats.org/drawingml/2006/main">
              <a:ext uri="{FF2B5EF4-FFF2-40B4-BE49-F238E27FC236}">
                <a16:creationId xmlns:a16="http://schemas.microsoft.com/office/drawing/2014/main" id="{B2C4A842-EFFE-4873-BE88-631490102E5F}"/>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5" name="Google Shape;45;p5">
            <a:extLst xmlns:a="http://schemas.openxmlformats.org/drawingml/2006/main">
              <a:ext uri="{FF2B5EF4-FFF2-40B4-BE49-F238E27FC236}">
                <a16:creationId xmlns:a16="http://schemas.microsoft.com/office/drawing/2014/main" id="{4465AA15-82B9-4175-A8ED-B10F82583EEA}"/>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46" name="Google Shape;46;p5">
            <a:extLst xmlns:a="http://schemas.openxmlformats.org/drawingml/2006/main">
              <a:ext uri="{FF2B5EF4-FFF2-40B4-BE49-F238E27FC236}">
                <a16:creationId xmlns:a16="http://schemas.microsoft.com/office/drawing/2014/main" id="{CFE5443B-8517-4B25-A8E4-96540454DE2A}"/>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47" name="Google Shape;47;p5">
            <a:extLst xmlns:a="http://schemas.openxmlformats.org/drawingml/2006/main">
              <a:ext uri="{FF2B5EF4-FFF2-40B4-BE49-F238E27FC236}">
                <a16:creationId xmlns:a16="http://schemas.microsoft.com/office/drawing/2014/main" id="{AFE07CA7-B05A-45F1-AA20-0BFF3D5243BF}"/>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48" name="Google Shape;48;p5">
            <a:extLst xmlns:a="http://schemas.openxmlformats.org/drawingml/2006/main">
              <a:ext uri="{FF2B5EF4-FFF2-40B4-BE49-F238E27FC236}">
                <a16:creationId xmlns:a16="http://schemas.microsoft.com/office/drawing/2014/main" id="{B55ACCB0-469F-4614-9AF1-8DFDA6E3A0E6}"/>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49" name="Google Shape;49;p5">
            <a:extLst xmlns:a="http://schemas.openxmlformats.org/drawingml/2006/main">
              <a:ext uri="{FF2B5EF4-FFF2-40B4-BE49-F238E27FC236}">
                <a16:creationId xmlns:a16="http://schemas.microsoft.com/office/drawing/2014/main" id="{FC00B324-FEEF-45EF-ADCC-1C5214AA5BEA}"/>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STARLAB Is Not a Recipe Lab</a:t>
            </a:r>
          </a:p>
        </p:txBody>
      </p:sp>
      <p:sp>
        <p:nvSpPr>
          <p:cNvPr id="50" name="Google Shape;50;p5">
            <a:extLst xmlns:a="http://schemas.openxmlformats.org/drawingml/2006/main">
              <a:ext uri="{FF2B5EF4-FFF2-40B4-BE49-F238E27FC236}">
                <a16:creationId xmlns:a16="http://schemas.microsoft.com/office/drawing/2014/main" id="{AFE73F9A-BC77-4465-A4EB-6F3885549D69}"/>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In authentic research, the answer is not waiting in the teacher’s answer key.</a:t>
            </a:r>
          </a:p>
        </p:txBody>
      </p:sp>
      <p:cxnSp>
        <p:nvCxnSpPr>
          <p:cNvPr id="66" name="Google Shape;51;p5"/>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52" name="Google Shape;52;p5">
            <a:extLst xmlns:a="http://schemas.openxmlformats.org/drawingml/2006/main">
              <a:ext uri="{FF2B5EF4-FFF2-40B4-BE49-F238E27FC236}">
                <a16:creationId xmlns:a16="http://schemas.microsoft.com/office/drawing/2014/main" id="{869973A0-649A-417C-AF60-10C1BDD58342}"/>
              </a:ext>
            </a:extLst>
          </p:cNvPr>
          <p:cNvSpPr>
            <a:spLocks xmlns:a="http://schemas.openxmlformats.org/drawingml/2006/main" noGrp="1"/>
          </p:cNvSpPr>
          <p:nvPr/>
        </p:nvSpPr>
        <p:spPr>
          <a:xfrm xmlns:a="http://schemas.openxmlformats.org/drawingml/2006/main">
            <a:off x="914400" y="1874520"/>
            <a:ext cx="4892040" cy="3291840"/>
          </a:xfrm>
          <a:prstGeom xmlns:a="http://schemas.openxmlformats.org/drawingml/2006/main" prst="roundRect">
            <a:avLst>
              <a:gd name="adj" fmla="val 1667"/>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3" name="Google Shape;53;p5">
            <a:extLst xmlns:a="http://schemas.openxmlformats.org/drawingml/2006/main">
              <a:ext uri="{FF2B5EF4-FFF2-40B4-BE49-F238E27FC236}">
                <a16:creationId xmlns:a16="http://schemas.microsoft.com/office/drawing/2014/main" id="{41E4DB76-E7D4-45AD-81E7-679A7C7505DF}"/>
              </a:ext>
            </a:extLst>
          </p:cNvPr>
          <p:cNvSpPr>
            <a:spLocks xmlns:a="http://schemas.openxmlformats.org/drawingml/2006/main" noGrp="1"/>
          </p:cNvSpPr>
          <p:nvPr/>
        </p:nvSpPr>
        <p:spPr>
          <a:xfrm xmlns:a="http://schemas.openxmlformats.org/drawingml/2006/main">
            <a:off x="1078992" y="2011680"/>
            <a:ext cx="45628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RECIPE LAB</a:t>
            </a:r>
          </a:p>
        </p:txBody>
      </p:sp>
      <p:sp>
        <p:nvSpPr>
          <p:cNvPr id="54" name="Google Shape;54;p5">
            <a:extLst xmlns:a="http://schemas.openxmlformats.org/drawingml/2006/main">
              <a:ext uri="{FF2B5EF4-FFF2-40B4-BE49-F238E27FC236}">
                <a16:creationId xmlns:a16="http://schemas.microsoft.com/office/drawing/2014/main" id="{3F35988B-6282-42FF-A81D-0D3EADD7348B}"/>
              </a:ext>
            </a:extLst>
          </p:cNvPr>
          <p:cNvSpPr>
            <a:spLocks xmlns:a="http://schemas.openxmlformats.org/drawingml/2006/main" noGrp="1"/>
          </p:cNvSpPr>
          <p:nvPr/>
        </p:nvSpPr>
        <p:spPr>
          <a:xfrm xmlns:a="http://schemas.openxmlformats.org/drawingml/2006/main">
            <a:off x="1078992" y="2377440"/>
            <a:ext cx="4562856" cy="2633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Everyone follows the same steps.</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The expected outcome is already known.</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The goal is usually to confirm a concept.</a:t>
            </a:r>
          </a:p>
        </p:txBody>
      </p:sp>
      <p:sp>
        <p:nvSpPr>
          <p:cNvPr id="55" name="Google Shape;55;p5">
            <a:extLst xmlns:a="http://schemas.openxmlformats.org/drawingml/2006/main">
              <a:ext uri="{FF2B5EF4-FFF2-40B4-BE49-F238E27FC236}">
                <a16:creationId xmlns:a16="http://schemas.microsoft.com/office/drawing/2014/main" id="{6BAFC348-A881-4611-9763-0F1238F1BFA2}"/>
              </a:ext>
            </a:extLst>
          </p:cNvPr>
          <p:cNvSpPr>
            <a:spLocks xmlns:a="http://schemas.openxmlformats.org/drawingml/2006/main" noGrp="1"/>
          </p:cNvSpPr>
          <p:nvPr/>
        </p:nvSpPr>
        <p:spPr>
          <a:xfrm xmlns:a="http://schemas.openxmlformats.org/drawingml/2006/main">
            <a:off x="6355080" y="1874520"/>
            <a:ext cx="4892040" cy="3291840"/>
          </a:xfrm>
          <a:prstGeom xmlns:a="http://schemas.openxmlformats.org/drawingml/2006/main" prst="roundRect">
            <a:avLst>
              <a:gd name="adj" fmla="val 1667"/>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56" name="Google Shape;56;p5">
            <a:extLst xmlns:a="http://schemas.openxmlformats.org/drawingml/2006/main">
              <a:ext uri="{FF2B5EF4-FFF2-40B4-BE49-F238E27FC236}">
                <a16:creationId xmlns:a16="http://schemas.microsoft.com/office/drawing/2014/main" id="{38B291B1-8817-482E-9D69-A19658A3A197}"/>
              </a:ext>
            </a:extLst>
          </p:cNvPr>
          <p:cNvSpPr>
            <a:spLocks xmlns:a="http://schemas.openxmlformats.org/drawingml/2006/main" noGrp="1"/>
          </p:cNvSpPr>
          <p:nvPr/>
        </p:nvSpPr>
        <p:spPr>
          <a:xfrm xmlns:a="http://schemas.openxmlformats.org/drawingml/2006/main">
            <a:off x="6519672" y="2011680"/>
            <a:ext cx="45628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AUTHENTIC RESEARCH</a:t>
            </a:r>
          </a:p>
        </p:txBody>
      </p:sp>
      <p:sp>
        <p:nvSpPr>
          <p:cNvPr id="57" name="Google Shape;57;p5">
            <a:extLst xmlns:a="http://schemas.openxmlformats.org/drawingml/2006/main">
              <a:ext uri="{FF2B5EF4-FFF2-40B4-BE49-F238E27FC236}">
                <a16:creationId xmlns:a16="http://schemas.microsoft.com/office/drawing/2014/main" id="{32661AB2-A1E9-4976-B03A-F0E2F69D4EE8}"/>
              </a:ext>
            </a:extLst>
          </p:cNvPr>
          <p:cNvSpPr>
            <a:spLocks xmlns:a="http://schemas.openxmlformats.org/drawingml/2006/main" noGrp="1"/>
          </p:cNvSpPr>
          <p:nvPr/>
        </p:nvSpPr>
        <p:spPr>
          <a:xfrm xmlns:a="http://schemas.openxmlformats.org/drawingml/2006/main">
            <a:off x="6519672" y="2377440"/>
            <a:ext cx="4562856" cy="26334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Students develop questions.</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Methods may change.</a:t>
            </a:r>
          </a:p>
          <a:p xmlns:a="http://schemas.openxmlformats.org/drawingml/2006/main">
            <a:pPr marL="0" marR="0" indent="0" algn="l">
              <a:spcBef>
                <a:spcPts val="0"/>
              </a:spcBef>
              <a:spcAft>
                <a:spcPts val="0"/>
              </a:spcAft>
              <a:buClr>
                <a:schemeClr val="dk1"/>
              </a:buClr>
              <a:buSzPts val="2000"/>
              <a:buFont typeface="Arial"/>
              <a:buNone/>
            </a:pPr>
            <a:r>
              <a:t/>
            </a:r>
          </a:p>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The goal is to produce evidence and communicate what it means.</a:t>
            </a:r>
          </a:p>
        </p:txBody>
      </p:sp>
    </p:spTree>
    <p:extLst>
      <p:ext uri="{BB962C8B-B14F-4D97-AF65-F5344CB8AC3E}">
        <p14:creationId xmlns:p14="http://schemas.microsoft.com/office/powerpoint/2010/main" val="1252118933"/>
      </p:ext>
    </p:extLst>
  </p:cSld>
</p:sld>
</file>

<file path=ppt/slides/slide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63" name="Google Shape;63;p6">
            <a:extLst xmlns:a="http://schemas.openxmlformats.org/drawingml/2006/main">
              <a:ext uri="{FF2B5EF4-FFF2-40B4-BE49-F238E27FC236}">
                <a16:creationId xmlns:a16="http://schemas.microsoft.com/office/drawing/2014/main" id="{5EACE277-7411-4A5B-B6CC-5B35BB94FBF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4" name="Google Shape;64;p6">
            <a:extLst xmlns:a="http://schemas.openxmlformats.org/drawingml/2006/main">
              <a:ext uri="{FF2B5EF4-FFF2-40B4-BE49-F238E27FC236}">
                <a16:creationId xmlns:a16="http://schemas.microsoft.com/office/drawing/2014/main" id="{56A4D71B-0CCD-4B6B-885D-FACE359C9381}"/>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5" name="Google Shape;65;p6">
            <a:extLst xmlns:a="http://schemas.openxmlformats.org/drawingml/2006/main">
              <a:ext uri="{FF2B5EF4-FFF2-40B4-BE49-F238E27FC236}">
                <a16:creationId xmlns:a16="http://schemas.microsoft.com/office/drawing/2014/main" id="{E580E7FF-1C48-484F-927B-E48D66D18318}"/>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66" name="Google Shape;66;p6">
            <a:extLst xmlns:a="http://schemas.openxmlformats.org/drawingml/2006/main">
              <a:ext uri="{FF2B5EF4-FFF2-40B4-BE49-F238E27FC236}">
                <a16:creationId xmlns:a16="http://schemas.microsoft.com/office/drawing/2014/main" id="{1A95DE4C-474D-41CA-9C70-41E218EDBB6F}"/>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67" name="Google Shape;67;p6">
            <a:extLst xmlns:a="http://schemas.openxmlformats.org/drawingml/2006/main">
              <a:ext uri="{FF2B5EF4-FFF2-40B4-BE49-F238E27FC236}">
                <a16:creationId xmlns:a16="http://schemas.microsoft.com/office/drawing/2014/main" id="{EDFD333A-9442-4A47-BFE2-1CB762B0AC2A}"/>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68" name="Google Shape;68;p6">
            <a:extLst xmlns:a="http://schemas.openxmlformats.org/drawingml/2006/main">
              <a:ext uri="{FF2B5EF4-FFF2-40B4-BE49-F238E27FC236}">
                <a16:creationId xmlns:a16="http://schemas.microsoft.com/office/drawing/2014/main" id="{1FDD4952-1861-4C8A-A6D9-70C29449EF35}"/>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69" name="Google Shape;69;p6">
            <a:extLst xmlns:a="http://schemas.openxmlformats.org/drawingml/2006/main">
              <a:ext uri="{FF2B5EF4-FFF2-40B4-BE49-F238E27FC236}">
                <a16:creationId xmlns:a16="http://schemas.microsoft.com/office/drawing/2014/main" id="{7786EF29-58DA-4EC3-BB7A-46D8FA17FB73}"/>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The STARLAB Research Arc</a:t>
            </a:r>
          </a:p>
        </p:txBody>
      </p:sp>
      <p:sp>
        <p:nvSpPr>
          <p:cNvPr id="70" name="Google Shape;70;p6">
            <a:extLst xmlns:a="http://schemas.openxmlformats.org/drawingml/2006/main">
              <a:ext uri="{FF2B5EF4-FFF2-40B4-BE49-F238E27FC236}">
                <a16:creationId xmlns:a16="http://schemas.microsoft.com/office/drawing/2014/main" id="{AE88B6E2-F826-4E24-8562-838E960A9196}"/>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A yearlong project moves through cycles, not a straight line.</a:t>
            </a:r>
          </a:p>
        </p:txBody>
      </p:sp>
      <p:cxnSp>
        <p:nvCxnSpPr>
          <p:cNvPr id="101" name="Google Shape;71;p6"/>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72" name="Google Shape;72;p6">
            <a:extLst xmlns:a="http://schemas.openxmlformats.org/drawingml/2006/main">
              <a:ext uri="{FF2B5EF4-FFF2-40B4-BE49-F238E27FC236}">
                <a16:creationId xmlns:a16="http://schemas.microsoft.com/office/drawing/2014/main" id="{76F8BE27-DDF1-4307-B177-068CAFC3A490}"/>
              </a:ext>
            </a:extLst>
          </p:cNvPr>
          <p:cNvSpPr>
            <a:spLocks xmlns:a="http://schemas.openxmlformats.org/drawingml/2006/main" noGrp="1"/>
          </p:cNvSpPr>
          <p:nvPr/>
        </p:nvSpPr>
        <p:spPr>
          <a:xfrm xmlns:a="http://schemas.openxmlformats.org/drawingml/2006/main">
            <a:off x="685800" y="2057400"/>
            <a:ext cx="1188720" cy="658368"/>
          </a:xfrm>
          <a:prstGeom xmlns:a="http://schemas.openxmlformats.org/drawingml/2006/main" prst="roundRect">
            <a:avLst>
              <a:gd name="adj" fmla="val 6944"/>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3" name="Google Shape;73;p6">
            <a:extLst xmlns:a="http://schemas.openxmlformats.org/drawingml/2006/main">
              <a:ext uri="{FF2B5EF4-FFF2-40B4-BE49-F238E27FC236}">
                <a16:creationId xmlns:a16="http://schemas.microsoft.com/office/drawing/2014/main" id="{781DFE35-9B77-467C-9475-C79CDA88CF5F}"/>
              </a:ext>
            </a:extLst>
          </p:cNvPr>
          <p:cNvSpPr>
            <a:spLocks xmlns:a="http://schemas.openxmlformats.org/drawingml/2006/main" noGrp="1"/>
          </p:cNvSpPr>
          <p:nvPr/>
        </p:nvSpPr>
        <p:spPr>
          <a:xfrm xmlns:a="http://schemas.openxmlformats.org/drawingml/2006/main">
            <a:off x="7498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QUESTION</a:t>
            </a:r>
          </a:p>
        </p:txBody>
      </p:sp>
      <p:cxnSp>
        <p:nvCxnSpPr>
          <p:cNvPr id="104" name="Google Shape;74;p6"/>
          <p:cNvCxnSpPr/>
          <p:nvPr/>
        </p:nvCxnSpPr>
        <p:spPr>
          <a:xfrm xmlns:a="http://schemas.openxmlformats.org/drawingml/2006/main">
            <a:off x="1892808" y="2386584"/>
            <a:ext cx="384048"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75" name="Google Shape;75;p6">
            <a:extLst xmlns:a="http://schemas.openxmlformats.org/drawingml/2006/main">
              <a:ext uri="{FF2B5EF4-FFF2-40B4-BE49-F238E27FC236}">
                <a16:creationId xmlns:a16="http://schemas.microsoft.com/office/drawing/2014/main" id="{1620B88A-F2AC-411C-92B5-4D66B32BB722}"/>
              </a:ext>
            </a:extLst>
          </p:cNvPr>
          <p:cNvSpPr>
            <a:spLocks xmlns:a="http://schemas.openxmlformats.org/drawingml/2006/main" noGrp="1"/>
          </p:cNvSpPr>
          <p:nvPr/>
        </p:nvSpPr>
        <p:spPr>
          <a:xfrm xmlns:a="http://schemas.openxmlformats.org/drawingml/2006/main">
            <a:off x="2286000" y="2057400"/>
            <a:ext cx="1188720" cy="658368"/>
          </a:xfrm>
          <a:prstGeom xmlns:a="http://schemas.openxmlformats.org/drawingml/2006/main" prst="roundRect">
            <a:avLst>
              <a:gd name="adj" fmla="val 69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6" name="Google Shape;76;p6">
            <a:extLst xmlns:a="http://schemas.openxmlformats.org/drawingml/2006/main">
              <a:ext uri="{FF2B5EF4-FFF2-40B4-BE49-F238E27FC236}">
                <a16:creationId xmlns:a16="http://schemas.microsoft.com/office/drawing/2014/main" id="{9EDCD37A-0921-4B2A-A9AB-7B0D7F2C38D2}"/>
              </a:ext>
            </a:extLst>
          </p:cNvPr>
          <p:cNvSpPr>
            <a:spLocks xmlns:a="http://schemas.openxmlformats.org/drawingml/2006/main" noGrp="1"/>
          </p:cNvSpPr>
          <p:nvPr/>
        </p:nvSpPr>
        <p:spPr>
          <a:xfrm xmlns:a="http://schemas.openxmlformats.org/drawingml/2006/main">
            <a:off x="23500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PLAN</a:t>
            </a:r>
          </a:p>
        </p:txBody>
      </p:sp>
      <p:cxnSp>
        <p:nvCxnSpPr>
          <p:cNvPr id="107" name="Google Shape;77;p6"/>
          <p:cNvCxnSpPr/>
          <p:nvPr/>
        </p:nvCxnSpPr>
        <p:spPr>
          <a:xfrm xmlns:a="http://schemas.openxmlformats.org/drawingml/2006/main">
            <a:off x="3493008" y="2386584"/>
            <a:ext cx="384048"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78" name="Google Shape;78;p6">
            <a:extLst xmlns:a="http://schemas.openxmlformats.org/drawingml/2006/main">
              <a:ext uri="{FF2B5EF4-FFF2-40B4-BE49-F238E27FC236}">
                <a16:creationId xmlns:a16="http://schemas.microsoft.com/office/drawing/2014/main" id="{EF69C806-1702-4029-9A6A-67C968F91812}"/>
              </a:ext>
            </a:extLst>
          </p:cNvPr>
          <p:cNvSpPr>
            <a:spLocks xmlns:a="http://schemas.openxmlformats.org/drawingml/2006/main" noGrp="1"/>
          </p:cNvSpPr>
          <p:nvPr/>
        </p:nvSpPr>
        <p:spPr>
          <a:xfrm xmlns:a="http://schemas.openxmlformats.org/drawingml/2006/main">
            <a:off x="3886200" y="2057400"/>
            <a:ext cx="1188720" cy="658368"/>
          </a:xfrm>
          <a:prstGeom xmlns:a="http://schemas.openxmlformats.org/drawingml/2006/main" prst="roundRect">
            <a:avLst>
              <a:gd name="adj" fmla="val 69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79" name="Google Shape;79;p6">
            <a:extLst xmlns:a="http://schemas.openxmlformats.org/drawingml/2006/main">
              <a:ext uri="{FF2B5EF4-FFF2-40B4-BE49-F238E27FC236}">
                <a16:creationId xmlns:a16="http://schemas.microsoft.com/office/drawing/2014/main" id="{BDBA9D6B-AD56-4E5B-AFEB-4F4F3F3FC277}"/>
              </a:ext>
            </a:extLst>
          </p:cNvPr>
          <p:cNvSpPr>
            <a:spLocks xmlns:a="http://schemas.openxmlformats.org/drawingml/2006/main" noGrp="1"/>
          </p:cNvSpPr>
          <p:nvPr/>
        </p:nvSpPr>
        <p:spPr>
          <a:xfrm xmlns:a="http://schemas.openxmlformats.org/drawingml/2006/main">
            <a:off x="39502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PILOT</a:t>
            </a:r>
          </a:p>
        </p:txBody>
      </p:sp>
      <p:cxnSp>
        <p:nvCxnSpPr>
          <p:cNvPr id="110" name="Google Shape;80;p6"/>
          <p:cNvCxnSpPr/>
          <p:nvPr/>
        </p:nvCxnSpPr>
        <p:spPr>
          <a:xfrm xmlns:a="http://schemas.openxmlformats.org/drawingml/2006/main">
            <a:off x="5093208" y="2386584"/>
            <a:ext cx="384048"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81" name="Google Shape;81;p6">
            <a:extLst xmlns:a="http://schemas.openxmlformats.org/drawingml/2006/main">
              <a:ext uri="{FF2B5EF4-FFF2-40B4-BE49-F238E27FC236}">
                <a16:creationId xmlns:a16="http://schemas.microsoft.com/office/drawing/2014/main" id="{59626CDF-B81C-4A32-985C-7EA4E65CCCA4}"/>
              </a:ext>
            </a:extLst>
          </p:cNvPr>
          <p:cNvSpPr>
            <a:spLocks xmlns:a="http://schemas.openxmlformats.org/drawingml/2006/main" noGrp="1"/>
          </p:cNvSpPr>
          <p:nvPr/>
        </p:nvSpPr>
        <p:spPr>
          <a:xfrm xmlns:a="http://schemas.openxmlformats.org/drawingml/2006/main">
            <a:off x="5486400" y="2057400"/>
            <a:ext cx="1188720" cy="658368"/>
          </a:xfrm>
          <a:prstGeom xmlns:a="http://schemas.openxmlformats.org/drawingml/2006/main" prst="roundRect">
            <a:avLst>
              <a:gd name="adj" fmla="val 69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2" name="Google Shape;82;p6">
            <a:extLst xmlns:a="http://schemas.openxmlformats.org/drawingml/2006/main">
              <a:ext uri="{FF2B5EF4-FFF2-40B4-BE49-F238E27FC236}">
                <a16:creationId xmlns:a16="http://schemas.microsoft.com/office/drawing/2014/main" id="{1E0D2121-B00C-4125-B49B-1E1851684E69}"/>
              </a:ext>
            </a:extLst>
          </p:cNvPr>
          <p:cNvSpPr>
            <a:spLocks xmlns:a="http://schemas.openxmlformats.org/drawingml/2006/main" noGrp="1"/>
          </p:cNvSpPr>
          <p:nvPr/>
        </p:nvSpPr>
        <p:spPr>
          <a:xfrm xmlns:a="http://schemas.openxmlformats.org/drawingml/2006/main">
            <a:off x="55504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COLLECT</a:t>
            </a:r>
          </a:p>
        </p:txBody>
      </p:sp>
      <p:cxnSp>
        <p:nvCxnSpPr>
          <p:cNvPr id="113" name="Google Shape;83;p6"/>
          <p:cNvCxnSpPr/>
          <p:nvPr/>
        </p:nvCxnSpPr>
        <p:spPr>
          <a:xfrm xmlns:a="http://schemas.openxmlformats.org/drawingml/2006/main">
            <a:off x="6693408" y="2386584"/>
            <a:ext cx="384048"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84" name="Google Shape;84;p6">
            <a:extLst xmlns:a="http://schemas.openxmlformats.org/drawingml/2006/main">
              <a:ext uri="{FF2B5EF4-FFF2-40B4-BE49-F238E27FC236}">
                <a16:creationId xmlns:a16="http://schemas.microsoft.com/office/drawing/2014/main" id="{7FF55BD4-6C0F-46C8-A795-8DC8C6C207C9}"/>
              </a:ext>
            </a:extLst>
          </p:cNvPr>
          <p:cNvSpPr>
            <a:spLocks xmlns:a="http://schemas.openxmlformats.org/drawingml/2006/main" noGrp="1"/>
          </p:cNvSpPr>
          <p:nvPr/>
        </p:nvSpPr>
        <p:spPr>
          <a:xfrm xmlns:a="http://schemas.openxmlformats.org/drawingml/2006/main">
            <a:off x="7086600" y="2057400"/>
            <a:ext cx="1188720" cy="658368"/>
          </a:xfrm>
          <a:prstGeom xmlns:a="http://schemas.openxmlformats.org/drawingml/2006/main" prst="roundRect">
            <a:avLst>
              <a:gd name="adj" fmla="val 69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5" name="Google Shape;85;p6">
            <a:extLst xmlns:a="http://schemas.openxmlformats.org/drawingml/2006/main">
              <a:ext uri="{FF2B5EF4-FFF2-40B4-BE49-F238E27FC236}">
                <a16:creationId xmlns:a16="http://schemas.microsoft.com/office/drawing/2014/main" id="{E592F88A-4EC9-40D0-AAA0-920F05729985}"/>
              </a:ext>
            </a:extLst>
          </p:cNvPr>
          <p:cNvSpPr>
            <a:spLocks xmlns:a="http://schemas.openxmlformats.org/drawingml/2006/main" noGrp="1"/>
          </p:cNvSpPr>
          <p:nvPr/>
        </p:nvSpPr>
        <p:spPr>
          <a:xfrm xmlns:a="http://schemas.openxmlformats.org/drawingml/2006/main">
            <a:off x="71506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ANALYZE</a:t>
            </a:r>
          </a:p>
        </p:txBody>
      </p:sp>
      <p:cxnSp>
        <p:nvCxnSpPr>
          <p:cNvPr id="116" name="Google Shape;86;p6"/>
          <p:cNvCxnSpPr/>
          <p:nvPr/>
        </p:nvCxnSpPr>
        <p:spPr>
          <a:xfrm xmlns:a="http://schemas.openxmlformats.org/drawingml/2006/main">
            <a:off x="8293608" y="2386584"/>
            <a:ext cx="384048"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87" name="Google Shape;87;p6">
            <a:extLst xmlns:a="http://schemas.openxmlformats.org/drawingml/2006/main">
              <a:ext uri="{FF2B5EF4-FFF2-40B4-BE49-F238E27FC236}">
                <a16:creationId xmlns:a16="http://schemas.microsoft.com/office/drawing/2014/main" id="{3A384516-7F52-41F2-895B-66235B370ED5}"/>
              </a:ext>
            </a:extLst>
          </p:cNvPr>
          <p:cNvSpPr>
            <a:spLocks xmlns:a="http://schemas.openxmlformats.org/drawingml/2006/main" noGrp="1"/>
          </p:cNvSpPr>
          <p:nvPr/>
        </p:nvSpPr>
        <p:spPr>
          <a:xfrm xmlns:a="http://schemas.openxmlformats.org/drawingml/2006/main">
            <a:off x="8686800" y="2057400"/>
            <a:ext cx="1188720" cy="658368"/>
          </a:xfrm>
          <a:prstGeom xmlns:a="http://schemas.openxmlformats.org/drawingml/2006/main" prst="roundRect">
            <a:avLst>
              <a:gd name="adj" fmla="val 69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88" name="Google Shape;88;p6">
            <a:extLst xmlns:a="http://schemas.openxmlformats.org/drawingml/2006/main">
              <a:ext uri="{FF2B5EF4-FFF2-40B4-BE49-F238E27FC236}">
                <a16:creationId xmlns:a16="http://schemas.microsoft.com/office/drawing/2014/main" id="{70ADD38E-CDF9-4BE5-B886-301DB0F5C6B5}"/>
              </a:ext>
            </a:extLst>
          </p:cNvPr>
          <p:cNvSpPr>
            <a:spLocks xmlns:a="http://schemas.openxmlformats.org/drawingml/2006/main" noGrp="1"/>
          </p:cNvSpPr>
          <p:nvPr/>
        </p:nvSpPr>
        <p:spPr>
          <a:xfrm xmlns:a="http://schemas.openxmlformats.org/drawingml/2006/main">
            <a:off x="87508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REPORT</a:t>
            </a:r>
          </a:p>
        </p:txBody>
      </p:sp>
      <p:cxnSp>
        <p:nvCxnSpPr>
          <p:cNvPr id="119" name="Google Shape;89;p6"/>
          <p:cNvCxnSpPr/>
          <p:nvPr/>
        </p:nvCxnSpPr>
        <p:spPr>
          <a:xfrm xmlns:a="http://schemas.openxmlformats.org/drawingml/2006/main">
            <a:off x="9893808" y="2386584"/>
            <a:ext cx="384048" cy="0"/>
          </a:xfrm>
          <a:prstGeom xmlns:a="http://schemas.openxmlformats.org/drawingml/2006/main" prst="straightConnector1">
            <a:avLst/>
          </a:prstGeom>
          <a:ln xmlns:a="http://schemas.openxmlformats.org/drawingml/2006/main" w="15225" cap="flat">
            <a:solidFill>
              <a:srgbClr val="B8B8B8"/>
            </a:solidFill>
            <a:prstDash val="solid"/>
            <a:round/>
            <a:headEnd type="none" w="sm" len="sm"/>
            <a:tailEnd type="triangle" w="med" len="med"/>
          </a:ln>
        </p:spPr>
      </p:cxnSp>
      <p:sp>
        <p:nvSpPr>
          <p:cNvPr id="90" name="Google Shape;90;p6">
            <a:extLst xmlns:a="http://schemas.openxmlformats.org/drawingml/2006/main">
              <a:ext uri="{FF2B5EF4-FFF2-40B4-BE49-F238E27FC236}">
                <a16:creationId xmlns:a16="http://schemas.microsoft.com/office/drawing/2014/main" id="{F225DB50-34EC-4B3D-B01C-EBFB0025BAD0}"/>
              </a:ext>
            </a:extLst>
          </p:cNvPr>
          <p:cNvSpPr>
            <a:spLocks xmlns:a="http://schemas.openxmlformats.org/drawingml/2006/main" noGrp="1"/>
          </p:cNvSpPr>
          <p:nvPr/>
        </p:nvSpPr>
        <p:spPr>
          <a:xfrm xmlns:a="http://schemas.openxmlformats.org/drawingml/2006/main">
            <a:off x="10287000" y="2057400"/>
            <a:ext cx="1188720" cy="658368"/>
          </a:xfrm>
          <a:prstGeom xmlns:a="http://schemas.openxmlformats.org/drawingml/2006/main" prst="roundRect">
            <a:avLst>
              <a:gd name="adj" fmla="val 694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1" name="Google Shape;91;p6">
            <a:extLst xmlns:a="http://schemas.openxmlformats.org/drawingml/2006/main">
              <a:ext uri="{FF2B5EF4-FFF2-40B4-BE49-F238E27FC236}">
                <a16:creationId xmlns:a16="http://schemas.microsoft.com/office/drawing/2014/main" id="{1D2620DF-4B3F-4988-A9CA-46E47E362D2E}"/>
              </a:ext>
            </a:extLst>
          </p:cNvPr>
          <p:cNvSpPr>
            <a:spLocks xmlns:a="http://schemas.openxmlformats.org/drawingml/2006/main" noGrp="1"/>
          </p:cNvSpPr>
          <p:nvPr/>
        </p:nvSpPr>
        <p:spPr>
          <a:xfrm xmlns:a="http://schemas.openxmlformats.org/drawingml/2006/main">
            <a:off x="10351008" y="2286000"/>
            <a:ext cx="1060704"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PRESENT</a:t>
            </a:r>
          </a:p>
        </p:txBody>
      </p:sp>
      <p:sp>
        <p:nvSpPr>
          <p:cNvPr id="92" name="Google Shape;92;p6">
            <a:extLst xmlns:a="http://schemas.openxmlformats.org/drawingml/2006/main">
              <a:ext uri="{FF2B5EF4-FFF2-40B4-BE49-F238E27FC236}">
                <a16:creationId xmlns:a16="http://schemas.microsoft.com/office/drawing/2014/main" id="{920D16DC-A6E3-48FF-A803-E0B9939C673E}"/>
              </a:ext>
            </a:extLst>
          </p:cNvPr>
          <p:cNvSpPr>
            <a:spLocks xmlns:a="http://schemas.openxmlformats.org/drawingml/2006/main" noGrp="1"/>
          </p:cNvSpPr>
          <p:nvPr/>
        </p:nvSpPr>
        <p:spPr>
          <a:xfrm xmlns:a="http://schemas.openxmlformats.org/drawingml/2006/main">
            <a:off x="1005840" y="3886200"/>
            <a:ext cx="1014984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3000"/>
              <a:buFont typeface="Play"/>
              <a:buNone/>
            </a:pPr>
            <a:r>
              <a:rPr sz="3000" b="1">
                <a:solidFill>
                  <a:srgbClr val="FFFFFF"/>
                </a:solidFill>
                <a:latin typeface="Play"/>
                <a:ea typeface="Play"/>
                <a:cs typeface="Play"/>
              </a:rPr>
              <a:t>You will revisit earlier stages whenever evidence demands it.</a:t>
            </a:r>
          </a:p>
        </p:txBody>
      </p:sp>
    </p:spTree>
    <p:extLst>
      <p:ext uri="{BB962C8B-B14F-4D97-AF65-F5344CB8AC3E}">
        <p14:creationId xmlns:p14="http://schemas.microsoft.com/office/powerpoint/2010/main" val="1556261133"/>
      </p:ext>
    </p:extLst>
  </p:cSld>
</p:sld>
</file>

<file path=ppt/slides/slide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98" name="Google Shape;98;p7">
            <a:extLst xmlns:a="http://schemas.openxmlformats.org/drawingml/2006/main">
              <a:ext uri="{FF2B5EF4-FFF2-40B4-BE49-F238E27FC236}">
                <a16:creationId xmlns:a16="http://schemas.microsoft.com/office/drawing/2014/main" id="{BDD5A58D-6714-4FAD-9004-80F418B62AF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99" name="Google Shape;99;p7">
            <a:extLst xmlns:a="http://schemas.openxmlformats.org/drawingml/2006/main">
              <a:ext uri="{FF2B5EF4-FFF2-40B4-BE49-F238E27FC236}">
                <a16:creationId xmlns:a16="http://schemas.microsoft.com/office/drawing/2014/main" id="{BBB9DE0D-BDEC-40DE-BCB4-73503B7E492E}"/>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0" name="Google Shape;100;p7">
            <a:extLst xmlns:a="http://schemas.openxmlformats.org/drawingml/2006/main">
              <a:ext uri="{FF2B5EF4-FFF2-40B4-BE49-F238E27FC236}">
                <a16:creationId xmlns:a16="http://schemas.microsoft.com/office/drawing/2014/main" id="{1476F661-A6BD-4FEB-98A5-D0777B6B56BC}"/>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1" name="Google Shape;101;p7">
            <a:extLst xmlns:a="http://schemas.openxmlformats.org/drawingml/2006/main">
              <a:ext uri="{FF2B5EF4-FFF2-40B4-BE49-F238E27FC236}">
                <a16:creationId xmlns:a16="http://schemas.microsoft.com/office/drawing/2014/main" id="{8CAD7DBD-2F30-44F0-867B-1771C45D4CD0}"/>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102" name="Google Shape;102;p7">
            <a:extLst xmlns:a="http://schemas.openxmlformats.org/drawingml/2006/main">
              <a:ext uri="{FF2B5EF4-FFF2-40B4-BE49-F238E27FC236}">
                <a16:creationId xmlns:a16="http://schemas.microsoft.com/office/drawing/2014/main" id="{52C6C4EE-7EF9-472B-88FA-58EC846D005E}"/>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03" name="Google Shape;103;p7">
            <a:extLst xmlns:a="http://schemas.openxmlformats.org/drawingml/2006/main">
              <a:ext uri="{FF2B5EF4-FFF2-40B4-BE49-F238E27FC236}">
                <a16:creationId xmlns:a16="http://schemas.microsoft.com/office/drawing/2014/main" id="{42909876-CED1-4431-804C-FDDD2A1E1FCF}"/>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104" name="Google Shape;104;p7">
            <a:extLst xmlns:a="http://schemas.openxmlformats.org/drawingml/2006/main">
              <a:ext uri="{FF2B5EF4-FFF2-40B4-BE49-F238E27FC236}">
                <a16:creationId xmlns:a16="http://schemas.microsoft.com/office/drawing/2014/main" id="{AEB3D6F0-2851-45BE-A277-175A9B857318}"/>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The Core Shift</a:t>
            </a:r>
          </a:p>
        </p:txBody>
      </p:sp>
      <p:sp>
        <p:nvSpPr>
          <p:cNvPr id="105" name="Google Shape;105;p7">
            <a:extLst xmlns:a="http://schemas.openxmlformats.org/drawingml/2006/main">
              <a:ext uri="{FF2B5EF4-FFF2-40B4-BE49-F238E27FC236}">
                <a16:creationId xmlns:a16="http://schemas.microsoft.com/office/drawing/2014/main" id="{5F74A0B6-64E5-4634-A852-EA04C2587FF1}"/>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From completing assignments to building evidence.</a:t>
            </a:r>
          </a:p>
        </p:txBody>
      </p:sp>
      <p:cxnSp>
        <p:nvCxnSpPr>
          <p:cNvPr id="124" name="Google Shape;106;p7"/>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07" name="Google Shape;107;p7">
            <a:extLst xmlns:a="http://schemas.openxmlformats.org/drawingml/2006/main">
              <a:ext uri="{FF2B5EF4-FFF2-40B4-BE49-F238E27FC236}">
                <a16:creationId xmlns:a16="http://schemas.microsoft.com/office/drawing/2014/main" id="{CB80DE04-B9A8-4855-9C28-61B894FE5986}"/>
              </a:ext>
            </a:extLst>
          </p:cNvPr>
          <p:cNvSpPr>
            <a:spLocks xmlns:a="http://schemas.openxmlformats.org/drawingml/2006/main" noGrp="1"/>
          </p:cNvSpPr>
          <p:nvPr/>
        </p:nvSpPr>
        <p:spPr>
          <a:xfrm xmlns:a="http://schemas.openxmlformats.org/drawingml/2006/main">
            <a:off x="914400" y="1828800"/>
            <a:ext cx="3154680" cy="2926080"/>
          </a:xfrm>
          <a:prstGeom xmlns:a="http://schemas.openxmlformats.org/drawingml/2006/main" prst="roundRect">
            <a:avLst>
              <a:gd name="adj" fmla="val 1875"/>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08" name="Google Shape;108;p7">
            <a:extLst xmlns:a="http://schemas.openxmlformats.org/drawingml/2006/main">
              <a:ext uri="{FF2B5EF4-FFF2-40B4-BE49-F238E27FC236}">
                <a16:creationId xmlns:a16="http://schemas.microsoft.com/office/drawing/2014/main" id="{9489895C-6870-4AA5-B91B-66515538844F}"/>
              </a:ext>
            </a:extLst>
          </p:cNvPr>
          <p:cNvSpPr>
            <a:spLocks xmlns:a="http://schemas.openxmlformats.org/drawingml/2006/main" noGrp="1"/>
          </p:cNvSpPr>
          <p:nvPr/>
        </p:nvSpPr>
        <p:spPr>
          <a:xfrm xmlns:a="http://schemas.openxmlformats.org/drawingml/2006/main">
            <a:off x="1078992" y="1965960"/>
            <a:ext cx="28254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TRADITIONAL QUESTION</a:t>
            </a:r>
          </a:p>
        </p:txBody>
      </p:sp>
      <p:sp>
        <p:nvSpPr>
          <p:cNvPr id="109" name="Google Shape;109;p7">
            <a:extLst xmlns:a="http://schemas.openxmlformats.org/drawingml/2006/main">
              <a:ext uri="{FF2B5EF4-FFF2-40B4-BE49-F238E27FC236}">
                <a16:creationId xmlns:a16="http://schemas.microsoft.com/office/drawing/2014/main" id="{8C4E222A-F11C-437F-B057-5CABE8AF86C6}"/>
              </a:ext>
            </a:extLst>
          </p:cNvPr>
          <p:cNvSpPr>
            <a:spLocks xmlns:a="http://schemas.openxmlformats.org/drawingml/2006/main" noGrp="1"/>
          </p:cNvSpPr>
          <p:nvPr/>
        </p:nvSpPr>
        <p:spPr>
          <a:xfrm xmlns:a="http://schemas.openxmlformats.org/drawingml/2006/main">
            <a:off x="1078992" y="2331720"/>
            <a:ext cx="282549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400"/>
              <a:buFont typeface="Arial"/>
              <a:buNone/>
            </a:pPr>
            <a:r>
              <a:rPr sz="2400">
                <a:solidFill>
                  <a:srgbClr val="FFFFFF"/>
                </a:solidFill>
                <a:latin typeface="Arial"/>
                <a:ea typeface="Arial"/>
                <a:cs typeface="Arial"/>
              </a:rPr>
              <a:t>What does the teacher want me to write?</a:t>
            </a:r>
          </a:p>
        </p:txBody>
      </p:sp>
      <p:sp>
        <p:nvSpPr>
          <p:cNvPr id="110" name="Google Shape;110;p7">
            <a:extLst xmlns:a="http://schemas.openxmlformats.org/drawingml/2006/main">
              <a:ext uri="{FF2B5EF4-FFF2-40B4-BE49-F238E27FC236}">
                <a16:creationId xmlns:a16="http://schemas.microsoft.com/office/drawing/2014/main" id="{90C424B4-2D4E-4808-B1D7-49D328AD3417}"/>
              </a:ext>
            </a:extLst>
          </p:cNvPr>
          <p:cNvSpPr>
            <a:spLocks xmlns:a="http://schemas.openxmlformats.org/drawingml/2006/main" noGrp="1"/>
          </p:cNvSpPr>
          <p:nvPr/>
        </p:nvSpPr>
        <p:spPr>
          <a:xfrm xmlns:a="http://schemas.openxmlformats.org/drawingml/2006/main">
            <a:off x="4526280" y="1828800"/>
            <a:ext cx="3154680" cy="2926080"/>
          </a:xfrm>
          <a:prstGeom xmlns:a="http://schemas.openxmlformats.org/drawingml/2006/main" prst="roundRect">
            <a:avLst>
              <a:gd name="adj" fmla="val 1875"/>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1" name="Google Shape;111;p7">
            <a:extLst xmlns:a="http://schemas.openxmlformats.org/drawingml/2006/main">
              <a:ext uri="{FF2B5EF4-FFF2-40B4-BE49-F238E27FC236}">
                <a16:creationId xmlns:a16="http://schemas.microsoft.com/office/drawing/2014/main" id="{251B71DE-9871-4D7E-9953-CCAB2D0902A7}"/>
              </a:ext>
            </a:extLst>
          </p:cNvPr>
          <p:cNvSpPr>
            <a:spLocks xmlns:a="http://schemas.openxmlformats.org/drawingml/2006/main" noGrp="1"/>
          </p:cNvSpPr>
          <p:nvPr/>
        </p:nvSpPr>
        <p:spPr>
          <a:xfrm xmlns:a="http://schemas.openxmlformats.org/drawingml/2006/main">
            <a:off x="4690872" y="1965960"/>
            <a:ext cx="28254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RESEARCH QUESTION</a:t>
            </a:r>
          </a:p>
        </p:txBody>
      </p:sp>
      <p:sp>
        <p:nvSpPr>
          <p:cNvPr id="112" name="Google Shape;112;p7">
            <a:extLst xmlns:a="http://schemas.openxmlformats.org/drawingml/2006/main">
              <a:ext uri="{FF2B5EF4-FFF2-40B4-BE49-F238E27FC236}">
                <a16:creationId xmlns:a16="http://schemas.microsoft.com/office/drawing/2014/main" id="{38BEE6B9-E9AA-43F8-A908-4116EAAB99D2}"/>
              </a:ext>
            </a:extLst>
          </p:cNvPr>
          <p:cNvSpPr>
            <a:spLocks xmlns:a="http://schemas.openxmlformats.org/drawingml/2006/main" noGrp="1"/>
          </p:cNvSpPr>
          <p:nvPr/>
        </p:nvSpPr>
        <p:spPr>
          <a:xfrm xmlns:a="http://schemas.openxmlformats.org/drawingml/2006/main">
            <a:off x="4690872" y="2331720"/>
            <a:ext cx="282549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400"/>
              <a:buFont typeface="Arial"/>
              <a:buNone/>
            </a:pPr>
            <a:r>
              <a:rPr sz="2400">
                <a:solidFill>
                  <a:srgbClr val="FFFFFF"/>
                </a:solidFill>
                <a:latin typeface="Arial"/>
                <a:ea typeface="Arial"/>
                <a:cs typeface="Arial"/>
              </a:rPr>
              <a:t>What does the evidence allow me to claim?</a:t>
            </a:r>
          </a:p>
        </p:txBody>
      </p:sp>
      <p:sp>
        <p:nvSpPr>
          <p:cNvPr id="113" name="Google Shape;113;p7">
            <a:extLst xmlns:a="http://schemas.openxmlformats.org/drawingml/2006/main">
              <a:ext uri="{FF2B5EF4-FFF2-40B4-BE49-F238E27FC236}">
                <a16:creationId xmlns:a16="http://schemas.microsoft.com/office/drawing/2014/main" id="{DBA9E45C-6873-429A-844F-5E7D7B4F7CA9}"/>
              </a:ext>
            </a:extLst>
          </p:cNvPr>
          <p:cNvSpPr>
            <a:spLocks xmlns:a="http://schemas.openxmlformats.org/drawingml/2006/main" noGrp="1"/>
          </p:cNvSpPr>
          <p:nvPr/>
        </p:nvSpPr>
        <p:spPr>
          <a:xfrm xmlns:a="http://schemas.openxmlformats.org/drawingml/2006/main">
            <a:off x="8138160" y="1828800"/>
            <a:ext cx="3154680" cy="2926080"/>
          </a:xfrm>
          <a:prstGeom xmlns:a="http://schemas.openxmlformats.org/drawingml/2006/main" prst="roundRect">
            <a:avLst>
              <a:gd name="adj" fmla="val 1875"/>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14" name="Google Shape;114;p7">
            <a:extLst xmlns:a="http://schemas.openxmlformats.org/drawingml/2006/main">
              <a:ext uri="{FF2B5EF4-FFF2-40B4-BE49-F238E27FC236}">
                <a16:creationId xmlns:a16="http://schemas.microsoft.com/office/drawing/2014/main" id="{D5FBA21A-2754-4289-95DD-D6959B5F721F}"/>
              </a:ext>
            </a:extLst>
          </p:cNvPr>
          <p:cNvSpPr>
            <a:spLocks xmlns:a="http://schemas.openxmlformats.org/drawingml/2006/main" noGrp="1"/>
          </p:cNvSpPr>
          <p:nvPr/>
        </p:nvSpPr>
        <p:spPr>
          <a:xfrm xmlns:a="http://schemas.openxmlformats.org/drawingml/2006/main">
            <a:off x="8302752" y="1965960"/>
            <a:ext cx="28254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STARLAB QUESTION</a:t>
            </a:r>
          </a:p>
        </p:txBody>
      </p:sp>
      <p:sp>
        <p:nvSpPr>
          <p:cNvPr id="115" name="Google Shape;115;p7">
            <a:extLst xmlns:a="http://schemas.openxmlformats.org/drawingml/2006/main">
              <a:ext uri="{FF2B5EF4-FFF2-40B4-BE49-F238E27FC236}">
                <a16:creationId xmlns:a16="http://schemas.microsoft.com/office/drawing/2014/main" id="{857BD1FA-79B9-492B-A8F3-F63FB45114B9}"/>
              </a:ext>
            </a:extLst>
          </p:cNvPr>
          <p:cNvSpPr>
            <a:spLocks xmlns:a="http://schemas.openxmlformats.org/drawingml/2006/main" noGrp="1"/>
          </p:cNvSpPr>
          <p:nvPr/>
        </p:nvSpPr>
        <p:spPr>
          <a:xfrm xmlns:a="http://schemas.openxmlformats.org/drawingml/2006/main">
            <a:off x="8302752" y="2331720"/>
            <a:ext cx="282549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What do I need to try, measure, revise, or explain next?</a:t>
            </a:r>
          </a:p>
        </p:txBody>
      </p:sp>
    </p:spTree>
    <p:extLst>
      <p:ext uri="{BB962C8B-B14F-4D97-AF65-F5344CB8AC3E}">
        <p14:creationId xmlns:p14="http://schemas.microsoft.com/office/powerpoint/2010/main" val="1867809265"/>
      </p:ext>
    </p:extLst>
  </p:cSld>
</p:sld>
</file>

<file path=ppt/slides/slide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21" name="Google Shape;121;p8">
            <a:extLst xmlns:a="http://schemas.openxmlformats.org/drawingml/2006/main">
              <a:ext uri="{FF2B5EF4-FFF2-40B4-BE49-F238E27FC236}">
                <a16:creationId xmlns:a16="http://schemas.microsoft.com/office/drawing/2014/main" id="{42CFBEAB-0B56-4D52-96E0-EFA5A2328E1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2" name="Google Shape;122;p8">
            <a:extLst xmlns:a="http://schemas.openxmlformats.org/drawingml/2006/main">
              <a:ext uri="{FF2B5EF4-FFF2-40B4-BE49-F238E27FC236}">
                <a16:creationId xmlns:a16="http://schemas.microsoft.com/office/drawing/2014/main" id="{1FDDD5A5-D957-4EA3-8D8F-29303EA957EB}"/>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3" name="Google Shape;123;p8">
            <a:extLst xmlns:a="http://schemas.openxmlformats.org/drawingml/2006/main">
              <a:ext uri="{FF2B5EF4-FFF2-40B4-BE49-F238E27FC236}">
                <a16:creationId xmlns:a16="http://schemas.microsoft.com/office/drawing/2014/main" id="{3217C9C3-048F-4B70-AFC2-23CB3F21BC00}"/>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24" name="Google Shape;124;p8">
            <a:extLst xmlns:a="http://schemas.openxmlformats.org/drawingml/2006/main">
              <a:ext uri="{FF2B5EF4-FFF2-40B4-BE49-F238E27FC236}">
                <a16:creationId xmlns:a16="http://schemas.microsoft.com/office/drawing/2014/main" id="{3189B090-DF19-495C-BCC5-960CB407F72F}"/>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RESEARCH PATHWAYS</a:t>
            </a:r>
          </a:p>
        </p:txBody>
      </p:sp>
      <p:sp>
        <p:nvSpPr>
          <p:cNvPr id="125" name="Google Shape;125;p8">
            <a:extLst xmlns:a="http://schemas.openxmlformats.org/drawingml/2006/main">
              <a:ext uri="{FF2B5EF4-FFF2-40B4-BE49-F238E27FC236}">
                <a16:creationId xmlns:a16="http://schemas.microsoft.com/office/drawing/2014/main" id="{3EE6259F-03CF-47E6-9AFA-EB5BDA268E09}"/>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26" name="Google Shape;126;p8">
            <a:extLst xmlns:a="http://schemas.openxmlformats.org/drawingml/2006/main">
              <a:ext uri="{FF2B5EF4-FFF2-40B4-BE49-F238E27FC236}">
                <a16:creationId xmlns:a16="http://schemas.microsoft.com/office/drawing/2014/main" id="{97EA7597-9BEA-4AFA-9B0C-CB6957E175B2}"/>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127" name="Google Shape;127;p8">
            <a:extLst xmlns:a="http://schemas.openxmlformats.org/drawingml/2006/main">
              <a:ext uri="{FF2B5EF4-FFF2-40B4-BE49-F238E27FC236}">
                <a16:creationId xmlns:a16="http://schemas.microsoft.com/office/drawing/2014/main" id="{F9BC7111-3FB7-46F8-9E7F-2D8D1CDA9368}"/>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Research Can Look Many Ways</a:t>
            </a:r>
          </a:p>
        </p:txBody>
      </p:sp>
      <p:sp>
        <p:nvSpPr>
          <p:cNvPr id="128" name="Google Shape;128;p8">
            <a:extLst xmlns:a="http://schemas.openxmlformats.org/drawingml/2006/main">
              <a:ext uri="{FF2B5EF4-FFF2-40B4-BE49-F238E27FC236}">
                <a16:creationId xmlns:a16="http://schemas.microsoft.com/office/drawing/2014/main" id="{153F543D-C841-49B7-996D-3BB9E8C9C4DD}"/>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STARLAB is not limited to one kind of science project.</a:t>
            </a:r>
          </a:p>
        </p:txBody>
      </p:sp>
      <p:cxnSp>
        <p:nvCxnSpPr>
          <p:cNvPr id="154" name="Google Shape;129;p8"/>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30" name="Google Shape;130;p8">
            <a:extLst xmlns:a="http://schemas.openxmlformats.org/drawingml/2006/main">
              <a:ext uri="{FF2B5EF4-FFF2-40B4-BE49-F238E27FC236}">
                <a16:creationId xmlns:a16="http://schemas.microsoft.com/office/drawing/2014/main" id="{D7641C69-5E97-4EE6-B652-4E5657817ACE}"/>
              </a:ext>
            </a:extLst>
          </p:cNvPr>
          <p:cNvSpPr>
            <a:spLocks xmlns:a="http://schemas.openxmlformats.org/drawingml/2006/main" noGrp="1"/>
          </p:cNvSpPr>
          <p:nvPr/>
        </p:nvSpPr>
        <p:spPr>
          <a:xfrm xmlns:a="http://schemas.openxmlformats.org/drawingml/2006/main">
            <a:off x="777240" y="1783080"/>
            <a:ext cx="2148840" cy="1463040"/>
          </a:xfrm>
          <a:prstGeom xmlns:a="http://schemas.openxmlformats.org/drawingml/2006/main" prst="roundRect">
            <a:avLst>
              <a:gd name="adj" fmla="val 375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1" name="Google Shape;131;p8">
            <a:extLst xmlns:a="http://schemas.openxmlformats.org/drawingml/2006/main">
              <a:ext uri="{FF2B5EF4-FFF2-40B4-BE49-F238E27FC236}">
                <a16:creationId xmlns:a16="http://schemas.microsoft.com/office/drawing/2014/main" id="{F4A7CC36-0504-48EC-91E9-8DB6FA358DDA}"/>
              </a:ext>
            </a:extLst>
          </p:cNvPr>
          <p:cNvSpPr>
            <a:spLocks xmlns:a="http://schemas.openxmlformats.org/drawingml/2006/main" noGrp="1"/>
          </p:cNvSpPr>
          <p:nvPr/>
        </p:nvSpPr>
        <p:spPr>
          <a:xfrm xmlns:a="http://schemas.openxmlformats.org/drawingml/2006/main">
            <a:off x="941832" y="1920240"/>
            <a:ext cx="18196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EXPERIMENT</a:t>
            </a:r>
          </a:p>
        </p:txBody>
      </p:sp>
      <p:sp>
        <p:nvSpPr>
          <p:cNvPr id="132" name="Google Shape;132;p8">
            <a:extLst xmlns:a="http://schemas.openxmlformats.org/drawingml/2006/main">
              <a:ext uri="{FF2B5EF4-FFF2-40B4-BE49-F238E27FC236}">
                <a16:creationId xmlns:a16="http://schemas.microsoft.com/office/drawing/2014/main" id="{E08DD92C-747C-43D4-8171-CE1F4E6A30D7}"/>
              </a:ext>
            </a:extLst>
          </p:cNvPr>
          <p:cNvSpPr>
            <a:spLocks xmlns:a="http://schemas.openxmlformats.org/drawingml/2006/main" noGrp="1"/>
          </p:cNvSpPr>
          <p:nvPr/>
        </p:nvSpPr>
        <p:spPr>
          <a:xfrm xmlns:a="http://schemas.openxmlformats.org/drawingml/2006/main">
            <a:off x="941832" y="2286000"/>
            <a:ext cx="1819656" cy="804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Change one factor and measure the outcome.</a:t>
            </a:r>
          </a:p>
        </p:txBody>
      </p:sp>
      <p:sp>
        <p:nvSpPr>
          <p:cNvPr id="133" name="Google Shape;133;p8">
            <a:extLst xmlns:a="http://schemas.openxmlformats.org/drawingml/2006/main">
              <a:ext uri="{FF2B5EF4-FFF2-40B4-BE49-F238E27FC236}">
                <a16:creationId xmlns:a16="http://schemas.microsoft.com/office/drawing/2014/main" id="{D7705619-B88B-4C3F-B3A5-207098963E01}"/>
              </a:ext>
            </a:extLst>
          </p:cNvPr>
          <p:cNvSpPr>
            <a:spLocks xmlns:a="http://schemas.openxmlformats.org/drawingml/2006/main" noGrp="1"/>
          </p:cNvSpPr>
          <p:nvPr/>
        </p:nvSpPr>
        <p:spPr>
          <a:xfrm xmlns:a="http://schemas.openxmlformats.org/drawingml/2006/main">
            <a:off x="3063240" y="1783080"/>
            <a:ext cx="2148840" cy="1463040"/>
          </a:xfrm>
          <a:prstGeom xmlns:a="http://schemas.openxmlformats.org/drawingml/2006/main" prst="roundRect">
            <a:avLst>
              <a:gd name="adj" fmla="val 375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4" name="Google Shape;134;p8">
            <a:extLst xmlns:a="http://schemas.openxmlformats.org/drawingml/2006/main">
              <a:ext uri="{FF2B5EF4-FFF2-40B4-BE49-F238E27FC236}">
                <a16:creationId xmlns:a16="http://schemas.microsoft.com/office/drawing/2014/main" id="{8BA98055-5A4C-4690-997F-3036B3E1B5EB}"/>
              </a:ext>
            </a:extLst>
          </p:cNvPr>
          <p:cNvSpPr>
            <a:spLocks xmlns:a="http://schemas.openxmlformats.org/drawingml/2006/main" noGrp="1"/>
          </p:cNvSpPr>
          <p:nvPr/>
        </p:nvSpPr>
        <p:spPr>
          <a:xfrm xmlns:a="http://schemas.openxmlformats.org/drawingml/2006/main">
            <a:off x="3227832" y="1920240"/>
            <a:ext cx="18196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ENGINEERING</a:t>
            </a:r>
          </a:p>
        </p:txBody>
      </p:sp>
      <p:sp>
        <p:nvSpPr>
          <p:cNvPr id="135" name="Google Shape;135;p8">
            <a:extLst xmlns:a="http://schemas.openxmlformats.org/drawingml/2006/main">
              <a:ext uri="{FF2B5EF4-FFF2-40B4-BE49-F238E27FC236}">
                <a16:creationId xmlns:a16="http://schemas.microsoft.com/office/drawing/2014/main" id="{677F7C8A-CC6A-4BF2-9C56-15C260D32A3E}"/>
              </a:ext>
            </a:extLst>
          </p:cNvPr>
          <p:cNvSpPr>
            <a:spLocks xmlns:a="http://schemas.openxmlformats.org/drawingml/2006/main" noGrp="1"/>
          </p:cNvSpPr>
          <p:nvPr/>
        </p:nvSpPr>
        <p:spPr>
          <a:xfrm xmlns:a="http://schemas.openxmlformats.org/drawingml/2006/main">
            <a:off x="3227832" y="2286000"/>
            <a:ext cx="1819656" cy="804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Define a problem, build, test, redesign.</a:t>
            </a:r>
          </a:p>
        </p:txBody>
      </p:sp>
      <p:sp>
        <p:nvSpPr>
          <p:cNvPr id="136" name="Google Shape;136;p8">
            <a:extLst xmlns:a="http://schemas.openxmlformats.org/drawingml/2006/main">
              <a:ext uri="{FF2B5EF4-FFF2-40B4-BE49-F238E27FC236}">
                <a16:creationId xmlns:a16="http://schemas.microsoft.com/office/drawing/2014/main" id="{A1D2008A-AD9E-4981-A27C-0EEA927419DA}"/>
              </a:ext>
            </a:extLst>
          </p:cNvPr>
          <p:cNvSpPr>
            <a:spLocks xmlns:a="http://schemas.openxmlformats.org/drawingml/2006/main" noGrp="1"/>
          </p:cNvSpPr>
          <p:nvPr/>
        </p:nvSpPr>
        <p:spPr>
          <a:xfrm xmlns:a="http://schemas.openxmlformats.org/drawingml/2006/main">
            <a:off x="5349240" y="1783080"/>
            <a:ext cx="2148840" cy="1463040"/>
          </a:xfrm>
          <a:prstGeom xmlns:a="http://schemas.openxmlformats.org/drawingml/2006/main" prst="roundRect">
            <a:avLst>
              <a:gd name="adj" fmla="val 375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37" name="Google Shape;137;p8">
            <a:extLst xmlns:a="http://schemas.openxmlformats.org/drawingml/2006/main">
              <a:ext uri="{FF2B5EF4-FFF2-40B4-BE49-F238E27FC236}">
                <a16:creationId xmlns:a16="http://schemas.microsoft.com/office/drawing/2014/main" id="{A1621013-23CC-46B1-8C57-C15D2E6A600F}"/>
              </a:ext>
            </a:extLst>
          </p:cNvPr>
          <p:cNvSpPr>
            <a:spLocks xmlns:a="http://schemas.openxmlformats.org/drawingml/2006/main" noGrp="1"/>
          </p:cNvSpPr>
          <p:nvPr/>
        </p:nvSpPr>
        <p:spPr>
          <a:xfrm xmlns:a="http://schemas.openxmlformats.org/drawingml/2006/main">
            <a:off x="5513832" y="1920240"/>
            <a:ext cx="18196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DATA / CODE</a:t>
            </a:r>
          </a:p>
        </p:txBody>
      </p:sp>
      <p:sp>
        <p:nvSpPr>
          <p:cNvPr id="138" name="Google Shape;138;p8">
            <a:extLst xmlns:a="http://schemas.openxmlformats.org/drawingml/2006/main">
              <a:ext uri="{FF2B5EF4-FFF2-40B4-BE49-F238E27FC236}">
                <a16:creationId xmlns:a16="http://schemas.microsoft.com/office/drawing/2014/main" id="{D9C22C66-2131-4575-BD3D-2386CF808C21}"/>
              </a:ext>
            </a:extLst>
          </p:cNvPr>
          <p:cNvSpPr>
            <a:spLocks xmlns:a="http://schemas.openxmlformats.org/drawingml/2006/main" noGrp="1"/>
          </p:cNvSpPr>
          <p:nvPr/>
        </p:nvSpPr>
        <p:spPr>
          <a:xfrm xmlns:a="http://schemas.openxmlformats.org/drawingml/2006/main">
            <a:off x="5513832" y="2286000"/>
            <a:ext cx="1819656" cy="804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Analyze existing data, models, or algorithms.</a:t>
            </a:r>
          </a:p>
        </p:txBody>
      </p:sp>
      <p:sp>
        <p:nvSpPr>
          <p:cNvPr id="139" name="Google Shape;139;p8">
            <a:extLst xmlns:a="http://schemas.openxmlformats.org/drawingml/2006/main">
              <a:ext uri="{FF2B5EF4-FFF2-40B4-BE49-F238E27FC236}">
                <a16:creationId xmlns:a16="http://schemas.microsoft.com/office/drawing/2014/main" id="{60695987-2ADC-4C46-903C-5B0FEB88AF44}"/>
              </a:ext>
            </a:extLst>
          </p:cNvPr>
          <p:cNvSpPr>
            <a:spLocks xmlns:a="http://schemas.openxmlformats.org/drawingml/2006/main" noGrp="1"/>
          </p:cNvSpPr>
          <p:nvPr/>
        </p:nvSpPr>
        <p:spPr>
          <a:xfrm xmlns:a="http://schemas.openxmlformats.org/drawingml/2006/main">
            <a:off x="7635240" y="1783080"/>
            <a:ext cx="2148840" cy="1463040"/>
          </a:xfrm>
          <a:prstGeom xmlns:a="http://schemas.openxmlformats.org/drawingml/2006/main" prst="roundRect">
            <a:avLst>
              <a:gd name="adj" fmla="val 3750"/>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0" name="Google Shape;140;p8">
            <a:extLst xmlns:a="http://schemas.openxmlformats.org/drawingml/2006/main">
              <a:ext uri="{FF2B5EF4-FFF2-40B4-BE49-F238E27FC236}">
                <a16:creationId xmlns:a16="http://schemas.microsoft.com/office/drawing/2014/main" id="{8B633A51-7954-4148-9FCA-89344B35D464}"/>
              </a:ext>
            </a:extLst>
          </p:cNvPr>
          <p:cNvSpPr>
            <a:spLocks xmlns:a="http://schemas.openxmlformats.org/drawingml/2006/main" noGrp="1"/>
          </p:cNvSpPr>
          <p:nvPr/>
        </p:nvSpPr>
        <p:spPr>
          <a:xfrm xmlns:a="http://schemas.openxmlformats.org/drawingml/2006/main">
            <a:off x="7799832" y="1920240"/>
            <a:ext cx="181965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FIELD / OBS.</a:t>
            </a:r>
          </a:p>
        </p:txBody>
      </p:sp>
      <p:sp>
        <p:nvSpPr>
          <p:cNvPr id="141" name="Google Shape;141;p8">
            <a:extLst xmlns:a="http://schemas.openxmlformats.org/drawingml/2006/main">
              <a:ext uri="{FF2B5EF4-FFF2-40B4-BE49-F238E27FC236}">
                <a16:creationId xmlns:a16="http://schemas.microsoft.com/office/drawing/2014/main" id="{D12EDC6D-6FD6-4B38-9384-3373121AE0AA}"/>
              </a:ext>
            </a:extLst>
          </p:cNvPr>
          <p:cNvSpPr>
            <a:spLocks xmlns:a="http://schemas.openxmlformats.org/drawingml/2006/main" noGrp="1"/>
          </p:cNvSpPr>
          <p:nvPr/>
        </p:nvSpPr>
        <p:spPr>
          <a:xfrm xmlns:a="http://schemas.openxmlformats.org/drawingml/2006/main">
            <a:off x="7799832" y="2286000"/>
            <a:ext cx="1819656" cy="80467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Collect evidence from real-world systems.</a:t>
            </a:r>
          </a:p>
        </p:txBody>
      </p:sp>
      <p:sp>
        <p:nvSpPr>
          <p:cNvPr id="142" name="Google Shape;142;p8">
            <a:extLst xmlns:a="http://schemas.openxmlformats.org/drawingml/2006/main">
              <a:ext uri="{FF2B5EF4-FFF2-40B4-BE49-F238E27FC236}">
                <a16:creationId xmlns:a16="http://schemas.microsoft.com/office/drawing/2014/main" id="{980F9007-FA3D-4CCB-BEEA-9DA643C32ED7}"/>
              </a:ext>
            </a:extLst>
          </p:cNvPr>
          <p:cNvSpPr>
            <a:spLocks xmlns:a="http://schemas.openxmlformats.org/drawingml/2006/main" noGrp="1"/>
          </p:cNvSpPr>
          <p:nvPr/>
        </p:nvSpPr>
        <p:spPr>
          <a:xfrm xmlns:a="http://schemas.openxmlformats.org/drawingml/2006/main">
            <a:off x="4983480" y="3657600"/>
            <a:ext cx="2240280" cy="1325880"/>
          </a:xfrm>
          <a:prstGeom xmlns:a="http://schemas.openxmlformats.org/drawingml/2006/main" prst="roundRect">
            <a:avLst>
              <a:gd name="adj" fmla="val 4138"/>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43" name="Google Shape;143;p8">
            <a:extLst xmlns:a="http://schemas.openxmlformats.org/drawingml/2006/main">
              <a:ext uri="{FF2B5EF4-FFF2-40B4-BE49-F238E27FC236}">
                <a16:creationId xmlns:a16="http://schemas.microsoft.com/office/drawing/2014/main" id="{F856C707-AE69-47A0-9AFA-6AFC2B7BC172}"/>
              </a:ext>
            </a:extLst>
          </p:cNvPr>
          <p:cNvSpPr>
            <a:spLocks xmlns:a="http://schemas.openxmlformats.org/drawingml/2006/main" noGrp="1"/>
          </p:cNvSpPr>
          <p:nvPr/>
        </p:nvSpPr>
        <p:spPr>
          <a:xfrm xmlns:a="http://schemas.openxmlformats.org/drawingml/2006/main">
            <a:off x="5148072" y="3794760"/>
            <a:ext cx="19110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PROTOTYPE</a:t>
            </a:r>
          </a:p>
        </p:txBody>
      </p:sp>
      <p:sp>
        <p:nvSpPr>
          <p:cNvPr id="144" name="Google Shape;144;p8">
            <a:extLst xmlns:a="http://schemas.openxmlformats.org/drawingml/2006/main">
              <a:ext uri="{FF2B5EF4-FFF2-40B4-BE49-F238E27FC236}">
                <a16:creationId xmlns:a16="http://schemas.microsoft.com/office/drawing/2014/main" id="{517DE70F-36E4-42EB-80A2-A72E0C6282CC}"/>
              </a:ext>
            </a:extLst>
          </p:cNvPr>
          <p:cNvSpPr>
            <a:spLocks xmlns:a="http://schemas.openxmlformats.org/drawingml/2006/main" noGrp="1"/>
          </p:cNvSpPr>
          <p:nvPr/>
        </p:nvSpPr>
        <p:spPr>
          <a:xfrm xmlns:a="http://schemas.openxmlformats.org/drawingml/2006/main">
            <a:off x="5148072" y="4160520"/>
            <a:ext cx="1911096" cy="667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700"/>
              <a:buFont typeface="Arial"/>
              <a:buNone/>
            </a:pPr>
            <a:r>
              <a:rPr sz="1700">
                <a:solidFill>
                  <a:srgbClr val="FFFFFF"/>
                </a:solidFill>
                <a:latin typeface="Arial"/>
                <a:ea typeface="Arial"/>
                <a:cs typeface="Arial"/>
              </a:rPr>
              <a:t>Compare versions using performance metrics.</a:t>
            </a:r>
          </a:p>
        </p:txBody>
      </p:sp>
      <p:sp>
        <p:nvSpPr>
          <p:cNvPr id="145" name="Google Shape;145;p8">
            <a:extLst xmlns:a="http://schemas.openxmlformats.org/drawingml/2006/main">
              <a:ext uri="{FF2B5EF4-FFF2-40B4-BE49-F238E27FC236}">
                <a16:creationId xmlns:a16="http://schemas.microsoft.com/office/drawing/2014/main" id="{6D21036E-6956-4DAD-864C-4E2A08B07C54}"/>
              </a:ext>
            </a:extLst>
          </p:cNvPr>
          <p:cNvSpPr>
            <a:spLocks xmlns:a="http://schemas.openxmlformats.org/drawingml/2006/main" noGrp="1"/>
          </p:cNvSpPr>
          <p:nvPr/>
        </p:nvSpPr>
        <p:spPr>
          <a:xfrm xmlns:a="http://schemas.openxmlformats.org/drawingml/2006/main">
            <a:off x="914400" y="5468112"/>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200"/>
              <a:buFont typeface="Play"/>
              <a:buNone/>
            </a:pPr>
            <a:r>
              <a:rPr sz="2200" b="1">
                <a:solidFill>
                  <a:srgbClr val="FFFFFF"/>
                </a:solidFill>
                <a:latin typeface="Play"/>
                <a:ea typeface="Play"/>
                <a:cs typeface="Play"/>
              </a:rPr>
              <a:t>Different paths. Same expectations: evidence, ethics, documentation, communication.</a:t>
            </a:r>
          </a:p>
        </p:txBody>
      </p:sp>
    </p:spTree>
    <p:extLst>
      <p:ext uri="{BB962C8B-B14F-4D97-AF65-F5344CB8AC3E}">
        <p14:creationId xmlns:p14="http://schemas.microsoft.com/office/powerpoint/2010/main" val="923407368"/>
      </p:ext>
    </p:extLst>
  </p:cSld>
</p:sld>
</file>

<file path=ppt/slides/slide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51" name="Google Shape;151;p9">
            <a:extLst xmlns:a="http://schemas.openxmlformats.org/drawingml/2006/main">
              <a:ext uri="{FF2B5EF4-FFF2-40B4-BE49-F238E27FC236}">
                <a16:creationId xmlns:a16="http://schemas.microsoft.com/office/drawing/2014/main" id="{86011B2E-17C9-4221-B864-1BA101095049}"/>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2" name="Google Shape;152;p9">
            <a:extLst xmlns:a="http://schemas.openxmlformats.org/drawingml/2006/main">
              <a:ext uri="{FF2B5EF4-FFF2-40B4-BE49-F238E27FC236}">
                <a16:creationId xmlns:a16="http://schemas.microsoft.com/office/drawing/2014/main" id="{BB6E8502-0F7D-4F7C-B10E-EC145FE96738}"/>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3" name="Google Shape;153;p9">
            <a:extLst xmlns:a="http://schemas.openxmlformats.org/drawingml/2006/main">
              <a:ext uri="{FF2B5EF4-FFF2-40B4-BE49-F238E27FC236}">
                <a16:creationId xmlns:a16="http://schemas.microsoft.com/office/drawing/2014/main" id="{C1421F08-3BB4-473A-AAC7-0885E4FC4FF7}"/>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54" name="Google Shape;154;p9">
            <a:extLst xmlns:a="http://schemas.openxmlformats.org/drawingml/2006/main">
              <a:ext uri="{FF2B5EF4-FFF2-40B4-BE49-F238E27FC236}">
                <a16:creationId xmlns:a16="http://schemas.microsoft.com/office/drawing/2014/main" id="{AB47B340-CFB0-4AE2-80AC-EA94875A0458}"/>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155" name="Google Shape;155;p9">
            <a:extLst xmlns:a="http://schemas.openxmlformats.org/drawingml/2006/main">
              <a:ext uri="{FF2B5EF4-FFF2-40B4-BE49-F238E27FC236}">
                <a16:creationId xmlns:a16="http://schemas.microsoft.com/office/drawing/2014/main" id="{A4524FB7-FD7F-4140-85D4-ED0550FA8A98}"/>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56" name="Google Shape;156;p9">
            <a:extLst xmlns:a="http://schemas.openxmlformats.org/drawingml/2006/main">
              <a:ext uri="{FF2B5EF4-FFF2-40B4-BE49-F238E27FC236}">
                <a16:creationId xmlns:a16="http://schemas.microsoft.com/office/drawing/2014/main" id="{59BBC8C2-FCF1-4A86-B3B3-711ED09551C6}"/>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157" name="Google Shape;157;p9">
            <a:extLst xmlns:a="http://schemas.openxmlformats.org/drawingml/2006/main">
              <a:ext uri="{FF2B5EF4-FFF2-40B4-BE49-F238E27FC236}">
                <a16:creationId xmlns:a16="http://schemas.microsoft.com/office/drawing/2014/main" id="{92F508B2-27FC-40D7-93B9-4F65ACB2FF8B}"/>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What Makes It Authentic?</a:t>
            </a:r>
          </a:p>
        </p:txBody>
      </p:sp>
      <p:sp>
        <p:nvSpPr>
          <p:cNvPr id="158" name="Google Shape;158;p9">
            <a:extLst xmlns:a="http://schemas.openxmlformats.org/drawingml/2006/main">
              <a:ext uri="{FF2B5EF4-FFF2-40B4-BE49-F238E27FC236}">
                <a16:creationId xmlns:a16="http://schemas.microsoft.com/office/drawing/2014/main" id="{BFBA4335-E32E-4379-B7E1-9920612CDCDA}"/>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Authentic research includes uncertainty, evidence, revision, and communication.</a:t>
            </a:r>
          </a:p>
        </p:txBody>
      </p:sp>
      <p:cxnSp>
        <p:nvCxnSpPr>
          <p:cNvPr id="180" name="Google Shape;159;p9"/>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60" name="Google Shape;160;p9">
            <a:extLst xmlns:a="http://schemas.openxmlformats.org/drawingml/2006/main">
              <a:ext uri="{FF2B5EF4-FFF2-40B4-BE49-F238E27FC236}">
                <a16:creationId xmlns:a16="http://schemas.microsoft.com/office/drawing/2014/main" id="{310BCDFB-DB63-4806-BF85-C69A11029822}"/>
              </a:ext>
            </a:extLst>
          </p:cNvPr>
          <p:cNvSpPr>
            <a:spLocks xmlns:a="http://schemas.openxmlformats.org/drawingml/2006/main" noGrp="1"/>
          </p:cNvSpPr>
          <p:nvPr/>
        </p:nvSpPr>
        <p:spPr>
          <a:xfrm xmlns:a="http://schemas.openxmlformats.org/drawingml/2006/main">
            <a:off x="914400" y="1828800"/>
            <a:ext cx="2331720" cy="2926080"/>
          </a:xfrm>
          <a:prstGeom xmlns:a="http://schemas.openxmlformats.org/drawingml/2006/main" prst="roundRect">
            <a:avLst>
              <a:gd name="adj" fmla="val 2353"/>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1" name="Google Shape;161;p9">
            <a:extLst xmlns:a="http://schemas.openxmlformats.org/drawingml/2006/main">
              <a:ext uri="{FF2B5EF4-FFF2-40B4-BE49-F238E27FC236}">
                <a16:creationId xmlns:a16="http://schemas.microsoft.com/office/drawing/2014/main" id="{4CA1C240-197A-4C82-A77D-434C12D8E801}"/>
              </a:ext>
            </a:extLst>
          </p:cNvPr>
          <p:cNvSpPr>
            <a:spLocks xmlns:a="http://schemas.openxmlformats.org/drawingml/2006/main" noGrp="1"/>
          </p:cNvSpPr>
          <p:nvPr/>
        </p:nvSpPr>
        <p:spPr>
          <a:xfrm xmlns:a="http://schemas.openxmlformats.org/drawingml/2006/main">
            <a:off x="1078992" y="1965960"/>
            <a:ext cx="20025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UNCERTAINTY</a:t>
            </a:r>
          </a:p>
        </p:txBody>
      </p:sp>
      <p:sp>
        <p:nvSpPr>
          <p:cNvPr id="162" name="Google Shape;162;p9">
            <a:extLst xmlns:a="http://schemas.openxmlformats.org/drawingml/2006/main">
              <a:ext uri="{FF2B5EF4-FFF2-40B4-BE49-F238E27FC236}">
                <a16:creationId xmlns:a16="http://schemas.microsoft.com/office/drawing/2014/main" id="{67A404C0-41A9-4C65-9541-48DA5AD24F7E}"/>
              </a:ext>
            </a:extLst>
          </p:cNvPr>
          <p:cNvSpPr>
            <a:spLocks xmlns:a="http://schemas.openxmlformats.org/drawingml/2006/main" noGrp="1"/>
          </p:cNvSpPr>
          <p:nvPr/>
        </p:nvSpPr>
        <p:spPr>
          <a:xfrm xmlns:a="http://schemas.openxmlformats.org/drawingml/2006/main">
            <a:off x="1078992" y="2331720"/>
            <a:ext cx="200253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The outcome is not fully known in advance.</a:t>
            </a:r>
          </a:p>
        </p:txBody>
      </p:sp>
      <p:sp>
        <p:nvSpPr>
          <p:cNvPr id="163" name="Google Shape;163;p9">
            <a:extLst xmlns:a="http://schemas.openxmlformats.org/drawingml/2006/main">
              <a:ext uri="{FF2B5EF4-FFF2-40B4-BE49-F238E27FC236}">
                <a16:creationId xmlns:a16="http://schemas.microsoft.com/office/drawing/2014/main" id="{27F161BF-C834-4D36-8124-52B0758D983B}"/>
              </a:ext>
            </a:extLst>
          </p:cNvPr>
          <p:cNvSpPr>
            <a:spLocks xmlns:a="http://schemas.openxmlformats.org/drawingml/2006/main" noGrp="1"/>
          </p:cNvSpPr>
          <p:nvPr/>
        </p:nvSpPr>
        <p:spPr>
          <a:xfrm xmlns:a="http://schemas.openxmlformats.org/drawingml/2006/main">
            <a:off x="3566160" y="1828800"/>
            <a:ext cx="2331720" cy="2926080"/>
          </a:xfrm>
          <a:prstGeom xmlns:a="http://schemas.openxmlformats.org/drawingml/2006/main" prst="roundRect">
            <a:avLst>
              <a:gd name="adj" fmla="val 2353"/>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4" name="Google Shape;164;p9">
            <a:extLst xmlns:a="http://schemas.openxmlformats.org/drawingml/2006/main">
              <a:ext uri="{FF2B5EF4-FFF2-40B4-BE49-F238E27FC236}">
                <a16:creationId xmlns:a16="http://schemas.microsoft.com/office/drawing/2014/main" id="{58FFF76C-6F0A-4FF6-8BAC-CFFAB8D2A5C7}"/>
              </a:ext>
            </a:extLst>
          </p:cNvPr>
          <p:cNvSpPr>
            <a:spLocks xmlns:a="http://schemas.openxmlformats.org/drawingml/2006/main" noGrp="1"/>
          </p:cNvSpPr>
          <p:nvPr/>
        </p:nvSpPr>
        <p:spPr>
          <a:xfrm xmlns:a="http://schemas.openxmlformats.org/drawingml/2006/main">
            <a:off x="3730752" y="1965960"/>
            <a:ext cx="20025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EVIDENCE</a:t>
            </a:r>
          </a:p>
        </p:txBody>
      </p:sp>
      <p:sp>
        <p:nvSpPr>
          <p:cNvPr id="165" name="Google Shape;165;p9">
            <a:extLst xmlns:a="http://schemas.openxmlformats.org/drawingml/2006/main">
              <a:ext uri="{FF2B5EF4-FFF2-40B4-BE49-F238E27FC236}">
                <a16:creationId xmlns:a16="http://schemas.microsoft.com/office/drawing/2014/main" id="{8D0BB11B-FF21-4A78-B6FD-6671FDDA7922}"/>
              </a:ext>
            </a:extLst>
          </p:cNvPr>
          <p:cNvSpPr>
            <a:spLocks xmlns:a="http://schemas.openxmlformats.org/drawingml/2006/main" noGrp="1"/>
          </p:cNvSpPr>
          <p:nvPr/>
        </p:nvSpPr>
        <p:spPr>
          <a:xfrm xmlns:a="http://schemas.openxmlformats.org/drawingml/2006/main">
            <a:off x="3730752" y="2331720"/>
            <a:ext cx="200253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Claims must be supported by data, observations, testing, or analysis.</a:t>
            </a:r>
          </a:p>
        </p:txBody>
      </p:sp>
      <p:sp>
        <p:nvSpPr>
          <p:cNvPr id="166" name="Google Shape;166;p9">
            <a:extLst xmlns:a="http://schemas.openxmlformats.org/drawingml/2006/main">
              <a:ext uri="{FF2B5EF4-FFF2-40B4-BE49-F238E27FC236}">
                <a16:creationId xmlns:a16="http://schemas.microsoft.com/office/drawing/2014/main" id="{162B33C2-91E6-43A6-86C4-D617C9E94621}"/>
              </a:ext>
            </a:extLst>
          </p:cNvPr>
          <p:cNvSpPr>
            <a:spLocks xmlns:a="http://schemas.openxmlformats.org/drawingml/2006/main" noGrp="1"/>
          </p:cNvSpPr>
          <p:nvPr/>
        </p:nvSpPr>
        <p:spPr>
          <a:xfrm xmlns:a="http://schemas.openxmlformats.org/drawingml/2006/main">
            <a:off x="6217920" y="1828800"/>
            <a:ext cx="2331720" cy="2926080"/>
          </a:xfrm>
          <a:prstGeom xmlns:a="http://schemas.openxmlformats.org/drawingml/2006/main" prst="roundRect">
            <a:avLst>
              <a:gd name="adj" fmla="val 2353"/>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67" name="Google Shape;167;p9">
            <a:extLst xmlns:a="http://schemas.openxmlformats.org/drawingml/2006/main">
              <a:ext uri="{FF2B5EF4-FFF2-40B4-BE49-F238E27FC236}">
                <a16:creationId xmlns:a16="http://schemas.microsoft.com/office/drawing/2014/main" id="{823BD5E5-3ABF-40AA-8B98-457005AD6708}"/>
              </a:ext>
            </a:extLst>
          </p:cNvPr>
          <p:cNvSpPr>
            <a:spLocks xmlns:a="http://schemas.openxmlformats.org/drawingml/2006/main" noGrp="1"/>
          </p:cNvSpPr>
          <p:nvPr/>
        </p:nvSpPr>
        <p:spPr>
          <a:xfrm xmlns:a="http://schemas.openxmlformats.org/drawingml/2006/main">
            <a:off x="6382512" y="1965960"/>
            <a:ext cx="20025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REVISION</a:t>
            </a:r>
          </a:p>
        </p:txBody>
      </p:sp>
      <p:sp>
        <p:nvSpPr>
          <p:cNvPr id="168" name="Google Shape;168;p9">
            <a:extLst xmlns:a="http://schemas.openxmlformats.org/drawingml/2006/main">
              <a:ext uri="{FF2B5EF4-FFF2-40B4-BE49-F238E27FC236}">
                <a16:creationId xmlns:a16="http://schemas.microsoft.com/office/drawing/2014/main" id="{016BD583-DB5B-40A0-A08D-B701BE10569D}"/>
              </a:ext>
            </a:extLst>
          </p:cNvPr>
          <p:cNvSpPr>
            <a:spLocks xmlns:a="http://schemas.openxmlformats.org/drawingml/2006/main" noGrp="1"/>
          </p:cNvSpPr>
          <p:nvPr/>
        </p:nvSpPr>
        <p:spPr>
          <a:xfrm xmlns:a="http://schemas.openxmlformats.org/drawingml/2006/main">
            <a:off x="6382512" y="2331720"/>
            <a:ext cx="200253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Methods and ideas improve when reality pushes back.</a:t>
            </a:r>
          </a:p>
        </p:txBody>
      </p:sp>
      <p:sp>
        <p:nvSpPr>
          <p:cNvPr id="169" name="Google Shape;169;p9">
            <a:extLst xmlns:a="http://schemas.openxmlformats.org/drawingml/2006/main">
              <a:ext uri="{FF2B5EF4-FFF2-40B4-BE49-F238E27FC236}">
                <a16:creationId xmlns:a16="http://schemas.microsoft.com/office/drawing/2014/main" id="{507B947A-97DD-48E2-B19F-DF3B71849E05}"/>
              </a:ext>
            </a:extLst>
          </p:cNvPr>
          <p:cNvSpPr>
            <a:spLocks xmlns:a="http://schemas.openxmlformats.org/drawingml/2006/main" noGrp="1"/>
          </p:cNvSpPr>
          <p:nvPr/>
        </p:nvSpPr>
        <p:spPr>
          <a:xfrm xmlns:a="http://schemas.openxmlformats.org/drawingml/2006/main">
            <a:off x="8869680" y="1828800"/>
            <a:ext cx="2331720" cy="2926080"/>
          </a:xfrm>
          <a:prstGeom xmlns:a="http://schemas.openxmlformats.org/drawingml/2006/main" prst="roundRect">
            <a:avLst>
              <a:gd name="adj" fmla="val 2353"/>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0" name="Google Shape;170;p9">
            <a:extLst xmlns:a="http://schemas.openxmlformats.org/drawingml/2006/main">
              <a:ext uri="{FF2B5EF4-FFF2-40B4-BE49-F238E27FC236}">
                <a16:creationId xmlns:a16="http://schemas.microsoft.com/office/drawing/2014/main" id="{FDF44B9B-0F45-46D7-9A15-A9F40D9D2967}"/>
              </a:ext>
            </a:extLst>
          </p:cNvPr>
          <p:cNvSpPr>
            <a:spLocks xmlns:a="http://schemas.openxmlformats.org/drawingml/2006/main" noGrp="1"/>
          </p:cNvSpPr>
          <p:nvPr/>
        </p:nvSpPr>
        <p:spPr>
          <a:xfrm xmlns:a="http://schemas.openxmlformats.org/drawingml/2006/main">
            <a:off x="9034272" y="1965960"/>
            <a:ext cx="200253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COMMUNICATION</a:t>
            </a:r>
          </a:p>
        </p:txBody>
      </p:sp>
      <p:sp>
        <p:nvSpPr>
          <p:cNvPr id="171" name="Google Shape;171;p9">
            <a:extLst xmlns:a="http://schemas.openxmlformats.org/drawingml/2006/main">
              <a:ext uri="{FF2B5EF4-FFF2-40B4-BE49-F238E27FC236}">
                <a16:creationId xmlns:a16="http://schemas.microsoft.com/office/drawing/2014/main" id="{52214F5D-D0C3-4CC9-902B-DCD71A25F4BC}"/>
              </a:ext>
            </a:extLst>
          </p:cNvPr>
          <p:cNvSpPr>
            <a:spLocks xmlns:a="http://schemas.openxmlformats.org/drawingml/2006/main" noGrp="1"/>
          </p:cNvSpPr>
          <p:nvPr/>
        </p:nvSpPr>
        <p:spPr>
          <a:xfrm xmlns:a="http://schemas.openxmlformats.org/drawingml/2006/main">
            <a:off x="9034272" y="2331720"/>
            <a:ext cx="2002536" cy="22677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000"/>
              <a:buFont typeface="Arial"/>
              <a:buNone/>
            </a:pPr>
            <a:r>
              <a:rPr sz="2000">
                <a:solidFill>
                  <a:srgbClr val="FFFFFF"/>
                </a:solidFill>
                <a:latin typeface="Arial"/>
                <a:ea typeface="Arial"/>
                <a:cs typeface="Arial"/>
              </a:rPr>
              <a:t>Research is not complete until others can understand it.</a:t>
            </a:r>
          </a:p>
        </p:txBody>
      </p:sp>
    </p:spTree>
    <p:extLst>
      <p:ext uri="{BB962C8B-B14F-4D97-AF65-F5344CB8AC3E}">
        <p14:creationId xmlns:p14="http://schemas.microsoft.com/office/powerpoint/2010/main" val="2045729346"/>
      </p:ext>
    </p:extLst>
  </p:cSld>
</p:sld>
</file>

<file path=ppt/slides/slide8.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77" name="Google Shape;177;p10">
            <a:extLst xmlns:a="http://schemas.openxmlformats.org/drawingml/2006/main">
              <a:ext uri="{FF2B5EF4-FFF2-40B4-BE49-F238E27FC236}">
                <a16:creationId xmlns:a16="http://schemas.microsoft.com/office/drawing/2014/main" id="{BF80EBF1-CEFA-4330-978D-0111972BE31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8" name="Google Shape;178;p10">
            <a:extLst xmlns:a="http://schemas.openxmlformats.org/drawingml/2006/main">
              <a:ext uri="{FF2B5EF4-FFF2-40B4-BE49-F238E27FC236}">
                <a16:creationId xmlns:a16="http://schemas.microsoft.com/office/drawing/2014/main" id="{6644175F-7041-468C-B50F-39B3FB52B6A2}"/>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79" name="Google Shape;179;p10">
            <a:extLst xmlns:a="http://schemas.openxmlformats.org/drawingml/2006/main">
              <a:ext uri="{FF2B5EF4-FFF2-40B4-BE49-F238E27FC236}">
                <a16:creationId xmlns:a16="http://schemas.microsoft.com/office/drawing/2014/main" id="{D8182F51-2F3C-4D37-93FF-3029AE064D20}"/>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0" name="Google Shape;180;p10">
            <a:extLst xmlns:a="http://schemas.openxmlformats.org/drawingml/2006/main">
              <a:ext uri="{FF2B5EF4-FFF2-40B4-BE49-F238E27FC236}">
                <a16:creationId xmlns:a16="http://schemas.microsoft.com/office/drawing/2014/main" id="{2A1C6479-3614-4CB3-A864-205A642E6E47}"/>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181" name="Google Shape;181;p10">
            <a:extLst xmlns:a="http://schemas.openxmlformats.org/drawingml/2006/main">
              <a:ext uri="{FF2B5EF4-FFF2-40B4-BE49-F238E27FC236}">
                <a16:creationId xmlns:a16="http://schemas.microsoft.com/office/drawing/2014/main" id="{9E248B61-3873-4942-8A09-0715F05E3E26}"/>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82" name="Google Shape;182;p10">
            <a:extLst xmlns:a="http://schemas.openxmlformats.org/drawingml/2006/main">
              <a:ext uri="{FF2B5EF4-FFF2-40B4-BE49-F238E27FC236}">
                <a16:creationId xmlns:a16="http://schemas.microsoft.com/office/drawing/2014/main" id="{84DC3652-0325-41FC-A4C6-01CEFAFDF7C6}"/>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183" name="Google Shape;183;p10">
            <a:extLst xmlns:a="http://schemas.openxmlformats.org/drawingml/2006/main">
              <a:ext uri="{FF2B5EF4-FFF2-40B4-BE49-F238E27FC236}">
                <a16:creationId xmlns:a16="http://schemas.microsoft.com/office/drawing/2014/main" id="{76183816-753E-4CF7-BB55-ECE99A456B72}"/>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Quick Write: What Counts as Research?</a:t>
            </a:r>
          </a:p>
        </p:txBody>
      </p:sp>
      <p:sp>
        <p:nvSpPr>
          <p:cNvPr id="184" name="Google Shape;184;p10">
            <a:extLst xmlns:a="http://schemas.openxmlformats.org/drawingml/2006/main">
              <a:ext uri="{FF2B5EF4-FFF2-40B4-BE49-F238E27FC236}">
                <a16:creationId xmlns:a16="http://schemas.microsoft.com/office/drawing/2014/main" id="{1587CB26-5950-4AA8-BA11-3F3643F38BBF}"/>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4 minutes • Unit 1</a:t>
            </a:r>
          </a:p>
        </p:txBody>
      </p:sp>
      <p:cxnSp>
        <p:nvCxnSpPr>
          <p:cNvPr id="197" name="Google Shape;185;p10"/>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186" name="Google Shape;186;p10">
            <a:extLst xmlns:a="http://schemas.openxmlformats.org/drawingml/2006/main">
              <a:ext uri="{FF2B5EF4-FFF2-40B4-BE49-F238E27FC236}">
                <a16:creationId xmlns:a16="http://schemas.microsoft.com/office/drawing/2014/main" id="{36F54E77-35DA-4F90-BFF6-ED0FC853BB71}"/>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87" name="Google Shape;187;p10">
            <a:extLst xmlns:a="http://schemas.openxmlformats.org/drawingml/2006/main">
              <a:ext uri="{FF2B5EF4-FFF2-40B4-BE49-F238E27FC236}">
                <a16:creationId xmlns:a16="http://schemas.microsoft.com/office/drawing/2014/main" id="{567860DB-263D-4325-AF30-B82A6CC642AB}"/>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188" name="Google Shape;188;p10">
            <a:extLst xmlns:a="http://schemas.openxmlformats.org/drawingml/2006/main">
              <a:ext uri="{FF2B5EF4-FFF2-40B4-BE49-F238E27FC236}">
                <a16:creationId xmlns:a16="http://schemas.microsoft.com/office/drawing/2014/main" id="{3CE94C78-68E3-4BCA-BC6C-9E3DEC47ABB0}"/>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In your packet, answer: “What makes a project real research instead of just an activity or demonstration?”</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Use one example.</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Then compare your answer with a partner.</a:t>
            </a:r>
          </a:p>
        </p:txBody>
      </p:sp>
    </p:spTree>
    <p:extLst>
      <p:ext uri="{BB962C8B-B14F-4D97-AF65-F5344CB8AC3E}">
        <p14:creationId xmlns:p14="http://schemas.microsoft.com/office/powerpoint/2010/main" val="1969548662"/>
      </p:ext>
    </p:extLst>
  </p:cSld>
</p:sld>
</file>

<file path=ppt/slides/slide9.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194" name="Google Shape;194;p11">
            <a:extLst xmlns:a="http://schemas.openxmlformats.org/drawingml/2006/main">
              <a:ext uri="{FF2B5EF4-FFF2-40B4-BE49-F238E27FC236}">
                <a16:creationId xmlns:a16="http://schemas.microsoft.com/office/drawing/2014/main" id="{2AE48179-67FE-4BDE-9FD1-DAB2EA45178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5" name="Google Shape;195;p11">
            <a:extLst xmlns:a="http://schemas.openxmlformats.org/drawingml/2006/main">
              <a:ext uri="{FF2B5EF4-FFF2-40B4-BE49-F238E27FC236}">
                <a16:creationId xmlns:a16="http://schemas.microsoft.com/office/drawing/2014/main" id="{5EC6DF46-7946-4822-9048-28EFAEB22FCD}"/>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6" name="Google Shape;196;p11">
            <a:extLst xmlns:a="http://schemas.openxmlformats.org/drawingml/2006/main">
              <a:ext uri="{FF2B5EF4-FFF2-40B4-BE49-F238E27FC236}">
                <a16:creationId xmlns:a16="http://schemas.microsoft.com/office/drawing/2014/main" id="{3F651A15-2F1C-46CC-A763-FFF695F4D69C}"/>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197" name="Google Shape;197;p11">
            <a:extLst xmlns:a="http://schemas.openxmlformats.org/drawingml/2006/main">
              <a:ext uri="{FF2B5EF4-FFF2-40B4-BE49-F238E27FC236}">
                <a16:creationId xmlns:a16="http://schemas.microsoft.com/office/drawing/2014/main" id="{8BEA8928-04D4-4C36-8E4D-44E2DF72EE17}"/>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198" name="Google Shape;198;p11">
            <a:extLst xmlns:a="http://schemas.openxmlformats.org/drawingml/2006/main">
              <a:ext uri="{FF2B5EF4-FFF2-40B4-BE49-F238E27FC236}">
                <a16:creationId xmlns:a16="http://schemas.microsoft.com/office/drawing/2014/main" id="{9013A202-C483-4675-A389-89AB08B6C40A}"/>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199" name="Google Shape;199;p11">
            <a:extLst xmlns:a="http://schemas.openxmlformats.org/drawingml/2006/main">
              <a:ext uri="{FF2B5EF4-FFF2-40B4-BE49-F238E27FC236}">
                <a16:creationId xmlns:a16="http://schemas.microsoft.com/office/drawing/2014/main" id="{000D758F-D62B-44B6-B55E-4CEAC338979D}"/>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200" name="Google Shape;200;p11">
            <a:extLst xmlns:a="http://schemas.openxmlformats.org/drawingml/2006/main">
              <a:ext uri="{FF2B5EF4-FFF2-40B4-BE49-F238E27FC236}">
                <a16:creationId xmlns:a16="http://schemas.microsoft.com/office/drawing/2014/main" id="{23128B03-BB21-4052-A867-AA7AE280F93E}"/>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Not Research Yet → Stronger Research</a:t>
            </a:r>
          </a:p>
        </p:txBody>
      </p:sp>
      <p:sp>
        <p:nvSpPr>
          <p:cNvPr id="201" name="Google Shape;201;p11">
            <a:extLst xmlns:a="http://schemas.openxmlformats.org/drawingml/2006/main">
              <a:ext uri="{FF2B5EF4-FFF2-40B4-BE49-F238E27FC236}">
                <a16:creationId xmlns:a16="http://schemas.microsoft.com/office/drawing/2014/main" id="{CA69D4BC-057E-4ECC-9576-6E1029E161E3}"/>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A good idea usually needs narrowing before it becomes investigable.</a:t>
            </a:r>
          </a:p>
        </p:txBody>
      </p:sp>
      <p:cxnSp>
        <p:nvCxnSpPr>
          <p:cNvPr id="221" name="Google Shape;202;p11"/>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03" name="Google Shape;203;p11">
            <a:extLst xmlns:a="http://schemas.openxmlformats.org/drawingml/2006/main">
              <a:ext uri="{FF2B5EF4-FFF2-40B4-BE49-F238E27FC236}">
                <a16:creationId xmlns:a16="http://schemas.microsoft.com/office/drawing/2014/main" id="{9DB0E3B6-A4D3-4841-9501-25AC54303F8D}"/>
              </a:ext>
            </a:extLst>
          </p:cNvPr>
          <p:cNvSpPr>
            <a:spLocks xmlns:a="http://schemas.openxmlformats.org/drawingml/2006/main" noGrp="1"/>
          </p:cNvSpPr>
          <p:nvPr/>
        </p:nvSpPr>
        <p:spPr>
          <a:xfrm xmlns:a="http://schemas.openxmlformats.org/drawingml/2006/main">
            <a:off x="822960" y="1920240"/>
            <a:ext cx="3337560" cy="2468880"/>
          </a:xfrm>
          <a:prstGeom xmlns:a="http://schemas.openxmlformats.org/drawingml/2006/main" prst="roundRect">
            <a:avLst>
              <a:gd name="adj" fmla="val 2222"/>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4" name="Google Shape;204;p11">
            <a:extLst xmlns:a="http://schemas.openxmlformats.org/drawingml/2006/main">
              <a:ext uri="{FF2B5EF4-FFF2-40B4-BE49-F238E27FC236}">
                <a16:creationId xmlns:a16="http://schemas.microsoft.com/office/drawing/2014/main" id="{9B6B931C-8586-4434-B634-9BE555D344B1}"/>
              </a:ext>
            </a:extLst>
          </p:cNvPr>
          <p:cNvSpPr>
            <a:spLocks xmlns:a="http://schemas.openxmlformats.org/drawingml/2006/main" noGrp="1"/>
          </p:cNvSpPr>
          <p:nvPr/>
        </p:nvSpPr>
        <p:spPr>
          <a:xfrm xmlns:a="http://schemas.openxmlformats.org/drawingml/2006/main">
            <a:off x="987552" y="2057400"/>
            <a:ext cx="30083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NOT RESEARCH YET</a:t>
            </a:r>
          </a:p>
        </p:txBody>
      </p:sp>
      <p:sp>
        <p:nvSpPr>
          <p:cNvPr id="205" name="Google Shape;205;p11">
            <a:extLst xmlns:a="http://schemas.openxmlformats.org/drawingml/2006/main">
              <a:ext uri="{FF2B5EF4-FFF2-40B4-BE49-F238E27FC236}">
                <a16:creationId xmlns:a16="http://schemas.microsoft.com/office/drawing/2014/main" id="{07D2443D-7AE0-4745-865A-E76A22D40FE2}"/>
              </a:ext>
            </a:extLst>
          </p:cNvPr>
          <p:cNvSpPr>
            <a:spLocks xmlns:a="http://schemas.openxmlformats.org/drawingml/2006/main" noGrp="1"/>
          </p:cNvSpPr>
          <p:nvPr/>
        </p:nvSpPr>
        <p:spPr>
          <a:xfrm xmlns:a="http://schemas.openxmlformats.org/drawingml/2006/main">
            <a:off x="987552" y="2423160"/>
            <a:ext cx="3008376" cy="1810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400"/>
              <a:buFont typeface="Arial"/>
              <a:buNone/>
            </a:pPr>
            <a:r>
              <a:rPr sz="2400">
                <a:solidFill>
                  <a:srgbClr val="FFFFFF"/>
                </a:solidFill>
                <a:latin typeface="Arial"/>
                <a:ea typeface="Arial"/>
                <a:cs typeface="Arial"/>
              </a:rPr>
              <a:t>“I want to learn about cancer.”</a:t>
            </a:r>
          </a:p>
        </p:txBody>
      </p:sp>
      <p:sp>
        <p:nvSpPr>
          <p:cNvPr id="206" name="Google Shape;206;p11">
            <a:extLst xmlns:a="http://schemas.openxmlformats.org/drawingml/2006/main">
              <a:ext uri="{FF2B5EF4-FFF2-40B4-BE49-F238E27FC236}">
                <a16:creationId xmlns:a16="http://schemas.microsoft.com/office/drawing/2014/main" id="{1BEE3F06-1F28-4DA6-865E-A83F1B78199F}"/>
              </a:ext>
            </a:extLst>
          </p:cNvPr>
          <p:cNvSpPr>
            <a:spLocks xmlns:a="http://schemas.openxmlformats.org/drawingml/2006/main" noGrp="1"/>
          </p:cNvSpPr>
          <p:nvPr/>
        </p:nvSpPr>
        <p:spPr>
          <a:xfrm xmlns:a="http://schemas.openxmlformats.org/drawingml/2006/main">
            <a:off x="4434840" y="1920240"/>
            <a:ext cx="3337560" cy="2468880"/>
          </a:xfrm>
          <a:prstGeom xmlns:a="http://schemas.openxmlformats.org/drawingml/2006/main" prst="roundRect">
            <a:avLst>
              <a:gd name="adj" fmla="val 2222"/>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07" name="Google Shape;207;p11">
            <a:extLst xmlns:a="http://schemas.openxmlformats.org/drawingml/2006/main">
              <a:ext uri="{FF2B5EF4-FFF2-40B4-BE49-F238E27FC236}">
                <a16:creationId xmlns:a16="http://schemas.microsoft.com/office/drawing/2014/main" id="{E885B390-0374-402C-976E-6DF8A96B3306}"/>
              </a:ext>
            </a:extLst>
          </p:cNvPr>
          <p:cNvSpPr>
            <a:spLocks xmlns:a="http://schemas.openxmlformats.org/drawingml/2006/main" noGrp="1"/>
          </p:cNvSpPr>
          <p:nvPr/>
        </p:nvSpPr>
        <p:spPr>
          <a:xfrm xmlns:a="http://schemas.openxmlformats.org/drawingml/2006/main">
            <a:off x="4599432" y="2057400"/>
            <a:ext cx="30083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POSSIBLE DIRECTION</a:t>
            </a:r>
          </a:p>
        </p:txBody>
      </p:sp>
      <p:sp>
        <p:nvSpPr>
          <p:cNvPr id="208" name="Google Shape;208;p11">
            <a:extLst xmlns:a="http://schemas.openxmlformats.org/drawingml/2006/main">
              <a:ext uri="{FF2B5EF4-FFF2-40B4-BE49-F238E27FC236}">
                <a16:creationId xmlns:a16="http://schemas.microsoft.com/office/drawing/2014/main" id="{ABDC8130-507D-491A-918A-87E7B766FD80}"/>
              </a:ext>
            </a:extLst>
          </p:cNvPr>
          <p:cNvSpPr>
            <a:spLocks xmlns:a="http://schemas.openxmlformats.org/drawingml/2006/main" noGrp="1"/>
          </p:cNvSpPr>
          <p:nvPr/>
        </p:nvSpPr>
        <p:spPr>
          <a:xfrm xmlns:a="http://schemas.openxmlformats.org/drawingml/2006/main">
            <a:off x="4599432" y="2423160"/>
            <a:ext cx="3008376" cy="1810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“I want to study how cells respond to stress.”</a:t>
            </a:r>
          </a:p>
        </p:txBody>
      </p:sp>
      <p:sp>
        <p:nvSpPr>
          <p:cNvPr id="209" name="Google Shape;209;p11">
            <a:extLst xmlns:a="http://schemas.openxmlformats.org/drawingml/2006/main">
              <a:ext uri="{FF2B5EF4-FFF2-40B4-BE49-F238E27FC236}">
                <a16:creationId xmlns:a16="http://schemas.microsoft.com/office/drawing/2014/main" id="{07A4742F-670B-4138-9940-C7A5050353F9}"/>
              </a:ext>
            </a:extLst>
          </p:cNvPr>
          <p:cNvSpPr>
            <a:spLocks xmlns:a="http://schemas.openxmlformats.org/drawingml/2006/main" noGrp="1"/>
          </p:cNvSpPr>
          <p:nvPr/>
        </p:nvSpPr>
        <p:spPr>
          <a:xfrm xmlns:a="http://schemas.openxmlformats.org/drawingml/2006/main">
            <a:off x="8046720" y="1920240"/>
            <a:ext cx="3337560" cy="2468880"/>
          </a:xfrm>
          <a:prstGeom xmlns:a="http://schemas.openxmlformats.org/drawingml/2006/main" prst="roundRect">
            <a:avLst>
              <a:gd name="adj" fmla="val 2222"/>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0" name="Google Shape;210;p11">
            <a:extLst xmlns:a="http://schemas.openxmlformats.org/drawingml/2006/main">
              <a:ext uri="{FF2B5EF4-FFF2-40B4-BE49-F238E27FC236}">
                <a16:creationId xmlns:a16="http://schemas.microsoft.com/office/drawing/2014/main" id="{E0B89E84-0586-4FAE-82FD-4A3150D99051}"/>
              </a:ext>
            </a:extLst>
          </p:cNvPr>
          <p:cNvSpPr>
            <a:spLocks xmlns:a="http://schemas.openxmlformats.org/drawingml/2006/main" noGrp="1"/>
          </p:cNvSpPr>
          <p:nvPr/>
        </p:nvSpPr>
        <p:spPr>
          <a:xfrm xmlns:a="http://schemas.openxmlformats.org/drawingml/2006/main">
            <a:off x="8211312" y="2057400"/>
            <a:ext cx="300837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STRONGER RESEARCH</a:t>
            </a:r>
          </a:p>
        </p:txBody>
      </p:sp>
      <p:sp>
        <p:nvSpPr>
          <p:cNvPr id="211" name="Google Shape;211;p11">
            <a:extLst xmlns:a="http://schemas.openxmlformats.org/drawingml/2006/main">
              <a:ext uri="{FF2B5EF4-FFF2-40B4-BE49-F238E27FC236}">
                <a16:creationId xmlns:a16="http://schemas.microsoft.com/office/drawing/2014/main" id="{4EE22B00-C322-4094-8888-76C2DEBAF503}"/>
              </a:ext>
            </a:extLst>
          </p:cNvPr>
          <p:cNvSpPr>
            <a:spLocks xmlns:a="http://schemas.openxmlformats.org/drawingml/2006/main" noGrp="1"/>
          </p:cNvSpPr>
          <p:nvPr/>
        </p:nvSpPr>
        <p:spPr>
          <a:xfrm xmlns:a="http://schemas.openxmlformats.org/drawingml/2006/main">
            <a:off x="8211312" y="2423160"/>
            <a:ext cx="3008376" cy="181051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“How does simulated environmental stress affect a measurable model system under safe classroom conditions?”</a:t>
            </a:r>
          </a:p>
        </p:txBody>
      </p:sp>
      <p:sp>
        <p:nvSpPr>
          <p:cNvPr id="212" name="Google Shape;212;p11">
            <a:extLst xmlns:a="http://schemas.openxmlformats.org/drawingml/2006/main">
              <a:ext uri="{FF2B5EF4-FFF2-40B4-BE49-F238E27FC236}">
                <a16:creationId xmlns:a16="http://schemas.microsoft.com/office/drawing/2014/main" id="{81D8373D-6AF5-406E-8FEA-1FFA92AF76FA}"/>
              </a:ext>
            </a:extLst>
          </p:cNvPr>
          <p:cNvSpPr>
            <a:spLocks xmlns:a="http://schemas.openxmlformats.org/drawingml/2006/main" noGrp="1"/>
          </p:cNvSpPr>
          <p:nvPr/>
        </p:nvSpPr>
        <p:spPr>
          <a:xfrm xmlns:a="http://schemas.openxmlformats.org/drawingml/2006/main">
            <a:off x="914400" y="5257800"/>
            <a:ext cx="1033272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400"/>
              <a:buFont typeface="Play"/>
              <a:buNone/>
            </a:pPr>
            <a:r>
              <a:rPr sz="2400" b="1">
                <a:solidFill>
                  <a:srgbClr val="FFFFFF"/>
                </a:solidFill>
                <a:latin typeface="Play"/>
                <a:ea typeface="Play"/>
                <a:cs typeface="Play"/>
              </a:rPr>
              <a:t>Move from topic → focused system → measurable evidence.</a:t>
            </a:r>
          </a:p>
        </p:txBody>
      </p:sp>
    </p:spTree>
    <p:extLst>
      <p:ext uri="{BB962C8B-B14F-4D97-AF65-F5344CB8AC3E}">
        <p14:creationId xmlns:p14="http://schemas.microsoft.com/office/powerpoint/2010/main" val="339578929"/>
      </p:ext>
    </p:extLst>
  </p:cSld>
</p:sld>
</file>

<file path=ppt/slides/slide10.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18" name="Google Shape;218;p12">
            <a:extLst xmlns:a="http://schemas.openxmlformats.org/drawingml/2006/main">
              <a:ext uri="{FF2B5EF4-FFF2-40B4-BE49-F238E27FC236}">
                <a16:creationId xmlns:a16="http://schemas.microsoft.com/office/drawing/2014/main" id="{B2A656E8-71E1-440F-A259-8951248AAE2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19" name="Google Shape;219;p12">
            <a:extLst xmlns:a="http://schemas.openxmlformats.org/drawingml/2006/main">
              <a:ext uri="{FF2B5EF4-FFF2-40B4-BE49-F238E27FC236}">
                <a16:creationId xmlns:a16="http://schemas.microsoft.com/office/drawing/2014/main" id="{7B5A5D57-ED7E-4F17-A953-F036E02BC0F3}"/>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0" name="Google Shape;220;p12">
            <a:extLst xmlns:a="http://schemas.openxmlformats.org/drawingml/2006/main">
              <a:ext uri="{FF2B5EF4-FFF2-40B4-BE49-F238E27FC236}">
                <a16:creationId xmlns:a16="http://schemas.microsoft.com/office/drawing/2014/main" id="{FDE742EA-6868-447B-A3D9-18662121E8D8}"/>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21" name="Google Shape;221;p12">
            <a:extLst xmlns:a="http://schemas.openxmlformats.org/drawingml/2006/main">
              <a:ext uri="{FF2B5EF4-FFF2-40B4-BE49-F238E27FC236}">
                <a16:creationId xmlns:a16="http://schemas.microsoft.com/office/drawing/2014/main" id="{029B3F3C-F732-4C96-ACC5-825333785A22}"/>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222" name="Google Shape;222;p12">
            <a:extLst xmlns:a="http://schemas.openxmlformats.org/drawingml/2006/main">
              <a:ext uri="{FF2B5EF4-FFF2-40B4-BE49-F238E27FC236}">
                <a16:creationId xmlns:a16="http://schemas.microsoft.com/office/drawing/2014/main" id="{9A92D596-8229-44A5-9188-0DF1D23E20AF}"/>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23" name="Google Shape;223;p12">
            <a:extLst xmlns:a="http://schemas.openxmlformats.org/drawingml/2006/main">
              <a:ext uri="{FF2B5EF4-FFF2-40B4-BE49-F238E27FC236}">
                <a16:creationId xmlns:a16="http://schemas.microsoft.com/office/drawing/2014/main" id="{9FDE2991-1BC2-4F5B-8974-2ACAED95A160}"/>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224" name="Google Shape;224;p12">
            <a:extLst xmlns:a="http://schemas.openxmlformats.org/drawingml/2006/main">
              <a:ext uri="{FF2B5EF4-FFF2-40B4-BE49-F238E27FC236}">
                <a16:creationId xmlns:a16="http://schemas.microsoft.com/office/drawing/2014/main" id="{534D4AFE-7264-40C1-951E-EAD42C233EBE}"/>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Failure Is Data</a:t>
            </a:r>
          </a:p>
        </p:txBody>
      </p:sp>
      <p:sp>
        <p:nvSpPr>
          <p:cNvPr id="225" name="Google Shape;225;p12">
            <a:extLst xmlns:a="http://schemas.openxmlformats.org/drawingml/2006/main">
              <a:ext uri="{FF2B5EF4-FFF2-40B4-BE49-F238E27FC236}">
                <a16:creationId xmlns:a16="http://schemas.microsoft.com/office/drawing/2014/main" id="{206D68D8-A192-448B-BA01-F0C373B58DE1}"/>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When something fails, the question becomes: what did it reveal?</a:t>
            </a:r>
          </a:p>
        </p:txBody>
      </p:sp>
      <p:cxnSp>
        <p:nvCxnSpPr>
          <p:cNvPr id="236" name="Google Shape;226;p12"/>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27" name="Google Shape;227;p12">
            <a:extLst xmlns:a="http://schemas.openxmlformats.org/drawingml/2006/main">
              <a:ext uri="{FF2B5EF4-FFF2-40B4-BE49-F238E27FC236}">
                <a16:creationId xmlns:a16="http://schemas.microsoft.com/office/drawing/2014/main" id="{2740D65D-609C-4879-9DFE-C399CD1AF53F}"/>
              </a:ext>
            </a:extLst>
          </p:cNvPr>
          <p:cNvSpPr>
            <a:spLocks xmlns:a="http://schemas.openxmlformats.org/drawingml/2006/main" noGrp="1"/>
          </p:cNvSpPr>
          <p:nvPr/>
        </p:nvSpPr>
        <p:spPr>
          <a:xfrm xmlns:a="http://schemas.openxmlformats.org/drawingml/2006/main">
            <a:off x="1005840" y="1874520"/>
            <a:ext cx="10058400" cy="3566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600">
                <a:solidFill>
                  <a:srgbClr val="FFFFFF"/>
                </a:solidFill>
                <a:latin typeface="Arial"/>
                <a:ea typeface="Arial"/>
                <a:cs typeface="Arial"/>
              </a:rPr>
              <a:t>A failed setup can reveal a better method</a:t>
            </a:r>
          </a:p>
          <a:p xmlns:a="http://schemas.openxmlformats.org/drawingml/2006/main">
            <a:pPr marL="0" marR="0" indent="0" algn="l">
              <a:spcBef>
                <a:spcPts val="0"/>
              </a:spcBef>
              <a:spcAft>
                <a:spcPts val="0"/>
              </a:spcAft>
              <a:buNone/>
            </a:pPr>
            <a:r>
              <a:rPr sz="2600">
                <a:solidFill>
                  <a:srgbClr val="FFFFFF"/>
                </a:solidFill>
                <a:latin typeface="Arial"/>
                <a:ea typeface="Arial"/>
                <a:cs typeface="Arial"/>
              </a:rPr>
              <a:t>A failed prototype can reveal a design constraint</a:t>
            </a:r>
          </a:p>
          <a:p xmlns:a="http://schemas.openxmlformats.org/drawingml/2006/main">
            <a:pPr marL="0" marR="0" indent="0" algn="l">
              <a:spcBef>
                <a:spcPts val="0"/>
              </a:spcBef>
              <a:spcAft>
                <a:spcPts val="0"/>
              </a:spcAft>
              <a:buNone/>
            </a:pPr>
            <a:r>
              <a:rPr sz="2600">
                <a:solidFill>
                  <a:srgbClr val="FFFFFF"/>
                </a:solidFill>
                <a:latin typeface="Arial"/>
                <a:ea typeface="Arial"/>
                <a:cs typeface="Arial"/>
              </a:rPr>
              <a:t>Unexpected data can reveal a hidden variable</a:t>
            </a:r>
          </a:p>
          <a:p xmlns:a="http://schemas.openxmlformats.org/drawingml/2006/main">
            <a:pPr marL="0" marR="0" indent="0" algn="l">
              <a:spcBef>
                <a:spcPts val="0"/>
              </a:spcBef>
              <a:spcAft>
                <a:spcPts val="0"/>
              </a:spcAft>
              <a:buNone/>
            </a:pPr>
            <a:r>
              <a:rPr sz="2600">
                <a:solidFill>
                  <a:srgbClr val="FFFFFF"/>
                </a:solidFill>
                <a:latin typeface="Arial"/>
                <a:ea typeface="Arial"/>
                <a:cs typeface="Arial"/>
              </a:rPr>
              <a:t>A confusing result can reveal the next question</a:t>
            </a:r>
          </a:p>
        </p:txBody>
      </p:sp>
    </p:spTree>
    <p:extLst>
      <p:ext uri="{BB962C8B-B14F-4D97-AF65-F5344CB8AC3E}">
        <p14:creationId xmlns:p14="http://schemas.microsoft.com/office/powerpoint/2010/main" val="1803198739"/>
      </p:ext>
    </p:extLst>
  </p:cSld>
</p:sld>
</file>

<file path=ppt/slides/slide11.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33" name="Google Shape;233;p13">
            <a:extLst xmlns:a="http://schemas.openxmlformats.org/drawingml/2006/main">
              <a:ext uri="{FF2B5EF4-FFF2-40B4-BE49-F238E27FC236}">
                <a16:creationId xmlns:a16="http://schemas.microsoft.com/office/drawing/2014/main" id="{FA07B726-3313-4336-B507-6F737BFEDE9F}"/>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4" name="Google Shape;234;p13">
            <a:extLst xmlns:a="http://schemas.openxmlformats.org/drawingml/2006/main">
              <a:ext uri="{FF2B5EF4-FFF2-40B4-BE49-F238E27FC236}">
                <a16:creationId xmlns:a16="http://schemas.microsoft.com/office/drawing/2014/main" id="{45772910-E140-4B84-9FAB-AFBF98A52B18}"/>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5" name="Google Shape;235;p13">
            <a:extLst xmlns:a="http://schemas.openxmlformats.org/drawingml/2006/main">
              <a:ext uri="{FF2B5EF4-FFF2-40B4-BE49-F238E27FC236}">
                <a16:creationId xmlns:a16="http://schemas.microsoft.com/office/drawing/2014/main" id="{05787CB6-3102-4963-BB78-2982944DFE3B}"/>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36" name="Google Shape;236;p13">
            <a:extLst xmlns:a="http://schemas.openxmlformats.org/drawingml/2006/main">
              <a:ext uri="{FF2B5EF4-FFF2-40B4-BE49-F238E27FC236}">
                <a16:creationId xmlns:a16="http://schemas.microsoft.com/office/drawing/2014/main" id="{7CC6547C-777D-4589-ADDB-73A319D00218}"/>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237" name="Google Shape;237;p13">
            <a:extLst xmlns:a="http://schemas.openxmlformats.org/drawingml/2006/main">
              <a:ext uri="{FF2B5EF4-FFF2-40B4-BE49-F238E27FC236}">
                <a16:creationId xmlns:a16="http://schemas.microsoft.com/office/drawing/2014/main" id="{D9DE12A2-889E-467A-8250-9D31E6022A7C}"/>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38" name="Google Shape;238;p13">
            <a:extLst xmlns:a="http://schemas.openxmlformats.org/drawingml/2006/main">
              <a:ext uri="{FF2B5EF4-FFF2-40B4-BE49-F238E27FC236}">
                <a16:creationId xmlns:a16="http://schemas.microsoft.com/office/drawing/2014/main" id="{687F58D6-3D3B-4B4C-B019-DA567AFADED2}"/>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239" name="Google Shape;239;p13">
            <a:extLst xmlns:a="http://schemas.openxmlformats.org/drawingml/2006/main">
              <a:ext uri="{FF2B5EF4-FFF2-40B4-BE49-F238E27FC236}">
                <a16:creationId xmlns:a16="http://schemas.microsoft.com/office/drawing/2014/main" id="{E32185C5-84B7-4805-8A24-D33897E75257}"/>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Documentation Is the Memory of Research</a:t>
            </a:r>
          </a:p>
        </p:txBody>
      </p:sp>
      <p:sp>
        <p:nvSpPr>
          <p:cNvPr id="240" name="Google Shape;240;p13">
            <a:extLst xmlns:a="http://schemas.openxmlformats.org/drawingml/2006/main">
              <a:ext uri="{FF2B5EF4-FFF2-40B4-BE49-F238E27FC236}">
                <a16:creationId xmlns:a16="http://schemas.microsoft.com/office/drawing/2014/main" id="{150FA513-DA26-4EC8-BC94-BBFB417AF002}"/>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If it is not documented, it may not be usable later.</a:t>
            </a:r>
          </a:p>
        </p:txBody>
      </p:sp>
      <p:cxnSp>
        <p:nvCxnSpPr>
          <p:cNvPr id="257" name="Google Shape;241;p13"/>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42" name="Google Shape;242;p13">
            <a:extLst xmlns:a="http://schemas.openxmlformats.org/drawingml/2006/main">
              <a:ext uri="{FF2B5EF4-FFF2-40B4-BE49-F238E27FC236}">
                <a16:creationId xmlns:a16="http://schemas.microsoft.com/office/drawing/2014/main" id="{0C0FB48F-58EF-4578-8463-39A9AA88848D}"/>
              </a:ext>
            </a:extLst>
          </p:cNvPr>
          <p:cNvSpPr>
            <a:spLocks xmlns:a="http://schemas.openxmlformats.org/drawingml/2006/main" noGrp="1"/>
          </p:cNvSpPr>
          <p:nvPr/>
        </p:nvSpPr>
        <p:spPr>
          <a:xfrm xmlns:a="http://schemas.openxmlformats.org/drawingml/2006/main">
            <a:off x="914400" y="1920240"/>
            <a:ext cx="4754880" cy="2331720"/>
          </a:xfrm>
          <a:prstGeom xmlns:a="http://schemas.openxmlformats.org/drawingml/2006/main" prst="roundRect">
            <a:avLst>
              <a:gd name="adj" fmla="val 2353"/>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3" name="Google Shape;243;p13">
            <a:extLst xmlns:a="http://schemas.openxmlformats.org/drawingml/2006/main">
              <a:ext uri="{FF2B5EF4-FFF2-40B4-BE49-F238E27FC236}">
                <a16:creationId xmlns:a16="http://schemas.microsoft.com/office/drawing/2014/main" id="{1AA18A71-F0AC-4FA1-9CCE-C703CD219B5C}"/>
              </a:ext>
            </a:extLst>
          </p:cNvPr>
          <p:cNvSpPr>
            <a:spLocks xmlns:a="http://schemas.openxmlformats.org/drawingml/2006/main" noGrp="1"/>
          </p:cNvSpPr>
          <p:nvPr/>
        </p:nvSpPr>
        <p:spPr>
          <a:xfrm xmlns:a="http://schemas.openxmlformats.org/drawingml/2006/main">
            <a:off x="1078992" y="2057400"/>
            <a:ext cx="44256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WEAK NOTE</a:t>
            </a:r>
          </a:p>
        </p:txBody>
      </p:sp>
      <p:sp>
        <p:nvSpPr>
          <p:cNvPr id="244" name="Google Shape;244;p13">
            <a:extLst xmlns:a="http://schemas.openxmlformats.org/drawingml/2006/main">
              <a:ext uri="{FF2B5EF4-FFF2-40B4-BE49-F238E27FC236}">
                <a16:creationId xmlns:a16="http://schemas.microsoft.com/office/drawing/2014/main" id="{82184718-8271-4B4B-A679-5F2E2401AA33}"/>
              </a:ext>
            </a:extLst>
          </p:cNvPr>
          <p:cNvSpPr>
            <a:spLocks xmlns:a="http://schemas.openxmlformats.org/drawingml/2006/main" noGrp="1"/>
          </p:cNvSpPr>
          <p:nvPr/>
        </p:nvSpPr>
        <p:spPr>
          <a:xfrm xmlns:a="http://schemas.openxmlformats.org/drawingml/2006/main">
            <a:off x="1078992" y="2423160"/>
            <a:ext cx="4425696" cy="1673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600"/>
              <a:buFont typeface="Arial"/>
              <a:buNone/>
            </a:pPr>
            <a:r>
              <a:rPr sz="2600">
                <a:solidFill>
                  <a:srgbClr val="FFFFFF"/>
                </a:solidFill>
                <a:latin typeface="Arial"/>
                <a:ea typeface="Arial"/>
                <a:cs typeface="Arial"/>
              </a:rPr>
              <a:t>“Tested it. Didn’t work.”</a:t>
            </a:r>
          </a:p>
        </p:txBody>
      </p:sp>
      <p:sp>
        <p:nvSpPr>
          <p:cNvPr id="245" name="Google Shape;245;p13">
            <a:extLst xmlns:a="http://schemas.openxmlformats.org/drawingml/2006/main">
              <a:ext uri="{FF2B5EF4-FFF2-40B4-BE49-F238E27FC236}">
                <a16:creationId xmlns:a16="http://schemas.microsoft.com/office/drawing/2014/main" id="{FEFAA88A-7B08-4D3C-86B1-AB45FDE4134D}"/>
              </a:ext>
            </a:extLst>
          </p:cNvPr>
          <p:cNvSpPr>
            <a:spLocks xmlns:a="http://schemas.openxmlformats.org/drawingml/2006/main" noGrp="1"/>
          </p:cNvSpPr>
          <p:nvPr/>
        </p:nvSpPr>
        <p:spPr>
          <a:xfrm xmlns:a="http://schemas.openxmlformats.org/drawingml/2006/main">
            <a:off x="6263640" y="1920240"/>
            <a:ext cx="4754880" cy="2331720"/>
          </a:xfrm>
          <a:prstGeom xmlns:a="http://schemas.openxmlformats.org/drawingml/2006/main" prst="roundRect">
            <a:avLst>
              <a:gd name="adj" fmla="val 2353"/>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46" name="Google Shape;246;p13">
            <a:extLst xmlns:a="http://schemas.openxmlformats.org/drawingml/2006/main">
              <a:ext uri="{FF2B5EF4-FFF2-40B4-BE49-F238E27FC236}">
                <a16:creationId xmlns:a16="http://schemas.microsoft.com/office/drawing/2014/main" id="{C54E9E64-17B4-461D-A6F5-81D56B86E5A9}"/>
              </a:ext>
            </a:extLst>
          </p:cNvPr>
          <p:cNvSpPr>
            <a:spLocks xmlns:a="http://schemas.openxmlformats.org/drawingml/2006/main" noGrp="1"/>
          </p:cNvSpPr>
          <p:nvPr/>
        </p:nvSpPr>
        <p:spPr>
          <a:xfrm xmlns:a="http://schemas.openxmlformats.org/drawingml/2006/main">
            <a:off x="6428232" y="2057400"/>
            <a:ext cx="442569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USABLE NOTE</a:t>
            </a:r>
          </a:p>
        </p:txBody>
      </p:sp>
      <p:sp>
        <p:nvSpPr>
          <p:cNvPr id="247" name="Google Shape;247;p13">
            <a:extLst xmlns:a="http://schemas.openxmlformats.org/drawingml/2006/main">
              <a:ext uri="{FF2B5EF4-FFF2-40B4-BE49-F238E27FC236}">
                <a16:creationId xmlns:a16="http://schemas.microsoft.com/office/drawing/2014/main" id="{8ABE0EBA-C5A3-4DA7-BC4E-DACE0AF0F44C}"/>
              </a:ext>
            </a:extLst>
          </p:cNvPr>
          <p:cNvSpPr>
            <a:spLocks xmlns:a="http://schemas.openxmlformats.org/drawingml/2006/main" noGrp="1"/>
          </p:cNvSpPr>
          <p:nvPr/>
        </p:nvSpPr>
        <p:spPr>
          <a:xfrm xmlns:a="http://schemas.openxmlformats.org/drawingml/2006/main">
            <a:off x="6428232" y="2423160"/>
            <a:ext cx="4425696" cy="167335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1900"/>
              <a:buFont typeface="Arial"/>
              <a:buNone/>
            </a:pPr>
            <a:r>
              <a:rPr sz="1900">
                <a:solidFill>
                  <a:srgbClr val="FFFFFF"/>
                </a:solidFill>
                <a:latin typeface="Arial"/>
                <a:ea typeface="Arial"/>
                <a:cs typeface="Arial"/>
              </a:rPr>
              <a:t>“Trial 2 failed because the sensor wire disconnected after 18 seconds. Data stopped at 17.6 s. Retest needed after securing wire.”</a:t>
            </a:r>
          </a:p>
        </p:txBody>
      </p:sp>
      <p:sp>
        <p:nvSpPr>
          <p:cNvPr id="248" name="Google Shape;248;p13">
            <a:extLst xmlns:a="http://schemas.openxmlformats.org/drawingml/2006/main">
              <a:ext uri="{FF2B5EF4-FFF2-40B4-BE49-F238E27FC236}">
                <a16:creationId xmlns:a16="http://schemas.microsoft.com/office/drawing/2014/main" id="{6C1D8A0B-EC67-41C4-9C9E-A0CB603AB38D}"/>
              </a:ext>
            </a:extLst>
          </p:cNvPr>
          <p:cNvSpPr>
            <a:spLocks xmlns:a="http://schemas.openxmlformats.org/drawingml/2006/main" noGrp="1"/>
          </p:cNvSpPr>
          <p:nvPr/>
        </p:nvSpPr>
        <p:spPr>
          <a:xfrm xmlns:a="http://schemas.openxmlformats.org/drawingml/2006/main">
            <a:off x="914400" y="5257800"/>
            <a:ext cx="1033272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600"/>
              <a:buFont typeface="Play"/>
              <a:buNone/>
            </a:pPr>
            <a:r>
              <a:rPr sz="2600" b="1">
                <a:solidFill>
                  <a:srgbClr val="FFFFFF"/>
                </a:solidFill>
                <a:latin typeface="Play"/>
                <a:ea typeface="Play"/>
                <a:cs typeface="Play"/>
              </a:rPr>
              <a:t>Every project needs a research journal.</a:t>
            </a:r>
          </a:p>
        </p:txBody>
      </p:sp>
    </p:spTree>
    <p:extLst>
      <p:ext uri="{BB962C8B-B14F-4D97-AF65-F5344CB8AC3E}">
        <p14:creationId xmlns:p14="http://schemas.microsoft.com/office/powerpoint/2010/main" val="2104750083"/>
      </p:ext>
    </p:extLst>
  </p:cSld>
</p:sld>
</file>

<file path=ppt/slides/slide12.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54" name="Google Shape;254;p14">
            <a:extLst xmlns:a="http://schemas.openxmlformats.org/drawingml/2006/main">
              <a:ext uri="{FF2B5EF4-FFF2-40B4-BE49-F238E27FC236}">
                <a16:creationId xmlns:a16="http://schemas.microsoft.com/office/drawing/2014/main" id="{EE91FF2C-5690-44EB-B7E2-B05C9A60859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5" name="Google Shape;255;p14">
            <a:extLst xmlns:a="http://schemas.openxmlformats.org/drawingml/2006/main">
              <a:ext uri="{FF2B5EF4-FFF2-40B4-BE49-F238E27FC236}">
                <a16:creationId xmlns:a16="http://schemas.microsoft.com/office/drawing/2014/main" id="{DFD09D7C-7D32-4157-A6A4-FF738892D9C7}"/>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6" name="Google Shape;256;p14">
            <a:extLst xmlns:a="http://schemas.openxmlformats.org/drawingml/2006/main">
              <a:ext uri="{FF2B5EF4-FFF2-40B4-BE49-F238E27FC236}">
                <a16:creationId xmlns:a16="http://schemas.microsoft.com/office/drawing/2014/main" id="{98DFE655-BA5F-4AC1-B884-1626ED29C5B9}"/>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57" name="Google Shape;257;p14">
            <a:extLst xmlns:a="http://schemas.openxmlformats.org/drawingml/2006/main">
              <a:ext uri="{FF2B5EF4-FFF2-40B4-BE49-F238E27FC236}">
                <a16:creationId xmlns:a16="http://schemas.microsoft.com/office/drawing/2014/main" id="{71150D97-4FD4-4695-9DDB-E54F50B055CD}"/>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RESEARCH INTEGRITY</a:t>
            </a:r>
          </a:p>
        </p:txBody>
      </p:sp>
      <p:sp>
        <p:nvSpPr>
          <p:cNvPr id="258" name="Google Shape;258;p14">
            <a:extLst xmlns:a="http://schemas.openxmlformats.org/drawingml/2006/main">
              <a:ext uri="{FF2B5EF4-FFF2-40B4-BE49-F238E27FC236}">
                <a16:creationId xmlns:a16="http://schemas.microsoft.com/office/drawing/2014/main" id="{F540EFFE-EF83-4F37-B568-7B135ED81D74}"/>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59" name="Google Shape;259;p14">
            <a:extLst xmlns:a="http://schemas.openxmlformats.org/drawingml/2006/main">
              <a:ext uri="{FF2B5EF4-FFF2-40B4-BE49-F238E27FC236}">
                <a16:creationId xmlns:a16="http://schemas.microsoft.com/office/drawing/2014/main" id="{E2E85DF9-516C-407D-94D2-162578C9CB9F}"/>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260" name="Google Shape;260;p14">
            <a:extLst xmlns:a="http://schemas.openxmlformats.org/drawingml/2006/main">
              <a:ext uri="{FF2B5EF4-FFF2-40B4-BE49-F238E27FC236}">
                <a16:creationId xmlns:a16="http://schemas.microsoft.com/office/drawing/2014/main" id="{36385F5F-60A1-43F0-AC3D-F3F89CD2B80A}"/>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Ethics and Safety Are Non-Negotiable</a:t>
            </a:r>
          </a:p>
        </p:txBody>
      </p:sp>
      <p:sp>
        <p:nvSpPr>
          <p:cNvPr id="261" name="Google Shape;261;p14">
            <a:extLst xmlns:a="http://schemas.openxmlformats.org/drawingml/2006/main">
              <a:ext uri="{FF2B5EF4-FFF2-40B4-BE49-F238E27FC236}">
                <a16:creationId xmlns:a16="http://schemas.microsoft.com/office/drawing/2014/main" id="{012334AA-7478-4F79-BDD1-7C3E7AD76C80}"/>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Curiosity does not override responsibility.</a:t>
            </a:r>
          </a:p>
        </p:txBody>
      </p:sp>
      <p:cxnSp>
        <p:nvCxnSpPr>
          <p:cNvPr id="272" name="Google Shape;262;p14"/>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63" name="Google Shape;263;p14">
            <a:extLst xmlns:a="http://schemas.openxmlformats.org/drawingml/2006/main">
              <a:ext uri="{FF2B5EF4-FFF2-40B4-BE49-F238E27FC236}">
                <a16:creationId xmlns:a16="http://schemas.microsoft.com/office/drawing/2014/main" id="{B8EE7AAA-0413-44A6-89EB-473267CBC58C}"/>
              </a:ext>
            </a:extLst>
          </p:cNvPr>
          <p:cNvSpPr>
            <a:spLocks xmlns:a="http://schemas.openxmlformats.org/drawingml/2006/main" noGrp="1"/>
          </p:cNvSpPr>
          <p:nvPr/>
        </p:nvSpPr>
        <p:spPr>
          <a:xfrm xmlns:a="http://schemas.openxmlformats.org/drawingml/2006/main">
            <a:off x="1005840" y="1828800"/>
            <a:ext cx="1005840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400">
                <a:solidFill>
                  <a:srgbClr val="FFFFFF"/>
                </a:solidFill>
                <a:latin typeface="Arial"/>
                <a:ea typeface="Arial"/>
                <a:cs typeface="Arial"/>
              </a:rPr>
              <a:t>Do not fabricate, delete, or hide inconvenient data</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Credit sources, code, images, and mentor input</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Do not begin testing without approval</a:t>
            </a:r>
          </a:p>
          <a:p xmlns:a="http://schemas.openxmlformats.org/drawingml/2006/main">
            <a:pPr marL="0" marR="0" indent="0" algn="l">
              <a:spcBef>
                <a:spcPts val="0"/>
              </a:spcBef>
              <a:spcAft>
                <a:spcPts val="0"/>
              </a:spcAft>
              <a:buNone/>
            </a:pPr>
            <a:r>
              <a:rPr sz="2400">
                <a:solidFill>
                  <a:srgbClr val="FFFFFF"/>
                </a:solidFill>
                <a:latin typeface="Arial"/>
                <a:ea typeface="Arial"/>
                <a:cs typeface="Arial"/>
              </a:rPr>
              <a:t>Protect people, animals, privacy, equipment, and the environment</a:t>
            </a:r>
          </a:p>
        </p:txBody>
      </p:sp>
    </p:spTree>
    <p:extLst>
      <p:ext uri="{BB962C8B-B14F-4D97-AF65-F5344CB8AC3E}">
        <p14:creationId xmlns:p14="http://schemas.microsoft.com/office/powerpoint/2010/main" val="1503057054"/>
      </p:ext>
    </p:extLst>
  </p:cSld>
</p:sld>
</file>

<file path=ppt/slides/slide13.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69" name="Google Shape;269;p15">
            <a:extLst xmlns:a="http://schemas.openxmlformats.org/drawingml/2006/main">
              <a:ext uri="{FF2B5EF4-FFF2-40B4-BE49-F238E27FC236}">
                <a16:creationId xmlns:a16="http://schemas.microsoft.com/office/drawing/2014/main" id="{9C92A53E-14BC-47AB-8E3E-CA6EDCCD77D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0" name="Google Shape;270;p15">
            <a:extLst xmlns:a="http://schemas.openxmlformats.org/drawingml/2006/main">
              <a:ext uri="{FF2B5EF4-FFF2-40B4-BE49-F238E27FC236}">
                <a16:creationId xmlns:a16="http://schemas.microsoft.com/office/drawing/2014/main" id="{DE962BDD-828D-4A35-A6CD-F537C5CC7D6A}"/>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1" name="Google Shape;271;p15">
            <a:extLst xmlns:a="http://schemas.openxmlformats.org/drawingml/2006/main">
              <a:ext uri="{FF2B5EF4-FFF2-40B4-BE49-F238E27FC236}">
                <a16:creationId xmlns:a16="http://schemas.microsoft.com/office/drawing/2014/main" id="{6F557826-D6E7-4989-AB5D-7E5A9013221D}"/>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2" name="Google Shape;272;p15">
            <a:extLst xmlns:a="http://schemas.openxmlformats.org/drawingml/2006/main">
              <a:ext uri="{FF2B5EF4-FFF2-40B4-BE49-F238E27FC236}">
                <a16:creationId xmlns:a16="http://schemas.microsoft.com/office/drawing/2014/main" id="{6D59CBF2-2956-4242-9BEA-A821C8551E57}"/>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273" name="Google Shape;273;p15">
            <a:extLst xmlns:a="http://schemas.openxmlformats.org/drawingml/2006/main">
              <a:ext uri="{FF2B5EF4-FFF2-40B4-BE49-F238E27FC236}">
                <a16:creationId xmlns:a16="http://schemas.microsoft.com/office/drawing/2014/main" id="{C9551961-38E4-4867-A416-112ABEA0D834}"/>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74" name="Google Shape;274;p15">
            <a:extLst xmlns:a="http://schemas.openxmlformats.org/drawingml/2006/main">
              <a:ext uri="{FF2B5EF4-FFF2-40B4-BE49-F238E27FC236}">
                <a16:creationId xmlns:a16="http://schemas.microsoft.com/office/drawing/2014/main" id="{B5577E00-ABDF-482C-A2C2-E28FB8D9AB49}"/>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275" name="Google Shape;275;p15">
            <a:extLst xmlns:a="http://schemas.openxmlformats.org/drawingml/2006/main">
              <a:ext uri="{FF2B5EF4-FFF2-40B4-BE49-F238E27FC236}">
                <a16:creationId xmlns:a16="http://schemas.microsoft.com/office/drawing/2014/main" id="{C795066D-8D9E-4878-99E3-AB87DEF7E18B}"/>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Sort the Project Ideas</a:t>
            </a:r>
          </a:p>
        </p:txBody>
      </p:sp>
      <p:sp>
        <p:nvSpPr>
          <p:cNvPr id="276" name="Google Shape;276;p15">
            <a:extLst xmlns:a="http://schemas.openxmlformats.org/drawingml/2006/main">
              <a:ext uri="{FF2B5EF4-FFF2-40B4-BE49-F238E27FC236}">
                <a16:creationId xmlns:a16="http://schemas.microsoft.com/office/drawing/2014/main" id="{36570835-DF5C-4191-A94A-8FCED9F8F999}"/>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10 minutes • Unit 1</a:t>
            </a:r>
          </a:p>
        </p:txBody>
      </p:sp>
      <p:cxnSp>
        <p:nvCxnSpPr>
          <p:cNvPr id="289" name="Google Shape;277;p15"/>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78" name="Google Shape;278;p15">
            <a:extLst xmlns:a="http://schemas.openxmlformats.org/drawingml/2006/main">
              <a:ext uri="{FF2B5EF4-FFF2-40B4-BE49-F238E27FC236}">
                <a16:creationId xmlns:a16="http://schemas.microsoft.com/office/drawing/2014/main" id="{7C4192C8-4B76-45F6-86D2-33390DCFE918}"/>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79" name="Google Shape;279;p15">
            <a:extLst xmlns:a="http://schemas.openxmlformats.org/drawingml/2006/main">
              <a:ext uri="{FF2B5EF4-FFF2-40B4-BE49-F238E27FC236}">
                <a16:creationId xmlns:a16="http://schemas.microsoft.com/office/drawing/2014/main" id="{FC3D99D1-F089-4C87-8997-2CB375FACA06}"/>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280" name="Google Shape;280;p15">
            <a:extLst xmlns:a="http://schemas.openxmlformats.org/drawingml/2006/main">
              <a:ext uri="{FF2B5EF4-FFF2-40B4-BE49-F238E27FC236}">
                <a16:creationId xmlns:a16="http://schemas.microsoft.com/office/drawing/2014/main" id="{05705E4F-89D6-476B-88EC-6C7BB2E7C653}"/>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With a partner, decide whether each idea is: not research yet, needs refinement, strong direction, engineering design, or problematic.</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Use evidence, feasibility, safety, and ethics as your sorting criteria.</a:t>
            </a:r>
          </a:p>
        </p:txBody>
      </p:sp>
    </p:spTree>
    <p:extLst>
      <p:ext uri="{BB962C8B-B14F-4D97-AF65-F5344CB8AC3E}">
        <p14:creationId xmlns:p14="http://schemas.microsoft.com/office/powerpoint/2010/main" val="1639588745"/>
      </p:ext>
    </p:extLst>
  </p:cSld>
</p:sld>
</file>

<file path=ppt/slides/slide14.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286" name="Google Shape;286;p16">
            <a:extLst xmlns:a="http://schemas.openxmlformats.org/drawingml/2006/main">
              <a:ext uri="{FF2B5EF4-FFF2-40B4-BE49-F238E27FC236}">
                <a16:creationId xmlns:a16="http://schemas.microsoft.com/office/drawing/2014/main" id="{4255E8D0-8FDB-43A0-9190-0CC71428569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7" name="Google Shape;287;p16">
            <a:extLst xmlns:a="http://schemas.openxmlformats.org/drawingml/2006/main">
              <a:ext uri="{FF2B5EF4-FFF2-40B4-BE49-F238E27FC236}">
                <a16:creationId xmlns:a16="http://schemas.microsoft.com/office/drawing/2014/main" id="{6BCD6230-32ED-4447-8667-0051EC741290}"/>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8" name="Google Shape;288;p16">
            <a:extLst xmlns:a="http://schemas.openxmlformats.org/drawingml/2006/main">
              <a:ext uri="{FF2B5EF4-FFF2-40B4-BE49-F238E27FC236}">
                <a16:creationId xmlns:a16="http://schemas.microsoft.com/office/drawing/2014/main" id="{6199A03F-FDDF-4D39-86DB-CE415E0546AF}"/>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89" name="Google Shape;289;p16">
            <a:extLst xmlns:a="http://schemas.openxmlformats.org/drawingml/2006/main">
              <a:ext uri="{FF2B5EF4-FFF2-40B4-BE49-F238E27FC236}">
                <a16:creationId xmlns:a16="http://schemas.microsoft.com/office/drawing/2014/main" id="{2158C77E-2ED0-4F8B-92E0-65603A01AF26}"/>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290" name="Google Shape;290;p16">
            <a:extLst xmlns:a="http://schemas.openxmlformats.org/drawingml/2006/main">
              <a:ext uri="{FF2B5EF4-FFF2-40B4-BE49-F238E27FC236}">
                <a16:creationId xmlns:a16="http://schemas.microsoft.com/office/drawing/2014/main" id="{E2B359E4-0DD0-47E0-86B4-7B095A6F51FE}"/>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291" name="Google Shape;291;p16">
            <a:extLst xmlns:a="http://schemas.openxmlformats.org/drawingml/2006/main">
              <a:ext uri="{FF2B5EF4-FFF2-40B4-BE49-F238E27FC236}">
                <a16:creationId xmlns:a16="http://schemas.microsoft.com/office/drawing/2014/main" id="{40C2137A-9C0A-4B66-9BCB-5D5B28A16FF6}"/>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292" name="Google Shape;292;p16">
            <a:extLst xmlns:a="http://schemas.openxmlformats.org/drawingml/2006/main">
              <a:ext uri="{FF2B5EF4-FFF2-40B4-BE49-F238E27FC236}">
                <a16:creationId xmlns:a16="http://schemas.microsoft.com/office/drawing/2014/main" id="{657C5312-E643-41AD-ACBF-96A6C232726C}"/>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Your First STARLAB Task</a:t>
            </a:r>
          </a:p>
        </p:txBody>
      </p:sp>
      <p:sp>
        <p:nvSpPr>
          <p:cNvPr id="293" name="Google Shape;293;p16">
            <a:extLst xmlns:a="http://schemas.openxmlformats.org/drawingml/2006/main">
              <a:ext uri="{FF2B5EF4-FFF2-40B4-BE49-F238E27FC236}">
                <a16:creationId xmlns:a16="http://schemas.microsoft.com/office/drawing/2014/main" id="{A62E8C75-80A0-40DE-BA77-68B27A4435EA}"/>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Begin with identity, curiosity, and honest self-assessment.</a:t>
            </a:r>
          </a:p>
        </p:txBody>
      </p:sp>
      <p:cxnSp>
        <p:nvCxnSpPr>
          <p:cNvPr id="313" name="Google Shape;294;p16"/>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295" name="Google Shape;295;p16">
            <a:extLst xmlns:a="http://schemas.openxmlformats.org/drawingml/2006/main">
              <a:ext uri="{FF2B5EF4-FFF2-40B4-BE49-F238E27FC236}">
                <a16:creationId xmlns:a16="http://schemas.microsoft.com/office/drawing/2014/main" id="{B2EF7259-75D0-40B7-817D-797910C3224A}"/>
              </a:ext>
            </a:extLst>
          </p:cNvPr>
          <p:cNvSpPr>
            <a:spLocks xmlns:a="http://schemas.openxmlformats.org/drawingml/2006/main" noGrp="1"/>
          </p:cNvSpPr>
          <p:nvPr/>
        </p:nvSpPr>
        <p:spPr>
          <a:xfrm xmlns:a="http://schemas.openxmlformats.org/drawingml/2006/main">
            <a:off x="914400" y="1828800"/>
            <a:ext cx="2971800" cy="2423160"/>
          </a:xfrm>
          <a:prstGeom xmlns:a="http://schemas.openxmlformats.org/drawingml/2006/main" prst="roundRect">
            <a:avLst>
              <a:gd name="adj" fmla="val 226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6" name="Google Shape;296;p16">
            <a:extLst xmlns:a="http://schemas.openxmlformats.org/drawingml/2006/main">
              <a:ext uri="{FF2B5EF4-FFF2-40B4-BE49-F238E27FC236}">
                <a16:creationId xmlns:a16="http://schemas.microsoft.com/office/drawing/2014/main" id="{ACF48705-3B2E-45FA-A0DE-D0CA0DB30C25}"/>
              </a:ext>
            </a:extLst>
          </p:cNvPr>
          <p:cNvSpPr>
            <a:spLocks xmlns:a="http://schemas.openxmlformats.org/drawingml/2006/main" noGrp="1"/>
          </p:cNvSpPr>
          <p:nvPr/>
        </p:nvSpPr>
        <p:spPr>
          <a:xfrm xmlns:a="http://schemas.openxmlformats.org/drawingml/2006/main">
            <a:off x="1078992" y="1965960"/>
            <a:ext cx="2642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HANDOUT 1</a:t>
            </a:r>
          </a:p>
        </p:txBody>
      </p:sp>
      <p:sp>
        <p:nvSpPr>
          <p:cNvPr id="297" name="Google Shape;297;p16">
            <a:extLst xmlns:a="http://schemas.openxmlformats.org/drawingml/2006/main">
              <a:ext uri="{FF2B5EF4-FFF2-40B4-BE49-F238E27FC236}">
                <a16:creationId xmlns:a16="http://schemas.microsoft.com/office/drawing/2014/main" id="{53C8EE91-49D5-4ED7-B2A4-012B26B7E7E3}"/>
              </a:ext>
            </a:extLst>
          </p:cNvPr>
          <p:cNvSpPr>
            <a:spLocks xmlns:a="http://schemas.openxmlformats.org/drawingml/2006/main" noGrp="1"/>
          </p:cNvSpPr>
          <p:nvPr/>
        </p:nvSpPr>
        <p:spPr>
          <a:xfrm xmlns:a="http://schemas.openxmlformats.org/drawingml/2006/main">
            <a:off x="1078992" y="2331720"/>
            <a:ext cx="2642616" cy="1764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400"/>
              <a:buFont typeface="Arial"/>
              <a:buNone/>
            </a:pPr>
            <a:r>
              <a:rPr sz="2400">
                <a:solidFill>
                  <a:srgbClr val="FFFFFF"/>
                </a:solidFill>
                <a:latin typeface="Arial"/>
                <a:ea typeface="Arial"/>
                <a:cs typeface="Arial"/>
              </a:rPr>
              <a:t>Course Launch Reflection</a:t>
            </a:r>
          </a:p>
        </p:txBody>
      </p:sp>
      <p:sp>
        <p:nvSpPr>
          <p:cNvPr id="298" name="Google Shape;298;p16">
            <a:extLst xmlns:a="http://schemas.openxmlformats.org/drawingml/2006/main">
              <a:ext uri="{FF2B5EF4-FFF2-40B4-BE49-F238E27FC236}">
                <a16:creationId xmlns:a16="http://schemas.microsoft.com/office/drawing/2014/main" id="{0BA2D445-E713-4D4F-9554-61D63F98983C}"/>
              </a:ext>
            </a:extLst>
          </p:cNvPr>
          <p:cNvSpPr>
            <a:spLocks xmlns:a="http://schemas.openxmlformats.org/drawingml/2006/main" noGrp="1"/>
          </p:cNvSpPr>
          <p:nvPr/>
        </p:nvSpPr>
        <p:spPr>
          <a:xfrm xmlns:a="http://schemas.openxmlformats.org/drawingml/2006/main">
            <a:off x="4617720" y="1828800"/>
            <a:ext cx="2971800" cy="2423160"/>
          </a:xfrm>
          <a:prstGeom xmlns:a="http://schemas.openxmlformats.org/drawingml/2006/main" prst="roundRect">
            <a:avLst>
              <a:gd name="adj" fmla="val 2264"/>
            </a:avLst>
          </a:prstGeom>
          <a:solidFill xmlns:a="http://schemas.openxmlformats.org/drawingml/2006/main">
            <a:srgbClr val="101010"/>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299" name="Google Shape;299;p16">
            <a:extLst xmlns:a="http://schemas.openxmlformats.org/drawingml/2006/main">
              <a:ext uri="{FF2B5EF4-FFF2-40B4-BE49-F238E27FC236}">
                <a16:creationId xmlns:a16="http://schemas.microsoft.com/office/drawing/2014/main" id="{1A2F35ED-D839-44DB-8CA6-6A6CFE7B66B3}"/>
              </a:ext>
            </a:extLst>
          </p:cNvPr>
          <p:cNvSpPr>
            <a:spLocks xmlns:a="http://schemas.openxmlformats.org/drawingml/2006/main" noGrp="1"/>
          </p:cNvSpPr>
          <p:nvPr/>
        </p:nvSpPr>
        <p:spPr>
          <a:xfrm xmlns:a="http://schemas.openxmlformats.org/drawingml/2006/main">
            <a:off x="4782312" y="1965960"/>
            <a:ext cx="2642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HANDOUT 2</a:t>
            </a:r>
          </a:p>
        </p:txBody>
      </p:sp>
      <p:sp>
        <p:nvSpPr>
          <p:cNvPr id="300" name="Google Shape;300;p16">
            <a:extLst xmlns:a="http://schemas.openxmlformats.org/drawingml/2006/main">
              <a:ext uri="{FF2B5EF4-FFF2-40B4-BE49-F238E27FC236}">
                <a16:creationId xmlns:a16="http://schemas.microsoft.com/office/drawing/2014/main" id="{F55D21D0-F612-4B4D-8295-900F671B73F8}"/>
              </a:ext>
            </a:extLst>
          </p:cNvPr>
          <p:cNvSpPr>
            <a:spLocks xmlns:a="http://schemas.openxmlformats.org/drawingml/2006/main" noGrp="1"/>
          </p:cNvSpPr>
          <p:nvPr/>
        </p:nvSpPr>
        <p:spPr>
          <a:xfrm xmlns:a="http://schemas.openxmlformats.org/drawingml/2006/main">
            <a:off x="4782312" y="2331720"/>
            <a:ext cx="2642616" cy="1764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Science Identity and Skills Inventory</a:t>
            </a:r>
          </a:p>
        </p:txBody>
      </p:sp>
      <p:sp>
        <p:nvSpPr>
          <p:cNvPr id="301" name="Google Shape;301;p16">
            <a:extLst xmlns:a="http://schemas.openxmlformats.org/drawingml/2006/main">
              <a:ext uri="{FF2B5EF4-FFF2-40B4-BE49-F238E27FC236}">
                <a16:creationId xmlns:a16="http://schemas.microsoft.com/office/drawing/2014/main" id="{C0B6A910-601D-4069-BE56-7C6821084EEA}"/>
              </a:ext>
            </a:extLst>
          </p:cNvPr>
          <p:cNvSpPr>
            <a:spLocks xmlns:a="http://schemas.openxmlformats.org/drawingml/2006/main" noGrp="1"/>
          </p:cNvSpPr>
          <p:nvPr/>
        </p:nvSpPr>
        <p:spPr>
          <a:xfrm xmlns:a="http://schemas.openxmlformats.org/drawingml/2006/main">
            <a:off x="8321040" y="1828800"/>
            <a:ext cx="2971800" cy="2423160"/>
          </a:xfrm>
          <a:prstGeom xmlns:a="http://schemas.openxmlformats.org/drawingml/2006/main" prst="roundRect">
            <a:avLst>
              <a:gd name="adj" fmla="val 2264"/>
            </a:avLst>
          </a:prstGeom>
          <a:solidFill xmlns:a="http://schemas.openxmlformats.org/drawingml/2006/main">
            <a:srgbClr val="101010"/>
          </a:solidFill>
          <a:ln xmlns:a="http://schemas.openxmlformats.org/drawingml/2006/main" w="12700" cmpd="sng">
            <a:solidFill>
              <a:srgbClr val="44444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02" name="Google Shape;302;p16">
            <a:extLst xmlns:a="http://schemas.openxmlformats.org/drawingml/2006/main">
              <a:ext uri="{FF2B5EF4-FFF2-40B4-BE49-F238E27FC236}">
                <a16:creationId xmlns:a16="http://schemas.microsoft.com/office/drawing/2014/main" id="{6E7951B0-2174-4760-A240-9905B77EB3C3}"/>
              </a:ext>
            </a:extLst>
          </p:cNvPr>
          <p:cNvSpPr>
            <a:spLocks xmlns:a="http://schemas.openxmlformats.org/drawingml/2006/main" noGrp="1"/>
          </p:cNvSpPr>
          <p:nvPr/>
        </p:nvSpPr>
        <p:spPr>
          <a:xfrm xmlns:a="http://schemas.openxmlformats.org/drawingml/2006/main">
            <a:off x="8485632" y="1965960"/>
            <a:ext cx="2642616"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E22B27"/>
              </a:buClr>
              <a:buSzPts val="1100"/>
              <a:buFont typeface="Arial"/>
              <a:buNone/>
            </a:pPr>
            <a:r>
              <a:rPr sz="1100" b="1">
                <a:solidFill>
                  <a:srgbClr val="E22B27"/>
                </a:solidFill>
                <a:latin typeface="Arial"/>
                <a:ea typeface="Arial"/>
                <a:cs typeface="Arial"/>
              </a:rPr>
              <a:t>HANDOUT 3</a:t>
            </a:r>
          </a:p>
        </p:txBody>
      </p:sp>
      <p:sp>
        <p:nvSpPr>
          <p:cNvPr id="303" name="Google Shape;303;p16">
            <a:extLst xmlns:a="http://schemas.openxmlformats.org/drawingml/2006/main">
              <a:ext uri="{FF2B5EF4-FFF2-40B4-BE49-F238E27FC236}">
                <a16:creationId xmlns:a16="http://schemas.microsoft.com/office/drawing/2014/main" id="{A7E57A2C-295A-4929-9A69-11422597CE0E}"/>
              </a:ext>
            </a:extLst>
          </p:cNvPr>
          <p:cNvSpPr>
            <a:spLocks xmlns:a="http://schemas.openxmlformats.org/drawingml/2006/main" noGrp="1"/>
          </p:cNvSpPr>
          <p:nvPr/>
        </p:nvSpPr>
        <p:spPr>
          <a:xfrm xmlns:a="http://schemas.openxmlformats.org/drawingml/2006/main">
            <a:off x="8485632" y="2331720"/>
            <a:ext cx="2642616" cy="17647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250" tIns="250" rIns="250" bIns="25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300"/>
              <a:buFont typeface="Arial"/>
              <a:buNone/>
            </a:pPr>
            <a:r>
              <a:rPr sz="2300">
                <a:solidFill>
                  <a:srgbClr val="FFFFFF"/>
                </a:solidFill>
                <a:latin typeface="Arial"/>
                <a:ea typeface="Arial"/>
                <a:cs typeface="Arial"/>
              </a:rPr>
              <a:t>Research Interest Inventory</a:t>
            </a:r>
          </a:p>
        </p:txBody>
      </p:sp>
      <p:sp>
        <p:nvSpPr>
          <p:cNvPr id="304" name="Google Shape;304;p16">
            <a:extLst xmlns:a="http://schemas.openxmlformats.org/drawingml/2006/main">
              <a:ext uri="{FF2B5EF4-FFF2-40B4-BE49-F238E27FC236}">
                <a16:creationId xmlns:a16="http://schemas.microsoft.com/office/drawing/2014/main" id="{96CAE403-2BB3-49E9-BC69-E68B28376477}"/>
              </a:ext>
            </a:extLst>
          </p:cNvPr>
          <p:cNvSpPr>
            <a:spLocks xmlns:a="http://schemas.openxmlformats.org/drawingml/2006/main" noGrp="1"/>
          </p:cNvSpPr>
          <p:nvPr/>
        </p:nvSpPr>
        <p:spPr>
          <a:xfrm xmlns:a="http://schemas.openxmlformats.org/drawingml/2006/main">
            <a:off x="914400" y="5257800"/>
            <a:ext cx="10332720" cy="3657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400"/>
              <a:buFont typeface="Play"/>
              <a:buNone/>
            </a:pPr>
            <a:r>
              <a:rPr sz="2400" b="1">
                <a:solidFill>
                  <a:srgbClr val="FFFFFF"/>
                </a:solidFill>
                <a:latin typeface="Play"/>
                <a:ea typeface="Play"/>
                <a:cs typeface="Play"/>
              </a:rPr>
              <a:t>You do not need a final project today. You need a starting point.</a:t>
            </a:r>
          </a:p>
        </p:txBody>
      </p:sp>
    </p:spTree>
    <p:extLst>
      <p:ext uri="{BB962C8B-B14F-4D97-AF65-F5344CB8AC3E}">
        <p14:creationId xmlns:p14="http://schemas.microsoft.com/office/powerpoint/2010/main" val="251081325"/>
      </p:ext>
    </p:extLst>
  </p:cSld>
</p:sld>
</file>

<file path=ppt/slides/slide15.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10" name="Google Shape;310;p17">
            <a:extLst xmlns:a="http://schemas.openxmlformats.org/drawingml/2006/main">
              <a:ext uri="{FF2B5EF4-FFF2-40B4-BE49-F238E27FC236}">
                <a16:creationId xmlns:a16="http://schemas.microsoft.com/office/drawing/2014/main" id="{196D6452-63BF-4929-9420-F1A17AA575D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1" name="Google Shape;311;p17">
            <a:extLst xmlns:a="http://schemas.openxmlformats.org/drawingml/2006/main">
              <a:ext uri="{FF2B5EF4-FFF2-40B4-BE49-F238E27FC236}">
                <a16:creationId xmlns:a16="http://schemas.microsoft.com/office/drawing/2014/main" id="{B7890846-4124-49C2-9AED-1FEECB7BAEC7}"/>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2" name="Google Shape;312;p17">
            <a:extLst xmlns:a="http://schemas.openxmlformats.org/drawingml/2006/main">
              <a:ext uri="{FF2B5EF4-FFF2-40B4-BE49-F238E27FC236}">
                <a16:creationId xmlns:a16="http://schemas.microsoft.com/office/drawing/2014/main" id="{4E04817A-4568-4FB3-8F38-4E7841C9F7A5}"/>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13" name="Google Shape;313;p17">
            <a:extLst xmlns:a="http://schemas.openxmlformats.org/drawingml/2006/main">
              <a:ext uri="{FF2B5EF4-FFF2-40B4-BE49-F238E27FC236}">
                <a16:creationId xmlns:a16="http://schemas.microsoft.com/office/drawing/2014/main" id="{66BBDE86-837F-4B84-A6D8-2703E83C7A69}"/>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COURSE LAUNCH</a:t>
            </a:r>
          </a:p>
        </p:txBody>
      </p:sp>
      <p:sp>
        <p:nvSpPr>
          <p:cNvPr id="314" name="Google Shape;314;p17">
            <a:extLst xmlns:a="http://schemas.openxmlformats.org/drawingml/2006/main">
              <a:ext uri="{FF2B5EF4-FFF2-40B4-BE49-F238E27FC236}">
                <a16:creationId xmlns:a16="http://schemas.microsoft.com/office/drawing/2014/main" id="{99F88E17-92AF-4F3A-A203-62E9D69BA0AE}"/>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15" name="Google Shape;315;p17">
            <a:extLst xmlns:a="http://schemas.openxmlformats.org/drawingml/2006/main">
              <a:ext uri="{FF2B5EF4-FFF2-40B4-BE49-F238E27FC236}">
                <a16:creationId xmlns:a16="http://schemas.microsoft.com/office/drawing/2014/main" id="{F550F0F1-8A09-4368-AE7D-FD40F89420ED}"/>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316" name="Google Shape;316;p17">
            <a:extLst xmlns:a="http://schemas.openxmlformats.org/drawingml/2006/main">
              <a:ext uri="{FF2B5EF4-FFF2-40B4-BE49-F238E27FC236}">
                <a16:creationId xmlns:a16="http://schemas.microsoft.com/office/drawing/2014/main" id="{CE6C2C1D-0606-4B2F-A87F-B14647F32404}"/>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What Kind of Researcher Will You Be?</a:t>
            </a:r>
          </a:p>
        </p:txBody>
      </p:sp>
      <p:sp>
        <p:nvSpPr>
          <p:cNvPr id="317" name="Google Shape;317;p17">
            <a:extLst xmlns:a="http://schemas.openxmlformats.org/drawingml/2006/main">
              <a:ext uri="{FF2B5EF4-FFF2-40B4-BE49-F238E27FC236}">
                <a16:creationId xmlns:a16="http://schemas.microsoft.com/office/drawing/2014/main" id="{A1A61FF8-7B78-48D8-9760-EE55F08C124B}"/>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STARLAB needs many kinds of thinkers.</a:t>
            </a:r>
          </a:p>
        </p:txBody>
      </p:sp>
      <p:cxnSp>
        <p:nvCxnSpPr>
          <p:cNvPr id="329" name="Google Shape;318;p17"/>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19" name="Google Shape;319;p17">
            <a:extLst xmlns:a="http://schemas.openxmlformats.org/drawingml/2006/main">
              <a:ext uri="{FF2B5EF4-FFF2-40B4-BE49-F238E27FC236}">
                <a16:creationId xmlns:a16="http://schemas.microsoft.com/office/drawing/2014/main" id="{E52833A1-EDCB-4BF7-8C2D-C62BF439CB23}"/>
              </a:ext>
            </a:extLst>
          </p:cNvPr>
          <p:cNvSpPr>
            <a:spLocks xmlns:a="http://schemas.openxmlformats.org/drawingml/2006/main" noGrp="1"/>
          </p:cNvSpPr>
          <p:nvPr/>
        </p:nvSpPr>
        <p:spPr>
          <a:xfrm xmlns:a="http://schemas.openxmlformats.org/drawingml/2006/main">
            <a:off x="914400" y="1737360"/>
            <a:ext cx="4572000" cy="4206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builder</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careful observer</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coder</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troubleshooter</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organizer</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communicator</a:t>
            </a:r>
          </a:p>
          <a:p xmlns:a="http://schemas.openxmlformats.org/drawingml/2006/main">
            <a:pPr marL="0" marR="0" indent="0" algn="l">
              <a:spcBef>
                <a:spcPts val="0"/>
              </a:spcBef>
              <a:spcAft>
                <a:spcPts val="0"/>
              </a:spcAft>
              <a:buNone/>
            </a:pPr>
            <a:r>
              <a:rPr sz="2200">
                <a:solidFill>
                  <a:srgbClr val="FFFFFF"/>
                </a:solidFill>
                <a:latin typeface="Arial"/>
                <a:ea typeface="Arial"/>
                <a:cs typeface="Arial"/>
              </a:rPr>
              <a:t>The question asker</a:t>
            </a:r>
          </a:p>
        </p:txBody>
      </p:sp>
      <p:sp>
        <p:nvSpPr>
          <p:cNvPr id="320" name="Google Shape;320;p17">
            <a:extLst xmlns:a="http://schemas.openxmlformats.org/drawingml/2006/main">
              <a:ext uri="{FF2B5EF4-FFF2-40B4-BE49-F238E27FC236}">
                <a16:creationId xmlns:a16="http://schemas.microsoft.com/office/drawing/2014/main" id="{8D1836B2-18DE-4EE1-9C75-787C21570D33}"/>
              </a:ext>
            </a:extLst>
          </p:cNvPr>
          <p:cNvSpPr>
            <a:spLocks xmlns:a="http://schemas.openxmlformats.org/drawingml/2006/main" noGrp="1"/>
          </p:cNvSpPr>
          <p:nvPr/>
        </p:nvSpPr>
        <p:spPr>
          <a:xfrm xmlns:a="http://schemas.openxmlformats.org/drawingml/2006/main">
            <a:off x="5669280" y="2377440"/>
            <a:ext cx="5212080" cy="1463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2800"/>
              <a:buFont typeface="Play"/>
              <a:buNone/>
            </a:pPr>
            <a:r>
              <a:rPr sz="2800" b="1">
                <a:solidFill>
                  <a:srgbClr val="FFFFFF"/>
                </a:solidFill>
                <a:latin typeface="Play"/>
                <a:ea typeface="Play"/>
                <a:cs typeface="Play"/>
              </a:rPr>
              <a:t>Which role feels most like you right now?</a:t>
            </a:r>
          </a:p>
          <a:p xmlns:a="http://schemas.openxmlformats.org/drawingml/2006/main">
            <a:pPr marL="0" marR="0" indent="0" algn="ctr">
              <a:spcBef>
                <a:spcPts val="0"/>
              </a:spcBef>
              <a:spcAft>
                <a:spcPts val="0"/>
              </a:spcAft>
              <a:buClr>
                <a:srgbClr val="FFFFFF"/>
              </a:buClr>
              <a:buSzPts val="2800"/>
              <a:buFont typeface="Play"/>
              <a:buNone/>
            </a:pPr>
            <a:r>
              <a:rPr sz="2800" b="1">
                <a:solidFill>
                  <a:srgbClr val="FFFFFF"/>
                </a:solidFill>
                <a:latin typeface="Play"/>
                <a:ea typeface="Play"/>
                <a:cs typeface="Play"/>
              </a:rPr>
              <a:t>Which role do you want to grow into?</a:t>
            </a:r>
          </a:p>
        </p:txBody>
      </p:sp>
    </p:spTree>
    <p:extLst>
      <p:ext uri="{BB962C8B-B14F-4D97-AF65-F5344CB8AC3E}">
        <p14:creationId xmlns:p14="http://schemas.microsoft.com/office/powerpoint/2010/main" val="771136645"/>
      </p:ext>
    </p:extLst>
  </p:cSld>
</p:sld>
</file>

<file path=ppt/slides/slide16.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26" name="Google Shape;326;p18">
            <a:extLst xmlns:a="http://schemas.openxmlformats.org/drawingml/2006/main">
              <a:ext uri="{FF2B5EF4-FFF2-40B4-BE49-F238E27FC236}">
                <a16:creationId xmlns:a16="http://schemas.microsoft.com/office/drawing/2014/main" id="{C1DC52AB-1D68-4E3A-B7A4-8C6BCEAF1F4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7" name="Google Shape;327;p18">
            <a:extLst xmlns:a="http://schemas.openxmlformats.org/drawingml/2006/main">
              <a:ext uri="{FF2B5EF4-FFF2-40B4-BE49-F238E27FC236}">
                <a16:creationId xmlns:a16="http://schemas.microsoft.com/office/drawing/2014/main" id="{02FF6AED-2EED-406C-8FC9-B9630098B285}"/>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8" name="Google Shape;328;p18">
            <a:extLst xmlns:a="http://schemas.openxmlformats.org/drawingml/2006/main">
              <a:ext uri="{FF2B5EF4-FFF2-40B4-BE49-F238E27FC236}">
                <a16:creationId xmlns:a16="http://schemas.microsoft.com/office/drawing/2014/main" id="{6F38B7AA-1F45-4398-8023-1F949C225018}"/>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29" name="Google Shape;329;p18">
            <a:extLst xmlns:a="http://schemas.openxmlformats.org/drawingml/2006/main">
              <a:ext uri="{FF2B5EF4-FFF2-40B4-BE49-F238E27FC236}">
                <a16:creationId xmlns:a16="http://schemas.microsoft.com/office/drawing/2014/main" id="{61F81EC6-3876-424B-A739-E943C57CE2AA}"/>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STUDENT ACTIVITY</a:t>
            </a:r>
          </a:p>
        </p:txBody>
      </p:sp>
      <p:sp>
        <p:nvSpPr>
          <p:cNvPr id="330" name="Google Shape;330;p18">
            <a:extLst xmlns:a="http://schemas.openxmlformats.org/drawingml/2006/main">
              <a:ext uri="{FF2B5EF4-FFF2-40B4-BE49-F238E27FC236}">
                <a16:creationId xmlns:a16="http://schemas.microsoft.com/office/drawing/2014/main" id="{568D99B1-4DAB-4464-B3AC-3F7F86C7D9FD}"/>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31" name="Google Shape;331;p18">
            <a:extLst xmlns:a="http://schemas.openxmlformats.org/drawingml/2006/main">
              <a:ext uri="{FF2B5EF4-FFF2-40B4-BE49-F238E27FC236}">
                <a16:creationId xmlns:a16="http://schemas.microsoft.com/office/drawing/2014/main" id="{EC228DA7-8E63-477C-BD4D-13266D7E39CA}"/>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332" name="Google Shape;332;p18">
            <a:extLst xmlns:a="http://schemas.openxmlformats.org/drawingml/2006/main">
              <a:ext uri="{FF2B5EF4-FFF2-40B4-BE49-F238E27FC236}">
                <a16:creationId xmlns:a16="http://schemas.microsoft.com/office/drawing/2014/main" id="{988350CE-3C36-4A50-BD8E-32023E94BEE3}"/>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Exit Reflection</a:t>
            </a:r>
          </a:p>
        </p:txBody>
      </p:sp>
      <p:sp>
        <p:nvSpPr>
          <p:cNvPr id="333" name="Google Shape;333;p18">
            <a:extLst xmlns:a="http://schemas.openxmlformats.org/drawingml/2006/main">
              <a:ext uri="{FF2B5EF4-FFF2-40B4-BE49-F238E27FC236}">
                <a16:creationId xmlns:a16="http://schemas.microsoft.com/office/drawing/2014/main" id="{D07247A2-0079-4A59-BB8A-03676FA4D3E1}"/>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5 minutes • Unit 1</a:t>
            </a:r>
          </a:p>
        </p:txBody>
      </p:sp>
      <p:cxnSp>
        <p:nvCxnSpPr>
          <p:cNvPr id="346" name="Google Shape;334;p18"/>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35" name="Google Shape;335;p18">
            <a:extLst xmlns:a="http://schemas.openxmlformats.org/drawingml/2006/main">
              <a:ext uri="{FF2B5EF4-FFF2-40B4-BE49-F238E27FC236}">
                <a16:creationId xmlns:a16="http://schemas.microsoft.com/office/drawing/2014/main" id="{6498BB76-3A82-4F7B-84AA-84347EABE2FA}"/>
              </a:ext>
            </a:extLst>
          </p:cNvPr>
          <p:cNvSpPr>
            <a:spLocks xmlns:a="http://schemas.openxmlformats.org/drawingml/2006/main" noGrp="1"/>
          </p:cNvSpPr>
          <p:nvPr/>
        </p:nvSpPr>
        <p:spPr>
          <a:xfrm xmlns:a="http://schemas.openxmlformats.org/drawingml/2006/main">
            <a:off x="777240" y="1783080"/>
            <a:ext cx="1874520" cy="34747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36" name="Google Shape;336;p18">
            <a:extLst xmlns:a="http://schemas.openxmlformats.org/drawingml/2006/main">
              <a:ext uri="{FF2B5EF4-FFF2-40B4-BE49-F238E27FC236}">
                <a16:creationId xmlns:a16="http://schemas.microsoft.com/office/drawing/2014/main" id="{0B03CC81-F750-4E67-8EF3-70F1E64E4F79}"/>
              </a:ext>
            </a:extLst>
          </p:cNvPr>
          <p:cNvSpPr>
            <a:spLocks xmlns:a="http://schemas.openxmlformats.org/drawingml/2006/main" noGrp="1"/>
          </p:cNvSpPr>
          <p:nvPr/>
        </p:nvSpPr>
        <p:spPr>
          <a:xfrm xmlns:a="http://schemas.openxmlformats.org/drawingml/2006/main">
            <a:off x="868680" y="1865376"/>
            <a:ext cx="16916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1000"/>
              <a:buFont typeface="Arial"/>
              <a:buNone/>
            </a:pPr>
            <a:r>
              <a:rPr sz="1000" b="1">
                <a:solidFill>
                  <a:srgbClr val="FFFFFF"/>
                </a:solidFill>
                <a:latin typeface="Arial"/>
                <a:ea typeface="Arial"/>
                <a:cs typeface="Arial"/>
              </a:rPr>
              <a:t>STUDENT ACTIVITY</a:t>
            </a:r>
          </a:p>
        </p:txBody>
      </p:sp>
      <p:sp>
        <p:nvSpPr>
          <p:cNvPr id="337" name="Google Shape;337;p18">
            <a:extLst xmlns:a="http://schemas.openxmlformats.org/drawingml/2006/main">
              <a:ext uri="{FF2B5EF4-FFF2-40B4-BE49-F238E27FC236}">
                <a16:creationId xmlns:a16="http://schemas.microsoft.com/office/drawing/2014/main" id="{5202A1A9-1337-4468-A98A-FB972C02A59A}"/>
              </a:ext>
            </a:extLst>
          </p:cNvPr>
          <p:cNvSpPr>
            <a:spLocks xmlns:a="http://schemas.openxmlformats.org/drawingml/2006/main" noGrp="1"/>
          </p:cNvSpPr>
          <p:nvPr/>
        </p:nvSpPr>
        <p:spPr>
          <a:xfrm xmlns:a="http://schemas.openxmlformats.org/drawingml/2006/main">
            <a:off x="868680" y="2331720"/>
            <a:ext cx="103327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000" tIns="1000" rIns="1000" bIns="1000" anchor="ctr">
            <a:noAutofit/>
          </a:bodyPr>
          <a:lstStyle xmlns:a="http://schemas.openxmlformats.org/drawingml/2006/main"/>
          <a:p xmlns:a="http://schemas.openxmlformats.org/drawingml/2006/main">
            <a:pPr marL="0" marR="0" indent="0" algn="l">
              <a:spcBef>
                <a:spcPts val="0"/>
              </a:spcBef>
              <a:spcAft>
                <a:spcPts val="0"/>
              </a:spcAft>
              <a:buNone/>
            </a:pPr>
            <a:r>
              <a:rPr sz="2100">
                <a:solidFill>
                  <a:srgbClr val="FFFFFF"/>
                </a:solidFill>
                <a:latin typeface="Arial"/>
                <a:ea typeface="Arial"/>
                <a:cs typeface="Arial"/>
              </a:rPr>
              <a:t>Answer in 2–3 sentences: What makes STARLAB different from a normal science class?</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What habit will you need to practice first?</a:t>
            </a:r>
          </a:p>
          <a:p xmlns:a="http://schemas.openxmlformats.org/drawingml/2006/main">
            <a:pPr marL="0" marR="0" indent="0" algn="l">
              <a:spcBef>
                <a:spcPts val="0"/>
              </a:spcBef>
              <a:spcAft>
                <a:spcPts val="0"/>
              </a:spcAft>
              <a:buNone/>
            </a:pPr>
            <a:r>
              <a:rPr sz="2100">
                <a:solidFill>
                  <a:srgbClr val="FFFFFF"/>
                </a:solidFill>
                <a:latin typeface="Arial"/>
                <a:ea typeface="Arial"/>
                <a:cs typeface="Arial"/>
              </a:rPr>
              <a:t>Save your answer in your packet or research journal.</a:t>
            </a:r>
          </a:p>
        </p:txBody>
      </p:sp>
    </p:spTree>
    <p:extLst>
      <p:ext uri="{BB962C8B-B14F-4D97-AF65-F5344CB8AC3E}">
        <p14:creationId xmlns:p14="http://schemas.microsoft.com/office/powerpoint/2010/main" val="607292341"/>
      </p:ext>
    </p:extLst>
  </p:cSld>
</p:sld>
</file>

<file path=ppt/slides/slide17.xml><?xml version="1.0" encoding="utf-8"?>
<p:sld xmlns:p="http://schemas.openxmlformats.org/presentationml/2006/main">
  <p:cSld>
    <p:bg>
      <p:bgPr>
        <a:solidFill xmlns:a="http://schemas.openxmlformats.org/drawingml/2006/main">
          <a:srgbClr val="050505"/>
        </a:solidFill>
      </p:bgPr>
    </p:bg>
    <p:spTree>
      <p:nvGrpSpPr>
        <p:cNvPr id="1" name=""/>
        <p:cNvGrpSpPr/>
        <p:nvPr/>
      </p:nvGrpSpPr>
      <p:grpSpPr>
        <a:xfrm xmlns:a="http://schemas.openxmlformats.org/drawingml/2006/main"/>
      </p:grpSpPr>
      <p:sp>
        <p:nvSpPr>
          <p:cNvPr id="343" name="Google Shape;343;p19">
            <a:extLst xmlns:a="http://schemas.openxmlformats.org/drawingml/2006/main">
              <a:ext uri="{FF2B5EF4-FFF2-40B4-BE49-F238E27FC236}">
                <a16:creationId xmlns:a16="http://schemas.microsoft.com/office/drawing/2014/main" id="{E47BE2EB-6BFA-4B04-9EF6-B2D44869943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50505"/>
          </a:solidFill>
          <a:ln xmlns:a="http://schemas.openxmlformats.org/drawingml/2006/main" w="12700" cmpd="sng">
            <a:solidFill>
              <a:srgbClr val="050505"/>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4" name="Google Shape;344;p19">
            <a:extLst xmlns:a="http://schemas.openxmlformats.org/drawingml/2006/main">
              <a:ext uri="{FF2B5EF4-FFF2-40B4-BE49-F238E27FC236}">
                <a16:creationId xmlns:a16="http://schemas.microsoft.com/office/drawing/2014/main" id="{B30EE3A9-214C-47C6-BB6B-00BDFCF1FC43}"/>
              </a:ext>
            </a:extLst>
          </p:cNvPr>
          <p:cNvSpPr>
            <a:spLocks xmlns:a="http://schemas.openxmlformats.org/drawingml/2006/main" noGrp="1"/>
          </p:cNvSpPr>
          <p:nvPr/>
        </p:nvSpPr>
        <p:spPr>
          <a:xfrm xmlns:a="http://schemas.openxmlformats.org/drawingml/2006/main">
            <a:off x="0" y="164592"/>
            <a:ext cx="12191695" cy="73152"/>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5" name="Google Shape;345;p19">
            <a:extLst xmlns:a="http://schemas.openxmlformats.org/drawingml/2006/main">
              <a:ext uri="{FF2B5EF4-FFF2-40B4-BE49-F238E27FC236}">
                <a16:creationId xmlns:a16="http://schemas.microsoft.com/office/drawing/2014/main" id="{92D33439-2199-4A08-9DE7-FEF0FCF98F2B}"/>
              </a:ext>
            </a:extLst>
          </p:cNvPr>
          <p:cNvSpPr>
            <a:spLocks xmlns:a="http://schemas.openxmlformats.org/drawingml/2006/main" noGrp="1"/>
          </p:cNvSpPr>
          <p:nvPr/>
        </p:nvSpPr>
        <p:spPr>
          <a:xfrm xmlns:a="http://schemas.openxmlformats.org/drawingml/2006/main">
            <a:off x="0" y="6729984"/>
            <a:ext cx="12191695" cy="54864"/>
          </a:xfrm>
          <a:prstGeom xmlns:a="http://schemas.openxmlformats.org/drawingml/2006/main" prst="rect">
            <a:avLst/>
          </a:prstGeom>
          <a:solidFill xmlns:a="http://schemas.openxmlformats.org/drawingml/2006/main">
            <a:srgbClr val="E22B27"/>
          </a:solidFill>
          <a:ln xmlns:a="http://schemas.openxmlformats.org/drawingml/2006/main" w="12700" cmpd="sng">
            <a:solidFill>
              <a:srgbClr val="E22B27"/>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r>
              <a:t/>
            </a:r>
          </a:p>
        </p:txBody>
      </p:sp>
      <p:sp>
        <p:nvSpPr>
          <p:cNvPr id="346" name="Google Shape;346;p19">
            <a:extLst xmlns:a="http://schemas.openxmlformats.org/drawingml/2006/main">
              <a:ext uri="{FF2B5EF4-FFF2-40B4-BE49-F238E27FC236}">
                <a16:creationId xmlns:a16="http://schemas.microsoft.com/office/drawing/2014/main" id="{11E4F727-8479-4F83-BD11-BEDEB9020242}"/>
              </a:ext>
            </a:extLst>
          </p:cNvPr>
          <p:cNvSpPr>
            <a:spLocks xmlns:a="http://schemas.openxmlformats.org/drawingml/2006/main" noGrp="1"/>
          </p:cNvSpPr>
          <p:nvPr/>
        </p:nvSpPr>
        <p:spPr>
          <a:xfrm xmlns:a="http://schemas.openxmlformats.org/drawingml/2006/main">
            <a:off x="411480" y="6236208"/>
            <a:ext cx="402336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000"/>
              <a:buFont typeface="Arial"/>
              <a:buNone/>
            </a:pPr>
            <a:r>
              <a:rPr sz="1000" b="1">
                <a:solidFill>
                  <a:srgbClr val="B8B8B8"/>
                </a:solidFill>
                <a:latin typeface="Arial"/>
                <a:ea typeface="Arial"/>
                <a:cs typeface="Arial"/>
              </a:rPr>
              <a:t>NEXT STEP</a:t>
            </a:r>
          </a:p>
        </p:txBody>
      </p:sp>
      <p:sp>
        <p:nvSpPr>
          <p:cNvPr id="347" name="Google Shape;347;p19">
            <a:extLst xmlns:a="http://schemas.openxmlformats.org/drawingml/2006/main">
              <a:ext uri="{FF2B5EF4-FFF2-40B4-BE49-F238E27FC236}">
                <a16:creationId xmlns:a16="http://schemas.microsoft.com/office/drawing/2014/main" id="{91F9F834-4C29-44C8-8653-8795A26FC364}"/>
              </a:ext>
            </a:extLst>
          </p:cNvPr>
          <p:cNvSpPr>
            <a:spLocks xmlns:a="http://schemas.openxmlformats.org/drawingml/2006/main" noGrp="1"/>
          </p:cNvSpPr>
          <p:nvPr/>
        </p:nvSpPr>
        <p:spPr>
          <a:xfrm xmlns:a="http://schemas.openxmlformats.org/drawingml/2006/main">
            <a:off x="10515600" y="6236208"/>
            <a:ext cx="1234440" cy="16459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B8B8B8"/>
              </a:buClr>
              <a:buSzPts val="1000"/>
              <a:buFont typeface="Arial"/>
              <a:buNone/>
            </a:pPr>
            <a:r>
              <a:rPr sz="1000" b="1">
                <a:solidFill>
                  <a:srgbClr val="B8B8B8"/>
                </a:solidFill>
                <a:latin typeface="Arial"/>
                <a:ea typeface="Arial"/>
                <a:cs typeface="Arial"/>
              </a:rPr>
              <a:t>STARLAB</a:t>
            </a:r>
          </a:p>
        </p:txBody>
      </p:sp>
      <p:sp>
        <p:nvSpPr>
          <p:cNvPr id="348" name="Google Shape;348;p19">
            <a:extLst xmlns:a="http://schemas.openxmlformats.org/drawingml/2006/main">
              <a:ext uri="{FF2B5EF4-FFF2-40B4-BE49-F238E27FC236}">
                <a16:creationId xmlns:a16="http://schemas.microsoft.com/office/drawing/2014/main" id="{DDCBA428-E689-48BB-8276-B795D18BAD60}"/>
              </a:ext>
            </a:extLst>
          </p:cNvPr>
          <p:cNvSpPr>
            <a:spLocks xmlns:a="http://schemas.openxmlformats.org/drawingml/2006/main" noGrp="1"/>
          </p:cNvSpPr>
          <p:nvPr/>
        </p:nvSpPr>
        <p:spPr>
          <a:xfrm xmlns:a="http://schemas.openxmlformats.org/drawingml/2006/main">
            <a:off x="10195560" y="384048"/>
            <a:ext cx="132588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r">
              <a:spcBef>
                <a:spcPts val="0"/>
              </a:spcBef>
              <a:spcAft>
                <a:spcPts val="0"/>
              </a:spcAft>
              <a:buClr>
                <a:srgbClr val="E22B27"/>
              </a:buClr>
              <a:buSzPts val="1100"/>
              <a:buFont typeface="Arial"/>
              <a:buNone/>
            </a:pPr>
            <a:r>
              <a:rPr sz="1100" b="1">
                <a:solidFill>
                  <a:srgbClr val="E22B27"/>
                </a:solidFill>
                <a:latin typeface="Arial"/>
                <a:ea typeface="Arial"/>
                <a:cs typeface="Arial"/>
              </a:rPr>
              <a:t>DECK 01</a:t>
            </a:r>
          </a:p>
        </p:txBody>
      </p:sp>
      <p:sp>
        <p:nvSpPr>
          <p:cNvPr id="349" name="Google Shape;349;p19">
            <a:extLst xmlns:a="http://schemas.openxmlformats.org/drawingml/2006/main">
              <a:ext uri="{FF2B5EF4-FFF2-40B4-BE49-F238E27FC236}">
                <a16:creationId xmlns:a16="http://schemas.microsoft.com/office/drawing/2014/main" id="{C7F621EC-9272-4D21-8C89-1B4607D448C7}"/>
              </a:ext>
            </a:extLst>
          </p:cNvPr>
          <p:cNvSpPr>
            <a:spLocks xmlns:a="http://schemas.openxmlformats.org/drawingml/2006/main" noGrp="1"/>
          </p:cNvSpPr>
          <p:nvPr/>
        </p:nvSpPr>
        <p:spPr>
          <a:xfrm xmlns:a="http://schemas.openxmlformats.org/drawingml/2006/main">
            <a:off x="685800" y="694944"/>
            <a:ext cx="9966960" cy="47548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FFFFFF"/>
              </a:buClr>
              <a:buSzPts val="2800"/>
              <a:buFont typeface="Play"/>
              <a:buNone/>
            </a:pPr>
            <a:r>
              <a:rPr sz="2800" b="1">
                <a:solidFill>
                  <a:srgbClr val="FFFFFF"/>
                </a:solidFill>
                <a:latin typeface="Play"/>
                <a:ea typeface="Play"/>
                <a:cs typeface="Play"/>
              </a:rPr>
              <a:t>Move from Curiosity to Possible Research Directions</a:t>
            </a:r>
          </a:p>
        </p:txBody>
      </p:sp>
      <p:sp>
        <p:nvSpPr>
          <p:cNvPr id="350" name="Google Shape;350;p19">
            <a:extLst xmlns:a="http://schemas.openxmlformats.org/drawingml/2006/main">
              <a:ext uri="{FF2B5EF4-FFF2-40B4-BE49-F238E27FC236}">
                <a16:creationId xmlns:a16="http://schemas.microsoft.com/office/drawing/2014/main" id="{6611A535-59DF-45E7-8365-BE658624CCCB}"/>
              </a:ext>
            </a:extLst>
          </p:cNvPr>
          <p:cNvSpPr>
            <a:spLocks xmlns:a="http://schemas.openxmlformats.org/drawingml/2006/main" noGrp="1"/>
          </p:cNvSpPr>
          <p:nvPr/>
        </p:nvSpPr>
        <p:spPr>
          <a:xfrm xmlns:a="http://schemas.openxmlformats.org/drawingml/2006/main">
            <a:off x="694944" y="1243584"/>
            <a:ext cx="9875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l">
              <a:spcBef>
                <a:spcPts val="0"/>
              </a:spcBef>
              <a:spcAft>
                <a:spcPts val="0"/>
              </a:spcAft>
              <a:buClr>
                <a:srgbClr val="B8B8B8"/>
              </a:buClr>
              <a:buSzPts val="1200"/>
              <a:buFont typeface="Arial"/>
              <a:buNone/>
            </a:pPr>
            <a:r>
              <a:rPr sz="1200">
                <a:solidFill>
                  <a:srgbClr val="B8B8B8"/>
                </a:solidFill>
                <a:latin typeface="Arial"/>
                <a:ea typeface="Arial"/>
                <a:cs typeface="Arial"/>
              </a:rPr>
              <a:t>Complete the Research Interest Inventory and bring your top five possible areas to the next class.</a:t>
            </a:r>
          </a:p>
        </p:txBody>
      </p:sp>
      <p:cxnSp>
        <p:nvCxnSpPr>
          <p:cNvPr id="363" name="Google Shape;351;p19"/>
          <p:cNvCxnSpPr/>
          <p:nvPr/>
        </p:nvCxnSpPr>
        <p:spPr>
          <a:xfrm xmlns:a="http://schemas.openxmlformats.org/drawingml/2006/main">
            <a:off x="685800" y="1572768"/>
            <a:ext cx="10789920" cy="0"/>
          </a:xfrm>
          <a:prstGeom xmlns:a="http://schemas.openxmlformats.org/drawingml/2006/main" prst="straightConnector1">
            <a:avLst/>
          </a:prstGeom>
          <a:ln xmlns:a="http://schemas.openxmlformats.org/drawingml/2006/main" w="16500" cap="flat">
            <a:solidFill>
              <a:srgbClr val="E22B27"/>
            </a:solidFill>
            <a:prstDash val="solid"/>
            <a:round/>
            <a:headEnd type="none" w="sm" len="sm"/>
            <a:tailEnd type="none" w="sm" len="sm"/>
          </a:ln>
        </p:spPr>
      </p:cxnSp>
      <p:sp>
        <p:nvSpPr>
          <p:cNvPr id="352" name="Google Shape;352;p19">
            <a:extLst xmlns:a="http://schemas.openxmlformats.org/drawingml/2006/main">
              <a:ext uri="{FF2B5EF4-FFF2-40B4-BE49-F238E27FC236}">
                <a16:creationId xmlns:a16="http://schemas.microsoft.com/office/drawing/2014/main" id="{24E2A442-F305-4785-BCBF-0C051B1EC118}"/>
              </a:ext>
            </a:extLst>
          </p:cNvPr>
          <p:cNvSpPr>
            <a:spLocks xmlns:a="http://schemas.openxmlformats.org/drawingml/2006/main" noGrp="1"/>
          </p:cNvSpPr>
          <p:nvPr/>
        </p:nvSpPr>
        <p:spPr>
          <a:xfrm xmlns:a="http://schemas.openxmlformats.org/drawingml/2006/main">
            <a:off x="914400" y="1965960"/>
            <a:ext cx="1033272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E22B27"/>
              </a:buClr>
              <a:buSzPts val="1400"/>
              <a:buFont typeface="Arial"/>
              <a:buNone/>
            </a:pPr>
            <a:r>
              <a:rPr sz="1400" b="1">
                <a:solidFill>
                  <a:srgbClr val="E22B27"/>
                </a:solidFill>
                <a:latin typeface="Arial"/>
                <a:ea typeface="Arial"/>
                <a:cs typeface="Arial"/>
              </a:rPr>
              <a:t>NEXT DECK</a:t>
            </a:r>
          </a:p>
        </p:txBody>
      </p:sp>
      <p:sp>
        <p:nvSpPr>
          <p:cNvPr id="353" name="Google Shape;353;p19">
            <a:extLst xmlns:a="http://schemas.openxmlformats.org/drawingml/2006/main">
              <a:ext uri="{FF2B5EF4-FFF2-40B4-BE49-F238E27FC236}">
                <a16:creationId xmlns:a16="http://schemas.microsoft.com/office/drawing/2014/main" id="{6A1C92DD-0A29-476C-A199-78E3A02F7435}"/>
              </a:ext>
            </a:extLst>
          </p:cNvPr>
          <p:cNvSpPr>
            <a:spLocks xmlns:a="http://schemas.openxmlformats.org/drawingml/2006/main" noGrp="1"/>
          </p:cNvSpPr>
          <p:nvPr/>
        </p:nvSpPr>
        <p:spPr>
          <a:xfrm xmlns:a="http://schemas.openxmlformats.org/drawingml/2006/main">
            <a:off x="914400" y="2514600"/>
            <a:ext cx="1033272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FFFFFF"/>
              </a:buClr>
              <a:buSzPts val="3400"/>
              <a:buFont typeface="Play"/>
              <a:buNone/>
            </a:pPr>
            <a:r>
              <a:rPr sz="3400" b="1">
                <a:solidFill>
                  <a:srgbClr val="FFFFFF"/>
                </a:solidFill>
                <a:latin typeface="Play"/>
                <a:ea typeface="Play"/>
                <a:cs typeface="Play"/>
              </a:rPr>
              <a:t>FROM TOPIC TO RESEARCH QUESTION</a:t>
            </a:r>
          </a:p>
        </p:txBody>
      </p:sp>
      <p:sp>
        <p:nvSpPr>
          <p:cNvPr id="354" name="Google Shape;354;p19">
            <a:extLst xmlns:a="http://schemas.openxmlformats.org/drawingml/2006/main">
              <a:ext uri="{FF2B5EF4-FFF2-40B4-BE49-F238E27FC236}">
                <a16:creationId xmlns:a16="http://schemas.microsoft.com/office/drawing/2014/main" id="{D9938156-3A79-48ED-8B8A-C9127FF19E71}"/>
              </a:ext>
            </a:extLst>
          </p:cNvPr>
          <p:cNvSpPr>
            <a:spLocks xmlns:a="http://schemas.openxmlformats.org/drawingml/2006/main" noGrp="1"/>
          </p:cNvSpPr>
          <p:nvPr/>
        </p:nvSpPr>
        <p:spPr>
          <a:xfrm xmlns:a="http://schemas.openxmlformats.org/drawingml/2006/main">
            <a:off x="1828800" y="3657600"/>
            <a:ext cx="850392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marR="0" indent="0" algn="ctr">
              <a:spcBef>
                <a:spcPts val="0"/>
              </a:spcBef>
              <a:spcAft>
                <a:spcPts val="0"/>
              </a:spcAft>
              <a:buClr>
                <a:srgbClr val="B8B8B8"/>
              </a:buClr>
              <a:buSzPts val="2000"/>
              <a:buFont typeface="Arial"/>
              <a:buNone/>
            </a:pPr>
            <a:r>
              <a:rPr sz="2000">
                <a:solidFill>
                  <a:srgbClr val="B8B8B8"/>
                </a:solidFill>
                <a:latin typeface="Arial"/>
                <a:ea typeface="Arial"/>
                <a:cs typeface="Arial"/>
              </a:rPr>
              <a:t>You will learn how to turn broad curiosity into a question, problem, or design challenge that can produce evidence.</a:t>
            </a:r>
          </a:p>
        </p:txBody>
      </p:sp>
    </p:spTree>
    <p:extLst>
      <p:ext uri="{BB962C8B-B14F-4D97-AF65-F5344CB8AC3E}">
        <p14:creationId xmlns:p14="http://schemas.microsoft.com/office/powerpoint/2010/main" val="173555998"/>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2026-07-16T15:08:38.3660000Z</dcterms:created>
  <dcterms:modified xsi:type="dcterms:W3CDTF">2026-07-16T15:08:38.3660000Z</dcterms:modified>
</coreProperties>
</file>