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2ecf31b394470f" /><Relationship Type="http://schemas.openxmlformats.org/officeDocument/2006/relationships/extended-properties" Target="/docProps/app.xml" Id="R9c1eb388a12c4265" /><Relationship Type="http://schemas.openxmlformats.org/officeDocument/2006/relationships/officeDocument" Target="/ppt/presentation.xml" Id="R5d9b636829f24b3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b1130aa2a37433e"/>
  </p:sldMasterIdLst>
  <p:notesMasterIdLst>
    <p:notesMasterId xmlns:r="http://schemas.openxmlformats.org/officeDocument/2006/relationships" r:id="R41d3c515a45d4906"/>
  </p:notesMasterIdLst>
  <p:sldIdLst>
    <p:sldId xmlns:r="http://schemas.openxmlformats.org/officeDocument/2006/relationships" id="256" r:id="Ra947414afb5c4131"/>
    <p:sldId xmlns:r="http://schemas.openxmlformats.org/officeDocument/2006/relationships" id="257" r:id="Rf558730e82b14d8a"/>
    <p:sldId xmlns:r="http://schemas.openxmlformats.org/officeDocument/2006/relationships" id="258" r:id="R73c3252898814041"/>
    <p:sldId xmlns:r="http://schemas.openxmlformats.org/officeDocument/2006/relationships" id="259" r:id="R1d2ad5cfcc374e06"/>
    <p:sldId xmlns:r="http://schemas.openxmlformats.org/officeDocument/2006/relationships" id="260" r:id="Rc457b9a853834708"/>
    <p:sldId xmlns:r="http://schemas.openxmlformats.org/officeDocument/2006/relationships" id="261" r:id="Rcc47ea23b57a4760"/>
    <p:sldId xmlns:r="http://schemas.openxmlformats.org/officeDocument/2006/relationships" id="262" r:id="R63033d397caa4b5c"/>
    <p:sldId xmlns:r="http://schemas.openxmlformats.org/officeDocument/2006/relationships" id="263" r:id="Rc36a0331818643b8"/>
    <p:sldId xmlns:r="http://schemas.openxmlformats.org/officeDocument/2006/relationships" id="264" r:id="R95df90b057eb4e3a"/>
    <p:sldId xmlns:r="http://schemas.openxmlformats.org/officeDocument/2006/relationships" id="265" r:id="R6b7751e456bb4e80"/>
    <p:sldId xmlns:r="http://schemas.openxmlformats.org/officeDocument/2006/relationships" id="266" r:id="R19cf6a9a36fe46ef"/>
    <p:sldId xmlns:r="http://schemas.openxmlformats.org/officeDocument/2006/relationships" id="267" r:id="Reb5f9dd2ea6449bf"/>
    <p:sldId xmlns:r="http://schemas.openxmlformats.org/officeDocument/2006/relationships" id="268" r:id="R20c5010622404bd0"/>
    <p:sldId xmlns:r="http://schemas.openxmlformats.org/officeDocument/2006/relationships" id="269" r:id="Ra73764eea82448f1"/>
    <p:sldId xmlns:r="http://schemas.openxmlformats.org/officeDocument/2006/relationships" id="270" r:id="Rea12eb00c4b84e4f"/>
    <p:sldId xmlns:r="http://schemas.openxmlformats.org/officeDocument/2006/relationships" id="271" r:id="R7048d384b19b4a7f"/>
    <p:sldId xmlns:r="http://schemas.openxmlformats.org/officeDocument/2006/relationships" id="272" r:id="Rbcad612b17f34df9"/>
    <p:sldId xmlns:r="http://schemas.openxmlformats.org/officeDocument/2006/relationships" id="273" r:id="R4f521bb738374b3f"/>
  </p:sldIdLst>
  <p:sldSz cx="12191675" cy="6858000"/>
  <p:notesSz cx="6858000" cy="9144000"/>
  <p:embeddedFontLst>
    <p:embeddedFont>
      <p:font typeface="Play"/>
      <p:regular xmlns:r="http://schemas.openxmlformats.org/officeDocument/2006/relationships" r:id="R5e104d5340844269"/>
      <p:bold xmlns:r="http://schemas.openxmlformats.org/officeDocument/2006/relationships" r:id="R9560ff9b511c4262"/>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706c68f1ce49cc" /><Relationship Type="http://schemas.openxmlformats.org/officeDocument/2006/relationships/slideMaster" Target="/ppt/slideMasters/slideMaster1.xml" Id="R8b1130aa2a37433e" /><Relationship Type="http://schemas.openxmlformats.org/officeDocument/2006/relationships/notesMaster" Target="/ppt/notesMasters/notesMaster1.xml" Id="R41d3c515a45d4906" /><Relationship Type="http://schemas.openxmlformats.org/officeDocument/2006/relationships/presProps" Target="/ppt/presProps.xml" Id="Rc55b702aa2764d5c" /><Relationship Type="http://schemas.openxmlformats.org/officeDocument/2006/relationships/tableStyles" Target="/ppt/tableStyles.xml" Id="R00464b8f1607442b" /><Relationship Type="http://schemas.openxmlformats.org/officeDocument/2006/relationships/font" Target="/ppt/fonts/font.dat" Id="R5e104d5340844269" /><Relationship Type="http://schemas.openxmlformats.org/officeDocument/2006/relationships/font" Target="/ppt/fonts/font2.dat" Id="R9560ff9b511c4262" /><Relationship Type="http://schemas.openxmlformats.org/officeDocument/2006/relationships/slide" Target="/ppt/slides/slide1.xml" Id="Ra947414afb5c4131" /><Relationship Type="http://schemas.openxmlformats.org/officeDocument/2006/relationships/slide" Target="/ppt/slides/slide2.xml" Id="Rf558730e82b14d8a" /><Relationship Type="http://schemas.openxmlformats.org/officeDocument/2006/relationships/slide" Target="/ppt/slides/slide3.xml" Id="R73c3252898814041" /><Relationship Type="http://schemas.openxmlformats.org/officeDocument/2006/relationships/slide" Target="/ppt/slides/slide4.xml" Id="R1d2ad5cfcc374e06" /><Relationship Type="http://schemas.openxmlformats.org/officeDocument/2006/relationships/slide" Target="/ppt/slides/slide5.xml" Id="Rc457b9a853834708" /><Relationship Type="http://schemas.openxmlformats.org/officeDocument/2006/relationships/slide" Target="/ppt/slides/slide6.xml" Id="Rcc47ea23b57a4760" /><Relationship Type="http://schemas.openxmlformats.org/officeDocument/2006/relationships/slide" Target="/ppt/slides/slide7.xml" Id="R63033d397caa4b5c" /><Relationship Type="http://schemas.openxmlformats.org/officeDocument/2006/relationships/slide" Target="/ppt/slides/slide8.xml" Id="Rc36a0331818643b8" /><Relationship Type="http://schemas.openxmlformats.org/officeDocument/2006/relationships/slide" Target="/ppt/slides/slide9.xml" Id="R95df90b057eb4e3a" /><Relationship Type="http://schemas.openxmlformats.org/officeDocument/2006/relationships/slide" Target="/ppt/slides/slide10.xml" Id="R6b7751e456bb4e80" /><Relationship Type="http://schemas.openxmlformats.org/officeDocument/2006/relationships/slide" Target="/ppt/slides/slide11.xml" Id="R19cf6a9a36fe46ef" /><Relationship Type="http://schemas.openxmlformats.org/officeDocument/2006/relationships/slide" Target="/ppt/slides/slide12.xml" Id="Reb5f9dd2ea6449bf" /><Relationship Type="http://schemas.openxmlformats.org/officeDocument/2006/relationships/slide" Target="/ppt/slides/slide13.xml" Id="R20c5010622404bd0" /><Relationship Type="http://schemas.openxmlformats.org/officeDocument/2006/relationships/slide" Target="/ppt/slides/slide14.xml" Id="Ra73764eea82448f1" /><Relationship Type="http://schemas.openxmlformats.org/officeDocument/2006/relationships/slide" Target="/ppt/slides/slide15.xml" Id="Rea12eb00c4b84e4f" /><Relationship Type="http://schemas.openxmlformats.org/officeDocument/2006/relationships/slide" Target="/ppt/slides/slide16.xml" Id="R7048d384b19b4a7f" /><Relationship Type="http://schemas.openxmlformats.org/officeDocument/2006/relationships/slide" Target="/ppt/slides/slide17.xml" Id="Rbcad612b17f34df9" /><Relationship Type="http://schemas.openxmlformats.org/officeDocument/2006/relationships/slide" Target="/ppt/slides/slide18.xml" Id="R4f521bb738374b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926412b88e4b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a7a82754f041c1" /><Relationship Type="http://schemas.openxmlformats.org/officeDocument/2006/relationships/notesMaster" Target="/ppt/notesMasters/notesMaster1.xml" Id="R663e3a41760f41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55034b7b1d458e" /><Relationship Type="http://schemas.openxmlformats.org/officeDocument/2006/relationships/notesMaster" Target="/ppt/notesMasters/notesMaster1.xml" Id="R5590b1d7506c4e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d87e09209f4f96" /><Relationship Type="http://schemas.openxmlformats.org/officeDocument/2006/relationships/notesMaster" Target="/ppt/notesMasters/notesMaster1.xml" Id="R171bfc18e0324c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dad5f634b740cc" /><Relationship Type="http://schemas.openxmlformats.org/officeDocument/2006/relationships/notesMaster" Target="/ppt/notesMasters/notesMaster1.xml" Id="Rdbc647c4570243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27f8d19bac446f" /><Relationship Type="http://schemas.openxmlformats.org/officeDocument/2006/relationships/notesMaster" Target="/ppt/notesMasters/notesMaster1.xml" Id="Rcdf10c075d7f4f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11740962114cb9" /><Relationship Type="http://schemas.openxmlformats.org/officeDocument/2006/relationships/notesMaster" Target="/ppt/notesMasters/notesMaster1.xml" Id="R48ffd0c759f34a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d2d2e9bcd0486b" /><Relationship Type="http://schemas.openxmlformats.org/officeDocument/2006/relationships/notesMaster" Target="/ppt/notesMasters/notesMaster1.xml" Id="R37e6b9e02d5b49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47b105fe0f46dc" /><Relationship Type="http://schemas.openxmlformats.org/officeDocument/2006/relationships/notesMaster" Target="/ppt/notesMasters/notesMaster1.xml" Id="R18c4a892982748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12248d37434f46" /><Relationship Type="http://schemas.openxmlformats.org/officeDocument/2006/relationships/notesMaster" Target="/ppt/notesMasters/notesMaster1.xml" Id="Re651709b966b46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135ebb4ac4447b" /><Relationship Type="http://schemas.openxmlformats.org/officeDocument/2006/relationships/notesMaster" Target="/ppt/notesMasters/notesMaster1.xml" Id="Rd2c2b7ad0b7e4c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f4bfd2d44048e8" /><Relationship Type="http://schemas.openxmlformats.org/officeDocument/2006/relationships/notesMaster" Target="/ppt/notesMasters/notesMaster1.xml" Id="R6959bd6f2d2745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a4f23015d146ea" /><Relationship Type="http://schemas.openxmlformats.org/officeDocument/2006/relationships/notesMaster" Target="/ppt/notesMasters/notesMaster1.xml" Id="R616a84e8ce2142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e48aaeb80c4733" /><Relationship Type="http://schemas.openxmlformats.org/officeDocument/2006/relationships/notesMaster" Target="/ppt/notesMasters/notesMaster1.xml" Id="R4799acf025d74d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0847b28be04ab4" /><Relationship Type="http://schemas.openxmlformats.org/officeDocument/2006/relationships/notesMaster" Target="/ppt/notesMasters/notesMaster1.xml" Id="Ree59992b27b047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2f80a6845e4ac7" /><Relationship Type="http://schemas.openxmlformats.org/officeDocument/2006/relationships/notesMaster" Target="/ppt/notesMasters/notesMaster1.xml" Id="Re0844dcb102f4a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14911cca414ef5" /><Relationship Type="http://schemas.openxmlformats.org/officeDocument/2006/relationships/notesMaster" Target="/ppt/notesMasters/notesMaster1.xml" Id="R457ad30edd274e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ff8b416f5c46d0" /><Relationship Type="http://schemas.openxmlformats.org/officeDocument/2006/relationships/notesMaster" Target="/ppt/notesMasters/notesMaster1.xml" Id="R6462825794304d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6c9ad2f7ea4d08" /><Relationship Type="http://schemas.openxmlformats.org/officeDocument/2006/relationships/notesMaster" Target="/ppt/notesMasters/notesMaster1.xml" Id="R2c5e9cd104fc41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PRIMARY TEACHING MOMENT</a:t>
            </a:r>
          </a:p>
          <a:p xmlns:a="http://schemas.openxmlformats.org/drawingml/2006/main">
            <a:pPr marL="0" indent="0" algn="l">
              <a:spcBef>
                <a:spcPts val="0"/>
              </a:spcBef>
              <a:spcAft>
                <a:spcPts val="0"/>
              </a:spcAft>
              <a:buNone/>
            </a:pPr>
            <a:r>
              <a:t>Unit 1, Week 2</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PAIRED DECK</a:t>
            </a:r>
          </a:p>
          <a:p xmlns:a="http://schemas.openxmlformats.org/drawingml/2006/main">
            <a:pPr marL="0" indent="0" algn="l">
              <a:spcBef>
                <a:spcPts val="0"/>
              </a:spcBef>
              <a:spcAft>
                <a:spcPts val="0"/>
              </a:spcAft>
              <a:buNone/>
            </a:pPr>
            <a:r>
              <a:t>Deck 4: Experimental Design and Engineering Design Basics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REQUIRED WEEK 2 MATERIALS</a:t>
            </a:r>
          </a:p>
          <a:p xmlns:a="http://schemas.openxmlformats.org/drawingml/2006/main">
            <a:pPr marL="0" indent="0" algn="l">
              <a:spcBef>
                <a:spcPts val="0"/>
              </a:spcBef>
              <a:spcAft>
                <a:spcPts val="0"/>
              </a:spcAft>
              <a:buNone/>
            </a:pPr>
            <a:r>
              <a:t>Shared weekly packet for Decks 2 and 4:</a:t>
            </a:r>
          </a:p>
          <a:p xmlns:a="http://schemas.openxmlformats.org/drawingml/2006/main">
            <a:pPr marL="0" indent="0" algn="l">
              <a:spcBef>
                <a:spcPts val="0"/>
              </a:spcBef>
              <a:spcAft>
                <a:spcPts val="0"/>
              </a:spcAft>
              <a:buNone/>
            </a:pPr>
            <a:r>
              <a:t>- Unit 1 Student Handouts 5-8</a:t>
            </a:r>
          </a:p>
          <a:p xmlns:a="http://schemas.openxmlformats.org/drawingml/2006/main">
            <a:pPr marL="0" indent="0" algn="l">
              <a:spcBef>
                <a:spcPts val="0"/>
              </a:spcBef>
              <a:spcAft>
                <a:spcPts val="0"/>
              </a:spcAft>
              <a:buNone/>
            </a:pPr>
            <a:r>
              <a:t>- Unit 1 Appendices D-H</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OPTIONAL / TEACHER REFERENCE</a:t>
            </a:r>
          </a:p>
          <a:p xmlns:a="http://schemas.openxmlformats.org/drawingml/2006/main">
            <a:pPr marL="0" indent="0" algn="l">
              <a:spcBef>
                <a:spcPts val="0"/>
              </a:spcBef>
              <a:spcAft>
                <a:spcPts val="0"/>
              </a:spcAft>
              <a:buNone/>
            </a:pPr>
            <a:r>
              <a:t>- Unit 1 Appendix I: Optional Project Card Sorting Activity</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RESOURCE ALIGNMENT</a:t>
            </a:r>
          </a:p>
          <a:p xmlns:a="http://schemas.openxmlformats.org/drawingml/2006/main">
            <a:pPr marL="0" indent="0" algn="l">
              <a:spcBef>
                <a:spcPts val="0"/>
              </a:spcBef>
              <a:spcAft>
                <a:spcPts val="0"/>
              </a:spcAft>
              <a:buNone/>
            </a:pPr>
            <a:r>
              <a:t>The implementation calendar is the source of truth for week, deck, and print mappings. Use this deck after students have generated possible interest areas.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Frame the lesson as a narrowing process. Emphasize that students do not need final projects today. They need better questions than they walked in with. Have students keep their Unit 1 interest inventory open throughout the deck.</a:t>
            </a:r>
            <a:br/>
            <a:br/>
            <a:r>
              <a:t>Resource alignment:</a:t>
            </a:r>
            <a:br/>
            <a:r>
              <a:t>Use Unit 1 Student Handout 3: Research Interest Inventory. This slide prepares students for Unit 1 Student Handout 6: From Topic to Research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Ask for examples of broad topics students wrote on their interest inventory. Put a few on the board. Do not criticize the ideas. Use them as raw material. Student activity: students circle one broad topic from their inventory that still feels interesting.</a:t>
            </a:r>
            <a:br/>
            <a:br/>
            <a:r>
              <a:t>Resource alignment:</a:t>
            </a:r>
            <a:br/>
            <a:r>
              <a:t>Use Unit 1 Student Handout 3: Research Interest Inventory. Reference Unit 1 Appendix E: Strong vs. Weak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Walk through the ladder slowly. Ask: What changed at each step? Students should notice the last step contains a variable or comparison and a measurable outcome.</a:t>
            </a:r>
            <a:br/>
            <a:br/>
            <a:r>
              <a:t>Resource alignment:</a:t>
            </a:r>
            <a:br/>
            <a:r>
              <a:t>Use Unit 1 Student Handout 6: From Topic to Research Question, Part A: Topic Narrowing.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do not need to memorize definitions, but they need to stop treating these as interchangeable. Ask students to identify which of the four they currently have. Quick check by show of fingers: 1 topic, 2 question, 3 hypothesis, 4 engineering problem.</a:t>
            </a:r>
            <a:br/>
            <a:br/>
            <a:r>
              <a:t>Resource alignment:</a:t>
            </a:r>
            <a:br/>
            <a:r>
              <a:t>Use Unit 1 Student Handout 6: From Topic to Research Question. Reference Unit 1 Appendix G: Engineering Design Problem Guide for engineering problem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is the conceptual hinge. Repeat the phrase: evidence decides whether a question is researchable. Students write answers to these four questions for their current best idea. If they cannot answer question 2, the idea is not ready.</a:t>
            </a:r>
            <a:br/>
            <a:br/>
            <a:r>
              <a:t>Resource alignment:</a:t>
            </a:r>
            <a:br/>
            <a:r>
              <a:t>Use Unit 1 Student Handout 6: From Topic to Research Question and Unit 1 Student Handout 7: Question Quality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Do not make weak questions feel embarrassing. They are the starting point. Have students identify what changed in the stronger version: specific organism/material, measurable outcome, comparison, timeline, and metric.</a:t>
            </a:r>
            <a:br/>
            <a:br/>
            <a:r>
              <a:t>Resource alignment:</a:t>
            </a:r>
            <a:br/>
            <a:r>
              <a:t>Reference Unit 1 Appendix E: Strong vs. Weak Research Questions. Use Unit 1 Student Handout 6 to revise student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often write questions with better/best/effective. This slide gives replacement moves. Activity: students underline vague words in one of their own questions and replace them with a measurable metric.</a:t>
            </a:r>
            <a:br/>
            <a:br/>
            <a:r>
              <a:t>Resource alignment:</a:t>
            </a:r>
            <a:br/>
            <a:r>
              <a:t>Use Unit 1 Student Handout 6: From Topic to Research Question and Unit 1 Appendix E: Strong vs. Weak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Normalize both pathways. Students may feel that engineering is not “real science.” Emphasize that engineering projects still need evidence, criteria, and systematic testing. Students label their idea as science, engineering, data analysis, or unsure.</a:t>
            </a:r>
            <a:br/>
            <a:br/>
            <a:r>
              <a:t>Resource alignment:</a:t>
            </a:r>
            <a:br/>
            <a:r>
              <a:t>Use Unit 1 Appendix G: Engineering Design Problem Guide. Also connects to Unit 1 Student Handout 6, Part D: Engineering Design 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Give students quiet writing time first. Then have them turn and talk with a partner. Ask partners to challenge each other on measurability: What would you measure? What would you compare? Circulate and collect strong examples to share anonymously.</a:t>
            </a:r>
            <a:br/>
            <a:br/>
            <a:r>
              <a:t>Resource alignment:</a:t>
            </a:r>
            <a:br/>
            <a:r>
              <a:t>Use Unit 1 Student Handout 6: From Topic to Research Question, Part A: Topic Narrowing. Students should also reference Unit 1 Student Handout 3: Research Interest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a useful class norm. Make “not yet” language normal. A red flag means revise, not quit. Students complete the question quality test for their current best question.</a:t>
            </a:r>
            <a:br/>
            <a:br/>
            <a:r>
              <a:t>Resource alignment:</a:t>
            </a:r>
            <a:br/>
            <a:r>
              <a:t>Use Unit 1 Student Handout 7: Question Quality Test. Reference Unit 1 Appendix F: Feasibility Filter if students need additional support with feasibility.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the project cards from Unit 1 Appendix I. If you do not want to print cards, project examples can be projected one at a time. Push students to explain their reasoning: What data would be collected? What makes it unsafe? What makes it too broad?</a:t>
            </a:r>
            <a:br/>
            <a:br/>
            <a:r>
              <a:t>Resource alignment:</a:t>
            </a:r>
            <a:br/>
            <a:r>
              <a:t>Use Unit 1 Appendix I: Optional Project Card Sorting Activity. Also connects to Unit 1 Appendix E: Strong vs. Weak Research Questions and Unit 1 Student Handout 7: Question Quality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Keep this as an early warning, not a full safety lecture. The full ethics/safety deck will go deeper. Students should understand that some topics may need alternate methods, mentor settings, public datasets, simulations, or approval before any work begins.</a:t>
            </a:r>
            <a:br/>
            <a:br/>
            <a:r>
              <a:t>Resource alignment:</a:t>
            </a:r>
            <a:br/>
            <a:r>
              <a:t>Reference Unit 1 Student Handout 4: Research Ethics and Integrity Agreement, Unit 1 Student Handout 7: Question Quality Test, and preview Deck 3: Research Ethics, Safety, and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a revision toolkit. Have students copy these five moves into their notes or onto the top of Handout 6. Activity: students apply at least two upgrade moves to their draft question.</a:t>
            </a:r>
            <a:br/>
            <a:br/>
            <a:r>
              <a:t>Resource alignment:</a:t>
            </a:r>
            <a:br/>
            <a:r>
              <a:t>Use Unit 1 Student Handout 6: From Topic to Research Question and Unit 1 Appendix E: Strong vs. Weak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most important student work time in the deck. Do not rush it. Have students write actual wording. Collect one or two before/after examples to display anonymously in the next class.</a:t>
            </a:r>
            <a:br/>
            <a:br/>
            <a:r>
              <a:t>Resource alignment:</a:t>
            </a:r>
            <a:br/>
            <a:r>
              <a:t>Use Unit 1 Student Handout 6: From Topic to Research Question and Unit 1 Student Handout 7: Question Quality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is primarily for teachers, but students benefit from hearing the questions. During work time, use these exact prompts. Avoid approving or rejecting too quickly. Help students clarify evidence first.</a:t>
            </a:r>
            <a:br/>
            <a:br/>
            <a:r>
              <a:t>Resource alignment:</a:t>
            </a:r>
            <a:br/>
            <a:r>
              <a:t>Use Unit 1 Appendix H: Teacher Conference Guide. This also supports Unit 1 Student Handout 7: Question Quality Test and Unit 1 Student Handout 8: Preliminary Project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Collect the exit ticket. Sort students before the next class into categories: promising, needs measurability, needs feasibility support, safety/ethics concern, engineering pathway, no idea yet. This will make Unit 2 conferences much more efficient.</a:t>
            </a:r>
            <a:br/>
            <a:br/>
            <a:r>
              <a:t>Resource alignment:</a:t>
            </a:r>
            <a:br/>
            <a:r>
              <a:t>Use Unit 1 Student Handout 7: Question Quality Test and Unit 1 Student Handout 8: Preliminary Project Pitch. Reference Unit 1 Appendix H: Teacher Conference Guide for follow-up conferences.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Preview Unit 2 without overwhelming students. Remind them that the goal is not a perfect question yet. The goal is a question that is clear enough to begin planning and discussing feasibility.</a:t>
            </a:r>
            <a:br/>
            <a:br/>
            <a:r>
              <a:t>Resource alignment:</a:t>
            </a:r>
            <a:br/>
            <a:r>
              <a:t>Use Unit 1 Student Handout 8: Preliminary Project Pitch. Next deck connection: Deck 3: Research Ethics, Safety, and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631d0722844fb8"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b6c665212346d2" /><Relationship Type="http://schemas.openxmlformats.org/officeDocument/2006/relationships/slideLayout" Target="/ppt/slideLayouts/slideLayout1.xml" Id="Ra41153d7b9894b2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41153d7b9894b2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1de37de81c4a46" /><Relationship Type="http://schemas.openxmlformats.org/officeDocument/2006/relationships/image" Target="/ppt/media/image.png" Id="R27978df787d649f5" /><Relationship Type="http://schemas.openxmlformats.org/officeDocument/2006/relationships/notesSlide" Target="/ppt/notesSlides/notesSlide1.xml" Id="Rd10326f94ee847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a5a06f63334043" /><Relationship Type="http://schemas.openxmlformats.org/officeDocument/2006/relationships/notesSlide" Target="/ppt/notesSlides/notesSlide2.xml" Id="R990610fcd04c40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7194aa279a4c8d" /><Relationship Type="http://schemas.openxmlformats.org/officeDocument/2006/relationships/notesSlide" Target="/ppt/notesSlides/notesSlide3.xml" Id="Rde115f35bf694d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2d9ff5dae44326" /><Relationship Type="http://schemas.openxmlformats.org/officeDocument/2006/relationships/notesSlide" Target="/ppt/notesSlides/notesSlide4.xml" Id="R654ad082978d4e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19c8df594a4dd6" /><Relationship Type="http://schemas.openxmlformats.org/officeDocument/2006/relationships/notesSlide" Target="/ppt/notesSlides/notesSlide5.xml" Id="Rf0caecede53840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9d2de5cbc246e4" /><Relationship Type="http://schemas.openxmlformats.org/officeDocument/2006/relationships/notesSlide" Target="/ppt/notesSlides/notesSlide6.xml" Id="R0c77de08465d4c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105c8ef54c4aac" /><Relationship Type="http://schemas.openxmlformats.org/officeDocument/2006/relationships/notesSlide" Target="/ppt/notesSlides/notesSlide7.xml" Id="R8d42ec614d374a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f4b2ee7fcd4852" /><Relationship Type="http://schemas.openxmlformats.org/officeDocument/2006/relationships/notesSlide" Target="/ppt/notesSlides/notesSlide8.xml" Id="R0f494a92dd0b41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03a29021e44808" /><Relationship Type="http://schemas.openxmlformats.org/officeDocument/2006/relationships/notesSlide" Target="/ppt/notesSlides/notesSlide9.xml" Id="R28eaef8b91ef48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1cc59fd4bb4b73" /><Relationship Type="http://schemas.openxmlformats.org/officeDocument/2006/relationships/notesSlide" Target="/ppt/notesSlides/notesSlide10.xml" Id="Rf3dff263935043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58ba2e039f4841" /><Relationship Type="http://schemas.openxmlformats.org/officeDocument/2006/relationships/notesSlide" Target="/ppt/notesSlides/notesSlide11.xml" Id="Rce308a3f00224d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cc17dde9be42a1" /><Relationship Type="http://schemas.openxmlformats.org/officeDocument/2006/relationships/notesSlide" Target="/ppt/notesSlides/notesSlide12.xml" Id="R2d20b1c8eef141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2f0c2bfa0e4e19" /><Relationship Type="http://schemas.openxmlformats.org/officeDocument/2006/relationships/notesSlide" Target="/ppt/notesSlides/notesSlide13.xml" Id="R9f124c1cc01a40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d65cc0967f4459" /><Relationship Type="http://schemas.openxmlformats.org/officeDocument/2006/relationships/notesSlide" Target="/ppt/notesSlides/notesSlide14.xml" Id="R7920b2b2567c4b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57fdcb0a979446c" /><Relationship Type="http://schemas.openxmlformats.org/officeDocument/2006/relationships/notesSlide" Target="/ppt/notesSlides/notesSlide15.xml" Id="R74e5a79ba2cf43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a1cf5635f74162" /><Relationship Type="http://schemas.openxmlformats.org/officeDocument/2006/relationships/notesSlide" Target="/ppt/notesSlides/notesSlide16.xml" Id="R3c686db6daa745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baaba502604e42" /><Relationship Type="http://schemas.openxmlformats.org/officeDocument/2006/relationships/notesSlide" Target="/ppt/notesSlides/notesSlide17.xml" Id="R7dd3e4c20e5445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7bb7eb0760a4bed" /><Relationship Type="http://schemas.openxmlformats.org/officeDocument/2006/relationships/notesSlide" Target="/ppt/notesSlides/notesSlide18.xml" Id="R80a8a0c0abfb42db"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603D0C8C-BA1C-4E92-A474-53624A00765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 name="Google Shape;17;p3">
            <a:extLst xmlns:a="http://schemas.openxmlformats.org/drawingml/2006/main">
              <a:ext uri="{FF2B5EF4-FFF2-40B4-BE49-F238E27FC236}">
                <a16:creationId xmlns:a16="http://schemas.microsoft.com/office/drawing/2014/main" id="{08D95751-4DB7-4BB5-9A5B-14B0C05AD290}"/>
              </a:ext>
            </a:extLst>
          </p:cNvPr>
          <p:cNvSpPr>
            <a:spLocks xmlns:a="http://schemas.openxmlformats.org/drawingml/2006/main" noGrp="1"/>
          </p:cNvSpPr>
          <p:nvPr/>
        </p:nvSpPr>
        <p:spPr>
          <a:xfrm xmlns:a="http://schemas.openxmlformats.org/drawingml/2006/main">
            <a:off x="0" y="219456"/>
            <a:ext cx="12191695" cy="82296"/>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 name="Google Shape;18;p3">
            <a:extLst xmlns:a="http://schemas.openxmlformats.org/drawingml/2006/main">
              <a:ext uri="{FF2B5EF4-FFF2-40B4-BE49-F238E27FC236}">
                <a16:creationId xmlns:a16="http://schemas.microsoft.com/office/drawing/2014/main" id="{41122347-C123-4B8B-9818-CD8E981A3E6C}"/>
              </a:ext>
            </a:extLst>
          </p:cNvPr>
          <p:cNvSpPr>
            <a:spLocks xmlns:a="http://schemas.openxmlformats.org/drawingml/2006/main" noGrp="1"/>
          </p:cNvSpPr>
          <p:nvPr/>
        </p:nvSpPr>
        <p:spPr>
          <a:xfrm xmlns:a="http://schemas.openxmlformats.org/drawingml/2006/main">
            <a:off x="0" y="6565392"/>
            <a:ext cx="12191695" cy="82296"/>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27" name="Google Shape;19;p3"/>
          <p:cNvPicPr>
            <a:picLocks xmlns:a="http://schemas.openxmlformats.org/drawingml/2006/main" noChangeAspect="1"/>
          </p:cNvPicPr>
          <p:nvPr/>
        </p:nvPicPr>
        <p:blipFill rotWithShape="1">
          <a:blip xmlns:r="http://schemas.openxmlformats.org/officeDocument/2006/relationships" xmlns:a="http://schemas.openxmlformats.org/drawingml/2006/main" r:embed="R27978df787d649f5">
            <a:alphaModFix/>
          </a:blip>
          <a:srcRect xmlns:a="http://schemas.openxmlformats.org/drawingml/2006/main" l="0" t="0" r="0" b="0"/>
          <a:stretch xmlns:a="http://schemas.openxmlformats.org/drawingml/2006/main"/>
        </p:blipFill>
        <p:spPr>
          <a:xfrm xmlns:a="http://schemas.openxmlformats.org/drawingml/2006/main">
            <a:off x="1572768" y="512064"/>
            <a:ext cx="9052560" cy="4224528"/>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060AC253-B0D7-4A2E-89BB-91AA36994D62}"/>
              </a:ext>
            </a:extLst>
          </p:cNvPr>
          <p:cNvSpPr>
            <a:spLocks xmlns:a="http://schemas.openxmlformats.org/drawingml/2006/main" noGrp="1"/>
          </p:cNvSpPr>
          <p:nvPr/>
        </p:nvSpPr>
        <p:spPr>
          <a:xfrm xmlns:a="http://schemas.openxmlformats.org/drawingml/2006/main">
            <a:off x="960120" y="5010912"/>
            <a:ext cx="10287000" cy="868680"/>
          </a:xfrm>
          <a:prstGeom xmlns:a="http://schemas.openxmlformats.org/drawingml/2006/main" prst="rect">
            <a:avLst/>
          </a:prstGeom>
          <a:solidFill xmlns:a="http://schemas.openxmlformats.org/drawingml/2006/main">
            <a:srgbClr val="050505">
              <a:alpha val="0"/>
            </a:srgbClr>
          </a:solidFill>
          <a:ln xmlns:a="http://schemas.openxmlformats.org/drawingml/2006/main" w="15225" cmpd="sng">
            <a:solidFill>
              <a:srgbClr val="B8B8B8">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1EB05DCE-4996-456A-87FE-5E6470815B91}"/>
              </a:ext>
            </a:extLst>
          </p:cNvPr>
          <p:cNvSpPr>
            <a:spLocks xmlns:a="http://schemas.openxmlformats.org/drawingml/2006/main" noGrp="1"/>
          </p:cNvSpPr>
          <p:nvPr/>
        </p:nvSpPr>
        <p:spPr>
          <a:xfrm xmlns:a="http://schemas.openxmlformats.org/drawingml/2006/main">
            <a:off x="1024128" y="5102352"/>
            <a:ext cx="101498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500"/>
              <a:buFont typeface="Play"/>
              <a:buNone/>
            </a:pPr>
            <a:r>
              <a:rPr sz="2500" b="1" i="0" u="none" cap="none">
                <a:solidFill>
                  <a:srgbClr val="FFFFFF"/>
                </a:solidFill>
                <a:latin typeface="Play"/>
                <a:ea typeface="Play"/>
                <a:cs typeface="Play"/>
              </a:rPr>
              <a:t>FROM TOPIC TO</a:t>
            </a:r>
          </a:p>
          <a:p xmlns:a="http://schemas.openxmlformats.org/drawingml/2006/main">
            <a:pPr marL="0" marR="0" indent="0" algn="l">
              <a:spcBef>
                <a:spcPts val="0"/>
              </a:spcBef>
              <a:spcAft>
                <a:spcPts val="0"/>
              </a:spcAft>
              <a:buClr>
                <a:srgbClr val="FFFFFF"/>
              </a:buClr>
              <a:buSzPts val="2500"/>
              <a:buFont typeface="Play"/>
              <a:buNone/>
            </a:pPr>
            <a:r>
              <a:rPr sz="2500" b="1" i="0" u="none" cap="none">
                <a:solidFill>
                  <a:srgbClr val="FFFFFF"/>
                </a:solidFill>
                <a:latin typeface="Play"/>
                <a:ea typeface="Play"/>
                <a:cs typeface="Play"/>
              </a:rPr>
              <a:t>RESEARCH QUESTION</a:t>
            </a:r>
          </a:p>
        </p:txBody>
      </p:sp>
      <p:sp>
        <p:nvSpPr>
          <p:cNvPr id="22" name="Google Shape;22;p3">
            <a:extLst xmlns:a="http://schemas.openxmlformats.org/drawingml/2006/main">
              <a:ext uri="{FF2B5EF4-FFF2-40B4-BE49-F238E27FC236}">
                <a16:creationId xmlns:a16="http://schemas.microsoft.com/office/drawing/2014/main" id="{46CD8A55-1AA8-4CE2-9E32-EBB0C0CF090F}"/>
              </a:ext>
            </a:extLst>
          </p:cNvPr>
          <p:cNvSpPr>
            <a:spLocks xmlns:a="http://schemas.openxmlformats.org/drawingml/2006/main" noGrp="1"/>
          </p:cNvSpPr>
          <p:nvPr/>
        </p:nvSpPr>
        <p:spPr>
          <a:xfrm xmlns:a="http://schemas.openxmlformats.org/drawingml/2006/main">
            <a:off x="1024128" y="5989320"/>
            <a:ext cx="7132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STARLAB Deck 02  •  Unit 1 Launch Sequence</a:t>
            </a:r>
          </a:p>
        </p:txBody>
      </p:sp>
    </p:spTree>
    <p:extLst>
      <p:ext uri="{BB962C8B-B14F-4D97-AF65-F5344CB8AC3E}">
        <p14:creationId xmlns:p14="http://schemas.microsoft.com/office/powerpoint/2010/main" val="554176286"/>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C0AD2C49-EA8C-45A0-A00C-ED7AA54661F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 name="Google Shape;29;p4">
            <a:extLst xmlns:a="http://schemas.openxmlformats.org/drawingml/2006/main">
              <a:ext uri="{FF2B5EF4-FFF2-40B4-BE49-F238E27FC236}">
                <a16:creationId xmlns:a16="http://schemas.microsoft.com/office/drawing/2014/main" id="{B4918798-820C-4907-8BC2-E9172D3169FA}"/>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 name="Google Shape;30;p4">
            <a:extLst xmlns:a="http://schemas.openxmlformats.org/drawingml/2006/main">
              <a:ext uri="{FF2B5EF4-FFF2-40B4-BE49-F238E27FC236}">
                <a16:creationId xmlns:a16="http://schemas.microsoft.com/office/drawing/2014/main" id="{B4729891-8843-4CB4-906B-F6C4720B468A}"/>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 name="Google Shape;31;p4">
            <a:extLst xmlns:a="http://schemas.openxmlformats.org/drawingml/2006/main">
              <a:ext uri="{FF2B5EF4-FFF2-40B4-BE49-F238E27FC236}">
                <a16:creationId xmlns:a16="http://schemas.microsoft.com/office/drawing/2014/main" id="{AADFD9B1-3AB5-46BA-B2D8-E20499557715}"/>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QUESTION DEVELOPMENT</a:t>
            </a:r>
          </a:p>
        </p:txBody>
      </p:sp>
      <p:sp>
        <p:nvSpPr>
          <p:cNvPr id="32" name="Google Shape;32;p4">
            <a:extLst xmlns:a="http://schemas.openxmlformats.org/drawingml/2006/main">
              <a:ext uri="{FF2B5EF4-FFF2-40B4-BE49-F238E27FC236}">
                <a16:creationId xmlns:a16="http://schemas.microsoft.com/office/drawing/2014/main" id="{270C4F0B-5355-4659-8469-8BC9DADEA589}"/>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33" name="Google Shape;33;p4">
            <a:extLst xmlns:a="http://schemas.openxmlformats.org/drawingml/2006/main">
              <a:ext uri="{FF2B5EF4-FFF2-40B4-BE49-F238E27FC236}">
                <a16:creationId xmlns:a16="http://schemas.microsoft.com/office/drawing/2014/main" id="{04DC5E9B-90DF-4353-B68B-DDB3B4237006}"/>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02</a:t>
            </a:r>
          </a:p>
        </p:txBody>
      </p:sp>
      <p:sp>
        <p:nvSpPr>
          <p:cNvPr id="34" name="Google Shape;34;p4">
            <a:extLst xmlns:a="http://schemas.openxmlformats.org/drawingml/2006/main">
              <a:ext uri="{FF2B5EF4-FFF2-40B4-BE49-F238E27FC236}">
                <a16:creationId xmlns:a16="http://schemas.microsoft.com/office/drawing/2014/main" id="{67BFFA15-F0D6-4DF2-A58F-0FB3F411EBFE}"/>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Today’s Target</a:t>
            </a:r>
          </a:p>
        </p:txBody>
      </p:sp>
      <p:sp>
        <p:nvSpPr>
          <p:cNvPr id="35" name="Google Shape;35;p4">
            <a:extLst xmlns:a="http://schemas.openxmlformats.org/drawingml/2006/main">
              <a:ext uri="{FF2B5EF4-FFF2-40B4-BE49-F238E27FC236}">
                <a16:creationId xmlns:a16="http://schemas.microsoft.com/office/drawing/2014/main" id="{E49CB751-1C00-43E6-A037-4C2595A600CB}"/>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Students move from broad curiosity to a testable research direction.</a:t>
            </a:r>
          </a:p>
        </p:txBody>
      </p:sp>
      <p:cxnSp>
        <p:nvCxnSpPr>
          <p:cNvPr id="51" name="Google Shape;36;p4"/>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7" name="Google Shape;37;p4">
            <a:extLst xmlns:a="http://schemas.openxmlformats.org/drawingml/2006/main">
              <a:ext uri="{FF2B5EF4-FFF2-40B4-BE49-F238E27FC236}">
                <a16:creationId xmlns:a16="http://schemas.microsoft.com/office/drawing/2014/main" id="{FC6371DF-35B8-49EC-9C06-4AE808E066B9}"/>
              </a:ext>
            </a:extLst>
          </p:cNvPr>
          <p:cNvSpPr>
            <a:spLocks xmlns:a="http://schemas.openxmlformats.org/drawingml/2006/main" noGrp="1"/>
          </p:cNvSpPr>
          <p:nvPr/>
        </p:nvSpPr>
        <p:spPr>
          <a:xfrm xmlns:a="http://schemas.openxmlformats.org/drawingml/2006/main">
            <a:off x="868680" y="1828800"/>
            <a:ext cx="10424160" cy="1280160"/>
          </a:xfrm>
          <a:prstGeom xmlns:a="http://schemas.openxmlformats.org/drawingml/2006/main" prst="roundRect">
            <a:avLst>
              <a:gd name="adj" fmla="val 4286"/>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4">
            <a:extLst xmlns:a="http://schemas.openxmlformats.org/drawingml/2006/main">
              <a:ext uri="{FF2B5EF4-FFF2-40B4-BE49-F238E27FC236}">
                <a16:creationId xmlns:a16="http://schemas.microsoft.com/office/drawing/2014/main" id="{7A17873E-00CE-4D4E-80CB-D8AA1A94BBBF}"/>
              </a:ext>
            </a:extLst>
          </p:cNvPr>
          <p:cNvSpPr>
            <a:spLocks xmlns:a="http://schemas.openxmlformats.org/drawingml/2006/main" noGrp="1"/>
          </p:cNvSpPr>
          <p:nvPr/>
        </p:nvSpPr>
        <p:spPr>
          <a:xfrm xmlns:a="http://schemas.openxmlformats.org/drawingml/2006/main">
            <a:off x="1033272" y="1965960"/>
            <a:ext cx="100949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BY THE END</a:t>
            </a:r>
          </a:p>
        </p:txBody>
      </p:sp>
      <p:sp>
        <p:nvSpPr>
          <p:cNvPr id="39" name="Google Shape;39;p4">
            <a:extLst xmlns:a="http://schemas.openxmlformats.org/drawingml/2006/main">
              <a:ext uri="{FF2B5EF4-FFF2-40B4-BE49-F238E27FC236}">
                <a16:creationId xmlns:a16="http://schemas.microsoft.com/office/drawing/2014/main" id="{ADE5E055-30F5-42E8-8B9E-4D0209AB5982}"/>
              </a:ext>
            </a:extLst>
          </p:cNvPr>
          <p:cNvSpPr>
            <a:spLocks xmlns:a="http://schemas.openxmlformats.org/drawingml/2006/main" noGrp="1"/>
          </p:cNvSpPr>
          <p:nvPr/>
        </p:nvSpPr>
        <p:spPr>
          <a:xfrm xmlns:a="http://schemas.openxmlformats.org/drawingml/2006/main">
            <a:off x="1033272" y="2331720"/>
            <a:ext cx="10094976" cy="621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Arial"/>
              <a:buNone/>
            </a:pPr>
            <a:r>
              <a:rPr sz="2200" b="0" i="0" u="none" cap="none">
                <a:solidFill>
                  <a:srgbClr val="FFFFFF"/>
                </a:solidFill>
                <a:latin typeface="Arial"/>
                <a:ea typeface="Arial"/>
                <a:cs typeface="Arial"/>
              </a:rPr>
              <a:t>You should be able to explain the difference between a topic, a focused topic, a research question, and an engineering problem.</a:t>
            </a:r>
          </a:p>
        </p:txBody>
      </p:sp>
      <p:sp>
        <p:nvSpPr>
          <p:cNvPr id="40" name="Google Shape;40;p4">
            <a:extLst xmlns:a="http://schemas.openxmlformats.org/drawingml/2006/main">
              <a:ext uri="{FF2B5EF4-FFF2-40B4-BE49-F238E27FC236}">
                <a16:creationId xmlns:a16="http://schemas.microsoft.com/office/drawing/2014/main" id="{5A3D8CF7-C1D6-4124-8F83-67D42F1AEBB6}"/>
              </a:ext>
            </a:extLst>
          </p:cNvPr>
          <p:cNvSpPr>
            <a:spLocks xmlns:a="http://schemas.openxmlformats.org/drawingml/2006/main" noGrp="1"/>
          </p:cNvSpPr>
          <p:nvPr/>
        </p:nvSpPr>
        <p:spPr>
          <a:xfrm xmlns:a="http://schemas.openxmlformats.org/drawingml/2006/main">
            <a:off x="868680" y="3657600"/>
            <a:ext cx="10424160" cy="1280160"/>
          </a:xfrm>
          <a:prstGeom xmlns:a="http://schemas.openxmlformats.org/drawingml/2006/main" prst="roundRect">
            <a:avLst>
              <a:gd name="adj" fmla="val 4286"/>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 name="Google Shape;41;p4">
            <a:extLst xmlns:a="http://schemas.openxmlformats.org/drawingml/2006/main">
              <a:ext uri="{FF2B5EF4-FFF2-40B4-BE49-F238E27FC236}">
                <a16:creationId xmlns:a16="http://schemas.microsoft.com/office/drawing/2014/main" id="{90D6CFF7-2361-44A9-B8C6-9B1ACE3BC956}"/>
              </a:ext>
            </a:extLst>
          </p:cNvPr>
          <p:cNvSpPr>
            <a:spLocks xmlns:a="http://schemas.openxmlformats.org/drawingml/2006/main" noGrp="1"/>
          </p:cNvSpPr>
          <p:nvPr/>
        </p:nvSpPr>
        <p:spPr>
          <a:xfrm xmlns:a="http://schemas.openxmlformats.org/drawingml/2006/main">
            <a:off x="1033272" y="3794760"/>
            <a:ext cx="100949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YOU WILL ALSO</a:t>
            </a:r>
          </a:p>
        </p:txBody>
      </p:sp>
      <p:sp>
        <p:nvSpPr>
          <p:cNvPr id="42" name="Google Shape;42;p4">
            <a:extLst xmlns:a="http://schemas.openxmlformats.org/drawingml/2006/main">
              <a:ext uri="{FF2B5EF4-FFF2-40B4-BE49-F238E27FC236}">
                <a16:creationId xmlns:a16="http://schemas.microsoft.com/office/drawing/2014/main" id="{EDD11AAA-38DD-45D2-9EEC-605536460DAB}"/>
              </a:ext>
            </a:extLst>
          </p:cNvPr>
          <p:cNvSpPr>
            <a:spLocks xmlns:a="http://schemas.openxmlformats.org/drawingml/2006/main" noGrp="1"/>
          </p:cNvSpPr>
          <p:nvPr/>
        </p:nvSpPr>
        <p:spPr>
          <a:xfrm xmlns:a="http://schemas.openxmlformats.org/drawingml/2006/main">
            <a:off x="1033272" y="4160520"/>
            <a:ext cx="10094976" cy="621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Arial"/>
              <a:buNone/>
            </a:pPr>
            <a:r>
              <a:rPr sz="2200" b="0" i="0" u="none" cap="none">
                <a:solidFill>
                  <a:srgbClr val="FFFFFF"/>
                </a:solidFill>
                <a:latin typeface="Arial"/>
                <a:ea typeface="Arial"/>
                <a:cs typeface="Arial"/>
              </a:rPr>
              <a:t>Revise one early idea into something that can be measured, tested, modeled, built, compared, or improved.</a:t>
            </a:r>
          </a:p>
        </p:txBody>
      </p:sp>
    </p:spTree>
    <p:extLst>
      <p:ext uri="{BB962C8B-B14F-4D97-AF65-F5344CB8AC3E}">
        <p14:creationId xmlns:p14="http://schemas.microsoft.com/office/powerpoint/2010/main" val="375247737"/>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8" name="Google Shape;48;p5">
            <a:extLst xmlns:a="http://schemas.openxmlformats.org/drawingml/2006/main">
              <a:ext uri="{FF2B5EF4-FFF2-40B4-BE49-F238E27FC236}">
                <a16:creationId xmlns:a16="http://schemas.microsoft.com/office/drawing/2014/main" id="{1B203FD6-78BF-49DB-A79E-C472C29A877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 name="Google Shape;49;p5">
            <a:extLst xmlns:a="http://schemas.openxmlformats.org/drawingml/2006/main">
              <a:ext uri="{FF2B5EF4-FFF2-40B4-BE49-F238E27FC236}">
                <a16:creationId xmlns:a16="http://schemas.microsoft.com/office/drawing/2014/main" id="{BB56F591-DA31-46FF-B154-481358C34E50}"/>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 name="Google Shape;50;p5">
            <a:extLst xmlns:a="http://schemas.openxmlformats.org/drawingml/2006/main">
              <a:ext uri="{FF2B5EF4-FFF2-40B4-BE49-F238E27FC236}">
                <a16:creationId xmlns:a16="http://schemas.microsoft.com/office/drawing/2014/main" id="{F0A3C4AE-7C16-4184-AA46-CA0E6C4B5074}"/>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5">
            <a:extLst xmlns:a="http://schemas.openxmlformats.org/drawingml/2006/main">
              <a:ext uri="{FF2B5EF4-FFF2-40B4-BE49-F238E27FC236}">
                <a16:creationId xmlns:a16="http://schemas.microsoft.com/office/drawing/2014/main" id="{67E7A7DD-1F89-46F4-AEE5-7EC60A246FF2}"/>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QUESTION DEVELOPMENT</a:t>
            </a:r>
          </a:p>
        </p:txBody>
      </p:sp>
      <p:sp>
        <p:nvSpPr>
          <p:cNvPr id="52" name="Google Shape;52;p5">
            <a:extLst xmlns:a="http://schemas.openxmlformats.org/drawingml/2006/main">
              <a:ext uri="{FF2B5EF4-FFF2-40B4-BE49-F238E27FC236}">
                <a16:creationId xmlns:a16="http://schemas.microsoft.com/office/drawing/2014/main" id="{1354E30A-67AB-4B92-BFA5-5B18FC9956A2}"/>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53" name="Google Shape;53;p5">
            <a:extLst xmlns:a="http://schemas.openxmlformats.org/drawingml/2006/main">
              <a:ext uri="{FF2B5EF4-FFF2-40B4-BE49-F238E27FC236}">
                <a16:creationId xmlns:a16="http://schemas.microsoft.com/office/drawing/2014/main" id="{C68F28D4-72D2-42C2-9287-3A1C32FD53C0}"/>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02</a:t>
            </a:r>
          </a:p>
        </p:txBody>
      </p:sp>
      <p:sp>
        <p:nvSpPr>
          <p:cNvPr id="54" name="Google Shape;54;p5">
            <a:extLst xmlns:a="http://schemas.openxmlformats.org/drawingml/2006/main">
              <a:ext uri="{FF2B5EF4-FFF2-40B4-BE49-F238E27FC236}">
                <a16:creationId xmlns:a16="http://schemas.microsoft.com/office/drawing/2014/main" id="{1EABA6C9-D559-4BEE-A2E8-33D5BD121F44}"/>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 Topic Is Not a Project</a:t>
            </a:r>
          </a:p>
        </p:txBody>
      </p:sp>
      <p:sp>
        <p:nvSpPr>
          <p:cNvPr id="55" name="Google Shape;55;p5">
            <a:extLst xmlns:a="http://schemas.openxmlformats.org/drawingml/2006/main">
              <a:ext uri="{FF2B5EF4-FFF2-40B4-BE49-F238E27FC236}">
                <a16:creationId xmlns:a16="http://schemas.microsoft.com/office/drawing/2014/main" id="{ABD724B7-4B4F-40F3-B124-AFAF78E23D7D}"/>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Curiosity begins broad. Research has to become specific.</a:t>
            </a:r>
          </a:p>
        </p:txBody>
      </p:sp>
      <p:cxnSp>
        <p:nvCxnSpPr>
          <p:cNvPr id="71" name="Google Shape;56;p5"/>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57" name="Google Shape;57;p5">
            <a:extLst xmlns:a="http://schemas.openxmlformats.org/drawingml/2006/main">
              <a:ext uri="{FF2B5EF4-FFF2-40B4-BE49-F238E27FC236}">
                <a16:creationId xmlns:a16="http://schemas.microsoft.com/office/drawing/2014/main" id="{1CB3CC8F-1717-48C0-8C98-3C35E9310747}"/>
              </a:ext>
            </a:extLst>
          </p:cNvPr>
          <p:cNvSpPr>
            <a:spLocks xmlns:a="http://schemas.openxmlformats.org/drawingml/2006/main" noGrp="1"/>
          </p:cNvSpPr>
          <p:nvPr/>
        </p:nvSpPr>
        <p:spPr>
          <a:xfrm xmlns:a="http://schemas.openxmlformats.org/drawingml/2006/main">
            <a:off x="868680" y="1874520"/>
            <a:ext cx="4114800" cy="2514600"/>
          </a:xfrm>
          <a:prstGeom xmlns:a="http://schemas.openxmlformats.org/drawingml/2006/main" prst="roundRect">
            <a:avLst>
              <a:gd name="adj" fmla="val 2182"/>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 name="Google Shape;58;p5">
            <a:extLst xmlns:a="http://schemas.openxmlformats.org/drawingml/2006/main">
              <a:ext uri="{FF2B5EF4-FFF2-40B4-BE49-F238E27FC236}">
                <a16:creationId xmlns:a16="http://schemas.microsoft.com/office/drawing/2014/main" id="{85F4EC42-445F-4E84-9E44-41ACC49D24CD}"/>
              </a:ext>
            </a:extLst>
          </p:cNvPr>
          <p:cNvSpPr>
            <a:spLocks xmlns:a="http://schemas.openxmlformats.org/drawingml/2006/main" noGrp="1"/>
          </p:cNvSpPr>
          <p:nvPr/>
        </p:nvSpPr>
        <p:spPr>
          <a:xfrm xmlns:a="http://schemas.openxmlformats.org/drawingml/2006/main">
            <a:off x="1033272" y="2011680"/>
            <a:ext cx="37856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BROAD TOPIC</a:t>
            </a:r>
          </a:p>
        </p:txBody>
      </p:sp>
      <p:sp>
        <p:nvSpPr>
          <p:cNvPr id="59" name="Google Shape;59;p5">
            <a:extLst xmlns:a="http://schemas.openxmlformats.org/drawingml/2006/main">
              <a:ext uri="{FF2B5EF4-FFF2-40B4-BE49-F238E27FC236}">
                <a16:creationId xmlns:a16="http://schemas.microsoft.com/office/drawing/2014/main" id="{8A16B880-9000-49EA-BE84-19C146A8E4B1}"/>
              </a:ext>
            </a:extLst>
          </p:cNvPr>
          <p:cNvSpPr>
            <a:spLocks xmlns:a="http://schemas.openxmlformats.org/drawingml/2006/main" noGrp="1"/>
          </p:cNvSpPr>
          <p:nvPr/>
        </p:nvSpPr>
        <p:spPr>
          <a:xfrm xmlns:a="http://schemas.openxmlformats.org/drawingml/2006/main">
            <a:off x="1033272" y="2377440"/>
            <a:ext cx="3785616" cy="18562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100"/>
              <a:buFont typeface="Arial"/>
              <a:buNone/>
            </a:pPr>
            <a:r>
              <a:rPr sz="2100" b="0" i="0" u="none" cap="none">
                <a:solidFill>
                  <a:srgbClr val="FFFFFF"/>
                </a:solidFill>
                <a:latin typeface="Arial"/>
                <a:ea typeface="Arial"/>
                <a:cs typeface="Arial"/>
              </a:rPr>
              <a:t>“I want to study cancer.”</a:t>
            </a:r>
          </a:p>
          <a:p xmlns:a="http://schemas.openxmlformats.org/drawingml/2006/main">
            <a:pPr marL="0" marR="0" indent="0" algn="l">
              <a:spcBef>
                <a:spcPts val="0"/>
              </a:spcBef>
              <a:spcAft>
                <a:spcPts val="0"/>
              </a:spcAft>
              <a:buClr>
                <a:schemeClr val="dk1"/>
              </a:buClr>
              <a:buSzPts val="2100"/>
              <a:buFont typeface="Arial"/>
              <a:buNone/>
            </a:pPr>
            <a:r>
              <a:t/>
            </a:r>
          </a:p>
          <a:p xmlns:a="http://schemas.openxmlformats.org/drawingml/2006/main">
            <a:pPr marL="0" marR="0" indent="0" algn="l">
              <a:spcBef>
                <a:spcPts val="0"/>
              </a:spcBef>
              <a:spcAft>
                <a:spcPts val="0"/>
              </a:spcAft>
              <a:buClr>
                <a:srgbClr val="FFFFFF"/>
              </a:buClr>
              <a:buSzPts val="2100"/>
              <a:buFont typeface="Arial"/>
              <a:buNone/>
            </a:pPr>
            <a:r>
              <a:rPr sz="2100" b="0" i="0" u="none" cap="none">
                <a:solidFill>
                  <a:srgbClr val="FFFFFF"/>
                </a:solidFill>
                <a:latin typeface="Arial"/>
                <a:ea typeface="Arial"/>
                <a:cs typeface="Arial"/>
              </a:rPr>
              <a:t>That might be a powerful interest, but it is not yet a research question.</a:t>
            </a:r>
          </a:p>
        </p:txBody>
      </p:sp>
      <p:sp>
        <p:nvSpPr>
          <p:cNvPr id="60" name="Google Shape;60;p5">
            <a:extLst xmlns:a="http://schemas.openxmlformats.org/drawingml/2006/main">
              <a:ext uri="{FF2B5EF4-FFF2-40B4-BE49-F238E27FC236}">
                <a16:creationId xmlns:a16="http://schemas.microsoft.com/office/drawing/2014/main" id="{3F2A3FA9-A35C-46C3-92AB-16F96B91A67C}"/>
              </a:ext>
            </a:extLst>
          </p:cNvPr>
          <p:cNvSpPr>
            <a:spLocks xmlns:a="http://schemas.openxmlformats.org/drawingml/2006/main" noGrp="1"/>
          </p:cNvSpPr>
          <p:nvPr/>
        </p:nvSpPr>
        <p:spPr>
          <a:xfrm xmlns:a="http://schemas.openxmlformats.org/drawingml/2006/main">
            <a:off x="5486400" y="1874520"/>
            <a:ext cx="5715000" cy="2514600"/>
          </a:xfrm>
          <a:prstGeom xmlns:a="http://schemas.openxmlformats.org/drawingml/2006/main" prst="roundRect">
            <a:avLst>
              <a:gd name="adj" fmla="val 2182"/>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F5877DE1-C3FB-4CA8-AC78-68CB0B26D8A2}"/>
              </a:ext>
            </a:extLst>
          </p:cNvPr>
          <p:cNvSpPr>
            <a:spLocks xmlns:a="http://schemas.openxmlformats.org/drawingml/2006/main" noGrp="1"/>
          </p:cNvSpPr>
          <p:nvPr/>
        </p:nvSpPr>
        <p:spPr>
          <a:xfrm xmlns:a="http://schemas.openxmlformats.org/drawingml/2006/main">
            <a:off x="5650992" y="2011680"/>
            <a:ext cx="53858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THE SHIFT</a:t>
            </a:r>
          </a:p>
        </p:txBody>
      </p:sp>
      <p:sp>
        <p:nvSpPr>
          <p:cNvPr id="62" name="Google Shape;62;p5">
            <a:extLst xmlns:a="http://schemas.openxmlformats.org/drawingml/2006/main">
              <a:ext uri="{FF2B5EF4-FFF2-40B4-BE49-F238E27FC236}">
                <a16:creationId xmlns:a16="http://schemas.microsoft.com/office/drawing/2014/main" id="{6CFC7638-5E4F-4ABA-89C3-87477068630A}"/>
              </a:ext>
            </a:extLst>
          </p:cNvPr>
          <p:cNvSpPr>
            <a:spLocks xmlns:a="http://schemas.openxmlformats.org/drawingml/2006/main" noGrp="1"/>
          </p:cNvSpPr>
          <p:nvPr/>
        </p:nvSpPr>
        <p:spPr>
          <a:xfrm xmlns:a="http://schemas.openxmlformats.org/drawingml/2006/main">
            <a:off x="5650992" y="2377440"/>
            <a:ext cx="5385816" cy="18562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b="0" i="0" u="none" cap="none">
                <a:solidFill>
                  <a:srgbClr val="FFFFFF"/>
                </a:solidFill>
                <a:latin typeface="Arial"/>
                <a:ea typeface="Arial"/>
                <a:cs typeface="Arial"/>
              </a:rPr>
              <a:t>A topic tells us the area.</a:t>
            </a:r>
          </a:p>
          <a:p xmlns:a="http://schemas.openxmlformats.org/drawingml/2006/main">
            <a:pPr marL="0" marR="0" indent="0" algn="l">
              <a:spcBef>
                <a:spcPts val="0"/>
              </a:spcBef>
              <a:spcAft>
                <a:spcPts val="0"/>
              </a:spcAft>
              <a:buClr>
                <a:schemeClr val="dk1"/>
              </a:buClr>
              <a:buSzPts val="2000"/>
              <a:buFont typeface="Arial"/>
              <a:buNone/>
            </a:pPr>
            <a:r>
              <a:t/>
            </a:r>
          </a:p>
          <a:p xmlns:a="http://schemas.openxmlformats.org/drawingml/2006/main">
            <a:pPr marL="0" marR="0" indent="0" algn="l">
              <a:spcBef>
                <a:spcPts val="0"/>
              </a:spcBef>
              <a:spcAft>
                <a:spcPts val="0"/>
              </a:spcAft>
              <a:buClr>
                <a:srgbClr val="FFFFFF"/>
              </a:buClr>
              <a:buSzPts val="2000"/>
              <a:buFont typeface="Arial"/>
              <a:buNone/>
            </a:pPr>
            <a:r>
              <a:rPr sz="2000" b="0" i="0" u="none" cap="none">
                <a:solidFill>
                  <a:srgbClr val="FFFFFF"/>
                </a:solidFill>
                <a:latin typeface="Arial"/>
                <a:ea typeface="Arial"/>
                <a:cs typeface="Arial"/>
              </a:rPr>
              <a:t>A research question tells us what evidence will be collected.</a:t>
            </a:r>
          </a:p>
          <a:p xmlns:a="http://schemas.openxmlformats.org/drawingml/2006/main">
            <a:pPr marL="0" marR="0" indent="0" algn="l">
              <a:spcBef>
                <a:spcPts val="0"/>
              </a:spcBef>
              <a:spcAft>
                <a:spcPts val="0"/>
              </a:spcAft>
              <a:buClr>
                <a:schemeClr val="dk1"/>
              </a:buClr>
              <a:buSzPts val="2000"/>
              <a:buFont typeface="Arial"/>
              <a:buNone/>
            </a:pPr>
            <a:r>
              <a:t/>
            </a:r>
          </a:p>
          <a:p xmlns:a="http://schemas.openxmlformats.org/drawingml/2006/main">
            <a:pPr marL="0" marR="0" indent="0" algn="l">
              <a:spcBef>
                <a:spcPts val="0"/>
              </a:spcBef>
              <a:spcAft>
                <a:spcPts val="0"/>
              </a:spcAft>
              <a:buClr>
                <a:srgbClr val="FFFFFF"/>
              </a:buClr>
              <a:buSzPts val="2000"/>
              <a:buFont typeface="Arial"/>
              <a:buNone/>
            </a:pPr>
            <a:r>
              <a:rPr sz="2000" b="0" i="0" u="none" cap="none">
                <a:solidFill>
                  <a:srgbClr val="FFFFFF"/>
                </a:solidFill>
                <a:latin typeface="Arial"/>
                <a:ea typeface="Arial"/>
                <a:cs typeface="Arial"/>
              </a:rPr>
              <a:t>Shift from “what am I interested in?” to “what can I investigate?”</a:t>
            </a:r>
          </a:p>
        </p:txBody>
      </p:sp>
    </p:spTree>
    <p:extLst>
      <p:ext uri="{BB962C8B-B14F-4D97-AF65-F5344CB8AC3E}">
        <p14:creationId xmlns:p14="http://schemas.microsoft.com/office/powerpoint/2010/main" val="1014199573"/>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8" name="Google Shape;68;p6">
            <a:extLst xmlns:a="http://schemas.openxmlformats.org/drawingml/2006/main">
              <a:ext uri="{FF2B5EF4-FFF2-40B4-BE49-F238E27FC236}">
                <a16:creationId xmlns:a16="http://schemas.microsoft.com/office/drawing/2014/main" id="{F49B636B-84F9-4F11-87B2-6C3C335A1CE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9" name="Google Shape;69;p6">
            <a:extLst xmlns:a="http://schemas.openxmlformats.org/drawingml/2006/main">
              <a:ext uri="{FF2B5EF4-FFF2-40B4-BE49-F238E27FC236}">
                <a16:creationId xmlns:a16="http://schemas.microsoft.com/office/drawing/2014/main" id="{00563F40-6F36-4157-B98D-0B49643CED42}"/>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0" name="Google Shape;70;p6">
            <a:extLst xmlns:a="http://schemas.openxmlformats.org/drawingml/2006/main">
              <a:ext uri="{FF2B5EF4-FFF2-40B4-BE49-F238E27FC236}">
                <a16:creationId xmlns:a16="http://schemas.microsoft.com/office/drawing/2014/main" id="{C615B57C-3366-44C7-9EFE-21CCFAA286CA}"/>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1" name="Google Shape;71;p6">
            <a:extLst xmlns:a="http://schemas.openxmlformats.org/drawingml/2006/main">
              <a:ext uri="{FF2B5EF4-FFF2-40B4-BE49-F238E27FC236}">
                <a16:creationId xmlns:a16="http://schemas.microsoft.com/office/drawing/2014/main" id="{F4227899-1E10-4A79-B198-3B783A35023C}"/>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QUESTION DEVELOPMENT</a:t>
            </a:r>
          </a:p>
        </p:txBody>
      </p:sp>
      <p:sp>
        <p:nvSpPr>
          <p:cNvPr id="72" name="Google Shape;72;p6">
            <a:extLst xmlns:a="http://schemas.openxmlformats.org/drawingml/2006/main">
              <a:ext uri="{FF2B5EF4-FFF2-40B4-BE49-F238E27FC236}">
                <a16:creationId xmlns:a16="http://schemas.microsoft.com/office/drawing/2014/main" id="{58B802F6-CFA4-4A61-ADB2-F8F9897BDBBD}"/>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73" name="Google Shape;73;p6">
            <a:extLst xmlns:a="http://schemas.openxmlformats.org/drawingml/2006/main">
              <a:ext uri="{FF2B5EF4-FFF2-40B4-BE49-F238E27FC236}">
                <a16:creationId xmlns:a16="http://schemas.microsoft.com/office/drawing/2014/main" id="{01D018A5-1775-4B01-8B63-A208A3251F95}"/>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02</a:t>
            </a:r>
          </a:p>
        </p:txBody>
      </p:sp>
      <p:sp>
        <p:nvSpPr>
          <p:cNvPr id="74" name="Google Shape;74;p6">
            <a:extLst xmlns:a="http://schemas.openxmlformats.org/drawingml/2006/main">
              <a:ext uri="{FF2B5EF4-FFF2-40B4-BE49-F238E27FC236}">
                <a16:creationId xmlns:a16="http://schemas.microsoft.com/office/drawing/2014/main" id="{61FE8180-EC71-4E65-9B6F-6F4D799EF2F0}"/>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The Narrowing Ladder</a:t>
            </a:r>
          </a:p>
        </p:txBody>
      </p:sp>
      <p:sp>
        <p:nvSpPr>
          <p:cNvPr id="75" name="Google Shape;75;p6">
            <a:extLst xmlns:a="http://schemas.openxmlformats.org/drawingml/2006/main">
              <a:ext uri="{FF2B5EF4-FFF2-40B4-BE49-F238E27FC236}">
                <a16:creationId xmlns:a16="http://schemas.microsoft.com/office/drawing/2014/main" id="{3D1BFAEE-8377-45C7-BD36-58E85ACDD84E}"/>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A repeatable move for turning curiosity into research.</a:t>
            </a:r>
          </a:p>
        </p:txBody>
      </p:sp>
      <p:cxnSp>
        <p:nvCxnSpPr>
          <p:cNvPr id="100" name="Google Shape;76;p6"/>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77" name="Google Shape;77;p6">
            <a:extLst xmlns:a="http://schemas.openxmlformats.org/drawingml/2006/main">
              <a:ext uri="{FF2B5EF4-FFF2-40B4-BE49-F238E27FC236}">
                <a16:creationId xmlns:a16="http://schemas.microsoft.com/office/drawing/2014/main" id="{4DFE8B1F-1895-4448-BA3C-BDB39A0C321A}"/>
              </a:ext>
            </a:extLst>
          </p:cNvPr>
          <p:cNvSpPr>
            <a:spLocks xmlns:a="http://schemas.openxmlformats.org/drawingml/2006/main" noGrp="1"/>
          </p:cNvSpPr>
          <p:nvPr/>
        </p:nvSpPr>
        <p:spPr>
          <a:xfrm xmlns:a="http://schemas.openxmlformats.org/drawingml/2006/main">
            <a:off x="777240" y="2057400"/>
            <a:ext cx="2331720" cy="2057400"/>
          </a:xfrm>
          <a:prstGeom xmlns:a="http://schemas.openxmlformats.org/drawingml/2006/main" prst="roundRect">
            <a:avLst>
              <a:gd name="adj" fmla="val 2667"/>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8" name="Google Shape;78;p6">
            <a:extLst xmlns:a="http://schemas.openxmlformats.org/drawingml/2006/main">
              <a:ext uri="{FF2B5EF4-FFF2-40B4-BE49-F238E27FC236}">
                <a16:creationId xmlns:a16="http://schemas.microsoft.com/office/drawing/2014/main" id="{A6593C5A-9086-483B-8B6D-892EE848BAB4}"/>
              </a:ext>
            </a:extLst>
          </p:cNvPr>
          <p:cNvSpPr>
            <a:spLocks xmlns:a="http://schemas.openxmlformats.org/drawingml/2006/main" noGrp="1"/>
          </p:cNvSpPr>
          <p:nvPr/>
        </p:nvSpPr>
        <p:spPr>
          <a:xfrm xmlns:a="http://schemas.openxmlformats.org/drawingml/2006/main">
            <a:off x="941832" y="2194560"/>
            <a:ext cx="20025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BROAD TOPIC</a:t>
            </a:r>
          </a:p>
        </p:txBody>
      </p:sp>
      <p:sp>
        <p:nvSpPr>
          <p:cNvPr id="79" name="Google Shape;79;p6">
            <a:extLst xmlns:a="http://schemas.openxmlformats.org/drawingml/2006/main">
              <a:ext uri="{FF2B5EF4-FFF2-40B4-BE49-F238E27FC236}">
                <a16:creationId xmlns:a16="http://schemas.microsoft.com/office/drawing/2014/main" id="{FBCCDDAC-4799-4B54-ADEA-CA7C2078B7CA}"/>
              </a:ext>
            </a:extLst>
          </p:cNvPr>
          <p:cNvSpPr>
            <a:spLocks xmlns:a="http://schemas.openxmlformats.org/drawingml/2006/main" noGrp="1"/>
          </p:cNvSpPr>
          <p:nvPr/>
        </p:nvSpPr>
        <p:spPr>
          <a:xfrm xmlns:a="http://schemas.openxmlformats.org/drawingml/2006/main">
            <a:off x="941832" y="2560320"/>
            <a:ext cx="2002536" cy="1399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Water pollution</a:t>
            </a:r>
          </a:p>
        </p:txBody>
      </p:sp>
      <p:cxnSp>
        <p:nvCxnSpPr>
          <p:cNvPr id="104" name="Google Shape;80;p6"/>
          <p:cNvCxnSpPr/>
          <p:nvPr/>
        </p:nvCxnSpPr>
        <p:spPr>
          <a:xfrm xmlns:a="http://schemas.openxmlformats.org/drawingml/2006/main">
            <a:off x="3127248" y="3063240"/>
            <a:ext cx="457200" cy="0"/>
          </a:xfrm>
          <a:prstGeom xmlns:a="http://schemas.openxmlformats.org/drawingml/2006/main" prst="straightConnector1">
            <a:avLst/>
          </a:prstGeom>
          <a:ln xmlns:a="http://schemas.openxmlformats.org/drawingml/2006/main" w="15225" cap="flat">
            <a:solidFill>
              <a:srgbClr val="B8B8B8"/>
            </a:solidFill>
            <a:prstDash val="solid"/>
            <a:round/>
            <a:headEnd type="none" w="sm" len="sm"/>
            <a:tailEnd type="triangle" w="med" len="med"/>
          </a:ln>
        </p:spPr>
      </p:cxnSp>
      <p:sp>
        <p:nvSpPr>
          <p:cNvPr id="81" name="Google Shape;81;p6">
            <a:extLst xmlns:a="http://schemas.openxmlformats.org/drawingml/2006/main">
              <a:ext uri="{FF2B5EF4-FFF2-40B4-BE49-F238E27FC236}">
                <a16:creationId xmlns:a16="http://schemas.microsoft.com/office/drawing/2014/main" id="{017CDC76-3021-4BFD-A751-E73916329AE6}"/>
              </a:ext>
            </a:extLst>
          </p:cNvPr>
          <p:cNvSpPr>
            <a:spLocks xmlns:a="http://schemas.openxmlformats.org/drawingml/2006/main" noGrp="1"/>
          </p:cNvSpPr>
          <p:nvPr/>
        </p:nvSpPr>
        <p:spPr>
          <a:xfrm xmlns:a="http://schemas.openxmlformats.org/drawingml/2006/main">
            <a:off x="3657600" y="2057400"/>
            <a:ext cx="2331720" cy="2057400"/>
          </a:xfrm>
          <a:prstGeom xmlns:a="http://schemas.openxmlformats.org/drawingml/2006/main" prst="roundRect">
            <a:avLst>
              <a:gd name="adj" fmla="val 2667"/>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2" name="Google Shape;82;p6">
            <a:extLst xmlns:a="http://schemas.openxmlformats.org/drawingml/2006/main">
              <a:ext uri="{FF2B5EF4-FFF2-40B4-BE49-F238E27FC236}">
                <a16:creationId xmlns:a16="http://schemas.microsoft.com/office/drawing/2014/main" id="{0FF02D9C-CFBB-448D-8B9A-92D84D613D45}"/>
              </a:ext>
            </a:extLst>
          </p:cNvPr>
          <p:cNvSpPr>
            <a:spLocks xmlns:a="http://schemas.openxmlformats.org/drawingml/2006/main" noGrp="1"/>
          </p:cNvSpPr>
          <p:nvPr/>
        </p:nvSpPr>
        <p:spPr>
          <a:xfrm xmlns:a="http://schemas.openxmlformats.org/drawingml/2006/main">
            <a:off x="3822192" y="2194560"/>
            <a:ext cx="20025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FOCUSED TOPIC</a:t>
            </a:r>
          </a:p>
        </p:txBody>
      </p:sp>
      <p:sp>
        <p:nvSpPr>
          <p:cNvPr id="83" name="Google Shape;83;p6">
            <a:extLst xmlns:a="http://schemas.openxmlformats.org/drawingml/2006/main">
              <a:ext uri="{FF2B5EF4-FFF2-40B4-BE49-F238E27FC236}">
                <a16:creationId xmlns:a16="http://schemas.microsoft.com/office/drawing/2014/main" id="{0A81B03B-D66A-46D5-94DA-61F95D0BC40C}"/>
              </a:ext>
            </a:extLst>
          </p:cNvPr>
          <p:cNvSpPr>
            <a:spLocks xmlns:a="http://schemas.openxmlformats.org/drawingml/2006/main" noGrp="1"/>
          </p:cNvSpPr>
          <p:nvPr/>
        </p:nvSpPr>
        <p:spPr>
          <a:xfrm xmlns:a="http://schemas.openxmlformats.org/drawingml/2006/main">
            <a:off x="3822192" y="2560320"/>
            <a:ext cx="2002536" cy="1399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Microplastics in local runoff</a:t>
            </a:r>
          </a:p>
        </p:txBody>
      </p:sp>
      <p:cxnSp>
        <p:nvCxnSpPr>
          <p:cNvPr id="108" name="Google Shape;84;p6"/>
          <p:cNvCxnSpPr/>
          <p:nvPr/>
        </p:nvCxnSpPr>
        <p:spPr>
          <a:xfrm xmlns:a="http://schemas.openxmlformats.org/drawingml/2006/main">
            <a:off x="6007608" y="3063240"/>
            <a:ext cx="457200" cy="0"/>
          </a:xfrm>
          <a:prstGeom xmlns:a="http://schemas.openxmlformats.org/drawingml/2006/main" prst="straightConnector1">
            <a:avLst/>
          </a:prstGeom>
          <a:ln xmlns:a="http://schemas.openxmlformats.org/drawingml/2006/main" w="15225" cap="flat">
            <a:solidFill>
              <a:srgbClr val="B8B8B8"/>
            </a:solidFill>
            <a:prstDash val="solid"/>
            <a:round/>
            <a:headEnd type="none" w="sm" len="sm"/>
            <a:tailEnd type="triangle" w="med" len="med"/>
          </a:ln>
        </p:spPr>
      </p:cxnSp>
      <p:sp>
        <p:nvSpPr>
          <p:cNvPr id="85" name="Google Shape;85;p6">
            <a:extLst xmlns:a="http://schemas.openxmlformats.org/drawingml/2006/main">
              <a:ext uri="{FF2B5EF4-FFF2-40B4-BE49-F238E27FC236}">
                <a16:creationId xmlns:a16="http://schemas.microsoft.com/office/drawing/2014/main" id="{45A81541-2F25-4309-96A4-A60BD2219562}"/>
              </a:ext>
            </a:extLst>
          </p:cNvPr>
          <p:cNvSpPr>
            <a:spLocks xmlns:a="http://schemas.openxmlformats.org/drawingml/2006/main" noGrp="1"/>
          </p:cNvSpPr>
          <p:nvPr/>
        </p:nvSpPr>
        <p:spPr>
          <a:xfrm xmlns:a="http://schemas.openxmlformats.org/drawingml/2006/main">
            <a:off x="6537960" y="2057400"/>
            <a:ext cx="2331720" cy="2057400"/>
          </a:xfrm>
          <a:prstGeom xmlns:a="http://schemas.openxmlformats.org/drawingml/2006/main" prst="roundRect">
            <a:avLst>
              <a:gd name="adj" fmla="val 2667"/>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6" name="Google Shape;86;p6">
            <a:extLst xmlns:a="http://schemas.openxmlformats.org/drawingml/2006/main">
              <a:ext uri="{FF2B5EF4-FFF2-40B4-BE49-F238E27FC236}">
                <a16:creationId xmlns:a16="http://schemas.microsoft.com/office/drawing/2014/main" id="{9E86EB0F-8787-495F-A900-1F929F47155D}"/>
              </a:ext>
            </a:extLst>
          </p:cNvPr>
          <p:cNvSpPr>
            <a:spLocks xmlns:a="http://schemas.openxmlformats.org/drawingml/2006/main" noGrp="1"/>
          </p:cNvSpPr>
          <p:nvPr/>
        </p:nvSpPr>
        <p:spPr>
          <a:xfrm xmlns:a="http://schemas.openxmlformats.org/drawingml/2006/main">
            <a:off x="6702552" y="2194560"/>
            <a:ext cx="20025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MEASURABLE FACTOR</a:t>
            </a:r>
          </a:p>
        </p:txBody>
      </p:sp>
      <p:sp>
        <p:nvSpPr>
          <p:cNvPr id="87" name="Google Shape;87;p6">
            <a:extLst xmlns:a="http://schemas.openxmlformats.org/drawingml/2006/main">
              <a:ext uri="{FF2B5EF4-FFF2-40B4-BE49-F238E27FC236}">
                <a16:creationId xmlns:a16="http://schemas.microsoft.com/office/drawing/2014/main" id="{CDA75DC9-19F7-4B93-9B65-F432FD3AE5C9}"/>
              </a:ext>
            </a:extLst>
          </p:cNvPr>
          <p:cNvSpPr>
            <a:spLocks xmlns:a="http://schemas.openxmlformats.org/drawingml/2006/main" noGrp="1"/>
          </p:cNvSpPr>
          <p:nvPr/>
        </p:nvSpPr>
        <p:spPr>
          <a:xfrm xmlns:a="http://schemas.openxmlformats.org/drawingml/2006/main">
            <a:off x="6702552" y="2560320"/>
            <a:ext cx="2002536" cy="1399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Number of visible particles per sample</a:t>
            </a:r>
          </a:p>
        </p:txBody>
      </p:sp>
      <p:cxnSp>
        <p:nvCxnSpPr>
          <p:cNvPr id="112" name="Google Shape;88;p6"/>
          <p:cNvCxnSpPr/>
          <p:nvPr/>
        </p:nvCxnSpPr>
        <p:spPr>
          <a:xfrm xmlns:a="http://schemas.openxmlformats.org/drawingml/2006/main">
            <a:off x="8887968" y="3063240"/>
            <a:ext cx="457200" cy="0"/>
          </a:xfrm>
          <a:prstGeom xmlns:a="http://schemas.openxmlformats.org/drawingml/2006/main" prst="straightConnector1">
            <a:avLst/>
          </a:prstGeom>
          <a:ln xmlns:a="http://schemas.openxmlformats.org/drawingml/2006/main" w="15225" cap="flat">
            <a:solidFill>
              <a:srgbClr val="B8B8B8"/>
            </a:solidFill>
            <a:prstDash val="solid"/>
            <a:round/>
            <a:headEnd type="none" w="sm" len="sm"/>
            <a:tailEnd type="triangle" w="med" len="med"/>
          </a:ln>
        </p:spPr>
      </p:cxnSp>
      <p:sp>
        <p:nvSpPr>
          <p:cNvPr id="89" name="Google Shape;89;p6">
            <a:extLst xmlns:a="http://schemas.openxmlformats.org/drawingml/2006/main">
              <a:ext uri="{FF2B5EF4-FFF2-40B4-BE49-F238E27FC236}">
                <a16:creationId xmlns:a16="http://schemas.microsoft.com/office/drawing/2014/main" id="{1A01F76E-3937-4FE2-9AF1-6549D2129ECF}"/>
              </a:ext>
            </a:extLst>
          </p:cNvPr>
          <p:cNvSpPr>
            <a:spLocks xmlns:a="http://schemas.openxmlformats.org/drawingml/2006/main" noGrp="1"/>
          </p:cNvSpPr>
          <p:nvPr/>
        </p:nvSpPr>
        <p:spPr>
          <a:xfrm xmlns:a="http://schemas.openxmlformats.org/drawingml/2006/main">
            <a:off x="9418320" y="2057400"/>
            <a:ext cx="2331720" cy="2057400"/>
          </a:xfrm>
          <a:prstGeom xmlns:a="http://schemas.openxmlformats.org/drawingml/2006/main" prst="roundRect">
            <a:avLst>
              <a:gd name="adj" fmla="val 2667"/>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0" name="Google Shape;90;p6">
            <a:extLst xmlns:a="http://schemas.openxmlformats.org/drawingml/2006/main">
              <a:ext uri="{FF2B5EF4-FFF2-40B4-BE49-F238E27FC236}">
                <a16:creationId xmlns:a16="http://schemas.microsoft.com/office/drawing/2014/main" id="{F07CC0C6-BD71-4808-BFE5-C13024398010}"/>
              </a:ext>
            </a:extLst>
          </p:cNvPr>
          <p:cNvSpPr>
            <a:spLocks xmlns:a="http://schemas.openxmlformats.org/drawingml/2006/main" noGrp="1"/>
          </p:cNvSpPr>
          <p:nvPr/>
        </p:nvSpPr>
        <p:spPr>
          <a:xfrm xmlns:a="http://schemas.openxmlformats.org/drawingml/2006/main">
            <a:off x="9582912" y="2194560"/>
            <a:ext cx="20025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RESEARCH QUESTION</a:t>
            </a:r>
          </a:p>
        </p:txBody>
      </p:sp>
      <p:sp>
        <p:nvSpPr>
          <p:cNvPr id="91" name="Google Shape;91;p6">
            <a:extLst xmlns:a="http://schemas.openxmlformats.org/drawingml/2006/main">
              <a:ext uri="{FF2B5EF4-FFF2-40B4-BE49-F238E27FC236}">
                <a16:creationId xmlns:a16="http://schemas.microsoft.com/office/drawing/2014/main" id="{9E0621D4-4BBF-4D6B-B2F8-B61DAE2A03AB}"/>
              </a:ext>
            </a:extLst>
          </p:cNvPr>
          <p:cNvSpPr>
            <a:spLocks xmlns:a="http://schemas.openxmlformats.org/drawingml/2006/main" noGrp="1"/>
          </p:cNvSpPr>
          <p:nvPr/>
        </p:nvSpPr>
        <p:spPr>
          <a:xfrm xmlns:a="http://schemas.openxmlformats.org/drawingml/2006/main">
            <a:off x="9582912" y="2560320"/>
            <a:ext cx="2002536" cy="1399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How does sample location affect visible microplastic count?</a:t>
            </a:r>
          </a:p>
        </p:txBody>
      </p:sp>
    </p:spTree>
    <p:extLst>
      <p:ext uri="{BB962C8B-B14F-4D97-AF65-F5344CB8AC3E}">
        <p14:creationId xmlns:p14="http://schemas.microsoft.com/office/powerpoint/2010/main" val="1086347989"/>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7" name="Google Shape;97;p7">
            <a:extLst xmlns:a="http://schemas.openxmlformats.org/drawingml/2006/main">
              <a:ext uri="{FF2B5EF4-FFF2-40B4-BE49-F238E27FC236}">
                <a16:creationId xmlns:a16="http://schemas.microsoft.com/office/drawing/2014/main" id="{B54B9E9D-D269-4958-8C90-7AB167EFBDA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8" name="Google Shape;98;p7">
            <a:extLst xmlns:a="http://schemas.openxmlformats.org/drawingml/2006/main">
              <a:ext uri="{FF2B5EF4-FFF2-40B4-BE49-F238E27FC236}">
                <a16:creationId xmlns:a16="http://schemas.microsoft.com/office/drawing/2014/main" id="{6B289182-532A-43C6-95BD-A52C85A9474C}"/>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9" name="Google Shape;99;p7">
            <a:extLst xmlns:a="http://schemas.openxmlformats.org/drawingml/2006/main">
              <a:ext uri="{FF2B5EF4-FFF2-40B4-BE49-F238E27FC236}">
                <a16:creationId xmlns:a16="http://schemas.microsoft.com/office/drawing/2014/main" id="{F8BF7D15-00B7-4B48-AC01-B97BC9A070EB}"/>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0" name="Google Shape;100;p7">
            <a:extLst xmlns:a="http://schemas.openxmlformats.org/drawingml/2006/main">
              <a:ext uri="{FF2B5EF4-FFF2-40B4-BE49-F238E27FC236}">
                <a16:creationId xmlns:a16="http://schemas.microsoft.com/office/drawing/2014/main" id="{0F9C137E-BE71-4F3B-BD46-8CC546BE465E}"/>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QUESTION DEVELOPMENT</a:t>
            </a:r>
          </a:p>
        </p:txBody>
      </p:sp>
      <p:sp>
        <p:nvSpPr>
          <p:cNvPr id="101" name="Google Shape;101;p7">
            <a:extLst xmlns:a="http://schemas.openxmlformats.org/drawingml/2006/main">
              <a:ext uri="{FF2B5EF4-FFF2-40B4-BE49-F238E27FC236}">
                <a16:creationId xmlns:a16="http://schemas.microsoft.com/office/drawing/2014/main" id="{32C2CF1E-791C-4767-A44E-600AC08B07E3}"/>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102" name="Google Shape;102;p7">
            <a:extLst xmlns:a="http://schemas.openxmlformats.org/drawingml/2006/main">
              <a:ext uri="{FF2B5EF4-FFF2-40B4-BE49-F238E27FC236}">
                <a16:creationId xmlns:a16="http://schemas.microsoft.com/office/drawing/2014/main" id="{2E397231-44D9-4DE4-A7A5-DF4484D22CFF}"/>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02</a:t>
            </a:r>
          </a:p>
        </p:txBody>
      </p:sp>
      <p:sp>
        <p:nvSpPr>
          <p:cNvPr id="103" name="Google Shape;103;p7">
            <a:extLst xmlns:a="http://schemas.openxmlformats.org/drawingml/2006/main">
              <a:ext uri="{FF2B5EF4-FFF2-40B4-BE49-F238E27FC236}">
                <a16:creationId xmlns:a16="http://schemas.microsoft.com/office/drawing/2014/main" id="{C99FD57E-4467-4556-BE97-AB8D38531A5C}"/>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Four Things Students Mix Up</a:t>
            </a:r>
          </a:p>
        </p:txBody>
      </p:sp>
      <p:sp>
        <p:nvSpPr>
          <p:cNvPr id="104" name="Google Shape;104;p7">
            <a:extLst xmlns:a="http://schemas.openxmlformats.org/drawingml/2006/main">
              <a:ext uri="{FF2B5EF4-FFF2-40B4-BE49-F238E27FC236}">
                <a16:creationId xmlns:a16="http://schemas.microsoft.com/office/drawing/2014/main" id="{D810781A-1E25-4F82-B236-7FEC08808C2B}"/>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Name the difference before asking them to write one.</a:t>
            </a:r>
          </a:p>
        </p:txBody>
      </p:sp>
      <p:cxnSp>
        <p:nvCxnSpPr>
          <p:cNvPr id="126" name="Google Shape;105;p7"/>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06" name="Google Shape;106;p7">
            <a:extLst xmlns:a="http://schemas.openxmlformats.org/drawingml/2006/main">
              <a:ext uri="{FF2B5EF4-FFF2-40B4-BE49-F238E27FC236}">
                <a16:creationId xmlns:a16="http://schemas.microsoft.com/office/drawing/2014/main" id="{04B4D1F6-7D7E-495E-9C5D-892DC4147411}"/>
              </a:ext>
            </a:extLst>
          </p:cNvPr>
          <p:cNvSpPr>
            <a:spLocks xmlns:a="http://schemas.openxmlformats.org/drawingml/2006/main" noGrp="1"/>
          </p:cNvSpPr>
          <p:nvPr/>
        </p:nvSpPr>
        <p:spPr>
          <a:xfrm xmlns:a="http://schemas.openxmlformats.org/drawingml/2006/main">
            <a:off x="777240" y="1828800"/>
            <a:ext cx="2560320" cy="3154680"/>
          </a:xfrm>
          <a:prstGeom xmlns:a="http://schemas.openxmlformats.org/drawingml/2006/main" prst="roundRect">
            <a:avLst>
              <a:gd name="adj" fmla="val 2143"/>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7" name="Google Shape;107;p7">
            <a:extLst xmlns:a="http://schemas.openxmlformats.org/drawingml/2006/main">
              <a:ext uri="{FF2B5EF4-FFF2-40B4-BE49-F238E27FC236}">
                <a16:creationId xmlns:a16="http://schemas.microsoft.com/office/drawing/2014/main" id="{268EC6F4-0768-499D-8C2A-85B3784F1D2A}"/>
              </a:ext>
            </a:extLst>
          </p:cNvPr>
          <p:cNvSpPr>
            <a:spLocks xmlns:a="http://schemas.openxmlformats.org/drawingml/2006/main" noGrp="1"/>
          </p:cNvSpPr>
          <p:nvPr/>
        </p:nvSpPr>
        <p:spPr>
          <a:xfrm xmlns:a="http://schemas.openxmlformats.org/drawingml/2006/main">
            <a:off x="941832" y="1965960"/>
            <a:ext cx="22311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TOPIC</a:t>
            </a:r>
          </a:p>
        </p:txBody>
      </p:sp>
      <p:sp>
        <p:nvSpPr>
          <p:cNvPr id="108" name="Google Shape;108;p7">
            <a:extLst xmlns:a="http://schemas.openxmlformats.org/drawingml/2006/main">
              <a:ext uri="{FF2B5EF4-FFF2-40B4-BE49-F238E27FC236}">
                <a16:creationId xmlns:a16="http://schemas.microsoft.com/office/drawing/2014/main" id="{89E3EA39-49AB-48EC-846F-0FE4FE132EC1}"/>
              </a:ext>
            </a:extLst>
          </p:cNvPr>
          <p:cNvSpPr>
            <a:spLocks xmlns:a="http://schemas.openxmlformats.org/drawingml/2006/main" noGrp="1"/>
          </p:cNvSpPr>
          <p:nvPr/>
        </p:nvSpPr>
        <p:spPr>
          <a:xfrm xmlns:a="http://schemas.openxmlformats.org/drawingml/2006/main">
            <a:off x="941832" y="2331720"/>
            <a:ext cx="2231136" cy="2496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b="0" i="0" u="none" cap="none">
                <a:solidFill>
                  <a:srgbClr val="FFFFFF"/>
                </a:solidFill>
                <a:latin typeface="Arial"/>
                <a:ea typeface="Arial"/>
                <a:cs typeface="Arial"/>
              </a:rPr>
              <a:t>The area of interest</a:t>
            </a:r>
          </a:p>
          <a:p xmlns:a="http://schemas.openxmlformats.org/drawingml/2006/main">
            <a:pPr marL="0" marR="0" indent="0" algn="l">
              <a:spcBef>
                <a:spcPts val="0"/>
              </a:spcBef>
              <a:spcAft>
                <a:spcPts val="0"/>
              </a:spcAft>
              <a:buClr>
                <a:schemeClr val="dk1"/>
              </a:buClr>
              <a:buSzPts val="2000"/>
              <a:buFont typeface="Arial"/>
              <a:buNone/>
            </a:pPr>
            <a:r>
              <a:t/>
            </a:r>
          </a:p>
          <a:p xmlns:a="http://schemas.openxmlformats.org/drawingml/2006/main">
            <a:pPr marL="0" marR="0" indent="0" algn="l">
              <a:spcBef>
                <a:spcPts val="0"/>
              </a:spcBef>
              <a:spcAft>
                <a:spcPts val="0"/>
              </a:spcAft>
              <a:buClr>
                <a:srgbClr val="FFFFFF"/>
              </a:buClr>
              <a:buSzPts val="2000"/>
              <a:buFont typeface="Arial"/>
              <a:buNone/>
            </a:pPr>
            <a:r>
              <a:rPr sz="2000" b="0" i="0" u="none" cap="none">
                <a:solidFill>
                  <a:srgbClr val="FFFFFF"/>
                </a:solidFill>
                <a:latin typeface="Arial"/>
                <a:ea typeface="Arial"/>
                <a:cs typeface="Arial"/>
              </a:rPr>
              <a:t>Battery life</a:t>
            </a:r>
          </a:p>
        </p:txBody>
      </p:sp>
      <p:sp>
        <p:nvSpPr>
          <p:cNvPr id="109" name="Google Shape;109;p7">
            <a:extLst xmlns:a="http://schemas.openxmlformats.org/drawingml/2006/main">
              <a:ext uri="{FF2B5EF4-FFF2-40B4-BE49-F238E27FC236}">
                <a16:creationId xmlns:a16="http://schemas.microsoft.com/office/drawing/2014/main" id="{52293D51-628B-480E-8402-EEFDE485FC4E}"/>
              </a:ext>
            </a:extLst>
          </p:cNvPr>
          <p:cNvSpPr>
            <a:spLocks xmlns:a="http://schemas.openxmlformats.org/drawingml/2006/main" noGrp="1"/>
          </p:cNvSpPr>
          <p:nvPr/>
        </p:nvSpPr>
        <p:spPr>
          <a:xfrm xmlns:a="http://schemas.openxmlformats.org/drawingml/2006/main">
            <a:off x="3520440" y="1828800"/>
            <a:ext cx="2560320" cy="3154680"/>
          </a:xfrm>
          <a:prstGeom xmlns:a="http://schemas.openxmlformats.org/drawingml/2006/main" prst="roundRect">
            <a:avLst>
              <a:gd name="adj" fmla="val 2143"/>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0" name="Google Shape;110;p7">
            <a:extLst xmlns:a="http://schemas.openxmlformats.org/drawingml/2006/main">
              <a:ext uri="{FF2B5EF4-FFF2-40B4-BE49-F238E27FC236}">
                <a16:creationId xmlns:a16="http://schemas.microsoft.com/office/drawing/2014/main" id="{62B900B7-92B2-4B67-BAAC-1479F64A2896}"/>
              </a:ext>
            </a:extLst>
          </p:cNvPr>
          <p:cNvSpPr>
            <a:spLocks xmlns:a="http://schemas.openxmlformats.org/drawingml/2006/main" noGrp="1"/>
          </p:cNvSpPr>
          <p:nvPr/>
        </p:nvSpPr>
        <p:spPr>
          <a:xfrm xmlns:a="http://schemas.openxmlformats.org/drawingml/2006/main">
            <a:off x="3685032" y="1965960"/>
            <a:ext cx="22311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QUESTION</a:t>
            </a:r>
          </a:p>
        </p:txBody>
      </p:sp>
      <p:sp>
        <p:nvSpPr>
          <p:cNvPr id="111" name="Google Shape;111;p7">
            <a:extLst xmlns:a="http://schemas.openxmlformats.org/drawingml/2006/main">
              <a:ext uri="{FF2B5EF4-FFF2-40B4-BE49-F238E27FC236}">
                <a16:creationId xmlns:a16="http://schemas.microsoft.com/office/drawing/2014/main" id="{FB46092F-5DC3-4031-8F27-0C625872CBB9}"/>
              </a:ext>
            </a:extLst>
          </p:cNvPr>
          <p:cNvSpPr>
            <a:spLocks xmlns:a="http://schemas.openxmlformats.org/drawingml/2006/main" noGrp="1"/>
          </p:cNvSpPr>
          <p:nvPr/>
        </p:nvSpPr>
        <p:spPr>
          <a:xfrm xmlns:a="http://schemas.openxmlformats.org/drawingml/2006/main">
            <a:off x="3685032" y="2331720"/>
            <a:ext cx="2231136" cy="2496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What you want to find out</a:t>
            </a:r>
          </a:p>
          <a:p xmlns:a="http://schemas.openxmlformats.org/drawingml/2006/main">
            <a:pPr marL="0" marR="0" indent="0" algn="l">
              <a:spcBef>
                <a:spcPts val="0"/>
              </a:spcBef>
              <a:spcAft>
                <a:spcPts val="0"/>
              </a:spcAft>
              <a:buClr>
                <a:schemeClr val="dk1"/>
              </a:buClr>
              <a:buSzPts val="1800"/>
              <a:buFont typeface="Arial"/>
              <a:buNone/>
            </a:pPr>
            <a:r>
              <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How does temperature affect voltage output?</a:t>
            </a:r>
          </a:p>
        </p:txBody>
      </p:sp>
      <p:sp>
        <p:nvSpPr>
          <p:cNvPr id="112" name="Google Shape;112;p7">
            <a:extLst xmlns:a="http://schemas.openxmlformats.org/drawingml/2006/main">
              <a:ext uri="{FF2B5EF4-FFF2-40B4-BE49-F238E27FC236}">
                <a16:creationId xmlns:a16="http://schemas.microsoft.com/office/drawing/2014/main" id="{B4A34E69-8C74-4BC3-B076-2AD9529D3574}"/>
              </a:ext>
            </a:extLst>
          </p:cNvPr>
          <p:cNvSpPr>
            <a:spLocks xmlns:a="http://schemas.openxmlformats.org/drawingml/2006/main" noGrp="1"/>
          </p:cNvSpPr>
          <p:nvPr/>
        </p:nvSpPr>
        <p:spPr>
          <a:xfrm xmlns:a="http://schemas.openxmlformats.org/drawingml/2006/main">
            <a:off x="6263640" y="1828800"/>
            <a:ext cx="2560320" cy="3154680"/>
          </a:xfrm>
          <a:prstGeom xmlns:a="http://schemas.openxmlformats.org/drawingml/2006/main" prst="roundRect">
            <a:avLst>
              <a:gd name="adj" fmla="val 2143"/>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3" name="Google Shape;113;p7">
            <a:extLst xmlns:a="http://schemas.openxmlformats.org/drawingml/2006/main">
              <a:ext uri="{FF2B5EF4-FFF2-40B4-BE49-F238E27FC236}">
                <a16:creationId xmlns:a16="http://schemas.microsoft.com/office/drawing/2014/main" id="{DDEFF4DA-D08B-4695-9DA2-126A0DDECB2A}"/>
              </a:ext>
            </a:extLst>
          </p:cNvPr>
          <p:cNvSpPr>
            <a:spLocks xmlns:a="http://schemas.openxmlformats.org/drawingml/2006/main" noGrp="1"/>
          </p:cNvSpPr>
          <p:nvPr/>
        </p:nvSpPr>
        <p:spPr>
          <a:xfrm xmlns:a="http://schemas.openxmlformats.org/drawingml/2006/main">
            <a:off x="6428232" y="1965960"/>
            <a:ext cx="22311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HYPOTHESIS</a:t>
            </a:r>
          </a:p>
        </p:txBody>
      </p:sp>
      <p:sp>
        <p:nvSpPr>
          <p:cNvPr id="114" name="Google Shape;114;p7">
            <a:extLst xmlns:a="http://schemas.openxmlformats.org/drawingml/2006/main">
              <a:ext uri="{FF2B5EF4-FFF2-40B4-BE49-F238E27FC236}">
                <a16:creationId xmlns:a16="http://schemas.microsoft.com/office/drawing/2014/main" id="{ECAE5E76-0920-4D09-A7B7-551EF78FC723}"/>
              </a:ext>
            </a:extLst>
          </p:cNvPr>
          <p:cNvSpPr>
            <a:spLocks xmlns:a="http://schemas.openxmlformats.org/drawingml/2006/main" noGrp="1"/>
          </p:cNvSpPr>
          <p:nvPr/>
        </p:nvSpPr>
        <p:spPr>
          <a:xfrm xmlns:a="http://schemas.openxmlformats.org/drawingml/2006/main">
            <a:off x="6428232" y="2331720"/>
            <a:ext cx="2231136" cy="2496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A testable prediction with reasoning</a:t>
            </a:r>
          </a:p>
          <a:p xmlns:a="http://schemas.openxmlformats.org/drawingml/2006/main">
            <a:pPr marL="0" marR="0" indent="0" algn="l">
              <a:spcBef>
                <a:spcPts val="0"/>
              </a:spcBef>
              <a:spcAft>
                <a:spcPts val="0"/>
              </a:spcAft>
              <a:buClr>
                <a:schemeClr val="dk1"/>
              </a:buClr>
              <a:buSzPts val="1700"/>
              <a:buFont typeface="Arial"/>
              <a:buNone/>
            </a:pPr>
            <a:r>
              <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If temperature decreases, then voltage output will decrease because...</a:t>
            </a:r>
          </a:p>
        </p:txBody>
      </p:sp>
      <p:sp>
        <p:nvSpPr>
          <p:cNvPr id="115" name="Google Shape;115;p7">
            <a:extLst xmlns:a="http://schemas.openxmlformats.org/drawingml/2006/main">
              <a:ext uri="{FF2B5EF4-FFF2-40B4-BE49-F238E27FC236}">
                <a16:creationId xmlns:a16="http://schemas.microsoft.com/office/drawing/2014/main" id="{A6033E0D-CB6C-4E53-9E65-4052745EFEAA}"/>
              </a:ext>
            </a:extLst>
          </p:cNvPr>
          <p:cNvSpPr>
            <a:spLocks xmlns:a="http://schemas.openxmlformats.org/drawingml/2006/main" noGrp="1"/>
          </p:cNvSpPr>
          <p:nvPr/>
        </p:nvSpPr>
        <p:spPr>
          <a:xfrm xmlns:a="http://schemas.openxmlformats.org/drawingml/2006/main">
            <a:off x="9006840" y="1828800"/>
            <a:ext cx="2560320" cy="3154680"/>
          </a:xfrm>
          <a:prstGeom xmlns:a="http://schemas.openxmlformats.org/drawingml/2006/main" prst="roundRect">
            <a:avLst>
              <a:gd name="adj" fmla="val 2143"/>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6" name="Google Shape;116;p7">
            <a:extLst xmlns:a="http://schemas.openxmlformats.org/drawingml/2006/main">
              <a:ext uri="{FF2B5EF4-FFF2-40B4-BE49-F238E27FC236}">
                <a16:creationId xmlns:a16="http://schemas.microsoft.com/office/drawing/2014/main" id="{09FE43B1-083E-4C61-9E05-6B55EDB878A7}"/>
              </a:ext>
            </a:extLst>
          </p:cNvPr>
          <p:cNvSpPr>
            <a:spLocks xmlns:a="http://schemas.openxmlformats.org/drawingml/2006/main" noGrp="1"/>
          </p:cNvSpPr>
          <p:nvPr/>
        </p:nvSpPr>
        <p:spPr>
          <a:xfrm xmlns:a="http://schemas.openxmlformats.org/drawingml/2006/main">
            <a:off x="9171432" y="1965960"/>
            <a:ext cx="22311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ENGINEERING PROBLEM</a:t>
            </a:r>
          </a:p>
        </p:txBody>
      </p:sp>
      <p:sp>
        <p:nvSpPr>
          <p:cNvPr id="117" name="Google Shape;117;p7">
            <a:extLst xmlns:a="http://schemas.openxmlformats.org/drawingml/2006/main">
              <a:ext uri="{FF2B5EF4-FFF2-40B4-BE49-F238E27FC236}">
                <a16:creationId xmlns:a16="http://schemas.microsoft.com/office/drawing/2014/main" id="{0C5E857D-CB68-4D83-96E8-48F3CEB18985}"/>
              </a:ext>
            </a:extLst>
          </p:cNvPr>
          <p:cNvSpPr>
            <a:spLocks xmlns:a="http://schemas.openxmlformats.org/drawingml/2006/main" noGrp="1"/>
          </p:cNvSpPr>
          <p:nvPr/>
        </p:nvSpPr>
        <p:spPr>
          <a:xfrm xmlns:a="http://schemas.openxmlformats.org/drawingml/2006/main">
            <a:off x="9171432" y="2331720"/>
            <a:ext cx="2231136" cy="2496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A need plus success criteria</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Design a battery case that reduces voltage loss in cold conditions.</a:t>
            </a:r>
          </a:p>
        </p:txBody>
      </p:sp>
    </p:spTree>
    <p:extLst>
      <p:ext uri="{BB962C8B-B14F-4D97-AF65-F5344CB8AC3E}">
        <p14:creationId xmlns:p14="http://schemas.microsoft.com/office/powerpoint/2010/main" val="1877115685"/>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23" name="Google Shape;123;p8">
            <a:extLst xmlns:a="http://schemas.openxmlformats.org/drawingml/2006/main">
              <a:ext uri="{FF2B5EF4-FFF2-40B4-BE49-F238E27FC236}">
                <a16:creationId xmlns:a16="http://schemas.microsoft.com/office/drawing/2014/main" id="{97010DCB-2E98-4385-A63A-FBB32A187DC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4" name="Google Shape;124;p8">
            <a:extLst xmlns:a="http://schemas.openxmlformats.org/drawingml/2006/main">
              <a:ext uri="{FF2B5EF4-FFF2-40B4-BE49-F238E27FC236}">
                <a16:creationId xmlns:a16="http://schemas.microsoft.com/office/drawing/2014/main" id="{F021AC9B-8500-47EA-AA1A-949EC052223E}"/>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5" name="Google Shape;125;p8">
            <a:extLst xmlns:a="http://schemas.openxmlformats.org/drawingml/2006/main">
              <a:ext uri="{FF2B5EF4-FFF2-40B4-BE49-F238E27FC236}">
                <a16:creationId xmlns:a16="http://schemas.microsoft.com/office/drawing/2014/main" id="{B37C2446-30F2-45A9-A5CE-9331D80E4B3C}"/>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6" name="Google Shape;126;p8">
            <a:extLst xmlns:a="http://schemas.openxmlformats.org/drawingml/2006/main">
              <a:ext uri="{FF2B5EF4-FFF2-40B4-BE49-F238E27FC236}">
                <a16:creationId xmlns:a16="http://schemas.microsoft.com/office/drawing/2014/main" id="{A5288ABF-983F-422A-9E1B-854EDB60BCD8}"/>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QUESTION DEVELOPMENT</a:t>
            </a:r>
          </a:p>
        </p:txBody>
      </p:sp>
      <p:sp>
        <p:nvSpPr>
          <p:cNvPr id="127" name="Google Shape;127;p8">
            <a:extLst xmlns:a="http://schemas.openxmlformats.org/drawingml/2006/main">
              <a:ext uri="{FF2B5EF4-FFF2-40B4-BE49-F238E27FC236}">
                <a16:creationId xmlns:a16="http://schemas.microsoft.com/office/drawing/2014/main" id="{DCC50A6D-4774-4D3C-9991-2CC7BBAA4907}"/>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128" name="Google Shape;128;p8">
            <a:extLst xmlns:a="http://schemas.openxmlformats.org/drawingml/2006/main">
              <a:ext uri="{FF2B5EF4-FFF2-40B4-BE49-F238E27FC236}">
                <a16:creationId xmlns:a16="http://schemas.microsoft.com/office/drawing/2014/main" id="{4E08A128-EE9C-40F9-948C-12C57BAF96FE}"/>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02</a:t>
            </a:r>
          </a:p>
        </p:txBody>
      </p:sp>
      <p:sp>
        <p:nvSpPr>
          <p:cNvPr id="129" name="Google Shape;129;p8">
            <a:extLst xmlns:a="http://schemas.openxmlformats.org/drawingml/2006/main">
              <a:ext uri="{FF2B5EF4-FFF2-40B4-BE49-F238E27FC236}">
                <a16:creationId xmlns:a16="http://schemas.microsoft.com/office/drawing/2014/main" id="{280FA8A0-61B6-4F95-A00A-6AA04975FE16}"/>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 Strong Question Can Be Tested</a:t>
            </a:r>
          </a:p>
        </p:txBody>
      </p:sp>
      <p:sp>
        <p:nvSpPr>
          <p:cNvPr id="130" name="Google Shape;130;p8">
            <a:extLst xmlns:a="http://schemas.openxmlformats.org/drawingml/2006/main">
              <a:ext uri="{FF2B5EF4-FFF2-40B4-BE49-F238E27FC236}">
                <a16:creationId xmlns:a16="http://schemas.microsoft.com/office/drawing/2014/main" id="{2138C07B-A62A-4D60-99BB-8A425261D422}"/>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The key word is evidence.</a:t>
            </a:r>
          </a:p>
        </p:txBody>
      </p:sp>
      <p:cxnSp>
        <p:nvCxnSpPr>
          <p:cNvPr id="141" name="Google Shape;131;p8"/>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32" name="Google Shape;132;p8">
            <a:extLst xmlns:a="http://schemas.openxmlformats.org/drawingml/2006/main">
              <a:ext uri="{FF2B5EF4-FFF2-40B4-BE49-F238E27FC236}">
                <a16:creationId xmlns:a16="http://schemas.microsoft.com/office/drawing/2014/main" id="{0DF33865-9798-4886-9BAB-5E7479EE7CC9}"/>
              </a:ext>
            </a:extLst>
          </p:cNvPr>
          <p:cNvSpPr>
            <a:spLocks xmlns:a="http://schemas.openxmlformats.org/drawingml/2006/main" noGrp="1"/>
          </p:cNvSpPr>
          <p:nvPr/>
        </p:nvSpPr>
        <p:spPr>
          <a:xfrm xmlns:a="http://schemas.openxmlformats.org/drawingml/2006/main">
            <a:off x="1143000" y="1920240"/>
            <a:ext cx="9875520" cy="356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800" b="0" i="0" u="none" cap="none">
                <a:solidFill>
                  <a:srgbClr val="FFFFFF"/>
                </a:solidFill>
                <a:latin typeface="Arial"/>
                <a:ea typeface="Arial"/>
                <a:cs typeface="Arial"/>
              </a:rPr>
              <a:t>What will change or be compared?</a:t>
            </a:r>
          </a:p>
          <a:p xmlns:a="http://schemas.openxmlformats.org/drawingml/2006/main">
            <a:pPr marL="0" marR="0" indent="0" algn="l">
              <a:spcBef>
                <a:spcPts val="0"/>
              </a:spcBef>
              <a:spcAft>
                <a:spcPts val="0"/>
              </a:spcAft>
              <a:buNone/>
            </a:pPr>
            <a:r>
              <a:rPr sz="2800">
                <a:solidFill>
                  <a:srgbClr val="FFFFFF"/>
                </a:solidFill>
                <a:latin typeface="Arial"/>
                <a:ea typeface="Arial"/>
                <a:cs typeface="Arial"/>
              </a:rPr>
              <a:t>What will be measured or observed?</a:t>
            </a:r>
          </a:p>
          <a:p xmlns:a="http://schemas.openxmlformats.org/drawingml/2006/main">
            <a:pPr marL="0" marR="0" indent="0" algn="l">
              <a:spcBef>
                <a:spcPts val="0"/>
              </a:spcBef>
              <a:spcAft>
                <a:spcPts val="0"/>
              </a:spcAft>
              <a:buNone/>
            </a:pPr>
            <a:r>
              <a:rPr sz="2800">
                <a:solidFill>
                  <a:srgbClr val="FFFFFF"/>
                </a:solidFill>
                <a:latin typeface="Arial"/>
                <a:ea typeface="Arial"/>
                <a:cs typeface="Arial"/>
              </a:rPr>
              <a:t>What will stay the same?</a:t>
            </a:r>
          </a:p>
          <a:p xmlns:a="http://schemas.openxmlformats.org/drawingml/2006/main">
            <a:pPr marL="0" marR="0" indent="0" algn="l">
              <a:spcBef>
                <a:spcPts val="0"/>
              </a:spcBef>
              <a:spcAft>
                <a:spcPts val="0"/>
              </a:spcAft>
              <a:buNone/>
            </a:pPr>
            <a:r>
              <a:rPr sz="2800">
                <a:solidFill>
                  <a:srgbClr val="FFFFFF"/>
                </a:solidFill>
                <a:latin typeface="Arial"/>
                <a:ea typeface="Arial"/>
                <a:cs typeface="Arial"/>
              </a:rPr>
              <a:t>What data would convince someone?</a:t>
            </a:r>
          </a:p>
        </p:txBody>
      </p:sp>
    </p:spTree>
    <p:extLst>
      <p:ext uri="{BB962C8B-B14F-4D97-AF65-F5344CB8AC3E}">
        <p14:creationId xmlns:p14="http://schemas.microsoft.com/office/powerpoint/2010/main" val="456645479"/>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8" name="Google Shape;138;p9">
            <a:extLst xmlns:a="http://schemas.openxmlformats.org/drawingml/2006/main">
              <a:ext uri="{FF2B5EF4-FFF2-40B4-BE49-F238E27FC236}">
                <a16:creationId xmlns:a16="http://schemas.microsoft.com/office/drawing/2014/main" id="{B58419CC-99C0-47A2-8D38-5A0D0C7A419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9" name="Google Shape;139;p9">
            <a:extLst xmlns:a="http://schemas.openxmlformats.org/drawingml/2006/main">
              <a:ext uri="{FF2B5EF4-FFF2-40B4-BE49-F238E27FC236}">
                <a16:creationId xmlns:a16="http://schemas.microsoft.com/office/drawing/2014/main" id="{9A710867-478A-4E31-8A51-6B229856CB8D}"/>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0" name="Google Shape;140;p9">
            <a:extLst xmlns:a="http://schemas.openxmlformats.org/drawingml/2006/main">
              <a:ext uri="{FF2B5EF4-FFF2-40B4-BE49-F238E27FC236}">
                <a16:creationId xmlns:a16="http://schemas.microsoft.com/office/drawing/2014/main" id="{2DFB4F11-CBF9-4A68-A7C2-7BC91CE0E5AD}"/>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1" name="Google Shape;141;p9">
            <a:extLst xmlns:a="http://schemas.openxmlformats.org/drawingml/2006/main">
              <a:ext uri="{FF2B5EF4-FFF2-40B4-BE49-F238E27FC236}">
                <a16:creationId xmlns:a16="http://schemas.microsoft.com/office/drawing/2014/main" id="{DA6F46CC-63ED-4E24-85F4-565BC6505BC1}"/>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QUESTION DEVELOPMENT</a:t>
            </a:r>
          </a:p>
        </p:txBody>
      </p:sp>
      <p:sp>
        <p:nvSpPr>
          <p:cNvPr id="142" name="Google Shape;142;p9">
            <a:extLst xmlns:a="http://schemas.openxmlformats.org/drawingml/2006/main">
              <a:ext uri="{FF2B5EF4-FFF2-40B4-BE49-F238E27FC236}">
                <a16:creationId xmlns:a16="http://schemas.microsoft.com/office/drawing/2014/main" id="{E614AA15-2B03-415A-867F-6828AC7C7AA7}"/>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143" name="Google Shape;143;p9">
            <a:extLst xmlns:a="http://schemas.openxmlformats.org/drawingml/2006/main">
              <a:ext uri="{FF2B5EF4-FFF2-40B4-BE49-F238E27FC236}">
                <a16:creationId xmlns:a16="http://schemas.microsoft.com/office/drawing/2014/main" id="{C24EFA6D-2D96-4C59-8539-F9199180A3A2}"/>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144" name="Google Shape;144;p9">
            <a:extLst xmlns:a="http://schemas.openxmlformats.org/drawingml/2006/main">
              <a:ext uri="{FF2B5EF4-FFF2-40B4-BE49-F238E27FC236}">
                <a16:creationId xmlns:a16="http://schemas.microsoft.com/office/drawing/2014/main" id="{55F15ABA-391C-44CB-8A95-1F51C673E8D4}"/>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Weak Questions Can Become Strong</a:t>
            </a:r>
          </a:p>
        </p:txBody>
      </p:sp>
      <p:sp>
        <p:nvSpPr>
          <p:cNvPr id="145" name="Google Shape;145;p9">
            <a:extLst xmlns:a="http://schemas.openxmlformats.org/drawingml/2006/main">
              <a:ext uri="{FF2B5EF4-FFF2-40B4-BE49-F238E27FC236}">
                <a16:creationId xmlns:a16="http://schemas.microsoft.com/office/drawing/2014/main" id="{46A85226-CF93-4474-ABBD-57A2E4CBAADD}"/>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The goal is revision, not instant perfection.</a:t>
            </a:r>
          </a:p>
        </p:txBody>
      </p:sp>
      <p:cxnSp>
        <p:nvCxnSpPr>
          <p:cNvPr id="167" name="Google Shape;146;p9"/>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47" name="Google Shape;147;p9">
            <a:extLst xmlns:a="http://schemas.openxmlformats.org/drawingml/2006/main">
              <a:ext uri="{FF2B5EF4-FFF2-40B4-BE49-F238E27FC236}">
                <a16:creationId xmlns:a16="http://schemas.microsoft.com/office/drawing/2014/main" id="{68AA1055-ECDC-43F7-B968-9D9422C87D06}"/>
              </a:ext>
            </a:extLst>
          </p:cNvPr>
          <p:cNvSpPr>
            <a:spLocks xmlns:a="http://schemas.openxmlformats.org/drawingml/2006/main" noGrp="1"/>
          </p:cNvSpPr>
          <p:nvPr/>
        </p:nvSpPr>
        <p:spPr>
          <a:xfrm xmlns:a="http://schemas.openxmlformats.org/drawingml/2006/main">
            <a:off x="868680" y="1828800"/>
            <a:ext cx="4983480" cy="1508760"/>
          </a:xfrm>
          <a:prstGeom xmlns:a="http://schemas.openxmlformats.org/drawingml/2006/main" prst="roundRect">
            <a:avLst>
              <a:gd name="adj" fmla="val 3636"/>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8" name="Google Shape;148;p9">
            <a:extLst xmlns:a="http://schemas.openxmlformats.org/drawingml/2006/main">
              <a:ext uri="{FF2B5EF4-FFF2-40B4-BE49-F238E27FC236}">
                <a16:creationId xmlns:a16="http://schemas.microsoft.com/office/drawing/2014/main" id="{28E1E977-FD00-452B-B35E-9D5ED28FBB99}"/>
              </a:ext>
            </a:extLst>
          </p:cNvPr>
          <p:cNvSpPr>
            <a:spLocks xmlns:a="http://schemas.openxmlformats.org/drawingml/2006/main" noGrp="1"/>
          </p:cNvSpPr>
          <p:nvPr/>
        </p:nvSpPr>
        <p:spPr>
          <a:xfrm xmlns:a="http://schemas.openxmlformats.org/drawingml/2006/main">
            <a:off x="1033272" y="1965960"/>
            <a:ext cx="46542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WEAK</a:t>
            </a:r>
          </a:p>
        </p:txBody>
      </p:sp>
      <p:sp>
        <p:nvSpPr>
          <p:cNvPr id="149" name="Google Shape;149;p9">
            <a:extLst xmlns:a="http://schemas.openxmlformats.org/drawingml/2006/main">
              <a:ext uri="{FF2B5EF4-FFF2-40B4-BE49-F238E27FC236}">
                <a16:creationId xmlns:a16="http://schemas.microsoft.com/office/drawing/2014/main" id="{76020E02-54D9-458C-84E1-60887A370116}"/>
              </a:ext>
            </a:extLst>
          </p:cNvPr>
          <p:cNvSpPr>
            <a:spLocks xmlns:a="http://schemas.openxmlformats.org/drawingml/2006/main" noGrp="1"/>
          </p:cNvSpPr>
          <p:nvPr/>
        </p:nvSpPr>
        <p:spPr>
          <a:xfrm xmlns:a="http://schemas.openxmlformats.org/drawingml/2006/main">
            <a:off x="1033272" y="2331720"/>
            <a:ext cx="4654296"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400"/>
              <a:buFont typeface="Arial"/>
              <a:buNone/>
            </a:pPr>
            <a:r>
              <a:rPr sz="2400">
                <a:solidFill>
                  <a:srgbClr val="FFFFFF"/>
                </a:solidFill>
                <a:latin typeface="Arial"/>
                <a:ea typeface="Arial"/>
                <a:cs typeface="Arial"/>
              </a:rPr>
              <a:t>Do plants like music?</a:t>
            </a:r>
          </a:p>
        </p:txBody>
      </p:sp>
      <p:sp>
        <p:nvSpPr>
          <p:cNvPr id="150" name="Google Shape;150;p9">
            <a:extLst xmlns:a="http://schemas.openxmlformats.org/drawingml/2006/main">
              <a:ext uri="{FF2B5EF4-FFF2-40B4-BE49-F238E27FC236}">
                <a16:creationId xmlns:a16="http://schemas.microsoft.com/office/drawing/2014/main" id="{BD4DDC1E-07C3-4569-8127-7D32454BC0A9}"/>
              </a:ext>
            </a:extLst>
          </p:cNvPr>
          <p:cNvSpPr>
            <a:spLocks xmlns:a="http://schemas.openxmlformats.org/drawingml/2006/main" noGrp="1"/>
          </p:cNvSpPr>
          <p:nvPr/>
        </p:nvSpPr>
        <p:spPr>
          <a:xfrm xmlns:a="http://schemas.openxmlformats.org/drawingml/2006/main">
            <a:off x="6309360" y="1828800"/>
            <a:ext cx="4983480" cy="1508760"/>
          </a:xfrm>
          <a:prstGeom xmlns:a="http://schemas.openxmlformats.org/drawingml/2006/main" prst="roundRect">
            <a:avLst>
              <a:gd name="adj" fmla="val 3636"/>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1" name="Google Shape;151;p9">
            <a:extLst xmlns:a="http://schemas.openxmlformats.org/drawingml/2006/main">
              <a:ext uri="{FF2B5EF4-FFF2-40B4-BE49-F238E27FC236}">
                <a16:creationId xmlns:a16="http://schemas.microsoft.com/office/drawing/2014/main" id="{2510D886-C0D6-4282-A213-83CB16D3D999}"/>
              </a:ext>
            </a:extLst>
          </p:cNvPr>
          <p:cNvSpPr>
            <a:spLocks xmlns:a="http://schemas.openxmlformats.org/drawingml/2006/main" noGrp="1"/>
          </p:cNvSpPr>
          <p:nvPr/>
        </p:nvSpPr>
        <p:spPr>
          <a:xfrm xmlns:a="http://schemas.openxmlformats.org/drawingml/2006/main">
            <a:off x="6473952" y="1965960"/>
            <a:ext cx="46542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STRONGER</a:t>
            </a:r>
          </a:p>
        </p:txBody>
      </p:sp>
      <p:sp>
        <p:nvSpPr>
          <p:cNvPr id="152" name="Google Shape;152;p9">
            <a:extLst xmlns:a="http://schemas.openxmlformats.org/drawingml/2006/main">
              <a:ext uri="{FF2B5EF4-FFF2-40B4-BE49-F238E27FC236}">
                <a16:creationId xmlns:a16="http://schemas.microsoft.com/office/drawing/2014/main" id="{EB7C24B4-FEDC-48A0-9A8F-589B53AD0A18}"/>
              </a:ext>
            </a:extLst>
          </p:cNvPr>
          <p:cNvSpPr>
            <a:spLocks xmlns:a="http://schemas.openxmlformats.org/drawingml/2006/main" noGrp="1"/>
          </p:cNvSpPr>
          <p:nvPr/>
        </p:nvSpPr>
        <p:spPr>
          <a:xfrm xmlns:a="http://schemas.openxmlformats.org/drawingml/2006/main">
            <a:off x="6473952" y="2331720"/>
            <a:ext cx="4654296"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a:solidFill>
                  <a:srgbClr val="FFFFFF"/>
                </a:solidFill>
                <a:latin typeface="Arial"/>
                <a:ea typeface="Arial"/>
                <a:cs typeface="Arial"/>
              </a:rPr>
              <a:t>How does two hours of classical music exposure per day affect average bean plant height over four weeks compared with silence?</a:t>
            </a:r>
          </a:p>
        </p:txBody>
      </p:sp>
      <p:sp>
        <p:nvSpPr>
          <p:cNvPr id="153" name="Google Shape;153;p9">
            <a:extLst xmlns:a="http://schemas.openxmlformats.org/drawingml/2006/main">
              <a:ext uri="{FF2B5EF4-FFF2-40B4-BE49-F238E27FC236}">
                <a16:creationId xmlns:a16="http://schemas.microsoft.com/office/drawing/2014/main" id="{22AB9541-54D0-4410-9C94-C49BE4C88006}"/>
              </a:ext>
            </a:extLst>
          </p:cNvPr>
          <p:cNvSpPr>
            <a:spLocks xmlns:a="http://schemas.openxmlformats.org/drawingml/2006/main" noGrp="1"/>
          </p:cNvSpPr>
          <p:nvPr/>
        </p:nvSpPr>
        <p:spPr>
          <a:xfrm xmlns:a="http://schemas.openxmlformats.org/drawingml/2006/main">
            <a:off x="868680" y="3794760"/>
            <a:ext cx="4983480" cy="1508760"/>
          </a:xfrm>
          <a:prstGeom xmlns:a="http://schemas.openxmlformats.org/drawingml/2006/main" prst="roundRect">
            <a:avLst>
              <a:gd name="adj" fmla="val 3636"/>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4" name="Google Shape;154;p9">
            <a:extLst xmlns:a="http://schemas.openxmlformats.org/drawingml/2006/main">
              <a:ext uri="{FF2B5EF4-FFF2-40B4-BE49-F238E27FC236}">
                <a16:creationId xmlns:a16="http://schemas.microsoft.com/office/drawing/2014/main" id="{F1325621-EF18-468B-A895-25F83D51D8D9}"/>
              </a:ext>
            </a:extLst>
          </p:cNvPr>
          <p:cNvSpPr>
            <a:spLocks xmlns:a="http://schemas.openxmlformats.org/drawingml/2006/main" noGrp="1"/>
          </p:cNvSpPr>
          <p:nvPr/>
        </p:nvSpPr>
        <p:spPr>
          <a:xfrm xmlns:a="http://schemas.openxmlformats.org/drawingml/2006/main">
            <a:off x="1033272" y="3931920"/>
            <a:ext cx="46542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WEAK</a:t>
            </a:r>
          </a:p>
        </p:txBody>
      </p:sp>
      <p:sp>
        <p:nvSpPr>
          <p:cNvPr id="155" name="Google Shape;155;p9">
            <a:extLst xmlns:a="http://schemas.openxmlformats.org/drawingml/2006/main">
              <a:ext uri="{FF2B5EF4-FFF2-40B4-BE49-F238E27FC236}">
                <a16:creationId xmlns:a16="http://schemas.microsoft.com/office/drawing/2014/main" id="{159D31B8-6500-4721-9F31-4FCCD98123EE}"/>
              </a:ext>
            </a:extLst>
          </p:cNvPr>
          <p:cNvSpPr>
            <a:spLocks xmlns:a="http://schemas.openxmlformats.org/drawingml/2006/main" noGrp="1"/>
          </p:cNvSpPr>
          <p:nvPr/>
        </p:nvSpPr>
        <p:spPr>
          <a:xfrm xmlns:a="http://schemas.openxmlformats.org/drawingml/2006/main">
            <a:off x="1033272" y="4297680"/>
            <a:ext cx="4654296"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400"/>
              <a:buFont typeface="Arial"/>
              <a:buNone/>
            </a:pPr>
            <a:r>
              <a:rPr sz="2400">
                <a:solidFill>
                  <a:srgbClr val="FFFFFF"/>
                </a:solidFill>
                <a:latin typeface="Arial"/>
                <a:ea typeface="Arial"/>
                <a:cs typeface="Arial"/>
              </a:rPr>
              <a:t>Can I build a better bridge?</a:t>
            </a:r>
          </a:p>
        </p:txBody>
      </p:sp>
      <p:sp>
        <p:nvSpPr>
          <p:cNvPr id="156" name="Google Shape;156;p9">
            <a:extLst xmlns:a="http://schemas.openxmlformats.org/drawingml/2006/main">
              <a:ext uri="{FF2B5EF4-FFF2-40B4-BE49-F238E27FC236}">
                <a16:creationId xmlns:a16="http://schemas.microsoft.com/office/drawing/2014/main" id="{9B1E6DBA-5CE7-4542-974D-E481EF24C7D0}"/>
              </a:ext>
            </a:extLst>
          </p:cNvPr>
          <p:cNvSpPr>
            <a:spLocks xmlns:a="http://schemas.openxmlformats.org/drawingml/2006/main" noGrp="1"/>
          </p:cNvSpPr>
          <p:nvPr/>
        </p:nvSpPr>
        <p:spPr>
          <a:xfrm xmlns:a="http://schemas.openxmlformats.org/drawingml/2006/main">
            <a:off x="6309360" y="3794760"/>
            <a:ext cx="4983480" cy="1508760"/>
          </a:xfrm>
          <a:prstGeom xmlns:a="http://schemas.openxmlformats.org/drawingml/2006/main" prst="roundRect">
            <a:avLst>
              <a:gd name="adj" fmla="val 3636"/>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7" name="Google Shape;157;p9">
            <a:extLst xmlns:a="http://schemas.openxmlformats.org/drawingml/2006/main">
              <a:ext uri="{FF2B5EF4-FFF2-40B4-BE49-F238E27FC236}">
                <a16:creationId xmlns:a16="http://schemas.microsoft.com/office/drawing/2014/main" id="{F9517954-6E2B-4FB8-878C-95508A3B63C7}"/>
              </a:ext>
            </a:extLst>
          </p:cNvPr>
          <p:cNvSpPr>
            <a:spLocks xmlns:a="http://schemas.openxmlformats.org/drawingml/2006/main" noGrp="1"/>
          </p:cNvSpPr>
          <p:nvPr/>
        </p:nvSpPr>
        <p:spPr>
          <a:xfrm xmlns:a="http://schemas.openxmlformats.org/drawingml/2006/main">
            <a:off x="6473952" y="3931920"/>
            <a:ext cx="46542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STRONGER</a:t>
            </a:r>
          </a:p>
        </p:txBody>
      </p:sp>
      <p:sp>
        <p:nvSpPr>
          <p:cNvPr id="158" name="Google Shape;158;p9">
            <a:extLst xmlns:a="http://schemas.openxmlformats.org/drawingml/2006/main">
              <a:ext uri="{FF2B5EF4-FFF2-40B4-BE49-F238E27FC236}">
                <a16:creationId xmlns:a16="http://schemas.microsoft.com/office/drawing/2014/main" id="{31AF1D26-F168-4158-B07A-494C53FA4197}"/>
              </a:ext>
            </a:extLst>
          </p:cNvPr>
          <p:cNvSpPr>
            <a:spLocks xmlns:a="http://schemas.openxmlformats.org/drawingml/2006/main" noGrp="1"/>
          </p:cNvSpPr>
          <p:nvPr/>
        </p:nvSpPr>
        <p:spPr>
          <a:xfrm xmlns:a="http://schemas.openxmlformats.org/drawingml/2006/main">
            <a:off x="6473952" y="4297680"/>
            <a:ext cx="4654296"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How does truss geometry affect the maximum load supported per gram of 3D-printed material?</a:t>
            </a:r>
          </a:p>
        </p:txBody>
      </p:sp>
    </p:spTree>
    <p:extLst>
      <p:ext uri="{BB962C8B-B14F-4D97-AF65-F5344CB8AC3E}">
        <p14:creationId xmlns:p14="http://schemas.microsoft.com/office/powerpoint/2010/main" val="1395668559"/>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4" name="Google Shape;164;p10">
            <a:extLst xmlns:a="http://schemas.openxmlformats.org/drawingml/2006/main">
              <a:ext uri="{FF2B5EF4-FFF2-40B4-BE49-F238E27FC236}">
                <a16:creationId xmlns:a16="http://schemas.microsoft.com/office/drawing/2014/main" id="{33BB445A-181F-4688-946F-AC0DB16C2BB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5" name="Google Shape;165;p10">
            <a:extLst xmlns:a="http://schemas.openxmlformats.org/drawingml/2006/main">
              <a:ext uri="{FF2B5EF4-FFF2-40B4-BE49-F238E27FC236}">
                <a16:creationId xmlns:a16="http://schemas.microsoft.com/office/drawing/2014/main" id="{3A1434EB-9B9B-4DD9-ABC1-C1CF4E0D6CD7}"/>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6" name="Google Shape;166;p10">
            <a:extLst xmlns:a="http://schemas.openxmlformats.org/drawingml/2006/main">
              <a:ext uri="{FF2B5EF4-FFF2-40B4-BE49-F238E27FC236}">
                <a16:creationId xmlns:a16="http://schemas.microsoft.com/office/drawing/2014/main" id="{71F17983-2A2F-4880-88FE-4F1B644D7675}"/>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7" name="Google Shape;167;p10">
            <a:extLst xmlns:a="http://schemas.openxmlformats.org/drawingml/2006/main">
              <a:ext uri="{FF2B5EF4-FFF2-40B4-BE49-F238E27FC236}">
                <a16:creationId xmlns:a16="http://schemas.microsoft.com/office/drawing/2014/main" id="{517C5FE1-8587-4013-B5DA-1ADE2F287191}"/>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QUESTION DEVELOPMENT</a:t>
            </a:r>
          </a:p>
        </p:txBody>
      </p:sp>
      <p:sp>
        <p:nvSpPr>
          <p:cNvPr id="168" name="Google Shape;168;p10">
            <a:extLst xmlns:a="http://schemas.openxmlformats.org/drawingml/2006/main">
              <a:ext uri="{FF2B5EF4-FFF2-40B4-BE49-F238E27FC236}">
                <a16:creationId xmlns:a16="http://schemas.microsoft.com/office/drawing/2014/main" id="{2AC819F3-595F-4077-B6C5-F1BAC32EFD2C}"/>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169" name="Google Shape;169;p10">
            <a:extLst xmlns:a="http://schemas.openxmlformats.org/drawingml/2006/main">
              <a:ext uri="{FF2B5EF4-FFF2-40B4-BE49-F238E27FC236}">
                <a16:creationId xmlns:a16="http://schemas.microsoft.com/office/drawing/2014/main" id="{C37BFCFB-2372-41DE-9396-7FD273CBAF4F}"/>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170" name="Google Shape;170;p10">
            <a:extLst xmlns:a="http://schemas.openxmlformats.org/drawingml/2006/main">
              <a:ext uri="{FF2B5EF4-FFF2-40B4-BE49-F238E27FC236}">
                <a16:creationId xmlns:a16="http://schemas.microsoft.com/office/drawing/2014/main" id="{7EA6DAE0-51D0-4AA4-BA15-12241E681145}"/>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Replace Vague Words With Metrics</a:t>
            </a:r>
          </a:p>
        </p:txBody>
      </p:sp>
      <p:sp>
        <p:nvSpPr>
          <p:cNvPr id="171" name="Google Shape;171;p10">
            <a:extLst xmlns:a="http://schemas.openxmlformats.org/drawingml/2006/main">
              <a:ext uri="{FF2B5EF4-FFF2-40B4-BE49-F238E27FC236}">
                <a16:creationId xmlns:a16="http://schemas.microsoft.com/office/drawing/2014/main" id="{3AD28494-1143-4A7C-96F4-BABB5BA53F2F}"/>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“Better” only works after you define it.</a:t>
            </a:r>
          </a:p>
        </p:txBody>
      </p:sp>
      <p:cxnSp>
        <p:nvCxnSpPr>
          <p:cNvPr id="188" name="Google Shape;172;p10"/>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73" name="Google Shape;173;p10">
            <a:extLst xmlns:a="http://schemas.openxmlformats.org/drawingml/2006/main">
              <a:ext uri="{FF2B5EF4-FFF2-40B4-BE49-F238E27FC236}">
                <a16:creationId xmlns:a16="http://schemas.microsoft.com/office/drawing/2014/main" id="{5BA930C1-A39B-459D-B316-C937943B2CBB}"/>
              </a:ext>
            </a:extLst>
          </p:cNvPr>
          <p:cNvSpPr>
            <a:spLocks xmlns:a="http://schemas.openxmlformats.org/drawingml/2006/main" noGrp="1"/>
          </p:cNvSpPr>
          <p:nvPr/>
        </p:nvSpPr>
        <p:spPr>
          <a:xfrm xmlns:a="http://schemas.openxmlformats.org/drawingml/2006/main">
            <a:off x="1143000" y="1874520"/>
            <a:ext cx="3977640" cy="3429000"/>
          </a:xfrm>
          <a:prstGeom xmlns:a="http://schemas.openxmlformats.org/drawingml/2006/main" prst="roundRect">
            <a:avLst>
              <a:gd name="adj" fmla="val 1600"/>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4" name="Google Shape;174;p10">
            <a:extLst xmlns:a="http://schemas.openxmlformats.org/drawingml/2006/main">
              <a:ext uri="{FF2B5EF4-FFF2-40B4-BE49-F238E27FC236}">
                <a16:creationId xmlns:a16="http://schemas.microsoft.com/office/drawing/2014/main" id="{28BF81F3-8485-4FB7-B2AD-487FBA7E87F2}"/>
              </a:ext>
            </a:extLst>
          </p:cNvPr>
          <p:cNvSpPr>
            <a:spLocks xmlns:a="http://schemas.openxmlformats.org/drawingml/2006/main" noGrp="1"/>
          </p:cNvSpPr>
          <p:nvPr/>
        </p:nvSpPr>
        <p:spPr>
          <a:xfrm xmlns:a="http://schemas.openxmlformats.org/drawingml/2006/main">
            <a:off x="1307592" y="2011680"/>
            <a:ext cx="36484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VAGUE</a:t>
            </a:r>
          </a:p>
        </p:txBody>
      </p:sp>
      <p:sp>
        <p:nvSpPr>
          <p:cNvPr id="175" name="Google Shape;175;p10">
            <a:extLst xmlns:a="http://schemas.openxmlformats.org/drawingml/2006/main">
              <a:ext uri="{FF2B5EF4-FFF2-40B4-BE49-F238E27FC236}">
                <a16:creationId xmlns:a16="http://schemas.microsoft.com/office/drawing/2014/main" id="{D2D4AB9A-502E-494B-8731-6AEB96B3A390}"/>
              </a:ext>
            </a:extLst>
          </p:cNvPr>
          <p:cNvSpPr>
            <a:spLocks xmlns:a="http://schemas.openxmlformats.org/drawingml/2006/main" noGrp="1"/>
          </p:cNvSpPr>
          <p:nvPr/>
        </p:nvSpPr>
        <p:spPr>
          <a:xfrm xmlns:a="http://schemas.openxmlformats.org/drawingml/2006/main">
            <a:off x="1307592" y="2377440"/>
            <a:ext cx="3648456" cy="2770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500"/>
              <a:buFont typeface="Arial"/>
              <a:buNone/>
            </a:pPr>
            <a:r>
              <a:rPr sz="2500">
                <a:solidFill>
                  <a:srgbClr val="FFFFFF"/>
                </a:solidFill>
                <a:latin typeface="Arial"/>
                <a:ea typeface="Arial"/>
                <a:cs typeface="Arial"/>
              </a:rPr>
              <a:t>better</a:t>
            </a:r>
          </a:p>
          <a:p xmlns:a="http://schemas.openxmlformats.org/drawingml/2006/main">
            <a:pPr marL="0" marR="0" indent="0" algn="ctr">
              <a:spcBef>
                <a:spcPts val="0"/>
              </a:spcBef>
              <a:spcAft>
                <a:spcPts val="0"/>
              </a:spcAft>
              <a:buClr>
                <a:srgbClr val="FFFFFF"/>
              </a:buClr>
              <a:buSzPts val="2500"/>
              <a:buFont typeface="Arial"/>
              <a:buNone/>
            </a:pPr>
            <a:r>
              <a:rPr sz="2500">
                <a:solidFill>
                  <a:srgbClr val="FFFFFF"/>
                </a:solidFill>
                <a:latin typeface="Arial"/>
                <a:ea typeface="Arial"/>
                <a:cs typeface="Arial"/>
              </a:rPr>
              <a:t>stronger</a:t>
            </a:r>
          </a:p>
          <a:p xmlns:a="http://schemas.openxmlformats.org/drawingml/2006/main">
            <a:pPr marL="0" marR="0" indent="0" algn="ctr">
              <a:spcBef>
                <a:spcPts val="0"/>
              </a:spcBef>
              <a:spcAft>
                <a:spcPts val="0"/>
              </a:spcAft>
              <a:buClr>
                <a:srgbClr val="FFFFFF"/>
              </a:buClr>
              <a:buSzPts val="2500"/>
              <a:buFont typeface="Arial"/>
              <a:buNone/>
            </a:pPr>
            <a:r>
              <a:rPr sz="2500">
                <a:solidFill>
                  <a:srgbClr val="FFFFFF"/>
                </a:solidFill>
                <a:latin typeface="Arial"/>
                <a:ea typeface="Arial"/>
                <a:cs typeface="Arial"/>
              </a:rPr>
              <a:t>cleaner</a:t>
            </a:r>
          </a:p>
          <a:p xmlns:a="http://schemas.openxmlformats.org/drawingml/2006/main">
            <a:pPr marL="0" marR="0" indent="0" algn="ctr">
              <a:spcBef>
                <a:spcPts val="0"/>
              </a:spcBef>
              <a:spcAft>
                <a:spcPts val="0"/>
              </a:spcAft>
              <a:buClr>
                <a:srgbClr val="FFFFFF"/>
              </a:buClr>
              <a:buSzPts val="2500"/>
              <a:buFont typeface="Arial"/>
              <a:buNone/>
            </a:pPr>
            <a:r>
              <a:rPr sz="2500">
                <a:solidFill>
                  <a:srgbClr val="FFFFFF"/>
                </a:solidFill>
                <a:latin typeface="Arial"/>
                <a:ea typeface="Arial"/>
                <a:cs typeface="Arial"/>
              </a:rPr>
              <a:t>healthier</a:t>
            </a:r>
          </a:p>
          <a:p xmlns:a="http://schemas.openxmlformats.org/drawingml/2006/main">
            <a:pPr marL="0" marR="0" indent="0" algn="ctr">
              <a:spcBef>
                <a:spcPts val="0"/>
              </a:spcBef>
              <a:spcAft>
                <a:spcPts val="0"/>
              </a:spcAft>
              <a:buClr>
                <a:srgbClr val="FFFFFF"/>
              </a:buClr>
              <a:buSzPts val="2500"/>
              <a:buFont typeface="Arial"/>
              <a:buNone/>
            </a:pPr>
            <a:r>
              <a:rPr sz="2500">
                <a:solidFill>
                  <a:srgbClr val="FFFFFF"/>
                </a:solidFill>
                <a:latin typeface="Arial"/>
                <a:ea typeface="Arial"/>
                <a:cs typeface="Arial"/>
              </a:rPr>
              <a:t>faster</a:t>
            </a:r>
          </a:p>
          <a:p xmlns:a="http://schemas.openxmlformats.org/drawingml/2006/main">
            <a:pPr marL="0" marR="0" indent="0" algn="ctr">
              <a:spcBef>
                <a:spcPts val="0"/>
              </a:spcBef>
              <a:spcAft>
                <a:spcPts val="0"/>
              </a:spcAft>
              <a:buClr>
                <a:srgbClr val="FFFFFF"/>
              </a:buClr>
              <a:buSzPts val="2500"/>
              <a:buFont typeface="Arial"/>
              <a:buNone/>
            </a:pPr>
            <a:r>
              <a:rPr sz="2500">
                <a:solidFill>
                  <a:srgbClr val="FFFFFF"/>
                </a:solidFill>
                <a:latin typeface="Arial"/>
                <a:ea typeface="Arial"/>
                <a:cs typeface="Arial"/>
              </a:rPr>
              <a:t>efficient</a:t>
            </a:r>
          </a:p>
        </p:txBody>
      </p:sp>
      <p:cxnSp>
        <p:nvCxnSpPr>
          <p:cNvPr id="192" name="Google Shape;176;p10"/>
          <p:cNvCxnSpPr/>
          <p:nvPr/>
        </p:nvCxnSpPr>
        <p:spPr>
          <a:xfrm xmlns:a="http://schemas.openxmlformats.org/drawingml/2006/main">
            <a:off x="5532120" y="3520440"/>
            <a:ext cx="105156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triangle" w="med" len="med"/>
          </a:ln>
        </p:spPr>
      </p:cxnSp>
      <p:sp>
        <p:nvSpPr>
          <p:cNvPr id="177" name="Google Shape;177;p10">
            <a:extLst xmlns:a="http://schemas.openxmlformats.org/drawingml/2006/main">
              <a:ext uri="{FF2B5EF4-FFF2-40B4-BE49-F238E27FC236}">
                <a16:creationId xmlns:a16="http://schemas.microsoft.com/office/drawing/2014/main" id="{2F1CBE72-4B3E-4DF9-9CBF-71FC0CF8ABA3}"/>
              </a:ext>
            </a:extLst>
          </p:cNvPr>
          <p:cNvSpPr>
            <a:spLocks xmlns:a="http://schemas.openxmlformats.org/drawingml/2006/main" noGrp="1"/>
          </p:cNvSpPr>
          <p:nvPr/>
        </p:nvSpPr>
        <p:spPr>
          <a:xfrm xmlns:a="http://schemas.openxmlformats.org/drawingml/2006/main">
            <a:off x="6995160" y="1874520"/>
            <a:ext cx="3977640" cy="3429000"/>
          </a:xfrm>
          <a:prstGeom xmlns:a="http://schemas.openxmlformats.org/drawingml/2006/main" prst="roundRect">
            <a:avLst>
              <a:gd name="adj" fmla="val 1600"/>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8" name="Google Shape;178;p10">
            <a:extLst xmlns:a="http://schemas.openxmlformats.org/drawingml/2006/main">
              <a:ext uri="{FF2B5EF4-FFF2-40B4-BE49-F238E27FC236}">
                <a16:creationId xmlns:a16="http://schemas.microsoft.com/office/drawing/2014/main" id="{896BED3C-6CBF-445A-BCA1-CD697A9441B4}"/>
              </a:ext>
            </a:extLst>
          </p:cNvPr>
          <p:cNvSpPr>
            <a:spLocks xmlns:a="http://schemas.openxmlformats.org/drawingml/2006/main" noGrp="1"/>
          </p:cNvSpPr>
          <p:nvPr/>
        </p:nvSpPr>
        <p:spPr>
          <a:xfrm xmlns:a="http://schemas.openxmlformats.org/drawingml/2006/main">
            <a:off x="7159752" y="2011680"/>
            <a:ext cx="36484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MEASURABLE</a:t>
            </a:r>
          </a:p>
        </p:txBody>
      </p:sp>
      <p:sp>
        <p:nvSpPr>
          <p:cNvPr id="179" name="Google Shape;179;p10">
            <a:extLst xmlns:a="http://schemas.openxmlformats.org/drawingml/2006/main">
              <a:ext uri="{FF2B5EF4-FFF2-40B4-BE49-F238E27FC236}">
                <a16:creationId xmlns:a16="http://schemas.microsoft.com/office/drawing/2014/main" id="{0010CBCB-985D-4BB5-8459-F1D0E5141E27}"/>
              </a:ext>
            </a:extLst>
          </p:cNvPr>
          <p:cNvSpPr>
            <a:spLocks xmlns:a="http://schemas.openxmlformats.org/drawingml/2006/main" noGrp="1"/>
          </p:cNvSpPr>
          <p:nvPr/>
        </p:nvSpPr>
        <p:spPr>
          <a:xfrm xmlns:a="http://schemas.openxmlformats.org/drawingml/2006/main">
            <a:off x="7159752" y="2377440"/>
            <a:ext cx="3648456" cy="2770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200"/>
              <a:buFont typeface="Arial"/>
              <a:buNone/>
            </a:pPr>
            <a:r>
              <a:rPr sz="2200">
                <a:solidFill>
                  <a:srgbClr val="FFFFFF"/>
                </a:solidFill>
                <a:latin typeface="Arial"/>
                <a:ea typeface="Arial"/>
                <a:cs typeface="Arial"/>
              </a:rPr>
              <a:t>higher average voltage</a:t>
            </a:r>
          </a:p>
          <a:p xmlns:a="http://schemas.openxmlformats.org/drawingml/2006/main">
            <a:pPr marL="0" marR="0" indent="0" algn="ctr">
              <a:spcBef>
                <a:spcPts val="0"/>
              </a:spcBef>
              <a:spcAft>
                <a:spcPts val="0"/>
              </a:spcAft>
              <a:buClr>
                <a:srgbClr val="FFFFFF"/>
              </a:buClr>
              <a:buSzPts val="2200"/>
              <a:buFont typeface="Arial"/>
              <a:buNone/>
            </a:pPr>
            <a:r>
              <a:rPr sz="2200">
                <a:solidFill>
                  <a:srgbClr val="FFFFFF"/>
                </a:solidFill>
                <a:latin typeface="Arial"/>
                <a:ea typeface="Arial"/>
                <a:cs typeface="Arial"/>
              </a:rPr>
              <a:t>load supported per gram</a:t>
            </a:r>
          </a:p>
          <a:p xmlns:a="http://schemas.openxmlformats.org/drawingml/2006/main">
            <a:pPr marL="0" marR="0" indent="0" algn="ctr">
              <a:spcBef>
                <a:spcPts val="0"/>
              </a:spcBef>
              <a:spcAft>
                <a:spcPts val="0"/>
              </a:spcAft>
              <a:buClr>
                <a:srgbClr val="FFFFFF"/>
              </a:buClr>
              <a:buSzPts val="2200"/>
              <a:buFont typeface="Arial"/>
              <a:buNone/>
            </a:pPr>
            <a:r>
              <a:rPr sz="2200">
                <a:solidFill>
                  <a:srgbClr val="FFFFFF"/>
                </a:solidFill>
                <a:latin typeface="Arial"/>
                <a:ea typeface="Arial"/>
                <a:cs typeface="Arial"/>
              </a:rPr>
              <a:t>lower turbidity</a:t>
            </a:r>
          </a:p>
          <a:p xmlns:a="http://schemas.openxmlformats.org/drawingml/2006/main">
            <a:pPr marL="0" marR="0" indent="0" algn="ctr">
              <a:spcBef>
                <a:spcPts val="0"/>
              </a:spcBef>
              <a:spcAft>
                <a:spcPts val="0"/>
              </a:spcAft>
              <a:buClr>
                <a:srgbClr val="FFFFFF"/>
              </a:buClr>
              <a:buSzPts val="2200"/>
              <a:buFont typeface="Arial"/>
              <a:buNone/>
            </a:pPr>
            <a:r>
              <a:rPr sz="2200">
                <a:solidFill>
                  <a:srgbClr val="FFFFFF"/>
                </a:solidFill>
                <a:latin typeface="Arial"/>
                <a:ea typeface="Arial"/>
                <a:cs typeface="Arial"/>
              </a:rPr>
              <a:t>average growth rate</a:t>
            </a:r>
          </a:p>
          <a:p xmlns:a="http://schemas.openxmlformats.org/drawingml/2006/main">
            <a:pPr marL="0" marR="0" indent="0" algn="ctr">
              <a:spcBef>
                <a:spcPts val="0"/>
              </a:spcBef>
              <a:spcAft>
                <a:spcPts val="0"/>
              </a:spcAft>
              <a:buClr>
                <a:srgbClr val="FFFFFF"/>
              </a:buClr>
              <a:buSzPts val="2200"/>
              <a:buFont typeface="Arial"/>
              <a:buNone/>
            </a:pPr>
            <a:r>
              <a:rPr sz="2200">
                <a:solidFill>
                  <a:srgbClr val="FFFFFF"/>
                </a:solidFill>
                <a:latin typeface="Arial"/>
                <a:ea typeface="Arial"/>
                <a:cs typeface="Arial"/>
              </a:rPr>
              <a:t>shorter completion time</a:t>
            </a:r>
          </a:p>
          <a:p xmlns:a="http://schemas.openxmlformats.org/drawingml/2006/main">
            <a:pPr marL="0" marR="0" indent="0" algn="ctr">
              <a:spcBef>
                <a:spcPts val="0"/>
              </a:spcBef>
              <a:spcAft>
                <a:spcPts val="0"/>
              </a:spcAft>
              <a:buClr>
                <a:srgbClr val="FFFFFF"/>
              </a:buClr>
              <a:buSzPts val="2200"/>
              <a:buFont typeface="Arial"/>
              <a:buNone/>
            </a:pPr>
            <a:r>
              <a:rPr sz="2200">
                <a:solidFill>
                  <a:srgbClr val="FFFFFF"/>
                </a:solidFill>
                <a:latin typeface="Arial"/>
                <a:ea typeface="Arial"/>
                <a:cs typeface="Arial"/>
              </a:rPr>
              <a:t>output per input</a:t>
            </a:r>
          </a:p>
        </p:txBody>
      </p:sp>
    </p:spTree>
    <p:extLst>
      <p:ext uri="{BB962C8B-B14F-4D97-AF65-F5344CB8AC3E}">
        <p14:creationId xmlns:p14="http://schemas.microsoft.com/office/powerpoint/2010/main" val="333939383"/>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5" name="Google Shape;185;p11">
            <a:extLst xmlns:a="http://schemas.openxmlformats.org/drawingml/2006/main">
              <a:ext uri="{FF2B5EF4-FFF2-40B4-BE49-F238E27FC236}">
                <a16:creationId xmlns:a16="http://schemas.microsoft.com/office/drawing/2014/main" id="{A61F8A34-1F15-499B-A717-37E28374B70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6" name="Google Shape;186;p11">
            <a:extLst xmlns:a="http://schemas.openxmlformats.org/drawingml/2006/main">
              <a:ext uri="{FF2B5EF4-FFF2-40B4-BE49-F238E27FC236}">
                <a16:creationId xmlns:a16="http://schemas.microsoft.com/office/drawing/2014/main" id="{9B125D64-B1D8-4609-AAD1-94700D991E2B}"/>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7" name="Google Shape;187;p11">
            <a:extLst xmlns:a="http://schemas.openxmlformats.org/drawingml/2006/main">
              <a:ext uri="{FF2B5EF4-FFF2-40B4-BE49-F238E27FC236}">
                <a16:creationId xmlns:a16="http://schemas.microsoft.com/office/drawing/2014/main" id="{304BF922-BFEF-4DE9-8484-77A95C7E608C}"/>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8" name="Google Shape;188;p11">
            <a:extLst xmlns:a="http://schemas.openxmlformats.org/drawingml/2006/main">
              <a:ext uri="{FF2B5EF4-FFF2-40B4-BE49-F238E27FC236}">
                <a16:creationId xmlns:a16="http://schemas.microsoft.com/office/drawing/2014/main" id="{07E04320-5742-4624-8BBA-55628F904BA8}"/>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QUESTION DEVELOPMENT</a:t>
            </a:r>
          </a:p>
        </p:txBody>
      </p:sp>
      <p:sp>
        <p:nvSpPr>
          <p:cNvPr id="189" name="Google Shape;189;p11">
            <a:extLst xmlns:a="http://schemas.openxmlformats.org/drawingml/2006/main">
              <a:ext uri="{FF2B5EF4-FFF2-40B4-BE49-F238E27FC236}">
                <a16:creationId xmlns:a16="http://schemas.microsoft.com/office/drawing/2014/main" id="{6CC973AE-CCF6-408E-BCC6-3ED7BC65A0C5}"/>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190" name="Google Shape;190;p11">
            <a:extLst xmlns:a="http://schemas.openxmlformats.org/drawingml/2006/main">
              <a:ext uri="{FF2B5EF4-FFF2-40B4-BE49-F238E27FC236}">
                <a16:creationId xmlns:a16="http://schemas.microsoft.com/office/drawing/2014/main" id="{5C69EA5A-38F2-451A-849B-1391C3259B85}"/>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191" name="Google Shape;191;p11">
            <a:extLst xmlns:a="http://schemas.openxmlformats.org/drawingml/2006/main">
              <a:ext uri="{FF2B5EF4-FFF2-40B4-BE49-F238E27FC236}">
                <a16:creationId xmlns:a16="http://schemas.microsoft.com/office/drawing/2014/main" id="{F6E7A0A2-EA0E-4D73-9AC9-1B50A289F8D4}"/>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Two Valid STARLAB Pathways</a:t>
            </a:r>
          </a:p>
        </p:txBody>
      </p:sp>
      <p:sp>
        <p:nvSpPr>
          <p:cNvPr id="192" name="Google Shape;192;p11">
            <a:extLst xmlns:a="http://schemas.openxmlformats.org/drawingml/2006/main">
              <a:ext uri="{FF2B5EF4-FFF2-40B4-BE49-F238E27FC236}">
                <a16:creationId xmlns:a16="http://schemas.microsoft.com/office/drawing/2014/main" id="{75E40637-162D-4EC5-B227-46931B4B060B}"/>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Experimental science and engineering design are both research.</a:t>
            </a:r>
          </a:p>
        </p:txBody>
      </p:sp>
      <p:cxnSp>
        <p:nvCxnSpPr>
          <p:cNvPr id="208" name="Google Shape;193;p11"/>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94" name="Google Shape;194;p11">
            <a:extLst xmlns:a="http://schemas.openxmlformats.org/drawingml/2006/main">
              <a:ext uri="{FF2B5EF4-FFF2-40B4-BE49-F238E27FC236}">
                <a16:creationId xmlns:a16="http://schemas.microsoft.com/office/drawing/2014/main" id="{30691518-DFF1-4DC8-86A6-5451EC507FFE}"/>
              </a:ext>
            </a:extLst>
          </p:cNvPr>
          <p:cNvSpPr>
            <a:spLocks xmlns:a="http://schemas.openxmlformats.org/drawingml/2006/main" noGrp="1"/>
          </p:cNvSpPr>
          <p:nvPr/>
        </p:nvSpPr>
        <p:spPr>
          <a:xfrm xmlns:a="http://schemas.openxmlformats.org/drawingml/2006/main">
            <a:off x="868680" y="1828800"/>
            <a:ext cx="5074920" cy="3337560"/>
          </a:xfrm>
          <a:prstGeom xmlns:a="http://schemas.openxmlformats.org/drawingml/2006/main" prst="roundRect">
            <a:avLst>
              <a:gd name="adj" fmla="val 1644"/>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5" name="Google Shape;195;p11">
            <a:extLst xmlns:a="http://schemas.openxmlformats.org/drawingml/2006/main">
              <a:ext uri="{FF2B5EF4-FFF2-40B4-BE49-F238E27FC236}">
                <a16:creationId xmlns:a16="http://schemas.microsoft.com/office/drawing/2014/main" id="{3075F6E6-159A-4145-8115-E09D722F7374}"/>
              </a:ext>
            </a:extLst>
          </p:cNvPr>
          <p:cNvSpPr>
            <a:spLocks xmlns:a="http://schemas.openxmlformats.org/drawingml/2006/main" noGrp="1"/>
          </p:cNvSpPr>
          <p:nvPr/>
        </p:nvSpPr>
        <p:spPr>
          <a:xfrm xmlns:a="http://schemas.openxmlformats.org/drawingml/2006/main">
            <a:off x="1033272" y="1965960"/>
            <a:ext cx="47457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EXPERIMENTAL SCIENCE</a:t>
            </a:r>
          </a:p>
        </p:txBody>
      </p:sp>
      <p:sp>
        <p:nvSpPr>
          <p:cNvPr id="196" name="Google Shape;196;p11">
            <a:extLst xmlns:a="http://schemas.openxmlformats.org/drawingml/2006/main">
              <a:ext uri="{FF2B5EF4-FFF2-40B4-BE49-F238E27FC236}">
                <a16:creationId xmlns:a16="http://schemas.microsoft.com/office/drawing/2014/main" id="{10145DC5-72DD-475D-B528-01A51B11CAE4}"/>
              </a:ext>
            </a:extLst>
          </p:cNvPr>
          <p:cNvSpPr>
            <a:spLocks xmlns:a="http://schemas.openxmlformats.org/drawingml/2006/main" noGrp="1"/>
          </p:cNvSpPr>
          <p:nvPr/>
        </p:nvSpPr>
        <p:spPr>
          <a:xfrm xmlns:a="http://schemas.openxmlformats.org/drawingml/2006/main">
            <a:off x="1033272" y="2331720"/>
            <a:ext cx="4745736" cy="2679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Arial"/>
              <a:buNone/>
            </a:pPr>
            <a:r>
              <a:rPr sz="2200">
                <a:solidFill>
                  <a:srgbClr val="FFFFFF"/>
                </a:solidFill>
                <a:latin typeface="Arial"/>
                <a:ea typeface="Arial"/>
                <a:cs typeface="Arial"/>
              </a:rPr>
              <a:t>Question → Hypothesis → Controlled test → Data → Interpretation</a:t>
            </a:r>
          </a:p>
          <a:p xmlns:a="http://schemas.openxmlformats.org/drawingml/2006/main">
            <a:pPr marL="0" marR="0" indent="0" algn="l">
              <a:spcBef>
                <a:spcPts val="0"/>
              </a:spcBef>
              <a:spcAft>
                <a:spcPts val="0"/>
              </a:spcAft>
              <a:buClr>
                <a:schemeClr val="dk1"/>
              </a:buClr>
              <a:buSzPts val="2200"/>
              <a:buFont typeface="Arial"/>
              <a:buNone/>
            </a:pPr>
            <a:r>
              <a:t/>
            </a:r>
          </a:p>
          <a:p xmlns:a="http://schemas.openxmlformats.org/drawingml/2006/main">
            <a:pPr marL="0" marR="0" indent="0" algn="l">
              <a:spcBef>
                <a:spcPts val="0"/>
              </a:spcBef>
              <a:spcAft>
                <a:spcPts val="0"/>
              </a:spcAft>
              <a:buClr>
                <a:srgbClr val="FFFFFF"/>
              </a:buClr>
              <a:buSzPts val="2200"/>
              <a:buFont typeface="Arial"/>
              <a:buNone/>
            </a:pPr>
            <a:r>
              <a:rPr sz="2200">
                <a:solidFill>
                  <a:srgbClr val="FFFFFF"/>
                </a:solidFill>
                <a:latin typeface="Arial"/>
                <a:ea typeface="Arial"/>
                <a:cs typeface="Arial"/>
              </a:rPr>
              <a:t>Best when the student is investigating a relationship, effect, or comparison.</a:t>
            </a:r>
          </a:p>
        </p:txBody>
      </p:sp>
      <p:sp>
        <p:nvSpPr>
          <p:cNvPr id="197" name="Google Shape;197;p11">
            <a:extLst xmlns:a="http://schemas.openxmlformats.org/drawingml/2006/main">
              <a:ext uri="{FF2B5EF4-FFF2-40B4-BE49-F238E27FC236}">
                <a16:creationId xmlns:a16="http://schemas.microsoft.com/office/drawing/2014/main" id="{83A90321-D15F-4AC2-B857-97349F68438F}"/>
              </a:ext>
            </a:extLst>
          </p:cNvPr>
          <p:cNvSpPr>
            <a:spLocks xmlns:a="http://schemas.openxmlformats.org/drawingml/2006/main" noGrp="1"/>
          </p:cNvSpPr>
          <p:nvPr/>
        </p:nvSpPr>
        <p:spPr>
          <a:xfrm xmlns:a="http://schemas.openxmlformats.org/drawingml/2006/main">
            <a:off x="6263640" y="1828800"/>
            <a:ext cx="5074920" cy="3337560"/>
          </a:xfrm>
          <a:prstGeom xmlns:a="http://schemas.openxmlformats.org/drawingml/2006/main" prst="roundRect">
            <a:avLst>
              <a:gd name="adj" fmla="val 164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11">
            <a:extLst xmlns:a="http://schemas.openxmlformats.org/drawingml/2006/main">
              <a:ext uri="{FF2B5EF4-FFF2-40B4-BE49-F238E27FC236}">
                <a16:creationId xmlns:a16="http://schemas.microsoft.com/office/drawing/2014/main" id="{3668DC3C-3346-4717-9A84-3A416B83B750}"/>
              </a:ext>
            </a:extLst>
          </p:cNvPr>
          <p:cNvSpPr>
            <a:spLocks xmlns:a="http://schemas.openxmlformats.org/drawingml/2006/main" noGrp="1"/>
          </p:cNvSpPr>
          <p:nvPr/>
        </p:nvSpPr>
        <p:spPr>
          <a:xfrm xmlns:a="http://schemas.openxmlformats.org/drawingml/2006/main">
            <a:off x="6428232" y="1965960"/>
            <a:ext cx="47457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ENGINEERING DESIGN</a:t>
            </a:r>
          </a:p>
        </p:txBody>
      </p:sp>
      <p:sp>
        <p:nvSpPr>
          <p:cNvPr id="199" name="Google Shape;199;p11">
            <a:extLst xmlns:a="http://schemas.openxmlformats.org/drawingml/2006/main">
              <a:ext uri="{FF2B5EF4-FFF2-40B4-BE49-F238E27FC236}">
                <a16:creationId xmlns:a16="http://schemas.microsoft.com/office/drawing/2014/main" id="{F5C50C03-2E25-49F9-B535-7FAF4BDC65DE}"/>
              </a:ext>
            </a:extLst>
          </p:cNvPr>
          <p:cNvSpPr>
            <a:spLocks xmlns:a="http://schemas.openxmlformats.org/drawingml/2006/main" noGrp="1"/>
          </p:cNvSpPr>
          <p:nvPr/>
        </p:nvSpPr>
        <p:spPr>
          <a:xfrm xmlns:a="http://schemas.openxmlformats.org/drawingml/2006/main">
            <a:off x="6428232" y="2331720"/>
            <a:ext cx="4745736" cy="2679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Arial"/>
              <a:buNone/>
            </a:pPr>
            <a:r>
              <a:rPr sz="2200">
                <a:solidFill>
                  <a:srgbClr val="FFFFFF"/>
                </a:solidFill>
                <a:latin typeface="Arial"/>
                <a:ea typeface="Arial"/>
                <a:cs typeface="Arial"/>
              </a:rPr>
              <a:t>Problem → Criteria → Prototype → Testing → Redesign</a:t>
            </a:r>
          </a:p>
          <a:p xmlns:a="http://schemas.openxmlformats.org/drawingml/2006/main">
            <a:pPr marL="0" marR="0" indent="0" algn="l">
              <a:spcBef>
                <a:spcPts val="0"/>
              </a:spcBef>
              <a:spcAft>
                <a:spcPts val="0"/>
              </a:spcAft>
              <a:buClr>
                <a:schemeClr val="dk1"/>
              </a:buClr>
              <a:buSzPts val="2200"/>
              <a:buFont typeface="Arial"/>
              <a:buNone/>
            </a:pPr>
            <a:r>
              <a:t/>
            </a:r>
          </a:p>
          <a:p xmlns:a="http://schemas.openxmlformats.org/drawingml/2006/main">
            <a:pPr marL="0" marR="0" indent="0" algn="l">
              <a:spcBef>
                <a:spcPts val="0"/>
              </a:spcBef>
              <a:spcAft>
                <a:spcPts val="0"/>
              </a:spcAft>
              <a:buClr>
                <a:srgbClr val="FFFFFF"/>
              </a:buClr>
              <a:buSzPts val="2200"/>
              <a:buFont typeface="Arial"/>
              <a:buNone/>
            </a:pPr>
            <a:r>
              <a:rPr sz="2200">
                <a:solidFill>
                  <a:srgbClr val="FFFFFF"/>
                </a:solidFill>
                <a:latin typeface="Arial"/>
                <a:ea typeface="Arial"/>
                <a:cs typeface="Arial"/>
              </a:rPr>
              <a:t>Best when the student is building, optimizing, coding, or improving a solution.</a:t>
            </a:r>
          </a:p>
        </p:txBody>
      </p:sp>
    </p:spTree>
    <p:extLst>
      <p:ext uri="{BB962C8B-B14F-4D97-AF65-F5344CB8AC3E}">
        <p14:creationId xmlns:p14="http://schemas.microsoft.com/office/powerpoint/2010/main" val="840842981"/>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5" name="Google Shape;205;p12">
            <a:extLst xmlns:a="http://schemas.openxmlformats.org/drawingml/2006/main">
              <a:ext uri="{FF2B5EF4-FFF2-40B4-BE49-F238E27FC236}">
                <a16:creationId xmlns:a16="http://schemas.microsoft.com/office/drawing/2014/main" id="{386505BC-D411-41E9-98A4-2EF66017BC8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6" name="Google Shape;206;p12">
            <a:extLst xmlns:a="http://schemas.openxmlformats.org/drawingml/2006/main">
              <a:ext uri="{FF2B5EF4-FFF2-40B4-BE49-F238E27FC236}">
                <a16:creationId xmlns:a16="http://schemas.microsoft.com/office/drawing/2014/main" id="{AC18DFA6-D692-4CE2-9171-C4D19CF8EE4A}"/>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7" name="Google Shape;207;p12">
            <a:extLst xmlns:a="http://schemas.openxmlformats.org/drawingml/2006/main">
              <a:ext uri="{FF2B5EF4-FFF2-40B4-BE49-F238E27FC236}">
                <a16:creationId xmlns:a16="http://schemas.microsoft.com/office/drawing/2014/main" id="{DC56A6F4-EDC1-431B-A345-BD3B0134B56A}"/>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8" name="Google Shape;208;p12">
            <a:extLst xmlns:a="http://schemas.openxmlformats.org/drawingml/2006/main">
              <a:ext uri="{FF2B5EF4-FFF2-40B4-BE49-F238E27FC236}">
                <a16:creationId xmlns:a16="http://schemas.microsoft.com/office/drawing/2014/main" id="{34FEB028-4728-42DA-9897-298B08E49C54}"/>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STUDENT ACTIVITY</a:t>
            </a:r>
          </a:p>
        </p:txBody>
      </p:sp>
      <p:sp>
        <p:nvSpPr>
          <p:cNvPr id="209" name="Google Shape;209;p12">
            <a:extLst xmlns:a="http://schemas.openxmlformats.org/drawingml/2006/main">
              <a:ext uri="{FF2B5EF4-FFF2-40B4-BE49-F238E27FC236}">
                <a16:creationId xmlns:a16="http://schemas.microsoft.com/office/drawing/2014/main" id="{B2516863-E302-4097-BDA7-511473960B88}"/>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10" name="Google Shape;210;p12">
            <a:extLst xmlns:a="http://schemas.openxmlformats.org/drawingml/2006/main">
              <a:ext uri="{FF2B5EF4-FFF2-40B4-BE49-F238E27FC236}">
                <a16:creationId xmlns:a16="http://schemas.microsoft.com/office/drawing/2014/main" id="{ABD444C0-67EA-4E0F-BF0C-496D433CC40B}"/>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211" name="Google Shape;211;p12">
            <a:extLst xmlns:a="http://schemas.openxmlformats.org/drawingml/2006/main">
              <a:ext uri="{FF2B5EF4-FFF2-40B4-BE49-F238E27FC236}">
                <a16:creationId xmlns:a16="http://schemas.microsoft.com/office/drawing/2014/main" id="{CAF68EB6-F571-410E-88C2-DC8818E9F6DA}"/>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Build Your Topic Ladder</a:t>
            </a:r>
          </a:p>
        </p:txBody>
      </p:sp>
      <p:sp>
        <p:nvSpPr>
          <p:cNvPr id="212" name="Google Shape;212;p12">
            <a:extLst xmlns:a="http://schemas.openxmlformats.org/drawingml/2006/main">
              <a:ext uri="{FF2B5EF4-FFF2-40B4-BE49-F238E27FC236}">
                <a16:creationId xmlns:a16="http://schemas.microsoft.com/office/drawing/2014/main" id="{DBC74E1C-4D9C-4B75-A245-602A4F07E820}"/>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8 minutes • Unit 1 Week 2</a:t>
            </a:r>
          </a:p>
        </p:txBody>
      </p:sp>
      <p:cxnSp>
        <p:nvCxnSpPr>
          <p:cNvPr id="225" name="Google Shape;213;p12"/>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14" name="Google Shape;214;p12">
            <a:extLst xmlns:a="http://schemas.openxmlformats.org/drawingml/2006/main">
              <a:ext uri="{FF2B5EF4-FFF2-40B4-BE49-F238E27FC236}">
                <a16:creationId xmlns:a16="http://schemas.microsoft.com/office/drawing/2014/main" id="{829D4E99-993E-4E05-86C7-E60B1DCFD8A2}"/>
              </a:ext>
            </a:extLst>
          </p:cNvPr>
          <p:cNvSpPr>
            <a:spLocks xmlns:a="http://schemas.openxmlformats.org/drawingml/2006/main" noGrp="1"/>
          </p:cNvSpPr>
          <p:nvPr/>
        </p:nvSpPr>
        <p:spPr>
          <a:xfrm xmlns:a="http://schemas.openxmlformats.org/drawingml/2006/main">
            <a:off x="777240" y="1783080"/>
            <a:ext cx="187452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5" name="Google Shape;215;p12">
            <a:extLst xmlns:a="http://schemas.openxmlformats.org/drawingml/2006/main">
              <a:ext uri="{FF2B5EF4-FFF2-40B4-BE49-F238E27FC236}">
                <a16:creationId xmlns:a16="http://schemas.microsoft.com/office/drawing/2014/main" id="{A829E4CA-63C3-43AD-91BE-06A5A50E91D7}"/>
              </a:ext>
            </a:extLst>
          </p:cNvPr>
          <p:cNvSpPr>
            <a:spLocks xmlns:a="http://schemas.openxmlformats.org/drawingml/2006/main" noGrp="1"/>
          </p:cNvSpPr>
          <p:nvPr/>
        </p:nvSpPr>
        <p:spPr>
          <a:xfrm xmlns:a="http://schemas.openxmlformats.org/drawingml/2006/main">
            <a:off x="868680" y="1865376"/>
            <a:ext cx="1691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STUDENT ACTIVITY</a:t>
            </a:r>
          </a:p>
        </p:txBody>
      </p:sp>
      <p:sp>
        <p:nvSpPr>
          <p:cNvPr id="216" name="Google Shape;216;p12">
            <a:extLst xmlns:a="http://schemas.openxmlformats.org/drawingml/2006/main">
              <a:ext uri="{FF2B5EF4-FFF2-40B4-BE49-F238E27FC236}">
                <a16:creationId xmlns:a16="http://schemas.microsoft.com/office/drawing/2014/main" id="{4A4E09A0-6FE0-4CFE-97A5-CB5EA48BACFF}"/>
              </a:ext>
            </a:extLst>
          </p:cNvPr>
          <p:cNvSpPr>
            <a:spLocks xmlns:a="http://schemas.openxmlformats.org/drawingml/2006/main" noGrp="1"/>
          </p:cNvSpPr>
          <p:nvPr/>
        </p:nvSpPr>
        <p:spPr>
          <a:xfrm xmlns:a="http://schemas.openxmlformats.org/drawingml/2006/main">
            <a:off x="868680" y="2331720"/>
            <a:ext cx="103327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100">
                <a:solidFill>
                  <a:srgbClr val="FFFFFF"/>
                </a:solidFill>
                <a:latin typeface="Arial"/>
                <a:ea typeface="Arial"/>
                <a:cs typeface="Arial"/>
              </a:rPr>
              <a:t>Start with one broad topic from your interest inventory.</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Narrow it step by step until you reach a question or problem that could produce evidence.</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1. Broad topic   2. Focused topic   3. Measurable outcome   4. Draft question or problem</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Use Student Handout 6: From Topic to Research Question.</a:t>
            </a:r>
          </a:p>
        </p:txBody>
      </p:sp>
    </p:spTree>
    <p:extLst>
      <p:ext uri="{BB962C8B-B14F-4D97-AF65-F5344CB8AC3E}">
        <p14:creationId xmlns:p14="http://schemas.microsoft.com/office/powerpoint/2010/main" val="607322635"/>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2" name="Google Shape;222;p13">
            <a:extLst xmlns:a="http://schemas.openxmlformats.org/drawingml/2006/main">
              <a:ext uri="{FF2B5EF4-FFF2-40B4-BE49-F238E27FC236}">
                <a16:creationId xmlns:a16="http://schemas.microsoft.com/office/drawing/2014/main" id="{D1ECA965-7423-4545-BB66-8D372F6C4D4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3" name="Google Shape;223;p13">
            <a:extLst xmlns:a="http://schemas.openxmlformats.org/drawingml/2006/main">
              <a:ext uri="{FF2B5EF4-FFF2-40B4-BE49-F238E27FC236}">
                <a16:creationId xmlns:a16="http://schemas.microsoft.com/office/drawing/2014/main" id="{396CE3C5-C346-4C85-8AD2-A2A00634E101}"/>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4" name="Google Shape;224;p13">
            <a:extLst xmlns:a="http://schemas.openxmlformats.org/drawingml/2006/main">
              <a:ext uri="{FF2B5EF4-FFF2-40B4-BE49-F238E27FC236}">
                <a16:creationId xmlns:a16="http://schemas.microsoft.com/office/drawing/2014/main" id="{388AE849-0AC5-41AE-8BA9-06F44117363A}"/>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5" name="Google Shape;225;p13">
            <a:extLst xmlns:a="http://schemas.openxmlformats.org/drawingml/2006/main">
              <a:ext uri="{FF2B5EF4-FFF2-40B4-BE49-F238E27FC236}">
                <a16:creationId xmlns:a16="http://schemas.microsoft.com/office/drawing/2014/main" id="{14D7508B-4EB1-4280-8488-53A678206913}"/>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QUESTION DEVELOPMENT</a:t>
            </a:r>
          </a:p>
        </p:txBody>
      </p:sp>
      <p:sp>
        <p:nvSpPr>
          <p:cNvPr id="226" name="Google Shape;226;p13">
            <a:extLst xmlns:a="http://schemas.openxmlformats.org/drawingml/2006/main">
              <a:ext uri="{FF2B5EF4-FFF2-40B4-BE49-F238E27FC236}">
                <a16:creationId xmlns:a16="http://schemas.microsoft.com/office/drawing/2014/main" id="{D81BDB0A-C6B5-480D-A2F4-3E3D3A5FD2C2}"/>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27" name="Google Shape;227;p13">
            <a:extLst xmlns:a="http://schemas.openxmlformats.org/drawingml/2006/main">
              <a:ext uri="{FF2B5EF4-FFF2-40B4-BE49-F238E27FC236}">
                <a16:creationId xmlns:a16="http://schemas.microsoft.com/office/drawing/2014/main" id="{49E34438-F127-41C4-ACD1-08E5868831A5}"/>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228" name="Google Shape;228;p13">
            <a:extLst xmlns:a="http://schemas.openxmlformats.org/drawingml/2006/main">
              <a:ext uri="{FF2B5EF4-FFF2-40B4-BE49-F238E27FC236}">
                <a16:creationId xmlns:a16="http://schemas.microsoft.com/office/drawing/2014/main" id="{9861C8C3-F0FF-41AD-91CD-3AFC25EAB03C}"/>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The Question Quality Test</a:t>
            </a:r>
          </a:p>
        </p:txBody>
      </p:sp>
      <p:sp>
        <p:nvSpPr>
          <p:cNvPr id="229" name="Google Shape;229;p13">
            <a:extLst xmlns:a="http://schemas.openxmlformats.org/drawingml/2006/main">
              <a:ext uri="{FF2B5EF4-FFF2-40B4-BE49-F238E27FC236}">
                <a16:creationId xmlns:a16="http://schemas.microsoft.com/office/drawing/2014/main" id="{CB5DFBB1-8B4D-4EE6-83B0-9647C55CF057}"/>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Before a project moves forward, the question must survive pressure.</a:t>
            </a:r>
          </a:p>
        </p:txBody>
      </p:sp>
      <p:cxnSp>
        <p:nvCxnSpPr>
          <p:cNvPr id="256" name="Google Shape;230;p13"/>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31" name="Google Shape;231;p13">
            <a:extLst xmlns:a="http://schemas.openxmlformats.org/drawingml/2006/main">
              <a:ext uri="{FF2B5EF4-FFF2-40B4-BE49-F238E27FC236}">
                <a16:creationId xmlns:a16="http://schemas.microsoft.com/office/drawing/2014/main" id="{64D140E7-BA98-4583-8D9F-CB22CA681408}"/>
              </a:ext>
            </a:extLst>
          </p:cNvPr>
          <p:cNvSpPr>
            <a:spLocks xmlns:a="http://schemas.openxmlformats.org/drawingml/2006/main" noGrp="1"/>
          </p:cNvSpPr>
          <p:nvPr/>
        </p:nvSpPr>
        <p:spPr>
          <a:xfrm xmlns:a="http://schemas.openxmlformats.org/drawingml/2006/main">
            <a:off x="822960" y="187452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2" name="Google Shape;232;p13">
            <a:extLst xmlns:a="http://schemas.openxmlformats.org/drawingml/2006/main">
              <a:ext uri="{FF2B5EF4-FFF2-40B4-BE49-F238E27FC236}">
                <a16:creationId xmlns:a16="http://schemas.microsoft.com/office/drawing/2014/main" id="{42FA278C-8F62-45CE-899C-21FF24C500C1}"/>
              </a:ext>
            </a:extLst>
          </p:cNvPr>
          <p:cNvSpPr>
            <a:spLocks xmlns:a="http://schemas.openxmlformats.org/drawingml/2006/main" noGrp="1"/>
          </p:cNvSpPr>
          <p:nvPr/>
        </p:nvSpPr>
        <p:spPr>
          <a:xfrm xmlns:a="http://schemas.openxmlformats.org/drawingml/2006/main">
            <a:off x="987552" y="203911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Specific</a:t>
            </a:r>
          </a:p>
        </p:txBody>
      </p:sp>
      <p:sp>
        <p:nvSpPr>
          <p:cNvPr id="233" name="Google Shape;233;p13">
            <a:extLst xmlns:a="http://schemas.openxmlformats.org/drawingml/2006/main">
              <a:ext uri="{FF2B5EF4-FFF2-40B4-BE49-F238E27FC236}">
                <a16:creationId xmlns:a16="http://schemas.microsoft.com/office/drawing/2014/main" id="{AC00F9E1-5BCC-4F78-9B45-E37C04C58B7E}"/>
              </a:ext>
            </a:extLst>
          </p:cNvPr>
          <p:cNvSpPr>
            <a:spLocks xmlns:a="http://schemas.openxmlformats.org/drawingml/2006/main" noGrp="1"/>
          </p:cNvSpPr>
          <p:nvPr/>
        </p:nvSpPr>
        <p:spPr>
          <a:xfrm xmlns:a="http://schemas.openxmlformats.org/drawingml/2006/main">
            <a:off x="3657600" y="187452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4" name="Google Shape;234;p13">
            <a:extLst xmlns:a="http://schemas.openxmlformats.org/drawingml/2006/main">
              <a:ext uri="{FF2B5EF4-FFF2-40B4-BE49-F238E27FC236}">
                <a16:creationId xmlns:a16="http://schemas.microsoft.com/office/drawing/2014/main" id="{5D2392CB-3B56-4D72-B236-469629D92C4E}"/>
              </a:ext>
            </a:extLst>
          </p:cNvPr>
          <p:cNvSpPr>
            <a:spLocks xmlns:a="http://schemas.openxmlformats.org/drawingml/2006/main" noGrp="1"/>
          </p:cNvSpPr>
          <p:nvPr/>
        </p:nvSpPr>
        <p:spPr>
          <a:xfrm xmlns:a="http://schemas.openxmlformats.org/drawingml/2006/main">
            <a:off x="3822192" y="203911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Testable</a:t>
            </a:r>
          </a:p>
        </p:txBody>
      </p:sp>
      <p:sp>
        <p:nvSpPr>
          <p:cNvPr id="235" name="Google Shape;235;p13">
            <a:extLst xmlns:a="http://schemas.openxmlformats.org/drawingml/2006/main">
              <a:ext uri="{FF2B5EF4-FFF2-40B4-BE49-F238E27FC236}">
                <a16:creationId xmlns:a16="http://schemas.microsoft.com/office/drawing/2014/main" id="{57395EF3-CBE7-4048-8EB9-B86D772BE5CE}"/>
              </a:ext>
            </a:extLst>
          </p:cNvPr>
          <p:cNvSpPr>
            <a:spLocks xmlns:a="http://schemas.openxmlformats.org/drawingml/2006/main" noGrp="1"/>
          </p:cNvSpPr>
          <p:nvPr/>
        </p:nvSpPr>
        <p:spPr>
          <a:xfrm xmlns:a="http://schemas.openxmlformats.org/drawingml/2006/main">
            <a:off x="6492240" y="187452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6" name="Google Shape;236;p13">
            <a:extLst xmlns:a="http://schemas.openxmlformats.org/drawingml/2006/main">
              <a:ext uri="{FF2B5EF4-FFF2-40B4-BE49-F238E27FC236}">
                <a16:creationId xmlns:a16="http://schemas.microsoft.com/office/drawing/2014/main" id="{3A660A4F-B420-41E3-BF0D-DB5509B2C107}"/>
              </a:ext>
            </a:extLst>
          </p:cNvPr>
          <p:cNvSpPr>
            <a:spLocks xmlns:a="http://schemas.openxmlformats.org/drawingml/2006/main" noGrp="1"/>
          </p:cNvSpPr>
          <p:nvPr/>
        </p:nvSpPr>
        <p:spPr>
          <a:xfrm xmlns:a="http://schemas.openxmlformats.org/drawingml/2006/main">
            <a:off x="6656832" y="203911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Measurable</a:t>
            </a:r>
          </a:p>
        </p:txBody>
      </p:sp>
      <p:sp>
        <p:nvSpPr>
          <p:cNvPr id="237" name="Google Shape;237;p13">
            <a:extLst xmlns:a="http://schemas.openxmlformats.org/drawingml/2006/main">
              <a:ext uri="{FF2B5EF4-FFF2-40B4-BE49-F238E27FC236}">
                <a16:creationId xmlns:a16="http://schemas.microsoft.com/office/drawing/2014/main" id="{905EAFC1-0BB2-4F90-A147-B7017F2E57B2}"/>
              </a:ext>
            </a:extLst>
          </p:cNvPr>
          <p:cNvSpPr>
            <a:spLocks xmlns:a="http://schemas.openxmlformats.org/drawingml/2006/main" noGrp="1"/>
          </p:cNvSpPr>
          <p:nvPr/>
        </p:nvSpPr>
        <p:spPr>
          <a:xfrm xmlns:a="http://schemas.openxmlformats.org/drawingml/2006/main">
            <a:off x="9326880" y="187452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8" name="Google Shape;238;p13">
            <a:extLst xmlns:a="http://schemas.openxmlformats.org/drawingml/2006/main">
              <a:ext uri="{FF2B5EF4-FFF2-40B4-BE49-F238E27FC236}">
                <a16:creationId xmlns:a16="http://schemas.microsoft.com/office/drawing/2014/main" id="{76DFB0D4-4C17-44F3-92AF-283569229FA8}"/>
              </a:ext>
            </a:extLst>
          </p:cNvPr>
          <p:cNvSpPr>
            <a:spLocks xmlns:a="http://schemas.openxmlformats.org/drawingml/2006/main" noGrp="1"/>
          </p:cNvSpPr>
          <p:nvPr/>
        </p:nvSpPr>
        <p:spPr>
          <a:xfrm xmlns:a="http://schemas.openxmlformats.org/drawingml/2006/main">
            <a:off x="9491472" y="203911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Feasible</a:t>
            </a:r>
          </a:p>
        </p:txBody>
      </p:sp>
      <p:sp>
        <p:nvSpPr>
          <p:cNvPr id="239" name="Google Shape;239;p13">
            <a:extLst xmlns:a="http://schemas.openxmlformats.org/drawingml/2006/main">
              <a:ext uri="{FF2B5EF4-FFF2-40B4-BE49-F238E27FC236}">
                <a16:creationId xmlns:a16="http://schemas.microsoft.com/office/drawing/2014/main" id="{CE4CE5AE-0B3E-4DBE-A77D-A01F174B16BE}"/>
              </a:ext>
            </a:extLst>
          </p:cNvPr>
          <p:cNvSpPr>
            <a:spLocks xmlns:a="http://schemas.openxmlformats.org/drawingml/2006/main" noGrp="1"/>
          </p:cNvSpPr>
          <p:nvPr/>
        </p:nvSpPr>
        <p:spPr>
          <a:xfrm xmlns:a="http://schemas.openxmlformats.org/drawingml/2006/main">
            <a:off x="822960" y="320040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0" name="Google Shape;240;p13">
            <a:extLst xmlns:a="http://schemas.openxmlformats.org/drawingml/2006/main">
              <a:ext uri="{FF2B5EF4-FFF2-40B4-BE49-F238E27FC236}">
                <a16:creationId xmlns:a16="http://schemas.microsoft.com/office/drawing/2014/main" id="{20CF2036-A2A9-4764-9C5F-0365ECB93DE9}"/>
              </a:ext>
            </a:extLst>
          </p:cNvPr>
          <p:cNvSpPr>
            <a:spLocks xmlns:a="http://schemas.openxmlformats.org/drawingml/2006/main" noGrp="1"/>
          </p:cNvSpPr>
          <p:nvPr/>
        </p:nvSpPr>
        <p:spPr>
          <a:xfrm xmlns:a="http://schemas.openxmlformats.org/drawingml/2006/main">
            <a:off x="987552" y="336499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Safe</a:t>
            </a:r>
          </a:p>
        </p:txBody>
      </p:sp>
      <p:sp>
        <p:nvSpPr>
          <p:cNvPr id="241" name="Google Shape;241;p13">
            <a:extLst xmlns:a="http://schemas.openxmlformats.org/drawingml/2006/main">
              <a:ext uri="{FF2B5EF4-FFF2-40B4-BE49-F238E27FC236}">
                <a16:creationId xmlns:a16="http://schemas.microsoft.com/office/drawing/2014/main" id="{7372CE2A-EA4B-4761-8E80-ACEF5C901B8B}"/>
              </a:ext>
            </a:extLst>
          </p:cNvPr>
          <p:cNvSpPr>
            <a:spLocks xmlns:a="http://schemas.openxmlformats.org/drawingml/2006/main" noGrp="1"/>
          </p:cNvSpPr>
          <p:nvPr/>
        </p:nvSpPr>
        <p:spPr>
          <a:xfrm xmlns:a="http://schemas.openxmlformats.org/drawingml/2006/main">
            <a:off x="3657600" y="320040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2" name="Google Shape;242;p13">
            <a:extLst xmlns:a="http://schemas.openxmlformats.org/drawingml/2006/main">
              <a:ext uri="{FF2B5EF4-FFF2-40B4-BE49-F238E27FC236}">
                <a16:creationId xmlns:a16="http://schemas.microsoft.com/office/drawing/2014/main" id="{E8405688-86B3-4581-B31E-02584773E920}"/>
              </a:ext>
            </a:extLst>
          </p:cNvPr>
          <p:cNvSpPr>
            <a:spLocks xmlns:a="http://schemas.openxmlformats.org/drawingml/2006/main" noGrp="1"/>
          </p:cNvSpPr>
          <p:nvPr/>
        </p:nvSpPr>
        <p:spPr>
          <a:xfrm xmlns:a="http://schemas.openxmlformats.org/drawingml/2006/main">
            <a:off x="3822192" y="336499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Ethical</a:t>
            </a:r>
          </a:p>
        </p:txBody>
      </p:sp>
      <p:sp>
        <p:nvSpPr>
          <p:cNvPr id="243" name="Google Shape;243;p13">
            <a:extLst xmlns:a="http://schemas.openxmlformats.org/drawingml/2006/main">
              <a:ext uri="{FF2B5EF4-FFF2-40B4-BE49-F238E27FC236}">
                <a16:creationId xmlns:a16="http://schemas.microsoft.com/office/drawing/2014/main" id="{B93E2DA4-2B1A-4FFA-B017-B9EF3BBB2611}"/>
              </a:ext>
            </a:extLst>
          </p:cNvPr>
          <p:cNvSpPr>
            <a:spLocks xmlns:a="http://schemas.openxmlformats.org/drawingml/2006/main" noGrp="1"/>
          </p:cNvSpPr>
          <p:nvPr/>
        </p:nvSpPr>
        <p:spPr>
          <a:xfrm xmlns:a="http://schemas.openxmlformats.org/drawingml/2006/main">
            <a:off x="6492240" y="320040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4" name="Google Shape;244;p13">
            <a:extLst xmlns:a="http://schemas.openxmlformats.org/drawingml/2006/main">
              <a:ext uri="{FF2B5EF4-FFF2-40B4-BE49-F238E27FC236}">
                <a16:creationId xmlns:a16="http://schemas.microsoft.com/office/drawing/2014/main" id="{60D8A708-AA55-4640-8C75-696838E9DEE9}"/>
              </a:ext>
            </a:extLst>
          </p:cNvPr>
          <p:cNvSpPr>
            <a:spLocks xmlns:a="http://schemas.openxmlformats.org/drawingml/2006/main" noGrp="1"/>
          </p:cNvSpPr>
          <p:nvPr/>
        </p:nvSpPr>
        <p:spPr>
          <a:xfrm xmlns:a="http://schemas.openxmlformats.org/drawingml/2006/main">
            <a:off x="6656832" y="336499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Not a copied demo</a:t>
            </a:r>
          </a:p>
        </p:txBody>
      </p:sp>
      <p:sp>
        <p:nvSpPr>
          <p:cNvPr id="245" name="Google Shape;245;p13">
            <a:extLst xmlns:a="http://schemas.openxmlformats.org/drawingml/2006/main">
              <a:ext uri="{FF2B5EF4-FFF2-40B4-BE49-F238E27FC236}">
                <a16:creationId xmlns:a16="http://schemas.microsoft.com/office/drawing/2014/main" id="{15BD0731-73D9-4ACC-A6D6-B0DCA614E223}"/>
              </a:ext>
            </a:extLst>
          </p:cNvPr>
          <p:cNvSpPr>
            <a:spLocks xmlns:a="http://schemas.openxmlformats.org/drawingml/2006/main" noGrp="1"/>
          </p:cNvSpPr>
          <p:nvPr/>
        </p:nvSpPr>
        <p:spPr>
          <a:xfrm xmlns:a="http://schemas.openxmlformats.org/drawingml/2006/main">
            <a:off x="9326880" y="3200400"/>
            <a:ext cx="233172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6" name="Google Shape;246;p13">
            <a:extLst xmlns:a="http://schemas.openxmlformats.org/drawingml/2006/main">
              <a:ext uri="{FF2B5EF4-FFF2-40B4-BE49-F238E27FC236}">
                <a16:creationId xmlns:a16="http://schemas.microsoft.com/office/drawing/2014/main" id="{66B5ADAA-38DE-4A95-A652-353EB21CFCFC}"/>
              </a:ext>
            </a:extLst>
          </p:cNvPr>
          <p:cNvSpPr>
            <a:spLocks xmlns:a="http://schemas.openxmlformats.org/drawingml/2006/main" noGrp="1"/>
          </p:cNvSpPr>
          <p:nvPr/>
        </p:nvSpPr>
        <p:spPr>
          <a:xfrm xmlns:a="http://schemas.openxmlformats.org/drawingml/2006/main">
            <a:off x="9491472" y="3364992"/>
            <a:ext cx="2002536" cy="649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a:solidFill>
                  <a:srgbClr val="FFFFFF"/>
                </a:solidFill>
                <a:latin typeface="Arial"/>
                <a:ea typeface="Arial"/>
                <a:cs typeface="Arial"/>
              </a:rPr>
              <a:t>Interesting enough for months</a:t>
            </a:r>
          </a:p>
        </p:txBody>
      </p:sp>
      <p:sp>
        <p:nvSpPr>
          <p:cNvPr id="247" name="Google Shape;247;p13">
            <a:extLst xmlns:a="http://schemas.openxmlformats.org/drawingml/2006/main">
              <a:ext uri="{FF2B5EF4-FFF2-40B4-BE49-F238E27FC236}">
                <a16:creationId xmlns:a16="http://schemas.microsoft.com/office/drawing/2014/main" id="{51CB3430-226E-493F-9BCF-6A670B7029F5}"/>
              </a:ext>
            </a:extLst>
          </p:cNvPr>
          <p:cNvSpPr>
            <a:spLocks xmlns:a="http://schemas.openxmlformats.org/drawingml/2006/main" noGrp="1"/>
          </p:cNvSpPr>
          <p:nvPr/>
        </p:nvSpPr>
        <p:spPr>
          <a:xfrm xmlns:a="http://schemas.openxmlformats.org/drawingml/2006/main">
            <a:off x="914400" y="4983480"/>
            <a:ext cx="103327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ctr">
              <a:spcBef>
                <a:spcPts val="0"/>
              </a:spcBef>
              <a:spcAft>
                <a:spcPts val="0"/>
              </a:spcAft>
              <a:buClr>
                <a:srgbClr val="FFFFFF"/>
              </a:buClr>
              <a:buSzPts val="2400"/>
              <a:buFont typeface="Play"/>
              <a:buNone/>
            </a:pPr>
            <a:r>
              <a:rPr sz="2400" b="1">
                <a:solidFill>
                  <a:srgbClr val="FFFFFF"/>
                </a:solidFill>
                <a:latin typeface="Play"/>
                <a:ea typeface="Play"/>
                <a:cs typeface="Play"/>
              </a:rPr>
              <a:t>If one category fails, revise the question before building the project.</a:t>
            </a:r>
          </a:p>
        </p:txBody>
      </p:sp>
    </p:spTree>
    <p:extLst>
      <p:ext uri="{BB962C8B-B14F-4D97-AF65-F5344CB8AC3E}">
        <p14:creationId xmlns:p14="http://schemas.microsoft.com/office/powerpoint/2010/main" val="300158735"/>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53" name="Google Shape;253;p14">
            <a:extLst xmlns:a="http://schemas.openxmlformats.org/drawingml/2006/main">
              <a:ext uri="{FF2B5EF4-FFF2-40B4-BE49-F238E27FC236}">
                <a16:creationId xmlns:a16="http://schemas.microsoft.com/office/drawing/2014/main" id="{BA9519CF-9919-4686-9B52-8BABAEC71FA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4" name="Google Shape;254;p14">
            <a:extLst xmlns:a="http://schemas.openxmlformats.org/drawingml/2006/main">
              <a:ext uri="{FF2B5EF4-FFF2-40B4-BE49-F238E27FC236}">
                <a16:creationId xmlns:a16="http://schemas.microsoft.com/office/drawing/2014/main" id="{8B3B3ED9-FD7D-42D4-9D5D-C3496442ED77}"/>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5" name="Google Shape;255;p14">
            <a:extLst xmlns:a="http://schemas.openxmlformats.org/drawingml/2006/main">
              <a:ext uri="{FF2B5EF4-FFF2-40B4-BE49-F238E27FC236}">
                <a16:creationId xmlns:a16="http://schemas.microsoft.com/office/drawing/2014/main" id="{0F0A0A11-F2BC-478B-98F1-38FF21C0044F}"/>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6" name="Google Shape;256;p14">
            <a:extLst xmlns:a="http://schemas.openxmlformats.org/drawingml/2006/main">
              <a:ext uri="{FF2B5EF4-FFF2-40B4-BE49-F238E27FC236}">
                <a16:creationId xmlns:a16="http://schemas.microsoft.com/office/drawing/2014/main" id="{04A04066-1B13-4E49-B082-0DBD8404FA42}"/>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STUDENT ACTIVITY</a:t>
            </a:r>
          </a:p>
        </p:txBody>
      </p:sp>
      <p:sp>
        <p:nvSpPr>
          <p:cNvPr id="257" name="Google Shape;257;p14">
            <a:extLst xmlns:a="http://schemas.openxmlformats.org/drawingml/2006/main">
              <a:ext uri="{FF2B5EF4-FFF2-40B4-BE49-F238E27FC236}">
                <a16:creationId xmlns:a16="http://schemas.microsoft.com/office/drawing/2014/main" id="{0C00E399-F9BC-470F-A467-535BE0380A7B}"/>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58" name="Google Shape;258;p14">
            <a:extLst xmlns:a="http://schemas.openxmlformats.org/drawingml/2006/main">
              <a:ext uri="{FF2B5EF4-FFF2-40B4-BE49-F238E27FC236}">
                <a16:creationId xmlns:a16="http://schemas.microsoft.com/office/drawing/2014/main" id="{767CEA35-FB2A-460E-B2E2-D863DA79A9A3}"/>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259" name="Google Shape;259;p14">
            <a:extLst xmlns:a="http://schemas.openxmlformats.org/drawingml/2006/main">
              <a:ext uri="{FF2B5EF4-FFF2-40B4-BE49-F238E27FC236}">
                <a16:creationId xmlns:a16="http://schemas.microsoft.com/office/drawing/2014/main" id="{39DA94C4-1D47-4046-9ACE-4443B1FFFF1A}"/>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Sort the Project Ideas</a:t>
            </a:r>
          </a:p>
        </p:txBody>
      </p:sp>
      <p:sp>
        <p:nvSpPr>
          <p:cNvPr id="260" name="Google Shape;260;p14">
            <a:extLst xmlns:a="http://schemas.openxmlformats.org/drawingml/2006/main">
              <a:ext uri="{FF2B5EF4-FFF2-40B4-BE49-F238E27FC236}">
                <a16:creationId xmlns:a16="http://schemas.microsoft.com/office/drawing/2014/main" id="{6C8A72E7-671F-4033-9F11-E0354671AE3C}"/>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10 minutes • Unit 1 Week 2</a:t>
            </a:r>
          </a:p>
        </p:txBody>
      </p:sp>
      <p:cxnSp>
        <p:nvCxnSpPr>
          <p:cNvPr id="273" name="Google Shape;261;p14"/>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62" name="Google Shape;262;p14">
            <a:extLst xmlns:a="http://schemas.openxmlformats.org/drawingml/2006/main">
              <a:ext uri="{FF2B5EF4-FFF2-40B4-BE49-F238E27FC236}">
                <a16:creationId xmlns:a16="http://schemas.microsoft.com/office/drawing/2014/main" id="{06497362-FE30-406D-8985-B6D8965BC0A6}"/>
              </a:ext>
            </a:extLst>
          </p:cNvPr>
          <p:cNvSpPr>
            <a:spLocks xmlns:a="http://schemas.openxmlformats.org/drawingml/2006/main" noGrp="1"/>
          </p:cNvSpPr>
          <p:nvPr/>
        </p:nvSpPr>
        <p:spPr>
          <a:xfrm xmlns:a="http://schemas.openxmlformats.org/drawingml/2006/main">
            <a:off x="777240" y="1783080"/>
            <a:ext cx="187452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3" name="Google Shape;263;p14">
            <a:extLst xmlns:a="http://schemas.openxmlformats.org/drawingml/2006/main">
              <a:ext uri="{FF2B5EF4-FFF2-40B4-BE49-F238E27FC236}">
                <a16:creationId xmlns:a16="http://schemas.microsoft.com/office/drawing/2014/main" id="{72831A54-1EA4-4D18-A05A-6D2266A88BED}"/>
              </a:ext>
            </a:extLst>
          </p:cNvPr>
          <p:cNvSpPr>
            <a:spLocks xmlns:a="http://schemas.openxmlformats.org/drawingml/2006/main" noGrp="1"/>
          </p:cNvSpPr>
          <p:nvPr/>
        </p:nvSpPr>
        <p:spPr>
          <a:xfrm xmlns:a="http://schemas.openxmlformats.org/drawingml/2006/main">
            <a:off x="868680" y="1865376"/>
            <a:ext cx="1691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STUDENT ACTIVITY</a:t>
            </a:r>
          </a:p>
        </p:txBody>
      </p:sp>
      <p:sp>
        <p:nvSpPr>
          <p:cNvPr id="264" name="Google Shape;264;p14">
            <a:extLst xmlns:a="http://schemas.openxmlformats.org/drawingml/2006/main">
              <a:ext uri="{FF2B5EF4-FFF2-40B4-BE49-F238E27FC236}">
                <a16:creationId xmlns:a16="http://schemas.microsoft.com/office/drawing/2014/main" id="{C9EC500A-641B-439B-AE80-DED51F43DAA1}"/>
              </a:ext>
            </a:extLst>
          </p:cNvPr>
          <p:cNvSpPr>
            <a:spLocks xmlns:a="http://schemas.openxmlformats.org/drawingml/2006/main" noGrp="1"/>
          </p:cNvSpPr>
          <p:nvPr/>
        </p:nvSpPr>
        <p:spPr>
          <a:xfrm xmlns:a="http://schemas.openxmlformats.org/drawingml/2006/main">
            <a:off x="868680" y="2331720"/>
            <a:ext cx="103327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100">
                <a:solidFill>
                  <a:srgbClr val="FFFFFF"/>
                </a:solidFill>
                <a:latin typeface="Arial"/>
                <a:ea typeface="Arial"/>
                <a:cs typeface="Arial"/>
              </a:rPr>
              <a:t>In groups, sort each idea into one category: not research yet, needs refinement, strong direction, engineering design, or red flag.</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Be ready to defend your choice.</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Then revise one weak idea into a stronger version.</a:t>
            </a:r>
          </a:p>
        </p:txBody>
      </p:sp>
    </p:spTree>
    <p:extLst>
      <p:ext uri="{BB962C8B-B14F-4D97-AF65-F5344CB8AC3E}">
        <p14:creationId xmlns:p14="http://schemas.microsoft.com/office/powerpoint/2010/main" val="1705351840"/>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70" name="Google Shape;270;p15">
            <a:extLst xmlns:a="http://schemas.openxmlformats.org/drawingml/2006/main">
              <a:ext uri="{FF2B5EF4-FFF2-40B4-BE49-F238E27FC236}">
                <a16:creationId xmlns:a16="http://schemas.microsoft.com/office/drawing/2014/main" id="{40D6F164-F82D-4908-8EA4-911566890E4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1" name="Google Shape;271;p15">
            <a:extLst xmlns:a="http://schemas.openxmlformats.org/drawingml/2006/main">
              <a:ext uri="{FF2B5EF4-FFF2-40B4-BE49-F238E27FC236}">
                <a16:creationId xmlns:a16="http://schemas.microsoft.com/office/drawing/2014/main" id="{B94B001D-4EA3-4606-AAB5-1D6D364A9D52}"/>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2" name="Google Shape;272;p15">
            <a:extLst xmlns:a="http://schemas.openxmlformats.org/drawingml/2006/main">
              <a:ext uri="{FF2B5EF4-FFF2-40B4-BE49-F238E27FC236}">
                <a16:creationId xmlns:a16="http://schemas.microsoft.com/office/drawing/2014/main" id="{6A185168-98D9-4818-9F5F-E67EC9E54382}"/>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3" name="Google Shape;273;p15">
            <a:extLst xmlns:a="http://schemas.openxmlformats.org/drawingml/2006/main">
              <a:ext uri="{FF2B5EF4-FFF2-40B4-BE49-F238E27FC236}">
                <a16:creationId xmlns:a16="http://schemas.microsoft.com/office/drawing/2014/main" id="{391731F1-7C66-4792-82D3-1058DEF87C2F}"/>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SAFETY &amp; ETHICS</a:t>
            </a:r>
          </a:p>
        </p:txBody>
      </p:sp>
      <p:sp>
        <p:nvSpPr>
          <p:cNvPr id="274" name="Google Shape;274;p15">
            <a:extLst xmlns:a="http://schemas.openxmlformats.org/drawingml/2006/main">
              <a:ext uri="{FF2B5EF4-FFF2-40B4-BE49-F238E27FC236}">
                <a16:creationId xmlns:a16="http://schemas.microsoft.com/office/drawing/2014/main" id="{9310D7F3-4698-4E98-9D8A-FCB1A1E303C3}"/>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75" name="Google Shape;275;p15">
            <a:extLst xmlns:a="http://schemas.openxmlformats.org/drawingml/2006/main">
              <a:ext uri="{FF2B5EF4-FFF2-40B4-BE49-F238E27FC236}">
                <a16:creationId xmlns:a16="http://schemas.microsoft.com/office/drawing/2014/main" id="{38E33C01-762F-4ACD-9AA3-758AE2E72CD7}"/>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276" name="Google Shape;276;p15">
            <a:extLst xmlns:a="http://schemas.openxmlformats.org/drawingml/2006/main">
              <a:ext uri="{FF2B5EF4-FFF2-40B4-BE49-F238E27FC236}">
                <a16:creationId xmlns:a16="http://schemas.microsoft.com/office/drawing/2014/main" id="{01965FC7-38C6-41F8-8F5D-1AAEEC627D33}"/>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Some Ideas Need Guardrails</a:t>
            </a:r>
          </a:p>
        </p:txBody>
      </p:sp>
      <p:sp>
        <p:nvSpPr>
          <p:cNvPr id="277" name="Google Shape;277;p15">
            <a:extLst xmlns:a="http://schemas.openxmlformats.org/drawingml/2006/main">
              <a:ext uri="{FF2B5EF4-FFF2-40B4-BE49-F238E27FC236}">
                <a16:creationId xmlns:a16="http://schemas.microsoft.com/office/drawing/2014/main" id="{FFA5A9D8-931E-466E-B3D2-3A42DDE78C86}"/>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Curiosity does not override safety or ethics.</a:t>
            </a:r>
          </a:p>
        </p:txBody>
      </p:sp>
      <p:cxnSp>
        <p:nvCxnSpPr>
          <p:cNvPr id="289" name="Google Shape;278;p15"/>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79" name="Google Shape;279;p15">
            <a:extLst xmlns:a="http://schemas.openxmlformats.org/drawingml/2006/main">
              <a:ext uri="{FF2B5EF4-FFF2-40B4-BE49-F238E27FC236}">
                <a16:creationId xmlns:a16="http://schemas.microsoft.com/office/drawing/2014/main" id="{3B4D8EA0-601E-433B-BFF6-710A656A18F2}"/>
              </a:ext>
            </a:extLst>
          </p:cNvPr>
          <p:cNvSpPr>
            <a:spLocks xmlns:a="http://schemas.openxmlformats.org/drawingml/2006/main" noGrp="1"/>
          </p:cNvSpPr>
          <p:nvPr/>
        </p:nvSpPr>
        <p:spPr>
          <a:xfrm xmlns:a="http://schemas.openxmlformats.org/drawingml/2006/main">
            <a:off x="1005840" y="1828800"/>
            <a:ext cx="9875520" cy="3108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300">
                <a:solidFill>
                  <a:srgbClr val="FFFFFF"/>
                </a:solidFill>
                <a:latin typeface="Arial"/>
                <a:ea typeface="Arial"/>
                <a:cs typeface="Arial"/>
              </a:rPr>
              <a:t>Human subjects or private data</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Vertebrate animals</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Unknown microorganisms</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Hazardous chemicals or tools</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Medical claims or treatments</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Projects that require deception</a:t>
            </a:r>
          </a:p>
        </p:txBody>
      </p:sp>
      <p:sp>
        <p:nvSpPr>
          <p:cNvPr id="280" name="Google Shape;280;p15">
            <a:extLst xmlns:a="http://schemas.openxmlformats.org/drawingml/2006/main">
              <a:ext uri="{FF2B5EF4-FFF2-40B4-BE49-F238E27FC236}">
                <a16:creationId xmlns:a16="http://schemas.microsoft.com/office/drawing/2014/main" id="{09841182-C740-47D4-9A2F-B375C8DBA1B6}"/>
              </a:ext>
            </a:extLst>
          </p:cNvPr>
          <p:cNvSpPr>
            <a:spLocks xmlns:a="http://schemas.openxmlformats.org/drawingml/2006/main" noGrp="1"/>
          </p:cNvSpPr>
          <p:nvPr/>
        </p:nvSpPr>
        <p:spPr>
          <a:xfrm xmlns:a="http://schemas.openxmlformats.org/drawingml/2006/main">
            <a:off x="914400" y="5166360"/>
            <a:ext cx="103327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ctr">
              <a:spcBef>
                <a:spcPts val="0"/>
              </a:spcBef>
              <a:spcAft>
                <a:spcPts val="0"/>
              </a:spcAft>
              <a:buClr>
                <a:srgbClr val="FFFFFF"/>
              </a:buClr>
              <a:buSzPts val="2400"/>
              <a:buFont typeface="Play"/>
              <a:buNone/>
            </a:pPr>
            <a:r>
              <a:rPr sz="2400" b="1">
                <a:solidFill>
                  <a:srgbClr val="FFFFFF"/>
                </a:solidFill>
                <a:latin typeface="Play"/>
                <a:ea typeface="Play"/>
                <a:cs typeface="Play"/>
              </a:rPr>
              <a:t>Red flag does not always mean “no.” It means “review before doing.”</a:t>
            </a:r>
          </a:p>
        </p:txBody>
      </p:sp>
    </p:spTree>
    <p:extLst>
      <p:ext uri="{BB962C8B-B14F-4D97-AF65-F5344CB8AC3E}">
        <p14:creationId xmlns:p14="http://schemas.microsoft.com/office/powerpoint/2010/main" val="379194565"/>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86" name="Google Shape;286;p16">
            <a:extLst xmlns:a="http://schemas.openxmlformats.org/drawingml/2006/main">
              <a:ext uri="{FF2B5EF4-FFF2-40B4-BE49-F238E27FC236}">
                <a16:creationId xmlns:a16="http://schemas.microsoft.com/office/drawing/2014/main" id="{47F23015-E382-447C-B7F2-FF02FCF1E96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7" name="Google Shape;287;p16">
            <a:extLst xmlns:a="http://schemas.openxmlformats.org/drawingml/2006/main">
              <a:ext uri="{FF2B5EF4-FFF2-40B4-BE49-F238E27FC236}">
                <a16:creationId xmlns:a16="http://schemas.microsoft.com/office/drawing/2014/main" id="{DFB2BB3A-003F-40AB-B662-35A502F25CAB}"/>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8" name="Google Shape;288;p16">
            <a:extLst xmlns:a="http://schemas.openxmlformats.org/drawingml/2006/main">
              <a:ext uri="{FF2B5EF4-FFF2-40B4-BE49-F238E27FC236}">
                <a16:creationId xmlns:a16="http://schemas.microsoft.com/office/drawing/2014/main" id="{A9345FB7-6533-4CA5-9A4A-E3189344B097}"/>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9" name="Google Shape;289;p16">
            <a:extLst xmlns:a="http://schemas.openxmlformats.org/drawingml/2006/main">
              <a:ext uri="{FF2B5EF4-FFF2-40B4-BE49-F238E27FC236}">
                <a16:creationId xmlns:a16="http://schemas.microsoft.com/office/drawing/2014/main" id="{10A37D42-EC00-4D6F-A84F-14EE48E5304C}"/>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QUESTION DEVELOPMENT</a:t>
            </a:r>
          </a:p>
        </p:txBody>
      </p:sp>
      <p:sp>
        <p:nvSpPr>
          <p:cNvPr id="290" name="Google Shape;290;p16">
            <a:extLst xmlns:a="http://schemas.openxmlformats.org/drawingml/2006/main">
              <a:ext uri="{FF2B5EF4-FFF2-40B4-BE49-F238E27FC236}">
                <a16:creationId xmlns:a16="http://schemas.microsoft.com/office/drawing/2014/main" id="{220D2A72-B4FC-4E63-9F36-0D065B4472BB}"/>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91" name="Google Shape;291;p16">
            <a:extLst xmlns:a="http://schemas.openxmlformats.org/drawingml/2006/main">
              <a:ext uri="{FF2B5EF4-FFF2-40B4-BE49-F238E27FC236}">
                <a16:creationId xmlns:a16="http://schemas.microsoft.com/office/drawing/2014/main" id="{310E3F79-3562-4C82-A9BB-7F53277CE879}"/>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292" name="Google Shape;292;p16">
            <a:extLst xmlns:a="http://schemas.openxmlformats.org/drawingml/2006/main">
              <a:ext uri="{FF2B5EF4-FFF2-40B4-BE49-F238E27FC236}">
                <a16:creationId xmlns:a16="http://schemas.microsoft.com/office/drawing/2014/main" id="{0C5DE4B0-F56E-48CD-BFDB-1740DCAD484B}"/>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Five Upgrade Moves</a:t>
            </a:r>
          </a:p>
        </p:txBody>
      </p:sp>
      <p:sp>
        <p:nvSpPr>
          <p:cNvPr id="293" name="Google Shape;293;p16">
            <a:extLst xmlns:a="http://schemas.openxmlformats.org/drawingml/2006/main">
              <a:ext uri="{FF2B5EF4-FFF2-40B4-BE49-F238E27FC236}">
                <a16:creationId xmlns:a16="http://schemas.microsoft.com/office/drawing/2014/main" id="{68C36786-072C-4CE2-97BE-448D4AB0870B}"/>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Use these whenever a question feels vague.</a:t>
            </a:r>
          </a:p>
        </p:txBody>
      </p:sp>
      <p:cxnSp>
        <p:nvCxnSpPr>
          <p:cNvPr id="318" name="Google Shape;294;p16"/>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95" name="Google Shape;295;p16">
            <a:extLst xmlns:a="http://schemas.openxmlformats.org/drawingml/2006/main">
              <a:ext uri="{FF2B5EF4-FFF2-40B4-BE49-F238E27FC236}">
                <a16:creationId xmlns:a16="http://schemas.microsoft.com/office/drawing/2014/main" id="{F3079AD5-A7CB-4C73-9701-96E442D8DAC0}"/>
              </a:ext>
            </a:extLst>
          </p:cNvPr>
          <p:cNvSpPr>
            <a:spLocks xmlns:a="http://schemas.openxmlformats.org/drawingml/2006/main" noGrp="1"/>
          </p:cNvSpPr>
          <p:nvPr/>
        </p:nvSpPr>
        <p:spPr>
          <a:xfrm xmlns:a="http://schemas.openxmlformats.org/drawingml/2006/main">
            <a:off x="777240" y="1828800"/>
            <a:ext cx="2148840" cy="2697480"/>
          </a:xfrm>
          <a:prstGeom xmlns:a="http://schemas.openxmlformats.org/drawingml/2006/main" prst="roundRect">
            <a:avLst>
              <a:gd name="adj" fmla="val 2553"/>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6" name="Google Shape;296;p16">
            <a:extLst xmlns:a="http://schemas.openxmlformats.org/drawingml/2006/main">
              <a:ext uri="{FF2B5EF4-FFF2-40B4-BE49-F238E27FC236}">
                <a16:creationId xmlns:a16="http://schemas.microsoft.com/office/drawing/2014/main" id="{BEA246CB-11E7-42BE-9451-80FBA8363FB1}"/>
              </a:ext>
            </a:extLst>
          </p:cNvPr>
          <p:cNvSpPr>
            <a:spLocks xmlns:a="http://schemas.openxmlformats.org/drawingml/2006/main" noGrp="1"/>
          </p:cNvSpPr>
          <p:nvPr/>
        </p:nvSpPr>
        <p:spPr>
          <a:xfrm xmlns:a="http://schemas.openxmlformats.org/drawingml/2006/main">
            <a:off x="941832" y="1965960"/>
            <a:ext cx="18196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ADD A MEASURABLE OUTCOME</a:t>
            </a:r>
          </a:p>
        </p:txBody>
      </p:sp>
      <p:sp>
        <p:nvSpPr>
          <p:cNvPr id="297" name="Google Shape;297;p16">
            <a:extLst xmlns:a="http://schemas.openxmlformats.org/drawingml/2006/main">
              <a:ext uri="{FF2B5EF4-FFF2-40B4-BE49-F238E27FC236}">
                <a16:creationId xmlns:a16="http://schemas.microsoft.com/office/drawing/2014/main" id="{912B2595-4A49-4F47-9A54-D5FB06E956F2}"/>
              </a:ext>
            </a:extLst>
          </p:cNvPr>
          <p:cNvSpPr>
            <a:spLocks xmlns:a="http://schemas.openxmlformats.org/drawingml/2006/main" noGrp="1"/>
          </p:cNvSpPr>
          <p:nvPr/>
        </p:nvSpPr>
        <p:spPr>
          <a:xfrm xmlns:a="http://schemas.openxmlformats.org/drawingml/2006/main">
            <a:off x="941832" y="2331720"/>
            <a:ext cx="1819656" cy="20391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“better” → “load supported per gram”</a:t>
            </a:r>
          </a:p>
        </p:txBody>
      </p:sp>
      <p:sp>
        <p:nvSpPr>
          <p:cNvPr id="298" name="Google Shape;298;p16">
            <a:extLst xmlns:a="http://schemas.openxmlformats.org/drawingml/2006/main">
              <a:ext uri="{FF2B5EF4-FFF2-40B4-BE49-F238E27FC236}">
                <a16:creationId xmlns:a16="http://schemas.microsoft.com/office/drawing/2014/main" id="{FCDE2A4C-44A7-43D5-BD6F-437F4C6EA2BE}"/>
              </a:ext>
            </a:extLst>
          </p:cNvPr>
          <p:cNvSpPr>
            <a:spLocks xmlns:a="http://schemas.openxmlformats.org/drawingml/2006/main" noGrp="1"/>
          </p:cNvSpPr>
          <p:nvPr/>
        </p:nvSpPr>
        <p:spPr>
          <a:xfrm xmlns:a="http://schemas.openxmlformats.org/drawingml/2006/main">
            <a:off x="3063240" y="1828800"/>
            <a:ext cx="2148840" cy="2697480"/>
          </a:xfrm>
          <a:prstGeom xmlns:a="http://schemas.openxmlformats.org/drawingml/2006/main" prst="roundRect">
            <a:avLst>
              <a:gd name="adj" fmla="val 2553"/>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9" name="Google Shape;299;p16">
            <a:extLst xmlns:a="http://schemas.openxmlformats.org/drawingml/2006/main">
              <a:ext uri="{FF2B5EF4-FFF2-40B4-BE49-F238E27FC236}">
                <a16:creationId xmlns:a16="http://schemas.microsoft.com/office/drawing/2014/main" id="{37E42C95-37F5-4255-A989-69DDB831412B}"/>
              </a:ext>
            </a:extLst>
          </p:cNvPr>
          <p:cNvSpPr>
            <a:spLocks xmlns:a="http://schemas.openxmlformats.org/drawingml/2006/main" noGrp="1"/>
          </p:cNvSpPr>
          <p:nvPr/>
        </p:nvSpPr>
        <p:spPr>
          <a:xfrm xmlns:a="http://schemas.openxmlformats.org/drawingml/2006/main">
            <a:off x="3227832" y="1965960"/>
            <a:ext cx="18196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ADD A COMPARISON</a:t>
            </a:r>
          </a:p>
        </p:txBody>
      </p:sp>
      <p:sp>
        <p:nvSpPr>
          <p:cNvPr id="300" name="Google Shape;300;p16">
            <a:extLst xmlns:a="http://schemas.openxmlformats.org/drawingml/2006/main">
              <a:ext uri="{FF2B5EF4-FFF2-40B4-BE49-F238E27FC236}">
                <a16:creationId xmlns:a16="http://schemas.microsoft.com/office/drawing/2014/main" id="{3FA7F680-2E00-4364-A84C-9F8F277D7B25}"/>
              </a:ext>
            </a:extLst>
          </p:cNvPr>
          <p:cNvSpPr>
            <a:spLocks xmlns:a="http://schemas.openxmlformats.org/drawingml/2006/main" noGrp="1"/>
          </p:cNvSpPr>
          <p:nvPr/>
        </p:nvSpPr>
        <p:spPr>
          <a:xfrm xmlns:a="http://schemas.openxmlformats.org/drawingml/2006/main">
            <a:off x="3227832" y="2331720"/>
            <a:ext cx="1819656" cy="20391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one design → two or more designs</a:t>
            </a:r>
          </a:p>
        </p:txBody>
      </p:sp>
      <p:sp>
        <p:nvSpPr>
          <p:cNvPr id="301" name="Google Shape;301;p16">
            <a:extLst xmlns:a="http://schemas.openxmlformats.org/drawingml/2006/main">
              <a:ext uri="{FF2B5EF4-FFF2-40B4-BE49-F238E27FC236}">
                <a16:creationId xmlns:a16="http://schemas.microsoft.com/office/drawing/2014/main" id="{A74E2B3E-A0A9-43A5-9610-D7D19B679688}"/>
              </a:ext>
            </a:extLst>
          </p:cNvPr>
          <p:cNvSpPr>
            <a:spLocks xmlns:a="http://schemas.openxmlformats.org/drawingml/2006/main" noGrp="1"/>
          </p:cNvSpPr>
          <p:nvPr/>
        </p:nvSpPr>
        <p:spPr>
          <a:xfrm xmlns:a="http://schemas.openxmlformats.org/drawingml/2006/main">
            <a:off x="5349240" y="1828800"/>
            <a:ext cx="2148840" cy="2697480"/>
          </a:xfrm>
          <a:prstGeom xmlns:a="http://schemas.openxmlformats.org/drawingml/2006/main" prst="roundRect">
            <a:avLst>
              <a:gd name="adj" fmla="val 2553"/>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2" name="Google Shape;302;p16">
            <a:extLst xmlns:a="http://schemas.openxmlformats.org/drawingml/2006/main">
              <a:ext uri="{FF2B5EF4-FFF2-40B4-BE49-F238E27FC236}">
                <a16:creationId xmlns:a16="http://schemas.microsoft.com/office/drawing/2014/main" id="{3AB8EC7E-EF1E-47EF-B757-39B41E0896B6}"/>
              </a:ext>
            </a:extLst>
          </p:cNvPr>
          <p:cNvSpPr>
            <a:spLocks xmlns:a="http://schemas.openxmlformats.org/drawingml/2006/main" noGrp="1"/>
          </p:cNvSpPr>
          <p:nvPr/>
        </p:nvSpPr>
        <p:spPr>
          <a:xfrm xmlns:a="http://schemas.openxmlformats.org/drawingml/2006/main">
            <a:off x="5513832" y="1965960"/>
            <a:ext cx="18196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ADD A TIME FRAME</a:t>
            </a:r>
          </a:p>
        </p:txBody>
      </p:sp>
      <p:sp>
        <p:nvSpPr>
          <p:cNvPr id="303" name="Google Shape;303;p16">
            <a:extLst xmlns:a="http://schemas.openxmlformats.org/drawingml/2006/main">
              <a:ext uri="{FF2B5EF4-FFF2-40B4-BE49-F238E27FC236}">
                <a16:creationId xmlns:a16="http://schemas.microsoft.com/office/drawing/2014/main" id="{A6458667-1F2E-4F60-91CD-8E51A5305975}"/>
              </a:ext>
            </a:extLst>
          </p:cNvPr>
          <p:cNvSpPr>
            <a:spLocks xmlns:a="http://schemas.openxmlformats.org/drawingml/2006/main" noGrp="1"/>
          </p:cNvSpPr>
          <p:nvPr/>
        </p:nvSpPr>
        <p:spPr>
          <a:xfrm xmlns:a="http://schemas.openxmlformats.org/drawingml/2006/main">
            <a:off x="5513832" y="2331720"/>
            <a:ext cx="1819656" cy="20391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eventually → over four weeks</a:t>
            </a:r>
          </a:p>
        </p:txBody>
      </p:sp>
      <p:sp>
        <p:nvSpPr>
          <p:cNvPr id="304" name="Google Shape;304;p16">
            <a:extLst xmlns:a="http://schemas.openxmlformats.org/drawingml/2006/main">
              <a:ext uri="{FF2B5EF4-FFF2-40B4-BE49-F238E27FC236}">
                <a16:creationId xmlns:a16="http://schemas.microsoft.com/office/drawing/2014/main" id="{3024E3FF-FFFB-42B5-A53F-E307BC499C01}"/>
              </a:ext>
            </a:extLst>
          </p:cNvPr>
          <p:cNvSpPr>
            <a:spLocks xmlns:a="http://schemas.openxmlformats.org/drawingml/2006/main" noGrp="1"/>
          </p:cNvSpPr>
          <p:nvPr/>
        </p:nvSpPr>
        <p:spPr>
          <a:xfrm xmlns:a="http://schemas.openxmlformats.org/drawingml/2006/main">
            <a:off x="7635240" y="1828800"/>
            <a:ext cx="2148840" cy="2697480"/>
          </a:xfrm>
          <a:prstGeom xmlns:a="http://schemas.openxmlformats.org/drawingml/2006/main" prst="roundRect">
            <a:avLst>
              <a:gd name="adj" fmla="val 2553"/>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5" name="Google Shape;305;p16">
            <a:extLst xmlns:a="http://schemas.openxmlformats.org/drawingml/2006/main">
              <a:ext uri="{FF2B5EF4-FFF2-40B4-BE49-F238E27FC236}">
                <a16:creationId xmlns:a16="http://schemas.microsoft.com/office/drawing/2014/main" id="{F6CB36A8-B612-4753-9798-9DAE52CEE0EF}"/>
              </a:ext>
            </a:extLst>
          </p:cNvPr>
          <p:cNvSpPr>
            <a:spLocks xmlns:a="http://schemas.openxmlformats.org/drawingml/2006/main" noGrp="1"/>
          </p:cNvSpPr>
          <p:nvPr/>
        </p:nvSpPr>
        <p:spPr>
          <a:xfrm xmlns:a="http://schemas.openxmlformats.org/drawingml/2006/main">
            <a:off x="7799832" y="1965960"/>
            <a:ext cx="18196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NARROW THE SYSTEM</a:t>
            </a:r>
          </a:p>
        </p:txBody>
      </p:sp>
      <p:sp>
        <p:nvSpPr>
          <p:cNvPr id="306" name="Google Shape;306;p16">
            <a:extLst xmlns:a="http://schemas.openxmlformats.org/drawingml/2006/main">
              <a:ext uri="{FF2B5EF4-FFF2-40B4-BE49-F238E27FC236}">
                <a16:creationId xmlns:a16="http://schemas.microsoft.com/office/drawing/2014/main" id="{01F38375-F5CC-4F38-8D56-1609DD0AA85A}"/>
              </a:ext>
            </a:extLst>
          </p:cNvPr>
          <p:cNvSpPr>
            <a:spLocks xmlns:a="http://schemas.openxmlformats.org/drawingml/2006/main" noGrp="1"/>
          </p:cNvSpPr>
          <p:nvPr/>
        </p:nvSpPr>
        <p:spPr>
          <a:xfrm xmlns:a="http://schemas.openxmlformats.org/drawingml/2006/main">
            <a:off x="7799832" y="2331720"/>
            <a:ext cx="1819656" cy="20391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plants → bean plants in controlled containers</a:t>
            </a:r>
          </a:p>
        </p:txBody>
      </p:sp>
      <p:sp>
        <p:nvSpPr>
          <p:cNvPr id="307" name="Google Shape;307;p16">
            <a:extLst xmlns:a="http://schemas.openxmlformats.org/drawingml/2006/main">
              <a:ext uri="{FF2B5EF4-FFF2-40B4-BE49-F238E27FC236}">
                <a16:creationId xmlns:a16="http://schemas.microsoft.com/office/drawing/2014/main" id="{0C28B774-EB6D-44EF-BB61-95CF98E0BF5F}"/>
              </a:ext>
            </a:extLst>
          </p:cNvPr>
          <p:cNvSpPr>
            <a:spLocks xmlns:a="http://schemas.openxmlformats.org/drawingml/2006/main" noGrp="1"/>
          </p:cNvSpPr>
          <p:nvPr/>
        </p:nvSpPr>
        <p:spPr>
          <a:xfrm xmlns:a="http://schemas.openxmlformats.org/drawingml/2006/main">
            <a:off x="4846320" y="4736592"/>
            <a:ext cx="2514600" cy="960120"/>
          </a:xfrm>
          <a:prstGeom xmlns:a="http://schemas.openxmlformats.org/drawingml/2006/main" prst="roundRect">
            <a:avLst>
              <a:gd name="adj" fmla="val 5714"/>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8" name="Google Shape;308;p16">
            <a:extLst xmlns:a="http://schemas.openxmlformats.org/drawingml/2006/main">
              <a:ext uri="{FF2B5EF4-FFF2-40B4-BE49-F238E27FC236}">
                <a16:creationId xmlns:a16="http://schemas.microsoft.com/office/drawing/2014/main" id="{E43273E1-955B-490A-8CFF-7A0F2D22ADB0}"/>
              </a:ext>
            </a:extLst>
          </p:cNvPr>
          <p:cNvSpPr>
            <a:spLocks xmlns:a="http://schemas.openxmlformats.org/drawingml/2006/main" noGrp="1"/>
          </p:cNvSpPr>
          <p:nvPr/>
        </p:nvSpPr>
        <p:spPr>
          <a:xfrm xmlns:a="http://schemas.openxmlformats.org/drawingml/2006/main">
            <a:off x="5010912" y="4873752"/>
            <a:ext cx="21854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100"/>
              <a:buFont typeface="Arial"/>
              <a:buNone/>
            </a:pPr>
            <a:r>
              <a:rPr sz="1100" b="1">
                <a:solidFill>
                  <a:srgbClr val="E22B27"/>
                </a:solidFill>
                <a:latin typeface="Arial"/>
                <a:ea typeface="Arial"/>
                <a:cs typeface="Arial"/>
              </a:rPr>
              <a:t>DEFINE SUCCESS</a:t>
            </a:r>
          </a:p>
        </p:txBody>
      </p:sp>
      <p:sp>
        <p:nvSpPr>
          <p:cNvPr id="309" name="Google Shape;309;p16">
            <a:extLst xmlns:a="http://schemas.openxmlformats.org/drawingml/2006/main">
              <a:ext uri="{FF2B5EF4-FFF2-40B4-BE49-F238E27FC236}">
                <a16:creationId xmlns:a16="http://schemas.microsoft.com/office/drawing/2014/main" id="{E610D6DA-744E-4795-80CC-80336FAC837D}"/>
              </a:ext>
            </a:extLst>
          </p:cNvPr>
          <p:cNvSpPr>
            <a:spLocks xmlns:a="http://schemas.openxmlformats.org/drawingml/2006/main" noGrp="1"/>
          </p:cNvSpPr>
          <p:nvPr/>
        </p:nvSpPr>
        <p:spPr>
          <a:xfrm xmlns:a="http://schemas.openxmlformats.org/drawingml/2006/main">
            <a:off x="5010912" y="5239512"/>
            <a:ext cx="2185416"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works → meets criteria with evidence</a:t>
            </a:r>
          </a:p>
        </p:txBody>
      </p:sp>
    </p:spTree>
    <p:extLst>
      <p:ext uri="{BB962C8B-B14F-4D97-AF65-F5344CB8AC3E}">
        <p14:creationId xmlns:p14="http://schemas.microsoft.com/office/powerpoint/2010/main" val="682000310"/>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15" name="Google Shape;315;p17">
            <a:extLst xmlns:a="http://schemas.openxmlformats.org/drawingml/2006/main">
              <a:ext uri="{FF2B5EF4-FFF2-40B4-BE49-F238E27FC236}">
                <a16:creationId xmlns:a16="http://schemas.microsoft.com/office/drawing/2014/main" id="{C9138B29-801E-43DB-83A2-3B51BB93306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6" name="Google Shape;316;p17">
            <a:extLst xmlns:a="http://schemas.openxmlformats.org/drawingml/2006/main">
              <a:ext uri="{FF2B5EF4-FFF2-40B4-BE49-F238E27FC236}">
                <a16:creationId xmlns:a16="http://schemas.microsoft.com/office/drawing/2014/main" id="{8D4AE87C-340C-462C-AC4F-3F8A5C9A73E2}"/>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7" name="Google Shape;317;p17">
            <a:extLst xmlns:a="http://schemas.openxmlformats.org/drawingml/2006/main">
              <a:ext uri="{FF2B5EF4-FFF2-40B4-BE49-F238E27FC236}">
                <a16:creationId xmlns:a16="http://schemas.microsoft.com/office/drawing/2014/main" id="{C48FAE11-674F-4B31-80DD-DB57C97314D2}"/>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8" name="Google Shape;318;p17">
            <a:extLst xmlns:a="http://schemas.openxmlformats.org/drawingml/2006/main">
              <a:ext uri="{FF2B5EF4-FFF2-40B4-BE49-F238E27FC236}">
                <a16:creationId xmlns:a16="http://schemas.microsoft.com/office/drawing/2014/main" id="{B6286AC1-E86E-4ABC-8279-1C093F4D37C1}"/>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STUDENT ACTIVITY</a:t>
            </a:r>
          </a:p>
        </p:txBody>
      </p:sp>
      <p:sp>
        <p:nvSpPr>
          <p:cNvPr id="319" name="Google Shape;319;p17">
            <a:extLst xmlns:a="http://schemas.openxmlformats.org/drawingml/2006/main">
              <a:ext uri="{FF2B5EF4-FFF2-40B4-BE49-F238E27FC236}">
                <a16:creationId xmlns:a16="http://schemas.microsoft.com/office/drawing/2014/main" id="{2C7DFEB2-711E-4941-858C-F875EC79CE22}"/>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20" name="Google Shape;320;p17">
            <a:extLst xmlns:a="http://schemas.openxmlformats.org/drawingml/2006/main">
              <a:ext uri="{FF2B5EF4-FFF2-40B4-BE49-F238E27FC236}">
                <a16:creationId xmlns:a16="http://schemas.microsoft.com/office/drawing/2014/main" id="{A6D94F60-4562-443A-87B1-C87FD5D6EB4D}"/>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321" name="Google Shape;321;p17">
            <a:extLst xmlns:a="http://schemas.openxmlformats.org/drawingml/2006/main">
              <a:ext uri="{FF2B5EF4-FFF2-40B4-BE49-F238E27FC236}">
                <a16:creationId xmlns:a16="http://schemas.microsoft.com/office/drawing/2014/main" id="{97210AF8-902C-4F60-AB2F-FEC3FF5AC52C}"/>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Revise Your Own Research Direction</a:t>
            </a:r>
          </a:p>
        </p:txBody>
      </p:sp>
      <p:sp>
        <p:nvSpPr>
          <p:cNvPr id="322" name="Google Shape;322;p17">
            <a:extLst xmlns:a="http://schemas.openxmlformats.org/drawingml/2006/main">
              <a:ext uri="{FF2B5EF4-FFF2-40B4-BE49-F238E27FC236}">
                <a16:creationId xmlns:a16="http://schemas.microsoft.com/office/drawing/2014/main" id="{D2547260-7B97-4AEA-A912-A8F5C1790B6D}"/>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12 minutes • Unit 1 Week 2</a:t>
            </a:r>
          </a:p>
        </p:txBody>
      </p:sp>
      <p:cxnSp>
        <p:nvCxnSpPr>
          <p:cNvPr id="335" name="Google Shape;323;p17"/>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24" name="Google Shape;324;p17">
            <a:extLst xmlns:a="http://schemas.openxmlformats.org/drawingml/2006/main">
              <a:ext uri="{FF2B5EF4-FFF2-40B4-BE49-F238E27FC236}">
                <a16:creationId xmlns:a16="http://schemas.microsoft.com/office/drawing/2014/main" id="{E24461B0-DCC3-4A4C-ADE0-25FFC507FA15}"/>
              </a:ext>
            </a:extLst>
          </p:cNvPr>
          <p:cNvSpPr>
            <a:spLocks xmlns:a="http://schemas.openxmlformats.org/drawingml/2006/main" noGrp="1"/>
          </p:cNvSpPr>
          <p:nvPr/>
        </p:nvSpPr>
        <p:spPr>
          <a:xfrm xmlns:a="http://schemas.openxmlformats.org/drawingml/2006/main">
            <a:off x="777240" y="1783080"/>
            <a:ext cx="187452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5" name="Google Shape;325;p17">
            <a:extLst xmlns:a="http://schemas.openxmlformats.org/drawingml/2006/main">
              <a:ext uri="{FF2B5EF4-FFF2-40B4-BE49-F238E27FC236}">
                <a16:creationId xmlns:a16="http://schemas.microsoft.com/office/drawing/2014/main" id="{1A966850-2C97-4F15-AC3C-B256189F5CA8}"/>
              </a:ext>
            </a:extLst>
          </p:cNvPr>
          <p:cNvSpPr>
            <a:spLocks xmlns:a="http://schemas.openxmlformats.org/drawingml/2006/main" noGrp="1"/>
          </p:cNvSpPr>
          <p:nvPr/>
        </p:nvSpPr>
        <p:spPr>
          <a:xfrm xmlns:a="http://schemas.openxmlformats.org/drawingml/2006/main">
            <a:off x="868680" y="1865376"/>
            <a:ext cx="1691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STUDENT ACTIVITY</a:t>
            </a:r>
          </a:p>
        </p:txBody>
      </p:sp>
      <p:sp>
        <p:nvSpPr>
          <p:cNvPr id="326" name="Google Shape;326;p17">
            <a:extLst xmlns:a="http://schemas.openxmlformats.org/drawingml/2006/main">
              <a:ext uri="{FF2B5EF4-FFF2-40B4-BE49-F238E27FC236}">
                <a16:creationId xmlns:a16="http://schemas.microsoft.com/office/drawing/2014/main" id="{6FCF75B4-747B-435C-A40B-5A79000E3334}"/>
              </a:ext>
            </a:extLst>
          </p:cNvPr>
          <p:cNvSpPr>
            <a:spLocks xmlns:a="http://schemas.openxmlformats.org/drawingml/2006/main" noGrp="1"/>
          </p:cNvSpPr>
          <p:nvPr/>
        </p:nvSpPr>
        <p:spPr>
          <a:xfrm xmlns:a="http://schemas.openxmlformats.org/drawingml/2006/main">
            <a:off x="868680" y="2331720"/>
            <a:ext cx="103327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100">
                <a:solidFill>
                  <a:srgbClr val="FFFFFF"/>
                </a:solidFill>
                <a:latin typeface="Arial"/>
                <a:ea typeface="Arial"/>
                <a:cs typeface="Arial"/>
              </a:rPr>
              <a:t>Write your current best idea. Then revise it twice.</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Version 1: What I have now.</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Revision 1: Add a measurable outcome.</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Revision 2: Add a comparison, time frame, or success criterion.</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Share the final version with a partner. Partner asks: “What data would answer this?”</a:t>
            </a:r>
          </a:p>
        </p:txBody>
      </p:sp>
    </p:spTree>
    <p:extLst>
      <p:ext uri="{BB962C8B-B14F-4D97-AF65-F5344CB8AC3E}">
        <p14:creationId xmlns:p14="http://schemas.microsoft.com/office/powerpoint/2010/main" val="685549869"/>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32" name="Google Shape;332;p18">
            <a:extLst xmlns:a="http://schemas.openxmlformats.org/drawingml/2006/main">
              <a:ext uri="{FF2B5EF4-FFF2-40B4-BE49-F238E27FC236}">
                <a16:creationId xmlns:a16="http://schemas.microsoft.com/office/drawing/2014/main" id="{9C53A887-F208-455F-A2FC-9EB8749ED7C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3" name="Google Shape;333;p18">
            <a:extLst xmlns:a="http://schemas.openxmlformats.org/drawingml/2006/main">
              <a:ext uri="{FF2B5EF4-FFF2-40B4-BE49-F238E27FC236}">
                <a16:creationId xmlns:a16="http://schemas.microsoft.com/office/drawing/2014/main" id="{376AD4F3-3B20-41AC-B6D4-20B82CDC0144}"/>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4" name="Google Shape;334;p18">
            <a:extLst xmlns:a="http://schemas.openxmlformats.org/drawingml/2006/main">
              <a:ext uri="{FF2B5EF4-FFF2-40B4-BE49-F238E27FC236}">
                <a16:creationId xmlns:a16="http://schemas.microsoft.com/office/drawing/2014/main" id="{87B3C0B7-9F7F-49EF-9C48-182E72B4BD14}"/>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5" name="Google Shape;335;p18">
            <a:extLst xmlns:a="http://schemas.openxmlformats.org/drawingml/2006/main">
              <a:ext uri="{FF2B5EF4-FFF2-40B4-BE49-F238E27FC236}">
                <a16:creationId xmlns:a16="http://schemas.microsoft.com/office/drawing/2014/main" id="{C042DA8F-06A0-4392-8093-84E58185BD29}"/>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CONFERENCE PROMPTS</a:t>
            </a:r>
          </a:p>
        </p:txBody>
      </p:sp>
      <p:sp>
        <p:nvSpPr>
          <p:cNvPr id="336" name="Google Shape;336;p18">
            <a:extLst xmlns:a="http://schemas.openxmlformats.org/drawingml/2006/main">
              <a:ext uri="{FF2B5EF4-FFF2-40B4-BE49-F238E27FC236}">
                <a16:creationId xmlns:a16="http://schemas.microsoft.com/office/drawing/2014/main" id="{047551AD-3776-4490-A878-8C6259781013}"/>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37" name="Google Shape;337;p18">
            <a:extLst xmlns:a="http://schemas.openxmlformats.org/drawingml/2006/main">
              <a:ext uri="{FF2B5EF4-FFF2-40B4-BE49-F238E27FC236}">
                <a16:creationId xmlns:a16="http://schemas.microsoft.com/office/drawing/2014/main" id="{ABD2FC15-A4AC-4D7F-A35E-D693ADC64889}"/>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338" name="Google Shape;338;p18">
            <a:extLst xmlns:a="http://schemas.openxmlformats.org/drawingml/2006/main">
              <a:ext uri="{FF2B5EF4-FFF2-40B4-BE49-F238E27FC236}">
                <a16:creationId xmlns:a16="http://schemas.microsoft.com/office/drawing/2014/main" id="{1390987B-50F6-4FE1-9CF5-EE63B42AF719}"/>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Teacher Conference Prompts</a:t>
            </a:r>
          </a:p>
        </p:txBody>
      </p:sp>
      <p:sp>
        <p:nvSpPr>
          <p:cNvPr id="339" name="Google Shape;339;p18">
            <a:extLst xmlns:a="http://schemas.openxmlformats.org/drawingml/2006/main">
              <a:ext uri="{FF2B5EF4-FFF2-40B4-BE49-F238E27FC236}">
                <a16:creationId xmlns:a16="http://schemas.microsoft.com/office/drawing/2014/main" id="{4D18F4B0-28B8-48AF-A110-7C16FF9F4479}"/>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When students ask “Is this good?” ask these instead.</a:t>
            </a:r>
          </a:p>
        </p:txBody>
      </p:sp>
      <p:cxnSp>
        <p:nvCxnSpPr>
          <p:cNvPr id="350" name="Google Shape;340;p18"/>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41" name="Google Shape;341;p18">
            <a:extLst xmlns:a="http://schemas.openxmlformats.org/drawingml/2006/main">
              <a:ext uri="{FF2B5EF4-FFF2-40B4-BE49-F238E27FC236}">
                <a16:creationId xmlns:a16="http://schemas.microsoft.com/office/drawing/2014/main" id="{70E291D1-27A6-45ED-8A5C-1D039306EE19}"/>
              </a:ext>
            </a:extLst>
          </p:cNvPr>
          <p:cNvSpPr>
            <a:spLocks xmlns:a="http://schemas.openxmlformats.org/drawingml/2006/main" noGrp="1"/>
          </p:cNvSpPr>
          <p:nvPr/>
        </p:nvSpPr>
        <p:spPr>
          <a:xfrm xmlns:a="http://schemas.openxmlformats.org/drawingml/2006/main">
            <a:off x="1005840" y="1828800"/>
            <a:ext cx="9875520"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300">
                <a:solidFill>
                  <a:srgbClr val="FFFFFF"/>
                </a:solidFill>
                <a:latin typeface="Arial"/>
                <a:ea typeface="Arial"/>
                <a:cs typeface="Arial"/>
              </a:rPr>
              <a:t>What would you measure?</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What would you compare?</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How would you know it worked?</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What would stay the same each time?</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What is the smallest testable version?</a:t>
            </a:r>
          </a:p>
          <a:p xmlns:a="http://schemas.openxmlformats.org/drawingml/2006/main">
            <a:pPr marL="0" marR="0" indent="0" algn="l">
              <a:spcBef>
                <a:spcPts val="0"/>
              </a:spcBef>
              <a:spcAft>
                <a:spcPts val="0"/>
              </a:spcAft>
              <a:buNone/>
            </a:pPr>
            <a:r>
              <a:rPr sz="2300">
                <a:solidFill>
                  <a:srgbClr val="FFFFFF"/>
                </a:solidFill>
                <a:latin typeface="Arial"/>
                <a:ea typeface="Arial"/>
                <a:cs typeface="Arial"/>
              </a:rPr>
              <a:t>What might make this unsafe or unethical?</a:t>
            </a:r>
          </a:p>
        </p:txBody>
      </p:sp>
    </p:spTree>
    <p:extLst>
      <p:ext uri="{BB962C8B-B14F-4D97-AF65-F5344CB8AC3E}">
        <p14:creationId xmlns:p14="http://schemas.microsoft.com/office/powerpoint/2010/main" val="1881021919"/>
      </p:ext>
    </p:extLst>
  </p:cSld>
</p:sld>
</file>

<file path=ppt/slides/slide1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47" name="Google Shape;347;p19">
            <a:extLst xmlns:a="http://schemas.openxmlformats.org/drawingml/2006/main">
              <a:ext uri="{FF2B5EF4-FFF2-40B4-BE49-F238E27FC236}">
                <a16:creationId xmlns:a16="http://schemas.microsoft.com/office/drawing/2014/main" id="{53D8B98A-5625-43ED-81B1-32E1C0F0788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8" name="Google Shape;348;p19">
            <a:extLst xmlns:a="http://schemas.openxmlformats.org/drawingml/2006/main">
              <a:ext uri="{FF2B5EF4-FFF2-40B4-BE49-F238E27FC236}">
                <a16:creationId xmlns:a16="http://schemas.microsoft.com/office/drawing/2014/main" id="{0FECA34E-2630-4CFE-84EF-AB65DC43DCCB}"/>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9" name="Google Shape;349;p19">
            <a:extLst xmlns:a="http://schemas.openxmlformats.org/drawingml/2006/main">
              <a:ext uri="{FF2B5EF4-FFF2-40B4-BE49-F238E27FC236}">
                <a16:creationId xmlns:a16="http://schemas.microsoft.com/office/drawing/2014/main" id="{0B8B2D3B-0A52-49AB-9EA8-86040CA447A8}"/>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0" name="Google Shape;350;p19">
            <a:extLst xmlns:a="http://schemas.openxmlformats.org/drawingml/2006/main">
              <a:ext uri="{FF2B5EF4-FFF2-40B4-BE49-F238E27FC236}">
                <a16:creationId xmlns:a16="http://schemas.microsoft.com/office/drawing/2014/main" id="{3D37B2A3-6932-440C-853C-8E8CF5F55EC6}"/>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STUDENT ACTIVITY</a:t>
            </a:r>
          </a:p>
        </p:txBody>
      </p:sp>
      <p:sp>
        <p:nvSpPr>
          <p:cNvPr id="351" name="Google Shape;351;p19">
            <a:extLst xmlns:a="http://schemas.openxmlformats.org/drawingml/2006/main">
              <a:ext uri="{FF2B5EF4-FFF2-40B4-BE49-F238E27FC236}">
                <a16:creationId xmlns:a16="http://schemas.microsoft.com/office/drawing/2014/main" id="{06FD2A6D-7316-4E24-B7F2-5B734F48E096}"/>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52" name="Google Shape;352;p19">
            <a:extLst xmlns:a="http://schemas.openxmlformats.org/drawingml/2006/main">
              <a:ext uri="{FF2B5EF4-FFF2-40B4-BE49-F238E27FC236}">
                <a16:creationId xmlns:a16="http://schemas.microsoft.com/office/drawing/2014/main" id="{354129A0-B560-4468-A179-14C0E3D520D2}"/>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353" name="Google Shape;353;p19">
            <a:extLst xmlns:a="http://schemas.openxmlformats.org/drawingml/2006/main">
              <a:ext uri="{FF2B5EF4-FFF2-40B4-BE49-F238E27FC236}">
                <a16:creationId xmlns:a16="http://schemas.microsoft.com/office/drawing/2014/main" id="{596BE714-62CD-4982-9B0B-DBC78AAB7ED3}"/>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Exit Ticket</a:t>
            </a:r>
          </a:p>
        </p:txBody>
      </p:sp>
      <p:sp>
        <p:nvSpPr>
          <p:cNvPr id="354" name="Google Shape;354;p19">
            <a:extLst xmlns:a="http://schemas.openxmlformats.org/drawingml/2006/main">
              <a:ext uri="{FF2B5EF4-FFF2-40B4-BE49-F238E27FC236}">
                <a16:creationId xmlns:a16="http://schemas.microsoft.com/office/drawing/2014/main" id="{907346E8-EC4F-4623-A50C-D56BB57E5E38}"/>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5 minutes • Unit 1 Week 2</a:t>
            </a:r>
          </a:p>
        </p:txBody>
      </p:sp>
      <p:cxnSp>
        <p:nvCxnSpPr>
          <p:cNvPr id="367" name="Google Shape;355;p19"/>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56" name="Google Shape;356;p19">
            <a:extLst xmlns:a="http://schemas.openxmlformats.org/drawingml/2006/main">
              <a:ext uri="{FF2B5EF4-FFF2-40B4-BE49-F238E27FC236}">
                <a16:creationId xmlns:a16="http://schemas.microsoft.com/office/drawing/2014/main" id="{6A4E9ADA-95D2-430C-B3FA-4BC96C81CA60}"/>
              </a:ext>
            </a:extLst>
          </p:cNvPr>
          <p:cNvSpPr>
            <a:spLocks xmlns:a="http://schemas.openxmlformats.org/drawingml/2006/main" noGrp="1"/>
          </p:cNvSpPr>
          <p:nvPr/>
        </p:nvSpPr>
        <p:spPr>
          <a:xfrm xmlns:a="http://schemas.openxmlformats.org/drawingml/2006/main">
            <a:off x="777240" y="1783080"/>
            <a:ext cx="187452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7" name="Google Shape;357;p19">
            <a:extLst xmlns:a="http://schemas.openxmlformats.org/drawingml/2006/main">
              <a:ext uri="{FF2B5EF4-FFF2-40B4-BE49-F238E27FC236}">
                <a16:creationId xmlns:a16="http://schemas.microsoft.com/office/drawing/2014/main" id="{F11FF3CE-B15C-48EC-9820-F22F78BE864A}"/>
              </a:ext>
            </a:extLst>
          </p:cNvPr>
          <p:cNvSpPr>
            <a:spLocks xmlns:a="http://schemas.openxmlformats.org/drawingml/2006/main" noGrp="1"/>
          </p:cNvSpPr>
          <p:nvPr/>
        </p:nvSpPr>
        <p:spPr>
          <a:xfrm xmlns:a="http://schemas.openxmlformats.org/drawingml/2006/main">
            <a:off x="868680" y="1865376"/>
            <a:ext cx="1691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STUDENT ACTIVITY</a:t>
            </a:r>
          </a:p>
        </p:txBody>
      </p:sp>
      <p:sp>
        <p:nvSpPr>
          <p:cNvPr id="358" name="Google Shape;358;p19">
            <a:extLst xmlns:a="http://schemas.openxmlformats.org/drawingml/2006/main">
              <a:ext uri="{FF2B5EF4-FFF2-40B4-BE49-F238E27FC236}">
                <a16:creationId xmlns:a16="http://schemas.microsoft.com/office/drawing/2014/main" id="{CD0DBB7B-801D-439A-B7E9-B196F09E6A94}"/>
              </a:ext>
            </a:extLst>
          </p:cNvPr>
          <p:cNvSpPr>
            <a:spLocks xmlns:a="http://schemas.openxmlformats.org/drawingml/2006/main" noGrp="1"/>
          </p:cNvSpPr>
          <p:nvPr/>
        </p:nvSpPr>
        <p:spPr>
          <a:xfrm xmlns:a="http://schemas.openxmlformats.org/drawingml/2006/main">
            <a:off x="868680" y="2331720"/>
            <a:ext cx="103327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100">
                <a:solidFill>
                  <a:srgbClr val="FFFFFF"/>
                </a:solidFill>
                <a:latin typeface="Arial"/>
                <a:ea typeface="Arial"/>
                <a:cs typeface="Arial"/>
              </a:rPr>
              <a:t>Leave with a research direction, not just a topic.</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1. My current research question or engineering problem is…</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2. The data or evidence I could collect is…</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3. One thing I still need to figure out is…</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Teacher collects these to plan conferences and Unit 2 project planning support.</a:t>
            </a:r>
          </a:p>
        </p:txBody>
      </p:sp>
    </p:spTree>
    <p:extLst>
      <p:ext uri="{BB962C8B-B14F-4D97-AF65-F5344CB8AC3E}">
        <p14:creationId xmlns:p14="http://schemas.microsoft.com/office/powerpoint/2010/main" val="1435048217"/>
      </p:ext>
    </p:extLst>
  </p:cSld>
</p:sld>
</file>

<file path=ppt/slides/slide1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64" name="Google Shape;364;p20">
            <a:extLst xmlns:a="http://schemas.openxmlformats.org/drawingml/2006/main">
              <a:ext uri="{FF2B5EF4-FFF2-40B4-BE49-F238E27FC236}">
                <a16:creationId xmlns:a16="http://schemas.microsoft.com/office/drawing/2014/main" id="{40662DB2-EBAE-4212-B7AC-83DD01772E6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5" name="Google Shape;365;p20">
            <a:extLst xmlns:a="http://schemas.openxmlformats.org/drawingml/2006/main">
              <a:ext uri="{FF2B5EF4-FFF2-40B4-BE49-F238E27FC236}">
                <a16:creationId xmlns:a16="http://schemas.microsoft.com/office/drawing/2014/main" id="{6B233D14-E253-4ABD-BE7E-8B8CA114FFEA}"/>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6" name="Google Shape;366;p20">
            <a:extLst xmlns:a="http://schemas.openxmlformats.org/drawingml/2006/main">
              <a:ext uri="{FF2B5EF4-FFF2-40B4-BE49-F238E27FC236}">
                <a16:creationId xmlns:a16="http://schemas.microsoft.com/office/drawing/2014/main" id="{1ABB792D-771A-4F74-90D8-AD3BA300D33D}"/>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7" name="Google Shape;367;p20">
            <a:extLst xmlns:a="http://schemas.openxmlformats.org/drawingml/2006/main">
              <a:ext uri="{FF2B5EF4-FFF2-40B4-BE49-F238E27FC236}">
                <a16:creationId xmlns:a16="http://schemas.microsoft.com/office/drawing/2014/main" id="{EAB13E9F-9F92-4244-8E91-B74FA1568B61}"/>
              </a:ext>
            </a:extLst>
          </p:cNvPr>
          <p:cNvSpPr>
            <a:spLocks xmlns:a="http://schemas.openxmlformats.org/drawingml/2006/main" noGrp="1"/>
          </p:cNvSpPr>
          <p:nvPr/>
        </p:nvSpPr>
        <p:spPr>
          <a:xfrm xmlns:a="http://schemas.openxmlformats.org/drawingml/2006/main">
            <a:off x="411480" y="6236208"/>
            <a:ext cx="45720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NEXT STEP</a:t>
            </a:r>
          </a:p>
        </p:txBody>
      </p:sp>
      <p:sp>
        <p:nvSpPr>
          <p:cNvPr id="368" name="Google Shape;368;p20">
            <a:extLst xmlns:a="http://schemas.openxmlformats.org/drawingml/2006/main">
              <a:ext uri="{FF2B5EF4-FFF2-40B4-BE49-F238E27FC236}">
                <a16:creationId xmlns:a16="http://schemas.microsoft.com/office/drawing/2014/main" id="{168BD22F-6C24-45F1-B956-5EDD54E88B88}"/>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69" name="Google Shape;369;p20">
            <a:extLst xmlns:a="http://schemas.openxmlformats.org/drawingml/2006/main">
              <a:ext uri="{FF2B5EF4-FFF2-40B4-BE49-F238E27FC236}">
                <a16:creationId xmlns:a16="http://schemas.microsoft.com/office/drawing/2014/main" id="{65251DBF-46D3-4BA1-A1BB-7F6B5E05C1C7}"/>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02</a:t>
            </a:r>
          </a:p>
        </p:txBody>
      </p:sp>
      <p:sp>
        <p:nvSpPr>
          <p:cNvPr id="370" name="Google Shape;370;p20">
            <a:extLst xmlns:a="http://schemas.openxmlformats.org/drawingml/2006/main">
              <a:ext uri="{FF2B5EF4-FFF2-40B4-BE49-F238E27FC236}">
                <a16:creationId xmlns:a16="http://schemas.microsoft.com/office/drawing/2014/main" id="{D3A03B8A-FEBA-4874-8D85-C1CCF5320630}"/>
              </a:ext>
            </a:extLst>
          </p:cNvPr>
          <p:cNvSpPr>
            <a:spLocks xmlns:a="http://schemas.openxmlformats.org/drawingml/2006/main" noGrp="1"/>
          </p:cNvSpPr>
          <p:nvPr/>
        </p:nvSpPr>
        <p:spPr>
          <a:xfrm xmlns:a="http://schemas.openxmlformats.org/drawingml/2006/main">
            <a:off x="685800" y="694944"/>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Turn This Question Into a Plan</a:t>
            </a:r>
          </a:p>
        </p:txBody>
      </p:sp>
      <p:sp>
        <p:nvSpPr>
          <p:cNvPr id="371" name="Google Shape;371;p20">
            <a:extLst xmlns:a="http://schemas.openxmlformats.org/drawingml/2006/main">
              <a:ext uri="{FF2B5EF4-FFF2-40B4-BE49-F238E27FC236}">
                <a16:creationId xmlns:a16="http://schemas.microsoft.com/office/drawing/2014/main" id="{23D460FC-1405-48FE-9EFC-9C73638AFB4A}"/>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Unit 2 will ask: What is your hypothesis, method, materials list, safety plan, and timeline?</a:t>
            </a:r>
          </a:p>
        </p:txBody>
      </p:sp>
      <p:cxnSp>
        <p:nvCxnSpPr>
          <p:cNvPr id="384" name="Google Shape;372;p20"/>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73" name="Google Shape;373;p20">
            <a:extLst xmlns:a="http://schemas.openxmlformats.org/drawingml/2006/main">
              <a:ext uri="{FF2B5EF4-FFF2-40B4-BE49-F238E27FC236}">
                <a16:creationId xmlns:a16="http://schemas.microsoft.com/office/drawing/2014/main" id="{9BCAFA0B-DD1F-4DC9-8264-222919956079}"/>
              </a:ext>
            </a:extLst>
          </p:cNvPr>
          <p:cNvSpPr>
            <a:spLocks xmlns:a="http://schemas.openxmlformats.org/drawingml/2006/main" noGrp="1"/>
          </p:cNvSpPr>
          <p:nvPr/>
        </p:nvSpPr>
        <p:spPr>
          <a:xfrm xmlns:a="http://schemas.openxmlformats.org/drawingml/2006/main">
            <a:off x="914400" y="1965960"/>
            <a:ext cx="103327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E22B27"/>
              </a:buClr>
              <a:buSzPts val="1400"/>
              <a:buFont typeface="Arial"/>
              <a:buNone/>
            </a:pPr>
            <a:r>
              <a:rPr sz="1400" b="1">
                <a:solidFill>
                  <a:srgbClr val="E22B27"/>
                </a:solidFill>
                <a:latin typeface="Arial"/>
                <a:ea typeface="Arial"/>
                <a:cs typeface="Arial"/>
              </a:rPr>
              <a:t>NEXT DECK</a:t>
            </a:r>
          </a:p>
        </p:txBody>
      </p:sp>
      <p:sp>
        <p:nvSpPr>
          <p:cNvPr id="374" name="Google Shape;374;p20">
            <a:extLst xmlns:a="http://schemas.openxmlformats.org/drawingml/2006/main">
              <a:ext uri="{FF2B5EF4-FFF2-40B4-BE49-F238E27FC236}">
                <a16:creationId xmlns:a16="http://schemas.microsoft.com/office/drawing/2014/main" id="{FB52452C-7F4A-45AB-ABE3-5730B416771E}"/>
              </a:ext>
            </a:extLst>
          </p:cNvPr>
          <p:cNvSpPr>
            <a:spLocks xmlns:a="http://schemas.openxmlformats.org/drawingml/2006/main" noGrp="1"/>
          </p:cNvSpPr>
          <p:nvPr/>
        </p:nvSpPr>
        <p:spPr>
          <a:xfrm xmlns:a="http://schemas.openxmlformats.org/drawingml/2006/main">
            <a:off x="914400" y="2514600"/>
            <a:ext cx="103327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3300"/>
              <a:buFont typeface="Play"/>
              <a:buNone/>
            </a:pPr>
            <a:r>
              <a:rPr sz="3300" b="1">
                <a:solidFill>
                  <a:srgbClr val="FFFFFF"/>
                </a:solidFill>
                <a:latin typeface="Play"/>
                <a:ea typeface="Play"/>
                <a:cs typeface="Play"/>
              </a:rPr>
              <a:t>RESEARCH ETHICS, SAFETY, &amp; INTEGRITY</a:t>
            </a:r>
          </a:p>
        </p:txBody>
      </p:sp>
      <p:sp>
        <p:nvSpPr>
          <p:cNvPr id="375" name="Google Shape;375;p20">
            <a:extLst xmlns:a="http://schemas.openxmlformats.org/drawingml/2006/main">
              <a:ext uri="{FF2B5EF4-FFF2-40B4-BE49-F238E27FC236}">
                <a16:creationId xmlns:a16="http://schemas.microsoft.com/office/drawing/2014/main" id="{9094C9BB-EAEC-4680-AEEB-2348041AC19D}"/>
              </a:ext>
            </a:extLst>
          </p:cNvPr>
          <p:cNvSpPr>
            <a:spLocks xmlns:a="http://schemas.openxmlformats.org/drawingml/2006/main" noGrp="1"/>
          </p:cNvSpPr>
          <p:nvPr/>
        </p:nvSpPr>
        <p:spPr>
          <a:xfrm xmlns:a="http://schemas.openxmlformats.org/drawingml/2006/main">
            <a:off x="1828800" y="3657600"/>
            <a:ext cx="850392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2000"/>
              <a:buFont typeface="Arial"/>
              <a:buNone/>
            </a:pPr>
            <a:r>
              <a:rPr sz="2000">
                <a:solidFill>
                  <a:srgbClr val="B8B8B8"/>
                </a:solidFill>
                <a:latin typeface="Arial"/>
                <a:ea typeface="Arial"/>
                <a:cs typeface="Arial"/>
              </a:rPr>
              <a:t>Before projects move forward, students must understand the responsibilities that come with original research.</a:t>
            </a:r>
          </a:p>
        </p:txBody>
      </p:sp>
    </p:spTree>
    <p:extLst>
      <p:ext uri="{BB962C8B-B14F-4D97-AF65-F5344CB8AC3E}">
        <p14:creationId xmlns:p14="http://schemas.microsoft.com/office/powerpoint/2010/main" val="1128543949"/>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2026-07-16T15:08:39.3260000Z</dcterms:created>
  <dcterms:modified xsi:type="dcterms:W3CDTF">2026-07-16T15:08:39.3260000Z</dcterms:modified>
</coreProperties>
</file>