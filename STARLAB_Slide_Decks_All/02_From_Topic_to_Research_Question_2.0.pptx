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1675"/>
  <p:notesSz cx="6858000" cy="12191675"/>
  <p:embeddedFontLst>
    <p:embeddedFont>
      <p:font typeface="Play"/>
      <p:regular r:id="rId23"/>
      <p:bold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24" Type="http://schemas.openxmlformats.org/officeDocument/2006/relationships/font" Target="fonts/Play-bold.fntdata"/><Relationship Id="rId12" Type="http://schemas.openxmlformats.org/officeDocument/2006/relationships/slide" Target="slides/slide8.xml"/><Relationship Id="rId23" Type="http://schemas.openxmlformats.org/officeDocument/2006/relationships/font" Target="fonts/Play-regular.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deck after students complete the Research Interest Inventory and before the Preliminary Project Pitch. Estimated time: 45–60 minutes depending on activity time. The goal is not to force a final project choice; the goal is to help students narrow broad curiosity into a research direction that can produce evidence.</a:t>
            </a:r>
            <a:br>
              <a:rPr lang="en-US"/>
            </a:br>
            <a:br>
              <a:rPr lang="en-US"/>
            </a:br>
            <a:r>
              <a:rPr lang="en-US"/>
              <a:t>Required print materials for Deck 2:</a:t>
            </a:r>
            <a:br>
              <a:rPr lang="en-US"/>
            </a:br>
            <a:r>
              <a:rPr lang="en-US"/>
              <a:t>• Unit 1 Student Handout 3: Research Interest Inventory</a:t>
            </a:r>
            <a:br>
              <a:rPr lang="en-US"/>
            </a:br>
            <a:r>
              <a:rPr lang="en-US"/>
              <a:t>• Unit 1 Student Handout 6: From Topic to Research Question</a:t>
            </a:r>
            <a:br>
              <a:rPr lang="en-US"/>
            </a:br>
            <a:r>
              <a:rPr lang="en-US"/>
              <a:t>• Unit 1 Student Handout 7: Question Quality Test</a:t>
            </a:r>
            <a:br>
              <a:rPr lang="en-US"/>
            </a:br>
            <a:r>
              <a:rPr lang="en-US"/>
              <a:t>• Unit 1 Student Handout 8: Preliminary Project Pitch</a:t>
            </a:r>
            <a:br>
              <a:rPr lang="en-US"/>
            </a:br>
            <a:r>
              <a:rPr lang="en-US"/>
              <a:t>• Unit 1 Appendix E: Strong vs. Weak Research Questions</a:t>
            </a:r>
            <a:br>
              <a:rPr lang="en-US"/>
            </a:br>
            <a:r>
              <a:rPr lang="en-US"/>
              <a:t>• Unit 1 Appendix G: Engineering Design Problem Guide</a:t>
            </a:r>
            <a:br>
              <a:rPr lang="en-US"/>
            </a:br>
            <a:r>
              <a:rPr lang="en-US"/>
              <a:t>• Unit 1 Appendix I: Optional Project Card Sorting Activity</a:t>
            </a:r>
            <a:br>
              <a:rPr lang="en-US"/>
            </a:br>
            <a:br>
              <a:rPr lang="en-US"/>
            </a:br>
            <a:r>
              <a:rPr lang="en-US"/>
              <a:t>Resource alignment:</a:t>
            </a:r>
            <a:br>
              <a:rPr lang="en-US"/>
            </a:br>
            <a:r>
              <a:rPr lang="en-US"/>
              <a:t>Unit 1, Week 2: Experimental design, research question development, feasibility, and preliminary topic selection. Next deck connection: Deck 3: Research Ethics, Safety, and Integrity.</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Frame the lesson as a narrowing process. Emphasize that students do not need final projects today. They need better questions than they walked in with. Have students keep their Unit 1 interest inventory open throughout the deck.</a:t>
            </a:r>
            <a:br>
              <a:rPr lang="en-US"/>
            </a:br>
            <a:br>
              <a:rPr lang="en-US"/>
            </a:br>
            <a:r>
              <a:rPr lang="en-US"/>
              <a:t>Resource alignment:</a:t>
            </a:r>
            <a:br>
              <a:rPr lang="en-US"/>
            </a:br>
            <a:r>
              <a:rPr lang="en-US"/>
              <a:t>Use Unit 1 Student Handout 3: Research Interest Inventory. This slide prepares students for Unit 1 Student Handout 6: From Topic to Research Question.</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Ask for examples of broad topics students wrote on their interest inventory. Put a few on the board. Do not criticize the ideas. Use them as raw material. Student activity: students circle one broad topic from their inventory that still feels interesting.</a:t>
            </a:r>
            <a:br>
              <a:rPr lang="en-US"/>
            </a:br>
            <a:br>
              <a:rPr lang="en-US"/>
            </a:br>
            <a:r>
              <a:rPr lang="en-US"/>
              <a:t>Resource alignment:</a:t>
            </a:r>
            <a:br>
              <a:rPr lang="en-US"/>
            </a:br>
            <a:r>
              <a:rPr lang="en-US"/>
              <a:t>Use Unit 1 Student Handout 3: Research Interest Inventory. Reference Unit 1 Appendix E: Strong vs. Weak Research Questions.</a:t>
            </a:r>
            <a:endParaRPr/>
          </a:p>
        </p:txBody>
      </p:sp>
      <p:sp>
        <p:nvSpPr>
          <p:cNvPr id="46" name="Google Shape;4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Walk through the ladder slowly. Ask: What changed at each step? Students should notice the last step contains a variable or comparison and a measurable outcome.</a:t>
            </a:r>
            <a:br>
              <a:rPr lang="en-US"/>
            </a:br>
            <a:br>
              <a:rPr lang="en-US"/>
            </a:br>
            <a:r>
              <a:rPr lang="en-US"/>
              <a:t>Resource alignment:</a:t>
            </a:r>
            <a:br>
              <a:rPr lang="en-US"/>
            </a:br>
            <a:r>
              <a:rPr lang="en-US"/>
              <a:t>Use Unit 1 Student Handout 6: From Topic to Research Question, Part A: Topic Narrowing.</a:t>
            </a:r>
            <a:endParaRPr/>
          </a:p>
        </p:txBody>
      </p:sp>
      <p:sp>
        <p:nvSpPr>
          <p:cNvPr id="66" name="Google Shape;6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 name="Google Shape;9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do not need to memorize definitions, but they need to stop treating these as interchangeable. Ask students to identify which of the four they currently have. Quick check by show of fingers: 1 topic, 2 question, 3 hypothesis, 4 engineering problem.</a:t>
            </a:r>
            <a:br>
              <a:rPr lang="en-US"/>
            </a:br>
            <a:br>
              <a:rPr lang="en-US"/>
            </a:br>
            <a:r>
              <a:rPr lang="en-US"/>
              <a:t>Resource alignment:</a:t>
            </a:r>
            <a:br>
              <a:rPr lang="en-US"/>
            </a:br>
            <a:r>
              <a:rPr lang="en-US"/>
              <a:t>Use Unit 1 Student Handout 6: From Topic to Research Question. Reference Unit 1 Appendix G: Engineering Design Problem Guide for engineering problem language.</a:t>
            </a:r>
            <a:endParaRPr/>
          </a:p>
        </p:txBody>
      </p:sp>
      <p:sp>
        <p:nvSpPr>
          <p:cNvPr id="95" name="Google Shape;9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is the conceptual hinge. Repeat the phrase: evidence decides whether a question is researchable. Students write answers to these four questions for their current best idea. If they cannot answer question 2, the idea is not ready.</a:t>
            </a:r>
            <a:br>
              <a:rPr lang="en-US"/>
            </a:br>
            <a:br>
              <a:rPr lang="en-US"/>
            </a:br>
            <a:r>
              <a:rPr lang="en-US"/>
              <a:t>Resource alignment:</a:t>
            </a:r>
            <a:br>
              <a:rPr lang="en-US"/>
            </a:br>
            <a:r>
              <a:rPr lang="en-US"/>
              <a:t>Use Unit 1 Student Handout 6: From Topic to Research Question and Unit 1 Student Handout 7: Question Quality Test.</a:t>
            </a:r>
            <a:endParaRPr/>
          </a:p>
        </p:txBody>
      </p:sp>
      <p:sp>
        <p:nvSpPr>
          <p:cNvPr id="121" name="Google Shape;12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Do not make weak questions feel embarrassing. They are the starting point. Have students identify what changed in the stronger version: specific organism/material, measurable outcome, comparison, timeline, and metric.</a:t>
            </a:r>
            <a:br>
              <a:rPr lang="en-US"/>
            </a:br>
            <a:br>
              <a:rPr lang="en-US"/>
            </a:br>
            <a:r>
              <a:rPr lang="en-US"/>
              <a:t>Resource alignment:</a:t>
            </a:r>
            <a:br>
              <a:rPr lang="en-US"/>
            </a:br>
            <a:r>
              <a:rPr lang="en-US"/>
              <a:t>Reference Unit 1 Appendix E: Strong vs. Weak Research Questions. Use Unit 1 Student Handout 6 to revise student examples.</a:t>
            </a:r>
            <a:endParaRPr/>
          </a:p>
        </p:txBody>
      </p:sp>
      <p:sp>
        <p:nvSpPr>
          <p:cNvPr id="136" name="Google Shape;13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 name="Google Shape;16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write questions with better/best/effective. This slide gives replacement moves. Activity: students underline vague words in one of their own questions and replace them with a measurable metric.</a:t>
            </a:r>
            <a:br>
              <a:rPr lang="en-US"/>
            </a:br>
            <a:br>
              <a:rPr lang="en-US"/>
            </a:br>
            <a:r>
              <a:rPr lang="en-US"/>
              <a:t>Resource alignment:</a:t>
            </a:r>
            <a:br>
              <a:rPr lang="en-US"/>
            </a:br>
            <a:r>
              <a:rPr lang="en-US"/>
              <a:t>Use Unit 1 Student Handout 6: From Topic to Research Question and Unit 1 Appendix E: Strong vs. Weak Research Questions.</a:t>
            </a:r>
            <a:endParaRPr/>
          </a:p>
        </p:txBody>
      </p:sp>
      <p:sp>
        <p:nvSpPr>
          <p:cNvPr id="162" name="Google Shape;16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Normalize both pathways. Students may feel that engineering is not “real science.” Emphasize that engineering projects still need evidence, criteria, and systematic testing. Students label their idea as science, engineering, data analysis, or unsure.</a:t>
            </a:r>
            <a:br>
              <a:rPr lang="en-US"/>
            </a:br>
            <a:br>
              <a:rPr lang="en-US"/>
            </a:br>
            <a:r>
              <a:rPr lang="en-US"/>
              <a:t>Resource alignment:</a:t>
            </a:r>
            <a:br>
              <a:rPr lang="en-US"/>
            </a:br>
            <a:r>
              <a:rPr lang="en-US"/>
              <a:t>Use Unit 1 Appendix G: Engineering Design Problem Guide. Also connects to Unit 1 Student Handout 6, Part D: Engineering Design Option.</a:t>
            </a:r>
            <a:endParaRPr/>
          </a:p>
        </p:txBody>
      </p:sp>
      <p:sp>
        <p:nvSpPr>
          <p:cNvPr id="183" name="Google Shape;18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 name="Google Shape;20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Give students quiet writing time first. Then have them turn and talk with a partner. Ask partners to challenge each other on measurability: What would you measure? What would you compare? Circulate and collect strong examples to share anonymously.</a:t>
            </a:r>
            <a:br>
              <a:rPr lang="en-US"/>
            </a:br>
            <a:br>
              <a:rPr lang="en-US"/>
            </a:br>
            <a:r>
              <a:rPr lang="en-US"/>
              <a:t>Resource alignment:</a:t>
            </a:r>
            <a:br>
              <a:rPr lang="en-US"/>
            </a:br>
            <a:r>
              <a:rPr lang="en-US"/>
              <a:t>Use Unit 1 Student Handout 6: From Topic to Research Question, Part A: Topic Narrowing. Students should also reference Unit 1 Student Handout 3: Research Interest Inventory.</a:t>
            </a:r>
            <a:endParaRPr/>
          </a:p>
        </p:txBody>
      </p:sp>
      <p:sp>
        <p:nvSpPr>
          <p:cNvPr id="203" name="Google Shape;20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a useful class norm. Make “not yet” language normal. A red flag means revise, not quit. Students complete the question quality test for their current best question.</a:t>
            </a:r>
            <a:br>
              <a:rPr lang="en-US"/>
            </a:br>
            <a:br>
              <a:rPr lang="en-US"/>
            </a:br>
            <a:r>
              <a:rPr lang="en-US"/>
              <a:t>Resource alignment:</a:t>
            </a:r>
            <a:br>
              <a:rPr lang="en-US"/>
            </a:br>
            <a:r>
              <a:rPr lang="en-US"/>
              <a:t>Use Unit 1 Student Handout 7: Question Quality Test. Reference Unit 1 Appendix F: Feasibility Filter if students need additional support with feasibility.</a:t>
            </a:r>
            <a:endParaRPr/>
          </a:p>
        </p:txBody>
      </p:sp>
      <p:sp>
        <p:nvSpPr>
          <p:cNvPr id="220" name="Google Shape;22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the project cards from Unit 1 Appendix I. If you do not want to print cards, project examples can be projected one at a time. Push students to explain their reasoning: What data would be collected? What makes it unsafe? What makes it too broad?</a:t>
            </a:r>
            <a:br>
              <a:rPr lang="en-US"/>
            </a:br>
            <a:br>
              <a:rPr lang="en-US"/>
            </a:br>
            <a:r>
              <a:rPr lang="en-US"/>
              <a:t>Resource alignment:</a:t>
            </a:r>
            <a:br>
              <a:rPr lang="en-US"/>
            </a:br>
            <a:r>
              <a:rPr lang="en-US"/>
              <a:t>Use Unit 1 Appendix I: Optional Project Card Sorting Activity. Also connects to Unit 1 Appendix E: Strong vs. Weak Research Questions and Unit 1 Student Handout 7: Question Quality Test.</a:t>
            </a:r>
            <a:endParaRPr/>
          </a:p>
        </p:txBody>
      </p:sp>
      <p:sp>
        <p:nvSpPr>
          <p:cNvPr id="251" name="Google Shape;25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 name="Google Shape;26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Keep this as an early warning, not a full safety lecture. The full ethics/safety deck will go deeper. Students should understand that some topics may need alternate methods, mentor settings, public datasets, simulations, or approval before any work begins.</a:t>
            </a:r>
            <a:br>
              <a:rPr lang="en-US"/>
            </a:br>
            <a:br>
              <a:rPr lang="en-US"/>
            </a:br>
            <a:r>
              <a:rPr lang="en-US"/>
              <a:t>Resource alignment:</a:t>
            </a:r>
            <a:br>
              <a:rPr lang="en-US"/>
            </a:br>
            <a:r>
              <a:rPr lang="en-US"/>
              <a:t>Reference Unit 1 Student Handout 4: Research Ethics and Integrity Agreement, Unit 1 Student Handout 7: Question Quality Test, and preview Deck 3: Research Ethics, Safety, and Integrity.</a:t>
            </a:r>
            <a:endParaRPr/>
          </a:p>
        </p:txBody>
      </p:sp>
      <p:sp>
        <p:nvSpPr>
          <p:cNvPr id="268" name="Google Shape;26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 name="Google Shape;28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a revision toolkit. Have students copy these five moves into their notes or onto the top of Handout 6. Activity: students apply at least two upgrade moves to their draft question.</a:t>
            </a:r>
            <a:br>
              <a:rPr lang="en-US"/>
            </a:br>
            <a:br>
              <a:rPr lang="en-US"/>
            </a:br>
            <a:r>
              <a:rPr lang="en-US"/>
              <a:t>Resource alignment:</a:t>
            </a:r>
            <a:br>
              <a:rPr lang="en-US"/>
            </a:br>
            <a:r>
              <a:rPr lang="en-US"/>
              <a:t>Use Unit 1 Student Handout 6: From Topic to Research Question and Unit 1 Appendix E: Strong vs. Weak Research Questions.</a:t>
            </a:r>
            <a:endParaRPr/>
          </a:p>
        </p:txBody>
      </p:sp>
      <p:sp>
        <p:nvSpPr>
          <p:cNvPr id="284" name="Google Shape;28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2" name="Google Shape;31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most important student work time in the deck. Do not rush it. Have students write actual wording. Collect one or two before/after examples to display anonymously in the next class.</a:t>
            </a:r>
            <a:br>
              <a:rPr lang="en-US"/>
            </a:br>
            <a:br>
              <a:rPr lang="en-US"/>
            </a:br>
            <a:r>
              <a:rPr lang="en-US"/>
              <a:t>Resource alignment:</a:t>
            </a:r>
            <a:br>
              <a:rPr lang="en-US"/>
            </a:br>
            <a:r>
              <a:rPr lang="en-US"/>
              <a:t>Use Unit 1 Student Handout 6: From Topic to Research Question and Unit 1 Student Handout 7: Question Quality Test.</a:t>
            </a:r>
            <a:endParaRPr/>
          </a:p>
        </p:txBody>
      </p:sp>
      <p:sp>
        <p:nvSpPr>
          <p:cNvPr id="313" name="Google Shape;31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9" name="Google Shape;32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is primarily for teachers, but students benefit from hearing the questions. During work time, use these exact prompts. Avoid approving or rejecting too quickly. Help students clarify evidence first.</a:t>
            </a:r>
            <a:br>
              <a:rPr lang="en-US"/>
            </a:br>
            <a:br>
              <a:rPr lang="en-US"/>
            </a:br>
            <a:r>
              <a:rPr lang="en-US"/>
              <a:t>Resource alignment:</a:t>
            </a:r>
            <a:br>
              <a:rPr lang="en-US"/>
            </a:br>
            <a:r>
              <a:rPr lang="en-US"/>
              <a:t>Use Unit 1 Appendix H: Teacher Conference Guide. This also supports Unit 1 Student Handout 7: Question Quality Test and Unit 1 Student Handout 8: Preliminary Project Pitch.</a:t>
            </a:r>
            <a:endParaRPr/>
          </a:p>
        </p:txBody>
      </p:sp>
      <p:sp>
        <p:nvSpPr>
          <p:cNvPr id="330" name="Google Shape;33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Collect the exit ticket. Sort students before the next class into categories: promising, needs measurability, needs feasibility support, safety/ethics concern, engineering pathway, no idea yet. This will make Unit 2 conferences much more efficient.</a:t>
            </a:r>
            <a:br>
              <a:rPr lang="en-US"/>
            </a:br>
            <a:br>
              <a:rPr lang="en-US"/>
            </a:br>
            <a:r>
              <a:rPr lang="en-US"/>
              <a:t>Resource alignment:</a:t>
            </a:r>
            <a:br>
              <a:rPr lang="en-US"/>
            </a:br>
            <a:r>
              <a:rPr lang="en-US"/>
              <a:t>Use Unit 1 Student Handout 7: Question Quality Test and Unit 1 Student Handout 8: Preliminary Project Pitch. Reference Unit 1 Appendix H: Teacher Conference Guide for follow-up conferences.</a:t>
            </a:r>
            <a:endParaRPr/>
          </a:p>
        </p:txBody>
      </p:sp>
      <p:sp>
        <p:nvSpPr>
          <p:cNvPr id="345" name="Google Shape;345;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1" name="Google Shape;3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Preview Unit 2 without overwhelming students. Remind them that the goal is not a perfect question yet. The goal is a question that is clear enough to begin planning and discussing feasibility.</a:t>
            </a:r>
            <a:br>
              <a:rPr lang="en-US"/>
            </a:br>
            <a:br>
              <a:rPr lang="en-US"/>
            </a:br>
            <a:r>
              <a:rPr lang="en-US"/>
              <a:t>Resource alignment:</a:t>
            </a:r>
            <a:br>
              <a:rPr lang="en-US"/>
            </a:br>
            <a:r>
              <a:rPr lang="en-US"/>
              <a:t>Use Unit 1 Student Handout 8: Preliminary Project Pitch. Next deck connection: Deck 3: Research Ethics, Safety, and Integrity.</a:t>
            </a:r>
            <a:endParaRPr/>
          </a:p>
        </p:txBody>
      </p:sp>
      <p:sp>
        <p:nvSpPr>
          <p:cNvPr id="362" name="Google Shape;3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0" y="219456"/>
            <a:ext cx="12191695" cy="82296"/>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0" y="6565392"/>
            <a:ext cx="12191695" cy="82296"/>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mnt/data/STARLAB Logo 2026.png" id="19" name="Google Shape;19;p3"/>
          <p:cNvPicPr preferRelativeResize="0"/>
          <p:nvPr/>
        </p:nvPicPr>
        <p:blipFill rotWithShape="1">
          <a:blip r:embed="rId3">
            <a:alphaModFix/>
          </a:blip>
          <a:srcRect b="0" l="0" r="0" t="0"/>
          <a:stretch/>
        </p:blipFill>
        <p:spPr>
          <a:xfrm>
            <a:off x="1572768" y="512064"/>
            <a:ext cx="9052560" cy="4224528"/>
          </a:xfrm>
          <a:prstGeom prst="rect">
            <a:avLst/>
          </a:prstGeom>
          <a:noFill/>
          <a:ln>
            <a:noFill/>
          </a:ln>
        </p:spPr>
      </p:pic>
      <p:sp>
        <p:nvSpPr>
          <p:cNvPr id="20" name="Google Shape;20;p3"/>
          <p:cNvSpPr/>
          <p:nvPr/>
        </p:nvSpPr>
        <p:spPr>
          <a:xfrm>
            <a:off x="960120" y="5010912"/>
            <a:ext cx="10287000" cy="868680"/>
          </a:xfrm>
          <a:prstGeom prst="rect">
            <a:avLst/>
          </a:prstGeom>
          <a:solidFill>
            <a:srgbClr val="050505">
              <a:alpha val="0"/>
            </a:srgbClr>
          </a:solidFill>
          <a:ln cap="flat" cmpd="sng" w="15225">
            <a:solidFill>
              <a:srgbClr val="B8B8B8">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1024128" y="5102352"/>
            <a:ext cx="101498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500"/>
              <a:buFont typeface="Play"/>
              <a:buNone/>
            </a:pPr>
            <a:r>
              <a:rPr b="1" i="0" lang="en-US" sz="2500" u="none" cap="none" strike="noStrike">
                <a:solidFill>
                  <a:srgbClr val="FFFFFF"/>
                </a:solidFill>
                <a:latin typeface="Play"/>
                <a:ea typeface="Play"/>
                <a:cs typeface="Play"/>
                <a:sym typeface="Play"/>
              </a:rPr>
              <a:t>FROM TOPIC TO</a:t>
            </a:r>
            <a:endParaRPr b="0" i="0" sz="25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500"/>
              <a:buFont typeface="Play"/>
              <a:buNone/>
            </a:pPr>
            <a:r>
              <a:rPr b="1" i="0" lang="en-US" sz="2500" u="none" cap="none" strike="noStrike">
                <a:solidFill>
                  <a:srgbClr val="FFFFFF"/>
                </a:solidFill>
                <a:latin typeface="Play"/>
                <a:ea typeface="Play"/>
                <a:cs typeface="Play"/>
                <a:sym typeface="Play"/>
              </a:rPr>
              <a:t>RESEARCH QUESTION</a:t>
            </a:r>
            <a:endParaRPr b="0" i="0" sz="2500" u="none" cap="none" strike="noStrike">
              <a:solidFill>
                <a:schemeClr val="dk1"/>
              </a:solidFill>
              <a:latin typeface="Arial"/>
              <a:ea typeface="Arial"/>
              <a:cs typeface="Arial"/>
              <a:sym typeface="Arial"/>
            </a:endParaRPr>
          </a:p>
        </p:txBody>
      </p:sp>
      <p:sp>
        <p:nvSpPr>
          <p:cNvPr id="22" name="Google Shape;22;p3"/>
          <p:cNvSpPr/>
          <p:nvPr/>
        </p:nvSpPr>
        <p:spPr>
          <a:xfrm>
            <a:off x="1024128" y="5989320"/>
            <a:ext cx="7132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STARLAB Deck 02  •  Unit 1 Launch Sequence</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7" name="Shape 27"/>
        <p:cNvGrpSpPr/>
        <p:nvPr/>
      </p:nvGrpSpPr>
      <p:grpSpPr>
        <a:xfrm>
          <a:off x="0" y="0"/>
          <a:ext cx="0" cy="0"/>
          <a:chOff x="0" y="0"/>
          <a:chExt cx="0" cy="0"/>
        </a:xfrm>
      </p:grpSpPr>
      <p:sp>
        <p:nvSpPr>
          <p:cNvPr id="28" name="Google Shape;28;p4"/>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QUESTION DEVELOPMENT</a:t>
            </a:r>
            <a:endParaRPr b="0" i="0" sz="1000" u="none" cap="none" strike="noStrike">
              <a:solidFill>
                <a:schemeClr val="dk1"/>
              </a:solidFill>
              <a:latin typeface="Arial"/>
              <a:ea typeface="Arial"/>
              <a:cs typeface="Arial"/>
              <a:sym typeface="Arial"/>
            </a:endParaRPr>
          </a:p>
        </p:txBody>
      </p:sp>
      <p:sp>
        <p:nvSpPr>
          <p:cNvPr id="32" name="Google Shape;32;p4"/>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33" name="Google Shape;33;p4"/>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02</a:t>
            </a:r>
            <a:endParaRPr b="0" i="0" sz="1100" u="none" cap="none" strike="noStrike">
              <a:solidFill>
                <a:schemeClr val="dk1"/>
              </a:solidFill>
              <a:latin typeface="Arial"/>
              <a:ea typeface="Arial"/>
              <a:cs typeface="Arial"/>
              <a:sym typeface="Arial"/>
            </a:endParaRPr>
          </a:p>
        </p:txBody>
      </p:sp>
      <p:sp>
        <p:nvSpPr>
          <p:cNvPr id="34" name="Google Shape;34;p4"/>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Today’s Target</a:t>
            </a:r>
            <a:endParaRPr b="0" i="0" sz="2800" u="none" cap="none" strike="noStrike">
              <a:solidFill>
                <a:schemeClr val="dk1"/>
              </a:solidFill>
              <a:latin typeface="Arial"/>
              <a:ea typeface="Arial"/>
              <a:cs typeface="Arial"/>
              <a:sym typeface="Arial"/>
            </a:endParaRPr>
          </a:p>
        </p:txBody>
      </p:sp>
      <p:sp>
        <p:nvSpPr>
          <p:cNvPr id="35" name="Google Shape;35;p4"/>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Students move from broad curiosity to a testable research direction.</a:t>
            </a:r>
            <a:endParaRPr b="0" i="0" sz="1200" u="none" cap="none" strike="noStrike">
              <a:solidFill>
                <a:schemeClr val="dk1"/>
              </a:solidFill>
              <a:latin typeface="Arial"/>
              <a:ea typeface="Arial"/>
              <a:cs typeface="Arial"/>
              <a:sym typeface="Arial"/>
            </a:endParaRPr>
          </a:p>
        </p:txBody>
      </p:sp>
      <p:cxnSp>
        <p:nvCxnSpPr>
          <p:cNvPr id="36" name="Google Shape;36;p4"/>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7" name="Google Shape;37;p4"/>
          <p:cNvSpPr/>
          <p:nvPr/>
        </p:nvSpPr>
        <p:spPr>
          <a:xfrm>
            <a:off x="868680" y="1828800"/>
            <a:ext cx="10424160" cy="1280160"/>
          </a:xfrm>
          <a:prstGeom prst="roundRect">
            <a:avLst>
              <a:gd fmla="val 4286"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1033272" y="1965960"/>
            <a:ext cx="100949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BY THE END</a:t>
            </a:r>
            <a:endParaRPr b="0" i="0" sz="1100" u="none" cap="none" strike="noStrike">
              <a:solidFill>
                <a:schemeClr val="dk1"/>
              </a:solidFill>
              <a:latin typeface="Arial"/>
              <a:ea typeface="Arial"/>
              <a:cs typeface="Arial"/>
              <a:sym typeface="Arial"/>
            </a:endParaRPr>
          </a:p>
        </p:txBody>
      </p:sp>
      <p:sp>
        <p:nvSpPr>
          <p:cNvPr id="39" name="Google Shape;39;p4"/>
          <p:cNvSpPr/>
          <p:nvPr/>
        </p:nvSpPr>
        <p:spPr>
          <a:xfrm>
            <a:off x="1033272" y="2331720"/>
            <a:ext cx="10094976" cy="6217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You should be able to explain the difference between a topic, a focused topic, a research question, and an engineering problem.</a:t>
            </a:r>
            <a:endParaRPr b="0" i="0" sz="2200" u="none" cap="none" strike="noStrike">
              <a:solidFill>
                <a:schemeClr val="dk1"/>
              </a:solidFill>
              <a:latin typeface="Arial"/>
              <a:ea typeface="Arial"/>
              <a:cs typeface="Arial"/>
              <a:sym typeface="Arial"/>
            </a:endParaRPr>
          </a:p>
        </p:txBody>
      </p:sp>
      <p:sp>
        <p:nvSpPr>
          <p:cNvPr id="40" name="Google Shape;40;p4"/>
          <p:cNvSpPr/>
          <p:nvPr/>
        </p:nvSpPr>
        <p:spPr>
          <a:xfrm>
            <a:off x="868680" y="3657600"/>
            <a:ext cx="10424160" cy="1280160"/>
          </a:xfrm>
          <a:prstGeom prst="roundRect">
            <a:avLst>
              <a:gd fmla="val 4286"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p:nvPr/>
        </p:nvSpPr>
        <p:spPr>
          <a:xfrm>
            <a:off x="1033272" y="3794760"/>
            <a:ext cx="100949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YOU WILL ALSO</a:t>
            </a:r>
            <a:endParaRPr b="0" i="0" sz="1100" u="none" cap="none" strike="noStrike">
              <a:solidFill>
                <a:schemeClr val="dk1"/>
              </a:solidFill>
              <a:latin typeface="Arial"/>
              <a:ea typeface="Arial"/>
              <a:cs typeface="Arial"/>
              <a:sym typeface="Arial"/>
            </a:endParaRPr>
          </a:p>
        </p:txBody>
      </p:sp>
      <p:sp>
        <p:nvSpPr>
          <p:cNvPr id="42" name="Google Shape;42;p4"/>
          <p:cNvSpPr/>
          <p:nvPr/>
        </p:nvSpPr>
        <p:spPr>
          <a:xfrm>
            <a:off x="1033272" y="4160520"/>
            <a:ext cx="10094976" cy="6217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Revise one early idea into something that can be measured, tested, modeled, built, compared, or improved.</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47" name="Shape 47"/>
        <p:cNvGrpSpPr/>
        <p:nvPr/>
      </p:nvGrpSpPr>
      <p:grpSpPr>
        <a:xfrm>
          <a:off x="0" y="0"/>
          <a:ext cx="0" cy="0"/>
          <a:chOff x="0" y="0"/>
          <a:chExt cx="0" cy="0"/>
        </a:xfrm>
      </p:grpSpPr>
      <p:sp>
        <p:nvSpPr>
          <p:cNvPr id="48" name="Google Shape;48;p5"/>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5"/>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5"/>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QUESTION DEVELOPMENT</a:t>
            </a:r>
            <a:endParaRPr b="0" i="0" sz="1000" u="none" cap="none" strike="noStrike">
              <a:solidFill>
                <a:schemeClr val="dk1"/>
              </a:solidFill>
              <a:latin typeface="Arial"/>
              <a:ea typeface="Arial"/>
              <a:cs typeface="Arial"/>
              <a:sym typeface="Arial"/>
            </a:endParaRPr>
          </a:p>
        </p:txBody>
      </p:sp>
      <p:sp>
        <p:nvSpPr>
          <p:cNvPr id="52" name="Google Shape;52;p5"/>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53" name="Google Shape;53;p5"/>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02</a:t>
            </a:r>
            <a:endParaRPr b="0" i="0" sz="1100" u="none" cap="none" strike="noStrike">
              <a:solidFill>
                <a:schemeClr val="dk1"/>
              </a:solidFill>
              <a:latin typeface="Arial"/>
              <a:ea typeface="Arial"/>
              <a:cs typeface="Arial"/>
              <a:sym typeface="Arial"/>
            </a:endParaRPr>
          </a:p>
        </p:txBody>
      </p:sp>
      <p:sp>
        <p:nvSpPr>
          <p:cNvPr id="54" name="Google Shape;54;p5"/>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 Topic Is Not a Project</a:t>
            </a:r>
            <a:endParaRPr b="0" i="0" sz="2800" u="none" cap="none" strike="noStrike">
              <a:solidFill>
                <a:schemeClr val="dk1"/>
              </a:solidFill>
              <a:latin typeface="Arial"/>
              <a:ea typeface="Arial"/>
              <a:cs typeface="Arial"/>
              <a:sym typeface="Arial"/>
            </a:endParaRPr>
          </a:p>
        </p:txBody>
      </p:sp>
      <p:sp>
        <p:nvSpPr>
          <p:cNvPr id="55" name="Google Shape;55;p5"/>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Curiosity begins broad. Research has to become specific.</a:t>
            </a:r>
            <a:endParaRPr b="0" i="0" sz="1200" u="none" cap="none" strike="noStrike">
              <a:solidFill>
                <a:schemeClr val="dk1"/>
              </a:solidFill>
              <a:latin typeface="Arial"/>
              <a:ea typeface="Arial"/>
              <a:cs typeface="Arial"/>
              <a:sym typeface="Arial"/>
            </a:endParaRPr>
          </a:p>
        </p:txBody>
      </p:sp>
      <p:cxnSp>
        <p:nvCxnSpPr>
          <p:cNvPr id="56" name="Google Shape;56;p5"/>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57" name="Google Shape;57;p5"/>
          <p:cNvSpPr/>
          <p:nvPr/>
        </p:nvSpPr>
        <p:spPr>
          <a:xfrm>
            <a:off x="868680" y="1874520"/>
            <a:ext cx="4114800" cy="2514600"/>
          </a:xfrm>
          <a:prstGeom prst="roundRect">
            <a:avLst>
              <a:gd fmla="val 2182"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5"/>
          <p:cNvSpPr/>
          <p:nvPr/>
        </p:nvSpPr>
        <p:spPr>
          <a:xfrm>
            <a:off x="1033272" y="2011680"/>
            <a:ext cx="378561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BROAD TOPIC</a:t>
            </a:r>
            <a:endParaRPr b="0" i="0" sz="1100" u="none" cap="none" strike="noStrike">
              <a:solidFill>
                <a:schemeClr val="dk1"/>
              </a:solidFill>
              <a:latin typeface="Arial"/>
              <a:ea typeface="Arial"/>
              <a:cs typeface="Arial"/>
              <a:sym typeface="Arial"/>
            </a:endParaRPr>
          </a:p>
        </p:txBody>
      </p:sp>
      <p:sp>
        <p:nvSpPr>
          <p:cNvPr id="59" name="Google Shape;59;p5"/>
          <p:cNvSpPr/>
          <p:nvPr/>
        </p:nvSpPr>
        <p:spPr>
          <a:xfrm>
            <a:off x="1033272" y="2377440"/>
            <a:ext cx="3785616" cy="18562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100"/>
              <a:buFont typeface="Arial"/>
              <a:buNone/>
            </a:pPr>
            <a:r>
              <a:rPr b="0" i="0" lang="en-US" sz="2100" u="none" cap="none" strike="noStrike">
                <a:solidFill>
                  <a:srgbClr val="FFFFFF"/>
                </a:solidFill>
                <a:latin typeface="Arial"/>
                <a:ea typeface="Arial"/>
                <a:cs typeface="Arial"/>
                <a:sym typeface="Arial"/>
              </a:rPr>
              <a:t>“I want to study cancer.”</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100"/>
              <a:buFont typeface="Arial"/>
              <a:buNone/>
            </a:pPr>
            <a:r>
              <a:rPr b="0" i="0" lang="en-US" sz="2100" u="none" cap="none" strike="noStrike">
                <a:solidFill>
                  <a:srgbClr val="FFFFFF"/>
                </a:solidFill>
                <a:latin typeface="Arial"/>
                <a:ea typeface="Arial"/>
                <a:cs typeface="Arial"/>
                <a:sym typeface="Arial"/>
              </a:rPr>
              <a:t>That might be a powerful interest, but it is not yet a research question.</a:t>
            </a:r>
            <a:endParaRPr b="0" i="0" sz="2100" u="none" cap="none" strike="noStrike">
              <a:solidFill>
                <a:schemeClr val="dk1"/>
              </a:solidFill>
              <a:latin typeface="Arial"/>
              <a:ea typeface="Arial"/>
              <a:cs typeface="Arial"/>
              <a:sym typeface="Arial"/>
            </a:endParaRPr>
          </a:p>
        </p:txBody>
      </p:sp>
      <p:sp>
        <p:nvSpPr>
          <p:cNvPr id="60" name="Google Shape;60;p5"/>
          <p:cNvSpPr/>
          <p:nvPr/>
        </p:nvSpPr>
        <p:spPr>
          <a:xfrm>
            <a:off x="5486400" y="1874520"/>
            <a:ext cx="5715000" cy="2514600"/>
          </a:xfrm>
          <a:prstGeom prst="roundRect">
            <a:avLst>
              <a:gd fmla="val 2182"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p:nvPr/>
        </p:nvSpPr>
        <p:spPr>
          <a:xfrm>
            <a:off x="5650992" y="2011680"/>
            <a:ext cx="538581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THE SHIFT</a:t>
            </a:r>
            <a:endParaRPr b="0" i="0" sz="1100" u="none" cap="none" strike="noStrike">
              <a:solidFill>
                <a:schemeClr val="dk1"/>
              </a:solidFill>
              <a:latin typeface="Arial"/>
              <a:ea typeface="Arial"/>
              <a:cs typeface="Arial"/>
              <a:sym typeface="Arial"/>
            </a:endParaRPr>
          </a:p>
        </p:txBody>
      </p:sp>
      <p:sp>
        <p:nvSpPr>
          <p:cNvPr id="62" name="Google Shape;62;p5"/>
          <p:cNvSpPr/>
          <p:nvPr/>
        </p:nvSpPr>
        <p:spPr>
          <a:xfrm>
            <a:off x="5650992" y="2377440"/>
            <a:ext cx="5385816" cy="18562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A topic tells us the area.</a:t>
            </a:r>
            <a:endParaRPr b="0" i="0" sz="20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A research question tells us what evidence will be collected.</a:t>
            </a:r>
            <a:endParaRPr b="0" i="0" sz="20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Shift from “what am I interested in?” to “what can I investigate?”</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67" name="Shape 67"/>
        <p:cNvGrpSpPr/>
        <p:nvPr/>
      </p:nvGrpSpPr>
      <p:grpSpPr>
        <a:xfrm>
          <a:off x="0" y="0"/>
          <a:ext cx="0" cy="0"/>
          <a:chOff x="0" y="0"/>
          <a:chExt cx="0" cy="0"/>
        </a:xfrm>
      </p:grpSpPr>
      <p:sp>
        <p:nvSpPr>
          <p:cNvPr id="68" name="Google Shape;68;p6"/>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6"/>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6"/>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QUESTION DEVELOPMENT</a:t>
            </a:r>
            <a:endParaRPr b="0" i="0" sz="1000" u="none" cap="none" strike="noStrike">
              <a:solidFill>
                <a:schemeClr val="dk1"/>
              </a:solidFill>
              <a:latin typeface="Arial"/>
              <a:ea typeface="Arial"/>
              <a:cs typeface="Arial"/>
              <a:sym typeface="Arial"/>
            </a:endParaRPr>
          </a:p>
        </p:txBody>
      </p:sp>
      <p:sp>
        <p:nvSpPr>
          <p:cNvPr id="72" name="Google Shape;72;p6"/>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73" name="Google Shape;73;p6"/>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02</a:t>
            </a:r>
            <a:endParaRPr b="0" i="0" sz="1100" u="none" cap="none" strike="noStrike">
              <a:solidFill>
                <a:schemeClr val="dk1"/>
              </a:solidFill>
              <a:latin typeface="Arial"/>
              <a:ea typeface="Arial"/>
              <a:cs typeface="Arial"/>
              <a:sym typeface="Arial"/>
            </a:endParaRPr>
          </a:p>
        </p:txBody>
      </p:sp>
      <p:sp>
        <p:nvSpPr>
          <p:cNvPr id="74" name="Google Shape;74;p6"/>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The Narrowing Ladder</a:t>
            </a:r>
            <a:endParaRPr b="0" i="0" sz="2800" u="none" cap="none" strike="noStrike">
              <a:solidFill>
                <a:schemeClr val="dk1"/>
              </a:solidFill>
              <a:latin typeface="Arial"/>
              <a:ea typeface="Arial"/>
              <a:cs typeface="Arial"/>
              <a:sym typeface="Arial"/>
            </a:endParaRPr>
          </a:p>
        </p:txBody>
      </p:sp>
      <p:sp>
        <p:nvSpPr>
          <p:cNvPr id="75" name="Google Shape;75;p6"/>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A repeatable move for turning curiosity into research.</a:t>
            </a:r>
            <a:endParaRPr b="0" i="0" sz="1200" u="none" cap="none" strike="noStrike">
              <a:solidFill>
                <a:schemeClr val="dk1"/>
              </a:solidFill>
              <a:latin typeface="Arial"/>
              <a:ea typeface="Arial"/>
              <a:cs typeface="Arial"/>
              <a:sym typeface="Arial"/>
            </a:endParaRPr>
          </a:p>
        </p:txBody>
      </p:sp>
      <p:cxnSp>
        <p:nvCxnSpPr>
          <p:cNvPr id="76" name="Google Shape;76;p6"/>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77" name="Google Shape;77;p6"/>
          <p:cNvSpPr/>
          <p:nvPr/>
        </p:nvSpPr>
        <p:spPr>
          <a:xfrm>
            <a:off x="777240" y="2057400"/>
            <a:ext cx="2331720" cy="2057400"/>
          </a:xfrm>
          <a:prstGeom prst="roundRect">
            <a:avLst>
              <a:gd fmla="val 2667"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6"/>
          <p:cNvSpPr/>
          <p:nvPr/>
        </p:nvSpPr>
        <p:spPr>
          <a:xfrm>
            <a:off x="941832" y="2194560"/>
            <a:ext cx="20025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BROAD TOPIC</a:t>
            </a:r>
            <a:endParaRPr b="0" i="0" sz="1100" u="none" cap="none" strike="noStrike">
              <a:solidFill>
                <a:schemeClr val="dk1"/>
              </a:solidFill>
              <a:latin typeface="Arial"/>
              <a:ea typeface="Arial"/>
              <a:cs typeface="Arial"/>
              <a:sym typeface="Arial"/>
            </a:endParaRPr>
          </a:p>
        </p:txBody>
      </p:sp>
      <p:sp>
        <p:nvSpPr>
          <p:cNvPr id="79" name="Google Shape;79;p6"/>
          <p:cNvSpPr/>
          <p:nvPr/>
        </p:nvSpPr>
        <p:spPr>
          <a:xfrm>
            <a:off x="941832" y="2560320"/>
            <a:ext cx="2002536" cy="13990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Water pollution</a:t>
            </a:r>
            <a:endParaRPr b="0" i="0" sz="1800" u="none" cap="none" strike="noStrike">
              <a:solidFill>
                <a:schemeClr val="dk1"/>
              </a:solidFill>
              <a:latin typeface="Arial"/>
              <a:ea typeface="Arial"/>
              <a:cs typeface="Arial"/>
              <a:sym typeface="Arial"/>
            </a:endParaRPr>
          </a:p>
        </p:txBody>
      </p:sp>
      <p:cxnSp>
        <p:nvCxnSpPr>
          <p:cNvPr id="80" name="Google Shape;80;p6"/>
          <p:cNvCxnSpPr/>
          <p:nvPr/>
        </p:nvCxnSpPr>
        <p:spPr>
          <a:xfrm>
            <a:off x="3127248" y="3063240"/>
            <a:ext cx="457200" cy="0"/>
          </a:xfrm>
          <a:prstGeom prst="straightConnector1">
            <a:avLst/>
          </a:prstGeom>
          <a:noFill/>
          <a:ln cap="flat" cmpd="sng" w="15225">
            <a:solidFill>
              <a:srgbClr val="B8B8B8"/>
            </a:solidFill>
            <a:prstDash val="solid"/>
            <a:round/>
            <a:headEnd len="sm" w="sm" type="none"/>
            <a:tailEnd len="med" w="med" type="triangle"/>
          </a:ln>
        </p:spPr>
      </p:cxnSp>
      <p:sp>
        <p:nvSpPr>
          <p:cNvPr id="81" name="Google Shape;81;p6"/>
          <p:cNvSpPr/>
          <p:nvPr/>
        </p:nvSpPr>
        <p:spPr>
          <a:xfrm>
            <a:off x="3657600" y="2057400"/>
            <a:ext cx="2331720" cy="2057400"/>
          </a:xfrm>
          <a:prstGeom prst="roundRect">
            <a:avLst>
              <a:gd fmla="val 2667"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p:cNvSpPr/>
          <p:nvPr/>
        </p:nvSpPr>
        <p:spPr>
          <a:xfrm>
            <a:off x="3822192" y="2194560"/>
            <a:ext cx="20025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FOCUSED TOPIC</a:t>
            </a:r>
            <a:endParaRPr b="0" i="0" sz="1100" u="none" cap="none" strike="noStrike">
              <a:solidFill>
                <a:schemeClr val="dk1"/>
              </a:solidFill>
              <a:latin typeface="Arial"/>
              <a:ea typeface="Arial"/>
              <a:cs typeface="Arial"/>
              <a:sym typeface="Arial"/>
            </a:endParaRPr>
          </a:p>
        </p:txBody>
      </p:sp>
      <p:sp>
        <p:nvSpPr>
          <p:cNvPr id="83" name="Google Shape;83;p6"/>
          <p:cNvSpPr/>
          <p:nvPr/>
        </p:nvSpPr>
        <p:spPr>
          <a:xfrm>
            <a:off x="3822192" y="2560320"/>
            <a:ext cx="2002536" cy="13990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Microplastics in local runoff</a:t>
            </a:r>
            <a:endParaRPr b="0" i="0" sz="1800" u="none" cap="none" strike="noStrike">
              <a:solidFill>
                <a:schemeClr val="dk1"/>
              </a:solidFill>
              <a:latin typeface="Arial"/>
              <a:ea typeface="Arial"/>
              <a:cs typeface="Arial"/>
              <a:sym typeface="Arial"/>
            </a:endParaRPr>
          </a:p>
        </p:txBody>
      </p:sp>
      <p:cxnSp>
        <p:nvCxnSpPr>
          <p:cNvPr id="84" name="Google Shape;84;p6"/>
          <p:cNvCxnSpPr/>
          <p:nvPr/>
        </p:nvCxnSpPr>
        <p:spPr>
          <a:xfrm>
            <a:off x="6007608" y="3063240"/>
            <a:ext cx="457200" cy="0"/>
          </a:xfrm>
          <a:prstGeom prst="straightConnector1">
            <a:avLst/>
          </a:prstGeom>
          <a:noFill/>
          <a:ln cap="flat" cmpd="sng" w="15225">
            <a:solidFill>
              <a:srgbClr val="B8B8B8"/>
            </a:solidFill>
            <a:prstDash val="solid"/>
            <a:round/>
            <a:headEnd len="sm" w="sm" type="none"/>
            <a:tailEnd len="med" w="med" type="triangle"/>
          </a:ln>
        </p:spPr>
      </p:cxnSp>
      <p:sp>
        <p:nvSpPr>
          <p:cNvPr id="85" name="Google Shape;85;p6"/>
          <p:cNvSpPr/>
          <p:nvPr/>
        </p:nvSpPr>
        <p:spPr>
          <a:xfrm>
            <a:off x="6537960" y="2057400"/>
            <a:ext cx="2331720" cy="2057400"/>
          </a:xfrm>
          <a:prstGeom prst="roundRect">
            <a:avLst>
              <a:gd fmla="val 2667"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a:off x="6702552" y="2194560"/>
            <a:ext cx="20025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MEASURABLE FACTOR</a:t>
            </a:r>
            <a:endParaRPr b="0" i="0" sz="1100" u="none" cap="none" strike="noStrike">
              <a:solidFill>
                <a:schemeClr val="dk1"/>
              </a:solidFill>
              <a:latin typeface="Arial"/>
              <a:ea typeface="Arial"/>
              <a:cs typeface="Arial"/>
              <a:sym typeface="Arial"/>
            </a:endParaRPr>
          </a:p>
        </p:txBody>
      </p:sp>
      <p:sp>
        <p:nvSpPr>
          <p:cNvPr id="87" name="Google Shape;87;p6"/>
          <p:cNvSpPr/>
          <p:nvPr/>
        </p:nvSpPr>
        <p:spPr>
          <a:xfrm>
            <a:off x="6702552" y="2560320"/>
            <a:ext cx="2002536" cy="13990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Number of visible particles per sample</a:t>
            </a:r>
            <a:endParaRPr b="0" i="0" sz="1800" u="none" cap="none" strike="noStrike">
              <a:solidFill>
                <a:schemeClr val="dk1"/>
              </a:solidFill>
              <a:latin typeface="Arial"/>
              <a:ea typeface="Arial"/>
              <a:cs typeface="Arial"/>
              <a:sym typeface="Arial"/>
            </a:endParaRPr>
          </a:p>
        </p:txBody>
      </p:sp>
      <p:cxnSp>
        <p:nvCxnSpPr>
          <p:cNvPr id="88" name="Google Shape;88;p6"/>
          <p:cNvCxnSpPr/>
          <p:nvPr/>
        </p:nvCxnSpPr>
        <p:spPr>
          <a:xfrm>
            <a:off x="8887968" y="3063240"/>
            <a:ext cx="457200" cy="0"/>
          </a:xfrm>
          <a:prstGeom prst="straightConnector1">
            <a:avLst/>
          </a:prstGeom>
          <a:noFill/>
          <a:ln cap="flat" cmpd="sng" w="15225">
            <a:solidFill>
              <a:srgbClr val="B8B8B8"/>
            </a:solidFill>
            <a:prstDash val="solid"/>
            <a:round/>
            <a:headEnd len="sm" w="sm" type="none"/>
            <a:tailEnd len="med" w="med" type="triangle"/>
          </a:ln>
        </p:spPr>
      </p:cxnSp>
      <p:sp>
        <p:nvSpPr>
          <p:cNvPr id="89" name="Google Shape;89;p6"/>
          <p:cNvSpPr/>
          <p:nvPr/>
        </p:nvSpPr>
        <p:spPr>
          <a:xfrm>
            <a:off x="9418320" y="2057400"/>
            <a:ext cx="2331720" cy="2057400"/>
          </a:xfrm>
          <a:prstGeom prst="roundRect">
            <a:avLst>
              <a:gd fmla="val 2667"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6"/>
          <p:cNvSpPr/>
          <p:nvPr/>
        </p:nvSpPr>
        <p:spPr>
          <a:xfrm>
            <a:off x="9582912" y="2194560"/>
            <a:ext cx="20025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RESEARCH QUESTION</a:t>
            </a:r>
            <a:endParaRPr b="0" i="0" sz="1100" u="none" cap="none" strike="noStrike">
              <a:solidFill>
                <a:schemeClr val="dk1"/>
              </a:solidFill>
              <a:latin typeface="Arial"/>
              <a:ea typeface="Arial"/>
              <a:cs typeface="Arial"/>
              <a:sym typeface="Arial"/>
            </a:endParaRPr>
          </a:p>
        </p:txBody>
      </p:sp>
      <p:sp>
        <p:nvSpPr>
          <p:cNvPr id="91" name="Google Shape;91;p6"/>
          <p:cNvSpPr/>
          <p:nvPr/>
        </p:nvSpPr>
        <p:spPr>
          <a:xfrm>
            <a:off x="9582912" y="2560320"/>
            <a:ext cx="2002536" cy="13990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How does sample location affect visible microplastic count?</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96" name="Shape 96"/>
        <p:cNvGrpSpPr/>
        <p:nvPr/>
      </p:nvGrpSpPr>
      <p:grpSpPr>
        <a:xfrm>
          <a:off x="0" y="0"/>
          <a:ext cx="0" cy="0"/>
          <a:chOff x="0" y="0"/>
          <a:chExt cx="0" cy="0"/>
        </a:xfrm>
      </p:grpSpPr>
      <p:sp>
        <p:nvSpPr>
          <p:cNvPr id="97" name="Google Shape;97;p7"/>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7"/>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7"/>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7"/>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QUESTION DEVELOPMENT</a:t>
            </a:r>
            <a:endParaRPr b="0" i="0" sz="1000" u="none" cap="none" strike="noStrike">
              <a:solidFill>
                <a:schemeClr val="dk1"/>
              </a:solidFill>
              <a:latin typeface="Arial"/>
              <a:ea typeface="Arial"/>
              <a:cs typeface="Arial"/>
              <a:sym typeface="Arial"/>
            </a:endParaRPr>
          </a:p>
        </p:txBody>
      </p:sp>
      <p:sp>
        <p:nvSpPr>
          <p:cNvPr id="101" name="Google Shape;101;p7"/>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102" name="Google Shape;102;p7"/>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02</a:t>
            </a:r>
            <a:endParaRPr b="0" i="0" sz="1100" u="none" cap="none" strike="noStrike">
              <a:solidFill>
                <a:schemeClr val="dk1"/>
              </a:solidFill>
              <a:latin typeface="Arial"/>
              <a:ea typeface="Arial"/>
              <a:cs typeface="Arial"/>
              <a:sym typeface="Arial"/>
            </a:endParaRPr>
          </a:p>
        </p:txBody>
      </p:sp>
      <p:sp>
        <p:nvSpPr>
          <p:cNvPr id="103" name="Google Shape;103;p7"/>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Four Things Students Mix Up</a:t>
            </a:r>
            <a:endParaRPr b="0" i="0" sz="2800" u="none" cap="none" strike="noStrike">
              <a:solidFill>
                <a:schemeClr val="dk1"/>
              </a:solidFill>
              <a:latin typeface="Arial"/>
              <a:ea typeface="Arial"/>
              <a:cs typeface="Arial"/>
              <a:sym typeface="Arial"/>
            </a:endParaRPr>
          </a:p>
        </p:txBody>
      </p:sp>
      <p:sp>
        <p:nvSpPr>
          <p:cNvPr id="104" name="Google Shape;104;p7"/>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Name the difference before asking them to write one.</a:t>
            </a:r>
            <a:endParaRPr b="0" i="0" sz="1200" u="none" cap="none" strike="noStrike">
              <a:solidFill>
                <a:schemeClr val="dk1"/>
              </a:solidFill>
              <a:latin typeface="Arial"/>
              <a:ea typeface="Arial"/>
              <a:cs typeface="Arial"/>
              <a:sym typeface="Arial"/>
            </a:endParaRPr>
          </a:p>
        </p:txBody>
      </p:sp>
      <p:cxnSp>
        <p:nvCxnSpPr>
          <p:cNvPr id="105" name="Google Shape;105;p7"/>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06" name="Google Shape;106;p7"/>
          <p:cNvSpPr/>
          <p:nvPr/>
        </p:nvSpPr>
        <p:spPr>
          <a:xfrm>
            <a:off x="777240" y="1828800"/>
            <a:ext cx="2560320" cy="3154680"/>
          </a:xfrm>
          <a:prstGeom prst="roundRect">
            <a:avLst>
              <a:gd fmla="val 2143"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7"/>
          <p:cNvSpPr/>
          <p:nvPr/>
        </p:nvSpPr>
        <p:spPr>
          <a:xfrm>
            <a:off x="941832" y="1965960"/>
            <a:ext cx="22311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TOPIC</a:t>
            </a:r>
            <a:endParaRPr b="0" i="0" sz="1100" u="none" cap="none" strike="noStrike">
              <a:solidFill>
                <a:schemeClr val="dk1"/>
              </a:solidFill>
              <a:latin typeface="Arial"/>
              <a:ea typeface="Arial"/>
              <a:cs typeface="Arial"/>
              <a:sym typeface="Arial"/>
            </a:endParaRPr>
          </a:p>
        </p:txBody>
      </p:sp>
      <p:sp>
        <p:nvSpPr>
          <p:cNvPr id="108" name="Google Shape;108;p7"/>
          <p:cNvSpPr/>
          <p:nvPr/>
        </p:nvSpPr>
        <p:spPr>
          <a:xfrm>
            <a:off x="941832" y="2331720"/>
            <a:ext cx="2231136" cy="24963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The area of interest</a:t>
            </a:r>
            <a:endParaRPr b="0" i="0" sz="20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Battery life</a:t>
            </a:r>
            <a:endParaRPr b="0" i="0" sz="2000" u="none" cap="none" strike="noStrike">
              <a:solidFill>
                <a:schemeClr val="dk1"/>
              </a:solidFill>
              <a:latin typeface="Arial"/>
              <a:ea typeface="Arial"/>
              <a:cs typeface="Arial"/>
              <a:sym typeface="Arial"/>
            </a:endParaRPr>
          </a:p>
        </p:txBody>
      </p:sp>
      <p:sp>
        <p:nvSpPr>
          <p:cNvPr id="109" name="Google Shape;109;p7"/>
          <p:cNvSpPr/>
          <p:nvPr/>
        </p:nvSpPr>
        <p:spPr>
          <a:xfrm>
            <a:off x="3520440" y="1828800"/>
            <a:ext cx="2560320" cy="3154680"/>
          </a:xfrm>
          <a:prstGeom prst="roundRect">
            <a:avLst>
              <a:gd fmla="val 2143"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7"/>
          <p:cNvSpPr/>
          <p:nvPr/>
        </p:nvSpPr>
        <p:spPr>
          <a:xfrm>
            <a:off x="3685032" y="1965960"/>
            <a:ext cx="22311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QUESTION</a:t>
            </a:r>
            <a:endParaRPr b="0" i="0" sz="1100" u="none" cap="none" strike="noStrike">
              <a:solidFill>
                <a:schemeClr val="dk1"/>
              </a:solidFill>
              <a:latin typeface="Arial"/>
              <a:ea typeface="Arial"/>
              <a:cs typeface="Arial"/>
              <a:sym typeface="Arial"/>
            </a:endParaRPr>
          </a:p>
        </p:txBody>
      </p:sp>
      <p:sp>
        <p:nvSpPr>
          <p:cNvPr id="111" name="Google Shape;111;p7"/>
          <p:cNvSpPr/>
          <p:nvPr/>
        </p:nvSpPr>
        <p:spPr>
          <a:xfrm>
            <a:off x="3685032" y="2331720"/>
            <a:ext cx="2231136" cy="24963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What you want to find out</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How does temperature affect voltage output?</a:t>
            </a:r>
            <a:endParaRPr b="0" i="0" sz="1800" u="none" cap="none" strike="noStrike">
              <a:solidFill>
                <a:schemeClr val="dk1"/>
              </a:solidFill>
              <a:latin typeface="Arial"/>
              <a:ea typeface="Arial"/>
              <a:cs typeface="Arial"/>
              <a:sym typeface="Arial"/>
            </a:endParaRPr>
          </a:p>
        </p:txBody>
      </p:sp>
      <p:sp>
        <p:nvSpPr>
          <p:cNvPr id="112" name="Google Shape;112;p7"/>
          <p:cNvSpPr/>
          <p:nvPr/>
        </p:nvSpPr>
        <p:spPr>
          <a:xfrm>
            <a:off x="6263640" y="1828800"/>
            <a:ext cx="2560320" cy="3154680"/>
          </a:xfrm>
          <a:prstGeom prst="roundRect">
            <a:avLst>
              <a:gd fmla="val 2143"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7"/>
          <p:cNvSpPr/>
          <p:nvPr/>
        </p:nvSpPr>
        <p:spPr>
          <a:xfrm>
            <a:off x="6428232" y="1965960"/>
            <a:ext cx="22311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HYPOTHESIS</a:t>
            </a:r>
            <a:endParaRPr b="0" i="0" sz="1100" u="none" cap="none" strike="noStrike">
              <a:solidFill>
                <a:schemeClr val="dk1"/>
              </a:solidFill>
              <a:latin typeface="Arial"/>
              <a:ea typeface="Arial"/>
              <a:cs typeface="Arial"/>
              <a:sym typeface="Arial"/>
            </a:endParaRPr>
          </a:p>
        </p:txBody>
      </p:sp>
      <p:sp>
        <p:nvSpPr>
          <p:cNvPr id="114" name="Google Shape;114;p7"/>
          <p:cNvSpPr/>
          <p:nvPr/>
        </p:nvSpPr>
        <p:spPr>
          <a:xfrm>
            <a:off x="6428232" y="2331720"/>
            <a:ext cx="2231136" cy="24963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A testable prediction with reasoning</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If temperature decreases, then voltage output will decrease because...</a:t>
            </a:r>
            <a:endParaRPr b="0" i="0" sz="1700" u="none" cap="none" strike="noStrike">
              <a:solidFill>
                <a:schemeClr val="dk1"/>
              </a:solidFill>
              <a:latin typeface="Arial"/>
              <a:ea typeface="Arial"/>
              <a:cs typeface="Arial"/>
              <a:sym typeface="Arial"/>
            </a:endParaRPr>
          </a:p>
        </p:txBody>
      </p:sp>
      <p:sp>
        <p:nvSpPr>
          <p:cNvPr id="115" name="Google Shape;115;p7"/>
          <p:cNvSpPr/>
          <p:nvPr/>
        </p:nvSpPr>
        <p:spPr>
          <a:xfrm>
            <a:off x="9006840" y="1828800"/>
            <a:ext cx="2560320" cy="3154680"/>
          </a:xfrm>
          <a:prstGeom prst="roundRect">
            <a:avLst>
              <a:gd fmla="val 2143"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7"/>
          <p:cNvSpPr/>
          <p:nvPr/>
        </p:nvSpPr>
        <p:spPr>
          <a:xfrm>
            <a:off x="9171432" y="1965960"/>
            <a:ext cx="22311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ENGINEERING PROBLEM</a:t>
            </a:r>
            <a:endParaRPr b="0" i="0" sz="1100" u="none" cap="none" strike="noStrike">
              <a:solidFill>
                <a:schemeClr val="dk1"/>
              </a:solidFill>
              <a:latin typeface="Arial"/>
              <a:ea typeface="Arial"/>
              <a:cs typeface="Arial"/>
              <a:sym typeface="Arial"/>
            </a:endParaRPr>
          </a:p>
        </p:txBody>
      </p:sp>
      <p:sp>
        <p:nvSpPr>
          <p:cNvPr id="117" name="Google Shape;117;p7"/>
          <p:cNvSpPr/>
          <p:nvPr/>
        </p:nvSpPr>
        <p:spPr>
          <a:xfrm>
            <a:off x="9171432" y="2331720"/>
            <a:ext cx="2231136" cy="24963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A need plus success criteria</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Design a battery case that reduces voltage loss in cold conditions.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22" name="Shape 122"/>
        <p:cNvGrpSpPr/>
        <p:nvPr/>
      </p:nvGrpSpPr>
      <p:grpSpPr>
        <a:xfrm>
          <a:off x="0" y="0"/>
          <a:ext cx="0" cy="0"/>
          <a:chOff x="0" y="0"/>
          <a:chExt cx="0" cy="0"/>
        </a:xfrm>
      </p:grpSpPr>
      <p:sp>
        <p:nvSpPr>
          <p:cNvPr id="123" name="Google Shape;123;p8"/>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8"/>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8"/>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8"/>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QUESTION DEVELOPMENT</a:t>
            </a:r>
            <a:endParaRPr b="0" i="0" sz="1000" u="none" cap="none" strike="noStrike">
              <a:solidFill>
                <a:schemeClr val="dk1"/>
              </a:solidFill>
              <a:latin typeface="Arial"/>
              <a:ea typeface="Arial"/>
              <a:cs typeface="Arial"/>
              <a:sym typeface="Arial"/>
            </a:endParaRPr>
          </a:p>
        </p:txBody>
      </p:sp>
      <p:sp>
        <p:nvSpPr>
          <p:cNvPr id="127" name="Google Shape;127;p8"/>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128" name="Google Shape;128;p8"/>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02</a:t>
            </a:r>
            <a:endParaRPr b="0" i="0" sz="1100" u="none" cap="none" strike="noStrike">
              <a:solidFill>
                <a:schemeClr val="dk1"/>
              </a:solidFill>
              <a:latin typeface="Arial"/>
              <a:ea typeface="Arial"/>
              <a:cs typeface="Arial"/>
              <a:sym typeface="Arial"/>
            </a:endParaRPr>
          </a:p>
        </p:txBody>
      </p:sp>
      <p:sp>
        <p:nvSpPr>
          <p:cNvPr id="129" name="Google Shape;129;p8"/>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 Strong Question Can Be Tested</a:t>
            </a:r>
            <a:endParaRPr b="0" i="0" sz="2800" u="none" cap="none" strike="noStrike">
              <a:solidFill>
                <a:schemeClr val="dk1"/>
              </a:solidFill>
              <a:latin typeface="Arial"/>
              <a:ea typeface="Arial"/>
              <a:cs typeface="Arial"/>
              <a:sym typeface="Arial"/>
            </a:endParaRPr>
          </a:p>
        </p:txBody>
      </p:sp>
      <p:sp>
        <p:nvSpPr>
          <p:cNvPr id="130" name="Google Shape;130;p8"/>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The key word is evidence.</a:t>
            </a:r>
            <a:endParaRPr b="0" i="0" sz="1200" u="none" cap="none" strike="noStrike">
              <a:solidFill>
                <a:schemeClr val="dk1"/>
              </a:solidFill>
              <a:latin typeface="Arial"/>
              <a:ea typeface="Arial"/>
              <a:cs typeface="Arial"/>
              <a:sym typeface="Arial"/>
            </a:endParaRPr>
          </a:p>
        </p:txBody>
      </p:sp>
      <p:cxnSp>
        <p:nvCxnSpPr>
          <p:cNvPr id="131" name="Google Shape;131;p8"/>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32" name="Google Shape;132;p8"/>
          <p:cNvSpPr/>
          <p:nvPr/>
        </p:nvSpPr>
        <p:spPr>
          <a:xfrm>
            <a:off x="1143000" y="1920240"/>
            <a:ext cx="9875520" cy="356616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b="0" i="0" lang="en-US" sz="2800" u="none" cap="none" strike="noStrike">
                <a:solidFill>
                  <a:srgbClr val="FFFFFF"/>
                </a:solidFill>
                <a:latin typeface="Arial"/>
                <a:ea typeface="Arial"/>
                <a:cs typeface="Arial"/>
                <a:sym typeface="Arial"/>
              </a:rPr>
              <a:t>What will change or be compared?</a:t>
            </a:r>
            <a:endParaRPr sz="2800">
              <a:solidFill>
                <a:schemeClr val="dk1"/>
              </a:solidFill>
              <a:latin typeface="Arial"/>
              <a:ea typeface="Arial"/>
              <a:cs typeface="Arial"/>
              <a:sym typeface="Arial"/>
            </a:endParaRPr>
          </a:p>
          <a:p>
            <a:pPr indent="0" lvl="0" marL="0" marR="0" rtl="0" algn="l">
              <a:spcBef>
                <a:spcPts val="0"/>
              </a:spcBef>
              <a:spcAft>
                <a:spcPts val="0"/>
              </a:spcAft>
              <a:buNone/>
            </a:pPr>
            <a:r>
              <a:rPr lang="en-US" sz="2800">
                <a:solidFill>
                  <a:srgbClr val="FFFFFF"/>
                </a:solidFill>
                <a:latin typeface="Arial"/>
                <a:ea typeface="Arial"/>
                <a:cs typeface="Arial"/>
                <a:sym typeface="Arial"/>
              </a:rPr>
              <a:t>What will be measured or observed?</a:t>
            </a:r>
            <a:endParaRPr sz="2800">
              <a:solidFill>
                <a:schemeClr val="dk1"/>
              </a:solidFill>
              <a:latin typeface="Arial"/>
              <a:ea typeface="Arial"/>
              <a:cs typeface="Arial"/>
              <a:sym typeface="Arial"/>
            </a:endParaRPr>
          </a:p>
          <a:p>
            <a:pPr indent="0" lvl="0" marL="0" marR="0" rtl="0" algn="l">
              <a:spcBef>
                <a:spcPts val="0"/>
              </a:spcBef>
              <a:spcAft>
                <a:spcPts val="0"/>
              </a:spcAft>
              <a:buNone/>
            </a:pPr>
            <a:r>
              <a:rPr lang="en-US" sz="2800">
                <a:solidFill>
                  <a:srgbClr val="FFFFFF"/>
                </a:solidFill>
                <a:latin typeface="Arial"/>
                <a:ea typeface="Arial"/>
                <a:cs typeface="Arial"/>
                <a:sym typeface="Arial"/>
              </a:rPr>
              <a:t>What will stay the same?</a:t>
            </a:r>
            <a:endParaRPr sz="2800">
              <a:solidFill>
                <a:schemeClr val="dk1"/>
              </a:solidFill>
              <a:latin typeface="Arial"/>
              <a:ea typeface="Arial"/>
              <a:cs typeface="Arial"/>
              <a:sym typeface="Arial"/>
            </a:endParaRPr>
          </a:p>
          <a:p>
            <a:pPr indent="0" lvl="0" marL="0" marR="0" rtl="0" algn="l">
              <a:spcBef>
                <a:spcPts val="0"/>
              </a:spcBef>
              <a:spcAft>
                <a:spcPts val="0"/>
              </a:spcAft>
              <a:buNone/>
            </a:pPr>
            <a:r>
              <a:rPr lang="en-US" sz="2800">
                <a:solidFill>
                  <a:srgbClr val="FFFFFF"/>
                </a:solidFill>
                <a:latin typeface="Arial"/>
                <a:ea typeface="Arial"/>
                <a:cs typeface="Arial"/>
                <a:sym typeface="Arial"/>
              </a:rPr>
              <a:t>What data would convince someone?</a:t>
            </a:r>
            <a:endParaRPr sz="2800">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37" name="Shape 137"/>
        <p:cNvGrpSpPr/>
        <p:nvPr/>
      </p:nvGrpSpPr>
      <p:grpSpPr>
        <a:xfrm>
          <a:off x="0" y="0"/>
          <a:ext cx="0" cy="0"/>
          <a:chOff x="0" y="0"/>
          <a:chExt cx="0" cy="0"/>
        </a:xfrm>
      </p:grpSpPr>
      <p:sp>
        <p:nvSpPr>
          <p:cNvPr id="138" name="Google Shape;138;p9"/>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9"/>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9"/>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9"/>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QUESTION DEVELOPMENT</a:t>
            </a:r>
            <a:endParaRPr sz="1000">
              <a:solidFill>
                <a:schemeClr val="dk1"/>
              </a:solidFill>
              <a:latin typeface="Arial"/>
              <a:ea typeface="Arial"/>
              <a:cs typeface="Arial"/>
              <a:sym typeface="Arial"/>
            </a:endParaRPr>
          </a:p>
        </p:txBody>
      </p:sp>
      <p:sp>
        <p:nvSpPr>
          <p:cNvPr id="142" name="Google Shape;142;p9"/>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143" name="Google Shape;143;p9"/>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144" name="Google Shape;144;p9"/>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Weak Questions Can Become Strong</a:t>
            </a:r>
            <a:endParaRPr sz="2800">
              <a:solidFill>
                <a:schemeClr val="dk1"/>
              </a:solidFill>
              <a:latin typeface="Arial"/>
              <a:ea typeface="Arial"/>
              <a:cs typeface="Arial"/>
              <a:sym typeface="Arial"/>
            </a:endParaRPr>
          </a:p>
        </p:txBody>
      </p:sp>
      <p:sp>
        <p:nvSpPr>
          <p:cNvPr id="145" name="Google Shape;145;p9"/>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The goal is revision, not instant perfection.</a:t>
            </a:r>
            <a:endParaRPr sz="1200">
              <a:solidFill>
                <a:schemeClr val="dk1"/>
              </a:solidFill>
              <a:latin typeface="Arial"/>
              <a:ea typeface="Arial"/>
              <a:cs typeface="Arial"/>
              <a:sym typeface="Arial"/>
            </a:endParaRPr>
          </a:p>
        </p:txBody>
      </p:sp>
      <p:cxnSp>
        <p:nvCxnSpPr>
          <p:cNvPr id="146" name="Google Shape;146;p9"/>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47" name="Google Shape;147;p9"/>
          <p:cNvSpPr/>
          <p:nvPr/>
        </p:nvSpPr>
        <p:spPr>
          <a:xfrm>
            <a:off x="868680" y="1828800"/>
            <a:ext cx="4983480" cy="1508760"/>
          </a:xfrm>
          <a:prstGeom prst="roundRect">
            <a:avLst>
              <a:gd fmla="val 3636"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9"/>
          <p:cNvSpPr/>
          <p:nvPr/>
        </p:nvSpPr>
        <p:spPr>
          <a:xfrm>
            <a:off x="1033272" y="1965960"/>
            <a:ext cx="465429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WEAK</a:t>
            </a:r>
            <a:endParaRPr sz="1100">
              <a:solidFill>
                <a:schemeClr val="dk1"/>
              </a:solidFill>
              <a:latin typeface="Arial"/>
              <a:ea typeface="Arial"/>
              <a:cs typeface="Arial"/>
              <a:sym typeface="Arial"/>
            </a:endParaRPr>
          </a:p>
        </p:txBody>
      </p:sp>
      <p:sp>
        <p:nvSpPr>
          <p:cNvPr id="149" name="Google Shape;149;p9"/>
          <p:cNvSpPr/>
          <p:nvPr/>
        </p:nvSpPr>
        <p:spPr>
          <a:xfrm>
            <a:off x="1033272" y="2331720"/>
            <a:ext cx="4654296"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400"/>
              <a:buFont typeface="Arial"/>
              <a:buNone/>
            </a:pPr>
            <a:r>
              <a:rPr lang="en-US" sz="2400">
                <a:solidFill>
                  <a:srgbClr val="FFFFFF"/>
                </a:solidFill>
                <a:latin typeface="Arial"/>
                <a:ea typeface="Arial"/>
                <a:cs typeface="Arial"/>
                <a:sym typeface="Arial"/>
              </a:rPr>
              <a:t>Do plants like music?</a:t>
            </a:r>
            <a:endParaRPr sz="2400">
              <a:solidFill>
                <a:schemeClr val="dk1"/>
              </a:solidFill>
              <a:latin typeface="Arial"/>
              <a:ea typeface="Arial"/>
              <a:cs typeface="Arial"/>
              <a:sym typeface="Arial"/>
            </a:endParaRPr>
          </a:p>
        </p:txBody>
      </p:sp>
      <p:sp>
        <p:nvSpPr>
          <p:cNvPr id="150" name="Google Shape;150;p9"/>
          <p:cNvSpPr/>
          <p:nvPr/>
        </p:nvSpPr>
        <p:spPr>
          <a:xfrm>
            <a:off x="6309360" y="1828800"/>
            <a:ext cx="4983480" cy="1508760"/>
          </a:xfrm>
          <a:prstGeom prst="roundRect">
            <a:avLst>
              <a:gd fmla="val 3636"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9"/>
          <p:cNvSpPr/>
          <p:nvPr/>
        </p:nvSpPr>
        <p:spPr>
          <a:xfrm>
            <a:off x="6473952" y="1965960"/>
            <a:ext cx="465429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STRONGER</a:t>
            </a:r>
            <a:endParaRPr sz="1100">
              <a:solidFill>
                <a:schemeClr val="dk1"/>
              </a:solidFill>
              <a:latin typeface="Arial"/>
              <a:ea typeface="Arial"/>
              <a:cs typeface="Arial"/>
              <a:sym typeface="Arial"/>
            </a:endParaRPr>
          </a:p>
        </p:txBody>
      </p:sp>
      <p:sp>
        <p:nvSpPr>
          <p:cNvPr id="152" name="Google Shape;152;p9"/>
          <p:cNvSpPr/>
          <p:nvPr/>
        </p:nvSpPr>
        <p:spPr>
          <a:xfrm>
            <a:off x="6473952" y="2331720"/>
            <a:ext cx="4654296"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lang="en-US" sz="1700">
                <a:solidFill>
                  <a:srgbClr val="FFFFFF"/>
                </a:solidFill>
                <a:latin typeface="Arial"/>
                <a:ea typeface="Arial"/>
                <a:cs typeface="Arial"/>
                <a:sym typeface="Arial"/>
              </a:rPr>
              <a:t>How does two hours of classical music exposure per day affect average bean plant height over four weeks compared with silence?</a:t>
            </a:r>
            <a:endParaRPr sz="1700">
              <a:solidFill>
                <a:schemeClr val="dk1"/>
              </a:solidFill>
              <a:latin typeface="Arial"/>
              <a:ea typeface="Arial"/>
              <a:cs typeface="Arial"/>
              <a:sym typeface="Arial"/>
            </a:endParaRPr>
          </a:p>
        </p:txBody>
      </p:sp>
      <p:sp>
        <p:nvSpPr>
          <p:cNvPr id="153" name="Google Shape;153;p9"/>
          <p:cNvSpPr/>
          <p:nvPr/>
        </p:nvSpPr>
        <p:spPr>
          <a:xfrm>
            <a:off x="868680" y="3794760"/>
            <a:ext cx="4983480" cy="1508760"/>
          </a:xfrm>
          <a:prstGeom prst="roundRect">
            <a:avLst>
              <a:gd fmla="val 3636"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9"/>
          <p:cNvSpPr/>
          <p:nvPr/>
        </p:nvSpPr>
        <p:spPr>
          <a:xfrm>
            <a:off x="1033272" y="3931920"/>
            <a:ext cx="465429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WEAK</a:t>
            </a:r>
            <a:endParaRPr sz="1100">
              <a:solidFill>
                <a:schemeClr val="dk1"/>
              </a:solidFill>
              <a:latin typeface="Arial"/>
              <a:ea typeface="Arial"/>
              <a:cs typeface="Arial"/>
              <a:sym typeface="Arial"/>
            </a:endParaRPr>
          </a:p>
        </p:txBody>
      </p:sp>
      <p:sp>
        <p:nvSpPr>
          <p:cNvPr id="155" name="Google Shape;155;p9"/>
          <p:cNvSpPr/>
          <p:nvPr/>
        </p:nvSpPr>
        <p:spPr>
          <a:xfrm>
            <a:off x="1033272" y="4297680"/>
            <a:ext cx="4654296"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400"/>
              <a:buFont typeface="Arial"/>
              <a:buNone/>
            </a:pPr>
            <a:r>
              <a:rPr lang="en-US" sz="2400">
                <a:solidFill>
                  <a:srgbClr val="FFFFFF"/>
                </a:solidFill>
                <a:latin typeface="Arial"/>
                <a:ea typeface="Arial"/>
                <a:cs typeface="Arial"/>
                <a:sym typeface="Arial"/>
              </a:rPr>
              <a:t>Can I build a better bridge?</a:t>
            </a:r>
            <a:endParaRPr sz="2400">
              <a:solidFill>
                <a:schemeClr val="dk1"/>
              </a:solidFill>
              <a:latin typeface="Arial"/>
              <a:ea typeface="Arial"/>
              <a:cs typeface="Arial"/>
              <a:sym typeface="Arial"/>
            </a:endParaRPr>
          </a:p>
        </p:txBody>
      </p:sp>
      <p:sp>
        <p:nvSpPr>
          <p:cNvPr id="156" name="Google Shape;156;p9"/>
          <p:cNvSpPr/>
          <p:nvPr/>
        </p:nvSpPr>
        <p:spPr>
          <a:xfrm>
            <a:off x="6309360" y="3794760"/>
            <a:ext cx="4983480" cy="1508760"/>
          </a:xfrm>
          <a:prstGeom prst="roundRect">
            <a:avLst>
              <a:gd fmla="val 3636"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9"/>
          <p:cNvSpPr/>
          <p:nvPr/>
        </p:nvSpPr>
        <p:spPr>
          <a:xfrm>
            <a:off x="6473952" y="3931920"/>
            <a:ext cx="465429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STRONGER</a:t>
            </a:r>
            <a:endParaRPr sz="1100">
              <a:solidFill>
                <a:schemeClr val="dk1"/>
              </a:solidFill>
              <a:latin typeface="Arial"/>
              <a:ea typeface="Arial"/>
              <a:cs typeface="Arial"/>
              <a:sym typeface="Arial"/>
            </a:endParaRPr>
          </a:p>
        </p:txBody>
      </p:sp>
      <p:sp>
        <p:nvSpPr>
          <p:cNvPr id="158" name="Google Shape;158;p9"/>
          <p:cNvSpPr/>
          <p:nvPr/>
        </p:nvSpPr>
        <p:spPr>
          <a:xfrm>
            <a:off x="6473952" y="4297680"/>
            <a:ext cx="4654296"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How does truss geometry affect the maximum load supported per gram of 3D-printed material?</a:t>
            </a:r>
            <a:endParaRPr sz="1800">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63" name="Shape 163"/>
        <p:cNvGrpSpPr/>
        <p:nvPr/>
      </p:nvGrpSpPr>
      <p:grpSpPr>
        <a:xfrm>
          <a:off x="0" y="0"/>
          <a:ext cx="0" cy="0"/>
          <a:chOff x="0" y="0"/>
          <a:chExt cx="0" cy="0"/>
        </a:xfrm>
      </p:grpSpPr>
      <p:sp>
        <p:nvSpPr>
          <p:cNvPr id="164" name="Google Shape;164;p10"/>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0"/>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0"/>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0"/>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QUESTION DEVELOPMENT</a:t>
            </a:r>
            <a:endParaRPr sz="1000">
              <a:solidFill>
                <a:schemeClr val="dk1"/>
              </a:solidFill>
              <a:latin typeface="Arial"/>
              <a:ea typeface="Arial"/>
              <a:cs typeface="Arial"/>
              <a:sym typeface="Arial"/>
            </a:endParaRPr>
          </a:p>
        </p:txBody>
      </p:sp>
      <p:sp>
        <p:nvSpPr>
          <p:cNvPr id="168" name="Google Shape;168;p10"/>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169" name="Google Shape;169;p10"/>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170" name="Google Shape;170;p10"/>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Replace Vague Words With Metrics</a:t>
            </a:r>
            <a:endParaRPr sz="2800">
              <a:solidFill>
                <a:schemeClr val="dk1"/>
              </a:solidFill>
              <a:latin typeface="Arial"/>
              <a:ea typeface="Arial"/>
              <a:cs typeface="Arial"/>
              <a:sym typeface="Arial"/>
            </a:endParaRPr>
          </a:p>
        </p:txBody>
      </p:sp>
      <p:sp>
        <p:nvSpPr>
          <p:cNvPr id="171" name="Google Shape;171;p10"/>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“Better” only works after you define it.</a:t>
            </a:r>
            <a:endParaRPr sz="1200">
              <a:solidFill>
                <a:schemeClr val="dk1"/>
              </a:solidFill>
              <a:latin typeface="Arial"/>
              <a:ea typeface="Arial"/>
              <a:cs typeface="Arial"/>
              <a:sym typeface="Arial"/>
            </a:endParaRPr>
          </a:p>
        </p:txBody>
      </p:sp>
      <p:cxnSp>
        <p:nvCxnSpPr>
          <p:cNvPr id="172" name="Google Shape;172;p10"/>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73" name="Google Shape;173;p10"/>
          <p:cNvSpPr/>
          <p:nvPr/>
        </p:nvSpPr>
        <p:spPr>
          <a:xfrm>
            <a:off x="1143000" y="1874520"/>
            <a:ext cx="3977640" cy="3429000"/>
          </a:xfrm>
          <a:prstGeom prst="roundRect">
            <a:avLst>
              <a:gd fmla="val 1600"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0"/>
          <p:cNvSpPr/>
          <p:nvPr/>
        </p:nvSpPr>
        <p:spPr>
          <a:xfrm>
            <a:off x="1307592" y="2011680"/>
            <a:ext cx="36484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VAGUE</a:t>
            </a:r>
            <a:endParaRPr sz="1100">
              <a:solidFill>
                <a:schemeClr val="dk1"/>
              </a:solidFill>
              <a:latin typeface="Arial"/>
              <a:ea typeface="Arial"/>
              <a:cs typeface="Arial"/>
              <a:sym typeface="Arial"/>
            </a:endParaRPr>
          </a:p>
        </p:txBody>
      </p:sp>
      <p:sp>
        <p:nvSpPr>
          <p:cNvPr id="175" name="Google Shape;175;p10"/>
          <p:cNvSpPr/>
          <p:nvPr/>
        </p:nvSpPr>
        <p:spPr>
          <a:xfrm>
            <a:off x="1307592" y="2377440"/>
            <a:ext cx="3648456" cy="2770632"/>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500"/>
              <a:buFont typeface="Arial"/>
              <a:buNone/>
            </a:pPr>
            <a:r>
              <a:rPr lang="en-US" sz="2500">
                <a:solidFill>
                  <a:srgbClr val="FFFFFF"/>
                </a:solidFill>
                <a:latin typeface="Arial"/>
                <a:ea typeface="Arial"/>
                <a:cs typeface="Arial"/>
                <a:sym typeface="Arial"/>
              </a:rPr>
              <a:t>better</a:t>
            </a:r>
            <a:endParaRPr sz="25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500"/>
              <a:buFont typeface="Arial"/>
              <a:buNone/>
            </a:pPr>
            <a:r>
              <a:rPr lang="en-US" sz="2500">
                <a:solidFill>
                  <a:srgbClr val="FFFFFF"/>
                </a:solidFill>
                <a:latin typeface="Arial"/>
                <a:ea typeface="Arial"/>
                <a:cs typeface="Arial"/>
                <a:sym typeface="Arial"/>
              </a:rPr>
              <a:t>stronger</a:t>
            </a:r>
            <a:endParaRPr sz="25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500"/>
              <a:buFont typeface="Arial"/>
              <a:buNone/>
            </a:pPr>
            <a:r>
              <a:rPr lang="en-US" sz="2500">
                <a:solidFill>
                  <a:srgbClr val="FFFFFF"/>
                </a:solidFill>
                <a:latin typeface="Arial"/>
                <a:ea typeface="Arial"/>
                <a:cs typeface="Arial"/>
                <a:sym typeface="Arial"/>
              </a:rPr>
              <a:t>cleaner</a:t>
            </a:r>
            <a:endParaRPr sz="25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500"/>
              <a:buFont typeface="Arial"/>
              <a:buNone/>
            </a:pPr>
            <a:r>
              <a:rPr lang="en-US" sz="2500">
                <a:solidFill>
                  <a:srgbClr val="FFFFFF"/>
                </a:solidFill>
                <a:latin typeface="Arial"/>
                <a:ea typeface="Arial"/>
                <a:cs typeface="Arial"/>
                <a:sym typeface="Arial"/>
              </a:rPr>
              <a:t>healthier</a:t>
            </a:r>
            <a:endParaRPr sz="25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500"/>
              <a:buFont typeface="Arial"/>
              <a:buNone/>
            </a:pPr>
            <a:r>
              <a:rPr lang="en-US" sz="2500">
                <a:solidFill>
                  <a:srgbClr val="FFFFFF"/>
                </a:solidFill>
                <a:latin typeface="Arial"/>
                <a:ea typeface="Arial"/>
                <a:cs typeface="Arial"/>
                <a:sym typeface="Arial"/>
              </a:rPr>
              <a:t>faster</a:t>
            </a:r>
            <a:endParaRPr sz="25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500"/>
              <a:buFont typeface="Arial"/>
              <a:buNone/>
            </a:pPr>
            <a:r>
              <a:rPr lang="en-US" sz="2500">
                <a:solidFill>
                  <a:srgbClr val="FFFFFF"/>
                </a:solidFill>
                <a:latin typeface="Arial"/>
                <a:ea typeface="Arial"/>
                <a:cs typeface="Arial"/>
                <a:sym typeface="Arial"/>
              </a:rPr>
              <a:t>efficient</a:t>
            </a:r>
            <a:endParaRPr sz="2500">
              <a:solidFill>
                <a:schemeClr val="dk1"/>
              </a:solidFill>
              <a:latin typeface="Arial"/>
              <a:ea typeface="Arial"/>
              <a:cs typeface="Arial"/>
              <a:sym typeface="Arial"/>
            </a:endParaRPr>
          </a:p>
        </p:txBody>
      </p:sp>
      <p:cxnSp>
        <p:nvCxnSpPr>
          <p:cNvPr id="176" name="Google Shape;176;p10"/>
          <p:cNvCxnSpPr/>
          <p:nvPr/>
        </p:nvCxnSpPr>
        <p:spPr>
          <a:xfrm>
            <a:off x="5532120" y="3520440"/>
            <a:ext cx="1051560" cy="0"/>
          </a:xfrm>
          <a:prstGeom prst="straightConnector1">
            <a:avLst/>
          </a:prstGeom>
          <a:noFill/>
          <a:ln cap="flat" cmpd="sng" w="25400">
            <a:solidFill>
              <a:srgbClr val="E22B27"/>
            </a:solidFill>
            <a:prstDash val="solid"/>
            <a:round/>
            <a:headEnd len="sm" w="sm" type="none"/>
            <a:tailEnd len="med" w="med" type="triangle"/>
          </a:ln>
        </p:spPr>
      </p:cxnSp>
      <p:sp>
        <p:nvSpPr>
          <p:cNvPr id="177" name="Google Shape;177;p10"/>
          <p:cNvSpPr/>
          <p:nvPr/>
        </p:nvSpPr>
        <p:spPr>
          <a:xfrm>
            <a:off x="6995160" y="1874520"/>
            <a:ext cx="3977640" cy="3429000"/>
          </a:xfrm>
          <a:prstGeom prst="roundRect">
            <a:avLst>
              <a:gd fmla="val 1600"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0"/>
          <p:cNvSpPr/>
          <p:nvPr/>
        </p:nvSpPr>
        <p:spPr>
          <a:xfrm>
            <a:off x="7159752" y="2011680"/>
            <a:ext cx="36484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MEASURABLE</a:t>
            </a:r>
            <a:endParaRPr sz="1100">
              <a:solidFill>
                <a:schemeClr val="dk1"/>
              </a:solidFill>
              <a:latin typeface="Arial"/>
              <a:ea typeface="Arial"/>
              <a:cs typeface="Arial"/>
              <a:sym typeface="Arial"/>
            </a:endParaRPr>
          </a:p>
        </p:txBody>
      </p:sp>
      <p:sp>
        <p:nvSpPr>
          <p:cNvPr id="179" name="Google Shape;179;p10"/>
          <p:cNvSpPr/>
          <p:nvPr/>
        </p:nvSpPr>
        <p:spPr>
          <a:xfrm>
            <a:off x="7159752" y="2377440"/>
            <a:ext cx="3648456" cy="2770632"/>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higher average voltage</a:t>
            </a:r>
            <a:endParaRPr sz="22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load supported per gram</a:t>
            </a:r>
            <a:endParaRPr sz="22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lower turbidity</a:t>
            </a:r>
            <a:endParaRPr sz="22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average growth rate</a:t>
            </a:r>
            <a:endParaRPr sz="22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shorter completion time</a:t>
            </a:r>
            <a:endParaRPr sz="22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output per input</a:t>
            </a:r>
            <a:endParaRPr sz="2200">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84" name="Shape 184"/>
        <p:cNvGrpSpPr/>
        <p:nvPr/>
      </p:nvGrpSpPr>
      <p:grpSpPr>
        <a:xfrm>
          <a:off x="0" y="0"/>
          <a:ext cx="0" cy="0"/>
          <a:chOff x="0" y="0"/>
          <a:chExt cx="0" cy="0"/>
        </a:xfrm>
      </p:grpSpPr>
      <p:sp>
        <p:nvSpPr>
          <p:cNvPr id="185" name="Google Shape;185;p11"/>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1"/>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1"/>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1"/>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QUESTION DEVELOPMENT</a:t>
            </a:r>
            <a:endParaRPr sz="1000">
              <a:solidFill>
                <a:schemeClr val="dk1"/>
              </a:solidFill>
              <a:latin typeface="Arial"/>
              <a:ea typeface="Arial"/>
              <a:cs typeface="Arial"/>
              <a:sym typeface="Arial"/>
            </a:endParaRPr>
          </a:p>
        </p:txBody>
      </p:sp>
      <p:sp>
        <p:nvSpPr>
          <p:cNvPr id="189" name="Google Shape;189;p11"/>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190" name="Google Shape;190;p11"/>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191" name="Google Shape;191;p11"/>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Two Valid STARLAB Pathways</a:t>
            </a:r>
            <a:endParaRPr sz="2800">
              <a:solidFill>
                <a:schemeClr val="dk1"/>
              </a:solidFill>
              <a:latin typeface="Arial"/>
              <a:ea typeface="Arial"/>
              <a:cs typeface="Arial"/>
              <a:sym typeface="Arial"/>
            </a:endParaRPr>
          </a:p>
        </p:txBody>
      </p:sp>
      <p:sp>
        <p:nvSpPr>
          <p:cNvPr id="192" name="Google Shape;192;p11"/>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Experimental science and engineering design are both research.</a:t>
            </a:r>
            <a:endParaRPr sz="1200">
              <a:solidFill>
                <a:schemeClr val="dk1"/>
              </a:solidFill>
              <a:latin typeface="Arial"/>
              <a:ea typeface="Arial"/>
              <a:cs typeface="Arial"/>
              <a:sym typeface="Arial"/>
            </a:endParaRPr>
          </a:p>
        </p:txBody>
      </p:sp>
      <p:cxnSp>
        <p:nvCxnSpPr>
          <p:cNvPr id="193" name="Google Shape;193;p11"/>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94" name="Google Shape;194;p11"/>
          <p:cNvSpPr/>
          <p:nvPr/>
        </p:nvSpPr>
        <p:spPr>
          <a:xfrm>
            <a:off x="868680" y="1828800"/>
            <a:ext cx="5074920" cy="3337560"/>
          </a:xfrm>
          <a:prstGeom prst="roundRect">
            <a:avLst>
              <a:gd fmla="val 1644"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1033272" y="1965960"/>
            <a:ext cx="47457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EXPERIMENTAL SCIENCE</a:t>
            </a:r>
            <a:endParaRPr sz="1100">
              <a:solidFill>
                <a:schemeClr val="dk1"/>
              </a:solidFill>
              <a:latin typeface="Arial"/>
              <a:ea typeface="Arial"/>
              <a:cs typeface="Arial"/>
              <a:sym typeface="Arial"/>
            </a:endParaRPr>
          </a:p>
        </p:txBody>
      </p:sp>
      <p:sp>
        <p:nvSpPr>
          <p:cNvPr id="196" name="Google Shape;196;p11"/>
          <p:cNvSpPr/>
          <p:nvPr/>
        </p:nvSpPr>
        <p:spPr>
          <a:xfrm>
            <a:off x="1033272" y="2331720"/>
            <a:ext cx="4745736" cy="2679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Question → Hypothesis → Controlled test → Data → Interpretation</a:t>
            </a:r>
            <a:endParaRPr sz="2200">
              <a:solidFill>
                <a:schemeClr val="dk1"/>
              </a:solidFill>
              <a:latin typeface="Arial"/>
              <a:ea typeface="Arial"/>
              <a:cs typeface="Arial"/>
              <a:sym typeface="Arial"/>
            </a:endParaRPr>
          </a:p>
          <a:p>
            <a:pPr indent="0" lvl="0" marL="0" marR="0" rtl="0" algn="l">
              <a:spcBef>
                <a:spcPts val="0"/>
              </a:spcBef>
              <a:spcAft>
                <a:spcPts val="0"/>
              </a:spcAft>
              <a:buClr>
                <a:schemeClr val="dk1"/>
              </a:buClr>
              <a:buSzPts val="2200"/>
              <a:buFont typeface="Arial"/>
              <a:buNone/>
            </a:pPr>
            <a:r>
              <a:t/>
            </a:r>
            <a:endParaRPr sz="22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Best when the student is investigating a relationship, effect, or comparison.</a:t>
            </a:r>
            <a:endParaRPr sz="2200">
              <a:solidFill>
                <a:schemeClr val="dk1"/>
              </a:solidFill>
              <a:latin typeface="Arial"/>
              <a:ea typeface="Arial"/>
              <a:cs typeface="Arial"/>
              <a:sym typeface="Arial"/>
            </a:endParaRPr>
          </a:p>
        </p:txBody>
      </p:sp>
      <p:sp>
        <p:nvSpPr>
          <p:cNvPr id="197" name="Google Shape;197;p11"/>
          <p:cNvSpPr/>
          <p:nvPr/>
        </p:nvSpPr>
        <p:spPr>
          <a:xfrm>
            <a:off x="6263640" y="1828800"/>
            <a:ext cx="5074920" cy="3337560"/>
          </a:xfrm>
          <a:prstGeom prst="roundRect">
            <a:avLst>
              <a:gd fmla="val 164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1"/>
          <p:cNvSpPr/>
          <p:nvPr/>
        </p:nvSpPr>
        <p:spPr>
          <a:xfrm>
            <a:off x="6428232" y="1965960"/>
            <a:ext cx="47457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ENGINEERING DESIGN</a:t>
            </a:r>
            <a:endParaRPr sz="1100">
              <a:solidFill>
                <a:schemeClr val="dk1"/>
              </a:solidFill>
              <a:latin typeface="Arial"/>
              <a:ea typeface="Arial"/>
              <a:cs typeface="Arial"/>
              <a:sym typeface="Arial"/>
            </a:endParaRPr>
          </a:p>
        </p:txBody>
      </p:sp>
      <p:sp>
        <p:nvSpPr>
          <p:cNvPr id="199" name="Google Shape;199;p11"/>
          <p:cNvSpPr/>
          <p:nvPr/>
        </p:nvSpPr>
        <p:spPr>
          <a:xfrm>
            <a:off x="6428232" y="2331720"/>
            <a:ext cx="4745736" cy="2679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Problem → Criteria → Prototype → Testing → Redesign</a:t>
            </a:r>
            <a:endParaRPr sz="2200">
              <a:solidFill>
                <a:schemeClr val="dk1"/>
              </a:solidFill>
              <a:latin typeface="Arial"/>
              <a:ea typeface="Arial"/>
              <a:cs typeface="Arial"/>
              <a:sym typeface="Arial"/>
            </a:endParaRPr>
          </a:p>
          <a:p>
            <a:pPr indent="0" lvl="0" marL="0" marR="0" rtl="0" algn="l">
              <a:spcBef>
                <a:spcPts val="0"/>
              </a:spcBef>
              <a:spcAft>
                <a:spcPts val="0"/>
              </a:spcAft>
              <a:buClr>
                <a:schemeClr val="dk1"/>
              </a:buClr>
              <a:buSzPts val="2200"/>
              <a:buFont typeface="Arial"/>
              <a:buNone/>
            </a:pPr>
            <a:r>
              <a:t/>
            </a:r>
            <a:endParaRPr sz="22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200"/>
              <a:buFont typeface="Arial"/>
              <a:buNone/>
            </a:pPr>
            <a:r>
              <a:rPr lang="en-US" sz="2200">
                <a:solidFill>
                  <a:srgbClr val="FFFFFF"/>
                </a:solidFill>
                <a:latin typeface="Arial"/>
                <a:ea typeface="Arial"/>
                <a:cs typeface="Arial"/>
                <a:sym typeface="Arial"/>
              </a:rPr>
              <a:t>Best when the student is building, optimizing, coding, or improving a solution.</a:t>
            </a:r>
            <a:endParaRPr sz="2200">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04" name="Shape 204"/>
        <p:cNvGrpSpPr/>
        <p:nvPr/>
      </p:nvGrpSpPr>
      <p:grpSpPr>
        <a:xfrm>
          <a:off x="0" y="0"/>
          <a:ext cx="0" cy="0"/>
          <a:chOff x="0" y="0"/>
          <a:chExt cx="0" cy="0"/>
        </a:xfrm>
      </p:grpSpPr>
      <p:sp>
        <p:nvSpPr>
          <p:cNvPr id="205" name="Google Shape;205;p12"/>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2"/>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2"/>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2"/>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209" name="Google Shape;209;p12"/>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10" name="Google Shape;210;p12"/>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211" name="Google Shape;211;p12"/>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Build Your Topic Ladder</a:t>
            </a:r>
            <a:endParaRPr sz="2800">
              <a:solidFill>
                <a:schemeClr val="dk1"/>
              </a:solidFill>
              <a:latin typeface="Arial"/>
              <a:ea typeface="Arial"/>
              <a:cs typeface="Arial"/>
              <a:sym typeface="Arial"/>
            </a:endParaRPr>
          </a:p>
        </p:txBody>
      </p:sp>
      <p:sp>
        <p:nvSpPr>
          <p:cNvPr id="212" name="Google Shape;212;p12"/>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8 minutes • Unit 1 Week 2</a:t>
            </a:r>
            <a:endParaRPr sz="1200">
              <a:solidFill>
                <a:schemeClr val="dk1"/>
              </a:solidFill>
              <a:latin typeface="Arial"/>
              <a:ea typeface="Arial"/>
              <a:cs typeface="Arial"/>
              <a:sym typeface="Arial"/>
            </a:endParaRPr>
          </a:p>
        </p:txBody>
      </p:sp>
      <p:cxnSp>
        <p:nvCxnSpPr>
          <p:cNvPr id="213" name="Google Shape;213;p12"/>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14" name="Google Shape;214;p12"/>
          <p:cNvSpPr/>
          <p:nvPr/>
        </p:nvSpPr>
        <p:spPr>
          <a:xfrm>
            <a:off x="777240" y="1783080"/>
            <a:ext cx="187452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2"/>
          <p:cNvSpPr/>
          <p:nvPr/>
        </p:nvSpPr>
        <p:spPr>
          <a:xfrm>
            <a:off x="868680" y="1865376"/>
            <a:ext cx="16916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216" name="Google Shape;216;p12"/>
          <p:cNvSpPr/>
          <p:nvPr/>
        </p:nvSpPr>
        <p:spPr>
          <a:xfrm>
            <a:off x="868680" y="2331720"/>
            <a:ext cx="1033272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100">
                <a:solidFill>
                  <a:srgbClr val="FFFFFF"/>
                </a:solidFill>
                <a:latin typeface="Arial"/>
                <a:ea typeface="Arial"/>
                <a:cs typeface="Arial"/>
                <a:sym typeface="Arial"/>
              </a:rPr>
              <a:t>Start with one broad topic from your interest inventory.</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Narrow it step by step until you reach a question or problem that could produce evidence.</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1. Broad topic   2. Focused topic   3. Measurable outcome   4. Draft question or problem</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Use Student Handout 6: From Topic to Research Question.</a:t>
            </a:r>
            <a:endParaRPr sz="2100">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21" name="Shape 221"/>
        <p:cNvGrpSpPr/>
        <p:nvPr/>
      </p:nvGrpSpPr>
      <p:grpSpPr>
        <a:xfrm>
          <a:off x="0" y="0"/>
          <a:ext cx="0" cy="0"/>
          <a:chOff x="0" y="0"/>
          <a:chExt cx="0" cy="0"/>
        </a:xfrm>
      </p:grpSpPr>
      <p:sp>
        <p:nvSpPr>
          <p:cNvPr id="222" name="Google Shape;222;p13"/>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3"/>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3"/>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3"/>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QUESTION DEVELOPMENT</a:t>
            </a:r>
            <a:endParaRPr sz="1000">
              <a:solidFill>
                <a:schemeClr val="dk1"/>
              </a:solidFill>
              <a:latin typeface="Arial"/>
              <a:ea typeface="Arial"/>
              <a:cs typeface="Arial"/>
              <a:sym typeface="Arial"/>
            </a:endParaRPr>
          </a:p>
        </p:txBody>
      </p:sp>
      <p:sp>
        <p:nvSpPr>
          <p:cNvPr id="226" name="Google Shape;226;p13"/>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27" name="Google Shape;227;p13"/>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228" name="Google Shape;228;p13"/>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The Question Quality Test</a:t>
            </a:r>
            <a:endParaRPr sz="2800">
              <a:solidFill>
                <a:schemeClr val="dk1"/>
              </a:solidFill>
              <a:latin typeface="Arial"/>
              <a:ea typeface="Arial"/>
              <a:cs typeface="Arial"/>
              <a:sym typeface="Arial"/>
            </a:endParaRPr>
          </a:p>
        </p:txBody>
      </p:sp>
      <p:sp>
        <p:nvSpPr>
          <p:cNvPr id="229" name="Google Shape;229;p13"/>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Before a project moves forward, the question must survive pressure.</a:t>
            </a:r>
            <a:endParaRPr sz="1200">
              <a:solidFill>
                <a:schemeClr val="dk1"/>
              </a:solidFill>
              <a:latin typeface="Arial"/>
              <a:ea typeface="Arial"/>
              <a:cs typeface="Arial"/>
              <a:sym typeface="Arial"/>
            </a:endParaRPr>
          </a:p>
        </p:txBody>
      </p:sp>
      <p:cxnSp>
        <p:nvCxnSpPr>
          <p:cNvPr id="230" name="Google Shape;230;p13"/>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31" name="Google Shape;231;p13"/>
          <p:cNvSpPr/>
          <p:nvPr/>
        </p:nvSpPr>
        <p:spPr>
          <a:xfrm>
            <a:off x="822960" y="1874520"/>
            <a:ext cx="2331720" cy="960120"/>
          </a:xfrm>
          <a:prstGeom prst="roundRect">
            <a:avLst>
              <a:gd fmla="val 5714"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3"/>
          <p:cNvSpPr/>
          <p:nvPr/>
        </p:nvSpPr>
        <p:spPr>
          <a:xfrm>
            <a:off x="987552" y="203911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Specific</a:t>
            </a:r>
            <a:endParaRPr sz="2000">
              <a:solidFill>
                <a:schemeClr val="dk1"/>
              </a:solidFill>
              <a:latin typeface="Arial"/>
              <a:ea typeface="Arial"/>
              <a:cs typeface="Arial"/>
              <a:sym typeface="Arial"/>
            </a:endParaRPr>
          </a:p>
        </p:txBody>
      </p:sp>
      <p:sp>
        <p:nvSpPr>
          <p:cNvPr id="233" name="Google Shape;233;p13"/>
          <p:cNvSpPr/>
          <p:nvPr/>
        </p:nvSpPr>
        <p:spPr>
          <a:xfrm>
            <a:off x="3657600" y="1874520"/>
            <a:ext cx="2331720" cy="960120"/>
          </a:xfrm>
          <a:prstGeom prst="roundRect">
            <a:avLst>
              <a:gd fmla="val 571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3"/>
          <p:cNvSpPr/>
          <p:nvPr/>
        </p:nvSpPr>
        <p:spPr>
          <a:xfrm>
            <a:off x="3822192" y="203911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Testable</a:t>
            </a:r>
            <a:endParaRPr sz="2000">
              <a:solidFill>
                <a:schemeClr val="dk1"/>
              </a:solidFill>
              <a:latin typeface="Arial"/>
              <a:ea typeface="Arial"/>
              <a:cs typeface="Arial"/>
              <a:sym typeface="Arial"/>
            </a:endParaRPr>
          </a:p>
        </p:txBody>
      </p:sp>
      <p:sp>
        <p:nvSpPr>
          <p:cNvPr id="235" name="Google Shape;235;p13"/>
          <p:cNvSpPr/>
          <p:nvPr/>
        </p:nvSpPr>
        <p:spPr>
          <a:xfrm>
            <a:off x="6492240" y="1874520"/>
            <a:ext cx="2331720" cy="960120"/>
          </a:xfrm>
          <a:prstGeom prst="roundRect">
            <a:avLst>
              <a:gd fmla="val 571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3"/>
          <p:cNvSpPr/>
          <p:nvPr/>
        </p:nvSpPr>
        <p:spPr>
          <a:xfrm>
            <a:off x="6656832" y="203911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Measurable</a:t>
            </a:r>
            <a:endParaRPr sz="2000">
              <a:solidFill>
                <a:schemeClr val="dk1"/>
              </a:solidFill>
              <a:latin typeface="Arial"/>
              <a:ea typeface="Arial"/>
              <a:cs typeface="Arial"/>
              <a:sym typeface="Arial"/>
            </a:endParaRPr>
          </a:p>
        </p:txBody>
      </p:sp>
      <p:sp>
        <p:nvSpPr>
          <p:cNvPr id="237" name="Google Shape;237;p13"/>
          <p:cNvSpPr/>
          <p:nvPr/>
        </p:nvSpPr>
        <p:spPr>
          <a:xfrm>
            <a:off x="9326880" y="1874520"/>
            <a:ext cx="2331720" cy="960120"/>
          </a:xfrm>
          <a:prstGeom prst="roundRect">
            <a:avLst>
              <a:gd fmla="val 571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3"/>
          <p:cNvSpPr/>
          <p:nvPr/>
        </p:nvSpPr>
        <p:spPr>
          <a:xfrm>
            <a:off x="9491472" y="203911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Feasible</a:t>
            </a:r>
            <a:endParaRPr sz="2000">
              <a:solidFill>
                <a:schemeClr val="dk1"/>
              </a:solidFill>
              <a:latin typeface="Arial"/>
              <a:ea typeface="Arial"/>
              <a:cs typeface="Arial"/>
              <a:sym typeface="Arial"/>
            </a:endParaRPr>
          </a:p>
        </p:txBody>
      </p:sp>
      <p:sp>
        <p:nvSpPr>
          <p:cNvPr id="239" name="Google Shape;239;p13"/>
          <p:cNvSpPr/>
          <p:nvPr/>
        </p:nvSpPr>
        <p:spPr>
          <a:xfrm>
            <a:off x="822960" y="3200400"/>
            <a:ext cx="2331720" cy="960120"/>
          </a:xfrm>
          <a:prstGeom prst="roundRect">
            <a:avLst>
              <a:gd fmla="val 571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3"/>
          <p:cNvSpPr/>
          <p:nvPr/>
        </p:nvSpPr>
        <p:spPr>
          <a:xfrm>
            <a:off x="987552" y="336499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Safe</a:t>
            </a:r>
            <a:endParaRPr sz="2000">
              <a:solidFill>
                <a:schemeClr val="dk1"/>
              </a:solidFill>
              <a:latin typeface="Arial"/>
              <a:ea typeface="Arial"/>
              <a:cs typeface="Arial"/>
              <a:sym typeface="Arial"/>
            </a:endParaRPr>
          </a:p>
        </p:txBody>
      </p:sp>
      <p:sp>
        <p:nvSpPr>
          <p:cNvPr id="241" name="Google Shape;241;p13"/>
          <p:cNvSpPr/>
          <p:nvPr/>
        </p:nvSpPr>
        <p:spPr>
          <a:xfrm>
            <a:off x="3657600" y="3200400"/>
            <a:ext cx="2331720" cy="960120"/>
          </a:xfrm>
          <a:prstGeom prst="roundRect">
            <a:avLst>
              <a:gd fmla="val 571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3"/>
          <p:cNvSpPr/>
          <p:nvPr/>
        </p:nvSpPr>
        <p:spPr>
          <a:xfrm>
            <a:off x="3822192" y="336499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Ethical</a:t>
            </a:r>
            <a:endParaRPr sz="2000">
              <a:solidFill>
                <a:schemeClr val="dk1"/>
              </a:solidFill>
              <a:latin typeface="Arial"/>
              <a:ea typeface="Arial"/>
              <a:cs typeface="Arial"/>
              <a:sym typeface="Arial"/>
            </a:endParaRPr>
          </a:p>
        </p:txBody>
      </p:sp>
      <p:sp>
        <p:nvSpPr>
          <p:cNvPr id="243" name="Google Shape;243;p13"/>
          <p:cNvSpPr/>
          <p:nvPr/>
        </p:nvSpPr>
        <p:spPr>
          <a:xfrm>
            <a:off x="6492240" y="3200400"/>
            <a:ext cx="2331720" cy="960120"/>
          </a:xfrm>
          <a:prstGeom prst="roundRect">
            <a:avLst>
              <a:gd fmla="val 571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3"/>
          <p:cNvSpPr/>
          <p:nvPr/>
        </p:nvSpPr>
        <p:spPr>
          <a:xfrm>
            <a:off x="6656832" y="336499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Not a copied demo</a:t>
            </a:r>
            <a:endParaRPr sz="2000">
              <a:solidFill>
                <a:schemeClr val="dk1"/>
              </a:solidFill>
              <a:latin typeface="Arial"/>
              <a:ea typeface="Arial"/>
              <a:cs typeface="Arial"/>
              <a:sym typeface="Arial"/>
            </a:endParaRPr>
          </a:p>
        </p:txBody>
      </p:sp>
      <p:sp>
        <p:nvSpPr>
          <p:cNvPr id="245" name="Google Shape;245;p13"/>
          <p:cNvSpPr/>
          <p:nvPr/>
        </p:nvSpPr>
        <p:spPr>
          <a:xfrm>
            <a:off x="9326880" y="3200400"/>
            <a:ext cx="2331720" cy="960120"/>
          </a:xfrm>
          <a:prstGeom prst="roundRect">
            <a:avLst>
              <a:gd fmla="val 5714"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3"/>
          <p:cNvSpPr/>
          <p:nvPr/>
        </p:nvSpPr>
        <p:spPr>
          <a:xfrm>
            <a:off x="9491472" y="3364992"/>
            <a:ext cx="2002536" cy="649224"/>
          </a:xfrm>
          <a:prstGeom prst="rect">
            <a:avLst/>
          </a:prstGeom>
          <a:noFill/>
          <a:ln>
            <a:noFill/>
          </a:ln>
        </p:spPr>
        <p:txBody>
          <a:bodyPr anchorCtr="0" anchor="ctr" bIns="250" lIns="250" spcFirstLastPara="1" rIns="250" wrap="square" tIns="250">
            <a:noAutofit/>
          </a:bodyPr>
          <a:lstStyle/>
          <a:p>
            <a:pPr indent="0" lvl="0" marL="0" marR="0" rtl="0" algn="ctr">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Interesting enough for months</a:t>
            </a:r>
            <a:endParaRPr sz="2000">
              <a:solidFill>
                <a:schemeClr val="dk1"/>
              </a:solidFill>
              <a:latin typeface="Arial"/>
              <a:ea typeface="Arial"/>
              <a:cs typeface="Arial"/>
              <a:sym typeface="Arial"/>
            </a:endParaRPr>
          </a:p>
        </p:txBody>
      </p:sp>
      <p:sp>
        <p:nvSpPr>
          <p:cNvPr id="247" name="Google Shape;247;p13"/>
          <p:cNvSpPr/>
          <p:nvPr/>
        </p:nvSpPr>
        <p:spPr>
          <a:xfrm>
            <a:off x="914400" y="4983480"/>
            <a:ext cx="10332720" cy="411480"/>
          </a:xfrm>
          <a:prstGeom prst="rect">
            <a:avLst/>
          </a:prstGeom>
          <a:noFill/>
          <a:ln>
            <a:noFill/>
          </a:ln>
        </p:spPr>
        <p:txBody>
          <a:bodyPr anchorCtr="0" anchor="t" bIns="375" lIns="375" spcFirstLastPara="1" rIns="375" wrap="square" tIns="375">
            <a:noAutofit/>
          </a:bodyPr>
          <a:lstStyle/>
          <a:p>
            <a:pPr indent="0" lvl="0" marL="0" marR="0" rtl="0" algn="ctr">
              <a:spcBef>
                <a:spcPts val="0"/>
              </a:spcBef>
              <a:spcAft>
                <a:spcPts val="0"/>
              </a:spcAft>
              <a:buClr>
                <a:srgbClr val="FFFFFF"/>
              </a:buClr>
              <a:buSzPts val="2400"/>
              <a:buFont typeface="Play"/>
              <a:buNone/>
            </a:pPr>
            <a:r>
              <a:rPr b="1" lang="en-US" sz="2400">
                <a:solidFill>
                  <a:srgbClr val="FFFFFF"/>
                </a:solidFill>
                <a:latin typeface="Play"/>
                <a:ea typeface="Play"/>
                <a:cs typeface="Play"/>
                <a:sym typeface="Play"/>
              </a:rPr>
              <a:t>If one category fails, revise the question before building the project.</a:t>
            </a:r>
            <a:endParaRPr sz="2400">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52" name="Shape 252"/>
        <p:cNvGrpSpPr/>
        <p:nvPr/>
      </p:nvGrpSpPr>
      <p:grpSpPr>
        <a:xfrm>
          <a:off x="0" y="0"/>
          <a:ext cx="0" cy="0"/>
          <a:chOff x="0" y="0"/>
          <a:chExt cx="0" cy="0"/>
        </a:xfrm>
      </p:grpSpPr>
      <p:sp>
        <p:nvSpPr>
          <p:cNvPr id="253" name="Google Shape;253;p14"/>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4"/>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4"/>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4"/>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257" name="Google Shape;257;p14"/>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58" name="Google Shape;258;p14"/>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259" name="Google Shape;259;p14"/>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Sort the Project Ideas</a:t>
            </a:r>
            <a:endParaRPr sz="2800">
              <a:solidFill>
                <a:schemeClr val="dk1"/>
              </a:solidFill>
              <a:latin typeface="Arial"/>
              <a:ea typeface="Arial"/>
              <a:cs typeface="Arial"/>
              <a:sym typeface="Arial"/>
            </a:endParaRPr>
          </a:p>
        </p:txBody>
      </p:sp>
      <p:sp>
        <p:nvSpPr>
          <p:cNvPr id="260" name="Google Shape;260;p14"/>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10 minutes • Unit 1 Week 2</a:t>
            </a:r>
            <a:endParaRPr sz="1200">
              <a:solidFill>
                <a:schemeClr val="dk1"/>
              </a:solidFill>
              <a:latin typeface="Arial"/>
              <a:ea typeface="Arial"/>
              <a:cs typeface="Arial"/>
              <a:sym typeface="Arial"/>
            </a:endParaRPr>
          </a:p>
        </p:txBody>
      </p:sp>
      <p:cxnSp>
        <p:nvCxnSpPr>
          <p:cNvPr id="261" name="Google Shape;261;p14"/>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62" name="Google Shape;262;p14"/>
          <p:cNvSpPr/>
          <p:nvPr/>
        </p:nvSpPr>
        <p:spPr>
          <a:xfrm>
            <a:off x="777240" y="1783080"/>
            <a:ext cx="187452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868680" y="1865376"/>
            <a:ext cx="16916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264" name="Google Shape;264;p14"/>
          <p:cNvSpPr/>
          <p:nvPr/>
        </p:nvSpPr>
        <p:spPr>
          <a:xfrm>
            <a:off x="868680" y="2331720"/>
            <a:ext cx="1033272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100">
                <a:solidFill>
                  <a:srgbClr val="FFFFFF"/>
                </a:solidFill>
                <a:latin typeface="Arial"/>
                <a:ea typeface="Arial"/>
                <a:cs typeface="Arial"/>
                <a:sym typeface="Arial"/>
              </a:rPr>
              <a:t>In groups, sort each idea into one category: not research yet, needs refinement, strong direction, engineering design, or red flag.</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Be ready to defend your choice.</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Then revise one weak idea into a stronger version.</a:t>
            </a:r>
            <a:endParaRPr sz="2100">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69" name="Shape 269"/>
        <p:cNvGrpSpPr/>
        <p:nvPr/>
      </p:nvGrpSpPr>
      <p:grpSpPr>
        <a:xfrm>
          <a:off x="0" y="0"/>
          <a:ext cx="0" cy="0"/>
          <a:chOff x="0" y="0"/>
          <a:chExt cx="0" cy="0"/>
        </a:xfrm>
      </p:grpSpPr>
      <p:sp>
        <p:nvSpPr>
          <p:cNvPr id="270" name="Google Shape;270;p15"/>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5"/>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5"/>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5"/>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SAFETY &amp; ETHICS</a:t>
            </a:r>
            <a:endParaRPr sz="1000">
              <a:solidFill>
                <a:schemeClr val="dk1"/>
              </a:solidFill>
              <a:latin typeface="Arial"/>
              <a:ea typeface="Arial"/>
              <a:cs typeface="Arial"/>
              <a:sym typeface="Arial"/>
            </a:endParaRPr>
          </a:p>
        </p:txBody>
      </p:sp>
      <p:sp>
        <p:nvSpPr>
          <p:cNvPr id="274" name="Google Shape;274;p15"/>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75" name="Google Shape;275;p15"/>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276" name="Google Shape;276;p15"/>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Some Ideas Need Guardrails</a:t>
            </a:r>
            <a:endParaRPr sz="2800">
              <a:solidFill>
                <a:schemeClr val="dk1"/>
              </a:solidFill>
              <a:latin typeface="Arial"/>
              <a:ea typeface="Arial"/>
              <a:cs typeface="Arial"/>
              <a:sym typeface="Arial"/>
            </a:endParaRPr>
          </a:p>
        </p:txBody>
      </p:sp>
      <p:sp>
        <p:nvSpPr>
          <p:cNvPr id="277" name="Google Shape;277;p15"/>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Curiosity does not override safety or ethics.</a:t>
            </a:r>
            <a:endParaRPr sz="1200">
              <a:solidFill>
                <a:schemeClr val="dk1"/>
              </a:solidFill>
              <a:latin typeface="Arial"/>
              <a:ea typeface="Arial"/>
              <a:cs typeface="Arial"/>
              <a:sym typeface="Arial"/>
            </a:endParaRPr>
          </a:p>
        </p:txBody>
      </p:sp>
      <p:cxnSp>
        <p:nvCxnSpPr>
          <p:cNvPr id="278" name="Google Shape;278;p15"/>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79" name="Google Shape;279;p15"/>
          <p:cNvSpPr/>
          <p:nvPr/>
        </p:nvSpPr>
        <p:spPr>
          <a:xfrm>
            <a:off x="1005840" y="1828800"/>
            <a:ext cx="9875520" cy="310896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300">
                <a:solidFill>
                  <a:srgbClr val="FFFFFF"/>
                </a:solidFill>
                <a:latin typeface="Arial"/>
                <a:ea typeface="Arial"/>
                <a:cs typeface="Arial"/>
                <a:sym typeface="Arial"/>
              </a:rPr>
              <a:t>Human subjects or private data</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Vertebrate animals</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Unknown microorganisms</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Hazardous chemicals or tools</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Medical claims or treatments</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Projects that require deception</a:t>
            </a:r>
            <a:endParaRPr sz="2300">
              <a:solidFill>
                <a:schemeClr val="dk1"/>
              </a:solidFill>
              <a:latin typeface="Arial"/>
              <a:ea typeface="Arial"/>
              <a:cs typeface="Arial"/>
              <a:sym typeface="Arial"/>
            </a:endParaRPr>
          </a:p>
        </p:txBody>
      </p:sp>
      <p:sp>
        <p:nvSpPr>
          <p:cNvPr id="280" name="Google Shape;280;p15"/>
          <p:cNvSpPr/>
          <p:nvPr/>
        </p:nvSpPr>
        <p:spPr>
          <a:xfrm>
            <a:off x="914400" y="5166360"/>
            <a:ext cx="10332720" cy="411480"/>
          </a:xfrm>
          <a:prstGeom prst="rect">
            <a:avLst/>
          </a:prstGeom>
          <a:noFill/>
          <a:ln>
            <a:noFill/>
          </a:ln>
        </p:spPr>
        <p:txBody>
          <a:bodyPr anchorCtr="0" anchor="t" bIns="375" lIns="375" spcFirstLastPara="1" rIns="375" wrap="square" tIns="375">
            <a:noAutofit/>
          </a:bodyPr>
          <a:lstStyle/>
          <a:p>
            <a:pPr indent="0" lvl="0" marL="0" marR="0" rtl="0" algn="ctr">
              <a:spcBef>
                <a:spcPts val="0"/>
              </a:spcBef>
              <a:spcAft>
                <a:spcPts val="0"/>
              </a:spcAft>
              <a:buClr>
                <a:srgbClr val="FFFFFF"/>
              </a:buClr>
              <a:buSzPts val="2400"/>
              <a:buFont typeface="Play"/>
              <a:buNone/>
            </a:pPr>
            <a:r>
              <a:rPr b="1" lang="en-US" sz="2400">
                <a:solidFill>
                  <a:srgbClr val="FFFFFF"/>
                </a:solidFill>
                <a:latin typeface="Play"/>
                <a:ea typeface="Play"/>
                <a:cs typeface="Play"/>
                <a:sym typeface="Play"/>
              </a:rPr>
              <a:t>Red flag does not always mean “no.” It means “review before doing.”</a:t>
            </a:r>
            <a:endParaRPr sz="2400">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85" name="Shape 285"/>
        <p:cNvGrpSpPr/>
        <p:nvPr/>
      </p:nvGrpSpPr>
      <p:grpSpPr>
        <a:xfrm>
          <a:off x="0" y="0"/>
          <a:ext cx="0" cy="0"/>
          <a:chOff x="0" y="0"/>
          <a:chExt cx="0" cy="0"/>
        </a:xfrm>
      </p:grpSpPr>
      <p:sp>
        <p:nvSpPr>
          <p:cNvPr id="286" name="Google Shape;286;p16"/>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6"/>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6"/>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6"/>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QUESTION DEVELOPMENT</a:t>
            </a:r>
            <a:endParaRPr sz="1000">
              <a:solidFill>
                <a:schemeClr val="dk1"/>
              </a:solidFill>
              <a:latin typeface="Arial"/>
              <a:ea typeface="Arial"/>
              <a:cs typeface="Arial"/>
              <a:sym typeface="Arial"/>
            </a:endParaRPr>
          </a:p>
        </p:txBody>
      </p:sp>
      <p:sp>
        <p:nvSpPr>
          <p:cNvPr id="290" name="Google Shape;290;p16"/>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91" name="Google Shape;291;p16"/>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292" name="Google Shape;292;p16"/>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Five Upgrade Moves</a:t>
            </a:r>
            <a:endParaRPr sz="2800">
              <a:solidFill>
                <a:schemeClr val="dk1"/>
              </a:solidFill>
              <a:latin typeface="Arial"/>
              <a:ea typeface="Arial"/>
              <a:cs typeface="Arial"/>
              <a:sym typeface="Arial"/>
            </a:endParaRPr>
          </a:p>
        </p:txBody>
      </p:sp>
      <p:sp>
        <p:nvSpPr>
          <p:cNvPr id="293" name="Google Shape;293;p16"/>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Use these whenever a question feels vague.</a:t>
            </a:r>
            <a:endParaRPr sz="1200">
              <a:solidFill>
                <a:schemeClr val="dk1"/>
              </a:solidFill>
              <a:latin typeface="Arial"/>
              <a:ea typeface="Arial"/>
              <a:cs typeface="Arial"/>
              <a:sym typeface="Arial"/>
            </a:endParaRPr>
          </a:p>
        </p:txBody>
      </p:sp>
      <p:cxnSp>
        <p:nvCxnSpPr>
          <p:cNvPr id="294" name="Google Shape;294;p16"/>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95" name="Google Shape;295;p16"/>
          <p:cNvSpPr/>
          <p:nvPr/>
        </p:nvSpPr>
        <p:spPr>
          <a:xfrm>
            <a:off x="777240" y="1828800"/>
            <a:ext cx="2148840" cy="2697480"/>
          </a:xfrm>
          <a:prstGeom prst="roundRect">
            <a:avLst>
              <a:gd fmla="val 2553"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6"/>
          <p:cNvSpPr/>
          <p:nvPr/>
        </p:nvSpPr>
        <p:spPr>
          <a:xfrm>
            <a:off x="941832" y="1965960"/>
            <a:ext cx="18196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ADD A MEASURABLE OUTCOME</a:t>
            </a:r>
            <a:endParaRPr sz="1100">
              <a:solidFill>
                <a:schemeClr val="dk1"/>
              </a:solidFill>
              <a:latin typeface="Arial"/>
              <a:ea typeface="Arial"/>
              <a:cs typeface="Arial"/>
              <a:sym typeface="Arial"/>
            </a:endParaRPr>
          </a:p>
        </p:txBody>
      </p:sp>
      <p:sp>
        <p:nvSpPr>
          <p:cNvPr id="297" name="Google Shape;297;p16"/>
          <p:cNvSpPr/>
          <p:nvPr/>
        </p:nvSpPr>
        <p:spPr>
          <a:xfrm>
            <a:off x="941832" y="2331720"/>
            <a:ext cx="1819656" cy="20391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“better” → “load supported per gram”</a:t>
            </a:r>
            <a:endParaRPr sz="1800">
              <a:solidFill>
                <a:schemeClr val="dk1"/>
              </a:solidFill>
              <a:latin typeface="Arial"/>
              <a:ea typeface="Arial"/>
              <a:cs typeface="Arial"/>
              <a:sym typeface="Arial"/>
            </a:endParaRPr>
          </a:p>
        </p:txBody>
      </p:sp>
      <p:sp>
        <p:nvSpPr>
          <p:cNvPr id="298" name="Google Shape;298;p16"/>
          <p:cNvSpPr/>
          <p:nvPr/>
        </p:nvSpPr>
        <p:spPr>
          <a:xfrm>
            <a:off x="3063240" y="1828800"/>
            <a:ext cx="2148840" cy="2697480"/>
          </a:xfrm>
          <a:prstGeom prst="roundRect">
            <a:avLst>
              <a:gd fmla="val 2553"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3227832" y="1965960"/>
            <a:ext cx="18196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ADD A COMPARISON</a:t>
            </a:r>
            <a:endParaRPr sz="1100">
              <a:solidFill>
                <a:schemeClr val="dk1"/>
              </a:solidFill>
              <a:latin typeface="Arial"/>
              <a:ea typeface="Arial"/>
              <a:cs typeface="Arial"/>
              <a:sym typeface="Arial"/>
            </a:endParaRPr>
          </a:p>
        </p:txBody>
      </p:sp>
      <p:sp>
        <p:nvSpPr>
          <p:cNvPr id="300" name="Google Shape;300;p16"/>
          <p:cNvSpPr/>
          <p:nvPr/>
        </p:nvSpPr>
        <p:spPr>
          <a:xfrm>
            <a:off x="3227832" y="2331720"/>
            <a:ext cx="1819656" cy="20391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one design → two or more designs</a:t>
            </a:r>
            <a:endParaRPr sz="1800">
              <a:solidFill>
                <a:schemeClr val="dk1"/>
              </a:solidFill>
              <a:latin typeface="Arial"/>
              <a:ea typeface="Arial"/>
              <a:cs typeface="Arial"/>
              <a:sym typeface="Arial"/>
            </a:endParaRPr>
          </a:p>
        </p:txBody>
      </p:sp>
      <p:sp>
        <p:nvSpPr>
          <p:cNvPr id="301" name="Google Shape;301;p16"/>
          <p:cNvSpPr/>
          <p:nvPr/>
        </p:nvSpPr>
        <p:spPr>
          <a:xfrm>
            <a:off x="5349240" y="1828800"/>
            <a:ext cx="2148840" cy="2697480"/>
          </a:xfrm>
          <a:prstGeom prst="roundRect">
            <a:avLst>
              <a:gd fmla="val 2553"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6"/>
          <p:cNvSpPr/>
          <p:nvPr/>
        </p:nvSpPr>
        <p:spPr>
          <a:xfrm>
            <a:off x="5513832" y="1965960"/>
            <a:ext cx="18196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ADD A TIME FRAME</a:t>
            </a:r>
            <a:endParaRPr sz="1100">
              <a:solidFill>
                <a:schemeClr val="dk1"/>
              </a:solidFill>
              <a:latin typeface="Arial"/>
              <a:ea typeface="Arial"/>
              <a:cs typeface="Arial"/>
              <a:sym typeface="Arial"/>
            </a:endParaRPr>
          </a:p>
        </p:txBody>
      </p:sp>
      <p:sp>
        <p:nvSpPr>
          <p:cNvPr id="303" name="Google Shape;303;p16"/>
          <p:cNvSpPr/>
          <p:nvPr/>
        </p:nvSpPr>
        <p:spPr>
          <a:xfrm>
            <a:off x="5513832" y="2331720"/>
            <a:ext cx="1819656" cy="20391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eventually → over four weeks</a:t>
            </a:r>
            <a:endParaRPr sz="1800">
              <a:solidFill>
                <a:schemeClr val="dk1"/>
              </a:solidFill>
              <a:latin typeface="Arial"/>
              <a:ea typeface="Arial"/>
              <a:cs typeface="Arial"/>
              <a:sym typeface="Arial"/>
            </a:endParaRPr>
          </a:p>
        </p:txBody>
      </p:sp>
      <p:sp>
        <p:nvSpPr>
          <p:cNvPr id="304" name="Google Shape;304;p16"/>
          <p:cNvSpPr/>
          <p:nvPr/>
        </p:nvSpPr>
        <p:spPr>
          <a:xfrm>
            <a:off x="7635240" y="1828800"/>
            <a:ext cx="2148840" cy="2697480"/>
          </a:xfrm>
          <a:prstGeom prst="roundRect">
            <a:avLst>
              <a:gd fmla="val 2553"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6"/>
          <p:cNvSpPr/>
          <p:nvPr/>
        </p:nvSpPr>
        <p:spPr>
          <a:xfrm>
            <a:off x="7799832" y="1965960"/>
            <a:ext cx="18196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NARROW THE SYSTEM</a:t>
            </a:r>
            <a:endParaRPr sz="1100">
              <a:solidFill>
                <a:schemeClr val="dk1"/>
              </a:solidFill>
              <a:latin typeface="Arial"/>
              <a:ea typeface="Arial"/>
              <a:cs typeface="Arial"/>
              <a:sym typeface="Arial"/>
            </a:endParaRPr>
          </a:p>
        </p:txBody>
      </p:sp>
      <p:sp>
        <p:nvSpPr>
          <p:cNvPr id="306" name="Google Shape;306;p16"/>
          <p:cNvSpPr/>
          <p:nvPr/>
        </p:nvSpPr>
        <p:spPr>
          <a:xfrm>
            <a:off x="7799832" y="2331720"/>
            <a:ext cx="1819656" cy="20391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plants → bean plants in controlled containers</a:t>
            </a:r>
            <a:endParaRPr sz="1800">
              <a:solidFill>
                <a:schemeClr val="dk1"/>
              </a:solidFill>
              <a:latin typeface="Arial"/>
              <a:ea typeface="Arial"/>
              <a:cs typeface="Arial"/>
              <a:sym typeface="Arial"/>
            </a:endParaRPr>
          </a:p>
        </p:txBody>
      </p:sp>
      <p:sp>
        <p:nvSpPr>
          <p:cNvPr id="307" name="Google Shape;307;p16"/>
          <p:cNvSpPr/>
          <p:nvPr/>
        </p:nvSpPr>
        <p:spPr>
          <a:xfrm>
            <a:off x="4846320" y="4736592"/>
            <a:ext cx="2514600" cy="960120"/>
          </a:xfrm>
          <a:prstGeom prst="roundRect">
            <a:avLst>
              <a:gd fmla="val 5714"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6"/>
          <p:cNvSpPr/>
          <p:nvPr/>
        </p:nvSpPr>
        <p:spPr>
          <a:xfrm>
            <a:off x="5010912" y="4873752"/>
            <a:ext cx="218541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DEFINE SUCCESS</a:t>
            </a:r>
            <a:endParaRPr sz="1100">
              <a:solidFill>
                <a:schemeClr val="dk1"/>
              </a:solidFill>
              <a:latin typeface="Arial"/>
              <a:ea typeface="Arial"/>
              <a:cs typeface="Arial"/>
              <a:sym typeface="Arial"/>
            </a:endParaRPr>
          </a:p>
        </p:txBody>
      </p:sp>
      <p:sp>
        <p:nvSpPr>
          <p:cNvPr id="309" name="Google Shape;309;p16"/>
          <p:cNvSpPr/>
          <p:nvPr/>
        </p:nvSpPr>
        <p:spPr>
          <a:xfrm>
            <a:off x="5010912" y="5239512"/>
            <a:ext cx="2185416" cy="3017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works → meets criteria with evidence</a:t>
            </a:r>
            <a:endParaRPr sz="1800">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14" name="Shape 314"/>
        <p:cNvGrpSpPr/>
        <p:nvPr/>
      </p:nvGrpSpPr>
      <p:grpSpPr>
        <a:xfrm>
          <a:off x="0" y="0"/>
          <a:ext cx="0" cy="0"/>
          <a:chOff x="0" y="0"/>
          <a:chExt cx="0" cy="0"/>
        </a:xfrm>
      </p:grpSpPr>
      <p:sp>
        <p:nvSpPr>
          <p:cNvPr id="315" name="Google Shape;315;p17"/>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7"/>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7"/>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7"/>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19" name="Google Shape;319;p17"/>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20" name="Google Shape;320;p17"/>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321" name="Google Shape;321;p17"/>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Revise Your Own Research Direction</a:t>
            </a:r>
            <a:endParaRPr sz="2800">
              <a:solidFill>
                <a:schemeClr val="dk1"/>
              </a:solidFill>
              <a:latin typeface="Arial"/>
              <a:ea typeface="Arial"/>
              <a:cs typeface="Arial"/>
              <a:sym typeface="Arial"/>
            </a:endParaRPr>
          </a:p>
        </p:txBody>
      </p:sp>
      <p:sp>
        <p:nvSpPr>
          <p:cNvPr id="322" name="Google Shape;322;p17"/>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12 minutes • Unit 1 Week 2</a:t>
            </a:r>
            <a:endParaRPr sz="1200">
              <a:solidFill>
                <a:schemeClr val="dk1"/>
              </a:solidFill>
              <a:latin typeface="Arial"/>
              <a:ea typeface="Arial"/>
              <a:cs typeface="Arial"/>
              <a:sym typeface="Arial"/>
            </a:endParaRPr>
          </a:p>
        </p:txBody>
      </p:sp>
      <p:cxnSp>
        <p:nvCxnSpPr>
          <p:cNvPr id="323" name="Google Shape;323;p17"/>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24" name="Google Shape;324;p17"/>
          <p:cNvSpPr/>
          <p:nvPr/>
        </p:nvSpPr>
        <p:spPr>
          <a:xfrm>
            <a:off x="777240" y="1783080"/>
            <a:ext cx="187452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7"/>
          <p:cNvSpPr/>
          <p:nvPr/>
        </p:nvSpPr>
        <p:spPr>
          <a:xfrm>
            <a:off x="868680" y="1865376"/>
            <a:ext cx="16916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26" name="Google Shape;326;p17"/>
          <p:cNvSpPr/>
          <p:nvPr/>
        </p:nvSpPr>
        <p:spPr>
          <a:xfrm>
            <a:off x="868680" y="2331720"/>
            <a:ext cx="1033272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100">
                <a:solidFill>
                  <a:srgbClr val="FFFFFF"/>
                </a:solidFill>
                <a:latin typeface="Arial"/>
                <a:ea typeface="Arial"/>
                <a:cs typeface="Arial"/>
                <a:sym typeface="Arial"/>
              </a:rPr>
              <a:t>Write your current best idea. Then revise it twice.</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Version 1: What I have now.</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Revision 1: Add a measurable outcome.</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Revision 2: Add a comparison, time frame, or success criterion.</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Share the final version with a partner. Partner asks: “What data would answer this?”</a:t>
            </a:r>
            <a:endParaRPr sz="2100">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31" name="Shape 331"/>
        <p:cNvGrpSpPr/>
        <p:nvPr/>
      </p:nvGrpSpPr>
      <p:grpSpPr>
        <a:xfrm>
          <a:off x="0" y="0"/>
          <a:ext cx="0" cy="0"/>
          <a:chOff x="0" y="0"/>
          <a:chExt cx="0" cy="0"/>
        </a:xfrm>
      </p:grpSpPr>
      <p:sp>
        <p:nvSpPr>
          <p:cNvPr id="332" name="Google Shape;332;p18"/>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8"/>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8"/>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8"/>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CONFERENCE PROMPTS</a:t>
            </a:r>
            <a:endParaRPr sz="1000">
              <a:solidFill>
                <a:schemeClr val="dk1"/>
              </a:solidFill>
              <a:latin typeface="Arial"/>
              <a:ea typeface="Arial"/>
              <a:cs typeface="Arial"/>
              <a:sym typeface="Arial"/>
            </a:endParaRPr>
          </a:p>
        </p:txBody>
      </p:sp>
      <p:sp>
        <p:nvSpPr>
          <p:cNvPr id="336" name="Google Shape;336;p18"/>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37" name="Google Shape;337;p18"/>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338" name="Google Shape;338;p18"/>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Teacher Conference Prompts</a:t>
            </a:r>
            <a:endParaRPr sz="2800">
              <a:solidFill>
                <a:schemeClr val="dk1"/>
              </a:solidFill>
              <a:latin typeface="Arial"/>
              <a:ea typeface="Arial"/>
              <a:cs typeface="Arial"/>
              <a:sym typeface="Arial"/>
            </a:endParaRPr>
          </a:p>
        </p:txBody>
      </p:sp>
      <p:sp>
        <p:nvSpPr>
          <p:cNvPr id="339" name="Google Shape;339;p18"/>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When students ask “Is this good?” ask these instead.</a:t>
            </a:r>
            <a:endParaRPr sz="1200">
              <a:solidFill>
                <a:schemeClr val="dk1"/>
              </a:solidFill>
              <a:latin typeface="Arial"/>
              <a:ea typeface="Arial"/>
              <a:cs typeface="Arial"/>
              <a:sym typeface="Arial"/>
            </a:endParaRPr>
          </a:p>
        </p:txBody>
      </p:sp>
      <p:cxnSp>
        <p:nvCxnSpPr>
          <p:cNvPr id="340" name="Google Shape;340;p18"/>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41" name="Google Shape;341;p18"/>
          <p:cNvSpPr/>
          <p:nvPr/>
        </p:nvSpPr>
        <p:spPr>
          <a:xfrm>
            <a:off x="1005840" y="1828800"/>
            <a:ext cx="9875520" cy="374904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300">
                <a:solidFill>
                  <a:srgbClr val="FFFFFF"/>
                </a:solidFill>
                <a:latin typeface="Arial"/>
                <a:ea typeface="Arial"/>
                <a:cs typeface="Arial"/>
                <a:sym typeface="Arial"/>
              </a:rPr>
              <a:t>What would you measure?</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What would you compare?</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How would you know it worked?</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What would stay the same each time?</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What is the smallest testable version?</a:t>
            </a:r>
            <a:endParaRPr sz="2300">
              <a:solidFill>
                <a:schemeClr val="dk1"/>
              </a:solidFill>
              <a:latin typeface="Arial"/>
              <a:ea typeface="Arial"/>
              <a:cs typeface="Arial"/>
              <a:sym typeface="Arial"/>
            </a:endParaRPr>
          </a:p>
          <a:p>
            <a:pPr indent="0" lvl="0" marL="0" marR="0" rtl="0" algn="l">
              <a:spcBef>
                <a:spcPts val="0"/>
              </a:spcBef>
              <a:spcAft>
                <a:spcPts val="0"/>
              </a:spcAft>
              <a:buNone/>
            </a:pPr>
            <a:r>
              <a:rPr lang="en-US" sz="2300">
                <a:solidFill>
                  <a:srgbClr val="FFFFFF"/>
                </a:solidFill>
                <a:latin typeface="Arial"/>
                <a:ea typeface="Arial"/>
                <a:cs typeface="Arial"/>
                <a:sym typeface="Arial"/>
              </a:rPr>
              <a:t>What might make this unsafe or unethical?</a:t>
            </a:r>
            <a:endParaRPr sz="2300">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46" name="Shape 346"/>
        <p:cNvGrpSpPr/>
        <p:nvPr/>
      </p:nvGrpSpPr>
      <p:grpSpPr>
        <a:xfrm>
          <a:off x="0" y="0"/>
          <a:ext cx="0" cy="0"/>
          <a:chOff x="0" y="0"/>
          <a:chExt cx="0" cy="0"/>
        </a:xfrm>
      </p:grpSpPr>
      <p:sp>
        <p:nvSpPr>
          <p:cNvPr id="347" name="Google Shape;347;p19"/>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9"/>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9"/>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9"/>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51" name="Google Shape;351;p19"/>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52" name="Google Shape;352;p19"/>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353" name="Google Shape;353;p19"/>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Exit Ticket</a:t>
            </a:r>
            <a:endParaRPr sz="2800">
              <a:solidFill>
                <a:schemeClr val="dk1"/>
              </a:solidFill>
              <a:latin typeface="Arial"/>
              <a:ea typeface="Arial"/>
              <a:cs typeface="Arial"/>
              <a:sym typeface="Arial"/>
            </a:endParaRPr>
          </a:p>
        </p:txBody>
      </p:sp>
      <p:sp>
        <p:nvSpPr>
          <p:cNvPr id="354" name="Google Shape;354;p19"/>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5 minutes • Unit 1 Week 2</a:t>
            </a:r>
            <a:endParaRPr sz="1200">
              <a:solidFill>
                <a:schemeClr val="dk1"/>
              </a:solidFill>
              <a:latin typeface="Arial"/>
              <a:ea typeface="Arial"/>
              <a:cs typeface="Arial"/>
              <a:sym typeface="Arial"/>
            </a:endParaRPr>
          </a:p>
        </p:txBody>
      </p:sp>
      <p:cxnSp>
        <p:nvCxnSpPr>
          <p:cNvPr id="355" name="Google Shape;355;p19"/>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56" name="Google Shape;356;p19"/>
          <p:cNvSpPr/>
          <p:nvPr/>
        </p:nvSpPr>
        <p:spPr>
          <a:xfrm>
            <a:off x="777240" y="1783080"/>
            <a:ext cx="187452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9"/>
          <p:cNvSpPr/>
          <p:nvPr/>
        </p:nvSpPr>
        <p:spPr>
          <a:xfrm>
            <a:off x="868680" y="1865376"/>
            <a:ext cx="16916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58" name="Google Shape;358;p19"/>
          <p:cNvSpPr/>
          <p:nvPr/>
        </p:nvSpPr>
        <p:spPr>
          <a:xfrm>
            <a:off x="868680" y="2331720"/>
            <a:ext cx="1033272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100">
                <a:solidFill>
                  <a:srgbClr val="FFFFFF"/>
                </a:solidFill>
                <a:latin typeface="Arial"/>
                <a:ea typeface="Arial"/>
                <a:cs typeface="Arial"/>
                <a:sym typeface="Arial"/>
              </a:rPr>
              <a:t>Leave with a research direction, not just a topic.</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1. My current research question or engineering problem is…</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2. The data or evidence I could collect is…</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3. One thing I still need to figure out is…</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Teacher collects these to plan conferences and Unit 2 project planning support.</a:t>
            </a:r>
            <a:endParaRPr sz="2100">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63" name="Shape 363"/>
        <p:cNvGrpSpPr/>
        <p:nvPr/>
      </p:nvGrpSpPr>
      <p:grpSpPr>
        <a:xfrm>
          <a:off x="0" y="0"/>
          <a:ext cx="0" cy="0"/>
          <a:chOff x="0" y="0"/>
          <a:chExt cx="0" cy="0"/>
        </a:xfrm>
      </p:grpSpPr>
      <p:sp>
        <p:nvSpPr>
          <p:cNvPr id="364" name="Google Shape;364;p20"/>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0"/>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0"/>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20"/>
          <p:cNvSpPr/>
          <p:nvPr/>
        </p:nvSpPr>
        <p:spPr>
          <a:xfrm>
            <a:off x="411480" y="6236208"/>
            <a:ext cx="45720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NEXT STEP</a:t>
            </a:r>
            <a:endParaRPr sz="1000">
              <a:solidFill>
                <a:schemeClr val="dk1"/>
              </a:solidFill>
              <a:latin typeface="Arial"/>
              <a:ea typeface="Arial"/>
              <a:cs typeface="Arial"/>
              <a:sym typeface="Arial"/>
            </a:endParaRPr>
          </a:p>
        </p:txBody>
      </p:sp>
      <p:sp>
        <p:nvSpPr>
          <p:cNvPr id="368" name="Google Shape;368;p20"/>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69" name="Google Shape;369;p20"/>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02</a:t>
            </a:r>
            <a:endParaRPr sz="1100">
              <a:solidFill>
                <a:schemeClr val="dk1"/>
              </a:solidFill>
              <a:latin typeface="Arial"/>
              <a:ea typeface="Arial"/>
              <a:cs typeface="Arial"/>
              <a:sym typeface="Arial"/>
            </a:endParaRPr>
          </a:p>
        </p:txBody>
      </p:sp>
      <p:sp>
        <p:nvSpPr>
          <p:cNvPr id="370" name="Google Shape;370;p20"/>
          <p:cNvSpPr/>
          <p:nvPr/>
        </p:nvSpPr>
        <p:spPr>
          <a:xfrm>
            <a:off x="685800" y="694944"/>
            <a:ext cx="996696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Turn This Question Into a Plan</a:t>
            </a:r>
            <a:endParaRPr sz="2800">
              <a:solidFill>
                <a:schemeClr val="dk1"/>
              </a:solidFill>
              <a:latin typeface="Arial"/>
              <a:ea typeface="Arial"/>
              <a:cs typeface="Arial"/>
              <a:sym typeface="Arial"/>
            </a:endParaRPr>
          </a:p>
        </p:txBody>
      </p:sp>
      <p:sp>
        <p:nvSpPr>
          <p:cNvPr id="371" name="Google Shape;371;p20"/>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Unit 2 will ask: What is your hypothesis, method, materials list, safety plan, and timeline?</a:t>
            </a:r>
            <a:endParaRPr sz="1200">
              <a:solidFill>
                <a:schemeClr val="dk1"/>
              </a:solidFill>
              <a:latin typeface="Arial"/>
              <a:ea typeface="Arial"/>
              <a:cs typeface="Arial"/>
              <a:sym typeface="Arial"/>
            </a:endParaRPr>
          </a:p>
        </p:txBody>
      </p:sp>
      <p:cxnSp>
        <p:nvCxnSpPr>
          <p:cNvPr id="372" name="Google Shape;372;p20"/>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73" name="Google Shape;373;p20"/>
          <p:cNvSpPr/>
          <p:nvPr/>
        </p:nvSpPr>
        <p:spPr>
          <a:xfrm>
            <a:off x="914400" y="1965960"/>
            <a:ext cx="103327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2B27"/>
              </a:buClr>
              <a:buSzPts val="1400"/>
              <a:buFont typeface="Arial"/>
              <a:buNone/>
            </a:pPr>
            <a:r>
              <a:rPr b="1" lang="en-US" sz="1400">
                <a:solidFill>
                  <a:srgbClr val="E22B27"/>
                </a:solidFill>
                <a:latin typeface="Arial"/>
                <a:ea typeface="Arial"/>
                <a:cs typeface="Arial"/>
                <a:sym typeface="Arial"/>
              </a:rPr>
              <a:t>NEXT DECK</a:t>
            </a:r>
            <a:endParaRPr sz="1400">
              <a:solidFill>
                <a:schemeClr val="dk1"/>
              </a:solidFill>
              <a:latin typeface="Arial"/>
              <a:ea typeface="Arial"/>
              <a:cs typeface="Arial"/>
              <a:sym typeface="Arial"/>
            </a:endParaRPr>
          </a:p>
        </p:txBody>
      </p:sp>
      <p:sp>
        <p:nvSpPr>
          <p:cNvPr id="374" name="Google Shape;374;p20"/>
          <p:cNvSpPr/>
          <p:nvPr/>
        </p:nvSpPr>
        <p:spPr>
          <a:xfrm>
            <a:off x="914400" y="2514600"/>
            <a:ext cx="103327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300"/>
              <a:buFont typeface="Play"/>
              <a:buNone/>
            </a:pPr>
            <a:r>
              <a:rPr b="1" lang="en-US" sz="3300">
                <a:solidFill>
                  <a:srgbClr val="FFFFFF"/>
                </a:solidFill>
                <a:latin typeface="Play"/>
                <a:ea typeface="Play"/>
                <a:cs typeface="Play"/>
                <a:sym typeface="Play"/>
              </a:rPr>
              <a:t>RESEARCH ETHICS, SAFETY, &amp; INTEGRITY</a:t>
            </a:r>
            <a:endParaRPr sz="3300">
              <a:solidFill>
                <a:schemeClr val="dk1"/>
              </a:solidFill>
              <a:latin typeface="Arial"/>
              <a:ea typeface="Arial"/>
              <a:cs typeface="Arial"/>
              <a:sym typeface="Arial"/>
            </a:endParaRPr>
          </a:p>
        </p:txBody>
      </p:sp>
      <p:sp>
        <p:nvSpPr>
          <p:cNvPr id="375" name="Google Shape;375;p20"/>
          <p:cNvSpPr/>
          <p:nvPr/>
        </p:nvSpPr>
        <p:spPr>
          <a:xfrm>
            <a:off x="1828800" y="3657600"/>
            <a:ext cx="85039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2000"/>
              <a:buFont typeface="Arial"/>
              <a:buNone/>
            </a:pPr>
            <a:r>
              <a:rPr lang="en-US" sz="2000">
                <a:solidFill>
                  <a:srgbClr val="B8B8B8"/>
                </a:solidFill>
                <a:latin typeface="Arial"/>
                <a:ea typeface="Arial"/>
                <a:cs typeface="Arial"/>
                <a:sym typeface="Arial"/>
              </a:rPr>
              <a:t>Before projects move forward, students must understand the responsibilities that come with original research.</a:t>
            </a:r>
            <a:endParaRPr sz="2000">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