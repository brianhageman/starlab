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2000"/>
  <p:notesSz cx="6858000" cy="12192000"/>
  <p:embeddedFontLst>
    <p:embeddedFont>
      <p:font typeface="Play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schemas.openxmlformats.org/officeDocument/2006/relationships/font" Target="fonts/Play-bold.fntdata"/><Relationship Id="rId12" Type="http://schemas.openxmlformats.org/officeDocument/2006/relationships/slide" Target="slides/slide8.xml"/><Relationship Id="rId23" Type="http://schemas.openxmlformats.org/officeDocument/2006/relationships/font" Target="fonts/Play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title slide as students enter. This deck prepares students for the most authentic part of research presentation: responding to questions with evidence, honesty, and humility. Frame Q&amp;A as scientific dialogue, not interrogation.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Required print materials for this deck:</a:t>
            </a:r>
            <a:br>
              <a:rPr lang="en-US"/>
            </a:br>
            <a:r>
              <a:rPr lang="en-US"/>
              <a:t>• Unit 6 Student Handout 7: Q&amp;A Preparation Guide</a:t>
            </a:r>
            <a:br>
              <a:rPr lang="en-US"/>
            </a:br>
            <a:r>
              <a:rPr lang="en-US"/>
              <a:t>• Unit 6 Student Handout 8: Mock Q&amp;A Reflection</a:t>
            </a:r>
            <a:br>
              <a:rPr lang="en-US"/>
            </a:br>
            <a:r>
              <a:rPr lang="en-US"/>
              <a:t>• Unit 6 Student Handout 9: Evidence Defense Organizer</a:t>
            </a:r>
            <a:br>
              <a:rPr lang="en-US"/>
            </a:br>
            <a:r>
              <a:rPr lang="en-US"/>
              <a:t>• Unit 6 Student Handout 4: Practice Presentation Feedback Form, optional for rehearsal rounds</a:t>
            </a:r>
            <a:br>
              <a:rPr lang="en-US"/>
            </a:br>
            <a:r>
              <a:rPr lang="en-US"/>
              <a:t>• Unit 6 Appendix F: Question Bank for Research Presentations</a:t>
            </a:r>
            <a:br>
              <a:rPr lang="en-US"/>
            </a:br>
            <a:r>
              <a:rPr lang="en-US"/>
              <a:t>• Unit 6 Appendix G: Answering Difficult Questions</a:t>
            </a:r>
            <a:br>
              <a:rPr lang="en-US"/>
            </a:br>
            <a:r>
              <a:rPr lang="en-US"/>
              <a:t>• Unit 6 Appendix H: Scientific Humility and Professional Language</a:t>
            </a:r>
            <a:br>
              <a:rPr lang="en-US"/>
            </a:br>
            <a:r>
              <a:rPr lang="en-US"/>
              <a:t>• Unit 6 Appendix L: Oral Presentation Rubric, optional for assessment</a:t>
            </a:r>
            <a:br>
              <a:rPr lang="en-US"/>
            </a:br>
            <a:r>
              <a:rPr lang="en-US"/>
              <a:t>Next deck connection: Deck 19: Final Reflection and Research Portfolio.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Preview the lesson as a rehearsal for scientific conversation. Students should understand that good Q&amp;A is not about having a perfect answer to everything; it is about using evidence responsibly.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7: Q&amp;A Preparation Guide and Unit 6 Appendix F: Question Bank for Research Presentations. This deck supports Unit 6 Week 31.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Normalize anxiety. Many students interpret questions as attacks. Reframe questions as a normal part of scientific communication and a chance to show understanding.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Appendix H: Scientific Humility and Professional Language. This slide sets the mindset for Unit 6 Student Handout 7.</a:t>
            </a:r>
            <a:endParaRPr/>
          </a:p>
        </p:txBody>
      </p:sp>
      <p:sp>
        <p:nvSpPr>
          <p:cNvPr id="56" name="Google Shape;5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" name="Google Shape;7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formula gives students a practical script. They do not need to use all four moves for every short question, but the structure helps prevent rambling and overclaiming.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9: Evidence Defense Organizer and Unit 6 Appendix G: Answering Difficult Questions.</a:t>
            </a:r>
            <a:endParaRPr/>
          </a:p>
        </p:txBody>
      </p:sp>
      <p:sp>
        <p:nvSpPr>
          <p:cNvPr id="77" name="Google Shape;7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Have students recognize that likely questions are predictable. This lowers anxiety and gives them a planning structure.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7: Q&amp;A Preparation Guide and Unit 6 Appendix F: Question Bank for Research Presentations.</a:t>
            </a:r>
            <a:endParaRPr/>
          </a:p>
        </p:txBody>
      </p:sp>
      <p:sp>
        <p:nvSpPr>
          <p:cNvPr id="107" name="Google Shape;10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should write questions specific to their project, not generic questions only. Circulate and push vague questions toward more useful ones.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7: Q&amp;A Preparation Guide and Unit 6 Appendix F: Question Bank for Research Presentations.</a:t>
            </a:r>
            <a:endParaRPr/>
          </a:p>
        </p:txBody>
      </p:sp>
      <p:sp>
        <p:nvSpPr>
          <p:cNvPr id="144" name="Google Shape;14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Ask students what makes the stronger answer more credible. They should notice the specific metric, comparison, trials, and limitation.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9: Evidence Defense Organizer. Also connects to Unit 4 claim-evidence-reasoning work.</a:t>
            </a:r>
            <a:endParaRPr/>
          </a:p>
        </p:txBody>
      </p:sp>
      <p:sp>
        <p:nvSpPr>
          <p:cNvPr id="162" name="Google Shape;16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should learn that evidence can support method choices, limitations, and future work, not only conclusions.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9: Evidence Defense Organizer and Unit 6 Appendix H: Scientific Humility and Professional Language.</a:t>
            </a:r>
            <a:endParaRPr/>
          </a:p>
        </p:txBody>
      </p:sp>
      <p:sp>
        <p:nvSpPr>
          <p:cNvPr id="183" name="Google Shape;18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the main preparation activity. Require students to point to actual project evidence, not just summarize from memory.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9: Evidence Defense Organizer. Resource connection: Unit 6 Appendix G: Answering Difficult Questions.</a:t>
            </a:r>
            <a:endParaRPr/>
          </a:p>
        </p:txBody>
      </p:sp>
      <p:sp>
        <p:nvSpPr>
          <p:cNvPr id="212" name="Google Shape;21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Have students read these aloud. The purpose is to give them language before they are under pressure.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Appendix G: Answering Difficult Questions and Unit 6 Appendix H: Scientific Humility and Professional Language.</a:t>
            </a:r>
            <a:endParaRPr/>
          </a:p>
        </p:txBody>
      </p:sp>
      <p:sp>
        <p:nvSpPr>
          <p:cNvPr id="230" name="Google Shape;23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Connect humility to credibility. Students sometimes think cautious language makes them sound unsure, but it actually shows they understand the limits of evidence.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Appendix H: Scientific Humility and Professional Language.</a:t>
            </a:r>
            <a:endParaRPr/>
          </a:p>
        </p:txBody>
      </p:sp>
      <p:sp>
        <p:nvSpPr>
          <p:cNvPr id="259" name="Google Shape;25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should not apologize for every constraint. Help them explain their choices as reasoned decisions within the limits of a student research setting.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9: Evidence Defense Organizer and Unit 6 Appendix F: Question Bank for Research Presentations.</a:t>
            </a:r>
            <a:endParaRPr/>
          </a:p>
        </p:txBody>
      </p:sp>
      <p:sp>
        <p:nvSpPr>
          <p:cNvPr id="280" name="Google Shape;28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9" name="Google Shape;30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Encourage students to keep 2–3 important numbers in their speaking notes so they can answer data questions without searching.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9: Evidence Defense Organizer. Resource connection: Unit 6 Appendix H: Scientific Humility and Professional Language.</a:t>
            </a:r>
            <a:endParaRPr/>
          </a:p>
        </p:txBody>
      </p:sp>
      <p:sp>
        <p:nvSpPr>
          <p:cNvPr id="310" name="Google Shape;31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Keep this round low-stakes. The goal is to reveal which answers need revision, not to grade students harshly.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8: Mock Q&amp;A Reflection and Unit 6 Appendix F: Question Bank for Research Presentations. Optional scoring connection: Unit 6 Appendix L: Oral Presentation Rubric.</a:t>
            </a:r>
            <a:endParaRPr/>
          </a:p>
        </p:txBody>
      </p:sp>
      <p:sp>
        <p:nvSpPr>
          <p:cNvPr id="331" name="Google Shape;331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slide helps students handle the social pressure of Q&amp;A. Model a clarifying question and a calm response to a challenging question.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Appendix G: Answering Difficult Questions and Unit 6 Appendix H: Scientific Humility and Professional Language.</a:t>
            </a:r>
            <a:endParaRPr/>
          </a:p>
        </p:txBody>
      </p:sp>
      <p:sp>
        <p:nvSpPr>
          <p:cNvPr id="349" name="Google Shape;34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should not simply write longer answers. They should write more specific answers. Circulate and look for evidence, limitation language, and directness.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8: Mock Q&amp;A Reflection and Unit 6 Student Handout 9: Evidence Defense Organizer.</a:t>
            </a:r>
            <a:endParaRPr/>
          </a:p>
        </p:txBody>
      </p:sp>
      <p:sp>
        <p:nvSpPr>
          <p:cNvPr id="378" name="Google Shape;37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Collect this exit ticket or have students attach it to the mock Q&amp;A reflection. Use responses to plan targeted practice before the final showcase.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6 Student Handout 8: Mock Q&amp;A Reflection and Unit 6 Student Handout 9: Evidence Defense Organizer.</a:t>
            </a:r>
            <a:endParaRPr/>
          </a:p>
        </p:txBody>
      </p:sp>
      <p:sp>
        <p:nvSpPr>
          <p:cNvPr id="396" name="Google Shape;396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1" name="Google Shape;41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Close by connecting Q&amp;A to reflection. Audience questions often reveal what students now understand deeply and what they would improve next.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Next deck connection: Deck 19: Final Reflection and Research Portfolio. This transition supports Unit 6 Week 34 after presentations or showcase events.</a:t>
            </a:r>
            <a:endParaRPr/>
          </a:p>
        </p:txBody>
      </p:sp>
      <p:sp>
        <p:nvSpPr>
          <p:cNvPr id="412" name="Google Shape;41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128016"/>
            <a:ext cx="12191695" cy="73152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0" y="6629400"/>
            <a:ext cx="12191695" cy="73152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mnt/data/starlab_assets/starlab_logo.png" id="19" name="Google Shape;1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57400" y="502920"/>
            <a:ext cx="8138160" cy="406908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/>
          <p:nvPr/>
        </p:nvSpPr>
        <p:spPr>
          <a:xfrm>
            <a:off x="868680" y="4892040"/>
            <a:ext cx="10469880" cy="841248"/>
          </a:xfrm>
          <a:prstGeom prst="rect">
            <a:avLst/>
          </a:prstGeom>
          <a:solidFill>
            <a:srgbClr val="0B0B0D">
              <a:alpha val="0"/>
            </a:srgbClr>
          </a:solidFill>
          <a:ln cap="flat" cmpd="sng" w="12700">
            <a:solidFill>
              <a:srgbClr val="A8A8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960120" y="4983480"/>
            <a:ext cx="102870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ANSWERING QUESTIONS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LIKE A SCIENTIST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960120" y="5806440"/>
            <a:ext cx="6583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STARLAB Deck 18  •  Unit 6 Core Instruction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Q&amp;A PREPARATION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Today’s Target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Students learn to answer research questions with evidence and humility.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685800" y="164592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By the end, students should be able to: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7772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7772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9784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Predict questions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9784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Identify likely questions about purpose, methods, data, limitations, and future work.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2636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2636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64648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Use evidence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4648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Answer by pointing to data, graphs, procedures, trials, or documented decisions.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7772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7772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9784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Stay honest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9784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Acknowledge uncertainty without sounding unprepared or defensive.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62636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62636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64648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Revise answers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4648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Use mock Q&amp;A to improve clarity, precision, and scientific language.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Q&amp;A PREPARATION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Q&amp;A Is Part of the Research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Questions are not interruptions. They are how research gets tested.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68580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68580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88696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WHAT STUDENTS MAY FEEL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88696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“They are trying to catch me.”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“I should know every answer.”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“If I say I do not know, I failed.”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“Limitations make my project look weak.”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635508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635508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655624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WHAT SCIENTISTS DO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655624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Clarify the question.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Refer to evidence.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Explain method choices.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Admit limits.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Identify what future work would test next.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Q&amp;A PREPARATION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The Answer Formula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Strong answers follow a simple structure.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7772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7772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9784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1. CLARIFY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9784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Make sure you understand what is being asked.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62636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62636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64648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2. ANSWER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64648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Give a direct response in one or two sentences.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7772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7772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"/>
          <p:cNvSpPr/>
          <p:nvPr/>
        </p:nvSpPr>
        <p:spPr>
          <a:xfrm>
            <a:off x="9784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3. EVIDENCE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9784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Point to the data, method, graph, observation, or trial that supports the answer.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62636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62636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6"/>
          <p:cNvSpPr/>
          <p:nvPr/>
        </p:nvSpPr>
        <p:spPr>
          <a:xfrm>
            <a:off x="64648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4. LIMIT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64648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Name what your project can and cannot claim.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Direct answer + evidence + limitation = scientific credibility.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Q&amp;A PREPARATION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Most Questions Fall Into Categories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Students can prepare without memorizing every possible answer.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85800" y="1508760"/>
            <a:ext cx="3520440" cy="105156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/>
          <p:nvPr/>
        </p:nvSpPr>
        <p:spPr>
          <a:xfrm>
            <a:off x="685800" y="1508760"/>
            <a:ext cx="64008" cy="105156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886968" y="164592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PURPOSE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86968" y="1965960"/>
            <a:ext cx="320040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Why did you choose this project? Why does it matter?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4343400" y="1508760"/>
            <a:ext cx="3520440" cy="105156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4343400" y="1508760"/>
            <a:ext cx="64008" cy="105156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4544568" y="164592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METHODS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4544568" y="1965960"/>
            <a:ext cx="320040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Why did you choose this method? What did you control?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8001000" y="1508760"/>
            <a:ext cx="3520440" cy="105156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8001000" y="1508760"/>
            <a:ext cx="64008" cy="105156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8202168" y="164592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8202168" y="1965960"/>
            <a:ext cx="320040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What is your most important result? What does the graph show?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685800" y="3154680"/>
            <a:ext cx="3520440" cy="105156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"/>
          <p:cNvSpPr/>
          <p:nvPr/>
        </p:nvSpPr>
        <p:spPr>
          <a:xfrm>
            <a:off x="685800" y="3154680"/>
            <a:ext cx="64008" cy="105156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886968" y="329184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RELIABILITY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886968" y="3611880"/>
            <a:ext cx="320040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How confident are you? How many trials did you complete?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4343400" y="3154680"/>
            <a:ext cx="3520440" cy="105156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/>
          <p:nvPr/>
        </p:nvSpPr>
        <p:spPr>
          <a:xfrm>
            <a:off x="4343400" y="3154680"/>
            <a:ext cx="64008" cy="105156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4544568" y="329184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LIMITATIONS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4544568" y="3611880"/>
            <a:ext cx="320040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What affected your results? What would improve the study?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8001000" y="3154680"/>
            <a:ext cx="3520440" cy="105156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8001000" y="3154680"/>
            <a:ext cx="64008" cy="105156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"/>
          <p:cNvSpPr/>
          <p:nvPr/>
        </p:nvSpPr>
        <p:spPr>
          <a:xfrm>
            <a:off x="8202168" y="329184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8202168" y="3611880"/>
            <a:ext cx="320040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What would you test next? How could this continue?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Activity: Predict Your Question Set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Prepare before the audience asks.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640080" y="1572768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40080" y="1874520"/>
            <a:ext cx="6309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Build Your Q&amp;A Map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9509760" y="1901952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10 MINUTES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7" name="Google Shape;157;p8"/>
          <p:cNvCxnSpPr/>
          <p:nvPr/>
        </p:nvCxnSpPr>
        <p:spPr>
          <a:xfrm>
            <a:off x="640068" y="2442669"/>
            <a:ext cx="10881300" cy="0"/>
          </a:xfrm>
          <a:prstGeom prst="straightConnector1">
            <a:avLst/>
          </a:prstGeom>
          <a:noFill/>
          <a:ln cap="flat" cmpd="sng" w="12700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8"/>
          <p:cNvSpPr/>
          <p:nvPr/>
        </p:nvSpPr>
        <p:spPr>
          <a:xfrm>
            <a:off x="822960" y="2807208"/>
            <a:ext cx="10515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Using the Q&amp;A Preparation Guide, write one likely question in each category: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purpose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methods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data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reliability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limitations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future work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Then star the two questions you most need to practice answering.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9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9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EVIDENCE DEFENSE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Defend the Claim With Evidence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9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A strong answer points back to the project record.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68580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/>
          <p:nvPr/>
        </p:nvSpPr>
        <p:spPr>
          <a:xfrm>
            <a:off x="68580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9"/>
          <p:cNvSpPr/>
          <p:nvPr/>
        </p:nvSpPr>
        <p:spPr>
          <a:xfrm>
            <a:off x="88696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WEAK ANSWER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88696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“I think it worked because the results were pretty good.”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Problem: opinion without evidence.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635508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9"/>
          <p:cNvSpPr/>
          <p:nvPr/>
        </p:nvSpPr>
        <p:spPr>
          <a:xfrm>
            <a:off x="635508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655624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STRONGER ANSWER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655624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“The data support that conclusion because Prototype B had the highest load supported per gram across the three trials. One limitation is that only three prototype designs were tested.”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0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EVIDENCE DEFENSE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What Counts as Evidence in Q&amp;A?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Evidence is not only a final graph.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7772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0"/>
          <p:cNvSpPr/>
          <p:nvPr/>
        </p:nvSpPr>
        <p:spPr>
          <a:xfrm>
            <a:off x="7772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9784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DATA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9784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Measurements, averages, tables, trial results, performance metrics, or coded counts.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"/>
          <p:cNvSpPr/>
          <p:nvPr/>
        </p:nvSpPr>
        <p:spPr>
          <a:xfrm>
            <a:off x="62636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0"/>
          <p:cNvSpPr/>
          <p:nvPr/>
        </p:nvSpPr>
        <p:spPr>
          <a:xfrm>
            <a:off x="62636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0"/>
          <p:cNvSpPr/>
          <p:nvPr/>
        </p:nvSpPr>
        <p:spPr>
          <a:xfrm>
            <a:off x="64648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VISUALS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64648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Graphs, photos, prototypes, diagrams, sensor output, or comparison images.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7772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0"/>
          <p:cNvSpPr/>
          <p:nvPr/>
        </p:nvSpPr>
        <p:spPr>
          <a:xfrm>
            <a:off x="7772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9784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METHOD RECORDS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9784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Procedure versions, controls, testing conditions, data collection logs, or approval notes.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62636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0"/>
          <p:cNvSpPr/>
          <p:nvPr/>
        </p:nvSpPr>
        <p:spPr>
          <a:xfrm>
            <a:off x="62636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0"/>
          <p:cNvSpPr/>
          <p:nvPr/>
        </p:nvSpPr>
        <p:spPr>
          <a:xfrm>
            <a:off x="64648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LIMITATION NOTES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64648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Documented uncertainty, failed trials, missing data, sources of error, or future work plans.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1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1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1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1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Activity: Evidence Defense Organizer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Match likely questions to actual evidence.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640080" y="1572768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640080" y="1874520"/>
            <a:ext cx="6309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Build Evidence-Based Answers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1"/>
          <p:cNvSpPr/>
          <p:nvPr/>
        </p:nvSpPr>
        <p:spPr>
          <a:xfrm>
            <a:off x="9509760" y="1901952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12 MINUTES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5" name="Google Shape;225;p11"/>
          <p:cNvCxnSpPr/>
          <p:nvPr/>
        </p:nvCxnSpPr>
        <p:spPr>
          <a:xfrm>
            <a:off x="640080" y="2523744"/>
            <a:ext cx="10881360" cy="0"/>
          </a:xfrm>
          <a:prstGeom prst="straightConnector1">
            <a:avLst/>
          </a:prstGeom>
          <a:noFill/>
          <a:ln cap="flat" cmpd="sng" w="12700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6" name="Google Shape;226;p11"/>
          <p:cNvSpPr/>
          <p:nvPr/>
        </p:nvSpPr>
        <p:spPr>
          <a:xfrm>
            <a:off x="822960" y="2807208"/>
            <a:ext cx="10515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Choose your three hardest likely questions. For each one, write: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1. Direct answer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2. Specific evidence you will point to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3. Limitation or caution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4. Future work, if needed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Practice one answer aloud with a partner.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2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2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2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DIFFICULT QUESTIONS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2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2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Difficult Questions Need Calm Language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2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2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A hard question is not the same as a bad presentation.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685800" y="1600200"/>
            <a:ext cx="5166360" cy="1554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2"/>
          <p:cNvSpPr/>
          <p:nvPr/>
        </p:nvSpPr>
        <p:spPr>
          <a:xfrm>
            <a:off x="685800" y="1600200"/>
            <a:ext cx="64008" cy="1554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2"/>
          <p:cNvSpPr/>
          <p:nvPr/>
        </p:nvSpPr>
        <p:spPr>
          <a:xfrm>
            <a:off x="88696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IF YOU DO NOT KNOW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2"/>
          <p:cNvSpPr/>
          <p:nvPr/>
        </p:nvSpPr>
        <p:spPr>
          <a:xfrm>
            <a:off x="886968" y="2057400"/>
            <a:ext cx="484632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“I do not know yet, but based on my evidence...”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“That would require more testing than I completed.”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6355080" y="1600200"/>
            <a:ext cx="5166360" cy="1554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2"/>
          <p:cNvSpPr/>
          <p:nvPr/>
        </p:nvSpPr>
        <p:spPr>
          <a:xfrm>
            <a:off x="6355080" y="1600200"/>
            <a:ext cx="64008" cy="1554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2"/>
          <p:cNvSpPr/>
          <p:nvPr/>
        </p:nvSpPr>
        <p:spPr>
          <a:xfrm>
            <a:off x="655624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IF THEY FIND A LIMITATION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2"/>
          <p:cNvSpPr/>
          <p:nvPr/>
        </p:nvSpPr>
        <p:spPr>
          <a:xfrm>
            <a:off x="6556248" y="2057400"/>
            <a:ext cx="484632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“That is a limitation of my study. It may have affected the results by...”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2"/>
          <p:cNvSpPr/>
          <p:nvPr/>
        </p:nvSpPr>
        <p:spPr>
          <a:xfrm>
            <a:off x="685800" y="3703320"/>
            <a:ext cx="64008" cy="1554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2"/>
          <p:cNvSpPr/>
          <p:nvPr/>
        </p:nvSpPr>
        <p:spPr>
          <a:xfrm>
            <a:off x="886968" y="384048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IF THEY CHALLENGE THE CONCLUSION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886968" y="4160520"/>
            <a:ext cx="484632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“My data support a limited conclusion. Under the tested conditions...”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6355080" y="3703320"/>
            <a:ext cx="5166360" cy="1554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2"/>
          <p:cNvSpPr/>
          <p:nvPr/>
        </p:nvSpPr>
        <p:spPr>
          <a:xfrm>
            <a:off x="6355080" y="3703320"/>
            <a:ext cx="64008" cy="1554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2"/>
          <p:cNvSpPr/>
          <p:nvPr/>
        </p:nvSpPr>
        <p:spPr>
          <a:xfrm>
            <a:off x="6556248" y="384048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IF THEY SUGGEST FUTURE WORK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2"/>
          <p:cNvSpPr/>
          <p:nvPr/>
        </p:nvSpPr>
        <p:spPr>
          <a:xfrm>
            <a:off x="6556248" y="4160520"/>
            <a:ext cx="4846320" cy="987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“That would be a useful next step because...”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3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SCIENTIFIC HUMILITY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3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Scientific Humility Is Not Weakness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3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3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Careful language makes the claim stronger.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68580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3"/>
          <p:cNvSpPr/>
          <p:nvPr/>
        </p:nvSpPr>
        <p:spPr>
          <a:xfrm>
            <a:off x="68580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3"/>
          <p:cNvSpPr/>
          <p:nvPr/>
        </p:nvSpPr>
        <p:spPr>
          <a:xfrm>
            <a:off x="88696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AVOID OVERCLAIMING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88696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“This proves...”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“My project definitely shows...”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“This is always true.”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“There was no error.”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“My data are perfect.”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635508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3"/>
          <p:cNvSpPr/>
          <p:nvPr/>
        </p:nvSpPr>
        <p:spPr>
          <a:xfrm>
            <a:off x="635508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3"/>
          <p:cNvSpPr/>
          <p:nvPr/>
        </p:nvSpPr>
        <p:spPr>
          <a:xfrm>
            <a:off x="655624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USE SCIENTIFIC LANGUAGE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655624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“The evidence suggests...”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“Under the tested conditions...”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“Based on my data...”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“One limitation is...”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“More trials would be needed to...”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4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4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4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METHOD DEFENSE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4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Answering Method Questions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4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Method questions ask why the work was designed this way.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4"/>
          <p:cNvSpPr/>
          <p:nvPr/>
        </p:nvSpPr>
        <p:spPr>
          <a:xfrm>
            <a:off x="777240" y="150876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A strong method answer usually mentions: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4"/>
          <p:cNvSpPr/>
          <p:nvPr/>
        </p:nvSpPr>
        <p:spPr>
          <a:xfrm>
            <a:off x="7772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4"/>
          <p:cNvSpPr/>
          <p:nvPr/>
        </p:nvSpPr>
        <p:spPr>
          <a:xfrm>
            <a:off x="7772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4"/>
          <p:cNvSpPr/>
          <p:nvPr/>
        </p:nvSpPr>
        <p:spPr>
          <a:xfrm>
            <a:off x="9784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FIT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9784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Why the method matched the research question or design goal.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62636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4"/>
          <p:cNvSpPr/>
          <p:nvPr/>
        </p:nvSpPr>
        <p:spPr>
          <a:xfrm>
            <a:off x="62636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4"/>
          <p:cNvSpPr/>
          <p:nvPr/>
        </p:nvSpPr>
        <p:spPr>
          <a:xfrm>
            <a:off x="64648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CONTROL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4"/>
          <p:cNvSpPr/>
          <p:nvPr/>
        </p:nvSpPr>
        <p:spPr>
          <a:xfrm>
            <a:off x="64648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What was kept consistent, constrained, or standardized.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4"/>
          <p:cNvSpPr/>
          <p:nvPr/>
        </p:nvSpPr>
        <p:spPr>
          <a:xfrm>
            <a:off x="7772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4"/>
          <p:cNvSpPr/>
          <p:nvPr/>
        </p:nvSpPr>
        <p:spPr>
          <a:xfrm>
            <a:off x="7772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4"/>
          <p:cNvSpPr/>
          <p:nvPr/>
        </p:nvSpPr>
        <p:spPr>
          <a:xfrm>
            <a:off x="9784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FEASIBILITY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4"/>
          <p:cNvSpPr/>
          <p:nvPr/>
        </p:nvSpPr>
        <p:spPr>
          <a:xfrm>
            <a:off x="9784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What was realistic with the time, materials, equipment, and approval limits.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4"/>
          <p:cNvSpPr/>
          <p:nvPr/>
        </p:nvSpPr>
        <p:spPr>
          <a:xfrm>
            <a:off x="62636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4"/>
          <p:cNvSpPr/>
          <p:nvPr/>
        </p:nvSpPr>
        <p:spPr>
          <a:xfrm>
            <a:off x="62636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4"/>
          <p:cNvSpPr/>
          <p:nvPr/>
        </p:nvSpPr>
        <p:spPr>
          <a:xfrm>
            <a:off x="64648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REVISION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4"/>
          <p:cNvSpPr/>
          <p:nvPr/>
        </p:nvSpPr>
        <p:spPr>
          <a:xfrm>
            <a:off x="64648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How pilot testing, feedback, or safety review shaped the final method.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5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5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5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DATA QUESTIONS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5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5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Answering Data Questions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5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5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Data answers should be specific, not vague.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5"/>
          <p:cNvSpPr/>
          <p:nvPr/>
        </p:nvSpPr>
        <p:spPr>
          <a:xfrm>
            <a:off x="68580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5"/>
          <p:cNvSpPr/>
          <p:nvPr/>
        </p:nvSpPr>
        <p:spPr>
          <a:xfrm>
            <a:off x="68580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5"/>
          <p:cNvSpPr/>
          <p:nvPr/>
        </p:nvSpPr>
        <p:spPr>
          <a:xfrm>
            <a:off x="88696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VAGUE DATA ANSWER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5"/>
          <p:cNvSpPr/>
          <p:nvPr/>
        </p:nvSpPr>
        <p:spPr>
          <a:xfrm>
            <a:off x="88696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“The graph went up, so it worked.”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Problem: no variable, number, comparison, or limitation.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5"/>
          <p:cNvSpPr/>
          <p:nvPr/>
        </p:nvSpPr>
        <p:spPr>
          <a:xfrm>
            <a:off x="6355080" y="1600200"/>
            <a:ext cx="5166360" cy="384048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5"/>
          <p:cNvSpPr/>
          <p:nvPr/>
        </p:nvSpPr>
        <p:spPr>
          <a:xfrm>
            <a:off x="6355080" y="1600200"/>
            <a:ext cx="64008" cy="384048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5"/>
          <p:cNvSpPr/>
          <p:nvPr/>
        </p:nvSpPr>
        <p:spPr>
          <a:xfrm>
            <a:off x="6556248" y="1737360"/>
            <a:ext cx="4846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SPECIFIC DATA ANSWER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5"/>
          <p:cNvSpPr/>
          <p:nvPr/>
        </p:nvSpPr>
        <p:spPr>
          <a:xfrm>
            <a:off x="6556248" y="2057400"/>
            <a:ext cx="4846320" cy="3273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“The average voltage increased from 1.2 V at 15 degrees to 2.4 V at 30 degrees, then decreased at 45 degrees. That suggests 30 degrees performed best in this setup, but only three blade angles were tested.”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6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6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6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6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6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Activity: Mock Q&amp;A Round 1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6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6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Practice answering before revising.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6"/>
          <p:cNvSpPr/>
          <p:nvPr/>
        </p:nvSpPr>
        <p:spPr>
          <a:xfrm>
            <a:off x="640080" y="1572768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6"/>
          <p:cNvSpPr/>
          <p:nvPr/>
        </p:nvSpPr>
        <p:spPr>
          <a:xfrm>
            <a:off x="640080" y="1874520"/>
            <a:ext cx="6309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Short Presentation + Questions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6"/>
          <p:cNvSpPr/>
          <p:nvPr/>
        </p:nvSpPr>
        <p:spPr>
          <a:xfrm>
            <a:off x="9509760" y="1901952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15 MINUTES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4" name="Google Shape;344;p16"/>
          <p:cNvCxnSpPr/>
          <p:nvPr/>
        </p:nvCxnSpPr>
        <p:spPr>
          <a:xfrm>
            <a:off x="640080" y="2523744"/>
            <a:ext cx="10881360" cy="0"/>
          </a:xfrm>
          <a:prstGeom prst="straightConnector1">
            <a:avLst/>
          </a:prstGeom>
          <a:noFill/>
          <a:ln cap="flat" cmpd="sng" w="12700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5" name="Google Shape;345;p16"/>
          <p:cNvSpPr/>
          <p:nvPr/>
        </p:nvSpPr>
        <p:spPr>
          <a:xfrm>
            <a:off x="822960" y="2807208"/>
            <a:ext cx="10515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In groups of three: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1. Presenter gives a 2-minute project summary.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2. Each listener asks one question from a different category.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3. Presenter answers using the answer formula.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4. Presenter records the hardest question afterward.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7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7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7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Q&amp;A HABITS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7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7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Professional Q&amp;A Habits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7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7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How students answer matters as much as what they answer.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7"/>
          <p:cNvSpPr/>
          <p:nvPr/>
        </p:nvSpPr>
        <p:spPr>
          <a:xfrm>
            <a:off x="7772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7"/>
          <p:cNvSpPr/>
          <p:nvPr/>
        </p:nvSpPr>
        <p:spPr>
          <a:xfrm>
            <a:off x="7772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7"/>
          <p:cNvSpPr/>
          <p:nvPr/>
        </p:nvSpPr>
        <p:spPr>
          <a:xfrm>
            <a:off x="9784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LISTEN FIRST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7"/>
          <p:cNvSpPr/>
          <p:nvPr/>
        </p:nvSpPr>
        <p:spPr>
          <a:xfrm>
            <a:off x="9784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Do not start answering before the question is finished.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7"/>
          <p:cNvSpPr/>
          <p:nvPr/>
        </p:nvSpPr>
        <p:spPr>
          <a:xfrm>
            <a:off x="62636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7"/>
          <p:cNvSpPr/>
          <p:nvPr/>
        </p:nvSpPr>
        <p:spPr>
          <a:xfrm>
            <a:off x="62636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7"/>
          <p:cNvSpPr/>
          <p:nvPr/>
        </p:nvSpPr>
        <p:spPr>
          <a:xfrm>
            <a:off x="64648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CLARIFY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7"/>
          <p:cNvSpPr/>
          <p:nvPr/>
        </p:nvSpPr>
        <p:spPr>
          <a:xfrm>
            <a:off x="64648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Ask “Do you mean...?” when the question is unclear.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7"/>
          <p:cNvSpPr/>
          <p:nvPr/>
        </p:nvSpPr>
        <p:spPr>
          <a:xfrm>
            <a:off x="7772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7"/>
          <p:cNvSpPr/>
          <p:nvPr/>
        </p:nvSpPr>
        <p:spPr>
          <a:xfrm>
            <a:off x="7772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7"/>
          <p:cNvSpPr/>
          <p:nvPr/>
        </p:nvSpPr>
        <p:spPr>
          <a:xfrm>
            <a:off x="9784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STAY EVIDENCE-BASED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7"/>
          <p:cNvSpPr/>
          <p:nvPr/>
        </p:nvSpPr>
        <p:spPr>
          <a:xfrm>
            <a:off x="9784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Return to data, method, limitations, or future work.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7"/>
          <p:cNvSpPr/>
          <p:nvPr/>
        </p:nvSpPr>
        <p:spPr>
          <a:xfrm>
            <a:off x="62636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7"/>
          <p:cNvSpPr/>
          <p:nvPr/>
        </p:nvSpPr>
        <p:spPr>
          <a:xfrm>
            <a:off x="62636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7"/>
          <p:cNvSpPr/>
          <p:nvPr/>
        </p:nvSpPr>
        <p:spPr>
          <a:xfrm>
            <a:off x="64648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STAY RESPECTFUL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7"/>
          <p:cNvSpPr/>
          <p:nvPr/>
        </p:nvSpPr>
        <p:spPr>
          <a:xfrm>
            <a:off x="64648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Do not argue defensively. Treat questions as part of the research process.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8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8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8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8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8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Activity: Revise One Weak Answer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8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8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Make answers more scientific and more useful.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8"/>
          <p:cNvSpPr/>
          <p:nvPr/>
        </p:nvSpPr>
        <p:spPr>
          <a:xfrm>
            <a:off x="640080" y="1572768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8"/>
          <p:cNvSpPr/>
          <p:nvPr/>
        </p:nvSpPr>
        <p:spPr>
          <a:xfrm>
            <a:off x="640080" y="1874520"/>
            <a:ext cx="6309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Answer Upgrade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8"/>
          <p:cNvSpPr/>
          <p:nvPr/>
        </p:nvSpPr>
        <p:spPr>
          <a:xfrm>
            <a:off x="9509760" y="1901952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8–10 MINUTES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1" name="Google Shape;391;p18"/>
          <p:cNvCxnSpPr/>
          <p:nvPr/>
        </p:nvCxnSpPr>
        <p:spPr>
          <a:xfrm>
            <a:off x="640080" y="2523744"/>
            <a:ext cx="10881360" cy="0"/>
          </a:xfrm>
          <a:prstGeom prst="straightConnector1">
            <a:avLst/>
          </a:prstGeom>
          <a:noFill/>
          <a:ln cap="flat" cmpd="sng" w="12700">
            <a:solidFill>
              <a:srgbClr val="5A5A5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2" name="Google Shape;392;p18"/>
          <p:cNvSpPr/>
          <p:nvPr/>
        </p:nvSpPr>
        <p:spPr>
          <a:xfrm>
            <a:off x="822960" y="2807208"/>
            <a:ext cx="10515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Choose one question you struggled to answer. Rewrite the answer so it includes: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a direct response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specific evidence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a limitation or caution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• a future-work connection, if useful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Then practice the revised answer aloud.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9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9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9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Q&amp;A PREPARATION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9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9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Exit Ticket: Your Q&amp;A Readiness Check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9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9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Students leave with a clearer answer plan.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9"/>
          <p:cNvSpPr/>
          <p:nvPr/>
        </p:nvSpPr>
        <p:spPr>
          <a:xfrm>
            <a:off x="822960" y="160020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Before leaving, answer: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19"/>
          <p:cNvSpPr/>
          <p:nvPr/>
        </p:nvSpPr>
        <p:spPr>
          <a:xfrm>
            <a:off x="914400" y="2148840"/>
            <a:ext cx="10241280" cy="196596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1. What question are you most prepared to answer?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2. What question are you most worried about?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3. What evidence will you use to answer your hardest question?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4. What limitation do you need to explain more clearly?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9"/>
          <p:cNvSpPr/>
          <p:nvPr/>
        </p:nvSpPr>
        <p:spPr>
          <a:xfrm>
            <a:off x="914400" y="4983480"/>
            <a:ext cx="10241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Submit or save this with your Mock Q&amp;A Reflection.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0B0D"/>
        </a:solidFill>
      </p:bgPr>
    </p:bg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 cap="flat" cmpd="sng" w="12700">
            <a:solidFill>
              <a:srgbClr val="0B0B0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0"/>
          <p:cNvSpPr/>
          <p:nvPr/>
        </p:nvSpPr>
        <p:spPr>
          <a:xfrm>
            <a:off x="0" y="109728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20"/>
          <p:cNvSpPr/>
          <p:nvPr/>
        </p:nvSpPr>
        <p:spPr>
          <a:xfrm>
            <a:off x="0" y="6675120"/>
            <a:ext cx="12191695" cy="64008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20"/>
          <p:cNvSpPr/>
          <p:nvPr/>
        </p:nvSpPr>
        <p:spPr>
          <a:xfrm>
            <a:off x="384048" y="6364224"/>
            <a:ext cx="30175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NEXT DECK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20"/>
          <p:cNvSpPr/>
          <p:nvPr/>
        </p:nvSpPr>
        <p:spPr>
          <a:xfrm>
            <a:off x="10405872" y="63642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DECK 18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20"/>
          <p:cNvSpPr/>
          <p:nvPr/>
        </p:nvSpPr>
        <p:spPr>
          <a:xfrm>
            <a:off x="502920" y="50292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3000"/>
              <a:buFont typeface="Play"/>
              <a:buNone/>
            </a:pPr>
            <a:r>
              <a:rPr b="1" i="0" lang="en-US" sz="3000" u="none" cap="none" strike="noStrike">
                <a:solidFill>
                  <a:srgbClr val="F4F4F4"/>
                </a:solidFill>
                <a:latin typeface="Play"/>
                <a:ea typeface="Play"/>
                <a:cs typeface="Play"/>
                <a:sym typeface="Play"/>
              </a:rPr>
              <a:t>Next Deck: Final Reflection and Research Portfolio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20"/>
          <p:cNvSpPr/>
          <p:nvPr/>
        </p:nvSpPr>
        <p:spPr>
          <a:xfrm>
            <a:off x="502920" y="1143000"/>
            <a:ext cx="914400" cy="54864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0"/>
          <p:cNvSpPr/>
          <p:nvPr/>
        </p:nvSpPr>
        <p:spPr>
          <a:xfrm>
            <a:off x="1600200" y="1024128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The final step is turning the research year into a record of growth.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20"/>
          <p:cNvSpPr/>
          <p:nvPr/>
        </p:nvSpPr>
        <p:spPr>
          <a:xfrm>
            <a:off x="822960" y="164592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500" lIns="500" spcFirstLastPara="1" rIns="500" wrap="square" tIns="5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8A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A8A8A8"/>
                </a:solidFill>
                <a:latin typeface="Arial"/>
                <a:ea typeface="Arial"/>
                <a:cs typeface="Arial"/>
                <a:sym typeface="Arial"/>
              </a:rPr>
              <a:t>You will assemble the evidence of your research process and reflect on: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0"/>
          <p:cNvSpPr/>
          <p:nvPr/>
        </p:nvSpPr>
        <p:spPr>
          <a:xfrm>
            <a:off x="7772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0"/>
          <p:cNvSpPr/>
          <p:nvPr/>
        </p:nvSpPr>
        <p:spPr>
          <a:xfrm>
            <a:off x="7772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20"/>
          <p:cNvSpPr/>
          <p:nvPr/>
        </p:nvSpPr>
        <p:spPr>
          <a:xfrm>
            <a:off x="9784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PROCESS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20"/>
          <p:cNvSpPr/>
          <p:nvPr/>
        </p:nvSpPr>
        <p:spPr>
          <a:xfrm>
            <a:off x="9784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How the project changed from original idea to final presentation.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0"/>
          <p:cNvSpPr/>
          <p:nvPr/>
        </p:nvSpPr>
        <p:spPr>
          <a:xfrm>
            <a:off x="6263640" y="205740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20"/>
          <p:cNvSpPr/>
          <p:nvPr/>
        </p:nvSpPr>
        <p:spPr>
          <a:xfrm>
            <a:off x="6263640" y="205740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0"/>
          <p:cNvSpPr/>
          <p:nvPr/>
        </p:nvSpPr>
        <p:spPr>
          <a:xfrm>
            <a:off x="6464808" y="219456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GROWTH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20"/>
          <p:cNvSpPr/>
          <p:nvPr/>
        </p:nvSpPr>
        <p:spPr>
          <a:xfrm>
            <a:off x="6464808" y="251460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What skills, habits, and confidence developed through the work.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20"/>
          <p:cNvSpPr/>
          <p:nvPr/>
        </p:nvSpPr>
        <p:spPr>
          <a:xfrm>
            <a:off x="7772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20"/>
          <p:cNvSpPr/>
          <p:nvPr/>
        </p:nvSpPr>
        <p:spPr>
          <a:xfrm>
            <a:off x="7772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0"/>
          <p:cNvSpPr/>
          <p:nvPr/>
        </p:nvSpPr>
        <p:spPr>
          <a:xfrm>
            <a:off x="9784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PORTFOLIO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20"/>
          <p:cNvSpPr/>
          <p:nvPr/>
        </p:nvSpPr>
        <p:spPr>
          <a:xfrm>
            <a:off x="9784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Which artifacts best show the research process and final product.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20"/>
          <p:cNvSpPr/>
          <p:nvPr/>
        </p:nvSpPr>
        <p:spPr>
          <a:xfrm>
            <a:off x="6263640" y="3977640"/>
            <a:ext cx="5120640" cy="1417320"/>
          </a:xfrm>
          <a:prstGeom prst="rect">
            <a:avLst/>
          </a:prstGeom>
          <a:solidFill>
            <a:srgbClr val="111113"/>
          </a:solidFill>
          <a:ln cap="flat" cmpd="sng" w="12700">
            <a:solidFill>
              <a:srgbClr val="5A5A5A">
                <a:alpha val="8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0"/>
          <p:cNvSpPr/>
          <p:nvPr/>
        </p:nvSpPr>
        <p:spPr>
          <a:xfrm>
            <a:off x="6263640" y="3977640"/>
            <a:ext cx="64008" cy="1417320"/>
          </a:xfrm>
          <a:prstGeom prst="rect">
            <a:avLst/>
          </a:prstGeom>
          <a:solidFill>
            <a:srgbClr val="E3342F"/>
          </a:solidFill>
          <a:ln cap="flat" cmpd="sng" w="12700">
            <a:solidFill>
              <a:srgbClr val="E3342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0"/>
          <p:cNvSpPr/>
          <p:nvPr/>
        </p:nvSpPr>
        <p:spPr>
          <a:xfrm>
            <a:off x="6464808" y="4114800"/>
            <a:ext cx="4800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342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3342F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20"/>
          <p:cNvSpPr/>
          <p:nvPr/>
        </p:nvSpPr>
        <p:spPr>
          <a:xfrm>
            <a:off x="6464808" y="4434840"/>
            <a:ext cx="4800600" cy="850392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F4F4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4F4F4"/>
                </a:solidFill>
                <a:latin typeface="Arial"/>
                <a:ea typeface="Arial"/>
                <a:cs typeface="Arial"/>
                <a:sym typeface="Arial"/>
              </a:rPr>
              <a:t>How the project could continue beyond STARLAB.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