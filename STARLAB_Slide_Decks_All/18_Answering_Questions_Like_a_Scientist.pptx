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7c671f53124a32" /><Relationship Type="http://schemas.openxmlformats.org/officeDocument/2006/relationships/extended-properties" Target="/docProps/app.xml" Id="Ra976abbf4a984b8b" /><Relationship Type="http://schemas.openxmlformats.org/officeDocument/2006/relationships/officeDocument" Target="/ppt/presentation.xml" Id="Rd2d048666d0a41b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564a0ccc1724c05"/>
  </p:sldMasterIdLst>
  <p:notesMasterIdLst>
    <p:notesMasterId xmlns:r="http://schemas.openxmlformats.org/officeDocument/2006/relationships" r:id="R497244f3c6a54036"/>
  </p:notesMasterIdLst>
  <p:sldIdLst>
    <p:sldId xmlns:r="http://schemas.openxmlformats.org/officeDocument/2006/relationships" id="256" r:id="Re25da4e185444340"/>
    <p:sldId xmlns:r="http://schemas.openxmlformats.org/officeDocument/2006/relationships" id="257" r:id="Re19e8a26acc54181"/>
    <p:sldId xmlns:r="http://schemas.openxmlformats.org/officeDocument/2006/relationships" id="258" r:id="R4cd85401aa05412d"/>
    <p:sldId xmlns:r="http://schemas.openxmlformats.org/officeDocument/2006/relationships" id="259" r:id="R25d86c944359468a"/>
    <p:sldId xmlns:r="http://schemas.openxmlformats.org/officeDocument/2006/relationships" id="260" r:id="R013f1b40364748aa"/>
    <p:sldId xmlns:r="http://schemas.openxmlformats.org/officeDocument/2006/relationships" id="261" r:id="Rc1448719799840f9"/>
    <p:sldId xmlns:r="http://schemas.openxmlformats.org/officeDocument/2006/relationships" id="262" r:id="R19912d32a5f04daa"/>
    <p:sldId xmlns:r="http://schemas.openxmlformats.org/officeDocument/2006/relationships" id="263" r:id="R5ed5a5b087b04167"/>
    <p:sldId xmlns:r="http://schemas.openxmlformats.org/officeDocument/2006/relationships" id="264" r:id="R1f714eaf16294044"/>
    <p:sldId xmlns:r="http://schemas.openxmlformats.org/officeDocument/2006/relationships" id="265" r:id="R4192ad9cd2b84721"/>
    <p:sldId xmlns:r="http://schemas.openxmlformats.org/officeDocument/2006/relationships" id="266" r:id="R9fc0c0d4dbe641be"/>
    <p:sldId xmlns:r="http://schemas.openxmlformats.org/officeDocument/2006/relationships" id="267" r:id="R7449d052203f46cf"/>
    <p:sldId xmlns:r="http://schemas.openxmlformats.org/officeDocument/2006/relationships" id="268" r:id="Rdc6821f2d5e44f40"/>
    <p:sldId xmlns:r="http://schemas.openxmlformats.org/officeDocument/2006/relationships" id="269" r:id="R094d4cc5d3974567"/>
    <p:sldId xmlns:r="http://schemas.openxmlformats.org/officeDocument/2006/relationships" id="270" r:id="R9c5b1032b8d44aad"/>
    <p:sldId xmlns:r="http://schemas.openxmlformats.org/officeDocument/2006/relationships" id="271" r:id="Rdcea9defce184629"/>
    <p:sldId xmlns:r="http://schemas.openxmlformats.org/officeDocument/2006/relationships" id="272" r:id="Rffaf3a4b70e2474a"/>
    <p:sldId xmlns:r="http://schemas.openxmlformats.org/officeDocument/2006/relationships" id="273" r:id="R976340041eac4537"/>
  </p:sldIdLst>
  <p:sldSz cx="12192000" cy="6858000"/>
  <p:notesSz cx="6858000" cy="9144000"/>
  <p:embeddedFontLst>
    <p:embeddedFont>
      <p:font typeface="Play"/>
      <p:regular xmlns:r="http://schemas.openxmlformats.org/officeDocument/2006/relationships" r:id="R444e01ab157543ae"/>
      <p:bold xmlns:r="http://schemas.openxmlformats.org/officeDocument/2006/relationships" r:id="R174d5fa123bc4188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e7c5c47d8544e7" /><Relationship Type="http://schemas.openxmlformats.org/officeDocument/2006/relationships/slideMaster" Target="/ppt/slideMasters/slideMaster1.xml" Id="R3564a0ccc1724c05" /><Relationship Type="http://schemas.openxmlformats.org/officeDocument/2006/relationships/notesMaster" Target="/ppt/notesMasters/notesMaster1.xml" Id="R497244f3c6a54036" /><Relationship Type="http://schemas.openxmlformats.org/officeDocument/2006/relationships/presProps" Target="/ppt/presProps.xml" Id="Rc0e1f915638e40dd" /><Relationship Type="http://schemas.openxmlformats.org/officeDocument/2006/relationships/tableStyles" Target="/ppt/tableStyles.xml" Id="Rccc40bd802b34094" /><Relationship Type="http://schemas.openxmlformats.org/officeDocument/2006/relationships/font" Target="/ppt/fonts/font.dat" Id="R444e01ab157543ae" /><Relationship Type="http://schemas.openxmlformats.org/officeDocument/2006/relationships/font" Target="/ppt/fonts/font2.dat" Id="R174d5fa123bc4188" /><Relationship Type="http://schemas.openxmlformats.org/officeDocument/2006/relationships/slide" Target="/ppt/slides/slide1.xml" Id="Re25da4e185444340" /><Relationship Type="http://schemas.openxmlformats.org/officeDocument/2006/relationships/slide" Target="/ppt/slides/slide2.xml" Id="Re19e8a26acc54181" /><Relationship Type="http://schemas.openxmlformats.org/officeDocument/2006/relationships/slide" Target="/ppt/slides/slide3.xml" Id="R4cd85401aa05412d" /><Relationship Type="http://schemas.openxmlformats.org/officeDocument/2006/relationships/slide" Target="/ppt/slides/slide4.xml" Id="R25d86c944359468a" /><Relationship Type="http://schemas.openxmlformats.org/officeDocument/2006/relationships/slide" Target="/ppt/slides/slide5.xml" Id="R013f1b40364748aa" /><Relationship Type="http://schemas.openxmlformats.org/officeDocument/2006/relationships/slide" Target="/ppt/slides/slide6.xml" Id="Rc1448719799840f9" /><Relationship Type="http://schemas.openxmlformats.org/officeDocument/2006/relationships/slide" Target="/ppt/slides/slide7.xml" Id="R19912d32a5f04daa" /><Relationship Type="http://schemas.openxmlformats.org/officeDocument/2006/relationships/slide" Target="/ppt/slides/slide8.xml" Id="R5ed5a5b087b04167" /><Relationship Type="http://schemas.openxmlformats.org/officeDocument/2006/relationships/slide" Target="/ppt/slides/slide9.xml" Id="R1f714eaf16294044" /><Relationship Type="http://schemas.openxmlformats.org/officeDocument/2006/relationships/slide" Target="/ppt/slides/slide10.xml" Id="R4192ad9cd2b84721" /><Relationship Type="http://schemas.openxmlformats.org/officeDocument/2006/relationships/slide" Target="/ppt/slides/slide11.xml" Id="R9fc0c0d4dbe641be" /><Relationship Type="http://schemas.openxmlformats.org/officeDocument/2006/relationships/slide" Target="/ppt/slides/slide12.xml" Id="R7449d052203f46cf" /><Relationship Type="http://schemas.openxmlformats.org/officeDocument/2006/relationships/slide" Target="/ppt/slides/slide13.xml" Id="Rdc6821f2d5e44f40" /><Relationship Type="http://schemas.openxmlformats.org/officeDocument/2006/relationships/slide" Target="/ppt/slides/slide14.xml" Id="R094d4cc5d3974567" /><Relationship Type="http://schemas.openxmlformats.org/officeDocument/2006/relationships/slide" Target="/ppt/slides/slide15.xml" Id="R9c5b1032b8d44aad" /><Relationship Type="http://schemas.openxmlformats.org/officeDocument/2006/relationships/slide" Target="/ppt/slides/slide16.xml" Id="Rdcea9defce184629" /><Relationship Type="http://schemas.openxmlformats.org/officeDocument/2006/relationships/slide" Target="/ppt/slides/slide17.xml" Id="Rffaf3a4b70e2474a" /><Relationship Type="http://schemas.openxmlformats.org/officeDocument/2006/relationships/slide" Target="/ppt/slides/slide18.xml" Id="R976340041eac45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71a13c9f2f4a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9f589a75034b9c" /><Relationship Type="http://schemas.openxmlformats.org/officeDocument/2006/relationships/notesMaster" Target="/ppt/notesMasters/notesMaster1.xml" Id="Rf50d9dd5da9543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8b429996dc4743" /><Relationship Type="http://schemas.openxmlformats.org/officeDocument/2006/relationships/notesMaster" Target="/ppt/notesMasters/notesMaster1.xml" Id="R1faf8d31d05643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25c82aa698415d" /><Relationship Type="http://schemas.openxmlformats.org/officeDocument/2006/relationships/notesMaster" Target="/ppt/notesMasters/notesMaster1.xml" Id="Rd232cca226ff44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c587ee893c40ac" /><Relationship Type="http://schemas.openxmlformats.org/officeDocument/2006/relationships/notesMaster" Target="/ppt/notesMasters/notesMaster1.xml" Id="R01580e74194b4a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089cef0cda42a1" /><Relationship Type="http://schemas.openxmlformats.org/officeDocument/2006/relationships/notesMaster" Target="/ppt/notesMasters/notesMaster1.xml" Id="Rd67c3cfe1fdb47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7aee9a2b1344a1" /><Relationship Type="http://schemas.openxmlformats.org/officeDocument/2006/relationships/notesMaster" Target="/ppt/notesMasters/notesMaster1.xml" Id="R31b5041d0a8541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02971bb7064862" /><Relationship Type="http://schemas.openxmlformats.org/officeDocument/2006/relationships/notesMaster" Target="/ppt/notesMasters/notesMaster1.xml" Id="Re678cea61a6047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c08e09ad26476d" /><Relationship Type="http://schemas.openxmlformats.org/officeDocument/2006/relationships/notesMaster" Target="/ppt/notesMasters/notesMaster1.xml" Id="Rfdcba62d8e7146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1b0a22793042ce" /><Relationship Type="http://schemas.openxmlformats.org/officeDocument/2006/relationships/notesMaster" Target="/ppt/notesMasters/notesMaster1.xml" Id="R57dbf70c97a24f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d39b4fe4c345ba" /><Relationship Type="http://schemas.openxmlformats.org/officeDocument/2006/relationships/notesMaster" Target="/ppt/notesMasters/notesMaster1.xml" Id="Raafa3a97865546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a2b27490064c68" /><Relationship Type="http://schemas.openxmlformats.org/officeDocument/2006/relationships/notesMaster" Target="/ppt/notesMasters/notesMaster1.xml" Id="Re4776666f4f345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66842808124974" /><Relationship Type="http://schemas.openxmlformats.org/officeDocument/2006/relationships/notesMaster" Target="/ppt/notesMasters/notesMaster1.xml" Id="R69bbdec384d1437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4ff71f8ea44256" /><Relationship Type="http://schemas.openxmlformats.org/officeDocument/2006/relationships/notesMaster" Target="/ppt/notesMasters/notesMaster1.xml" Id="Rb3384950b46d46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0ddc2f8864412b" /><Relationship Type="http://schemas.openxmlformats.org/officeDocument/2006/relationships/notesMaster" Target="/ppt/notesMasters/notesMaster1.xml" Id="Rb70ca8c28aa44c3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69145a279e742b2" /><Relationship Type="http://schemas.openxmlformats.org/officeDocument/2006/relationships/notesMaster" Target="/ppt/notesMasters/notesMaster1.xml" Id="R4d19e04cc1544c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9ced638040b4614" /><Relationship Type="http://schemas.openxmlformats.org/officeDocument/2006/relationships/notesMaster" Target="/ppt/notesMasters/notesMaster1.xml" Id="Ra1eaa5d2ae6f418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2f29a195c3e4029" /><Relationship Type="http://schemas.openxmlformats.org/officeDocument/2006/relationships/notesMaster" Target="/ppt/notesMasters/notesMaster1.xml" Id="R19e58c0dc754472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be75403155d4ef2" /><Relationship Type="http://schemas.openxmlformats.org/officeDocument/2006/relationships/notesMaster" Target="/ppt/notesMasters/notesMaster1.xml" Id="R5c903e17bbcc4f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PRIMARY TEACHING MOMENT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Unit 6, Week 31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REVISIT / REFERENCE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Unit 6, Week 32 during final rehearsal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REQUIRED WEEK 31 MATERIALS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Unit 6 Student Handouts 7-9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Unit 6 Appendices F-H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REQUIRED WEEK 32 MATERIALS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Unit 6 Student Handouts 10-12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OPTIONAL / TEACHER REFERENCE FOR WEEK 32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Unit 6 Appendices I-K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OPTIONAL / TEACHER SCORING REFERENCE FOR WEEKS 31-32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Unit 6 Appendix L: Oral Presentation Rubric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RESOURCE ALIGNMENT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 Q&amp;A and evidence defense in Week 31. Revisit selected slides during the Week 32 final rehearsal.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Preview the lesson as a rehearsal for scientific conversation. Students should understand that good Q&amp;A is not about having a perfect answer to everything; it is about using evidence responsibly.</a:t>
            </a:r>
            <a:br/>
            <a:br/>
            <a:r>
              <a:t>Resource alignment:</a:t>
            </a:r>
            <a:br/>
            <a:r>
              <a:t>Use with Unit 6 Student Handout 7: Q&amp;A Preparation Guide and Unit 6 Appendix F: Question Bank for Research Presentations. This deck supports Unit 6 Week 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Normalize anxiety. Many students interpret questions as attacks. Reframe questions as a normal part of scientific communication and a chance to show understanding.</a:t>
            </a:r>
            <a:br/>
            <a:br/>
            <a:r>
              <a:t>Resource alignment:</a:t>
            </a:r>
            <a:br/>
            <a:r>
              <a:t>Use with Unit 6 Appendix H: Scientific Humility and Professional Language. This slide sets the mindset for Unit 6 Student Handout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This formula gives students a practical script. They do not need to use all four moves for every short question, but the structure helps prevent rambling and overclaiming.</a:t>
            </a:r>
            <a:br/>
            <a:br/>
            <a:r>
              <a:t>Resource alignment:</a:t>
            </a:r>
            <a:br/>
            <a:r>
              <a:t>Use with Unit 6 Student Handout 9: Evidence Defense Organizer and Unit 6 Appendix G: Answering Difficult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Have students recognize that likely questions are predictable. This lowers anxiety and gives them a planning structure.</a:t>
            </a:r>
            <a:br/>
            <a:br/>
            <a:r>
              <a:t>Resource alignment:</a:t>
            </a:r>
            <a:br/>
            <a:r>
              <a:t>Use with Unit 6 Student Handout 7: Q&amp;A Preparation Guide and Unit 6 Appendix F: Question Bank for Research Presentations.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Students should write questions specific to their project, not generic questions only. Circulate and push vague questions toward more useful ones.</a:t>
            </a:r>
            <a:br/>
            <a:br/>
            <a:r>
              <a:t>Resource alignment:</a:t>
            </a:r>
            <a:br/>
            <a:r>
              <a:t>Use with Unit 6 Student Handout 7: Q&amp;A Preparation Guide and Unit 6 Appendix F: Question Bank for Research Presentations.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Ask students what makes the stronger answer more credible. They should notice the specific metric, comparison, trials, and limitation.</a:t>
            </a:r>
            <a:br/>
            <a:br/>
            <a:r>
              <a:t>Resource alignment:</a:t>
            </a:r>
            <a:br/>
            <a:r>
              <a:t>Use with Unit 6 Student Handout 9: Evidence Defense Organizer. Also connects to Unit 4 claim-evidence-reasoning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Students should learn that evidence can support method choices, limitations, and future work, not only conclusions.</a:t>
            </a:r>
            <a:br/>
            <a:br/>
            <a:r>
              <a:t>Resource alignment:</a:t>
            </a:r>
            <a:br/>
            <a:r>
              <a:t>Use with Unit 6 Student Handout 9: Evidence Defense Organizer and Unit 6 Appendix H: Scientific Humility and Professional Language.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This is the main preparation activity. Require students to point to actual project evidence, not just summarize from memory.</a:t>
            </a:r>
            <a:br/>
            <a:br/>
            <a:r>
              <a:t>Resource alignment:</a:t>
            </a:r>
            <a:br/>
            <a:r>
              <a:t>Use with Unit 6 Student Handout 9: Evidence Defense Organizer. Resource connection: Unit 6 Appendix G: Answering Difficult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Have students read these aloud. The purpose is to give them language before they are under pressure.</a:t>
            </a:r>
            <a:br/>
            <a:br/>
            <a:r>
              <a:t>Resource alignment:</a:t>
            </a:r>
            <a:br/>
            <a:r>
              <a:t>Use with Unit 6 Appendix G: Answering Difficult Questions and Unit 6 Appendix H: Scientific Humility and Professional Language.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Connect humility to credibility. Students sometimes think cautious language makes them sound unsure, but it actually shows they understand the limits of evidence.</a:t>
            </a:r>
            <a:br/>
            <a:br/>
            <a:r>
              <a:t>Resource alignment:</a:t>
            </a:r>
            <a:br/>
            <a:r>
              <a:t>Use with Unit 6 Appendix H: Scientific Humility and Professional Language.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Students should not apologize for every constraint. Help them explain their choices as reasoned decisions within the limits of a student research setting.</a:t>
            </a:r>
            <a:br/>
            <a:br/>
            <a:r>
              <a:t>Resource alignment:</a:t>
            </a:r>
            <a:br/>
            <a:r>
              <a:t>Use with Unit 6 Student Handout 9: Evidence Defense Organizer and Unit 6 Appendix F: Question Bank for Research Presentations.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Encourage students to keep 2–3 important numbers in their speaking notes so they can answer data questions without searching.</a:t>
            </a:r>
            <a:br/>
            <a:br/>
            <a:r>
              <a:t>Resource alignment:</a:t>
            </a:r>
            <a:br/>
            <a:r>
              <a:t>Use with Unit 6 Student Handout 9: Evidence Defense Organizer. Resource connection: Unit 6 Appendix H: Scientific Humility and Professional Language.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Keep this round low-stakes. The goal is to reveal which answers need revision, not to grade students harshly.</a:t>
            </a:r>
            <a:br/>
            <a:br/>
            <a:r>
              <a:t>Resource alignment:</a:t>
            </a:r>
            <a:br/>
            <a:r>
              <a:t>Use with Unit 6 Student Handout 8: Mock Q&amp;A Reflection and Unit 6 Appendix F: Question Bank for Research Presentations. Optional scoring connection: Unit 6 Appendix L: Oral Presentation Rubric.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This slide helps students handle the social pressure of Q&amp;A. Model a clarifying question and a calm response to a challenging question.</a:t>
            </a:r>
            <a:br/>
            <a:br/>
            <a:r>
              <a:t>Resource alignment:</a:t>
            </a:r>
            <a:br/>
            <a:r>
              <a:t>Use with Unit 6 Appendix G: Answering Difficult Questions and Unit 6 Appendix H: Scientific Humility and Professional Language.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Students should not simply write longer answers. They should write more specific answers. Circulate and look for evidence, limitation language, and directness.</a:t>
            </a:r>
            <a:br/>
            <a:br/>
            <a:r>
              <a:t>Resource alignment:</a:t>
            </a:r>
            <a:br/>
            <a:r>
              <a:t>Use with Unit 6 Student Handout 8: Mock Q&amp;A Reflection and Unit 6 Student Handout 9: Evidence Defense Organizer.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Collect this exit ticket or have students attach it to the mock Q&amp;A reflection. Use responses to plan targeted practice before the final showcase.</a:t>
            </a:r>
            <a:br/>
            <a:br/>
            <a:r>
              <a:t>Resource alignment:</a:t>
            </a:r>
            <a:br/>
            <a:r>
              <a:t>Use with Unit 6 Student Handout 8: Mock Q&amp;A Reflection and Unit 6 Student Handout 9: Evidence Defense Organizer.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Close by connecting Q&amp;A to reflection. Audience questions often reveal what students now understand deeply and what they would improve next.</a:t>
            </a:r>
            <a:br/>
            <a:br/>
            <a:r>
              <a:t>Resource alignment:</a:t>
            </a:r>
            <a:br/>
            <a:r>
              <a:t>Next deck connection: Deck 19: Final Reflection and Research Portfolio. This transition supports Unit 6 Week 34 after presentations or showcase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a59cb987a8476b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2597f83ece4da4" /><Relationship Type="http://schemas.openxmlformats.org/officeDocument/2006/relationships/slideLayout" Target="/ppt/slideLayouts/slideLayout1.xml" Id="Rdaca305258c4479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ca305258c4479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3970b1eae4543" /><Relationship Type="http://schemas.openxmlformats.org/officeDocument/2006/relationships/image" Target="/ppt/media/image.png" Id="R0c77f841d1d64830" /><Relationship Type="http://schemas.openxmlformats.org/officeDocument/2006/relationships/notesSlide" Target="/ppt/notesSlides/notesSlide1.xml" Id="Rf06c14f0668345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44b051b3740c1" /><Relationship Type="http://schemas.openxmlformats.org/officeDocument/2006/relationships/notesSlide" Target="/ppt/notesSlides/notesSlide2.xml" Id="Rccc3a55d063743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2315cbc104aaf" /><Relationship Type="http://schemas.openxmlformats.org/officeDocument/2006/relationships/notesSlide" Target="/ppt/notesSlides/notesSlide3.xml" Id="Rba378b042c6e4c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7d38fc3994463" /><Relationship Type="http://schemas.openxmlformats.org/officeDocument/2006/relationships/notesSlide" Target="/ppt/notesSlides/notesSlide4.xml" Id="Rc017620ab0df46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56ed03ab7485f" /><Relationship Type="http://schemas.openxmlformats.org/officeDocument/2006/relationships/notesSlide" Target="/ppt/notesSlides/notesSlide5.xml" Id="R1657c92b5ca84a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284aec98149db" /><Relationship Type="http://schemas.openxmlformats.org/officeDocument/2006/relationships/notesSlide" Target="/ppt/notesSlides/notesSlide6.xml" Id="R8dbfc1457a244c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fe4a1d3274043" /><Relationship Type="http://schemas.openxmlformats.org/officeDocument/2006/relationships/notesSlide" Target="/ppt/notesSlides/notesSlide7.xml" Id="R7e6503eb09e146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8dc40e7fb4a99" /><Relationship Type="http://schemas.openxmlformats.org/officeDocument/2006/relationships/notesSlide" Target="/ppt/notesSlides/notesSlide8.xml" Id="R995a3ae43cf64e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40540b1654466" /><Relationship Type="http://schemas.openxmlformats.org/officeDocument/2006/relationships/notesSlide" Target="/ppt/notesSlides/notesSlide9.xml" Id="R4147e6428e0f46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7f1da2fd3460b" /><Relationship Type="http://schemas.openxmlformats.org/officeDocument/2006/relationships/notesSlide" Target="/ppt/notesSlides/notesSlide10.xml" Id="R5e04f2268e974f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75c523e03473d" /><Relationship Type="http://schemas.openxmlformats.org/officeDocument/2006/relationships/notesSlide" Target="/ppt/notesSlides/notesSlide11.xml" Id="R691a36f6316047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f232ba7524bf2" /><Relationship Type="http://schemas.openxmlformats.org/officeDocument/2006/relationships/notesSlide" Target="/ppt/notesSlides/notesSlide12.xml" Id="Rebcf262ffedc49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0684708d742a8" /><Relationship Type="http://schemas.openxmlformats.org/officeDocument/2006/relationships/notesSlide" Target="/ppt/notesSlides/notesSlide13.xml" Id="Rbed801b4541542c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4d1cc13e84b11" /><Relationship Type="http://schemas.openxmlformats.org/officeDocument/2006/relationships/notesSlide" Target="/ppt/notesSlides/notesSlide14.xml" Id="Re602ff0876794c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2d6c0b1fd4081" /><Relationship Type="http://schemas.openxmlformats.org/officeDocument/2006/relationships/notesSlide" Target="/ppt/notesSlides/notesSlide15.xml" Id="R82383f75e3bb40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de0fbfc774007" /><Relationship Type="http://schemas.openxmlformats.org/officeDocument/2006/relationships/notesSlide" Target="/ppt/notesSlides/notesSlide16.xml" Id="R38849ad12d8b4b8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96408dbf74817" /><Relationship Type="http://schemas.openxmlformats.org/officeDocument/2006/relationships/notesSlide" Target="/ppt/notesSlides/notesSlide17.xml" Id="Rb48e4b06035d4d7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0301bafe64ea5" /><Relationship Type="http://schemas.openxmlformats.org/officeDocument/2006/relationships/notesSlide" Target="/ppt/notesSlides/notesSlide18.xml" Id="R4ed42bf853f84f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7FF2EF37-9AD0-46E3-82EC-1317D23D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9D1D2BA7-BBCE-498B-BF0C-938349B0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3B05EBF0-A929-42F5-8364-5671BEAD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7" name="Google Shape;19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c77f841d1d6483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57400" y="502920"/>
            <a:ext cx="8138160" cy="406908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2851B5DF-766E-4CC7-A23E-8EBCDC63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92040"/>
            <a:ext cx="1046988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>
              <a:alpha val="0"/>
            </a:srgbClr>
          </a:solidFill>
          <a:ln xmlns:a="http://schemas.openxmlformats.org/drawingml/2006/main" w="12700" cmpd="sng">
            <a:solidFill>
              <a:srgbClr val="A8A8A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FC42708A-C79F-4219-BC6B-DB9E143E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83480"/>
            <a:ext cx="102870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ANSWERING QUESTIONS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LIKE A SCIENTIST</a:t>
            </a:r>
          </a:p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1DB55D30-D9F8-4387-B304-DD09AC61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806440"/>
            <a:ext cx="65836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STARLAB Deck 18  •  Unit 6 Core Instruction</a:t>
            </a:r>
          </a:p>
        </p:txBody>
      </p:sp>
    </p:spTree>
    <p:extLst>
      <p:ext uri="{BB962C8B-B14F-4D97-AF65-F5344CB8AC3E}">
        <p14:creationId xmlns:p14="http://schemas.microsoft.com/office/powerpoint/2010/main" val="12162625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A46291C8-BE6C-405B-967A-C994943A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59741E63-3832-4407-9392-99751E75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1C823FE4-039E-42D7-8D6D-005D6A39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9A3E5AC7-D9A8-4B16-AE87-C80B95F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Q&amp;A PREPARATION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9D4E13D4-C84A-4359-ADC5-64543059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18</a:t>
            </a: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E75C78AA-E094-4DF4-82C8-662FBD25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Today’s Target</a:t>
            </a: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2A676639-F1CA-4080-880A-5D18AE22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43000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8E0D7D73-2D9C-471B-8399-9FCCEF94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4128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Students learn to answer research questions with evidence and humility.</a:t>
            </a:r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64095766-FAB6-4FAE-B11F-52C333F2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5920"/>
            <a:ext cx="51206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By the end, students should be able to:</a:t>
            </a: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263B8CE2-6C1B-48E0-B294-C48A4A49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8A58CE5A-9570-4371-9C04-902408E7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" name="Google Shape;39;p4">
            <a:extLst xmlns:a="http://schemas.openxmlformats.org/drawingml/2006/main">
              <a:ext uri="{FF2B5EF4-FFF2-40B4-BE49-F238E27FC236}">
                <a16:creationId xmlns:a16="http://schemas.microsoft.com/office/drawing/2014/main" id="{F43068D0-834B-47D4-8E14-6F97951B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19456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Predict questions</a:t>
            </a:r>
          </a:p>
        </p:txBody>
      </p:sp>
      <p:sp>
        <p:nvSpPr>
          <p:cNvPr id="40" name="Google Shape;40;p4">
            <a:extLst xmlns:a="http://schemas.openxmlformats.org/drawingml/2006/main">
              <a:ext uri="{FF2B5EF4-FFF2-40B4-BE49-F238E27FC236}">
                <a16:creationId xmlns:a16="http://schemas.microsoft.com/office/drawing/2014/main" id="{8395617C-973B-4832-82A4-60137AFD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51460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Identify likely questions about purpose, methods, data, limitations, and future work.</a:t>
            </a:r>
          </a:p>
        </p:txBody>
      </p:sp>
      <p:sp>
        <p:nvSpPr>
          <p:cNvPr id="41" name="Google Shape;41;p4">
            <a:extLst xmlns:a="http://schemas.openxmlformats.org/drawingml/2006/main">
              <a:ext uri="{FF2B5EF4-FFF2-40B4-BE49-F238E27FC236}">
                <a16:creationId xmlns:a16="http://schemas.microsoft.com/office/drawing/2014/main" id="{444AA900-FE7E-43A6-BD44-DFD27745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5740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" name="Google Shape;42;p4">
            <a:extLst xmlns:a="http://schemas.openxmlformats.org/drawingml/2006/main">
              <a:ext uri="{FF2B5EF4-FFF2-40B4-BE49-F238E27FC236}">
                <a16:creationId xmlns:a16="http://schemas.microsoft.com/office/drawing/2014/main" id="{C966E2BF-6937-450C-A7A1-5F32B483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5740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" name="Google Shape;43;p4">
            <a:extLst xmlns:a="http://schemas.openxmlformats.org/drawingml/2006/main">
              <a:ext uri="{FF2B5EF4-FFF2-40B4-BE49-F238E27FC236}">
                <a16:creationId xmlns:a16="http://schemas.microsoft.com/office/drawing/2014/main" id="{0219776F-26A9-4BA2-8DDE-25007F73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19456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44" name="Google Shape;44;p4">
            <a:extLst xmlns:a="http://schemas.openxmlformats.org/drawingml/2006/main">
              <a:ext uri="{FF2B5EF4-FFF2-40B4-BE49-F238E27FC236}">
                <a16:creationId xmlns:a16="http://schemas.microsoft.com/office/drawing/2014/main" id="{A345C44F-9C8A-44C9-8F12-00199A78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51460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Answer by pointing to data, graphs, procedures, trials, or documented decisions.</a:t>
            </a:r>
          </a:p>
        </p:txBody>
      </p:sp>
      <p:sp>
        <p:nvSpPr>
          <p:cNvPr id="45" name="Google Shape;45;p4">
            <a:extLst xmlns:a="http://schemas.openxmlformats.org/drawingml/2006/main">
              <a:ext uri="{FF2B5EF4-FFF2-40B4-BE49-F238E27FC236}">
                <a16:creationId xmlns:a16="http://schemas.microsoft.com/office/drawing/2014/main" id="{19021B86-BC92-42EC-8F84-3C801C3C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" name="Google Shape;46;p4">
            <a:extLst xmlns:a="http://schemas.openxmlformats.org/drawingml/2006/main">
              <a:ext uri="{FF2B5EF4-FFF2-40B4-BE49-F238E27FC236}">
                <a16:creationId xmlns:a16="http://schemas.microsoft.com/office/drawing/2014/main" id="{E2CB5A7D-8198-485A-99D3-BF27FB09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" name="Google Shape;47;p4">
            <a:extLst xmlns:a="http://schemas.openxmlformats.org/drawingml/2006/main">
              <a:ext uri="{FF2B5EF4-FFF2-40B4-BE49-F238E27FC236}">
                <a16:creationId xmlns:a16="http://schemas.microsoft.com/office/drawing/2014/main" id="{1E2699F1-418E-4BE5-BF65-1EB8DBD2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1148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Stay honest</a:t>
            </a:r>
          </a:p>
        </p:txBody>
      </p:sp>
      <p:sp>
        <p:nvSpPr>
          <p:cNvPr id="48" name="Google Shape;48;p4">
            <a:extLst xmlns:a="http://schemas.openxmlformats.org/drawingml/2006/main">
              <a:ext uri="{FF2B5EF4-FFF2-40B4-BE49-F238E27FC236}">
                <a16:creationId xmlns:a16="http://schemas.microsoft.com/office/drawing/2014/main" id="{1EE9363D-43FF-406B-AC26-4394EA4F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43484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Acknowledge uncertainty without sounding unprepared or defensive.</a:t>
            </a:r>
          </a:p>
        </p:txBody>
      </p:sp>
      <p:sp>
        <p:nvSpPr>
          <p:cNvPr id="49" name="Google Shape;49;p4">
            <a:extLst xmlns:a="http://schemas.openxmlformats.org/drawingml/2006/main">
              <a:ext uri="{FF2B5EF4-FFF2-40B4-BE49-F238E27FC236}">
                <a16:creationId xmlns:a16="http://schemas.microsoft.com/office/drawing/2014/main" id="{0E5F9205-DC95-48D7-B733-C69359FC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0" name="Google Shape;50;p4">
            <a:extLst xmlns:a="http://schemas.openxmlformats.org/drawingml/2006/main">
              <a:ext uri="{FF2B5EF4-FFF2-40B4-BE49-F238E27FC236}">
                <a16:creationId xmlns:a16="http://schemas.microsoft.com/office/drawing/2014/main" id="{697FC7E5-067D-47F8-844D-9863CE3B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" name="Google Shape;51;p4">
            <a:extLst xmlns:a="http://schemas.openxmlformats.org/drawingml/2006/main">
              <a:ext uri="{FF2B5EF4-FFF2-40B4-BE49-F238E27FC236}">
                <a16:creationId xmlns:a16="http://schemas.microsoft.com/office/drawing/2014/main" id="{673EDB4A-DEB0-40B7-85A3-59FD7AA9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1148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Revise answers</a:t>
            </a:r>
          </a:p>
        </p:txBody>
      </p:sp>
      <p:sp>
        <p:nvSpPr>
          <p:cNvPr id="52" name="Google Shape;52;p4">
            <a:extLst xmlns:a="http://schemas.openxmlformats.org/drawingml/2006/main">
              <a:ext uri="{FF2B5EF4-FFF2-40B4-BE49-F238E27FC236}">
                <a16:creationId xmlns:a16="http://schemas.microsoft.com/office/drawing/2014/main" id="{2976817D-E17C-4B8E-9E40-AA55CBC4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43484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Use mock Q&amp;A to improve clarity, precision, and scientific language.</a:t>
            </a:r>
          </a:p>
        </p:txBody>
      </p:sp>
    </p:spTree>
    <p:extLst>
      <p:ext uri="{BB962C8B-B14F-4D97-AF65-F5344CB8AC3E}">
        <p14:creationId xmlns:p14="http://schemas.microsoft.com/office/powerpoint/2010/main" val="9028104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5">
            <a:extLst xmlns:a="http://schemas.openxmlformats.org/drawingml/2006/main">
              <a:ext uri="{FF2B5EF4-FFF2-40B4-BE49-F238E27FC236}">
                <a16:creationId xmlns:a16="http://schemas.microsoft.com/office/drawing/2014/main" id="{D732D4C9-C95D-4537-9F85-E438FFA8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9" name="Google Shape;59;p5">
            <a:extLst xmlns:a="http://schemas.openxmlformats.org/drawingml/2006/main">
              <a:ext uri="{FF2B5EF4-FFF2-40B4-BE49-F238E27FC236}">
                <a16:creationId xmlns:a16="http://schemas.microsoft.com/office/drawing/2014/main" id="{2762A66B-4E07-4E11-9052-B89B8380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0" name="Google Shape;60;p5">
            <a:extLst xmlns:a="http://schemas.openxmlformats.org/drawingml/2006/main">
              <a:ext uri="{FF2B5EF4-FFF2-40B4-BE49-F238E27FC236}">
                <a16:creationId xmlns:a16="http://schemas.microsoft.com/office/drawing/2014/main" id="{E079CE72-5041-43BD-B91C-52B04C0E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1" name="Google Shape;61;p5">
            <a:extLst xmlns:a="http://schemas.openxmlformats.org/drawingml/2006/main">
              <a:ext uri="{FF2B5EF4-FFF2-40B4-BE49-F238E27FC236}">
                <a16:creationId xmlns:a16="http://schemas.microsoft.com/office/drawing/2014/main" id="{01505332-1A38-430C-9600-88DE6E1A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Q&amp;A PREPARATION</a:t>
            </a:r>
          </a:p>
        </p:txBody>
      </p:sp>
      <p:sp>
        <p:nvSpPr>
          <p:cNvPr id="62" name="Google Shape;62;p5">
            <a:extLst xmlns:a="http://schemas.openxmlformats.org/drawingml/2006/main">
              <a:ext uri="{FF2B5EF4-FFF2-40B4-BE49-F238E27FC236}">
                <a16:creationId xmlns:a16="http://schemas.microsoft.com/office/drawing/2014/main" id="{FAADFC53-EA85-4B0E-A5C8-D5DE8814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18</a:t>
            </a:r>
          </a:p>
        </p:txBody>
      </p:sp>
      <p:sp>
        <p:nvSpPr>
          <p:cNvPr id="63" name="Google Shape;63;p5">
            <a:extLst xmlns:a="http://schemas.openxmlformats.org/drawingml/2006/main">
              <a:ext uri="{FF2B5EF4-FFF2-40B4-BE49-F238E27FC236}">
                <a16:creationId xmlns:a16="http://schemas.microsoft.com/office/drawing/2014/main" id="{080B3175-6FA0-4727-9446-43494578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Q&amp;A Is Part of the Research</a:t>
            </a:r>
          </a:p>
        </p:txBody>
      </p:sp>
      <p:sp>
        <p:nvSpPr>
          <p:cNvPr id="64" name="Google Shape;64;p5">
            <a:extLst xmlns:a="http://schemas.openxmlformats.org/drawingml/2006/main">
              <a:ext uri="{FF2B5EF4-FFF2-40B4-BE49-F238E27FC236}">
                <a16:creationId xmlns:a16="http://schemas.microsoft.com/office/drawing/2014/main" id="{C69FC236-D57D-4B2E-AFBD-DF26D76C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43000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5" name="Google Shape;65;p5">
            <a:extLst xmlns:a="http://schemas.openxmlformats.org/drawingml/2006/main">
              <a:ext uri="{FF2B5EF4-FFF2-40B4-BE49-F238E27FC236}">
                <a16:creationId xmlns:a16="http://schemas.microsoft.com/office/drawing/2014/main" id="{88958238-23D1-46F8-A9E8-724F610F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4128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Questions are not interruptions. They are how research gets tested.</a:t>
            </a:r>
          </a:p>
        </p:txBody>
      </p:sp>
      <p:sp>
        <p:nvSpPr>
          <p:cNvPr id="66" name="Google Shape;66;p5">
            <a:extLst xmlns:a="http://schemas.openxmlformats.org/drawingml/2006/main">
              <a:ext uri="{FF2B5EF4-FFF2-40B4-BE49-F238E27FC236}">
                <a16:creationId xmlns:a16="http://schemas.microsoft.com/office/drawing/2014/main" id="{08B521A2-5F06-449E-B004-ED73ADDF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663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7" name="Google Shape;67;p5">
            <a:extLst xmlns:a="http://schemas.openxmlformats.org/drawingml/2006/main">
              <a:ext uri="{FF2B5EF4-FFF2-40B4-BE49-F238E27FC236}">
                <a16:creationId xmlns:a16="http://schemas.microsoft.com/office/drawing/2014/main" id="{76965CA8-0985-48AA-8052-80286DC4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4008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8" name="Google Shape;68;p5">
            <a:extLst xmlns:a="http://schemas.openxmlformats.org/drawingml/2006/main">
              <a:ext uri="{FF2B5EF4-FFF2-40B4-BE49-F238E27FC236}">
                <a16:creationId xmlns:a16="http://schemas.microsoft.com/office/drawing/2014/main" id="{ABC52C7D-387D-46B1-9A8F-A0C2C96E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737360"/>
            <a:ext cx="48463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WHAT STUDENTS MAY FEEL</a:t>
            </a:r>
          </a:p>
        </p:txBody>
      </p:sp>
      <p:sp>
        <p:nvSpPr>
          <p:cNvPr id="69" name="Google Shape;69;p5">
            <a:extLst xmlns:a="http://schemas.openxmlformats.org/drawingml/2006/main">
              <a:ext uri="{FF2B5EF4-FFF2-40B4-BE49-F238E27FC236}">
                <a16:creationId xmlns:a16="http://schemas.microsoft.com/office/drawing/2014/main" id="{B196C235-6E62-4B96-B676-0977F3CA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057400"/>
            <a:ext cx="4846320" cy="3273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“They are trying to catch me.”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“I should know every answer.”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“If I say I do not know, I failed.”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“Limitations make my project look weak.”</a:t>
            </a:r>
          </a:p>
        </p:txBody>
      </p:sp>
      <p:sp>
        <p:nvSpPr>
          <p:cNvPr id="70" name="Google Shape;70;p5">
            <a:extLst xmlns:a="http://schemas.openxmlformats.org/drawingml/2006/main">
              <a:ext uri="{FF2B5EF4-FFF2-40B4-BE49-F238E27FC236}">
                <a16:creationId xmlns:a16="http://schemas.microsoft.com/office/drawing/2014/main" id="{943C19B4-A6DD-4FA0-9A2C-26410137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00200"/>
            <a:ext cx="51663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1" name="Google Shape;71;p5">
            <a:extLst xmlns:a="http://schemas.openxmlformats.org/drawingml/2006/main">
              <a:ext uri="{FF2B5EF4-FFF2-40B4-BE49-F238E27FC236}">
                <a16:creationId xmlns:a16="http://schemas.microsoft.com/office/drawing/2014/main" id="{278F5D5B-3E08-4A79-BFB0-74514FFE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00200"/>
            <a:ext cx="64008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2" name="Google Shape;72;p5">
            <a:extLst xmlns:a="http://schemas.openxmlformats.org/drawingml/2006/main">
              <a:ext uri="{FF2B5EF4-FFF2-40B4-BE49-F238E27FC236}">
                <a16:creationId xmlns:a16="http://schemas.microsoft.com/office/drawing/2014/main" id="{6D863F91-8077-48D4-918A-4B6377B6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737360"/>
            <a:ext cx="48463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WHAT SCIENTISTS DO</a:t>
            </a:r>
          </a:p>
        </p:txBody>
      </p:sp>
      <p:sp>
        <p:nvSpPr>
          <p:cNvPr id="73" name="Google Shape;73;p5">
            <a:extLst xmlns:a="http://schemas.openxmlformats.org/drawingml/2006/main">
              <a:ext uri="{FF2B5EF4-FFF2-40B4-BE49-F238E27FC236}">
                <a16:creationId xmlns:a16="http://schemas.microsoft.com/office/drawing/2014/main" id="{F06B44CE-A9ED-4BE3-9B1D-A2EDACA0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057400"/>
            <a:ext cx="4846320" cy="3273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Clarify the question.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Refer to evidence.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Explain method choices.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Admit limits.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Identify what future work would test next.</a:t>
            </a:r>
          </a:p>
        </p:txBody>
      </p:sp>
    </p:spTree>
    <p:extLst>
      <p:ext uri="{BB962C8B-B14F-4D97-AF65-F5344CB8AC3E}">
        <p14:creationId xmlns:p14="http://schemas.microsoft.com/office/powerpoint/2010/main" val="25474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11CB91C4-53E1-4CBA-838D-CC9AC026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CC79C918-8D8A-4DFB-96DB-4FE64D36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1" name="Google Shape;81;p6">
            <a:extLst xmlns:a="http://schemas.openxmlformats.org/drawingml/2006/main">
              <a:ext uri="{FF2B5EF4-FFF2-40B4-BE49-F238E27FC236}">
                <a16:creationId xmlns:a16="http://schemas.microsoft.com/office/drawing/2014/main" id="{9D7A76E1-D597-4BD2-8790-5BDE801B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2" name="Google Shape;82;p6">
            <a:extLst xmlns:a="http://schemas.openxmlformats.org/drawingml/2006/main">
              <a:ext uri="{FF2B5EF4-FFF2-40B4-BE49-F238E27FC236}">
                <a16:creationId xmlns:a16="http://schemas.microsoft.com/office/drawing/2014/main" id="{67F8E3DE-9984-44D7-8CC7-76116F4C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Q&amp;A PREPARATION</a:t>
            </a:r>
          </a:p>
        </p:txBody>
      </p:sp>
      <p:sp>
        <p:nvSpPr>
          <p:cNvPr id="83" name="Google Shape;83;p6">
            <a:extLst xmlns:a="http://schemas.openxmlformats.org/drawingml/2006/main">
              <a:ext uri="{FF2B5EF4-FFF2-40B4-BE49-F238E27FC236}">
                <a16:creationId xmlns:a16="http://schemas.microsoft.com/office/drawing/2014/main" id="{7FF93C2B-0C7D-412B-98B2-0BBA9624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18</a:t>
            </a:r>
          </a:p>
        </p:txBody>
      </p:sp>
      <p:sp>
        <p:nvSpPr>
          <p:cNvPr id="84" name="Google Shape;84;p6">
            <a:extLst xmlns:a="http://schemas.openxmlformats.org/drawingml/2006/main">
              <a:ext uri="{FF2B5EF4-FFF2-40B4-BE49-F238E27FC236}">
                <a16:creationId xmlns:a16="http://schemas.microsoft.com/office/drawing/2014/main" id="{14E734F9-112E-46A9-80AC-8D326F55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The Answer Formula</a:t>
            </a:r>
          </a:p>
        </p:txBody>
      </p:sp>
      <p:sp>
        <p:nvSpPr>
          <p:cNvPr id="85" name="Google Shape;85;p6">
            <a:extLst xmlns:a="http://schemas.openxmlformats.org/drawingml/2006/main">
              <a:ext uri="{FF2B5EF4-FFF2-40B4-BE49-F238E27FC236}">
                <a16:creationId xmlns:a16="http://schemas.microsoft.com/office/drawing/2014/main" id="{DF0DB518-744E-469A-861F-4AB82650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43000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6" name="Google Shape;86;p6">
            <a:extLst xmlns:a="http://schemas.openxmlformats.org/drawingml/2006/main">
              <a:ext uri="{FF2B5EF4-FFF2-40B4-BE49-F238E27FC236}">
                <a16:creationId xmlns:a16="http://schemas.microsoft.com/office/drawing/2014/main" id="{F0CCADB7-DA6B-4030-BB07-1910A337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4128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Strong answers follow a simple structure.</a:t>
            </a:r>
          </a:p>
        </p:txBody>
      </p:sp>
      <p:sp>
        <p:nvSpPr>
          <p:cNvPr id="87" name="Google Shape;87;p6">
            <a:extLst xmlns:a="http://schemas.openxmlformats.org/drawingml/2006/main">
              <a:ext uri="{FF2B5EF4-FFF2-40B4-BE49-F238E27FC236}">
                <a16:creationId xmlns:a16="http://schemas.microsoft.com/office/drawing/2014/main" id="{57873B41-9C73-4321-920D-D4E2237D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8" name="Google Shape;88;p6">
            <a:extLst xmlns:a="http://schemas.openxmlformats.org/drawingml/2006/main">
              <a:ext uri="{FF2B5EF4-FFF2-40B4-BE49-F238E27FC236}">
                <a16:creationId xmlns:a16="http://schemas.microsoft.com/office/drawing/2014/main" id="{78FC3146-39A1-4B42-BDB9-112B7731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9" name="Google Shape;89;p6">
            <a:extLst xmlns:a="http://schemas.openxmlformats.org/drawingml/2006/main">
              <a:ext uri="{FF2B5EF4-FFF2-40B4-BE49-F238E27FC236}">
                <a16:creationId xmlns:a16="http://schemas.microsoft.com/office/drawing/2014/main" id="{0EBD10CA-2890-478F-9357-F277336B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19456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1. CLARIFY</a:t>
            </a:r>
          </a:p>
        </p:txBody>
      </p:sp>
      <p:sp>
        <p:nvSpPr>
          <p:cNvPr id="90" name="Google Shape;90;p6">
            <a:extLst xmlns:a="http://schemas.openxmlformats.org/drawingml/2006/main">
              <a:ext uri="{FF2B5EF4-FFF2-40B4-BE49-F238E27FC236}">
                <a16:creationId xmlns:a16="http://schemas.microsoft.com/office/drawing/2014/main" id="{B12AC833-7956-40E0-BC5F-B4F1E2BA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51460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Make sure you understand what is being asked.</a:t>
            </a:r>
          </a:p>
        </p:txBody>
      </p:sp>
      <p:sp>
        <p:nvSpPr>
          <p:cNvPr id="91" name="Google Shape;91;p6">
            <a:extLst xmlns:a="http://schemas.openxmlformats.org/drawingml/2006/main">
              <a:ext uri="{FF2B5EF4-FFF2-40B4-BE49-F238E27FC236}">
                <a16:creationId xmlns:a16="http://schemas.microsoft.com/office/drawing/2014/main" id="{4E7F47BB-F6BA-417C-BC83-5CF80154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5740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2" name="Google Shape;92;p6">
            <a:extLst xmlns:a="http://schemas.openxmlformats.org/drawingml/2006/main">
              <a:ext uri="{FF2B5EF4-FFF2-40B4-BE49-F238E27FC236}">
                <a16:creationId xmlns:a16="http://schemas.microsoft.com/office/drawing/2014/main" id="{88CCDA25-666B-4E05-82C3-B59E8D1D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5740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3" name="Google Shape;93;p6">
            <a:extLst xmlns:a="http://schemas.openxmlformats.org/drawingml/2006/main">
              <a:ext uri="{FF2B5EF4-FFF2-40B4-BE49-F238E27FC236}">
                <a16:creationId xmlns:a16="http://schemas.microsoft.com/office/drawing/2014/main" id="{2357039C-A6FA-4026-89C5-8413496C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19456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2. ANSWER</a:t>
            </a:r>
          </a:p>
        </p:txBody>
      </p:sp>
      <p:sp>
        <p:nvSpPr>
          <p:cNvPr id="94" name="Google Shape;94;p6">
            <a:extLst xmlns:a="http://schemas.openxmlformats.org/drawingml/2006/main">
              <a:ext uri="{FF2B5EF4-FFF2-40B4-BE49-F238E27FC236}">
                <a16:creationId xmlns:a16="http://schemas.microsoft.com/office/drawing/2014/main" id="{A639478C-EAFE-4DE7-B293-AE1A085C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51460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Give a direct response in one or two sentences.</a:t>
            </a:r>
          </a:p>
        </p:txBody>
      </p:sp>
      <p:sp>
        <p:nvSpPr>
          <p:cNvPr id="95" name="Google Shape;95;p6">
            <a:extLst xmlns:a="http://schemas.openxmlformats.org/drawingml/2006/main">
              <a:ext uri="{FF2B5EF4-FFF2-40B4-BE49-F238E27FC236}">
                <a16:creationId xmlns:a16="http://schemas.microsoft.com/office/drawing/2014/main" id="{9554E608-4D3D-4B26-B9F3-B4367B24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6" name="Google Shape;96;p6">
            <a:extLst xmlns:a="http://schemas.openxmlformats.org/drawingml/2006/main">
              <a:ext uri="{FF2B5EF4-FFF2-40B4-BE49-F238E27FC236}">
                <a16:creationId xmlns:a16="http://schemas.microsoft.com/office/drawing/2014/main" id="{9B8C3588-1AF5-4E25-AB4D-5BA3969E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7" name="Google Shape;97;p6">
            <a:extLst xmlns:a="http://schemas.openxmlformats.org/drawingml/2006/main">
              <a:ext uri="{FF2B5EF4-FFF2-40B4-BE49-F238E27FC236}">
                <a16:creationId xmlns:a16="http://schemas.microsoft.com/office/drawing/2014/main" id="{FEA005EB-BDBE-4CA5-8E1E-54DAF5AC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1148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3. EVIDENCE</a:t>
            </a:r>
          </a:p>
        </p:txBody>
      </p:sp>
      <p:sp>
        <p:nvSpPr>
          <p:cNvPr id="98" name="Google Shape;98;p6">
            <a:extLst xmlns:a="http://schemas.openxmlformats.org/drawingml/2006/main">
              <a:ext uri="{FF2B5EF4-FFF2-40B4-BE49-F238E27FC236}">
                <a16:creationId xmlns:a16="http://schemas.microsoft.com/office/drawing/2014/main" id="{80458101-DAF4-4206-B0FA-B90CD5BB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43484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Point to the data, method, graph, observation, or trial that supports the answer.</a:t>
            </a:r>
          </a:p>
        </p:txBody>
      </p:sp>
      <p:sp>
        <p:nvSpPr>
          <p:cNvPr id="99" name="Google Shape;99;p6">
            <a:extLst xmlns:a="http://schemas.openxmlformats.org/drawingml/2006/main">
              <a:ext uri="{FF2B5EF4-FFF2-40B4-BE49-F238E27FC236}">
                <a16:creationId xmlns:a16="http://schemas.microsoft.com/office/drawing/2014/main" id="{9BF7F645-3080-4B64-A99F-9E3E45CF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0" name="Google Shape;100;p6">
            <a:extLst xmlns:a="http://schemas.openxmlformats.org/drawingml/2006/main">
              <a:ext uri="{FF2B5EF4-FFF2-40B4-BE49-F238E27FC236}">
                <a16:creationId xmlns:a16="http://schemas.microsoft.com/office/drawing/2014/main" id="{3815B6D9-586E-4164-BA4A-733F936B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1" name="Google Shape;101;p6">
            <a:extLst xmlns:a="http://schemas.openxmlformats.org/drawingml/2006/main">
              <a:ext uri="{FF2B5EF4-FFF2-40B4-BE49-F238E27FC236}">
                <a16:creationId xmlns:a16="http://schemas.microsoft.com/office/drawing/2014/main" id="{A9BCFE1A-CCD1-42DB-99DD-FF0736C4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1148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4. LIMIT</a:t>
            </a:r>
          </a:p>
        </p:txBody>
      </p:sp>
      <p:sp>
        <p:nvSpPr>
          <p:cNvPr id="102" name="Google Shape;102;p6">
            <a:extLst xmlns:a="http://schemas.openxmlformats.org/drawingml/2006/main">
              <a:ext uri="{FF2B5EF4-FFF2-40B4-BE49-F238E27FC236}">
                <a16:creationId xmlns:a16="http://schemas.microsoft.com/office/drawing/2014/main" id="{C88EBC73-207F-4017-8EF6-3EAA655A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43484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Name what your project can and cannot claim.</a:t>
            </a:r>
          </a:p>
        </p:txBody>
      </p:sp>
      <p:sp>
        <p:nvSpPr>
          <p:cNvPr id="103" name="Google Shape;103;p6">
            <a:extLst xmlns:a="http://schemas.openxmlformats.org/drawingml/2006/main">
              <a:ext uri="{FF2B5EF4-FFF2-40B4-BE49-F238E27FC236}">
                <a16:creationId xmlns:a16="http://schemas.microsoft.com/office/drawing/2014/main" id="{2CD25D0C-045B-4EDE-9F48-290BF4BB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3212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200"/>
              <a:buFont typeface="Arial"/>
              <a:buNone/>
            </a:pPr>
            <a:r>
              <a:rPr sz="2200" b="1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Direct answer + evidence + limitation = scientific credibility.</a:t>
            </a:r>
          </a:p>
        </p:txBody>
      </p:sp>
    </p:spTree>
    <p:extLst>
      <p:ext uri="{BB962C8B-B14F-4D97-AF65-F5344CB8AC3E}">
        <p14:creationId xmlns:p14="http://schemas.microsoft.com/office/powerpoint/2010/main" val="20125172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Google Shape;109;p7">
            <a:extLst xmlns:a="http://schemas.openxmlformats.org/drawingml/2006/main">
              <a:ext uri="{FF2B5EF4-FFF2-40B4-BE49-F238E27FC236}">
                <a16:creationId xmlns:a16="http://schemas.microsoft.com/office/drawing/2014/main" id="{1103F3A6-FCAB-4A33-9BEA-F8F3D7DB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0" name="Google Shape;110;p7">
            <a:extLst xmlns:a="http://schemas.openxmlformats.org/drawingml/2006/main">
              <a:ext uri="{FF2B5EF4-FFF2-40B4-BE49-F238E27FC236}">
                <a16:creationId xmlns:a16="http://schemas.microsoft.com/office/drawing/2014/main" id="{FD222D28-772C-4A67-B7F2-D1CD093B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1" name="Google Shape;111;p7">
            <a:extLst xmlns:a="http://schemas.openxmlformats.org/drawingml/2006/main">
              <a:ext uri="{FF2B5EF4-FFF2-40B4-BE49-F238E27FC236}">
                <a16:creationId xmlns:a16="http://schemas.microsoft.com/office/drawing/2014/main" id="{E978C0D7-74E7-4551-835C-FE42E8F3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2" name="Google Shape;112;p7">
            <a:extLst xmlns:a="http://schemas.openxmlformats.org/drawingml/2006/main">
              <a:ext uri="{FF2B5EF4-FFF2-40B4-BE49-F238E27FC236}">
                <a16:creationId xmlns:a16="http://schemas.microsoft.com/office/drawing/2014/main" id="{31A4F2AB-F3A0-46DC-B595-371003ED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Q&amp;A PREPARATION</a:t>
            </a:r>
          </a:p>
        </p:txBody>
      </p:sp>
      <p:sp>
        <p:nvSpPr>
          <p:cNvPr id="113" name="Google Shape;113;p7">
            <a:extLst xmlns:a="http://schemas.openxmlformats.org/drawingml/2006/main">
              <a:ext uri="{FF2B5EF4-FFF2-40B4-BE49-F238E27FC236}">
                <a16:creationId xmlns:a16="http://schemas.microsoft.com/office/drawing/2014/main" id="{55125783-8D5B-4761-B8B5-CB3F0492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18</a:t>
            </a:r>
          </a:p>
        </p:txBody>
      </p:sp>
      <p:sp>
        <p:nvSpPr>
          <p:cNvPr id="114" name="Google Shape;114;p7">
            <a:extLst xmlns:a="http://schemas.openxmlformats.org/drawingml/2006/main">
              <a:ext uri="{FF2B5EF4-FFF2-40B4-BE49-F238E27FC236}">
                <a16:creationId xmlns:a16="http://schemas.microsoft.com/office/drawing/2014/main" id="{DDE48AF6-2170-4288-985D-9BB3649E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Most Questions Fall Into Categories</a:t>
            </a:r>
          </a:p>
        </p:txBody>
      </p:sp>
      <p:sp>
        <p:nvSpPr>
          <p:cNvPr id="115" name="Google Shape;115;p7">
            <a:extLst xmlns:a="http://schemas.openxmlformats.org/drawingml/2006/main">
              <a:ext uri="{FF2B5EF4-FFF2-40B4-BE49-F238E27FC236}">
                <a16:creationId xmlns:a16="http://schemas.microsoft.com/office/drawing/2014/main" id="{EA11C129-CF5D-4EBC-823F-B3CE45D4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43000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6" name="Google Shape;116;p7">
            <a:extLst xmlns:a="http://schemas.openxmlformats.org/drawingml/2006/main">
              <a:ext uri="{FF2B5EF4-FFF2-40B4-BE49-F238E27FC236}">
                <a16:creationId xmlns:a16="http://schemas.microsoft.com/office/drawing/2014/main" id="{3E98E3A0-EB23-419F-A4A4-B6B8DFB8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4128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Students can prepare without memorizing every possible answer.</a:t>
            </a:r>
          </a:p>
        </p:txBody>
      </p:sp>
      <p:sp>
        <p:nvSpPr>
          <p:cNvPr id="117" name="Google Shape;117;p7">
            <a:extLst xmlns:a="http://schemas.openxmlformats.org/drawingml/2006/main">
              <a:ext uri="{FF2B5EF4-FFF2-40B4-BE49-F238E27FC236}">
                <a16:creationId xmlns:a16="http://schemas.microsoft.com/office/drawing/2014/main" id="{A6BD12C0-DB0E-45BA-B091-EAA229B0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352044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8" name="Google Shape;118;p7">
            <a:extLst xmlns:a="http://schemas.openxmlformats.org/drawingml/2006/main">
              <a:ext uri="{FF2B5EF4-FFF2-40B4-BE49-F238E27FC236}">
                <a16:creationId xmlns:a16="http://schemas.microsoft.com/office/drawing/2014/main" id="{DF10F919-A36F-4FE2-9943-C1E927B5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64008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9" name="Google Shape;119;p7">
            <a:extLst xmlns:a="http://schemas.openxmlformats.org/drawingml/2006/main">
              <a:ext uri="{FF2B5EF4-FFF2-40B4-BE49-F238E27FC236}">
                <a16:creationId xmlns:a16="http://schemas.microsoft.com/office/drawing/2014/main" id="{4EB636E4-5943-4307-B7DD-3E619D12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64592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120" name="Google Shape;120;p7">
            <a:extLst xmlns:a="http://schemas.openxmlformats.org/drawingml/2006/main">
              <a:ext uri="{FF2B5EF4-FFF2-40B4-BE49-F238E27FC236}">
                <a16:creationId xmlns:a16="http://schemas.microsoft.com/office/drawing/2014/main" id="{A02F4173-13FB-4094-A639-0D1D34D1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965960"/>
            <a:ext cx="3200400" cy="484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Why did you choose this project? Why does it matter?</a:t>
            </a:r>
          </a:p>
        </p:txBody>
      </p:sp>
      <p:sp>
        <p:nvSpPr>
          <p:cNvPr id="121" name="Google Shape;121;p7">
            <a:extLst xmlns:a="http://schemas.openxmlformats.org/drawingml/2006/main">
              <a:ext uri="{FF2B5EF4-FFF2-40B4-BE49-F238E27FC236}">
                <a16:creationId xmlns:a16="http://schemas.microsoft.com/office/drawing/2014/main" id="{1C1D871F-1CF6-454C-9E0D-BAEFD492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08760"/>
            <a:ext cx="352044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2" name="Google Shape;122;p7">
            <a:extLst xmlns:a="http://schemas.openxmlformats.org/drawingml/2006/main">
              <a:ext uri="{FF2B5EF4-FFF2-40B4-BE49-F238E27FC236}">
                <a16:creationId xmlns:a16="http://schemas.microsoft.com/office/drawing/2014/main" id="{14F060F1-B34A-457D-B8ED-42EB1CC8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08760"/>
            <a:ext cx="64008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3" name="Google Shape;123;p7">
            <a:extLst xmlns:a="http://schemas.openxmlformats.org/drawingml/2006/main">
              <a:ext uri="{FF2B5EF4-FFF2-40B4-BE49-F238E27FC236}">
                <a16:creationId xmlns:a16="http://schemas.microsoft.com/office/drawing/2014/main" id="{8D4D22C6-958D-4946-9979-B62A6BE4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64592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124" name="Google Shape;124;p7">
            <a:extLst xmlns:a="http://schemas.openxmlformats.org/drawingml/2006/main">
              <a:ext uri="{FF2B5EF4-FFF2-40B4-BE49-F238E27FC236}">
                <a16:creationId xmlns:a16="http://schemas.microsoft.com/office/drawing/2014/main" id="{FB663EDE-CA6B-4D88-88C9-63614F66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965960"/>
            <a:ext cx="3200400" cy="484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Why did you choose this method? What did you control?</a:t>
            </a:r>
          </a:p>
        </p:txBody>
      </p:sp>
      <p:sp>
        <p:nvSpPr>
          <p:cNvPr id="125" name="Google Shape;125;p7">
            <a:extLst xmlns:a="http://schemas.openxmlformats.org/drawingml/2006/main">
              <a:ext uri="{FF2B5EF4-FFF2-40B4-BE49-F238E27FC236}">
                <a16:creationId xmlns:a16="http://schemas.microsoft.com/office/drawing/2014/main" id="{8CFB92C5-8DE0-41CB-AB47-C1E185E3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08760"/>
            <a:ext cx="352044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6" name="Google Shape;126;p7">
            <a:extLst xmlns:a="http://schemas.openxmlformats.org/drawingml/2006/main">
              <a:ext uri="{FF2B5EF4-FFF2-40B4-BE49-F238E27FC236}">
                <a16:creationId xmlns:a16="http://schemas.microsoft.com/office/drawing/2014/main" id="{E7554688-5358-47B7-82BA-73189068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08760"/>
            <a:ext cx="64008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7" name="Google Shape;127;p7">
            <a:extLst xmlns:a="http://schemas.openxmlformats.org/drawingml/2006/main">
              <a:ext uri="{FF2B5EF4-FFF2-40B4-BE49-F238E27FC236}">
                <a16:creationId xmlns:a16="http://schemas.microsoft.com/office/drawing/2014/main" id="{D0C0FC7E-1EB8-4A25-AC39-80A00B56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164592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28" name="Google Shape;128;p7">
            <a:extLst xmlns:a="http://schemas.openxmlformats.org/drawingml/2006/main">
              <a:ext uri="{FF2B5EF4-FFF2-40B4-BE49-F238E27FC236}">
                <a16:creationId xmlns:a16="http://schemas.microsoft.com/office/drawing/2014/main" id="{5BEF39F2-5D38-435D-A154-1CF7580A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1965960"/>
            <a:ext cx="3200400" cy="484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What is your most important result? What does the graph show?</a:t>
            </a:r>
          </a:p>
        </p:txBody>
      </p:sp>
      <p:sp>
        <p:nvSpPr>
          <p:cNvPr id="129" name="Google Shape;129;p7">
            <a:extLst xmlns:a="http://schemas.openxmlformats.org/drawingml/2006/main">
              <a:ext uri="{FF2B5EF4-FFF2-40B4-BE49-F238E27FC236}">
                <a16:creationId xmlns:a16="http://schemas.microsoft.com/office/drawing/2014/main" id="{B06AD63A-69FB-463E-91A9-D1954EC4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4680"/>
            <a:ext cx="352044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0" name="Google Shape;130;p7">
            <a:extLst xmlns:a="http://schemas.openxmlformats.org/drawingml/2006/main">
              <a:ext uri="{FF2B5EF4-FFF2-40B4-BE49-F238E27FC236}">
                <a16:creationId xmlns:a16="http://schemas.microsoft.com/office/drawing/2014/main" id="{C90B37D3-115A-443A-B784-AB8B9112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4680"/>
            <a:ext cx="64008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1" name="Google Shape;131;p7">
            <a:extLst xmlns:a="http://schemas.openxmlformats.org/drawingml/2006/main">
              <a:ext uri="{FF2B5EF4-FFF2-40B4-BE49-F238E27FC236}">
                <a16:creationId xmlns:a16="http://schemas.microsoft.com/office/drawing/2014/main" id="{EEABF078-FE8F-4EE0-823C-A2804D1D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29184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132" name="Google Shape;132;p7">
            <a:extLst xmlns:a="http://schemas.openxmlformats.org/drawingml/2006/main">
              <a:ext uri="{FF2B5EF4-FFF2-40B4-BE49-F238E27FC236}">
                <a16:creationId xmlns:a16="http://schemas.microsoft.com/office/drawing/2014/main" id="{8CABE342-FB82-45CE-98D0-596C256B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611880"/>
            <a:ext cx="3200400" cy="484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How confident are you? How many trials did you complete?</a:t>
            </a:r>
          </a:p>
        </p:txBody>
      </p:sp>
      <p:sp>
        <p:nvSpPr>
          <p:cNvPr id="133" name="Google Shape;133;p7">
            <a:extLst xmlns:a="http://schemas.openxmlformats.org/drawingml/2006/main">
              <a:ext uri="{FF2B5EF4-FFF2-40B4-BE49-F238E27FC236}">
                <a16:creationId xmlns:a16="http://schemas.microsoft.com/office/drawing/2014/main" id="{8CDB82B7-3DB0-44FD-951D-29E15A93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54680"/>
            <a:ext cx="352044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4" name="Google Shape;134;p7">
            <a:extLst xmlns:a="http://schemas.openxmlformats.org/drawingml/2006/main">
              <a:ext uri="{FF2B5EF4-FFF2-40B4-BE49-F238E27FC236}">
                <a16:creationId xmlns:a16="http://schemas.microsoft.com/office/drawing/2014/main" id="{7E6D254D-808C-4277-995F-9D90840B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54680"/>
            <a:ext cx="64008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5" name="Google Shape;135;p7">
            <a:extLst xmlns:a="http://schemas.openxmlformats.org/drawingml/2006/main">
              <a:ext uri="{FF2B5EF4-FFF2-40B4-BE49-F238E27FC236}">
                <a16:creationId xmlns:a16="http://schemas.microsoft.com/office/drawing/2014/main" id="{874DB4CC-6FCC-4F5D-B48A-D878D0A1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329184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136" name="Google Shape;136;p7">
            <a:extLst xmlns:a="http://schemas.openxmlformats.org/drawingml/2006/main">
              <a:ext uri="{FF2B5EF4-FFF2-40B4-BE49-F238E27FC236}">
                <a16:creationId xmlns:a16="http://schemas.microsoft.com/office/drawing/2014/main" id="{8CB93052-4799-41B6-A533-8AB524FC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3611880"/>
            <a:ext cx="3200400" cy="484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What affected your results? What would improve the study?</a:t>
            </a:r>
          </a:p>
        </p:txBody>
      </p:sp>
      <p:sp>
        <p:nvSpPr>
          <p:cNvPr id="137" name="Google Shape;137;p7">
            <a:extLst xmlns:a="http://schemas.openxmlformats.org/drawingml/2006/main">
              <a:ext uri="{FF2B5EF4-FFF2-40B4-BE49-F238E27FC236}">
                <a16:creationId xmlns:a16="http://schemas.microsoft.com/office/drawing/2014/main" id="{C0ABBEF3-125C-4F30-A6FE-69E0B83E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54680"/>
            <a:ext cx="352044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8" name="Google Shape;138;p7">
            <a:extLst xmlns:a="http://schemas.openxmlformats.org/drawingml/2006/main">
              <a:ext uri="{FF2B5EF4-FFF2-40B4-BE49-F238E27FC236}">
                <a16:creationId xmlns:a16="http://schemas.microsoft.com/office/drawing/2014/main" id="{896D73A4-698D-4EA5-936C-45CDF6E9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54680"/>
            <a:ext cx="64008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9" name="Google Shape;139;p7">
            <a:extLst xmlns:a="http://schemas.openxmlformats.org/drawingml/2006/main">
              <a:ext uri="{FF2B5EF4-FFF2-40B4-BE49-F238E27FC236}">
                <a16:creationId xmlns:a16="http://schemas.microsoft.com/office/drawing/2014/main" id="{F962FCDC-0F9F-4B3A-A599-952A41C6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329184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FUTURE WORK</a:t>
            </a:r>
          </a:p>
        </p:txBody>
      </p:sp>
      <p:sp>
        <p:nvSpPr>
          <p:cNvPr id="140" name="Google Shape;140;p7">
            <a:extLst xmlns:a="http://schemas.openxmlformats.org/drawingml/2006/main">
              <a:ext uri="{FF2B5EF4-FFF2-40B4-BE49-F238E27FC236}">
                <a16:creationId xmlns:a16="http://schemas.microsoft.com/office/drawing/2014/main" id="{87857511-799A-4143-87D8-FCC1EE30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3611880"/>
            <a:ext cx="3200400" cy="484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What would you test next? How could this continue?</a:t>
            </a:r>
          </a:p>
        </p:txBody>
      </p:sp>
    </p:spTree>
    <p:extLst>
      <p:ext uri="{BB962C8B-B14F-4D97-AF65-F5344CB8AC3E}">
        <p14:creationId xmlns:p14="http://schemas.microsoft.com/office/powerpoint/2010/main" val="8426282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6" name="Google Shape;146;p8">
            <a:extLst xmlns:a="http://schemas.openxmlformats.org/drawingml/2006/main">
              <a:ext uri="{FF2B5EF4-FFF2-40B4-BE49-F238E27FC236}">
                <a16:creationId xmlns:a16="http://schemas.microsoft.com/office/drawing/2014/main" id="{CFFE2C3F-6F63-424D-9B66-5C22FF0E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7" name="Google Shape;147;p8">
            <a:extLst xmlns:a="http://schemas.openxmlformats.org/drawingml/2006/main">
              <a:ext uri="{FF2B5EF4-FFF2-40B4-BE49-F238E27FC236}">
                <a16:creationId xmlns:a16="http://schemas.microsoft.com/office/drawing/2014/main" id="{3494FA70-40C9-4FFF-B697-8282EEDD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8" name="Google Shape;148;p8">
            <a:extLst xmlns:a="http://schemas.openxmlformats.org/drawingml/2006/main">
              <a:ext uri="{FF2B5EF4-FFF2-40B4-BE49-F238E27FC236}">
                <a16:creationId xmlns:a16="http://schemas.microsoft.com/office/drawing/2014/main" id="{9B955953-2897-422C-9FD6-BF86BCC8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9" name="Google Shape;149;p8">
            <a:extLst xmlns:a="http://schemas.openxmlformats.org/drawingml/2006/main">
              <a:ext uri="{FF2B5EF4-FFF2-40B4-BE49-F238E27FC236}">
                <a16:creationId xmlns:a16="http://schemas.microsoft.com/office/drawing/2014/main" id="{2B5B2B2B-33B4-4359-90F5-FE1C7198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150" name="Google Shape;150;p8">
            <a:extLst xmlns:a="http://schemas.openxmlformats.org/drawingml/2006/main">
              <a:ext uri="{FF2B5EF4-FFF2-40B4-BE49-F238E27FC236}">
                <a16:creationId xmlns:a16="http://schemas.microsoft.com/office/drawing/2014/main" id="{D68C4D53-4A24-4610-83D4-672AD4F5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18</a:t>
            </a:r>
          </a:p>
        </p:txBody>
      </p:sp>
      <p:sp>
        <p:nvSpPr>
          <p:cNvPr id="151" name="Google Shape;151;p8">
            <a:extLst xmlns:a="http://schemas.openxmlformats.org/drawingml/2006/main">
              <a:ext uri="{FF2B5EF4-FFF2-40B4-BE49-F238E27FC236}">
                <a16:creationId xmlns:a16="http://schemas.microsoft.com/office/drawing/2014/main" id="{97C858A0-444D-421E-BB91-A288D3D3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Activity: Predict Your Question Set</a:t>
            </a:r>
          </a:p>
        </p:txBody>
      </p:sp>
      <p:sp>
        <p:nvSpPr>
          <p:cNvPr id="152" name="Google Shape;152;p8">
            <a:extLst xmlns:a="http://schemas.openxmlformats.org/drawingml/2006/main">
              <a:ext uri="{FF2B5EF4-FFF2-40B4-BE49-F238E27FC236}">
                <a16:creationId xmlns:a16="http://schemas.microsoft.com/office/drawing/2014/main" id="{A9C29925-F97E-42DF-90C0-0E932A85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43000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3" name="Google Shape;153;p8">
            <a:extLst xmlns:a="http://schemas.openxmlformats.org/drawingml/2006/main">
              <a:ext uri="{FF2B5EF4-FFF2-40B4-BE49-F238E27FC236}">
                <a16:creationId xmlns:a16="http://schemas.microsoft.com/office/drawing/2014/main" id="{53FA0328-0395-49A3-8CE3-8E9C1E90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4128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Prepare before the audience asks.</a:t>
            </a:r>
          </a:p>
        </p:txBody>
      </p:sp>
      <p:sp>
        <p:nvSpPr>
          <p:cNvPr id="154" name="Google Shape;154;p8">
            <a:extLst xmlns:a="http://schemas.openxmlformats.org/drawingml/2006/main">
              <a:ext uri="{FF2B5EF4-FFF2-40B4-BE49-F238E27FC236}">
                <a16:creationId xmlns:a16="http://schemas.microsoft.com/office/drawing/2014/main" id="{14B35E3A-FF74-4661-82D5-7266CD4A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72768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200"/>
              <a:buFont typeface="Arial"/>
              <a:buNone/>
            </a:pPr>
            <a:r>
              <a:rPr sz="12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155" name="Google Shape;155;p8">
            <a:extLst xmlns:a="http://schemas.openxmlformats.org/drawingml/2006/main">
              <a:ext uri="{FF2B5EF4-FFF2-40B4-BE49-F238E27FC236}">
                <a16:creationId xmlns:a16="http://schemas.microsoft.com/office/drawing/2014/main" id="{2C23C298-DFA7-41A3-B5D4-293B2ED6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630936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600"/>
              <a:buFont typeface="Arial"/>
              <a:buNone/>
            </a:pPr>
            <a:r>
              <a:rPr sz="2600" b="1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Build Your Q&amp;A Map</a:t>
            </a:r>
          </a:p>
        </p:txBody>
      </p:sp>
      <p:sp>
        <p:nvSpPr>
          <p:cNvPr id="156" name="Google Shape;156;p8">
            <a:extLst xmlns:a="http://schemas.openxmlformats.org/drawingml/2006/main">
              <a:ext uri="{FF2B5EF4-FFF2-40B4-BE49-F238E27FC236}">
                <a16:creationId xmlns:a16="http://schemas.microsoft.com/office/drawing/2014/main" id="{0524A311-D459-4EBE-8714-521E0919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1901952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10 MINUTES</a:t>
            </a:r>
          </a:p>
        </p:txBody>
      </p:sp>
      <p:cxnSp>
        <p:nvCxnSpPr>
          <p:cNvPr id="182" name="Google Shape;157;p8"/>
          <p:cNvCxnSpPr/>
          <p:nvPr/>
        </p:nvCxnSpPr>
        <p:spPr>
          <a:xfrm xmlns:a="http://schemas.openxmlformats.org/drawingml/2006/main">
            <a:off x="640068" y="2442669"/>
            <a:ext cx="1088130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5A5A5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8" name="Google Shape;158;p8">
            <a:extLst xmlns:a="http://schemas.openxmlformats.org/drawingml/2006/main">
              <a:ext uri="{FF2B5EF4-FFF2-40B4-BE49-F238E27FC236}">
                <a16:creationId xmlns:a16="http://schemas.microsoft.com/office/drawing/2014/main" id="{E31A263D-E274-4C8D-A18F-3B9A9FC4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07208"/>
            <a:ext cx="10515600" cy="2560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75" tIns="375" rIns="375" bIns="37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Using the Q&amp;A Preparation Guide, write one likely question in each category: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purpose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methods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data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reliability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limitations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future work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Then star the two questions you most need to practice answering.</a:t>
            </a:r>
          </a:p>
        </p:txBody>
      </p:sp>
    </p:spTree>
    <p:extLst>
      <p:ext uri="{BB962C8B-B14F-4D97-AF65-F5344CB8AC3E}">
        <p14:creationId xmlns:p14="http://schemas.microsoft.com/office/powerpoint/2010/main" val="10044246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" name="Google Shape;164;p9">
            <a:extLst xmlns:a="http://schemas.openxmlformats.org/drawingml/2006/main">
              <a:ext uri="{FF2B5EF4-FFF2-40B4-BE49-F238E27FC236}">
                <a16:creationId xmlns:a16="http://schemas.microsoft.com/office/drawing/2014/main" id="{6DA95A58-0C3A-463E-84C5-EC69530F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5" name="Google Shape;165;p9">
            <a:extLst xmlns:a="http://schemas.openxmlformats.org/drawingml/2006/main">
              <a:ext uri="{FF2B5EF4-FFF2-40B4-BE49-F238E27FC236}">
                <a16:creationId xmlns:a16="http://schemas.microsoft.com/office/drawing/2014/main" id="{49A74E0D-3302-4238-92EC-6B3C9F7D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6" name="Google Shape;166;p9">
            <a:extLst xmlns:a="http://schemas.openxmlformats.org/drawingml/2006/main">
              <a:ext uri="{FF2B5EF4-FFF2-40B4-BE49-F238E27FC236}">
                <a16:creationId xmlns:a16="http://schemas.microsoft.com/office/drawing/2014/main" id="{466A70E1-88FE-4D25-9B9F-F11F72FA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7" name="Google Shape;167;p9">
            <a:extLst xmlns:a="http://schemas.openxmlformats.org/drawingml/2006/main">
              <a:ext uri="{FF2B5EF4-FFF2-40B4-BE49-F238E27FC236}">
                <a16:creationId xmlns:a16="http://schemas.microsoft.com/office/drawing/2014/main" id="{86566DDA-52C9-40DF-927D-64C6D667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EVIDENCE DEFENSE</a:t>
            </a:r>
          </a:p>
        </p:txBody>
      </p:sp>
      <p:sp>
        <p:nvSpPr>
          <p:cNvPr id="168" name="Google Shape;168;p9">
            <a:extLst xmlns:a="http://schemas.openxmlformats.org/drawingml/2006/main">
              <a:ext uri="{FF2B5EF4-FFF2-40B4-BE49-F238E27FC236}">
                <a16:creationId xmlns:a16="http://schemas.microsoft.com/office/drawing/2014/main" id="{922170AE-D2F1-47D9-880D-ACF4E0F2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18</a:t>
            </a:r>
          </a:p>
        </p:txBody>
      </p:sp>
      <p:sp>
        <p:nvSpPr>
          <p:cNvPr id="169" name="Google Shape;169;p9">
            <a:extLst xmlns:a="http://schemas.openxmlformats.org/drawingml/2006/main">
              <a:ext uri="{FF2B5EF4-FFF2-40B4-BE49-F238E27FC236}">
                <a16:creationId xmlns:a16="http://schemas.microsoft.com/office/drawing/2014/main" id="{59821330-5852-44EC-A34A-A05A1B97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Defend the Claim With Evidence</a:t>
            </a:r>
          </a:p>
        </p:txBody>
      </p:sp>
      <p:sp>
        <p:nvSpPr>
          <p:cNvPr id="170" name="Google Shape;170;p9">
            <a:extLst xmlns:a="http://schemas.openxmlformats.org/drawingml/2006/main">
              <a:ext uri="{FF2B5EF4-FFF2-40B4-BE49-F238E27FC236}">
                <a16:creationId xmlns:a16="http://schemas.microsoft.com/office/drawing/2014/main" id="{02468208-969A-4B9A-9CFF-FDE6117B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43000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1" name="Google Shape;171;p9">
            <a:extLst xmlns:a="http://schemas.openxmlformats.org/drawingml/2006/main">
              <a:ext uri="{FF2B5EF4-FFF2-40B4-BE49-F238E27FC236}">
                <a16:creationId xmlns:a16="http://schemas.microsoft.com/office/drawing/2014/main" id="{FADC6E29-9322-4ADB-B9C7-270B8E32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4128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A strong answer points back to the project record.</a:t>
            </a:r>
          </a:p>
        </p:txBody>
      </p:sp>
      <p:sp>
        <p:nvSpPr>
          <p:cNvPr id="172" name="Google Shape;172;p9">
            <a:extLst xmlns:a="http://schemas.openxmlformats.org/drawingml/2006/main">
              <a:ext uri="{FF2B5EF4-FFF2-40B4-BE49-F238E27FC236}">
                <a16:creationId xmlns:a16="http://schemas.microsoft.com/office/drawing/2014/main" id="{1C4C389C-AB2D-402C-A71D-4BA4E7F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663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3" name="Google Shape;173;p9">
            <a:extLst xmlns:a="http://schemas.openxmlformats.org/drawingml/2006/main">
              <a:ext uri="{FF2B5EF4-FFF2-40B4-BE49-F238E27FC236}">
                <a16:creationId xmlns:a16="http://schemas.microsoft.com/office/drawing/2014/main" id="{4A5D691A-A2E1-4F83-9840-EB20954C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4008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4" name="Google Shape;174;p9">
            <a:extLst xmlns:a="http://schemas.openxmlformats.org/drawingml/2006/main">
              <a:ext uri="{FF2B5EF4-FFF2-40B4-BE49-F238E27FC236}">
                <a16:creationId xmlns:a16="http://schemas.microsoft.com/office/drawing/2014/main" id="{EF742791-36FB-45BC-9E21-A160E8B9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737360"/>
            <a:ext cx="48463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WEAK ANSWER</a:t>
            </a:r>
          </a:p>
        </p:txBody>
      </p:sp>
      <p:sp>
        <p:nvSpPr>
          <p:cNvPr id="175" name="Google Shape;175;p9">
            <a:extLst xmlns:a="http://schemas.openxmlformats.org/drawingml/2006/main">
              <a:ext uri="{FF2B5EF4-FFF2-40B4-BE49-F238E27FC236}">
                <a16:creationId xmlns:a16="http://schemas.microsoft.com/office/drawing/2014/main" id="{E2CB1524-8FA1-46EC-B4F8-80E40C24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057400"/>
            <a:ext cx="4846320" cy="3273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“I think it worked because the results were pretty good.”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Problem: opinion without evidence.</a:t>
            </a:r>
          </a:p>
        </p:txBody>
      </p:sp>
      <p:sp>
        <p:nvSpPr>
          <p:cNvPr id="176" name="Google Shape;176;p9">
            <a:extLst xmlns:a="http://schemas.openxmlformats.org/drawingml/2006/main">
              <a:ext uri="{FF2B5EF4-FFF2-40B4-BE49-F238E27FC236}">
                <a16:creationId xmlns:a16="http://schemas.microsoft.com/office/drawing/2014/main" id="{6FB49F3B-156F-46D3-AE68-591DDA03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00200"/>
            <a:ext cx="51663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7" name="Google Shape;177;p9">
            <a:extLst xmlns:a="http://schemas.openxmlformats.org/drawingml/2006/main">
              <a:ext uri="{FF2B5EF4-FFF2-40B4-BE49-F238E27FC236}">
                <a16:creationId xmlns:a16="http://schemas.microsoft.com/office/drawing/2014/main" id="{729BD21A-59DA-4318-8516-31B39BF6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00200"/>
            <a:ext cx="64008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8" name="Google Shape;178;p9">
            <a:extLst xmlns:a="http://schemas.openxmlformats.org/drawingml/2006/main">
              <a:ext uri="{FF2B5EF4-FFF2-40B4-BE49-F238E27FC236}">
                <a16:creationId xmlns:a16="http://schemas.microsoft.com/office/drawing/2014/main" id="{B96DE9DD-2668-4BC0-8A54-6255A3E7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737360"/>
            <a:ext cx="48463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STRONGER ANSWER</a:t>
            </a:r>
          </a:p>
        </p:txBody>
      </p:sp>
      <p:sp>
        <p:nvSpPr>
          <p:cNvPr id="179" name="Google Shape;179;p9">
            <a:extLst xmlns:a="http://schemas.openxmlformats.org/drawingml/2006/main">
              <a:ext uri="{FF2B5EF4-FFF2-40B4-BE49-F238E27FC236}">
                <a16:creationId xmlns:a16="http://schemas.microsoft.com/office/drawing/2014/main" id="{A12933DC-CA46-4F77-B7BB-980480BA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057400"/>
            <a:ext cx="4846320" cy="3273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“The data support that conclusion because Prototype B had the highest load supported per gram across the three trials. One limitation is that only three prototype designs were tested.”</a:t>
            </a:r>
          </a:p>
        </p:txBody>
      </p:sp>
    </p:spTree>
    <p:extLst>
      <p:ext uri="{BB962C8B-B14F-4D97-AF65-F5344CB8AC3E}">
        <p14:creationId xmlns:p14="http://schemas.microsoft.com/office/powerpoint/2010/main" val="12782460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5" name="Google Shape;185;p10">
            <a:extLst xmlns:a="http://schemas.openxmlformats.org/drawingml/2006/main">
              <a:ext uri="{FF2B5EF4-FFF2-40B4-BE49-F238E27FC236}">
                <a16:creationId xmlns:a16="http://schemas.microsoft.com/office/drawing/2014/main" id="{5A00E57F-3980-4164-B7A3-43DADCEA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6" name="Google Shape;186;p10">
            <a:extLst xmlns:a="http://schemas.openxmlformats.org/drawingml/2006/main">
              <a:ext uri="{FF2B5EF4-FFF2-40B4-BE49-F238E27FC236}">
                <a16:creationId xmlns:a16="http://schemas.microsoft.com/office/drawing/2014/main" id="{D9224DDB-75E8-43B2-A5D9-92863D20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7" name="Google Shape;187;p10">
            <a:extLst xmlns:a="http://schemas.openxmlformats.org/drawingml/2006/main">
              <a:ext uri="{FF2B5EF4-FFF2-40B4-BE49-F238E27FC236}">
                <a16:creationId xmlns:a16="http://schemas.microsoft.com/office/drawing/2014/main" id="{4FA21650-299E-4C89-A534-5F8F8A41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8" name="Google Shape;188;p10">
            <a:extLst xmlns:a="http://schemas.openxmlformats.org/drawingml/2006/main">
              <a:ext uri="{FF2B5EF4-FFF2-40B4-BE49-F238E27FC236}">
                <a16:creationId xmlns:a16="http://schemas.microsoft.com/office/drawing/2014/main" id="{4748F6E6-927B-497C-9FA5-B3564ED3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EVIDENCE DEFENSE</a:t>
            </a:r>
          </a:p>
        </p:txBody>
      </p:sp>
      <p:sp>
        <p:nvSpPr>
          <p:cNvPr id="189" name="Google Shape;189;p10">
            <a:extLst xmlns:a="http://schemas.openxmlformats.org/drawingml/2006/main">
              <a:ext uri="{FF2B5EF4-FFF2-40B4-BE49-F238E27FC236}">
                <a16:creationId xmlns:a16="http://schemas.microsoft.com/office/drawing/2014/main" id="{62DF1C97-62A4-4F7A-9795-47CBFFFC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18</a:t>
            </a:r>
          </a:p>
        </p:txBody>
      </p:sp>
      <p:sp>
        <p:nvSpPr>
          <p:cNvPr id="190" name="Google Shape;190;p10">
            <a:extLst xmlns:a="http://schemas.openxmlformats.org/drawingml/2006/main">
              <a:ext uri="{FF2B5EF4-FFF2-40B4-BE49-F238E27FC236}">
                <a16:creationId xmlns:a16="http://schemas.microsoft.com/office/drawing/2014/main" id="{927CB0FC-3FD9-4B99-918D-B0F1C63E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What Counts as Evidence in Q&amp;A?</a:t>
            </a:r>
          </a:p>
        </p:txBody>
      </p:sp>
      <p:sp>
        <p:nvSpPr>
          <p:cNvPr id="191" name="Google Shape;191;p10">
            <a:extLst xmlns:a="http://schemas.openxmlformats.org/drawingml/2006/main">
              <a:ext uri="{FF2B5EF4-FFF2-40B4-BE49-F238E27FC236}">
                <a16:creationId xmlns:a16="http://schemas.microsoft.com/office/drawing/2014/main" id="{E1DD960A-34A8-47B2-8CD4-EBEAF9EE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43000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2" name="Google Shape;192;p10">
            <a:extLst xmlns:a="http://schemas.openxmlformats.org/drawingml/2006/main">
              <a:ext uri="{FF2B5EF4-FFF2-40B4-BE49-F238E27FC236}">
                <a16:creationId xmlns:a16="http://schemas.microsoft.com/office/drawing/2014/main" id="{109EC811-4BE5-4991-87B9-AF191F4B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4128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Evidence is not only a final graph.</a:t>
            </a:r>
          </a:p>
        </p:txBody>
      </p:sp>
      <p:sp>
        <p:nvSpPr>
          <p:cNvPr id="193" name="Google Shape;193;p10">
            <a:extLst xmlns:a="http://schemas.openxmlformats.org/drawingml/2006/main">
              <a:ext uri="{FF2B5EF4-FFF2-40B4-BE49-F238E27FC236}">
                <a16:creationId xmlns:a16="http://schemas.microsoft.com/office/drawing/2014/main" id="{19525D9D-C93E-405B-9474-6CB93754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4" name="Google Shape;194;p10">
            <a:extLst xmlns:a="http://schemas.openxmlformats.org/drawingml/2006/main">
              <a:ext uri="{FF2B5EF4-FFF2-40B4-BE49-F238E27FC236}">
                <a16:creationId xmlns:a16="http://schemas.microsoft.com/office/drawing/2014/main" id="{914287B6-444F-47A8-A282-0FBCA8FF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5" name="Google Shape;195;p10">
            <a:extLst xmlns:a="http://schemas.openxmlformats.org/drawingml/2006/main">
              <a:ext uri="{FF2B5EF4-FFF2-40B4-BE49-F238E27FC236}">
                <a16:creationId xmlns:a16="http://schemas.microsoft.com/office/drawing/2014/main" id="{9E417ED9-1C43-4986-87E0-458F9173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19456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96" name="Google Shape;196;p10">
            <a:extLst xmlns:a="http://schemas.openxmlformats.org/drawingml/2006/main">
              <a:ext uri="{FF2B5EF4-FFF2-40B4-BE49-F238E27FC236}">
                <a16:creationId xmlns:a16="http://schemas.microsoft.com/office/drawing/2014/main" id="{FFC1FA6C-A730-495A-A630-AC60F6E6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51460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Measurements, averages, tables, trial results, performance metrics, or coded counts.</a:t>
            </a:r>
          </a:p>
        </p:txBody>
      </p:sp>
      <p:sp>
        <p:nvSpPr>
          <p:cNvPr id="197" name="Google Shape;197;p10">
            <a:extLst xmlns:a="http://schemas.openxmlformats.org/drawingml/2006/main">
              <a:ext uri="{FF2B5EF4-FFF2-40B4-BE49-F238E27FC236}">
                <a16:creationId xmlns:a16="http://schemas.microsoft.com/office/drawing/2014/main" id="{B8CAEA89-E900-4A52-964A-5C561791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5740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8" name="Google Shape;198;p10">
            <a:extLst xmlns:a="http://schemas.openxmlformats.org/drawingml/2006/main">
              <a:ext uri="{FF2B5EF4-FFF2-40B4-BE49-F238E27FC236}">
                <a16:creationId xmlns:a16="http://schemas.microsoft.com/office/drawing/2014/main" id="{5FE184D8-859F-41C2-8087-79B0252A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5740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9" name="Google Shape;199;p10">
            <a:extLst xmlns:a="http://schemas.openxmlformats.org/drawingml/2006/main">
              <a:ext uri="{FF2B5EF4-FFF2-40B4-BE49-F238E27FC236}">
                <a16:creationId xmlns:a16="http://schemas.microsoft.com/office/drawing/2014/main" id="{BDF06AC3-726D-4EFE-B635-4D31B223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19456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VISUALS</a:t>
            </a:r>
          </a:p>
        </p:txBody>
      </p:sp>
      <p:sp>
        <p:nvSpPr>
          <p:cNvPr id="200" name="Google Shape;200;p10">
            <a:extLst xmlns:a="http://schemas.openxmlformats.org/drawingml/2006/main">
              <a:ext uri="{FF2B5EF4-FFF2-40B4-BE49-F238E27FC236}">
                <a16:creationId xmlns:a16="http://schemas.microsoft.com/office/drawing/2014/main" id="{85B5E768-ACB4-4A60-8636-E9896B40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51460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Graphs, photos, prototypes, diagrams, sensor output, or comparison images.</a:t>
            </a:r>
          </a:p>
        </p:txBody>
      </p:sp>
      <p:sp>
        <p:nvSpPr>
          <p:cNvPr id="201" name="Google Shape;201;p10">
            <a:extLst xmlns:a="http://schemas.openxmlformats.org/drawingml/2006/main">
              <a:ext uri="{FF2B5EF4-FFF2-40B4-BE49-F238E27FC236}">
                <a16:creationId xmlns:a16="http://schemas.microsoft.com/office/drawing/2014/main" id="{353FD077-D199-4DCA-92DB-4C69AFD6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2" name="Google Shape;202;p10">
            <a:extLst xmlns:a="http://schemas.openxmlformats.org/drawingml/2006/main">
              <a:ext uri="{FF2B5EF4-FFF2-40B4-BE49-F238E27FC236}">
                <a16:creationId xmlns:a16="http://schemas.microsoft.com/office/drawing/2014/main" id="{63D1771E-E486-452B-AB0C-32B1598B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3" name="Google Shape;203;p10">
            <a:extLst xmlns:a="http://schemas.openxmlformats.org/drawingml/2006/main">
              <a:ext uri="{FF2B5EF4-FFF2-40B4-BE49-F238E27FC236}">
                <a16:creationId xmlns:a16="http://schemas.microsoft.com/office/drawing/2014/main" id="{4411685B-8492-40EC-9D38-1971F798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1148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METHOD RECORDS</a:t>
            </a:r>
          </a:p>
        </p:txBody>
      </p:sp>
      <p:sp>
        <p:nvSpPr>
          <p:cNvPr id="204" name="Google Shape;204;p10">
            <a:extLst xmlns:a="http://schemas.openxmlformats.org/drawingml/2006/main">
              <a:ext uri="{FF2B5EF4-FFF2-40B4-BE49-F238E27FC236}">
                <a16:creationId xmlns:a16="http://schemas.microsoft.com/office/drawing/2014/main" id="{CF15873E-5E97-436B-8608-F17EE568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43484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Procedure versions, controls, testing conditions, data collection logs, or approval notes.</a:t>
            </a:r>
          </a:p>
        </p:txBody>
      </p:sp>
      <p:sp>
        <p:nvSpPr>
          <p:cNvPr id="205" name="Google Shape;205;p10">
            <a:extLst xmlns:a="http://schemas.openxmlformats.org/drawingml/2006/main">
              <a:ext uri="{FF2B5EF4-FFF2-40B4-BE49-F238E27FC236}">
                <a16:creationId xmlns:a16="http://schemas.microsoft.com/office/drawing/2014/main" id="{FB15D626-15F2-4BFF-8BAF-D76363A0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6" name="Google Shape;206;p10">
            <a:extLst xmlns:a="http://schemas.openxmlformats.org/drawingml/2006/main">
              <a:ext uri="{FF2B5EF4-FFF2-40B4-BE49-F238E27FC236}">
                <a16:creationId xmlns:a16="http://schemas.microsoft.com/office/drawing/2014/main" id="{BAD3352F-1C29-4B9F-BF82-BD0056E7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7" name="Google Shape;207;p10">
            <a:extLst xmlns:a="http://schemas.openxmlformats.org/drawingml/2006/main">
              <a:ext uri="{FF2B5EF4-FFF2-40B4-BE49-F238E27FC236}">
                <a16:creationId xmlns:a16="http://schemas.microsoft.com/office/drawing/2014/main" id="{79AF26F1-9037-4889-9395-D8DA1D2B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1148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LIMITATION NOTES</a:t>
            </a:r>
          </a:p>
        </p:txBody>
      </p:sp>
      <p:sp>
        <p:nvSpPr>
          <p:cNvPr id="208" name="Google Shape;208;p10">
            <a:extLst xmlns:a="http://schemas.openxmlformats.org/drawingml/2006/main">
              <a:ext uri="{FF2B5EF4-FFF2-40B4-BE49-F238E27FC236}">
                <a16:creationId xmlns:a16="http://schemas.microsoft.com/office/drawing/2014/main" id="{E38FEAC5-5703-46A9-B9C3-E30FF231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43484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Documented uncertainty, failed trials, missing data, sources of error, or future work plans.</a:t>
            </a:r>
          </a:p>
        </p:txBody>
      </p:sp>
    </p:spTree>
    <p:extLst>
      <p:ext uri="{BB962C8B-B14F-4D97-AF65-F5344CB8AC3E}">
        <p14:creationId xmlns:p14="http://schemas.microsoft.com/office/powerpoint/2010/main" val="1912527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4" name="Google Shape;214;p11">
            <a:extLst xmlns:a="http://schemas.openxmlformats.org/drawingml/2006/main">
              <a:ext uri="{FF2B5EF4-FFF2-40B4-BE49-F238E27FC236}">
                <a16:creationId xmlns:a16="http://schemas.microsoft.com/office/drawing/2014/main" id="{EE26852B-7008-40B2-8E5A-93DD2D46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5" name="Google Shape;215;p11">
            <a:extLst xmlns:a="http://schemas.openxmlformats.org/drawingml/2006/main">
              <a:ext uri="{FF2B5EF4-FFF2-40B4-BE49-F238E27FC236}">
                <a16:creationId xmlns:a16="http://schemas.microsoft.com/office/drawing/2014/main" id="{03C583E8-122D-4D8F-A379-1167E992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6" name="Google Shape;216;p11">
            <a:extLst xmlns:a="http://schemas.openxmlformats.org/drawingml/2006/main">
              <a:ext uri="{FF2B5EF4-FFF2-40B4-BE49-F238E27FC236}">
                <a16:creationId xmlns:a16="http://schemas.microsoft.com/office/drawing/2014/main" id="{24B80678-771B-4206-BBA5-A9A029FA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7" name="Google Shape;217;p11">
            <a:extLst xmlns:a="http://schemas.openxmlformats.org/drawingml/2006/main">
              <a:ext uri="{FF2B5EF4-FFF2-40B4-BE49-F238E27FC236}">
                <a16:creationId xmlns:a16="http://schemas.microsoft.com/office/drawing/2014/main" id="{71C5F62A-CA42-4E3D-B401-D9760F2B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218" name="Google Shape;218;p11">
            <a:extLst xmlns:a="http://schemas.openxmlformats.org/drawingml/2006/main">
              <a:ext uri="{FF2B5EF4-FFF2-40B4-BE49-F238E27FC236}">
                <a16:creationId xmlns:a16="http://schemas.microsoft.com/office/drawing/2014/main" id="{92629456-340B-4B46-A793-FA06482E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18</a:t>
            </a:r>
          </a:p>
        </p:txBody>
      </p:sp>
      <p:sp>
        <p:nvSpPr>
          <p:cNvPr id="219" name="Google Shape;219;p11">
            <a:extLst xmlns:a="http://schemas.openxmlformats.org/drawingml/2006/main">
              <a:ext uri="{FF2B5EF4-FFF2-40B4-BE49-F238E27FC236}">
                <a16:creationId xmlns:a16="http://schemas.microsoft.com/office/drawing/2014/main" id="{55A2100D-A5BD-4208-A536-2575B062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Activity: Evidence Defense Organizer</a:t>
            </a:r>
          </a:p>
        </p:txBody>
      </p:sp>
      <p:sp>
        <p:nvSpPr>
          <p:cNvPr id="220" name="Google Shape;220;p11">
            <a:extLst xmlns:a="http://schemas.openxmlformats.org/drawingml/2006/main">
              <a:ext uri="{FF2B5EF4-FFF2-40B4-BE49-F238E27FC236}">
                <a16:creationId xmlns:a16="http://schemas.microsoft.com/office/drawing/2014/main" id="{C7611901-1F42-4339-83A0-742C629D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43000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1" name="Google Shape;221;p11">
            <a:extLst xmlns:a="http://schemas.openxmlformats.org/drawingml/2006/main">
              <a:ext uri="{FF2B5EF4-FFF2-40B4-BE49-F238E27FC236}">
                <a16:creationId xmlns:a16="http://schemas.microsoft.com/office/drawing/2014/main" id="{8DA5DDDD-573E-4295-BD0F-044ED715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4128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Match likely questions to actual evidence.</a:t>
            </a:r>
          </a:p>
        </p:txBody>
      </p:sp>
      <p:sp>
        <p:nvSpPr>
          <p:cNvPr id="222" name="Google Shape;222;p11">
            <a:extLst xmlns:a="http://schemas.openxmlformats.org/drawingml/2006/main">
              <a:ext uri="{FF2B5EF4-FFF2-40B4-BE49-F238E27FC236}">
                <a16:creationId xmlns:a16="http://schemas.microsoft.com/office/drawing/2014/main" id="{AB2418C5-A277-4A8F-B9EE-A088275B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72768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200"/>
              <a:buFont typeface="Arial"/>
              <a:buNone/>
            </a:pPr>
            <a:r>
              <a:rPr sz="12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223" name="Google Shape;223;p11">
            <a:extLst xmlns:a="http://schemas.openxmlformats.org/drawingml/2006/main">
              <a:ext uri="{FF2B5EF4-FFF2-40B4-BE49-F238E27FC236}">
                <a16:creationId xmlns:a16="http://schemas.microsoft.com/office/drawing/2014/main" id="{4BA949F9-218C-45F4-A40B-FB977025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630936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600"/>
              <a:buFont typeface="Arial"/>
              <a:buNone/>
            </a:pPr>
            <a:r>
              <a:rPr sz="2600" b="1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Build Evidence-Based Answers</a:t>
            </a:r>
          </a:p>
        </p:txBody>
      </p:sp>
      <p:sp>
        <p:nvSpPr>
          <p:cNvPr id="224" name="Google Shape;224;p11">
            <a:extLst xmlns:a="http://schemas.openxmlformats.org/drawingml/2006/main">
              <a:ext uri="{FF2B5EF4-FFF2-40B4-BE49-F238E27FC236}">
                <a16:creationId xmlns:a16="http://schemas.microsoft.com/office/drawing/2014/main" id="{111E0980-21B3-47C5-85E7-72683E55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1901952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12 MINUTES</a:t>
            </a:r>
          </a:p>
        </p:txBody>
      </p:sp>
      <p:cxnSp>
        <p:nvCxnSpPr>
          <p:cNvPr id="250" name="Google Shape;225;p11"/>
          <p:cNvCxnSpPr/>
          <p:nvPr/>
        </p:nvCxnSpPr>
        <p:spPr>
          <a:xfrm xmlns:a="http://schemas.openxmlformats.org/drawingml/2006/main">
            <a:off x="640080" y="2523744"/>
            <a:ext cx="1088136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5A5A5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6" name="Google Shape;226;p11">
            <a:extLst xmlns:a="http://schemas.openxmlformats.org/drawingml/2006/main">
              <a:ext uri="{FF2B5EF4-FFF2-40B4-BE49-F238E27FC236}">
                <a16:creationId xmlns:a16="http://schemas.microsoft.com/office/drawing/2014/main" id="{14BBC130-A2E3-498E-8D07-F25210F8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07208"/>
            <a:ext cx="10515600" cy="2560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75" tIns="375" rIns="375" bIns="37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Choose your three hardest likely questions. For each one, write: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1. Direct answer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2. Specific evidence you will point to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3. Limitation or caution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4. Future work, if needed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Practice one answer aloud with a partner.</a:t>
            </a:r>
          </a:p>
        </p:txBody>
      </p:sp>
    </p:spTree>
    <p:extLst>
      <p:ext uri="{BB962C8B-B14F-4D97-AF65-F5344CB8AC3E}">
        <p14:creationId xmlns:p14="http://schemas.microsoft.com/office/powerpoint/2010/main" val="20897555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2" name="Google Shape;232;p12">
            <a:extLst xmlns:a="http://schemas.openxmlformats.org/drawingml/2006/main">
              <a:ext uri="{FF2B5EF4-FFF2-40B4-BE49-F238E27FC236}">
                <a16:creationId xmlns:a16="http://schemas.microsoft.com/office/drawing/2014/main" id="{D2CBFE4A-EF8D-4541-A52C-D994EFDA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3" name="Google Shape;233;p12">
            <a:extLst xmlns:a="http://schemas.openxmlformats.org/drawingml/2006/main">
              <a:ext uri="{FF2B5EF4-FFF2-40B4-BE49-F238E27FC236}">
                <a16:creationId xmlns:a16="http://schemas.microsoft.com/office/drawing/2014/main" id="{370F17B4-6ECE-45B6-BD8C-A1797A28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4" name="Google Shape;234;p12">
            <a:extLst xmlns:a="http://schemas.openxmlformats.org/drawingml/2006/main">
              <a:ext uri="{FF2B5EF4-FFF2-40B4-BE49-F238E27FC236}">
                <a16:creationId xmlns:a16="http://schemas.microsoft.com/office/drawing/2014/main" id="{A16B2C34-A12C-4B7E-8344-9BA42612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5" name="Google Shape;235;p12">
            <a:extLst xmlns:a="http://schemas.openxmlformats.org/drawingml/2006/main">
              <a:ext uri="{FF2B5EF4-FFF2-40B4-BE49-F238E27FC236}">
                <a16:creationId xmlns:a16="http://schemas.microsoft.com/office/drawing/2014/main" id="{4E212DEA-6FBA-41F0-B3A7-8E2BC298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DIFFICULT QUESTIONS</a:t>
            </a:r>
          </a:p>
        </p:txBody>
      </p:sp>
      <p:sp>
        <p:nvSpPr>
          <p:cNvPr id="236" name="Google Shape;236;p12">
            <a:extLst xmlns:a="http://schemas.openxmlformats.org/drawingml/2006/main">
              <a:ext uri="{FF2B5EF4-FFF2-40B4-BE49-F238E27FC236}">
                <a16:creationId xmlns:a16="http://schemas.microsoft.com/office/drawing/2014/main" id="{E358F6A2-1AB2-4DD7-B713-8CE5EE89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18</a:t>
            </a:r>
          </a:p>
        </p:txBody>
      </p:sp>
      <p:sp>
        <p:nvSpPr>
          <p:cNvPr id="237" name="Google Shape;237;p12">
            <a:extLst xmlns:a="http://schemas.openxmlformats.org/drawingml/2006/main">
              <a:ext uri="{FF2B5EF4-FFF2-40B4-BE49-F238E27FC236}">
                <a16:creationId xmlns:a16="http://schemas.microsoft.com/office/drawing/2014/main" id="{D32F8D7A-E484-47F2-9F4E-BEDBCAB1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Difficult Questions Need Calm Language</a:t>
            </a:r>
          </a:p>
        </p:txBody>
      </p:sp>
      <p:sp>
        <p:nvSpPr>
          <p:cNvPr id="238" name="Google Shape;238;p12">
            <a:extLst xmlns:a="http://schemas.openxmlformats.org/drawingml/2006/main">
              <a:ext uri="{FF2B5EF4-FFF2-40B4-BE49-F238E27FC236}">
                <a16:creationId xmlns:a16="http://schemas.microsoft.com/office/drawing/2014/main" id="{9C500CFF-9235-456F-8F5E-0438A2BF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43000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9" name="Google Shape;239;p12">
            <a:extLst xmlns:a="http://schemas.openxmlformats.org/drawingml/2006/main">
              <a:ext uri="{FF2B5EF4-FFF2-40B4-BE49-F238E27FC236}">
                <a16:creationId xmlns:a16="http://schemas.microsoft.com/office/drawing/2014/main" id="{1FAFC7FD-7181-47F8-84AE-D1E87D88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4128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A hard question is not the same as a bad presentation.</a:t>
            </a:r>
          </a:p>
        </p:txBody>
      </p:sp>
      <p:sp>
        <p:nvSpPr>
          <p:cNvPr id="240" name="Google Shape;240;p12">
            <a:extLst xmlns:a="http://schemas.openxmlformats.org/drawingml/2006/main">
              <a:ext uri="{FF2B5EF4-FFF2-40B4-BE49-F238E27FC236}">
                <a16:creationId xmlns:a16="http://schemas.microsoft.com/office/drawing/2014/main" id="{108DD5C8-A24C-418D-82AD-13E45687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6636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1" name="Google Shape;241;p12">
            <a:extLst xmlns:a="http://schemas.openxmlformats.org/drawingml/2006/main">
              <a:ext uri="{FF2B5EF4-FFF2-40B4-BE49-F238E27FC236}">
                <a16:creationId xmlns:a16="http://schemas.microsoft.com/office/drawing/2014/main" id="{D4295B65-D2EB-444A-BE83-736E0C26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4008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2" name="Google Shape;242;p12">
            <a:extLst xmlns:a="http://schemas.openxmlformats.org/drawingml/2006/main">
              <a:ext uri="{FF2B5EF4-FFF2-40B4-BE49-F238E27FC236}">
                <a16:creationId xmlns:a16="http://schemas.microsoft.com/office/drawing/2014/main" id="{4CE4B271-2E07-4B7B-BC80-28F608E1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737360"/>
            <a:ext cx="48463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IF YOU DO NOT KNOW</a:t>
            </a:r>
          </a:p>
        </p:txBody>
      </p:sp>
      <p:sp>
        <p:nvSpPr>
          <p:cNvPr id="243" name="Google Shape;243;p12">
            <a:extLst xmlns:a="http://schemas.openxmlformats.org/drawingml/2006/main">
              <a:ext uri="{FF2B5EF4-FFF2-40B4-BE49-F238E27FC236}">
                <a16:creationId xmlns:a16="http://schemas.microsoft.com/office/drawing/2014/main" id="{FAE23587-85A8-4BA0-AF6D-4EF08624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057400"/>
            <a:ext cx="4846320" cy="98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“I do not know yet, but based on my evidence...”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“That would require more testing than I completed.”</a:t>
            </a:r>
          </a:p>
        </p:txBody>
      </p:sp>
      <p:sp>
        <p:nvSpPr>
          <p:cNvPr id="244" name="Google Shape;244;p12">
            <a:extLst xmlns:a="http://schemas.openxmlformats.org/drawingml/2006/main">
              <a:ext uri="{FF2B5EF4-FFF2-40B4-BE49-F238E27FC236}">
                <a16:creationId xmlns:a16="http://schemas.microsoft.com/office/drawing/2014/main" id="{6C9A03DE-D1F2-41A1-A594-21120F85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00200"/>
            <a:ext cx="516636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5" name="Google Shape;245;p12">
            <a:extLst xmlns:a="http://schemas.openxmlformats.org/drawingml/2006/main">
              <a:ext uri="{FF2B5EF4-FFF2-40B4-BE49-F238E27FC236}">
                <a16:creationId xmlns:a16="http://schemas.microsoft.com/office/drawing/2014/main" id="{0A72A662-C8EC-4039-9C13-E237FEF2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00200"/>
            <a:ext cx="64008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6" name="Google Shape;246;p12">
            <a:extLst xmlns:a="http://schemas.openxmlformats.org/drawingml/2006/main">
              <a:ext uri="{FF2B5EF4-FFF2-40B4-BE49-F238E27FC236}">
                <a16:creationId xmlns:a16="http://schemas.microsoft.com/office/drawing/2014/main" id="{B8F2C9DD-3D79-46C3-B401-9E03DFD2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737360"/>
            <a:ext cx="48463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IF THEY FIND A LIMITATION</a:t>
            </a:r>
          </a:p>
        </p:txBody>
      </p:sp>
      <p:sp>
        <p:nvSpPr>
          <p:cNvPr id="247" name="Google Shape;247;p12">
            <a:extLst xmlns:a="http://schemas.openxmlformats.org/drawingml/2006/main">
              <a:ext uri="{FF2B5EF4-FFF2-40B4-BE49-F238E27FC236}">
                <a16:creationId xmlns:a16="http://schemas.microsoft.com/office/drawing/2014/main" id="{C7270669-5D03-4B4E-B559-F4609930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057400"/>
            <a:ext cx="4846320" cy="98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“That is a limitation of my study. It may have affected the results by...”</a:t>
            </a:r>
          </a:p>
        </p:txBody>
      </p:sp>
      <p:sp>
        <p:nvSpPr>
          <p:cNvPr id="248" name="Google Shape;248;p12">
            <a:extLst xmlns:a="http://schemas.openxmlformats.org/drawingml/2006/main">
              <a:ext uri="{FF2B5EF4-FFF2-40B4-BE49-F238E27FC236}">
                <a16:creationId xmlns:a16="http://schemas.microsoft.com/office/drawing/2014/main" id="{3A2E6ECC-DE9E-4FC4-A6B4-4B33D85C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516636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9" name="Google Shape;249;p12">
            <a:extLst xmlns:a="http://schemas.openxmlformats.org/drawingml/2006/main">
              <a:ext uri="{FF2B5EF4-FFF2-40B4-BE49-F238E27FC236}">
                <a16:creationId xmlns:a16="http://schemas.microsoft.com/office/drawing/2014/main" id="{A08027EC-34B3-43A3-8BEA-03E650AB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64008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0" name="Google Shape;250;p12">
            <a:extLst xmlns:a="http://schemas.openxmlformats.org/drawingml/2006/main">
              <a:ext uri="{FF2B5EF4-FFF2-40B4-BE49-F238E27FC236}">
                <a16:creationId xmlns:a16="http://schemas.microsoft.com/office/drawing/2014/main" id="{E7AF93B3-5870-439A-AB11-31030DDF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840480"/>
            <a:ext cx="48463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IF THEY CHALLENGE THE CONCLUSION</a:t>
            </a:r>
          </a:p>
        </p:txBody>
      </p:sp>
      <p:sp>
        <p:nvSpPr>
          <p:cNvPr id="251" name="Google Shape;251;p12">
            <a:extLst xmlns:a="http://schemas.openxmlformats.org/drawingml/2006/main">
              <a:ext uri="{FF2B5EF4-FFF2-40B4-BE49-F238E27FC236}">
                <a16:creationId xmlns:a16="http://schemas.microsoft.com/office/drawing/2014/main" id="{34A6EF56-7EFD-488D-8FC8-86343D41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160520"/>
            <a:ext cx="4846320" cy="98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“My data support a limited conclusion. Under the tested conditions...”</a:t>
            </a:r>
          </a:p>
        </p:txBody>
      </p:sp>
      <p:sp>
        <p:nvSpPr>
          <p:cNvPr id="252" name="Google Shape;252;p12">
            <a:extLst xmlns:a="http://schemas.openxmlformats.org/drawingml/2006/main">
              <a:ext uri="{FF2B5EF4-FFF2-40B4-BE49-F238E27FC236}">
                <a16:creationId xmlns:a16="http://schemas.microsoft.com/office/drawing/2014/main" id="{65D57CA9-3DA3-4A33-8D69-9DA523D9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703320"/>
            <a:ext cx="516636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3" name="Google Shape;253;p12">
            <a:extLst xmlns:a="http://schemas.openxmlformats.org/drawingml/2006/main">
              <a:ext uri="{FF2B5EF4-FFF2-40B4-BE49-F238E27FC236}">
                <a16:creationId xmlns:a16="http://schemas.microsoft.com/office/drawing/2014/main" id="{1D651EB7-7092-4E8B-B3AB-C2C434FD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703320"/>
            <a:ext cx="64008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4" name="Google Shape;254;p12">
            <a:extLst xmlns:a="http://schemas.openxmlformats.org/drawingml/2006/main">
              <a:ext uri="{FF2B5EF4-FFF2-40B4-BE49-F238E27FC236}">
                <a16:creationId xmlns:a16="http://schemas.microsoft.com/office/drawing/2014/main" id="{F22BA7DB-6A5E-4D4A-BA24-9FA9BCE4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840480"/>
            <a:ext cx="48463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IF THEY SUGGEST FUTURE WORK</a:t>
            </a:r>
          </a:p>
        </p:txBody>
      </p:sp>
      <p:sp>
        <p:nvSpPr>
          <p:cNvPr id="255" name="Google Shape;255;p12">
            <a:extLst xmlns:a="http://schemas.openxmlformats.org/drawingml/2006/main">
              <a:ext uri="{FF2B5EF4-FFF2-40B4-BE49-F238E27FC236}">
                <a16:creationId xmlns:a16="http://schemas.microsoft.com/office/drawing/2014/main" id="{506BA369-D5C8-49AA-B213-1E7A403B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160520"/>
            <a:ext cx="4846320" cy="98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“That would be a useful next step because...”</a:t>
            </a:r>
          </a:p>
        </p:txBody>
      </p:sp>
    </p:spTree>
    <p:extLst>
      <p:ext uri="{BB962C8B-B14F-4D97-AF65-F5344CB8AC3E}">
        <p14:creationId xmlns:p14="http://schemas.microsoft.com/office/powerpoint/2010/main" val="8726270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1" name="Google Shape;261;p13">
            <a:extLst xmlns:a="http://schemas.openxmlformats.org/drawingml/2006/main">
              <a:ext uri="{FF2B5EF4-FFF2-40B4-BE49-F238E27FC236}">
                <a16:creationId xmlns:a16="http://schemas.microsoft.com/office/drawing/2014/main" id="{DC9F87AF-001D-4406-866F-09E419B4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2" name="Google Shape;262;p13">
            <a:extLst xmlns:a="http://schemas.openxmlformats.org/drawingml/2006/main">
              <a:ext uri="{FF2B5EF4-FFF2-40B4-BE49-F238E27FC236}">
                <a16:creationId xmlns:a16="http://schemas.microsoft.com/office/drawing/2014/main" id="{7D458D00-3F32-4461-B77F-851472C8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3" name="Google Shape;263;p13">
            <a:extLst xmlns:a="http://schemas.openxmlformats.org/drawingml/2006/main">
              <a:ext uri="{FF2B5EF4-FFF2-40B4-BE49-F238E27FC236}">
                <a16:creationId xmlns:a16="http://schemas.microsoft.com/office/drawing/2014/main" id="{AA5DE4CA-18CB-45F1-85D8-BF00BA7F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4" name="Google Shape;264;p13">
            <a:extLst xmlns:a="http://schemas.openxmlformats.org/drawingml/2006/main">
              <a:ext uri="{FF2B5EF4-FFF2-40B4-BE49-F238E27FC236}">
                <a16:creationId xmlns:a16="http://schemas.microsoft.com/office/drawing/2014/main" id="{C67A24B2-6FF2-47EB-8E5D-0DD23AE5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SCIENTIFIC HUMILITY</a:t>
            </a:r>
          </a:p>
        </p:txBody>
      </p:sp>
      <p:sp>
        <p:nvSpPr>
          <p:cNvPr id="265" name="Google Shape;265;p13">
            <a:extLst xmlns:a="http://schemas.openxmlformats.org/drawingml/2006/main">
              <a:ext uri="{FF2B5EF4-FFF2-40B4-BE49-F238E27FC236}">
                <a16:creationId xmlns:a16="http://schemas.microsoft.com/office/drawing/2014/main" id="{AF0B86C6-763A-414D-AF5A-5F2F4D70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18</a:t>
            </a:r>
          </a:p>
        </p:txBody>
      </p:sp>
      <p:sp>
        <p:nvSpPr>
          <p:cNvPr id="266" name="Google Shape;266;p13">
            <a:extLst xmlns:a="http://schemas.openxmlformats.org/drawingml/2006/main">
              <a:ext uri="{FF2B5EF4-FFF2-40B4-BE49-F238E27FC236}">
                <a16:creationId xmlns:a16="http://schemas.microsoft.com/office/drawing/2014/main" id="{64415F0A-F4AC-471D-908C-9806459D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Scientific Humility Is Not Weakness</a:t>
            </a:r>
          </a:p>
        </p:txBody>
      </p:sp>
      <p:sp>
        <p:nvSpPr>
          <p:cNvPr id="267" name="Google Shape;267;p13">
            <a:extLst xmlns:a="http://schemas.openxmlformats.org/drawingml/2006/main">
              <a:ext uri="{FF2B5EF4-FFF2-40B4-BE49-F238E27FC236}">
                <a16:creationId xmlns:a16="http://schemas.microsoft.com/office/drawing/2014/main" id="{EB5D0C3C-EC9C-4047-86D4-C7819BA1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43000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8" name="Google Shape;268;p13">
            <a:extLst xmlns:a="http://schemas.openxmlformats.org/drawingml/2006/main">
              <a:ext uri="{FF2B5EF4-FFF2-40B4-BE49-F238E27FC236}">
                <a16:creationId xmlns:a16="http://schemas.microsoft.com/office/drawing/2014/main" id="{F8350B2C-C5C7-4FD3-85B9-E197373C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4128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Careful language makes the claim stronger.</a:t>
            </a:r>
          </a:p>
        </p:txBody>
      </p:sp>
      <p:sp>
        <p:nvSpPr>
          <p:cNvPr id="269" name="Google Shape;269;p13">
            <a:extLst xmlns:a="http://schemas.openxmlformats.org/drawingml/2006/main">
              <a:ext uri="{FF2B5EF4-FFF2-40B4-BE49-F238E27FC236}">
                <a16:creationId xmlns:a16="http://schemas.microsoft.com/office/drawing/2014/main" id="{40AF59C2-F08B-428A-BB44-95EA1454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663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0" name="Google Shape;270;p13">
            <a:extLst xmlns:a="http://schemas.openxmlformats.org/drawingml/2006/main">
              <a:ext uri="{FF2B5EF4-FFF2-40B4-BE49-F238E27FC236}">
                <a16:creationId xmlns:a16="http://schemas.microsoft.com/office/drawing/2014/main" id="{5698F3F1-EBF1-462A-959F-C2553A3A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4008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1" name="Google Shape;271;p13">
            <a:extLst xmlns:a="http://schemas.openxmlformats.org/drawingml/2006/main">
              <a:ext uri="{FF2B5EF4-FFF2-40B4-BE49-F238E27FC236}">
                <a16:creationId xmlns:a16="http://schemas.microsoft.com/office/drawing/2014/main" id="{9EC01B00-00C8-4564-9C33-DE15BADA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737360"/>
            <a:ext cx="48463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AVOID OVERCLAIMING</a:t>
            </a:r>
          </a:p>
        </p:txBody>
      </p:sp>
      <p:sp>
        <p:nvSpPr>
          <p:cNvPr id="272" name="Google Shape;272;p13">
            <a:extLst xmlns:a="http://schemas.openxmlformats.org/drawingml/2006/main">
              <a:ext uri="{FF2B5EF4-FFF2-40B4-BE49-F238E27FC236}">
                <a16:creationId xmlns:a16="http://schemas.microsoft.com/office/drawing/2014/main" id="{D862F62D-3092-44F1-B4FA-8820B24F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057400"/>
            <a:ext cx="4846320" cy="3273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“This proves...”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“My project definitely shows...”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“This is always true.”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“There was no error.”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“My data are perfect.”</a:t>
            </a:r>
          </a:p>
        </p:txBody>
      </p:sp>
      <p:sp>
        <p:nvSpPr>
          <p:cNvPr id="273" name="Google Shape;273;p13">
            <a:extLst xmlns:a="http://schemas.openxmlformats.org/drawingml/2006/main">
              <a:ext uri="{FF2B5EF4-FFF2-40B4-BE49-F238E27FC236}">
                <a16:creationId xmlns:a16="http://schemas.microsoft.com/office/drawing/2014/main" id="{3301F2D5-7FB3-4CAA-AF3A-CA66BBA4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00200"/>
            <a:ext cx="51663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4" name="Google Shape;274;p13">
            <a:extLst xmlns:a="http://schemas.openxmlformats.org/drawingml/2006/main">
              <a:ext uri="{FF2B5EF4-FFF2-40B4-BE49-F238E27FC236}">
                <a16:creationId xmlns:a16="http://schemas.microsoft.com/office/drawing/2014/main" id="{116E6CD2-2B96-40D5-9EE3-6157E942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00200"/>
            <a:ext cx="64008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5" name="Google Shape;275;p13">
            <a:extLst xmlns:a="http://schemas.openxmlformats.org/drawingml/2006/main">
              <a:ext uri="{FF2B5EF4-FFF2-40B4-BE49-F238E27FC236}">
                <a16:creationId xmlns:a16="http://schemas.microsoft.com/office/drawing/2014/main" id="{A791051E-F01E-4BC2-86E8-6D1249BD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737360"/>
            <a:ext cx="48463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USE SCIENTIFIC LANGUAGE</a:t>
            </a:r>
          </a:p>
        </p:txBody>
      </p:sp>
      <p:sp>
        <p:nvSpPr>
          <p:cNvPr id="276" name="Google Shape;276;p13">
            <a:extLst xmlns:a="http://schemas.openxmlformats.org/drawingml/2006/main">
              <a:ext uri="{FF2B5EF4-FFF2-40B4-BE49-F238E27FC236}">
                <a16:creationId xmlns:a16="http://schemas.microsoft.com/office/drawing/2014/main" id="{A2734C2E-0C10-4AC2-B7EB-96BEC53F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057400"/>
            <a:ext cx="4846320" cy="3273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“The evidence suggests...”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“Under the tested conditions...”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“Based on my data...”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“One limitation is...”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“More trials would be needed to...”</a:t>
            </a:r>
          </a:p>
        </p:txBody>
      </p:sp>
    </p:spTree>
    <p:extLst>
      <p:ext uri="{BB962C8B-B14F-4D97-AF65-F5344CB8AC3E}">
        <p14:creationId xmlns:p14="http://schemas.microsoft.com/office/powerpoint/2010/main" val="17003423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2" name="Google Shape;282;p14">
            <a:extLst xmlns:a="http://schemas.openxmlformats.org/drawingml/2006/main">
              <a:ext uri="{FF2B5EF4-FFF2-40B4-BE49-F238E27FC236}">
                <a16:creationId xmlns:a16="http://schemas.microsoft.com/office/drawing/2014/main" id="{813CBEA8-3E1A-4B37-A218-425AE057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3" name="Google Shape;283;p14">
            <a:extLst xmlns:a="http://schemas.openxmlformats.org/drawingml/2006/main">
              <a:ext uri="{FF2B5EF4-FFF2-40B4-BE49-F238E27FC236}">
                <a16:creationId xmlns:a16="http://schemas.microsoft.com/office/drawing/2014/main" id="{2FAC43FC-CB8D-4A01-99E8-9CDB4DEF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4" name="Google Shape;284;p14">
            <a:extLst xmlns:a="http://schemas.openxmlformats.org/drawingml/2006/main">
              <a:ext uri="{FF2B5EF4-FFF2-40B4-BE49-F238E27FC236}">
                <a16:creationId xmlns:a16="http://schemas.microsoft.com/office/drawing/2014/main" id="{628E87B3-D9C6-434C-9FDD-2FE68BF6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5" name="Google Shape;285;p14">
            <a:extLst xmlns:a="http://schemas.openxmlformats.org/drawingml/2006/main">
              <a:ext uri="{FF2B5EF4-FFF2-40B4-BE49-F238E27FC236}">
                <a16:creationId xmlns:a16="http://schemas.microsoft.com/office/drawing/2014/main" id="{B29E0D69-4055-47C9-AF7A-AD89940F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METHOD DEFENSE</a:t>
            </a:r>
          </a:p>
        </p:txBody>
      </p:sp>
      <p:sp>
        <p:nvSpPr>
          <p:cNvPr id="286" name="Google Shape;286;p14">
            <a:extLst xmlns:a="http://schemas.openxmlformats.org/drawingml/2006/main">
              <a:ext uri="{FF2B5EF4-FFF2-40B4-BE49-F238E27FC236}">
                <a16:creationId xmlns:a16="http://schemas.microsoft.com/office/drawing/2014/main" id="{240E54DC-CE1F-43D3-97A8-676A3894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18</a:t>
            </a:r>
          </a:p>
        </p:txBody>
      </p:sp>
      <p:sp>
        <p:nvSpPr>
          <p:cNvPr id="287" name="Google Shape;287;p14">
            <a:extLst xmlns:a="http://schemas.openxmlformats.org/drawingml/2006/main">
              <a:ext uri="{FF2B5EF4-FFF2-40B4-BE49-F238E27FC236}">
                <a16:creationId xmlns:a16="http://schemas.microsoft.com/office/drawing/2014/main" id="{49E1D780-5F17-4D77-8B8C-07CBAF2A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Answering Method Questions</a:t>
            </a:r>
          </a:p>
        </p:txBody>
      </p:sp>
      <p:sp>
        <p:nvSpPr>
          <p:cNvPr id="288" name="Google Shape;288;p14">
            <a:extLst xmlns:a="http://schemas.openxmlformats.org/drawingml/2006/main">
              <a:ext uri="{FF2B5EF4-FFF2-40B4-BE49-F238E27FC236}">
                <a16:creationId xmlns:a16="http://schemas.microsoft.com/office/drawing/2014/main" id="{41E3CE97-5AC1-4390-A25A-553A5540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43000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9" name="Google Shape;289;p14">
            <a:extLst xmlns:a="http://schemas.openxmlformats.org/drawingml/2006/main">
              <a:ext uri="{FF2B5EF4-FFF2-40B4-BE49-F238E27FC236}">
                <a16:creationId xmlns:a16="http://schemas.microsoft.com/office/drawing/2014/main" id="{5F7DB20E-C8AE-45FC-881A-39C34D46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4128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Method questions ask why the work was designed this way.</a:t>
            </a:r>
          </a:p>
        </p:txBody>
      </p:sp>
      <p:sp>
        <p:nvSpPr>
          <p:cNvPr id="290" name="Google Shape;290;p14">
            <a:extLst xmlns:a="http://schemas.openxmlformats.org/drawingml/2006/main">
              <a:ext uri="{FF2B5EF4-FFF2-40B4-BE49-F238E27FC236}">
                <a16:creationId xmlns:a16="http://schemas.microsoft.com/office/drawing/2014/main" id="{0C873C94-C218-4F5B-87FE-6665AA7A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0876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2000"/>
              <a:buFont typeface="Arial"/>
              <a:buNone/>
            </a:pPr>
            <a:r>
              <a:rPr sz="200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A strong method answer usually mentions:</a:t>
            </a:r>
          </a:p>
        </p:txBody>
      </p:sp>
      <p:sp>
        <p:nvSpPr>
          <p:cNvPr id="291" name="Google Shape;291;p14">
            <a:extLst xmlns:a="http://schemas.openxmlformats.org/drawingml/2006/main">
              <a:ext uri="{FF2B5EF4-FFF2-40B4-BE49-F238E27FC236}">
                <a16:creationId xmlns:a16="http://schemas.microsoft.com/office/drawing/2014/main" id="{9F10A329-A191-4469-97A2-B1B99832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2" name="Google Shape;292;p14">
            <a:extLst xmlns:a="http://schemas.openxmlformats.org/drawingml/2006/main">
              <a:ext uri="{FF2B5EF4-FFF2-40B4-BE49-F238E27FC236}">
                <a16:creationId xmlns:a16="http://schemas.microsoft.com/office/drawing/2014/main" id="{80F03D0B-9EB9-4768-8B7E-9013CC5B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3" name="Google Shape;293;p14">
            <a:extLst xmlns:a="http://schemas.openxmlformats.org/drawingml/2006/main">
              <a:ext uri="{FF2B5EF4-FFF2-40B4-BE49-F238E27FC236}">
                <a16:creationId xmlns:a16="http://schemas.microsoft.com/office/drawing/2014/main" id="{605DA12E-7590-4F60-BB39-927138CC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19456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FIT</a:t>
            </a:r>
          </a:p>
        </p:txBody>
      </p:sp>
      <p:sp>
        <p:nvSpPr>
          <p:cNvPr id="294" name="Google Shape;294;p14">
            <a:extLst xmlns:a="http://schemas.openxmlformats.org/drawingml/2006/main">
              <a:ext uri="{FF2B5EF4-FFF2-40B4-BE49-F238E27FC236}">
                <a16:creationId xmlns:a16="http://schemas.microsoft.com/office/drawing/2014/main" id="{0F67342C-38B6-4B65-A7EE-1933E4B4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51460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Why the method matched the research question or design goal.</a:t>
            </a:r>
          </a:p>
        </p:txBody>
      </p:sp>
      <p:sp>
        <p:nvSpPr>
          <p:cNvPr id="295" name="Google Shape;295;p14">
            <a:extLst xmlns:a="http://schemas.openxmlformats.org/drawingml/2006/main">
              <a:ext uri="{FF2B5EF4-FFF2-40B4-BE49-F238E27FC236}">
                <a16:creationId xmlns:a16="http://schemas.microsoft.com/office/drawing/2014/main" id="{97CCA735-36A6-4129-A3EE-13425D1F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5740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6" name="Google Shape;296;p14">
            <a:extLst xmlns:a="http://schemas.openxmlformats.org/drawingml/2006/main">
              <a:ext uri="{FF2B5EF4-FFF2-40B4-BE49-F238E27FC236}">
                <a16:creationId xmlns:a16="http://schemas.microsoft.com/office/drawing/2014/main" id="{0A445509-0B90-4F9B-86CC-1BAFCC7B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5740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7" name="Google Shape;297;p14">
            <a:extLst xmlns:a="http://schemas.openxmlformats.org/drawingml/2006/main">
              <a:ext uri="{FF2B5EF4-FFF2-40B4-BE49-F238E27FC236}">
                <a16:creationId xmlns:a16="http://schemas.microsoft.com/office/drawing/2014/main" id="{BC7465C8-9827-4FFD-83DE-79829BAE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19456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298" name="Google Shape;298;p14">
            <a:extLst xmlns:a="http://schemas.openxmlformats.org/drawingml/2006/main">
              <a:ext uri="{FF2B5EF4-FFF2-40B4-BE49-F238E27FC236}">
                <a16:creationId xmlns:a16="http://schemas.microsoft.com/office/drawing/2014/main" id="{FDE193AD-63BF-447E-ADA5-4DA26134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51460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What was kept consistent, constrained, or standardized.</a:t>
            </a:r>
          </a:p>
        </p:txBody>
      </p:sp>
      <p:sp>
        <p:nvSpPr>
          <p:cNvPr id="299" name="Google Shape;299;p14">
            <a:extLst xmlns:a="http://schemas.openxmlformats.org/drawingml/2006/main">
              <a:ext uri="{FF2B5EF4-FFF2-40B4-BE49-F238E27FC236}">
                <a16:creationId xmlns:a16="http://schemas.microsoft.com/office/drawing/2014/main" id="{827051A6-A362-44A6-9426-6690008D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0" name="Google Shape;300;p14">
            <a:extLst xmlns:a="http://schemas.openxmlformats.org/drawingml/2006/main">
              <a:ext uri="{FF2B5EF4-FFF2-40B4-BE49-F238E27FC236}">
                <a16:creationId xmlns:a16="http://schemas.microsoft.com/office/drawing/2014/main" id="{7832CAA1-564B-4D62-91FE-0AF83FFD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1" name="Google Shape;301;p14">
            <a:extLst xmlns:a="http://schemas.openxmlformats.org/drawingml/2006/main">
              <a:ext uri="{FF2B5EF4-FFF2-40B4-BE49-F238E27FC236}">
                <a16:creationId xmlns:a16="http://schemas.microsoft.com/office/drawing/2014/main" id="{70BEE672-393C-42A2-9B69-DD441E8A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1148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FEASIBILITY</a:t>
            </a:r>
          </a:p>
        </p:txBody>
      </p:sp>
      <p:sp>
        <p:nvSpPr>
          <p:cNvPr id="302" name="Google Shape;302;p14">
            <a:extLst xmlns:a="http://schemas.openxmlformats.org/drawingml/2006/main">
              <a:ext uri="{FF2B5EF4-FFF2-40B4-BE49-F238E27FC236}">
                <a16:creationId xmlns:a16="http://schemas.microsoft.com/office/drawing/2014/main" id="{9761D6F4-DDF2-4C9C-AAD1-BE644D73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43484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What was realistic with the time, materials, equipment, and approval limits.</a:t>
            </a:r>
          </a:p>
        </p:txBody>
      </p:sp>
      <p:sp>
        <p:nvSpPr>
          <p:cNvPr id="303" name="Google Shape;303;p14">
            <a:extLst xmlns:a="http://schemas.openxmlformats.org/drawingml/2006/main">
              <a:ext uri="{FF2B5EF4-FFF2-40B4-BE49-F238E27FC236}">
                <a16:creationId xmlns:a16="http://schemas.microsoft.com/office/drawing/2014/main" id="{A82B041D-C852-47E8-8FB5-926FEFC0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4" name="Google Shape;304;p14">
            <a:extLst xmlns:a="http://schemas.openxmlformats.org/drawingml/2006/main">
              <a:ext uri="{FF2B5EF4-FFF2-40B4-BE49-F238E27FC236}">
                <a16:creationId xmlns:a16="http://schemas.microsoft.com/office/drawing/2014/main" id="{E3D7B7D4-6696-44CC-9F8B-8CD2FF10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5" name="Google Shape;305;p14">
            <a:extLst xmlns:a="http://schemas.openxmlformats.org/drawingml/2006/main">
              <a:ext uri="{FF2B5EF4-FFF2-40B4-BE49-F238E27FC236}">
                <a16:creationId xmlns:a16="http://schemas.microsoft.com/office/drawing/2014/main" id="{1B4FE1AC-000B-44C4-A83C-57A52322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1148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REVISION</a:t>
            </a:r>
          </a:p>
        </p:txBody>
      </p:sp>
      <p:sp>
        <p:nvSpPr>
          <p:cNvPr id="306" name="Google Shape;306;p14">
            <a:extLst xmlns:a="http://schemas.openxmlformats.org/drawingml/2006/main">
              <a:ext uri="{FF2B5EF4-FFF2-40B4-BE49-F238E27FC236}">
                <a16:creationId xmlns:a16="http://schemas.microsoft.com/office/drawing/2014/main" id="{D6553E01-39B1-4BAB-9D85-9B6ADA2A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43484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How pilot testing, feedback, or safety review shaped the final method.</a:t>
            </a:r>
          </a:p>
        </p:txBody>
      </p:sp>
    </p:spTree>
    <p:extLst>
      <p:ext uri="{BB962C8B-B14F-4D97-AF65-F5344CB8AC3E}">
        <p14:creationId xmlns:p14="http://schemas.microsoft.com/office/powerpoint/2010/main" val="11983900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2" name="Google Shape;312;p15">
            <a:extLst xmlns:a="http://schemas.openxmlformats.org/drawingml/2006/main">
              <a:ext uri="{FF2B5EF4-FFF2-40B4-BE49-F238E27FC236}">
                <a16:creationId xmlns:a16="http://schemas.microsoft.com/office/drawing/2014/main" id="{5E2282AC-1FF0-4BA6-87A7-1DF23338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3" name="Google Shape;313;p15">
            <a:extLst xmlns:a="http://schemas.openxmlformats.org/drawingml/2006/main">
              <a:ext uri="{FF2B5EF4-FFF2-40B4-BE49-F238E27FC236}">
                <a16:creationId xmlns:a16="http://schemas.microsoft.com/office/drawing/2014/main" id="{371AFD18-0928-4CB9-A2C4-59219092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4" name="Google Shape;314;p15">
            <a:extLst xmlns:a="http://schemas.openxmlformats.org/drawingml/2006/main">
              <a:ext uri="{FF2B5EF4-FFF2-40B4-BE49-F238E27FC236}">
                <a16:creationId xmlns:a16="http://schemas.microsoft.com/office/drawing/2014/main" id="{34640883-1391-44E1-9E8F-5C4022CF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5" name="Google Shape;315;p15">
            <a:extLst xmlns:a="http://schemas.openxmlformats.org/drawingml/2006/main">
              <a:ext uri="{FF2B5EF4-FFF2-40B4-BE49-F238E27FC236}">
                <a16:creationId xmlns:a16="http://schemas.microsoft.com/office/drawing/2014/main" id="{345DDA42-49AE-4A0B-9661-0043A5C9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DATA QUESTIONS</a:t>
            </a:r>
          </a:p>
        </p:txBody>
      </p:sp>
      <p:sp>
        <p:nvSpPr>
          <p:cNvPr id="316" name="Google Shape;316;p15">
            <a:extLst xmlns:a="http://schemas.openxmlformats.org/drawingml/2006/main">
              <a:ext uri="{FF2B5EF4-FFF2-40B4-BE49-F238E27FC236}">
                <a16:creationId xmlns:a16="http://schemas.microsoft.com/office/drawing/2014/main" id="{7CCC587B-47D3-4D5F-80EC-A19FFE3B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18</a:t>
            </a:r>
          </a:p>
        </p:txBody>
      </p:sp>
      <p:sp>
        <p:nvSpPr>
          <p:cNvPr id="317" name="Google Shape;317;p15">
            <a:extLst xmlns:a="http://schemas.openxmlformats.org/drawingml/2006/main">
              <a:ext uri="{FF2B5EF4-FFF2-40B4-BE49-F238E27FC236}">
                <a16:creationId xmlns:a16="http://schemas.microsoft.com/office/drawing/2014/main" id="{0642D9F7-9012-40DA-8601-2724AF60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Answering Data Questions</a:t>
            </a:r>
          </a:p>
        </p:txBody>
      </p:sp>
      <p:sp>
        <p:nvSpPr>
          <p:cNvPr id="318" name="Google Shape;318;p15">
            <a:extLst xmlns:a="http://schemas.openxmlformats.org/drawingml/2006/main">
              <a:ext uri="{FF2B5EF4-FFF2-40B4-BE49-F238E27FC236}">
                <a16:creationId xmlns:a16="http://schemas.microsoft.com/office/drawing/2014/main" id="{7FD77C49-C60C-42D5-A534-860AFA5C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43000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9" name="Google Shape;319;p15">
            <a:extLst xmlns:a="http://schemas.openxmlformats.org/drawingml/2006/main">
              <a:ext uri="{FF2B5EF4-FFF2-40B4-BE49-F238E27FC236}">
                <a16:creationId xmlns:a16="http://schemas.microsoft.com/office/drawing/2014/main" id="{34B8570B-3D54-4E44-A954-D0DA5B40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4128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Data answers should be specific, not vague.</a:t>
            </a:r>
          </a:p>
        </p:txBody>
      </p:sp>
      <p:sp>
        <p:nvSpPr>
          <p:cNvPr id="320" name="Google Shape;320;p15">
            <a:extLst xmlns:a="http://schemas.openxmlformats.org/drawingml/2006/main">
              <a:ext uri="{FF2B5EF4-FFF2-40B4-BE49-F238E27FC236}">
                <a16:creationId xmlns:a16="http://schemas.microsoft.com/office/drawing/2014/main" id="{C4368844-9924-4D6C-A76F-BE658968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663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1" name="Google Shape;321;p15">
            <a:extLst xmlns:a="http://schemas.openxmlformats.org/drawingml/2006/main">
              <a:ext uri="{FF2B5EF4-FFF2-40B4-BE49-F238E27FC236}">
                <a16:creationId xmlns:a16="http://schemas.microsoft.com/office/drawing/2014/main" id="{7FA71D3B-E917-4D63-9C60-5242A2FD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4008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2" name="Google Shape;322;p15">
            <a:extLst xmlns:a="http://schemas.openxmlformats.org/drawingml/2006/main">
              <a:ext uri="{FF2B5EF4-FFF2-40B4-BE49-F238E27FC236}">
                <a16:creationId xmlns:a16="http://schemas.microsoft.com/office/drawing/2014/main" id="{5F059A1E-5201-4017-8CA9-C6039622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737360"/>
            <a:ext cx="48463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VAGUE DATA ANSWER</a:t>
            </a:r>
          </a:p>
        </p:txBody>
      </p:sp>
      <p:sp>
        <p:nvSpPr>
          <p:cNvPr id="323" name="Google Shape;323;p15">
            <a:extLst xmlns:a="http://schemas.openxmlformats.org/drawingml/2006/main">
              <a:ext uri="{FF2B5EF4-FFF2-40B4-BE49-F238E27FC236}">
                <a16:creationId xmlns:a16="http://schemas.microsoft.com/office/drawing/2014/main" id="{1DADA157-FF73-478D-906D-AEC60AE8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057400"/>
            <a:ext cx="4846320" cy="3273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“The graph went up, so it worked.”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Problem: no variable, number, comparison, or limitation.</a:t>
            </a:r>
          </a:p>
        </p:txBody>
      </p:sp>
      <p:sp>
        <p:nvSpPr>
          <p:cNvPr id="324" name="Google Shape;324;p15">
            <a:extLst xmlns:a="http://schemas.openxmlformats.org/drawingml/2006/main">
              <a:ext uri="{FF2B5EF4-FFF2-40B4-BE49-F238E27FC236}">
                <a16:creationId xmlns:a16="http://schemas.microsoft.com/office/drawing/2014/main" id="{E116EFE0-6675-404A-AAA0-6DB0FCE7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00200"/>
            <a:ext cx="51663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5" name="Google Shape;325;p15">
            <a:extLst xmlns:a="http://schemas.openxmlformats.org/drawingml/2006/main">
              <a:ext uri="{FF2B5EF4-FFF2-40B4-BE49-F238E27FC236}">
                <a16:creationId xmlns:a16="http://schemas.microsoft.com/office/drawing/2014/main" id="{B3750DCA-4B9B-4802-B7DC-4D199AEC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00200"/>
            <a:ext cx="64008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6" name="Google Shape;326;p15">
            <a:extLst xmlns:a="http://schemas.openxmlformats.org/drawingml/2006/main">
              <a:ext uri="{FF2B5EF4-FFF2-40B4-BE49-F238E27FC236}">
                <a16:creationId xmlns:a16="http://schemas.microsoft.com/office/drawing/2014/main" id="{66A6C01B-2227-49D2-B801-58C4CCE3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737360"/>
            <a:ext cx="48463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SPECIFIC DATA ANSWER</a:t>
            </a:r>
          </a:p>
        </p:txBody>
      </p:sp>
      <p:sp>
        <p:nvSpPr>
          <p:cNvPr id="327" name="Google Shape;327;p15">
            <a:extLst xmlns:a="http://schemas.openxmlformats.org/drawingml/2006/main">
              <a:ext uri="{FF2B5EF4-FFF2-40B4-BE49-F238E27FC236}">
                <a16:creationId xmlns:a16="http://schemas.microsoft.com/office/drawing/2014/main" id="{4E8E069E-39A4-4F1D-B79A-5ED97E79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057400"/>
            <a:ext cx="4846320" cy="3273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“The average voltage increased from 1.2 V at 15 degrees to 2.4 V at 30 degrees, then decreased at 45 degrees. That suggests 30 degrees performed best in this setup, but only three blade angles were tested.”</a:t>
            </a:r>
          </a:p>
        </p:txBody>
      </p:sp>
    </p:spTree>
    <p:extLst>
      <p:ext uri="{BB962C8B-B14F-4D97-AF65-F5344CB8AC3E}">
        <p14:creationId xmlns:p14="http://schemas.microsoft.com/office/powerpoint/2010/main" val="19349311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Google Shape;333;p16">
            <a:extLst xmlns:a="http://schemas.openxmlformats.org/drawingml/2006/main">
              <a:ext uri="{FF2B5EF4-FFF2-40B4-BE49-F238E27FC236}">
                <a16:creationId xmlns:a16="http://schemas.microsoft.com/office/drawing/2014/main" id="{E2B82AA0-C748-43C2-804B-0C84222F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4" name="Google Shape;334;p16">
            <a:extLst xmlns:a="http://schemas.openxmlformats.org/drawingml/2006/main">
              <a:ext uri="{FF2B5EF4-FFF2-40B4-BE49-F238E27FC236}">
                <a16:creationId xmlns:a16="http://schemas.microsoft.com/office/drawing/2014/main" id="{C368DBE1-F1E2-4074-A437-029A3BB2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5" name="Google Shape;335;p16">
            <a:extLst xmlns:a="http://schemas.openxmlformats.org/drawingml/2006/main">
              <a:ext uri="{FF2B5EF4-FFF2-40B4-BE49-F238E27FC236}">
                <a16:creationId xmlns:a16="http://schemas.microsoft.com/office/drawing/2014/main" id="{207AD03A-1F7F-4DF7-B1FE-B444E846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6" name="Google Shape;336;p16">
            <a:extLst xmlns:a="http://schemas.openxmlformats.org/drawingml/2006/main">
              <a:ext uri="{FF2B5EF4-FFF2-40B4-BE49-F238E27FC236}">
                <a16:creationId xmlns:a16="http://schemas.microsoft.com/office/drawing/2014/main" id="{D4E201CC-F1ED-4330-9375-EBF17DB6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337" name="Google Shape;337;p16">
            <a:extLst xmlns:a="http://schemas.openxmlformats.org/drawingml/2006/main">
              <a:ext uri="{FF2B5EF4-FFF2-40B4-BE49-F238E27FC236}">
                <a16:creationId xmlns:a16="http://schemas.microsoft.com/office/drawing/2014/main" id="{94FB9A63-7A9E-438A-9BA2-0915E558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18</a:t>
            </a:r>
          </a:p>
        </p:txBody>
      </p:sp>
      <p:sp>
        <p:nvSpPr>
          <p:cNvPr id="338" name="Google Shape;338;p16">
            <a:extLst xmlns:a="http://schemas.openxmlformats.org/drawingml/2006/main">
              <a:ext uri="{FF2B5EF4-FFF2-40B4-BE49-F238E27FC236}">
                <a16:creationId xmlns:a16="http://schemas.microsoft.com/office/drawing/2014/main" id="{825AD5FB-F7B9-4310-8A9C-4DC2D76D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Activity: Mock Q&amp;A Round 1</a:t>
            </a:r>
          </a:p>
        </p:txBody>
      </p:sp>
      <p:sp>
        <p:nvSpPr>
          <p:cNvPr id="339" name="Google Shape;339;p16">
            <a:extLst xmlns:a="http://schemas.openxmlformats.org/drawingml/2006/main">
              <a:ext uri="{FF2B5EF4-FFF2-40B4-BE49-F238E27FC236}">
                <a16:creationId xmlns:a16="http://schemas.microsoft.com/office/drawing/2014/main" id="{D15F6DDB-FDCF-4EE9-B7E1-9E7197A4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43000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0" name="Google Shape;340;p16">
            <a:extLst xmlns:a="http://schemas.openxmlformats.org/drawingml/2006/main">
              <a:ext uri="{FF2B5EF4-FFF2-40B4-BE49-F238E27FC236}">
                <a16:creationId xmlns:a16="http://schemas.microsoft.com/office/drawing/2014/main" id="{E1BDC7BB-3167-4C2A-9B6C-BEC7FE49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4128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Practice answering before revising.</a:t>
            </a:r>
          </a:p>
        </p:txBody>
      </p:sp>
      <p:sp>
        <p:nvSpPr>
          <p:cNvPr id="341" name="Google Shape;341;p16">
            <a:extLst xmlns:a="http://schemas.openxmlformats.org/drawingml/2006/main">
              <a:ext uri="{FF2B5EF4-FFF2-40B4-BE49-F238E27FC236}">
                <a16:creationId xmlns:a16="http://schemas.microsoft.com/office/drawing/2014/main" id="{ACB9384A-FF2E-4CFF-8A99-11C9D6F8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72768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200"/>
              <a:buFont typeface="Arial"/>
              <a:buNone/>
            </a:pPr>
            <a:r>
              <a:rPr sz="12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342" name="Google Shape;342;p16">
            <a:extLst xmlns:a="http://schemas.openxmlformats.org/drawingml/2006/main">
              <a:ext uri="{FF2B5EF4-FFF2-40B4-BE49-F238E27FC236}">
                <a16:creationId xmlns:a16="http://schemas.microsoft.com/office/drawing/2014/main" id="{8D3436C1-BFF4-491E-81B3-B0E1C0D2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630936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600"/>
              <a:buFont typeface="Arial"/>
              <a:buNone/>
            </a:pPr>
            <a:r>
              <a:rPr sz="2600" b="1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Short Presentation + Questions</a:t>
            </a:r>
          </a:p>
        </p:txBody>
      </p:sp>
      <p:sp>
        <p:nvSpPr>
          <p:cNvPr id="343" name="Google Shape;343;p16">
            <a:extLst xmlns:a="http://schemas.openxmlformats.org/drawingml/2006/main">
              <a:ext uri="{FF2B5EF4-FFF2-40B4-BE49-F238E27FC236}">
                <a16:creationId xmlns:a16="http://schemas.microsoft.com/office/drawing/2014/main" id="{8925FB05-59B6-4527-968D-ACE3145E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1901952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15 MINUTES</a:t>
            </a:r>
          </a:p>
        </p:txBody>
      </p:sp>
      <p:cxnSp>
        <p:nvCxnSpPr>
          <p:cNvPr id="369" name="Google Shape;344;p16"/>
          <p:cNvCxnSpPr/>
          <p:nvPr/>
        </p:nvCxnSpPr>
        <p:spPr>
          <a:xfrm xmlns:a="http://schemas.openxmlformats.org/drawingml/2006/main">
            <a:off x="640080" y="2523744"/>
            <a:ext cx="1088136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5A5A5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5" name="Google Shape;345;p16">
            <a:extLst xmlns:a="http://schemas.openxmlformats.org/drawingml/2006/main">
              <a:ext uri="{FF2B5EF4-FFF2-40B4-BE49-F238E27FC236}">
                <a16:creationId xmlns:a16="http://schemas.microsoft.com/office/drawing/2014/main" id="{E7F9B5A7-3C13-4001-AB35-D81FCE2E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07208"/>
            <a:ext cx="10515600" cy="2560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75" tIns="375" rIns="375" bIns="37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In groups of three: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1. Presenter gives a 2-minute project summary.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2. Each listener asks one question from a different category.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3. Presenter answers using the answer formula.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4. Presenter records the hardest question afterward.</a:t>
            </a:r>
          </a:p>
        </p:txBody>
      </p:sp>
    </p:spTree>
    <p:extLst>
      <p:ext uri="{BB962C8B-B14F-4D97-AF65-F5344CB8AC3E}">
        <p14:creationId xmlns:p14="http://schemas.microsoft.com/office/powerpoint/2010/main" val="7737974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1" name="Google Shape;351;p17">
            <a:extLst xmlns:a="http://schemas.openxmlformats.org/drawingml/2006/main">
              <a:ext uri="{FF2B5EF4-FFF2-40B4-BE49-F238E27FC236}">
                <a16:creationId xmlns:a16="http://schemas.microsoft.com/office/drawing/2014/main" id="{480870F6-CF8C-453C-84F8-3CA4E76A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2" name="Google Shape;352;p17">
            <a:extLst xmlns:a="http://schemas.openxmlformats.org/drawingml/2006/main">
              <a:ext uri="{FF2B5EF4-FFF2-40B4-BE49-F238E27FC236}">
                <a16:creationId xmlns:a16="http://schemas.microsoft.com/office/drawing/2014/main" id="{5E589B0B-001C-4E6E-8926-1EAE7975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3" name="Google Shape;353;p17">
            <a:extLst xmlns:a="http://schemas.openxmlformats.org/drawingml/2006/main">
              <a:ext uri="{FF2B5EF4-FFF2-40B4-BE49-F238E27FC236}">
                <a16:creationId xmlns:a16="http://schemas.microsoft.com/office/drawing/2014/main" id="{B4BA2F4A-5458-416F-ADCF-FB331466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4" name="Google Shape;354;p17">
            <a:extLst xmlns:a="http://schemas.openxmlformats.org/drawingml/2006/main">
              <a:ext uri="{FF2B5EF4-FFF2-40B4-BE49-F238E27FC236}">
                <a16:creationId xmlns:a16="http://schemas.microsoft.com/office/drawing/2014/main" id="{82D2309A-84C8-49BC-ABA5-7F1796ED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Q&amp;A HABITS</a:t>
            </a:r>
          </a:p>
        </p:txBody>
      </p:sp>
      <p:sp>
        <p:nvSpPr>
          <p:cNvPr id="355" name="Google Shape;355;p17">
            <a:extLst xmlns:a="http://schemas.openxmlformats.org/drawingml/2006/main">
              <a:ext uri="{FF2B5EF4-FFF2-40B4-BE49-F238E27FC236}">
                <a16:creationId xmlns:a16="http://schemas.microsoft.com/office/drawing/2014/main" id="{EA589579-00C3-4A9A-9E7D-2254341D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18</a:t>
            </a:r>
          </a:p>
        </p:txBody>
      </p:sp>
      <p:sp>
        <p:nvSpPr>
          <p:cNvPr id="356" name="Google Shape;356;p17">
            <a:extLst xmlns:a="http://schemas.openxmlformats.org/drawingml/2006/main">
              <a:ext uri="{FF2B5EF4-FFF2-40B4-BE49-F238E27FC236}">
                <a16:creationId xmlns:a16="http://schemas.microsoft.com/office/drawing/2014/main" id="{6EBF5951-9CFF-42A9-9957-3931BD8F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Professional Q&amp;A Habits</a:t>
            </a:r>
          </a:p>
        </p:txBody>
      </p:sp>
      <p:sp>
        <p:nvSpPr>
          <p:cNvPr id="357" name="Google Shape;357;p17">
            <a:extLst xmlns:a="http://schemas.openxmlformats.org/drawingml/2006/main">
              <a:ext uri="{FF2B5EF4-FFF2-40B4-BE49-F238E27FC236}">
                <a16:creationId xmlns:a16="http://schemas.microsoft.com/office/drawing/2014/main" id="{5DE57E30-8CAF-476F-8DED-A8D92A92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43000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8" name="Google Shape;358;p17">
            <a:extLst xmlns:a="http://schemas.openxmlformats.org/drawingml/2006/main">
              <a:ext uri="{FF2B5EF4-FFF2-40B4-BE49-F238E27FC236}">
                <a16:creationId xmlns:a16="http://schemas.microsoft.com/office/drawing/2014/main" id="{AB46CECE-2E9F-440C-9D7C-2345055F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4128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How students answer matters as much as what they answer.</a:t>
            </a:r>
          </a:p>
        </p:txBody>
      </p:sp>
      <p:sp>
        <p:nvSpPr>
          <p:cNvPr id="359" name="Google Shape;359;p17">
            <a:extLst xmlns:a="http://schemas.openxmlformats.org/drawingml/2006/main">
              <a:ext uri="{FF2B5EF4-FFF2-40B4-BE49-F238E27FC236}">
                <a16:creationId xmlns:a16="http://schemas.microsoft.com/office/drawing/2014/main" id="{F8CBD9E1-00D2-4EEC-8515-4724988A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0" name="Google Shape;360;p17">
            <a:extLst xmlns:a="http://schemas.openxmlformats.org/drawingml/2006/main">
              <a:ext uri="{FF2B5EF4-FFF2-40B4-BE49-F238E27FC236}">
                <a16:creationId xmlns:a16="http://schemas.microsoft.com/office/drawing/2014/main" id="{04FA9F47-B1C3-4847-BFFF-D4C7241B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1" name="Google Shape;361;p17">
            <a:extLst xmlns:a="http://schemas.openxmlformats.org/drawingml/2006/main">
              <a:ext uri="{FF2B5EF4-FFF2-40B4-BE49-F238E27FC236}">
                <a16:creationId xmlns:a16="http://schemas.microsoft.com/office/drawing/2014/main" id="{B9D73F41-014C-4C38-A39B-9D7CBA94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19456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LISTEN FIRST</a:t>
            </a:r>
          </a:p>
        </p:txBody>
      </p:sp>
      <p:sp>
        <p:nvSpPr>
          <p:cNvPr id="362" name="Google Shape;362;p17">
            <a:extLst xmlns:a="http://schemas.openxmlformats.org/drawingml/2006/main">
              <a:ext uri="{FF2B5EF4-FFF2-40B4-BE49-F238E27FC236}">
                <a16:creationId xmlns:a16="http://schemas.microsoft.com/office/drawing/2014/main" id="{FE89F199-364E-440D-B58D-BF0A93F3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51460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Do not start answering before the question is finished.</a:t>
            </a:r>
          </a:p>
        </p:txBody>
      </p:sp>
      <p:sp>
        <p:nvSpPr>
          <p:cNvPr id="363" name="Google Shape;363;p17">
            <a:extLst xmlns:a="http://schemas.openxmlformats.org/drawingml/2006/main">
              <a:ext uri="{FF2B5EF4-FFF2-40B4-BE49-F238E27FC236}">
                <a16:creationId xmlns:a16="http://schemas.microsoft.com/office/drawing/2014/main" id="{C2AAF196-4CFD-40E8-AB90-C727A9B7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5740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4" name="Google Shape;364;p17">
            <a:extLst xmlns:a="http://schemas.openxmlformats.org/drawingml/2006/main">
              <a:ext uri="{FF2B5EF4-FFF2-40B4-BE49-F238E27FC236}">
                <a16:creationId xmlns:a16="http://schemas.microsoft.com/office/drawing/2014/main" id="{03B2ABA5-1218-4EEC-B370-E8C9B53B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5740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5" name="Google Shape;365;p17">
            <a:extLst xmlns:a="http://schemas.openxmlformats.org/drawingml/2006/main">
              <a:ext uri="{FF2B5EF4-FFF2-40B4-BE49-F238E27FC236}">
                <a16:creationId xmlns:a16="http://schemas.microsoft.com/office/drawing/2014/main" id="{32432376-77C4-4A2C-AE9E-6142E91C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19456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CLARIFY</a:t>
            </a:r>
          </a:p>
        </p:txBody>
      </p:sp>
      <p:sp>
        <p:nvSpPr>
          <p:cNvPr id="366" name="Google Shape;366;p17">
            <a:extLst xmlns:a="http://schemas.openxmlformats.org/drawingml/2006/main">
              <a:ext uri="{FF2B5EF4-FFF2-40B4-BE49-F238E27FC236}">
                <a16:creationId xmlns:a16="http://schemas.microsoft.com/office/drawing/2014/main" id="{56DBA34A-B863-4DB4-88AC-CED83F6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51460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Ask “Do you mean...?” when the question is unclear.</a:t>
            </a:r>
          </a:p>
        </p:txBody>
      </p:sp>
      <p:sp>
        <p:nvSpPr>
          <p:cNvPr id="367" name="Google Shape;367;p17">
            <a:extLst xmlns:a="http://schemas.openxmlformats.org/drawingml/2006/main">
              <a:ext uri="{FF2B5EF4-FFF2-40B4-BE49-F238E27FC236}">
                <a16:creationId xmlns:a16="http://schemas.microsoft.com/office/drawing/2014/main" id="{9EB2A067-4679-4BE6-ADC2-335EAA23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8" name="Google Shape;368;p17">
            <a:extLst xmlns:a="http://schemas.openxmlformats.org/drawingml/2006/main">
              <a:ext uri="{FF2B5EF4-FFF2-40B4-BE49-F238E27FC236}">
                <a16:creationId xmlns:a16="http://schemas.microsoft.com/office/drawing/2014/main" id="{DB6EB4E8-E9A2-499F-A4C8-DF632375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9" name="Google Shape;369;p17">
            <a:extLst xmlns:a="http://schemas.openxmlformats.org/drawingml/2006/main">
              <a:ext uri="{FF2B5EF4-FFF2-40B4-BE49-F238E27FC236}">
                <a16:creationId xmlns:a16="http://schemas.microsoft.com/office/drawing/2014/main" id="{D69CCDDD-5EEA-483D-8B5D-635E2378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1148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STAY EVIDENCE-BASED</a:t>
            </a:r>
          </a:p>
        </p:txBody>
      </p:sp>
      <p:sp>
        <p:nvSpPr>
          <p:cNvPr id="370" name="Google Shape;370;p17">
            <a:extLst xmlns:a="http://schemas.openxmlformats.org/drawingml/2006/main">
              <a:ext uri="{FF2B5EF4-FFF2-40B4-BE49-F238E27FC236}">
                <a16:creationId xmlns:a16="http://schemas.microsoft.com/office/drawing/2014/main" id="{5BAA9FD0-C5B1-4619-8FC0-8A713A7C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43484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Return to data, method, limitations, or future work.</a:t>
            </a:r>
          </a:p>
        </p:txBody>
      </p:sp>
      <p:sp>
        <p:nvSpPr>
          <p:cNvPr id="371" name="Google Shape;371;p17">
            <a:extLst xmlns:a="http://schemas.openxmlformats.org/drawingml/2006/main">
              <a:ext uri="{FF2B5EF4-FFF2-40B4-BE49-F238E27FC236}">
                <a16:creationId xmlns:a16="http://schemas.microsoft.com/office/drawing/2014/main" id="{B2B3ECFF-C5C5-4064-A7B2-BFB26288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2" name="Google Shape;372;p17">
            <a:extLst xmlns:a="http://schemas.openxmlformats.org/drawingml/2006/main">
              <a:ext uri="{FF2B5EF4-FFF2-40B4-BE49-F238E27FC236}">
                <a16:creationId xmlns:a16="http://schemas.microsoft.com/office/drawing/2014/main" id="{BB5FE7F1-25ED-49E2-AE0F-14D8B307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3" name="Google Shape;373;p17">
            <a:extLst xmlns:a="http://schemas.openxmlformats.org/drawingml/2006/main">
              <a:ext uri="{FF2B5EF4-FFF2-40B4-BE49-F238E27FC236}">
                <a16:creationId xmlns:a16="http://schemas.microsoft.com/office/drawing/2014/main" id="{A87B0875-772B-4B6C-80A5-13681B76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1148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STAY RESPECTFUL</a:t>
            </a:r>
          </a:p>
        </p:txBody>
      </p:sp>
      <p:sp>
        <p:nvSpPr>
          <p:cNvPr id="374" name="Google Shape;374;p17">
            <a:extLst xmlns:a="http://schemas.openxmlformats.org/drawingml/2006/main">
              <a:ext uri="{FF2B5EF4-FFF2-40B4-BE49-F238E27FC236}">
                <a16:creationId xmlns:a16="http://schemas.microsoft.com/office/drawing/2014/main" id="{47815A55-47CB-472E-9DD9-C11C551B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43484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Do not argue defensively. Treat questions as part of the research process.</a:t>
            </a:r>
          </a:p>
        </p:txBody>
      </p:sp>
    </p:spTree>
    <p:extLst>
      <p:ext uri="{BB962C8B-B14F-4D97-AF65-F5344CB8AC3E}">
        <p14:creationId xmlns:p14="http://schemas.microsoft.com/office/powerpoint/2010/main" val="1981367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0" name="Google Shape;380;p18">
            <a:extLst xmlns:a="http://schemas.openxmlformats.org/drawingml/2006/main">
              <a:ext uri="{FF2B5EF4-FFF2-40B4-BE49-F238E27FC236}">
                <a16:creationId xmlns:a16="http://schemas.microsoft.com/office/drawing/2014/main" id="{9C1B3DA6-E0EC-477B-9641-E823FA33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1" name="Google Shape;381;p18">
            <a:extLst xmlns:a="http://schemas.openxmlformats.org/drawingml/2006/main">
              <a:ext uri="{FF2B5EF4-FFF2-40B4-BE49-F238E27FC236}">
                <a16:creationId xmlns:a16="http://schemas.microsoft.com/office/drawing/2014/main" id="{8E3D7DE3-6B11-4E78-A0E7-8438F9A9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2" name="Google Shape;382;p18">
            <a:extLst xmlns:a="http://schemas.openxmlformats.org/drawingml/2006/main">
              <a:ext uri="{FF2B5EF4-FFF2-40B4-BE49-F238E27FC236}">
                <a16:creationId xmlns:a16="http://schemas.microsoft.com/office/drawing/2014/main" id="{A94D45D8-6708-4189-A691-12408486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3" name="Google Shape;383;p18">
            <a:extLst xmlns:a="http://schemas.openxmlformats.org/drawingml/2006/main">
              <a:ext uri="{FF2B5EF4-FFF2-40B4-BE49-F238E27FC236}">
                <a16:creationId xmlns:a16="http://schemas.microsoft.com/office/drawing/2014/main" id="{088B5607-3637-42C7-8452-97DA60A1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384" name="Google Shape;384;p18">
            <a:extLst xmlns:a="http://schemas.openxmlformats.org/drawingml/2006/main">
              <a:ext uri="{FF2B5EF4-FFF2-40B4-BE49-F238E27FC236}">
                <a16:creationId xmlns:a16="http://schemas.microsoft.com/office/drawing/2014/main" id="{1CAE5B4E-5BB7-44AA-9748-D0920267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18</a:t>
            </a:r>
          </a:p>
        </p:txBody>
      </p:sp>
      <p:sp>
        <p:nvSpPr>
          <p:cNvPr id="385" name="Google Shape;385;p18">
            <a:extLst xmlns:a="http://schemas.openxmlformats.org/drawingml/2006/main">
              <a:ext uri="{FF2B5EF4-FFF2-40B4-BE49-F238E27FC236}">
                <a16:creationId xmlns:a16="http://schemas.microsoft.com/office/drawing/2014/main" id="{F99139B8-19F7-45EE-A18F-D776E4A2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Activity: Revise One Weak Answer</a:t>
            </a:r>
          </a:p>
        </p:txBody>
      </p:sp>
      <p:sp>
        <p:nvSpPr>
          <p:cNvPr id="386" name="Google Shape;386;p18">
            <a:extLst xmlns:a="http://schemas.openxmlformats.org/drawingml/2006/main">
              <a:ext uri="{FF2B5EF4-FFF2-40B4-BE49-F238E27FC236}">
                <a16:creationId xmlns:a16="http://schemas.microsoft.com/office/drawing/2014/main" id="{A9CFEBB7-B274-4702-B331-8293ED5D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43000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7" name="Google Shape;387;p18">
            <a:extLst xmlns:a="http://schemas.openxmlformats.org/drawingml/2006/main">
              <a:ext uri="{FF2B5EF4-FFF2-40B4-BE49-F238E27FC236}">
                <a16:creationId xmlns:a16="http://schemas.microsoft.com/office/drawing/2014/main" id="{BE73D886-5741-4D94-89A6-155670DA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4128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Make answers more scientific and more useful.</a:t>
            </a:r>
          </a:p>
        </p:txBody>
      </p:sp>
      <p:sp>
        <p:nvSpPr>
          <p:cNvPr id="388" name="Google Shape;388;p18">
            <a:extLst xmlns:a="http://schemas.openxmlformats.org/drawingml/2006/main">
              <a:ext uri="{FF2B5EF4-FFF2-40B4-BE49-F238E27FC236}">
                <a16:creationId xmlns:a16="http://schemas.microsoft.com/office/drawing/2014/main" id="{687A3205-4C55-4EA8-B021-1B1E9138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72768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200"/>
              <a:buFont typeface="Arial"/>
              <a:buNone/>
            </a:pPr>
            <a:r>
              <a:rPr sz="12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389" name="Google Shape;389;p18">
            <a:extLst xmlns:a="http://schemas.openxmlformats.org/drawingml/2006/main">
              <a:ext uri="{FF2B5EF4-FFF2-40B4-BE49-F238E27FC236}">
                <a16:creationId xmlns:a16="http://schemas.microsoft.com/office/drawing/2014/main" id="{E2D34039-5D0B-484B-BBDC-55A3834F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630936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600"/>
              <a:buFont typeface="Arial"/>
              <a:buNone/>
            </a:pPr>
            <a:r>
              <a:rPr sz="2600" b="1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Answer Upgrade</a:t>
            </a:r>
          </a:p>
        </p:txBody>
      </p:sp>
      <p:sp>
        <p:nvSpPr>
          <p:cNvPr id="390" name="Google Shape;390;p18">
            <a:extLst xmlns:a="http://schemas.openxmlformats.org/drawingml/2006/main">
              <a:ext uri="{FF2B5EF4-FFF2-40B4-BE49-F238E27FC236}">
                <a16:creationId xmlns:a16="http://schemas.microsoft.com/office/drawing/2014/main" id="{98146856-B109-4A0D-96F4-55480A00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1901952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8–10 MINUTES</a:t>
            </a:r>
          </a:p>
        </p:txBody>
      </p:sp>
      <p:cxnSp>
        <p:nvCxnSpPr>
          <p:cNvPr id="416" name="Google Shape;391;p18"/>
          <p:cNvCxnSpPr/>
          <p:nvPr/>
        </p:nvCxnSpPr>
        <p:spPr>
          <a:xfrm xmlns:a="http://schemas.openxmlformats.org/drawingml/2006/main">
            <a:off x="640080" y="2523744"/>
            <a:ext cx="1088136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5A5A5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2" name="Google Shape;392;p18">
            <a:extLst xmlns:a="http://schemas.openxmlformats.org/drawingml/2006/main">
              <a:ext uri="{FF2B5EF4-FFF2-40B4-BE49-F238E27FC236}">
                <a16:creationId xmlns:a16="http://schemas.microsoft.com/office/drawing/2014/main" id="{B8357631-CAD5-4C3C-A98C-D33061FC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07208"/>
            <a:ext cx="10515600" cy="2560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75" tIns="375" rIns="375" bIns="37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Choose one question you struggled to answer. Rewrite the answer so it includes: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a direct response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specific evidence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a limitation or caution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a future-work connection, if useful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Then practice the revised answer aloud.</a:t>
            </a:r>
          </a:p>
        </p:txBody>
      </p:sp>
    </p:spTree>
    <p:extLst>
      <p:ext uri="{BB962C8B-B14F-4D97-AF65-F5344CB8AC3E}">
        <p14:creationId xmlns:p14="http://schemas.microsoft.com/office/powerpoint/2010/main" val="10869058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8" name="Google Shape;398;p19">
            <a:extLst xmlns:a="http://schemas.openxmlformats.org/drawingml/2006/main">
              <a:ext uri="{FF2B5EF4-FFF2-40B4-BE49-F238E27FC236}">
                <a16:creationId xmlns:a16="http://schemas.microsoft.com/office/drawing/2014/main" id="{1A1A2098-B21A-46B1-83D3-DAAC58E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9" name="Google Shape;399;p19">
            <a:extLst xmlns:a="http://schemas.openxmlformats.org/drawingml/2006/main">
              <a:ext uri="{FF2B5EF4-FFF2-40B4-BE49-F238E27FC236}">
                <a16:creationId xmlns:a16="http://schemas.microsoft.com/office/drawing/2014/main" id="{9F578298-658A-4C4D-A618-D843AF58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0" name="Google Shape;400;p19">
            <a:extLst xmlns:a="http://schemas.openxmlformats.org/drawingml/2006/main">
              <a:ext uri="{FF2B5EF4-FFF2-40B4-BE49-F238E27FC236}">
                <a16:creationId xmlns:a16="http://schemas.microsoft.com/office/drawing/2014/main" id="{E5BC8EAD-F531-4E57-8A10-42998DF8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1" name="Google Shape;401;p19">
            <a:extLst xmlns:a="http://schemas.openxmlformats.org/drawingml/2006/main">
              <a:ext uri="{FF2B5EF4-FFF2-40B4-BE49-F238E27FC236}">
                <a16:creationId xmlns:a16="http://schemas.microsoft.com/office/drawing/2014/main" id="{6F3C68F9-FCAB-448B-8637-EBAF496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Q&amp;A PREPARATION</a:t>
            </a:r>
          </a:p>
        </p:txBody>
      </p:sp>
      <p:sp>
        <p:nvSpPr>
          <p:cNvPr id="402" name="Google Shape;402;p19">
            <a:extLst xmlns:a="http://schemas.openxmlformats.org/drawingml/2006/main">
              <a:ext uri="{FF2B5EF4-FFF2-40B4-BE49-F238E27FC236}">
                <a16:creationId xmlns:a16="http://schemas.microsoft.com/office/drawing/2014/main" id="{4B32F61B-CB2E-4728-9518-64A2F0ED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18</a:t>
            </a:r>
          </a:p>
        </p:txBody>
      </p:sp>
      <p:sp>
        <p:nvSpPr>
          <p:cNvPr id="403" name="Google Shape;403;p19">
            <a:extLst xmlns:a="http://schemas.openxmlformats.org/drawingml/2006/main">
              <a:ext uri="{FF2B5EF4-FFF2-40B4-BE49-F238E27FC236}">
                <a16:creationId xmlns:a16="http://schemas.microsoft.com/office/drawing/2014/main" id="{381E26FD-A244-4023-A87A-934045F9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Exit Ticket: Your Q&amp;A Readiness Check</a:t>
            </a:r>
          </a:p>
        </p:txBody>
      </p:sp>
      <p:sp>
        <p:nvSpPr>
          <p:cNvPr id="404" name="Google Shape;404;p19">
            <a:extLst xmlns:a="http://schemas.openxmlformats.org/drawingml/2006/main">
              <a:ext uri="{FF2B5EF4-FFF2-40B4-BE49-F238E27FC236}">
                <a16:creationId xmlns:a16="http://schemas.microsoft.com/office/drawing/2014/main" id="{6B3B0A40-8AC6-4C5F-9539-ECF74E83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43000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5" name="Google Shape;405;p19">
            <a:extLst xmlns:a="http://schemas.openxmlformats.org/drawingml/2006/main">
              <a:ext uri="{FF2B5EF4-FFF2-40B4-BE49-F238E27FC236}">
                <a16:creationId xmlns:a16="http://schemas.microsoft.com/office/drawing/2014/main" id="{B665F486-4FF1-438F-802C-610CB41E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4128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Students leave with a clearer answer plan.</a:t>
            </a:r>
          </a:p>
        </p:txBody>
      </p:sp>
      <p:sp>
        <p:nvSpPr>
          <p:cNvPr id="406" name="Google Shape;406;p19">
            <a:extLst xmlns:a="http://schemas.openxmlformats.org/drawingml/2006/main">
              <a:ext uri="{FF2B5EF4-FFF2-40B4-BE49-F238E27FC236}">
                <a16:creationId xmlns:a16="http://schemas.microsoft.com/office/drawing/2014/main" id="{4000F847-C82D-4822-B54E-2FC33A14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0020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2000"/>
              <a:buFont typeface="Arial"/>
              <a:buNone/>
            </a:pPr>
            <a:r>
              <a:rPr sz="200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Before leaving, answer:</a:t>
            </a:r>
          </a:p>
        </p:txBody>
      </p:sp>
      <p:sp>
        <p:nvSpPr>
          <p:cNvPr id="407" name="Google Shape;407;p19">
            <a:extLst xmlns:a="http://schemas.openxmlformats.org/drawingml/2006/main">
              <a:ext uri="{FF2B5EF4-FFF2-40B4-BE49-F238E27FC236}">
                <a16:creationId xmlns:a16="http://schemas.microsoft.com/office/drawing/2014/main" id="{E3A508FD-7C57-44E0-A39D-208C805C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8840"/>
            <a:ext cx="10241280" cy="1965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400"/>
              <a:buFont typeface="Arial"/>
              <a:buNone/>
            </a:pPr>
            <a:r>
              <a:rPr sz="24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1. What question are you most prepared to answer?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400"/>
              <a:buFont typeface="Arial"/>
              <a:buNone/>
            </a:pPr>
            <a:r>
              <a:rPr sz="24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2. What question are you most worried about?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400"/>
              <a:buFont typeface="Arial"/>
              <a:buNone/>
            </a:pPr>
            <a:r>
              <a:rPr sz="24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3. What evidence will you use to answer your hardest question?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400"/>
              <a:buFont typeface="Arial"/>
              <a:buNone/>
            </a:pPr>
            <a:r>
              <a:rPr sz="24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4. What limitation do you need to explain more clearly?</a:t>
            </a:r>
          </a:p>
        </p:txBody>
      </p:sp>
      <p:sp>
        <p:nvSpPr>
          <p:cNvPr id="408" name="Google Shape;408;p19">
            <a:extLst xmlns:a="http://schemas.openxmlformats.org/drawingml/2006/main">
              <a:ext uri="{FF2B5EF4-FFF2-40B4-BE49-F238E27FC236}">
                <a16:creationId xmlns:a16="http://schemas.microsoft.com/office/drawing/2014/main" id="{F28C5F5B-3497-4D76-B2DE-D91D8331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83480"/>
            <a:ext cx="1024128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2200"/>
              <a:buFont typeface="Arial"/>
              <a:buNone/>
            </a:pPr>
            <a:r>
              <a:rPr sz="22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Submit or save this with your Mock Q&amp;A Reflection.</a:t>
            </a:r>
          </a:p>
        </p:txBody>
      </p:sp>
    </p:spTree>
    <p:extLst>
      <p:ext uri="{BB962C8B-B14F-4D97-AF65-F5344CB8AC3E}">
        <p14:creationId xmlns:p14="http://schemas.microsoft.com/office/powerpoint/2010/main" val="16119214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4" name="Google Shape;414;p20">
            <a:extLst xmlns:a="http://schemas.openxmlformats.org/drawingml/2006/main">
              <a:ext uri="{FF2B5EF4-FFF2-40B4-BE49-F238E27FC236}">
                <a16:creationId xmlns:a16="http://schemas.microsoft.com/office/drawing/2014/main" id="{1A4A3325-16D0-4441-B3BC-E62C4376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5" name="Google Shape;415;p20">
            <a:extLst xmlns:a="http://schemas.openxmlformats.org/drawingml/2006/main">
              <a:ext uri="{FF2B5EF4-FFF2-40B4-BE49-F238E27FC236}">
                <a16:creationId xmlns:a16="http://schemas.microsoft.com/office/drawing/2014/main" id="{B145F23C-2058-4146-A507-22EB1E96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6" name="Google Shape;416;p20">
            <a:extLst xmlns:a="http://schemas.openxmlformats.org/drawingml/2006/main">
              <a:ext uri="{FF2B5EF4-FFF2-40B4-BE49-F238E27FC236}">
                <a16:creationId xmlns:a16="http://schemas.microsoft.com/office/drawing/2014/main" id="{F82B75E9-BA1C-48BB-9298-70B6BFB7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7" name="Google Shape;417;p20">
            <a:extLst xmlns:a="http://schemas.openxmlformats.org/drawingml/2006/main">
              <a:ext uri="{FF2B5EF4-FFF2-40B4-BE49-F238E27FC236}">
                <a16:creationId xmlns:a16="http://schemas.microsoft.com/office/drawing/2014/main" id="{121160D0-9E64-4107-829D-DCF18446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NEXT DECK</a:t>
            </a:r>
          </a:p>
        </p:txBody>
      </p:sp>
      <p:sp>
        <p:nvSpPr>
          <p:cNvPr id="418" name="Google Shape;418;p20">
            <a:extLst xmlns:a="http://schemas.openxmlformats.org/drawingml/2006/main">
              <a:ext uri="{FF2B5EF4-FFF2-40B4-BE49-F238E27FC236}">
                <a16:creationId xmlns:a16="http://schemas.microsoft.com/office/drawing/2014/main" id="{A48653C0-B1A9-4C35-9D8D-263E397F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18</a:t>
            </a:r>
          </a:p>
        </p:txBody>
      </p:sp>
      <p:sp>
        <p:nvSpPr>
          <p:cNvPr id="419" name="Google Shape;419;p20">
            <a:extLst xmlns:a="http://schemas.openxmlformats.org/drawingml/2006/main">
              <a:ext uri="{FF2B5EF4-FFF2-40B4-BE49-F238E27FC236}">
                <a16:creationId xmlns:a16="http://schemas.microsoft.com/office/drawing/2014/main" id="{B3B5FD64-60FB-4724-8D32-C7060EE8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Next Deck: Final Reflection and Research Portfolio</a:t>
            </a:r>
          </a:p>
        </p:txBody>
      </p:sp>
      <p:sp>
        <p:nvSpPr>
          <p:cNvPr id="420" name="Google Shape;420;p20">
            <a:extLst xmlns:a="http://schemas.openxmlformats.org/drawingml/2006/main">
              <a:ext uri="{FF2B5EF4-FFF2-40B4-BE49-F238E27FC236}">
                <a16:creationId xmlns:a16="http://schemas.microsoft.com/office/drawing/2014/main" id="{250A7A22-98D8-433C-B243-B66D5B1E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43000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1" name="Google Shape;421;p20">
            <a:extLst xmlns:a="http://schemas.openxmlformats.org/drawingml/2006/main">
              <a:ext uri="{FF2B5EF4-FFF2-40B4-BE49-F238E27FC236}">
                <a16:creationId xmlns:a16="http://schemas.microsoft.com/office/drawing/2014/main" id="{604F29B0-33A8-45FB-A0FA-0057AFBD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4128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The final step is turning the research year into a record of growth.</a:t>
            </a:r>
          </a:p>
        </p:txBody>
      </p:sp>
      <p:sp>
        <p:nvSpPr>
          <p:cNvPr id="422" name="Google Shape;422;p20">
            <a:extLst xmlns:a="http://schemas.openxmlformats.org/drawingml/2006/main">
              <a:ext uri="{FF2B5EF4-FFF2-40B4-BE49-F238E27FC236}">
                <a16:creationId xmlns:a16="http://schemas.microsoft.com/office/drawing/2014/main" id="{241CA046-F46A-4D05-AE0D-FE46F094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45920"/>
            <a:ext cx="10515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2100"/>
              <a:buFont typeface="Arial"/>
              <a:buNone/>
            </a:pPr>
            <a:r>
              <a:rPr sz="210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You will assemble the evidence of your research process and reflect on:</a:t>
            </a:r>
          </a:p>
        </p:txBody>
      </p:sp>
      <p:sp>
        <p:nvSpPr>
          <p:cNvPr id="423" name="Google Shape;423;p20">
            <a:extLst xmlns:a="http://schemas.openxmlformats.org/drawingml/2006/main">
              <a:ext uri="{FF2B5EF4-FFF2-40B4-BE49-F238E27FC236}">
                <a16:creationId xmlns:a16="http://schemas.microsoft.com/office/drawing/2014/main" id="{CC641B63-0A59-4075-B7B1-BD28595C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4" name="Google Shape;424;p20">
            <a:extLst xmlns:a="http://schemas.openxmlformats.org/drawingml/2006/main">
              <a:ext uri="{FF2B5EF4-FFF2-40B4-BE49-F238E27FC236}">
                <a16:creationId xmlns:a16="http://schemas.microsoft.com/office/drawing/2014/main" id="{48F70A91-E52F-44C3-B41D-B9E5B787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5" name="Google Shape;425;p20">
            <a:extLst xmlns:a="http://schemas.openxmlformats.org/drawingml/2006/main">
              <a:ext uri="{FF2B5EF4-FFF2-40B4-BE49-F238E27FC236}">
                <a16:creationId xmlns:a16="http://schemas.microsoft.com/office/drawing/2014/main" id="{5643D04C-5282-4901-823B-8EEAB04C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19456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PROCESS</a:t>
            </a:r>
          </a:p>
        </p:txBody>
      </p:sp>
      <p:sp>
        <p:nvSpPr>
          <p:cNvPr id="426" name="Google Shape;426;p20">
            <a:extLst xmlns:a="http://schemas.openxmlformats.org/drawingml/2006/main">
              <a:ext uri="{FF2B5EF4-FFF2-40B4-BE49-F238E27FC236}">
                <a16:creationId xmlns:a16="http://schemas.microsoft.com/office/drawing/2014/main" id="{7BE4B2FD-DBD8-41E6-BB01-164D7401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51460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How the project changed from original idea to final presentation.</a:t>
            </a:r>
          </a:p>
        </p:txBody>
      </p:sp>
      <p:sp>
        <p:nvSpPr>
          <p:cNvPr id="427" name="Google Shape;427;p20">
            <a:extLst xmlns:a="http://schemas.openxmlformats.org/drawingml/2006/main">
              <a:ext uri="{FF2B5EF4-FFF2-40B4-BE49-F238E27FC236}">
                <a16:creationId xmlns:a16="http://schemas.microsoft.com/office/drawing/2014/main" id="{1AB32386-57BB-45A2-A232-8C2C0576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5740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8" name="Google Shape;428;p20">
            <a:extLst xmlns:a="http://schemas.openxmlformats.org/drawingml/2006/main">
              <a:ext uri="{FF2B5EF4-FFF2-40B4-BE49-F238E27FC236}">
                <a16:creationId xmlns:a16="http://schemas.microsoft.com/office/drawing/2014/main" id="{411AC160-C26B-476C-9E7C-912ECB91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5740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9" name="Google Shape;429;p20">
            <a:extLst xmlns:a="http://schemas.openxmlformats.org/drawingml/2006/main">
              <a:ext uri="{FF2B5EF4-FFF2-40B4-BE49-F238E27FC236}">
                <a16:creationId xmlns:a16="http://schemas.microsoft.com/office/drawing/2014/main" id="{03113EFB-5163-4095-808D-C4C5DAE6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19456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GROWTH</a:t>
            </a:r>
          </a:p>
        </p:txBody>
      </p:sp>
      <p:sp>
        <p:nvSpPr>
          <p:cNvPr id="430" name="Google Shape;430;p20">
            <a:extLst xmlns:a="http://schemas.openxmlformats.org/drawingml/2006/main">
              <a:ext uri="{FF2B5EF4-FFF2-40B4-BE49-F238E27FC236}">
                <a16:creationId xmlns:a16="http://schemas.microsoft.com/office/drawing/2014/main" id="{F9F09144-A244-4406-98B0-955E2C1B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51460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What skills, habits, and confidence developed through the work.</a:t>
            </a:r>
          </a:p>
        </p:txBody>
      </p:sp>
      <p:sp>
        <p:nvSpPr>
          <p:cNvPr id="431" name="Google Shape;431;p20">
            <a:extLst xmlns:a="http://schemas.openxmlformats.org/drawingml/2006/main">
              <a:ext uri="{FF2B5EF4-FFF2-40B4-BE49-F238E27FC236}">
                <a16:creationId xmlns:a16="http://schemas.microsoft.com/office/drawing/2014/main" id="{4DCB891A-1D18-4E3B-B1A6-B1EA503A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2" name="Google Shape;432;p20">
            <a:extLst xmlns:a="http://schemas.openxmlformats.org/drawingml/2006/main">
              <a:ext uri="{FF2B5EF4-FFF2-40B4-BE49-F238E27FC236}">
                <a16:creationId xmlns:a16="http://schemas.microsoft.com/office/drawing/2014/main" id="{8790AE4C-73AD-44EB-8F4E-096C5FB5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3" name="Google Shape;433;p20">
            <a:extLst xmlns:a="http://schemas.openxmlformats.org/drawingml/2006/main">
              <a:ext uri="{FF2B5EF4-FFF2-40B4-BE49-F238E27FC236}">
                <a16:creationId xmlns:a16="http://schemas.microsoft.com/office/drawing/2014/main" id="{A25D68B3-7324-4058-9563-396D4ACF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1148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PORTFOLIO</a:t>
            </a:r>
          </a:p>
        </p:txBody>
      </p:sp>
      <p:sp>
        <p:nvSpPr>
          <p:cNvPr id="434" name="Google Shape;434;p20">
            <a:extLst xmlns:a="http://schemas.openxmlformats.org/drawingml/2006/main">
              <a:ext uri="{FF2B5EF4-FFF2-40B4-BE49-F238E27FC236}">
                <a16:creationId xmlns:a16="http://schemas.microsoft.com/office/drawing/2014/main" id="{11700CB5-FD89-4D5E-9EBF-B37E90BB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43484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Which artifacts best show the research process and final product.</a:t>
            </a:r>
          </a:p>
        </p:txBody>
      </p:sp>
      <p:sp>
        <p:nvSpPr>
          <p:cNvPr id="435" name="Google Shape;435;p20">
            <a:extLst xmlns:a="http://schemas.openxmlformats.org/drawingml/2006/main">
              <a:ext uri="{FF2B5EF4-FFF2-40B4-BE49-F238E27FC236}">
                <a16:creationId xmlns:a16="http://schemas.microsoft.com/office/drawing/2014/main" id="{416E418C-843E-4C90-9F61-7FC18FDB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6" name="Google Shape;436;p20">
            <a:extLst xmlns:a="http://schemas.openxmlformats.org/drawingml/2006/main">
              <a:ext uri="{FF2B5EF4-FFF2-40B4-BE49-F238E27FC236}">
                <a16:creationId xmlns:a16="http://schemas.microsoft.com/office/drawing/2014/main" id="{FDEC0917-F9EC-4899-BF39-F956599B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7" name="Google Shape;437;p20">
            <a:extLst xmlns:a="http://schemas.openxmlformats.org/drawingml/2006/main">
              <a:ext uri="{FF2B5EF4-FFF2-40B4-BE49-F238E27FC236}">
                <a16:creationId xmlns:a16="http://schemas.microsoft.com/office/drawing/2014/main" id="{2DD809EB-2F7E-474C-AE80-218A2FD0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1148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438" name="Google Shape;438;p20">
            <a:extLst xmlns:a="http://schemas.openxmlformats.org/drawingml/2006/main">
              <a:ext uri="{FF2B5EF4-FFF2-40B4-BE49-F238E27FC236}">
                <a16:creationId xmlns:a16="http://schemas.microsoft.com/office/drawing/2014/main" id="{886E9185-A50D-4D88-B777-F8B3072F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43484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How the project could continue beyond STARLAB.</a:t>
            </a:r>
          </a:p>
        </p:txBody>
      </p:sp>
    </p:spTree>
    <p:extLst>
      <p:ext uri="{BB962C8B-B14F-4D97-AF65-F5344CB8AC3E}">
        <p14:creationId xmlns:p14="http://schemas.microsoft.com/office/powerpoint/2010/main" val="181407989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2026-07-16T17:12:52.2720000Z</dcterms:created>
  <dcterms:modified xsi:type="dcterms:W3CDTF">2026-07-16T17:12:52.2720000Z</dcterms:modified>
</coreProperties>
</file>